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3" r:id="rId4"/>
    <p:sldId id="294" r:id="rId5"/>
    <p:sldId id="295" r:id="rId6"/>
    <p:sldId id="296" r:id="rId7"/>
    <p:sldId id="297" r:id="rId8"/>
    <p:sldId id="292" r:id="rId9"/>
    <p:sldId id="298" r:id="rId10"/>
    <p:sldId id="299" r:id="rId11"/>
    <p:sldId id="300" r:id="rId12"/>
    <p:sldId id="301" r:id="rId13"/>
    <p:sldId id="290" r:id="rId14"/>
    <p:sldId id="267" r:id="rId15"/>
    <p:sldId id="258" r:id="rId16"/>
    <p:sldId id="302" r:id="rId17"/>
    <p:sldId id="303" r:id="rId18"/>
    <p:sldId id="291" r:id="rId19"/>
    <p:sldId id="304" r:id="rId20"/>
    <p:sldId id="259" r:id="rId21"/>
    <p:sldId id="288" r:id="rId22"/>
    <p:sldId id="285" r:id="rId23"/>
    <p:sldId id="260" r:id="rId24"/>
    <p:sldId id="286" r:id="rId25"/>
    <p:sldId id="265" r:id="rId26"/>
    <p:sldId id="287" r:id="rId27"/>
    <p:sldId id="262" r:id="rId28"/>
    <p:sldId id="289" r:id="rId29"/>
    <p:sldId id="263" r:id="rId30"/>
    <p:sldId id="268" r:id="rId31"/>
    <p:sldId id="269" r:id="rId32"/>
    <p:sldId id="270" r:id="rId33"/>
    <p:sldId id="271" r:id="rId34"/>
    <p:sldId id="261" r:id="rId35"/>
    <p:sldId id="272" r:id="rId36"/>
    <p:sldId id="273" r:id="rId37"/>
    <p:sldId id="274" r:id="rId38"/>
    <p:sldId id="264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52"/>
    <p:restoredTop sz="94669"/>
  </p:normalViewPr>
  <p:slideViewPr>
    <p:cSldViewPr snapToGrid="0">
      <p:cViewPr varScale="1">
        <p:scale>
          <a:sx n="114" d="100"/>
          <a:sy n="114" d="100"/>
        </p:scale>
        <p:origin x="1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CE625-292C-4FC8-E06B-756CC3838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E8A85B-39B7-900D-5D69-E5007AF65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2D7A6-FC5A-DC7A-AC73-0879388A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530B7-5D44-56F6-B7F5-A2702DC1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11930-38B4-E7AE-EF89-980AEF9C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50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09BD1-7888-708C-37CC-6EBB5E30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F7518-8FA2-7242-3F0D-C96B5BFAF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E291A-3454-FF71-BAC8-94D13A37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A6D8B-092B-7FC6-85F6-AFB88AB4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DFC59-BB98-E68B-93C9-889E9B5A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733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6D427-2E24-9202-4A8F-A3CD3813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20DFCD-DBC6-A1B5-782B-8C183FB9C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EC642-4E01-D716-089A-0DB603E7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FCEDC-B4D0-112D-AD07-443CFFB8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C84AD-75B2-BB78-15E5-FB7DB8D6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138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87D80-597E-E397-FF28-F45338BE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1FFE6-87B3-0566-C1EA-72EDD2EDB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357BB5-CCC2-ABC5-CD9D-6682E5752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BF5492-25E3-D7FF-DFFA-4629C20A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D380E-BFCB-D068-F142-52F97612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B22FE1-8976-0B87-F693-B6A54948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720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EE3D4-BBF8-3209-E83A-396C49F2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6AC541-1F9A-9218-993F-06C7B11DD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AA503C-2AAF-47E0-6B2D-D4D2803C1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FD3433-E87F-5BB7-0E7D-B03BE474D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6AFC01-D27C-3B3F-DEF4-620A715B3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4E11C1-A0AD-F9D3-D163-CA170A5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4A89D0-842F-D83D-D5D7-0E4E627B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0DDF39-3903-830E-0D4D-B3C1BE9B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11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3F272-14A9-9AA5-A8BA-DE8C82AE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242E63-D1CE-F400-0D9D-DB4714FE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CE31C9-1B0A-F5E4-7897-D5F9393C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BFEEB6-1282-C8B3-076C-3B03E443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769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092B2A-9181-6E4A-802E-39535786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82E9A8-30C5-C75B-15B0-0874B2BD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1E811C-54EA-9589-A3D1-CDBC38E1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385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A2ADE-9EFE-135E-961F-86AE8732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6B746-51AF-B77B-7063-D4CA8D3B8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8D150-3E6D-E16E-2685-6A6F6EEAD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1BB07-71F6-58CC-CB81-8A3BFD12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1C5216-EBAE-732B-C4ED-EF56462A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41661-B715-190F-59D8-E9E717D3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512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3763B-7B77-C5E8-5EF8-E49532B9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193805-3EE9-C440-D62D-9E237C990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0501DF-6077-36A3-B104-06339EE38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9FED4-C27D-8221-1E45-F4AD806D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291BA7-AC94-FF67-A9F9-7C27D3B3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35F57-C392-BC91-53A0-ABABB824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872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DA26D-9E95-89DB-638C-5E0F4D170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61AA42-5776-E96E-4C41-D36E403D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FDB22-4789-965D-4D20-261AB505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C714BA-0090-801B-3527-32B562A1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F22F7C-1A3B-A815-3B67-1A4E6060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56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9B4DA1-7917-8211-CF32-7A4F5B029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5B9758-902A-1F68-BA4A-8E5190C4C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D5312F-CF92-EA4D-9AE6-EC84E2B0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BC8611-B673-D47A-62D8-92342AED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9B533-730E-B9D5-6EE5-9B74E282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530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ACE6E2-89D3-8771-F30A-B5D8BBE8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81DCF3-CDC9-3F8C-4304-42EE3AB22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DE759D-DFDA-E836-D0A3-1DAA3A582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C4DD6-EB58-DD41-9DEA-1794158707AA}" type="datetimeFigureOut">
              <a:rPr kumimoji="1" lang="zh-CN" altLang="en-US" smtClean="0"/>
              <a:t>2023/12/25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05A8E-B31B-FE11-0A0B-38C7D78A5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35786-58D3-775B-A03F-2FA9BE498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72993-A471-4444-9DEA-9B7950FBDF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37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0.png"/><Relationship Id="rId5" Type="http://schemas.openxmlformats.org/officeDocument/2006/relationships/tags" Target="../tags/tag5.xml"/><Relationship Id="rId10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8.19.swf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FB174-33AD-DE3C-D60C-EF9C6700B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习题复习</a:t>
            </a:r>
          </a:p>
        </p:txBody>
      </p:sp>
    </p:spTree>
    <p:extLst>
      <p:ext uri="{BB962C8B-B14F-4D97-AF65-F5344CB8AC3E}">
        <p14:creationId xmlns:p14="http://schemas.microsoft.com/office/powerpoint/2010/main" val="380211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1082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第二章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0" y="1024481"/>
            <a:ext cx="8109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）用原码阵列乘法器、  补码阵列乘法器分别计算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乘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4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F300608-D0C4-F4E0-EB61-489659E98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82"/>
          <a:stretch/>
        </p:blipFill>
        <p:spPr>
          <a:xfrm>
            <a:off x="241000" y="1455086"/>
            <a:ext cx="11710000" cy="35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4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A8DDC95-2AAD-B714-9F59-C58D92A9BB6E}"/>
              </a:ext>
            </a:extLst>
          </p:cNvPr>
          <p:cNvGrpSpPr/>
          <p:nvPr/>
        </p:nvGrpSpPr>
        <p:grpSpPr>
          <a:xfrm>
            <a:off x="1549634" y="143505"/>
            <a:ext cx="9092731" cy="6570989"/>
            <a:chOff x="1880069" y="203191"/>
            <a:chExt cx="8639289" cy="631190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66C7328-E599-7548-42F1-F897AAEA92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565"/>
            <a:stretch/>
          </p:blipFill>
          <p:spPr>
            <a:xfrm>
              <a:off x="1880069" y="203191"/>
              <a:ext cx="8639289" cy="58293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D5C772C-CF3B-4C9A-B09B-29CFD64E9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8366" y="6032491"/>
              <a:ext cx="5782694" cy="482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310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BAEC13-5EC8-AAE5-5352-2BC114265E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5" b="19294"/>
          <a:stretch/>
        </p:blipFill>
        <p:spPr>
          <a:xfrm>
            <a:off x="1881328" y="81742"/>
            <a:ext cx="8361648" cy="66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5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27C4077-0CB2-573C-38C9-9BD34059E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89" y="22272"/>
            <a:ext cx="7375731" cy="681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737CDA-54D4-BA32-014E-10F47B1DCA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52"/>
          <a:stretch/>
        </p:blipFill>
        <p:spPr>
          <a:xfrm>
            <a:off x="2837019" y="100324"/>
            <a:ext cx="8358768" cy="1727539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8F8C545-B33F-F2FC-5C48-55270406CF36}"/>
              </a:ext>
            </a:extLst>
          </p:cNvPr>
          <p:cNvGrpSpPr/>
          <p:nvPr/>
        </p:nvGrpSpPr>
        <p:grpSpPr>
          <a:xfrm>
            <a:off x="2437586" y="1898616"/>
            <a:ext cx="8215174" cy="4959384"/>
            <a:chOff x="1675586" y="1824990"/>
            <a:chExt cx="8435290" cy="50330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FA7FDE1-AC11-394D-DDB7-20E4B3A552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865" b="5764"/>
            <a:stretch/>
          </p:blipFill>
          <p:spPr>
            <a:xfrm>
              <a:off x="2677000" y="1824990"/>
              <a:ext cx="5861351" cy="320802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79D8B64-E92B-8D03-D369-E70AD9B79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5586" y="5104813"/>
              <a:ext cx="8435290" cy="1753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6067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1082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第二章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986149-0F1E-E728-C706-4ECD39BB0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3515"/>
            <a:ext cx="10193339" cy="118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8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521987-5DB0-9BD5-D33E-12F375813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85" y="1185947"/>
            <a:ext cx="10360662" cy="46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37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D575D4-6DAC-4B19-A102-8153844EA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02" y="720586"/>
            <a:ext cx="10611395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2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145EAF9-74EE-B824-4F91-6D2F5BD2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49" y="152873"/>
            <a:ext cx="8937914" cy="67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4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87E871E-D706-11F3-9868-D0558927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42" y="329194"/>
            <a:ext cx="8087282" cy="619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9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6016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第二章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C7F45AB-75B3-6A78-CFC3-412CF577B054}"/>
                  </a:ext>
                </a:extLst>
              </p:cNvPr>
              <p:cNvSpPr txBox="1"/>
              <p:nvPr/>
            </p:nvSpPr>
            <p:spPr>
              <a:xfrm>
                <a:off x="0" y="897674"/>
                <a:ext cx="9950160" cy="862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）设阶码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位，尾数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位，按浮点运算方法，完成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kumimoji="1"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x+y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],[x-y]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的运算。</a:t>
                </a:r>
                <a:endPara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−011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×0.100101</m:t>
                    </m:r>
                    <m:r>
                      <a:rPr kumimoji="1" lang="zh-CN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−010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×(−0.011110)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C7F45AB-75B3-6A78-CFC3-412CF577B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97674"/>
                <a:ext cx="9950160" cy="862608"/>
              </a:xfrm>
              <a:prstGeom prst="rect">
                <a:avLst/>
              </a:prstGeom>
              <a:blipFill>
                <a:blip r:embed="rId2"/>
                <a:stretch>
                  <a:fillRect l="-1020" t="-5797"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10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A2727C-12AC-3481-9C6F-729CC821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94" y="0"/>
            <a:ext cx="8315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59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878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第三章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0" y="924119"/>
            <a:ext cx="11976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）某虚拟存储器采用页式存储管理，使用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页面替换算法。若每次访问在一个时间单位内完成，页面访问序列如下：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。已知主存只允许放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个页面，初始状态时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个页面是全空的，则页面失效次数是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8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5F747F9-227D-3BBE-D90C-C5003784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2" y="2270759"/>
            <a:ext cx="11095027" cy="229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1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C516E55-BD23-759E-943C-5E9C8BEF24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549" r="8684"/>
          <a:stretch/>
        </p:blipFill>
        <p:spPr>
          <a:xfrm>
            <a:off x="1032612" y="834390"/>
            <a:ext cx="10226309" cy="530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69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947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第三章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A1946C-D03F-429A-29FB-AAE346C558DD}"/>
              </a:ext>
            </a:extLst>
          </p:cNvPr>
          <p:cNvSpPr txBox="1"/>
          <p:nvPr/>
        </p:nvSpPr>
        <p:spPr>
          <a:xfrm>
            <a:off x="0" y="853069"/>
            <a:ext cx="1197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）在一个分页虚存系统中，用户虚地址空间为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页，页长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，主存物理为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。已知用户程序有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页长，若虚页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已经被调入到主存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页中，请问虚地址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AC5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AC5(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十六进制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对应的物理地址是多少？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2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377261-8306-CE56-4CBF-44573042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12" y="1290872"/>
            <a:ext cx="10534575" cy="36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第三章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1" y="1325563"/>
            <a:ext cx="119764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执行一段程序时，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成存取的次数为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次，主存完成存取的次数为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次，已知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存储周期为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，主存存储周期为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，求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主存系统的效率和平均访问时间。</a:t>
            </a:r>
          </a:p>
          <a:p>
            <a:pPr algn="l"/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06356B-E640-7FFB-9152-7A5ACD1F6A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33127" y="2895223"/>
            <a:ext cx="3304540" cy="6496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F1E55EF-35CE-E02D-28C2-2694671A30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253547" y="3689608"/>
            <a:ext cx="3314700" cy="5581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AA1D6D-945A-51B1-25B6-018E76D0A16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rcRect l="2516"/>
          <a:stretch>
            <a:fillRect/>
          </a:stretch>
        </p:blipFill>
        <p:spPr>
          <a:xfrm>
            <a:off x="5400357" y="4386203"/>
            <a:ext cx="1426845" cy="4641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28410F-6E76-B143-91E8-7EBDE3326D28}"/>
              </a:ext>
            </a:extLst>
          </p:cNvPr>
          <p:cNvSpPr txBox="1"/>
          <p:nvPr/>
        </p:nvSpPr>
        <p:spPr>
          <a:xfrm>
            <a:off x="1855787" y="4392553"/>
            <a:ext cx="3434080" cy="45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主存慢于</a:t>
            </a:r>
            <a:r>
              <a:rPr lang="en-US" altLang="zh-CN" sz="2400"/>
              <a:t>Cache</a:t>
            </a:r>
            <a:r>
              <a:rPr lang="zh-CN" altLang="en-US" sz="2400"/>
              <a:t>的倍率：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FD66B7-E0E8-6723-F579-0B506562365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60867" y="4995168"/>
            <a:ext cx="1967230" cy="45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访问效率：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76E05B-2225-43E8-4F8E-90C6EF45EE7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636962" y="5062478"/>
            <a:ext cx="1263650" cy="4578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B38344-77B4-B915-AC1A-79A022B7693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900612" y="5062478"/>
            <a:ext cx="2390775" cy="45783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51717BF-C9BA-95F6-88AE-C9E4F6287D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60867" y="3722628"/>
            <a:ext cx="2179955" cy="45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平均访问时间：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207308-01F9-5A21-4FED-B0F451C3CDC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855787" y="3010158"/>
            <a:ext cx="1411605" cy="45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命中率：</a:t>
            </a:r>
          </a:p>
        </p:txBody>
      </p:sp>
    </p:spTree>
    <p:extLst>
      <p:ext uri="{BB962C8B-B14F-4D97-AF65-F5344CB8AC3E}">
        <p14:creationId xmlns:p14="http://schemas.microsoft.com/office/powerpoint/2010/main" val="2197992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第三章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A1946C-D03F-429A-29FB-AAE346C558DD}"/>
              </a:ext>
            </a:extLst>
          </p:cNvPr>
          <p:cNvSpPr txBox="1"/>
          <p:nvPr/>
        </p:nvSpPr>
        <p:spPr>
          <a:xfrm>
            <a:off x="107795" y="1325563"/>
            <a:ext cx="11976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位数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x1234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存放在内存地址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x6000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开始的元中，内存按字节编址。请分别说明在小端模式和大端模式中，内存地址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x6000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x6001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存放的数据值。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9966D1-8EE4-32FC-3D99-FC7F600D27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76" y="3058610"/>
            <a:ext cx="6252210" cy="11061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180B3C-6DB5-F57D-D5F7-2BE9A750F6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57786" y="2492097"/>
            <a:ext cx="5641340" cy="375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82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第四章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-1" y="1325563"/>
            <a:ext cx="1197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设某指令系统字长为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地址码为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位。试设计指令格式，使该系统中有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条三地址指令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条二地址指令和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条单地址指令。并指明该系统中最多还可以有多少条零地址指令。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E74E9B7-0E51-E66A-7FE8-A1B10C9D4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651126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用十六进制表示，三地址指令为：</a:t>
            </a:r>
            <a:r>
              <a:rPr lang="en-US" altLang="zh-CN" sz="2400" dirty="0"/>
              <a:t>0H~AH</a:t>
            </a:r>
          </a:p>
          <a:p>
            <a:r>
              <a:rPr lang="en-US" altLang="zh-CN" sz="2400" dirty="0"/>
              <a:t>AH=0H+(11-1)D</a:t>
            </a:r>
          </a:p>
          <a:p>
            <a:pPr marL="0" indent="0">
              <a:buNone/>
            </a:pPr>
            <a:r>
              <a:rPr lang="zh-CN" altLang="en-US" sz="2400" dirty="0"/>
              <a:t>指令不能有相同的前缀，所以两地址指令为：</a:t>
            </a:r>
            <a:r>
              <a:rPr lang="en-US" altLang="zh-CN" sz="2400" dirty="0"/>
              <a:t>B0H~F5H</a:t>
            </a:r>
          </a:p>
          <a:p>
            <a:r>
              <a:rPr lang="en-US" altLang="zh-CN" sz="2400" dirty="0"/>
              <a:t>F5H=B0H+(70-1)D</a:t>
            </a:r>
          </a:p>
          <a:p>
            <a:pPr marL="0" indent="0">
              <a:buNone/>
            </a:pPr>
            <a:r>
              <a:rPr lang="zh-CN" altLang="en-US" sz="2400" dirty="0"/>
              <a:t>同理，单地址指令为</a:t>
            </a:r>
            <a:r>
              <a:rPr lang="en-US" altLang="zh-CN" sz="2400" dirty="0"/>
              <a:t>F60H~FF5H</a:t>
            </a:r>
          </a:p>
          <a:p>
            <a:r>
              <a:rPr lang="en-US" altLang="zh-CN" sz="2400" dirty="0"/>
              <a:t>FF5H=F60H+(150-1)D</a:t>
            </a:r>
          </a:p>
          <a:p>
            <a:pPr marL="0" indent="0">
              <a:buNone/>
            </a:pPr>
            <a:r>
              <a:rPr lang="zh-CN" altLang="en-US" sz="2400" dirty="0"/>
              <a:t>这样剩下的都是零地址指令</a:t>
            </a:r>
            <a:endParaRPr lang="en-US" altLang="zh-CN" sz="2400" dirty="0"/>
          </a:p>
          <a:p>
            <a:r>
              <a:rPr lang="en-US" altLang="zh-CN" sz="2400" dirty="0"/>
              <a:t>FFFFH-FF60H+1=160D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0401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80BDD1-420C-9B07-906E-57ECF1ED62A6}"/>
              </a:ext>
            </a:extLst>
          </p:cNvPr>
          <p:cNvSpPr txBox="1">
            <a:spLocks/>
          </p:cNvSpPr>
          <p:nvPr/>
        </p:nvSpPr>
        <p:spPr>
          <a:xfrm>
            <a:off x="0" y="-3009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第五章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C3E7D4-0B7A-C28A-F922-84C7E81B94B9}"/>
              </a:ext>
            </a:extLst>
          </p:cNvPr>
          <p:cNvSpPr txBox="1"/>
          <p:nvPr/>
        </p:nvSpPr>
        <p:spPr>
          <a:xfrm>
            <a:off x="0" y="752075"/>
            <a:ext cx="11976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已知某机采用微程序控制方式，控存容量为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512×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位。微程序可在整个控存中实现转移，控制微程序转移的条件共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个，微指令采用水平型格式，后继微指令地址采用断定方式。请问：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微指令的三个字段分别应为多少位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画出对应这种微指令格式的微程序控制器逻辑框图。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CB2B0C5-E86A-6DE3-35DD-69D7757B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90" y="2834640"/>
            <a:ext cx="10058400" cy="4023360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书</a:t>
            </a:r>
            <a:r>
              <a:rPr lang="en-US" altLang="zh-CN" sz="2400" dirty="0"/>
              <a:t>P171 </a:t>
            </a:r>
          </a:p>
          <a:p>
            <a:pPr marL="0" indent="0">
              <a:buNone/>
            </a:pPr>
            <a:r>
              <a:rPr lang="en-US" altLang="zh-CN" sz="2400" dirty="0"/>
              <a:t>48</a:t>
            </a:r>
            <a:r>
              <a:rPr lang="zh-CN" altLang="en-US" sz="2400" dirty="0"/>
              <a:t>位指令，</a:t>
            </a:r>
            <a:r>
              <a:rPr lang="en-US" altLang="zh-CN" sz="2400" dirty="0"/>
              <a:t>4</a:t>
            </a:r>
            <a:r>
              <a:rPr lang="zh-CN" altLang="en-US" sz="2400" dirty="0"/>
              <a:t>个测试条件，</a:t>
            </a:r>
            <a:r>
              <a:rPr lang="en-US" altLang="zh-CN" sz="2400" dirty="0"/>
              <a:t>9</a:t>
            </a:r>
            <a:r>
              <a:rPr lang="zh-CN" altLang="en-US" sz="2400" dirty="0"/>
              <a:t>位地址，控制字段长</a:t>
            </a:r>
            <a:r>
              <a:rPr lang="en-US" altLang="zh-CN" sz="2400" dirty="0"/>
              <a:t>48-4-9=35</a:t>
            </a:r>
            <a:r>
              <a:rPr lang="zh-CN" altLang="en-US" sz="2400" dirty="0"/>
              <a:t>位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C315996-FC1C-2158-482B-F3922AC9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66" y="2884415"/>
            <a:ext cx="8695238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14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80BDD1-420C-9B07-906E-57ECF1ED62A6}"/>
              </a:ext>
            </a:extLst>
          </p:cNvPr>
          <p:cNvSpPr txBox="1">
            <a:spLocks/>
          </p:cNvSpPr>
          <p:nvPr/>
        </p:nvSpPr>
        <p:spPr>
          <a:xfrm>
            <a:off x="0" y="-3009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第五章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C3E7D4-0B7A-C28A-F922-84C7E81B94B9}"/>
              </a:ext>
            </a:extLst>
          </p:cNvPr>
          <p:cNvSpPr txBox="1"/>
          <p:nvPr/>
        </p:nvSpPr>
        <p:spPr>
          <a:xfrm>
            <a:off x="0" y="752075"/>
            <a:ext cx="11976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已知某机采用微程序控制方式，控存容量为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512×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位。微程序可在整个控存中实现转移，控制微程序转移的条件共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个，微指令采用水平型格式，后继微指令地址采用断定方式。请问：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微指令的三个字段分别应为多少位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画出对应这种微指令格式的微程序控制器逻辑框图。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BCC2C77-1D24-1708-5FD3-E3868A99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894" y="2834640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书</a:t>
            </a:r>
            <a:r>
              <a:rPr lang="en-US" altLang="zh-CN" sz="2400"/>
              <a:t>P166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7240CE-5A59-011C-AFE8-A1A92DF8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42" y="2894096"/>
            <a:ext cx="6057143" cy="3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83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80BDD1-420C-9B07-906E-57ECF1ED62A6}"/>
              </a:ext>
            </a:extLst>
          </p:cNvPr>
          <p:cNvSpPr txBox="1">
            <a:spLocks/>
          </p:cNvSpPr>
          <p:nvPr/>
        </p:nvSpPr>
        <p:spPr>
          <a:xfrm>
            <a:off x="-3" y="-1554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第五章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7D916C-7857-3CC9-DA9A-4EC93921A908}"/>
              </a:ext>
            </a:extLst>
          </p:cNvPr>
          <p:cNvSpPr txBox="1"/>
          <p:nvPr/>
        </p:nvSpPr>
        <p:spPr>
          <a:xfrm>
            <a:off x="0" y="960837"/>
            <a:ext cx="11976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今有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级流水线，分别完成取指、指令译码并取数、运算、送结果四步操作。今假设完成各步操作的时间依次为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100ns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80ns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50ns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请问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流水线的操作周期应设计为多少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若相邻两条指令发生数据相关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硬件上不采取措施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那么第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条指令要推迟多少时间进行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如果在硬件设计上加以改进，至少需推迟多少时间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31BD83D-3B84-C77D-87BF-82113E5A5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7" y="3272883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周期由最长的时间决定（</a:t>
            </a:r>
            <a:r>
              <a:rPr lang="en-US" altLang="zh-CN" sz="2400" dirty="0"/>
              <a:t>100ns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数据相关时后一条的</a:t>
            </a:r>
            <a:r>
              <a:rPr lang="zh-CN" altLang="en-US" sz="2400" b="1" dirty="0">
                <a:solidFill>
                  <a:srgbClr val="FF0000"/>
                </a:solidFill>
              </a:rPr>
              <a:t>取数</a:t>
            </a:r>
            <a:r>
              <a:rPr lang="zh-CN" altLang="en-US" sz="2400" dirty="0"/>
              <a:t>要等前一条</a:t>
            </a:r>
            <a:r>
              <a:rPr lang="zh-CN" altLang="en-US" sz="2400" b="1" dirty="0">
                <a:solidFill>
                  <a:srgbClr val="FF0000"/>
                </a:solidFill>
              </a:rPr>
              <a:t>送结果</a:t>
            </a:r>
            <a:r>
              <a:rPr lang="zh-CN" altLang="en-US" sz="2400" dirty="0"/>
              <a:t>，至少延迟两个周期（</a:t>
            </a:r>
            <a:r>
              <a:rPr lang="en-US" altLang="zh-CN" sz="2400" dirty="0"/>
              <a:t>200ns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硬件上，如果可以在前一条</a:t>
            </a:r>
            <a:r>
              <a:rPr lang="zh-CN" altLang="en-US" sz="2400" b="1" dirty="0">
                <a:solidFill>
                  <a:srgbClr val="FF0000"/>
                </a:solidFill>
              </a:rPr>
              <a:t>运算</a:t>
            </a:r>
            <a:r>
              <a:rPr lang="zh-CN" altLang="en-US" sz="2400" dirty="0"/>
              <a:t>完后直接把结果送到后一条指令</a:t>
            </a:r>
            <a:r>
              <a:rPr lang="zh-CN" altLang="en-US" sz="2400" b="1" dirty="0">
                <a:solidFill>
                  <a:srgbClr val="FF0000"/>
                </a:solidFill>
              </a:rPr>
              <a:t>运算</a:t>
            </a:r>
            <a:r>
              <a:rPr lang="zh-CN" altLang="en-US" sz="2400" dirty="0"/>
              <a:t>，就就可以实现无延迟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书</a:t>
            </a:r>
            <a:r>
              <a:rPr lang="en-US" altLang="zh-CN" sz="2400" dirty="0"/>
              <a:t>P177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16FB7F-20E4-3CA1-A3CE-0B17A308F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419" y="4584583"/>
            <a:ext cx="3704762" cy="2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6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80BDD1-420C-9B07-906E-57ECF1ED62A6}"/>
              </a:ext>
            </a:extLst>
          </p:cNvPr>
          <p:cNvSpPr txBox="1">
            <a:spLocks/>
          </p:cNvSpPr>
          <p:nvPr/>
        </p:nvSpPr>
        <p:spPr>
          <a:xfrm>
            <a:off x="-3" y="-1554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第五章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11A76C-BB75-FE4B-2DDC-62B85B2674DD}"/>
              </a:ext>
            </a:extLst>
          </p:cNvPr>
          <p:cNvSpPr txBox="1"/>
          <p:nvPr/>
        </p:nvSpPr>
        <p:spPr>
          <a:xfrm>
            <a:off x="2193073" y="102548"/>
            <a:ext cx="119764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判断以下三组指令中各存在哪种类型的数据相关。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	R1, A	; M(A)→R1,M(A)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是存储器单元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ADD 	R2, R1	; (R2)+(R1) →R2 </a:t>
            </a:r>
          </a:p>
          <a:p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ADD R3,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	; (R3)+(R4) → R3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MUL R4,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R5	; (R4)×(R5) → R4</a:t>
            </a:r>
          </a:p>
          <a:p>
            <a:pPr algn="l"/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LDA R6,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	; M(B) → R6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M(B)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是存储器单元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MUL R6,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R7	; (R6)×(R7) → R6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81C553C-B506-8C78-0D9F-A905042F8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94" y="3518868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书</a:t>
            </a:r>
            <a:r>
              <a:rPr lang="en-US" altLang="zh-CN" sz="2400" dirty="0"/>
              <a:t>P183 </a:t>
            </a:r>
            <a:r>
              <a:rPr lang="zh-CN" altLang="en-US" sz="2400" dirty="0"/>
              <a:t>例</a:t>
            </a:r>
            <a:r>
              <a:rPr lang="en-US" altLang="zh-CN" sz="2400" dirty="0"/>
              <a:t>5.5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I2</a:t>
            </a:r>
            <a:r>
              <a:rPr lang="zh-CN" altLang="en-US" sz="2400" dirty="0"/>
              <a:t>在</a:t>
            </a:r>
            <a:r>
              <a:rPr lang="en-US" altLang="zh-CN" sz="2400" dirty="0"/>
              <a:t>I1</a:t>
            </a:r>
            <a:r>
              <a:rPr lang="zh-CN" altLang="en-US" sz="2400" b="1" dirty="0">
                <a:solidFill>
                  <a:srgbClr val="FF0000"/>
                </a:solidFill>
              </a:rPr>
              <a:t>写</a:t>
            </a:r>
            <a:r>
              <a:rPr lang="en-US" altLang="zh-CN" sz="2400" dirty="0"/>
              <a:t>R1</a:t>
            </a:r>
            <a:r>
              <a:rPr lang="zh-CN" altLang="en-US" sz="2400" dirty="0"/>
              <a:t>后</a:t>
            </a:r>
            <a:r>
              <a:rPr lang="zh-CN" altLang="en-US" sz="2400" b="1" dirty="0">
                <a:solidFill>
                  <a:srgbClr val="FF0000"/>
                </a:solidFill>
              </a:rPr>
              <a:t>读</a:t>
            </a:r>
            <a:r>
              <a:rPr lang="zh-CN" altLang="en-US" sz="2400" dirty="0"/>
              <a:t>了</a:t>
            </a:r>
            <a:r>
              <a:rPr lang="en-US" altLang="zh-CN" sz="2400" dirty="0"/>
              <a:t>R1</a:t>
            </a:r>
            <a:r>
              <a:rPr lang="zh-CN" altLang="en-US" sz="2400" dirty="0"/>
              <a:t>，所以是</a:t>
            </a:r>
            <a:r>
              <a:rPr lang="zh-CN" altLang="en-US" sz="2400" b="1" dirty="0">
                <a:solidFill>
                  <a:srgbClr val="FF0000"/>
                </a:solidFill>
              </a:rPr>
              <a:t>写后读</a:t>
            </a:r>
            <a:r>
              <a:rPr lang="en-US" altLang="zh-CN" sz="2400" b="1" dirty="0">
                <a:solidFill>
                  <a:srgbClr val="FF0000"/>
                </a:solidFill>
              </a:rPr>
              <a:t>RAW</a:t>
            </a:r>
          </a:p>
          <a:p>
            <a:pPr marL="0" indent="0">
              <a:buNone/>
            </a:pPr>
            <a:r>
              <a:rPr lang="en-US" altLang="zh-CN" sz="2400" dirty="0"/>
              <a:t>I4</a:t>
            </a:r>
            <a:r>
              <a:rPr lang="zh-CN" altLang="en-US" sz="2400" dirty="0"/>
              <a:t>在</a:t>
            </a:r>
            <a:r>
              <a:rPr lang="en-US" altLang="zh-CN" sz="2400" dirty="0"/>
              <a:t>I3</a:t>
            </a:r>
            <a:r>
              <a:rPr lang="zh-CN" altLang="en-US" sz="2400" b="1" dirty="0">
                <a:solidFill>
                  <a:srgbClr val="FF0000"/>
                </a:solidFill>
              </a:rPr>
              <a:t>读</a:t>
            </a:r>
            <a:r>
              <a:rPr lang="en-US" altLang="zh-CN" sz="2400" dirty="0"/>
              <a:t>R4</a:t>
            </a:r>
            <a:r>
              <a:rPr lang="zh-CN" altLang="en-US" sz="2400" dirty="0"/>
              <a:t>后</a:t>
            </a:r>
            <a:r>
              <a:rPr lang="zh-CN" altLang="en-US" sz="2400" b="1" dirty="0">
                <a:solidFill>
                  <a:srgbClr val="FF0000"/>
                </a:solidFill>
              </a:rPr>
              <a:t>写</a:t>
            </a:r>
            <a:r>
              <a:rPr lang="zh-CN" altLang="en-US" sz="2400" dirty="0"/>
              <a:t>了</a:t>
            </a:r>
            <a:r>
              <a:rPr lang="en-US" altLang="zh-CN" sz="2400" dirty="0"/>
              <a:t>R4</a:t>
            </a:r>
            <a:r>
              <a:rPr lang="zh-CN" altLang="en-US" sz="2400" dirty="0"/>
              <a:t>，所以是</a:t>
            </a:r>
            <a:r>
              <a:rPr lang="zh-CN" altLang="en-US" sz="2400" b="1" dirty="0">
                <a:solidFill>
                  <a:srgbClr val="FF0000"/>
                </a:solidFill>
              </a:rPr>
              <a:t>读后写</a:t>
            </a:r>
            <a:r>
              <a:rPr lang="en-US" altLang="zh-CN" sz="2400" b="1" dirty="0">
                <a:solidFill>
                  <a:srgbClr val="FF0000"/>
                </a:solidFill>
              </a:rPr>
              <a:t>WAR</a:t>
            </a:r>
          </a:p>
          <a:p>
            <a:pPr marL="0" indent="0">
              <a:buNone/>
            </a:pPr>
            <a:r>
              <a:rPr lang="en-US" altLang="zh-CN" sz="2400" dirty="0"/>
              <a:t>I6</a:t>
            </a:r>
            <a:r>
              <a:rPr lang="zh-CN" altLang="en-US" sz="2400" dirty="0"/>
              <a:t>在</a:t>
            </a:r>
            <a:r>
              <a:rPr lang="en-US" altLang="zh-CN" sz="2400" dirty="0"/>
              <a:t>I5</a:t>
            </a:r>
            <a:r>
              <a:rPr lang="zh-CN" altLang="en-US" sz="2400" b="1" dirty="0">
                <a:solidFill>
                  <a:srgbClr val="FF0000"/>
                </a:solidFill>
              </a:rPr>
              <a:t>写</a:t>
            </a:r>
            <a:r>
              <a:rPr lang="en-US" altLang="zh-CN" sz="2400" dirty="0"/>
              <a:t>R6</a:t>
            </a:r>
            <a:r>
              <a:rPr lang="zh-CN" altLang="en-US" sz="2400" dirty="0"/>
              <a:t>后</a:t>
            </a:r>
            <a:r>
              <a:rPr lang="zh-CN" altLang="en-US" sz="2400" b="1" dirty="0">
                <a:solidFill>
                  <a:srgbClr val="FF0000"/>
                </a:solidFill>
              </a:rPr>
              <a:t>读、写</a:t>
            </a:r>
            <a:r>
              <a:rPr lang="zh-CN" altLang="en-US" sz="2400" dirty="0"/>
              <a:t>了</a:t>
            </a:r>
            <a:r>
              <a:rPr lang="en-US" altLang="zh-CN" sz="2400" dirty="0"/>
              <a:t>R6</a:t>
            </a:r>
            <a:r>
              <a:rPr lang="zh-CN" altLang="en-US" sz="2400" dirty="0"/>
              <a:t>，所以是</a:t>
            </a:r>
            <a:r>
              <a:rPr lang="zh-CN" altLang="en-US" sz="2400" b="1" dirty="0">
                <a:solidFill>
                  <a:srgbClr val="FF0000"/>
                </a:solidFill>
              </a:rPr>
              <a:t>写后读</a:t>
            </a:r>
            <a:r>
              <a:rPr lang="en-US" altLang="zh-CN" sz="2400" b="1" dirty="0">
                <a:solidFill>
                  <a:srgbClr val="FF0000"/>
                </a:solidFill>
              </a:rPr>
              <a:t>RAW</a:t>
            </a:r>
            <a:r>
              <a:rPr lang="zh-CN" altLang="en-US" sz="2400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写后写</a:t>
            </a:r>
            <a:r>
              <a:rPr lang="en-US" altLang="zh-CN" sz="2400" b="1" dirty="0">
                <a:solidFill>
                  <a:srgbClr val="FF0000"/>
                </a:solidFill>
              </a:rPr>
              <a:t>WAW</a:t>
            </a:r>
          </a:p>
        </p:txBody>
      </p:sp>
    </p:spTree>
    <p:extLst>
      <p:ext uri="{BB962C8B-B14F-4D97-AF65-F5344CB8AC3E}">
        <p14:creationId xmlns:p14="http://schemas.microsoft.com/office/powerpoint/2010/main" val="919707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第六章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1" y="1325563"/>
            <a:ext cx="11976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用异步通信方式传送字符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“A”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“8”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，数据有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位，偶校验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位，起始位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位，停止位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位，请分别画出波形图。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4D9E35-8AA8-AC56-4E34-2725E83F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39" y="2156560"/>
            <a:ext cx="8171521" cy="454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99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7449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第六章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A1946C-D03F-429A-29FB-AAE346C558DD}"/>
              </a:ext>
            </a:extLst>
          </p:cNvPr>
          <p:cNvSpPr txBox="1"/>
          <p:nvPr/>
        </p:nvSpPr>
        <p:spPr>
          <a:xfrm>
            <a:off x="0" y="668919"/>
            <a:ext cx="11976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采用串行接口进行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码传送，带有一位奇校验位、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位起始位和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位停止位，当波特率为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9600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波特时，字符传送速率为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A. 960				B. 873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C.1371				D.480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1B3733-E899-5857-0DDC-B20F32A61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2498957"/>
            <a:ext cx="8363415" cy="43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4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第七章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1" y="1325563"/>
            <a:ext cx="119764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磁带机有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道磁道，带长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，带速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，每个数据块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，块间间隔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，若数据传输率为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128000B/s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试求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记录位密度。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若带的首尾各空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，求此带最大有效存储容量。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A1946C-D03F-429A-29FB-AAE346C558DD}"/>
              </a:ext>
            </a:extLst>
          </p:cNvPr>
          <p:cNvSpPr txBox="1"/>
          <p:nvPr/>
        </p:nvSpPr>
        <p:spPr>
          <a:xfrm>
            <a:off x="0" y="3429000"/>
            <a:ext cx="11976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有一台磁盘机，其平均找道时间为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1"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，平均旋转等待时间为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，数据传输率为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</a:t>
            </a:r>
            <a:r>
              <a:rPr kumimoji="1"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，磁盘机上存放着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件每件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的数据。现欲把一件件数据取走，更新后再放回原地，假设一次取出或写入所需时间为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T=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平均找道时间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平均等待时间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数据传送时间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另外，使用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更新信息所需的时间为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，并且更新时间同输入输出操作不相重叠。试问：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更新磁盘上全部数据需多少时间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若磁盘机旋转速度和数据传输率都提高一倍，更新全部数据需多少时间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97405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95DDA03-CF91-F66F-99EA-8B8405C31035}"/>
              </a:ext>
            </a:extLst>
          </p:cNvPr>
          <p:cNvSpPr txBox="1"/>
          <p:nvPr/>
        </p:nvSpPr>
        <p:spPr>
          <a:xfrm>
            <a:off x="618566" y="3316941"/>
            <a:ext cx="10354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磁道：</a:t>
            </a:r>
          </a:p>
          <a:p>
            <a:r>
              <a:rPr lang="zh-CN" altLang="en-US" sz="2000"/>
              <a:t>磁道是磁盘表面上的</a:t>
            </a:r>
            <a:r>
              <a:rPr lang="zh-CN" altLang="en-US" sz="2000" b="1"/>
              <a:t>同心圆形路径</a:t>
            </a:r>
            <a:r>
              <a:rPr lang="zh-CN" altLang="en-US" sz="2000"/>
              <a:t>。每个磁道都可以存储信息。从</a:t>
            </a:r>
            <a:r>
              <a:rPr lang="en-US" altLang="zh-CN" sz="2000"/>
              <a:t>0</a:t>
            </a:r>
            <a:r>
              <a:rPr lang="zh-CN" altLang="en-US" sz="2000"/>
              <a:t>道到</a:t>
            </a:r>
            <a:r>
              <a:rPr lang="en-US" altLang="zh-CN" sz="2000"/>
              <a:t>n</a:t>
            </a:r>
            <a:r>
              <a:rPr lang="zh-CN" altLang="en-US" sz="2000"/>
              <a:t>道，每个圆代表一个磁道。</a:t>
            </a:r>
          </a:p>
          <a:p>
            <a:r>
              <a:rPr lang="zh-CN" altLang="en-US" sz="2000" b="1"/>
              <a:t>扇区：</a:t>
            </a:r>
          </a:p>
          <a:p>
            <a:r>
              <a:rPr lang="zh-CN" altLang="en-US" sz="2000"/>
              <a:t>扇区是磁道进一步划分的小块，通常是形状均匀的</a:t>
            </a:r>
            <a:r>
              <a:rPr lang="zh-CN" altLang="en-US" sz="2000" b="1"/>
              <a:t>扇形区域</a:t>
            </a:r>
            <a:r>
              <a:rPr lang="zh-CN" altLang="en-US" sz="2000"/>
              <a:t>。</a:t>
            </a:r>
            <a:endParaRPr lang="en-US" altLang="zh-CN" sz="2000"/>
          </a:p>
          <a:p>
            <a:endParaRPr lang="zh-CN" altLang="en-US" sz="2000"/>
          </a:p>
          <a:p>
            <a:r>
              <a:rPr lang="zh-CN" altLang="en-US" sz="2000"/>
              <a:t>当硬盘需要读取或写入数据时，它会定位到特定的</a:t>
            </a:r>
            <a:r>
              <a:rPr lang="zh-CN" altLang="en-US" sz="2000" b="1"/>
              <a:t>磁道和扇区</a:t>
            </a:r>
            <a:r>
              <a:rPr lang="zh-CN" altLang="en-US" sz="2000"/>
              <a:t>来访问数据。</a:t>
            </a:r>
            <a:endParaRPr lang="en-US" altLang="zh-CN" sz="2000"/>
          </a:p>
          <a:p>
            <a:r>
              <a:rPr lang="zh-CN" altLang="en-US" sz="2000" b="0" i="0">
                <a:solidFill>
                  <a:srgbClr val="FE2C24"/>
                </a:solidFill>
                <a:effectLst/>
                <a:latin typeface="-apple-system"/>
              </a:rPr>
              <a:t>注：扇区（也称块）是磁盘读写最小单位，即磁盘按块存取。</a:t>
            </a:r>
            <a:r>
              <a:rPr lang="en-US" altLang="zh-CN" sz="2000" b="0" i="0">
                <a:solidFill>
                  <a:srgbClr val="FE2C24"/>
                </a:solidFill>
                <a:effectLst/>
                <a:latin typeface="-apple-system"/>
              </a:rPr>
              <a:t>( </a:t>
            </a:r>
            <a:r>
              <a:rPr lang="zh-CN" altLang="en-US" sz="2000" b="0" i="0">
                <a:solidFill>
                  <a:srgbClr val="FE2C24"/>
                </a:solidFill>
                <a:effectLst/>
                <a:latin typeface="-apple-system"/>
              </a:rPr>
              <a:t>作业第九题的表述</a:t>
            </a:r>
            <a:r>
              <a:rPr lang="en-US" altLang="zh-CN" sz="2000" b="0" i="0">
                <a:solidFill>
                  <a:srgbClr val="FE2C24"/>
                </a:solidFill>
                <a:effectLst/>
                <a:latin typeface="-apple-system"/>
              </a:rPr>
              <a:t>)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A35B50-21BF-D15C-C0F4-AD048798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977" y="98612"/>
            <a:ext cx="4424362" cy="34811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4FB1386-2932-F2F8-BE63-8D1347C7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95" y="98612"/>
            <a:ext cx="47053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06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A24ADC3-861A-7095-E637-44396E2C94B4}"/>
              </a:ext>
            </a:extLst>
          </p:cNvPr>
          <p:cNvSpPr txBox="1"/>
          <p:nvPr/>
        </p:nvSpPr>
        <p:spPr>
          <a:xfrm>
            <a:off x="699245" y="448218"/>
            <a:ext cx="103811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latin typeface="Arial Black" panose="020B0A04020102020204" pitchFamily="34" charset="0"/>
                <a:ea typeface="黑体" panose="02010609060101010101" pitchFamily="49" charset="-122"/>
              </a:rPr>
              <a:t>磁盘存储器</a:t>
            </a:r>
            <a:endParaRPr lang="en-US" altLang="zh-CN" sz="2400">
              <a:latin typeface="Arial Black" panose="020B0A04020102020204" pitchFamily="34" charset="0"/>
              <a:ea typeface="黑体" panose="02010609060101010101" pitchFamily="49" charset="-122"/>
            </a:endParaRPr>
          </a:p>
          <a:p>
            <a:r>
              <a:rPr lang="zh-CN" altLang="en-US" sz="2400" b="1" u="sng">
                <a:solidFill>
                  <a:schemeClr val="hlink"/>
                </a:solidFill>
                <a:ea typeface="黑体" panose="02010609060101010101" pitchFamily="49" charset="-122"/>
              </a:rPr>
              <a:t>道密度</a:t>
            </a:r>
            <a:r>
              <a:rPr lang="zh-CN" altLang="en-US" sz="2400">
                <a:ea typeface="黑体" panose="02010609060101010101" pitchFamily="49" charset="-122"/>
              </a:rPr>
              <a:t>：沿磁盘半径方向单位长度上的磁道数。</a:t>
            </a:r>
            <a:endParaRPr lang="en-US" altLang="zh-CN" sz="2400">
              <a:ea typeface="黑体" panose="02010609060101010101" pitchFamily="49" charset="-122"/>
            </a:endParaRPr>
          </a:p>
          <a:p>
            <a:r>
              <a:rPr lang="zh-CN" altLang="en-US" sz="2400" b="1" u="sng">
                <a:solidFill>
                  <a:schemeClr val="hlink"/>
                </a:solidFill>
                <a:ea typeface="黑体" panose="02010609060101010101" pitchFamily="49" charset="-122"/>
              </a:rPr>
              <a:t>位密度</a:t>
            </a:r>
            <a:r>
              <a:rPr lang="zh-CN" altLang="en-US" sz="2400">
                <a:ea typeface="黑体" panose="02010609060101010101" pitchFamily="49" charset="-122"/>
              </a:rPr>
              <a:t>：磁道单位长度上能记录的二进制代码位数。（概念定义是位数</a:t>
            </a:r>
            <a:r>
              <a:rPr lang="en-US" altLang="zh-CN" sz="2400">
                <a:ea typeface="黑体" panose="02010609060101010101" pitchFamily="49" charset="-122"/>
              </a:rPr>
              <a:t>bit,</a:t>
            </a:r>
            <a:r>
              <a:rPr lang="zh-CN" altLang="en-US" sz="2400">
                <a:ea typeface="黑体" panose="02010609060101010101" pitchFamily="49" charset="-122"/>
              </a:rPr>
              <a:t>实际题目可能是字节</a:t>
            </a:r>
            <a:r>
              <a:rPr lang="en-US" altLang="zh-CN" sz="2400">
                <a:ea typeface="黑体" panose="02010609060101010101" pitchFamily="49" charset="-122"/>
              </a:rPr>
              <a:t>B</a:t>
            </a:r>
            <a:r>
              <a:rPr lang="zh-CN" altLang="en-US" sz="2400">
                <a:ea typeface="黑体" panose="02010609060101010101" pitchFamily="49" charset="-122"/>
              </a:rPr>
              <a:t>、</a:t>
            </a:r>
            <a:r>
              <a:rPr lang="en-US" altLang="zh-CN" sz="2400">
                <a:ea typeface="黑体" panose="02010609060101010101" pitchFamily="49" charset="-122"/>
              </a:rPr>
              <a:t>MB</a:t>
            </a:r>
            <a:r>
              <a:rPr lang="zh-CN" altLang="en-US" sz="2400">
                <a:ea typeface="黑体" panose="02010609060101010101" pitchFamily="49" charset="-122"/>
              </a:rPr>
              <a:t>等，注意位和字节的转化，比如作业第十题）</a:t>
            </a:r>
            <a:endParaRPr lang="en-US" altLang="zh-CN" sz="2400">
              <a:ea typeface="黑体" panose="02010609060101010101" pitchFamily="49" charset="-122"/>
            </a:endParaRPr>
          </a:p>
          <a:p>
            <a:r>
              <a:rPr lang="zh-CN" altLang="en-US" sz="2400" b="1" u="sng">
                <a:solidFill>
                  <a:schemeClr val="hlink"/>
                </a:solidFill>
                <a:ea typeface="黑体" panose="02010609060101010101" pitchFamily="49" charset="-122"/>
              </a:rPr>
              <a:t>面密度</a:t>
            </a:r>
            <a:r>
              <a:rPr lang="zh-CN" altLang="en-US" sz="2400">
                <a:ea typeface="黑体" panose="02010609060101010101" pitchFamily="49" charset="-122"/>
              </a:rPr>
              <a:t>：位密度和道密度的乘积。</a:t>
            </a:r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ADC8D7-4346-0E80-B06F-945D2672BEAB}"/>
              </a:ext>
            </a:extLst>
          </p:cNvPr>
          <p:cNvSpPr txBox="1"/>
          <p:nvPr/>
        </p:nvSpPr>
        <p:spPr>
          <a:xfrm>
            <a:off x="581867" y="2970637"/>
            <a:ext cx="6517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u="sng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数据传输率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：磁盘存储器</a:t>
            </a:r>
            <a:r>
              <a:rPr lang="zh-CN" altLang="en-US" sz="2000" b="1" u="sng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在单位时间内向主机传送数据的字节数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，叫数据传输率。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4B52B2-562E-32C1-D54D-12CB7D079D6F}"/>
              </a:ext>
            </a:extLst>
          </p:cNvPr>
          <p:cNvSpPr txBox="1"/>
          <p:nvPr/>
        </p:nvSpPr>
        <p:spPr>
          <a:xfrm>
            <a:off x="202547" y="4101458"/>
            <a:ext cx="81758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从</a:t>
            </a:r>
            <a:r>
              <a:rPr lang="zh-CN" altLang="en-US" b="1" u="sng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存储设备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考虑，假设磁盘旋转速度为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转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秒，每条磁道容量为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个字节，则数据传输率：</a:t>
            </a: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Dr=nN(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字节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秒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Dr=D·v(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字节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秒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：位密度 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：带速  作业第九题）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补充：个人理解：</a:t>
            </a:r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假设磁道周长为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d </a:t>
            </a: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每条磁道容量为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个字节  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N/d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即为位密度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磁盘旋转速度为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转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秒  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n*d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即为转速</a:t>
            </a:r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从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Dr=nN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是可以推导出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Dr=D·v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的，大家记住第一个公式即可。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B628DD6-47A9-0B8F-0E09-3E68BA8B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93" y="2121895"/>
            <a:ext cx="33242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26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965F9D6-B68E-4B50-F1CD-38E2D8A29700}"/>
              </a:ext>
            </a:extLst>
          </p:cNvPr>
          <p:cNvSpPr txBox="1"/>
          <p:nvPr/>
        </p:nvSpPr>
        <p:spPr>
          <a:xfrm>
            <a:off x="1470212" y="269866"/>
            <a:ext cx="8659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9. 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磁带机有 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 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道磁道，带长 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600m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带速 </a:t>
            </a:r>
            <a:r>
              <a:rPr lang="en-US" altLang="zh-CN" sz="24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2m/s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，每个数据块 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1KB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，块间间隔 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14mm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，若数据传输率为</a:t>
            </a:r>
            <a:r>
              <a:rPr lang="en-US" altLang="zh-CN" sz="24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128000B/s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，试求： </a:t>
            </a:r>
            <a:endParaRPr lang="zh-CN" altLang="en-US" sz="2400"/>
          </a:p>
          <a:p>
            <a:r>
              <a:rPr lang="en-US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记录位密度。 </a:t>
            </a:r>
            <a:endParaRPr lang="zh-CN" altLang="en-US" sz="2400"/>
          </a:p>
          <a:p>
            <a:r>
              <a:rPr lang="en-US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若带的首尾各空 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2m</a:t>
            </a:r>
            <a:r>
              <a:rPr lang="zh-CN" altLang="en-US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，求此带最大有效存储容量。</a:t>
            </a:r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B98ECB-F718-C459-13C7-AFB93DBFCB4E}"/>
              </a:ext>
            </a:extLst>
          </p:cNvPr>
          <p:cNvSpPr txBox="1"/>
          <p:nvPr/>
        </p:nvSpPr>
        <p:spPr>
          <a:xfrm>
            <a:off x="1837764" y="2186500"/>
            <a:ext cx="720762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Dr=D·v(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字节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秒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：位密度 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：带速）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从题目中我们得到的解决第一问的信息：</a:t>
            </a:r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数据传输速率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Dr=</a:t>
            </a:r>
            <a:r>
              <a:rPr lang="en-US" altLang="zh-CN" sz="2800" b="1">
                <a:effectLst/>
                <a:latin typeface="Times New Roman" panose="02020603050405020304" pitchFamily="18" charset="0"/>
              </a:rPr>
              <a:t> 128000B/s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 带速</a:t>
            </a:r>
            <a:r>
              <a:rPr lang="en-US" altLang="zh-CN" sz="2800" b="1">
                <a:latin typeface="Times New Roman" panose="02020603050405020304" pitchFamily="18" charset="0"/>
              </a:rPr>
              <a:t>v=</a:t>
            </a:r>
            <a:r>
              <a:rPr lang="en-US" altLang="zh-CN" sz="2800" b="1">
                <a:effectLst/>
                <a:latin typeface="Times New Roman" panose="02020603050405020304" pitchFamily="18" charset="0"/>
              </a:rPr>
              <a:t> 2m/s</a:t>
            </a:r>
          </a:p>
          <a:p>
            <a:r>
              <a:rPr lang="zh-CN" altLang="en-US" sz="2800"/>
              <a:t>根据公式</a:t>
            </a:r>
            <a:r>
              <a:rPr lang="en-US" altLang="zh-CN" sz="2800"/>
              <a:t>D=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Dr/v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求解即可。</a:t>
            </a:r>
            <a:endParaRPr lang="zh-CN" altLang="en-US" sz="28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28A468-9374-5FB4-907B-6D03E94C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586" y="4518772"/>
            <a:ext cx="58293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4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A1B134-E3A5-5FC8-CB19-E210575D2E21}"/>
              </a:ext>
            </a:extLst>
          </p:cNvPr>
          <p:cNvSpPr txBox="1"/>
          <p:nvPr/>
        </p:nvSpPr>
        <p:spPr>
          <a:xfrm>
            <a:off x="609600" y="162289"/>
            <a:ext cx="106142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9. 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磁带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机有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道磁道，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带长 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600m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，带速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2m/s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，每个数据块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1KB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，块间间隔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14mm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，若数据传输率为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128000B/s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，试求： </a:t>
            </a:r>
            <a:endParaRPr lang="zh-CN" altLang="en-US" sz="1800"/>
          </a:p>
          <a:p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若带的首尾各空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，求此带最大有效存储容量。</a:t>
            </a:r>
            <a:endParaRPr lang="zh-CN" altLang="en-US" sz="18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604258E-1DBB-F5B5-EAB3-995E668A1CFF}"/>
              </a:ext>
            </a:extLst>
          </p:cNvPr>
          <p:cNvSpPr txBox="1"/>
          <p:nvPr/>
        </p:nvSpPr>
        <p:spPr>
          <a:xfrm>
            <a:off x="609600" y="1142613"/>
            <a:ext cx="6104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求磁盘容量的常见做法</a:t>
            </a:r>
            <a:r>
              <a:rPr lang="zh-CN" altLang="en-US" sz="2000">
                <a:sym typeface="Wingdings" panose="05000000000000000000" pitchFamily="2" charset="2"/>
              </a:rPr>
              <a:t>：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求出每个</a:t>
            </a:r>
            <a:r>
              <a:rPr lang="zh-CN" altLang="en-US" sz="2000" b="1"/>
              <a:t>磁道的存储容量</a:t>
            </a:r>
            <a:r>
              <a:rPr lang="zh-CN" altLang="en-US" sz="2000"/>
              <a:t>（位密度</a:t>
            </a:r>
            <a:r>
              <a:rPr lang="en-US" altLang="zh-CN" sz="2000"/>
              <a:t>*</a:t>
            </a:r>
            <a:r>
              <a:rPr lang="zh-CN" altLang="en-US" sz="2000"/>
              <a:t>周长）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/>
              <a:t>磁道数</a:t>
            </a:r>
            <a:r>
              <a:rPr lang="en-US" altLang="zh-CN" sz="2000" b="1"/>
              <a:t>*</a:t>
            </a:r>
            <a:r>
              <a:rPr lang="zh-CN" altLang="en-US" sz="2000" b="1"/>
              <a:t>每个磁道的存储容量</a:t>
            </a:r>
            <a:endParaRPr lang="en-US" altLang="zh-CN" sz="2000" b="1"/>
          </a:p>
          <a:p>
            <a:r>
              <a:rPr lang="zh-CN" altLang="en-US" sz="2000" b="1"/>
              <a:t>比如：例题</a:t>
            </a:r>
            <a:r>
              <a:rPr lang="en-US" altLang="zh-CN" sz="2000" b="1"/>
              <a:t>7.1</a:t>
            </a:r>
            <a:endParaRPr lang="zh-CN" altLang="en-US" sz="2000" b="1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A4759FE-A414-AEB0-4BCF-1C32F96C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43" y="2466053"/>
            <a:ext cx="7076515" cy="4152142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F0AC4F4-4AEC-B4FB-34BF-40E5D2CC8C78}"/>
              </a:ext>
            </a:extLst>
          </p:cNvPr>
          <p:cNvSpPr txBox="1"/>
          <p:nvPr/>
        </p:nvSpPr>
        <p:spPr>
          <a:xfrm>
            <a:off x="7091082" y="3246084"/>
            <a:ext cx="4966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局限性：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）没有考虑块间隔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）磁道的概念并不体现磁带的物理特性</a:t>
            </a:r>
          </a:p>
        </p:txBody>
      </p:sp>
    </p:spTree>
    <p:extLst>
      <p:ext uri="{BB962C8B-B14F-4D97-AF65-F5344CB8AC3E}">
        <p14:creationId xmlns:p14="http://schemas.microsoft.com/office/powerpoint/2010/main" val="82302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9FB3753-75FE-D4DE-32B2-E518293F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292" y="2671956"/>
            <a:ext cx="2447925" cy="1866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0C7219B-6C2D-A2EC-B876-95949145B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2" y="1814706"/>
            <a:ext cx="11382375" cy="857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87B997-18EE-AD30-C9AE-4780CA392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4" y="3147085"/>
            <a:ext cx="4903693" cy="33160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12E3945-9339-A997-357D-46A0F036A2FF}"/>
              </a:ext>
            </a:extLst>
          </p:cNvPr>
          <p:cNvSpPr txBox="1"/>
          <p:nvPr/>
        </p:nvSpPr>
        <p:spPr>
          <a:xfrm>
            <a:off x="564776" y="278343"/>
            <a:ext cx="8971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9. 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磁带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机有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道磁道，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带长 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600m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，带速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2m/s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每个数据块 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1KB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，块间间隔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14mm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，若数据传输率为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128000B/s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，试求： </a:t>
            </a:r>
            <a:endParaRPr lang="zh-CN" altLang="en-US" sz="1800"/>
          </a:p>
          <a:p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若带的首尾各空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2m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，求此带最大有效存储容量。</a:t>
            </a:r>
            <a:endParaRPr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D2F674-321C-23AA-21A3-09A7559133F7}"/>
              </a:ext>
            </a:extLst>
          </p:cNvPr>
          <p:cNvSpPr txBox="1"/>
          <p:nvPr/>
        </p:nvSpPr>
        <p:spPr>
          <a:xfrm>
            <a:off x="391084" y="1296274"/>
            <a:ext cx="11738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本题：一整个磁带展开，题目中已经给了每个数据块（扇区）的存储容量，计算有几个存放的扇区即可。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3E5C19-B09B-7F88-55DE-F8F5238ED0C5}"/>
              </a:ext>
            </a:extLst>
          </p:cNvPr>
          <p:cNvSpPr txBox="1"/>
          <p:nvPr/>
        </p:nvSpPr>
        <p:spPr>
          <a:xfrm>
            <a:off x="7243482" y="4867835"/>
            <a:ext cx="52353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注意事项：</a:t>
            </a:r>
            <a:endParaRPr lang="en-US" altLang="zh-CN" sz="2000"/>
          </a:p>
          <a:p>
            <a:r>
              <a:rPr lang="en-US" altLang="zh-CN" sz="2000"/>
              <a:t>a.1KB=1024B</a:t>
            </a:r>
          </a:p>
          <a:p>
            <a:r>
              <a:rPr lang="en-US" altLang="zh-CN" sz="2000"/>
              <a:t>b.596/</a:t>
            </a:r>
            <a:r>
              <a:rPr lang="zh-CN" altLang="en-US" sz="2000"/>
              <a:t>（</a:t>
            </a:r>
            <a:r>
              <a:rPr lang="en-US" altLang="zh-CN" sz="2000"/>
              <a:t>0.014+0.016</a:t>
            </a:r>
            <a:r>
              <a:rPr lang="zh-CN" altLang="en-US" sz="2000"/>
              <a:t>）</a:t>
            </a:r>
            <a:r>
              <a:rPr lang="en-US" altLang="zh-CN" sz="2000"/>
              <a:t>=19866.6667</a:t>
            </a:r>
          </a:p>
          <a:p>
            <a:r>
              <a:rPr lang="en-US" altLang="zh-CN" sz="2000"/>
              <a:t>   0.016/</a:t>
            </a:r>
            <a:r>
              <a:rPr lang="zh-CN" altLang="en-US" sz="2000"/>
              <a:t> （</a:t>
            </a:r>
            <a:r>
              <a:rPr lang="en-US" altLang="zh-CN" sz="2000"/>
              <a:t>0.014+0.016</a:t>
            </a:r>
            <a:r>
              <a:rPr lang="zh-CN" altLang="en-US" sz="2000"/>
              <a:t>） </a:t>
            </a:r>
            <a:r>
              <a:rPr lang="en-US" altLang="zh-CN" sz="2000"/>
              <a:t>=0.5333333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65626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6E185A-E963-DEB7-8931-3FB15774E9E1}"/>
              </a:ext>
            </a:extLst>
          </p:cNvPr>
          <p:cNvSpPr txBox="1"/>
          <p:nvPr/>
        </p:nvSpPr>
        <p:spPr>
          <a:xfrm>
            <a:off x="1084729" y="756681"/>
            <a:ext cx="10659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400"/>
          </a:p>
          <a:p>
            <a:r>
              <a:rPr lang="zh-CN" altLang="en-US" sz="2400"/>
              <a:t>磁盘操作的几个时间概念：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/>
              <a:t>找道时间</a:t>
            </a:r>
            <a:r>
              <a:rPr lang="zh-CN" altLang="en-US" sz="2400"/>
              <a:t>:将磁头定位至所要求的磁道上所需的时间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/>
              <a:t>等待时间</a:t>
            </a:r>
            <a:r>
              <a:rPr lang="zh-CN" altLang="en-US" sz="2400"/>
              <a:t>:找道完成后至磁道上需要访问的信息到达磁头下的时间.个人理解：磁头定位到扇区开始位置所用的时间。</a:t>
            </a:r>
          </a:p>
          <a:p>
            <a:r>
              <a:rPr lang="en-US" altLang="zh-CN" sz="2400"/>
              <a:t>     </a:t>
            </a:r>
            <a:r>
              <a:rPr lang="zh-CN" altLang="en-US" sz="2400"/>
              <a:t>平均等待时间和磁盘转速有关，它用磁盘旋转一周所需时间的一半来表示。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/>
              <a:t>数据传送时间</a:t>
            </a:r>
            <a:r>
              <a:rPr lang="zh-CN" altLang="en-US" sz="240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6EAE14-7341-18DB-BF3A-E3DA3E40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29" y="4373375"/>
            <a:ext cx="88011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141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119D09-067A-3045-994C-299438FA254F}"/>
              </a:ext>
            </a:extLst>
          </p:cNvPr>
          <p:cNvSpPr txBox="1"/>
          <p:nvPr/>
        </p:nvSpPr>
        <p:spPr>
          <a:xfrm>
            <a:off x="439270" y="487739"/>
            <a:ext cx="101659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11.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有一台磁盘机，其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平均找道时间为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30ms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，平均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旋转等待时间为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10ms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，数据传输率为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500B/ms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endParaRPr lang="zh-CN" altLang="en-US" sz="2000"/>
          </a:p>
          <a:p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磁盘机上存放着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1000 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件每件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3000B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的数据。现欲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把一件件数据取走，更新后再放回原地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，假设一次取出或写入所需时间为 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sz="2000"/>
          </a:p>
          <a:p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平均找道时间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+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平均等待时间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+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数据传送时间 </a:t>
            </a:r>
            <a:endParaRPr lang="zh-CN" altLang="en-US" sz="2000"/>
          </a:p>
          <a:p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另外，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使用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更新信息所需的时间为 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</a:rPr>
              <a:t>4ms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，并且更新时间同输入输出操作不相重叠。试问： </a:t>
            </a:r>
            <a:endParaRPr lang="zh-CN" altLang="en-US" sz="2000"/>
          </a:p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更新磁盘上全部数据需多少时间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2000"/>
          </a:p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若磁盘机旋转速度和数据传输率都提高一倍，更新全部数据需多少时间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20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C001A6-BDAC-DF5D-F75D-7D0B7A913210}"/>
              </a:ext>
            </a:extLst>
          </p:cNvPr>
          <p:cNvSpPr txBox="1"/>
          <p:nvPr/>
        </p:nvSpPr>
        <p:spPr>
          <a:xfrm>
            <a:off x="735105" y="3612776"/>
            <a:ext cx="108831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(1)</a:t>
            </a:r>
          </a:p>
          <a:p>
            <a:r>
              <a:rPr lang="zh-CN" altLang="en-US"/>
              <a:t>更新一块数据：取出时间</a:t>
            </a:r>
            <a:r>
              <a:rPr lang="en-US" altLang="zh-CN"/>
              <a:t>+</a:t>
            </a:r>
            <a:r>
              <a:rPr lang="zh-CN" altLang="en-US"/>
              <a:t>更新时间</a:t>
            </a:r>
            <a:r>
              <a:rPr lang="en-US" altLang="zh-CN"/>
              <a:t>+</a:t>
            </a:r>
            <a:r>
              <a:rPr lang="zh-CN" altLang="en-US"/>
              <a:t>写入时间</a:t>
            </a:r>
            <a:endParaRPr lang="en-US" altLang="zh-CN"/>
          </a:p>
          <a:p>
            <a:r>
              <a:rPr lang="en-US" altLang="zh-CN"/>
              <a:t>T+4ms+T</a:t>
            </a:r>
          </a:p>
          <a:p>
            <a:endParaRPr lang="en-US" altLang="zh-CN"/>
          </a:p>
          <a:p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更新一件数据的时间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＝（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30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10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3000/500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×2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96ms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，故更新磁盘上全部数据需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96ms×1000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18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96s</a:t>
            </a:r>
            <a:r>
              <a:rPr lang="zh-CN" altLang="en-US" sz="18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564A32-1053-A1A5-78E3-D52B269A0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5" y="5459226"/>
            <a:ext cx="83248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6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C45DE55-0CC3-B1FE-1B0B-F6EFA89EE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55" y="190929"/>
            <a:ext cx="8801100" cy="15716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FAAB6A-4593-B53E-3C6F-688F628302CA}"/>
              </a:ext>
            </a:extLst>
          </p:cNvPr>
          <p:cNvSpPr txBox="1"/>
          <p:nvPr/>
        </p:nvSpPr>
        <p:spPr>
          <a:xfrm>
            <a:off x="1210235" y="2060633"/>
            <a:ext cx="9628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若磁盘机旋转速度和数据传输率都提高一倍，更新全部数据需多少时间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18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4AA1B-835F-9FB0-03A3-624F68B6B55E}"/>
              </a:ext>
            </a:extLst>
          </p:cNvPr>
          <p:cNvSpPr txBox="1"/>
          <p:nvPr/>
        </p:nvSpPr>
        <p:spPr>
          <a:xfrm>
            <a:off x="1281953" y="2673709"/>
            <a:ext cx="96280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变化的量：</a:t>
            </a:r>
            <a:endParaRPr lang="en-US" altLang="zh-CN" sz="2000"/>
          </a:p>
          <a:p>
            <a:r>
              <a:rPr lang="zh-CN" altLang="en-US" sz="2000" b="1"/>
              <a:t>磁盘旋转速度</a:t>
            </a:r>
            <a:r>
              <a:rPr lang="en-US" altLang="zh-CN" sz="2000" b="1"/>
              <a:t>r</a:t>
            </a:r>
            <a:r>
              <a:rPr lang="en-US" altLang="zh-CN" sz="2000"/>
              <a:t>:    </a:t>
            </a:r>
            <a:r>
              <a:rPr lang="zh-CN" altLang="en-US" sz="2000"/>
              <a:t>影响</a:t>
            </a:r>
            <a:r>
              <a:rPr lang="zh-CN" altLang="en-US" sz="2000" b="1"/>
              <a:t>等待时间</a:t>
            </a:r>
            <a:r>
              <a:rPr lang="zh-CN" altLang="en-US" sz="2000"/>
              <a:t>。   等待时间：</a:t>
            </a:r>
            <a:r>
              <a:rPr lang="en-US" altLang="zh-CN" sz="2000"/>
              <a:t>1/2r</a:t>
            </a:r>
          </a:p>
          <a:p>
            <a:r>
              <a:rPr lang="zh-CN" altLang="en-US" sz="2000" b="1"/>
              <a:t>数据传输率</a:t>
            </a:r>
            <a:r>
              <a:rPr lang="zh-CN" altLang="en-US" sz="2000"/>
              <a:t>：影响</a:t>
            </a:r>
            <a:r>
              <a:rPr lang="zh-CN" altLang="en-US" sz="2000" b="1"/>
              <a:t>数据传输时间</a:t>
            </a:r>
            <a:r>
              <a:rPr lang="zh-CN" altLang="en-US" sz="2000"/>
              <a:t>。数据传输时间：</a:t>
            </a:r>
            <a:r>
              <a:rPr lang="en-US" altLang="zh-CN" sz="2000"/>
              <a:t> </a:t>
            </a:r>
            <a:r>
              <a:rPr lang="zh-CN" altLang="en-US" sz="2000"/>
              <a:t>传送的数据量</a:t>
            </a:r>
            <a:r>
              <a:rPr lang="en-US" altLang="zh-CN" sz="2000"/>
              <a:t>/</a:t>
            </a:r>
            <a:r>
              <a:rPr lang="zh-CN" altLang="en-US" sz="2000"/>
              <a:t>数据传输率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结果：</a:t>
            </a:r>
            <a:endParaRPr lang="en-US" altLang="zh-CN" sz="2000"/>
          </a:p>
          <a:p>
            <a:r>
              <a:rPr lang="zh-CN" altLang="en-US" sz="2000"/>
              <a:t>磁盘旋转速度</a:t>
            </a:r>
            <a:r>
              <a:rPr lang="en-US" altLang="zh-CN" sz="2000"/>
              <a:t>r</a:t>
            </a:r>
            <a:r>
              <a:rPr lang="zh-CN" altLang="en-US" sz="2000"/>
              <a:t>提高一倍，</a:t>
            </a:r>
            <a:r>
              <a:rPr lang="zh-CN" altLang="en-US" sz="2000" b="1"/>
              <a:t>等待时间减半</a:t>
            </a:r>
            <a:r>
              <a:rPr lang="zh-CN" altLang="en-US" sz="2000"/>
              <a:t>；数据传输率提高一倍，</a:t>
            </a:r>
            <a:r>
              <a:rPr lang="zh-CN" altLang="en-US" sz="2000" b="1"/>
              <a:t>数据传输时间减半</a:t>
            </a:r>
            <a:r>
              <a:rPr lang="zh-CN" altLang="en-US" sz="200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AA58BE-A1AE-8C49-1B50-288B053E3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94" y="5845637"/>
            <a:ext cx="7943850" cy="5619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BCACEE-1EE1-BA83-70C5-432F9E16EBCC}"/>
              </a:ext>
            </a:extLst>
          </p:cNvPr>
          <p:cNvSpPr txBox="1"/>
          <p:nvPr/>
        </p:nvSpPr>
        <p:spPr>
          <a:xfrm>
            <a:off x="1398494" y="5095446"/>
            <a:ext cx="88750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更新一件数据的时间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＝（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30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>
                <a:solidFill>
                  <a:srgbClr val="333333"/>
                </a:solidFill>
                <a:effectLst/>
                <a:latin typeface=" 微软雅黑"/>
              </a:rPr>
              <a:t>10/2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6/2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×2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ms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，故更新磁盘上全部数据需</a:t>
            </a:r>
            <a:r>
              <a:rPr lang="en-US" altLang="zh-CN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ms×1000</a:t>
            </a:r>
            <a:r>
              <a:rPr lang="zh-CN" altLang="en-US" sz="200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</a:t>
            </a:r>
            <a:r>
              <a:rPr lang="en-US" altLang="zh-CN" sz="200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s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97589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F5B3-5D08-7F9B-FFC9-62014BB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第八章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E45518-9F20-0E28-0068-B0D8C78B5EBF}"/>
              </a:ext>
            </a:extLst>
          </p:cNvPr>
          <p:cNvSpPr txBox="1"/>
          <p:nvPr/>
        </p:nvSpPr>
        <p:spPr>
          <a:xfrm>
            <a:off x="1" y="1325563"/>
            <a:ext cx="119764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参见图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8.12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所示的二维中断系统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现执行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的状态是什么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现执行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IM,</a:t>
            </a:r>
            <a:r>
              <a:rPr kumimoji="1" lang="zh-CN" alt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IM;IM,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的状态是什么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若设备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一提出中断请求，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立即进行响应，应如何调整才能满足要求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A1946C-D03F-429A-29FB-AAE346C558DD}"/>
              </a:ext>
            </a:extLst>
          </p:cNvPr>
          <p:cNvSpPr txBox="1"/>
          <p:nvPr/>
        </p:nvSpPr>
        <p:spPr>
          <a:xfrm>
            <a:off x="0" y="3620621"/>
            <a:ext cx="1197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用多路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控制器控制光盘、软盘、打印机三个设备同时工作。光盘以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的间隔向控制器发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请求，软盘以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的间隔向控制器发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请求，打印机以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的间隔发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请求。请画出多路 </a:t>
            </a:r>
            <a:r>
              <a:rPr kumimoji="1"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控制器的工作时空图。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480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E598B8-88C7-5F7C-ACBC-7A5C9E31A9FA}"/>
              </a:ext>
            </a:extLst>
          </p:cNvPr>
          <p:cNvSpPr txBox="1"/>
          <p:nvPr/>
        </p:nvSpPr>
        <p:spPr>
          <a:xfrm>
            <a:off x="887506" y="163051"/>
            <a:ext cx="9421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+mn-ea"/>
              </a:rPr>
              <a:t>中断被处理取决于两部分：</a:t>
            </a:r>
            <a:endParaRPr lang="en-US" altLang="zh-CN">
              <a:latin typeface="+mn-ea"/>
            </a:endParaRPr>
          </a:p>
          <a:p>
            <a:r>
              <a:rPr lang="zh-CN" altLang="en-US" sz="1800">
                <a:effectLst/>
                <a:latin typeface="+mn-ea"/>
              </a:rPr>
              <a:t>一是</a:t>
            </a:r>
            <a:r>
              <a:rPr lang="zh-CN" altLang="en-US" sz="1800" b="1">
                <a:solidFill>
                  <a:srgbClr val="FF0000"/>
                </a:solidFill>
                <a:effectLst/>
                <a:latin typeface="+mn-ea"/>
              </a:rPr>
              <a:t>设备发出中断</a:t>
            </a:r>
            <a:r>
              <a:rPr lang="zh-CN" altLang="en-US" sz="1800">
                <a:effectLst/>
                <a:latin typeface="+mn-ea"/>
              </a:rPr>
              <a:t>，二是</a:t>
            </a:r>
            <a:r>
              <a:rPr lang="en-US" altLang="zh-CN" sz="1800" b="1">
                <a:solidFill>
                  <a:srgbClr val="FF0000"/>
                </a:solidFill>
                <a:effectLst/>
                <a:latin typeface="+mn-ea"/>
              </a:rPr>
              <a:t>CPU</a:t>
            </a:r>
            <a:r>
              <a:rPr lang="zh-CN" altLang="en-US" sz="1800" b="1">
                <a:solidFill>
                  <a:srgbClr val="FF0000"/>
                </a:solidFill>
                <a:effectLst/>
                <a:latin typeface="+mn-ea"/>
              </a:rPr>
              <a:t>对中断请求受理、响应</a:t>
            </a:r>
            <a:r>
              <a:rPr lang="zh-CN" altLang="en-US" sz="1800">
                <a:effectLst/>
                <a:latin typeface="+mn-ea"/>
              </a:rPr>
              <a:t>。</a:t>
            </a:r>
            <a:endParaRPr lang="en-US" altLang="zh-CN" sz="1800">
              <a:effectLst/>
              <a:latin typeface="+mn-ea"/>
            </a:endParaRPr>
          </a:p>
          <a:p>
            <a:r>
              <a:rPr lang="zh-CN" altLang="en-US" sz="1800">
                <a:solidFill>
                  <a:srgbClr val="00AEE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中断请求触发器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IR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IR 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标志为 “</a:t>
            </a: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时，表示设备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发出了中断请求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/>
          </a:p>
          <a:p>
            <a:r>
              <a:rPr lang="zh-CN" altLang="en-US" sz="1800">
                <a:solidFill>
                  <a:srgbClr val="00AEE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中断屏蔽触发器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是否受理中断或批准中断的标志。</a:t>
            </a: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 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标志为“</a:t>
            </a: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时， </a:t>
            </a:r>
            <a:endParaRPr lang="zh-CN" altLang="en-US"/>
          </a:p>
          <a:p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可以受理外界的中断请求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，反之，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标志为“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”时，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不受理外界的中断请求。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2E153D-C2FE-3DEF-A1CB-8FE47498CC52}"/>
              </a:ext>
            </a:extLst>
          </p:cNvPr>
          <p:cNvSpPr txBox="1"/>
          <p:nvPr/>
        </p:nvSpPr>
        <p:spPr>
          <a:xfrm>
            <a:off x="627530" y="1955329"/>
            <a:ext cx="872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单级中断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中，采用</a:t>
            </a:r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串行排队链法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来实现具有公共请求线的中断源判优识别。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ED67E0-DC87-A4C5-BBF3-F4F78535F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82" y="2324661"/>
            <a:ext cx="7569294" cy="41834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F13BC4-0E22-0BEE-AC41-0B484624B944}"/>
              </a:ext>
            </a:extLst>
          </p:cNvPr>
          <p:cNvSpPr txBox="1"/>
          <p:nvPr/>
        </p:nvSpPr>
        <p:spPr>
          <a:xfrm>
            <a:off x="9096376" y="4071675"/>
            <a:ext cx="27751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IR</a:t>
            </a:r>
            <a:r>
              <a:rPr lang="zh-CN" altLang="en-US" sz="2000"/>
              <a:t>：请求</a:t>
            </a:r>
            <a:endParaRPr lang="en-US" altLang="zh-CN" sz="2000"/>
          </a:p>
          <a:p>
            <a:r>
              <a:rPr lang="en-US" altLang="zh-CN" sz="2000"/>
              <a:t>INTA</a:t>
            </a:r>
            <a:r>
              <a:rPr lang="zh-CN" altLang="en-US" sz="2000"/>
              <a:t>：应答</a:t>
            </a:r>
            <a:endParaRPr lang="en-US" altLang="zh-CN" sz="2000"/>
          </a:p>
          <a:p>
            <a:r>
              <a:rPr lang="zh-CN" altLang="en-US" sz="2000"/>
              <a:t>离</a:t>
            </a:r>
            <a:r>
              <a:rPr lang="en-US" altLang="zh-CN" sz="2000"/>
              <a:t>CPU</a:t>
            </a:r>
            <a:r>
              <a:rPr lang="zh-CN" altLang="en-US" sz="2000"/>
              <a:t>越近，优先级越高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7612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3DF2536-A08D-F33F-4F09-161F6E6A1178}"/>
              </a:ext>
            </a:extLst>
          </p:cNvPr>
          <p:cNvSpPr txBox="1"/>
          <p:nvPr/>
        </p:nvSpPr>
        <p:spPr>
          <a:xfrm>
            <a:off x="1438275" y="445324"/>
            <a:ext cx="93535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多级中断系统是指计算机系统中有相当多的中断源，每一中断级分配给一个优先权。</a:t>
            </a:r>
            <a:endParaRPr lang="en-US" altLang="zh-CN" sz="20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一般说来，优先权高的中断级可以打断优先权低的中断服务程序，以程序嵌套方式进行工作。</a:t>
            </a:r>
            <a:endParaRPr lang="en-US" altLang="zh-CN" sz="20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图中，三级中断优先权高于二级，而二级中断优先权又高于一级。</a:t>
            </a:r>
            <a:endParaRPr lang="en-US" altLang="zh-CN" sz="20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同级中断必须排队，不能打断；优先级高可以打断。</a:t>
            </a:r>
            <a:endParaRPr lang="zh-CN" altLang="en-US" sz="2000" b="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498BF5-4B17-5773-F7E6-80F169DF5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2324100"/>
            <a:ext cx="71913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44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093AF98-B5C4-7D11-27C4-59A63DAF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623887"/>
            <a:ext cx="7391400" cy="48101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76174F-5315-3C71-4120-AF1EC0123B09}"/>
              </a:ext>
            </a:extLst>
          </p:cNvPr>
          <p:cNvSpPr txBox="1"/>
          <p:nvPr/>
        </p:nvSpPr>
        <p:spPr>
          <a:xfrm>
            <a:off x="1485900" y="5514975"/>
            <a:ext cx="7524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IM</a:t>
            </a:r>
            <a:r>
              <a:rPr lang="zh-CN" altLang="en-US" sz="2400"/>
              <a:t>：为</a:t>
            </a:r>
            <a:r>
              <a:rPr lang="en-US" altLang="zh-CN" sz="2400"/>
              <a:t>1</a:t>
            </a:r>
            <a:r>
              <a:rPr lang="zh-CN" altLang="en-US" sz="2400"/>
              <a:t>，屏蔽中断；为</a:t>
            </a:r>
            <a:r>
              <a:rPr lang="en-US" altLang="zh-CN" sz="2400"/>
              <a:t>0</a:t>
            </a:r>
            <a:r>
              <a:rPr lang="zh-CN" altLang="en-US" sz="2400"/>
              <a:t>，允许中断。</a:t>
            </a:r>
            <a:endParaRPr lang="en-US" altLang="zh-CN" sz="2400"/>
          </a:p>
          <a:p>
            <a:r>
              <a:rPr lang="zh-CN" altLang="en-US" sz="2400"/>
              <a:t>结论</a:t>
            </a:r>
            <a:r>
              <a:rPr lang="zh-CN" altLang="en-US" sz="2400">
                <a:sym typeface="Wingdings" panose="05000000000000000000" pitchFamily="2" charset="2"/>
              </a:rPr>
              <a:t>：（重要！）</a:t>
            </a:r>
            <a:r>
              <a:rPr lang="zh-CN" altLang="en-US" sz="2400" b="1">
                <a:sym typeface="Wingdings" panose="05000000000000000000" pitchFamily="2" charset="2"/>
              </a:rPr>
              <a:t>本级和低级中断屏蔽，高级开放。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1570353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2F953B9-23D4-AA5B-E0EF-BCD5F4DC65DF}"/>
              </a:ext>
            </a:extLst>
          </p:cNvPr>
          <p:cNvSpPr txBox="1"/>
          <p:nvPr/>
        </p:nvSpPr>
        <p:spPr>
          <a:xfrm>
            <a:off x="1371600" y="422613"/>
            <a:ext cx="91630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参见图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8.12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所示的二维中断系统。 </a:t>
            </a:r>
            <a:endParaRPr lang="zh-CN" altLang="en-US" sz="2000"/>
          </a:p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现执行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的中断服务程序，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IM2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IM1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IM0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的状态是什么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2000"/>
          </a:p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现执行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的中断服务程序，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IM2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IM1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IM0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的状态是什么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2000"/>
          </a:p>
          <a:p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若设备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一提出中断请求，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2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立即进行响应，应如何调整才能满足要求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20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9FBFBF-0274-FEF7-9C0A-37A73EBCA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028825"/>
            <a:ext cx="5667375" cy="43082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2DE0A3-19AA-3FF7-07B7-C10C9AE1AFAE}"/>
              </a:ext>
            </a:extLst>
          </p:cNvPr>
          <p:cNvSpPr txBox="1"/>
          <p:nvPr/>
        </p:nvSpPr>
        <p:spPr>
          <a:xfrm>
            <a:off x="6238875" y="23284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结论</a:t>
            </a: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2400" b="1">
                <a:solidFill>
                  <a:srgbClr val="FF0000"/>
                </a:solidFill>
                <a:sym typeface="Wingdings" panose="05000000000000000000" pitchFamily="2" charset="2"/>
              </a:rPr>
              <a:t>本级和低级中断屏蔽，高级开放。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CC20A-117D-B348-83F6-6FBF9206CA9E}"/>
              </a:ext>
            </a:extLst>
          </p:cNvPr>
          <p:cNvSpPr txBox="1"/>
          <p:nvPr/>
        </p:nvSpPr>
        <p:spPr>
          <a:xfrm>
            <a:off x="6581775" y="2816184"/>
            <a:ext cx="5753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</a:t>
            </a:r>
            <a:endParaRPr lang="en-US" altLang="zh-CN" sz="2000"/>
          </a:p>
          <a:p>
            <a:r>
              <a:rPr lang="en-US" altLang="zh-CN" sz="2000"/>
              <a:t>E:1</a:t>
            </a:r>
            <a:r>
              <a:rPr lang="zh-CN" altLang="en-US" sz="2000"/>
              <a:t>级</a:t>
            </a:r>
            <a:r>
              <a:rPr lang="en-US" altLang="zh-CN" sz="2000"/>
              <a:t>IR</a:t>
            </a:r>
            <a:r>
              <a:rPr lang="zh-CN" altLang="en-US" sz="2000"/>
              <a:t>。</a:t>
            </a:r>
            <a:endParaRPr lang="en-US" altLang="zh-CN" sz="2000"/>
          </a:p>
          <a:p>
            <a:r>
              <a:rPr lang="zh-CN" altLang="en-US" sz="2000"/>
              <a:t>屏蔽</a:t>
            </a:r>
            <a:r>
              <a:rPr lang="en-US" altLang="zh-CN" sz="2000"/>
              <a:t>1</a:t>
            </a:r>
            <a:r>
              <a:rPr lang="zh-CN" altLang="en-US" sz="2000"/>
              <a:t>级和更低的</a:t>
            </a:r>
            <a:r>
              <a:rPr lang="en-US" altLang="zh-CN" sz="2000"/>
              <a:t>0</a:t>
            </a:r>
            <a:r>
              <a:rPr lang="zh-CN" altLang="en-US" sz="2000"/>
              <a:t>级中断，</a:t>
            </a:r>
            <a:r>
              <a:rPr lang="en-US" altLang="zh-CN" sz="2000"/>
              <a:t>IM1=IM0=1</a:t>
            </a:r>
          </a:p>
          <a:p>
            <a:r>
              <a:rPr lang="en-US" altLang="zh-CN" sz="2000"/>
              <a:t>2</a:t>
            </a:r>
            <a:r>
              <a:rPr lang="zh-CN" altLang="en-US" sz="2000"/>
              <a:t>级中断开放：</a:t>
            </a:r>
            <a:r>
              <a:rPr lang="en-US" altLang="zh-CN" sz="2000"/>
              <a:t>IM2=0</a:t>
            </a:r>
            <a:endParaRPr lang="zh-CN" altLang="en-US" sz="2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C21ECA-F63D-83B4-536D-F0741283E4DA}"/>
              </a:ext>
            </a:extLst>
          </p:cNvPr>
          <p:cNvSpPr txBox="1"/>
          <p:nvPr/>
        </p:nvSpPr>
        <p:spPr>
          <a:xfrm>
            <a:off x="6648450" y="4182963"/>
            <a:ext cx="61531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</a:t>
            </a:r>
            <a:endParaRPr lang="en-US" altLang="zh-CN" sz="2000"/>
          </a:p>
          <a:p>
            <a:r>
              <a:rPr lang="en-US" altLang="zh-CN" sz="2000"/>
              <a:t>H:0</a:t>
            </a:r>
            <a:r>
              <a:rPr lang="zh-CN" altLang="en-US" sz="2000"/>
              <a:t>级</a:t>
            </a:r>
            <a:r>
              <a:rPr lang="en-US" altLang="zh-CN" sz="2000"/>
              <a:t>IR</a:t>
            </a:r>
            <a:r>
              <a:rPr lang="zh-CN" altLang="en-US" sz="2000"/>
              <a:t>。</a:t>
            </a:r>
            <a:endParaRPr lang="en-US" altLang="zh-CN" sz="2000"/>
          </a:p>
          <a:p>
            <a:r>
              <a:rPr lang="zh-CN" altLang="en-US" sz="2000"/>
              <a:t>屏蔽</a:t>
            </a:r>
            <a:r>
              <a:rPr lang="en-US" altLang="zh-CN" sz="2000"/>
              <a:t>0</a:t>
            </a:r>
            <a:r>
              <a:rPr lang="zh-CN" altLang="en-US" sz="2000"/>
              <a:t>级中断，</a:t>
            </a:r>
            <a:r>
              <a:rPr lang="en-US" altLang="zh-CN" sz="2000"/>
              <a:t>IM0=1</a:t>
            </a:r>
          </a:p>
          <a:p>
            <a:r>
              <a:rPr lang="en-US" altLang="zh-CN" sz="2000"/>
              <a:t>2</a:t>
            </a:r>
            <a:r>
              <a:rPr lang="zh-CN" altLang="en-US" sz="2000"/>
              <a:t>级中断和</a:t>
            </a:r>
            <a:r>
              <a:rPr lang="en-US" altLang="zh-CN" sz="2000"/>
              <a:t>1</a:t>
            </a:r>
            <a:r>
              <a:rPr lang="zh-CN" altLang="en-US" sz="2000"/>
              <a:t>级中断开放：</a:t>
            </a:r>
            <a:r>
              <a:rPr lang="en-US" altLang="zh-CN" sz="2000"/>
              <a:t>IM2 =IM1 =0</a:t>
            </a:r>
            <a:endParaRPr lang="zh-CN" altLang="en-US" sz="20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4FDFF28-BA89-6A45-145F-8690D533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691187"/>
            <a:ext cx="401955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6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C7AE80-5CB6-FB2D-5ACD-9BCD1942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5610225"/>
            <a:ext cx="7448550" cy="8191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47E0EC9-5561-6D14-EC50-2D1EB1B561A4}"/>
              </a:ext>
            </a:extLst>
          </p:cNvPr>
          <p:cNvSpPr txBox="1"/>
          <p:nvPr/>
        </p:nvSpPr>
        <p:spPr>
          <a:xfrm>
            <a:off x="1104900" y="543610"/>
            <a:ext cx="956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若设备 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B 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一提出中断请求，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CPU </a:t>
            </a:r>
            <a:r>
              <a:rPr lang="zh-CN" altLang="en-US" sz="18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立即进行响应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，应如何调整才能满足要求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? </a:t>
            </a:r>
            <a:endParaRPr lang="zh-CN" altLang="en-US" sz="18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C32ECE-5057-FB94-0A69-5430B54F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019175"/>
            <a:ext cx="5667375" cy="43082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3D92BC-C865-ED8E-2763-D62108900DB8}"/>
              </a:ext>
            </a:extLst>
          </p:cNvPr>
          <p:cNvSpPr txBox="1"/>
          <p:nvPr/>
        </p:nvSpPr>
        <p:spPr>
          <a:xfrm>
            <a:off x="6200775" y="192405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effectLst/>
              </a:rPr>
              <a:t>B </a:t>
            </a:r>
            <a:r>
              <a:rPr lang="zh-CN" altLang="en-US" sz="20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一提出中断请求，</a:t>
            </a:r>
            <a:r>
              <a:rPr lang="en-US" altLang="zh-CN" sz="2000" dirty="0">
                <a:solidFill>
                  <a:srgbClr val="000000"/>
                </a:solidFill>
                <a:effectLst/>
              </a:rPr>
              <a:t>CPU </a:t>
            </a:r>
            <a:r>
              <a:rPr lang="zh-CN" altLang="en-US" sz="20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立即进行响应：</a:t>
            </a:r>
            <a:r>
              <a:rPr lang="en-US" altLang="zh-CN" sz="20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的优先级最高。</a:t>
            </a:r>
            <a:endParaRPr lang="en-US" altLang="zh-CN" sz="2000" dirty="0"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  <a:p>
            <a:r>
              <a:rPr lang="zh-CN" altLang="en-US" sz="2000" dirty="0"/>
              <a:t>根据图，</a:t>
            </a:r>
            <a:r>
              <a:rPr lang="en-US" altLang="zh-CN" sz="2000" dirty="0"/>
              <a:t>B</a:t>
            </a:r>
            <a:r>
              <a:rPr lang="zh-CN" altLang="en-US" sz="2000" dirty="0"/>
              <a:t>的优先级不是最高的。</a:t>
            </a:r>
            <a:r>
              <a:rPr lang="en-US" altLang="zh-CN" sz="2000" dirty="0"/>
              <a:t>B</a:t>
            </a:r>
            <a:r>
              <a:rPr lang="zh-CN" altLang="en-US" sz="2000" dirty="0"/>
              <a:t>的优先级比</a:t>
            </a:r>
            <a:r>
              <a:rPr lang="en-US" altLang="zh-CN" sz="2000" dirty="0"/>
              <a:t>A</a:t>
            </a:r>
            <a:r>
              <a:rPr lang="zh-CN" altLang="en-US" sz="2000" dirty="0"/>
              <a:t>低。</a:t>
            </a:r>
          </a:p>
        </p:txBody>
      </p:sp>
    </p:spTree>
    <p:extLst>
      <p:ext uri="{BB962C8B-B14F-4D97-AF65-F5344CB8AC3E}">
        <p14:creationId xmlns:p14="http://schemas.microsoft.com/office/powerpoint/2010/main" val="322595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134E8A-BF16-A12B-58BE-F1B2F5224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825" y="0"/>
            <a:ext cx="51435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6C9D1B7-8C3D-3CD6-B72E-4A0A70EB9DAD}"/>
              </a:ext>
            </a:extLst>
          </p:cNvPr>
          <p:cNvSpPr txBox="1"/>
          <p:nvPr/>
        </p:nvSpPr>
        <p:spPr>
          <a:xfrm>
            <a:off x="1076325" y="1899166"/>
            <a:ext cx="3667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对应的线路为：</a:t>
            </a:r>
          </a:p>
        </p:txBody>
      </p:sp>
    </p:spTree>
    <p:extLst>
      <p:ext uri="{BB962C8B-B14F-4D97-AF65-F5344CB8AC3E}">
        <p14:creationId xmlns:p14="http://schemas.microsoft.com/office/powerpoint/2010/main" val="1286797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3BA289-85BF-420E-07DD-862A31DF478C}"/>
              </a:ext>
            </a:extLst>
          </p:cNvPr>
          <p:cNvSpPr txBox="1"/>
          <p:nvPr/>
        </p:nvSpPr>
        <p:spPr>
          <a:xfrm>
            <a:off x="1069086" y="1276064"/>
            <a:ext cx="9277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17.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用多路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控制器控制光盘、软盘、打印机三个设备同时工作。光盘以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的间隔向控制器发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请求，软盘以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的间隔向控制器发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请求，打印机以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的间隔发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请求。请画出多路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控制器的工作时空图。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0BB680-D3C5-AA1B-1431-2B9FEC211A68}"/>
              </a:ext>
            </a:extLst>
          </p:cNvPr>
          <p:cNvSpPr txBox="1"/>
          <p:nvPr/>
        </p:nvSpPr>
        <p:spPr>
          <a:xfrm>
            <a:off x="2112264" y="3008376"/>
            <a:ext cx="369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 </a:t>
            </a:r>
            <a:r>
              <a:rPr lang="zh-CN" altLang="en-US" sz="2800" b="1"/>
              <a:t>我们先看例</a:t>
            </a:r>
            <a:r>
              <a:rPr lang="en-US" altLang="zh-CN" sz="2800" b="1"/>
              <a:t>8.4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3973415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A6A16F-31E8-D337-FC98-CD2BAD095EE9}"/>
              </a:ext>
            </a:extLst>
          </p:cNvPr>
          <p:cNvSpPr txBox="1"/>
          <p:nvPr/>
        </p:nvSpPr>
        <p:spPr>
          <a:xfrm>
            <a:off x="1285875" y="432138"/>
            <a:ext cx="96202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【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8.4】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下图中假设有磁盘、磁带、打印机三个设备同时工作。磁盘以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30μs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的间隔向控制器发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请求，磁带以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45μs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的间隔发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请求，打印机以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150μs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间隔发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请求。根据</a:t>
            </a: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传输速率，磁盘优先权最高，磁带次之，打印机最低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，图中假设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控制器每完成一次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传送所需的时间是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5μs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。若采用多路型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控制器，请画出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控制器服务三个设备的工作时间图。</a:t>
            </a:r>
            <a:endParaRPr lang="zh-CN" altLang="en-US" sz="2000"/>
          </a:p>
        </p:txBody>
      </p:sp>
      <p:pic>
        <p:nvPicPr>
          <p:cNvPr id="4" name="Picture 3" descr="8a19">
            <a:hlinkClick r:id="rId2" action="ppaction://hlinkfile"/>
            <a:extLst>
              <a:ext uri="{FF2B5EF4-FFF2-40B4-BE49-F238E27FC236}">
                <a16:creationId xmlns:a16="http://schemas.microsoft.com/office/drawing/2014/main" id="{DCD0F73E-AA30-C0EF-B103-975200D87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112124"/>
            <a:ext cx="5867400" cy="363259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706EA91-566B-82E6-B70F-179A1D91B18E}"/>
              </a:ext>
            </a:extLst>
          </p:cNvPr>
          <p:cNvSpPr txBox="1"/>
          <p:nvPr/>
        </p:nvSpPr>
        <p:spPr>
          <a:xfrm>
            <a:off x="8031099" y="2211705"/>
            <a:ext cx="3267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优先级：</a:t>
            </a:r>
            <a:endParaRPr lang="en-US" altLang="zh-CN" sz="2800"/>
          </a:p>
          <a:p>
            <a:r>
              <a:rPr lang="zh-CN" altLang="en-US" sz="2800" b="1"/>
              <a:t>磁盘</a:t>
            </a:r>
            <a:r>
              <a:rPr lang="en-US" altLang="zh-CN" sz="2800" b="1"/>
              <a:t>&gt;</a:t>
            </a:r>
            <a:r>
              <a:rPr lang="zh-CN" altLang="en-US" sz="2800" b="1"/>
              <a:t>磁带</a:t>
            </a:r>
            <a:r>
              <a:rPr lang="en-US" altLang="zh-CN" sz="2800" b="1"/>
              <a:t>&gt;</a:t>
            </a:r>
            <a:r>
              <a:rPr lang="zh-CN" altLang="en-US" sz="2800" b="1"/>
              <a:t>打印机</a:t>
            </a: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DBFEDA23-841D-B9B4-57A4-D2D5433E72CF}"/>
              </a:ext>
            </a:extLst>
          </p:cNvPr>
          <p:cNvSpPr/>
          <p:nvPr/>
        </p:nvSpPr>
        <p:spPr>
          <a:xfrm>
            <a:off x="1876425" y="5695951"/>
            <a:ext cx="933450" cy="978408"/>
          </a:xfrm>
          <a:prstGeom prst="up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打印机请求</a:t>
            </a:r>
          </a:p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8CD3DDC9-1ED2-2356-B0E0-CD0BE5E76EB5}"/>
              </a:ext>
            </a:extLst>
          </p:cNvPr>
          <p:cNvSpPr/>
          <p:nvPr/>
        </p:nvSpPr>
        <p:spPr>
          <a:xfrm>
            <a:off x="1285875" y="5549647"/>
            <a:ext cx="3646552" cy="978408"/>
          </a:xfrm>
          <a:prstGeom prst="up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磁带、磁盘请求同时到达，先磁盘后磁带</a:t>
            </a:r>
          </a:p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6651C8D2-0E20-54B7-CD0A-AF904C105C04}"/>
              </a:ext>
            </a:extLst>
          </p:cNvPr>
          <p:cNvSpPr/>
          <p:nvPr/>
        </p:nvSpPr>
        <p:spPr>
          <a:xfrm>
            <a:off x="2212087" y="5549647"/>
            <a:ext cx="3513772" cy="978408"/>
          </a:xfrm>
          <a:prstGeom prst="upArrow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磁盘发送第二个请求，</a:t>
            </a:r>
            <a:r>
              <a:rPr lang="en-US" altLang="zh-CN"/>
              <a:t>DMA</a:t>
            </a:r>
            <a:r>
              <a:rPr lang="zh-CN" altLang="en-US"/>
              <a:t>控制器处理</a:t>
            </a:r>
          </a:p>
          <a:p>
            <a:pPr algn="ctr"/>
            <a:endParaRPr lang="zh-CN" altLang="en-US"/>
          </a:p>
        </p:txBody>
      </p:sp>
      <p:sp>
        <p:nvSpPr>
          <p:cNvPr id="10" name="箭头: 上弧形 9">
            <a:extLst>
              <a:ext uri="{FF2B5EF4-FFF2-40B4-BE49-F238E27FC236}">
                <a16:creationId xmlns:a16="http://schemas.microsoft.com/office/drawing/2014/main" id="{16AA812D-587B-3B0D-340D-9FC98C786D9A}"/>
              </a:ext>
            </a:extLst>
          </p:cNvPr>
          <p:cNvSpPr/>
          <p:nvPr/>
        </p:nvSpPr>
        <p:spPr>
          <a:xfrm>
            <a:off x="2898648" y="4535424"/>
            <a:ext cx="1161288" cy="51206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30us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26B8D4-D613-9206-155D-800EFAC8F434}"/>
              </a:ext>
            </a:extLst>
          </p:cNvPr>
          <p:cNvSpPr txBox="1"/>
          <p:nvPr/>
        </p:nvSpPr>
        <p:spPr>
          <a:xfrm>
            <a:off x="7034022" y="3707857"/>
            <a:ext cx="500481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间隔中控制器首先为打印机服务，因为此时只有打印机有请求。 </a:t>
            </a:r>
            <a:endParaRPr lang="zh-CN" altLang="en-US"/>
          </a:p>
          <a:p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间隔前沿磁盘、磁带同时有请求，首先为优先权高的磁盘服务，然后为磁带服务，每次 </a:t>
            </a:r>
            <a:endParaRPr lang="zh-CN" altLang="en-US"/>
          </a:p>
          <a:p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服务传送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字节。在 </a:t>
            </a:r>
            <a:r>
              <a:rPr lang="en-US" altLang="zh-CN" sz="20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时间阶段中，为打印机服务只有一次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，为磁盘服务四次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endParaRPr lang="zh-CN" altLang="en-US"/>
          </a:p>
          <a:p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，为磁带服务三次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altLang="zh-CN" sz="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r>
              <a:rPr lang="en-US" altLang="zh-CN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46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25D831-B12D-991D-C287-1DA48EFC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64" y="1748790"/>
            <a:ext cx="8105775" cy="30861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DB4277-2A00-0D4F-BBD8-004EB6A1CD64}"/>
              </a:ext>
            </a:extLst>
          </p:cNvPr>
          <p:cNvSpPr txBox="1"/>
          <p:nvPr/>
        </p:nvSpPr>
        <p:spPr>
          <a:xfrm>
            <a:off x="1529333" y="422624"/>
            <a:ext cx="79520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17.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用多路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控制器控制光盘、软盘、打印机三个设备同时工作。光盘以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的间隔向控制器发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请求，软盘以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的间隔向控制器发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请求，打印机以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180μs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的间隔发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请求。请画出多路 </a:t>
            </a:r>
            <a:r>
              <a:rPr lang="en-US" altLang="zh-CN" sz="18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DMA </a:t>
            </a:r>
            <a:r>
              <a:rPr lang="zh-CN" altLang="en-US" sz="1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控制器的工作时空图。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8B8931-0871-BFC1-1B6F-DD5BC4C003F8}"/>
              </a:ext>
            </a:extLst>
          </p:cNvPr>
          <p:cNvSpPr txBox="1"/>
          <p:nvPr/>
        </p:nvSpPr>
        <p:spPr>
          <a:xfrm>
            <a:off x="1051560" y="4834890"/>
            <a:ext cx="10104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这道题题目没有给</a:t>
            </a:r>
            <a:r>
              <a:rPr lang="en-US" altLang="zh-CN" sz="2400"/>
              <a:t>DMA</a:t>
            </a:r>
            <a:r>
              <a:rPr lang="zh-CN" altLang="en-US" sz="2400"/>
              <a:t>控制器每完成一次</a:t>
            </a:r>
            <a:r>
              <a:rPr lang="en-US" altLang="zh-CN" sz="2400"/>
              <a:t>DMA</a:t>
            </a:r>
            <a:r>
              <a:rPr lang="zh-CN" altLang="en-US" sz="2400"/>
              <a:t>传送所需的时间，因此只能定性画出</a:t>
            </a:r>
            <a:r>
              <a:rPr lang="en-US" altLang="zh-CN" sz="2400"/>
              <a:t>DMA</a:t>
            </a:r>
            <a:r>
              <a:rPr lang="zh-CN" altLang="en-US" sz="2400"/>
              <a:t>控制器的工作时空图，实质就是</a:t>
            </a:r>
            <a:r>
              <a:rPr lang="zh-CN" altLang="en-US" sz="2400" b="1"/>
              <a:t>带有优先级地处理三个设备的</a:t>
            </a:r>
            <a:r>
              <a:rPr lang="en-US" altLang="zh-CN" sz="2400" b="1"/>
              <a:t>DMA</a:t>
            </a:r>
            <a:r>
              <a:rPr lang="zh-CN" altLang="en-US" sz="2400" b="1"/>
              <a:t>请求。</a:t>
            </a:r>
          </a:p>
        </p:txBody>
      </p:sp>
    </p:spTree>
    <p:extLst>
      <p:ext uri="{BB962C8B-B14F-4D97-AF65-F5344CB8AC3E}">
        <p14:creationId xmlns:p14="http://schemas.microsoft.com/office/powerpoint/2010/main" val="950692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3556</Words>
  <Application>Microsoft Macintosh PowerPoint</Application>
  <PresentationFormat>宽屏</PresentationFormat>
  <Paragraphs>216</Paragraphs>
  <Slides>47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 微软雅黑</vt:lpstr>
      <vt:lpstr>-apple-system</vt:lpstr>
      <vt:lpstr>等线</vt:lpstr>
      <vt:lpstr>等线 Light</vt:lpstr>
      <vt:lpstr>黑体</vt:lpstr>
      <vt:lpstr>宋体</vt:lpstr>
      <vt:lpstr>微软雅黑</vt:lpstr>
      <vt:lpstr>Arial</vt:lpstr>
      <vt:lpstr>Arial Black</vt:lpstr>
      <vt:lpstr>Cambria Math</vt:lpstr>
      <vt:lpstr>Times New Roman</vt:lpstr>
      <vt:lpstr>Office 主题​​</vt:lpstr>
      <vt:lpstr>习题复习</vt:lpstr>
      <vt:lpstr>第二章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</vt:lpstr>
      <vt:lpstr>PowerPoint 演示文稿</vt:lpstr>
      <vt:lpstr>PowerPoint 演示文稿</vt:lpstr>
      <vt:lpstr>PowerPoint 演示文稿</vt:lpstr>
      <vt:lpstr>PowerPoint 演示文稿</vt:lpstr>
      <vt:lpstr>第二章</vt:lpstr>
      <vt:lpstr>PowerPoint 演示文稿</vt:lpstr>
      <vt:lpstr>第三章</vt:lpstr>
      <vt:lpstr>PowerPoint 演示文稿</vt:lpstr>
      <vt:lpstr>PowerPoint 演示文稿</vt:lpstr>
      <vt:lpstr>第三章</vt:lpstr>
      <vt:lpstr>PowerPoint 演示文稿</vt:lpstr>
      <vt:lpstr>第三章</vt:lpstr>
      <vt:lpstr>第三章</vt:lpstr>
      <vt:lpstr>第四章</vt:lpstr>
      <vt:lpstr>PowerPoint 演示文稿</vt:lpstr>
      <vt:lpstr>PowerPoint 演示文稿</vt:lpstr>
      <vt:lpstr>PowerPoint 演示文稿</vt:lpstr>
      <vt:lpstr>PowerPoint 演示文稿</vt:lpstr>
      <vt:lpstr>第六章</vt:lpstr>
      <vt:lpstr>第六章</vt:lpstr>
      <vt:lpstr>第七章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第八章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习题复习</dc:title>
  <dc:creator>利存 戴</dc:creator>
  <cp:lastModifiedBy>利存 戴</cp:lastModifiedBy>
  <cp:revision>9</cp:revision>
  <dcterms:created xsi:type="dcterms:W3CDTF">2023-12-19T09:05:24Z</dcterms:created>
  <dcterms:modified xsi:type="dcterms:W3CDTF">2023-12-25T00:22:59Z</dcterms:modified>
</cp:coreProperties>
</file>