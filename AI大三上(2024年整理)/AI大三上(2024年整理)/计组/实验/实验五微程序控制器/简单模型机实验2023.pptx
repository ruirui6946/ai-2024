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59" r:id="rId3"/>
    <p:sldId id="306" r:id="rId4"/>
    <p:sldId id="312" r:id="rId5"/>
    <p:sldId id="310" r:id="rId6"/>
    <p:sldId id="314" r:id="rId7"/>
    <p:sldId id="315" r:id="rId8"/>
    <p:sldId id="307" r:id="rId9"/>
    <p:sldId id="341" r:id="rId10"/>
    <p:sldId id="319" r:id="rId11"/>
    <p:sldId id="342" r:id="rId12"/>
    <p:sldId id="316" r:id="rId13"/>
    <p:sldId id="344" r:id="rId14"/>
    <p:sldId id="336" r:id="rId15"/>
    <p:sldId id="321" r:id="rId16"/>
    <p:sldId id="323" r:id="rId17"/>
    <p:sldId id="324" r:id="rId18"/>
    <p:sldId id="326" r:id="rId19"/>
    <p:sldId id="327" r:id="rId20"/>
    <p:sldId id="328" r:id="rId21"/>
    <p:sldId id="329" r:id="rId22"/>
    <p:sldId id="332" r:id="rId23"/>
    <p:sldId id="360" r:id="rId24"/>
    <p:sldId id="334" r:id="rId25"/>
    <p:sldId id="338" r:id="rId26"/>
    <p:sldId id="340" r:id="rId27"/>
    <p:sldId id="339" r:id="rId28"/>
  </p:sldIdLst>
  <p:sldSz cx="9144000" cy="6858000" type="screen4x3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简单模型机实验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tx1"/>
                </a:solidFill>
              </a:rPr>
              <a:t>2023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/>
              <a:t>微程序控制器的作用：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机器指令</a:t>
            </a:r>
            <a:r>
              <a:rPr lang="en-US" altLang="zh-CN"/>
              <a:t>---&gt;</a:t>
            </a:r>
            <a:r>
              <a:rPr lang="zh-CN" altLang="en-US"/>
              <a:t>微指令序列（微程序）</a:t>
            </a:r>
            <a:r>
              <a:rPr lang="en-US" altLang="zh-CN"/>
              <a:t>-</a:t>
            </a:r>
            <a:r>
              <a:rPr lang="en-US" altLang="zh-CN">
                <a:sym typeface="+mn-ea"/>
              </a:rPr>
              <a:t>--&gt;</a:t>
            </a:r>
            <a:r>
              <a:rPr lang="zh-CN" altLang="en-US">
                <a:sym typeface="+mn-ea"/>
              </a:rPr>
              <a:t>控制存储器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83790" y="2252980"/>
            <a:ext cx="459740" cy="6718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/>
              <a:t>翻译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064375" y="2279650"/>
            <a:ext cx="459740" cy="7175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/>
              <a:t>存储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微程序控制器实验</a:t>
            </a:r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857224" y="1857365"/>
            <a:ext cx="2071702" cy="4572031"/>
            <a:chOff x="857224" y="1857365"/>
            <a:chExt cx="2071702" cy="4572031"/>
          </a:xfrm>
        </p:grpSpPr>
        <p:sp>
          <p:nvSpPr>
            <p:cNvPr id="4" name="TextBox 3"/>
            <p:cNvSpPr txBox="1"/>
            <p:nvPr/>
          </p:nvSpPr>
          <p:spPr>
            <a:xfrm>
              <a:off x="928662" y="1857365"/>
              <a:ext cx="2000264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FF0000"/>
                  </a:solidFill>
                </a:rPr>
                <a:t>设计程序指令</a:t>
              </a:r>
              <a:endParaRPr lang="en-US" altLang="zh-CN" sz="2000" b="1" dirty="0" smtClean="0">
                <a:solidFill>
                  <a:srgbClr val="FF0000"/>
                </a:solidFill>
              </a:endParaRPr>
            </a:p>
            <a:p>
              <a:endParaRPr lang="zh-CN" altLang="en-US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28662" y="3000372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翻译成微指令序列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28662" y="4286256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时序与操作台的设置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57224" y="5721510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编程、校验及运行</a:t>
              </a:r>
            </a:p>
          </p:txBody>
        </p:sp>
        <p:sp>
          <p:nvSpPr>
            <p:cNvPr id="22" name="下箭头 21"/>
            <p:cNvSpPr/>
            <p:nvPr/>
          </p:nvSpPr>
          <p:spPr>
            <a:xfrm>
              <a:off x="1714480" y="3786190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下箭头 23"/>
            <p:cNvSpPr/>
            <p:nvPr/>
          </p:nvSpPr>
          <p:spPr>
            <a:xfrm>
              <a:off x="1714480" y="2357430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下箭头 24"/>
            <p:cNvSpPr/>
            <p:nvPr/>
          </p:nvSpPr>
          <p:spPr>
            <a:xfrm>
              <a:off x="1714480" y="5143512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图片 26" descr="C:\Users\yju\AppData\Local\Temp\1512562604(1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0" y="2357430"/>
            <a:ext cx="4588078" cy="1191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微程序控制器实验</a:t>
            </a:r>
            <a:endParaRPr lang="zh-CN" altLang="en-US" dirty="0"/>
          </a:p>
        </p:txBody>
      </p:sp>
      <p:pic>
        <p:nvPicPr>
          <p:cNvPr id="4" name="内容占位符 3" descr="C:\Users\fofo\AppData\Local\Temp\1512570915(1)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52"/>
          <a:stretch>
            <a:fillRect/>
          </a:stretch>
        </p:blipFill>
        <p:spPr bwMode="auto">
          <a:xfrm>
            <a:off x="4143372" y="1357298"/>
            <a:ext cx="3842979" cy="44291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组合 4"/>
          <p:cNvGrpSpPr/>
          <p:nvPr/>
        </p:nvGrpSpPr>
        <p:grpSpPr>
          <a:xfrm>
            <a:off x="928662" y="1643050"/>
            <a:ext cx="2071702" cy="4572031"/>
            <a:chOff x="857224" y="1857365"/>
            <a:chExt cx="2071702" cy="4572031"/>
          </a:xfrm>
        </p:grpSpPr>
        <p:sp>
          <p:nvSpPr>
            <p:cNvPr id="6" name="TextBox 5"/>
            <p:cNvSpPr txBox="1"/>
            <p:nvPr/>
          </p:nvSpPr>
          <p:spPr>
            <a:xfrm>
              <a:off x="928662" y="1857365"/>
              <a:ext cx="2000264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FF0000"/>
                  </a:solidFill>
                </a:rPr>
                <a:t>设计程序指令</a:t>
              </a:r>
              <a:endParaRPr lang="en-US" altLang="zh-CN" sz="2000" b="1" dirty="0" smtClean="0">
                <a:solidFill>
                  <a:srgbClr val="FF0000"/>
                </a:solidFill>
              </a:endParaRPr>
            </a:p>
            <a:p>
              <a:endParaRPr lang="zh-CN" alt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8662" y="3000372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</a:rPr>
                <a:t>翻译成微指令序列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8662" y="4286256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时序与操作台的设置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57224" y="5721510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编程、校验及运行</a:t>
              </a:r>
            </a:p>
          </p:txBody>
        </p:sp>
        <p:sp>
          <p:nvSpPr>
            <p:cNvPr id="10" name="下箭头 9"/>
            <p:cNvSpPr/>
            <p:nvPr/>
          </p:nvSpPr>
          <p:spPr>
            <a:xfrm>
              <a:off x="1714480" y="3786190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下箭头 10"/>
            <p:cNvSpPr/>
            <p:nvPr/>
          </p:nvSpPr>
          <p:spPr>
            <a:xfrm>
              <a:off x="1714480" y="2357430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下箭头 11"/>
            <p:cNvSpPr/>
            <p:nvPr/>
          </p:nvSpPr>
          <p:spPr>
            <a:xfrm>
              <a:off x="1714480" y="5143512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微程序控制器实验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857224" y="1857365"/>
            <a:ext cx="2071702" cy="4572031"/>
            <a:chOff x="857224" y="1857365"/>
            <a:chExt cx="2071702" cy="4572031"/>
          </a:xfrm>
        </p:grpSpPr>
        <p:sp>
          <p:nvSpPr>
            <p:cNvPr id="5" name="TextBox 4"/>
            <p:cNvSpPr txBox="1"/>
            <p:nvPr/>
          </p:nvSpPr>
          <p:spPr>
            <a:xfrm>
              <a:off x="928662" y="1857365"/>
              <a:ext cx="2000264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 smtClean="0"/>
                <a:t>设计程序指令</a:t>
              </a:r>
              <a:endParaRPr lang="en-US" altLang="zh-CN" sz="2000" b="1" dirty="0" smtClean="0"/>
            </a:p>
            <a:p>
              <a:endParaRPr lang="zh-CN" altLang="en-US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8662" y="3000372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</a:rPr>
                <a:t>翻译成微指令序列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8662" y="4286256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时序与操作台的设置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57224" y="5721510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编程、校验及运行</a:t>
              </a:r>
            </a:p>
          </p:txBody>
        </p:sp>
        <p:sp>
          <p:nvSpPr>
            <p:cNvPr id="9" name="下箭头 8"/>
            <p:cNvSpPr/>
            <p:nvPr/>
          </p:nvSpPr>
          <p:spPr>
            <a:xfrm>
              <a:off x="1714480" y="3786190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下箭头 9"/>
            <p:cNvSpPr/>
            <p:nvPr/>
          </p:nvSpPr>
          <p:spPr>
            <a:xfrm>
              <a:off x="1714480" y="2357430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下箭头 10"/>
            <p:cNvSpPr/>
            <p:nvPr/>
          </p:nvSpPr>
          <p:spPr>
            <a:xfrm>
              <a:off x="1714480" y="5143512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000364" y="1643050"/>
            <a:ext cx="5786478" cy="4643470"/>
            <a:chOff x="2214546" y="1643050"/>
            <a:chExt cx="5572164" cy="4300766"/>
          </a:xfrm>
        </p:grpSpPr>
        <p:pic>
          <p:nvPicPr>
            <p:cNvPr id="13" name="图片 5" descr="C:\Users\yju\AppData\Local\Temp\1512561741(1).png"/>
            <p:cNvPicPr>
              <a:picLocks noChangeAspect="1" noChangeArrowheads="1"/>
            </p:cNvPicPr>
            <p:nvPr/>
          </p:nvPicPr>
          <p:blipFill>
            <a:blip r:embed="rId2"/>
            <a:srcRect t="8148"/>
            <a:stretch>
              <a:fillRect/>
            </a:stretch>
          </p:blipFill>
          <p:spPr bwMode="auto">
            <a:xfrm>
              <a:off x="2214546" y="2571743"/>
              <a:ext cx="5357850" cy="33720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下箭头 13"/>
            <p:cNvSpPr/>
            <p:nvPr/>
          </p:nvSpPr>
          <p:spPr>
            <a:xfrm>
              <a:off x="4429124" y="2071678"/>
              <a:ext cx="142876" cy="50006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下箭头 14"/>
            <p:cNvSpPr/>
            <p:nvPr/>
          </p:nvSpPr>
          <p:spPr>
            <a:xfrm>
              <a:off x="7143768" y="2071678"/>
              <a:ext cx="142876" cy="57150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29058" y="1643050"/>
              <a:ext cx="1214446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操作控制</a:t>
              </a:r>
              <a:endParaRPr lang="zh-CN" alt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500826" y="1714488"/>
              <a:ext cx="1285884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顺序控制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微程序控制器实验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0" y="1785926"/>
            <a:ext cx="2071702" cy="4572031"/>
            <a:chOff x="857224" y="1857365"/>
            <a:chExt cx="2071702" cy="4572031"/>
          </a:xfrm>
        </p:grpSpPr>
        <p:sp>
          <p:nvSpPr>
            <p:cNvPr id="5" name="TextBox 4"/>
            <p:cNvSpPr txBox="1"/>
            <p:nvPr/>
          </p:nvSpPr>
          <p:spPr>
            <a:xfrm>
              <a:off x="928662" y="1857365"/>
              <a:ext cx="2000264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 smtClean="0"/>
                <a:t>设计程序指令</a:t>
              </a:r>
              <a:endParaRPr lang="en-US" altLang="zh-CN" sz="2000" b="1" dirty="0" smtClean="0"/>
            </a:p>
            <a:p>
              <a:endParaRPr lang="zh-CN" altLang="en-US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8662" y="3000372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翻译成微指令序列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8662" y="4286256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</a:rPr>
                <a:t>时序与操作台的设置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57224" y="5721510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编程、校验及运行</a:t>
              </a:r>
            </a:p>
          </p:txBody>
        </p:sp>
        <p:sp>
          <p:nvSpPr>
            <p:cNvPr id="9" name="下箭头 8"/>
            <p:cNvSpPr/>
            <p:nvPr/>
          </p:nvSpPr>
          <p:spPr>
            <a:xfrm>
              <a:off x="1714480" y="3786190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下箭头 9"/>
            <p:cNvSpPr/>
            <p:nvPr/>
          </p:nvSpPr>
          <p:spPr>
            <a:xfrm>
              <a:off x="1714480" y="2357430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下箭头 10"/>
            <p:cNvSpPr/>
            <p:nvPr/>
          </p:nvSpPr>
          <p:spPr>
            <a:xfrm>
              <a:off x="1714480" y="5143512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39" b="9101"/>
          <a:stretch>
            <a:fillRect/>
          </a:stretch>
        </p:blipFill>
        <p:spPr>
          <a:xfrm>
            <a:off x="4000496" y="3143224"/>
            <a:ext cx="4675049" cy="3714776"/>
          </a:xfrm>
        </p:spPr>
      </p:pic>
      <p:sp>
        <p:nvSpPr>
          <p:cNvPr id="13" name="圆角矩形标注 12"/>
          <p:cNvSpPr/>
          <p:nvPr/>
        </p:nvSpPr>
        <p:spPr>
          <a:xfrm>
            <a:off x="2357422" y="4786322"/>
            <a:ext cx="1386509" cy="1461053"/>
          </a:xfrm>
          <a:prstGeom prst="wedgeRoundRectCallout">
            <a:avLst>
              <a:gd name="adj1" fmla="val 110206"/>
              <a:gd name="adj2" fmla="val 46337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</a:rPr>
              <a:t>停止状态时按动</a:t>
            </a:r>
            <a:r>
              <a:rPr lang="en-US" altLang="zh-CN" sz="1600" dirty="0" smtClean="0">
                <a:solidFill>
                  <a:schemeClr val="tx1"/>
                </a:solidFill>
              </a:rPr>
              <a:t>ST</a:t>
            </a:r>
            <a:r>
              <a:rPr lang="zh-CN" altLang="en-US" sz="1600" dirty="0" smtClean="0">
                <a:solidFill>
                  <a:schemeClr val="tx1"/>
                </a:solidFill>
              </a:rPr>
              <a:t>不产生</a:t>
            </a:r>
            <a:r>
              <a:rPr lang="en-US" altLang="zh-CN" sz="1600" dirty="0" smtClean="0">
                <a:solidFill>
                  <a:schemeClr val="tx1"/>
                </a:solidFill>
              </a:rPr>
              <a:t>T1-T4</a:t>
            </a:r>
            <a:r>
              <a:rPr lang="zh-CN" altLang="en-US" sz="1600" dirty="0" smtClean="0">
                <a:solidFill>
                  <a:schemeClr val="tx1"/>
                </a:solidFill>
              </a:rPr>
              <a:t>，而是控制（控制）存储器的读写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圆角矩形标注 13"/>
          <p:cNvSpPr/>
          <p:nvPr/>
        </p:nvSpPr>
        <p:spPr>
          <a:xfrm>
            <a:off x="1928794" y="2928934"/>
            <a:ext cx="1174838" cy="785818"/>
          </a:xfrm>
          <a:prstGeom prst="wedgeRoundRectCallout">
            <a:avLst>
              <a:gd name="adj1" fmla="val 218998"/>
              <a:gd name="adj2" fmla="val 357659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</a:rPr>
              <a:t>控制</a:t>
            </a:r>
            <a:r>
              <a:rPr lang="en-US" altLang="zh-CN" sz="1600" dirty="0" smtClean="0">
                <a:solidFill>
                  <a:schemeClr val="tx1"/>
                </a:solidFill>
              </a:rPr>
              <a:t>T1-T4</a:t>
            </a:r>
            <a:r>
              <a:rPr lang="zh-CN" altLang="en-US" sz="1600" dirty="0" smtClean="0">
                <a:solidFill>
                  <a:schemeClr val="tx1"/>
                </a:solidFill>
              </a:rPr>
              <a:t>产生的方式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圆角矩形标注 14"/>
          <p:cNvSpPr/>
          <p:nvPr/>
        </p:nvSpPr>
        <p:spPr>
          <a:xfrm>
            <a:off x="4071934" y="1428736"/>
            <a:ext cx="1334614" cy="868534"/>
          </a:xfrm>
          <a:prstGeom prst="wedgeRoundRectCallout">
            <a:avLst>
              <a:gd name="adj1" fmla="val 70469"/>
              <a:gd name="adj2" fmla="val 420574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</a:rPr>
              <a:t>确定（控制）存储器进行读、写还是运行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圆角矩形标注 15"/>
          <p:cNvSpPr/>
          <p:nvPr/>
        </p:nvSpPr>
        <p:spPr>
          <a:xfrm>
            <a:off x="5857884" y="1500174"/>
            <a:ext cx="1220029" cy="665922"/>
          </a:xfrm>
          <a:prstGeom prst="wedgeRoundRectCallout">
            <a:avLst>
              <a:gd name="adj1" fmla="val -11635"/>
              <a:gd name="adj2" fmla="val 559573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选择控制对象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圆角矩形标注 16"/>
          <p:cNvSpPr/>
          <p:nvPr/>
        </p:nvSpPr>
        <p:spPr>
          <a:xfrm>
            <a:off x="7429520" y="1142984"/>
            <a:ext cx="1229968" cy="665922"/>
          </a:xfrm>
          <a:prstGeom prst="wedgeRoundRectCallout">
            <a:avLst>
              <a:gd name="adj1" fmla="val -97597"/>
              <a:gd name="adj2" fmla="val 613591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以字节为单位控制写入位置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微程序控制器实验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642910" y="1571612"/>
            <a:ext cx="2071702" cy="4572031"/>
            <a:chOff x="857224" y="1857365"/>
            <a:chExt cx="2071702" cy="4572031"/>
          </a:xfrm>
        </p:grpSpPr>
        <p:sp>
          <p:nvSpPr>
            <p:cNvPr id="6" name="TextBox 5"/>
            <p:cNvSpPr txBox="1"/>
            <p:nvPr/>
          </p:nvSpPr>
          <p:spPr>
            <a:xfrm>
              <a:off x="928662" y="1857365"/>
              <a:ext cx="2000264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 smtClean="0"/>
                <a:t>设计程序指令</a:t>
              </a:r>
              <a:endParaRPr lang="en-US" altLang="zh-CN" sz="2000" b="1" dirty="0" smtClean="0"/>
            </a:p>
            <a:p>
              <a:endParaRPr lang="zh-CN" alt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8662" y="3000372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翻译成微指令序列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8662" y="4286256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时序与操作台的设置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57224" y="5721510"/>
              <a:ext cx="1928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FF0000"/>
                  </a:solidFill>
                </a:rPr>
                <a:t>编程、校验及运行</a:t>
              </a:r>
            </a:p>
          </p:txBody>
        </p:sp>
        <p:sp>
          <p:nvSpPr>
            <p:cNvPr id="10" name="下箭头 9"/>
            <p:cNvSpPr/>
            <p:nvPr/>
          </p:nvSpPr>
          <p:spPr>
            <a:xfrm>
              <a:off x="1714480" y="3786190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下箭头 10"/>
            <p:cNvSpPr/>
            <p:nvPr/>
          </p:nvSpPr>
          <p:spPr>
            <a:xfrm>
              <a:off x="1714480" y="2357430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下箭头 11"/>
            <p:cNvSpPr/>
            <p:nvPr/>
          </p:nvSpPr>
          <p:spPr>
            <a:xfrm>
              <a:off x="1714480" y="5143512"/>
              <a:ext cx="142876" cy="428628"/>
            </a:xfrm>
            <a:prstGeom prst="down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9" t="1761" r="1334" b="2281"/>
          <a:stretch>
            <a:fillRect/>
          </a:stretch>
        </p:blipFill>
        <p:spPr bwMode="auto">
          <a:xfrm>
            <a:off x="2643174" y="1428736"/>
            <a:ext cx="6320630" cy="5032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/>
          <p:cNvSpPr/>
          <p:nvPr/>
        </p:nvSpPr>
        <p:spPr>
          <a:xfrm>
            <a:off x="2857488" y="2643182"/>
            <a:ext cx="3357586" cy="1571636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  <p:pic>
        <p:nvPicPr>
          <p:cNvPr id="4" name="图片 3" descr="C:\Users\yju\AppData\Local\Temp\1512562604(1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422" y="3143248"/>
            <a:ext cx="4588078" cy="11914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3286116" y="3071810"/>
            <a:ext cx="1428760" cy="10715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云形标注 6"/>
          <p:cNvSpPr/>
          <p:nvPr/>
        </p:nvSpPr>
        <p:spPr>
          <a:xfrm>
            <a:off x="3857620" y="2071678"/>
            <a:ext cx="1571636" cy="785818"/>
          </a:xfrm>
          <a:prstGeom prst="cloudCallou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rgbClr val="FF0000"/>
                </a:solidFill>
              </a:rPr>
              <a:t>  ？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7224" y="4643446"/>
            <a:ext cx="3929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机器指令码：</a:t>
            </a:r>
            <a:r>
              <a:rPr lang="zh-CN" altLang="en-US" dirty="0" smtClean="0"/>
              <a:t>能被计算机识别并执行的二进制代码，它规定了计算机能完成的某操作。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pic>
        <p:nvPicPr>
          <p:cNvPr id="4" name="内容占位符 3" descr="C:\Users\fofo\AppData\Local\Temp\1512570915(1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52"/>
          <a:stretch>
            <a:fillRect/>
          </a:stretch>
        </p:blipFill>
        <p:spPr bwMode="auto">
          <a:xfrm>
            <a:off x="4357686" y="1571612"/>
            <a:ext cx="3842979" cy="4429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C:\Users\yju\AppData\Local\Temp\1512562604(1)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48" y="2143116"/>
            <a:ext cx="4588078" cy="119149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1643042" y="2071678"/>
            <a:ext cx="1428760" cy="10715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14282" y="4071942"/>
            <a:ext cx="321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新设计的指令如何设计机器码？</a:t>
            </a:r>
            <a:endParaRPr lang="zh-CN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28596" y="4714884"/>
            <a:ext cx="35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机器码：</a:t>
            </a:r>
            <a:r>
              <a:rPr lang="zh-CN" altLang="en-US" b="1" dirty="0" smtClean="0">
                <a:solidFill>
                  <a:srgbClr val="FF0000"/>
                </a:solidFill>
              </a:rPr>
              <a:t>是一道微程序入口地址。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C:\Users\yju\AppData\Local\Temp\1512562298(1).png"/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12" r="-1018"/>
          <a:stretch>
            <a:fillRect/>
          </a:stretch>
        </p:blipFill>
        <p:spPr bwMode="auto">
          <a:xfrm>
            <a:off x="1357290" y="1857364"/>
            <a:ext cx="6286544" cy="435771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14282" y="1142984"/>
            <a:ext cx="171451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/>
              <a:t>实现程序的跳转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0" y="3071810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/>
          <p:cNvCxnSpPr>
            <a:stCxn id="5" idx="2"/>
          </p:cNvCxnSpPr>
          <p:nvPr/>
        </p:nvCxnSpPr>
        <p:spPr>
          <a:xfrm rot="16200000" flipH="1">
            <a:off x="1323266" y="1537587"/>
            <a:ext cx="496677" cy="10001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86578" y="1142984"/>
            <a:ext cx="171451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/>
              <a:t>通用寄存器的选择</a:t>
            </a:r>
            <a:endParaRPr lang="zh-CN" altLang="en-US" b="1" dirty="0"/>
          </a:p>
        </p:txBody>
      </p:sp>
      <p:cxnSp>
        <p:nvCxnSpPr>
          <p:cNvPr id="11" name="直接箭头连接符 10"/>
          <p:cNvCxnSpPr/>
          <p:nvPr/>
        </p:nvCxnSpPr>
        <p:spPr>
          <a:xfrm rot="10800000" flipV="1">
            <a:off x="6000760" y="1857364"/>
            <a:ext cx="1571636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pic>
        <p:nvPicPr>
          <p:cNvPr id="4" name="内容占位符 3" descr="C:\Users\fofo\AppData\Local\Temp\1512570915(1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52"/>
          <a:stretch>
            <a:fillRect/>
          </a:stretch>
        </p:blipFill>
        <p:spPr bwMode="auto">
          <a:xfrm>
            <a:off x="2714612" y="1428736"/>
            <a:ext cx="3842979" cy="4429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pic>
        <p:nvPicPr>
          <p:cNvPr id="19458" name="图片 17"/>
          <p:cNvPicPr>
            <a:picLocks noChangeAspect="1" noChangeArrowheads="1"/>
          </p:cNvPicPr>
          <p:nvPr/>
        </p:nvPicPr>
        <p:blipFill>
          <a:blip r:embed="rId2"/>
          <a:srcRect l="11133" r="3072"/>
          <a:stretch>
            <a:fillRect/>
          </a:stretch>
        </p:blipFill>
        <p:spPr bwMode="auto">
          <a:xfrm>
            <a:off x="1214414" y="1214422"/>
            <a:ext cx="6500858" cy="53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4286248" y="4071942"/>
            <a:ext cx="1571636" cy="50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云形标注 5"/>
          <p:cNvSpPr/>
          <p:nvPr/>
        </p:nvSpPr>
        <p:spPr>
          <a:xfrm>
            <a:off x="3929058" y="2928934"/>
            <a:ext cx="1571636" cy="785818"/>
          </a:xfrm>
          <a:prstGeom prst="cloudCallou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rgbClr val="FF0000"/>
                </a:solidFill>
              </a:rPr>
              <a:t>  ？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C:\Users\yju\AppData\Local\Temp\1512562298(1).png"/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12" r="-1018"/>
          <a:stretch>
            <a:fillRect/>
          </a:stretch>
        </p:blipFill>
        <p:spPr bwMode="auto">
          <a:xfrm>
            <a:off x="1357290" y="1857364"/>
            <a:ext cx="6286544" cy="435771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14282" y="1142984"/>
            <a:ext cx="171451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/>
              <a:t>实现程序的跳转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0" y="3071810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/>
          <p:cNvCxnSpPr>
            <a:stCxn id="5" idx="2"/>
          </p:cNvCxnSpPr>
          <p:nvPr/>
        </p:nvCxnSpPr>
        <p:spPr>
          <a:xfrm rot="16200000" flipH="1">
            <a:off x="1323266" y="1537587"/>
            <a:ext cx="496677" cy="10001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86578" y="1142984"/>
            <a:ext cx="171451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/>
              <a:t>通用寄存器的选择</a:t>
            </a:r>
            <a:endParaRPr lang="zh-CN" altLang="en-US" b="1" dirty="0"/>
          </a:p>
        </p:txBody>
      </p:sp>
      <p:cxnSp>
        <p:nvCxnSpPr>
          <p:cNvPr id="11" name="直接箭头连接符 10"/>
          <p:cNvCxnSpPr/>
          <p:nvPr/>
        </p:nvCxnSpPr>
        <p:spPr>
          <a:xfrm rot="10800000" flipV="1">
            <a:off x="6000760" y="1857364"/>
            <a:ext cx="1571636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</a:t>
            </a:r>
            <a:r>
              <a:rPr lang="en-US" altLang="zh-CN" dirty="0" err="1" smtClean="0"/>
              <a:t>LDRi</a:t>
            </a:r>
            <a:r>
              <a:rPr lang="zh-CN" altLang="en-US" dirty="0" smtClean="0"/>
              <a:t>和</a:t>
            </a:r>
            <a:r>
              <a:rPr lang="en-US" altLang="zh-CN" dirty="0"/>
              <a:t>RS_B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34" y="1928802"/>
            <a:ext cx="3792283" cy="3848767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24" y="1785926"/>
            <a:ext cx="4441856" cy="475056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00034" y="6000768"/>
            <a:ext cx="4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如何实现对</a:t>
            </a:r>
            <a:r>
              <a:rPr lang="en-US" altLang="zh-CN" b="1" dirty="0" smtClean="0"/>
              <a:t>R1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R2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R3</a:t>
            </a:r>
            <a:r>
              <a:rPr lang="zh-CN" altLang="en-US" b="1" dirty="0" smtClean="0"/>
              <a:t>的操作？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目标做一点小小的改动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我们想</a:t>
            </a:r>
            <a:r>
              <a:rPr lang="zh-CN" altLang="en-US" dirty="0" smtClean="0"/>
              <a:t>要运行</a:t>
            </a:r>
            <a:r>
              <a:rPr lang="en-US" altLang="zh-CN" dirty="0"/>
              <a:t>5</a:t>
            </a:r>
            <a:r>
              <a:rPr lang="zh-CN" altLang="en-US" dirty="0"/>
              <a:t>条机器指令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    </a:t>
            </a:r>
            <a:r>
              <a:rPr lang="zh-CN" altLang="en-US" dirty="0" smtClean="0"/>
              <a:t>助记符</a:t>
            </a:r>
            <a:r>
              <a:rPr lang="en-US" altLang="zh-CN" dirty="0"/>
              <a:t>	</a:t>
            </a:r>
            <a:r>
              <a:rPr lang="en-US" altLang="zh-CN" dirty="0" smtClean="0"/>
              <a:t>	</a:t>
            </a:r>
            <a:r>
              <a:rPr lang="zh-CN" altLang="en-US" dirty="0" smtClean="0"/>
              <a:t>机器指令</a:t>
            </a:r>
            <a:r>
              <a:rPr lang="zh-CN" altLang="en-US" dirty="0"/>
              <a:t>码</a:t>
            </a:r>
            <a:r>
              <a:rPr lang="en-US" altLang="zh-CN" dirty="0"/>
              <a:t>		</a:t>
            </a:r>
            <a:r>
              <a:rPr lang="zh-CN" altLang="en-US" dirty="0"/>
              <a:t>说明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IN		0010 0000		IN</a:t>
            </a:r>
            <a:r>
              <a:rPr lang="zh-CN" altLang="en-US" dirty="0"/>
              <a:t>→</a:t>
            </a:r>
            <a:r>
              <a:rPr lang="en-US" altLang="zh-CN" dirty="0"/>
              <a:t>R0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STA		????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r>
              <a:rPr lang="en-US" altLang="zh-CN" dirty="0">
                <a:solidFill>
                  <a:srgbClr val="FF0000"/>
                </a:solidFill>
              </a:rPr>
              <a:t>????		R0</a:t>
            </a:r>
            <a:r>
              <a:rPr lang="zh-CN" altLang="en-US" dirty="0">
                <a:solidFill>
                  <a:srgbClr val="FF0000"/>
                </a:solidFill>
              </a:rPr>
              <a:t>→</a:t>
            </a:r>
            <a:r>
              <a:rPr lang="en-US" altLang="zh-CN" dirty="0">
                <a:solidFill>
                  <a:srgbClr val="FF0000"/>
                </a:solidFill>
              </a:rPr>
              <a:t>00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7030A0"/>
                </a:solidFill>
              </a:rPr>
              <a:t>ADD		0000 0000		R0+[00]</a:t>
            </a:r>
            <a:r>
              <a:rPr lang="zh-CN" altLang="en-US" dirty="0">
                <a:solidFill>
                  <a:srgbClr val="7030A0"/>
                </a:solidFill>
              </a:rPr>
              <a:t>→</a:t>
            </a:r>
            <a:r>
              <a:rPr lang="en-US" altLang="zh-CN" dirty="0" smtClean="0">
                <a:solidFill>
                  <a:srgbClr val="7030A0"/>
                </a:solidFill>
              </a:rPr>
              <a:t>R0</a:t>
            </a:r>
          </a:p>
          <a:p>
            <a:pPr marL="0" indent="0">
              <a:buNone/>
            </a:pPr>
            <a:r>
              <a:rPr lang="en-US" altLang="zh-CN" dirty="0" smtClean="0"/>
              <a:t>	</a:t>
            </a:r>
            <a:r>
              <a:rPr lang="en-US" altLang="zh-CN" dirty="0"/>
              <a:t>					</a:t>
            </a:r>
            <a:r>
              <a:rPr lang="zh-CN" altLang="en-US" dirty="0"/>
              <a:t>多加几次</a:t>
            </a:r>
            <a:r>
              <a:rPr lang="zh-CN" altLang="en-US" dirty="0" smtClean="0"/>
              <a:t>？</a:t>
            </a:r>
            <a:endParaRPr lang="en-US" altLang="zh-CN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OUT</a:t>
            </a:r>
            <a:r>
              <a:rPr lang="en-US" altLang="zh-CN" dirty="0"/>
              <a:t>		0011 0000		R0</a:t>
            </a:r>
            <a:r>
              <a:rPr lang="zh-CN" altLang="en-US" dirty="0"/>
              <a:t>→</a:t>
            </a:r>
            <a:r>
              <a:rPr lang="en-US" altLang="zh-CN" dirty="0" smtClean="0"/>
              <a:t>OUT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HLT</a:t>
            </a:r>
            <a:r>
              <a:rPr lang="en-US" altLang="zh-CN" dirty="0"/>
              <a:t>		0101	0000		</a:t>
            </a:r>
            <a:r>
              <a:rPr lang="zh-CN" altLang="en-US" dirty="0"/>
              <a:t>停机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相应需要做哪些改变？</a:t>
            </a:r>
          </a:p>
        </p:txBody>
      </p:sp>
      <p:pic>
        <p:nvPicPr>
          <p:cNvPr id="4" name="内容占位符 3" descr="C:\Users\fofo\AppData\Local\Temp\1512570915(1).png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2910" y="1357298"/>
            <a:ext cx="2976674" cy="49329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内容占位符 2"/>
          <p:cNvSpPr txBox="1"/>
          <p:nvPr/>
        </p:nvSpPr>
        <p:spPr>
          <a:xfrm>
            <a:off x="4181746" y="1825625"/>
            <a:ext cx="43336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如何增加一条机器指令</a:t>
            </a:r>
            <a:endParaRPr lang="en-US" altLang="zh-CN" dirty="0"/>
          </a:p>
          <a:p>
            <a:pPr lvl="1"/>
            <a:r>
              <a:rPr lang="zh-CN" altLang="en-US" dirty="0"/>
              <a:t>增加一道微程序</a:t>
            </a:r>
            <a:endParaRPr lang="en-US" altLang="zh-CN" dirty="0"/>
          </a:p>
          <a:p>
            <a:pPr lvl="1"/>
            <a:r>
              <a:rPr lang="zh-CN" altLang="en-US" dirty="0"/>
              <a:t>设计相应的机器码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修改后的微程序流程图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539132"/>
            <a:ext cx="3489628" cy="5318869"/>
          </a:xfrm>
          <a:prstGeom prst="rect">
            <a:avLst/>
          </a:prstGeom>
        </p:spPr>
      </p:pic>
      <p:sp>
        <p:nvSpPr>
          <p:cNvPr id="6" name="内容占位符 2"/>
          <p:cNvSpPr txBox="1"/>
          <p:nvPr/>
        </p:nvSpPr>
        <p:spPr>
          <a:xfrm>
            <a:off x="2695242" y="5567295"/>
            <a:ext cx="5934408" cy="7620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有哪些微指令是新增或需要修改的呢？</a:t>
            </a:r>
          </a:p>
        </p:txBody>
      </p:sp>
      <p:sp>
        <p:nvSpPr>
          <p:cNvPr id="7" name="矩形 6"/>
          <p:cNvSpPr/>
          <p:nvPr/>
        </p:nvSpPr>
        <p:spPr>
          <a:xfrm>
            <a:off x="724879" y="4414379"/>
            <a:ext cx="490180" cy="356404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24879" y="4988962"/>
            <a:ext cx="490180" cy="356404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428072" y="3854427"/>
            <a:ext cx="490180" cy="356404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428072" y="4414379"/>
            <a:ext cx="490180" cy="356404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143372" y="1357298"/>
            <a:ext cx="3965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</a:rPr>
              <a:t>STA </a:t>
            </a:r>
            <a:r>
              <a:rPr lang="zh-CN" altLang="en-US" sz="2800" b="1" dirty="0" smtClean="0">
                <a:solidFill>
                  <a:srgbClr val="7030A0"/>
                </a:solidFill>
              </a:rPr>
              <a:t>的机器码确定为 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00010000</a:t>
            </a:r>
            <a:endParaRPr lang="zh-CN" altLang="en-US" sz="2800" b="1" dirty="0">
              <a:solidFill>
                <a:srgbClr val="7030A0"/>
              </a:solidFill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357686" y="3429000"/>
            <a:ext cx="36433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如何修改一条机器指令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更改其微程序中的微指令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条数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控制码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地址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 animBg="1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016" y="251486"/>
            <a:ext cx="7886700" cy="1325563"/>
          </a:xfrm>
        </p:spPr>
        <p:txBody>
          <a:bodyPr/>
          <a:lstStyle/>
          <a:p>
            <a:r>
              <a:rPr lang="en-US" altLang="zh-CN" dirty="0"/>
              <a:t>IN</a:t>
            </a:r>
            <a:r>
              <a:rPr lang="zh-CN" altLang="en-US" dirty="0" smtClean="0"/>
              <a:t>→</a:t>
            </a:r>
            <a:r>
              <a:rPr lang="en-US" altLang="zh-CN" dirty="0" smtClean="0"/>
              <a:t>AR</a:t>
            </a:r>
            <a:endParaRPr lang="zh-CN" altLang="en-US" dirty="0"/>
          </a:p>
        </p:txBody>
      </p:sp>
      <p:pic>
        <p:nvPicPr>
          <p:cNvPr id="12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023" y="1567109"/>
            <a:ext cx="5941041" cy="5197510"/>
          </a:xfr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2" y="3209084"/>
            <a:ext cx="2067128" cy="315070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97840" y="2336800"/>
            <a:ext cx="631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r>
              <a:rPr lang="en-US" altLang="zh-CN" sz="1400" b="1" dirty="0" smtClean="0">
                <a:solidFill>
                  <a:srgbClr val="FF0000"/>
                </a:solidFill>
              </a:rPr>
              <a:t>0          0          0       1       1       0 0 0 0       1 1 0          0 0 0         0 0 0       0 0 0 1 1 0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9017" y="1690688"/>
            <a:ext cx="1359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00 0100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99095" y="5710196"/>
            <a:ext cx="1492074" cy="354797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21163" y="4901398"/>
            <a:ext cx="3048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016" y="251486"/>
            <a:ext cx="7886700" cy="1325563"/>
          </a:xfrm>
        </p:spPr>
        <p:txBody>
          <a:bodyPr/>
          <a:lstStyle/>
          <a:p>
            <a:r>
              <a:rPr lang="en-US" altLang="zh-CN" dirty="0"/>
              <a:t>MEM</a:t>
            </a:r>
            <a:r>
              <a:rPr lang="zh-CN" altLang="en-US" dirty="0" smtClean="0"/>
              <a:t>→</a:t>
            </a:r>
            <a:r>
              <a:rPr lang="en-US" altLang="zh-CN" dirty="0"/>
              <a:t>B</a:t>
            </a:r>
            <a:endParaRPr lang="zh-CN" altLang="en-US" dirty="0"/>
          </a:p>
        </p:txBody>
      </p:sp>
      <p:pic>
        <p:nvPicPr>
          <p:cNvPr id="12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568" y="1577048"/>
            <a:ext cx="5995405" cy="5127384"/>
          </a:xfr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2" y="3209084"/>
            <a:ext cx="2067128" cy="315070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97840" y="2336800"/>
            <a:ext cx="631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0       0         0       1       0     0 0 0 0     0 1 0      0 0 0       0 0 0     0 0 0 1 0 1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9017" y="1690688"/>
            <a:ext cx="1359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00 0110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92437" y="4278695"/>
            <a:ext cx="1454802" cy="352940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21163" y="5249273"/>
            <a:ext cx="3048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016" y="251486"/>
            <a:ext cx="7886700" cy="1325563"/>
          </a:xfrm>
        </p:spPr>
        <p:txBody>
          <a:bodyPr/>
          <a:lstStyle/>
          <a:p>
            <a:r>
              <a:rPr lang="en-US" altLang="zh-CN" dirty="0"/>
              <a:t>IN</a:t>
            </a:r>
            <a:r>
              <a:rPr lang="zh-CN" altLang="en-US" dirty="0" smtClean="0"/>
              <a:t>→</a:t>
            </a:r>
            <a:r>
              <a:rPr lang="en-US" altLang="zh-CN" dirty="0" smtClean="0"/>
              <a:t>AR</a:t>
            </a:r>
            <a:endParaRPr lang="zh-CN" altLang="en-US" dirty="0"/>
          </a:p>
        </p:txBody>
      </p:sp>
      <p:pic>
        <p:nvPicPr>
          <p:cNvPr id="12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40" y="1577048"/>
            <a:ext cx="5933587" cy="5074516"/>
          </a:xfr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2" y="3209084"/>
            <a:ext cx="2067128" cy="315070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97840" y="2336800"/>
            <a:ext cx="6313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FF0000"/>
                </a:solidFill>
              </a:rPr>
              <a:t> 0          0       0       1       1     0 0 0 0     1 1 0    0 0 0       0 0 0       0 1 0 0 0 0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2686" y="1690688"/>
            <a:ext cx="1415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11 0001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52072" y="5628561"/>
            <a:ext cx="1454802" cy="344857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37392" y="4563467"/>
            <a:ext cx="3048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016" y="251486"/>
            <a:ext cx="7886700" cy="1325563"/>
          </a:xfrm>
        </p:spPr>
        <p:txBody>
          <a:bodyPr/>
          <a:lstStyle/>
          <a:p>
            <a:r>
              <a:rPr lang="en-US" altLang="zh-CN" dirty="0" smtClean="0"/>
              <a:t>R0</a:t>
            </a:r>
            <a:r>
              <a:rPr lang="zh-CN" altLang="en-US" dirty="0" smtClean="0"/>
              <a:t>→</a:t>
            </a:r>
            <a:r>
              <a:rPr lang="en-US" altLang="zh-CN" dirty="0" smtClean="0"/>
              <a:t>MEM</a:t>
            </a:r>
            <a:endParaRPr lang="zh-CN" altLang="en-US" dirty="0"/>
          </a:p>
        </p:txBody>
      </p:sp>
      <p:pic>
        <p:nvPicPr>
          <p:cNvPr id="12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567" y="1577049"/>
            <a:ext cx="5952884" cy="5091019"/>
          </a:xfr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2" y="3209084"/>
            <a:ext cx="2067128" cy="315070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97840" y="2336800"/>
            <a:ext cx="631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0        0        1       0      0     0 0 0 0      0 0 0     0 </a:t>
            </a:r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 0      0 0 0      0 0 0 0 0 1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6078" y="1690688"/>
            <a:ext cx="1462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01 0000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96233" y="4248879"/>
            <a:ext cx="1439255" cy="333061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34097" y="4901404"/>
            <a:ext cx="3048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28650" y="137955"/>
            <a:ext cx="7290054" cy="945410"/>
          </a:xfrm>
        </p:spPr>
        <p:txBody>
          <a:bodyPr/>
          <a:lstStyle/>
          <a:p>
            <a:r>
              <a:rPr lang="en-US" altLang="zh-CN" dirty="0" smtClean="0"/>
              <a:t>11</a:t>
            </a:r>
            <a:r>
              <a:rPr lang="zh-CN" altLang="en-US" dirty="0" smtClean="0"/>
              <a:t>条微指令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28651" y="1156243"/>
          <a:ext cx="7886516" cy="49099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0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6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5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52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83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156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9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地址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高五位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S3-S0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A</a:t>
                      </a:r>
                      <a:r>
                        <a:rPr lang="zh-CN" sz="2000" kern="100">
                          <a:effectLst/>
                        </a:rPr>
                        <a:t>字段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B</a:t>
                      </a:r>
                      <a:r>
                        <a:rPr lang="zh-CN" sz="2000" kern="100">
                          <a:effectLst/>
                        </a:rPr>
                        <a:t>字段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C</a:t>
                      </a:r>
                      <a:r>
                        <a:rPr lang="zh-CN" sz="2000" kern="100">
                          <a:effectLst/>
                        </a:rPr>
                        <a:t>字段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MA5-MA0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effectLst/>
                        </a:rPr>
                        <a:t>000000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000" kern="100" dirty="0" smtClean="0">
                          <a:effectLst/>
                        </a:rPr>
                        <a:t>        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 smtClean="0">
                          <a:effectLst/>
                        </a:rPr>
                        <a:t>   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0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effectLst/>
                        </a:rPr>
                        <a:t>000001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000" kern="100" dirty="0" smtClean="0">
                          <a:effectLst/>
                        </a:rPr>
                        <a:t>        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111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 smtClean="0">
                          <a:effectLst/>
                        </a:rPr>
                        <a:t>   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01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110000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5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effectLst/>
                        </a:rPr>
                        <a:t>000100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00011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000" kern="100" dirty="0" smtClean="0">
                          <a:effectLst/>
                        </a:rPr>
                        <a:t>        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110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 smtClean="0">
                          <a:effectLst/>
                        </a:rPr>
                        <a:t>   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000110</a:t>
                      </a:r>
                      <a:r>
                        <a:rPr lang="en-US" sz="20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17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effectLst/>
                        </a:rPr>
                        <a:t>000101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100 </a:t>
                      </a:r>
                      <a:r>
                        <a:rPr lang="en-US" sz="2000" kern="100" dirty="0" smtClean="0">
                          <a:effectLst/>
                        </a:rPr>
                        <a:t>        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011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001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 smtClean="0">
                          <a:effectLst/>
                        </a:rPr>
                        <a:t>   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0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effectLst/>
                        </a:rPr>
                        <a:t>000110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00010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000" kern="100" dirty="0" smtClean="0">
                          <a:effectLst/>
                        </a:rPr>
                        <a:t>        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 smtClean="0">
                          <a:effectLst/>
                        </a:rPr>
                        <a:t>   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000101</a:t>
                      </a:r>
                      <a:r>
                        <a:rPr lang="en-US" sz="20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effectLst/>
                        </a:rPr>
                        <a:t>010000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00100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000" kern="100" dirty="0" smtClean="0">
                          <a:effectLst/>
                        </a:rPr>
                        <a:t>        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 smtClean="0">
                          <a:effectLst/>
                        </a:rPr>
                        <a:t>   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0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17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effectLst/>
                        </a:rPr>
                        <a:t>110000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000" kern="100" dirty="0" smtClean="0">
                          <a:effectLst/>
                        </a:rPr>
                        <a:t>        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001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 smtClean="0">
                          <a:effectLst/>
                        </a:rPr>
                        <a:t>   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000100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17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effectLst/>
                        </a:rPr>
                        <a:t>110001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00011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000" kern="100" dirty="0" smtClean="0">
                          <a:effectLst/>
                        </a:rPr>
                        <a:t>        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110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 smtClean="0">
                          <a:effectLst/>
                        </a:rPr>
                        <a:t>   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010000</a:t>
                      </a:r>
                      <a:r>
                        <a:rPr lang="en-US" sz="20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effectLst/>
                        </a:rPr>
                        <a:t>110010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00011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000" kern="100" dirty="0" smtClean="0">
                          <a:effectLst/>
                        </a:rPr>
                        <a:t>        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011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 smtClean="0">
                          <a:effectLst/>
                        </a:rPr>
                        <a:t>   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0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effectLst/>
                        </a:rPr>
                        <a:t>110011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00101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000" kern="100" dirty="0" smtClean="0">
                          <a:effectLst/>
                        </a:rPr>
                        <a:t>        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010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 smtClean="0">
                          <a:effectLst/>
                        </a:rPr>
                        <a:t>   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000001</a:t>
                      </a:r>
                      <a:r>
                        <a:rPr lang="en-US" sz="20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03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effectLst/>
                        </a:rPr>
                        <a:t>110101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00000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FF0000"/>
                          </a:solidFill>
                          <a:effectLst/>
                        </a:rPr>
                        <a:t>000 </a:t>
                      </a:r>
                      <a:r>
                        <a:rPr lang="en-US" sz="2000" kern="100" dirty="0" smtClean="0">
                          <a:effectLst/>
                        </a:rPr>
                        <a:t>        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000</a:t>
                      </a:r>
                      <a:endParaRPr lang="zh-CN" sz="2000" kern="1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r>
                        <a:rPr lang="en-US" sz="2000" kern="100" dirty="0" smtClean="0">
                          <a:effectLst/>
                        </a:rPr>
                        <a:t>   </a:t>
                      </a:r>
                      <a:r>
                        <a:rPr lang="en-US" sz="2000" kern="100" dirty="0">
                          <a:effectLst/>
                        </a:rPr>
                        <a:t> </a:t>
                      </a: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00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7030A0"/>
                          </a:solidFill>
                          <a:effectLst/>
                        </a:rPr>
                        <a:t>110101</a:t>
                      </a:r>
                      <a:r>
                        <a:rPr lang="en-US" sz="2000" kern="100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/>
          <a:srcRect l="24572" t="18367" r="41066" b="13823"/>
          <a:stretch>
            <a:fillRect/>
          </a:stretch>
        </p:blipFill>
        <p:spPr>
          <a:xfrm>
            <a:off x="1586547" y="114617"/>
            <a:ext cx="5970905" cy="66287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6667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20" y="585216"/>
            <a:ext cx="8858280" cy="1499616"/>
          </a:xfrm>
        </p:spPr>
        <p:txBody>
          <a:bodyPr/>
          <a:lstStyle/>
          <a:p>
            <a:r>
              <a:rPr lang="zh-CN" altLang="en-US" sz="3600" dirty="0" smtClean="0"/>
              <a:t>好啦，我们已经做完了准备工作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2571744"/>
            <a:ext cx="8258204" cy="3554419"/>
          </a:xfrm>
        </p:spPr>
        <p:txBody>
          <a:bodyPr/>
          <a:lstStyle/>
          <a:p>
            <a:r>
              <a:rPr lang="zh-CN" altLang="en-US" dirty="0" smtClean="0"/>
              <a:t>我们确定了全部的机器指令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我们确定了全部的微指令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可以开始做实验啦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实验内容一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内容占位符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助记符</a:t>
            </a:r>
            <a:r>
              <a:rPr lang="en-US" altLang="zh-CN" dirty="0"/>
              <a:t>	</a:t>
            </a:r>
            <a:r>
              <a:rPr lang="en-US" altLang="zh-CN" dirty="0" smtClean="0"/>
              <a:t>	</a:t>
            </a:r>
            <a:r>
              <a:rPr lang="zh-CN" altLang="en-US" dirty="0" smtClean="0"/>
              <a:t>机器指令</a:t>
            </a:r>
            <a:r>
              <a:rPr lang="zh-CN" altLang="en-US" dirty="0"/>
              <a:t>码</a:t>
            </a:r>
            <a:r>
              <a:rPr lang="en-US" altLang="zh-CN" dirty="0"/>
              <a:t>		</a:t>
            </a:r>
            <a:r>
              <a:rPr lang="zh-CN" altLang="en-US" dirty="0"/>
              <a:t>说明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IN		0010 0000		IN</a:t>
            </a:r>
            <a:r>
              <a:rPr lang="zh-CN" altLang="en-US" dirty="0"/>
              <a:t>→</a:t>
            </a:r>
            <a:r>
              <a:rPr lang="en-US" altLang="zh-CN" dirty="0"/>
              <a:t>R0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STA		????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r>
              <a:rPr lang="en-US" altLang="zh-CN" dirty="0">
                <a:solidFill>
                  <a:srgbClr val="FF0000"/>
                </a:solidFill>
              </a:rPr>
              <a:t>????		R0</a:t>
            </a:r>
            <a:r>
              <a:rPr lang="zh-CN" altLang="en-US" dirty="0">
                <a:solidFill>
                  <a:srgbClr val="FF0000"/>
                </a:solidFill>
              </a:rPr>
              <a:t>→</a:t>
            </a:r>
            <a:r>
              <a:rPr lang="en-US" altLang="zh-CN" dirty="0">
                <a:solidFill>
                  <a:srgbClr val="FF0000"/>
                </a:solidFill>
              </a:rPr>
              <a:t>00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7030A0"/>
                </a:solidFill>
              </a:rPr>
              <a:t>ADD		0000 0000		R0+[00]</a:t>
            </a:r>
            <a:r>
              <a:rPr lang="zh-CN" altLang="en-US" dirty="0">
                <a:solidFill>
                  <a:srgbClr val="7030A0"/>
                </a:solidFill>
              </a:rPr>
              <a:t>→</a:t>
            </a:r>
            <a:r>
              <a:rPr lang="en-US" altLang="zh-CN" dirty="0" smtClean="0">
                <a:solidFill>
                  <a:srgbClr val="7030A0"/>
                </a:solidFill>
              </a:rPr>
              <a:t>R0</a:t>
            </a:r>
          </a:p>
          <a:p>
            <a:pPr marL="0" indent="0">
              <a:buNone/>
            </a:pPr>
            <a:r>
              <a:rPr lang="en-US" altLang="zh-CN" dirty="0" smtClean="0"/>
              <a:t>	</a:t>
            </a:r>
            <a:r>
              <a:rPr lang="en-US" altLang="zh-CN" dirty="0"/>
              <a:t>					</a:t>
            </a:r>
            <a:r>
              <a:rPr lang="zh-CN" altLang="en-US" dirty="0"/>
              <a:t>多加几次</a:t>
            </a:r>
            <a:r>
              <a:rPr lang="zh-CN" altLang="en-US" dirty="0" smtClean="0"/>
              <a:t>？</a:t>
            </a:r>
            <a:endParaRPr lang="en-US" altLang="zh-CN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OUT</a:t>
            </a:r>
            <a:r>
              <a:rPr lang="en-US" altLang="zh-CN" dirty="0"/>
              <a:t>		0011 0000		R0</a:t>
            </a:r>
            <a:r>
              <a:rPr lang="zh-CN" altLang="en-US" dirty="0"/>
              <a:t>→</a:t>
            </a:r>
            <a:r>
              <a:rPr lang="en-US" altLang="zh-CN" dirty="0" smtClean="0"/>
              <a:t>OUT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HLT</a:t>
            </a:r>
            <a:r>
              <a:rPr lang="en-US" altLang="zh-CN" dirty="0"/>
              <a:t>		0101	0000		</a:t>
            </a:r>
            <a:r>
              <a:rPr lang="zh-CN" altLang="en-US" dirty="0"/>
              <a:t>停机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实验内容二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讲义上的微程序运行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1.</a:t>
            </a:r>
            <a:r>
              <a:rPr lang="zh-CN" altLang="en-US" dirty="0" smtClean="0"/>
              <a:t>如果希望在</a:t>
            </a:r>
            <a:r>
              <a:rPr lang="en-US" altLang="zh-CN" dirty="0" smtClean="0"/>
              <a:t>R0</a:t>
            </a:r>
            <a:r>
              <a:rPr lang="zh-CN" altLang="en-US" dirty="0" smtClean="0"/>
              <a:t>中存数之后检验一下</a:t>
            </a:r>
            <a:r>
              <a:rPr lang="en-US" altLang="zh-CN" dirty="0" smtClean="0"/>
              <a:t>R0</a:t>
            </a:r>
            <a:r>
              <a:rPr lang="zh-CN" altLang="en-US" dirty="0" smtClean="0"/>
              <a:t>的内容应该如何操作？如果希望能将</a:t>
            </a:r>
            <a:r>
              <a:rPr lang="en-US" altLang="zh-CN" dirty="0" smtClean="0"/>
              <a:t>R0</a:t>
            </a:r>
            <a:r>
              <a:rPr lang="zh-CN" altLang="en-US" dirty="0" smtClean="0"/>
              <a:t>进行</a:t>
            </a:r>
            <a:r>
              <a:rPr lang="en-US" altLang="zh-CN" dirty="0" smtClean="0"/>
              <a:t>3</a:t>
            </a:r>
            <a:r>
              <a:rPr lang="zh-CN" altLang="en-US" dirty="0" smtClean="0"/>
              <a:t>次翻倍后再输出应该如何操作？如果希望将</a:t>
            </a:r>
            <a:r>
              <a:rPr lang="en-US" altLang="zh-CN" dirty="0" smtClean="0"/>
              <a:t>R0</a:t>
            </a:r>
            <a:r>
              <a:rPr lang="zh-CN" altLang="en-US" dirty="0" smtClean="0"/>
              <a:t>多次翻倍，每次翻倍都进行输出又该如何操作？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2.T2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T3</a:t>
            </a:r>
            <a:r>
              <a:rPr lang="zh-CN" altLang="en-US" dirty="0" smtClean="0"/>
              <a:t>和</a:t>
            </a:r>
            <a:r>
              <a:rPr lang="en-US" altLang="zh-CN" dirty="0" smtClean="0"/>
              <a:t>T4</a:t>
            </a:r>
            <a:r>
              <a:rPr lang="zh-CN" altLang="en-US" dirty="0" smtClean="0"/>
              <a:t>脉冲分别实现那些操作？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3.</a:t>
            </a:r>
            <a:r>
              <a:rPr lang="zh-CN" altLang="en-US" dirty="0" smtClean="0"/>
              <a:t>实验内容一需要增加哪些连线？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9559-E858-4FFB-914C-DAF2815CC89C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ZjZDc5MTA4OTk0MTJiMTY5M2MyNTMxOWE5YmEyYT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634</Words>
  <Application>Microsoft Office PowerPoint</Application>
  <PresentationFormat>全屏显示(4:3)</PresentationFormat>
  <Paragraphs>221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等线</vt:lpstr>
      <vt:lpstr>宋体</vt:lpstr>
      <vt:lpstr>Arial</vt:lpstr>
      <vt:lpstr>Calibri</vt:lpstr>
      <vt:lpstr>Times New Roman</vt:lpstr>
      <vt:lpstr>Office 主题</vt:lpstr>
      <vt:lpstr>简单模型机实验</vt:lpstr>
      <vt:lpstr>PowerPoint 演示文稿</vt:lpstr>
      <vt:lpstr>微程序控制器实验</vt:lpstr>
      <vt:lpstr>微程序控制器实验</vt:lpstr>
      <vt:lpstr>微程序控制器实验</vt:lpstr>
      <vt:lpstr>微程序控制器实验</vt:lpstr>
      <vt:lpstr>微程序控制器实验</vt:lpstr>
      <vt:lpstr>问题1</vt:lpstr>
      <vt:lpstr>问题1</vt:lpstr>
      <vt:lpstr>问题2</vt:lpstr>
      <vt:lpstr>问题2</vt:lpstr>
      <vt:lpstr>问题2</vt:lpstr>
      <vt:lpstr>问题2</vt:lpstr>
      <vt:lpstr>关于LDRi和RS_B</vt:lpstr>
      <vt:lpstr>目标做一点小小的改动</vt:lpstr>
      <vt:lpstr>相应需要做哪些改变？</vt:lpstr>
      <vt:lpstr>修改后的微程序流程图</vt:lpstr>
      <vt:lpstr>IN→AR</vt:lpstr>
      <vt:lpstr>MEM→B</vt:lpstr>
      <vt:lpstr>IN→AR</vt:lpstr>
      <vt:lpstr>R0→MEM</vt:lpstr>
      <vt:lpstr>11条微指令</vt:lpstr>
      <vt:lpstr>PowerPoint 演示文稿</vt:lpstr>
      <vt:lpstr>好啦，我们已经做完了准备工作……</vt:lpstr>
      <vt:lpstr>实验内容一</vt:lpstr>
      <vt:lpstr>实验内容二</vt:lpstr>
      <vt:lpstr>思考题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</dc:creator>
  <cp:lastModifiedBy>SYL_204_23</cp:lastModifiedBy>
  <cp:revision>68</cp:revision>
  <dcterms:created xsi:type="dcterms:W3CDTF">2019-12-03T08:30:00Z</dcterms:created>
  <dcterms:modified xsi:type="dcterms:W3CDTF">2023-12-06T07:53:36Z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9575897C25384870BAB93E6000A74746_13</vt:lpwstr>
  </property>
  <property fmtid="{D5CDD505-2E9C-101B-9397-08002B2CF9AE}" pid="3" name="KSOProductBuildVer">
    <vt:lpwstr>2052-12.1.0.15712</vt:lpwstr>
  </property>
</Properties>
</file>