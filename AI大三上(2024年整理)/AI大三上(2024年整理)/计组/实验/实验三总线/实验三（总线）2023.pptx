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312" r:id="rId4"/>
    <p:sldId id="314" r:id="rId5"/>
    <p:sldId id="315" r:id="rId6"/>
    <p:sldId id="316" r:id="rId7"/>
    <p:sldId id="318" r:id="rId8"/>
    <p:sldId id="319" r:id="rId9"/>
    <p:sldId id="310" r:id="rId10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-170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8"/>
          <p:cNvGrpSpPr/>
          <p:nvPr/>
        </p:nvGrpSpPr>
        <p:grpSpPr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2056" name="Group 19"/>
            <p:cNvGrpSpPr/>
            <p:nvPr userDrawn="1"/>
          </p:nvGrpSpPr>
          <p:grpSpPr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20" name="Freeform 20"/>
              <p:cNvSpPr/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aramond" panose="02020404030301010803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Freeform 21"/>
              <p:cNvSpPr/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aramond" panose="02020404030301010803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Freeform 22"/>
              <p:cNvSpPr/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aramond" panose="02020404030301010803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Freeform 23"/>
              <p:cNvSpPr/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aramond" panose="02020404030301010803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Freeform 24"/>
              <p:cNvSpPr/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aramond" panose="02020404030301010803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8" name="Freeform 25"/>
            <p:cNvSpPr/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Freeform 26"/>
            <p:cNvSpPr/>
            <p:nvPr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15755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36725"/>
            <a:ext cx="7772400" cy="1920875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15756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25" name="Rectangle 13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457200" y="6248400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51575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Rectangle 1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54750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14733" name="Rectangle 1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5157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4735" name="Rectangle 1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Garamond" panose="02020404030301010803" pitchFamily="18" charset="0"/>
            </a:endParaRPr>
          </a:p>
        </p:txBody>
      </p:sp>
      <p:grpSp>
        <p:nvGrpSpPr>
          <p:cNvPr id="1028" name="Group 19"/>
          <p:cNvGrpSpPr/>
          <p:nvPr/>
        </p:nvGrpSpPr>
        <p:grpSpPr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1032" name="Group 18"/>
            <p:cNvGrpSpPr/>
            <p:nvPr userDrawn="1"/>
          </p:nvGrpSpPr>
          <p:grpSpPr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414725" name="Freeform 5"/>
              <p:cNvSpPr/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aramond" panose="02020404030301010803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4726" name="Freeform 6"/>
              <p:cNvSpPr/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aramond" panose="02020404030301010803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4727" name="Freeform 7"/>
              <p:cNvSpPr/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aramond" panose="02020404030301010803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4728" name="Freeform 8"/>
              <p:cNvSpPr/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aramond" panose="02020404030301010803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4729" name="Freeform 9"/>
              <p:cNvSpPr/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aramond" panose="02020404030301010803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14730" name="Freeform 10"/>
            <p:cNvSpPr/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4723" name="Freeform 3"/>
            <p:cNvSpPr/>
            <p:nvPr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14731" name="Rectangle 11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414734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4740" name="Rectangle 2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22" name="Rectangle 2"/>
          <p:cNvSpPr>
            <a:spLocks noGrp="1" noChangeArrowheads="1"/>
          </p:cNvSpPr>
          <p:nvPr>
            <p:ph type="ctrTitle" sz="quarter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存储器</a:t>
            </a:r>
            <a:r>
              <a:rPr kumimoji="0" lang="zh-CN" altLang="en-US" sz="60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原理实验（二）</a:t>
            </a:r>
            <a:endParaRPr kumimoji="0" lang="zh-CN" altLang="en-US" sz="60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40323" name="Rectangle 3"/>
          <p:cNvSpPr>
            <a:spLocks noGrp="1" noChangeArrowheads="1"/>
          </p:cNvSpPr>
          <p:nvPr>
            <p:ph type="subTitle" sz="quarter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zh-CN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实验中要实现的主要功能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数据的输入、输出（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I/O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的读写操作）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存储器的读写操作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寄存器的读写操作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ALU&amp;REG</a:t>
            </a:r>
            <a:r>
              <a:rPr kumimoji="0" lang="zh-CN" alt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（用户手册</a:t>
            </a:r>
            <a:r>
              <a:rPr kumimoji="0" lang="en-US" altLang="zh-CN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P6</a:t>
            </a:r>
            <a:r>
              <a:rPr kumimoji="0" lang="zh-CN" alt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1"/>
          </p:nvPr>
        </p:nvSpPr>
        <p:spPr>
          <a:xfrm>
            <a:off x="1111250" y="1838325"/>
            <a:ext cx="2616200" cy="3532188"/>
          </a:xfrm>
        </p:spPr>
        <p:txBody>
          <a:bodyPr vert="horz" wrap="square" lIns="91440" tIns="45720" rIns="91440" bIns="45720" numCol="1" anchor="t" anchorCtr="0" compatLnSpc="1">
            <a:normAutofit fontScale="70000" lnSpcReduction="2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SEL0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（不接时默认为低）和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SEL1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（不接时默认为低）用于选择运算器和寄存器堆的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通路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当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SEL1=0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SEL0=0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，寄存器堆只能从右口进行操作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124" name="图片 6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100000"/>
          </a:blip>
          <a:stretch>
            <a:fillRect/>
          </a:stretch>
        </p:blipFill>
        <p:spPr>
          <a:xfrm>
            <a:off x="4500563" y="1500188"/>
            <a:ext cx="4398962" cy="4572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寄存器堆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6147" name="内容占位符 3"/>
          <p:cNvPicPr>
            <a:picLocks noGrp="1" noChangeAspect="1"/>
          </p:cNvPicPr>
          <p:nvPr>
            <p:ph sz="quarter" idx="1"/>
          </p:nvPr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2571750" y="1428750"/>
            <a:ext cx="4214813" cy="4730750"/>
          </a:xfrm>
          <a:solidFill>
            <a:schemeClr val="tx1">
              <a:alpha val="100000"/>
            </a:schemeClr>
          </a:solidFill>
          <a:ln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读写控制逻辑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171" name="内容占位符 3"/>
          <p:cNvPicPr>
            <a:picLocks noGrp="1" noChangeAspect="1"/>
          </p:cNvPicPr>
          <p:nvPr>
            <p:ph sz="quarter" idx="1"/>
          </p:nvPr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5476" t="42293" r="33089" b="12392"/>
          <a:stretch>
            <a:fillRect/>
          </a:stretch>
        </p:blipFill>
        <p:spPr>
          <a:xfrm>
            <a:off x="1836738" y="1603375"/>
            <a:ext cx="5235575" cy="4294188"/>
          </a:xfrm>
          <a:solidFill>
            <a:schemeClr val="tx1">
              <a:alpha val="100000"/>
            </a:schemeClr>
          </a:solidFill>
          <a:ln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实验内容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14350" y="2063750"/>
            <a:ext cx="3816350" cy="3406775"/>
          </a:xfrm>
        </p:spPr>
        <p:txBody>
          <a:bodyPr vert="horz" wrap="square" lIns="91440" tIns="45720" rIns="91440" bIns="45720" numCol="1" anchor="t" anchorCtr="0" compatLnSpc="1">
            <a:normAutofit fontScale="77500" lnSpcReduction="2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ea typeface="+mn-ea"/>
                <a:cs typeface="+mn-cs"/>
              </a:rPr>
              <a:t>手动输入存入寄存器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ea typeface="+mn-ea"/>
                <a:cs typeface="+mn-cs"/>
              </a:rPr>
              <a:t>寄存器内容存入存储器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ea typeface="+mn-ea"/>
                <a:cs typeface="+mn-cs"/>
              </a:rPr>
              <a:t>存储器输入输入寄存器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ea typeface="+mn-ea"/>
                <a:cs typeface="+mn-cs"/>
              </a:rPr>
              <a:t>寄存器内容输入到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ea typeface="+mn-ea"/>
                <a:cs typeface="+mn-cs"/>
              </a:rPr>
              <a:t>LED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ea typeface="+mn-ea"/>
                <a:cs typeface="+mn-cs"/>
              </a:rPr>
              <a:t>数码管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quarter" idx="1"/>
          </p:nvPr>
        </p:nvSpPr>
        <p:spPr>
          <a:xfrm>
            <a:off x="4500563" y="1571625"/>
            <a:ext cx="3738563" cy="2794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通过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R0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寄存器将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01H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地址的存储器内容转移到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02H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地址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通过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03H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地址的存储器单元将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R2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寄存器的内容转移到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R3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寄存器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14313" y="1600200"/>
            <a:ext cx="8786813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1.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输入设备将数据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data1,data2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打入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R0,R1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寄存器。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2.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将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R0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R1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寄存器中数据分别写入到存储器的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01H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02H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地址单元。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3.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将存储器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01H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02H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地址单元中的数据置入运算器的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DR1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DR2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中，完成以下运算：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DR1 + DR2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）→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DR1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4.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运算正常后，写入到存储器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03H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地址单元。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5.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将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存储器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03H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地址单元中数据打入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R2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寄存器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实验思考题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625" y="1071563"/>
            <a:ext cx="8429625" cy="48402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单元的数据输入应该数据总线还是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CPU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内总线，为什么？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ALU_B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可否不接？如果不接是什么情况？如果接了要如何控制？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若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OUT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单元与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MEM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单元均由读写逻辑控制，可否实现存储器内容输出到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LED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数码管？为什么？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若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单元与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OUT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单元均由读写逻辑控制，可否实现手动输入内容输出到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LED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数码管？为什么？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补充：（存储器部分）读存储器时，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WR=1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时对存储器有没有影响？如果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WR=1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RD=1 T3,</a:t>
            </a:r>
            <a:r>
              <a: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此时是读还是写存储器？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Garamond"/>
        <a:ea typeface="宋体"/>
        <a:cs typeface=""/>
      </a:majorFont>
      <a:minorFont>
        <a:latin typeface="Garamond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Stream</Template>
  <TotalTime>0</TotalTime>
  <Words>633</Words>
  <Application>WPS 演示</Application>
  <PresentationFormat>全屏显示(4:3)</PresentationFormat>
  <Paragraphs>50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Garamond</vt:lpstr>
      <vt:lpstr>Calibri</vt:lpstr>
      <vt:lpstr>微软雅黑</vt:lpstr>
      <vt:lpstr>Arial Unicode MS</vt:lpstr>
      <vt:lpstr>Stream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XMU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eric</dc:creator>
  <cp:lastModifiedBy>Administrator</cp:lastModifiedBy>
  <cp:revision>73</cp:revision>
  <dcterms:created xsi:type="dcterms:W3CDTF">2009-10-03T11:05:00Z</dcterms:created>
  <dcterms:modified xsi:type="dcterms:W3CDTF">2023-11-20T03:45:08Z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4</vt:i4>
  </property>
  <property fmtid="{D5CDD505-2E9C-101B-9397-08002B2CF9AE}" pid="3" name="ICV">
    <vt:lpwstr>A9A54647185849809DF2FCDBA0A0F3C5_13</vt:lpwstr>
  </property>
  <property fmtid="{D5CDD505-2E9C-101B-9397-08002B2CF9AE}" pid="4" name="KSOProductBuildVer">
    <vt:lpwstr>2052-12.1.0.15712</vt:lpwstr>
  </property>
</Properties>
</file>