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4930" r:id="rId4"/>
    <p:sldMasterId id="2147485278" r:id="rId5"/>
  </p:sldMasterIdLst>
  <p:notesMasterIdLst>
    <p:notesMasterId r:id="rId26"/>
  </p:notesMasterIdLst>
  <p:handoutMasterIdLst>
    <p:handoutMasterId r:id="rId27"/>
  </p:handoutMasterIdLst>
  <p:sldIdLst>
    <p:sldId id="2591" r:id="rId6"/>
    <p:sldId id="3117" r:id="rId7"/>
    <p:sldId id="3258" r:id="rId8"/>
    <p:sldId id="3148" r:id="rId9"/>
    <p:sldId id="3259" r:id="rId10"/>
    <p:sldId id="3261" r:id="rId11"/>
    <p:sldId id="3147" r:id="rId12"/>
    <p:sldId id="3263" r:id="rId13"/>
    <p:sldId id="3262" r:id="rId14"/>
    <p:sldId id="3265" r:id="rId15"/>
    <p:sldId id="3264" r:id="rId16"/>
    <p:sldId id="3260" r:id="rId17"/>
    <p:sldId id="3266" r:id="rId18"/>
    <p:sldId id="3268" r:id="rId19"/>
    <p:sldId id="3269" r:id="rId20"/>
    <p:sldId id="3267" r:id="rId21"/>
    <p:sldId id="3251" r:id="rId22"/>
    <p:sldId id="3255" r:id="rId23"/>
    <p:sldId id="3256" r:id="rId24"/>
    <p:sldId id="3257" r:id="rId25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09" userDrawn="1">
          <p15:clr>
            <a:srgbClr val="A4A3A4"/>
          </p15:clr>
        </p15:guide>
        <p15:guide id="2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74FA2"/>
    <a:srgbClr val="08B2F0"/>
    <a:srgbClr val="0000FF"/>
    <a:srgbClr val="1717B7"/>
    <a:srgbClr val="CCECFF"/>
    <a:srgbClr val="2750A3"/>
    <a:srgbClr val="588CC8"/>
    <a:srgbClr val="EBF7FF"/>
    <a:srgbClr val="FF9900"/>
    <a:srgbClr val="009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88" autoAdjust="0"/>
    <p:restoredTop sz="57736" autoAdjust="0"/>
  </p:normalViewPr>
  <p:slideViewPr>
    <p:cSldViewPr snapToGrid="0">
      <p:cViewPr varScale="1">
        <p:scale>
          <a:sx n="68" d="100"/>
          <a:sy n="68" d="100"/>
        </p:scale>
        <p:origin x="1076" y="48"/>
      </p:cViewPr>
      <p:guideLst>
        <p:guide pos="3809"/>
        <p:guide orient="horz" pos="2183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1440"/>
    </p:cViewPr>
  </p:sorterViewPr>
  <p:notesViewPr>
    <p:cSldViewPr snapToGrid="0">
      <p:cViewPr varScale="1">
        <p:scale>
          <a:sx n="121" d="100"/>
          <a:sy n="121" d="100"/>
        </p:scale>
        <p:origin x="4938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0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0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0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C4803FF-7A1D-4EE9-8F21-D3681F14740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94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94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194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94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8AA420E-8999-4B68-9F06-563144D81D6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339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 b="0" dirty="0"/>
          </a:p>
        </p:txBody>
      </p:sp>
      <p:sp>
        <p:nvSpPr>
          <p:cNvPr id="14340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093EB02-05DE-4FBA-B58C-F692575D24CC}" type="slidenum">
              <a:rPr lang="en-US" altLang="zh-CN" sz="1200"/>
              <a:pPr/>
              <a:t>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u="none" dirty="0"/>
          </a:p>
        </p:txBody>
      </p:sp>
      <p:sp>
        <p:nvSpPr>
          <p:cNvPr id="2662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22AE938-3C14-4393-BB4F-5B268C47B9B1}" type="slidenum">
              <a:rPr lang="en-US" altLang="zh-CN" sz="1200"/>
              <a:pPr/>
              <a:t>2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32643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80604020202020204" pitchFamily="34" charset="0"/>
              </a:rPr>
              <a:t>被控对象，用传递函数来表示</a:t>
            </a:r>
            <a:endParaRPr lang="en-US" altLang="zh-CN" dirty="0">
              <a:latin typeface="Arial" panose="02080604020202020204" pitchFamily="34" charset="0"/>
            </a:endParaRPr>
          </a:p>
        </p:txBody>
      </p:sp>
      <p:sp>
        <p:nvSpPr>
          <p:cNvPr id="2662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22AE938-3C14-4393-BB4F-5B268C47B9B1}" type="slidenum">
              <a:rPr lang="en-US" altLang="zh-CN" sz="1200"/>
              <a:pPr/>
              <a:t>4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095009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80604020202020204" pitchFamily="34" charset="0"/>
              </a:rPr>
              <a:t>被控对象，用传递函数来表示</a:t>
            </a:r>
            <a:endParaRPr lang="en-US" altLang="zh-CN" dirty="0">
              <a:latin typeface="Arial" panose="02080604020202020204" pitchFamily="34" charset="0"/>
            </a:endParaRPr>
          </a:p>
        </p:txBody>
      </p:sp>
      <p:sp>
        <p:nvSpPr>
          <p:cNvPr id="2662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22AE938-3C14-4393-BB4F-5B268C47B9B1}" type="slidenum">
              <a:rPr lang="en-US" altLang="zh-CN" sz="1200"/>
              <a:pPr/>
              <a:t>5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644400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80604020202020204" pitchFamily="34" charset="0"/>
              </a:rPr>
              <a:t>被控对象，用传递函数来表示</a:t>
            </a:r>
            <a:endParaRPr lang="en-US" altLang="zh-CN" dirty="0">
              <a:latin typeface="Arial" panose="02080604020202020204" pitchFamily="34" charset="0"/>
            </a:endParaRPr>
          </a:p>
        </p:txBody>
      </p:sp>
      <p:sp>
        <p:nvSpPr>
          <p:cNvPr id="2662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22AE938-3C14-4393-BB4F-5B268C47B9B1}" type="slidenum">
              <a:rPr lang="en-US" altLang="zh-CN" sz="1200"/>
              <a:pPr/>
              <a:t>6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62973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>
              <a:latin typeface="Arial" panose="02080604020202020204" pitchFamily="34" charset="0"/>
            </a:endParaRPr>
          </a:p>
        </p:txBody>
      </p:sp>
      <p:sp>
        <p:nvSpPr>
          <p:cNvPr id="2662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22AE938-3C14-4393-BB4F-5B268C47B9B1}" type="slidenum">
              <a:rPr lang="en-US" altLang="zh-CN" sz="1200"/>
              <a:pPr/>
              <a:t>7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124093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>
              <a:latin typeface="Arial" panose="02080604020202020204" pitchFamily="34" charset="0"/>
            </a:endParaRPr>
          </a:p>
        </p:txBody>
      </p:sp>
      <p:sp>
        <p:nvSpPr>
          <p:cNvPr id="2662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22AE938-3C14-4393-BB4F-5B268C47B9B1}" type="slidenum">
              <a:rPr lang="en-US" altLang="zh-CN" sz="1200"/>
              <a:pPr/>
              <a:t>8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503464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80604020202020204" pitchFamily="34" charset="0"/>
              </a:rPr>
              <a:t>被控对象，用传递函数来表示</a:t>
            </a:r>
            <a:endParaRPr lang="en-US" altLang="zh-CN" dirty="0">
              <a:latin typeface="Arial" panose="02080604020202020204" pitchFamily="34" charset="0"/>
            </a:endParaRPr>
          </a:p>
        </p:txBody>
      </p:sp>
      <p:sp>
        <p:nvSpPr>
          <p:cNvPr id="2662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22AE938-3C14-4393-BB4F-5B268C47B9B1}" type="slidenum">
              <a:rPr lang="en-US" altLang="zh-CN" sz="1200"/>
              <a:pPr/>
              <a:t>9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24460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80604020202020204" pitchFamily="34" charset="0"/>
              </a:rPr>
              <a:t>被控对象，用传递函数来表示</a:t>
            </a:r>
            <a:endParaRPr lang="en-US" altLang="zh-CN" dirty="0">
              <a:latin typeface="Arial" panose="02080604020202020204" pitchFamily="34" charset="0"/>
            </a:endParaRPr>
          </a:p>
        </p:txBody>
      </p:sp>
      <p:sp>
        <p:nvSpPr>
          <p:cNvPr id="2662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22AE938-3C14-4393-BB4F-5B268C47B9B1}" type="slidenum">
              <a:rPr lang="en-US" altLang="zh-CN" sz="1200"/>
              <a:pPr/>
              <a:t>10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421175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AA420E-8999-4B68-9F06-563144D81D63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6166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AA420E-8999-4B68-9F06-563144D81D63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5375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1" y="0"/>
            <a:ext cx="3340100" cy="876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400" b="1" dirty="0">
              <a:solidFill>
                <a:schemeClr val="bg1"/>
              </a:solidFill>
              <a:latin typeface="黑体" pitchFamily="49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177367" y="2889250"/>
            <a:ext cx="3340100" cy="876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400" b="1" dirty="0">
              <a:solidFill>
                <a:schemeClr val="bg1"/>
              </a:solidFill>
              <a:latin typeface="黑体" pitchFamily="49" charset="-122"/>
            </a:endParaRP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>
                <a:latin typeface="黑体" pitchFamily="2" charset="-122"/>
                <a:ea typeface="黑体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A2549619-5BB4-4CE2-B062-4DE22A47627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6667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 bwMode="auto">
          <a:xfrm>
            <a:off x="5412318" y="4054476"/>
            <a:ext cx="5590116" cy="7715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800" b="1" dirty="0">
              <a:solidFill>
                <a:schemeClr val="tx1"/>
              </a:solidFill>
            </a:endParaRPr>
          </a:p>
        </p:txBody>
      </p:sp>
      <p:sp>
        <p:nvSpPr>
          <p:cNvPr id="57353" name="Rectangle 9"/>
          <p:cNvSpPr>
            <a:spLocks noGrp="1" noChangeArrowheads="1"/>
          </p:cNvSpPr>
          <p:nvPr>
            <p:ph type="ctrTitle"/>
          </p:nvPr>
        </p:nvSpPr>
        <p:spPr>
          <a:xfrm>
            <a:off x="914400" y="1798639"/>
            <a:ext cx="10363200" cy="1470025"/>
          </a:xfrm>
        </p:spPr>
        <p:txBody>
          <a:bodyPr tIns="45720" anchor="ctr"/>
          <a:lstStyle>
            <a:lvl1pPr>
              <a:defRPr sz="43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7354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957638"/>
            <a:ext cx="8534400" cy="1079500"/>
          </a:xfrm>
        </p:spPr>
        <p:txBody>
          <a:bodyPr anchor="ctr" anchorCtr="1"/>
          <a:lstStyle>
            <a:lvl1pPr marL="0" indent="0" algn="ctr">
              <a:buFontTx/>
              <a:buNone/>
              <a:defRPr sz="2400">
                <a:solidFill>
                  <a:srgbClr val="16388A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053916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49226"/>
            <a:ext cx="11277600" cy="688975"/>
          </a:xfrm>
        </p:spPr>
        <p:txBody>
          <a:bodyPr/>
          <a:lstStyle>
            <a:lvl1pPr>
              <a:defRPr sz="3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051719"/>
            <a:ext cx="10972800" cy="5065712"/>
          </a:xfrm>
        </p:spPr>
        <p:txBody>
          <a:bodyPr/>
          <a:lstStyle>
            <a:lvl1pPr marL="449263" indent="-449263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4452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24530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/>
          <a:lstStyle>
            <a:lvl1pPr>
              <a:defRPr lang="zh-CN" altLang="en-US" sz="3200">
                <a:solidFill>
                  <a:srgbClr val="C00000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5733" y="1268413"/>
            <a:ext cx="53848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63733" y="1268413"/>
            <a:ext cx="53848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46285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noFill/>
          <a:ln>
            <a:noFill/>
          </a:ln>
          <a:effectLst/>
        </p:spPr>
        <p:txBody>
          <a:bodyPr/>
          <a:lstStyle>
            <a:lvl1pPr>
              <a:defRPr lang="zh-CN" altLang="en-US" sz="3200">
                <a:solidFill>
                  <a:srgbClr val="C00000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02680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/>
          <a:lstStyle>
            <a:lvl1pPr>
              <a:defRPr lang="zh-CN" altLang="en-US" sz="3200">
                <a:solidFill>
                  <a:srgbClr val="C00000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510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540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76656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53939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/>
          <a:lstStyle>
            <a:lvl1pPr>
              <a:defRPr lang="zh-CN" altLang="en-US" sz="3200">
                <a:solidFill>
                  <a:srgbClr val="C00000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17331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179389"/>
            <a:ext cx="3048000" cy="61547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9"/>
            <a:ext cx="8940800" cy="61547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654895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CDAF70-E7C9-4E42-BBEB-55D73CDA69E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5152197"/>
      </p:ext>
    </p:extLst>
  </p:cSld>
  <p:clrMapOvr>
    <a:masterClrMapping/>
  </p:clrMapOvr>
  <p:transition advTm="460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182717"/>
            <a:ext cx="11176000" cy="5762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3592" y="1052513"/>
            <a:ext cx="11018809" cy="5472112"/>
          </a:xfrm>
          <a:ln>
            <a:noFill/>
          </a:ln>
        </p:spPr>
        <p:txBody>
          <a:bodyPr/>
          <a:lstStyle>
            <a:lvl1pPr>
              <a:defRPr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723900" indent="-188913">
              <a:buFont typeface="Wingdings" panose="05000000000000000000" pitchFamily="2" charset="2"/>
              <a:buChar char="p"/>
              <a:defRPr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>
              <a:defRPr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>
              <a:defRPr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>
              <a:defRPr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47917" y="6611939"/>
            <a:ext cx="1344083" cy="217487"/>
          </a:xfrm>
        </p:spPr>
        <p:txBody>
          <a:bodyPr/>
          <a:lstStyle>
            <a:lvl1pPr>
              <a:defRPr/>
            </a:lvl1pPr>
          </a:lstStyle>
          <a:p>
            <a:fld id="{50611F1F-B0D0-4543-BE4D-C428D4BCA17B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6" name="图片 7">
            <a:extLst>
              <a:ext uri="{FF2B5EF4-FFF2-40B4-BE49-F238E27FC236}">
                <a16:creationId xmlns:a16="http://schemas.microsoft.com/office/drawing/2014/main" id="{1D306142-49DF-4CCC-B893-34DD24766F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1271" y="128818"/>
            <a:ext cx="1344083" cy="57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10">
            <a:extLst>
              <a:ext uri="{FF2B5EF4-FFF2-40B4-BE49-F238E27FC236}">
                <a16:creationId xmlns:a16="http://schemas.microsoft.com/office/drawing/2014/main" id="{CC3C52BC-82FB-45A4-A34D-E87EBF08999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533760" y="703829"/>
            <a:ext cx="1515003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700" b="1" dirty="0">
                <a:solidFill>
                  <a:srgbClr val="274F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XIAMEN UNIVERSITY</a:t>
            </a:r>
            <a:endParaRPr lang="zh-CN" altLang="en-US" sz="700" b="1" dirty="0">
              <a:solidFill>
                <a:srgbClr val="274F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1199782"/>
      </p:ext>
    </p:extLst>
  </p:cSld>
  <p:clrMapOvr>
    <a:masterClrMapping/>
  </p:clrMapOvr>
  <p:transition advTm="460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47917" y="6640514"/>
            <a:ext cx="1344083" cy="217487"/>
          </a:xfrm>
        </p:spPr>
        <p:txBody>
          <a:bodyPr/>
          <a:lstStyle>
            <a:lvl1pPr>
              <a:defRPr/>
            </a:lvl1pPr>
          </a:lstStyle>
          <a:p>
            <a:fld id="{7648B618-1D7A-4F9B-835C-2A7751C100C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2894353"/>
      </p:ext>
    </p:extLst>
  </p:cSld>
  <p:clrMapOvr>
    <a:masterClrMapping/>
  </p:clrMapOvr>
  <p:transition advTm="460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8351" y="260351"/>
            <a:ext cx="10668000" cy="5762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052513"/>
            <a:ext cx="5232400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67400" y="1052513"/>
            <a:ext cx="5232400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47917" y="6640514"/>
            <a:ext cx="1344083" cy="217487"/>
          </a:xfrm>
        </p:spPr>
        <p:txBody>
          <a:bodyPr/>
          <a:lstStyle>
            <a:lvl1pPr>
              <a:defRPr/>
            </a:lvl1pPr>
          </a:lstStyle>
          <a:p>
            <a:fld id="{1FD96561-1A22-412A-AE5C-CFD04665E827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11" name="图片 7">
            <a:extLst>
              <a:ext uri="{FF2B5EF4-FFF2-40B4-BE49-F238E27FC236}">
                <a16:creationId xmlns:a16="http://schemas.microsoft.com/office/drawing/2014/main" id="{9AC73B0A-BFAF-4A8D-B3B7-ECFC3FA54A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1271" y="128818"/>
            <a:ext cx="1344083" cy="57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框 10">
            <a:extLst>
              <a:ext uri="{FF2B5EF4-FFF2-40B4-BE49-F238E27FC236}">
                <a16:creationId xmlns:a16="http://schemas.microsoft.com/office/drawing/2014/main" id="{B915FF17-8D9D-4915-B206-56A8EDA0E1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533760" y="703829"/>
            <a:ext cx="1515003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700" b="1" dirty="0">
                <a:solidFill>
                  <a:srgbClr val="274F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XIAMEN UNIVERSITY</a:t>
            </a:r>
            <a:endParaRPr lang="zh-CN" altLang="en-US" sz="700" b="1" dirty="0">
              <a:solidFill>
                <a:srgbClr val="274F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2087341"/>
      </p:ext>
    </p:extLst>
  </p:cSld>
  <p:clrMapOvr>
    <a:masterClrMapping/>
  </p:clrMapOvr>
  <p:transition advTm="460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47917" y="6640514"/>
            <a:ext cx="1344083" cy="217487"/>
          </a:xfrm>
        </p:spPr>
        <p:txBody>
          <a:bodyPr/>
          <a:lstStyle>
            <a:lvl1pPr>
              <a:defRPr/>
            </a:lvl1pPr>
          </a:lstStyle>
          <a:p>
            <a:fld id="{0CD24DFD-8591-4C9D-8C58-E25F0957899B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13" name="图片 7">
            <a:extLst>
              <a:ext uri="{FF2B5EF4-FFF2-40B4-BE49-F238E27FC236}">
                <a16:creationId xmlns:a16="http://schemas.microsoft.com/office/drawing/2014/main" id="{5215860C-0D00-4839-B54E-935AE7FF93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1271" y="128818"/>
            <a:ext cx="1344083" cy="57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本框 10">
            <a:extLst>
              <a:ext uri="{FF2B5EF4-FFF2-40B4-BE49-F238E27FC236}">
                <a16:creationId xmlns:a16="http://schemas.microsoft.com/office/drawing/2014/main" id="{75DCDFFD-5863-48ED-96B6-8590C7E8F22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533760" y="703829"/>
            <a:ext cx="1515003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700" b="1" dirty="0">
                <a:solidFill>
                  <a:srgbClr val="274F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XIAMEN UNIVERSITY</a:t>
            </a:r>
            <a:endParaRPr lang="zh-CN" altLang="en-US" sz="700" b="1" dirty="0">
              <a:solidFill>
                <a:srgbClr val="274F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9065359"/>
      </p:ext>
    </p:extLst>
  </p:cSld>
  <p:clrMapOvr>
    <a:masterClrMapping/>
  </p:clrMapOvr>
  <p:transition advTm="460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8351" y="260351"/>
            <a:ext cx="10668000" cy="5762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47917" y="6640514"/>
            <a:ext cx="1344083" cy="217487"/>
          </a:xfrm>
        </p:spPr>
        <p:txBody>
          <a:bodyPr/>
          <a:lstStyle>
            <a:lvl1pPr>
              <a:defRPr/>
            </a:lvl1pPr>
          </a:lstStyle>
          <a:p>
            <a:fld id="{D294704E-8F2A-40AC-9EF1-756684C03F33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9" name="图片 7">
            <a:extLst>
              <a:ext uri="{FF2B5EF4-FFF2-40B4-BE49-F238E27FC236}">
                <a16:creationId xmlns:a16="http://schemas.microsoft.com/office/drawing/2014/main" id="{C783C140-3597-4552-BEB7-39EC3460DF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1271" y="128818"/>
            <a:ext cx="1344083" cy="57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8010D1E-97C7-463A-8C61-D0E64843CFF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533760" y="703829"/>
            <a:ext cx="1515003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700" b="1" dirty="0">
                <a:solidFill>
                  <a:srgbClr val="274F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XIAMEN UNIVERSITY</a:t>
            </a:r>
            <a:endParaRPr lang="zh-CN" altLang="en-US" sz="700" b="1" dirty="0">
              <a:solidFill>
                <a:srgbClr val="274F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2655712"/>
      </p:ext>
    </p:extLst>
  </p:cSld>
  <p:clrMapOvr>
    <a:masterClrMapping/>
  </p:clrMapOvr>
  <p:transition advTm="460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D2F46F-2ADE-4A01-A615-1AE21D8E2FE0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770B61E-D8F7-4739-A576-9143FEA4B2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1271" y="128818"/>
            <a:ext cx="1344083" cy="57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10">
            <a:extLst>
              <a:ext uri="{FF2B5EF4-FFF2-40B4-BE49-F238E27FC236}">
                <a16:creationId xmlns:a16="http://schemas.microsoft.com/office/drawing/2014/main" id="{6A02338E-3AD2-4B80-8697-6BCE22C0A8E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533760" y="703829"/>
            <a:ext cx="1515003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700" b="1" dirty="0">
                <a:solidFill>
                  <a:srgbClr val="274F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XIAMEN UNIVERSITY</a:t>
            </a:r>
            <a:endParaRPr lang="zh-CN" altLang="en-US" sz="700" b="1" dirty="0">
              <a:solidFill>
                <a:srgbClr val="274F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1991759"/>
      </p:ext>
    </p:extLst>
  </p:cSld>
  <p:clrMapOvr>
    <a:masterClrMapping/>
  </p:clrMapOvr>
  <p:transition advTm="460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09C243-AA33-4B2D-B1A6-A3D29449F3E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8173691"/>
      </p:ext>
    </p:extLst>
  </p:cSld>
  <p:clrMapOvr>
    <a:masterClrMapping/>
  </p:clrMapOvr>
  <p:transition advTm="460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814B08-037D-4A90-A61B-A0540D605A0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0737402"/>
      </p:ext>
    </p:extLst>
  </p:cSld>
  <p:clrMapOvr>
    <a:masterClrMapping/>
  </p:clrMapOvr>
  <p:transition advTm="460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8351" y="260351"/>
            <a:ext cx="10668000" cy="5762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685A90-DFBF-42A9-BF2A-B3037C5488D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2540035"/>
      </p:ext>
    </p:extLst>
  </p:cSld>
  <p:clrMapOvr>
    <a:masterClrMapping/>
  </p:clrMapOvr>
  <p:transition advTm="460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1" y="260351"/>
            <a:ext cx="2749551" cy="626427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31800" y="260351"/>
            <a:ext cx="8051800" cy="6264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9DB52A-FA70-4980-BFAA-EE8712B468A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7103357"/>
      </p:ext>
    </p:extLst>
  </p:cSld>
  <p:clrMapOvr>
    <a:masterClrMapping/>
  </p:clrMapOvr>
  <p:transition advTm="460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371" y="188640"/>
            <a:ext cx="9121013" cy="476672"/>
          </a:xfrm>
          <a:prstGeom prst="rect">
            <a:avLst/>
          </a:prstGeom>
        </p:spPr>
        <p:txBody>
          <a:bodyPr anchor="ctr"/>
          <a:lstStyle>
            <a:lvl1pPr algn="l"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80418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68413"/>
            <a:ext cx="10972800" cy="506571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" name="矩形 4"/>
          <p:cNvSpPr/>
          <p:nvPr userDrawn="1"/>
        </p:nvSpPr>
        <p:spPr bwMode="auto">
          <a:xfrm>
            <a:off x="71968" y="0"/>
            <a:ext cx="2529417" cy="8001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800" b="1" dirty="0">
              <a:solidFill>
                <a:schemeClr val="tx1"/>
              </a:solidFill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149226"/>
            <a:ext cx="10668000" cy="6889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54000" rIns="91440" bIns="45720" numCol="1" anchor="t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8E548E-E2BB-4FD4-8131-DEADD69DD77C}"/>
              </a:ext>
            </a:extLst>
          </p:cNvPr>
          <p:cNvSpPr/>
          <p:nvPr userDrawn="1"/>
        </p:nvSpPr>
        <p:spPr>
          <a:xfrm>
            <a:off x="563033" y="862013"/>
            <a:ext cx="11099800" cy="74612"/>
          </a:xfrm>
          <a:prstGeom prst="rect">
            <a:avLst/>
          </a:prstGeom>
          <a:gradFill flip="none" rotWithShape="1">
            <a:gsLst>
              <a:gs pos="0">
                <a:srgbClr val="0000FF"/>
              </a:gs>
              <a:gs pos="0">
                <a:srgbClr val="0070C0"/>
              </a:gs>
              <a:gs pos="45000">
                <a:srgbClr val="0070C0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13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316" r:id="rId1"/>
    <p:sldLayoutId id="2147485317" r:id="rId2"/>
    <p:sldLayoutId id="2147485300" r:id="rId3"/>
    <p:sldLayoutId id="2147485301" r:id="rId4"/>
    <p:sldLayoutId id="2147485302" r:id="rId5"/>
    <p:sldLayoutId id="2147485303" r:id="rId6"/>
    <p:sldLayoutId id="2147485304" r:id="rId7"/>
    <p:sldLayoutId id="2147485305" r:id="rId8"/>
    <p:sldLayoutId id="2147485306" r:id="rId9"/>
    <p:sldLayoutId id="2147485307" r:id="rId10"/>
    <p:sldLayoutId id="2147485308" r:id="rId11"/>
    <p:sldLayoutId id="214748530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lang="zh-CN" altLang="en-US" sz="3200" b="1">
          <a:solidFill>
            <a:srgbClr val="C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ea"/>
          <a:ea typeface="+mn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黑体" pitchFamily="49" charset="-122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黑体" pitchFamily="49" charset="-122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黑体" pitchFamily="49" charset="-122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黑体" pitchFamily="49" charset="-122"/>
          <a:ea typeface="黑体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charset="0"/>
          <a:ea typeface="华文新魏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charset="0"/>
          <a:ea typeface="华文新魏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charset="0"/>
          <a:ea typeface="华文新魏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charset="0"/>
          <a:ea typeface="华文新魏" pitchFamily="2" charset="-122"/>
        </a:defRPr>
      </a:lvl9pPr>
    </p:titleStyle>
    <p:bodyStyle>
      <a:lvl1pPr marL="449263" indent="-449263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5"/>
        </a:buBlip>
        <a:defRPr lang="zh-CN" altLang="en-US" sz="2800" dirty="0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000066"/>
        </a:buClr>
        <a:buChar char="•"/>
        <a:defRPr sz="2400">
          <a:solidFill>
            <a:srgbClr val="133984"/>
          </a:solidFill>
          <a:latin typeface="+mn-lt"/>
          <a:ea typeface="+mn-ea"/>
        </a:defRPr>
      </a:lvl2pPr>
      <a:lvl3pPr marL="1322388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charset="-122"/>
        </a:defRPr>
      </a:lvl4pPr>
      <a:lvl5pPr marL="213836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charset="-122"/>
        </a:defRPr>
      </a:lvl5pPr>
      <a:lvl6pPr marL="2595563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charset="-122"/>
        </a:defRPr>
      </a:lvl6pPr>
      <a:lvl7pPr marL="3052763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charset="-122"/>
        </a:defRPr>
      </a:lvl7pPr>
      <a:lvl8pPr marL="3509963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charset="-122"/>
        </a:defRPr>
      </a:lvl8pPr>
      <a:lvl9pPr marL="3967163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801" y="260351"/>
            <a:ext cx="1123103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1" y="1052513"/>
            <a:ext cx="11231033" cy="547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833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47917" y="6621464"/>
            <a:ext cx="1344083" cy="217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fld id="{CF5A2957-612D-4015-B5F7-FF3DE4EB2D2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287191-52A0-4C43-9C58-0447166666EA}"/>
              </a:ext>
            </a:extLst>
          </p:cNvPr>
          <p:cNvSpPr/>
          <p:nvPr userDrawn="1"/>
        </p:nvSpPr>
        <p:spPr>
          <a:xfrm>
            <a:off x="563033" y="862013"/>
            <a:ext cx="11099800" cy="74612"/>
          </a:xfrm>
          <a:prstGeom prst="rect">
            <a:avLst/>
          </a:prstGeom>
          <a:gradFill flip="none" rotWithShape="1">
            <a:gsLst>
              <a:gs pos="0">
                <a:srgbClr val="0000FF"/>
              </a:gs>
              <a:gs pos="0">
                <a:srgbClr val="0070C0"/>
              </a:gs>
              <a:gs pos="45000">
                <a:srgbClr val="0070C0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13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310" r:id="rId1"/>
    <p:sldLayoutId id="2147485318" r:id="rId2"/>
    <p:sldLayoutId id="2147485319" r:id="rId3"/>
    <p:sldLayoutId id="2147485320" r:id="rId4"/>
    <p:sldLayoutId id="2147485321" r:id="rId5"/>
    <p:sldLayoutId id="2147485322" r:id="rId6"/>
    <p:sldLayoutId id="2147485311" r:id="rId7"/>
    <p:sldLayoutId id="2147485312" r:id="rId8"/>
    <p:sldLayoutId id="2147485313" r:id="rId9"/>
    <p:sldLayoutId id="2147485314" r:id="rId10"/>
    <p:sldLayoutId id="2147485315" r:id="rId11"/>
    <p:sldLayoutId id="2147485323" r:id="rId12"/>
  </p:sldLayoutIdLst>
  <p:transition advTm="4600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Verdana" pitchFamily="34" charset="0"/>
          <a:ea typeface="黑体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Verdana" pitchFamily="34" charset="0"/>
          <a:ea typeface="黑体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Verdana" pitchFamily="34" charset="0"/>
          <a:ea typeface="黑体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Verdana" pitchFamily="34" charset="0"/>
          <a:ea typeface="黑体" pitchFamily="49" charset="-122"/>
        </a:defRPr>
      </a:lvl9pPr>
    </p:titleStyle>
    <p:bodyStyle>
      <a:lvl1pPr marL="355600" indent="-355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tabLst>
          <a:tab pos="804863" algn="l"/>
        </a:tabLst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23900" indent="-188913" algn="l" rtl="0" eaLnBrk="0" fontAlgn="base" hangingPunct="0">
        <a:spcBef>
          <a:spcPct val="20000"/>
        </a:spcBef>
        <a:spcAft>
          <a:spcPct val="0"/>
        </a:spcAft>
        <a:buClr>
          <a:srgbClr val="33CC33"/>
        </a:buClr>
        <a:buFont typeface="Wingdings" panose="05000000000000000000" pitchFamily="2" charset="2"/>
        <a:buChar char="n"/>
        <a:tabLst>
          <a:tab pos="804863" algn="l"/>
        </a:tabLst>
        <a:defRPr sz="2600">
          <a:solidFill>
            <a:schemeClr val="tx1"/>
          </a:solidFill>
          <a:latin typeface="+mn-lt"/>
          <a:ea typeface="+mn-ea"/>
        </a:defRPr>
      </a:lvl2pPr>
      <a:lvl3pPr marL="14827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tabLst>
          <a:tab pos="804863" algn="l"/>
        </a:tabLst>
        <a:defRPr sz="2300">
          <a:solidFill>
            <a:schemeClr val="tx1"/>
          </a:solidFill>
          <a:latin typeface="+mn-lt"/>
          <a:ea typeface="+mn-ea"/>
        </a:defRPr>
      </a:lvl3pPr>
      <a:lvl4pPr marL="20494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tabLst>
          <a:tab pos="804863" algn="l"/>
        </a:tabLst>
        <a:defRPr sz="2000">
          <a:solidFill>
            <a:schemeClr val="tx1"/>
          </a:solidFill>
          <a:latin typeface="+mn-lt"/>
          <a:ea typeface="+mn-ea"/>
        </a:defRPr>
      </a:lvl4pPr>
      <a:lvl5pPr marL="26273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tabLst>
          <a:tab pos="804863" algn="l"/>
        </a:tabLst>
        <a:defRPr sz="2000">
          <a:solidFill>
            <a:schemeClr val="tx1"/>
          </a:solidFill>
          <a:latin typeface="+mn-lt"/>
          <a:ea typeface="+mn-ea"/>
        </a:defRPr>
      </a:lvl5pPr>
      <a:lvl6pPr marL="30845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tabLst>
          <a:tab pos="804863" algn="l"/>
        </a:tabLst>
        <a:defRPr sz="2000">
          <a:solidFill>
            <a:schemeClr val="tx1"/>
          </a:solidFill>
          <a:latin typeface="+mn-lt"/>
          <a:ea typeface="+mn-ea"/>
        </a:defRPr>
      </a:lvl6pPr>
      <a:lvl7pPr marL="35417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tabLst>
          <a:tab pos="804863" algn="l"/>
        </a:tabLst>
        <a:defRPr sz="2000">
          <a:solidFill>
            <a:schemeClr val="tx1"/>
          </a:solidFill>
          <a:latin typeface="+mn-lt"/>
          <a:ea typeface="+mn-ea"/>
        </a:defRPr>
      </a:lvl7pPr>
      <a:lvl8pPr marL="3998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tabLst>
          <a:tab pos="804863" algn="l"/>
        </a:tabLst>
        <a:defRPr sz="2000">
          <a:solidFill>
            <a:schemeClr val="tx1"/>
          </a:solidFill>
          <a:latin typeface="+mn-lt"/>
          <a:ea typeface="+mn-ea"/>
        </a:defRPr>
      </a:lvl8pPr>
      <a:lvl9pPr marL="44561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tabLst>
          <a:tab pos="804863" algn="l"/>
        </a:tabLst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1.png"/><Relationship Id="rId5" Type="http://schemas.openxmlformats.org/officeDocument/2006/relationships/image" Target="../media/image13.jpe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 bwMode="auto">
          <a:xfrm>
            <a:off x="2211789" y="249200"/>
            <a:ext cx="7806523" cy="576263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3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黑体" pitchFamily="49" charset="-122"/>
                <a:ea typeface="黑体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黑体" pitchFamily="49" charset="-122"/>
                <a:ea typeface="黑体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黑体" pitchFamily="49" charset="-122"/>
                <a:ea typeface="黑体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黑体" pitchFamily="49" charset="-122"/>
                <a:ea typeface="黑体" pitchFamily="49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9pPr>
          </a:lstStyle>
          <a:p>
            <a:pPr>
              <a:defRPr/>
            </a:pPr>
            <a:endParaRPr lang="zh-CN" altLang="en-US" sz="3600" dirty="0">
              <a:solidFill>
                <a:srgbClr val="274FA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标题 6"/>
          <p:cNvSpPr>
            <a:spLocks noGrp="1" noChangeArrowheads="1"/>
          </p:cNvSpPr>
          <p:nvPr>
            <p:ph type="ctrTitle"/>
          </p:nvPr>
        </p:nvSpPr>
        <p:spPr>
          <a:xfrm>
            <a:off x="1113359" y="1959612"/>
            <a:ext cx="9965282" cy="1714500"/>
          </a:xfrm>
        </p:spPr>
        <p:txBody>
          <a:bodyPr/>
          <a:lstStyle/>
          <a:p>
            <a:r>
              <a:rPr lang="zh-CN" altLang="en-US" sz="4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4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BP</a:t>
            </a:r>
            <a:r>
              <a:rPr lang="zh-CN" altLang="en-US" sz="4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神经网络的自整定</a:t>
            </a:r>
            <a:r>
              <a:rPr lang="en-US" altLang="zh-CN" sz="4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sz="4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br>
              <a:rPr lang="en-US" altLang="zh-CN" sz="4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4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仿真实验</a:t>
            </a:r>
            <a:endParaRPr sz="44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5A39D94-2217-4282-AA7F-1C1205073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63" y="4395515"/>
            <a:ext cx="3704252" cy="2462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副标题 7"/>
          <p:cNvSpPr>
            <a:spLocks noGrp="1"/>
          </p:cNvSpPr>
          <p:nvPr>
            <p:ph type="subTitle" idx="1"/>
          </p:nvPr>
        </p:nvSpPr>
        <p:spPr>
          <a:xfrm>
            <a:off x="3020975" y="4191129"/>
            <a:ext cx="6188149" cy="1079500"/>
          </a:xfrm>
        </p:spPr>
        <p:txBody>
          <a:bodyPr/>
          <a:lstStyle/>
          <a:p>
            <a:pPr>
              <a:spcBef>
                <a:spcPts val="600"/>
              </a:spcBef>
              <a:defRPr/>
            </a:pPr>
            <a:r>
              <a:rPr lang="zh-CN" altLang="en-US" b="1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人工智能系 晁飞</a:t>
            </a:r>
            <a:endParaRPr lang="en-US" altLang="zh-CN" b="1" dirty="0">
              <a:solidFill>
                <a:srgbClr val="1717B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>
              <a:spcBef>
                <a:spcPts val="600"/>
              </a:spcBef>
              <a:defRPr/>
            </a:pPr>
            <a:r>
              <a:rPr lang="en-US" altLang="zh-CN" b="1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fchao@xmu.edu.cn</a:t>
            </a:r>
          </a:p>
          <a:p>
            <a:pPr>
              <a:spcBef>
                <a:spcPts val="600"/>
              </a:spcBef>
              <a:defRPr/>
            </a:pPr>
            <a:r>
              <a:rPr lang="en-US" altLang="zh-CN" b="1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2023</a:t>
            </a:r>
            <a:r>
              <a:rPr lang="zh-CN" altLang="en-US" b="1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年</a:t>
            </a:r>
            <a:r>
              <a:rPr lang="en-US" altLang="zh-CN" b="1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7</a:t>
            </a:r>
            <a:r>
              <a:rPr lang="zh-CN" altLang="en-US" b="1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月</a:t>
            </a:r>
            <a:r>
              <a:rPr lang="en-US" altLang="zh-CN" b="1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19</a:t>
            </a:r>
            <a:r>
              <a:rPr lang="zh-CN" altLang="en-US" b="1" dirty="0">
                <a:solidFill>
                  <a:srgbClr val="171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日</a:t>
            </a:r>
            <a:endParaRPr b="1" dirty="0">
              <a:solidFill>
                <a:srgbClr val="1717B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AD0E712-F4D9-3D32-BB14-8400E188516B}"/>
              </a:ext>
            </a:extLst>
          </p:cNvPr>
          <p:cNvSpPr txBox="1">
            <a:spLocks/>
          </p:cNvSpPr>
          <p:nvPr/>
        </p:nvSpPr>
        <p:spPr bwMode="auto">
          <a:xfrm>
            <a:off x="1389855" y="131989"/>
            <a:ext cx="9450388" cy="672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3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黑体" pitchFamily="49" charset="-122"/>
                <a:ea typeface="黑体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黑体" pitchFamily="49" charset="-122"/>
                <a:ea typeface="黑体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黑体" pitchFamily="49" charset="-122"/>
                <a:ea typeface="黑体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黑体" pitchFamily="49" charset="-122"/>
                <a:ea typeface="黑体" pitchFamily="49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9pPr>
          </a:lstStyle>
          <a:p>
            <a:r>
              <a:rPr lang="zh-CN" altLang="en-US" sz="3600" kern="0" dirty="0">
                <a:solidFill>
                  <a:srgbClr val="274FA2"/>
                </a:solidFill>
              </a:rPr>
              <a:t>智能控制原理与机器人实践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89E1F0A-E533-4B6B-BA69-EE2B3E858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9552" y="0"/>
            <a:ext cx="1292448" cy="1292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>
            <a:extLst>
              <a:ext uri="{FF2B5EF4-FFF2-40B4-BE49-F238E27FC236}">
                <a16:creationId xmlns:a16="http://schemas.microsoft.com/office/drawing/2014/main" id="{C7D703CF-25F2-474D-8256-411AD8E3A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51" y="260351"/>
            <a:ext cx="10668000" cy="576263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一，实验目的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431800" y="1052513"/>
            <a:ext cx="5232400" cy="547211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rgbClr val="1717B7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271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ts val="1200"/>
              </a:spcBef>
              <a:buNone/>
              <a:tabLst>
                <a:tab pos="804863" algn="l"/>
              </a:tabLst>
              <a:defRPr/>
            </a:pP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熟悉神经网络的特征、结构及学习算法。</a:t>
            </a:r>
          </a:p>
          <a:p>
            <a:pPr marL="0" indent="0">
              <a:spcBef>
                <a:spcPts val="1200"/>
              </a:spcBef>
              <a:buNone/>
              <a:tabLst>
                <a:tab pos="804863" algn="l"/>
              </a:tabLst>
              <a:defRPr/>
            </a:pP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通过实验掌握神经网络自整定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PID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的工作原理。</a:t>
            </a:r>
          </a:p>
          <a:p>
            <a:pPr marL="0" indent="0">
              <a:spcBef>
                <a:spcPts val="1200"/>
              </a:spcBef>
              <a:buNone/>
              <a:tabLst>
                <a:tab pos="804863" algn="l"/>
              </a:tabLst>
              <a:defRPr/>
            </a:pP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了解神经网络的结构对控制效果的影响。</a:t>
            </a:r>
          </a:p>
          <a:p>
            <a:pPr marL="0" indent="0">
              <a:spcBef>
                <a:spcPts val="1200"/>
              </a:spcBef>
              <a:buNone/>
              <a:tabLst>
                <a:tab pos="804863" algn="l"/>
              </a:tabLst>
              <a:defRPr/>
            </a:pP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掌握用</a:t>
            </a:r>
            <a:r>
              <a:rPr lang="en-US" altLang="zh-CN" sz="28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实现神经网络控制系统仿真的方法。</a:t>
            </a:r>
          </a:p>
        </p:txBody>
      </p:sp>
      <p:sp>
        <p:nvSpPr>
          <p:cNvPr id="1031" name="Slide Number Placeholder 4">
            <a:extLst>
              <a:ext uri="{FF2B5EF4-FFF2-40B4-BE49-F238E27FC236}">
                <a16:creationId xmlns:a16="http://schemas.microsoft.com/office/drawing/2014/main" id="{89204CE6-CEA9-831F-BF48-8BE842EF53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47917" y="6640514"/>
            <a:ext cx="1344083" cy="217487"/>
          </a:xfrm>
        </p:spPr>
        <p:txBody>
          <a:bodyPr/>
          <a:lstStyle/>
          <a:p>
            <a:pPr>
              <a:spcAft>
                <a:spcPts val="600"/>
              </a:spcAft>
            </a:pPr>
            <a:fld id="{1FD96561-1A22-412A-AE5C-CFD04665E827}" type="slidenum">
              <a:rPr lang="en-US" altLang="zh-CN"/>
              <a:pPr>
                <a:spcAft>
                  <a:spcPts val="600"/>
                </a:spcAft>
              </a:pPr>
              <a:t>2</a:t>
            </a:fld>
            <a:endParaRPr lang="en-US" altLang="zh-CN"/>
          </a:p>
        </p:txBody>
      </p:sp>
      <p:pic>
        <p:nvPicPr>
          <p:cNvPr id="1028" name="Picture 4" descr="See the source image">
            <a:extLst>
              <a:ext uri="{FF2B5EF4-FFF2-40B4-BE49-F238E27FC236}">
                <a16:creationId xmlns:a16="http://schemas.microsoft.com/office/drawing/2014/main" id="{FC83CEC4-945A-488A-9614-05AAC22D7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9019" y="923308"/>
            <a:ext cx="5296460" cy="2648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e the source image">
            <a:extLst>
              <a:ext uri="{FF2B5EF4-FFF2-40B4-BE49-F238E27FC236}">
                <a16:creationId xmlns:a16="http://schemas.microsoft.com/office/drawing/2014/main" id="{A3021271-86AA-451E-8781-9FFD983DE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374" y="3571538"/>
            <a:ext cx="4361002" cy="3246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307417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9096B3-F19B-462D-B57C-555EDECBB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</a:rPr>
              <a:t>二，实验设备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8E2E4A-486B-445B-B857-78651610D2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800" y="1052513"/>
            <a:ext cx="5232400" cy="5472112"/>
          </a:xfrm>
        </p:spPr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计算机设备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仿真软件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实验程序代码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273D43-CEC2-4DCB-B3CA-CAA30B82C2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D254E7-252E-4AE0-8A77-18E012EA25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D96561-1A22-412A-AE5C-CFD04665E827}" type="slidenum">
              <a:rPr lang="en-US" altLang="zh-CN" smtClean="0"/>
              <a:pPr/>
              <a:t>3</a:t>
            </a:fld>
            <a:endParaRPr lang="en-US" altLang="zh-CN"/>
          </a:p>
        </p:txBody>
      </p:sp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C4B06A10-F4D1-4AAF-BEB5-E21005D44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475" y="936624"/>
            <a:ext cx="3017075" cy="201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img1.baidu.com/it/u=2696174967,3107057332&amp;fm=253&amp;fmt=auto&amp;app=138&amp;f=JPEG?w=595&amp;h=331">
            <a:extLst>
              <a:ext uri="{FF2B5EF4-FFF2-40B4-BE49-F238E27FC236}">
                <a16:creationId xmlns:a16="http://schemas.microsoft.com/office/drawing/2014/main" id="{BF5A51AC-BB7A-4DA6-BEA3-FF650D0E8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474" y="3048017"/>
            <a:ext cx="3017074" cy="1678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ee the source image">
            <a:extLst>
              <a:ext uri="{FF2B5EF4-FFF2-40B4-BE49-F238E27FC236}">
                <a16:creationId xmlns:a16="http://schemas.microsoft.com/office/drawing/2014/main" id="{B55BF979-54CA-40D8-8939-981B761A2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474" y="4826433"/>
            <a:ext cx="3017074" cy="1697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1929474"/>
      </p:ext>
    </p:extLst>
  </p:cSld>
  <p:clrMapOvr>
    <a:masterClrMapping/>
  </p:clrMapOvr>
  <p:transition advTm="46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5FD937A-0DFE-4B00-9C15-AFE5D202C97A}" type="slidenum">
              <a:rPr lang="en-US" altLang="zh-CN" sz="1200">
                <a:solidFill>
                  <a:srgbClr val="000000"/>
                </a:solidFill>
              </a:rPr>
              <a:pPr/>
              <a:t>4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546100" y="1249022"/>
            <a:ext cx="10134601" cy="18716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rgbClr val="1717B7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271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ts val="1200"/>
              </a:spcBef>
              <a:spcAft>
                <a:spcPts val="600"/>
              </a:spcAft>
              <a:buNone/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在工业控制中，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PID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控制是工业控制中最常用的方法。这是因为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PID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控制器结构简单、实现简单，控制效果良好，已得到广泛应用。</a:t>
            </a:r>
            <a:endParaRPr lang="en-US" altLang="zh-CN" sz="2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1200"/>
              </a:spcBef>
              <a:spcAft>
                <a:spcPts val="600"/>
              </a:spcAft>
              <a:buNone/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但是，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PID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具有一定的局限性：被控制对象参数随时间变化时，控制器的参数难以自动调整以适应外界环境的变化。</a:t>
            </a:r>
            <a:endParaRPr lang="en-US" altLang="zh-CN" sz="2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1200"/>
              </a:spcBef>
              <a:spcAft>
                <a:spcPts val="600"/>
              </a:spcAft>
              <a:buNone/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为了使控制器具有较好的自适应性，实现控制器参数的自动调整，可以采用神经网络控制的方法。利用人工神经网络的自学习这一特性，并结合传统的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PID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控制理论，构造神经网络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PID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控制器，实现控制器参数的自动调整。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C7D703CF-25F2-474D-8256-411AD8E3A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144000"/>
            <a:ext cx="9450388" cy="672000"/>
          </a:xfrm>
        </p:spPr>
        <p:txBody>
          <a:bodyPr>
            <a:noAutofit/>
          </a:bodyPr>
          <a:lstStyle/>
          <a:p>
            <a:r>
              <a:rPr lang="zh-CN" altLang="en-US" sz="3600" dirty="0">
                <a:solidFill>
                  <a:srgbClr val="274FA2"/>
                </a:solidFill>
              </a:rPr>
              <a:t>二，实验背景</a:t>
            </a:r>
          </a:p>
        </p:txBody>
      </p:sp>
      <p:pic>
        <p:nvPicPr>
          <p:cNvPr id="3076" name="Picture 4" descr="https://gimg2.baidu.com/image_search/src=http%3A%2F%2Fimg-blog.csdnimg.cn%2F20210202133728385.png%3Fx-oss-process%3Dimage%2Fwatermark%2Ctype_ZmFuZ3poZW5naGVpdGk%2Cshadow_10%2Ctext_aHR0cHM6Ly9ibG9nLmNzZG4ubmV0L3FxXzUyOTQ1NjA2%2Csize_16%2Ccolor_FFFFFF%2Ct_70&amp;refer=http%3A%2F%2Fimg-blog.csdnimg.cn&amp;app=2002&amp;size=f9999,10000&amp;q=a80&amp;n=0&amp;g=0n&amp;fmt=auto?sec=1660221905&amp;t=e2735eca4555bb01c689d929f749f15c">
            <a:extLst>
              <a:ext uri="{FF2B5EF4-FFF2-40B4-BE49-F238E27FC236}">
                <a16:creationId xmlns:a16="http://schemas.microsoft.com/office/drawing/2014/main" id="{31EF2422-7918-4B6B-925D-182EEB0F7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67" y="3943892"/>
            <a:ext cx="9867434" cy="2770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172676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5FD937A-0DFE-4B00-9C15-AFE5D202C97A}" type="slidenum">
              <a:rPr lang="en-US" altLang="zh-CN" sz="1200">
                <a:solidFill>
                  <a:srgbClr val="000000"/>
                </a:solidFill>
              </a:rPr>
              <a:pPr/>
              <a:t>5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546100" y="1249022"/>
            <a:ext cx="10134601" cy="18716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rgbClr val="1717B7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271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ts val="1200"/>
              </a:spcBef>
              <a:spcAft>
                <a:spcPts val="600"/>
              </a:spcAft>
              <a:buNone/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基于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BP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神经网络的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PID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控制器结构如图所示。控制器由两部分组成：</a:t>
            </a:r>
            <a:endParaRPr lang="en-US" altLang="zh-CN" sz="2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1200"/>
              </a:spcBef>
              <a:spcAft>
                <a:spcPts val="600"/>
              </a:spcAft>
              <a:buNone/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一是常规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PID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控制器，用以直接对对象进行闭环控制，且三个参数在线整定</a:t>
            </a:r>
            <a:endParaRPr lang="en-US" altLang="zh-CN" sz="2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1200"/>
              </a:spcBef>
              <a:spcAft>
                <a:spcPts val="600"/>
              </a:spcAft>
              <a:buNone/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二是神经网络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NN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，根据系统的运行状态，学习调整权系数，从而调整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PID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参数，达到某种性能指标的最优化</a:t>
            </a:r>
            <a:endParaRPr lang="en-US" altLang="zh-CN" sz="2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1200"/>
              </a:spcBef>
              <a:spcAft>
                <a:spcPts val="600"/>
              </a:spcAft>
              <a:buNone/>
              <a:defRPr/>
            </a:pPr>
            <a:endParaRPr lang="zh-CN" altLang="en-US" sz="2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C7D703CF-25F2-474D-8256-411AD8E3A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144000"/>
            <a:ext cx="9450388" cy="672000"/>
          </a:xfrm>
        </p:spPr>
        <p:txBody>
          <a:bodyPr>
            <a:noAutofit/>
          </a:bodyPr>
          <a:lstStyle/>
          <a:p>
            <a:r>
              <a:rPr lang="zh-CN" altLang="en-US" sz="3600" dirty="0">
                <a:solidFill>
                  <a:srgbClr val="274FA2"/>
                </a:solidFill>
              </a:rPr>
              <a:t>三，实验原理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A491335-8FF2-4447-81E9-9C6339EF8D4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148785" y="3212615"/>
            <a:ext cx="5962482" cy="339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52612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5FD937A-0DFE-4B00-9C15-AFE5D202C97A}" type="slidenum">
              <a:rPr lang="en-US" altLang="zh-CN" sz="1200">
                <a:solidFill>
                  <a:srgbClr val="000000"/>
                </a:solidFill>
              </a:rPr>
              <a:pPr/>
              <a:t>6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546100" y="1249022"/>
            <a:ext cx="10134601" cy="18716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rgbClr val="1717B7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271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ts val="1200"/>
              </a:spcBef>
              <a:spcAft>
                <a:spcPts val="600"/>
              </a:spcAft>
              <a:buNone/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基于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BP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神经网络的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PID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控制器结构如图所示。控制器由两部分组成：</a:t>
            </a:r>
            <a:endParaRPr lang="en-US" altLang="zh-CN" sz="2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一是常规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PID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控制器，用以直接对对象进行闭环控制，且三个参数在线整定</a:t>
            </a:r>
            <a:endParaRPr lang="en-US" altLang="zh-CN" sz="2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二是神经网络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NN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，根据系统的运行状态，学习调整权系数，从而调整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PID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参数，达到某种性能指标的最优化</a:t>
            </a:r>
            <a:endParaRPr lang="en-US" altLang="zh-CN" sz="2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1200"/>
              </a:spcBef>
              <a:spcAft>
                <a:spcPts val="600"/>
              </a:spcAft>
              <a:buNone/>
              <a:defRPr/>
            </a:pPr>
            <a:endParaRPr lang="zh-CN" altLang="en-US" sz="2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C7D703CF-25F2-474D-8256-411AD8E3A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144000"/>
            <a:ext cx="9450388" cy="672000"/>
          </a:xfrm>
        </p:spPr>
        <p:txBody>
          <a:bodyPr>
            <a:noAutofit/>
          </a:bodyPr>
          <a:lstStyle/>
          <a:p>
            <a:r>
              <a:rPr lang="zh-CN" altLang="en-US" sz="3600" dirty="0">
                <a:solidFill>
                  <a:srgbClr val="274FA2"/>
                </a:solidFill>
              </a:rPr>
              <a:t>三，实验原理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5E8DB5E-EB38-4CCB-B514-D37A5DF8CAE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044918" y="3258278"/>
            <a:ext cx="4851195" cy="357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14777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>
            <a:extLst>
              <a:ext uri="{FF2B5EF4-FFF2-40B4-BE49-F238E27FC236}">
                <a16:creationId xmlns:a16="http://schemas.microsoft.com/office/drawing/2014/main" id="{C7D703CF-25F2-474D-8256-411AD8E3A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51" y="260351"/>
            <a:ext cx="10668000" cy="576263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274FA2"/>
                </a:solidFill>
              </a:rPr>
              <a:t>三，实验原理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464073" y="1030998"/>
            <a:ext cx="5232400" cy="547211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rgbClr val="1717B7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271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ts val="1200"/>
              </a:spcBef>
              <a:buNone/>
              <a:tabLst>
                <a:tab pos="804863" algn="l"/>
              </a:tabLst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lt"/>
                <a:ea typeface="+mn-ea"/>
              </a:rPr>
              <a:t>被控对象为一时变非线性对象</a:t>
            </a:r>
            <a:r>
              <a:rPr lang="en-US" altLang="zh-CN" sz="2800" b="1" dirty="0">
                <a:solidFill>
                  <a:schemeClr val="tx1"/>
                </a:solidFill>
                <a:latin typeface="+mn-lt"/>
                <a:ea typeface="+mn-ea"/>
              </a:rPr>
              <a:t>:</a:t>
            </a:r>
          </a:p>
          <a:p>
            <a:pPr marL="0" indent="0">
              <a:spcBef>
                <a:spcPts val="1200"/>
              </a:spcBef>
              <a:buNone/>
              <a:tabLst>
                <a:tab pos="804863" algn="l"/>
              </a:tabLst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lt"/>
                <a:ea typeface="+mn-ea"/>
              </a:rPr>
              <a:t>系数</a:t>
            </a:r>
            <a:r>
              <a:rPr lang="en-US" altLang="zh-CN" sz="2800" b="1" dirty="0">
                <a:solidFill>
                  <a:schemeClr val="tx1"/>
                </a:solidFill>
                <a:latin typeface="+mn-lt"/>
                <a:ea typeface="+mn-ea"/>
              </a:rPr>
              <a:t>a(k)</a:t>
            </a:r>
            <a:r>
              <a:rPr lang="zh-CN" altLang="en-US" sz="2800" b="1" dirty="0">
                <a:solidFill>
                  <a:schemeClr val="tx1"/>
                </a:solidFill>
                <a:latin typeface="+mn-lt"/>
                <a:ea typeface="+mn-ea"/>
              </a:rPr>
              <a:t>是慢时变的</a:t>
            </a:r>
            <a:endParaRPr lang="en-US" altLang="zh-CN" sz="2800" b="1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0" indent="0">
              <a:spcBef>
                <a:spcPts val="1200"/>
              </a:spcBef>
              <a:buNone/>
              <a:tabLst>
                <a:tab pos="804863" algn="l"/>
              </a:tabLst>
              <a:defRPr/>
            </a:pPr>
            <a:endParaRPr lang="en-US" altLang="zh-CN" sz="2800" b="1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0" indent="0">
              <a:spcBef>
                <a:spcPts val="1200"/>
              </a:spcBef>
              <a:buNone/>
              <a:tabLst>
                <a:tab pos="804863" algn="l"/>
              </a:tabLst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lt"/>
                <a:ea typeface="+mn-ea"/>
              </a:rPr>
              <a:t>为保证控制器有一定的动态跟踪能力，选定神经网络的输入层输入为</a:t>
            </a:r>
            <a:endParaRPr lang="en-US" altLang="zh-CN" sz="2800" b="1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0" indent="0">
              <a:spcBef>
                <a:spcPts val="1200"/>
              </a:spcBef>
              <a:buNone/>
              <a:tabLst>
                <a:tab pos="804863" algn="l"/>
              </a:tabLst>
              <a:defRPr/>
            </a:pPr>
            <a:endParaRPr lang="en-US" altLang="zh-CN" sz="2800" b="1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0" indent="0">
              <a:spcBef>
                <a:spcPts val="1200"/>
              </a:spcBef>
              <a:buNone/>
              <a:tabLst>
                <a:tab pos="804863" algn="l"/>
              </a:tabLst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lt"/>
                <a:ea typeface="+mn-ea"/>
              </a:rPr>
              <a:t>输出层节点分别对应三个可调参数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10847917" y="6640514"/>
            <a:ext cx="1344083" cy="217487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fld id="{B5FD937A-0DFE-4B00-9C15-AFE5D202C97A}" type="slidenum">
              <a:rPr lang="en-US" altLang="zh-CN" sz="900"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altLang="zh-CN" sz="900" kern="120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9056D9C-566A-42FF-9890-97110FE517C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157588" y="1670349"/>
            <a:ext cx="3266572" cy="57626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FEA58AB-2348-4991-A5D6-0EA1C01705C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157588" y="2423048"/>
            <a:ext cx="1857320" cy="43848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B96D5DD-AF52-4BF5-9347-A4ADA173D75C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157588" y="3099172"/>
            <a:ext cx="3051419" cy="43848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E6FD44E-D2AB-4F10-A657-8079B6B6B4DE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7633810" y="4762107"/>
            <a:ext cx="1165945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8453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>
            <a:extLst>
              <a:ext uri="{FF2B5EF4-FFF2-40B4-BE49-F238E27FC236}">
                <a16:creationId xmlns:a16="http://schemas.microsoft.com/office/drawing/2014/main" id="{C7D703CF-25F2-474D-8256-411AD8E3A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51" y="260351"/>
            <a:ext cx="10668000" cy="576263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274FA2"/>
                </a:solidFill>
              </a:rPr>
              <a:t>三，实验原理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464073" y="1030998"/>
            <a:ext cx="5232400" cy="547211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rgbClr val="1717B7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271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ts val="1200"/>
              </a:spcBef>
              <a:buNone/>
              <a:tabLst>
                <a:tab pos="804863" algn="l"/>
              </a:tabLst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lt"/>
                <a:ea typeface="+mn-ea"/>
              </a:rPr>
              <a:t>取性能指标函数为：</a:t>
            </a:r>
            <a:endParaRPr lang="en-US" altLang="zh-CN" sz="2800" b="1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0" indent="0">
              <a:spcBef>
                <a:spcPts val="1200"/>
              </a:spcBef>
              <a:buNone/>
              <a:tabLst>
                <a:tab pos="804863" algn="l"/>
              </a:tabLst>
              <a:defRPr/>
            </a:pPr>
            <a:endParaRPr lang="en-US" altLang="zh-CN" sz="2800" b="1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0" indent="0">
              <a:spcBef>
                <a:spcPts val="1200"/>
              </a:spcBef>
              <a:buNone/>
              <a:tabLst>
                <a:tab pos="804863" algn="l"/>
              </a:tabLst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lt"/>
                <a:ea typeface="+mn-ea"/>
              </a:rPr>
              <a:t>每一次的</a:t>
            </a:r>
            <a:r>
              <a:rPr lang="en-US" altLang="zh-CN" sz="2800" b="1" dirty="0">
                <a:solidFill>
                  <a:schemeClr val="tx1"/>
                </a:solidFill>
                <a:latin typeface="+mn-lt"/>
                <a:ea typeface="+mn-ea"/>
              </a:rPr>
              <a:t>e(k)</a:t>
            </a:r>
            <a:r>
              <a:rPr lang="zh-CN" altLang="en-US" sz="2800" b="1" dirty="0">
                <a:solidFill>
                  <a:schemeClr val="tx1"/>
                </a:solidFill>
                <a:latin typeface="+mn-lt"/>
                <a:ea typeface="+mn-ea"/>
              </a:rPr>
              <a:t>为</a:t>
            </a:r>
            <a:endParaRPr lang="en-US" altLang="zh-CN" sz="2800" b="1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0" indent="0">
              <a:spcBef>
                <a:spcPts val="1200"/>
              </a:spcBef>
              <a:buNone/>
              <a:tabLst>
                <a:tab pos="804863" algn="l"/>
              </a:tabLst>
              <a:defRPr/>
            </a:pPr>
            <a:endParaRPr lang="en-US" altLang="zh-CN" sz="2800" b="1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0" indent="0">
              <a:spcBef>
                <a:spcPts val="1200"/>
              </a:spcBef>
              <a:buNone/>
              <a:tabLst>
                <a:tab pos="804863" algn="l"/>
              </a:tabLst>
              <a:defRPr/>
            </a:pPr>
            <a:endParaRPr lang="en-US" altLang="zh-CN" sz="2800" b="1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0" indent="0">
              <a:spcBef>
                <a:spcPts val="1200"/>
              </a:spcBef>
              <a:buNone/>
              <a:tabLst>
                <a:tab pos="804863" algn="l"/>
              </a:tabLst>
              <a:defRPr/>
            </a:pPr>
            <a:endParaRPr lang="en-US" altLang="zh-CN" sz="2800" b="1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0" indent="0">
              <a:spcBef>
                <a:spcPts val="1200"/>
              </a:spcBef>
              <a:buNone/>
              <a:tabLst>
                <a:tab pos="804863" algn="l"/>
              </a:tabLst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lt"/>
                <a:ea typeface="+mn-ea"/>
              </a:rPr>
              <a:t>若</a:t>
            </a:r>
            <a:r>
              <a:rPr lang="en-US" altLang="zh-CN" sz="2800" b="1" dirty="0">
                <a:solidFill>
                  <a:schemeClr val="tx1"/>
                </a:solidFill>
                <a:latin typeface="+mn-lt"/>
                <a:ea typeface="+mn-ea"/>
              </a:rPr>
              <a:t>PID</a:t>
            </a:r>
            <a:r>
              <a:rPr lang="zh-CN" altLang="en-US" sz="2800" b="1" dirty="0">
                <a:solidFill>
                  <a:schemeClr val="tx1"/>
                </a:solidFill>
                <a:latin typeface="+mn-lt"/>
                <a:ea typeface="+mn-ea"/>
              </a:rPr>
              <a:t>控制器采用采用增量式数字</a:t>
            </a:r>
            <a:r>
              <a:rPr lang="en-US" altLang="zh-CN" sz="2800" b="1" dirty="0">
                <a:solidFill>
                  <a:schemeClr val="tx1"/>
                </a:solidFill>
                <a:latin typeface="+mn-lt"/>
                <a:ea typeface="+mn-ea"/>
              </a:rPr>
              <a:t>PID</a:t>
            </a:r>
            <a:r>
              <a:rPr lang="zh-CN" altLang="en-US" sz="2800" b="1" dirty="0">
                <a:solidFill>
                  <a:schemeClr val="tx1"/>
                </a:solidFill>
                <a:latin typeface="+mn-lt"/>
                <a:ea typeface="+mn-ea"/>
              </a:rPr>
              <a:t>控制算法，则有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10847917" y="6640514"/>
            <a:ext cx="1344083" cy="217487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fld id="{B5FD937A-0DFE-4B00-9C15-AFE5D202C97A}" type="slidenum">
              <a:rPr lang="en-US" altLang="zh-CN" sz="900" kern="12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 altLang="zh-CN" sz="900" kern="120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66D5CD7-5F14-4E78-AE8A-90475224C9D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503122" y="1201775"/>
            <a:ext cx="2307852" cy="57626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280F620-9A78-4528-93F8-46A9498CF5B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663647" y="2489891"/>
            <a:ext cx="1706264" cy="27482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52AA378-6794-4D87-AFD1-7200A7D8F5F1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503122" y="4246917"/>
            <a:ext cx="3057525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81570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5FD937A-0DFE-4B00-9C15-AFE5D202C97A}" type="slidenum">
              <a:rPr lang="en-US" altLang="zh-CN" sz="1200">
                <a:solidFill>
                  <a:srgbClr val="000000"/>
                </a:solidFill>
              </a:rPr>
              <a:pPr/>
              <a:t>9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1028699" y="2401977"/>
            <a:ext cx="10134601" cy="18716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rgbClr val="1717B7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271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ts val="1200"/>
              </a:spcBef>
              <a:spcAft>
                <a:spcPts val="600"/>
              </a:spcAft>
              <a:buNone/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其中：   为指标函数    为隐含层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输出层权系数矩阵元素        为被控对象输出      为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PID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控制器输出       为输出层输出        为输出层输入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 marL="0" indent="0" eaLnBrk="1" hangingPunct="1">
              <a:spcBef>
                <a:spcPts val="1200"/>
              </a:spcBef>
              <a:spcAft>
                <a:spcPts val="600"/>
              </a:spcAft>
              <a:buNone/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根据所选用神经网络的数学模型，易知：</a:t>
            </a:r>
          </a:p>
          <a:p>
            <a:pPr marL="0" indent="0" eaLnBrk="1" hangingPunct="1">
              <a:spcBef>
                <a:spcPts val="1200"/>
              </a:spcBef>
              <a:spcAft>
                <a:spcPts val="600"/>
              </a:spcAft>
              <a:buNone/>
              <a:defRPr/>
            </a:pPr>
            <a:endParaRPr lang="zh-CN" altLang="en-US" sz="2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C7D703CF-25F2-474D-8256-411AD8E3A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144000"/>
            <a:ext cx="9450388" cy="672000"/>
          </a:xfrm>
        </p:spPr>
        <p:txBody>
          <a:bodyPr>
            <a:noAutofit/>
          </a:bodyPr>
          <a:lstStyle/>
          <a:p>
            <a:r>
              <a:rPr lang="zh-CN" altLang="en-US" sz="3600" dirty="0">
                <a:solidFill>
                  <a:srgbClr val="274FA2"/>
                </a:solidFill>
              </a:rPr>
              <a:t>三，实验原理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0BBD3C2-0CB0-4970-B099-7DE90E17869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612370" y="1097066"/>
            <a:ext cx="5531168" cy="102384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C26ACB2-7AF0-47E5-801D-CC618522691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767504" y="2550547"/>
            <a:ext cx="438150" cy="20002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5C3039C3-87B7-45D8-8D1B-DAF8CCFCAA27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477801" y="2474347"/>
            <a:ext cx="352425" cy="27622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7C6A5E4D-AFD1-419F-8B44-CC07B9F10838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7666451" y="2474347"/>
            <a:ext cx="695325" cy="20002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DBD1CDC6-E05F-45E3-B1E2-763E1BDF9DFD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10205421" y="2550546"/>
            <a:ext cx="438150" cy="20002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CA470D79-5230-4914-B159-8D204B58A8C7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5080244" y="2803737"/>
            <a:ext cx="504825" cy="28575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822A6D87-A8F9-4443-B38D-8A3CE40754E4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6949440" y="3480652"/>
            <a:ext cx="3610368" cy="340441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3ED42D56-4BA4-4DCB-A492-4DD96E3AECA0}"/>
              </a:ext>
            </a:extLst>
          </p:cNvPr>
          <p:cNvPicPr/>
          <p:nvPr/>
        </p:nvPicPr>
        <p:blipFill>
          <a:blip r:embed="rId10"/>
          <a:stretch>
            <a:fillRect/>
          </a:stretch>
        </p:blipFill>
        <p:spPr>
          <a:xfrm>
            <a:off x="3003232" y="2844459"/>
            <a:ext cx="3333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49257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5FD937A-0DFE-4B00-9C15-AFE5D202C97A}" type="slidenum">
              <a:rPr lang="en-US" altLang="zh-CN" sz="1200">
                <a:solidFill>
                  <a:srgbClr val="000000"/>
                </a:solidFill>
              </a:rPr>
              <a:pPr/>
              <a:t>10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1028699" y="3801258"/>
            <a:ext cx="10134601" cy="18716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rgbClr val="1717B7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271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ts val="1200"/>
              </a:spcBef>
              <a:spcAft>
                <a:spcPts val="600"/>
              </a:spcAft>
              <a:buNone/>
              <a:defRPr/>
            </a:pPr>
            <a:endParaRPr lang="en-US" altLang="zh-CN" sz="2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1200"/>
              </a:spcBef>
              <a:spcAft>
                <a:spcPts val="600"/>
              </a:spcAft>
              <a:buNone/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直接的数学表达不容易获得，但我们可以使用它的符号函数来近似，仍可以保证参数修正方向的正确性，而由此造成其模的误差只影响参数调整的速度，它可以通过调整学习速率来得以补偿。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C7D703CF-25F2-474D-8256-411AD8E3A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144000"/>
            <a:ext cx="9450388" cy="672000"/>
          </a:xfrm>
        </p:spPr>
        <p:txBody>
          <a:bodyPr>
            <a:noAutofit/>
          </a:bodyPr>
          <a:lstStyle/>
          <a:p>
            <a:r>
              <a:rPr lang="zh-CN" altLang="en-US" sz="3600" dirty="0">
                <a:solidFill>
                  <a:srgbClr val="274FA2"/>
                </a:solidFill>
              </a:rPr>
              <a:t>三，实验原理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0BBD3C2-0CB0-4970-B099-7DE90E17869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612370" y="1097066"/>
            <a:ext cx="5531168" cy="102384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A7DCF8A-4007-42C7-8162-3E6C76B4CF6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739786" y="3056742"/>
            <a:ext cx="1122671" cy="77631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37E3161-99C4-4DCC-99BD-61C1D45598A9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634724" y="2378409"/>
            <a:ext cx="4047620" cy="201560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478ABBC-B21D-49C4-B958-EFA1EB3805E7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2511881" y="5747727"/>
            <a:ext cx="6890303" cy="66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49750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2C18DF-922F-47D6-8E93-DD4B24E9B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274FA2"/>
                </a:solidFill>
              </a:rPr>
              <a:t>三，实验原理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7EA715-BBDC-45C7-9D10-C90341C15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732" y="3324113"/>
            <a:ext cx="10422068" cy="3200512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    代表了算法每次在梯度负方向搜索的步长，称为网络的学习速率，另外，如果考虑上次权值对本次权值变化的影响，需要加入动量（平滑）因子 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BE8480-10AB-4542-884B-FFB669FB9C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D96561-1A22-412A-AE5C-CFD04665E827}" type="slidenum">
              <a:rPr lang="en-US" altLang="zh-CN" smtClean="0"/>
              <a:pPr/>
              <a:t>11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0EE1901-651B-4C71-8489-B608C0CCA79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34178" y="1350533"/>
            <a:ext cx="5828909" cy="160782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BB6F9E8-0FB1-43C0-8283-59AB38E2326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07932" y="3429000"/>
            <a:ext cx="220868" cy="2286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3247166-C72F-4BF1-B099-9F9BCECDEB0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421672" y="4344968"/>
            <a:ext cx="268662" cy="29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131177"/>
      </p:ext>
    </p:extLst>
  </p:cSld>
  <p:clrMapOvr>
    <a:masterClrMapping/>
  </p:clrMapOvr>
  <p:transition advTm="46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460BC-8AB0-44D9-BD8A-067473A97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274FA2"/>
                </a:solidFill>
              </a:rPr>
              <a:t>三，实验原理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6FC3E3-676D-4B63-8A9A-61FC8B6B0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122" y="1052513"/>
            <a:ext cx="5923878" cy="5472112"/>
          </a:xfrm>
        </p:spPr>
        <p:txBody>
          <a:bodyPr/>
          <a:lstStyle/>
          <a:p>
            <a:r>
              <a:rPr lang="zh-CN" altLang="en-US" sz="2000" dirty="0"/>
              <a:t>程序流程</a:t>
            </a:r>
            <a:endParaRPr lang="en-US" altLang="zh-CN" sz="2000" dirty="0"/>
          </a:p>
          <a:p>
            <a:r>
              <a:rPr lang="zh-CN" altLang="en-US" sz="2000" dirty="0"/>
              <a:t>步骤</a:t>
            </a:r>
            <a:r>
              <a:rPr lang="en-US" altLang="zh-CN" sz="2000" dirty="0"/>
              <a:t>1</a:t>
            </a:r>
            <a:r>
              <a:rPr lang="zh-CN" altLang="en-US" sz="2000" dirty="0"/>
              <a:t>：设定初始状态和参数初始值，包括随机产生初始</a:t>
            </a:r>
            <a:r>
              <a:rPr lang="en-US" altLang="zh-CN" sz="2000" dirty="0"/>
              <a:t>BP</a:t>
            </a:r>
            <a:r>
              <a:rPr lang="zh-CN" altLang="en-US" sz="2000" dirty="0"/>
              <a:t>神经网络权值系数，设定初始输入输出值为零，设定学习速率和惯性系数，计数器设为</a:t>
            </a:r>
            <a:r>
              <a:rPr lang="en-US" altLang="zh-CN" sz="2000" dirty="0"/>
              <a:t>k=1</a:t>
            </a:r>
            <a:r>
              <a:rPr lang="zh-CN" altLang="en-US" sz="2000" dirty="0"/>
              <a:t>，并设定计数上限等。</a:t>
            </a:r>
            <a:endParaRPr lang="en-US" altLang="zh-CN" sz="2000" dirty="0"/>
          </a:p>
          <a:p>
            <a:r>
              <a:rPr lang="zh-CN" altLang="en-US" sz="2000" dirty="0"/>
              <a:t>步骤</a:t>
            </a:r>
            <a:r>
              <a:rPr lang="en-US" altLang="zh-CN" sz="2000" dirty="0"/>
              <a:t>2</a:t>
            </a:r>
            <a:r>
              <a:rPr lang="zh-CN" altLang="en-US" sz="2000" dirty="0"/>
              <a:t>：计算产生</a:t>
            </a:r>
            <a:r>
              <a:rPr lang="en-US" altLang="zh-CN" sz="2000" dirty="0"/>
              <a:t>BP</a:t>
            </a:r>
            <a:r>
              <a:rPr lang="zh-CN" altLang="en-US" sz="2000" dirty="0"/>
              <a:t>神经网络隐含层输入。本程序为采样获得</a:t>
            </a:r>
            <a:r>
              <a:rPr lang="en-US" altLang="zh-CN" sz="2000" dirty="0"/>
              <a:t>e</a:t>
            </a:r>
            <a:r>
              <a:rPr lang="zh-CN" altLang="en-US" sz="2000" dirty="0"/>
              <a:t>（</a:t>
            </a:r>
            <a:r>
              <a:rPr lang="en-US" altLang="zh-CN" sz="2000" dirty="0"/>
              <a:t>k</a:t>
            </a:r>
            <a:r>
              <a:rPr lang="zh-CN" altLang="en-US" sz="2000" dirty="0"/>
              <a:t>），并结合储存的</a:t>
            </a:r>
            <a:r>
              <a:rPr lang="en-US" altLang="zh-CN" sz="2000" dirty="0"/>
              <a:t>e</a:t>
            </a:r>
            <a:r>
              <a:rPr lang="zh-CN" altLang="en-US" sz="2000" dirty="0"/>
              <a:t>（</a:t>
            </a:r>
            <a:r>
              <a:rPr lang="en-US" altLang="zh-CN" sz="2000" dirty="0"/>
              <a:t>k-1</a:t>
            </a:r>
            <a:r>
              <a:rPr lang="zh-CN" altLang="en-US" sz="2000" dirty="0"/>
              <a:t>），</a:t>
            </a:r>
            <a:r>
              <a:rPr lang="en-US" altLang="zh-CN" sz="2000" dirty="0"/>
              <a:t>e</a:t>
            </a:r>
            <a:r>
              <a:rPr lang="zh-CN" altLang="en-US" sz="2000" dirty="0"/>
              <a:t>（</a:t>
            </a:r>
            <a:r>
              <a:rPr lang="en-US" altLang="zh-CN" sz="2000" dirty="0"/>
              <a:t>k-2</a:t>
            </a:r>
            <a:r>
              <a:rPr lang="zh-CN" altLang="en-US" sz="2000" dirty="0"/>
              <a:t>），及常数</a:t>
            </a:r>
            <a:r>
              <a:rPr lang="en-US" altLang="zh-CN" sz="2000" dirty="0"/>
              <a:t>1</a:t>
            </a:r>
            <a:r>
              <a:rPr lang="zh-CN" altLang="en-US" sz="2000" dirty="0"/>
              <a:t>作为隐含层输入。前两次的</a:t>
            </a:r>
            <a:r>
              <a:rPr lang="en-US" altLang="zh-CN" sz="2000" dirty="0"/>
              <a:t>e</a:t>
            </a:r>
            <a:r>
              <a:rPr lang="zh-CN" altLang="en-US" sz="2000" dirty="0"/>
              <a:t>（</a:t>
            </a:r>
            <a:r>
              <a:rPr lang="en-US" altLang="zh-CN" sz="2000" dirty="0"/>
              <a:t>k-1</a:t>
            </a:r>
            <a:r>
              <a:rPr lang="zh-CN" altLang="en-US" sz="2000" dirty="0"/>
              <a:t>），</a:t>
            </a:r>
            <a:r>
              <a:rPr lang="en-US" altLang="zh-CN" sz="2000" dirty="0"/>
              <a:t>e</a:t>
            </a:r>
            <a:r>
              <a:rPr lang="zh-CN" altLang="en-US" sz="2000" dirty="0"/>
              <a:t>（</a:t>
            </a:r>
            <a:r>
              <a:rPr lang="en-US" altLang="zh-CN" sz="2000" dirty="0"/>
              <a:t>k-2</a:t>
            </a:r>
            <a:r>
              <a:rPr lang="zh-CN" altLang="en-US" sz="2000" dirty="0"/>
              <a:t>）并未真实产生直接取</a:t>
            </a:r>
            <a:r>
              <a:rPr lang="en-US" altLang="zh-CN" sz="2000" dirty="0"/>
              <a:t>0</a:t>
            </a:r>
            <a:r>
              <a:rPr lang="zh-CN" altLang="en-US" sz="2000" dirty="0"/>
              <a:t>。</a:t>
            </a:r>
          </a:p>
          <a:p>
            <a:r>
              <a:rPr lang="zh-CN" altLang="en-US" sz="2000" dirty="0"/>
              <a:t>步骤</a:t>
            </a:r>
            <a:r>
              <a:rPr lang="en-US" altLang="zh-CN" sz="2000" dirty="0"/>
              <a:t>3</a:t>
            </a:r>
            <a:r>
              <a:rPr lang="zh-CN" altLang="en-US" sz="2000" dirty="0"/>
              <a:t>：前向传播计算。包括</a:t>
            </a:r>
            <a:r>
              <a:rPr lang="en-US" altLang="zh-CN" sz="2000" dirty="0"/>
              <a:t>:</a:t>
            </a: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</a:t>
            </a:r>
            <a:r>
              <a:rPr lang="en-US" altLang="zh-CN" sz="2000" dirty="0"/>
              <a:t>BP</a:t>
            </a:r>
            <a:r>
              <a:rPr lang="zh-CN" altLang="en-US" sz="2000" dirty="0"/>
              <a:t>神经网络前向传播计算，得到输出层输出 ，（</a:t>
            </a:r>
            <a:r>
              <a:rPr lang="en-US" altLang="zh-CN" sz="2000" dirty="0"/>
              <a:t>2</a:t>
            </a:r>
            <a:r>
              <a:rPr lang="zh-CN" altLang="en-US" sz="2000" dirty="0"/>
              <a:t>）增量式</a:t>
            </a:r>
            <a:r>
              <a:rPr lang="en-US" altLang="zh-CN" sz="2000" dirty="0"/>
              <a:t>PID</a:t>
            </a:r>
            <a:r>
              <a:rPr lang="zh-CN" altLang="en-US" sz="2000" dirty="0"/>
              <a:t>控制器计算控制器输出 ；（</a:t>
            </a:r>
            <a:r>
              <a:rPr lang="en-US" altLang="zh-CN" sz="2000" dirty="0"/>
              <a:t>3</a:t>
            </a:r>
            <a:r>
              <a:rPr lang="zh-CN" altLang="en-US" sz="2000" dirty="0"/>
              <a:t>）被控对象模型计算输出值 </a:t>
            </a:r>
            <a:endParaRPr lang="en-US" altLang="zh-CN" sz="2000" dirty="0"/>
          </a:p>
          <a:p>
            <a:r>
              <a:rPr lang="zh-CN" altLang="en-US" sz="2000" dirty="0"/>
              <a:t>步骤</a:t>
            </a:r>
            <a:r>
              <a:rPr lang="en-US" altLang="zh-CN" sz="2000" dirty="0"/>
              <a:t>4</a:t>
            </a:r>
            <a:r>
              <a:rPr lang="zh-CN" altLang="en-US" sz="2000" dirty="0"/>
              <a:t>：反向传播计算。包括：（</a:t>
            </a:r>
            <a:r>
              <a:rPr lang="en-US" altLang="zh-CN" sz="2000" dirty="0"/>
              <a:t>1</a:t>
            </a:r>
            <a:r>
              <a:rPr lang="zh-CN" altLang="en-US" sz="2000" dirty="0"/>
              <a:t>）修正输出层的</a:t>
            </a:r>
            <a:r>
              <a:rPr lang="zh-CN" altLang="en-US" sz="2000"/>
              <a:t>权系数 ；（</a:t>
            </a:r>
            <a:r>
              <a:rPr lang="en-US" altLang="zh-CN" sz="2000" dirty="0"/>
              <a:t>2</a:t>
            </a:r>
            <a:r>
              <a:rPr lang="zh-CN" altLang="en-US" sz="2000" dirty="0"/>
              <a:t>）修正隐含层的权系数 ；</a:t>
            </a:r>
          </a:p>
          <a:p>
            <a:r>
              <a:rPr lang="zh-CN" altLang="en-US" sz="2000" dirty="0"/>
              <a:t>步骤</a:t>
            </a:r>
            <a:r>
              <a:rPr lang="en-US" altLang="zh-CN" sz="2000" dirty="0"/>
              <a:t>5</a:t>
            </a:r>
            <a:r>
              <a:rPr lang="zh-CN" altLang="en-US" sz="2000" dirty="0"/>
              <a:t>：参数更新步骤</a:t>
            </a:r>
            <a:r>
              <a:rPr lang="en-US" altLang="zh-CN" sz="2000" dirty="0"/>
              <a:t>6</a:t>
            </a:r>
            <a:r>
              <a:rPr lang="zh-CN" altLang="en-US" sz="2000" dirty="0"/>
              <a:t>：如果</a:t>
            </a:r>
            <a:r>
              <a:rPr lang="en-US" altLang="zh-CN" sz="2000" dirty="0"/>
              <a:t>k</a:t>
            </a:r>
            <a:r>
              <a:rPr lang="zh-CN" altLang="en-US" sz="2000" dirty="0"/>
              <a:t>达到设定的次数上限，则结束；否则，</a:t>
            </a:r>
            <a:r>
              <a:rPr lang="en-US" altLang="zh-CN" sz="2000" dirty="0"/>
              <a:t>k=k+1</a:t>
            </a:r>
            <a:r>
              <a:rPr lang="zh-CN" altLang="en-US" sz="2000" dirty="0"/>
              <a:t>，并返回步骤</a:t>
            </a:r>
            <a:r>
              <a:rPr lang="en-US" altLang="zh-CN" sz="2000" dirty="0"/>
              <a:t>2.</a:t>
            </a:r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F19530-5622-4066-92EA-F1006F6100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11F1F-B0D0-4543-BE4D-C428D4BCA17B}" type="slidenum">
              <a:rPr lang="en-US" altLang="zh-CN" smtClean="0"/>
              <a:pPr/>
              <a:t>12</a:t>
            </a:fld>
            <a:endParaRPr lang="en-US" altLang="zh-CN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4D37790-6123-4AC4-A5D5-3F1E54D4A55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214347" y="949403"/>
            <a:ext cx="3801483" cy="57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383132"/>
      </p:ext>
    </p:extLst>
  </p:cSld>
  <p:clrMapOvr>
    <a:masterClrMapping/>
  </p:clrMapOvr>
  <p:transition advTm="46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460BC-8AB0-44D9-BD8A-067473A97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274FA2"/>
                </a:solidFill>
              </a:rPr>
              <a:t>四，代码理解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6FC3E3-676D-4B63-8A9A-61FC8B6B0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122" y="1052513"/>
            <a:ext cx="5923878" cy="5472112"/>
          </a:xfrm>
        </p:spPr>
        <p:txBody>
          <a:bodyPr/>
          <a:lstStyle/>
          <a:p>
            <a:r>
              <a:rPr lang="zh-CN" altLang="en-US" sz="2000" dirty="0"/>
              <a:t>学习率</a:t>
            </a:r>
            <a:endParaRPr lang="en-US" altLang="zh-CN" sz="2000" dirty="0"/>
          </a:p>
          <a:p>
            <a:r>
              <a:rPr lang="zh-CN" altLang="en-US" sz="2000" dirty="0"/>
              <a:t>冲量</a:t>
            </a:r>
            <a:endParaRPr lang="en-US" altLang="zh-CN" sz="2000" dirty="0"/>
          </a:p>
          <a:p>
            <a:r>
              <a:rPr lang="zh-CN" altLang="en-US" sz="2000" dirty="0"/>
              <a:t>输入输出维度</a:t>
            </a:r>
            <a:endParaRPr lang="en-US" altLang="zh-CN" sz="2000" dirty="0"/>
          </a:p>
          <a:p>
            <a:r>
              <a:rPr lang="zh-CN" altLang="en-US" sz="2000" dirty="0"/>
              <a:t>隐含层</a:t>
            </a:r>
            <a:endParaRPr lang="en-US" altLang="zh-CN" sz="2000" dirty="0"/>
          </a:p>
          <a:p>
            <a:r>
              <a:rPr lang="zh-CN" altLang="en-US" sz="2000" dirty="0"/>
              <a:t>初始权重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F19530-5622-4066-92EA-F1006F6100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11F1F-B0D0-4543-BE4D-C428D4BCA17B}" type="slidenum">
              <a:rPr lang="en-US" altLang="zh-CN" smtClean="0"/>
              <a:pPr/>
              <a:t>13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8F87ED-8FAC-4C4B-8840-9D2C2EC0D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992" y="865033"/>
            <a:ext cx="3971925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663256"/>
      </p:ext>
    </p:extLst>
  </p:cSld>
  <p:clrMapOvr>
    <a:masterClrMapping/>
  </p:clrMapOvr>
  <p:transition advTm="46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460BC-8AB0-44D9-BD8A-067473A97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274FA2"/>
                </a:solidFill>
              </a:rPr>
              <a:t>四，代码理解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6FC3E3-676D-4B63-8A9A-61FC8B6B0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122" y="1052513"/>
            <a:ext cx="5923878" cy="5472112"/>
          </a:xfrm>
        </p:spPr>
        <p:txBody>
          <a:bodyPr/>
          <a:lstStyle/>
          <a:p>
            <a:r>
              <a:rPr lang="zh-CN" altLang="en-US" sz="2000" dirty="0"/>
              <a:t>相关参数初始化</a:t>
            </a:r>
            <a:endParaRPr lang="en-US" altLang="zh-CN" sz="2000" dirty="0"/>
          </a:p>
          <a:p>
            <a:r>
              <a:rPr lang="zh-CN" altLang="en-US" sz="2000" dirty="0"/>
              <a:t>被控对象实现</a:t>
            </a:r>
            <a:endParaRPr lang="en-US" altLang="zh-CN" sz="2000" dirty="0"/>
          </a:p>
          <a:p>
            <a:r>
              <a:rPr lang="zh-CN" altLang="en-US" sz="2000" dirty="0"/>
              <a:t>计算误差和对应</a:t>
            </a:r>
            <a:r>
              <a:rPr lang="en-US" altLang="zh-CN" sz="2000" dirty="0"/>
              <a:t>PID</a:t>
            </a:r>
            <a:r>
              <a:rPr lang="zh-CN" altLang="en-US" sz="2000" dirty="0"/>
              <a:t>分量的误差</a:t>
            </a:r>
            <a:endParaRPr lang="en-US" altLang="zh-CN" sz="2000" dirty="0"/>
          </a:p>
          <a:p>
            <a:r>
              <a:rPr lang="zh-CN" altLang="en-US" sz="2000" dirty="0"/>
              <a:t>神经网络的计算过程</a:t>
            </a:r>
            <a:endParaRPr lang="en-US" altLang="zh-CN" sz="2000" dirty="0"/>
          </a:p>
          <a:p>
            <a:r>
              <a:rPr lang="zh-CN" altLang="en-US" sz="2000" dirty="0"/>
              <a:t>获得</a:t>
            </a:r>
            <a:r>
              <a:rPr lang="en-US" altLang="zh-CN" sz="2000" dirty="0" err="1"/>
              <a:t>Kp</a:t>
            </a:r>
            <a:r>
              <a:rPr lang="zh-CN" altLang="en-US" sz="2000" dirty="0"/>
              <a:t>，</a:t>
            </a:r>
            <a:r>
              <a:rPr lang="en-US" altLang="zh-CN" sz="2000" dirty="0"/>
              <a:t>Ki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Kd</a:t>
            </a:r>
            <a:endParaRPr lang="en-US" altLang="zh-CN" sz="2000" dirty="0"/>
          </a:p>
          <a:p>
            <a:r>
              <a:rPr lang="zh-CN" altLang="en-US" sz="2000" dirty="0"/>
              <a:t>计算控制器输出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F19530-5622-4066-92EA-F1006F6100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11F1F-B0D0-4543-BE4D-C428D4BCA17B}" type="slidenum">
              <a:rPr lang="en-US" altLang="zh-CN" smtClean="0"/>
              <a:pPr/>
              <a:t>14</a:t>
            </a:fld>
            <a:endParaRPr lang="en-US" altLang="zh-CN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435B36F-B7B2-44E9-BFBC-F6EE78F31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56713" y="940556"/>
            <a:ext cx="4091391" cy="5917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4963456"/>
      </p:ext>
    </p:extLst>
  </p:cSld>
  <p:clrMapOvr>
    <a:masterClrMapping/>
  </p:clrMapOvr>
  <p:transition advTm="46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460BC-8AB0-44D9-BD8A-067473A97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274FA2"/>
                </a:solidFill>
              </a:rPr>
              <a:t>四，代码理解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6FC3E3-676D-4B63-8A9A-61FC8B6B0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122" y="1052513"/>
            <a:ext cx="5923878" cy="5472112"/>
          </a:xfrm>
        </p:spPr>
        <p:txBody>
          <a:bodyPr/>
          <a:lstStyle/>
          <a:p>
            <a:r>
              <a:rPr lang="zh-CN" altLang="en-US" sz="2000" dirty="0"/>
              <a:t>开始反向传播误差</a:t>
            </a:r>
            <a:endParaRPr lang="en-US" altLang="zh-CN" sz="2000" dirty="0"/>
          </a:p>
          <a:p>
            <a:r>
              <a:rPr lang="zh-CN" altLang="en-US" sz="2000" dirty="0"/>
              <a:t>先</a:t>
            </a:r>
            <a:r>
              <a:rPr lang="en-US" altLang="zh-CN" sz="2000" dirty="0"/>
              <a:t>Wo</a:t>
            </a:r>
          </a:p>
          <a:p>
            <a:r>
              <a:rPr lang="zh-CN" altLang="en-US" sz="2000" dirty="0"/>
              <a:t>再</a:t>
            </a:r>
            <a:r>
              <a:rPr lang="en-US" altLang="zh-CN" sz="2000" dirty="0"/>
              <a:t>Wi</a:t>
            </a:r>
          </a:p>
          <a:p>
            <a:r>
              <a:rPr lang="zh-CN" altLang="en-US" sz="2000" dirty="0"/>
              <a:t>为下一轮做准备</a:t>
            </a:r>
            <a:endParaRPr lang="en-US" altLang="zh-CN" sz="2000" dirty="0"/>
          </a:p>
          <a:p>
            <a:r>
              <a:rPr lang="zh-CN" altLang="en-US" sz="2000" dirty="0"/>
              <a:t>然后画图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F19530-5622-4066-92EA-F1006F6100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11F1F-B0D0-4543-BE4D-C428D4BCA17B}" type="slidenum">
              <a:rPr lang="en-US" altLang="zh-CN" smtClean="0"/>
              <a:pPr/>
              <a:t>15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E0C617-5568-4F55-AB24-86511DB8E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1169194"/>
            <a:ext cx="4191000" cy="52387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1485D05-C336-49DA-A8AD-9E85C01FD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327" y="888138"/>
            <a:ext cx="3822552" cy="594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3417"/>
      </p:ext>
    </p:extLst>
  </p:cSld>
  <p:clrMapOvr>
    <a:masterClrMapping/>
  </p:clrMapOvr>
  <p:transition advTm="460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CB0423-192E-46FC-8BA2-E4C84CD38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274FA2"/>
                </a:solidFill>
              </a:rPr>
              <a:t>五，输出结果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166862-84A7-46E2-B60D-EAD262F123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11F1F-B0D0-4543-BE4D-C428D4BCA17B}" type="slidenum">
              <a:rPr lang="en-US" altLang="zh-CN" smtClean="0"/>
              <a:pPr/>
              <a:t>16</a:t>
            </a:fld>
            <a:endParaRPr lang="en-US" altLang="zh-CN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AF51E367-FBD7-47D4-A13F-37A3B3979E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900" y="949402"/>
            <a:ext cx="6555794" cy="5935093"/>
          </a:xfrm>
        </p:spPr>
      </p:pic>
    </p:spTree>
    <p:extLst>
      <p:ext uri="{BB962C8B-B14F-4D97-AF65-F5344CB8AC3E}">
        <p14:creationId xmlns:p14="http://schemas.microsoft.com/office/powerpoint/2010/main" val="4143706251"/>
      </p:ext>
    </p:extLst>
  </p:cSld>
  <p:clrMapOvr>
    <a:masterClrMapping/>
  </p:clrMapOvr>
  <p:transition advTm="460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61499E-64E5-62A5-7133-B8CF93545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274FA2"/>
                </a:solidFill>
              </a:rPr>
              <a:t>三、 任务与报告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1D3367-1841-B165-7BB5-74AF036FE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139827"/>
            <a:ext cx="11577619" cy="5472112"/>
          </a:xfrm>
        </p:spPr>
        <p:txBody>
          <a:bodyPr/>
          <a:lstStyle/>
          <a:p>
            <a:r>
              <a:rPr lang="zh-CN" altLang="en-US" dirty="0"/>
              <a:t>任务一：</a:t>
            </a:r>
            <a:r>
              <a:rPr lang="en-US" altLang="zh-CN" dirty="0"/>
              <a:t>BP</a:t>
            </a:r>
            <a:r>
              <a:rPr lang="zh-CN" altLang="en-US" dirty="0"/>
              <a:t>网络的学习速度和冲量的影响</a:t>
            </a:r>
            <a:endParaRPr lang="en-US" altLang="zh-CN"/>
          </a:p>
          <a:p>
            <a:r>
              <a:rPr lang="zh-CN" altLang="en-US"/>
              <a:t>任务</a:t>
            </a:r>
            <a:r>
              <a:rPr lang="zh-CN" altLang="en-US" dirty="0"/>
              <a:t>二：尝试初始权值全是</a:t>
            </a:r>
            <a:r>
              <a:rPr lang="en-US" altLang="zh-CN" dirty="0"/>
              <a:t>0, 0.5</a:t>
            </a:r>
            <a:r>
              <a:rPr lang="zh-CN" altLang="en-US" dirty="0"/>
              <a:t>，</a:t>
            </a:r>
            <a:r>
              <a:rPr lang="en-US" altLang="zh-CN" dirty="0"/>
              <a:t>-0.5</a:t>
            </a:r>
            <a:r>
              <a:rPr lang="zh-CN" altLang="en-US" dirty="0"/>
              <a:t>，随机</a:t>
            </a:r>
            <a:endParaRPr lang="en-US" altLang="zh-CN" dirty="0"/>
          </a:p>
          <a:p>
            <a:r>
              <a:rPr lang="zh-CN" altLang="en-US" dirty="0"/>
              <a:t>任务三：尝试</a:t>
            </a:r>
            <a:r>
              <a:rPr lang="en-US" altLang="zh-CN" dirty="0"/>
              <a:t>H</a:t>
            </a:r>
            <a:r>
              <a:rPr lang="zh-CN" altLang="en-US" dirty="0"/>
              <a:t>个数，</a:t>
            </a:r>
            <a:r>
              <a:rPr lang="en-US" altLang="zh-CN" dirty="0"/>
              <a:t>5,20,50,100</a:t>
            </a:r>
            <a:r>
              <a:rPr lang="zh-CN" altLang="en-US" dirty="0"/>
              <a:t>，。。。。</a:t>
            </a:r>
            <a:endParaRPr lang="en-US" altLang="zh-CN" dirty="0"/>
          </a:p>
          <a:p>
            <a:r>
              <a:rPr lang="zh-CN" altLang="en-US" dirty="0"/>
              <a:t>任务四：当跟踪曲线是</a:t>
            </a:r>
            <a:r>
              <a:rPr lang="en-GB" altLang="zh-CN" dirty="0"/>
              <a:t>%</a:t>
            </a:r>
            <a:r>
              <a:rPr lang="en-GB" altLang="zh-CN" dirty="0" err="1"/>
              <a:t>rin</a:t>
            </a:r>
            <a:r>
              <a:rPr lang="en-GB" altLang="zh-CN" dirty="0"/>
              <a:t>(k)=sin(2*3.1415926*time(k))</a:t>
            </a:r>
            <a:r>
              <a:rPr lang="zh-CN" altLang="en-US" dirty="0"/>
              <a:t>，是否可以收敛</a:t>
            </a:r>
            <a:endParaRPr lang="en-US" altLang="zh-CN" dirty="0"/>
          </a:p>
          <a:p>
            <a:r>
              <a:rPr lang="zh-CN" altLang="en-US" dirty="0"/>
              <a:t>学有余力的同学：两层隐含层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F8EDA3-6877-6572-245A-43A6977D79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11F1F-B0D0-4543-BE4D-C428D4BCA17B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1543489"/>
      </p:ext>
    </p:extLst>
  </p:cSld>
  <p:clrMapOvr>
    <a:masterClrMapping/>
  </p:clrMapOvr>
  <p:transition advTm="460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61499E-64E5-62A5-7133-B8CF93545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274FA2"/>
                </a:solidFill>
              </a:rPr>
              <a:t>三、 任务与报告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1D3367-1841-B165-7BB5-74AF036FE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702" y="1203171"/>
            <a:ext cx="10380372" cy="5472112"/>
          </a:xfrm>
        </p:spPr>
        <p:txBody>
          <a:bodyPr/>
          <a:lstStyle/>
          <a:p>
            <a:r>
              <a:rPr lang="zh-CN" altLang="en-US" dirty="0"/>
              <a:t>实验时间：</a:t>
            </a:r>
            <a:r>
              <a:rPr lang="en-US" altLang="zh-CN" dirty="0"/>
              <a:t>5 – 8</a:t>
            </a:r>
            <a:r>
              <a:rPr lang="zh-CN" altLang="en-US" dirty="0"/>
              <a:t>节</a:t>
            </a:r>
            <a:endParaRPr lang="en-US" altLang="zh-CN" dirty="0"/>
          </a:p>
          <a:p>
            <a:r>
              <a:rPr lang="zh-CN" altLang="en-US" dirty="0"/>
              <a:t>报告提交时间：下周三之前</a:t>
            </a:r>
            <a:endParaRPr lang="en-US" altLang="zh-CN" dirty="0"/>
          </a:p>
          <a:p>
            <a:r>
              <a:rPr lang="zh-CN" altLang="en-US" dirty="0"/>
              <a:t>报告内容：</a:t>
            </a:r>
            <a:endParaRPr lang="en-US" altLang="zh-CN" dirty="0"/>
          </a:p>
          <a:p>
            <a:r>
              <a:rPr lang="zh-CN" altLang="en-US" dirty="0"/>
              <a:t>简述任务一，任务二，和任务三实现过程，分别计算其最优超调量，调节时间，与稳态误差</a:t>
            </a:r>
            <a:endParaRPr lang="en-US" altLang="zh-CN" dirty="0"/>
          </a:p>
          <a:p>
            <a:r>
              <a:rPr lang="zh-CN" altLang="en-US" dirty="0"/>
              <a:t>简述任务四实现过程，计算其最大超调量，调节时间，与稳态误差</a:t>
            </a:r>
            <a:endParaRPr lang="en-US" altLang="zh-CN" dirty="0"/>
          </a:p>
          <a:p>
            <a:r>
              <a:rPr lang="zh-CN" altLang="en-US" dirty="0"/>
              <a:t>学有余力的同学请描述实现过程，和结果曲线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F8EDA3-6877-6572-245A-43A6977D79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11F1F-B0D0-4543-BE4D-C428D4BCA17B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2446833"/>
      </p:ext>
    </p:extLst>
  </p:cSld>
  <p:clrMapOvr>
    <a:masterClrMapping/>
  </p:clrMapOvr>
  <p:transition advTm="460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9973DD-3159-24A0-6642-30A610CE1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总结：实验设计思路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56A51E-BA6D-DFAF-BDCD-CE79B9374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先介绍实验环境</a:t>
            </a:r>
            <a:endParaRPr lang="en-US" altLang="zh-CN" dirty="0"/>
          </a:p>
          <a:p>
            <a:r>
              <a:rPr lang="zh-CN" altLang="en-US" dirty="0"/>
              <a:t>再介绍实验系统的搭建（与上课知识点紧密结合）</a:t>
            </a:r>
            <a:endParaRPr lang="en-US" altLang="zh-CN" dirty="0"/>
          </a:p>
          <a:p>
            <a:r>
              <a:rPr lang="zh-CN" altLang="en-US" dirty="0"/>
              <a:t>给出具体实验要求，放手让同学们实验与实践</a:t>
            </a:r>
            <a:endParaRPr lang="en-US" altLang="zh-CN" dirty="0"/>
          </a:p>
          <a:p>
            <a:r>
              <a:rPr lang="zh-CN" altLang="en-US" dirty="0"/>
              <a:t>给出难度不同的实验任务</a:t>
            </a:r>
            <a:endParaRPr lang="en-US" altLang="zh-CN" dirty="0"/>
          </a:p>
          <a:p>
            <a:r>
              <a:rPr lang="zh-CN" altLang="en-US" dirty="0"/>
              <a:t>明确实验报告内容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DA9BFA-3E8E-301C-8DC6-11F49C9866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11F1F-B0D0-4543-BE4D-C428D4BCA17B}" type="slidenum">
              <a:rPr lang="en-US" altLang="zh-CN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5105701"/>
      </p:ext>
    </p:extLst>
  </p:cSld>
  <p:clrMapOvr>
    <a:masterClrMapping/>
  </p:clrMapOvr>
  <p:transition advTm="460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46CE80-764D-1BE7-018D-CCB9A278A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25B09C-7FF3-2764-8BA7-7E492FD47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sz="5400" dirty="0"/>
          </a:p>
          <a:p>
            <a:pPr marL="0" indent="0">
              <a:buNone/>
            </a:pPr>
            <a:endParaRPr lang="en-US" altLang="zh-CN" sz="5400"/>
          </a:p>
          <a:p>
            <a:pPr marL="0" indent="0">
              <a:buNone/>
            </a:pPr>
            <a:r>
              <a:rPr lang="zh-CN" altLang="en-US" sz="5400"/>
              <a:t>感谢</a:t>
            </a:r>
            <a:r>
              <a:rPr lang="zh-CN" altLang="en-US" sz="5400" dirty="0"/>
              <a:t>各位老师，请多多提意见。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7260E9-B35C-3595-972D-82210FBCD0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11F1F-B0D0-4543-BE4D-C428D4BCA17B}" type="slidenum">
              <a:rPr lang="en-US" altLang="zh-CN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4915362"/>
      </p:ext>
    </p:extLst>
  </p:cSld>
  <p:clrMapOvr>
    <a:masterClrMapping/>
  </p:clrMapOvr>
  <p:transition advTm="4600"/>
</p:sld>
</file>

<file path=ppt/theme/theme1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/>
      <a:bodyPr anchor="ctr"/>
      <a:lstStyle>
        <a:defPPr algn="ctr">
          <a:defRPr sz="800" b="1" dirty="0">
            <a:solidFill>
              <a:schemeClr val="tx1"/>
            </a:solidFill>
          </a:defRPr>
        </a:defPPr>
      </a:lstStyle>
      <a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DDDDDD"/>
        </a:solidFill>
        <a:ln w="28575" cap="flat" cmpd="sng" algn="ctr">
          <a:solidFill>
            <a:srgbClr val="922706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黑体" pitchFamily="2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2E6EF">
            <a:alpha val="97000"/>
          </a:srgbClr>
        </a:solidFill>
        <a:ln w="31750">
          <a:noFill/>
          <a:prstDash val="dash"/>
        </a:ln>
      </a:spPr>
      <a:bodyPr rtlCol="0" anchor="ctr"/>
      <a:lstStyle>
        <a:defPPr algn="ctr">
          <a:defRPr kumimoji="1" sz="1350" dirty="0"/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108000" tIns="0" rIns="108000" bIns="0" numCol="1" anchor="ctr" anchorCtr="1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200" b="1" i="0" u="none" strike="noStrike" cap="none" normalizeH="0" baseline="0" smtClean="0">
            <a:ln>
              <a:noFill/>
            </a:ln>
            <a:solidFill>
              <a:srgbClr val="003399"/>
            </a:solidFill>
            <a:effectLst/>
            <a:latin typeface="Verdana" pitchFamily="34" charset="0"/>
            <a:ea typeface="黑体" pitchFamily="49" charset="-122"/>
          </a:defRPr>
        </a:defPPr>
      </a:lstStyle>
    </a:lnDef>
    <a:txDef>
      <a:spPr>
        <a:solidFill>
          <a:schemeClr val="bg1"/>
        </a:solidFill>
      </a:spPr>
      <a:bodyPr wrap="square">
        <a:noAutofit/>
      </a:bodyPr>
      <a:lstStyle>
        <a:defPPr>
          <a:defRPr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0EE81786803C408B7984A0628CA002" ma:contentTypeVersion="14" ma:contentTypeDescription="Create a new document." ma:contentTypeScope="" ma:versionID="2d06c6c43caa20117f3279f587fcbc63">
  <xsd:schema xmlns:xsd="http://www.w3.org/2001/XMLSchema" xmlns:xs="http://www.w3.org/2001/XMLSchema" xmlns:p="http://schemas.microsoft.com/office/2006/metadata/properties" xmlns:ns3="5a9e6f17-2438-42cc-8415-135dabe6fa4c" xmlns:ns4="2104e978-6a95-4d6e-91fd-5c1e28ff77ad" targetNamespace="http://schemas.microsoft.com/office/2006/metadata/properties" ma:root="true" ma:fieldsID="125b952607a20ce5c7eb092757de7252" ns3:_="" ns4:_="">
    <xsd:import namespace="5a9e6f17-2438-42cc-8415-135dabe6fa4c"/>
    <xsd:import namespace="2104e978-6a95-4d6e-91fd-5c1e28ff77a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e6f17-2438-42cc-8415-135dabe6fa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04e978-6a95-4d6e-91fd-5c1e28ff77a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60ED78-02B4-47A6-8669-F49476BC0B4B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5a9e6f17-2438-42cc-8415-135dabe6fa4c"/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2104e978-6a95-4d6e-91fd-5c1e28ff77ad"/>
  </ds:schemaRefs>
</ds:datastoreItem>
</file>

<file path=customXml/itemProps2.xml><?xml version="1.0" encoding="utf-8"?>
<ds:datastoreItem xmlns:ds="http://schemas.openxmlformats.org/officeDocument/2006/customXml" ds:itemID="{C90FDE53-8010-4760-BE7E-01C71AA631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D7A9D7-44B9-41CE-89B8-13460479D8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9e6f17-2438-42cc-8415-135dabe6fa4c"/>
    <ds:schemaRef ds:uri="2104e978-6a95-4d6e-91fd-5c1e28ff77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1104</Words>
  <Application>Microsoft Office PowerPoint</Application>
  <PresentationFormat>宽屏</PresentationFormat>
  <Paragraphs>133</Paragraphs>
  <Slides>20</Slides>
  <Notes>11</Notes>
  <HiddenSlides>2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黑体</vt:lpstr>
      <vt:lpstr>微软雅黑</vt:lpstr>
      <vt:lpstr>Arial</vt:lpstr>
      <vt:lpstr>Calibri</vt:lpstr>
      <vt:lpstr>Times New Roman</vt:lpstr>
      <vt:lpstr>Verdana</vt:lpstr>
      <vt:lpstr>Wingdings</vt:lpstr>
      <vt:lpstr>1_自定义设计方案</vt:lpstr>
      <vt:lpstr>1_Profile</vt:lpstr>
      <vt:lpstr>基于BP神经网络的自整定PID控制 仿真实验</vt:lpstr>
      <vt:lpstr>一，实验目的</vt:lpstr>
      <vt:lpstr>二，实验设备</vt:lpstr>
      <vt:lpstr>二，实验背景</vt:lpstr>
      <vt:lpstr>三，实验原理</vt:lpstr>
      <vt:lpstr>三，实验原理</vt:lpstr>
      <vt:lpstr>三，实验原理</vt:lpstr>
      <vt:lpstr>三，实验原理</vt:lpstr>
      <vt:lpstr>三，实验原理</vt:lpstr>
      <vt:lpstr>三，实验原理</vt:lpstr>
      <vt:lpstr>三，实验原理</vt:lpstr>
      <vt:lpstr>三，实验原理</vt:lpstr>
      <vt:lpstr>四，代码理解</vt:lpstr>
      <vt:lpstr>四，代码理解</vt:lpstr>
      <vt:lpstr>四，代码理解</vt:lpstr>
      <vt:lpstr>五，输出结果</vt:lpstr>
      <vt:lpstr>三、 任务与报告</vt:lpstr>
      <vt:lpstr>三、 任务与报告</vt:lpstr>
      <vt:lpstr>总结：实验设计思路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2020-11-10T03:01:36Z</dcterms:created>
  <dcterms:modified xsi:type="dcterms:W3CDTF">2023-07-19T06:24:14Z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0x0101004E0EE81786803C408B7984A0628CA002</vt:lpwstr>
  </property>
  <property fmtid="{D5CDD505-2E9C-101B-9397-08002B2CF9AE}" pid="3" name="MSIP_Label_f2dfecbd-fc97-4e8a-a9cd-19ed496c406e_Enabled">
    <vt:lpwstr>true</vt:lpwstr>
  </property>
  <property fmtid="{D5CDD505-2E9C-101B-9397-08002B2CF9AE}" pid="4" name="MSIP_Label_f2dfecbd-fc97-4e8a-a9cd-19ed496c406e_SetDate">
    <vt:lpwstr>2023-07-18T16:49:19Z</vt:lpwstr>
  </property>
  <property fmtid="{D5CDD505-2E9C-101B-9397-08002B2CF9AE}" pid="5" name="MSIP_Label_f2dfecbd-fc97-4e8a-a9cd-19ed496c406e_Method">
    <vt:lpwstr>Standard</vt:lpwstr>
  </property>
  <property fmtid="{D5CDD505-2E9C-101B-9397-08002B2CF9AE}" pid="6" name="MSIP_Label_f2dfecbd-fc97-4e8a-a9cd-19ed496c406e_Name">
    <vt:lpwstr>defa4170-0d19-0005-0004-bc88714345d2</vt:lpwstr>
  </property>
  <property fmtid="{D5CDD505-2E9C-101B-9397-08002B2CF9AE}" pid="7" name="MSIP_Label_f2dfecbd-fc97-4e8a-a9cd-19ed496c406e_SiteId">
    <vt:lpwstr>d47b090e-3f5a-4ca0-84d0-9f89d269f175</vt:lpwstr>
  </property>
  <property fmtid="{D5CDD505-2E9C-101B-9397-08002B2CF9AE}" pid="8" name="MSIP_Label_f2dfecbd-fc97-4e8a-a9cd-19ed496c406e_ActionId">
    <vt:lpwstr>5735a77d-923f-42b4-a528-b946f3b52c59</vt:lpwstr>
  </property>
  <property fmtid="{D5CDD505-2E9C-101B-9397-08002B2CF9AE}" pid="9" name="MSIP_Label_f2dfecbd-fc97-4e8a-a9cd-19ed496c406e_ContentBits">
    <vt:lpwstr>0</vt:lpwstr>
  </property>
</Properties>
</file>