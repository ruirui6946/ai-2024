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3"/>
    <p:sldId id="281" r:id="rId4"/>
    <p:sldId id="282" r:id="rId5"/>
    <p:sldId id="283" r:id="rId6"/>
    <p:sldId id="284" r:id="rId7"/>
    <p:sldId id="262" r:id="rId8"/>
    <p:sldId id="278" r:id="rId9"/>
    <p:sldId id="279" r:id="rId10"/>
    <p:sldId id="280" r:id="rId11"/>
    <p:sldId id="268" r:id="rId12"/>
    <p:sldId id="267" r:id="rId13"/>
    <p:sldId id="285" r:id="rId14"/>
    <p:sldId id="269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6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3EACA-707A-4B2F-BCCD-443437D2AA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F1EC4-BE44-4ED5-922C-84586E2B69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B988172-C9A4-4042-AEE4-AF14DB782AA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FA94-7D50-4595-8F14-9DF5F52951B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AFDCC-5033-4AEB-B227-A00BCFF1507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1FAC-62CC-44AD-81D0-AAEBB33C3AC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D9A-1B28-4D7E-8E7F-0F585BEDB6C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9501-B489-4F94-ACA0-8AEA33328A0C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B8CD8-8547-4B72-9E03-4A833DDE69C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B670-1BDA-4427-B038-F7677037EB2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4119-748B-4A1A-B780-56DEBE1E736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6323-67E5-4C19-9632-460D3F610A1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F5F-704B-4F96-B334-21796EF6D41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11A-86A4-464C-A441-5E6B2B768C3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95D-8B55-43E3-BA6D-8BC8A28B24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fld id="{D894F807-FF37-4ABB-88DB-118DE713F4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SWAstro" panose="0200040000000000000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实验四 微程序控制器（续）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继续了解微指令是如何工作的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回忆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pic>
        <p:nvPicPr>
          <p:cNvPr id="4" name="图片 3" descr="C:\Users\yju\AppData\Local\Temp\1512562604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09"/>
          <a:stretch>
            <a:fillRect/>
          </a:stretch>
        </p:blipFill>
        <p:spPr bwMode="auto">
          <a:xfrm>
            <a:off x="1024128" y="2782123"/>
            <a:ext cx="5196650" cy="205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内容占位符 3" descr="C:\Users\fofo\AppData\Local\Temp\1512570915(1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79"/>
          <a:stretch>
            <a:fillRect/>
          </a:stretch>
        </p:blipFill>
        <p:spPr bwMode="auto">
          <a:xfrm>
            <a:off x="6901221" y="505205"/>
            <a:ext cx="4936283" cy="58657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</a:t>
            </a:r>
            <a:r>
              <a:rPr lang="zh-CN" altLang="en-US" dirty="0" smtClean="0"/>
              <a:t>条微指令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1861921"/>
          <a:ext cx="10513291" cy="42365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7922"/>
                <a:gridCol w="168965"/>
                <a:gridCol w="1302026"/>
                <a:gridCol w="1928191"/>
                <a:gridCol w="993913"/>
                <a:gridCol w="1033670"/>
                <a:gridCol w="1123122"/>
                <a:gridCol w="2535482"/>
              </a:tblGrid>
              <a:tr h="53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地址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高五位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S3-S0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A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B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C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MA5-MA0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000000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000001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111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01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110000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745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000100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000101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000101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100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110000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000100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110010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00011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110011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00101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110101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110101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再忆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902" y="2559491"/>
            <a:ext cx="8775855" cy="3637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助记符</a:t>
            </a:r>
            <a:r>
              <a:rPr lang="en-US" altLang="zh-CN" dirty="0"/>
              <a:t>	</a:t>
            </a:r>
            <a:r>
              <a:rPr lang="en-US" altLang="zh-CN" dirty="0" smtClean="0"/>
              <a:t>	</a:t>
            </a:r>
            <a:r>
              <a:rPr lang="zh-CN" altLang="en-US" dirty="0" smtClean="0"/>
              <a:t>机器指令</a:t>
            </a:r>
            <a:r>
              <a:rPr lang="zh-CN" altLang="en-US" dirty="0"/>
              <a:t>码</a:t>
            </a:r>
            <a:r>
              <a:rPr lang="en-US" altLang="zh-CN" dirty="0"/>
              <a:t>		</a:t>
            </a:r>
            <a:r>
              <a:rPr lang="zh-CN" altLang="en-US" dirty="0"/>
              <a:t>说明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IN		0010 0000		IN</a:t>
            </a:r>
            <a:r>
              <a:rPr lang="zh-CN" altLang="en-US" dirty="0"/>
              <a:t>→</a:t>
            </a:r>
            <a:r>
              <a:rPr lang="en-US" altLang="zh-CN" dirty="0"/>
              <a:t>R0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STA		</a:t>
            </a:r>
            <a:r>
              <a:rPr lang="en-US" altLang="zh-CN" dirty="0" smtClean="0">
                <a:solidFill>
                  <a:srgbClr val="FF0000"/>
                </a:solidFill>
              </a:rPr>
              <a:t>0001 </a:t>
            </a:r>
            <a:r>
              <a:rPr lang="en-US" altLang="zh-CN" dirty="0">
                <a:solidFill>
                  <a:srgbClr val="FF0000"/>
                </a:solidFill>
              </a:rPr>
              <a:t>0000 		R0</a:t>
            </a:r>
            <a:r>
              <a:rPr lang="zh-CN" altLang="en-US" dirty="0">
                <a:solidFill>
                  <a:srgbClr val="FF0000"/>
                </a:solidFill>
              </a:rPr>
              <a:t>→</a:t>
            </a:r>
            <a:r>
              <a:rPr lang="en-US" altLang="zh-CN" dirty="0">
                <a:solidFill>
                  <a:srgbClr val="FF0000"/>
                </a:solidFill>
              </a:rPr>
              <a:t>00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7030A0"/>
                </a:solidFill>
              </a:rPr>
              <a:t>ADD		0000 0000		R0+[00]</a:t>
            </a:r>
            <a:r>
              <a:rPr lang="zh-CN" altLang="en-US" dirty="0">
                <a:solidFill>
                  <a:srgbClr val="7030A0"/>
                </a:solidFill>
              </a:rPr>
              <a:t>→</a:t>
            </a:r>
            <a:r>
              <a:rPr lang="en-US" altLang="zh-CN" dirty="0" smtClean="0">
                <a:solidFill>
                  <a:srgbClr val="7030A0"/>
                </a:solidFill>
              </a:rPr>
              <a:t>R0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dirty="0"/>
              <a:t>					</a:t>
            </a:r>
            <a:r>
              <a:rPr lang="zh-CN" altLang="en-US" dirty="0"/>
              <a:t>多加几次</a:t>
            </a:r>
            <a:r>
              <a:rPr lang="zh-CN" altLang="en-US" dirty="0" smtClean="0"/>
              <a:t>？</a:t>
            </a:r>
            <a:endParaRPr lang="en-US" altLang="zh-CN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OUT</a:t>
            </a:r>
            <a:r>
              <a:rPr lang="en-US" altLang="zh-CN" dirty="0"/>
              <a:t>		0011 0000		R0</a:t>
            </a:r>
            <a:r>
              <a:rPr lang="zh-CN" altLang="en-US" dirty="0"/>
              <a:t>→</a:t>
            </a:r>
            <a:r>
              <a:rPr lang="en-US" altLang="zh-CN" dirty="0" smtClean="0"/>
              <a:t>OUT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HLT</a:t>
            </a:r>
            <a:r>
              <a:rPr lang="en-US" altLang="zh-CN" dirty="0"/>
              <a:t>		0101	0000		</a:t>
            </a:r>
            <a:r>
              <a:rPr lang="zh-CN" altLang="en-US" dirty="0"/>
              <a:t>停机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163" y="1002419"/>
            <a:ext cx="4652837" cy="5318869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137955"/>
            <a:ext cx="9720072" cy="945410"/>
          </a:xfrm>
        </p:spPr>
        <p:txBody>
          <a:bodyPr/>
          <a:lstStyle/>
          <a:p>
            <a:r>
              <a:rPr lang="en-US" altLang="zh-CN" dirty="0" smtClean="0"/>
              <a:t>11</a:t>
            </a:r>
            <a:r>
              <a:rPr lang="zh-CN" altLang="en-US" dirty="0" smtClean="0"/>
              <a:t>条微指令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1156243"/>
          <a:ext cx="10513291" cy="5449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7922"/>
                <a:gridCol w="168965"/>
                <a:gridCol w="1302026"/>
                <a:gridCol w="1928191"/>
                <a:gridCol w="993913"/>
                <a:gridCol w="1033670"/>
                <a:gridCol w="1123122"/>
                <a:gridCol w="2535482"/>
              </a:tblGrid>
              <a:tr h="53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地址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高五位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S3-S0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A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B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C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MA5-MA0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000000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000001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111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01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110000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745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000100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00011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110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000110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01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000101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100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33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000110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000101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33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010000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00100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01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110000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000100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01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110001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00011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110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010000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110010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00011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011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110011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00101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effectLst/>
                        </a:rPr>
                        <a:t>110101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800" kern="100" dirty="0" smtClean="0">
                          <a:effectLst/>
                        </a:rPr>
                        <a:t>        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8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800" kern="100" dirty="0" smtClean="0">
                          <a:effectLst/>
                        </a:rPr>
                        <a:t>   </a:t>
                      </a:r>
                      <a:r>
                        <a:rPr lang="en-US" sz="2800" kern="100" dirty="0">
                          <a:effectLst/>
                        </a:rPr>
                        <a:t> </a:t>
                      </a: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solidFill>
                            <a:srgbClr val="7030A0"/>
                          </a:solidFill>
                          <a:effectLst/>
                        </a:rPr>
                        <a:t>110101</a:t>
                      </a:r>
                      <a:r>
                        <a:rPr lang="en-US" sz="28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1167872" cy="1499616"/>
          </a:xfrm>
        </p:spPr>
        <p:txBody>
          <a:bodyPr/>
          <a:lstStyle/>
          <a:p>
            <a:r>
              <a:rPr lang="zh-CN" altLang="en-US" dirty="0" smtClean="0"/>
              <a:t>好啦，我们已经做完了准备工作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我们确定了全部的机器指令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我们确定了全部的微指令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可以开始做实验啦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694" y="3103494"/>
            <a:ext cx="2857500" cy="28575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控制存储器的输入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</a:t>
            </a:r>
            <a:r>
              <a:rPr lang="zh-CN" altLang="zh-CN" dirty="0"/>
              <a:t>单元的</a:t>
            </a:r>
            <a:r>
              <a:rPr lang="en-US" altLang="zh-CN" dirty="0"/>
              <a:t>SD05——</a:t>
            </a:r>
            <a:r>
              <a:rPr lang="en-US" altLang="zh-CN" dirty="0" smtClean="0"/>
              <a:t>SD00</a:t>
            </a:r>
            <a:r>
              <a:rPr lang="zh-CN" altLang="en-US" dirty="0" smtClean="0"/>
              <a:t>用来</a:t>
            </a:r>
            <a:r>
              <a:rPr lang="zh-CN" altLang="zh-CN" dirty="0" smtClean="0"/>
              <a:t>给出</a:t>
            </a:r>
            <a:r>
              <a:rPr lang="zh-CN" altLang="en-US" dirty="0" smtClean="0"/>
              <a:t>（初始）</a:t>
            </a:r>
            <a:r>
              <a:rPr lang="zh-CN" altLang="zh-CN" dirty="0" smtClean="0"/>
              <a:t>微地址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IN</a:t>
            </a:r>
            <a:r>
              <a:rPr lang="zh-CN" altLang="zh-CN" dirty="0" smtClean="0"/>
              <a:t>单元</a:t>
            </a:r>
            <a:r>
              <a:rPr lang="zh-CN" altLang="en-US" dirty="0" smtClean="0"/>
              <a:t>用来</a:t>
            </a:r>
            <a:r>
              <a:rPr lang="zh-CN" altLang="zh-CN" dirty="0" smtClean="0"/>
              <a:t>给出应</a:t>
            </a:r>
            <a:r>
              <a:rPr lang="zh-CN" altLang="zh-CN" dirty="0"/>
              <a:t>写入的</a:t>
            </a:r>
            <a:r>
              <a:rPr lang="zh-CN" altLang="zh-CN" dirty="0" smtClean="0"/>
              <a:t>数据</a:t>
            </a:r>
            <a:endParaRPr lang="en-US" altLang="zh-CN" dirty="0" smtClean="0"/>
          </a:p>
          <a:p>
            <a:pPr lvl="1"/>
            <a:r>
              <a:rPr lang="zh-CN" altLang="en-US" dirty="0"/>
              <a:t>一</a:t>
            </a:r>
            <a:r>
              <a:rPr lang="zh-CN" altLang="en-US" dirty="0" smtClean="0"/>
              <a:t>条微指令</a:t>
            </a:r>
            <a:r>
              <a:rPr lang="en-US" altLang="zh-CN" dirty="0" smtClean="0"/>
              <a:t>24</a:t>
            </a:r>
            <a:r>
              <a:rPr lang="zh-CN" altLang="en-US" dirty="0" smtClean="0"/>
              <a:t>位，分成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位写入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不用接线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 rotWithShape="1"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37" b="6428"/>
          <a:stretch>
            <a:fillRect/>
          </a:stretch>
        </p:blipFill>
        <p:spPr>
          <a:xfrm>
            <a:off x="5117679" y="2822712"/>
            <a:ext cx="6252686" cy="362661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317435" y="4562061"/>
            <a:ext cx="5098774" cy="367747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时序与操作台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39" b="9101"/>
          <a:stretch>
            <a:fillRect/>
          </a:stretch>
        </p:blipFill>
        <p:spPr>
          <a:xfrm>
            <a:off x="2720110" y="1690688"/>
            <a:ext cx="7560159" cy="4505455"/>
          </a:xfrm>
        </p:spPr>
      </p:pic>
      <p:sp>
        <p:nvSpPr>
          <p:cNvPr id="5" name="圆角矩形标注 4"/>
          <p:cNvSpPr/>
          <p:nvPr/>
        </p:nvSpPr>
        <p:spPr>
          <a:xfrm>
            <a:off x="0" y="3943415"/>
            <a:ext cx="1848678" cy="1461053"/>
          </a:xfrm>
          <a:prstGeom prst="wedgeRoundRectCallout">
            <a:avLst>
              <a:gd name="adj1" fmla="val 135571"/>
              <a:gd name="adj2" fmla="val 57169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停止状态时按动</a:t>
            </a:r>
            <a:r>
              <a:rPr lang="en-US" altLang="zh-CN" dirty="0" smtClean="0">
                <a:solidFill>
                  <a:schemeClr val="tx1"/>
                </a:solidFill>
              </a:rPr>
              <a:t>ST</a:t>
            </a:r>
            <a:r>
              <a:rPr lang="zh-CN" altLang="en-US" dirty="0" smtClean="0">
                <a:solidFill>
                  <a:schemeClr val="tx1"/>
                </a:solidFill>
              </a:rPr>
              <a:t>不产生</a:t>
            </a:r>
            <a:r>
              <a:rPr lang="en-US" altLang="zh-CN" dirty="0" smtClean="0">
                <a:solidFill>
                  <a:schemeClr val="tx1"/>
                </a:solidFill>
              </a:rPr>
              <a:t>T1-T4</a:t>
            </a:r>
            <a:r>
              <a:rPr lang="zh-CN" altLang="en-US" dirty="0" smtClean="0">
                <a:solidFill>
                  <a:schemeClr val="tx1"/>
                </a:solidFill>
              </a:rPr>
              <a:t>，而是控制（控制）存储器的读写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188843" y="2515117"/>
            <a:ext cx="1471200" cy="665922"/>
          </a:xfrm>
          <a:prstGeom prst="wedgeRoundRectCallout">
            <a:avLst>
              <a:gd name="adj1" fmla="val 254920"/>
              <a:gd name="adj2" fmla="val 37891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控制</a:t>
            </a:r>
            <a:r>
              <a:rPr lang="en-US" altLang="zh-CN" dirty="0" smtClean="0">
                <a:solidFill>
                  <a:schemeClr val="tx1"/>
                </a:solidFill>
              </a:rPr>
              <a:t>T1-T4</a:t>
            </a:r>
            <a:r>
              <a:rPr lang="zh-CN" altLang="en-US" dirty="0" smtClean="0">
                <a:solidFill>
                  <a:schemeClr val="tx1"/>
                </a:solidFill>
              </a:rPr>
              <a:t>产生的方式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4989443" y="725557"/>
            <a:ext cx="1779485" cy="868534"/>
          </a:xfrm>
          <a:prstGeom prst="wedgeRoundRectCallout">
            <a:avLst>
              <a:gd name="adj1" fmla="val -19785"/>
              <a:gd name="adj2" fmla="val 404377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确定（控制）存储器进行读、写还是运行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6950764" y="828778"/>
            <a:ext cx="1626705" cy="665922"/>
          </a:xfrm>
          <a:prstGeom prst="wedgeRoundRectCallout">
            <a:avLst>
              <a:gd name="adj1" fmla="val -88026"/>
              <a:gd name="adj2" fmla="val 537127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选择控制对象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9014791" y="799997"/>
            <a:ext cx="1639957" cy="665922"/>
          </a:xfrm>
          <a:prstGeom prst="wedgeRoundRectCallout">
            <a:avLst>
              <a:gd name="adj1" fmla="val -170511"/>
              <a:gd name="adj2" fmla="val 513246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以字节为单位控制写入位置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049146" y="725557"/>
            <a:ext cx="738664" cy="568518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7030A0"/>
                </a:solidFill>
              </a:rPr>
              <a:t>详见用户手册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12-14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页</a:t>
            </a:r>
            <a:endParaRPr lang="zh-CN" alt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提示（不论编程还是校验）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024128" y="2286000"/>
            <a:ext cx="10415811" cy="402336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给</a:t>
            </a:r>
            <a:r>
              <a:rPr lang="zh-CN" altLang="en-US" dirty="0" smtClean="0"/>
              <a:t>出微地址</a:t>
            </a:r>
            <a:endParaRPr lang="en-US" altLang="zh-CN" dirty="0" smtClean="0"/>
          </a:p>
          <a:p>
            <a:r>
              <a:rPr lang="zh-CN" altLang="en-US" dirty="0"/>
              <a:t>置</a:t>
            </a:r>
            <a:r>
              <a:rPr lang="zh-CN" altLang="en-US" dirty="0" smtClean="0"/>
              <a:t>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按两次</a:t>
            </a:r>
            <a:r>
              <a:rPr lang="en-US" altLang="zh-CN" dirty="0" smtClean="0"/>
              <a:t>ST</a:t>
            </a:r>
            <a:r>
              <a:rPr lang="zh-CN" altLang="en-US" dirty="0" smtClean="0"/>
              <a:t>（</a:t>
            </a:r>
            <a:r>
              <a:rPr lang="zh-CN" altLang="en-US" dirty="0"/>
              <a:t>输入或输出该微地址中微指令的最低</a:t>
            </a:r>
            <a:r>
              <a:rPr lang="en-US" altLang="zh-CN" dirty="0"/>
              <a:t>8</a:t>
            </a:r>
            <a:r>
              <a:rPr lang="zh-CN" altLang="en-US" dirty="0" smtClean="0"/>
              <a:t>位）</a:t>
            </a:r>
            <a:endParaRPr lang="en-US" altLang="zh-CN" dirty="0" smtClean="0"/>
          </a:p>
          <a:p>
            <a:r>
              <a:rPr lang="en-US" altLang="zh-CN" dirty="0" smtClean="0"/>
              <a:t>+1</a:t>
            </a:r>
            <a:endParaRPr lang="en-US" altLang="zh-CN" dirty="0" smtClean="0"/>
          </a:p>
          <a:p>
            <a:pPr lvl="1"/>
            <a:r>
              <a:rPr lang="zh-CN" altLang="en-US" dirty="0"/>
              <a:t>按两次</a:t>
            </a:r>
            <a:r>
              <a:rPr lang="en-US" altLang="zh-CN" dirty="0"/>
              <a:t>ST</a:t>
            </a:r>
            <a:r>
              <a:rPr lang="zh-CN" altLang="en-US" dirty="0"/>
              <a:t>（输入或输出该微地址中微指令</a:t>
            </a:r>
            <a:r>
              <a:rPr lang="zh-CN" altLang="en-US" dirty="0" smtClean="0"/>
              <a:t>的中间</a:t>
            </a:r>
            <a:r>
              <a:rPr lang="en-US" altLang="zh-CN" dirty="0" smtClean="0"/>
              <a:t>8</a:t>
            </a:r>
            <a:r>
              <a:rPr lang="zh-CN" altLang="en-US" dirty="0"/>
              <a:t>位）</a:t>
            </a:r>
            <a:endParaRPr lang="en-US" altLang="zh-CN" dirty="0"/>
          </a:p>
          <a:p>
            <a:pPr lvl="1"/>
            <a:r>
              <a:rPr lang="zh-CN" altLang="en-US" dirty="0"/>
              <a:t>按两次</a:t>
            </a:r>
            <a:r>
              <a:rPr lang="en-US" altLang="zh-CN" dirty="0"/>
              <a:t>ST</a:t>
            </a:r>
            <a:r>
              <a:rPr lang="zh-CN" altLang="en-US" dirty="0"/>
              <a:t>（输入或输出该微地址中微指令的</a:t>
            </a:r>
            <a:r>
              <a:rPr lang="zh-CN" altLang="en-US" dirty="0" smtClean="0"/>
              <a:t>最高</a:t>
            </a:r>
            <a:r>
              <a:rPr lang="en-US" altLang="zh-CN" dirty="0" smtClean="0"/>
              <a:t>8</a:t>
            </a:r>
            <a:r>
              <a:rPr lang="zh-CN" altLang="en-US" dirty="0"/>
              <a:t>位）</a:t>
            </a:r>
            <a:endParaRPr lang="en-US" altLang="zh-CN" dirty="0"/>
          </a:p>
          <a:p>
            <a:pPr lvl="1"/>
            <a:r>
              <a:rPr lang="zh-CN" altLang="en-US" dirty="0"/>
              <a:t>按两次</a:t>
            </a:r>
            <a:r>
              <a:rPr lang="en-US" altLang="zh-CN" dirty="0"/>
              <a:t>ST</a:t>
            </a:r>
            <a:r>
              <a:rPr lang="zh-CN" altLang="en-US" dirty="0"/>
              <a:t>（输入或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+1</a:t>
            </a:r>
            <a:r>
              <a:rPr lang="zh-CN" altLang="en-US" dirty="0" smtClean="0"/>
              <a:t>微</a:t>
            </a:r>
            <a:r>
              <a:rPr lang="zh-CN" altLang="en-US" dirty="0"/>
              <a:t>地址中微指令的最低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zh-CN" altLang="en-US" dirty="0" smtClean="0"/>
              <a:t>）</a:t>
            </a:r>
            <a:r>
              <a:rPr lang="en-US" altLang="zh-CN" dirty="0" smtClean="0"/>
              <a:t>……</a:t>
            </a:r>
            <a:endParaRPr lang="en-US" altLang="zh-CN" dirty="0"/>
          </a:p>
          <a:p>
            <a:pPr lvl="1"/>
            <a:endParaRPr lang="en-US" altLang="zh-CN" sz="2200" dirty="0"/>
          </a:p>
          <a:p>
            <a:pPr marL="128270" lvl="1" indent="0">
              <a:buNone/>
            </a:pPr>
            <a:r>
              <a:rPr lang="zh-CN" altLang="en-US" sz="2200" dirty="0"/>
              <a:t>或者</a:t>
            </a:r>
            <a:r>
              <a:rPr lang="zh-CN" altLang="en-US" sz="2200" dirty="0"/>
              <a:t>换个微</a:t>
            </a:r>
            <a:r>
              <a:rPr lang="zh-CN" altLang="en-US" sz="2200" dirty="0"/>
              <a:t>地址再次置数</a:t>
            </a:r>
            <a:endParaRPr lang="en-US" altLang="zh-CN" sz="2200" dirty="0"/>
          </a:p>
          <a:p>
            <a:endParaRPr lang="en-US" altLang="zh-CN" dirty="0"/>
          </a:p>
          <a:p>
            <a:r>
              <a:rPr lang="zh-CN" altLang="en-US" b="1" dirty="0" smtClean="0">
                <a:solidFill>
                  <a:srgbClr val="7030A0"/>
                </a:solidFill>
              </a:rPr>
              <a:t>通过</a:t>
            </a:r>
            <a:r>
              <a:rPr lang="en-US" altLang="zh-CN" b="1" dirty="0" smtClean="0">
                <a:solidFill>
                  <a:srgbClr val="7030A0"/>
                </a:solidFill>
              </a:rPr>
              <a:t>MA5-MA0</a:t>
            </a:r>
            <a:r>
              <a:rPr lang="zh-CN" altLang="en-US" b="1" dirty="0" smtClean="0">
                <a:solidFill>
                  <a:srgbClr val="7030A0"/>
                </a:solidFill>
              </a:rPr>
              <a:t>指示灯可以看出与当前读写的微指令地址</a:t>
            </a:r>
            <a:endParaRPr lang="en-US" altLang="zh-CN" b="1" dirty="0" smtClean="0">
              <a:solidFill>
                <a:srgbClr val="7030A0"/>
              </a:solidFill>
            </a:endParaRPr>
          </a:p>
          <a:p>
            <a:r>
              <a:rPr lang="zh-CN" altLang="en-US" b="1" dirty="0" smtClean="0">
                <a:solidFill>
                  <a:srgbClr val="7030A0"/>
                </a:solidFill>
              </a:rPr>
              <a:t>通过</a:t>
            </a:r>
            <a:r>
              <a:rPr lang="en-US" altLang="zh-CN" b="1" dirty="0" smtClean="0">
                <a:solidFill>
                  <a:srgbClr val="7030A0"/>
                </a:solidFill>
              </a:rPr>
              <a:t>MC2-MC0</a:t>
            </a:r>
            <a:r>
              <a:rPr lang="zh-CN" altLang="en-US" b="1" dirty="0" smtClean="0">
                <a:solidFill>
                  <a:srgbClr val="7030A0"/>
                </a:solidFill>
              </a:rPr>
              <a:t>指示灯可以看出当前读写的是微指令的哪个字节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实验中连线需要涉及的单元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3"/>
          </p:nvPr>
        </p:nvSpPr>
        <p:spPr>
          <a:xfrm>
            <a:off x="1828800" y="2041860"/>
            <a:ext cx="3289852" cy="4566004"/>
          </a:xfrm>
        </p:spPr>
        <p:txBody>
          <a:bodyPr>
            <a:norm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单元</a:t>
            </a:r>
            <a:endParaRPr lang="en-US" altLang="zh-CN" dirty="0"/>
          </a:p>
          <a:p>
            <a:r>
              <a:rPr lang="en-US" altLang="zh-CN" dirty="0" smtClean="0"/>
              <a:t>OUT</a:t>
            </a:r>
            <a:r>
              <a:rPr lang="zh-CN" altLang="en-US" dirty="0" smtClean="0"/>
              <a:t>单元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7030A0"/>
                </a:solidFill>
              </a:rPr>
              <a:t>CON</a:t>
            </a:r>
            <a:r>
              <a:rPr lang="zh-CN" altLang="en-US" b="1" dirty="0">
                <a:solidFill>
                  <a:srgbClr val="7030A0"/>
                </a:solidFill>
              </a:rPr>
              <a:t>单元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zh-CN" altLang="en-US" dirty="0"/>
              <a:t>时序与</a:t>
            </a:r>
            <a:r>
              <a:rPr lang="zh-CN" altLang="en-US" dirty="0" smtClean="0"/>
              <a:t>操作台</a:t>
            </a:r>
            <a:endParaRPr lang="en-US" altLang="zh-CN" dirty="0" smtClean="0"/>
          </a:p>
          <a:p>
            <a:r>
              <a:rPr lang="zh-CN" altLang="en-US" dirty="0" smtClean="0"/>
              <a:t>扩展单元</a:t>
            </a:r>
            <a:endParaRPr lang="en-US" altLang="zh-CN" dirty="0" smtClean="0"/>
          </a:p>
          <a:p>
            <a:r>
              <a:rPr lang="zh-CN" altLang="en-US" dirty="0" smtClean="0"/>
              <a:t>控制总线</a:t>
            </a:r>
            <a:endParaRPr lang="en-US" altLang="zh-CN" dirty="0" smtClean="0"/>
          </a:p>
          <a:p>
            <a:r>
              <a:rPr lang="en-US" altLang="zh-CN" dirty="0" smtClean="0"/>
              <a:t>IR</a:t>
            </a:r>
            <a:r>
              <a:rPr lang="zh-CN" altLang="en-US" dirty="0" smtClean="0"/>
              <a:t>单元</a:t>
            </a:r>
            <a:endParaRPr lang="en-US" altLang="zh-CN" dirty="0" smtClean="0"/>
          </a:p>
          <a:p>
            <a:r>
              <a:rPr lang="en-US" altLang="zh-CN" dirty="0" smtClean="0"/>
              <a:t>MC</a:t>
            </a:r>
            <a:r>
              <a:rPr lang="zh-CN" altLang="en-US" dirty="0" smtClean="0"/>
              <a:t>单元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MEM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单元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PC&amp;AR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单元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 smtClean="0"/>
              <a:t>数据总线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地址总线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en-US" altLang="zh-CN" dirty="0"/>
              <a:t>ALU&amp;REG</a:t>
            </a:r>
            <a:r>
              <a:rPr lang="zh-CN" altLang="en-US" dirty="0" smtClean="0"/>
              <a:t>单元</a:t>
            </a:r>
            <a:endParaRPr lang="en-US" altLang="zh-CN" dirty="0" smtClean="0"/>
          </a:p>
          <a:p>
            <a:r>
              <a:rPr lang="en-US" altLang="zh-CN" dirty="0"/>
              <a:t>CPU</a:t>
            </a:r>
            <a:r>
              <a:rPr lang="zh-CN" altLang="en-US" dirty="0"/>
              <a:t>内总线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95D-8B55-43E3-BA6D-8BC8A28B24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8391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控制信号不再来自于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单元</a:t>
            </a:r>
            <a:b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而是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MC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单元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37" b="6428"/>
          <a:stretch>
            <a:fillRect/>
          </a:stretch>
        </p:blipFill>
        <p:spPr>
          <a:xfrm>
            <a:off x="2140433" y="1828801"/>
            <a:ext cx="7828515" cy="4540606"/>
          </a:xfr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一个坑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pic>
        <p:nvPicPr>
          <p:cNvPr id="4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244" y="2286000"/>
            <a:ext cx="6271649" cy="402272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9" t="5426" r="10430" b="3174"/>
          <a:stretch>
            <a:fillRect/>
          </a:stretch>
        </p:blipFill>
        <p:spPr bwMode="auto">
          <a:xfrm rot="5400000">
            <a:off x="2831046" y="-2479863"/>
            <a:ext cx="6453045" cy="11770103"/>
          </a:xfrm>
          <a:prstGeom prst="rect">
            <a:avLst/>
          </a:prstGeom>
          <a:ln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LDRi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RS_B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35807"/>
            <a:ext cx="5056377" cy="3848767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505" y="1935807"/>
            <a:ext cx="5922475" cy="47505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IR</a:t>
            </a:r>
            <a:r>
              <a:rPr lang="zh-CN" altLang="en-US" dirty="0" smtClean="0"/>
              <a:t>单元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4" b="14278"/>
          <a:stretch>
            <a:fillRect/>
          </a:stretch>
        </p:blipFill>
        <p:spPr>
          <a:xfrm rot="5400000">
            <a:off x="2257307" y="2000818"/>
            <a:ext cx="6090436" cy="3309731"/>
          </a:xfr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在控制存储器存入所需的</a:t>
            </a:r>
            <a:r>
              <a:rPr lang="zh-CN" altLang="en-US" dirty="0" smtClean="0"/>
              <a:t>微指令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连通所需的控制信号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 smtClean="0"/>
              <a:t>从</a:t>
            </a:r>
            <a:r>
              <a:rPr lang="en-US" altLang="zh-CN" dirty="0" smtClean="0"/>
              <a:t>00</a:t>
            </a:r>
            <a:r>
              <a:rPr lang="zh-CN" altLang="en-US" dirty="0" smtClean="0"/>
              <a:t>开始运行微指令，在</a:t>
            </a:r>
            <a:r>
              <a:rPr lang="zh-CN" altLang="en-US" b="1" dirty="0" smtClean="0">
                <a:solidFill>
                  <a:srgbClr val="7030A0"/>
                </a:solidFill>
              </a:rPr>
              <a:t>适当的时候，从</a:t>
            </a:r>
            <a:r>
              <a:rPr lang="en-US" altLang="zh-CN" b="1" dirty="0">
                <a:solidFill>
                  <a:srgbClr val="7030A0"/>
                </a:solidFill>
              </a:rPr>
              <a:t>SD27…SD20</a:t>
            </a:r>
            <a:r>
              <a:rPr lang="zh-CN" altLang="en-US" dirty="0" smtClean="0"/>
              <a:t>给出适当机器指令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观察微指令逐条运行的过程，体会微指令的工作原理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实验内容</a:t>
            </a:r>
            <a:r>
              <a:rPr lang="zh-CN" altLang="en-US" dirty="0"/>
              <a:t>一</a:t>
            </a:r>
            <a:endParaRPr lang="zh-CN" altLang="en-US" dirty="0"/>
          </a:p>
        </p:txBody>
      </p:sp>
      <p:pic>
        <p:nvPicPr>
          <p:cNvPr id="6" name="图片 5" descr="C:\Users\yju\AppData\Local\Temp\1512562604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09"/>
          <a:stretch>
            <a:fillRect/>
          </a:stretch>
        </p:blipFill>
        <p:spPr bwMode="auto">
          <a:xfrm>
            <a:off x="2370340" y="2642975"/>
            <a:ext cx="7896781" cy="333044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1024128" y="2084832"/>
            <a:ext cx="4754880" cy="4023360"/>
          </a:xfrm>
        </p:spPr>
        <p:txBody>
          <a:bodyPr/>
          <a:lstStyle/>
          <a:p>
            <a:r>
              <a:rPr lang="zh-CN" altLang="en-US" dirty="0" smtClean="0"/>
              <a:t>逐条运行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实验内容二</a:t>
            </a:r>
            <a:endParaRPr lang="zh-CN" altLang="en-US" dirty="0"/>
          </a:p>
        </p:txBody>
      </p:sp>
      <p:sp>
        <p:nvSpPr>
          <p:cNvPr id="7" name="内容占位符 4"/>
          <p:cNvSpPr txBox="1"/>
          <p:nvPr/>
        </p:nvSpPr>
        <p:spPr>
          <a:xfrm>
            <a:off x="1123121" y="1974712"/>
            <a:ext cx="9790043" cy="41577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助记符</a:t>
            </a:r>
            <a:r>
              <a:rPr lang="en-US" altLang="zh-CN" dirty="0" smtClean="0"/>
              <a:t>	</a:t>
            </a:r>
            <a:r>
              <a:rPr lang="zh-CN" altLang="en-US" dirty="0" smtClean="0"/>
              <a:t>机器指令码</a:t>
            </a:r>
            <a:r>
              <a:rPr lang="en-US" altLang="zh-CN" dirty="0" smtClean="0"/>
              <a:t>			</a:t>
            </a:r>
            <a:r>
              <a:rPr lang="zh-CN" altLang="en-US" dirty="0" smtClean="0"/>
              <a:t>说明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	IN		0010 0000		IN</a:t>
            </a:r>
            <a:r>
              <a:rPr lang="zh-CN" altLang="en-US" dirty="0" smtClean="0"/>
              <a:t>→</a:t>
            </a:r>
            <a:r>
              <a:rPr lang="en-US" altLang="zh-CN" dirty="0" smtClean="0"/>
              <a:t>R0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	</a:t>
            </a:r>
            <a:r>
              <a:rPr lang="en-US" altLang="zh-CN" dirty="0" smtClean="0">
                <a:solidFill>
                  <a:srgbClr val="FF0000"/>
                </a:solidFill>
              </a:rPr>
              <a:t>STA		0001 0000		R0</a:t>
            </a:r>
            <a:r>
              <a:rPr lang="zh-CN" altLang="en-US" dirty="0" smtClean="0">
                <a:solidFill>
                  <a:srgbClr val="FF0000"/>
                </a:solidFill>
              </a:rPr>
              <a:t>→</a:t>
            </a:r>
            <a:r>
              <a:rPr lang="en-US" altLang="zh-CN" dirty="0" smtClean="0">
                <a:solidFill>
                  <a:srgbClr val="FF0000"/>
                </a:solidFill>
              </a:rPr>
              <a:t>00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	</a:t>
            </a:r>
            <a:r>
              <a:rPr lang="en-US" altLang="zh-CN" dirty="0" smtClean="0">
                <a:solidFill>
                  <a:srgbClr val="7030A0"/>
                </a:solidFill>
              </a:rPr>
              <a:t>ADD		0000 0000		R0+[00]</a:t>
            </a:r>
            <a:r>
              <a:rPr lang="zh-CN" altLang="en-US" dirty="0" smtClean="0">
                <a:solidFill>
                  <a:srgbClr val="7030A0"/>
                </a:solidFill>
              </a:rPr>
              <a:t>→</a:t>
            </a:r>
            <a:r>
              <a:rPr lang="en-US" altLang="zh-CN" dirty="0" smtClean="0">
                <a:solidFill>
                  <a:srgbClr val="7030A0"/>
                </a:solidFill>
              </a:rPr>
              <a:t>R0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						</a:t>
            </a:r>
            <a:r>
              <a:rPr lang="zh-CN" altLang="en-US" dirty="0"/>
              <a:t>多加几次</a:t>
            </a:r>
            <a:r>
              <a:rPr lang="zh-CN" altLang="en-US" dirty="0" smtClean="0"/>
              <a:t>？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	OUT		0011 0000		R0</a:t>
            </a:r>
            <a:r>
              <a:rPr lang="zh-CN" altLang="en-US" dirty="0" smtClean="0"/>
              <a:t>→</a:t>
            </a:r>
            <a:r>
              <a:rPr lang="en-US" altLang="zh-CN" dirty="0" smtClean="0"/>
              <a:t>OUT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	HLT		0101	0000			</a:t>
            </a:r>
            <a:r>
              <a:rPr lang="zh-CN" altLang="en-US" dirty="0" smtClean="0"/>
              <a:t>停机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如果希望在</a:t>
            </a:r>
            <a:r>
              <a:rPr lang="en-US" altLang="zh-CN" dirty="0" smtClean="0"/>
              <a:t>R0</a:t>
            </a:r>
            <a:r>
              <a:rPr lang="zh-CN" altLang="en-US" dirty="0" smtClean="0"/>
              <a:t>中存数之后检验一下</a:t>
            </a:r>
            <a:r>
              <a:rPr lang="en-US" altLang="zh-CN" dirty="0" smtClean="0"/>
              <a:t>R0</a:t>
            </a:r>
            <a:r>
              <a:rPr lang="zh-CN" altLang="en-US" dirty="0" smtClean="0"/>
              <a:t>的内容应该如何操作？如果希望能将</a:t>
            </a:r>
            <a:r>
              <a:rPr lang="en-US" altLang="zh-CN" dirty="0" smtClean="0"/>
              <a:t>R0</a:t>
            </a:r>
            <a:r>
              <a:rPr lang="zh-CN" altLang="en-US" dirty="0" smtClean="0"/>
              <a:t>进行</a:t>
            </a:r>
            <a:r>
              <a:rPr lang="en-US" altLang="zh-CN" dirty="0" smtClean="0"/>
              <a:t>3</a:t>
            </a:r>
            <a:r>
              <a:rPr lang="zh-CN" altLang="en-US" dirty="0" smtClean="0"/>
              <a:t>次翻倍后再输出应该如何操作？如果希望将</a:t>
            </a:r>
            <a:r>
              <a:rPr lang="en-US" altLang="zh-CN" dirty="0" smtClean="0"/>
              <a:t>R0</a:t>
            </a:r>
            <a:r>
              <a:rPr lang="zh-CN" altLang="en-US" dirty="0" smtClean="0"/>
              <a:t>多次翻倍，每次翻倍都进行输出又该如何操作？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2.T2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T3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T4</a:t>
            </a:r>
            <a:r>
              <a:rPr lang="zh-CN" altLang="en-US" dirty="0" smtClean="0"/>
              <a:t>脉冲分别实现那些操作？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3.</a:t>
            </a:r>
            <a:r>
              <a:rPr lang="zh-CN" altLang="en-US" dirty="0" smtClean="0"/>
              <a:t>实验内容二需要增加哪些连线？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SWAstro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Prin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2097</Words>
  <Application>WPS 演示</Application>
  <PresentationFormat>宽屏</PresentationFormat>
  <Paragraphs>498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SWAstro</vt:lpstr>
      <vt:lpstr>Tw Cen MT</vt:lpstr>
      <vt:lpstr>Segoe Print</vt:lpstr>
      <vt:lpstr>Wingdings 3</vt:lpstr>
      <vt:lpstr>等线</vt:lpstr>
      <vt:lpstr>Times New Roman</vt:lpstr>
      <vt:lpstr>华文仿宋</vt:lpstr>
      <vt:lpstr>微软雅黑</vt:lpstr>
      <vt:lpstr>Arial Unicode MS</vt:lpstr>
      <vt:lpstr>积分</vt:lpstr>
      <vt:lpstr>实验四 微程序控制器（续）</vt:lpstr>
      <vt:lpstr>回忆……</vt:lpstr>
      <vt:lpstr>8条微指令</vt:lpstr>
      <vt:lpstr>再忆……</vt:lpstr>
      <vt:lpstr>11条微指令</vt:lpstr>
      <vt:lpstr>好啦，我们已经做完了准备工作……</vt:lpstr>
      <vt:lpstr>控制存储器的输入</vt:lpstr>
      <vt:lpstr>时序与操作台</vt:lpstr>
      <vt:lpstr>提示（不论编程还是校验）</vt:lpstr>
      <vt:lpstr>实验中连线需要涉及的单元</vt:lpstr>
      <vt:lpstr>控制信号不再来自于CON单元 而是MC单元</vt:lpstr>
      <vt:lpstr>一个坑……</vt:lpstr>
      <vt:lpstr>PowerPoint 演示文稿</vt:lpstr>
      <vt:lpstr>关于LDRi和RS_B</vt:lpstr>
      <vt:lpstr>IR单元</vt:lpstr>
      <vt:lpstr>实验步骤</vt:lpstr>
      <vt:lpstr>实验内容一</vt:lpstr>
      <vt:lpstr>实验内容二</vt:lpstr>
      <vt:lpstr>思考题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fifo</dc:creator>
  <cp:lastModifiedBy>花师小哲</cp:lastModifiedBy>
  <cp:revision>60</cp:revision>
  <dcterms:created xsi:type="dcterms:W3CDTF">2017-12-11T08:47:00Z</dcterms:created>
  <dcterms:modified xsi:type="dcterms:W3CDTF">2019-12-12T19:04:29Z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