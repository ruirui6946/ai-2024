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276" r:id="rId4"/>
    <p:sldId id="257" r:id="rId5"/>
    <p:sldId id="258" r:id="rId6"/>
    <p:sldId id="277" r:id="rId7"/>
    <p:sldId id="259" r:id="rId8"/>
    <p:sldId id="261" r:id="rId9"/>
    <p:sldId id="260" r:id="rId10"/>
    <p:sldId id="262" r:id="rId11"/>
    <p:sldId id="263" r:id="rId12"/>
    <p:sldId id="264" r:id="rId13"/>
    <p:sldId id="266" r:id="rId14"/>
    <p:sldId id="270" r:id="rId15"/>
    <p:sldId id="275" r:id="rId16"/>
    <p:sldId id="265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3259725-4E59-40C8-AD91-CFDC2B533B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59725-4E59-40C8-AD91-CFDC2B533B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59725-4E59-40C8-AD91-CFDC2B533B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59725-4E59-40C8-AD91-CFDC2B533B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59725-4E59-40C8-AD91-CFDC2B533B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59725-4E59-40C8-AD91-CFDC2B533B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59725-4E59-40C8-AD91-CFDC2B533B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59725-4E59-40C8-AD91-CFDC2B533B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59725-4E59-40C8-AD91-CFDC2B533B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59725-4E59-40C8-AD91-CFDC2B533B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59725-4E59-40C8-AD91-CFDC2B533B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SWAstro" panose="02000400000000000000" charset="0"/>
              </a:defRPr>
            </a:lvl1pPr>
          </a:lstStyle>
          <a:p>
            <a:fld id="{A3259725-4E59-40C8-AD91-CFDC2B533B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SWAstro" panose="020004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SWAstro" panose="02000400000000000000" charset="0"/>
              </a:defRPr>
            </a:lvl1pPr>
          </a:lstStyle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SWAstro" panose="02000400000000000000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8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实验四 微程序控制器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了解微指令是如何工作的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微程序控制器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8" t="21996" r="21172" b="21670"/>
          <a:stretch>
            <a:fillRect/>
          </a:stretch>
        </p:blipFill>
        <p:spPr bwMode="auto">
          <a:xfrm>
            <a:off x="1749921" y="2408481"/>
            <a:ext cx="7837423" cy="433406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本次实验的主要内容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分解执行</a:t>
            </a:r>
            <a:r>
              <a:rPr lang="en-US" altLang="zh-CN" dirty="0" smtClean="0"/>
              <a:t>4</a:t>
            </a:r>
            <a:r>
              <a:rPr lang="zh-CN" altLang="en-US" dirty="0" smtClean="0"/>
              <a:t>条机器指令</a:t>
            </a:r>
            <a:endParaRPr lang="zh-CN" altLang="en-US" dirty="0"/>
          </a:p>
        </p:txBody>
      </p:sp>
      <p:pic>
        <p:nvPicPr>
          <p:cNvPr id="6" name="图片 5" descr="C:\Users\yju\AppData\Local\Temp\1512562604(1).pn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577" y="2841395"/>
            <a:ext cx="7987059" cy="2663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C4C273A-9877-4272-BD36-56D259265331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55299" name="Rectangle 2"/>
          <p:cNvSpPr>
            <a:spLocks noChangeArrowheads="1"/>
          </p:cNvSpPr>
          <p:nvPr/>
        </p:nvSpPr>
        <p:spPr bwMode="auto">
          <a:xfrm>
            <a:off x="3108326" y="153988"/>
            <a:ext cx="5813425" cy="5334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</a:gradFill>
          <a:ln>
            <a:noFill/>
          </a:ln>
          <a:effectLst>
            <a:outerShdw sy="50000" kx="-2453608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kumimoji="1" lang="zh-CN" altLang="en-US" sz="320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机器指令与微指令的关系</a:t>
            </a:r>
            <a:endParaRPr kumimoji="1" lang="zh-CN" altLang="en-US" sz="3200">
              <a:solidFill>
                <a:srgbClr val="FF33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1605829" y="1889559"/>
            <a:ext cx="848995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、一条机器指令对应一个微程序；一条机器指令所完成的操作划分为若干条微指令完成；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、指令存放在存储器中；微指令存放在控制存储器中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、一个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周期对应一条微指令，一个指令周期至少包含两个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周期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数据通路</a:t>
            </a:r>
            <a:endParaRPr lang="zh-CN" altLang="en-US" dirty="0"/>
          </a:p>
        </p:txBody>
      </p:sp>
      <p:pic>
        <p:nvPicPr>
          <p:cNvPr id="4" name="内容占位符 3" descr="C:\Users\yju\AppData\Local\Temp\1512562693(1).png"/>
          <p:cNvPicPr>
            <a:picLocks noGrp="1"/>
          </p:cNvPicPr>
          <p:nvPr>
            <p:ph idx="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35"/>
          <a:stretch>
            <a:fillRect/>
          </a:stretch>
        </p:blipFill>
        <p:spPr bwMode="auto">
          <a:xfrm>
            <a:off x="2152680" y="1839704"/>
            <a:ext cx="7822593" cy="501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条机器指令所对应的微程序</a:t>
            </a:r>
            <a:endParaRPr lang="zh-CN" altLang="en-US" dirty="0"/>
          </a:p>
        </p:txBody>
      </p:sp>
      <p:pic>
        <p:nvPicPr>
          <p:cNvPr id="4" name="内容占位符 3" descr="C:\Users\fofo\AppData\Local\Temp\1512570915(1).png"/>
          <p:cNvPicPr>
            <a:picLocks noGrp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965" y="1615032"/>
            <a:ext cx="3842979" cy="524296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8629072" y="2680577"/>
            <a:ext cx="2115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</a:rPr>
              <a:t>微</a:t>
            </a:r>
            <a:r>
              <a:rPr lang="zh-CN" altLang="en-US" b="1" dirty="0" smtClean="0">
                <a:solidFill>
                  <a:srgbClr val="7030A0"/>
                </a:solidFill>
              </a:rPr>
              <a:t>地址是</a:t>
            </a:r>
            <a:r>
              <a:rPr lang="en-US" altLang="zh-CN" b="1" dirty="0" smtClean="0">
                <a:solidFill>
                  <a:srgbClr val="7030A0"/>
                </a:solidFill>
              </a:rPr>
              <a:t>16</a:t>
            </a:r>
            <a:r>
              <a:rPr lang="zh-CN" altLang="en-US" b="1" dirty="0" smtClean="0">
                <a:solidFill>
                  <a:srgbClr val="7030A0"/>
                </a:solidFill>
              </a:rPr>
              <a:t>进制的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pic>
        <p:nvPicPr>
          <p:cNvPr id="6" name="图片 5" descr="C:\Users\yju\AppData\Local\Temp\1512562604(1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51" y="2084832"/>
            <a:ext cx="4588078" cy="1191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设计</a:t>
            </a:r>
            <a:r>
              <a:rPr lang="en-US" altLang="zh-CN" dirty="0" smtClean="0"/>
              <a:t>8</a:t>
            </a:r>
            <a:r>
              <a:rPr lang="zh-CN" altLang="en-US" dirty="0" smtClean="0"/>
              <a:t>条微指令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存放在控制存储器中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每条微指令存放的位置（地址）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每条微指令的内容</a:t>
            </a:r>
            <a:endParaRPr lang="zh-CN" altLang="en-US" dirty="0"/>
          </a:p>
        </p:txBody>
      </p:sp>
      <p:graphicFrame>
        <p:nvGraphicFramePr>
          <p:cNvPr id="4" name="对象 4"/>
          <p:cNvGraphicFramePr>
            <a:graphicFrameLocks noChangeAspect="1"/>
          </p:cNvGraphicFramePr>
          <p:nvPr/>
        </p:nvGraphicFramePr>
        <p:xfrm>
          <a:off x="2508394" y="4544291"/>
          <a:ext cx="7848600" cy="205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Visio" r:id="rId1" imgW="6003925" imgH="1579245" progId="Visio.Drawing.11">
                  <p:embed/>
                </p:oleObj>
              </mc:Choice>
              <mc:Fallback>
                <p:oleObj name="Visio" r:id="rId1" imgW="6003925" imgH="1579245" progId="Visio.Drawing.11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394" y="4544291"/>
                        <a:ext cx="7848600" cy="205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需要微命令控制的微操作有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pic>
        <p:nvPicPr>
          <p:cNvPr id="4" name="内容占位符 3" descr="C:\Users\yju\AppData\Local\Temp\1512562693(1).png"/>
          <p:cNvPicPr>
            <a:picLocks noGrp="1"/>
          </p:cNvPicPr>
          <p:nvPr>
            <p:ph idx="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75" t="2124" r="1796" b="14314"/>
          <a:stretch>
            <a:fillRect/>
          </a:stretch>
        </p:blipFill>
        <p:spPr bwMode="auto">
          <a:xfrm>
            <a:off x="838200" y="1690687"/>
            <a:ext cx="4426527" cy="472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C:\Users\yju\AppData\Local\Temp\1512562298(1)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76"/>
          <a:stretch>
            <a:fillRect/>
          </a:stretch>
        </p:blipFill>
        <p:spPr bwMode="auto">
          <a:xfrm>
            <a:off x="6253508" y="1690687"/>
            <a:ext cx="4423729" cy="4728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需要微命令控制的微操作有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pic>
        <p:nvPicPr>
          <p:cNvPr id="5" name="图片 4" descr="C:\Users\yju\AppData\Local\Temp\1512562548(1).pn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92"/>
          <a:stretch>
            <a:fillRect/>
          </a:stretch>
        </p:blipFill>
        <p:spPr bwMode="auto">
          <a:xfrm>
            <a:off x="6621925" y="1690688"/>
            <a:ext cx="4212330" cy="4959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37" y="1690688"/>
            <a:ext cx="4533508" cy="4214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1708727" y="6105236"/>
            <a:ext cx="219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+mj-ea"/>
                <a:ea typeface="+mj-ea"/>
              </a:rPr>
              <a:t>IN</a:t>
            </a:r>
            <a:r>
              <a:rPr lang="zh-CN" altLang="en-US" b="1" dirty="0" smtClean="0">
                <a:latin typeface="+mj-ea"/>
                <a:ea typeface="+mj-ea"/>
              </a:rPr>
              <a:t>单元原理图</a:t>
            </a:r>
            <a:endParaRPr lang="zh-CN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需要微命令控制的微操作有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pic>
        <p:nvPicPr>
          <p:cNvPr id="4" name="内容占位符 3" descr="C:\Users\yju\AppData\Local\Temp\1512562298(1).png"/>
          <p:cNvPicPr>
            <a:picLocks noGrp="1"/>
          </p:cNvPicPr>
          <p:nvPr>
            <p:ph idx="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12" r="-1018"/>
          <a:stretch>
            <a:fillRect/>
          </a:stretch>
        </p:blipFill>
        <p:spPr bwMode="auto">
          <a:xfrm>
            <a:off x="838200" y="1690688"/>
            <a:ext cx="5137727" cy="4710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C:\Users\yju\AppData\Local\Temp\1512562548(1)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71" t="-3493" r="-3592" b="3493"/>
          <a:stretch>
            <a:fillRect/>
          </a:stretch>
        </p:blipFill>
        <p:spPr bwMode="auto">
          <a:xfrm>
            <a:off x="6734188" y="1395341"/>
            <a:ext cx="4529605" cy="4959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yju\AppData\Local\Temp\1512561741(1).pn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27" y="886605"/>
            <a:ext cx="9016827" cy="5347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9" t="5426" r="10430" b="3174"/>
          <a:stretch>
            <a:fillRect/>
          </a:stretch>
        </p:blipFill>
        <p:spPr bwMode="auto">
          <a:xfrm rot="5400000">
            <a:off x="2831046" y="-2479863"/>
            <a:ext cx="6453045" cy="11770103"/>
          </a:xfrm>
          <a:prstGeom prst="rect">
            <a:avLst/>
          </a:prstGeom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8063344" y="178666"/>
            <a:ext cx="2761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7030A0"/>
                </a:solidFill>
              </a:rPr>
              <a:t>译码器的输出都为低电平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P&lt;1&gt;</a:t>
            </a:r>
            <a:r>
              <a:rPr lang="zh-CN" altLang="en-US" dirty="0" smtClean="0"/>
              <a:t>测试的地址转移逻辑</a:t>
            </a:r>
            <a:endParaRPr lang="zh-CN" altLang="en-US" dirty="0"/>
          </a:p>
        </p:txBody>
      </p:sp>
      <p:pic>
        <p:nvPicPr>
          <p:cNvPr id="4" name="内容占位符 3" descr="C:\Users\yju\AppData\Local\Temp\1512562693(1).png"/>
          <p:cNvPicPr>
            <a:picLocks noGrp="1"/>
          </p:cNvPicPr>
          <p:nvPr>
            <p:ph idx="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" t="6044" r="53507" b="13762"/>
          <a:stretch>
            <a:fillRect/>
          </a:stretch>
        </p:blipFill>
        <p:spPr bwMode="auto">
          <a:xfrm>
            <a:off x="3232727" y="1798074"/>
            <a:ext cx="4886038" cy="495370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椭圆 4"/>
          <p:cNvSpPr/>
          <p:nvPr/>
        </p:nvSpPr>
        <p:spPr>
          <a:xfrm>
            <a:off x="3897745" y="2890982"/>
            <a:ext cx="618837" cy="24938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指令译码</a:t>
            </a:r>
            <a:endParaRPr lang="zh-CN" altLang="en-US" dirty="0"/>
          </a:p>
        </p:txBody>
      </p:sp>
      <p:pic>
        <p:nvPicPr>
          <p:cNvPr id="4" name="内容占位符 3" descr="C:\Users\yju\AppData\Local\Temp\1512562118(1).png"/>
          <p:cNvPicPr>
            <a:picLocks noGrp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018" y="1690688"/>
            <a:ext cx="8567054" cy="4765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</a:t>
            </a:r>
            <a:r>
              <a:rPr lang="zh-CN" altLang="en-US" dirty="0" smtClean="0"/>
              <a:t>条微指令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1861921"/>
          <a:ext cx="10513291" cy="42223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8236"/>
                <a:gridCol w="295564"/>
                <a:gridCol w="2115127"/>
                <a:gridCol w="1776845"/>
                <a:gridCol w="1271443"/>
                <a:gridCol w="1271443"/>
                <a:gridCol w="1271443"/>
                <a:gridCol w="1613190"/>
              </a:tblGrid>
              <a:tr h="539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地址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高五位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S3-S0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A</a:t>
                      </a:r>
                      <a:r>
                        <a:rPr lang="zh-CN" sz="2400" kern="100">
                          <a:effectLst/>
                        </a:rPr>
                        <a:t>字段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B</a:t>
                      </a:r>
                      <a:r>
                        <a:rPr lang="zh-CN" sz="2400" kern="100">
                          <a:effectLst/>
                        </a:rPr>
                        <a:t>字段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C</a:t>
                      </a:r>
                      <a:r>
                        <a:rPr lang="zh-CN" sz="2400" kern="100">
                          <a:effectLst/>
                        </a:rPr>
                        <a:t>字段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MA5-MA0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03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C:\Users\fofo\AppData\Local\Temp\1512570915(1).png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547" y="1477819"/>
            <a:ext cx="3842979" cy="5242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C:\Users\yju\AppData\Local\Temp\1512561741(1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218" y="3087878"/>
            <a:ext cx="5569527" cy="305732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37309" y="581892"/>
            <a:ext cx="10372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7030A0"/>
                </a:solidFill>
              </a:rPr>
              <a:t>请参照此页的格式和地址设定完成上页表格</a:t>
            </a:r>
            <a:endParaRPr lang="zh-CN" altLang="en-US" sz="32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SWAstro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Prin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411</Words>
  <Application>WPS 演示</Application>
  <PresentationFormat>宽屏</PresentationFormat>
  <Paragraphs>192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Tw Cen MT</vt:lpstr>
      <vt:lpstr>Wingdings 3</vt:lpstr>
      <vt:lpstr>Times New Roman</vt:lpstr>
      <vt:lpstr>隶书</vt:lpstr>
      <vt:lpstr>等线</vt:lpstr>
      <vt:lpstr>华文仿宋</vt:lpstr>
      <vt:lpstr>Tw Cen MT Condensed</vt:lpstr>
      <vt:lpstr>SWAstro</vt:lpstr>
      <vt:lpstr>Segoe Print</vt:lpstr>
      <vt:lpstr>微软雅黑</vt:lpstr>
      <vt:lpstr>Arial Unicode MS</vt:lpstr>
      <vt:lpstr>Calibri</vt:lpstr>
      <vt:lpstr>积分</vt:lpstr>
      <vt:lpstr>Visio.Drawing.11</vt:lpstr>
      <vt:lpstr>实验四 微程序控制器</vt:lpstr>
      <vt:lpstr>微程序控制器</vt:lpstr>
      <vt:lpstr>本次实验的主要内容</vt:lpstr>
      <vt:lpstr>PowerPoint 演示文稿</vt:lpstr>
      <vt:lpstr>数据通路</vt:lpstr>
      <vt:lpstr>4条机器指令所对应的微程序</vt:lpstr>
      <vt:lpstr>设计8条微指令</vt:lpstr>
      <vt:lpstr>需要微命令控制的微操作有……</vt:lpstr>
      <vt:lpstr>需要微命令控制的微操作有……</vt:lpstr>
      <vt:lpstr>需要微命令控制的微操作有……</vt:lpstr>
      <vt:lpstr>PowerPoint 演示文稿</vt:lpstr>
      <vt:lpstr>PowerPoint 演示文稿</vt:lpstr>
      <vt:lpstr>P&lt;1&gt;测试的地址转移逻辑</vt:lpstr>
      <vt:lpstr>指令译码</vt:lpstr>
      <vt:lpstr>8条微指令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实验四 微程序控制器</dc:title>
  <dc:creator>fofo</dc:creator>
  <cp:lastModifiedBy>Administrator</cp:lastModifiedBy>
  <cp:revision>29</cp:revision>
  <dcterms:created xsi:type="dcterms:W3CDTF">2017-12-06T14:21:00Z</dcterms:created>
  <dcterms:modified xsi:type="dcterms:W3CDTF">2019-12-06T08:44:09Z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