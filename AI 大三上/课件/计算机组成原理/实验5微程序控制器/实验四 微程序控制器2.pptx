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3"/>
    <p:sldId id="283" r:id="rId4"/>
    <p:sldId id="267" r:id="rId5"/>
    <p:sldId id="268" r:id="rId6"/>
    <p:sldId id="269" r:id="rId7"/>
    <p:sldId id="276" r:id="rId8"/>
    <p:sldId id="271" r:id="rId9"/>
    <p:sldId id="272" r:id="rId10"/>
    <p:sldId id="273" r:id="rId11"/>
    <p:sldId id="274" r:id="rId12"/>
    <p:sldId id="277" r:id="rId13"/>
    <p:sldId id="278" r:id="rId14"/>
    <p:sldId id="279" r:id="rId15"/>
    <p:sldId id="284" r:id="rId16"/>
    <p:sldId id="285" r:id="rId17"/>
    <p:sldId id="286" r:id="rId18"/>
    <p:sldId id="288" r:id="rId19"/>
    <p:sldId id="287" r:id="rId20"/>
    <p:sldId id="289" r:id="rId21"/>
    <p:sldId id="290" r:id="rId22"/>
    <p:sldId id="291" r:id="rId23"/>
    <p:sldId id="29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B3788-B5D4-4555-BCC2-B89833BD5D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192D9-2951-4622-B563-5ECFF93FF73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75E1A61-2004-46E6-9421-1799CA6CBAA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F3F20-A894-4ACA-823F-86468D95C01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1F56-1B02-4ABF-8643-4F506B85984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D640-3FC8-4B7C-8DB7-DEE09623761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C603-0341-44ED-8140-E53209DB3DA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7535E-FDC5-4ECD-ADA8-480B02247B29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D616D-E25B-4F59-B1A5-BCD6A47A489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953A8-AB48-4315-B144-89AC03EF686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4124-D60F-45CD-94C5-1CB02941363B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42CAC-9784-473B-A757-4F17A7D00F7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CA188-1429-4504-AD4B-90E11F2790B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SWAstro" panose="02000400000000000000" charset="0"/>
              </a:defRPr>
            </a:lvl1pPr>
          </a:lstStyle>
          <a:p>
            <a:fld id="{D795784C-05EB-4FC5-B83E-5CE33F74262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SWAstro" panose="020004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SWAstro" panose="02000400000000000000" charset="0"/>
              </a:defRPr>
            </a:lvl1pPr>
          </a:lstStyle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SWAstro" panose="02000400000000000000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Segoe Print" panose="02000600000000000000" charset="0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GIF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实验四 微程序控制器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了解微指令是如何工作的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9746"/>
          </a:xfrm>
        </p:spPr>
        <p:txBody>
          <a:bodyPr>
            <a:normAutofit/>
          </a:bodyPr>
          <a:lstStyle/>
          <a:p>
            <a:r>
              <a:rPr lang="zh-CN" altLang="en-US" dirty="0"/>
              <a:t>我们想要逐条运行</a:t>
            </a:r>
            <a:r>
              <a:rPr lang="en-US" altLang="zh-CN" dirty="0"/>
              <a:t>4</a:t>
            </a:r>
            <a:r>
              <a:rPr lang="zh-CN" altLang="en-US" dirty="0"/>
              <a:t>条机器指令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条机器指令需要有</a:t>
            </a:r>
            <a:r>
              <a:rPr lang="en-US" altLang="zh-CN" dirty="0"/>
              <a:t>4</a:t>
            </a:r>
            <a:r>
              <a:rPr lang="zh-CN" altLang="en-US" dirty="0"/>
              <a:t>段微程序与之相对应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构成这</a:t>
            </a:r>
            <a:r>
              <a:rPr lang="en-US" altLang="zh-CN" dirty="0"/>
              <a:t>4</a:t>
            </a:r>
            <a:r>
              <a:rPr lang="zh-CN" altLang="en-US" dirty="0"/>
              <a:t>段微程序需要有</a:t>
            </a:r>
            <a:r>
              <a:rPr lang="en-US" altLang="zh-CN" dirty="0"/>
              <a:t>8</a:t>
            </a:r>
            <a:r>
              <a:rPr lang="zh-CN" altLang="en-US" dirty="0"/>
              <a:t>条微指令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</a:t>
            </a:r>
            <a:r>
              <a:rPr lang="en-US" altLang="zh-CN" dirty="0"/>
              <a:t>8</a:t>
            </a:r>
            <a:r>
              <a:rPr lang="zh-CN" altLang="en-US" dirty="0"/>
              <a:t>条微指令需要以位为单位进行确定</a:t>
            </a:r>
            <a:endParaRPr lang="en-US" altLang="zh-CN" dirty="0"/>
          </a:p>
          <a:p>
            <a:pPr lvl="1"/>
            <a:r>
              <a:rPr lang="zh-CN" altLang="en-US" dirty="0"/>
              <a:t>存放的位置</a:t>
            </a:r>
            <a:endParaRPr lang="en-US" altLang="zh-CN" dirty="0"/>
          </a:p>
          <a:p>
            <a:pPr lvl="1"/>
            <a:r>
              <a:rPr lang="zh-CN" altLang="en-US" dirty="0"/>
              <a:t>微指令的控制功能</a:t>
            </a:r>
            <a:endParaRPr lang="en-US" altLang="zh-CN" dirty="0"/>
          </a:p>
          <a:p>
            <a:pPr lvl="1"/>
            <a:r>
              <a:rPr lang="zh-CN" altLang="en-US" dirty="0"/>
              <a:t>微指令的后继地址</a:t>
            </a:r>
            <a:endParaRPr lang="zh-CN" altLang="en-US" dirty="0"/>
          </a:p>
        </p:txBody>
      </p:sp>
      <p:pic>
        <p:nvPicPr>
          <p:cNvPr id="4" name="图片 3" descr="C:\Users\yju\AppData\Local\Temp\1512562604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09"/>
          <a:stretch>
            <a:fillRect/>
          </a:stretch>
        </p:blipFill>
        <p:spPr bwMode="auto">
          <a:xfrm>
            <a:off x="6351647" y="754541"/>
            <a:ext cx="5196650" cy="2058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内容占位符 3" descr="C:\Users\fofo\AppData\Local\Temp\1512570915(1)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79"/>
          <a:stretch>
            <a:fillRect/>
          </a:stretch>
        </p:blipFill>
        <p:spPr bwMode="auto">
          <a:xfrm>
            <a:off x="7756892" y="1320214"/>
            <a:ext cx="3842979" cy="4593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C:\Users\yju\AppData\Local\Temp\1512561741(1)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172" y="4556213"/>
            <a:ext cx="4560632" cy="21559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C:\Users\fofo\AppData\Local\Temp\1512570915(1).png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711" y="969819"/>
            <a:ext cx="3842979" cy="5242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C:\Users\yju\AppData\Local\Temp\1512561741(1)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709" y="2062642"/>
            <a:ext cx="5569527" cy="305732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NOP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C:\Users\yju\AppData\Local\Temp\1512561741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5"/>
          <a:stretch>
            <a:fillRect/>
          </a:stretch>
        </p:blipFill>
        <p:spPr bwMode="auto">
          <a:xfrm>
            <a:off x="1865744" y="1533237"/>
            <a:ext cx="8044873" cy="49876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58107" y="2336800"/>
            <a:ext cx="816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0          0        0      0      0       0 0 0 0      0 0 0        0 0 0       0 0 0       0 0 0 0 0 1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6" name="内容占位符 3" descr="C:\Users\fofo\AppData\Local\Temp\1512570915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73" y="3109618"/>
            <a:ext cx="2069598" cy="30077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40146" y="1690688"/>
            <a:ext cx="1625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00 0000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54545" y="3205018"/>
            <a:ext cx="424873" cy="212437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指令译码</a:t>
            </a:r>
            <a:endParaRPr lang="zh-CN" altLang="en-US" dirty="0"/>
          </a:p>
        </p:txBody>
      </p:sp>
      <p:pic>
        <p:nvPicPr>
          <p:cNvPr id="4" name="图片 3" descr="C:\Users\yju\AppData\Local\Temp\1512561741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5"/>
          <a:stretch>
            <a:fillRect/>
          </a:stretch>
        </p:blipFill>
        <p:spPr bwMode="auto">
          <a:xfrm>
            <a:off x="1865744" y="1533237"/>
            <a:ext cx="8044873" cy="49876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58107" y="2336800"/>
            <a:ext cx="816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0          0        0      0      0       0 0 0 0      1 1 1        0 0 0       0 0 1       1 1 0 0 0 0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6" name="内容占位符 3" descr="C:\Users\fofo\AppData\Local\Temp\1512570915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73" y="3109618"/>
            <a:ext cx="2069598" cy="30077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40146" y="1690688"/>
            <a:ext cx="1625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00 0001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12291" y="5929745"/>
            <a:ext cx="1967345" cy="36021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301345" y="3874244"/>
            <a:ext cx="1967345" cy="36021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63782" y="3703782"/>
            <a:ext cx="406400" cy="221673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指令译码的效果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1134774" y="1851891"/>
          <a:ext cx="972026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88"/>
                <a:gridCol w="3240088"/>
                <a:gridCol w="3240088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P&lt;1&gt;</a:t>
                      </a:r>
                      <a:r>
                        <a:rPr lang="zh-CN" altLang="en-US" dirty="0" smtClean="0"/>
                        <a:t>测试前的后继微地址</a:t>
                      </a:r>
                      <a:endParaRPr lang="zh-CN" altLang="en-US" dirty="0"/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指令码（助记符）</a:t>
                      </a:r>
                      <a:endParaRPr lang="zh-CN" altLang="en-US" dirty="0"/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P&lt;1&gt;</a:t>
                      </a:r>
                      <a:r>
                        <a:rPr lang="zh-CN" altLang="en-US" dirty="0" smtClean="0"/>
                        <a:t>测试后的后继微地址</a:t>
                      </a:r>
                      <a:endParaRPr lang="zh-CN" altLang="en-US" dirty="0" smtClean="0"/>
                    </a:p>
                  </a:txBody>
                  <a:tcPr marL="84524" marR="84524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11 0000</a:t>
                      </a:r>
                      <a:endParaRPr lang="zh-CN" altLang="en-US" dirty="0"/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0000 0000 </a:t>
                      </a:r>
                      <a:r>
                        <a:rPr lang="zh-CN" altLang="en-US" dirty="0" smtClean="0"/>
                        <a:t>（</a:t>
                      </a:r>
                      <a:r>
                        <a:rPr lang="en-US" altLang="zh-CN" dirty="0" smtClean="0"/>
                        <a:t>ADD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11 0000</a:t>
                      </a:r>
                      <a:endParaRPr lang="zh-CN" altLang="en-US" dirty="0"/>
                    </a:p>
                  </a:txBody>
                  <a:tcPr marL="84524" marR="84524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11 0000</a:t>
                      </a:r>
                      <a:endParaRPr lang="zh-CN" altLang="en-US" dirty="0" smtClean="0"/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0010 0000 </a:t>
                      </a:r>
                      <a:r>
                        <a:rPr lang="zh-CN" altLang="en-US" dirty="0" smtClean="0"/>
                        <a:t>（</a:t>
                      </a:r>
                      <a:r>
                        <a:rPr lang="en-US" altLang="zh-CN" dirty="0" smtClean="0"/>
                        <a:t>IN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11 0010</a:t>
                      </a:r>
                      <a:endParaRPr lang="zh-CN" altLang="en-US" dirty="0"/>
                    </a:p>
                  </a:txBody>
                  <a:tcPr marL="84524" marR="84524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11 0000</a:t>
                      </a:r>
                      <a:endParaRPr lang="zh-CN" altLang="en-US" dirty="0" smtClean="0"/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0011</a:t>
                      </a:r>
                      <a:r>
                        <a:rPr lang="en-US" altLang="zh-CN" baseline="0" dirty="0" smtClean="0"/>
                        <a:t> 0000 </a:t>
                      </a:r>
                      <a:r>
                        <a:rPr lang="zh-CN" altLang="en-US" baseline="0" dirty="0" smtClean="0"/>
                        <a:t>（</a:t>
                      </a:r>
                      <a:r>
                        <a:rPr lang="en-US" altLang="zh-CN" baseline="0" dirty="0" smtClean="0"/>
                        <a:t>OUT</a:t>
                      </a:r>
                      <a:r>
                        <a:rPr lang="zh-CN" altLang="en-US" baseline="0" dirty="0" smtClean="0"/>
                        <a:t>）</a:t>
                      </a:r>
                      <a:endParaRPr lang="zh-CN" altLang="en-US" dirty="0"/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11 0011</a:t>
                      </a:r>
                      <a:endParaRPr lang="zh-CN" altLang="en-US" dirty="0"/>
                    </a:p>
                  </a:txBody>
                  <a:tcPr marL="84524" marR="84524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dirty="0" smtClean="0"/>
                        <a:t>11 0000</a:t>
                      </a:r>
                      <a:endParaRPr lang="zh-CN" altLang="en-US" dirty="0" smtClean="0"/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0101 0000 </a:t>
                      </a:r>
                      <a:r>
                        <a:rPr lang="zh-CN" altLang="en-US" dirty="0" smtClean="0"/>
                        <a:t>（</a:t>
                      </a:r>
                      <a:r>
                        <a:rPr lang="en-US" altLang="zh-CN" dirty="0" smtClean="0"/>
                        <a:t>HLT</a:t>
                      </a:r>
                      <a:r>
                        <a:rPr lang="zh-CN" altLang="en-US" dirty="0" smtClean="0"/>
                        <a:t>）</a:t>
                      </a:r>
                      <a:endParaRPr lang="zh-CN" altLang="en-US" dirty="0"/>
                    </a:p>
                  </a:txBody>
                  <a:tcPr marL="84524" marR="84524"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11 0101</a:t>
                      </a:r>
                      <a:endParaRPr lang="zh-CN" altLang="en-US" dirty="0"/>
                    </a:p>
                  </a:txBody>
                  <a:tcPr marL="84524" marR="84524"/>
                </a:tc>
              </a:tr>
            </a:tbl>
          </a:graphicData>
        </a:graphic>
      </p:graphicFrame>
      <p:pic>
        <p:nvPicPr>
          <p:cNvPr id="7" name="内容占位符 3" descr="C:\Users\yju\AppData\Local\Temp\1512562118(1)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982" y="3814762"/>
            <a:ext cx="6918036" cy="292778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R0→A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C:\Users\yju\AppData\Local\Temp\1512561741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5"/>
          <a:stretch>
            <a:fillRect/>
          </a:stretch>
        </p:blipFill>
        <p:spPr bwMode="auto">
          <a:xfrm>
            <a:off x="1865744" y="1533237"/>
            <a:ext cx="8044873" cy="49876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58107" y="2336800"/>
            <a:ext cx="816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0          0        0      0      0       0 0 0 0      0 0 1        0 1 0       0 0 0       0 0 0 1 0 0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6" name="内容占位符 3" descr="C:\Users\fofo\AppData\Local\Temp\1512570915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73" y="3109618"/>
            <a:ext cx="2069598" cy="30077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40146" y="1690688"/>
            <a:ext cx="1625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11 0000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03054" y="3879272"/>
            <a:ext cx="1967345" cy="36021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09127" y="4225636"/>
            <a:ext cx="1967345" cy="36021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60218" y="4553527"/>
            <a:ext cx="4064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R0→B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C:\Users\yju\AppData\Local\Temp\1512561741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5"/>
          <a:stretch>
            <a:fillRect/>
          </a:stretch>
        </p:blipFill>
        <p:spPr bwMode="auto">
          <a:xfrm>
            <a:off x="1865744" y="1533237"/>
            <a:ext cx="8044873" cy="49876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58107" y="2336800"/>
            <a:ext cx="816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0          0        0      0      0       0 0 0 0      0 1 0        0 1 0       0 0 0       0 0 0 1 0 1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6" name="内容占位符 3" descr="C:\Users\fofo\AppData\Local\Temp\1512570915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73" y="3109618"/>
            <a:ext cx="2069598" cy="30077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40146" y="1690688"/>
            <a:ext cx="1625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00 0100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89853" y="4211719"/>
            <a:ext cx="1967345" cy="36021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09127" y="4225636"/>
            <a:ext cx="1967345" cy="36021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72589" y="4922982"/>
            <a:ext cx="4064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A+B→R0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C:\Users\yju\AppData\Local\Temp\1512561741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5"/>
          <a:stretch>
            <a:fillRect/>
          </a:stretch>
        </p:blipFill>
        <p:spPr bwMode="auto">
          <a:xfrm>
            <a:off x="1865744" y="1533237"/>
            <a:ext cx="8044873" cy="49876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58107" y="2336800"/>
            <a:ext cx="816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0          0        0      0      0       1 0 0 1      0 1 1        0 0 1       0 0 0       0 0 0 0 0 1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6" name="内容占位符 3" descr="C:\Users\fofo\AppData\Local\Temp\1512570915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73" y="3109618"/>
            <a:ext cx="2069598" cy="30077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40146" y="1690688"/>
            <a:ext cx="1625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00 0101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08325" y="4558147"/>
            <a:ext cx="1967345" cy="36021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27599" y="3865425"/>
            <a:ext cx="1967345" cy="36021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63353" y="5273964"/>
            <a:ext cx="4064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1"/>
          <a:srcRect l="11239" t="9157" r="23329" b="7110"/>
          <a:stretch>
            <a:fillRect/>
          </a:stretch>
        </p:blipFill>
        <p:spPr bwMode="auto">
          <a:xfrm>
            <a:off x="1982037" y="141346"/>
            <a:ext cx="7891636" cy="6564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9754" y="2779568"/>
            <a:ext cx="952500" cy="9525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103418" y="4387273"/>
            <a:ext cx="6650182" cy="304800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IN→R0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C:\Users\yju\AppData\Local\Temp\1512561741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5"/>
          <a:stretch>
            <a:fillRect/>
          </a:stretch>
        </p:blipFill>
        <p:spPr bwMode="auto">
          <a:xfrm>
            <a:off x="1865744" y="1533237"/>
            <a:ext cx="8044873" cy="49876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58107" y="2336800"/>
            <a:ext cx="816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0          0        0      1      1       0 0 0 0      0 1 1        0 0 0       0 0 0       0 0 0 0 0 1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6" name="内容占位符 3" descr="C:\Users\fofo\AppData\Local\Temp\1512570915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73" y="3109618"/>
            <a:ext cx="2069598" cy="30077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40146" y="1690688"/>
            <a:ext cx="1625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11 0010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08325" y="4558147"/>
            <a:ext cx="1967345" cy="36021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05166" y="4553529"/>
            <a:ext cx="4064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R0→OUT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C:\Users\yju\AppData\Local\Temp\1512561741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5"/>
          <a:stretch>
            <a:fillRect/>
          </a:stretch>
        </p:blipFill>
        <p:spPr bwMode="auto">
          <a:xfrm>
            <a:off x="1865744" y="1533237"/>
            <a:ext cx="8044873" cy="49876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58107" y="2336800"/>
            <a:ext cx="816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0          0        1      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en-US" altLang="zh-CN" b="1" dirty="0" smtClean="0">
                <a:solidFill>
                  <a:srgbClr val="FF0000"/>
                </a:solidFill>
              </a:rPr>
              <a:t>      1       0 0 0 0      0 0 0        0 1 0       0 0 0       0 0 0 0 0 1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6" name="内容占位符 3" descr="C:\Users\fofo\AppData\Local\Temp\1512570915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73" y="3109618"/>
            <a:ext cx="2069598" cy="30077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40146" y="1690688"/>
            <a:ext cx="1625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11 0011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13743" y="4225575"/>
            <a:ext cx="1967345" cy="36021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425860" y="4548911"/>
            <a:ext cx="4064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HLT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C:\Users\yju\AppData\Local\Temp\1512561741(1).png"/>
          <p:cNvPicPr/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45"/>
          <a:stretch>
            <a:fillRect/>
          </a:stretch>
        </p:blipFill>
        <p:spPr bwMode="auto">
          <a:xfrm>
            <a:off x="1865744" y="1533237"/>
            <a:ext cx="8044873" cy="49876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958107" y="2336800"/>
            <a:ext cx="8164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0          0        0      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en-US" altLang="zh-CN" b="1" dirty="0" smtClean="0">
                <a:solidFill>
                  <a:srgbClr val="FF0000"/>
                </a:solidFill>
              </a:rPr>
              <a:t>      0       0 0 0 0      0 0 0        0 0 0       0 0 0       1 1 0 1 0 1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6" name="内容占位符 3" descr="C:\Users\fofo\AppData\Local\Temp\1512570915(1)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73" y="3109618"/>
            <a:ext cx="2069598" cy="300776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240146" y="1690688"/>
            <a:ext cx="1625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11 0101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30399" y="4558086"/>
            <a:ext cx="4064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目标做一点小小的改动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我们想</a:t>
            </a:r>
            <a:r>
              <a:rPr lang="zh-CN" altLang="en-US" dirty="0" smtClean="0"/>
              <a:t>要运行</a:t>
            </a:r>
            <a:r>
              <a:rPr lang="en-US" altLang="zh-CN" dirty="0"/>
              <a:t>5</a:t>
            </a:r>
            <a:r>
              <a:rPr lang="zh-CN" altLang="en-US" dirty="0"/>
              <a:t>条机器指令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助记符</a:t>
            </a:r>
            <a:r>
              <a:rPr lang="en-US" altLang="zh-CN" dirty="0"/>
              <a:t>	</a:t>
            </a:r>
            <a:r>
              <a:rPr lang="en-US" altLang="zh-CN" dirty="0" smtClean="0"/>
              <a:t>	</a:t>
            </a:r>
            <a:r>
              <a:rPr lang="zh-CN" altLang="en-US" dirty="0" smtClean="0"/>
              <a:t>机器指令</a:t>
            </a:r>
            <a:r>
              <a:rPr lang="zh-CN" altLang="en-US" dirty="0"/>
              <a:t>码</a:t>
            </a:r>
            <a:r>
              <a:rPr lang="en-US" altLang="zh-CN" dirty="0"/>
              <a:t>		</a:t>
            </a:r>
            <a:r>
              <a:rPr lang="zh-CN" altLang="en-US" dirty="0"/>
              <a:t>说明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IN		0010 0000		IN</a:t>
            </a:r>
            <a:r>
              <a:rPr lang="zh-CN" altLang="en-US" dirty="0"/>
              <a:t>→</a:t>
            </a:r>
            <a:r>
              <a:rPr lang="en-US" altLang="zh-CN" dirty="0"/>
              <a:t>R0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FF0000"/>
                </a:solidFill>
              </a:rPr>
              <a:t>STA		????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r>
              <a:rPr lang="en-US" altLang="zh-CN" dirty="0">
                <a:solidFill>
                  <a:srgbClr val="FF0000"/>
                </a:solidFill>
              </a:rPr>
              <a:t>????		R0</a:t>
            </a:r>
            <a:r>
              <a:rPr lang="zh-CN" altLang="en-US" dirty="0">
                <a:solidFill>
                  <a:srgbClr val="FF0000"/>
                </a:solidFill>
              </a:rPr>
              <a:t>→</a:t>
            </a:r>
            <a:r>
              <a:rPr lang="en-US" altLang="zh-CN" dirty="0">
                <a:solidFill>
                  <a:srgbClr val="FF0000"/>
                </a:solidFill>
              </a:rPr>
              <a:t>00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>
                <a:solidFill>
                  <a:srgbClr val="7030A0"/>
                </a:solidFill>
              </a:rPr>
              <a:t>ADD		0000 0000		R0+[00]</a:t>
            </a:r>
            <a:r>
              <a:rPr lang="zh-CN" altLang="en-US" dirty="0">
                <a:solidFill>
                  <a:srgbClr val="7030A0"/>
                </a:solidFill>
              </a:rPr>
              <a:t>→</a:t>
            </a:r>
            <a:r>
              <a:rPr lang="en-US" altLang="zh-CN" dirty="0" smtClean="0">
                <a:solidFill>
                  <a:srgbClr val="7030A0"/>
                </a:solidFill>
              </a:rPr>
              <a:t>R0</a:t>
            </a:r>
            <a:endParaRPr lang="en-US" altLang="zh-CN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en-US" altLang="zh-CN" dirty="0"/>
              <a:t>					</a:t>
            </a:r>
            <a:r>
              <a:rPr lang="zh-CN" altLang="en-US" dirty="0"/>
              <a:t>多加几次</a:t>
            </a:r>
            <a:r>
              <a:rPr lang="zh-CN" altLang="en-US" dirty="0" smtClean="0"/>
              <a:t>？</a:t>
            </a:r>
            <a:endParaRPr lang="en-US" altLang="zh-CN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OUT</a:t>
            </a:r>
            <a:r>
              <a:rPr lang="en-US" altLang="zh-CN" dirty="0"/>
              <a:t>		0011 0000		R0</a:t>
            </a:r>
            <a:r>
              <a:rPr lang="zh-CN" altLang="en-US" dirty="0"/>
              <a:t>→</a:t>
            </a:r>
            <a:r>
              <a:rPr lang="en-US" altLang="zh-CN" dirty="0" smtClean="0"/>
              <a:t>OUT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HLT</a:t>
            </a:r>
            <a:r>
              <a:rPr lang="en-US" altLang="zh-CN" dirty="0"/>
              <a:t>		0101	0000		</a:t>
            </a:r>
            <a:r>
              <a:rPr lang="zh-CN" altLang="en-US" dirty="0"/>
              <a:t>停机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相应需要做哪些改变？</a:t>
            </a:r>
            <a:endParaRPr lang="zh-CN" altLang="en-US" dirty="0"/>
          </a:p>
        </p:txBody>
      </p:sp>
      <p:pic>
        <p:nvPicPr>
          <p:cNvPr id="4" name="内容占位符 3" descr="C:\Users\fofo\AppData\Local\Temp\1512570915(1).png"/>
          <p:cNvPicPr>
            <a:picLocks noGrp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057" y="1825625"/>
            <a:ext cx="3968899" cy="49329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内容占位符 2"/>
          <p:cNvSpPr txBox="1"/>
          <p:nvPr/>
        </p:nvSpPr>
        <p:spPr>
          <a:xfrm>
            <a:off x="5575662" y="1825625"/>
            <a:ext cx="57781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如何增加一条机器指令</a:t>
            </a:r>
            <a:endParaRPr lang="en-US" altLang="zh-CN" dirty="0"/>
          </a:p>
          <a:p>
            <a:pPr lvl="1"/>
            <a:r>
              <a:rPr lang="zh-CN" altLang="en-US" dirty="0"/>
              <a:t>增加一道微程序</a:t>
            </a:r>
            <a:endParaRPr lang="en-US" altLang="zh-CN" dirty="0"/>
          </a:p>
          <a:p>
            <a:pPr lvl="1"/>
            <a:r>
              <a:rPr lang="zh-CN" altLang="en-US" dirty="0"/>
              <a:t>设计相应的机器码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如何修改一条机器指令</a:t>
            </a:r>
            <a:endParaRPr lang="en-US" altLang="zh-CN" dirty="0"/>
          </a:p>
          <a:p>
            <a:pPr lvl="1"/>
            <a:r>
              <a:rPr lang="zh-CN" altLang="en-US" dirty="0"/>
              <a:t>更改其微程序中的微指令</a:t>
            </a:r>
            <a:endParaRPr lang="en-US" altLang="zh-CN" dirty="0"/>
          </a:p>
          <a:p>
            <a:pPr lvl="2"/>
            <a:r>
              <a:rPr lang="zh-CN" altLang="en-US" dirty="0"/>
              <a:t>条数</a:t>
            </a:r>
            <a:endParaRPr lang="en-US" altLang="zh-CN" dirty="0"/>
          </a:p>
          <a:p>
            <a:pPr lvl="2"/>
            <a:r>
              <a:rPr lang="zh-CN" altLang="en-US" dirty="0"/>
              <a:t>控制码</a:t>
            </a:r>
            <a:endParaRPr lang="en-US" altLang="zh-CN" dirty="0"/>
          </a:p>
          <a:p>
            <a:pPr lvl="2"/>
            <a:r>
              <a:rPr lang="zh-CN" altLang="en-US" dirty="0"/>
              <a:t>地址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修改后的微程序流程图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39131"/>
            <a:ext cx="4652837" cy="5318869"/>
          </a:xfrm>
          <a:prstGeom prst="rect">
            <a:avLst/>
          </a:prstGeom>
        </p:spPr>
      </p:pic>
      <p:sp>
        <p:nvSpPr>
          <p:cNvPr id="6" name="内容占位符 2"/>
          <p:cNvSpPr txBox="1"/>
          <p:nvPr/>
        </p:nvSpPr>
        <p:spPr>
          <a:xfrm>
            <a:off x="3593656" y="5567295"/>
            <a:ext cx="7912544" cy="762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有哪些微指令是新增或需要修改的呢？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66505" y="4414379"/>
            <a:ext cx="653573" cy="356404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66505" y="4988962"/>
            <a:ext cx="653573" cy="356404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904096" y="3854427"/>
            <a:ext cx="653573" cy="356404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904096" y="4414379"/>
            <a:ext cx="653573" cy="356404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884164" y="3592817"/>
            <a:ext cx="52876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7030A0"/>
                </a:solidFill>
              </a:rPr>
              <a:t>STA </a:t>
            </a:r>
            <a:r>
              <a:rPr lang="zh-CN" altLang="en-US" sz="2800" b="1" dirty="0" smtClean="0">
                <a:solidFill>
                  <a:srgbClr val="7030A0"/>
                </a:solidFill>
              </a:rPr>
              <a:t>的机器码确定为 </a:t>
            </a:r>
            <a:r>
              <a:rPr lang="en-US" altLang="zh-CN" sz="2800" b="1" dirty="0" smtClean="0">
                <a:solidFill>
                  <a:srgbClr val="7030A0"/>
                </a:solidFill>
              </a:rPr>
              <a:t>00010000</a:t>
            </a:r>
            <a:endParaRPr lang="zh-CN" altLang="en-US" sz="2800" b="1" dirty="0">
              <a:solidFill>
                <a:srgbClr val="7030A0"/>
              </a:solidFill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微命令编码格式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244" y="2286000"/>
            <a:ext cx="6271649" cy="4022725"/>
          </a:xfrm>
        </p:spPr>
      </p:pic>
      <p:pic>
        <p:nvPicPr>
          <p:cNvPr id="4" name="图片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9" t="5426" r="10430" b="3174"/>
          <a:stretch>
            <a:fillRect/>
          </a:stretch>
        </p:blipFill>
        <p:spPr bwMode="auto">
          <a:xfrm rot="5400000">
            <a:off x="2877157" y="-2366550"/>
            <a:ext cx="6453045" cy="11770103"/>
          </a:xfrm>
          <a:prstGeom prst="rect">
            <a:avLst/>
          </a:prstGeom>
          <a:ln>
            <a:noFill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60"/>
          <a:stretch>
            <a:fillRect/>
          </a:stretch>
        </p:blipFill>
        <p:spPr bwMode="auto">
          <a:xfrm>
            <a:off x="610925" y="-4598407"/>
            <a:ext cx="11186160" cy="1143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911087" y="2326960"/>
            <a:ext cx="1619677" cy="868822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1086" y="3713719"/>
            <a:ext cx="1619677" cy="868822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41669" y="964596"/>
            <a:ext cx="1619677" cy="868822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141669" y="2326960"/>
            <a:ext cx="1619677" cy="868822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  <p:pic>
        <p:nvPicPr>
          <p:cNvPr id="12" name="内容占位符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353" y="2722299"/>
            <a:ext cx="6271649" cy="4022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8688" y="251485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IN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AR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031" y="1567109"/>
            <a:ext cx="7921388" cy="5197510"/>
          </a:xfr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08" y="3209084"/>
            <a:ext cx="2756171" cy="31507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63786" y="2336800"/>
            <a:ext cx="841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 0        0        0      </a:t>
            </a:r>
            <a:r>
              <a:rPr lang="en-US" altLang="zh-CN" b="1" dirty="0" smtClean="0">
                <a:solidFill>
                  <a:srgbClr val="FF0000"/>
                </a:solidFill>
              </a:rPr>
              <a:t> 1       1      0 </a:t>
            </a:r>
            <a:r>
              <a:rPr lang="en-US" altLang="zh-CN" b="1" dirty="0" smtClean="0">
                <a:solidFill>
                  <a:srgbClr val="FF0000"/>
                </a:solidFill>
              </a:rPr>
              <a:t>0 0 0     1 1 0       </a:t>
            </a:r>
            <a:r>
              <a:rPr lang="en-US" altLang="zh-CN" b="1" dirty="0" smtClean="0">
                <a:solidFill>
                  <a:srgbClr val="FF0000"/>
                </a:solidFill>
              </a:rPr>
              <a:t> 0 </a:t>
            </a:r>
            <a:r>
              <a:rPr lang="en-US" altLang="zh-CN" b="1" dirty="0" smtClean="0">
                <a:solidFill>
                  <a:srgbClr val="FF0000"/>
                </a:solidFill>
              </a:rPr>
              <a:t>0 0     </a:t>
            </a:r>
            <a:r>
              <a:rPr lang="en-US" altLang="zh-CN" b="1" dirty="0" smtClean="0">
                <a:solidFill>
                  <a:srgbClr val="FF0000"/>
                </a:solidFill>
              </a:rPr>
              <a:t>    </a:t>
            </a:r>
            <a:r>
              <a:rPr lang="en-US" altLang="zh-CN" b="1" dirty="0" smtClean="0">
                <a:solidFill>
                  <a:srgbClr val="FF0000"/>
                </a:solidFill>
              </a:rPr>
              <a:t>0 0 0     </a:t>
            </a:r>
            <a:r>
              <a:rPr lang="en-US" altLang="zh-CN" b="1" dirty="0" smtClean="0">
                <a:solidFill>
                  <a:srgbClr val="FF0000"/>
                </a:solidFill>
              </a:rPr>
              <a:t>0 </a:t>
            </a:r>
            <a:r>
              <a:rPr lang="en-US" altLang="zh-CN" b="1" dirty="0" smtClean="0">
                <a:solidFill>
                  <a:srgbClr val="FF0000"/>
                </a:solidFill>
              </a:rPr>
              <a:t>0 0 1 1 0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8688" y="1690688"/>
            <a:ext cx="1812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00 0100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98794" y="5710195"/>
            <a:ext cx="1989432" cy="354797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94884" y="4901397"/>
            <a:ext cx="4064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8688" y="251485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MEM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423" y="1577048"/>
            <a:ext cx="7993873" cy="5127384"/>
          </a:xfr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08" y="3209084"/>
            <a:ext cx="2756171" cy="31507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63786" y="2336800"/>
            <a:ext cx="841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0        0         0      </a:t>
            </a:r>
            <a:r>
              <a:rPr lang="en-US" altLang="zh-CN" b="1" dirty="0" smtClean="0">
                <a:solidFill>
                  <a:srgbClr val="FF0000"/>
                </a:solidFill>
              </a:rPr>
              <a:t> 1       0      </a:t>
            </a:r>
            <a:r>
              <a:rPr lang="en-US" altLang="zh-CN" b="1" dirty="0" smtClean="0">
                <a:solidFill>
                  <a:srgbClr val="FF0000"/>
                </a:solidFill>
              </a:rPr>
              <a:t>0 0 0 0    </a:t>
            </a:r>
            <a:r>
              <a:rPr lang="en-US" altLang="zh-CN" b="1" dirty="0" smtClean="0">
                <a:solidFill>
                  <a:srgbClr val="FF0000"/>
                </a:solidFill>
              </a:rPr>
              <a:t>  0 </a:t>
            </a:r>
            <a:r>
              <a:rPr lang="en-US" altLang="zh-CN" b="1" dirty="0" smtClean="0">
                <a:solidFill>
                  <a:srgbClr val="FF0000"/>
                </a:solidFill>
              </a:rPr>
              <a:t>1 0       </a:t>
            </a:r>
            <a:r>
              <a:rPr lang="en-US" altLang="zh-CN" b="1" dirty="0" smtClean="0">
                <a:solidFill>
                  <a:srgbClr val="FF0000"/>
                </a:solidFill>
              </a:rPr>
              <a:t> 0 </a:t>
            </a:r>
            <a:r>
              <a:rPr lang="en-US" altLang="zh-CN" b="1" dirty="0" smtClean="0">
                <a:solidFill>
                  <a:srgbClr val="FF0000"/>
                </a:solidFill>
              </a:rPr>
              <a:t>0 0        0 0 0     0 0 0 1 0 1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8688" y="1690688"/>
            <a:ext cx="1812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00 0110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89916" y="4278695"/>
            <a:ext cx="1939736" cy="352940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94884" y="5249272"/>
            <a:ext cx="4064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8688" y="251485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IN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AR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786" y="1577048"/>
            <a:ext cx="7911449" cy="5074516"/>
          </a:xfr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08" y="3209084"/>
            <a:ext cx="2756171" cy="31507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63786" y="2336800"/>
            <a:ext cx="841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0           0       0      </a:t>
            </a:r>
            <a:r>
              <a:rPr lang="en-US" altLang="zh-CN" b="1" dirty="0" smtClean="0">
                <a:solidFill>
                  <a:srgbClr val="FF0000"/>
                </a:solidFill>
              </a:rPr>
              <a:t> 1       1      </a:t>
            </a:r>
            <a:r>
              <a:rPr lang="en-US" altLang="zh-CN" b="1" dirty="0" smtClean="0">
                <a:solidFill>
                  <a:srgbClr val="FF0000"/>
                </a:solidFill>
              </a:rPr>
              <a:t>0 0 0 0    </a:t>
            </a:r>
            <a:r>
              <a:rPr lang="en-US" altLang="zh-CN" b="1" dirty="0" smtClean="0">
                <a:solidFill>
                  <a:srgbClr val="FF0000"/>
                </a:solidFill>
              </a:rPr>
              <a:t> 1 </a:t>
            </a:r>
            <a:r>
              <a:rPr lang="en-US" altLang="zh-CN" b="1" dirty="0" smtClean="0">
                <a:solidFill>
                  <a:srgbClr val="FF0000"/>
                </a:solidFill>
              </a:rPr>
              <a:t>1 0        0 0 0       0 0 0     </a:t>
            </a:r>
            <a:r>
              <a:rPr lang="en-US" altLang="zh-CN" b="1" dirty="0" smtClean="0">
                <a:solidFill>
                  <a:srgbClr val="FF0000"/>
                </a:solidFill>
              </a:rPr>
              <a:t>  0 </a:t>
            </a:r>
            <a:r>
              <a:rPr lang="en-US" altLang="zh-CN" b="1" dirty="0" smtClean="0">
                <a:solidFill>
                  <a:srgbClr val="FF0000"/>
                </a:solidFill>
              </a:rPr>
              <a:t>1 0 0 0 0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581" y="1690688"/>
            <a:ext cx="1887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11 0001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69429" y="5628560"/>
            <a:ext cx="1939736" cy="344857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49856" y="4563466"/>
            <a:ext cx="4064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8688" y="251485"/>
            <a:ext cx="10515600" cy="1325563"/>
          </a:xfrm>
        </p:spPr>
        <p:txBody>
          <a:bodyPr/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R0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MEM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423" y="1577048"/>
            <a:ext cx="7937178" cy="5091019"/>
          </a:xfr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08" y="3209084"/>
            <a:ext cx="2756171" cy="315070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63786" y="2336800"/>
            <a:ext cx="8418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0         0       </a:t>
            </a:r>
            <a:r>
              <a:rPr lang="en-US" altLang="zh-CN" b="1" dirty="0" smtClean="0">
                <a:solidFill>
                  <a:srgbClr val="FF0000"/>
                </a:solidFill>
              </a:rPr>
              <a:t> 1       </a:t>
            </a:r>
            <a:r>
              <a:rPr lang="en-US" altLang="zh-CN" b="1" dirty="0" smtClean="0">
                <a:solidFill>
                  <a:srgbClr val="FF0000"/>
                </a:solidFill>
              </a:rPr>
              <a:t>0     </a:t>
            </a:r>
            <a:r>
              <a:rPr lang="en-US" altLang="zh-CN" b="1" dirty="0" smtClean="0">
                <a:solidFill>
                  <a:srgbClr val="FF0000"/>
                </a:solidFill>
              </a:rPr>
              <a:t> 0      </a:t>
            </a:r>
            <a:r>
              <a:rPr lang="en-US" altLang="zh-CN" b="1" dirty="0" smtClean="0">
                <a:solidFill>
                  <a:srgbClr val="FF0000"/>
                </a:solidFill>
              </a:rPr>
              <a:t>0 0 0 0      0 0 0      </a:t>
            </a:r>
            <a:r>
              <a:rPr lang="en-US" altLang="zh-CN" b="1" dirty="0" smtClean="0">
                <a:solidFill>
                  <a:srgbClr val="FF0000"/>
                </a:solidFill>
              </a:rPr>
              <a:t>  0 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dirty="0" smtClean="0">
                <a:solidFill>
                  <a:srgbClr val="FF0000"/>
                </a:solidFill>
              </a:rPr>
              <a:t> 0        0 0 0    </a:t>
            </a:r>
            <a:r>
              <a:rPr lang="en-US" altLang="zh-CN" b="1" dirty="0" smtClean="0">
                <a:solidFill>
                  <a:srgbClr val="FF0000"/>
                </a:solidFill>
              </a:rPr>
              <a:t>  0 </a:t>
            </a:r>
            <a:r>
              <a:rPr lang="en-US" altLang="zh-CN" b="1" dirty="0" smtClean="0">
                <a:solidFill>
                  <a:srgbClr val="FF0000"/>
                </a:solidFill>
              </a:rPr>
              <a:t>0 0 0 0 1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1437" y="1690688"/>
            <a:ext cx="1949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0070C0"/>
                </a:solidFill>
              </a:rPr>
              <a:t>01 0000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94977" y="4248878"/>
            <a:ext cx="1919006" cy="333061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845463" y="4901403"/>
            <a:ext cx="406400" cy="230909"/>
          </a:xfrm>
          <a:prstGeom prst="rect">
            <a:avLst/>
          </a:prstGeom>
          <a:solidFill>
            <a:srgbClr val="5B9BD5">
              <a:alpha val="5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70061-B5D9-4F04-9B0A-344081B88A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3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SWAstro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Prin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1953</Words>
  <Application>WPS 演示</Application>
  <PresentationFormat>宽屏</PresentationFormat>
  <Paragraphs>199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宋体</vt:lpstr>
      <vt:lpstr>Wingdings</vt:lpstr>
      <vt:lpstr>SWAstro</vt:lpstr>
      <vt:lpstr>Tw Cen MT</vt:lpstr>
      <vt:lpstr>Segoe Print</vt:lpstr>
      <vt:lpstr>Wingdings 3</vt:lpstr>
      <vt:lpstr>华文仿宋</vt:lpstr>
      <vt:lpstr>微软雅黑</vt:lpstr>
      <vt:lpstr>Arial Unicode MS</vt:lpstr>
      <vt:lpstr>等线</vt:lpstr>
      <vt:lpstr>Sitka Subheading</vt:lpstr>
      <vt:lpstr>Sitka Banner</vt:lpstr>
      <vt:lpstr>SWIsop3</vt:lpstr>
      <vt:lpstr>华文中宋</vt:lpstr>
      <vt:lpstr>积分</vt:lpstr>
      <vt:lpstr>实验四 微程序控制器</vt:lpstr>
      <vt:lpstr>复习</vt:lpstr>
      <vt:lpstr>PowerPoint 演示文稿</vt:lpstr>
      <vt:lpstr>NOP</vt:lpstr>
      <vt:lpstr>指令译码</vt:lpstr>
      <vt:lpstr>指令译码的效果</vt:lpstr>
      <vt:lpstr>R0→A</vt:lpstr>
      <vt:lpstr>R0→B</vt:lpstr>
      <vt:lpstr>A+B→R0</vt:lpstr>
      <vt:lpstr>PowerPoint 演示文稿</vt:lpstr>
      <vt:lpstr>IN→R0</vt:lpstr>
      <vt:lpstr>R0→OUT</vt:lpstr>
      <vt:lpstr>HLT</vt:lpstr>
      <vt:lpstr>目标做一点小小的改动</vt:lpstr>
      <vt:lpstr>相应需要做哪些改变？</vt:lpstr>
      <vt:lpstr>修改后的微程序流程图</vt:lpstr>
      <vt:lpstr>微命令编码格式</vt:lpstr>
      <vt:lpstr>PowerPoint 演示文稿</vt:lpstr>
      <vt:lpstr>IN→AR</vt:lpstr>
      <vt:lpstr>MEM→B</vt:lpstr>
      <vt:lpstr>IN→AR</vt:lpstr>
      <vt:lpstr>R0→MEM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实验四 微程序控制器</dc:title>
  <dc:creator>fofo</dc:creator>
  <cp:lastModifiedBy>花师小哲</cp:lastModifiedBy>
  <cp:revision>34</cp:revision>
  <dcterms:created xsi:type="dcterms:W3CDTF">2017-12-06T14:21:00Z</dcterms:created>
  <dcterms:modified xsi:type="dcterms:W3CDTF">2019-12-12T19:03:40Z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