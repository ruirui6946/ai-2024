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gs" Target="tags/tag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zh-CN" altLang="en-US"/>
              <a:t>操作系统重点概念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第二章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algn="l">
              <a:buClrTx/>
              <a:buSzTx/>
            </a:pPr>
            <a:r>
              <a:rPr lang="zh-CN" altLang="en-US">
                <a:sym typeface="+mn-ea"/>
              </a:rPr>
              <a:t>操作系统主要的成就</a:t>
            </a:r>
            <a:endParaRPr lang="zh-CN" altLang="en-US">
              <a:sym typeface="+mn-ea"/>
            </a:endParaRPr>
          </a:p>
          <a:p>
            <a:pPr algn="l">
              <a:buClrTx/>
              <a:buSzTx/>
            </a:pPr>
            <a:r>
              <a:rPr lang="zh-CN" altLang="en-US">
                <a:sym typeface="+mn-ea"/>
              </a:rPr>
              <a:t>现代操作系统的特征</a:t>
            </a:r>
            <a:endParaRPr lang="zh-CN" altLang="en-US">
              <a:sym typeface="+mn-ea"/>
            </a:endParaRPr>
          </a:p>
          <a:p>
            <a:pPr algn="l">
              <a:buClrTx/>
              <a:buSzTx/>
            </a:pPr>
            <a:r>
              <a:rPr lang="zh-CN" altLang="en-US"/>
              <a:t>多道批处理系统</a:t>
            </a:r>
            <a:endParaRPr lang="zh-CN" altLang="en-US"/>
          </a:p>
          <a:p>
            <a:pPr algn="l">
              <a:buClrTx/>
              <a:buSzTx/>
            </a:pPr>
            <a:r>
              <a:rPr lang="zh-CN" altLang="en-US"/>
              <a:t>分时系统</a:t>
            </a:r>
            <a:endParaRPr lang="zh-CN" altLang="en-US"/>
          </a:p>
          <a:p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第三章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进程</a:t>
            </a:r>
            <a:endParaRPr lang="zh-CN" altLang="en-US"/>
          </a:p>
          <a:p>
            <a:r>
              <a:rPr lang="zh-CN" altLang="en-US"/>
              <a:t>进程基本元素</a:t>
            </a:r>
            <a:endParaRPr lang="zh-CN" altLang="en-US"/>
          </a:p>
          <a:p>
            <a:r>
              <a:rPr lang="zh-CN" altLang="en-US"/>
              <a:t>进程状态模型</a:t>
            </a:r>
            <a:endParaRPr lang="zh-CN" altLang="en-US"/>
          </a:p>
          <a:p>
            <a:r>
              <a:rPr lang="zh-CN" altLang="en-US"/>
              <a:t>进程切换</a:t>
            </a:r>
            <a:endParaRPr lang="zh-CN" altLang="en-US"/>
          </a:p>
          <a:p>
            <a:r>
              <a:rPr lang="zh-CN" altLang="en-US"/>
              <a:t>操作系统与用户进程的关系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第四章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线程</a:t>
            </a:r>
            <a:endParaRPr lang="zh-CN" altLang="en-US"/>
          </a:p>
          <a:p>
            <a:r>
              <a:rPr lang="zh-CN" altLang="en-US"/>
              <a:t>对称多处理</a:t>
            </a:r>
            <a:endParaRPr lang="zh-CN" altLang="en-US"/>
          </a:p>
          <a:p>
            <a:r>
              <a:rPr lang="zh-CN" altLang="en-US"/>
              <a:t>微内核</a:t>
            </a:r>
            <a:endParaRPr lang="zh-CN" altLang="en-US"/>
          </a:p>
          <a:p>
            <a:r>
              <a:rPr lang="zh-CN" altLang="en-US"/>
              <a:t>线程与进程的关系</a:t>
            </a:r>
            <a:endParaRPr lang="zh-CN" altLang="en-US"/>
          </a:p>
          <a:p>
            <a:r>
              <a:rPr lang="zh-CN" altLang="en-US"/>
              <a:t>用户级线程和内核级线程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第五章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20000"/>
          </a:bodyPr>
          <a:p>
            <a:pPr algn="l">
              <a:buClrTx/>
              <a:buSzTx/>
            </a:pPr>
            <a:r>
              <a:rPr lang="zh-CN" altLang="en-US">
                <a:sym typeface="+mn-ea"/>
              </a:rPr>
              <a:t>临界区</a:t>
            </a:r>
            <a:endParaRPr lang="zh-CN" altLang="en-US"/>
          </a:p>
          <a:p>
            <a:pPr algn="l">
              <a:buClrTx/>
              <a:buSzTx/>
            </a:pPr>
            <a:r>
              <a:rPr lang="zh-CN" altLang="en-US">
                <a:sym typeface="+mn-ea"/>
              </a:rPr>
              <a:t>死锁</a:t>
            </a:r>
            <a:endParaRPr lang="zh-CN" altLang="en-US"/>
          </a:p>
          <a:p>
            <a:pPr algn="l">
              <a:buClrTx/>
              <a:buSzTx/>
            </a:pPr>
            <a:r>
              <a:rPr lang="zh-CN" altLang="en-US">
                <a:sym typeface="+mn-ea"/>
              </a:rPr>
              <a:t>活锁</a:t>
            </a:r>
            <a:endParaRPr lang="zh-CN" altLang="en-US"/>
          </a:p>
          <a:p>
            <a:pPr algn="l">
              <a:buClrTx/>
              <a:buSzTx/>
            </a:pPr>
            <a:r>
              <a:rPr lang="zh-CN" altLang="en-US">
                <a:sym typeface="+mn-ea"/>
              </a:rPr>
              <a:t>互斥</a:t>
            </a:r>
            <a:endParaRPr lang="zh-CN" altLang="en-US"/>
          </a:p>
          <a:p>
            <a:pPr algn="l">
              <a:buClrTx/>
              <a:buSzTx/>
            </a:pPr>
            <a:r>
              <a:rPr lang="zh-CN" altLang="en-US">
                <a:sym typeface="+mn-ea"/>
              </a:rPr>
              <a:t>竞争条件</a:t>
            </a:r>
            <a:endParaRPr lang="zh-CN" altLang="en-US"/>
          </a:p>
          <a:p>
            <a:pPr algn="l">
              <a:buClrTx/>
              <a:buSzTx/>
            </a:pPr>
            <a:r>
              <a:rPr lang="zh-CN" altLang="en-US">
                <a:sym typeface="+mn-ea"/>
              </a:rPr>
              <a:t>饿死</a:t>
            </a:r>
            <a:endParaRPr lang="zh-CN" altLang="en-US">
              <a:sym typeface="+mn-ea"/>
            </a:endParaRPr>
          </a:p>
          <a:p>
            <a:r>
              <a:rPr lang="zh-CN" altLang="en-US"/>
              <a:t>信号量</a:t>
            </a:r>
            <a:endParaRPr lang="zh-CN" altLang="en-US"/>
          </a:p>
          <a:p>
            <a:r>
              <a:rPr lang="zh-CN" altLang="en-US"/>
              <a:t>管程</a:t>
            </a:r>
            <a:endParaRPr lang="zh-CN" altLang="en-US"/>
          </a:p>
          <a:p>
            <a:r>
              <a:rPr lang="zh-CN" altLang="en-US"/>
              <a:t>消息</a:t>
            </a:r>
            <a:endParaRPr lang="zh-CN" altLang="en-US"/>
          </a:p>
          <a:p>
            <a:r>
              <a:rPr lang="zh-CN" altLang="en-US"/>
              <a:t>生产者与消费者</a:t>
            </a:r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第六章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algn="l" eaLnBrk="1" hangingPunct="1">
              <a:buClrTx/>
              <a:buSzTx/>
            </a:pPr>
            <a:r>
              <a:rPr lang="zh-CN" altLang="en-US">
                <a:sym typeface="+mn-ea"/>
              </a:rPr>
              <a:t>死锁原理</a:t>
            </a:r>
            <a:endParaRPr lang="zh-CN" altLang="en-US"/>
          </a:p>
          <a:p>
            <a:pPr algn="l" eaLnBrk="1" hangingPunct="1">
              <a:buClrTx/>
              <a:buSzTx/>
            </a:pPr>
            <a:r>
              <a:rPr lang="zh-CN" altLang="en-US">
                <a:sym typeface="+mn-ea"/>
              </a:rPr>
              <a:t>死锁预防</a:t>
            </a:r>
            <a:endParaRPr lang="zh-CN" altLang="en-US"/>
          </a:p>
          <a:p>
            <a:pPr algn="l" eaLnBrk="1" hangingPunct="1">
              <a:buClrTx/>
              <a:buSzTx/>
            </a:pPr>
            <a:r>
              <a:rPr lang="zh-CN" altLang="en-US">
                <a:sym typeface="+mn-ea"/>
              </a:rPr>
              <a:t>死锁避免</a:t>
            </a:r>
            <a:endParaRPr lang="zh-CN" altLang="en-US"/>
          </a:p>
          <a:p>
            <a:pPr algn="l" eaLnBrk="1" hangingPunct="1">
              <a:buClrTx/>
              <a:buSzTx/>
            </a:pPr>
            <a:r>
              <a:rPr lang="zh-CN" altLang="en-US">
                <a:sym typeface="+mn-ea"/>
              </a:rPr>
              <a:t>死锁检测</a:t>
            </a:r>
            <a:endParaRPr lang="zh-CN" altLang="en-US"/>
          </a:p>
          <a:p>
            <a:pPr algn="l" eaLnBrk="1" hangingPunct="1">
              <a:buClrTx/>
              <a:buSzTx/>
            </a:pPr>
            <a:r>
              <a:rPr lang="zh-CN" altLang="en-US">
                <a:sym typeface="+mn-ea"/>
              </a:rPr>
              <a:t>哲学家就餐问题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第七章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algn="l" eaLnBrk="1" hangingPunct="1">
              <a:buClrTx/>
              <a:buSzTx/>
            </a:pPr>
            <a:r>
              <a:rPr lang="zh-CN" altLang="en-US">
                <a:sym typeface="+mn-ea"/>
              </a:rPr>
              <a:t>内存分区</a:t>
            </a:r>
            <a:endParaRPr lang="zh-CN" altLang="en-US"/>
          </a:p>
          <a:p>
            <a:pPr algn="l" eaLnBrk="1" hangingPunct="1">
              <a:buClrTx/>
              <a:buSzTx/>
            </a:pPr>
            <a:r>
              <a:rPr lang="zh-CN" altLang="en-US">
                <a:sym typeface="+mn-ea"/>
              </a:rPr>
              <a:t>分页</a:t>
            </a:r>
            <a:endParaRPr lang="zh-CN" altLang="en-US"/>
          </a:p>
          <a:p>
            <a:pPr algn="l" eaLnBrk="1" hangingPunct="1">
              <a:buClrTx/>
              <a:buSzTx/>
            </a:pPr>
            <a:r>
              <a:rPr lang="zh-CN" altLang="en-US">
                <a:sym typeface="+mn-ea"/>
              </a:rPr>
              <a:t>分段</a:t>
            </a:r>
            <a:endParaRPr lang="zh-CN" altLang="en-US"/>
          </a:p>
          <a:p>
            <a:r>
              <a:rPr lang="zh-CN" altLang="en-US"/>
              <a:t>放置算法</a:t>
            </a:r>
            <a:endParaRPr lang="zh-CN" altLang="en-US"/>
          </a:p>
          <a:p>
            <a:r>
              <a:rPr lang="zh-CN" altLang="en-US"/>
              <a:t>伙伴系统</a:t>
            </a:r>
            <a:endParaRPr lang="zh-CN" altLang="en-US"/>
          </a:p>
          <a:p>
            <a:r>
              <a:rPr lang="zh-CN" altLang="en-US"/>
              <a:t>逻辑地址向物理地址转换方式</a:t>
            </a:r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第八章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zh-CN" altLang="en-US"/>
              <a:t>两级页表</a:t>
            </a:r>
            <a:endParaRPr lang="zh-CN" altLang="en-US"/>
          </a:p>
          <a:p>
            <a:r>
              <a:rPr lang="zh-CN" altLang="en-US"/>
              <a:t>反向页表</a:t>
            </a:r>
            <a:endParaRPr lang="zh-CN" altLang="en-US"/>
          </a:p>
          <a:p>
            <a:r>
              <a:rPr lang="zh-CN" altLang="en-US"/>
              <a:t>分页与分段结合</a:t>
            </a:r>
            <a:endParaRPr lang="zh-CN" altLang="en-US"/>
          </a:p>
          <a:p>
            <a:pPr algn="l" eaLnBrk="1" hangingPunct="1">
              <a:buClrTx/>
              <a:buSzTx/>
            </a:pPr>
            <a:r>
              <a:rPr lang="zh-CN" altLang="en-US">
                <a:sym typeface="+mn-ea"/>
              </a:rPr>
              <a:t>读取策略</a:t>
            </a:r>
            <a:endParaRPr lang="zh-CN" altLang="en-US"/>
          </a:p>
          <a:p>
            <a:pPr algn="l" eaLnBrk="1" hangingPunct="1">
              <a:buClrTx/>
              <a:buSzTx/>
            </a:pPr>
            <a:r>
              <a:rPr lang="zh-CN" altLang="en-US">
                <a:sym typeface="+mn-ea"/>
              </a:rPr>
              <a:t>放置策略</a:t>
            </a:r>
            <a:endParaRPr lang="zh-CN" altLang="en-US"/>
          </a:p>
          <a:p>
            <a:pPr algn="l" eaLnBrk="1" hangingPunct="1">
              <a:buClrTx/>
              <a:buSzTx/>
            </a:pPr>
            <a:r>
              <a:rPr lang="zh-CN" altLang="en-US">
                <a:sym typeface="+mn-ea"/>
              </a:rPr>
              <a:t>替换策略</a:t>
            </a:r>
            <a:endParaRPr lang="zh-CN" altLang="en-US"/>
          </a:p>
          <a:p>
            <a:pPr algn="l" eaLnBrk="1" hangingPunct="1">
              <a:buClrTx/>
              <a:buSzTx/>
            </a:pPr>
            <a:r>
              <a:rPr lang="zh-CN" altLang="en-US">
                <a:sym typeface="+mn-ea"/>
              </a:rPr>
              <a:t>驻留集管理</a:t>
            </a:r>
            <a:endParaRPr lang="zh-CN" altLang="en-US"/>
          </a:p>
          <a:p>
            <a:pPr algn="l" eaLnBrk="1" hangingPunct="1">
              <a:buClrTx/>
              <a:buSzTx/>
            </a:pPr>
            <a:r>
              <a:rPr lang="zh-CN" altLang="en-US">
                <a:sym typeface="+mn-ea"/>
              </a:rPr>
              <a:t>清除策略</a:t>
            </a:r>
            <a:endParaRPr lang="zh-CN" altLang="en-US"/>
          </a:p>
          <a:p>
            <a:pPr algn="l" eaLnBrk="1" hangingPunct="1">
              <a:buClrTx/>
              <a:buSzTx/>
            </a:pPr>
            <a:r>
              <a:rPr lang="zh-CN" altLang="en-US">
                <a:sym typeface="+mn-ea"/>
              </a:rPr>
              <a:t>加载控制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第九章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调度类型</a:t>
            </a:r>
            <a:endParaRPr lang="zh-CN" altLang="en-US"/>
          </a:p>
          <a:p>
            <a:r>
              <a:rPr lang="zh-CN" altLang="en-US"/>
              <a:t>调度算法</a:t>
            </a:r>
            <a:endParaRPr lang="zh-CN" altLang="en-US"/>
          </a:p>
          <a:p>
            <a:r>
              <a:rPr lang="zh-CN" altLang="en-US"/>
              <a:t>公平共享调度</a:t>
            </a:r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第十章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algn="l">
              <a:buClrTx/>
              <a:buSzTx/>
            </a:pPr>
            <a:r>
              <a:rPr lang="zh-CN" altLang="en-US">
                <a:sym typeface="+mn-ea"/>
              </a:rPr>
              <a:t>多处理器调度</a:t>
            </a:r>
            <a:endParaRPr lang="zh-CN" altLang="en-US">
              <a:sym typeface="+mn-ea"/>
            </a:endParaRPr>
          </a:p>
          <a:p>
            <a:pPr algn="l">
              <a:buClrTx/>
              <a:buSzTx/>
            </a:pPr>
            <a:r>
              <a:rPr lang="zh-CN" altLang="en-US">
                <a:sym typeface="+mn-ea"/>
              </a:rPr>
              <a:t>多处理器调度与单处理器调度的区别</a:t>
            </a:r>
            <a:endParaRPr lang="zh-CN" altLang="en-US">
              <a:sym typeface="+mn-ea"/>
            </a:endParaRPr>
          </a:p>
          <a:p>
            <a:r>
              <a:rPr lang="zh-CN" altLang="en-US"/>
              <a:t>实时调度</a:t>
            </a:r>
            <a:endParaRPr lang="zh-CN" altLang="en-US"/>
          </a:p>
          <a:p>
            <a:r>
              <a:rPr lang="zh-CN" altLang="en-US"/>
              <a:t>实时系统基本要求</a:t>
            </a:r>
            <a:endParaRPr lang="zh-CN" altLang="en-US"/>
          </a:p>
          <a:p>
            <a:r>
              <a:rPr lang="zh-CN" altLang="en-US"/>
              <a:t>时限调度</a:t>
            </a:r>
            <a:endParaRPr lang="zh-CN" altLang="en-US"/>
          </a:p>
          <a:p>
            <a:r>
              <a:rPr lang="zh-CN" altLang="en-US"/>
              <a:t>优先级逆转</a:t>
            </a:r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第十一章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algn="l" eaLnBrk="1" hangingPunct="1">
              <a:buClrTx/>
              <a:buSzTx/>
            </a:pPr>
            <a:r>
              <a:rPr lang="zh-CN" altLang="en-US">
                <a:sym typeface="+mn-ea"/>
              </a:rPr>
              <a:t>磁盘调度算法</a:t>
            </a:r>
            <a:endParaRPr lang="zh-CN" altLang="en-US"/>
          </a:p>
          <a:p>
            <a:pPr algn="l" eaLnBrk="1" hangingPunct="1">
              <a:buClrTx/>
              <a:buSzTx/>
            </a:pPr>
            <a:r>
              <a:rPr lang="zh-CN" altLang="en-US">
                <a:sym typeface="+mn-ea"/>
              </a:rPr>
              <a:t>RAID各个级别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第十二章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文件系统软件结构</a:t>
            </a:r>
            <a:endParaRPr lang="zh-CN" altLang="en-US"/>
          </a:p>
          <a:p>
            <a:r>
              <a:rPr lang="zh-CN" altLang="en-US"/>
              <a:t>文件组织类型</a:t>
            </a:r>
            <a:endParaRPr lang="zh-CN" altLang="en-US"/>
          </a:p>
          <a:p>
            <a:r>
              <a:rPr lang="zh-CN" altLang="en-US"/>
              <a:t>层次目录结构</a:t>
            </a:r>
            <a:endParaRPr lang="zh-CN" altLang="en-US"/>
          </a:p>
          <a:p>
            <a:r>
              <a:rPr lang="zh-CN" altLang="en-US"/>
              <a:t>记录组块</a:t>
            </a:r>
            <a:endParaRPr lang="zh-CN" altLang="en-US"/>
          </a:p>
          <a:p>
            <a:r>
              <a:rPr lang="zh-CN" altLang="en-US"/>
              <a:t>文件分配方法</a:t>
            </a:r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MGRlMzE1NmU5NGVjNjg2MzIyYjQyMTM1ZjkxNWYxOTE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353</Words>
  <Application>WPS 演示</Application>
  <PresentationFormat>宽屏</PresentationFormat>
  <Paragraphs>101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9" baseType="lpstr">
      <vt:lpstr>Arial</vt:lpstr>
      <vt:lpstr>宋体</vt:lpstr>
      <vt:lpstr>Wingdings</vt:lpstr>
      <vt:lpstr>Arial Unicode MS</vt:lpstr>
      <vt:lpstr>Calibri</vt:lpstr>
      <vt:lpstr>微软雅黑</vt:lpstr>
      <vt:lpstr>Office 主题</vt:lpstr>
      <vt:lpstr>PowerPoint 演示文稿</vt:lpstr>
      <vt:lpstr>PowerPoint 演示文稿</vt:lpstr>
      <vt:lpstr>第二章</vt:lpstr>
      <vt:lpstr>第二章</vt:lpstr>
      <vt:lpstr>第二章</vt:lpstr>
      <vt:lpstr>第二章</vt:lpstr>
      <vt:lpstr>第二章</vt:lpstr>
      <vt:lpstr>第二章</vt:lpstr>
      <vt:lpstr>第二章</vt:lpstr>
      <vt:lpstr>第二章</vt:lpstr>
      <vt:lpstr>第二章</vt:lpstr>
      <vt:lpstr>第二章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another</dc:creator>
  <cp:lastModifiedBy>anoth</cp:lastModifiedBy>
  <cp:revision>10</cp:revision>
  <dcterms:created xsi:type="dcterms:W3CDTF">2022-12-27T11:51:00Z</dcterms:created>
  <dcterms:modified xsi:type="dcterms:W3CDTF">2022-12-27T12:26:44Z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86038E2246FE402FBCD41B1010C540EE</vt:lpwstr>
  </property>
  <property fmtid="{D5CDD505-2E9C-101B-9397-08002B2CF9AE}" pid="3" name="KSOProductBuildVer">
    <vt:lpwstr>2052-11.1.0.12132</vt:lpwstr>
  </property>
</Properties>
</file>