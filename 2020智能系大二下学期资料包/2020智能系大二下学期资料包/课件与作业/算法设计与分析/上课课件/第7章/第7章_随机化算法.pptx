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70"/>
  </p:handoutMasterIdLst>
  <p:sldIdLst>
    <p:sldId id="256" r:id="rId3"/>
    <p:sldId id="277" r:id="rId5"/>
    <p:sldId id="287" r:id="rId6"/>
    <p:sldId id="257" r:id="rId7"/>
    <p:sldId id="280" r:id="rId8"/>
    <p:sldId id="283" r:id="rId9"/>
    <p:sldId id="284" r:id="rId10"/>
    <p:sldId id="285" r:id="rId11"/>
    <p:sldId id="286" r:id="rId12"/>
    <p:sldId id="281" r:id="rId13"/>
    <p:sldId id="289" r:id="rId14"/>
    <p:sldId id="282" r:id="rId15"/>
    <p:sldId id="259" r:id="rId16"/>
    <p:sldId id="288" r:id="rId17"/>
    <p:sldId id="260" r:id="rId18"/>
    <p:sldId id="261" r:id="rId19"/>
    <p:sldId id="290" r:id="rId20"/>
    <p:sldId id="291" r:id="rId21"/>
    <p:sldId id="294" r:id="rId22"/>
    <p:sldId id="295" r:id="rId23"/>
    <p:sldId id="292" r:id="rId24"/>
    <p:sldId id="293" r:id="rId25"/>
    <p:sldId id="262" r:id="rId26"/>
    <p:sldId id="296" r:id="rId27"/>
    <p:sldId id="297" r:id="rId28"/>
    <p:sldId id="298" r:id="rId29"/>
    <p:sldId id="299" r:id="rId30"/>
    <p:sldId id="263" r:id="rId31"/>
    <p:sldId id="267" r:id="rId32"/>
    <p:sldId id="302" r:id="rId33"/>
    <p:sldId id="303" r:id="rId34"/>
    <p:sldId id="304" r:id="rId35"/>
    <p:sldId id="305" r:id="rId36"/>
    <p:sldId id="306" r:id="rId37"/>
    <p:sldId id="307" r:id="rId38"/>
    <p:sldId id="308" r:id="rId39"/>
    <p:sldId id="309" r:id="rId40"/>
    <p:sldId id="310" r:id="rId41"/>
    <p:sldId id="311" r:id="rId42"/>
    <p:sldId id="312" r:id="rId43"/>
    <p:sldId id="313" r:id="rId44"/>
    <p:sldId id="314" r:id="rId45"/>
    <p:sldId id="315" r:id="rId46"/>
    <p:sldId id="316" r:id="rId47"/>
    <p:sldId id="317" r:id="rId48"/>
    <p:sldId id="318" r:id="rId49"/>
    <p:sldId id="319" r:id="rId50"/>
    <p:sldId id="320" r:id="rId51"/>
    <p:sldId id="321" r:id="rId52"/>
    <p:sldId id="322" r:id="rId53"/>
    <p:sldId id="323" r:id="rId54"/>
    <p:sldId id="324" r:id="rId55"/>
    <p:sldId id="325" r:id="rId56"/>
    <p:sldId id="326" r:id="rId57"/>
    <p:sldId id="327" r:id="rId58"/>
    <p:sldId id="328" r:id="rId59"/>
    <p:sldId id="329" r:id="rId60"/>
    <p:sldId id="330" r:id="rId61"/>
    <p:sldId id="331" r:id="rId62"/>
    <p:sldId id="332" r:id="rId63"/>
    <p:sldId id="333" r:id="rId64"/>
    <p:sldId id="334" r:id="rId65"/>
    <p:sldId id="335" r:id="rId66"/>
    <p:sldId id="336" r:id="rId67"/>
    <p:sldId id="337" r:id="rId68"/>
    <p:sldId id="301" r:id="rId6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FF"/>
    <a:srgbClr val="DDDDDD"/>
    <a:srgbClr val="663300"/>
    <a:srgbClr val="000066"/>
    <a:srgbClr val="CC0000"/>
    <a:srgbClr val="800000"/>
    <a:srgbClr val="A50021"/>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48" autoAdjust="0"/>
    <p:restoredTop sz="96694" autoAdjust="0"/>
  </p:normalViewPr>
  <p:slideViewPr>
    <p:cSldViewPr>
      <p:cViewPr varScale="1">
        <p:scale>
          <a:sx n="70" d="100"/>
          <a:sy n="70" d="100"/>
        </p:scale>
        <p:origin x="135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3" Type="http://schemas.openxmlformats.org/officeDocument/2006/relationships/tableStyles" Target="tableStyles.xml"/><Relationship Id="rId72" Type="http://schemas.openxmlformats.org/officeDocument/2006/relationships/viewProps" Target="viewProps.xml"/><Relationship Id="rId71" Type="http://schemas.openxmlformats.org/officeDocument/2006/relationships/presProps" Target="presProps.xml"/><Relationship Id="rId70" Type="http://schemas.openxmlformats.org/officeDocument/2006/relationships/handoutMaster" Target="handoutMasters/handoutMaster1.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8.vml.rels><?xml version="1.0" encoding="UTF-8" standalone="yes"?>
<Relationships xmlns="http://schemas.openxmlformats.org/package/2006/relationships"><Relationship Id="rId4" Type="http://schemas.openxmlformats.org/officeDocument/2006/relationships/image" Target="../media/image20.w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4.vml.rels><?xml version="1.0" encoding="UTF-8" standalone="yes"?>
<Relationships xmlns="http://schemas.openxmlformats.org/package/2006/relationships"><Relationship Id="rId5" Type="http://schemas.openxmlformats.org/officeDocument/2006/relationships/image" Target="../media/image43.wmf"/><Relationship Id="rId4" Type="http://schemas.openxmlformats.org/officeDocument/2006/relationships/image" Target="../media/image42.wmf"/><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0.wmf"/></Relationships>
</file>

<file path=ppt/drawings/_rels/vmlDrawing16.vml.rels><?xml version="1.0" encoding="UTF-8" standalone="yes"?>
<Relationships xmlns="http://schemas.openxmlformats.org/package/2006/relationships"><Relationship Id="rId4" Type="http://schemas.openxmlformats.org/officeDocument/2006/relationships/image" Target="../media/image49.wmf"/><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5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85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zh-CN" altLang="en-US"/>
          </a:p>
        </p:txBody>
      </p:sp>
      <p:sp>
        <p:nvSpPr>
          <p:cNvPr id="10854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10854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10854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A3AD39C7-9A1F-4EE3-A072-53786C2AA82B}"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zh-CN" altLang="en-US"/>
          </a:p>
        </p:txBody>
      </p:sp>
      <p:sp>
        <p:nvSpPr>
          <p:cNvPr id="2662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266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662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2663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2663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87C0999F-819E-4FD4-BA79-DDAA0E4EDECC}"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EF24E1E-7BFE-42A6-B87A-E8F1BCAD296B}" type="slidenum">
              <a:rPr lang="zh-CN" altLang="en-US"/>
            </a:fld>
            <a:endParaRPr lang="en-US" altLang="zh-CN"/>
          </a:p>
        </p:txBody>
      </p:sp>
      <p:sp>
        <p:nvSpPr>
          <p:cNvPr id="27650" name="Rectangle 2"/>
          <p:cNvSpPr>
            <a:spLocks noGrp="1" noRot="1" noChangeAspect="1" noChangeArrowheads="1" noTextEdit="1"/>
          </p:cNvSpPr>
          <p:nvPr>
            <p:ph type="sldImg"/>
          </p:nvPr>
        </p:nvSpPr>
        <p:spPr/>
      </p:sp>
      <p:sp>
        <p:nvSpPr>
          <p:cNvPr id="27651" name="Rectangle 3"/>
          <p:cNvSpPr>
            <a:spLocks noGrp="1" noChangeArrowheads="1"/>
          </p:cNvSpPr>
          <p:nvPr>
            <p:ph type="body" idx="1"/>
          </p:nvPr>
        </p:nvSpPr>
        <p:spPr/>
        <p:txBody>
          <a:bodyPr/>
          <a:lstStyle/>
          <a:p>
            <a:r>
              <a:rPr lang="zh-CN" altLang="en-US"/>
              <a:t>欢迎辞</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325634" name="Line 2"/>
          <p:cNvSpPr>
            <a:spLocks noChangeShapeType="1"/>
          </p:cNvSpPr>
          <p:nvPr/>
        </p:nvSpPr>
        <p:spPr bwMode="auto">
          <a:xfrm>
            <a:off x="7315200" y="1066800"/>
            <a:ext cx="0" cy="449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5635" name="Rectangle 3"/>
          <p:cNvSpPr>
            <a:spLocks noGrp="1" noChangeArrowheads="1"/>
          </p:cNvSpPr>
          <p:nvPr>
            <p:ph type="ctrTitle"/>
          </p:nvPr>
        </p:nvSpPr>
        <p:spPr>
          <a:xfrm>
            <a:off x="315913" y="466725"/>
            <a:ext cx="6781800" cy="2133600"/>
          </a:xfrm>
        </p:spPr>
        <p:txBody>
          <a:bodyPr/>
          <a:lstStyle>
            <a:lvl1pPr algn="r">
              <a:defRPr sz="4800"/>
            </a:lvl1pPr>
          </a:lstStyle>
          <a:p>
            <a:pPr lvl="0"/>
            <a:r>
              <a:rPr lang="en-US" altLang="zh-CN" noProof="0" smtClean="0"/>
              <a:t>单击此处编辑母版标题样式</a:t>
            </a:r>
            <a:endParaRPr lang="en-US" altLang="zh-CN" noProof="0" smtClean="0"/>
          </a:p>
        </p:txBody>
      </p:sp>
      <p:sp>
        <p:nvSpPr>
          <p:cNvPr id="325636"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pPr lvl="0"/>
            <a:r>
              <a:rPr lang="en-US" altLang="zh-CN" noProof="0" smtClean="0"/>
              <a:t>单击此处编辑母版副标题样式</a:t>
            </a:r>
            <a:endParaRPr lang="en-US" altLang="zh-CN" noProof="0" smtClean="0"/>
          </a:p>
        </p:txBody>
      </p:sp>
      <p:sp>
        <p:nvSpPr>
          <p:cNvPr id="325637" name="Rectangle 5"/>
          <p:cNvSpPr>
            <a:spLocks noGrp="1" noChangeArrowheads="1"/>
          </p:cNvSpPr>
          <p:nvPr>
            <p:ph type="dt" sz="half" idx="2"/>
          </p:nvPr>
        </p:nvSpPr>
        <p:spPr/>
        <p:txBody>
          <a:bodyPr/>
          <a:lstStyle>
            <a:lvl1pPr>
              <a:defRPr/>
            </a:lvl1pPr>
          </a:lstStyle>
          <a:p>
            <a:endParaRPr lang="en-US" altLang="zh-CN"/>
          </a:p>
        </p:txBody>
      </p:sp>
      <p:sp>
        <p:nvSpPr>
          <p:cNvPr id="325638" name="Rectangle 6"/>
          <p:cNvSpPr>
            <a:spLocks noGrp="1" noChangeArrowheads="1"/>
          </p:cNvSpPr>
          <p:nvPr>
            <p:ph type="ftr" sz="quarter" idx="3"/>
          </p:nvPr>
        </p:nvSpPr>
        <p:spPr/>
        <p:txBody>
          <a:bodyPr/>
          <a:lstStyle>
            <a:lvl1pPr>
              <a:defRPr/>
            </a:lvl1pPr>
          </a:lstStyle>
          <a:p>
            <a:endParaRPr lang="en-US" altLang="zh-CN"/>
          </a:p>
        </p:txBody>
      </p:sp>
      <p:sp>
        <p:nvSpPr>
          <p:cNvPr id="325639" name="Rectangle 7"/>
          <p:cNvSpPr>
            <a:spLocks noGrp="1" noChangeArrowheads="1"/>
          </p:cNvSpPr>
          <p:nvPr>
            <p:ph type="sldNum" sz="quarter" idx="4"/>
          </p:nvPr>
        </p:nvSpPr>
        <p:spPr/>
        <p:txBody>
          <a:bodyPr/>
          <a:lstStyle>
            <a:lvl1pPr>
              <a:defRPr/>
            </a:lvl1pPr>
          </a:lstStyle>
          <a:p>
            <a:fld id="{1EF82EC4-5643-4391-8488-57D6DA08CBF4}" type="slidenum">
              <a:rPr lang="en-US" altLang="zh-CN"/>
            </a:fld>
            <a:endParaRPr lang="en-US" altLang="zh-CN"/>
          </a:p>
        </p:txBody>
      </p:sp>
      <p:grpSp>
        <p:nvGrpSpPr>
          <p:cNvPr id="325640" name="Group 8"/>
          <p:cNvGrpSpPr/>
          <p:nvPr/>
        </p:nvGrpSpPr>
        <p:grpSpPr bwMode="auto">
          <a:xfrm>
            <a:off x="7493000" y="2992438"/>
            <a:ext cx="1338263" cy="2189162"/>
            <a:chOff x="4704" y="1885"/>
            <a:chExt cx="843" cy="1379"/>
          </a:xfrm>
        </p:grpSpPr>
        <p:sp>
          <p:nvSpPr>
            <p:cNvPr id="325641"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42"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43"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44"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45"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46"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47"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48"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49"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50"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51"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52"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53"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54"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55"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56"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57"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58"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59"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60"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61"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62"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63"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64"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65"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66"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67"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68"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69"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70"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5671"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25672" name="Line 40"/>
          <p:cNvSpPr>
            <a:spLocks noChangeShapeType="1"/>
          </p:cNvSpPr>
          <p:nvPr/>
        </p:nvSpPr>
        <p:spPr bwMode="auto">
          <a:xfrm>
            <a:off x="304800" y="2819400"/>
            <a:ext cx="8229600" cy="0"/>
          </a:xfrm>
          <a:prstGeom prst="line">
            <a:avLst/>
          </a:prstGeom>
          <a:noFill/>
          <a:ln w="63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9C18F41-D8D4-4C32-8DB8-B4C1B14B52BC}"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0DA86815-7FF9-4AFD-A216-599DAD82D71B}"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07245C42-BFF7-4274-BAAF-E77D676B6E11}"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E7C9C890-1D18-4790-9CFD-BFD72E87C50C}"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D2B6E8C8-DF23-486C-81A6-05504BE6AC29}"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E10116D3-BEC2-45EF-8C14-EF04C8F9F084}"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5A4D246-D63B-420B-8C27-144EA9416CDD}"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7662C78-FB43-4CDD-AFAA-551047777A87}"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8355675-307D-4FB3-A2C4-5B074142302F}"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DB57A2C-C9FC-4EBD-A0D4-978DF38A22EC}"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719263"/>
            <a:ext cx="4038600" cy="441166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a:xfrm>
            <a:off x="457200" y="6248400"/>
            <a:ext cx="21336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8400"/>
            <a:ext cx="2133600" cy="457200"/>
          </a:xfrm>
        </p:spPr>
        <p:txBody>
          <a:bodyPr/>
          <a:lstStyle>
            <a:lvl1pPr>
              <a:defRPr/>
            </a:lvl1pPr>
          </a:lstStyle>
          <a:p>
            <a:fld id="{F3D78C0C-8DF9-43BF-9152-212B1D36F4D5}"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122238"/>
            <a:ext cx="8229600" cy="6008687"/>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457200" y="6248400"/>
            <a:ext cx="2133600" cy="457200"/>
          </a:xfrm>
        </p:spPr>
        <p:txBody>
          <a:bodyPr/>
          <a:lstStyle>
            <a:lvl1pPr>
              <a:defRPr/>
            </a:lvl1pPr>
          </a:lstStyle>
          <a:p>
            <a:endParaRPr lang="en-US" altLang="zh-CN"/>
          </a:p>
        </p:txBody>
      </p:sp>
      <p:sp>
        <p:nvSpPr>
          <p:cNvPr id="4" name="页脚占位符 3"/>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8400"/>
            <a:ext cx="2133600" cy="457200"/>
          </a:xfrm>
        </p:spPr>
        <p:txBody>
          <a:bodyPr/>
          <a:lstStyle>
            <a:lvl1pPr>
              <a:defRPr/>
            </a:lvl1pPr>
          </a:lstStyle>
          <a:p>
            <a:fld id="{D4F35660-33D4-49A1-8837-828112A38662}" type="slidenum">
              <a:rPr lang="en-US" altLang="zh-CN"/>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719263"/>
            <a:ext cx="8229600" cy="4411662"/>
          </a:xfrm>
        </p:spPr>
        <p:txBody>
          <a:bodyPr/>
          <a:lstStyle/>
          <a:p>
            <a:endParaRPr lang="zh-CN" altLang="en-US"/>
          </a:p>
        </p:txBody>
      </p:sp>
      <p:sp>
        <p:nvSpPr>
          <p:cNvPr id="4" name="日期占位符 3"/>
          <p:cNvSpPr>
            <a:spLocks noGrp="1"/>
          </p:cNvSpPr>
          <p:nvPr>
            <p:ph type="dt" sz="half" idx="10"/>
          </p:nvPr>
        </p:nvSpPr>
        <p:spPr>
          <a:xfrm>
            <a:off x="457200" y="6248400"/>
            <a:ext cx="2133600" cy="457200"/>
          </a:xfrm>
        </p:spPr>
        <p:txBody>
          <a:bodyPr/>
          <a:lstStyle>
            <a:lvl1pPr>
              <a:defRPr/>
            </a:lvl1pPr>
          </a:lstStyle>
          <a:p>
            <a:endParaRPr lang="en-US" altLang="zh-CN"/>
          </a:p>
        </p:txBody>
      </p:sp>
      <p:sp>
        <p:nvSpPr>
          <p:cNvPr id="5" name="页脚占位符 4"/>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6" name="灯片编号占位符 5"/>
          <p:cNvSpPr>
            <a:spLocks noGrp="1"/>
          </p:cNvSpPr>
          <p:nvPr>
            <p:ph type="sldNum" sz="quarter" idx="12"/>
          </p:nvPr>
        </p:nvSpPr>
        <p:spPr>
          <a:xfrm>
            <a:off x="6553200" y="6248400"/>
            <a:ext cx="2133600" cy="457200"/>
          </a:xfrm>
        </p:spPr>
        <p:txBody>
          <a:bodyPr/>
          <a:lstStyle>
            <a:lvl1pPr>
              <a:defRPr/>
            </a:lvl1pPr>
          </a:lstStyle>
          <a:p>
            <a:fld id="{6E4646F3-6C22-472A-B98A-B17E36DB3CA7}"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4610" name="Line 2"/>
          <p:cNvSpPr>
            <a:spLocks noChangeShapeType="1"/>
          </p:cNvSpPr>
          <p:nvPr/>
        </p:nvSpPr>
        <p:spPr bwMode="auto">
          <a:xfrm>
            <a:off x="7962900" y="152400"/>
            <a:ext cx="0" cy="1524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4611" name="Rectangle 3"/>
          <p:cNvSpPr>
            <a:spLocks noGrp="1" noChangeArrowheads="1"/>
          </p:cNvSpPr>
          <p:nvPr>
            <p:ph type="title"/>
          </p:nvPr>
        </p:nvSpPr>
        <p:spPr bwMode="auto">
          <a:xfrm>
            <a:off x="457200" y="122238"/>
            <a:ext cx="75438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en-US" altLang="zh-CN" smtClean="0"/>
              <a:t>单击此处编辑母版标题样式</a:t>
            </a:r>
            <a:endParaRPr lang="en-US" altLang="zh-CN" smtClean="0"/>
          </a:p>
        </p:txBody>
      </p:sp>
      <p:sp>
        <p:nvSpPr>
          <p:cNvPr id="324612" name="Rectangle 4"/>
          <p:cNvSpPr>
            <a:spLocks noGrp="1" noChangeArrowheads="1"/>
          </p:cNvSpPr>
          <p:nvPr>
            <p:ph type="body" idx="1"/>
          </p:nvPr>
        </p:nvSpPr>
        <p:spPr bwMode="auto">
          <a:xfrm>
            <a:off x="457200" y="1719263"/>
            <a:ext cx="82296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smtClean="0"/>
              <a:t>单击此处编辑母版文本样式</a:t>
            </a:r>
            <a:endParaRPr lang="en-US" altLang="zh-CN" smtClean="0"/>
          </a:p>
          <a:p>
            <a:pPr lvl="1"/>
            <a:r>
              <a:rPr lang="en-US" altLang="zh-CN" smtClean="0"/>
              <a:t>第二级</a:t>
            </a:r>
            <a:endParaRPr lang="en-US" altLang="zh-CN" smtClean="0"/>
          </a:p>
          <a:p>
            <a:pPr lvl="2"/>
            <a:r>
              <a:rPr lang="en-US" altLang="zh-CN" smtClean="0"/>
              <a:t>第三级</a:t>
            </a:r>
            <a:endParaRPr lang="en-US" altLang="zh-CN" smtClean="0"/>
          </a:p>
          <a:p>
            <a:pPr lvl="3"/>
            <a:r>
              <a:rPr lang="en-US" altLang="zh-CN" smtClean="0"/>
              <a:t>第四级</a:t>
            </a:r>
            <a:endParaRPr lang="en-US" altLang="zh-CN" smtClean="0"/>
          </a:p>
          <a:p>
            <a:pPr lvl="4"/>
            <a:r>
              <a:rPr lang="en-US" altLang="zh-CN" smtClean="0"/>
              <a:t>第五级</a:t>
            </a:r>
            <a:endParaRPr lang="en-US" altLang="zh-CN" smtClean="0"/>
          </a:p>
        </p:txBody>
      </p:sp>
      <p:sp>
        <p:nvSpPr>
          <p:cNvPr id="324613" name="Rectangle 5"/>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000"/>
            </a:lvl1pPr>
          </a:lstStyle>
          <a:p>
            <a:endParaRPr lang="en-US" altLang="zh-CN"/>
          </a:p>
        </p:txBody>
      </p:sp>
      <p:sp>
        <p:nvSpPr>
          <p:cNvPr id="324614" name="Rectangle 6"/>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000"/>
            </a:lvl1pPr>
          </a:lstStyle>
          <a:p>
            <a:endParaRPr lang="en-US" altLang="zh-CN"/>
          </a:p>
        </p:txBody>
      </p:sp>
      <p:sp>
        <p:nvSpPr>
          <p:cNvPr id="324615" name="Rectangle 7"/>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000"/>
            </a:lvl1pPr>
          </a:lstStyle>
          <a:p>
            <a:fld id="{DF9039FB-CD0A-467A-B097-6EC06731E3FE}" type="slidenum">
              <a:rPr lang="en-US" altLang="zh-CN"/>
            </a:fld>
            <a:endParaRPr lang="en-US" altLang="zh-CN"/>
          </a:p>
        </p:txBody>
      </p:sp>
      <p:grpSp>
        <p:nvGrpSpPr>
          <p:cNvPr id="324616" name="Group 8"/>
          <p:cNvGrpSpPr/>
          <p:nvPr/>
        </p:nvGrpSpPr>
        <p:grpSpPr bwMode="auto">
          <a:xfrm>
            <a:off x="8153400" y="152400"/>
            <a:ext cx="792163" cy="1295400"/>
            <a:chOff x="5136" y="960"/>
            <a:chExt cx="528" cy="864"/>
          </a:xfrm>
        </p:grpSpPr>
        <p:sp>
          <p:nvSpPr>
            <p:cNvPr id="324617"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18"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19"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20"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21"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22"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23"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24"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25"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26"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27"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28"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29"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30"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31"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32"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33"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34"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35"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36"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37"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38"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39"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40"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41"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42"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43"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44"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45"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46"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4647"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iming>
    <p:tnLst>
      <p:par>
        <p:cTn id="1" dur="indefinite" restart="never" nodeType="tmRoot"/>
      </p:par>
    </p:tnLst>
  </p:timing>
  <p:hf hdr="0" ftr="0" dt="0"/>
  <p:txStyles>
    <p:titleStyle>
      <a:lvl1pPr algn="l" rtl="0" fontAlgn="base">
        <a:spcBef>
          <a:spcPct val="0"/>
        </a:spcBef>
        <a:spcAft>
          <a:spcPct val="0"/>
        </a:spcAft>
        <a:defRPr sz="3900" b="1">
          <a:solidFill>
            <a:schemeClr val="tx2"/>
          </a:solidFill>
          <a:latin typeface="+mj-lt"/>
          <a:ea typeface="+mj-ea"/>
          <a:cs typeface="+mj-cs"/>
        </a:defRPr>
      </a:lvl1pPr>
      <a:lvl2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fontAlgn="base">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fontAlgn="base">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fontAlgn="base">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6.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wmf"/><Relationship Id="rId1"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7" Type="http://schemas.openxmlformats.org/officeDocument/2006/relationships/vmlDrawing" Target="../drawings/vmlDrawing3.vml"/><Relationship Id="rId6" Type="http://schemas.openxmlformats.org/officeDocument/2006/relationships/slideLayout" Target="../slideLayouts/slideLayout7.xml"/><Relationship Id="rId5" Type="http://schemas.openxmlformats.org/officeDocument/2006/relationships/image" Target="../media/image4.wmf"/><Relationship Id="rId4" Type="http://schemas.openxmlformats.org/officeDocument/2006/relationships/oleObject" Target="../embeddings/oleObject4.bin"/><Relationship Id="rId3" Type="http://schemas.openxmlformats.org/officeDocument/2006/relationships/image" Target="../media/image3.wmf"/><Relationship Id="rId2" Type="http://schemas.openxmlformats.org/officeDocument/2006/relationships/oleObject" Target="../embeddings/oleObject3.bin"/><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7.xml"/><Relationship Id="rId7" Type="http://schemas.openxmlformats.org/officeDocument/2006/relationships/image" Target="../media/image8.wmf"/><Relationship Id="rId6" Type="http://schemas.openxmlformats.org/officeDocument/2006/relationships/oleObject" Target="../embeddings/oleObject7.bin"/><Relationship Id="rId5" Type="http://schemas.openxmlformats.org/officeDocument/2006/relationships/image" Target="../media/image7.wmf"/><Relationship Id="rId4" Type="http://schemas.openxmlformats.org/officeDocument/2006/relationships/oleObject" Target="../embeddings/oleObject6.bin"/><Relationship Id="rId3" Type="http://schemas.openxmlformats.org/officeDocument/2006/relationships/image" Target="../media/image6.png"/><Relationship Id="rId2" Type="http://schemas.openxmlformats.org/officeDocument/2006/relationships/image" Target="../media/image5.wmf"/><Relationship Id="rId1"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2.wmf"/><Relationship Id="rId7" Type="http://schemas.openxmlformats.org/officeDocument/2006/relationships/oleObject" Target="../embeddings/oleObject11.bin"/><Relationship Id="rId6" Type="http://schemas.openxmlformats.org/officeDocument/2006/relationships/image" Target="../media/image11.wmf"/><Relationship Id="rId5" Type="http://schemas.openxmlformats.org/officeDocument/2006/relationships/oleObject" Target="../embeddings/oleObject10.bin"/><Relationship Id="rId4" Type="http://schemas.openxmlformats.org/officeDocument/2006/relationships/image" Target="../media/image10.wmf"/><Relationship Id="rId3" Type="http://schemas.openxmlformats.org/officeDocument/2006/relationships/oleObject" Target="../embeddings/oleObject9.bin"/><Relationship Id="rId2" Type="http://schemas.openxmlformats.org/officeDocument/2006/relationships/image" Target="../media/image9.wmf"/><Relationship Id="rId10" Type="http://schemas.openxmlformats.org/officeDocument/2006/relationships/vmlDrawing" Target="../drawings/vmlDrawing5.vml"/><Relationship Id="rId1" Type="http://schemas.openxmlformats.org/officeDocument/2006/relationships/oleObject" Target="../embeddings/oleObject8.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4.wmf"/><Relationship Id="rId1" Type="http://schemas.openxmlformats.org/officeDocument/2006/relationships/oleObject" Target="../embeddings/oleObject12.bin"/></Relationships>
</file>

<file path=ppt/slides/_rels/slide23.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7.xml"/><Relationship Id="rId4" Type="http://schemas.openxmlformats.org/officeDocument/2006/relationships/image" Target="../media/image16.wmf"/><Relationship Id="rId3" Type="http://schemas.openxmlformats.org/officeDocument/2006/relationships/oleObject" Target="../embeddings/oleObject14.bin"/><Relationship Id="rId2" Type="http://schemas.openxmlformats.org/officeDocument/2006/relationships/image" Target="../media/image15.wmf"/><Relationship Id="rId1" Type="http://schemas.openxmlformats.org/officeDocument/2006/relationships/oleObject" Target="../embeddings/oleObject13.bin"/></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0.wmf"/><Relationship Id="rId7" Type="http://schemas.openxmlformats.org/officeDocument/2006/relationships/oleObject" Target="../embeddings/oleObject18.bin"/><Relationship Id="rId6" Type="http://schemas.openxmlformats.org/officeDocument/2006/relationships/image" Target="../media/image19.wmf"/><Relationship Id="rId5" Type="http://schemas.openxmlformats.org/officeDocument/2006/relationships/oleObject" Target="../embeddings/oleObject17.bin"/><Relationship Id="rId4" Type="http://schemas.openxmlformats.org/officeDocument/2006/relationships/image" Target="../media/image18.wmf"/><Relationship Id="rId3" Type="http://schemas.openxmlformats.org/officeDocument/2006/relationships/oleObject" Target="../embeddings/oleObject16.bin"/><Relationship Id="rId2" Type="http://schemas.openxmlformats.org/officeDocument/2006/relationships/image" Target="../media/image17.wmf"/><Relationship Id="rId10" Type="http://schemas.openxmlformats.org/officeDocument/2006/relationships/vmlDrawing" Target="../drawings/vmlDrawing8.vml"/><Relationship Id="rId1" Type="http://schemas.openxmlformats.org/officeDocument/2006/relationships/oleObject" Target="../embeddings/oleObject15.bin"/></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13.xml"/><Relationship Id="rId2" Type="http://schemas.openxmlformats.org/officeDocument/2006/relationships/image" Target="../media/image21.wmf"/><Relationship Id="rId1" Type="http://schemas.openxmlformats.org/officeDocument/2006/relationships/oleObject" Target="../embeddings/oleObject19.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7.xml"/><Relationship Id="rId6" Type="http://schemas.openxmlformats.org/officeDocument/2006/relationships/image" Target="../media/image24.wmf"/><Relationship Id="rId5" Type="http://schemas.openxmlformats.org/officeDocument/2006/relationships/oleObject" Target="../embeddings/oleObject22.bin"/><Relationship Id="rId4" Type="http://schemas.openxmlformats.org/officeDocument/2006/relationships/image" Target="../media/image23.wmf"/><Relationship Id="rId3" Type="http://schemas.openxmlformats.org/officeDocument/2006/relationships/oleObject" Target="../embeddings/oleObject21.bin"/><Relationship Id="rId2" Type="http://schemas.openxmlformats.org/officeDocument/2006/relationships/image" Target="../media/image22.wmf"/><Relationship Id="rId1" Type="http://schemas.openxmlformats.org/officeDocument/2006/relationships/oleObject" Target="../embeddings/oleObject20.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7.png"/></Relationships>
</file>

<file path=ppt/slides/_rels/slide37.xml.rels><?xml version="1.0" encoding="UTF-8" standalone="yes"?>
<Relationships xmlns="http://schemas.openxmlformats.org/package/2006/relationships"><Relationship Id="rId5" Type="http://schemas.openxmlformats.org/officeDocument/2006/relationships/vmlDrawing" Target="../drawings/vmlDrawing11.vml"/><Relationship Id="rId4" Type="http://schemas.openxmlformats.org/officeDocument/2006/relationships/slideLayout" Target="../slideLayouts/slideLayout7.xml"/><Relationship Id="rId3" Type="http://schemas.openxmlformats.org/officeDocument/2006/relationships/oleObject" Target="../embeddings/oleObject24.bin"/><Relationship Id="rId2" Type="http://schemas.openxmlformats.org/officeDocument/2006/relationships/image" Target="../media/image28.wmf"/><Relationship Id="rId1" Type="http://schemas.openxmlformats.org/officeDocument/2006/relationships/oleObject" Target="../embeddings/oleObject23.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6" Type="http://schemas.openxmlformats.org/officeDocument/2006/relationships/vmlDrawing" Target="../drawings/vmlDrawing12.vml"/><Relationship Id="rId5" Type="http://schemas.openxmlformats.org/officeDocument/2006/relationships/slideLayout" Target="../slideLayouts/slideLayout2.xml"/><Relationship Id="rId4" Type="http://schemas.openxmlformats.org/officeDocument/2006/relationships/image" Target="../media/image30.wmf"/><Relationship Id="rId3" Type="http://schemas.openxmlformats.org/officeDocument/2006/relationships/oleObject" Target="../embeddings/oleObject26.bin"/><Relationship Id="rId2" Type="http://schemas.openxmlformats.org/officeDocument/2006/relationships/image" Target="../media/image29.wmf"/><Relationship Id="rId1" Type="http://schemas.openxmlformats.org/officeDocument/2006/relationships/oleObject" Target="../embeddings/oleObject25.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wmf"/></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image" Target="../media/image33.wmf"/></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35.wmf"/></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36.wmf"/></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52.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7.xml"/><Relationship Id="rId2" Type="http://schemas.openxmlformats.org/officeDocument/2006/relationships/image" Target="../media/image38.wmf"/><Relationship Id="rId1" Type="http://schemas.openxmlformats.org/officeDocument/2006/relationships/oleObject" Target="../embeddings/oleObject27.bin"/></Relationships>
</file>

<file path=ppt/slides/_rels/slide53.xml.rels><?xml version="1.0" encoding="UTF-8" standalone="yes"?>
<Relationships xmlns="http://schemas.openxmlformats.org/package/2006/relationships"><Relationship Id="rId9" Type="http://schemas.openxmlformats.org/officeDocument/2006/relationships/oleObject" Target="../embeddings/oleObject32.bin"/><Relationship Id="rId8" Type="http://schemas.openxmlformats.org/officeDocument/2006/relationships/image" Target="../media/image42.wmf"/><Relationship Id="rId7" Type="http://schemas.openxmlformats.org/officeDocument/2006/relationships/oleObject" Target="../embeddings/oleObject31.bin"/><Relationship Id="rId6" Type="http://schemas.openxmlformats.org/officeDocument/2006/relationships/image" Target="../media/image41.wmf"/><Relationship Id="rId5" Type="http://schemas.openxmlformats.org/officeDocument/2006/relationships/oleObject" Target="../embeddings/oleObject30.bin"/><Relationship Id="rId4" Type="http://schemas.openxmlformats.org/officeDocument/2006/relationships/image" Target="../media/image40.wmf"/><Relationship Id="rId3" Type="http://schemas.openxmlformats.org/officeDocument/2006/relationships/oleObject" Target="../embeddings/oleObject29.bin"/><Relationship Id="rId2" Type="http://schemas.openxmlformats.org/officeDocument/2006/relationships/image" Target="../media/image39.wmf"/><Relationship Id="rId12" Type="http://schemas.openxmlformats.org/officeDocument/2006/relationships/vmlDrawing" Target="../drawings/vmlDrawing14.vml"/><Relationship Id="rId11" Type="http://schemas.openxmlformats.org/officeDocument/2006/relationships/slideLayout" Target="../slideLayouts/slideLayout2.xml"/><Relationship Id="rId10" Type="http://schemas.openxmlformats.org/officeDocument/2006/relationships/image" Target="../media/image43.wmf"/><Relationship Id="rId1" Type="http://schemas.openxmlformats.org/officeDocument/2006/relationships/oleObject" Target="../embeddings/oleObject28.bin"/></Relationships>
</file>

<file path=ppt/slides/_rels/slide54.xml.rels><?xml version="1.0" encoding="UTF-8" standalone="yes"?>
<Relationships xmlns="http://schemas.openxmlformats.org/package/2006/relationships"><Relationship Id="rId7" Type="http://schemas.openxmlformats.org/officeDocument/2006/relationships/vmlDrawing" Target="../drawings/vmlDrawing15.vml"/><Relationship Id="rId6" Type="http://schemas.openxmlformats.org/officeDocument/2006/relationships/slideLayout" Target="../slideLayouts/slideLayout2.xml"/><Relationship Id="rId5" Type="http://schemas.openxmlformats.org/officeDocument/2006/relationships/image" Target="../media/image45.wmf"/><Relationship Id="rId4" Type="http://schemas.openxmlformats.org/officeDocument/2006/relationships/oleObject" Target="../embeddings/oleObject34.bin"/><Relationship Id="rId3" Type="http://schemas.openxmlformats.org/officeDocument/2006/relationships/image" Target="../media/image40.wmf"/><Relationship Id="rId2" Type="http://schemas.openxmlformats.org/officeDocument/2006/relationships/oleObject" Target="../embeddings/oleObject33.bin"/><Relationship Id="rId1" Type="http://schemas.openxmlformats.org/officeDocument/2006/relationships/image" Target="../media/image44.png"/></Relationships>
</file>

<file path=ppt/slides/_rels/slide5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9.wmf"/><Relationship Id="rId7" Type="http://schemas.openxmlformats.org/officeDocument/2006/relationships/oleObject" Target="../embeddings/oleObject38.bin"/><Relationship Id="rId6" Type="http://schemas.openxmlformats.org/officeDocument/2006/relationships/image" Target="../media/image48.wmf"/><Relationship Id="rId5" Type="http://schemas.openxmlformats.org/officeDocument/2006/relationships/oleObject" Target="../embeddings/oleObject37.bin"/><Relationship Id="rId4" Type="http://schemas.openxmlformats.org/officeDocument/2006/relationships/image" Target="../media/image47.wmf"/><Relationship Id="rId3" Type="http://schemas.openxmlformats.org/officeDocument/2006/relationships/oleObject" Target="../embeddings/oleObject36.bin"/><Relationship Id="rId2" Type="http://schemas.openxmlformats.org/officeDocument/2006/relationships/image" Target="../media/image46.wmf"/><Relationship Id="rId10" Type="http://schemas.openxmlformats.org/officeDocument/2006/relationships/vmlDrawing" Target="../drawings/vmlDrawing16.vml"/><Relationship Id="rId1" Type="http://schemas.openxmlformats.org/officeDocument/2006/relationships/oleObject" Target="../embeddings/oleObject35.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7.xml"/><Relationship Id="rId2" Type="http://schemas.openxmlformats.org/officeDocument/2006/relationships/image" Target="../media/image50.wmf"/><Relationship Id="rId1" Type="http://schemas.openxmlformats.org/officeDocument/2006/relationships/oleObject" Target="../embeddings/oleObject39.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4"/>
          </p:nvPr>
        </p:nvSpPr>
        <p:spPr/>
        <p:txBody>
          <a:bodyPr/>
          <a:lstStyle/>
          <a:p>
            <a:fld id="{07C3E64A-6ED4-49BA-B7B3-8EF839BF2A5A}" type="slidenum">
              <a:rPr lang="en-US" altLang="zh-CN"/>
            </a:fld>
            <a:endParaRPr lang="en-US" altLang="zh-CN"/>
          </a:p>
        </p:txBody>
      </p:sp>
      <p:sp>
        <p:nvSpPr>
          <p:cNvPr id="21506" name="Rectangle 2"/>
          <p:cNvSpPr>
            <a:spLocks noGrp="1" noChangeArrowheads="1"/>
          </p:cNvSpPr>
          <p:nvPr>
            <p:ph type="ctrTitle"/>
          </p:nvPr>
        </p:nvSpPr>
        <p:spPr>
          <a:xfrm>
            <a:off x="684213" y="1557338"/>
            <a:ext cx="6551612" cy="1081087"/>
          </a:xfrm>
        </p:spPr>
        <p:txBody>
          <a:bodyPr/>
          <a:lstStyle/>
          <a:p>
            <a:r>
              <a:rPr lang="zh-CN" altLang="en-US" sz="4400">
                <a:solidFill>
                  <a:srgbClr val="800000"/>
                </a:solidFill>
                <a:latin typeface="黑体" panose="02010609060101010101" pitchFamily="49" charset="-122"/>
                <a:ea typeface="黑体" panose="02010609060101010101" pitchFamily="49" charset="-122"/>
              </a:rPr>
              <a:t>第</a:t>
            </a:r>
            <a:r>
              <a:rPr lang="en-US" altLang="zh-CN" sz="4400">
                <a:solidFill>
                  <a:srgbClr val="800000"/>
                </a:solidFill>
                <a:latin typeface="黑体" panose="02010609060101010101" pitchFamily="49" charset="-122"/>
                <a:ea typeface="黑体" panose="02010609060101010101" pitchFamily="49" charset="-122"/>
              </a:rPr>
              <a:t>7</a:t>
            </a:r>
            <a:r>
              <a:rPr lang="zh-CN" altLang="en-US" sz="4400">
                <a:solidFill>
                  <a:srgbClr val="800000"/>
                </a:solidFill>
                <a:latin typeface="黑体" panose="02010609060101010101" pitchFamily="49" charset="-122"/>
                <a:ea typeface="黑体" panose="02010609060101010101" pitchFamily="49" charset="-122"/>
              </a:rPr>
              <a:t>章  概率算法</a:t>
            </a:r>
            <a:endParaRPr lang="zh-CN" altLang="en-US" sz="4400">
              <a:solidFill>
                <a:srgbClr val="800000"/>
              </a:solidFill>
              <a:latin typeface="黑体" panose="02010609060101010101" pitchFamily="49" charset="-122"/>
              <a:ea typeface="黑体" panose="02010609060101010101" pitchFamily="49" charset="-122"/>
            </a:endParaRPr>
          </a:p>
        </p:txBody>
      </p:sp>
      <p:sp>
        <p:nvSpPr>
          <p:cNvPr id="21511" name="Rectangle 7"/>
          <p:cNvSpPr>
            <a:spLocks noGrp="1" noChangeArrowheads="1"/>
          </p:cNvSpPr>
          <p:nvPr>
            <p:ph type="subTitle"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EA7301E3-93F6-4782-8361-38CDF74D7E83}" type="slidenum">
              <a:rPr lang="en-US" altLang="zh-CN"/>
            </a:fld>
            <a:endParaRPr lang="en-US" altLang="zh-CN"/>
          </a:p>
        </p:txBody>
      </p:sp>
      <p:sp>
        <p:nvSpPr>
          <p:cNvPr id="313347" name="Rectangle 3"/>
          <p:cNvSpPr>
            <a:spLocks noGrp="1" noChangeArrowheads="1"/>
          </p:cNvSpPr>
          <p:nvPr>
            <p:ph type="body" idx="1"/>
          </p:nvPr>
        </p:nvSpPr>
        <p:spPr>
          <a:xfrm>
            <a:off x="457200" y="981075"/>
            <a:ext cx="8229600" cy="4886325"/>
          </a:xfrm>
        </p:spPr>
        <p:txBody>
          <a:bodyPr/>
          <a:lstStyle/>
          <a:p>
            <a:pPr>
              <a:lnSpc>
                <a:spcPct val="200000"/>
              </a:lnSpc>
              <a:buFont typeface="Symbol" panose="05050102010706020507" pitchFamily="18" charset="2"/>
              <a:buNone/>
            </a:pPr>
            <a:r>
              <a:rPr lang="zh-CN" altLang="en-US" sz="3200" b="1">
                <a:solidFill>
                  <a:srgbClr val="3907F1"/>
                </a:solidFill>
              </a:rPr>
              <a:t>学习要点</a:t>
            </a:r>
            <a:endParaRPr lang="zh-CN" altLang="en-US" sz="3200" b="1">
              <a:solidFill>
                <a:srgbClr val="3907F1"/>
              </a:solidFill>
            </a:endParaRPr>
          </a:p>
          <a:p>
            <a:pPr>
              <a:lnSpc>
                <a:spcPct val="150000"/>
              </a:lnSpc>
              <a:buFont typeface="Symbol" panose="05050102010706020507" pitchFamily="18" charset="2"/>
              <a:buChar char="·"/>
            </a:pPr>
            <a:r>
              <a:rPr lang="zh-CN" altLang="en-US" sz="2400"/>
              <a:t>理解产生伪随机数的算法</a:t>
            </a:r>
            <a:endParaRPr lang="zh-CN" altLang="en-US" sz="2400"/>
          </a:p>
          <a:p>
            <a:pPr>
              <a:lnSpc>
                <a:spcPct val="150000"/>
              </a:lnSpc>
              <a:buFont typeface="Symbol" panose="05050102010706020507" pitchFamily="18" charset="2"/>
              <a:buChar char="·"/>
            </a:pPr>
            <a:r>
              <a:rPr lang="zh-CN" altLang="en-US" sz="2400"/>
              <a:t>掌握数值随机化算法的设计思想 </a:t>
            </a:r>
            <a:endParaRPr lang="zh-CN" altLang="en-US" sz="2400"/>
          </a:p>
          <a:p>
            <a:pPr>
              <a:lnSpc>
                <a:spcPct val="150000"/>
              </a:lnSpc>
              <a:buFont typeface="Symbol" panose="05050102010706020507" pitchFamily="18" charset="2"/>
              <a:buChar char="·"/>
            </a:pPr>
            <a:r>
              <a:rPr lang="zh-CN" altLang="en-US" sz="2400"/>
              <a:t>掌握舍伍德算法的设计思想</a:t>
            </a:r>
            <a:endParaRPr lang="zh-CN" altLang="en-US" sz="2400"/>
          </a:p>
          <a:p>
            <a:pPr>
              <a:lnSpc>
                <a:spcPct val="150000"/>
              </a:lnSpc>
              <a:buFont typeface="Symbol" panose="05050102010706020507" pitchFamily="18" charset="2"/>
              <a:buChar char="·"/>
            </a:pPr>
            <a:r>
              <a:rPr lang="zh-CN" altLang="en-US" sz="2400"/>
              <a:t>掌握拉斯维加斯算法的设计思想</a:t>
            </a:r>
            <a:endParaRPr lang="zh-CN" altLang="en-US" sz="2400" b="1">
              <a:sym typeface="Symbol" panose="05050102010706020507" pitchFamily="18" charset="2"/>
            </a:endParaRPr>
          </a:p>
          <a:p>
            <a:pPr>
              <a:lnSpc>
                <a:spcPct val="150000"/>
              </a:lnSpc>
              <a:buFont typeface="Symbol" panose="05050102010706020507" pitchFamily="18" charset="2"/>
              <a:buChar char="·"/>
            </a:pPr>
            <a:r>
              <a:rPr lang="zh-CN" altLang="en-US" sz="2400"/>
              <a:t>掌握蒙特卡罗算法的设计思想</a:t>
            </a:r>
            <a:endParaRPr lang="zh-CN" altLang="en-US" sz="2400" b="1">
              <a:sym typeface="Symbol" panose="05050102010706020507" pitchFamily="18" charset="2"/>
            </a:endParaRPr>
          </a:p>
          <a:p>
            <a:endParaRPr lang="zh-CN" altLang="en-US" sz="24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4"/>
          </p:nvPr>
        </p:nvSpPr>
        <p:spPr/>
        <p:txBody>
          <a:bodyPr/>
          <a:lstStyle/>
          <a:p>
            <a:fld id="{6DCDA08C-D335-4E0A-AD50-6EB3583EBA70}" type="slidenum">
              <a:rPr lang="en-US" altLang="zh-CN"/>
            </a:fld>
            <a:endParaRPr lang="en-US" altLang="zh-CN"/>
          </a:p>
        </p:txBody>
      </p:sp>
      <p:sp>
        <p:nvSpPr>
          <p:cNvPr id="337925" name="Rectangle 5"/>
          <p:cNvSpPr>
            <a:spLocks noGrp="1" noChangeArrowheads="1"/>
          </p:cNvSpPr>
          <p:nvPr>
            <p:ph type="subTitle" idx="1"/>
          </p:nvPr>
        </p:nvSpPr>
        <p:spPr/>
        <p:txBody>
          <a:bodyPr/>
          <a:lstStyle/>
          <a:p>
            <a:endParaRPr lang="zh-CN" altLang="en-US"/>
          </a:p>
        </p:txBody>
      </p:sp>
      <p:sp>
        <p:nvSpPr>
          <p:cNvPr id="337926" name="Rectangle 6"/>
          <p:cNvSpPr>
            <a:spLocks noGrp="1" noChangeArrowheads="1"/>
          </p:cNvSpPr>
          <p:nvPr>
            <p:ph type="ctrTitle"/>
          </p:nvPr>
        </p:nvSpPr>
        <p:spPr>
          <a:noFill/>
        </p:spPr>
        <p:txBody>
          <a:bodyPr/>
          <a:lstStyle/>
          <a:p>
            <a:r>
              <a:rPr lang="zh-CN" altLang="en-US"/>
              <a:t>伪随机数</a:t>
            </a:r>
            <a:endParaRPr lang="zh-CN"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4"/>
          <p:cNvSpPr>
            <a:spLocks noGrp="1"/>
          </p:cNvSpPr>
          <p:nvPr>
            <p:ph type="sldNum" sz="quarter" idx="12"/>
          </p:nvPr>
        </p:nvSpPr>
        <p:spPr/>
        <p:txBody>
          <a:bodyPr/>
          <a:lstStyle/>
          <a:p>
            <a:fld id="{A2DD19AA-CC25-45C8-9468-22BB66C529C4}" type="slidenum">
              <a:rPr lang="en-US" altLang="zh-CN"/>
            </a:fld>
            <a:endParaRPr lang="en-US" altLang="zh-CN"/>
          </a:p>
        </p:txBody>
      </p:sp>
      <p:sp>
        <p:nvSpPr>
          <p:cNvPr id="282628" name="Rectangle 4"/>
          <p:cNvSpPr>
            <a:spLocks noGrp="1" noChangeArrowheads="1"/>
          </p:cNvSpPr>
          <p:nvPr>
            <p:ph type="title"/>
          </p:nvPr>
        </p:nvSpPr>
        <p:spPr>
          <a:xfrm>
            <a:off x="395288" y="620713"/>
            <a:ext cx="7772400" cy="803275"/>
          </a:xfrm>
        </p:spPr>
        <p:txBody>
          <a:bodyPr/>
          <a:lstStyle/>
          <a:p>
            <a:r>
              <a:rPr lang="zh-CN" altLang="en-US">
                <a:ea typeface="黑体" panose="02010609060101010101" pitchFamily="49" charset="-122"/>
              </a:rPr>
              <a:t>随机数</a:t>
            </a:r>
            <a:endParaRPr lang="zh-CN" altLang="en-US">
              <a:ea typeface="黑体" panose="02010609060101010101" pitchFamily="49" charset="-122"/>
            </a:endParaRPr>
          </a:p>
        </p:txBody>
      </p:sp>
      <p:sp>
        <p:nvSpPr>
          <p:cNvPr id="282631" name="Rectangle 7"/>
          <p:cNvSpPr>
            <a:spLocks noChangeArrowheads="1"/>
          </p:cNvSpPr>
          <p:nvPr/>
        </p:nvSpPr>
        <p:spPr bwMode="auto">
          <a:xfrm>
            <a:off x="0" y="320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282633" name="Rectangle 9"/>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282635" name="Rectangle 11"/>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282636" name="Text Box 12"/>
          <p:cNvSpPr txBox="1">
            <a:spLocks noChangeArrowheads="1"/>
          </p:cNvSpPr>
          <p:nvPr/>
        </p:nvSpPr>
        <p:spPr bwMode="auto">
          <a:xfrm>
            <a:off x="250825" y="1844675"/>
            <a:ext cx="8734425"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随机数在随机化算法设计中扮演着十分重要的角色。在现实计算机上无法产生真正的随机数，因此在随机化算法中使用的随机数都是一定程度上随机的，即伪随机数。</a:t>
            </a:r>
            <a:endParaRPr lang="zh-CN" altLang="en-US" sz="2400">
              <a:ea typeface="新宋体" panose="02010609030101010101" charset="-122"/>
            </a:endParaRPr>
          </a:p>
          <a:p>
            <a:r>
              <a:rPr lang="zh-CN" altLang="en-US" sz="2400">
                <a:ea typeface="黑体" panose="02010609060101010101" pitchFamily="49" charset="-122"/>
              </a:rPr>
              <a:t>线性同余法</a:t>
            </a:r>
            <a:r>
              <a:rPr lang="zh-CN" altLang="en-US" sz="2400">
                <a:ea typeface="新宋体" panose="02010609030101010101" charset="-122"/>
              </a:rPr>
              <a:t>是产生伪随机数的最常用的方法。由线性同余法产生的随机序列</a:t>
            </a:r>
            <a:r>
              <a:rPr lang="en-US" altLang="zh-CN" sz="2400">
                <a:ea typeface="新宋体" panose="02010609030101010101" charset="-122"/>
              </a:rPr>
              <a:t>a</a:t>
            </a:r>
            <a:r>
              <a:rPr lang="en-US" altLang="zh-CN" sz="2400" baseline="-25000">
                <a:ea typeface="新宋体" panose="02010609030101010101" charset="-122"/>
              </a:rPr>
              <a:t>0</a:t>
            </a:r>
            <a:r>
              <a:rPr lang="en-US" altLang="zh-CN" sz="2400">
                <a:ea typeface="新宋体" panose="02010609030101010101" charset="-122"/>
              </a:rPr>
              <a:t>,a</a:t>
            </a:r>
            <a:r>
              <a:rPr lang="en-US" altLang="zh-CN" sz="2400" baseline="-25000">
                <a:ea typeface="新宋体" panose="02010609030101010101" charset="-122"/>
              </a:rPr>
              <a:t>1</a:t>
            </a:r>
            <a:r>
              <a:rPr lang="en-US" altLang="zh-CN" sz="2400">
                <a:ea typeface="新宋体" panose="02010609030101010101" charset="-122"/>
              </a:rPr>
              <a:t>,…,a</a:t>
            </a:r>
            <a:r>
              <a:rPr lang="en-US" altLang="zh-CN" sz="2400" baseline="-25000">
                <a:ea typeface="新宋体" panose="02010609030101010101" charset="-122"/>
              </a:rPr>
              <a:t>n</a:t>
            </a:r>
            <a:r>
              <a:rPr lang="zh-CN" altLang="en-US" sz="2400">
                <a:ea typeface="新宋体" panose="02010609030101010101" charset="-122"/>
              </a:rPr>
              <a:t>满足</a:t>
            </a:r>
            <a:endParaRPr lang="zh-CN" altLang="en-US" sz="2400">
              <a:ea typeface="新宋体" panose="02010609030101010101" charset="-122"/>
            </a:endParaRPr>
          </a:p>
        </p:txBody>
      </p:sp>
      <p:sp>
        <p:nvSpPr>
          <p:cNvPr id="282638" name="Rectangle 14"/>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aphicFrame>
        <p:nvGraphicFramePr>
          <p:cNvPr id="282637" name="Object 13"/>
          <p:cNvGraphicFramePr>
            <a:graphicFrameLocks noChangeAspect="1"/>
          </p:cNvGraphicFramePr>
          <p:nvPr/>
        </p:nvGraphicFramePr>
        <p:xfrm>
          <a:off x="2124075" y="4076700"/>
          <a:ext cx="5040313" cy="1023938"/>
        </p:xfrm>
        <a:graphic>
          <a:graphicData uri="http://schemas.openxmlformats.org/presentationml/2006/ole">
            <mc:AlternateContent xmlns:mc="http://schemas.openxmlformats.org/markup-compatibility/2006">
              <mc:Choice xmlns:v="urn:schemas-microsoft-com:vml" Requires="v">
                <p:oleObj spid="_x0000_s282642" name="公式" r:id="rId1" imgW="2387600" imgH="482600" progId="Equation.3">
                  <p:embed/>
                </p:oleObj>
              </mc:Choice>
              <mc:Fallback>
                <p:oleObj name="公式" r:id="rId1" imgW="2387600" imgH="482600" progId="Equation.3">
                  <p:embed/>
                  <p:pic>
                    <p:nvPicPr>
                      <p:cNvPr id="0" name="Object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4076700"/>
                        <a:ext cx="5040313" cy="1023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2640" name="Rectangle 16"/>
          <p:cNvSpPr>
            <a:spLocks noChangeArrowheads="1"/>
          </p:cNvSpPr>
          <p:nvPr/>
        </p:nvSpPr>
        <p:spPr bwMode="auto">
          <a:xfrm>
            <a:off x="323850" y="5445125"/>
            <a:ext cx="85280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2400">
                <a:ea typeface="新宋体" panose="02010609030101010101" charset="-122"/>
              </a:rPr>
              <a:t>设</a:t>
            </a:r>
            <a:r>
              <a:rPr lang="en-US" altLang="zh-CN" sz="2400">
                <a:ea typeface="新宋体" panose="02010609030101010101" charset="-122"/>
              </a:rPr>
              <a:t>m</a:t>
            </a:r>
            <a:r>
              <a:rPr lang="zh-CN" altLang="en-US" sz="2400">
                <a:ea typeface="新宋体" panose="02010609030101010101" charset="-122"/>
              </a:rPr>
              <a:t>是一个给定的正整数，如果两个整数</a:t>
            </a:r>
            <a:r>
              <a:rPr lang="en-US" altLang="zh-CN" sz="2400">
                <a:ea typeface="新宋体" panose="02010609030101010101" charset="-122"/>
              </a:rPr>
              <a:t>a</a:t>
            </a:r>
            <a:r>
              <a:rPr lang="zh-CN" altLang="en-US" sz="2400">
                <a:ea typeface="新宋体" panose="02010609030101010101" charset="-122"/>
              </a:rPr>
              <a:t>，</a:t>
            </a:r>
            <a:r>
              <a:rPr lang="en-US" altLang="zh-CN" sz="2400">
                <a:ea typeface="新宋体" panose="02010609030101010101" charset="-122"/>
              </a:rPr>
              <a:t>b</a:t>
            </a:r>
            <a:r>
              <a:rPr lang="zh-CN" altLang="en-US" sz="2400">
                <a:ea typeface="新宋体" panose="02010609030101010101" charset="-122"/>
              </a:rPr>
              <a:t>用</a:t>
            </a:r>
            <a:r>
              <a:rPr lang="en-US" altLang="zh-CN" sz="2400">
                <a:ea typeface="新宋体" panose="02010609030101010101" charset="-122"/>
              </a:rPr>
              <a:t>m</a:t>
            </a:r>
            <a:r>
              <a:rPr lang="zh-CN" altLang="en-US" sz="2400">
                <a:ea typeface="新宋体" panose="02010609030101010101" charset="-122"/>
              </a:rPr>
              <a:t>除，所得的余数相同，则称</a:t>
            </a:r>
            <a:r>
              <a:rPr lang="en-US" altLang="zh-CN" sz="2400">
                <a:ea typeface="新宋体" panose="02010609030101010101" charset="-122"/>
              </a:rPr>
              <a:t>a</a:t>
            </a:r>
            <a:r>
              <a:rPr lang="zh-CN" altLang="en-US" sz="2400">
                <a:ea typeface="新宋体" panose="02010609030101010101" charset="-122"/>
              </a:rPr>
              <a:t>，</a:t>
            </a:r>
            <a:r>
              <a:rPr lang="en-US" altLang="zh-CN" sz="2400">
                <a:ea typeface="新宋体" panose="02010609030101010101" charset="-122"/>
              </a:rPr>
              <a:t>b</a:t>
            </a:r>
            <a:r>
              <a:rPr lang="zh-CN" altLang="en-US" sz="2400">
                <a:ea typeface="新宋体" panose="02010609030101010101" charset="-122"/>
              </a:rPr>
              <a:t>对模</a:t>
            </a:r>
            <a:r>
              <a:rPr lang="en-US" altLang="zh-CN" sz="2400">
                <a:ea typeface="新宋体" panose="02010609030101010101" charset="-122"/>
              </a:rPr>
              <a:t>m</a:t>
            </a:r>
            <a:r>
              <a:rPr lang="zh-CN" altLang="en-US" sz="2400">
                <a:ea typeface="新宋体" panose="02010609030101010101" charset="-122"/>
              </a:rPr>
              <a:t>同余。</a:t>
            </a:r>
            <a:r>
              <a:rPr kumimoji="1" lang="zh-CN" altLang="en-US"/>
              <a:t> </a:t>
            </a:r>
            <a:endParaRPr kumimoji="1"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2636">
                                            <p:txEl>
                                              <p:pRg st="1" end="1"/>
                                            </p:txEl>
                                          </p:spTgt>
                                        </p:tgtEl>
                                        <p:attrNameLst>
                                          <p:attrName>style.visibility</p:attrName>
                                        </p:attrNameLst>
                                      </p:cBhvr>
                                      <p:to>
                                        <p:strVal val="visible"/>
                                      </p:to>
                                    </p:set>
                                    <p:anim calcmode="lin" valueType="num">
                                      <p:cBhvr additive="base">
                                        <p:cTn id="7" dur="500" fill="hold"/>
                                        <p:tgtEl>
                                          <p:spTgt spid="28263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263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82637"/>
                                        </p:tgtEl>
                                        <p:attrNameLst>
                                          <p:attrName>style.visibility</p:attrName>
                                        </p:attrNameLst>
                                      </p:cBhvr>
                                      <p:to>
                                        <p:strVal val="visible"/>
                                      </p:to>
                                    </p:set>
                                    <p:anim calcmode="lin" valueType="num">
                                      <p:cBhvr additive="base">
                                        <p:cTn id="11" dur="500" fill="hold"/>
                                        <p:tgtEl>
                                          <p:spTgt spid="282637"/>
                                        </p:tgtEl>
                                        <p:attrNameLst>
                                          <p:attrName>ppt_x</p:attrName>
                                        </p:attrNameLst>
                                      </p:cBhvr>
                                      <p:tavLst>
                                        <p:tav tm="0">
                                          <p:val>
                                            <p:strVal val="#ppt_x"/>
                                          </p:val>
                                        </p:tav>
                                        <p:tav tm="100000">
                                          <p:val>
                                            <p:strVal val="#ppt_x"/>
                                          </p:val>
                                        </p:tav>
                                      </p:tavLst>
                                    </p:anim>
                                    <p:anim calcmode="lin" valueType="num">
                                      <p:cBhvr additive="base">
                                        <p:cTn id="12" dur="500" fill="hold"/>
                                        <p:tgtEl>
                                          <p:spTgt spid="28263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82640"/>
                                        </p:tgtEl>
                                        <p:attrNameLst>
                                          <p:attrName>style.visibility</p:attrName>
                                        </p:attrNameLst>
                                      </p:cBhvr>
                                      <p:to>
                                        <p:strVal val="visible"/>
                                      </p:to>
                                    </p:set>
                                    <p:anim calcmode="lin" valueType="num">
                                      <p:cBhvr additive="base">
                                        <p:cTn id="15" dur="500" fill="hold"/>
                                        <p:tgtEl>
                                          <p:spTgt spid="282640"/>
                                        </p:tgtEl>
                                        <p:attrNameLst>
                                          <p:attrName>ppt_x</p:attrName>
                                        </p:attrNameLst>
                                      </p:cBhvr>
                                      <p:tavLst>
                                        <p:tav tm="0">
                                          <p:val>
                                            <p:strVal val="#ppt_x"/>
                                          </p:val>
                                        </p:tav>
                                        <p:tav tm="100000">
                                          <p:val>
                                            <p:strVal val="#ppt_x"/>
                                          </p:val>
                                        </p:tav>
                                      </p:tavLst>
                                    </p:anim>
                                    <p:anim calcmode="lin" valueType="num">
                                      <p:cBhvr additive="base">
                                        <p:cTn id="16" dur="500" fill="hold"/>
                                        <p:tgtEl>
                                          <p:spTgt spid="2826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4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1D72D649-402A-4B10-8A70-4F2DCFEF527C}" type="slidenum">
              <a:rPr lang="en-US" altLang="zh-CN"/>
            </a:fld>
            <a:endParaRPr lang="en-US" altLang="zh-CN"/>
          </a:p>
        </p:txBody>
      </p:sp>
      <p:sp>
        <p:nvSpPr>
          <p:cNvPr id="327686" name="Rectangle 6"/>
          <p:cNvSpPr>
            <a:spLocks noGrp="1" noChangeArrowheads="1"/>
          </p:cNvSpPr>
          <p:nvPr>
            <p:ph type="title"/>
          </p:nvPr>
        </p:nvSpPr>
        <p:spPr/>
        <p:txBody>
          <a:bodyPr/>
          <a:lstStyle/>
          <a:p>
            <a:r>
              <a:rPr lang="zh-CN" altLang="en-US">
                <a:ea typeface="黑体" panose="02010609060101010101" pitchFamily="49" charset="-122"/>
              </a:rPr>
              <a:t>线性同余法</a:t>
            </a:r>
            <a:endParaRPr lang="zh-CN" altLang="en-US">
              <a:ea typeface="黑体" panose="02010609060101010101" pitchFamily="49" charset="-122"/>
            </a:endParaRPr>
          </a:p>
        </p:txBody>
      </p:sp>
      <p:sp>
        <p:nvSpPr>
          <p:cNvPr id="327684" name="Text Box 4"/>
          <p:cNvSpPr txBox="1">
            <a:spLocks noChangeArrowheads="1"/>
          </p:cNvSpPr>
          <p:nvPr/>
        </p:nvSpPr>
        <p:spPr bwMode="auto">
          <a:xfrm>
            <a:off x="250825" y="3644900"/>
            <a:ext cx="8443913"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其中</a:t>
            </a:r>
            <a:r>
              <a:rPr lang="en-US" altLang="zh-CN" sz="2400">
                <a:ea typeface="新宋体" panose="02010609030101010101" charset="-122"/>
              </a:rPr>
              <a:t>b</a:t>
            </a:r>
            <a:r>
              <a:rPr lang="en-US" altLang="zh-CN" sz="2400">
                <a:ea typeface="新宋体" panose="02010609030101010101" charset="-122"/>
                <a:sym typeface="Symbol" panose="05050102010706020507" pitchFamily="18" charset="2"/>
              </a:rPr>
              <a:t></a:t>
            </a:r>
            <a:r>
              <a:rPr lang="en-US" altLang="zh-CN" sz="2400">
                <a:ea typeface="新宋体" panose="02010609030101010101" charset="-122"/>
              </a:rPr>
              <a:t>0</a:t>
            </a:r>
            <a:r>
              <a:rPr lang="zh-CN" altLang="en-US" sz="2400">
                <a:ea typeface="新宋体" panose="02010609030101010101" charset="-122"/>
              </a:rPr>
              <a:t>，</a:t>
            </a:r>
            <a:r>
              <a:rPr lang="en-US" altLang="zh-CN" sz="2400">
                <a:ea typeface="新宋体" panose="02010609030101010101" charset="-122"/>
              </a:rPr>
              <a:t>c</a:t>
            </a:r>
            <a:r>
              <a:rPr lang="en-US" altLang="zh-CN" sz="2400">
                <a:ea typeface="新宋体" panose="02010609030101010101" charset="-122"/>
                <a:sym typeface="Symbol" panose="05050102010706020507" pitchFamily="18" charset="2"/>
              </a:rPr>
              <a:t></a:t>
            </a:r>
            <a:r>
              <a:rPr lang="en-US" altLang="zh-CN" sz="2400">
                <a:ea typeface="新宋体" panose="02010609030101010101" charset="-122"/>
              </a:rPr>
              <a:t>0</a:t>
            </a:r>
            <a:r>
              <a:rPr lang="zh-CN" altLang="en-US" sz="2400">
                <a:ea typeface="新宋体" panose="02010609030101010101" charset="-122"/>
              </a:rPr>
              <a:t>，</a:t>
            </a:r>
            <a:r>
              <a:rPr lang="en-US" altLang="zh-CN" sz="2400">
                <a:ea typeface="新宋体" panose="02010609030101010101" charset="-122"/>
              </a:rPr>
              <a:t>d</a:t>
            </a:r>
            <a:r>
              <a:rPr lang="en-US" altLang="zh-CN" sz="2400">
                <a:ea typeface="新宋体" panose="02010609030101010101" charset="-122"/>
                <a:sym typeface="Symbol" panose="05050102010706020507" pitchFamily="18" charset="2"/>
              </a:rPr>
              <a:t></a:t>
            </a:r>
            <a:r>
              <a:rPr lang="en-US" altLang="zh-CN" sz="2400">
                <a:ea typeface="新宋体" panose="02010609030101010101" charset="-122"/>
              </a:rPr>
              <a:t>m</a:t>
            </a:r>
            <a:r>
              <a:rPr lang="zh-CN" altLang="en-US" sz="2400">
                <a:ea typeface="新宋体" panose="02010609030101010101" charset="-122"/>
              </a:rPr>
              <a:t>。</a:t>
            </a:r>
            <a:r>
              <a:rPr lang="en-US" altLang="zh-CN" sz="2400">
                <a:ea typeface="新宋体" panose="02010609030101010101" charset="-122"/>
              </a:rPr>
              <a:t>d</a:t>
            </a:r>
            <a:r>
              <a:rPr lang="zh-CN" altLang="en-US" sz="2400">
                <a:ea typeface="新宋体" panose="02010609030101010101" charset="-122"/>
              </a:rPr>
              <a:t>称为该随机序列的种子。如何选取该方法中的常数</a:t>
            </a:r>
            <a:r>
              <a:rPr lang="en-US" altLang="zh-CN" sz="2400">
                <a:ea typeface="新宋体" panose="02010609030101010101" charset="-122"/>
              </a:rPr>
              <a:t>b</a:t>
            </a:r>
            <a:r>
              <a:rPr lang="zh-CN" altLang="en-US" sz="2400">
                <a:ea typeface="新宋体" panose="02010609030101010101" charset="-122"/>
              </a:rPr>
              <a:t>、</a:t>
            </a:r>
            <a:r>
              <a:rPr lang="en-US" altLang="zh-CN" sz="2400">
                <a:ea typeface="新宋体" panose="02010609030101010101" charset="-122"/>
              </a:rPr>
              <a:t>c</a:t>
            </a:r>
            <a:r>
              <a:rPr lang="zh-CN" altLang="en-US" sz="2400">
                <a:ea typeface="新宋体" panose="02010609030101010101" charset="-122"/>
              </a:rPr>
              <a:t>和</a:t>
            </a:r>
            <a:r>
              <a:rPr lang="en-US" altLang="zh-CN" sz="2400">
                <a:ea typeface="新宋体" panose="02010609030101010101" charset="-122"/>
              </a:rPr>
              <a:t>m</a:t>
            </a:r>
            <a:r>
              <a:rPr lang="zh-CN" altLang="en-US" sz="2400">
                <a:ea typeface="新宋体" panose="02010609030101010101" charset="-122"/>
              </a:rPr>
              <a:t>直接关系到所产生的随机序列的随机性能。这是随机性理论研究的内容，已超出本书讨论的范围。从直观上看，</a:t>
            </a:r>
            <a:r>
              <a:rPr lang="en-US" altLang="zh-CN" sz="2400">
                <a:ea typeface="新宋体" panose="02010609030101010101" charset="-122"/>
              </a:rPr>
              <a:t>m</a:t>
            </a:r>
            <a:r>
              <a:rPr lang="zh-CN" altLang="en-US" sz="2400">
                <a:ea typeface="新宋体" panose="02010609030101010101" charset="-122"/>
              </a:rPr>
              <a:t>应取得充分大，因此可取</a:t>
            </a:r>
            <a:r>
              <a:rPr lang="en-US" altLang="zh-CN" sz="2400">
                <a:ea typeface="新宋体" panose="02010609030101010101" charset="-122"/>
              </a:rPr>
              <a:t>m</a:t>
            </a:r>
            <a:r>
              <a:rPr lang="zh-CN" altLang="en-US" sz="2400">
                <a:ea typeface="新宋体" panose="02010609030101010101" charset="-122"/>
              </a:rPr>
              <a:t>为机器大数，另外应取</a:t>
            </a:r>
            <a:r>
              <a:rPr lang="en-US" altLang="zh-CN" sz="2400">
                <a:ea typeface="新宋体" panose="02010609030101010101" charset="-122"/>
              </a:rPr>
              <a:t>gcd(m,b)=1</a:t>
            </a:r>
            <a:r>
              <a:rPr lang="zh-CN" altLang="en-US" sz="2400">
                <a:ea typeface="新宋体" panose="02010609030101010101" charset="-122"/>
              </a:rPr>
              <a:t>，因此可取</a:t>
            </a:r>
            <a:r>
              <a:rPr lang="en-US" altLang="zh-CN" sz="2400">
                <a:ea typeface="新宋体" panose="02010609030101010101" charset="-122"/>
              </a:rPr>
              <a:t>b</a:t>
            </a:r>
            <a:r>
              <a:rPr lang="zh-CN" altLang="en-US" sz="2400">
                <a:ea typeface="新宋体" panose="02010609030101010101" charset="-122"/>
              </a:rPr>
              <a:t>为一素数。</a:t>
            </a:r>
            <a:endParaRPr lang="zh-CN" altLang="en-US" sz="2400">
              <a:ea typeface="新宋体" panose="02010609030101010101" charset="-122"/>
            </a:endParaRPr>
          </a:p>
        </p:txBody>
      </p:sp>
      <p:graphicFrame>
        <p:nvGraphicFramePr>
          <p:cNvPr id="327685" name="Object 5"/>
          <p:cNvGraphicFramePr>
            <a:graphicFrameLocks noGrp="1" noChangeAspect="1"/>
          </p:cNvGraphicFramePr>
          <p:nvPr>
            <p:ph idx="1"/>
          </p:nvPr>
        </p:nvGraphicFramePr>
        <p:xfrm>
          <a:off x="1547813" y="2133600"/>
          <a:ext cx="6049962" cy="1222375"/>
        </p:xfrm>
        <a:graphic>
          <a:graphicData uri="http://schemas.openxmlformats.org/presentationml/2006/ole">
            <mc:AlternateContent xmlns:mc="http://schemas.openxmlformats.org/markup-compatibility/2006">
              <mc:Choice xmlns:v="urn:schemas-microsoft-com:vml" Requires="v">
                <p:oleObj spid="_x0000_s327689" name="公式" r:id="rId1" imgW="2387600" imgH="482600" progId="Equation.3">
                  <p:embed/>
                </p:oleObj>
              </mc:Choice>
              <mc:Fallback>
                <p:oleObj name="公式" r:id="rId1" imgW="2387600" imgH="4826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2133600"/>
                        <a:ext cx="6049962" cy="1222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518CFAA8-6DA2-4532-9619-9A1726E01B03}" type="slidenum">
              <a:rPr lang="en-US" altLang="zh-CN"/>
            </a:fld>
            <a:endParaRPr lang="en-US" altLang="zh-CN"/>
          </a:p>
        </p:txBody>
      </p:sp>
      <p:sp>
        <p:nvSpPr>
          <p:cNvPr id="332803" name="Rectangle 3"/>
          <p:cNvSpPr>
            <a:spLocks noGrp="1" noChangeArrowheads="1"/>
          </p:cNvSpPr>
          <p:nvPr>
            <p:ph type="body" idx="1"/>
          </p:nvPr>
        </p:nvSpPr>
        <p:spPr/>
        <p:txBody>
          <a:bodyPr/>
          <a:lstStyle/>
          <a:p>
            <a:pPr>
              <a:lnSpc>
                <a:spcPct val="80000"/>
              </a:lnSpc>
            </a:pPr>
            <a:r>
              <a:rPr lang="zh-CN" altLang="en-US" sz="2100" b="1">
                <a:latin typeface="新宋体" panose="02010609030101010101" charset="-122"/>
                <a:ea typeface="新宋体" panose="02010609030101010101" charset="-122"/>
              </a:rPr>
              <a:t>经前人研究表明，在</a:t>
            </a:r>
            <a:r>
              <a:rPr lang="en-US" altLang="zh-CN" sz="2100" b="1">
                <a:latin typeface="新宋体" panose="02010609030101010101" charset="-122"/>
                <a:ea typeface="新宋体" panose="02010609030101010101" charset="-122"/>
              </a:rPr>
              <a:t>M=2^q</a:t>
            </a:r>
            <a:r>
              <a:rPr lang="zh-CN" altLang="en-US" sz="2100" b="1">
                <a:latin typeface="新宋体" panose="02010609030101010101" charset="-122"/>
                <a:ea typeface="新宋体" panose="02010609030101010101" charset="-122"/>
              </a:rPr>
              <a:t>的条件下，参数</a:t>
            </a:r>
            <a:r>
              <a:rPr lang="en-US" altLang="zh-CN" sz="2100" b="1">
                <a:latin typeface="新宋体" panose="02010609030101010101" charset="-122"/>
                <a:ea typeface="新宋体" panose="02010609030101010101" charset="-122"/>
              </a:rPr>
              <a:t>A</a:t>
            </a:r>
            <a:r>
              <a:rPr lang="zh-CN" altLang="en-US" sz="2100" b="1">
                <a:latin typeface="新宋体" panose="02010609030101010101" charset="-122"/>
                <a:ea typeface="新宋体" panose="02010609030101010101" charset="-122"/>
              </a:rPr>
              <a:t>，</a:t>
            </a:r>
            <a:r>
              <a:rPr lang="en-US" altLang="zh-CN" sz="2100" b="1">
                <a:latin typeface="新宋体" panose="02010609030101010101" charset="-122"/>
                <a:ea typeface="新宋体" panose="02010609030101010101" charset="-122"/>
              </a:rPr>
              <a:t>C</a:t>
            </a:r>
            <a:r>
              <a:rPr lang="zh-CN" altLang="en-US" sz="2100" b="1">
                <a:latin typeface="新宋体" panose="02010609030101010101" charset="-122"/>
                <a:ea typeface="新宋体" panose="02010609030101010101" charset="-122"/>
              </a:rPr>
              <a:t>，</a:t>
            </a:r>
            <a:r>
              <a:rPr lang="en-US" altLang="zh-CN" sz="2100" b="1">
                <a:latin typeface="新宋体" panose="02010609030101010101" charset="-122"/>
                <a:ea typeface="新宋体" panose="02010609030101010101" charset="-122"/>
              </a:rPr>
              <a:t>X[0]</a:t>
            </a:r>
            <a:r>
              <a:rPr lang="zh-CN" altLang="en-US" sz="2100" b="1">
                <a:latin typeface="新宋体" panose="02010609030101010101" charset="-122"/>
                <a:ea typeface="新宋体" panose="02010609030101010101" charset="-122"/>
              </a:rPr>
              <a:t>按如下选取，周期较大，概率统计特性好</a:t>
            </a:r>
            <a:r>
              <a:rPr lang="en-US" altLang="zh-CN" sz="2100" b="1">
                <a:latin typeface="新宋体" panose="02010609030101010101" charset="-122"/>
                <a:ea typeface="新宋体" panose="02010609030101010101" charset="-122"/>
              </a:rPr>
              <a:t>:</a:t>
            </a:r>
            <a:endParaRPr lang="en-US" altLang="zh-CN" sz="2100" b="1">
              <a:latin typeface="新宋体" panose="02010609030101010101" charset="-122"/>
              <a:ea typeface="新宋体" panose="02010609030101010101" charset="-122"/>
            </a:endParaRPr>
          </a:p>
          <a:p>
            <a:pPr>
              <a:lnSpc>
                <a:spcPct val="80000"/>
              </a:lnSpc>
            </a:pPr>
            <a:endParaRPr lang="en-US" altLang="zh-CN" sz="2100" b="1">
              <a:latin typeface="新宋体" panose="02010609030101010101" charset="-122"/>
              <a:ea typeface="新宋体" panose="02010609030101010101" charset="-122"/>
            </a:endParaRPr>
          </a:p>
          <a:p>
            <a:pPr>
              <a:lnSpc>
                <a:spcPct val="80000"/>
              </a:lnSpc>
            </a:pPr>
            <a:r>
              <a:rPr lang="en-US" altLang="zh-CN" sz="2100" b="1">
                <a:latin typeface="新宋体" panose="02010609030101010101" charset="-122"/>
                <a:ea typeface="新宋体" panose="02010609030101010101" charset="-122"/>
              </a:rPr>
              <a:t>A=2^b+1=2^(log2(M)/2)+1=2^log2(sqrt(M))+1=sqrt(M)+1</a:t>
            </a:r>
            <a:r>
              <a:rPr lang="zh-CN" altLang="en-US" sz="2100" b="1">
                <a:latin typeface="新宋体" panose="02010609030101010101" charset="-122"/>
                <a:ea typeface="新宋体" panose="02010609030101010101" charset="-122"/>
              </a:rPr>
              <a:t>；</a:t>
            </a:r>
            <a:r>
              <a:rPr lang="en-US" altLang="zh-CN" sz="2100" b="1">
                <a:latin typeface="新宋体" panose="02010609030101010101" charset="-122"/>
                <a:ea typeface="新宋体" panose="02010609030101010101" charset="-122"/>
              </a:rPr>
              <a:t>b</a:t>
            </a:r>
            <a:r>
              <a:rPr lang="zh-CN" altLang="en-US" sz="2100" b="1">
                <a:latin typeface="新宋体" panose="02010609030101010101" charset="-122"/>
                <a:ea typeface="新宋体" panose="02010609030101010101" charset="-122"/>
              </a:rPr>
              <a:t>取</a:t>
            </a:r>
            <a:r>
              <a:rPr lang="en-US" altLang="zh-CN" sz="2100" b="1">
                <a:latin typeface="新宋体" panose="02010609030101010101" charset="-122"/>
                <a:ea typeface="新宋体" panose="02010609030101010101" charset="-122"/>
              </a:rPr>
              <a:t>q/2 </a:t>
            </a:r>
            <a:r>
              <a:rPr lang="zh-CN" altLang="en-US" sz="2100" b="1">
                <a:latin typeface="新宋体" panose="02010609030101010101" charset="-122"/>
                <a:ea typeface="新宋体" panose="02010609030101010101" charset="-122"/>
              </a:rPr>
              <a:t>附近的数</a:t>
            </a:r>
            <a:endParaRPr lang="zh-CN" altLang="en-US" sz="2100" b="1">
              <a:latin typeface="新宋体" panose="02010609030101010101" charset="-122"/>
              <a:ea typeface="新宋体" panose="02010609030101010101" charset="-122"/>
            </a:endParaRPr>
          </a:p>
          <a:p>
            <a:pPr>
              <a:lnSpc>
                <a:spcPct val="80000"/>
              </a:lnSpc>
            </a:pPr>
            <a:endParaRPr lang="zh-CN" altLang="en-US" sz="2100" b="1">
              <a:latin typeface="新宋体" panose="02010609030101010101" charset="-122"/>
              <a:ea typeface="新宋体" panose="02010609030101010101" charset="-122"/>
            </a:endParaRPr>
          </a:p>
          <a:p>
            <a:pPr>
              <a:lnSpc>
                <a:spcPct val="80000"/>
              </a:lnSpc>
            </a:pPr>
            <a:r>
              <a:rPr lang="en-US" altLang="zh-CN" sz="2100" b="1">
                <a:latin typeface="新宋体" panose="02010609030101010101" charset="-122"/>
                <a:ea typeface="新宋体" panose="02010609030101010101" charset="-122"/>
              </a:rPr>
              <a:t>C=(1/2+sqrt(3))*M</a:t>
            </a:r>
            <a:endParaRPr lang="en-US" altLang="zh-CN" sz="2100" b="1">
              <a:latin typeface="新宋体" panose="02010609030101010101" charset="-122"/>
              <a:ea typeface="新宋体" panose="02010609030101010101" charset="-122"/>
            </a:endParaRPr>
          </a:p>
          <a:p>
            <a:pPr>
              <a:lnSpc>
                <a:spcPct val="80000"/>
              </a:lnSpc>
            </a:pPr>
            <a:endParaRPr lang="en-US" altLang="zh-CN" sz="2100" b="1">
              <a:latin typeface="新宋体" panose="02010609030101010101" charset="-122"/>
              <a:ea typeface="新宋体" panose="02010609030101010101" charset="-122"/>
            </a:endParaRPr>
          </a:p>
          <a:p>
            <a:pPr>
              <a:lnSpc>
                <a:spcPct val="80000"/>
              </a:lnSpc>
            </a:pPr>
            <a:r>
              <a:rPr lang="en-US" altLang="zh-CN" sz="2100" b="1">
                <a:latin typeface="新宋体" panose="02010609030101010101" charset="-122"/>
                <a:ea typeface="新宋体" panose="02010609030101010101" charset="-122"/>
              </a:rPr>
              <a:t>X[0]</a:t>
            </a:r>
            <a:r>
              <a:rPr lang="zh-CN" altLang="en-US" sz="2100" b="1">
                <a:latin typeface="新宋体" panose="02010609030101010101" charset="-122"/>
                <a:ea typeface="新宋体" panose="02010609030101010101" charset="-122"/>
              </a:rPr>
              <a:t>为任意非负数</a:t>
            </a:r>
            <a:endParaRPr lang="zh-CN" altLang="en-US" sz="2100" b="1">
              <a:latin typeface="新宋体" panose="02010609030101010101" charset="-122"/>
              <a:ea typeface="新宋体" panose="02010609030101010101" charset="-122"/>
            </a:endParaRPr>
          </a:p>
          <a:p>
            <a:pPr>
              <a:lnSpc>
                <a:spcPct val="80000"/>
              </a:lnSpc>
            </a:pPr>
            <a:endParaRPr lang="zh-CN" altLang="en-US" sz="2100" b="1">
              <a:latin typeface="新宋体" panose="02010609030101010101" charset="-122"/>
              <a:ea typeface="新宋体" panose="02010609030101010101" charset="-122"/>
            </a:endParaRPr>
          </a:p>
          <a:p>
            <a:pPr>
              <a:lnSpc>
                <a:spcPct val="80000"/>
              </a:lnSpc>
            </a:pPr>
            <a:r>
              <a:rPr lang="en-US" altLang="zh-CN" sz="2100" b="1">
                <a:latin typeface="新宋体" panose="02010609030101010101" charset="-122"/>
                <a:ea typeface="新宋体" panose="02010609030101010101" charset="-122"/>
              </a:rPr>
              <a:t>M </a:t>
            </a:r>
            <a:r>
              <a:rPr lang="zh-CN" altLang="en-US" sz="2100" b="1">
                <a:latin typeface="新宋体" panose="02010609030101010101" charset="-122"/>
                <a:ea typeface="新宋体" panose="02010609030101010101" charset="-122"/>
              </a:rPr>
              <a:t>， 模数         </a:t>
            </a:r>
            <a:r>
              <a:rPr lang="en-US" altLang="zh-CN" sz="2100" b="1">
                <a:latin typeface="新宋体" panose="02010609030101010101" charset="-122"/>
                <a:ea typeface="新宋体" panose="02010609030101010101" charset="-122"/>
              </a:rPr>
              <a:t>0 &lt; M </a:t>
            </a:r>
            <a:endParaRPr lang="en-US" altLang="zh-CN" sz="2100" b="1">
              <a:latin typeface="新宋体" panose="02010609030101010101" charset="-122"/>
              <a:ea typeface="新宋体" panose="02010609030101010101" charset="-122"/>
            </a:endParaRPr>
          </a:p>
          <a:p>
            <a:pPr>
              <a:lnSpc>
                <a:spcPct val="80000"/>
              </a:lnSpc>
            </a:pPr>
            <a:r>
              <a:rPr lang="en-US" altLang="zh-CN" sz="2100" b="1">
                <a:latin typeface="新宋体" panose="02010609030101010101" charset="-122"/>
                <a:ea typeface="新宋体" panose="02010609030101010101" charset="-122"/>
              </a:rPr>
              <a:t>A</a:t>
            </a:r>
            <a:r>
              <a:rPr lang="zh-CN" altLang="en-US" sz="2100" b="1">
                <a:latin typeface="新宋体" panose="02010609030101010101" charset="-122"/>
                <a:ea typeface="新宋体" panose="02010609030101010101" charset="-122"/>
              </a:rPr>
              <a:t>， 乘数         </a:t>
            </a:r>
            <a:r>
              <a:rPr lang="en-US" altLang="zh-CN" sz="2100" b="1">
                <a:latin typeface="新宋体" panose="02010609030101010101" charset="-122"/>
                <a:ea typeface="新宋体" panose="02010609030101010101" charset="-122"/>
              </a:rPr>
              <a:t>0 &lt;= A&lt;M </a:t>
            </a:r>
            <a:endParaRPr lang="en-US" altLang="zh-CN" sz="2100" b="1">
              <a:latin typeface="新宋体" panose="02010609030101010101" charset="-122"/>
              <a:ea typeface="新宋体" panose="02010609030101010101" charset="-122"/>
            </a:endParaRPr>
          </a:p>
          <a:p>
            <a:pPr>
              <a:lnSpc>
                <a:spcPct val="80000"/>
              </a:lnSpc>
            </a:pPr>
            <a:r>
              <a:rPr lang="en-US" altLang="zh-CN" sz="2100" b="1">
                <a:latin typeface="新宋体" panose="02010609030101010101" charset="-122"/>
                <a:ea typeface="新宋体" panose="02010609030101010101" charset="-122"/>
              </a:rPr>
              <a:t>C</a:t>
            </a:r>
            <a:r>
              <a:rPr lang="zh-CN" altLang="en-US" sz="2100" b="1">
                <a:latin typeface="新宋体" panose="02010609030101010101" charset="-122"/>
                <a:ea typeface="新宋体" panose="02010609030101010101" charset="-122"/>
              </a:rPr>
              <a:t>， 增量         </a:t>
            </a:r>
            <a:r>
              <a:rPr lang="en-US" altLang="zh-CN" sz="2100" b="1">
                <a:latin typeface="新宋体" panose="02010609030101010101" charset="-122"/>
                <a:ea typeface="新宋体" panose="02010609030101010101" charset="-122"/>
              </a:rPr>
              <a:t>0 &lt;=C&lt;M </a:t>
            </a:r>
            <a:endParaRPr lang="en-US" altLang="zh-CN" sz="2100" b="1">
              <a:latin typeface="新宋体" panose="02010609030101010101" charset="-122"/>
              <a:ea typeface="新宋体" panose="02010609030101010101" charset="-122"/>
            </a:endParaRPr>
          </a:p>
          <a:p>
            <a:pPr>
              <a:lnSpc>
                <a:spcPct val="80000"/>
              </a:lnSpc>
            </a:pPr>
            <a:r>
              <a:rPr lang="en-US" altLang="zh-CN" sz="2100" b="1">
                <a:latin typeface="新宋体" panose="02010609030101010101" charset="-122"/>
                <a:ea typeface="新宋体" panose="02010609030101010101" charset="-122"/>
              </a:rPr>
              <a:t>Xi</a:t>
            </a:r>
            <a:r>
              <a:rPr lang="zh-CN" altLang="en-US" sz="2100" b="1">
                <a:latin typeface="新宋体" panose="02010609030101010101" charset="-122"/>
                <a:ea typeface="新宋体" panose="02010609030101010101" charset="-122"/>
              </a:rPr>
              <a:t>，开始值        </a:t>
            </a:r>
            <a:r>
              <a:rPr lang="en-US" altLang="zh-CN" sz="2100" b="1">
                <a:latin typeface="新宋体" panose="02010609030101010101" charset="-122"/>
                <a:ea typeface="新宋体" panose="02010609030101010101" charset="-122"/>
              </a:rPr>
              <a:t>0&lt;=Xi&lt;M</a:t>
            </a:r>
            <a:endParaRPr lang="en-US" altLang="zh-CN" sz="2100" b="1">
              <a:latin typeface="新宋体" panose="02010609030101010101" charset="-122"/>
              <a:ea typeface="新宋体" panose="02010609030101010101" charset="-122"/>
            </a:endParaRPr>
          </a:p>
          <a:p>
            <a:pPr>
              <a:lnSpc>
                <a:spcPct val="80000"/>
              </a:lnSpc>
            </a:pPr>
            <a:endParaRPr lang="en-US" altLang="zh-CN" sz="2100" b="1">
              <a:latin typeface="新宋体" panose="02010609030101010101" charset="-122"/>
              <a:ea typeface="新宋体" panose="02010609030101010101" charset="-122"/>
            </a:endParaRPr>
          </a:p>
          <a:p>
            <a:pPr>
              <a:lnSpc>
                <a:spcPct val="80000"/>
              </a:lnSpc>
            </a:pPr>
            <a:r>
              <a:rPr lang="zh-CN" altLang="en-US" sz="2100" b="1"/>
              <a:t>随机数的生成在某一周期内成线性增长的趋势</a:t>
            </a:r>
            <a:r>
              <a:rPr lang="zh-CN" altLang="en-US" sz="2100"/>
              <a:t> </a:t>
            </a:r>
            <a:endParaRPr lang="zh-CN" altLang="en-US" sz="2100"/>
          </a:p>
        </p:txBody>
      </p:sp>
      <p:sp>
        <p:nvSpPr>
          <p:cNvPr id="332804" name="Rectangle 4"/>
          <p:cNvSpPr>
            <a:spLocks noChangeArrowheads="1"/>
          </p:cNvSpPr>
          <p:nvPr/>
        </p:nvSpPr>
        <p:spPr bwMode="auto">
          <a:xfrm>
            <a:off x="827088" y="620713"/>
            <a:ext cx="5327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sz="3600"/>
              <a:t>X[i+1]=(A*X[i]+C) mod M </a:t>
            </a:r>
            <a:endParaRPr kumimoji="1" lang="en-US" altLang="zh-CN" sz="360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EFD00CAC-1925-4013-8533-0086086AED24}" type="slidenum">
              <a:rPr lang="en-US" altLang="zh-CN"/>
            </a:fld>
            <a:endParaRPr lang="en-US" altLang="zh-CN"/>
          </a:p>
        </p:txBody>
      </p:sp>
      <p:sp>
        <p:nvSpPr>
          <p:cNvPr id="334851" name="Rectangle 3"/>
          <p:cNvSpPr>
            <a:spLocks noGrp="1" noChangeArrowheads="1"/>
          </p:cNvSpPr>
          <p:nvPr>
            <p:ph type="body" idx="1"/>
          </p:nvPr>
        </p:nvSpPr>
        <p:spPr>
          <a:xfrm>
            <a:off x="250825" y="1557338"/>
            <a:ext cx="8642350" cy="5040312"/>
          </a:xfrm>
        </p:spPr>
        <p:txBody>
          <a:bodyPr/>
          <a:lstStyle/>
          <a:p>
            <a:pPr marL="361950" indent="-361950">
              <a:lnSpc>
                <a:spcPct val="90000"/>
              </a:lnSpc>
            </a:pPr>
            <a:r>
              <a:rPr lang="zh-CN" altLang="en-US">
                <a:latin typeface="新宋体" panose="02010609030101010101" charset="-122"/>
                <a:ea typeface="新宋体" panose="02010609030101010101" charset="-122"/>
              </a:rPr>
              <a:t>同余序列总是进入一个循环，这是一个事实，它最终必定在</a:t>
            </a:r>
            <a:r>
              <a:rPr lang="en-US" altLang="zh-CN">
                <a:latin typeface="新宋体" panose="02010609030101010101" charset="-122"/>
                <a:ea typeface="新宋体" panose="02010609030101010101" charset="-122"/>
              </a:rPr>
              <a:t>N</a:t>
            </a:r>
            <a:r>
              <a:rPr lang="zh-CN" altLang="en-US">
                <a:latin typeface="新宋体" panose="02010609030101010101" charset="-122"/>
                <a:ea typeface="新宋体" panose="02010609030101010101" charset="-122"/>
              </a:rPr>
              <a:t>个数之间无休止的重复循环。 </a:t>
            </a:r>
            <a:endParaRPr lang="zh-CN" altLang="en-US">
              <a:latin typeface="新宋体" panose="02010609030101010101" charset="-122"/>
              <a:ea typeface="新宋体" panose="02010609030101010101" charset="-122"/>
            </a:endParaRPr>
          </a:p>
          <a:p>
            <a:pPr marL="361950" indent="-361950">
              <a:lnSpc>
                <a:spcPct val="90000"/>
              </a:lnSpc>
            </a:pPr>
            <a:r>
              <a:rPr lang="zh-CN" altLang="en-US">
                <a:latin typeface="新宋体" panose="02010609030101010101" charset="-122"/>
                <a:ea typeface="新宋体" panose="02010609030101010101" charset="-122"/>
              </a:rPr>
              <a:t>使用该方法产生的伪随机数能不能近似真正的随机效果，跟四个整数的设置相关： </a:t>
            </a:r>
            <a:endParaRPr lang="zh-CN" altLang="en-US">
              <a:latin typeface="新宋体" panose="02010609030101010101" charset="-122"/>
              <a:ea typeface="新宋体" panose="02010609030101010101" charset="-122"/>
            </a:endParaRPr>
          </a:p>
          <a:p>
            <a:pPr marL="361950" indent="-361950">
              <a:lnSpc>
                <a:spcPct val="90000"/>
              </a:lnSpc>
              <a:buFont typeface="Wingdings" panose="05000000000000000000" pitchFamily="2" charset="2"/>
              <a:buAutoNum type="arabicPeriod"/>
            </a:pPr>
            <a:r>
              <a:rPr lang="zh-CN" altLang="en-US">
                <a:latin typeface="新宋体" panose="02010609030101010101" charset="-122"/>
                <a:ea typeface="新宋体" panose="02010609030101010101" charset="-122"/>
              </a:rPr>
              <a:t>序列的开始值，一般取正整数。 </a:t>
            </a:r>
            <a:endParaRPr lang="zh-CN" altLang="en-US">
              <a:latin typeface="新宋体" panose="02010609030101010101" charset="-122"/>
              <a:ea typeface="新宋体" panose="02010609030101010101" charset="-122"/>
            </a:endParaRPr>
          </a:p>
          <a:p>
            <a:pPr marL="361950" indent="-361950">
              <a:lnSpc>
                <a:spcPct val="90000"/>
              </a:lnSpc>
              <a:buFont typeface="Wingdings" panose="05000000000000000000" pitchFamily="2" charset="2"/>
              <a:buAutoNum type="arabicPeriod"/>
            </a:pPr>
            <a:r>
              <a:rPr lang="en-US" altLang="zh-CN">
                <a:latin typeface="新宋体" panose="02010609030101010101" charset="-122"/>
                <a:ea typeface="新宋体" panose="02010609030101010101" charset="-122"/>
              </a:rPr>
              <a:t>m</a:t>
            </a:r>
            <a:r>
              <a:rPr lang="zh-CN" altLang="en-US">
                <a:latin typeface="新宋体" panose="02010609030101010101" charset="-122"/>
                <a:ea typeface="新宋体" panose="02010609030101010101" charset="-122"/>
              </a:rPr>
              <a:t>：一个同余序列的周期不可能多于</a:t>
            </a:r>
            <a:r>
              <a:rPr lang="en-US" altLang="zh-CN">
                <a:latin typeface="新宋体" panose="02010609030101010101" charset="-122"/>
                <a:ea typeface="新宋体" panose="02010609030101010101" charset="-122"/>
              </a:rPr>
              <a:t>m</a:t>
            </a:r>
            <a:r>
              <a:rPr lang="zh-CN" altLang="en-US">
                <a:latin typeface="新宋体" panose="02010609030101010101" charset="-122"/>
                <a:ea typeface="新宋体" panose="02010609030101010101" charset="-122"/>
              </a:rPr>
              <a:t>个元素，所以，为了达到预期的随机效果，一般我们希望这个值稍稍大一点。在大多数情况下，当</a:t>
            </a:r>
            <a:r>
              <a:rPr lang="en-US" altLang="zh-CN">
                <a:latin typeface="新宋体" panose="02010609030101010101" charset="-122"/>
                <a:ea typeface="新宋体" panose="02010609030101010101" charset="-122"/>
              </a:rPr>
              <a:t>m = 2e</a:t>
            </a:r>
            <a:r>
              <a:rPr lang="zh-CN" altLang="en-US">
                <a:latin typeface="新宋体" panose="02010609030101010101" charset="-122"/>
                <a:ea typeface="新宋体" panose="02010609030101010101" charset="-122"/>
              </a:rPr>
              <a:t>（</a:t>
            </a:r>
            <a:r>
              <a:rPr lang="en-US" altLang="zh-CN">
                <a:latin typeface="新宋体" panose="02010609030101010101" charset="-122"/>
                <a:ea typeface="新宋体" panose="02010609030101010101" charset="-122"/>
              </a:rPr>
              <a:t>e</a:t>
            </a:r>
            <a:r>
              <a:rPr lang="zh-CN" altLang="en-US">
                <a:latin typeface="新宋体" panose="02010609030101010101" charset="-122"/>
                <a:ea typeface="新宋体" panose="02010609030101010101" charset="-122"/>
              </a:rPr>
              <a:t>表示计算机的字大小）时，在计算机中得到的随机效果就比较令人满意了。而且这样对于随机数生成速度也是比较合理的。 </a:t>
            </a:r>
            <a:endParaRPr lang="zh-CN" altLang="en-US">
              <a:latin typeface="新宋体" panose="02010609030101010101" charset="-122"/>
              <a:ea typeface="新宋体" panose="02010609030101010101" charset="-122"/>
            </a:endParaRPr>
          </a:p>
        </p:txBody>
      </p:sp>
      <p:sp>
        <p:nvSpPr>
          <p:cNvPr id="334852" name="Rectangle 4"/>
          <p:cNvSpPr>
            <a:spLocks noChangeArrowheads="1"/>
          </p:cNvSpPr>
          <p:nvPr/>
        </p:nvSpPr>
        <p:spPr bwMode="auto">
          <a:xfrm>
            <a:off x="755650" y="476250"/>
            <a:ext cx="54006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3600"/>
              <a:t>X[i+1]=(A*X[i]+C) mod M </a:t>
            </a:r>
            <a:endParaRPr kumimoji="1" lang="en-US" altLang="zh-CN" sz="3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34851">
                                            <p:txEl>
                                              <p:pRg st="4294967295" end="4294967295"/>
                                            </p:txEl>
                                          </p:spTgt>
                                        </p:tgtEl>
                                        <p:attrNameLst>
                                          <p:attrName>style.visibility</p:attrName>
                                        </p:attrNameLst>
                                      </p:cBhvr>
                                      <p:to>
                                        <p:strVal val="visible"/>
                                      </p:to>
                                    </p:set>
                                    <p:animEffect transition="in" filter="box(in)">
                                      <p:cBhvr>
                                        <p:cTn id="7" dur="500"/>
                                        <p:tgtEl>
                                          <p:spTgt spid="334851">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34851">
                                            <p:txEl>
                                              <p:pRg st="0" end="0"/>
                                            </p:txEl>
                                          </p:spTgt>
                                        </p:tgtEl>
                                        <p:attrNameLst>
                                          <p:attrName>style.visibility</p:attrName>
                                        </p:attrNameLst>
                                      </p:cBhvr>
                                      <p:to>
                                        <p:strVal val="visible"/>
                                      </p:to>
                                    </p:set>
                                    <p:animEffect transition="in" filter="box(in)">
                                      <p:cBhvr>
                                        <p:cTn id="12" dur="500"/>
                                        <p:tgtEl>
                                          <p:spTgt spid="33485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34851">
                                            <p:txEl>
                                              <p:pRg st="1" end="1"/>
                                            </p:txEl>
                                          </p:spTgt>
                                        </p:tgtEl>
                                        <p:attrNameLst>
                                          <p:attrName>style.visibility</p:attrName>
                                        </p:attrNameLst>
                                      </p:cBhvr>
                                      <p:to>
                                        <p:strVal val="visible"/>
                                      </p:to>
                                    </p:set>
                                    <p:animEffect transition="in" filter="box(in)">
                                      <p:cBhvr>
                                        <p:cTn id="17" dur="500"/>
                                        <p:tgtEl>
                                          <p:spTgt spid="33485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34851">
                                            <p:txEl>
                                              <p:pRg st="2" end="2"/>
                                            </p:txEl>
                                          </p:spTgt>
                                        </p:tgtEl>
                                        <p:attrNameLst>
                                          <p:attrName>style.visibility</p:attrName>
                                        </p:attrNameLst>
                                      </p:cBhvr>
                                      <p:to>
                                        <p:strVal val="visible"/>
                                      </p:to>
                                    </p:set>
                                    <p:animEffect transition="in" filter="box(in)">
                                      <p:cBhvr>
                                        <p:cTn id="22" dur="500"/>
                                        <p:tgtEl>
                                          <p:spTgt spid="33485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34851">
                                            <p:txEl>
                                              <p:pRg st="3" end="3"/>
                                            </p:txEl>
                                          </p:spTgt>
                                        </p:tgtEl>
                                        <p:attrNameLst>
                                          <p:attrName>style.visibility</p:attrName>
                                        </p:attrNameLst>
                                      </p:cBhvr>
                                      <p:to>
                                        <p:strVal val="visible"/>
                                      </p:to>
                                    </p:set>
                                    <p:animEffect transition="in" filter="box(in)">
                                      <p:cBhvr>
                                        <p:cTn id="27" dur="500"/>
                                        <p:tgtEl>
                                          <p:spTgt spid="3348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5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467E6A44-EB88-4DC4-8B68-D3E6059EB662}" type="slidenum">
              <a:rPr lang="en-US" altLang="zh-CN"/>
            </a:fld>
            <a:endParaRPr lang="en-US" altLang="zh-CN"/>
          </a:p>
        </p:txBody>
      </p:sp>
      <p:sp>
        <p:nvSpPr>
          <p:cNvPr id="335875" name="Rectangle 3"/>
          <p:cNvSpPr>
            <a:spLocks noGrp="1" noChangeArrowheads="1"/>
          </p:cNvSpPr>
          <p:nvPr>
            <p:ph type="body" idx="1"/>
          </p:nvPr>
        </p:nvSpPr>
        <p:spPr/>
        <p:txBody>
          <a:bodyPr/>
          <a:lstStyle/>
          <a:p>
            <a:pPr marL="571500" indent="-571500">
              <a:buFont typeface="Wingdings" panose="05000000000000000000" pitchFamily="2" charset="2"/>
              <a:buAutoNum type="arabicPeriod" startAt="3"/>
            </a:pPr>
            <a:r>
              <a:rPr lang="en-US" altLang="zh-CN">
                <a:latin typeface="新宋体" panose="02010609030101010101" charset="-122"/>
                <a:ea typeface="新宋体" panose="02010609030101010101" charset="-122"/>
              </a:rPr>
              <a:t>a</a:t>
            </a:r>
            <a:r>
              <a:rPr lang="zh-CN" altLang="en-US">
                <a:latin typeface="新宋体" panose="02010609030101010101" charset="-122"/>
                <a:ea typeface="新宋体" panose="02010609030101010101" charset="-122"/>
              </a:rPr>
              <a:t>：当</a:t>
            </a:r>
            <a:r>
              <a:rPr lang="en-US" altLang="zh-CN">
                <a:latin typeface="新宋体" panose="02010609030101010101" charset="-122"/>
                <a:ea typeface="新宋体" panose="02010609030101010101" charset="-122"/>
              </a:rPr>
              <a:t>a=1</a:t>
            </a:r>
            <a:r>
              <a:rPr lang="zh-CN" altLang="en-US">
                <a:latin typeface="新宋体" panose="02010609030101010101" charset="-122"/>
                <a:ea typeface="新宋体" panose="02010609030101010101" charset="-122"/>
              </a:rPr>
              <a:t>的时候，</a:t>
            </a:r>
            <a:r>
              <a:rPr lang="en-US" altLang="zh-CN">
                <a:latin typeface="新宋体" panose="02010609030101010101" charset="-122"/>
                <a:ea typeface="新宋体" panose="02010609030101010101" charset="-122"/>
              </a:rPr>
              <a:t>Xn=</a:t>
            </a:r>
            <a:r>
              <a:rPr lang="zh-CN" altLang="en-US">
                <a:latin typeface="新宋体" panose="02010609030101010101" charset="-122"/>
                <a:ea typeface="新宋体" panose="02010609030101010101" charset="-122"/>
              </a:rPr>
              <a:t>（</a:t>
            </a:r>
            <a:r>
              <a:rPr lang="en-US" altLang="zh-CN">
                <a:latin typeface="新宋体" panose="02010609030101010101" charset="-122"/>
                <a:ea typeface="新宋体" panose="02010609030101010101" charset="-122"/>
              </a:rPr>
              <a:t>X0+nc</a:t>
            </a:r>
            <a:r>
              <a:rPr lang="zh-CN" altLang="en-US">
                <a:latin typeface="新宋体" panose="02010609030101010101" charset="-122"/>
                <a:ea typeface="新宋体" panose="02010609030101010101" charset="-122"/>
              </a:rPr>
              <a:t>）</a:t>
            </a:r>
            <a:r>
              <a:rPr lang="en-US" altLang="zh-CN">
                <a:latin typeface="新宋体" panose="02010609030101010101" charset="-122"/>
                <a:ea typeface="新宋体" panose="02010609030101010101" charset="-122"/>
              </a:rPr>
              <a:t>mod m </a:t>
            </a:r>
            <a:r>
              <a:rPr lang="zh-CN" altLang="en-US">
                <a:latin typeface="新宋体" panose="02010609030101010101" charset="-122"/>
                <a:ea typeface="新宋体" panose="02010609030101010101" charset="-122"/>
              </a:rPr>
              <a:t>，它不具有随机序列的特性；而当</a:t>
            </a:r>
            <a:r>
              <a:rPr lang="en-US" altLang="zh-CN">
                <a:latin typeface="新宋体" panose="02010609030101010101" charset="-122"/>
                <a:ea typeface="新宋体" panose="02010609030101010101" charset="-122"/>
              </a:rPr>
              <a:t>a=0</a:t>
            </a:r>
            <a:r>
              <a:rPr lang="zh-CN" altLang="en-US">
                <a:latin typeface="新宋体" panose="02010609030101010101" charset="-122"/>
                <a:ea typeface="新宋体" panose="02010609030101010101" charset="-122"/>
              </a:rPr>
              <a:t>的时候甚至更糟糕。因此，为实用起见，选择</a:t>
            </a:r>
            <a:r>
              <a:rPr lang="en-US" altLang="zh-CN">
                <a:latin typeface="新宋体" panose="02010609030101010101" charset="-122"/>
                <a:ea typeface="新宋体" panose="02010609030101010101" charset="-122"/>
              </a:rPr>
              <a:t>2 &lt;= a&lt;m</a:t>
            </a:r>
            <a:r>
              <a:rPr lang="zh-CN" altLang="en-US">
                <a:latin typeface="新宋体" panose="02010609030101010101" charset="-122"/>
                <a:ea typeface="新宋体" panose="02010609030101010101" charset="-122"/>
              </a:rPr>
              <a:t>比较合理。 </a:t>
            </a:r>
            <a:endParaRPr lang="zh-CN" altLang="en-US">
              <a:latin typeface="新宋体" panose="02010609030101010101" charset="-122"/>
              <a:ea typeface="新宋体" panose="02010609030101010101" charset="-122"/>
            </a:endParaRPr>
          </a:p>
          <a:p>
            <a:pPr marL="571500" indent="-571500">
              <a:buFont typeface="Wingdings" panose="05000000000000000000" pitchFamily="2" charset="2"/>
              <a:buAutoNum type="arabicPeriod" startAt="3"/>
            </a:pPr>
            <a:r>
              <a:rPr lang="en-US" altLang="zh-CN">
                <a:latin typeface="新宋体" panose="02010609030101010101" charset="-122"/>
                <a:ea typeface="新宋体" panose="02010609030101010101" charset="-122"/>
              </a:rPr>
              <a:t>c</a:t>
            </a:r>
            <a:r>
              <a:rPr lang="zh-CN" altLang="en-US">
                <a:latin typeface="新宋体" panose="02010609030101010101" charset="-122"/>
                <a:ea typeface="新宋体" panose="02010609030101010101" charset="-122"/>
              </a:rPr>
              <a:t>：当</a:t>
            </a:r>
            <a:r>
              <a:rPr lang="en-US" altLang="zh-CN">
                <a:latin typeface="新宋体" panose="02010609030101010101" charset="-122"/>
                <a:ea typeface="新宋体" panose="02010609030101010101" charset="-122"/>
              </a:rPr>
              <a:t>c=0</a:t>
            </a:r>
            <a:r>
              <a:rPr lang="zh-CN" altLang="en-US">
                <a:latin typeface="新宋体" panose="02010609030101010101" charset="-122"/>
                <a:ea typeface="新宋体" panose="02010609030101010101" charset="-122"/>
              </a:rPr>
              <a:t>时，数的生成过程比</a:t>
            </a:r>
            <a:r>
              <a:rPr lang="en-US" altLang="zh-CN">
                <a:latin typeface="新宋体" panose="02010609030101010101" charset="-122"/>
                <a:ea typeface="新宋体" panose="02010609030101010101" charset="-122"/>
              </a:rPr>
              <a:t>c</a:t>
            </a:r>
            <a:r>
              <a:rPr lang="zh-CN" altLang="en-US">
                <a:latin typeface="新宋体" panose="02010609030101010101" charset="-122"/>
                <a:ea typeface="新宋体" panose="02010609030101010101" charset="-122"/>
              </a:rPr>
              <a:t>！</a:t>
            </a:r>
            <a:r>
              <a:rPr lang="en-US" altLang="zh-CN">
                <a:latin typeface="新宋体" panose="02010609030101010101" charset="-122"/>
                <a:ea typeface="新宋体" panose="02010609030101010101" charset="-122"/>
              </a:rPr>
              <a:t>=0</a:t>
            </a:r>
            <a:r>
              <a:rPr lang="zh-CN" altLang="en-US">
                <a:latin typeface="新宋体" panose="02010609030101010101" charset="-122"/>
                <a:ea typeface="新宋体" panose="02010609030101010101" charset="-122"/>
              </a:rPr>
              <a:t>的时候要稍微快些，它的限制缩短了这个序列的周期长度，但是也仍然有可能得到一个相当长的周期。当</a:t>
            </a:r>
            <a:r>
              <a:rPr lang="en-US" altLang="zh-CN">
                <a:latin typeface="新宋体" panose="02010609030101010101" charset="-122"/>
                <a:ea typeface="新宋体" panose="02010609030101010101" charset="-122"/>
              </a:rPr>
              <a:t>c=0</a:t>
            </a:r>
            <a:r>
              <a:rPr lang="zh-CN" altLang="en-US">
                <a:latin typeface="新宋体" panose="02010609030101010101" charset="-122"/>
                <a:ea typeface="新宋体" panose="02010609030101010101" charset="-122"/>
              </a:rPr>
              <a:t>时被称为乘同余法，</a:t>
            </a:r>
            <a:r>
              <a:rPr lang="en-US" altLang="zh-CN">
                <a:latin typeface="新宋体" panose="02010609030101010101" charset="-122"/>
                <a:ea typeface="新宋体" panose="02010609030101010101" charset="-122"/>
              </a:rPr>
              <a:t>c</a:t>
            </a:r>
            <a:r>
              <a:rPr lang="zh-CN" altLang="en-US">
                <a:latin typeface="新宋体" panose="02010609030101010101" charset="-122"/>
                <a:ea typeface="新宋体" panose="02010609030101010101" charset="-122"/>
              </a:rPr>
              <a:t>！</a:t>
            </a:r>
            <a:r>
              <a:rPr lang="en-US" altLang="zh-CN">
                <a:latin typeface="新宋体" panose="02010609030101010101" charset="-122"/>
                <a:ea typeface="新宋体" panose="02010609030101010101" charset="-122"/>
              </a:rPr>
              <a:t>=0</a:t>
            </a:r>
            <a:r>
              <a:rPr lang="zh-CN" altLang="en-US">
                <a:latin typeface="新宋体" panose="02010609030101010101" charset="-122"/>
                <a:ea typeface="新宋体" panose="02010609030101010101" charset="-122"/>
              </a:rPr>
              <a:t>称为混合同余法。</a:t>
            </a:r>
            <a:endParaRPr lang="zh-CN" altLang="en-US"/>
          </a:p>
        </p:txBody>
      </p:sp>
      <p:sp>
        <p:nvSpPr>
          <p:cNvPr id="335876" name="Rectangle 4"/>
          <p:cNvSpPr>
            <a:spLocks noChangeArrowheads="1"/>
          </p:cNvSpPr>
          <p:nvPr/>
        </p:nvSpPr>
        <p:spPr bwMode="auto">
          <a:xfrm>
            <a:off x="755650" y="476250"/>
            <a:ext cx="54006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3600"/>
              <a:t>X[i+1]=(A*X[i]+C) mod M </a:t>
            </a:r>
            <a:endParaRPr kumimoji="1" lang="en-US" altLang="zh-CN" sz="360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01BE7332-2214-4D02-8E4B-9613B1A6C87D}" type="slidenum">
              <a:rPr lang="en-US" altLang="zh-CN"/>
            </a:fld>
            <a:endParaRPr lang="en-US" altLang="zh-CN"/>
          </a:p>
        </p:txBody>
      </p:sp>
      <p:sp>
        <p:nvSpPr>
          <p:cNvPr id="336899" name="Rectangle 3"/>
          <p:cNvSpPr>
            <a:spLocks noGrp="1" noChangeArrowheads="1"/>
          </p:cNvSpPr>
          <p:nvPr>
            <p:ph type="body" idx="1"/>
          </p:nvPr>
        </p:nvSpPr>
        <p:spPr/>
        <p:txBody>
          <a:bodyPr/>
          <a:lstStyle/>
          <a:p>
            <a:r>
              <a:rPr lang="zh-CN" altLang="en-US"/>
              <a:t>由</a:t>
            </a:r>
            <a:r>
              <a:rPr lang="en-US" altLang="zh-CN"/>
              <a:t>m</a:t>
            </a:r>
            <a:r>
              <a:rPr lang="zh-CN" altLang="en-US"/>
              <a:t>，</a:t>
            </a:r>
            <a:r>
              <a:rPr lang="en-US" altLang="zh-CN"/>
              <a:t>a</a:t>
            </a:r>
            <a:r>
              <a:rPr lang="zh-CN" altLang="en-US"/>
              <a:t>，</a:t>
            </a:r>
            <a:r>
              <a:rPr lang="en-US" altLang="zh-CN"/>
              <a:t>c</a:t>
            </a:r>
            <a:r>
              <a:rPr lang="zh-CN" altLang="en-US"/>
              <a:t>和</a:t>
            </a:r>
            <a:r>
              <a:rPr lang="en-US" altLang="zh-CN"/>
              <a:t>X0</a:t>
            </a:r>
            <a:r>
              <a:rPr lang="zh-CN" altLang="en-US"/>
              <a:t>所定义的线形同余序列得到最大的周期长度</a:t>
            </a:r>
            <a:r>
              <a:rPr lang="en-US" altLang="zh-CN"/>
              <a:t>m</a:t>
            </a:r>
            <a:r>
              <a:rPr lang="zh-CN" altLang="en-US"/>
              <a:t>的条件如下： </a:t>
            </a:r>
            <a:br>
              <a:rPr lang="zh-CN" altLang="en-US"/>
            </a:br>
            <a:r>
              <a:rPr lang="zh-CN" altLang="en-US"/>
              <a:t>当且仅当</a:t>
            </a:r>
            <a:endParaRPr lang="zh-CN" altLang="en-US"/>
          </a:p>
          <a:p>
            <a:r>
              <a:rPr lang="zh-CN" altLang="en-US"/>
              <a:t>（</a:t>
            </a:r>
            <a:r>
              <a:rPr lang="en-US" altLang="zh-CN"/>
              <a:t>1</a:t>
            </a:r>
            <a:r>
              <a:rPr lang="zh-CN" altLang="en-US"/>
              <a:t>）</a:t>
            </a:r>
            <a:r>
              <a:rPr lang="en-US" altLang="zh-CN"/>
              <a:t>c</a:t>
            </a:r>
            <a:r>
              <a:rPr lang="zh-CN" altLang="en-US"/>
              <a:t>与</a:t>
            </a:r>
            <a:r>
              <a:rPr lang="en-US" altLang="zh-CN"/>
              <a:t>m</a:t>
            </a:r>
            <a:r>
              <a:rPr lang="zh-CN" altLang="en-US"/>
              <a:t>互素。 </a:t>
            </a:r>
            <a:br>
              <a:rPr lang="zh-CN" altLang="en-US"/>
            </a:br>
            <a:r>
              <a:rPr lang="zh-CN" altLang="en-US"/>
              <a:t>（</a:t>
            </a:r>
            <a:r>
              <a:rPr lang="en-US" altLang="zh-CN"/>
              <a:t>2</a:t>
            </a:r>
            <a:r>
              <a:rPr lang="zh-CN" altLang="en-US"/>
              <a:t>）对于整除</a:t>
            </a:r>
            <a:r>
              <a:rPr lang="en-US" altLang="zh-CN"/>
              <a:t>m</a:t>
            </a:r>
            <a:r>
              <a:rPr lang="zh-CN" altLang="en-US"/>
              <a:t>的每个素数</a:t>
            </a:r>
            <a:r>
              <a:rPr lang="en-US" altLang="zh-CN"/>
              <a:t>p</a:t>
            </a:r>
            <a:r>
              <a:rPr lang="zh-CN" altLang="en-US"/>
              <a:t>，</a:t>
            </a:r>
            <a:r>
              <a:rPr lang="en-US" altLang="zh-CN"/>
              <a:t>2^b=a-1</a:t>
            </a:r>
            <a:r>
              <a:rPr lang="zh-CN" altLang="en-US"/>
              <a:t>是</a:t>
            </a:r>
            <a:r>
              <a:rPr lang="en-US" altLang="zh-CN"/>
              <a:t>p</a:t>
            </a:r>
            <a:r>
              <a:rPr lang="zh-CN" altLang="en-US"/>
              <a:t>的倍数。 </a:t>
            </a:r>
            <a:br>
              <a:rPr lang="zh-CN" altLang="en-US"/>
            </a:br>
            <a:r>
              <a:rPr lang="zh-CN" altLang="en-US"/>
              <a:t>（</a:t>
            </a:r>
            <a:r>
              <a:rPr lang="en-US" altLang="zh-CN"/>
              <a:t>3</a:t>
            </a:r>
            <a:r>
              <a:rPr lang="zh-CN" altLang="en-US"/>
              <a:t>）如果</a:t>
            </a:r>
            <a:r>
              <a:rPr lang="en-US" altLang="zh-CN"/>
              <a:t>m</a:t>
            </a:r>
            <a:r>
              <a:rPr lang="zh-CN" altLang="en-US"/>
              <a:t>是</a:t>
            </a:r>
            <a:r>
              <a:rPr lang="en-US" altLang="zh-CN"/>
              <a:t>4</a:t>
            </a:r>
            <a:r>
              <a:rPr lang="zh-CN" altLang="en-US"/>
              <a:t>的倍数，则</a:t>
            </a:r>
            <a:r>
              <a:rPr lang="en-US" altLang="zh-CN"/>
              <a:t>b</a:t>
            </a:r>
            <a:r>
              <a:rPr lang="zh-CN" altLang="en-US"/>
              <a:t>也是</a:t>
            </a:r>
            <a:r>
              <a:rPr lang="en-US" altLang="zh-CN"/>
              <a:t>4</a:t>
            </a:r>
            <a:r>
              <a:rPr lang="zh-CN" altLang="en-US"/>
              <a:t>的倍数。 </a:t>
            </a:r>
            <a:endParaRPr lang="zh-CN" altLang="en-US"/>
          </a:p>
        </p:txBody>
      </p:sp>
      <p:sp>
        <p:nvSpPr>
          <p:cNvPr id="336900" name="Rectangle 4"/>
          <p:cNvSpPr>
            <a:spLocks noChangeArrowheads="1"/>
          </p:cNvSpPr>
          <p:nvPr/>
        </p:nvSpPr>
        <p:spPr bwMode="auto">
          <a:xfrm>
            <a:off x="755650" y="692150"/>
            <a:ext cx="54006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3600"/>
              <a:t>X[i+1]=(A*X[i]+C) mod M </a:t>
            </a:r>
            <a:endParaRPr kumimoji="1" lang="en-US" altLang="zh-CN" sz="360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135E398F-B2A1-4EAA-9D36-064477D40473}" type="slidenum">
              <a:rPr lang="en-US" altLang="zh-CN"/>
            </a:fld>
            <a:endParaRPr lang="en-US" altLang="zh-CN"/>
          </a:p>
        </p:txBody>
      </p:sp>
      <p:sp>
        <p:nvSpPr>
          <p:cNvPr id="329730" name="Rectangle 2"/>
          <p:cNvSpPr>
            <a:spLocks noGrp="1" noChangeArrowheads="1"/>
          </p:cNvSpPr>
          <p:nvPr>
            <p:ph type="title"/>
          </p:nvPr>
        </p:nvSpPr>
        <p:spPr/>
        <p:txBody>
          <a:bodyPr/>
          <a:lstStyle/>
          <a:p>
            <a:r>
              <a:rPr lang="zh-CN" altLang="en-US"/>
              <a:t>获取系统时间</a:t>
            </a:r>
            <a:endParaRPr lang="zh-CN" altLang="en-US"/>
          </a:p>
        </p:txBody>
      </p:sp>
      <p:sp>
        <p:nvSpPr>
          <p:cNvPr id="329731" name="Rectangle 3"/>
          <p:cNvSpPr>
            <a:spLocks noGrp="1" noChangeArrowheads="1"/>
          </p:cNvSpPr>
          <p:nvPr>
            <p:ph type="body" idx="1"/>
          </p:nvPr>
        </p:nvSpPr>
        <p:spPr/>
        <p:txBody>
          <a:bodyPr/>
          <a:lstStyle/>
          <a:p>
            <a:r>
              <a:rPr lang="en-US" altLang="zh-CN"/>
              <a:t>#include&lt;ctime&gt;</a:t>
            </a:r>
            <a:br>
              <a:rPr lang="en-US" altLang="zh-CN"/>
            </a:br>
            <a:endParaRPr lang="en-US" altLang="zh-CN"/>
          </a:p>
          <a:p>
            <a:r>
              <a:rPr lang="en-US" altLang="zh-CN"/>
              <a:t>time_t now_time;</a:t>
            </a:r>
            <a:br>
              <a:rPr lang="en-US" altLang="zh-CN"/>
            </a:br>
            <a:r>
              <a:rPr lang="en-US" altLang="zh-CN"/>
              <a:t>now_time = time(NULL);</a:t>
            </a:r>
            <a:br>
              <a:rPr lang="en-US" altLang="zh-CN"/>
            </a:br>
            <a:endParaRPr lang="en-US" altLang="zh-CN"/>
          </a:p>
          <a:p>
            <a:endParaRPr lang="zh-CN" altLang="en-US"/>
          </a:p>
          <a:p>
            <a:r>
              <a:rPr lang="en-US" altLang="zh-CN"/>
              <a:t>random</a:t>
            </a:r>
            <a:endParaRPr lang="en-US" altLang="zh-CN"/>
          </a:p>
          <a:p>
            <a:r>
              <a:rPr lang="en-US" altLang="zh-CN"/>
              <a:t>frandom</a:t>
            </a:r>
            <a:endParaRPr lang="en-US" altLang="zh-CN"/>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6"/>
          <p:cNvSpPr>
            <a:spLocks noGrp="1"/>
          </p:cNvSpPr>
          <p:nvPr>
            <p:ph type="sldNum" sz="quarter" idx="12"/>
          </p:nvPr>
        </p:nvSpPr>
        <p:spPr/>
        <p:txBody>
          <a:bodyPr/>
          <a:lstStyle/>
          <a:p>
            <a:fld id="{B0375240-435B-45EE-BDFB-10DCDBE97131}" type="slidenum">
              <a:rPr lang="en-US" altLang="zh-CN"/>
            </a:fld>
            <a:endParaRPr lang="en-US" altLang="zh-CN"/>
          </a:p>
        </p:txBody>
      </p:sp>
      <p:sp>
        <p:nvSpPr>
          <p:cNvPr id="340997" name="Rectangle 5"/>
          <p:cNvSpPr>
            <a:spLocks noGrp="1" noChangeArrowheads="1"/>
          </p:cNvSpPr>
          <p:nvPr>
            <p:ph type="body" sz="half" idx="1"/>
          </p:nvPr>
        </p:nvSpPr>
        <p:spPr>
          <a:xfrm>
            <a:off x="468313" y="765175"/>
            <a:ext cx="4038600" cy="5903913"/>
          </a:xfrm>
        </p:spPr>
        <p:txBody>
          <a:bodyPr/>
          <a:lstStyle/>
          <a:p>
            <a:pPr>
              <a:lnSpc>
                <a:spcPct val="80000"/>
              </a:lnSpc>
            </a:pPr>
            <a:r>
              <a:rPr lang="en-US" altLang="zh-CN" sz="1700"/>
              <a:t>const unsigned long maxshort=65536L;</a:t>
            </a:r>
            <a:endParaRPr lang="en-US" altLang="zh-CN" sz="1700"/>
          </a:p>
          <a:p>
            <a:pPr>
              <a:lnSpc>
                <a:spcPct val="80000"/>
              </a:lnSpc>
            </a:pPr>
            <a:r>
              <a:rPr lang="en-US" altLang="zh-CN" sz="1700"/>
              <a:t>const unsigned long multiplier=1194211693L;</a:t>
            </a:r>
            <a:endParaRPr lang="en-US" altLang="zh-CN" sz="1700"/>
          </a:p>
          <a:p>
            <a:pPr>
              <a:lnSpc>
                <a:spcPct val="80000"/>
              </a:lnSpc>
            </a:pPr>
            <a:r>
              <a:rPr lang="en-US" altLang="zh-CN" sz="1700"/>
              <a:t>const unsigned long adder=12345L;</a:t>
            </a:r>
            <a:endParaRPr lang="en-US" altLang="zh-CN" sz="1700"/>
          </a:p>
          <a:p>
            <a:pPr>
              <a:lnSpc>
                <a:spcPct val="80000"/>
              </a:lnSpc>
            </a:pPr>
            <a:r>
              <a:rPr lang="en-US" altLang="zh-CN" sz="1700"/>
              <a:t>class RandomNumber</a:t>
            </a:r>
            <a:endParaRPr lang="en-US" altLang="zh-CN" sz="1700"/>
          </a:p>
          <a:p>
            <a:pPr>
              <a:lnSpc>
                <a:spcPct val="80000"/>
              </a:lnSpc>
            </a:pPr>
            <a:r>
              <a:rPr lang="en-US" altLang="zh-CN" sz="1700"/>
              <a:t>{      private:</a:t>
            </a:r>
            <a:endParaRPr lang="en-US" altLang="zh-CN" sz="1700"/>
          </a:p>
          <a:p>
            <a:pPr>
              <a:lnSpc>
                <a:spcPct val="80000"/>
              </a:lnSpc>
            </a:pPr>
            <a:r>
              <a:rPr lang="en-US" altLang="zh-CN" sz="1700"/>
              <a:t>          //</a:t>
            </a:r>
            <a:r>
              <a:rPr lang="zh-CN" altLang="en-US" sz="1700"/>
              <a:t>当前种子</a:t>
            </a:r>
            <a:endParaRPr lang="zh-CN" altLang="en-US" sz="1700"/>
          </a:p>
          <a:p>
            <a:pPr>
              <a:lnSpc>
                <a:spcPct val="80000"/>
              </a:lnSpc>
            </a:pPr>
            <a:r>
              <a:rPr lang="zh-CN" altLang="en-US" sz="1700"/>
              <a:t>          </a:t>
            </a:r>
            <a:r>
              <a:rPr lang="en-US" altLang="zh-CN" sz="1700"/>
              <a:t>unsigned long randseed;</a:t>
            </a:r>
            <a:endParaRPr lang="en-US" altLang="zh-CN" sz="1700"/>
          </a:p>
          <a:p>
            <a:pPr>
              <a:lnSpc>
                <a:spcPct val="80000"/>
              </a:lnSpc>
            </a:pPr>
            <a:r>
              <a:rPr lang="en-US" altLang="zh-CN" sz="1700"/>
              <a:t>     public:</a:t>
            </a:r>
            <a:endParaRPr lang="en-US" altLang="zh-CN" sz="1700"/>
          </a:p>
          <a:p>
            <a:pPr>
              <a:lnSpc>
                <a:spcPct val="80000"/>
              </a:lnSpc>
            </a:pPr>
            <a:r>
              <a:rPr lang="en-US" altLang="zh-CN" sz="1700"/>
              <a:t>          //</a:t>
            </a:r>
            <a:r>
              <a:rPr lang="zh-CN" altLang="en-US" sz="1700"/>
              <a:t>构造函数，缺省值</a:t>
            </a:r>
            <a:r>
              <a:rPr lang="en-US" altLang="zh-CN" sz="1700"/>
              <a:t>0</a:t>
            </a:r>
            <a:r>
              <a:rPr lang="zh-CN" altLang="en-US" sz="1700"/>
              <a:t>表示由系统自动产生种子</a:t>
            </a:r>
            <a:endParaRPr lang="zh-CN" altLang="en-US" sz="1700"/>
          </a:p>
          <a:p>
            <a:pPr>
              <a:lnSpc>
                <a:spcPct val="80000"/>
              </a:lnSpc>
            </a:pPr>
            <a:r>
              <a:rPr lang="zh-CN" altLang="en-US" sz="1700"/>
              <a:t>          </a:t>
            </a:r>
            <a:r>
              <a:rPr lang="en-US" altLang="zh-CN" sz="1700"/>
              <a:t>RandomNumber(unsigned long s=0);</a:t>
            </a:r>
            <a:endParaRPr lang="en-US" altLang="zh-CN" sz="1700"/>
          </a:p>
          <a:p>
            <a:pPr>
              <a:lnSpc>
                <a:spcPct val="80000"/>
              </a:lnSpc>
            </a:pPr>
            <a:r>
              <a:rPr lang="en-US" altLang="zh-CN" sz="1700"/>
              <a:t>          //</a:t>
            </a:r>
            <a:r>
              <a:rPr lang="zh-CN" altLang="en-US" sz="1700"/>
              <a:t>产生</a:t>
            </a:r>
            <a:r>
              <a:rPr lang="en-US" altLang="zh-CN" sz="1700"/>
              <a:t>0-n-1</a:t>
            </a:r>
            <a:r>
              <a:rPr lang="zh-CN" altLang="en-US" sz="1700"/>
              <a:t>之间的随机整数</a:t>
            </a:r>
            <a:endParaRPr lang="zh-CN" altLang="en-US" sz="1700"/>
          </a:p>
          <a:p>
            <a:pPr>
              <a:lnSpc>
                <a:spcPct val="80000"/>
              </a:lnSpc>
            </a:pPr>
            <a:r>
              <a:rPr lang="zh-CN" altLang="en-US" sz="1700"/>
              <a:t>          </a:t>
            </a:r>
            <a:r>
              <a:rPr lang="en-US" altLang="zh-CN" sz="1700"/>
              <a:t>unsigned short Random(unsigned long n);</a:t>
            </a:r>
            <a:endParaRPr lang="en-US" altLang="zh-CN" sz="1700"/>
          </a:p>
          <a:p>
            <a:pPr>
              <a:lnSpc>
                <a:spcPct val="80000"/>
              </a:lnSpc>
            </a:pPr>
            <a:r>
              <a:rPr lang="en-US" altLang="zh-CN" sz="1700"/>
              <a:t>          //</a:t>
            </a:r>
            <a:r>
              <a:rPr lang="zh-CN" altLang="en-US" sz="1700"/>
              <a:t>产生</a:t>
            </a:r>
            <a:r>
              <a:rPr lang="en-US" altLang="zh-CN" sz="1700"/>
              <a:t>[0</a:t>
            </a:r>
            <a:r>
              <a:rPr lang="zh-CN" altLang="en-US" sz="1700"/>
              <a:t>，</a:t>
            </a:r>
            <a:r>
              <a:rPr lang="en-US" altLang="zh-CN" sz="1700"/>
              <a:t>1)</a:t>
            </a:r>
            <a:r>
              <a:rPr lang="zh-CN" altLang="en-US" sz="1700"/>
              <a:t>之间的随机实数</a:t>
            </a:r>
            <a:endParaRPr lang="zh-CN" altLang="en-US" sz="1700"/>
          </a:p>
          <a:p>
            <a:pPr>
              <a:lnSpc>
                <a:spcPct val="80000"/>
              </a:lnSpc>
            </a:pPr>
            <a:r>
              <a:rPr lang="zh-CN" altLang="en-US" sz="1700"/>
              <a:t>          </a:t>
            </a:r>
            <a:r>
              <a:rPr lang="en-US" altLang="zh-CN" sz="1700"/>
              <a:t>double fRandom(void);</a:t>
            </a:r>
            <a:endParaRPr lang="en-US" altLang="zh-CN" sz="1700"/>
          </a:p>
          <a:p>
            <a:pPr>
              <a:lnSpc>
                <a:spcPct val="80000"/>
              </a:lnSpc>
            </a:pPr>
            <a:r>
              <a:rPr lang="en-US" altLang="zh-CN" sz="1700"/>
              <a:t>};</a:t>
            </a:r>
            <a:endParaRPr lang="en-US" altLang="zh-CN" sz="1700"/>
          </a:p>
        </p:txBody>
      </p:sp>
      <p:sp>
        <p:nvSpPr>
          <p:cNvPr id="340998" name="Rectangle 6"/>
          <p:cNvSpPr>
            <a:spLocks noGrp="1" noChangeArrowheads="1"/>
          </p:cNvSpPr>
          <p:nvPr>
            <p:ph type="body" sz="half" idx="2"/>
          </p:nvPr>
        </p:nvSpPr>
        <p:spPr>
          <a:xfrm>
            <a:off x="4648200" y="692150"/>
            <a:ext cx="4038600" cy="6165850"/>
          </a:xfrm>
          <a:solidFill>
            <a:schemeClr val="bg1"/>
          </a:solidFill>
        </p:spPr>
        <p:txBody>
          <a:bodyPr/>
          <a:lstStyle/>
          <a:p>
            <a:pPr>
              <a:lnSpc>
                <a:spcPct val="80000"/>
              </a:lnSpc>
            </a:pPr>
            <a:r>
              <a:rPr lang="en-US" altLang="zh-CN" sz="1700"/>
              <a:t>RandomNumber::RandomNumber(unsigned long s)</a:t>
            </a:r>
            <a:endParaRPr lang="en-US" altLang="zh-CN" sz="1700"/>
          </a:p>
          <a:p>
            <a:pPr>
              <a:lnSpc>
                <a:spcPct val="80000"/>
              </a:lnSpc>
            </a:pPr>
            <a:r>
              <a:rPr lang="en-US" altLang="zh-CN" sz="1700"/>
              <a:t>{      if(s==0)</a:t>
            </a:r>
            <a:endParaRPr lang="en-US" altLang="zh-CN" sz="1700"/>
          </a:p>
          <a:p>
            <a:pPr>
              <a:lnSpc>
                <a:spcPct val="80000"/>
              </a:lnSpc>
            </a:pPr>
            <a:r>
              <a:rPr lang="en-US" altLang="zh-CN" sz="1700"/>
              <a:t>          randseed=time(0);</a:t>
            </a:r>
            <a:endParaRPr lang="en-US" altLang="zh-CN" sz="1700"/>
          </a:p>
          <a:p>
            <a:pPr>
              <a:lnSpc>
                <a:spcPct val="80000"/>
              </a:lnSpc>
            </a:pPr>
            <a:r>
              <a:rPr lang="en-US" altLang="zh-CN" sz="1700"/>
              <a:t>     else</a:t>
            </a:r>
            <a:endParaRPr lang="en-US" altLang="zh-CN" sz="1700"/>
          </a:p>
          <a:p>
            <a:pPr>
              <a:lnSpc>
                <a:spcPct val="80000"/>
              </a:lnSpc>
            </a:pPr>
            <a:r>
              <a:rPr lang="en-US" altLang="zh-CN" sz="1700"/>
              <a:t>          randseed=s;</a:t>
            </a:r>
            <a:endParaRPr lang="en-US" altLang="zh-CN" sz="1700"/>
          </a:p>
          <a:p>
            <a:pPr>
              <a:lnSpc>
                <a:spcPct val="80000"/>
              </a:lnSpc>
            </a:pPr>
            <a:r>
              <a:rPr lang="en-US" altLang="zh-CN" sz="1700"/>
              <a:t>} </a:t>
            </a:r>
            <a:endParaRPr lang="en-US" altLang="zh-CN" sz="1700"/>
          </a:p>
          <a:p>
            <a:pPr>
              <a:lnSpc>
                <a:spcPct val="80000"/>
              </a:lnSpc>
            </a:pPr>
            <a:r>
              <a:rPr lang="en-US" altLang="zh-CN" sz="1700"/>
              <a:t>unsigned short RandomNumber::Random(unsigned long n)</a:t>
            </a:r>
            <a:endParaRPr lang="en-US" altLang="zh-CN" sz="1700"/>
          </a:p>
          <a:p>
            <a:pPr>
              <a:lnSpc>
                <a:spcPct val="80000"/>
              </a:lnSpc>
            </a:pPr>
            <a:r>
              <a:rPr lang="en-US" altLang="zh-CN" sz="1700"/>
              <a:t>{      randseed=multiplier*randseed+adder;</a:t>
            </a:r>
            <a:endParaRPr lang="en-US" altLang="zh-CN" sz="1700"/>
          </a:p>
          <a:p>
            <a:pPr>
              <a:lnSpc>
                <a:spcPct val="80000"/>
              </a:lnSpc>
            </a:pPr>
            <a:r>
              <a:rPr lang="en-US" altLang="zh-CN" sz="1700"/>
              <a:t>     return (unsigned short)((randseed&gt;&gt;16)%n);</a:t>
            </a:r>
            <a:endParaRPr lang="en-US" altLang="zh-CN" sz="1700"/>
          </a:p>
          <a:p>
            <a:pPr>
              <a:lnSpc>
                <a:spcPct val="80000"/>
              </a:lnSpc>
            </a:pPr>
            <a:r>
              <a:rPr lang="en-US" altLang="zh-CN" sz="1700"/>
              <a:t>} </a:t>
            </a:r>
            <a:endParaRPr lang="en-US" altLang="zh-CN" sz="1700"/>
          </a:p>
          <a:p>
            <a:pPr>
              <a:lnSpc>
                <a:spcPct val="80000"/>
              </a:lnSpc>
            </a:pPr>
            <a:r>
              <a:rPr lang="en-US" altLang="zh-CN" sz="1700"/>
              <a:t>double RandomNumber::fRandom(void)</a:t>
            </a:r>
            <a:endParaRPr lang="en-US" altLang="zh-CN" sz="1700"/>
          </a:p>
          <a:p>
            <a:pPr>
              <a:lnSpc>
                <a:spcPct val="80000"/>
              </a:lnSpc>
            </a:pPr>
            <a:r>
              <a:rPr lang="en-US" altLang="zh-CN" sz="1700"/>
              <a:t>{      return Random(maxshort)/double(maxshort);</a:t>
            </a:r>
            <a:endParaRPr lang="en-US" altLang="zh-CN" sz="1700"/>
          </a:p>
          <a:p>
            <a:pPr>
              <a:lnSpc>
                <a:spcPct val="80000"/>
              </a:lnSpc>
            </a:pPr>
            <a:r>
              <a:rPr lang="en-US" altLang="zh-CN" sz="1700"/>
              <a:t>} </a:t>
            </a:r>
            <a:endParaRPr lang="en-US" altLang="zh-CN" sz="1700"/>
          </a:p>
          <a:p>
            <a:pPr>
              <a:lnSpc>
                <a:spcPct val="80000"/>
              </a:lnSpc>
            </a:pPr>
            <a:endParaRPr lang="zh-CN" altLang="en-US" sz="1700"/>
          </a:p>
          <a:p>
            <a:pPr>
              <a:lnSpc>
                <a:spcPct val="80000"/>
              </a:lnSpc>
            </a:pPr>
            <a:endParaRPr lang="zh-CN" altLang="en-US" sz="17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AE3FBEAF-C7BB-46A0-8659-A50CFAC3BF09}" type="slidenum">
              <a:rPr lang="en-US" altLang="zh-CN"/>
            </a:fld>
            <a:endParaRPr lang="en-US" altLang="zh-CN"/>
          </a:p>
        </p:txBody>
      </p:sp>
      <p:sp>
        <p:nvSpPr>
          <p:cNvPr id="330754" name="Rectangle 2"/>
          <p:cNvSpPr>
            <a:spLocks noGrp="1" noChangeArrowheads="1"/>
          </p:cNvSpPr>
          <p:nvPr>
            <p:ph type="title"/>
          </p:nvPr>
        </p:nvSpPr>
        <p:spPr/>
        <p:txBody>
          <a:bodyPr/>
          <a:lstStyle/>
          <a:p>
            <a:r>
              <a:rPr lang="zh-CN" altLang="en-US"/>
              <a:t>模拟抛硬币实验</a:t>
            </a:r>
            <a:endParaRPr lang="zh-CN" altLang="en-US"/>
          </a:p>
        </p:txBody>
      </p:sp>
      <p:sp>
        <p:nvSpPr>
          <p:cNvPr id="330755" name="Rectangle 3"/>
          <p:cNvSpPr>
            <a:spLocks noGrp="1" noChangeArrowheads="1"/>
          </p:cNvSpPr>
          <p:nvPr>
            <p:ph type="body" idx="1"/>
          </p:nvPr>
        </p:nvSpPr>
        <p:spPr/>
        <p:txBody>
          <a:bodyPr/>
          <a:lstStyle/>
          <a:p>
            <a:r>
              <a:rPr lang="zh-CN" altLang="en-US">
                <a:latin typeface="新宋体" panose="02010609030101010101" charset="-122"/>
                <a:ea typeface="新宋体" panose="02010609030101010101" charset="-122"/>
              </a:rPr>
              <a:t>假设抛</a:t>
            </a:r>
            <a:r>
              <a:rPr lang="en-US" altLang="zh-CN">
                <a:latin typeface="新宋体" panose="02010609030101010101" charset="-122"/>
                <a:ea typeface="新宋体" panose="02010609030101010101" charset="-122"/>
              </a:rPr>
              <a:t>10</a:t>
            </a:r>
            <a:r>
              <a:rPr lang="zh-CN" altLang="en-US">
                <a:latin typeface="新宋体" panose="02010609030101010101" charset="-122"/>
                <a:ea typeface="新宋体" panose="02010609030101010101" charset="-122"/>
              </a:rPr>
              <a:t>次硬币，每次得到正反面都是随机</a:t>
            </a:r>
            <a:endParaRPr lang="zh-CN" altLang="en-US">
              <a:latin typeface="新宋体" panose="02010609030101010101" charset="-122"/>
              <a:ea typeface="新宋体" panose="02010609030101010101" charset="-122"/>
            </a:endParaRPr>
          </a:p>
          <a:p>
            <a:r>
              <a:rPr lang="zh-CN" altLang="en-US">
                <a:latin typeface="新宋体" panose="02010609030101010101" charset="-122"/>
                <a:ea typeface="新宋体" panose="02010609030101010101" charset="-122"/>
              </a:rPr>
              <a:t>记录</a:t>
            </a:r>
            <a:r>
              <a:rPr lang="en-US" altLang="zh-CN">
                <a:latin typeface="新宋体" panose="02010609030101010101" charset="-122"/>
                <a:ea typeface="新宋体" panose="02010609030101010101" charset="-122"/>
              </a:rPr>
              <a:t>50000</a:t>
            </a:r>
            <a:r>
              <a:rPr lang="zh-CN" altLang="en-US">
                <a:latin typeface="新宋体" panose="02010609030101010101" charset="-122"/>
                <a:ea typeface="新宋体" panose="02010609030101010101" charset="-122"/>
              </a:rPr>
              <a:t>次模拟</a:t>
            </a:r>
            <a:endParaRPr lang="zh-CN" altLang="en-US">
              <a:latin typeface="新宋体" panose="02010609030101010101" charset="-122"/>
              <a:ea typeface="新宋体" panose="02010609030101010101" charset="-122"/>
            </a:endParaRPr>
          </a:p>
          <a:p>
            <a:r>
              <a:rPr lang="en-US" altLang="zh-CN">
                <a:latin typeface="新宋体" panose="02010609030101010101" charset="-122"/>
                <a:ea typeface="新宋体" panose="02010609030101010101" charset="-122"/>
              </a:rPr>
              <a:t>head[i]</a:t>
            </a:r>
            <a:r>
              <a:rPr lang="zh-CN" altLang="en-US">
                <a:latin typeface="新宋体" panose="02010609030101010101" charset="-122"/>
                <a:ea typeface="新宋体" panose="02010609030101010101" charset="-122"/>
              </a:rPr>
              <a:t>记录得到</a:t>
            </a:r>
            <a:r>
              <a:rPr lang="en-US" altLang="zh-CN">
                <a:latin typeface="新宋体" panose="02010609030101010101" charset="-122"/>
                <a:ea typeface="新宋体" panose="02010609030101010101" charset="-122"/>
              </a:rPr>
              <a:t>i</a:t>
            </a:r>
            <a:r>
              <a:rPr lang="zh-CN" altLang="en-US">
                <a:latin typeface="新宋体" panose="02010609030101010101" charset="-122"/>
                <a:ea typeface="新宋体" panose="02010609030101010101" charset="-122"/>
              </a:rPr>
              <a:t>次正面的次数</a:t>
            </a:r>
            <a:endParaRPr lang="zh-CN" altLang="en-US">
              <a:latin typeface="新宋体" panose="02010609030101010101" charset="-122"/>
              <a:ea typeface="新宋体" panose="02010609030101010101" charset="-122"/>
            </a:endParaRPr>
          </a:p>
          <a:p>
            <a:endParaRPr lang="zh-CN" altLang="en-US">
              <a:latin typeface="新宋体" panose="02010609030101010101" charset="-122"/>
              <a:ea typeface="新宋体" panose="02010609030101010101" charset="-122"/>
            </a:endParaRPr>
          </a:p>
          <a:p>
            <a:r>
              <a:rPr lang="zh-CN" altLang="en-US">
                <a:latin typeface="新宋体" panose="02010609030101010101" charset="-122"/>
                <a:ea typeface="新宋体" panose="02010609030101010101" charset="-122"/>
              </a:rPr>
              <a:t>图</a:t>
            </a:r>
            <a:r>
              <a:rPr lang="en-US" altLang="zh-CN">
                <a:latin typeface="新宋体" panose="02010609030101010101" charset="-122"/>
                <a:ea typeface="新宋体" panose="02010609030101010101" charset="-122"/>
              </a:rPr>
              <a:t>7-1</a:t>
            </a:r>
            <a:r>
              <a:rPr lang="zh-CN" altLang="en-US">
                <a:latin typeface="新宋体" panose="02010609030101010101" charset="-122"/>
                <a:ea typeface="新宋体" panose="02010609030101010101" charset="-122"/>
              </a:rPr>
              <a:t>，正态分布图</a:t>
            </a:r>
            <a:endParaRPr lang="zh-CN" altLang="en-US">
              <a:latin typeface="新宋体" panose="02010609030101010101" charset="-122"/>
              <a:ea typeface="新宋体" panose="02010609030101010101" charset="-122"/>
            </a:endParaRPr>
          </a:p>
          <a:p>
            <a:r>
              <a:rPr lang="en-US" altLang="zh-CN">
                <a:latin typeface="新宋体" panose="02010609030101010101" charset="-122"/>
                <a:ea typeface="新宋体" panose="02010609030101010101" charset="-122"/>
              </a:rPr>
              <a:t>P243</a:t>
            </a:r>
            <a:endParaRPr lang="en-US" altLang="zh-CN">
              <a:latin typeface="新宋体" panose="02010609030101010101" charset="-122"/>
              <a:ea typeface="新宋体" panose="02010609030101010101"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p:cNvSpPr>
            <a:spLocks noGrp="1" noChangeArrowheads="1"/>
          </p:cNvSpPr>
          <p:nvPr>
            <p:ph type="sldNum" sz="quarter" idx="4"/>
          </p:nvPr>
        </p:nvSpPr>
        <p:spPr/>
        <p:txBody>
          <a:bodyPr/>
          <a:lstStyle/>
          <a:p>
            <a:fld id="{063F008A-866E-4DD3-BEB2-F799D8EF8CB9}" type="slidenum">
              <a:rPr lang="en-US" altLang="zh-CN"/>
            </a:fld>
            <a:endParaRPr lang="en-US" altLang="zh-CN"/>
          </a:p>
        </p:txBody>
      </p:sp>
      <p:sp>
        <p:nvSpPr>
          <p:cNvPr id="287748" name="Rectangle 4"/>
          <p:cNvSpPr>
            <a:spLocks noGrp="1" noChangeArrowheads="1"/>
          </p:cNvSpPr>
          <p:nvPr>
            <p:ph type="ctrTitle"/>
          </p:nvPr>
        </p:nvSpPr>
        <p:spPr/>
        <p:txBody>
          <a:bodyPr/>
          <a:lstStyle/>
          <a:p>
            <a:r>
              <a:rPr lang="zh-CN" altLang="en-US" sz="4000">
                <a:latin typeface="黑体" panose="02010609060101010101" pitchFamily="49" charset="-122"/>
                <a:ea typeface="黑体" panose="02010609060101010101" pitchFamily="49" charset="-122"/>
              </a:rPr>
              <a:t>数值随机化算法 </a:t>
            </a:r>
            <a:endParaRPr lang="zh-CN" altLang="en-US" sz="400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0DD9A741-34A3-4894-9105-03656937F558}" type="slidenum">
              <a:rPr lang="en-US" altLang="zh-CN"/>
            </a:fld>
            <a:endParaRPr lang="en-US" altLang="zh-CN"/>
          </a:p>
        </p:txBody>
      </p:sp>
      <p:sp>
        <p:nvSpPr>
          <p:cNvPr id="339970" name="Rectangle 2"/>
          <p:cNvSpPr>
            <a:spLocks noGrp="1" noChangeArrowheads="1"/>
          </p:cNvSpPr>
          <p:nvPr>
            <p:ph type="title"/>
          </p:nvPr>
        </p:nvSpPr>
        <p:spPr/>
        <p:txBody>
          <a:bodyPr/>
          <a:lstStyle/>
          <a:p>
            <a:r>
              <a:rPr lang="zh-CN" altLang="en-US"/>
              <a:t>数值概率算法</a:t>
            </a:r>
            <a:endParaRPr lang="zh-CN" altLang="en-US"/>
          </a:p>
        </p:txBody>
      </p:sp>
      <p:sp>
        <p:nvSpPr>
          <p:cNvPr id="339971" name="Rectangle 3"/>
          <p:cNvSpPr>
            <a:spLocks noGrp="1" noChangeArrowheads="1"/>
          </p:cNvSpPr>
          <p:nvPr>
            <p:ph type="body" idx="1"/>
          </p:nvPr>
        </p:nvSpPr>
        <p:spPr/>
        <p:txBody>
          <a:bodyPr/>
          <a:lstStyle/>
          <a:p>
            <a:r>
              <a:rPr lang="zh-CN" altLang="en-US"/>
              <a:t>数值概率算法常用于数值问题的求解。</a:t>
            </a:r>
            <a:endParaRPr lang="zh-CN" altLang="en-US"/>
          </a:p>
          <a:p>
            <a:r>
              <a:rPr lang="zh-CN" altLang="en-US"/>
              <a:t>这类算法所得到的往往是近似解，且近似解的精度随计算时间的增加而不断提高。</a:t>
            </a:r>
            <a:endParaRPr lang="zh-CN" altLang="en-US"/>
          </a:p>
          <a:p>
            <a:r>
              <a:rPr lang="zh-CN" altLang="en-US"/>
              <a:t>在许多情况下，要计算出问题的精确解是不可能的或没有必要，因此用数值概率算法可得到相当满意的解。</a:t>
            </a:r>
            <a:endParaRPr lang="zh-CN" alt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fld id="{AA47BE39-E03F-4B8F-8581-1A593155A793}" type="slidenum">
              <a:rPr lang="en-US" altLang="zh-CN"/>
            </a:fld>
            <a:endParaRPr lang="en-US" altLang="zh-CN"/>
          </a:p>
        </p:txBody>
      </p:sp>
      <p:sp>
        <p:nvSpPr>
          <p:cNvPr id="289796" name="Rectangle 4"/>
          <p:cNvSpPr>
            <a:spLocks noChangeArrowheads="1"/>
          </p:cNvSpPr>
          <p:nvPr/>
        </p:nvSpPr>
        <p:spPr bwMode="auto">
          <a:xfrm>
            <a:off x="684213"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kumimoji="1" lang="zh-CN" altLang="en-US" sz="3200">
                <a:latin typeface="Times New Roman" panose="02020603050405020304" pitchFamily="18" charset="0"/>
                <a:ea typeface="黑体" panose="02010609060101010101" pitchFamily="49" charset="-122"/>
              </a:rPr>
              <a:t>用随机投点法计算</a:t>
            </a:r>
            <a:r>
              <a:rPr kumimoji="1" lang="zh-CN" altLang="en-US" sz="3200">
                <a:latin typeface="Times New Roman" panose="02020603050405020304" pitchFamily="18" charset="0"/>
                <a:sym typeface="Symbol" panose="05050102010706020507" pitchFamily="18" charset="2"/>
              </a:rPr>
              <a:t></a:t>
            </a:r>
            <a:r>
              <a:rPr kumimoji="1" lang="zh-CN" altLang="en-US" sz="3200">
                <a:latin typeface="Times New Roman" panose="02020603050405020304" pitchFamily="18" charset="0"/>
                <a:ea typeface="黑体" panose="02010609060101010101" pitchFamily="49" charset="-122"/>
              </a:rPr>
              <a:t>值</a:t>
            </a:r>
            <a:r>
              <a:rPr kumimoji="1" lang="zh-CN" altLang="en-US" sz="3200">
                <a:latin typeface="Times New Roman" panose="02020603050405020304" pitchFamily="18" charset="0"/>
              </a:rPr>
              <a:t> </a:t>
            </a:r>
            <a:endParaRPr kumimoji="1" lang="zh-CN" altLang="en-US" sz="3200">
              <a:latin typeface="Times New Roman" panose="02020603050405020304" pitchFamily="18" charset="0"/>
            </a:endParaRPr>
          </a:p>
        </p:txBody>
      </p:sp>
      <p:sp>
        <p:nvSpPr>
          <p:cNvPr id="289797" name="Text Box 5"/>
          <p:cNvSpPr txBox="1">
            <a:spLocks noChangeArrowheads="1"/>
          </p:cNvSpPr>
          <p:nvPr/>
        </p:nvSpPr>
        <p:spPr bwMode="auto">
          <a:xfrm>
            <a:off x="231775" y="790575"/>
            <a:ext cx="8732838" cy="1917700"/>
          </a:xfrm>
          <a:prstGeom prst="rect">
            <a:avLst/>
          </a:prstGeom>
          <a:solidFill>
            <a:schemeClr val="bg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设有一半径为</a:t>
            </a:r>
            <a:r>
              <a:rPr lang="en-US" altLang="zh-CN" sz="2400">
                <a:ea typeface="新宋体" panose="02010609030101010101" charset="-122"/>
              </a:rPr>
              <a:t>r</a:t>
            </a:r>
            <a:r>
              <a:rPr lang="zh-CN" altLang="en-US" sz="2400">
                <a:ea typeface="新宋体" panose="02010609030101010101" charset="-122"/>
              </a:rPr>
              <a:t>的圆及其外切四边形。向该正方形随机地投掷</a:t>
            </a:r>
            <a:r>
              <a:rPr lang="en-US" altLang="zh-CN" sz="2400">
                <a:ea typeface="新宋体" panose="02010609030101010101" charset="-122"/>
              </a:rPr>
              <a:t>n</a:t>
            </a:r>
            <a:r>
              <a:rPr lang="zh-CN" altLang="en-US" sz="2400">
                <a:ea typeface="新宋体" panose="02010609030101010101" charset="-122"/>
              </a:rPr>
              <a:t>个点。设落入圆内的点数为</a:t>
            </a:r>
            <a:r>
              <a:rPr lang="en-US" altLang="zh-CN" sz="2400">
                <a:ea typeface="新宋体" panose="02010609030101010101" charset="-122"/>
              </a:rPr>
              <a:t>k</a:t>
            </a:r>
            <a:r>
              <a:rPr lang="zh-CN" altLang="en-US" sz="2400">
                <a:ea typeface="新宋体" panose="02010609030101010101" charset="-122"/>
              </a:rPr>
              <a:t>。由于所投入的点在正方形上均匀分布，因而所投入的点落入圆内的概率为           。所以当</a:t>
            </a:r>
            <a:r>
              <a:rPr lang="en-US" altLang="zh-CN" sz="2400">
                <a:ea typeface="新宋体" panose="02010609030101010101" charset="-122"/>
              </a:rPr>
              <a:t>n</a:t>
            </a:r>
            <a:r>
              <a:rPr lang="zh-CN" altLang="en-US" sz="2400">
                <a:ea typeface="新宋体" panose="02010609030101010101" charset="-122"/>
              </a:rPr>
              <a:t>足够大</a:t>
            </a:r>
            <a:endParaRPr lang="zh-CN" altLang="en-US" sz="2400">
              <a:ea typeface="新宋体" panose="02010609030101010101" charset="-122"/>
            </a:endParaRPr>
          </a:p>
          <a:p>
            <a:endParaRPr lang="zh-CN" altLang="en-US" sz="2400">
              <a:ea typeface="新宋体" panose="02010609030101010101" charset="-122"/>
            </a:endParaRPr>
          </a:p>
          <a:p>
            <a:r>
              <a:rPr lang="zh-CN" altLang="en-US" sz="2400">
                <a:ea typeface="新宋体" panose="02010609030101010101" charset="-122"/>
              </a:rPr>
              <a:t>时，</a:t>
            </a:r>
            <a:r>
              <a:rPr lang="en-US" altLang="zh-CN" sz="2400">
                <a:ea typeface="新宋体" panose="02010609030101010101" charset="-122"/>
              </a:rPr>
              <a:t>k</a:t>
            </a:r>
            <a:r>
              <a:rPr lang="zh-CN" altLang="en-US" sz="2400">
                <a:ea typeface="新宋体" panose="02010609030101010101" charset="-122"/>
              </a:rPr>
              <a:t>与</a:t>
            </a:r>
            <a:r>
              <a:rPr lang="en-US" altLang="zh-CN" sz="2400">
                <a:ea typeface="新宋体" panose="02010609030101010101" charset="-122"/>
              </a:rPr>
              <a:t>n</a:t>
            </a:r>
            <a:r>
              <a:rPr lang="zh-CN" altLang="en-US" sz="2400">
                <a:ea typeface="新宋体" panose="02010609030101010101" charset="-122"/>
              </a:rPr>
              <a:t>之比就逼近这一概率。从而</a:t>
            </a:r>
            <a:endParaRPr lang="zh-CN" altLang="en-US" sz="2400">
              <a:ea typeface="新宋体" panose="02010609030101010101" charset="-122"/>
            </a:endParaRPr>
          </a:p>
        </p:txBody>
      </p:sp>
      <p:pic>
        <p:nvPicPr>
          <p:cNvPr id="289798" name="Picture 6" descr="t7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43438" y="3500438"/>
            <a:ext cx="3311525" cy="214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800" name="Rectangle 8"/>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aphicFrame>
        <p:nvGraphicFramePr>
          <p:cNvPr id="289799" name="Object 7"/>
          <p:cNvGraphicFramePr>
            <a:graphicFrameLocks noChangeAspect="1"/>
          </p:cNvGraphicFramePr>
          <p:nvPr/>
        </p:nvGraphicFramePr>
        <p:xfrm>
          <a:off x="5508625" y="1484313"/>
          <a:ext cx="936625" cy="676275"/>
        </p:xfrm>
        <a:graphic>
          <a:graphicData uri="http://schemas.openxmlformats.org/presentationml/2006/ole">
            <mc:AlternateContent xmlns:mc="http://schemas.openxmlformats.org/markup-compatibility/2006">
              <mc:Choice xmlns:v="urn:schemas-microsoft-com:vml" Requires="v">
                <p:oleObj spid="_x0000_s289806" name="公式" r:id="rId2" imgW="584200" imgH="419100" progId="Equation.3">
                  <p:embed/>
                </p:oleObj>
              </mc:Choice>
              <mc:Fallback>
                <p:oleObj name="公式" r:id="rId2" imgW="584200" imgH="41910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625" y="1484313"/>
                        <a:ext cx="936625" cy="676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9802" name="Rectangle 10"/>
          <p:cNvSpPr>
            <a:spLocks noChangeArrowheads="1"/>
          </p:cNvSpPr>
          <p:nvPr/>
        </p:nvSpPr>
        <p:spPr bwMode="auto">
          <a:xfrm>
            <a:off x="0"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aphicFrame>
        <p:nvGraphicFramePr>
          <p:cNvPr id="289801" name="Object 9"/>
          <p:cNvGraphicFramePr>
            <a:graphicFrameLocks noChangeAspect="1"/>
          </p:cNvGraphicFramePr>
          <p:nvPr/>
        </p:nvGraphicFramePr>
        <p:xfrm>
          <a:off x="5219700" y="2133600"/>
          <a:ext cx="936625" cy="752475"/>
        </p:xfrm>
        <a:graphic>
          <a:graphicData uri="http://schemas.openxmlformats.org/presentationml/2006/ole">
            <mc:AlternateContent xmlns:mc="http://schemas.openxmlformats.org/markup-compatibility/2006">
              <mc:Choice xmlns:v="urn:schemas-microsoft-com:vml" Requires="v">
                <p:oleObj spid="_x0000_s289807" name="公式" r:id="rId4" imgW="482600" imgH="393700" progId="Equation.3">
                  <p:embed/>
                </p:oleObj>
              </mc:Choice>
              <mc:Fallback>
                <p:oleObj name="公式" r:id="rId4" imgW="482600" imgH="39370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9700" y="2133600"/>
                        <a:ext cx="936625" cy="75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9803" name="Text Box 11"/>
          <p:cNvSpPr txBox="1">
            <a:spLocks noChangeArrowheads="1"/>
          </p:cNvSpPr>
          <p:nvPr/>
        </p:nvSpPr>
        <p:spPr bwMode="auto">
          <a:xfrm>
            <a:off x="323850" y="2997200"/>
            <a:ext cx="3232150" cy="311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kumimoji="1" lang="en-US" altLang="zh-CN"/>
              <a:t>double </a:t>
            </a:r>
            <a:r>
              <a:rPr kumimoji="1" lang="en-US" altLang="zh-CN" b="1"/>
              <a:t>Darts</a:t>
            </a:r>
            <a:r>
              <a:rPr kumimoji="1" lang="en-US" altLang="zh-CN"/>
              <a:t>(int n)</a:t>
            </a:r>
            <a:endParaRPr kumimoji="1" lang="en-US" altLang="zh-CN"/>
          </a:p>
          <a:p>
            <a:r>
              <a:rPr kumimoji="1" lang="en-US" altLang="zh-CN"/>
              <a:t>{ // </a:t>
            </a:r>
            <a:r>
              <a:rPr kumimoji="1" lang="zh-CN" altLang="en-US"/>
              <a:t>用随机投点法计算</a:t>
            </a:r>
            <a:r>
              <a:rPr kumimoji="1" lang="zh-CN" altLang="en-US">
                <a:sym typeface="Symbol" panose="05050102010706020507" pitchFamily="18" charset="2"/>
              </a:rPr>
              <a:t></a:t>
            </a:r>
            <a:r>
              <a:rPr kumimoji="1" lang="zh-CN" altLang="en-US"/>
              <a:t>值</a:t>
            </a:r>
            <a:endParaRPr kumimoji="1" lang="zh-CN" altLang="en-US"/>
          </a:p>
          <a:p>
            <a:r>
              <a:rPr kumimoji="1" lang="zh-CN" altLang="en-US"/>
              <a:t>    </a:t>
            </a:r>
            <a:r>
              <a:rPr kumimoji="1" lang="en-US" altLang="zh-CN"/>
              <a:t>static RandomNumber dart;</a:t>
            </a:r>
            <a:endParaRPr kumimoji="1" lang="en-US" altLang="zh-CN"/>
          </a:p>
          <a:p>
            <a:r>
              <a:rPr kumimoji="1" lang="en-US" altLang="zh-CN"/>
              <a:t>    int k=0;</a:t>
            </a:r>
            <a:endParaRPr kumimoji="1" lang="en-US" altLang="zh-CN"/>
          </a:p>
          <a:p>
            <a:r>
              <a:rPr kumimoji="1" lang="en-US" altLang="zh-CN"/>
              <a:t>    for (int i=1;i &lt;=n;i++) {</a:t>
            </a:r>
            <a:endParaRPr kumimoji="1" lang="en-US" altLang="zh-CN"/>
          </a:p>
          <a:p>
            <a:r>
              <a:rPr kumimoji="1" lang="en-US" altLang="zh-CN"/>
              <a:t>      double x=dart.fRandom();</a:t>
            </a:r>
            <a:endParaRPr kumimoji="1" lang="en-US" altLang="zh-CN"/>
          </a:p>
          <a:p>
            <a:r>
              <a:rPr kumimoji="1" lang="en-US" altLang="zh-CN"/>
              <a:t>      double y=dart.fRandom();</a:t>
            </a:r>
            <a:endParaRPr kumimoji="1" lang="en-US" altLang="zh-CN"/>
          </a:p>
          <a:p>
            <a:r>
              <a:rPr kumimoji="1" lang="en-US" altLang="zh-CN"/>
              <a:t>      if ((x*x+y*y)&lt;=1) k++;</a:t>
            </a:r>
            <a:endParaRPr kumimoji="1" lang="en-US" altLang="zh-CN"/>
          </a:p>
          <a:p>
            <a:r>
              <a:rPr kumimoji="1" lang="en-US" altLang="zh-CN"/>
              <a:t>      }</a:t>
            </a:r>
            <a:endParaRPr kumimoji="1" lang="en-US" altLang="zh-CN"/>
          </a:p>
          <a:p>
            <a:r>
              <a:rPr kumimoji="1" lang="en-US" altLang="zh-CN"/>
              <a:t>    return 4*k/double(n);</a:t>
            </a:r>
            <a:endParaRPr kumimoji="1" lang="en-US" altLang="zh-CN"/>
          </a:p>
          <a:p>
            <a:r>
              <a:rPr kumimoji="1" lang="en-US" altLang="zh-CN"/>
              <a:t>}</a:t>
            </a:r>
            <a:endParaRPr kumimoji="1" lang="en-US" altLang="zh-CN"/>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2"/>
          </p:nvPr>
        </p:nvSpPr>
        <p:spPr/>
        <p:txBody>
          <a:bodyPr/>
          <a:lstStyle/>
          <a:p>
            <a:fld id="{95162A80-F72B-4650-9B6E-938F75659A99}" type="slidenum">
              <a:rPr lang="en-US" altLang="zh-CN"/>
            </a:fld>
            <a:endParaRPr lang="en-US" altLang="zh-CN"/>
          </a:p>
        </p:txBody>
      </p:sp>
      <p:sp>
        <p:nvSpPr>
          <p:cNvPr id="291844" name="Rectangle 4"/>
          <p:cNvSpPr>
            <a:spLocks noChangeArrowheads="1"/>
          </p:cNvSpPr>
          <p:nvPr/>
        </p:nvSpPr>
        <p:spPr bwMode="auto">
          <a:xfrm>
            <a:off x="684213"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kumimoji="1" lang="zh-CN" altLang="en-US" sz="3200">
                <a:latin typeface="Times New Roman" panose="02020603050405020304" pitchFamily="18" charset="0"/>
                <a:ea typeface="黑体" panose="02010609060101010101" pitchFamily="49" charset="-122"/>
              </a:rPr>
              <a:t>计算定积分</a:t>
            </a:r>
            <a:endParaRPr kumimoji="1" lang="zh-CN" altLang="en-US" sz="3200">
              <a:latin typeface="Times New Roman" panose="02020603050405020304" pitchFamily="18" charset="0"/>
              <a:ea typeface="黑体" panose="02010609060101010101" pitchFamily="49" charset="-122"/>
            </a:endParaRPr>
          </a:p>
        </p:txBody>
      </p:sp>
      <p:sp>
        <p:nvSpPr>
          <p:cNvPr id="291845" name="Text Box 5"/>
          <p:cNvSpPr txBox="1">
            <a:spLocks noChangeArrowheads="1"/>
          </p:cNvSpPr>
          <p:nvPr/>
        </p:nvSpPr>
        <p:spPr bwMode="auto">
          <a:xfrm>
            <a:off x="158750" y="850900"/>
            <a:ext cx="75057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zh-CN" altLang="en-US" sz="2400">
                <a:ea typeface="新宋体" panose="02010609030101010101" charset="-122"/>
              </a:rPr>
              <a:t>设</a:t>
            </a:r>
            <a:r>
              <a:rPr lang="en-US" altLang="zh-CN" sz="2400">
                <a:ea typeface="新宋体" panose="02010609030101010101" charset="-122"/>
              </a:rPr>
              <a:t>f(x)</a:t>
            </a:r>
            <a:r>
              <a:rPr lang="zh-CN" altLang="en-US" sz="2400">
                <a:ea typeface="新宋体" panose="02010609030101010101" charset="-122"/>
              </a:rPr>
              <a:t>是</a:t>
            </a:r>
            <a:r>
              <a:rPr lang="en-US" altLang="zh-CN" sz="2400">
                <a:ea typeface="新宋体" panose="02010609030101010101" charset="-122"/>
              </a:rPr>
              <a:t>[0</a:t>
            </a:r>
            <a:r>
              <a:rPr lang="zh-CN" altLang="en-US" sz="2400">
                <a:ea typeface="新宋体" panose="02010609030101010101" charset="-122"/>
              </a:rPr>
              <a:t>，</a:t>
            </a:r>
            <a:r>
              <a:rPr lang="en-US" altLang="zh-CN" sz="2400">
                <a:ea typeface="新宋体" panose="02010609030101010101" charset="-122"/>
              </a:rPr>
              <a:t>1]</a:t>
            </a:r>
            <a:r>
              <a:rPr lang="zh-CN" altLang="en-US" sz="2400">
                <a:ea typeface="新宋体" panose="02010609030101010101" charset="-122"/>
              </a:rPr>
              <a:t>上的连续函数，且</a:t>
            </a:r>
            <a:r>
              <a:rPr lang="en-US" altLang="zh-CN" sz="2400">
                <a:ea typeface="新宋体" panose="02010609030101010101" charset="-122"/>
              </a:rPr>
              <a:t>0</a:t>
            </a:r>
            <a:r>
              <a:rPr lang="en-US" altLang="zh-CN" sz="2400">
                <a:ea typeface="新宋体" panose="02010609030101010101" charset="-122"/>
                <a:sym typeface="Symbol" panose="05050102010706020507" pitchFamily="18" charset="2"/>
              </a:rPr>
              <a:t>f(x)</a:t>
            </a:r>
            <a:r>
              <a:rPr lang="en-US" altLang="zh-CN" sz="2400">
                <a:ea typeface="新宋体" panose="02010609030101010101" charset="-122"/>
              </a:rPr>
              <a:t>1</a:t>
            </a:r>
            <a:r>
              <a:rPr lang="zh-CN" altLang="en-US" sz="2400">
                <a:ea typeface="新宋体" panose="02010609030101010101" charset="-122"/>
              </a:rPr>
              <a:t>。</a:t>
            </a:r>
            <a:endParaRPr lang="zh-CN" altLang="en-US" sz="2400">
              <a:ea typeface="新宋体" panose="02010609030101010101" charset="-122"/>
            </a:endParaRPr>
          </a:p>
          <a:p>
            <a:endParaRPr lang="zh-CN" altLang="en-US" sz="2400">
              <a:ea typeface="新宋体" panose="02010609030101010101" charset="-122"/>
            </a:endParaRPr>
          </a:p>
          <a:p>
            <a:r>
              <a:rPr lang="zh-CN" altLang="en-US" sz="2400">
                <a:ea typeface="新宋体" panose="02010609030101010101" charset="-122"/>
              </a:rPr>
              <a:t>需要计算的积分为                 </a:t>
            </a:r>
            <a:r>
              <a:rPr lang="en-US" altLang="zh-CN" sz="2400">
                <a:ea typeface="新宋体" panose="02010609030101010101" charset="-122"/>
              </a:rPr>
              <a:t>,</a:t>
            </a:r>
            <a:r>
              <a:rPr lang="zh-CN" altLang="en-US" sz="2400">
                <a:ea typeface="新宋体" panose="02010609030101010101" charset="-122"/>
              </a:rPr>
              <a:t>积分</a:t>
            </a:r>
            <a:r>
              <a:rPr lang="en-US" altLang="zh-CN" sz="2400">
                <a:ea typeface="新宋体" panose="02010609030101010101" charset="-122"/>
              </a:rPr>
              <a:t>I</a:t>
            </a:r>
            <a:r>
              <a:rPr lang="zh-CN" altLang="en-US" sz="2400">
                <a:ea typeface="新宋体" panose="02010609030101010101" charset="-122"/>
              </a:rPr>
              <a:t>等于图中的面积</a:t>
            </a:r>
            <a:r>
              <a:rPr lang="en-US" altLang="zh-CN" sz="2400">
                <a:ea typeface="新宋体" panose="02010609030101010101" charset="-122"/>
              </a:rPr>
              <a:t>G</a:t>
            </a:r>
            <a:r>
              <a:rPr lang="zh-CN" altLang="en-US" sz="2400">
                <a:ea typeface="新宋体" panose="02010609030101010101" charset="-122"/>
              </a:rPr>
              <a:t>。</a:t>
            </a:r>
            <a:endParaRPr lang="zh-CN" altLang="en-US" sz="2400">
              <a:ea typeface="新宋体" panose="02010609030101010101" charset="-122"/>
            </a:endParaRPr>
          </a:p>
        </p:txBody>
      </p:sp>
      <p:sp>
        <p:nvSpPr>
          <p:cNvPr id="291847" name="Rectangle 7"/>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aphicFrame>
        <p:nvGraphicFramePr>
          <p:cNvPr id="291846" name="Object 6"/>
          <p:cNvGraphicFramePr>
            <a:graphicFrameLocks noChangeAspect="1"/>
          </p:cNvGraphicFramePr>
          <p:nvPr/>
        </p:nvGraphicFramePr>
        <p:xfrm>
          <a:off x="2627313" y="1412875"/>
          <a:ext cx="1439862" cy="879475"/>
        </p:xfrm>
        <a:graphic>
          <a:graphicData uri="http://schemas.openxmlformats.org/presentationml/2006/ole">
            <mc:AlternateContent xmlns:mc="http://schemas.openxmlformats.org/markup-compatibility/2006">
              <mc:Choice xmlns:v="urn:schemas-microsoft-com:vml" Requires="v">
                <p:oleObj spid="_x0000_s291857" name="公式" r:id="rId1" imgW="799465" imgH="482600" progId="Equation.3">
                  <p:embed/>
                </p:oleObj>
              </mc:Choice>
              <mc:Fallback>
                <p:oleObj name="公式" r:id="rId1" imgW="799465" imgH="4826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313" y="1412875"/>
                        <a:ext cx="1439862" cy="879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91848" name="Picture 8" descr="t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275" y="1989138"/>
            <a:ext cx="1751013"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849" name="Text Box 9"/>
          <p:cNvSpPr txBox="1">
            <a:spLocks noChangeArrowheads="1"/>
          </p:cNvSpPr>
          <p:nvPr/>
        </p:nvSpPr>
        <p:spPr bwMode="auto">
          <a:xfrm>
            <a:off x="231775" y="3663950"/>
            <a:ext cx="8732838"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在图所示单位正方形内均匀地作投点试验，则随机点落在曲线下面的概率为</a:t>
            </a:r>
            <a:endParaRPr lang="zh-CN" altLang="en-US" sz="2400">
              <a:ea typeface="新宋体" panose="02010609030101010101" charset="-122"/>
            </a:endParaRPr>
          </a:p>
          <a:p>
            <a:endParaRPr lang="zh-CN" altLang="en-US" sz="2400">
              <a:ea typeface="新宋体" panose="02010609030101010101" charset="-122"/>
            </a:endParaRPr>
          </a:p>
          <a:p>
            <a:endParaRPr lang="zh-CN" altLang="en-US" sz="2400">
              <a:ea typeface="新宋体" panose="02010609030101010101" charset="-122"/>
            </a:endParaRPr>
          </a:p>
          <a:p>
            <a:r>
              <a:rPr lang="zh-CN" altLang="en-US" sz="2400">
                <a:ea typeface="新宋体" panose="02010609030101010101" charset="-122"/>
              </a:rPr>
              <a:t>假设向单位正方形内随机地投入</a:t>
            </a:r>
            <a:r>
              <a:rPr lang="en-US" altLang="zh-CN" sz="2400">
                <a:ea typeface="新宋体" panose="02010609030101010101" charset="-122"/>
              </a:rPr>
              <a:t>n</a:t>
            </a:r>
            <a:r>
              <a:rPr lang="zh-CN" altLang="en-US" sz="2400">
                <a:ea typeface="新宋体" panose="02010609030101010101" charset="-122"/>
              </a:rPr>
              <a:t>个点</a:t>
            </a:r>
            <a:r>
              <a:rPr lang="en-US" altLang="zh-CN" sz="2400">
                <a:ea typeface="新宋体" panose="02010609030101010101" charset="-122"/>
              </a:rPr>
              <a:t>(xi,yi)</a:t>
            </a:r>
            <a:r>
              <a:rPr lang="zh-CN" altLang="en-US" sz="2400">
                <a:ea typeface="新宋体" panose="02010609030101010101" charset="-122"/>
              </a:rPr>
              <a:t>。如果有</a:t>
            </a:r>
            <a:r>
              <a:rPr lang="en-US" altLang="zh-CN" sz="2400">
                <a:ea typeface="新宋体" panose="02010609030101010101" charset="-122"/>
              </a:rPr>
              <a:t>m</a:t>
            </a:r>
            <a:r>
              <a:rPr lang="zh-CN" altLang="en-US" sz="2400">
                <a:ea typeface="新宋体" panose="02010609030101010101" charset="-122"/>
              </a:rPr>
              <a:t>个点落入</a:t>
            </a:r>
            <a:endParaRPr lang="zh-CN" altLang="en-US" sz="2400">
              <a:ea typeface="新宋体" panose="02010609030101010101" charset="-122"/>
            </a:endParaRPr>
          </a:p>
          <a:p>
            <a:endParaRPr lang="en-US" altLang="zh-CN" sz="2400">
              <a:ea typeface="新宋体" panose="02010609030101010101" charset="-122"/>
            </a:endParaRPr>
          </a:p>
          <a:p>
            <a:r>
              <a:rPr lang="en-US" altLang="zh-CN" sz="2400">
                <a:ea typeface="新宋体" panose="02010609030101010101" charset="-122"/>
              </a:rPr>
              <a:t>G</a:t>
            </a:r>
            <a:r>
              <a:rPr lang="zh-CN" altLang="en-US" sz="2400">
                <a:ea typeface="新宋体" panose="02010609030101010101" charset="-122"/>
              </a:rPr>
              <a:t>内，则随机点落入</a:t>
            </a:r>
            <a:r>
              <a:rPr lang="en-US" altLang="zh-CN" sz="2400">
                <a:ea typeface="新宋体" panose="02010609030101010101" charset="-122"/>
              </a:rPr>
              <a:t>G</a:t>
            </a:r>
            <a:r>
              <a:rPr lang="zh-CN" altLang="en-US" sz="2400">
                <a:ea typeface="新宋体" panose="02010609030101010101" charset="-122"/>
              </a:rPr>
              <a:t>内的概率</a:t>
            </a:r>
            <a:endParaRPr lang="zh-CN" altLang="en-US" sz="2400">
              <a:ea typeface="新宋体" panose="02010609030101010101" charset="-122"/>
            </a:endParaRPr>
          </a:p>
        </p:txBody>
      </p:sp>
      <p:sp>
        <p:nvSpPr>
          <p:cNvPr id="291851" name="Rectangle 11"/>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aphicFrame>
        <p:nvGraphicFramePr>
          <p:cNvPr id="291850" name="Object 10"/>
          <p:cNvGraphicFramePr>
            <a:graphicFrameLocks noChangeAspect="1"/>
          </p:cNvGraphicFramePr>
          <p:nvPr/>
        </p:nvGraphicFramePr>
        <p:xfrm>
          <a:off x="2124075" y="4292600"/>
          <a:ext cx="3527425" cy="739775"/>
        </p:xfrm>
        <a:graphic>
          <a:graphicData uri="http://schemas.openxmlformats.org/presentationml/2006/ole">
            <mc:AlternateContent xmlns:mc="http://schemas.openxmlformats.org/markup-compatibility/2006">
              <mc:Choice xmlns:v="urn:schemas-microsoft-com:vml" Requires="v">
                <p:oleObj spid="_x0000_s291858" name="公式" r:id="rId4" imgW="2311400" imgH="482600" progId="Equation.3">
                  <p:embed/>
                </p:oleObj>
              </mc:Choice>
              <mc:Fallback>
                <p:oleObj name="公式" r:id="rId4" imgW="2311400" imgH="482600"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4075" y="4292600"/>
                        <a:ext cx="3527425" cy="739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1853" name="Rectangle 13"/>
          <p:cNvSpPr>
            <a:spLocks noChangeArrowheads="1"/>
          </p:cNvSpPr>
          <p:nvPr/>
        </p:nvSpPr>
        <p:spPr bwMode="auto">
          <a:xfrm>
            <a:off x="0"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aphicFrame>
        <p:nvGraphicFramePr>
          <p:cNvPr id="291852" name="Object 12"/>
          <p:cNvGraphicFramePr>
            <a:graphicFrameLocks noChangeAspect="1"/>
          </p:cNvGraphicFramePr>
          <p:nvPr/>
        </p:nvGraphicFramePr>
        <p:xfrm>
          <a:off x="4427538" y="5589588"/>
          <a:ext cx="1008062" cy="1008062"/>
        </p:xfrm>
        <a:graphic>
          <a:graphicData uri="http://schemas.openxmlformats.org/presentationml/2006/ole">
            <mc:AlternateContent xmlns:mc="http://schemas.openxmlformats.org/markup-compatibility/2006">
              <mc:Choice xmlns:v="urn:schemas-microsoft-com:vml" Requires="v">
                <p:oleObj spid="_x0000_s291859" name="公式" r:id="rId6" imgW="393700" imgH="393700" progId="Equation.3">
                  <p:embed/>
                </p:oleObj>
              </mc:Choice>
              <mc:Fallback>
                <p:oleObj name="公式" r:id="rId6" imgW="393700" imgH="393700" progId="Equation.3">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27538" y="5589588"/>
                        <a:ext cx="1008062" cy="1008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02186616-1BC0-4286-A906-181F549A317E}" type="slidenum">
              <a:rPr lang="en-US" altLang="zh-CN"/>
            </a:fld>
            <a:endParaRPr lang="en-US" altLang="zh-CN"/>
          </a:p>
        </p:txBody>
      </p:sp>
      <p:sp>
        <p:nvSpPr>
          <p:cNvPr id="344066" name="Rectangle 2"/>
          <p:cNvSpPr>
            <a:spLocks noGrp="1" noChangeArrowheads="1"/>
          </p:cNvSpPr>
          <p:nvPr>
            <p:ph type="title"/>
          </p:nvPr>
        </p:nvSpPr>
        <p:spPr/>
        <p:txBody>
          <a:bodyPr/>
          <a:lstStyle/>
          <a:p>
            <a:endParaRPr lang="zh-CN" altLang="en-US"/>
          </a:p>
        </p:txBody>
      </p:sp>
      <p:sp>
        <p:nvSpPr>
          <p:cNvPr id="344067" name="Rectangle 3"/>
          <p:cNvSpPr>
            <a:spLocks noGrp="1" noChangeArrowheads="1"/>
          </p:cNvSpPr>
          <p:nvPr>
            <p:ph type="body" idx="1"/>
          </p:nvPr>
        </p:nvSpPr>
        <p:spPr/>
        <p:txBody>
          <a:bodyPr/>
          <a:lstStyle/>
          <a:p>
            <a:pPr>
              <a:lnSpc>
                <a:spcPct val="90000"/>
              </a:lnSpc>
              <a:buFont typeface="Wingdings" panose="05000000000000000000" pitchFamily="2" charset="2"/>
              <a:buNone/>
            </a:pPr>
            <a:r>
              <a:rPr lang="en-US" altLang="zh-CN" sz="2600"/>
              <a:t>public static double darts1(int n)</a:t>
            </a:r>
            <a:endParaRPr lang="en-US" altLang="zh-CN" sz="2600"/>
          </a:p>
          <a:p>
            <a:pPr>
              <a:lnSpc>
                <a:spcPct val="90000"/>
              </a:lnSpc>
              <a:buFont typeface="Wingdings" panose="05000000000000000000" pitchFamily="2" charset="2"/>
              <a:buNone/>
            </a:pPr>
            <a:r>
              <a:rPr lang="en-US" altLang="zh-CN" sz="2600"/>
              <a:t>{</a:t>
            </a:r>
            <a:endParaRPr lang="en-US" altLang="zh-CN" sz="2600"/>
          </a:p>
          <a:p>
            <a:pPr>
              <a:lnSpc>
                <a:spcPct val="90000"/>
              </a:lnSpc>
              <a:buFont typeface="Wingdings" panose="05000000000000000000" pitchFamily="2" charset="2"/>
              <a:buNone/>
            </a:pPr>
            <a:r>
              <a:rPr lang="en-US" altLang="zh-CN" sz="2600"/>
              <a:t>int k=0;</a:t>
            </a:r>
            <a:endParaRPr lang="en-US" altLang="zh-CN" sz="2600"/>
          </a:p>
          <a:p>
            <a:pPr>
              <a:lnSpc>
                <a:spcPct val="90000"/>
              </a:lnSpc>
              <a:buFont typeface="Wingdings" panose="05000000000000000000" pitchFamily="2" charset="2"/>
              <a:buNone/>
            </a:pPr>
            <a:r>
              <a:rPr lang="en-US" altLang="zh-CN" sz="2600"/>
              <a:t>	for(int i=1;i&lt;=n;i++){</a:t>
            </a:r>
            <a:endParaRPr lang="en-US" altLang="zh-CN" sz="2600"/>
          </a:p>
          <a:p>
            <a:pPr>
              <a:lnSpc>
                <a:spcPct val="90000"/>
              </a:lnSpc>
              <a:buFont typeface="Wingdings" panose="05000000000000000000" pitchFamily="2" charset="2"/>
              <a:buNone/>
            </a:pPr>
            <a:r>
              <a:rPr lang="en-US" altLang="zh-CN" sz="2600"/>
              <a:t>		double x=dart.fRandom();</a:t>
            </a:r>
            <a:endParaRPr lang="en-US" altLang="zh-CN" sz="2600"/>
          </a:p>
          <a:p>
            <a:pPr>
              <a:lnSpc>
                <a:spcPct val="90000"/>
              </a:lnSpc>
              <a:buFont typeface="Wingdings" panose="05000000000000000000" pitchFamily="2" charset="2"/>
              <a:buNone/>
            </a:pPr>
            <a:r>
              <a:rPr lang="en-US" altLang="zh-CN" sz="2600"/>
              <a:t>		double y=dart.fRandom();</a:t>
            </a:r>
            <a:endParaRPr lang="en-US" altLang="zh-CN" sz="2600"/>
          </a:p>
          <a:p>
            <a:pPr>
              <a:lnSpc>
                <a:spcPct val="90000"/>
              </a:lnSpc>
              <a:buFont typeface="Wingdings" panose="05000000000000000000" pitchFamily="2" charset="2"/>
              <a:buNone/>
            </a:pPr>
            <a:r>
              <a:rPr lang="en-US" altLang="zh-CN" sz="2600"/>
              <a:t>		if(y&lt;=f(x)) k++;</a:t>
            </a:r>
            <a:endParaRPr lang="en-US" altLang="zh-CN" sz="2600"/>
          </a:p>
          <a:p>
            <a:pPr>
              <a:lnSpc>
                <a:spcPct val="90000"/>
              </a:lnSpc>
              <a:buFont typeface="Wingdings" panose="05000000000000000000" pitchFamily="2" charset="2"/>
              <a:buNone/>
            </a:pPr>
            <a:r>
              <a:rPr lang="en-US" altLang="zh-CN" sz="2600"/>
              <a:t>	}</a:t>
            </a:r>
            <a:endParaRPr lang="en-US" altLang="zh-CN" sz="2600"/>
          </a:p>
          <a:p>
            <a:pPr>
              <a:lnSpc>
                <a:spcPct val="90000"/>
              </a:lnSpc>
              <a:buFont typeface="Wingdings" panose="05000000000000000000" pitchFamily="2" charset="2"/>
              <a:buNone/>
            </a:pPr>
            <a:r>
              <a:rPr lang="en-US" altLang="zh-CN" sz="2600"/>
              <a:t>	return k/(double)n;</a:t>
            </a:r>
            <a:endParaRPr lang="en-US" altLang="zh-CN" sz="2600"/>
          </a:p>
          <a:p>
            <a:pPr>
              <a:lnSpc>
                <a:spcPct val="90000"/>
              </a:lnSpc>
              <a:buFont typeface="Wingdings" panose="05000000000000000000" pitchFamily="2" charset="2"/>
              <a:buNone/>
            </a:pPr>
            <a:r>
              <a:rPr lang="en-US" altLang="zh-CN" sz="2600"/>
              <a:t>}</a:t>
            </a:r>
            <a:endParaRPr lang="en-US" altLang="zh-CN" sz="26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A84D0C34-F945-47F6-824F-F09F64F492CB}" type="slidenum">
              <a:rPr lang="en-US" altLang="zh-CN"/>
            </a:fld>
            <a:endParaRPr lang="en-US" altLang="zh-CN"/>
          </a:p>
        </p:txBody>
      </p:sp>
      <p:sp>
        <p:nvSpPr>
          <p:cNvPr id="345091" name="Rectangle 3"/>
          <p:cNvSpPr>
            <a:spLocks noGrp="1" noChangeArrowheads="1"/>
          </p:cNvSpPr>
          <p:nvPr>
            <p:ph type="body" idx="1"/>
          </p:nvPr>
        </p:nvSpPr>
        <p:spPr/>
        <p:txBody>
          <a:bodyPr/>
          <a:lstStyle/>
          <a:p>
            <a:r>
              <a:rPr lang="zh-CN" altLang="en-US"/>
              <a:t>被积函数</a:t>
            </a:r>
            <a:r>
              <a:rPr lang="en-US" altLang="zh-CN"/>
              <a:t>f(x)</a:t>
            </a:r>
            <a:r>
              <a:rPr lang="zh-CN" altLang="en-US"/>
              <a:t>在区间</a:t>
            </a:r>
            <a:r>
              <a:rPr lang="en-US" altLang="zh-CN"/>
              <a:t>[a,b]</a:t>
            </a:r>
            <a:r>
              <a:rPr lang="zh-CN" altLang="en-US"/>
              <a:t>中有界，并用</a:t>
            </a:r>
            <a:r>
              <a:rPr lang="en-US" altLang="zh-CN"/>
              <a:t>M</a:t>
            </a:r>
            <a:r>
              <a:rPr lang="zh-CN" altLang="en-US"/>
              <a:t>，</a:t>
            </a:r>
            <a:r>
              <a:rPr lang="en-US" altLang="zh-CN"/>
              <a:t>L</a:t>
            </a:r>
            <a:r>
              <a:rPr lang="zh-CN" altLang="en-US"/>
              <a:t>分别表示其最大值和最小值。此时可进行变量代换</a:t>
            </a:r>
            <a:r>
              <a:rPr lang="en-US" altLang="zh-CN"/>
              <a:t>x=a+(b-a)z</a:t>
            </a:r>
            <a:r>
              <a:rPr lang="zh-CN" altLang="en-US"/>
              <a:t>，将所求积分变为               ，其中：</a:t>
            </a:r>
            <a:endParaRPr lang="zh-CN" altLang="en-US"/>
          </a:p>
          <a:p>
            <a:endParaRPr lang="en-US" altLang="zh-CN"/>
          </a:p>
          <a:p>
            <a:endParaRPr lang="en-US" altLang="zh-CN"/>
          </a:p>
          <a:p>
            <a:endParaRPr lang="en-US" altLang="zh-CN"/>
          </a:p>
          <a:p>
            <a:r>
              <a:rPr lang="zh-CN" altLang="en-US"/>
              <a:t>因此，</a:t>
            </a:r>
            <a:r>
              <a:rPr lang="en-US" altLang="zh-CN"/>
              <a:t>I*</a:t>
            </a:r>
            <a:r>
              <a:rPr lang="zh-CN" altLang="en-US"/>
              <a:t>可用随机投点法计算。</a:t>
            </a:r>
            <a:endParaRPr lang="zh-CN" altLang="en-US"/>
          </a:p>
        </p:txBody>
      </p:sp>
      <p:graphicFrame>
        <p:nvGraphicFramePr>
          <p:cNvPr id="345096" name="Object 8"/>
          <p:cNvGraphicFramePr>
            <a:graphicFrameLocks noGrp="1" noChangeAspect="1"/>
          </p:cNvGraphicFramePr>
          <p:nvPr>
            <p:ph type="title"/>
          </p:nvPr>
        </p:nvGraphicFramePr>
        <p:xfrm>
          <a:off x="971550" y="549275"/>
          <a:ext cx="1728788" cy="1042988"/>
        </p:xfrm>
        <a:graphic>
          <a:graphicData uri="http://schemas.openxmlformats.org/presentationml/2006/ole">
            <mc:AlternateContent xmlns:mc="http://schemas.openxmlformats.org/markup-compatibility/2006">
              <mc:Choice xmlns:v="urn:schemas-microsoft-com:vml" Requires="v">
                <p:oleObj spid="_x0000_s345106" name="公式" r:id="rId1" imgW="799465" imgH="482600" progId="Equation.3">
                  <p:embed/>
                </p:oleObj>
              </mc:Choice>
              <mc:Fallback>
                <p:oleObj name="公式" r:id="rId1" imgW="799465" imgH="482600" progId="Equation.3">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549275"/>
                        <a:ext cx="1728788" cy="1042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5099" name="Object 11"/>
          <p:cNvGraphicFramePr>
            <a:graphicFrameLocks noChangeAspect="1"/>
          </p:cNvGraphicFramePr>
          <p:nvPr/>
        </p:nvGraphicFramePr>
        <p:xfrm>
          <a:off x="6227763" y="2708275"/>
          <a:ext cx="1509712" cy="384175"/>
        </p:xfrm>
        <a:graphic>
          <a:graphicData uri="http://schemas.openxmlformats.org/presentationml/2006/ole">
            <mc:AlternateContent xmlns:mc="http://schemas.openxmlformats.org/markup-compatibility/2006">
              <mc:Choice xmlns:v="urn:schemas-microsoft-com:vml" Requires="v">
                <p:oleObj spid="_x0000_s345107" name="公式" r:id="rId3" imgW="698500" imgH="177800" progId="Equation.3">
                  <p:embed/>
                </p:oleObj>
              </mc:Choice>
              <mc:Fallback>
                <p:oleObj name="公式" r:id="rId3" imgW="698500" imgH="1778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7763" y="2708275"/>
                        <a:ext cx="1509712"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5100" name="Object 12"/>
          <p:cNvGraphicFramePr>
            <a:graphicFrameLocks noChangeAspect="1"/>
          </p:cNvGraphicFramePr>
          <p:nvPr/>
        </p:nvGraphicFramePr>
        <p:xfrm>
          <a:off x="1547813" y="3284538"/>
          <a:ext cx="6284912" cy="1042987"/>
        </p:xfrm>
        <a:graphic>
          <a:graphicData uri="http://schemas.openxmlformats.org/presentationml/2006/ole">
            <mc:AlternateContent xmlns:mc="http://schemas.openxmlformats.org/markup-compatibility/2006">
              <mc:Choice xmlns:v="urn:schemas-microsoft-com:vml" Requires="v">
                <p:oleObj spid="_x0000_s345108" name="公式" r:id="rId5" imgW="2908300" imgH="482600" progId="Equation.3">
                  <p:embed/>
                </p:oleObj>
              </mc:Choice>
              <mc:Fallback>
                <p:oleObj name="公式" r:id="rId5" imgW="2908300" imgH="482600"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813" y="3284538"/>
                        <a:ext cx="6284912" cy="104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5101" name="Object 13"/>
          <p:cNvGraphicFramePr>
            <a:graphicFrameLocks noChangeAspect="1"/>
          </p:cNvGraphicFramePr>
          <p:nvPr/>
        </p:nvGraphicFramePr>
        <p:xfrm>
          <a:off x="1042988" y="4292600"/>
          <a:ext cx="7218362" cy="850900"/>
        </p:xfrm>
        <a:graphic>
          <a:graphicData uri="http://schemas.openxmlformats.org/presentationml/2006/ole">
            <mc:AlternateContent xmlns:mc="http://schemas.openxmlformats.org/markup-compatibility/2006">
              <mc:Choice xmlns:v="urn:schemas-microsoft-com:vml" Requires="v">
                <p:oleObj spid="_x0000_s345109" name="公式" r:id="rId7" imgW="3340100" imgH="393700" progId="Equation.3">
                  <p:embed/>
                </p:oleObj>
              </mc:Choice>
              <mc:Fallback>
                <p:oleObj name="公式" r:id="rId7" imgW="3340100" imgH="393700"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2988" y="4292600"/>
                        <a:ext cx="7218362"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06F7C7FE-068D-4830-B76B-47CE234F6028}" type="slidenum">
              <a:rPr lang="en-US" altLang="zh-CN"/>
            </a:fld>
            <a:endParaRPr lang="en-US" altLang="zh-CN"/>
          </a:p>
        </p:txBody>
      </p:sp>
      <p:sp>
        <p:nvSpPr>
          <p:cNvPr id="352258" name="Rectangle 2"/>
          <p:cNvSpPr>
            <a:spLocks noGrp="1" noChangeArrowheads="1"/>
          </p:cNvSpPr>
          <p:nvPr>
            <p:ph type="title"/>
          </p:nvPr>
        </p:nvSpPr>
        <p:spPr/>
        <p:txBody>
          <a:bodyPr/>
          <a:lstStyle/>
          <a:p>
            <a:r>
              <a:rPr lang="zh-CN" altLang="en-US"/>
              <a:t>课堂作业</a:t>
            </a:r>
            <a:r>
              <a:rPr lang="en-US" altLang="zh-CN"/>
              <a:t>--</a:t>
            </a:r>
            <a:r>
              <a:rPr lang="zh-CN" altLang="en-US"/>
              <a:t>课后习题</a:t>
            </a:r>
            <a:r>
              <a:rPr lang="en-US" altLang="zh-CN"/>
              <a:t>1</a:t>
            </a:r>
            <a:endParaRPr lang="en-US" altLang="zh-CN"/>
          </a:p>
        </p:txBody>
      </p:sp>
      <p:sp>
        <p:nvSpPr>
          <p:cNvPr id="352259" name="Rectangle 3"/>
          <p:cNvSpPr>
            <a:spLocks noGrp="1" noChangeArrowheads="1"/>
          </p:cNvSpPr>
          <p:nvPr>
            <p:ph type="body" idx="1"/>
          </p:nvPr>
        </p:nvSpPr>
        <p:spPr/>
        <p:txBody>
          <a:bodyPr/>
          <a:lstStyle/>
          <a:p>
            <a:pPr>
              <a:lnSpc>
                <a:spcPct val="80000"/>
              </a:lnSpc>
              <a:buFont typeface="Wingdings" panose="05000000000000000000" pitchFamily="2" charset="2"/>
              <a:buNone/>
            </a:pPr>
            <a:r>
              <a:rPr lang="en-US" altLang="zh-CN" sz="2600"/>
              <a:t>double RandomNumber::Norm()</a:t>
            </a:r>
            <a:endParaRPr lang="en-US" altLang="zh-CN" sz="2600"/>
          </a:p>
          <a:p>
            <a:pPr>
              <a:lnSpc>
                <a:spcPct val="80000"/>
              </a:lnSpc>
              <a:buFont typeface="Wingdings" panose="05000000000000000000" pitchFamily="2" charset="2"/>
              <a:buNone/>
            </a:pPr>
            <a:r>
              <a:rPr lang="en-US" altLang="zh-CN" sz="2600"/>
              <a:t>{</a:t>
            </a:r>
            <a:endParaRPr lang="en-US" altLang="zh-CN" sz="2600"/>
          </a:p>
          <a:p>
            <a:pPr lvl="1">
              <a:lnSpc>
                <a:spcPct val="80000"/>
              </a:lnSpc>
              <a:buFont typeface="Wingdings" panose="05000000000000000000" pitchFamily="2" charset="2"/>
              <a:buNone/>
            </a:pPr>
            <a:r>
              <a:rPr lang="en-US" altLang="zh-CN" sz="2200"/>
              <a:t>double s,t,p,q;</a:t>
            </a:r>
            <a:endParaRPr lang="en-US" altLang="zh-CN" sz="2200"/>
          </a:p>
          <a:p>
            <a:pPr lvl="1">
              <a:lnSpc>
                <a:spcPct val="80000"/>
              </a:lnSpc>
              <a:buFont typeface="Wingdings" panose="05000000000000000000" pitchFamily="2" charset="2"/>
              <a:buNone/>
            </a:pPr>
            <a:r>
              <a:rPr lang="en-US" altLang="zh-CN" sz="2200"/>
              <a:t>while(true){</a:t>
            </a:r>
            <a:endParaRPr lang="en-US" altLang="zh-CN" sz="2200"/>
          </a:p>
          <a:p>
            <a:pPr lvl="2">
              <a:lnSpc>
                <a:spcPct val="80000"/>
              </a:lnSpc>
              <a:buFont typeface="Wingdings" panose="05000000000000000000" pitchFamily="2" charset="2"/>
              <a:buNone/>
            </a:pPr>
            <a:r>
              <a:rPr lang="en-US" altLang="zh-CN" sz="2100"/>
              <a:t>s=2*fRandom()-1;</a:t>
            </a:r>
            <a:endParaRPr lang="en-US" altLang="zh-CN" sz="2100"/>
          </a:p>
          <a:p>
            <a:pPr lvl="2">
              <a:lnSpc>
                <a:spcPct val="80000"/>
              </a:lnSpc>
              <a:buFont typeface="Wingdings" panose="05000000000000000000" pitchFamily="2" charset="2"/>
              <a:buNone/>
            </a:pPr>
            <a:r>
              <a:rPr lang="en-US" altLang="zh-CN" sz="2100"/>
              <a:t>t=2*fRandom()-1;</a:t>
            </a:r>
            <a:endParaRPr lang="en-US" altLang="zh-CN" sz="2100"/>
          </a:p>
          <a:p>
            <a:pPr lvl="2">
              <a:lnSpc>
                <a:spcPct val="80000"/>
              </a:lnSpc>
              <a:buFont typeface="Wingdings" panose="05000000000000000000" pitchFamily="2" charset="2"/>
              <a:buNone/>
            </a:pPr>
            <a:r>
              <a:rPr lang="en-US" altLang="zh-CN" sz="2100"/>
              <a:t>p=s*s+t*t;</a:t>
            </a:r>
            <a:endParaRPr lang="en-US" altLang="zh-CN" sz="2100"/>
          </a:p>
          <a:p>
            <a:pPr lvl="2">
              <a:lnSpc>
                <a:spcPct val="80000"/>
              </a:lnSpc>
              <a:buFont typeface="Wingdings" panose="05000000000000000000" pitchFamily="2" charset="2"/>
              <a:buNone/>
            </a:pPr>
            <a:r>
              <a:rPr lang="en-US" altLang="zh-CN" sz="2100"/>
              <a:t>if(p&lt;1) break;</a:t>
            </a:r>
            <a:endParaRPr lang="en-US" altLang="zh-CN" sz="2100"/>
          </a:p>
          <a:p>
            <a:pPr lvl="1">
              <a:lnSpc>
                <a:spcPct val="80000"/>
              </a:lnSpc>
              <a:buFont typeface="Wingdings" panose="05000000000000000000" pitchFamily="2" charset="2"/>
              <a:buNone/>
            </a:pPr>
            <a:r>
              <a:rPr lang="en-US" altLang="zh-CN" sz="2200"/>
              <a:t>}</a:t>
            </a:r>
            <a:endParaRPr lang="en-US" altLang="zh-CN" sz="2200"/>
          </a:p>
          <a:p>
            <a:pPr lvl="1">
              <a:lnSpc>
                <a:spcPct val="80000"/>
              </a:lnSpc>
              <a:buFont typeface="Wingdings" panose="05000000000000000000" pitchFamily="2" charset="2"/>
              <a:buNone/>
            </a:pPr>
            <a:r>
              <a:rPr lang="en-US" altLang="zh-CN" sz="2200"/>
              <a:t>q=sqrt((-2*log(p))/p);</a:t>
            </a:r>
            <a:endParaRPr lang="en-US" altLang="zh-CN" sz="2200"/>
          </a:p>
          <a:p>
            <a:pPr lvl="1">
              <a:lnSpc>
                <a:spcPct val="80000"/>
              </a:lnSpc>
              <a:buFont typeface="Wingdings" panose="05000000000000000000" pitchFamily="2" charset="2"/>
              <a:buNone/>
            </a:pPr>
            <a:r>
              <a:rPr lang="en-US" altLang="zh-CN" sz="2200"/>
              <a:t>return s*q;</a:t>
            </a:r>
            <a:endParaRPr lang="en-US" altLang="zh-CN" sz="2200"/>
          </a:p>
          <a:p>
            <a:pPr>
              <a:lnSpc>
                <a:spcPct val="80000"/>
              </a:lnSpc>
              <a:buFont typeface="Wingdings" panose="05000000000000000000" pitchFamily="2" charset="2"/>
              <a:buNone/>
            </a:pPr>
            <a:r>
              <a:rPr lang="en-US" altLang="zh-CN" sz="2600"/>
              <a:t>}</a:t>
            </a:r>
            <a:endParaRPr lang="en-US" altLang="zh-CN" sz="2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2259">
                                            <p:txEl>
                                              <p:pRg st="4294967295" end="4294967295"/>
                                            </p:txEl>
                                          </p:spTgt>
                                        </p:tgtEl>
                                        <p:attrNameLst>
                                          <p:attrName>style.visibility</p:attrName>
                                        </p:attrNameLst>
                                      </p:cBhvr>
                                      <p:to>
                                        <p:strVal val="visible"/>
                                      </p:to>
                                    </p:set>
                                    <p:animEffect transition="in" filter="blinds(horizontal)">
                                      <p:cBhvr>
                                        <p:cTn id="7" dur="500"/>
                                        <p:tgtEl>
                                          <p:spTgt spid="352259">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2259">
                                            <p:txEl>
                                              <p:pRg st="0" end="0"/>
                                            </p:txEl>
                                          </p:spTgt>
                                        </p:tgtEl>
                                        <p:attrNameLst>
                                          <p:attrName>style.visibility</p:attrName>
                                        </p:attrNameLst>
                                      </p:cBhvr>
                                      <p:to>
                                        <p:strVal val="visible"/>
                                      </p:to>
                                    </p:set>
                                    <p:animEffect transition="in" filter="blinds(horizontal)">
                                      <p:cBhvr>
                                        <p:cTn id="12" dur="500"/>
                                        <p:tgtEl>
                                          <p:spTgt spid="35225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52259">
                                            <p:txEl>
                                              <p:pRg st="1" end="1"/>
                                            </p:txEl>
                                          </p:spTgt>
                                        </p:tgtEl>
                                        <p:attrNameLst>
                                          <p:attrName>style.visibility</p:attrName>
                                        </p:attrNameLst>
                                      </p:cBhvr>
                                      <p:to>
                                        <p:strVal val="visible"/>
                                      </p:to>
                                    </p:set>
                                    <p:animEffect transition="in" filter="blinds(horizontal)">
                                      <p:cBhvr>
                                        <p:cTn id="17" dur="500"/>
                                        <p:tgtEl>
                                          <p:spTgt spid="352259">
                                            <p:txEl>
                                              <p:pRg st="1" end="1"/>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52259">
                                            <p:txEl>
                                              <p:pRg st="2" end="2"/>
                                            </p:txEl>
                                          </p:spTgt>
                                        </p:tgtEl>
                                        <p:attrNameLst>
                                          <p:attrName>style.visibility</p:attrName>
                                        </p:attrNameLst>
                                      </p:cBhvr>
                                      <p:to>
                                        <p:strVal val="visible"/>
                                      </p:to>
                                    </p:set>
                                    <p:animEffect transition="in" filter="blinds(horizontal)">
                                      <p:cBhvr>
                                        <p:cTn id="20" dur="500"/>
                                        <p:tgtEl>
                                          <p:spTgt spid="352259">
                                            <p:txEl>
                                              <p:pRg st="2" end="2"/>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52259">
                                            <p:txEl>
                                              <p:pRg st="3" end="3"/>
                                            </p:txEl>
                                          </p:spTgt>
                                        </p:tgtEl>
                                        <p:attrNameLst>
                                          <p:attrName>style.visibility</p:attrName>
                                        </p:attrNameLst>
                                      </p:cBhvr>
                                      <p:to>
                                        <p:strVal val="visible"/>
                                      </p:to>
                                    </p:set>
                                    <p:animEffect transition="in" filter="blinds(horizontal)">
                                      <p:cBhvr>
                                        <p:cTn id="23" dur="500"/>
                                        <p:tgtEl>
                                          <p:spTgt spid="352259">
                                            <p:txEl>
                                              <p:pRg st="3" end="3"/>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52259">
                                            <p:txEl>
                                              <p:pRg st="4" end="4"/>
                                            </p:txEl>
                                          </p:spTgt>
                                        </p:tgtEl>
                                        <p:attrNameLst>
                                          <p:attrName>style.visibility</p:attrName>
                                        </p:attrNameLst>
                                      </p:cBhvr>
                                      <p:to>
                                        <p:strVal val="visible"/>
                                      </p:to>
                                    </p:set>
                                    <p:animEffect transition="in" filter="blinds(horizontal)">
                                      <p:cBhvr>
                                        <p:cTn id="26" dur="500"/>
                                        <p:tgtEl>
                                          <p:spTgt spid="352259">
                                            <p:txEl>
                                              <p:pRg st="4" end="4"/>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352259">
                                            <p:txEl>
                                              <p:pRg st="5" end="5"/>
                                            </p:txEl>
                                          </p:spTgt>
                                        </p:tgtEl>
                                        <p:attrNameLst>
                                          <p:attrName>style.visibility</p:attrName>
                                        </p:attrNameLst>
                                      </p:cBhvr>
                                      <p:to>
                                        <p:strVal val="visible"/>
                                      </p:to>
                                    </p:set>
                                    <p:animEffect transition="in" filter="blinds(horizontal)">
                                      <p:cBhvr>
                                        <p:cTn id="29" dur="500"/>
                                        <p:tgtEl>
                                          <p:spTgt spid="352259">
                                            <p:txEl>
                                              <p:pRg st="5" end="5"/>
                                            </p:txEl>
                                          </p:spTgt>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352259">
                                            <p:txEl>
                                              <p:pRg st="6" end="6"/>
                                            </p:txEl>
                                          </p:spTgt>
                                        </p:tgtEl>
                                        <p:attrNameLst>
                                          <p:attrName>style.visibility</p:attrName>
                                        </p:attrNameLst>
                                      </p:cBhvr>
                                      <p:to>
                                        <p:strVal val="visible"/>
                                      </p:to>
                                    </p:set>
                                    <p:animEffect transition="in" filter="blinds(horizontal)">
                                      <p:cBhvr>
                                        <p:cTn id="32" dur="500"/>
                                        <p:tgtEl>
                                          <p:spTgt spid="352259">
                                            <p:txEl>
                                              <p:pRg st="6" end="6"/>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352259">
                                            <p:txEl>
                                              <p:pRg st="7" end="7"/>
                                            </p:txEl>
                                          </p:spTgt>
                                        </p:tgtEl>
                                        <p:attrNameLst>
                                          <p:attrName>style.visibility</p:attrName>
                                        </p:attrNameLst>
                                      </p:cBhvr>
                                      <p:to>
                                        <p:strVal val="visible"/>
                                      </p:to>
                                    </p:set>
                                    <p:animEffect transition="in" filter="blinds(horizontal)">
                                      <p:cBhvr>
                                        <p:cTn id="35" dur="500"/>
                                        <p:tgtEl>
                                          <p:spTgt spid="352259">
                                            <p:txEl>
                                              <p:pRg st="7" end="7"/>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352259">
                                            <p:txEl>
                                              <p:pRg st="8" end="8"/>
                                            </p:txEl>
                                          </p:spTgt>
                                        </p:tgtEl>
                                        <p:attrNameLst>
                                          <p:attrName>style.visibility</p:attrName>
                                        </p:attrNameLst>
                                      </p:cBhvr>
                                      <p:to>
                                        <p:strVal val="visible"/>
                                      </p:to>
                                    </p:set>
                                    <p:animEffect transition="in" filter="blinds(horizontal)">
                                      <p:cBhvr>
                                        <p:cTn id="38" dur="500"/>
                                        <p:tgtEl>
                                          <p:spTgt spid="352259">
                                            <p:txEl>
                                              <p:pRg st="8" end="8"/>
                                            </p:txEl>
                                          </p:spTgt>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352259">
                                            <p:txEl>
                                              <p:pRg st="9" end="9"/>
                                            </p:txEl>
                                          </p:spTgt>
                                        </p:tgtEl>
                                        <p:attrNameLst>
                                          <p:attrName>style.visibility</p:attrName>
                                        </p:attrNameLst>
                                      </p:cBhvr>
                                      <p:to>
                                        <p:strVal val="visible"/>
                                      </p:to>
                                    </p:set>
                                    <p:animEffect transition="in" filter="blinds(horizontal)">
                                      <p:cBhvr>
                                        <p:cTn id="41" dur="500"/>
                                        <p:tgtEl>
                                          <p:spTgt spid="352259">
                                            <p:txEl>
                                              <p:pRg st="9" end="9"/>
                                            </p:txEl>
                                          </p:spTgt>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352259">
                                            <p:txEl>
                                              <p:pRg st="10" end="10"/>
                                            </p:txEl>
                                          </p:spTgt>
                                        </p:tgtEl>
                                        <p:attrNameLst>
                                          <p:attrName>style.visibility</p:attrName>
                                        </p:attrNameLst>
                                      </p:cBhvr>
                                      <p:to>
                                        <p:strVal val="visible"/>
                                      </p:to>
                                    </p:set>
                                    <p:animEffect transition="in" filter="blinds(horizontal)">
                                      <p:cBhvr>
                                        <p:cTn id="44" dur="500"/>
                                        <p:tgtEl>
                                          <p:spTgt spid="352259">
                                            <p:txEl>
                                              <p:pRg st="10" end="1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352259">
                                            <p:txEl>
                                              <p:pRg st="11" end="11"/>
                                            </p:txEl>
                                          </p:spTgt>
                                        </p:tgtEl>
                                        <p:attrNameLst>
                                          <p:attrName>style.visibility</p:attrName>
                                        </p:attrNameLst>
                                      </p:cBhvr>
                                      <p:to>
                                        <p:strVal val="visible"/>
                                      </p:to>
                                    </p:set>
                                    <p:animEffect transition="in" filter="blinds(horizontal)">
                                      <p:cBhvr>
                                        <p:cTn id="49" dur="500"/>
                                        <p:tgtEl>
                                          <p:spTgt spid="35225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259"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A05C2781-CCAB-41FC-9AF0-D74342B5A6DD}" type="slidenum">
              <a:rPr lang="en-US" altLang="zh-CN"/>
            </a:fld>
            <a:endParaRPr lang="en-US" altLang="zh-CN"/>
          </a:p>
        </p:txBody>
      </p:sp>
      <p:sp>
        <p:nvSpPr>
          <p:cNvPr id="353282" name="Rectangle 2"/>
          <p:cNvSpPr>
            <a:spLocks noGrp="1" noChangeArrowheads="1"/>
          </p:cNvSpPr>
          <p:nvPr>
            <p:ph type="title"/>
          </p:nvPr>
        </p:nvSpPr>
        <p:spPr/>
        <p:txBody>
          <a:bodyPr/>
          <a:lstStyle/>
          <a:p>
            <a:r>
              <a:rPr lang="zh-CN" altLang="en-US" sz="2800"/>
              <a:t>扩展到一般的正态分布的算法</a:t>
            </a:r>
            <a:endParaRPr lang="zh-CN" altLang="en-US" sz="2800"/>
          </a:p>
        </p:txBody>
      </p:sp>
      <p:sp>
        <p:nvSpPr>
          <p:cNvPr id="353283" name="Rectangle 3"/>
          <p:cNvSpPr>
            <a:spLocks noGrp="1" noChangeArrowheads="1"/>
          </p:cNvSpPr>
          <p:nvPr>
            <p:ph type="body" idx="1"/>
          </p:nvPr>
        </p:nvSpPr>
        <p:spPr>
          <a:xfrm>
            <a:off x="179388" y="1719263"/>
            <a:ext cx="8713787" cy="4411662"/>
          </a:xfrm>
        </p:spPr>
        <p:txBody>
          <a:bodyPr/>
          <a:lstStyle/>
          <a:p>
            <a:pPr>
              <a:buFont typeface="Wingdings" panose="05000000000000000000" pitchFamily="2" charset="2"/>
              <a:buNone/>
            </a:pPr>
            <a:r>
              <a:rPr lang="en-US" altLang="zh-CN"/>
              <a:t>double RandomNumber::Norm(double a ,double b)</a:t>
            </a:r>
            <a:endParaRPr lang="en-US" altLang="zh-CN"/>
          </a:p>
          <a:p>
            <a:pPr>
              <a:buFont typeface="Wingdings" panose="05000000000000000000" pitchFamily="2" charset="2"/>
              <a:buNone/>
            </a:pPr>
            <a:r>
              <a:rPr lang="en-US" altLang="zh-CN"/>
              <a:t>{</a:t>
            </a:r>
            <a:endParaRPr lang="en-US" altLang="zh-CN"/>
          </a:p>
          <a:p>
            <a:pPr lvl="1">
              <a:buFont typeface="Wingdings" panose="05000000000000000000" pitchFamily="2" charset="2"/>
              <a:buNone/>
            </a:pPr>
            <a:r>
              <a:rPr lang="en-US" altLang="zh-CN"/>
              <a:t>double x=Norm();</a:t>
            </a:r>
            <a:endParaRPr lang="en-US" altLang="zh-CN"/>
          </a:p>
          <a:p>
            <a:pPr lvl="1">
              <a:buFont typeface="Wingdings" panose="05000000000000000000" pitchFamily="2" charset="2"/>
              <a:buNone/>
            </a:pPr>
            <a:r>
              <a:rPr lang="en-US" altLang="zh-CN"/>
              <a:t>return a+b*x;</a:t>
            </a:r>
            <a:endParaRPr lang="en-US" altLang="zh-CN"/>
          </a:p>
          <a:p>
            <a:pPr>
              <a:buFont typeface="Wingdings" panose="05000000000000000000" pitchFamily="2" charset="2"/>
              <a:buNone/>
            </a:pPr>
            <a:r>
              <a:rPr lang="en-US" altLang="zh-CN"/>
              <a:t>}</a:t>
            </a:r>
            <a:endParaRPr lang="en-US" altLang="zh-CN"/>
          </a:p>
          <a:p>
            <a:endParaRPr lang="zh-CN" alt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D66BEA61-0150-4433-9915-7D5CB3230BE2}" type="slidenum">
              <a:rPr lang="en-US" altLang="zh-CN"/>
            </a:fld>
            <a:endParaRPr lang="en-US" altLang="zh-CN"/>
          </a:p>
        </p:txBody>
      </p:sp>
      <p:sp>
        <p:nvSpPr>
          <p:cNvPr id="349186" name="Rectangle 2"/>
          <p:cNvSpPr>
            <a:spLocks noGrp="1" noChangeArrowheads="1"/>
          </p:cNvSpPr>
          <p:nvPr>
            <p:ph type="title"/>
          </p:nvPr>
        </p:nvSpPr>
        <p:spPr>
          <a:xfrm>
            <a:off x="457200" y="122238"/>
            <a:ext cx="7543800" cy="1003300"/>
          </a:xfrm>
        </p:spPr>
        <p:txBody>
          <a:bodyPr/>
          <a:lstStyle/>
          <a:p>
            <a:r>
              <a:rPr kumimoji="1" lang="zh-CN" altLang="en-US" sz="3200" b="0">
                <a:solidFill>
                  <a:schemeClr val="tx1"/>
                </a:solidFill>
                <a:latin typeface="Times New Roman" panose="02020603050405020304" pitchFamily="18" charset="0"/>
                <a:ea typeface="黑体" panose="02010609060101010101" pitchFamily="49" charset="-122"/>
              </a:rPr>
              <a:t>用平均值法计算定积分</a:t>
            </a:r>
            <a:endParaRPr kumimoji="1" lang="zh-CN" altLang="en-US" sz="3200" b="0">
              <a:solidFill>
                <a:schemeClr val="tx1"/>
              </a:solidFill>
              <a:latin typeface="Times New Roman" panose="02020603050405020304" pitchFamily="18" charset="0"/>
              <a:ea typeface="黑体" panose="02010609060101010101" pitchFamily="49" charset="-122"/>
            </a:endParaRPr>
          </a:p>
        </p:txBody>
      </p:sp>
      <p:pic>
        <p:nvPicPr>
          <p:cNvPr id="34918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1989138"/>
            <a:ext cx="8315325" cy="25320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9189" name="Rectangle 5"/>
          <p:cNvSpPr>
            <a:spLocks noChangeArrowheads="1"/>
          </p:cNvSpPr>
          <p:nvPr/>
        </p:nvSpPr>
        <p:spPr bwMode="auto">
          <a:xfrm>
            <a:off x="539750" y="2060575"/>
            <a:ext cx="431800" cy="5032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18B72754-3443-46A8-90B8-F930A870C4E5}" type="slidenum">
              <a:rPr lang="en-US" altLang="zh-CN"/>
            </a:fld>
            <a:endParaRPr lang="en-US" altLang="zh-CN"/>
          </a:p>
        </p:txBody>
      </p:sp>
      <p:sp>
        <p:nvSpPr>
          <p:cNvPr id="350211" name="Rectangle 3"/>
          <p:cNvSpPr>
            <a:spLocks noGrp="1" noChangeArrowheads="1"/>
          </p:cNvSpPr>
          <p:nvPr>
            <p:ph type="body" idx="1"/>
          </p:nvPr>
        </p:nvSpPr>
        <p:spPr>
          <a:xfrm>
            <a:off x="457200" y="981075"/>
            <a:ext cx="8229600" cy="5472113"/>
          </a:xfrm>
        </p:spPr>
        <p:txBody>
          <a:bodyPr/>
          <a:lstStyle/>
          <a:p>
            <a:pPr>
              <a:lnSpc>
                <a:spcPct val="80000"/>
              </a:lnSpc>
            </a:pPr>
            <a:r>
              <a:rPr lang="zh-CN" altLang="en-US" sz="2400"/>
              <a:t>在</a:t>
            </a:r>
            <a:r>
              <a:rPr lang="en-US" altLang="zh-CN" sz="2400"/>
              <a:t>[a,b]</a:t>
            </a:r>
            <a:r>
              <a:rPr lang="zh-CN" altLang="en-US" sz="2400"/>
              <a:t>区间上随机抽取</a:t>
            </a:r>
            <a:r>
              <a:rPr lang="en-US" altLang="zh-CN" sz="2400"/>
              <a:t>n</a:t>
            </a:r>
            <a:r>
              <a:rPr lang="zh-CN" altLang="en-US" sz="2400"/>
              <a:t>个点</a:t>
            </a:r>
            <a:r>
              <a:rPr lang="en-US" altLang="zh-CN" sz="2400"/>
              <a:t>xi(i=1,2,…n)</a:t>
            </a:r>
            <a:r>
              <a:rPr lang="zh-CN" altLang="en-US" sz="2400"/>
              <a:t>，则均值</a:t>
            </a:r>
            <a:endParaRPr lang="en-US" altLang="zh-CN" sz="2400"/>
          </a:p>
          <a:p>
            <a:pPr>
              <a:lnSpc>
                <a:spcPct val="80000"/>
              </a:lnSpc>
              <a:buFont typeface="Wingdings" panose="05000000000000000000" pitchFamily="2" charset="2"/>
              <a:buNone/>
            </a:pPr>
            <a:r>
              <a:rPr lang="en-US" altLang="zh-CN" sz="2400"/>
              <a:t>                                                      </a:t>
            </a:r>
            <a:endParaRPr lang="en-US" altLang="zh-CN" sz="2400"/>
          </a:p>
          <a:p>
            <a:pPr>
              <a:lnSpc>
                <a:spcPct val="80000"/>
              </a:lnSpc>
              <a:buFont typeface="Wingdings" panose="05000000000000000000" pitchFamily="2" charset="2"/>
              <a:buNone/>
            </a:pPr>
            <a:endParaRPr lang="zh-CN" altLang="en-US" sz="2400"/>
          </a:p>
          <a:p>
            <a:pPr>
              <a:lnSpc>
                <a:spcPct val="80000"/>
              </a:lnSpc>
              <a:buFont typeface="Wingdings" panose="05000000000000000000" pitchFamily="2" charset="2"/>
              <a:buNone/>
            </a:pPr>
            <a:r>
              <a:rPr lang="zh-CN" altLang="en-US" sz="2400"/>
              <a:t>可作为所求积分</a:t>
            </a:r>
            <a:r>
              <a:rPr lang="en-US" altLang="zh-CN" sz="2400"/>
              <a:t>I</a:t>
            </a:r>
            <a:r>
              <a:rPr lang="zh-CN" altLang="en-US" sz="2400"/>
              <a:t>的近似值。</a:t>
            </a:r>
            <a:endParaRPr lang="zh-CN" altLang="en-US" sz="2400"/>
          </a:p>
          <a:p>
            <a:pPr>
              <a:lnSpc>
                <a:spcPct val="80000"/>
              </a:lnSpc>
            </a:pPr>
            <a:endParaRPr lang="en-US" altLang="zh-CN" sz="1700"/>
          </a:p>
          <a:p>
            <a:pPr>
              <a:lnSpc>
                <a:spcPct val="80000"/>
              </a:lnSpc>
              <a:buFont typeface="Wingdings" panose="05000000000000000000" pitchFamily="2" charset="2"/>
              <a:buNone/>
            </a:pPr>
            <a:r>
              <a:rPr lang="en-US" altLang="zh-CN" sz="2000"/>
              <a:t>public static double integration(double a, double b, int n)</a:t>
            </a:r>
            <a:endParaRPr lang="en-US" altLang="zh-CN" sz="2000"/>
          </a:p>
          <a:p>
            <a:pPr>
              <a:lnSpc>
                <a:spcPct val="80000"/>
              </a:lnSpc>
              <a:buFont typeface="Wingdings" panose="05000000000000000000" pitchFamily="2" charset="2"/>
              <a:buNone/>
            </a:pPr>
            <a:r>
              <a:rPr lang="en-US" altLang="zh-CN" sz="2000"/>
              <a:t>{//</a:t>
            </a:r>
            <a:r>
              <a:rPr lang="zh-CN" altLang="en-US" sz="2000"/>
              <a:t>用平均值法计算定积分</a:t>
            </a:r>
            <a:endParaRPr lang="zh-CN" altLang="en-US" sz="2000"/>
          </a:p>
          <a:p>
            <a:pPr>
              <a:lnSpc>
                <a:spcPct val="80000"/>
              </a:lnSpc>
              <a:buFont typeface="Wingdings" panose="05000000000000000000" pitchFamily="2" charset="2"/>
              <a:buNone/>
            </a:pPr>
            <a:r>
              <a:rPr lang="en-US" altLang="zh-CN" sz="2000"/>
              <a:t>	Random rnd = new Random();</a:t>
            </a:r>
            <a:endParaRPr lang="en-US" altLang="zh-CN" sz="2000"/>
          </a:p>
          <a:p>
            <a:pPr>
              <a:lnSpc>
                <a:spcPct val="80000"/>
              </a:lnSpc>
              <a:buFont typeface="Wingdings" panose="05000000000000000000" pitchFamily="2" charset="2"/>
              <a:buNone/>
            </a:pPr>
            <a:r>
              <a:rPr lang="en-US" altLang="zh-CN" sz="2000"/>
              <a:t>	double y=0;</a:t>
            </a:r>
            <a:endParaRPr lang="en-US" altLang="zh-CN" sz="2000"/>
          </a:p>
          <a:p>
            <a:pPr>
              <a:lnSpc>
                <a:spcPct val="80000"/>
              </a:lnSpc>
              <a:buFont typeface="Wingdings" panose="05000000000000000000" pitchFamily="2" charset="2"/>
              <a:buNone/>
            </a:pPr>
            <a:r>
              <a:rPr lang="en-US" altLang="zh-CN" sz="2000"/>
              <a:t>	for(int i=1; i&lt;=n; i++){</a:t>
            </a:r>
            <a:endParaRPr lang="en-US" altLang="zh-CN" sz="2000"/>
          </a:p>
          <a:p>
            <a:pPr>
              <a:lnSpc>
                <a:spcPct val="80000"/>
              </a:lnSpc>
              <a:buFont typeface="Wingdings" panose="05000000000000000000" pitchFamily="2" charset="2"/>
              <a:buNone/>
            </a:pPr>
            <a:r>
              <a:rPr lang="en-US" altLang="zh-CN" sz="2000"/>
              <a:t>		double x=(b-a)*rnd.fRandom()+a;</a:t>
            </a:r>
            <a:endParaRPr lang="en-US" altLang="zh-CN" sz="2000"/>
          </a:p>
          <a:p>
            <a:pPr>
              <a:lnSpc>
                <a:spcPct val="80000"/>
              </a:lnSpc>
              <a:buFont typeface="Wingdings" panose="05000000000000000000" pitchFamily="2" charset="2"/>
              <a:buNone/>
            </a:pPr>
            <a:r>
              <a:rPr lang="en-US" altLang="zh-CN" sz="2000"/>
              <a:t>		y+=f(x);</a:t>
            </a:r>
            <a:endParaRPr lang="en-US" altLang="zh-CN" sz="2000"/>
          </a:p>
          <a:p>
            <a:pPr>
              <a:lnSpc>
                <a:spcPct val="80000"/>
              </a:lnSpc>
              <a:buFont typeface="Wingdings" panose="05000000000000000000" pitchFamily="2" charset="2"/>
              <a:buNone/>
            </a:pPr>
            <a:r>
              <a:rPr lang="en-US" altLang="zh-CN" sz="2000"/>
              <a:t>	}</a:t>
            </a:r>
            <a:endParaRPr lang="en-US" altLang="zh-CN" sz="2000"/>
          </a:p>
          <a:p>
            <a:pPr>
              <a:lnSpc>
                <a:spcPct val="80000"/>
              </a:lnSpc>
              <a:buFont typeface="Wingdings" panose="05000000000000000000" pitchFamily="2" charset="2"/>
              <a:buNone/>
            </a:pPr>
            <a:r>
              <a:rPr lang="en-US" altLang="zh-CN" sz="2000"/>
              <a:t>	return (b-a)*y/(double)n;</a:t>
            </a:r>
            <a:endParaRPr lang="en-US" altLang="zh-CN" sz="2000"/>
          </a:p>
          <a:p>
            <a:pPr>
              <a:lnSpc>
                <a:spcPct val="80000"/>
              </a:lnSpc>
              <a:buFont typeface="Wingdings" panose="05000000000000000000" pitchFamily="2" charset="2"/>
              <a:buNone/>
            </a:pPr>
            <a:r>
              <a:rPr lang="en-US" altLang="zh-CN" sz="2000"/>
              <a:t>}</a:t>
            </a:r>
            <a:endParaRPr lang="en-US" altLang="zh-CN" sz="2000"/>
          </a:p>
        </p:txBody>
      </p:sp>
      <p:graphicFrame>
        <p:nvGraphicFramePr>
          <p:cNvPr id="350215" name="Object 7"/>
          <p:cNvGraphicFramePr>
            <a:graphicFrameLocks noGrp="1" noChangeAspect="1"/>
          </p:cNvGraphicFramePr>
          <p:nvPr>
            <p:ph type="title"/>
          </p:nvPr>
        </p:nvGraphicFramePr>
        <p:xfrm>
          <a:off x="1692275" y="1268413"/>
          <a:ext cx="2160588" cy="844550"/>
        </p:xfrm>
        <a:graphic>
          <a:graphicData uri="http://schemas.openxmlformats.org/presentationml/2006/ole">
            <mc:AlternateContent xmlns:mc="http://schemas.openxmlformats.org/markup-compatibility/2006">
              <mc:Choice xmlns:v="urn:schemas-microsoft-com:vml" Requires="v">
                <p:oleObj spid="_x0000_s350217" name="公式" r:id="rId1" imgW="1104900" imgH="431800" progId="Equation.3">
                  <p:embed/>
                </p:oleObj>
              </mc:Choice>
              <mc:Fallback>
                <p:oleObj name="公式" r:id="rId1" imgW="1104900" imgH="4318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1268413"/>
                        <a:ext cx="2160588" cy="844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fld id="{E30A639B-DFAD-4E72-80CC-ABA1136B5AE1}" type="slidenum">
              <a:rPr lang="en-US" altLang="zh-CN"/>
            </a:fld>
            <a:endParaRPr lang="en-US" altLang="zh-CN"/>
          </a:p>
        </p:txBody>
      </p:sp>
      <p:sp>
        <p:nvSpPr>
          <p:cNvPr id="292868" name="Rectangle 4"/>
          <p:cNvSpPr>
            <a:spLocks noChangeArrowheads="1"/>
          </p:cNvSpPr>
          <p:nvPr/>
        </p:nvSpPr>
        <p:spPr bwMode="auto">
          <a:xfrm>
            <a:off x="395288" y="620713"/>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kumimoji="1" lang="zh-CN" altLang="en-US" sz="3200">
                <a:latin typeface="Times New Roman" panose="02020603050405020304" pitchFamily="18" charset="0"/>
                <a:ea typeface="黑体" panose="02010609060101010101" pitchFamily="49" charset="-122"/>
              </a:rPr>
              <a:t>解非线性方程组</a:t>
            </a:r>
            <a:endParaRPr kumimoji="1" lang="zh-CN" altLang="en-US" sz="3200">
              <a:latin typeface="Times New Roman" panose="02020603050405020304" pitchFamily="18" charset="0"/>
              <a:ea typeface="黑体" panose="02010609060101010101" pitchFamily="49" charset="-122"/>
            </a:endParaRPr>
          </a:p>
        </p:txBody>
      </p:sp>
      <p:sp>
        <p:nvSpPr>
          <p:cNvPr id="292869" name="Text Box 5"/>
          <p:cNvSpPr txBox="1">
            <a:spLocks noChangeArrowheads="1"/>
          </p:cNvSpPr>
          <p:nvPr/>
        </p:nvSpPr>
        <p:spPr bwMode="auto">
          <a:xfrm>
            <a:off x="395288" y="1628775"/>
            <a:ext cx="3536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zh-CN" altLang="en-US" sz="2400">
                <a:ea typeface="新宋体" panose="02010609030101010101" charset="-122"/>
              </a:rPr>
              <a:t>求解下面的非线性方程组</a:t>
            </a:r>
            <a:endParaRPr lang="zh-CN" altLang="en-US" sz="2400">
              <a:ea typeface="新宋体" panose="02010609030101010101" charset="-122"/>
            </a:endParaRPr>
          </a:p>
        </p:txBody>
      </p:sp>
      <p:sp>
        <p:nvSpPr>
          <p:cNvPr id="292871" name="Rectangle 7"/>
          <p:cNvSpPr>
            <a:spLocks noChangeArrowheads="1"/>
          </p:cNvSpPr>
          <p:nvPr/>
        </p:nvSpPr>
        <p:spPr bwMode="auto">
          <a:xfrm>
            <a:off x="0" y="2957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aphicFrame>
        <p:nvGraphicFramePr>
          <p:cNvPr id="292870" name="Object 6"/>
          <p:cNvGraphicFramePr>
            <a:graphicFrameLocks noChangeAspect="1"/>
          </p:cNvGraphicFramePr>
          <p:nvPr/>
        </p:nvGraphicFramePr>
        <p:xfrm>
          <a:off x="3132138" y="2420938"/>
          <a:ext cx="2376487" cy="1646237"/>
        </p:xfrm>
        <a:graphic>
          <a:graphicData uri="http://schemas.openxmlformats.org/presentationml/2006/ole">
            <mc:AlternateContent xmlns:mc="http://schemas.openxmlformats.org/markup-compatibility/2006">
              <mc:Choice xmlns:v="urn:schemas-microsoft-com:vml" Requires="v">
                <p:oleObj spid="_x0000_s292906" name="公式" r:id="rId1" imgW="1358900" imgH="939800" progId="Equation.3">
                  <p:embed/>
                </p:oleObj>
              </mc:Choice>
              <mc:Fallback>
                <p:oleObj name="公式" r:id="rId1" imgW="1358900" imgH="9398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2138" y="2420938"/>
                        <a:ext cx="2376487" cy="1646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2881" name="Text Box 17"/>
          <p:cNvSpPr txBox="1">
            <a:spLocks noChangeArrowheads="1"/>
          </p:cNvSpPr>
          <p:nvPr/>
        </p:nvSpPr>
        <p:spPr bwMode="auto">
          <a:xfrm>
            <a:off x="376238" y="4508500"/>
            <a:ext cx="873283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其中，</a:t>
            </a:r>
            <a:r>
              <a:rPr lang="en-US" altLang="zh-CN" sz="2400">
                <a:ea typeface="新宋体" panose="02010609030101010101" charset="-122"/>
              </a:rPr>
              <a:t>x</a:t>
            </a:r>
            <a:r>
              <a:rPr lang="en-US" altLang="zh-CN" sz="2400" baseline="-25000">
                <a:ea typeface="新宋体" panose="02010609030101010101" charset="-122"/>
              </a:rPr>
              <a:t>1</a:t>
            </a:r>
            <a:r>
              <a:rPr lang="en-US" altLang="zh-CN" sz="2400">
                <a:ea typeface="新宋体" panose="02010609030101010101" charset="-122"/>
              </a:rPr>
              <a:t>,x</a:t>
            </a:r>
            <a:r>
              <a:rPr lang="en-US" altLang="zh-CN" sz="2400" baseline="-25000">
                <a:ea typeface="新宋体" panose="02010609030101010101" charset="-122"/>
              </a:rPr>
              <a:t>2</a:t>
            </a:r>
            <a:r>
              <a:rPr lang="en-US" altLang="zh-CN" sz="2400">
                <a:ea typeface="新宋体" panose="02010609030101010101" charset="-122"/>
              </a:rPr>
              <a:t>,…,x</a:t>
            </a:r>
            <a:r>
              <a:rPr lang="en-US" altLang="zh-CN" sz="2400" baseline="-25000">
                <a:ea typeface="新宋体" panose="02010609030101010101" charset="-122"/>
              </a:rPr>
              <a:t>n</a:t>
            </a:r>
            <a:r>
              <a:rPr lang="zh-CN" altLang="en-US" sz="2400">
                <a:ea typeface="新宋体" panose="02010609030101010101" charset="-122"/>
              </a:rPr>
              <a:t>是实变量，</a:t>
            </a:r>
            <a:r>
              <a:rPr lang="en-US" altLang="zh-CN" sz="2400">
                <a:ea typeface="新宋体" panose="02010609030101010101" charset="-122"/>
              </a:rPr>
              <a:t>f</a:t>
            </a:r>
            <a:r>
              <a:rPr lang="en-US" altLang="zh-CN" sz="2400" baseline="-25000">
                <a:ea typeface="新宋体" panose="02010609030101010101" charset="-122"/>
              </a:rPr>
              <a:t>i</a:t>
            </a:r>
            <a:r>
              <a:rPr lang="zh-CN" altLang="en-US" sz="2400">
                <a:ea typeface="新宋体" panose="02010609030101010101" charset="-122"/>
              </a:rPr>
              <a:t>是未知量</a:t>
            </a:r>
            <a:r>
              <a:rPr lang="en-US" altLang="zh-CN" sz="2400">
                <a:ea typeface="新宋体" panose="02010609030101010101" charset="-122"/>
              </a:rPr>
              <a:t>x</a:t>
            </a:r>
            <a:r>
              <a:rPr lang="en-US" altLang="zh-CN" sz="2400" baseline="-25000">
                <a:ea typeface="新宋体" panose="02010609030101010101" charset="-122"/>
              </a:rPr>
              <a:t>1</a:t>
            </a:r>
            <a:r>
              <a:rPr lang="en-US" altLang="zh-CN" sz="2400">
                <a:ea typeface="新宋体" panose="02010609030101010101" charset="-122"/>
              </a:rPr>
              <a:t>,x</a:t>
            </a:r>
            <a:r>
              <a:rPr lang="en-US" altLang="zh-CN" sz="2400" baseline="-25000">
                <a:ea typeface="新宋体" panose="02010609030101010101" charset="-122"/>
              </a:rPr>
              <a:t>2</a:t>
            </a:r>
            <a:r>
              <a:rPr lang="en-US" altLang="zh-CN" sz="2400">
                <a:ea typeface="新宋体" panose="02010609030101010101" charset="-122"/>
              </a:rPr>
              <a:t>,…,x</a:t>
            </a:r>
            <a:r>
              <a:rPr lang="en-US" altLang="zh-CN" sz="2400" baseline="-25000">
                <a:ea typeface="新宋体" panose="02010609030101010101" charset="-122"/>
              </a:rPr>
              <a:t>n</a:t>
            </a:r>
            <a:r>
              <a:rPr lang="zh-CN" altLang="en-US" sz="2400">
                <a:ea typeface="新宋体" panose="02010609030101010101" charset="-122"/>
              </a:rPr>
              <a:t>的非线性实函数。要求确定上述方程组在指定求根范围内的一组解</a:t>
            </a:r>
            <a:endParaRPr lang="zh-CN" altLang="en-US" sz="2400">
              <a:ea typeface="新宋体" panose="02010609030101010101" charset="-122"/>
            </a:endParaRPr>
          </a:p>
        </p:txBody>
      </p:sp>
      <p:graphicFrame>
        <p:nvGraphicFramePr>
          <p:cNvPr id="292891" name="Object 27"/>
          <p:cNvGraphicFramePr>
            <a:graphicFrameLocks noChangeAspect="1"/>
          </p:cNvGraphicFramePr>
          <p:nvPr/>
        </p:nvGraphicFramePr>
        <p:xfrm>
          <a:off x="7524750" y="4868863"/>
          <a:ext cx="1439863" cy="444500"/>
        </p:xfrm>
        <a:graphic>
          <a:graphicData uri="http://schemas.openxmlformats.org/presentationml/2006/ole">
            <mc:AlternateContent xmlns:mc="http://schemas.openxmlformats.org/markup-compatibility/2006">
              <mc:Choice xmlns:v="urn:schemas-microsoft-com:vml" Requires="v">
                <p:oleObj spid="_x0000_s292907" name="公式" r:id="rId3" imgW="774065" imgH="241300" progId="Equation.3">
                  <p:embed/>
                </p:oleObj>
              </mc:Choice>
              <mc:Fallback>
                <p:oleObj name="公式" r:id="rId3" imgW="774065" imgH="241300" progId="Equation.3">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4750" y="4868863"/>
                        <a:ext cx="1439863"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2899" name="Rectangle 35"/>
          <p:cNvSpPr>
            <a:spLocks noChangeArrowheads="1"/>
          </p:cNvSpPr>
          <p:nvPr/>
        </p:nvSpPr>
        <p:spPr bwMode="auto">
          <a:xfrm>
            <a:off x="2638425" y="4249738"/>
            <a:ext cx="222250"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r>
              <a:rPr kumimoji="1" lang="zh-CN" altLang="en-US" sz="1100">
                <a:ea typeface="新宋体" panose="02010609030101010101" charset="-122"/>
              </a:rPr>
              <a:t> </a:t>
            </a:r>
            <a:endParaRPr kumimoji="1" lang="zh-CN" altLang="en-US" sz="24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6"/>
          <p:cNvSpPr>
            <a:spLocks noGrp="1"/>
          </p:cNvSpPr>
          <p:nvPr>
            <p:ph type="sldNum" sz="quarter" idx="12"/>
          </p:nvPr>
        </p:nvSpPr>
        <p:spPr/>
        <p:txBody>
          <a:bodyPr/>
          <a:lstStyle/>
          <a:p>
            <a:fld id="{F6C226AB-875F-4B6B-B33C-6CA5D56A8F74}" type="slidenum">
              <a:rPr lang="en-US" altLang="zh-CN"/>
            </a:fld>
            <a:endParaRPr lang="en-US" altLang="zh-CN"/>
          </a:p>
        </p:txBody>
      </p:sp>
      <p:sp>
        <p:nvSpPr>
          <p:cNvPr id="354310" name="Rectangle 6"/>
          <p:cNvSpPr>
            <a:spLocks noGrp="1" noChangeArrowheads="1"/>
          </p:cNvSpPr>
          <p:nvPr>
            <p:ph type="title"/>
          </p:nvPr>
        </p:nvSpPr>
        <p:spPr/>
        <p:txBody>
          <a:bodyPr/>
          <a:lstStyle/>
          <a:p>
            <a:r>
              <a:rPr lang="zh-CN" altLang="en-US"/>
              <a:t>基本思想</a:t>
            </a:r>
            <a:endParaRPr lang="zh-CN" altLang="en-US"/>
          </a:p>
        </p:txBody>
      </p:sp>
      <p:sp>
        <p:nvSpPr>
          <p:cNvPr id="354307" name="Rectangle 3"/>
          <p:cNvSpPr>
            <a:spLocks noGrp="1" noChangeArrowheads="1"/>
          </p:cNvSpPr>
          <p:nvPr>
            <p:ph type="body" sz="half" idx="1"/>
          </p:nvPr>
        </p:nvSpPr>
        <p:spPr>
          <a:xfrm>
            <a:off x="457200" y="1719263"/>
            <a:ext cx="8291513" cy="4411662"/>
          </a:xfrm>
        </p:spPr>
        <p:txBody>
          <a:bodyPr/>
          <a:lstStyle/>
          <a:p>
            <a:pPr marL="495300" indent="-495300"/>
            <a:r>
              <a:rPr lang="zh-CN" altLang="en-US" sz="2600"/>
              <a:t>构造函数                      ，其中                       。</a:t>
            </a:r>
            <a:endParaRPr lang="zh-CN" altLang="en-US" sz="2600"/>
          </a:p>
          <a:p>
            <a:pPr marL="495300" indent="-495300"/>
            <a:r>
              <a:rPr lang="zh-CN" altLang="en-US" sz="2600"/>
              <a:t>易知，该函数的零点即是所求非线性方程组的一组解。</a:t>
            </a:r>
            <a:endParaRPr lang="zh-CN" altLang="en-US" sz="2600"/>
          </a:p>
          <a:p>
            <a:pPr marL="495300" indent="-495300"/>
            <a:endParaRPr lang="zh-CN" altLang="en-US" sz="2600"/>
          </a:p>
          <a:p>
            <a:pPr marL="495300" indent="-495300"/>
            <a:r>
              <a:rPr lang="zh-CN" altLang="en-US" sz="2600"/>
              <a:t>简单随机模拟算法：</a:t>
            </a:r>
            <a:endParaRPr lang="zh-CN" altLang="en-US" sz="2600"/>
          </a:p>
          <a:p>
            <a:pPr marL="495300" indent="-495300">
              <a:buFont typeface="Wingdings" panose="05000000000000000000" pitchFamily="2" charset="2"/>
              <a:buAutoNum type="arabicPeriod"/>
            </a:pPr>
            <a:r>
              <a:rPr lang="zh-CN" altLang="en-US" sz="2600"/>
              <a:t>在指定求根区域内，选定一个</a:t>
            </a:r>
            <a:r>
              <a:rPr lang="en-US" altLang="zh-CN" sz="2600"/>
              <a:t>   </a:t>
            </a:r>
            <a:r>
              <a:rPr lang="zh-CN" altLang="en-US" sz="2600"/>
              <a:t>作为根的初值。按照预先选定的分布，逐个选取随机点</a:t>
            </a:r>
            <a:r>
              <a:rPr lang="en-US" altLang="zh-CN" sz="2600"/>
              <a:t>x</a:t>
            </a:r>
            <a:r>
              <a:rPr lang="zh-CN" altLang="en-US" sz="2600"/>
              <a:t>。</a:t>
            </a:r>
            <a:endParaRPr lang="zh-CN" altLang="en-US" sz="2600"/>
          </a:p>
          <a:p>
            <a:pPr marL="495300" indent="-495300">
              <a:buFont typeface="Wingdings" panose="05000000000000000000" pitchFamily="2" charset="2"/>
              <a:buAutoNum type="arabicPeriod"/>
            </a:pPr>
            <a:r>
              <a:rPr lang="zh-CN" altLang="en-US" sz="2600"/>
              <a:t>计算目标函数       ，并把满足精度要求的随机点</a:t>
            </a:r>
            <a:r>
              <a:rPr lang="en-US" altLang="zh-CN" sz="2600"/>
              <a:t>x</a:t>
            </a:r>
            <a:r>
              <a:rPr lang="zh-CN" altLang="en-US" sz="2600"/>
              <a:t>作为所求非线性方程组的近似解。</a:t>
            </a:r>
            <a:endParaRPr lang="zh-CN" altLang="en-US" sz="2600"/>
          </a:p>
          <a:p>
            <a:pPr marL="495300" indent="-495300"/>
            <a:r>
              <a:rPr lang="zh-CN" altLang="en-US" sz="2600"/>
              <a:t>缺点：工作量大</a:t>
            </a:r>
            <a:endParaRPr lang="zh-CN" altLang="en-US" sz="2600"/>
          </a:p>
        </p:txBody>
      </p:sp>
      <p:graphicFrame>
        <p:nvGraphicFramePr>
          <p:cNvPr id="354309" name="Object 5"/>
          <p:cNvGraphicFramePr>
            <a:graphicFrameLocks noGrp="1" noChangeAspect="1"/>
          </p:cNvGraphicFramePr>
          <p:nvPr>
            <p:ph sz="half" idx="2"/>
          </p:nvPr>
        </p:nvGraphicFramePr>
        <p:xfrm>
          <a:off x="2514600" y="1557338"/>
          <a:ext cx="1770063" cy="762000"/>
        </p:xfrm>
        <a:graphic>
          <a:graphicData uri="http://schemas.openxmlformats.org/presentationml/2006/ole">
            <mc:AlternateContent xmlns:mc="http://schemas.openxmlformats.org/markup-compatibility/2006">
              <mc:Choice xmlns:v="urn:schemas-microsoft-com:vml" Requires="v">
                <p:oleObj spid="_x0000_s354322" name="公式" r:id="rId1" imgW="1002665" imgH="431800" progId="Equation.3">
                  <p:embed/>
                </p:oleObj>
              </mc:Choice>
              <mc:Fallback>
                <p:oleObj name="公式" r:id="rId1" imgW="1002665" imgH="4318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557338"/>
                        <a:ext cx="1770063"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4315" name="Object 11"/>
          <p:cNvGraphicFramePr>
            <a:graphicFrameLocks noChangeAspect="1"/>
          </p:cNvGraphicFramePr>
          <p:nvPr/>
        </p:nvGraphicFramePr>
        <p:xfrm>
          <a:off x="5453063" y="1736725"/>
          <a:ext cx="1927225" cy="403225"/>
        </p:xfrm>
        <a:graphic>
          <a:graphicData uri="http://schemas.openxmlformats.org/presentationml/2006/ole">
            <mc:AlternateContent xmlns:mc="http://schemas.openxmlformats.org/markup-compatibility/2006">
              <mc:Choice xmlns:v="urn:schemas-microsoft-com:vml" Requires="v">
                <p:oleObj spid="_x0000_s354323" name="公式" r:id="rId3" imgW="1091565" imgH="228600" progId="Equation.3">
                  <p:embed/>
                </p:oleObj>
              </mc:Choice>
              <mc:Fallback>
                <p:oleObj name="公式" r:id="rId3" imgW="1091565" imgH="2286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3063" y="1736725"/>
                        <a:ext cx="19272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4316" name="Object 12"/>
          <p:cNvGraphicFramePr>
            <a:graphicFrameLocks noChangeAspect="1"/>
          </p:cNvGraphicFramePr>
          <p:nvPr/>
        </p:nvGraphicFramePr>
        <p:xfrm>
          <a:off x="3132138" y="4581525"/>
          <a:ext cx="560387" cy="358775"/>
        </p:xfrm>
        <a:graphic>
          <a:graphicData uri="http://schemas.openxmlformats.org/presentationml/2006/ole">
            <mc:AlternateContent xmlns:mc="http://schemas.openxmlformats.org/markup-compatibility/2006">
              <mc:Choice xmlns:v="urn:schemas-microsoft-com:vml" Requires="v">
                <p:oleObj spid="_x0000_s354324" name="公式" r:id="rId5" imgW="317500" imgH="203200" progId="Equation.3">
                  <p:embed/>
                </p:oleObj>
              </mc:Choice>
              <mc:Fallback>
                <p:oleObj name="公式" r:id="rId5" imgW="317500" imgH="203200"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32138" y="4581525"/>
                        <a:ext cx="5603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4317" name="Object 13"/>
          <p:cNvGraphicFramePr>
            <a:graphicFrameLocks noChangeAspect="1"/>
          </p:cNvGraphicFramePr>
          <p:nvPr/>
        </p:nvGraphicFramePr>
        <p:xfrm>
          <a:off x="5359400" y="3673475"/>
          <a:ext cx="292100" cy="403225"/>
        </p:xfrm>
        <a:graphic>
          <a:graphicData uri="http://schemas.openxmlformats.org/presentationml/2006/ole">
            <mc:AlternateContent xmlns:mc="http://schemas.openxmlformats.org/markup-compatibility/2006">
              <mc:Choice xmlns:v="urn:schemas-microsoft-com:vml" Requires="v">
                <p:oleObj spid="_x0000_s354325" name="公式" r:id="rId7" imgW="165100" imgH="228600" progId="Equation.3">
                  <p:embed/>
                </p:oleObj>
              </mc:Choice>
              <mc:Fallback>
                <p:oleObj name="公式" r:id="rId7" imgW="165100" imgH="228600"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59400" y="3673475"/>
                        <a:ext cx="2921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54307">
                                            <p:txEl>
                                              <p:pRg st="4294967295" end="4294967295"/>
                                            </p:txEl>
                                          </p:spTgt>
                                        </p:tgtEl>
                                        <p:attrNameLst>
                                          <p:attrName>style.visibility</p:attrName>
                                        </p:attrNameLst>
                                      </p:cBhvr>
                                      <p:to>
                                        <p:strVal val="visible"/>
                                      </p:to>
                                    </p:set>
                                    <p:anim calcmode="lin" valueType="num">
                                      <p:cBhvr additive="base">
                                        <p:cTn id="7" dur="500" fill="hold"/>
                                        <p:tgtEl>
                                          <p:spTgt spid="354307">
                                            <p:txEl>
                                              <p:pRg st="4294967295" end="429496729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4307">
                                            <p:txEl>
                                              <p:pRg st="4294967295" end="4294967295"/>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54307">
                                            <p:txEl>
                                              <p:pRg st="0" end="0"/>
                                            </p:txEl>
                                          </p:spTgt>
                                        </p:tgtEl>
                                        <p:attrNameLst>
                                          <p:attrName>style.visibility</p:attrName>
                                        </p:attrNameLst>
                                      </p:cBhvr>
                                      <p:to>
                                        <p:strVal val="visible"/>
                                      </p:to>
                                    </p:set>
                                    <p:anim calcmode="lin" valueType="num">
                                      <p:cBhvr additive="base">
                                        <p:cTn id="11" dur="500" fill="hold"/>
                                        <p:tgtEl>
                                          <p:spTgt spid="354307">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54307">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54307">
                                            <p:txEl>
                                              <p:pRg st="1" end="1"/>
                                            </p:txEl>
                                          </p:spTgt>
                                        </p:tgtEl>
                                        <p:attrNameLst>
                                          <p:attrName>style.visibility</p:attrName>
                                        </p:attrNameLst>
                                      </p:cBhvr>
                                      <p:to>
                                        <p:strVal val="visible"/>
                                      </p:to>
                                    </p:set>
                                    <p:anim calcmode="lin" valueType="num">
                                      <p:cBhvr additive="base">
                                        <p:cTn id="15" dur="500" fill="hold"/>
                                        <p:tgtEl>
                                          <p:spTgt spid="354307">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54307">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54309"/>
                                        </p:tgtEl>
                                        <p:attrNameLst>
                                          <p:attrName>style.visibility</p:attrName>
                                        </p:attrNameLst>
                                      </p:cBhvr>
                                      <p:to>
                                        <p:strVal val="visible"/>
                                      </p:to>
                                    </p:set>
                                    <p:anim calcmode="lin" valueType="num">
                                      <p:cBhvr additive="base">
                                        <p:cTn id="19" dur="500" fill="hold"/>
                                        <p:tgtEl>
                                          <p:spTgt spid="354309"/>
                                        </p:tgtEl>
                                        <p:attrNameLst>
                                          <p:attrName>ppt_x</p:attrName>
                                        </p:attrNameLst>
                                      </p:cBhvr>
                                      <p:tavLst>
                                        <p:tav tm="0">
                                          <p:val>
                                            <p:strVal val="#ppt_x"/>
                                          </p:val>
                                        </p:tav>
                                        <p:tav tm="100000">
                                          <p:val>
                                            <p:strVal val="#ppt_x"/>
                                          </p:val>
                                        </p:tav>
                                      </p:tavLst>
                                    </p:anim>
                                    <p:anim calcmode="lin" valueType="num">
                                      <p:cBhvr additive="base">
                                        <p:cTn id="20" dur="500" fill="hold"/>
                                        <p:tgtEl>
                                          <p:spTgt spid="354309"/>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54315"/>
                                        </p:tgtEl>
                                        <p:attrNameLst>
                                          <p:attrName>style.visibility</p:attrName>
                                        </p:attrNameLst>
                                      </p:cBhvr>
                                      <p:to>
                                        <p:strVal val="visible"/>
                                      </p:to>
                                    </p:set>
                                    <p:anim calcmode="lin" valueType="num">
                                      <p:cBhvr additive="base">
                                        <p:cTn id="23" dur="500" fill="hold"/>
                                        <p:tgtEl>
                                          <p:spTgt spid="354315"/>
                                        </p:tgtEl>
                                        <p:attrNameLst>
                                          <p:attrName>ppt_x</p:attrName>
                                        </p:attrNameLst>
                                      </p:cBhvr>
                                      <p:tavLst>
                                        <p:tav tm="0">
                                          <p:val>
                                            <p:strVal val="#ppt_x"/>
                                          </p:val>
                                        </p:tav>
                                        <p:tav tm="100000">
                                          <p:val>
                                            <p:strVal val="#ppt_x"/>
                                          </p:val>
                                        </p:tav>
                                      </p:tavLst>
                                    </p:anim>
                                    <p:anim calcmode="lin" valueType="num">
                                      <p:cBhvr additive="base">
                                        <p:cTn id="24" dur="500" fill="hold"/>
                                        <p:tgtEl>
                                          <p:spTgt spid="35431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54307">
                                            <p:txEl>
                                              <p:pRg st="3" end="3"/>
                                            </p:txEl>
                                          </p:spTgt>
                                        </p:tgtEl>
                                        <p:attrNameLst>
                                          <p:attrName>style.visibility</p:attrName>
                                        </p:attrNameLst>
                                      </p:cBhvr>
                                      <p:to>
                                        <p:strVal val="visible"/>
                                      </p:to>
                                    </p:set>
                                    <p:anim calcmode="lin" valueType="num">
                                      <p:cBhvr additive="base">
                                        <p:cTn id="29" dur="500" fill="hold"/>
                                        <p:tgtEl>
                                          <p:spTgt spid="354307">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54307">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54307">
                                            <p:txEl>
                                              <p:pRg st="4" end="4"/>
                                            </p:txEl>
                                          </p:spTgt>
                                        </p:tgtEl>
                                        <p:attrNameLst>
                                          <p:attrName>style.visibility</p:attrName>
                                        </p:attrNameLst>
                                      </p:cBhvr>
                                      <p:to>
                                        <p:strVal val="visible"/>
                                      </p:to>
                                    </p:set>
                                    <p:anim calcmode="lin" valueType="num">
                                      <p:cBhvr additive="base">
                                        <p:cTn id="33" dur="500" fill="hold"/>
                                        <p:tgtEl>
                                          <p:spTgt spid="354307">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54307">
                                            <p:txEl>
                                              <p:pRg st="4" end="4"/>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54307">
                                            <p:txEl>
                                              <p:pRg st="5" end="5"/>
                                            </p:txEl>
                                          </p:spTgt>
                                        </p:tgtEl>
                                        <p:attrNameLst>
                                          <p:attrName>style.visibility</p:attrName>
                                        </p:attrNameLst>
                                      </p:cBhvr>
                                      <p:to>
                                        <p:strVal val="visible"/>
                                      </p:to>
                                    </p:set>
                                    <p:anim calcmode="lin" valueType="num">
                                      <p:cBhvr additive="base">
                                        <p:cTn id="37" dur="500" fill="hold"/>
                                        <p:tgtEl>
                                          <p:spTgt spid="35430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54307">
                                            <p:txEl>
                                              <p:pRg st="5" end="5"/>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54307">
                                            <p:txEl>
                                              <p:pRg st="6" end="6"/>
                                            </p:txEl>
                                          </p:spTgt>
                                        </p:tgtEl>
                                        <p:attrNameLst>
                                          <p:attrName>style.visibility</p:attrName>
                                        </p:attrNameLst>
                                      </p:cBhvr>
                                      <p:to>
                                        <p:strVal val="visible"/>
                                      </p:to>
                                    </p:set>
                                    <p:anim calcmode="lin" valueType="num">
                                      <p:cBhvr additive="base">
                                        <p:cTn id="41" dur="500" fill="hold"/>
                                        <p:tgtEl>
                                          <p:spTgt spid="354307">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54307">
                                            <p:txEl>
                                              <p:pRg st="6" end="6"/>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54316"/>
                                        </p:tgtEl>
                                        <p:attrNameLst>
                                          <p:attrName>style.visibility</p:attrName>
                                        </p:attrNameLst>
                                      </p:cBhvr>
                                      <p:to>
                                        <p:strVal val="visible"/>
                                      </p:to>
                                    </p:set>
                                    <p:anim calcmode="lin" valueType="num">
                                      <p:cBhvr additive="base">
                                        <p:cTn id="45" dur="500" fill="hold"/>
                                        <p:tgtEl>
                                          <p:spTgt spid="354316"/>
                                        </p:tgtEl>
                                        <p:attrNameLst>
                                          <p:attrName>ppt_x</p:attrName>
                                        </p:attrNameLst>
                                      </p:cBhvr>
                                      <p:tavLst>
                                        <p:tav tm="0">
                                          <p:val>
                                            <p:strVal val="#ppt_x"/>
                                          </p:val>
                                        </p:tav>
                                        <p:tav tm="100000">
                                          <p:val>
                                            <p:strVal val="#ppt_x"/>
                                          </p:val>
                                        </p:tav>
                                      </p:tavLst>
                                    </p:anim>
                                    <p:anim calcmode="lin" valueType="num">
                                      <p:cBhvr additive="base">
                                        <p:cTn id="46" dur="500" fill="hold"/>
                                        <p:tgtEl>
                                          <p:spTgt spid="354316"/>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54317"/>
                                        </p:tgtEl>
                                        <p:attrNameLst>
                                          <p:attrName>style.visibility</p:attrName>
                                        </p:attrNameLst>
                                      </p:cBhvr>
                                      <p:to>
                                        <p:strVal val="visible"/>
                                      </p:to>
                                    </p:set>
                                    <p:anim calcmode="lin" valueType="num">
                                      <p:cBhvr additive="base">
                                        <p:cTn id="49" dur="500" fill="hold"/>
                                        <p:tgtEl>
                                          <p:spTgt spid="354317"/>
                                        </p:tgtEl>
                                        <p:attrNameLst>
                                          <p:attrName>ppt_x</p:attrName>
                                        </p:attrNameLst>
                                      </p:cBhvr>
                                      <p:tavLst>
                                        <p:tav tm="0">
                                          <p:val>
                                            <p:strVal val="#ppt_x"/>
                                          </p:val>
                                        </p:tav>
                                        <p:tav tm="100000">
                                          <p:val>
                                            <p:strVal val="#ppt_x"/>
                                          </p:val>
                                        </p:tav>
                                      </p:tavLst>
                                    </p:anim>
                                    <p:anim calcmode="lin" valueType="num">
                                      <p:cBhvr additive="base">
                                        <p:cTn id="50" dur="500" fill="hold"/>
                                        <p:tgtEl>
                                          <p:spTgt spid="3543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07"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B173E792-7E17-4530-9222-5302B3F32E0D}" type="slidenum">
              <a:rPr lang="en-US" altLang="zh-CN"/>
            </a:fld>
            <a:endParaRPr lang="en-US" altLang="zh-CN"/>
          </a:p>
        </p:txBody>
      </p:sp>
      <p:sp>
        <p:nvSpPr>
          <p:cNvPr id="357380" name="Text Box 4"/>
          <p:cNvSpPr txBox="1">
            <a:spLocks noChangeArrowheads="1"/>
          </p:cNvSpPr>
          <p:nvPr/>
        </p:nvSpPr>
        <p:spPr bwMode="auto">
          <a:xfrm>
            <a:off x="468313" y="1196975"/>
            <a:ext cx="8424862" cy="3554413"/>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3200">
                <a:ea typeface="新宋体" panose="02010609030101010101" charset="-122"/>
              </a:rPr>
              <a:t>在指定求根区域</a:t>
            </a:r>
            <a:r>
              <a:rPr lang="en-US" altLang="zh-CN" sz="3200">
                <a:ea typeface="新宋体" panose="02010609030101010101" charset="-122"/>
              </a:rPr>
              <a:t>D</a:t>
            </a:r>
            <a:r>
              <a:rPr lang="zh-CN" altLang="en-US" sz="3200">
                <a:ea typeface="新宋体" panose="02010609030101010101" charset="-122"/>
              </a:rPr>
              <a:t>内，选定一个随机点</a:t>
            </a:r>
            <a:r>
              <a:rPr lang="en-US" altLang="zh-CN" sz="3200">
                <a:ea typeface="新宋体" panose="02010609030101010101" charset="-122"/>
              </a:rPr>
              <a:t>x</a:t>
            </a:r>
            <a:r>
              <a:rPr lang="en-US" altLang="zh-CN" sz="3200" baseline="-25000">
                <a:ea typeface="新宋体" panose="02010609030101010101" charset="-122"/>
              </a:rPr>
              <a:t>0</a:t>
            </a:r>
            <a:r>
              <a:rPr lang="zh-CN" altLang="en-US" sz="3200">
                <a:ea typeface="新宋体" panose="02010609030101010101" charset="-122"/>
              </a:rPr>
              <a:t>作为随机搜索的出发点。在算法的搜索过程中，假设第</a:t>
            </a:r>
            <a:r>
              <a:rPr lang="en-US" altLang="zh-CN" sz="3200">
                <a:ea typeface="新宋体" panose="02010609030101010101" charset="-122"/>
              </a:rPr>
              <a:t>j</a:t>
            </a:r>
            <a:r>
              <a:rPr lang="zh-CN" altLang="en-US" sz="3200">
                <a:ea typeface="新宋体" panose="02010609030101010101" charset="-122"/>
              </a:rPr>
              <a:t>步随机搜索得到的随机搜索点为</a:t>
            </a:r>
            <a:r>
              <a:rPr lang="en-US" altLang="zh-CN" sz="3200">
                <a:ea typeface="新宋体" panose="02010609030101010101" charset="-122"/>
              </a:rPr>
              <a:t>x</a:t>
            </a:r>
            <a:r>
              <a:rPr lang="en-US" altLang="zh-CN" sz="3200" baseline="-25000">
                <a:ea typeface="新宋体" panose="02010609030101010101" charset="-122"/>
              </a:rPr>
              <a:t>j</a:t>
            </a:r>
            <a:r>
              <a:rPr lang="zh-CN" altLang="en-US" sz="3200">
                <a:ea typeface="新宋体" panose="02010609030101010101" charset="-122"/>
              </a:rPr>
              <a:t>。在第</a:t>
            </a:r>
            <a:r>
              <a:rPr lang="en-US" altLang="zh-CN" sz="3200">
                <a:ea typeface="新宋体" panose="02010609030101010101" charset="-122"/>
              </a:rPr>
              <a:t>j+1</a:t>
            </a:r>
            <a:r>
              <a:rPr lang="zh-CN" altLang="en-US" sz="3200">
                <a:ea typeface="新宋体" panose="02010609030101010101" charset="-122"/>
              </a:rPr>
              <a:t>步，计算出下一步的随机搜索增量</a:t>
            </a:r>
            <a:r>
              <a:rPr lang="zh-CN" altLang="en-US" sz="3200">
                <a:ea typeface="新宋体" panose="02010609030101010101" charset="-122"/>
                <a:sym typeface="Symbol" panose="05050102010706020507" pitchFamily="18" charset="2"/>
              </a:rPr>
              <a:t></a:t>
            </a:r>
            <a:r>
              <a:rPr lang="en-US" altLang="zh-CN" sz="3200">
                <a:ea typeface="新宋体" panose="02010609030101010101" charset="-122"/>
                <a:sym typeface="Symbol" panose="05050102010706020507" pitchFamily="18" charset="2"/>
              </a:rPr>
              <a:t>x</a:t>
            </a:r>
            <a:r>
              <a:rPr lang="en-US" altLang="zh-CN" sz="3200" baseline="-25000">
                <a:ea typeface="新宋体" panose="02010609030101010101" charset="-122"/>
                <a:sym typeface="Symbol" panose="05050102010706020507" pitchFamily="18" charset="2"/>
              </a:rPr>
              <a:t>j</a:t>
            </a:r>
            <a:r>
              <a:rPr lang="zh-CN" altLang="en-US" sz="3200">
                <a:ea typeface="新宋体" panose="02010609030101010101" charset="-122"/>
              </a:rPr>
              <a:t>。从当前点</a:t>
            </a:r>
            <a:r>
              <a:rPr lang="en-US" altLang="zh-CN" sz="3200">
                <a:ea typeface="新宋体" panose="02010609030101010101" charset="-122"/>
              </a:rPr>
              <a:t>x</a:t>
            </a:r>
            <a:r>
              <a:rPr lang="en-US" altLang="zh-CN" sz="3200" baseline="-25000">
                <a:ea typeface="新宋体" panose="02010609030101010101" charset="-122"/>
              </a:rPr>
              <a:t>j</a:t>
            </a:r>
            <a:r>
              <a:rPr lang="zh-CN" altLang="en-US" sz="3200">
                <a:ea typeface="新宋体" panose="02010609030101010101" charset="-122"/>
              </a:rPr>
              <a:t>依</a:t>
            </a:r>
            <a:r>
              <a:rPr lang="zh-CN" altLang="en-US" sz="3200">
                <a:ea typeface="新宋体" panose="02010609030101010101" charset="-122"/>
                <a:sym typeface="Symbol" panose="05050102010706020507" pitchFamily="18" charset="2"/>
              </a:rPr>
              <a:t></a:t>
            </a:r>
            <a:r>
              <a:rPr lang="en-US" altLang="zh-CN" sz="3200">
                <a:ea typeface="新宋体" panose="02010609030101010101" charset="-122"/>
                <a:sym typeface="Symbol" panose="05050102010706020507" pitchFamily="18" charset="2"/>
              </a:rPr>
              <a:t>x</a:t>
            </a:r>
            <a:r>
              <a:rPr lang="en-US" altLang="zh-CN" sz="3200" baseline="-25000">
                <a:ea typeface="新宋体" panose="02010609030101010101" charset="-122"/>
                <a:sym typeface="Symbol" panose="05050102010706020507" pitchFamily="18" charset="2"/>
              </a:rPr>
              <a:t>j</a:t>
            </a:r>
            <a:r>
              <a:rPr lang="zh-CN" altLang="en-US" sz="3200">
                <a:ea typeface="新宋体" panose="02010609030101010101" charset="-122"/>
              </a:rPr>
              <a:t>得到第</a:t>
            </a:r>
            <a:r>
              <a:rPr lang="en-US" altLang="zh-CN" sz="3200">
                <a:ea typeface="新宋体" panose="02010609030101010101" charset="-122"/>
              </a:rPr>
              <a:t>j+1</a:t>
            </a:r>
            <a:r>
              <a:rPr lang="zh-CN" altLang="en-US" sz="3200">
                <a:ea typeface="新宋体" panose="02010609030101010101" charset="-122"/>
              </a:rPr>
              <a:t>步的随机搜索点。</a:t>
            </a:r>
            <a:endParaRPr lang="zh-CN" altLang="en-US" sz="3200">
              <a:ea typeface="新宋体" panose="02010609030101010101" charset="-122"/>
            </a:endParaRPr>
          </a:p>
          <a:p>
            <a:r>
              <a:rPr lang="zh-CN" altLang="en-US" sz="3200">
                <a:ea typeface="新宋体" panose="02010609030101010101" charset="-122"/>
              </a:rPr>
              <a:t>当         </a:t>
            </a:r>
            <a:r>
              <a:rPr lang="en-US" altLang="zh-CN" sz="3200">
                <a:ea typeface="新宋体" panose="02010609030101010101" charset="-122"/>
              </a:rPr>
              <a:t>&lt;</a:t>
            </a:r>
            <a:r>
              <a:rPr lang="en-US" altLang="zh-CN" sz="3200">
                <a:ea typeface="新宋体" panose="02010609030101010101" charset="-122"/>
                <a:sym typeface="Symbol" panose="05050102010706020507" pitchFamily="18" charset="2"/>
              </a:rPr>
              <a:t></a:t>
            </a:r>
            <a:r>
              <a:rPr lang="zh-CN" altLang="en-US" sz="3200">
                <a:ea typeface="新宋体" panose="02010609030101010101" charset="-122"/>
              </a:rPr>
              <a:t>时，取为所求非线性方程组的近似解。否则进行下一步新的随机搜索过程。</a:t>
            </a:r>
            <a:endParaRPr lang="zh-CN" altLang="en-US" sz="3200">
              <a:ea typeface="新宋体" panose="02010609030101010101" charset="-122"/>
            </a:endParaRPr>
          </a:p>
        </p:txBody>
      </p:sp>
      <p:graphicFrame>
        <p:nvGraphicFramePr>
          <p:cNvPr id="357381" name="Object 5"/>
          <p:cNvGraphicFramePr>
            <a:graphicFrameLocks noGrp="1" noChangeAspect="1"/>
          </p:cNvGraphicFramePr>
          <p:nvPr>
            <p:ph/>
          </p:nvPr>
        </p:nvGraphicFramePr>
        <p:xfrm>
          <a:off x="1042988" y="3716338"/>
          <a:ext cx="936625" cy="493712"/>
        </p:xfrm>
        <a:graphic>
          <a:graphicData uri="http://schemas.openxmlformats.org/presentationml/2006/ole">
            <mc:AlternateContent xmlns:mc="http://schemas.openxmlformats.org/markup-compatibility/2006">
              <mc:Choice xmlns:v="urn:schemas-microsoft-com:vml" Requires="v">
                <p:oleObj spid="_x0000_s357385" name="公式" r:id="rId1" imgW="457200" imgH="241300" progId="Equation.3">
                  <p:embed/>
                </p:oleObj>
              </mc:Choice>
              <mc:Fallback>
                <p:oleObj name="公式" r:id="rId1" imgW="457200" imgH="2413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3716338"/>
                        <a:ext cx="936625" cy="493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7383" name="Text Box 7"/>
          <p:cNvSpPr txBox="1">
            <a:spLocks noChangeArrowheads="1"/>
          </p:cNvSpPr>
          <p:nvPr/>
        </p:nvSpPr>
        <p:spPr bwMode="auto">
          <a:xfrm>
            <a:off x="950913" y="5148263"/>
            <a:ext cx="27574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a:t>解读</a:t>
            </a:r>
            <a:r>
              <a:rPr lang="en-US" altLang="zh-CN" sz="3200"/>
              <a:t>P248</a:t>
            </a:r>
            <a:r>
              <a:rPr lang="zh-CN" altLang="en-US" sz="3200"/>
              <a:t>程序</a:t>
            </a:r>
            <a:endParaRPr lang="zh-CN" altLang="en-US" sz="320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p:cNvSpPr>
            <a:spLocks noGrp="1" noChangeArrowheads="1"/>
          </p:cNvSpPr>
          <p:nvPr>
            <p:ph type="sldNum" sz="quarter" idx="4"/>
          </p:nvPr>
        </p:nvSpPr>
        <p:spPr/>
        <p:txBody>
          <a:bodyPr/>
          <a:lstStyle/>
          <a:p>
            <a:fld id="{66545970-2135-4865-AEDC-AA70AE30415A}" type="slidenum">
              <a:rPr lang="en-US" altLang="zh-CN"/>
            </a:fld>
            <a:endParaRPr lang="en-US" altLang="zh-CN"/>
          </a:p>
        </p:txBody>
      </p:sp>
      <p:sp>
        <p:nvSpPr>
          <p:cNvPr id="360450" name="Rectangle 2"/>
          <p:cNvSpPr>
            <a:spLocks noGrp="1" noChangeArrowheads="1"/>
          </p:cNvSpPr>
          <p:nvPr>
            <p:ph type="ctrTitle"/>
          </p:nvPr>
        </p:nvSpPr>
        <p:spPr/>
        <p:txBody>
          <a:bodyPr/>
          <a:lstStyle/>
          <a:p>
            <a:r>
              <a:rPr lang="zh-CN" altLang="en-US" sz="4000">
                <a:latin typeface="黑体" panose="02010609060101010101" pitchFamily="49" charset="-122"/>
                <a:ea typeface="黑体" panose="02010609060101010101" pitchFamily="49" charset="-122"/>
              </a:rPr>
              <a:t>舍伍德</a:t>
            </a:r>
            <a:r>
              <a:rPr lang="en-US" altLang="zh-CN" sz="4000">
                <a:latin typeface="黑体" panose="02010609060101010101" pitchFamily="49" charset="-122"/>
                <a:ea typeface="黑体" panose="02010609060101010101" pitchFamily="49" charset="-122"/>
              </a:rPr>
              <a:t>(Sherwood)</a:t>
            </a:r>
            <a:r>
              <a:rPr lang="zh-CN" altLang="en-US" sz="4000">
                <a:latin typeface="黑体" panose="02010609060101010101" pitchFamily="49" charset="-122"/>
                <a:ea typeface="黑体" panose="02010609060101010101" pitchFamily="49" charset="-122"/>
              </a:rPr>
              <a:t>算法</a:t>
            </a:r>
            <a:endParaRPr lang="zh-CN" altLang="en-US" sz="400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24175976-E212-46E0-BE2C-38B89C4C3D99}" type="slidenum">
              <a:rPr lang="en-US" altLang="zh-CN"/>
            </a:fld>
            <a:endParaRPr lang="en-US" altLang="zh-CN"/>
          </a:p>
        </p:txBody>
      </p:sp>
      <p:sp>
        <p:nvSpPr>
          <p:cNvPr id="361474" name="Rectangle 2"/>
          <p:cNvSpPr>
            <a:spLocks noGrp="1" noChangeArrowheads="1"/>
          </p:cNvSpPr>
          <p:nvPr>
            <p:ph type="title"/>
          </p:nvPr>
        </p:nvSpPr>
        <p:spPr/>
        <p:txBody>
          <a:bodyPr/>
          <a:lstStyle/>
          <a:p>
            <a:r>
              <a:rPr lang="zh-CN" altLang="en-US" sz="3500">
                <a:latin typeface="黑体" panose="02010609060101010101" pitchFamily="49" charset="-122"/>
                <a:ea typeface="黑体" panose="02010609060101010101" pitchFamily="49" charset="-122"/>
              </a:rPr>
              <a:t>舍伍德</a:t>
            </a:r>
            <a:r>
              <a:rPr lang="en-US" altLang="zh-CN" sz="3500">
                <a:latin typeface="黑体" panose="02010609060101010101" pitchFamily="49" charset="-122"/>
                <a:ea typeface="黑体" panose="02010609060101010101" pitchFamily="49" charset="-122"/>
              </a:rPr>
              <a:t>(Sherwood)</a:t>
            </a:r>
            <a:r>
              <a:rPr lang="zh-CN" altLang="en-US" sz="3500">
                <a:latin typeface="黑体" panose="02010609060101010101" pitchFamily="49" charset="-122"/>
                <a:ea typeface="黑体" panose="02010609060101010101" pitchFamily="49" charset="-122"/>
              </a:rPr>
              <a:t>算法</a:t>
            </a:r>
            <a:endParaRPr lang="zh-CN" altLang="en-US" sz="3500">
              <a:latin typeface="黑体" panose="02010609060101010101" pitchFamily="49" charset="-122"/>
              <a:ea typeface="黑体" panose="02010609060101010101" pitchFamily="49" charset="-122"/>
            </a:endParaRPr>
          </a:p>
        </p:txBody>
      </p:sp>
      <p:sp>
        <p:nvSpPr>
          <p:cNvPr id="361476" name="Rectangle 4"/>
          <p:cNvSpPr>
            <a:spLocks noGrp="1" noChangeArrowheads="1"/>
          </p:cNvSpPr>
          <p:nvPr>
            <p:ph type="body" idx="1"/>
          </p:nvPr>
        </p:nvSpPr>
        <p:spPr>
          <a:noFill/>
          <a:extLst>
            <a:ext uri="{91240B29-F687-4F45-9708-019B960494DF}">
              <a14:hiddenLine xmlns:a14="http://schemas.microsoft.com/office/drawing/2010/main" w="9525">
                <a:solidFill>
                  <a:schemeClr val="tx1"/>
                </a:solidFill>
                <a:prstDash val="solid"/>
                <a:miter lim="800000"/>
                <a:headEnd type="none" w="med" len="med"/>
                <a:tailEnd type="none" w="med" len="med"/>
              </a14:hiddenLine>
            </a:ext>
          </a:extLst>
        </p:spPr>
        <p:txBody>
          <a:bodyPr/>
          <a:lstStyle/>
          <a:p>
            <a:pPr>
              <a:spcBef>
                <a:spcPct val="0"/>
              </a:spcBef>
              <a:buClrTx/>
              <a:buSzTx/>
              <a:buFontTx/>
              <a:buChar char="•"/>
            </a:pPr>
            <a:r>
              <a:rPr lang="zh-CN" altLang="en-US" sz="2800" b="1">
                <a:ea typeface="新宋体" panose="02010609030101010101" charset="-122"/>
              </a:rPr>
              <a:t>舍伍德算法总能求得问题的一个解，且所求得的解总是正确的。</a:t>
            </a:r>
            <a:endParaRPr lang="zh-CN" altLang="en-US" sz="2800" b="1">
              <a:ea typeface="新宋体" panose="02010609030101010101" charset="-122"/>
            </a:endParaRPr>
          </a:p>
          <a:p>
            <a:pPr>
              <a:spcBef>
                <a:spcPct val="0"/>
              </a:spcBef>
              <a:buClrTx/>
              <a:buSzTx/>
              <a:buFontTx/>
              <a:buChar char="•"/>
            </a:pPr>
            <a:r>
              <a:rPr lang="zh-CN" altLang="en-US" sz="2800" b="1">
                <a:ea typeface="新宋体" panose="02010609030101010101" charset="-122"/>
              </a:rPr>
              <a:t>当一个确定性算法在最坏情况下的计算复杂性与其在平均情况下的计算复杂性有较大差别时，可以在这个确定算法中引入随机性将它改造成一个舍伍德算法，消除或减少问题的好坏实例间的这种差别。</a:t>
            </a:r>
            <a:endParaRPr lang="zh-CN" altLang="en-US" sz="2800" b="1">
              <a:ea typeface="新宋体" panose="02010609030101010101" charset="-122"/>
            </a:endParaRPr>
          </a:p>
          <a:p>
            <a:pPr>
              <a:spcBef>
                <a:spcPct val="0"/>
              </a:spcBef>
              <a:buClrTx/>
              <a:buSzTx/>
              <a:buFontTx/>
              <a:buChar char="•"/>
            </a:pPr>
            <a:r>
              <a:rPr lang="zh-CN" altLang="en-US" sz="2800" b="1">
                <a:ea typeface="新宋体" panose="02010609030101010101" charset="-122"/>
              </a:rPr>
              <a:t>舍伍德算法精髓不是避免算法的最坏情况行为，而是设法消除这种最坏行为与特定实例之间的关联性。</a:t>
            </a:r>
            <a:br>
              <a:rPr lang="zh-CN" altLang="en-US" sz="2800" b="1">
                <a:ea typeface="新宋体" panose="02010609030101010101" charset="-122"/>
              </a:rPr>
            </a:br>
            <a:endParaRPr lang="zh-CN" altLang="en-US" sz="2800" b="1">
              <a:ea typeface="新宋体" panose="0201060903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fld id="{F6E5FC44-7D0F-43A1-8EA9-5B8BA5B753B8}" type="slidenum">
              <a:rPr lang="en-US" altLang="zh-CN"/>
            </a:fld>
            <a:endParaRPr lang="en-US" altLang="zh-CN"/>
          </a:p>
        </p:txBody>
      </p:sp>
      <p:sp>
        <p:nvSpPr>
          <p:cNvPr id="293892" name="Rectangle 4"/>
          <p:cNvSpPr>
            <a:spLocks noChangeArrowheads="1"/>
          </p:cNvSpPr>
          <p:nvPr/>
        </p:nvSpPr>
        <p:spPr bwMode="auto">
          <a:xfrm>
            <a:off x="684213"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500" b="1">
                <a:solidFill>
                  <a:schemeClr val="tx2"/>
                </a:solidFill>
                <a:latin typeface="黑体" panose="02010609060101010101" pitchFamily="49" charset="-122"/>
                <a:ea typeface="黑体" panose="02010609060101010101" pitchFamily="49" charset="-122"/>
              </a:rPr>
              <a:t>舍伍德</a:t>
            </a:r>
            <a:r>
              <a:rPr lang="en-US" altLang="zh-CN" sz="3500" b="1">
                <a:solidFill>
                  <a:schemeClr val="tx2"/>
                </a:solidFill>
                <a:latin typeface="黑体" panose="02010609060101010101" pitchFamily="49" charset="-122"/>
                <a:ea typeface="黑体" panose="02010609060101010101" pitchFamily="49" charset="-122"/>
              </a:rPr>
              <a:t>(Sherwood)</a:t>
            </a:r>
            <a:r>
              <a:rPr lang="zh-CN" altLang="en-US" sz="3500" b="1">
                <a:solidFill>
                  <a:schemeClr val="tx2"/>
                </a:solidFill>
                <a:latin typeface="黑体" panose="02010609060101010101" pitchFamily="49" charset="-122"/>
                <a:ea typeface="黑体" panose="02010609060101010101" pitchFamily="49" charset="-122"/>
              </a:rPr>
              <a:t>算法</a:t>
            </a:r>
            <a:endParaRPr lang="zh-CN" altLang="en-US" sz="3500" b="1">
              <a:solidFill>
                <a:schemeClr val="tx2"/>
              </a:solidFill>
              <a:latin typeface="黑体" panose="02010609060101010101" pitchFamily="49" charset="-122"/>
              <a:ea typeface="黑体" panose="02010609060101010101" pitchFamily="49" charset="-122"/>
            </a:endParaRPr>
          </a:p>
        </p:txBody>
      </p:sp>
      <p:sp>
        <p:nvSpPr>
          <p:cNvPr id="293893" name="Text Box 5"/>
          <p:cNvSpPr txBox="1">
            <a:spLocks noChangeArrowheads="1"/>
          </p:cNvSpPr>
          <p:nvPr/>
        </p:nvSpPr>
        <p:spPr bwMode="auto">
          <a:xfrm>
            <a:off x="179388" y="765175"/>
            <a:ext cx="8805862" cy="1187450"/>
          </a:xfrm>
          <a:prstGeom prst="rect">
            <a:avLst/>
          </a:prstGeom>
          <a:solidFill>
            <a:schemeClr val="bg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设</a:t>
            </a:r>
            <a:r>
              <a:rPr lang="en-US" altLang="zh-CN" sz="2400">
                <a:ea typeface="新宋体" panose="02010609030101010101" charset="-122"/>
              </a:rPr>
              <a:t>A</a:t>
            </a:r>
            <a:r>
              <a:rPr lang="zh-CN" altLang="en-US" sz="2400">
                <a:ea typeface="新宋体" panose="02010609030101010101" charset="-122"/>
              </a:rPr>
              <a:t>是一个确定性算法，当它的输入实例为</a:t>
            </a:r>
            <a:r>
              <a:rPr lang="en-US" altLang="zh-CN" sz="2400">
                <a:ea typeface="新宋体" panose="02010609030101010101" charset="-122"/>
              </a:rPr>
              <a:t>x</a:t>
            </a:r>
            <a:r>
              <a:rPr lang="zh-CN" altLang="en-US" sz="2400">
                <a:ea typeface="新宋体" panose="02010609030101010101" charset="-122"/>
              </a:rPr>
              <a:t>时所需的计算时间记为</a:t>
            </a:r>
            <a:r>
              <a:rPr lang="en-US" altLang="zh-CN" sz="2400">
                <a:ea typeface="新宋体" panose="02010609030101010101" charset="-122"/>
              </a:rPr>
              <a:t>t</a:t>
            </a:r>
            <a:r>
              <a:rPr lang="en-US" altLang="zh-CN" sz="2400" baseline="-25000">
                <a:ea typeface="新宋体" panose="02010609030101010101" charset="-122"/>
              </a:rPr>
              <a:t>A(x)</a:t>
            </a:r>
            <a:r>
              <a:rPr lang="zh-CN" altLang="en-US" sz="2400">
                <a:ea typeface="新宋体" panose="02010609030101010101" charset="-122"/>
              </a:rPr>
              <a:t>。设</a:t>
            </a:r>
            <a:r>
              <a:rPr lang="en-US" altLang="zh-CN" sz="2400">
                <a:ea typeface="新宋体" panose="02010609030101010101" charset="-122"/>
              </a:rPr>
              <a:t>X</a:t>
            </a:r>
            <a:r>
              <a:rPr lang="en-US" altLang="zh-CN" sz="2400" baseline="-25000">
                <a:ea typeface="新宋体" panose="02010609030101010101" charset="-122"/>
              </a:rPr>
              <a:t>n</a:t>
            </a:r>
            <a:r>
              <a:rPr lang="zh-CN" altLang="en-US" sz="2400">
                <a:ea typeface="新宋体" panose="02010609030101010101" charset="-122"/>
              </a:rPr>
              <a:t>是算法</a:t>
            </a:r>
            <a:r>
              <a:rPr lang="en-US" altLang="zh-CN" sz="2400">
                <a:ea typeface="新宋体" panose="02010609030101010101" charset="-122"/>
              </a:rPr>
              <a:t>A</a:t>
            </a:r>
            <a:r>
              <a:rPr lang="zh-CN" altLang="en-US" sz="2400">
                <a:ea typeface="新宋体" panose="02010609030101010101" charset="-122"/>
              </a:rPr>
              <a:t>的输入规模为</a:t>
            </a:r>
            <a:r>
              <a:rPr lang="en-US" altLang="zh-CN" sz="2400">
                <a:ea typeface="新宋体" panose="02010609030101010101" charset="-122"/>
              </a:rPr>
              <a:t>n</a:t>
            </a:r>
            <a:r>
              <a:rPr lang="zh-CN" altLang="en-US" sz="2400">
                <a:ea typeface="新宋体" panose="02010609030101010101" charset="-122"/>
              </a:rPr>
              <a:t>的实例的全体，则当问题的输入规模为</a:t>
            </a:r>
            <a:r>
              <a:rPr lang="en-US" altLang="zh-CN" sz="2400">
                <a:ea typeface="新宋体" panose="02010609030101010101" charset="-122"/>
              </a:rPr>
              <a:t>n</a:t>
            </a:r>
            <a:r>
              <a:rPr lang="zh-CN" altLang="en-US" sz="2400">
                <a:ea typeface="新宋体" panose="02010609030101010101" charset="-122"/>
              </a:rPr>
              <a:t>时，算法</a:t>
            </a:r>
            <a:r>
              <a:rPr lang="en-US" altLang="zh-CN" sz="2400">
                <a:ea typeface="新宋体" panose="02010609030101010101" charset="-122"/>
              </a:rPr>
              <a:t>A</a:t>
            </a:r>
            <a:r>
              <a:rPr lang="zh-CN" altLang="en-US" sz="2400">
                <a:ea typeface="新宋体" panose="02010609030101010101" charset="-122"/>
              </a:rPr>
              <a:t>所需的平均时间为</a:t>
            </a:r>
            <a:endParaRPr lang="zh-CN" altLang="en-US" sz="2400">
              <a:ea typeface="新宋体" panose="02010609030101010101" charset="-122"/>
            </a:endParaRPr>
          </a:p>
        </p:txBody>
      </p:sp>
      <p:sp>
        <p:nvSpPr>
          <p:cNvPr id="293895" name="Rectangle 7"/>
          <p:cNvSpPr>
            <a:spLocks noChangeArrowheads="1"/>
          </p:cNvSpPr>
          <p:nvPr/>
        </p:nvSpPr>
        <p:spPr bwMode="auto">
          <a:xfrm>
            <a:off x="0" y="3238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aphicFrame>
        <p:nvGraphicFramePr>
          <p:cNvPr id="293894" name="Object 6"/>
          <p:cNvGraphicFramePr>
            <a:graphicFrameLocks noChangeAspect="1"/>
          </p:cNvGraphicFramePr>
          <p:nvPr/>
        </p:nvGraphicFramePr>
        <p:xfrm>
          <a:off x="3059113" y="1916113"/>
          <a:ext cx="2665412" cy="682625"/>
        </p:xfrm>
        <a:graphic>
          <a:graphicData uri="http://schemas.openxmlformats.org/presentationml/2006/ole">
            <mc:AlternateContent xmlns:mc="http://schemas.openxmlformats.org/markup-compatibility/2006">
              <mc:Choice xmlns:v="urn:schemas-microsoft-com:vml" Requires="v">
                <p:oleObj spid="_x0000_s293904" name="公式" r:id="rId1" imgW="1485900" imgH="381000" progId="Equation.3">
                  <p:embed/>
                </p:oleObj>
              </mc:Choice>
              <mc:Fallback>
                <p:oleObj name="公式" r:id="rId1" imgW="1485900" imgH="3810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113" y="1916113"/>
                        <a:ext cx="2665412" cy="682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3896" name="Text Box 8"/>
          <p:cNvSpPr txBox="1">
            <a:spLocks noChangeArrowheads="1"/>
          </p:cNvSpPr>
          <p:nvPr/>
        </p:nvSpPr>
        <p:spPr bwMode="auto">
          <a:xfrm>
            <a:off x="231775" y="2511425"/>
            <a:ext cx="8588375"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这显然不能排除存在</a:t>
            </a:r>
            <a:r>
              <a:rPr lang="en-US" altLang="zh-CN" sz="2400">
                <a:ea typeface="新宋体" panose="02010609030101010101" charset="-122"/>
              </a:rPr>
              <a:t>x∈Xn</a:t>
            </a:r>
            <a:r>
              <a:rPr lang="zh-CN" altLang="en-US" sz="2400">
                <a:ea typeface="新宋体" panose="02010609030101010101" charset="-122"/>
              </a:rPr>
              <a:t>使得                 的可能性。希望获得一个随机化算法</a:t>
            </a:r>
            <a:r>
              <a:rPr lang="en-US" altLang="zh-CN" sz="2400">
                <a:ea typeface="新宋体" panose="02010609030101010101" charset="-122"/>
              </a:rPr>
              <a:t>B</a:t>
            </a:r>
            <a:r>
              <a:rPr lang="zh-CN" altLang="en-US" sz="2400">
                <a:ea typeface="新宋体" panose="02010609030101010101" charset="-122"/>
              </a:rPr>
              <a:t>，使得对问题的输入规模为</a:t>
            </a:r>
            <a:r>
              <a:rPr lang="en-US" altLang="zh-CN" sz="2400">
                <a:ea typeface="新宋体" panose="02010609030101010101" charset="-122"/>
              </a:rPr>
              <a:t>n</a:t>
            </a:r>
            <a:r>
              <a:rPr lang="zh-CN" altLang="en-US" sz="2400">
                <a:ea typeface="新宋体" panose="02010609030101010101" charset="-122"/>
              </a:rPr>
              <a:t>的每一个实例均有</a:t>
            </a:r>
            <a:endParaRPr lang="zh-CN" altLang="en-US" sz="2400">
              <a:ea typeface="新宋体" panose="02010609030101010101" charset="-122"/>
            </a:endParaRPr>
          </a:p>
          <a:p>
            <a:endParaRPr lang="zh-CN" altLang="en-US" sz="2400">
              <a:ea typeface="新宋体" panose="02010609030101010101" charset="-122"/>
            </a:endParaRPr>
          </a:p>
          <a:p>
            <a:endParaRPr lang="zh-CN" altLang="en-US" sz="2400">
              <a:ea typeface="新宋体" panose="02010609030101010101" charset="-122"/>
            </a:endParaRPr>
          </a:p>
          <a:p>
            <a:r>
              <a:rPr lang="zh-CN" altLang="en-US" sz="2400">
                <a:ea typeface="新宋体" panose="02010609030101010101" charset="-122"/>
              </a:rPr>
              <a:t>这就是舍伍德算法设计的基本思想。当</a:t>
            </a:r>
            <a:r>
              <a:rPr lang="en-US" altLang="zh-CN" sz="2400">
                <a:ea typeface="新宋体" panose="02010609030101010101" charset="-122"/>
              </a:rPr>
              <a:t>s(n)</a:t>
            </a:r>
            <a:r>
              <a:rPr lang="zh-CN" altLang="en-US" sz="2400">
                <a:ea typeface="新宋体" panose="02010609030101010101" charset="-122"/>
              </a:rPr>
              <a:t>与</a:t>
            </a:r>
            <a:r>
              <a:rPr lang="en-US" altLang="zh-CN" sz="2400">
                <a:ea typeface="新宋体" panose="02010609030101010101" charset="-122"/>
              </a:rPr>
              <a:t>t</a:t>
            </a:r>
            <a:r>
              <a:rPr lang="en-US" altLang="zh-CN" sz="2400" baseline="-25000">
                <a:ea typeface="新宋体" panose="02010609030101010101" charset="-122"/>
              </a:rPr>
              <a:t>A(n)</a:t>
            </a:r>
            <a:r>
              <a:rPr lang="zh-CN" altLang="en-US" sz="2400">
                <a:ea typeface="新宋体" panose="02010609030101010101" charset="-122"/>
              </a:rPr>
              <a:t>相比可忽略时，舍伍德算法可获得很好的平均性能。</a:t>
            </a:r>
            <a:endParaRPr lang="zh-CN" altLang="en-US" sz="2400">
              <a:ea typeface="新宋体" panose="02010609030101010101" charset="-122"/>
            </a:endParaRPr>
          </a:p>
        </p:txBody>
      </p:sp>
      <p:sp>
        <p:nvSpPr>
          <p:cNvPr id="293898" name="Rectangle 10"/>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aphicFrame>
        <p:nvGraphicFramePr>
          <p:cNvPr id="293897" name="Object 9"/>
          <p:cNvGraphicFramePr>
            <a:graphicFrameLocks noChangeAspect="1"/>
          </p:cNvGraphicFramePr>
          <p:nvPr/>
        </p:nvGraphicFramePr>
        <p:xfrm>
          <a:off x="4500563" y="2565400"/>
          <a:ext cx="1439862" cy="363538"/>
        </p:xfrm>
        <a:graphic>
          <a:graphicData uri="http://schemas.openxmlformats.org/presentationml/2006/ole">
            <mc:AlternateContent xmlns:mc="http://schemas.openxmlformats.org/markup-compatibility/2006">
              <mc:Choice xmlns:v="urn:schemas-microsoft-com:vml" Requires="v">
                <p:oleObj spid="_x0000_s293905" name="公式" r:id="rId3" imgW="939165" imgH="241300" progId="Equation.3">
                  <p:embed/>
                </p:oleObj>
              </mc:Choice>
              <mc:Fallback>
                <p:oleObj name="公式" r:id="rId3" imgW="939165" imgH="2413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0563" y="2565400"/>
                        <a:ext cx="1439862" cy="363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3900" name="Rectangle 12"/>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aphicFrame>
        <p:nvGraphicFramePr>
          <p:cNvPr id="293899" name="Object 11"/>
          <p:cNvGraphicFramePr>
            <a:graphicFrameLocks noChangeAspect="1"/>
          </p:cNvGraphicFramePr>
          <p:nvPr/>
        </p:nvGraphicFramePr>
        <p:xfrm>
          <a:off x="3132138" y="3357563"/>
          <a:ext cx="2592387" cy="495300"/>
        </p:xfrm>
        <a:graphic>
          <a:graphicData uri="http://schemas.openxmlformats.org/presentationml/2006/ole">
            <mc:AlternateContent xmlns:mc="http://schemas.openxmlformats.org/markup-compatibility/2006">
              <mc:Choice xmlns:v="urn:schemas-microsoft-com:vml" Requires="v">
                <p:oleObj spid="_x0000_s293906" name="公式" r:id="rId5" imgW="1244600" imgH="241300" progId="Equation.3">
                  <p:embed/>
                </p:oleObj>
              </mc:Choice>
              <mc:Fallback>
                <p:oleObj name="公式" r:id="rId5" imgW="1244600" imgH="2413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32138" y="3357563"/>
                        <a:ext cx="2592387"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fld id="{79CACAFE-58F7-49A7-A604-DF2559A4C4BC}" type="slidenum">
              <a:rPr lang="en-US" altLang="zh-CN"/>
            </a:fld>
            <a:endParaRPr lang="en-US" altLang="zh-CN"/>
          </a:p>
        </p:txBody>
      </p:sp>
      <p:sp>
        <p:nvSpPr>
          <p:cNvPr id="297988" name="Rectangle 4"/>
          <p:cNvSpPr>
            <a:spLocks noChangeArrowheads="1"/>
          </p:cNvSpPr>
          <p:nvPr/>
        </p:nvSpPr>
        <p:spPr bwMode="auto">
          <a:xfrm>
            <a:off x="684213"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500" b="1">
                <a:solidFill>
                  <a:schemeClr val="tx2"/>
                </a:solidFill>
                <a:latin typeface="黑体" panose="02010609060101010101" pitchFamily="49" charset="-122"/>
                <a:ea typeface="黑体" panose="02010609060101010101" pitchFamily="49" charset="-122"/>
              </a:rPr>
              <a:t>舍伍德</a:t>
            </a:r>
            <a:r>
              <a:rPr lang="en-US" altLang="zh-CN" sz="3500" b="1">
                <a:solidFill>
                  <a:schemeClr val="tx2"/>
                </a:solidFill>
                <a:latin typeface="黑体" panose="02010609060101010101" pitchFamily="49" charset="-122"/>
                <a:ea typeface="黑体" panose="02010609060101010101" pitchFamily="49" charset="-122"/>
              </a:rPr>
              <a:t>(Sherwood)</a:t>
            </a:r>
            <a:r>
              <a:rPr lang="zh-CN" altLang="en-US" sz="3500" b="1">
                <a:solidFill>
                  <a:schemeClr val="tx2"/>
                </a:solidFill>
                <a:latin typeface="黑体" panose="02010609060101010101" pitchFamily="49" charset="-122"/>
                <a:ea typeface="黑体" panose="02010609060101010101" pitchFamily="49" charset="-122"/>
              </a:rPr>
              <a:t>算法</a:t>
            </a:r>
            <a:endParaRPr lang="zh-CN" altLang="en-US" sz="3500" b="1">
              <a:solidFill>
                <a:schemeClr val="tx2"/>
              </a:solidFill>
              <a:latin typeface="黑体" panose="02010609060101010101" pitchFamily="49" charset="-122"/>
              <a:ea typeface="黑体" panose="02010609060101010101" pitchFamily="49" charset="-122"/>
            </a:endParaRPr>
          </a:p>
        </p:txBody>
      </p:sp>
      <p:sp>
        <p:nvSpPr>
          <p:cNvPr id="297989" name="Text Box 5"/>
          <p:cNvSpPr txBox="1">
            <a:spLocks noChangeArrowheads="1"/>
          </p:cNvSpPr>
          <p:nvPr/>
        </p:nvSpPr>
        <p:spPr bwMode="auto">
          <a:xfrm>
            <a:off x="250825" y="692150"/>
            <a:ext cx="8642350"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复习学过的</a:t>
            </a:r>
            <a:r>
              <a:rPr lang="en-US" altLang="zh-CN" sz="2400">
                <a:ea typeface="新宋体" panose="02010609030101010101" charset="-122"/>
              </a:rPr>
              <a:t>Sherwood</a:t>
            </a:r>
            <a:r>
              <a:rPr lang="zh-CN" altLang="en-US" sz="2400">
                <a:ea typeface="新宋体" panose="02010609030101010101" charset="-122"/>
              </a:rPr>
              <a:t>算法：</a:t>
            </a:r>
            <a:endParaRPr lang="zh-CN" altLang="en-US" sz="2400">
              <a:ea typeface="新宋体" panose="02010609030101010101" charset="-122"/>
            </a:endParaRPr>
          </a:p>
          <a:p>
            <a:r>
              <a:rPr lang="zh-CN" altLang="en-US" sz="2400">
                <a:ea typeface="新宋体" panose="02010609030101010101" charset="-122"/>
              </a:rPr>
              <a:t>（</a:t>
            </a:r>
            <a:r>
              <a:rPr lang="en-US" altLang="zh-CN" sz="2400">
                <a:ea typeface="新宋体" panose="02010609030101010101" charset="-122"/>
              </a:rPr>
              <a:t>1</a:t>
            </a:r>
            <a:r>
              <a:rPr lang="zh-CN" altLang="en-US" sz="2400">
                <a:ea typeface="新宋体" panose="02010609030101010101" charset="-122"/>
              </a:rPr>
              <a:t>）线性时间选择算法</a:t>
            </a:r>
            <a:endParaRPr lang="zh-CN" altLang="en-US" sz="2400">
              <a:ea typeface="新宋体" panose="02010609030101010101" charset="-122"/>
            </a:endParaRPr>
          </a:p>
          <a:p>
            <a:r>
              <a:rPr lang="zh-CN" altLang="en-US" sz="2400">
                <a:ea typeface="新宋体" panose="02010609030101010101" charset="-122"/>
              </a:rPr>
              <a:t>（</a:t>
            </a:r>
            <a:r>
              <a:rPr lang="en-US" altLang="zh-CN" sz="2400">
                <a:ea typeface="新宋体" panose="02010609030101010101" charset="-122"/>
              </a:rPr>
              <a:t>2</a:t>
            </a:r>
            <a:r>
              <a:rPr lang="zh-CN" altLang="en-US" sz="2400">
                <a:ea typeface="新宋体" panose="02010609030101010101" charset="-122"/>
              </a:rPr>
              <a:t>）快速排序算法</a:t>
            </a:r>
            <a:endParaRPr lang="zh-CN" altLang="en-US" sz="2400">
              <a:ea typeface="新宋体" panose="02010609030101010101" charset="-122"/>
            </a:endParaRPr>
          </a:p>
          <a:p>
            <a:r>
              <a:rPr lang="zh-CN" altLang="en-US" sz="2400">
                <a:ea typeface="新宋体" panose="02010609030101010101" charset="-122"/>
              </a:rPr>
              <a:t>有时也会遇到这样的情况，即所给的确定性算法无法直接改造成舍伍德型算法。此时可借助于随机预处理技术，不改变原有的确定性算法，仅对其输入进行随机洗牌，同样可收到舍伍德算法的效果。例如，对于确定性选择算法，可以用下面的洗牌算法</a:t>
            </a:r>
            <a:r>
              <a:rPr lang="en-US" altLang="zh-CN" sz="2400" b="1">
                <a:ea typeface="新宋体" panose="02010609030101010101" charset="-122"/>
              </a:rPr>
              <a:t>shuffle</a:t>
            </a:r>
            <a:r>
              <a:rPr lang="zh-CN" altLang="en-US" sz="2400">
                <a:ea typeface="新宋体" panose="02010609030101010101" charset="-122"/>
              </a:rPr>
              <a:t>将数组</a:t>
            </a:r>
            <a:r>
              <a:rPr lang="en-US" altLang="zh-CN" sz="2400">
                <a:ea typeface="新宋体" panose="02010609030101010101" charset="-122"/>
              </a:rPr>
              <a:t>a</a:t>
            </a:r>
            <a:r>
              <a:rPr lang="zh-CN" altLang="en-US" sz="2400">
                <a:ea typeface="新宋体" panose="02010609030101010101" charset="-122"/>
              </a:rPr>
              <a:t>中元素随机排列，然后用确定性选择算法求解。这样做所收到的效果与舍伍德型算法的效果是一样的。 </a:t>
            </a:r>
            <a:endParaRPr lang="zh-CN" altLang="en-US" sz="2400">
              <a:ea typeface="新宋体" panose="02010609030101010101" charset="-122"/>
            </a:endParaRPr>
          </a:p>
        </p:txBody>
      </p:sp>
      <p:sp>
        <p:nvSpPr>
          <p:cNvPr id="297990" name="Text Box 6"/>
          <p:cNvSpPr txBox="1">
            <a:spLocks noChangeArrowheads="1"/>
          </p:cNvSpPr>
          <p:nvPr/>
        </p:nvSpPr>
        <p:spPr bwMode="auto">
          <a:xfrm>
            <a:off x="468313" y="4105275"/>
            <a:ext cx="2727325" cy="2506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pPr>
              <a:lnSpc>
                <a:spcPct val="110000"/>
              </a:lnSpc>
            </a:pPr>
            <a:r>
              <a:rPr lang="en-US" altLang="zh-CN" sz="1600"/>
              <a:t>template&lt;class Type&gt;</a:t>
            </a:r>
            <a:endParaRPr lang="en-US" altLang="zh-CN" sz="1600"/>
          </a:p>
          <a:p>
            <a:pPr>
              <a:lnSpc>
                <a:spcPct val="110000"/>
              </a:lnSpc>
            </a:pPr>
            <a:r>
              <a:rPr lang="en-US" altLang="zh-CN" sz="1600"/>
              <a:t>void </a:t>
            </a:r>
            <a:r>
              <a:rPr lang="en-US" altLang="zh-CN" sz="1600" b="1"/>
              <a:t>Shuffle</a:t>
            </a:r>
            <a:r>
              <a:rPr lang="en-US" altLang="zh-CN" sz="1600"/>
              <a:t>(Type a[], int n)</a:t>
            </a:r>
            <a:endParaRPr lang="en-US" altLang="zh-CN" sz="1600"/>
          </a:p>
          <a:p>
            <a:pPr>
              <a:lnSpc>
                <a:spcPct val="110000"/>
              </a:lnSpc>
            </a:pPr>
            <a:r>
              <a:rPr lang="en-US" altLang="zh-CN" sz="1600"/>
              <a:t>{// </a:t>
            </a:r>
            <a:r>
              <a:rPr lang="zh-CN" altLang="en-US" sz="1600"/>
              <a:t>随机洗牌算法</a:t>
            </a:r>
            <a:endParaRPr lang="zh-CN" altLang="en-US" sz="1600"/>
          </a:p>
          <a:p>
            <a:pPr>
              <a:lnSpc>
                <a:spcPct val="110000"/>
              </a:lnSpc>
            </a:pPr>
            <a:r>
              <a:rPr lang="zh-CN" altLang="en-US" sz="1600"/>
              <a:t>  </a:t>
            </a:r>
            <a:r>
              <a:rPr lang="en-US" altLang="zh-CN" sz="1600"/>
              <a:t>static RandomNumber rnd;</a:t>
            </a:r>
            <a:endParaRPr lang="en-US" altLang="zh-CN" sz="1600"/>
          </a:p>
          <a:p>
            <a:pPr>
              <a:lnSpc>
                <a:spcPct val="110000"/>
              </a:lnSpc>
            </a:pPr>
            <a:r>
              <a:rPr lang="en-US" altLang="zh-CN" sz="1600"/>
              <a:t>  for (int i=0;i&lt;n;i++) {</a:t>
            </a:r>
            <a:endParaRPr lang="en-US" altLang="zh-CN" sz="1600"/>
          </a:p>
          <a:p>
            <a:pPr>
              <a:lnSpc>
                <a:spcPct val="110000"/>
              </a:lnSpc>
            </a:pPr>
            <a:r>
              <a:rPr lang="en-US" altLang="zh-CN" sz="1600"/>
              <a:t>    int j=rnd.Random(n-i)+i;</a:t>
            </a:r>
            <a:endParaRPr lang="en-US" altLang="zh-CN" sz="1600"/>
          </a:p>
          <a:p>
            <a:pPr>
              <a:lnSpc>
                <a:spcPct val="110000"/>
              </a:lnSpc>
            </a:pPr>
            <a:r>
              <a:rPr lang="en-US" altLang="zh-CN" sz="1600"/>
              <a:t>    Swap(a[i], a[j]);</a:t>
            </a:r>
            <a:endParaRPr lang="en-US" altLang="zh-CN" sz="1600"/>
          </a:p>
          <a:p>
            <a:pPr>
              <a:lnSpc>
                <a:spcPct val="110000"/>
              </a:lnSpc>
            </a:pPr>
            <a:r>
              <a:rPr lang="en-US" altLang="zh-CN" sz="1600"/>
              <a:t>    }</a:t>
            </a:r>
            <a:endParaRPr lang="en-US" altLang="zh-CN" sz="1600"/>
          </a:p>
          <a:p>
            <a:pPr>
              <a:lnSpc>
                <a:spcPct val="110000"/>
              </a:lnSpc>
            </a:pPr>
            <a:r>
              <a:rPr lang="en-US" altLang="zh-CN" sz="1600"/>
              <a:t>}</a:t>
            </a:r>
            <a:endParaRPr lang="zh-CN" altLang="en-US" sz="1600"/>
          </a:p>
        </p:txBody>
      </p:sp>
      <p:sp>
        <p:nvSpPr>
          <p:cNvPr id="297991" name="AutoShape 7"/>
          <p:cNvSpPr>
            <a:spLocks noChangeArrowheads="1"/>
          </p:cNvSpPr>
          <p:nvPr/>
        </p:nvSpPr>
        <p:spPr bwMode="auto">
          <a:xfrm>
            <a:off x="4284663" y="765175"/>
            <a:ext cx="2952750" cy="576263"/>
          </a:xfrm>
          <a:prstGeom prst="wedgeRoundRectCallout">
            <a:avLst>
              <a:gd name="adj1" fmla="val -77472"/>
              <a:gd name="adj2" fmla="val 113083"/>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3200"/>
              <a:t>阅读书上例程</a:t>
            </a:r>
            <a:endParaRPr lang="zh-CN" altLang="en-US" sz="320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p:cNvSpPr>
            <a:spLocks noGrp="1" noChangeArrowheads="1"/>
          </p:cNvSpPr>
          <p:nvPr>
            <p:ph type="sldNum" sz="quarter" idx="4"/>
          </p:nvPr>
        </p:nvSpPr>
        <p:spPr/>
        <p:txBody>
          <a:bodyPr/>
          <a:lstStyle/>
          <a:p>
            <a:fld id="{BA7F070A-0462-4F97-8719-34557A3B1809}" type="slidenum">
              <a:rPr lang="en-US" altLang="zh-CN"/>
            </a:fld>
            <a:endParaRPr lang="en-US" altLang="zh-CN"/>
          </a:p>
        </p:txBody>
      </p:sp>
      <p:sp>
        <p:nvSpPr>
          <p:cNvPr id="365570" name="Rectangle 2"/>
          <p:cNvSpPr>
            <a:spLocks noGrp="1" noChangeArrowheads="1"/>
          </p:cNvSpPr>
          <p:nvPr>
            <p:ph type="ctrTitle"/>
          </p:nvPr>
        </p:nvSpPr>
        <p:spPr/>
        <p:txBody>
          <a:bodyPr/>
          <a:lstStyle/>
          <a:p>
            <a:r>
              <a:rPr lang="zh-CN" altLang="en-US" sz="4000">
                <a:latin typeface="黑体" panose="02010609060101010101" pitchFamily="49" charset="-122"/>
                <a:ea typeface="黑体" panose="02010609060101010101" pitchFamily="49" charset="-122"/>
              </a:rPr>
              <a:t>舍伍德</a:t>
            </a:r>
            <a:r>
              <a:rPr lang="en-US" altLang="zh-CN" sz="4000">
                <a:latin typeface="黑体" panose="02010609060101010101" pitchFamily="49" charset="-122"/>
                <a:ea typeface="黑体" panose="02010609060101010101" pitchFamily="49" charset="-122"/>
              </a:rPr>
              <a:t>(Sherwood)</a:t>
            </a:r>
            <a:r>
              <a:rPr lang="zh-CN" altLang="en-US" sz="4000">
                <a:latin typeface="黑体" panose="02010609060101010101" pitchFamily="49" charset="-122"/>
                <a:ea typeface="黑体" panose="02010609060101010101" pitchFamily="49" charset="-122"/>
              </a:rPr>
              <a:t>算法</a:t>
            </a:r>
            <a:endParaRPr lang="zh-CN" altLang="en-US" sz="400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fld id="{A5408C18-7480-42A3-AC2F-DBE69164FA1E}" type="slidenum">
              <a:rPr lang="en-US" altLang="zh-CN"/>
            </a:fld>
            <a:endParaRPr lang="en-US" altLang="zh-CN"/>
          </a:p>
        </p:txBody>
      </p:sp>
      <p:sp>
        <p:nvSpPr>
          <p:cNvPr id="366594" name="Rectangle 2"/>
          <p:cNvSpPr>
            <a:spLocks noChangeArrowheads="1"/>
          </p:cNvSpPr>
          <p:nvPr/>
        </p:nvSpPr>
        <p:spPr bwMode="auto">
          <a:xfrm>
            <a:off x="395288" y="115888"/>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500" b="1">
                <a:solidFill>
                  <a:schemeClr val="tx2"/>
                </a:solidFill>
                <a:latin typeface="黑体" panose="02010609060101010101" pitchFamily="49" charset="-122"/>
                <a:ea typeface="黑体" panose="02010609060101010101" pitchFamily="49" charset="-122"/>
              </a:rPr>
              <a:t>跳跃表</a:t>
            </a:r>
            <a:endParaRPr lang="zh-CN" altLang="en-US" sz="3500" b="1">
              <a:solidFill>
                <a:schemeClr val="tx2"/>
              </a:solidFill>
              <a:latin typeface="黑体" panose="02010609060101010101" pitchFamily="49" charset="-122"/>
              <a:ea typeface="黑体" panose="02010609060101010101" pitchFamily="49" charset="-122"/>
            </a:endParaRPr>
          </a:p>
        </p:txBody>
      </p:sp>
      <p:sp>
        <p:nvSpPr>
          <p:cNvPr id="366595" name="Text Box 3"/>
          <p:cNvSpPr txBox="1">
            <a:spLocks noChangeArrowheads="1"/>
          </p:cNvSpPr>
          <p:nvPr/>
        </p:nvSpPr>
        <p:spPr bwMode="auto">
          <a:xfrm>
            <a:off x="107950" y="836613"/>
            <a:ext cx="8912225" cy="3508375"/>
          </a:xfrm>
          <a:prstGeom prst="rect">
            <a:avLst/>
          </a:prstGeom>
          <a:solidFill>
            <a:schemeClr val="bg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FontTx/>
              <a:buChar char="•"/>
            </a:pPr>
            <a:r>
              <a:rPr lang="zh-CN" altLang="en-US" sz="2800">
                <a:ea typeface="新宋体" panose="02010609030101010101" charset="-122"/>
              </a:rPr>
              <a:t>舍伍德型算法的设计思想还可用于设计高效的数据结构。</a:t>
            </a:r>
            <a:endParaRPr lang="zh-CN" altLang="en-US" sz="2800">
              <a:ea typeface="新宋体" panose="02010609030101010101" charset="-122"/>
            </a:endParaRPr>
          </a:p>
          <a:p>
            <a:pPr>
              <a:buClr>
                <a:schemeClr val="accent2"/>
              </a:buClr>
              <a:buFontTx/>
              <a:buChar char="•"/>
            </a:pPr>
            <a:r>
              <a:rPr lang="zh-CN" altLang="en-US" sz="2800">
                <a:ea typeface="新宋体" panose="02010609030101010101" charset="-122"/>
              </a:rPr>
              <a:t>如果用有序链表来表示一个含有</a:t>
            </a:r>
            <a:r>
              <a:rPr lang="en-US" altLang="zh-CN" sz="2800">
                <a:ea typeface="新宋体" panose="02010609030101010101" charset="-122"/>
              </a:rPr>
              <a:t>n</a:t>
            </a:r>
            <a:r>
              <a:rPr lang="zh-CN" altLang="en-US" sz="2800">
                <a:ea typeface="新宋体" panose="02010609030101010101" charset="-122"/>
              </a:rPr>
              <a:t>个元素的有序集</a:t>
            </a:r>
            <a:r>
              <a:rPr lang="en-US" altLang="zh-CN" sz="2800">
                <a:ea typeface="新宋体" panose="02010609030101010101" charset="-122"/>
              </a:rPr>
              <a:t>S</a:t>
            </a:r>
            <a:r>
              <a:rPr lang="zh-CN" altLang="en-US" sz="2800">
                <a:ea typeface="新宋体" panose="02010609030101010101" charset="-122"/>
              </a:rPr>
              <a:t>，则在最坏情况下，搜索</a:t>
            </a:r>
            <a:r>
              <a:rPr lang="en-US" altLang="zh-CN" sz="2800">
                <a:ea typeface="新宋体" panose="02010609030101010101" charset="-122"/>
              </a:rPr>
              <a:t>S</a:t>
            </a:r>
            <a:r>
              <a:rPr lang="zh-CN" altLang="en-US" sz="2800">
                <a:ea typeface="新宋体" panose="02010609030101010101" charset="-122"/>
              </a:rPr>
              <a:t>中一个元素需要</a:t>
            </a:r>
            <a:r>
              <a:rPr lang="zh-CN" altLang="en-US" sz="2800">
                <a:ea typeface="新宋体" panose="02010609030101010101" charset="-122"/>
                <a:sym typeface="Symbol" panose="05050102010706020507" pitchFamily="18" charset="2"/>
              </a:rPr>
              <a:t></a:t>
            </a:r>
            <a:r>
              <a:rPr lang="en-US" altLang="zh-CN" sz="2800">
                <a:ea typeface="新宋体" panose="02010609030101010101" charset="-122"/>
              </a:rPr>
              <a:t>(n)</a:t>
            </a:r>
            <a:r>
              <a:rPr lang="zh-CN" altLang="en-US" sz="2800">
                <a:ea typeface="新宋体" panose="02010609030101010101" charset="-122"/>
              </a:rPr>
              <a:t>计算时间。</a:t>
            </a:r>
            <a:endParaRPr lang="zh-CN" altLang="en-US" sz="2800">
              <a:ea typeface="新宋体" panose="02010609030101010101" charset="-122"/>
            </a:endParaRPr>
          </a:p>
          <a:p>
            <a:pPr>
              <a:buClr>
                <a:schemeClr val="accent2"/>
              </a:buClr>
              <a:buFontTx/>
              <a:buChar char="•"/>
            </a:pPr>
            <a:r>
              <a:rPr lang="zh-CN" altLang="en-US" sz="2800">
                <a:ea typeface="新宋体" panose="02010609030101010101" charset="-122"/>
              </a:rPr>
              <a:t>提高有序链表效率的一个技巧是在有序链表的部分结点处增设附加指针以提高其搜索性能。在增设附加指针的有序链表中搜索一个元素时，可借助于附加指针跳过链表中若干结点，加快搜索速度。这种增加了向前附加指针的有序链表称为</a:t>
            </a:r>
            <a:r>
              <a:rPr lang="zh-CN" altLang="en-US" sz="2800">
                <a:ea typeface="黑体" panose="02010609060101010101" pitchFamily="49" charset="-122"/>
              </a:rPr>
              <a:t>跳跃表</a:t>
            </a:r>
            <a:r>
              <a:rPr lang="zh-CN" altLang="en-US" sz="2800">
                <a:ea typeface="新宋体" panose="02010609030101010101" charset="-122"/>
              </a:rPr>
              <a:t>。</a:t>
            </a:r>
            <a:endParaRPr lang="zh-CN" altLang="en-US" sz="2800">
              <a:ea typeface="新宋体" panose="02010609030101010101" charset="-122"/>
            </a:endParaRPr>
          </a:p>
        </p:txBody>
      </p:sp>
      <p:pic>
        <p:nvPicPr>
          <p:cNvPr id="366596" name="Picture 4" descr="t7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0113" y="4365625"/>
            <a:ext cx="7127875" cy="236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6595">
                                            <p:txEl>
                                              <p:pRg st="0" end="0"/>
                                            </p:txEl>
                                          </p:spTgt>
                                        </p:tgtEl>
                                        <p:attrNameLst>
                                          <p:attrName>style.visibility</p:attrName>
                                        </p:attrNameLst>
                                      </p:cBhvr>
                                      <p:to>
                                        <p:strVal val="visible"/>
                                      </p:to>
                                    </p:set>
                                    <p:anim calcmode="lin" valueType="num">
                                      <p:cBhvr additive="base">
                                        <p:cTn id="7" dur="500" fill="hold"/>
                                        <p:tgtEl>
                                          <p:spTgt spid="3665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659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66595">
                                            <p:txEl>
                                              <p:pRg st="1" end="1"/>
                                            </p:txEl>
                                          </p:spTgt>
                                        </p:tgtEl>
                                        <p:attrNameLst>
                                          <p:attrName>style.visibility</p:attrName>
                                        </p:attrNameLst>
                                      </p:cBhvr>
                                      <p:to>
                                        <p:strVal val="visible"/>
                                      </p:to>
                                    </p:set>
                                    <p:anim calcmode="lin" valueType="num">
                                      <p:cBhvr additive="base">
                                        <p:cTn id="11" dur="500" fill="hold"/>
                                        <p:tgtEl>
                                          <p:spTgt spid="36659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665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66595">
                                            <p:txEl>
                                              <p:pRg st="2" end="2"/>
                                            </p:txEl>
                                          </p:spTgt>
                                        </p:tgtEl>
                                        <p:attrNameLst>
                                          <p:attrName>style.visibility</p:attrName>
                                        </p:attrNameLst>
                                      </p:cBhvr>
                                      <p:to>
                                        <p:strVal val="visible"/>
                                      </p:to>
                                    </p:set>
                                    <p:anim calcmode="lin" valueType="num">
                                      <p:cBhvr additive="base">
                                        <p:cTn id="17" dur="500" fill="hold"/>
                                        <p:tgtEl>
                                          <p:spTgt spid="36659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6659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66596"/>
                                        </p:tgtEl>
                                        <p:attrNameLst>
                                          <p:attrName>style.visibility</p:attrName>
                                        </p:attrNameLst>
                                      </p:cBhvr>
                                      <p:to>
                                        <p:strVal val="visible"/>
                                      </p:to>
                                    </p:set>
                                    <p:anim calcmode="lin" valueType="num">
                                      <p:cBhvr additive="base">
                                        <p:cTn id="21" dur="500" fill="hold"/>
                                        <p:tgtEl>
                                          <p:spTgt spid="366596"/>
                                        </p:tgtEl>
                                        <p:attrNameLst>
                                          <p:attrName>ppt_x</p:attrName>
                                        </p:attrNameLst>
                                      </p:cBhvr>
                                      <p:tavLst>
                                        <p:tav tm="0">
                                          <p:val>
                                            <p:strVal val="#ppt_x"/>
                                          </p:val>
                                        </p:tav>
                                        <p:tav tm="100000">
                                          <p:val>
                                            <p:strVal val="#ppt_x"/>
                                          </p:val>
                                        </p:tav>
                                      </p:tavLst>
                                    </p:anim>
                                    <p:anim calcmode="lin" valueType="num">
                                      <p:cBhvr additive="base">
                                        <p:cTn id="22" dur="500" fill="hold"/>
                                        <p:tgtEl>
                                          <p:spTgt spid="3665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29ABAF20-0A09-4505-A6EF-86E593465FBE}" type="slidenum">
              <a:rPr lang="en-US" altLang="zh-CN"/>
            </a:fld>
            <a:endParaRPr lang="en-US" altLang="zh-CN"/>
          </a:p>
        </p:txBody>
      </p:sp>
      <p:sp>
        <p:nvSpPr>
          <p:cNvPr id="367618" name="Rectangle 2"/>
          <p:cNvSpPr>
            <a:spLocks noGrp="1" noChangeArrowheads="1"/>
          </p:cNvSpPr>
          <p:nvPr>
            <p:ph type="title"/>
          </p:nvPr>
        </p:nvSpPr>
        <p:spPr>
          <a:xfrm>
            <a:off x="457200" y="620713"/>
            <a:ext cx="7543800" cy="652462"/>
          </a:xfrm>
        </p:spPr>
        <p:txBody>
          <a:bodyPr/>
          <a:lstStyle/>
          <a:p>
            <a:r>
              <a:rPr lang="zh-CN" altLang="en-US" sz="3500">
                <a:latin typeface="黑体" panose="02010609060101010101" pitchFamily="49" charset="-122"/>
                <a:ea typeface="黑体" panose="02010609060101010101" pitchFamily="49" charset="-122"/>
              </a:rPr>
              <a:t>跳跃表</a:t>
            </a:r>
            <a:endParaRPr lang="zh-CN" altLang="en-US" sz="3500">
              <a:latin typeface="黑体" panose="02010609060101010101" pitchFamily="49" charset="-122"/>
              <a:ea typeface="黑体" panose="02010609060101010101" pitchFamily="49" charset="-122"/>
            </a:endParaRPr>
          </a:p>
        </p:txBody>
      </p:sp>
      <p:sp>
        <p:nvSpPr>
          <p:cNvPr id="367619" name="Rectangle 3"/>
          <p:cNvSpPr>
            <a:spLocks noGrp="1" noChangeArrowheads="1"/>
          </p:cNvSpPr>
          <p:nvPr>
            <p:ph type="body" idx="1"/>
          </p:nvPr>
        </p:nvSpPr>
        <p:spPr>
          <a:xfrm>
            <a:off x="468313" y="4005263"/>
            <a:ext cx="8229600" cy="2663825"/>
          </a:xfrm>
        </p:spPr>
        <p:txBody>
          <a:bodyPr/>
          <a:lstStyle/>
          <a:p>
            <a:pPr>
              <a:lnSpc>
                <a:spcPct val="90000"/>
              </a:lnSpc>
              <a:buFont typeface="Wingdings" panose="05000000000000000000" pitchFamily="2" charset="2"/>
              <a:buNone/>
            </a:pPr>
            <a:r>
              <a:rPr lang="zh-CN" altLang="en-US" sz="2600"/>
              <a:t>图</a:t>
            </a:r>
            <a:r>
              <a:rPr lang="en-US" altLang="zh-CN" sz="2600"/>
              <a:t>a</a:t>
            </a:r>
            <a:r>
              <a:rPr lang="zh-CN" altLang="en-US" sz="2600"/>
              <a:t>：没有附加指针的有序链表</a:t>
            </a:r>
            <a:endParaRPr lang="zh-CN" altLang="en-US" sz="2600"/>
          </a:p>
          <a:p>
            <a:pPr>
              <a:lnSpc>
                <a:spcPct val="90000"/>
              </a:lnSpc>
              <a:buFont typeface="Wingdings" panose="05000000000000000000" pitchFamily="2" charset="2"/>
              <a:buNone/>
            </a:pPr>
            <a:r>
              <a:rPr lang="zh-CN" altLang="en-US" sz="2600"/>
              <a:t>图</a:t>
            </a:r>
            <a:r>
              <a:rPr lang="en-US" altLang="zh-CN" sz="2600"/>
              <a:t>b</a:t>
            </a:r>
            <a:r>
              <a:rPr lang="zh-CN" altLang="en-US" sz="2600"/>
              <a:t>：在图</a:t>
            </a:r>
            <a:r>
              <a:rPr lang="en-US" altLang="zh-CN" sz="2600"/>
              <a:t>a</a:t>
            </a:r>
            <a:r>
              <a:rPr lang="zh-CN" altLang="en-US" sz="2600"/>
              <a:t>的基础上增加了跳跃一个结点的附加指针</a:t>
            </a:r>
            <a:endParaRPr lang="zh-CN" altLang="en-US" sz="2600"/>
          </a:p>
          <a:p>
            <a:pPr>
              <a:lnSpc>
                <a:spcPct val="90000"/>
              </a:lnSpc>
              <a:buFont typeface="Wingdings" panose="05000000000000000000" pitchFamily="2" charset="2"/>
              <a:buNone/>
            </a:pPr>
            <a:r>
              <a:rPr lang="zh-CN" altLang="en-US" sz="2600"/>
              <a:t>图</a:t>
            </a:r>
            <a:r>
              <a:rPr lang="en-US" altLang="zh-CN" sz="2600"/>
              <a:t>c</a:t>
            </a:r>
            <a:r>
              <a:rPr lang="zh-CN" altLang="en-US" sz="2600"/>
              <a:t>：在图</a:t>
            </a:r>
            <a:r>
              <a:rPr lang="en-US" altLang="zh-CN" sz="2600"/>
              <a:t>b</a:t>
            </a:r>
            <a:r>
              <a:rPr lang="zh-CN" altLang="en-US" sz="2600"/>
              <a:t>的基础上增加了跳跃</a:t>
            </a:r>
            <a:r>
              <a:rPr lang="en-US" altLang="zh-CN" sz="2600"/>
              <a:t>3</a:t>
            </a:r>
            <a:r>
              <a:rPr lang="zh-CN" altLang="en-US" sz="2600"/>
              <a:t>个点的附加指针</a:t>
            </a:r>
            <a:endParaRPr lang="zh-CN" altLang="en-US" sz="2600"/>
          </a:p>
          <a:p>
            <a:pPr>
              <a:lnSpc>
                <a:spcPct val="90000"/>
              </a:lnSpc>
              <a:buFont typeface="Wingdings" panose="05000000000000000000" pitchFamily="2" charset="2"/>
              <a:buNone/>
            </a:pPr>
            <a:endParaRPr lang="zh-CN" altLang="en-US" sz="2600"/>
          </a:p>
          <a:p>
            <a:pPr>
              <a:lnSpc>
                <a:spcPct val="90000"/>
              </a:lnSpc>
              <a:buFont typeface="Wingdings" panose="05000000000000000000" pitchFamily="2" charset="2"/>
              <a:buNone/>
            </a:pPr>
            <a:r>
              <a:rPr lang="en-US" altLang="zh-CN" sz="2600"/>
              <a:t>K</a:t>
            </a:r>
            <a:r>
              <a:rPr lang="zh-CN" altLang="en-US" sz="2600"/>
              <a:t>级结点：一个有</a:t>
            </a:r>
            <a:r>
              <a:rPr lang="en-US" altLang="zh-CN" sz="2600"/>
              <a:t>k+1</a:t>
            </a:r>
            <a:r>
              <a:rPr lang="zh-CN" altLang="en-US" sz="2600"/>
              <a:t>个指针的结点</a:t>
            </a:r>
            <a:endParaRPr lang="zh-CN" altLang="en-US" sz="2600"/>
          </a:p>
          <a:p>
            <a:pPr>
              <a:lnSpc>
                <a:spcPct val="90000"/>
              </a:lnSpc>
              <a:buFont typeface="Wingdings" panose="05000000000000000000" pitchFamily="2" charset="2"/>
              <a:buNone/>
            </a:pPr>
            <a:r>
              <a:rPr lang="zh-CN" altLang="en-US" sz="2600"/>
              <a:t>在</a:t>
            </a:r>
            <a:r>
              <a:rPr lang="en-US" altLang="zh-CN" sz="2600"/>
              <a:t>c</a:t>
            </a:r>
            <a:r>
              <a:rPr lang="zh-CN" altLang="en-US" sz="2600"/>
              <a:t>图中搜索元素</a:t>
            </a:r>
            <a:r>
              <a:rPr lang="en-US" altLang="zh-CN" sz="2600"/>
              <a:t>8</a:t>
            </a:r>
            <a:endParaRPr lang="en-US" altLang="zh-CN" sz="2600"/>
          </a:p>
        </p:txBody>
      </p:sp>
      <p:pic>
        <p:nvPicPr>
          <p:cNvPr id="367620" name="Picture 4" descr="t7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1188" y="1341438"/>
            <a:ext cx="7848600" cy="260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67620"/>
                                        </p:tgtEl>
                                        <p:attrNameLst>
                                          <p:attrName>style.visibility</p:attrName>
                                        </p:attrNameLst>
                                      </p:cBhvr>
                                      <p:to>
                                        <p:strVal val="visible"/>
                                      </p:to>
                                    </p:set>
                                    <p:anim calcmode="lin" valueType="num">
                                      <p:cBhvr additive="base">
                                        <p:cTn id="7" dur="500" fill="hold"/>
                                        <p:tgtEl>
                                          <p:spTgt spid="367620"/>
                                        </p:tgtEl>
                                        <p:attrNameLst>
                                          <p:attrName>ppt_x</p:attrName>
                                        </p:attrNameLst>
                                      </p:cBhvr>
                                      <p:tavLst>
                                        <p:tav tm="0">
                                          <p:val>
                                            <p:strVal val="#ppt_x"/>
                                          </p:val>
                                        </p:tav>
                                        <p:tav tm="100000">
                                          <p:val>
                                            <p:strVal val="#ppt_x"/>
                                          </p:val>
                                        </p:tav>
                                      </p:tavLst>
                                    </p:anim>
                                    <p:anim calcmode="lin" valueType="num">
                                      <p:cBhvr additive="base">
                                        <p:cTn id="8" dur="500" fill="hold"/>
                                        <p:tgtEl>
                                          <p:spTgt spid="3676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67619">
                                            <p:txEl>
                                              <p:pRg st="0" end="0"/>
                                            </p:txEl>
                                          </p:spTgt>
                                        </p:tgtEl>
                                        <p:attrNameLst>
                                          <p:attrName>style.visibility</p:attrName>
                                        </p:attrNameLst>
                                      </p:cBhvr>
                                      <p:to>
                                        <p:strVal val="visible"/>
                                      </p:to>
                                    </p:set>
                                    <p:animEffect transition="in" filter="blinds(horizontal)">
                                      <p:cBhvr>
                                        <p:cTn id="13" dur="500"/>
                                        <p:tgtEl>
                                          <p:spTgt spid="367619">
                                            <p:txEl>
                                              <p:pRg st="0" end="0"/>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67619">
                                            <p:txEl>
                                              <p:pRg st="1" end="1"/>
                                            </p:txEl>
                                          </p:spTgt>
                                        </p:tgtEl>
                                        <p:attrNameLst>
                                          <p:attrName>style.visibility</p:attrName>
                                        </p:attrNameLst>
                                      </p:cBhvr>
                                      <p:to>
                                        <p:strVal val="visible"/>
                                      </p:to>
                                    </p:set>
                                    <p:animEffect transition="in" filter="blinds(horizontal)">
                                      <p:cBhvr>
                                        <p:cTn id="16" dur="500"/>
                                        <p:tgtEl>
                                          <p:spTgt spid="367619">
                                            <p:txEl>
                                              <p:pRg st="1" end="1"/>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67619">
                                            <p:txEl>
                                              <p:pRg st="2" end="2"/>
                                            </p:txEl>
                                          </p:spTgt>
                                        </p:tgtEl>
                                        <p:attrNameLst>
                                          <p:attrName>style.visibility</p:attrName>
                                        </p:attrNameLst>
                                      </p:cBhvr>
                                      <p:to>
                                        <p:strVal val="visible"/>
                                      </p:to>
                                    </p:set>
                                    <p:animEffect transition="in" filter="blinds(horizontal)">
                                      <p:cBhvr>
                                        <p:cTn id="19" dur="500"/>
                                        <p:tgtEl>
                                          <p:spTgt spid="367619">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367619">
                                            <p:txEl>
                                              <p:pRg st="4" end="4"/>
                                            </p:txEl>
                                          </p:spTgt>
                                        </p:tgtEl>
                                        <p:attrNameLst>
                                          <p:attrName>style.visibility</p:attrName>
                                        </p:attrNameLst>
                                      </p:cBhvr>
                                      <p:to>
                                        <p:strVal val="visible"/>
                                      </p:to>
                                    </p:set>
                                    <p:animEffect transition="in" filter="blinds(horizontal)">
                                      <p:cBhvr>
                                        <p:cTn id="24" dur="500"/>
                                        <p:tgtEl>
                                          <p:spTgt spid="367619">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367619">
                                            <p:txEl>
                                              <p:pRg st="5" end="5"/>
                                            </p:txEl>
                                          </p:spTgt>
                                        </p:tgtEl>
                                        <p:attrNameLst>
                                          <p:attrName>style.visibility</p:attrName>
                                        </p:attrNameLst>
                                      </p:cBhvr>
                                      <p:to>
                                        <p:strVal val="visible"/>
                                      </p:to>
                                    </p:set>
                                    <p:animEffect transition="in" filter="blinds(horizontal)">
                                      <p:cBhvr>
                                        <p:cTn id="29" dur="500"/>
                                        <p:tgtEl>
                                          <p:spTgt spid="3676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4AAEEABA-C38E-4665-81DD-AC24DB9875AA}" type="slidenum">
              <a:rPr lang="en-US" altLang="zh-CN"/>
            </a:fld>
            <a:endParaRPr lang="en-US" altLang="zh-CN"/>
          </a:p>
        </p:txBody>
      </p:sp>
      <p:sp>
        <p:nvSpPr>
          <p:cNvPr id="368642" name="Rectangle 2"/>
          <p:cNvSpPr>
            <a:spLocks noGrp="1" noChangeArrowheads="1"/>
          </p:cNvSpPr>
          <p:nvPr>
            <p:ph type="title"/>
          </p:nvPr>
        </p:nvSpPr>
        <p:spPr/>
        <p:txBody>
          <a:bodyPr/>
          <a:lstStyle/>
          <a:p>
            <a:r>
              <a:rPr lang="zh-CN" altLang="en-US" sz="3500">
                <a:latin typeface="黑体" panose="02010609060101010101" pitchFamily="49" charset="-122"/>
                <a:ea typeface="黑体" panose="02010609060101010101" pitchFamily="49" charset="-122"/>
              </a:rPr>
              <a:t>跳跃表</a:t>
            </a:r>
            <a:endParaRPr lang="zh-CN" altLang="en-US" sz="3500">
              <a:latin typeface="黑体" panose="02010609060101010101" pitchFamily="49" charset="-122"/>
              <a:ea typeface="黑体" panose="02010609060101010101" pitchFamily="49" charset="-122"/>
            </a:endParaRPr>
          </a:p>
        </p:txBody>
      </p:sp>
      <p:sp>
        <p:nvSpPr>
          <p:cNvPr id="368643" name="Rectangle 3"/>
          <p:cNvSpPr>
            <a:spLocks noGrp="1" noChangeArrowheads="1"/>
          </p:cNvSpPr>
          <p:nvPr>
            <p:ph type="body" idx="1"/>
          </p:nvPr>
        </p:nvSpPr>
        <p:spPr/>
        <p:txBody>
          <a:bodyPr/>
          <a:lstStyle/>
          <a:p>
            <a:pPr>
              <a:spcBef>
                <a:spcPct val="0"/>
              </a:spcBef>
              <a:buClr>
                <a:schemeClr val="accent2"/>
              </a:buClr>
            </a:pPr>
            <a:r>
              <a:rPr lang="zh-CN" altLang="en-US"/>
              <a:t>应在跳跃表的哪些结点增加附加指针以及在该结点处应增加多少指针完全采用</a:t>
            </a:r>
            <a:r>
              <a:rPr lang="zh-CN" altLang="en-US" b="1">
                <a:solidFill>
                  <a:srgbClr val="FF3300"/>
                </a:solidFill>
              </a:rPr>
              <a:t>随机化方法</a:t>
            </a:r>
            <a:r>
              <a:rPr lang="zh-CN" altLang="en-US"/>
              <a:t>来确定。这使得跳跃表可在</a:t>
            </a:r>
            <a:r>
              <a:rPr lang="en-US" altLang="zh-CN"/>
              <a:t>O(logn)</a:t>
            </a:r>
            <a:r>
              <a:rPr lang="zh-CN" altLang="en-US"/>
              <a:t>平均时间内支持关于有序集的搜索、插入和删除等运算。 </a:t>
            </a:r>
            <a:endParaRPr lang="zh-CN" altLang="en-US"/>
          </a:p>
          <a:p>
            <a:endParaRPr lang="zh-CN" altLang="en-US"/>
          </a:p>
        </p:txBody>
      </p:sp>
      <p:pic>
        <p:nvPicPr>
          <p:cNvPr id="368644" name="Picture 4" descr="t7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750" y="3716338"/>
            <a:ext cx="8137525" cy="270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68644"/>
                                        </p:tgtEl>
                                        <p:attrNameLst>
                                          <p:attrName>style.visibility</p:attrName>
                                        </p:attrNameLst>
                                      </p:cBhvr>
                                      <p:to>
                                        <p:strVal val="visible"/>
                                      </p:to>
                                    </p:set>
                                    <p:anim calcmode="lin" valueType="num">
                                      <p:cBhvr additive="base">
                                        <p:cTn id="7" dur="500" fill="hold"/>
                                        <p:tgtEl>
                                          <p:spTgt spid="368644"/>
                                        </p:tgtEl>
                                        <p:attrNameLst>
                                          <p:attrName>ppt_x</p:attrName>
                                        </p:attrNameLst>
                                      </p:cBhvr>
                                      <p:tavLst>
                                        <p:tav tm="0">
                                          <p:val>
                                            <p:strVal val="#ppt_x"/>
                                          </p:val>
                                        </p:tav>
                                        <p:tav tm="100000">
                                          <p:val>
                                            <p:strVal val="#ppt_x"/>
                                          </p:val>
                                        </p:tav>
                                      </p:tavLst>
                                    </p:anim>
                                    <p:anim calcmode="lin" valueType="num">
                                      <p:cBhvr additive="base">
                                        <p:cTn id="8" dur="500" fill="hold"/>
                                        <p:tgtEl>
                                          <p:spTgt spid="3686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fld id="{219739A5-57A9-4BB8-91F7-DCDD0F2B7CCA}" type="slidenum">
              <a:rPr lang="en-US" altLang="zh-CN"/>
            </a:fld>
            <a:endParaRPr lang="en-US" altLang="zh-CN"/>
          </a:p>
        </p:txBody>
      </p:sp>
      <p:sp>
        <p:nvSpPr>
          <p:cNvPr id="369666" name="Rectangle 2"/>
          <p:cNvSpPr>
            <a:spLocks noChangeArrowheads="1"/>
          </p:cNvSpPr>
          <p:nvPr/>
        </p:nvSpPr>
        <p:spPr bwMode="auto">
          <a:xfrm>
            <a:off x="684213"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500" b="1">
                <a:solidFill>
                  <a:schemeClr val="tx2"/>
                </a:solidFill>
                <a:latin typeface="黑体" panose="02010609060101010101" pitchFamily="49" charset="-122"/>
                <a:ea typeface="黑体" panose="02010609060101010101" pitchFamily="49" charset="-122"/>
              </a:rPr>
              <a:t>跳跃表</a:t>
            </a:r>
            <a:endParaRPr lang="zh-CN" altLang="en-US" sz="3500" b="1">
              <a:solidFill>
                <a:schemeClr val="tx2"/>
              </a:solidFill>
              <a:latin typeface="黑体" panose="02010609060101010101" pitchFamily="49" charset="-122"/>
              <a:ea typeface="黑体" panose="02010609060101010101" pitchFamily="49" charset="-122"/>
            </a:endParaRPr>
          </a:p>
        </p:txBody>
      </p:sp>
      <p:pic>
        <p:nvPicPr>
          <p:cNvPr id="369667" name="Picture 3" descr="t7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1188" y="2230438"/>
            <a:ext cx="8243887" cy="273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9668" name="Text Box 4"/>
          <p:cNvSpPr txBox="1">
            <a:spLocks noChangeArrowheads="1"/>
          </p:cNvSpPr>
          <p:nvPr/>
        </p:nvSpPr>
        <p:spPr bwMode="auto">
          <a:xfrm>
            <a:off x="323850" y="5084763"/>
            <a:ext cx="8424863" cy="1603375"/>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完全跳跃表与完全二叉搜索树的情形非常类似。它虽然可以有效地支持成员搜索运算，但不适应于集合动态变化的情况。集合元素的插入和删除运算会破坏完全跳跃表原有的平衡状态，影响后继元素搜索的效率。</a:t>
            </a:r>
            <a:endParaRPr lang="zh-CN" altLang="en-US" sz="2400">
              <a:ea typeface="新宋体" panose="02010609030101010101" charset="-122"/>
            </a:endParaRPr>
          </a:p>
        </p:txBody>
      </p:sp>
      <p:sp>
        <p:nvSpPr>
          <p:cNvPr id="369669" name="Text Box 5"/>
          <p:cNvSpPr txBox="1">
            <a:spLocks noChangeArrowheads="1"/>
          </p:cNvSpPr>
          <p:nvPr/>
        </p:nvSpPr>
        <p:spPr bwMode="auto">
          <a:xfrm>
            <a:off x="158750" y="711200"/>
            <a:ext cx="8734425" cy="2282825"/>
          </a:xfrm>
          <a:prstGeom prst="rect">
            <a:avLst/>
          </a:prstGeom>
          <a:solidFill>
            <a:schemeClr val="bg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在一般情况下，给定一个含有</a:t>
            </a:r>
            <a:r>
              <a:rPr lang="en-US" altLang="zh-CN" sz="2400">
                <a:ea typeface="新宋体" panose="02010609030101010101" charset="-122"/>
              </a:rPr>
              <a:t>n</a:t>
            </a:r>
            <a:r>
              <a:rPr lang="zh-CN" altLang="en-US" sz="2400">
                <a:ea typeface="新宋体" panose="02010609030101010101" charset="-122"/>
              </a:rPr>
              <a:t>个元素的有序链表，可以将它改造成一个完全跳跃表，使得每一个</a:t>
            </a:r>
            <a:r>
              <a:rPr lang="en-US" altLang="zh-CN" sz="2400">
                <a:ea typeface="新宋体" panose="02010609030101010101" charset="-122"/>
              </a:rPr>
              <a:t>k</a:t>
            </a:r>
            <a:r>
              <a:rPr lang="zh-CN" altLang="en-US" sz="2400">
                <a:ea typeface="新宋体" panose="02010609030101010101" charset="-122"/>
              </a:rPr>
              <a:t>级结点含有</a:t>
            </a:r>
            <a:r>
              <a:rPr lang="en-US" altLang="zh-CN" sz="2400">
                <a:ea typeface="新宋体" panose="02010609030101010101" charset="-122"/>
              </a:rPr>
              <a:t>k+1</a:t>
            </a:r>
            <a:r>
              <a:rPr lang="zh-CN" altLang="en-US" sz="2400">
                <a:ea typeface="新宋体" panose="02010609030101010101" charset="-122"/>
              </a:rPr>
              <a:t>个指针，分别跳过</a:t>
            </a:r>
            <a:r>
              <a:rPr lang="en-US" altLang="zh-CN" sz="2400">
                <a:ea typeface="新宋体" panose="02010609030101010101" charset="-122"/>
              </a:rPr>
              <a:t>2</a:t>
            </a:r>
            <a:r>
              <a:rPr lang="en-US" altLang="zh-CN" sz="2400" baseline="30000">
                <a:ea typeface="新宋体" panose="02010609030101010101" charset="-122"/>
              </a:rPr>
              <a:t>k</a:t>
            </a:r>
            <a:r>
              <a:rPr lang="en-US" altLang="zh-CN" sz="2400">
                <a:ea typeface="新宋体" panose="02010609030101010101" charset="-122"/>
              </a:rPr>
              <a:t>-1</a:t>
            </a:r>
            <a:r>
              <a:rPr lang="zh-CN" altLang="en-US" sz="2400">
                <a:ea typeface="新宋体" panose="02010609030101010101" charset="-122"/>
              </a:rPr>
              <a:t>，</a:t>
            </a:r>
            <a:r>
              <a:rPr lang="en-US" altLang="zh-CN" sz="2400">
                <a:ea typeface="新宋体" panose="02010609030101010101" charset="-122"/>
              </a:rPr>
              <a:t>2</a:t>
            </a:r>
            <a:r>
              <a:rPr lang="en-US" altLang="zh-CN" sz="2400" baseline="30000">
                <a:ea typeface="新宋体" panose="02010609030101010101" charset="-122"/>
              </a:rPr>
              <a:t>k-1</a:t>
            </a:r>
            <a:r>
              <a:rPr lang="en-US" altLang="zh-CN" sz="2400">
                <a:ea typeface="新宋体" panose="02010609030101010101" charset="-122"/>
              </a:rPr>
              <a:t>-1</a:t>
            </a:r>
            <a:r>
              <a:rPr lang="zh-CN" altLang="en-US" sz="2400">
                <a:ea typeface="新宋体" panose="02010609030101010101" charset="-122"/>
              </a:rPr>
              <a:t>，</a:t>
            </a:r>
            <a:r>
              <a:rPr lang="en-US" altLang="zh-CN" sz="2400">
                <a:ea typeface="新宋体" panose="02010609030101010101" charset="-122"/>
              </a:rPr>
              <a:t>…</a:t>
            </a:r>
            <a:r>
              <a:rPr lang="zh-CN" altLang="en-US" sz="2400">
                <a:ea typeface="新宋体" panose="02010609030101010101" charset="-122"/>
              </a:rPr>
              <a:t>，</a:t>
            </a:r>
            <a:r>
              <a:rPr lang="en-US" altLang="zh-CN" sz="2400">
                <a:ea typeface="新宋体" panose="02010609030101010101" charset="-122"/>
              </a:rPr>
              <a:t>2</a:t>
            </a:r>
            <a:r>
              <a:rPr lang="en-US" altLang="zh-CN" sz="2400" baseline="30000">
                <a:ea typeface="新宋体" panose="02010609030101010101" charset="-122"/>
              </a:rPr>
              <a:t>0</a:t>
            </a:r>
            <a:r>
              <a:rPr lang="en-US" altLang="zh-CN" sz="2400">
                <a:ea typeface="新宋体" panose="02010609030101010101" charset="-122"/>
              </a:rPr>
              <a:t>-1</a:t>
            </a:r>
            <a:r>
              <a:rPr lang="zh-CN" altLang="en-US" sz="2400">
                <a:ea typeface="新宋体" panose="02010609030101010101" charset="-122"/>
              </a:rPr>
              <a:t>个中间结点。第</a:t>
            </a:r>
            <a:r>
              <a:rPr lang="en-US" altLang="zh-CN" sz="2400">
                <a:ea typeface="新宋体" panose="02010609030101010101" charset="-122"/>
              </a:rPr>
              <a:t>i</a:t>
            </a:r>
            <a:r>
              <a:rPr lang="zh-CN" altLang="en-US" sz="2400">
                <a:ea typeface="新宋体" panose="02010609030101010101" charset="-122"/>
              </a:rPr>
              <a:t>个</a:t>
            </a:r>
            <a:r>
              <a:rPr lang="en-US" altLang="zh-CN" sz="2400">
                <a:ea typeface="新宋体" panose="02010609030101010101" charset="-122"/>
              </a:rPr>
              <a:t>k</a:t>
            </a:r>
            <a:r>
              <a:rPr lang="zh-CN" altLang="en-US" sz="2400">
                <a:ea typeface="新宋体" panose="02010609030101010101" charset="-122"/>
              </a:rPr>
              <a:t>级结点安排在跳跃表的位置</a:t>
            </a:r>
            <a:r>
              <a:rPr lang="en-US" altLang="zh-CN" sz="2400">
                <a:ea typeface="新宋体" panose="02010609030101010101" charset="-122"/>
              </a:rPr>
              <a:t>i2</a:t>
            </a:r>
            <a:r>
              <a:rPr lang="en-US" altLang="zh-CN" sz="2400" baseline="30000">
                <a:ea typeface="新宋体" panose="02010609030101010101" charset="-122"/>
              </a:rPr>
              <a:t>k</a:t>
            </a:r>
            <a:r>
              <a:rPr lang="zh-CN" altLang="en-US" sz="2400">
                <a:ea typeface="新宋体" panose="02010609030101010101" charset="-122"/>
              </a:rPr>
              <a:t>处，</a:t>
            </a:r>
            <a:r>
              <a:rPr lang="en-US" altLang="zh-CN" sz="2400">
                <a:ea typeface="新宋体" panose="02010609030101010101" charset="-122"/>
              </a:rPr>
              <a:t>i</a:t>
            </a:r>
            <a:r>
              <a:rPr lang="en-US" altLang="zh-CN" sz="2400">
                <a:ea typeface="新宋体" panose="02010609030101010101" charset="-122"/>
                <a:sym typeface="Symbol" panose="05050102010706020507" pitchFamily="18" charset="2"/>
              </a:rPr>
              <a:t></a:t>
            </a:r>
            <a:r>
              <a:rPr lang="en-US" altLang="zh-CN" sz="2400">
                <a:ea typeface="新宋体" panose="02010609030101010101" charset="-122"/>
              </a:rPr>
              <a:t>0</a:t>
            </a:r>
            <a:r>
              <a:rPr lang="zh-CN" altLang="en-US" sz="2400">
                <a:ea typeface="新宋体" panose="02010609030101010101" charset="-122"/>
              </a:rPr>
              <a:t>。这样就可以在时间</a:t>
            </a:r>
            <a:r>
              <a:rPr lang="en-US" altLang="zh-CN" sz="2400">
                <a:ea typeface="新宋体" panose="02010609030101010101" charset="-122"/>
              </a:rPr>
              <a:t>O(logn)</a:t>
            </a:r>
            <a:r>
              <a:rPr lang="zh-CN" altLang="en-US" sz="2400">
                <a:ea typeface="新宋体" panose="02010609030101010101" charset="-122"/>
              </a:rPr>
              <a:t>内完成集合成员的搜索运算。在一个完全跳跃表中，最高级的结点是</a:t>
            </a:r>
            <a:r>
              <a:rPr lang="zh-CN" altLang="en-US" sz="2400">
                <a:ea typeface="新宋体" panose="02010609030101010101" charset="-122"/>
                <a:sym typeface="Symbol" panose="05050102010706020507" pitchFamily="18" charset="2"/>
              </a:rPr>
              <a:t></a:t>
            </a:r>
            <a:r>
              <a:rPr lang="en-US" altLang="zh-CN" sz="2400">
                <a:ea typeface="新宋体" panose="02010609030101010101" charset="-122"/>
                <a:sym typeface="Symbol" panose="05050102010706020507" pitchFamily="18" charset="2"/>
              </a:rPr>
              <a:t>logn</a:t>
            </a:r>
            <a:r>
              <a:rPr lang="zh-CN" altLang="en-US" sz="2400">
                <a:ea typeface="新宋体" panose="02010609030101010101" charset="-122"/>
              </a:rPr>
              <a:t>级结点。</a:t>
            </a:r>
            <a:endParaRPr lang="zh-CN" altLang="en-US" sz="2400">
              <a:ea typeface="新宋体" panose="02010609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9668"/>
                                        </p:tgtEl>
                                        <p:attrNameLst>
                                          <p:attrName>style.visibility</p:attrName>
                                        </p:attrNameLst>
                                      </p:cBhvr>
                                      <p:to>
                                        <p:strVal val="visible"/>
                                      </p:to>
                                    </p:set>
                                    <p:anim calcmode="lin" valueType="num">
                                      <p:cBhvr additive="base">
                                        <p:cTn id="7" dur="500" fill="hold"/>
                                        <p:tgtEl>
                                          <p:spTgt spid="369668"/>
                                        </p:tgtEl>
                                        <p:attrNameLst>
                                          <p:attrName>ppt_x</p:attrName>
                                        </p:attrNameLst>
                                      </p:cBhvr>
                                      <p:tavLst>
                                        <p:tav tm="0">
                                          <p:val>
                                            <p:strVal val="#ppt_x"/>
                                          </p:val>
                                        </p:tav>
                                        <p:tav tm="100000">
                                          <p:val>
                                            <p:strVal val="#ppt_x"/>
                                          </p:val>
                                        </p:tav>
                                      </p:tavLst>
                                    </p:anim>
                                    <p:anim calcmode="lin" valueType="num">
                                      <p:cBhvr additive="base">
                                        <p:cTn id="8" dur="500" fill="hold"/>
                                        <p:tgtEl>
                                          <p:spTgt spid="3696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fld id="{254D7240-EF22-47EA-9703-C2EB52094179}" type="slidenum">
              <a:rPr lang="en-US" altLang="zh-CN"/>
            </a:fld>
            <a:endParaRPr lang="en-US" altLang="zh-CN"/>
          </a:p>
        </p:txBody>
      </p:sp>
      <p:sp>
        <p:nvSpPr>
          <p:cNvPr id="370690" name="Rectangle 2"/>
          <p:cNvSpPr>
            <a:spLocks noChangeArrowheads="1"/>
          </p:cNvSpPr>
          <p:nvPr/>
        </p:nvSpPr>
        <p:spPr bwMode="auto">
          <a:xfrm>
            <a:off x="684213"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500" b="1">
                <a:solidFill>
                  <a:schemeClr val="tx2"/>
                </a:solidFill>
                <a:latin typeface="黑体" panose="02010609060101010101" pitchFamily="49" charset="-122"/>
                <a:ea typeface="黑体" panose="02010609060101010101" pitchFamily="49" charset="-122"/>
              </a:rPr>
              <a:t>跳跃表</a:t>
            </a:r>
            <a:endParaRPr lang="zh-CN" altLang="en-US" sz="3500" b="1">
              <a:solidFill>
                <a:schemeClr val="tx2"/>
              </a:solidFill>
              <a:latin typeface="黑体" panose="02010609060101010101" pitchFamily="49" charset="-122"/>
              <a:ea typeface="黑体" panose="02010609060101010101" pitchFamily="49" charset="-122"/>
            </a:endParaRPr>
          </a:p>
        </p:txBody>
      </p:sp>
      <p:sp>
        <p:nvSpPr>
          <p:cNvPr id="370691" name="Text Box 3"/>
          <p:cNvSpPr txBox="1">
            <a:spLocks noChangeArrowheads="1"/>
          </p:cNvSpPr>
          <p:nvPr/>
        </p:nvSpPr>
        <p:spPr bwMode="auto">
          <a:xfrm>
            <a:off x="0" y="765175"/>
            <a:ext cx="9144000" cy="4060825"/>
          </a:xfrm>
          <a:prstGeom prst="rect">
            <a:avLst/>
          </a:prstGeom>
          <a:solidFill>
            <a:schemeClr val="bg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FontTx/>
              <a:buChar char="•"/>
            </a:pPr>
            <a:r>
              <a:rPr lang="zh-CN" altLang="en-US" sz="2600">
                <a:ea typeface="新宋体" panose="02010609030101010101" charset="-122"/>
              </a:rPr>
              <a:t>为了在动态变化中维持跳跃表中附加指针的平衡性，必须使跳跃表中</a:t>
            </a:r>
            <a:r>
              <a:rPr lang="en-US" altLang="zh-CN" sz="2600">
                <a:ea typeface="新宋体" panose="02010609030101010101" charset="-122"/>
              </a:rPr>
              <a:t>k</a:t>
            </a:r>
            <a:r>
              <a:rPr lang="zh-CN" altLang="en-US" sz="2600">
                <a:ea typeface="新宋体" panose="02010609030101010101" charset="-122"/>
              </a:rPr>
              <a:t>级结点数维持在总结点数的一定比例范围内。</a:t>
            </a:r>
            <a:endParaRPr lang="zh-CN" altLang="en-US" sz="2600">
              <a:ea typeface="新宋体" panose="02010609030101010101" charset="-122"/>
            </a:endParaRPr>
          </a:p>
          <a:p>
            <a:pPr>
              <a:buFontTx/>
              <a:buChar char="•"/>
            </a:pPr>
            <a:r>
              <a:rPr lang="zh-CN" altLang="en-US" sz="2600">
                <a:ea typeface="新宋体" panose="02010609030101010101" charset="-122"/>
              </a:rPr>
              <a:t>注意到在一个完全跳跃表中，</a:t>
            </a:r>
            <a:r>
              <a:rPr lang="en-US" altLang="zh-CN" sz="2600">
                <a:ea typeface="新宋体" panose="02010609030101010101" charset="-122"/>
              </a:rPr>
              <a:t>50%</a:t>
            </a:r>
            <a:r>
              <a:rPr lang="zh-CN" altLang="en-US" sz="2600">
                <a:ea typeface="新宋体" panose="02010609030101010101" charset="-122"/>
              </a:rPr>
              <a:t>的指针是</a:t>
            </a:r>
            <a:r>
              <a:rPr lang="en-US" altLang="zh-CN" sz="2600">
                <a:ea typeface="新宋体" panose="02010609030101010101" charset="-122"/>
              </a:rPr>
              <a:t>0</a:t>
            </a:r>
            <a:r>
              <a:rPr lang="zh-CN" altLang="en-US" sz="2600">
                <a:ea typeface="新宋体" panose="02010609030101010101" charset="-122"/>
              </a:rPr>
              <a:t>级指针；</a:t>
            </a:r>
            <a:r>
              <a:rPr lang="en-US" altLang="zh-CN" sz="2600">
                <a:ea typeface="新宋体" panose="02010609030101010101" charset="-122"/>
              </a:rPr>
              <a:t>25%</a:t>
            </a:r>
            <a:r>
              <a:rPr lang="zh-CN" altLang="en-US" sz="2600">
                <a:ea typeface="新宋体" panose="02010609030101010101" charset="-122"/>
              </a:rPr>
              <a:t>的指针是</a:t>
            </a:r>
            <a:r>
              <a:rPr lang="en-US" altLang="zh-CN" sz="2600">
                <a:ea typeface="新宋体" panose="02010609030101010101" charset="-122"/>
              </a:rPr>
              <a:t>1</a:t>
            </a:r>
            <a:r>
              <a:rPr lang="zh-CN" altLang="en-US" sz="2600">
                <a:ea typeface="新宋体" panose="02010609030101010101" charset="-122"/>
              </a:rPr>
              <a:t>级指针；</a:t>
            </a:r>
            <a:r>
              <a:rPr lang="en-US" altLang="zh-CN" sz="2600">
                <a:ea typeface="新宋体" panose="02010609030101010101" charset="-122"/>
              </a:rPr>
              <a:t>…</a:t>
            </a:r>
            <a:r>
              <a:rPr lang="zh-CN" altLang="en-US" sz="2600">
                <a:ea typeface="新宋体" panose="02010609030101010101" charset="-122"/>
              </a:rPr>
              <a:t>；</a:t>
            </a:r>
            <a:r>
              <a:rPr lang="en-US" altLang="zh-CN" sz="2600">
                <a:ea typeface="新宋体" panose="02010609030101010101" charset="-122"/>
              </a:rPr>
              <a:t>(100/2</a:t>
            </a:r>
            <a:r>
              <a:rPr lang="en-US" altLang="zh-CN" sz="2600" baseline="30000">
                <a:ea typeface="新宋体" panose="02010609030101010101" charset="-122"/>
              </a:rPr>
              <a:t>k+1</a:t>
            </a:r>
            <a:r>
              <a:rPr lang="en-US" altLang="zh-CN" sz="2600">
                <a:ea typeface="新宋体" panose="02010609030101010101" charset="-122"/>
              </a:rPr>
              <a:t>)%</a:t>
            </a:r>
            <a:r>
              <a:rPr lang="zh-CN" altLang="en-US" sz="2600">
                <a:ea typeface="新宋体" panose="02010609030101010101" charset="-122"/>
              </a:rPr>
              <a:t>的指针是</a:t>
            </a:r>
            <a:r>
              <a:rPr lang="en-US" altLang="zh-CN" sz="2600">
                <a:ea typeface="新宋体" panose="02010609030101010101" charset="-122"/>
              </a:rPr>
              <a:t>k</a:t>
            </a:r>
            <a:r>
              <a:rPr lang="zh-CN" altLang="en-US" sz="2600">
                <a:ea typeface="新宋体" panose="02010609030101010101" charset="-122"/>
              </a:rPr>
              <a:t>级指针。</a:t>
            </a:r>
            <a:endParaRPr lang="zh-CN" altLang="en-US" sz="2600">
              <a:ea typeface="新宋体" panose="02010609030101010101" charset="-122"/>
            </a:endParaRPr>
          </a:p>
          <a:p>
            <a:pPr>
              <a:buFontTx/>
              <a:buChar char="•"/>
            </a:pPr>
            <a:r>
              <a:rPr lang="zh-CN" altLang="en-US" sz="2600">
                <a:ea typeface="新宋体" panose="02010609030101010101" charset="-122"/>
              </a:rPr>
              <a:t>因此，在插入一个元素时，以概率</a:t>
            </a:r>
            <a:r>
              <a:rPr lang="en-US" altLang="zh-CN" sz="2600">
                <a:ea typeface="新宋体" panose="02010609030101010101" charset="-122"/>
              </a:rPr>
              <a:t>1/2</a:t>
            </a:r>
            <a:r>
              <a:rPr lang="zh-CN" altLang="en-US" sz="2600">
                <a:ea typeface="新宋体" panose="02010609030101010101" charset="-122"/>
              </a:rPr>
              <a:t>引入一个</a:t>
            </a:r>
            <a:r>
              <a:rPr lang="en-US" altLang="zh-CN" sz="2600">
                <a:ea typeface="新宋体" panose="02010609030101010101" charset="-122"/>
              </a:rPr>
              <a:t>0</a:t>
            </a:r>
            <a:r>
              <a:rPr lang="zh-CN" altLang="en-US" sz="2600">
                <a:ea typeface="新宋体" panose="02010609030101010101" charset="-122"/>
              </a:rPr>
              <a:t>级结点，以概率</a:t>
            </a:r>
            <a:r>
              <a:rPr lang="en-US" altLang="zh-CN" sz="2600">
                <a:ea typeface="新宋体" panose="02010609030101010101" charset="-122"/>
              </a:rPr>
              <a:t>1/4</a:t>
            </a:r>
            <a:r>
              <a:rPr lang="zh-CN" altLang="en-US" sz="2600">
                <a:ea typeface="新宋体" panose="02010609030101010101" charset="-122"/>
              </a:rPr>
              <a:t>引入一个</a:t>
            </a:r>
            <a:r>
              <a:rPr lang="en-US" altLang="zh-CN" sz="2600">
                <a:ea typeface="新宋体" panose="02010609030101010101" charset="-122"/>
              </a:rPr>
              <a:t>1</a:t>
            </a:r>
            <a:r>
              <a:rPr lang="zh-CN" altLang="en-US" sz="2600">
                <a:ea typeface="新宋体" panose="02010609030101010101" charset="-122"/>
              </a:rPr>
              <a:t>级结点，</a:t>
            </a:r>
            <a:r>
              <a:rPr lang="en-US" altLang="zh-CN" sz="2600">
                <a:ea typeface="新宋体" panose="02010609030101010101" charset="-122"/>
              </a:rPr>
              <a:t>…</a:t>
            </a:r>
            <a:r>
              <a:rPr lang="zh-CN" altLang="en-US" sz="2600">
                <a:ea typeface="新宋体" panose="02010609030101010101" charset="-122"/>
              </a:rPr>
              <a:t>，以概率</a:t>
            </a:r>
            <a:r>
              <a:rPr lang="en-US" altLang="zh-CN" sz="2600">
                <a:ea typeface="新宋体" panose="02010609030101010101" charset="-122"/>
              </a:rPr>
              <a:t>1/2</a:t>
            </a:r>
            <a:r>
              <a:rPr lang="en-US" altLang="zh-CN" sz="2600" baseline="30000">
                <a:ea typeface="新宋体" panose="02010609030101010101" charset="-122"/>
              </a:rPr>
              <a:t>k+1</a:t>
            </a:r>
            <a:r>
              <a:rPr lang="zh-CN" altLang="en-US" sz="2600">
                <a:ea typeface="新宋体" panose="02010609030101010101" charset="-122"/>
              </a:rPr>
              <a:t>引入一个</a:t>
            </a:r>
            <a:r>
              <a:rPr lang="en-US" altLang="zh-CN" sz="2600">
                <a:ea typeface="新宋体" panose="02010609030101010101" charset="-122"/>
              </a:rPr>
              <a:t>k</a:t>
            </a:r>
            <a:r>
              <a:rPr lang="zh-CN" altLang="en-US" sz="2600">
                <a:ea typeface="新宋体" panose="02010609030101010101" charset="-122"/>
              </a:rPr>
              <a:t>级结点。</a:t>
            </a:r>
            <a:endParaRPr lang="zh-CN" altLang="en-US" sz="2600">
              <a:ea typeface="新宋体" panose="02010609030101010101" charset="-122"/>
            </a:endParaRPr>
          </a:p>
          <a:p>
            <a:pPr>
              <a:buFontTx/>
              <a:buChar char="•"/>
            </a:pPr>
            <a:r>
              <a:rPr lang="zh-CN" altLang="en-US" sz="2600">
                <a:ea typeface="新宋体" panose="02010609030101010101" charset="-122"/>
              </a:rPr>
              <a:t>另一方面，一个</a:t>
            </a:r>
            <a:r>
              <a:rPr lang="en-US" altLang="zh-CN" sz="2600">
                <a:ea typeface="新宋体" panose="02010609030101010101" charset="-122"/>
              </a:rPr>
              <a:t>i</a:t>
            </a:r>
            <a:r>
              <a:rPr lang="zh-CN" altLang="en-US" sz="2600">
                <a:ea typeface="新宋体" panose="02010609030101010101" charset="-122"/>
              </a:rPr>
              <a:t>级结点指向下一个同级或更高级的结点，它所跳过的结点数不再准确地维持在</a:t>
            </a:r>
            <a:r>
              <a:rPr lang="en-US" altLang="zh-CN" sz="2600">
                <a:ea typeface="新宋体" panose="02010609030101010101" charset="-122"/>
              </a:rPr>
              <a:t>2</a:t>
            </a:r>
            <a:r>
              <a:rPr lang="en-US" altLang="zh-CN" sz="2600" baseline="30000">
                <a:ea typeface="新宋体" panose="02010609030101010101" charset="-122"/>
              </a:rPr>
              <a:t>i</a:t>
            </a:r>
            <a:r>
              <a:rPr lang="en-US" altLang="zh-CN" sz="2600">
                <a:ea typeface="新宋体" panose="02010609030101010101" charset="-122"/>
              </a:rPr>
              <a:t>-1</a:t>
            </a:r>
            <a:r>
              <a:rPr lang="zh-CN" altLang="en-US" sz="2600">
                <a:ea typeface="新宋体" panose="02010609030101010101" charset="-122"/>
              </a:rPr>
              <a:t>。</a:t>
            </a:r>
            <a:endParaRPr lang="zh-CN" altLang="en-US" sz="2600">
              <a:ea typeface="新宋体" panose="02010609030101010101" charset="-122"/>
            </a:endParaRPr>
          </a:p>
          <a:p>
            <a:pPr>
              <a:buFontTx/>
              <a:buChar char="•"/>
            </a:pPr>
            <a:r>
              <a:rPr lang="zh-CN" altLang="en-US" sz="2600">
                <a:ea typeface="新宋体" panose="02010609030101010101" charset="-122"/>
              </a:rPr>
              <a:t>经过这样的修改，就可以在插入或删除一个元素时，通过对跳跃表的局部修改来维持其平衡性。 </a:t>
            </a:r>
            <a:endParaRPr lang="zh-CN" altLang="en-US" sz="2600">
              <a:ea typeface="新宋体" panose="02010609030101010101" charset="-122"/>
            </a:endParaRPr>
          </a:p>
        </p:txBody>
      </p:sp>
      <p:pic>
        <p:nvPicPr>
          <p:cNvPr id="370692" name="Picture 4" descr="t7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5013325"/>
            <a:ext cx="9144000"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70691">
                                            <p:txEl>
                                              <p:pRg st="0" end="0"/>
                                            </p:txEl>
                                          </p:spTgt>
                                        </p:tgtEl>
                                        <p:attrNameLst>
                                          <p:attrName>style.visibility</p:attrName>
                                        </p:attrNameLst>
                                      </p:cBhvr>
                                      <p:to>
                                        <p:strVal val="visible"/>
                                      </p:to>
                                    </p:set>
                                    <p:animEffect transition="in" filter="diamond(in)">
                                      <p:cBhvr>
                                        <p:cTn id="7" dur="2000"/>
                                        <p:tgtEl>
                                          <p:spTgt spid="3706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70691">
                                            <p:txEl>
                                              <p:pRg st="1" end="1"/>
                                            </p:txEl>
                                          </p:spTgt>
                                        </p:tgtEl>
                                        <p:attrNameLst>
                                          <p:attrName>style.visibility</p:attrName>
                                        </p:attrNameLst>
                                      </p:cBhvr>
                                      <p:to>
                                        <p:strVal val="visible"/>
                                      </p:to>
                                    </p:set>
                                    <p:animEffect transition="in" filter="diamond(in)">
                                      <p:cBhvr>
                                        <p:cTn id="12" dur="2000"/>
                                        <p:tgtEl>
                                          <p:spTgt spid="3706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370691">
                                            <p:txEl>
                                              <p:pRg st="2" end="2"/>
                                            </p:txEl>
                                          </p:spTgt>
                                        </p:tgtEl>
                                        <p:attrNameLst>
                                          <p:attrName>style.visibility</p:attrName>
                                        </p:attrNameLst>
                                      </p:cBhvr>
                                      <p:to>
                                        <p:strVal val="visible"/>
                                      </p:to>
                                    </p:set>
                                    <p:animEffect transition="in" filter="diamond(in)">
                                      <p:cBhvr>
                                        <p:cTn id="17" dur="2000"/>
                                        <p:tgtEl>
                                          <p:spTgt spid="3706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370691">
                                            <p:txEl>
                                              <p:pRg st="3" end="3"/>
                                            </p:txEl>
                                          </p:spTgt>
                                        </p:tgtEl>
                                        <p:attrNameLst>
                                          <p:attrName>style.visibility</p:attrName>
                                        </p:attrNameLst>
                                      </p:cBhvr>
                                      <p:to>
                                        <p:strVal val="visible"/>
                                      </p:to>
                                    </p:set>
                                    <p:animEffect transition="in" filter="diamond(in)">
                                      <p:cBhvr>
                                        <p:cTn id="22" dur="2000"/>
                                        <p:tgtEl>
                                          <p:spTgt spid="3706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370691">
                                            <p:txEl>
                                              <p:pRg st="4" end="4"/>
                                            </p:txEl>
                                          </p:spTgt>
                                        </p:tgtEl>
                                        <p:attrNameLst>
                                          <p:attrName>style.visibility</p:attrName>
                                        </p:attrNameLst>
                                      </p:cBhvr>
                                      <p:to>
                                        <p:strVal val="visible"/>
                                      </p:to>
                                    </p:set>
                                    <p:animEffect transition="in" filter="diamond(in)">
                                      <p:cBhvr>
                                        <p:cTn id="27" dur="2000"/>
                                        <p:tgtEl>
                                          <p:spTgt spid="3706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70692"/>
                                        </p:tgtEl>
                                        <p:attrNameLst>
                                          <p:attrName>style.visibility</p:attrName>
                                        </p:attrNameLst>
                                      </p:cBhvr>
                                      <p:to>
                                        <p:strVal val="visible"/>
                                      </p:to>
                                    </p:set>
                                    <p:anim calcmode="lin" valueType="num">
                                      <p:cBhvr additive="base">
                                        <p:cTn id="32" dur="500" fill="hold"/>
                                        <p:tgtEl>
                                          <p:spTgt spid="370692"/>
                                        </p:tgtEl>
                                        <p:attrNameLst>
                                          <p:attrName>ppt_x</p:attrName>
                                        </p:attrNameLst>
                                      </p:cBhvr>
                                      <p:tavLst>
                                        <p:tav tm="0">
                                          <p:val>
                                            <p:strVal val="#ppt_x"/>
                                          </p:val>
                                        </p:tav>
                                        <p:tav tm="100000">
                                          <p:val>
                                            <p:strVal val="#ppt_x"/>
                                          </p:val>
                                        </p:tav>
                                      </p:tavLst>
                                    </p:anim>
                                    <p:anim calcmode="lin" valueType="num">
                                      <p:cBhvr additive="base">
                                        <p:cTn id="33" dur="500" fill="hold"/>
                                        <p:tgtEl>
                                          <p:spTgt spid="3706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A42B9EEB-8FE3-470C-87B0-5D29DE14F06C}" type="slidenum">
              <a:rPr lang="en-US" altLang="zh-CN"/>
            </a:fld>
            <a:endParaRPr lang="en-US" altLang="zh-CN"/>
          </a:p>
        </p:txBody>
      </p:sp>
      <p:sp>
        <p:nvSpPr>
          <p:cNvPr id="371714" name="Rectangle 2"/>
          <p:cNvSpPr>
            <a:spLocks noGrp="1" noChangeArrowheads="1"/>
          </p:cNvSpPr>
          <p:nvPr>
            <p:ph type="title"/>
          </p:nvPr>
        </p:nvSpPr>
        <p:spPr>
          <a:xfrm>
            <a:off x="457200" y="122238"/>
            <a:ext cx="7543800" cy="1146175"/>
          </a:xfrm>
        </p:spPr>
        <p:txBody>
          <a:bodyPr/>
          <a:lstStyle/>
          <a:p>
            <a:r>
              <a:rPr lang="zh-CN" altLang="en-US">
                <a:latin typeface="黑体" panose="02010609060101010101" pitchFamily="49" charset="-122"/>
                <a:ea typeface="黑体" panose="02010609060101010101" pitchFamily="49" charset="-122"/>
              </a:rPr>
              <a:t>跳跃表</a:t>
            </a:r>
            <a:endParaRPr lang="zh-CN" altLang="en-US">
              <a:latin typeface="黑体" panose="02010609060101010101" pitchFamily="49" charset="-122"/>
              <a:ea typeface="黑体" panose="02010609060101010101" pitchFamily="49" charset="-122"/>
            </a:endParaRPr>
          </a:p>
        </p:txBody>
      </p:sp>
      <p:sp>
        <p:nvSpPr>
          <p:cNvPr id="371715" name="Rectangle 3"/>
          <p:cNvSpPr>
            <a:spLocks noGrp="1" noChangeArrowheads="1"/>
          </p:cNvSpPr>
          <p:nvPr>
            <p:ph type="body" idx="1"/>
          </p:nvPr>
        </p:nvSpPr>
        <p:spPr>
          <a:xfrm>
            <a:off x="468313" y="1412875"/>
            <a:ext cx="8229600" cy="720725"/>
          </a:xfrm>
        </p:spPr>
        <p:txBody>
          <a:bodyPr/>
          <a:lstStyle/>
          <a:p>
            <a:r>
              <a:rPr lang="zh-CN" altLang="en-US"/>
              <a:t>在下图所示的位置插入一个元素８</a:t>
            </a:r>
            <a:endParaRPr lang="zh-CN" altLang="en-US"/>
          </a:p>
        </p:txBody>
      </p:sp>
      <p:pic>
        <p:nvPicPr>
          <p:cNvPr id="371716" name="Picture 4" descr="t7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79613" y="4044950"/>
            <a:ext cx="4968875" cy="281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1717" name="Picture 5" descr="t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33600"/>
            <a:ext cx="9144000"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1718" name="AutoShape 6"/>
          <p:cNvSpPr>
            <a:spLocks noChangeArrowheads="1"/>
          </p:cNvSpPr>
          <p:nvPr/>
        </p:nvSpPr>
        <p:spPr bwMode="auto">
          <a:xfrm>
            <a:off x="5940425" y="3141663"/>
            <a:ext cx="2665413" cy="935037"/>
          </a:xfrm>
          <a:prstGeom prst="cloudCallout">
            <a:avLst>
              <a:gd name="adj1" fmla="val -119625"/>
              <a:gd name="adj2" fmla="val -35060"/>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t>以随机的方式确定新结点的级别</a:t>
            </a:r>
            <a:endParaRPr lang="zh-CN" altLang="en-US" b="1"/>
          </a:p>
        </p:txBody>
      </p:sp>
      <p:sp>
        <p:nvSpPr>
          <p:cNvPr id="371719" name="AutoShape 7"/>
          <p:cNvSpPr>
            <a:spLocks noChangeArrowheads="1"/>
          </p:cNvSpPr>
          <p:nvPr/>
        </p:nvSpPr>
        <p:spPr bwMode="auto">
          <a:xfrm>
            <a:off x="250825" y="5300663"/>
            <a:ext cx="1584325" cy="504825"/>
          </a:xfrm>
          <a:prstGeom prst="wedgeEllipseCallout">
            <a:avLst>
              <a:gd name="adj1" fmla="val 69139"/>
              <a:gd name="adj2" fmla="val -111319"/>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a:t>２级结点</a:t>
            </a:r>
            <a:endParaRPr lang="zh-CN" altLang="en-US"/>
          </a:p>
        </p:txBody>
      </p:sp>
      <p:sp>
        <p:nvSpPr>
          <p:cNvPr id="371720" name="AutoShape 8"/>
          <p:cNvSpPr>
            <a:spLocks noChangeArrowheads="1"/>
          </p:cNvSpPr>
          <p:nvPr/>
        </p:nvSpPr>
        <p:spPr bwMode="auto">
          <a:xfrm>
            <a:off x="6877050" y="5589588"/>
            <a:ext cx="1584325" cy="504825"/>
          </a:xfrm>
          <a:prstGeom prst="wedgeEllipseCallout">
            <a:avLst>
              <a:gd name="adj1" fmla="val -72546"/>
              <a:gd name="adj2" fmla="val 101574"/>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a:t>１级结点</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decel="50000" fill="hold" grpId="0" nodeType="clickEffect">
                                  <p:stCondLst>
                                    <p:cond delay="0"/>
                                  </p:stCondLst>
                                  <p:childTnLst>
                                    <p:set>
                                      <p:cBhvr>
                                        <p:cTn id="6" dur="1" fill="hold">
                                          <p:stCondLst>
                                            <p:cond delay="0"/>
                                          </p:stCondLst>
                                        </p:cTn>
                                        <p:tgtEl>
                                          <p:spTgt spid="371718"/>
                                        </p:tgtEl>
                                        <p:attrNameLst>
                                          <p:attrName>style.visibility</p:attrName>
                                        </p:attrNameLst>
                                      </p:cBhvr>
                                      <p:to>
                                        <p:strVal val="visible"/>
                                      </p:to>
                                    </p:set>
                                    <p:anim calcmode="lin" valueType="num">
                                      <p:cBhvr additive="base">
                                        <p:cTn id="7" dur="500" fill="hold"/>
                                        <p:tgtEl>
                                          <p:spTgt spid="371718"/>
                                        </p:tgtEl>
                                        <p:attrNameLst>
                                          <p:attrName>ppt_x</p:attrName>
                                        </p:attrNameLst>
                                      </p:cBhvr>
                                      <p:tavLst>
                                        <p:tav tm="0">
                                          <p:val>
                                            <p:strVal val="1+#ppt_w/2"/>
                                          </p:val>
                                        </p:tav>
                                        <p:tav tm="100000">
                                          <p:val>
                                            <p:strVal val="#ppt_x"/>
                                          </p:val>
                                        </p:tav>
                                      </p:tavLst>
                                    </p:anim>
                                    <p:anim calcmode="lin" valueType="num">
                                      <p:cBhvr additive="base">
                                        <p:cTn id="8" dur="500" fill="hold"/>
                                        <p:tgtEl>
                                          <p:spTgt spid="3717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nodeType="clickEffect">
                                  <p:stCondLst>
                                    <p:cond delay="0"/>
                                  </p:stCondLst>
                                  <p:childTnLst>
                                    <p:set>
                                      <p:cBhvr>
                                        <p:cTn id="12" dur="1" fill="hold">
                                          <p:stCondLst>
                                            <p:cond delay="0"/>
                                          </p:stCondLst>
                                        </p:cTn>
                                        <p:tgtEl>
                                          <p:spTgt spid="371716"/>
                                        </p:tgtEl>
                                        <p:attrNameLst>
                                          <p:attrName>style.visibility</p:attrName>
                                        </p:attrNameLst>
                                      </p:cBhvr>
                                      <p:to>
                                        <p:strVal val="visible"/>
                                      </p:to>
                                    </p:set>
                                    <p:anim calcmode="lin" valueType="num">
                                      <p:cBhvr>
                                        <p:cTn id="13" dur="500" fill="hold"/>
                                        <p:tgtEl>
                                          <p:spTgt spid="371716"/>
                                        </p:tgtEl>
                                        <p:attrNameLst>
                                          <p:attrName>ppt_w</p:attrName>
                                        </p:attrNameLst>
                                      </p:cBhvr>
                                      <p:tavLst>
                                        <p:tav tm="0">
                                          <p:val>
                                            <p:fltVal val="0"/>
                                          </p:val>
                                        </p:tav>
                                        <p:tav tm="100000">
                                          <p:val>
                                            <p:strVal val="#ppt_w"/>
                                          </p:val>
                                        </p:tav>
                                      </p:tavLst>
                                    </p:anim>
                                    <p:anim calcmode="lin" valueType="num">
                                      <p:cBhvr>
                                        <p:cTn id="14" dur="500" fill="hold"/>
                                        <p:tgtEl>
                                          <p:spTgt spid="371716"/>
                                        </p:tgtEl>
                                        <p:attrNameLst>
                                          <p:attrName>ppt_h</p:attrName>
                                        </p:attrNameLst>
                                      </p:cBhvr>
                                      <p:tavLst>
                                        <p:tav tm="0">
                                          <p:val>
                                            <p:fltVal val="0"/>
                                          </p:val>
                                        </p:tav>
                                        <p:tav tm="100000">
                                          <p:val>
                                            <p:strVal val="#ppt_h"/>
                                          </p:val>
                                        </p:tav>
                                      </p:tavLst>
                                    </p:anim>
                                    <p:anim calcmode="lin" valueType="num">
                                      <p:cBhvr>
                                        <p:cTn id="15" dur="500" fill="hold"/>
                                        <p:tgtEl>
                                          <p:spTgt spid="371716"/>
                                        </p:tgtEl>
                                        <p:attrNameLst>
                                          <p:attrName>style.rotation</p:attrName>
                                        </p:attrNameLst>
                                      </p:cBhvr>
                                      <p:tavLst>
                                        <p:tav tm="0">
                                          <p:val>
                                            <p:fltVal val="360"/>
                                          </p:val>
                                        </p:tav>
                                        <p:tav tm="100000">
                                          <p:val>
                                            <p:fltVal val="0"/>
                                          </p:val>
                                        </p:tav>
                                      </p:tavLst>
                                    </p:anim>
                                    <p:animEffect transition="in" filter="fade">
                                      <p:cBhvr>
                                        <p:cTn id="16" dur="500"/>
                                        <p:tgtEl>
                                          <p:spTgt spid="371716"/>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71719"/>
                                        </p:tgtEl>
                                        <p:attrNameLst>
                                          <p:attrName>style.visibility</p:attrName>
                                        </p:attrNameLst>
                                      </p:cBhvr>
                                      <p:to>
                                        <p:strVal val="visible"/>
                                      </p:to>
                                    </p:set>
                                    <p:anim calcmode="lin" valueType="num">
                                      <p:cBhvr additive="base">
                                        <p:cTn id="21" dur="500" fill="hold"/>
                                        <p:tgtEl>
                                          <p:spTgt spid="371719"/>
                                        </p:tgtEl>
                                        <p:attrNameLst>
                                          <p:attrName>ppt_x</p:attrName>
                                        </p:attrNameLst>
                                      </p:cBhvr>
                                      <p:tavLst>
                                        <p:tav tm="0">
                                          <p:val>
                                            <p:strVal val="#ppt_x"/>
                                          </p:val>
                                        </p:tav>
                                        <p:tav tm="100000">
                                          <p:val>
                                            <p:strVal val="#ppt_x"/>
                                          </p:val>
                                        </p:tav>
                                      </p:tavLst>
                                    </p:anim>
                                    <p:anim calcmode="lin" valueType="num">
                                      <p:cBhvr additive="base">
                                        <p:cTn id="22" dur="500" fill="hold"/>
                                        <p:tgtEl>
                                          <p:spTgt spid="37171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71720"/>
                                        </p:tgtEl>
                                        <p:attrNameLst>
                                          <p:attrName>style.visibility</p:attrName>
                                        </p:attrNameLst>
                                      </p:cBhvr>
                                      <p:to>
                                        <p:strVal val="visible"/>
                                      </p:to>
                                    </p:set>
                                    <p:anim calcmode="lin" valueType="num">
                                      <p:cBhvr additive="base">
                                        <p:cTn id="27" dur="500" fill="hold"/>
                                        <p:tgtEl>
                                          <p:spTgt spid="371720"/>
                                        </p:tgtEl>
                                        <p:attrNameLst>
                                          <p:attrName>ppt_x</p:attrName>
                                        </p:attrNameLst>
                                      </p:cBhvr>
                                      <p:tavLst>
                                        <p:tav tm="0">
                                          <p:val>
                                            <p:strVal val="#ppt_x"/>
                                          </p:val>
                                        </p:tav>
                                        <p:tav tm="100000">
                                          <p:val>
                                            <p:strVal val="#ppt_x"/>
                                          </p:val>
                                        </p:tav>
                                      </p:tavLst>
                                    </p:anim>
                                    <p:anim calcmode="lin" valueType="num">
                                      <p:cBhvr additive="base">
                                        <p:cTn id="28" dur="500" fill="hold"/>
                                        <p:tgtEl>
                                          <p:spTgt spid="3717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8" grpId="0" animBg="1"/>
      <p:bldP spid="371719" grpId="0" animBg="1"/>
      <p:bldP spid="37172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fld id="{0B9CD03B-623C-4DDC-AD79-07B173D84146}" type="slidenum">
              <a:rPr lang="en-US" altLang="zh-CN"/>
            </a:fld>
            <a:endParaRPr lang="en-US" altLang="zh-CN"/>
          </a:p>
        </p:txBody>
      </p:sp>
      <p:sp>
        <p:nvSpPr>
          <p:cNvPr id="372738" name="Rectangle 2"/>
          <p:cNvSpPr>
            <a:spLocks noChangeArrowheads="1"/>
          </p:cNvSpPr>
          <p:nvPr/>
        </p:nvSpPr>
        <p:spPr bwMode="auto">
          <a:xfrm>
            <a:off x="611188" y="26035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500" b="1">
                <a:solidFill>
                  <a:schemeClr val="tx2"/>
                </a:solidFill>
                <a:latin typeface="黑体" panose="02010609060101010101" pitchFamily="49" charset="-122"/>
                <a:ea typeface="黑体" panose="02010609060101010101" pitchFamily="49" charset="-122"/>
              </a:rPr>
              <a:t>跳跃表</a:t>
            </a:r>
            <a:endParaRPr lang="zh-CN" altLang="en-US" sz="3500" b="1">
              <a:solidFill>
                <a:schemeClr val="tx2"/>
              </a:solidFill>
              <a:latin typeface="黑体" panose="02010609060101010101" pitchFamily="49" charset="-122"/>
              <a:ea typeface="黑体" panose="02010609060101010101" pitchFamily="49" charset="-122"/>
            </a:endParaRPr>
          </a:p>
        </p:txBody>
      </p:sp>
      <p:sp>
        <p:nvSpPr>
          <p:cNvPr id="372739" name="Text Box 3"/>
          <p:cNvSpPr txBox="1">
            <a:spLocks noChangeArrowheads="1"/>
          </p:cNvSpPr>
          <p:nvPr/>
        </p:nvSpPr>
        <p:spPr bwMode="auto">
          <a:xfrm>
            <a:off x="250825" y="1052513"/>
            <a:ext cx="8516938" cy="5203825"/>
          </a:xfrm>
          <a:prstGeom prst="rect">
            <a:avLst/>
          </a:prstGeom>
          <a:solidFill>
            <a:schemeClr val="bg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 	在一个完全跳跃表中，具有</a:t>
            </a:r>
            <a:r>
              <a:rPr lang="en-US" altLang="zh-CN" sz="2400">
                <a:ea typeface="新宋体" panose="02010609030101010101" charset="-122"/>
              </a:rPr>
              <a:t>i</a:t>
            </a:r>
            <a:r>
              <a:rPr lang="zh-CN" altLang="en-US" sz="2400">
                <a:ea typeface="新宋体" panose="02010609030101010101" charset="-122"/>
              </a:rPr>
              <a:t>级指针的结点中有一半同时具有</a:t>
            </a:r>
            <a:r>
              <a:rPr lang="en-US" altLang="zh-CN" sz="2400">
                <a:ea typeface="新宋体" panose="02010609030101010101" charset="-122"/>
              </a:rPr>
              <a:t>i+1</a:t>
            </a:r>
            <a:r>
              <a:rPr lang="zh-CN" altLang="en-US" sz="2400">
                <a:ea typeface="新宋体" panose="02010609030101010101" charset="-122"/>
              </a:rPr>
              <a:t>级指针。为了维持跳跃表的平衡性，可以事先确定一个实数</a:t>
            </a:r>
            <a:r>
              <a:rPr lang="en-US" altLang="zh-CN" sz="2400">
                <a:ea typeface="新宋体" panose="02010609030101010101" charset="-122"/>
              </a:rPr>
              <a:t>0&lt;p&lt;1</a:t>
            </a:r>
            <a:r>
              <a:rPr lang="zh-CN" altLang="en-US" sz="2400">
                <a:ea typeface="新宋体" panose="02010609030101010101" charset="-122"/>
              </a:rPr>
              <a:t>，并要求在跳跃表中维持在具有</a:t>
            </a:r>
            <a:r>
              <a:rPr lang="en-US" altLang="zh-CN" sz="2400">
                <a:ea typeface="新宋体" panose="02010609030101010101" charset="-122"/>
              </a:rPr>
              <a:t>i</a:t>
            </a:r>
            <a:r>
              <a:rPr lang="zh-CN" altLang="en-US" sz="2400">
                <a:ea typeface="新宋体" panose="02010609030101010101" charset="-122"/>
              </a:rPr>
              <a:t>级指针的结点中同时具有</a:t>
            </a:r>
            <a:r>
              <a:rPr lang="en-US" altLang="zh-CN" sz="2400">
                <a:ea typeface="新宋体" panose="02010609030101010101" charset="-122"/>
              </a:rPr>
              <a:t>i+1</a:t>
            </a:r>
            <a:r>
              <a:rPr lang="zh-CN" altLang="en-US" sz="2400">
                <a:ea typeface="新宋体" panose="02010609030101010101" charset="-122"/>
              </a:rPr>
              <a:t>级指针的结点所占比例约为</a:t>
            </a:r>
            <a:r>
              <a:rPr lang="en-US" altLang="zh-CN" sz="2400">
                <a:ea typeface="新宋体" panose="02010609030101010101" charset="-122"/>
              </a:rPr>
              <a:t>p</a:t>
            </a:r>
            <a:r>
              <a:rPr lang="zh-CN" altLang="en-US" sz="2400">
                <a:ea typeface="新宋体" panose="02010609030101010101" charset="-122"/>
              </a:rPr>
              <a:t>。</a:t>
            </a:r>
            <a:endParaRPr lang="zh-CN" altLang="en-US" sz="2400">
              <a:ea typeface="新宋体" panose="02010609030101010101" charset="-122"/>
            </a:endParaRPr>
          </a:p>
          <a:p>
            <a:r>
              <a:rPr lang="zh-CN" altLang="en-US" sz="2400">
                <a:ea typeface="新宋体" panose="02010609030101010101" charset="-122"/>
              </a:rPr>
              <a:t>	为此目的，在插入一个新结点时，先将其结点级别初始化为</a:t>
            </a:r>
            <a:r>
              <a:rPr lang="en-US" altLang="zh-CN" sz="2400">
                <a:ea typeface="新宋体" panose="02010609030101010101" charset="-122"/>
              </a:rPr>
              <a:t>0</a:t>
            </a:r>
            <a:r>
              <a:rPr lang="zh-CN" altLang="en-US" sz="2400">
                <a:ea typeface="新宋体" panose="02010609030101010101" charset="-122"/>
              </a:rPr>
              <a:t>，然后用随机数生成器反复地产生一个</a:t>
            </a:r>
            <a:r>
              <a:rPr lang="en-US" altLang="zh-CN" sz="2400">
                <a:ea typeface="新宋体" panose="02010609030101010101" charset="-122"/>
              </a:rPr>
              <a:t>[0</a:t>
            </a:r>
            <a:r>
              <a:rPr lang="zh-CN" altLang="en-US" sz="2400">
                <a:ea typeface="新宋体" panose="02010609030101010101" charset="-122"/>
              </a:rPr>
              <a:t>，</a:t>
            </a:r>
            <a:r>
              <a:rPr lang="en-US" altLang="zh-CN" sz="2400">
                <a:ea typeface="新宋体" panose="02010609030101010101" charset="-122"/>
              </a:rPr>
              <a:t>1]</a:t>
            </a:r>
            <a:r>
              <a:rPr lang="zh-CN" altLang="en-US" sz="2400">
                <a:ea typeface="新宋体" panose="02010609030101010101" charset="-122"/>
              </a:rPr>
              <a:t>间的随机实数</a:t>
            </a:r>
            <a:r>
              <a:rPr lang="en-US" altLang="zh-CN" sz="2400">
                <a:ea typeface="新宋体" panose="02010609030101010101" charset="-122"/>
              </a:rPr>
              <a:t>q</a:t>
            </a:r>
            <a:r>
              <a:rPr lang="zh-CN" altLang="en-US" sz="2400">
                <a:ea typeface="新宋体" panose="02010609030101010101" charset="-122"/>
              </a:rPr>
              <a:t>。如果</a:t>
            </a:r>
            <a:r>
              <a:rPr lang="en-US" altLang="zh-CN" sz="2400">
                <a:ea typeface="新宋体" panose="02010609030101010101" charset="-122"/>
              </a:rPr>
              <a:t>q&lt;p</a:t>
            </a:r>
            <a:r>
              <a:rPr lang="zh-CN" altLang="en-US" sz="2400">
                <a:ea typeface="新宋体" panose="02010609030101010101" charset="-122"/>
              </a:rPr>
              <a:t>，则使新结点级别增加</a:t>
            </a:r>
            <a:r>
              <a:rPr lang="en-US" altLang="zh-CN" sz="2400">
                <a:ea typeface="新宋体" panose="02010609030101010101" charset="-122"/>
              </a:rPr>
              <a:t>1</a:t>
            </a:r>
            <a:r>
              <a:rPr lang="zh-CN" altLang="en-US" sz="2400">
                <a:ea typeface="新宋体" panose="02010609030101010101" charset="-122"/>
              </a:rPr>
              <a:t>，直至</a:t>
            </a:r>
            <a:r>
              <a:rPr lang="en-US" altLang="zh-CN" sz="2400">
                <a:ea typeface="新宋体" panose="02010609030101010101" charset="-122"/>
              </a:rPr>
              <a:t>q</a:t>
            </a:r>
            <a:r>
              <a:rPr lang="en-US" altLang="zh-CN" sz="2400">
                <a:ea typeface="新宋体" panose="02010609030101010101" charset="-122"/>
                <a:sym typeface="Symbol" panose="05050102010706020507" pitchFamily="18" charset="2"/>
              </a:rPr>
              <a:t></a:t>
            </a:r>
            <a:r>
              <a:rPr lang="en-US" altLang="zh-CN" sz="2400">
                <a:ea typeface="新宋体" panose="02010609030101010101" charset="-122"/>
              </a:rPr>
              <a:t>p</a:t>
            </a:r>
            <a:r>
              <a:rPr lang="zh-CN" altLang="en-US" sz="2400">
                <a:ea typeface="新宋体" panose="02010609030101010101" charset="-122"/>
              </a:rPr>
              <a:t>。</a:t>
            </a:r>
            <a:endParaRPr lang="zh-CN" altLang="en-US" sz="2400">
              <a:ea typeface="新宋体" panose="02010609030101010101" charset="-122"/>
            </a:endParaRPr>
          </a:p>
          <a:p>
            <a:r>
              <a:rPr lang="zh-CN" altLang="en-US" sz="2400">
                <a:ea typeface="新宋体" panose="02010609030101010101" charset="-122"/>
              </a:rPr>
              <a:t>	由此产生新结点级别的过程可知，所产生的新结点的级别为</a:t>
            </a:r>
            <a:r>
              <a:rPr lang="en-US" altLang="zh-CN" sz="2400">
                <a:ea typeface="新宋体" panose="02010609030101010101" charset="-122"/>
              </a:rPr>
              <a:t>0</a:t>
            </a:r>
            <a:r>
              <a:rPr lang="zh-CN" altLang="en-US" sz="2400">
                <a:ea typeface="新宋体" panose="02010609030101010101" charset="-122"/>
              </a:rPr>
              <a:t>的概率为</a:t>
            </a:r>
            <a:r>
              <a:rPr lang="en-US" altLang="zh-CN" sz="2400">
                <a:ea typeface="新宋体" panose="02010609030101010101" charset="-122"/>
              </a:rPr>
              <a:t>1-p</a:t>
            </a:r>
            <a:r>
              <a:rPr lang="zh-CN" altLang="en-US" sz="2400">
                <a:ea typeface="新宋体" panose="02010609030101010101" charset="-122"/>
              </a:rPr>
              <a:t>，级别为</a:t>
            </a:r>
            <a:r>
              <a:rPr lang="en-US" altLang="zh-CN" sz="2400">
                <a:ea typeface="新宋体" panose="02010609030101010101" charset="-122"/>
              </a:rPr>
              <a:t>1</a:t>
            </a:r>
            <a:r>
              <a:rPr lang="zh-CN" altLang="en-US" sz="2400">
                <a:ea typeface="新宋体" panose="02010609030101010101" charset="-122"/>
              </a:rPr>
              <a:t>的概率为</a:t>
            </a:r>
            <a:r>
              <a:rPr lang="en-US" altLang="zh-CN" sz="2400">
                <a:ea typeface="新宋体" panose="02010609030101010101" charset="-122"/>
              </a:rPr>
              <a:t>p(1-p)</a:t>
            </a:r>
            <a:r>
              <a:rPr lang="zh-CN" altLang="en-US" sz="2400">
                <a:ea typeface="新宋体" panose="02010609030101010101" charset="-122"/>
              </a:rPr>
              <a:t>，</a:t>
            </a:r>
            <a:r>
              <a:rPr lang="en-US" altLang="zh-CN" sz="2400">
                <a:ea typeface="新宋体" panose="02010609030101010101" charset="-122"/>
              </a:rPr>
              <a:t>…</a:t>
            </a:r>
            <a:r>
              <a:rPr lang="zh-CN" altLang="en-US" sz="2400">
                <a:ea typeface="新宋体" panose="02010609030101010101" charset="-122"/>
              </a:rPr>
              <a:t>，级别为</a:t>
            </a:r>
            <a:r>
              <a:rPr lang="en-US" altLang="zh-CN" sz="2400">
                <a:ea typeface="新宋体" panose="02010609030101010101" charset="-122"/>
              </a:rPr>
              <a:t>i</a:t>
            </a:r>
            <a:r>
              <a:rPr lang="zh-CN" altLang="en-US" sz="2400">
                <a:ea typeface="新宋体" panose="02010609030101010101" charset="-122"/>
              </a:rPr>
              <a:t>的概率为</a:t>
            </a:r>
            <a:r>
              <a:rPr lang="en-US" altLang="zh-CN" sz="2400">
                <a:ea typeface="新宋体" panose="02010609030101010101" charset="-122"/>
              </a:rPr>
              <a:t>p</a:t>
            </a:r>
            <a:r>
              <a:rPr lang="en-US" altLang="zh-CN" sz="2400" baseline="30000">
                <a:ea typeface="新宋体" panose="02010609030101010101" charset="-122"/>
              </a:rPr>
              <a:t>i</a:t>
            </a:r>
            <a:r>
              <a:rPr lang="en-US" altLang="zh-CN" sz="2400">
                <a:ea typeface="新宋体" panose="02010609030101010101" charset="-122"/>
              </a:rPr>
              <a:t>(1-p)</a:t>
            </a:r>
            <a:r>
              <a:rPr lang="zh-CN" altLang="en-US" sz="2400">
                <a:ea typeface="新宋体" panose="02010609030101010101" charset="-122"/>
              </a:rPr>
              <a:t>。</a:t>
            </a:r>
            <a:endParaRPr lang="zh-CN" altLang="en-US" sz="2400">
              <a:ea typeface="新宋体" panose="02010609030101010101" charset="-122"/>
            </a:endParaRPr>
          </a:p>
          <a:p>
            <a:r>
              <a:rPr lang="zh-CN" altLang="en-US" sz="2400">
                <a:ea typeface="新宋体" panose="02010609030101010101" charset="-122"/>
              </a:rPr>
              <a:t>	如此产生的新结点的级别有可能是一个很大的数，甚至远远超过表中元素的个数。为了避免这种情况，用            作为新结点级别的上界。其中</a:t>
            </a:r>
            <a:r>
              <a:rPr lang="en-US" altLang="zh-CN" sz="2400">
                <a:ea typeface="新宋体" panose="02010609030101010101" charset="-122"/>
              </a:rPr>
              <a:t>n</a:t>
            </a:r>
            <a:r>
              <a:rPr lang="zh-CN" altLang="en-US" sz="2400">
                <a:ea typeface="新宋体" panose="02010609030101010101" charset="-122"/>
              </a:rPr>
              <a:t>是当前跳跃表中结点个数。当前跳跃表中任一结点的级别不超过 </a:t>
            </a:r>
            <a:endParaRPr lang="zh-CN" altLang="en-US" sz="2400">
              <a:ea typeface="新宋体" panose="02010609030101010101" charset="-122"/>
            </a:endParaRPr>
          </a:p>
        </p:txBody>
      </p:sp>
      <p:sp>
        <p:nvSpPr>
          <p:cNvPr id="372740" name="Rectangle 4"/>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aphicFrame>
        <p:nvGraphicFramePr>
          <p:cNvPr id="372741" name="Object 5"/>
          <p:cNvGraphicFramePr>
            <a:graphicFrameLocks noChangeAspect="1"/>
          </p:cNvGraphicFramePr>
          <p:nvPr/>
        </p:nvGraphicFramePr>
        <p:xfrm>
          <a:off x="7019925" y="5084763"/>
          <a:ext cx="1079500" cy="492125"/>
        </p:xfrm>
        <a:graphic>
          <a:graphicData uri="http://schemas.openxmlformats.org/presentationml/2006/ole">
            <mc:AlternateContent xmlns:mc="http://schemas.openxmlformats.org/markup-compatibility/2006">
              <mc:Choice xmlns:v="urn:schemas-microsoft-com:vml" Requires="v">
                <p:oleObj spid="_x0000_s372745" name="公式" r:id="rId1" imgW="520700" imgH="241300" progId="Equation.3">
                  <p:embed/>
                </p:oleObj>
              </mc:Choice>
              <mc:Fallback>
                <p:oleObj name="公式" r:id="rId1" imgW="520700" imgH="2413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9925" y="5084763"/>
                        <a:ext cx="1079500" cy="492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2742" name="Object 6"/>
          <p:cNvGraphicFramePr>
            <a:graphicFrameLocks noChangeAspect="1"/>
          </p:cNvGraphicFramePr>
          <p:nvPr/>
        </p:nvGraphicFramePr>
        <p:xfrm>
          <a:off x="4427538" y="5805488"/>
          <a:ext cx="1079500" cy="492125"/>
        </p:xfrm>
        <a:graphic>
          <a:graphicData uri="http://schemas.openxmlformats.org/presentationml/2006/ole">
            <mc:AlternateContent xmlns:mc="http://schemas.openxmlformats.org/markup-compatibility/2006">
              <mc:Choice xmlns:v="urn:schemas-microsoft-com:vml" Requires="v">
                <p:oleObj spid="_x0000_s372746" name="公式" r:id="rId3" imgW="520700" imgH="241300" progId="Equation.3">
                  <p:embed/>
                </p:oleObj>
              </mc:Choice>
              <mc:Fallback>
                <p:oleObj name="公式" r:id="rId3" imgW="520700" imgH="2413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538" y="5805488"/>
                        <a:ext cx="1079500" cy="492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372739">
                                            <p:txEl>
                                              <p:pRg st="0" end="0"/>
                                            </p:txEl>
                                          </p:spTgt>
                                        </p:tgtEl>
                                        <p:attrNameLst>
                                          <p:attrName>style.visibility</p:attrName>
                                        </p:attrNameLst>
                                      </p:cBhvr>
                                      <p:to>
                                        <p:strVal val="visible"/>
                                      </p:to>
                                    </p:set>
                                    <p:animEffect transition="in" filter="slide(fromBottom)">
                                      <p:cBhvr>
                                        <p:cTn id="7" dur="500"/>
                                        <p:tgtEl>
                                          <p:spTgt spid="3727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72739">
                                            <p:txEl>
                                              <p:pRg st="1" end="1"/>
                                            </p:txEl>
                                          </p:spTgt>
                                        </p:tgtEl>
                                        <p:attrNameLst>
                                          <p:attrName>style.visibility</p:attrName>
                                        </p:attrNameLst>
                                      </p:cBhvr>
                                      <p:to>
                                        <p:strVal val="visible"/>
                                      </p:to>
                                    </p:set>
                                    <p:animEffect transition="in" filter="slide(fromBottom)">
                                      <p:cBhvr>
                                        <p:cTn id="12" dur="500"/>
                                        <p:tgtEl>
                                          <p:spTgt spid="3727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372739">
                                            <p:txEl>
                                              <p:pRg st="2" end="2"/>
                                            </p:txEl>
                                          </p:spTgt>
                                        </p:tgtEl>
                                        <p:attrNameLst>
                                          <p:attrName>style.visibility</p:attrName>
                                        </p:attrNameLst>
                                      </p:cBhvr>
                                      <p:to>
                                        <p:strVal val="visible"/>
                                      </p:to>
                                    </p:set>
                                    <p:animEffect transition="in" filter="slide(fromBottom)">
                                      <p:cBhvr>
                                        <p:cTn id="17" dur="500"/>
                                        <p:tgtEl>
                                          <p:spTgt spid="3727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372739">
                                            <p:txEl>
                                              <p:pRg st="3" end="3"/>
                                            </p:txEl>
                                          </p:spTgt>
                                        </p:tgtEl>
                                        <p:attrNameLst>
                                          <p:attrName>style.visibility</p:attrName>
                                        </p:attrNameLst>
                                      </p:cBhvr>
                                      <p:to>
                                        <p:strVal val="visible"/>
                                      </p:to>
                                    </p:set>
                                    <p:animEffect transition="in" filter="slide(fromBottom)">
                                      <p:cBhvr>
                                        <p:cTn id="22" dur="500"/>
                                        <p:tgtEl>
                                          <p:spTgt spid="372739">
                                            <p:txEl>
                                              <p:pRg st="3" end="3"/>
                                            </p:txEl>
                                          </p:spTgt>
                                        </p:tgtEl>
                                      </p:cBhvr>
                                    </p:animEffect>
                                  </p:childTnLst>
                                </p:cTn>
                              </p:par>
                              <p:par>
                                <p:cTn id="23" presetID="12" presetClass="entr" presetSubtype="4" fill="hold" nodeType="withEffect">
                                  <p:stCondLst>
                                    <p:cond delay="0"/>
                                  </p:stCondLst>
                                  <p:childTnLst>
                                    <p:set>
                                      <p:cBhvr>
                                        <p:cTn id="24" dur="1" fill="hold">
                                          <p:stCondLst>
                                            <p:cond delay="0"/>
                                          </p:stCondLst>
                                        </p:cTn>
                                        <p:tgtEl>
                                          <p:spTgt spid="372741"/>
                                        </p:tgtEl>
                                        <p:attrNameLst>
                                          <p:attrName>style.visibility</p:attrName>
                                        </p:attrNameLst>
                                      </p:cBhvr>
                                      <p:to>
                                        <p:strVal val="visible"/>
                                      </p:to>
                                    </p:set>
                                    <p:animEffect transition="in" filter="slide(fromBottom)">
                                      <p:cBhvr>
                                        <p:cTn id="25" dur="500"/>
                                        <p:tgtEl>
                                          <p:spTgt spid="372741"/>
                                        </p:tgtEl>
                                      </p:cBhvr>
                                    </p:animEffect>
                                  </p:childTnLst>
                                </p:cTn>
                              </p:par>
                              <p:par>
                                <p:cTn id="26" presetID="12" presetClass="entr" presetSubtype="4" fill="hold" nodeType="withEffect">
                                  <p:stCondLst>
                                    <p:cond delay="0"/>
                                  </p:stCondLst>
                                  <p:childTnLst>
                                    <p:set>
                                      <p:cBhvr>
                                        <p:cTn id="27" dur="1" fill="hold">
                                          <p:stCondLst>
                                            <p:cond delay="0"/>
                                          </p:stCondLst>
                                        </p:cTn>
                                        <p:tgtEl>
                                          <p:spTgt spid="372742"/>
                                        </p:tgtEl>
                                        <p:attrNameLst>
                                          <p:attrName>style.visibility</p:attrName>
                                        </p:attrNameLst>
                                      </p:cBhvr>
                                      <p:to>
                                        <p:strVal val="visible"/>
                                      </p:to>
                                    </p:set>
                                    <p:animEffect transition="in" filter="slide(fromBottom)">
                                      <p:cBhvr>
                                        <p:cTn id="28" dur="500"/>
                                        <p:tgtEl>
                                          <p:spTgt spid="3727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EDC793FF-3DB5-4A8C-B37A-5F4A2FEDD335}" type="slidenum">
              <a:rPr lang="en-US" altLang="zh-CN"/>
            </a:fld>
            <a:endParaRPr lang="en-US" altLang="zh-CN"/>
          </a:p>
        </p:txBody>
      </p:sp>
      <p:sp>
        <p:nvSpPr>
          <p:cNvPr id="373762" name="Rectangle 2"/>
          <p:cNvSpPr>
            <a:spLocks noGrp="1" noChangeArrowheads="1"/>
          </p:cNvSpPr>
          <p:nvPr>
            <p:ph type="title"/>
          </p:nvPr>
        </p:nvSpPr>
        <p:spPr/>
        <p:txBody>
          <a:bodyPr/>
          <a:lstStyle/>
          <a:p>
            <a:r>
              <a:rPr lang="zh-CN" altLang="en-US"/>
              <a:t>跳跃表的时间空间复杂性分析</a:t>
            </a:r>
            <a:endParaRPr lang="zh-CN" altLang="en-US"/>
          </a:p>
        </p:txBody>
      </p:sp>
      <p:sp>
        <p:nvSpPr>
          <p:cNvPr id="373763" name="Rectangle 3"/>
          <p:cNvSpPr>
            <a:spLocks noGrp="1" noChangeArrowheads="1"/>
          </p:cNvSpPr>
          <p:nvPr>
            <p:ph type="body" idx="1"/>
          </p:nvPr>
        </p:nvSpPr>
        <p:spPr/>
        <p:txBody>
          <a:bodyPr/>
          <a:lstStyle/>
          <a:p>
            <a:pPr>
              <a:lnSpc>
                <a:spcPct val="90000"/>
              </a:lnSpc>
            </a:pPr>
            <a:r>
              <a:rPr lang="zh-CN" altLang="en-US"/>
              <a:t>见书</a:t>
            </a:r>
            <a:r>
              <a:rPr lang="en-US" altLang="zh-CN"/>
              <a:t>P258</a:t>
            </a:r>
            <a:endParaRPr lang="en-US" altLang="zh-CN"/>
          </a:p>
          <a:p>
            <a:pPr>
              <a:lnSpc>
                <a:spcPct val="90000"/>
              </a:lnSpc>
            </a:pPr>
            <a:endParaRPr lang="en-US" altLang="zh-CN"/>
          </a:p>
          <a:p>
            <a:pPr>
              <a:lnSpc>
                <a:spcPct val="90000"/>
              </a:lnSpc>
            </a:pPr>
            <a:endParaRPr lang="en-US" altLang="zh-CN"/>
          </a:p>
          <a:p>
            <a:pPr>
              <a:lnSpc>
                <a:spcPct val="90000"/>
              </a:lnSpc>
            </a:pPr>
            <a:endParaRPr lang="en-US" altLang="zh-CN"/>
          </a:p>
          <a:p>
            <a:pPr>
              <a:lnSpc>
                <a:spcPct val="90000"/>
              </a:lnSpc>
            </a:pPr>
            <a:r>
              <a:rPr lang="zh-CN" altLang="en-US"/>
              <a:t>舍伍德算法的优点：</a:t>
            </a:r>
            <a:endParaRPr lang="zh-CN" altLang="en-US"/>
          </a:p>
          <a:p>
            <a:pPr lvl="1">
              <a:lnSpc>
                <a:spcPct val="90000"/>
              </a:lnSpc>
            </a:pPr>
            <a:r>
              <a:rPr lang="zh-CN" altLang="en-US"/>
              <a:t>计算时间复杂性对所有实例而言是相对均匀的，但与其相应的确定性算法相比，其平均时间复杂性没有改进。</a:t>
            </a:r>
            <a:endParaRPr lang="zh-CN" altLang="en-US"/>
          </a:p>
          <a:p>
            <a:pPr>
              <a:lnSpc>
                <a:spcPct val="90000"/>
              </a:lnSpc>
            </a:pPr>
            <a:r>
              <a:rPr lang="zh-CN" altLang="en-US"/>
              <a:t>下面看一种可以显著改进算法有效性的算法。</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373763">
                                            <p:txEl>
                                              <p:pRg st="0" end="0"/>
                                            </p:txEl>
                                          </p:spTgt>
                                        </p:tgtEl>
                                        <p:attrNameLst>
                                          <p:attrName>style.visibility</p:attrName>
                                        </p:attrNameLst>
                                      </p:cBhvr>
                                      <p:to>
                                        <p:strVal val="visible"/>
                                      </p:to>
                                    </p:set>
                                    <p:animEffect transition="in" filter="slide(fromBottom)">
                                      <p:cBhvr>
                                        <p:cTn id="7" dur="500"/>
                                        <p:tgtEl>
                                          <p:spTgt spid="3737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73763">
                                            <p:txEl>
                                              <p:pRg st="4" end="4"/>
                                            </p:txEl>
                                          </p:spTgt>
                                        </p:tgtEl>
                                        <p:attrNameLst>
                                          <p:attrName>style.visibility</p:attrName>
                                        </p:attrNameLst>
                                      </p:cBhvr>
                                      <p:to>
                                        <p:strVal val="visible"/>
                                      </p:to>
                                    </p:set>
                                    <p:animEffect transition="in" filter="slide(fromBottom)">
                                      <p:cBhvr>
                                        <p:cTn id="12" dur="500"/>
                                        <p:tgtEl>
                                          <p:spTgt spid="373763">
                                            <p:txEl>
                                              <p:pRg st="4" end="4"/>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373763">
                                            <p:txEl>
                                              <p:pRg st="5" end="5"/>
                                            </p:txEl>
                                          </p:spTgt>
                                        </p:tgtEl>
                                        <p:attrNameLst>
                                          <p:attrName>style.visibility</p:attrName>
                                        </p:attrNameLst>
                                      </p:cBhvr>
                                      <p:to>
                                        <p:strVal val="visible"/>
                                      </p:to>
                                    </p:set>
                                    <p:animEffect transition="in" filter="slide(fromBottom)">
                                      <p:cBhvr>
                                        <p:cTn id="15" dur="500"/>
                                        <p:tgtEl>
                                          <p:spTgt spid="373763">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nodeType="clickEffect">
                                  <p:stCondLst>
                                    <p:cond delay="0"/>
                                  </p:stCondLst>
                                  <p:childTnLst>
                                    <p:set>
                                      <p:cBhvr>
                                        <p:cTn id="19" dur="1" fill="hold">
                                          <p:stCondLst>
                                            <p:cond delay="0"/>
                                          </p:stCondLst>
                                        </p:cTn>
                                        <p:tgtEl>
                                          <p:spTgt spid="373763">
                                            <p:txEl>
                                              <p:pRg st="6" end="6"/>
                                            </p:txEl>
                                          </p:spTgt>
                                        </p:tgtEl>
                                        <p:attrNameLst>
                                          <p:attrName>style.visibility</p:attrName>
                                        </p:attrNameLst>
                                      </p:cBhvr>
                                      <p:to>
                                        <p:strVal val="visible"/>
                                      </p:to>
                                    </p:set>
                                    <p:animEffect transition="in" filter="slide(fromBottom)">
                                      <p:cBhvr>
                                        <p:cTn id="20" dur="500"/>
                                        <p:tgtEl>
                                          <p:spTgt spid="37376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p:cNvSpPr>
            <a:spLocks noGrp="1" noChangeArrowheads="1"/>
          </p:cNvSpPr>
          <p:nvPr>
            <p:ph type="sldNum" sz="quarter" idx="4"/>
          </p:nvPr>
        </p:nvSpPr>
        <p:spPr/>
        <p:txBody>
          <a:bodyPr/>
          <a:lstStyle/>
          <a:p>
            <a:fld id="{A41AEF0C-0531-4F89-BC7C-520AFCCA8599}" type="slidenum">
              <a:rPr lang="en-US" altLang="zh-CN"/>
            </a:fld>
            <a:endParaRPr lang="en-US" altLang="zh-CN"/>
          </a:p>
        </p:txBody>
      </p:sp>
      <p:sp>
        <p:nvSpPr>
          <p:cNvPr id="374786" name="Rectangle 2"/>
          <p:cNvSpPr>
            <a:spLocks noGrp="1" noChangeArrowheads="1"/>
          </p:cNvSpPr>
          <p:nvPr>
            <p:ph type="ctrTitle"/>
          </p:nvPr>
        </p:nvSpPr>
        <p:spPr/>
        <p:txBody>
          <a:bodyPr/>
          <a:lstStyle/>
          <a:p>
            <a:r>
              <a:rPr lang="zh-CN" altLang="en-US" sz="4000">
                <a:latin typeface="黑体" panose="02010609060101010101" pitchFamily="49" charset="-122"/>
                <a:ea typeface="黑体" panose="02010609060101010101" pitchFamily="49" charset="-122"/>
              </a:rPr>
              <a:t>拉斯维加斯算法</a:t>
            </a:r>
            <a:endParaRPr lang="zh-CN" altLang="en-US" sz="400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3E1EA851-5E9F-43C3-9DAD-96BE16348C29}" type="slidenum">
              <a:rPr lang="en-US" altLang="zh-CN"/>
            </a:fld>
            <a:endParaRPr lang="en-US" altLang="zh-CN"/>
          </a:p>
        </p:txBody>
      </p:sp>
      <p:sp>
        <p:nvSpPr>
          <p:cNvPr id="375810" name="Rectangle 2"/>
          <p:cNvSpPr>
            <a:spLocks noGrp="1" noChangeArrowheads="1"/>
          </p:cNvSpPr>
          <p:nvPr>
            <p:ph type="title"/>
          </p:nvPr>
        </p:nvSpPr>
        <p:spPr/>
        <p:txBody>
          <a:bodyPr/>
          <a:lstStyle/>
          <a:p>
            <a:r>
              <a:rPr lang="zh-CN" altLang="en-US"/>
              <a:t>拉斯维加斯算法</a:t>
            </a:r>
            <a:endParaRPr lang="zh-CN" altLang="en-US"/>
          </a:p>
        </p:txBody>
      </p:sp>
      <p:sp>
        <p:nvSpPr>
          <p:cNvPr id="375811" name="Rectangle 3"/>
          <p:cNvSpPr>
            <a:spLocks noGrp="1" noChangeArrowheads="1"/>
          </p:cNvSpPr>
          <p:nvPr>
            <p:ph type="body" idx="1"/>
          </p:nvPr>
        </p:nvSpPr>
        <p:spPr/>
        <p:txBody>
          <a:bodyPr/>
          <a:lstStyle/>
          <a:p>
            <a:pPr>
              <a:lnSpc>
                <a:spcPct val="90000"/>
              </a:lnSpc>
            </a:pPr>
            <a:r>
              <a:rPr lang="zh-CN" altLang="en-US"/>
              <a:t>拉斯维加斯算法不会得到不正确的解，一旦用拉斯维加斯算法找到一个解，那么这个解肯定是正确的。</a:t>
            </a:r>
            <a:endParaRPr lang="zh-CN" altLang="en-US"/>
          </a:p>
          <a:p>
            <a:pPr>
              <a:lnSpc>
                <a:spcPct val="90000"/>
              </a:lnSpc>
            </a:pPr>
            <a:r>
              <a:rPr lang="zh-CN" altLang="en-US"/>
              <a:t>但是有时候用拉斯维加斯算法可能找不到解。</a:t>
            </a:r>
            <a:endParaRPr lang="zh-CN" altLang="en-US"/>
          </a:p>
          <a:p>
            <a:pPr>
              <a:lnSpc>
                <a:spcPct val="90000"/>
              </a:lnSpc>
            </a:pPr>
            <a:r>
              <a:rPr lang="zh-CN" altLang="en-US"/>
              <a:t>与蒙特卡罗算法类似。拉斯维加斯算法得到正确解的概率随着它用的计算时间的增加而提高。对于所求解问题的任一实例，用同一拉斯维加斯算法反复对该实例求解足够多次，可使求解失效的概率任意小。</a:t>
            </a:r>
            <a:br>
              <a:rPr lang="zh-CN" altLang="en-US"/>
            </a:br>
            <a:endParaRPr lang="zh-CN" alt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fld id="{8A695DEC-D100-469D-B12E-B54A95C8B5CD}" type="slidenum">
              <a:rPr lang="en-US" altLang="zh-CN"/>
            </a:fld>
            <a:endParaRPr lang="en-US" altLang="zh-CN"/>
          </a:p>
        </p:txBody>
      </p:sp>
      <p:sp>
        <p:nvSpPr>
          <p:cNvPr id="376834" name="Rectangle 2"/>
          <p:cNvSpPr>
            <a:spLocks noChangeArrowheads="1"/>
          </p:cNvSpPr>
          <p:nvPr/>
        </p:nvSpPr>
        <p:spPr bwMode="auto">
          <a:xfrm>
            <a:off x="395288" y="47625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500" b="1">
                <a:solidFill>
                  <a:schemeClr val="tx2"/>
                </a:solidFill>
                <a:latin typeface="黑体" panose="02010609060101010101" pitchFamily="49" charset="-122"/>
                <a:ea typeface="黑体" panose="02010609060101010101" pitchFamily="49" charset="-122"/>
              </a:rPr>
              <a:t>拉斯维加斯</a:t>
            </a:r>
            <a:r>
              <a:rPr lang="en-US" altLang="zh-CN" sz="3500" b="1">
                <a:solidFill>
                  <a:schemeClr val="tx2"/>
                </a:solidFill>
                <a:latin typeface="黑体" panose="02010609060101010101" pitchFamily="49" charset="-122"/>
                <a:ea typeface="黑体" panose="02010609060101010101" pitchFamily="49" charset="-122"/>
              </a:rPr>
              <a:t>( Las Vegas )</a:t>
            </a:r>
            <a:r>
              <a:rPr lang="zh-CN" altLang="en-US" sz="3500" b="1">
                <a:solidFill>
                  <a:schemeClr val="tx2"/>
                </a:solidFill>
                <a:latin typeface="黑体" panose="02010609060101010101" pitchFamily="49" charset="-122"/>
                <a:ea typeface="黑体" panose="02010609060101010101" pitchFamily="49" charset="-122"/>
              </a:rPr>
              <a:t>算法</a:t>
            </a:r>
            <a:endParaRPr lang="zh-CN" altLang="en-US" sz="3500" b="1">
              <a:solidFill>
                <a:schemeClr val="tx2"/>
              </a:solidFill>
              <a:latin typeface="黑体" panose="02010609060101010101" pitchFamily="49" charset="-122"/>
              <a:ea typeface="黑体" panose="02010609060101010101" pitchFamily="49" charset="-122"/>
            </a:endParaRPr>
          </a:p>
        </p:txBody>
      </p:sp>
      <p:sp>
        <p:nvSpPr>
          <p:cNvPr id="376835" name="Text Box 3"/>
          <p:cNvSpPr txBox="1">
            <a:spLocks noChangeArrowheads="1"/>
          </p:cNvSpPr>
          <p:nvPr/>
        </p:nvSpPr>
        <p:spPr bwMode="auto">
          <a:xfrm>
            <a:off x="179388" y="1628775"/>
            <a:ext cx="8732837" cy="822325"/>
          </a:xfrm>
          <a:prstGeom prst="rect">
            <a:avLst/>
          </a:prstGeom>
          <a:solidFill>
            <a:schemeClr val="bg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拉斯维加斯算法的一个显著特征是它所作的随机性决策有可能导致算法找不到所需的解。</a:t>
            </a:r>
            <a:endParaRPr lang="zh-CN" altLang="en-US" sz="2400">
              <a:ea typeface="新宋体" panose="02010609030101010101" charset="-122"/>
            </a:endParaRPr>
          </a:p>
        </p:txBody>
      </p:sp>
      <p:sp>
        <p:nvSpPr>
          <p:cNvPr id="376836" name="Text Box 4"/>
          <p:cNvSpPr txBox="1">
            <a:spLocks noChangeArrowheads="1"/>
          </p:cNvSpPr>
          <p:nvPr/>
        </p:nvSpPr>
        <p:spPr bwMode="auto">
          <a:xfrm>
            <a:off x="206375" y="2852738"/>
            <a:ext cx="8613775" cy="2771775"/>
          </a:xfrm>
          <a:prstGeom prst="rect">
            <a:avLst/>
          </a:prstGeom>
          <a:solidFill>
            <a:schemeClr val="bg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b="1">
                <a:solidFill>
                  <a:schemeClr val="tx2"/>
                </a:solidFill>
                <a:latin typeface="新宋体" panose="02010609030101010101" charset="-122"/>
                <a:ea typeface="新宋体" panose="02010609030101010101" charset="-122"/>
              </a:rPr>
              <a:t>用一个</a:t>
            </a:r>
            <a:r>
              <a:rPr lang="en-US" altLang="zh-CN" sz="2800" b="1">
                <a:solidFill>
                  <a:schemeClr val="tx2"/>
                </a:solidFill>
                <a:latin typeface="新宋体" panose="02010609030101010101" charset="-122"/>
                <a:ea typeface="新宋体" panose="02010609030101010101" charset="-122"/>
              </a:rPr>
              <a:t>boolean</a:t>
            </a:r>
            <a:r>
              <a:rPr lang="zh-CN" altLang="en-US" sz="2800" b="1">
                <a:solidFill>
                  <a:schemeClr val="tx2"/>
                </a:solidFill>
                <a:latin typeface="新宋体" panose="02010609030101010101" charset="-122"/>
                <a:ea typeface="新宋体" panose="02010609030101010101" charset="-122"/>
              </a:rPr>
              <a:t>型方法表示。</a:t>
            </a:r>
            <a:endParaRPr lang="zh-CN" altLang="en-US" sz="2800" b="1">
              <a:solidFill>
                <a:schemeClr val="tx2"/>
              </a:solidFill>
              <a:latin typeface="新宋体" panose="02010609030101010101" charset="-122"/>
              <a:ea typeface="新宋体" panose="02010609030101010101" charset="-122"/>
            </a:endParaRPr>
          </a:p>
          <a:p>
            <a:endParaRPr lang="zh-CN" altLang="en-US" sz="2800" b="1">
              <a:solidFill>
                <a:schemeClr val="tx2"/>
              </a:solidFill>
              <a:latin typeface="新宋体" panose="02010609030101010101" charset="-122"/>
              <a:ea typeface="新宋体" panose="02010609030101010101" charset="-122"/>
            </a:endParaRPr>
          </a:p>
          <a:p>
            <a:r>
              <a:rPr lang="en-US" altLang="zh-CN" sz="2400">
                <a:ea typeface="新宋体" panose="02010609030101010101" charset="-122"/>
              </a:rPr>
              <a:t>void </a:t>
            </a:r>
            <a:r>
              <a:rPr lang="en-US" altLang="zh-CN" sz="2400" b="1">
                <a:ea typeface="新宋体" panose="02010609030101010101" charset="-122"/>
              </a:rPr>
              <a:t>obstinate</a:t>
            </a:r>
            <a:r>
              <a:rPr lang="en-US" altLang="zh-CN" sz="2400">
                <a:ea typeface="新宋体" panose="02010609030101010101" charset="-122"/>
              </a:rPr>
              <a:t>(Object x, Object y)</a:t>
            </a:r>
            <a:endParaRPr lang="en-US" altLang="zh-CN" sz="2400">
              <a:ea typeface="新宋体" panose="02010609030101010101" charset="-122"/>
            </a:endParaRPr>
          </a:p>
          <a:p>
            <a:r>
              <a:rPr lang="en-US" altLang="zh-CN" sz="2400">
                <a:ea typeface="新宋体" panose="02010609030101010101" charset="-122"/>
              </a:rPr>
              <a:t>   {// </a:t>
            </a:r>
            <a:r>
              <a:rPr lang="zh-CN" altLang="en-US" sz="2400">
                <a:ea typeface="新宋体" panose="02010609030101010101" charset="-122"/>
              </a:rPr>
              <a:t>反复调用拉斯维加斯算法</a:t>
            </a:r>
            <a:r>
              <a:rPr lang="en-US" altLang="zh-CN" sz="2400">
                <a:ea typeface="新宋体" panose="02010609030101010101" charset="-122"/>
              </a:rPr>
              <a:t>LV(x,y)</a:t>
            </a:r>
            <a:r>
              <a:rPr lang="zh-CN" altLang="en-US" sz="2400">
                <a:ea typeface="新宋体" panose="02010609030101010101" charset="-122"/>
              </a:rPr>
              <a:t>，直到找到问题的一个解</a:t>
            </a:r>
            <a:r>
              <a:rPr lang="en-US" altLang="zh-CN" sz="2400">
                <a:ea typeface="新宋体" panose="02010609030101010101" charset="-122"/>
              </a:rPr>
              <a:t>y</a:t>
            </a:r>
            <a:endParaRPr lang="en-US" altLang="zh-CN" sz="2400">
              <a:ea typeface="新宋体" panose="02010609030101010101" charset="-122"/>
            </a:endParaRPr>
          </a:p>
          <a:p>
            <a:r>
              <a:rPr lang="en-US" altLang="zh-CN" sz="2400">
                <a:ea typeface="新宋体" panose="02010609030101010101" charset="-122"/>
              </a:rPr>
              <a:t>      bool success= false;</a:t>
            </a:r>
            <a:endParaRPr lang="en-US" altLang="zh-CN" sz="2400">
              <a:ea typeface="新宋体" panose="02010609030101010101" charset="-122"/>
            </a:endParaRPr>
          </a:p>
          <a:p>
            <a:r>
              <a:rPr lang="en-US" altLang="zh-CN" sz="2400">
                <a:ea typeface="新宋体" panose="02010609030101010101" charset="-122"/>
              </a:rPr>
              <a:t>      while (!success) success=lv(x,y);</a:t>
            </a:r>
            <a:endParaRPr lang="en-US" altLang="zh-CN" sz="2400">
              <a:ea typeface="新宋体" panose="02010609030101010101" charset="-122"/>
            </a:endParaRPr>
          </a:p>
          <a:p>
            <a:r>
              <a:rPr lang="en-US" altLang="zh-CN" sz="2400">
                <a:ea typeface="新宋体" panose="02010609030101010101" charset="-122"/>
              </a:rPr>
              <a:t>   }</a:t>
            </a:r>
            <a:endParaRPr lang="en-US" altLang="zh-CN" sz="2400">
              <a:ea typeface="新宋体" panose="02010609030101010101" charset="-122"/>
            </a:endParaRPr>
          </a:p>
        </p:txBody>
      </p:sp>
      <p:sp>
        <p:nvSpPr>
          <p:cNvPr id="376837" name="Rectangle 5"/>
          <p:cNvSpPr>
            <a:spLocks noChangeArrowheads="1"/>
          </p:cNvSpPr>
          <p:nvPr/>
        </p:nvSpPr>
        <p:spPr bwMode="auto">
          <a:xfrm>
            <a:off x="0" y="3333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76836"/>
                                        </p:tgtEl>
                                        <p:attrNameLst>
                                          <p:attrName>style.visibility</p:attrName>
                                        </p:attrNameLst>
                                      </p:cBhvr>
                                      <p:to>
                                        <p:strVal val="visible"/>
                                      </p:to>
                                    </p:set>
                                    <p:animEffect transition="in" filter="checkerboard(across)">
                                      <p:cBhvr>
                                        <p:cTn id="7" dur="500"/>
                                        <p:tgtEl>
                                          <p:spTgt spid="3768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3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9BC0C669-DC91-4089-9057-240F4AF5C957}" type="slidenum">
              <a:rPr lang="en-US" altLang="zh-CN"/>
            </a:fld>
            <a:endParaRPr lang="en-US" altLang="zh-CN"/>
          </a:p>
        </p:txBody>
      </p:sp>
      <p:sp>
        <p:nvSpPr>
          <p:cNvPr id="377858" name="Text Box 2"/>
          <p:cNvSpPr txBox="1">
            <a:spLocks noChangeArrowheads="1"/>
          </p:cNvSpPr>
          <p:nvPr/>
        </p:nvSpPr>
        <p:spPr bwMode="auto">
          <a:xfrm>
            <a:off x="323850" y="908050"/>
            <a:ext cx="8661400" cy="3935413"/>
          </a:xfrm>
          <a:prstGeom prst="rect">
            <a:avLst/>
          </a:prstGeom>
          <a:solidFill>
            <a:schemeClr val="bg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a:ea typeface="新宋体" panose="02010609030101010101" charset="-122"/>
              </a:rPr>
              <a:t>设</a:t>
            </a:r>
            <a:r>
              <a:rPr lang="en-US" altLang="zh-CN" sz="2800">
                <a:ea typeface="新宋体" panose="02010609030101010101" charset="-122"/>
              </a:rPr>
              <a:t>p(x)</a:t>
            </a:r>
            <a:r>
              <a:rPr lang="zh-CN" altLang="en-US" sz="2800">
                <a:ea typeface="新宋体" panose="02010609030101010101" charset="-122"/>
              </a:rPr>
              <a:t>是对输入</a:t>
            </a:r>
            <a:r>
              <a:rPr lang="en-US" altLang="zh-CN" sz="2800">
                <a:ea typeface="新宋体" panose="02010609030101010101" charset="-122"/>
              </a:rPr>
              <a:t>x</a:t>
            </a:r>
            <a:r>
              <a:rPr lang="zh-CN" altLang="en-US" sz="2800">
                <a:ea typeface="新宋体" panose="02010609030101010101" charset="-122"/>
              </a:rPr>
              <a:t>调用拉斯维加斯算法获得问题的一个解的概率。一个正确的拉斯维加斯算法应该对所有输入</a:t>
            </a:r>
            <a:r>
              <a:rPr lang="en-US" altLang="zh-CN" sz="2800">
                <a:ea typeface="新宋体" panose="02010609030101010101" charset="-122"/>
              </a:rPr>
              <a:t>x</a:t>
            </a:r>
            <a:r>
              <a:rPr lang="zh-CN" altLang="en-US" sz="2800">
                <a:ea typeface="新宋体" panose="02010609030101010101" charset="-122"/>
              </a:rPr>
              <a:t>均有</a:t>
            </a:r>
            <a:r>
              <a:rPr lang="en-US" altLang="zh-CN" sz="2800">
                <a:ea typeface="新宋体" panose="02010609030101010101" charset="-122"/>
              </a:rPr>
              <a:t>p(x)&gt;0</a:t>
            </a:r>
            <a:r>
              <a:rPr lang="zh-CN" altLang="en-US" sz="2800">
                <a:ea typeface="新宋体" panose="02010609030101010101" charset="-122"/>
              </a:rPr>
              <a:t>。</a:t>
            </a:r>
            <a:endParaRPr lang="zh-CN" altLang="en-US" sz="2800">
              <a:ea typeface="新宋体" panose="02010609030101010101" charset="-122"/>
            </a:endParaRPr>
          </a:p>
          <a:p>
            <a:r>
              <a:rPr lang="zh-CN" altLang="en-US" sz="2800">
                <a:ea typeface="新宋体" panose="02010609030101010101" charset="-122"/>
              </a:rPr>
              <a:t>设</a:t>
            </a:r>
            <a:r>
              <a:rPr lang="en-US" altLang="zh-CN" sz="2800">
                <a:ea typeface="新宋体" panose="02010609030101010101" charset="-122"/>
              </a:rPr>
              <a:t>t(x)</a:t>
            </a:r>
            <a:r>
              <a:rPr lang="zh-CN" altLang="en-US" sz="2800">
                <a:ea typeface="新宋体" panose="02010609030101010101" charset="-122"/>
              </a:rPr>
              <a:t>是算法</a:t>
            </a:r>
            <a:r>
              <a:rPr lang="en-US" altLang="zh-CN" sz="2800" b="1">
                <a:ea typeface="新宋体" panose="02010609030101010101" charset="-122"/>
              </a:rPr>
              <a:t>obstinate</a:t>
            </a:r>
            <a:r>
              <a:rPr lang="zh-CN" altLang="en-US" sz="2800">
                <a:ea typeface="新宋体" panose="02010609030101010101" charset="-122"/>
              </a:rPr>
              <a:t>找到具体实例</a:t>
            </a:r>
            <a:r>
              <a:rPr lang="en-US" altLang="zh-CN" sz="2800">
                <a:ea typeface="新宋体" panose="02010609030101010101" charset="-122"/>
              </a:rPr>
              <a:t>x</a:t>
            </a:r>
            <a:r>
              <a:rPr lang="zh-CN" altLang="en-US" sz="2800">
                <a:ea typeface="新宋体" panose="02010609030101010101" charset="-122"/>
              </a:rPr>
              <a:t>的一个解所需的平均时间 </a:t>
            </a:r>
            <a:r>
              <a:rPr lang="en-US" altLang="zh-CN" sz="2800">
                <a:ea typeface="新宋体" panose="02010609030101010101" charset="-122"/>
              </a:rPr>
              <a:t>,s(x)</a:t>
            </a:r>
            <a:r>
              <a:rPr lang="zh-CN" altLang="en-US" sz="2800">
                <a:ea typeface="新宋体" panose="02010609030101010101" charset="-122"/>
              </a:rPr>
              <a:t>和</a:t>
            </a:r>
            <a:r>
              <a:rPr lang="en-US" altLang="zh-CN" sz="2800">
                <a:ea typeface="新宋体" panose="02010609030101010101" charset="-122"/>
              </a:rPr>
              <a:t>e(x)</a:t>
            </a:r>
            <a:r>
              <a:rPr lang="zh-CN" altLang="en-US" sz="2800">
                <a:ea typeface="新宋体" panose="02010609030101010101" charset="-122"/>
              </a:rPr>
              <a:t>分别是算法对于具体实例</a:t>
            </a:r>
            <a:r>
              <a:rPr lang="en-US" altLang="zh-CN" sz="2800">
                <a:ea typeface="新宋体" panose="02010609030101010101" charset="-122"/>
              </a:rPr>
              <a:t>x</a:t>
            </a:r>
            <a:r>
              <a:rPr lang="zh-CN" altLang="en-US" sz="2800">
                <a:ea typeface="新宋体" panose="02010609030101010101" charset="-122"/>
              </a:rPr>
              <a:t>求解成功或求解失败所需的平均时间，则有：</a:t>
            </a:r>
            <a:endParaRPr lang="zh-CN" altLang="en-US" sz="2800">
              <a:ea typeface="新宋体" panose="02010609030101010101" charset="-122"/>
            </a:endParaRPr>
          </a:p>
          <a:p>
            <a:endParaRPr lang="zh-CN" altLang="en-US" sz="2800">
              <a:ea typeface="新宋体" panose="02010609030101010101" charset="-122"/>
            </a:endParaRPr>
          </a:p>
          <a:p>
            <a:endParaRPr lang="zh-CN" altLang="en-US" sz="2800">
              <a:ea typeface="新宋体" panose="02010609030101010101" charset="-122"/>
            </a:endParaRPr>
          </a:p>
          <a:p>
            <a:r>
              <a:rPr lang="zh-CN" altLang="en-US" sz="2800">
                <a:ea typeface="新宋体" panose="02010609030101010101" charset="-122"/>
              </a:rPr>
              <a:t>解此方程可得： </a:t>
            </a:r>
            <a:endParaRPr lang="zh-CN" altLang="en-US" sz="2800">
              <a:ea typeface="新宋体" panose="02010609030101010101" charset="-122"/>
            </a:endParaRPr>
          </a:p>
        </p:txBody>
      </p:sp>
      <p:graphicFrame>
        <p:nvGraphicFramePr>
          <p:cNvPr id="377859" name="Object 3"/>
          <p:cNvGraphicFramePr>
            <a:graphicFrameLocks noChangeAspect="1"/>
          </p:cNvGraphicFramePr>
          <p:nvPr/>
        </p:nvGraphicFramePr>
        <p:xfrm>
          <a:off x="2195513" y="3716338"/>
          <a:ext cx="4752975" cy="441325"/>
        </p:xfrm>
        <a:graphic>
          <a:graphicData uri="http://schemas.openxmlformats.org/presentationml/2006/ole">
            <mc:AlternateContent xmlns:mc="http://schemas.openxmlformats.org/markup-compatibility/2006">
              <mc:Choice xmlns:v="urn:schemas-microsoft-com:vml" Requires="v">
                <p:oleObj spid="_x0000_s377864" name="公式" r:id="rId1" imgW="2057400" imgH="190500" progId="Equation.3">
                  <p:embed/>
                </p:oleObj>
              </mc:Choice>
              <mc:Fallback>
                <p:oleObj name="公式" r:id="rId1" imgW="2057400" imgH="1905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3716338"/>
                        <a:ext cx="4752975"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7860" name="Object 4"/>
          <p:cNvGraphicFramePr>
            <a:graphicFrameLocks noChangeAspect="1"/>
          </p:cNvGraphicFramePr>
          <p:nvPr/>
        </p:nvGraphicFramePr>
        <p:xfrm>
          <a:off x="2484438" y="4868863"/>
          <a:ext cx="3600450" cy="1006475"/>
        </p:xfrm>
        <a:graphic>
          <a:graphicData uri="http://schemas.openxmlformats.org/presentationml/2006/ole">
            <mc:AlternateContent xmlns:mc="http://schemas.openxmlformats.org/markup-compatibility/2006">
              <mc:Choice xmlns:v="urn:schemas-microsoft-com:vml" Requires="v">
                <p:oleObj spid="_x0000_s377865" name="公式" r:id="rId3" imgW="1358265" imgH="381000" progId="Equation.3">
                  <p:embed/>
                </p:oleObj>
              </mc:Choice>
              <mc:Fallback>
                <p:oleObj name="公式" r:id="rId3" imgW="1358265" imgH="3810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4868863"/>
                        <a:ext cx="3600450" cy="1006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7861" name="AutoShape 5"/>
          <p:cNvSpPr>
            <a:spLocks noChangeArrowheads="1"/>
          </p:cNvSpPr>
          <p:nvPr/>
        </p:nvSpPr>
        <p:spPr bwMode="auto">
          <a:xfrm>
            <a:off x="6804025" y="4652963"/>
            <a:ext cx="2016125" cy="360362"/>
          </a:xfrm>
          <a:prstGeom prst="wedgeRoundRectCallout">
            <a:avLst>
              <a:gd name="adj1" fmla="val -61810"/>
              <a:gd name="adj2" fmla="val -203745"/>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t>请解释此公式</a:t>
            </a: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77861"/>
                                        </p:tgtEl>
                                        <p:attrNameLst>
                                          <p:attrName>style.visibility</p:attrName>
                                        </p:attrNameLst>
                                      </p:cBhvr>
                                      <p:to>
                                        <p:strVal val="visible"/>
                                      </p:to>
                                    </p:set>
                                    <p:anim calcmode="lin" valueType="num">
                                      <p:cBhvr additive="base">
                                        <p:cTn id="7" dur="500" fill="hold"/>
                                        <p:tgtEl>
                                          <p:spTgt spid="377861"/>
                                        </p:tgtEl>
                                        <p:attrNameLst>
                                          <p:attrName>ppt_x</p:attrName>
                                        </p:attrNameLst>
                                      </p:cBhvr>
                                      <p:tavLst>
                                        <p:tav tm="0">
                                          <p:val>
                                            <p:strVal val="1+#ppt_w/2"/>
                                          </p:val>
                                        </p:tav>
                                        <p:tav tm="100000">
                                          <p:val>
                                            <p:strVal val="#ppt_x"/>
                                          </p:val>
                                        </p:tav>
                                      </p:tavLst>
                                    </p:anim>
                                    <p:anim calcmode="lin" valueType="num">
                                      <p:cBhvr additive="base">
                                        <p:cTn id="8" dur="500" fill="hold"/>
                                        <p:tgtEl>
                                          <p:spTgt spid="3778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灯片编号占位符 3"/>
          <p:cNvSpPr>
            <a:spLocks noGrp="1"/>
          </p:cNvSpPr>
          <p:nvPr>
            <p:ph type="sldNum" sz="quarter" idx="12"/>
          </p:nvPr>
        </p:nvSpPr>
        <p:spPr/>
        <p:txBody>
          <a:bodyPr/>
          <a:lstStyle/>
          <a:p>
            <a:fld id="{3CE88815-F2BE-4856-A04C-BE3FFFA194F7}" type="slidenum">
              <a:rPr lang="en-US" altLang="zh-CN"/>
            </a:fld>
            <a:endParaRPr lang="en-US" altLang="zh-CN"/>
          </a:p>
        </p:txBody>
      </p:sp>
      <p:sp>
        <p:nvSpPr>
          <p:cNvPr id="378882" name="Rectangle 2"/>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3900" b="1">
                <a:solidFill>
                  <a:schemeClr val="tx2"/>
                </a:solidFill>
                <a:effectLst>
                  <a:outerShdw blurRad="38100" dist="38100" dir="2700000" algn="tl">
                    <a:srgbClr val="C0C0C0"/>
                  </a:outerShdw>
                </a:effectLst>
                <a:ea typeface="黑体" panose="02010609060101010101" pitchFamily="49" charset="-122"/>
              </a:rPr>
              <a:t>n</a:t>
            </a:r>
            <a:r>
              <a:rPr lang="zh-CN" altLang="en-US" sz="3900" b="1">
                <a:solidFill>
                  <a:schemeClr val="tx2"/>
                </a:solidFill>
                <a:effectLst>
                  <a:outerShdw blurRad="38100" dist="38100" dir="2700000" algn="tl">
                    <a:srgbClr val="C0C0C0"/>
                  </a:outerShdw>
                </a:effectLst>
                <a:ea typeface="黑体" panose="02010609060101010101" pitchFamily="49" charset="-122"/>
              </a:rPr>
              <a:t>后问题</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378883" name="Text Box 3"/>
          <p:cNvSpPr txBox="1">
            <a:spLocks noChangeArrowheads="1"/>
          </p:cNvSpPr>
          <p:nvPr/>
        </p:nvSpPr>
        <p:spPr bwMode="auto">
          <a:xfrm>
            <a:off x="323850" y="803275"/>
            <a:ext cx="8496300" cy="1552575"/>
          </a:xfrm>
          <a:prstGeom prst="rect">
            <a:avLst/>
          </a:prstGeom>
          <a:solidFill>
            <a:schemeClr val="bg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在</a:t>
            </a:r>
            <a:r>
              <a:rPr lang="en-US" altLang="zh-CN" sz="2400">
                <a:ea typeface="新宋体" panose="02010609030101010101" charset="-122"/>
              </a:rPr>
              <a:t>n×n</a:t>
            </a:r>
            <a:r>
              <a:rPr lang="zh-CN" altLang="en-US" sz="2400">
                <a:ea typeface="新宋体" panose="02010609030101010101" charset="-122"/>
              </a:rPr>
              <a:t>格的棋盘上放置彼此不受攻击的</a:t>
            </a:r>
            <a:r>
              <a:rPr lang="en-US" altLang="zh-CN" sz="2400">
                <a:ea typeface="新宋体" panose="02010609030101010101" charset="-122"/>
              </a:rPr>
              <a:t>n</a:t>
            </a:r>
            <a:r>
              <a:rPr lang="zh-CN" altLang="en-US" sz="2400">
                <a:ea typeface="新宋体" panose="02010609030101010101" charset="-122"/>
              </a:rPr>
              <a:t>个皇后。按照国际象棋的规则，皇后可以攻击与之处在同一行或同一列或同一斜线上的棋子。</a:t>
            </a:r>
            <a:r>
              <a:rPr lang="en-US" altLang="zh-CN" sz="2400">
                <a:ea typeface="新宋体" panose="02010609030101010101" charset="-122"/>
              </a:rPr>
              <a:t>n</a:t>
            </a:r>
            <a:r>
              <a:rPr lang="zh-CN" altLang="en-US" sz="2400">
                <a:ea typeface="新宋体" panose="02010609030101010101" charset="-122"/>
              </a:rPr>
              <a:t>后问题等价于在</a:t>
            </a:r>
            <a:r>
              <a:rPr lang="en-US" altLang="zh-CN" sz="2400">
                <a:ea typeface="新宋体" panose="02010609030101010101" charset="-122"/>
              </a:rPr>
              <a:t>n×n</a:t>
            </a:r>
            <a:r>
              <a:rPr lang="zh-CN" altLang="en-US" sz="2400">
                <a:ea typeface="新宋体" panose="02010609030101010101" charset="-122"/>
              </a:rPr>
              <a:t>格的棋盘上放置</a:t>
            </a:r>
            <a:r>
              <a:rPr lang="en-US" altLang="zh-CN" sz="2400">
                <a:ea typeface="新宋体" panose="02010609030101010101" charset="-122"/>
              </a:rPr>
              <a:t>n</a:t>
            </a:r>
            <a:r>
              <a:rPr lang="zh-CN" altLang="en-US" sz="2400">
                <a:ea typeface="新宋体" panose="02010609030101010101" charset="-122"/>
              </a:rPr>
              <a:t>个皇后，任何</a:t>
            </a:r>
            <a:r>
              <a:rPr lang="en-US" altLang="zh-CN" sz="2400">
                <a:ea typeface="新宋体" panose="02010609030101010101" charset="-122"/>
              </a:rPr>
              <a:t>2</a:t>
            </a:r>
            <a:r>
              <a:rPr lang="zh-CN" altLang="en-US" sz="2400">
                <a:ea typeface="新宋体" panose="02010609030101010101" charset="-122"/>
              </a:rPr>
              <a:t>个皇后不放在同一行或同一列或同一斜线上。</a:t>
            </a:r>
            <a:endParaRPr lang="zh-CN" altLang="en-US" sz="2400">
              <a:ea typeface="新宋体" panose="02010609030101010101" charset="-122"/>
            </a:endParaRPr>
          </a:p>
        </p:txBody>
      </p:sp>
      <p:grpSp>
        <p:nvGrpSpPr>
          <p:cNvPr id="378884" name="Group 4"/>
          <p:cNvGrpSpPr/>
          <p:nvPr/>
        </p:nvGrpSpPr>
        <p:grpSpPr bwMode="auto">
          <a:xfrm>
            <a:off x="2268538" y="2420938"/>
            <a:ext cx="4598987" cy="4000500"/>
            <a:chOff x="1282" y="1724"/>
            <a:chExt cx="2897" cy="2520"/>
          </a:xfrm>
        </p:grpSpPr>
        <p:sp>
          <p:nvSpPr>
            <p:cNvPr id="378885" name="Rectangle 5"/>
            <p:cNvSpPr>
              <a:spLocks noChangeArrowheads="1"/>
            </p:cNvSpPr>
            <p:nvPr/>
          </p:nvSpPr>
          <p:spPr bwMode="auto">
            <a:xfrm>
              <a:off x="1617" y="1728"/>
              <a:ext cx="2544" cy="2208"/>
            </a:xfrm>
            <a:prstGeom prst="rect">
              <a:avLst/>
            </a:prstGeom>
            <a:solidFill>
              <a:schemeClr val="accent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886" name="Line 6"/>
            <p:cNvSpPr>
              <a:spLocks noChangeShapeType="1"/>
            </p:cNvSpPr>
            <p:nvPr/>
          </p:nvSpPr>
          <p:spPr bwMode="auto">
            <a:xfrm flipV="1">
              <a:off x="1616" y="2864"/>
              <a:ext cx="254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8887" name="Line 7"/>
            <p:cNvSpPr>
              <a:spLocks noChangeShapeType="1"/>
            </p:cNvSpPr>
            <p:nvPr/>
          </p:nvSpPr>
          <p:spPr bwMode="auto">
            <a:xfrm>
              <a:off x="2888" y="1732"/>
              <a:ext cx="0" cy="22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8888" name="Line 8"/>
            <p:cNvSpPr>
              <a:spLocks noChangeShapeType="1"/>
            </p:cNvSpPr>
            <p:nvPr/>
          </p:nvSpPr>
          <p:spPr bwMode="auto">
            <a:xfrm flipV="1">
              <a:off x="1621" y="3152"/>
              <a:ext cx="254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8889" name="Line 9"/>
            <p:cNvSpPr>
              <a:spLocks noChangeShapeType="1"/>
            </p:cNvSpPr>
            <p:nvPr/>
          </p:nvSpPr>
          <p:spPr bwMode="auto">
            <a:xfrm flipV="1">
              <a:off x="1619" y="3414"/>
              <a:ext cx="254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8890" name="Line 10"/>
            <p:cNvSpPr>
              <a:spLocks noChangeShapeType="1"/>
            </p:cNvSpPr>
            <p:nvPr/>
          </p:nvSpPr>
          <p:spPr bwMode="auto">
            <a:xfrm flipV="1">
              <a:off x="1621" y="3677"/>
              <a:ext cx="254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8891" name="Line 11"/>
            <p:cNvSpPr>
              <a:spLocks noChangeShapeType="1"/>
            </p:cNvSpPr>
            <p:nvPr/>
          </p:nvSpPr>
          <p:spPr bwMode="auto">
            <a:xfrm flipV="1">
              <a:off x="1620" y="2604"/>
              <a:ext cx="254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8892" name="Line 12"/>
            <p:cNvSpPr>
              <a:spLocks noChangeShapeType="1"/>
            </p:cNvSpPr>
            <p:nvPr/>
          </p:nvSpPr>
          <p:spPr bwMode="auto">
            <a:xfrm flipV="1">
              <a:off x="1624" y="2048"/>
              <a:ext cx="254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8893" name="Line 13"/>
            <p:cNvSpPr>
              <a:spLocks noChangeShapeType="1"/>
            </p:cNvSpPr>
            <p:nvPr/>
          </p:nvSpPr>
          <p:spPr bwMode="auto">
            <a:xfrm flipV="1">
              <a:off x="1624" y="2336"/>
              <a:ext cx="254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8894" name="Line 14"/>
            <p:cNvSpPr>
              <a:spLocks noChangeShapeType="1"/>
            </p:cNvSpPr>
            <p:nvPr/>
          </p:nvSpPr>
          <p:spPr bwMode="auto">
            <a:xfrm>
              <a:off x="1918" y="1724"/>
              <a:ext cx="0" cy="22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8895" name="Line 15"/>
            <p:cNvSpPr>
              <a:spLocks noChangeShapeType="1"/>
            </p:cNvSpPr>
            <p:nvPr/>
          </p:nvSpPr>
          <p:spPr bwMode="auto">
            <a:xfrm>
              <a:off x="2566" y="1727"/>
              <a:ext cx="0" cy="22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8896" name="Line 16"/>
            <p:cNvSpPr>
              <a:spLocks noChangeShapeType="1"/>
            </p:cNvSpPr>
            <p:nvPr/>
          </p:nvSpPr>
          <p:spPr bwMode="auto">
            <a:xfrm>
              <a:off x="2256" y="1727"/>
              <a:ext cx="0" cy="22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8897" name="Line 17"/>
            <p:cNvSpPr>
              <a:spLocks noChangeShapeType="1"/>
            </p:cNvSpPr>
            <p:nvPr/>
          </p:nvSpPr>
          <p:spPr bwMode="auto">
            <a:xfrm>
              <a:off x="3184" y="1730"/>
              <a:ext cx="0" cy="22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8898" name="Line 18"/>
            <p:cNvSpPr>
              <a:spLocks noChangeShapeType="1"/>
            </p:cNvSpPr>
            <p:nvPr/>
          </p:nvSpPr>
          <p:spPr bwMode="auto">
            <a:xfrm>
              <a:off x="3832" y="1729"/>
              <a:ext cx="0" cy="22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8899" name="Line 19"/>
            <p:cNvSpPr>
              <a:spLocks noChangeShapeType="1"/>
            </p:cNvSpPr>
            <p:nvPr/>
          </p:nvSpPr>
          <p:spPr bwMode="auto">
            <a:xfrm>
              <a:off x="3507" y="1729"/>
              <a:ext cx="0" cy="22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8900" name="Text Box 20"/>
            <p:cNvSpPr txBox="1">
              <a:spLocks noChangeArrowheads="1"/>
            </p:cNvSpPr>
            <p:nvPr/>
          </p:nvSpPr>
          <p:spPr bwMode="auto">
            <a:xfrm>
              <a:off x="1591" y="3956"/>
              <a:ext cx="25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ja-JP" altLang="en-US" sz="2400">
                  <a:latin typeface="Verdana" panose="020B0604030504040204" pitchFamily="34" charset="0"/>
                  <a:ea typeface="黑体" panose="02010609060101010101" pitchFamily="49" charset="-122"/>
                </a:rPr>
                <a:t>1    2   3   4   5   6   7   8</a:t>
              </a:r>
              <a:endParaRPr kumimoji="1" lang="ja-JP" altLang="en-US" sz="2400">
                <a:latin typeface="Verdana" panose="020B0604030504040204" pitchFamily="34" charset="0"/>
                <a:ea typeface="黑体" panose="02010609060101010101" pitchFamily="49" charset="-122"/>
              </a:endParaRPr>
            </a:p>
          </p:txBody>
        </p:sp>
        <p:sp>
          <p:nvSpPr>
            <p:cNvPr id="378901" name="Text Box 21"/>
            <p:cNvSpPr txBox="1">
              <a:spLocks noChangeArrowheads="1"/>
            </p:cNvSpPr>
            <p:nvPr/>
          </p:nvSpPr>
          <p:spPr bwMode="auto">
            <a:xfrm>
              <a:off x="1302" y="1728"/>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ja-JP" altLang="en-US" sz="2400">
                  <a:latin typeface="Verdana" panose="020B0604030504040204" pitchFamily="34" charset="0"/>
                  <a:ea typeface="黑体" panose="02010609060101010101" pitchFamily="49" charset="-122"/>
                </a:rPr>
                <a:t>1</a:t>
              </a:r>
              <a:endParaRPr kumimoji="1" lang="ja-JP" altLang="en-US" sz="2400">
                <a:latin typeface="Verdana" panose="020B0604030504040204" pitchFamily="34" charset="0"/>
                <a:ea typeface="黑体" panose="02010609060101010101" pitchFamily="49" charset="-122"/>
              </a:endParaRPr>
            </a:p>
          </p:txBody>
        </p:sp>
        <p:sp>
          <p:nvSpPr>
            <p:cNvPr id="378902" name="Text Box 22"/>
            <p:cNvSpPr txBox="1">
              <a:spLocks noChangeArrowheads="1"/>
            </p:cNvSpPr>
            <p:nvPr/>
          </p:nvSpPr>
          <p:spPr bwMode="auto">
            <a:xfrm>
              <a:off x="1302" y="2028"/>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ja-JP" altLang="en-US" sz="2400">
                  <a:latin typeface="Verdana" panose="020B0604030504040204" pitchFamily="34" charset="0"/>
                  <a:ea typeface="黑体" panose="02010609060101010101" pitchFamily="49" charset="-122"/>
                </a:rPr>
                <a:t>2</a:t>
              </a:r>
              <a:endParaRPr kumimoji="1" lang="ja-JP" altLang="en-US" sz="2400">
                <a:latin typeface="Verdana" panose="020B0604030504040204" pitchFamily="34" charset="0"/>
                <a:ea typeface="黑体" panose="02010609060101010101" pitchFamily="49" charset="-122"/>
              </a:endParaRPr>
            </a:p>
          </p:txBody>
        </p:sp>
        <p:sp>
          <p:nvSpPr>
            <p:cNvPr id="378903" name="Text Box 23"/>
            <p:cNvSpPr txBox="1">
              <a:spLocks noChangeArrowheads="1"/>
            </p:cNvSpPr>
            <p:nvPr/>
          </p:nvSpPr>
          <p:spPr bwMode="auto">
            <a:xfrm>
              <a:off x="1298" y="2312"/>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ja-JP" altLang="en-US" sz="2400">
                  <a:latin typeface="Verdana" panose="020B0604030504040204" pitchFamily="34" charset="0"/>
                  <a:ea typeface="黑体" panose="02010609060101010101" pitchFamily="49" charset="-122"/>
                </a:rPr>
                <a:t>3</a:t>
              </a:r>
              <a:endParaRPr kumimoji="1" lang="ja-JP" altLang="en-US" sz="2400">
                <a:latin typeface="Verdana" panose="020B0604030504040204" pitchFamily="34" charset="0"/>
                <a:ea typeface="黑体" panose="02010609060101010101" pitchFamily="49" charset="-122"/>
              </a:endParaRPr>
            </a:p>
          </p:txBody>
        </p:sp>
        <p:sp>
          <p:nvSpPr>
            <p:cNvPr id="378904" name="Text Box 24"/>
            <p:cNvSpPr txBox="1">
              <a:spLocks noChangeArrowheads="1"/>
            </p:cNvSpPr>
            <p:nvPr/>
          </p:nvSpPr>
          <p:spPr bwMode="auto">
            <a:xfrm>
              <a:off x="1290" y="2588"/>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ja-JP" altLang="en-US" sz="2400">
                  <a:latin typeface="Verdana" panose="020B0604030504040204" pitchFamily="34" charset="0"/>
                  <a:ea typeface="黑体" panose="02010609060101010101" pitchFamily="49" charset="-122"/>
                </a:rPr>
                <a:t>4</a:t>
              </a:r>
              <a:endParaRPr kumimoji="1" lang="ja-JP" altLang="en-US" sz="2400">
                <a:latin typeface="Verdana" panose="020B0604030504040204" pitchFamily="34" charset="0"/>
                <a:ea typeface="黑体" panose="02010609060101010101" pitchFamily="49" charset="-122"/>
              </a:endParaRPr>
            </a:p>
          </p:txBody>
        </p:sp>
        <p:sp>
          <p:nvSpPr>
            <p:cNvPr id="378905" name="Text Box 25"/>
            <p:cNvSpPr txBox="1">
              <a:spLocks noChangeArrowheads="1"/>
            </p:cNvSpPr>
            <p:nvPr/>
          </p:nvSpPr>
          <p:spPr bwMode="auto">
            <a:xfrm>
              <a:off x="1286" y="2848"/>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ja-JP" altLang="en-US" sz="2400">
                  <a:latin typeface="Verdana" panose="020B0604030504040204" pitchFamily="34" charset="0"/>
                  <a:ea typeface="黑体" panose="02010609060101010101" pitchFamily="49" charset="-122"/>
                </a:rPr>
                <a:t>5</a:t>
              </a:r>
              <a:endParaRPr kumimoji="1" lang="ja-JP" altLang="en-US" sz="2400">
                <a:latin typeface="Verdana" panose="020B0604030504040204" pitchFamily="34" charset="0"/>
                <a:ea typeface="黑体" panose="02010609060101010101" pitchFamily="49" charset="-122"/>
              </a:endParaRPr>
            </a:p>
          </p:txBody>
        </p:sp>
        <p:sp>
          <p:nvSpPr>
            <p:cNvPr id="378906" name="Text Box 26"/>
            <p:cNvSpPr txBox="1">
              <a:spLocks noChangeArrowheads="1"/>
            </p:cNvSpPr>
            <p:nvPr/>
          </p:nvSpPr>
          <p:spPr bwMode="auto">
            <a:xfrm>
              <a:off x="1286" y="3152"/>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ja-JP" altLang="en-US" sz="2400">
                  <a:latin typeface="Verdana" panose="020B0604030504040204" pitchFamily="34" charset="0"/>
                  <a:ea typeface="黑体" panose="02010609060101010101" pitchFamily="49" charset="-122"/>
                </a:rPr>
                <a:t>6</a:t>
              </a:r>
              <a:endParaRPr kumimoji="1" lang="ja-JP" altLang="en-US" sz="2400">
                <a:latin typeface="Verdana" panose="020B0604030504040204" pitchFamily="34" charset="0"/>
                <a:ea typeface="黑体" panose="02010609060101010101" pitchFamily="49" charset="-122"/>
              </a:endParaRPr>
            </a:p>
          </p:txBody>
        </p:sp>
        <p:sp>
          <p:nvSpPr>
            <p:cNvPr id="378907" name="Text Box 27"/>
            <p:cNvSpPr txBox="1">
              <a:spLocks noChangeArrowheads="1"/>
            </p:cNvSpPr>
            <p:nvPr/>
          </p:nvSpPr>
          <p:spPr bwMode="auto">
            <a:xfrm>
              <a:off x="1282" y="3392"/>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ja-JP" altLang="en-US" sz="2400">
                  <a:latin typeface="Verdana" panose="020B0604030504040204" pitchFamily="34" charset="0"/>
                  <a:ea typeface="黑体" panose="02010609060101010101" pitchFamily="49" charset="-122"/>
                </a:rPr>
                <a:t>7</a:t>
              </a:r>
              <a:endParaRPr kumimoji="1" lang="ja-JP" altLang="en-US" sz="2400">
                <a:latin typeface="Verdana" panose="020B0604030504040204" pitchFamily="34" charset="0"/>
                <a:ea typeface="黑体" panose="02010609060101010101" pitchFamily="49" charset="-122"/>
              </a:endParaRPr>
            </a:p>
          </p:txBody>
        </p:sp>
        <p:sp>
          <p:nvSpPr>
            <p:cNvPr id="378908" name="Text Box 28"/>
            <p:cNvSpPr txBox="1">
              <a:spLocks noChangeArrowheads="1"/>
            </p:cNvSpPr>
            <p:nvPr/>
          </p:nvSpPr>
          <p:spPr bwMode="auto">
            <a:xfrm>
              <a:off x="1282" y="3652"/>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ja-JP" altLang="en-US" sz="2400">
                  <a:latin typeface="Verdana" panose="020B0604030504040204" pitchFamily="34" charset="0"/>
                  <a:ea typeface="黑体" panose="02010609060101010101" pitchFamily="49" charset="-122"/>
                </a:rPr>
                <a:t>8</a:t>
              </a:r>
              <a:endParaRPr kumimoji="1" lang="ja-JP" altLang="en-US" sz="2400">
                <a:latin typeface="Verdana" panose="020B0604030504040204" pitchFamily="34" charset="0"/>
                <a:ea typeface="黑体" panose="02010609060101010101" pitchFamily="49" charset="-122"/>
              </a:endParaRPr>
            </a:p>
          </p:txBody>
        </p:sp>
        <p:sp>
          <p:nvSpPr>
            <p:cNvPr id="378909" name="Text Box 29"/>
            <p:cNvSpPr txBox="1">
              <a:spLocks noChangeArrowheads="1"/>
            </p:cNvSpPr>
            <p:nvPr/>
          </p:nvSpPr>
          <p:spPr bwMode="auto">
            <a:xfrm>
              <a:off x="3206" y="2048"/>
              <a:ext cx="26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ja-JP" sz="2400">
                  <a:latin typeface="Verdana" panose="020B0604030504040204" pitchFamily="34" charset="0"/>
                  <a:ea typeface="黑体" panose="02010609060101010101" pitchFamily="49" charset="-122"/>
                </a:rPr>
                <a:t>Q</a:t>
              </a:r>
              <a:endParaRPr kumimoji="1" lang="en-US" altLang="ja-JP" sz="2400">
                <a:latin typeface="Verdana" panose="020B0604030504040204" pitchFamily="34" charset="0"/>
                <a:ea typeface="黑体" panose="02010609060101010101" pitchFamily="49" charset="-122"/>
              </a:endParaRPr>
            </a:p>
          </p:txBody>
        </p:sp>
        <p:sp>
          <p:nvSpPr>
            <p:cNvPr id="378910" name="Text Box 30"/>
            <p:cNvSpPr txBox="1">
              <a:spLocks noChangeArrowheads="1"/>
            </p:cNvSpPr>
            <p:nvPr/>
          </p:nvSpPr>
          <p:spPr bwMode="auto">
            <a:xfrm>
              <a:off x="3854" y="2328"/>
              <a:ext cx="26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ja-JP" sz="2400">
                  <a:latin typeface="Verdana" panose="020B0604030504040204" pitchFamily="34" charset="0"/>
                  <a:ea typeface="黑体" panose="02010609060101010101" pitchFamily="49" charset="-122"/>
                </a:rPr>
                <a:t>Q</a:t>
              </a:r>
              <a:endParaRPr kumimoji="1" lang="en-US" altLang="ja-JP" sz="2400">
                <a:latin typeface="Verdana" panose="020B0604030504040204" pitchFamily="34" charset="0"/>
                <a:ea typeface="黑体" panose="02010609060101010101" pitchFamily="49" charset="-122"/>
              </a:endParaRPr>
            </a:p>
          </p:txBody>
        </p:sp>
        <p:sp>
          <p:nvSpPr>
            <p:cNvPr id="378911" name="Text Box 31"/>
            <p:cNvSpPr txBox="1">
              <a:spLocks noChangeArrowheads="1"/>
            </p:cNvSpPr>
            <p:nvPr/>
          </p:nvSpPr>
          <p:spPr bwMode="auto">
            <a:xfrm>
              <a:off x="1958" y="2588"/>
              <a:ext cx="26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ja-JP" sz="2400">
                  <a:latin typeface="Verdana" panose="020B0604030504040204" pitchFamily="34" charset="0"/>
                  <a:ea typeface="黑体" panose="02010609060101010101" pitchFamily="49" charset="-122"/>
                </a:rPr>
                <a:t>Q</a:t>
              </a:r>
              <a:endParaRPr kumimoji="1" lang="en-US" altLang="ja-JP" sz="2400">
                <a:latin typeface="Verdana" panose="020B0604030504040204" pitchFamily="34" charset="0"/>
                <a:ea typeface="黑体" panose="02010609060101010101" pitchFamily="49" charset="-122"/>
              </a:endParaRPr>
            </a:p>
          </p:txBody>
        </p:sp>
        <p:sp>
          <p:nvSpPr>
            <p:cNvPr id="378912" name="Text Box 32"/>
            <p:cNvSpPr txBox="1">
              <a:spLocks noChangeArrowheads="1"/>
            </p:cNvSpPr>
            <p:nvPr/>
          </p:nvSpPr>
          <p:spPr bwMode="auto">
            <a:xfrm>
              <a:off x="3534" y="2868"/>
              <a:ext cx="26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ja-JP" sz="2400">
                  <a:latin typeface="Verdana" panose="020B0604030504040204" pitchFamily="34" charset="0"/>
                  <a:ea typeface="黑体" panose="02010609060101010101" pitchFamily="49" charset="-122"/>
                </a:rPr>
                <a:t>Q</a:t>
              </a:r>
              <a:endParaRPr kumimoji="1" lang="en-US" altLang="ja-JP" sz="2400">
                <a:latin typeface="Verdana" panose="020B0604030504040204" pitchFamily="34" charset="0"/>
                <a:ea typeface="黑体" panose="02010609060101010101" pitchFamily="49" charset="-122"/>
              </a:endParaRPr>
            </a:p>
          </p:txBody>
        </p:sp>
        <p:sp>
          <p:nvSpPr>
            <p:cNvPr id="378913" name="Text Box 33"/>
            <p:cNvSpPr txBox="1">
              <a:spLocks noChangeArrowheads="1"/>
            </p:cNvSpPr>
            <p:nvPr/>
          </p:nvSpPr>
          <p:spPr bwMode="auto">
            <a:xfrm>
              <a:off x="2278" y="3396"/>
              <a:ext cx="26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ja-JP" sz="2400">
                  <a:latin typeface="Verdana" panose="020B0604030504040204" pitchFamily="34" charset="0"/>
                  <a:ea typeface="黑体" panose="02010609060101010101" pitchFamily="49" charset="-122"/>
                </a:rPr>
                <a:t>Q</a:t>
              </a:r>
              <a:endParaRPr kumimoji="1" lang="en-US" altLang="ja-JP" sz="2400">
                <a:latin typeface="Verdana" panose="020B0604030504040204" pitchFamily="34" charset="0"/>
                <a:ea typeface="黑体" panose="02010609060101010101" pitchFamily="49" charset="-122"/>
              </a:endParaRPr>
            </a:p>
          </p:txBody>
        </p:sp>
        <p:sp>
          <p:nvSpPr>
            <p:cNvPr id="378914" name="Text Box 34"/>
            <p:cNvSpPr txBox="1">
              <a:spLocks noChangeArrowheads="1"/>
            </p:cNvSpPr>
            <p:nvPr/>
          </p:nvSpPr>
          <p:spPr bwMode="auto">
            <a:xfrm>
              <a:off x="1634" y="3136"/>
              <a:ext cx="26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ja-JP" sz="2400">
                  <a:latin typeface="Verdana" panose="020B0604030504040204" pitchFamily="34" charset="0"/>
                  <a:ea typeface="黑体" panose="02010609060101010101" pitchFamily="49" charset="-122"/>
                </a:rPr>
                <a:t>Q</a:t>
              </a:r>
              <a:endParaRPr kumimoji="1" lang="en-US" altLang="ja-JP" sz="2400">
                <a:latin typeface="Verdana" panose="020B0604030504040204" pitchFamily="34" charset="0"/>
                <a:ea typeface="黑体" panose="02010609060101010101" pitchFamily="49" charset="-122"/>
              </a:endParaRPr>
            </a:p>
          </p:txBody>
        </p:sp>
        <p:sp>
          <p:nvSpPr>
            <p:cNvPr id="378915" name="Text Box 35"/>
            <p:cNvSpPr txBox="1">
              <a:spLocks noChangeArrowheads="1"/>
            </p:cNvSpPr>
            <p:nvPr/>
          </p:nvSpPr>
          <p:spPr bwMode="auto">
            <a:xfrm>
              <a:off x="2902" y="3664"/>
              <a:ext cx="26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ja-JP" sz="2400">
                  <a:latin typeface="Verdana" panose="020B0604030504040204" pitchFamily="34" charset="0"/>
                  <a:ea typeface="黑体" panose="02010609060101010101" pitchFamily="49" charset="-122"/>
                </a:rPr>
                <a:t>Q</a:t>
              </a:r>
              <a:endParaRPr kumimoji="1" lang="en-US" altLang="ja-JP" sz="2400">
                <a:latin typeface="Verdana" panose="020B0604030504040204" pitchFamily="34" charset="0"/>
                <a:ea typeface="黑体" panose="02010609060101010101" pitchFamily="49" charset="-122"/>
              </a:endParaRPr>
            </a:p>
          </p:txBody>
        </p:sp>
        <p:sp>
          <p:nvSpPr>
            <p:cNvPr id="378916" name="Text Box 36"/>
            <p:cNvSpPr txBox="1">
              <a:spLocks noChangeArrowheads="1"/>
            </p:cNvSpPr>
            <p:nvPr/>
          </p:nvSpPr>
          <p:spPr bwMode="auto">
            <a:xfrm>
              <a:off x="2594" y="1752"/>
              <a:ext cx="26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ja-JP" sz="2400">
                  <a:latin typeface="Verdana" panose="020B0604030504040204" pitchFamily="34" charset="0"/>
                  <a:ea typeface="黑体" panose="02010609060101010101" pitchFamily="49" charset="-122"/>
                </a:rPr>
                <a:t>Q</a:t>
              </a:r>
              <a:endParaRPr kumimoji="1" lang="en-US" altLang="ja-JP" sz="2400">
                <a:latin typeface="Verdana" panose="020B0604030504040204" pitchFamily="34" charset="0"/>
                <a:ea typeface="黑体" panose="02010609060101010101" pitchFamily="49" charset="-122"/>
              </a:endParaRPr>
            </a:p>
          </p:txBody>
        </p:sp>
      </p:gr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fld id="{FA8F13B7-B634-495A-B717-994C47F13831}" type="slidenum">
              <a:rPr lang="en-US" altLang="zh-CN"/>
            </a:fld>
            <a:endParaRPr lang="en-US" altLang="zh-CN"/>
          </a:p>
        </p:txBody>
      </p:sp>
      <p:sp>
        <p:nvSpPr>
          <p:cNvPr id="379906" name="Rectangle 2"/>
          <p:cNvSpPr>
            <a:spLocks noChangeArrowheads="1"/>
          </p:cNvSpPr>
          <p:nvPr/>
        </p:nvSpPr>
        <p:spPr bwMode="auto">
          <a:xfrm>
            <a:off x="684213"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3900" b="1">
                <a:solidFill>
                  <a:schemeClr val="tx2"/>
                </a:solidFill>
                <a:effectLst>
                  <a:outerShdw blurRad="38100" dist="38100" dir="2700000" algn="tl">
                    <a:srgbClr val="C0C0C0"/>
                  </a:outerShdw>
                </a:effectLst>
                <a:ea typeface="黑体" panose="02010609060101010101" pitchFamily="49" charset="-122"/>
              </a:rPr>
              <a:t>n</a:t>
            </a:r>
            <a:r>
              <a:rPr lang="zh-CN" altLang="en-US" sz="3900" b="1">
                <a:solidFill>
                  <a:schemeClr val="tx2"/>
                </a:solidFill>
                <a:effectLst>
                  <a:outerShdw blurRad="38100" dist="38100" dir="2700000" algn="tl">
                    <a:srgbClr val="C0C0C0"/>
                  </a:outerShdw>
                </a:effectLst>
                <a:ea typeface="黑体" panose="02010609060101010101" pitchFamily="49" charset="-122"/>
              </a:rPr>
              <a:t>后问题</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379907" name="Text Box 3"/>
          <p:cNvSpPr txBox="1">
            <a:spLocks noChangeArrowheads="1"/>
          </p:cNvSpPr>
          <p:nvPr/>
        </p:nvSpPr>
        <p:spPr bwMode="auto">
          <a:xfrm>
            <a:off x="158750" y="711200"/>
            <a:ext cx="8805863" cy="1187450"/>
          </a:xfrm>
          <a:prstGeom prst="rect">
            <a:avLst/>
          </a:prstGeom>
          <a:solidFill>
            <a:schemeClr val="bg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对于</a:t>
            </a:r>
            <a:r>
              <a:rPr lang="en-US" altLang="zh-CN" sz="2400">
                <a:ea typeface="新宋体" panose="02010609030101010101" charset="-122"/>
              </a:rPr>
              <a:t>n</a:t>
            </a:r>
            <a:r>
              <a:rPr lang="zh-CN" altLang="en-US" sz="2400">
                <a:ea typeface="新宋体" panose="02010609030101010101" charset="-122"/>
              </a:rPr>
              <a:t>后问题的任何一个解而言，每一个皇后在棋盘上的位置无任何规律，不具有系统性，而更象是随机放置的。由此容易想到下面的</a:t>
            </a:r>
            <a:r>
              <a:rPr lang="zh-CN" altLang="en-US" sz="2400" b="1">
                <a:ea typeface="黑体" panose="02010609060101010101" pitchFamily="49" charset="-122"/>
              </a:rPr>
              <a:t>拉斯维加斯算法</a:t>
            </a:r>
            <a:r>
              <a:rPr lang="zh-CN" altLang="en-US" sz="2400">
                <a:ea typeface="新宋体" panose="02010609030101010101" charset="-122"/>
              </a:rPr>
              <a:t>。 </a:t>
            </a:r>
            <a:endParaRPr lang="zh-CN" altLang="en-US" sz="2400">
              <a:ea typeface="新宋体" panose="02010609030101010101" charset="-122"/>
            </a:endParaRPr>
          </a:p>
        </p:txBody>
      </p:sp>
      <p:sp>
        <p:nvSpPr>
          <p:cNvPr id="379908" name="Text Box 4"/>
          <p:cNvSpPr txBox="1">
            <a:spLocks noChangeArrowheads="1"/>
          </p:cNvSpPr>
          <p:nvPr/>
        </p:nvSpPr>
        <p:spPr bwMode="auto">
          <a:xfrm>
            <a:off x="179388" y="1989138"/>
            <a:ext cx="8732837" cy="1187450"/>
          </a:xfrm>
          <a:prstGeom prst="rect">
            <a:avLst/>
          </a:prstGeom>
          <a:solidFill>
            <a:srgbClr val="FFCC00"/>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在棋盘上相继的各行中随机地放置皇后，并注意使新放置的皇后与已放置的皇后互不攻击，直至</a:t>
            </a:r>
            <a:r>
              <a:rPr lang="en-US" altLang="zh-CN" sz="2400">
                <a:ea typeface="新宋体" panose="02010609030101010101" charset="-122"/>
              </a:rPr>
              <a:t>n</a:t>
            </a:r>
            <a:r>
              <a:rPr lang="zh-CN" altLang="en-US" sz="2400">
                <a:ea typeface="新宋体" panose="02010609030101010101" charset="-122"/>
              </a:rPr>
              <a:t>个皇后均已相容地放置好，或已没有下一个皇后的可放置位置时为止。</a:t>
            </a:r>
            <a:endParaRPr lang="zh-CN" altLang="en-US" sz="2400">
              <a:ea typeface="新宋体" panose="02010609030101010101" charset="-122"/>
            </a:endParaRPr>
          </a:p>
        </p:txBody>
      </p:sp>
      <p:sp>
        <p:nvSpPr>
          <p:cNvPr id="379909" name="Rectangle 5"/>
          <p:cNvSpPr>
            <a:spLocks noChangeArrowheads="1"/>
          </p:cNvSpPr>
          <p:nvPr/>
        </p:nvSpPr>
        <p:spPr bwMode="auto">
          <a:xfrm>
            <a:off x="2124075" y="3357563"/>
            <a:ext cx="4824413" cy="2043112"/>
          </a:xfrm>
          <a:prstGeom prst="rect">
            <a:avLst/>
          </a:prstGeom>
          <a:solidFill>
            <a:schemeClr val="hlink"/>
          </a:solidFill>
          <a:ln w="28575">
            <a:solidFill>
              <a:srgbClr val="FF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a:t>bool Queen::Place(int k)</a:t>
            </a:r>
            <a:endParaRPr kumimoji="1" lang="en-US" altLang="zh-CN" b="1"/>
          </a:p>
          <a:p>
            <a:r>
              <a:rPr kumimoji="1" lang="en-US" altLang="zh-CN" b="1"/>
              <a:t>{</a:t>
            </a:r>
            <a:endParaRPr kumimoji="1" lang="en-US" altLang="zh-CN" b="1"/>
          </a:p>
          <a:p>
            <a:r>
              <a:rPr kumimoji="1" lang="en-US" altLang="zh-CN" b="1"/>
              <a:t>  for (int j=1;j&lt;k;j++)</a:t>
            </a:r>
            <a:endParaRPr kumimoji="1" lang="en-US" altLang="zh-CN" b="1"/>
          </a:p>
          <a:p>
            <a:r>
              <a:rPr kumimoji="1" lang="en-US" altLang="zh-CN" b="1"/>
              <a:t>    if ((abs(k-j)==abs(x[j]-x[k]))||(x[j]==x[k])) return false;</a:t>
            </a:r>
            <a:endParaRPr kumimoji="1" lang="en-US" altLang="zh-CN" b="1"/>
          </a:p>
          <a:p>
            <a:r>
              <a:rPr kumimoji="1" lang="en-US" altLang="zh-CN" b="1"/>
              <a:t>  return true;</a:t>
            </a:r>
            <a:endParaRPr kumimoji="1" lang="en-US" altLang="zh-CN" b="1"/>
          </a:p>
          <a:p>
            <a:r>
              <a:rPr kumimoji="1" lang="en-US" altLang="zh-CN" b="1"/>
              <a:t>} </a:t>
            </a:r>
            <a:endParaRPr kumimoji="1" lang="en-US" altLang="zh-CN" b="1"/>
          </a:p>
        </p:txBody>
      </p:sp>
      <p:sp>
        <p:nvSpPr>
          <p:cNvPr id="379910" name="Text Box 6"/>
          <p:cNvSpPr txBox="1">
            <a:spLocks noChangeArrowheads="1"/>
          </p:cNvSpPr>
          <p:nvPr/>
        </p:nvSpPr>
        <p:spPr bwMode="auto">
          <a:xfrm>
            <a:off x="323850" y="5734050"/>
            <a:ext cx="8642350" cy="822325"/>
          </a:xfrm>
          <a:prstGeom prst="rect">
            <a:avLst/>
          </a:prstGeom>
          <a:solidFill>
            <a:schemeClr val="bg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方法</a:t>
            </a:r>
            <a:r>
              <a:rPr lang="en-US" altLang="zh-CN" sz="2400">
                <a:ea typeface="新宋体" panose="02010609030101010101" charset="-122"/>
              </a:rPr>
              <a:t>queensLV()</a:t>
            </a:r>
            <a:r>
              <a:rPr lang="zh-CN" altLang="en-US" sz="2400">
                <a:ea typeface="新宋体" panose="02010609030101010101" charset="-122"/>
              </a:rPr>
              <a:t>实现在棋盘上随机放置</a:t>
            </a:r>
            <a:r>
              <a:rPr lang="en-US" altLang="zh-CN" sz="2400">
                <a:ea typeface="新宋体" panose="02010609030101010101" charset="-122"/>
              </a:rPr>
              <a:t>n</a:t>
            </a:r>
            <a:r>
              <a:rPr lang="zh-CN" altLang="en-US" sz="2400">
                <a:ea typeface="新宋体" panose="02010609030101010101" charset="-122"/>
              </a:rPr>
              <a:t>个皇后的拉斯维加斯算法。见书</a:t>
            </a:r>
            <a:r>
              <a:rPr lang="en-US" altLang="zh-CN" sz="2400">
                <a:ea typeface="新宋体" panose="02010609030101010101" charset="-122"/>
              </a:rPr>
              <a:t>P260</a:t>
            </a:r>
            <a:r>
              <a:rPr lang="zh-CN" altLang="en-US" sz="2400">
                <a:ea typeface="新宋体" panose="02010609030101010101" charset="-122"/>
              </a:rPr>
              <a:t>。请解释</a:t>
            </a:r>
            <a:endParaRPr lang="zh-CN" altLang="en-US" sz="2400">
              <a:ea typeface="新宋体" panose="02010609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79908"/>
                                        </p:tgtEl>
                                        <p:attrNameLst>
                                          <p:attrName>style.visibility</p:attrName>
                                        </p:attrNameLst>
                                      </p:cBhvr>
                                      <p:to>
                                        <p:strVal val="visible"/>
                                      </p:to>
                                    </p:set>
                                    <p:animEffect transition="in" filter="checkerboard(across)">
                                      <p:cBhvr>
                                        <p:cTn id="7" dur="500"/>
                                        <p:tgtEl>
                                          <p:spTgt spid="379908"/>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grpId="0" nodeType="clickEffect">
                                  <p:stCondLst>
                                    <p:cond delay="0"/>
                                  </p:stCondLst>
                                  <p:childTnLst>
                                    <p:set>
                                      <p:cBhvr>
                                        <p:cTn id="11" dur="1" fill="hold">
                                          <p:stCondLst>
                                            <p:cond delay="0"/>
                                          </p:stCondLst>
                                        </p:cTn>
                                        <p:tgtEl>
                                          <p:spTgt spid="379909"/>
                                        </p:tgtEl>
                                        <p:attrNameLst>
                                          <p:attrName>style.visibility</p:attrName>
                                        </p:attrNameLst>
                                      </p:cBhvr>
                                      <p:to>
                                        <p:strVal val="visible"/>
                                      </p:to>
                                    </p:set>
                                    <p:anim calcmode="lin" valueType="num">
                                      <p:cBhvr>
                                        <p:cTn id="12" dur="500" fill="hold"/>
                                        <p:tgtEl>
                                          <p:spTgt spid="379909"/>
                                        </p:tgtEl>
                                        <p:attrNameLst>
                                          <p:attrName>ppt_w</p:attrName>
                                        </p:attrNameLst>
                                      </p:cBhvr>
                                      <p:tavLst>
                                        <p:tav tm="0">
                                          <p:val>
                                            <p:fltVal val="0"/>
                                          </p:val>
                                        </p:tav>
                                        <p:tav tm="100000">
                                          <p:val>
                                            <p:strVal val="#ppt_w"/>
                                          </p:val>
                                        </p:tav>
                                      </p:tavLst>
                                    </p:anim>
                                    <p:anim calcmode="lin" valueType="num">
                                      <p:cBhvr>
                                        <p:cTn id="13" dur="500" fill="hold"/>
                                        <p:tgtEl>
                                          <p:spTgt spid="379909"/>
                                        </p:tgtEl>
                                        <p:attrNameLst>
                                          <p:attrName>ppt_h</p:attrName>
                                        </p:attrNameLst>
                                      </p:cBhvr>
                                      <p:tavLst>
                                        <p:tav tm="0">
                                          <p:val>
                                            <p:fltVal val="0"/>
                                          </p:val>
                                        </p:tav>
                                        <p:tav tm="100000">
                                          <p:val>
                                            <p:strVal val="#ppt_h"/>
                                          </p:val>
                                        </p:tav>
                                      </p:tavLst>
                                    </p:anim>
                                    <p:anim calcmode="lin" valueType="num">
                                      <p:cBhvr>
                                        <p:cTn id="14" dur="500" fill="hold"/>
                                        <p:tgtEl>
                                          <p:spTgt spid="379909"/>
                                        </p:tgtEl>
                                        <p:attrNameLst>
                                          <p:attrName>style.rotation</p:attrName>
                                        </p:attrNameLst>
                                      </p:cBhvr>
                                      <p:tavLst>
                                        <p:tav tm="0">
                                          <p:val>
                                            <p:fltVal val="360"/>
                                          </p:val>
                                        </p:tav>
                                        <p:tav tm="100000">
                                          <p:val>
                                            <p:fltVal val="0"/>
                                          </p:val>
                                        </p:tav>
                                      </p:tavLst>
                                    </p:anim>
                                    <p:animEffect transition="in" filter="fade">
                                      <p:cBhvr>
                                        <p:cTn id="15" dur="500"/>
                                        <p:tgtEl>
                                          <p:spTgt spid="379909"/>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379910"/>
                                        </p:tgtEl>
                                        <p:attrNameLst>
                                          <p:attrName>style.visibility</p:attrName>
                                        </p:attrNameLst>
                                      </p:cBhvr>
                                      <p:to>
                                        <p:strVal val="visible"/>
                                      </p:to>
                                    </p:set>
                                    <p:animEffect transition="in" filter="randombar(horizontal)">
                                      <p:cBhvr>
                                        <p:cTn id="20" dur="500"/>
                                        <p:tgtEl>
                                          <p:spTgt spid="3799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08" grpId="0" animBg="1"/>
      <p:bldP spid="379909" grpId="0" animBg="1"/>
      <p:bldP spid="37991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D53EEF93-C3CC-460B-9035-A0FB3B52F4A0}" type="slidenum">
              <a:rPr lang="en-US" altLang="zh-CN"/>
            </a:fld>
            <a:endParaRPr lang="en-US" altLang="zh-CN"/>
          </a:p>
        </p:txBody>
      </p:sp>
      <p:pic>
        <p:nvPicPr>
          <p:cNvPr id="38093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750" y="333375"/>
            <a:ext cx="6769100" cy="6302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0931" name="Line 3"/>
          <p:cNvSpPr>
            <a:spLocks noChangeShapeType="1"/>
          </p:cNvSpPr>
          <p:nvPr/>
        </p:nvSpPr>
        <p:spPr bwMode="auto">
          <a:xfrm>
            <a:off x="2124075" y="4797425"/>
            <a:ext cx="2879725" cy="0"/>
          </a:xfrm>
          <a:prstGeom prst="line">
            <a:avLst/>
          </a:prstGeom>
          <a:noFill/>
          <a:ln w="571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932" name="Line 4"/>
          <p:cNvSpPr>
            <a:spLocks noChangeShapeType="1"/>
          </p:cNvSpPr>
          <p:nvPr/>
        </p:nvSpPr>
        <p:spPr bwMode="auto">
          <a:xfrm>
            <a:off x="1476375" y="2924175"/>
            <a:ext cx="863600" cy="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933" name="Line 5"/>
          <p:cNvSpPr>
            <a:spLocks noChangeShapeType="1"/>
          </p:cNvSpPr>
          <p:nvPr/>
        </p:nvSpPr>
        <p:spPr bwMode="auto">
          <a:xfrm>
            <a:off x="1331913" y="2205038"/>
            <a:ext cx="1223962" cy="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0933"/>
                                        </p:tgtEl>
                                        <p:attrNameLst>
                                          <p:attrName>style.visibility</p:attrName>
                                        </p:attrNameLst>
                                      </p:cBhvr>
                                      <p:to>
                                        <p:strVal val="visible"/>
                                      </p:to>
                                    </p:set>
                                    <p:animEffect transition="in" filter="slide(fromBottom)">
                                      <p:cBhvr>
                                        <p:cTn id="7" dur="500"/>
                                        <p:tgtEl>
                                          <p:spTgt spid="380933"/>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380932"/>
                                        </p:tgtEl>
                                        <p:attrNameLst>
                                          <p:attrName>style.visibility</p:attrName>
                                        </p:attrNameLst>
                                      </p:cBhvr>
                                      <p:to>
                                        <p:strVal val="visible"/>
                                      </p:to>
                                    </p:set>
                                    <p:animEffect transition="in" filter="slide(fromBottom)">
                                      <p:cBhvr>
                                        <p:cTn id="10" dur="500"/>
                                        <p:tgtEl>
                                          <p:spTgt spid="380932"/>
                                        </p:tgtEl>
                                      </p:cBhvr>
                                    </p:animEffect>
                                  </p:childTnLst>
                                </p:cTn>
                              </p:par>
                              <p:par>
                                <p:cTn id="11" presetID="12" presetClass="entr" presetSubtype="4" fill="hold" grpId="0" nodeType="withEffect">
                                  <p:stCondLst>
                                    <p:cond delay="0"/>
                                  </p:stCondLst>
                                  <p:childTnLst>
                                    <p:set>
                                      <p:cBhvr>
                                        <p:cTn id="12" dur="1" fill="hold">
                                          <p:stCondLst>
                                            <p:cond delay="0"/>
                                          </p:stCondLst>
                                        </p:cTn>
                                        <p:tgtEl>
                                          <p:spTgt spid="380931"/>
                                        </p:tgtEl>
                                        <p:attrNameLst>
                                          <p:attrName>style.visibility</p:attrName>
                                        </p:attrNameLst>
                                      </p:cBhvr>
                                      <p:to>
                                        <p:strVal val="visible"/>
                                      </p:to>
                                    </p:set>
                                    <p:animEffect transition="in" filter="slide(fromBottom)">
                                      <p:cBhvr>
                                        <p:cTn id="13" dur="500"/>
                                        <p:tgtEl>
                                          <p:spTgt spid="3809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931" grpId="0" animBg="1"/>
      <p:bldP spid="380932" grpId="0" animBg="1"/>
      <p:bldP spid="38093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9FC4D2D8-663E-4FD6-96B4-9E20F161764A}" type="slidenum">
              <a:rPr lang="en-US" altLang="zh-CN"/>
            </a:fld>
            <a:endParaRPr lang="en-US" altLang="zh-CN"/>
          </a:p>
        </p:txBody>
      </p:sp>
      <p:pic>
        <p:nvPicPr>
          <p:cNvPr id="38195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750" y="1052513"/>
            <a:ext cx="8064500" cy="394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1955" name="Rectangle 3"/>
          <p:cNvSpPr>
            <a:spLocks noChangeArrowheads="1"/>
          </p:cNvSpPr>
          <p:nvPr/>
        </p:nvSpPr>
        <p:spPr bwMode="auto">
          <a:xfrm>
            <a:off x="1692275" y="5300663"/>
            <a:ext cx="4895850" cy="860425"/>
          </a:xfrm>
          <a:prstGeom prst="rect">
            <a:avLst/>
          </a:prstGeom>
          <a:solidFill>
            <a:schemeClr val="hlink"/>
          </a:solidFill>
          <a:ln w="38100">
            <a:solidFill>
              <a:srgbClr val="FF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ea typeface="新宋体" panose="02010609030101010101" charset="-122"/>
              </a:rPr>
              <a:t>一旦发现无法再放置下一个皇后，</a:t>
            </a:r>
            <a:endParaRPr lang="zh-CN" altLang="en-US" sz="2400" b="1">
              <a:ea typeface="新宋体" panose="02010609030101010101" charset="-122"/>
            </a:endParaRPr>
          </a:p>
          <a:p>
            <a:r>
              <a:rPr lang="zh-CN" altLang="en-US" sz="2400" b="1">
                <a:ea typeface="新宋体" panose="02010609030101010101" charset="-122"/>
              </a:rPr>
              <a:t>就全部重新开始</a:t>
            </a:r>
            <a:endParaRPr lang="zh-CN" altLang="en-US" sz="2400" b="1">
              <a:ea typeface="新宋体" panose="02010609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81955"/>
                                        </p:tgtEl>
                                        <p:attrNameLst>
                                          <p:attrName>style.visibility</p:attrName>
                                        </p:attrNameLst>
                                      </p:cBhvr>
                                      <p:to>
                                        <p:strVal val="visible"/>
                                      </p:to>
                                    </p:set>
                                    <p:animEffect transition="in" filter="checkerboard(across)">
                                      <p:cBhvr>
                                        <p:cTn id="7" dur="500"/>
                                        <p:tgtEl>
                                          <p:spTgt spid="3819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B02D6F6A-6706-4441-BD64-AF3B2FB17861}" type="slidenum">
              <a:rPr lang="en-US" altLang="zh-CN"/>
            </a:fld>
            <a:endParaRPr lang="en-US" altLang="zh-CN"/>
          </a:p>
        </p:txBody>
      </p:sp>
      <p:sp>
        <p:nvSpPr>
          <p:cNvPr id="382978" name="Text Box 2"/>
          <p:cNvSpPr txBox="1">
            <a:spLocks noChangeArrowheads="1"/>
          </p:cNvSpPr>
          <p:nvPr/>
        </p:nvSpPr>
        <p:spPr bwMode="auto">
          <a:xfrm>
            <a:off x="323850" y="1773238"/>
            <a:ext cx="8642350" cy="3081337"/>
          </a:xfrm>
          <a:prstGeom prst="rect">
            <a:avLst/>
          </a:prstGeom>
          <a:solidFill>
            <a:schemeClr val="bg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a:ea typeface="新宋体" panose="02010609030101010101" charset="-122"/>
              </a:rPr>
              <a:t>	如果将上述随机放置策略与回溯法相结合，可能会获得更好的效果。</a:t>
            </a:r>
            <a:endParaRPr lang="zh-CN" altLang="en-US" sz="2800">
              <a:ea typeface="新宋体" panose="02010609030101010101" charset="-122"/>
            </a:endParaRPr>
          </a:p>
          <a:p>
            <a:r>
              <a:rPr lang="zh-CN" altLang="en-US" sz="2800">
                <a:ea typeface="新宋体" panose="02010609030101010101" charset="-122"/>
              </a:rPr>
              <a:t>	可以先在棋盘的若干行中随机地放置皇后，然后在后继行中用回溯法继续放置，直至找到一个解或宣告失败。</a:t>
            </a:r>
            <a:endParaRPr lang="zh-CN" altLang="en-US" sz="2800">
              <a:ea typeface="新宋体" panose="02010609030101010101" charset="-122"/>
            </a:endParaRPr>
          </a:p>
          <a:p>
            <a:r>
              <a:rPr lang="zh-CN" altLang="en-US" sz="2800">
                <a:ea typeface="新宋体" panose="02010609030101010101" charset="-122"/>
              </a:rPr>
              <a:t>	随机放置的皇后越多，后继回溯搜索所需的时间就越少，但失败的概率也就越大。 </a:t>
            </a:r>
            <a:endParaRPr lang="zh-CN" altLang="en-US" sz="2800">
              <a:ea typeface="新宋体" panose="02010609030101010101" charset="-122"/>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EA65652A-568A-4C08-A1CC-30AD0065F0B5}" type="slidenum">
              <a:rPr lang="en-US" altLang="zh-CN"/>
            </a:fld>
            <a:endParaRPr lang="en-US" altLang="zh-CN"/>
          </a:p>
        </p:txBody>
      </p:sp>
      <p:grpSp>
        <p:nvGrpSpPr>
          <p:cNvPr id="384002" name="Group 2"/>
          <p:cNvGrpSpPr/>
          <p:nvPr/>
        </p:nvGrpSpPr>
        <p:grpSpPr bwMode="auto">
          <a:xfrm>
            <a:off x="1547813" y="549275"/>
            <a:ext cx="5761037" cy="6048375"/>
            <a:chOff x="401" y="1162"/>
            <a:chExt cx="2813" cy="3158"/>
          </a:xfrm>
        </p:grpSpPr>
        <p:pic>
          <p:nvPicPr>
            <p:cNvPr id="38400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1" y="1162"/>
              <a:ext cx="2767" cy="2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400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 y="3784"/>
              <a:ext cx="2813" cy="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84005" name="Line 5"/>
          <p:cNvSpPr>
            <a:spLocks noChangeShapeType="1"/>
          </p:cNvSpPr>
          <p:nvPr/>
        </p:nvSpPr>
        <p:spPr bwMode="auto">
          <a:xfrm>
            <a:off x="2987675" y="2781300"/>
            <a:ext cx="1438275" cy="1588"/>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84005"/>
                                        </p:tgtEl>
                                        <p:attrNameLst>
                                          <p:attrName>style.visibility</p:attrName>
                                        </p:attrNameLst>
                                      </p:cBhvr>
                                      <p:to>
                                        <p:strVal val="visible"/>
                                      </p:to>
                                    </p:set>
                                    <p:animEffect transition="in" filter="randombar(horizontal)">
                                      <p:cBhvr>
                                        <p:cTn id="7" dur="500"/>
                                        <p:tgtEl>
                                          <p:spTgt spid="384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820D1018-D106-4859-9ACD-DE33D4FB0638}" type="slidenum">
              <a:rPr lang="en-US" altLang="zh-CN"/>
            </a:fld>
            <a:endParaRPr lang="en-US" altLang="zh-CN"/>
          </a:p>
        </p:txBody>
      </p:sp>
      <p:pic>
        <p:nvPicPr>
          <p:cNvPr id="385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0113" y="908050"/>
            <a:ext cx="6480175" cy="4564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D377FE4E-4F9D-480D-9920-EFD46AAE5049}" type="slidenum">
              <a:rPr lang="en-US" altLang="zh-CN"/>
            </a:fld>
            <a:endParaRPr lang="en-US" altLang="zh-CN"/>
          </a:p>
        </p:txBody>
      </p:sp>
      <p:pic>
        <p:nvPicPr>
          <p:cNvPr id="386050"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971550" y="692150"/>
            <a:ext cx="6408738" cy="5380038"/>
          </a:xfrm>
          <a:noFill/>
        </p:spPr>
      </p:pic>
      <p:sp>
        <p:nvSpPr>
          <p:cNvPr id="386051" name="Line 3"/>
          <p:cNvSpPr>
            <a:spLocks noChangeShapeType="1"/>
          </p:cNvSpPr>
          <p:nvPr/>
        </p:nvSpPr>
        <p:spPr bwMode="auto">
          <a:xfrm>
            <a:off x="1331913" y="2420938"/>
            <a:ext cx="5688012" cy="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6052" name="AutoShape 4"/>
          <p:cNvSpPr>
            <a:spLocks noChangeArrowheads="1"/>
          </p:cNvSpPr>
          <p:nvPr/>
        </p:nvSpPr>
        <p:spPr bwMode="auto">
          <a:xfrm>
            <a:off x="7164388" y="2420938"/>
            <a:ext cx="1728787" cy="1152525"/>
          </a:xfrm>
          <a:prstGeom prst="wedgeEllipseCallout">
            <a:avLst>
              <a:gd name="adj1" fmla="val -77181"/>
              <a:gd name="adj2" fmla="val -53718"/>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t>完全使用回溯法</a:t>
            </a: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86051"/>
                                        </p:tgtEl>
                                        <p:attrNameLst>
                                          <p:attrName>style.visibility</p:attrName>
                                        </p:attrNameLst>
                                      </p:cBhvr>
                                      <p:to>
                                        <p:strVal val="visible"/>
                                      </p:to>
                                    </p:set>
                                    <p:animEffect transition="in" filter="checkerboard(across)">
                                      <p:cBhvr>
                                        <p:cTn id="7" dur="500"/>
                                        <p:tgtEl>
                                          <p:spTgt spid="38605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86052"/>
                                        </p:tgtEl>
                                        <p:attrNameLst>
                                          <p:attrName>style.visibility</p:attrName>
                                        </p:attrNameLst>
                                      </p:cBhvr>
                                      <p:to>
                                        <p:strVal val="visible"/>
                                      </p:to>
                                    </p:set>
                                    <p:animEffect transition="in" filter="box(in)">
                                      <p:cBhvr>
                                        <p:cTn id="12" dur="500"/>
                                        <p:tgtEl>
                                          <p:spTgt spid="386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1" grpId="0" animBg="1"/>
      <p:bldP spid="386052"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08E26E68-85AF-4DE5-B27F-3F1723924D0B}" type="slidenum">
              <a:rPr lang="en-US" altLang="zh-CN"/>
            </a:fld>
            <a:endParaRPr lang="en-US" altLang="zh-CN"/>
          </a:p>
        </p:txBody>
      </p:sp>
      <p:pic>
        <p:nvPicPr>
          <p:cNvPr id="387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2988" y="1700213"/>
            <a:ext cx="7127875" cy="306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fld id="{C3E9A095-0C28-4E9C-A601-698A887A79C3}" type="slidenum">
              <a:rPr lang="en-US" altLang="zh-CN"/>
            </a:fld>
            <a:endParaRPr lang="en-US" altLang="zh-CN"/>
          </a:p>
        </p:txBody>
      </p:sp>
      <p:sp>
        <p:nvSpPr>
          <p:cNvPr id="388098" name="Rectangle 2"/>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en-US" sz="3900" b="1">
                <a:solidFill>
                  <a:schemeClr val="tx2"/>
                </a:solidFill>
                <a:effectLst>
                  <a:outerShdw blurRad="38100" dist="38100" dir="2700000" algn="tl">
                    <a:srgbClr val="C0C0C0"/>
                  </a:outerShdw>
                </a:effectLst>
                <a:ea typeface="黑体" panose="02010609060101010101" pitchFamily="49" charset="-122"/>
              </a:rPr>
              <a:t>整数因子分解</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388099" name="Text Box 3"/>
          <p:cNvSpPr txBox="1">
            <a:spLocks noChangeArrowheads="1"/>
          </p:cNvSpPr>
          <p:nvPr/>
        </p:nvSpPr>
        <p:spPr bwMode="auto">
          <a:xfrm>
            <a:off x="179388" y="765175"/>
            <a:ext cx="8713787" cy="2282825"/>
          </a:xfrm>
          <a:prstGeom prst="rect">
            <a:avLst/>
          </a:prstGeom>
          <a:solidFill>
            <a:schemeClr val="bg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设</a:t>
            </a:r>
            <a:r>
              <a:rPr lang="en-US" altLang="zh-CN" sz="2400">
                <a:ea typeface="新宋体" panose="02010609030101010101" charset="-122"/>
              </a:rPr>
              <a:t>n&gt;1</a:t>
            </a:r>
            <a:r>
              <a:rPr lang="zh-CN" altLang="en-US" sz="2400">
                <a:ea typeface="新宋体" panose="02010609030101010101" charset="-122"/>
              </a:rPr>
              <a:t>是一个整数。关于整数</a:t>
            </a:r>
            <a:r>
              <a:rPr lang="en-US" altLang="zh-CN" sz="2400">
                <a:ea typeface="新宋体" panose="02010609030101010101" charset="-122"/>
              </a:rPr>
              <a:t>n</a:t>
            </a:r>
            <a:r>
              <a:rPr lang="zh-CN" altLang="en-US" sz="2400">
                <a:ea typeface="新宋体" panose="02010609030101010101" charset="-122"/>
              </a:rPr>
              <a:t>的因子分解问题是找出</a:t>
            </a:r>
            <a:r>
              <a:rPr lang="en-US" altLang="zh-CN" sz="2400">
                <a:ea typeface="新宋体" panose="02010609030101010101" charset="-122"/>
              </a:rPr>
              <a:t>n</a:t>
            </a:r>
            <a:r>
              <a:rPr lang="zh-CN" altLang="en-US" sz="2400">
                <a:ea typeface="新宋体" panose="02010609030101010101" charset="-122"/>
              </a:rPr>
              <a:t>的如下形式的唯一分解式：</a:t>
            </a:r>
            <a:endParaRPr lang="zh-CN" altLang="en-US" sz="2400">
              <a:ea typeface="新宋体" panose="02010609030101010101" charset="-122"/>
            </a:endParaRPr>
          </a:p>
          <a:p>
            <a:r>
              <a:rPr lang="zh-CN" altLang="en-US" sz="2400">
                <a:ea typeface="新宋体" panose="02010609030101010101" charset="-122"/>
              </a:rPr>
              <a:t>其中，</a:t>
            </a:r>
            <a:r>
              <a:rPr lang="en-US" altLang="zh-CN" sz="2400">
                <a:ea typeface="新宋体" panose="02010609030101010101" charset="-122"/>
              </a:rPr>
              <a:t>p</a:t>
            </a:r>
            <a:r>
              <a:rPr lang="en-US" altLang="zh-CN" sz="2400" baseline="-25000">
                <a:ea typeface="新宋体" panose="02010609030101010101" charset="-122"/>
              </a:rPr>
              <a:t>1</a:t>
            </a:r>
            <a:r>
              <a:rPr lang="en-US" altLang="zh-CN" sz="2400">
                <a:ea typeface="新宋体" panose="02010609030101010101" charset="-122"/>
              </a:rPr>
              <a:t>&lt;p</a:t>
            </a:r>
            <a:r>
              <a:rPr lang="en-US" altLang="zh-CN" sz="2400" baseline="-25000">
                <a:ea typeface="新宋体" panose="02010609030101010101" charset="-122"/>
              </a:rPr>
              <a:t>2</a:t>
            </a:r>
            <a:r>
              <a:rPr lang="en-US" altLang="zh-CN" sz="2400">
                <a:ea typeface="新宋体" panose="02010609030101010101" charset="-122"/>
              </a:rPr>
              <a:t>&lt;…&lt;p</a:t>
            </a:r>
            <a:r>
              <a:rPr lang="en-US" altLang="zh-CN" sz="2400" baseline="-25000">
                <a:ea typeface="新宋体" panose="02010609030101010101" charset="-122"/>
              </a:rPr>
              <a:t>k</a:t>
            </a:r>
            <a:r>
              <a:rPr lang="zh-CN" altLang="en-US" sz="2400">
                <a:ea typeface="新宋体" panose="02010609030101010101" charset="-122"/>
              </a:rPr>
              <a:t>是</a:t>
            </a:r>
            <a:r>
              <a:rPr lang="en-US" altLang="zh-CN" sz="2400">
                <a:ea typeface="新宋体" panose="02010609030101010101" charset="-122"/>
              </a:rPr>
              <a:t>k</a:t>
            </a:r>
            <a:r>
              <a:rPr lang="zh-CN" altLang="en-US" sz="2400">
                <a:ea typeface="新宋体" panose="02010609030101010101" charset="-122"/>
              </a:rPr>
              <a:t>个素数，</a:t>
            </a:r>
            <a:r>
              <a:rPr lang="en-US" altLang="zh-CN" sz="2400">
                <a:ea typeface="新宋体" panose="02010609030101010101" charset="-122"/>
              </a:rPr>
              <a:t>m</a:t>
            </a:r>
            <a:r>
              <a:rPr lang="en-US" altLang="zh-CN" sz="2400" baseline="-25000">
                <a:ea typeface="新宋体" panose="02010609030101010101" charset="-122"/>
              </a:rPr>
              <a:t>1</a:t>
            </a:r>
            <a:r>
              <a:rPr lang="en-US" altLang="zh-CN" sz="2400">
                <a:ea typeface="新宋体" panose="02010609030101010101" charset="-122"/>
              </a:rPr>
              <a:t>,m</a:t>
            </a:r>
            <a:r>
              <a:rPr lang="en-US" altLang="zh-CN" sz="2400" baseline="-25000">
                <a:ea typeface="新宋体" panose="02010609030101010101" charset="-122"/>
              </a:rPr>
              <a:t>2</a:t>
            </a:r>
            <a:r>
              <a:rPr lang="en-US" altLang="zh-CN" sz="2400">
                <a:ea typeface="新宋体" panose="02010609030101010101" charset="-122"/>
              </a:rPr>
              <a:t>,…,m</a:t>
            </a:r>
            <a:r>
              <a:rPr lang="en-US" altLang="zh-CN" sz="2400" baseline="-25000">
                <a:ea typeface="新宋体" panose="02010609030101010101" charset="-122"/>
              </a:rPr>
              <a:t>k</a:t>
            </a:r>
            <a:r>
              <a:rPr lang="zh-CN" altLang="en-US" sz="2400">
                <a:ea typeface="新宋体" panose="02010609030101010101" charset="-122"/>
              </a:rPr>
              <a:t>是</a:t>
            </a:r>
            <a:r>
              <a:rPr lang="en-US" altLang="zh-CN" sz="2400">
                <a:ea typeface="新宋体" panose="02010609030101010101" charset="-122"/>
              </a:rPr>
              <a:t>k</a:t>
            </a:r>
            <a:r>
              <a:rPr lang="zh-CN" altLang="en-US" sz="2400">
                <a:ea typeface="新宋体" panose="02010609030101010101" charset="-122"/>
              </a:rPr>
              <a:t>个正整数。</a:t>
            </a:r>
            <a:endParaRPr lang="zh-CN" altLang="en-US" sz="2400">
              <a:ea typeface="新宋体" panose="02010609030101010101" charset="-122"/>
            </a:endParaRPr>
          </a:p>
          <a:p>
            <a:r>
              <a:rPr lang="zh-CN" altLang="en-US" sz="2400">
                <a:ea typeface="新宋体" panose="02010609030101010101" charset="-122"/>
              </a:rPr>
              <a:t>如果</a:t>
            </a:r>
            <a:r>
              <a:rPr lang="en-US" altLang="zh-CN" sz="2400">
                <a:ea typeface="新宋体" panose="02010609030101010101" charset="-122"/>
              </a:rPr>
              <a:t>n</a:t>
            </a:r>
            <a:r>
              <a:rPr lang="zh-CN" altLang="en-US" sz="2400">
                <a:ea typeface="新宋体" panose="02010609030101010101" charset="-122"/>
              </a:rPr>
              <a:t>是一个合数，则</a:t>
            </a:r>
            <a:r>
              <a:rPr lang="en-US" altLang="zh-CN" sz="2400">
                <a:ea typeface="新宋体" panose="02010609030101010101" charset="-122"/>
              </a:rPr>
              <a:t>n</a:t>
            </a:r>
            <a:r>
              <a:rPr lang="zh-CN" altLang="en-US" sz="2400">
                <a:ea typeface="新宋体" panose="02010609030101010101" charset="-122"/>
              </a:rPr>
              <a:t>必有一个非平凡因子</a:t>
            </a:r>
            <a:r>
              <a:rPr lang="en-US" altLang="zh-CN" sz="2400">
                <a:ea typeface="新宋体" panose="02010609030101010101" charset="-122"/>
              </a:rPr>
              <a:t>x</a:t>
            </a:r>
            <a:r>
              <a:rPr lang="zh-CN" altLang="en-US" sz="2400">
                <a:ea typeface="新宋体" panose="02010609030101010101" charset="-122"/>
              </a:rPr>
              <a:t>，</a:t>
            </a:r>
            <a:r>
              <a:rPr lang="en-US" altLang="zh-CN" sz="2400">
                <a:ea typeface="新宋体" panose="02010609030101010101" charset="-122"/>
              </a:rPr>
              <a:t>1&lt;x&lt;n</a:t>
            </a:r>
            <a:r>
              <a:rPr lang="zh-CN" altLang="en-US" sz="2400">
                <a:ea typeface="新宋体" panose="02010609030101010101" charset="-122"/>
              </a:rPr>
              <a:t>，使得</a:t>
            </a:r>
            <a:r>
              <a:rPr lang="en-US" altLang="zh-CN" sz="2400">
                <a:ea typeface="新宋体" panose="02010609030101010101" charset="-122"/>
              </a:rPr>
              <a:t>x</a:t>
            </a:r>
            <a:r>
              <a:rPr lang="zh-CN" altLang="en-US" sz="2400">
                <a:ea typeface="新宋体" panose="02010609030101010101" charset="-122"/>
              </a:rPr>
              <a:t>可以整除</a:t>
            </a:r>
            <a:r>
              <a:rPr lang="en-US" altLang="zh-CN" sz="2400">
                <a:ea typeface="新宋体" panose="02010609030101010101" charset="-122"/>
              </a:rPr>
              <a:t>n</a:t>
            </a:r>
            <a:r>
              <a:rPr lang="zh-CN" altLang="en-US" sz="2400">
                <a:ea typeface="新宋体" panose="02010609030101010101" charset="-122"/>
              </a:rPr>
              <a:t>。</a:t>
            </a:r>
            <a:r>
              <a:rPr lang="zh-CN" altLang="en-US" sz="2400" b="1">
                <a:latin typeface="黑体" panose="02010609060101010101" pitchFamily="49" charset="-122"/>
                <a:ea typeface="黑体" panose="02010609060101010101" pitchFamily="49" charset="-122"/>
              </a:rPr>
              <a:t>给定一个合数</a:t>
            </a:r>
            <a:r>
              <a:rPr lang="en-US" altLang="zh-CN" sz="2400" b="1">
                <a:latin typeface="黑体" panose="02010609060101010101" pitchFamily="49" charset="-122"/>
                <a:ea typeface="黑体" panose="02010609060101010101" pitchFamily="49" charset="-122"/>
              </a:rPr>
              <a:t>n</a:t>
            </a:r>
            <a:r>
              <a:rPr lang="zh-CN" altLang="en-US" sz="2400" b="1">
                <a:latin typeface="黑体" panose="02010609060101010101" pitchFamily="49" charset="-122"/>
                <a:ea typeface="黑体" panose="02010609060101010101" pitchFamily="49" charset="-122"/>
              </a:rPr>
              <a:t>，求</a:t>
            </a:r>
            <a:r>
              <a:rPr lang="en-US" altLang="zh-CN" sz="2400" b="1">
                <a:latin typeface="黑体" panose="02010609060101010101" pitchFamily="49" charset="-122"/>
                <a:ea typeface="黑体" panose="02010609060101010101" pitchFamily="49" charset="-122"/>
              </a:rPr>
              <a:t>n</a:t>
            </a:r>
            <a:r>
              <a:rPr lang="zh-CN" altLang="en-US" sz="2400" b="1">
                <a:latin typeface="黑体" panose="02010609060101010101" pitchFamily="49" charset="-122"/>
                <a:ea typeface="黑体" panose="02010609060101010101" pitchFamily="49" charset="-122"/>
              </a:rPr>
              <a:t>的一个非平凡因子的问题称为整数</a:t>
            </a:r>
            <a:r>
              <a:rPr lang="en-US" altLang="zh-CN" sz="2400" b="1">
                <a:latin typeface="黑体" panose="02010609060101010101" pitchFamily="49" charset="-122"/>
                <a:ea typeface="黑体" panose="02010609060101010101" pitchFamily="49" charset="-122"/>
              </a:rPr>
              <a:t>n</a:t>
            </a:r>
            <a:r>
              <a:rPr lang="zh-CN" altLang="en-US" sz="2400" b="1">
                <a:latin typeface="黑体" panose="02010609060101010101" pitchFamily="49" charset="-122"/>
                <a:ea typeface="黑体" panose="02010609060101010101" pitchFamily="49" charset="-122"/>
              </a:rPr>
              <a:t>的因子分割问题。</a:t>
            </a:r>
            <a:endParaRPr lang="zh-CN" altLang="en-US" sz="2400" b="1">
              <a:latin typeface="黑体" panose="02010609060101010101" pitchFamily="49" charset="-122"/>
              <a:ea typeface="黑体" panose="02010609060101010101" pitchFamily="49" charset="-122"/>
            </a:endParaRPr>
          </a:p>
        </p:txBody>
      </p:sp>
      <p:graphicFrame>
        <p:nvGraphicFramePr>
          <p:cNvPr id="388100" name="Object 4"/>
          <p:cNvGraphicFramePr>
            <a:graphicFrameLocks noChangeAspect="1"/>
          </p:cNvGraphicFramePr>
          <p:nvPr/>
        </p:nvGraphicFramePr>
        <p:xfrm>
          <a:off x="2555875" y="1125538"/>
          <a:ext cx="2232025" cy="469900"/>
        </p:xfrm>
        <a:graphic>
          <a:graphicData uri="http://schemas.openxmlformats.org/presentationml/2006/ole">
            <mc:AlternateContent xmlns:mc="http://schemas.openxmlformats.org/markup-compatibility/2006">
              <mc:Choice xmlns:v="urn:schemas-microsoft-com:vml" Requires="v">
                <p:oleObj spid="_x0000_s388105" name="公式" r:id="rId1" imgW="1129665" imgH="241300" progId="Equation.3">
                  <p:embed/>
                </p:oleObj>
              </mc:Choice>
              <mc:Fallback>
                <p:oleObj name="公式" r:id="rId1" imgW="1129665" imgH="2413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75" y="1125538"/>
                        <a:ext cx="2232025"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8101" name="Text Box 5"/>
          <p:cNvSpPr txBox="1">
            <a:spLocks noChangeArrowheads="1"/>
          </p:cNvSpPr>
          <p:nvPr/>
        </p:nvSpPr>
        <p:spPr bwMode="auto">
          <a:xfrm>
            <a:off x="231775" y="2957513"/>
            <a:ext cx="4241800" cy="315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pPr>
              <a:lnSpc>
                <a:spcPct val="120000"/>
              </a:lnSpc>
            </a:pPr>
            <a:r>
              <a:rPr lang="en-US" altLang="zh-CN" sz="2400"/>
              <a:t>int </a:t>
            </a:r>
            <a:r>
              <a:rPr lang="en-US" altLang="zh-CN" sz="2400" b="1"/>
              <a:t>Split</a:t>
            </a:r>
            <a:r>
              <a:rPr lang="en-US" altLang="zh-CN" sz="2400"/>
              <a:t>(int n)</a:t>
            </a:r>
            <a:endParaRPr lang="en-US" altLang="zh-CN" sz="2400"/>
          </a:p>
          <a:p>
            <a:pPr>
              <a:lnSpc>
                <a:spcPct val="120000"/>
              </a:lnSpc>
            </a:pPr>
            <a:r>
              <a:rPr lang="en-US" altLang="zh-CN" sz="2400"/>
              <a:t>{</a:t>
            </a:r>
            <a:endParaRPr lang="en-US" altLang="zh-CN" sz="2400"/>
          </a:p>
          <a:p>
            <a:pPr>
              <a:lnSpc>
                <a:spcPct val="120000"/>
              </a:lnSpc>
            </a:pPr>
            <a:r>
              <a:rPr lang="en-US" altLang="zh-CN" sz="2400"/>
              <a:t>  int m = floor(sqrt(double(n)));</a:t>
            </a:r>
            <a:endParaRPr lang="en-US" altLang="zh-CN" sz="2400"/>
          </a:p>
          <a:p>
            <a:pPr>
              <a:lnSpc>
                <a:spcPct val="120000"/>
              </a:lnSpc>
            </a:pPr>
            <a:r>
              <a:rPr lang="en-US" altLang="zh-CN" sz="2400"/>
              <a:t>  for (int i=2; i&lt;=m; i++)</a:t>
            </a:r>
            <a:endParaRPr lang="en-US" altLang="zh-CN" sz="2400"/>
          </a:p>
          <a:p>
            <a:pPr>
              <a:lnSpc>
                <a:spcPct val="120000"/>
              </a:lnSpc>
            </a:pPr>
            <a:r>
              <a:rPr lang="en-US" altLang="zh-CN" sz="2400"/>
              <a:t>    if (n%i==0) return i;</a:t>
            </a:r>
            <a:endParaRPr lang="en-US" altLang="zh-CN" sz="2400"/>
          </a:p>
          <a:p>
            <a:pPr>
              <a:lnSpc>
                <a:spcPct val="120000"/>
              </a:lnSpc>
            </a:pPr>
            <a:r>
              <a:rPr lang="en-US" altLang="zh-CN" sz="2400"/>
              <a:t>  return 1;</a:t>
            </a:r>
            <a:endParaRPr lang="en-US" altLang="zh-CN" sz="2400"/>
          </a:p>
          <a:p>
            <a:pPr>
              <a:lnSpc>
                <a:spcPct val="120000"/>
              </a:lnSpc>
            </a:pPr>
            <a:r>
              <a:rPr lang="en-US" altLang="zh-CN" sz="2400"/>
              <a:t>}</a:t>
            </a:r>
            <a:endParaRPr lang="en-US" altLang="zh-CN" sz="2400"/>
          </a:p>
        </p:txBody>
      </p:sp>
      <p:sp>
        <p:nvSpPr>
          <p:cNvPr id="388102" name="Text Box 6"/>
          <p:cNvSpPr txBox="1">
            <a:spLocks noChangeArrowheads="1"/>
          </p:cNvSpPr>
          <p:nvPr/>
        </p:nvSpPr>
        <p:spPr bwMode="auto">
          <a:xfrm>
            <a:off x="539750" y="5734050"/>
            <a:ext cx="8424863" cy="873125"/>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事实上，算法</a:t>
            </a:r>
            <a:r>
              <a:rPr lang="en-US" altLang="zh-CN" sz="2400" b="1">
                <a:ea typeface="新宋体" panose="02010609030101010101" charset="-122"/>
              </a:rPr>
              <a:t>split(n)</a:t>
            </a:r>
            <a:r>
              <a:rPr lang="zh-CN" altLang="en-US" sz="2400">
                <a:ea typeface="新宋体" panose="02010609030101010101" charset="-122"/>
              </a:rPr>
              <a:t>是对范围在</a:t>
            </a:r>
            <a:r>
              <a:rPr lang="en-US" altLang="zh-CN" sz="2400">
                <a:ea typeface="新宋体" panose="02010609030101010101" charset="-122"/>
              </a:rPr>
              <a:t>1</a:t>
            </a:r>
            <a:r>
              <a:rPr lang="zh-CN" altLang="en-US" sz="2400">
                <a:ea typeface="新宋体" panose="02010609030101010101" charset="-122"/>
              </a:rPr>
              <a:t>～</a:t>
            </a:r>
            <a:r>
              <a:rPr lang="en-US" altLang="zh-CN" sz="2400">
                <a:ea typeface="新宋体" panose="02010609030101010101" charset="-122"/>
              </a:rPr>
              <a:t>x</a:t>
            </a:r>
            <a:r>
              <a:rPr lang="zh-CN" altLang="en-US" sz="2400">
                <a:ea typeface="新宋体" panose="02010609030101010101" charset="-122"/>
              </a:rPr>
              <a:t>的所有整数进行了试除而得到范围在</a:t>
            </a:r>
            <a:r>
              <a:rPr lang="en-US" altLang="zh-CN" sz="2400">
                <a:ea typeface="新宋体" panose="02010609030101010101" charset="-122"/>
              </a:rPr>
              <a:t>1</a:t>
            </a:r>
            <a:r>
              <a:rPr lang="zh-CN" altLang="en-US" sz="2400">
                <a:ea typeface="新宋体" panose="02010609030101010101" charset="-122"/>
              </a:rPr>
              <a:t>～</a:t>
            </a:r>
            <a:r>
              <a:rPr lang="en-US" altLang="zh-CN" sz="2400">
                <a:ea typeface="新宋体" panose="02010609030101010101" charset="-122"/>
              </a:rPr>
              <a:t>x</a:t>
            </a:r>
            <a:r>
              <a:rPr lang="en-US" altLang="zh-CN" sz="2400" baseline="30000">
                <a:ea typeface="新宋体" panose="02010609030101010101" charset="-122"/>
              </a:rPr>
              <a:t>2</a:t>
            </a:r>
            <a:r>
              <a:rPr lang="zh-CN" altLang="en-US" sz="2400">
                <a:ea typeface="新宋体" panose="02010609030101010101" charset="-122"/>
              </a:rPr>
              <a:t>的任一整数的因子分割。 </a:t>
            </a:r>
            <a:endParaRPr lang="zh-CN" altLang="en-US" sz="2400">
              <a:ea typeface="新宋体" panose="02010609030101010101" charset="-122"/>
            </a:endParaRPr>
          </a:p>
        </p:txBody>
      </p:sp>
      <p:sp>
        <p:nvSpPr>
          <p:cNvPr id="388103" name="Text Box 7"/>
          <p:cNvSpPr txBox="1">
            <a:spLocks noChangeArrowheads="1"/>
          </p:cNvSpPr>
          <p:nvPr/>
        </p:nvSpPr>
        <p:spPr bwMode="auto">
          <a:xfrm>
            <a:off x="3563938" y="2916238"/>
            <a:ext cx="5256212" cy="873125"/>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算法</a:t>
            </a:r>
            <a:r>
              <a:rPr lang="en-US" altLang="zh-CN" sz="2400" b="1">
                <a:ea typeface="新宋体" panose="02010609030101010101" charset="-122"/>
              </a:rPr>
              <a:t>split(n)</a:t>
            </a:r>
            <a:r>
              <a:rPr lang="zh-CN" altLang="en-US" sz="2400">
                <a:ea typeface="新宋体" panose="02010609030101010101" charset="-122"/>
              </a:rPr>
              <a:t>是关于</a:t>
            </a:r>
            <a:r>
              <a:rPr lang="en-US" altLang="zh-CN" sz="2400">
                <a:ea typeface="新宋体" panose="02010609030101010101" charset="-122"/>
              </a:rPr>
              <a:t>m</a:t>
            </a:r>
            <a:r>
              <a:rPr lang="zh-CN" altLang="en-US" sz="2400">
                <a:ea typeface="新宋体" panose="02010609030101010101" charset="-122"/>
              </a:rPr>
              <a:t>的指数时间算法。</a:t>
            </a:r>
            <a:endParaRPr lang="zh-CN" altLang="en-US" sz="2400">
              <a:ea typeface="新宋体" panose="02010609030101010101" charset="-122"/>
            </a:endParaRPr>
          </a:p>
          <a:p>
            <a:r>
              <a:rPr lang="en-US" altLang="zh-CN" sz="2400">
                <a:ea typeface="新宋体" panose="02010609030101010101" charset="-122"/>
              </a:rPr>
              <a:t>m</a:t>
            </a:r>
            <a:r>
              <a:rPr lang="zh-CN" altLang="en-US" sz="2400">
                <a:ea typeface="新宋体" panose="02010609030101010101" charset="-122"/>
              </a:rPr>
              <a:t>为</a:t>
            </a:r>
            <a:r>
              <a:rPr lang="en-US" altLang="zh-CN" sz="2400">
                <a:ea typeface="新宋体" panose="02010609030101010101" charset="-122"/>
              </a:rPr>
              <a:t>n</a:t>
            </a:r>
            <a:r>
              <a:rPr lang="zh-CN" altLang="en-US" sz="2400">
                <a:ea typeface="新宋体" panose="02010609030101010101" charset="-122"/>
              </a:rPr>
              <a:t>的位数，</a:t>
            </a:r>
            <a:r>
              <a:rPr lang="en-US" altLang="zh-CN" sz="2400">
                <a:ea typeface="新宋体" panose="02010609030101010101" charset="-122"/>
              </a:rPr>
              <a:t>m= </a:t>
            </a:r>
            <a:r>
              <a:rPr lang="en-US" altLang="zh-CN" b="1">
                <a:sym typeface="Symbol" panose="05050102010706020507" pitchFamily="18" charset="2"/>
              </a:rPr>
              <a:t>log</a:t>
            </a:r>
            <a:r>
              <a:rPr lang="en-US" altLang="zh-CN" b="1" baseline="-25000">
                <a:sym typeface="Symbol" panose="05050102010706020507" pitchFamily="18" charset="2"/>
              </a:rPr>
              <a:t>10</a:t>
            </a:r>
            <a:r>
              <a:rPr lang="en-US" altLang="zh-CN" b="1">
                <a:sym typeface="Symbol" panose="05050102010706020507" pitchFamily="18" charset="2"/>
              </a:rPr>
              <a:t>(1+n)</a:t>
            </a:r>
            <a:endParaRPr lang="en-US" altLang="zh-CN" b="1">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88101"/>
                                        </p:tgtEl>
                                        <p:attrNameLst>
                                          <p:attrName>style.visibility</p:attrName>
                                        </p:attrNameLst>
                                      </p:cBhvr>
                                      <p:to>
                                        <p:strVal val="visible"/>
                                      </p:to>
                                    </p:set>
                                    <p:animEffect transition="in" filter="box(in)">
                                      <p:cBhvr>
                                        <p:cTn id="7" dur="500"/>
                                        <p:tgtEl>
                                          <p:spTgt spid="38810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88102"/>
                                        </p:tgtEl>
                                        <p:attrNameLst>
                                          <p:attrName>style.visibility</p:attrName>
                                        </p:attrNameLst>
                                      </p:cBhvr>
                                      <p:to>
                                        <p:strVal val="visible"/>
                                      </p:to>
                                    </p:set>
                                    <p:animEffect transition="in" filter="box(in)">
                                      <p:cBhvr>
                                        <p:cTn id="12" dur="500"/>
                                        <p:tgtEl>
                                          <p:spTgt spid="38810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88103"/>
                                        </p:tgtEl>
                                        <p:attrNameLst>
                                          <p:attrName>style.visibility</p:attrName>
                                        </p:attrNameLst>
                                      </p:cBhvr>
                                      <p:to>
                                        <p:strVal val="visible"/>
                                      </p:to>
                                    </p:set>
                                    <p:animEffect transition="in" filter="box(in)">
                                      <p:cBhvr>
                                        <p:cTn id="17" dur="500"/>
                                        <p:tgtEl>
                                          <p:spTgt spid="388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101" grpId="0"/>
      <p:bldP spid="388102" grpId="0" animBg="1"/>
      <p:bldP spid="388103"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219CEF55-A22D-4597-8934-C5F3BCE2517C}" type="slidenum">
              <a:rPr lang="en-US" altLang="zh-CN"/>
            </a:fld>
            <a:endParaRPr lang="en-US" altLang="zh-CN"/>
          </a:p>
        </p:txBody>
      </p:sp>
      <p:sp>
        <p:nvSpPr>
          <p:cNvPr id="389122" name="Rectangle 2"/>
          <p:cNvSpPr>
            <a:spLocks noGrp="1" noChangeArrowheads="1"/>
          </p:cNvSpPr>
          <p:nvPr>
            <p:ph type="title"/>
          </p:nvPr>
        </p:nvSpPr>
        <p:spPr/>
        <p:txBody>
          <a:bodyPr/>
          <a:lstStyle/>
          <a:p>
            <a:r>
              <a:rPr lang="en-US" altLang="zh-CN"/>
              <a:t>Pollard </a:t>
            </a:r>
            <a:r>
              <a:rPr lang="en-US" altLang="zh-CN">
                <a:latin typeface="Corbel" panose="020B0503020204020204" pitchFamily="34" charset="0"/>
              </a:rPr>
              <a:t>ρ</a:t>
            </a:r>
            <a:r>
              <a:rPr lang="zh-CN" altLang="en-US"/>
              <a:t>方法</a:t>
            </a:r>
            <a:endParaRPr lang="zh-CN" altLang="en-US"/>
          </a:p>
        </p:txBody>
      </p:sp>
      <p:sp>
        <p:nvSpPr>
          <p:cNvPr id="389123" name="Rectangle 3"/>
          <p:cNvSpPr>
            <a:spLocks noGrp="1" noChangeArrowheads="1"/>
          </p:cNvSpPr>
          <p:nvPr>
            <p:ph type="body" idx="1"/>
          </p:nvPr>
        </p:nvSpPr>
        <p:spPr/>
        <p:txBody>
          <a:bodyPr/>
          <a:lstStyle/>
          <a:p>
            <a:r>
              <a:rPr lang="zh-CN" altLang="en-US"/>
              <a:t>随机选取大约      个整数（</a:t>
            </a:r>
            <a:r>
              <a:rPr lang="en-US" altLang="zh-CN"/>
              <a:t>c </a:t>
            </a:r>
            <a:r>
              <a:rPr lang="zh-CN" altLang="en-US"/>
              <a:t>为一个常数），就有很大概率在这些整数中找到两个是        同余的。实践中可以采用同余递推序列 </a:t>
            </a:r>
            <a:endParaRPr lang="zh-CN" altLang="en-US"/>
          </a:p>
          <a:p>
            <a:endParaRPr lang="zh-CN" altLang="en-US"/>
          </a:p>
          <a:p>
            <a:pPr>
              <a:buFont typeface="Wingdings" panose="05000000000000000000" pitchFamily="2" charset="2"/>
              <a:buNone/>
            </a:pPr>
            <a:r>
              <a:rPr lang="zh-CN" altLang="en-US"/>
              <a:t>来产生伪随机数。</a:t>
            </a:r>
            <a:endParaRPr lang="zh-CN" altLang="en-US"/>
          </a:p>
          <a:p>
            <a:r>
              <a:rPr lang="zh-CN" altLang="en-US"/>
              <a:t>设</a:t>
            </a:r>
            <a:r>
              <a:rPr lang="en-US" altLang="zh-CN"/>
              <a:t>p</a:t>
            </a:r>
            <a:r>
              <a:rPr lang="zh-CN" altLang="en-US"/>
              <a:t>是</a:t>
            </a:r>
            <a:r>
              <a:rPr lang="en-US" altLang="zh-CN" i="1"/>
              <a:t>N</a:t>
            </a:r>
            <a:r>
              <a:rPr lang="zh-CN" altLang="en-US"/>
              <a:t>的一个因子，且找到                      ，则计算                   便可能得到</a:t>
            </a:r>
            <a:r>
              <a:rPr lang="en-US" altLang="zh-CN" i="1"/>
              <a:t>N</a:t>
            </a:r>
            <a:r>
              <a:rPr lang="zh-CN" altLang="en-US"/>
              <a:t>的一个非平凡因子。 </a:t>
            </a:r>
            <a:endParaRPr lang="zh-CN" altLang="en-US"/>
          </a:p>
        </p:txBody>
      </p:sp>
      <p:graphicFrame>
        <p:nvGraphicFramePr>
          <p:cNvPr id="389124" name="Object 4"/>
          <p:cNvGraphicFramePr>
            <a:graphicFrameLocks noChangeAspect="1"/>
          </p:cNvGraphicFramePr>
          <p:nvPr/>
        </p:nvGraphicFramePr>
        <p:xfrm>
          <a:off x="3170238" y="1693863"/>
          <a:ext cx="723900" cy="549275"/>
        </p:xfrm>
        <a:graphic>
          <a:graphicData uri="http://schemas.openxmlformats.org/presentationml/2006/ole">
            <mc:AlternateContent xmlns:mc="http://schemas.openxmlformats.org/markup-compatibility/2006">
              <mc:Choice xmlns:v="urn:schemas-microsoft-com:vml" Requires="v">
                <p:oleObj spid="_x0000_s389134" name="公式" r:id="rId1" imgW="330200" imgH="254000" progId="Equation.3">
                  <p:embed/>
                </p:oleObj>
              </mc:Choice>
              <mc:Fallback>
                <p:oleObj name="公式" r:id="rId1" imgW="330200" imgH="2540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0238" y="1693863"/>
                        <a:ext cx="723900" cy="549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125" name="Object 5"/>
          <p:cNvGraphicFramePr>
            <a:graphicFrameLocks noChangeAspect="1"/>
          </p:cNvGraphicFramePr>
          <p:nvPr/>
        </p:nvGraphicFramePr>
        <p:xfrm>
          <a:off x="7451725" y="2276475"/>
          <a:ext cx="936625" cy="423863"/>
        </p:xfrm>
        <a:graphic>
          <a:graphicData uri="http://schemas.openxmlformats.org/presentationml/2006/ole">
            <mc:AlternateContent xmlns:mc="http://schemas.openxmlformats.org/markup-compatibility/2006">
              <mc:Choice xmlns:v="urn:schemas-microsoft-com:vml" Requires="v">
                <p:oleObj spid="_x0000_s389135" name="公式" r:id="rId3" imgW="444500" imgH="203200" progId="Equation.3">
                  <p:embed/>
                </p:oleObj>
              </mc:Choice>
              <mc:Fallback>
                <p:oleObj name="公式" r:id="rId3" imgW="444500" imgH="203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1725" y="2276475"/>
                        <a:ext cx="936625"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126" name="Object 6"/>
          <p:cNvGraphicFramePr>
            <a:graphicFrameLocks noChangeAspect="1"/>
          </p:cNvGraphicFramePr>
          <p:nvPr/>
        </p:nvGraphicFramePr>
        <p:xfrm>
          <a:off x="2124075" y="3213100"/>
          <a:ext cx="3600450" cy="557213"/>
        </p:xfrm>
        <a:graphic>
          <a:graphicData uri="http://schemas.openxmlformats.org/presentationml/2006/ole">
            <mc:AlternateContent xmlns:mc="http://schemas.openxmlformats.org/markup-compatibility/2006">
              <mc:Choice xmlns:v="urn:schemas-microsoft-com:vml" Requires="v">
                <p:oleObj spid="_x0000_s389136" name="公式" r:id="rId5" imgW="1460500" imgH="228600" progId="Equation.3">
                  <p:embed/>
                </p:oleObj>
              </mc:Choice>
              <mc:Fallback>
                <p:oleObj name="公式" r:id="rId5" imgW="1460500" imgH="2286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4075" y="3213100"/>
                        <a:ext cx="3600450" cy="557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127" name="Object 7"/>
          <p:cNvGraphicFramePr>
            <a:graphicFrameLocks noChangeAspect="1"/>
          </p:cNvGraphicFramePr>
          <p:nvPr/>
        </p:nvGraphicFramePr>
        <p:xfrm>
          <a:off x="5568950" y="4281488"/>
          <a:ext cx="2316163" cy="587375"/>
        </p:xfrm>
        <a:graphic>
          <a:graphicData uri="http://schemas.openxmlformats.org/presentationml/2006/ole">
            <mc:AlternateContent xmlns:mc="http://schemas.openxmlformats.org/markup-compatibility/2006">
              <mc:Choice xmlns:v="urn:schemas-microsoft-com:vml" Requires="v">
                <p:oleObj spid="_x0000_s389137" name="公式" r:id="rId7" imgW="939165" imgH="241300" progId="Equation.3">
                  <p:embed/>
                </p:oleObj>
              </mc:Choice>
              <mc:Fallback>
                <p:oleObj name="公式" r:id="rId7" imgW="939165" imgH="2413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68950" y="4281488"/>
                        <a:ext cx="2316163" cy="587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128" name="Object 8"/>
          <p:cNvGraphicFramePr>
            <a:graphicFrameLocks noChangeAspect="1"/>
          </p:cNvGraphicFramePr>
          <p:nvPr/>
        </p:nvGraphicFramePr>
        <p:xfrm>
          <a:off x="2195513" y="4797425"/>
          <a:ext cx="1722437" cy="587375"/>
        </p:xfrm>
        <a:graphic>
          <a:graphicData uri="http://schemas.openxmlformats.org/presentationml/2006/ole">
            <mc:AlternateContent xmlns:mc="http://schemas.openxmlformats.org/markup-compatibility/2006">
              <mc:Choice xmlns:v="urn:schemas-microsoft-com:vml" Requires="v">
                <p:oleObj spid="_x0000_s389138" name="公式" r:id="rId9" imgW="698500" imgH="241300" progId="Equation.3">
                  <p:embed/>
                </p:oleObj>
              </mc:Choice>
              <mc:Fallback>
                <p:oleObj name="公式" r:id="rId9" imgW="698500" imgH="2413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95513" y="4797425"/>
                        <a:ext cx="1722437" cy="587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CB703D39-2B5A-4DE1-AC22-ECFD2B03F51F}" type="slidenum">
              <a:rPr lang="en-US" altLang="zh-CN"/>
            </a:fld>
            <a:endParaRPr lang="en-US" altLang="zh-CN"/>
          </a:p>
        </p:txBody>
      </p:sp>
      <p:sp>
        <p:nvSpPr>
          <p:cNvPr id="390146" name="Rectangle 2"/>
          <p:cNvSpPr>
            <a:spLocks noGrp="1" noChangeArrowheads="1"/>
          </p:cNvSpPr>
          <p:nvPr>
            <p:ph type="title"/>
          </p:nvPr>
        </p:nvSpPr>
        <p:spPr/>
        <p:txBody>
          <a:bodyPr/>
          <a:lstStyle/>
          <a:p>
            <a:r>
              <a:rPr lang="en-US" altLang="zh-CN"/>
              <a:t>Pollard </a:t>
            </a:r>
            <a:r>
              <a:rPr lang="en-US" altLang="zh-CN">
                <a:latin typeface="Corbel" panose="020B0503020204020204" pitchFamily="34" charset="0"/>
              </a:rPr>
              <a:t>ρ</a:t>
            </a:r>
            <a:r>
              <a:rPr lang="zh-CN" altLang="en-US"/>
              <a:t>方法</a:t>
            </a:r>
            <a:endParaRPr lang="zh-CN" altLang="en-US"/>
          </a:p>
        </p:txBody>
      </p:sp>
      <p:sp>
        <p:nvSpPr>
          <p:cNvPr id="390147" name="Rectangle 3"/>
          <p:cNvSpPr>
            <a:spLocks noGrp="1" noChangeArrowheads="1"/>
          </p:cNvSpPr>
          <p:nvPr>
            <p:ph type="body" idx="1"/>
          </p:nvPr>
        </p:nvSpPr>
        <p:spPr>
          <a:xfrm>
            <a:off x="4572000" y="1719263"/>
            <a:ext cx="4248150" cy="4411662"/>
          </a:xfrm>
        </p:spPr>
        <p:txBody>
          <a:bodyPr/>
          <a:lstStyle/>
          <a:p>
            <a:r>
              <a:rPr lang="zh-CN" altLang="en-US"/>
              <a:t>如上定义的一阶的递推序列       在        意义下必定是最终循环的</a:t>
            </a:r>
            <a:r>
              <a:rPr lang="en-US" altLang="zh-CN"/>
              <a:t>(</a:t>
            </a:r>
            <a:r>
              <a:rPr lang="zh-CN" altLang="en-US"/>
              <a:t>如图，看上去就像希腊字母</a:t>
            </a:r>
            <a:r>
              <a:rPr lang="en-US" altLang="zh-CN">
                <a:latin typeface="Corbel" panose="020B0503020204020204" pitchFamily="34" charset="0"/>
              </a:rPr>
              <a:t>ρ</a:t>
            </a:r>
            <a:r>
              <a:rPr lang="en-US" altLang="zh-CN"/>
              <a:t> </a:t>
            </a:r>
            <a:r>
              <a:rPr lang="zh-CN" altLang="en-US"/>
              <a:t>）。</a:t>
            </a:r>
            <a:endParaRPr lang="zh-CN" altLang="en-US"/>
          </a:p>
          <a:p>
            <a:r>
              <a:rPr lang="zh-CN" altLang="en-US"/>
              <a:t>具体的证明方法请参考算法导论</a:t>
            </a:r>
            <a:r>
              <a:rPr lang="en-US" altLang="zh-CN" sz="1800"/>
              <a:t>http://www.csh.rit.edu/~pat/math/quickies/rho/</a:t>
            </a:r>
            <a:endParaRPr lang="en-US" altLang="zh-CN" sz="1800"/>
          </a:p>
        </p:txBody>
      </p:sp>
      <p:pic>
        <p:nvPicPr>
          <p:cNvPr id="39014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750" y="1628775"/>
            <a:ext cx="3881438" cy="424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90149" name="Object 5"/>
          <p:cNvGraphicFramePr>
            <a:graphicFrameLocks noChangeAspect="1"/>
          </p:cNvGraphicFramePr>
          <p:nvPr/>
        </p:nvGraphicFramePr>
        <p:xfrm>
          <a:off x="7235825" y="2276475"/>
          <a:ext cx="936625" cy="423863"/>
        </p:xfrm>
        <a:graphic>
          <a:graphicData uri="http://schemas.openxmlformats.org/presentationml/2006/ole">
            <mc:AlternateContent xmlns:mc="http://schemas.openxmlformats.org/markup-compatibility/2006">
              <mc:Choice xmlns:v="urn:schemas-microsoft-com:vml" Requires="v">
                <p:oleObj spid="_x0000_s390153" name="公式" r:id="rId2" imgW="444500" imgH="203200" progId="Equation.3">
                  <p:embed/>
                </p:oleObj>
              </mc:Choice>
              <mc:Fallback>
                <p:oleObj name="公式" r:id="rId2" imgW="444500" imgH="2032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5825" y="2276475"/>
                        <a:ext cx="936625"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0150" name="Object 6"/>
          <p:cNvGraphicFramePr>
            <a:graphicFrameLocks noChangeAspect="1"/>
          </p:cNvGraphicFramePr>
          <p:nvPr/>
        </p:nvGraphicFramePr>
        <p:xfrm>
          <a:off x="6227763" y="2276475"/>
          <a:ext cx="534987" cy="476250"/>
        </p:xfrm>
        <a:graphic>
          <a:graphicData uri="http://schemas.openxmlformats.org/presentationml/2006/ole">
            <mc:AlternateContent xmlns:mc="http://schemas.openxmlformats.org/markup-compatibility/2006">
              <mc:Choice xmlns:v="urn:schemas-microsoft-com:vml" Requires="v">
                <p:oleObj spid="_x0000_s390154" name="公式" r:id="rId4" imgW="254000" imgH="228600" progId="Equation.3">
                  <p:embed/>
                </p:oleObj>
              </mc:Choice>
              <mc:Fallback>
                <p:oleObj name="公式" r:id="rId4" imgW="254000" imgH="2286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7763" y="2276475"/>
                        <a:ext cx="534987"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3"/>
          <p:cNvSpPr>
            <a:spLocks noGrp="1"/>
          </p:cNvSpPr>
          <p:nvPr>
            <p:ph type="sldNum" sz="quarter" idx="12"/>
          </p:nvPr>
        </p:nvSpPr>
        <p:spPr/>
        <p:txBody>
          <a:bodyPr/>
          <a:lstStyle/>
          <a:p>
            <a:fld id="{A9FA8F4B-A2E3-4148-BBEB-147858517551}" type="slidenum">
              <a:rPr lang="en-US" altLang="zh-CN"/>
            </a:fld>
            <a:endParaRPr lang="en-US" altLang="zh-CN"/>
          </a:p>
        </p:txBody>
      </p:sp>
      <p:sp>
        <p:nvSpPr>
          <p:cNvPr id="391170" name="Rectangle 2"/>
          <p:cNvSpPr>
            <a:spLocks noChangeArrowheads="1"/>
          </p:cNvSpPr>
          <p:nvPr/>
        </p:nvSpPr>
        <p:spPr bwMode="auto">
          <a:xfrm>
            <a:off x="684213"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en-US" sz="3900" b="1">
                <a:solidFill>
                  <a:schemeClr val="tx2"/>
                </a:solidFill>
                <a:effectLst>
                  <a:outerShdw blurRad="38100" dist="38100" dir="2700000" algn="tl">
                    <a:srgbClr val="C0C0C0"/>
                  </a:outerShdw>
                </a:effectLst>
                <a:ea typeface="黑体" panose="02010609060101010101" pitchFamily="49" charset="-122"/>
              </a:rPr>
              <a:t>Pollard算法</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391171" name="Text Box 3"/>
          <p:cNvSpPr txBox="1">
            <a:spLocks noChangeArrowheads="1"/>
          </p:cNvSpPr>
          <p:nvPr/>
        </p:nvSpPr>
        <p:spPr bwMode="auto">
          <a:xfrm>
            <a:off x="231775" y="836613"/>
            <a:ext cx="86614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在开始时选取</a:t>
            </a:r>
            <a:r>
              <a:rPr lang="en-US" altLang="zh-CN" sz="2400">
                <a:ea typeface="新宋体" panose="02010609030101010101" charset="-122"/>
              </a:rPr>
              <a:t>0</a:t>
            </a:r>
            <a:r>
              <a:rPr lang="zh-CN" altLang="en-US" sz="2400">
                <a:ea typeface="新宋体" panose="02010609030101010101" charset="-122"/>
              </a:rPr>
              <a:t>～</a:t>
            </a:r>
            <a:r>
              <a:rPr lang="en-US" altLang="zh-CN" sz="2400">
                <a:ea typeface="新宋体" panose="02010609030101010101" charset="-122"/>
              </a:rPr>
              <a:t>n-1</a:t>
            </a:r>
            <a:r>
              <a:rPr lang="zh-CN" altLang="en-US" sz="2400">
                <a:ea typeface="新宋体" panose="02010609030101010101" charset="-122"/>
              </a:rPr>
              <a:t>范围内的随机数，然后递归地由</a:t>
            </a:r>
            <a:endParaRPr lang="zh-CN" altLang="en-US" sz="2400">
              <a:ea typeface="新宋体" panose="02010609030101010101" charset="-122"/>
            </a:endParaRPr>
          </a:p>
          <a:p>
            <a:endParaRPr lang="zh-CN" altLang="en-US" sz="2400">
              <a:ea typeface="新宋体" panose="02010609030101010101" charset="-122"/>
            </a:endParaRPr>
          </a:p>
          <a:p>
            <a:r>
              <a:rPr lang="zh-CN" altLang="en-US" sz="2400">
                <a:ea typeface="新宋体" panose="02010609030101010101" charset="-122"/>
              </a:rPr>
              <a:t>产生无穷序列</a:t>
            </a:r>
            <a:endParaRPr lang="zh-CN" altLang="en-US" sz="2400">
              <a:ea typeface="新宋体" panose="02010609030101010101" charset="-122"/>
            </a:endParaRPr>
          </a:p>
          <a:p>
            <a:r>
              <a:rPr lang="zh-CN" altLang="en-US" sz="2400">
                <a:ea typeface="新宋体" panose="02010609030101010101" charset="-122"/>
              </a:rPr>
              <a:t>对于</a:t>
            </a:r>
            <a:r>
              <a:rPr lang="en-US" altLang="zh-CN" sz="2400">
                <a:ea typeface="新宋体" panose="02010609030101010101" charset="-122"/>
              </a:rPr>
              <a:t>i=2</a:t>
            </a:r>
            <a:r>
              <a:rPr lang="en-US" altLang="zh-CN" sz="2400" baseline="30000">
                <a:ea typeface="新宋体" panose="02010609030101010101" charset="-122"/>
              </a:rPr>
              <a:t>k</a:t>
            </a:r>
            <a:r>
              <a:rPr lang="zh-CN" altLang="en-US" sz="2400">
                <a:ea typeface="新宋体" panose="02010609030101010101" charset="-122"/>
              </a:rPr>
              <a:t>，以及</a:t>
            </a:r>
            <a:r>
              <a:rPr lang="en-US" altLang="zh-CN" sz="2400">
                <a:ea typeface="新宋体" panose="02010609030101010101" charset="-122"/>
              </a:rPr>
              <a:t>2</a:t>
            </a:r>
            <a:r>
              <a:rPr lang="en-US" altLang="zh-CN" sz="2400" baseline="30000">
                <a:ea typeface="新宋体" panose="02010609030101010101" charset="-122"/>
              </a:rPr>
              <a:t>k</a:t>
            </a:r>
            <a:r>
              <a:rPr lang="en-US" altLang="zh-CN" sz="2400">
                <a:ea typeface="新宋体" panose="02010609030101010101" charset="-122"/>
              </a:rPr>
              <a:t>&lt;j</a:t>
            </a:r>
            <a:r>
              <a:rPr lang="en-US" altLang="zh-CN" sz="2400">
                <a:ea typeface="新宋体" panose="02010609030101010101" charset="-122"/>
                <a:sym typeface="Symbol" panose="05050102010706020507" pitchFamily="18" charset="2"/>
              </a:rPr>
              <a:t>2</a:t>
            </a:r>
            <a:r>
              <a:rPr lang="en-US" altLang="zh-CN" sz="2400" baseline="30000">
                <a:ea typeface="新宋体" panose="02010609030101010101" charset="-122"/>
                <a:sym typeface="Symbol" panose="05050102010706020507" pitchFamily="18" charset="2"/>
              </a:rPr>
              <a:t>k+1</a:t>
            </a:r>
            <a:r>
              <a:rPr lang="zh-CN" altLang="en-US" sz="2400">
                <a:ea typeface="新宋体" panose="02010609030101010101" charset="-122"/>
              </a:rPr>
              <a:t>，算法计算出</a:t>
            </a:r>
            <a:r>
              <a:rPr lang="en-US" altLang="zh-CN" sz="2400">
                <a:ea typeface="新宋体" panose="02010609030101010101" charset="-122"/>
              </a:rPr>
              <a:t>x</a:t>
            </a:r>
            <a:r>
              <a:rPr lang="en-US" altLang="zh-CN" sz="2400" baseline="-25000">
                <a:ea typeface="新宋体" panose="02010609030101010101" charset="-122"/>
              </a:rPr>
              <a:t>j</a:t>
            </a:r>
            <a:r>
              <a:rPr lang="en-US" altLang="zh-CN" sz="2400">
                <a:ea typeface="新宋体" panose="02010609030101010101" charset="-122"/>
              </a:rPr>
              <a:t>-x</a:t>
            </a:r>
            <a:r>
              <a:rPr lang="en-US" altLang="zh-CN" sz="2400" baseline="-25000">
                <a:ea typeface="新宋体" panose="02010609030101010101" charset="-122"/>
              </a:rPr>
              <a:t>i</a:t>
            </a:r>
            <a:r>
              <a:rPr lang="zh-CN" altLang="en-US" sz="2400">
                <a:ea typeface="新宋体" panose="02010609030101010101" charset="-122"/>
              </a:rPr>
              <a:t>与</a:t>
            </a:r>
            <a:r>
              <a:rPr lang="en-US" altLang="zh-CN" sz="2400">
                <a:ea typeface="新宋体" panose="02010609030101010101" charset="-122"/>
              </a:rPr>
              <a:t>n</a:t>
            </a:r>
            <a:r>
              <a:rPr lang="zh-CN" altLang="en-US" sz="2400">
                <a:ea typeface="新宋体" panose="02010609030101010101" charset="-122"/>
              </a:rPr>
              <a:t>的最大公因子</a:t>
            </a:r>
            <a:endParaRPr lang="zh-CN" altLang="en-US" sz="2400">
              <a:ea typeface="新宋体" panose="02010609030101010101" charset="-122"/>
            </a:endParaRPr>
          </a:p>
          <a:p>
            <a:r>
              <a:rPr lang="en-US" altLang="zh-CN" sz="2400">
                <a:ea typeface="新宋体" panose="02010609030101010101" charset="-122"/>
              </a:rPr>
              <a:t>d=gcd(x</a:t>
            </a:r>
            <a:r>
              <a:rPr lang="en-US" altLang="zh-CN" sz="2400" baseline="-25000">
                <a:ea typeface="新宋体" panose="02010609030101010101" charset="-122"/>
              </a:rPr>
              <a:t>j</a:t>
            </a:r>
            <a:r>
              <a:rPr lang="en-US" altLang="zh-CN" sz="2400">
                <a:ea typeface="新宋体" panose="02010609030101010101" charset="-122"/>
              </a:rPr>
              <a:t>-x</a:t>
            </a:r>
            <a:r>
              <a:rPr lang="en-US" altLang="zh-CN" sz="2400" baseline="-25000">
                <a:ea typeface="新宋体" panose="02010609030101010101" charset="-122"/>
              </a:rPr>
              <a:t>i</a:t>
            </a:r>
            <a:r>
              <a:rPr lang="zh-CN" altLang="en-US" sz="2400">
                <a:ea typeface="新宋体" panose="02010609030101010101" charset="-122"/>
              </a:rPr>
              <a:t>，</a:t>
            </a:r>
            <a:r>
              <a:rPr lang="en-US" altLang="zh-CN" sz="2400">
                <a:ea typeface="新宋体" panose="02010609030101010101" charset="-122"/>
              </a:rPr>
              <a:t>n)</a:t>
            </a:r>
            <a:r>
              <a:rPr lang="zh-CN" altLang="en-US" sz="2400">
                <a:ea typeface="新宋体" panose="02010609030101010101" charset="-122"/>
              </a:rPr>
              <a:t>。如果</a:t>
            </a:r>
            <a:r>
              <a:rPr lang="en-US" altLang="zh-CN" sz="2400">
                <a:ea typeface="新宋体" panose="02010609030101010101" charset="-122"/>
              </a:rPr>
              <a:t>d</a:t>
            </a:r>
            <a:r>
              <a:rPr lang="zh-CN" altLang="en-US" sz="2400">
                <a:ea typeface="新宋体" panose="02010609030101010101" charset="-122"/>
              </a:rPr>
              <a:t>是</a:t>
            </a:r>
            <a:r>
              <a:rPr lang="en-US" altLang="zh-CN" sz="2400">
                <a:ea typeface="新宋体" panose="02010609030101010101" charset="-122"/>
              </a:rPr>
              <a:t>n</a:t>
            </a:r>
            <a:r>
              <a:rPr lang="zh-CN" altLang="en-US" sz="2400">
                <a:ea typeface="新宋体" panose="02010609030101010101" charset="-122"/>
              </a:rPr>
              <a:t>的非平凡因子，则实现对</a:t>
            </a:r>
            <a:r>
              <a:rPr lang="en-US" altLang="zh-CN" sz="2400">
                <a:ea typeface="新宋体" panose="02010609030101010101" charset="-122"/>
              </a:rPr>
              <a:t>n</a:t>
            </a:r>
            <a:r>
              <a:rPr lang="zh-CN" altLang="en-US" sz="2400">
                <a:ea typeface="新宋体" panose="02010609030101010101" charset="-122"/>
              </a:rPr>
              <a:t>的一次分割，算法输出</a:t>
            </a:r>
            <a:r>
              <a:rPr lang="en-US" altLang="zh-CN" sz="2400">
                <a:ea typeface="新宋体" panose="02010609030101010101" charset="-122"/>
              </a:rPr>
              <a:t>n</a:t>
            </a:r>
            <a:r>
              <a:rPr lang="zh-CN" altLang="en-US" sz="2400">
                <a:ea typeface="新宋体" panose="02010609030101010101" charset="-122"/>
              </a:rPr>
              <a:t>的因子</a:t>
            </a:r>
            <a:r>
              <a:rPr lang="en-US" altLang="zh-CN" sz="2400">
                <a:ea typeface="新宋体" panose="02010609030101010101" charset="-122"/>
              </a:rPr>
              <a:t>d</a:t>
            </a:r>
            <a:r>
              <a:rPr lang="zh-CN" altLang="en-US" sz="2400">
                <a:ea typeface="新宋体" panose="02010609030101010101" charset="-122"/>
              </a:rPr>
              <a:t>。</a:t>
            </a:r>
            <a:endParaRPr lang="zh-CN" altLang="en-US" sz="2400">
              <a:ea typeface="新宋体" panose="02010609030101010101" charset="-122"/>
            </a:endParaRPr>
          </a:p>
        </p:txBody>
      </p:sp>
      <p:sp>
        <p:nvSpPr>
          <p:cNvPr id="391172" name="Rectangle 4"/>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aphicFrame>
        <p:nvGraphicFramePr>
          <p:cNvPr id="391173" name="Object 5"/>
          <p:cNvGraphicFramePr>
            <a:graphicFrameLocks noChangeAspect="1"/>
          </p:cNvGraphicFramePr>
          <p:nvPr/>
        </p:nvGraphicFramePr>
        <p:xfrm>
          <a:off x="2555875" y="1196975"/>
          <a:ext cx="2160588" cy="417513"/>
        </p:xfrm>
        <a:graphic>
          <a:graphicData uri="http://schemas.openxmlformats.org/presentationml/2006/ole">
            <mc:AlternateContent xmlns:mc="http://schemas.openxmlformats.org/markup-compatibility/2006">
              <mc:Choice xmlns:v="urn:schemas-microsoft-com:vml" Requires="v">
                <p:oleObj spid="_x0000_s391188" name="公式" r:id="rId1" imgW="1231265" imgH="241300" progId="Equation.3">
                  <p:embed/>
                </p:oleObj>
              </mc:Choice>
              <mc:Fallback>
                <p:oleObj name="公式" r:id="rId1" imgW="1231265" imgH="2413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75" y="1196975"/>
                        <a:ext cx="2160588" cy="417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1174" name="Rectangle 6"/>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aphicFrame>
        <p:nvGraphicFramePr>
          <p:cNvPr id="391175" name="Object 7"/>
          <p:cNvGraphicFramePr>
            <a:graphicFrameLocks noChangeAspect="1"/>
          </p:cNvGraphicFramePr>
          <p:nvPr/>
        </p:nvGraphicFramePr>
        <p:xfrm>
          <a:off x="2195513" y="1620838"/>
          <a:ext cx="1655762" cy="393700"/>
        </p:xfrm>
        <a:graphic>
          <a:graphicData uri="http://schemas.openxmlformats.org/presentationml/2006/ole">
            <mc:AlternateContent xmlns:mc="http://schemas.openxmlformats.org/markup-compatibility/2006">
              <mc:Choice xmlns:v="urn:schemas-microsoft-com:vml" Requires="v">
                <p:oleObj spid="_x0000_s391189" name="公式" r:id="rId3" imgW="965200" imgH="228600" progId="Equation.3">
                  <p:embed/>
                </p:oleObj>
              </mc:Choice>
              <mc:Fallback>
                <p:oleObj name="公式" r:id="rId3" imgW="965200" imgH="2286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1620838"/>
                        <a:ext cx="1655762"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1176" name="Text Box 8"/>
          <p:cNvSpPr txBox="1">
            <a:spLocks noChangeArrowheads="1"/>
          </p:cNvSpPr>
          <p:nvPr/>
        </p:nvSpPr>
        <p:spPr bwMode="auto">
          <a:xfrm>
            <a:off x="250825" y="2954338"/>
            <a:ext cx="3584575" cy="400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en-US" altLang="zh-CN" sz="1600"/>
              <a:t>void </a:t>
            </a:r>
            <a:r>
              <a:rPr lang="en-US" altLang="zh-CN" sz="1600" b="1"/>
              <a:t>Pollard</a:t>
            </a:r>
            <a:r>
              <a:rPr lang="en-US" altLang="zh-CN" sz="1600"/>
              <a:t>(int n)</a:t>
            </a:r>
            <a:endParaRPr lang="en-US" altLang="zh-CN" sz="1600"/>
          </a:p>
          <a:p>
            <a:r>
              <a:rPr lang="en-US" altLang="zh-CN" sz="1600"/>
              <a:t>{// </a:t>
            </a:r>
            <a:r>
              <a:rPr lang="zh-CN" altLang="en-US" sz="1600"/>
              <a:t>求整数</a:t>
            </a:r>
            <a:r>
              <a:rPr lang="en-US" altLang="zh-CN" sz="1600"/>
              <a:t>n</a:t>
            </a:r>
            <a:r>
              <a:rPr lang="zh-CN" altLang="en-US" sz="1600"/>
              <a:t>因子分割的拉斯维加斯算法</a:t>
            </a:r>
            <a:endParaRPr lang="zh-CN" altLang="en-US" sz="1600"/>
          </a:p>
          <a:p>
            <a:r>
              <a:rPr lang="zh-CN" altLang="en-US" sz="1600"/>
              <a:t>  </a:t>
            </a:r>
            <a:r>
              <a:rPr lang="en-US" altLang="zh-CN" sz="1600"/>
              <a:t>RandomNumber rnd;</a:t>
            </a:r>
            <a:endParaRPr lang="en-US" altLang="zh-CN" sz="1600"/>
          </a:p>
          <a:p>
            <a:r>
              <a:rPr lang="en-US" altLang="zh-CN" sz="1600"/>
              <a:t>  int i=1;</a:t>
            </a:r>
            <a:endParaRPr lang="en-US" altLang="zh-CN" sz="1600"/>
          </a:p>
          <a:p>
            <a:r>
              <a:rPr lang="en-US" altLang="zh-CN" sz="1600"/>
              <a:t>  int x=rnd.Random(n); // </a:t>
            </a:r>
            <a:r>
              <a:rPr lang="zh-CN" altLang="en-US" sz="1600"/>
              <a:t>随机整数</a:t>
            </a:r>
            <a:endParaRPr lang="zh-CN" altLang="en-US" sz="1600"/>
          </a:p>
          <a:p>
            <a:r>
              <a:rPr lang="zh-CN" altLang="en-US" sz="1600"/>
              <a:t>  </a:t>
            </a:r>
            <a:r>
              <a:rPr lang="en-US" altLang="zh-CN" sz="1600"/>
              <a:t>int y=x;</a:t>
            </a:r>
            <a:endParaRPr lang="en-US" altLang="zh-CN" sz="1600"/>
          </a:p>
          <a:p>
            <a:r>
              <a:rPr lang="en-US" altLang="zh-CN" sz="1600"/>
              <a:t>  int k=2;</a:t>
            </a:r>
            <a:endParaRPr lang="en-US" altLang="zh-CN" sz="1600"/>
          </a:p>
          <a:p>
            <a:r>
              <a:rPr lang="en-US" altLang="zh-CN" sz="1600"/>
              <a:t>  while (true) {</a:t>
            </a:r>
            <a:endParaRPr lang="en-US" altLang="zh-CN" sz="1600"/>
          </a:p>
          <a:p>
            <a:r>
              <a:rPr lang="en-US" altLang="zh-CN" sz="1600"/>
              <a:t>    i++;</a:t>
            </a:r>
            <a:endParaRPr lang="en-US" altLang="zh-CN" sz="1600"/>
          </a:p>
          <a:p>
            <a:r>
              <a:rPr lang="en-US" altLang="zh-CN" sz="1600"/>
              <a:t>    x=(x*x-1)%n;   </a:t>
            </a:r>
            <a:endParaRPr lang="en-US" altLang="zh-CN" sz="1600"/>
          </a:p>
          <a:p>
            <a:r>
              <a:rPr lang="en-US" altLang="zh-CN" sz="1600"/>
              <a:t>  int d=gcd(y-x,n);  // </a:t>
            </a:r>
            <a:r>
              <a:rPr lang="zh-CN" altLang="en-US" sz="1600"/>
              <a:t>求</a:t>
            </a:r>
            <a:r>
              <a:rPr lang="en-US" altLang="zh-CN" sz="1600"/>
              <a:t>n</a:t>
            </a:r>
            <a:r>
              <a:rPr lang="zh-CN" altLang="en-US" sz="1600"/>
              <a:t>的非平凡因子</a:t>
            </a:r>
            <a:endParaRPr lang="zh-CN" altLang="en-US" sz="1600"/>
          </a:p>
          <a:p>
            <a:r>
              <a:rPr lang="zh-CN" altLang="en-US" sz="1600"/>
              <a:t>    </a:t>
            </a:r>
            <a:r>
              <a:rPr lang="en-US" altLang="zh-CN" sz="1600"/>
              <a:t>if ((d&gt;1) &amp;&amp; (d&lt;n)) cout&lt;&lt;d&lt;&lt;endl;</a:t>
            </a:r>
            <a:endParaRPr lang="en-US" altLang="zh-CN" sz="1600"/>
          </a:p>
          <a:p>
            <a:r>
              <a:rPr lang="en-US" altLang="zh-CN" sz="1600"/>
              <a:t>    if (i==k) {</a:t>
            </a:r>
            <a:endParaRPr lang="en-US" altLang="zh-CN" sz="1600"/>
          </a:p>
          <a:p>
            <a:r>
              <a:rPr lang="en-US" altLang="zh-CN" sz="1600"/>
              <a:t>      y=x;</a:t>
            </a:r>
            <a:endParaRPr lang="en-US" altLang="zh-CN" sz="1600"/>
          </a:p>
          <a:p>
            <a:r>
              <a:rPr lang="en-US" altLang="zh-CN" sz="1600"/>
              <a:t>      k*=2;}</a:t>
            </a:r>
            <a:endParaRPr lang="en-US" altLang="zh-CN" sz="1600"/>
          </a:p>
          <a:p>
            <a:r>
              <a:rPr lang="en-US" altLang="zh-CN" sz="1600"/>
              <a:t>    }  }</a:t>
            </a:r>
            <a:endParaRPr lang="en-US" altLang="zh-CN" sz="1600"/>
          </a:p>
        </p:txBody>
      </p:sp>
      <p:sp>
        <p:nvSpPr>
          <p:cNvPr id="391177" name="Rectangle 9"/>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391178" name="Rectangle 10"/>
          <p:cNvSpPr>
            <a:spLocks noChangeArrowheads="1"/>
          </p:cNvSpPr>
          <p:nvPr/>
        </p:nvSpPr>
        <p:spPr bwMode="auto">
          <a:xfrm>
            <a:off x="0"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pSp>
        <p:nvGrpSpPr>
          <p:cNvPr id="391179" name="Group 11"/>
          <p:cNvGrpSpPr/>
          <p:nvPr/>
        </p:nvGrpSpPr>
        <p:grpSpPr bwMode="auto">
          <a:xfrm>
            <a:off x="4572000" y="3284538"/>
            <a:ext cx="4284663" cy="2698750"/>
            <a:chOff x="2971" y="1888"/>
            <a:chExt cx="2699" cy="1700"/>
          </a:xfrm>
        </p:grpSpPr>
        <p:sp>
          <p:nvSpPr>
            <p:cNvPr id="391180" name="Text Box 12"/>
            <p:cNvSpPr txBox="1">
              <a:spLocks noChangeArrowheads="1"/>
            </p:cNvSpPr>
            <p:nvPr/>
          </p:nvSpPr>
          <p:spPr bwMode="auto">
            <a:xfrm>
              <a:off x="2971" y="1888"/>
              <a:ext cx="2699" cy="1700"/>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对</a:t>
              </a:r>
              <a:r>
                <a:rPr lang="en-US" altLang="zh-CN" sz="2400">
                  <a:ea typeface="新宋体" panose="02010609030101010101" charset="-122"/>
                </a:rPr>
                <a:t>Pollard</a:t>
              </a:r>
              <a:r>
                <a:rPr lang="zh-CN" altLang="en-US" sz="2400">
                  <a:ea typeface="新宋体" panose="02010609030101010101" charset="-122"/>
                </a:rPr>
                <a:t>算法更深入的分析可知，执行算法的</a:t>
              </a:r>
              <a:r>
                <a:rPr lang="en-US" altLang="zh-CN" sz="2400">
                  <a:ea typeface="新宋体" panose="02010609030101010101" charset="-122"/>
                </a:rPr>
                <a:t>while</a:t>
              </a:r>
              <a:r>
                <a:rPr lang="zh-CN" altLang="en-US" sz="2400">
                  <a:ea typeface="新宋体" panose="02010609030101010101" charset="-122"/>
                </a:rPr>
                <a:t>循环约  次后，</a:t>
              </a:r>
              <a:r>
                <a:rPr lang="en-US" altLang="zh-CN" sz="2400">
                  <a:ea typeface="新宋体" panose="02010609030101010101" charset="-122"/>
                </a:rPr>
                <a:t>Pollard</a:t>
              </a:r>
              <a:r>
                <a:rPr lang="zh-CN" altLang="en-US" sz="2400">
                  <a:ea typeface="新宋体" panose="02010609030101010101" charset="-122"/>
                </a:rPr>
                <a:t>算法会输出</a:t>
              </a:r>
              <a:r>
                <a:rPr lang="en-US" altLang="zh-CN" sz="2400">
                  <a:ea typeface="新宋体" panose="02010609030101010101" charset="-122"/>
                </a:rPr>
                <a:t>n</a:t>
              </a:r>
              <a:r>
                <a:rPr lang="zh-CN" altLang="en-US" sz="2400">
                  <a:ea typeface="新宋体" panose="02010609030101010101" charset="-122"/>
                </a:rPr>
                <a:t>的一个因子</a:t>
              </a:r>
              <a:r>
                <a:rPr lang="en-US" altLang="zh-CN" sz="2400">
                  <a:ea typeface="新宋体" panose="02010609030101010101" charset="-122"/>
                </a:rPr>
                <a:t>p</a:t>
              </a:r>
              <a:r>
                <a:rPr lang="zh-CN" altLang="en-US" sz="2400">
                  <a:ea typeface="新宋体" panose="02010609030101010101" charset="-122"/>
                </a:rPr>
                <a:t>。由于</a:t>
              </a:r>
              <a:r>
                <a:rPr lang="en-US" altLang="zh-CN" sz="2400">
                  <a:ea typeface="新宋体" panose="02010609030101010101" charset="-122"/>
                </a:rPr>
                <a:t>n</a:t>
              </a:r>
              <a:r>
                <a:rPr lang="zh-CN" altLang="en-US" sz="2400">
                  <a:ea typeface="新宋体" panose="02010609030101010101" charset="-122"/>
                </a:rPr>
                <a:t>的最小素因子</a:t>
              </a:r>
              <a:r>
                <a:rPr lang="en-US" altLang="zh-CN" sz="2400">
                  <a:ea typeface="新宋体" panose="02010609030101010101" charset="-122"/>
                </a:rPr>
                <a:t>p</a:t>
              </a:r>
              <a:r>
                <a:rPr lang="en-US" altLang="zh-CN" sz="2400">
                  <a:ea typeface="新宋体" panose="02010609030101010101" charset="-122"/>
                  <a:sym typeface="Symbol" panose="05050102010706020507" pitchFamily="18" charset="2"/>
                </a:rPr>
                <a:t>     </a:t>
              </a:r>
              <a:r>
                <a:rPr lang="zh-CN" altLang="en-US" sz="2400">
                  <a:ea typeface="新宋体" panose="02010609030101010101" charset="-122"/>
                </a:rPr>
                <a:t>，故</a:t>
              </a:r>
              <a:r>
                <a:rPr lang="en-US" altLang="zh-CN" sz="2400">
                  <a:ea typeface="新宋体" panose="02010609030101010101" charset="-122"/>
                </a:rPr>
                <a:t>Pollard</a:t>
              </a:r>
              <a:r>
                <a:rPr lang="zh-CN" altLang="en-US" sz="2400">
                  <a:ea typeface="新宋体" panose="02010609030101010101" charset="-122"/>
                </a:rPr>
                <a:t>算法可在</a:t>
              </a:r>
              <a:r>
                <a:rPr lang="en-US" altLang="zh-CN" sz="2400">
                  <a:ea typeface="新宋体" panose="02010609030101010101" charset="-122"/>
                </a:rPr>
                <a:t>O(n</a:t>
              </a:r>
              <a:r>
                <a:rPr lang="en-US" altLang="zh-CN" sz="2400" baseline="30000">
                  <a:ea typeface="新宋体" panose="02010609030101010101" charset="-122"/>
                </a:rPr>
                <a:t>1/4</a:t>
              </a:r>
              <a:r>
                <a:rPr lang="en-US" altLang="zh-CN" sz="2400">
                  <a:ea typeface="新宋体" panose="02010609030101010101" charset="-122"/>
                </a:rPr>
                <a:t>)</a:t>
              </a:r>
              <a:r>
                <a:rPr lang="zh-CN" altLang="en-US" sz="2400">
                  <a:ea typeface="新宋体" panose="02010609030101010101" charset="-122"/>
                </a:rPr>
                <a:t>时间内找到</a:t>
              </a:r>
              <a:r>
                <a:rPr lang="en-US" altLang="zh-CN" sz="2400">
                  <a:ea typeface="新宋体" panose="02010609030101010101" charset="-122"/>
                </a:rPr>
                <a:t>n</a:t>
              </a:r>
              <a:r>
                <a:rPr lang="zh-CN" altLang="en-US" sz="2400">
                  <a:ea typeface="新宋体" panose="02010609030101010101" charset="-122"/>
                </a:rPr>
                <a:t>的一个素因子。</a:t>
              </a:r>
              <a:endParaRPr lang="zh-CN" altLang="en-US" sz="2400">
                <a:ea typeface="新宋体" panose="02010609030101010101" charset="-122"/>
              </a:endParaRPr>
            </a:p>
          </p:txBody>
        </p:sp>
        <p:graphicFrame>
          <p:nvGraphicFramePr>
            <p:cNvPr id="391181" name="Object 13"/>
            <p:cNvGraphicFramePr>
              <a:graphicFrameLocks noChangeAspect="1"/>
            </p:cNvGraphicFramePr>
            <p:nvPr/>
          </p:nvGraphicFramePr>
          <p:xfrm>
            <a:off x="3424" y="2840"/>
            <a:ext cx="272" cy="261"/>
          </p:xfrm>
          <a:graphic>
            <a:graphicData uri="http://schemas.openxmlformats.org/presentationml/2006/ole">
              <mc:AlternateContent xmlns:mc="http://schemas.openxmlformats.org/markup-compatibility/2006">
                <mc:Choice xmlns:v="urn:schemas-microsoft-com:vml" Requires="v">
                  <p:oleObj spid="_x0000_s391190" name="公式" r:id="rId5" imgW="241300" imgH="228600" progId="Equation.3">
                    <p:embed/>
                  </p:oleObj>
                </mc:Choice>
                <mc:Fallback>
                  <p:oleObj name="公式" r:id="rId5" imgW="241300" imgH="228600"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4" y="2840"/>
                          <a:ext cx="272" cy="2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1182" name="Object 14"/>
            <p:cNvGraphicFramePr>
              <a:graphicFrameLocks noChangeAspect="1"/>
            </p:cNvGraphicFramePr>
            <p:nvPr/>
          </p:nvGraphicFramePr>
          <p:xfrm>
            <a:off x="5375" y="2160"/>
            <a:ext cx="227" cy="219"/>
          </p:xfrm>
          <a:graphic>
            <a:graphicData uri="http://schemas.openxmlformats.org/presentationml/2006/ole">
              <mc:AlternateContent xmlns:mc="http://schemas.openxmlformats.org/markup-compatibility/2006">
                <mc:Choice xmlns:v="urn:schemas-microsoft-com:vml" Requires="v">
                  <p:oleObj spid="_x0000_s391191" name="公式" r:id="rId7" imgW="266700" imgH="254000" progId="Equation.3">
                    <p:embed/>
                  </p:oleObj>
                </mc:Choice>
                <mc:Fallback>
                  <p:oleObj name="公式" r:id="rId7" imgW="266700" imgH="25400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75" y="2160"/>
                          <a:ext cx="227" cy="2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91183" name="Text Box 15"/>
          <p:cNvSpPr txBox="1">
            <a:spLocks noChangeArrowheads="1"/>
          </p:cNvSpPr>
          <p:nvPr/>
        </p:nvSpPr>
        <p:spPr bwMode="auto">
          <a:xfrm>
            <a:off x="3492500" y="0"/>
            <a:ext cx="5651500" cy="873125"/>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算法</a:t>
            </a:r>
            <a:r>
              <a:rPr lang="en-US" altLang="zh-CN" sz="2400">
                <a:ea typeface="新宋体" panose="02010609030101010101" charset="-122"/>
              </a:rPr>
              <a:t>Pollard</a:t>
            </a:r>
            <a:r>
              <a:rPr lang="zh-CN" altLang="en-US" sz="2400">
                <a:ea typeface="新宋体" panose="02010609030101010101" charset="-122"/>
              </a:rPr>
              <a:t>用与</a:t>
            </a:r>
            <a:r>
              <a:rPr lang="en-US" altLang="zh-CN" sz="2400">
                <a:ea typeface="新宋体" panose="02010609030101010101" charset="-122"/>
              </a:rPr>
              <a:t>split(n)</a:t>
            </a:r>
            <a:r>
              <a:rPr lang="zh-CN" altLang="en-US" sz="2400">
                <a:ea typeface="新宋体" panose="02010609030101010101" charset="-122"/>
              </a:rPr>
              <a:t>相同的工作量可以得到在</a:t>
            </a:r>
            <a:r>
              <a:rPr lang="en-US" altLang="zh-CN" sz="2400">
                <a:ea typeface="新宋体" panose="02010609030101010101" charset="-122"/>
              </a:rPr>
              <a:t>1</a:t>
            </a:r>
            <a:r>
              <a:rPr lang="zh-CN" altLang="en-US" sz="2400">
                <a:ea typeface="新宋体" panose="02010609030101010101" charset="-122"/>
              </a:rPr>
              <a:t>～</a:t>
            </a:r>
            <a:r>
              <a:rPr lang="en-US" altLang="zh-CN" sz="2400">
                <a:ea typeface="新宋体" panose="02010609030101010101" charset="-122"/>
              </a:rPr>
              <a:t>x</a:t>
            </a:r>
            <a:r>
              <a:rPr lang="en-US" altLang="zh-CN" sz="2400" baseline="30000">
                <a:ea typeface="新宋体" panose="02010609030101010101" charset="-122"/>
              </a:rPr>
              <a:t>4</a:t>
            </a:r>
            <a:r>
              <a:rPr lang="zh-CN" altLang="en-US" sz="2400">
                <a:ea typeface="新宋体" panose="02010609030101010101" charset="-122"/>
              </a:rPr>
              <a:t>范围内整数的因子分割。</a:t>
            </a:r>
            <a:endParaRPr lang="zh-CN" altLang="en-US" sz="2400">
              <a:ea typeface="新宋体" panose="02010609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91183"/>
                                        </p:tgtEl>
                                        <p:attrNameLst>
                                          <p:attrName>style.visibility</p:attrName>
                                        </p:attrNameLst>
                                      </p:cBhvr>
                                      <p:to>
                                        <p:strVal val="visible"/>
                                      </p:to>
                                    </p:set>
                                    <p:animEffect transition="in" filter="box(in)">
                                      <p:cBhvr>
                                        <p:cTn id="7" dur="500"/>
                                        <p:tgtEl>
                                          <p:spTgt spid="39118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91176"/>
                                        </p:tgtEl>
                                        <p:attrNameLst>
                                          <p:attrName>style.visibility</p:attrName>
                                        </p:attrNameLst>
                                      </p:cBhvr>
                                      <p:to>
                                        <p:strVal val="visible"/>
                                      </p:to>
                                    </p:set>
                                    <p:animEffect transition="in" filter="slide(fromBottom)">
                                      <p:cBhvr>
                                        <p:cTn id="12" dur="500"/>
                                        <p:tgtEl>
                                          <p:spTgt spid="39117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91179"/>
                                        </p:tgtEl>
                                        <p:attrNameLst>
                                          <p:attrName>style.visibility</p:attrName>
                                        </p:attrNameLst>
                                      </p:cBhvr>
                                      <p:to>
                                        <p:strVal val="visible"/>
                                      </p:to>
                                    </p:set>
                                    <p:animEffect transition="in" filter="randombar(horizontal)">
                                      <p:cBhvr>
                                        <p:cTn id="17" dur="500"/>
                                        <p:tgtEl>
                                          <p:spTgt spid="391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6" grpId="0"/>
      <p:bldP spid="391183"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p:cNvSpPr>
            <a:spLocks noGrp="1" noChangeArrowheads="1"/>
          </p:cNvSpPr>
          <p:nvPr>
            <p:ph type="sldNum" sz="quarter" idx="4"/>
          </p:nvPr>
        </p:nvSpPr>
        <p:spPr/>
        <p:txBody>
          <a:bodyPr/>
          <a:lstStyle/>
          <a:p>
            <a:fld id="{8DE85CCF-421B-411B-807B-EF9C87EFDA4A}" type="slidenum">
              <a:rPr lang="en-US" altLang="zh-CN"/>
            </a:fld>
            <a:endParaRPr lang="en-US" altLang="zh-CN"/>
          </a:p>
        </p:txBody>
      </p:sp>
      <p:sp>
        <p:nvSpPr>
          <p:cNvPr id="392194" name="Rectangle 2"/>
          <p:cNvSpPr>
            <a:spLocks noGrp="1" noChangeArrowheads="1"/>
          </p:cNvSpPr>
          <p:nvPr>
            <p:ph type="ctrTitle"/>
          </p:nvPr>
        </p:nvSpPr>
        <p:spPr/>
        <p:txBody>
          <a:bodyPr/>
          <a:lstStyle/>
          <a:p>
            <a:r>
              <a:rPr lang="zh-CN" altLang="en-US" sz="4400"/>
              <a:t>蒙特卡罗算法</a:t>
            </a:r>
            <a:endParaRPr lang="zh-CN" altLang="en-US" sz="440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B7DA4BF0-DEB7-4016-A1B8-71838B2411A2}" type="slidenum">
              <a:rPr lang="en-US" altLang="zh-CN"/>
            </a:fld>
            <a:endParaRPr lang="en-US" altLang="zh-CN"/>
          </a:p>
        </p:txBody>
      </p:sp>
      <p:sp>
        <p:nvSpPr>
          <p:cNvPr id="393218" name="Rectangle 2"/>
          <p:cNvSpPr>
            <a:spLocks noGrp="1" noChangeArrowheads="1"/>
          </p:cNvSpPr>
          <p:nvPr>
            <p:ph type="title"/>
          </p:nvPr>
        </p:nvSpPr>
        <p:spPr/>
        <p:txBody>
          <a:bodyPr/>
          <a:lstStyle/>
          <a:p>
            <a:r>
              <a:rPr lang="zh-CN" altLang="en-US">
                <a:effectLst>
                  <a:outerShdw blurRad="38100" dist="38100" dir="2700000" algn="tl">
                    <a:srgbClr val="C0C0C0"/>
                  </a:outerShdw>
                </a:effectLst>
                <a:ea typeface="黑体" panose="02010609060101010101" pitchFamily="49" charset="-122"/>
              </a:rPr>
              <a:t>蒙特卡罗算法</a:t>
            </a:r>
            <a:endParaRPr lang="zh-CN" altLang="en-US">
              <a:effectLst>
                <a:outerShdw blurRad="38100" dist="38100" dir="2700000" algn="tl">
                  <a:srgbClr val="C0C0C0"/>
                </a:outerShdw>
              </a:effectLst>
              <a:ea typeface="黑体" panose="02010609060101010101" pitchFamily="49" charset="-122"/>
            </a:endParaRPr>
          </a:p>
        </p:txBody>
      </p:sp>
      <p:sp>
        <p:nvSpPr>
          <p:cNvPr id="393219" name="Rectangle 3"/>
          <p:cNvSpPr>
            <a:spLocks noGrp="1" noChangeArrowheads="1"/>
          </p:cNvSpPr>
          <p:nvPr>
            <p:ph type="body" idx="1"/>
          </p:nvPr>
        </p:nvSpPr>
        <p:spPr>
          <a:xfrm>
            <a:off x="457200" y="1719263"/>
            <a:ext cx="8229600" cy="4878387"/>
          </a:xfrm>
        </p:spPr>
        <p:txBody>
          <a:bodyPr/>
          <a:lstStyle/>
          <a:p>
            <a:pPr>
              <a:lnSpc>
                <a:spcPct val="90000"/>
              </a:lnSpc>
            </a:pPr>
            <a:r>
              <a:rPr lang="zh-CN" altLang="en-US" sz="2600"/>
              <a:t>蒙特卡罗算法用于求问题的</a:t>
            </a:r>
            <a:r>
              <a:rPr lang="zh-CN" altLang="en-US" sz="2600" b="1">
                <a:solidFill>
                  <a:srgbClr val="CC3300"/>
                </a:solidFill>
              </a:rPr>
              <a:t>准确解</a:t>
            </a:r>
            <a:r>
              <a:rPr lang="zh-CN" altLang="en-US" sz="2600"/>
              <a:t>。</a:t>
            </a:r>
            <a:endParaRPr lang="zh-CN" altLang="en-US" sz="2600"/>
          </a:p>
          <a:p>
            <a:pPr>
              <a:lnSpc>
                <a:spcPct val="90000"/>
              </a:lnSpc>
            </a:pPr>
            <a:r>
              <a:rPr lang="zh-CN" altLang="en-US" sz="2600"/>
              <a:t>对于许多问题来说，近似解毫无意义。</a:t>
            </a:r>
            <a:endParaRPr lang="zh-CN" altLang="en-US" sz="2600"/>
          </a:p>
          <a:p>
            <a:pPr lvl="1">
              <a:lnSpc>
                <a:spcPct val="90000"/>
              </a:lnSpc>
            </a:pPr>
            <a:r>
              <a:rPr lang="zh-CN" altLang="en-US" sz="2200"/>
              <a:t>例如，一个判定问题其解为“是”或“否”，二者必居其一，不存在任何近似解答。</a:t>
            </a:r>
            <a:endParaRPr lang="zh-CN" altLang="en-US" sz="2200"/>
          </a:p>
          <a:p>
            <a:pPr lvl="1">
              <a:lnSpc>
                <a:spcPct val="90000"/>
              </a:lnSpc>
            </a:pPr>
            <a:r>
              <a:rPr lang="zh-CN" altLang="en-US" sz="2200"/>
              <a:t>又如，我们要求一个整数的因子时所给出的解答必须是准确的，一个整数的近似因子没有任何意义。</a:t>
            </a:r>
            <a:endParaRPr lang="zh-CN" altLang="en-US" sz="2200"/>
          </a:p>
          <a:p>
            <a:pPr>
              <a:lnSpc>
                <a:spcPct val="90000"/>
              </a:lnSpc>
            </a:pPr>
            <a:r>
              <a:rPr lang="zh-CN" altLang="en-US" sz="2600"/>
              <a:t>用蒙特卡罗算法能求得问题的一个解，但这个解未必是正确的。</a:t>
            </a:r>
            <a:endParaRPr lang="zh-CN" altLang="en-US" sz="2600"/>
          </a:p>
          <a:p>
            <a:pPr>
              <a:lnSpc>
                <a:spcPct val="90000"/>
              </a:lnSpc>
            </a:pPr>
            <a:r>
              <a:rPr lang="zh-CN" altLang="en-US" sz="2600"/>
              <a:t>求得正确解的概率依赖于算法所用的时间。算法所用的时间越多，得到正确解的概率就越高。蒙特卡罗算法的主要缺点就在于此。一般情况下，无法有效判断得到的解是否肯定正确。</a:t>
            </a:r>
            <a:endParaRPr lang="zh-CN" altLang="en-US" sz="2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withEffect">
                                  <p:stCondLst>
                                    <p:cond delay="0"/>
                                  </p:stCondLst>
                                  <p:childTnLst>
                                    <p:set>
                                      <p:cBhvr>
                                        <p:cTn id="6" dur="1" fill="hold">
                                          <p:stCondLst>
                                            <p:cond delay="0"/>
                                          </p:stCondLst>
                                        </p:cTn>
                                        <p:tgtEl>
                                          <p:spTgt spid="393219">
                                            <p:txEl>
                                              <p:pRg st="4294967295" end="4294967295"/>
                                            </p:txEl>
                                          </p:spTgt>
                                        </p:tgtEl>
                                        <p:attrNameLst>
                                          <p:attrName>style.visibility</p:attrName>
                                        </p:attrNameLst>
                                      </p:cBhvr>
                                      <p:to>
                                        <p:strVal val="visible"/>
                                      </p:to>
                                    </p:set>
                                    <p:animEffect transition="in" filter="strips(downRight)">
                                      <p:cBhvr>
                                        <p:cTn id="7" dur="500"/>
                                        <p:tgtEl>
                                          <p:spTgt spid="393219">
                                            <p:txEl>
                                              <p:pRg st="4294967295" end="4294967295"/>
                                            </p:txEl>
                                          </p:spTgt>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393219">
                                            <p:txEl>
                                              <p:pRg st="0" end="0"/>
                                            </p:txEl>
                                          </p:spTgt>
                                        </p:tgtEl>
                                        <p:attrNameLst>
                                          <p:attrName>style.visibility</p:attrName>
                                        </p:attrNameLst>
                                      </p:cBhvr>
                                      <p:to>
                                        <p:strVal val="visible"/>
                                      </p:to>
                                    </p:set>
                                    <p:animEffect transition="in" filter="strips(downRight)">
                                      <p:cBhvr>
                                        <p:cTn id="10" dur="500"/>
                                        <p:tgtEl>
                                          <p:spTgt spid="39321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8" presetClass="entr" presetSubtype="6" fill="hold" grpId="0" nodeType="clickEffect">
                                  <p:stCondLst>
                                    <p:cond delay="0"/>
                                  </p:stCondLst>
                                  <p:childTnLst>
                                    <p:set>
                                      <p:cBhvr>
                                        <p:cTn id="14" dur="1" fill="hold">
                                          <p:stCondLst>
                                            <p:cond delay="0"/>
                                          </p:stCondLst>
                                        </p:cTn>
                                        <p:tgtEl>
                                          <p:spTgt spid="393219">
                                            <p:txEl>
                                              <p:pRg st="1" end="1"/>
                                            </p:txEl>
                                          </p:spTgt>
                                        </p:tgtEl>
                                        <p:attrNameLst>
                                          <p:attrName>style.visibility</p:attrName>
                                        </p:attrNameLst>
                                      </p:cBhvr>
                                      <p:to>
                                        <p:strVal val="visible"/>
                                      </p:to>
                                    </p:set>
                                    <p:animEffect transition="in" filter="strips(downRight)">
                                      <p:cBhvr>
                                        <p:cTn id="15" dur="500"/>
                                        <p:tgtEl>
                                          <p:spTgt spid="393219">
                                            <p:txEl>
                                              <p:pRg st="1" end="1"/>
                                            </p:txEl>
                                          </p:spTgt>
                                        </p:tgtEl>
                                      </p:cBhvr>
                                    </p:animEffect>
                                  </p:childTnLst>
                                </p:cTn>
                              </p:par>
                              <p:par>
                                <p:cTn id="16" presetID="18" presetClass="entr" presetSubtype="6" fill="hold" grpId="0" nodeType="withEffect">
                                  <p:stCondLst>
                                    <p:cond delay="0"/>
                                  </p:stCondLst>
                                  <p:childTnLst>
                                    <p:set>
                                      <p:cBhvr>
                                        <p:cTn id="17" dur="1" fill="hold">
                                          <p:stCondLst>
                                            <p:cond delay="0"/>
                                          </p:stCondLst>
                                        </p:cTn>
                                        <p:tgtEl>
                                          <p:spTgt spid="393219">
                                            <p:txEl>
                                              <p:pRg st="2" end="2"/>
                                            </p:txEl>
                                          </p:spTgt>
                                        </p:tgtEl>
                                        <p:attrNameLst>
                                          <p:attrName>style.visibility</p:attrName>
                                        </p:attrNameLst>
                                      </p:cBhvr>
                                      <p:to>
                                        <p:strVal val="visible"/>
                                      </p:to>
                                    </p:set>
                                    <p:animEffect transition="in" filter="strips(downRight)">
                                      <p:cBhvr>
                                        <p:cTn id="18" dur="500"/>
                                        <p:tgtEl>
                                          <p:spTgt spid="393219">
                                            <p:txEl>
                                              <p:pRg st="2" end="2"/>
                                            </p:txEl>
                                          </p:spTgt>
                                        </p:tgtEl>
                                      </p:cBhvr>
                                    </p:animEffect>
                                  </p:childTnLst>
                                </p:cTn>
                              </p:par>
                              <p:par>
                                <p:cTn id="19" presetID="18" presetClass="entr" presetSubtype="6" fill="hold" grpId="0" nodeType="withEffect">
                                  <p:stCondLst>
                                    <p:cond delay="0"/>
                                  </p:stCondLst>
                                  <p:childTnLst>
                                    <p:set>
                                      <p:cBhvr>
                                        <p:cTn id="20" dur="1" fill="hold">
                                          <p:stCondLst>
                                            <p:cond delay="0"/>
                                          </p:stCondLst>
                                        </p:cTn>
                                        <p:tgtEl>
                                          <p:spTgt spid="393219">
                                            <p:txEl>
                                              <p:pRg st="3" end="3"/>
                                            </p:txEl>
                                          </p:spTgt>
                                        </p:tgtEl>
                                        <p:attrNameLst>
                                          <p:attrName>style.visibility</p:attrName>
                                        </p:attrNameLst>
                                      </p:cBhvr>
                                      <p:to>
                                        <p:strVal val="visible"/>
                                      </p:to>
                                    </p:set>
                                    <p:animEffect transition="in" filter="strips(downRight)">
                                      <p:cBhvr>
                                        <p:cTn id="21" dur="500"/>
                                        <p:tgtEl>
                                          <p:spTgt spid="393219">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6" fill="hold" grpId="0" nodeType="clickEffect">
                                  <p:stCondLst>
                                    <p:cond delay="0"/>
                                  </p:stCondLst>
                                  <p:childTnLst>
                                    <p:set>
                                      <p:cBhvr>
                                        <p:cTn id="25" dur="1" fill="hold">
                                          <p:stCondLst>
                                            <p:cond delay="0"/>
                                          </p:stCondLst>
                                        </p:cTn>
                                        <p:tgtEl>
                                          <p:spTgt spid="393219">
                                            <p:txEl>
                                              <p:pRg st="4" end="4"/>
                                            </p:txEl>
                                          </p:spTgt>
                                        </p:tgtEl>
                                        <p:attrNameLst>
                                          <p:attrName>style.visibility</p:attrName>
                                        </p:attrNameLst>
                                      </p:cBhvr>
                                      <p:to>
                                        <p:strVal val="visible"/>
                                      </p:to>
                                    </p:set>
                                    <p:animEffect transition="in" filter="strips(downRight)">
                                      <p:cBhvr>
                                        <p:cTn id="26" dur="500"/>
                                        <p:tgtEl>
                                          <p:spTgt spid="393219">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grpId="0" nodeType="clickEffect">
                                  <p:stCondLst>
                                    <p:cond delay="0"/>
                                  </p:stCondLst>
                                  <p:childTnLst>
                                    <p:set>
                                      <p:cBhvr>
                                        <p:cTn id="30" dur="1" fill="hold">
                                          <p:stCondLst>
                                            <p:cond delay="0"/>
                                          </p:stCondLst>
                                        </p:cTn>
                                        <p:tgtEl>
                                          <p:spTgt spid="393219">
                                            <p:txEl>
                                              <p:pRg st="5" end="5"/>
                                            </p:txEl>
                                          </p:spTgt>
                                        </p:tgtEl>
                                        <p:attrNameLst>
                                          <p:attrName>style.visibility</p:attrName>
                                        </p:attrNameLst>
                                      </p:cBhvr>
                                      <p:to>
                                        <p:strVal val="visible"/>
                                      </p:to>
                                    </p:set>
                                    <p:animEffect transition="in" filter="strips(downRight)">
                                      <p:cBhvr>
                                        <p:cTn id="31" dur="500"/>
                                        <p:tgtEl>
                                          <p:spTgt spid="3932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19"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9037352F-C8AC-4E53-8177-3AA1A228A4BA}" type="slidenum">
              <a:rPr lang="en-US" altLang="zh-CN"/>
            </a:fld>
            <a:endParaRPr lang="en-US" altLang="zh-CN"/>
          </a:p>
        </p:txBody>
      </p:sp>
      <p:sp>
        <p:nvSpPr>
          <p:cNvPr id="394242" name="Rectangle 2"/>
          <p:cNvSpPr>
            <a:spLocks noGrp="1" noChangeArrowheads="1"/>
          </p:cNvSpPr>
          <p:nvPr>
            <p:ph type="title"/>
          </p:nvPr>
        </p:nvSpPr>
        <p:spPr/>
        <p:txBody>
          <a:bodyPr/>
          <a:lstStyle/>
          <a:p>
            <a:r>
              <a:rPr lang="zh-CN" altLang="en-US"/>
              <a:t> 蒙特卡罗方法的基本原理及思想</a:t>
            </a:r>
            <a:endParaRPr lang="zh-CN" altLang="en-US"/>
          </a:p>
        </p:txBody>
      </p:sp>
      <p:sp>
        <p:nvSpPr>
          <p:cNvPr id="394243" name="Rectangle 3"/>
          <p:cNvSpPr>
            <a:spLocks noGrp="1" noChangeArrowheads="1"/>
          </p:cNvSpPr>
          <p:nvPr>
            <p:ph type="body" idx="1"/>
          </p:nvPr>
        </p:nvSpPr>
        <p:spPr>
          <a:xfrm>
            <a:off x="457200" y="1719263"/>
            <a:ext cx="8229600" cy="4878387"/>
          </a:xfrm>
        </p:spPr>
        <p:txBody>
          <a:bodyPr/>
          <a:lstStyle/>
          <a:p>
            <a:pPr>
              <a:lnSpc>
                <a:spcPct val="90000"/>
              </a:lnSpc>
            </a:pPr>
            <a:r>
              <a:rPr lang="zh-CN" altLang="en-US" sz="2600"/>
              <a:t>当所要求解的问题是某种事件出现的概率，或者是某个随机变量的期望值时，它们可以通过某种“试验”的方法，得到这种事件出现的频率，或者这个随机变数的平均值，并用它们作为问题的解。</a:t>
            </a:r>
            <a:endParaRPr lang="zh-CN" altLang="en-US" sz="2600"/>
          </a:p>
          <a:p>
            <a:pPr>
              <a:lnSpc>
                <a:spcPct val="90000"/>
              </a:lnSpc>
            </a:pPr>
            <a:r>
              <a:rPr lang="zh-CN" altLang="en-US" sz="2600"/>
              <a:t>蒙特卡罗方法通过抓住事物运动的几何数量和几何特征，利用数学方法来加以模拟，即进行一种数字模拟实验。它是以一个概率模型为基础，按照这个模型所描绘的过程，通过模拟实验的结果，作为问题的近似解。</a:t>
            </a:r>
            <a:endParaRPr lang="zh-CN" altLang="en-US" sz="2600"/>
          </a:p>
          <a:p>
            <a:pPr>
              <a:lnSpc>
                <a:spcPct val="90000"/>
              </a:lnSpc>
            </a:pPr>
            <a:r>
              <a:rPr lang="zh-CN" altLang="en-US" sz="2600"/>
              <a:t>可以把蒙特卡罗解题归结为三个主要步骤：构造或描述概率过程；实现从已知概率分布抽样；建立各种估计量。 </a:t>
            </a:r>
            <a:endParaRPr lang="zh-CN" altLang="en-US" sz="2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94243">
                                            <p:txEl>
                                              <p:pRg st="0" end="0"/>
                                            </p:txEl>
                                          </p:spTgt>
                                        </p:tgtEl>
                                        <p:attrNameLst>
                                          <p:attrName>style.visibility</p:attrName>
                                        </p:attrNameLst>
                                      </p:cBhvr>
                                      <p:to>
                                        <p:strVal val="visible"/>
                                      </p:to>
                                    </p:set>
                                    <p:animEffect transition="in" filter="diamond(in)">
                                      <p:cBhvr>
                                        <p:cTn id="7" dur="2000"/>
                                        <p:tgtEl>
                                          <p:spTgt spid="394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94243">
                                            <p:txEl>
                                              <p:pRg st="1" end="1"/>
                                            </p:txEl>
                                          </p:spTgt>
                                        </p:tgtEl>
                                        <p:attrNameLst>
                                          <p:attrName>style.visibility</p:attrName>
                                        </p:attrNameLst>
                                      </p:cBhvr>
                                      <p:to>
                                        <p:strVal val="visible"/>
                                      </p:to>
                                    </p:set>
                                    <p:animEffect transition="in" filter="diamond(in)">
                                      <p:cBhvr>
                                        <p:cTn id="12" dur="2000"/>
                                        <p:tgtEl>
                                          <p:spTgt spid="3942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394243">
                                            <p:txEl>
                                              <p:pRg st="2" end="2"/>
                                            </p:txEl>
                                          </p:spTgt>
                                        </p:tgtEl>
                                        <p:attrNameLst>
                                          <p:attrName>style.visibility</p:attrName>
                                        </p:attrNameLst>
                                      </p:cBhvr>
                                      <p:to>
                                        <p:strVal val="visible"/>
                                      </p:to>
                                    </p:set>
                                    <p:animEffect transition="in" filter="diamond(in)">
                                      <p:cBhvr>
                                        <p:cTn id="17" dur="2000"/>
                                        <p:tgtEl>
                                          <p:spTgt spid="3942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987629FD-5CA0-4025-A2E2-E3034D201FE5}" type="slidenum">
              <a:rPr lang="en-US" altLang="zh-CN"/>
            </a:fld>
            <a:endParaRPr lang="en-US" altLang="zh-CN"/>
          </a:p>
        </p:txBody>
      </p:sp>
      <p:sp>
        <p:nvSpPr>
          <p:cNvPr id="395266" name="Rectangle 2"/>
          <p:cNvSpPr>
            <a:spLocks noChangeArrowheads="1"/>
          </p:cNvSpPr>
          <p:nvPr/>
        </p:nvSpPr>
        <p:spPr bwMode="auto">
          <a:xfrm>
            <a:off x="323850" y="39370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en-US" sz="3900" b="1">
                <a:solidFill>
                  <a:schemeClr val="tx2"/>
                </a:solidFill>
                <a:effectLst>
                  <a:outerShdw blurRad="38100" dist="38100" dir="2700000" algn="tl">
                    <a:srgbClr val="C0C0C0"/>
                  </a:outerShdw>
                </a:effectLst>
                <a:ea typeface="黑体" panose="02010609060101010101" pitchFamily="49" charset="-122"/>
              </a:rPr>
              <a:t>蒙特卡罗(Monte Carlo)算法</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395267" name="Text Box 3"/>
          <p:cNvSpPr txBox="1">
            <a:spLocks noChangeArrowheads="1"/>
          </p:cNvSpPr>
          <p:nvPr/>
        </p:nvSpPr>
        <p:spPr bwMode="auto">
          <a:xfrm>
            <a:off x="179388" y="1509713"/>
            <a:ext cx="8734425" cy="3935412"/>
          </a:xfrm>
          <a:prstGeom prst="rect">
            <a:avLst/>
          </a:prstGeom>
          <a:solidFill>
            <a:schemeClr val="bg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Font typeface="Wingdings" panose="05000000000000000000" pitchFamily="2" charset="2"/>
              <a:buChar char="n"/>
            </a:pPr>
            <a:r>
              <a:rPr lang="zh-CN" altLang="en-US" sz="2800">
                <a:ea typeface="新宋体" panose="02010609030101010101" charset="-122"/>
              </a:rPr>
              <a:t>设</a:t>
            </a:r>
            <a:r>
              <a:rPr lang="en-US" altLang="zh-CN" sz="2800">
                <a:ea typeface="新宋体" panose="02010609030101010101" charset="-122"/>
              </a:rPr>
              <a:t>p</a:t>
            </a:r>
            <a:r>
              <a:rPr lang="zh-CN" altLang="en-US" sz="2800">
                <a:ea typeface="新宋体" panose="02010609030101010101" charset="-122"/>
              </a:rPr>
              <a:t>是一个实数，且</a:t>
            </a:r>
            <a:r>
              <a:rPr lang="en-US" altLang="zh-CN" sz="2800">
                <a:ea typeface="新宋体" panose="02010609030101010101" charset="-122"/>
              </a:rPr>
              <a:t>1/2&lt;p&lt;1</a:t>
            </a:r>
            <a:r>
              <a:rPr lang="zh-CN" altLang="en-US" sz="2800">
                <a:ea typeface="新宋体" panose="02010609030101010101" charset="-122"/>
              </a:rPr>
              <a:t>。如果一个蒙特卡罗算法对于问题的任一实例得到正确解的概率不小于</a:t>
            </a:r>
            <a:r>
              <a:rPr lang="en-US" altLang="zh-CN" sz="2800">
                <a:ea typeface="新宋体" panose="02010609030101010101" charset="-122"/>
              </a:rPr>
              <a:t>p</a:t>
            </a:r>
            <a:r>
              <a:rPr lang="zh-CN" altLang="en-US" sz="2800">
                <a:ea typeface="新宋体" panose="02010609030101010101" charset="-122"/>
              </a:rPr>
              <a:t>，则称该蒙特卡罗算法是</a:t>
            </a:r>
            <a:r>
              <a:rPr lang="en-US" altLang="zh-CN" sz="2800" b="1">
                <a:solidFill>
                  <a:srgbClr val="CC3300"/>
                </a:solidFill>
                <a:ea typeface="新宋体" panose="02010609030101010101" charset="-122"/>
              </a:rPr>
              <a:t>p</a:t>
            </a:r>
            <a:r>
              <a:rPr lang="zh-CN" altLang="en-US" sz="2800" b="1">
                <a:solidFill>
                  <a:srgbClr val="CC3300"/>
                </a:solidFill>
                <a:ea typeface="黑体" panose="02010609060101010101" pitchFamily="49" charset="-122"/>
              </a:rPr>
              <a:t>正确</a:t>
            </a:r>
            <a:r>
              <a:rPr lang="zh-CN" altLang="en-US" sz="2800">
                <a:ea typeface="新宋体" panose="02010609030101010101" charset="-122"/>
              </a:rPr>
              <a:t>的，且称</a:t>
            </a:r>
            <a:r>
              <a:rPr lang="en-US" altLang="zh-CN" sz="2800">
                <a:ea typeface="新宋体" panose="02010609030101010101" charset="-122"/>
              </a:rPr>
              <a:t>p-1/2</a:t>
            </a:r>
            <a:r>
              <a:rPr lang="zh-CN" altLang="en-US" sz="2800">
                <a:ea typeface="新宋体" panose="02010609030101010101" charset="-122"/>
              </a:rPr>
              <a:t>是该算法的</a:t>
            </a:r>
            <a:r>
              <a:rPr lang="zh-CN" altLang="en-US" sz="2800" b="1">
                <a:solidFill>
                  <a:srgbClr val="CC3300"/>
                </a:solidFill>
                <a:ea typeface="黑体" panose="02010609060101010101" pitchFamily="49" charset="-122"/>
              </a:rPr>
              <a:t>优势</a:t>
            </a:r>
            <a:r>
              <a:rPr lang="zh-CN" altLang="en-US" sz="2800">
                <a:ea typeface="新宋体" panose="02010609030101010101" charset="-122"/>
              </a:rPr>
              <a:t>。</a:t>
            </a:r>
            <a:endParaRPr lang="zh-CN" altLang="en-US" sz="2800">
              <a:ea typeface="新宋体" panose="02010609030101010101" charset="-122"/>
            </a:endParaRPr>
          </a:p>
          <a:p>
            <a:pPr>
              <a:buClr>
                <a:schemeClr val="accent2"/>
              </a:buClr>
              <a:buFont typeface="Wingdings" panose="05000000000000000000" pitchFamily="2" charset="2"/>
              <a:buChar char="n"/>
            </a:pPr>
            <a:r>
              <a:rPr lang="zh-CN" altLang="en-US" sz="2800">
                <a:ea typeface="新宋体" panose="02010609030101010101" charset="-122"/>
              </a:rPr>
              <a:t>如果对于同一实例，蒙特卡罗算法不会给出</a:t>
            </a:r>
            <a:r>
              <a:rPr lang="en-US" altLang="zh-CN" sz="2800">
                <a:ea typeface="新宋体" panose="02010609030101010101" charset="-122"/>
              </a:rPr>
              <a:t>2</a:t>
            </a:r>
            <a:r>
              <a:rPr lang="zh-CN" altLang="en-US" sz="2800">
                <a:ea typeface="新宋体" panose="02010609030101010101" charset="-122"/>
              </a:rPr>
              <a:t>个不同的正确解答，则称该蒙特卡罗算法是</a:t>
            </a:r>
            <a:r>
              <a:rPr lang="zh-CN" altLang="en-US" sz="2800" b="1">
                <a:solidFill>
                  <a:srgbClr val="CC3300"/>
                </a:solidFill>
                <a:ea typeface="黑体" panose="02010609060101010101" pitchFamily="49" charset="-122"/>
              </a:rPr>
              <a:t>一致的</a:t>
            </a:r>
            <a:r>
              <a:rPr lang="zh-CN" altLang="en-US" sz="2800">
                <a:ea typeface="新宋体" panose="02010609030101010101" charset="-122"/>
              </a:rPr>
              <a:t>。</a:t>
            </a:r>
            <a:endParaRPr lang="zh-CN" altLang="en-US" sz="2800">
              <a:ea typeface="新宋体" panose="02010609030101010101" charset="-122"/>
            </a:endParaRPr>
          </a:p>
          <a:p>
            <a:pPr>
              <a:buClr>
                <a:schemeClr val="accent2"/>
              </a:buClr>
              <a:buFont typeface="Wingdings" panose="05000000000000000000" pitchFamily="2" charset="2"/>
              <a:buChar char="n"/>
            </a:pPr>
            <a:r>
              <a:rPr lang="zh-CN" altLang="en-US" sz="2800">
                <a:ea typeface="新宋体" panose="02010609030101010101" charset="-122"/>
              </a:rPr>
              <a:t>有些蒙特卡罗算法除了具有描述问题实例的输入参数外，还具有描述错误解可接受概率的参数。这类算法的计算时间复杂性通常由问题的实例规模以及错误解可接受概率的函数来描述。</a:t>
            </a:r>
            <a:endParaRPr lang="zh-CN" altLang="en-US" sz="2800">
              <a:ea typeface="新宋体" panose="02010609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95267">
                                            <p:txEl>
                                              <p:pRg st="0" end="0"/>
                                            </p:txEl>
                                          </p:spTgt>
                                        </p:tgtEl>
                                        <p:attrNameLst>
                                          <p:attrName>style.visibility</p:attrName>
                                        </p:attrNameLst>
                                      </p:cBhvr>
                                      <p:to>
                                        <p:strVal val="visible"/>
                                      </p:to>
                                    </p:set>
                                    <p:animEffect transition="in" filter="wipe(up)">
                                      <p:cBhvr>
                                        <p:cTn id="7" dur="500"/>
                                        <p:tgtEl>
                                          <p:spTgt spid="395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95267">
                                            <p:txEl>
                                              <p:pRg st="1" end="1"/>
                                            </p:txEl>
                                          </p:spTgt>
                                        </p:tgtEl>
                                        <p:attrNameLst>
                                          <p:attrName>style.visibility</p:attrName>
                                        </p:attrNameLst>
                                      </p:cBhvr>
                                      <p:to>
                                        <p:strVal val="visible"/>
                                      </p:to>
                                    </p:set>
                                    <p:animEffect transition="in" filter="wipe(up)">
                                      <p:cBhvr>
                                        <p:cTn id="12" dur="500"/>
                                        <p:tgtEl>
                                          <p:spTgt spid="3952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95267">
                                            <p:txEl>
                                              <p:pRg st="2" end="2"/>
                                            </p:txEl>
                                          </p:spTgt>
                                        </p:tgtEl>
                                        <p:attrNameLst>
                                          <p:attrName>style.visibility</p:attrName>
                                        </p:attrNameLst>
                                      </p:cBhvr>
                                      <p:to>
                                        <p:strVal val="visible"/>
                                      </p:to>
                                    </p:set>
                                    <p:animEffect transition="in" filter="wipe(up)">
                                      <p:cBhvr>
                                        <p:cTn id="17" dur="500"/>
                                        <p:tgtEl>
                                          <p:spTgt spid="3952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fld id="{DDE51E58-2365-44D4-B63C-984A9FED5431}" type="slidenum">
              <a:rPr lang="en-US" altLang="zh-CN"/>
            </a:fld>
            <a:endParaRPr lang="en-US" altLang="zh-CN"/>
          </a:p>
        </p:txBody>
      </p:sp>
      <p:sp>
        <p:nvSpPr>
          <p:cNvPr id="396290" name="Rectangle 2"/>
          <p:cNvSpPr>
            <a:spLocks noChangeArrowheads="1"/>
          </p:cNvSpPr>
          <p:nvPr/>
        </p:nvSpPr>
        <p:spPr bwMode="auto">
          <a:xfrm>
            <a:off x="250825" y="188913"/>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en-US" sz="3900" b="1">
                <a:solidFill>
                  <a:schemeClr val="tx2"/>
                </a:solidFill>
                <a:effectLst>
                  <a:outerShdw blurRad="38100" dist="38100" dir="2700000" algn="tl">
                    <a:srgbClr val="C0C0C0"/>
                  </a:outerShdw>
                </a:effectLst>
                <a:ea typeface="黑体" panose="02010609060101010101" pitchFamily="49" charset="-122"/>
              </a:rPr>
              <a:t>蒙特卡罗(Monte Carlo)算法</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396291" name="Text Box 3"/>
          <p:cNvSpPr txBox="1">
            <a:spLocks noChangeArrowheads="1"/>
          </p:cNvSpPr>
          <p:nvPr/>
        </p:nvSpPr>
        <p:spPr bwMode="auto">
          <a:xfrm>
            <a:off x="158750" y="927100"/>
            <a:ext cx="8805863" cy="1552575"/>
          </a:xfrm>
          <a:prstGeom prst="rect">
            <a:avLst/>
          </a:prstGeom>
          <a:solidFill>
            <a:schemeClr val="bg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pPr>
            <a:r>
              <a:rPr lang="zh-CN" altLang="en-US" sz="2400">
                <a:ea typeface="新宋体" panose="02010609030101010101" charset="-122"/>
              </a:rPr>
              <a:t>对于一个一致的</a:t>
            </a:r>
            <a:r>
              <a:rPr lang="en-US" altLang="zh-CN" sz="2400">
                <a:ea typeface="新宋体" panose="02010609030101010101" charset="-122"/>
              </a:rPr>
              <a:t>p</a:t>
            </a:r>
            <a:r>
              <a:rPr lang="zh-CN" altLang="en-US" sz="2400">
                <a:ea typeface="新宋体" panose="02010609030101010101" charset="-122"/>
              </a:rPr>
              <a:t>正确蒙特卡罗算法，要提高获得正确解的概率，只要执行该算法若干次，并选择出现频次最高的解即可。</a:t>
            </a:r>
            <a:endParaRPr lang="zh-CN" altLang="en-US" sz="2400">
              <a:ea typeface="新宋体" panose="02010609030101010101" charset="-122"/>
            </a:endParaRPr>
          </a:p>
          <a:p>
            <a:pPr>
              <a:buClr>
                <a:schemeClr val="accent2"/>
              </a:buClr>
            </a:pPr>
            <a:r>
              <a:rPr lang="zh-CN" altLang="en-US" sz="2400">
                <a:ea typeface="新宋体" panose="02010609030101010101" charset="-122"/>
              </a:rPr>
              <a:t>如果重复调用一个一致的</a:t>
            </a:r>
            <a:r>
              <a:rPr lang="en-US" altLang="zh-CN" sz="2400">
                <a:ea typeface="新宋体" panose="02010609030101010101" charset="-122"/>
              </a:rPr>
              <a:t>(1/2+</a:t>
            </a:r>
            <a:r>
              <a:rPr lang="en-US" altLang="zh-CN" sz="2400">
                <a:ea typeface="新宋体" panose="02010609030101010101" charset="-122"/>
                <a:sym typeface="Symbol" panose="05050102010706020507" pitchFamily="18" charset="2"/>
              </a:rPr>
              <a:t></a:t>
            </a:r>
            <a:r>
              <a:rPr lang="en-US" altLang="zh-CN" sz="2400">
                <a:ea typeface="新宋体" panose="02010609030101010101" charset="-122"/>
              </a:rPr>
              <a:t>)</a:t>
            </a:r>
            <a:r>
              <a:rPr lang="zh-CN" altLang="en-US" sz="2400">
                <a:ea typeface="新宋体" panose="02010609030101010101" charset="-122"/>
              </a:rPr>
              <a:t>正确的蒙特卡罗算法</a:t>
            </a:r>
            <a:r>
              <a:rPr lang="en-US" altLang="zh-CN" sz="2400">
                <a:ea typeface="新宋体" panose="02010609030101010101" charset="-122"/>
              </a:rPr>
              <a:t>2m-1</a:t>
            </a:r>
            <a:r>
              <a:rPr lang="zh-CN" altLang="en-US" sz="2400">
                <a:ea typeface="新宋体" panose="02010609030101010101" charset="-122"/>
              </a:rPr>
              <a:t>次，得到正确解的概率至少为</a:t>
            </a:r>
            <a:r>
              <a:rPr lang="en-US" altLang="zh-CN" sz="2400">
                <a:ea typeface="新宋体" panose="02010609030101010101" charset="-122"/>
              </a:rPr>
              <a:t>1-</a:t>
            </a:r>
            <a:r>
              <a:rPr lang="en-US" altLang="zh-CN" sz="2400">
                <a:ea typeface="新宋体" panose="02010609030101010101" charset="-122"/>
                <a:sym typeface="Symbol" panose="05050102010706020507" pitchFamily="18" charset="2"/>
              </a:rPr>
              <a:t></a:t>
            </a:r>
            <a:r>
              <a:rPr lang="zh-CN" altLang="en-US" sz="2400">
                <a:ea typeface="新宋体" panose="02010609030101010101" charset="-122"/>
              </a:rPr>
              <a:t>，其中，</a:t>
            </a:r>
            <a:endParaRPr lang="zh-CN" altLang="en-US" sz="2400">
              <a:ea typeface="新宋体" panose="02010609030101010101" charset="-122"/>
            </a:endParaRPr>
          </a:p>
        </p:txBody>
      </p:sp>
      <p:sp>
        <p:nvSpPr>
          <p:cNvPr id="396292" name="Rectangle 4"/>
          <p:cNvSpPr>
            <a:spLocks noChangeArrowheads="1"/>
          </p:cNvSpPr>
          <p:nvPr/>
        </p:nvSpPr>
        <p:spPr bwMode="auto">
          <a:xfrm>
            <a:off x="0" y="320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aphicFrame>
        <p:nvGraphicFramePr>
          <p:cNvPr id="396293" name="Object 5"/>
          <p:cNvGraphicFramePr>
            <a:graphicFrameLocks noChangeAspect="1"/>
          </p:cNvGraphicFramePr>
          <p:nvPr/>
        </p:nvGraphicFramePr>
        <p:xfrm>
          <a:off x="2463800" y="2482850"/>
          <a:ext cx="3927475" cy="762000"/>
        </p:xfrm>
        <a:graphic>
          <a:graphicData uri="http://schemas.openxmlformats.org/presentationml/2006/ole">
            <mc:AlternateContent xmlns:mc="http://schemas.openxmlformats.org/markup-compatibility/2006">
              <mc:Choice xmlns:v="urn:schemas-microsoft-com:vml" Requires="v">
                <p:oleObj spid="_x0000_s396297" name="公式" r:id="rId1" imgW="2374900" imgH="457200" progId="Equation.3">
                  <p:embed/>
                </p:oleObj>
              </mc:Choice>
              <mc:Fallback>
                <p:oleObj name="公式" r:id="rId1" imgW="2374900" imgH="4572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3800" y="2482850"/>
                        <a:ext cx="3927475"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6294" name="Text Box 6"/>
          <p:cNvSpPr txBox="1">
            <a:spLocks noChangeArrowheads="1"/>
          </p:cNvSpPr>
          <p:nvPr/>
        </p:nvSpPr>
        <p:spPr bwMode="auto">
          <a:xfrm>
            <a:off x="231775" y="3303588"/>
            <a:ext cx="86614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a:latin typeface="Arial" panose="020B0604020202020204" pitchFamily="34" charset="0"/>
                <a:ea typeface="新宋体" panose="02010609030101010101" charset="-122"/>
              </a:rPr>
              <a:t>对于一个解所给问题的蒙特卡罗算法</a:t>
            </a:r>
            <a:r>
              <a:rPr kumimoji="0" lang="en-US" altLang="zh-CN">
                <a:latin typeface="Arial" panose="020B0604020202020204" pitchFamily="34" charset="0"/>
                <a:ea typeface="新宋体" panose="02010609030101010101" charset="-122"/>
              </a:rPr>
              <a:t>MC(x)</a:t>
            </a:r>
            <a:r>
              <a:rPr kumimoji="0" lang="zh-CN" altLang="en-US">
                <a:latin typeface="Arial" panose="020B0604020202020204" pitchFamily="34" charset="0"/>
                <a:ea typeface="新宋体" panose="02010609030101010101" charset="-122"/>
              </a:rPr>
              <a:t>，如果存在问题实例的子集</a:t>
            </a:r>
            <a:r>
              <a:rPr kumimoji="0" lang="en-US" altLang="zh-CN">
                <a:latin typeface="Arial" panose="020B0604020202020204" pitchFamily="34" charset="0"/>
                <a:ea typeface="新宋体" panose="02010609030101010101" charset="-122"/>
              </a:rPr>
              <a:t>X</a:t>
            </a:r>
            <a:r>
              <a:rPr kumimoji="0" lang="zh-CN" altLang="en-US">
                <a:latin typeface="Arial" panose="020B0604020202020204" pitchFamily="34" charset="0"/>
                <a:ea typeface="新宋体" panose="02010609030101010101" charset="-122"/>
              </a:rPr>
              <a:t>使得：</a:t>
            </a:r>
            <a:endParaRPr kumimoji="0" lang="zh-CN" altLang="en-US">
              <a:latin typeface="Arial" panose="020B0604020202020204" pitchFamily="34" charset="0"/>
              <a:ea typeface="新宋体" panose="02010609030101010101" charset="-122"/>
            </a:endParaRPr>
          </a:p>
          <a:p>
            <a:r>
              <a:rPr kumimoji="0" lang="en-US" altLang="zh-CN">
                <a:latin typeface="Arial" panose="020B0604020202020204" pitchFamily="34" charset="0"/>
                <a:ea typeface="新宋体" panose="02010609030101010101" charset="-122"/>
              </a:rPr>
              <a:t>(1)</a:t>
            </a:r>
            <a:r>
              <a:rPr kumimoji="0" lang="zh-CN" altLang="en-US">
                <a:latin typeface="Arial" panose="020B0604020202020204" pitchFamily="34" charset="0"/>
                <a:ea typeface="新宋体" panose="02010609030101010101" charset="-122"/>
              </a:rPr>
              <a:t>当</a:t>
            </a:r>
            <a:r>
              <a:rPr kumimoji="0" lang="en-US" altLang="zh-CN">
                <a:latin typeface="Arial" panose="020B0604020202020204" pitchFamily="34" charset="0"/>
                <a:ea typeface="新宋体" panose="02010609030101010101" charset="-122"/>
              </a:rPr>
              <a:t>x</a:t>
            </a:r>
            <a:r>
              <a:rPr kumimoji="0" lang="en-US" altLang="zh-CN">
                <a:latin typeface="Arial" panose="020B0604020202020204" pitchFamily="34" charset="0"/>
                <a:ea typeface="新宋体" panose="02010609030101010101" charset="-122"/>
                <a:sym typeface="Symbol" panose="05050102010706020507" pitchFamily="18" charset="2"/>
              </a:rPr>
              <a:t></a:t>
            </a:r>
            <a:r>
              <a:rPr kumimoji="0" lang="en-US" altLang="zh-CN">
                <a:latin typeface="Arial" panose="020B0604020202020204" pitchFamily="34" charset="0"/>
                <a:ea typeface="新宋体" panose="02010609030101010101" charset="-122"/>
              </a:rPr>
              <a:t>X</a:t>
            </a:r>
            <a:r>
              <a:rPr kumimoji="0" lang="zh-CN" altLang="en-US">
                <a:latin typeface="Arial" panose="020B0604020202020204" pitchFamily="34" charset="0"/>
                <a:ea typeface="新宋体" panose="02010609030101010101" charset="-122"/>
              </a:rPr>
              <a:t>时，</a:t>
            </a:r>
            <a:r>
              <a:rPr kumimoji="0" lang="en-US" altLang="zh-CN">
                <a:latin typeface="Arial" panose="020B0604020202020204" pitchFamily="34" charset="0"/>
                <a:ea typeface="新宋体" panose="02010609030101010101" charset="-122"/>
              </a:rPr>
              <a:t>MC(x)</a:t>
            </a:r>
            <a:r>
              <a:rPr kumimoji="0" lang="zh-CN" altLang="en-US">
                <a:latin typeface="Arial" panose="020B0604020202020204" pitchFamily="34" charset="0"/>
                <a:ea typeface="新宋体" panose="02010609030101010101" charset="-122"/>
              </a:rPr>
              <a:t>返回的解是正确的；</a:t>
            </a:r>
            <a:endParaRPr kumimoji="0" lang="zh-CN" altLang="en-US">
              <a:latin typeface="Arial" panose="020B0604020202020204" pitchFamily="34" charset="0"/>
              <a:ea typeface="新宋体" panose="02010609030101010101" charset="-122"/>
            </a:endParaRPr>
          </a:p>
          <a:p>
            <a:r>
              <a:rPr kumimoji="0" lang="en-US" altLang="zh-CN">
                <a:latin typeface="Arial" panose="020B0604020202020204" pitchFamily="34" charset="0"/>
                <a:ea typeface="新宋体" panose="02010609030101010101" charset="-122"/>
              </a:rPr>
              <a:t>(2)</a:t>
            </a:r>
            <a:r>
              <a:rPr kumimoji="0" lang="zh-CN" altLang="en-US">
                <a:latin typeface="Arial" panose="020B0604020202020204" pitchFamily="34" charset="0"/>
                <a:ea typeface="新宋体" panose="02010609030101010101" charset="-122"/>
              </a:rPr>
              <a:t>当</a:t>
            </a:r>
            <a:r>
              <a:rPr kumimoji="0" lang="en-US" altLang="zh-CN">
                <a:latin typeface="Arial" panose="020B0604020202020204" pitchFamily="34" charset="0"/>
                <a:ea typeface="新宋体" panose="02010609030101010101" charset="-122"/>
              </a:rPr>
              <a:t>x</a:t>
            </a:r>
            <a:r>
              <a:rPr kumimoji="0" lang="en-US" altLang="zh-CN">
                <a:latin typeface="Arial" panose="020B0604020202020204" pitchFamily="34" charset="0"/>
                <a:ea typeface="新宋体" panose="02010609030101010101" charset="-122"/>
                <a:sym typeface="Symbol" panose="05050102010706020507" pitchFamily="18" charset="2"/>
              </a:rPr>
              <a:t></a:t>
            </a:r>
            <a:r>
              <a:rPr kumimoji="0" lang="en-US" altLang="zh-CN">
                <a:latin typeface="Arial" panose="020B0604020202020204" pitchFamily="34" charset="0"/>
                <a:ea typeface="新宋体" panose="02010609030101010101" charset="-122"/>
              </a:rPr>
              <a:t>X</a:t>
            </a:r>
            <a:r>
              <a:rPr kumimoji="0" lang="zh-CN" altLang="en-US">
                <a:latin typeface="Arial" panose="020B0604020202020204" pitchFamily="34" charset="0"/>
                <a:ea typeface="新宋体" panose="02010609030101010101" charset="-122"/>
              </a:rPr>
              <a:t>时，正确解是</a:t>
            </a:r>
            <a:r>
              <a:rPr kumimoji="0" lang="en-US" altLang="zh-CN">
                <a:latin typeface="Arial" panose="020B0604020202020204" pitchFamily="34" charset="0"/>
                <a:ea typeface="新宋体" panose="02010609030101010101" charset="-122"/>
              </a:rPr>
              <a:t>y</a:t>
            </a:r>
            <a:r>
              <a:rPr kumimoji="0" lang="en-US" altLang="zh-CN" baseline="-25000">
                <a:latin typeface="Arial" panose="020B0604020202020204" pitchFamily="34" charset="0"/>
                <a:ea typeface="新宋体" panose="02010609030101010101" charset="-122"/>
              </a:rPr>
              <a:t>0</a:t>
            </a:r>
            <a:r>
              <a:rPr kumimoji="0" lang="zh-CN" altLang="en-US">
                <a:latin typeface="Arial" panose="020B0604020202020204" pitchFamily="34" charset="0"/>
                <a:ea typeface="新宋体" panose="02010609030101010101" charset="-122"/>
              </a:rPr>
              <a:t>，但</a:t>
            </a:r>
            <a:r>
              <a:rPr kumimoji="0" lang="en-US" altLang="zh-CN">
                <a:latin typeface="Arial" panose="020B0604020202020204" pitchFamily="34" charset="0"/>
                <a:ea typeface="新宋体" panose="02010609030101010101" charset="-122"/>
              </a:rPr>
              <a:t>MC(x)</a:t>
            </a:r>
            <a:r>
              <a:rPr kumimoji="0" lang="zh-CN" altLang="en-US">
                <a:latin typeface="Arial" panose="020B0604020202020204" pitchFamily="34" charset="0"/>
                <a:ea typeface="新宋体" panose="02010609030101010101" charset="-122"/>
              </a:rPr>
              <a:t>返回的解未必是</a:t>
            </a:r>
            <a:r>
              <a:rPr kumimoji="0" lang="en-US" altLang="zh-CN">
                <a:latin typeface="Arial" panose="020B0604020202020204" pitchFamily="34" charset="0"/>
                <a:ea typeface="新宋体" panose="02010609030101010101" charset="-122"/>
              </a:rPr>
              <a:t>y</a:t>
            </a:r>
            <a:r>
              <a:rPr kumimoji="0" lang="en-US" altLang="zh-CN" baseline="-25000">
                <a:latin typeface="Arial" panose="020B0604020202020204" pitchFamily="34" charset="0"/>
                <a:ea typeface="新宋体" panose="02010609030101010101" charset="-122"/>
              </a:rPr>
              <a:t>0</a:t>
            </a:r>
            <a:r>
              <a:rPr kumimoji="0" lang="zh-CN" altLang="en-US">
                <a:latin typeface="Arial" panose="020B0604020202020204" pitchFamily="34" charset="0"/>
                <a:ea typeface="新宋体" panose="02010609030101010101" charset="-122"/>
              </a:rPr>
              <a:t>。</a:t>
            </a:r>
            <a:endParaRPr kumimoji="0" lang="zh-CN" altLang="en-US">
              <a:latin typeface="Arial" panose="020B0604020202020204" pitchFamily="34" charset="0"/>
              <a:ea typeface="新宋体" panose="02010609030101010101" charset="-122"/>
            </a:endParaRPr>
          </a:p>
          <a:p>
            <a:r>
              <a:rPr kumimoji="0" lang="zh-CN" altLang="en-US">
                <a:latin typeface="Arial" panose="020B0604020202020204" pitchFamily="34" charset="0"/>
                <a:ea typeface="新宋体" panose="02010609030101010101" charset="-122"/>
              </a:rPr>
              <a:t>称上述算法</a:t>
            </a:r>
            <a:r>
              <a:rPr kumimoji="0" lang="en-US" altLang="zh-CN">
                <a:latin typeface="Arial" panose="020B0604020202020204" pitchFamily="34" charset="0"/>
                <a:ea typeface="新宋体" panose="02010609030101010101" charset="-122"/>
              </a:rPr>
              <a:t>MC(x)</a:t>
            </a:r>
            <a:r>
              <a:rPr kumimoji="0" lang="zh-CN" altLang="en-US">
                <a:latin typeface="新宋体" panose="02010609030101010101" charset="-122"/>
                <a:ea typeface="新宋体" panose="02010609030101010101" charset="-122"/>
              </a:rPr>
              <a:t>是</a:t>
            </a:r>
            <a:r>
              <a:rPr kumimoji="0" lang="zh-CN" altLang="en-US">
                <a:latin typeface="黑体" panose="02010609060101010101" pitchFamily="49" charset="-122"/>
                <a:ea typeface="黑体" panose="02010609060101010101" pitchFamily="49" charset="-122"/>
              </a:rPr>
              <a:t>偏</a:t>
            </a:r>
            <a:r>
              <a:rPr kumimoji="0" lang="en-US" altLang="zh-CN">
                <a:latin typeface="黑体" panose="02010609060101010101" pitchFamily="49" charset="-122"/>
                <a:ea typeface="黑体" panose="02010609060101010101" pitchFamily="49" charset="-122"/>
              </a:rPr>
              <a:t>y</a:t>
            </a:r>
            <a:r>
              <a:rPr kumimoji="0" lang="en-US" altLang="zh-CN" baseline="-25000">
                <a:latin typeface="Arial" panose="020B0604020202020204" pitchFamily="34" charset="0"/>
                <a:ea typeface="新宋体" panose="02010609030101010101" charset="-122"/>
              </a:rPr>
              <a:t>0</a:t>
            </a:r>
            <a:r>
              <a:rPr kumimoji="0" lang="zh-CN" altLang="en-US">
                <a:latin typeface="黑体" panose="02010609060101010101" pitchFamily="49" charset="-122"/>
                <a:ea typeface="黑体" panose="02010609060101010101" pitchFamily="49" charset="-122"/>
              </a:rPr>
              <a:t>的算法</a:t>
            </a:r>
            <a:r>
              <a:rPr kumimoji="0" lang="zh-CN" altLang="en-US">
                <a:latin typeface="Arial" panose="020B0604020202020204" pitchFamily="34" charset="0"/>
                <a:ea typeface="新宋体" panose="02010609030101010101" charset="-122"/>
              </a:rPr>
              <a:t>。</a:t>
            </a:r>
            <a:endParaRPr kumimoji="0" lang="zh-CN" altLang="en-US">
              <a:latin typeface="Arial" panose="020B0604020202020204" pitchFamily="34" charset="0"/>
              <a:ea typeface="新宋体" panose="02010609030101010101" charset="-122"/>
            </a:endParaRPr>
          </a:p>
        </p:txBody>
      </p:sp>
      <p:sp>
        <p:nvSpPr>
          <p:cNvPr id="396295" name="Text Box 7"/>
          <p:cNvSpPr txBox="1">
            <a:spLocks noChangeArrowheads="1"/>
          </p:cNvSpPr>
          <p:nvPr/>
        </p:nvSpPr>
        <p:spPr bwMode="auto">
          <a:xfrm>
            <a:off x="250825" y="5300663"/>
            <a:ext cx="8424863" cy="1238250"/>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重复调用一个一致的，</a:t>
            </a:r>
            <a:r>
              <a:rPr lang="en-US" altLang="zh-CN" sz="2400">
                <a:ea typeface="新宋体" panose="02010609030101010101" charset="-122"/>
              </a:rPr>
              <a:t>p</a:t>
            </a:r>
            <a:r>
              <a:rPr lang="zh-CN" altLang="en-US" sz="2400">
                <a:ea typeface="新宋体" panose="02010609030101010101" charset="-122"/>
              </a:rPr>
              <a:t>正确偏</a:t>
            </a:r>
            <a:r>
              <a:rPr lang="en-US" altLang="zh-CN" sz="2400">
                <a:ea typeface="新宋体" panose="02010609030101010101" charset="-122"/>
              </a:rPr>
              <a:t>y</a:t>
            </a:r>
            <a:r>
              <a:rPr lang="en-US" altLang="zh-CN" sz="2400" baseline="-25000">
                <a:ea typeface="新宋体" panose="02010609030101010101" charset="-122"/>
              </a:rPr>
              <a:t>0</a:t>
            </a:r>
            <a:r>
              <a:rPr lang="zh-CN" altLang="en-US" sz="2400">
                <a:ea typeface="新宋体" panose="02010609030101010101" charset="-122"/>
              </a:rPr>
              <a:t>蒙特卡罗算法</a:t>
            </a:r>
            <a:r>
              <a:rPr lang="en-US" altLang="zh-CN" sz="2400">
                <a:ea typeface="新宋体" panose="02010609030101010101" charset="-122"/>
              </a:rPr>
              <a:t>k</a:t>
            </a:r>
            <a:r>
              <a:rPr lang="zh-CN" altLang="en-US" sz="2400">
                <a:ea typeface="新宋体" panose="02010609030101010101" charset="-122"/>
              </a:rPr>
              <a:t>次，可得到一个</a:t>
            </a:r>
            <a:r>
              <a:rPr lang="en-US" altLang="zh-CN" sz="2400">
                <a:ea typeface="新宋体" panose="02010609030101010101" charset="-122"/>
              </a:rPr>
              <a:t>O(1-(1-p)</a:t>
            </a:r>
            <a:r>
              <a:rPr lang="en-US" altLang="zh-CN" sz="2400" baseline="30000">
                <a:ea typeface="新宋体" panose="02010609030101010101" charset="-122"/>
              </a:rPr>
              <a:t>k</a:t>
            </a:r>
            <a:r>
              <a:rPr lang="en-US" altLang="zh-CN" sz="2400">
                <a:ea typeface="新宋体" panose="02010609030101010101" charset="-122"/>
              </a:rPr>
              <a:t>)</a:t>
            </a:r>
            <a:r>
              <a:rPr lang="zh-CN" altLang="en-US" sz="2400">
                <a:ea typeface="新宋体" panose="02010609030101010101" charset="-122"/>
              </a:rPr>
              <a:t>正确的蒙特卡罗算法，且所得算法仍是一个一致的偏</a:t>
            </a:r>
            <a:r>
              <a:rPr lang="en-US" altLang="zh-CN" sz="2400">
                <a:ea typeface="新宋体" panose="02010609030101010101" charset="-122"/>
              </a:rPr>
              <a:t>y</a:t>
            </a:r>
            <a:r>
              <a:rPr lang="en-US" altLang="zh-CN" sz="2400" baseline="-25000">
                <a:ea typeface="新宋体" panose="02010609030101010101" charset="-122"/>
              </a:rPr>
              <a:t>0</a:t>
            </a:r>
            <a:r>
              <a:rPr lang="zh-CN" altLang="en-US" sz="2400">
                <a:ea typeface="新宋体" panose="02010609030101010101" charset="-122"/>
              </a:rPr>
              <a:t>蒙特卡罗算法。 </a:t>
            </a:r>
            <a:endParaRPr lang="zh-CN" altLang="en-US" sz="2400">
              <a:ea typeface="新宋体" panose="02010609030101010101" charset="-122"/>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81DF1C17-7758-4977-AF6F-74279658128B}" type="slidenum">
              <a:rPr lang="en-US" altLang="zh-CN"/>
            </a:fld>
            <a:endParaRPr lang="en-US" altLang="zh-CN"/>
          </a:p>
        </p:txBody>
      </p:sp>
      <p:sp>
        <p:nvSpPr>
          <p:cNvPr id="397314" name="Rectangle 2"/>
          <p:cNvSpPr>
            <a:spLocks noGrp="1" noChangeArrowheads="1"/>
          </p:cNvSpPr>
          <p:nvPr>
            <p:ph type="body" idx="1"/>
          </p:nvPr>
        </p:nvSpPr>
        <p:spPr>
          <a:xfrm>
            <a:off x="457200" y="1484313"/>
            <a:ext cx="8229600" cy="4646612"/>
          </a:xfrm>
        </p:spPr>
        <p:txBody>
          <a:bodyPr/>
          <a:lstStyle/>
          <a:p>
            <a:r>
              <a:rPr lang="zh-CN" altLang="en-US" b="1"/>
              <a:t>问题：</a:t>
            </a:r>
            <a:r>
              <a:rPr lang="zh-CN" altLang="en-US"/>
              <a:t>设</a:t>
            </a:r>
            <a:r>
              <a:rPr lang="en-US" altLang="zh-CN" i="1"/>
              <a:t>A</a:t>
            </a:r>
            <a:r>
              <a:rPr lang="en-US" altLang="zh-CN"/>
              <a:t>[1..</a:t>
            </a:r>
            <a:r>
              <a:rPr lang="en-US" altLang="zh-CN" i="1"/>
              <a:t>n</a:t>
            </a:r>
            <a:r>
              <a:rPr lang="en-US" altLang="zh-CN"/>
              <a:t>]</a:t>
            </a:r>
            <a:r>
              <a:rPr lang="zh-CN" altLang="en-US"/>
              <a:t>是一个含有</a:t>
            </a:r>
            <a:r>
              <a:rPr lang="en-US" altLang="zh-CN" i="1"/>
              <a:t>n</a:t>
            </a:r>
            <a:r>
              <a:rPr lang="zh-CN" altLang="en-US"/>
              <a:t>个元素的序列，若某元素在</a:t>
            </a:r>
            <a:r>
              <a:rPr lang="en-US" altLang="zh-CN" i="1"/>
              <a:t>A</a:t>
            </a:r>
            <a:r>
              <a:rPr lang="zh-CN" altLang="en-US"/>
              <a:t>中出现的次数超过了</a:t>
            </a:r>
            <a:r>
              <a:rPr lang="en-US" altLang="zh-CN" i="1"/>
              <a:t>A</a:t>
            </a:r>
            <a:r>
              <a:rPr lang="zh-CN" altLang="en-US"/>
              <a:t>中元素个数的一半，则该元素即为</a:t>
            </a:r>
            <a:r>
              <a:rPr lang="en-US" altLang="zh-CN" i="1"/>
              <a:t>A</a:t>
            </a:r>
            <a:r>
              <a:rPr lang="zh-CN" altLang="en-US"/>
              <a:t>的主元素。对于给定的序列</a:t>
            </a:r>
            <a:r>
              <a:rPr lang="en-US" altLang="zh-CN" i="1"/>
              <a:t>A</a:t>
            </a:r>
            <a:r>
              <a:rPr lang="zh-CN" altLang="en-US"/>
              <a:t>，试判断其中是否存在主元素，若存在则求之。</a:t>
            </a:r>
            <a:endParaRPr lang="zh-CN" altLang="en-US"/>
          </a:p>
          <a:p>
            <a:r>
              <a:rPr lang="zh-CN" altLang="en-US" b="1"/>
              <a:t>算法思想</a:t>
            </a:r>
            <a:endParaRPr lang="zh-CN" altLang="en-US" b="1"/>
          </a:p>
          <a:p>
            <a:pPr>
              <a:buFont typeface="Wingdings" panose="05000000000000000000" pitchFamily="2" charset="2"/>
              <a:buNone/>
            </a:pPr>
            <a:r>
              <a:rPr lang="zh-CN" altLang="en-US"/>
              <a:t>		  在序列中随机选择一元素，然后统计序列中该元素的次数，若次数超过</a:t>
            </a:r>
            <a:r>
              <a:rPr lang="en-US" altLang="zh-CN" i="1"/>
              <a:t>n</a:t>
            </a:r>
            <a:r>
              <a:rPr lang="en-US" altLang="zh-CN"/>
              <a:t>/2</a:t>
            </a:r>
            <a:r>
              <a:rPr lang="zh-CN" altLang="en-US"/>
              <a:t>，则其为主元素，否则返回不存在主元素的信息。</a:t>
            </a:r>
            <a:endParaRPr lang="zh-CN" altLang="en-US"/>
          </a:p>
        </p:txBody>
      </p:sp>
      <p:sp>
        <p:nvSpPr>
          <p:cNvPr id="397315" name="Rectangle 3"/>
          <p:cNvSpPr>
            <a:spLocks noChangeArrowheads="1"/>
          </p:cNvSpPr>
          <p:nvPr/>
        </p:nvSpPr>
        <p:spPr bwMode="auto">
          <a:xfrm>
            <a:off x="468313" y="188913"/>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en-US" sz="3900" b="1">
                <a:solidFill>
                  <a:schemeClr val="tx2"/>
                </a:solidFill>
                <a:effectLst>
                  <a:outerShdw blurRad="38100" dist="38100" dir="2700000" algn="tl">
                    <a:srgbClr val="C0C0C0"/>
                  </a:outerShdw>
                </a:effectLst>
                <a:ea typeface="黑体" panose="02010609060101010101" pitchFamily="49" charset="-122"/>
              </a:rPr>
              <a:t>主元素问题</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fld id="{C26190A0-1C40-4739-BB0A-97E679C705B2}" type="slidenum">
              <a:rPr lang="en-US" altLang="zh-CN"/>
            </a:fld>
            <a:endParaRPr lang="en-US" altLang="zh-CN"/>
          </a:p>
        </p:txBody>
      </p:sp>
      <p:sp>
        <p:nvSpPr>
          <p:cNvPr id="398338" name="Rectangle 2"/>
          <p:cNvSpPr>
            <a:spLocks noChangeArrowheads="1"/>
          </p:cNvSpPr>
          <p:nvPr/>
        </p:nvSpPr>
        <p:spPr bwMode="auto">
          <a:xfrm>
            <a:off x="468313" y="188913"/>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en-US" sz="3900" b="1">
                <a:solidFill>
                  <a:schemeClr val="tx2"/>
                </a:solidFill>
                <a:effectLst>
                  <a:outerShdw blurRad="38100" dist="38100" dir="2700000" algn="tl">
                    <a:srgbClr val="C0C0C0"/>
                  </a:outerShdw>
                </a:effectLst>
                <a:ea typeface="黑体" panose="02010609060101010101" pitchFamily="49" charset="-122"/>
              </a:rPr>
              <a:t>主元素问题</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398339" name="Text Box 3"/>
          <p:cNvSpPr txBox="1">
            <a:spLocks noChangeArrowheads="1"/>
          </p:cNvSpPr>
          <p:nvPr/>
        </p:nvSpPr>
        <p:spPr bwMode="auto">
          <a:xfrm>
            <a:off x="179388" y="908050"/>
            <a:ext cx="8516937" cy="822325"/>
          </a:xfrm>
          <a:prstGeom prst="rect">
            <a:avLst/>
          </a:prstGeom>
          <a:solidFill>
            <a:schemeClr val="bg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黑体" panose="02010609060101010101" pitchFamily="49" charset="-122"/>
                <a:ea typeface="黑体" panose="02010609060101010101" pitchFamily="49" charset="-122"/>
              </a:rPr>
              <a:t>设</a:t>
            </a:r>
            <a:r>
              <a:rPr lang="en-US" altLang="zh-CN" sz="2400">
                <a:latin typeface="黑体" panose="02010609060101010101" pitchFamily="49" charset="-122"/>
                <a:ea typeface="黑体" panose="02010609060101010101" pitchFamily="49" charset="-122"/>
              </a:rPr>
              <a:t>T[1:n]</a:t>
            </a:r>
            <a:r>
              <a:rPr lang="zh-CN" altLang="en-US" sz="2400">
                <a:latin typeface="黑体" panose="02010609060101010101" pitchFamily="49" charset="-122"/>
                <a:ea typeface="黑体" panose="02010609060101010101" pitchFamily="49" charset="-122"/>
              </a:rPr>
              <a:t>是一个含有</a:t>
            </a:r>
            <a:r>
              <a:rPr lang="en-US" altLang="zh-CN" sz="2400">
                <a:latin typeface="黑体" panose="02010609060101010101" pitchFamily="49" charset="-122"/>
                <a:ea typeface="黑体" panose="02010609060101010101" pitchFamily="49" charset="-122"/>
              </a:rPr>
              <a:t>n</a:t>
            </a:r>
            <a:r>
              <a:rPr lang="zh-CN" altLang="en-US" sz="2400">
                <a:latin typeface="黑体" panose="02010609060101010101" pitchFamily="49" charset="-122"/>
                <a:ea typeface="黑体" panose="02010609060101010101" pitchFamily="49" charset="-122"/>
              </a:rPr>
              <a:t>个元素的数组。当</a:t>
            </a:r>
            <a:r>
              <a:rPr lang="en-US" altLang="zh-CN" sz="2400">
                <a:latin typeface="黑体" panose="02010609060101010101" pitchFamily="49" charset="-122"/>
                <a:ea typeface="黑体" panose="02010609060101010101" pitchFamily="49" charset="-122"/>
              </a:rPr>
              <a:t>|{i|T[i]=x}|&gt;n/2</a:t>
            </a:r>
            <a:r>
              <a:rPr lang="zh-CN" altLang="en-US" sz="2400">
                <a:latin typeface="黑体" panose="02010609060101010101" pitchFamily="49" charset="-122"/>
                <a:ea typeface="黑体" panose="02010609060101010101" pitchFamily="49" charset="-122"/>
              </a:rPr>
              <a:t>时，称元素</a:t>
            </a:r>
            <a:r>
              <a:rPr lang="en-US" altLang="zh-CN" sz="2400">
                <a:latin typeface="黑体" panose="02010609060101010101" pitchFamily="49" charset="-122"/>
                <a:ea typeface="黑体" panose="02010609060101010101" pitchFamily="49" charset="-122"/>
              </a:rPr>
              <a:t>x</a:t>
            </a:r>
            <a:r>
              <a:rPr lang="zh-CN" altLang="en-US" sz="2400">
                <a:latin typeface="黑体" panose="02010609060101010101" pitchFamily="49" charset="-122"/>
                <a:ea typeface="黑体" panose="02010609060101010101" pitchFamily="49" charset="-122"/>
              </a:rPr>
              <a:t>是数组</a:t>
            </a:r>
            <a:r>
              <a:rPr lang="en-US" altLang="zh-CN" sz="2400">
                <a:latin typeface="黑体" panose="02010609060101010101" pitchFamily="49" charset="-122"/>
                <a:ea typeface="黑体" panose="02010609060101010101" pitchFamily="49" charset="-122"/>
              </a:rPr>
              <a:t>T</a:t>
            </a:r>
            <a:r>
              <a:rPr lang="zh-CN" altLang="en-US" sz="2400">
                <a:latin typeface="黑体" panose="02010609060101010101" pitchFamily="49" charset="-122"/>
                <a:ea typeface="黑体" panose="02010609060101010101" pitchFamily="49" charset="-122"/>
              </a:rPr>
              <a:t>的主元素。 </a:t>
            </a:r>
            <a:endParaRPr lang="zh-CN" altLang="en-US" sz="2400">
              <a:latin typeface="黑体" panose="02010609060101010101" pitchFamily="49" charset="-122"/>
              <a:ea typeface="黑体" panose="02010609060101010101" pitchFamily="49" charset="-122"/>
            </a:endParaRPr>
          </a:p>
        </p:txBody>
      </p:sp>
      <p:sp>
        <p:nvSpPr>
          <p:cNvPr id="398340" name="Text Box 4"/>
          <p:cNvSpPr txBox="1">
            <a:spLocks noChangeArrowheads="1"/>
          </p:cNvSpPr>
          <p:nvPr/>
        </p:nvSpPr>
        <p:spPr bwMode="auto">
          <a:xfrm>
            <a:off x="179388" y="1797050"/>
            <a:ext cx="3887787" cy="253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en-US" altLang="zh-CN" sz="1600"/>
              <a:t>template&lt;class Type&gt;</a:t>
            </a:r>
            <a:endParaRPr lang="en-US" altLang="zh-CN" sz="1600"/>
          </a:p>
          <a:p>
            <a:r>
              <a:rPr lang="en-US" altLang="zh-CN" sz="1600"/>
              <a:t>bool </a:t>
            </a:r>
            <a:r>
              <a:rPr lang="en-US" altLang="zh-CN" sz="1600" b="1"/>
              <a:t>Majority</a:t>
            </a:r>
            <a:r>
              <a:rPr lang="en-US" altLang="zh-CN" sz="1600"/>
              <a:t>(Type *T, int n)</a:t>
            </a:r>
            <a:endParaRPr lang="en-US" altLang="zh-CN" sz="1600"/>
          </a:p>
          <a:p>
            <a:r>
              <a:rPr lang="en-US" altLang="zh-CN" sz="1600"/>
              <a:t>{// </a:t>
            </a:r>
            <a:r>
              <a:rPr lang="zh-CN" altLang="en-US" sz="1600"/>
              <a:t>判定主元素的蒙特卡罗算法</a:t>
            </a:r>
            <a:endParaRPr lang="zh-CN" altLang="en-US" sz="1600"/>
          </a:p>
          <a:p>
            <a:r>
              <a:rPr lang="zh-CN" altLang="en-US" sz="1600"/>
              <a:t>    </a:t>
            </a:r>
            <a:r>
              <a:rPr lang="en-US" altLang="zh-CN" sz="1600"/>
              <a:t>int i=rnd.Random(n)+1;</a:t>
            </a:r>
            <a:endParaRPr lang="en-US" altLang="zh-CN" sz="1600"/>
          </a:p>
          <a:p>
            <a:r>
              <a:rPr lang="en-US" altLang="zh-CN" sz="1600"/>
              <a:t>    Type x=T[i];    // </a:t>
            </a:r>
            <a:r>
              <a:rPr lang="zh-CN" altLang="en-US" sz="1600"/>
              <a:t>随机选择数组元素</a:t>
            </a:r>
            <a:endParaRPr lang="zh-CN" altLang="en-US" sz="1600"/>
          </a:p>
          <a:p>
            <a:r>
              <a:rPr lang="zh-CN" altLang="en-US" sz="1600"/>
              <a:t>    </a:t>
            </a:r>
            <a:r>
              <a:rPr lang="en-US" altLang="zh-CN" sz="1600"/>
              <a:t>int k=0;</a:t>
            </a:r>
            <a:endParaRPr lang="en-US" altLang="zh-CN" sz="1600"/>
          </a:p>
          <a:p>
            <a:r>
              <a:rPr lang="en-US" altLang="zh-CN" sz="1600"/>
              <a:t>    for (int j=1;j&lt;=n;j++)</a:t>
            </a:r>
            <a:endParaRPr lang="en-US" altLang="zh-CN" sz="1600"/>
          </a:p>
          <a:p>
            <a:r>
              <a:rPr lang="en-US" altLang="zh-CN" sz="1600"/>
              <a:t>      if (T[j]==x) k++;</a:t>
            </a:r>
            <a:endParaRPr lang="en-US" altLang="zh-CN" sz="1600"/>
          </a:p>
          <a:p>
            <a:r>
              <a:rPr lang="en-US" altLang="zh-CN" sz="1600"/>
              <a:t>    return (k&gt;n/2);  // k&gt;n/2 </a:t>
            </a:r>
            <a:r>
              <a:rPr lang="zh-CN" altLang="en-US" sz="1600"/>
              <a:t>时</a:t>
            </a:r>
            <a:r>
              <a:rPr lang="en-US" altLang="zh-CN" sz="1600"/>
              <a:t>T</a:t>
            </a:r>
            <a:r>
              <a:rPr lang="zh-CN" altLang="en-US" sz="1600"/>
              <a:t>含有主元素</a:t>
            </a:r>
            <a:endParaRPr lang="zh-CN" altLang="en-US" sz="1600"/>
          </a:p>
          <a:p>
            <a:r>
              <a:rPr lang="en-US" altLang="zh-CN" sz="1600"/>
              <a:t>}</a:t>
            </a:r>
            <a:endParaRPr lang="en-US" altLang="zh-CN" sz="1600"/>
          </a:p>
        </p:txBody>
      </p:sp>
      <p:sp>
        <p:nvSpPr>
          <p:cNvPr id="398341" name="Text Box 5"/>
          <p:cNvSpPr txBox="1">
            <a:spLocks noChangeArrowheads="1"/>
          </p:cNvSpPr>
          <p:nvPr/>
        </p:nvSpPr>
        <p:spPr bwMode="auto">
          <a:xfrm>
            <a:off x="250825" y="4676775"/>
            <a:ext cx="3959225"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en-US" altLang="zh-CN" sz="1600"/>
              <a:t>template&lt;class Type&gt;</a:t>
            </a:r>
            <a:endParaRPr lang="en-US" altLang="zh-CN" sz="1600"/>
          </a:p>
          <a:p>
            <a:r>
              <a:rPr lang="en-US" altLang="zh-CN" sz="1600"/>
              <a:t>bool </a:t>
            </a:r>
            <a:r>
              <a:rPr lang="en-US" altLang="zh-CN" sz="1600" b="1"/>
              <a:t>MajorityMC</a:t>
            </a:r>
            <a:r>
              <a:rPr lang="en-US" altLang="zh-CN" sz="1600"/>
              <a:t>(Type *T, int n, double e)</a:t>
            </a:r>
            <a:endParaRPr lang="en-US" altLang="zh-CN" sz="1600"/>
          </a:p>
          <a:p>
            <a:r>
              <a:rPr lang="en-US" altLang="zh-CN" sz="1600"/>
              <a:t>{// </a:t>
            </a:r>
            <a:r>
              <a:rPr lang="zh-CN" altLang="en-US" sz="1600"/>
              <a:t>重复调用算法</a:t>
            </a:r>
            <a:r>
              <a:rPr lang="en-US" altLang="zh-CN" sz="1600"/>
              <a:t>Majority</a:t>
            </a:r>
            <a:endParaRPr lang="en-US" altLang="zh-CN" sz="1600"/>
          </a:p>
          <a:p>
            <a:r>
              <a:rPr lang="en-US" altLang="zh-CN" sz="1600"/>
              <a:t>    int k=ceil(log(1/e)/log(2));</a:t>
            </a:r>
            <a:endParaRPr lang="en-US" altLang="zh-CN" sz="1600"/>
          </a:p>
          <a:p>
            <a:r>
              <a:rPr lang="en-US" altLang="zh-CN" sz="1600"/>
              <a:t>    for (int i=1;i&lt;=k;i++)</a:t>
            </a:r>
            <a:endParaRPr lang="en-US" altLang="zh-CN" sz="1600"/>
          </a:p>
          <a:p>
            <a:r>
              <a:rPr lang="en-US" altLang="zh-CN" sz="1600"/>
              <a:t>      if (Majority(T,n)) return true;</a:t>
            </a:r>
            <a:endParaRPr lang="en-US" altLang="zh-CN" sz="1600"/>
          </a:p>
          <a:p>
            <a:r>
              <a:rPr lang="en-US" altLang="zh-CN" sz="1600"/>
              <a:t>    return false;</a:t>
            </a:r>
            <a:endParaRPr lang="en-US" altLang="zh-CN" sz="1600"/>
          </a:p>
          <a:p>
            <a:r>
              <a:rPr lang="en-US" altLang="zh-CN" sz="1600"/>
              <a:t>}</a:t>
            </a:r>
            <a:endParaRPr lang="en-US" altLang="zh-CN" sz="1600"/>
          </a:p>
        </p:txBody>
      </p:sp>
      <p:sp>
        <p:nvSpPr>
          <p:cNvPr id="398342" name="Text Box 6"/>
          <p:cNvSpPr txBox="1">
            <a:spLocks noChangeArrowheads="1"/>
          </p:cNvSpPr>
          <p:nvPr/>
        </p:nvSpPr>
        <p:spPr bwMode="auto">
          <a:xfrm>
            <a:off x="3995738" y="2276475"/>
            <a:ext cx="4895850" cy="2333625"/>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对于任何给定的</a:t>
            </a:r>
            <a:r>
              <a:rPr lang="zh-CN" altLang="en-US" sz="2400">
                <a:ea typeface="新宋体" panose="02010609030101010101" charset="-122"/>
                <a:sym typeface="Symbol" panose="05050102010706020507" pitchFamily="18" charset="2"/>
              </a:rPr>
              <a:t></a:t>
            </a:r>
            <a:r>
              <a:rPr lang="en-US" altLang="zh-CN" sz="2400">
                <a:ea typeface="新宋体" panose="02010609030101010101" charset="-122"/>
              </a:rPr>
              <a:t>&gt;0</a:t>
            </a:r>
            <a:r>
              <a:rPr lang="zh-CN" altLang="en-US" sz="2400">
                <a:ea typeface="新宋体" panose="02010609030101010101" charset="-122"/>
              </a:rPr>
              <a:t>，算法</a:t>
            </a:r>
            <a:r>
              <a:rPr lang="en-US" altLang="zh-CN" sz="2400" b="1">
                <a:ea typeface="新宋体" panose="02010609030101010101" charset="-122"/>
              </a:rPr>
              <a:t>majorityMC</a:t>
            </a:r>
            <a:r>
              <a:rPr lang="zh-CN" altLang="en-US" sz="2400">
                <a:ea typeface="新宋体" panose="02010609030101010101" charset="-122"/>
              </a:rPr>
              <a:t>重复调用</a:t>
            </a:r>
            <a:r>
              <a:rPr lang="zh-CN" altLang="en-US" sz="2400">
                <a:ea typeface="新宋体" panose="02010609030101010101" charset="-122"/>
                <a:sym typeface="Symbol" panose="05050102010706020507" pitchFamily="18" charset="2"/>
              </a:rPr>
              <a:t></a:t>
            </a:r>
            <a:r>
              <a:rPr lang="en-US" altLang="zh-CN" sz="2400">
                <a:ea typeface="新宋体" panose="02010609030101010101" charset="-122"/>
                <a:sym typeface="Symbol" panose="05050102010706020507" pitchFamily="18" charset="2"/>
              </a:rPr>
              <a:t>log(1/)</a:t>
            </a:r>
            <a:r>
              <a:rPr lang="en-US" altLang="zh-CN" sz="2400">
                <a:ea typeface="新宋体" panose="02010609030101010101" charset="-122"/>
              </a:rPr>
              <a:t> </a:t>
            </a:r>
            <a:r>
              <a:rPr lang="zh-CN" altLang="en-US" sz="2400">
                <a:ea typeface="新宋体" panose="02010609030101010101" charset="-122"/>
              </a:rPr>
              <a:t>次算法</a:t>
            </a:r>
            <a:r>
              <a:rPr lang="en-US" altLang="zh-CN" sz="2400" b="1">
                <a:ea typeface="新宋体" panose="02010609030101010101" charset="-122"/>
              </a:rPr>
              <a:t>majority</a:t>
            </a:r>
            <a:r>
              <a:rPr lang="zh-CN" altLang="en-US" sz="2400">
                <a:ea typeface="新宋体" panose="02010609030101010101" charset="-122"/>
              </a:rPr>
              <a:t>。它是一个偏真蒙特卡罗算法，且其错误概率小于</a:t>
            </a:r>
            <a:r>
              <a:rPr lang="zh-CN" altLang="en-US" sz="2400">
                <a:ea typeface="新宋体" panose="02010609030101010101" charset="-122"/>
                <a:sym typeface="Symbol" panose="05050102010706020507" pitchFamily="18" charset="2"/>
              </a:rPr>
              <a:t></a:t>
            </a:r>
            <a:r>
              <a:rPr lang="zh-CN" altLang="en-US" sz="2400">
                <a:ea typeface="新宋体" panose="02010609030101010101" charset="-122"/>
              </a:rPr>
              <a:t>。算法</a:t>
            </a:r>
            <a:r>
              <a:rPr lang="en-US" altLang="zh-CN" sz="2400" b="1">
                <a:ea typeface="新宋体" panose="02010609030101010101" charset="-122"/>
              </a:rPr>
              <a:t>majorityMC</a:t>
            </a:r>
            <a:r>
              <a:rPr lang="zh-CN" altLang="en-US" sz="2400">
                <a:ea typeface="新宋体" panose="02010609030101010101" charset="-122"/>
              </a:rPr>
              <a:t>所需的计算时间显然是</a:t>
            </a:r>
            <a:r>
              <a:rPr lang="en-US" altLang="zh-CN" sz="2400">
                <a:ea typeface="新宋体" panose="02010609030101010101" charset="-122"/>
              </a:rPr>
              <a:t>O(nlog(1/ </a:t>
            </a:r>
            <a:r>
              <a:rPr lang="en-US" altLang="zh-CN" sz="2400">
                <a:ea typeface="新宋体" panose="02010609030101010101" charset="-122"/>
                <a:sym typeface="Symbol" panose="05050102010706020507" pitchFamily="18" charset="2"/>
              </a:rPr>
              <a:t>))</a:t>
            </a:r>
            <a:r>
              <a:rPr lang="zh-CN" altLang="en-US" sz="2400">
                <a:ea typeface="新宋体" panose="02010609030101010101" charset="-122"/>
              </a:rPr>
              <a:t>。</a:t>
            </a:r>
            <a:endParaRPr lang="zh-CN" altLang="en-US" sz="2400">
              <a:ea typeface="新宋体" panose="02010609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8342"/>
                                        </p:tgtEl>
                                        <p:attrNameLst>
                                          <p:attrName>style.visibility</p:attrName>
                                        </p:attrNameLst>
                                      </p:cBhvr>
                                      <p:to>
                                        <p:strVal val="visible"/>
                                      </p:to>
                                    </p:set>
                                    <p:animEffect transition="in" filter="blinds(horizontal)">
                                      <p:cBhvr>
                                        <p:cTn id="7" dur="500"/>
                                        <p:tgtEl>
                                          <p:spTgt spid="398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4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377B6FF6-F511-43E3-B27E-CC319CF8E09E}" type="slidenum">
              <a:rPr lang="en-US" altLang="zh-CN"/>
            </a:fld>
            <a:endParaRPr lang="en-US" altLang="zh-CN"/>
          </a:p>
        </p:txBody>
      </p:sp>
      <p:sp>
        <p:nvSpPr>
          <p:cNvPr id="399362" name="Rectangle 2"/>
          <p:cNvSpPr>
            <a:spLocks noGrp="1" noChangeArrowheads="1"/>
          </p:cNvSpPr>
          <p:nvPr>
            <p:ph type="title"/>
          </p:nvPr>
        </p:nvSpPr>
        <p:spPr/>
        <p:txBody>
          <a:bodyPr/>
          <a:lstStyle/>
          <a:p>
            <a:r>
              <a:rPr lang="zh-CN" altLang="en-US">
                <a:effectLst>
                  <a:outerShdw blurRad="38100" dist="38100" dir="2700000" algn="tl">
                    <a:srgbClr val="C0C0C0"/>
                  </a:outerShdw>
                </a:effectLst>
                <a:ea typeface="黑体" panose="02010609060101010101" pitchFamily="49" charset="-122"/>
              </a:rPr>
              <a:t>素数的若干结论</a:t>
            </a:r>
            <a:endParaRPr lang="zh-CN" altLang="en-US">
              <a:effectLst>
                <a:outerShdw blurRad="38100" dist="38100" dir="2700000" algn="tl">
                  <a:srgbClr val="C0C0C0"/>
                </a:outerShdw>
              </a:effectLst>
              <a:ea typeface="黑体" panose="02010609060101010101" pitchFamily="49" charset="-122"/>
            </a:endParaRPr>
          </a:p>
        </p:txBody>
      </p:sp>
      <p:sp>
        <p:nvSpPr>
          <p:cNvPr id="399363" name="Rectangle 3"/>
          <p:cNvSpPr>
            <a:spLocks noGrp="1" noChangeArrowheads="1"/>
          </p:cNvSpPr>
          <p:nvPr>
            <p:ph type="body" idx="1"/>
          </p:nvPr>
        </p:nvSpPr>
        <p:spPr>
          <a:xfrm>
            <a:off x="250825" y="1557338"/>
            <a:ext cx="8686800" cy="5040312"/>
          </a:xfrm>
        </p:spPr>
        <p:txBody>
          <a:bodyPr/>
          <a:lstStyle/>
          <a:p>
            <a:pPr>
              <a:lnSpc>
                <a:spcPct val="120000"/>
              </a:lnSpc>
              <a:spcBef>
                <a:spcPct val="0"/>
              </a:spcBef>
            </a:pPr>
            <a:r>
              <a:rPr lang="zh-CN" altLang="en-US" sz="2400" b="1">
                <a:latin typeface="新宋体" panose="02010609030101010101" charset="-122"/>
                <a:ea typeface="新宋体" panose="02010609030101010101" charset="-122"/>
              </a:rPr>
              <a:t>算术基本定理：</a:t>
            </a:r>
            <a:r>
              <a:rPr lang="zh-CN" altLang="en-US" sz="2400">
                <a:latin typeface="新宋体" panose="02010609030101010101" charset="-122"/>
                <a:ea typeface="新宋体" panose="02010609030101010101" charset="-122"/>
              </a:rPr>
              <a:t>每个合数都可以唯一地表成素数的乘积。</a:t>
            </a:r>
            <a:endParaRPr lang="zh-CN" altLang="en-US" sz="2400">
              <a:latin typeface="新宋体" panose="02010609030101010101" charset="-122"/>
              <a:ea typeface="新宋体" panose="02010609030101010101" charset="-122"/>
            </a:endParaRPr>
          </a:p>
          <a:p>
            <a:pPr>
              <a:lnSpc>
                <a:spcPct val="120000"/>
              </a:lnSpc>
              <a:spcBef>
                <a:spcPct val="0"/>
              </a:spcBef>
            </a:pPr>
            <a:r>
              <a:rPr lang="zh-CN" altLang="en-US" sz="2400" b="1">
                <a:latin typeface="新宋体" panose="02010609030101010101" charset="-122"/>
                <a:ea typeface="新宋体" panose="02010609030101010101" charset="-122"/>
              </a:rPr>
              <a:t>素数基本定理：</a:t>
            </a:r>
            <a:r>
              <a:rPr lang="zh-CN" altLang="en-US" sz="2400">
                <a:latin typeface="新宋体" panose="02010609030101010101" charset="-122"/>
                <a:ea typeface="新宋体" panose="02010609030101010101" charset="-122"/>
              </a:rPr>
              <a:t>设不超过</a:t>
            </a:r>
            <a:r>
              <a:rPr lang="en-US" altLang="zh-CN" sz="2400">
                <a:latin typeface="新宋体" panose="02010609030101010101" charset="-122"/>
                <a:ea typeface="新宋体" panose="02010609030101010101" charset="-122"/>
              </a:rPr>
              <a:t>n</a:t>
            </a:r>
            <a:r>
              <a:rPr lang="zh-CN" altLang="en-US" sz="2400">
                <a:latin typeface="新宋体" panose="02010609030101010101" charset="-122"/>
                <a:ea typeface="新宋体" panose="02010609030101010101" charset="-122"/>
              </a:rPr>
              <a:t>的素数的个数为</a:t>
            </a:r>
            <a:r>
              <a:rPr lang="en-US" altLang="zh-CN" sz="2400">
                <a:latin typeface="新宋体" panose="02010609030101010101" charset="-122"/>
                <a:ea typeface="新宋体" panose="02010609030101010101" charset="-122"/>
              </a:rPr>
              <a:t>π(n)</a:t>
            </a:r>
            <a:r>
              <a:rPr lang="zh-CN" altLang="en-US" sz="2400">
                <a:latin typeface="新宋体" panose="02010609030101010101" charset="-122"/>
                <a:ea typeface="新宋体" panose="02010609030101010101" charset="-122"/>
              </a:rPr>
              <a:t>，则</a:t>
            </a:r>
            <a:r>
              <a:rPr lang="en-US" altLang="zh-CN" sz="2400">
                <a:latin typeface="新宋体" panose="02010609030101010101" charset="-122"/>
                <a:ea typeface="新宋体" panose="02010609030101010101" charset="-122"/>
              </a:rPr>
              <a:t>π(n)</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n/ ln n</a:t>
            </a:r>
            <a:r>
              <a:rPr lang="zh-CN" altLang="en-US" sz="2400">
                <a:latin typeface="新宋体" panose="02010609030101010101" charset="-122"/>
                <a:ea typeface="新宋体" panose="02010609030101010101" charset="-122"/>
              </a:rPr>
              <a:t>。</a:t>
            </a:r>
            <a:endParaRPr lang="zh-CN" altLang="en-US" sz="2400">
              <a:latin typeface="新宋体" panose="02010609030101010101" charset="-122"/>
              <a:ea typeface="新宋体" panose="02010609030101010101" charset="-122"/>
            </a:endParaRPr>
          </a:p>
          <a:p>
            <a:pPr>
              <a:lnSpc>
                <a:spcPct val="120000"/>
              </a:lnSpc>
              <a:spcBef>
                <a:spcPct val="0"/>
              </a:spcBef>
            </a:pPr>
            <a:r>
              <a:rPr lang="zh-CN" altLang="en-US" sz="2400">
                <a:latin typeface="新宋体" panose="02010609030101010101" charset="-122"/>
                <a:ea typeface="新宋体" panose="02010609030101010101" charset="-122"/>
              </a:rPr>
              <a:t>设</a:t>
            </a:r>
            <a:r>
              <a:rPr lang="en-US" altLang="zh-CN" sz="2400">
                <a:latin typeface="新宋体" panose="02010609030101010101" charset="-122"/>
                <a:ea typeface="新宋体" panose="02010609030101010101" charset="-122"/>
              </a:rPr>
              <a:t>1&lt;&lt; k&lt;2n</a:t>
            </a:r>
            <a:r>
              <a:rPr lang="zh-CN" altLang="en-US" sz="2400">
                <a:latin typeface="新宋体" panose="02010609030101010101" charset="-122"/>
                <a:ea typeface="新宋体" panose="02010609030101010101" charset="-122"/>
              </a:rPr>
              <a:t>，则能整除</a:t>
            </a:r>
            <a:r>
              <a:rPr lang="en-US" altLang="zh-CN" sz="2400">
                <a:latin typeface="新宋体" panose="02010609030101010101" charset="-122"/>
                <a:ea typeface="新宋体" panose="02010609030101010101" charset="-122"/>
              </a:rPr>
              <a:t>k</a:t>
            </a:r>
            <a:r>
              <a:rPr lang="zh-CN" altLang="en-US" sz="2400">
                <a:latin typeface="新宋体" panose="02010609030101010101" charset="-122"/>
                <a:ea typeface="新宋体" panose="02010609030101010101" charset="-122"/>
              </a:rPr>
              <a:t>的素数的个数至多</a:t>
            </a:r>
            <a:r>
              <a:rPr lang="en-US" altLang="zh-CN" sz="2400">
                <a:latin typeface="新宋体" panose="02010609030101010101" charset="-122"/>
                <a:ea typeface="新宋体" panose="02010609030101010101" charset="-122"/>
              </a:rPr>
              <a:t>π(n) </a:t>
            </a:r>
            <a:r>
              <a:rPr lang="zh-CN" altLang="en-US" sz="2400">
                <a:latin typeface="新宋体" panose="02010609030101010101" charset="-122"/>
                <a:ea typeface="新宋体" panose="02010609030101010101" charset="-122"/>
              </a:rPr>
              <a:t>个。</a:t>
            </a:r>
            <a:endParaRPr lang="zh-CN" altLang="en-US" sz="2400">
              <a:latin typeface="新宋体" panose="02010609030101010101" charset="-122"/>
              <a:ea typeface="新宋体" panose="02010609030101010101" charset="-122"/>
            </a:endParaRPr>
          </a:p>
          <a:p>
            <a:pPr>
              <a:lnSpc>
                <a:spcPct val="120000"/>
              </a:lnSpc>
              <a:spcBef>
                <a:spcPct val="0"/>
              </a:spcBef>
            </a:pPr>
            <a:r>
              <a:rPr lang="zh-CN" altLang="en-US" sz="2400" b="1">
                <a:latin typeface="新宋体" panose="02010609030101010101" charset="-122"/>
                <a:ea typeface="新宋体" panose="02010609030101010101" charset="-122"/>
              </a:rPr>
              <a:t>欧拉公式：</a:t>
            </a:r>
            <a:r>
              <a:rPr lang="zh-CN" altLang="en-US" sz="2400">
                <a:latin typeface="新宋体" panose="02010609030101010101" charset="-122"/>
                <a:ea typeface="新宋体" panose="02010609030101010101" charset="-122"/>
              </a:rPr>
              <a:t>设将</a:t>
            </a:r>
            <a:r>
              <a:rPr lang="en-US" altLang="zh-CN" sz="2400">
                <a:latin typeface="新宋体" panose="02010609030101010101" charset="-122"/>
                <a:ea typeface="新宋体" panose="02010609030101010101" charset="-122"/>
              </a:rPr>
              <a:t>n</a:t>
            </a:r>
            <a:r>
              <a:rPr lang="zh-CN" altLang="en-US" sz="2400">
                <a:latin typeface="新宋体" panose="02010609030101010101" charset="-122"/>
                <a:ea typeface="新宋体" panose="02010609030101010101" charset="-122"/>
              </a:rPr>
              <a:t>分解为素数乘积为</a:t>
            </a:r>
            <a:r>
              <a:rPr lang="en-US" altLang="zh-CN" sz="2400">
                <a:latin typeface="新宋体" panose="02010609030101010101" charset="-122"/>
                <a:ea typeface="新宋体" panose="02010609030101010101" charset="-122"/>
              </a:rPr>
              <a:t>n=p1p2</a:t>
            </a:r>
            <a:r>
              <a:rPr lang="en-US" altLang="zh-CN" sz="2400">
                <a:latin typeface="Arial" panose="020B0604020202020204"/>
                <a:ea typeface="新宋体" panose="02010609030101010101" charset="-122"/>
              </a:rPr>
              <a:t>…</a:t>
            </a:r>
            <a:r>
              <a:rPr lang="en-US" altLang="zh-CN" sz="2400">
                <a:latin typeface="新宋体" panose="02010609030101010101" charset="-122"/>
                <a:ea typeface="新宋体" panose="02010609030101010101" charset="-122"/>
              </a:rPr>
              <a:t>pr</a:t>
            </a:r>
            <a:r>
              <a:rPr lang="zh-CN" altLang="en-US" sz="2400">
                <a:latin typeface="新宋体" panose="02010609030101010101" charset="-122"/>
                <a:ea typeface="新宋体" panose="02010609030101010101" charset="-122"/>
              </a:rPr>
              <a:t>，则不超过</a:t>
            </a:r>
            <a:r>
              <a:rPr lang="en-US" altLang="zh-CN" sz="2400">
                <a:latin typeface="新宋体" panose="02010609030101010101" charset="-122"/>
                <a:ea typeface="新宋体" panose="02010609030101010101" charset="-122"/>
              </a:rPr>
              <a:t>n</a:t>
            </a:r>
            <a:r>
              <a:rPr lang="zh-CN" altLang="en-US" sz="2400">
                <a:latin typeface="新宋体" panose="02010609030101010101" charset="-122"/>
                <a:ea typeface="新宋体" panose="02010609030101010101" charset="-122"/>
              </a:rPr>
              <a:t>且与</a:t>
            </a:r>
            <a:r>
              <a:rPr lang="en-US" altLang="zh-CN" sz="2400">
                <a:latin typeface="新宋体" panose="02010609030101010101" charset="-122"/>
                <a:ea typeface="新宋体" panose="02010609030101010101" charset="-122"/>
              </a:rPr>
              <a:t>n</a:t>
            </a:r>
            <a:r>
              <a:rPr lang="zh-CN" altLang="en-US" sz="2400">
                <a:latin typeface="新宋体" panose="02010609030101010101" charset="-122"/>
                <a:ea typeface="新宋体" panose="02010609030101010101" charset="-122"/>
              </a:rPr>
              <a:t>互素的正整数的个数</a:t>
            </a:r>
            <a:r>
              <a:rPr lang="en-US" altLang="zh-CN" sz="2400">
                <a:latin typeface="新宋体" panose="02010609030101010101" charset="-122"/>
                <a:ea typeface="新宋体" panose="02010609030101010101" charset="-122"/>
              </a:rPr>
              <a:t>j(n)=(p1-1)(p2-1)</a:t>
            </a:r>
            <a:r>
              <a:rPr lang="en-US" altLang="zh-CN" sz="2400">
                <a:latin typeface="Arial" panose="020B0604020202020204"/>
                <a:ea typeface="新宋体" panose="02010609030101010101" charset="-122"/>
              </a:rPr>
              <a:t>…</a:t>
            </a:r>
            <a:r>
              <a:rPr lang="en-US" altLang="zh-CN" sz="2400">
                <a:latin typeface="新宋体" panose="02010609030101010101" charset="-122"/>
                <a:ea typeface="新宋体" panose="02010609030101010101" charset="-122"/>
              </a:rPr>
              <a:t> (pr -1).</a:t>
            </a:r>
            <a:endParaRPr lang="en-US" altLang="zh-CN" sz="2400">
              <a:latin typeface="新宋体" panose="02010609030101010101" charset="-122"/>
              <a:ea typeface="新宋体" panose="02010609030101010101" charset="-122"/>
            </a:endParaRPr>
          </a:p>
          <a:p>
            <a:pPr>
              <a:lnSpc>
                <a:spcPct val="120000"/>
              </a:lnSpc>
              <a:spcBef>
                <a:spcPct val="0"/>
              </a:spcBef>
            </a:pPr>
            <a:r>
              <a:rPr lang="zh-CN" altLang="en-US" sz="2400" b="1">
                <a:latin typeface="新宋体" panose="02010609030101010101" charset="-122"/>
                <a:ea typeface="新宋体" panose="02010609030101010101" charset="-122"/>
              </a:rPr>
              <a:t>费马</a:t>
            </a:r>
            <a:r>
              <a:rPr lang="en-US" altLang="zh-CN" sz="2400" b="1">
                <a:latin typeface="新宋体" panose="02010609030101010101" charset="-122"/>
                <a:ea typeface="新宋体" panose="02010609030101010101" charset="-122"/>
              </a:rPr>
              <a:t>(Fermat)</a:t>
            </a:r>
            <a:r>
              <a:rPr lang="zh-CN" altLang="en-US" sz="2400" b="1">
                <a:latin typeface="新宋体" panose="02010609030101010101" charset="-122"/>
                <a:ea typeface="新宋体" panose="02010609030101010101" charset="-122"/>
              </a:rPr>
              <a:t>小定理（素数必要条件）：</a:t>
            </a:r>
            <a:r>
              <a:rPr lang="zh-CN" altLang="en-US" sz="2400">
                <a:latin typeface="新宋体" panose="02010609030101010101" charset="-122"/>
                <a:ea typeface="新宋体" panose="02010609030101010101" charset="-122"/>
              </a:rPr>
              <a:t>设</a:t>
            </a:r>
            <a:r>
              <a:rPr lang="en-US" altLang="zh-CN" sz="2400">
                <a:latin typeface="新宋体" panose="02010609030101010101" charset="-122"/>
                <a:ea typeface="新宋体" panose="02010609030101010101" charset="-122"/>
              </a:rPr>
              <a:t>p</a:t>
            </a:r>
            <a:r>
              <a:rPr lang="zh-CN" altLang="en-US" sz="2400">
                <a:latin typeface="新宋体" panose="02010609030101010101" charset="-122"/>
                <a:ea typeface="新宋体" panose="02010609030101010101" charset="-122"/>
              </a:rPr>
              <a:t>是素数，则对于小于</a:t>
            </a:r>
            <a:r>
              <a:rPr lang="en-US" altLang="zh-CN" sz="2400">
                <a:latin typeface="新宋体" panose="02010609030101010101" charset="-122"/>
                <a:ea typeface="新宋体" panose="02010609030101010101" charset="-122"/>
              </a:rPr>
              <a:t>p</a:t>
            </a:r>
            <a:r>
              <a:rPr lang="zh-CN" altLang="en-US" sz="2400">
                <a:latin typeface="新宋体" panose="02010609030101010101" charset="-122"/>
                <a:ea typeface="新宋体" panose="02010609030101010101" charset="-122"/>
              </a:rPr>
              <a:t>的任意正整数</a:t>
            </a:r>
            <a:r>
              <a:rPr lang="en-US" altLang="zh-CN" sz="2400">
                <a:latin typeface="新宋体" panose="02010609030101010101" charset="-122"/>
                <a:ea typeface="新宋体" panose="02010609030101010101" charset="-122"/>
              </a:rPr>
              <a:t>a</a:t>
            </a:r>
            <a:r>
              <a:rPr lang="zh-CN" altLang="en-US" sz="2400">
                <a:latin typeface="新宋体" panose="02010609030101010101" charset="-122"/>
                <a:ea typeface="新宋体" panose="02010609030101010101" charset="-122"/>
              </a:rPr>
              <a:t>，均有</a:t>
            </a:r>
            <a:r>
              <a:rPr lang="en-US" altLang="zh-CN" sz="2400">
                <a:latin typeface="新宋体" panose="02010609030101010101" charset="-122"/>
                <a:ea typeface="新宋体" panose="02010609030101010101" charset="-122"/>
              </a:rPr>
              <a:t>a</a:t>
            </a:r>
            <a:r>
              <a:rPr lang="en-US" altLang="zh-CN" sz="2400" baseline="30000">
                <a:latin typeface="新宋体" panose="02010609030101010101" charset="-122"/>
                <a:ea typeface="新宋体" panose="02010609030101010101" charset="-122"/>
              </a:rPr>
              <a:t>p-1</a:t>
            </a:r>
            <a:r>
              <a:rPr lang="en-US" altLang="zh-CN" sz="2400">
                <a:latin typeface="新宋体" panose="02010609030101010101" charset="-122"/>
                <a:ea typeface="新宋体" panose="02010609030101010101" charset="-122"/>
              </a:rPr>
              <a:t>=1 mod p</a:t>
            </a:r>
            <a:r>
              <a:rPr lang="zh-CN" altLang="en-US" sz="2400">
                <a:latin typeface="新宋体" panose="02010609030101010101" charset="-122"/>
                <a:ea typeface="新宋体" panose="02010609030101010101" charset="-122"/>
              </a:rPr>
              <a:t>。</a:t>
            </a:r>
            <a:endParaRPr lang="zh-CN" altLang="en-US" sz="2400">
              <a:latin typeface="新宋体" panose="02010609030101010101" charset="-122"/>
              <a:ea typeface="新宋体" panose="02010609030101010101" charset="-122"/>
            </a:endParaRPr>
          </a:p>
          <a:p>
            <a:pPr>
              <a:lnSpc>
                <a:spcPct val="120000"/>
              </a:lnSpc>
              <a:spcBef>
                <a:spcPct val="0"/>
              </a:spcBef>
            </a:pPr>
            <a:r>
              <a:rPr lang="zh-CN" altLang="en-US" sz="2400" b="1">
                <a:latin typeface="新宋体" panose="02010609030101010101" charset="-122"/>
                <a:ea typeface="新宋体" panose="02010609030101010101" charset="-122"/>
              </a:rPr>
              <a:t>梅森</a:t>
            </a:r>
            <a:r>
              <a:rPr lang="en-US" altLang="zh-CN" sz="2400" b="1">
                <a:latin typeface="新宋体" panose="02010609030101010101" charset="-122"/>
                <a:ea typeface="新宋体" panose="02010609030101010101" charset="-122"/>
              </a:rPr>
              <a:t>(Mersenne)</a:t>
            </a:r>
            <a:r>
              <a:rPr lang="zh-CN" altLang="en-US" sz="2400" b="1">
                <a:latin typeface="新宋体" panose="02010609030101010101" charset="-122"/>
                <a:ea typeface="新宋体" panose="02010609030101010101" charset="-122"/>
              </a:rPr>
              <a:t>素数：</a:t>
            </a:r>
            <a:r>
              <a:rPr lang="zh-CN" altLang="en-US" sz="2400">
                <a:latin typeface="新宋体" panose="02010609030101010101" charset="-122"/>
                <a:ea typeface="新宋体" panose="02010609030101010101" charset="-122"/>
              </a:rPr>
              <a:t>形如</a:t>
            </a:r>
            <a:r>
              <a:rPr lang="en-US" altLang="zh-CN" sz="2400">
                <a:latin typeface="新宋体" panose="02010609030101010101" charset="-122"/>
                <a:ea typeface="新宋体" panose="02010609030101010101" charset="-122"/>
              </a:rPr>
              <a:t>Mp=2</a:t>
            </a:r>
            <a:r>
              <a:rPr lang="en-US" altLang="zh-CN" sz="2400" baseline="30000">
                <a:latin typeface="新宋体" panose="02010609030101010101" charset="-122"/>
                <a:ea typeface="新宋体" panose="02010609030101010101" charset="-122"/>
              </a:rPr>
              <a:t>p</a:t>
            </a:r>
            <a:r>
              <a:rPr lang="en-US" altLang="zh-CN" sz="2400">
                <a:latin typeface="新宋体" panose="02010609030101010101" charset="-122"/>
                <a:ea typeface="新宋体" panose="02010609030101010101" charset="-122"/>
              </a:rPr>
              <a:t>-1</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p</a:t>
            </a:r>
            <a:r>
              <a:rPr lang="zh-CN" altLang="en-US" sz="2400">
                <a:latin typeface="新宋体" panose="02010609030101010101" charset="-122"/>
                <a:ea typeface="新宋体" panose="02010609030101010101" charset="-122"/>
              </a:rPr>
              <a:t>为素数）的素数称为梅森素数。</a:t>
            </a:r>
            <a:endParaRPr lang="zh-CN" altLang="en-US" sz="2400">
              <a:latin typeface="新宋体" panose="02010609030101010101" charset="-122"/>
              <a:ea typeface="新宋体" panose="02010609030101010101" charset="-122"/>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fld id="{03566945-22E2-42F6-8CB5-C8E697545BCE}" type="slidenum">
              <a:rPr lang="en-US" altLang="zh-CN"/>
            </a:fld>
            <a:endParaRPr lang="en-US" altLang="zh-CN"/>
          </a:p>
        </p:txBody>
      </p:sp>
      <p:sp>
        <p:nvSpPr>
          <p:cNvPr id="400386" name="Rectangle 2"/>
          <p:cNvSpPr>
            <a:spLocks noChangeArrowheads="1"/>
          </p:cNvSpPr>
          <p:nvPr/>
        </p:nvSpPr>
        <p:spPr bwMode="auto">
          <a:xfrm>
            <a:off x="684213"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en-US" sz="3900" b="1">
                <a:solidFill>
                  <a:schemeClr val="tx2"/>
                </a:solidFill>
                <a:effectLst>
                  <a:outerShdw blurRad="38100" dist="38100" dir="2700000" algn="tl">
                    <a:srgbClr val="C0C0C0"/>
                  </a:outerShdw>
                </a:effectLst>
                <a:ea typeface="黑体" panose="02010609060101010101" pitchFamily="49" charset="-122"/>
              </a:rPr>
              <a:t>素数测试</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sp>
        <p:nvSpPr>
          <p:cNvPr id="400387" name="Text Box 3"/>
          <p:cNvSpPr txBox="1">
            <a:spLocks noChangeArrowheads="1"/>
          </p:cNvSpPr>
          <p:nvPr/>
        </p:nvSpPr>
        <p:spPr bwMode="auto">
          <a:xfrm>
            <a:off x="179388" y="908050"/>
            <a:ext cx="8964612" cy="1917700"/>
          </a:xfrm>
          <a:prstGeom prst="rect">
            <a:avLst/>
          </a:prstGeom>
          <a:solidFill>
            <a:schemeClr val="bg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en-US" altLang="zh-CN" sz="2400" b="1">
                <a:solidFill>
                  <a:srgbClr val="FF3300"/>
                </a:solidFill>
                <a:effectLst>
                  <a:outerShdw blurRad="38100" dist="38100" dir="2700000" algn="tl">
                    <a:srgbClr val="C0C0C0"/>
                  </a:outerShdw>
                </a:effectLst>
                <a:ea typeface="新宋体" panose="02010609030101010101" charset="-122"/>
              </a:rPr>
              <a:t>Wilson</a:t>
            </a:r>
            <a:r>
              <a:rPr lang="zh-CN" altLang="en-US" sz="2400" b="1">
                <a:solidFill>
                  <a:srgbClr val="FF3300"/>
                </a:solidFill>
                <a:effectLst>
                  <a:outerShdw blurRad="38100" dist="38100" dir="2700000" algn="tl">
                    <a:srgbClr val="C0C0C0"/>
                  </a:outerShdw>
                </a:effectLst>
                <a:ea typeface="黑体" panose="02010609060101010101" pitchFamily="49" charset="-122"/>
              </a:rPr>
              <a:t>定理</a:t>
            </a:r>
            <a:r>
              <a:rPr lang="zh-CN" altLang="en-US" sz="2400" b="1">
                <a:ea typeface="新宋体" panose="02010609030101010101" charset="-122"/>
              </a:rPr>
              <a:t>：</a:t>
            </a:r>
            <a:r>
              <a:rPr lang="zh-CN" altLang="en-US" sz="2400">
                <a:ea typeface="新宋体" panose="02010609030101010101" charset="-122"/>
              </a:rPr>
              <a:t>对于给定的正整数</a:t>
            </a:r>
            <a:r>
              <a:rPr lang="en-US" altLang="zh-CN" sz="2400">
                <a:ea typeface="新宋体" panose="02010609030101010101" charset="-122"/>
              </a:rPr>
              <a:t>n</a:t>
            </a:r>
            <a:r>
              <a:rPr lang="zh-CN" altLang="en-US" sz="2400">
                <a:ea typeface="新宋体" panose="02010609030101010101" charset="-122"/>
              </a:rPr>
              <a:t>，判定</a:t>
            </a:r>
            <a:r>
              <a:rPr lang="en-US" altLang="zh-CN" sz="2400">
                <a:ea typeface="新宋体" panose="02010609030101010101" charset="-122"/>
              </a:rPr>
              <a:t>n</a:t>
            </a:r>
            <a:r>
              <a:rPr lang="zh-CN" altLang="en-US" sz="2400">
                <a:ea typeface="新宋体" panose="02010609030101010101" charset="-122"/>
              </a:rPr>
              <a:t>是一个素数的充要条件是</a:t>
            </a:r>
            <a:r>
              <a:rPr lang="en-US" altLang="zh-CN" sz="2400">
                <a:ea typeface="新宋体" panose="02010609030101010101" charset="-122"/>
              </a:rPr>
              <a:t>(n-1)!</a:t>
            </a:r>
            <a:r>
              <a:rPr lang="en-US" altLang="zh-CN" sz="2400">
                <a:ea typeface="新宋体" panose="02010609030101010101" charset="-122"/>
                <a:sym typeface="Symbol" panose="05050102010706020507" pitchFamily="18" charset="2"/>
              </a:rPr>
              <a:t></a:t>
            </a:r>
            <a:r>
              <a:rPr lang="en-US" altLang="zh-CN" sz="2400">
                <a:ea typeface="新宋体" panose="02010609030101010101" charset="-122"/>
              </a:rPr>
              <a:t> -1(mod n)</a:t>
            </a:r>
            <a:r>
              <a:rPr lang="zh-CN" altLang="en-US" sz="2400">
                <a:ea typeface="新宋体" panose="02010609030101010101" charset="-122"/>
              </a:rPr>
              <a:t>。</a:t>
            </a:r>
            <a:endParaRPr lang="zh-CN" altLang="en-US" sz="2400">
              <a:ea typeface="新宋体" panose="02010609030101010101" charset="-122"/>
            </a:endParaRPr>
          </a:p>
          <a:p>
            <a:r>
              <a:rPr lang="zh-CN" altLang="en-US" sz="2400" b="1">
                <a:solidFill>
                  <a:srgbClr val="FF3300"/>
                </a:solidFill>
                <a:effectLst>
                  <a:outerShdw blurRad="38100" dist="38100" dir="2700000" algn="tl">
                    <a:srgbClr val="C0C0C0"/>
                  </a:outerShdw>
                </a:effectLst>
                <a:ea typeface="黑体" panose="02010609060101010101" pitchFamily="49" charset="-122"/>
              </a:rPr>
              <a:t>费尔马小定理</a:t>
            </a:r>
            <a:r>
              <a:rPr lang="zh-CN" altLang="en-US" sz="2400" b="1">
                <a:ea typeface="新宋体" panose="02010609030101010101" charset="-122"/>
              </a:rPr>
              <a:t>：</a:t>
            </a:r>
            <a:r>
              <a:rPr lang="zh-CN" altLang="en-US" sz="2400">
                <a:ea typeface="新宋体" panose="02010609030101010101" charset="-122"/>
              </a:rPr>
              <a:t>如果</a:t>
            </a:r>
            <a:r>
              <a:rPr lang="en-US" altLang="zh-CN" sz="2400">
                <a:ea typeface="新宋体" panose="02010609030101010101" charset="-122"/>
              </a:rPr>
              <a:t>p</a:t>
            </a:r>
            <a:r>
              <a:rPr lang="zh-CN" altLang="en-US" sz="2400">
                <a:ea typeface="新宋体" panose="02010609030101010101" charset="-122"/>
              </a:rPr>
              <a:t>是一个素数，且</a:t>
            </a:r>
            <a:r>
              <a:rPr lang="en-US" altLang="zh-CN" sz="2400">
                <a:ea typeface="新宋体" panose="02010609030101010101" charset="-122"/>
              </a:rPr>
              <a:t>0&lt;a&lt;p</a:t>
            </a:r>
            <a:r>
              <a:rPr lang="zh-CN" altLang="en-US" sz="2400">
                <a:ea typeface="新宋体" panose="02010609030101010101" charset="-122"/>
              </a:rPr>
              <a:t>，则</a:t>
            </a:r>
            <a:r>
              <a:rPr lang="en-US" altLang="zh-CN" sz="2400">
                <a:ea typeface="新宋体" panose="02010609030101010101" charset="-122"/>
              </a:rPr>
              <a:t>a</a:t>
            </a:r>
            <a:r>
              <a:rPr lang="en-US" altLang="zh-CN" sz="2400" baseline="30000">
                <a:ea typeface="新宋体" panose="02010609030101010101" charset="-122"/>
              </a:rPr>
              <a:t>p-1</a:t>
            </a:r>
            <a:r>
              <a:rPr lang="en-US" altLang="zh-CN" sz="2400">
                <a:ea typeface="新宋体" panose="02010609030101010101" charset="-122"/>
              </a:rPr>
              <a:t>(mod p)</a:t>
            </a:r>
            <a:r>
              <a:rPr lang="zh-CN" altLang="en-US" sz="2400">
                <a:ea typeface="新宋体" panose="02010609030101010101" charset="-122"/>
              </a:rPr>
              <a:t>。 </a:t>
            </a:r>
            <a:endParaRPr lang="zh-CN" altLang="en-US" sz="2400">
              <a:ea typeface="新宋体" panose="02010609030101010101" charset="-122"/>
            </a:endParaRPr>
          </a:p>
          <a:p>
            <a:r>
              <a:rPr lang="zh-CN" altLang="en-US" sz="2400" b="1">
                <a:solidFill>
                  <a:srgbClr val="FF3300"/>
                </a:solidFill>
                <a:effectLst>
                  <a:outerShdw blurRad="38100" dist="38100" dir="2700000" algn="tl">
                    <a:srgbClr val="C0C0C0"/>
                  </a:outerShdw>
                </a:effectLst>
                <a:ea typeface="黑体" panose="02010609060101010101" pitchFamily="49" charset="-122"/>
              </a:rPr>
              <a:t>二次探测定理</a:t>
            </a:r>
            <a:r>
              <a:rPr lang="zh-CN" altLang="en-US" sz="2400" b="1">
                <a:ea typeface="新宋体" panose="02010609030101010101" charset="-122"/>
              </a:rPr>
              <a:t>：</a:t>
            </a:r>
            <a:r>
              <a:rPr lang="zh-CN" altLang="en-US" sz="2400">
                <a:ea typeface="新宋体" panose="02010609030101010101" charset="-122"/>
              </a:rPr>
              <a:t>如果</a:t>
            </a:r>
            <a:r>
              <a:rPr lang="en-US" altLang="zh-CN" sz="2400">
                <a:ea typeface="新宋体" panose="02010609030101010101" charset="-122"/>
              </a:rPr>
              <a:t>p</a:t>
            </a:r>
            <a:r>
              <a:rPr lang="zh-CN" altLang="en-US" sz="2400">
                <a:ea typeface="新宋体" panose="02010609030101010101" charset="-122"/>
              </a:rPr>
              <a:t>是一个素数，且</a:t>
            </a:r>
            <a:r>
              <a:rPr lang="en-US" altLang="zh-CN" sz="2400">
                <a:ea typeface="新宋体" panose="02010609030101010101" charset="-122"/>
              </a:rPr>
              <a:t>0&lt;x&lt;p</a:t>
            </a:r>
            <a:r>
              <a:rPr lang="zh-CN" altLang="en-US" sz="2400">
                <a:ea typeface="新宋体" panose="02010609030101010101" charset="-122"/>
              </a:rPr>
              <a:t>，则方程</a:t>
            </a:r>
            <a:r>
              <a:rPr lang="en-US" altLang="zh-CN" sz="2400">
                <a:ea typeface="新宋体" panose="02010609030101010101" charset="-122"/>
              </a:rPr>
              <a:t>x</a:t>
            </a:r>
            <a:r>
              <a:rPr lang="en-US" altLang="zh-CN" sz="2400" baseline="30000">
                <a:ea typeface="新宋体" panose="02010609030101010101" charset="-122"/>
              </a:rPr>
              <a:t>2</a:t>
            </a:r>
            <a:r>
              <a:rPr lang="en-US" altLang="zh-CN" sz="2400">
                <a:ea typeface="新宋体" panose="02010609030101010101" charset="-122"/>
                <a:sym typeface="Symbol" panose="05050102010706020507" pitchFamily="18" charset="2"/>
              </a:rPr>
              <a:t></a:t>
            </a:r>
            <a:r>
              <a:rPr lang="en-US" altLang="zh-CN" sz="2400">
                <a:ea typeface="新宋体" panose="02010609030101010101" charset="-122"/>
              </a:rPr>
              <a:t>1(mod p)</a:t>
            </a:r>
            <a:r>
              <a:rPr lang="zh-CN" altLang="en-US" sz="2400">
                <a:ea typeface="新宋体" panose="02010609030101010101" charset="-122"/>
              </a:rPr>
              <a:t>的解为</a:t>
            </a:r>
            <a:r>
              <a:rPr lang="en-US" altLang="zh-CN" sz="2400">
                <a:ea typeface="新宋体" panose="02010609030101010101" charset="-122"/>
              </a:rPr>
              <a:t>x=1</a:t>
            </a:r>
            <a:r>
              <a:rPr lang="zh-CN" altLang="en-US" sz="2400">
                <a:ea typeface="新宋体" panose="02010609030101010101" charset="-122"/>
              </a:rPr>
              <a:t>，</a:t>
            </a:r>
            <a:r>
              <a:rPr lang="en-US" altLang="zh-CN" sz="2400">
                <a:ea typeface="新宋体" panose="02010609030101010101" charset="-122"/>
              </a:rPr>
              <a:t>p-1</a:t>
            </a:r>
            <a:r>
              <a:rPr lang="zh-CN" altLang="en-US" sz="2400">
                <a:ea typeface="新宋体" panose="02010609030101010101" charset="-122"/>
              </a:rPr>
              <a:t>。</a:t>
            </a:r>
            <a:endParaRPr lang="zh-CN" altLang="en-US" sz="2400">
              <a:ea typeface="新宋体" panose="02010609030101010101" charset="-122"/>
            </a:endParaRPr>
          </a:p>
        </p:txBody>
      </p:sp>
      <p:sp>
        <p:nvSpPr>
          <p:cNvPr id="400388" name="Text Box 4"/>
          <p:cNvSpPr txBox="1">
            <a:spLocks noChangeArrowheads="1"/>
          </p:cNvSpPr>
          <p:nvPr/>
        </p:nvSpPr>
        <p:spPr bwMode="auto">
          <a:xfrm>
            <a:off x="158750" y="2824163"/>
            <a:ext cx="4092575" cy="375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en-US" altLang="zh-CN" sz="1600"/>
              <a:t>void </a:t>
            </a:r>
            <a:r>
              <a:rPr lang="en-US" altLang="zh-CN" sz="1600" b="1"/>
              <a:t>power</a:t>
            </a:r>
            <a:r>
              <a:rPr lang="en-US" altLang="zh-CN" sz="1600"/>
              <a:t>( unsigned int a, unsigned int p, </a:t>
            </a:r>
            <a:endParaRPr lang="en-US" altLang="zh-CN" sz="1600"/>
          </a:p>
          <a:p>
            <a:r>
              <a:rPr lang="en-US" altLang="zh-CN" sz="1600"/>
              <a:t>unsigned int n,  unsigned int &amp;result,</a:t>
            </a:r>
            <a:endParaRPr lang="en-US" altLang="zh-CN" sz="1600"/>
          </a:p>
          <a:p>
            <a:r>
              <a:rPr lang="en-US" altLang="zh-CN" sz="1600"/>
              <a:t> bool &amp;composite)</a:t>
            </a:r>
            <a:endParaRPr lang="en-US" altLang="zh-CN" sz="1600"/>
          </a:p>
          <a:p>
            <a:r>
              <a:rPr lang="en-US" altLang="zh-CN" sz="1600"/>
              <a:t>{// </a:t>
            </a:r>
            <a:r>
              <a:rPr lang="zh-CN" altLang="en-US" sz="1600"/>
              <a:t>计算</a:t>
            </a:r>
            <a:r>
              <a:rPr lang="en-US" altLang="zh-CN" sz="1600"/>
              <a:t>mod n</a:t>
            </a:r>
            <a:r>
              <a:rPr lang="zh-CN" altLang="en-US" sz="1600"/>
              <a:t>，并实施对</a:t>
            </a:r>
            <a:r>
              <a:rPr lang="en-US" altLang="zh-CN" sz="1600"/>
              <a:t>n</a:t>
            </a:r>
            <a:r>
              <a:rPr lang="zh-CN" altLang="en-US" sz="1600"/>
              <a:t>的二次探测</a:t>
            </a:r>
            <a:endParaRPr lang="zh-CN" altLang="en-US" sz="1600"/>
          </a:p>
          <a:p>
            <a:r>
              <a:rPr lang="zh-CN" altLang="en-US" sz="1600"/>
              <a:t>   </a:t>
            </a:r>
            <a:r>
              <a:rPr lang="en-US" altLang="zh-CN" sz="1600"/>
              <a:t>unsigned int x;</a:t>
            </a:r>
            <a:endParaRPr lang="en-US" altLang="zh-CN" sz="1600"/>
          </a:p>
          <a:p>
            <a:r>
              <a:rPr lang="en-US" altLang="zh-CN" sz="1600"/>
              <a:t>   if (p==0) result=1;</a:t>
            </a:r>
            <a:endParaRPr lang="en-US" altLang="zh-CN" sz="1600"/>
          </a:p>
          <a:p>
            <a:r>
              <a:rPr lang="en-US" altLang="zh-CN" sz="1600"/>
              <a:t>   else {</a:t>
            </a:r>
            <a:endParaRPr lang="en-US" altLang="zh-CN" sz="1600"/>
          </a:p>
          <a:p>
            <a:r>
              <a:rPr lang="en-US" altLang="zh-CN" sz="1600"/>
              <a:t>     power(a,p/2,n,x,composite);  // </a:t>
            </a:r>
            <a:r>
              <a:rPr lang="zh-CN" altLang="en-US" sz="1600"/>
              <a:t>递归计算</a:t>
            </a:r>
            <a:endParaRPr lang="zh-CN" altLang="en-US" sz="1600"/>
          </a:p>
          <a:p>
            <a:r>
              <a:rPr lang="zh-CN" altLang="en-US" sz="1600"/>
              <a:t>     </a:t>
            </a:r>
            <a:r>
              <a:rPr lang="en-US" altLang="zh-CN" sz="1600"/>
              <a:t>result=(x*x)%n;            // </a:t>
            </a:r>
            <a:r>
              <a:rPr lang="zh-CN" altLang="en-US" sz="1600"/>
              <a:t>二次探测</a:t>
            </a:r>
            <a:endParaRPr lang="zh-CN" altLang="en-US" sz="1600"/>
          </a:p>
          <a:p>
            <a:r>
              <a:rPr lang="zh-CN" altLang="en-US" sz="1600"/>
              <a:t>     </a:t>
            </a:r>
            <a:r>
              <a:rPr lang="en-US" altLang="zh-CN" sz="1600"/>
              <a:t>if ((result==1)&amp;&amp;(x!=1)&amp;&amp;(x!=n-1))</a:t>
            </a:r>
            <a:endParaRPr lang="en-US" altLang="zh-CN" sz="1600"/>
          </a:p>
          <a:p>
            <a:r>
              <a:rPr lang="en-US" altLang="zh-CN" sz="1600"/>
              <a:t>       composite=true;</a:t>
            </a:r>
            <a:endParaRPr lang="en-US" altLang="zh-CN" sz="1600"/>
          </a:p>
          <a:p>
            <a:r>
              <a:rPr lang="en-US" altLang="zh-CN" sz="1600"/>
              <a:t>     if ((p%2)==1)      // p</a:t>
            </a:r>
            <a:r>
              <a:rPr lang="zh-CN" altLang="en-US" sz="1600"/>
              <a:t>是奇数</a:t>
            </a:r>
            <a:endParaRPr lang="zh-CN" altLang="en-US" sz="1600"/>
          </a:p>
          <a:p>
            <a:r>
              <a:rPr lang="zh-CN" altLang="en-US" sz="1600"/>
              <a:t>       </a:t>
            </a:r>
            <a:r>
              <a:rPr lang="en-US" altLang="zh-CN" sz="1600"/>
              <a:t>result=(result*a)%n;</a:t>
            </a:r>
            <a:endParaRPr lang="en-US" altLang="zh-CN" sz="1600"/>
          </a:p>
          <a:p>
            <a:r>
              <a:rPr lang="en-US" altLang="zh-CN" sz="1600"/>
              <a:t>     }</a:t>
            </a:r>
            <a:endParaRPr lang="en-US" altLang="zh-CN" sz="1600"/>
          </a:p>
          <a:p>
            <a:r>
              <a:rPr lang="en-US" altLang="zh-CN" sz="1600"/>
              <a:t>}</a:t>
            </a:r>
            <a:endParaRPr lang="en-US" altLang="zh-CN" sz="1600"/>
          </a:p>
        </p:txBody>
      </p:sp>
      <p:sp>
        <p:nvSpPr>
          <p:cNvPr id="400389" name="Text Box 5"/>
          <p:cNvSpPr txBox="1">
            <a:spLocks noChangeArrowheads="1"/>
          </p:cNvSpPr>
          <p:nvPr/>
        </p:nvSpPr>
        <p:spPr bwMode="auto">
          <a:xfrm>
            <a:off x="4500563" y="2805113"/>
            <a:ext cx="3735387" cy="253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en-US" altLang="zh-CN" sz="1600"/>
              <a:t>bool </a:t>
            </a:r>
            <a:r>
              <a:rPr lang="en-US" altLang="zh-CN" sz="1600" b="1"/>
              <a:t>Prime</a:t>
            </a:r>
            <a:r>
              <a:rPr lang="en-US" altLang="zh-CN" sz="1600"/>
              <a:t>(unsigned int n)</a:t>
            </a:r>
            <a:endParaRPr lang="en-US" altLang="zh-CN" sz="1600"/>
          </a:p>
          <a:p>
            <a:r>
              <a:rPr lang="en-US" altLang="zh-CN" sz="1600"/>
              <a:t>{// </a:t>
            </a:r>
            <a:r>
              <a:rPr lang="zh-CN" altLang="en-US" sz="1600"/>
              <a:t>素数测试的蒙特卡罗算法</a:t>
            </a:r>
            <a:endParaRPr lang="zh-CN" altLang="en-US" sz="1600"/>
          </a:p>
          <a:p>
            <a:r>
              <a:rPr lang="zh-CN" altLang="en-US" sz="1600"/>
              <a:t>   </a:t>
            </a:r>
            <a:r>
              <a:rPr lang="en-US" altLang="zh-CN" sz="1600"/>
              <a:t>RandomNumber rnd;</a:t>
            </a:r>
            <a:endParaRPr lang="en-US" altLang="zh-CN" sz="1600"/>
          </a:p>
          <a:p>
            <a:r>
              <a:rPr lang="en-US" altLang="zh-CN" sz="1600"/>
              <a:t>   unsigned int a, result;</a:t>
            </a:r>
            <a:endParaRPr lang="en-US" altLang="zh-CN" sz="1600"/>
          </a:p>
          <a:p>
            <a:r>
              <a:rPr lang="en-US" altLang="zh-CN" sz="1600"/>
              <a:t>   bool composite=false;</a:t>
            </a:r>
            <a:endParaRPr lang="en-US" altLang="zh-CN" sz="1600"/>
          </a:p>
          <a:p>
            <a:r>
              <a:rPr lang="en-US" altLang="zh-CN" sz="1600"/>
              <a:t>   a=rnd.Random(n-3)+2;</a:t>
            </a:r>
            <a:endParaRPr lang="en-US" altLang="zh-CN" sz="1600"/>
          </a:p>
          <a:p>
            <a:r>
              <a:rPr lang="en-US" altLang="zh-CN" sz="1600"/>
              <a:t>   power(a,n-1,n,result,composite);</a:t>
            </a:r>
            <a:endParaRPr lang="en-US" altLang="zh-CN" sz="1600"/>
          </a:p>
          <a:p>
            <a:r>
              <a:rPr lang="en-US" altLang="zh-CN" sz="1600"/>
              <a:t>   if (composite||(result!=1)) return false;</a:t>
            </a:r>
            <a:endParaRPr lang="en-US" altLang="zh-CN" sz="1600"/>
          </a:p>
          <a:p>
            <a:r>
              <a:rPr lang="en-US" altLang="zh-CN" sz="1600"/>
              <a:t>   else return true;</a:t>
            </a:r>
            <a:endParaRPr lang="en-US" altLang="zh-CN" sz="1600"/>
          </a:p>
          <a:p>
            <a:r>
              <a:rPr lang="en-US" altLang="zh-CN" sz="1600"/>
              <a:t>}</a:t>
            </a:r>
            <a:endParaRPr lang="en-US" altLang="zh-CN" sz="1600"/>
          </a:p>
        </p:txBody>
      </p:sp>
      <p:sp>
        <p:nvSpPr>
          <p:cNvPr id="400390" name="Text Box 6"/>
          <p:cNvSpPr txBox="1">
            <a:spLocks noChangeArrowheads="1"/>
          </p:cNvSpPr>
          <p:nvPr/>
        </p:nvSpPr>
        <p:spPr bwMode="auto">
          <a:xfrm>
            <a:off x="3419475" y="4365625"/>
            <a:ext cx="4895850" cy="1968500"/>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算法</a:t>
            </a:r>
            <a:r>
              <a:rPr lang="en-US" altLang="zh-CN" sz="2400" b="1">
                <a:ea typeface="新宋体" panose="02010609030101010101" charset="-122"/>
              </a:rPr>
              <a:t>prime</a:t>
            </a:r>
            <a:r>
              <a:rPr lang="zh-CN" altLang="en-US" sz="2400">
                <a:ea typeface="新宋体" panose="02010609030101010101" charset="-122"/>
              </a:rPr>
              <a:t>是一个偏假</a:t>
            </a:r>
            <a:r>
              <a:rPr lang="en-US" altLang="zh-CN" sz="2400">
                <a:ea typeface="新宋体" panose="02010609030101010101" charset="-122"/>
              </a:rPr>
              <a:t>3/4</a:t>
            </a:r>
            <a:r>
              <a:rPr lang="zh-CN" altLang="en-US" sz="2400">
                <a:ea typeface="新宋体" panose="02010609030101010101" charset="-122"/>
              </a:rPr>
              <a:t>正确的蒙特卡罗算法。通过多次重复调用错误概率不超过</a:t>
            </a:r>
            <a:r>
              <a:rPr lang="en-US" altLang="zh-CN" sz="2400">
                <a:ea typeface="新宋体" panose="02010609030101010101" charset="-122"/>
              </a:rPr>
              <a:t>(1/4)</a:t>
            </a:r>
            <a:r>
              <a:rPr lang="en-US" altLang="zh-CN" sz="2400" baseline="30000">
                <a:ea typeface="新宋体" panose="02010609030101010101" charset="-122"/>
              </a:rPr>
              <a:t>k</a:t>
            </a:r>
            <a:r>
              <a:rPr lang="zh-CN" altLang="en-US" sz="2400">
                <a:ea typeface="新宋体" panose="02010609030101010101" charset="-122"/>
              </a:rPr>
              <a:t>。这是一个很保守的估计，实际使用的效果要好得多。</a:t>
            </a:r>
            <a:endParaRPr lang="zh-CN" altLang="en-US" sz="2400">
              <a:ea typeface="新宋体" panose="02010609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0390"/>
                                        </p:tgtEl>
                                        <p:attrNameLst>
                                          <p:attrName>style.visibility</p:attrName>
                                        </p:attrNameLst>
                                      </p:cBhvr>
                                      <p:to>
                                        <p:strVal val="visible"/>
                                      </p:to>
                                    </p:set>
                                    <p:animEffect transition="in" filter="blinds(horizontal)">
                                      <p:cBhvr>
                                        <p:cTn id="7" dur="500"/>
                                        <p:tgtEl>
                                          <p:spTgt spid="4003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90"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1DDA0559-BF27-4F2E-AE5F-55189907D179}" type="slidenum">
              <a:rPr lang="en-US" altLang="zh-CN"/>
            </a:fld>
            <a:endParaRPr lang="en-US" altLang="zh-CN"/>
          </a:p>
        </p:txBody>
      </p:sp>
      <p:sp>
        <p:nvSpPr>
          <p:cNvPr id="401410" name="Rectangle 2"/>
          <p:cNvSpPr>
            <a:spLocks noGrp="1" noChangeArrowheads="1"/>
          </p:cNvSpPr>
          <p:nvPr>
            <p:ph type="title"/>
          </p:nvPr>
        </p:nvSpPr>
        <p:spPr/>
        <p:txBody>
          <a:bodyPr/>
          <a:lstStyle/>
          <a:p>
            <a:r>
              <a:rPr lang="zh-CN" altLang="en-US"/>
              <a:t>课堂思考题</a:t>
            </a:r>
            <a:endParaRPr lang="zh-CN" altLang="en-US"/>
          </a:p>
        </p:txBody>
      </p:sp>
      <p:sp>
        <p:nvSpPr>
          <p:cNvPr id="401411" name="Rectangle 3"/>
          <p:cNvSpPr>
            <a:spLocks noGrp="1" noChangeArrowheads="1"/>
          </p:cNvSpPr>
          <p:nvPr>
            <p:ph type="body" idx="1"/>
          </p:nvPr>
        </p:nvSpPr>
        <p:spPr/>
        <p:txBody>
          <a:bodyPr/>
          <a:lstStyle/>
          <a:p>
            <a:r>
              <a:rPr lang="zh-CN" altLang="en-US" sz="2600" dirty="0"/>
              <a:t>设一个蒙特卡洛算法能在任何情况下以至少为</a:t>
            </a:r>
            <a:r>
              <a:rPr lang="en-US" altLang="zh-CN" sz="2600" dirty="0"/>
              <a:t>1-</a:t>
            </a:r>
            <a:r>
              <a:rPr lang="en-US" altLang="zh-CN" sz="2600" i="1" dirty="0"/>
              <a:t>a </a:t>
            </a:r>
            <a:r>
              <a:rPr lang="zh-CN" altLang="en-US" sz="2600" dirty="0"/>
              <a:t>的概率给出正确结果。试问该算法需要重复执行多少次才能将给出正确结果的概率提高到至少</a:t>
            </a:r>
            <a:r>
              <a:rPr lang="en-US" altLang="zh-CN" sz="2600" dirty="0"/>
              <a:t>1-</a:t>
            </a:r>
            <a:r>
              <a:rPr lang="en-US" altLang="zh-CN" sz="2600" i="1" dirty="0"/>
              <a:t>b</a:t>
            </a:r>
            <a:r>
              <a:rPr lang="zh-CN" altLang="en-US" sz="2600" dirty="0"/>
              <a:t>（其中</a:t>
            </a:r>
            <a:r>
              <a:rPr lang="en-US" altLang="zh-CN" sz="2600" dirty="0"/>
              <a:t>0&lt;</a:t>
            </a:r>
            <a:r>
              <a:rPr lang="en-US" altLang="zh-CN" sz="2600" i="1" dirty="0"/>
              <a:t>b</a:t>
            </a:r>
            <a:r>
              <a:rPr lang="en-US" altLang="zh-CN" sz="2600" dirty="0"/>
              <a:t>&lt;</a:t>
            </a:r>
            <a:r>
              <a:rPr lang="en-US" altLang="zh-CN" sz="2600" i="1" dirty="0"/>
              <a:t>a</a:t>
            </a:r>
            <a:r>
              <a:rPr lang="en-US" altLang="zh-CN" sz="2600" dirty="0"/>
              <a:t>&lt;1</a:t>
            </a:r>
            <a:r>
              <a:rPr lang="zh-CN" altLang="en-US" sz="2600"/>
              <a:t>）</a:t>
            </a:r>
            <a:r>
              <a:rPr lang="zh-CN" altLang="en-US" sz="2600" smtClean="0"/>
              <a:t>？</a:t>
            </a:r>
            <a:endParaRPr lang="zh-CN" altLang="en-US"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401411">
                                            <p:txEl>
                                              <p:pRg st="0" end="0"/>
                                            </p:txEl>
                                          </p:spTgt>
                                        </p:tgtEl>
                                        <p:attrNameLst>
                                          <p:attrName>style.visibility</p:attrName>
                                        </p:attrNameLst>
                                      </p:cBhvr>
                                      <p:to>
                                        <p:strVal val="visible"/>
                                      </p:to>
                                    </p:set>
                                    <p:animEffect transition="in" filter="strips(downRight)">
                                      <p:cBhvr>
                                        <p:cTn id="7" dur="500"/>
                                        <p:tgtEl>
                                          <p:spTgt spid="4014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00427D5A-007F-4B68-B1E0-E6A6B0E52188}" type="slidenum">
              <a:rPr lang="en-US" altLang="zh-CN"/>
            </a:fld>
            <a:endParaRPr lang="en-US" altLang="zh-CN"/>
          </a:p>
        </p:txBody>
      </p:sp>
      <p:sp>
        <p:nvSpPr>
          <p:cNvPr id="363522" name="Rectangle 2"/>
          <p:cNvSpPr>
            <a:spLocks noGrp="1" noChangeArrowheads="1"/>
          </p:cNvSpPr>
          <p:nvPr>
            <p:ph type="title"/>
          </p:nvPr>
        </p:nvSpPr>
        <p:spPr/>
        <p:txBody>
          <a:bodyPr/>
          <a:lstStyle/>
          <a:p>
            <a:r>
              <a:rPr lang="zh-CN" altLang="en-US"/>
              <a:t>本周任务</a:t>
            </a:r>
            <a:endParaRPr lang="zh-CN" altLang="en-US"/>
          </a:p>
        </p:txBody>
      </p:sp>
      <p:sp>
        <p:nvSpPr>
          <p:cNvPr id="363523" name="Rectangle 3"/>
          <p:cNvSpPr>
            <a:spLocks noGrp="1" noChangeArrowheads="1"/>
          </p:cNvSpPr>
          <p:nvPr>
            <p:ph type="body" idx="1"/>
          </p:nvPr>
        </p:nvSpPr>
        <p:spPr/>
        <p:txBody>
          <a:bodyPr/>
          <a:lstStyle/>
          <a:p>
            <a:r>
              <a:rPr lang="zh-CN" altLang="en-US"/>
              <a:t>课后习题</a:t>
            </a:r>
            <a:endParaRPr lang="zh-CN" altLang="en-US"/>
          </a:p>
          <a:p>
            <a:r>
              <a:rPr lang="en-US" altLang="zh-CN"/>
              <a:t>7-2</a:t>
            </a:r>
            <a:r>
              <a:rPr lang="zh-CN" altLang="en-US"/>
              <a:t>、</a:t>
            </a:r>
            <a:r>
              <a:rPr lang="en-US" altLang="zh-CN"/>
              <a:t>3</a:t>
            </a:r>
            <a:r>
              <a:rPr lang="zh-CN" altLang="en-US"/>
              <a:t>、</a:t>
            </a:r>
            <a:r>
              <a:rPr lang="en-US" altLang="zh-CN"/>
              <a:t>5</a:t>
            </a:r>
            <a:endParaRPr lang="en-US" altLang="zh-CN"/>
          </a:p>
          <a:p>
            <a:r>
              <a:rPr lang="zh-CN" altLang="en-US"/>
              <a:t>算法设计题：</a:t>
            </a:r>
            <a:endParaRPr lang="zh-CN" altLang="en-US"/>
          </a:p>
          <a:p>
            <a:pPr lvl="1"/>
            <a:r>
              <a:rPr lang="zh-CN" altLang="en-US"/>
              <a:t>设计一个时间复杂度为</a:t>
            </a:r>
            <a:r>
              <a:rPr lang="en-US" altLang="zh-CN"/>
              <a:t>O(</a:t>
            </a:r>
            <a:r>
              <a:rPr lang="en-US" altLang="zh-CN" i="1"/>
              <a:t>n</a:t>
            </a:r>
            <a:r>
              <a:rPr lang="en-US" altLang="zh-CN" baseline="30000"/>
              <a:t>2</a:t>
            </a:r>
            <a:r>
              <a:rPr lang="en-US" altLang="zh-CN"/>
              <a:t>)</a:t>
            </a:r>
            <a:r>
              <a:rPr lang="zh-CN" altLang="en-US"/>
              <a:t>的算法来产生</a:t>
            </a:r>
            <a:r>
              <a:rPr lang="en-US" altLang="zh-CN"/>
              <a:t>1,2,⋯,</a:t>
            </a:r>
            <a:r>
              <a:rPr lang="en-US" altLang="zh-CN" i="1"/>
              <a:t>n</a:t>
            </a:r>
            <a:r>
              <a:rPr lang="en-US" altLang="zh-CN"/>
              <a:t>.</a:t>
            </a:r>
            <a:r>
              <a:rPr lang="zh-CN" altLang="en-US"/>
              <a:t>的一个随机排列。要求用文字描述算法的基本思路，并分析其时间复杂度。</a:t>
            </a:r>
            <a:endParaRPr lang="en-US" altLang="zh-CN"/>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Network</Template>
  <TotalTime>0</TotalTime>
  <Words>11602</Words>
  <Application>WPS 演示</Application>
  <PresentationFormat>全屏显示(4:3)</PresentationFormat>
  <Paragraphs>730</Paragraphs>
  <Slides>66</Slides>
  <Notes>1</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39</vt:i4>
      </vt:variant>
      <vt:variant>
        <vt:lpstr>幻灯片标题</vt:lpstr>
      </vt:variant>
      <vt:variant>
        <vt:i4>66</vt:i4>
      </vt:variant>
    </vt:vector>
  </HeadingPairs>
  <TitlesOfParts>
    <vt:vector size="121" baseType="lpstr">
      <vt:lpstr>Arial</vt:lpstr>
      <vt:lpstr>宋体</vt:lpstr>
      <vt:lpstr>Wingdings</vt:lpstr>
      <vt:lpstr>Times New Roman</vt:lpstr>
      <vt:lpstr>黑体</vt:lpstr>
      <vt:lpstr>Symbol</vt:lpstr>
      <vt:lpstr>楷体_GB2312</vt:lpstr>
      <vt:lpstr>新宋体</vt:lpstr>
      <vt:lpstr>微软雅黑</vt:lpstr>
      <vt:lpstr>Arial Unicode MS</vt:lpstr>
      <vt:lpstr>Verdana</vt:lpstr>
      <vt:lpstr>Corbel</vt:lpstr>
      <vt:lpstr>Arial</vt:lpstr>
      <vt:lpstr>Symbol</vt:lpstr>
      <vt:lpstr>楷体_GB2312</vt:lpstr>
      <vt:lpstr>Network</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第7章  概率算法</vt:lpstr>
      <vt:lpstr>PowerPoint 演示文稿</vt:lpstr>
      <vt:lpstr>伪随机数</vt:lpstr>
      <vt:lpstr>随机数</vt:lpstr>
      <vt:lpstr>线性同余法</vt:lpstr>
      <vt:lpstr>PowerPoint 演示文稿</vt:lpstr>
      <vt:lpstr>PowerPoint 演示文稿</vt:lpstr>
      <vt:lpstr>PowerPoint 演示文稿</vt:lpstr>
      <vt:lpstr>PowerPoint 演示文稿</vt:lpstr>
      <vt:lpstr>获取系统时间</vt:lpstr>
      <vt:lpstr>PowerPoint 演示文稿</vt:lpstr>
      <vt:lpstr>模拟抛硬币实验</vt:lpstr>
      <vt:lpstr>数值随机化算法 </vt:lpstr>
      <vt:lpstr>数值概率算法</vt:lpstr>
      <vt:lpstr>PowerPoint 演示文稿</vt:lpstr>
      <vt:lpstr>PowerPoint 演示文稿</vt:lpstr>
      <vt:lpstr>PowerPoint 演示文稿</vt:lpstr>
      <vt:lpstr>PowerPoint 演示文稿</vt:lpstr>
      <vt:lpstr>课堂作业--课后习题1</vt:lpstr>
      <vt:lpstr>扩展到一般的正态分布的算法</vt:lpstr>
      <vt:lpstr>用平均值法计算定积分</vt:lpstr>
      <vt:lpstr>PowerPoint 演示文稿</vt:lpstr>
      <vt:lpstr>PowerPoint 演示文稿</vt:lpstr>
      <vt:lpstr>基本思想</vt:lpstr>
      <vt:lpstr>PowerPoint 演示文稿</vt:lpstr>
      <vt:lpstr>舍伍德(Sherwood)算法</vt:lpstr>
      <vt:lpstr>舍伍德(Sherwood)算法</vt:lpstr>
      <vt:lpstr>PowerPoint 演示文稿</vt:lpstr>
      <vt:lpstr>PowerPoint 演示文稿</vt:lpstr>
      <vt:lpstr>舍伍德(Sherwood)算法</vt:lpstr>
      <vt:lpstr>PowerPoint 演示文稿</vt:lpstr>
      <vt:lpstr>跳跃表</vt:lpstr>
      <vt:lpstr>跳跃表</vt:lpstr>
      <vt:lpstr>PowerPoint 演示文稿</vt:lpstr>
      <vt:lpstr>PowerPoint 演示文稿</vt:lpstr>
      <vt:lpstr>跳跃表</vt:lpstr>
      <vt:lpstr>PowerPoint 演示文稿</vt:lpstr>
      <vt:lpstr>跳跃表的时间空间复杂性分析</vt:lpstr>
      <vt:lpstr>拉斯维加斯算法</vt:lpstr>
      <vt:lpstr>拉斯维加斯算法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Pollard ρ方法</vt:lpstr>
      <vt:lpstr>Pollard ρ方法</vt:lpstr>
      <vt:lpstr>PowerPoint 演示文稿</vt:lpstr>
      <vt:lpstr>蒙特卡罗算法</vt:lpstr>
      <vt:lpstr>蒙特卡罗算法</vt:lpstr>
      <vt:lpstr> 蒙特卡罗方法的基本原理及思想</vt:lpstr>
      <vt:lpstr>PowerPoint 演示文稿</vt:lpstr>
      <vt:lpstr>PowerPoint 演示文稿</vt:lpstr>
      <vt:lpstr>PowerPoint 演示文稿</vt:lpstr>
      <vt:lpstr>PowerPoint 演示文稿</vt:lpstr>
      <vt:lpstr>素数的若干结论</vt:lpstr>
      <vt:lpstr>PowerPoint 演示文稿</vt:lpstr>
      <vt:lpstr>课堂思考题</vt:lpstr>
      <vt:lpstr>本周任务</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dc:creator>
  <cp:lastModifiedBy>Administrator</cp:lastModifiedBy>
  <cp:revision>76</cp:revision>
  <cp:lastPrinted>2113-01-01T00:00:00Z</cp:lastPrinted>
  <dcterms:created xsi:type="dcterms:W3CDTF">2003-05-27T06:14:00Z</dcterms:created>
  <dcterms:modified xsi:type="dcterms:W3CDTF">2019-12-04T13:31:12Z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