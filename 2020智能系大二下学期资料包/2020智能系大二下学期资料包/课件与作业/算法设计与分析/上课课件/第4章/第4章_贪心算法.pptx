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5"/>
  </p:handoutMasterIdLst>
  <p:sldIdLst>
    <p:sldId id="316" r:id="rId3"/>
    <p:sldId id="338" r:id="rId5"/>
    <p:sldId id="315" r:id="rId6"/>
    <p:sldId id="257" r:id="rId7"/>
    <p:sldId id="260" r:id="rId8"/>
    <p:sldId id="318" r:id="rId9"/>
    <p:sldId id="319" r:id="rId10"/>
    <p:sldId id="320" r:id="rId11"/>
    <p:sldId id="262" r:id="rId12"/>
    <p:sldId id="264" r:id="rId13"/>
    <p:sldId id="258" r:id="rId14"/>
    <p:sldId id="321" r:id="rId15"/>
    <p:sldId id="263" r:id="rId16"/>
    <p:sldId id="265" r:id="rId17"/>
    <p:sldId id="322" r:id="rId18"/>
    <p:sldId id="266" r:id="rId19"/>
    <p:sldId id="323" r:id="rId20"/>
    <p:sldId id="324" r:id="rId21"/>
    <p:sldId id="267" r:id="rId22"/>
    <p:sldId id="268" r:id="rId23"/>
    <p:sldId id="326" r:id="rId24"/>
    <p:sldId id="269" r:id="rId25"/>
    <p:sldId id="270" r:id="rId26"/>
    <p:sldId id="271" r:id="rId27"/>
    <p:sldId id="325" r:id="rId28"/>
    <p:sldId id="272" r:id="rId29"/>
    <p:sldId id="274" r:id="rId30"/>
    <p:sldId id="273" r:id="rId31"/>
    <p:sldId id="327" r:id="rId32"/>
    <p:sldId id="328" r:id="rId33"/>
    <p:sldId id="329" r:id="rId34"/>
    <p:sldId id="330" r:id="rId35"/>
    <p:sldId id="331" r:id="rId36"/>
    <p:sldId id="332" r:id="rId37"/>
    <p:sldId id="333" r:id="rId38"/>
    <p:sldId id="334" r:id="rId39"/>
    <p:sldId id="335" r:id="rId40"/>
    <p:sldId id="336" r:id="rId41"/>
    <p:sldId id="337"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4" r:id="rId57"/>
    <p:sldId id="355" r:id="rId58"/>
    <p:sldId id="356" r:id="rId59"/>
    <p:sldId id="357" r:id="rId60"/>
    <p:sldId id="358" r:id="rId61"/>
    <p:sldId id="359" r:id="rId62"/>
    <p:sldId id="360" r:id="rId63"/>
    <p:sldId id="361" r:id="rId64"/>
    <p:sldId id="362" r:id="rId65"/>
    <p:sldId id="363" r:id="rId66"/>
    <p:sldId id="364" r:id="rId67"/>
    <p:sldId id="365" r:id="rId68"/>
    <p:sldId id="366" r:id="rId69"/>
    <p:sldId id="367" r:id="rId70"/>
    <p:sldId id="368" r:id="rId71"/>
    <p:sldId id="369" r:id="rId72"/>
    <p:sldId id="370" r:id="rId73"/>
    <p:sldId id="371" r:id="rId74"/>
    <p:sldId id="372" r:id="rId75"/>
    <p:sldId id="373" r:id="rId76"/>
    <p:sldId id="374" r:id="rId77"/>
    <p:sldId id="375" r:id="rId78"/>
    <p:sldId id="376" r:id="rId79"/>
    <p:sldId id="377" r:id="rId80"/>
    <p:sldId id="378" r:id="rId81"/>
    <p:sldId id="379" r:id="rId82"/>
    <p:sldId id="380" r:id="rId83"/>
    <p:sldId id="339" r:id="rId8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FF"/>
    <a:srgbClr val="DDDDDD"/>
    <a:srgbClr val="663300"/>
    <a:srgbClr val="000066"/>
    <a:srgbClr val="FFFF99"/>
    <a:srgbClr val="FFFF66"/>
    <a:srgbClr val="FF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7" autoAdjust="0"/>
    <p:restoredTop sz="99482" autoAdjust="0"/>
  </p:normalViewPr>
  <p:slideViewPr>
    <p:cSldViewPr>
      <p:cViewPr varScale="1">
        <p:scale>
          <a:sx n="115" d="100"/>
          <a:sy n="115" d="100"/>
        </p:scale>
        <p:origin x="149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handoutMaster" Target="handoutMasters/handoutMaster1.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smtClean="0">
                <a:latin typeface="Times New Roman" panose="02020603050405020304" pitchFamily="18" charset="0"/>
                <a:ea typeface="宋体" panose="02010600030101010101" pitchFamily="2" charset="-122"/>
              </a:defRPr>
            </a:lvl1pPr>
          </a:lstStyle>
          <a:p>
            <a:pPr>
              <a:defRPr/>
            </a:pPr>
            <a:endParaRPr lang="zh-CN" altLang="en-US"/>
          </a:p>
        </p:txBody>
      </p:sp>
      <p:sp>
        <p:nvSpPr>
          <p:cNvPr id="1085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smtClean="0">
                <a:latin typeface="Times New Roman" panose="02020603050405020304" pitchFamily="18" charset="0"/>
                <a:ea typeface="宋体" panose="02010600030101010101" pitchFamily="2" charset="-122"/>
              </a:defRPr>
            </a:lvl1pPr>
          </a:lstStyle>
          <a:p>
            <a:pPr>
              <a:defRPr/>
            </a:pPr>
            <a:endParaRPr lang="en-US" altLang="zh-CN"/>
          </a:p>
        </p:txBody>
      </p:sp>
      <p:sp>
        <p:nvSpPr>
          <p:cNvPr id="1085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smtClean="0">
                <a:latin typeface="Times New Roman" panose="02020603050405020304" pitchFamily="18" charset="0"/>
                <a:ea typeface="宋体" panose="02010600030101010101" pitchFamily="2" charset="-122"/>
              </a:defRPr>
            </a:lvl1pPr>
          </a:lstStyle>
          <a:p>
            <a:pPr>
              <a:defRPr/>
            </a:pPr>
            <a:endParaRPr lang="en-US" altLang="zh-CN"/>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smtClean="0">
                <a:latin typeface="Times New Roman" panose="02020603050405020304" pitchFamily="18" charset="0"/>
                <a:ea typeface="宋体" panose="02010600030101010101" pitchFamily="2" charset="-122"/>
              </a:defRPr>
            </a:lvl1pPr>
          </a:lstStyle>
          <a:p>
            <a:pPr>
              <a:defRPr/>
            </a:pPr>
            <a:fld id="{FA1240B2-DF0F-4FE5-A3C6-3F4A15EEE08A}"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smtClean="0">
                <a:latin typeface="Times New Roman" panose="02020603050405020304" pitchFamily="18" charset="0"/>
                <a:ea typeface="宋体" panose="02010600030101010101" pitchFamily="2" charset="-122"/>
              </a:defRPr>
            </a:lvl1pPr>
          </a:lstStyle>
          <a:p>
            <a:pPr>
              <a:defRPr/>
            </a:pPr>
            <a:endParaRPr lang="zh-CN" altLang="en-US"/>
          </a:p>
        </p:txBody>
      </p:sp>
      <p:sp>
        <p:nvSpPr>
          <p:cNvPr id="2662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smtClean="0">
                <a:latin typeface="Times New Roman" panose="02020603050405020304" pitchFamily="18" charset="0"/>
                <a:ea typeface="宋体" panose="02010600030101010101" pitchFamily="2" charset="-122"/>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663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smtClean="0">
                <a:latin typeface="Times New Roman" panose="02020603050405020304" pitchFamily="18" charset="0"/>
                <a:ea typeface="宋体" panose="02010600030101010101" pitchFamily="2" charset="-122"/>
              </a:defRPr>
            </a:lvl1pPr>
          </a:lstStyle>
          <a:p>
            <a:pPr>
              <a:defRPr/>
            </a:pPr>
            <a:endParaRPr lang="en-US" altLang="zh-CN"/>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smtClean="0">
                <a:latin typeface="Times New Roman" panose="02020603050405020304" pitchFamily="18" charset="0"/>
                <a:ea typeface="宋体" panose="02010600030101010101" pitchFamily="2" charset="-122"/>
              </a:defRPr>
            </a:lvl1pPr>
          </a:lstStyle>
          <a:p>
            <a:pPr>
              <a:defRPr/>
            </a:pPr>
            <a:fld id="{34194BCD-7416-444B-AEDD-9C125763749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8C52D1-9C0F-47B1-820F-B121C07E9E82}" type="slidenum">
              <a:rPr lang="zh-CN" altLang="en-US">
                <a:latin typeface="Times New Roman" panose="02020603050405020304" pitchFamily="18" charset="0"/>
              </a:rPr>
            </a:fld>
            <a:endParaRPr lang="en-US" altLang="zh-CN">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ea typeface="宋体" panose="02010600030101010101" pitchFamily="2" charset="-122"/>
              </a:rPr>
              <a:t>欢迎辞</a:t>
            </a:r>
            <a:endParaRPr lang="zh-CN" altLang="en-US" smtClean="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a:effectLst/>
        </p:spPr>
        <p:txBody>
          <a:bodyPr/>
          <a:lstStyle/>
          <a:p>
            <a:pPr>
              <a:defRPr/>
            </a:pPr>
            <a:endParaRPr lang="zh-CN" altLang="en-US">
              <a:ea typeface="宋体" panose="02010600030101010101" pitchFamily="2" charset="-122"/>
            </a:endParaRPr>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a:effectLst/>
        </p:spPr>
        <p:txBody>
          <a:bodyPr/>
          <a:lstStyle/>
          <a:p>
            <a:pPr>
              <a:defRPr/>
            </a:pPr>
            <a:endParaRPr lang="zh-CN" altLang="en-US">
              <a:ea typeface="宋体" panose="02010600030101010101" pitchFamily="2" charset="-122"/>
            </a:endParaRPr>
          </a:p>
        </p:txBody>
      </p:sp>
      <p:sp>
        <p:nvSpPr>
          <p:cNvPr id="405507"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zh-CN"/>
              <a:t>单击此处编辑母版标题样式</a:t>
            </a:r>
            <a:endParaRPr lang="en-US" altLang="zh-CN"/>
          </a:p>
        </p:txBody>
      </p:sp>
      <p:sp>
        <p:nvSpPr>
          <p:cNvPr id="405508"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en-US" altLang="zh-CN"/>
              <a:t>单击此处编辑母版副标题样式</a:t>
            </a:r>
            <a:endParaRPr lang="en-US" altLang="zh-CN"/>
          </a:p>
        </p:txBody>
      </p:sp>
      <p:sp>
        <p:nvSpPr>
          <p:cNvPr id="38" name="Rectangle 5"/>
          <p:cNvSpPr>
            <a:spLocks noGrp="1" noChangeArrowheads="1"/>
          </p:cNvSpPr>
          <p:nvPr>
            <p:ph type="dt" sz="half" idx="10"/>
          </p:nvPr>
        </p:nvSpPr>
        <p:spPr/>
        <p:txBody>
          <a:bodyPr/>
          <a:lstStyle>
            <a:lvl1pPr>
              <a:defRPr smtClean="0"/>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smtClean="0"/>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E286BAA5-C242-4A19-8409-B1BDED933784}" type="slidenum">
              <a:rPr lang="en-US" altLang="zh-CN"/>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EA0E1A4-850B-401F-B14B-163C65776FE7}" type="slidenum">
              <a:rPr lang="en-US" altLang="zh-CN"/>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CA5C0B2-5D11-4C6F-B395-087C7A1F8523}" type="slidenum">
              <a:rPr lang="en-US" altLang="zh-CN"/>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7A3B304-F19F-4D21-9DCF-FC47AD7A05F6}" type="slidenum">
              <a:rPr lang="en-US" altLang="zh-CN"/>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DF46162-80E8-4509-9FB9-EB3F0EB456D6}" type="slidenum">
              <a:rPr lang="en-US" altLang="zh-CN"/>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4BCC1FBD-7F1C-433C-A0C6-422D172C6186}" type="slidenum">
              <a:rPr lang="en-US" altLang="zh-CN"/>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DD014BAA-4835-4894-8256-DA101023447F}" type="slidenum">
              <a:rPr lang="en-US" altLang="zh-CN"/>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DDA157C-9315-4291-963E-6325B6DEDA95}" type="slidenum">
              <a:rPr lang="en-US" altLang="zh-CN"/>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7A64E0B-EB92-4678-A33B-86595BD184C6}" type="slidenum">
              <a:rPr lang="en-US" altLang="zh-CN"/>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22E49ED-1FC4-4FD1-B141-E9FEB1910480}" type="slidenum">
              <a:rPr lang="en-US" altLang="zh-CN"/>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02A49C9D-C947-43DC-A77E-0341A019F6A3}" type="slidenum">
              <a:rPr lang="en-US" altLang="zh-CN"/>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图表占位符 3"/>
          <p:cNvSpPr>
            <a:spLocks noGrp="1"/>
          </p:cNvSpPr>
          <p:nvPr>
            <p:ph type="chart" sz="half" idx="2"/>
          </p:nvPr>
        </p:nvSpPr>
        <p:spPr>
          <a:xfrm>
            <a:off x="4648200" y="1719263"/>
            <a:ext cx="4038600" cy="4411662"/>
          </a:xfrm>
        </p:spPr>
        <p:txBody>
          <a:bodyPr/>
          <a:lstStyle/>
          <a:p>
            <a:pPr lvl="0"/>
            <a:endParaRPr lang="zh-CN" altLang="en-US" noProof="0"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9FD7EA40-A83B-46AD-BA52-CBE0B143410B}" type="slidenum">
              <a:rPr lang="en-US" altLang="zh-CN"/>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1F346B00-50DD-4419-BE96-ED98CABDD331}" type="slidenum">
              <a:rPr lang="en-US" altLang="zh-CN"/>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648200" y="1719263"/>
            <a:ext cx="4038600" cy="441166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64F3DCFB-89D3-4928-8C8D-FA0EE8259DF7}" type="slidenum">
              <a:rPr lang="en-US" altLang="zh-CN"/>
            </a:fld>
            <a:endParaRPr lang="en-US" altLang="zh-CN"/>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4482" name="Line 2"/>
          <p:cNvSpPr>
            <a:spLocks noChangeShapeType="1"/>
          </p:cNvSpPr>
          <p:nvPr/>
        </p:nvSpPr>
        <p:spPr bwMode="auto">
          <a:xfrm>
            <a:off x="7962900" y="152400"/>
            <a:ext cx="0" cy="1524000"/>
          </a:xfrm>
          <a:prstGeom prst="line">
            <a:avLst/>
          </a:prstGeom>
          <a:noFill/>
          <a:ln w="9525">
            <a:solidFill>
              <a:schemeClr val="tx1"/>
            </a:solidFill>
            <a:round/>
          </a:ln>
          <a:effectLst/>
        </p:spPr>
        <p:txBody>
          <a:bodyPr/>
          <a:lstStyle/>
          <a:p>
            <a:pPr>
              <a:defRPr/>
            </a:pPr>
            <a:endParaRPr lang="zh-CN" altLang="en-US">
              <a:ea typeface="宋体" panose="02010600030101010101" pitchFamily="2" charset="-122"/>
            </a:endParaRPr>
          </a:p>
        </p:txBody>
      </p:sp>
      <p:sp>
        <p:nvSpPr>
          <p:cNvPr id="2051"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zh-CN" smtClean="0"/>
              <a:t>单击此处编辑母版标题样式</a:t>
            </a:r>
            <a:endParaRPr lang="en-US" altLang="zh-CN" smtClean="0"/>
          </a:p>
        </p:txBody>
      </p:sp>
      <p:sp>
        <p:nvSpPr>
          <p:cNvPr id="2052"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smtClean="0"/>
              <a:t>单击此处编辑母版文本样式</a:t>
            </a:r>
            <a:endParaRPr lang="en-US" altLang="zh-CN" smtClean="0"/>
          </a:p>
          <a:p>
            <a:pPr lvl="1"/>
            <a:r>
              <a:rPr lang="en-US" altLang="zh-CN" smtClean="0"/>
              <a:t>第二级</a:t>
            </a:r>
            <a:endParaRPr lang="en-US" altLang="zh-CN" smtClean="0"/>
          </a:p>
          <a:p>
            <a:pPr lvl="2"/>
            <a:r>
              <a:rPr lang="en-US" altLang="zh-CN" smtClean="0"/>
              <a:t>第三级</a:t>
            </a:r>
            <a:endParaRPr lang="en-US" altLang="zh-CN" smtClean="0"/>
          </a:p>
          <a:p>
            <a:pPr lvl="3"/>
            <a:r>
              <a:rPr lang="en-US" altLang="zh-CN" smtClean="0"/>
              <a:t>第四级</a:t>
            </a:r>
            <a:endParaRPr lang="en-US" altLang="zh-CN" smtClean="0"/>
          </a:p>
          <a:p>
            <a:pPr lvl="4"/>
            <a:r>
              <a:rPr lang="en-US" altLang="zh-CN" smtClean="0"/>
              <a:t>第五级</a:t>
            </a:r>
            <a:endParaRPr lang="en-US" altLang="zh-CN" smtClean="0"/>
          </a:p>
        </p:txBody>
      </p:sp>
      <p:sp>
        <p:nvSpPr>
          <p:cNvPr id="404485"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smtClean="0">
                <a:ea typeface="宋体" panose="02010600030101010101" pitchFamily="2" charset="-122"/>
              </a:defRPr>
            </a:lvl1pPr>
          </a:lstStyle>
          <a:p>
            <a:pPr>
              <a:defRPr/>
            </a:pPr>
            <a:endParaRPr lang="en-US" altLang="zh-CN"/>
          </a:p>
        </p:txBody>
      </p:sp>
      <p:sp>
        <p:nvSpPr>
          <p:cNvPr id="404486"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smtClean="0">
                <a:ea typeface="宋体" panose="02010600030101010101" pitchFamily="2" charset="-122"/>
              </a:defRPr>
            </a:lvl1pPr>
          </a:lstStyle>
          <a:p>
            <a:pPr>
              <a:defRPr/>
            </a:pPr>
            <a:endParaRPr lang="en-US" altLang="zh-CN"/>
          </a:p>
        </p:txBody>
      </p:sp>
      <p:sp>
        <p:nvSpPr>
          <p:cNvPr id="404487"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smtClean="0">
                <a:ea typeface="宋体" panose="02010600030101010101" pitchFamily="2" charset="-122"/>
              </a:defRPr>
            </a:lvl1pPr>
          </a:lstStyle>
          <a:p>
            <a:pPr>
              <a:defRPr/>
            </a:pPr>
            <a:fld id="{83537ACE-78B6-47C8-AFF6-1E6422BD89A1}" type="slidenum">
              <a:rPr lang="en-US" altLang="zh-CN"/>
            </a:fld>
            <a:endParaRPr lang="en-US" altLang="zh-CN"/>
          </a:p>
        </p:txBody>
      </p:sp>
      <p:grpSp>
        <p:nvGrpSpPr>
          <p:cNvPr id="2056" name="Group 8"/>
          <p:cNvGrpSpPr/>
          <p:nvPr/>
        </p:nvGrpSpPr>
        <p:grpSpPr bwMode="auto">
          <a:xfrm>
            <a:off x="8153400" y="152400"/>
            <a:ext cx="792163" cy="1295400"/>
            <a:chOff x="5136" y="960"/>
            <a:chExt cx="528" cy="864"/>
          </a:xfrm>
        </p:grpSpPr>
        <p:sp>
          <p:nvSpPr>
            <p:cNvPr id="404489" name="Oval 9"/>
            <p:cNvSpPr>
              <a:spLocks noChangeArrowheads="1"/>
            </p:cNvSpPr>
            <p:nvPr/>
          </p:nvSpPr>
          <p:spPr bwMode="auto">
            <a:xfrm>
              <a:off x="5136" y="960"/>
              <a:ext cx="80" cy="80"/>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0" name="Oval 10"/>
            <p:cNvSpPr>
              <a:spLocks noChangeArrowheads="1"/>
            </p:cNvSpPr>
            <p:nvPr/>
          </p:nvSpPr>
          <p:spPr bwMode="auto">
            <a:xfrm>
              <a:off x="5248" y="960"/>
              <a:ext cx="79" cy="80"/>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1" name="Oval 11"/>
            <p:cNvSpPr>
              <a:spLocks noChangeArrowheads="1"/>
            </p:cNvSpPr>
            <p:nvPr/>
          </p:nvSpPr>
          <p:spPr bwMode="auto">
            <a:xfrm>
              <a:off x="5360" y="960"/>
              <a:ext cx="79" cy="80"/>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2" name="Oval 12"/>
            <p:cNvSpPr>
              <a:spLocks noChangeArrowheads="1"/>
            </p:cNvSpPr>
            <p:nvPr/>
          </p:nvSpPr>
          <p:spPr bwMode="auto">
            <a:xfrm>
              <a:off x="5136" y="1072"/>
              <a:ext cx="80" cy="79"/>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3" name="Oval 13"/>
            <p:cNvSpPr>
              <a:spLocks noChangeArrowheads="1"/>
            </p:cNvSpPr>
            <p:nvPr/>
          </p:nvSpPr>
          <p:spPr bwMode="auto">
            <a:xfrm>
              <a:off x="5248" y="1072"/>
              <a:ext cx="79" cy="79"/>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4" name="Oval 14"/>
            <p:cNvSpPr>
              <a:spLocks noChangeArrowheads="1"/>
            </p:cNvSpPr>
            <p:nvPr/>
          </p:nvSpPr>
          <p:spPr bwMode="auto">
            <a:xfrm>
              <a:off x="5360" y="1072"/>
              <a:ext cx="79" cy="79"/>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5" name="Oval 15"/>
            <p:cNvSpPr>
              <a:spLocks noChangeArrowheads="1"/>
            </p:cNvSpPr>
            <p:nvPr/>
          </p:nvSpPr>
          <p:spPr bwMode="auto">
            <a:xfrm>
              <a:off x="5472" y="1072"/>
              <a:ext cx="79" cy="79"/>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6" name="Oval 16"/>
            <p:cNvSpPr>
              <a:spLocks noChangeArrowheads="1"/>
            </p:cNvSpPr>
            <p:nvPr/>
          </p:nvSpPr>
          <p:spPr bwMode="auto">
            <a:xfrm>
              <a:off x="5136" y="1184"/>
              <a:ext cx="80" cy="79"/>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7" name="Oval 17"/>
            <p:cNvSpPr>
              <a:spLocks noChangeArrowheads="1"/>
            </p:cNvSpPr>
            <p:nvPr/>
          </p:nvSpPr>
          <p:spPr bwMode="auto">
            <a:xfrm>
              <a:off x="5248" y="1184"/>
              <a:ext cx="79" cy="79"/>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8" name="Oval 18"/>
            <p:cNvSpPr>
              <a:spLocks noChangeArrowheads="1"/>
            </p:cNvSpPr>
            <p:nvPr/>
          </p:nvSpPr>
          <p:spPr bwMode="auto">
            <a:xfrm>
              <a:off x="5360" y="1184"/>
              <a:ext cx="79" cy="79"/>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499" name="Oval 19"/>
            <p:cNvSpPr>
              <a:spLocks noChangeArrowheads="1"/>
            </p:cNvSpPr>
            <p:nvPr/>
          </p:nvSpPr>
          <p:spPr bwMode="auto">
            <a:xfrm>
              <a:off x="5472" y="1184"/>
              <a:ext cx="79" cy="79"/>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0" name="Oval 20"/>
            <p:cNvSpPr>
              <a:spLocks noChangeArrowheads="1"/>
            </p:cNvSpPr>
            <p:nvPr/>
          </p:nvSpPr>
          <p:spPr bwMode="auto">
            <a:xfrm>
              <a:off x="5584" y="1184"/>
              <a:ext cx="80" cy="79"/>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1" name="Oval 21"/>
            <p:cNvSpPr>
              <a:spLocks noChangeArrowheads="1"/>
            </p:cNvSpPr>
            <p:nvPr/>
          </p:nvSpPr>
          <p:spPr bwMode="auto">
            <a:xfrm>
              <a:off x="5136" y="1296"/>
              <a:ext cx="80" cy="80"/>
            </a:xfrm>
            <a:prstGeom prst="ellipse">
              <a:avLst/>
            </a:prstGeom>
            <a:solidFill>
              <a:schemeClr val="tx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2" name="Oval 22"/>
            <p:cNvSpPr>
              <a:spLocks noChangeArrowheads="1"/>
            </p:cNvSpPr>
            <p:nvPr/>
          </p:nvSpPr>
          <p:spPr bwMode="auto">
            <a:xfrm>
              <a:off x="5248" y="1296"/>
              <a:ext cx="79" cy="80"/>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3" name="Oval 23"/>
            <p:cNvSpPr>
              <a:spLocks noChangeArrowheads="1"/>
            </p:cNvSpPr>
            <p:nvPr/>
          </p:nvSpPr>
          <p:spPr bwMode="auto">
            <a:xfrm>
              <a:off x="5360" y="1296"/>
              <a:ext cx="79" cy="80"/>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4" name="Oval 24"/>
            <p:cNvSpPr>
              <a:spLocks noChangeArrowheads="1"/>
            </p:cNvSpPr>
            <p:nvPr/>
          </p:nvSpPr>
          <p:spPr bwMode="auto">
            <a:xfrm>
              <a:off x="5472" y="1296"/>
              <a:ext cx="79" cy="80"/>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5" name="Oval 25"/>
            <p:cNvSpPr>
              <a:spLocks noChangeArrowheads="1"/>
            </p:cNvSpPr>
            <p:nvPr/>
          </p:nvSpPr>
          <p:spPr bwMode="auto">
            <a:xfrm>
              <a:off x="5136" y="1408"/>
              <a:ext cx="80" cy="80"/>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6" name="Oval 26"/>
            <p:cNvSpPr>
              <a:spLocks noChangeArrowheads="1"/>
            </p:cNvSpPr>
            <p:nvPr/>
          </p:nvSpPr>
          <p:spPr bwMode="auto">
            <a:xfrm>
              <a:off x="5248" y="1408"/>
              <a:ext cx="79" cy="80"/>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7" name="Oval 27"/>
            <p:cNvSpPr>
              <a:spLocks noChangeArrowheads="1"/>
            </p:cNvSpPr>
            <p:nvPr/>
          </p:nvSpPr>
          <p:spPr bwMode="auto">
            <a:xfrm>
              <a:off x="5360" y="1408"/>
              <a:ext cx="79" cy="80"/>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8" name="Oval 28"/>
            <p:cNvSpPr>
              <a:spLocks noChangeArrowheads="1"/>
            </p:cNvSpPr>
            <p:nvPr/>
          </p:nvSpPr>
          <p:spPr bwMode="auto">
            <a:xfrm>
              <a:off x="5472" y="1408"/>
              <a:ext cx="79" cy="80"/>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09" name="Oval 29"/>
            <p:cNvSpPr>
              <a:spLocks noChangeArrowheads="1"/>
            </p:cNvSpPr>
            <p:nvPr/>
          </p:nvSpPr>
          <p:spPr bwMode="auto">
            <a:xfrm>
              <a:off x="5584" y="1408"/>
              <a:ext cx="80" cy="80"/>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0" name="Oval 30"/>
            <p:cNvSpPr>
              <a:spLocks noChangeArrowheads="1"/>
            </p:cNvSpPr>
            <p:nvPr/>
          </p:nvSpPr>
          <p:spPr bwMode="auto">
            <a:xfrm>
              <a:off x="5136" y="1520"/>
              <a:ext cx="80" cy="79"/>
            </a:xfrm>
            <a:prstGeom prst="ellipse">
              <a:avLst/>
            </a:prstGeom>
            <a:solidFill>
              <a:schemeClr val="accent2"/>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1" name="Oval 31"/>
            <p:cNvSpPr>
              <a:spLocks noChangeArrowheads="1"/>
            </p:cNvSpPr>
            <p:nvPr/>
          </p:nvSpPr>
          <p:spPr bwMode="auto">
            <a:xfrm>
              <a:off x="5248" y="1520"/>
              <a:ext cx="79" cy="79"/>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2" name="Oval 32"/>
            <p:cNvSpPr>
              <a:spLocks noChangeArrowheads="1"/>
            </p:cNvSpPr>
            <p:nvPr/>
          </p:nvSpPr>
          <p:spPr bwMode="auto">
            <a:xfrm>
              <a:off x="5360" y="1520"/>
              <a:ext cx="79" cy="79"/>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3" name="Oval 33"/>
            <p:cNvSpPr>
              <a:spLocks noChangeArrowheads="1"/>
            </p:cNvSpPr>
            <p:nvPr/>
          </p:nvSpPr>
          <p:spPr bwMode="auto">
            <a:xfrm>
              <a:off x="5472" y="1520"/>
              <a:ext cx="79" cy="79"/>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4" name="Oval 34"/>
            <p:cNvSpPr>
              <a:spLocks noChangeArrowheads="1"/>
            </p:cNvSpPr>
            <p:nvPr/>
          </p:nvSpPr>
          <p:spPr bwMode="auto">
            <a:xfrm>
              <a:off x="5136" y="1632"/>
              <a:ext cx="80" cy="79"/>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5" name="Oval 35"/>
            <p:cNvSpPr>
              <a:spLocks noChangeArrowheads="1"/>
            </p:cNvSpPr>
            <p:nvPr/>
          </p:nvSpPr>
          <p:spPr bwMode="auto">
            <a:xfrm>
              <a:off x="5248" y="1632"/>
              <a:ext cx="79" cy="79"/>
            </a:xfrm>
            <a:prstGeom prst="ellipse">
              <a:avLst/>
            </a:prstGeom>
            <a:solidFill>
              <a:schemeClr val="accent1"/>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6" name="Oval 36"/>
            <p:cNvSpPr>
              <a:spLocks noChangeArrowheads="1"/>
            </p:cNvSpPr>
            <p:nvPr/>
          </p:nvSpPr>
          <p:spPr bwMode="auto">
            <a:xfrm>
              <a:off x="5360" y="1632"/>
              <a:ext cx="79" cy="79"/>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7" name="Oval 37"/>
            <p:cNvSpPr>
              <a:spLocks noChangeArrowheads="1"/>
            </p:cNvSpPr>
            <p:nvPr/>
          </p:nvSpPr>
          <p:spPr bwMode="auto">
            <a:xfrm>
              <a:off x="5472" y="1632"/>
              <a:ext cx="79" cy="79"/>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8" name="Oval 38"/>
            <p:cNvSpPr>
              <a:spLocks noChangeArrowheads="1"/>
            </p:cNvSpPr>
            <p:nvPr/>
          </p:nvSpPr>
          <p:spPr bwMode="auto">
            <a:xfrm>
              <a:off x="5248" y="1744"/>
              <a:ext cx="79" cy="80"/>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sp>
          <p:nvSpPr>
            <p:cNvPr id="404519" name="Oval 39"/>
            <p:cNvSpPr>
              <a:spLocks noChangeArrowheads="1"/>
            </p:cNvSpPr>
            <p:nvPr/>
          </p:nvSpPr>
          <p:spPr bwMode="auto">
            <a:xfrm>
              <a:off x="5472" y="1744"/>
              <a:ext cx="79" cy="80"/>
            </a:xfrm>
            <a:prstGeom prst="ellipse">
              <a:avLst/>
            </a:prstGeom>
            <a:solidFill>
              <a:schemeClr val="folHlink"/>
            </a:solidFill>
            <a:ln w="9525">
              <a:noFill/>
              <a:round/>
            </a:ln>
            <a:effectLst/>
          </p:spPr>
          <p:txBody>
            <a:bodyPr wrap="none" anchor="ctr"/>
            <a:lstStyle/>
            <a:p>
              <a:pPr>
                <a:defRPr/>
              </a:pPr>
              <a:endParaRPr lang="zh-CN" altLang="en-US">
                <a:ea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w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w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w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3.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wmf"/></Relationships>
</file>

<file path=ppt/slides/_rels/slide65.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2.xml"/><Relationship Id="rId5" Type="http://schemas.openxmlformats.org/officeDocument/2006/relationships/oleObject" Target="../embeddings/oleObject6.bin"/><Relationship Id="rId4" Type="http://schemas.openxmlformats.org/officeDocument/2006/relationships/image" Target="../media/image30.wmf"/><Relationship Id="rId3" Type="http://schemas.openxmlformats.org/officeDocument/2006/relationships/oleObject" Target="../embeddings/oleObject5.bin"/><Relationship Id="rId2" Type="http://schemas.openxmlformats.org/officeDocument/2006/relationships/image" Target="../media/image29.wmf"/><Relationship Id="rId1" Type="http://schemas.openxmlformats.org/officeDocument/2006/relationships/oleObject" Target="../embeddings/oleObject4.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3.png"/></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34.wmf"/><Relationship Id="rId1" Type="http://schemas.openxmlformats.org/officeDocument/2006/relationships/oleObject" Target="../embeddings/oleObject7.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75.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10.bin"/><Relationship Id="rId4" Type="http://schemas.openxmlformats.org/officeDocument/2006/relationships/image" Target="../media/image37.wmf"/><Relationship Id="rId3" Type="http://schemas.openxmlformats.org/officeDocument/2006/relationships/oleObject" Target="../embeddings/oleObject9.bin"/><Relationship Id="rId2" Type="http://schemas.openxmlformats.org/officeDocument/2006/relationships/image" Target="../media/image36.wmf"/><Relationship Id="rId1" Type="http://schemas.openxmlformats.org/officeDocument/2006/relationships/oleObject" Target="../embeddings/oleObject8.bin"/></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40.wmf"/><Relationship Id="rId3" Type="http://schemas.openxmlformats.org/officeDocument/2006/relationships/oleObject" Target="../embeddings/oleObject12.bin"/><Relationship Id="rId2" Type="http://schemas.openxmlformats.org/officeDocument/2006/relationships/image" Target="../media/image39.wmf"/><Relationship Id="rId1" Type="http://schemas.openxmlformats.org/officeDocument/2006/relationships/oleObject" Target="../embeddings/oleObject11.bin"/></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86A0BD-5495-498D-9FFF-79853F49F709}" type="slidenum">
              <a:rPr lang="en-US" altLang="zh-CN"/>
            </a:fld>
            <a:endParaRPr lang="en-US" altLang="zh-CN"/>
          </a:p>
        </p:txBody>
      </p:sp>
      <p:sp>
        <p:nvSpPr>
          <p:cNvPr id="4099" name="Rectangle 2"/>
          <p:cNvSpPr>
            <a:spLocks noGrp="1" noChangeArrowheads="1"/>
          </p:cNvSpPr>
          <p:nvPr>
            <p:ph type="ctrTitle"/>
          </p:nvPr>
        </p:nvSpPr>
        <p:spPr>
          <a:xfrm>
            <a:off x="971550" y="1700213"/>
            <a:ext cx="6264275" cy="1081087"/>
          </a:xfrm>
        </p:spPr>
        <p:txBody>
          <a:bodyPr/>
          <a:lstStyle/>
          <a:p>
            <a:pPr eaLnBrk="1" hangingPunct="1"/>
            <a:r>
              <a:rPr lang="zh-CN" altLang="en-US" smtClean="0">
                <a:solidFill>
                  <a:srgbClr val="800000"/>
                </a:solidFill>
                <a:latin typeface="黑体" panose="02010609060101010101" pitchFamily="2" charset="-122"/>
                <a:ea typeface="黑体" panose="02010609060101010101" pitchFamily="2" charset="-122"/>
              </a:rPr>
              <a:t>第</a:t>
            </a:r>
            <a:r>
              <a:rPr lang="en-US" altLang="zh-CN" smtClean="0">
                <a:solidFill>
                  <a:srgbClr val="800000"/>
                </a:solidFill>
                <a:latin typeface="黑体" panose="02010609060101010101" pitchFamily="2" charset="-122"/>
                <a:ea typeface="黑体" panose="02010609060101010101" pitchFamily="2" charset="-122"/>
              </a:rPr>
              <a:t>4</a:t>
            </a:r>
            <a:r>
              <a:rPr lang="zh-CN" altLang="en-US" smtClean="0">
                <a:solidFill>
                  <a:srgbClr val="800000"/>
                </a:solidFill>
                <a:latin typeface="黑体" panose="02010609060101010101" pitchFamily="2" charset="-122"/>
                <a:ea typeface="黑体" panose="02010609060101010101" pitchFamily="2" charset="-122"/>
              </a:rPr>
              <a:t>章 贪心算法</a:t>
            </a:r>
            <a:endParaRPr lang="zh-CN" altLang="en-US" smtClean="0">
              <a:solidFill>
                <a:srgbClr val="800000"/>
              </a:solidFill>
              <a:latin typeface="黑体" panose="02010609060101010101" pitchFamily="2" charset="-122"/>
              <a:ea typeface="黑体" panose="02010609060101010101" pitchFamily="2" charset="-122"/>
            </a:endParaRPr>
          </a:p>
        </p:txBody>
      </p:sp>
      <p:sp>
        <p:nvSpPr>
          <p:cNvPr id="4100" name="Rectangle 3"/>
          <p:cNvSpPr>
            <a:spLocks noChangeArrowheads="1"/>
          </p:cNvSpPr>
          <p:nvPr/>
        </p:nvSpPr>
        <p:spPr bwMode="auto">
          <a:xfrm>
            <a:off x="2555875" y="3213100"/>
            <a:ext cx="4681538"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p>
            <a:pPr>
              <a:lnSpc>
                <a:spcPct val="90000"/>
              </a:lnSpc>
              <a:spcBef>
                <a:spcPct val="20000"/>
              </a:spcBef>
              <a:buClr>
                <a:schemeClr val="folHlink"/>
              </a:buClr>
              <a:buSzPct val="60000"/>
              <a:buFont typeface="Wingdings" panose="05000000000000000000" pitchFamily="2" charset="2"/>
              <a:buNone/>
            </a:pPr>
            <a:r>
              <a:rPr lang="en-US" altLang="zh-CN" sz="2800">
                <a:solidFill>
                  <a:srgbClr val="000066"/>
                </a:solidFill>
                <a:latin typeface="Comic Sans MS" panose="030F0702030302020204" pitchFamily="66" charset="0"/>
              </a:rPr>
              <a:t>Do you remember the story of monkey picking maize?</a:t>
            </a:r>
            <a:endParaRPr lang="en-US" altLang="zh-CN" sz="2800">
              <a:solidFill>
                <a:srgbClr val="000066"/>
              </a:solidFill>
              <a:latin typeface="Comic Sans MS" panose="030F0702030302020204" pitchFamily="66" charset="0"/>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4E3F04-B9BC-4A95-871E-83B85AFAB30B}" type="slidenum">
              <a:rPr lang="en-US" altLang="zh-CN"/>
            </a:fld>
            <a:endParaRPr lang="en-US" altLang="zh-CN"/>
          </a:p>
        </p:txBody>
      </p:sp>
      <p:sp>
        <p:nvSpPr>
          <p:cNvPr id="5123" name="Rectangle 2"/>
          <p:cNvSpPr>
            <a:spLocks noGrp="1" noChangeArrowheads="1"/>
          </p:cNvSpPr>
          <p:nvPr>
            <p:ph type="title"/>
          </p:nvPr>
        </p:nvSpPr>
        <p:spPr/>
        <p:txBody>
          <a:bodyPr/>
          <a:lstStyle/>
          <a:p>
            <a:pPr eaLnBrk="1" hangingPunct="1"/>
            <a:r>
              <a:rPr lang="zh-CN" altLang="en-US" smtClean="0"/>
              <a:t>一个小问题</a:t>
            </a:r>
            <a:endParaRPr lang="zh-CN" altLang="en-US" smtClean="0"/>
          </a:p>
        </p:txBody>
      </p:sp>
      <p:sp>
        <p:nvSpPr>
          <p:cNvPr id="430083" name="Rectangle 3"/>
          <p:cNvSpPr>
            <a:spLocks noGrp="1" noChangeArrowheads="1"/>
          </p:cNvSpPr>
          <p:nvPr>
            <p:ph type="body" idx="1"/>
          </p:nvPr>
        </p:nvSpPr>
        <p:spPr/>
        <p:txBody>
          <a:bodyPr/>
          <a:lstStyle/>
          <a:p>
            <a:pPr eaLnBrk="1" hangingPunct="1"/>
            <a:r>
              <a:rPr lang="zh-CN" altLang="en-US" sz="2600" smtClean="0"/>
              <a:t>有</a:t>
            </a:r>
            <a:r>
              <a:rPr lang="en-US" altLang="zh-CN" sz="2600" smtClean="0"/>
              <a:t>4</a:t>
            </a:r>
            <a:r>
              <a:rPr lang="zh-CN" altLang="en-US" sz="2600" smtClean="0"/>
              <a:t>种硬币，面值分别为</a:t>
            </a:r>
            <a:r>
              <a:rPr lang="en-US" altLang="zh-CN" sz="2600" smtClean="0"/>
              <a:t>25</a:t>
            </a:r>
            <a:r>
              <a:rPr lang="zh-CN" altLang="en-US" sz="2600" smtClean="0"/>
              <a:t>分，</a:t>
            </a:r>
            <a:r>
              <a:rPr lang="en-US" altLang="zh-CN" sz="2600" smtClean="0"/>
              <a:t>5</a:t>
            </a:r>
            <a:r>
              <a:rPr lang="zh-CN" altLang="en-US" sz="2600" smtClean="0"/>
              <a:t>分和</a:t>
            </a:r>
            <a:r>
              <a:rPr lang="en-US" altLang="zh-CN" sz="2600" smtClean="0"/>
              <a:t>1</a:t>
            </a:r>
            <a:r>
              <a:rPr lang="zh-CN" altLang="en-US" sz="2600" smtClean="0"/>
              <a:t>分</a:t>
            </a:r>
            <a:endParaRPr lang="zh-CN" altLang="en-US" sz="2600" smtClean="0"/>
          </a:p>
          <a:p>
            <a:pPr eaLnBrk="1" hangingPunct="1"/>
            <a:r>
              <a:rPr lang="zh-CN" altLang="en-US" sz="2600" smtClean="0"/>
              <a:t>要找给顾客</a:t>
            </a:r>
            <a:r>
              <a:rPr lang="en-US" altLang="zh-CN" sz="2600" smtClean="0"/>
              <a:t>63</a:t>
            </a:r>
            <a:r>
              <a:rPr lang="zh-CN" altLang="en-US" sz="2600" smtClean="0"/>
              <a:t>分钱</a:t>
            </a:r>
            <a:endParaRPr lang="zh-CN" altLang="en-US" sz="2600" smtClean="0"/>
          </a:p>
          <a:p>
            <a:pPr eaLnBrk="1" hangingPunct="1"/>
            <a:r>
              <a:rPr lang="zh-CN" altLang="en-US" sz="2600" smtClean="0"/>
              <a:t>求最少的硬币数？</a:t>
            </a:r>
            <a:endParaRPr lang="zh-CN" altLang="en-US" sz="2600" smtClean="0"/>
          </a:p>
          <a:p>
            <a:pPr eaLnBrk="1" hangingPunct="1"/>
            <a:endParaRPr lang="zh-CN" altLang="en-US" sz="2600" smtClean="0"/>
          </a:p>
          <a:p>
            <a:pPr eaLnBrk="1" hangingPunct="1"/>
            <a:r>
              <a:rPr lang="en-US" altLang="zh-CN" sz="2600" smtClean="0"/>
              <a:t>63=25*2+5*2+1*3</a:t>
            </a:r>
            <a:endParaRPr lang="en-US" altLang="zh-CN" sz="2600" smtClean="0"/>
          </a:p>
          <a:p>
            <a:pPr eaLnBrk="1" hangingPunct="1"/>
            <a:endParaRPr lang="en-US" altLang="zh-CN" sz="2600" smtClean="0"/>
          </a:p>
          <a:p>
            <a:pPr eaLnBrk="1" hangingPunct="1"/>
            <a:r>
              <a:rPr lang="zh-CN" altLang="en-US" sz="2600" smtClean="0"/>
              <a:t>如果面值改为</a:t>
            </a:r>
            <a:r>
              <a:rPr lang="en-US" altLang="zh-CN" sz="2600" smtClean="0"/>
              <a:t>1</a:t>
            </a:r>
            <a:r>
              <a:rPr lang="zh-CN" altLang="en-US" sz="2600" smtClean="0"/>
              <a:t>分，</a:t>
            </a:r>
            <a:r>
              <a:rPr lang="en-US" altLang="zh-CN" sz="2600" smtClean="0"/>
              <a:t>5</a:t>
            </a:r>
            <a:r>
              <a:rPr lang="zh-CN" altLang="en-US" sz="2600" smtClean="0"/>
              <a:t>分和</a:t>
            </a:r>
            <a:r>
              <a:rPr lang="en-US" altLang="zh-CN" sz="2600" smtClean="0"/>
              <a:t>11</a:t>
            </a:r>
            <a:r>
              <a:rPr lang="zh-CN" altLang="en-US" sz="2600" smtClean="0"/>
              <a:t>分</a:t>
            </a:r>
            <a:endParaRPr lang="zh-CN" altLang="en-US" sz="2600" smtClean="0"/>
          </a:p>
          <a:p>
            <a:pPr eaLnBrk="1" hangingPunct="1"/>
            <a:r>
              <a:rPr lang="zh-CN" altLang="en-US" sz="2600" smtClean="0"/>
              <a:t>要找给顾客</a:t>
            </a:r>
            <a:r>
              <a:rPr lang="en-US" altLang="zh-CN" sz="2600" smtClean="0"/>
              <a:t>15</a:t>
            </a:r>
            <a:r>
              <a:rPr lang="zh-CN" altLang="en-US" sz="2600" smtClean="0"/>
              <a:t>分？</a:t>
            </a:r>
            <a:endParaRPr lang="zh-CN" altLang="en-US" sz="2600" smtClean="0"/>
          </a:p>
          <a:p>
            <a:pPr eaLnBrk="1" hangingPunct="1"/>
            <a:r>
              <a:rPr lang="en-US" altLang="zh-CN" sz="2600" smtClean="0"/>
              <a:t>15=5*3</a:t>
            </a:r>
            <a:endParaRPr lang="zh-CN" altLang="en-US" sz="2600" smtClean="0"/>
          </a:p>
        </p:txBody>
      </p:sp>
      <p:sp>
        <p:nvSpPr>
          <p:cNvPr id="430084" name="AutoShape 4"/>
          <p:cNvSpPr>
            <a:spLocks noChangeArrowheads="1"/>
          </p:cNvSpPr>
          <p:nvPr/>
        </p:nvSpPr>
        <p:spPr bwMode="auto">
          <a:xfrm>
            <a:off x="5219700" y="2492375"/>
            <a:ext cx="3024188" cy="1439863"/>
          </a:xfrm>
          <a:prstGeom prst="wedgeEllipseCallout">
            <a:avLst>
              <a:gd name="adj1" fmla="val -106116"/>
              <a:gd name="adj2" fmla="val 43495"/>
            </a:avLst>
          </a:prstGeom>
          <a:solidFill>
            <a:schemeClr val="accent1"/>
          </a:solidFill>
          <a:ln w="6350">
            <a:solidFill>
              <a:schemeClr val="tx1"/>
            </a:solidFill>
            <a:miter lim="800000"/>
          </a:ln>
        </p:spPr>
        <p:txBody>
          <a:bodyPr anchor="ctr"/>
          <a:lstStyle/>
          <a:p>
            <a:pPr algn="ctr"/>
            <a:r>
              <a:rPr lang="zh-CN" altLang="en-US" sz="4000" b="1">
                <a:solidFill>
                  <a:srgbClr val="000066"/>
                </a:solidFill>
                <a:ea typeface="新宋体" panose="02010609030101010101" charset="-122"/>
              </a:rPr>
              <a:t>贪心</a:t>
            </a:r>
            <a:endParaRPr lang="zh-CN" altLang="en-US" sz="4000" b="1">
              <a:solidFill>
                <a:srgbClr val="000066"/>
              </a:solidFill>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checkerboard(across)">
                                      <p:cBhvr>
                                        <p:cTn id="7" dur="500"/>
                                        <p:tgtEl>
                                          <p:spTgt spid="430083">
                                            <p:txEl>
                                              <p:pRg st="0" end="0"/>
                                            </p:txEl>
                                          </p:spTgt>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430083">
                                            <p:txEl>
                                              <p:pRg st="1" end="1"/>
                                            </p:txEl>
                                          </p:spTgt>
                                        </p:tgtEl>
                                        <p:attrNameLst>
                                          <p:attrName>style.visibility</p:attrName>
                                        </p:attrNameLst>
                                      </p:cBhvr>
                                      <p:to>
                                        <p:strVal val="visible"/>
                                      </p:to>
                                    </p:set>
                                    <p:animEffect transition="in" filter="checkerboard(across)">
                                      <p:cBhvr>
                                        <p:cTn id="11" dur="500"/>
                                        <p:tgtEl>
                                          <p:spTgt spid="430083">
                                            <p:txEl>
                                              <p:pRg st="1" end="1"/>
                                            </p:txEl>
                                          </p:spTgt>
                                        </p:tgtEl>
                                      </p:cBhvr>
                                    </p:animEffect>
                                  </p:childTnLst>
                                </p:cTn>
                              </p:par>
                            </p:childTnLst>
                          </p:cTn>
                        </p:par>
                        <p:par>
                          <p:cTn id="12" fill="hold">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430083">
                                            <p:txEl>
                                              <p:pRg st="2" end="2"/>
                                            </p:txEl>
                                          </p:spTgt>
                                        </p:tgtEl>
                                        <p:attrNameLst>
                                          <p:attrName>style.visibility</p:attrName>
                                        </p:attrNameLst>
                                      </p:cBhvr>
                                      <p:to>
                                        <p:strVal val="visible"/>
                                      </p:to>
                                    </p:set>
                                    <p:animEffect transition="in" filter="checkerboard(across)">
                                      <p:cBhvr>
                                        <p:cTn id="15" dur="500"/>
                                        <p:tgtEl>
                                          <p:spTgt spid="43008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430083">
                                            <p:txEl>
                                              <p:pRg st="4" end="4"/>
                                            </p:txEl>
                                          </p:spTgt>
                                        </p:tgtEl>
                                        <p:attrNameLst>
                                          <p:attrName>style.visibility</p:attrName>
                                        </p:attrNameLst>
                                      </p:cBhvr>
                                      <p:to>
                                        <p:strVal val="visible"/>
                                      </p:to>
                                    </p:set>
                                    <p:animEffect transition="in" filter="checkerboard(across)">
                                      <p:cBhvr>
                                        <p:cTn id="20" dur="500"/>
                                        <p:tgtEl>
                                          <p:spTgt spid="43008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084"/>
                                        </p:tgtEl>
                                        <p:attrNameLst>
                                          <p:attrName>style.visibility</p:attrName>
                                        </p:attrNameLst>
                                      </p:cBhvr>
                                      <p:to>
                                        <p:strVal val="visible"/>
                                      </p:to>
                                    </p:set>
                                    <p:anim calcmode="lin" valueType="num">
                                      <p:cBhvr additive="base">
                                        <p:cTn id="25" dur="500" fill="hold"/>
                                        <p:tgtEl>
                                          <p:spTgt spid="430084"/>
                                        </p:tgtEl>
                                        <p:attrNameLst>
                                          <p:attrName>ppt_x</p:attrName>
                                        </p:attrNameLst>
                                      </p:cBhvr>
                                      <p:tavLst>
                                        <p:tav tm="0">
                                          <p:val>
                                            <p:strVal val="#ppt_x"/>
                                          </p:val>
                                        </p:tav>
                                        <p:tav tm="100000">
                                          <p:val>
                                            <p:strVal val="#ppt_x"/>
                                          </p:val>
                                        </p:tav>
                                      </p:tavLst>
                                    </p:anim>
                                    <p:anim calcmode="lin" valueType="num">
                                      <p:cBhvr additive="base">
                                        <p:cTn id="26" dur="500" fill="hold"/>
                                        <p:tgtEl>
                                          <p:spTgt spid="43008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30084"/>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430083">
                                            <p:txEl>
                                              <p:pRg st="6" end="6"/>
                                            </p:txEl>
                                          </p:spTgt>
                                        </p:tgtEl>
                                        <p:attrNameLst>
                                          <p:attrName>style.visibility</p:attrName>
                                        </p:attrNameLst>
                                      </p:cBhvr>
                                      <p:to>
                                        <p:strVal val="visible"/>
                                      </p:to>
                                    </p:set>
                                    <p:animEffect transition="in" filter="checkerboard(across)">
                                      <p:cBhvr>
                                        <p:cTn id="31" dur="500"/>
                                        <p:tgtEl>
                                          <p:spTgt spid="430083">
                                            <p:txEl>
                                              <p:pRg st="6" end="6"/>
                                            </p:txEl>
                                          </p:spTgt>
                                        </p:tgtEl>
                                      </p:cBhvr>
                                    </p:animEffect>
                                  </p:childTnLst>
                                </p:cTn>
                              </p:par>
                            </p:childTnLst>
                          </p:cTn>
                        </p:par>
                        <p:par>
                          <p:cTn id="32" fill="hold">
                            <p:stCondLst>
                              <p:cond delay="500"/>
                            </p:stCondLst>
                            <p:childTnLst>
                              <p:par>
                                <p:cTn id="33" presetID="5" presetClass="entr" presetSubtype="10" fill="hold" grpId="0" nodeType="afterEffect">
                                  <p:stCondLst>
                                    <p:cond delay="0"/>
                                  </p:stCondLst>
                                  <p:childTnLst>
                                    <p:set>
                                      <p:cBhvr>
                                        <p:cTn id="34" dur="1" fill="hold">
                                          <p:stCondLst>
                                            <p:cond delay="0"/>
                                          </p:stCondLst>
                                        </p:cTn>
                                        <p:tgtEl>
                                          <p:spTgt spid="430083">
                                            <p:txEl>
                                              <p:pRg st="7" end="7"/>
                                            </p:txEl>
                                          </p:spTgt>
                                        </p:tgtEl>
                                        <p:attrNameLst>
                                          <p:attrName>style.visibility</p:attrName>
                                        </p:attrNameLst>
                                      </p:cBhvr>
                                      <p:to>
                                        <p:strVal val="visible"/>
                                      </p:to>
                                    </p:set>
                                    <p:animEffect transition="in" filter="checkerboard(across)">
                                      <p:cBhvr>
                                        <p:cTn id="35" dur="500"/>
                                        <p:tgtEl>
                                          <p:spTgt spid="43008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430083">
                                            <p:txEl>
                                              <p:pRg st="8" end="8"/>
                                            </p:txEl>
                                          </p:spTgt>
                                        </p:tgtEl>
                                        <p:attrNameLst>
                                          <p:attrName>style.visibility</p:attrName>
                                        </p:attrNameLst>
                                      </p:cBhvr>
                                      <p:to>
                                        <p:strVal val="visible"/>
                                      </p:to>
                                    </p:set>
                                    <p:animEffect transition="in" filter="checkerboard(across)">
                                      <p:cBhvr>
                                        <p:cTn id="40" dur="500"/>
                                        <p:tgtEl>
                                          <p:spTgt spid="4300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p:bldP spid="43008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A9162B-9F2B-4182-A33D-9E8807AA5749}" type="slidenum">
              <a:rPr lang="en-US" altLang="zh-CN"/>
            </a:fld>
            <a:endParaRPr lang="en-US" altLang="zh-CN"/>
          </a:p>
        </p:txBody>
      </p:sp>
      <p:sp>
        <p:nvSpPr>
          <p:cNvPr id="6147" name="Rectangle 3"/>
          <p:cNvSpPr>
            <a:spLocks noGrp="1" noChangeArrowheads="1"/>
          </p:cNvSpPr>
          <p:nvPr>
            <p:ph type="body" idx="1"/>
          </p:nvPr>
        </p:nvSpPr>
        <p:spPr>
          <a:xfrm>
            <a:off x="250825" y="692150"/>
            <a:ext cx="8229600" cy="5472113"/>
          </a:xfrm>
        </p:spPr>
        <p:txBody>
          <a:bodyPr/>
          <a:lstStyle/>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当一个问题具有最优子结构性质时，可用</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动态规划法求解，但有时用贪心算法求解会更</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加的简单有效。</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顾名思义，贪心算法总是作出在当前看来最好的选择。也就是说贪心算法并不从整体最优考虑，它所作出的选择只是在某种意义上的</a:t>
            </a:r>
            <a:r>
              <a:rPr lang="zh-CN" altLang="en-US" sz="2800" b="1" smtClean="0">
                <a:solidFill>
                  <a:srgbClr val="CC0000"/>
                </a:solidFill>
                <a:latin typeface="新宋体" panose="02010609030101010101" charset="-122"/>
                <a:ea typeface="新宋体" panose="02010609030101010101" charset="-122"/>
              </a:rPr>
              <a:t>局部最优</a:t>
            </a:r>
            <a:r>
              <a:rPr lang="zh-CN" altLang="en-US" sz="2800" b="1" smtClean="0">
                <a:latin typeface="新宋体" panose="02010609030101010101" charset="-122"/>
                <a:ea typeface="新宋体" panose="02010609030101010101" charset="-122"/>
              </a:rPr>
              <a:t>选择。当然，希望贪心算法得到的最终结果也是整体最优的。虽然贪心算法不能对所有问题都得到整体最优解，但对许多问题它能产生整体最优解。如单源最短路径问题，最小生成树问题等。在一些情况下，即使贪心算法不能得到整体最优解，其最终结果却是最优解的很好近似。</a:t>
            </a:r>
            <a:endParaRPr lang="zh-CN" altLang="en-US" sz="28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056B5E9-7C1F-4B22-AA9D-0EBE74184786}" type="slidenum">
              <a:rPr lang="en-US" altLang="zh-CN"/>
            </a:fld>
            <a:endParaRPr lang="en-US" altLang="zh-CN"/>
          </a:p>
        </p:txBody>
      </p:sp>
      <p:sp>
        <p:nvSpPr>
          <p:cNvPr id="7171" name="Rectangle 2"/>
          <p:cNvSpPr>
            <a:spLocks noGrp="1" noChangeArrowheads="1"/>
          </p:cNvSpPr>
          <p:nvPr>
            <p:ph type="title"/>
          </p:nvPr>
        </p:nvSpPr>
        <p:spPr>
          <a:xfrm>
            <a:off x="611188" y="990600"/>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4.1 </a:t>
            </a:r>
            <a:r>
              <a:rPr lang="zh-CN" altLang="en-US" smtClean="0">
                <a:latin typeface="黑体" panose="02010609060101010101" pitchFamily="2" charset="-122"/>
                <a:ea typeface="黑体" panose="02010609060101010101" pitchFamily="2" charset="-122"/>
              </a:rPr>
              <a:t>活动安排问题</a:t>
            </a:r>
            <a:br>
              <a:rPr lang="zh-CN" altLang="en-US" smtClean="0">
                <a:latin typeface="黑体" panose="02010609060101010101" pitchFamily="2" charset="-122"/>
                <a:ea typeface="黑体" panose="02010609060101010101" pitchFamily="2" charset="-122"/>
              </a:rPr>
            </a:br>
            <a:endParaRPr lang="zh-CN" altLang="en-US" smtClean="0">
              <a:latin typeface="黑体" panose="02010609060101010101" pitchFamily="2" charset="-122"/>
              <a:ea typeface="黑体" panose="02010609060101010101" pitchFamily="2" charset="-122"/>
            </a:endParaRPr>
          </a:p>
        </p:txBody>
      </p:sp>
      <p:sp>
        <p:nvSpPr>
          <p:cNvPr id="7172"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800" b="1" smtClean="0">
                <a:ea typeface="新宋体" panose="02010609030101010101" charset="-122"/>
              </a:rPr>
              <a:t>           活动安排问题就是要在所给的活动集合中选出最大的相容活动子集合，是可以用贪心算法有效求解的很好例子。该问题要求高效地安排一系列争用某一公共资源的活动。贪心算法提供了一个简单、漂亮的方法使得尽可能多的活动能兼容地使用公共资源。</a:t>
            </a:r>
            <a:endParaRPr lang="zh-CN" altLang="en-US" sz="2800" b="1" smtClean="0">
              <a:ea typeface="新宋体" panose="02010609030101010101"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06CEB6-363F-4DE3-A0E6-C3D7F29E1416}" type="slidenum">
              <a:rPr lang="en-US" altLang="zh-CN"/>
            </a:fld>
            <a:endParaRPr lang="en-US" altLang="zh-CN"/>
          </a:p>
        </p:txBody>
      </p:sp>
      <p:sp>
        <p:nvSpPr>
          <p:cNvPr id="1028" name="Rectangle 37"/>
          <p:cNvSpPr>
            <a:spLocks noGrp="1" noChangeArrowheads="1"/>
          </p:cNvSpPr>
          <p:nvPr>
            <p:ph type="title"/>
          </p:nvPr>
        </p:nvSpPr>
        <p:spPr/>
        <p:txBody>
          <a:bodyPr/>
          <a:lstStyle/>
          <a:p>
            <a:pPr eaLnBrk="1" hangingPunct="1"/>
            <a:r>
              <a:rPr lang="en-US" altLang="zh-CN" sz="3500" smtClean="0">
                <a:latin typeface="黑体" panose="02010609060101010101" pitchFamily="2" charset="-122"/>
                <a:ea typeface="黑体" panose="02010609060101010101" pitchFamily="2" charset="-122"/>
              </a:rPr>
              <a:t>4.1 </a:t>
            </a:r>
            <a:r>
              <a:rPr lang="zh-CN" altLang="en-US" sz="3500" smtClean="0">
                <a:latin typeface="黑体" panose="02010609060101010101" pitchFamily="2" charset="-122"/>
                <a:ea typeface="黑体" panose="02010609060101010101" pitchFamily="2" charset="-122"/>
              </a:rPr>
              <a:t>活动安排问题</a:t>
            </a:r>
            <a:endParaRPr lang="zh-CN" altLang="en-US" sz="3500" smtClean="0">
              <a:latin typeface="黑体" panose="02010609060101010101" pitchFamily="2" charset="-122"/>
              <a:ea typeface="黑体" panose="02010609060101010101" pitchFamily="2" charset="-122"/>
            </a:endParaRPr>
          </a:p>
        </p:txBody>
      </p:sp>
      <p:graphicFrame>
        <p:nvGraphicFramePr>
          <p:cNvPr id="1026" name="Object 52"/>
          <p:cNvGraphicFramePr>
            <a:graphicFrameLocks noGrp="1" noChangeAspect="1"/>
          </p:cNvGraphicFramePr>
          <p:nvPr>
            <p:ph sz="half" idx="2"/>
          </p:nvPr>
        </p:nvGraphicFramePr>
        <p:xfrm>
          <a:off x="5018088" y="2916238"/>
          <a:ext cx="3305175" cy="2017712"/>
        </p:xfrm>
        <a:graphic>
          <a:graphicData uri="http://schemas.openxmlformats.org/presentationml/2006/ole">
            <mc:AlternateContent xmlns:mc="http://schemas.openxmlformats.org/markup-compatibility/2006">
              <mc:Choice xmlns:v="urn:schemas-microsoft-com:vml" Requires="v">
                <p:oleObj spid="_x0000_s1034" name="图表" r:id="rId1" imgW="3714115" imgH="2246630" progId="MSGraph.Chart.8">
                  <p:embed followColorScheme="full"/>
                </p:oleObj>
              </mc:Choice>
              <mc:Fallback>
                <p:oleObj name="图表" r:id="rId1" imgW="3714115" imgH="2246630" progId="MSGraph.Chart.8">
                  <p:embed followColorScheme="full"/>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8088" y="2916238"/>
                        <a:ext cx="3305175" cy="2017712"/>
                      </a:xfrm>
                      <a:prstGeom prst="rect">
                        <a:avLst/>
                      </a:prstGeom>
                    </p:spPr>
                  </p:pic>
                </p:oleObj>
              </mc:Fallback>
            </mc:AlternateContent>
          </a:graphicData>
        </a:graphic>
      </p:graphicFrame>
      <p:sp>
        <p:nvSpPr>
          <p:cNvPr id="1029" name="Text Box 57"/>
          <p:cNvSpPr txBox="1">
            <a:spLocks noChangeArrowheads="1"/>
          </p:cNvSpPr>
          <p:nvPr/>
        </p:nvSpPr>
        <p:spPr bwMode="auto">
          <a:xfrm>
            <a:off x="611188" y="1628775"/>
            <a:ext cx="7921625"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新宋体" panose="02010609030101010101" charset="-122"/>
                <a:ea typeface="新宋体" panose="02010609030101010101" charset="-122"/>
              </a:rPr>
              <a:t>    设有</a:t>
            </a:r>
            <a:r>
              <a:rPr lang="en-US" altLang="zh-CN" sz="2800" b="1">
                <a:latin typeface="新宋体" panose="02010609030101010101" charset="-122"/>
                <a:ea typeface="新宋体" panose="02010609030101010101" charset="-122"/>
              </a:rPr>
              <a:t>n</a:t>
            </a:r>
            <a:r>
              <a:rPr lang="zh-CN" altLang="en-US" sz="2800" b="1">
                <a:latin typeface="新宋体" panose="02010609030101010101" charset="-122"/>
                <a:ea typeface="新宋体" panose="02010609030101010101" charset="-122"/>
              </a:rPr>
              <a:t>个活动的集合</a:t>
            </a:r>
            <a:r>
              <a:rPr lang="en-US" altLang="zh-CN" sz="2800" b="1">
                <a:latin typeface="新宋体" panose="02010609030101010101" charset="-122"/>
                <a:ea typeface="新宋体" panose="02010609030101010101" charset="-122"/>
              </a:rPr>
              <a:t>E={1,2,</a:t>
            </a:r>
            <a:r>
              <a:rPr lang="en-US" altLang="zh-CN" sz="2800" b="1">
                <a:ea typeface="新宋体" panose="02010609030101010101" charset="-122"/>
              </a:rPr>
              <a:t>…</a:t>
            </a:r>
            <a:r>
              <a:rPr lang="en-US" altLang="zh-CN" sz="2800" b="1">
                <a:latin typeface="新宋体" panose="02010609030101010101" charset="-122"/>
                <a:ea typeface="新宋体" panose="02010609030101010101" charset="-122"/>
              </a:rPr>
              <a:t>,n}</a:t>
            </a:r>
            <a:r>
              <a:rPr lang="zh-CN" altLang="en-US" sz="2800" b="1">
                <a:latin typeface="新宋体" panose="02010609030101010101" charset="-122"/>
                <a:ea typeface="新宋体" panose="02010609030101010101" charset="-122"/>
              </a:rPr>
              <a:t>，其中每个活动都要求使用同一资源，如演讲会场等，而在同一时间内只有一个活动能使用这一资源。每个活动</a:t>
            </a:r>
            <a:r>
              <a:rPr lang="en-US" altLang="zh-CN" sz="2800" b="1">
                <a:latin typeface="新宋体" panose="02010609030101010101" charset="-122"/>
                <a:ea typeface="新宋体" panose="02010609030101010101" charset="-122"/>
              </a:rPr>
              <a:t>i</a:t>
            </a:r>
            <a:r>
              <a:rPr lang="zh-CN" altLang="en-US" sz="2800" b="1">
                <a:latin typeface="新宋体" panose="02010609030101010101" charset="-122"/>
                <a:ea typeface="新宋体" panose="02010609030101010101" charset="-122"/>
              </a:rPr>
              <a:t>都有一个要求使用该资源的起始时间</a:t>
            </a:r>
            <a:r>
              <a:rPr lang="en-US" altLang="zh-CN" sz="2800" b="1">
                <a:latin typeface="新宋体" panose="02010609030101010101" charset="-122"/>
                <a:ea typeface="新宋体" panose="02010609030101010101" charset="-122"/>
              </a:rPr>
              <a:t>si</a:t>
            </a:r>
            <a:r>
              <a:rPr lang="zh-CN" altLang="en-US" sz="2800" b="1">
                <a:latin typeface="新宋体" panose="02010609030101010101" charset="-122"/>
                <a:ea typeface="新宋体" panose="02010609030101010101" charset="-122"/>
              </a:rPr>
              <a:t>和一个结束时间</a:t>
            </a:r>
            <a:r>
              <a:rPr lang="en-US" altLang="zh-CN" sz="2800" b="1">
                <a:latin typeface="新宋体" panose="02010609030101010101" charset="-122"/>
                <a:ea typeface="新宋体" panose="02010609030101010101" charset="-122"/>
              </a:rPr>
              <a:t>fi,</a:t>
            </a:r>
            <a:r>
              <a:rPr lang="zh-CN" altLang="en-US" sz="2800" b="1">
                <a:latin typeface="新宋体" panose="02010609030101010101" charset="-122"/>
                <a:ea typeface="新宋体" panose="02010609030101010101" charset="-122"/>
              </a:rPr>
              <a:t>且</a:t>
            </a:r>
            <a:r>
              <a:rPr lang="en-US" altLang="zh-CN" sz="2800" b="1">
                <a:latin typeface="新宋体" panose="02010609030101010101" charset="-122"/>
                <a:ea typeface="新宋体" panose="02010609030101010101" charset="-122"/>
              </a:rPr>
              <a:t>si &lt;fi</a:t>
            </a:r>
            <a:r>
              <a:rPr lang="zh-CN" altLang="en-US" sz="2800" b="1">
                <a:latin typeface="新宋体" panose="02010609030101010101" charset="-122"/>
                <a:ea typeface="新宋体" panose="02010609030101010101" charset="-122"/>
              </a:rPr>
              <a:t> 。如果选择了活动</a:t>
            </a:r>
            <a:r>
              <a:rPr lang="en-US" altLang="zh-CN" sz="2800" b="1">
                <a:latin typeface="新宋体" panose="02010609030101010101" charset="-122"/>
                <a:ea typeface="新宋体" panose="02010609030101010101" charset="-122"/>
              </a:rPr>
              <a:t>i</a:t>
            </a:r>
            <a:r>
              <a:rPr lang="zh-CN" altLang="en-US" sz="2800" b="1">
                <a:latin typeface="新宋体" panose="02010609030101010101" charset="-122"/>
                <a:ea typeface="新宋体" panose="02010609030101010101" charset="-122"/>
              </a:rPr>
              <a:t>，则它在半开时间区间</a:t>
            </a:r>
            <a:r>
              <a:rPr lang="en-US" altLang="zh-CN" sz="2800" b="1">
                <a:latin typeface="新宋体" panose="02010609030101010101" charset="-122"/>
                <a:ea typeface="新宋体" panose="02010609030101010101" charset="-122"/>
              </a:rPr>
              <a:t>[si, fi)</a:t>
            </a:r>
            <a:r>
              <a:rPr lang="zh-CN" altLang="en-US" sz="2800" b="1">
                <a:latin typeface="新宋体" panose="02010609030101010101" charset="-122"/>
                <a:ea typeface="新宋体" panose="02010609030101010101" charset="-122"/>
              </a:rPr>
              <a:t>内占用资源。若区间</a:t>
            </a:r>
            <a:r>
              <a:rPr lang="en-US" altLang="zh-CN" sz="2800" b="1">
                <a:latin typeface="新宋体" panose="02010609030101010101" charset="-122"/>
                <a:ea typeface="新宋体" panose="02010609030101010101" charset="-122"/>
              </a:rPr>
              <a:t>[si, fi)</a:t>
            </a:r>
            <a:r>
              <a:rPr lang="zh-CN" altLang="en-US" sz="2800" b="1">
                <a:latin typeface="新宋体" panose="02010609030101010101" charset="-122"/>
                <a:ea typeface="新宋体" panose="02010609030101010101" charset="-122"/>
              </a:rPr>
              <a:t>与区间</a:t>
            </a:r>
            <a:r>
              <a:rPr lang="en-US" altLang="zh-CN" sz="2800" b="1">
                <a:latin typeface="新宋体" panose="02010609030101010101" charset="-122"/>
                <a:ea typeface="新宋体" panose="02010609030101010101" charset="-122"/>
              </a:rPr>
              <a:t>[sj, fj)</a:t>
            </a:r>
            <a:r>
              <a:rPr lang="zh-CN" altLang="en-US" sz="2800" b="1">
                <a:latin typeface="新宋体" panose="02010609030101010101" charset="-122"/>
                <a:ea typeface="新宋体" panose="02010609030101010101" charset="-122"/>
              </a:rPr>
              <a:t>不相交，则称活动</a:t>
            </a:r>
            <a:r>
              <a:rPr lang="en-US" altLang="zh-CN" sz="2800" b="1">
                <a:latin typeface="新宋体" panose="02010609030101010101" charset="-122"/>
                <a:ea typeface="新宋体" panose="02010609030101010101" charset="-122"/>
              </a:rPr>
              <a:t>i</a:t>
            </a:r>
            <a:r>
              <a:rPr lang="zh-CN" altLang="en-US" sz="2800" b="1">
                <a:latin typeface="新宋体" panose="02010609030101010101" charset="-122"/>
                <a:ea typeface="新宋体" panose="02010609030101010101" charset="-122"/>
              </a:rPr>
              <a:t>与活动</a:t>
            </a:r>
            <a:r>
              <a:rPr lang="en-US" altLang="zh-CN" sz="2800" b="1">
                <a:latin typeface="新宋体" panose="02010609030101010101" charset="-122"/>
                <a:ea typeface="新宋体" panose="02010609030101010101" charset="-122"/>
              </a:rPr>
              <a:t>j</a:t>
            </a:r>
            <a:r>
              <a:rPr lang="zh-CN" altLang="en-US" sz="2800" b="1">
                <a:latin typeface="新宋体" panose="02010609030101010101" charset="-122"/>
                <a:ea typeface="新宋体" panose="02010609030101010101" charset="-122"/>
              </a:rPr>
              <a:t>是相容的。也就是说，当</a:t>
            </a:r>
            <a:r>
              <a:rPr lang="en-US" altLang="zh-CN" sz="2800" b="1">
                <a:latin typeface="新宋体" panose="02010609030101010101" charset="-122"/>
                <a:ea typeface="新宋体" panose="02010609030101010101" charset="-122"/>
              </a:rPr>
              <a:t>si≥fj</a:t>
            </a:r>
            <a:r>
              <a:rPr lang="zh-CN" altLang="en-US" sz="2800" b="1">
                <a:latin typeface="新宋体" panose="02010609030101010101" charset="-122"/>
                <a:ea typeface="新宋体" panose="02010609030101010101" charset="-122"/>
              </a:rPr>
              <a:t>或</a:t>
            </a:r>
            <a:r>
              <a:rPr lang="en-US" altLang="zh-CN" sz="2800" b="1">
                <a:latin typeface="新宋体" panose="02010609030101010101" charset="-122"/>
                <a:ea typeface="新宋体" panose="02010609030101010101" charset="-122"/>
              </a:rPr>
              <a:t>sj≥fi</a:t>
            </a:r>
            <a:r>
              <a:rPr lang="zh-CN" altLang="en-US" sz="2800" b="1">
                <a:latin typeface="新宋体" panose="02010609030101010101" charset="-122"/>
                <a:ea typeface="新宋体" panose="02010609030101010101" charset="-122"/>
              </a:rPr>
              <a:t>时，活动</a:t>
            </a:r>
            <a:r>
              <a:rPr lang="en-US" altLang="zh-CN" sz="2800" b="1">
                <a:latin typeface="新宋体" panose="02010609030101010101" charset="-122"/>
                <a:ea typeface="新宋体" panose="02010609030101010101" charset="-122"/>
              </a:rPr>
              <a:t>i</a:t>
            </a:r>
            <a:r>
              <a:rPr lang="zh-CN" altLang="en-US" sz="2800" b="1">
                <a:latin typeface="新宋体" panose="02010609030101010101" charset="-122"/>
                <a:ea typeface="新宋体" panose="02010609030101010101" charset="-122"/>
              </a:rPr>
              <a:t>与活动</a:t>
            </a:r>
            <a:r>
              <a:rPr lang="en-US" altLang="zh-CN" sz="2800" b="1">
                <a:latin typeface="新宋体" panose="02010609030101010101" charset="-122"/>
                <a:ea typeface="新宋体" panose="02010609030101010101" charset="-122"/>
              </a:rPr>
              <a:t>j</a:t>
            </a:r>
            <a:r>
              <a:rPr lang="zh-CN" altLang="en-US" sz="2800" b="1">
                <a:latin typeface="新宋体" panose="02010609030101010101" charset="-122"/>
                <a:ea typeface="新宋体" panose="02010609030101010101" charset="-122"/>
              </a:rPr>
              <a:t>相容。</a:t>
            </a:r>
            <a:endParaRPr lang="zh-CN" altLang="en-US" sz="2800" b="1">
              <a:latin typeface="新宋体" panose="02010609030101010101" charset="-122"/>
              <a:ea typeface="新宋体" panose="02010609030101010101" charset="-122"/>
            </a:endParaRPr>
          </a:p>
          <a:p>
            <a:pPr eaLnBrk="1" hangingPunct="1">
              <a:spcBef>
                <a:spcPct val="50000"/>
              </a:spcBef>
            </a:pPr>
            <a:r>
              <a:rPr lang="zh-CN" altLang="en-US" sz="2800" b="1">
                <a:latin typeface="新宋体" panose="02010609030101010101" charset="-122"/>
                <a:ea typeface="新宋体" panose="02010609030101010101" charset="-122"/>
              </a:rPr>
              <a:t>	活动安排问题就是要在所给的活动集合中选出最大的相容活动子集合。</a:t>
            </a:r>
            <a:endParaRPr lang="en-US" altLang="zh-CN" sz="2800" b="1">
              <a:latin typeface="新宋体" panose="02010609030101010101" charset="-122"/>
              <a:ea typeface="新宋体" panose="02010609030101010101" charset="-122"/>
            </a:endParaRPr>
          </a:p>
        </p:txBody>
      </p:sp>
      <p:sp>
        <p:nvSpPr>
          <p:cNvPr id="289851" name="Rectangle 59"/>
          <p:cNvSpPr>
            <a:spLocks noChangeArrowheads="1"/>
          </p:cNvSpPr>
          <p:nvPr/>
        </p:nvSpPr>
        <p:spPr bwMode="auto">
          <a:xfrm>
            <a:off x="3059113" y="207963"/>
            <a:ext cx="4865687" cy="557212"/>
          </a:xfrm>
          <a:prstGeom prst="rect">
            <a:avLst/>
          </a:prstGeom>
          <a:solidFill>
            <a:srgbClr val="FFFF66"/>
          </a:solidFill>
          <a:ln w="38100">
            <a:solidFill>
              <a:srgbClr val="990000"/>
            </a:solidFill>
            <a:miter lim="800000"/>
          </a:ln>
        </p:spPr>
        <p:txBody>
          <a:bodyPr wrap="none">
            <a:spAutoFit/>
          </a:bodyPr>
          <a:lstStyle/>
          <a:p>
            <a:pPr>
              <a:spcBef>
                <a:spcPct val="20000"/>
              </a:spcBef>
              <a:buClr>
                <a:schemeClr val="tx2"/>
              </a:buClr>
              <a:buSzPct val="70000"/>
              <a:buFont typeface="Wingdings" panose="05000000000000000000" pitchFamily="2" charset="2"/>
              <a:buNone/>
            </a:pPr>
            <a:r>
              <a:rPr lang="zh-CN" altLang="en-US" sz="2800" b="1">
                <a:solidFill>
                  <a:srgbClr val="FF0000"/>
                </a:solidFill>
                <a:latin typeface="Comic Sans MS" panose="030F0702030302020204" pitchFamily="66" charset="0"/>
                <a:ea typeface="新宋体" panose="02010609030101010101" charset="-122"/>
              </a:rPr>
              <a:t>思考一下，动态规划怎么做？</a:t>
            </a:r>
            <a:endParaRPr lang="zh-CN" altLang="en-US" sz="2800" b="1">
              <a:solidFill>
                <a:srgbClr val="FF0000"/>
              </a:solidFill>
              <a:latin typeface="Comic Sans MS" panose="030F0702030302020204" pitchFamily="66" charset="0"/>
              <a:ea typeface="新宋体" panose="02010609030101010101" charset="-122"/>
            </a:endParaRPr>
          </a:p>
        </p:txBody>
      </p:sp>
      <p:sp>
        <p:nvSpPr>
          <p:cNvPr id="1031" name="Line 61"/>
          <p:cNvSpPr>
            <a:spLocks noChangeShapeType="1"/>
          </p:cNvSpPr>
          <p:nvPr/>
        </p:nvSpPr>
        <p:spPr bwMode="auto">
          <a:xfrm>
            <a:off x="4859338" y="5157788"/>
            <a:ext cx="3313112" cy="0"/>
          </a:xfrm>
          <a:prstGeom prst="line">
            <a:avLst/>
          </a:prstGeom>
          <a:noFill/>
          <a:ln w="38100">
            <a:solidFill>
              <a:srgbClr val="99000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032" name="Line 62"/>
          <p:cNvSpPr>
            <a:spLocks noChangeShapeType="1"/>
          </p:cNvSpPr>
          <p:nvPr/>
        </p:nvSpPr>
        <p:spPr bwMode="auto">
          <a:xfrm>
            <a:off x="755650" y="5589588"/>
            <a:ext cx="2808288" cy="0"/>
          </a:xfrm>
          <a:prstGeom prst="line">
            <a:avLst/>
          </a:prstGeom>
          <a:noFill/>
          <a:ln w="38100">
            <a:solidFill>
              <a:srgbClr val="99000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9851"/>
                                        </p:tgtEl>
                                        <p:attrNameLst>
                                          <p:attrName>style.visibility</p:attrName>
                                        </p:attrNameLst>
                                      </p:cBhvr>
                                      <p:to>
                                        <p:strVal val="visible"/>
                                      </p:to>
                                    </p:set>
                                    <p:anim calcmode="lin" valueType="num">
                                      <p:cBhvr additive="base">
                                        <p:cTn id="7" dur="500" fill="hold"/>
                                        <p:tgtEl>
                                          <p:spTgt spid="289851"/>
                                        </p:tgtEl>
                                        <p:attrNameLst>
                                          <p:attrName>ppt_x</p:attrName>
                                        </p:attrNameLst>
                                      </p:cBhvr>
                                      <p:tavLst>
                                        <p:tav tm="0">
                                          <p:val>
                                            <p:strVal val="0-#ppt_w/2"/>
                                          </p:val>
                                        </p:tav>
                                        <p:tav tm="100000">
                                          <p:val>
                                            <p:strVal val="#ppt_x"/>
                                          </p:val>
                                        </p:tav>
                                      </p:tavLst>
                                    </p:anim>
                                    <p:anim calcmode="lin" valueType="num">
                                      <p:cBhvr additive="base">
                                        <p:cTn id="8" dur="500" fill="hold"/>
                                        <p:tgtEl>
                                          <p:spTgt spid="2898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C57C61C-3E4F-4354-88CE-1451100E1424}" type="slidenum">
              <a:rPr lang="en-US" altLang="zh-CN"/>
            </a:fld>
            <a:endParaRPr lang="en-US" altLang="zh-CN"/>
          </a:p>
        </p:txBody>
      </p:sp>
      <p:sp>
        <p:nvSpPr>
          <p:cNvPr id="8195" name="Rectangle 2"/>
          <p:cNvSpPr>
            <a:spLocks noGrp="1" noChangeArrowheads="1"/>
          </p:cNvSpPr>
          <p:nvPr>
            <p:ph type="title"/>
          </p:nvPr>
        </p:nvSpPr>
        <p:spPr>
          <a:xfrm>
            <a:off x="457200" y="122238"/>
            <a:ext cx="7543800" cy="930275"/>
          </a:xfrm>
        </p:spPr>
        <p:txBody>
          <a:bodyPr/>
          <a:lstStyle/>
          <a:p>
            <a:pPr eaLnBrk="1" hangingPunct="1"/>
            <a:r>
              <a:rPr lang="en-US" altLang="zh-CN" smtClean="0">
                <a:latin typeface="黑体" panose="02010609060101010101" pitchFamily="2" charset="-122"/>
                <a:ea typeface="黑体" panose="02010609060101010101" pitchFamily="2" charset="-122"/>
              </a:rPr>
              <a:t>4.1 </a:t>
            </a:r>
            <a:r>
              <a:rPr lang="zh-CN" altLang="en-US" smtClean="0">
                <a:latin typeface="黑体" panose="02010609060101010101" pitchFamily="2" charset="-122"/>
                <a:ea typeface="黑体" panose="02010609060101010101" pitchFamily="2" charset="-122"/>
              </a:rPr>
              <a:t>活动安排问题</a:t>
            </a:r>
            <a:endParaRPr lang="zh-CN" altLang="en-US" smtClean="0">
              <a:latin typeface="黑体" panose="02010609060101010101" pitchFamily="2" charset="-122"/>
              <a:ea typeface="黑体" panose="02010609060101010101" pitchFamily="2" charset="-122"/>
            </a:endParaRPr>
          </a:p>
        </p:txBody>
      </p:sp>
      <p:sp>
        <p:nvSpPr>
          <p:cNvPr id="8196" name="Rectangle 3"/>
          <p:cNvSpPr>
            <a:spLocks noGrp="1" noChangeArrowheads="1"/>
          </p:cNvSpPr>
          <p:nvPr>
            <p:ph type="body" idx="1"/>
          </p:nvPr>
        </p:nvSpPr>
        <p:spPr/>
        <p:txBody>
          <a:bodyPr/>
          <a:lstStyle/>
          <a:p>
            <a:pPr eaLnBrk="1" hangingPunct="1"/>
            <a:endParaRPr lang="zh-CN" altLang="en-US" smtClean="0"/>
          </a:p>
        </p:txBody>
      </p:sp>
      <p:pic>
        <p:nvPicPr>
          <p:cNvPr id="819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254125"/>
            <a:ext cx="914400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07557" name="Rectangle 5"/>
          <p:cNvSpPr>
            <a:spLocks noChangeArrowheads="1"/>
          </p:cNvSpPr>
          <p:nvPr/>
        </p:nvSpPr>
        <p:spPr bwMode="auto">
          <a:xfrm>
            <a:off x="323850" y="4292600"/>
            <a:ext cx="8820150" cy="2565400"/>
          </a:xfrm>
          <a:prstGeom prst="rect">
            <a:avLst/>
          </a:prstGeom>
          <a:solidFill>
            <a:schemeClr val="bg1"/>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4" fill="hold" grpId="0" nodeType="clickEffect">
                                  <p:stCondLst>
                                    <p:cond delay="0"/>
                                  </p:stCondLst>
                                  <p:childTnLst>
                                    <p:animEffect transition="out" filter="slide(fromBottom)">
                                      <p:cBhvr>
                                        <p:cTn id="6" dur="500"/>
                                        <p:tgtEl>
                                          <p:spTgt spid="407557"/>
                                        </p:tgtEl>
                                      </p:cBhvr>
                                    </p:animEffect>
                                    <p:set>
                                      <p:cBhvr>
                                        <p:cTn id="7" dur="1" fill="hold">
                                          <p:stCondLst>
                                            <p:cond delay="499"/>
                                          </p:stCondLst>
                                        </p:cTn>
                                        <p:tgtEl>
                                          <p:spTgt spid="4075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4C24D15-63F8-4348-AC49-77FDE8FC4AB7}" type="slidenum">
              <a:rPr lang="en-US" altLang="zh-CN"/>
            </a:fld>
            <a:endParaRPr lang="en-US" altLang="zh-CN"/>
          </a:p>
        </p:txBody>
      </p:sp>
      <p:sp>
        <p:nvSpPr>
          <p:cNvPr id="9219" name="Rectangle 2"/>
          <p:cNvSpPr>
            <a:spLocks noGrp="1" noChangeArrowheads="1"/>
          </p:cNvSpPr>
          <p:nvPr>
            <p:ph type="title"/>
          </p:nvPr>
        </p:nvSpPr>
        <p:spPr>
          <a:xfrm>
            <a:off x="457200" y="122238"/>
            <a:ext cx="7543800" cy="1003300"/>
          </a:xfrm>
        </p:spPr>
        <p:txBody>
          <a:bodyPr/>
          <a:lstStyle/>
          <a:p>
            <a:pPr eaLnBrk="1" hangingPunct="1"/>
            <a:r>
              <a:rPr lang="en-US" altLang="zh-CN" smtClean="0">
                <a:latin typeface="黑体" panose="02010609060101010101" pitchFamily="2" charset="-122"/>
                <a:ea typeface="黑体" panose="02010609060101010101" pitchFamily="2" charset="-122"/>
              </a:rPr>
              <a:t>4.1 </a:t>
            </a:r>
            <a:r>
              <a:rPr lang="zh-CN" altLang="en-US" smtClean="0">
                <a:latin typeface="黑体" panose="02010609060101010101" pitchFamily="2" charset="-122"/>
                <a:ea typeface="黑体" panose="02010609060101010101" pitchFamily="2" charset="-122"/>
              </a:rPr>
              <a:t>活动安排问题</a:t>
            </a:r>
            <a:endParaRPr lang="zh-CN" altLang="en-US" smtClean="0">
              <a:latin typeface="黑体" panose="02010609060101010101" pitchFamily="2" charset="-122"/>
              <a:ea typeface="黑体" panose="02010609060101010101" pitchFamily="2" charset="-122"/>
            </a:endParaRPr>
          </a:p>
        </p:txBody>
      </p:sp>
      <p:sp>
        <p:nvSpPr>
          <p:cNvPr id="9220" name="Rectangle 3"/>
          <p:cNvSpPr>
            <a:spLocks noGrp="1" noChangeArrowheads="1"/>
          </p:cNvSpPr>
          <p:nvPr>
            <p:ph type="body" idx="1"/>
          </p:nvPr>
        </p:nvSpPr>
        <p:spPr/>
        <p:txBody>
          <a:bodyPr/>
          <a:lstStyle/>
          <a:p>
            <a:pPr eaLnBrk="1" hangingPunct="1"/>
            <a:endParaRPr lang="zh-CN" altLang="en-US" smtClean="0"/>
          </a:p>
        </p:txBody>
      </p:sp>
      <p:pic>
        <p:nvPicPr>
          <p:cNvPr id="922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92213"/>
            <a:ext cx="9144000" cy="566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D7A78D-7D9B-4D15-A42E-B369D6687F86}" type="slidenum">
              <a:rPr lang="en-US" altLang="zh-CN"/>
            </a:fld>
            <a:endParaRPr lang="en-US" altLang="zh-CN"/>
          </a:p>
        </p:txBody>
      </p:sp>
      <p:sp>
        <p:nvSpPr>
          <p:cNvPr id="10243" name="Rectangle 2"/>
          <p:cNvSpPr>
            <a:spLocks noGrp="1" noChangeArrowheads="1"/>
          </p:cNvSpPr>
          <p:nvPr>
            <p:ph type="title"/>
          </p:nvPr>
        </p:nvSpPr>
        <p:spPr>
          <a:xfrm>
            <a:off x="457200" y="122238"/>
            <a:ext cx="7543800" cy="1074737"/>
          </a:xfrm>
        </p:spPr>
        <p:txBody>
          <a:bodyPr/>
          <a:lstStyle/>
          <a:p>
            <a:pPr eaLnBrk="1" hangingPunct="1"/>
            <a:r>
              <a:rPr lang="en-US" altLang="zh-CN" smtClean="0">
                <a:latin typeface="黑体" panose="02010609060101010101" pitchFamily="2" charset="-122"/>
                <a:ea typeface="黑体" panose="02010609060101010101" pitchFamily="2" charset="-122"/>
              </a:rPr>
              <a:t>4.1 </a:t>
            </a:r>
            <a:r>
              <a:rPr lang="zh-CN" altLang="en-US" smtClean="0">
                <a:latin typeface="黑体" panose="02010609060101010101" pitchFamily="2" charset="-122"/>
                <a:ea typeface="黑体" panose="02010609060101010101" pitchFamily="2" charset="-122"/>
              </a:rPr>
              <a:t>活动安排问题</a:t>
            </a:r>
            <a:endParaRPr lang="zh-CN" altLang="en-US" smtClean="0">
              <a:latin typeface="黑体" panose="02010609060101010101" pitchFamily="2" charset="-122"/>
              <a:ea typeface="黑体" panose="02010609060101010101" pitchFamily="2" charset="-122"/>
            </a:endParaRPr>
          </a:p>
        </p:txBody>
      </p:sp>
      <p:sp>
        <p:nvSpPr>
          <p:cNvPr id="10244" name="Rectangle 3"/>
          <p:cNvSpPr>
            <a:spLocks noGrp="1" noChangeArrowheads="1"/>
          </p:cNvSpPr>
          <p:nvPr>
            <p:ph type="body" idx="1"/>
          </p:nvPr>
        </p:nvSpPr>
        <p:spPr/>
        <p:txBody>
          <a:bodyPr/>
          <a:lstStyle/>
          <a:p>
            <a:pPr eaLnBrk="1" hangingPunct="1"/>
            <a:endParaRPr lang="zh-CN" altLang="en-US" smtClean="0"/>
          </a:p>
        </p:txBody>
      </p:sp>
      <p:pic>
        <p:nvPicPr>
          <p:cNvPr id="1024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258888"/>
            <a:ext cx="9144000" cy="559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CB665BB-7EA2-4A73-97FE-E9AC9765AD99}" type="slidenum">
              <a:rPr lang="en-US" altLang="zh-CN"/>
            </a:fld>
            <a:endParaRPr lang="en-US" altLang="zh-CN"/>
          </a:p>
        </p:txBody>
      </p:sp>
      <p:sp>
        <p:nvSpPr>
          <p:cNvPr id="11267" name="Rectangle 2"/>
          <p:cNvSpPr>
            <a:spLocks noGrp="1" noChangeArrowheads="1"/>
          </p:cNvSpPr>
          <p:nvPr>
            <p:ph type="title"/>
          </p:nvPr>
        </p:nvSpPr>
        <p:spPr/>
        <p:txBody>
          <a:bodyPr/>
          <a:lstStyle/>
          <a:p>
            <a:pPr eaLnBrk="1" hangingPunct="1"/>
            <a:r>
              <a:rPr lang="en-US" altLang="zh-CN" sz="3500" smtClean="0">
                <a:latin typeface="黑体" panose="02010609060101010101" pitchFamily="2" charset="-122"/>
                <a:ea typeface="黑体" panose="02010609060101010101" pitchFamily="2" charset="-122"/>
              </a:rPr>
              <a:t>4.1 </a:t>
            </a:r>
            <a:r>
              <a:rPr lang="zh-CN" altLang="en-US" sz="3500" smtClean="0">
                <a:latin typeface="黑体" panose="02010609060101010101" pitchFamily="2" charset="-122"/>
                <a:ea typeface="黑体" panose="02010609060101010101" pitchFamily="2" charset="-122"/>
              </a:rPr>
              <a:t>活动安排问题</a:t>
            </a:r>
            <a:endParaRPr lang="zh-CN" altLang="en-US" sz="3500" smtClean="0">
              <a:latin typeface="黑体" panose="02010609060101010101" pitchFamily="2" charset="-122"/>
              <a:ea typeface="黑体" panose="02010609060101010101" pitchFamily="2" charset="-122"/>
            </a:endParaRPr>
          </a:p>
        </p:txBody>
      </p:sp>
      <p:sp>
        <p:nvSpPr>
          <p:cNvPr id="11268" name="Rectangle 3"/>
          <p:cNvSpPr>
            <a:spLocks noGrp="1" noChangeArrowheads="1"/>
          </p:cNvSpPr>
          <p:nvPr>
            <p:ph type="body" sz="half" idx="1"/>
          </p:nvPr>
        </p:nvSpPr>
        <p:spPr>
          <a:xfrm>
            <a:off x="685800" y="2122488"/>
            <a:ext cx="7773988" cy="4114800"/>
          </a:xfrm>
        </p:spPr>
        <p:txBody>
          <a:bodyPr/>
          <a:lstStyle/>
          <a:p>
            <a:pPr eaLnBrk="1" hangingPunct="1">
              <a:lnSpc>
                <a:spcPct val="150000"/>
              </a:lnSpc>
              <a:buFont typeface="Wingdings" panose="05000000000000000000" pitchFamily="2" charset="2"/>
              <a:buNone/>
            </a:pPr>
            <a:r>
              <a:rPr kumimoji="1" lang="en-US" altLang="zh-CN" sz="1800" b="1" smtClean="0"/>
              <a:t>template&lt;class Type&gt;</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void GreedySelector(int n, Type s[], Type f[], bool A[])</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A[1]=true;</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int j=1;</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for (int i=2;i&lt;=n;i++) {</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if (s[i]&gt;=f[j]) { A[i]=true; j=i; }</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else A[i]=false;</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          }</a:t>
            </a:r>
            <a:endParaRPr kumimoji="1" lang="en-US" altLang="zh-CN" sz="1800" b="1" smtClean="0"/>
          </a:p>
          <a:p>
            <a:pPr eaLnBrk="1" hangingPunct="1">
              <a:lnSpc>
                <a:spcPct val="150000"/>
              </a:lnSpc>
              <a:buFont typeface="Wingdings" panose="05000000000000000000" pitchFamily="2" charset="2"/>
              <a:buNone/>
            </a:pPr>
            <a:r>
              <a:rPr kumimoji="1" lang="en-US" altLang="zh-CN" sz="1800" b="1" smtClean="0"/>
              <a:t>}</a:t>
            </a:r>
            <a:endParaRPr kumimoji="1" lang="en-US" altLang="zh-CN" sz="1800" b="1" smtClean="0"/>
          </a:p>
        </p:txBody>
      </p:sp>
      <p:sp>
        <p:nvSpPr>
          <p:cNvPr id="11269" name="Text Box 4"/>
          <p:cNvSpPr txBox="1">
            <a:spLocks noChangeArrowheads="1"/>
          </p:cNvSpPr>
          <p:nvPr/>
        </p:nvSpPr>
        <p:spPr bwMode="auto">
          <a:xfrm>
            <a:off x="504825" y="1671638"/>
            <a:ext cx="867568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kumimoji="1" lang="zh-CN" altLang="en-US" sz="2000">
                <a:solidFill>
                  <a:schemeClr val="accent2"/>
                </a:solidFill>
                <a:latin typeface="黑体" panose="02010609060101010101" pitchFamily="2" charset="-122"/>
                <a:ea typeface="黑体" panose="02010609060101010101" pitchFamily="2" charset="-122"/>
              </a:rPr>
              <a:t>下面给出解活动安排问题的贪心算法</a:t>
            </a:r>
            <a:r>
              <a:rPr kumimoji="1" lang="en-US" altLang="zh-CN" sz="2000" b="1">
                <a:solidFill>
                  <a:schemeClr val="accent2"/>
                </a:solidFill>
                <a:latin typeface="黑体" panose="02010609060101010101" pitchFamily="2" charset="-122"/>
                <a:ea typeface="黑体" panose="02010609060101010101" pitchFamily="2" charset="-122"/>
              </a:rPr>
              <a:t>GreedySelector</a:t>
            </a:r>
            <a:r>
              <a:rPr kumimoji="1" lang="en-US" altLang="zh-CN" sz="2000">
                <a:latin typeface="黑体" panose="02010609060101010101" pitchFamily="2" charset="-122"/>
                <a:ea typeface="黑体" panose="02010609060101010101" pitchFamily="2" charset="-122"/>
              </a:rPr>
              <a:t> :</a:t>
            </a:r>
            <a:endParaRPr kumimoji="1" lang="en-US" altLang="zh-CN" sz="2000">
              <a:latin typeface="黑体" panose="02010609060101010101" pitchFamily="2" charset="-122"/>
              <a:ea typeface="黑体" panose="02010609060101010101" pitchFamily="2" charset="-122"/>
            </a:endParaRPr>
          </a:p>
          <a:p>
            <a:pPr algn="ctr" eaLnBrk="1" hangingPunct="1">
              <a:spcBef>
                <a:spcPct val="50000"/>
              </a:spcBef>
            </a:pPr>
            <a:endParaRPr lang="zh-CN" altLang="en-US">
              <a:solidFill>
                <a:schemeClr val="accent2"/>
              </a:solidFill>
              <a:ea typeface="华文行楷" panose="02010800040101010101" pitchFamily="2" charset="-122"/>
            </a:endParaRPr>
          </a:p>
        </p:txBody>
      </p:sp>
      <p:sp>
        <p:nvSpPr>
          <p:cNvPr id="310281" name="AutoShape 9"/>
          <p:cNvSpPr>
            <a:spLocks noChangeArrowheads="1"/>
          </p:cNvSpPr>
          <p:nvPr/>
        </p:nvSpPr>
        <p:spPr bwMode="auto">
          <a:xfrm>
            <a:off x="5429250" y="3502025"/>
            <a:ext cx="2743200" cy="1439863"/>
          </a:xfrm>
          <a:prstGeom prst="wedgeRoundRectCallout">
            <a:avLst>
              <a:gd name="adj1" fmla="val -62153"/>
              <a:gd name="adj2" fmla="val -89912"/>
              <a:gd name="adj3" fmla="val 16667"/>
            </a:avLst>
          </a:prstGeom>
          <a:solidFill>
            <a:schemeClr val="hlink"/>
          </a:solidFill>
          <a:ln w="6350">
            <a:solidFill>
              <a:schemeClr val="hlink"/>
            </a:solidFill>
            <a:miter lim="800000"/>
          </a:ln>
        </p:spPr>
        <p:txBody>
          <a:bodyPr anchor="ctr"/>
          <a:lstStyle/>
          <a:p>
            <a:pPr algn="ctr"/>
            <a:r>
              <a:rPr lang="zh-CN" altLang="en-US" b="1">
                <a:solidFill>
                  <a:srgbClr val="CC0000"/>
                </a:solidFill>
                <a:latin typeface="新宋体" panose="02010609030101010101" charset="-122"/>
                <a:ea typeface="新宋体" panose="02010609030101010101" charset="-122"/>
              </a:rPr>
              <a:t>各活动的起始时间和结束时间存储于数组</a:t>
            </a:r>
            <a:r>
              <a:rPr lang="en-US" altLang="zh-CN" b="1">
                <a:solidFill>
                  <a:srgbClr val="CC0000"/>
                </a:solidFill>
                <a:latin typeface="新宋体" panose="02010609030101010101" charset="-122"/>
                <a:ea typeface="新宋体" panose="02010609030101010101" charset="-122"/>
              </a:rPr>
              <a:t>s</a:t>
            </a:r>
            <a:r>
              <a:rPr lang="zh-CN" altLang="en-US" b="1">
                <a:solidFill>
                  <a:srgbClr val="CC0000"/>
                </a:solidFill>
                <a:latin typeface="新宋体" panose="02010609030101010101" charset="-122"/>
                <a:ea typeface="新宋体" panose="02010609030101010101" charset="-122"/>
              </a:rPr>
              <a:t>和</a:t>
            </a:r>
            <a:r>
              <a:rPr lang="en-US" altLang="zh-CN" b="1">
                <a:solidFill>
                  <a:srgbClr val="CC0000"/>
                </a:solidFill>
                <a:latin typeface="新宋体" panose="02010609030101010101" charset="-122"/>
                <a:ea typeface="新宋体" panose="02010609030101010101" charset="-122"/>
              </a:rPr>
              <a:t>f</a:t>
            </a:r>
            <a:r>
              <a:rPr lang="zh-CN" altLang="en-US" b="1">
                <a:solidFill>
                  <a:srgbClr val="CC0000"/>
                </a:solidFill>
                <a:latin typeface="新宋体" panose="02010609030101010101" charset="-122"/>
                <a:ea typeface="新宋体" panose="02010609030101010101" charset="-122"/>
              </a:rPr>
              <a:t>中且按结束时间的非减序排列</a:t>
            </a:r>
            <a:r>
              <a:rPr lang="zh-CN" altLang="en-US">
                <a:solidFill>
                  <a:srgbClr val="CC0000"/>
                </a:solidFill>
                <a:ea typeface="华文行楷" panose="02010800040101010101" pitchFamily="2" charset="-122"/>
              </a:rPr>
              <a:t> </a:t>
            </a:r>
            <a:endParaRPr lang="zh-CN" altLang="en-US">
              <a:solidFill>
                <a:srgbClr val="CC0000"/>
              </a:solidFill>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10281"/>
                                        </p:tgtEl>
                                        <p:attrNameLst>
                                          <p:attrName>style.visibility</p:attrName>
                                        </p:attrNameLst>
                                      </p:cBhvr>
                                      <p:to>
                                        <p:strVal val="visible"/>
                                      </p:to>
                                    </p:set>
                                    <p:anim calcmode="lin" valueType="num">
                                      <p:cBhvr additive="base">
                                        <p:cTn id="7" dur="500" fill="hold"/>
                                        <p:tgtEl>
                                          <p:spTgt spid="310281"/>
                                        </p:tgtEl>
                                        <p:attrNameLst>
                                          <p:attrName>ppt_x</p:attrName>
                                        </p:attrNameLst>
                                      </p:cBhvr>
                                      <p:tavLst>
                                        <p:tav tm="0">
                                          <p:val>
                                            <p:strVal val="1+#ppt_w/2"/>
                                          </p:val>
                                        </p:tav>
                                        <p:tav tm="100000">
                                          <p:val>
                                            <p:strVal val="#ppt_x"/>
                                          </p:val>
                                        </p:tav>
                                      </p:tavLst>
                                    </p:anim>
                                    <p:anim calcmode="lin" valueType="num">
                                      <p:cBhvr additive="base">
                                        <p:cTn id="8" dur="500" fill="hold"/>
                                        <p:tgtEl>
                                          <p:spTgt spid="3102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81"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9C4938-42EA-4432-B7A9-40AAFB6A168C}" type="slidenum">
              <a:rPr lang="en-US" altLang="zh-CN"/>
            </a:fld>
            <a:endParaRPr lang="en-US" altLang="zh-CN"/>
          </a:p>
        </p:txBody>
      </p:sp>
      <p:sp>
        <p:nvSpPr>
          <p:cNvPr id="12291" name="Rectangle 2"/>
          <p:cNvSpPr>
            <a:spLocks noGrp="1" noChangeArrowheads="1"/>
          </p:cNvSpPr>
          <p:nvPr>
            <p:ph type="title"/>
          </p:nvPr>
        </p:nvSpPr>
        <p:spPr/>
        <p:txBody>
          <a:bodyPr/>
          <a:lstStyle/>
          <a:p>
            <a:pPr eaLnBrk="1" hangingPunct="1"/>
            <a:r>
              <a:rPr lang="en-US" altLang="zh-CN" sz="3500" smtClean="0">
                <a:latin typeface="黑体" panose="02010609060101010101" pitchFamily="2" charset="-122"/>
                <a:ea typeface="黑体" panose="02010609060101010101" pitchFamily="2" charset="-122"/>
              </a:rPr>
              <a:t>4.1 </a:t>
            </a:r>
            <a:r>
              <a:rPr lang="zh-CN" altLang="en-US" sz="3500" smtClean="0">
                <a:latin typeface="黑体" panose="02010609060101010101" pitchFamily="2" charset="-122"/>
                <a:ea typeface="黑体" panose="02010609060101010101" pitchFamily="2" charset="-122"/>
              </a:rPr>
              <a:t>活动安排问题</a:t>
            </a:r>
            <a:endParaRPr lang="zh-CN" altLang="en-US" sz="3500" smtClean="0">
              <a:latin typeface="黑体" panose="02010609060101010101" pitchFamily="2" charset="-122"/>
              <a:ea typeface="黑体" panose="02010609060101010101" pitchFamily="2" charset="-122"/>
            </a:endParaRPr>
          </a:p>
        </p:txBody>
      </p:sp>
      <p:sp>
        <p:nvSpPr>
          <p:cNvPr id="12292" name="Rectangle 3"/>
          <p:cNvSpPr>
            <a:spLocks noGrp="1" noChangeArrowheads="1"/>
          </p:cNvSpPr>
          <p:nvPr>
            <p:ph type="body" sz="half" idx="1"/>
          </p:nvPr>
        </p:nvSpPr>
        <p:spPr>
          <a:xfrm>
            <a:off x="250825" y="1916113"/>
            <a:ext cx="7558088" cy="1087437"/>
          </a:xfrm>
        </p:spPr>
        <p:txBody>
          <a:bodyPr/>
          <a:lstStyle/>
          <a:p>
            <a:pPr eaLnBrk="1" hangingPunct="1">
              <a:buFont typeface="Wingdings" panose="05000000000000000000" pitchFamily="2" charset="2"/>
              <a:buNone/>
            </a:pPr>
            <a:r>
              <a:rPr lang="zh-CN" altLang="en-US" sz="2200" smtClean="0">
                <a:latin typeface="新宋体" panose="02010609030101010101" charset="-122"/>
                <a:ea typeface="新宋体" panose="02010609030101010101" charset="-122"/>
              </a:rPr>
              <a:t>  </a:t>
            </a:r>
            <a:r>
              <a:rPr lang="zh-CN" altLang="en-US" sz="2200" b="1" smtClean="0">
                <a:solidFill>
                  <a:schemeClr val="accent2"/>
                </a:solidFill>
                <a:latin typeface="新宋体" panose="02010609030101010101" charset="-122"/>
                <a:ea typeface="新宋体" panose="02010609030101010101" charset="-122"/>
              </a:rPr>
              <a:t>例：</a:t>
            </a:r>
            <a:r>
              <a:rPr lang="zh-CN" altLang="en-US" sz="2200" smtClean="0">
                <a:latin typeface="新宋体" panose="02010609030101010101" charset="-122"/>
                <a:ea typeface="新宋体" panose="02010609030101010101" charset="-122"/>
              </a:rPr>
              <a:t>设待安排的</a:t>
            </a:r>
            <a:r>
              <a:rPr lang="en-US" altLang="zh-CN" sz="2200" smtClean="0">
                <a:latin typeface="新宋体" panose="02010609030101010101" charset="-122"/>
                <a:ea typeface="新宋体" panose="02010609030101010101" charset="-122"/>
              </a:rPr>
              <a:t>11</a:t>
            </a:r>
            <a:r>
              <a:rPr lang="zh-CN" altLang="en-US" sz="2200" smtClean="0">
                <a:latin typeface="新宋体" panose="02010609030101010101" charset="-122"/>
                <a:ea typeface="新宋体" panose="02010609030101010101" charset="-122"/>
              </a:rPr>
              <a:t>个活动的开始时间和结束时间按结束时间的非减序排列如下：</a:t>
            </a:r>
            <a:endParaRPr lang="zh-CN" altLang="en-US" sz="2200" smtClean="0">
              <a:latin typeface="新宋体" panose="02010609030101010101" charset="-122"/>
              <a:ea typeface="新宋体" panose="02010609030101010101" charset="-122"/>
            </a:endParaRPr>
          </a:p>
        </p:txBody>
      </p:sp>
      <p:graphicFrame>
        <p:nvGraphicFramePr>
          <p:cNvPr id="313413" name="Group 69"/>
          <p:cNvGraphicFramePr>
            <a:graphicFrameLocks noGrp="1"/>
          </p:cNvGraphicFramePr>
          <p:nvPr>
            <p:ph sz="half" idx="2"/>
          </p:nvPr>
        </p:nvGraphicFramePr>
        <p:xfrm>
          <a:off x="541338" y="3117850"/>
          <a:ext cx="7916862" cy="2687638"/>
        </p:xfrm>
        <a:graphic>
          <a:graphicData uri="http://schemas.openxmlformats.org/drawingml/2006/table">
            <a:tbl>
              <a:tblPr/>
              <a:tblGrid>
                <a:gridCol w="660400"/>
                <a:gridCol w="658812"/>
                <a:gridCol w="660400"/>
                <a:gridCol w="658813"/>
                <a:gridCol w="658812"/>
                <a:gridCol w="661988"/>
                <a:gridCol w="660400"/>
                <a:gridCol w="658812"/>
                <a:gridCol w="660400"/>
                <a:gridCol w="658813"/>
                <a:gridCol w="658812"/>
                <a:gridCol w="660400"/>
              </a:tblGrid>
              <a:tr h="101282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1282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S[i]</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1988">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f[i]</a:t>
                      </a:r>
                      <a:endParaRPr kumimoji="0" lang="en-US" altLang="zh-CN" sz="2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12</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13</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14</a:t>
                      </a:r>
                      <a:endParaRPr kumimoji="0" lang="en-US" altLang="zh-CN"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FCB045E-2648-4B23-8C31-086460244906}" type="slidenum">
              <a:rPr lang="en-US" altLang="zh-CN"/>
            </a:fld>
            <a:endParaRPr lang="en-US" altLang="zh-CN"/>
          </a:p>
        </p:txBody>
      </p:sp>
      <p:sp>
        <p:nvSpPr>
          <p:cNvPr id="13315" name="Rectangle 7"/>
          <p:cNvSpPr>
            <a:spLocks noGrp="1" noChangeArrowheads="1"/>
          </p:cNvSpPr>
          <p:nvPr>
            <p:ph type="title"/>
          </p:nvPr>
        </p:nvSpPr>
        <p:spPr/>
        <p:txBody>
          <a:bodyPr/>
          <a:lstStyle/>
          <a:p>
            <a:pPr eaLnBrk="1" hangingPunct="1"/>
            <a:r>
              <a:rPr lang="en-US" altLang="zh-CN" sz="3000" smtClean="0">
                <a:latin typeface="黑体" panose="02010609060101010101" pitchFamily="2" charset="-122"/>
                <a:ea typeface="黑体" panose="02010609060101010101" pitchFamily="2" charset="-122"/>
              </a:rPr>
              <a:t>4.1 </a:t>
            </a:r>
            <a:r>
              <a:rPr lang="zh-CN" altLang="en-US" sz="3000" smtClean="0">
                <a:latin typeface="黑体" panose="02010609060101010101" pitchFamily="2" charset="-122"/>
                <a:ea typeface="黑体" panose="02010609060101010101" pitchFamily="2" charset="-122"/>
              </a:rPr>
              <a:t>活动安排问题</a:t>
            </a:r>
            <a:br>
              <a:rPr lang="zh-CN" altLang="en-US" sz="3000" smtClean="0">
                <a:latin typeface="黑体" panose="02010609060101010101" pitchFamily="2" charset="-122"/>
                <a:ea typeface="黑体" panose="02010609060101010101" pitchFamily="2" charset="-122"/>
              </a:rPr>
            </a:br>
            <a:endParaRPr lang="zh-CN" altLang="en-US" sz="3000" smtClean="0">
              <a:latin typeface="黑体" panose="02010609060101010101" pitchFamily="2" charset="-122"/>
              <a:ea typeface="黑体" panose="02010609060101010101" pitchFamily="2" charset="-122"/>
            </a:endParaRPr>
          </a:p>
        </p:txBody>
      </p:sp>
      <p:pic>
        <p:nvPicPr>
          <p:cNvPr id="13316" name="Picture 4" descr="t41"/>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611188" y="1412875"/>
            <a:ext cx="3679825" cy="4827588"/>
          </a:xfrm>
          <a:noFill/>
        </p:spPr>
      </p:pic>
      <p:sp>
        <p:nvSpPr>
          <p:cNvPr id="13317" name="Rectangle 8"/>
          <p:cNvSpPr>
            <a:spLocks noGrp="1" noChangeArrowheads="1"/>
          </p:cNvSpPr>
          <p:nvPr>
            <p:ph type="body" sz="half" idx="2"/>
          </p:nvPr>
        </p:nvSpPr>
        <p:spPr>
          <a:xfrm>
            <a:off x="4716463" y="1957388"/>
            <a:ext cx="3810000" cy="4006850"/>
          </a:xfrm>
        </p:spPr>
        <p:txBody>
          <a:bodyPr/>
          <a:lstStyle/>
          <a:p>
            <a:pPr eaLnBrk="1" hangingPunct="1">
              <a:buFont typeface="Wingdings" panose="05000000000000000000" pitchFamily="2" charset="2"/>
              <a:buNone/>
            </a:pPr>
            <a:r>
              <a:rPr lang="zh-CN" altLang="en-US" sz="2600" smtClean="0">
                <a:latin typeface="新宋体" panose="02010609030101010101" charset="-122"/>
                <a:ea typeface="新宋体" panose="02010609030101010101" charset="-122"/>
              </a:rPr>
              <a:t>  </a:t>
            </a:r>
            <a:r>
              <a:rPr lang="zh-CN" altLang="en-US" sz="2200" b="1" smtClean="0">
                <a:solidFill>
                  <a:schemeClr val="accent2"/>
                </a:solidFill>
                <a:latin typeface="新宋体" panose="02010609030101010101" charset="-122"/>
                <a:ea typeface="新宋体" panose="02010609030101010101" charset="-122"/>
              </a:rPr>
              <a:t>算法</a:t>
            </a:r>
            <a:r>
              <a:rPr lang="en-US" altLang="zh-CN" sz="2200" b="1" smtClean="0">
                <a:solidFill>
                  <a:schemeClr val="accent2"/>
                </a:solidFill>
                <a:latin typeface="新宋体" panose="02010609030101010101" charset="-122"/>
                <a:ea typeface="新宋体" panose="02010609030101010101" charset="-122"/>
              </a:rPr>
              <a:t>greedySelector </a:t>
            </a:r>
            <a:r>
              <a:rPr lang="zh-CN" altLang="en-US" sz="2200" b="1" smtClean="0">
                <a:solidFill>
                  <a:schemeClr val="accent2"/>
                </a:solidFill>
                <a:latin typeface="新宋体" panose="02010609030101010101" charset="-122"/>
                <a:ea typeface="新宋体" panose="02010609030101010101" charset="-122"/>
              </a:rPr>
              <a:t>的计算过程</a:t>
            </a:r>
            <a:r>
              <a:rPr lang="zh-CN" altLang="en-US" sz="2200" smtClean="0">
                <a:latin typeface="新宋体" panose="02010609030101010101" charset="-122"/>
                <a:ea typeface="新宋体" panose="02010609030101010101" charset="-122"/>
              </a:rPr>
              <a:t>如左图所示。图中每行相应于算法的一次迭代。阴影长条表示的活动是已选入集合</a:t>
            </a:r>
            <a:r>
              <a:rPr lang="en-US" altLang="zh-CN" sz="2200" smtClean="0">
                <a:latin typeface="新宋体" panose="02010609030101010101" charset="-122"/>
                <a:ea typeface="新宋体" panose="02010609030101010101" charset="-122"/>
              </a:rPr>
              <a:t>A</a:t>
            </a:r>
            <a:r>
              <a:rPr lang="zh-CN" altLang="en-US" sz="2200" smtClean="0">
                <a:latin typeface="新宋体" panose="02010609030101010101" charset="-122"/>
                <a:ea typeface="新宋体" panose="02010609030101010101" charset="-122"/>
              </a:rPr>
              <a:t>的活动，而空白长条表示的活动是当前正在检查相容性的活动。</a:t>
            </a:r>
            <a:endParaRPr lang="zh-CN" altLang="en-US" sz="2200"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637D871-C539-45A5-8AE6-B7E514563457}" type="slidenum">
              <a:rPr lang="en-US" altLang="zh-CN"/>
            </a:fld>
            <a:endParaRPr lang="en-US" altLang="zh-CN"/>
          </a:p>
        </p:txBody>
      </p:sp>
      <p:sp>
        <p:nvSpPr>
          <p:cNvPr id="14339" name="Rectangle 3"/>
          <p:cNvSpPr>
            <a:spLocks noGrp="1" noChangeArrowheads="1"/>
          </p:cNvSpPr>
          <p:nvPr>
            <p:ph type="body" idx="1"/>
          </p:nvPr>
        </p:nvSpPr>
        <p:spPr/>
        <p:txBody>
          <a:bodyPr/>
          <a:lstStyle/>
          <a:p>
            <a:pPr eaLnBrk="1" hangingPunct="1"/>
            <a:endParaRPr lang="zh-CN" altLang="en-US" smtClean="0"/>
          </a:p>
        </p:txBody>
      </p:sp>
      <p:pic>
        <p:nvPicPr>
          <p:cNvPr id="14340"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549275"/>
            <a:ext cx="9144000" cy="575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291139-2E9E-4E0A-B1F7-3E67EE77AA2B}" type="slidenum">
              <a:rPr lang="en-US" altLang="zh-CN"/>
            </a:fld>
            <a:endParaRPr lang="en-US" altLang="zh-CN"/>
          </a:p>
        </p:txBody>
      </p:sp>
      <p:sp>
        <p:nvSpPr>
          <p:cNvPr id="15363" name="Rectangle 2"/>
          <p:cNvSpPr>
            <a:spLocks noGrp="1" noChangeArrowheads="1"/>
          </p:cNvSpPr>
          <p:nvPr>
            <p:ph type="title"/>
          </p:nvPr>
        </p:nvSpPr>
        <p:spPr/>
        <p:txBody>
          <a:bodyPr/>
          <a:lstStyle/>
          <a:p>
            <a:pPr eaLnBrk="1" hangingPunct="1"/>
            <a:r>
              <a:rPr lang="en-US" altLang="zh-CN" sz="3500" smtClean="0">
                <a:latin typeface="黑体" panose="02010609060101010101" pitchFamily="2" charset="-122"/>
                <a:ea typeface="黑体" panose="02010609060101010101" pitchFamily="2" charset="-122"/>
              </a:rPr>
              <a:t>4.1 </a:t>
            </a:r>
            <a:r>
              <a:rPr lang="zh-CN" altLang="en-US" sz="3500" smtClean="0">
                <a:latin typeface="黑体" panose="02010609060101010101" pitchFamily="2" charset="-122"/>
                <a:ea typeface="黑体" panose="02010609060101010101" pitchFamily="2" charset="-122"/>
              </a:rPr>
              <a:t>活动安排问题</a:t>
            </a:r>
            <a:endParaRPr lang="zh-CN" altLang="en-US" sz="3500" smtClean="0">
              <a:latin typeface="黑体" panose="02010609060101010101" pitchFamily="2" charset="-122"/>
              <a:ea typeface="黑体" panose="02010609060101010101" pitchFamily="2" charset="-122"/>
            </a:endParaRPr>
          </a:p>
        </p:txBody>
      </p:sp>
      <p:sp>
        <p:nvSpPr>
          <p:cNvPr id="15364" name="Rectangle 3"/>
          <p:cNvSpPr>
            <a:spLocks noGrp="1" noChangeArrowheads="1"/>
          </p:cNvSpPr>
          <p:nvPr>
            <p:ph type="body" idx="1"/>
          </p:nvPr>
        </p:nvSpPr>
        <p:spPr>
          <a:xfrm>
            <a:off x="179388" y="1989138"/>
            <a:ext cx="8459787" cy="3787775"/>
          </a:xfrm>
        </p:spPr>
        <p:txBody>
          <a:bodyPr/>
          <a:lstStyle/>
          <a:p>
            <a:pPr eaLnBrk="1" hangingPunct="1">
              <a:buFont typeface="Wingdings" panose="05000000000000000000" pitchFamily="2" charset="2"/>
              <a:buNone/>
            </a:pPr>
            <a:r>
              <a:rPr lang="zh-CN" altLang="en-US" sz="2800" b="1" smtClean="0"/>
              <a:t>	 	</a:t>
            </a:r>
            <a:r>
              <a:rPr lang="zh-CN" altLang="en-US" sz="2800" b="1" smtClean="0">
                <a:latin typeface="新宋体" panose="02010609030101010101" charset="-122"/>
                <a:ea typeface="新宋体" panose="02010609030101010101" charset="-122"/>
              </a:rPr>
              <a:t>算法</a:t>
            </a:r>
            <a:r>
              <a:rPr lang="en-US" altLang="zh-CN" sz="2800" b="1" smtClean="0">
                <a:latin typeface="新宋体" panose="02010609030101010101" charset="-122"/>
                <a:ea typeface="新宋体" panose="02010609030101010101" charset="-122"/>
              </a:rPr>
              <a:t>greedySelector</a:t>
            </a:r>
            <a:r>
              <a:rPr lang="zh-CN" altLang="en-US" sz="2800" b="1" smtClean="0">
                <a:latin typeface="新宋体" panose="02010609030101010101" charset="-122"/>
                <a:ea typeface="新宋体" panose="02010609030101010101" charset="-122"/>
              </a:rPr>
              <a:t>的效率极高。当输入的活动已按结束时间的非减序排列，算法只需</a:t>
            </a:r>
            <a:r>
              <a:rPr lang="en-US" altLang="zh-CN" sz="2800" b="1" smtClean="0">
                <a:solidFill>
                  <a:schemeClr val="accent2"/>
                </a:solidFill>
                <a:latin typeface="新宋体" panose="02010609030101010101" charset="-122"/>
                <a:ea typeface="新宋体" panose="02010609030101010101" charset="-122"/>
              </a:rPr>
              <a:t>O(n)</a:t>
            </a:r>
            <a:r>
              <a:rPr lang="zh-CN" altLang="en-US" sz="2800" b="1" smtClean="0">
                <a:latin typeface="新宋体" panose="02010609030101010101" charset="-122"/>
                <a:ea typeface="新宋体" panose="02010609030101010101" charset="-122"/>
              </a:rPr>
              <a:t>的时间安排</a:t>
            </a:r>
            <a:r>
              <a:rPr lang="en-US" altLang="zh-CN" sz="2800" b="1" smtClean="0">
                <a:latin typeface="新宋体" panose="02010609030101010101" charset="-122"/>
                <a:ea typeface="新宋体" panose="02010609030101010101" charset="-122"/>
              </a:rPr>
              <a:t>n</a:t>
            </a:r>
            <a:r>
              <a:rPr lang="zh-CN" altLang="en-US" sz="2800" b="1" smtClean="0">
                <a:latin typeface="新宋体" panose="02010609030101010101" charset="-122"/>
                <a:ea typeface="新宋体" panose="02010609030101010101" charset="-122"/>
              </a:rPr>
              <a:t>个活动，使最多的活动能相容地使用公共资源。如果所给出的活动未按非减序排列，可以用</a:t>
            </a:r>
            <a:r>
              <a:rPr lang="en-US" altLang="zh-CN" sz="2800" b="1" smtClean="0">
                <a:solidFill>
                  <a:schemeClr val="accent2"/>
                </a:solidFill>
                <a:latin typeface="新宋体" panose="02010609030101010101" charset="-122"/>
                <a:ea typeface="新宋体" panose="02010609030101010101" charset="-122"/>
              </a:rPr>
              <a:t>O(nlogn)</a:t>
            </a:r>
            <a:r>
              <a:rPr lang="zh-CN" altLang="en-US" sz="2800" b="1" smtClean="0">
                <a:latin typeface="新宋体" panose="02010609030101010101" charset="-122"/>
                <a:ea typeface="新宋体" panose="02010609030101010101" charset="-122"/>
              </a:rPr>
              <a:t>的时间重排。 </a:t>
            </a:r>
            <a:endParaRPr lang="zh-CN" altLang="en-US" sz="28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BAF1D7-A5CB-4C2F-BE3C-EE354681BEDC}" type="slidenum">
              <a:rPr lang="en-US" altLang="zh-CN"/>
            </a:fld>
            <a:endParaRPr lang="en-US" altLang="zh-CN"/>
          </a:p>
        </p:txBody>
      </p:sp>
      <p:sp>
        <p:nvSpPr>
          <p:cNvPr id="16387" name="Rectangle 2"/>
          <p:cNvSpPr>
            <a:spLocks noGrp="1" noChangeArrowheads="1"/>
          </p:cNvSpPr>
          <p:nvPr>
            <p:ph type="title"/>
          </p:nvPr>
        </p:nvSpPr>
        <p:spPr/>
        <p:txBody>
          <a:bodyPr/>
          <a:lstStyle/>
          <a:p>
            <a:pPr eaLnBrk="1" hangingPunct="1"/>
            <a:r>
              <a:rPr lang="en-US" altLang="zh-CN" sz="3500" smtClean="0">
                <a:latin typeface="黑体" panose="02010609060101010101" pitchFamily="2" charset="-122"/>
                <a:ea typeface="黑体" panose="02010609060101010101" pitchFamily="2" charset="-122"/>
              </a:rPr>
              <a:t>4.1 </a:t>
            </a:r>
            <a:r>
              <a:rPr lang="zh-CN" altLang="en-US" sz="3500" smtClean="0">
                <a:latin typeface="黑体" panose="02010609060101010101" pitchFamily="2" charset="-122"/>
                <a:ea typeface="黑体" panose="02010609060101010101" pitchFamily="2" charset="-122"/>
              </a:rPr>
              <a:t>活动安排问题</a:t>
            </a:r>
            <a:endParaRPr lang="zh-CN" altLang="en-US" sz="3500" smtClean="0">
              <a:latin typeface="黑体" panose="02010609060101010101" pitchFamily="2" charset="-122"/>
              <a:ea typeface="黑体" panose="02010609060101010101" pitchFamily="2" charset="-122"/>
            </a:endParaRPr>
          </a:p>
        </p:txBody>
      </p:sp>
      <p:sp>
        <p:nvSpPr>
          <p:cNvPr id="16388"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若被检查的活动</a:t>
            </a:r>
            <a:r>
              <a:rPr lang="en-US" altLang="zh-CN" sz="2800" b="1" smtClean="0">
                <a:latin typeface="新宋体" panose="02010609030101010101" charset="-122"/>
                <a:ea typeface="新宋体" panose="02010609030101010101" charset="-122"/>
              </a:rPr>
              <a:t>i</a:t>
            </a:r>
            <a:r>
              <a:rPr lang="zh-CN" altLang="en-US" sz="2800" b="1" smtClean="0">
                <a:latin typeface="新宋体" panose="02010609030101010101" charset="-122"/>
                <a:ea typeface="新宋体" panose="02010609030101010101" charset="-122"/>
              </a:rPr>
              <a:t>的开始时间</a:t>
            </a:r>
            <a:r>
              <a:rPr lang="en-US" altLang="zh-CN" sz="2800" b="1" smtClean="0">
                <a:latin typeface="新宋体" panose="02010609030101010101" charset="-122"/>
                <a:ea typeface="新宋体" panose="02010609030101010101" charset="-122"/>
              </a:rPr>
              <a:t>Si</a:t>
            </a:r>
            <a:r>
              <a:rPr lang="zh-CN" altLang="en-US" sz="2800" b="1" smtClean="0">
                <a:latin typeface="新宋体" panose="02010609030101010101" charset="-122"/>
                <a:ea typeface="新宋体" panose="02010609030101010101" charset="-122"/>
              </a:rPr>
              <a:t>小于最近选择的活动</a:t>
            </a:r>
            <a:r>
              <a:rPr lang="en-US" altLang="zh-CN" sz="2800" b="1" smtClean="0">
                <a:latin typeface="新宋体" panose="02010609030101010101" charset="-122"/>
                <a:ea typeface="新宋体" panose="02010609030101010101" charset="-122"/>
              </a:rPr>
              <a:t>j</a:t>
            </a:r>
            <a:r>
              <a:rPr lang="zh-CN" altLang="en-US" sz="2800" b="1" smtClean="0">
                <a:latin typeface="新宋体" panose="02010609030101010101" charset="-122"/>
                <a:ea typeface="新宋体" panose="02010609030101010101" charset="-122"/>
              </a:rPr>
              <a:t>的结束时间</a:t>
            </a:r>
            <a:r>
              <a:rPr lang="en-US" altLang="zh-CN" sz="2800" b="1" smtClean="0">
                <a:latin typeface="新宋体" panose="02010609030101010101" charset="-122"/>
                <a:ea typeface="新宋体" panose="02010609030101010101" charset="-122"/>
              </a:rPr>
              <a:t>fi</a:t>
            </a:r>
            <a:r>
              <a:rPr lang="zh-CN" altLang="en-US" sz="2800" b="1" smtClean="0">
                <a:latin typeface="新宋体" panose="02010609030101010101" charset="-122"/>
                <a:ea typeface="新宋体" panose="02010609030101010101" charset="-122"/>
              </a:rPr>
              <a:t>，则不选择活动</a:t>
            </a:r>
            <a:r>
              <a:rPr lang="en-US" altLang="zh-CN" sz="2800" b="1" smtClean="0">
                <a:latin typeface="新宋体" panose="02010609030101010101" charset="-122"/>
                <a:ea typeface="新宋体" panose="02010609030101010101" charset="-122"/>
              </a:rPr>
              <a:t>i</a:t>
            </a:r>
            <a:r>
              <a:rPr lang="zh-CN" altLang="en-US" sz="2800" b="1" smtClean="0">
                <a:latin typeface="新宋体" panose="02010609030101010101" charset="-122"/>
                <a:ea typeface="新宋体" panose="02010609030101010101" charset="-122"/>
              </a:rPr>
              <a:t>，否则选择活动</a:t>
            </a:r>
            <a:r>
              <a:rPr lang="en-US" altLang="zh-CN" sz="2800" b="1" smtClean="0">
                <a:latin typeface="新宋体" panose="02010609030101010101" charset="-122"/>
                <a:ea typeface="新宋体" panose="02010609030101010101" charset="-122"/>
              </a:rPr>
              <a:t>i</a:t>
            </a:r>
            <a:r>
              <a:rPr lang="zh-CN" altLang="en-US" sz="2800" b="1" smtClean="0">
                <a:latin typeface="新宋体" panose="02010609030101010101" charset="-122"/>
                <a:ea typeface="新宋体" panose="02010609030101010101" charset="-122"/>
              </a:rPr>
              <a:t>加入集合</a:t>
            </a:r>
            <a:r>
              <a:rPr lang="en-US" altLang="zh-CN" sz="2800" b="1" smtClean="0">
                <a:latin typeface="新宋体" panose="02010609030101010101" charset="-122"/>
                <a:ea typeface="新宋体" panose="02010609030101010101" charset="-122"/>
              </a:rPr>
              <a:t>A</a:t>
            </a:r>
            <a:r>
              <a:rPr lang="zh-CN" altLang="en-US" sz="2800" b="1" smtClean="0">
                <a:latin typeface="新宋体" panose="02010609030101010101" charset="-122"/>
                <a:ea typeface="新宋体" panose="02010609030101010101" charset="-122"/>
              </a:rPr>
              <a:t>中。</a:t>
            </a:r>
            <a:r>
              <a:rPr lang="zh-CN" altLang="en-US" sz="2800" b="1" smtClean="0"/>
              <a:t> </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贪心算法并不总能求得问题的</a:t>
            </a:r>
            <a:r>
              <a:rPr lang="zh-CN" altLang="en-US" sz="2800" b="1" smtClean="0">
                <a:solidFill>
                  <a:schemeClr val="accent2"/>
                </a:solidFill>
                <a:latin typeface="新宋体" panose="02010609030101010101" charset="-122"/>
                <a:ea typeface="新宋体" panose="02010609030101010101" charset="-122"/>
              </a:rPr>
              <a:t>整体最优解</a:t>
            </a:r>
            <a:r>
              <a:rPr lang="zh-CN" altLang="en-US" sz="2800" b="1" smtClean="0">
                <a:latin typeface="新宋体" panose="02010609030101010101" charset="-122"/>
                <a:ea typeface="新宋体" panose="02010609030101010101" charset="-122"/>
              </a:rPr>
              <a:t>。但对于活动安排问题，贪心算法</a:t>
            </a:r>
            <a:r>
              <a:rPr lang="en-US" altLang="zh-CN" sz="2800" b="1" smtClean="0">
                <a:latin typeface="新宋体" panose="02010609030101010101" charset="-122"/>
                <a:ea typeface="新宋体" panose="02010609030101010101" charset="-122"/>
              </a:rPr>
              <a:t>greedySelector</a:t>
            </a:r>
            <a:r>
              <a:rPr lang="zh-CN" altLang="en-US" sz="2800" b="1" smtClean="0">
                <a:latin typeface="新宋体" panose="02010609030101010101" charset="-122"/>
                <a:ea typeface="新宋体" panose="02010609030101010101" charset="-122"/>
              </a:rPr>
              <a:t>却总能求得的整体最优解，即它最终所确定的相容活动集合</a:t>
            </a:r>
            <a:r>
              <a:rPr lang="en-US" altLang="zh-CN" sz="2800" b="1" smtClean="0">
                <a:latin typeface="新宋体" panose="02010609030101010101" charset="-122"/>
                <a:ea typeface="新宋体" panose="02010609030101010101" charset="-122"/>
              </a:rPr>
              <a:t>A</a:t>
            </a:r>
            <a:r>
              <a:rPr lang="zh-CN" altLang="en-US" sz="2800" b="1" smtClean="0">
                <a:latin typeface="新宋体" panose="02010609030101010101" charset="-122"/>
                <a:ea typeface="新宋体" panose="02010609030101010101" charset="-122"/>
              </a:rPr>
              <a:t>的规模最大。这个结论可以用数学归纳法证明。</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8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A6186E0-4AC2-42ED-8F3F-7DE4714779FF}" type="slidenum">
              <a:rPr lang="en-US" altLang="zh-CN"/>
            </a:fld>
            <a:endParaRPr lang="en-US" altLang="zh-CN"/>
          </a:p>
        </p:txBody>
      </p:sp>
      <p:sp>
        <p:nvSpPr>
          <p:cNvPr id="17411" name="Rectangle 3"/>
          <p:cNvSpPr>
            <a:spLocks noGrp="1" noChangeArrowheads="1"/>
          </p:cNvSpPr>
          <p:nvPr>
            <p:ph type="body" idx="1"/>
          </p:nvPr>
        </p:nvSpPr>
        <p:spPr/>
        <p:txBody>
          <a:bodyPr/>
          <a:lstStyle/>
          <a:p>
            <a:pPr eaLnBrk="1" hangingPunct="1"/>
            <a:endParaRPr lang="zh-CN" altLang="en-US" smtClean="0"/>
          </a:p>
        </p:txBody>
      </p:sp>
      <p:pic>
        <p:nvPicPr>
          <p:cNvPr id="1741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9144000" cy="585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412677" name="Rectangle 5"/>
          <p:cNvSpPr>
            <a:spLocks noChangeArrowheads="1"/>
          </p:cNvSpPr>
          <p:nvPr/>
        </p:nvSpPr>
        <p:spPr bwMode="auto">
          <a:xfrm>
            <a:off x="0" y="2492375"/>
            <a:ext cx="9144000" cy="4365625"/>
          </a:xfrm>
          <a:prstGeom prst="rect">
            <a:avLst/>
          </a:prstGeom>
          <a:solidFill>
            <a:schemeClr val="bg1"/>
          </a:solidFill>
          <a:ln>
            <a:noFill/>
          </a:ln>
          <a:extLs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4" fill="hold" grpId="0" nodeType="clickEffect">
                                  <p:stCondLst>
                                    <p:cond delay="0"/>
                                  </p:stCondLst>
                                  <p:childTnLst>
                                    <p:animEffect transition="out" filter="slide(fromBottom)">
                                      <p:cBhvr>
                                        <p:cTn id="6" dur="500"/>
                                        <p:tgtEl>
                                          <p:spTgt spid="412677"/>
                                        </p:tgtEl>
                                      </p:cBhvr>
                                    </p:animEffect>
                                    <p:set>
                                      <p:cBhvr>
                                        <p:cTn id="7" dur="1" fill="hold">
                                          <p:stCondLst>
                                            <p:cond delay="499"/>
                                          </p:stCondLst>
                                        </p:cTn>
                                        <p:tgtEl>
                                          <p:spTgt spid="4126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9E2EA9B-21B5-449B-9218-8F172AD44870}" type="slidenum">
              <a:rPr lang="en-US" altLang="zh-CN"/>
            </a:fld>
            <a:endParaRPr lang="en-US" altLang="zh-CN"/>
          </a:p>
        </p:txBody>
      </p:sp>
      <p:sp>
        <p:nvSpPr>
          <p:cNvPr id="18435"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18436" name="Rectangle 3"/>
          <p:cNvSpPr>
            <a:spLocks noGrp="1" noChangeArrowheads="1"/>
          </p:cNvSpPr>
          <p:nvPr>
            <p:ph type="body" idx="1"/>
          </p:nvPr>
        </p:nvSpPr>
        <p:spPr>
          <a:xfrm>
            <a:off x="827088" y="2098675"/>
            <a:ext cx="7772400" cy="4005263"/>
          </a:xfrm>
        </p:spPr>
        <p:txBody>
          <a:bodyPr/>
          <a:lstStyle/>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本节着重讨论可以用贪心算法求解的问题的一般特征。 </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对于一个具体的问题，怎么知道是否可用贪心算法解此问题，以及能否得到问题的最优解呢</a:t>
            </a:r>
            <a:r>
              <a:rPr lang="en-US" altLang="zh-CN" sz="2800" b="1" smtClean="0">
                <a:latin typeface="新宋体" panose="02010609030101010101" charset="-122"/>
                <a:ea typeface="新宋体" panose="02010609030101010101" charset="-122"/>
              </a:rPr>
              <a:t>?</a:t>
            </a:r>
            <a:r>
              <a:rPr lang="zh-CN" altLang="en-US" sz="2800" b="1" smtClean="0">
                <a:latin typeface="新宋体" panose="02010609030101010101" charset="-122"/>
                <a:ea typeface="新宋体" panose="02010609030101010101" charset="-122"/>
              </a:rPr>
              <a:t>这个问题很难给予肯定的回答。</a:t>
            </a:r>
            <a:endParaRPr lang="zh-CN" altLang="en-US" sz="28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但是，从许多可以用贪心算法求解的问题中看到这类问题一般具有</a:t>
            </a:r>
            <a:r>
              <a:rPr lang="en-US" altLang="zh-CN" sz="2800" b="1" smtClean="0">
                <a:latin typeface="新宋体" panose="02010609030101010101" charset="-122"/>
                <a:ea typeface="新宋体" panose="02010609030101010101" charset="-122"/>
              </a:rPr>
              <a:t>2</a:t>
            </a:r>
            <a:r>
              <a:rPr lang="zh-CN" altLang="en-US" sz="2800" b="1" smtClean="0">
                <a:latin typeface="新宋体" panose="02010609030101010101" charset="-122"/>
                <a:ea typeface="新宋体" panose="02010609030101010101" charset="-122"/>
              </a:rPr>
              <a:t>个重要的性质：</a:t>
            </a:r>
            <a:r>
              <a:rPr lang="zh-CN" altLang="en-US" sz="2800" b="1" smtClean="0">
                <a:solidFill>
                  <a:srgbClr val="FF0000"/>
                </a:solidFill>
                <a:latin typeface="新宋体" panose="02010609030101010101" charset="-122"/>
                <a:ea typeface="新宋体" panose="02010609030101010101" charset="-122"/>
              </a:rPr>
              <a:t>贪心选择性质</a:t>
            </a:r>
            <a:r>
              <a:rPr lang="zh-CN" altLang="en-US" sz="2800" b="1" smtClean="0">
                <a:latin typeface="新宋体" panose="02010609030101010101" charset="-122"/>
                <a:ea typeface="新宋体" panose="02010609030101010101" charset="-122"/>
              </a:rPr>
              <a:t>和</a:t>
            </a:r>
            <a:r>
              <a:rPr lang="zh-CN" altLang="en-US" sz="2800" b="1" smtClean="0">
                <a:solidFill>
                  <a:srgbClr val="FF0000"/>
                </a:solidFill>
                <a:latin typeface="新宋体" panose="02010609030101010101" charset="-122"/>
                <a:ea typeface="新宋体" panose="02010609030101010101" charset="-122"/>
              </a:rPr>
              <a:t>最优子结构性质</a:t>
            </a:r>
            <a:r>
              <a:rPr lang="zh-CN" altLang="en-US" sz="2800" b="1" smtClean="0">
                <a:latin typeface="新宋体" panose="02010609030101010101" charset="-122"/>
                <a:ea typeface="新宋体" panose="02010609030101010101" charset="-122"/>
              </a:rPr>
              <a:t>。</a:t>
            </a:r>
            <a:r>
              <a:rPr lang="zh-CN" altLang="en-US" sz="2800" b="1" smtClean="0"/>
              <a:t> </a:t>
            </a:r>
            <a:endParaRPr lang="zh-CN" altLang="en-US" sz="2800" b="1" smtClean="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81A2C5-1950-41B4-8BEA-A50C00FDB47B}" type="slidenum">
              <a:rPr lang="en-US" altLang="zh-CN"/>
            </a:fld>
            <a:endParaRPr lang="en-US" altLang="zh-CN"/>
          </a:p>
        </p:txBody>
      </p:sp>
      <p:sp>
        <p:nvSpPr>
          <p:cNvPr id="19459"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pic>
        <p:nvPicPr>
          <p:cNvPr id="1946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628775"/>
            <a:ext cx="8675688"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19461" name="Line 5"/>
          <p:cNvSpPr>
            <a:spLocks noChangeShapeType="1"/>
          </p:cNvSpPr>
          <p:nvPr/>
        </p:nvSpPr>
        <p:spPr bwMode="auto">
          <a:xfrm>
            <a:off x="3635375" y="4508500"/>
            <a:ext cx="3673475"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3E0B05E-A813-48DB-9162-5EB51BBE6FF3}" type="slidenum">
              <a:rPr lang="en-US" altLang="zh-CN"/>
            </a:fld>
            <a:endParaRPr lang="en-US" altLang="zh-CN"/>
          </a:p>
        </p:txBody>
      </p:sp>
      <p:sp>
        <p:nvSpPr>
          <p:cNvPr id="20483"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0484" name="Rectangle 3"/>
          <p:cNvSpPr>
            <a:spLocks noGrp="1" noChangeArrowheads="1"/>
          </p:cNvSpPr>
          <p:nvPr>
            <p:ph type="body" idx="1"/>
          </p:nvPr>
        </p:nvSpPr>
        <p:spPr/>
        <p:txBody>
          <a:bodyPr/>
          <a:lstStyle/>
          <a:p>
            <a:pPr eaLnBrk="1" hangingPunct="1"/>
            <a:endParaRPr lang="zh-CN" altLang="en-US" smtClean="0"/>
          </a:p>
        </p:txBody>
      </p:sp>
      <p:pic>
        <p:nvPicPr>
          <p:cNvPr id="204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1628775"/>
            <a:ext cx="8893175" cy="486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075461-84E7-4518-843D-22BC4623A5F5}" type="slidenum">
              <a:rPr lang="en-US" altLang="zh-CN"/>
            </a:fld>
            <a:endParaRPr lang="en-US" altLang="zh-CN"/>
          </a:p>
        </p:txBody>
      </p:sp>
      <p:sp>
        <p:nvSpPr>
          <p:cNvPr id="21507" name="Rectangle 2"/>
          <p:cNvSpPr>
            <a:spLocks noGrp="1" noChangeArrowheads="1"/>
          </p:cNvSpPr>
          <p:nvPr>
            <p:ph type="title"/>
          </p:nvPr>
        </p:nvSpPr>
        <p:spPr>
          <a:xfrm>
            <a:off x="698500" y="133350"/>
            <a:ext cx="7127875" cy="1223963"/>
          </a:xfrm>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1508" name="Rectangle 3"/>
          <p:cNvSpPr>
            <a:spLocks noGrp="1" noChangeArrowheads="1"/>
          </p:cNvSpPr>
          <p:nvPr>
            <p:ph type="body" idx="1"/>
          </p:nvPr>
        </p:nvSpPr>
        <p:spPr>
          <a:xfrm>
            <a:off x="611188" y="1341438"/>
            <a:ext cx="7772400" cy="655637"/>
          </a:xfrm>
        </p:spPr>
        <p:txBody>
          <a:bodyPr/>
          <a:lstStyle/>
          <a:p>
            <a:pPr eaLnBrk="1" hangingPunct="1">
              <a:buFont typeface="Wingdings" panose="05000000000000000000" pitchFamily="2" charset="2"/>
              <a:buNone/>
            </a:pPr>
            <a:r>
              <a:rPr lang="en-US" altLang="zh-CN" b="1" smtClean="0">
                <a:solidFill>
                  <a:srgbClr val="0000FF"/>
                </a:solidFill>
                <a:latin typeface="黑体" panose="02010609060101010101" pitchFamily="2" charset="-122"/>
                <a:ea typeface="黑体" panose="02010609060101010101" pitchFamily="2" charset="-122"/>
              </a:rPr>
              <a:t>1</a:t>
            </a:r>
            <a:r>
              <a:rPr lang="zh-CN" altLang="en-US" b="1" smtClean="0">
                <a:solidFill>
                  <a:srgbClr val="0000FF"/>
                </a:solidFill>
                <a:latin typeface="黑体" panose="02010609060101010101" pitchFamily="2" charset="-122"/>
                <a:ea typeface="黑体" panose="02010609060101010101" pitchFamily="2" charset="-122"/>
              </a:rPr>
              <a:t>、贪心选择性质</a:t>
            </a:r>
            <a:endParaRPr lang="zh-CN" altLang="en-US" b="1" smtClean="0">
              <a:solidFill>
                <a:srgbClr val="0000FF"/>
              </a:solidFill>
              <a:latin typeface="黑体" panose="02010609060101010101" pitchFamily="2" charset="-122"/>
              <a:ea typeface="黑体" panose="02010609060101010101" pitchFamily="2" charset="-122"/>
            </a:endParaRPr>
          </a:p>
        </p:txBody>
      </p:sp>
      <p:sp>
        <p:nvSpPr>
          <p:cNvPr id="21509" name="Text Box 5"/>
          <p:cNvSpPr txBox="1">
            <a:spLocks noChangeArrowheads="1"/>
          </p:cNvSpPr>
          <p:nvPr/>
        </p:nvSpPr>
        <p:spPr bwMode="auto">
          <a:xfrm>
            <a:off x="755650" y="1916113"/>
            <a:ext cx="76327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    所谓</a:t>
            </a:r>
            <a:r>
              <a:rPr lang="zh-CN" altLang="en-US" sz="2400" b="1">
                <a:solidFill>
                  <a:srgbClr val="FF0000"/>
                </a:solidFill>
                <a:latin typeface="新宋体" panose="02010609030101010101" charset="-122"/>
                <a:ea typeface="新宋体" panose="02010609030101010101" charset="-122"/>
                <a:cs typeface="Times New Roman" panose="02020603050405020304" pitchFamily="18" charset="0"/>
              </a:rPr>
              <a:t>贪心选择性质</a:t>
            </a: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是指所求问题的</a:t>
            </a:r>
            <a:r>
              <a:rPr lang="zh-CN" altLang="en-US" sz="2400" b="1">
                <a:solidFill>
                  <a:srgbClr val="FF0000"/>
                </a:solidFill>
                <a:latin typeface="新宋体" panose="02010609030101010101" charset="-122"/>
                <a:ea typeface="新宋体" panose="02010609030101010101" charset="-122"/>
                <a:cs typeface="Times New Roman" panose="02020603050405020304" pitchFamily="18" charset="0"/>
              </a:rPr>
              <a:t>整体最优解</a:t>
            </a: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可以通过一系列</a:t>
            </a:r>
            <a:r>
              <a:rPr lang="zh-CN" altLang="en-US" sz="2400" b="1">
                <a:solidFill>
                  <a:srgbClr val="FF0000"/>
                </a:solidFill>
                <a:latin typeface="新宋体" panose="02010609030101010101" charset="-122"/>
                <a:ea typeface="新宋体" panose="02010609030101010101" charset="-122"/>
                <a:cs typeface="Times New Roman" panose="02020603050405020304" pitchFamily="18" charset="0"/>
              </a:rPr>
              <a:t>局部最优</a:t>
            </a: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的选择，即贪心选择来达到。这是贪心算法可行的第一个基本要素，也是贪心算法与动态规划算法的主要区别。</a:t>
            </a:r>
            <a:endParaRPr lang="zh-CN" altLang="en-US" sz="2400" b="1">
              <a:solidFill>
                <a:srgbClr val="000000"/>
              </a:solidFill>
              <a:latin typeface="新宋体" panose="02010609030101010101" charset="-122"/>
              <a:ea typeface="新宋体" panose="02010609030101010101" charset="-122"/>
              <a:cs typeface="Times New Roman" panose="02020603050405020304" pitchFamily="18" charset="0"/>
            </a:endParaRPr>
          </a:p>
          <a:p>
            <a:pPr eaLnBrk="1" hangingPunct="1">
              <a:spcBef>
                <a:spcPct val="50000"/>
              </a:spcBef>
            </a:pP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   动态规划算法通常以</a:t>
            </a:r>
            <a:r>
              <a:rPr lang="zh-CN" altLang="en-US" sz="2400" b="1">
                <a:solidFill>
                  <a:srgbClr val="FF0000"/>
                </a:solidFill>
                <a:latin typeface="新宋体" panose="02010609030101010101" charset="-122"/>
                <a:ea typeface="新宋体" panose="02010609030101010101" charset="-122"/>
                <a:cs typeface="Times New Roman" panose="02020603050405020304" pitchFamily="18" charset="0"/>
              </a:rPr>
              <a:t>自底向上</a:t>
            </a: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的方式解各子问题，而贪心算法则通常以</a:t>
            </a:r>
            <a:r>
              <a:rPr lang="zh-CN" altLang="en-US" sz="2400" b="1">
                <a:solidFill>
                  <a:srgbClr val="FF0000"/>
                </a:solidFill>
                <a:latin typeface="新宋体" panose="02010609030101010101" charset="-122"/>
                <a:ea typeface="新宋体" panose="02010609030101010101" charset="-122"/>
                <a:cs typeface="Times New Roman" panose="02020603050405020304" pitchFamily="18" charset="0"/>
              </a:rPr>
              <a:t>自顶向下</a:t>
            </a:r>
            <a:r>
              <a:rPr lang="zh-CN" altLang="en-US" sz="2400" b="1">
                <a:solidFill>
                  <a:srgbClr val="000000"/>
                </a:solidFill>
                <a:latin typeface="新宋体" panose="02010609030101010101" charset="-122"/>
                <a:ea typeface="新宋体" panose="02010609030101010101" charset="-122"/>
                <a:cs typeface="Times New Roman" panose="02020603050405020304" pitchFamily="18" charset="0"/>
              </a:rPr>
              <a:t>的方式进行，以迭代的方式作出相继的贪心选择，每作一次贪心选择就将所求问题简化为规模更小的子问题。</a:t>
            </a:r>
            <a:r>
              <a:rPr lang="zh-CN" altLang="en-US" sz="2400" b="1">
                <a:solidFill>
                  <a:schemeClr val="accent2"/>
                </a:solidFill>
                <a:latin typeface="新宋体" panose="02010609030101010101" charset="-122"/>
                <a:ea typeface="新宋体" panose="02010609030101010101" charset="-122"/>
                <a:cs typeface="Times New Roman" panose="02020603050405020304" pitchFamily="18" charset="0"/>
              </a:rPr>
              <a:t> </a:t>
            </a:r>
            <a:endParaRPr lang="zh-CN" altLang="en-US" sz="2400" b="1">
              <a:solidFill>
                <a:schemeClr val="accent2"/>
              </a:solidFill>
              <a:latin typeface="新宋体" panose="02010609030101010101" charset="-122"/>
              <a:ea typeface="新宋体" panose="02010609030101010101" charset="-122"/>
              <a:cs typeface="Times New Roman" panose="02020603050405020304" pitchFamily="18" charset="0"/>
            </a:endParaRPr>
          </a:p>
          <a:p>
            <a:pPr eaLnBrk="1" hangingPunct="1">
              <a:spcBef>
                <a:spcPct val="50000"/>
              </a:spcBef>
            </a:pPr>
            <a:r>
              <a:rPr lang="zh-CN" altLang="en-US" sz="2400" b="1">
                <a:solidFill>
                  <a:schemeClr val="accent2"/>
                </a:solidFill>
                <a:latin typeface="新宋体" panose="02010609030101010101" charset="-122"/>
                <a:ea typeface="新宋体" panose="02010609030101010101" charset="-122"/>
                <a:cs typeface="Times New Roman" panose="02020603050405020304" pitchFamily="18" charset="0"/>
              </a:rPr>
              <a:t>   </a:t>
            </a:r>
            <a:r>
              <a:rPr lang="zh-CN" altLang="en-US" sz="2400" b="1">
                <a:latin typeface="新宋体" panose="02010609030101010101" charset="-122"/>
                <a:ea typeface="新宋体" panose="02010609030101010101" charset="-122"/>
                <a:cs typeface="Times New Roman" panose="02020603050405020304" pitchFamily="18" charset="0"/>
              </a:rPr>
              <a:t>对于一个具体问题，要确定它是否具有贪心选择性质，必须证明每一步所作的贪心选择最终导致问题的整体最优解。</a:t>
            </a:r>
            <a:endParaRPr lang="zh-CN" altLang="en-US" sz="2400" b="1">
              <a:solidFill>
                <a:schemeClr val="accent2"/>
              </a:solidFill>
              <a:latin typeface="新宋体" panose="02010609030101010101" charset="-122"/>
              <a:ea typeface="新宋体" panose="02010609030101010101" charset="-122"/>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3881C59-E4F8-4C53-930E-C5292D996DE1}" type="slidenum">
              <a:rPr lang="en-US" altLang="zh-CN"/>
            </a:fld>
            <a:endParaRPr lang="en-US" altLang="zh-CN"/>
          </a:p>
        </p:txBody>
      </p:sp>
      <p:sp>
        <p:nvSpPr>
          <p:cNvPr id="22531"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2532" name="Rectangle 3"/>
          <p:cNvSpPr>
            <a:spLocks noGrp="1" noChangeArrowheads="1"/>
          </p:cNvSpPr>
          <p:nvPr>
            <p:ph type="body" idx="1"/>
          </p:nvPr>
        </p:nvSpPr>
        <p:spPr>
          <a:xfrm>
            <a:off x="685800" y="2554288"/>
            <a:ext cx="7772400" cy="4114800"/>
          </a:xfrm>
        </p:spPr>
        <p:txBody>
          <a:bodyPr/>
          <a:lstStyle/>
          <a:p>
            <a:pPr eaLnBrk="1" hangingPunct="1">
              <a:buFont typeface="Wingdings" panose="05000000000000000000" pitchFamily="2" charset="2"/>
              <a:buNone/>
            </a:pPr>
            <a:r>
              <a:rPr lang="zh-CN" altLang="en-US" sz="2800" smtClean="0"/>
              <a:t>		  </a:t>
            </a:r>
            <a:r>
              <a:rPr lang="zh-CN" altLang="en-US" sz="2800" b="1" smtClean="0">
                <a:solidFill>
                  <a:srgbClr val="000000"/>
                </a:solidFill>
                <a:latin typeface="新宋体" panose="02010609030101010101" charset="-122"/>
                <a:ea typeface="新宋体" panose="02010609030101010101" charset="-122"/>
                <a:cs typeface="Times New Roman" panose="02020603050405020304" pitchFamily="18" charset="0"/>
              </a:rPr>
              <a:t>当一个问题的最优解包含其子问题的最优解时，称此问题具有</a:t>
            </a:r>
            <a:r>
              <a:rPr lang="zh-CN" altLang="en-US" sz="2800" b="1" smtClean="0">
                <a:solidFill>
                  <a:srgbClr val="FF0000"/>
                </a:solidFill>
                <a:latin typeface="新宋体" panose="02010609030101010101" charset="-122"/>
                <a:ea typeface="新宋体" panose="02010609030101010101" charset="-122"/>
                <a:cs typeface="Times New Roman" panose="02020603050405020304" pitchFamily="18" charset="0"/>
              </a:rPr>
              <a:t>最优子结构性质</a:t>
            </a:r>
            <a:r>
              <a:rPr lang="zh-CN" altLang="en-US" sz="2800" b="1" smtClean="0">
                <a:solidFill>
                  <a:srgbClr val="000000"/>
                </a:solidFill>
                <a:latin typeface="新宋体" panose="02010609030101010101" charset="-122"/>
                <a:ea typeface="新宋体" panose="02010609030101010101" charset="-122"/>
                <a:cs typeface="Times New Roman" panose="02020603050405020304" pitchFamily="18" charset="0"/>
              </a:rPr>
              <a:t>。问题的最优子结构性质是该问题可用动态规划算法或贪心算法求解的关键特征。 </a:t>
            </a:r>
            <a:endParaRPr lang="zh-CN" altLang="en-US" sz="2800" b="1" smtClean="0">
              <a:solidFill>
                <a:srgbClr val="000000"/>
              </a:solidFill>
              <a:latin typeface="新宋体" panose="02010609030101010101" charset="-122"/>
              <a:ea typeface="新宋体" panose="02010609030101010101" charset="-122"/>
              <a:cs typeface="Times New Roman" panose="02020603050405020304" pitchFamily="18" charset="0"/>
            </a:endParaRPr>
          </a:p>
        </p:txBody>
      </p:sp>
      <p:sp>
        <p:nvSpPr>
          <p:cNvPr id="22533" name="Text Box 4"/>
          <p:cNvSpPr txBox="1">
            <a:spLocks noChangeArrowheads="1"/>
          </p:cNvSpPr>
          <p:nvPr/>
        </p:nvSpPr>
        <p:spPr bwMode="auto">
          <a:xfrm>
            <a:off x="684213" y="1841500"/>
            <a:ext cx="77755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000" b="1">
                <a:solidFill>
                  <a:srgbClr val="0000FF"/>
                </a:solidFill>
                <a:latin typeface="黑体" panose="02010609060101010101" pitchFamily="2" charset="-122"/>
                <a:ea typeface="黑体" panose="02010609060101010101" pitchFamily="2" charset="-122"/>
              </a:rPr>
              <a:t>2</a:t>
            </a:r>
            <a:r>
              <a:rPr lang="zh-CN" altLang="en-US" sz="3000" b="1">
                <a:solidFill>
                  <a:srgbClr val="0000FF"/>
                </a:solidFill>
                <a:latin typeface="黑体" panose="02010609060101010101" pitchFamily="2" charset="-122"/>
                <a:ea typeface="黑体" panose="02010609060101010101" pitchFamily="2" charset="-122"/>
              </a:rPr>
              <a:t>、最优子结构性质</a:t>
            </a:r>
            <a:endParaRPr lang="zh-CN" altLang="en-US" sz="3000" b="1">
              <a:solidFill>
                <a:srgbClr val="0000FF"/>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D56997-F59F-4112-81F6-3C0BBB18A711}" type="slidenum">
              <a:rPr lang="en-US" altLang="zh-CN"/>
            </a:fld>
            <a:endParaRPr lang="en-US" altLang="zh-CN"/>
          </a:p>
        </p:txBody>
      </p:sp>
      <p:sp>
        <p:nvSpPr>
          <p:cNvPr id="23555" name="Rectangle 3"/>
          <p:cNvSpPr>
            <a:spLocks noGrp="1" noChangeArrowheads="1"/>
          </p:cNvSpPr>
          <p:nvPr>
            <p:ph type="body" idx="1"/>
          </p:nvPr>
        </p:nvSpPr>
        <p:spPr/>
        <p:txBody>
          <a:bodyPr/>
          <a:lstStyle/>
          <a:p>
            <a:pPr eaLnBrk="1" hangingPunct="1"/>
            <a:endParaRPr lang="zh-CN" altLang="en-US" smtClean="0"/>
          </a:p>
        </p:txBody>
      </p:sp>
      <p:pic>
        <p:nvPicPr>
          <p:cNvPr id="2355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544638"/>
            <a:ext cx="9144000" cy="531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3557" name="Text Box 5"/>
          <p:cNvSpPr txBox="1">
            <a:spLocks noChangeArrowheads="1"/>
          </p:cNvSpPr>
          <p:nvPr/>
        </p:nvSpPr>
        <p:spPr bwMode="auto">
          <a:xfrm>
            <a:off x="395288" y="549275"/>
            <a:ext cx="79930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000" b="1">
                <a:solidFill>
                  <a:srgbClr val="0000FF"/>
                </a:solidFill>
                <a:latin typeface="黑体" panose="02010609060101010101" pitchFamily="2" charset="-122"/>
                <a:ea typeface="黑体" panose="02010609060101010101" pitchFamily="2" charset="-122"/>
              </a:rPr>
              <a:t>3</a:t>
            </a:r>
            <a:r>
              <a:rPr lang="zh-CN" altLang="en-US" sz="3000" b="1">
                <a:solidFill>
                  <a:srgbClr val="0000FF"/>
                </a:solidFill>
                <a:latin typeface="黑体" panose="02010609060101010101" pitchFamily="2" charset="-122"/>
                <a:ea typeface="黑体" panose="02010609060101010101" pitchFamily="2" charset="-122"/>
              </a:rPr>
              <a:t>、贪心算法与动态规划算法的差异</a:t>
            </a:r>
            <a:endParaRPr lang="en-US" altLang="zh-CN" sz="3000" b="1">
              <a:solidFill>
                <a:srgbClr val="0000FF"/>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6DFF0E1-220B-4F13-99A9-0195CB0DEBB0}" type="slidenum">
              <a:rPr lang="en-US" altLang="zh-CN"/>
            </a:fld>
            <a:endParaRPr lang="en-US" altLang="zh-CN"/>
          </a:p>
        </p:txBody>
      </p:sp>
      <p:sp>
        <p:nvSpPr>
          <p:cNvPr id="24579" name="Rectangle 2"/>
          <p:cNvSpPr>
            <a:spLocks noGrp="1" noChangeArrowheads="1"/>
          </p:cNvSpPr>
          <p:nvPr>
            <p:ph type="title"/>
          </p:nvPr>
        </p:nvSpPr>
        <p:spPr>
          <a:xfrm>
            <a:off x="668338" y="139700"/>
            <a:ext cx="7121525" cy="1079500"/>
          </a:xfrm>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4580" name="Rectangle 3"/>
          <p:cNvSpPr>
            <a:spLocks noGrp="1" noChangeArrowheads="1"/>
          </p:cNvSpPr>
          <p:nvPr>
            <p:ph type="body" idx="1"/>
          </p:nvPr>
        </p:nvSpPr>
        <p:spPr>
          <a:xfrm>
            <a:off x="611188" y="2205038"/>
            <a:ext cx="7772400" cy="4114800"/>
          </a:xfrm>
        </p:spPr>
        <p:txBody>
          <a:bodyPr/>
          <a:lstStyle/>
          <a:p>
            <a:pPr eaLnBrk="1" hangingPunct="1">
              <a:buFont typeface="Wingdings" panose="05000000000000000000" pitchFamily="2" charset="2"/>
              <a:buNone/>
            </a:pPr>
            <a:r>
              <a:rPr lang="zh-CN" altLang="en-US" sz="2800" b="1" smtClean="0">
                <a:latin typeface="新宋体" panose="02010609030101010101" charset="-122"/>
                <a:ea typeface="新宋体" panose="02010609030101010101" charset="-122"/>
              </a:rPr>
              <a:t>  	贪心算法和动态规划算法都要求问题具有最优子结构性质，这是</a:t>
            </a:r>
            <a:r>
              <a:rPr lang="en-US" altLang="zh-CN" sz="2800" b="1" smtClean="0">
                <a:latin typeface="新宋体" panose="02010609030101010101" charset="-122"/>
                <a:ea typeface="新宋体" panose="02010609030101010101" charset="-122"/>
              </a:rPr>
              <a:t>2</a:t>
            </a:r>
            <a:r>
              <a:rPr lang="zh-CN" altLang="en-US" sz="2800" b="1" smtClean="0">
                <a:latin typeface="新宋体" panose="02010609030101010101" charset="-122"/>
                <a:ea typeface="新宋体" panose="02010609030101010101" charset="-122"/>
              </a:rPr>
              <a:t>类算法的一个共同点。但是，对于具有</a:t>
            </a:r>
            <a:r>
              <a:rPr lang="zh-CN" altLang="en-US" sz="2800" b="1" smtClean="0">
                <a:solidFill>
                  <a:srgbClr val="FF0000"/>
                </a:solidFill>
                <a:latin typeface="新宋体" panose="02010609030101010101" charset="-122"/>
                <a:ea typeface="新宋体" panose="02010609030101010101" charset="-122"/>
              </a:rPr>
              <a:t>最优子结构</a:t>
            </a:r>
            <a:r>
              <a:rPr lang="zh-CN" altLang="en-US" sz="2800" b="1" smtClean="0">
                <a:latin typeface="新宋体" panose="02010609030101010101" charset="-122"/>
                <a:ea typeface="新宋体" panose="02010609030101010101" charset="-122"/>
              </a:rPr>
              <a:t>的问题应该选用贪心算法还是动态规划算法求解</a:t>
            </a:r>
            <a:r>
              <a:rPr lang="en-US" altLang="zh-CN" sz="2800" b="1" smtClean="0">
                <a:latin typeface="新宋体" panose="02010609030101010101" charset="-122"/>
                <a:ea typeface="新宋体" panose="02010609030101010101" charset="-122"/>
              </a:rPr>
              <a:t>?</a:t>
            </a:r>
            <a:r>
              <a:rPr lang="zh-CN" altLang="en-US" sz="2800" b="1" smtClean="0">
                <a:latin typeface="新宋体" panose="02010609030101010101" charset="-122"/>
                <a:ea typeface="新宋体" panose="02010609030101010101" charset="-122"/>
              </a:rPr>
              <a:t>是否能用动态规划算法求解的问题也能用贪心算法求解</a:t>
            </a:r>
            <a:r>
              <a:rPr lang="en-US" altLang="zh-CN" sz="2800" b="1" smtClean="0">
                <a:latin typeface="新宋体" panose="02010609030101010101" charset="-122"/>
                <a:ea typeface="新宋体" panose="02010609030101010101" charset="-122"/>
              </a:rPr>
              <a:t>?</a:t>
            </a:r>
            <a:r>
              <a:rPr lang="zh-CN" altLang="en-US" sz="2800" b="1" smtClean="0">
                <a:latin typeface="新宋体" panose="02010609030101010101" charset="-122"/>
                <a:ea typeface="新宋体" panose="02010609030101010101" charset="-122"/>
              </a:rPr>
              <a:t>下面研究</a:t>
            </a:r>
            <a:r>
              <a:rPr lang="en-US" altLang="zh-CN" sz="2800" b="1" smtClean="0">
                <a:latin typeface="新宋体" panose="02010609030101010101" charset="-122"/>
                <a:ea typeface="新宋体" panose="02010609030101010101" charset="-122"/>
              </a:rPr>
              <a:t>2</a:t>
            </a:r>
            <a:r>
              <a:rPr lang="zh-CN" altLang="en-US" sz="2800" b="1" smtClean="0">
                <a:latin typeface="新宋体" panose="02010609030101010101" charset="-122"/>
                <a:ea typeface="新宋体" panose="02010609030101010101" charset="-122"/>
              </a:rPr>
              <a:t>个经典的</a:t>
            </a:r>
            <a:r>
              <a:rPr lang="zh-CN" altLang="en-US" sz="2800" b="1" smtClean="0">
                <a:solidFill>
                  <a:srgbClr val="FF0000"/>
                </a:solidFill>
                <a:latin typeface="新宋体" panose="02010609030101010101" charset="-122"/>
                <a:ea typeface="新宋体" panose="02010609030101010101" charset="-122"/>
              </a:rPr>
              <a:t>组合优化问题</a:t>
            </a:r>
            <a:r>
              <a:rPr lang="zh-CN" altLang="en-US" sz="2800" b="1" smtClean="0">
                <a:latin typeface="新宋体" panose="02010609030101010101" charset="-122"/>
                <a:ea typeface="新宋体" panose="02010609030101010101" charset="-122"/>
              </a:rPr>
              <a:t>，并以此说明贪心算法与动态规划算法的主要差别。</a:t>
            </a:r>
            <a:endParaRPr lang="zh-CN" altLang="en-US" sz="2800" b="1" smtClean="0">
              <a:latin typeface="新宋体" panose="02010609030101010101" charset="-122"/>
              <a:ea typeface="新宋体" panose="02010609030101010101" charset="-122"/>
            </a:endParaRPr>
          </a:p>
        </p:txBody>
      </p:sp>
      <p:sp>
        <p:nvSpPr>
          <p:cNvPr id="24581" name="Text Box 4"/>
          <p:cNvSpPr txBox="1">
            <a:spLocks noChangeArrowheads="1"/>
          </p:cNvSpPr>
          <p:nvPr/>
        </p:nvSpPr>
        <p:spPr bwMode="auto">
          <a:xfrm>
            <a:off x="611188" y="1557338"/>
            <a:ext cx="79930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000" b="1">
                <a:solidFill>
                  <a:srgbClr val="0000FF"/>
                </a:solidFill>
                <a:latin typeface="黑体" panose="02010609060101010101" pitchFamily="2" charset="-122"/>
                <a:ea typeface="黑体" panose="02010609060101010101" pitchFamily="2" charset="-122"/>
              </a:rPr>
              <a:t>3</a:t>
            </a:r>
            <a:r>
              <a:rPr lang="zh-CN" altLang="en-US" sz="3000" b="1">
                <a:solidFill>
                  <a:srgbClr val="0000FF"/>
                </a:solidFill>
                <a:latin typeface="黑体" panose="02010609060101010101" pitchFamily="2" charset="-122"/>
                <a:ea typeface="黑体" panose="02010609060101010101" pitchFamily="2" charset="-122"/>
              </a:rPr>
              <a:t>、贪心算法与动态规划算法的差异</a:t>
            </a:r>
            <a:endParaRPr lang="en-US" altLang="zh-CN" sz="3000" b="1">
              <a:solidFill>
                <a:srgbClr val="0000FF"/>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FA985B7-90FC-4207-B9C0-92C9D4BE1629}" type="slidenum">
              <a:rPr lang="en-US" altLang="zh-CN"/>
            </a:fld>
            <a:endParaRPr lang="en-US" altLang="zh-CN"/>
          </a:p>
        </p:txBody>
      </p:sp>
      <p:sp>
        <p:nvSpPr>
          <p:cNvPr id="25603"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5604" name="Rectangle 3"/>
          <p:cNvSpPr>
            <a:spLocks noGrp="1" noChangeArrowheads="1"/>
          </p:cNvSpPr>
          <p:nvPr>
            <p:ph type="body" idx="1"/>
          </p:nvPr>
        </p:nvSpPr>
        <p:spPr/>
        <p:txBody>
          <a:bodyPr/>
          <a:lstStyle/>
          <a:p>
            <a:pPr eaLnBrk="1" hangingPunct="1"/>
            <a:r>
              <a:rPr lang="en-US" altLang="zh-CN" b="1" smtClean="0">
                <a:solidFill>
                  <a:schemeClr val="accent2"/>
                </a:solidFill>
                <a:latin typeface="黑体" panose="02010609060101010101" pitchFamily="2" charset="-122"/>
                <a:ea typeface="黑体" panose="02010609060101010101" pitchFamily="2" charset="-122"/>
              </a:rPr>
              <a:t>0-1</a:t>
            </a:r>
            <a:r>
              <a:rPr lang="zh-CN" altLang="en-US" b="1" smtClean="0">
                <a:solidFill>
                  <a:schemeClr val="accent2"/>
                </a:solidFill>
                <a:latin typeface="黑体" panose="02010609060101010101" pitchFamily="2" charset="-122"/>
                <a:ea typeface="黑体" panose="02010609060101010101" pitchFamily="2" charset="-122"/>
              </a:rPr>
              <a:t>背包问题：</a:t>
            </a:r>
            <a:r>
              <a:rPr lang="zh-CN" altLang="en-US" smtClean="0">
                <a:solidFill>
                  <a:schemeClr val="accent2"/>
                </a:solidFill>
                <a:latin typeface="黑体" panose="02010609060101010101" pitchFamily="2" charset="-122"/>
                <a:ea typeface="黑体" panose="02010609060101010101" pitchFamily="2" charset="-122"/>
              </a:rPr>
              <a:t> </a:t>
            </a:r>
            <a:endParaRPr lang="zh-CN" altLang="en-US"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给定</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种物品和一个背包。物品</a:t>
            </a:r>
            <a:r>
              <a:rPr lang="en-US" altLang="zh-CN" sz="2400" b="1" smtClean="0">
                <a:latin typeface="新宋体" panose="02010609030101010101" charset="-122"/>
                <a:ea typeface="新宋体" panose="02010609030101010101" charset="-122"/>
              </a:rPr>
              <a:t>i</a:t>
            </a:r>
            <a:r>
              <a:rPr lang="zh-CN" altLang="en-US" sz="2400" b="1" smtClean="0">
                <a:latin typeface="新宋体" panose="02010609030101010101" charset="-122"/>
                <a:ea typeface="新宋体" panose="02010609030101010101" charset="-122"/>
              </a:rPr>
              <a:t>的重量是</a:t>
            </a:r>
            <a:r>
              <a:rPr lang="en-US" altLang="zh-CN" sz="2400" b="1" smtClean="0">
                <a:latin typeface="新宋体" panose="02010609030101010101" charset="-122"/>
                <a:ea typeface="新宋体" panose="02010609030101010101" charset="-122"/>
              </a:rPr>
              <a:t>Wi</a:t>
            </a:r>
            <a:r>
              <a:rPr lang="zh-CN" altLang="en-US" sz="2400" b="1" smtClean="0">
                <a:latin typeface="新宋体" panose="02010609030101010101" charset="-122"/>
                <a:ea typeface="新宋体" panose="02010609030101010101" charset="-122"/>
              </a:rPr>
              <a:t>，其价值为</a:t>
            </a:r>
            <a:r>
              <a:rPr lang="en-US" altLang="zh-CN" sz="2400" b="1" smtClean="0">
                <a:latin typeface="新宋体" panose="02010609030101010101" charset="-122"/>
                <a:ea typeface="新宋体" panose="02010609030101010101" charset="-122"/>
              </a:rPr>
              <a:t>Vi</a:t>
            </a:r>
            <a:r>
              <a:rPr lang="zh-CN" altLang="en-US" sz="2400" b="1" smtClean="0">
                <a:latin typeface="新宋体" panose="02010609030101010101" charset="-122"/>
                <a:ea typeface="新宋体" panose="02010609030101010101" charset="-122"/>
              </a:rPr>
              <a:t>，背包的容量为</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。应如何选择装入背包的物品，使得装入背包中物品的总价值最大</a:t>
            </a:r>
            <a:r>
              <a:rPr lang="en-US" altLang="zh-CN" sz="2400" b="1" smtClean="0">
                <a:latin typeface="新宋体" panose="02010609030101010101" charset="-122"/>
                <a:ea typeface="新宋体" panose="02010609030101010101" charset="-122"/>
              </a:rPr>
              <a:t>?</a:t>
            </a:r>
            <a:endParaRPr lang="en-US" altLang="zh-CN"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p:txBody>
      </p:sp>
      <p:sp>
        <p:nvSpPr>
          <p:cNvPr id="321540" name="Rectangle 4"/>
          <p:cNvSpPr>
            <a:spLocks noChangeArrowheads="1"/>
          </p:cNvSpPr>
          <p:nvPr/>
        </p:nvSpPr>
        <p:spPr bwMode="auto">
          <a:xfrm>
            <a:off x="1044575" y="4122738"/>
            <a:ext cx="7343775" cy="1238250"/>
          </a:xfrm>
          <a:prstGeom prst="rect">
            <a:avLst/>
          </a:prstGeom>
          <a:noFill/>
          <a:ln w="50800">
            <a:solidFill>
              <a:srgbClr val="FF66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lang="zh-CN" altLang="en-US" sz="2400" b="1">
                <a:solidFill>
                  <a:srgbClr val="FF0000"/>
                </a:solidFill>
                <a:latin typeface="新宋体" panose="02010609030101010101" charset="-122"/>
                <a:ea typeface="新宋体" panose="02010609030101010101" charset="-122"/>
              </a:rPr>
              <a:t>    在选择装入背包的物品时，对每种物品</a:t>
            </a:r>
            <a:r>
              <a:rPr lang="en-US" altLang="zh-CN" sz="2400" b="1">
                <a:solidFill>
                  <a:srgbClr val="FF0000"/>
                </a:solidFill>
                <a:latin typeface="新宋体" panose="02010609030101010101" charset="-122"/>
                <a:ea typeface="新宋体" panose="02010609030101010101" charset="-122"/>
              </a:rPr>
              <a:t>i</a:t>
            </a:r>
            <a:r>
              <a:rPr lang="zh-CN" altLang="en-US" sz="2400" b="1">
                <a:solidFill>
                  <a:srgbClr val="FF0000"/>
                </a:solidFill>
                <a:latin typeface="新宋体" panose="02010609030101010101" charset="-122"/>
                <a:ea typeface="新宋体" panose="02010609030101010101" charset="-122"/>
              </a:rPr>
              <a:t>只有</a:t>
            </a:r>
            <a:r>
              <a:rPr lang="en-US" altLang="zh-CN" sz="2400" b="1">
                <a:solidFill>
                  <a:srgbClr val="FF0000"/>
                </a:solidFill>
                <a:latin typeface="新宋体" panose="02010609030101010101" charset="-122"/>
                <a:ea typeface="新宋体" panose="02010609030101010101" charset="-122"/>
              </a:rPr>
              <a:t>2</a:t>
            </a:r>
            <a:r>
              <a:rPr lang="zh-CN" altLang="en-US" sz="2400" b="1">
                <a:solidFill>
                  <a:srgbClr val="FF0000"/>
                </a:solidFill>
                <a:latin typeface="新宋体" panose="02010609030101010101" charset="-122"/>
                <a:ea typeface="新宋体" panose="02010609030101010101" charset="-122"/>
              </a:rPr>
              <a:t>种选择，即装入背包或不装入背包。不能将物品</a:t>
            </a:r>
            <a:r>
              <a:rPr lang="en-US" altLang="zh-CN" sz="2400" b="1">
                <a:solidFill>
                  <a:srgbClr val="FF0000"/>
                </a:solidFill>
                <a:latin typeface="新宋体" panose="02010609030101010101" charset="-122"/>
                <a:ea typeface="新宋体" panose="02010609030101010101" charset="-122"/>
              </a:rPr>
              <a:t>i</a:t>
            </a:r>
            <a:r>
              <a:rPr lang="zh-CN" altLang="en-US" sz="2400" b="1">
                <a:solidFill>
                  <a:srgbClr val="FF0000"/>
                </a:solidFill>
                <a:latin typeface="新宋体" panose="02010609030101010101" charset="-122"/>
                <a:ea typeface="新宋体" panose="02010609030101010101" charset="-122"/>
              </a:rPr>
              <a:t>装入背包多次，也不能只装入部分的物品</a:t>
            </a:r>
            <a:r>
              <a:rPr lang="en-US" altLang="zh-CN" sz="2400" b="1">
                <a:solidFill>
                  <a:srgbClr val="FF0000"/>
                </a:solidFill>
                <a:latin typeface="新宋体" panose="02010609030101010101" charset="-122"/>
                <a:ea typeface="新宋体" panose="02010609030101010101" charset="-122"/>
              </a:rPr>
              <a:t>i</a:t>
            </a:r>
            <a:r>
              <a:rPr lang="zh-CN" altLang="en-US" sz="2400" b="1">
                <a:solidFill>
                  <a:srgbClr val="FF0000"/>
                </a:solidFill>
                <a:latin typeface="新宋体" panose="02010609030101010101" charset="-122"/>
                <a:ea typeface="新宋体" panose="02010609030101010101" charset="-122"/>
              </a:rPr>
              <a:t>。</a:t>
            </a:r>
            <a:endParaRPr lang="zh-CN" altLang="en-US" sz="2400" b="1">
              <a:solidFill>
                <a:srgbClr val="FF0000"/>
              </a:solidFill>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1540"/>
                                        </p:tgtEl>
                                        <p:attrNameLst>
                                          <p:attrName>style.visibility</p:attrName>
                                        </p:attrNameLst>
                                      </p:cBhvr>
                                      <p:to>
                                        <p:strVal val="visible"/>
                                      </p:to>
                                    </p:set>
                                    <p:anim calcmode="lin" valueType="num">
                                      <p:cBhvr additive="base">
                                        <p:cTn id="7" dur="500" fill="hold"/>
                                        <p:tgtEl>
                                          <p:spTgt spid="321540"/>
                                        </p:tgtEl>
                                        <p:attrNameLst>
                                          <p:attrName>ppt_x</p:attrName>
                                        </p:attrNameLst>
                                      </p:cBhvr>
                                      <p:tavLst>
                                        <p:tav tm="0">
                                          <p:val>
                                            <p:strVal val="#ppt_x"/>
                                          </p:val>
                                        </p:tav>
                                        <p:tav tm="100000">
                                          <p:val>
                                            <p:strVal val="#ppt_x"/>
                                          </p:val>
                                        </p:tav>
                                      </p:tavLst>
                                    </p:anim>
                                    <p:anim calcmode="lin" valueType="num">
                                      <p:cBhvr additive="base">
                                        <p:cTn id="8" dur="500" fill="hold"/>
                                        <p:tgtEl>
                                          <p:spTgt spid="3215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98E78A-F1DA-4CFE-9A68-F9C230874C85}" type="slidenum">
              <a:rPr lang="en-US" altLang="zh-CN"/>
            </a:fld>
            <a:endParaRPr lang="en-US" altLang="zh-CN"/>
          </a:p>
        </p:txBody>
      </p:sp>
      <p:sp>
        <p:nvSpPr>
          <p:cNvPr id="26627"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6628" name="Rectangle 3"/>
          <p:cNvSpPr>
            <a:spLocks noGrp="1" noChangeArrowheads="1"/>
          </p:cNvSpPr>
          <p:nvPr>
            <p:ph type="body" idx="1"/>
          </p:nvPr>
        </p:nvSpPr>
        <p:spPr>
          <a:xfrm>
            <a:off x="457200" y="1719263"/>
            <a:ext cx="8229600" cy="2632075"/>
          </a:xfrm>
        </p:spPr>
        <p:txBody>
          <a:bodyPr/>
          <a:lstStyle/>
          <a:p>
            <a:pPr eaLnBrk="1" hangingPunct="1"/>
            <a:r>
              <a:rPr lang="zh-CN" altLang="en-US" b="1" smtClean="0">
                <a:solidFill>
                  <a:schemeClr val="accent2"/>
                </a:solidFill>
                <a:ea typeface="黑体" panose="02010609060101010101" pitchFamily="2" charset="-122"/>
              </a:rPr>
              <a:t>背包问题：</a:t>
            </a:r>
            <a:r>
              <a:rPr lang="zh-CN" altLang="en-US" smtClean="0"/>
              <a:t> </a:t>
            </a:r>
            <a:endParaRPr lang="zh-CN" altLang="en-US" smtClean="0"/>
          </a:p>
          <a:p>
            <a:pPr eaLnBrk="1" hangingPunct="1">
              <a:buFont typeface="Wingdings" panose="05000000000000000000" pitchFamily="2" charset="2"/>
              <a:buNone/>
            </a:pPr>
            <a:r>
              <a:rPr lang="zh-CN" altLang="en-US" smtClean="0"/>
              <a:t>    	</a:t>
            </a:r>
            <a:r>
              <a:rPr lang="zh-CN" altLang="en-US" sz="2400" b="1" smtClean="0">
                <a:latin typeface="新宋体" panose="02010609030101010101" charset="-122"/>
                <a:ea typeface="新宋体" panose="02010609030101010101" charset="-122"/>
              </a:rPr>
              <a:t>与</a:t>
            </a:r>
            <a:r>
              <a:rPr lang="en-US" altLang="zh-CN" sz="2400" b="1" smtClean="0">
                <a:latin typeface="新宋体" panose="02010609030101010101" charset="-122"/>
                <a:ea typeface="新宋体" panose="02010609030101010101" charset="-122"/>
              </a:rPr>
              <a:t>0-1</a:t>
            </a:r>
            <a:r>
              <a:rPr lang="zh-CN" altLang="en-US" sz="2400" b="1" smtClean="0">
                <a:latin typeface="新宋体" panose="02010609030101010101" charset="-122"/>
                <a:ea typeface="新宋体" panose="02010609030101010101" charset="-122"/>
              </a:rPr>
              <a:t>背包问题类似，所不同的是在选择物品</a:t>
            </a:r>
            <a:r>
              <a:rPr lang="en-US" altLang="zh-CN" sz="2400" b="1" smtClean="0">
                <a:latin typeface="新宋体" panose="02010609030101010101" charset="-122"/>
                <a:ea typeface="新宋体" panose="02010609030101010101" charset="-122"/>
              </a:rPr>
              <a:t>i</a:t>
            </a:r>
            <a:r>
              <a:rPr lang="zh-CN" altLang="en-US" sz="2400" b="1" smtClean="0">
                <a:latin typeface="新宋体" panose="02010609030101010101" charset="-122"/>
                <a:ea typeface="新宋体" panose="02010609030101010101" charset="-122"/>
              </a:rPr>
              <a:t>装入背包时，</a:t>
            </a:r>
            <a:r>
              <a:rPr lang="zh-CN" altLang="en-US" sz="2400" b="1" smtClean="0">
                <a:solidFill>
                  <a:schemeClr val="accent2"/>
                </a:solidFill>
                <a:latin typeface="新宋体" panose="02010609030101010101" charset="-122"/>
                <a:ea typeface="新宋体" panose="02010609030101010101" charset="-122"/>
              </a:rPr>
              <a:t>可以选择物品</a:t>
            </a:r>
            <a:r>
              <a:rPr lang="en-US" altLang="zh-CN" sz="2400" b="1" smtClean="0">
                <a:solidFill>
                  <a:schemeClr val="accent2"/>
                </a:solidFill>
                <a:latin typeface="新宋体" panose="02010609030101010101" charset="-122"/>
                <a:ea typeface="新宋体" panose="02010609030101010101" charset="-122"/>
              </a:rPr>
              <a:t>i</a:t>
            </a:r>
            <a:r>
              <a:rPr lang="zh-CN" altLang="en-US" sz="2400" b="1" smtClean="0">
                <a:solidFill>
                  <a:schemeClr val="accent2"/>
                </a:solidFill>
                <a:latin typeface="新宋体" panose="02010609030101010101" charset="-122"/>
                <a:ea typeface="新宋体" panose="02010609030101010101" charset="-122"/>
              </a:rPr>
              <a:t>的一部分</a:t>
            </a:r>
            <a:r>
              <a:rPr lang="zh-CN" altLang="en-US" sz="2400" b="1" smtClean="0">
                <a:latin typeface="新宋体" panose="02010609030101010101" charset="-122"/>
                <a:ea typeface="新宋体" panose="02010609030101010101" charset="-122"/>
              </a:rPr>
              <a:t>，而不一定要全部装入背包，</a:t>
            </a:r>
            <a:r>
              <a:rPr lang="en-US" altLang="zh-CN" sz="2400" b="1" smtClean="0">
                <a:latin typeface="新宋体" panose="02010609030101010101" charset="-122"/>
                <a:ea typeface="新宋体" panose="02010609030101010101" charset="-122"/>
              </a:rPr>
              <a:t>1≤i≤n</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100" smtClean="0">
              <a:latin typeface="新宋体" panose="02010609030101010101" charset="-122"/>
              <a:ea typeface="新宋体" panose="02010609030101010101" charset="-122"/>
            </a:endParaRPr>
          </a:p>
        </p:txBody>
      </p:sp>
      <p:sp>
        <p:nvSpPr>
          <p:cNvPr id="26629" name="Text Box 4"/>
          <p:cNvSpPr txBox="1">
            <a:spLocks noChangeArrowheads="1"/>
          </p:cNvSpPr>
          <p:nvPr/>
        </p:nvSpPr>
        <p:spPr bwMode="auto">
          <a:xfrm>
            <a:off x="827088" y="4365625"/>
            <a:ext cx="7489825" cy="130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这</a:t>
            </a:r>
            <a:r>
              <a:rPr lang="en-US" altLang="zh-CN" sz="2400" b="1">
                <a:latin typeface="新宋体" panose="02010609030101010101" charset="-122"/>
                <a:ea typeface="新宋体" panose="02010609030101010101" charset="-122"/>
              </a:rPr>
              <a:t>2</a:t>
            </a:r>
            <a:r>
              <a:rPr lang="zh-CN" altLang="en-US" sz="2400" b="1">
                <a:latin typeface="新宋体" panose="02010609030101010101" charset="-122"/>
                <a:ea typeface="新宋体" panose="02010609030101010101" charset="-122"/>
              </a:rPr>
              <a:t>类问题都具有</a:t>
            </a:r>
            <a:r>
              <a:rPr lang="zh-CN" altLang="en-US" sz="2400" b="1">
                <a:solidFill>
                  <a:schemeClr val="accent2"/>
                </a:solidFill>
                <a:latin typeface="新宋体" panose="02010609030101010101" charset="-122"/>
                <a:ea typeface="新宋体" panose="02010609030101010101" charset="-122"/>
              </a:rPr>
              <a:t>最优子结构</a:t>
            </a:r>
            <a:r>
              <a:rPr lang="zh-CN" altLang="en-US" sz="2400" b="1">
                <a:latin typeface="新宋体" panose="02010609030101010101" charset="-122"/>
                <a:ea typeface="新宋体" panose="02010609030101010101" charset="-122"/>
              </a:rPr>
              <a:t>性质，极为相似，但背包问题可以用贪心算法求解，而</a:t>
            </a:r>
            <a:r>
              <a:rPr lang="en-US" altLang="zh-CN" sz="2400" b="1">
                <a:latin typeface="新宋体" panose="02010609030101010101" charset="-122"/>
                <a:ea typeface="新宋体" panose="02010609030101010101" charset="-122"/>
              </a:rPr>
              <a:t>0-1</a:t>
            </a:r>
            <a:r>
              <a:rPr lang="zh-CN" altLang="en-US" sz="2400" b="1">
                <a:latin typeface="新宋体" panose="02010609030101010101" charset="-122"/>
                <a:ea typeface="新宋体" panose="02010609030101010101" charset="-122"/>
              </a:rPr>
              <a:t>背包问题却不能用贪心算法求解。</a:t>
            </a:r>
            <a:r>
              <a:rPr lang="zh-CN" altLang="en-US" sz="2400" b="1">
                <a:solidFill>
                  <a:schemeClr val="accent2"/>
                </a:solidFill>
                <a:latin typeface="新宋体" panose="02010609030101010101" charset="-122"/>
                <a:ea typeface="新宋体" panose="02010609030101010101" charset="-122"/>
              </a:rPr>
              <a:t> </a:t>
            </a:r>
            <a:endParaRPr lang="zh-CN" altLang="en-US" sz="2400" b="1">
              <a:solidFill>
                <a:schemeClr val="accent2"/>
              </a:solidFill>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31BA8C-4336-4C8F-8563-93586453A509}" type="slidenum">
              <a:rPr lang="en-US" altLang="zh-CN"/>
            </a:fld>
            <a:endParaRPr lang="en-US" altLang="zh-CN"/>
          </a:p>
        </p:txBody>
      </p:sp>
      <p:sp>
        <p:nvSpPr>
          <p:cNvPr id="27651" name="Rectangle 2"/>
          <p:cNvSpPr>
            <a:spLocks noGrp="1" noChangeArrowheads="1"/>
          </p:cNvSpPr>
          <p:nvPr>
            <p:ph type="title"/>
          </p:nvPr>
        </p:nvSpPr>
        <p:spPr/>
        <p:txBody>
          <a:bodyPr/>
          <a:lstStyle/>
          <a:p>
            <a:pPr eaLnBrk="1" hangingPunct="1"/>
            <a:r>
              <a:rPr lang="zh-CN" altLang="en-US" smtClean="0"/>
              <a:t>例</a:t>
            </a:r>
            <a:endParaRPr lang="zh-CN" altLang="en-US" smtClean="0"/>
          </a:p>
        </p:txBody>
      </p:sp>
      <p:pic>
        <p:nvPicPr>
          <p:cNvPr id="2765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484313"/>
            <a:ext cx="9144000"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48D1CC-8CA5-4006-8076-EAB213507947}" type="slidenum">
              <a:rPr lang="en-US" altLang="zh-CN"/>
            </a:fld>
            <a:endParaRPr lang="en-US" altLang="zh-CN"/>
          </a:p>
        </p:txBody>
      </p:sp>
      <p:sp>
        <p:nvSpPr>
          <p:cNvPr id="28675"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8676" name="Rectangle 3"/>
          <p:cNvSpPr>
            <a:spLocks noGrp="1" noChangeArrowheads="1"/>
          </p:cNvSpPr>
          <p:nvPr>
            <p:ph type="body" idx="1"/>
          </p:nvPr>
        </p:nvSpPr>
        <p:spPr>
          <a:xfrm>
            <a:off x="250825" y="2636838"/>
            <a:ext cx="8569325" cy="4105275"/>
          </a:xfrm>
        </p:spPr>
        <p:txBody>
          <a:bodyPr/>
          <a:lstStyle/>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首先计算每种物品单位重量的价值</a:t>
            </a:r>
            <a:r>
              <a:rPr lang="en-US" altLang="zh-CN" sz="2400" b="1" smtClean="0">
                <a:latin typeface="新宋体" panose="02010609030101010101" charset="-122"/>
                <a:ea typeface="新宋体" panose="02010609030101010101" charset="-122"/>
              </a:rPr>
              <a:t>Vi/Wi</a:t>
            </a:r>
            <a:r>
              <a:rPr lang="zh-CN" altLang="en-US" sz="2400" b="1" smtClean="0">
                <a:latin typeface="新宋体" panose="02010609030101010101" charset="-122"/>
                <a:ea typeface="新宋体" panose="02010609030101010101" charset="-122"/>
              </a:rPr>
              <a:t>，然后，依贪心选择策略，将尽可能多的</a:t>
            </a:r>
            <a:r>
              <a:rPr lang="zh-CN" altLang="en-US" sz="2400" b="1" smtClean="0">
                <a:solidFill>
                  <a:schemeClr val="accent2"/>
                </a:solidFill>
                <a:latin typeface="新宋体" panose="02010609030101010101" charset="-122"/>
                <a:ea typeface="新宋体" panose="02010609030101010101" charset="-122"/>
              </a:rPr>
              <a:t>单位重量价值最高</a:t>
            </a:r>
            <a:r>
              <a:rPr lang="zh-CN" altLang="en-US" sz="2400" b="1" smtClean="0">
                <a:latin typeface="新宋体" panose="02010609030101010101" charset="-122"/>
                <a:ea typeface="新宋体" panose="02010609030101010101" charset="-122"/>
              </a:rPr>
              <a:t>的物品装入背包。若将这种物品全部装入背包后，背包内的物品总重量未超过</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，则选择单位重量价值次高的物品并尽可能多地装入背包。依此策略一直地进行下去，直到背包装满为止。</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a:t>
            </a:r>
            <a:endParaRPr lang="en-US" altLang="zh-CN" sz="2400" b="1" smtClean="0"/>
          </a:p>
        </p:txBody>
      </p:sp>
      <p:sp>
        <p:nvSpPr>
          <p:cNvPr id="28677" name="Text Box 4"/>
          <p:cNvSpPr txBox="1">
            <a:spLocks noChangeArrowheads="1"/>
          </p:cNvSpPr>
          <p:nvPr/>
        </p:nvSpPr>
        <p:spPr bwMode="auto">
          <a:xfrm>
            <a:off x="827088" y="1844675"/>
            <a:ext cx="7921625"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zh-CN" altLang="en-US" sz="3600" b="1">
                <a:solidFill>
                  <a:schemeClr val="accent2"/>
                </a:solidFill>
                <a:latin typeface="黑体" panose="02010609060101010101" pitchFamily="2" charset="-122"/>
                <a:ea typeface="黑体" panose="02010609060101010101" pitchFamily="2" charset="-122"/>
              </a:rPr>
              <a:t>用贪心算法解背包问题的基本步骤：</a:t>
            </a:r>
            <a:endParaRPr kumimoji="1" lang="zh-CN" altLang="en-US" sz="3600" b="1">
              <a:solidFill>
                <a:schemeClr val="accent2"/>
              </a:solidFill>
              <a:latin typeface="黑体" panose="02010609060101010101" pitchFamily="2" charset="-122"/>
              <a:ea typeface="黑体" panose="02010609060101010101" pitchFamily="2" charset="-122"/>
            </a:endParaRPr>
          </a:p>
          <a:p>
            <a:pPr algn="ctr" eaLnBrk="1" hangingPunct="1">
              <a:spcBef>
                <a:spcPct val="50000"/>
              </a:spcBef>
            </a:pPr>
            <a:endParaRPr lang="zh-CN" altLang="en-US" sz="3600" b="1">
              <a:solidFill>
                <a:schemeClr val="accent2"/>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5F9674-C9B7-4210-AAB7-7BE240919711}" type="slidenum">
              <a:rPr lang="en-US" altLang="zh-CN"/>
            </a:fld>
            <a:endParaRPr lang="en-US" altLang="zh-CN"/>
          </a:p>
        </p:txBody>
      </p:sp>
      <p:sp>
        <p:nvSpPr>
          <p:cNvPr id="29699"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29700" name="Rectangle 3"/>
          <p:cNvSpPr>
            <a:spLocks noGrp="1" noChangeArrowheads="1"/>
          </p:cNvSpPr>
          <p:nvPr>
            <p:ph type="body" idx="1"/>
          </p:nvPr>
        </p:nvSpPr>
        <p:spPr>
          <a:xfrm>
            <a:off x="396875" y="1916113"/>
            <a:ext cx="8207375" cy="4179887"/>
          </a:xfrm>
        </p:spPr>
        <p:txBody>
          <a:bodyPr/>
          <a:lstStyle/>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对于</a:t>
            </a:r>
            <a:r>
              <a:rPr lang="en-US" altLang="zh-CN" sz="2400" b="1" smtClean="0">
                <a:solidFill>
                  <a:schemeClr val="accent2"/>
                </a:solidFill>
                <a:latin typeface="新宋体" panose="02010609030101010101" charset="-122"/>
                <a:ea typeface="新宋体" panose="02010609030101010101" charset="-122"/>
              </a:rPr>
              <a:t>0-1</a:t>
            </a:r>
            <a:r>
              <a:rPr lang="zh-CN" altLang="en-US" sz="2400" b="1" smtClean="0">
                <a:solidFill>
                  <a:schemeClr val="accent2"/>
                </a:solidFill>
                <a:latin typeface="新宋体" panose="02010609030101010101" charset="-122"/>
                <a:ea typeface="新宋体" panose="02010609030101010101" charset="-122"/>
              </a:rPr>
              <a:t>背包问题</a:t>
            </a:r>
            <a:r>
              <a:rPr lang="zh-CN" altLang="en-US" sz="2400" b="1" smtClean="0">
                <a:latin typeface="新宋体" panose="02010609030101010101" charset="-122"/>
                <a:ea typeface="新宋体" panose="02010609030101010101" charset="-122"/>
              </a:rPr>
              <a:t>，贪心选择之所以不能得到最优解是因为在这种情况下，它无法保证最终能将背包装满，部分闲置的背包空间使每公斤背包空间的价值降低了。事实上，在考虑</a:t>
            </a:r>
            <a:r>
              <a:rPr lang="en-US" altLang="zh-CN" sz="2400" b="1" smtClean="0">
                <a:latin typeface="新宋体" panose="02010609030101010101" charset="-122"/>
                <a:ea typeface="新宋体" panose="02010609030101010101" charset="-122"/>
              </a:rPr>
              <a:t>0-1</a:t>
            </a:r>
            <a:r>
              <a:rPr lang="zh-CN" altLang="en-US" sz="2400" b="1" smtClean="0">
                <a:latin typeface="新宋体" panose="02010609030101010101" charset="-122"/>
                <a:ea typeface="新宋体" panose="02010609030101010101" charset="-122"/>
              </a:rPr>
              <a:t>背包问题时，应比较选择该物品和不选择该物品所导致的最终方案，然后再作出最好选择。由此就导出许多互相重叠的子问题。这正是该问题可用</a:t>
            </a:r>
            <a:r>
              <a:rPr lang="zh-CN" altLang="en-US" sz="2400" b="1" smtClean="0">
                <a:solidFill>
                  <a:schemeClr val="accent2"/>
                </a:solidFill>
                <a:latin typeface="新宋体" panose="02010609030101010101" charset="-122"/>
                <a:ea typeface="新宋体" panose="02010609030101010101" charset="-122"/>
              </a:rPr>
              <a:t>动态规划算法</a:t>
            </a:r>
            <a:r>
              <a:rPr lang="zh-CN" altLang="en-US" sz="2400" b="1" smtClean="0">
                <a:latin typeface="新宋体" panose="02010609030101010101" charset="-122"/>
                <a:ea typeface="新宋体" panose="02010609030101010101" charset="-122"/>
              </a:rPr>
              <a:t>求解的另一重要特征。</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实际上也是如此，动态规划算法的确可以有效地解</a:t>
            </a:r>
            <a:r>
              <a:rPr lang="en-US" altLang="zh-CN" sz="2400" b="1" smtClean="0">
                <a:latin typeface="新宋体" panose="02010609030101010101" charset="-122"/>
                <a:ea typeface="新宋体" panose="02010609030101010101" charset="-122"/>
              </a:rPr>
              <a:t>0-1</a:t>
            </a:r>
            <a:r>
              <a:rPr lang="zh-CN" altLang="en-US" sz="2400" b="1" smtClean="0">
                <a:latin typeface="新宋体" panose="02010609030101010101" charset="-122"/>
                <a:ea typeface="新宋体" panose="02010609030101010101" charset="-122"/>
              </a:rPr>
              <a:t>背包问题。 </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具体算法可描述如下页：</a:t>
            </a:r>
            <a:endParaRPr lang="zh-CN" altLang="en-US"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305B980-EE79-45DA-A23B-92A2E36B904B}" type="slidenum">
              <a:rPr lang="en-US" altLang="zh-CN"/>
            </a:fld>
            <a:endParaRPr lang="en-US" altLang="zh-CN"/>
          </a:p>
        </p:txBody>
      </p:sp>
      <p:sp>
        <p:nvSpPr>
          <p:cNvPr id="30723" name="Rectangle 2"/>
          <p:cNvSpPr>
            <a:spLocks noGrp="1" noChangeArrowheads="1"/>
          </p:cNvSpPr>
          <p:nvPr>
            <p:ph type="title"/>
          </p:nvPr>
        </p:nvSpPr>
        <p:spPr>
          <a:xfrm>
            <a:off x="684213" y="188913"/>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4.2 </a:t>
            </a:r>
            <a:r>
              <a:rPr lang="zh-CN" altLang="en-US" smtClean="0">
                <a:latin typeface="黑体" panose="02010609060101010101" pitchFamily="2" charset="-122"/>
                <a:ea typeface="黑体" panose="02010609060101010101" pitchFamily="2" charset="-122"/>
              </a:rPr>
              <a:t>贪心算法的基本要素</a:t>
            </a:r>
            <a:endParaRPr lang="zh-CN" altLang="en-US" smtClean="0">
              <a:latin typeface="黑体" panose="02010609060101010101" pitchFamily="2" charset="-122"/>
              <a:ea typeface="黑体" panose="02010609060101010101" pitchFamily="2" charset="-122"/>
            </a:endParaRPr>
          </a:p>
        </p:txBody>
      </p:sp>
      <p:sp>
        <p:nvSpPr>
          <p:cNvPr id="30724" name="AutoShape 3"/>
          <p:cNvSpPr>
            <a:spLocks noGrp="1" noChangeArrowheads="1"/>
          </p:cNvSpPr>
          <p:nvPr>
            <p:ph type="body" idx="1"/>
          </p:nvPr>
        </p:nvSpPr>
        <p:spPr>
          <a:xfrm>
            <a:off x="250825" y="1268413"/>
            <a:ext cx="7772400" cy="5040312"/>
          </a:xfrm>
          <a:prstGeom prst="wedgeRoundRectCallout">
            <a:avLst>
              <a:gd name="adj1" fmla="val -43750"/>
              <a:gd name="adj2" fmla="val 70000"/>
              <a:gd name="adj3" fmla="val 16667"/>
            </a:avLst>
          </a:prstGeom>
        </p:spPr>
        <p:txBody>
          <a:bodyPr/>
          <a:lstStyle/>
          <a:p>
            <a:pPr eaLnBrk="1" hangingPunct="1">
              <a:spcBef>
                <a:spcPct val="0"/>
              </a:spcBef>
              <a:buFont typeface="Wingdings" panose="05000000000000000000" pitchFamily="2" charset="2"/>
              <a:buNone/>
            </a:pPr>
            <a:r>
              <a:rPr kumimoji="1" lang="en-US" altLang="zh-CN" sz="2400" b="1" smtClean="0"/>
              <a:t>void Knapsack(int n,float M,float v[],float w[],float x[])</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Sort(n,v,w);</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int i;</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for (i=1;i&lt;=n;i++) x[i]=0;</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float c=M;</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for (i=1;i&lt;=n;i++) {</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if (w[i]&gt;c) break;</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x[i]=1;</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c-=w[i];</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       if (i&lt;=n) x[i]=c/w[i];</a:t>
            </a:r>
            <a:endParaRPr kumimoji="1" lang="en-US" altLang="zh-CN" sz="2400" b="1" smtClean="0"/>
          </a:p>
          <a:p>
            <a:pPr eaLnBrk="1" hangingPunct="1">
              <a:spcBef>
                <a:spcPct val="0"/>
              </a:spcBef>
              <a:buFont typeface="Wingdings" panose="05000000000000000000" pitchFamily="2" charset="2"/>
              <a:buNone/>
            </a:pPr>
            <a:r>
              <a:rPr kumimoji="1" lang="en-US" altLang="zh-CN" sz="2400" b="1" smtClean="0"/>
              <a:t>}</a:t>
            </a:r>
            <a:endParaRPr kumimoji="1" lang="en-US" altLang="zh-CN" sz="2400" b="1" smtClean="0"/>
          </a:p>
        </p:txBody>
      </p:sp>
      <p:sp>
        <p:nvSpPr>
          <p:cNvPr id="324613" name="AutoShape 5"/>
          <p:cNvSpPr>
            <a:spLocks noChangeArrowheads="1"/>
          </p:cNvSpPr>
          <p:nvPr/>
        </p:nvSpPr>
        <p:spPr bwMode="auto">
          <a:xfrm>
            <a:off x="5148263" y="1484313"/>
            <a:ext cx="4103687" cy="4897437"/>
          </a:xfrm>
          <a:prstGeom prst="cloudCallout">
            <a:avLst>
              <a:gd name="adj1" fmla="val -86208"/>
              <a:gd name="adj2" fmla="val -26889"/>
            </a:avLst>
          </a:prstGeom>
          <a:solidFill>
            <a:schemeClr val="hlink"/>
          </a:solidFill>
          <a:ln w="6350">
            <a:solidFill>
              <a:schemeClr val="hlink"/>
            </a:solidFill>
            <a:round/>
          </a:ln>
        </p:spPr>
        <p:txBody>
          <a:bodyPr anchor="ctr"/>
          <a:lstStyle/>
          <a:p>
            <a:r>
              <a:rPr lang="zh-CN" altLang="en-US" sz="2200">
                <a:solidFill>
                  <a:schemeClr val="accent2"/>
                </a:solidFill>
                <a:latin typeface="新宋体" panose="02010609030101010101" charset="-122"/>
                <a:ea typeface="新宋体" panose="02010609030101010101" charset="-122"/>
              </a:rPr>
              <a:t>    </a:t>
            </a:r>
            <a:r>
              <a:rPr lang="zh-CN" altLang="en-US" sz="2200" b="1">
                <a:latin typeface="新宋体" panose="02010609030101010101" charset="-122"/>
                <a:ea typeface="新宋体" panose="02010609030101010101" charset="-122"/>
              </a:rPr>
              <a:t>算法</a:t>
            </a:r>
            <a:r>
              <a:rPr lang="en-US" altLang="zh-CN" sz="2200" b="1">
                <a:latin typeface="新宋体" panose="02010609030101010101" charset="-122"/>
                <a:ea typeface="新宋体" panose="02010609030101010101" charset="-122"/>
              </a:rPr>
              <a:t>knapsack</a:t>
            </a:r>
            <a:r>
              <a:rPr lang="zh-CN" altLang="en-US" sz="2200" b="1">
                <a:latin typeface="新宋体" panose="02010609030101010101" charset="-122"/>
                <a:ea typeface="新宋体" panose="02010609030101010101" charset="-122"/>
              </a:rPr>
              <a:t>的主要计算时间在于将各种物品依其单位重量的价值从大到小排序。因此，算法的计算时间上界为</a:t>
            </a:r>
            <a:endParaRPr lang="zh-CN" altLang="en-US" sz="2200" b="1">
              <a:latin typeface="新宋体" panose="02010609030101010101" charset="-122"/>
              <a:ea typeface="新宋体" panose="02010609030101010101" charset="-122"/>
            </a:endParaRPr>
          </a:p>
          <a:p>
            <a:r>
              <a:rPr lang="en-US" altLang="zh-CN" sz="2200" b="1">
                <a:latin typeface="新宋体" panose="02010609030101010101" charset="-122"/>
                <a:ea typeface="新宋体" panose="02010609030101010101" charset="-122"/>
              </a:rPr>
              <a:t>O</a:t>
            </a:r>
            <a:r>
              <a:rPr lang="zh-CN" altLang="en-US" sz="2200" b="1">
                <a:latin typeface="新宋体" panose="02010609030101010101" charset="-122"/>
                <a:ea typeface="新宋体" panose="02010609030101010101" charset="-122"/>
              </a:rPr>
              <a:t>（</a:t>
            </a:r>
            <a:r>
              <a:rPr lang="en-US" altLang="zh-CN" sz="2200" b="1">
                <a:latin typeface="新宋体" panose="02010609030101010101" charset="-122"/>
                <a:ea typeface="新宋体" panose="02010609030101010101" charset="-122"/>
              </a:rPr>
              <a:t>nlogn</a:t>
            </a:r>
            <a:r>
              <a:rPr lang="zh-CN" altLang="en-US" sz="2200" b="1">
                <a:latin typeface="新宋体" panose="02010609030101010101" charset="-122"/>
                <a:ea typeface="新宋体" panose="02010609030101010101" charset="-122"/>
              </a:rPr>
              <a:t>）。</a:t>
            </a:r>
            <a:endParaRPr lang="zh-CN" altLang="en-US" sz="2200" b="1">
              <a:latin typeface="新宋体" panose="02010609030101010101" charset="-122"/>
              <a:ea typeface="新宋体" panose="02010609030101010101" charset="-122"/>
            </a:endParaRPr>
          </a:p>
          <a:p>
            <a:r>
              <a:rPr lang="zh-CN" altLang="en-US" sz="2200" b="1">
                <a:latin typeface="新宋体" panose="02010609030101010101" charset="-122"/>
                <a:ea typeface="新宋体" panose="02010609030101010101" charset="-122"/>
              </a:rPr>
              <a:t>为了证明算法的正确性，还必须证明背包问题具有贪心选择性质</a:t>
            </a:r>
            <a:r>
              <a:rPr lang="zh-CN" altLang="en-US" sz="2200">
                <a:latin typeface="新宋体" panose="02010609030101010101" charset="-122"/>
                <a:ea typeface="新宋体" panose="02010609030101010101" charset="-122"/>
              </a:rPr>
              <a:t>。</a:t>
            </a:r>
            <a:endParaRPr lang="zh-CN" altLang="en-US" sz="220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24613"/>
                                        </p:tgtEl>
                                        <p:attrNameLst>
                                          <p:attrName>style.visibility</p:attrName>
                                        </p:attrNameLst>
                                      </p:cBhvr>
                                      <p:to>
                                        <p:strVal val="visible"/>
                                      </p:to>
                                    </p:set>
                                    <p:anim calcmode="lin" valueType="num">
                                      <p:cBhvr additive="base">
                                        <p:cTn id="7" dur="500" fill="hold"/>
                                        <p:tgtEl>
                                          <p:spTgt spid="324613"/>
                                        </p:tgtEl>
                                        <p:attrNameLst>
                                          <p:attrName>ppt_x</p:attrName>
                                        </p:attrNameLst>
                                      </p:cBhvr>
                                      <p:tavLst>
                                        <p:tav tm="0">
                                          <p:val>
                                            <p:strVal val="1+#ppt_w/2"/>
                                          </p:val>
                                        </p:tav>
                                        <p:tav tm="100000">
                                          <p:val>
                                            <p:strVal val="#ppt_x"/>
                                          </p:val>
                                        </p:tav>
                                      </p:tavLst>
                                    </p:anim>
                                    <p:anim calcmode="lin" valueType="num">
                                      <p:cBhvr additive="base">
                                        <p:cTn id="8" dur="500" fill="hold"/>
                                        <p:tgtEl>
                                          <p:spTgt spid="3246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3"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5747E5B-A051-4C90-AB50-8BAC6C930582}" type="slidenum">
              <a:rPr lang="en-US" altLang="zh-CN"/>
            </a:fld>
            <a:endParaRPr lang="en-US" altLang="zh-CN"/>
          </a:p>
        </p:txBody>
      </p:sp>
      <p:sp>
        <p:nvSpPr>
          <p:cNvPr id="31747" name="Rectangle 3"/>
          <p:cNvSpPr>
            <a:spLocks noGrp="1" noChangeArrowheads="1"/>
          </p:cNvSpPr>
          <p:nvPr>
            <p:ph type="body" idx="1"/>
          </p:nvPr>
        </p:nvSpPr>
        <p:spPr/>
        <p:txBody>
          <a:bodyPr/>
          <a:lstStyle/>
          <a:p>
            <a:pPr eaLnBrk="1" hangingPunct="1"/>
            <a:endParaRPr lang="zh-CN" altLang="en-US" smtClean="0"/>
          </a:p>
        </p:txBody>
      </p:sp>
      <p:pic>
        <p:nvPicPr>
          <p:cNvPr id="3174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77875"/>
            <a:ext cx="9144000" cy="599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2C29B0-B600-4270-972C-DD1B6DA82CCB}" type="slidenum">
              <a:rPr lang="en-US" altLang="zh-CN"/>
            </a:fld>
            <a:endParaRPr lang="en-US" altLang="zh-CN"/>
          </a:p>
        </p:txBody>
      </p:sp>
      <p:sp>
        <p:nvSpPr>
          <p:cNvPr id="32771" name="Rectangle 3"/>
          <p:cNvSpPr>
            <a:spLocks noGrp="1" noChangeArrowheads="1"/>
          </p:cNvSpPr>
          <p:nvPr>
            <p:ph type="body" idx="1"/>
          </p:nvPr>
        </p:nvSpPr>
        <p:spPr/>
        <p:txBody>
          <a:bodyPr/>
          <a:lstStyle/>
          <a:p>
            <a:pPr eaLnBrk="1" hangingPunct="1"/>
            <a:endParaRPr lang="zh-CN" altLang="en-US" smtClean="0"/>
          </a:p>
        </p:txBody>
      </p:sp>
      <p:pic>
        <p:nvPicPr>
          <p:cNvPr id="327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923925"/>
            <a:ext cx="9144000" cy="588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CC29027-18C3-4BC7-A270-1D6CC9A62E8D}" type="slidenum">
              <a:rPr lang="en-US" altLang="zh-CN"/>
            </a:fld>
            <a:endParaRPr lang="en-US" altLang="zh-CN"/>
          </a:p>
        </p:txBody>
      </p:sp>
      <p:sp>
        <p:nvSpPr>
          <p:cNvPr id="33795" name="Rectangle 3"/>
          <p:cNvSpPr>
            <a:spLocks noGrp="1" noChangeArrowheads="1"/>
          </p:cNvSpPr>
          <p:nvPr>
            <p:ph type="body" idx="1"/>
          </p:nvPr>
        </p:nvSpPr>
        <p:spPr/>
        <p:txBody>
          <a:bodyPr/>
          <a:lstStyle/>
          <a:p>
            <a:pPr eaLnBrk="1" hangingPunct="1"/>
            <a:endParaRPr lang="zh-CN" altLang="en-US" smtClean="0"/>
          </a:p>
        </p:txBody>
      </p:sp>
      <p:pic>
        <p:nvPicPr>
          <p:cNvPr id="337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179513"/>
            <a:ext cx="9144000" cy="567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31E03-9180-4EA6-83C3-0C772716DDB3}" type="slidenum">
              <a:rPr lang="en-US" altLang="zh-CN"/>
            </a:fld>
            <a:endParaRPr lang="en-US" altLang="zh-CN"/>
          </a:p>
        </p:txBody>
      </p:sp>
      <p:sp>
        <p:nvSpPr>
          <p:cNvPr id="34819" name="Rectangle 3"/>
          <p:cNvSpPr>
            <a:spLocks noGrp="1" noChangeArrowheads="1"/>
          </p:cNvSpPr>
          <p:nvPr>
            <p:ph type="body" idx="1"/>
          </p:nvPr>
        </p:nvSpPr>
        <p:spPr/>
        <p:txBody>
          <a:bodyPr/>
          <a:lstStyle/>
          <a:p>
            <a:pPr eaLnBrk="1" hangingPunct="1"/>
            <a:endParaRPr lang="zh-CN" altLang="en-US" smtClean="0"/>
          </a:p>
        </p:txBody>
      </p:sp>
      <p:pic>
        <p:nvPicPr>
          <p:cNvPr id="3482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92150"/>
            <a:ext cx="9144000" cy="566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74FB58-22EB-4D83-88A7-FABA43D46C5B}" type="slidenum">
              <a:rPr lang="en-US" altLang="zh-CN"/>
            </a:fld>
            <a:endParaRPr lang="en-US" altLang="zh-CN"/>
          </a:p>
        </p:txBody>
      </p:sp>
      <p:sp>
        <p:nvSpPr>
          <p:cNvPr id="35843" name="Rectangle 2"/>
          <p:cNvSpPr>
            <a:spLocks noGrp="1" noChangeArrowheads="1"/>
          </p:cNvSpPr>
          <p:nvPr>
            <p:ph type="title"/>
          </p:nvPr>
        </p:nvSpPr>
        <p:spPr/>
        <p:txBody>
          <a:bodyPr/>
          <a:lstStyle/>
          <a:p>
            <a:pPr eaLnBrk="1" hangingPunct="1"/>
            <a:endParaRPr lang="zh-CN" altLang="en-US" smtClean="0"/>
          </a:p>
        </p:txBody>
      </p:sp>
      <p:sp>
        <p:nvSpPr>
          <p:cNvPr id="35844" name="Rectangle 3"/>
          <p:cNvSpPr>
            <a:spLocks noGrp="1" noChangeArrowheads="1"/>
          </p:cNvSpPr>
          <p:nvPr>
            <p:ph type="body" idx="1"/>
          </p:nvPr>
        </p:nvSpPr>
        <p:spPr/>
        <p:txBody>
          <a:bodyPr/>
          <a:lstStyle/>
          <a:p>
            <a:pPr eaLnBrk="1" hangingPunct="1"/>
            <a:endParaRPr lang="zh-CN" altLang="en-US" smtClean="0"/>
          </a:p>
        </p:txBody>
      </p:sp>
      <p:pic>
        <p:nvPicPr>
          <p:cNvPr id="3584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65175"/>
            <a:ext cx="9144000" cy="543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4107E4-1456-4DAB-A82A-5CE6F210D61F}" type="slidenum">
              <a:rPr lang="en-US" altLang="zh-CN"/>
            </a:fld>
            <a:endParaRPr lang="en-US" altLang="zh-CN"/>
          </a:p>
        </p:txBody>
      </p:sp>
      <p:sp>
        <p:nvSpPr>
          <p:cNvPr id="36867" name="Rectangle 3"/>
          <p:cNvSpPr>
            <a:spLocks noGrp="1" noChangeArrowheads="1"/>
          </p:cNvSpPr>
          <p:nvPr>
            <p:ph type="body" idx="1"/>
          </p:nvPr>
        </p:nvSpPr>
        <p:spPr/>
        <p:txBody>
          <a:bodyPr/>
          <a:lstStyle/>
          <a:p>
            <a:pPr eaLnBrk="1" hangingPunct="1"/>
            <a:endParaRPr lang="zh-CN" altLang="en-US" smtClean="0"/>
          </a:p>
        </p:txBody>
      </p:sp>
      <p:pic>
        <p:nvPicPr>
          <p:cNvPr id="3686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88950"/>
            <a:ext cx="9144000" cy="573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422917" name="Rectangle 5"/>
          <p:cNvSpPr>
            <a:spLocks noChangeArrowheads="1"/>
          </p:cNvSpPr>
          <p:nvPr/>
        </p:nvSpPr>
        <p:spPr bwMode="auto">
          <a:xfrm>
            <a:off x="0" y="1125538"/>
            <a:ext cx="9144000" cy="4967287"/>
          </a:xfrm>
          <a:prstGeom prst="rect">
            <a:avLst/>
          </a:prstGeom>
          <a:solidFill>
            <a:schemeClr val="bg1"/>
          </a:solidFill>
          <a:ln w="6350">
            <a:solidFill>
              <a:schemeClr val="bg1"/>
            </a:solidFill>
            <a:miter lim="800000"/>
          </a:ln>
        </p:spPr>
        <p:txBody>
          <a:bodyPr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xit" presetSubtype="4" fill="hold" grpId="0" nodeType="clickEffect">
                                  <p:stCondLst>
                                    <p:cond delay="0"/>
                                  </p:stCondLst>
                                  <p:childTnLst>
                                    <p:animEffect transition="out" filter="slide(fromBottom)">
                                      <p:cBhvr>
                                        <p:cTn id="6" dur="500"/>
                                        <p:tgtEl>
                                          <p:spTgt spid="422917"/>
                                        </p:tgtEl>
                                      </p:cBhvr>
                                    </p:animEffect>
                                    <p:set>
                                      <p:cBhvr>
                                        <p:cTn id="7" dur="1" fill="hold">
                                          <p:stCondLst>
                                            <p:cond delay="499"/>
                                          </p:stCondLst>
                                        </p:cTn>
                                        <p:tgtEl>
                                          <p:spTgt spid="4229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D72840-064D-4C4C-81DE-E6768F8C3BB3}" type="slidenum">
              <a:rPr lang="en-US" altLang="zh-CN"/>
            </a:fld>
            <a:endParaRPr lang="en-US" altLang="zh-CN"/>
          </a:p>
        </p:txBody>
      </p:sp>
      <p:sp>
        <p:nvSpPr>
          <p:cNvPr id="37891" name="Rectangle 2"/>
          <p:cNvSpPr>
            <a:spLocks noGrp="1" noChangeArrowheads="1"/>
          </p:cNvSpPr>
          <p:nvPr>
            <p:ph type="title"/>
          </p:nvPr>
        </p:nvSpPr>
        <p:spPr/>
        <p:txBody>
          <a:bodyPr/>
          <a:lstStyle/>
          <a:p>
            <a:pPr eaLnBrk="1" hangingPunct="1"/>
            <a:r>
              <a:rPr lang="zh-CN" altLang="en-US" smtClean="0"/>
              <a:t>找钱问题</a:t>
            </a:r>
            <a:endParaRPr lang="zh-CN" altLang="en-US" smtClean="0"/>
          </a:p>
        </p:txBody>
      </p:sp>
      <p:sp>
        <p:nvSpPr>
          <p:cNvPr id="37892" name="Rectangle 3"/>
          <p:cNvSpPr>
            <a:spLocks noGrp="1" noChangeArrowheads="1"/>
          </p:cNvSpPr>
          <p:nvPr>
            <p:ph type="body" idx="1"/>
          </p:nvPr>
        </p:nvSpPr>
        <p:spPr/>
        <p:txBody>
          <a:bodyPr/>
          <a:lstStyle/>
          <a:p>
            <a:pPr eaLnBrk="1" hangingPunct="1"/>
            <a:endParaRPr lang="zh-CN" altLang="en-US" smtClean="0"/>
          </a:p>
        </p:txBody>
      </p:sp>
      <p:pic>
        <p:nvPicPr>
          <p:cNvPr id="3789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457325"/>
            <a:ext cx="8820150"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F7F7194-3313-4FEC-A965-54A41215057E}" type="slidenum">
              <a:rPr lang="en-US" altLang="zh-CN"/>
            </a:fld>
            <a:endParaRPr lang="en-US" altLang="zh-CN"/>
          </a:p>
        </p:txBody>
      </p:sp>
      <p:sp>
        <p:nvSpPr>
          <p:cNvPr id="38915" name="Rectangle 2"/>
          <p:cNvSpPr>
            <a:spLocks noGrp="1" noChangeArrowheads="1"/>
          </p:cNvSpPr>
          <p:nvPr>
            <p:ph type="title"/>
          </p:nvPr>
        </p:nvSpPr>
        <p:spPr/>
        <p:txBody>
          <a:bodyPr/>
          <a:lstStyle/>
          <a:p>
            <a:pPr eaLnBrk="1" hangingPunct="1"/>
            <a:endParaRPr lang="zh-CN" altLang="en-US" smtClean="0"/>
          </a:p>
        </p:txBody>
      </p:sp>
      <p:sp>
        <p:nvSpPr>
          <p:cNvPr id="38916" name="Rectangle 3"/>
          <p:cNvSpPr>
            <a:spLocks noGrp="1" noChangeArrowheads="1"/>
          </p:cNvSpPr>
          <p:nvPr>
            <p:ph type="body" idx="1"/>
          </p:nvPr>
        </p:nvSpPr>
        <p:spPr/>
        <p:txBody>
          <a:bodyPr/>
          <a:lstStyle/>
          <a:p>
            <a:pPr eaLnBrk="1" hangingPunct="1"/>
            <a:endParaRPr lang="zh-CN" altLang="en-US" smtClean="0"/>
          </a:p>
        </p:txBody>
      </p:sp>
      <p:pic>
        <p:nvPicPr>
          <p:cNvPr id="3891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46113"/>
            <a:ext cx="9144000" cy="595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38BB72-36CA-4DA4-B7D0-85CFD39020FA}" type="slidenum">
              <a:rPr lang="en-US" altLang="zh-CN"/>
            </a:fld>
            <a:endParaRPr lang="en-US" altLang="zh-CN"/>
          </a:p>
        </p:txBody>
      </p:sp>
      <p:sp>
        <p:nvSpPr>
          <p:cNvPr id="39939" name="Rectangle 2"/>
          <p:cNvSpPr>
            <a:spLocks noGrp="1" noChangeArrowheads="1"/>
          </p:cNvSpPr>
          <p:nvPr>
            <p:ph type="title"/>
          </p:nvPr>
        </p:nvSpPr>
        <p:spPr/>
        <p:txBody>
          <a:bodyPr/>
          <a:lstStyle/>
          <a:p>
            <a:pPr eaLnBrk="1" hangingPunct="1"/>
            <a:endParaRPr lang="zh-CN" altLang="en-US" smtClean="0"/>
          </a:p>
        </p:txBody>
      </p:sp>
      <p:sp>
        <p:nvSpPr>
          <p:cNvPr id="39940" name="Rectangle 3"/>
          <p:cNvSpPr>
            <a:spLocks noGrp="1" noChangeArrowheads="1"/>
          </p:cNvSpPr>
          <p:nvPr>
            <p:ph type="body" idx="1"/>
          </p:nvPr>
        </p:nvSpPr>
        <p:spPr/>
        <p:txBody>
          <a:bodyPr/>
          <a:lstStyle/>
          <a:p>
            <a:pPr eaLnBrk="1" hangingPunct="1"/>
            <a:endParaRPr lang="zh-CN" altLang="en-US" smtClean="0"/>
          </a:p>
        </p:txBody>
      </p:sp>
      <p:pic>
        <p:nvPicPr>
          <p:cNvPr id="3994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54050"/>
            <a:ext cx="9144000" cy="589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0113D11-4D7E-4522-B54E-689163391943}" type="slidenum">
              <a:rPr lang="en-US" altLang="zh-CN"/>
            </a:fld>
            <a:endParaRPr lang="en-US" altLang="zh-CN"/>
          </a:p>
        </p:txBody>
      </p:sp>
      <p:sp>
        <p:nvSpPr>
          <p:cNvPr id="40963" name="Rectangle 2"/>
          <p:cNvSpPr>
            <a:spLocks noGrp="1" noChangeArrowheads="1"/>
          </p:cNvSpPr>
          <p:nvPr>
            <p:ph type="title"/>
          </p:nvPr>
        </p:nvSpPr>
        <p:spPr/>
        <p:txBody>
          <a:bodyPr/>
          <a:lstStyle/>
          <a:p>
            <a:pPr eaLnBrk="1" hangingPunct="1"/>
            <a:endParaRPr lang="zh-CN" altLang="en-US" smtClean="0"/>
          </a:p>
        </p:txBody>
      </p:sp>
      <p:sp>
        <p:nvSpPr>
          <p:cNvPr id="40964" name="Rectangle 3"/>
          <p:cNvSpPr>
            <a:spLocks noGrp="1" noChangeArrowheads="1"/>
          </p:cNvSpPr>
          <p:nvPr>
            <p:ph type="body" idx="1"/>
          </p:nvPr>
        </p:nvSpPr>
        <p:spPr/>
        <p:txBody>
          <a:bodyPr/>
          <a:lstStyle/>
          <a:p>
            <a:pPr eaLnBrk="1" hangingPunct="1"/>
            <a:endParaRPr lang="zh-CN" altLang="en-US" smtClean="0"/>
          </a:p>
        </p:txBody>
      </p:sp>
      <p:pic>
        <p:nvPicPr>
          <p:cNvPr id="4096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0713"/>
            <a:ext cx="9144000" cy="602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6FE121-28CA-4D3E-B978-DD861BB08626}" type="slidenum">
              <a:rPr lang="en-US" altLang="zh-CN"/>
            </a:fld>
            <a:endParaRPr lang="en-US" altLang="zh-CN"/>
          </a:p>
        </p:txBody>
      </p:sp>
      <p:sp>
        <p:nvSpPr>
          <p:cNvPr id="41987" name="Rectangle 2"/>
          <p:cNvSpPr>
            <a:spLocks noGrp="1" noChangeArrowheads="1"/>
          </p:cNvSpPr>
          <p:nvPr>
            <p:ph type="title"/>
          </p:nvPr>
        </p:nvSpPr>
        <p:spPr/>
        <p:txBody>
          <a:bodyPr/>
          <a:lstStyle/>
          <a:p>
            <a:pPr eaLnBrk="1" hangingPunct="1"/>
            <a:r>
              <a:rPr lang="zh-CN" altLang="en-US" smtClean="0"/>
              <a:t>找钱问题</a:t>
            </a:r>
            <a:endParaRPr lang="zh-CN" altLang="en-US" smtClean="0"/>
          </a:p>
        </p:txBody>
      </p:sp>
      <p:sp>
        <p:nvSpPr>
          <p:cNvPr id="41988" name="Rectangle 3"/>
          <p:cNvSpPr>
            <a:spLocks noGrp="1" noChangeArrowheads="1"/>
          </p:cNvSpPr>
          <p:nvPr>
            <p:ph type="body" idx="1"/>
          </p:nvPr>
        </p:nvSpPr>
        <p:spPr/>
        <p:txBody>
          <a:bodyPr/>
          <a:lstStyle/>
          <a:p>
            <a:pPr eaLnBrk="1" hangingPunct="1"/>
            <a:r>
              <a:rPr lang="zh-CN" altLang="en-US" b="1" smtClean="0">
                <a:latin typeface="新宋体" panose="02010609030101010101" charset="-122"/>
                <a:ea typeface="新宋体" panose="02010609030101010101" charset="-122"/>
              </a:rPr>
              <a:t>思考：如果硬币面值改为</a:t>
            </a:r>
            <a:r>
              <a:rPr lang="en-US" altLang="zh-CN" b="1" smtClean="0">
                <a:latin typeface="新宋体" panose="02010609030101010101" charset="-122"/>
                <a:ea typeface="新宋体" panose="02010609030101010101" charset="-122"/>
              </a:rPr>
              <a:t>1</a:t>
            </a:r>
            <a:r>
              <a:rPr lang="zh-CN" altLang="en-US" b="1" smtClean="0">
                <a:latin typeface="新宋体" panose="02010609030101010101" charset="-122"/>
                <a:ea typeface="新宋体" panose="02010609030101010101" charset="-122"/>
              </a:rPr>
              <a:t>分、</a:t>
            </a:r>
            <a:r>
              <a:rPr lang="en-US" altLang="zh-CN" b="1" smtClean="0">
                <a:latin typeface="新宋体" panose="02010609030101010101" charset="-122"/>
                <a:ea typeface="新宋体" panose="02010609030101010101" charset="-122"/>
              </a:rPr>
              <a:t>5</a:t>
            </a:r>
            <a:r>
              <a:rPr lang="zh-CN" altLang="en-US" b="1" smtClean="0">
                <a:latin typeface="新宋体" panose="02010609030101010101" charset="-122"/>
                <a:ea typeface="新宋体" panose="02010609030101010101" charset="-122"/>
              </a:rPr>
              <a:t>分和</a:t>
            </a:r>
            <a:r>
              <a:rPr lang="en-US" altLang="zh-CN" b="1" smtClean="0">
                <a:latin typeface="新宋体" panose="02010609030101010101" charset="-122"/>
                <a:ea typeface="新宋体" panose="02010609030101010101" charset="-122"/>
              </a:rPr>
              <a:t>1</a:t>
            </a:r>
            <a:r>
              <a:rPr lang="zh-CN" altLang="en-US" b="1" smtClean="0">
                <a:latin typeface="新宋体" panose="02010609030101010101" charset="-122"/>
                <a:ea typeface="新宋体" panose="02010609030101010101" charset="-122"/>
              </a:rPr>
              <a:t>角</a:t>
            </a:r>
            <a:r>
              <a:rPr lang="en-US" altLang="zh-CN" b="1" smtClean="0">
                <a:latin typeface="新宋体" panose="02010609030101010101" charset="-122"/>
                <a:ea typeface="新宋体" panose="02010609030101010101" charset="-122"/>
              </a:rPr>
              <a:t>1</a:t>
            </a:r>
            <a:r>
              <a:rPr lang="zh-CN" altLang="en-US" b="1" smtClean="0">
                <a:latin typeface="新宋体" panose="02010609030101010101" charset="-122"/>
                <a:ea typeface="新宋体" panose="02010609030101010101" charset="-122"/>
              </a:rPr>
              <a:t>分，要找给顾客的是</a:t>
            </a:r>
            <a:r>
              <a:rPr lang="en-US" altLang="zh-CN" b="1" smtClean="0">
                <a:latin typeface="新宋体" panose="02010609030101010101" charset="-122"/>
                <a:ea typeface="新宋体" panose="02010609030101010101" charset="-122"/>
              </a:rPr>
              <a:t>1</a:t>
            </a:r>
            <a:r>
              <a:rPr lang="zh-CN" altLang="en-US" b="1" smtClean="0">
                <a:latin typeface="新宋体" panose="02010609030101010101" charset="-122"/>
                <a:ea typeface="新宋体" panose="02010609030101010101" charset="-122"/>
              </a:rPr>
              <a:t>角</a:t>
            </a:r>
            <a:r>
              <a:rPr lang="en-US" altLang="zh-CN" b="1" smtClean="0">
                <a:latin typeface="新宋体" panose="02010609030101010101" charset="-122"/>
                <a:ea typeface="新宋体" panose="02010609030101010101" charset="-122"/>
              </a:rPr>
              <a:t>5</a:t>
            </a:r>
            <a:r>
              <a:rPr lang="zh-CN" altLang="en-US" b="1" smtClean="0">
                <a:latin typeface="新宋体" panose="02010609030101010101" charset="-122"/>
                <a:ea typeface="新宋体" panose="02010609030101010101" charset="-122"/>
              </a:rPr>
              <a:t>分，是否可以用贪心算法？</a:t>
            </a:r>
            <a:endParaRPr lang="zh-CN" altLang="en-US"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BE4882-04F0-469D-B856-DA64C25B28CD}" type="slidenum">
              <a:rPr lang="en-US" altLang="zh-CN"/>
            </a:fld>
            <a:endParaRPr lang="en-US" altLang="zh-CN"/>
          </a:p>
        </p:txBody>
      </p:sp>
      <p:sp>
        <p:nvSpPr>
          <p:cNvPr id="43011"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4.3 </a:t>
            </a:r>
            <a:r>
              <a:rPr lang="zh-CN" altLang="en-US" smtClean="0">
                <a:latin typeface="黑体" panose="02010609060101010101" pitchFamily="2" charset="-122"/>
                <a:ea typeface="黑体" panose="02010609060101010101" pitchFamily="2" charset="-122"/>
              </a:rPr>
              <a:t>最优装载</a:t>
            </a:r>
            <a:endParaRPr lang="zh-CN" altLang="en-US" smtClean="0">
              <a:latin typeface="黑体" panose="02010609060101010101" pitchFamily="2" charset="-122"/>
              <a:ea typeface="黑体" panose="02010609060101010101" pitchFamily="2" charset="-122"/>
            </a:endParaRPr>
          </a:p>
        </p:txBody>
      </p:sp>
      <p:sp>
        <p:nvSpPr>
          <p:cNvPr id="43012"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100" smtClean="0">
                <a:solidFill>
                  <a:srgbClr val="000000"/>
                </a:solidFill>
                <a:latin typeface="新宋体" panose="02010609030101010101" charset="-122"/>
                <a:ea typeface="新宋体" panose="02010609030101010101" charset="-122"/>
              </a:rPr>
              <a:t>     	</a:t>
            </a:r>
            <a:r>
              <a:rPr lang="zh-CN" altLang="en-US" sz="2400" b="1" smtClean="0">
                <a:solidFill>
                  <a:srgbClr val="000000"/>
                </a:solidFill>
                <a:latin typeface="新宋体" panose="02010609030101010101" charset="-122"/>
                <a:ea typeface="新宋体" panose="02010609030101010101" charset="-122"/>
              </a:rPr>
              <a:t>有一批集装箱要装上一艘载重量为</a:t>
            </a:r>
            <a:r>
              <a:rPr lang="en-US" altLang="zh-CN" sz="2400" b="1" smtClean="0">
                <a:solidFill>
                  <a:srgbClr val="000000"/>
                </a:solidFill>
                <a:latin typeface="新宋体" panose="02010609030101010101" charset="-122"/>
                <a:ea typeface="新宋体" panose="02010609030101010101" charset="-122"/>
              </a:rPr>
              <a:t>c</a:t>
            </a:r>
            <a:r>
              <a:rPr lang="zh-CN" altLang="en-US" sz="2400" b="1" smtClean="0">
                <a:solidFill>
                  <a:srgbClr val="000000"/>
                </a:solidFill>
                <a:latin typeface="新宋体" panose="02010609030101010101" charset="-122"/>
                <a:ea typeface="新宋体" panose="02010609030101010101" charset="-122"/>
              </a:rPr>
              <a:t>的轮船。其中集装箱</a:t>
            </a:r>
            <a:r>
              <a:rPr lang="en-US" altLang="zh-CN" sz="2400" b="1" smtClean="0">
                <a:solidFill>
                  <a:srgbClr val="000000"/>
                </a:solidFill>
                <a:latin typeface="新宋体" panose="02010609030101010101" charset="-122"/>
                <a:ea typeface="新宋体" panose="02010609030101010101" charset="-122"/>
              </a:rPr>
              <a:t>i</a:t>
            </a:r>
            <a:r>
              <a:rPr lang="zh-CN" altLang="en-US" sz="2400" b="1" smtClean="0">
                <a:solidFill>
                  <a:srgbClr val="000000"/>
                </a:solidFill>
                <a:latin typeface="新宋体" panose="02010609030101010101" charset="-122"/>
                <a:ea typeface="新宋体" panose="02010609030101010101" charset="-122"/>
              </a:rPr>
              <a:t>的重量为</a:t>
            </a:r>
            <a:r>
              <a:rPr lang="en-US" altLang="zh-CN" sz="2400" b="1" smtClean="0">
                <a:solidFill>
                  <a:srgbClr val="000000"/>
                </a:solidFill>
                <a:latin typeface="新宋体" panose="02010609030101010101" charset="-122"/>
                <a:ea typeface="新宋体" panose="02010609030101010101" charset="-122"/>
              </a:rPr>
              <a:t>Wi</a:t>
            </a:r>
            <a:r>
              <a:rPr lang="zh-CN" altLang="en-US" sz="2400" b="1" smtClean="0">
                <a:solidFill>
                  <a:srgbClr val="000000"/>
                </a:solidFill>
                <a:latin typeface="新宋体" panose="02010609030101010101" charset="-122"/>
                <a:ea typeface="新宋体" panose="02010609030101010101" charset="-122"/>
              </a:rPr>
              <a:t>。最优装载问题要求确定在装载体积不受限制的情况下，将尽可能多的集装箱装上轮船。</a:t>
            </a:r>
            <a:endParaRPr lang="zh-CN" altLang="en-US" sz="2400" b="1" smtClean="0">
              <a:solidFill>
                <a:srgbClr val="000000"/>
              </a:solidFill>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p>
          <a:p>
            <a:pPr eaLnBrk="1" hangingPunct="1">
              <a:buFont typeface="Wingdings" panose="05000000000000000000" pitchFamily="2" charset="2"/>
              <a:buNone/>
            </a:pPr>
            <a:r>
              <a:rPr lang="zh-CN" altLang="en-US" sz="2400" b="1" smtClean="0"/>
              <a:t>	</a:t>
            </a:r>
            <a:r>
              <a:rPr lang="zh-CN" altLang="en-US" sz="2400" b="1" smtClean="0">
                <a:solidFill>
                  <a:srgbClr val="000000"/>
                </a:solidFill>
                <a:latin typeface="新宋体" panose="02010609030101010101" charset="-122"/>
                <a:ea typeface="新宋体" panose="02010609030101010101" charset="-122"/>
              </a:rPr>
              <a:t>形式化描述如下：</a:t>
            </a:r>
            <a:endParaRPr lang="zh-CN" altLang="en-US" sz="2400" b="1" smtClean="0">
              <a:solidFill>
                <a:srgbClr val="000000"/>
              </a:solidFill>
              <a:latin typeface="新宋体" panose="02010609030101010101" charset="-122"/>
              <a:ea typeface="新宋体" panose="02010609030101010101" charset="-122"/>
            </a:endParaRPr>
          </a:p>
        </p:txBody>
      </p:sp>
      <p:pic>
        <p:nvPicPr>
          <p:cNvPr id="4301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8750" y="3860800"/>
            <a:ext cx="3960813"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FB3C2DA-BA46-45B4-902F-7950DBA90ECF}" type="slidenum">
              <a:rPr lang="en-US" altLang="zh-CN"/>
            </a:fld>
            <a:endParaRPr lang="en-US" altLang="zh-CN"/>
          </a:p>
        </p:txBody>
      </p:sp>
      <p:sp>
        <p:nvSpPr>
          <p:cNvPr id="44035"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4.3 </a:t>
            </a:r>
            <a:r>
              <a:rPr lang="zh-CN" altLang="en-US" smtClean="0">
                <a:latin typeface="黑体" panose="02010609060101010101" pitchFamily="2" charset="-122"/>
                <a:ea typeface="黑体" panose="02010609060101010101" pitchFamily="2" charset="-122"/>
              </a:rPr>
              <a:t>最优装载</a:t>
            </a:r>
            <a:endParaRPr lang="zh-CN" altLang="en-US" smtClean="0">
              <a:latin typeface="黑体" panose="02010609060101010101" pitchFamily="2" charset="-122"/>
              <a:ea typeface="黑体" panose="02010609060101010101" pitchFamily="2" charset="-122"/>
            </a:endParaRPr>
          </a:p>
        </p:txBody>
      </p:sp>
      <p:sp>
        <p:nvSpPr>
          <p:cNvPr id="44036" name="Rectangle 3"/>
          <p:cNvSpPr>
            <a:spLocks noGrp="1" noChangeArrowheads="1"/>
          </p:cNvSpPr>
          <p:nvPr>
            <p:ph type="body" idx="1"/>
          </p:nvPr>
        </p:nvSpPr>
        <p:spPr>
          <a:xfrm>
            <a:off x="457200" y="1719263"/>
            <a:ext cx="8229600" cy="2501900"/>
          </a:xfrm>
        </p:spPr>
        <p:txBody>
          <a:bodyPr/>
          <a:lstStyle/>
          <a:p>
            <a:pPr eaLnBrk="1" hangingPunct="1">
              <a:lnSpc>
                <a:spcPct val="90000"/>
              </a:lnSpc>
            </a:pPr>
            <a:r>
              <a:rPr lang="zh-CN" altLang="en-US" sz="2800" b="1" smtClean="0">
                <a:solidFill>
                  <a:srgbClr val="FF0000"/>
                </a:solidFill>
                <a:ea typeface="新宋体" panose="02010609030101010101" charset="-122"/>
              </a:rPr>
              <a:t>贪心策略：</a:t>
            </a:r>
            <a:r>
              <a:rPr lang="zh-CN" altLang="en-US" sz="2800" b="1" smtClean="0">
                <a:ea typeface="新宋体" panose="02010609030101010101" charset="-122"/>
              </a:rPr>
              <a:t>从剩下的货箱中，选择重量最小的货箱。这种选择次序可以保证所选的货箱总重量最小从而可以装载更多的货箱。根据这种贪心策略，首先选择最轻的货箱，然后选择次轻的货箱，如此下去直到所有货箱均装上船或者船上不能容纳其他任何一个货箱。</a:t>
            </a:r>
            <a:endParaRPr lang="zh-CN" altLang="en-US" sz="2800" b="1" smtClean="0">
              <a:ea typeface="新宋体" panose="02010609030101010101" charset="-122"/>
            </a:endParaRPr>
          </a:p>
        </p:txBody>
      </p:sp>
      <p:pic>
        <p:nvPicPr>
          <p:cNvPr id="4403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388" y="4221163"/>
            <a:ext cx="8785225"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9D4D592-3BBA-46D5-9C7A-2954B4F0E064}" type="slidenum">
              <a:rPr lang="en-US" altLang="zh-CN"/>
            </a:fld>
            <a:endParaRPr lang="en-US" altLang="zh-CN"/>
          </a:p>
        </p:txBody>
      </p:sp>
      <p:sp>
        <p:nvSpPr>
          <p:cNvPr id="45059"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4.3 </a:t>
            </a:r>
            <a:r>
              <a:rPr lang="zh-CN" altLang="en-US" smtClean="0">
                <a:latin typeface="黑体" panose="02010609060101010101" pitchFamily="2" charset="-122"/>
                <a:ea typeface="黑体" panose="02010609060101010101" pitchFamily="2" charset="-122"/>
              </a:rPr>
              <a:t>最优装载</a:t>
            </a:r>
            <a:endParaRPr lang="zh-CN" altLang="en-US" smtClean="0">
              <a:latin typeface="黑体" panose="02010609060101010101" pitchFamily="2" charset="-122"/>
              <a:ea typeface="黑体" panose="02010609060101010101" pitchFamily="2" charset="-122"/>
            </a:endParaRPr>
          </a:p>
        </p:txBody>
      </p:sp>
      <p:sp>
        <p:nvSpPr>
          <p:cNvPr id="45060"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kumimoji="1" lang="en-US" altLang="zh-CN" sz="2000" b="1" smtClean="0"/>
              <a:t>template&lt;class Type&gt;</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void Loading(int x[],  Type w[], Type c, int n)</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        int *t = new int [n+1];</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        Sort(w, t, n);</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        for (int i = 1; i &lt;= n; i++) x[i] = 0;</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        for (int i = 1; i &lt;= n &amp;&amp; w[t[i]] &lt;= c; i++) {x[t[i]] = 1; c -= w[t[i]];}</a:t>
            </a:r>
            <a:endParaRPr kumimoji="1" lang="en-US" altLang="zh-CN" sz="2000" b="1" smtClean="0"/>
          </a:p>
          <a:p>
            <a:pPr eaLnBrk="1" hangingPunct="1">
              <a:lnSpc>
                <a:spcPct val="150000"/>
              </a:lnSpc>
              <a:buFont typeface="Wingdings" panose="05000000000000000000" pitchFamily="2" charset="2"/>
              <a:buNone/>
            </a:pPr>
            <a:r>
              <a:rPr kumimoji="1" lang="en-US" altLang="zh-CN" sz="2000" b="1" smtClean="0"/>
              <a:t>}</a:t>
            </a:r>
            <a:endParaRPr kumimoji="1" lang="en-US" altLang="zh-CN" sz="2000" b="1" smtClean="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49D256A-271D-4E5C-A009-A42E1ED9F56D}" type="slidenum">
              <a:rPr lang="en-US" altLang="zh-CN"/>
            </a:fld>
            <a:endParaRPr lang="en-US" altLang="zh-CN"/>
          </a:p>
        </p:txBody>
      </p:sp>
      <p:sp>
        <p:nvSpPr>
          <p:cNvPr id="46083"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4.3 </a:t>
            </a:r>
            <a:r>
              <a:rPr lang="zh-CN" altLang="en-US" smtClean="0">
                <a:latin typeface="黑体" panose="02010609060101010101" pitchFamily="2" charset="-122"/>
                <a:ea typeface="黑体" panose="02010609060101010101" pitchFamily="2" charset="-122"/>
              </a:rPr>
              <a:t>最优装载</a:t>
            </a:r>
            <a:endParaRPr lang="zh-CN" altLang="en-US" smtClean="0">
              <a:latin typeface="黑体" panose="02010609060101010101" pitchFamily="2" charset="-122"/>
              <a:ea typeface="黑体" panose="02010609060101010101" pitchFamily="2" charset="-122"/>
            </a:endParaRPr>
          </a:p>
        </p:txBody>
      </p:sp>
      <p:sp>
        <p:nvSpPr>
          <p:cNvPr id="46084" name="Rectangle 3"/>
          <p:cNvSpPr>
            <a:spLocks noGrp="1" noChangeArrowheads="1"/>
          </p:cNvSpPr>
          <p:nvPr>
            <p:ph type="body" idx="1"/>
          </p:nvPr>
        </p:nvSpPr>
        <p:spPr>
          <a:xfrm>
            <a:off x="684213" y="2100263"/>
            <a:ext cx="7772400" cy="4003675"/>
          </a:xfrm>
        </p:spPr>
        <p:txBody>
          <a:bodyPr/>
          <a:lstStyle/>
          <a:p>
            <a:pPr eaLnBrk="1" hangingPunct="1">
              <a:lnSpc>
                <a:spcPct val="80000"/>
              </a:lnSpc>
              <a:buFont typeface="Wingdings" panose="05000000000000000000" pitchFamily="2" charset="2"/>
              <a:buNone/>
            </a:pPr>
            <a:r>
              <a:rPr lang="en-US" altLang="zh-CN" sz="2800" b="1" smtClean="0">
                <a:solidFill>
                  <a:schemeClr val="accent2"/>
                </a:solidFill>
                <a:latin typeface="黑体" panose="02010609060101010101" pitchFamily="2" charset="-122"/>
                <a:ea typeface="黑体" panose="02010609060101010101" pitchFamily="2" charset="-122"/>
              </a:rPr>
              <a:t>2</a:t>
            </a:r>
            <a:r>
              <a:rPr lang="zh-CN" altLang="en-US" sz="2800" b="1" smtClean="0">
                <a:solidFill>
                  <a:schemeClr val="accent2"/>
                </a:solidFill>
                <a:latin typeface="黑体" panose="02010609060101010101" pitchFamily="2" charset="-122"/>
                <a:ea typeface="黑体" panose="02010609060101010101" pitchFamily="2" charset="-122"/>
              </a:rPr>
              <a:t>、贪心选择性质</a:t>
            </a:r>
            <a:endParaRPr lang="zh-CN" altLang="en-US" sz="2800" b="1" smtClean="0">
              <a:solidFill>
                <a:schemeClr val="accent2"/>
              </a:solidFill>
              <a:latin typeface="黑体" panose="02010609060101010101" pitchFamily="2" charset="-122"/>
              <a:ea typeface="黑体" panose="02010609060101010101" pitchFamily="2" charset="-122"/>
            </a:endParaRPr>
          </a:p>
          <a:p>
            <a:pPr eaLnBrk="1" hangingPunct="1">
              <a:lnSpc>
                <a:spcPct val="8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可以证明最优装载问题具有贪心选择性质。</a:t>
            </a:r>
            <a:endParaRPr lang="zh-CN" altLang="en-US" sz="2400" b="1" smtClean="0">
              <a:latin typeface="新宋体" panose="02010609030101010101" charset="-122"/>
              <a:ea typeface="新宋体" panose="02010609030101010101" charset="-122"/>
            </a:endParaRPr>
          </a:p>
          <a:p>
            <a:pPr eaLnBrk="1" hangingPunct="1">
              <a:lnSpc>
                <a:spcPct val="8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a:t>
            </a:r>
            <a:endParaRPr lang="zh-CN" altLang="en-US" sz="2400" b="1" smtClean="0">
              <a:latin typeface="新宋体" panose="02010609030101010101" charset="-122"/>
              <a:ea typeface="新宋体" panose="02010609030101010101" charset="-122"/>
            </a:endParaRPr>
          </a:p>
          <a:p>
            <a:pPr eaLnBrk="1" hangingPunct="1">
              <a:lnSpc>
                <a:spcPct val="80000"/>
              </a:lnSpc>
              <a:buFont typeface="Wingdings" panose="05000000000000000000" pitchFamily="2" charset="2"/>
              <a:buNone/>
            </a:pPr>
            <a:r>
              <a:rPr lang="en-US" altLang="zh-CN" sz="2800" b="1" smtClean="0">
                <a:solidFill>
                  <a:schemeClr val="accent2"/>
                </a:solidFill>
                <a:latin typeface="黑体" panose="02010609060101010101" pitchFamily="2" charset="-122"/>
                <a:ea typeface="黑体" panose="02010609060101010101" pitchFamily="2" charset="-122"/>
              </a:rPr>
              <a:t>3</a:t>
            </a:r>
            <a:r>
              <a:rPr lang="zh-CN" altLang="en-US" sz="2800" b="1" smtClean="0">
                <a:solidFill>
                  <a:schemeClr val="accent2"/>
                </a:solidFill>
                <a:latin typeface="黑体" panose="02010609060101010101" pitchFamily="2" charset="-122"/>
                <a:ea typeface="黑体" panose="02010609060101010101" pitchFamily="2" charset="-122"/>
              </a:rPr>
              <a:t>、最优子结构性质</a:t>
            </a:r>
            <a:endParaRPr lang="zh-CN" altLang="en-US" sz="2800" b="1" smtClean="0">
              <a:solidFill>
                <a:schemeClr val="accent2"/>
              </a:solidFill>
              <a:latin typeface="黑体" panose="02010609060101010101" pitchFamily="2" charset="-122"/>
              <a:ea typeface="黑体" panose="02010609060101010101" pitchFamily="2" charset="-122"/>
            </a:endParaRPr>
          </a:p>
          <a:p>
            <a:pPr eaLnBrk="1" hangingPunct="1">
              <a:lnSpc>
                <a:spcPct val="80000"/>
              </a:lnSpc>
              <a:buFont typeface="Wingdings" panose="05000000000000000000" pitchFamily="2" charset="2"/>
              <a:buNone/>
            </a:pPr>
            <a:r>
              <a:rPr lang="zh-CN" altLang="en-US" sz="2400" smtClean="0">
                <a:ea typeface="新宋体" panose="02010609030101010101" charset="-122"/>
              </a:rPr>
              <a:t>	</a:t>
            </a:r>
            <a:r>
              <a:rPr lang="zh-CN" altLang="en-US" sz="2400" b="1" smtClean="0">
                <a:ea typeface="新宋体" panose="02010609030101010101" charset="-122"/>
              </a:rPr>
              <a:t>最优装载问题具有最优子结构性质。</a:t>
            </a:r>
            <a:endParaRPr lang="zh-CN" altLang="en-US" sz="2400" b="1" smtClean="0">
              <a:ea typeface="新宋体" panose="02010609030101010101" charset="-122"/>
            </a:endParaRPr>
          </a:p>
          <a:p>
            <a:pPr eaLnBrk="1" hangingPunct="1">
              <a:lnSpc>
                <a:spcPct val="80000"/>
              </a:lnSpc>
              <a:buFont typeface="Wingdings" panose="05000000000000000000" pitchFamily="2" charset="2"/>
              <a:buNone/>
            </a:pPr>
            <a:endParaRPr lang="zh-CN" altLang="en-US" sz="2400" b="1" smtClean="0">
              <a:ea typeface="新宋体" panose="02010609030101010101" charset="-122"/>
            </a:endParaRPr>
          </a:p>
          <a:p>
            <a:pPr eaLnBrk="1" hangingPunct="1">
              <a:lnSpc>
                <a:spcPct val="8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由最优装载问题的贪心选择性质和最优子结构性质，容易证明算法</a:t>
            </a:r>
            <a:r>
              <a:rPr lang="en-US" altLang="zh-CN" sz="2400" b="1" smtClean="0">
                <a:latin typeface="新宋体" panose="02010609030101010101" charset="-122"/>
                <a:ea typeface="新宋体" panose="02010609030101010101" charset="-122"/>
              </a:rPr>
              <a:t>loading</a:t>
            </a:r>
            <a:r>
              <a:rPr lang="zh-CN" altLang="en-US" sz="2400" b="1" smtClean="0">
                <a:latin typeface="新宋体" panose="02010609030101010101" charset="-122"/>
                <a:ea typeface="新宋体" panose="02010609030101010101" charset="-122"/>
              </a:rPr>
              <a:t>的正确性。</a:t>
            </a:r>
            <a:endParaRPr lang="zh-CN" altLang="en-US" sz="2400" b="1" smtClean="0">
              <a:latin typeface="新宋体" panose="02010609030101010101" charset="-122"/>
              <a:ea typeface="新宋体" panose="02010609030101010101" charset="-122"/>
            </a:endParaRPr>
          </a:p>
          <a:p>
            <a:pPr eaLnBrk="1" hangingPunct="1">
              <a:lnSpc>
                <a:spcPct val="8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算法</a:t>
            </a:r>
            <a:r>
              <a:rPr lang="en-US" altLang="zh-CN" sz="2400" b="1" smtClean="0">
                <a:latin typeface="新宋体" panose="02010609030101010101" charset="-122"/>
                <a:ea typeface="新宋体" panose="02010609030101010101" charset="-122"/>
              </a:rPr>
              <a:t>loading</a:t>
            </a:r>
            <a:r>
              <a:rPr lang="zh-CN" altLang="en-US" sz="2400" b="1" smtClean="0">
                <a:latin typeface="新宋体" panose="02010609030101010101" charset="-122"/>
                <a:ea typeface="新宋体" panose="02010609030101010101" charset="-122"/>
              </a:rPr>
              <a:t>的主要计算量在于将集装箱依其重量从小到大排序，故算法所需的计算时间为 </a:t>
            </a:r>
            <a:r>
              <a:rPr lang="en-US" altLang="zh-CN" sz="2400" b="1" smtClean="0">
                <a:solidFill>
                  <a:schemeClr val="accent2"/>
                </a:solidFill>
                <a:latin typeface="新宋体" panose="02010609030101010101" charset="-122"/>
                <a:ea typeface="新宋体" panose="02010609030101010101" charset="-122"/>
              </a:rPr>
              <a:t>O(nlogn)</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lnSpc>
                <a:spcPct val="80000"/>
              </a:lnSpc>
              <a:buFont typeface="Wingdings" panose="05000000000000000000" pitchFamily="2" charset="2"/>
              <a:buNone/>
            </a:pPr>
            <a:r>
              <a:rPr lang="zh-CN" altLang="en-US" sz="2400" b="1" smtClean="0"/>
              <a:t> </a:t>
            </a:r>
            <a:endParaRPr lang="zh-CN" altLang="en-US" sz="2400" b="1"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4.4 </a:t>
            </a:r>
            <a:r>
              <a:rPr lang="zh-CN" altLang="en-US" smtClean="0">
                <a:latin typeface="黑体" panose="02010609060101010101" pitchFamily="2" charset="-122"/>
                <a:ea typeface="黑体" panose="02010609060101010101" pitchFamily="2" charset="-122"/>
              </a:rPr>
              <a:t>哈夫曼编码</a:t>
            </a:r>
            <a:endParaRPr lang="zh-CN" altLang="en-US" smtClean="0">
              <a:latin typeface="黑体" panose="02010609060101010101" pitchFamily="2" charset="-122"/>
              <a:ea typeface="黑体" panose="02010609060101010101" pitchFamily="2" charset="-122"/>
            </a:endParaRPr>
          </a:p>
        </p:txBody>
      </p:sp>
      <p:sp>
        <p:nvSpPr>
          <p:cNvPr id="1024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solidFill>
                  <a:schemeClr val="accent2"/>
                </a:solidFill>
                <a:latin typeface="新宋体" panose="02010609030101010101" charset="-122"/>
                <a:ea typeface="新宋体" panose="02010609030101010101" charset="-122"/>
              </a:rPr>
              <a:t>哈夫曼编码</a:t>
            </a:r>
            <a:r>
              <a:rPr lang="zh-CN" altLang="en-US" sz="2400" b="1" smtClean="0">
                <a:latin typeface="新宋体" panose="02010609030101010101" charset="-122"/>
                <a:ea typeface="新宋体" panose="02010609030101010101" charset="-122"/>
              </a:rPr>
              <a:t>是广泛地用于数据文件压缩的十分有效的编码方法。其压缩率通常在</a:t>
            </a:r>
            <a:r>
              <a:rPr lang="en-US" altLang="zh-CN" sz="2400" b="1" smtClean="0">
                <a:latin typeface="新宋体" panose="02010609030101010101" charset="-122"/>
                <a:ea typeface="新宋体" panose="02010609030101010101" charset="-122"/>
              </a:rPr>
              <a:t>20%</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90%</a:t>
            </a:r>
            <a:r>
              <a:rPr lang="zh-CN" altLang="en-US" sz="2400" b="1" smtClean="0">
                <a:latin typeface="新宋体" panose="02010609030101010101" charset="-122"/>
                <a:ea typeface="新宋体" panose="02010609030101010101" charset="-122"/>
              </a:rPr>
              <a:t>之间。哈夫曼编码算法用字符在文件中出现的频率表来建立一个用</a:t>
            </a:r>
            <a:r>
              <a:rPr lang="en-US" altLang="zh-CN" sz="2400" b="1" smtClean="0">
                <a:latin typeface="新宋体" panose="02010609030101010101" charset="-122"/>
                <a:ea typeface="新宋体" panose="02010609030101010101" charset="-122"/>
              </a:rPr>
              <a:t>0</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1</a:t>
            </a:r>
            <a:r>
              <a:rPr lang="zh-CN" altLang="en-US" sz="2400" b="1" smtClean="0">
                <a:latin typeface="新宋体" panose="02010609030101010101" charset="-122"/>
                <a:ea typeface="新宋体" panose="02010609030101010101" charset="-122"/>
              </a:rPr>
              <a:t>串表示各字符的最优表示方式。</a:t>
            </a:r>
            <a:endParaRPr lang="zh-CN" altLang="en-US" sz="24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给出现频率高的字符较短的编码，出现频率较低的字符以较长的编码，可以大大缩短总码长。</a:t>
            </a:r>
            <a:endParaRPr lang="zh-CN" altLang="en-US" sz="24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en-US" altLang="zh-CN" sz="2800" b="1" smtClean="0">
                <a:solidFill>
                  <a:schemeClr val="accent2"/>
                </a:solidFill>
                <a:latin typeface="黑体" panose="02010609060101010101" pitchFamily="2" charset="-122"/>
                <a:ea typeface="黑体" panose="02010609060101010101" pitchFamily="2" charset="-122"/>
              </a:rPr>
              <a:t>1</a:t>
            </a:r>
            <a:r>
              <a:rPr lang="zh-CN" altLang="en-US" sz="2800" b="1" smtClean="0">
                <a:solidFill>
                  <a:schemeClr val="accent2"/>
                </a:solidFill>
                <a:latin typeface="黑体" panose="02010609060101010101" pitchFamily="2" charset="-122"/>
                <a:ea typeface="黑体" panose="02010609060101010101" pitchFamily="2" charset="-122"/>
              </a:rPr>
              <a:t>、前缀码</a:t>
            </a:r>
            <a:endParaRPr lang="zh-CN" altLang="en-US" sz="2800" b="1" smtClean="0">
              <a:solidFill>
                <a:schemeClr val="accent2"/>
              </a:solidFill>
              <a:latin typeface="黑体" panose="02010609060101010101" pitchFamily="2" charset="-122"/>
              <a:ea typeface="黑体" panose="02010609060101010101" pitchFamily="2" charset="-122"/>
            </a:endParaRPr>
          </a:p>
          <a:p>
            <a:pPr eaLnBrk="1" hangingPunct="1">
              <a:lnSpc>
                <a:spcPct val="9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对每一个字符规定一个</a:t>
            </a:r>
            <a:r>
              <a:rPr lang="en-US" altLang="zh-CN" sz="2400" b="1" smtClean="0">
                <a:latin typeface="新宋体" panose="02010609030101010101" charset="-122"/>
                <a:ea typeface="新宋体" panose="02010609030101010101" charset="-122"/>
              </a:rPr>
              <a:t>0,1</a:t>
            </a:r>
            <a:r>
              <a:rPr lang="zh-CN" altLang="en-US" sz="2400" b="1" smtClean="0">
                <a:latin typeface="新宋体" panose="02010609030101010101" charset="-122"/>
                <a:ea typeface="新宋体" panose="02010609030101010101" charset="-122"/>
              </a:rPr>
              <a:t>串作为其代码，并要求任一字符的代码都不是其它字符代码的前缀。这种编码称为</a:t>
            </a:r>
            <a:r>
              <a:rPr lang="zh-CN" altLang="en-US" sz="2400" b="1" smtClean="0">
                <a:solidFill>
                  <a:schemeClr val="accent2"/>
                </a:solidFill>
                <a:latin typeface="新宋体" panose="02010609030101010101" charset="-122"/>
                <a:ea typeface="新宋体" panose="02010609030101010101" charset="-122"/>
              </a:rPr>
              <a:t>前缀码</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7"/>
          <p:cNvSpPr>
            <a:spLocks noGrp="1" noChangeArrowheads="1"/>
          </p:cNvSpPr>
          <p:nvPr>
            <p:ph type="title"/>
          </p:nvPr>
        </p:nvSpPr>
        <p:spPr/>
        <p:txBody>
          <a:bodyPr/>
          <a:lstStyle/>
          <a:p>
            <a:pPr eaLnBrk="1" hangingPunct="1"/>
            <a:r>
              <a:rPr lang="zh-CN" altLang="en-US" smtClean="0"/>
              <a:t>一个例子</a:t>
            </a:r>
            <a:endParaRPr lang="zh-CN" altLang="en-US" smtClean="0"/>
          </a:p>
        </p:txBody>
      </p:sp>
      <p:sp>
        <p:nvSpPr>
          <p:cNvPr id="11267" name="Rectangle 4"/>
          <p:cNvSpPr>
            <a:spLocks noGrp="1" noChangeArrowheads="1"/>
          </p:cNvSpPr>
          <p:nvPr>
            <p:ph type="body" sz="half" idx="1"/>
          </p:nvPr>
        </p:nvSpPr>
        <p:spPr>
          <a:xfrm>
            <a:off x="457200" y="1484313"/>
            <a:ext cx="8507413" cy="5113337"/>
          </a:xfrm>
          <a:noFill/>
        </p:spPr>
        <p:txBody>
          <a:bodyPr/>
          <a:lstStyle/>
          <a:p>
            <a:pPr eaLnBrk="1" hangingPunct="1"/>
            <a:r>
              <a:rPr lang="en-US" altLang="zh-CN" sz="2800" smtClean="0">
                <a:latin typeface="Times New Roman" panose="02020603050405020304" pitchFamily="18" charset="0"/>
              </a:rPr>
              <a:t>A character-coding problem. A data file of 100,000 characters contains only the characters a–f, with the frequencies:</a:t>
            </a:r>
            <a:endParaRPr lang="en-US" altLang="zh-CN" sz="2800" smtClean="0">
              <a:latin typeface="Times New Roman" panose="02020603050405020304" pitchFamily="18" charset="0"/>
            </a:endParaRPr>
          </a:p>
          <a:p>
            <a:pPr lvl="1" eaLnBrk="1" hangingPunct="1"/>
            <a:endParaRPr lang="en-US" altLang="zh-CN" sz="2800" smtClean="0">
              <a:latin typeface="Times New Roman" panose="02020603050405020304" pitchFamily="18" charset="0"/>
            </a:endParaRPr>
          </a:p>
          <a:p>
            <a:pPr lvl="1" eaLnBrk="1" hangingPunct="1"/>
            <a:endParaRPr lang="en-US" altLang="zh-CN" sz="3200" smtClean="0"/>
          </a:p>
          <a:p>
            <a:pPr lvl="1" eaLnBrk="1" hangingPunct="1"/>
            <a:endParaRPr lang="en-US" altLang="zh-CN" sz="3200" smtClean="0"/>
          </a:p>
          <a:p>
            <a:pPr eaLnBrk="1" hangingPunct="1"/>
            <a:r>
              <a:rPr lang="en-US" altLang="zh-CN" sz="3200" smtClean="0"/>
              <a:t>How much do we save in this case?</a:t>
            </a:r>
            <a:endParaRPr lang="en-US" altLang="zh-CN" sz="3200" smtClean="0"/>
          </a:p>
          <a:p>
            <a:pPr lvl="1" eaLnBrk="1" hangingPunct="1"/>
            <a:r>
              <a:rPr lang="en-US" altLang="zh-CN" sz="2800" smtClean="0">
                <a:solidFill>
                  <a:srgbClr val="FF0000"/>
                </a:solidFill>
                <a:latin typeface="Times New Roman" panose="02020603050405020304" pitchFamily="18" charset="0"/>
              </a:rPr>
              <a:t>Fixed-length code</a:t>
            </a:r>
            <a:r>
              <a:rPr lang="en-US" altLang="zh-CN" sz="2800" smtClean="0">
                <a:latin typeface="Times New Roman" panose="02020603050405020304" pitchFamily="18" charset="0"/>
              </a:rPr>
              <a:t>: 100,000×3=300,000</a:t>
            </a:r>
            <a:endParaRPr lang="en-US" altLang="zh-CN" sz="2800" smtClean="0">
              <a:latin typeface="Times New Roman" panose="02020603050405020304" pitchFamily="18" charset="0"/>
            </a:endParaRPr>
          </a:p>
          <a:p>
            <a:pPr lvl="1" eaLnBrk="1" hangingPunct="1"/>
            <a:r>
              <a:rPr lang="en-US" altLang="zh-CN" sz="2800" smtClean="0">
                <a:solidFill>
                  <a:srgbClr val="FF0000"/>
                </a:solidFill>
                <a:latin typeface="Times New Roman" panose="02020603050405020304" pitchFamily="18" charset="0"/>
              </a:rPr>
              <a:t>Variable-length code</a:t>
            </a:r>
            <a:r>
              <a:rPr lang="en-US" altLang="zh-CN" sz="2800" smtClean="0">
                <a:latin typeface="Times New Roman" panose="02020603050405020304" pitchFamily="18" charset="0"/>
              </a:rPr>
              <a:t>: (45×1 + 13×3 + 12×3 + 16×3 + 9×4 + 5×4) ×1,000 = 224,000 bits</a:t>
            </a:r>
            <a:endParaRPr lang="en-US" altLang="zh-CN" sz="2800" smtClean="0">
              <a:latin typeface="Times New Roman" panose="02020603050405020304" pitchFamily="18" charset="0"/>
            </a:endParaRPr>
          </a:p>
        </p:txBody>
      </p:sp>
      <p:graphicFrame>
        <p:nvGraphicFramePr>
          <p:cNvPr id="48185" name="Group 57"/>
          <p:cNvGraphicFramePr>
            <a:graphicFrameLocks noGrp="1"/>
          </p:cNvGraphicFramePr>
          <p:nvPr>
            <p:ph sz="half" idx="2"/>
          </p:nvPr>
        </p:nvGraphicFramePr>
        <p:xfrm>
          <a:off x="827088" y="2852738"/>
          <a:ext cx="7489825" cy="1680845"/>
        </p:xfrm>
        <a:graphic>
          <a:graphicData uri="http://schemas.openxmlformats.org/drawingml/2006/table">
            <a:tbl>
              <a:tblPr/>
              <a:tblGrid>
                <a:gridCol w="3360737"/>
                <a:gridCol w="628650"/>
                <a:gridCol w="630238"/>
                <a:gridCol w="701675"/>
                <a:gridCol w="628650"/>
                <a:gridCol w="771525"/>
                <a:gridCol w="768350"/>
              </a:tblGrid>
              <a:tr h="18097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a</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b</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c</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d</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e</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rPr>
                        <a:t>f</a:t>
                      </a:r>
                      <a:endParaRPr kumimoji="0" lang="en-US" altLang="zh-CN" sz="2000" b="0" i="1"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21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Frequency</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13</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12</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16</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Fixed-length codeword</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000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001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010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011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528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Variable-length codeword</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1101</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1100</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sz="4400" b="0" smtClean="0">
                <a:solidFill>
                  <a:schemeClr val="accent2"/>
                </a:solidFill>
                <a:latin typeface="黑体" panose="02010609060101010101" pitchFamily="2" charset="-122"/>
                <a:ea typeface="黑体" panose="02010609060101010101" pitchFamily="2" charset="-122"/>
              </a:rPr>
              <a:t>前缀码</a:t>
            </a:r>
            <a:endParaRPr lang="zh-CN" altLang="en-US" sz="4400" b="0" smtClean="0">
              <a:solidFill>
                <a:schemeClr val="accent2"/>
              </a:solidFill>
              <a:latin typeface="黑体" panose="02010609060101010101" pitchFamily="2" charset="-122"/>
              <a:ea typeface="黑体" panose="02010609060101010101" pitchFamily="2" charset="-122"/>
            </a:endParaRPr>
          </a:p>
        </p:txBody>
      </p:sp>
      <p:sp>
        <p:nvSpPr>
          <p:cNvPr id="12291" name="Rectangle 3"/>
          <p:cNvSpPr>
            <a:spLocks noGrp="1" noChangeArrowheads="1"/>
          </p:cNvSpPr>
          <p:nvPr>
            <p:ph type="body" idx="1"/>
          </p:nvPr>
        </p:nvSpPr>
        <p:spPr/>
        <p:txBody>
          <a:bodyPr/>
          <a:lstStyle/>
          <a:p>
            <a:pPr eaLnBrk="1" hangingPunct="1"/>
            <a:r>
              <a:rPr lang="en-US" altLang="zh-CN" smtClean="0">
                <a:solidFill>
                  <a:schemeClr val="hlink"/>
                </a:solidFill>
              </a:rPr>
              <a:t>Prefix codes</a:t>
            </a:r>
            <a:r>
              <a:rPr lang="en-US" altLang="zh-CN" smtClean="0"/>
              <a:t>: no codeword is also a prefix of some other codeword.</a:t>
            </a:r>
            <a:endParaRPr lang="en-US" altLang="zh-CN" smtClean="0"/>
          </a:p>
          <a:p>
            <a:pPr lvl="1" eaLnBrk="1" hangingPunct="1"/>
            <a:r>
              <a:rPr lang="en-US" altLang="zh-CN" smtClean="0"/>
              <a:t>It can be shown that optimal coding can be done with prefix code</a:t>
            </a:r>
            <a:endParaRPr lang="en-US" altLang="zh-CN" smtClean="0"/>
          </a:p>
          <a:p>
            <a:pPr eaLnBrk="1" hangingPunct="1"/>
            <a:r>
              <a:rPr lang="en-US" altLang="zh-CN" smtClean="0">
                <a:solidFill>
                  <a:schemeClr val="hlink"/>
                </a:solidFill>
              </a:rPr>
              <a:t>Encoding:</a:t>
            </a:r>
            <a:r>
              <a:rPr lang="en-US" altLang="zh-CN" smtClean="0"/>
              <a:t> concatenate the codewords</a:t>
            </a:r>
            <a:endParaRPr lang="en-US" altLang="zh-CN" smtClean="0"/>
          </a:p>
          <a:p>
            <a:pPr eaLnBrk="1" hangingPunct="1">
              <a:buFont typeface="Wingdings" panose="05000000000000000000" pitchFamily="2" charset="2"/>
              <a:buNone/>
            </a:pPr>
            <a:r>
              <a:rPr lang="en-US" altLang="zh-CN" smtClean="0"/>
              <a:t>   representing each character of the file.</a:t>
            </a:r>
            <a:endParaRPr lang="en-US" altLang="zh-CN" smtClean="0"/>
          </a:p>
          <a:p>
            <a:pPr eaLnBrk="1" hangingPunct="1">
              <a:buFont typeface="Wingdings" panose="05000000000000000000" pitchFamily="2" charset="2"/>
              <a:buNone/>
            </a:pPr>
            <a:r>
              <a:rPr lang="en-US" altLang="zh-CN" smtClean="0"/>
              <a:t>   abc→0</a:t>
            </a:r>
            <a:r>
              <a:rPr lang="en-US" altLang="zh-CN" smtClean="0">
                <a:latin typeface="Times New Roman" panose="02020603050405020304" pitchFamily="18" charset="0"/>
              </a:rPr>
              <a:t>·</a:t>
            </a:r>
            <a:r>
              <a:rPr lang="en-US" altLang="zh-CN" smtClean="0"/>
              <a:t>101</a:t>
            </a:r>
            <a:r>
              <a:rPr lang="en-US" altLang="zh-CN" smtClean="0">
                <a:latin typeface="Times New Roman" panose="02020603050405020304" pitchFamily="18" charset="0"/>
              </a:rPr>
              <a:t>·</a:t>
            </a:r>
            <a:r>
              <a:rPr lang="en-US" altLang="zh-CN" smtClean="0"/>
              <a:t>100 → 0101100.</a:t>
            </a:r>
            <a:endParaRPr lang="en-US" altLang="zh-CN" smtClean="0"/>
          </a:p>
          <a:p>
            <a:pPr eaLnBrk="1" hangingPunct="1"/>
            <a:r>
              <a:rPr lang="en-US" altLang="zh-CN" smtClean="0"/>
              <a:t>Prefix codes are desirable because they simplify </a:t>
            </a:r>
            <a:r>
              <a:rPr lang="en-US" altLang="zh-CN" smtClean="0">
                <a:solidFill>
                  <a:schemeClr val="hlink"/>
                </a:solidFill>
              </a:rPr>
              <a:t>decoding</a:t>
            </a:r>
            <a:r>
              <a:rPr lang="en-US" altLang="zh-CN" smtClean="0"/>
              <a:t>.</a:t>
            </a:r>
            <a:endParaRPr lang="en-US" altLang="zh-CN" smtClean="0"/>
          </a:p>
          <a:p>
            <a:pPr eaLnBrk="1" hangingPunct="1">
              <a:buFont typeface="Wingdings" panose="05000000000000000000" pitchFamily="2" charset="2"/>
              <a:buNone/>
            </a:pPr>
            <a:r>
              <a:rPr lang="en-US" altLang="zh-CN" smtClean="0"/>
              <a:t>   001011101→  0</a:t>
            </a:r>
            <a:r>
              <a:rPr lang="en-US" altLang="zh-CN" smtClean="0">
                <a:latin typeface="Times New Roman" panose="02020603050405020304" pitchFamily="18" charset="0"/>
              </a:rPr>
              <a:t>·</a:t>
            </a:r>
            <a:r>
              <a:rPr lang="en-US" altLang="zh-CN" smtClean="0"/>
              <a:t> 0</a:t>
            </a:r>
            <a:r>
              <a:rPr lang="en-US" altLang="zh-CN" smtClean="0">
                <a:latin typeface="Times New Roman" panose="02020603050405020304" pitchFamily="18" charset="0"/>
              </a:rPr>
              <a:t>·</a:t>
            </a:r>
            <a:r>
              <a:rPr lang="en-US" altLang="zh-CN" smtClean="0"/>
              <a:t>101</a:t>
            </a:r>
            <a:r>
              <a:rPr lang="en-US" altLang="zh-CN" smtClean="0">
                <a:latin typeface="Times New Roman" panose="02020603050405020304" pitchFamily="18" charset="0"/>
              </a:rPr>
              <a:t>·</a:t>
            </a:r>
            <a:r>
              <a:rPr lang="en-US" altLang="zh-CN" smtClean="0"/>
              <a:t>1101→ aabe.</a:t>
            </a:r>
            <a:endParaRPr lang="en-US" altLang="zh-CN" smtClean="0"/>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CN" smtClean="0"/>
              <a:t>The optimal prefix code</a:t>
            </a:r>
            <a:endParaRPr lang="en-US" altLang="zh-CN" smtClean="0"/>
          </a:p>
        </p:txBody>
      </p:sp>
      <p:sp>
        <p:nvSpPr>
          <p:cNvPr id="13315" name="Rectangle 3"/>
          <p:cNvSpPr>
            <a:spLocks noChangeArrowheads="1"/>
          </p:cNvSpPr>
          <p:nvPr/>
        </p:nvSpPr>
        <p:spPr bwMode="auto">
          <a:xfrm>
            <a:off x="2989263" y="4868863"/>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c:12</a:t>
            </a:r>
            <a:endParaRPr lang="en-US" altLang="zh-CN" sz="2400">
              <a:latin typeface="SWAstro" panose="02000400000000000000" charset="0"/>
            </a:endParaRPr>
          </a:p>
        </p:txBody>
      </p:sp>
      <p:sp>
        <p:nvSpPr>
          <p:cNvPr id="13316" name="Rectangle 4"/>
          <p:cNvSpPr>
            <a:spLocks noChangeArrowheads="1"/>
          </p:cNvSpPr>
          <p:nvPr/>
        </p:nvSpPr>
        <p:spPr bwMode="auto">
          <a:xfrm>
            <a:off x="3997325" y="4868863"/>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d:16</a:t>
            </a:r>
            <a:endParaRPr lang="en-US" altLang="zh-CN" sz="2400">
              <a:latin typeface="SWAstro" panose="02000400000000000000" charset="0"/>
            </a:endParaRPr>
          </a:p>
        </p:txBody>
      </p:sp>
      <p:sp>
        <p:nvSpPr>
          <p:cNvPr id="13317" name="Rectangle 5"/>
          <p:cNvSpPr>
            <a:spLocks noChangeArrowheads="1"/>
          </p:cNvSpPr>
          <p:nvPr/>
        </p:nvSpPr>
        <p:spPr bwMode="auto">
          <a:xfrm>
            <a:off x="782638" y="47879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a:45</a:t>
            </a:r>
            <a:endParaRPr lang="en-US" altLang="zh-CN" sz="2400">
              <a:latin typeface="SWAstro" panose="02000400000000000000" charset="0"/>
            </a:endParaRPr>
          </a:p>
        </p:txBody>
      </p:sp>
      <p:sp>
        <p:nvSpPr>
          <p:cNvPr id="13318" name="Rectangle 6"/>
          <p:cNvSpPr>
            <a:spLocks noChangeArrowheads="1"/>
          </p:cNvSpPr>
          <p:nvPr/>
        </p:nvSpPr>
        <p:spPr bwMode="auto">
          <a:xfrm>
            <a:off x="2001838" y="47879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b:13</a:t>
            </a:r>
            <a:endParaRPr lang="en-US" altLang="zh-CN" sz="2400">
              <a:latin typeface="SWAstro" panose="02000400000000000000" charset="0"/>
            </a:endParaRPr>
          </a:p>
        </p:txBody>
      </p:sp>
      <p:sp>
        <p:nvSpPr>
          <p:cNvPr id="13319" name="Rectangle 7"/>
          <p:cNvSpPr>
            <a:spLocks noChangeArrowheads="1"/>
          </p:cNvSpPr>
          <p:nvPr/>
        </p:nvSpPr>
        <p:spPr bwMode="auto">
          <a:xfrm>
            <a:off x="5076825" y="4868863"/>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e:9</a:t>
            </a:r>
            <a:endParaRPr lang="en-US" altLang="zh-CN" sz="2400">
              <a:latin typeface="SWAstro" panose="02000400000000000000" charset="0"/>
            </a:endParaRPr>
          </a:p>
        </p:txBody>
      </p:sp>
      <p:sp>
        <p:nvSpPr>
          <p:cNvPr id="13320" name="Rectangle 8"/>
          <p:cNvSpPr>
            <a:spLocks noChangeArrowheads="1"/>
          </p:cNvSpPr>
          <p:nvPr/>
        </p:nvSpPr>
        <p:spPr bwMode="auto">
          <a:xfrm>
            <a:off x="6013450" y="4868863"/>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f:5</a:t>
            </a:r>
            <a:endParaRPr lang="en-US" altLang="zh-CN" sz="2400">
              <a:latin typeface="SWAstro" panose="02000400000000000000" charset="0"/>
            </a:endParaRPr>
          </a:p>
        </p:txBody>
      </p:sp>
      <p:sp>
        <p:nvSpPr>
          <p:cNvPr id="13321" name="Oval 9"/>
          <p:cNvSpPr>
            <a:spLocks noChangeArrowheads="1"/>
          </p:cNvSpPr>
          <p:nvPr/>
        </p:nvSpPr>
        <p:spPr bwMode="auto">
          <a:xfrm>
            <a:off x="5508625" y="3933825"/>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14</a:t>
            </a:r>
            <a:endParaRPr lang="en-US" altLang="zh-CN" sz="2400">
              <a:solidFill>
                <a:schemeClr val="bg2"/>
              </a:solidFill>
              <a:latin typeface="SWAstro" panose="02000400000000000000" charset="0"/>
            </a:endParaRPr>
          </a:p>
        </p:txBody>
      </p:sp>
      <p:sp>
        <p:nvSpPr>
          <p:cNvPr id="13322" name="Line 10"/>
          <p:cNvSpPr>
            <a:spLocks noChangeShapeType="1"/>
          </p:cNvSpPr>
          <p:nvPr/>
        </p:nvSpPr>
        <p:spPr bwMode="auto">
          <a:xfrm flipH="1" flipV="1">
            <a:off x="4213225" y="4221163"/>
            <a:ext cx="215900"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23" name="Text Box 11"/>
          <p:cNvSpPr txBox="1">
            <a:spLocks noChangeArrowheads="1"/>
          </p:cNvSpPr>
          <p:nvPr/>
        </p:nvSpPr>
        <p:spPr bwMode="auto">
          <a:xfrm>
            <a:off x="4284663" y="429418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3324" name="Oval 12"/>
          <p:cNvSpPr>
            <a:spLocks noChangeArrowheads="1"/>
          </p:cNvSpPr>
          <p:nvPr/>
        </p:nvSpPr>
        <p:spPr bwMode="auto">
          <a:xfrm>
            <a:off x="1636713" y="40259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58</a:t>
            </a:r>
            <a:endParaRPr lang="en-US" altLang="zh-CN" sz="2400">
              <a:solidFill>
                <a:schemeClr val="bg2"/>
              </a:solidFill>
              <a:latin typeface="SWAstro" panose="02000400000000000000" charset="0"/>
            </a:endParaRPr>
          </a:p>
        </p:txBody>
      </p:sp>
      <p:sp>
        <p:nvSpPr>
          <p:cNvPr id="13325" name="Line 13"/>
          <p:cNvSpPr>
            <a:spLocks noChangeShapeType="1"/>
          </p:cNvSpPr>
          <p:nvPr/>
        </p:nvSpPr>
        <p:spPr bwMode="auto">
          <a:xfrm flipV="1">
            <a:off x="1179513" y="44069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26" name="Line 14"/>
          <p:cNvSpPr>
            <a:spLocks noChangeShapeType="1"/>
          </p:cNvSpPr>
          <p:nvPr/>
        </p:nvSpPr>
        <p:spPr bwMode="auto">
          <a:xfrm flipH="1" flipV="1">
            <a:off x="2093913" y="44069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27" name="Text Box 15"/>
          <p:cNvSpPr txBox="1">
            <a:spLocks noChangeArrowheads="1"/>
          </p:cNvSpPr>
          <p:nvPr/>
        </p:nvSpPr>
        <p:spPr bwMode="auto">
          <a:xfrm>
            <a:off x="1163638" y="43037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3328" name="Text Box 16"/>
          <p:cNvSpPr txBox="1">
            <a:spLocks noChangeArrowheads="1"/>
          </p:cNvSpPr>
          <p:nvPr/>
        </p:nvSpPr>
        <p:spPr bwMode="auto">
          <a:xfrm>
            <a:off x="2230438" y="43037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3329" name="Oval 17"/>
          <p:cNvSpPr>
            <a:spLocks noChangeArrowheads="1"/>
          </p:cNvSpPr>
          <p:nvPr/>
        </p:nvSpPr>
        <p:spPr bwMode="auto">
          <a:xfrm>
            <a:off x="3781425" y="3933825"/>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30</a:t>
            </a:r>
            <a:endParaRPr lang="en-US" altLang="zh-CN" sz="2400">
              <a:solidFill>
                <a:schemeClr val="bg2"/>
              </a:solidFill>
              <a:latin typeface="SWAstro" panose="02000400000000000000" charset="0"/>
            </a:endParaRPr>
          </a:p>
        </p:txBody>
      </p:sp>
      <p:sp>
        <p:nvSpPr>
          <p:cNvPr id="13330" name="Line 18"/>
          <p:cNvSpPr>
            <a:spLocks noChangeShapeType="1"/>
          </p:cNvSpPr>
          <p:nvPr/>
        </p:nvSpPr>
        <p:spPr bwMode="auto">
          <a:xfrm flipV="1">
            <a:off x="3421063" y="4365625"/>
            <a:ext cx="431800" cy="5032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31" name="Text Box 19"/>
          <p:cNvSpPr txBox="1">
            <a:spLocks noChangeArrowheads="1"/>
          </p:cNvSpPr>
          <p:nvPr/>
        </p:nvSpPr>
        <p:spPr bwMode="auto">
          <a:xfrm>
            <a:off x="3421063" y="429418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3332" name="Line 20"/>
          <p:cNvSpPr>
            <a:spLocks noChangeShapeType="1"/>
          </p:cNvSpPr>
          <p:nvPr/>
        </p:nvSpPr>
        <p:spPr bwMode="auto">
          <a:xfrm flipH="1" flipV="1">
            <a:off x="5868988" y="4294188"/>
            <a:ext cx="576262" cy="5746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33" name="Text Box 21"/>
          <p:cNvSpPr txBox="1">
            <a:spLocks noChangeArrowheads="1"/>
          </p:cNvSpPr>
          <p:nvPr/>
        </p:nvSpPr>
        <p:spPr bwMode="auto">
          <a:xfrm>
            <a:off x="6229350" y="429418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3334" name="Oval 22"/>
          <p:cNvSpPr>
            <a:spLocks noChangeArrowheads="1"/>
          </p:cNvSpPr>
          <p:nvPr/>
        </p:nvSpPr>
        <p:spPr bwMode="auto">
          <a:xfrm>
            <a:off x="2844800" y="30686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86</a:t>
            </a:r>
            <a:endParaRPr lang="en-US" altLang="zh-CN" sz="2400">
              <a:solidFill>
                <a:schemeClr val="bg2"/>
              </a:solidFill>
              <a:latin typeface="SWAstro" panose="02000400000000000000" charset="0"/>
            </a:endParaRPr>
          </a:p>
        </p:txBody>
      </p:sp>
      <p:sp>
        <p:nvSpPr>
          <p:cNvPr id="13335" name="Line 23"/>
          <p:cNvSpPr>
            <a:spLocks noChangeShapeType="1"/>
          </p:cNvSpPr>
          <p:nvPr/>
        </p:nvSpPr>
        <p:spPr bwMode="auto">
          <a:xfrm flipV="1">
            <a:off x="2017713" y="3502025"/>
            <a:ext cx="827087" cy="6000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36" name="Text Box 24"/>
          <p:cNvSpPr txBox="1">
            <a:spLocks noChangeArrowheads="1"/>
          </p:cNvSpPr>
          <p:nvPr/>
        </p:nvSpPr>
        <p:spPr bwMode="auto">
          <a:xfrm>
            <a:off x="2197100" y="34290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3337" name="Line 25"/>
          <p:cNvSpPr>
            <a:spLocks noChangeShapeType="1"/>
          </p:cNvSpPr>
          <p:nvPr/>
        </p:nvSpPr>
        <p:spPr bwMode="auto">
          <a:xfrm flipH="1" flipV="1">
            <a:off x="3276600" y="3429000"/>
            <a:ext cx="720725" cy="504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38" name="Text Box 26"/>
          <p:cNvSpPr txBox="1">
            <a:spLocks noChangeArrowheads="1"/>
          </p:cNvSpPr>
          <p:nvPr/>
        </p:nvSpPr>
        <p:spPr bwMode="auto">
          <a:xfrm>
            <a:off x="3911600" y="348297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3339" name="Oval 27"/>
          <p:cNvSpPr>
            <a:spLocks noChangeArrowheads="1"/>
          </p:cNvSpPr>
          <p:nvPr/>
        </p:nvSpPr>
        <p:spPr bwMode="auto">
          <a:xfrm>
            <a:off x="4645025" y="1917700"/>
            <a:ext cx="457200" cy="457200"/>
          </a:xfrm>
          <a:prstGeom prst="ellipse">
            <a:avLst/>
          </a:prstGeom>
          <a:solidFill>
            <a:srgbClr val="CCFFFF"/>
          </a:solidFill>
          <a:ln w="9525">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100</a:t>
            </a:r>
            <a:endParaRPr lang="en-US" altLang="zh-CN" sz="2400">
              <a:solidFill>
                <a:schemeClr val="bg2"/>
              </a:solidFill>
              <a:latin typeface="SWAstro" panose="02000400000000000000" charset="0"/>
            </a:endParaRPr>
          </a:p>
        </p:txBody>
      </p:sp>
      <p:sp>
        <p:nvSpPr>
          <p:cNvPr id="13340" name="Line 28"/>
          <p:cNvSpPr>
            <a:spLocks noChangeShapeType="1"/>
          </p:cNvSpPr>
          <p:nvPr/>
        </p:nvSpPr>
        <p:spPr bwMode="auto">
          <a:xfrm flipH="1" flipV="1">
            <a:off x="5076825" y="2276475"/>
            <a:ext cx="1089025" cy="7921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41" name="Text Box 29"/>
          <p:cNvSpPr txBox="1">
            <a:spLocks noChangeArrowheads="1"/>
          </p:cNvSpPr>
          <p:nvPr/>
        </p:nvSpPr>
        <p:spPr bwMode="auto">
          <a:xfrm>
            <a:off x="3708400" y="23495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3342" name="Line 30"/>
          <p:cNvSpPr>
            <a:spLocks noChangeShapeType="1"/>
          </p:cNvSpPr>
          <p:nvPr/>
        </p:nvSpPr>
        <p:spPr bwMode="auto">
          <a:xfrm flipV="1">
            <a:off x="3276600" y="2276475"/>
            <a:ext cx="1428750" cy="8651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343" name="Text Box 31"/>
          <p:cNvSpPr txBox="1">
            <a:spLocks noChangeArrowheads="1"/>
          </p:cNvSpPr>
          <p:nvPr/>
        </p:nvSpPr>
        <p:spPr bwMode="auto">
          <a:xfrm>
            <a:off x="5581650" y="24209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3344" name="Oval 32"/>
          <p:cNvSpPr>
            <a:spLocks noChangeArrowheads="1"/>
          </p:cNvSpPr>
          <p:nvPr/>
        </p:nvSpPr>
        <p:spPr bwMode="auto">
          <a:xfrm>
            <a:off x="6013450" y="30686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14</a:t>
            </a:r>
            <a:endParaRPr lang="en-US" altLang="zh-CN" sz="2400">
              <a:solidFill>
                <a:schemeClr val="bg2"/>
              </a:solidFill>
              <a:latin typeface="SWAstro" panose="02000400000000000000" charset="0"/>
            </a:endParaRPr>
          </a:p>
        </p:txBody>
      </p:sp>
      <p:sp>
        <p:nvSpPr>
          <p:cNvPr id="13345" name="Line 33"/>
          <p:cNvSpPr>
            <a:spLocks noChangeShapeType="1"/>
          </p:cNvSpPr>
          <p:nvPr/>
        </p:nvSpPr>
        <p:spPr bwMode="auto">
          <a:xfrm flipH="1">
            <a:off x="5868988" y="3502025"/>
            <a:ext cx="288925" cy="43180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6" name="Line 34"/>
          <p:cNvSpPr>
            <a:spLocks noChangeShapeType="1"/>
          </p:cNvSpPr>
          <p:nvPr/>
        </p:nvSpPr>
        <p:spPr bwMode="auto">
          <a:xfrm flipH="1">
            <a:off x="5437188" y="4365625"/>
            <a:ext cx="144462" cy="50323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7" name="Text Box 35"/>
          <p:cNvSpPr txBox="1">
            <a:spLocks noChangeArrowheads="1"/>
          </p:cNvSpPr>
          <p:nvPr/>
        </p:nvSpPr>
        <p:spPr bwMode="auto">
          <a:xfrm>
            <a:off x="5221288" y="436562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3348" name="Text Box 36"/>
          <p:cNvSpPr txBox="1">
            <a:spLocks noChangeArrowheads="1"/>
          </p:cNvSpPr>
          <p:nvPr/>
        </p:nvSpPr>
        <p:spPr bwMode="auto">
          <a:xfrm>
            <a:off x="5724525" y="350202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smtClean="0"/>
              <a:t>The optimal prefix code</a:t>
            </a:r>
            <a:endParaRPr lang="en-US" altLang="zh-CN" smtClean="0"/>
          </a:p>
        </p:txBody>
      </p:sp>
      <p:sp>
        <p:nvSpPr>
          <p:cNvPr id="14339" name="Rectangle 3"/>
          <p:cNvSpPr>
            <a:spLocks noChangeArrowheads="1"/>
          </p:cNvSpPr>
          <p:nvPr/>
        </p:nvSpPr>
        <p:spPr bwMode="auto">
          <a:xfrm>
            <a:off x="4338638" y="51133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f:5</a:t>
            </a:r>
            <a:endParaRPr lang="en-US" altLang="zh-CN" sz="2400">
              <a:latin typeface="SWAstro" panose="02000400000000000000" charset="0"/>
            </a:endParaRPr>
          </a:p>
        </p:txBody>
      </p:sp>
      <p:sp>
        <p:nvSpPr>
          <p:cNvPr id="14340" name="Rectangle 4"/>
          <p:cNvSpPr>
            <a:spLocks noChangeArrowheads="1"/>
          </p:cNvSpPr>
          <p:nvPr/>
        </p:nvSpPr>
        <p:spPr bwMode="auto">
          <a:xfrm>
            <a:off x="5557838" y="51133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e:9</a:t>
            </a:r>
            <a:endParaRPr lang="en-US" altLang="zh-CN" sz="2400">
              <a:latin typeface="SWAstro" panose="02000400000000000000" charset="0"/>
            </a:endParaRPr>
          </a:p>
        </p:txBody>
      </p:sp>
      <p:sp>
        <p:nvSpPr>
          <p:cNvPr id="14341" name="Rectangle 5"/>
          <p:cNvSpPr>
            <a:spLocks noChangeArrowheads="1"/>
          </p:cNvSpPr>
          <p:nvPr/>
        </p:nvSpPr>
        <p:spPr bwMode="auto">
          <a:xfrm>
            <a:off x="2509838" y="44275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c:12</a:t>
            </a:r>
            <a:endParaRPr lang="en-US" altLang="zh-CN" sz="2400">
              <a:latin typeface="SWAstro" panose="02000400000000000000" charset="0"/>
            </a:endParaRPr>
          </a:p>
        </p:txBody>
      </p:sp>
      <p:sp>
        <p:nvSpPr>
          <p:cNvPr id="14342" name="Rectangle 6"/>
          <p:cNvSpPr>
            <a:spLocks noChangeArrowheads="1"/>
          </p:cNvSpPr>
          <p:nvPr/>
        </p:nvSpPr>
        <p:spPr bwMode="auto">
          <a:xfrm>
            <a:off x="3729038" y="44275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b:13</a:t>
            </a:r>
            <a:endParaRPr lang="en-US" altLang="zh-CN" sz="2400">
              <a:latin typeface="SWAstro" panose="02000400000000000000" charset="0"/>
            </a:endParaRPr>
          </a:p>
        </p:txBody>
      </p:sp>
      <p:sp>
        <p:nvSpPr>
          <p:cNvPr id="14343" name="Rectangle 7"/>
          <p:cNvSpPr>
            <a:spLocks noChangeArrowheads="1"/>
          </p:cNvSpPr>
          <p:nvPr/>
        </p:nvSpPr>
        <p:spPr bwMode="auto">
          <a:xfrm>
            <a:off x="6777038" y="44275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d:16</a:t>
            </a:r>
            <a:endParaRPr lang="en-US" altLang="zh-CN" sz="2400">
              <a:latin typeface="SWAstro" panose="02000400000000000000" charset="0"/>
            </a:endParaRPr>
          </a:p>
        </p:txBody>
      </p:sp>
      <p:sp>
        <p:nvSpPr>
          <p:cNvPr id="14344" name="Rectangle 8"/>
          <p:cNvSpPr>
            <a:spLocks noChangeArrowheads="1"/>
          </p:cNvSpPr>
          <p:nvPr/>
        </p:nvSpPr>
        <p:spPr bwMode="auto">
          <a:xfrm>
            <a:off x="1519238" y="2903538"/>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SWAstro" panose="02000400000000000000" charset="0"/>
              </a:rPr>
              <a:t>a:45</a:t>
            </a:r>
            <a:endParaRPr lang="en-US" altLang="zh-CN" sz="2400">
              <a:latin typeface="SWAstro" panose="02000400000000000000" charset="0"/>
            </a:endParaRPr>
          </a:p>
        </p:txBody>
      </p:sp>
      <p:sp>
        <p:nvSpPr>
          <p:cNvPr id="14345" name="Oval 9"/>
          <p:cNvSpPr>
            <a:spLocks noChangeArrowheads="1"/>
          </p:cNvSpPr>
          <p:nvPr/>
        </p:nvSpPr>
        <p:spPr bwMode="auto">
          <a:xfrm>
            <a:off x="5176838" y="43513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14</a:t>
            </a:r>
            <a:endParaRPr lang="en-US" altLang="zh-CN" sz="2400">
              <a:solidFill>
                <a:schemeClr val="bg2"/>
              </a:solidFill>
              <a:latin typeface="SWAstro" panose="02000400000000000000" charset="0"/>
            </a:endParaRPr>
          </a:p>
        </p:txBody>
      </p:sp>
      <p:sp>
        <p:nvSpPr>
          <p:cNvPr id="14346" name="Line 10"/>
          <p:cNvSpPr>
            <a:spLocks noChangeShapeType="1"/>
          </p:cNvSpPr>
          <p:nvPr/>
        </p:nvSpPr>
        <p:spPr bwMode="auto">
          <a:xfrm flipV="1">
            <a:off x="4719638" y="4732338"/>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47" name="Line 11"/>
          <p:cNvSpPr>
            <a:spLocks noChangeShapeType="1"/>
          </p:cNvSpPr>
          <p:nvPr/>
        </p:nvSpPr>
        <p:spPr bwMode="auto">
          <a:xfrm flipH="1" flipV="1">
            <a:off x="5634038" y="4732338"/>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48" name="Text Box 12"/>
          <p:cNvSpPr txBox="1">
            <a:spLocks noChangeArrowheads="1"/>
          </p:cNvSpPr>
          <p:nvPr/>
        </p:nvSpPr>
        <p:spPr bwMode="auto">
          <a:xfrm>
            <a:off x="4703763" y="462915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4349" name="Text Box 13"/>
          <p:cNvSpPr txBox="1">
            <a:spLocks noChangeArrowheads="1"/>
          </p:cNvSpPr>
          <p:nvPr/>
        </p:nvSpPr>
        <p:spPr bwMode="auto">
          <a:xfrm>
            <a:off x="5770563" y="462915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4350" name="Oval 14"/>
          <p:cNvSpPr>
            <a:spLocks noChangeArrowheads="1"/>
          </p:cNvSpPr>
          <p:nvPr/>
        </p:nvSpPr>
        <p:spPr bwMode="auto">
          <a:xfrm>
            <a:off x="3363913" y="36655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25</a:t>
            </a:r>
            <a:endParaRPr lang="en-US" altLang="zh-CN" sz="2400">
              <a:solidFill>
                <a:schemeClr val="bg2"/>
              </a:solidFill>
              <a:latin typeface="SWAstro" panose="02000400000000000000" charset="0"/>
            </a:endParaRPr>
          </a:p>
        </p:txBody>
      </p:sp>
      <p:sp>
        <p:nvSpPr>
          <p:cNvPr id="14351" name="Line 15"/>
          <p:cNvSpPr>
            <a:spLocks noChangeShapeType="1"/>
          </p:cNvSpPr>
          <p:nvPr/>
        </p:nvSpPr>
        <p:spPr bwMode="auto">
          <a:xfrm flipV="1">
            <a:off x="2906713" y="4046538"/>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52" name="Line 16"/>
          <p:cNvSpPr>
            <a:spLocks noChangeShapeType="1"/>
          </p:cNvSpPr>
          <p:nvPr/>
        </p:nvSpPr>
        <p:spPr bwMode="auto">
          <a:xfrm flipH="1" flipV="1">
            <a:off x="3821113" y="4046538"/>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53" name="Text Box 17"/>
          <p:cNvSpPr txBox="1">
            <a:spLocks noChangeArrowheads="1"/>
          </p:cNvSpPr>
          <p:nvPr/>
        </p:nvSpPr>
        <p:spPr bwMode="auto">
          <a:xfrm>
            <a:off x="2890838" y="394335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4354" name="Text Box 18"/>
          <p:cNvSpPr txBox="1">
            <a:spLocks noChangeArrowheads="1"/>
          </p:cNvSpPr>
          <p:nvPr/>
        </p:nvSpPr>
        <p:spPr bwMode="auto">
          <a:xfrm>
            <a:off x="3957638" y="394335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4355" name="Oval 19"/>
          <p:cNvSpPr>
            <a:spLocks noChangeArrowheads="1"/>
          </p:cNvSpPr>
          <p:nvPr/>
        </p:nvSpPr>
        <p:spPr bwMode="auto">
          <a:xfrm>
            <a:off x="6091238" y="36655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30</a:t>
            </a:r>
            <a:endParaRPr lang="en-US" altLang="zh-CN" sz="2400">
              <a:solidFill>
                <a:schemeClr val="bg2"/>
              </a:solidFill>
              <a:latin typeface="SWAstro" panose="02000400000000000000" charset="0"/>
            </a:endParaRPr>
          </a:p>
        </p:txBody>
      </p:sp>
      <p:sp>
        <p:nvSpPr>
          <p:cNvPr id="14356" name="Line 20"/>
          <p:cNvSpPr>
            <a:spLocks noChangeShapeType="1"/>
          </p:cNvSpPr>
          <p:nvPr/>
        </p:nvSpPr>
        <p:spPr bwMode="auto">
          <a:xfrm flipV="1">
            <a:off x="5573713" y="4046538"/>
            <a:ext cx="593725" cy="3317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57" name="Text Box 21"/>
          <p:cNvSpPr txBox="1">
            <a:spLocks noChangeArrowheads="1"/>
          </p:cNvSpPr>
          <p:nvPr/>
        </p:nvSpPr>
        <p:spPr bwMode="auto">
          <a:xfrm>
            <a:off x="5557838" y="38941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4358" name="Line 22"/>
          <p:cNvSpPr>
            <a:spLocks noChangeShapeType="1"/>
          </p:cNvSpPr>
          <p:nvPr/>
        </p:nvSpPr>
        <p:spPr bwMode="auto">
          <a:xfrm flipH="1" flipV="1">
            <a:off x="6548438" y="3997325"/>
            <a:ext cx="609600" cy="4302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59" name="Text Box 23"/>
          <p:cNvSpPr txBox="1">
            <a:spLocks noChangeArrowheads="1"/>
          </p:cNvSpPr>
          <p:nvPr/>
        </p:nvSpPr>
        <p:spPr bwMode="auto">
          <a:xfrm>
            <a:off x="6772275" y="386397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4360" name="Oval 24"/>
          <p:cNvSpPr>
            <a:spLocks noChangeArrowheads="1"/>
          </p:cNvSpPr>
          <p:nvPr/>
        </p:nvSpPr>
        <p:spPr bwMode="auto">
          <a:xfrm>
            <a:off x="4795838" y="2827338"/>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55</a:t>
            </a:r>
            <a:endParaRPr lang="en-US" altLang="zh-CN" sz="2400">
              <a:solidFill>
                <a:schemeClr val="bg2"/>
              </a:solidFill>
              <a:latin typeface="SWAstro" panose="02000400000000000000" charset="0"/>
            </a:endParaRPr>
          </a:p>
        </p:txBody>
      </p:sp>
      <p:sp>
        <p:nvSpPr>
          <p:cNvPr id="14361" name="Line 25"/>
          <p:cNvSpPr>
            <a:spLocks noChangeShapeType="1"/>
          </p:cNvSpPr>
          <p:nvPr/>
        </p:nvSpPr>
        <p:spPr bwMode="auto">
          <a:xfrm flipV="1">
            <a:off x="3744913" y="3208338"/>
            <a:ext cx="1050925"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62" name="Text Box 26"/>
          <p:cNvSpPr txBox="1">
            <a:spLocks noChangeArrowheads="1"/>
          </p:cNvSpPr>
          <p:nvPr/>
        </p:nvSpPr>
        <p:spPr bwMode="auto">
          <a:xfrm>
            <a:off x="4046538" y="31321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4363" name="Line 27"/>
          <p:cNvSpPr>
            <a:spLocks noChangeShapeType="1"/>
          </p:cNvSpPr>
          <p:nvPr/>
        </p:nvSpPr>
        <p:spPr bwMode="auto">
          <a:xfrm flipH="1" flipV="1">
            <a:off x="5253038" y="3159125"/>
            <a:ext cx="914400" cy="5826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64" name="Text Box 28"/>
          <p:cNvSpPr txBox="1">
            <a:spLocks noChangeArrowheads="1"/>
          </p:cNvSpPr>
          <p:nvPr/>
        </p:nvSpPr>
        <p:spPr bwMode="auto">
          <a:xfrm>
            <a:off x="5638800" y="31226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4365" name="Oval 29"/>
          <p:cNvSpPr>
            <a:spLocks noChangeArrowheads="1"/>
          </p:cNvSpPr>
          <p:nvPr/>
        </p:nvSpPr>
        <p:spPr bwMode="auto">
          <a:xfrm>
            <a:off x="3348038" y="1989138"/>
            <a:ext cx="457200" cy="457200"/>
          </a:xfrm>
          <a:prstGeom prst="ellipse">
            <a:avLst/>
          </a:prstGeom>
          <a:solidFill>
            <a:srgbClr val="CCFFFF"/>
          </a:solidFill>
          <a:ln w="9525">
            <a:solidFill>
              <a:schemeClr val="tx1"/>
            </a:solidFill>
            <a:round/>
          </a:ln>
        </p:spPr>
        <p:txBody>
          <a:bodyPr wrap="none" anchor="ctr"/>
          <a:lstStyle/>
          <a:p>
            <a:pPr algn="ctr" eaLnBrk="0" hangingPunct="0"/>
            <a:r>
              <a:rPr lang="en-US" altLang="zh-CN" sz="2400">
                <a:solidFill>
                  <a:schemeClr val="bg2"/>
                </a:solidFill>
                <a:latin typeface="SWAstro" panose="02000400000000000000" charset="0"/>
              </a:rPr>
              <a:t>100</a:t>
            </a:r>
            <a:endParaRPr lang="en-US" altLang="zh-CN" sz="2400">
              <a:solidFill>
                <a:schemeClr val="bg2"/>
              </a:solidFill>
              <a:latin typeface="SWAstro" panose="02000400000000000000" charset="0"/>
            </a:endParaRPr>
          </a:p>
        </p:txBody>
      </p:sp>
      <p:sp>
        <p:nvSpPr>
          <p:cNvPr id="14366" name="Line 30"/>
          <p:cNvSpPr>
            <a:spLocks noChangeShapeType="1"/>
          </p:cNvSpPr>
          <p:nvPr/>
        </p:nvSpPr>
        <p:spPr bwMode="auto">
          <a:xfrm flipV="1">
            <a:off x="1900238" y="2293938"/>
            <a:ext cx="1431925"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67" name="Text Box 31"/>
          <p:cNvSpPr txBox="1">
            <a:spLocks noChangeArrowheads="1"/>
          </p:cNvSpPr>
          <p:nvPr/>
        </p:nvSpPr>
        <p:spPr bwMode="auto">
          <a:xfrm>
            <a:off x="2522538" y="22177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4368" name="Line 32"/>
          <p:cNvSpPr>
            <a:spLocks noChangeShapeType="1"/>
          </p:cNvSpPr>
          <p:nvPr/>
        </p:nvSpPr>
        <p:spPr bwMode="auto">
          <a:xfrm flipH="1" flipV="1">
            <a:off x="3805238" y="2244725"/>
            <a:ext cx="1066800" cy="65881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369" name="Text Box 33"/>
          <p:cNvSpPr txBox="1">
            <a:spLocks noChangeArrowheads="1"/>
          </p:cNvSpPr>
          <p:nvPr/>
        </p:nvSpPr>
        <p:spPr bwMode="auto">
          <a:xfrm>
            <a:off x="4275138" y="22082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4.4 </a:t>
            </a:r>
            <a:r>
              <a:rPr lang="zh-CN" altLang="en-US" smtClean="0">
                <a:latin typeface="黑体" panose="02010609060101010101" pitchFamily="2" charset="-122"/>
                <a:ea typeface="黑体" panose="02010609060101010101" pitchFamily="2" charset="-122"/>
              </a:rPr>
              <a:t>哈夫曼编码</a:t>
            </a:r>
            <a:endParaRPr lang="zh-CN" altLang="en-US" smtClean="0">
              <a:latin typeface="黑体" panose="02010609060101010101" pitchFamily="2" charset="-122"/>
              <a:ea typeface="黑体" panose="02010609060101010101" pitchFamily="2" charset="-122"/>
            </a:endParaRPr>
          </a:p>
        </p:txBody>
      </p:sp>
      <p:sp>
        <p:nvSpPr>
          <p:cNvPr id="102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编码的前缀性质可以使译码方法非常简单。 </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表示</a:t>
            </a:r>
            <a:r>
              <a:rPr lang="zh-CN" altLang="en-US" sz="2400" b="1" smtClean="0">
                <a:solidFill>
                  <a:schemeClr val="accent2"/>
                </a:solidFill>
                <a:latin typeface="新宋体" panose="02010609030101010101" charset="-122"/>
                <a:ea typeface="新宋体" panose="02010609030101010101" charset="-122"/>
              </a:rPr>
              <a:t>最优前缀码</a:t>
            </a:r>
            <a:r>
              <a:rPr lang="zh-CN" altLang="en-US" sz="2400" b="1" smtClean="0">
                <a:latin typeface="新宋体" panose="02010609030101010101" charset="-122"/>
                <a:ea typeface="新宋体" panose="02010609030101010101" charset="-122"/>
              </a:rPr>
              <a:t>的二叉树总是一棵</a:t>
            </a:r>
            <a:r>
              <a:rPr lang="zh-CN" altLang="en-US" sz="2400" b="1" smtClean="0">
                <a:solidFill>
                  <a:schemeClr val="accent2"/>
                </a:solidFill>
                <a:latin typeface="新宋体" panose="02010609030101010101" charset="-122"/>
                <a:ea typeface="新宋体" panose="02010609030101010101" charset="-122"/>
              </a:rPr>
              <a:t>完全二叉树</a:t>
            </a:r>
            <a:r>
              <a:rPr lang="zh-CN" altLang="en-US" sz="2400" b="1" smtClean="0">
                <a:latin typeface="新宋体" panose="02010609030101010101" charset="-122"/>
                <a:ea typeface="新宋体" panose="02010609030101010101" charset="-122"/>
              </a:rPr>
              <a:t>，即树中任一结点都有</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个儿子结点。</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a:t>
            </a:r>
            <a:r>
              <a:rPr lang="zh-CN" altLang="en-US" sz="2400" b="1" smtClean="0">
                <a:solidFill>
                  <a:schemeClr val="accent2"/>
                </a:solidFill>
                <a:latin typeface="新宋体" panose="02010609030101010101" charset="-122"/>
                <a:ea typeface="新宋体" panose="02010609030101010101" charset="-122"/>
              </a:rPr>
              <a:t>平均码长</a:t>
            </a:r>
            <a:r>
              <a:rPr lang="zh-CN" altLang="en-US" sz="2400" b="1" smtClean="0">
                <a:latin typeface="新宋体" panose="02010609030101010101" charset="-122"/>
                <a:ea typeface="新宋体" panose="02010609030101010101" charset="-122"/>
              </a:rPr>
              <a:t>定义为：</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使平均码长达到最小的前缀码编码方案称为给定编码字符集</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的</a:t>
            </a:r>
            <a:r>
              <a:rPr lang="zh-CN" altLang="en-US" sz="2400" b="1" smtClean="0">
                <a:solidFill>
                  <a:schemeClr val="accent2"/>
                </a:solidFill>
                <a:latin typeface="新宋体" panose="02010609030101010101" charset="-122"/>
                <a:ea typeface="新宋体" panose="02010609030101010101" charset="-122"/>
              </a:rPr>
              <a:t>最优前缀码</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p:txBody>
      </p:sp>
      <p:graphicFrame>
        <p:nvGraphicFramePr>
          <p:cNvPr id="1026" name="Object 4"/>
          <p:cNvGraphicFramePr>
            <a:graphicFrameLocks noChangeAspect="1"/>
          </p:cNvGraphicFramePr>
          <p:nvPr/>
        </p:nvGraphicFramePr>
        <p:xfrm>
          <a:off x="3995738" y="2997200"/>
          <a:ext cx="2808287" cy="738188"/>
        </p:xfrm>
        <a:graphic>
          <a:graphicData uri="http://schemas.openxmlformats.org/presentationml/2006/ole">
            <mc:AlternateContent xmlns:mc="http://schemas.openxmlformats.org/markup-compatibility/2006">
              <mc:Choice xmlns:v="urn:schemas-microsoft-com:vml" Requires="v">
                <p:oleObj spid="_x0000_s2050" name="公式" r:id="rId1" imgW="1307465" imgH="342900" progId="Equation.3">
                  <p:embed/>
                </p:oleObj>
              </mc:Choice>
              <mc:Fallback>
                <p:oleObj name="公式" r:id="rId1" imgW="1307465" imgH="342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2997200"/>
                        <a:ext cx="2808287" cy="738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9" name="Rectangle 5"/>
          <p:cNvSpPr>
            <a:spLocks noChangeArrowheads="1"/>
          </p:cNvSpPr>
          <p:nvPr/>
        </p:nvSpPr>
        <p:spPr bwMode="auto">
          <a:xfrm>
            <a:off x="3590925" y="3570288"/>
            <a:ext cx="2333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r>
              <a:rPr kumimoji="1" lang="en-US" altLang="zh-CN" sz="1400">
                <a:ea typeface="华文行楷" panose="02010800040101010101" pitchFamily="2" charset="-122"/>
              </a:rPr>
              <a:t> </a:t>
            </a:r>
            <a:endParaRPr kumimoji="1" lang="en-US" altLang="zh-CN" sz="240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4.4 </a:t>
            </a:r>
            <a:r>
              <a:rPr lang="zh-CN" altLang="en-US" smtClean="0">
                <a:latin typeface="黑体" panose="02010609060101010101" pitchFamily="2" charset="-122"/>
                <a:ea typeface="黑体" panose="02010609060101010101" pitchFamily="2" charset="-122"/>
              </a:rPr>
              <a:t>哈夫曼编码</a:t>
            </a:r>
            <a:endParaRPr lang="zh-CN" altLang="en-US" smtClean="0">
              <a:latin typeface="黑体" panose="02010609060101010101" pitchFamily="2" charset="-122"/>
              <a:ea typeface="黑体" panose="02010609060101010101" pitchFamily="2" charset="-122"/>
            </a:endParaRPr>
          </a:p>
        </p:txBody>
      </p:sp>
      <p:sp>
        <p:nvSpPr>
          <p:cNvPr id="1536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800" b="1" smtClean="0">
                <a:solidFill>
                  <a:schemeClr val="accent2"/>
                </a:solidFill>
                <a:latin typeface="黑体" panose="02010609060101010101" pitchFamily="2" charset="-122"/>
                <a:ea typeface="黑体" panose="02010609060101010101" pitchFamily="2" charset="-122"/>
              </a:rPr>
              <a:t>2</a:t>
            </a:r>
            <a:r>
              <a:rPr lang="zh-CN" altLang="en-US" sz="2800" b="1" smtClean="0">
                <a:solidFill>
                  <a:schemeClr val="accent2"/>
                </a:solidFill>
                <a:latin typeface="黑体" panose="02010609060101010101" pitchFamily="2" charset="-122"/>
                <a:ea typeface="黑体" panose="02010609060101010101" pitchFamily="2" charset="-122"/>
              </a:rPr>
              <a:t>、构造哈夫曼编码</a:t>
            </a:r>
            <a:endParaRPr lang="zh-CN" altLang="en-US" sz="2800" b="1" smtClean="0">
              <a:solidFill>
                <a:schemeClr val="accent2"/>
              </a:solidFill>
              <a:latin typeface="黑体" panose="02010609060101010101" pitchFamily="2" charset="-122"/>
              <a:ea typeface="黑体" panose="02010609060101010101" pitchFamily="2" charset="-122"/>
            </a:endParaRPr>
          </a:p>
          <a:p>
            <a:pPr eaLnBrk="1" hangingPunct="1">
              <a:spcBef>
                <a:spcPct val="80000"/>
              </a:spcBef>
              <a:buFont typeface="Wingdings" panose="05000000000000000000" pitchFamily="2" charset="2"/>
              <a:buNone/>
            </a:pPr>
            <a:r>
              <a:rPr lang="zh-CN" altLang="en-US" sz="2100" smtClean="0">
                <a:latin typeface="新宋体" panose="02010609030101010101" charset="-122"/>
                <a:ea typeface="新宋体" panose="02010609030101010101" charset="-122"/>
              </a:rPr>
              <a:t>	</a:t>
            </a:r>
            <a:r>
              <a:rPr lang="zh-CN" altLang="en-US" sz="21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哈夫曼提出构造最优前缀码的贪心算法，由此产生的编码方案称为</a:t>
            </a:r>
            <a:r>
              <a:rPr lang="zh-CN" altLang="en-US" sz="2400" b="1" smtClean="0">
                <a:solidFill>
                  <a:schemeClr val="accent2"/>
                </a:solidFill>
                <a:latin typeface="新宋体" panose="02010609030101010101" charset="-122"/>
                <a:ea typeface="新宋体" panose="02010609030101010101" charset="-122"/>
              </a:rPr>
              <a:t>哈夫曼编码</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哈夫曼算法以自底向上的方式构造表示最优前缀码的二叉树</a:t>
            </a:r>
            <a:r>
              <a:rPr lang="en-US" altLang="zh-CN" sz="2400" b="1" smtClean="0">
                <a:latin typeface="新宋体" panose="02010609030101010101" charset="-122"/>
                <a:ea typeface="新宋体" panose="02010609030101010101" charset="-122"/>
              </a:rPr>
              <a:t>T</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算法以</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个叶结点开始，执行</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1</a:t>
            </a:r>
            <a:r>
              <a:rPr lang="zh-CN" altLang="en-US" sz="2400" b="1" smtClean="0">
                <a:latin typeface="新宋体" panose="02010609030101010101" charset="-122"/>
                <a:ea typeface="新宋体" panose="02010609030101010101" charset="-122"/>
              </a:rPr>
              <a:t>次的</a:t>
            </a:r>
            <a:r>
              <a:rPr lang="zh-CN" altLang="en-US" sz="2400" b="1" smtClean="0">
                <a:ea typeface="新宋体" panose="02010609030101010101" charset="-122"/>
              </a:rPr>
              <a:t>“</a:t>
            </a:r>
            <a:r>
              <a:rPr lang="zh-CN" altLang="en-US" sz="2400" b="1" smtClean="0">
                <a:latin typeface="新宋体" panose="02010609030101010101" charset="-122"/>
                <a:ea typeface="新宋体" panose="02010609030101010101" charset="-122"/>
              </a:rPr>
              <a:t>合并</a:t>
            </a:r>
            <a:r>
              <a:rPr lang="zh-CN" altLang="en-US" sz="2400" b="1" smtClean="0">
                <a:ea typeface="新宋体" panose="02010609030101010101" charset="-122"/>
              </a:rPr>
              <a:t>”</a:t>
            </a:r>
            <a:r>
              <a:rPr lang="zh-CN" altLang="en-US" sz="2400" b="1" smtClean="0">
                <a:latin typeface="新宋体" panose="02010609030101010101" charset="-122"/>
                <a:ea typeface="新宋体" panose="02010609030101010101" charset="-122"/>
              </a:rPr>
              <a:t>运算后产生最终所要求的树</a:t>
            </a:r>
            <a:r>
              <a:rPr lang="en-US" altLang="zh-CN" sz="2400" b="1" smtClean="0">
                <a:latin typeface="新宋体" panose="02010609030101010101" charset="-122"/>
                <a:ea typeface="新宋体" panose="02010609030101010101" charset="-122"/>
              </a:rPr>
              <a:t>T</a:t>
            </a:r>
            <a:r>
              <a:rPr lang="zh-CN" altLang="en-US" sz="2400" b="1" smtClean="0">
                <a:latin typeface="新宋体" panose="02010609030101010101" charset="-122"/>
                <a:ea typeface="新宋体" panose="02010609030101010101" charset="-122"/>
              </a:rPr>
              <a:t>。</a:t>
            </a:r>
            <a:r>
              <a:rPr lang="zh-CN" altLang="en-US" sz="2400" smtClean="0"/>
              <a:t> </a:t>
            </a:r>
            <a:endParaRPr lang="zh-CN" altLang="en-US" sz="2400" smtClean="0"/>
          </a:p>
          <a:p>
            <a:pPr eaLnBrk="1" hangingPunct="1">
              <a:buFont typeface="Wingdings" panose="05000000000000000000" pitchFamily="2" charset="2"/>
              <a:buNone/>
            </a:pPr>
            <a:r>
              <a:rPr lang="zh-CN" altLang="en-US" sz="2400" smtClean="0"/>
              <a:t>		</a:t>
            </a:r>
            <a:endParaRPr lang="zh-CN" altLang="en-US" sz="2400" smtClean="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16387" name="Rectangle 3"/>
          <p:cNvSpPr>
            <a:spLocks noChangeArrowheads="1"/>
          </p:cNvSpPr>
          <p:nvPr/>
        </p:nvSpPr>
        <p:spPr bwMode="auto">
          <a:xfrm>
            <a:off x="11430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16388" name="Rectangle 4"/>
          <p:cNvSpPr>
            <a:spLocks noChangeArrowheads="1"/>
          </p:cNvSpPr>
          <p:nvPr/>
        </p:nvSpPr>
        <p:spPr bwMode="auto">
          <a:xfrm>
            <a:off x="23622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16389" name="Rectangle 5"/>
          <p:cNvSpPr>
            <a:spLocks noChangeArrowheads="1"/>
          </p:cNvSpPr>
          <p:nvPr/>
        </p:nvSpPr>
        <p:spPr bwMode="auto">
          <a:xfrm>
            <a:off x="35814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16390" name="Rectangle 6"/>
          <p:cNvSpPr>
            <a:spLocks noChangeArrowheads="1"/>
          </p:cNvSpPr>
          <p:nvPr/>
        </p:nvSpPr>
        <p:spPr bwMode="auto">
          <a:xfrm>
            <a:off x="48006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16391" name="Rectangle 7"/>
          <p:cNvSpPr>
            <a:spLocks noChangeArrowheads="1"/>
          </p:cNvSpPr>
          <p:nvPr/>
        </p:nvSpPr>
        <p:spPr bwMode="auto">
          <a:xfrm>
            <a:off x="60198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16392" name="Rectangle 8"/>
          <p:cNvSpPr>
            <a:spLocks noChangeArrowheads="1"/>
          </p:cNvSpPr>
          <p:nvPr/>
        </p:nvSpPr>
        <p:spPr bwMode="auto">
          <a:xfrm>
            <a:off x="72390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17411" name="Rectangle 3"/>
          <p:cNvSpPr>
            <a:spLocks noChangeArrowheads="1"/>
          </p:cNvSpPr>
          <p:nvPr/>
        </p:nvSpPr>
        <p:spPr bwMode="auto">
          <a:xfrm>
            <a:off x="11430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17412" name="Rectangle 4"/>
          <p:cNvSpPr>
            <a:spLocks noChangeArrowheads="1"/>
          </p:cNvSpPr>
          <p:nvPr/>
        </p:nvSpPr>
        <p:spPr bwMode="auto">
          <a:xfrm>
            <a:off x="23622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17413" name="Rectangle 5"/>
          <p:cNvSpPr>
            <a:spLocks noChangeArrowheads="1"/>
          </p:cNvSpPr>
          <p:nvPr/>
        </p:nvSpPr>
        <p:spPr bwMode="auto">
          <a:xfrm>
            <a:off x="35814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17414" name="Rectangle 6"/>
          <p:cNvSpPr>
            <a:spLocks noChangeArrowheads="1"/>
          </p:cNvSpPr>
          <p:nvPr/>
        </p:nvSpPr>
        <p:spPr bwMode="auto">
          <a:xfrm>
            <a:off x="48006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17415" name="Rectangle 7"/>
          <p:cNvSpPr>
            <a:spLocks noChangeArrowheads="1"/>
          </p:cNvSpPr>
          <p:nvPr/>
        </p:nvSpPr>
        <p:spPr bwMode="auto">
          <a:xfrm>
            <a:off x="60198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17416" name="Rectangle 8"/>
          <p:cNvSpPr>
            <a:spLocks noChangeArrowheads="1"/>
          </p:cNvSpPr>
          <p:nvPr/>
        </p:nvSpPr>
        <p:spPr bwMode="auto">
          <a:xfrm>
            <a:off x="72390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
        <p:nvSpPr>
          <p:cNvPr id="17417" name="Oval 9"/>
          <p:cNvSpPr>
            <a:spLocks noChangeArrowheads="1"/>
          </p:cNvSpPr>
          <p:nvPr/>
        </p:nvSpPr>
        <p:spPr bwMode="auto">
          <a:xfrm>
            <a:off x="1981200"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14</a:t>
            </a:r>
            <a:endParaRPr lang="en-US" altLang="zh-CN" sz="2400">
              <a:solidFill>
                <a:schemeClr val="bg2"/>
              </a:solidFill>
              <a:latin typeface="Times New Roman" panose="02020603050405020304" pitchFamily="18" charset="0"/>
            </a:endParaRPr>
          </a:p>
        </p:txBody>
      </p:sp>
      <p:sp>
        <p:nvSpPr>
          <p:cNvPr id="17418" name="Line 10"/>
          <p:cNvSpPr>
            <a:spLocks noChangeShapeType="1"/>
          </p:cNvSpPr>
          <p:nvPr/>
        </p:nvSpPr>
        <p:spPr bwMode="auto">
          <a:xfrm flipV="1">
            <a:off x="1524000" y="1981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19" name="Line 11"/>
          <p:cNvSpPr>
            <a:spLocks noChangeShapeType="1"/>
          </p:cNvSpPr>
          <p:nvPr/>
        </p:nvSpPr>
        <p:spPr bwMode="auto">
          <a:xfrm flipH="1" flipV="1">
            <a:off x="2438400" y="1981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420" name="Text Box 12"/>
          <p:cNvSpPr txBox="1">
            <a:spLocks noChangeArrowheads="1"/>
          </p:cNvSpPr>
          <p:nvPr/>
        </p:nvSpPr>
        <p:spPr bwMode="auto">
          <a:xfrm>
            <a:off x="1508125"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7421" name="Text Box 13"/>
          <p:cNvSpPr txBox="1">
            <a:spLocks noChangeArrowheads="1"/>
          </p:cNvSpPr>
          <p:nvPr/>
        </p:nvSpPr>
        <p:spPr bwMode="auto">
          <a:xfrm>
            <a:off x="2574925"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18435" name="Rectangle 3"/>
          <p:cNvSpPr>
            <a:spLocks noChangeArrowheads="1"/>
          </p:cNvSpPr>
          <p:nvPr/>
        </p:nvSpPr>
        <p:spPr bwMode="auto">
          <a:xfrm>
            <a:off x="11430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18436" name="Rectangle 4"/>
          <p:cNvSpPr>
            <a:spLocks noChangeArrowheads="1"/>
          </p:cNvSpPr>
          <p:nvPr/>
        </p:nvSpPr>
        <p:spPr bwMode="auto">
          <a:xfrm>
            <a:off x="23622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18437" name="Rectangle 5"/>
          <p:cNvSpPr>
            <a:spLocks noChangeArrowheads="1"/>
          </p:cNvSpPr>
          <p:nvPr/>
        </p:nvSpPr>
        <p:spPr bwMode="auto">
          <a:xfrm>
            <a:off x="48006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18438" name="Rectangle 6"/>
          <p:cNvSpPr>
            <a:spLocks noChangeArrowheads="1"/>
          </p:cNvSpPr>
          <p:nvPr/>
        </p:nvSpPr>
        <p:spPr bwMode="auto">
          <a:xfrm>
            <a:off x="60198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18439" name="Rectangle 7"/>
          <p:cNvSpPr>
            <a:spLocks noChangeArrowheads="1"/>
          </p:cNvSpPr>
          <p:nvPr/>
        </p:nvSpPr>
        <p:spPr bwMode="auto">
          <a:xfrm>
            <a:off x="35814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18440" name="Rectangle 8"/>
          <p:cNvSpPr>
            <a:spLocks noChangeArrowheads="1"/>
          </p:cNvSpPr>
          <p:nvPr/>
        </p:nvSpPr>
        <p:spPr bwMode="auto">
          <a:xfrm>
            <a:off x="72390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
        <p:nvSpPr>
          <p:cNvPr id="18441" name="Oval 9"/>
          <p:cNvSpPr>
            <a:spLocks noChangeArrowheads="1"/>
          </p:cNvSpPr>
          <p:nvPr/>
        </p:nvSpPr>
        <p:spPr bwMode="auto">
          <a:xfrm>
            <a:off x="1981200"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14</a:t>
            </a:r>
            <a:endParaRPr lang="en-US" altLang="zh-CN" sz="2400">
              <a:solidFill>
                <a:schemeClr val="bg2"/>
              </a:solidFill>
              <a:latin typeface="Times New Roman" panose="02020603050405020304" pitchFamily="18" charset="0"/>
            </a:endParaRPr>
          </a:p>
        </p:txBody>
      </p:sp>
      <p:sp>
        <p:nvSpPr>
          <p:cNvPr id="18442" name="Line 10"/>
          <p:cNvSpPr>
            <a:spLocks noChangeShapeType="1"/>
          </p:cNvSpPr>
          <p:nvPr/>
        </p:nvSpPr>
        <p:spPr bwMode="auto">
          <a:xfrm flipV="1">
            <a:off x="1524000" y="1981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3" name="Line 11"/>
          <p:cNvSpPr>
            <a:spLocks noChangeShapeType="1"/>
          </p:cNvSpPr>
          <p:nvPr/>
        </p:nvSpPr>
        <p:spPr bwMode="auto">
          <a:xfrm flipH="1" flipV="1">
            <a:off x="2438400" y="1981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4" name="Text Box 12"/>
          <p:cNvSpPr txBox="1">
            <a:spLocks noChangeArrowheads="1"/>
          </p:cNvSpPr>
          <p:nvPr/>
        </p:nvSpPr>
        <p:spPr bwMode="auto">
          <a:xfrm>
            <a:off x="1508125"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8445" name="Text Box 13"/>
          <p:cNvSpPr txBox="1">
            <a:spLocks noChangeArrowheads="1"/>
          </p:cNvSpPr>
          <p:nvPr/>
        </p:nvSpPr>
        <p:spPr bwMode="auto">
          <a:xfrm>
            <a:off x="2574925"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8446" name="Oval 14"/>
          <p:cNvSpPr>
            <a:spLocks noChangeArrowheads="1"/>
          </p:cNvSpPr>
          <p:nvPr/>
        </p:nvSpPr>
        <p:spPr bwMode="auto">
          <a:xfrm>
            <a:off x="5654675"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25</a:t>
            </a:r>
            <a:endParaRPr lang="en-US" altLang="zh-CN" sz="2400">
              <a:solidFill>
                <a:schemeClr val="bg2"/>
              </a:solidFill>
              <a:latin typeface="Times New Roman" panose="02020603050405020304" pitchFamily="18" charset="0"/>
            </a:endParaRPr>
          </a:p>
        </p:txBody>
      </p:sp>
      <p:sp>
        <p:nvSpPr>
          <p:cNvPr id="18447" name="Line 15"/>
          <p:cNvSpPr>
            <a:spLocks noChangeShapeType="1"/>
          </p:cNvSpPr>
          <p:nvPr/>
        </p:nvSpPr>
        <p:spPr bwMode="auto">
          <a:xfrm flipV="1">
            <a:off x="5197475" y="1981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8" name="Line 16"/>
          <p:cNvSpPr>
            <a:spLocks noChangeShapeType="1"/>
          </p:cNvSpPr>
          <p:nvPr/>
        </p:nvSpPr>
        <p:spPr bwMode="auto">
          <a:xfrm flipH="1" flipV="1">
            <a:off x="6111875" y="1981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49" name="Text Box 17"/>
          <p:cNvSpPr txBox="1">
            <a:spLocks noChangeArrowheads="1"/>
          </p:cNvSpPr>
          <p:nvPr/>
        </p:nvSpPr>
        <p:spPr bwMode="auto">
          <a:xfrm>
            <a:off x="5181600"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8450" name="Text Box 18"/>
          <p:cNvSpPr txBox="1">
            <a:spLocks noChangeArrowheads="1"/>
          </p:cNvSpPr>
          <p:nvPr/>
        </p:nvSpPr>
        <p:spPr bwMode="auto">
          <a:xfrm>
            <a:off x="6248400"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19459" name="Rectangle 3"/>
          <p:cNvSpPr>
            <a:spLocks noChangeArrowheads="1"/>
          </p:cNvSpPr>
          <p:nvPr/>
        </p:nvSpPr>
        <p:spPr bwMode="auto">
          <a:xfrm>
            <a:off x="1143000" y="30480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19460" name="Rectangle 4"/>
          <p:cNvSpPr>
            <a:spLocks noChangeArrowheads="1"/>
          </p:cNvSpPr>
          <p:nvPr/>
        </p:nvSpPr>
        <p:spPr bwMode="auto">
          <a:xfrm>
            <a:off x="2362200" y="30480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19461" name="Rectangle 5"/>
          <p:cNvSpPr>
            <a:spLocks noChangeArrowheads="1"/>
          </p:cNvSpPr>
          <p:nvPr/>
        </p:nvSpPr>
        <p:spPr bwMode="auto">
          <a:xfrm>
            <a:off x="48006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19462" name="Rectangle 6"/>
          <p:cNvSpPr>
            <a:spLocks noChangeArrowheads="1"/>
          </p:cNvSpPr>
          <p:nvPr/>
        </p:nvSpPr>
        <p:spPr bwMode="auto">
          <a:xfrm>
            <a:off x="60198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19463" name="Rectangle 7"/>
          <p:cNvSpPr>
            <a:spLocks noChangeArrowheads="1"/>
          </p:cNvSpPr>
          <p:nvPr/>
        </p:nvSpPr>
        <p:spPr bwMode="auto">
          <a:xfrm>
            <a:off x="3581400" y="2362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19464" name="Rectangle 8"/>
          <p:cNvSpPr>
            <a:spLocks noChangeArrowheads="1"/>
          </p:cNvSpPr>
          <p:nvPr/>
        </p:nvSpPr>
        <p:spPr bwMode="auto">
          <a:xfrm>
            <a:off x="72390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
        <p:nvSpPr>
          <p:cNvPr id="19465" name="Oval 9"/>
          <p:cNvSpPr>
            <a:spLocks noChangeArrowheads="1"/>
          </p:cNvSpPr>
          <p:nvPr/>
        </p:nvSpPr>
        <p:spPr bwMode="auto">
          <a:xfrm>
            <a:off x="1981200" y="22860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14</a:t>
            </a:r>
            <a:endParaRPr lang="en-US" altLang="zh-CN" sz="2400">
              <a:solidFill>
                <a:schemeClr val="bg2"/>
              </a:solidFill>
              <a:latin typeface="Times New Roman" panose="02020603050405020304" pitchFamily="18" charset="0"/>
            </a:endParaRPr>
          </a:p>
        </p:txBody>
      </p:sp>
      <p:sp>
        <p:nvSpPr>
          <p:cNvPr id="19466" name="Line 10"/>
          <p:cNvSpPr>
            <a:spLocks noChangeShapeType="1"/>
          </p:cNvSpPr>
          <p:nvPr/>
        </p:nvSpPr>
        <p:spPr bwMode="auto">
          <a:xfrm flipV="1">
            <a:off x="1524000" y="26670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67" name="Line 11"/>
          <p:cNvSpPr>
            <a:spLocks noChangeShapeType="1"/>
          </p:cNvSpPr>
          <p:nvPr/>
        </p:nvSpPr>
        <p:spPr bwMode="auto">
          <a:xfrm flipH="1" flipV="1">
            <a:off x="2438400" y="26670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68" name="Text Box 12"/>
          <p:cNvSpPr txBox="1">
            <a:spLocks noChangeArrowheads="1"/>
          </p:cNvSpPr>
          <p:nvPr/>
        </p:nvSpPr>
        <p:spPr bwMode="auto">
          <a:xfrm>
            <a:off x="1508125" y="25638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9469" name="Text Box 13"/>
          <p:cNvSpPr txBox="1">
            <a:spLocks noChangeArrowheads="1"/>
          </p:cNvSpPr>
          <p:nvPr/>
        </p:nvSpPr>
        <p:spPr bwMode="auto">
          <a:xfrm>
            <a:off x="2574925" y="25638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9470" name="Oval 14"/>
          <p:cNvSpPr>
            <a:spLocks noChangeArrowheads="1"/>
          </p:cNvSpPr>
          <p:nvPr/>
        </p:nvSpPr>
        <p:spPr bwMode="auto">
          <a:xfrm>
            <a:off x="5654675"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25</a:t>
            </a:r>
            <a:endParaRPr lang="en-US" altLang="zh-CN" sz="2400">
              <a:solidFill>
                <a:schemeClr val="bg2"/>
              </a:solidFill>
              <a:latin typeface="Times New Roman" panose="02020603050405020304" pitchFamily="18" charset="0"/>
            </a:endParaRPr>
          </a:p>
        </p:txBody>
      </p:sp>
      <p:sp>
        <p:nvSpPr>
          <p:cNvPr id="19471" name="Line 15"/>
          <p:cNvSpPr>
            <a:spLocks noChangeShapeType="1"/>
          </p:cNvSpPr>
          <p:nvPr/>
        </p:nvSpPr>
        <p:spPr bwMode="auto">
          <a:xfrm flipV="1">
            <a:off x="5197475" y="1981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72" name="Line 16"/>
          <p:cNvSpPr>
            <a:spLocks noChangeShapeType="1"/>
          </p:cNvSpPr>
          <p:nvPr/>
        </p:nvSpPr>
        <p:spPr bwMode="auto">
          <a:xfrm flipH="1" flipV="1">
            <a:off x="6111875" y="1981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73" name="Text Box 17"/>
          <p:cNvSpPr txBox="1">
            <a:spLocks noChangeArrowheads="1"/>
          </p:cNvSpPr>
          <p:nvPr/>
        </p:nvSpPr>
        <p:spPr bwMode="auto">
          <a:xfrm>
            <a:off x="5181600"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9474" name="Text Box 18"/>
          <p:cNvSpPr txBox="1">
            <a:spLocks noChangeArrowheads="1"/>
          </p:cNvSpPr>
          <p:nvPr/>
        </p:nvSpPr>
        <p:spPr bwMode="auto">
          <a:xfrm>
            <a:off x="6248400" y="1878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19475" name="Oval 19"/>
          <p:cNvSpPr>
            <a:spLocks noChangeArrowheads="1"/>
          </p:cNvSpPr>
          <p:nvPr/>
        </p:nvSpPr>
        <p:spPr bwMode="auto">
          <a:xfrm>
            <a:off x="2895600"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30</a:t>
            </a:r>
            <a:endParaRPr lang="en-US" altLang="zh-CN" sz="2400">
              <a:solidFill>
                <a:schemeClr val="bg2"/>
              </a:solidFill>
              <a:latin typeface="Times New Roman" panose="02020603050405020304" pitchFamily="18" charset="0"/>
            </a:endParaRPr>
          </a:p>
        </p:txBody>
      </p:sp>
      <p:sp>
        <p:nvSpPr>
          <p:cNvPr id="19476" name="Line 20"/>
          <p:cNvSpPr>
            <a:spLocks noChangeShapeType="1"/>
          </p:cNvSpPr>
          <p:nvPr/>
        </p:nvSpPr>
        <p:spPr bwMode="auto">
          <a:xfrm flipV="1">
            <a:off x="2378075" y="1981200"/>
            <a:ext cx="593725" cy="3317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77" name="Text Box 21"/>
          <p:cNvSpPr txBox="1">
            <a:spLocks noChangeArrowheads="1"/>
          </p:cNvSpPr>
          <p:nvPr/>
        </p:nvSpPr>
        <p:spPr bwMode="auto">
          <a:xfrm>
            <a:off x="2362200" y="18288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19478" name="Line 22"/>
          <p:cNvSpPr>
            <a:spLocks noChangeShapeType="1"/>
          </p:cNvSpPr>
          <p:nvPr/>
        </p:nvSpPr>
        <p:spPr bwMode="auto">
          <a:xfrm flipH="1" flipV="1">
            <a:off x="3352800" y="1931988"/>
            <a:ext cx="609600" cy="4302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479" name="Text Box 23"/>
          <p:cNvSpPr txBox="1">
            <a:spLocks noChangeArrowheads="1"/>
          </p:cNvSpPr>
          <p:nvPr/>
        </p:nvSpPr>
        <p:spPr bwMode="auto">
          <a:xfrm>
            <a:off x="3576638" y="17986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20483" name="Rectangle 3"/>
          <p:cNvSpPr>
            <a:spLocks noChangeArrowheads="1"/>
          </p:cNvSpPr>
          <p:nvPr/>
        </p:nvSpPr>
        <p:spPr bwMode="auto">
          <a:xfrm>
            <a:off x="5105400" y="3886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20484" name="Rectangle 4"/>
          <p:cNvSpPr>
            <a:spLocks noChangeArrowheads="1"/>
          </p:cNvSpPr>
          <p:nvPr/>
        </p:nvSpPr>
        <p:spPr bwMode="auto">
          <a:xfrm>
            <a:off x="6324600" y="3886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20485" name="Rectangle 5"/>
          <p:cNvSpPr>
            <a:spLocks noChangeArrowheads="1"/>
          </p:cNvSpPr>
          <p:nvPr/>
        </p:nvSpPr>
        <p:spPr bwMode="auto">
          <a:xfrm>
            <a:off x="3276600" y="3200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20486" name="Rectangle 6"/>
          <p:cNvSpPr>
            <a:spLocks noChangeArrowheads="1"/>
          </p:cNvSpPr>
          <p:nvPr/>
        </p:nvSpPr>
        <p:spPr bwMode="auto">
          <a:xfrm>
            <a:off x="4495800" y="3200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20487" name="Rectangle 7"/>
          <p:cNvSpPr>
            <a:spLocks noChangeArrowheads="1"/>
          </p:cNvSpPr>
          <p:nvPr/>
        </p:nvSpPr>
        <p:spPr bwMode="auto">
          <a:xfrm>
            <a:off x="7543800" y="3200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20488" name="Rectangle 8"/>
          <p:cNvSpPr>
            <a:spLocks noChangeArrowheads="1"/>
          </p:cNvSpPr>
          <p:nvPr/>
        </p:nvSpPr>
        <p:spPr bwMode="auto">
          <a:xfrm>
            <a:off x="1219200" y="1676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
        <p:nvSpPr>
          <p:cNvPr id="20489" name="Oval 9"/>
          <p:cNvSpPr>
            <a:spLocks noChangeArrowheads="1"/>
          </p:cNvSpPr>
          <p:nvPr/>
        </p:nvSpPr>
        <p:spPr bwMode="auto">
          <a:xfrm>
            <a:off x="5943600" y="3124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14</a:t>
            </a:r>
            <a:endParaRPr lang="en-US" altLang="zh-CN" sz="2400">
              <a:solidFill>
                <a:schemeClr val="bg2"/>
              </a:solidFill>
              <a:latin typeface="Times New Roman" panose="02020603050405020304" pitchFamily="18" charset="0"/>
            </a:endParaRPr>
          </a:p>
        </p:txBody>
      </p:sp>
      <p:sp>
        <p:nvSpPr>
          <p:cNvPr id="20490" name="Line 10"/>
          <p:cNvSpPr>
            <a:spLocks noChangeShapeType="1"/>
          </p:cNvSpPr>
          <p:nvPr/>
        </p:nvSpPr>
        <p:spPr bwMode="auto">
          <a:xfrm flipV="1">
            <a:off x="5486400" y="3505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1" name="Line 11"/>
          <p:cNvSpPr>
            <a:spLocks noChangeShapeType="1"/>
          </p:cNvSpPr>
          <p:nvPr/>
        </p:nvSpPr>
        <p:spPr bwMode="auto">
          <a:xfrm flipH="1" flipV="1">
            <a:off x="6400800" y="3505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2" name="Text Box 12"/>
          <p:cNvSpPr txBox="1">
            <a:spLocks noChangeArrowheads="1"/>
          </p:cNvSpPr>
          <p:nvPr/>
        </p:nvSpPr>
        <p:spPr bwMode="auto">
          <a:xfrm>
            <a:off x="5470525" y="3402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0493" name="Text Box 13"/>
          <p:cNvSpPr txBox="1">
            <a:spLocks noChangeArrowheads="1"/>
          </p:cNvSpPr>
          <p:nvPr/>
        </p:nvSpPr>
        <p:spPr bwMode="auto">
          <a:xfrm>
            <a:off x="6537325" y="3402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0494" name="Oval 14"/>
          <p:cNvSpPr>
            <a:spLocks noChangeArrowheads="1"/>
          </p:cNvSpPr>
          <p:nvPr/>
        </p:nvSpPr>
        <p:spPr bwMode="auto">
          <a:xfrm>
            <a:off x="4130675" y="24384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25</a:t>
            </a:r>
            <a:endParaRPr lang="en-US" altLang="zh-CN" sz="2400">
              <a:solidFill>
                <a:schemeClr val="bg2"/>
              </a:solidFill>
              <a:latin typeface="Times New Roman" panose="02020603050405020304" pitchFamily="18" charset="0"/>
            </a:endParaRPr>
          </a:p>
        </p:txBody>
      </p:sp>
      <p:sp>
        <p:nvSpPr>
          <p:cNvPr id="20495" name="Line 15"/>
          <p:cNvSpPr>
            <a:spLocks noChangeShapeType="1"/>
          </p:cNvSpPr>
          <p:nvPr/>
        </p:nvSpPr>
        <p:spPr bwMode="auto">
          <a:xfrm flipV="1">
            <a:off x="3673475" y="28194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6" name="Line 16"/>
          <p:cNvSpPr>
            <a:spLocks noChangeShapeType="1"/>
          </p:cNvSpPr>
          <p:nvPr/>
        </p:nvSpPr>
        <p:spPr bwMode="auto">
          <a:xfrm flipH="1" flipV="1">
            <a:off x="4587875" y="28194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7" name="Text Box 17"/>
          <p:cNvSpPr txBox="1">
            <a:spLocks noChangeArrowheads="1"/>
          </p:cNvSpPr>
          <p:nvPr/>
        </p:nvSpPr>
        <p:spPr bwMode="auto">
          <a:xfrm>
            <a:off x="3657600" y="27162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0498" name="Text Box 18"/>
          <p:cNvSpPr txBox="1">
            <a:spLocks noChangeArrowheads="1"/>
          </p:cNvSpPr>
          <p:nvPr/>
        </p:nvSpPr>
        <p:spPr bwMode="auto">
          <a:xfrm>
            <a:off x="4724400" y="27162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0499" name="Oval 19"/>
          <p:cNvSpPr>
            <a:spLocks noChangeArrowheads="1"/>
          </p:cNvSpPr>
          <p:nvPr/>
        </p:nvSpPr>
        <p:spPr bwMode="auto">
          <a:xfrm>
            <a:off x="6858000" y="24384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30</a:t>
            </a:r>
            <a:endParaRPr lang="en-US" altLang="zh-CN" sz="2400">
              <a:solidFill>
                <a:schemeClr val="bg2"/>
              </a:solidFill>
              <a:latin typeface="Times New Roman" panose="02020603050405020304" pitchFamily="18" charset="0"/>
            </a:endParaRPr>
          </a:p>
        </p:txBody>
      </p:sp>
      <p:sp>
        <p:nvSpPr>
          <p:cNvPr id="20500" name="Line 20"/>
          <p:cNvSpPr>
            <a:spLocks noChangeShapeType="1"/>
          </p:cNvSpPr>
          <p:nvPr/>
        </p:nvSpPr>
        <p:spPr bwMode="auto">
          <a:xfrm flipV="1">
            <a:off x="6340475" y="2819400"/>
            <a:ext cx="593725" cy="3317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01" name="Text Box 21"/>
          <p:cNvSpPr txBox="1">
            <a:spLocks noChangeArrowheads="1"/>
          </p:cNvSpPr>
          <p:nvPr/>
        </p:nvSpPr>
        <p:spPr bwMode="auto">
          <a:xfrm>
            <a:off x="6324600" y="26670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0502" name="Line 22"/>
          <p:cNvSpPr>
            <a:spLocks noChangeShapeType="1"/>
          </p:cNvSpPr>
          <p:nvPr/>
        </p:nvSpPr>
        <p:spPr bwMode="auto">
          <a:xfrm flipH="1" flipV="1">
            <a:off x="7315200" y="2770188"/>
            <a:ext cx="609600" cy="4302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03" name="Text Box 23"/>
          <p:cNvSpPr txBox="1">
            <a:spLocks noChangeArrowheads="1"/>
          </p:cNvSpPr>
          <p:nvPr/>
        </p:nvSpPr>
        <p:spPr bwMode="auto">
          <a:xfrm>
            <a:off x="7539038" y="26368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0504" name="Oval 24"/>
          <p:cNvSpPr>
            <a:spLocks noChangeArrowheads="1"/>
          </p:cNvSpPr>
          <p:nvPr/>
        </p:nvSpPr>
        <p:spPr bwMode="auto">
          <a:xfrm>
            <a:off x="5562600" y="1600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55</a:t>
            </a:r>
            <a:endParaRPr lang="en-US" altLang="zh-CN" sz="2400">
              <a:solidFill>
                <a:schemeClr val="bg2"/>
              </a:solidFill>
              <a:latin typeface="Times New Roman" panose="02020603050405020304" pitchFamily="18" charset="0"/>
            </a:endParaRPr>
          </a:p>
        </p:txBody>
      </p:sp>
      <p:sp>
        <p:nvSpPr>
          <p:cNvPr id="20505" name="Line 25"/>
          <p:cNvSpPr>
            <a:spLocks noChangeShapeType="1"/>
          </p:cNvSpPr>
          <p:nvPr/>
        </p:nvSpPr>
        <p:spPr bwMode="auto">
          <a:xfrm flipV="1">
            <a:off x="4511675" y="1981200"/>
            <a:ext cx="1050925"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06" name="Text Box 26"/>
          <p:cNvSpPr txBox="1">
            <a:spLocks noChangeArrowheads="1"/>
          </p:cNvSpPr>
          <p:nvPr/>
        </p:nvSpPr>
        <p:spPr bwMode="auto">
          <a:xfrm>
            <a:off x="4813300" y="19050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0507" name="Line 27"/>
          <p:cNvSpPr>
            <a:spLocks noChangeShapeType="1"/>
          </p:cNvSpPr>
          <p:nvPr/>
        </p:nvSpPr>
        <p:spPr bwMode="auto">
          <a:xfrm flipH="1" flipV="1">
            <a:off x="6019800" y="1931988"/>
            <a:ext cx="914400" cy="5826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08" name="Text Box 28"/>
          <p:cNvSpPr txBox="1">
            <a:spLocks noChangeArrowheads="1"/>
          </p:cNvSpPr>
          <p:nvPr/>
        </p:nvSpPr>
        <p:spPr bwMode="auto">
          <a:xfrm>
            <a:off x="6405563" y="189547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smtClean="0">
                <a:latin typeface="黑体" panose="02010609060101010101" pitchFamily="2" charset="-122"/>
                <a:ea typeface="黑体" panose="02010609060101010101" pitchFamily="2" charset="-122"/>
              </a:rPr>
              <a:t>构造哈夫曼编码</a:t>
            </a:r>
            <a:endParaRPr lang="zh-CN" altLang="en-US" smtClean="0">
              <a:latin typeface="黑体" panose="02010609060101010101" pitchFamily="2" charset="-122"/>
              <a:ea typeface="黑体" panose="02010609060101010101" pitchFamily="2" charset="-122"/>
            </a:endParaRPr>
          </a:p>
        </p:txBody>
      </p:sp>
      <p:sp>
        <p:nvSpPr>
          <p:cNvPr id="21507" name="Rectangle 3"/>
          <p:cNvSpPr>
            <a:spLocks noChangeArrowheads="1"/>
          </p:cNvSpPr>
          <p:nvPr/>
        </p:nvSpPr>
        <p:spPr bwMode="auto">
          <a:xfrm>
            <a:off x="5105400" y="4648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f:5</a:t>
            </a:r>
            <a:endParaRPr lang="en-US" altLang="zh-CN" sz="2400">
              <a:latin typeface="Times New Roman" panose="02020603050405020304" pitchFamily="18" charset="0"/>
            </a:endParaRPr>
          </a:p>
        </p:txBody>
      </p:sp>
      <p:sp>
        <p:nvSpPr>
          <p:cNvPr id="21508" name="Rectangle 4"/>
          <p:cNvSpPr>
            <a:spLocks noChangeArrowheads="1"/>
          </p:cNvSpPr>
          <p:nvPr/>
        </p:nvSpPr>
        <p:spPr bwMode="auto">
          <a:xfrm>
            <a:off x="6324600" y="46482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e:9</a:t>
            </a:r>
            <a:endParaRPr lang="en-US" altLang="zh-CN" sz="2400">
              <a:latin typeface="Times New Roman" panose="02020603050405020304" pitchFamily="18" charset="0"/>
            </a:endParaRPr>
          </a:p>
        </p:txBody>
      </p:sp>
      <p:sp>
        <p:nvSpPr>
          <p:cNvPr id="21509" name="Rectangle 5"/>
          <p:cNvSpPr>
            <a:spLocks noChangeArrowheads="1"/>
          </p:cNvSpPr>
          <p:nvPr/>
        </p:nvSpPr>
        <p:spPr bwMode="auto">
          <a:xfrm>
            <a:off x="3276600" y="3962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c:12</a:t>
            </a:r>
            <a:endParaRPr lang="en-US" altLang="zh-CN" sz="2400">
              <a:latin typeface="Times New Roman" panose="02020603050405020304" pitchFamily="18" charset="0"/>
            </a:endParaRPr>
          </a:p>
        </p:txBody>
      </p:sp>
      <p:sp>
        <p:nvSpPr>
          <p:cNvPr id="21510" name="Rectangle 6"/>
          <p:cNvSpPr>
            <a:spLocks noChangeArrowheads="1"/>
          </p:cNvSpPr>
          <p:nvPr/>
        </p:nvSpPr>
        <p:spPr bwMode="auto">
          <a:xfrm>
            <a:off x="4495800" y="3962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b:13</a:t>
            </a:r>
            <a:endParaRPr lang="en-US" altLang="zh-CN" sz="2400">
              <a:latin typeface="Times New Roman" panose="02020603050405020304" pitchFamily="18" charset="0"/>
            </a:endParaRPr>
          </a:p>
        </p:txBody>
      </p:sp>
      <p:sp>
        <p:nvSpPr>
          <p:cNvPr id="21511" name="Rectangle 7"/>
          <p:cNvSpPr>
            <a:spLocks noChangeArrowheads="1"/>
          </p:cNvSpPr>
          <p:nvPr/>
        </p:nvSpPr>
        <p:spPr bwMode="auto">
          <a:xfrm>
            <a:off x="7543800" y="3962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d:16</a:t>
            </a:r>
            <a:endParaRPr lang="en-US" altLang="zh-CN" sz="2400">
              <a:latin typeface="Times New Roman" panose="02020603050405020304" pitchFamily="18" charset="0"/>
            </a:endParaRPr>
          </a:p>
        </p:txBody>
      </p:sp>
      <p:sp>
        <p:nvSpPr>
          <p:cNvPr id="21512" name="Rectangle 8"/>
          <p:cNvSpPr>
            <a:spLocks noChangeArrowheads="1"/>
          </p:cNvSpPr>
          <p:nvPr/>
        </p:nvSpPr>
        <p:spPr bwMode="auto">
          <a:xfrm>
            <a:off x="2286000" y="2438400"/>
            <a:ext cx="762000"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a:latin typeface="Times New Roman" panose="02020603050405020304" pitchFamily="18" charset="0"/>
              </a:rPr>
              <a:t>a:45</a:t>
            </a:r>
            <a:endParaRPr lang="en-US" altLang="zh-CN" sz="2400">
              <a:latin typeface="Times New Roman" panose="02020603050405020304" pitchFamily="18" charset="0"/>
            </a:endParaRPr>
          </a:p>
        </p:txBody>
      </p:sp>
      <p:sp>
        <p:nvSpPr>
          <p:cNvPr id="21513" name="Oval 9"/>
          <p:cNvSpPr>
            <a:spLocks noChangeArrowheads="1"/>
          </p:cNvSpPr>
          <p:nvPr/>
        </p:nvSpPr>
        <p:spPr bwMode="auto">
          <a:xfrm>
            <a:off x="5943600" y="3886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14</a:t>
            </a:r>
            <a:endParaRPr lang="en-US" altLang="zh-CN" sz="2400">
              <a:solidFill>
                <a:schemeClr val="bg2"/>
              </a:solidFill>
              <a:latin typeface="Times New Roman" panose="02020603050405020304" pitchFamily="18" charset="0"/>
            </a:endParaRPr>
          </a:p>
        </p:txBody>
      </p:sp>
      <p:sp>
        <p:nvSpPr>
          <p:cNvPr id="21514" name="Line 10"/>
          <p:cNvSpPr>
            <a:spLocks noChangeShapeType="1"/>
          </p:cNvSpPr>
          <p:nvPr/>
        </p:nvSpPr>
        <p:spPr bwMode="auto">
          <a:xfrm flipV="1">
            <a:off x="5486400" y="42672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5" name="Line 11"/>
          <p:cNvSpPr>
            <a:spLocks noChangeShapeType="1"/>
          </p:cNvSpPr>
          <p:nvPr/>
        </p:nvSpPr>
        <p:spPr bwMode="auto">
          <a:xfrm flipH="1" flipV="1">
            <a:off x="6400800" y="42672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16" name="Text Box 12"/>
          <p:cNvSpPr txBox="1">
            <a:spLocks noChangeArrowheads="1"/>
          </p:cNvSpPr>
          <p:nvPr/>
        </p:nvSpPr>
        <p:spPr bwMode="auto">
          <a:xfrm>
            <a:off x="5470525" y="4164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1517" name="Text Box 13"/>
          <p:cNvSpPr txBox="1">
            <a:spLocks noChangeArrowheads="1"/>
          </p:cNvSpPr>
          <p:nvPr/>
        </p:nvSpPr>
        <p:spPr bwMode="auto">
          <a:xfrm>
            <a:off x="6537325" y="41640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1518" name="Oval 14"/>
          <p:cNvSpPr>
            <a:spLocks noChangeArrowheads="1"/>
          </p:cNvSpPr>
          <p:nvPr/>
        </p:nvSpPr>
        <p:spPr bwMode="auto">
          <a:xfrm>
            <a:off x="4130675" y="32004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25</a:t>
            </a:r>
            <a:endParaRPr lang="en-US" altLang="zh-CN" sz="2400">
              <a:solidFill>
                <a:schemeClr val="bg2"/>
              </a:solidFill>
              <a:latin typeface="Times New Roman" panose="02020603050405020304" pitchFamily="18" charset="0"/>
            </a:endParaRPr>
          </a:p>
        </p:txBody>
      </p:sp>
      <p:sp>
        <p:nvSpPr>
          <p:cNvPr id="21519" name="Line 15"/>
          <p:cNvSpPr>
            <a:spLocks noChangeShapeType="1"/>
          </p:cNvSpPr>
          <p:nvPr/>
        </p:nvSpPr>
        <p:spPr bwMode="auto">
          <a:xfrm flipV="1">
            <a:off x="3673475" y="3581400"/>
            <a:ext cx="4572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0" name="Line 16"/>
          <p:cNvSpPr>
            <a:spLocks noChangeShapeType="1"/>
          </p:cNvSpPr>
          <p:nvPr/>
        </p:nvSpPr>
        <p:spPr bwMode="auto">
          <a:xfrm flipH="1" flipV="1">
            <a:off x="4587875" y="3581400"/>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1" name="Text Box 17"/>
          <p:cNvSpPr txBox="1">
            <a:spLocks noChangeArrowheads="1"/>
          </p:cNvSpPr>
          <p:nvPr/>
        </p:nvSpPr>
        <p:spPr bwMode="auto">
          <a:xfrm>
            <a:off x="3657600" y="34782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1522" name="Text Box 18"/>
          <p:cNvSpPr txBox="1">
            <a:spLocks noChangeArrowheads="1"/>
          </p:cNvSpPr>
          <p:nvPr/>
        </p:nvSpPr>
        <p:spPr bwMode="auto">
          <a:xfrm>
            <a:off x="4724400" y="3478213"/>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1523" name="Oval 19"/>
          <p:cNvSpPr>
            <a:spLocks noChangeArrowheads="1"/>
          </p:cNvSpPr>
          <p:nvPr/>
        </p:nvSpPr>
        <p:spPr bwMode="auto">
          <a:xfrm>
            <a:off x="6858000" y="32004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30</a:t>
            </a:r>
            <a:endParaRPr lang="en-US" altLang="zh-CN" sz="2400">
              <a:solidFill>
                <a:schemeClr val="bg2"/>
              </a:solidFill>
              <a:latin typeface="Times New Roman" panose="02020603050405020304" pitchFamily="18" charset="0"/>
            </a:endParaRPr>
          </a:p>
        </p:txBody>
      </p:sp>
      <p:sp>
        <p:nvSpPr>
          <p:cNvPr id="21524" name="Line 20"/>
          <p:cNvSpPr>
            <a:spLocks noChangeShapeType="1"/>
          </p:cNvSpPr>
          <p:nvPr/>
        </p:nvSpPr>
        <p:spPr bwMode="auto">
          <a:xfrm flipV="1">
            <a:off x="6340475" y="3581400"/>
            <a:ext cx="593725" cy="3317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5" name="Text Box 21"/>
          <p:cNvSpPr txBox="1">
            <a:spLocks noChangeArrowheads="1"/>
          </p:cNvSpPr>
          <p:nvPr/>
        </p:nvSpPr>
        <p:spPr bwMode="auto">
          <a:xfrm>
            <a:off x="6324600" y="34290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1526" name="Line 22"/>
          <p:cNvSpPr>
            <a:spLocks noChangeShapeType="1"/>
          </p:cNvSpPr>
          <p:nvPr/>
        </p:nvSpPr>
        <p:spPr bwMode="auto">
          <a:xfrm flipH="1" flipV="1">
            <a:off x="7315200" y="3532188"/>
            <a:ext cx="609600" cy="4302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7" name="Text Box 23"/>
          <p:cNvSpPr txBox="1">
            <a:spLocks noChangeArrowheads="1"/>
          </p:cNvSpPr>
          <p:nvPr/>
        </p:nvSpPr>
        <p:spPr bwMode="auto">
          <a:xfrm>
            <a:off x="7539038" y="3398838"/>
            <a:ext cx="292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1528" name="Oval 24"/>
          <p:cNvSpPr>
            <a:spLocks noChangeArrowheads="1"/>
          </p:cNvSpPr>
          <p:nvPr/>
        </p:nvSpPr>
        <p:spPr bwMode="auto">
          <a:xfrm>
            <a:off x="5562600" y="23622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55</a:t>
            </a:r>
            <a:endParaRPr lang="en-US" altLang="zh-CN" sz="2400">
              <a:solidFill>
                <a:schemeClr val="bg2"/>
              </a:solidFill>
              <a:latin typeface="Times New Roman" panose="02020603050405020304" pitchFamily="18" charset="0"/>
            </a:endParaRPr>
          </a:p>
        </p:txBody>
      </p:sp>
      <p:sp>
        <p:nvSpPr>
          <p:cNvPr id="21529" name="Line 25"/>
          <p:cNvSpPr>
            <a:spLocks noChangeShapeType="1"/>
          </p:cNvSpPr>
          <p:nvPr/>
        </p:nvSpPr>
        <p:spPr bwMode="auto">
          <a:xfrm flipV="1">
            <a:off x="4511675" y="2743200"/>
            <a:ext cx="1050925"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0" name="Text Box 26"/>
          <p:cNvSpPr txBox="1">
            <a:spLocks noChangeArrowheads="1"/>
          </p:cNvSpPr>
          <p:nvPr/>
        </p:nvSpPr>
        <p:spPr bwMode="auto">
          <a:xfrm>
            <a:off x="4813300" y="26670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1531" name="Line 27"/>
          <p:cNvSpPr>
            <a:spLocks noChangeShapeType="1"/>
          </p:cNvSpPr>
          <p:nvPr/>
        </p:nvSpPr>
        <p:spPr bwMode="auto">
          <a:xfrm flipH="1" flipV="1">
            <a:off x="6019800" y="2693988"/>
            <a:ext cx="914400" cy="5826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2" name="Text Box 28"/>
          <p:cNvSpPr txBox="1">
            <a:spLocks noChangeArrowheads="1"/>
          </p:cNvSpPr>
          <p:nvPr/>
        </p:nvSpPr>
        <p:spPr bwMode="auto">
          <a:xfrm>
            <a:off x="6405563" y="265747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
        <p:nvSpPr>
          <p:cNvPr id="21533" name="Oval 29"/>
          <p:cNvSpPr>
            <a:spLocks noChangeArrowheads="1"/>
          </p:cNvSpPr>
          <p:nvPr/>
        </p:nvSpPr>
        <p:spPr bwMode="auto">
          <a:xfrm>
            <a:off x="4114800" y="1524000"/>
            <a:ext cx="457200" cy="457200"/>
          </a:xfrm>
          <a:prstGeom prst="ellipse">
            <a:avLst/>
          </a:prstGeom>
          <a:solidFill>
            <a:srgbClr val="CCFFFF"/>
          </a:solidFill>
          <a:ln w="9525" algn="ctr">
            <a:solidFill>
              <a:schemeClr val="tx1"/>
            </a:solidFill>
            <a:round/>
          </a:ln>
        </p:spPr>
        <p:txBody>
          <a:bodyPr wrap="none" anchor="ctr"/>
          <a:lstStyle/>
          <a:p>
            <a:pPr algn="ctr" eaLnBrk="0" hangingPunct="0"/>
            <a:r>
              <a:rPr lang="en-US" altLang="zh-CN" sz="2400">
                <a:solidFill>
                  <a:schemeClr val="bg2"/>
                </a:solidFill>
                <a:latin typeface="Times New Roman" panose="02020603050405020304" pitchFamily="18" charset="0"/>
              </a:rPr>
              <a:t>100</a:t>
            </a:r>
            <a:endParaRPr lang="en-US" altLang="zh-CN" sz="2400">
              <a:solidFill>
                <a:schemeClr val="bg2"/>
              </a:solidFill>
              <a:latin typeface="Times New Roman" panose="02020603050405020304" pitchFamily="18" charset="0"/>
            </a:endParaRPr>
          </a:p>
        </p:txBody>
      </p:sp>
      <p:sp>
        <p:nvSpPr>
          <p:cNvPr id="21534" name="Line 30"/>
          <p:cNvSpPr>
            <a:spLocks noChangeShapeType="1"/>
          </p:cNvSpPr>
          <p:nvPr/>
        </p:nvSpPr>
        <p:spPr bwMode="auto">
          <a:xfrm flipV="1">
            <a:off x="2667000" y="1828800"/>
            <a:ext cx="1431925"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5" name="Text Box 31"/>
          <p:cNvSpPr txBox="1">
            <a:spLocks noChangeArrowheads="1"/>
          </p:cNvSpPr>
          <p:nvPr/>
        </p:nvSpPr>
        <p:spPr bwMode="auto">
          <a:xfrm>
            <a:off x="3289300" y="1752600"/>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0</a:t>
            </a:r>
            <a:endParaRPr lang="en-US" altLang="zh-CN">
              <a:latin typeface="SWAstro" panose="02000400000000000000" charset="0"/>
            </a:endParaRPr>
          </a:p>
        </p:txBody>
      </p:sp>
      <p:sp>
        <p:nvSpPr>
          <p:cNvPr id="21536" name="Line 32"/>
          <p:cNvSpPr>
            <a:spLocks noChangeShapeType="1"/>
          </p:cNvSpPr>
          <p:nvPr/>
        </p:nvSpPr>
        <p:spPr bwMode="auto">
          <a:xfrm flipH="1" flipV="1">
            <a:off x="4572000" y="1779588"/>
            <a:ext cx="1066800" cy="6588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37" name="Text Box 33"/>
          <p:cNvSpPr txBox="1">
            <a:spLocks noChangeArrowheads="1"/>
          </p:cNvSpPr>
          <p:nvPr/>
        </p:nvSpPr>
        <p:spPr bwMode="auto">
          <a:xfrm>
            <a:off x="5041900" y="1743075"/>
            <a:ext cx="292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latin typeface="SWAstro" panose="02000400000000000000" charset="0"/>
              </a:rPr>
              <a:t>1</a:t>
            </a:r>
            <a:endParaRPr lang="en-US" altLang="zh-CN">
              <a:latin typeface="SWAstro" panose="02000400000000000000" charset="0"/>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85800" y="333375"/>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4.4 </a:t>
            </a:r>
            <a:r>
              <a:rPr lang="zh-CN" altLang="en-US" smtClean="0">
                <a:latin typeface="黑体" panose="02010609060101010101" pitchFamily="2" charset="-122"/>
                <a:ea typeface="黑体" panose="02010609060101010101" pitchFamily="2" charset="-122"/>
              </a:rPr>
              <a:t>哈夫曼编码</a:t>
            </a:r>
            <a:endParaRPr lang="zh-CN" altLang="en-US" smtClean="0">
              <a:latin typeface="黑体" panose="02010609060101010101" pitchFamily="2" charset="-122"/>
              <a:ea typeface="黑体" panose="02010609060101010101" pitchFamily="2" charset="-122"/>
            </a:endParaRPr>
          </a:p>
        </p:txBody>
      </p:sp>
      <p:sp>
        <p:nvSpPr>
          <p:cNvPr id="22531" name="Rectangle 3"/>
          <p:cNvSpPr>
            <a:spLocks noGrp="1" noChangeArrowheads="1"/>
          </p:cNvSpPr>
          <p:nvPr>
            <p:ph type="body" idx="1"/>
          </p:nvPr>
        </p:nvSpPr>
        <p:spPr>
          <a:xfrm>
            <a:off x="395288" y="1700213"/>
            <a:ext cx="8280400" cy="4824412"/>
          </a:xfrm>
        </p:spPr>
        <p:txBody>
          <a:bodyPr/>
          <a:lstStyle/>
          <a:p>
            <a:pPr eaLnBrk="1" hangingPunct="1">
              <a:lnSpc>
                <a:spcPct val="90000"/>
              </a:lnSpc>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在书上给出的算法</a:t>
            </a:r>
            <a:r>
              <a:rPr lang="en-US" altLang="zh-CN" sz="2400" b="1" smtClean="0">
                <a:latin typeface="新宋体" panose="02010609030101010101" charset="-122"/>
                <a:ea typeface="新宋体" panose="02010609030101010101" charset="-122"/>
              </a:rPr>
              <a:t>huffmanTree</a:t>
            </a:r>
            <a:r>
              <a:rPr lang="zh-CN" altLang="en-US" sz="2400" b="1" smtClean="0">
                <a:latin typeface="新宋体" panose="02010609030101010101" charset="-122"/>
                <a:ea typeface="新宋体" panose="02010609030101010101" charset="-122"/>
              </a:rPr>
              <a:t>中，编码字符集中每一字符</a:t>
            </a:r>
            <a:r>
              <a:rPr lang="en-US" altLang="zh-CN" sz="2400" b="1" smtClean="0">
                <a:latin typeface="新宋体" panose="02010609030101010101" charset="-122"/>
                <a:ea typeface="新宋体" panose="02010609030101010101" charset="-122"/>
              </a:rPr>
              <a:t>c</a:t>
            </a:r>
            <a:r>
              <a:rPr lang="zh-CN" altLang="en-US" sz="2400" b="1" smtClean="0">
                <a:latin typeface="新宋体" panose="02010609030101010101" charset="-122"/>
                <a:ea typeface="新宋体" panose="02010609030101010101" charset="-122"/>
              </a:rPr>
              <a:t>的频率是</a:t>
            </a:r>
            <a:r>
              <a:rPr lang="en-US" altLang="zh-CN" sz="2400" b="1" smtClean="0">
                <a:latin typeface="新宋体" panose="02010609030101010101" charset="-122"/>
                <a:ea typeface="新宋体" panose="02010609030101010101" charset="-122"/>
              </a:rPr>
              <a:t>f(c)</a:t>
            </a:r>
            <a:r>
              <a:rPr lang="zh-CN" altLang="en-US" sz="2400" b="1" smtClean="0">
                <a:latin typeface="新宋体" panose="02010609030101010101" charset="-122"/>
                <a:ea typeface="新宋体" panose="02010609030101010101" charset="-122"/>
              </a:rPr>
              <a:t>。</a:t>
            </a:r>
            <a:r>
              <a:rPr lang="zh-CN" altLang="en-US" sz="2400" b="1" smtClean="0">
                <a:solidFill>
                  <a:schemeClr val="accent2"/>
                </a:solidFill>
                <a:latin typeface="新宋体" panose="02010609030101010101" charset="-122"/>
                <a:ea typeface="新宋体" panose="02010609030101010101" charset="-122"/>
              </a:rPr>
              <a:t>以</a:t>
            </a:r>
            <a:r>
              <a:rPr lang="en-US" altLang="zh-CN" sz="2400" b="1" smtClean="0">
                <a:solidFill>
                  <a:schemeClr val="accent2"/>
                </a:solidFill>
                <a:latin typeface="新宋体" panose="02010609030101010101" charset="-122"/>
                <a:ea typeface="新宋体" panose="02010609030101010101" charset="-122"/>
              </a:rPr>
              <a:t>f</a:t>
            </a:r>
            <a:r>
              <a:rPr lang="zh-CN" altLang="en-US" sz="2400" b="1" smtClean="0">
                <a:solidFill>
                  <a:schemeClr val="accent2"/>
                </a:solidFill>
                <a:latin typeface="新宋体" panose="02010609030101010101" charset="-122"/>
                <a:ea typeface="新宋体" panose="02010609030101010101" charset="-122"/>
              </a:rPr>
              <a:t>为键值的优先队列</a:t>
            </a:r>
            <a:r>
              <a:rPr lang="en-US" altLang="zh-CN" sz="2400" b="1" smtClean="0">
                <a:solidFill>
                  <a:schemeClr val="accent2"/>
                </a:solidFill>
                <a:latin typeface="新宋体" panose="02010609030101010101" charset="-122"/>
                <a:ea typeface="新宋体" panose="02010609030101010101" charset="-122"/>
              </a:rPr>
              <a:t>Q</a:t>
            </a:r>
            <a:r>
              <a:rPr lang="zh-CN" altLang="en-US" sz="2400" b="1" smtClean="0">
                <a:latin typeface="新宋体" panose="02010609030101010101" charset="-122"/>
                <a:ea typeface="新宋体" panose="02010609030101010101" charset="-122"/>
              </a:rPr>
              <a:t>用在</a:t>
            </a:r>
            <a:r>
              <a:rPr lang="zh-CN" altLang="en-US" sz="2400" b="1" smtClean="0">
                <a:solidFill>
                  <a:schemeClr val="accent2"/>
                </a:solidFill>
                <a:latin typeface="新宋体" panose="02010609030101010101" charset="-122"/>
                <a:ea typeface="新宋体" panose="02010609030101010101" charset="-122"/>
              </a:rPr>
              <a:t>贪心选择</a:t>
            </a:r>
            <a:r>
              <a:rPr lang="zh-CN" altLang="en-US" sz="2400" b="1" smtClean="0">
                <a:latin typeface="新宋体" panose="02010609030101010101" charset="-122"/>
                <a:ea typeface="新宋体" panose="02010609030101010101" charset="-122"/>
              </a:rPr>
              <a:t>时有效地确定算法当前要合并的</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棵具有最小频率的树。一旦</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棵具有最小频率的树合并后，产生一棵新的树，其频率为合并的</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棵树的频率之和，并将新树插入优先队列</a:t>
            </a:r>
            <a:r>
              <a:rPr lang="en-US" altLang="zh-CN" sz="2400" b="1" smtClean="0">
                <a:latin typeface="新宋体" panose="02010609030101010101" charset="-122"/>
                <a:ea typeface="新宋体" panose="02010609030101010101" charset="-122"/>
              </a:rPr>
              <a:t>Q</a:t>
            </a:r>
            <a:r>
              <a:rPr lang="zh-CN" altLang="en-US" sz="2400" b="1" smtClean="0">
                <a:latin typeface="新宋体" panose="02010609030101010101" charset="-122"/>
                <a:ea typeface="新宋体" panose="02010609030101010101" charset="-122"/>
              </a:rPr>
              <a:t>。经过</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1</a:t>
            </a:r>
            <a:r>
              <a:rPr lang="zh-CN" altLang="en-US" sz="2400" b="1" smtClean="0">
                <a:latin typeface="新宋体" panose="02010609030101010101" charset="-122"/>
                <a:ea typeface="新宋体" panose="02010609030101010101" charset="-122"/>
              </a:rPr>
              <a:t>次的合并后，优先队列中只剩下一棵树，即所要求的树</a:t>
            </a:r>
            <a:r>
              <a:rPr lang="en-US" altLang="zh-CN" sz="2400" b="1" smtClean="0">
                <a:latin typeface="新宋体" panose="02010609030101010101" charset="-122"/>
                <a:ea typeface="新宋体" panose="02010609030101010101" charset="-122"/>
              </a:rPr>
              <a:t>T</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算法</a:t>
            </a:r>
            <a:r>
              <a:rPr lang="en-US" altLang="zh-CN" sz="2400" b="1" smtClean="0">
                <a:latin typeface="新宋体" panose="02010609030101010101" charset="-122"/>
                <a:ea typeface="新宋体" panose="02010609030101010101" charset="-122"/>
              </a:rPr>
              <a:t>huffmanTree</a:t>
            </a:r>
            <a:r>
              <a:rPr lang="zh-CN" altLang="en-US" sz="2400" b="1" smtClean="0">
                <a:latin typeface="新宋体" panose="02010609030101010101" charset="-122"/>
                <a:ea typeface="新宋体" panose="02010609030101010101" charset="-122"/>
              </a:rPr>
              <a:t>用最小堆实现优先队列</a:t>
            </a:r>
            <a:r>
              <a:rPr lang="en-US" altLang="zh-CN" sz="2400" b="1" smtClean="0">
                <a:latin typeface="新宋体" panose="02010609030101010101" charset="-122"/>
                <a:ea typeface="新宋体" panose="02010609030101010101" charset="-122"/>
              </a:rPr>
              <a:t>Q</a:t>
            </a:r>
            <a:r>
              <a:rPr lang="zh-CN" altLang="en-US" sz="2400" b="1" smtClean="0">
                <a:latin typeface="新宋体" panose="02010609030101010101" charset="-122"/>
                <a:ea typeface="新宋体" panose="02010609030101010101" charset="-122"/>
              </a:rPr>
              <a:t>。初始化优先队列需要</a:t>
            </a:r>
            <a:r>
              <a:rPr lang="en-US" altLang="zh-CN" sz="2400" b="1" smtClean="0">
                <a:latin typeface="新宋体" panose="02010609030101010101" charset="-122"/>
                <a:ea typeface="新宋体" panose="02010609030101010101" charset="-122"/>
              </a:rPr>
              <a:t>O(n)</a:t>
            </a:r>
            <a:r>
              <a:rPr lang="zh-CN" altLang="en-US" sz="2400" b="1" smtClean="0">
                <a:latin typeface="新宋体" panose="02010609030101010101" charset="-122"/>
                <a:ea typeface="新宋体" panose="02010609030101010101" charset="-122"/>
              </a:rPr>
              <a:t>计算时间，由于最小堆的</a:t>
            </a:r>
            <a:r>
              <a:rPr lang="en-US" altLang="zh-CN" sz="2400" b="1" smtClean="0">
                <a:latin typeface="新宋体" panose="02010609030101010101" charset="-122"/>
                <a:ea typeface="新宋体" panose="02010609030101010101" charset="-122"/>
              </a:rPr>
              <a:t>removeMin</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put</a:t>
            </a:r>
            <a:r>
              <a:rPr lang="zh-CN" altLang="en-US" sz="2400" b="1" smtClean="0">
                <a:latin typeface="新宋体" panose="02010609030101010101" charset="-122"/>
                <a:ea typeface="新宋体" panose="02010609030101010101" charset="-122"/>
              </a:rPr>
              <a:t>运算均需</a:t>
            </a:r>
            <a:r>
              <a:rPr lang="en-US" altLang="zh-CN" sz="2400" b="1" smtClean="0">
                <a:latin typeface="新宋体" panose="02010609030101010101" charset="-122"/>
                <a:ea typeface="新宋体" panose="02010609030101010101" charset="-122"/>
              </a:rPr>
              <a:t>O(logn)</a:t>
            </a:r>
            <a:r>
              <a:rPr lang="zh-CN" altLang="en-US" sz="2400" b="1" smtClean="0">
                <a:latin typeface="新宋体" panose="02010609030101010101" charset="-122"/>
                <a:ea typeface="新宋体" panose="02010609030101010101" charset="-122"/>
              </a:rPr>
              <a:t>时间，</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1</a:t>
            </a:r>
            <a:r>
              <a:rPr lang="zh-CN" altLang="en-US" sz="2400" b="1" smtClean="0">
                <a:latin typeface="新宋体" panose="02010609030101010101" charset="-122"/>
                <a:ea typeface="新宋体" panose="02010609030101010101" charset="-122"/>
              </a:rPr>
              <a:t>次的合并总共需要</a:t>
            </a:r>
            <a:r>
              <a:rPr lang="en-US" altLang="zh-CN" sz="2400" b="1" smtClean="0">
                <a:latin typeface="新宋体" panose="02010609030101010101" charset="-122"/>
                <a:ea typeface="新宋体" panose="02010609030101010101" charset="-122"/>
              </a:rPr>
              <a:t>O(nlogn)</a:t>
            </a:r>
            <a:r>
              <a:rPr lang="zh-CN" altLang="en-US" sz="2400" b="1" smtClean="0">
                <a:latin typeface="新宋体" panose="02010609030101010101" charset="-122"/>
                <a:ea typeface="新宋体" panose="02010609030101010101" charset="-122"/>
              </a:rPr>
              <a:t>计算时间。因此，关于</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个字符的哈夫曼算法的</a:t>
            </a:r>
            <a:r>
              <a:rPr lang="zh-CN" altLang="en-US" sz="2400" b="1" smtClean="0">
                <a:solidFill>
                  <a:schemeClr val="accent2"/>
                </a:solidFill>
                <a:latin typeface="新宋体" panose="02010609030101010101" charset="-122"/>
                <a:ea typeface="新宋体" panose="02010609030101010101" charset="-122"/>
              </a:rPr>
              <a:t>计算时间</a:t>
            </a:r>
            <a:r>
              <a:rPr lang="zh-CN" altLang="en-US" sz="2400" b="1" smtClean="0">
                <a:latin typeface="新宋体" panose="02010609030101010101" charset="-122"/>
                <a:ea typeface="新宋体" panose="02010609030101010101" charset="-122"/>
              </a:rPr>
              <a:t>为</a:t>
            </a:r>
            <a:r>
              <a:rPr lang="en-US" altLang="zh-CN" sz="2400" b="1" smtClean="0">
                <a:latin typeface="新宋体" panose="02010609030101010101" charset="-122"/>
                <a:ea typeface="新宋体" panose="02010609030101010101" charset="-122"/>
              </a:rPr>
              <a:t>O(nlogn) </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endParaRPr lang="en-US" altLang="zh-CN"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4.4 </a:t>
            </a:r>
            <a:r>
              <a:rPr lang="zh-CN" altLang="en-US" smtClean="0">
                <a:latin typeface="黑体" panose="02010609060101010101" pitchFamily="2" charset="-122"/>
                <a:ea typeface="黑体" panose="02010609060101010101" pitchFamily="2" charset="-122"/>
              </a:rPr>
              <a:t>哈夫曼编码</a:t>
            </a:r>
            <a:endParaRPr lang="zh-CN" altLang="en-US" smtClean="0">
              <a:latin typeface="黑体" panose="02010609060101010101" pitchFamily="2" charset="-122"/>
              <a:ea typeface="黑体" panose="02010609060101010101" pitchFamily="2" charset="-122"/>
            </a:endParaRPr>
          </a:p>
        </p:txBody>
      </p:sp>
      <p:sp>
        <p:nvSpPr>
          <p:cNvPr id="2355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smtClean="0">
                <a:solidFill>
                  <a:schemeClr val="accent2"/>
                </a:solidFill>
                <a:latin typeface="黑体" panose="02010609060101010101" pitchFamily="2" charset="-122"/>
                <a:ea typeface="黑体" panose="02010609060101010101" pitchFamily="2" charset="-122"/>
              </a:rPr>
              <a:t>3</a:t>
            </a:r>
            <a:r>
              <a:rPr lang="zh-CN" altLang="en-US" sz="2600" b="1" smtClean="0">
                <a:solidFill>
                  <a:schemeClr val="accent2"/>
                </a:solidFill>
                <a:latin typeface="黑体" panose="02010609060101010101" pitchFamily="2" charset="-122"/>
                <a:ea typeface="黑体" panose="02010609060101010101" pitchFamily="2" charset="-122"/>
              </a:rPr>
              <a:t>、哈夫曼算法的正确性</a:t>
            </a:r>
            <a:endParaRPr lang="zh-CN" altLang="en-US" sz="2600" b="1" smtClean="0">
              <a:solidFill>
                <a:schemeClr val="accent2"/>
              </a:solidFill>
              <a:latin typeface="黑体" panose="02010609060101010101" pitchFamily="2" charset="-122"/>
              <a:ea typeface="黑体" panose="02010609060101010101" pitchFamily="2" charset="-122"/>
            </a:endParaRPr>
          </a:p>
          <a:p>
            <a:pPr eaLnBrk="1" hangingPunct="1">
              <a:spcBef>
                <a:spcPct val="80000"/>
              </a:spcBef>
              <a:buFont typeface="Wingdings" panose="05000000000000000000" pitchFamily="2" charset="2"/>
              <a:buNone/>
            </a:pPr>
            <a:r>
              <a:rPr lang="zh-CN" altLang="en-US" sz="2100"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要证明哈夫曼算法的正确性，只要证明最优前缀码问题具有</a:t>
            </a:r>
            <a:r>
              <a:rPr lang="zh-CN" altLang="en-US" sz="2400" b="1" smtClean="0">
                <a:solidFill>
                  <a:schemeClr val="accent2"/>
                </a:solidFill>
                <a:latin typeface="新宋体" panose="02010609030101010101" charset="-122"/>
                <a:ea typeface="新宋体" panose="02010609030101010101" charset="-122"/>
              </a:rPr>
              <a:t>贪心选择性质</a:t>
            </a:r>
            <a:r>
              <a:rPr lang="zh-CN" altLang="en-US" sz="2400" b="1" smtClean="0">
                <a:latin typeface="新宋体" panose="02010609030101010101" charset="-122"/>
                <a:ea typeface="新宋体" panose="02010609030101010101" charset="-122"/>
              </a:rPr>
              <a:t>和</a:t>
            </a:r>
            <a:r>
              <a:rPr lang="zh-CN" altLang="en-US" sz="2400" b="1" smtClean="0">
                <a:solidFill>
                  <a:schemeClr val="accent2"/>
                </a:solidFill>
                <a:latin typeface="新宋体" panose="02010609030101010101" charset="-122"/>
                <a:ea typeface="新宋体" panose="02010609030101010101" charset="-122"/>
              </a:rPr>
              <a:t>最优子结构性质</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100" smtClean="0">
                <a:solidFill>
                  <a:schemeClr val="accent2"/>
                </a:solidFill>
                <a:latin typeface="黑体" panose="02010609060101010101" pitchFamily="2" charset="-122"/>
                <a:ea typeface="黑体" panose="02010609060101010101" pitchFamily="2" charset="-122"/>
              </a:rPr>
              <a:t>		</a:t>
            </a:r>
            <a:endParaRPr lang="zh-CN" altLang="en-US" sz="2100"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100" smtClean="0">
                <a:solidFill>
                  <a:schemeClr val="accent2"/>
                </a:solidFill>
                <a:latin typeface="黑体" panose="02010609060101010101" pitchFamily="2" charset="-122"/>
                <a:ea typeface="黑体" panose="02010609060101010101" pitchFamily="2" charset="-122"/>
              </a:rPr>
              <a:t>       </a:t>
            </a:r>
            <a:r>
              <a:rPr lang="en-US" altLang="zh-CN" sz="2400" smtClean="0">
                <a:solidFill>
                  <a:schemeClr val="accent2"/>
                </a:solidFill>
                <a:latin typeface="黑体" panose="02010609060101010101" pitchFamily="2" charset="-122"/>
                <a:ea typeface="黑体" panose="02010609060101010101" pitchFamily="2" charset="-122"/>
              </a:rPr>
              <a:t>(1)</a:t>
            </a:r>
            <a:r>
              <a:rPr lang="zh-CN" altLang="en-US" sz="2400" smtClean="0">
                <a:solidFill>
                  <a:schemeClr val="accent2"/>
                </a:solidFill>
                <a:latin typeface="黑体" panose="02010609060101010101" pitchFamily="2" charset="-122"/>
                <a:ea typeface="黑体" panose="02010609060101010101" pitchFamily="2" charset="-122"/>
              </a:rPr>
              <a:t>贪心选择性质</a:t>
            </a:r>
            <a:endParaRPr lang="zh-CN" altLang="en-US" sz="2400"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400" smtClean="0">
                <a:solidFill>
                  <a:schemeClr val="accent2"/>
                </a:solidFill>
                <a:latin typeface="黑体" panose="02010609060101010101" pitchFamily="2" charset="-122"/>
                <a:ea typeface="黑体" panose="02010609060101010101" pitchFamily="2" charset="-122"/>
              </a:rPr>
              <a:t>		</a:t>
            </a:r>
            <a:r>
              <a:rPr lang="en-US" altLang="zh-CN" sz="2400" smtClean="0">
                <a:solidFill>
                  <a:schemeClr val="accent2"/>
                </a:solidFill>
                <a:latin typeface="黑体" panose="02010609060101010101" pitchFamily="2" charset="-122"/>
                <a:ea typeface="黑体" panose="02010609060101010101" pitchFamily="2" charset="-122"/>
              </a:rPr>
              <a:t>(2)</a:t>
            </a:r>
            <a:r>
              <a:rPr lang="zh-CN" altLang="en-US" sz="2400" smtClean="0">
                <a:solidFill>
                  <a:schemeClr val="accent2"/>
                </a:solidFill>
                <a:latin typeface="黑体" panose="02010609060101010101" pitchFamily="2" charset="-122"/>
                <a:ea typeface="黑体" panose="02010609060101010101" pitchFamily="2" charset="-122"/>
              </a:rPr>
              <a:t>最优子结构性质</a:t>
            </a:r>
            <a:endParaRPr lang="zh-CN" altLang="en-US" sz="2400"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endParaRPr lang="en-US" altLang="zh-CN" sz="2100" smtClean="0">
              <a:solidFill>
                <a:schemeClr val="accent2"/>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1116013" y="188913"/>
            <a:ext cx="7793037" cy="838200"/>
          </a:xfrm>
        </p:spPr>
        <p:txBody>
          <a:bodyPr/>
          <a:lstStyle/>
          <a:p>
            <a:pPr eaLnBrk="1" hangingPunct="1"/>
            <a:r>
              <a:rPr lang="zh-CN" altLang="en-US" smtClean="0"/>
              <a:t>贪心选择性质</a:t>
            </a:r>
            <a:endParaRPr lang="zh-CN" altLang="en-US" smtClean="0"/>
          </a:p>
        </p:txBody>
      </p:sp>
      <p:graphicFrame>
        <p:nvGraphicFramePr>
          <p:cNvPr id="2050" name="Object 3"/>
          <p:cNvGraphicFramePr>
            <a:graphicFrameLocks noGrp="1" noChangeAspect="1"/>
          </p:cNvGraphicFramePr>
          <p:nvPr>
            <p:ph idx="1"/>
          </p:nvPr>
        </p:nvGraphicFramePr>
        <p:xfrm>
          <a:off x="468313" y="4344988"/>
          <a:ext cx="8135937" cy="2468562"/>
        </p:xfrm>
        <a:graphic>
          <a:graphicData uri="http://schemas.openxmlformats.org/presentationml/2006/ole">
            <mc:AlternateContent xmlns:mc="http://schemas.openxmlformats.org/markup-compatibility/2006">
              <mc:Choice xmlns:v="urn:schemas-microsoft-com:vml" Requires="v">
                <p:oleObj spid="_x0000_s3074" name="公式" r:id="rId1" imgW="3949700" imgH="1231900" progId="Equation.3">
                  <p:embed/>
                </p:oleObj>
              </mc:Choice>
              <mc:Fallback>
                <p:oleObj name="公式" r:id="rId1" imgW="3949700" imgH="1231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344988"/>
                        <a:ext cx="8135937"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Rectangle 4"/>
          <p:cNvSpPr>
            <a:spLocks noChangeArrowheads="1"/>
          </p:cNvSpPr>
          <p:nvPr/>
        </p:nvSpPr>
        <p:spPr bwMode="auto">
          <a:xfrm>
            <a:off x="177800" y="2843213"/>
            <a:ext cx="576263"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y</a:t>
            </a:r>
            <a:endParaRPr lang="en-US" altLang="zh-CN" sz="2400" i="1">
              <a:latin typeface="Times New Roman" panose="02020603050405020304" pitchFamily="18" charset="0"/>
            </a:endParaRPr>
          </a:p>
        </p:txBody>
      </p:sp>
      <p:sp>
        <p:nvSpPr>
          <p:cNvPr id="2053" name="Rectangle 5"/>
          <p:cNvSpPr>
            <a:spLocks noChangeArrowheads="1"/>
          </p:cNvSpPr>
          <p:nvPr/>
        </p:nvSpPr>
        <p:spPr bwMode="auto">
          <a:xfrm>
            <a:off x="825500" y="3490913"/>
            <a:ext cx="576263"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a</a:t>
            </a:r>
            <a:endParaRPr lang="en-US" altLang="zh-CN" sz="2400" i="1">
              <a:latin typeface="Times New Roman" panose="02020603050405020304" pitchFamily="18" charset="0"/>
            </a:endParaRPr>
          </a:p>
        </p:txBody>
      </p:sp>
      <p:sp>
        <p:nvSpPr>
          <p:cNvPr id="2054" name="Rectangle 6"/>
          <p:cNvSpPr>
            <a:spLocks noChangeArrowheads="1"/>
          </p:cNvSpPr>
          <p:nvPr/>
        </p:nvSpPr>
        <p:spPr bwMode="auto">
          <a:xfrm>
            <a:off x="1979613" y="2205038"/>
            <a:ext cx="574675"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x</a:t>
            </a:r>
            <a:endParaRPr lang="en-US" altLang="zh-CN" sz="2400" i="1">
              <a:latin typeface="Times New Roman" panose="02020603050405020304" pitchFamily="18" charset="0"/>
            </a:endParaRPr>
          </a:p>
        </p:txBody>
      </p:sp>
      <p:sp>
        <p:nvSpPr>
          <p:cNvPr id="2055" name="Oval 7"/>
          <p:cNvSpPr>
            <a:spLocks noChangeArrowheads="1"/>
          </p:cNvSpPr>
          <p:nvPr/>
        </p:nvSpPr>
        <p:spPr bwMode="auto">
          <a:xfrm>
            <a:off x="684213" y="1844675"/>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56" name="Line 8"/>
          <p:cNvSpPr>
            <a:spLocks noChangeShapeType="1"/>
          </p:cNvSpPr>
          <p:nvPr/>
        </p:nvSpPr>
        <p:spPr bwMode="auto">
          <a:xfrm flipV="1">
            <a:off x="514350" y="2276475"/>
            <a:ext cx="312738" cy="546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7" name="Line 9"/>
          <p:cNvSpPr>
            <a:spLocks noChangeShapeType="1"/>
          </p:cNvSpPr>
          <p:nvPr/>
        </p:nvSpPr>
        <p:spPr bwMode="auto">
          <a:xfrm flipH="1" flipV="1">
            <a:off x="1116013" y="2205038"/>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8" name="Oval 10"/>
          <p:cNvSpPr>
            <a:spLocks noChangeArrowheads="1"/>
          </p:cNvSpPr>
          <p:nvPr/>
        </p:nvSpPr>
        <p:spPr bwMode="auto">
          <a:xfrm>
            <a:off x="1403350" y="1196975"/>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59" name="Line 11"/>
          <p:cNvSpPr>
            <a:spLocks noChangeShapeType="1"/>
          </p:cNvSpPr>
          <p:nvPr/>
        </p:nvSpPr>
        <p:spPr bwMode="auto">
          <a:xfrm flipV="1">
            <a:off x="1042988" y="1628775"/>
            <a:ext cx="488950" cy="287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60" name="Line 12"/>
          <p:cNvSpPr>
            <a:spLocks noChangeShapeType="1"/>
          </p:cNvSpPr>
          <p:nvPr/>
        </p:nvSpPr>
        <p:spPr bwMode="auto">
          <a:xfrm flipH="1" flipV="1">
            <a:off x="1763713" y="1628775"/>
            <a:ext cx="504825" cy="576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61" name="Oval 13"/>
          <p:cNvSpPr>
            <a:spLocks noChangeArrowheads="1"/>
          </p:cNvSpPr>
          <p:nvPr/>
        </p:nvSpPr>
        <p:spPr bwMode="auto">
          <a:xfrm>
            <a:off x="1331913" y="2565400"/>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62" name="Line 14"/>
          <p:cNvSpPr>
            <a:spLocks noChangeShapeType="1"/>
          </p:cNvSpPr>
          <p:nvPr/>
        </p:nvSpPr>
        <p:spPr bwMode="auto">
          <a:xfrm flipV="1">
            <a:off x="1185863" y="2997200"/>
            <a:ext cx="290512" cy="4937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3" name="Line 15"/>
          <p:cNvSpPr>
            <a:spLocks noChangeShapeType="1"/>
          </p:cNvSpPr>
          <p:nvPr/>
        </p:nvSpPr>
        <p:spPr bwMode="auto">
          <a:xfrm>
            <a:off x="1692275" y="2997200"/>
            <a:ext cx="287338" cy="50323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4" name="Rectangle 16"/>
          <p:cNvSpPr>
            <a:spLocks noChangeArrowheads="1"/>
          </p:cNvSpPr>
          <p:nvPr/>
        </p:nvSpPr>
        <p:spPr bwMode="auto">
          <a:xfrm>
            <a:off x="1692275" y="3500438"/>
            <a:ext cx="576263"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b</a:t>
            </a:r>
            <a:endParaRPr lang="en-US" altLang="zh-CN" sz="2400" i="1">
              <a:latin typeface="Times New Roman" panose="02020603050405020304" pitchFamily="18" charset="0"/>
            </a:endParaRPr>
          </a:p>
        </p:txBody>
      </p:sp>
      <p:sp>
        <p:nvSpPr>
          <p:cNvPr id="2065" name="Rectangle 17"/>
          <p:cNvSpPr>
            <a:spLocks noChangeArrowheads="1"/>
          </p:cNvSpPr>
          <p:nvPr/>
        </p:nvSpPr>
        <p:spPr bwMode="auto">
          <a:xfrm>
            <a:off x="3275013" y="2843213"/>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y</a:t>
            </a:r>
            <a:endParaRPr lang="en-US" altLang="zh-CN" sz="2400" i="1">
              <a:latin typeface="Times New Roman" panose="02020603050405020304" pitchFamily="18" charset="0"/>
            </a:endParaRPr>
          </a:p>
        </p:txBody>
      </p:sp>
      <p:sp>
        <p:nvSpPr>
          <p:cNvPr id="2066" name="Rectangle 18"/>
          <p:cNvSpPr>
            <a:spLocks noChangeArrowheads="1"/>
          </p:cNvSpPr>
          <p:nvPr/>
        </p:nvSpPr>
        <p:spPr bwMode="auto">
          <a:xfrm>
            <a:off x="3922713" y="3490913"/>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x</a:t>
            </a:r>
            <a:endParaRPr lang="en-US" altLang="zh-CN" sz="2400" i="1">
              <a:latin typeface="Times New Roman" panose="02020603050405020304" pitchFamily="18" charset="0"/>
            </a:endParaRPr>
          </a:p>
        </p:txBody>
      </p:sp>
      <p:sp>
        <p:nvSpPr>
          <p:cNvPr id="2067" name="Rectangle 19"/>
          <p:cNvSpPr>
            <a:spLocks noChangeArrowheads="1"/>
          </p:cNvSpPr>
          <p:nvPr/>
        </p:nvSpPr>
        <p:spPr bwMode="auto">
          <a:xfrm>
            <a:off x="5076825" y="2205038"/>
            <a:ext cx="574675"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a</a:t>
            </a:r>
            <a:endParaRPr lang="en-US" altLang="zh-CN" sz="2400" i="1">
              <a:latin typeface="Times New Roman" panose="02020603050405020304" pitchFamily="18" charset="0"/>
            </a:endParaRPr>
          </a:p>
        </p:txBody>
      </p:sp>
      <p:sp>
        <p:nvSpPr>
          <p:cNvPr id="2068" name="Oval 20"/>
          <p:cNvSpPr>
            <a:spLocks noChangeArrowheads="1"/>
          </p:cNvSpPr>
          <p:nvPr/>
        </p:nvSpPr>
        <p:spPr bwMode="auto">
          <a:xfrm>
            <a:off x="3781425" y="1844675"/>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69" name="Line 21"/>
          <p:cNvSpPr>
            <a:spLocks noChangeShapeType="1"/>
          </p:cNvSpPr>
          <p:nvPr/>
        </p:nvSpPr>
        <p:spPr bwMode="auto">
          <a:xfrm flipV="1">
            <a:off x="3611563" y="2276475"/>
            <a:ext cx="312737" cy="546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0" name="Line 22"/>
          <p:cNvSpPr>
            <a:spLocks noChangeShapeType="1"/>
          </p:cNvSpPr>
          <p:nvPr/>
        </p:nvSpPr>
        <p:spPr bwMode="auto">
          <a:xfrm flipH="1" flipV="1">
            <a:off x="4213225" y="2205038"/>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1" name="Oval 23"/>
          <p:cNvSpPr>
            <a:spLocks noChangeArrowheads="1"/>
          </p:cNvSpPr>
          <p:nvPr/>
        </p:nvSpPr>
        <p:spPr bwMode="auto">
          <a:xfrm>
            <a:off x="4500563" y="1196975"/>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72" name="Line 24"/>
          <p:cNvSpPr>
            <a:spLocks noChangeShapeType="1"/>
          </p:cNvSpPr>
          <p:nvPr/>
        </p:nvSpPr>
        <p:spPr bwMode="auto">
          <a:xfrm flipV="1">
            <a:off x="4140200" y="1628775"/>
            <a:ext cx="488950" cy="287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3" name="Line 25"/>
          <p:cNvSpPr>
            <a:spLocks noChangeShapeType="1"/>
          </p:cNvSpPr>
          <p:nvPr/>
        </p:nvSpPr>
        <p:spPr bwMode="auto">
          <a:xfrm flipH="1" flipV="1">
            <a:off x="4860925" y="1628775"/>
            <a:ext cx="504825" cy="576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74" name="Oval 26"/>
          <p:cNvSpPr>
            <a:spLocks noChangeArrowheads="1"/>
          </p:cNvSpPr>
          <p:nvPr/>
        </p:nvSpPr>
        <p:spPr bwMode="auto">
          <a:xfrm>
            <a:off x="4429125" y="2565400"/>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75" name="Line 27"/>
          <p:cNvSpPr>
            <a:spLocks noChangeShapeType="1"/>
          </p:cNvSpPr>
          <p:nvPr/>
        </p:nvSpPr>
        <p:spPr bwMode="auto">
          <a:xfrm flipV="1">
            <a:off x="4283075" y="2997200"/>
            <a:ext cx="290513" cy="4937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6" name="Line 28"/>
          <p:cNvSpPr>
            <a:spLocks noChangeShapeType="1"/>
          </p:cNvSpPr>
          <p:nvPr/>
        </p:nvSpPr>
        <p:spPr bwMode="auto">
          <a:xfrm>
            <a:off x="4789488" y="2997200"/>
            <a:ext cx="287337" cy="50323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7" name="Rectangle 29"/>
          <p:cNvSpPr>
            <a:spLocks noChangeArrowheads="1"/>
          </p:cNvSpPr>
          <p:nvPr/>
        </p:nvSpPr>
        <p:spPr bwMode="auto">
          <a:xfrm>
            <a:off x="4789488" y="3500438"/>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b</a:t>
            </a:r>
            <a:endParaRPr lang="en-US" altLang="zh-CN" sz="2400" i="1">
              <a:latin typeface="Times New Roman" panose="02020603050405020304" pitchFamily="18" charset="0"/>
            </a:endParaRPr>
          </a:p>
        </p:txBody>
      </p:sp>
      <p:sp>
        <p:nvSpPr>
          <p:cNvPr id="2078" name="Rectangle 30"/>
          <p:cNvSpPr>
            <a:spLocks noChangeArrowheads="1"/>
          </p:cNvSpPr>
          <p:nvPr/>
        </p:nvSpPr>
        <p:spPr bwMode="auto">
          <a:xfrm>
            <a:off x="6586538" y="2770188"/>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b</a:t>
            </a:r>
            <a:endParaRPr lang="en-US" altLang="zh-CN" sz="2400" i="1">
              <a:latin typeface="Times New Roman" panose="02020603050405020304" pitchFamily="18" charset="0"/>
            </a:endParaRPr>
          </a:p>
        </p:txBody>
      </p:sp>
      <p:sp>
        <p:nvSpPr>
          <p:cNvPr id="2079" name="Rectangle 31"/>
          <p:cNvSpPr>
            <a:spLocks noChangeArrowheads="1"/>
          </p:cNvSpPr>
          <p:nvPr/>
        </p:nvSpPr>
        <p:spPr bwMode="auto">
          <a:xfrm>
            <a:off x="7234238" y="3417888"/>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x</a:t>
            </a:r>
            <a:endParaRPr lang="en-US" altLang="zh-CN" sz="2400" i="1">
              <a:latin typeface="Times New Roman" panose="02020603050405020304" pitchFamily="18" charset="0"/>
            </a:endParaRPr>
          </a:p>
        </p:txBody>
      </p:sp>
      <p:sp>
        <p:nvSpPr>
          <p:cNvPr id="2080" name="Rectangle 32"/>
          <p:cNvSpPr>
            <a:spLocks noChangeArrowheads="1"/>
          </p:cNvSpPr>
          <p:nvPr/>
        </p:nvSpPr>
        <p:spPr bwMode="auto">
          <a:xfrm>
            <a:off x="8388350" y="2132013"/>
            <a:ext cx="574675"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a</a:t>
            </a:r>
            <a:endParaRPr lang="en-US" altLang="zh-CN" sz="2400" i="1">
              <a:latin typeface="Times New Roman" panose="02020603050405020304" pitchFamily="18" charset="0"/>
            </a:endParaRPr>
          </a:p>
        </p:txBody>
      </p:sp>
      <p:sp>
        <p:nvSpPr>
          <p:cNvPr id="2081" name="Oval 33"/>
          <p:cNvSpPr>
            <a:spLocks noChangeArrowheads="1"/>
          </p:cNvSpPr>
          <p:nvPr/>
        </p:nvSpPr>
        <p:spPr bwMode="auto">
          <a:xfrm>
            <a:off x="7092950" y="1771650"/>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82" name="Line 34"/>
          <p:cNvSpPr>
            <a:spLocks noChangeShapeType="1"/>
          </p:cNvSpPr>
          <p:nvPr/>
        </p:nvSpPr>
        <p:spPr bwMode="auto">
          <a:xfrm flipV="1">
            <a:off x="6923088" y="2203450"/>
            <a:ext cx="312737" cy="546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3" name="Line 35"/>
          <p:cNvSpPr>
            <a:spLocks noChangeShapeType="1"/>
          </p:cNvSpPr>
          <p:nvPr/>
        </p:nvSpPr>
        <p:spPr bwMode="auto">
          <a:xfrm flipH="1" flipV="1">
            <a:off x="7524750" y="2132013"/>
            <a:ext cx="304800" cy="381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4" name="Oval 36"/>
          <p:cNvSpPr>
            <a:spLocks noChangeArrowheads="1"/>
          </p:cNvSpPr>
          <p:nvPr/>
        </p:nvSpPr>
        <p:spPr bwMode="auto">
          <a:xfrm>
            <a:off x="7812088" y="1123950"/>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85" name="Line 37"/>
          <p:cNvSpPr>
            <a:spLocks noChangeShapeType="1"/>
          </p:cNvSpPr>
          <p:nvPr/>
        </p:nvSpPr>
        <p:spPr bwMode="auto">
          <a:xfrm flipV="1">
            <a:off x="7451725" y="1555750"/>
            <a:ext cx="488950" cy="2873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6" name="Line 38"/>
          <p:cNvSpPr>
            <a:spLocks noChangeShapeType="1"/>
          </p:cNvSpPr>
          <p:nvPr/>
        </p:nvSpPr>
        <p:spPr bwMode="auto">
          <a:xfrm flipH="1" flipV="1">
            <a:off x="8172450" y="1555750"/>
            <a:ext cx="504825" cy="576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87" name="Oval 39"/>
          <p:cNvSpPr>
            <a:spLocks noChangeArrowheads="1"/>
          </p:cNvSpPr>
          <p:nvPr/>
        </p:nvSpPr>
        <p:spPr bwMode="auto">
          <a:xfrm>
            <a:off x="7740650" y="2492375"/>
            <a:ext cx="457200" cy="457200"/>
          </a:xfrm>
          <a:prstGeom prst="ellipse">
            <a:avLst/>
          </a:prstGeom>
          <a:solidFill>
            <a:srgbClr val="CCFFFF"/>
          </a:solidFill>
          <a:ln w="9525" algn="ctr">
            <a:solidFill>
              <a:schemeClr val="tx1"/>
            </a:solidFill>
            <a:round/>
          </a:ln>
        </p:spPr>
        <p:txBody>
          <a:bodyPr wrap="none" anchor="ctr"/>
          <a:lstStyle/>
          <a:p>
            <a:pPr algn="ctr" eaLnBrk="0" hangingPunct="0"/>
            <a:endParaRPr lang="zh-CN" altLang="zh-CN" sz="2400">
              <a:solidFill>
                <a:schemeClr val="bg2"/>
              </a:solidFill>
              <a:latin typeface="SWAstro" panose="02000400000000000000" charset="0"/>
            </a:endParaRPr>
          </a:p>
        </p:txBody>
      </p:sp>
      <p:sp>
        <p:nvSpPr>
          <p:cNvPr id="2088" name="Line 40"/>
          <p:cNvSpPr>
            <a:spLocks noChangeShapeType="1"/>
          </p:cNvSpPr>
          <p:nvPr/>
        </p:nvSpPr>
        <p:spPr bwMode="auto">
          <a:xfrm flipV="1">
            <a:off x="7594600" y="2924175"/>
            <a:ext cx="290513" cy="49371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9" name="Line 41"/>
          <p:cNvSpPr>
            <a:spLocks noChangeShapeType="1"/>
          </p:cNvSpPr>
          <p:nvPr/>
        </p:nvSpPr>
        <p:spPr bwMode="auto">
          <a:xfrm>
            <a:off x="8101013" y="2924175"/>
            <a:ext cx="287337" cy="503238"/>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0" name="Rectangle 42"/>
          <p:cNvSpPr>
            <a:spLocks noChangeArrowheads="1"/>
          </p:cNvSpPr>
          <p:nvPr/>
        </p:nvSpPr>
        <p:spPr bwMode="auto">
          <a:xfrm>
            <a:off x="8101013" y="3427413"/>
            <a:ext cx="576262" cy="3048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400" i="1">
                <a:latin typeface="Times New Roman" panose="02020603050405020304" pitchFamily="18" charset="0"/>
              </a:rPr>
              <a:t>y</a:t>
            </a:r>
            <a:endParaRPr lang="en-US" altLang="zh-CN" sz="2400" i="1">
              <a:latin typeface="Times New Roman" panose="02020603050405020304" pitchFamily="18" charset="0"/>
            </a:endParaRPr>
          </a:p>
        </p:txBody>
      </p:sp>
      <p:sp>
        <p:nvSpPr>
          <p:cNvPr id="2091" name="Line 43"/>
          <p:cNvSpPr>
            <a:spLocks noChangeShapeType="1"/>
          </p:cNvSpPr>
          <p:nvPr/>
        </p:nvSpPr>
        <p:spPr bwMode="auto">
          <a:xfrm>
            <a:off x="2700338" y="2349500"/>
            <a:ext cx="431800"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92" name="Rectangle 44"/>
          <p:cNvSpPr>
            <a:spLocks noChangeArrowheads="1"/>
          </p:cNvSpPr>
          <p:nvPr/>
        </p:nvSpPr>
        <p:spPr bwMode="auto">
          <a:xfrm>
            <a:off x="812800" y="107473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gn="ctr" eaLnBrk="0" hangingPunct="0"/>
            <a:r>
              <a:rPr lang="en-US" altLang="zh-CN" sz="2800" i="1">
                <a:latin typeface="Times New Roman" panose="02020603050405020304" pitchFamily="18" charset="0"/>
              </a:rPr>
              <a:t>T</a:t>
            </a:r>
            <a:endParaRPr lang="en-US" altLang="zh-CN" sz="2800" i="1">
              <a:latin typeface="Times New Roman" panose="02020603050405020304" pitchFamily="18" charset="0"/>
            </a:endParaRPr>
          </a:p>
        </p:txBody>
      </p:sp>
      <p:sp>
        <p:nvSpPr>
          <p:cNvPr id="2093" name="Rectangle 45"/>
          <p:cNvSpPr>
            <a:spLocks noChangeArrowheads="1"/>
          </p:cNvSpPr>
          <p:nvPr/>
        </p:nvSpPr>
        <p:spPr bwMode="auto">
          <a:xfrm>
            <a:off x="3467100" y="1074738"/>
            <a:ext cx="549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gn="ctr" eaLnBrk="0" hangingPunct="0"/>
            <a:r>
              <a:rPr lang="en-US" altLang="zh-CN" sz="2800" i="1">
                <a:latin typeface="Times New Roman" panose="02020603050405020304" pitchFamily="18" charset="0"/>
              </a:rPr>
              <a:t>T ′</a:t>
            </a:r>
            <a:endParaRPr lang="en-US" altLang="zh-CN" sz="2800" i="1">
              <a:latin typeface="Times New Roman" panose="02020603050405020304" pitchFamily="18" charset="0"/>
            </a:endParaRPr>
          </a:p>
        </p:txBody>
      </p:sp>
      <p:sp>
        <p:nvSpPr>
          <p:cNvPr id="2094" name="Rectangle 46"/>
          <p:cNvSpPr>
            <a:spLocks noChangeArrowheads="1"/>
          </p:cNvSpPr>
          <p:nvPr/>
        </p:nvSpPr>
        <p:spPr bwMode="auto">
          <a:xfrm>
            <a:off x="6618288" y="1052513"/>
            <a:ext cx="687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algn="ctr" eaLnBrk="0" hangingPunct="0"/>
            <a:r>
              <a:rPr lang="en-US" altLang="zh-CN" sz="2800" i="1">
                <a:latin typeface="Times New Roman" panose="02020603050405020304" pitchFamily="18" charset="0"/>
              </a:rPr>
              <a:t>T</a:t>
            </a:r>
            <a:r>
              <a:rPr lang="en-US" altLang="zh-CN" sz="2400" i="1">
                <a:latin typeface="Times New Roman" panose="02020603050405020304" pitchFamily="18" charset="0"/>
              </a:rPr>
              <a:t>〞</a:t>
            </a:r>
            <a:endParaRPr lang="en-US" altLang="zh-CN" sz="2400" i="1">
              <a:latin typeface="Times New Roman" panose="02020603050405020304" pitchFamily="18" charset="0"/>
            </a:endParaRPr>
          </a:p>
        </p:txBody>
      </p:sp>
      <p:sp>
        <p:nvSpPr>
          <p:cNvPr id="2095" name="Line 47"/>
          <p:cNvSpPr>
            <a:spLocks noChangeShapeType="1"/>
          </p:cNvSpPr>
          <p:nvPr/>
        </p:nvSpPr>
        <p:spPr bwMode="auto">
          <a:xfrm>
            <a:off x="5867400" y="2276475"/>
            <a:ext cx="431800"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4.5 </a:t>
            </a:r>
            <a:r>
              <a:rPr lang="zh-CN" altLang="en-US" smtClean="0">
                <a:latin typeface="黑体" panose="02010609060101010101" pitchFamily="2" charset="-122"/>
                <a:ea typeface="黑体" panose="02010609060101010101" pitchFamily="2" charset="-122"/>
              </a:rPr>
              <a:t>单源最短路径</a:t>
            </a:r>
            <a:endParaRPr lang="zh-CN" altLang="en-US" smtClean="0">
              <a:latin typeface="黑体" panose="02010609060101010101" pitchFamily="2" charset="-122"/>
              <a:ea typeface="黑体" panose="02010609060101010101" pitchFamily="2" charset="-122"/>
            </a:endParaRPr>
          </a:p>
        </p:txBody>
      </p:sp>
      <p:sp>
        <p:nvSpPr>
          <p:cNvPr id="2457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给定带权有向图</a:t>
            </a:r>
            <a:r>
              <a:rPr lang="en-US" altLang="zh-CN" sz="2400" b="1" smtClean="0">
                <a:latin typeface="新宋体" panose="02010609030101010101" charset="-122"/>
                <a:ea typeface="新宋体" panose="02010609030101010101" charset="-122"/>
              </a:rPr>
              <a:t>G =(V,E)</a:t>
            </a:r>
            <a:r>
              <a:rPr lang="zh-CN" altLang="en-US" sz="2400" b="1" smtClean="0">
                <a:latin typeface="新宋体" panose="02010609030101010101" charset="-122"/>
                <a:ea typeface="新宋体" panose="02010609030101010101" charset="-122"/>
              </a:rPr>
              <a:t>，其中每条边的权是非负实数。另外，还给定</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中的一个顶点，称为</a:t>
            </a:r>
            <a:r>
              <a:rPr lang="zh-CN" altLang="en-US" sz="2400" b="1" smtClean="0">
                <a:solidFill>
                  <a:schemeClr val="accent2"/>
                </a:solidFill>
                <a:latin typeface="新宋体" panose="02010609030101010101" charset="-122"/>
                <a:ea typeface="新宋体" panose="02010609030101010101" charset="-122"/>
              </a:rPr>
              <a:t>源</a:t>
            </a:r>
            <a:r>
              <a:rPr lang="zh-CN" altLang="en-US" sz="2400" b="1" smtClean="0">
                <a:latin typeface="新宋体" panose="02010609030101010101" charset="-122"/>
                <a:ea typeface="新宋体" panose="02010609030101010101" charset="-122"/>
              </a:rPr>
              <a:t>。现在要计算从源到所有其它各顶点的</a:t>
            </a:r>
            <a:r>
              <a:rPr lang="zh-CN" altLang="en-US" sz="2400" b="1" smtClean="0">
                <a:solidFill>
                  <a:schemeClr val="accent2"/>
                </a:solidFill>
                <a:latin typeface="新宋体" panose="02010609030101010101" charset="-122"/>
                <a:ea typeface="新宋体" panose="02010609030101010101" charset="-122"/>
              </a:rPr>
              <a:t>最短路长度</a:t>
            </a:r>
            <a:r>
              <a:rPr lang="zh-CN" altLang="en-US" sz="2400" b="1" smtClean="0">
                <a:latin typeface="新宋体" panose="02010609030101010101" charset="-122"/>
                <a:ea typeface="新宋体" panose="02010609030101010101" charset="-122"/>
              </a:rPr>
              <a:t>。这里路的长度是指路上各边权之和。这个问题通常称为</a:t>
            </a:r>
            <a:r>
              <a:rPr lang="zh-CN" altLang="en-US" sz="2400" b="1" smtClean="0">
                <a:solidFill>
                  <a:schemeClr val="accent2"/>
                </a:solidFill>
                <a:latin typeface="新宋体" panose="02010609030101010101" charset="-122"/>
                <a:ea typeface="新宋体" panose="02010609030101010101" charset="-122"/>
              </a:rPr>
              <a:t>单源最短路径问题</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solidFill>
                  <a:schemeClr val="accent2"/>
                </a:solidFill>
                <a:latin typeface="黑体" panose="02010609060101010101" pitchFamily="2" charset="-122"/>
                <a:ea typeface="黑体" panose="02010609060101010101" pitchFamily="2" charset="-122"/>
              </a:rPr>
              <a:t>	</a:t>
            </a:r>
            <a:r>
              <a:rPr lang="en-US" altLang="zh-CN" sz="2400" b="1" smtClean="0">
                <a:solidFill>
                  <a:schemeClr val="accent2"/>
                </a:solidFill>
                <a:latin typeface="黑体" panose="02010609060101010101" pitchFamily="2" charset="-122"/>
                <a:ea typeface="黑体" panose="02010609060101010101" pitchFamily="2" charset="-122"/>
              </a:rPr>
              <a:t>1</a:t>
            </a:r>
            <a:r>
              <a:rPr lang="zh-CN" altLang="en-US" sz="2400" b="1" smtClean="0">
                <a:solidFill>
                  <a:schemeClr val="accent2"/>
                </a:solidFill>
                <a:latin typeface="黑体" panose="02010609060101010101" pitchFamily="2" charset="-122"/>
                <a:ea typeface="黑体" panose="02010609060101010101" pitchFamily="2" charset="-122"/>
              </a:rPr>
              <a:t>、算法基本思想</a:t>
            </a:r>
            <a:endParaRPr lang="zh-CN" altLang="en-US" sz="24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a:t>
            </a:r>
            <a:r>
              <a:rPr lang="en-US" altLang="zh-CN" sz="2400" b="1" smtClean="0">
                <a:latin typeface="新宋体" panose="02010609030101010101" charset="-122"/>
                <a:ea typeface="新宋体" panose="02010609030101010101" charset="-122"/>
              </a:rPr>
              <a:t>Dijkstra</a:t>
            </a:r>
            <a:r>
              <a:rPr lang="zh-CN" altLang="en-US" sz="2400" b="1" smtClean="0">
                <a:latin typeface="新宋体" panose="02010609030101010101" charset="-122"/>
                <a:ea typeface="新宋体" panose="02010609030101010101" charset="-122"/>
              </a:rPr>
              <a:t>算法是解单源最短路径问题的贪心算法。</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黑体" panose="02010609060101010101" pitchFamily="2" charset="-122"/>
              <a:ea typeface="黑体" panose="02010609060101010101" pitchFamily="2" charset="-122"/>
            </a:endParaRPr>
          </a:p>
          <a:p>
            <a:pPr eaLnBrk="1" hangingPunct="1">
              <a:buFont typeface="Wingdings" panose="05000000000000000000" pitchFamily="2" charset="2"/>
              <a:buNone/>
            </a:pPr>
            <a:endParaRPr lang="en-US" altLang="zh-CN" sz="2400" b="1" smtClean="0">
              <a:solidFill>
                <a:schemeClr val="accent2"/>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4.5 </a:t>
            </a:r>
            <a:r>
              <a:rPr lang="zh-CN" altLang="en-US" smtClean="0">
                <a:latin typeface="黑体" panose="02010609060101010101" pitchFamily="2" charset="-122"/>
                <a:ea typeface="黑体" panose="02010609060101010101" pitchFamily="2" charset="-122"/>
              </a:rPr>
              <a:t>单源最短路径</a:t>
            </a:r>
            <a:endParaRPr lang="zh-CN" altLang="en-US" smtClean="0">
              <a:latin typeface="黑体" panose="02010609060101010101" pitchFamily="2" charset="-122"/>
              <a:ea typeface="黑体" panose="02010609060101010101" pitchFamily="2" charset="-122"/>
            </a:endParaRPr>
          </a:p>
        </p:txBody>
      </p:sp>
      <p:sp>
        <p:nvSpPr>
          <p:cNvPr id="2560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其</a:t>
            </a:r>
            <a:r>
              <a:rPr lang="zh-CN" altLang="en-US" sz="2400" b="1" smtClean="0">
                <a:solidFill>
                  <a:schemeClr val="accent2"/>
                </a:solidFill>
                <a:latin typeface="新宋体" panose="02010609030101010101" charset="-122"/>
                <a:ea typeface="新宋体" panose="02010609030101010101" charset="-122"/>
              </a:rPr>
              <a:t>基本思想</a:t>
            </a:r>
            <a:r>
              <a:rPr lang="zh-CN" altLang="en-US" sz="2400" b="1" smtClean="0">
                <a:latin typeface="新宋体" panose="02010609030101010101" charset="-122"/>
                <a:ea typeface="新宋体" panose="02010609030101010101" charset="-122"/>
              </a:rPr>
              <a:t>是，设置顶点集合</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并不断地作</a:t>
            </a:r>
            <a:r>
              <a:rPr lang="zh-CN" altLang="en-US" sz="2400" b="1" smtClean="0">
                <a:solidFill>
                  <a:schemeClr val="accent2"/>
                </a:solidFill>
                <a:latin typeface="新宋体" panose="02010609030101010101" charset="-122"/>
                <a:ea typeface="新宋体" panose="02010609030101010101" charset="-122"/>
              </a:rPr>
              <a:t>贪心选择</a:t>
            </a:r>
            <a:r>
              <a:rPr lang="zh-CN" altLang="en-US" sz="2400" b="1" smtClean="0">
                <a:latin typeface="新宋体" panose="02010609030101010101" charset="-122"/>
                <a:ea typeface="新宋体" panose="02010609030101010101" charset="-122"/>
              </a:rPr>
              <a:t>来扩充这个集合。一个顶点属于集合</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当且仅当从源到该顶点的最短路径长度已知。</a:t>
            </a:r>
            <a:endParaRPr lang="zh-CN" altLang="en-US" sz="24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400" b="1" smtClean="0">
                <a:latin typeface="新宋体" panose="02010609030101010101" charset="-122"/>
                <a:ea typeface="新宋体" panose="02010609030101010101" charset="-122"/>
              </a:rPr>
              <a:t>		初始时，</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中仅含有源。设</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是</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的某一个顶点，把从源到</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且中间只经过</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中顶点的路称为从源到</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的特殊路径，并用数组</a:t>
            </a:r>
            <a:r>
              <a:rPr lang="en-US" altLang="zh-CN" sz="2400" b="1" smtClean="0">
                <a:latin typeface="新宋体" panose="02010609030101010101" charset="-122"/>
                <a:ea typeface="新宋体" panose="02010609030101010101" charset="-122"/>
              </a:rPr>
              <a:t>dist</a:t>
            </a:r>
            <a:r>
              <a:rPr lang="zh-CN" altLang="en-US" sz="2400" b="1" smtClean="0">
                <a:latin typeface="新宋体" panose="02010609030101010101" charset="-122"/>
                <a:ea typeface="新宋体" panose="02010609030101010101" charset="-122"/>
              </a:rPr>
              <a:t>记录当前每个顶点所对应的最短特殊路径长度。</a:t>
            </a:r>
            <a:r>
              <a:rPr lang="en-US" altLang="zh-CN" sz="2400" b="1" smtClean="0">
                <a:latin typeface="新宋体" panose="02010609030101010101" charset="-122"/>
                <a:ea typeface="新宋体" panose="02010609030101010101" charset="-122"/>
              </a:rPr>
              <a:t>Dijkstra</a:t>
            </a:r>
            <a:r>
              <a:rPr lang="zh-CN" altLang="en-US" sz="2400" b="1" smtClean="0">
                <a:latin typeface="新宋体" panose="02010609030101010101" charset="-122"/>
                <a:ea typeface="新宋体" panose="02010609030101010101" charset="-122"/>
              </a:rPr>
              <a:t>算法每次从</a:t>
            </a:r>
            <a:r>
              <a:rPr lang="en-US" altLang="zh-CN" sz="2400" b="1" smtClean="0">
                <a:latin typeface="新宋体" panose="02010609030101010101" charset="-122"/>
                <a:ea typeface="新宋体" panose="02010609030101010101" charset="-122"/>
              </a:rPr>
              <a:t>V-S</a:t>
            </a:r>
            <a:r>
              <a:rPr lang="zh-CN" altLang="en-US" sz="2400" b="1" smtClean="0">
                <a:latin typeface="新宋体" panose="02010609030101010101" charset="-122"/>
                <a:ea typeface="新宋体" panose="02010609030101010101" charset="-122"/>
              </a:rPr>
              <a:t>中取出具有最短特殊路长度的顶点</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，将</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添加到</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中，同时对数组</a:t>
            </a:r>
            <a:r>
              <a:rPr lang="en-US" altLang="zh-CN" sz="2400" b="1" smtClean="0">
                <a:latin typeface="新宋体" panose="02010609030101010101" charset="-122"/>
                <a:ea typeface="新宋体" panose="02010609030101010101" charset="-122"/>
              </a:rPr>
              <a:t>dist</a:t>
            </a:r>
            <a:r>
              <a:rPr lang="zh-CN" altLang="en-US" sz="2400" b="1" smtClean="0">
                <a:latin typeface="新宋体" panose="02010609030101010101" charset="-122"/>
                <a:ea typeface="新宋体" panose="02010609030101010101" charset="-122"/>
              </a:rPr>
              <a:t>作必要的修改。一旦</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包含了所有</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中顶点，</a:t>
            </a:r>
            <a:r>
              <a:rPr lang="en-US" altLang="zh-CN" sz="2400" b="1" smtClean="0">
                <a:latin typeface="新宋体" panose="02010609030101010101" charset="-122"/>
                <a:ea typeface="新宋体" panose="02010609030101010101" charset="-122"/>
              </a:rPr>
              <a:t>dist</a:t>
            </a:r>
            <a:r>
              <a:rPr lang="zh-CN" altLang="en-US" sz="2400" b="1" smtClean="0">
                <a:latin typeface="新宋体" panose="02010609030101010101" charset="-122"/>
                <a:ea typeface="新宋体" panose="02010609030101010101" charset="-122"/>
              </a:rPr>
              <a:t>就记录了从源到所有其它顶点之间的最短路径长度。</a:t>
            </a:r>
            <a:endParaRPr lang="zh-CN" altLang="en-US"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4.5 </a:t>
            </a:r>
            <a:r>
              <a:rPr lang="zh-CN" altLang="en-US" smtClean="0">
                <a:latin typeface="黑体" panose="02010609060101010101" pitchFamily="2" charset="-122"/>
                <a:ea typeface="黑体" panose="02010609060101010101" pitchFamily="2" charset="-122"/>
              </a:rPr>
              <a:t>单源最短路径</a:t>
            </a:r>
            <a:endParaRPr lang="zh-CN" altLang="en-US" smtClean="0">
              <a:latin typeface="黑体" panose="02010609060101010101" pitchFamily="2" charset="-122"/>
              <a:ea typeface="黑体" panose="02010609060101010101" pitchFamily="2" charset="-122"/>
            </a:endParaRPr>
          </a:p>
        </p:txBody>
      </p:sp>
      <p:sp>
        <p:nvSpPr>
          <p:cNvPr id="26627" name="Rectangle 3"/>
          <p:cNvSpPr>
            <a:spLocks noGrp="1" noChangeArrowheads="1"/>
          </p:cNvSpPr>
          <p:nvPr>
            <p:ph type="body" sz="half" idx="1"/>
          </p:nvPr>
        </p:nvSpPr>
        <p:spPr>
          <a:xfrm>
            <a:off x="755650" y="2100263"/>
            <a:ext cx="3810000" cy="4003675"/>
          </a:xfrm>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solidFill>
                  <a:schemeClr val="accent2"/>
                </a:solidFill>
                <a:latin typeface="新宋体" panose="02010609030101010101" charset="-122"/>
                <a:ea typeface="新宋体" panose="02010609030101010101" charset="-122"/>
              </a:rPr>
              <a:t>例如</a:t>
            </a:r>
            <a:r>
              <a:rPr lang="zh-CN" altLang="en-US" sz="2400" b="1" smtClean="0">
                <a:latin typeface="新宋体" panose="02010609030101010101" charset="-122"/>
                <a:ea typeface="新宋体" panose="02010609030101010101" charset="-122"/>
              </a:rPr>
              <a:t>，对右图中的有向图，应用</a:t>
            </a:r>
            <a:r>
              <a:rPr lang="en-US" altLang="zh-CN" sz="2400" b="1" smtClean="0">
                <a:latin typeface="新宋体" panose="02010609030101010101" charset="-122"/>
                <a:ea typeface="新宋体" panose="02010609030101010101" charset="-122"/>
              </a:rPr>
              <a:t>Dijkstra</a:t>
            </a:r>
            <a:r>
              <a:rPr lang="zh-CN" altLang="en-US" sz="2400" b="1" smtClean="0">
                <a:latin typeface="新宋体" panose="02010609030101010101" charset="-122"/>
                <a:ea typeface="新宋体" panose="02010609030101010101" charset="-122"/>
              </a:rPr>
              <a:t>算法计算从源顶点</a:t>
            </a:r>
            <a:r>
              <a:rPr lang="en-US" altLang="zh-CN" sz="2400" b="1" smtClean="0">
                <a:latin typeface="新宋体" panose="02010609030101010101" charset="-122"/>
                <a:ea typeface="新宋体" panose="02010609030101010101" charset="-122"/>
              </a:rPr>
              <a:t>1</a:t>
            </a:r>
            <a:r>
              <a:rPr lang="zh-CN" altLang="en-US" sz="2400" b="1" smtClean="0">
                <a:latin typeface="新宋体" panose="02010609030101010101" charset="-122"/>
                <a:ea typeface="新宋体" panose="02010609030101010101" charset="-122"/>
              </a:rPr>
              <a:t>到其它顶点间最短路径的过程列在下页的表中。</a:t>
            </a:r>
            <a:endParaRPr lang="zh-CN" altLang="en-US" sz="2400" b="1" smtClean="0">
              <a:latin typeface="新宋体" panose="02010609030101010101" charset="-122"/>
              <a:ea typeface="新宋体" panose="02010609030101010101" charset="-122"/>
            </a:endParaRPr>
          </a:p>
          <a:p>
            <a:pPr eaLnBrk="1" hangingPunct="1"/>
            <a:endParaRPr lang="en-US" altLang="zh-CN" sz="2400" b="1" smtClean="0">
              <a:latin typeface="新宋体" panose="02010609030101010101" charset="-122"/>
              <a:ea typeface="新宋体" panose="02010609030101010101" charset="-122"/>
            </a:endParaRPr>
          </a:p>
        </p:txBody>
      </p:sp>
      <p:pic>
        <p:nvPicPr>
          <p:cNvPr id="26628" name="Picture 4" descr="t44"/>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4495800" y="2112963"/>
            <a:ext cx="3276600" cy="3413125"/>
          </a:xfrm>
          <a:noFill/>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p:txBody>
          <a:bodyPr/>
          <a:lstStyle/>
          <a:p>
            <a:pPr eaLnBrk="1" hangingPunct="1"/>
            <a:endParaRPr lang="zh-CN" altLang="zh-CN" smtClean="0"/>
          </a:p>
        </p:txBody>
      </p:sp>
      <p:pic>
        <p:nvPicPr>
          <p:cNvPr id="276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620713"/>
            <a:ext cx="9144000" cy="553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7652" name="Rectangle 4"/>
          <p:cNvSpPr>
            <a:spLocks noChangeArrowheads="1"/>
          </p:cNvSpPr>
          <p:nvPr/>
        </p:nvSpPr>
        <p:spPr bwMode="auto">
          <a:xfrm>
            <a:off x="0" y="549275"/>
            <a:ext cx="2051050"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p:txBody>
          <a:bodyPr/>
          <a:lstStyle/>
          <a:p>
            <a:pPr eaLnBrk="1" hangingPunct="1"/>
            <a:endParaRPr lang="zh-CN" altLang="zh-CN" smtClean="0"/>
          </a:p>
        </p:txBody>
      </p:sp>
      <p:pic>
        <p:nvPicPr>
          <p:cNvPr id="286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333375"/>
            <a:ext cx="9144000" cy="611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4.5 </a:t>
            </a:r>
            <a:r>
              <a:rPr lang="zh-CN" altLang="en-US" smtClean="0">
                <a:latin typeface="黑体" panose="02010609060101010101" pitchFamily="2" charset="-122"/>
                <a:ea typeface="黑体" panose="02010609060101010101" pitchFamily="2" charset="-122"/>
              </a:rPr>
              <a:t>单源最短路径</a:t>
            </a:r>
            <a:endParaRPr lang="zh-CN" altLang="en-US" smtClean="0">
              <a:latin typeface="黑体" panose="02010609060101010101" pitchFamily="2" charset="-122"/>
              <a:ea typeface="黑体" panose="02010609060101010101" pitchFamily="2" charset="-122"/>
            </a:endParaRPr>
          </a:p>
        </p:txBody>
      </p:sp>
      <p:sp>
        <p:nvSpPr>
          <p:cNvPr id="307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600" b="1" smtClean="0">
                <a:solidFill>
                  <a:schemeClr val="accent2"/>
                </a:solidFill>
                <a:latin typeface="黑体" panose="02010609060101010101" pitchFamily="2" charset="-122"/>
                <a:ea typeface="黑体" panose="02010609060101010101" pitchFamily="2" charset="-122"/>
              </a:rPr>
              <a:t>2</a:t>
            </a:r>
            <a:r>
              <a:rPr lang="zh-CN" altLang="en-US" sz="2600" b="1" smtClean="0">
                <a:solidFill>
                  <a:schemeClr val="accent2"/>
                </a:solidFill>
                <a:latin typeface="黑体" panose="02010609060101010101" pitchFamily="2" charset="-122"/>
                <a:ea typeface="黑体" panose="02010609060101010101" pitchFamily="2" charset="-122"/>
              </a:rPr>
              <a:t>、算法的正确性和计算复杂性</a:t>
            </a:r>
            <a:endParaRPr lang="zh-CN" altLang="en-US" sz="26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en-US" altLang="zh-CN" sz="2100" b="1" smtClean="0">
                <a:solidFill>
                  <a:schemeClr val="accent2"/>
                </a:solidFill>
                <a:latin typeface="黑体" panose="02010609060101010101" pitchFamily="2" charset="-122"/>
                <a:ea typeface="黑体" panose="02010609060101010101" pitchFamily="2" charset="-122"/>
              </a:rPr>
              <a:t>(1)</a:t>
            </a:r>
            <a:r>
              <a:rPr lang="zh-CN" altLang="en-US" sz="2100" b="1" smtClean="0">
                <a:solidFill>
                  <a:schemeClr val="accent2"/>
                </a:solidFill>
                <a:latin typeface="黑体" panose="02010609060101010101" pitchFamily="2" charset="-122"/>
                <a:ea typeface="黑体" panose="02010609060101010101" pitchFamily="2" charset="-122"/>
              </a:rPr>
              <a:t>贪心选择性质</a:t>
            </a:r>
            <a:endParaRPr lang="zh-CN" altLang="en-US" sz="21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en-US" altLang="zh-CN" sz="2100" b="1" smtClean="0">
                <a:solidFill>
                  <a:schemeClr val="accent2"/>
                </a:solidFill>
                <a:latin typeface="黑体" panose="02010609060101010101" pitchFamily="2" charset="-122"/>
                <a:ea typeface="黑体" panose="02010609060101010101" pitchFamily="2" charset="-122"/>
              </a:rPr>
              <a:t>(2)</a:t>
            </a:r>
            <a:r>
              <a:rPr lang="zh-CN" altLang="en-US" sz="2100" b="1" smtClean="0">
                <a:solidFill>
                  <a:schemeClr val="accent2"/>
                </a:solidFill>
                <a:latin typeface="黑体" panose="02010609060101010101" pitchFamily="2" charset="-122"/>
                <a:ea typeface="黑体" panose="02010609060101010101" pitchFamily="2" charset="-122"/>
              </a:rPr>
              <a:t>最优子结构性质</a:t>
            </a:r>
            <a:endParaRPr lang="zh-CN" altLang="en-US" sz="21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en-US" altLang="zh-CN" sz="2100" b="1" smtClean="0">
                <a:solidFill>
                  <a:schemeClr val="accent2"/>
                </a:solidFill>
                <a:latin typeface="黑体" panose="02010609060101010101" pitchFamily="2" charset="-122"/>
                <a:ea typeface="黑体" panose="02010609060101010101" pitchFamily="2" charset="-122"/>
              </a:rPr>
              <a:t>(3)</a:t>
            </a:r>
            <a:r>
              <a:rPr lang="zh-CN" altLang="en-US" sz="2100" b="1" smtClean="0">
                <a:solidFill>
                  <a:schemeClr val="accent2"/>
                </a:solidFill>
                <a:latin typeface="黑体" panose="02010609060101010101" pitchFamily="2" charset="-122"/>
                <a:ea typeface="黑体" panose="02010609060101010101" pitchFamily="2" charset="-122"/>
              </a:rPr>
              <a:t>计算复杂性</a:t>
            </a:r>
            <a:endParaRPr lang="zh-CN" altLang="en-US" sz="21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100" b="1" smtClean="0">
                <a:latin typeface="新宋体" panose="02010609030101010101" charset="-122"/>
                <a:ea typeface="新宋体" panose="02010609030101010101" charset="-122"/>
              </a:rPr>
              <a:t>		对于具有</a:t>
            </a:r>
            <a:r>
              <a:rPr lang="en-US" altLang="zh-CN" sz="2100" b="1" smtClean="0">
                <a:latin typeface="新宋体" panose="02010609030101010101" charset="-122"/>
                <a:ea typeface="新宋体" panose="02010609030101010101" charset="-122"/>
              </a:rPr>
              <a:t>n</a:t>
            </a:r>
            <a:r>
              <a:rPr lang="zh-CN" altLang="en-US" sz="2100" b="1" smtClean="0">
                <a:latin typeface="新宋体" panose="02010609030101010101" charset="-122"/>
                <a:ea typeface="新宋体" panose="02010609030101010101" charset="-122"/>
              </a:rPr>
              <a:t>个顶点和</a:t>
            </a:r>
            <a:r>
              <a:rPr lang="en-US" altLang="zh-CN" sz="2100" b="1" smtClean="0">
                <a:latin typeface="新宋体" panose="02010609030101010101" charset="-122"/>
                <a:ea typeface="新宋体" panose="02010609030101010101" charset="-122"/>
              </a:rPr>
              <a:t>e</a:t>
            </a:r>
            <a:r>
              <a:rPr lang="zh-CN" altLang="en-US" sz="2100" b="1" smtClean="0">
                <a:latin typeface="新宋体" panose="02010609030101010101" charset="-122"/>
                <a:ea typeface="新宋体" panose="02010609030101010101" charset="-122"/>
              </a:rPr>
              <a:t>条边的带权有向图，如果用带权邻接矩阵表示这个图，那么</a:t>
            </a:r>
            <a:r>
              <a:rPr lang="en-US" altLang="zh-CN" sz="2100" b="1" smtClean="0">
                <a:latin typeface="新宋体" panose="02010609030101010101" charset="-122"/>
                <a:ea typeface="新宋体" panose="02010609030101010101" charset="-122"/>
              </a:rPr>
              <a:t>Dijkstra</a:t>
            </a:r>
            <a:r>
              <a:rPr lang="zh-CN" altLang="en-US" sz="2100" b="1" smtClean="0">
                <a:latin typeface="新宋体" panose="02010609030101010101" charset="-122"/>
                <a:ea typeface="新宋体" panose="02010609030101010101" charset="-122"/>
              </a:rPr>
              <a:t>算法的主循环体需要    时间。这个循环需要执行</a:t>
            </a:r>
            <a:r>
              <a:rPr lang="en-US" altLang="zh-CN" sz="2100" b="1" smtClean="0">
                <a:latin typeface="新宋体" panose="02010609030101010101" charset="-122"/>
                <a:ea typeface="新宋体" panose="02010609030101010101" charset="-122"/>
              </a:rPr>
              <a:t>n-1</a:t>
            </a:r>
            <a:r>
              <a:rPr lang="zh-CN" altLang="en-US" sz="2100" b="1" smtClean="0">
                <a:latin typeface="新宋体" panose="02010609030101010101" charset="-122"/>
                <a:ea typeface="新宋体" panose="02010609030101010101" charset="-122"/>
              </a:rPr>
              <a:t>次，所以完成循环需要     时间。算法的其余部分所需要时间不超过     。</a:t>
            </a:r>
            <a:endParaRPr lang="zh-CN" altLang="en-US" sz="2100" b="1" smtClean="0">
              <a:latin typeface="新宋体" panose="02010609030101010101" charset="-122"/>
              <a:ea typeface="新宋体" panose="02010609030101010101" charset="-122"/>
            </a:endParaRPr>
          </a:p>
        </p:txBody>
      </p:sp>
      <p:sp>
        <p:nvSpPr>
          <p:cNvPr id="3079" name="Rectangle 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3074" name="Object 5"/>
          <p:cNvGraphicFramePr>
            <a:graphicFrameLocks noChangeAspect="1"/>
          </p:cNvGraphicFramePr>
          <p:nvPr/>
        </p:nvGraphicFramePr>
        <p:xfrm>
          <a:off x="6732588" y="3716338"/>
          <a:ext cx="576262" cy="336550"/>
        </p:xfrm>
        <a:graphic>
          <a:graphicData uri="http://schemas.openxmlformats.org/presentationml/2006/ole">
            <mc:AlternateContent xmlns:mc="http://schemas.openxmlformats.org/markup-compatibility/2006">
              <mc:Choice xmlns:v="urn:schemas-microsoft-com:vml" Requires="v">
                <p:oleObj spid="_x0000_s4098" name="公式" r:id="rId1" imgW="342900" imgH="203200" progId="Equation.3">
                  <p:embed/>
                </p:oleObj>
              </mc:Choice>
              <mc:Fallback>
                <p:oleObj name="公式" r:id="rId1" imgW="342900" imgH="203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3716338"/>
                        <a:ext cx="576262"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0" name="Rectangle 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3075" name="Object 7"/>
          <p:cNvGraphicFramePr>
            <a:graphicFrameLocks noChangeAspect="1"/>
          </p:cNvGraphicFramePr>
          <p:nvPr/>
        </p:nvGraphicFramePr>
        <p:xfrm>
          <a:off x="5795963" y="4005263"/>
          <a:ext cx="719137" cy="392112"/>
        </p:xfrm>
        <a:graphic>
          <a:graphicData uri="http://schemas.openxmlformats.org/presentationml/2006/ole">
            <mc:AlternateContent xmlns:mc="http://schemas.openxmlformats.org/markup-compatibility/2006">
              <mc:Choice xmlns:v="urn:schemas-microsoft-com:vml" Requires="v">
                <p:oleObj spid="_x0000_s4099" name="公式" r:id="rId3" imgW="419100" imgH="228600" progId="Equation.3">
                  <p:embed/>
                </p:oleObj>
              </mc:Choice>
              <mc:Fallback>
                <p:oleObj name="公式" r:id="rId3" imgW="4191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4005263"/>
                        <a:ext cx="719137"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8"/>
          <p:cNvGraphicFramePr>
            <a:graphicFrameLocks noChangeAspect="1"/>
          </p:cNvGraphicFramePr>
          <p:nvPr/>
        </p:nvGraphicFramePr>
        <p:xfrm>
          <a:off x="3851275" y="4292600"/>
          <a:ext cx="719138" cy="392113"/>
        </p:xfrm>
        <a:graphic>
          <a:graphicData uri="http://schemas.openxmlformats.org/presentationml/2006/ole">
            <mc:AlternateContent xmlns:mc="http://schemas.openxmlformats.org/markup-compatibility/2006">
              <mc:Choice xmlns:v="urn:schemas-microsoft-com:vml" Requires="v">
                <p:oleObj spid="_x0000_s4100" name="公式" r:id="rId5" imgW="419100" imgH="228600" progId="Equation.3">
                  <p:embed/>
                </p:oleObj>
              </mc:Choice>
              <mc:Fallback>
                <p:oleObj name="公式" r:id="rId5" imgW="41910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4292600"/>
                        <a:ext cx="719138"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p:txBody>
          <a:bodyPr/>
          <a:lstStyle/>
          <a:p>
            <a:pPr eaLnBrk="1" hangingPunct="1"/>
            <a:endParaRPr lang="zh-CN" altLang="zh-CN" smtClean="0"/>
          </a:p>
        </p:txBody>
      </p:sp>
      <p:pic>
        <p:nvPicPr>
          <p:cNvPr id="296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9144000" cy="567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29700" name="TextBox 5"/>
          <p:cNvSpPr txBox="1">
            <a:spLocks noChangeArrowheads="1"/>
          </p:cNvSpPr>
          <p:nvPr/>
        </p:nvSpPr>
        <p:spPr bwMode="auto">
          <a:xfrm>
            <a:off x="2643188" y="4929188"/>
            <a:ext cx="5000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t>d</a:t>
            </a:r>
            <a:endParaRPr lang="zh-CN" altLang="en-US" sz="2400"/>
          </a:p>
        </p:txBody>
      </p:sp>
      <p:sp>
        <p:nvSpPr>
          <p:cNvPr id="29701" name="TextBox 6"/>
          <p:cNvSpPr txBox="1">
            <a:spLocks noChangeArrowheads="1"/>
          </p:cNvSpPr>
          <p:nvPr/>
        </p:nvSpPr>
        <p:spPr bwMode="auto">
          <a:xfrm>
            <a:off x="6786563" y="4929188"/>
            <a:ext cx="14287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u</a:t>
            </a:r>
            <a:endParaRPr lang="zh-CN" altLang="en-US"/>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r>
              <a:rPr lang="zh-CN" altLang="en-US" smtClean="0"/>
              <a:t> </a:t>
            </a:r>
            <a:endParaRPr lang="zh-CN" altLang="en-US" smtClean="0"/>
          </a:p>
        </p:txBody>
      </p:sp>
      <p:sp>
        <p:nvSpPr>
          <p:cNvPr id="30723" name="Rectangle 3"/>
          <p:cNvSpPr>
            <a:spLocks noGrp="1" noChangeArrowheads="1"/>
          </p:cNvSpPr>
          <p:nvPr>
            <p:ph type="body" idx="1"/>
          </p:nvPr>
        </p:nvSpPr>
        <p:spPr/>
        <p:txBody>
          <a:bodyPr/>
          <a:lstStyle/>
          <a:p>
            <a:pPr eaLnBrk="1" fontAlgn="t"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设</a:t>
            </a:r>
            <a:r>
              <a:rPr lang="en-US" altLang="zh-CN" sz="2400" b="1" smtClean="0">
                <a:latin typeface="新宋体" panose="02010609030101010101" charset="-122"/>
                <a:ea typeface="新宋体" panose="02010609030101010101" charset="-122"/>
              </a:rPr>
              <a:t>G =(V,E)</a:t>
            </a:r>
            <a:r>
              <a:rPr lang="zh-CN" altLang="en-US" sz="2400" b="1" smtClean="0">
                <a:latin typeface="新宋体" panose="02010609030101010101" charset="-122"/>
                <a:ea typeface="新宋体" panose="02010609030101010101" charset="-122"/>
              </a:rPr>
              <a:t>是无向连通带权图，即一个</a:t>
            </a:r>
            <a:r>
              <a:rPr lang="zh-CN" altLang="en-US" sz="2400" b="1" smtClean="0">
                <a:solidFill>
                  <a:schemeClr val="accent2"/>
                </a:solidFill>
                <a:latin typeface="新宋体" panose="02010609030101010101" charset="-122"/>
                <a:ea typeface="新宋体" panose="02010609030101010101" charset="-122"/>
              </a:rPr>
              <a:t>网络</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E</a:t>
            </a:r>
            <a:r>
              <a:rPr lang="zh-CN" altLang="en-US" sz="2400" b="1" smtClean="0">
                <a:latin typeface="新宋体" panose="02010609030101010101" charset="-122"/>
                <a:ea typeface="新宋体" panose="02010609030101010101" charset="-122"/>
              </a:rPr>
              <a:t>中每条边</a:t>
            </a:r>
            <a:r>
              <a:rPr lang="en-US" altLang="zh-CN" sz="2400" b="1" smtClean="0">
                <a:latin typeface="新宋体" panose="02010609030101010101" charset="-122"/>
                <a:ea typeface="新宋体" panose="02010609030101010101" charset="-122"/>
              </a:rPr>
              <a:t>(v,w)</a:t>
            </a:r>
            <a:r>
              <a:rPr lang="zh-CN" altLang="en-US" sz="2400" b="1" smtClean="0">
                <a:latin typeface="新宋体" panose="02010609030101010101" charset="-122"/>
                <a:ea typeface="新宋体" panose="02010609030101010101" charset="-122"/>
              </a:rPr>
              <a:t>的权为</a:t>
            </a:r>
            <a:r>
              <a:rPr lang="en-US" altLang="zh-CN" sz="2400" b="1" smtClean="0">
                <a:latin typeface="新宋体" panose="02010609030101010101" charset="-122"/>
                <a:ea typeface="新宋体" panose="02010609030101010101" charset="-122"/>
              </a:rPr>
              <a:t>c[v][w]</a:t>
            </a:r>
            <a:r>
              <a:rPr lang="zh-CN" altLang="en-US" sz="2400" b="1" smtClean="0">
                <a:latin typeface="新宋体" panose="02010609030101010101" charset="-122"/>
                <a:ea typeface="新宋体" panose="02010609030101010101" charset="-122"/>
              </a:rPr>
              <a:t>。如果</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的子图</a:t>
            </a:r>
            <a:r>
              <a:rPr lang="en-US" altLang="zh-CN" sz="2400" b="1" smtClean="0">
                <a:latin typeface="新宋体" panose="02010609030101010101" charset="-122"/>
                <a:ea typeface="新宋体" panose="02010609030101010101" charset="-122"/>
              </a:rPr>
              <a:t>G</a:t>
            </a:r>
            <a:r>
              <a:rPr lang="en-US" altLang="zh-CN" sz="2400" b="1" smtClean="0">
                <a:ea typeface="新宋体" panose="02010609030101010101" charset="-122"/>
              </a:rPr>
              <a:t>’</a:t>
            </a:r>
            <a:r>
              <a:rPr lang="zh-CN" altLang="en-US" sz="2400" b="1" smtClean="0">
                <a:latin typeface="新宋体" panose="02010609030101010101" charset="-122"/>
                <a:ea typeface="新宋体" panose="02010609030101010101" charset="-122"/>
              </a:rPr>
              <a:t>是一棵包含</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的所有顶点的树，则称</a:t>
            </a:r>
            <a:r>
              <a:rPr lang="en-US" altLang="zh-CN" sz="2400" b="1" smtClean="0">
                <a:latin typeface="新宋体" panose="02010609030101010101" charset="-122"/>
                <a:ea typeface="新宋体" panose="02010609030101010101" charset="-122"/>
              </a:rPr>
              <a:t>G</a:t>
            </a:r>
            <a:r>
              <a:rPr lang="en-US" altLang="zh-CN" sz="2400" b="1" smtClean="0">
                <a:ea typeface="新宋体" panose="02010609030101010101" charset="-122"/>
              </a:rPr>
              <a:t>’</a:t>
            </a:r>
            <a:r>
              <a:rPr lang="zh-CN" altLang="en-US" sz="2400" b="1" smtClean="0">
                <a:latin typeface="新宋体" panose="02010609030101010101" charset="-122"/>
                <a:ea typeface="新宋体" panose="02010609030101010101" charset="-122"/>
              </a:rPr>
              <a:t>为</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的生成树。生成树上各边权的总和称为该生成树的</a:t>
            </a:r>
            <a:r>
              <a:rPr lang="zh-CN" altLang="en-US" sz="2400" b="1" smtClean="0">
                <a:solidFill>
                  <a:schemeClr val="accent2"/>
                </a:solidFill>
                <a:latin typeface="新宋体" panose="02010609030101010101" charset="-122"/>
                <a:ea typeface="新宋体" panose="02010609030101010101" charset="-122"/>
              </a:rPr>
              <a:t>耗费</a:t>
            </a:r>
            <a:r>
              <a:rPr lang="zh-CN" altLang="en-US" sz="2400" b="1" smtClean="0">
                <a:latin typeface="新宋体" panose="02010609030101010101" charset="-122"/>
                <a:ea typeface="新宋体" panose="02010609030101010101" charset="-122"/>
              </a:rPr>
              <a:t>。在</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的所有生成树中，耗费最小的生成树称为</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a:t>
            </a:r>
            <a:r>
              <a:rPr lang="zh-CN" altLang="en-US" sz="2400" b="1" smtClean="0">
                <a:solidFill>
                  <a:schemeClr val="accent2"/>
                </a:solidFill>
                <a:latin typeface="新宋体" panose="02010609030101010101" charset="-122"/>
                <a:ea typeface="新宋体" panose="02010609030101010101" charset="-122"/>
              </a:rPr>
              <a:t>最小生成树</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网络的最小生成树在实际中有广泛应用。</a:t>
            </a:r>
            <a:r>
              <a:rPr lang="zh-CN" altLang="en-US" sz="2400" b="1" smtClean="0">
                <a:solidFill>
                  <a:schemeClr val="accent2"/>
                </a:solidFill>
                <a:latin typeface="新宋体" panose="02010609030101010101" charset="-122"/>
                <a:ea typeface="新宋体" panose="02010609030101010101" charset="-122"/>
              </a:rPr>
              <a:t>例如</a:t>
            </a:r>
            <a:r>
              <a:rPr lang="zh-CN" altLang="en-US" sz="2400" b="1" smtClean="0">
                <a:latin typeface="新宋体" panose="02010609030101010101" charset="-122"/>
                <a:ea typeface="新宋体" panose="02010609030101010101" charset="-122"/>
              </a:rPr>
              <a:t>，在设计通信网络时，用图的顶点表示城市，用边</a:t>
            </a:r>
            <a:r>
              <a:rPr lang="en-US" altLang="zh-CN" sz="2400" b="1" smtClean="0">
                <a:latin typeface="新宋体" panose="02010609030101010101" charset="-122"/>
                <a:ea typeface="新宋体" panose="02010609030101010101" charset="-122"/>
              </a:rPr>
              <a:t>(v,w)</a:t>
            </a:r>
            <a:r>
              <a:rPr lang="zh-CN" altLang="en-US" sz="2400" b="1" smtClean="0">
                <a:latin typeface="新宋体" panose="02010609030101010101" charset="-122"/>
                <a:ea typeface="新宋体" panose="02010609030101010101" charset="-122"/>
              </a:rPr>
              <a:t>的权</a:t>
            </a:r>
            <a:r>
              <a:rPr lang="en-US" altLang="zh-CN" sz="2400" b="1" smtClean="0">
                <a:latin typeface="新宋体" panose="02010609030101010101" charset="-122"/>
                <a:ea typeface="新宋体" panose="02010609030101010101" charset="-122"/>
              </a:rPr>
              <a:t>c[v][w]</a:t>
            </a:r>
            <a:r>
              <a:rPr lang="zh-CN" altLang="en-US" sz="2400" b="1" smtClean="0">
                <a:latin typeface="新宋体" panose="02010609030101010101" charset="-122"/>
                <a:ea typeface="新宋体" panose="02010609030101010101" charset="-122"/>
              </a:rPr>
              <a:t>表示建立城市</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和城市</a:t>
            </a:r>
            <a:r>
              <a:rPr lang="en-US" altLang="zh-CN" sz="2400" b="1" smtClean="0">
                <a:latin typeface="新宋体" panose="02010609030101010101" charset="-122"/>
                <a:ea typeface="新宋体" panose="02010609030101010101" charset="-122"/>
              </a:rPr>
              <a:t>w</a:t>
            </a:r>
            <a:r>
              <a:rPr lang="zh-CN" altLang="en-US" sz="2400" b="1" smtClean="0">
                <a:latin typeface="新宋体" panose="02010609030101010101" charset="-122"/>
                <a:ea typeface="新宋体" panose="02010609030101010101" charset="-122"/>
              </a:rPr>
              <a:t>之间的通信线路所需的费用，则最小生成树就给出了建立通信网络的最经济的方案。 </a:t>
            </a:r>
            <a:endParaRPr lang="zh-CN" altLang="en-US"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333375"/>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31747" name="Rectangle 3"/>
          <p:cNvSpPr>
            <a:spLocks noGrp="1" noChangeArrowheads="1"/>
          </p:cNvSpPr>
          <p:nvPr>
            <p:ph type="body" idx="1"/>
          </p:nvPr>
        </p:nvSpPr>
        <p:spPr>
          <a:xfrm>
            <a:off x="685800" y="1557338"/>
            <a:ext cx="7772400" cy="4114800"/>
          </a:xfrm>
        </p:spPr>
        <p:txBody>
          <a:bodyPr/>
          <a:lstStyle/>
          <a:p>
            <a:pPr eaLnBrk="1" hangingPunct="1">
              <a:buFont typeface="Wingdings" panose="05000000000000000000" pitchFamily="2" charset="2"/>
              <a:buNone/>
            </a:pPr>
            <a:r>
              <a:rPr lang="en-US" altLang="zh-CN" sz="2400" b="1" smtClean="0">
                <a:solidFill>
                  <a:schemeClr val="accent2"/>
                </a:solidFill>
                <a:latin typeface="黑体" panose="02010609060101010101" pitchFamily="2" charset="-122"/>
                <a:ea typeface="黑体" panose="02010609060101010101" pitchFamily="2" charset="-122"/>
              </a:rPr>
              <a:t>1</a:t>
            </a:r>
            <a:r>
              <a:rPr lang="zh-CN" altLang="en-US" sz="2400" b="1" smtClean="0">
                <a:solidFill>
                  <a:schemeClr val="accent2"/>
                </a:solidFill>
                <a:latin typeface="黑体" panose="02010609060101010101" pitchFamily="2" charset="-122"/>
                <a:ea typeface="黑体" panose="02010609060101010101" pitchFamily="2" charset="-122"/>
              </a:rPr>
              <a:t>、最小生成树性质</a:t>
            </a:r>
            <a:endParaRPr lang="zh-CN" altLang="en-US" sz="24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用贪心算法设计策略可以设计出构造最小生成树的有效算法。本节介绍的构造最小生成树的</a:t>
            </a:r>
            <a:r>
              <a:rPr lang="en-US" altLang="zh-CN" sz="2400" b="1" smtClean="0">
                <a:solidFill>
                  <a:schemeClr val="accent2"/>
                </a:solidFill>
                <a:latin typeface="新宋体" panose="02010609030101010101" charset="-122"/>
                <a:ea typeface="新宋体" panose="02010609030101010101" charset="-122"/>
              </a:rPr>
              <a:t>Prim</a:t>
            </a:r>
            <a:r>
              <a:rPr lang="zh-CN" altLang="en-US" sz="2400" b="1" smtClean="0">
                <a:solidFill>
                  <a:schemeClr val="accent2"/>
                </a:solidFill>
                <a:latin typeface="新宋体" panose="02010609030101010101" charset="-122"/>
                <a:ea typeface="新宋体" panose="02010609030101010101" charset="-122"/>
              </a:rPr>
              <a:t>算法</a:t>
            </a:r>
            <a:r>
              <a:rPr lang="zh-CN" altLang="en-US" sz="2400" b="1" smtClean="0">
                <a:latin typeface="新宋体" panose="02010609030101010101" charset="-122"/>
                <a:ea typeface="新宋体" panose="02010609030101010101" charset="-122"/>
              </a:rPr>
              <a:t>和</a:t>
            </a:r>
            <a:r>
              <a:rPr lang="en-US" altLang="zh-CN" sz="2400" b="1" smtClean="0">
                <a:solidFill>
                  <a:schemeClr val="accent2"/>
                </a:solidFill>
                <a:latin typeface="新宋体" panose="02010609030101010101" charset="-122"/>
                <a:ea typeface="新宋体" panose="02010609030101010101" charset="-122"/>
              </a:rPr>
              <a:t>Kruskal</a:t>
            </a:r>
            <a:r>
              <a:rPr lang="zh-CN" altLang="en-US" sz="2400" b="1" smtClean="0">
                <a:solidFill>
                  <a:schemeClr val="accent2"/>
                </a:solidFill>
                <a:latin typeface="新宋体" panose="02010609030101010101" charset="-122"/>
                <a:ea typeface="新宋体" panose="02010609030101010101" charset="-122"/>
              </a:rPr>
              <a:t>算法</a:t>
            </a:r>
            <a:r>
              <a:rPr lang="zh-CN" altLang="en-US" sz="2400" b="1" smtClean="0">
                <a:latin typeface="新宋体" panose="02010609030101010101" charset="-122"/>
                <a:ea typeface="新宋体" panose="02010609030101010101" charset="-122"/>
              </a:rPr>
              <a:t>都可以看作是应用贪心算法设计策略的例子。尽管这</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个算法做贪心选择的方式不同，它们都利用了下面的</a:t>
            </a:r>
            <a:r>
              <a:rPr lang="zh-CN" altLang="en-US" sz="2400" b="1" smtClean="0">
                <a:solidFill>
                  <a:schemeClr val="accent2"/>
                </a:solidFill>
                <a:latin typeface="新宋体" panose="02010609030101010101" charset="-122"/>
                <a:ea typeface="新宋体" panose="02010609030101010101" charset="-122"/>
              </a:rPr>
              <a:t>最小生成树性质</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设</a:t>
            </a:r>
            <a:r>
              <a:rPr lang="en-US" altLang="zh-CN" sz="2400" b="1" smtClean="0">
                <a:latin typeface="新宋体" panose="02010609030101010101" charset="-122"/>
                <a:ea typeface="新宋体" panose="02010609030101010101" charset="-122"/>
              </a:rPr>
              <a:t>G=(V,E)</a:t>
            </a:r>
            <a:r>
              <a:rPr lang="zh-CN" altLang="en-US" sz="2400" b="1" smtClean="0">
                <a:latin typeface="新宋体" panose="02010609030101010101" charset="-122"/>
                <a:ea typeface="新宋体" panose="02010609030101010101" charset="-122"/>
              </a:rPr>
              <a:t>是连通带权图，</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是</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的真子集。如果</a:t>
            </a:r>
            <a:r>
              <a:rPr lang="en-US" altLang="zh-CN" sz="2400" b="1" smtClean="0">
                <a:latin typeface="新宋体" panose="02010609030101010101" charset="-122"/>
                <a:ea typeface="新宋体" panose="02010609030101010101" charset="-122"/>
              </a:rPr>
              <a:t>(u,v)</a:t>
            </a:r>
            <a:r>
              <a:rPr lang="en-US" altLang="zh-CN" sz="2400" b="1" smtClean="0">
                <a:latin typeface="新宋体" panose="02010609030101010101" charset="-122"/>
                <a:ea typeface="新宋体" panose="02010609030101010101" charset="-122"/>
                <a:sym typeface="Symbol" panose="05050102010706020507" pitchFamily="18" charset="2"/>
              </a:rPr>
              <a:t></a:t>
            </a:r>
            <a:r>
              <a:rPr lang="en-US" altLang="zh-CN" sz="2400" b="1" smtClean="0">
                <a:latin typeface="新宋体" panose="02010609030101010101" charset="-122"/>
                <a:ea typeface="新宋体" panose="02010609030101010101" charset="-122"/>
              </a:rPr>
              <a:t>E</a:t>
            </a:r>
            <a:r>
              <a:rPr lang="zh-CN" altLang="en-US" sz="2400" b="1" smtClean="0">
                <a:latin typeface="新宋体" panose="02010609030101010101" charset="-122"/>
                <a:ea typeface="新宋体" panose="02010609030101010101" charset="-122"/>
              </a:rPr>
              <a:t>，且</a:t>
            </a:r>
            <a:r>
              <a:rPr lang="en-US" altLang="zh-CN" sz="2400" b="1" smtClean="0">
                <a:latin typeface="新宋体" panose="02010609030101010101" charset="-122"/>
                <a:ea typeface="新宋体" panose="02010609030101010101" charset="-122"/>
              </a:rPr>
              <a:t>u</a:t>
            </a:r>
            <a:r>
              <a:rPr lang="en-US" altLang="zh-CN" sz="2400" b="1" smtClean="0">
                <a:latin typeface="新宋体" panose="02010609030101010101" charset="-122"/>
                <a:ea typeface="新宋体" panose="02010609030101010101" charset="-122"/>
                <a:sym typeface="Symbol" panose="05050102010706020507" pitchFamily="18" charset="2"/>
              </a:rPr>
              <a:t></a:t>
            </a:r>
            <a:r>
              <a:rPr lang="en-US" altLang="zh-CN" sz="2400" b="1" smtClean="0">
                <a:latin typeface="新宋体" panose="02010609030101010101" charset="-122"/>
                <a:ea typeface="新宋体" panose="02010609030101010101" charset="-122"/>
              </a:rPr>
              <a:t>U</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v</a:t>
            </a:r>
            <a:r>
              <a:rPr lang="en-US" altLang="zh-CN" sz="2400" b="1" smtClean="0">
                <a:latin typeface="新宋体" panose="02010609030101010101" charset="-122"/>
                <a:ea typeface="新宋体" panose="02010609030101010101" charset="-122"/>
                <a:sym typeface="Symbol" panose="05050102010706020507" pitchFamily="18" charset="2"/>
              </a:rPr>
              <a:t></a:t>
            </a:r>
            <a:r>
              <a:rPr lang="en-US" altLang="zh-CN" sz="2400" b="1" smtClean="0">
                <a:latin typeface="新宋体" panose="02010609030101010101" charset="-122"/>
                <a:ea typeface="新宋体" panose="02010609030101010101" charset="-122"/>
              </a:rPr>
              <a:t>V-U</a:t>
            </a:r>
            <a:r>
              <a:rPr lang="zh-CN" altLang="en-US" sz="2400" b="1" smtClean="0">
                <a:latin typeface="新宋体" panose="02010609030101010101" charset="-122"/>
                <a:ea typeface="新宋体" panose="02010609030101010101" charset="-122"/>
              </a:rPr>
              <a:t>，且在所有这样的边中，</a:t>
            </a:r>
            <a:r>
              <a:rPr lang="en-US" altLang="zh-CN" sz="2400" b="1" smtClean="0">
                <a:latin typeface="新宋体" panose="02010609030101010101" charset="-122"/>
                <a:ea typeface="新宋体" panose="02010609030101010101" charset="-122"/>
              </a:rPr>
              <a:t>(u,v)</a:t>
            </a:r>
            <a:r>
              <a:rPr lang="zh-CN" altLang="en-US" sz="2400" b="1" smtClean="0">
                <a:latin typeface="新宋体" panose="02010609030101010101" charset="-122"/>
                <a:ea typeface="新宋体" panose="02010609030101010101" charset="-122"/>
              </a:rPr>
              <a:t>的权</a:t>
            </a:r>
            <a:r>
              <a:rPr lang="en-US" altLang="zh-CN" sz="2400" b="1" smtClean="0">
                <a:latin typeface="新宋体" panose="02010609030101010101" charset="-122"/>
                <a:ea typeface="新宋体" panose="02010609030101010101" charset="-122"/>
              </a:rPr>
              <a:t>c[u][v]</a:t>
            </a:r>
            <a:r>
              <a:rPr lang="zh-CN" altLang="en-US" sz="2400" b="1" smtClean="0">
                <a:latin typeface="新宋体" panose="02010609030101010101" charset="-122"/>
                <a:ea typeface="新宋体" panose="02010609030101010101" charset="-122"/>
              </a:rPr>
              <a:t>最小，那么一定存在</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的一棵最小生成树，它以</a:t>
            </a:r>
            <a:r>
              <a:rPr lang="en-US" altLang="zh-CN" sz="2400" b="1" smtClean="0">
                <a:latin typeface="新宋体" panose="02010609030101010101" charset="-122"/>
                <a:ea typeface="新宋体" panose="02010609030101010101" charset="-122"/>
              </a:rPr>
              <a:t>(u,v)</a:t>
            </a:r>
            <a:r>
              <a:rPr lang="zh-CN" altLang="en-US" sz="2400" b="1" smtClean="0">
                <a:latin typeface="新宋体" panose="02010609030101010101" charset="-122"/>
                <a:ea typeface="新宋体" panose="02010609030101010101" charset="-122"/>
              </a:rPr>
              <a:t>为其中一条边。这个性质有时也称为</a:t>
            </a:r>
            <a:r>
              <a:rPr lang="en-US" altLang="zh-CN" sz="2400" b="1" smtClean="0">
                <a:solidFill>
                  <a:schemeClr val="accent2"/>
                </a:solidFill>
                <a:latin typeface="新宋体" panose="02010609030101010101" charset="-122"/>
                <a:ea typeface="新宋体" panose="02010609030101010101" charset="-122"/>
              </a:rPr>
              <a:t>MST</a:t>
            </a:r>
            <a:r>
              <a:rPr lang="zh-CN" altLang="en-US" sz="2400" b="1" smtClean="0">
                <a:solidFill>
                  <a:schemeClr val="accent2"/>
                </a:solidFill>
                <a:latin typeface="新宋体" panose="02010609030101010101" charset="-122"/>
                <a:ea typeface="新宋体" panose="02010609030101010101" charset="-122"/>
              </a:rPr>
              <a:t>性质</a:t>
            </a:r>
            <a:r>
              <a:rPr lang="zh-CN" altLang="en-US" sz="2400" b="1" smtClean="0">
                <a:latin typeface="新宋体" panose="02010609030101010101" charset="-122"/>
                <a:ea typeface="新宋体" panose="02010609030101010101" charset="-122"/>
              </a:rPr>
              <a:t>。</a:t>
            </a:r>
            <a:r>
              <a:rPr lang="zh-CN" altLang="en-US" sz="2400" b="1" smtClean="0"/>
              <a:t> </a:t>
            </a:r>
            <a:endParaRPr lang="zh-CN" altLang="en-US" sz="2400" b="1" smtClean="0"/>
          </a:p>
          <a:p>
            <a:pPr eaLnBrk="1" hangingPunct="1">
              <a:buFont typeface="Wingdings" panose="05000000000000000000" pitchFamily="2" charset="2"/>
              <a:buNone/>
            </a:pPr>
            <a:r>
              <a:rPr lang="zh-CN" altLang="en-US" sz="2400" b="1" smtClean="0"/>
              <a:t>证明</a:t>
            </a:r>
            <a:r>
              <a:rPr lang="en-US" altLang="zh-CN" sz="2400" b="1" smtClean="0"/>
              <a:t>MST</a:t>
            </a:r>
            <a:r>
              <a:rPr lang="zh-CN" altLang="en-US" sz="2400" b="1" smtClean="0"/>
              <a:t>性质。</a:t>
            </a:r>
            <a:r>
              <a:rPr lang="en-US" altLang="zh-CN" sz="2400" b="1" smtClean="0"/>
              <a:t>P125</a:t>
            </a:r>
            <a:endParaRPr lang="en-US" altLang="zh-CN" sz="2400" b="1" smtClean="0"/>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3277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smtClean="0">
                <a:solidFill>
                  <a:schemeClr val="accent2"/>
                </a:solidFill>
                <a:latin typeface="黑体" panose="02010609060101010101" pitchFamily="2" charset="-122"/>
                <a:ea typeface="黑体" panose="02010609060101010101" pitchFamily="2" charset="-122"/>
              </a:rPr>
              <a:t>2</a:t>
            </a:r>
            <a:r>
              <a:rPr lang="zh-CN" altLang="en-US" sz="2400" b="1" smtClean="0">
                <a:solidFill>
                  <a:schemeClr val="accent2"/>
                </a:solidFill>
                <a:latin typeface="黑体" panose="02010609060101010101" pitchFamily="2" charset="-122"/>
                <a:ea typeface="黑体" panose="02010609060101010101" pitchFamily="2" charset="-122"/>
              </a:rPr>
              <a:t>、</a:t>
            </a:r>
            <a:r>
              <a:rPr lang="en-US" altLang="zh-CN" sz="2400" b="1" smtClean="0">
                <a:solidFill>
                  <a:schemeClr val="accent2"/>
                </a:solidFill>
                <a:latin typeface="黑体" panose="02010609060101010101" pitchFamily="2" charset="-122"/>
                <a:ea typeface="黑体" panose="02010609060101010101" pitchFamily="2" charset="-122"/>
              </a:rPr>
              <a:t>Prim</a:t>
            </a:r>
            <a:r>
              <a:rPr lang="zh-CN" altLang="en-US" sz="2400" b="1" smtClean="0">
                <a:solidFill>
                  <a:schemeClr val="accent2"/>
                </a:solidFill>
                <a:latin typeface="黑体" panose="02010609060101010101" pitchFamily="2" charset="-122"/>
                <a:ea typeface="黑体" panose="02010609060101010101" pitchFamily="2" charset="-122"/>
              </a:rPr>
              <a:t>算法 </a:t>
            </a:r>
            <a:endParaRPr lang="zh-CN" altLang="en-US" sz="2400" b="1" smtClean="0">
              <a:solidFill>
                <a:schemeClr val="accent2"/>
              </a:solidFill>
              <a:latin typeface="黑体" panose="02010609060101010101" pitchFamily="2" charset="-122"/>
              <a:ea typeface="黑体" panose="02010609060101010101" pitchFamily="2"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设</a:t>
            </a:r>
            <a:r>
              <a:rPr lang="en-US" altLang="zh-CN" sz="2400" b="1" smtClean="0">
                <a:latin typeface="新宋体" panose="02010609030101010101" charset="-122"/>
                <a:ea typeface="新宋体" panose="02010609030101010101" charset="-122"/>
              </a:rPr>
              <a:t>G=(V,E)</a:t>
            </a:r>
            <a:r>
              <a:rPr lang="zh-CN" altLang="en-US" sz="2400" b="1" smtClean="0">
                <a:latin typeface="新宋体" panose="02010609030101010101" charset="-122"/>
                <a:ea typeface="新宋体" panose="02010609030101010101" charset="-122"/>
              </a:rPr>
              <a:t>是连通带权图，</a:t>
            </a:r>
            <a:r>
              <a:rPr lang="en-US" altLang="zh-CN" sz="2400" b="1" smtClean="0">
                <a:latin typeface="新宋体" panose="02010609030101010101" charset="-122"/>
                <a:ea typeface="新宋体" panose="02010609030101010101" charset="-122"/>
              </a:rPr>
              <a:t>V={1,2,</a:t>
            </a:r>
            <a:r>
              <a:rPr lang="en-US" altLang="zh-CN" sz="2400" b="1" smtClean="0">
                <a:ea typeface="新宋体" panose="02010609030101010101" charset="-122"/>
              </a:rPr>
              <a:t>…</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构造</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的最小生成树的</a:t>
            </a:r>
            <a:r>
              <a:rPr lang="en-US" altLang="zh-CN" sz="2400" b="1" smtClean="0">
                <a:latin typeface="新宋体" panose="02010609030101010101" charset="-122"/>
                <a:ea typeface="新宋体" panose="02010609030101010101" charset="-122"/>
              </a:rPr>
              <a:t>Prim</a:t>
            </a:r>
            <a:r>
              <a:rPr lang="zh-CN" altLang="en-US" sz="2400" b="1" smtClean="0">
                <a:latin typeface="新宋体" panose="02010609030101010101" charset="-122"/>
                <a:ea typeface="新宋体" panose="02010609030101010101" charset="-122"/>
              </a:rPr>
              <a:t>算法的</a:t>
            </a:r>
            <a:r>
              <a:rPr lang="zh-CN" altLang="en-US" sz="2400" b="1" smtClean="0">
                <a:solidFill>
                  <a:schemeClr val="accent2"/>
                </a:solidFill>
                <a:latin typeface="新宋体" panose="02010609030101010101" charset="-122"/>
                <a:ea typeface="新宋体" panose="02010609030101010101" charset="-122"/>
              </a:rPr>
              <a:t>基本思想</a:t>
            </a:r>
            <a:r>
              <a:rPr lang="zh-CN" altLang="en-US" sz="2400" b="1" smtClean="0">
                <a:latin typeface="新宋体" panose="02010609030101010101" charset="-122"/>
                <a:ea typeface="新宋体" panose="02010609030101010101" charset="-122"/>
              </a:rPr>
              <a:t>是：首先置</a:t>
            </a:r>
            <a:r>
              <a:rPr lang="en-US" altLang="zh-CN" sz="2400" b="1" smtClean="0">
                <a:latin typeface="新宋体" panose="02010609030101010101" charset="-122"/>
                <a:ea typeface="新宋体" panose="02010609030101010101" charset="-122"/>
              </a:rPr>
              <a:t>S={1}</a:t>
            </a:r>
            <a:r>
              <a:rPr lang="zh-CN" altLang="en-US" sz="2400" b="1" smtClean="0">
                <a:latin typeface="新宋体" panose="02010609030101010101" charset="-122"/>
                <a:ea typeface="新宋体" panose="02010609030101010101" charset="-122"/>
              </a:rPr>
              <a:t>，然后，只要</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是</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的真子集，就作如下的</a:t>
            </a:r>
            <a:r>
              <a:rPr lang="zh-CN" altLang="en-US" sz="2400" b="1" smtClean="0">
                <a:solidFill>
                  <a:schemeClr val="accent2"/>
                </a:solidFill>
                <a:latin typeface="新宋体" panose="02010609030101010101" charset="-122"/>
                <a:ea typeface="新宋体" panose="02010609030101010101" charset="-122"/>
              </a:rPr>
              <a:t>贪心选择：</a:t>
            </a:r>
            <a:r>
              <a:rPr lang="zh-CN" altLang="en-US" sz="2400" b="1" smtClean="0">
                <a:latin typeface="新宋体" panose="02010609030101010101" charset="-122"/>
                <a:ea typeface="新宋体" panose="02010609030101010101" charset="-122"/>
              </a:rPr>
              <a:t>选取满足条件</a:t>
            </a:r>
            <a:r>
              <a:rPr lang="en-US" altLang="zh-CN" sz="2400" b="1" smtClean="0">
                <a:latin typeface="新宋体" panose="02010609030101010101" charset="-122"/>
                <a:ea typeface="新宋体" panose="02010609030101010101" charset="-122"/>
              </a:rPr>
              <a:t>i</a:t>
            </a:r>
            <a:r>
              <a:rPr lang="en-US" altLang="zh-CN" sz="2400" b="1" smtClean="0">
                <a:latin typeface="新宋体" panose="02010609030101010101" charset="-122"/>
                <a:ea typeface="新宋体" panose="02010609030101010101" charset="-122"/>
                <a:sym typeface="Symbol" panose="05050102010706020507" pitchFamily="18" charset="2"/>
              </a:rPr>
              <a:t></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j</a:t>
            </a:r>
            <a:r>
              <a:rPr lang="en-US" altLang="zh-CN" sz="2400" b="1" smtClean="0">
                <a:latin typeface="新宋体" panose="02010609030101010101" charset="-122"/>
                <a:ea typeface="新宋体" panose="02010609030101010101" charset="-122"/>
                <a:sym typeface="Symbol" panose="05050102010706020507" pitchFamily="18" charset="2"/>
              </a:rPr>
              <a:t></a:t>
            </a:r>
            <a:r>
              <a:rPr lang="en-US" altLang="zh-CN" sz="2400" b="1" smtClean="0">
                <a:latin typeface="新宋体" panose="02010609030101010101" charset="-122"/>
                <a:ea typeface="新宋体" panose="02010609030101010101" charset="-122"/>
              </a:rPr>
              <a:t>V-S</a:t>
            </a:r>
            <a:r>
              <a:rPr lang="zh-CN" altLang="en-US" sz="2400" b="1" smtClean="0">
                <a:latin typeface="新宋体" panose="02010609030101010101" charset="-122"/>
                <a:ea typeface="新宋体" panose="02010609030101010101" charset="-122"/>
              </a:rPr>
              <a:t>，且</a:t>
            </a:r>
            <a:r>
              <a:rPr lang="en-US" altLang="zh-CN" sz="2400" b="1" smtClean="0">
                <a:latin typeface="新宋体" panose="02010609030101010101" charset="-122"/>
                <a:ea typeface="新宋体" panose="02010609030101010101" charset="-122"/>
              </a:rPr>
              <a:t>c[i][j]</a:t>
            </a:r>
            <a:r>
              <a:rPr lang="zh-CN" altLang="en-US" sz="2400" b="1" smtClean="0">
                <a:latin typeface="新宋体" panose="02010609030101010101" charset="-122"/>
                <a:ea typeface="新宋体" panose="02010609030101010101" charset="-122"/>
              </a:rPr>
              <a:t>最小的边，将顶点</a:t>
            </a:r>
            <a:r>
              <a:rPr lang="en-US" altLang="zh-CN" sz="2400" b="1" smtClean="0">
                <a:latin typeface="新宋体" panose="02010609030101010101" charset="-122"/>
                <a:ea typeface="新宋体" panose="02010609030101010101" charset="-122"/>
              </a:rPr>
              <a:t>j</a:t>
            </a:r>
            <a:r>
              <a:rPr lang="zh-CN" altLang="en-US" sz="2400" b="1" smtClean="0">
                <a:latin typeface="新宋体" panose="02010609030101010101" charset="-122"/>
                <a:ea typeface="新宋体" panose="02010609030101010101" charset="-122"/>
              </a:rPr>
              <a:t>添加到</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中。这个过程一直进行到</a:t>
            </a:r>
            <a:r>
              <a:rPr lang="en-US" altLang="zh-CN" sz="2400" b="1" smtClean="0">
                <a:latin typeface="新宋体" panose="02010609030101010101" charset="-122"/>
                <a:ea typeface="新宋体" panose="02010609030101010101" charset="-122"/>
              </a:rPr>
              <a:t>S=V</a:t>
            </a:r>
            <a:r>
              <a:rPr lang="zh-CN" altLang="en-US" sz="2400" b="1" smtClean="0">
                <a:latin typeface="新宋体" panose="02010609030101010101" charset="-122"/>
                <a:ea typeface="新宋体" panose="02010609030101010101" charset="-122"/>
              </a:rPr>
              <a:t>时为止。</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在这个过程中选取到的所有边恰好构成</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的一棵</a:t>
            </a:r>
            <a:r>
              <a:rPr lang="zh-CN" altLang="en-US" sz="2400" b="1" smtClean="0">
                <a:solidFill>
                  <a:schemeClr val="accent2"/>
                </a:solidFill>
                <a:latin typeface="新宋体" panose="02010609030101010101" charset="-122"/>
                <a:ea typeface="新宋体" panose="02010609030101010101" charset="-122"/>
              </a:rPr>
              <a:t>最小生成树</a:t>
            </a:r>
            <a:r>
              <a:rPr lang="zh-CN" altLang="en-US" sz="2400" b="1" smtClean="0">
                <a:latin typeface="新宋体" panose="02010609030101010101" charset="-122"/>
                <a:ea typeface="新宋体" panose="02010609030101010101" charset="-122"/>
              </a:rPr>
              <a:t>。 </a:t>
            </a:r>
            <a:endParaRPr lang="zh-CN" altLang="en-US" sz="2400" b="1" smtClean="0">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33795" name="Rectangle 3"/>
          <p:cNvSpPr>
            <a:spLocks noGrp="1" noChangeArrowheads="1"/>
          </p:cNvSpPr>
          <p:nvPr>
            <p:ph type="body" sz="half" idx="1"/>
          </p:nvPr>
        </p:nvSpPr>
        <p:spPr>
          <a:xfrm>
            <a:off x="395288" y="1989138"/>
            <a:ext cx="4105275" cy="4114800"/>
          </a:xfrm>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利用最小生成树性质和数学归纳法容易证明，上述算法中的</a:t>
            </a:r>
            <a:r>
              <a:rPr lang="zh-CN" altLang="en-US" sz="2400" b="1" smtClean="0">
                <a:solidFill>
                  <a:schemeClr val="accent2"/>
                </a:solidFill>
                <a:latin typeface="新宋体" panose="02010609030101010101" charset="-122"/>
                <a:ea typeface="新宋体" panose="02010609030101010101" charset="-122"/>
              </a:rPr>
              <a:t>边集合</a:t>
            </a:r>
            <a:r>
              <a:rPr lang="en-US" altLang="zh-CN" sz="2400" b="1" smtClean="0">
                <a:solidFill>
                  <a:schemeClr val="accent2"/>
                </a:solidFill>
                <a:latin typeface="新宋体" panose="02010609030101010101" charset="-122"/>
                <a:ea typeface="新宋体" panose="02010609030101010101" charset="-122"/>
              </a:rPr>
              <a:t>T</a:t>
            </a:r>
            <a:r>
              <a:rPr lang="zh-CN" altLang="en-US" sz="2400" b="1" smtClean="0">
                <a:solidFill>
                  <a:schemeClr val="accent2"/>
                </a:solidFill>
                <a:latin typeface="新宋体" panose="02010609030101010101" charset="-122"/>
                <a:ea typeface="新宋体" panose="02010609030101010101" charset="-122"/>
              </a:rPr>
              <a:t>始终包含</a:t>
            </a:r>
            <a:r>
              <a:rPr lang="en-US" altLang="zh-CN" sz="2400" b="1" smtClean="0">
                <a:solidFill>
                  <a:schemeClr val="accent2"/>
                </a:solidFill>
                <a:latin typeface="新宋体" panose="02010609030101010101" charset="-122"/>
                <a:ea typeface="新宋体" panose="02010609030101010101" charset="-122"/>
              </a:rPr>
              <a:t>G</a:t>
            </a:r>
            <a:r>
              <a:rPr lang="zh-CN" altLang="en-US" sz="2400" b="1" smtClean="0">
                <a:solidFill>
                  <a:schemeClr val="accent2"/>
                </a:solidFill>
                <a:latin typeface="新宋体" panose="02010609030101010101" charset="-122"/>
                <a:ea typeface="新宋体" panose="02010609030101010101" charset="-122"/>
              </a:rPr>
              <a:t>的某棵最小生成树中的边</a:t>
            </a:r>
            <a:r>
              <a:rPr lang="zh-CN" altLang="en-US" sz="2400" b="1" smtClean="0">
                <a:latin typeface="新宋体" panose="02010609030101010101" charset="-122"/>
                <a:ea typeface="新宋体" panose="02010609030101010101" charset="-122"/>
              </a:rPr>
              <a:t>。因此，在算法结束时，</a:t>
            </a:r>
            <a:r>
              <a:rPr lang="en-US" altLang="zh-CN" sz="2400" b="1" smtClean="0">
                <a:latin typeface="新宋体" panose="02010609030101010101" charset="-122"/>
                <a:ea typeface="新宋体" panose="02010609030101010101" charset="-122"/>
              </a:rPr>
              <a:t>T</a:t>
            </a:r>
            <a:r>
              <a:rPr lang="zh-CN" altLang="en-US" sz="2400" b="1" smtClean="0">
                <a:latin typeface="新宋体" panose="02010609030101010101" charset="-122"/>
                <a:ea typeface="新宋体" panose="02010609030101010101" charset="-122"/>
              </a:rPr>
              <a:t>中的所有边构成</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的一棵最小生成树。</a:t>
            </a:r>
            <a:r>
              <a:rPr lang="zh-CN" altLang="en-US" sz="2400" b="1" smtClean="0"/>
              <a:t> </a:t>
            </a:r>
            <a:endParaRPr lang="zh-CN" altLang="en-US" sz="2400" b="1" smtClean="0"/>
          </a:p>
          <a:p>
            <a:pPr eaLnBrk="1" hangingPunct="1">
              <a:buFont typeface="Wingdings" panose="05000000000000000000" pitchFamily="2" charset="2"/>
              <a:buNone/>
            </a:pPr>
            <a:r>
              <a:rPr lang="zh-CN" altLang="en-US" sz="2400" b="1" smtClean="0"/>
              <a:t>		</a:t>
            </a:r>
            <a:r>
              <a:rPr lang="zh-CN" altLang="en-US" sz="2400" b="1" smtClean="0">
                <a:solidFill>
                  <a:schemeClr val="accent2"/>
                </a:solidFill>
                <a:latin typeface="新宋体" panose="02010609030101010101" charset="-122"/>
                <a:ea typeface="新宋体" panose="02010609030101010101" charset="-122"/>
              </a:rPr>
              <a:t>例如</a:t>
            </a:r>
            <a:r>
              <a:rPr lang="zh-CN" altLang="en-US" sz="2400" b="1" smtClean="0">
                <a:latin typeface="新宋体" panose="02010609030101010101" charset="-122"/>
                <a:ea typeface="新宋体" panose="02010609030101010101" charset="-122"/>
              </a:rPr>
              <a:t>，对于右图中的带权图，按</a:t>
            </a:r>
            <a:r>
              <a:rPr lang="en-US" altLang="zh-CN" sz="2400" b="1" smtClean="0">
                <a:solidFill>
                  <a:schemeClr val="accent2"/>
                </a:solidFill>
                <a:latin typeface="新宋体" panose="02010609030101010101" charset="-122"/>
                <a:ea typeface="新宋体" panose="02010609030101010101" charset="-122"/>
              </a:rPr>
              <a:t>Prim</a:t>
            </a:r>
            <a:r>
              <a:rPr lang="zh-CN" altLang="en-US" sz="2400" b="1" smtClean="0">
                <a:solidFill>
                  <a:schemeClr val="accent2"/>
                </a:solidFill>
                <a:latin typeface="新宋体" panose="02010609030101010101" charset="-122"/>
                <a:ea typeface="新宋体" panose="02010609030101010101" charset="-122"/>
              </a:rPr>
              <a:t>算法</a:t>
            </a:r>
            <a:r>
              <a:rPr lang="zh-CN" altLang="en-US" sz="2400" b="1" smtClean="0">
                <a:latin typeface="新宋体" panose="02010609030101010101" charset="-122"/>
                <a:ea typeface="新宋体" panose="02010609030101010101" charset="-122"/>
              </a:rPr>
              <a:t>选取边的过程如下页图所示。</a:t>
            </a:r>
            <a:endParaRPr lang="zh-CN" altLang="en-US" sz="2400" b="1" smtClean="0">
              <a:latin typeface="新宋体" panose="02010609030101010101" charset="-122"/>
              <a:ea typeface="新宋体" panose="02010609030101010101" charset="-122"/>
            </a:endParaRPr>
          </a:p>
        </p:txBody>
      </p:sp>
      <p:pic>
        <p:nvPicPr>
          <p:cNvPr id="33796" name="Picture 4" descr="t48"/>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4724400" y="1958975"/>
            <a:ext cx="3957638" cy="3452813"/>
          </a:xfrm>
          <a:noFill/>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pic>
        <p:nvPicPr>
          <p:cNvPr id="34819" name="Picture 3" descr="t49"/>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187450" y="2406650"/>
            <a:ext cx="6408738" cy="4191000"/>
          </a:xfrm>
          <a:noFill/>
        </p:spPr>
      </p:pic>
      <p:pic>
        <p:nvPicPr>
          <p:cNvPr id="34820" name="Picture 4" descr="t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725" y="0"/>
            <a:ext cx="2662238" cy="2322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4100" name="Rectangle 3"/>
          <p:cNvSpPr>
            <a:spLocks noGrp="1" noChangeArrowheads="1"/>
          </p:cNvSpPr>
          <p:nvPr>
            <p:ph type="body" idx="1"/>
          </p:nvPr>
        </p:nvSpPr>
        <p:spPr>
          <a:xfrm>
            <a:off x="541338" y="2100263"/>
            <a:ext cx="8061325" cy="4003675"/>
          </a:xfrm>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latin typeface="新宋体" panose="02010609030101010101" charset="-122"/>
                <a:ea typeface="新宋体" panose="02010609030101010101" charset="-122"/>
              </a:rPr>
              <a:t>在上述</a:t>
            </a:r>
            <a:r>
              <a:rPr lang="en-US" altLang="zh-CN" sz="2400" b="1" smtClean="0">
                <a:latin typeface="新宋体" panose="02010609030101010101" charset="-122"/>
                <a:ea typeface="新宋体" panose="02010609030101010101" charset="-122"/>
              </a:rPr>
              <a:t>Prim</a:t>
            </a:r>
            <a:r>
              <a:rPr lang="zh-CN" altLang="en-US" sz="2400" b="1" smtClean="0">
                <a:latin typeface="新宋体" panose="02010609030101010101" charset="-122"/>
                <a:ea typeface="新宋体" panose="02010609030101010101" charset="-122"/>
              </a:rPr>
              <a:t>算法中，还应当考虑</a:t>
            </a:r>
            <a:r>
              <a:rPr lang="zh-CN" altLang="en-US" sz="2400" b="1" smtClean="0">
                <a:solidFill>
                  <a:schemeClr val="accent2"/>
                </a:solidFill>
                <a:latin typeface="新宋体" panose="02010609030101010101" charset="-122"/>
                <a:ea typeface="新宋体" panose="02010609030101010101" charset="-122"/>
              </a:rPr>
              <a:t>如何有效地找出满足条件</a:t>
            </a:r>
            <a:r>
              <a:rPr lang="en-US" altLang="zh-CN" sz="2400" b="1" smtClean="0">
                <a:solidFill>
                  <a:schemeClr val="accent2"/>
                </a:solidFill>
                <a:latin typeface="新宋体" panose="02010609030101010101" charset="-122"/>
                <a:ea typeface="新宋体" panose="02010609030101010101" charset="-122"/>
              </a:rPr>
              <a:t>i</a:t>
            </a:r>
            <a:r>
              <a:rPr lang="en-US" altLang="zh-CN" sz="2400" b="1" smtClean="0">
                <a:solidFill>
                  <a:schemeClr val="accent2"/>
                </a:solidFill>
                <a:latin typeface="新宋体" panose="02010609030101010101" charset="-122"/>
                <a:ea typeface="新宋体" panose="02010609030101010101" charset="-122"/>
                <a:sym typeface="Symbol" panose="05050102010706020507" pitchFamily="18" charset="2"/>
              </a:rPr>
              <a:t></a:t>
            </a:r>
            <a:r>
              <a:rPr lang="en-US" altLang="zh-CN" sz="2400" b="1" smtClean="0">
                <a:solidFill>
                  <a:schemeClr val="accent2"/>
                </a:solidFill>
                <a:latin typeface="新宋体" panose="02010609030101010101" charset="-122"/>
                <a:ea typeface="新宋体" panose="02010609030101010101" charset="-122"/>
              </a:rPr>
              <a:t>S,j</a:t>
            </a:r>
            <a:r>
              <a:rPr lang="en-US" altLang="zh-CN" sz="2400" b="1" smtClean="0">
                <a:solidFill>
                  <a:schemeClr val="accent2"/>
                </a:solidFill>
                <a:latin typeface="新宋体" panose="02010609030101010101" charset="-122"/>
                <a:ea typeface="新宋体" panose="02010609030101010101" charset="-122"/>
                <a:sym typeface="Symbol" panose="05050102010706020507" pitchFamily="18" charset="2"/>
              </a:rPr>
              <a:t></a:t>
            </a:r>
            <a:r>
              <a:rPr lang="en-US" altLang="zh-CN" sz="2400" b="1" smtClean="0">
                <a:solidFill>
                  <a:schemeClr val="accent2"/>
                </a:solidFill>
                <a:latin typeface="新宋体" panose="02010609030101010101" charset="-122"/>
                <a:ea typeface="新宋体" panose="02010609030101010101" charset="-122"/>
              </a:rPr>
              <a:t>V-S</a:t>
            </a:r>
            <a:r>
              <a:rPr lang="zh-CN" altLang="en-US" sz="2400" b="1" smtClean="0">
                <a:solidFill>
                  <a:schemeClr val="accent2"/>
                </a:solidFill>
                <a:latin typeface="新宋体" panose="02010609030101010101" charset="-122"/>
                <a:ea typeface="新宋体" panose="02010609030101010101" charset="-122"/>
              </a:rPr>
              <a:t>，且权</a:t>
            </a:r>
            <a:r>
              <a:rPr lang="en-US" altLang="zh-CN" sz="2400" b="1" smtClean="0">
                <a:solidFill>
                  <a:schemeClr val="accent2"/>
                </a:solidFill>
                <a:latin typeface="新宋体" panose="02010609030101010101" charset="-122"/>
                <a:ea typeface="新宋体" panose="02010609030101010101" charset="-122"/>
              </a:rPr>
              <a:t>c[i][j]</a:t>
            </a:r>
            <a:r>
              <a:rPr lang="zh-CN" altLang="en-US" sz="2400" b="1" smtClean="0">
                <a:solidFill>
                  <a:schemeClr val="accent2"/>
                </a:solidFill>
                <a:latin typeface="新宋体" panose="02010609030101010101" charset="-122"/>
                <a:ea typeface="新宋体" panose="02010609030101010101" charset="-122"/>
              </a:rPr>
              <a:t>最小的边</a:t>
            </a:r>
            <a:r>
              <a:rPr lang="en-US" altLang="zh-CN" sz="2400" b="1" smtClean="0">
                <a:solidFill>
                  <a:schemeClr val="accent2"/>
                </a:solidFill>
                <a:latin typeface="新宋体" panose="02010609030101010101" charset="-122"/>
                <a:ea typeface="新宋体" panose="02010609030101010101" charset="-122"/>
              </a:rPr>
              <a:t>(i,j)</a:t>
            </a:r>
            <a:r>
              <a:rPr lang="zh-CN" altLang="en-US" sz="2400" b="1" smtClean="0">
                <a:latin typeface="新宋体" panose="02010609030101010101" charset="-122"/>
                <a:ea typeface="新宋体" panose="02010609030101010101" charset="-122"/>
              </a:rPr>
              <a:t>。实现这个目的的较简单的办法是设置</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个数组</a:t>
            </a:r>
            <a:r>
              <a:rPr lang="en-US" altLang="zh-CN" sz="2400" b="1" smtClean="0">
                <a:latin typeface="新宋体" panose="02010609030101010101" charset="-122"/>
                <a:ea typeface="新宋体" panose="02010609030101010101" charset="-122"/>
              </a:rPr>
              <a:t>closest</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lowcost</a:t>
            </a:r>
            <a:r>
              <a:rPr lang="zh-CN" altLang="en-US" sz="2400" b="1" smtClean="0">
                <a:latin typeface="新宋体" panose="02010609030101010101" charset="-122"/>
                <a:ea typeface="新宋体" panose="02010609030101010101" charset="-122"/>
              </a:rPr>
              <a:t>。</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在</a:t>
            </a:r>
            <a:r>
              <a:rPr lang="en-US" altLang="zh-CN" sz="2400" b="1" smtClean="0">
                <a:latin typeface="新宋体" panose="02010609030101010101" charset="-122"/>
                <a:ea typeface="新宋体" panose="02010609030101010101" charset="-122"/>
              </a:rPr>
              <a:t>Prim</a:t>
            </a:r>
            <a:r>
              <a:rPr lang="zh-CN" altLang="en-US" sz="2400" b="1" smtClean="0">
                <a:latin typeface="新宋体" panose="02010609030101010101" charset="-122"/>
                <a:ea typeface="新宋体" panose="02010609030101010101" charset="-122"/>
              </a:rPr>
              <a:t>算法执行过程中，先找出</a:t>
            </a:r>
            <a:r>
              <a:rPr lang="en-US" altLang="zh-CN" sz="2400" b="1" smtClean="0">
                <a:latin typeface="新宋体" panose="02010609030101010101" charset="-122"/>
                <a:ea typeface="新宋体" panose="02010609030101010101" charset="-122"/>
              </a:rPr>
              <a:t>V-S</a:t>
            </a:r>
            <a:r>
              <a:rPr lang="zh-CN" altLang="en-US" sz="2400" b="1" smtClean="0">
                <a:latin typeface="新宋体" panose="02010609030101010101" charset="-122"/>
                <a:ea typeface="新宋体" panose="02010609030101010101" charset="-122"/>
              </a:rPr>
              <a:t>中使</a:t>
            </a:r>
            <a:r>
              <a:rPr lang="en-US" altLang="zh-CN" sz="2400" b="1" smtClean="0">
                <a:latin typeface="新宋体" panose="02010609030101010101" charset="-122"/>
                <a:ea typeface="新宋体" panose="02010609030101010101" charset="-122"/>
              </a:rPr>
              <a:t>lowcost</a:t>
            </a:r>
            <a:r>
              <a:rPr lang="zh-CN" altLang="en-US" sz="2400" b="1" smtClean="0">
                <a:latin typeface="新宋体" panose="02010609030101010101" charset="-122"/>
                <a:ea typeface="新宋体" panose="02010609030101010101" charset="-122"/>
              </a:rPr>
              <a:t>值最小的顶点</a:t>
            </a:r>
            <a:r>
              <a:rPr lang="en-US" altLang="zh-CN" sz="2400" b="1" smtClean="0">
                <a:latin typeface="新宋体" panose="02010609030101010101" charset="-122"/>
                <a:ea typeface="新宋体" panose="02010609030101010101" charset="-122"/>
              </a:rPr>
              <a:t>j</a:t>
            </a:r>
            <a:r>
              <a:rPr lang="zh-CN" altLang="en-US" sz="2400" b="1" smtClean="0">
                <a:latin typeface="新宋体" panose="02010609030101010101" charset="-122"/>
                <a:ea typeface="新宋体" panose="02010609030101010101" charset="-122"/>
              </a:rPr>
              <a:t>，然后根据数组</a:t>
            </a:r>
            <a:r>
              <a:rPr lang="en-US" altLang="zh-CN" sz="2400" b="1" smtClean="0">
                <a:latin typeface="新宋体" panose="02010609030101010101" charset="-122"/>
                <a:ea typeface="新宋体" panose="02010609030101010101" charset="-122"/>
              </a:rPr>
              <a:t>closest</a:t>
            </a:r>
            <a:r>
              <a:rPr lang="zh-CN" altLang="en-US" sz="2400" b="1" smtClean="0">
                <a:latin typeface="新宋体" panose="02010609030101010101" charset="-122"/>
                <a:ea typeface="新宋体" panose="02010609030101010101" charset="-122"/>
              </a:rPr>
              <a:t>选取边</a:t>
            </a:r>
            <a:r>
              <a:rPr lang="en-US" altLang="zh-CN" sz="2400" b="1" smtClean="0">
                <a:latin typeface="新宋体" panose="02010609030101010101" charset="-122"/>
                <a:ea typeface="新宋体" panose="02010609030101010101" charset="-122"/>
              </a:rPr>
              <a:t>(j,closest[j</a:t>
            </a:r>
            <a:r>
              <a:rPr lang="zh-CN" altLang="en-US" sz="2400" b="1" smtClean="0">
                <a:latin typeface="新宋体" panose="02010609030101010101" charset="-122"/>
                <a:ea typeface="新宋体" panose="02010609030101010101" charset="-122"/>
              </a:rPr>
              <a:t>］</a:t>
            </a:r>
            <a:r>
              <a:rPr lang="en-US" altLang="zh-CN" sz="2400" b="1" smtClean="0">
                <a:latin typeface="新宋体" panose="02010609030101010101" charset="-122"/>
                <a:ea typeface="新宋体" panose="02010609030101010101" charset="-122"/>
              </a:rPr>
              <a:t>)</a:t>
            </a:r>
            <a:r>
              <a:rPr lang="zh-CN" altLang="en-US" sz="2400" b="1" smtClean="0">
                <a:latin typeface="新宋体" panose="02010609030101010101" charset="-122"/>
                <a:ea typeface="新宋体" panose="02010609030101010101" charset="-122"/>
              </a:rPr>
              <a:t>，最后将</a:t>
            </a:r>
            <a:r>
              <a:rPr lang="en-US" altLang="zh-CN" sz="2400" b="1" smtClean="0">
                <a:latin typeface="新宋体" panose="02010609030101010101" charset="-122"/>
                <a:ea typeface="新宋体" panose="02010609030101010101" charset="-122"/>
              </a:rPr>
              <a:t>j</a:t>
            </a:r>
            <a:r>
              <a:rPr lang="zh-CN" altLang="en-US" sz="2400" b="1" smtClean="0">
                <a:latin typeface="新宋体" panose="02010609030101010101" charset="-122"/>
                <a:ea typeface="新宋体" panose="02010609030101010101" charset="-122"/>
              </a:rPr>
              <a:t>添加到</a:t>
            </a:r>
            <a:r>
              <a:rPr lang="en-US" altLang="zh-CN" sz="2400" b="1" smtClean="0">
                <a:latin typeface="新宋体" panose="02010609030101010101" charset="-122"/>
                <a:ea typeface="新宋体" panose="02010609030101010101" charset="-122"/>
              </a:rPr>
              <a:t>S</a:t>
            </a:r>
            <a:r>
              <a:rPr lang="zh-CN" altLang="en-US" sz="2400" b="1" smtClean="0">
                <a:latin typeface="新宋体" panose="02010609030101010101" charset="-122"/>
                <a:ea typeface="新宋体" panose="02010609030101010101" charset="-122"/>
              </a:rPr>
              <a:t>中，并对</a:t>
            </a:r>
            <a:r>
              <a:rPr lang="en-US" altLang="zh-CN" sz="2400" b="1" smtClean="0">
                <a:latin typeface="新宋体" panose="02010609030101010101" charset="-122"/>
                <a:ea typeface="新宋体" panose="02010609030101010101" charset="-122"/>
              </a:rPr>
              <a:t>closest</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lowcost</a:t>
            </a:r>
            <a:r>
              <a:rPr lang="zh-CN" altLang="en-US" sz="2400" b="1" smtClean="0">
                <a:latin typeface="新宋体" panose="02010609030101010101" charset="-122"/>
                <a:ea typeface="新宋体" panose="02010609030101010101" charset="-122"/>
              </a:rPr>
              <a:t>作必要的修改。</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用这个办法实现的</a:t>
            </a:r>
            <a:r>
              <a:rPr lang="en-US" altLang="zh-CN" sz="2400" b="1" smtClean="0">
                <a:latin typeface="新宋体" panose="02010609030101010101" charset="-122"/>
                <a:ea typeface="新宋体" panose="02010609030101010101" charset="-122"/>
              </a:rPr>
              <a:t>Prim</a:t>
            </a:r>
            <a:r>
              <a:rPr lang="zh-CN" altLang="en-US" sz="2400" b="1" smtClean="0">
                <a:latin typeface="新宋体" panose="02010609030101010101" charset="-122"/>
                <a:ea typeface="新宋体" panose="02010609030101010101" charset="-122"/>
              </a:rPr>
              <a:t>算法所需的</a:t>
            </a:r>
            <a:r>
              <a:rPr lang="zh-CN" altLang="en-US" sz="2400" b="1" smtClean="0">
                <a:solidFill>
                  <a:schemeClr val="accent2"/>
                </a:solidFill>
                <a:latin typeface="新宋体" panose="02010609030101010101" charset="-122"/>
                <a:ea typeface="新宋体" panose="02010609030101010101" charset="-122"/>
              </a:rPr>
              <a:t>计算时间</a:t>
            </a:r>
            <a:r>
              <a:rPr lang="zh-CN" altLang="en-US" sz="2400" b="1" smtClean="0">
                <a:latin typeface="新宋体" panose="02010609030101010101" charset="-122"/>
                <a:ea typeface="新宋体" panose="02010609030101010101" charset="-122"/>
              </a:rPr>
              <a:t>为 </a:t>
            </a:r>
            <a:endParaRPr lang="zh-CN" altLang="en-US" sz="2400" b="1" smtClean="0">
              <a:latin typeface="新宋体" panose="02010609030101010101" charset="-122"/>
              <a:ea typeface="新宋体" panose="02010609030101010101" charset="-122"/>
            </a:endParaRPr>
          </a:p>
        </p:txBody>
      </p:sp>
      <p:sp>
        <p:nvSpPr>
          <p:cNvPr id="4101" name="Rectangle 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4098" name="Object 5"/>
          <p:cNvGraphicFramePr>
            <a:graphicFrameLocks noChangeAspect="1"/>
          </p:cNvGraphicFramePr>
          <p:nvPr/>
        </p:nvGraphicFramePr>
        <p:xfrm>
          <a:off x="7596188" y="5229225"/>
          <a:ext cx="698500" cy="392113"/>
        </p:xfrm>
        <a:graphic>
          <a:graphicData uri="http://schemas.openxmlformats.org/presentationml/2006/ole">
            <mc:AlternateContent xmlns:mc="http://schemas.openxmlformats.org/markup-compatibility/2006">
              <mc:Choice xmlns:v="urn:schemas-microsoft-com:vml" Requires="v">
                <p:oleObj spid="_x0000_s5122" name="公式" r:id="rId1" imgW="406400" imgH="228600" progId="Equation.3">
                  <p:embed/>
                </p:oleObj>
              </mc:Choice>
              <mc:Fallback>
                <p:oleObj name="公式" r:id="rId1" imgW="406400" imgH="228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188" y="5229225"/>
                        <a:ext cx="698500"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333375"/>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35843" name="Rectangle 3"/>
          <p:cNvSpPr>
            <a:spLocks noGrp="1" noChangeArrowheads="1"/>
          </p:cNvSpPr>
          <p:nvPr>
            <p:ph type="body" idx="1"/>
          </p:nvPr>
        </p:nvSpPr>
        <p:spPr>
          <a:xfrm>
            <a:off x="755650" y="1557338"/>
            <a:ext cx="7772400" cy="4683125"/>
          </a:xfrm>
        </p:spPr>
        <p:txBody>
          <a:bodyPr/>
          <a:lstStyle/>
          <a:p>
            <a:pPr eaLnBrk="1" hangingPunct="1">
              <a:lnSpc>
                <a:spcPct val="90000"/>
              </a:lnSpc>
              <a:buFont typeface="Wingdings" panose="05000000000000000000" pitchFamily="2" charset="2"/>
              <a:buNone/>
            </a:pPr>
            <a:r>
              <a:rPr lang="en-US" altLang="zh-CN" b="1" smtClean="0">
                <a:solidFill>
                  <a:schemeClr val="accent2"/>
                </a:solidFill>
                <a:latin typeface="黑体" panose="02010609060101010101" pitchFamily="2" charset="-122"/>
                <a:ea typeface="黑体" panose="02010609060101010101" pitchFamily="2" charset="-122"/>
              </a:rPr>
              <a:t>3</a:t>
            </a:r>
            <a:r>
              <a:rPr lang="zh-CN" altLang="en-US" b="1" smtClean="0">
                <a:solidFill>
                  <a:schemeClr val="accent2"/>
                </a:solidFill>
                <a:latin typeface="黑体" panose="02010609060101010101" pitchFamily="2" charset="-122"/>
                <a:ea typeface="黑体" panose="02010609060101010101" pitchFamily="2" charset="-122"/>
              </a:rPr>
              <a:t>、</a:t>
            </a:r>
            <a:r>
              <a:rPr lang="en-US" altLang="zh-CN" b="1" smtClean="0">
                <a:solidFill>
                  <a:schemeClr val="accent2"/>
                </a:solidFill>
                <a:latin typeface="黑体" panose="02010609060101010101" pitchFamily="2" charset="-122"/>
                <a:ea typeface="黑体" panose="02010609060101010101" pitchFamily="2" charset="-122"/>
              </a:rPr>
              <a:t>Kruskal</a:t>
            </a:r>
            <a:r>
              <a:rPr lang="zh-CN" altLang="en-US" b="1" smtClean="0">
                <a:solidFill>
                  <a:schemeClr val="accent2"/>
                </a:solidFill>
                <a:latin typeface="黑体" panose="02010609060101010101" pitchFamily="2" charset="-122"/>
                <a:ea typeface="黑体" panose="02010609060101010101" pitchFamily="2" charset="-122"/>
              </a:rPr>
              <a:t>算法</a:t>
            </a:r>
            <a:endParaRPr lang="zh-CN" altLang="en-US" b="1" smtClean="0">
              <a:solidFill>
                <a:schemeClr val="accent2"/>
              </a:solidFill>
              <a:latin typeface="黑体" panose="02010609060101010101" pitchFamily="2" charset="-122"/>
              <a:ea typeface="黑体" panose="02010609060101010101" pitchFamily="2" charset="-122"/>
            </a:endParaRPr>
          </a:p>
          <a:p>
            <a:pPr eaLnBrk="1" hangingPunct="1">
              <a:lnSpc>
                <a:spcPct val="90000"/>
              </a:lnSpc>
              <a:buFont typeface="Wingdings" panose="05000000000000000000" pitchFamily="2" charset="2"/>
              <a:buNone/>
            </a:pPr>
            <a:r>
              <a:rPr lang="zh-CN" altLang="en-US" sz="2600" smtClean="0">
                <a:latin typeface="新宋体" panose="02010609030101010101" charset="-122"/>
                <a:ea typeface="新宋体" panose="02010609030101010101" charset="-122"/>
              </a:rPr>
              <a:t>		</a:t>
            </a:r>
            <a:r>
              <a:rPr lang="en-US" altLang="zh-CN" sz="2400" b="1" smtClean="0">
                <a:latin typeface="新宋体" panose="02010609030101010101" charset="-122"/>
                <a:ea typeface="新宋体" panose="02010609030101010101" charset="-122"/>
              </a:rPr>
              <a:t>Kruskal</a:t>
            </a:r>
            <a:r>
              <a:rPr lang="zh-CN" altLang="en-US" sz="2400" b="1" smtClean="0">
                <a:latin typeface="新宋体" panose="02010609030101010101" charset="-122"/>
                <a:ea typeface="新宋体" panose="02010609030101010101" charset="-122"/>
              </a:rPr>
              <a:t>算法构造</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的最小生成树的</a:t>
            </a:r>
            <a:r>
              <a:rPr lang="zh-CN" altLang="en-US" sz="2400" b="1" smtClean="0">
                <a:solidFill>
                  <a:schemeClr val="accent2"/>
                </a:solidFill>
                <a:latin typeface="新宋体" panose="02010609030101010101" charset="-122"/>
                <a:ea typeface="新宋体" panose="02010609030101010101" charset="-122"/>
              </a:rPr>
              <a:t>基本思想</a:t>
            </a:r>
            <a:r>
              <a:rPr lang="zh-CN" altLang="en-US" sz="2400" b="1" smtClean="0">
                <a:latin typeface="新宋体" panose="02010609030101010101" charset="-122"/>
                <a:ea typeface="新宋体" panose="02010609030101010101" charset="-122"/>
              </a:rPr>
              <a:t>是，首先将</a:t>
            </a:r>
            <a:r>
              <a:rPr lang="en-US" altLang="zh-CN" sz="2400" b="1" smtClean="0">
                <a:latin typeface="新宋体" panose="02010609030101010101" charset="-122"/>
                <a:ea typeface="新宋体" panose="02010609030101010101" charset="-122"/>
              </a:rPr>
              <a:t>G</a:t>
            </a:r>
            <a:r>
              <a:rPr lang="zh-CN" altLang="en-US" sz="2400" b="1" smtClean="0">
                <a:latin typeface="新宋体" panose="02010609030101010101" charset="-122"/>
                <a:ea typeface="新宋体" panose="02010609030101010101" charset="-122"/>
              </a:rPr>
              <a:t>的</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个顶点看成</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个孤立的连通分支。将所有的边按权从小到大排序。然后从第一条边开始，依边权递增的顺序查看每一条边，并按下述方法连接</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个不同的连通分支：当查看到第</a:t>
            </a:r>
            <a:r>
              <a:rPr lang="en-US" altLang="zh-CN" sz="2400" b="1" smtClean="0">
                <a:latin typeface="新宋体" panose="02010609030101010101" charset="-122"/>
                <a:ea typeface="新宋体" panose="02010609030101010101" charset="-122"/>
              </a:rPr>
              <a:t>k</a:t>
            </a:r>
            <a:r>
              <a:rPr lang="zh-CN" altLang="en-US" sz="2400" b="1" smtClean="0">
                <a:latin typeface="新宋体" panose="02010609030101010101" charset="-122"/>
                <a:ea typeface="新宋体" panose="02010609030101010101" charset="-122"/>
              </a:rPr>
              <a:t>条边</a:t>
            </a:r>
            <a:r>
              <a:rPr lang="en-US" altLang="zh-CN" sz="2400" b="1" smtClean="0">
                <a:latin typeface="新宋体" panose="02010609030101010101" charset="-122"/>
                <a:ea typeface="新宋体" panose="02010609030101010101" charset="-122"/>
              </a:rPr>
              <a:t>(v,w)</a:t>
            </a:r>
            <a:r>
              <a:rPr lang="zh-CN" altLang="en-US" sz="2400" b="1" smtClean="0">
                <a:latin typeface="新宋体" panose="02010609030101010101" charset="-122"/>
                <a:ea typeface="新宋体" panose="02010609030101010101" charset="-122"/>
              </a:rPr>
              <a:t>时，如果端点</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w</a:t>
            </a:r>
            <a:r>
              <a:rPr lang="zh-CN" altLang="en-US" sz="2400" b="1" smtClean="0">
                <a:latin typeface="新宋体" panose="02010609030101010101" charset="-122"/>
                <a:ea typeface="新宋体" panose="02010609030101010101" charset="-122"/>
              </a:rPr>
              <a:t>分别是当前</a:t>
            </a:r>
            <a:r>
              <a:rPr lang="en-US" altLang="zh-CN" sz="2400" b="1" smtClean="0">
                <a:latin typeface="新宋体" panose="02010609030101010101" charset="-122"/>
                <a:ea typeface="新宋体" panose="02010609030101010101" charset="-122"/>
              </a:rPr>
              <a:t>2</a:t>
            </a:r>
            <a:r>
              <a:rPr lang="zh-CN" altLang="en-US" sz="2400" b="1" smtClean="0">
                <a:latin typeface="新宋体" panose="02010609030101010101" charset="-122"/>
                <a:ea typeface="新宋体" panose="02010609030101010101" charset="-122"/>
              </a:rPr>
              <a:t>个不同的连通分支</a:t>
            </a:r>
            <a:r>
              <a:rPr lang="en-US" altLang="zh-CN" sz="2400" b="1" smtClean="0">
                <a:latin typeface="新宋体" panose="02010609030101010101" charset="-122"/>
                <a:ea typeface="新宋体" panose="02010609030101010101" charset="-122"/>
              </a:rPr>
              <a:t>T1</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T2</a:t>
            </a:r>
            <a:r>
              <a:rPr lang="zh-CN" altLang="en-US" sz="2400" b="1" smtClean="0">
                <a:latin typeface="新宋体" panose="02010609030101010101" charset="-122"/>
                <a:ea typeface="新宋体" panose="02010609030101010101" charset="-122"/>
              </a:rPr>
              <a:t>中的顶点时，就用边</a:t>
            </a:r>
            <a:r>
              <a:rPr lang="en-US" altLang="zh-CN" sz="2400" b="1" smtClean="0">
                <a:latin typeface="新宋体" panose="02010609030101010101" charset="-122"/>
                <a:ea typeface="新宋体" panose="02010609030101010101" charset="-122"/>
              </a:rPr>
              <a:t>(v,w)</a:t>
            </a:r>
            <a:r>
              <a:rPr lang="zh-CN" altLang="en-US" sz="2400" b="1" smtClean="0">
                <a:latin typeface="新宋体" panose="02010609030101010101" charset="-122"/>
                <a:ea typeface="新宋体" panose="02010609030101010101" charset="-122"/>
              </a:rPr>
              <a:t>将</a:t>
            </a:r>
            <a:r>
              <a:rPr lang="en-US" altLang="zh-CN" sz="2400" b="1" smtClean="0">
                <a:latin typeface="新宋体" panose="02010609030101010101" charset="-122"/>
                <a:ea typeface="新宋体" panose="02010609030101010101" charset="-122"/>
              </a:rPr>
              <a:t>T1</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T2</a:t>
            </a:r>
            <a:r>
              <a:rPr lang="zh-CN" altLang="en-US" sz="2400" b="1" smtClean="0">
                <a:latin typeface="新宋体" panose="02010609030101010101" charset="-122"/>
                <a:ea typeface="新宋体" panose="02010609030101010101" charset="-122"/>
              </a:rPr>
              <a:t>连接成一个连通分支，然后继续查看第</a:t>
            </a:r>
            <a:r>
              <a:rPr lang="en-US" altLang="zh-CN" sz="2400" b="1" smtClean="0">
                <a:latin typeface="新宋体" panose="02010609030101010101" charset="-122"/>
                <a:ea typeface="新宋体" panose="02010609030101010101" charset="-122"/>
              </a:rPr>
              <a:t>k+1</a:t>
            </a:r>
            <a:r>
              <a:rPr lang="zh-CN" altLang="en-US" sz="2400" b="1" smtClean="0">
                <a:latin typeface="新宋体" panose="02010609030101010101" charset="-122"/>
                <a:ea typeface="新宋体" panose="02010609030101010101" charset="-122"/>
              </a:rPr>
              <a:t>条边；如果端点</a:t>
            </a:r>
            <a:r>
              <a:rPr lang="en-US" altLang="zh-CN" sz="2400" b="1" smtClean="0">
                <a:latin typeface="新宋体" panose="02010609030101010101" charset="-122"/>
                <a:ea typeface="新宋体" panose="02010609030101010101" charset="-122"/>
              </a:rPr>
              <a:t>v</a:t>
            </a:r>
            <a:r>
              <a:rPr lang="zh-CN" altLang="en-US" sz="2400" b="1" smtClean="0">
                <a:latin typeface="新宋体" panose="02010609030101010101" charset="-122"/>
                <a:ea typeface="新宋体" panose="02010609030101010101" charset="-122"/>
              </a:rPr>
              <a:t>和</a:t>
            </a:r>
            <a:r>
              <a:rPr lang="en-US" altLang="zh-CN" sz="2400" b="1" smtClean="0">
                <a:latin typeface="新宋体" panose="02010609030101010101" charset="-122"/>
                <a:ea typeface="新宋体" panose="02010609030101010101" charset="-122"/>
              </a:rPr>
              <a:t>w</a:t>
            </a:r>
            <a:r>
              <a:rPr lang="zh-CN" altLang="en-US" sz="2400" b="1" smtClean="0">
                <a:latin typeface="新宋体" panose="02010609030101010101" charset="-122"/>
                <a:ea typeface="新宋体" panose="02010609030101010101" charset="-122"/>
              </a:rPr>
              <a:t>在当前的同一个连通分支中，就直接再查看第</a:t>
            </a:r>
            <a:r>
              <a:rPr lang="en-US" altLang="zh-CN" sz="2400" b="1" smtClean="0">
                <a:latin typeface="新宋体" panose="02010609030101010101" charset="-122"/>
                <a:ea typeface="新宋体" panose="02010609030101010101" charset="-122"/>
              </a:rPr>
              <a:t>k+1</a:t>
            </a:r>
            <a:r>
              <a:rPr lang="zh-CN" altLang="en-US" sz="2400" b="1" smtClean="0">
                <a:latin typeface="新宋体" panose="02010609030101010101" charset="-122"/>
                <a:ea typeface="新宋体" panose="02010609030101010101" charset="-122"/>
              </a:rPr>
              <a:t>条边。这个过程一直进行到只剩下一个连通分支时为止。 </a:t>
            </a:r>
            <a:endParaRPr lang="zh-CN" altLang="en-US" sz="2400" b="1" smtClean="0">
              <a:solidFill>
                <a:schemeClr val="accent2"/>
              </a:solidFill>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endParaRPr lang="en-US" altLang="zh-CN" sz="2400" b="1" smtClean="0">
              <a:solidFill>
                <a:schemeClr val="accent2"/>
              </a:solidFill>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98500" y="133350"/>
            <a:ext cx="7062788" cy="1222375"/>
          </a:xfrm>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36867" name="Rectangle 3"/>
          <p:cNvSpPr>
            <a:spLocks noGrp="1" noChangeArrowheads="1"/>
          </p:cNvSpPr>
          <p:nvPr>
            <p:ph type="body" sz="half" idx="1"/>
          </p:nvPr>
        </p:nvSpPr>
        <p:spPr>
          <a:xfrm>
            <a:off x="685800" y="1341438"/>
            <a:ext cx="7486650" cy="1376362"/>
          </a:xfrm>
        </p:spPr>
        <p:txBody>
          <a:bodyPr/>
          <a:lstStyle/>
          <a:p>
            <a:pPr eaLnBrk="1" hangingPunct="1">
              <a:buFont typeface="Wingdings" panose="05000000000000000000" pitchFamily="2" charset="2"/>
              <a:buNone/>
            </a:pPr>
            <a:r>
              <a:rPr lang="en-US" altLang="zh-CN" sz="2400" b="1" smtClean="0">
                <a:solidFill>
                  <a:schemeClr val="accent2"/>
                </a:solidFill>
                <a:latin typeface="新宋体" panose="02010609030101010101" charset="-122"/>
                <a:ea typeface="新宋体" panose="02010609030101010101" charset="-122"/>
              </a:rPr>
              <a:t>		</a:t>
            </a:r>
            <a:r>
              <a:rPr lang="zh-CN" altLang="en-US" sz="2400" b="1" smtClean="0">
                <a:solidFill>
                  <a:schemeClr val="accent2"/>
                </a:solidFill>
                <a:latin typeface="新宋体" panose="02010609030101010101" charset="-122"/>
                <a:ea typeface="新宋体" panose="02010609030101010101" charset="-122"/>
              </a:rPr>
              <a:t>例如，</a:t>
            </a:r>
            <a:r>
              <a:rPr lang="zh-CN" altLang="en-US" sz="2400" b="1" smtClean="0">
                <a:latin typeface="新宋体" panose="02010609030101010101" charset="-122"/>
                <a:ea typeface="新宋体" panose="02010609030101010101" charset="-122"/>
              </a:rPr>
              <a:t>对前面的连通带权图，按</a:t>
            </a:r>
            <a:r>
              <a:rPr lang="en-US" altLang="zh-CN" sz="2400" b="1" smtClean="0">
                <a:latin typeface="新宋体" panose="02010609030101010101" charset="-122"/>
                <a:ea typeface="新宋体" panose="02010609030101010101" charset="-122"/>
              </a:rPr>
              <a:t>Kruskal</a:t>
            </a:r>
            <a:r>
              <a:rPr lang="zh-CN" altLang="en-US" sz="2400" b="1" smtClean="0">
                <a:latin typeface="新宋体" panose="02010609030101010101" charset="-122"/>
                <a:ea typeface="新宋体" panose="02010609030101010101" charset="-122"/>
              </a:rPr>
              <a:t>算法顺序得到的最小生成树上的边如下图所示。</a:t>
            </a:r>
            <a:endParaRPr lang="zh-CN" altLang="en-US" sz="2400" b="1" smtClean="0">
              <a:latin typeface="新宋体" panose="02010609030101010101" charset="-122"/>
              <a:ea typeface="新宋体" panose="02010609030101010101" charset="-122"/>
            </a:endParaRPr>
          </a:p>
          <a:p>
            <a:pPr eaLnBrk="1" hangingPunct="1"/>
            <a:endParaRPr lang="en-US" altLang="zh-CN" sz="2400" b="1" smtClean="0">
              <a:latin typeface="新宋体" panose="02010609030101010101" charset="-122"/>
              <a:ea typeface="新宋体" panose="02010609030101010101" charset="-122"/>
            </a:endParaRPr>
          </a:p>
        </p:txBody>
      </p:sp>
      <p:pic>
        <p:nvPicPr>
          <p:cNvPr id="36868" name="Picture 4" descr="t410"/>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1619250" y="2276475"/>
            <a:ext cx="5870575" cy="3994150"/>
          </a:xfrm>
          <a:noFill/>
        </p:spPr>
      </p:pic>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4.6 </a:t>
            </a:r>
            <a:r>
              <a:rPr lang="zh-CN" altLang="en-US" smtClean="0">
                <a:latin typeface="黑体" panose="02010609060101010101" pitchFamily="2" charset="-122"/>
                <a:ea typeface="黑体" panose="02010609060101010101" pitchFamily="2" charset="-122"/>
              </a:rPr>
              <a:t>最小生成树</a:t>
            </a:r>
            <a:endParaRPr lang="zh-CN" altLang="en-US" smtClean="0">
              <a:latin typeface="黑体" panose="02010609060101010101" pitchFamily="2" charset="-122"/>
              <a:ea typeface="黑体" panose="02010609060101010101" pitchFamily="2" charset="-122"/>
            </a:endParaRPr>
          </a:p>
        </p:txBody>
      </p:sp>
      <p:sp>
        <p:nvSpPr>
          <p:cNvPr id="5126"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100" b="1" smtClean="0">
                <a:latin typeface="新宋体" panose="02010609030101010101" charset="-122"/>
                <a:ea typeface="新宋体" panose="02010609030101010101" charset="-122"/>
              </a:rPr>
              <a:t>	</a:t>
            </a:r>
            <a:r>
              <a:rPr lang="zh-CN" altLang="en-US" sz="2100" b="1" smtClean="0">
                <a:latin typeface="新宋体" panose="02010609030101010101" charset="-122"/>
                <a:ea typeface="新宋体" panose="02010609030101010101" charset="-122"/>
              </a:rPr>
              <a:t>关于</a:t>
            </a:r>
            <a:r>
              <a:rPr lang="zh-CN" altLang="en-US" sz="2100" b="1" smtClean="0">
                <a:solidFill>
                  <a:schemeClr val="accent2"/>
                </a:solidFill>
                <a:latin typeface="新宋体" panose="02010609030101010101" charset="-122"/>
                <a:ea typeface="新宋体" panose="02010609030101010101" charset="-122"/>
              </a:rPr>
              <a:t>集合的一些基本运算</a:t>
            </a:r>
            <a:r>
              <a:rPr lang="zh-CN" altLang="en-US" sz="2100" b="1" smtClean="0">
                <a:latin typeface="新宋体" panose="02010609030101010101" charset="-122"/>
                <a:ea typeface="新宋体" panose="02010609030101010101" charset="-122"/>
              </a:rPr>
              <a:t>可用于实现</a:t>
            </a:r>
            <a:r>
              <a:rPr lang="en-US" altLang="zh-CN" sz="2100" b="1" smtClean="0">
                <a:latin typeface="新宋体" panose="02010609030101010101" charset="-122"/>
                <a:ea typeface="新宋体" panose="02010609030101010101" charset="-122"/>
              </a:rPr>
              <a:t>Kruskal</a:t>
            </a:r>
            <a:r>
              <a:rPr lang="zh-CN" altLang="en-US" sz="2100" b="1" smtClean="0">
                <a:latin typeface="新宋体" panose="02010609030101010101" charset="-122"/>
                <a:ea typeface="新宋体" panose="02010609030101010101" charset="-122"/>
              </a:rPr>
              <a:t>算法。 </a:t>
            </a:r>
            <a:endParaRPr lang="zh-CN" altLang="en-US" sz="21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100" b="1" smtClean="0">
                <a:latin typeface="新宋体" panose="02010609030101010101" charset="-122"/>
                <a:ea typeface="新宋体" panose="02010609030101010101" charset="-122"/>
              </a:rPr>
              <a:t>		按权的递增顺序查看等价于对</a:t>
            </a:r>
            <a:r>
              <a:rPr lang="zh-CN" altLang="en-US" sz="2100" b="1" smtClean="0">
                <a:solidFill>
                  <a:schemeClr val="accent2"/>
                </a:solidFill>
                <a:latin typeface="新宋体" panose="02010609030101010101" charset="-122"/>
                <a:ea typeface="新宋体" panose="02010609030101010101" charset="-122"/>
              </a:rPr>
              <a:t>优先队列</a:t>
            </a:r>
            <a:r>
              <a:rPr lang="zh-CN" altLang="en-US" sz="2100" b="1" smtClean="0">
                <a:latin typeface="新宋体" panose="02010609030101010101" charset="-122"/>
                <a:ea typeface="新宋体" panose="02010609030101010101" charset="-122"/>
              </a:rPr>
              <a:t>执行</a:t>
            </a:r>
            <a:r>
              <a:rPr lang="en-US" altLang="zh-CN" sz="2100" b="1" smtClean="0">
                <a:latin typeface="新宋体" panose="02010609030101010101" charset="-122"/>
                <a:ea typeface="新宋体" panose="02010609030101010101" charset="-122"/>
              </a:rPr>
              <a:t>removeMin</a:t>
            </a:r>
            <a:r>
              <a:rPr lang="zh-CN" altLang="en-US" sz="2100" b="1" smtClean="0">
                <a:latin typeface="新宋体" panose="02010609030101010101" charset="-122"/>
                <a:ea typeface="新宋体" panose="02010609030101010101" charset="-122"/>
              </a:rPr>
              <a:t>运算。可以用</a:t>
            </a:r>
            <a:r>
              <a:rPr lang="zh-CN" altLang="en-US" sz="2100" b="1" smtClean="0">
                <a:solidFill>
                  <a:schemeClr val="accent2"/>
                </a:solidFill>
                <a:latin typeface="新宋体" panose="02010609030101010101" charset="-122"/>
                <a:ea typeface="新宋体" panose="02010609030101010101" charset="-122"/>
              </a:rPr>
              <a:t>堆</a:t>
            </a:r>
            <a:r>
              <a:rPr lang="zh-CN" altLang="en-US" sz="2100" b="1" smtClean="0">
                <a:latin typeface="新宋体" panose="02010609030101010101" charset="-122"/>
                <a:ea typeface="新宋体" panose="02010609030101010101" charset="-122"/>
              </a:rPr>
              <a:t>实现这个优先队列。 </a:t>
            </a:r>
            <a:endParaRPr lang="zh-CN" altLang="en-US" sz="21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100" b="1" smtClean="0">
                <a:latin typeface="新宋体" panose="02010609030101010101" charset="-122"/>
                <a:ea typeface="新宋体" panose="02010609030101010101" charset="-122"/>
              </a:rPr>
              <a:t>		对一个由连通分支组成的集合不断进行修改，需要用到抽象数据类型</a:t>
            </a:r>
            <a:r>
              <a:rPr lang="zh-CN" altLang="en-US" sz="2100" b="1" smtClean="0">
                <a:solidFill>
                  <a:schemeClr val="accent2"/>
                </a:solidFill>
                <a:latin typeface="新宋体" panose="02010609030101010101" charset="-122"/>
                <a:ea typeface="新宋体" panose="02010609030101010101" charset="-122"/>
              </a:rPr>
              <a:t>并查集</a:t>
            </a:r>
            <a:r>
              <a:rPr lang="en-US" altLang="zh-CN" sz="2100" b="1" smtClean="0">
                <a:latin typeface="新宋体" panose="02010609030101010101" charset="-122"/>
                <a:ea typeface="新宋体" panose="02010609030101010101" charset="-122"/>
              </a:rPr>
              <a:t>UnionFind</a:t>
            </a:r>
            <a:r>
              <a:rPr lang="zh-CN" altLang="en-US" sz="2100" b="1" smtClean="0">
                <a:latin typeface="新宋体" panose="02010609030101010101" charset="-122"/>
                <a:ea typeface="新宋体" panose="02010609030101010101" charset="-122"/>
              </a:rPr>
              <a:t>所支持的基本运算。</a:t>
            </a:r>
            <a:endParaRPr lang="zh-CN" altLang="en-US" sz="2100" b="1" smtClean="0">
              <a:latin typeface="新宋体" panose="02010609030101010101" charset="-122"/>
              <a:ea typeface="新宋体" panose="02010609030101010101" charset="-122"/>
            </a:endParaRPr>
          </a:p>
          <a:p>
            <a:pPr eaLnBrk="1" hangingPunct="1">
              <a:lnSpc>
                <a:spcPct val="90000"/>
              </a:lnSpc>
              <a:buFont typeface="Wingdings" panose="05000000000000000000" pitchFamily="2" charset="2"/>
              <a:buNone/>
            </a:pPr>
            <a:r>
              <a:rPr lang="zh-CN" altLang="en-US" sz="2100" b="1" smtClean="0">
                <a:latin typeface="新宋体" panose="02010609030101010101" charset="-122"/>
                <a:ea typeface="新宋体" panose="02010609030101010101" charset="-122"/>
              </a:rPr>
              <a:t>		当图的边数为</a:t>
            </a:r>
            <a:r>
              <a:rPr lang="en-US" altLang="zh-CN" sz="2100" b="1" smtClean="0">
                <a:latin typeface="新宋体" panose="02010609030101010101" charset="-122"/>
                <a:ea typeface="新宋体" panose="02010609030101010101" charset="-122"/>
              </a:rPr>
              <a:t>e</a:t>
            </a:r>
            <a:r>
              <a:rPr lang="zh-CN" altLang="en-US" sz="2100" b="1" smtClean="0">
                <a:latin typeface="新宋体" panose="02010609030101010101" charset="-122"/>
                <a:ea typeface="新宋体" panose="02010609030101010101" charset="-122"/>
              </a:rPr>
              <a:t>时，</a:t>
            </a:r>
            <a:r>
              <a:rPr lang="en-US" altLang="zh-CN" sz="2100" b="1" smtClean="0">
                <a:latin typeface="新宋体" panose="02010609030101010101" charset="-122"/>
                <a:ea typeface="新宋体" panose="02010609030101010101" charset="-122"/>
              </a:rPr>
              <a:t>Kruskal</a:t>
            </a:r>
            <a:r>
              <a:rPr lang="zh-CN" altLang="en-US" sz="2100" b="1" smtClean="0">
                <a:latin typeface="新宋体" panose="02010609030101010101" charset="-122"/>
                <a:ea typeface="新宋体" panose="02010609030101010101" charset="-122"/>
              </a:rPr>
              <a:t>算法所需的</a:t>
            </a:r>
            <a:r>
              <a:rPr lang="zh-CN" altLang="en-US" sz="2100" b="1" smtClean="0">
                <a:solidFill>
                  <a:schemeClr val="accent2"/>
                </a:solidFill>
                <a:latin typeface="新宋体" panose="02010609030101010101" charset="-122"/>
                <a:ea typeface="新宋体" panose="02010609030101010101" charset="-122"/>
              </a:rPr>
              <a:t>计算时间</a:t>
            </a:r>
            <a:r>
              <a:rPr lang="zh-CN" altLang="en-US" sz="2100" b="1" smtClean="0">
                <a:latin typeface="新宋体" panose="02010609030101010101" charset="-122"/>
                <a:ea typeface="新宋体" panose="02010609030101010101" charset="-122"/>
              </a:rPr>
              <a:t>是       。当        时，</a:t>
            </a:r>
            <a:r>
              <a:rPr lang="en-US" altLang="zh-CN" sz="2100" b="1" smtClean="0">
                <a:latin typeface="新宋体" panose="02010609030101010101" charset="-122"/>
                <a:ea typeface="新宋体" panose="02010609030101010101" charset="-122"/>
              </a:rPr>
              <a:t>Kruskal</a:t>
            </a:r>
            <a:r>
              <a:rPr lang="zh-CN" altLang="en-US" sz="2100" b="1" smtClean="0">
                <a:latin typeface="新宋体" panose="02010609030101010101" charset="-122"/>
                <a:ea typeface="新宋体" panose="02010609030101010101" charset="-122"/>
              </a:rPr>
              <a:t>算法比</a:t>
            </a:r>
            <a:r>
              <a:rPr lang="en-US" altLang="zh-CN" sz="2100" b="1" smtClean="0">
                <a:latin typeface="新宋体" panose="02010609030101010101" charset="-122"/>
                <a:ea typeface="新宋体" panose="02010609030101010101" charset="-122"/>
              </a:rPr>
              <a:t>Prim</a:t>
            </a:r>
            <a:r>
              <a:rPr lang="zh-CN" altLang="en-US" sz="2100" b="1" smtClean="0">
                <a:latin typeface="新宋体" panose="02010609030101010101" charset="-122"/>
                <a:ea typeface="新宋体" panose="02010609030101010101" charset="-122"/>
              </a:rPr>
              <a:t>算法差，但当       时，</a:t>
            </a:r>
            <a:r>
              <a:rPr lang="en-US" altLang="zh-CN" sz="2100" b="1" smtClean="0">
                <a:latin typeface="新宋体" panose="02010609030101010101" charset="-122"/>
                <a:ea typeface="新宋体" panose="02010609030101010101" charset="-122"/>
              </a:rPr>
              <a:t>Kruskal</a:t>
            </a:r>
            <a:r>
              <a:rPr lang="zh-CN" altLang="en-US" sz="2100" b="1" smtClean="0">
                <a:latin typeface="新宋体" panose="02010609030101010101" charset="-122"/>
                <a:ea typeface="新宋体" panose="02010609030101010101" charset="-122"/>
              </a:rPr>
              <a:t>算法却比</a:t>
            </a:r>
            <a:r>
              <a:rPr lang="en-US" altLang="zh-CN" sz="2100" b="1" smtClean="0">
                <a:latin typeface="新宋体" panose="02010609030101010101" charset="-122"/>
                <a:ea typeface="新宋体" panose="02010609030101010101" charset="-122"/>
              </a:rPr>
              <a:t>Prim</a:t>
            </a:r>
            <a:r>
              <a:rPr lang="zh-CN" altLang="en-US" sz="2100" b="1" smtClean="0">
                <a:latin typeface="新宋体" panose="02010609030101010101" charset="-122"/>
                <a:ea typeface="新宋体" panose="02010609030101010101" charset="-122"/>
              </a:rPr>
              <a:t>算法好得多。</a:t>
            </a:r>
            <a:endParaRPr lang="zh-CN" altLang="en-US" sz="2100" b="1" smtClean="0">
              <a:latin typeface="新宋体" panose="02010609030101010101" charset="-122"/>
              <a:ea typeface="新宋体" panose="02010609030101010101" charset="-122"/>
            </a:endParaRPr>
          </a:p>
        </p:txBody>
      </p:sp>
      <p:sp>
        <p:nvSpPr>
          <p:cNvPr id="5127" name="Rectangle 4"/>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5122" name="Object 5"/>
          <p:cNvGraphicFramePr>
            <a:graphicFrameLocks noChangeAspect="1"/>
          </p:cNvGraphicFramePr>
          <p:nvPr/>
        </p:nvGraphicFramePr>
        <p:xfrm>
          <a:off x="7308850" y="3429000"/>
          <a:ext cx="1008063" cy="315913"/>
        </p:xfrm>
        <a:graphic>
          <a:graphicData uri="http://schemas.openxmlformats.org/presentationml/2006/ole">
            <mc:AlternateContent xmlns:mc="http://schemas.openxmlformats.org/markup-compatibility/2006">
              <mc:Choice xmlns:v="urn:schemas-microsoft-com:vml" Requires="v">
                <p:oleObj spid="_x0000_s6146" name="公式" r:id="rId1" imgW="635000" imgH="203200" progId="Equation.3">
                  <p:embed/>
                </p:oleObj>
              </mc:Choice>
              <mc:Fallback>
                <p:oleObj name="公式" r:id="rId1" imgW="635000" imgH="203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3429000"/>
                        <a:ext cx="1008063" cy="315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Rectangle 6"/>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5123" name="Object 7"/>
          <p:cNvGraphicFramePr>
            <a:graphicFrameLocks noChangeAspect="1"/>
          </p:cNvGraphicFramePr>
          <p:nvPr/>
        </p:nvGraphicFramePr>
        <p:xfrm>
          <a:off x="1116013" y="3716338"/>
          <a:ext cx="1081087" cy="376237"/>
        </p:xfrm>
        <a:graphic>
          <a:graphicData uri="http://schemas.openxmlformats.org/presentationml/2006/ole">
            <mc:AlternateContent xmlns:mc="http://schemas.openxmlformats.org/markup-compatibility/2006">
              <mc:Choice xmlns:v="urn:schemas-microsoft-com:vml" Requires="v">
                <p:oleObj spid="_x0000_s6147" name="公式" r:id="rId3" imgW="660400" imgH="228600" progId="Equation.3">
                  <p:embed/>
                </p:oleObj>
              </mc:Choice>
              <mc:Fallback>
                <p:oleObj name="公式" r:id="rId3" imgW="6604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716338"/>
                        <a:ext cx="1081087" cy="376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9" name="Rectangle 8"/>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5124" name="Object 9"/>
          <p:cNvGraphicFramePr>
            <a:graphicFrameLocks noChangeAspect="1"/>
          </p:cNvGraphicFramePr>
          <p:nvPr/>
        </p:nvGraphicFramePr>
        <p:xfrm>
          <a:off x="6623050" y="3644900"/>
          <a:ext cx="1079500" cy="404813"/>
        </p:xfrm>
        <a:graphic>
          <a:graphicData uri="http://schemas.openxmlformats.org/presentationml/2006/ole">
            <mc:AlternateContent xmlns:mc="http://schemas.openxmlformats.org/markup-compatibility/2006">
              <mc:Choice xmlns:v="urn:schemas-microsoft-com:vml" Requires="v">
                <p:oleObj spid="_x0000_s6148" name="公式" r:id="rId5" imgW="609600" imgH="228600" progId="Equation.3">
                  <p:embed/>
                </p:oleObj>
              </mc:Choice>
              <mc:Fallback>
                <p:oleObj name="公式" r:id="rId5" imgW="6096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3050" y="3644900"/>
                        <a:ext cx="1079500" cy="404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85800" y="701675"/>
            <a:ext cx="7772400" cy="1143000"/>
          </a:xfrm>
        </p:spPr>
        <p:txBody>
          <a:bodyPr/>
          <a:lstStyle/>
          <a:p>
            <a:pPr eaLnBrk="1" hangingPunct="1"/>
            <a:r>
              <a:rPr lang="en-US" altLang="zh-CN" smtClean="0">
                <a:latin typeface="黑体" panose="02010609060101010101" pitchFamily="2" charset="-122"/>
                <a:ea typeface="黑体" panose="02010609060101010101" pitchFamily="2" charset="-122"/>
              </a:rPr>
              <a:t>4.7 </a:t>
            </a:r>
            <a:r>
              <a:rPr lang="zh-CN" altLang="en-US" smtClean="0">
                <a:latin typeface="黑体" panose="02010609060101010101" pitchFamily="2" charset="-122"/>
                <a:ea typeface="黑体" panose="02010609060101010101" pitchFamily="2" charset="-122"/>
              </a:rPr>
              <a:t>多机调度问题</a:t>
            </a:r>
            <a:endParaRPr lang="zh-CN" altLang="en-US" smtClean="0">
              <a:latin typeface="黑体" panose="02010609060101010101" pitchFamily="2" charset="-122"/>
              <a:ea typeface="黑体" panose="02010609060101010101" pitchFamily="2" charset="-122"/>
            </a:endParaRPr>
          </a:p>
        </p:txBody>
      </p:sp>
      <p:sp>
        <p:nvSpPr>
          <p:cNvPr id="39939" name="Rectangle 3"/>
          <p:cNvSpPr>
            <a:spLocks noGrp="1" noChangeArrowheads="1"/>
          </p:cNvSpPr>
          <p:nvPr>
            <p:ph type="body" idx="1"/>
          </p:nvPr>
        </p:nvSpPr>
        <p:spPr>
          <a:xfrm>
            <a:off x="468313" y="1916113"/>
            <a:ext cx="8229600" cy="4400550"/>
          </a:xfrm>
        </p:spPr>
        <p:txBody>
          <a:bodyPr/>
          <a:lstStyle/>
          <a:p>
            <a:pPr eaLnBrk="1" hangingPunct="1">
              <a:buFont typeface="Wingdings" panose="05000000000000000000" pitchFamily="2" charset="2"/>
              <a:buNone/>
            </a:pPr>
            <a:r>
              <a:rPr lang="en-US" altLang="zh-CN" sz="2400" b="1" smtClean="0">
                <a:latin typeface="新宋体" panose="02010609030101010101" charset="-122"/>
                <a:ea typeface="新宋体" panose="02010609030101010101" charset="-122"/>
              </a:rPr>
              <a:t>		</a:t>
            </a:r>
            <a:r>
              <a:rPr lang="zh-CN" altLang="en-US" sz="2400" b="1" smtClean="0">
                <a:solidFill>
                  <a:schemeClr val="accent2"/>
                </a:solidFill>
                <a:latin typeface="新宋体" panose="02010609030101010101" charset="-122"/>
                <a:ea typeface="新宋体" panose="02010609030101010101" charset="-122"/>
              </a:rPr>
              <a:t>多机调度问题</a:t>
            </a:r>
            <a:r>
              <a:rPr lang="zh-CN" altLang="en-US" sz="2400" b="1" smtClean="0">
                <a:latin typeface="新宋体" panose="02010609030101010101" charset="-122"/>
                <a:ea typeface="新宋体" panose="02010609030101010101" charset="-122"/>
              </a:rPr>
              <a:t>要求给出一种作业调度方案，使所给的</a:t>
            </a:r>
            <a:r>
              <a:rPr lang="en-US" altLang="zh-CN" sz="2400" b="1" smtClean="0">
                <a:latin typeface="新宋体" panose="02010609030101010101" charset="-122"/>
                <a:ea typeface="新宋体" panose="02010609030101010101" charset="-122"/>
              </a:rPr>
              <a:t>n</a:t>
            </a:r>
            <a:r>
              <a:rPr lang="zh-CN" altLang="en-US" sz="2400" b="1" smtClean="0">
                <a:latin typeface="新宋体" panose="02010609030101010101" charset="-122"/>
                <a:ea typeface="新宋体" panose="02010609030101010101" charset="-122"/>
              </a:rPr>
              <a:t>个作业在尽可能短的时间内由</a:t>
            </a:r>
            <a:r>
              <a:rPr lang="en-US" altLang="zh-CN" sz="2400" b="1" smtClean="0">
                <a:latin typeface="新宋体" panose="02010609030101010101" charset="-122"/>
                <a:ea typeface="新宋体" panose="02010609030101010101" charset="-122"/>
              </a:rPr>
              <a:t>m</a:t>
            </a:r>
            <a:r>
              <a:rPr lang="zh-CN" altLang="en-US" sz="2400" b="1" smtClean="0">
                <a:latin typeface="新宋体" panose="02010609030101010101" charset="-122"/>
                <a:ea typeface="新宋体" panose="02010609030101010101" charset="-122"/>
              </a:rPr>
              <a:t>台机器加工处理完成。</a:t>
            </a: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endParaRPr lang="zh-CN" altLang="en-US" sz="2400" b="1" smtClean="0">
              <a:latin typeface="新宋体" panose="02010609030101010101" charset="-122"/>
              <a:ea typeface="新宋体" panose="02010609030101010101" charset="-122"/>
            </a:endParaRPr>
          </a:p>
          <a:p>
            <a:pPr eaLnBrk="1" hangingPunct="1">
              <a:buFont typeface="Wingdings" panose="05000000000000000000" pitchFamily="2" charset="2"/>
              <a:buNone/>
            </a:pPr>
            <a:r>
              <a:rPr lang="zh-CN" altLang="en-US" sz="2400" b="1" smtClean="0">
                <a:latin typeface="新宋体" panose="02010609030101010101" charset="-122"/>
                <a:ea typeface="新宋体" panose="02010609030101010101" charset="-122"/>
              </a:rPr>
              <a:t>		这个问题是</a:t>
            </a:r>
            <a:r>
              <a:rPr lang="en-US" altLang="zh-CN" sz="2400" b="1" smtClean="0">
                <a:solidFill>
                  <a:schemeClr val="accent2"/>
                </a:solidFill>
                <a:latin typeface="新宋体" panose="02010609030101010101" charset="-122"/>
                <a:ea typeface="新宋体" panose="02010609030101010101" charset="-122"/>
              </a:rPr>
              <a:t>NP</a:t>
            </a:r>
            <a:r>
              <a:rPr lang="zh-CN" altLang="en-US" sz="2400" b="1" smtClean="0">
                <a:solidFill>
                  <a:schemeClr val="accent2"/>
                </a:solidFill>
                <a:latin typeface="新宋体" panose="02010609030101010101" charset="-122"/>
                <a:ea typeface="新宋体" panose="02010609030101010101" charset="-122"/>
              </a:rPr>
              <a:t>完全问题</a:t>
            </a:r>
            <a:r>
              <a:rPr lang="zh-CN" altLang="en-US" sz="2400" b="1" smtClean="0">
                <a:latin typeface="新宋体" panose="02010609030101010101" charset="-122"/>
                <a:ea typeface="新宋体" panose="02010609030101010101" charset="-122"/>
              </a:rPr>
              <a:t>，到目前为止还没有有效的解法。对于这一类问题</a:t>
            </a:r>
            <a:r>
              <a:rPr lang="en-US" altLang="zh-CN" sz="2400" b="1" smtClean="0">
                <a:latin typeface="新宋体" panose="02010609030101010101" charset="-122"/>
                <a:ea typeface="新宋体" panose="02010609030101010101" charset="-122"/>
              </a:rPr>
              <a:t>,</a:t>
            </a:r>
            <a:r>
              <a:rPr lang="zh-CN" altLang="en-US" sz="2400" b="1" smtClean="0">
                <a:latin typeface="新宋体" panose="02010609030101010101" charset="-122"/>
                <a:ea typeface="新宋体" panose="02010609030101010101" charset="-122"/>
              </a:rPr>
              <a:t>用</a:t>
            </a:r>
            <a:r>
              <a:rPr lang="zh-CN" altLang="en-US" sz="2400" b="1" smtClean="0">
                <a:solidFill>
                  <a:schemeClr val="accent2"/>
                </a:solidFill>
                <a:latin typeface="新宋体" panose="02010609030101010101" charset="-122"/>
                <a:ea typeface="新宋体" panose="02010609030101010101" charset="-122"/>
              </a:rPr>
              <a:t>贪心选择策略</a:t>
            </a:r>
            <a:r>
              <a:rPr lang="zh-CN" altLang="en-US" sz="2400" b="1" smtClean="0">
                <a:latin typeface="新宋体" panose="02010609030101010101" charset="-122"/>
                <a:ea typeface="新宋体" panose="02010609030101010101" charset="-122"/>
              </a:rPr>
              <a:t>有时可以设计出较好的近似算法。</a:t>
            </a:r>
            <a:endParaRPr lang="zh-CN" altLang="en-US" sz="2400" b="1" smtClean="0">
              <a:latin typeface="新宋体" panose="02010609030101010101" charset="-122"/>
              <a:ea typeface="新宋体" panose="02010609030101010101" charset="-122"/>
            </a:endParaRPr>
          </a:p>
        </p:txBody>
      </p:sp>
      <p:sp>
        <p:nvSpPr>
          <p:cNvPr id="80900" name="Rectangle 4"/>
          <p:cNvSpPr>
            <a:spLocks noChangeArrowheads="1"/>
          </p:cNvSpPr>
          <p:nvPr/>
        </p:nvSpPr>
        <p:spPr bwMode="auto">
          <a:xfrm>
            <a:off x="1187450" y="2970213"/>
            <a:ext cx="6983413" cy="1238250"/>
          </a:xfrm>
          <a:prstGeom prst="rect">
            <a:avLst/>
          </a:prstGeom>
          <a:solidFill>
            <a:schemeClr val="hlink"/>
          </a:solidFill>
          <a:ln w="50800">
            <a:solidFill>
              <a:srgbClr val="FF6600"/>
            </a:solidFill>
            <a:miter lim="800000"/>
          </a:ln>
        </p:spPr>
        <p:txBody>
          <a:bodyPr anchor="ctr">
            <a:spAutoFit/>
          </a:bodyPr>
          <a:lstStyle/>
          <a:p>
            <a:r>
              <a:rPr lang="en-US" altLang="zh-CN" sz="2400" b="1">
                <a:solidFill>
                  <a:schemeClr val="accent2"/>
                </a:solidFill>
                <a:latin typeface="新宋体" panose="02010609030101010101" charset="-122"/>
                <a:ea typeface="新宋体" panose="02010609030101010101" charset="-122"/>
              </a:rPr>
              <a:t>    </a:t>
            </a:r>
            <a:r>
              <a:rPr lang="zh-CN" altLang="en-US" sz="2400" b="1">
                <a:latin typeface="新宋体" panose="02010609030101010101" charset="-122"/>
                <a:ea typeface="新宋体" panose="02010609030101010101" charset="-122"/>
              </a:rPr>
              <a:t>约定，每个作业均可在任何一台机器上加工处理，但未完工前不允许中断处理。作业不能拆分成更小的子作业。</a:t>
            </a:r>
            <a:endParaRPr lang="zh-CN" altLang="en-US" sz="2400" b="1">
              <a:latin typeface="新宋体" panose="02010609030101010101" charset="-122"/>
              <a:ea typeface="新宋体" panose="0201060903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 calcmode="lin" valueType="num">
                                      <p:cBhvr additive="base">
                                        <p:cTn id="7" dur="500" fill="hold"/>
                                        <p:tgtEl>
                                          <p:spTgt spid="80900"/>
                                        </p:tgtEl>
                                        <p:attrNameLst>
                                          <p:attrName>ppt_x</p:attrName>
                                        </p:attrNameLst>
                                      </p:cBhvr>
                                      <p:tavLst>
                                        <p:tav tm="0">
                                          <p:val>
                                            <p:strVal val="#ppt_x"/>
                                          </p:val>
                                        </p:tav>
                                        <p:tav tm="100000">
                                          <p:val>
                                            <p:strVal val="#ppt_x"/>
                                          </p:val>
                                        </p:tav>
                                      </p:tavLst>
                                    </p:anim>
                                    <p:anim calcmode="lin" valueType="num">
                                      <p:cBhvr additive="base">
                                        <p:cTn id="8" dur="500" fill="hold"/>
                                        <p:tgtEl>
                                          <p:spTgt spid="80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4.7 </a:t>
            </a:r>
            <a:r>
              <a:rPr lang="zh-CN" altLang="en-US" smtClean="0">
                <a:latin typeface="黑体" panose="02010609060101010101" pitchFamily="2" charset="-122"/>
                <a:ea typeface="黑体" panose="02010609060101010101" pitchFamily="2" charset="-122"/>
              </a:rPr>
              <a:t>多机调度问题</a:t>
            </a:r>
            <a:endParaRPr lang="zh-CN" altLang="en-US" smtClean="0">
              <a:latin typeface="黑体" panose="02010609060101010101" pitchFamily="2" charset="-122"/>
              <a:ea typeface="黑体" panose="02010609060101010101" pitchFamily="2" charset="-122"/>
            </a:endParaRPr>
          </a:p>
        </p:txBody>
      </p:sp>
      <p:sp>
        <p:nvSpPr>
          <p:cNvPr id="614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smtClean="0">
                <a:ea typeface="新宋体" panose="02010609030101010101" charset="-122"/>
              </a:rPr>
              <a:t>		</a:t>
            </a:r>
            <a:r>
              <a:rPr lang="zh-CN" altLang="en-US" sz="2400" b="1" smtClean="0">
                <a:ea typeface="新宋体" panose="02010609030101010101" charset="-122"/>
              </a:rPr>
              <a:t>采用</a:t>
            </a:r>
            <a:r>
              <a:rPr lang="zh-CN" altLang="en-US" sz="2400" b="1" smtClean="0">
                <a:solidFill>
                  <a:schemeClr val="accent2"/>
                </a:solidFill>
                <a:ea typeface="新宋体" panose="02010609030101010101" charset="-122"/>
              </a:rPr>
              <a:t>最长处理时间作业优先</a:t>
            </a:r>
            <a:r>
              <a:rPr lang="zh-CN" altLang="en-US" sz="2400" b="1" smtClean="0">
                <a:ea typeface="新宋体" panose="02010609030101010101" charset="-122"/>
              </a:rPr>
              <a:t>的贪心选择策略可以设计出解多机调度问题的较好的近似算法。</a:t>
            </a:r>
            <a:endParaRPr lang="zh-CN" altLang="en-US" sz="2400" b="1" smtClean="0">
              <a:ea typeface="新宋体" panose="02010609030101010101" charset="-122"/>
            </a:endParaRPr>
          </a:p>
          <a:p>
            <a:pPr eaLnBrk="1" hangingPunct="1">
              <a:buFont typeface="Wingdings" panose="05000000000000000000" pitchFamily="2" charset="2"/>
              <a:buNone/>
            </a:pPr>
            <a:r>
              <a:rPr lang="zh-CN" altLang="en-US" sz="2400" b="1" smtClean="0">
                <a:ea typeface="新宋体" panose="02010609030101010101" charset="-122"/>
              </a:rPr>
              <a:t>		按此策略，当        时，只要将机器</a:t>
            </a:r>
            <a:r>
              <a:rPr lang="en-US" altLang="zh-CN" sz="2400" b="1" smtClean="0">
                <a:ea typeface="新宋体" panose="02010609030101010101" charset="-122"/>
              </a:rPr>
              <a:t>i</a:t>
            </a:r>
            <a:r>
              <a:rPr lang="zh-CN" altLang="en-US" sz="2400" b="1" smtClean="0">
                <a:ea typeface="新宋体" panose="02010609030101010101" charset="-122"/>
              </a:rPr>
              <a:t>的</a:t>
            </a:r>
            <a:r>
              <a:rPr lang="en-US" altLang="zh-CN" sz="2400" b="1" smtClean="0">
                <a:ea typeface="新宋体" panose="02010609030101010101" charset="-122"/>
              </a:rPr>
              <a:t>[0, ti]</a:t>
            </a:r>
            <a:r>
              <a:rPr lang="zh-CN" altLang="en-US" sz="2400" b="1" smtClean="0">
                <a:ea typeface="新宋体" panose="02010609030101010101" charset="-122"/>
              </a:rPr>
              <a:t>时间区间分配给作业</a:t>
            </a:r>
            <a:r>
              <a:rPr lang="en-US" altLang="zh-CN" sz="2400" b="1" smtClean="0">
                <a:ea typeface="新宋体" panose="02010609030101010101" charset="-122"/>
              </a:rPr>
              <a:t>i</a:t>
            </a:r>
            <a:r>
              <a:rPr lang="zh-CN" altLang="en-US" sz="2400" b="1" smtClean="0">
                <a:ea typeface="新宋体" panose="02010609030101010101" charset="-122"/>
              </a:rPr>
              <a:t>即可，算法只需要</a:t>
            </a:r>
            <a:r>
              <a:rPr lang="en-US" altLang="zh-CN" sz="2400" b="1" smtClean="0">
                <a:solidFill>
                  <a:schemeClr val="accent2"/>
                </a:solidFill>
                <a:ea typeface="新宋体" panose="02010609030101010101" charset="-122"/>
              </a:rPr>
              <a:t>O(1)</a:t>
            </a:r>
            <a:r>
              <a:rPr lang="zh-CN" altLang="en-US" sz="2400" b="1" smtClean="0">
                <a:ea typeface="新宋体" panose="02010609030101010101" charset="-122"/>
              </a:rPr>
              <a:t>时间。</a:t>
            </a:r>
            <a:endParaRPr lang="zh-CN" altLang="en-US" sz="2400" b="1" smtClean="0">
              <a:ea typeface="新宋体" panose="02010609030101010101" charset="-122"/>
            </a:endParaRPr>
          </a:p>
          <a:p>
            <a:pPr eaLnBrk="1" hangingPunct="1">
              <a:buFont typeface="Wingdings" panose="05000000000000000000" pitchFamily="2" charset="2"/>
              <a:buNone/>
            </a:pPr>
            <a:r>
              <a:rPr lang="zh-CN" altLang="en-US" sz="2400" b="1" smtClean="0">
                <a:ea typeface="新宋体" panose="02010609030101010101" charset="-122"/>
              </a:rPr>
              <a:t>		当         时，首先将</a:t>
            </a:r>
            <a:r>
              <a:rPr lang="en-US" altLang="zh-CN" sz="2400" b="1" smtClean="0">
                <a:ea typeface="新宋体" panose="02010609030101010101" charset="-122"/>
              </a:rPr>
              <a:t>n</a:t>
            </a:r>
            <a:r>
              <a:rPr lang="zh-CN" altLang="en-US" sz="2400" b="1" smtClean="0">
                <a:ea typeface="新宋体" panose="02010609030101010101" charset="-122"/>
              </a:rPr>
              <a:t>个作业依其所需的处理时间从大到小排序。然后依此顺序将作业分配给空闲的处理机。算法所需的计算时间为</a:t>
            </a:r>
            <a:r>
              <a:rPr lang="en-US" altLang="zh-CN" sz="2400" b="1" smtClean="0">
                <a:solidFill>
                  <a:schemeClr val="accent2"/>
                </a:solidFill>
                <a:ea typeface="新宋体" panose="02010609030101010101" charset="-122"/>
              </a:rPr>
              <a:t>O(nlogn)</a:t>
            </a:r>
            <a:r>
              <a:rPr lang="zh-CN" altLang="en-US" sz="2400" b="1" smtClean="0">
                <a:ea typeface="新宋体" panose="02010609030101010101" charset="-122"/>
              </a:rPr>
              <a:t>。</a:t>
            </a:r>
            <a:endParaRPr lang="zh-CN" altLang="en-US" sz="2400" b="1" smtClean="0">
              <a:ea typeface="新宋体" panose="02010609030101010101" charset="-122"/>
            </a:endParaRPr>
          </a:p>
          <a:p>
            <a:pPr eaLnBrk="1" hangingPunct="1">
              <a:buFont typeface="Wingdings" panose="05000000000000000000" pitchFamily="2" charset="2"/>
              <a:buNone/>
            </a:pPr>
            <a:endParaRPr lang="en-US" altLang="zh-CN" sz="2400" b="1" smtClean="0">
              <a:ea typeface="新宋体" panose="02010609030101010101" charset="-122"/>
            </a:endParaRPr>
          </a:p>
        </p:txBody>
      </p:sp>
      <p:sp>
        <p:nvSpPr>
          <p:cNvPr id="6150" name="Rectangle 4"/>
          <p:cNvSpPr>
            <a:spLocks noChangeArrowheads="1"/>
          </p:cNvSpPr>
          <p:nvPr/>
        </p:nvSpPr>
        <p:spPr bwMode="auto">
          <a:xfrm>
            <a:off x="0" y="33480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6146" name="Object 5"/>
          <p:cNvGraphicFramePr>
            <a:graphicFrameLocks noChangeAspect="1"/>
          </p:cNvGraphicFramePr>
          <p:nvPr/>
        </p:nvGraphicFramePr>
        <p:xfrm>
          <a:off x="3276600" y="2565400"/>
          <a:ext cx="684213" cy="284163"/>
        </p:xfrm>
        <a:graphic>
          <a:graphicData uri="http://schemas.openxmlformats.org/presentationml/2006/ole">
            <mc:AlternateContent xmlns:mc="http://schemas.openxmlformats.org/markup-compatibility/2006">
              <mc:Choice xmlns:v="urn:schemas-microsoft-com:vml" Requires="v">
                <p:oleObj spid="_x0000_s7170" name="公式" r:id="rId1" imgW="393065" imgH="165100" progId="Equation.3">
                  <p:embed/>
                </p:oleObj>
              </mc:Choice>
              <mc:Fallback>
                <p:oleObj name="公式" r:id="rId1" imgW="393065" imgH="165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565400"/>
                        <a:ext cx="684213"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1" name="Rectangle 6"/>
          <p:cNvSpPr>
            <a:spLocks noChangeArrowheads="1"/>
          </p:cNvSpPr>
          <p:nvPr/>
        </p:nvSpPr>
        <p:spPr bwMode="auto">
          <a:xfrm>
            <a:off x="0" y="3357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p>
            <a:endParaRPr lang="zh-CN" altLang="en-US"/>
          </a:p>
        </p:txBody>
      </p:sp>
      <p:graphicFrame>
        <p:nvGraphicFramePr>
          <p:cNvPr id="6147" name="Object 7"/>
          <p:cNvGraphicFramePr>
            <a:graphicFrameLocks noChangeAspect="1"/>
          </p:cNvGraphicFramePr>
          <p:nvPr/>
        </p:nvGraphicFramePr>
        <p:xfrm>
          <a:off x="1835150" y="3429000"/>
          <a:ext cx="684213" cy="250825"/>
        </p:xfrm>
        <a:graphic>
          <a:graphicData uri="http://schemas.openxmlformats.org/presentationml/2006/ole">
            <mc:AlternateContent xmlns:mc="http://schemas.openxmlformats.org/markup-compatibility/2006">
              <mc:Choice xmlns:v="urn:schemas-microsoft-com:vml" Requires="v">
                <p:oleObj spid="_x0000_s7171" name="公式" r:id="rId3" imgW="393700" imgH="139700" progId="Equation.3">
                  <p:embed/>
                </p:oleObj>
              </mc:Choice>
              <mc:Fallback>
                <p:oleObj name="公式" r:id="rId3" imgW="393700" imgH="139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3429000"/>
                        <a:ext cx="684213"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smtClean="0">
                <a:latin typeface="黑体" panose="02010609060101010101" pitchFamily="2" charset="-122"/>
                <a:ea typeface="黑体" panose="02010609060101010101" pitchFamily="2" charset="-122"/>
              </a:rPr>
              <a:t>4.7 </a:t>
            </a:r>
            <a:r>
              <a:rPr lang="zh-CN" altLang="en-US" smtClean="0">
                <a:latin typeface="黑体" panose="02010609060101010101" pitchFamily="2" charset="-122"/>
                <a:ea typeface="黑体" panose="02010609060101010101" pitchFamily="2" charset="-122"/>
              </a:rPr>
              <a:t>多机调度问题</a:t>
            </a:r>
            <a:endParaRPr lang="zh-CN" altLang="en-US" smtClean="0">
              <a:latin typeface="黑体" panose="02010609060101010101" pitchFamily="2" charset="-122"/>
              <a:ea typeface="黑体" panose="02010609060101010101" pitchFamily="2" charset="-122"/>
            </a:endParaRPr>
          </a:p>
        </p:txBody>
      </p:sp>
      <p:sp>
        <p:nvSpPr>
          <p:cNvPr id="40963" name="Rectangle 3"/>
          <p:cNvSpPr>
            <a:spLocks noGrp="1" noChangeArrowheads="1"/>
          </p:cNvSpPr>
          <p:nvPr>
            <p:ph type="body" sz="half" idx="1"/>
          </p:nvPr>
        </p:nvSpPr>
        <p:spPr>
          <a:xfrm>
            <a:off x="606425" y="1730375"/>
            <a:ext cx="7931150" cy="1927225"/>
          </a:xfrm>
        </p:spPr>
        <p:txBody>
          <a:bodyPr/>
          <a:lstStyle/>
          <a:p>
            <a:pPr eaLnBrk="1" hangingPunct="1">
              <a:buFont typeface="Wingdings" panose="05000000000000000000" pitchFamily="2" charset="2"/>
              <a:buNone/>
            </a:pPr>
            <a:r>
              <a:rPr lang="en-US" altLang="zh-CN" sz="2400" smtClean="0">
                <a:latin typeface="新宋体" panose="02010609030101010101" charset="-122"/>
                <a:ea typeface="新宋体" panose="02010609030101010101" charset="-122"/>
              </a:rPr>
              <a:t>	</a:t>
            </a:r>
            <a:r>
              <a:rPr lang="en-US" altLang="zh-CN" sz="2400" smtClean="0">
                <a:solidFill>
                  <a:schemeClr val="accent2"/>
                </a:solidFill>
                <a:latin typeface="新宋体" panose="02010609030101010101" charset="-122"/>
                <a:ea typeface="新宋体" panose="02010609030101010101" charset="-122"/>
              </a:rPr>
              <a:t>	</a:t>
            </a:r>
            <a:r>
              <a:rPr lang="zh-CN" altLang="en-US" sz="2400" smtClean="0">
                <a:solidFill>
                  <a:schemeClr val="accent2"/>
                </a:solidFill>
                <a:latin typeface="新宋体" panose="02010609030101010101" charset="-122"/>
                <a:ea typeface="新宋体" panose="02010609030101010101" charset="-122"/>
              </a:rPr>
              <a:t>例如，</a:t>
            </a:r>
            <a:r>
              <a:rPr lang="zh-CN" altLang="en-US" sz="2400" smtClean="0">
                <a:latin typeface="新宋体" panose="02010609030101010101" charset="-122"/>
                <a:ea typeface="新宋体" panose="02010609030101010101" charset="-122"/>
              </a:rPr>
              <a:t>设</a:t>
            </a:r>
            <a:r>
              <a:rPr lang="en-US" altLang="zh-CN" sz="2400" smtClean="0">
                <a:latin typeface="新宋体" panose="02010609030101010101" charset="-122"/>
                <a:ea typeface="新宋体" panose="02010609030101010101" charset="-122"/>
              </a:rPr>
              <a:t>7</a:t>
            </a:r>
            <a:r>
              <a:rPr lang="zh-CN" altLang="en-US" sz="2400" smtClean="0">
                <a:latin typeface="新宋体" panose="02010609030101010101" charset="-122"/>
                <a:ea typeface="新宋体" panose="02010609030101010101" charset="-122"/>
              </a:rPr>
              <a:t>个独立作业</a:t>
            </a:r>
            <a:r>
              <a:rPr lang="en-US" altLang="zh-CN" sz="2400" smtClean="0">
                <a:latin typeface="新宋体" panose="02010609030101010101" charset="-122"/>
                <a:ea typeface="新宋体" panose="02010609030101010101" charset="-122"/>
              </a:rPr>
              <a:t>{1,2,3,4,5,6,7}</a:t>
            </a:r>
            <a:r>
              <a:rPr lang="zh-CN" altLang="en-US" sz="2400" smtClean="0">
                <a:latin typeface="新宋体" panose="02010609030101010101" charset="-122"/>
                <a:ea typeface="新宋体" panose="02010609030101010101" charset="-122"/>
              </a:rPr>
              <a:t>由</a:t>
            </a:r>
            <a:r>
              <a:rPr lang="en-US" altLang="zh-CN" sz="2400" smtClean="0">
                <a:latin typeface="新宋体" panose="02010609030101010101" charset="-122"/>
                <a:ea typeface="新宋体" panose="02010609030101010101" charset="-122"/>
              </a:rPr>
              <a:t>3</a:t>
            </a:r>
            <a:r>
              <a:rPr lang="zh-CN" altLang="en-US" sz="2400" smtClean="0">
                <a:latin typeface="新宋体" panose="02010609030101010101" charset="-122"/>
                <a:ea typeface="新宋体" panose="02010609030101010101" charset="-122"/>
              </a:rPr>
              <a:t>台机器</a:t>
            </a:r>
            <a:r>
              <a:rPr lang="en-US" altLang="zh-CN" sz="2400" smtClean="0">
                <a:latin typeface="新宋体" panose="02010609030101010101" charset="-122"/>
                <a:ea typeface="新宋体" panose="02010609030101010101" charset="-122"/>
              </a:rPr>
              <a:t>M1</a:t>
            </a:r>
            <a:r>
              <a:rPr lang="zh-CN" altLang="en-US" sz="2400" smtClean="0">
                <a:latin typeface="新宋体" panose="02010609030101010101" charset="-122"/>
                <a:ea typeface="新宋体" panose="02010609030101010101" charset="-122"/>
              </a:rPr>
              <a:t>，</a:t>
            </a:r>
            <a:r>
              <a:rPr lang="en-US" altLang="zh-CN" sz="2400" smtClean="0">
                <a:latin typeface="新宋体" panose="02010609030101010101" charset="-122"/>
                <a:ea typeface="新宋体" panose="02010609030101010101" charset="-122"/>
              </a:rPr>
              <a:t>M2</a:t>
            </a:r>
            <a:r>
              <a:rPr lang="zh-CN" altLang="en-US" sz="2400" smtClean="0">
                <a:latin typeface="新宋体" panose="02010609030101010101" charset="-122"/>
                <a:ea typeface="新宋体" panose="02010609030101010101" charset="-122"/>
              </a:rPr>
              <a:t>和</a:t>
            </a:r>
            <a:r>
              <a:rPr lang="en-US" altLang="zh-CN" sz="2400" smtClean="0">
                <a:latin typeface="新宋体" panose="02010609030101010101" charset="-122"/>
                <a:ea typeface="新宋体" panose="02010609030101010101" charset="-122"/>
              </a:rPr>
              <a:t>M3</a:t>
            </a:r>
            <a:r>
              <a:rPr lang="zh-CN" altLang="en-US" sz="2400" smtClean="0">
                <a:latin typeface="新宋体" panose="02010609030101010101" charset="-122"/>
                <a:ea typeface="新宋体" panose="02010609030101010101" charset="-122"/>
              </a:rPr>
              <a:t>加工处理。各作业所需的处理时间分别为</a:t>
            </a:r>
            <a:r>
              <a:rPr lang="en-US" altLang="zh-CN" sz="2400" smtClean="0">
                <a:latin typeface="新宋体" panose="02010609030101010101" charset="-122"/>
                <a:ea typeface="新宋体" panose="02010609030101010101" charset="-122"/>
              </a:rPr>
              <a:t>{2,14,4,16,6,5,3}</a:t>
            </a:r>
            <a:r>
              <a:rPr lang="zh-CN" altLang="en-US" sz="2400" smtClean="0">
                <a:latin typeface="新宋体" panose="02010609030101010101" charset="-122"/>
                <a:ea typeface="新宋体" panose="02010609030101010101" charset="-122"/>
              </a:rPr>
              <a:t>。按算法</a:t>
            </a:r>
            <a:r>
              <a:rPr lang="en-US" altLang="zh-CN" sz="2400" b="1" smtClean="0">
                <a:latin typeface="新宋体" panose="02010609030101010101" charset="-122"/>
                <a:ea typeface="新宋体" panose="02010609030101010101" charset="-122"/>
              </a:rPr>
              <a:t>greedy</a:t>
            </a:r>
            <a:r>
              <a:rPr lang="zh-CN" altLang="en-US" sz="2400" smtClean="0">
                <a:latin typeface="新宋体" panose="02010609030101010101" charset="-122"/>
                <a:ea typeface="新宋体" panose="02010609030101010101" charset="-122"/>
              </a:rPr>
              <a:t>产生的作业调度如下图所示，所需的加工时间为</a:t>
            </a:r>
            <a:r>
              <a:rPr lang="en-US" altLang="zh-CN" sz="2400" smtClean="0">
                <a:latin typeface="新宋体" panose="02010609030101010101" charset="-122"/>
                <a:ea typeface="新宋体" panose="02010609030101010101" charset="-122"/>
              </a:rPr>
              <a:t>17</a:t>
            </a:r>
            <a:r>
              <a:rPr lang="zh-CN" altLang="en-US" sz="2400" smtClean="0">
                <a:latin typeface="新宋体" panose="02010609030101010101" charset="-122"/>
                <a:ea typeface="新宋体" panose="02010609030101010101" charset="-122"/>
              </a:rPr>
              <a:t>。</a:t>
            </a:r>
            <a:r>
              <a:rPr lang="zh-CN" altLang="en-US" sz="2400" smtClean="0"/>
              <a:t> </a:t>
            </a:r>
            <a:endParaRPr lang="zh-CN" altLang="en-US" sz="2400" smtClean="0"/>
          </a:p>
        </p:txBody>
      </p:sp>
      <p:pic>
        <p:nvPicPr>
          <p:cNvPr id="40964" name="Picture 4" descr="t411"/>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1751013" y="3651250"/>
            <a:ext cx="5414962" cy="2400300"/>
          </a:xfrm>
          <a:noFill/>
        </p:spPr>
      </p:pic>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smtClean="0"/>
              <a:t>本周任务</a:t>
            </a:r>
            <a:endParaRPr lang="zh-CN" altLang="en-US" smtClean="0"/>
          </a:p>
        </p:txBody>
      </p:sp>
      <p:sp>
        <p:nvSpPr>
          <p:cNvPr id="41987" name="Rectangle 3"/>
          <p:cNvSpPr>
            <a:spLocks noGrp="1" noChangeArrowheads="1"/>
          </p:cNvSpPr>
          <p:nvPr>
            <p:ph type="body" idx="1"/>
          </p:nvPr>
        </p:nvSpPr>
        <p:spPr/>
        <p:txBody>
          <a:bodyPr/>
          <a:lstStyle/>
          <a:p>
            <a:pPr marL="571500" indent="-571500" eaLnBrk="1" hangingPunct="1">
              <a:buFont typeface="Wingdings" panose="05000000000000000000" pitchFamily="2" charset="2"/>
              <a:buAutoNum type="arabicPeriod"/>
            </a:pPr>
            <a:r>
              <a:rPr lang="zh-CN" altLang="en-US" smtClean="0"/>
              <a:t>证明：一颗不满的二叉树不可能与一种最优前缀编码对应。</a:t>
            </a:r>
            <a:endParaRPr lang="zh-CN" altLang="en-US" smtClean="0"/>
          </a:p>
          <a:p>
            <a:pPr marL="571500" indent="-571500" eaLnBrk="1" hangingPunct="1">
              <a:buFont typeface="Wingdings" panose="05000000000000000000" pitchFamily="2" charset="2"/>
              <a:buAutoNum type="arabicPeriod"/>
            </a:pPr>
            <a:r>
              <a:rPr lang="en-US" altLang="zh-CN" smtClean="0"/>
              <a:t>4-5</a:t>
            </a:r>
            <a:r>
              <a:rPr lang="zh-CN" altLang="en-US" smtClean="0"/>
              <a:t>，</a:t>
            </a:r>
            <a:r>
              <a:rPr lang="en-US" altLang="zh-CN" smtClean="0"/>
              <a:t>4-16</a:t>
            </a:r>
            <a:r>
              <a:rPr lang="zh-CN" altLang="en-US" smtClean="0"/>
              <a:t>，</a:t>
            </a:r>
            <a:r>
              <a:rPr lang="en-US" altLang="zh-CN" smtClean="0"/>
              <a:t>4-19</a:t>
            </a:r>
            <a:r>
              <a:rPr lang="zh-CN" altLang="en-US" smtClean="0"/>
              <a:t>，</a:t>
            </a:r>
            <a:r>
              <a:rPr lang="en-US" altLang="zh-CN" smtClean="0"/>
              <a:t>4-26</a:t>
            </a:r>
            <a:endParaRPr lang="en-US" altLang="zh-CN" smtClean="0"/>
          </a:p>
          <a:p>
            <a:pPr marL="571500" indent="-571500" eaLnBrk="1" hangingPunct="1">
              <a:buFont typeface="Wingdings" panose="05000000000000000000" pitchFamily="2" charset="2"/>
              <a:buAutoNum type="arabicPeriod"/>
            </a:pPr>
            <a:endParaRPr lang="en-US" altLang="zh-CN" smtClean="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21751" y="13864"/>
            <a:ext cx="7139136" cy="3012741"/>
          </a:xfrm>
        </p:spPr>
        <p:txBody>
          <a:bodyPr/>
          <a:lstStyle/>
          <a:p>
            <a:pPr eaLnBrk="1" hangingPunct="1"/>
            <a:r>
              <a:rPr lang="zh-CN" altLang="en-US" smtClean="0"/>
              <a:t>求</a:t>
            </a:r>
            <a:r>
              <a:rPr lang="en-US" altLang="zh-CN" smtClean="0"/>
              <a:t>v0</a:t>
            </a:r>
            <a:r>
              <a:rPr lang="zh-CN" altLang="en-US" smtClean="0"/>
              <a:t>出发的 最短路径</a:t>
            </a:r>
            <a:endParaRPr lang="zh-CN" altLang="en-US" smtClean="0"/>
          </a:p>
        </p:txBody>
      </p:sp>
      <p:grpSp>
        <p:nvGrpSpPr>
          <p:cNvPr id="37892" name="Group 4"/>
          <p:cNvGrpSpPr/>
          <p:nvPr/>
        </p:nvGrpSpPr>
        <p:grpSpPr bwMode="auto">
          <a:xfrm>
            <a:off x="228697" y="661597"/>
            <a:ext cx="4747029" cy="2704854"/>
            <a:chOff x="3405" y="2142"/>
            <a:chExt cx="4515" cy="3342"/>
          </a:xfrm>
        </p:grpSpPr>
        <p:sp>
          <p:nvSpPr>
            <p:cNvPr id="37893" name="Rectangle 5"/>
            <p:cNvSpPr>
              <a:spLocks noChangeArrowheads="1"/>
            </p:cNvSpPr>
            <p:nvPr/>
          </p:nvSpPr>
          <p:spPr bwMode="auto">
            <a:xfrm>
              <a:off x="6300" y="3702"/>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35</a:t>
              </a:r>
              <a:endParaRPr lang="en-US" altLang="zh-CN" sz="1600" b="1"/>
            </a:p>
          </p:txBody>
        </p:sp>
        <p:sp>
          <p:nvSpPr>
            <p:cNvPr id="37894" name="Rectangle 6"/>
            <p:cNvSpPr>
              <a:spLocks noChangeArrowheads="1"/>
            </p:cNvSpPr>
            <p:nvPr/>
          </p:nvSpPr>
          <p:spPr bwMode="auto">
            <a:xfrm>
              <a:off x="4860" y="3702"/>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15</a:t>
              </a:r>
              <a:endParaRPr lang="en-US" altLang="zh-CN" sz="1600" b="1"/>
            </a:p>
          </p:txBody>
        </p:sp>
        <p:sp>
          <p:nvSpPr>
            <p:cNvPr id="37895" name="Rectangle 7"/>
            <p:cNvSpPr>
              <a:spLocks noChangeArrowheads="1"/>
            </p:cNvSpPr>
            <p:nvPr/>
          </p:nvSpPr>
          <p:spPr bwMode="auto">
            <a:xfrm>
              <a:off x="5400" y="4014"/>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dirty="0">
                  <a:latin typeface="Times New Roman" panose="02020603050405020304" pitchFamily="18" charset="0"/>
                </a:rPr>
                <a:t>20</a:t>
              </a:r>
              <a:endParaRPr lang="en-US" altLang="zh-CN" sz="1600" b="1" dirty="0"/>
            </a:p>
          </p:txBody>
        </p:sp>
        <p:sp>
          <p:nvSpPr>
            <p:cNvPr id="37896" name="Rectangle 8"/>
            <p:cNvSpPr>
              <a:spLocks noChangeArrowheads="1"/>
            </p:cNvSpPr>
            <p:nvPr/>
          </p:nvSpPr>
          <p:spPr bwMode="auto">
            <a:xfrm>
              <a:off x="4860" y="307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50</a:t>
              </a:r>
              <a:endParaRPr lang="en-US" altLang="zh-CN" sz="1600" b="1"/>
            </a:p>
          </p:txBody>
        </p:sp>
        <p:sp>
          <p:nvSpPr>
            <p:cNvPr id="37897" name="Rectangle 9"/>
            <p:cNvSpPr>
              <a:spLocks noChangeArrowheads="1"/>
            </p:cNvSpPr>
            <p:nvPr/>
          </p:nvSpPr>
          <p:spPr bwMode="auto">
            <a:xfrm>
              <a:off x="6480" y="307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10</a:t>
              </a:r>
              <a:endParaRPr lang="en-US" altLang="zh-CN" sz="1600" b="1"/>
            </a:p>
          </p:txBody>
        </p:sp>
        <p:sp>
          <p:nvSpPr>
            <p:cNvPr id="37898" name="Oval 10"/>
            <p:cNvSpPr>
              <a:spLocks noChangeArrowheads="1"/>
            </p:cNvSpPr>
            <p:nvPr/>
          </p:nvSpPr>
          <p:spPr bwMode="auto">
            <a:xfrm>
              <a:off x="3780" y="3078"/>
              <a:ext cx="720" cy="624"/>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V0</a:t>
              </a:r>
              <a:endParaRPr lang="en-US" altLang="zh-CN" sz="1600" b="1"/>
            </a:p>
          </p:txBody>
        </p:sp>
        <p:sp>
          <p:nvSpPr>
            <p:cNvPr id="37899" name="Oval 11"/>
            <p:cNvSpPr>
              <a:spLocks noChangeArrowheads="1"/>
            </p:cNvSpPr>
            <p:nvPr/>
          </p:nvSpPr>
          <p:spPr bwMode="auto">
            <a:xfrm>
              <a:off x="5580" y="3078"/>
              <a:ext cx="720" cy="624"/>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V1</a:t>
              </a:r>
              <a:endParaRPr lang="en-US" altLang="zh-CN" sz="1600" b="1"/>
            </a:p>
          </p:txBody>
        </p:sp>
        <p:sp>
          <p:nvSpPr>
            <p:cNvPr id="37900" name="Oval 12"/>
            <p:cNvSpPr>
              <a:spLocks noChangeArrowheads="1"/>
            </p:cNvSpPr>
            <p:nvPr/>
          </p:nvSpPr>
          <p:spPr bwMode="auto">
            <a:xfrm>
              <a:off x="7200" y="3078"/>
              <a:ext cx="720" cy="624"/>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V4</a:t>
              </a:r>
              <a:endParaRPr lang="en-US" altLang="zh-CN" sz="1600" b="1"/>
            </a:p>
          </p:txBody>
        </p:sp>
        <p:sp>
          <p:nvSpPr>
            <p:cNvPr id="37901" name="Oval 13"/>
            <p:cNvSpPr>
              <a:spLocks noChangeArrowheads="1"/>
            </p:cNvSpPr>
            <p:nvPr/>
          </p:nvSpPr>
          <p:spPr bwMode="auto">
            <a:xfrm>
              <a:off x="3780" y="4637"/>
              <a:ext cx="720" cy="625"/>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V2</a:t>
              </a:r>
              <a:endParaRPr lang="en-US" altLang="zh-CN" sz="1600" b="1"/>
            </a:p>
          </p:txBody>
        </p:sp>
        <p:sp>
          <p:nvSpPr>
            <p:cNvPr id="37902" name="Oval 14"/>
            <p:cNvSpPr>
              <a:spLocks noChangeArrowheads="1"/>
            </p:cNvSpPr>
            <p:nvPr/>
          </p:nvSpPr>
          <p:spPr bwMode="auto">
            <a:xfrm>
              <a:off x="5580" y="4637"/>
              <a:ext cx="720" cy="625"/>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V3</a:t>
              </a:r>
              <a:endParaRPr lang="en-US" altLang="zh-CN" sz="1600" b="1"/>
            </a:p>
          </p:txBody>
        </p:sp>
        <p:sp>
          <p:nvSpPr>
            <p:cNvPr id="37903" name="Oval 15"/>
            <p:cNvSpPr>
              <a:spLocks noChangeArrowheads="1"/>
            </p:cNvSpPr>
            <p:nvPr/>
          </p:nvSpPr>
          <p:spPr bwMode="auto">
            <a:xfrm>
              <a:off x="7200" y="4637"/>
              <a:ext cx="720" cy="625"/>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V5</a:t>
              </a:r>
              <a:endParaRPr lang="en-US" altLang="zh-CN" sz="1600" b="1"/>
            </a:p>
          </p:txBody>
        </p:sp>
        <p:sp>
          <p:nvSpPr>
            <p:cNvPr id="37904" name="Line 16"/>
            <p:cNvSpPr>
              <a:spLocks noChangeShapeType="1"/>
            </p:cNvSpPr>
            <p:nvPr/>
          </p:nvSpPr>
          <p:spPr bwMode="auto">
            <a:xfrm>
              <a:off x="4500" y="3389"/>
              <a:ext cx="108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05" name="Line 17"/>
            <p:cNvSpPr>
              <a:spLocks noChangeShapeType="1"/>
            </p:cNvSpPr>
            <p:nvPr/>
          </p:nvSpPr>
          <p:spPr bwMode="auto">
            <a:xfrm>
              <a:off x="6300" y="3389"/>
              <a:ext cx="90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06" name="Line 18"/>
            <p:cNvSpPr>
              <a:spLocks noChangeShapeType="1"/>
            </p:cNvSpPr>
            <p:nvPr/>
          </p:nvSpPr>
          <p:spPr bwMode="auto">
            <a:xfrm>
              <a:off x="3960" y="3702"/>
              <a:ext cx="1" cy="9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07" name="Line 19"/>
            <p:cNvSpPr>
              <a:spLocks noChangeShapeType="1"/>
            </p:cNvSpPr>
            <p:nvPr/>
          </p:nvSpPr>
          <p:spPr bwMode="auto">
            <a:xfrm flipH="1">
              <a:off x="4500" y="3702"/>
              <a:ext cx="126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08" name="Line 20"/>
            <p:cNvSpPr>
              <a:spLocks noChangeShapeType="1"/>
            </p:cNvSpPr>
            <p:nvPr/>
          </p:nvSpPr>
          <p:spPr bwMode="auto">
            <a:xfrm>
              <a:off x="4500" y="4950"/>
              <a:ext cx="108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09" name="Line 21"/>
            <p:cNvSpPr>
              <a:spLocks noChangeShapeType="1"/>
            </p:cNvSpPr>
            <p:nvPr/>
          </p:nvSpPr>
          <p:spPr bwMode="auto">
            <a:xfrm flipV="1">
              <a:off x="5940" y="3702"/>
              <a:ext cx="1" cy="93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10" name="Line 22"/>
            <p:cNvSpPr>
              <a:spLocks noChangeShapeType="1"/>
            </p:cNvSpPr>
            <p:nvPr/>
          </p:nvSpPr>
          <p:spPr bwMode="auto">
            <a:xfrm flipH="1">
              <a:off x="6300" y="4950"/>
              <a:ext cx="90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11" name="Freeform 23"/>
            <p:cNvSpPr/>
            <p:nvPr/>
          </p:nvSpPr>
          <p:spPr bwMode="auto">
            <a:xfrm>
              <a:off x="4140" y="2610"/>
              <a:ext cx="3420" cy="468"/>
            </a:xfrm>
            <a:custGeom>
              <a:avLst/>
              <a:gdLst>
                <a:gd name="T0" fmla="*/ 0 w 3420"/>
                <a:gd name="T1" fmla="*/ 468 h 468"/>
                <a:gd name="T2" fmla="*/ 1620 w 3420"/>
                <a:gd name="T3" fmla="*/ 0 h 468"/>
                <a:gd name="T4" fmla="*/ 3420 w 3420"/>
                <a:gd name="T5" fmla="*/ 468 h 468"/>
                <a:gd name="T6" fmla="*/ 0 60000 65536"/>
                <a:gd name="T7" fmla="*/ 0 60000 65536"/>
                <a:gd name="T8" fmla="*/ 0 60000 65536"/>
                <a:gd name="T9" fmla="*/ 0 w 3420"/>
                <a:gd name="T10" fmla="*/ 0 h 468"/>
                <a:gd name="T11" fmla="*/ 3420 w 3420"/>
                <a:gd name="T12" fmla="*/ 468 h 468"/>
              </a:gdLst>
              <a:ahLst/>
              <a:cxnLst>
                <a:cxn ang="T6">
                  <a:pos x="T0" y="T1"/>
                </a:cxn>
                <a:cxn ang="T7">
                  <a:pos x="T2" y="T3"/>
                </a:cxn>
                <a:cxn ang="T8">
                  <a:pos x="T4" y="T5"/>
                </a:cxn>
              </a:cxnLst>
              <a:rect l="T9" t="T10" r="T11" b="T12"/>
              <a:pathLst>
                <a:path w="3420" h="468">
                  <a:moveTo>
                    <a:pt x="0" y="468"/>
                  </a:moveTo>
                  <a:cubicBezTo>
                    <a:pt x="525" y="234"/>
                    <a:pt x="1050" y="0"/>
                    <a:pt x="1620" y="0"/>
                  </a:cubicBezTo>
                  <a:cubicBezTo>
                    <a:pt x="2190" y="0"/>
                    <a:pt x="3120" y="390"/>
                    <a:pt x="3420" y="468"/>
                  </a:cubicBez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1600"/>
            </a:p>
          </p:txBody>
        </p:sp>
        <p:sp>
          <p:nvSpPr>
            <p:cNvPr id="37912" name="Line 24"/>
            <p:cNvSpPr>
              <a:spLocks noChangeShapeType="1"/>
            </p:cNvSpPr>
            <p:nvPr/>
          </p:nvSpPr>
          <p:spPr bwMode="auto">
            <a:xfrm flipV="1">
              <a:off x="4320" y="3702"/>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13" name="Line 25"/>
            <p:cNvSpPr>
              <a:spLocks noChangeShapeType="1"/>
            </p:cNvSpPr>
            <p:nvPr/>
          </p:nvSpPr>
          <p:spPr bwMode="auto">
            <a:xfrm flipV="1">
              <a:off x="6120" y="3546"/>
              <a:ext cx="108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14" name="Line 26"/>
            <p:cNvSpPr>
              <a:spLocks noChangeShapeType="1"/>
            </p:cNvSpPr>
            <p:nvPr/>
          </p:nvSpPr>
          <p:spPr bwMode="auto">
            <a:xfrm flipH="1">
              <a:off x="6300" y="3702"/>
              <a:ext cx="1080" cy="109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37915" name="Rectangle 27"/>
            <p:cNvSpPr>
              <a:spLocks noChangeArrowheads="1"/>
            </p:cNvSpPr>
            <p:nvPr/>
          </p:nvSpPr>
          <p:spPr bwMode="auto">
            <a:xfrm>
              <a:off x="5580" y="2142"/>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45</a:t>
              </a:r>
              <a:endParaRPr lang="en-US" altLang="zh-CN" sz="1600" b="1"/>
            </a:p>
          </p:txBody>
        </p:sp>
        <p:sp>
          <p:nvSpPr>
            <p:cNvPr id="37916" name="Rectangle 28"/>
            <p:cNvSpPr>
              <a:spLocks noChangeArrowheads="1"/>
            </p:cNvSpPr>
            <p:nvPr/>
          </p:nvSpPr>
          <p:spPr bwMode="auto">
            <a:xfrm>
              <a:off x="3405" y="385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20</a:t>
              </a:r>
              <a:endParaRPr lang="en-US" altLang="zh-CN" sz="1600" b="1"/>
            </a:p>
          </p:txBody>
        </p:sp>
        <p:sp>
          <p:nvSpPr>
            <p:cNvPr id="37917" name="Rectangle 29"/>
            <p:cNvSpPr>
              <a:spLocks noChangeArrowheads="1"/>
            </p:cNvSpPr>
            <p:nvPr/>
          </p:nvSpPr>
          <p:spPr bwMode="auto">
            <a:xfrm>
              <a:off x="4335" y="3858"/>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10</a:t>
              </a:r>
              <a:endParaRPr lang="en-US" altLang="zh-CN" sz="1600" b="1"/>
            </a:p>
          </p:txBody>
        </p:sp>
        <p:sp>
          <p:nvSpPr>
            <p:cNvPr id="37918" name="Rectangle 30"/>
            <p:cNvSpPr>
              <a:spLocks noChangeArrowheads="1"/>
            </p:cNvSpPr>
            <p:nvPr/>
          </p:nvSpPr>
          <p:spPr bwMode="auto">
            <a:xfrm>
              <a:off x="7050" y="4029"/>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30</a:t>
              </a:r>
              <a:endParaRPr lang="en-US" altLang="zh-CN" sz="1600" b="1"/>
            </a:p>
          </p:txBody>
        </p:sp>
        <p:sp>
          <p:nvSpPr>
            <p:cNvPr id="37919" name="Rectangle 31"/>
            <p:cNvSpPr>
              <a:spLocks noChangeArrowheads="1"/>
            </p:cNvSpPr>
            <p:nvPr/>
          </p:nvSpPr>
          <p:spPr bwMode="auto">
            <a:xfrm>
              <a:off x="4755" y="5016"/>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15</a:t>
              </a:r>
              <a:endParaRPr lang="en-US" altLang="zh-CN" sz="1600" b="1"/>
            </a:p>
          </p:txBody>
        </p:sp>
        <p:sp>
          <p:nvSpPr>
            <p:cNvPr id="37920" name="Rectangle 32"/>
            <p:cNvSpPr>
              <a:spLocks noChangeArrowheads="1"/>
            </p:cNvSpPr>
            <p:nvPr/>
          </p:nvSpPr>
          <p:spPr bwMode="auto">
            <a:xfrm>
              <a:off x="6510" y="5007"/>
              <a:ext cx="54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3</a:t>
              </a:r>
              <a:endParaRPr lang="en-US" altLang="zh-CN" sz="1600" b="1"/>
            </a:p>
          </p:txBody>
        </p:sp>
      </p:grpSp>
      <p:sp>
        <p:nvSpPr>
          <p:cNvPr id="34" name="Rectangle 3"/>
          <p:cNvSpPr txBox="1">
            <a:spLocks noChangeArrowheads="1"/>
          </p:cNvSpPr>
          <p:nvPr/>
        </p:nvSpPr>
        <p:spPr bwMode="auto">
          <a:xfrm>
            <a:off x="3155772" y="3527990"/>
            <a:ext cx="5578321" cy="299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a:lstStyle>
          <a:p>
            <a:pPr eaLnBrk="1" hangingPunct="1"/>
            <a:r>
              <a:rPr lang="zh-CN" altLang="en-US" smtClean="0"/>
              <a:t>求最小生成树</a:t>
            </a:r>
            <a:endParaRPr lang="zh-CN" altLang="en-US" smtClean="0"/>
          </a:p>
        </p:txBody>
      </p:sp>
      <p:grpSp>
        <p:nvGrpSpPr>
          <p:cNvPr id="35" name="Group 4"/>
          <p:cNvGrpSpPr/>
          <p:nvPr/>
        </p:nvGrpSpPr>
        <p:grpSpPr bwMode="auto">
          <a:xfrm>
            <a:off x="4932040" y="4187082"/>
            <a:ext cx="3953463" cy="2396211"/>
            <a:chOff x="2700" y="2142"/>
            <a:chExt cx="5580" cy="3120"/>
          </a:xfrm>
        </p:grpSpPr>
        <p:sp>
          <p:nvSpPr>
            <p:cNvPr id="36" name="Rectangle 5"/>
            <p:cNvSpPr>
              <a:spLocks noChangeArrowheads="1"/>
            </p:cNvSpPr>
            <p:nvPr/>
          </p:nvSpPr>
          <p:spPr bwMode="auto">
            <a:xfrm>
              <a:off x="4860" y="4170"/>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14</a:t>
              </a:r>
              <a:endParaRPr lang="en-US" altLang="zh-CN" sz="1600" b="1"/>
            </a:p>
          </p:txBody>
        </p:sp>
        <p:sp>
          <p:nvSpPr>
            <p:cNvPr id="37" name="Rectangle 6"/>
            <p:cNvSpPr>
              <a:spLocks noChangeArrowheads="1"/>
            </p:cNvSpPr>
            <p:nvPr/>
          </p:nvSpPr>
          <p:spPr bwMode="auto">
            <a:xfrm>
              <a:off x="3960" y="4170"/>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33</a:t>
              </a:r>
              <a:endParaRPr lang="en-US" altLang="zh-CN" sz="1600" b="1"/>
            </a:p>
          </p:txBody>
        </p:sp>
        <p:sp>
          <p:nvSpPr>
            <p:cNvPr id="38" name="Rectangle 7"/>
            <p:cNvSpPr>
              <a:spLocks noChangeArrowheads="1"/>
            </p:cNvSpPr>
            <p:nvPr/>
          </p:nvSpPr>
          <p:spPr bwMode="auto">
            <a:xfrm>
              <a:off x="3960" y="2766"/>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21</a:t>
              </a:r>
              <a:endParaRPr lang="en-US" altLang="zh-CN" sz="1600" b="1"/>
            </a:p>
          </p:txBody>
        </p:sp>
        <p:sp>
          <p:nvSpPr>
            <p:cNvPr id="39" name="Rectangle 8"/>
            <p:cNvSpPr>
              <a:spLocks noChangeArrowheads="1"/>
            </p:cNvSpPr>
            <p:nvPr/>
          </p:nvSpPr>
          <p:spPr bwMode="auto">
            <a:xfrm>
              <a:off x="5040" y="2766"/>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11</a:t>
              </a:r>
              <a:endParaRPr lang="en-US" altLang="zh-CN" sz="1600" b="1"/>
            </a:p>
          </p:txBody>
        </p:sp>
        <p:sp>
          <p:nvSpPr>
            <p:cNvPr id="40" name="Oval 9"/>
            <p:cNvSpPr>
              <a:spLocks noChangeArrowheads="1"/>
            </p:cNvSpPr>
            <p:nvPr/>
          </p:nvSpPr>
          <p:spPr bwMode="auto">
            <a:xfrm>
              <a:off x="3060" y="2142"/>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1</a:t>
              </a:r>
              <a:endParaRPr lang="en-US" altLang="zh-CN" sz="1600" b="1"/>
            </a:p>
          </p:txBody>
        </p:sp>
        <p:sp>
          <p:nvSpPr>
            <p:cNvPr id="41" name="Oval 10"/>
            <p:cNvSpPr>
              <a:spLocks noChangeArrowheads="1"/>
            </p:cNvSpPr>
            <p:nvPr/>
          </p:nvSpPr>
          <p:spPr bwMode="auto">
            <a:xfrm>
              <a:off x="7380" y="3234"/>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3</a:t>
              </a:r>
              <a:endParaRPr lang="en-US" altLang="zh-CN" sz="1600" b="1"/>
            </a:p>
          </p:txBody>
        </p:sp>
        <p:sp>
          <p:nvSpPr>
            <p:cNvPr id="42" name="Oval 11"/>
            <p:cNvSpPr>
              <a:spLocks noChangeArrowheads="1"/>
            </p:cNvSpPr>
            <p:nvPr/>
          </p:nvSpPr>
          <p:spPr bwMode="auto">
            <a:xfrm>
              <a:off x="4320" y="3234"/>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6</a:t>
              </a:r>
              <a:endParaRPr lang="en-US" altLang="zh-CN" sz="1600" b="1"/>
            </a:p>
          </p:txBody>
        </p:sp>
        <p:sp>
          <p:nvSpPr>
            <p:cNvPr id="43" name="Oval 12"/>
            <p:cNvSpPr>
              <a:spLocks noChangeArrowheads="1"/>
            </p:cNvSpPr>
            <p:nvPr/>
          </p:nvSpPr>
          <p:spPr bwMode="auto">
            <a:xfrm>
              <a:off x="3060" y="4326"/>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5</a:t>
              </a:r>
              <a:endParaRPr lang="en-US" altLang="zh-CN" sz="1600" b="1"/>
            </a:p>
          </p:txBody>
        </p:sp>
        <p:sp>
          <p:nvSpPr>
            <p:cNvPr id="44" name="Oval 13"/>
            <p:cNvSpPr>
              <a:spLocks noChangeArrowheads="1"/>
            </p:cNvSpPr>
            <p:nvPr/>
          </p:nvSpPr>
          <p:spPr bwMode="auto">
            <a:xfrm>
              <a:off x="5580" y="4326"/>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4</a:t>
              </a:r>
              <a:endParaRPr lang="en-US" altLang="zh-CN" sz="1600" b="1"/>
            </a:p>
          </p:txBody>
        </p:sp>
        <p:sp>
          <p:nvSpPr>
            <p:cNvPr id="45" name="Oval 14"/>
            <p:cNvSpPr>
              <a:spLocks noChangeArrowheads="1"/>
            </p:cNvSpPr>
            <p:nvPr/>
          </p:nvSpPr>
          <p:spPr bwMode="auto">
            <a:xfrm>
              <a:off x="5580" y="2142"/>
              <a:ext cx="900" cy="900"/>
            </a:xfrm>
            <a:prstGeom prst="ellipse">
              <a:avLst/>
            </a:prstGeom>
            <a:solidFill>
              <a:srgbClr val="FFFFFF"/>
            </a:solidFill>
            <a:ln w="9525">
              <a:solidFill>
                <a:srgbClr val="000000"/>
              </a:solidFill>
              <a:round/>
            </a:ln>
          </p:spPr>
          <p:txBody>
            <a:bodyPr/>
            <a:lstStyle/>
            <a:p>
              <a:pPr algn="just"/>
              <a:r>
                <a:rPr lang="en-US" altLang="zh-CN" sz="1600" b="1">
                  <a:latin typeface="Times New Roman" panose="02020603050405020304" pitchFamily="18" charset="0"/>
                </a:rPr>
                <a:t>2</a:t>
              </a:r>
              <a:endParaRPr lang="en-US" altLang="zh-CN" sz="1600" b="1"/>
            </a:p>
          </p:txBody>
        </p:sp>
        <p:sp>
          <p:nvSpPr>
            <p:cNvPr id="46" name="Line 15"/>
            <p:cNvSpPr>
              <a:spLocks noChangeShapeType="1"/>
            </p:cNvSpPr>
            <p:nvPr/>
          </p:nvSpPr>
          <p:spPr bwMode="auto">
            <a:xfrm>
              <a:off x="3960" y="2610"/>
              <a:ext cx="16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47" name="Line 16"/>
            <p:cNvSpPr>
              <a:spLocks noChangeShapeType="1"/>
            </p:cNvSpPr>
            <p:nvPr/>
          </p:nvSpPr>
          <p:spPr bwMode="auto">
            <a:xfrm>
              <a:off x="3420" y="3078"/>
              <a:ext cx="0"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48" name="Line 17"/>
            <p:cNvSpPr>
              <a:spLocks noChangeShapeType="1"/>
            </p:cNvSpPr>
            <p:nvPr/>
          </p:nvSpPr>
          <p:spPr bwMode="auto">
            <a:xfrm>
              <a:off x="3960" y="4794"/>
              <a:ext cx="16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49" name="Line 18"/>
            <p:cNvSpPr>
              <a:spLocks noChangeShapeType="1"/>
            </p:cNvSpPr>
            <p:nvPr/>
          </p:nvSpPr>
          <p:spPr bwMode="auto">
            <a:xfrm>
              <a:off x="6059" y="3078"/>
              <a:ext cx="1" cy="124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0" name="Line 19"/>
            <p:cNvSpPr>
              <a:spLocks noChangeShapeType="1"/>
            </p:cNvSpPr>
            <p:nvPr/>
          </p:nvSpPr>
          <p:spPr bwMode="auto">
            <a:xfrm>
              <a:off x="3780" y="2922"/>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1" name="Line 20"/>
            <p:cNvSpPr>
              <a:spLocks noChangeShapeType="1"/>
            </p:cNvSpPr>
            <p:nvPr/>
          </p:nvSpPr>
          <p:spPr bwMode="auto">
            <a:xfrm>
              <a:off x="5040" y="4014"/>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2" name="Line 21"/>
            <p:cNvSpPr>
              <a:spLocks noChangeShapeType="1"/>
            </p:cNvSpPr>
            <p:nvPr/>
          </p:nvSpPr>
          <p:spPr bwMode="auto">
            <a:xfrm flipH="1">
              <a:off x="3780" y="4014"/>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3" name="Line 22"/>
            <p:cNvSpPr>
              <a:spLocks noChangeShapeType="1"/>
            </p:cNvSpPr>
            <p:nvPr/>
          </p:nvSpPr>
          <p:spPr bwMode="auto">
            <a:xfrm flipH="1">
              <a:off x="5220" y="2922"/>
              <a:ext cx="54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4" name="Line 23"/>
            <p:cNvSpPr>
              <a:spLocks noChangeShapeType="1"/>
            </p:cNvSpPr>
            <p:nvPr/>
          </p:nvSpPr>
          <p:spPr bwMode="auto">
            <a:xfrm>
              <a:off x="6480" y="2766"/>
              <a:ext cx="90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5" name="Line 24"/>
            <p:cNvSpPr>
              <a:spLocks noChangeShapeType="1"/>
            </p:cNvSpPr>
            <p:nvPr/>
          </p:nvSpPr>
          <p:spPr bwMode="auto">
            <a:xfrm flipV="1">
              <a:off x="6480" y="3858"/>
              <a:ext cx="90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1600"/>
            </a:p>
          </p:txBody>
        </p:sp>
        <p:sp>
          <p:nvSpPr>
            <p:cNvPr id="56" name="Rectangle 25"/>
            <p:cNvSpPr>
              <a:spLocks noChangeArrowheads="1"/>
            </p:cNvSpPr>
            <p:nvPr/>
          </p:nvSpPr>
          <p:spPr bwMode="auto">
            <a:xfrm>
              <a:off x="4500" y="2142"/>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16</a:t>
              </a:r>
              <a:endParaRPr lang="en-US" altLang="zh-CN" sz="1600" b="1"/>
            </a:p>
          </p:txBody>
        </p:sp>
        <p:sp>
          <p:nvSpPr>
            <p:cNvPr id="57" name="Rectangle 26"/>
            <p:cNvSpPr>
              <a:spLocks noChangeArrowheads="1"/>
            </p:cNvSpPr>
            <p:nvPr/>
          </p:nvSpPr>
          <p:spPr bwMode="auto">
            <a:xfrm>
              <a:off x="4500" y="4794"/>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18</a:t>
              </a:r>
              <a:endParaRPr lang="en-US" altLang="zh-CN" sz="1600" b="1"/>
            </a:p>
          </p:txBody>
        </p:sp>
        <p:sp>
          <p:nvSpPr>
            <p:cNvPr id="58" name="Rectangle 27"/>
            <p:cNvSpPr>
              <a:spLocks noChangeArrowheads="1"/>
            </p:cNvSpPr>
            <p:nvPr/>
          </p:nvSpPr>
          <p:spPr bwMode="auto">
            <a:xfrm>
              <a:off x="2700" y="3390"/>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19</a:t>
              </a:r>
              <a:endParaRPr lang="en-US" altLang="zh-CN" sz="1600" b="1"/>
            </a:p>
          </p:txBody>
        </p:sp>
        <p:sp>
          <p:nvSpPr>
            <p:cNvPr id="59" name="Rectangle 28"/>
            <p:cNvSpPr>
              <a:spLocks noChangeArrowheads="1"/>
            </p:cNvSpPr>
            <p:nvPr/>
          </p:nvSpPr>
          <p:spPr bwMode="auto">
            <a:xfrm>
              <a:off x="6120" y="3390"/>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10</a:t>
              </a:r>
              <a:endParaRPr lang="en-US" altLang="zh-CN" sz="1600" b="1"/>
            </a:p>
          </p:txBody>
        </p:sp>
        <p:sp>
          <p:nvSpPr>
            <p:cNvPr id="60" name="Rectangle 29"/>
            <p:cNvSpPr>
              <a:spLocks noChangeArrowheads="1"/>
            </p:cNvSpPr>
            <p:nvPr/>
          </p:nvSpPr>
          <p:spPr bwMode="auto">
            <a:xfrm>
              <a:off x="6840" y="2454"/>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5</a:t>
              </a:r>
              <a:endParaRPr lang="en-US" altLang="zh-CN" sz="1600" b="1"/>
            </a:p>
          </p:txBody>
        </p:sp>
        <p:sp>
          <p:nvSpPr>
            <p:cNvPr id="61" name="Rectangle 30"/>
            <p:cNvSpPr>
              <a:spLocks noChangeArrowheads="1"/>
            </p:cNvSpPr>
            <p:nvPr/>
          </p:nvSpPr>
          <p:spPr bwMode="auto">
            <a:xfrm>
              <a:off x="6840" y="4326"/>
              <a:ext cx="7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1600" b="1">
                  <a:latin typeface="Times New Roman" panose="02020603050405020304" pitchFamily="18" charset="0"/>
                </a:rPr>
                <a:t>6</a:t>
              </a:r>
              <a:endParaRPr lang="en-US" altLang="zh-CN" sz="1600" b="1"/>
            </a:p>
          </p:txBody>
        </p:sp>
      </p:gr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2BB45B-581D-4EFD-BE8A-9FA1259410BC}" type="slidenum">
              <a:rPr lang="en-US" altLang="zh-CN"/>
            </a:fld>
            <a:endParaRPr lang="en-US" altLang="zh-CN"/>
          </a:p>
        </p:txBody>
      </p:sp>
      <p:sp>
        <p:nvSpPr>
          <p:cNvPr id="47107" name="Rectangle 2"/>
          <p:cNvSpPr>
            <a:spLocks noGrp="1" noChangeArrowheads="1"/>
          </p:cNvSpPr>
          <p:nvPr>
            <p:ph type="title"/>
          </p:nvPr>
        </p:nvSpPr>
        <p:spPr/>
        <p:txBody>
          <a:bodyPr/>
          <a:lstStyle/>
          <a:p>
            <a:pPr eaLnBrk="1" hangingPunct="1"/>
            <a:r>
              <a:rPr lang="zh-CN" altLang="en-US" smtClean="0"/>
              <a:t>本周任务</a:t>
            </a:r>
            <a:endParaRPr lang="zh-CN" altLang="en-US" smtClean="0"/>
          </a:p>
        </p:txBody>
      </p:sp>
      <p:sp>
        <p:nvSpPr>
          <p:cNvPr id="47108" name="Rectangle 3"/>
          <p:cNvSpPr>
            <a:spLocks noGrp="1" noChangeArrowheads="1"/>
          </p:cNvSpPr>
          <p:nvPr>
            <p:ph type="body" idx="1"/>
          </p:nvPr>
        </p:nvSpPr>
        <p:spPr>
          <a:xfrm>
            <a:off x="457200" y="1719263"/>
            <a:ext cx="8229600" cy="4733925"/>
          </a:xfrm>
        </p:spPr>
        <p:txBody>
          <a:bodyPr/>
          <a:lstStyle/>
          <a:p>
            <a:pPr marL="495300" indent="-495300" eaLnBrk="1" hangingPunct="1"/>
            <a:r>
              <a:rPr lang="zh-CN" altLang="en-US" sz="2600" smtClean="0"/>
              <a:t>与背包问题相关：</a:t>
            </a:r>
            <a:endParaRPr lang="zh-CN" altLang="en-US" sz="2600" smtClean="0"/>
          </a:p>
          <a:p>
            <a:pPr marL="763905" lvl="1" indent="-419100" eaLnBrk="1" hangingPunct="1">
              <a:buFont typeface="Wingdings" panose="05000000000000000000" pitchFamily="2" charset="2"/>
              <a:buAutoNum type="arabicPeriod"/>
            </a:pPr>
            <a:r>
              <a:rPr lang="en-US" altLang="zh-CN" sz="2200" smtClean="0"/>
              <a:t>4-2</a:t>
            </a:r>
            <a:endParaRPr lang="en-US" altLang="zh-CN" sz="2200" smtClean="0"/>
          </a:p>
          <a:p>
            <a:pPr marL="763905" lvl="1" indent="-419100" eaLnBrk="1" hangingPunct="1">
              <a:buFont typeface="Wingdings" panose="05000000000000000000" pitchFamily="2" charset="2"/>
              <a:buAutoNum type="arabicPeriod"/>
            </a:pPr>
            <a:r>
              <a:rPr lang="en-US" altLang="zh-CN" sz="2200" smtClean="0"/>
              <a:t>4-3</a:t>
            </a:r>
            <a:endParaRPr lang="en-US" altLang="zh-CN" sz="2200" smtClean="0"/>
          </a:p>
          <a:p>
            <a:pPr marL="763905" lvl="1" indent="-419100" eaLnBrk="1" hangingPunct="1">
              <a:buFont typeface="Wingdings" panose="05000000000000000000" pitchFamily="2" charset="2"/>
              <a:buAutoNum type="arabicPeriod"/>
            </a:pPr>
            <a:r>
              <a:rPr lang="zh-CN" altLang="en-US" sz="2200" smtClean="0"/>
              <a:t>如何修改背包问题的动态规划算法</a:t>
            </a:r>
            <a:r>
              <a:rPr lang="en-US" altLang="zh-CN" sz="2200" smtClean="0"/>
              <a:t>,</a:t>
            </a:r>
            <a:r>
              <a:rPr lang="zh-CN" altLang="en-US" sz="2200" smtClean="0"/>
              <a:t>使得它只需要</a:t>
            </a:r>
            <a:r>
              <a:rPr lang="el-GR" altLang="zh-CN" sz="2200" smtClean="0"/>
              <a:t>Θ</a:t>
            </a:r>
            <a:r>
              <a:rPr lang="en-US" altLang="zh-CN" sz="2200" smtClean="0"/>
              <a:t>(C)</a:t>
            </a:r>
            <a:r>
              <a:rPr lang="zh-CN" altLang="en-US" sz="2200" smtClean="0"/>
              <a:t>空间</a:t>
            </a:r>
            <a:r>
              <a:rPr lang="en-US" altLang="zh-CN" sz="2200" smtClean="0"/>
              <a:t>,</a:t>
            </a:r>
            <a:r>
              <a:rPr lang="zh-CN" altLang="en-US" sz="2200" smtClean="0"/>
              <a:t>其中</a:t>
            </a:r>
            <a:r>
              <a:rPr lang="en-US" altLang="zh-CN" sz="2200" smtClean="0"/>
              <a:t>C</a:t>
            </a:r>
            <a:r>
              <a:rPr lang="zh-CN" altLang="en-US" sz="2200" smtClean="0"/>
              <a:t>为背包容量</a:t>
            </a:r>
            <a:r>
              <a:rPr lang="en-US" altLang="zh-CN" sz="2200" smtClean="0"/>
              <a:t>.</a:t>
            </a:r>
            <a:endParaRPr lang="en-US" altLang="zh-CN" sz="2200" smtClean="0"/>
          </a:p>
          <a:p>
            <a:pPr marL="763905" lvl="1" indent="-419100" eaLnBrk="1" hangingPunct="1">
              <a:buFont typeface="Wingdings" panose="05000000000000000000" pitchFamily="2" charset="2"/>
              <a:buAutoNum type="arabicPeriod"/>
            </a:pPr>
            <a:r>
              <a:rPr lang="zh-CN" altLang="en-US" sz="2200" smtClean="0"/>
              <a:t>定义</a:t>
            </a:r>
            <a:r>
              <a:rPr lang="en-US" altLang="zh-CN" sz="2200" smtClean="0"/>
              <a:t>0 / 1 / 2</a:t>
            </a:r>
            <a:r>
              <a:rPr lang="zh-CN" altLang="en-US" sz="2200" smtClean="0"/>
              <a:t>背包问题为：</a:t>
            </a:r>
            <a:r>
              <a:rPr lang="en-US" altLang="zh-CN" sz="2200" smtClean="0"/>
              <a:t>max{∑</a:t>
            </a:r>
            <a:r>
              <a:rPr lang="en-US" altLang="zh-CN" sz="2200" i="1" smtClean="0"/>
              <a:t>vixi</a:t>
            </a:r>
            <a:r>
              <a:rPr lang="en-US" altLang="zh-CN" sz="2200" smtClean="0"/>
              <a:t>},</a:t>
            </a:r>
            <a:r>
              <a:rPr lang="zh-CN" altLang="en-US" sz="2200" smtClean="0"/>
              <a:t>约束条件为： ∑</a:t>
            </a:r>
            <a:r>
              <a:rPr lang="en-US" altLang="zh-CN" sz="2200" i="1" smtClean="0"/>
              <a:t>wi xi</a:t>
            </a:r>
            <a:r>
              <a:rPr lang="en-US" altLang="zh-CN" sz="2200" smtClean="0"/>
              <a:t>≤</a:t>
            </a:r>
            <a:r>
              <a:rPr lang="en-US" altLang="zh-CN" sz="2200" i="1" smtClean="0"/>
              <a:t>c </a:t>
            </a:r>
            <a:r>
              <a:rPr lang="zh-CN" altLang="en-US" sz="2200" smtClean="0"/>
              <a:t>且</a:t>
            </a:r>
            <a:r>
              <a:rPr lang="en-US" altLang="zh-CN" sz="2200" i="1" smtClean="0"/>
              <a:t>xi</a:t>
            </a:r>
            <a:r>
              <a:rPr lang="en-US" altLang="zh-CN" sz="2200" smtClean="0"/>
              <a:t>∈{ 0 , 1 , 2 } , 1≤</a:t>
            </a:r>
            <a:r>
              <a:rPr lang="en-US" altLang="zh-CN" sz="2200" i="1" smtClean="0"/>
              <a:t>i</a:t>
            </a:r>
            <a:r>
              <a:rPr lang="en-US" altLang="zh-CN" sz="2200" smtClean="0"/>
              <a:t>≤</a:t>
            </a:r>
            <a:r>
              <a:rPr lang="en-US" altLang="zh-CN" sz="2200" i="1" smtClean="0"/>
              <a:t>n</a:t>
            </a:r>
            <a:r>
              <a:rPr lang="zh-CN" altLang="en-US" sz="2200" smtClean="0"/>
              <a:t>。设</a:t>
            </a:r>
            <a:r>
              <a:rPr lang="en-US" altLang="zh-CN" sz="2200" i="1" smtClean="0"/>
              <a:t>P</a:t>
            </a:r>
            <a:r>
              <a:rPr lang="zh-CN" altLang="en-US" sz="2200" smtClean="0"/>
              <a:t>的定义同</a:t>
            </a:r>
            <a:r>
              <a:rPr lang="en-US" altLang="zh-CN" sz="2200" smtClean="0"/>
              <a:t>0 / 1</a:t>
            </a:r>
            <a:r>
              <a:rPr lang="zh-CN" altLang="en-US" sz="2200" smtClean="0"/>
              <a:t>背包问题中的定义。</a:t>
            </a:r>
            <a:endParaRPr lang="zh-CN" altLang="en-US" sz="2200" smtClean="0"/>
          </a:p>
          <a:p>
            <a:pPr marL="1094105" lvl="2" indent="-400050" eaLnBrk="1" hangingPunct="1">
              <a:buFont typeface="Wingdings" panose="05000000000000000000" pitchFamily="2" charset="2"/>
              <a:buAutoNum type="arabicPeriod"/>
            </a:pPr>
            <a:r>
              <a:rPr lang="en-US" altLang="zh-CN" sz="2100" smtClean="0"/>
              <a:t>1) </a:t>
            </a:r>
            <a:r>
              <a:rPr lang="zh-CN" altLang="en-US" sz="2100" smtClean="0"/>
              <a:t>从</a:t>
            </a:r>
            <a:r>
              <a:rPr lang="en-US" altLang="zh-CN" sz="2100" smtClean="0"/>
              <a:t>0 / 1 / 2</a:t>
            </a:r>
            <a:r>
              <a:rPr lang="zh-CN" altLang="en-US" sz="2100" smtClean="0"/>
              <a:t>背包问题中推出类似于</a:t>
            </a:r>
            <a:r>
              <a:rPr lang="en-US" altLang="zh-CN" sz="2100" smtClean="0"/>
              <a:t>0/1</a:t>
            </a:r>
            <a:r>
              <a:rPr lang="zh-CN" altLang="en-US" sz="2100" smtClean="0"/>
              <a:t>背包的递归公式。</a:t>
            </a:r>
            <a:endParaRPr lang="zh-CN" altLang="en-US" sz="2100" smtClean="0"/>
          </a:p>
          <a:p>
            <a:pPr marL="1094105" lvl="2" indent="-400050" eaLnBrk="1" hangingPunct="1">
              <a:buFont typeface="Wingdings" panose="05000000000000000000" pitchFamily="2" charset="2"/>
              <a:buAutoNum type="arabicPeriod"/>
            </a:pPr>
            <a:r>
              <a:rPr lang="en-US" altLang="zh-CN" sz="2100" smtClean="0"/>
              <a:t>2) </a:t>
            </a:r>
            <a:r>
              <a:rPr lang="zh-CN" altLang="en-US" sz="2100" smtClean="0"/>
              <a:t>假设</a:t>
            </a:r>
            <a:r>
              <a:rPr lang="en-US" altLang="zh-CN" sz="2100" i="1" smtClean="0"/>
              <a:t>w</a:t>
            </a:r>
            <a:r>
              <a:rPr lang="zh-CN" altLang="en-US" sz="2100" smtClean="0"/>
              <a:t>为整数。编写一个类似于</a:t>
            </a:r>
            <a:r>
              <a:rPr lang="en-US" altLang="zh-CN" sz="2100" smtClean="0"/>
              <a:t>0/1</a:t>
            </a:r>
            <a:r>
              <a:rPr lang="zh-CN" altLang="en-US" sz="2100" smtClean="0"/>
              <a:t>背包的程序来计算二维数组</a:t>
            </a:r>
            <a:r>
              <a:rPr lang="en-US" altLang="zh-CN" sz="2100" i="1" smtClean="0"/>
              <a:t>P</a:t>
            </a:r>
            <a:r>
              <a:rPr lang="zh-CN" altLang="en-US" sz="2100" smtClean="0"/>
              <a:t>，然后确定最优分配的</a:t>
            </a:r>
            <a:r>
              <a:rPr lang="en-US" altLang="zh-CN" sz="2100" i="1" smtClean="0"/>
              <a:t>x </a:t>
            </a:r>
            <a:r>
              <a:rPr lang="zh-CN" altLang="en-US" sz="2100" smtClean="0"/>
              <a:t>值。</a:t>
            </a:r>
            <a:endParaRPr lang="zh-CN" altLang="en-US" sz="2100" smtClean="0"/>
          </a:p>
          <a:p>
            <a:pPr marL="1094105" lvl="2" indent="-400050" eaLnBrk="1" hangingPunct="1">
              <a:buFont typeface="Wingdings" panose="05000000000000000000" pitchFamily="2" charset="2"/>
              <a:buAutoNum type="arabicPeriod"/>
            </a:pPr>
            <a:r>
              <a:rPr lang="en-US" altLang="zh-CN" sz="2100" smtClean="0"/>
              <a:t>3) </a:t>
            </a:r>
            <a:r>
              <a:rPr lang="zh-CN" altLang="en-US" sz="2100" smtClean="0"/>
              <a:t>分析上述算法的时间复杂度。</a:t>
            </a:r>
            <a:endParaRPr lang="en-US" altLang="zh-CN" sz="2100"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9174</Words>
  <Application>WPS 演示</Application>
  <PresentationFormat>全屏显示(4:3)</PresentationFormat>
  <Paragraphs>960</Paragraphs>
  <Slides>81</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12</vt:i4>
      </vt:variant>
      <vt:variant>
        <vt:lpstr>幻灯片标题</vt:lpstr>
      </vt:variant>
      <vt:variant>
        <vt:i4>81</vt:i4>
      </vt:variant>
    </vt:vector>
  </HeadingPairs>
  <TitlesOfParts>
    <vt:vector size="111" baseType="lpstr">
      <vt:lpstr>Arial</vt:lpstr>
      <vt:lpstr>宋体</vt:lpstr>
      <vt:lpstr>Wingdings</vt:lpstr>
      <vt:lpstr>Times New Roman</vt:lpstr>
      <vt:lpstr>黑体</vt:lpstr>
      <vt:lpstr>Comic Sans MS</vt:lpstr>
      <vt:lpstr>楷体_GB2312</vt:lpstr>
      <vt:lpstr>新宋体</vt:lpstr>
      <vt:lpstr>华文行楷</vt:lpstr>
      <vt:lpstr>微软雅黑</vt:lpstr>
      <vt:lpstr>Arial Unicode MS</vt:lpstr>
      <vt:lpstr>Garamond</vt:lpstr>
      <vt:lpstr>SWAstro</vt:lpstr>
      <vt:lpstr>Times</vt:lpstr>
      <vt:lpstr>Symbol</vt:lpstr>
      <vt:lpstr>Symbol</vt:lpstr>
      <vt:lpstr>楷体_GB2312</vt:lpstr>
      <vt:lpstr>Network</vt:lpstr>
      <vt:lpstr>MSGraph.Chart.8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第4章 贪心算法</vt:lpstr>
      <vt:lpstr>一个小问题</vt:lpstr>
      <vt:lpstr>PowerPoint 演示文稿</vt:lpstr>
      <vt:lpstr>4.1 活动安排问题 </vt:lpstr>
      <vt:lpstr>4.1 活动安排问题</vt:lpstr>
      <vt:lpstr>4.1 活动安排问题</vt:lpstr>
      <vt:lpstr>4.1 活动安排问题</vt:lpstr>
      <vt:lpstr>4.1 活动安排问题</vt:lpstr>
      <vt:lpstr>4.1 活动安排问题</vt:lpstr>
      <vt:lpstr>4.1 活动安排问题</vt:lpstr>
      <vt:lpstr>4.1 活动安排问题 </vt:lpstr>
      <vt:lpstr>PowerPoint 演示文稿</vt:lpstr>
      <vt:lpstr>4.1 活动安排问题</vt:lpstr>
      <vt:lpstr>4.1 活动安排问题</vt:lpstr>
      <vt:lpstr>PowerPoint 演示文稿</vt:lpstr>
      <vt:lpstr>4.2 贪心算法的基本要素</vt:lpstr>
      <vt:lpstr>4.2 贪心算法的基本要素</vt:lpstr>
      <vt:lpstr>4.2 贪心算法的基本要素</vt:lpstr>
      <vt:lpstr>4.2 贪心算法的基本要素</vt:lpstr>
      <vt:lpstr>4.2 贪心算法的基本要素</vt:lpstr>
      <vt:lpstr>PowerPoint 演示文稿</vt:lpstr>
      <vt:lpstr>4.2 贪心算法的基本要素</vt:lpstr>
      <vt:lpstr>4.2 贪心算法的基本要素</vt:lpstr>
      <vt:lpstr>4.2 贪心算法的基本要素</vt:lpstr>
      <vt:lpstr>例</vt:lpstr>
      <vt:lpstr>4.2 贪心算法的基本要素</vt:lpstr>
      <vt:lpstr>4.2 贪心算法的基本要素</vt:lpstr>
      <vt:lpstr>4.2 贪心算法的基本要素</vt:lpstr>
      <vt:lpstr>PowerPoint 演示文稿</vt:lpstr>
      <vt:lpstr>PowerPoint 演示文稿</vt:lpstr>
      <vt:lpstr>PowerPoint 演示文稿</vt:lpstr>
      <vt:lpstr>PowerPoint 演示文稿</vt:lpstr>
      <vt:lpstr>PowerPoint 演示文稿</vt:lpstr>
      <vt:lpstr>PowerPoint 演示文稿</vt:lpstr>
      <vt:lpstr>找钱问题</vt:lpstr>
      <vt:lpstr>PowerPoint 演示文稿</vt:lpstr>
      <vt:lpstr>PowerPoint 演示文稿</vt:lpstr>
      <vt:lpstr>PowerPoint 演示文稿</vt:lpstr>
      <vt:lpstr>找钱问题</vt:lpstr>
      <vt:lpstr>4.3 最优装载</vt:lpstr>
      <vt:lpstr>4.3 最优装载</vt:lpstr>
      <vt:lpstr>4.3 最优装载</vt:lpstr>
      <vt:lpstr>4.3 最优装载</vt:lpstr>
      <vt:lpstr>4.4 哈夫曼编码</vt:lpstr>
      <vt:lpstr>一个例子</vt:lpstr>
      <vt:lpstr>前缀码</vt:lpstr>
      <vt:lpstr>The optimal prefix code</vt:lpstr>
      <vt:lpstr>The optimal prefix code</vt:lpstr>
      <vt:lpstr>4.4 哈夫曼编码</vt:lpstr>
      <vt:lpstr>4.4 哈夫曼编码</vt:lpstr>
      <vt:lpstr>构造哈夫曼编码</vt:lpstr>
      <vt:lpstr>构造哈夫曼编码</vt:lpstr>
      <vt:lpstr>构造哈夫曼编码</vt:lpstr>
      <vt:lpstr>构造哈夫曼编码</vt:lpstr>
      <vt:lpstr>构造哈夫曼编码</vt:lpstr>
      <vt:lpstr>构造哈夫曼编码</vt:lpstr>
      <vt:lpstr>4.4 哈夫曼编码</vt:lpstr>
      <vt:lpstr>4.4 哈夫曼编码</vt:lpstr>
      <vt:lpstr>贪心选择性质</vt:lpstr>
      <vt:lpstr>4.5 单源最短路径</vt:lpstr>
      <vt:lpstr>4.5 单源最短路径</vt:lpstr>
      <vt:lpstr>4.5 单源最短路径</vt:lpstr>
      <vt:lpstr>PowerPoint 演示文稿</vt:lpstr>
      <vt:lpstr>PowerPoint 演示文稿</vt:lpstr>
      <vt:lpstr>4.5 单源最短路径</vt:lpstr>
      <vt:lpstr>PowerPoint 演示文稿</vt:lpstr>
      <vt:lpstr>4.6 最小生成树 </vt:lpstr>
      <vt:lpstr>4.6 最小生成树</vt:lpstr>
      <vt:lpstr>4.6 最小生成树</vt:lpstr>
      <vt:lpstr>4.6 最小生成树</vt:lpstr>
      <vt:lpstr>4.6 最小生成树</vt:lpstr>
      <vt:lpstr>4.6 最小生成树</vt:lpstr>
      <vt:lpstr>4.6 最小生成树</vt:lpstr>
      <vt:lpstr>4.6 最小生成树</vt:lpstr>
      <vt:lpstr>4.6 最小生成树</vt:lpstr>
      <vt:lpstr>4.7 多机调度问题</vt:lpstr>
      <vt:lpstr>4.7 多机调度问题</vt:lpstr>
      <vt:lpstr>4.7 多机调度问题</vt:lpstr>
      <vt:lpstr>本周任务</vt:lpstr>
      <vt:lpstr>PowerPoint 演示文稿</vt:lpstr>
      <vt:lpstr>本周任务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271</cp:revision>
  <cp:lastPrinted>2113-01-01T00:00:00Z</cp:lastPrinted>
  <dcterms:created xsi:type="dcterms:W3CDTF">2003-05-27T06:14:00Z</dcterms:created>
  <dcterms:modified xsi:type="dcterms:W3CDTF">2019-11-12T15:01:21Z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