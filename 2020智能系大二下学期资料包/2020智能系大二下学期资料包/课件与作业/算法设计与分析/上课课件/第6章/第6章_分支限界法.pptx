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9"/>
  </p:handoutMasterIdLst>
  <p:sldIdLst>
    <p:sldId id="300" r:id="rId3"/>
    <p:sldId id="297" r:id="rId5"/>
    <p:sldId id="320" r:id="rId6"/>
    <p:sldId id="307" r:id="rId7"/>
    <p:sldId id="258" r:id="rId8"/>
    <p:sldId id="259" r:id="rId9"/>
    <p:sldId id="309" r:id="rId10"/>
    <p:sldId id="308" r:id="rId11"/>
    <p:sldId id="260" r:id="rId12"/>
    <p:sldId id="318" r:id="rId13"/>
    <p:sldId id="319" r:id="rId14"/>
    <p:sldId id="310" r:id="rId15"/>
    <p:sldId id="311" r:id="rId16"/>
    <p:sldId id="312" r:id="rId17"/>
    <p:sldId id="313" r:id="rId18"/>
    <p:sldId id="314" r:id="rId19"/>
    <p:sldId id="321" r:id="rId20"/>
    <p:sldId id="325" r:id="rId21"/>
    <p:sldId id="326" r:id="rId22"/>
    <p:sldId id="327" r:id="rId23"/>
    <p:sldId id="328" r:id="rId24"/>
    <p:sldId id="329" r:id="rId25"/>
    <p:sldId id="330" r:id="rId26"/>
    <p:sldId id="331" r:id="rId27"/>
    <p:sldId id="332" r:id="rId28"/>
    <p:sldId id="333" r:id="rId29"/>
    <p:sldId id="334" r:id="rId30"/>
    <p:sldId id="335" r:id="rId31"/>
    <p:sldId id="336" r:id="rId32"/>
    <p:sldId id="337" r:id="rId33"/>
    <p:sldId id="338" r:id="rId34"/>
    <p:sldId id="339" r:id="rId35"/>
    <p:sldId id="340" r:id="rId36"/>
    <p:sldId id="341" r:id="rId37"/>
    <p:sldId id="342" r:id="rId38"/>
    <p:sldId id="343" r:id="rId39"/>
    <p:sldId id="344" r:id="rId40"/>
    <p:sldId id="345" r:id="rId41"/>
    <p:sldId id="346" r:id="rId42"/>
    <p:sldId id="347" r:id="rId43"/>
    <p:sldId id="348" r:id="rId44"/>
    <p:sldId id="349" r:id="rId45"/>
    <p:sldId id="350" r:id="rId46"/>
    <p:sldId id="351" r:id="rId47"/>
    <p:sldId id="352" r:id="rId48"/>
    <p:sldId id="353" r:id="rId49"/>
    <p:sldId id="354" r:id="rId50"/>
    <p:sldId id="355" r:id="rId51"/>
    <p:sldId id="356" r:id="rId52"/>
    <p:sldId id="357" r:id="rId53"/>
    <p:sldId id="358" r:id="rId54"/>
    <p:sldId id="359" r:id="rId55"/>
    <p:sldId id="360" r:id="rId56"/>
    <p:sldId id="361" r:id="rId57"/>
    <p:sldId id="362" r:id="rId58"/>
    <p:sldId id="363" r:id="rId59"/>
    <p:sldId id="364" r:id="rId60"/>
    <p:sldId id="365" r:id="rId61"/>
    <p:sldId id="366" r:id="rId62"/>
    <p:sldId id="367" r:id="rId63"/>
    <p:sldId id="368" r:id="rId64"/>
    <p:sldId id="369" r:id="rId65"/>
    <p:sldId id="370" r:id="rId66"/>
    <p:sldId id="371" r:id="rId67"/>
    <p:sldId id="372" r:id="rId68"/>
    <p:sldId id="373" r:id="rId69"/>
    <p:sldId id="374" r:id="rId70"/>
    <p:sldId id="375" r:id="rId71"/>
    <p:sldId id="376" r:id="rId72"/>
    <p:sldId id="377" r:id="rId73"/>
    <p:sldId id="378" r:id="rId74"/>
    <p:sldId id="379" r:id="rId75"/>
    <p:sldId id="380" r:id="rId76"/>
    <p:sldId id="381" r:id="rId77"/>
    <p:sldId id="382" r:id="rId7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FF"/>
    <a:srgbClr val="DDDDDD"/>
    <a:srgbClr val="663300"/>
    <a:srgbClr val="000066"/>
    <a:srgbClr val="CC0000"/>
    <a:srgbClr val="800000"/>
    <a:srgbClr val="A50021"/>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643" autoAdjust="0"/>
  </p:normalViewPr>
  <p:slideViewPr>
    <p:cSldViewPr>
      <p:cViewPr varScale="1">
        <p:scale>
          <a:sx n="70" d="100"/>
          <a:sy n="70" d="100"/>
        </p:scale>
        <p:origin x="138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 Target="slides/slide5.xml"/><Relationship Id="rId79" Type="http://schemas.openxmlformats.org/officeDocument/2006/relationships/handoutMaster" Target="handoutMasters/handoutMaster1.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5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zh-CN" altLang="en-US"/>
          </a:p>
        </p:txBody>
      </p:sp>
      <p:sp>
        <p:nvSpPr>
          <p:cNvPr id="10854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10854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10854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6C2D2062-61BB-4327-AB52-EE95FC55020B}"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zh-CN" altLang="en-US"/>
          </a:p>
        </p:txBody>
      </p:sp>
      <p:sp>
        <p:nvSpPr>
          <p:cNvPr id="2662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266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2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2663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2663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8726EFE0-E86F-49FA-ACC5-63606EAD609E}"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31F92A6-D724-48C0-8244-3EC9D5CDEB55}" type="slidenum">
              <a:rPr lang="zh-CN" altLang="en-US"/>
            </a:fld>
            <a:endParaRPr lang="en-US" altLang="zh-CN"/>
          </a:p>
        </p:txBody>
      </p:sp>
      <p:sp>
        <p:nvSpPr>
          <p:cNvPr id="347138" name="Rectangle 2"/>
          <p:cNvSpPr>
            <a:spLocks noGrp="1" noRot="1" noChangeAspect="1" noChangeArrowheads="1" noTextEdit="1"/>
          </p:cNvSpPr>
          <p:nvPr>
            <p:ph type="sldImg"/>
          </p:nvPr>
        </p:nvSpPr>
        <p:spPr/>
      </p:sp>
      <p:sp>
        <p:nvSpPr>
          <p:cNvPr id="347139" name="Rectangle 3"/>
          <p:cNvSpPr>
            <a:spLocks noGrp="1" noChangeArrowheads="1"/>
          </p:cNvSpPr>
          <p:nvPr>
            <p:ph type="body" idx="1"/>
          </p:nvPr>
        </p:nvSpPr>
        <p:spPr/>
        <p:txBody>
          <a:bodyPr/>
          <a:lstStyle/>
          <a:p>
            <a:r>
              <a:rPr lang="zh-CN" altLang="en-US"/>
              <a:t>欢迎辞</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398338" name="Line 2"/>
          <p:cNvSpPr>
            <a:spLocks noChangeShapeType="1"/>
          </p:cNvSpPr>
          <p:nvPr/>
        </p:nvSpPr>
        <p:spPr bwMode="auto">
          <a:xfrm>
            <a:off x="7315200" y="1066800"/>
            <a:ext cx="0" cy="449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8339" name="Rectangle 3"/>
          <p:cNvSpPr>
            <a:spLocks noGrp="1" noChangeArrowheads="1"/>
          </p:cNvSpPr>
          <p:nvPr>
            <p:ph type="ctrTitle"/>
          </p:nvPr>
        </p:nvSpPr>
        <p:spPr>
          <a:xfrm>
            <a:off x="315913" y="466725"/>
            <a:ext cx="6781800" cy="2133600"/>
          </a:xfrm>
        </p:spPr>
        <p:txBody>
          <a:bodyPr/>
          <a:lstStyle>
            <a:lvl1pPr algn="r">
              <a:defRPr sz="4800"/>
            </a:lvl1pPr>
          </a:lstStyle>
          <a:p>
            <a:pPr lvl="0"/>
            <a:r>
              <a:rPr lang="en-US" altLang="zh-CN" noProof="0" smtClean="0"/>
              <a:t>单击此处编辑母版标题样式</a:t>
            </a:r>
            <a:endParaRPr lang="en-US" altLang="zh-CN" noProof="0" smtClean="0"/>
          </a:p>
        </p:txBody>
      </p:sp>
      <p:sp>
        <p:nvSpPr>
          <p:cNvPr id="398340"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pPr lvl="0"/>
            <a:r>
              <a:rPr lang="en-US" altLang="zh-CN" noProof="0" smtClean="0"/>
              <a:t>单击此处编辑母版副标题样式</a:t>
            </a:r>
            <a:endParaRPr lang="en-US" altLang="zh-CN" noProof="0" smtClean="0"/>
          </a:p>
        </p:txBody>
      </p:sp>
      <p:sp>
        <p:nvSpPr>
          <p:cNvPr id="398341" name="Rectangle 5"/>
          <p:cNvSpPr>
            <a:spLocks noGrp="1" noChangeArrowheads="1"/>
          </p:cNvSpPr>
          <p:nvPr>
            <p:ph type="dt" sz="half" idx="2"/>
          </p:nvPr>
        </p:nvSpPr>
        <p:spPr/>
        <p:txBody>
          <a:bodyPr/>
          <a:lstStyle>
            <a:lvl1pPr>
              <a:defRPr/>
            </a:lvl1pPr>
          </a:lstStyle>
          <a:p>
            <a:endParaRPr lang="en-US" altLang="zh-CN"/>
          </a:p>
        </p:txBody>
      </p:sp>
      <p:sp>
        <p:nvSpPr>
          <p:cNvPr id="398342" name="Rectangle 6"/>
          <p:cNvSpPr>
            <a:spLocks noGrp="1" noChangeArrowheads="1"/>
          </p:cNvSpPr>
          <p:nvPr>
            <p:ph type="ftr" sz="quarter" idx="3"/>
          </p:nvPr>
        </p:nvSpPr>
        <p:spPr/>
        <p:txBody>
          <a:bodyPr/>
          <a:lstStyle>
            <a:lvl1pPr>
              <a:defRPr/>
            </a:lvl1pPr>
          </a:lstStyle>
          <a:p>
            <a:endParaRPr lang="en-US" altLang="zh-CN"/>
          </a:p>
        </p:txBody>
      </p:sp>
      <p:sp>
        <p:nvSpPr>
          <p:cNvPr id="398343" name="Rectangle 7"/>
          <p:cNvSpPr>
            <a:spLocks noGrp="1" noChangeArrowheads="1"/>
          </p:cNvSpPr>
          <p:nvPr>
            <p:ph type="sldNum" sz="quarter" idx="4"/>
          </p:nvPr>
        </p:nvSpPr>
        <p:spPr/>
        <p:txBody>
          <a:bodyPr/>
          <a:lstStyle>
            <a:lvl1pPr>
              <a:defRPr/>
            </a:lvl1pPr>
          </a:lstStyle>
          <a:p>
            <a:fld id="{9480687E-EB5E-4A2C-AC02-8DB6673F4045}" type="slidenum">
              <a:rPr lang="en-US" altLang="zh-CN"/>
            </a:fld>
            <a:endParaRPr lang="en-US" altLang="zh-CN"/>
          </a:p>
        </p:txBody>
      </p:sp>
      <p:grpSp>
        <p:nvGrpSpPr>
          <p:cNvPr id="398344" name="Group 8"/>
          <p:cNvGrpSpPr/>
          <p:nvPr/>
        </p:nvGrpSpPr>
        <p:grpSpPr bwMode="auto">
          <a:xfrm>
            <a:off x="7493000" y="2992438"/>
            <a:ext cx="1338263" cy="2189162"/>
            <a:chOff x="4704" y="1885"/>
            <a:chExt cx="843" cy="1379"/>
          </a:xfrm>
        </p:grpSpPr>
        <p:sp>
          <p:nvSpPr>
            <p:cNvPr id="398345"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46"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47"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48"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49"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50"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51"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52"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53"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54"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55"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56"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57"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58"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59"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60"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61"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62"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63"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64"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65"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66"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67"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68"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69"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70"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71"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72"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73"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74"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8375"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98376" name="Line 40"/>
          <p:cNvSpPr>
            <a:spLocks noChangeShapeType="1"/>
          </p:cNvSpPr>
          <p:nvPr/>
        </p:nvSpPr>
        <p:spPr bwMode="auto">
          <a:xfrm>
            <a:off x="304800" y="2819400"/>
            <a:ext cx="8229600" cy="0"/>
          </a:xfrm>
          <a:prstGeom prst="line">
            <a:avLst/>
          </a:prstGeom>
          <a:noFill/>
          <a:ln w="63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blinds/>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1D5569D-C15A-42F5-840E-32D31A988BB1}" type="slidenum">
              <a:rPr lang="en-US" altLang="zh-CN"/>
            </a:fld>
            <a:endParaRPr lang="en-US" altLang="zh-CN"/>
          </a:p>
        </p:txBody>
      </p:sp>
    </p:spTree>
  </p:cSld>
  <p:clrMapOvr>
    <a:masterClrMapping/>
  </p:clrMapOvr>
  <p:transition>
    <p:blinds/>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6022CFB-9197-4E80-BC7C-28050FB92E0B}" type="slidenum">
              <a:rPr lang="en-US" altLang="zh-CN"/>
            </a:fld>
            <a:endParaRPr lang="en-US" altLang="zh-CN"/>
          </a:p>
        </p:txBody>
      </p:sp>
    </p:spTree>
  </p:cSld>
  <p:clrMapOvr>
    <a:masterClrMapping/>
  </p:clrMapOvr>
  <p:transition>
    <p:blinds/>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15807433-9581-410E-A3F9-34DA68EC8A9D}" type="slidenum">
              <a:rPr lang="en-US" altLang="zh-CN"/>
            </a:fld>
            <a:endParaRPr lang="en-US" altLang="zh-CN"/>
          </a:p>
        </p:txBody>
      </p:sp>
    </p:spTree>
  </p:cSld>
  <p:clrMapOvr>
    <a:masterClrMapping/>
  </p:clrMapOvr>
  <p:transition>
    <p:blinds/>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11D11EC3-D67D-430C-8217-09EB821245D1}" type="slidenum">
              <a:rPr lang="en-US" altLang="zh-CN"/>
            </a:fld>
            <a:endParaRPr lang="en-US" altLang="zh-CN"/>
          </a:p>
        </p:txBody>
      </p:sp>
    </p:spTree>
  </p:cSld>
  <p:clrMapOvr>
    <a:masterClrMapping/>
  </p:clrMapOvr>
  <p:transition>
    <p:blinds/>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78044C2D-C15E-4E03-9720-B2C67F48CDA2}" type="slidenum">
              <a:rPr lang="en-US" altLang="zh-CN"/>
            </a:fld>
            <a:endParaRPr lang="en-US" altLang="zh-CN"/>
          </a:p>
        </p:txBody>
      </p:sp>
    </p:spTree>
  </p:cSld>
  <p:clrMapOvr>
    <a:masterClrMapping/>
  </p:clrMapOvr>
  <p:transition>
    <p:blinds/>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DC59AF22-B60E-43AD-BAF5-552ADB984ACE}" type="slidenum">
              <a:rPr lang="en-US" altLang="zh-CN"/>
            </a:fld>
            <a:endParaRPr lang="en-US" altLang="zh-CN"/>
          </a:p>
        </p:txBody>
      </p:sp>
    </p:spTree>
  </p:cSld>
  <p:clrMapOvr>
    <a:masterClrMapping/>
  </p:clrMapOvr>
  <p:transition>
    <p:blinds/>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60088ADE-0F38-48F8-9816-292278A18B62}" type="slidenum">
              <a:rPr lang="en-US" altLang="zh-CN"/>
            </a:fld>
            <a:endParaRPr lang="en-US" altLang="zh-CN"/>
          </a:p>
        </p:txBody>
      </p:sp>
    </p:spTree>
  </p:cSld>
  <p:clrMapOvr>
    <a:masterClrMapping/>
  </p:clrMapOvr>
  <p:transition>
    <p:blinds/>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7D1FE535-93EF-4A27-8EF7-0CE5163FABAB}" type="slidenum">
              <a:rPr lang="en-US" altLang="zh-CN"/>
            </a:fld>
            <a:endParaRPr lang="en-US" altLang="zh-CN"/>
          </a:p>
        </p:txBody>
      </p:sp>
    </p:spTree>
  </p:cSld>
  <p:clrMapOvr>
    <a:masterClrMapping/>
  </p:clrMapOvr>
  <p:transition>
    <p:blinds/>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65329484-7845-4406-93E9-3EFA3EE8B29B}" type="slidenum">
              <a:rPr lang="en-US" altLang="zh-CN"/>
            </a:fld>
            <a:endParaRPr lang="en-US" altLang="zh-CN"/>
          </a:p>
        </p:txBody>
      </p:sp>
    </p:spTree>
  </p:cSld>
  <p:clrMapOvr>
    <a:masterClrMapping/>
  </p:clrMapOvr>
  <p:transition>
    <p:blinds/>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ABAF799-702B-4B6E-81BE-53A30992EC01}" type="slidenum">
              <a:rPr lang="en-US" altLang="zh-CN"/>
            </a:fld>
            <a:endParaRPr lang="en-US" altLang="zh-CN"/>
          </a:p>
        </p:txBody>
      </p:sp>
    </p:spTree>
  </p:cSld>
  <p:clrMapOvr>
    <a:masterClrMapping/>
  </p:clrMapOvr>
  <p:transition>
    <p:blinds/>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719263"/>
            <a:ext cx="8229600" cy="4411662"/>
          </a:xfrm>
        </p:spPr>
        <p:txBody>
          <a:bodyPr/>
          <a:lstStyle/>
          <a:p>
            <a:endParaRPr lang="zh-CN" altLang="en-US"/>
          </a:p>
        </p:txBody>
      </p:sp>
      <p:sp>
        <p:nvSpPr>
          <p:cNvPr id="4" name="日期占位符 3"/>
          <p:cNvSpPr>
            <a:spLocks noGrp="1"/>
          </p:cNvSpPr>
          <p:nvPr>
            <p:ph type="dt" sz="half" idx="10"/>
          </p:nvPr>
        </p:nvSpPr>
        <p:spPr>
          <a:xfrm>
            <a:off x="457200" y="6248400"/>
            <a:ext cx="2133600" cy="457200"/>
          </a:xfrm>
        </p:spPr>
        <p:txBody>
          <a:bodyPr/>
          <a:lstStyle>
            <a:lvl1pPr>
              <a:defRPr/>
            </a:lvl1pPr>
          </a:lstStyle>
          <a:p>
            <a:endParaRPr lang="en-US" altLang="zh-CN"/>
          </a:p>
        </p:txBody>
      </p:sp>
      <p:sp>
        <p:nvSpPr>
          <p:cNvPr id="5" name="页脚占位符 4"/>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6" name="灯片编号占位符 5"/>
          <p:cNvSpPr>
            <a:spLocks noGrp="1"/>
          </p:cNvSpPr>
          <p:nvPr>
            <p:ph type="sldNum" sz="quarter" idx="12"/>
          </p:nvPr>
        </p:nvSpPr>
        <p:spPr>
          <a:xfrm>
            <a:off x="6553200" y="6248400"/>
            <a:ext cx="2133600" cy="457200"/>
          </a:xfrm>
        </p:spPr>
        <p:txBody>
          <a:bodyPr/>
          <a:lstStyle>
            <a:lvl1pPr>
              <a:defRPr/>
            </a:lvl1pPr>
          </a:lstStyle>
          <a:p>
            <a:fld id="{0E8ADC31-1F67-4E06-B0AD-F713119E4E2B}" type="slidenum">
              <a:rPr lang="en-US" altLang="zh-CN"/>
            </a:fld>
            <a:endParaRPr lang="en-US" altLang="zh-CN"/>
          </a:p>
        </p:txBody>
      </p:sp>
    </p:spTree>
  </p:cSld>
  <p:clrMapOvr>
    <a:masterClrMapping/>
  </p:clrMapOvr>
  <p:transition>
    <p:blinds/>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7314" name="Line 2"/>
          <p:cNvSpPr>
            <a:spLocks noChangeShapeType="1"/>
          </p:cNvSpPr>
          <p:nvPr/>
        </p:nvSpPr>
        <p:spPr bwMode="auto">
          <a:xfrm>
            <a:off x="7962900" y="152400"/>
            <a:ext cx="0" cy="1524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7315" name="Rectangle 3"/>
          <p:cNvSpPr>
            <a:spLocks noGrp="1" noChangeArrowheads="1"/>
          </p:cNvSpPr>
          <p:nvPr>
            <p:ph type="title"/>
          </p:nvPr>
        </p:nvSpPr>
        <p:spPr bwMode="auto">
          <a:xfrm>
            <a:off x="457200" y="122238"/>
            <a:ext cx="75438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en-US" altLang="zh-CN" smtClean="0"/>
              <a:t>单击此处编辑母版标题样式</a:t>
            </a:r>
            <a:endParaRPr lang="en-US" altLang="zh-CN" smtClean="0"/>
          </a:p>
        </p:txBody>
      </p:sp>
      <p:sp>
        <p:nvSpPr>
          <p:cNvPr id="397316" name="Rectangle 4"/>
          <p:cNvSpPr>
            <a:spLocks noGrp="1" noChangeArrowheads="1"/>
          </p:cNvSpPr>
          <p:nvPr>
            <p:ph type="body" idx="1"/>
          </p:nvPr>
        </p:nvSpPr>
        <p:spPr bwMode="auto">
          <a:xfrm>
            <a:off x="457200" y="1719263"/>
            <a:ext cx="82296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smtClean="0"/>
              <a:t>单击此处编辑母版文本样式</a:t>
            </a:r>
            <a:endParaRPr lang="en-US" altLang="zh-CN" smtClean="0"/>
          </a:p>
          <a:p>
            <a:pPr lvl="1"/>
            <a:r>
              <a:rPr lang="en-US" altLang="zh-CN" smtClean="0"/>
              <a:t>第二级</a:t>
            </a:r>
            <a:endParaRPr lang="en-US" altLang="zh-CN" smtClean="0"/>
          </a:p>
          <a:p>
            <a:pPr lvl="2"/>
            <a:r>
              <a:rPr lang="en-US" altLang="zh-CN" smtClean="0"/>
              <a:t>第三级</a:t>
            </a:r>
            <a:endParaRPr lang="en-US" altLang="zh-CN" smtClean="0"/>
          </a:p>
          <a:p>
            <a:pPr lvl="3"/>
            <a:r>
              <a:rPr lang="en-US" altLang="zh-CN" smtClean="0"/>
              <a:t>第四级</a:t>
            </a:r>
            <a:endParaRPr lang="en-US" altLang="zh-CN" smtClean="0"/>
          </a:p>
          <a:p>
            <a:pPr lvl="4"/>
            <a:r>
              <a:rPr lang="en-US" altLang="zh-CN" smtClean="0"/>
              <a:t>第五级</a:t>
            </a:r>
            <a:endParaRPr lang="en-US" altLang="zh-CN" smtClean="0"/>
          </a:p>
        </p:txBody>
      </p:sp>
      <p:sp>
        <p:nvSpPr>
          <p:cNvPr id="397317" name="Rectangle 5"/>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000"/>
            </a:lvl1pPr>
          </a:lstStyle>
          <a:p>
            <a:endParaRPr lang="en-US" altLang="zh-CN"/>
          </a:p>
        </p:txBody>
      </p:sp>
      <p:sp>
        <p:nvSpPr>
          <p:cNvPr id="397318" name="Rectangle 6"/>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000"/>
            </a:lvl1pPr>
          </a:lstStyle>
          <a:p>
            <a:endParaRPr lang="en-US" altLang="zh-CN"/>
          </a:p>
        </p:txBody>
      </p:sp>
      <p:sp>
        <p:nvSpPr>
          <p:cNvPr id="397319" name="Rectangle 7"/>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00"/>
            </a:lvl1pPr>
          </a:lstStyle>
          <a:p>
            <a:fld id="{3EFDA055-3A9A-4F9A-AE78-D51DF28D8C36}" type="slidenum">
              <a:rPr lang="en-US" altLang="zh-CN"/>
            </a:fld>
            <a:endParaRPr lang="en-US" altLang="zh-CN"/>
          </a:p>
        </p:txBody>
      </p:sp>
      <p:grpSp>
        <p:nvGrpSpPr>
          <p:cNvPr id="397320" name="Group 8"/>
          <p:cNvGrpSpPr/>
          <p:nvPr/>
        </p:nvGrpSpPr>
        <p:grpSpPr bwMode="auto">
          <a:xfrm>
            <a:off x="8153400" y="152400"/>
            <a:ext cx="792163" cy="1295400"/>
            <a:chOff x="5136" y="960"/>
            <a:chExt cx="528" cy="864"/>
          </a:xfrm>
        </p:grpSpPr>
        <p:sp>
          <p:nvSpPr>
            <p:cNvPr id="397321"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2"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3"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4"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5"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6"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7"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8"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29"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30"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31"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32"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33"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34"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35"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36"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37"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38"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39"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40"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41"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42"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43"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44"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45"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46"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47"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48"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49"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50"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7351"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blinds/>
  </p:transition>
  <p:timing>
    <p:tnLst>
      <p:par>
        <p:cTn id="1" dur="indefinite" restart="never" nodeType="tmRoot"/>
      </p:par>
    </p:tnLst>
  </p:timing>
  <p:hf hdr="0" ftr="0" dt="0"/>
  <p:txStyles>
    <p:titleStyle>
      <a:lvl1pPr algn="l" rtl="0" fontAlgn="base">
        <a:spcBef>
          <a:spcPct val="0"/>
        </a:spcBef>
        <a:spcAft>
          <a:spcPct val="0"/>
        </a:spcAft>
        <a:defRPr sz="3900" b="1">
          <a:solidFill>
            <a:schemeClr val="tx2"/>
          </a:solidFill>
          <a:latin typeface="+mj-lt"/>
          <a:ea typeface="+mj-ea"/>
          <a:cs typeface="+mj-cs"/>
        </a:defRPr>
      </a:lvl1pPr>
      <a:lvl2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fontAlgn="base">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fontAlgn="base">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fontAlgn="base">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wmf"/></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1.wmf"/><Relationship Id="rId1"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3.wmf"/><Relationship Id="rId1" Type="http://schemas.openxmlformats.org/officeDocument/2006/relationships/oleObject" Target="../embeddings/oleObject2.bin"/></Relationships>
</file>

<file path=ppt/slides/_rels/slide71.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5.wmf"/><Relationship Id="rId3" Type="http://schemas.openxmlformats.org/officeDocument/2006/relationships/oleObject" Target="../embeddings/oleObject4.bin"/><Relationship Id="rId2" Type="http://schemas.openxmlformats.org/officeDocument/2006/relationships/image" Target="../media/image14.wmf"/><Relationship Id="rId1" Type="http://schemas.openxmlformats.org/officeDocument/2006/relationships/oleObject" Target="../embeddings/oleObject3.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4"/>
          </p:nvPr>
        </p:nvSpPr>
        <p:spPr/>
        <p:txBody>
          <a:bodyPr/>
          <a:lstStyle/>
          <a:p>
            <a:fld id="{1AF98EFD-774C-45E6-B63D-FAC27B8D388D}" type="slidenum">
              <a:rPr lang="en-US" altLang="zh-CN"/>
            </a:fld>
            <a:endParaRPr lang="en-US" altLang="zh-CN"/>
          </a:p>
        </p:txBody>
      </p:sp>
      <p:sp>
        <p:nvSpPr>
          <p:cNvPr id="346114" name="Rectangle 2"/>
          <p:cNvSpPr>
            <a:spLocks noGrp="1" noChangeArrowheads="1"/>
          </p:cNvSpPr>
          <p:nvPr>
            <p:ph type="ctrTitle"/>
          </p:nvPr>
        </p:nvSpPr>
        <p:spPr>
          <a:xfrm>
            <a:off x="541338" y="1627188"/>
            <a:ext cx="6767512" cy="1081087"/>
          </a:xfrm>
        </p:spPr>
        <p:txBody>
          <a:bodyPr/>
          <a:lstStyle/>
          <a:p>
            <a:r>
              <a:rPr lang="zh-CN" altLang="en-US">
                <a:solidFill>
                  <a:srgbClr val="800000"/>
                </a:solidFill>
                <a:effectLst>
                  <a:outerShdw blurRad="38100" dist="38100" dir="2700000" algn="tl">
                    <a:srgbClr val="C0C0C0"/>
                  </a:outerShdw>
                </a:effectLst>
                <a:ea typeface="黑体" panose="02010609060101010101" pitchFamily="2" charset="-122"/>
              </a:rPr>
              <a:t>第</a:t>
            </a:r>
            <a:r>
              <a:rPr lang="en-US" altLang="zh-CN">
                <a:solidFill>
                  <a:srgbClr val="800000"/>
                </a:solidFill>
                <a:effectLst>
                  <a:outerShdw blurRad="38100" dist="38100" dir="2700000" algn="tl">
                    <a:srgbClr val="C0C0C0"/>
                  </a:outerShdw>
                </a:effectLst>
                <a:ea typeface="黑体" panose="02010609060101010101" pitchFamily="2" charset="-122"/>
              </a:rPr>
              <a:t>6</a:t>
            </a:r>
            <a:r>
              <a:rPr lang="zh-CN" altLang="en-US">
                <a:solidFill>
                  <a:srgbClr val="800000"/>
                </a:solidFill>
                <a:effectLst>
                  <a:outerShdw blurRad="38100" dist="38100" dir="2700000" algn="tl">
                    <a:srgbClr val="C0C0C0"/>
                  </a:outerShdw>
                </a:effectLst>
                <a:ea typeface="黑体" panose="02010609060101010101" pitchFamily="2" charset="-122"/>
              </a:rPr>
              <a:t>章    分支限界法</a:t>
            </a:r>
            <a:endParaRPr lang="zh-CN" altLang="en-US">
              <a:solidFill>
                <a:srgbClr val="800000"/>
              </a:solidFill>
              <a:effectLst>
                <a:outerShdw blurRad="38100" dist="38100" dir="2700000" algn="tl">
                  <a:srgbClr val="C0C0C0"/>
                </a:outerShdw>
              </a:effectLst>
              <a:ea typeface="黑体" panose="02010609060101010101" pitchFamily="2" charset="-122"/>
            </a:endParaRPr>
          </a:p>
        </p:txBody>
      </p:sp>
    </p:spTree>
  </p:cSld>
  <p:clrMapOvr>
    <a:masterClrMapping/>
  </p:clrMapOvr>
  <p:transition>
    <p:blinds/>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B6F5B958-187E-4B7F-B12B-3E038A650C96}" type="slidenum">
              <a:rPr lang="en-US" altLang="zh-CN"/>
            </a:fld>
            <a:endParaRPr lang="en-US" altLang="zh-CN"/>
          </a:p>
        </p:txBody>
      </p:sp>
      <p:sp>
        <p:nvSpPr>
          <p:cNvPr id="342019" name="Rectangle 3"/>
          <p:cNvSpPr>
            <a:spLocks noGrp="1" noChangeArrowheads="1"/>
          </p:cNvSpPr>
          <p:nvPr>
            <p:ph type="body" idx="1"/>
          </p:nvPr>
        </p:nvSpPr>
        <p:spPr>
          <a:xfrm>
            <a:off x="301625" y="333375"/>
            <a:ext cx="8540750" cy="6119813"/>
          </a:xfrm>
        </p:spPr>
        <p:txBody>
          <a:bodyPr/>
          <a:lstStyle/>
          <a:p>
            <a:pPr>
              <a:lnSpc>
                <a:spcPct val="200000"/>
              </a:lnSpc>
              <a:buFont typeface="Symbol" panose="05050102010706020507" pitchFamily="18" charset="2"/>
              <a:buNone/>
            </a:pPr>
            <a:r>
              <a:rPr lang="zh-CN" altLang="en-US" sz="2400" b="1">
                <a:solidFill>
                  <a:srgbClr val="3907F1"/>
                </a:solidFill>
              </a:rPr>
              <a:t>学习要点</a:t>
            </a:r>
            <a:endParaRPr lang="zh-CN" altLang="en-US" sz="2400" b="1">
              <a:solidFill>
                <a:srgbClr val="3907F1"/>
              </a:solidFill>
            </a:endParaRPr>
          </a:p>
          <a:p>
            <a:pPr>
              <a:lnSpc>
                <a:spcPct val="130000"/>
              </a:lnSpc>
              <a:buFont typeface="Symbol" panose="05050102010706020507" pitchFamily="18" charset="2"/>
              <a:buChar char="·"/>
            </a:pPr>
            <a:r>
              <a:rPr lang="zh-CN" altLang="en-US" sz="1800"/>
              <a:t>理解分支限界法的剪枝搜索策略。</a:t>
            </a:r>
            <a:endParaRPr lang="zh-CN" altLang="en-US" sz="1800"/>
          </a:p>
          <a:p>
            <a:pPr>
              <a:lnSpc>
                <a:spcPct val="130000"/>
              </a:lnSpc>
              <a:buFont typeface="Symbol" panose="05050102010706020507" pitchFamily="18" charset="2"/>
              <a:buChar char="·"/>
            </a:pPr>
            <a:r>
              <a:rPr lang="zh-CN" altLang="en-US" sz="1800"/>
              <a:t>掌握分支限界法的算法框架</a:t>
            </a:r>
            <a:endParaRPr lang="zh-CN" altLang="en-US" sz="1800"/>
          </a:p>
          <a:p>
            <a:pPr>
              <a:lnSpc>
                <a:spcPct val="130000"/>
              </a:lnSpc>
              <a:buFont typeface="Symbol" panose="05050102010706020507" pitchFamily="18" charset="2"/>
              <a:buNone/>
            </a:pPr>
            <a:r>
              <a:rPr lang="zh-CN" altLang="en-US" sz="1800"/>
              <a:t>（</a:t>
            </a:r>
            <a:r>
              <a:rPr lang="en-US" altLang="zh-CN" sz="1800"/>
              <a:t>1</a:t>
            </a:r>
            <a:r>
              <a:rPr lang="zh-CN" altLang="en-US" sz="1800"/>
              <a:t>）队列式</a:t>
            </a:r>
            <a:r>
              <a:rPr lang="en-US" altLang="zh-CN" sz="1800"/>
              <a:t>(FIFO)</a:t>
            </a:r>
            <a:r>
              <a:rPr lang="zh-CN" altLang="en-US" sz="1800"/>
              <a:t>分支限界法</a:t>
            </a:r>
            <a:endParaRPr lang="zh-CN" altLang="en-US" sz="1800"/>
          </a:p>
          <a:p>
            <a:pPr>
              <a:lnSpc>
                <a:spcPct val="130000"/>
              </a:lnSpc>
              <a:buFont typeface="Symbol" panose="05050102010706020507" pitchFamily="18" charset="2"/>
              <a:buNone/>
            </a:pPr>
            <a:r>
              <a:rPr lang="zh-CN" altLang="en-US" sz="1800"/>
              <a:t>（</a:t>
            </a:r>
            <a:r>
              <a:rPr lang="en-US" altLang="zh-CN" sz="1800"/>
              <a:t>2</a:t>
            </a:r>
            <a:r>
              <a:rPr lang="zh-CN" altLang="en-US" sz="1800"/>
              <a:t>）优先队列式分支限界法   </a:t>
            </a:r>
            <a:endParaRPr lang="zh-CN" altLang="en-US" sz="1800">
              <a:sym typeface="Symbol" panose="05050102010706020507" pitchFamily="18" charset="2"/>
            </a:endParaRPr>
          </a:p>
          <a:p>
            <a:pPr>
              <a:lnSpc>
                <a:spcPct val="130000"/>
              </a:lnSpc>
              <a:buFont typeface="Symbol" panose="05050102010706020507" pitchFamily="18" charset="2"/>
              <a:buChar char="·"/>
            </a:pPr>
            <a:r>
              <a:rPr lang="zh-CN" altLang="en-US" sz="1800"/>
              <a:t>通过应用范例学习分支限界法的设计策略。</a:t>
            </a:r>
            <a:endParaRPr lang="zh-CN" altLang="en-US" sz="1800"/>
          </a:p>
          <a:p>
            <a:pPr>
              <a:lnSpc>
                <a:spcPct val="130000"/>
              </a:lnSpc>
              <a:buFont typeface="Symbol" panose="05050102010706020507" pitchFamily="18" charset="2"/>
              <a:buNone/>
            </a:pPr>
            <a:r>
              <a:rPr lang="zh-CN" altLang="en-US" sz="1800"/>
              <a:t>（</a:t>
            </a:r>
            <a:r>
              <a:rPr lang="en-US" altLang="zh-CN" sz="1800"/>
              <a:t>1</a:t>
            </a:r>
            <a:r>
              <a:rPr lang="zh-CN" altLang="en-US" sz="1800"/>
              <a:t>）单源最短路径问题</a:t>
            </a:r>
            <a:endParaRPr lang="zh-CN" altLang="en-US" sz="1800"/>
          </a:p>
          <a:p>
            <a:pPr>
              <a:lnSpc>
                <a:spcPct val="130000"/>
              </a:lnSpc>
              <a:buFont typeface="Symbol" panose="05050102010706020507" pitchFamily="18" charset="2"/>
              <a:buNone/>
            </a:pPr>
            <a:r>
              <a:rPr lang="zh-CN" altLang="en-US" sz="1800"/>
              <a:t>（</a:t>
            </a:r>
            <a:r>
              <a:rPr lang="en-US" altLang="zh-CN" sz="1800"/>
              <a:t>2</a:t>
            </a:r>
            <a:r>
              <a:rPr lang="zh-CN" altLang="en-US" sz="1800"/>
              <a:t>）装载问题；</a:t>
            </a:r>
            <a:endParaRPr lang="zh-CN" altLang="en-US" sz="1800"/>
          </a:p>
          <a:p>
            <a:pPr>
              <a:lnSpc>
                <a:spcPct val="130000"/>
              </a:lnSpc>
              <a:buFont typeface="Symbol" panose="05050102010706020507" pitchFamily="18" charset="2"/>
              <a:buNone/>
            </a:pPr>
            <a:r>
              <a:rPr lang="zh-CN" altLang="en-US" sz="1800"/>
              <a:t>（</a:t>
            </a:r>
            <a:r>
              <a:rPr lang="en-US" altLang="zh-CN" sz="1800"/>
              <a:t>3</a:t>
            </a:r>
            <a:r>
              <a:rPr lang="zh-CN" altLang="en-US" sz="1800"/>
              <a:t>）布线问题</a:t>
            </a:r>
            <a:endParaRPr lang="zh-CN" altLang="en-US" sz="1800"/>
          </a:p>
          <a:p>
            <a:pPr>
              <a:lnSpc>
                <a:spcPct val="130000"/>
              </a:lnSpc>
              <a:buFont typeface="Symbol" panose="05050102010706020507" pitchFamily="18" charset="2"/>
              <a:buNone/>
            </a:pPr>
            <a:r>
              <a:rPr lang="zh-CN" altLang="en-US" sz="1800"/>
              <a:t>（</a:t>
            </a:r>
            <a:r>
              <a:rPr lang="en-US" altLang="zh-CN" sz="1800"/>
              <a:t>4</a:t>
            </a:r>
            <a:r>
              <a:rPr lang="zh-CN" altLang="en-US" sz="1800"/>
              <a:t>）</a:t>
            </a:r>
            <a:r>
              <a:rPr lang="en-US" altLang="zh-CN" sz="1800"/>
              <a:t>0-1</a:t>
            </a:r>
            <a:r>
              <a:rPr lang="zh-CN" altLang="en-US" sz="1800"/>
              <a:t>背包问题；</a:t>
            </a:r>
            <a:endParaRPr lang="zh-CN" altLang="en-US" sz="1800"/>
          </a:p>
          <a:p>
            <a:pPr>
              <a:lnSpc>
                <a:spcPct val="130000"/>
              </a:lnSpc>
              <a:buFont typeface="Symbol" panose="05050102010706020507" pitchFamily="18" charset="2"/>
              <a:buNone/>
            </a:pPr>
            <a:r>
              <a:rPr lang="zh-CN" altLang="en-US" sz="1800"/>
              <a:t>（</a:t>
            </a:r>
            <a:r>
              <a:rPr lang="en-US" altLang="zh-CN" sz="1800"/>
              <a:t>5</a:t>
            </a:r>
            <a:r>
              <a:rPr lang="zh-CN" altLang="en-US" sz="1800"/>
              <a:t>）最大团问题；</a:t>
            </a:r>
            <a:endParaRPr lang="zh-CN" altLang="en-US" sz="1800"/>
          </a:p>
          <a:p>
            <a:pPr>
              <a:lnSpc>
                <a:spcPct val="130000"/>
              </a:lnSpc>
              <a:buFont typeface="Symbol" panose="05050102010706020507" pitchFamily="18" charset="2"/>
              <a:buNone/>
            </a:pPr>
            <a:r>
              <a:rPr lang="zh-CN" altLang="en-US" sz="1800"/>
              <a:t>（</a:t>
            </a:r>
            <a:r>
              <a:rPr lang="en-US" altLang="zh-CN" sz="1800"/>
              <a:t>6</a:t>
            </a:r>
            <a:r>
              <a:rPr lang="zh-CN" altLang="en-US" sz="1800"/>
              <a:t>）旅行售货员问题</a:t>
            </a:r>
            <a:endParaRPr lang="zh-CN" altLang="en-US" sz="1800"/>
          </a:p>
          <a:p>
            <a:pPr>
              <a:lnSpc>
                <a:spcPct val="130000"/>
              </a:lnSpc>
              <a:buFont typeface="Symbol" panose="05050102010706020507" pitchFamily="18" charset="2"/>
              <a:buNone/>
            </a:pPr>
            <a:r>
              <a:rPr lang="zh-CN" altLang="en-US" sz="1800"/>
              <a:t>（</a:t>
            </a:r>
            <a:r>
              <a:rPr lang="en-US" altLang="zh-CN" sz="1800"/>
              <a:t>7</a:t>
            </a:r>
            <a:r>
              <a:rPr lang="zh-CN" altLang="en-US" sz="1800"/>
              <a:t>）电路板排列问题</a:t>
            </a:r>
            <a:endParaRPr lang="zh-CN" altLang="en-US" sz="1800"/>
          </a:p>
          <a:p>
            <a:pPr>
              <a:lnSpc>
                <a:spcPct val="130000"/>
              </a:lnSpc>
              <a:buFont typeface="Symbol" panose="05050102010706020507" pitchFamily="18" charset="2"/>
              <a:buNone/>
            </a:pPr>
            <a:r>
              <a:rPr lang="zh-CN" altLang="en-US" sz="1800"/>
              <a:t>（</a:t>
            </a:r>
            <a:r>
              <a:rPr lang="en-US" altLang="zh-CN" sz="1800"/>
              <a:t>8</a:t>
            </a:r>
            <a:r>
              <a:rPr lang="zh-CN" altLang="en-US" sz="1800"/>
              <a:t>）批处理作业调度问题</a:t>
            </a:r>
            <a:endParaRPr lang="zh-CN" altLang="en-US" sz="1800"/>
          </a:p>
        </p:txBody>
      </p:sp>
    </p:spTree>
  </p:cSld>
  <p:clrMapOvr>
    <a:masterClrMapping/>
  </p:clrMapOvr>
  <p:transition>
    <p:blinds/>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D27E8443-32BD-4DCC-A3F1-5C140F709B4F}" type="slidenum">
              <a:rPr lang="en-US" altLang="zh-CN"/>
            </a:fld>
            <a:endParaRPr lang="en-US" altLang="zh-CN"/>
          </a:p>
        </p:txBody>
      </p:sp>
      <p:pic>
        <p:nvPicPr>
          <p:cNvPr id="45670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293688"/>
            <a:ext cx="7812088" cy="656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Tree>
  </p:cSld>
  <p:clrMapOvr>
    <a:masterClrMapping/>
  </p:clrMapOvr>
  <p:transition>
    <p:blinds/>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4FB795AE-4FB8-48C6-8978-DF94DD3574E5}" type="slidenum">
              <a:rPr lang="en-US" altLang="zh-CN"/>
            </a:fld>
            <a:endParaRPr lang="en-US" altLang="zh-CN"/>
          </a:p>
        </p:txBody>
      </p:sp>
      <p:sp>
        <p:nvSpPr>
          <p:cNvPr id="440322" name="Rectangle 2"/>
          <p:cNvSpPr>
            <a:spLocks noGrp="1" noChangeArrowheads="1"/>
          </p:cNvSpPr>
          <p:nvPr>
            <p:ph type="title"/>
          </p:nvPr>
        </p:nvSpPr>
        <p:spPr/>
        <p:txBody>
          <a:bodyPr/>
          <a:lstStyle/>
          <a:p>
            <a:r>
              <a:rPr lang="zh-CN" altLang="en-US" sz="3000"/>
              <a:t>6.1	分支限界法的基本思想</a:t>
            </a:r>
            <a:endParaRPr lang="zh-CN" altLang="en-US" sz="3000"/>
          </a:p>
        </p:txBody>
      </p:sp>
      <p:sp>
        <p:nvSpPr>
          <p:cNvPr id="440323" name="Text Box 3"/>
          <p:cNvSpPr txBox="1">
            <a:spLocks noChangeArrowheads="1"/>
          </p:cNvSpPr>
          <p:nvPr/>
        </p:nvSpPr>
        <p:spPr bwMode="auto">
          <a:xfrm>
            <a:off x="323850" y="1697038"/>
            <a:ext cx="7086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spcBef>
                <a:spcPct val="50000"/>
              </a:spcBef>
            </a:pPr>
            <a:r>
              <a:rPr kumimoji="1" lang="zh-CN" altLang="en-US" sz="3200" b="1">
                <a:solidFill>
                  <a:schemeClr val="accent2"/>
                </a:solidFill>
                <a:latin typeface="Times New Roman" panose="02020603050405020304" pitchFamily="18" charset="0"/>
                <a:ea typeface="黑体" panose="02010609060101010101" pitchFamily="2" charset="-122"/>
              </a:rPr>
              <a:t>分支限界法与回溯法</a:t>
            </a:r>
            <a:endParaRPr kumimoji="1" lang="zh-CN" altLang="en-US" sz="3200" b="1">
              <a:solidFill>
                <a:schemeClr val="accent2"/>
              </a:solidFill>
              <a:latin typeface="Times New Roman" panose="02020603050405020304" pitchFamily="18" charset="0"/>
              <a:ea typeface="黑体" panose="02010609060101010101" pitchFamily="2" charset="-122"/>
            </a:endParaRPr>
          </a:p>
        </p:txBody>
      </p:sp>
      <p:sp>
        <p:nvSpPr>
          <p:cNvPr id="440324" name="Text Box 4"/>
          <p:cNvSpPr txBox="1">
            <a:spLocks noChangeArrowheads="1"/>
          </p:cNvSpPr>
          <p:nvPr/>
        </p:nvSpPr>
        <p:spPr bwMode="auto">
          <a:xfrm>
            <a:off x="395288" y="2503488"/>
            <a:ext cx="8569325"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b="1">
                <a:ea typeface="新宋体" panose="02010609030101010101" charset="-122"/>
              </a:rPr>
              <a:t>（</a:t>
            </a:r>
            <a:r>
              <a:rPr lang="en-US" altLang="zh-CN" sz="2400" b="1">
                <a:ea typeface="新宋体" panose="02010609030101010101" charset="-122"/>
              </a:rPr>
              <a:t>1</a:t>
            </a:r>
            <a:r>
              <a:rPr lang="zh-CN" altLang="en-US" sz="2400" b="1">
                <a:ea typeface="新宋体" panose="02010609030101010101" charset="-122"/>
              </a:rPr>
              <a:t>）</a:t>
            </a:r>
            <a:r>
              <a:rPr lang="zh-CN" altLang="en-US" sz="2400" b="1">
                <a:solidFill>
                  <a:srgbClr val="CC0000"/>
                </a:solidFill>
                <a:ea typeface="新宋体" panose="02010609030101010101" charset="-122"/>
              </a:rPr>
              <a:t>求解目标</a:t>
            </a:r>
            <a:r>
              <a:rPr lang="zh-CN" altLang="en-US" sz="2400" b="1">
                <a:ea typeface="新宋体" panose="02010609030101010101" charset="-122"/>
              </a:rPr>
              <a:t>：</a:t>
            </a:r>
            <a:r>
              <a:rPr lang="zh-CN" altLang="en-US" sz="2400" b="1">
                <a:latin typeface="新宋体" panose="02010609030101010101" charset="-122"/>
                <a:ea typeface="新宋体" panose="02010609030101010101" charset="-122"/>
              </a:rPr>
              <a:t>回溯法的求解目标是找出解空间树中满足约束条件的</a:t>
            </a:r>
            <a:r>
              <a:rPr lang="zh-CN" altLang="en-US" sz="2400" b="1">
                <a:solidFill>
                  <a:srgbClr val="CC0000"/>
                </a:solidFill>
                <a:latin typeface="新宋体" panose="02010609030101010101" charset="-122"/>
                <a:ea typeface="新宋体" panose="02010609030101010101" charset="-122"/>
              </a:rPr>
              <a:t>所有解</a:t>
            </a:r>
            <a:r>
              <a:rPr lang="zh-CN" altLang="en-US" sz="2400" b="1">
                <a:latin typeface="新宋体" panose="02010609030101010101" charset="-122"/>
                <a:ea typeface="新宋体" panose="02010609030101010101" charset="-122"/>
              </a:rPr>
              <a:t>，而分支限界法的求解目标则是找出满足约束条件的</a:t>
            </a:r>
            <a:r>
              <a:rPr lang="zh-CN" altLang="en-US" sz="2400" b="1">
                <a:solidFill>
                  <a:srgbClr val="CC0000"/>
                </a:solidFill>
                <a:latin typeface="新宋体" panose="02010609030101010101" charset="-122"/>
                <a:ea typeface="新宋体" panose="02010609030101010101" charset="-122"/>
              </a:rPr>
              <a:t>一个解</a:t>
            </a:r>
            <a:r>
              <a:rPr lang="zh-CN" altLang="en-US" sz="2400" b="1">
                <a:latin typeface="新宋体" panose="02010609030101010101" charset="-122"/>
                <a:ea typeface="新宋体" panose="02010609030101010101" charset="-122"/>
              </a:rPr>
              <a:t>，或是在满足约束条件的解中找出在某种意义下的</a:t>
            </a:r>
            <a:r>
              <a:rPr lang="zh-CN" altLang="en-US" sz="2400" b="1">
                <a:solidFill>
                  <a:srgbClr val="CC0000"/>
                </a:solidFill>
                <a:latin typeface="新宋体" panose="02010609030101010101" charset="-122"/>
                <a:ea typeface="新宋体" panose="02010609030101010101" charset="-122"/>
              </a:rPr>
              <a:t>最优解</a:t>
            </a:r>
            <a:r>
              <a:rPr lang="zh-CN" altLang="en-US" sz="2400" b="1">
                <a:latin typeface="新宋体" panose="02010609030101010101" charset="-122"/>
                <a:ea typeface="新宋体" panose="02010609030101010101" charset="-122"/>
              </a:rPr>
              <a:t>。</a:t>
            </a:r>
            <a:endParaRPr lang="zh-CN" altLang="en-US" sz="2400" b="1">
              <a:latin typeface="新宋体" panose="02010609030101010101" charset="-122"/>
              <a:ea typeface="新宋体" panose="02010609030101010101" charset="-122"/>
            </a:endParaRPr>
          </a:p>
          <a:p>
            <a:endParaRPr lang="zh-CN" altLang="en-US" sz="2400" b="1">
              <a:latin typeface="新宋体" panose="02010609030101010101" charset="-122"/>
              <a:ea typeface="新宋体" panose="02010609030101010101" charset="-122"/>
            </a:endParaRPr>
          </a:p>
          <a:p>
            <a:r>
              <a:rPr lang="zh-CN" altLang="en-US" sz="2400" b="1">
                <a:ea typeface="新宋体" panose="02010609030101010101" charset="-122"/>
              </a:rPr>
              <a:t>（</a:t>
            </a:r>
            <a:r>
              <a:rPr lang="en-US" altLang="zh-CN" sz="2400" b="1">
                <a:ea typeface="新宋体" panose="02010609030101010101" charset="-122"/>
              </a:rPr>
              <a:t>2</a:t>
            </a:r>
            <a:r>
              <a:rPr lang="zh-CN" altLang="en-US" sz="2400" b="1">
                <a:ea typeface="新宋体" panose="02010609030101010101" charset="-122"/>
              </a:rPr>
              <a:t>）</a:t>
            </a:r>
            <a:r>
              <a:rPr lang="zh-CN" altLang="en-US" sz="2400" b="1">
                <a:solidFill>
                  <a:srgbClr val="CC0000"/>
                </a:solidFill>
                <a:latin typeface="新宋体" panose="02010609030101010101" charset="-122"/>
                <a:ea typeface="新宋体" panose="02010609030101010101" charset="-122"/>
              </a:rPr>
              <a:t>搜索方式的不同</a:t>
            </a:r>
            <a:r>
              <a:rPr lang="zh-CN" altLang="en-US" sz="2400" b="1">
                <a:latin typeface="新宋体" panose="02010609030101010101" charset="-122"/>
                <a:ea typeface="新宋体" panose="02010609030101010101" charset="-122"/>
              </a:rPr>
              <a:t>：回溯法以</a:t>
            </a:r>
            <a:r>
              <a:rPr lang="zh-CN" altLang="en-US" sz="2400" b="1">
                <a:solidFill>
                  <a:srgbClr val="CC0000"/>
                </a:solidFill>
                <a:latin typeface="新宋体" panose="02010609030101010101" charset="-122"/>
                <a:ea typeface="新宋体" panose="02010609030101010101" charset="-122"/>
              </a:rPr>
              <a:t>深度优先</a:t>
            </a:r>
            <a:r>
              <a:rPr lang="zh-CN" altLang="en-US" sz="2400" b="1">
                <a:latin typeface="新宋体" panose="02010609030101010101" charset="-122"/>
                <a:ea typeface="新宋体" panose="02010609030101010101" charset="-122"/>
              </a:rPr>
              <a:t>的方式搜索解空间树，而分支限界法则以</a:t>
            </a:r>
            <a:r>
              <a:rPr lang="zh-CN" altLang="en-US" sz="2400" b="1">
                <a:solidFill>
                  <a:srgbClr val="CC0000"/>
                </a:solidFill>
                <a:latin typeface="新宋体" panose="02010609030101010101" charset="-122"/>
                <a:ea typeface="新宋体" panose="02010609030101010101" charset="-122"/>
              </a:rPr>
              <a:t>广度优先</a:t>
            </a:r>
            <a:r>
              <a:rPr lang="zh-CN" altLang="en-US" sz="2400" b="1">
                <a:latin typeface="新宋体" panose="02010609030101010101" charset="-122"/>
                <a:ea typeface="新宋体" panose="02010609030101010101" charset="-122"/>
              </a:rPr>
              <a:t>或以</a:t>
            </a:r>
            <a:r>
              <a:rPr lang="zh-CN" altLang="en-US" sz="2400" b="1">
                <a:solidFill>
                  <a:srgbClr val="CC0000"/>
                </a:solidFill>
                <a:latin typeface="新宋体" panose="02010609030101010101" charset="-122"/>
                <a:ea typeface="新宋体" panose="02010609030101010101" charset="-122"/>
              </a:rPr>
              <a:t>最小耗费优先</a:t>
            </a:r>
            <a:r>
              <a:rPr lang="zh-CN" altLang="en-US" sz="2400" b="1">
                <a:latin typeface="新宋体" panose="02010609030101010101" charset="-122"/>
                <a:ea typeface="新宋体" panose="02010609030101010101" charset="-122"/>
              </a:rPr>
              <a:t>的方式搜索解空间树。 </a:t>
            </a:r>
            <a:endParaRPr lang="zh-CN" altLang="en-US" sz="2400" b="1">
              <a:latin typeface="新宋体" panose="02010609030101010101" charset="-122"/>
              <a:ea typeface="新宋体" panose="02010609030101010101" charset="-122"/>
            </a:endParaRPr>
          </a:p>
          <a:p>
            <a:endParaRPr lang="zh-CN" altLang="en-US" sz="2400" b="1">
              <a:latin typeface="新宋体" panose="02010609030101010101" charset="-122"/>
              <a:ea typeface="新宋体" panose="02010609030101010101"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40323"/>
                                        </p:tgtEl>
                                        <p:attrNameLst>
                                          <p:attrName>style.visibility</p:attrName>
                                        </p:attrNameLst>
                                      </p:cBhvr>
                                      <p:to>
                                        <p:strVal val="visible"/>
                                      </p:to>
                                    </p:set>
                                    <p:anim calcmode="lin" valueType="num">
                                      <p:cBhvr additive="base">
                                        <p:cTn id="7" dur="500" fill="hold"/>
                                        <p:tgtEl>
                                          <p:spTgt spid="440323"/>
                                        </p:tgtEl>
                                        <p:attrNameLst>
                                          <p:attrName>ppt_x</p:attrName>
                                        </p:attrNameLst>
                                      </p:cBhvr>
                                      <p:tavLst>
                                        <p:tav tm="0">
                                          <p:val>
                                            <p:strVal val="1+#ppt_w/2"/>
                                          </p:val>
                                        </p:tav>
                                        <p:tav tm="100000">
                                          <p:val>
                                            <p:strVal val="#ppt_x"/>
                                          </p:val>
                                        </p:tav>
                                      </p:tavLst>
                                    </p:anim>
                                    <p:anim calcmode="lin" valueType="num">
                                      <p:cBhvr additive="base">
                                        <p:cTn id="8" dur="500" fill="hold"/>
                                        <p:tgtEl>
                                          <p:spTgt spid="4403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40324">
                                            <p:txEl>
                                              <p:pRg st="0" end="0"/>
                                            </p:txEl>
                                          </p:spTgt>
                                        </p:tgtEl>
                                        <p:attrNameLst>
                                          <p:attrName>style.visibility</p:attrName>
                                        </p:attrNameLst>
                                      </p:cBhvr>
                                      <p:to>
                                        <p:strVal val="visible"/>
                                      </p:to>
                                    </p:set>
                                    <p:animEffect transition="in" filter="blinds(horizontal)">
                                      <p:cBhvr>
                                        <p:cTn id="13" dur="500"/>
                                        <p:tgtEl>
                                          <p:spTgt spid="440324">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440324">
                                            <p:txEl>
                                              <p:pRg st="2" end="2"/>
                                            </p:txEl>
                                          </p:spTgt>
                                        </p:tgtEl>
                                        <p:attrNameLst>
                                          <p:attrName>style.visibility</p:attrName>
                                        </p:attrNameLst>
                                      </p:cBhvr>
                                      <p:to>
                                        <p:strVal val="visible"/>
                                      </p:to>
                                    </p:set>
                                    <p:animEffect transition="in" filter="blinds(horizontal)">
                                      <p:cBhvr>
                                        <p:cTn id="18" dur="500"/>
                                        <p:tgtEl>
                                          <p:spTgt spid="44032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3" grpId="0" autoUpdateAnimBg="0"/>
      <p:bldP spid="440324" grpId="0" autoUpdateAnimBg="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8288F5C2-4C29-4A39-B79B-FEA164F7F3CE}" type="slidenum">
              <a:rPr lang="en-US" altLang="zh-CN"/>
            </a:fld>
            <a:endParaRPr lang="en-US" altLang="zh-CN"/>
          </a:p>
        </p:txBody>
      </p:sp>
      <p:sp>
        <p:nvSpPr>
          <p:cNvPr id="284674" name="Rectangle 2"/>
          <p:cNvSpPr>
            <a:spLocks noGrp="1" noChangeArrowheads="1"/>
          </p:cNvSpPr>
          <p:nvPr>
            <p:ph type="title"/>
          </p:nvPr>
        </p:nvSpPr>
        <p:spPr/>
        <p:txBody>
          <a:bodyPr/>
          <a:lstStyle/>
          <a:p>
            <a:r>
              <a:rPr lang="zh-CN" altLang="en-US" sz="3000"/>
              <a:t>6.1	分支限界法的基本思想</a:t>
            </a:r>
            <a:endParaRPr lang="zh-CN" altLang="en-US" sz="3000"/>
          </a:p>
        </p:txBody>
      </p:sp>
      <p:sp>
        <p:nvSpPr>
          <p:cNvPr id="284676" name="Text Box 4"/>
          <p:cNvSpPr txBox="1">
            <a:spLocks noChangeArrowheads="1"/>
          </p:cNvSpPr>
          <p:nvPr/>
        </p:nvSpPr>
        <p:spPr bwMode="auto">
          <a:xfrm>
            <a:off x="323850" y="1697038"/>
            <a:ext cx="7086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spcBef>
                <a:spcPct val="50000"/>
              </a:spcBef>
            </a:pPr>
            <a:r>
              <a:rPr kumimoji="1" lang="zh-CN" altLang="en-US" sz="3200" b="1">
                <a:solidFill>
                  <a:schemeClr val="accent2"/>
                </a:solidFill>
                <a:latin typeface="Times New Roman" panose="02020603050405020304" pitchFamily="18" charset="0"/>
                <a:ea typeface="黑体" panose="02010609060101010101" pitchFamily="2" charset="-122"/>
              </a:rPr>
              <a:t>分支限界法与回溯法</a:t>
            </a:r>
            <a:endParaRPr kumimoji="1" lang="zh-CN" altLang="en-US" sz="3200" b="1">
              <a:solidFill>
                <a:schemeClr val="accent2"/>
              </a:solidFill>
              <a:latin typeface="Times New Roman" panose="02020603050405020304" pitchFamily="18" charset="0"/>
              <a:ea typeface="黑体" panose="02010609060101010101" pitchFamily="2" charset="-122"/>
            </a:endParaRPr>
          </a:p>
        </p:txBody>
      </p:sp>
      <p:sp>
        <p:nvSpPr>
          <p:cNvPr id="284677" name="Text Box 5"/>
          <p:cNvSpPr txBox="1">
            <a:spLocks noChangeArrowheads="1"/>
          </p:cNvSpPr>
          <p:nvPr/>
        </p:nvSpPr>
        <p:spPr bwMode="auto">
          <a:xfrm>
            <a:off x="395288" y="2519363"/>
            <a:ext cx="8569325"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r>
              <a:rPr lang="zh-CN" altLang="en-US" sz="2400" b="1">
                <a:ea typeface="新宋体" panose="02010609030101010101" charset="-122"/>
              </a:rPr>
              <a:t>（</a:t>
            </a:r>
            <a:r>
              <a:rPr lang="en-US" altLang="zh-CN" sz="2400" b="1">
                <a:ea typeface="新宋体" panose="02010609030101010101" charset="-122"/>
              </a:rPr>
              <a:t>3</a:t>
            </a:r>
            <a:r>
              <a:rPr lang="zh-CN" altLang="en-US" sz="2400" b="1">
                <a:ea typeface="新宋体" panose="02010609030101010101" charset="-122"/>
              </a:rPr>
              <a:t>）</a:t>
            </a:r>
            <a:r>
              <a:rPr lang="zh-CN" altLang="en-US" sz="2400" b="1">
                <a:solidFill>
                  <a:srgbClr val="CC0000"/>
                </a:solidFill>
                <a:latin typeface="新宋体" panose="02010609030101010101" charset="-122"/>
                <a:ea typeface="新宋体" panose="02010609030101010101" charset="-122"/>
              </a:rPr>
              <a:t>对扩展结点的扩展方式不同</a:t>
            </a:r>
            <a:r>
              <a:rPr lang="zh-CN" altLang="en-US" sz="2400" b="1">
                <a:latin typeface="新宋体" panose="02010609030101010101" charset="-122"/>
                <a:ea typeface="新宋体" panose="02010609030101010101" charset="-122"/>
              </a:rPr>
              <a:t>：分支限界法中，每一个活结点只有一次机会成为扩展结点。活结点一旦成为扩展结点，就一次性产生其所有儿子结点。</a:t>
            </a:r>
            <a:endParaRPr lang="zh-CN" altLang="en-US" sz="2400" b="1">
              <a:latin typeface="新宋体" panose="02010609030101010101" charset="-122"/>
              <a:ea typeface="新宋体" panose="02010609030101010101" charset="-122"/>
            </a:endParaRPr>
          </a:p>
          <a:p>
            <a:endParaRPr lang="zh-CN" altLang="en-US" sz="2400" b="1">
              <a:latin typeface="新宋体" panose="02010609030101010101" charset="-122"/>
              <a:ea typeface="新宋体" panose="02010609030101010101" charset="-122"/>
            </a:endParaRPr>
          </a:p>
          <a:p>
            <a:r>
              <a:rPr lang="zh-CN" altLang="en-US" sz="2400" b="1">
                <a:ea typeface="新宋体" panose="02010609030101010101" charset="-122"/>
              </a:rPr>
              <a:t>（</a:t>
            </a:r>
            <a:r>
              <a:rPr lang="en-US" altLang="zh-CN" sz="2400" b="1">
                <a:ea typeface="新宋体" panose="02010609030101010101" charset="-122"/>
              </a:rPr>
              <a:t>4</a:t>
            </a:r>
            <a:r>
              <a:rPr lang="zh-CN" altLang="en-US" sz="2400" b="1">
                <a:ea typeface="新宋体" panose="02010609030101010101" charset="-122"/>
              </a:rPr>
              <a:t>）</a:t>
            </a:r>
            <a:r>
              <a:rPr lang="zh-CN" altLang="en-US" sz="2400" b="1">
                <a:solidFill>
                  <a:srgbClr val="CC0000"/>
                </a:solidFill>
                <a:latin typeface="新宋体" panose="02010609030101010101" charset="-122"/>
                <a:ea typeface="新宋体" panose="02010609030101010101" charset="-122"/>
              </a:rPr>
              <a:t>存储空间的要求不同</a:t>
            </a:r>
            <a:r>
              <a:rPr lang="zh-CN" altLang="en-US" sz="2400" b="1">
                <a:latin typeface="新宋体" panose="02010609030101010101" charset="-122"/>
                <a:ea typeface="新宋体" panose="02010609030101010101" charset="-122"/>
              </a:rPr>
              <a:t>：分支限界法的存储空间比回溯法大得多，因此当内存容量有限时，回溯法成功的可能性更大。</a:t>
            </a:r>
            <a:endParaRPr lang="zh-CN" altLang="en-US" sz="2400" b="1">
              <a:latin typeface="新宋体" panose="02010609030101010101" charset="-122"/>
              <a:ea typeface="新宋体" panose="02010609030101010101"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4677">
                                            <p:txEl>
                                              <p:pRg st="0" end="0"/>
                                            </p:txEl>
                                          </p:spTgt>
                                        </p:tgtEl>
                                        <p:attrNameLst>
                                          <p:attrName>style.visibility</p:attrName>
                                        </p:attrNameLst>
                                      </p:cBhvr>
                                      <p:to>
                                        <p:strVal val="visible"/>
                                      </p:to>
                                    </p:set>
                                    <p:animEffect transition="in" filter="blinds(horizontal)">
                                      <p:cBhvr>
                                        <p:cTn id="7" dur="500"/>
                                        <p:tgtEl>
                                          <p:spTgt spid="28467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4677">
                                            <p:txEl>
                                              <p:pRg st="2" end="2"/>
                                            </p:txEl>
                                          </p:spTgt>
                                        </p:tgtEl>
                                        <p:attrNameLst>
                                          <p:attrName>style.visibility</p:attrName>
                                        </p:attrNameLst>
                                      </p:cBhvr>
                                      <p:to>
                                        <p:strVal val="visible"/>
                                      </p:to>
                                    </p:set>
                                    <p:animEffect transition="in" filter="blinds(horizontal)">
                                      <p:cBhvr>
                                        <p:cTn id="12" dur="500"/>
                                        <p:tgtEl>
                                          <p:spTgt spid="28467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77" grpId="0" autoUpdateAnimBg="0" uiExpand="1" build="allAtOnce"/>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057DBE81-0ED3-44D3-89F7-5BB80D66A513}" type="slidenum">
              <a:rPr lang="en-US" altLang="zh-CN"/>
            </a:fld>
            <a:endParaRPr lang="en-US" altLang="zh-CN"/>
          </a:p>
        </p:txBody>
      </p:sp>
      <p:sp>
        <p:nvSpPr>
          <p:cNvPr id="285698" name="Rectangle 2"/>
          <p:cNvSpPr>
            <a:spLocks noGrp="1" noChangeArrowheads="1"/>
          </p:cNvSpPr>
          <p:nvPr>
            <p:ph type="title"/>
          </p:nvPr>
        </p:nvSpPr>
        <p:spPr/>
        <p:txBody>
          <a:bodyPr/>
          <a:lstStyle/>
          <a:p>
            <a:r>
              <a:rPr lang="zh-CN" altLang="en-US" sz="3000"/>
              <a:t>6.1	分支限界法的基本思想</a:t>
            </a:r>
            <a:endParaRPr lang="zh-CN" altLang="en-US" sz="3000"/>
          </a:p>
        </p:txBody>
      </p:sp>
      <p:sp>
        <p:nvSpPr>
          <p:cNvPr id="285701" name="Text Box 5"/>
          <p:cNvSpPr txBox="1">
            <a:spLocks noChangeArrowheads="1"/>
          </p:cNvSpPr>
          <p:nvPr/>
        </p:nvSpPr>
        <p:spPr bwMode="auto">
          <a:xfrm>
            <a:off x="539750" y="1809750"/>
            <a:ext cx="7620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spcBef>
                <a:spcPct val="50000"/>
              </a:spcBef>
            </a:pPr>
            <a:r>
              <a:rPr lang="zh-CN" altLang="en-US" sz="2400" b="1">
                <a:latin typeface="新宋体" panose="02010609030101010101" charset="-122"/>
                <a:ea typeface="新宋体" panose="02010609030101010101" charset="-122"/>
              </a:rPr>
              <a:t>    分支限界法常以广度优先或以最小耗费（最大效益）优先的方式搜索问题的解空间树</a:t>
            </a:r>
            <a:r>
              <a:rPr lang="en-US" altLang="zh-CN" sz="2400" b="1">
                <a:latin typeface="新宋体" panose="02010609030101010101" charset="-122"/>
                <a:ea typeface="新宋体" panose="02010609030101010101" charset="-122"/>
              </a:rPr>
              <a:t>,</a:t>
            </a:r>
            <a:r>
              <a:rPr lang="zh-CN" altLang="en-US" sz="2400" b="1">
                <a:latin typeface="新宋体" panose="02010609030101010101" charset="-122"/>
                <a:ea typeface="新宋体" panose="02010609030101010101" charset="-122"/>
              </a:rPr>
              <a:t>裁剪那些不能得到最优解的子树以提高搜索效率。</a:t>
            </a:r>
            <a:endParaRPr lang="zh-CN" altLang="en-US" sz="2400" b="1">
              <a:latin typeface="新宋体" panose="02010609030101010101" charset="-122"/>
              <a:ea typeface="新宋体" panose="02010609030101010101" charset="-122"/>
            </a:endParaRPr>
          </a:p>
        </p:txBody>
      </p:sp>
      <p:sp>
        <p:nvSpPr>
          <p:cNvPr id="285703" name="Text Box 7"/>
          <p:cNvSpPr txBox="1">
            <a:spLocks noChangeArrowheads="1"/>
          </p:cNvSpPr>
          <p:nvPr/>
        </p:nvSpPr>
        <p:spPr bwMode="auto">
          <a:xfrm>
            <a:off x="457200" y="4978400"/>
            <a:ext cx="7696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spcBef>
                <a:spcPct val="50000"/>
              </a:spcBef>
            </a:pPr>
            <a:r>
              <a:rPr lang="zh-CN" altLang="en-US" sz="2400" b="1">
                <a:latin typeface="新宋体" panose="02010609030101010101" charset="-122"/>
                <a:ea typeface="新宋体" panose="02010609030101010101" charset="-122"/>
              </a:rPr>
              <a:t>    此后，从活结点表中取下一结点成为当前扩展结点，并重复上述结点扩展过程。这个过程一直持续到找到所需的解或活结点表为空时为止。 </a:t>
            </a:r>
            <a:endParaRPr lang="zh-CN" altLang="en-US" sz="2400" b="1">
              <a:latin typeface="新宋体" panose="02010609030101010101" charset="-122"/>
              <a:ea typeface="新宋体" panose="02010609030101010101" charset="-122"/>
            </a:endParaRPr>
          </a:p>
        </p:txBody>
      </p:sp>
      <p:sp>
        <p:nvSpPr>
          <p:cNvPr id="285705" name="Text Box 9"/>
          <p:cNvSpPr txBox="1">
            <a:spLocks noChangeArrowheads="1"/>
          </p:cNvSpPr>
          <p:nvPr/>
        </p:nvSpPr>
        <p:spPr bwMode="auto">
          <a:xfrm>
            <a:off x="457200" y="3013075"/>
            <a:ext cx="76962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spcBef>
                <a:spcPct val="50000"/>
              </a:spcBef>
            </a:pPr>
            <a:r>
              <a:rPr lang="zh-CN" altLang="en-US" sz="2400" b="1">
                <a:latin typeface="新宋体" panose="02010609030101010101" charset="-122"/>
                <a:ea typeface="新宋体" panose="02010609030101010101" charset="-122"/>
              </a:rPr>
              <a:t>    在分支限界法中，每一个活结点只有一次机会成为扩展结点。活结点一旦成为扩展结点，就一次性产生其所有儿子结点。在这些儿子结点中，导致不可行解或导致非最优解的儿子结点被舍弃，其余儿子结点被加入活结点表中。</a:t>
            </a:r>
            <a:endParaRPr lang="zh-CN" altLang="en-US" sz="2400" b="1">
              <a:latin typeface="新宋体" panose="02010609030101010101" charset="-122"/>
              <a:ea typeface="新宋体" panose="02010609030101010101"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85701"/>
                                        </p:tgtEl>
                                        <p:attrNameLst>
                                          <p:attrName>style.visibility</p:attrName>
                                        </p:attrNameLst>
                                      </p:cBhvr>
                                      <p:to>
                                        <p:strVal val="visible"/>
                                      </p:to>
                                    </p:set>
                                    <p:animEffect transition="in" filter="checkerboard(across)">
                                      <p:cBhvr>
                                        <p:cTn id="7" dur="500"/>
                                        <p:tgtEl>
                                          <p:spTgt spid="28570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85705"/>
                                        </p:tgtEl>
                                        <p:attrNameLst>
                                          <p:attrName>style.visibility</p:attrName>
                                        </p:attrNameLst>
                                      </p:cBhvr>
                                      <p:to>
                                        <p:strVal val="visible"/>
                                      </p:to>
                                    </p:set>
                                    <p:animEffect transition="in" filter="box(out)">
                                      <p:cBhvr>
                                        <p:cTn id="12" dur="500"/>
                                        <p:tgtEl>
                                          <p:spTgt spid="28570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85703"/>
                                        </p:tgtEl>
                                        <p:attrNameLst>
                                          <p:attrName>style.visibility</p:attrName>
                                        </p:attrNameLst>
                                      </p:cBhvr>
                                      <p:to>
                                        <p:strVal val="visible"/>
                                      </p:to>
                                    </p:set>
                                    <p:anim calcmode="lin" valueType="num">
                                      <p:cBhvr additive="base">
                                        <p:cTn id="17" dur="500" fill="hold"/>
                                        <p:tgtEl>
                                          <p:spTgt spid="285703"/>
                                        </p:tgtEl>
                                        <p:attrNameLst>
                                          <p:attrName>ppt_x</p:attrName>
                                        </p:attrNameLst>
                                      </p:cBhvr>
                                      <p:tavLst>
                                        <p:tav tm="0">
                                          <p:val>
                                            <p:strVal val="0-#ppt_w/2"/>
                                          </p:val>
                                        </p:tav>
                                        <p:tav tm="100000">
                                          <p:val>
                                            <p:strVal val="#ppt_x"/>
                                          </p:val>
                                        </p:tav>
                                      </p:tavLst>
                                    </p:anim>
                                    <p:anim calcmode="lin" valueType="num">
                                      <p:cBhvr additive="base">
                                        <p:cTn id="18" dur="500" fill="hold"/>
                                        <p:tgtEl>
                                          <p:spTgt spid="2857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701" grpId="0" autoUpdateAnimBg="0"/>
      <p:bldP spid="285703" grpId="0" autoUpdateAnimBg="0"/>
      <p:bldP spid="285705"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Rectangle 2"/>
          <p:cNvSpPr>
            <a:spLocks noGrp="1" noChangeArrowheads="1"/>
          </p:cNvSpPr>
          <p:nvPr>
            <p:ph type="title"/>
          </p:nvPr>
        </p:nvSpPr>
        <p:spPr>
          <a:xfrm>
            <a:off x="457200" y="122238"/>
            <a:ext cx="7543800" cy="1123950"/>
          </a:xfrm>
          <a:noFill/>
        </p:spPr>
        <p:txBody>
          <a:bodyPr lIns="92075" tIns="46038" rIns="92075" bIns="46038" anchor="ctr"/>
          <a:lstStyle/>
          <a:p>
            <a:r>
              <a:rPr lang="zh-CN" altLang="en-US"/>
              <a:t>解空间树</a:t>
            </a:r>
            <a:endParaRPr lang="zh-CN" altLang="en-US"/>
          </a:p>
        </p:txBody>
      </p:sp>
      <p:sp>
        <p:nvSpPr>
          <p:cNvPr id="442371" name="Oval 3"/>
          <p:cNvSpPr>
            <a:spLocks noChangeArrowheads="1"/>
          </p:cNvSpPr>
          <p:nvPr/>
        </p:nvSpPr>
        <p:spPr bwMode="auto">
          <a:xfrm>
            <a:off x="4197350" y="1377950"/>
            <a:ext cx="215900" cy="215900"/>
          </a:xfrm>
          <a:prstGeom prst="ellipse">
            <a:avLst/>
          </a:prstGeom>
          <a:solidFill>
            <a:srgbClr val="00FF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2372" name="Line 4"/>
          <p:cNvSpPr>
            <a:spLocks noChangeShapeType="1"/>
          </p:cNvSpPr>
          <p:nvPr/>
        </p:nvSpPr>
        <p:spPr bwMode="auto">
          <a:xfrm flipH="1">
            <a:off x="2286000" y="1600200"/>
            <a:ext cx="19812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2373" name="Oval 5"/>
          <p:cNvSpPr>
            <a:spLocks noChangeArrowheads="1"/>
          </p:cNvSpPr>
          <p:nvPr/>
        </p:nvSpPr>
        <p:spPr bwMode="auto">
          <a:xfrm>
            <a:off x="2139950" y="2901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2374" name="Line 6"/>
          <p:cNvSpPr>
            <a:spLocks noChangeShapeType="1"/>
          </p:cNvSpPr>
          <p:nvPr/>
        </p:nvSpPr>
        <p:spPr bwMode="auto">
          <a:xfrm>
            <a:off x="4419600" y="1600200"/>
            <a:ext cx="2057400" cy="1295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2375" name="Oval 7"/>
          <p:cNvSpPr>
            <a:spLocks noChangeArrowheads="1"/>
          </p:cNvSpPr>
          <p:nvPr/>
        </p:nvSpPr>
        <p:spPr bwMode="auto">
          <a:xfrm>
            <a:off x="6407150" y="2901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2376" name="Line 8"/>
          <p:cNvSpPr>
            <a:spLocks noChangeShapeType="1"/>
          </p:cNvSpPr>
          <p:nvPr/>
        </p:nvSpPr>
        <p:spPr bwMode="auto">
          <a:xfrm flipH="1">
            <a:off x="1066800" y="3124200"/>
            <a:ext cx="1066800" cy="1066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2377" name="Oval 9"/>
          <p:cNvSpPr>
            <a:spLocks noChangeArrowheads="1"/>
          </p:cNvSpPr>
          <p:nvPr/>
        </p:nvSpPr>
        <p:spPr bwMode="auto">
          <a:xfrm>
            <a:off x="996950" y="41973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2378" name="Rectangle 10"/>
          <p:cNvSpPr>
            <a:spLocks noChangeArrowheads="1"/>
          </p:cNvSpPr>
          <p:nvPr/>
        </p:nvSpPr>
        <p:spPr bwMode="auto">
          <a:xfrm>
            <a:off x="0" y="3284538"/>
            <a:ext cx="539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442379" name="Line 11"/>
          <p:cNvSpPr>
            <a:spLocks noChangeShapeType="1"/>
          </p:cNvSpPr>
          <p:nvPr/>
        </p:nvSpPr>
        <p:spPr bwMode="auto">
          <a:xfrm flipH="1">
            <a:off x="3276600" y="3141663"/>
            <a:ext cx="1008063" cy="97313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2380" name="Oval 12"/>
          <p:cNvSpPr>
            <a:spLocks noChangeArrowheads="1"/>
          </p:cNvSpPr>
          <p:nvPr/>
        </p:nvSpPr>
        <p:spPr bwMode="auto">
          <a:xfrm>
            <a:off x="3206750" y="41211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2381" name="Line 13"/>
          <p:cNvSpPr>
            <a:spLocks noChangeShapeType="1"/>
          </p:cNvSpPr>
          <p:nvPr/>
        </p:nvSpPr>
        <p:spPr bwMode="auto">
          <a:xfrm>
            <a:off x="4500563" y="3068638"/>
            <a:ext cx="1062037" cy="96996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2382" name="Oval 14"/>
          <p:cNvSpPr>
            <a:spLocks noChangeArrowheads="1"/>
          </p:cNvSpPr>
          <p:nvPr/>
        </p:nvSpPr>
        <p:spPr bwMode="auto">
          <a:xfrm>
            <a:off x="5416550" y="40449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2383" name="Line 15"/>
          <p:cNvSpPr>
            <a:spLocks noChangeShapeType="1"/>
          </p:cNvSpPr>
          <p:nvPr/>
        </p:nvSpPr>
        <p:spPr bwMode="auto">
          <a:xfrm>
            <a:off x="6629400" y="3124200"/>
            <a:ext cx="9906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2384" name="Oval 16"/>
          <p:cNvSpPr>
            <a:spLocks noChangeArrowheads="1"/>
          </p:cNvSpPr>
          <p:nvPr/>
        </p:nvSpPr>
        <p:spPr bwMode="auto">
          <a:xfrm>
            <a:off x="7626350" y="3968750"/>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2385" name="Line 17"/>
          <p:cNvSpPr>
            <a:spLocks noChangeShapeType="1"/>
          </p:cNvSpPr>
          <p:nvPr/>
        </p:nvSpPr>
        <p:spPr bwMode="auto">
          <a:xfrm flipH="1">
            <a:off x="533400" y="4419600"/>
            <a:ext cx="5334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2386" name="Oval 18"/>
          <p:cNvSpPr>
            <a:spLocks noChangeArrowheads="1"/>
          </p:cNvSpPr>
          <p:nvPr/>
        </p:nvSpPr>
        <p:spPr bwMode="auto">
          <a:xfrm>
            <a:off x="387350" y="5111750"/>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2387" name="Line 19"/>
          <p:cNvSpPr>
            <a:spLocks noChangeShapeType="1"/>
          </p:cNvSpPr>
          <p:nvPr/>
        </p:nvSpPr>
        <p:spPr bwMode="auto">
          <a:xfrm>
            <a:off x="1143000" y="4419600"/>
            <a:ext cx="3810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2388" name="Oval 20"/>
          <p:cNvSpPr>
            <a:spLocks noChangeArrowheads="1"/>
          </p:cNvSpPr>
          <p:nvPr/>
        </p:nvSpPr>
        <p:spPr bwMode="auto">
          <a:xfrm>
            <a:off x="1454150" y="5111750"/>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2389" name="Line 21"/>
          <p:cNvSpPr>
            <a:spLocks noChangeShapeType="1"/>
          </p:cNvSpPr>
          <p:nvPr/>
        </p:nvSpPr>
        <p:spPr bwMode="auto">
          <a:xfrm flipH="1">
            <a:off x="2667000" y="4343400"/>
            <a:ext cx="6096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2390" name="Oval 22"/>
          <p:cNvSpPr>
            <a:spLocks noChangeArrowheads="1"/>
          </p:cNvSpPr>
          <p:nvPr/>
        </p:nvSpPr>
        <p:spPr bwMode="auto">
          <a:xfrm>
            <a:off x="2597150" y="5111750"/>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2391" name="Line 23"/>
          <p:cNvSpPr>
            <a:spLocks noChangeShapeType="1"/>
          </p:cNvSpPr>
          <p:nvPr/>
        </p:nvSpPr>
        <p:spPr bwMode="auto">
          <a:xfrm>
            <a:off x="3352800" y="4343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2392" name="Oval 24"/>
          <p:cNvSpPr>
            <a:spLocks noChangeArrowheads="1"/>
          </p:cNvSpPr>
          <p:nvPr/>
        </p:nvSpPr>
        <p:spPr bwMode="auto">
          <a:xfrm>
            <a:off x="3740150" y="5111750"/>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2393" name="Line 25"/>
          <p:cNvSpPr>
            <a:spLocks noChangeShapeType="1"/>
          </p:cNvSpPr>
          <p:nvPr/>
        </p:nvSpPr>
        <p:spPr bwMode="auto">
          <a:xfrm flipH="1">
            <a:off x="5029200" y="4267200"/>
            <a:ext cx="4572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2394" name="Oval 26"/>
          <p:cNvSpPr>
            <a:spLocks noChangeArrowheads="1"/>
          </p:cNvSpPr>
          <p:nvPr/>
        </p:nvSpPr>
        <p:spPr bwMode="auto">
          <a:xfrm>
            <a:off x="4883150" y="5111750"/>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2395" name="Line 27"/>
          <p:cNvSpPr>
            <a:spLocks noChangeShapeType="1"/>
          </p:cNvSpPr>
          <p:nvPr/>
        </p:nvSpPr>
        <p:spPr bwMode="auto">
          <a:xfrm>
            <a:off x="5562600" y="4267200"/>
            <a:ext cx="5334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2396" name="Oval 28"/>
          <p:cNvSpPr>
            <a:spLocks noChangeArrowheads="1"/>
          </p:cNvSpPr>
          <p:nvPr/>
        </p:nvSpPr>
        <p:spPr bwMode="auto">
          <a:xfrm>
            <a:off x="6026150" y="5111750"/>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2397" name="Line 29"/>
          <p:cNvSpPr>
            <a:spLocks noChangeShapeType="1"/>
          </p:cNvSpPr>
          <p:nvPr/>
        </p:nvSpPr>
        <p:spPr bwMode="auto">
          <a:xfrm flipH="1">
            <a:off x="7239000" y="4191000"/>
            <a:ext cx="4572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2398" name="Oval 30"/>
          <p:cNvSpPr>
            <a:spLocks noChangeArrowheads="1"/>
          </p:cNvSpPr>
          <p:nvPr/>
        </p:nvSpPr>
        <p:spPr bwMode="auto">
          <a:xfrm>
            <a:off x="7169150" y="5111750"/>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2399" name="Line 31"/>
          <p:cNvSpPr>
            <a:spLocks noChangeShapeType="1"/>
          </p:cNvSpPr>
          <p:nvPr/>
        </p:nvSpPr>
        <p:spPr bwMode="auto">
          <a:xfrm>
            <a:off x="7848600" y="4191000"/>
            <a:ext cx="6096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2400" name="Oval 32"/>
          <p:cNvSpPr>
            <a:spLocks noChangeArrowheads="1"/>
          </p:cNvSpPr>
          <p:nvPr/>
        </p:nvSpPr>
        <p:spPr bwMode="auto">
          <a:xfrm>
            <a:off x="8312150" y="5111750"/>
            <a:ext cx="215900" cy="215900"/>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2401" name="Rectangle 33"/>
          <p:cNvSpPr>
            <a:spLocks noChangeArrowheads="1"/>
          </p:cNvSpPr>
          <p:nvPr/>
        </p:nvSpPr>
        <p:spPr bwMode="auto">
          <a:xfrm>
            <a:off x="0" y="1773238"/>
            <a:ext cx="1066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1</a:t>
            </a:r>
            <a:endParaRPr lang="en-US" altLang="zh-CN" sz="3200">
              <a:solidFill>
                <a:schemeClr val="hlink"/>
              </a:solidFill>
              <a:latin typeface="Times New Roman" panose="02020603050405020304" pitchFamily="18" charset="0"/>
            </a:endParaRPr>
          </a:p>
        </p:txBody>
      </p:sp>
      <p:sp>
        <p:nvSpPr>
          <p:cNvPr id="442402" name="Rectangle 34"/>
          <p:cNvSpPr>
            <a:spLocks noChangeArrowheads="1"/>
          </p:cNvSpPr>
          <p:nvPr/>
        </p:nvSpPr>
        <p:spPr bwMode="auto">
          <a:xfrm>
            <a:off x="0" y="4365625"/>
            <a:ext cx="539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442403" name="Oval 35"/>
          <p:cNvSpPr>
            <a:spLocks noChangeArrowheads="1"/>
          </p:cNvSpPr>
          <p:nvPr/>
        </p:nvSpPr>
        <p:spPr bwMode="auto">
          <a:xfrm>
            <a:off x="4284663" y="2924175"/>
            <a:ext cx="215900" cy="215900"/>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2404" name="Line 36"/>
          <p:cNvSpPr>
            <a:spLocks noChangeShapeType="1"/>
          </p:cNvSpPr>
          <p:nvPr/>
        </p:nvSpPr>
        <p:spPr bwMode="auto">
          <a:xfrm>
            <a:off x="4356100" y="1628775"/>
            <a:ext cx="0" cy="1295400"/>
          </a:xfrm>
          <a:prstGeom prst="line">
            <a:avLst/>
          </a:prstGeom>
          <a:noFill/>
          <a:ln w="15875">
            <a:solidFill>
              <a:schemeClr val="tx1"/>
            </a:solidFill>
            <a:rou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2405" name="Oval 37"/>
          <p:cNvSpPr>
            <a:spLocks noChangeArrowheads="1"/>
          </p:cNvSpPr>
          <p:nvPr/>
        </p:nvSpPr>
        <p:spPr bwMode="auto">
          <a:xfrm>
            <a:off x="1908175" y="270827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06" name="Oval 38"/>
          <p:cNvSpPr>
            <a:spLocks noChangeArrowheads="1"/>
          </p:cNvSpPr>
          <p:nvPr/>
        </p:nvSpPr>
        <p:spPr bwMode="auto">
          <a:xfrm>
            <a:off x="4067175" y="270827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07" name="Oval 39"/>
          <p:cNvSpPr>
            <a:spLocks noChangeArrowheads="1"/>
          </p:cNvSpPr>
          <p:nvPr/>
        </p:nvSpPr>
        <p:spPr bwMode="auto">
          <a:xfrm>
            <a:off x="6227763" y="2708275"/>
            <a:ext cx="576262"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08" name="Oval 40"/>
          <p:cNvSpPr>
            <a:spLocks noChangeArrowheads="1"/>
          </p:cNvSpPr>
          <p:nvPr/>
        </p:nvSpPr>
        <p:spPr bwMode="auto">
          <a:xfrm>
            <a:off x="755650" y="4005263"/>
            <a:ext cx="576263" cy="576262"/>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09" name="Oval 41"/>
          <p:cNvSpPr>
            <a:spLocks noChangeArrowheads="1"/>
          </p:cNvSpPr>
          <p:nvPr/>
        </p:nvSpPr>
        <p:spPr bwMode="auto">
          <a:xfrm>
            <a:off x="2987675" y="393382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10" name="Oval 42"/>
          <p:cNvSpPr>
            <a:spLocks noChangeArrowheads="1"/>
          </p:cNvSpPr>
          <p:nvPr/>
        </p:nvSpPr>
        <p:spPr bwMode="auto">
          <a:xfrm>
            <a:off x="5292725" y="3860800"/>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11" name="Oval 43"/>
          <p:cNvSpPr>
            <a:spLocks noChangeArrowheads="1"/>
          </p:cNvSpPr>
          <p:nvPr/>
        </p:nvSpPr>
        <p:spPr bwMode="auto">
          <a:xfrm>
            <a:off x="7380288" y="3789363"/>
            <a:ext cx="576262" cy="576262"/>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12" name="Oval 44"/>
          <p:cNvSpPr>
            <a:spLocks noChangeArrowheads="1"/>
          </p:cNvSpPr>
          <p:nvPr/>
        </p:nvSpPr>
        <p:spPr bwMode="auto">
          <a:xfrm>
            <a:off x="179388" y="5013325"/>
            <a:ext cx="576262"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13" name="Oval 45"/>
          <p:cNvSpPr>
            <a:spLocks noChangeArrowheads="1"/>
          </p:cNvSpPr>
          <p:nvPr/>
        </p:nvSpPr>
        <p:spPr bwMode="auto">
          <a:xfrm>
            <a:off x="1331913" y="5013325"/>
            <a:ext cx="576262"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14" name="Oval 46"/>
          <p:cNvSpPr>
            <a:spLocks noChangeArrowheads="1"/>
          </p:cNvSpPr>
          <p:nvPr/>
        </p:nvSpPr>
        <p:spPr bwMode="auto">
          <a:xfrm>
            <a:off x="2339975" y="501332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15" name="Oval 47"/>
          <p:cNvSpPr>
            <a:spLocks noChangeArrowheads="1"/>
          </p:cNvSpPr>
          <p:nvPr/>
        </p:nvSpPr>
        <p:spPr bwMode="auto">
          <a:xfrm>
            <a:off x="3563938" y="4941888"/>
            <a:ext cx="576262" cy="576262"/>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16" name="Rectangle 48"/>
          <p:cNvSpPr>
            <a:spLocks noChangeArrowheads="1"/>
          </p:cNvSpPr>
          <p:nvPr/>
        </p:nvSpPr>
        <p:spPr bwMode="auto">
          <a:xfrm>
            <a:off x="3059113" y="5589588"/>
            <a:ext cx="16557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zh-CN" altLang="en-US" sz="3200" b="1">
                <a:solidFill>
                  <a:schemeClr val="hlink"/>
                </a:solidFill>
                <a:latin typeface="Times New Roman" panose="02020603050405020304" pitchFamily="18" charset="0"/>
              </a:rPr>
              <a:t>成功</a:t>
            </a:r>
            <a:endParaRPr lang="zh-CN" altLang="en-US" sz="3200" b="1">
              <a:solidFill>
                <a:schemeClr val="hlink"/>
              </a:solidFill>
              <a:latin typeface="Times New Roman" panose="02020603050405020304" pitchFamily="18" charset="0"/>
            </a:endParaRPr>
          </a:p>
        </p:txBody>
      </p:sp>
      <p:sp>
        <p:nvSpPr>
          <p:cNvPr id="442417" name="Oval 49"/>
          <p:cNvSpPr>
            <a:spLocks noChangeArrowheads="1"/>
          </p:cNvSpPr>
          <p:nvPr/>
        </p:nvSpPr>
        <p:spPr bwMode="auto">
          <a:xfrm>
            <a:off x="3563938" y="4941888"/>
            <a:ext cx="576262" cy="576262"/>
          </a:xfrm>
          <a:prstGeom prst="ellipse">
            <a:avLst/>
          </a:prstGeom>
          <a:solidFill>
            <a:schemeClr val="hlink"/>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18" name="Oval 50"/>
          <p:cNvSpPr>
            <a:spLocks noChangeArrowheads="1"/>
          </p:cNvSpPr>
          <p:nvPr/>
        </p:nvSpPr>
        <p:spPr bwMode="auto">
          <a:xfrm>
            <a:off x="4067175" y="1196975"/>
            <a:ext cx="576263" cy="576263"/>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19" name="Oval 51"/>
          <p:cNvSpPr>
            <a:spLocks noChangeArrowheads="1"/>
          </p:cNvSpPr>
          <p:nvPr/>
        </p:nvSpPr>
        <p:spPr bwMode="auto">
          <a:xfrm>
            <a:off x="1908175" y="2708275"/>
            <a:ext cx="576263" cy="576263"/>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20" name="Oval 52"/>
          <p:cNvSpPr>
            <a:spLocks noChangeArrowheads="1"/>
          </p:cNvSpPr>
          <p:nvPr/>
        </p:nvSpPr>
        <p:spPr bwMode="auto">
          <a:xfrm>
            <a:off x="4067175" y="1196975"/>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21" name="Oval 53"/>
          <p:cNvSpPr>
            <a:spLocks noChangeArrowheads="1"/>
          </p:cNvSpPr>
          <p:nvPr/>
        </p:nvSpPr>
        <p:spPr bwMode="auto">
          <a:xfrm>
            <a:off x="1908175" y="2708275"/>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22" name="Oval 54"/>
          <p:cNvSpPr>
            <a:spLocks noChangeArrowheads="1"/>
          </p:cNvSpPr>
          <p:nvPr/>
        </p:nvSpPr>
        <p:spPr bwMode="auto">
          <a:xfrm>
            <a:off x="4067175" y="2708275"/>
            <a:ext cx="576263" cy="576263"/>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23" name="Oval 55"/>
          <p:cNvSpPr>
            <a:spLocks noChangeArrowheads="1"/>
          </p:cNvSpPr>
          <p:nvPr/>
        </p:nvSpPr>
        <p:spPr bwMode="auto">
          <a:xfrm>
            <a:off x="4067175" y="2708275"/>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24" name="Oval 56"/>
          <p:cNvSpPr>
            <a:spLocks noChangeArrowheads="1"/>
          </p:cNvSpPr>
          <p:nvPr/>
        </p:nvSpPr>
        <p:spPr bwMode="auto">
          <a:xfrm>
            <a:off x="6227763" y="2708275"/>
            <a:ext cx="576262" cy="576263"/>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25" name="Oval 57"/>
          <p:cNvSpPr>
            <a:spLocks noChangeArrowheads="1"/>
          </p:cNvSpPr>
          <p:nvPr/>
        </p:nvSpPr>
        <p:spPr bwMode="auto">
          <a:xfrm>
            <a:off x="755650" y="4005263"/>
            <a:ext cx="576263" cy="576262"/>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26" name="Oval 58"/>
          <p:cNvSpPr>
            <a:spLocks noChangeArrowheads="1"/>
          </p:cNvSpPr>
          <p:nvPr/>
        </p:nvSpPr>
        <p:spPr bwMode="auto">
          <a:xfrm>
            <a:off x="2987675" y="3933825"/>
            <a:ext cx="576263" cy="576263"/>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27" name="Oval 59"/>
          <p:cNvSpPr>
            <a:spLocks noChangeArrowheads="1"/>
          </p:cNvSpPr>
          <p:nvPr/>
        </p:nvSpPr>
        <p:spPr bwMode="auto">
          <a:xfrm>
            <a:off x="6227763" y="260350"/>
            <a:ext cx="503237" cy="504825"/>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28" name="Oval 60"/>
          <p:cNvSpPr>
            <a:spLocks noChangeArrowheads="1"/>
          </p:cNvSpPr>
          <p:nvPr/>
        </p:nvSpPr>
        <p:spPr bwMode="auto">
          <a:xfrm>
            <a:off x="6227763" y="2708275"/>
            <a:ext cx="576262"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29" name="Oval 61"/>
          <p:cNvSpPr>
            <a:spLocks noChangeArrowheads="1"/>
          </p:cNvSpPr>
          <p:nvPr/>
        </p:nvSpPr>
        <p:spPr bwMode="auto">
          <a:xfrm>
            <a:off x="755650" y="4005263"/>
            <a:ext cx="576263" cy="576262"/>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30" name="Oval 62"/>
          <p:cNvSpPr>
            <a:spLocks noChangeArrowheads="1"/>
          </p:cNvSpPr>
          <p:nvPr/>
        </p:nvSpPr>
        <p:spPr bwMode="auto">
          <a:xfrm>
            <a:off x="2987675" y="3933825"/>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31" name="Oval 63"/>
          <p:cNvSpPr>
            <a:spLocks noChangeArrowheads="1"/>
          </p:cNvSpPr>
          <p:nvPr/>
        </p:nvSpPr>
        <p:spPr bwMode="auto">
          <a:xfrm>
            <a:off x="6227763" y="981075"/>
            <a:ext cx="503237" cy="503238"/>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32" name="Oval 64"/>
          <p:cNvSpPr>
            <a:spLocks noChangeArrowheads="1"/>
          </p:cNvSpPr>
          <p:nvPr/>
        </p:nvSpPr>
        <p:spPr bwMode="auto">
          <a:xfrm>
            <a:off x="6227763" y="1773238"/>
            <a:ext cx="503237" cy="503237"/>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sp>
        <p:nvSpPr>
          <p:cNvPr id="442433" name="Rectangle 65"/>
          <p:cNvSpPr>
            <a:spLocks noChangeArrowheads="1"/>
          </p:cNvSpPr>
          <p:nvPr/>
        </p:nvSpPr>
        <p:spPr bwMode="auto">
          <a:xfrm>
            <a:off x="6732588" y="239713"/>
            <a:ext cx="14097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400" b="1">
                <a:solidFill>
                  <a:srgbClr val="993300"/>
                </a:solidFill>
                <a:latin typeface="Times New Roman" panose="02020603050405020304" pitchFamily="18" charset="0"/>
              </a:rPr>
              <a:t>扩展节点</a:t>
            </a:r>
            <a:endParaRPr lang="zh-CN" altLang="en-US" sz="2400" b="1">
              <a:solidFill>
                <a:srgbClr val="993300"/>
              </a:solidFill>
              <a:latin typeface="Times New Roman" panose="02020603050405020304" pitchFamily="18" charset="0"/>
            </a:endParaRPr>
          </a:p>
        </p:txBody>
      </p:sp>
      <p:sp>
        <p:nvSpPr>
          <p:cNvPr id="442434" name="Rectangle 66"/>
          <p:cNvSpPr>
            <a:spLocks noChangeArrowheads="1"/>
          </p:cNvSpPr>
          <p:nvPr/>
        </p:nvSpPr>
        <p:spPr bwMode="auto">
          <a:xfrm>
            <a:off x="6770688" y="981075"/>
            <a:ext cx="14732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zh-CN" altLang="en-US" sz="2400" b="1">
                <a:solidFill>
                  <a:srgbClr val="993300"/>
                </a:solidFill>
                <a:latin typeface="Times New Roman" panose="02020603050405020304" pitchFamily="18" charset="0"/>
              </a:rPr>
              <a:t>死结点</a:t>
            </a:r>
            <a:endParaRPr lang="zh-CN" altLang="en-US" sz="2400" b="1">
              <a:solidFill>
                <a:srgbClr val="993300"/>
              </a:solidFill>
              <a:latin typeface="Times New Roman" panose="02020603050405020304" pitchFamily="18" charset="0"/>
            </a:endParaRPr>
          </a:p>
        </p:txBody>
      </p:sp>
      <p:sp>
        <p:nvSpPr>
          <p:cNvPr id="442435" name="Rectangle 67"/>
          <p:cNvSpPr>
            <a:spLocks noChangeArrowheads="1"/>
          </p:cNvSpPr>
          <p:nvPr/>
        </p:nvSpPr>
        <p:spPr bwMode="auto">
          <a:xfrm>
            <a:off x="6948488" y="1679575"/>
            <a:ext cx="1103312"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400" b="1">
                <a:solidFill>
                  <a:srgbClr val="993300"/>
                </a:solidFill>
                <a:latin typeface="Times New Roman" panose="02020603050405020304" pitchFamily="18" charset="0"/>
              </a:rPr>
              <a:t>活节点</a:t>
            </a:r>
            <a:endParaRPr lang="zh-CN" altLang="en-US" sz="2400" b="1">
              <a:solidFill>
                <a:srgbClr val="993300"/>
              </a:solidFill>
              <a:latin typeface="Times New Roman" panose="02020603050405020304" pitchFamily="18" charset="0"/>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2418"/>
                                        </p:tgtEl>
                                        <p:attrNameLst>
                                          <p:attrName>style.visibility</p:attrName>
                                        </p:attrNameLst>
                                      </p:cBhvr>
                                      <p:to>
                                        <p:strVal val="visible"/>
                                      </p:to>
                                    </p:set>
                                    <p:anim calcmode="lin" valueType="num">
                                      <p:cBhvr additive="base">
                                        <p:cTn id="7" dur="500" fill="hold"/>
                                        <p:tgtEl>
                                          <p:spTgt spid="442418"/>
                                        </p:tgtEl>
                                        <p:attrNameLst>
                                          <p:attrName>ppt_x</p:attrName>
                                        </p:attrNameLst>
                                      </p:cBhvr>
                                      <p:tavLst>
                                        <p:tav tm="0">
                                          <p:val>
                                            <p:strVal val="#ppt_x"/>
                                          </p:val>
                                        </p:tav>
                                        <p:tav tm="100000">
                                          <p:val>
                                            <p:strVal val="#ppt_x"/>
                                          </p:val>
                                        </p:tav>
                                      </p:tavLst>
                                    </p:anim>
                                    <p:anim calcmode="lin" valueType="num">
                                      <p:cBhvr additive="base">
                                        <p:cTn id="8" dur="500" fill="hold"/>
                                        <p:tgtEl>
                                          <p:spTgt spid="4424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2405"/>
                                        </p:tgtEl>
                                        <p:attrNameLst>
                                          <p:attrName>style.visibility</p:attrName>
                                        </p:attrNameLst>
                                      </p:cBhvr>
                                      <p:to>
                                        <p:strVal val="visible"/>
                                      </p:to>
                                    </p:set>
                                    <p:anim calcmode="lin" valueType="num">
                                      <p:cBhvr additive="base">
                                        <p:cTn id="13" dur="500" fill="hold"/>
                                        <p:tgtEl>
                                          <p:spTgt spid="442405"/>
                                        </p:tgtEl>
                                        <p:attrNameLst>
                                          <p:attrName>ppt_x</p:attrName>
                                        </p:attrNameLst>
                                      </p:cBhvr>
                                      <p:tavLst>
                                        <p:tav tm="0">
                                          <p:val>
                                            <p:strVal val="#ppt_x"/>
                                          </p:val>
                                        </p:tav>
                                        <p:tav tm="100000">
                                          <p:val>
                                            <p:strVal val="#ppt_x"/>
                                          </p:val>
                                        </p:tav>
                                      </p:tavLst>
                                    </p:anim>
                                    <p:anim calcmode="lin" valueType="num">
                                      <p:cBhvr additive="base">
                                        <p:cTn id="14" dur="500" fill="hold"/>
                                        <p:tgtEl>
                                          <p:spTgt spid="44240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42406"/>
                                        </p:tgtEl>
                                        <p:attrNameLst>
                                          <p:attrName>style.visibility</p:attrName>
                                        </p:attrNameLst>
                                      </p:cBhvr>
                                      <p:to>
                                        <p:strVal val="visible"/>
                                      </p:to>
                                    </p:set>
                                    <p:anim calcmode="lin" valueType="num">
                                      <p:cBhvr additive="base">
                                        <p:cTn id="19" dur="500" fill="hold"/>
                                        <p:tgtEl>
                                          <p:spTgt spid="442406"/>
                                        </p:tgtEl>
                                        <p:attrNameLst>
                                          <p:attrName>ppt_x</p:attrName>
                                        </p:attrNameLst>
                                      </p:cBhvr>
                                      <p:tavLst>
                                        <p:tav tm="0">
                                          <p:val>
                                            <p:strVal val="#ppt_x"/>
                                          </p:val>
                                        </p:tav>
                                        <p:tav tm="100000">
                                          <p:val>
                                            <p:strVal val="#ppt_x"/>
                                          </p:val>
                                        </p:tav>
                                      </p:tavLst>
                                    </p:anim>
                                    <p:anim calcmode="lin" valueType="num">
                                      <p:cBhvr additive="base">
                                        <p:cTn id="20" dur="500" fill="hold"/>
                                        <p:tgtEl>
                                          <p:spTgt spid="44240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42407"/>
                                        </p:tgtEl>
                                        <p:attrNameLst>
                                          <p:attrName>style.visibility</p:attrName>
                                        </p:attrNameLst>
                                      </p:cBhvr>
                                      <p:to>
                                        <p:strVal val="visible"/>
                                      </p:to>
                                    </p:set>
                                    <p:anim calcmode="lin" valueType="num">
                                      <p:cBhvr additive="base">
                                        <p:cTn id="25" dur="500" fill="hold"/>
                                        <p:tgtEl>
                                          <p:spTgt spid="442407"/>
                                        </p:tgtEl>
                                        <p:attrNameLst>
                                          <p:attrName>ppt_x</p:attrName>
                                        </p:attrNameLst>
                                      </p:cBhvr>
                                      <p:tavLst>
                                        <p:tav tm="0">
                                          <p:val>
                                            <p:strVal val="#ppt_x"/>
                                          </p:val>
                                        </p:tav>
                                        <p:tav tm="100000">
                                          <p:val>
                                            <p:strVal val="#ppt_x"/>
                                          </p:val>
                                        </p:tav>
                                      </p:tavLst>
                                    </p:anim>
                                    <p:anim calcmode="lin" valueType="num">
                                      <p:cBhvr additive="base">
                                        <p:cTn id="26" dur="500" fill="hold"/>
                                        <p:tgtEl>
                                          <p:spTgt spid="44240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42420"/>
                                        </p:tgtEl>
                                        <p:attrNameLst>
                                          <p:attrName>style.visibility</p:attrName>
                                        </p:attrNameLst>
                                      </p:cBhvr>
                                      <p:to>
                                        <p:strVal val="visible"/>
                                      </p:to>
                                    </p:set>
                                    <p:anim calcmode="lin" valueType="num">
                                      <p:cBhvr additive="base">
                                        <p:cTn id="31" dur="500" fill="hold"/>
                                        <p:tgtEl>
                                          <p:spTgt spid="442420"/>
                                        </p:tgtEl>
                                        <p:attrNameLst>
                                          <p:attrName>ppt_x</p:attrName>
                                        </p:attrNameLst>
                                      </p:cBhvr>
                                      <p:tavLst>
                                        <p:tav tm="0">
                                          <p:val>
                                            <p:strVal val="#ppt_x"/>
                                          </p:val>
                                        </p:tav>
                                        <p:tav tm="100000">
                                          <p:val>
                                            <p:strVal val="#ppt_x"/>
                                          </p:val>
                                        </p:tav>
                                      </p:tavLst>
                                    </p:anim>
                                    <p:anim calcmode="lin" valueType="num">
                                      <p:cBhvr additive="base">
                                        <p:cTn id="32" dur="500" fill="hold"/>
                                        <p:tgtEl>
                                          <p:spTgt spid="44242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42419"/>
                                        </p:tgtEl>
                                        <p:attrNameLst>
                                          <p:attrName>style.visibility</p:attrName>
                                        </p:attrNameLst>
                                      </p:cBhvr>
                                      <p:to>
                                        <p:strVal val="visible"/>
                                      </p:to>
                                    </p:set>
                                    <p:anim calcmode="lin" valueType="num">
                                      <p:cBhvr additive="base">
                                        <p:cTn id="37" dur="500" fill="hold"/>
                                        <p:tgtEl>
                                          <p:spTgt spid="442419"/>
                                        </p:tgtEl>
                                        <p:attrNameLst>
                                          <p:attrName>ppt_x</p:attrName>
                                        </p:attrNameLst>
                                      </p:cBhvr>
                                      <p:tavLst>
                                        <p:tav tm="0">
                                          <p:val>
                                            <p:strVal val="#ppt_x"/>
                                          </p:val>
                                        </p:tav>
                                        <p:tav tm="100000">
                                          <p:val>
                                            <p:strVal val="#ppt_x"/>
                                          </p:val>
                                        </p:tav>
                                      </p:tavLst>
                                    </p:anim>
                                    <p:anim calcmode="lin" valueType="num">
                                      <p:cBhvr additive="base">
                                        <p:cTn id="38" dur="500" fill="hold"/>
                                        <p:tgtEl>
                                          <p:spTgt spid="44241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42408"/>
                                        </p:tgtEl>
                                        <p:attrNameLst>
                                          <p:attrName>style.visibility</p:attrName>
                                        </p:attrNameLst>
                                      </p:cBhvr>
                                      <p:to>
                                        <p:strVal val="visible"/>
                                      </p:to>
                                    </p:set>
                                    <p:anim calcmode="lin" valueType="num">
                                      <p:cBhvr additive="base">
                                        <p:cTn id="43" dur="500" fill="hold"/>
                                        <p:tgtEl>
                                          <p:spTgt spid="442408"/>
                                        </p:tgtEl>
                                        <p:attrNameLst>
                                          <p:attrName>ppt_x</p:attrName>
                                        </p:attrNameLst>
                                      </p:cBhvr>
                                      <p:tavLst>
                                        <p:tav tm="0">
                                          <p:val>
                                            <p:strVal val="#ppt_x"/>
                                          </p:val>
                                        </p:tav>
                                        <p:tav tm="100000">
                                          <p:val>
                                            <p:strVal val="#ppt_x"/>
                                          </p:val>
                                        </p:tav>
                                      </p:tavLst>
                                    </p:anim>
                                    <p:anim calcmode="lin" valueType="num">
                                      <p:cBhvr additive="base">
                                        <p:cTn id="44" dur="500" fill="hold"/>
                                        <p:tgtEl>
                                          <p:spTgt spid="44240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42421"/>
                                        </p:tgtEl>
                                        <p:attrNameLst>
                                          <p:attrName>style.visibility</p:attrName>
                                        </p:attrNameLst>
                                      </p:cBhvr>
                                      <p:to>
                                        <p:strVal val="visible"/>
                                      </p:to>
                                    </p:set>
                                    <p:anim calcmode="lin" valueType="num">
                                      <p:cBhvr additive="base">
                                        <p:cTn id="49" dur="500" fill="hold"/>
                                        <p:tgtEl>
                                          <p:spTgt spid="442421"/>
                                        </p:tgtEl>
                                        <p:attrNameLst>
                                          <p:attrName>ppt_x</p:attrName>
                                        </p:attrNameLst>
                                      </p:cBhvr>
                                      <p:tavLst>
                                        <p:tav tm="0">
                                          <p:val>
                                            <p:strVal val="#ppt_x"/>
                                          </p:val>
                                        </p:tav>
                                        <p:tav tm="100000">
                                          <p:val>
                                            <p:strVal val="#ppt_x"/>
                                          </p:val>
                                        </p:tav>
                                      </p:tavLst>
                                    </p:anim>
                                    <p:anim calcmode="lin" valueType="num">
                                      <p:cBhvr additive="base">
                                        <p:cTn id="50" dur="500" fill="hold"/>
                                        <p:tgtEl>
                                          <p:spTgt spid="442421"/>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42422"/>
                                        </p:tgtEl>
                                        <p:attrNameLst>
                                          <p:attrName>style.visibility</p:attrName>
                                        </p:attrNameLst>
                                      </p:cBhvr>
                                      <p:to>
                                        <p:strVal val="visible"/>
                                      </p:to>
                                    </p:set>
                                    <p:anim calcmode="lin" valueType="num">
                                      <p:cBhvr additive="base">
                                        <p:cTn id="55" dur="500" fill="hold"/>
                                        <p:tgtEl>
                                          <p:spTgt spid="442422"/>
                                        </p:tgtEl>
                                        <p:attrNameLst>
                                          <p:attrName>ppt_x</p:attrName>
                                        </p:attrNameLst>
                                      </p:cBhvr>
                                      <p:tavLst>
                                        <p:tav tm="0">
                                          <p:val>
                                            <p:strVal val="#ppt_x"/>
                                          </p:val>
                                        </p:tav>
                                        <p:tav tm="100000">
                                          <p:val>
                                            <p:strVal val="#ppt_x"/>
                                          </p:val>
                                        </p:tav>
                                      </p:tavLst>
                                    </p:anim>
                                    <p:anim calcmode="lin" valueType="num">
                                      <p:cBhvr additive="base">
                                        <p:cTn id="56" dur="500" fill="hold"/>
                                        <p:tgtEl>
                                          <p:spTgt spid="44242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42409"/>
                                        </p:tgtEl>
                                        <p:attrNameLst>
                                          <p:attrName>style.visibility</p:attrName>
                                        </p:attrNameLst>
                                      </p:cBhvr>
                                      <p:to>
                                        <p:strVal val="visible"/>
                                      </p:to>
                                    </p:set>
                                    <p:anim calcmode="lin" valueType="num">
                                      <p:cBhvr additive="base">
                                        <p:cTn id="61" dur="500" fill="hold"/>
                                        <p:tgtEl>
                                          <p:spTgt spid="442409"/>
                                        </p:tgtEl>
                                        <p:attrNameLst>
                                          <p:attrName>ppt_x</p:attrName>
                                        </p:attrNameLst>
                                      </p:cBhvr>
                                      <p:tavLst>
                                        <p:tav tm="0">
                                          <p:val>
                                            <p:strVal val="#ppt_x"/>
                                          </p:val>
                                        </p:tav>
                                        <p:tav tm="100000">
                                          <p:val>
                                            <p:strVal val="#ppt_x"/>
                                          </p:val>
                                        </p:tav>
                                      </p:tavLst>
                                    </p:anim>
                                    <p:anim calcmode="lin" valueType="num">
                                      <p:cBhvr additive="base">
                                        <p:cTn id="62" dur="500" fill="hold"/>
                                        <p:tgtEl>
                                          <p:spTgt spid="442409"/>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442410"/>
                                        </p:tgtEl>
                                        <p:attrNameLst>
                                          <p:attrName>style.visibility</p:attrName>
                                        </p:attrNameLst>
                                      </p:cBhvr>
                                      <p:to>
                                        <p:strVal val="visible"/>
                                      </p:to>
                                    </p:set>
                                    <p:anim calcmode="lin" valueType="num">
                                      <p:cBhvr additive="base">
                                        <p:cTn id="67" dur="500" fill="hold"/>
                                        <p:tgtEl>
                                          <p:spTgt spid="442410"/>
                                        </p:tgtEl>
                                        <p:attrNameLst>
                                          <p:attrName>ppt_x</p:attrName>
                                        </p:attrNameLst>
                                      </p:cBhvr>
                                      <p:tavLst>
                                        <p:tav tm="0">
                                          <p:val>
                                            <p:strVal val="#ppt_x"/>
                                          </p:val>
                                        </p:tav>
                                        <p:tav tm="100000">
                                          <p:val>
                                            <p:strVal val="#ppt_x"/>
                                          </p:val>
                                        </p:tav>
                                      </p:tavLst>
                                    </p:anim>
                                    <p:anim calcmode="lin" valueType="num">
                                      <p:cBhvr additive="base">
                                        <p:cTn id="68" dur="500" fill="hold"/>
                                        <p:tgtEl>
                                          <p:spTgt spid="442410"/>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442423"/>
                                        </p:tgtEl>
                                        <p:attrNameLst>
                                          <p:attrName>style.visibility</p:attrName>
                                        </p:attrNameLst>
                                      </p:cBhvr>
                                      <p:to>
                                        <p:strVal val="visible"/>
                                      </p:to>
                                    </p:set>
                                    <p:anim calcmode="lin" valueType="num">
                                      <p:cBhvr additive="base">
                                        <p:cTn id="73" dur="500" fill="hold"/>
                                        <p:tgtEl>
                                          <p:spTgt spid="442423"/>
                                        </p:tgtEl>
                                        <p:attrNameLst>
                                          <p:attrName>ppt_x</p:attrName>
                                        </p:attrNameLst>
                                      </p:cBhvr>
                                      <p:tavLst>
                                        <p:tav tm="0">
                                          <p:val>
                                            <p:strVal val="#ppt_x"/>
                                          </p:val>
                                        </p:tav>
                                        <p:tav tm="100000">
                                          <p:val>
                                            <p:strVal val="#ppt_x"/>
                                          </p:val>
                                        </p:tav>
                                      </p:tavLst>
                                    </p:anim>
                                    <p:anim calcmode="lin" valueType="num">
                                      <p:cBhvr additive="base">
                                        <p:cTn id="74" dur="500" fill="hold"/>
                                        <p:tgtEl>
                                          <p:spTgt spid="442423"/>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442424"/>
                                        </p:tgtEl>
                                        <p:attrNameLst>
                                          <p:attrName>style.visibility</p:attrName>
                                        </p:attrNameLst>
                                      </p:cBhvr>
                                      <p:to>
                                        <p:strVal val="visible"/>
                                      </p:to>
                                    </p:set>
                                    <p:anim calcmode="lin" valueType="num">
                                      <p:cBhvr additive="base">
                                        <p:cTn id="79" dur="500" fill="hold"/>
                                        <p:tgtEl>
                                          <p:spTgt spid="442424"/>
                                        </p:tgtEl>
                                        <p:attrNameLst>
                                          <p:attrName>ppt_x</p:attrName>
                                        </p:attrNameLst>
                                      </p:cBhvr>
                                      <p:tavLst>
                                        <p:tav tm="0">
                                          <p:val>
                                            <p:strVal val="#ppt_x"/>
                                          </p:val>
                                        </p:tav>
                                        <p:tav tm="100000">
                                          <p:val>
                                            <p:strVal val="#ppt_x"/>
                                          </p:val>
                                        </p:tav>
                                      </p:tavLst>
                                    </p:anim>
                                    <p:anim calcmode="lin" valueType="num">
                                      <p:cBhvr additive="base">
                                        <p:cTn id="80" dur="500" fill="hold"/>
                                        <p:tgtEl>
                                          <p:spTgt spid="442424"/>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442411"/>
                                        </p:tgtEl>
                                        <p:attrNameLst>
                                          <p:attrName>style.visibility</p:attrName>
                                        </p:attrNameLst>
                                      </p:cBhvr>
                                      <p:to>
                                        <p:strVal val="visible"/>
                                      </p:to>
                                    </p:set>
                                    <p:anim calcmode="lin" valueType="num">
                                      <p:cBhvr additive="base">
                                        <p:cTn id="85" dur="500" fill="hold"/>
                                        <p:tgtEl>
                                          <p:spTgt spid="442411"/>
                                        </p:tgtEl>
                                        <p:attrNameLst>
                                          <p:attrName>ppt_x</p:attrName>
                                        </p:attrNameLst>
                                      </p:cBhvr>
                                      <p:tavLst>
                                        <p:tav tm="0">
                                          <p:val>
                                            <p:strVal val="#ppt_x"/>
                                          </p:val>
                                        </p:tav>
                                        <p:tav tm="100000">
                                          <p:val>
                                            <p:strVal val="#ppt_x"/>
                                          </p:val>
                                        </p:tav>
                                      </p:tavLst>
                                    </p:anim>
                                    <p:anim calcmode="lin" valueType="num">
                                      <p:cBhvr additive="base">
                                        <p:cTn id="86" dur="500" fill="hold"/>
                                        <p:tgtEl>
                                          <p:spTgt spid="442411"/>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442428"/>
                                        </p:tgtEl>
                                        <p:attrNameLst>
                                          <p:attrName>style.visibility</p:attrName>
                                        </p:attrNameLst>
                                      </p:cBhvr>
                                      <p:to>
                                        <p:strVal val="visible"/>
                                      </p:to>
                                    </p:set>
                                    <p:anim calcmode="lin" valueType="num">
                                      <p:cBhvr additive="base">
                                        <p:cTn id="91" dur="500" fill="hold"/>
                                        <p:tgtEl>
                                          <p:spTgt spid="442428"/>
                                        </p:tgtEl>
                                        <p:attrNameLst>
                                          <p:attrName>ppt_x</p:attrName>
                                        </p:attrNameLst>
                                      </p:cBhvr>
                                      <p:tavLst>
                                        <p:tav tm="0">
                                          <p:val>
                                            <p:strVal val="#ppt_x"/>
                                          </p:val>
                                        </p:tav>
                                        <p:tav tm="100000">
                                          <p:val>
                                            <p:strVal val="#ppt_x"/>
                                          </p:val>
                                        </p:tav>
                                      </p:tavLst>
                                    </p:anim>
                                    <p:anim calcmode="lin" valueType="num">
                                      <p:cBhvr additive="base">
                                        <p:cTn id="92" dur="500" fill="hold"/>
                                        <p:tgtEl>
                                          <p:spTgt spid="442428"/>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442425"/>
                                        </p:tgtEl>
                                        <p:attrNameLst>
                                          <p:attrName>style.visibility</p:attrName>
                                        </p:attrNameLst>
                                      </p:cBhvr>
                                      <p:to>
                                        <p:strVal val="visible"/>
                                      </p:to>
                                    </p:set>
                                    <p:anim calcmode="lin" valueType="num">
                                      <p:cBhvr additive="base">
                                        <p:cTn id="97" dur="500" fill="hold"/>
                                        <p:tgtEl>
                                          <p:spTgt spid="442425"/>
                                        </p:tgtEl>
                                        <p:attrNameLst>
                                          <p:attrName>ppt_x</p:attrName>
                                        </p:attrNameLst>
                                      </p:cBhvr>
                                      <p:tavLst>
                                        <p:tav tm="0">
                                          <p:val>
                                            <p:strVal val="#ppt_x"/>
                                          </p:val>
                                        </p:tav>
                                        <p:tav tm="100000">
                                          <p:val>
                                            <p:strVal val="#ppt_x"/>
                                          </p:val>
                                        </p:tav>
                                      </p:tavLst>
                                    </p:anim>
                                    <p:anim calcmode="lin" valueType="num">
                                      <p:cBhvr additive="base">
                                        <p:cTn id="98" dur="500" fill="hold"/>
                                        <p:tgtEl>
                                          <p:spTgt spid="442425"/>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442412"/>
                                        </p:tgtEl>
                                        <p:attrNameLst>
                                          <p:attrName>style.visibility</p:attrName>
                                        </p:attrNameLst>
                                      </p:cBhvr>
                                      <p:to>
                                        <p:strVal val="visible"/>
                                      </p:to>
                                    </p:set>
                                    <p:anim calcmode="lin" valueType="num">
                                      <p:cBhvr additive="base">
                                        <p:cTn id="103" dur="500" fill="hold"/>
                                        <p:tgtEl>
                                          <p:spTgt spid="442412"/>
                                        </p:tgtEl>
                                        <p:attrNameLst>
                                          <p:attrName>ppt_x</p:attrName>
                                        </p:attrNameLst>
                                      </p:cBhvr>
                                      <p:tavLst>
                                        <p:tav tm="0">
                                          <p:val>
                                            <p:strVal val="#ppt_x"/>
                                          </p:val>
                                        </p:tav>
                                        <p:tav tm="100000">
                                          <p:val>
                                            <p:strVal val="#ppt_x"/>
                                          </p:val>
                                        </p:tav>
                                      </p:tavLst>
                                    </p:anim>
                                    <p:anim calcmode="lin" valueType="num">
                                      <p:cBhvr additive="base">
                                        <p:cTn id="104" dur="500" fill="hold"/>
                                        <p:tgtEl>
                                          <p:spTgt spid="442412"/>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442413"/>
                                        </p:tgtEl>
                                        <p:attrNameLst>
                                          <p:attrName>style.visibility</p:attrName>
                                        </p:attrNameLst>
                                      </p:cBhvr>
                                      <p:to>
                                        <p:strVal val="visible"/>
                                      </p:to>
                                    </p:set>
                                    <p:anim calcmode="lin" valueType="num">
                                      <p:cBhvr additive="base">
                                        <p:cTn id="109" dur="500" fill="hold"/>
                                        <p:tgtEl>
                                          <p:spTgt spid="442413"/>
                                        </p:tgtEl>
                                        <p:attrNameLst>
                                          <p:attrName>ppt_x</p:attrName>
                                        </p:attrNameLst>
                                      </p:cBhvr>
                                      <p:tavLst>
                                        <p:tav tm="0">
                                          <p:val>
                                            <p:strVal val="#ppt_x"/>
                                          </p:val>
                                        </p:tav>
                                        <p:tav tm="100000">
                                          <p:val>
                                            <p:strVal val="#ppt_x"/>
                                          </p:val>
                                        </p:tav>
                                      </p:tavLst>
                                    </p:anim>
                                    <p:anim calcmode="lin" valueType="num">
                                      <p:cBhvr additive="base">
                                        <p:cTn id="110" dur="500" fill="hold"/>
                                        <p:tgtEl>
                                          <p:spTgt spid="442413"/>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442429"/>
                                        </p:tgtEl>
                                        <p:attrNameLst>
                                          <p:attrName>style.visibility</p:attrName>
                                        </p:attrNameLst>
                                      </p:cBhvr>
                                      <p:to>
                                        <p:strVal val="visible"/>
                                      </p:to>
                                    </p:set>
                                    <p:anim calcmode="lin" valueType="num">
                                      <p:cBhvr additive="base">
                                        <p:cTn id="115" dur="500" fill="hold"/>
                                        <p:tgtEl>
                                          <p:spTgt spid="442429"/>
                                        </p:tgtEl>
                                        <p:attrNameLst>
                                          <p:attrName>ppt_x</p:attrName>
                                        </p:attrNameLst>
                                      </p:cBhvr>
                                      <p:tavLst>
                                        <p:tav tm="0">
                                          <p:val>
                                            <p:strVal val="#ppt_x"/>
                                          </p:val>
                                        </p:tav>
                                        <p:tav tm="100000">
                                          <p:val>
                                            <p:strVal val="#ppt_x"/>
                                          </p:val>
                                        </p:tav>
                                      </p:tavLst>
                                    </p:anim>
                                    <p:anim calcmode="lin" valueType="num">
                                      <p:cBhvr additive="base">
                                        <p:cTn id="116" dur="500" fill="hold"/>
                                        <p:tgtEl>
                                          <p:spTgt spid="442429"/>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442426"/>
                                        </p:tgtEl>
                                        <p:attrNameLst>
                                          <p:attrName>style.visibility</p:attrName>
                                        </p:attrNameLst>
                                      </p:cBhvr>
                                      <p:to>
                                        <p:strVal val="visible"/>
                                      </p:to>
                                    </p:set>
                                    <p:anim calcmode="lin" valueType="num">
                                      <p:cBhvr additive="base">
                                        <p:cTn id="121" dur="500" fill="hold"/>
                                        <p:tgtEl>
                                          <p:spTgt spid="442426"/>
                                        </p:tgtEl>
                                        <p:attrNameLst>
                                          <p:attrName>ppt_x</p:attrName>
                                        </p:attrNameLst>
                                      </p:cBhvr>
                                      <p:tavLst>
                                        <p:tav tm="0">
                                          <p:val>
                                            <p:strVal val="#ppt_x"/>
                                          </p:val>
                                        </p:tav>
                                        <p:tav tm="100000">
                                          <p:val>
                                            <p:strVal val="#ppt_x"/>
                                          </p:val>
                                        </p:tav>
                                      </p:tavLst>
                                    </p:anim>
                                    <p:anim calcmode="lin" valueType="num">
                                      <p:cBhvr additive="base">
                                        <p:cTn id="122" dur="500" fill="hold"/>
                                        <p:tgtEl>
                                          <p:spTgt spid="442426"/>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442414"/>
                                        </p:tgtEl>
                                        <p:attrNameLst>
                                          <p:attrName>style.visibility</p:attrName>
                                        </p:attrNameLst>
                                      </p:cBhvr>
                                      <p:to>
                                        <p:strVal val="visible"/>
                                      </p:to>
                                    </p:set>
                                    <p:anim calcmode="lin" valueType="num">
                                      <p:cBhvr additive="base">
                                        <p:cTn id="127" dur="500" fill="hold"/>
                                        <p:tgtEl>
                                          <p:spTgt spid="442414"/>
                                        </p:tgtEl>
                                        <p:attrNameLst>
                                          <p:attrName>ppt_x</p:attrName>
                                        </p:attrNameLst>
                                      </p:cBhvr>
                                      <p:tavLst>
                                        <p:tav tm="0">
                                          <p:val>
                                            <p:strVal val="#ppt_x"/>
                                          </p:val>
                                        </p:tav>
                                        <p:tav tm="100000">
                                          <p:val>
                                            <p:strVal val="#ppt_x"/>
                                          </p:val>
                                        </p:tav>
                                      </p:tavLst>
                                    </p:anim>
                                    <p:anim calcmode="lin" valueType="num">
                                      <p:cBhvr additive="base">
                                        <p:cTn id="128" dur="500" fill="hold"/>
                                        <p:tgtEl>
                                          <p:spTgt spid="442414"/>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442415"/>
                                        </p:tgtEl>
                                        <p:attrNameLst>
                                          <p:attrName>style.visibility</p:attrName>
                                        </p:attrNameLst>
                                      </p:cBhvr>
                                      <p:to>
                                        <p:strVal val="visible"/>
                                      </p:to>
                                    </p:set>
                                    <p:anim calcmode="lin" valueType="num">
                                      <p:cBhvr additive="base">
                                        <p:cTn id="133" dur="500" fill="hold"/>
                                        <p:tgtEl>
                                          <p:spTgt spid="442415"/>
                                        </p:tgtEl>
                                        <p:attrNameLst>
                                          <p:attrName>ppt_x</p:attrName>
                                        </p:attrNameLst>
                                      </p:cBhvr>
                                      <p:tavLst>
                                        <p:tav tm="0">
                                          <p:val>
                                            <p:strVal val="#ppt_x"/>
                                          </p:val>
                                        </p:tav>
                                        <p:tav tm="100000">
                                          <p:val>
                                            <p:strVal val="#ppt_x"/>
                                          </p:val>
                                        </p:tav>
                                      </p:tavLst>
                                    </p:anim>
                                    <p:anim calcmode="lin" valueType="num">
                                      <p:cBhvr additive="base">
                                        <p:cTn id="134" dur="500" fill="hold"/>
                                        <p:tgtEl>
                                          <p:spTgt spid="442415"/>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442430"/>
                                        </p:tgtEl>
                                        <p:attrNameLst>
                                          <p:attrName>style.visibility</p:attrName>
                                        </p:attrNameLst>
                                      </p:cBhvr>
                                      <p:to>
                                        <p:strVal val="visible"/>
                                      </p:to>
                                    </p:set>
                                    <p:anim calcmode="lin" valueType="num">
                                      <p:cBhvr additive="base">
                                        <p:cTn id="139" dur="500" fill="hold"/>
                                        <p:tgtEl>
                                          <p:spTgt spid="442430"/>
                                        </p:tgtEl>
                                        <p:attrNameLst>
                                          <p:attrName>ppt_x</p:attrName>
                                        </p:attrNameLst>
                                      </p:cBhvr>
                                      <p:tavLst>
                                        <p:tav tm="0">
                                          <p:val>
                                            <p:strVal val="#ppt_x"/>
                                          </p:val>
                                        </p:tav>
                                        <p:tav tm="100000">
                                          <p:val>
                                            <p:strVal val="#ppt_x"/>
                                          </p:val>
                                        </p:tav>
                                      </p:tavLst>
                                    </p:anim>
                                    <p:anim calcmode="lin" valueType="num">
                                      <p:cBhvr additive="base">
                                        <p:cTn id="140" dur="500" fill="hold"/>
                                        <p:tgtEl>
                                          <p:spTgt spid="442430"/>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grpId="0" nodeType="clickEffect">
                                  <p:stCondLst>
                                    <p:cond delay="0"/>
                                  </p:stCondLst>
                                  <p:childTnLst>
                                    <p:set>
                                      <p:cBhvr>
                                        <p:cTn id="144" dur="1" fill="hold">
                                          <p:stCondLst>
                                            <p:cond delay="0"/>
                                          </p:stCondLst>
                                        </p:cTn>
                                        <p:tgtEl>
                                          <p:spTgt spid="442417"/>
                                        </p:tgtEl>
                                        <p:attrNameLst>
                                          <p:attrName>style.visibility</p:attrName>
                                        </p:attrNameLst>
                                      </p:cBhvr>
                                      <p:to>
                                        <p:strVal val="visible"/>
                                      </p:to>
                                    </p:set>
                                    <p:anim calcmode="lin" valueType="num">
                                      <p:cBhvr additive="base">
                                        <p:cTn id="145" dur="500" fill="hold"/>
                                        <p:tgtEl>
                                          <p:spTgt spid="442417"/>
                                        </p:tgtEl>
                                        <p:attrNameLst>
                                          <p:attrName>ppt_x</p:attrName>
                                        </p:attrNameLst>
                                      </p:cBhvr>
                                      <p:tavLst>
                                        <p:tav tm="0">
                                          <p:val>
                                            <p:strVal val="#ppt_x"/>
                                          </p:val>
                                        </p:tav>
                                        <p:tav tm="100000">
                                          <p:val>
                                            <p:strVal val="#ppt_x"/>
                                          </p:val>
                                        </p:tav>
                                      </p:tavLst>
                                    </p:anim>
                                    <p:anim calcmode="lin" valueType="num">
                                      <p:cBhvr additive="base">
                                        <p:cTn id="146" dur="500" fill="hold"/>
                                        <p:tgtEl>
                                          <p:spTgt spid="442417"/>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grpId="0" nodeType="clickEffect">
                                  <p:stCondLst>
                                    <p:cond delay="0"/>
                                  </p:stCondLst>
                                  <p:childTnLst>
                                    <p:set>
                                      <p:cBhvr>
                                        <p:cTn id="150" dur="1" fill="hold">
                                          <p:stCondLst>
                                            <p:cond delay="0"/>
                                          </p:stCondLst>
                                        </p:cTn>
                                        <p:tgtEl>
                                          <p:spTgt spid="442416"/>
                                        </p:tgtEl>
                                        <p:attrNameLst>
                                          <p:attrName>style.visibility</p:attrName>
                                        </p:attrNameLst>
                                      </p:cBhvr>
                                      <p:to>
                                        <p:strVal val="visible"/>
                                      </p:to>
                                    </p:set>
                                    <p:anim calcmode="lin" valueType="num">
                                      <p:cBhvr additive="base">
                                        <p:cTn id="151" dur="500" fill="hold"/>
                                        <p:tgtEl>
                                          <p:spTgt spid="442416"/>
                                        </p:tgtEl>
                                        <p:attrNameLst>
                                          <p:attrName>ppt_x</p:attrName>
                                        </p:attrNameLst>
                                      </p:cBhvr>
                                      <p:tavLst>
                                        <p:tav tm="0">
                                          <p:val>
                                            <p:strVal val="#ppt_x"/>
                                          </p:val>
                                        </p:tav>
                                        <p:tav tm="100000">
                                          <p:val>
                                            <p:strVal val="#ppt_x"/>
                                          </p:val>
                                        </p:tav>
                                      </p:tavLst>
                                    </p:anim>
                                    <p:anim calcmode="lin" valueType="num">
                                      <p:cBhvr additive="base">
                                        <p:cTn id="152" dur="500" fill="hold"/>
                                        <p:tgtEl>
                                          <p:spTgt spid="4424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405" grpId="0" animBg="1"/>
      <p:bldP spid="442406" grpId="0" animBg="1"/>
      <p:bldP spid="442407" grpId="0" animBg="1"/>
      <p:bldP spid="442408" grpId="0" animBg="1"/>
      <p:bldP spid="442409" grpId="0" animBg="1"/>
      <p:bldP spid="442410" grpId="0" animBg="1"/>
      <p:bldP spid="442411" grpId="0" animBg="1"/>
      <p:bldP spid="442412" grpId="0" animBg="1"/>
      <p:bldP spid="442413" grpId="0" animBg="1"/>
      <p:bldP spid="442414" grpId="0" animBg="1"/>
      <p:bldP spid="442415" grpId="0" animBg="1"/>
      <p:bldP spid="442416" grpId="0"/>
      <p:bldP spid="442417" grpId="0" animBg="1"/>
      <p:bldP spid="442418" grpId="0" animBg="1"/>
      <p:bldP spid="442419" grpId="0" animBg="1"/>
      <p:bldP spid="442420" grpId="0" animBg="1"/>
      <p:bldP spid="442421" grpId="0" animBg="1"/>
      <p:bldP spid="442422" grpId="0" animBg="1"/>
      <p:bldP spid="442423" grpId="0" animBg="1"/>
      <p:bldP spid="442424" grpId="0" animBg="1"/>
      <p:bldP spid="442425" grpId="0" animBg="1"/>
      <p:bldP spid="442426" grpId="0" animBg="1"/>
      <p:bldP spid="442428" grpId="0" animBg="1"/>
      <p:bldP spid="442429" grpId="0" animBg="1"/>
      <p:bldP spid="44243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835F9190-1B2A-421F-8C12-CC66195FE97A}" type="slidenum">
              <a:rPr lang="en-US" altLang="zh-CN"/>
            </a:fld>
            <a:endParaRPr lang="en-US" altLang="zh-CN"/>
          </a:p>
        </p:txBody>
      </p:sp>
      <p:sp>
        <p:nvSpPr>
          <p:cNvPr id="441347" name="Rectangle 3"/>
          <p:cNvSpPr>
            <a:spLocks noGrp="1" noChangeArrowheads="1"/>
          </p:cNvSpPr>
          <p:nvPr>
            <p:ph type="body" idx="1"/>
          </p:nvPr>
        </p:nvSpPr>
        <p:spPr>
          <a:xfrm>
            <a:off x="684213" y="1557338"/>
            <a:ext cx="7777162" cy="4824412"/>
          </a:xfrm>
        </p:spPr>
        <p:txBody>
          <a:bodyPr/>
          <a:lstStyle/>
          <a:p>
            <a:pPr>
              <a:lnSpc>
                <a:spcPct val="80000"/>
              </a:lnSpc>
              <a:buFont typeface="Wingdings" panose="05000000000000000000" pitchFamily="2" charset="2"/>
              <a:buNone/>
            </a:pPr>
            <a:r>
              <a:rPr lang="zh-CN" altLang="en-US" sz="3200" b="1">
                <a:solidFill>
                  <a:srgbClr val="CC0000"/>
                </a:solidFill>
                <a:latin typeface="新宋体" panose="02010609030101010101" charset="-122"/>
                <a:ea typeface="新宋体" panose="02010609030101010101" charset="-122"/>
              </a:rPr>
              <a:t>求解步骤：</a:t>
            </a:r>
            <a:endParaRPr lang="zh-CN" altLang="en-US" sz="3200" b="1">
              <a:solidFill>
                <a:srgbClr val="CC0000"/>
              </a:solidFill>
              <a:latin typeface="新宋体" panose="02010609030101010101" charset="-122"/>
              <a:ea typeface="新宋体" panose="02010609030101010101" charset="-122"/>
            </a:endParaRPr>
          </a:p>
          <a:p>
            <a:pPr>
              <a:lnSpc>
                <a:spcPct val="80000"/>
              </a:lnSpc>
            </a:pPr>
            <a:r>
              <a:rPr lang="zh-CN" altLang="en-US" sz="2800">
                <a:latin typeface="华文新魏" panose="02010800040101010101" pitchFamily="2" charset="-122"/>
                <a:ea typeface="华文新魏" panose="02010800040101010101" pitchFamily="2" charset="-122"/>
              </a:rPr>
              <a:t>定义解空间（对解编码）；</a:t>
            </a:r>
            <a:endParaRPr lang="zh-CN" altLang="en-US" sz="2800">
              <a:latin typeface="华文新魏" panose="02010800040101010101" pitchFamily="2" charset="-122"/>
              <a:ea typeface="华文新魏" panose="02010800040101010101" pitchFamily="2" charset="-122"/>
            </a:endParaRPr>
          </a:p>
          <a:p>
            <a:pPr>
              <a:lnSpc>
                <a:spcPct val="80000"/>
              </a:lnSpc>
            </a:pPr>
            <a:r>
              <a:rPr lang="zh-CN" altLang="en-US" sz="2800">
                <a:latin typeface="华文新魏" panose="02010800040101010101" pitchFamily="2" charset="-122"/>
                <a:ea typeface="华文新魏" panose="02010800040101010101" pitchFamily="2" charset="-122"/>
              </a:rPr>
              <a:t>确定解空间的树结构；</a:t>
            </a:r>
            <a:endParaRPr lang="zh-CN" altLang="en-US" sz="2800">
              <a:latin typeface="华文新魏" panose="02010800040101010101" pitchFamily="2" charset="-122"/>
              <a:ea typeface="华文新魏" panose="02010800040101010101" pitchFamily="2" charset="-122"/>
            </a:endParaRPr>
          </a:p>
          <a:p>
            <a:pPr>
              <a:lnSpc>
                <a:spcPct val="80000"/>
              </a:lnSpc>
            </a:pPr>
            <a:r>
              <a:rPr lang="zh-CN" altLang="en-US" sz="2800">
                <a:latin typeface="华文新魏" panose="02010800040101010101" pitchFamily="2" charset="-122"/>
                <a:ea typeface="华文新魏" panose="02010800040101010101" pitchFamily="2" charset="-122"/>
              </a:rPr>
              <a:t>按</a:t>
            </a:r>
            <a:r>
              <a:rPr lang="en-US" altLang="zh-CN" sz="2800">
                <a:latin typeface="华文新魏" panose="02010800040101010101" pitchFamily="2" charset="-122"/>
                <a:ea typeface="华文新魏" panose="02010800040101010101" pitchFamily="2" charset="-122"/>
              </a:rPr>
              <a:t>BFS</a:t>
            </a:r>
            <a:r>
              <a:rPr lang="zh-CN" altLang="en-US" sz="2800">
                <a:latin typeface="华文新魏" panose="02010800040101010101" pitchFamily="2" charset="-122"/>
                <a:ea typeface="华文新魏" panose="02010800040101010101" pitchFamily="2" charset="-122"/>
              </a:rPr>
              <a:t>等方式搜索：</a:t>
            </a:r>
            <a:endParaRPr lang="zh-CN" altLang="en-US" sz="2800">
              <a:latin typeface="华文新魏" panose="02010800040101010101" pitchFamily="2" charset="-122"/>
              <a:ea typeface="华文新魏" panose="02010800040101010101" pitchFamily="2" charset="-122"/>
            </a:endParaRPr>
          </a:p>
          <a:p>
            <a:pPr lvl="1">
              <a:lnSpc>
                <a:spcPct val="80000"/>
              </a:lnSpc>
              <a:buFont typeface="Wingdings" panose="05000000000000000000" pitchFamily="2" charset="2"/>
              <a:buNone/>
            </a:pPr>
            <a:r>
              <a:rPr lang="en-US" altLang="zh-CN">
                <a:latin typeface="华文新魏" panose="02010800040101010101" pitchFamily="2" charset="-122"/>
                <a:ea typeface="华文新魏" panose="02010800040101010101" pitchFamily="2" charset="-122"/>
              </a:rPr>
              <a:t>a. </a:t>
            </a:r>
            <a:r>
              <a:rPr lang="zh-CN" altLang="en-US">
                <a:latin typeface="华文新魏" panose="02010800040101010101" pitchFamily="2" charset="-122"/>
                <a:ea typeface="华文新魏" panose="02010800040101010101" pitchFamily="2" charset="-122"/>
              </a:rPr>
              <a:t>每个活结点仅有一次机会变成扩展结点；</a:t>
            </a:r>
            <a:endParaRPr lang="zh-CN" altLang="en-US">
              <a:latin typeface="华文新魏" panose="02010800040101010101" pitchFamily="2" charset="-122"/>
              <a:ea typeface="华文新魏" panose="02010800040101010101" pitchFamily="2" charset="-122"/>
            </a:endParaRPr>
          </a:p>
          <a:p>
            <a:pPr lvl="1">
              <a:lnSpc>
                <a:spcPct val="80000"/>
              </a:lnSpc>
              <a:buFont typeface="Wingdings" panose="05000000000000000000" pitchFamily="2" charset="2"/>
              <a:buNone/>
            </a:pPr>
            <a:r>
              <a:rPr lang="en-US" altLang="zh-CN">
                <a:latin typeface="华文新魏" panose="02010800040101010101" pitchFamily="2" charset="-122"/>
                <a:ea typeface="华文新魏" panose="02010800040101010101" pitchFamily="2" charset="-122"/>
              </a:rPr>
              <a:t>b. </a:t>
            </a:r>
            <a:r>
              <a:rPr lang="zh-CN" altLang="en-US">
                <a:latin typeface="华文新魏" panose="02010800040101010101" pitchFamily="2" charset="-122"/>
                <a:ea typeface="华文新魏" panose="02010800040101010101" pitchFamily="2" charset="-122"/>
              </a:rPr>
              <a:t>由扩展结点生成一步可达的新结点；</a:t>
            </a:r>
            <a:endParaRPr lang="zh-CN" altLang="en-US">
              <a:latin typeface="华文新魏" panose="02010800040101010101" pitchFamily="2" charset="-122"/>
              <a:ea typeface="华文新魏" panose="02010800040101010101" pitchFamily="2" charset="-122"/>
            </a:endParaRPr>
          </a:p>
          <a:p>
            <a:pPr lvl="1">
              <a:lnSpc>
                <a:spcPct val="80000"/>
              </a:lnSpc>
              <a:buFont typeface="Wingdings" panose="05000000000000000000" pitchFamily="2" charset="2"/>
              <a:buNone/>
            </a:pPr>
            <a:r>
              <a:rPr lang="en-US" altLang="zh-CN">
                <a:latin typeface="华文新魏" panose="02010800040101010101" pitchFamily="2" charset="-122"/>
                <a:ea typeface="华文新魏" panose="02010800040101010101" pitchFamily="2" charset="-122"/>
              </a:rPr>
              <a:t>c. </a:t>
            </a:r>
            <a:r>
              <a:rPr lang="zh-CN" altLang="en-US">
                <a:latin typeface="华文新魏" panose="02010800040101010101" pitchFamily="2" charset="-122"/>
                <a:ea typeface="华文新魏" panose="02010800040101010101" pitchFamily="2" charset="-122"/>
              </a:rPr>
              <a:t>在新结点中，删除不可能导出最优解的结点；</a:t>
            </a:r>
            <a:endParaRPr lang="zh-CN" altLang="en-US">
              <a:latin typeface="华文新魏" panose="02010800040101010101" pitchFamily="2" charset="-122"/>
              <a:ea typeface="华文新魏" panose="02010800040101010101" pitchFamily="2" charset="-122"/>
            </a:endParaRPr>
          </a:p>
          <a:p>
            <a:pPr lvl="1">
              <a:lnSpc>
                <a:spcPct val="80000"/>
              </a:lnSpc>
              <a:buFont typeface="Wingdings" panose="05000000000000000000" pitchFamily="2" charset="2"/>
              <a:buNone/>
            </a:pPr>
            <a:r>
              <a:rPr lang="en-US" altLang="zh-CN">
                <a:latin typeface="华文新魏" panose="02010800040101010101" pitchFamily="2" charset="-122"/>
                <a:ea typeface="华文新魏" panose="02010800040101010101" pitchFamily="2" charset="-122"/>
              </a:rPr>
              <a:t>                 //</a:t>
            </a:r>
            <a:r>
              <a:rPr lang="zh-CN" altLang="en-US">
                <a:latin typeface="华文新魏" panose="02010800040101010101" pitchFamily="2" charset="-122"/>
                <a:ea typeface="华文新魏" panose="02010800040101010101" pitchFamily="2" charset="-122"/>
              </a:rPr>
              <a:t>限界策略</a:t>
            </a:r>
            <a:endParaRPr lang="zh-CN" altLang="en-US">
              <a:latin typeface="华文新魏" panose="02010800040101010101" pitchFamily="2" charset="-122"/>
              <a:ea typeface="华文新魏" panose="02010800040101010101" pitchFamily="2" charset="-122"/>
            </a:endParaRPr>
          </a:p>
          <a:p>
            <a:pPr lvl="1">
              <a:lnSpc>
                <a:spcPct val="80000"/>
              </a:lnSpc>
              <a:buFont typeface="Wingdings" panose="05000000000000000000" pitchFamily="2" charset="2"/>
              <a:buNone/>
            </a:pPr>
            <a:r>
              <a:rPr lang="en-US" altLang="zh-CN">
                <a:latin typeface="华文新魏" panose="02010800040101010101" pitchFamily="2" charset="-122"/>
                <a:ea typeface="华文新魏" panose="02010800040101010101" pitchFamily="2" charset="-122"/>
              </a:rPr>
              <a:t>d. </a:t>
            </a:r>
            <a:r>
              <a:rPr lang="zh-CN" altLang="en-US">
                <a:latin typeface="华文新魏" panose="02010800040101010101" pitchFamily="2" charset="-122"/>
                <a:ea typeface="华文新魏" panose="02010800040101010101" pitchFamily="2" charset="-122"/>
              </a:rPr>
              <a:t>将剩余的新结点加入活动表（队列）中；</a:t>
            </a:r>
            <a:endParaRPr lang="zh-CN" altLang="en-US">
              <a:latin typeface="华文新魏" panose="02010800040101010101" pitchFamily="2" charset="-122"/>
              <a:ea typeface="华文新魏" panose="02010800040101010101" pitchFamily="2" charset="-122"/>
            </a:endParaRPr>
          </a:p>
          <a:p>
            <a:pPr lvl="1">
              <a:lnSpc>
                <a:spcPct val="80000"/>
              </a:lnSpc>
              <a:buFont typeface="Wingdings" panose="05000000000000000000" pitchFamily="2" charset="2"/>
              <a:buNone/>
            </a:pPr>
            <a:r>
              <a:rPr lang="en-US" altLang="zh-CN">
                <a:latin typeface="华文新魏" panose="02010800040101010101" pitchFamily="2" charset="-122"/>
                <a:ea typeface="华文新魏" panose="02010800040101010101" pitchFamily="2" charset="-122"/>
              </a:rPr>
              <a:t>e. </a:t>
            </a:r>
            <a:r>
              <a:rPr lang="zh-CN" altLang="en-US">
                <a:latin typeface="华文新魏" panose="02010800040101010101" pitchFamily="2" charset="-122"/>
                <a:ea typeface="华文新魏" panose="02010800040101010101" pitchFamily="2" charset="-122"/>
              </a:rPr>
              <a:t>从活动表中选择结点再扩展； </a:t>
            </a:r>
            <a:r>
              <a:rPr lang="en-US" altLang="zh-CN">
                <a:latin typeface="华文新魏" panose="02010800040101010101" pitchFamily="2" charset="-122"/>
                <a:ea typeface="华文新魏" panose="02010800040101010101" pitchFamily="2" charset="-122"/>
              </a:rPr>
              <a:t>//</a:t>
            </a:r>
            <a:r>
              <a:rPr lang="zh-CN" altLang="en-US">
                <a:latin typeface="华文新魏" panose="02010800040101010101" pitchFamily="2" charset="-122"/>
                <a:ea typeface="华文新魏" panose="02010800040101010101" pitchFamily="2" charset="-122"/>
              </a:rPr>
              <a:t>分支策略</a:t>
            </a:r>
            <a:endParaRPr lang="zh-CN" altLang="en-US">
              <a:latin typeface="华文新魏" panose="02010800040101010101" pitchFamily="2" charset="-122"/>
              <a:ea typeface="华文新魏" panose="02010800040101010101" pitchFamily="2" charset="-122"/>
            </a:endParaRPr>
          </a:p>
          <a:p>
            <a:pPr lvl="1">
              <a:lnSpc>
                <a:spcPct val="80000"/>
              </a:lnSpc>
              <a:buFont typeface="Wingdings" panose="05000000000000000000" pitchFamily="2" charset="2"/>
              <a:buNone/>
            </a:pPr>
            <a:r>
              <a:rPr lang="en-US" altLang="zh-CN">
                <a:latin typeface="华文新魏" panose="02010800040101010101" pitchFamily="2" charset="-122"/>
                <a:ea typeface="华文新魏" panose="02010800040101010101" pitchFamily="2" charset="-122"/>
              </a:rPr>
              <a:t>f. </a:t>
            </a:r>
            <a:r>
              <a:rPr lang="zh-CN" altLang="en-US">
                <a:latin typeface="华文新魏" panose="02010800040101010101" pitchFamily="2" charset="-122"/>
                <a:ea typeface="华文新魏" panose="02010800040101010101" pitchFamily="2" charset="-122"/>
              </a:rPr>
              <a:t>直至活动表为空；</a:t>
            </a:r>
            <a:endParaRPr lang="zh-CN" altLang="en-US">
              <a:latin typeface="华文新魏" panose="02010800040101010101" pitchFamily="2" charset="-122"/>
              <a:ea typeface="华文新魏" panose="02010800040101010101" pitchFamily="2" charset="-122"/>
            </a:endParaRPr>
          </a:p>
        </p:txBody>
      </p:sp>
      <p:sp>
        <p:nvSpPr>
          <p:cNvPr id="441348" name="Rectangle 4"/>
          <p:cNvSpPr>
            <a:spLocks noChangeArrowheads="1"/>
          </p:cNvSpPr>
          <p:nvPr/>
        </p:nvSpPr>
        <p:spPr bwMode="auto">
          <a:xfrm>
            <a:off x="468313" y="115888"/>
            <a:ext cx="75438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zh-CN" altLang="en-US" sz="3000" b="1">
                <a:solidFill>
                  <a:schemeClr val="tx2"/>
                </a:solidFill>
              </a:rPr>
              <a:t>6.1	分支限界法的基本思想</a:t>
            </a:r>
            <a:endParaRPr lang="zh-CN" altLang="en-US" sz="3000" b="1">
              <a:solidFill>
                <a:schemeClr val="tx2"/>
              </a:solidFill>
            </a:endParaRPr>
          </a:p>
        </p:txBody>
      </p:sp>
    </p:spTree>
  </p:cSld>
  <p:clrMapOvr>
    <a:masterClrMapping/>
  </p:clrMapOvr>
  <p:transition>
    <p:blinds/>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85558EAA-62E3-4358-BB93-A5F0EA9BDEFE}" type="slidenum">
              <a:rPr lang="en-US" altLang="zh-CN"/>
            </a:fld>
            <a:endParaRPr lang="en-US" altLang="zh-CN"/>
          </a:p>
        </p:txBody>
      </p:sp>
      <p:sp>
        <p:nvSpPr>
          <p:cNvPr id="286722" name="Rectangle 2"/>
          <p:cNvSpPr>
            <a:spLocks noGrp="1" noChangeArrowheads="1"/>
          </p:cNvSpPr>
          <p:nvPr>
            <p:ph type="title"/>
          </p:nvPr>
        </p:nvSpPr>
        <p:spPr/>
        <p:txBody>
          <a:bodyPr/>
          <a:lstStyle/>
          <a:p>
            <a:r>
              <a:rPr kumimoji="1" lang="zh-CN" altLang="en-US" sz="3500">
                <a:solidFill>
                  <a:schemeClr val="accent2"/>
                </a:solidFill>
              </a:rPr>
              <a:t>常见的两种分支限界法</a:t>
            </a:r>
            <a:endParaRPr lang="zh-CN" altLang="en-US" sz="3500">
              <a:solidFill>
                <a:schemeClr val="accent2"/>
              </a:solidFill>
            </a:endParaRPr>
          </a:p>
        </p:txBody>
      </p:sp>
      <p:sp>
        <p:nvSpPr>
          <p:cNvPr id="286727" name="Text Box 7"/>
          <p:cNvSpPr txBox="1">
            <a:spLocks noChangeArrowheads="1"/>
          </p:cNvSpPr>
          <p:nvPr/>
        </p:nvSpPr>
        <p:spPr bwMode="auto">
          <a:xfrm>
            <a:off x="468313" y="1557338"/>
            <a:ext cx="8351837" cy="162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spcBef>
                <a:spcPct val="20000"/>
              </a:spcBef>
            </a:pPr>
            <a:r>
              <a:rPr lang="zh-CN" altLang="en-US" sz="2400" b="1">
                <a:latin typeface="新宋体" panose="02010609030101010101" charset="-122"/>
                <a:ea typeface="新宋体" panose="02010609030101010101" charset="-122"/>
              </a:rPr>
              <a:t>（1）</a:t>
            </a:r>
            <a:r>
              <a:rPr lang="zh-CN" altLang="en-US" sz="2400" b="1">
                <a:solidFill>
                  <a:srgbClr val="A50021"/>
                </a:solidFill>
                <a:latin typeface="新宋体" panose="02010609030101010101" charset="-122"/>
                <a:ea typeface="新宋体" panose="02010609030101010101" charset="-122"/>
              </a:rPr>
              <a:t>队列式(</a:t>
            </a:r>
            <a:r>
              <a:rPr lang="en-US" altLang="zh-CN" sz="2400" b="1">
                <a:solidFill>
                  <a:srgbClr val="A50021"/>
                </a:solidFill>
                <a:latin typeface="新宋体" panose="02010609030101010101" charset="-122"/>
                <a:ea typeface="新宋体" panose="02010609030101010101" charset="-122"/>
              </a:rPr>
              <a:t>FIFO)</a:t>
            </a:r>
            <a:r>
              <a:rPr lang="zh-CN" altLang="en-US" sz="2400" b="1">
                <a:solidFill>
                  <a:srgbClr val="A50021"/>
                </a:solidFill>
                <a:latin typeface="新宋体" panose="02010609030101010101" charset="-122"/>
                <a:ea typeface="新宋体" panose="02010609030101010101" charset="-122"/>
              </a:rPr>
              <a:t>分支限界法</a:t>
            </a:r>
            <a:endParaRPr lang="zh-CN" altLang="en-US" sz="2400" b="1">
              <a:solidFill>
                <a:srgbClr val="A50021"/>
              </a:solidFill>
              <a:latin typeface="新宋体" panose="02010609030101010101" charset="-122"/>
              <a:ea typeface="新宋体" panose="02010609030101010101" charset="-122"/>
            </a:endParaRPr>
          </a:p>
          <a:p>
            <a:pPr>
              <a:spcBef>
                <a:spcPct val="20000"/>
              </a:spcBef>
            </a:pPr>
            <a:r>
              <a:rPr lang="zh-CN" altLang="en-US" sz="2400" b="1">
                <a:latin typeface="新宋体" panose="02010609030101010101" charset="-122"/>
                <a:ea typeface="新宋体" panose="02010609030101010101" charset="-122"/>
              </a:rPr>
              <a:t>    按照队列先进先出（</a:t>
            </a:r>
            <a:r>
              <a:rPr lang="en-US" altLang="zh-CN" sz="2400" b="1">
                <a:latin typeface="新宋体" panose="02010609030101010101" charset="-122"/>
                <a:ea typeface="新宋体" panose="02010609030101010101" charset="-122"/>
              </a:rPr>
              <a:t>FIFO）</a:t>
            </a:r>
            <a:r>
              <a:rPr lang="zh-CN" altLang="en-US" sz="2400" b="1">
                <a:latin typeface="新宋体" panose="02010609030101010101" charset="-122"/>
                <a:ea typeface="新宋体" panose="02010609030101010101" charset="-122"/>
              </a:rPr>
              <a:t>原则选取下一个节点为扩展节点。从活结点表中取出结点的顺序与加入结点的顺序相同，因此活结点表的性质与队列相同；</a:t>
            </a:r>
            <a:endParaRPr lang="zh-CN" altLang="en-US" sz="2400" b="1">
              <a:latin typeface="新宋体" panose="02010609030101010101" charset="-122"/>
              <a:ea typeface="新宋体" panose="02010609030101010101" charset="-122"/>
            </a:endParaRPr>
          </a:p>
        </p:txBody>
      </p:sp>
      <p:sp>
        <p:nvSpPr>
          <p:cNvPr id="286729" name="Text Box 9"/>
          <p:cNvSpPr txBox="1">
            <a:spLocks noChangeArrowheads="1"/>
          </p:cNvSpPr>
          <p:nvPr/>
        </p:nvSpPr>
        <p:spPr bwMode="auto">
          <a:xfrm>
            <a:off x="468313" y="3357563"/>
            <a:ext cx="8351837"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spcBef>
                <a:spcPct val="20000"/>
              </a:spcBef>
            </a:pPr>
            <a:r>
              <a:rPr lang="zh-CN" altLang="en-US" sz="2400" b="1">
                <a:latin typeface="新宋体" panose="02010609030101010101" charset="-122"/>
                <a:ea typeface="新宋体" panose="02010609030101010101" charset="-122"/>
              </a:rPr>
              <a:t>（2）</a:t>
            </a:r>
            <a:r>
              <a:rPr lang="zh-CN" altLang="en-US" sz="2400" b="1">
                <a:solidFill>
                  <a:srgbClr val="A50021"/>
                </a:solidFill>
                <a:latin typeface="新宋体" panose="02010609030101010101" charset="-122"/>
                <a:ea typeface="新宋体" panose="02010609030101010101" charset="-122"/>
              </a:rPr>
              <a:t>优先队列式分支限界法（代价最小或效益最大）</a:t>
            </a:r>
            <a:endParaRPr lang="zh-CN" altLang="en-US" sz="2400" b="1">
              <a:solidFill>
                <a:srgbClr val="A50021"/>
              </a:solidFill>
              <a:latin typeface="新宋体" panose="02010609030101010101" charset="-122"/>
              <a:ea typeface="新宋体" panose="02010609030101010101" charset="-122"/>
            </a:endParaRPr>
          </a:p>
          <a:p>
            <a:pPr>
              <a:spcBef>
                <a:spcPct val="20000"/>
              </a:spcBef>
            </a:pPr>
            <a:r>
              <a:rPr lang="zh-CN" altLang="en-US" sz="2400" b="1">
                <a:latin typeface="新宋体" panose="02010609030101010101" charset="-122"/>
                <a:ea typeface="新宋体" panose="02010609030101010101" charset="-122"/>
              </a:rPr>
              <a:t>    按照优先队列中规定的优先级选取优先级最高的节点成为当前扩展节点。每个结点都有一个对应的耗费或收益，以此决定结点的优先级：</a:t>
            </a:r>
            <a:endParaRPr lang="zh-CN" altLang="en-US" sz="2400" b="1">
              <a:latin typeface="新宋体" panose="02010609030101010101" charset="-122"/>
              <a:ea typeface="新宋体" panose="02010609030101010101" charset="-122"/>
            </a:endParaRPr>
          </a:p>
          <a:p>
            <a:r>
              <a:rPr lang="en-US" altLang="zh-CN" sz="2400">
                <a:latin typeface="Arial" panose="020B0604020202020204"/>
                <a:ea typeface="新宋体" panose="02010609030101010101" charset="-122"/>
              </a:rPr>
              <a:t>—</a:t>
            </a:r>
            <a:r>
              <a:rPr lang="en-US" altLang="zh-CN" sz="2400">
                <a:latin typeface="新宋体" panose="02010609030101010101" charset="-122"/>
                <a:ea typeface="新宋体" panose="02010609030101010101" charset="-122"/>
              </a:rPr>
              <a:t> </a:t>
            </a:r>
            <a:r>
              <a:rPr lang="zh-CN" altLang="en-US" sz="2400">
                <a:latin typeface="新宋体" panose="02010609030101010101" charset="-122"/>
                <a:ea typeface="新宋体" panose="02010609030101010101" charset="-122"/>
              </a:rPr>
              <a:t>如果查找一个具有最小耗费的解，则活结点可用小根堆来</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   建立，下一个扩展结点就是具有最小耗费的活结点；</a:t>
            </a:r>
            <a:endParaRPr lang="zh-CN" altLang="en-US" sz="2400">
              <a:latin typeface="新宋体" panose="02010609030101010101" charset="-122"/>
              <a:ea typeface="新宋体" panose="02010609030101010101" charset="-122"/>
            </a:endParaRPr>
          </a:p>
          <a:p>
            <a:r>
              <a:rPr lang="en-US" altLang="zh-CN" sz="2400">
                <a:latin typeface="Arial" panose="020B0604020202020204"/>
                <a:ea typeface="新宋体" panose="02010609030101010101" charset="-122"/>
              </a:rPr>
              <a:t>—</a:t>
            </a:r>
            <a:r>
              <a:rPr lang="en-US" altLang="zh-CN" sz="2400">
                <a:latin typeface="新宋体" panose="02010609030101010101" charset="-122"/>
                <a:ea typeface="新宋体" panose="02010609030101010101" charset="-122"/>
              </a:rPr>
              <a:t> </a:t>
            </a:r>
            <a:r>
              <a:rPr lang="zh-CN" altLang="en-US" sz="2400">
                <a:latin typeface="新宋体" panose="02010609030101010101" charset="-122"/>
                <a:ea typeface="新宋体" panose="02010609030101010101" charset="-122"/>
              </a:rPr>
              <a:t>如果希望搜索一个具有最大收益的解，则可用大根堆来构</a:t>
            </a:r>
            <a:endParaRPr lang="zh-CN" altLang="en-US" sz="2400">
              <a:latin typeface="新宋体" panose="02010609030101010101" charset="-122"/>
              <a:ea typeface="新宋体" panose="02010609030101010101" charset="-122"/>
            </a:endParaRPr>
          </a:p>
          <a:p>
            <a:r>
              <a:rPr lang="zh-CN" altLang="en-US" sz="2400">
                <a:latin typeface="新宋体" panose="02010609030101010101" charset="-122"/>
                <a:ea typeface="新宋体" panose="02010609030101010101" charset="-122"/>
              </a:rPr>
              <a:t>   造活结点表下一个扩展结点是具有最大收益的活结点。</a:t>
            </a:r>
            <a:endParaRPr lang="zh-CN" altLang="en-US" sz="2400">
              <a:latin typeface="新宋体" panose="02010609030101010101" charset="-122"/>
              <a:ea typeface="新宋体" panose="02010609030101010101"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727"/>
                                        </p:tgtEl>
                                        <p:attrNameLst>
                                          <p:attrName>style.visibility</p:attrName>
                                        </p:attrNameLst>
                                      </p:cBhvr>
                                      <p:to>
                                        <p:strVal val="visible"/>
                                      </p:to>
                                    </p:set>
                                    <p:animEffect transition="in" filter="blinds(horizontal)">
                                      <p:cBhvr>
                                        <p:cTn id="7" dur="500"/>
                                        <p:tgtEl>
                                          <p:spTgt spid="28672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86729"/>
                                        </p:tgtEl>
                                        <p:attrNameLst>
                                          <p:attrName>style.visibility</p:attrName>
                                        </p:attrNameLst>
                                      </p:cBhvr>
                                      <p:to>
                                        <p:strVal val="visible"/>
                                      </p:to>
                                    </p:set>
                                    <p:animEffect transition="in" filter="blinds(vertical)">
                                      <p:cBhvr>
                                        <p:cTn id="12" dur="500"/>
                                        <p:tgtEl>
                                          <p:spTgt spid="286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7" grpId="0" autoUpdateAnimBg="0"/>
      <p:bldP spid="286729"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A670D964-41B4-446A-AEEB-470D5CD33406}" type="slidenum">
              <a:rPr lang="en-US" altLang="zh-CN"/>
            </a:fld>
            <a:endParaRPr lang="en-US" altLang="zh-CN"/>
          </a:p>
        </p:txBody>
      </p:sp>
      <p:sp>
        <p:nvSpPr>
          <p:cNvPr id="454658" name="Rectangle 2"/>
          <p:cNvSpPr>
            <a:spLocks noGrp="1" noChangeArrowheads="1"/>
          </p:cNvSpPr>
          <p:nvPr>
            <p:ph type="title"/>
          </p:nvPr>
        </p:nvSpPr>
        <p:spPr>
          <a:xfrm>
            <a:off x="457200" y="122238"/>
            <a:ext cx="7543800" cy="930275"/>
          </a:xfrm>
        </p:spPr>
        <p:txBody>
          <a:bodyPr/>
          <a:lstStyle/>
          <a:p>
            <a:r>
              <a:rPr lang="zh-CN" altLang="en-US"/>
              <a:t>子集树</a:t>
            </a:r>
            <a:endParaRPr lang="zh-CN" altLang="en-US"/>
          </a:p>
        </p:txBody>
      </p:sp>
      <p:sp>
        <p:nvSpPr>
          <p:cNvPr id="454659" name="Rectangle 3"/>
          <p:cNvSpPr>
            <a:spLocks noGrp="1" noChangeArrowheads="1"/>
          </p:cNvSpPr>
          <p:nvPr>
            <p:ph type="body" idx="1"/>
          </p:nvPr>
        </p:nvSpPr>
        <p:spPr/>
        <p:txBody>
          <a:bodyPr/>
          <a:lstStyle/>
          <a:p>
            <a:pPr>
              <a:buFont typeface="Wingdings" panose="05000000000000000000" pitchFamily="2" charset="2"/>
              <a:buNone/>
            </a:pPr>
            <a:endParaRPr lang="zh-CN" altLang="en-US"/>
          </a:p>
        </p:txBody>
      </p:sp>
      <p:pic>
        <p:nvPicPr>
          <p:cNvPr id="45466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5650" y="1125538"/>
            <a:ext cx="7200900" cy="55340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blinds/>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41CD7382-0C55-4BA1-8801-B37B948ABD4E}" type="slidenum">
              <a:rPr lang="en-US" altLang="zh-CN"/>
            </a:fld>
            <a:endParaRPr lang="en-US" altLang="zh-CN"/>
          </a:p>
        </p:txBody>
      </p:sp>
      <p:sp>
        <p:nvSpPr>
          <p:cNvPr id="455682" name="Rectangle 2"/>
          <p:cNvSpPr>
            <a:spLocks noGrp="1" noChangeArrowheads="1"/>
          </p:cNvSpPr>
          <p:nvPr>
            <p:ph type="title"/>
          </p:nvPr>
        </p:nvSpPr>
        <p:spPr>
          <a:xfrm>
            <a:off x="457200" y="122238"/>
            <a:ext cx="7543800" cy="1074737"/>
          </a:xfrm>
        </p:spPr>
        <p:txBody>
          <a:bodyPr/>
          <a:lstStyle/>
          <a:p>
            <a:r>
              <a:rPr lang="zh-CN">
                <a:solidFill>
                  <a:srgbClr val="FF0000"/>
                </a:solidFill>
              </a:rPr>
              <a:t>排列树</a:t>
            </a:r>
            <a:endParaRPr lang="zh-CN" altLang="en-US">
              <a:solidFill>
                <a:srgbClr val="FF0000"/>
              </a:solidFill>
            </a:endParaRPr>
          </a:p>
        </p:txBody>
      </p:sp>
      <p:sp>
        <p:nvSpPr>
          <p:cNvPr id="455683" name="Rectangle 3"/>
          <p:cNvSpPr>
            <a:spLocks noGrp="1" noChangeArrowheads="1"/>
          </p:cNvSpPr>
          <p:nvPr>
            <p:ph type="body" idx="1"/>
          </p:nvPr>
        </p:nvSpPr>
        <p:spPr/>
        <p:txBody>
          <a:bodyPr/>
          <a:lstStyle/>
          <a:p>
            <a:endParaRPr lang="zh-CN" altLang="en-US"/>
          </a:p>
        </p:txBody>
      </p:sp>
      <p:pic>
        <p:nvPicPr>
          <p:cNvPr id="45568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1196975"/>
            <a:ext cx="8569325" cy="55514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blinds/>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5"/>
          <p:cNvSpPr>
            <a:spLocks noGrp="1"/>
          </p:cNvSpPr>
          <p:nvPr>
            <p:ph type="sldNum" sz="quarter" idx="12"/>
          </p:nvPr>
        </p:nvSpPr>
        <p:spPr/>
        <p:txBody>
          <a:bodyPr/>
          <a:lstStyle/>
          <a:p>
            <a:fld id="{DBD227F9-7923-4D34-ABB2-E806BF4CB953}" type="slidenum">
              <a:rPr lang="en-US" altLang="zh-CN"/>
            </a:fld>
            <a:endParaRPr lang="en-US" altLang="zh-CN"/>
          </a:p>
        </p:txBody>
      </p:sp>
      <p:sp>
        <p:nvSpPr>
          <p:cNvPr id="443394" name="Rectangle 2"/>
          <p:cNvSpPr>
            <a:spLocks noGrp="1" noChangeArrowheads="1"/>
          </p:cNvSpPr>
          <p:nvPr>
            <p:ph type="title"/>
          </p:nvPr>
        </p:nvSpPr>
        <p:spPr/>
        <p:txBody>
          <a:bodyPr/>
          <a:lstStyle/>
          <a:p>
            <a:r>
              <a:rPr lang="zh-CN" altLang="en-US"/>
              <a:t>四个</a:t>
            </a:r>
            <a:r>
              <a:rPr lang="en-US" altLang="zh-CN"/>
              <a:t>How</a:t>
            </a:r>
            <a:r>
              <a:rPr lang="zh-CN" altLang="en-US"/>
              <a:t>？</a:t>
            </a:r>
            <a:endParaRPr lang="zh-CN" altLang="en-US"/>
          </a:p>
        </p:txBody>
      </p:sp>
      <p:sp>
        <p:nvSpPr>
          <p:cNvPr id="443395" name="Rectangle 3"/>
          <p:cNvSpPr>
            <a:spLocks noGrp="1" noChangeArrowheads="1"/>
          </p:cNvSpPr>
          <p:nvPr>
            <p:ph type="body" idx="1"/>
          </p:nvPr>
        </p:nvSpPr>
        <p:spPr>
          <a:xfrm>
            <a:off x="250825" y="1844675"/>
            <a:ext cx="6553200" cy="4392613"/>
          </a:xfrm>
        </p:spPr>
        <p:txBody>
          <a:bodyPr/>
          <a:lstStyle/>
          <a:p>
            <a:pPr>
              <a:lnSpc>
                <a:spcPct val="90000"/>
              </a:lnSpc>
              <a:buFont typeface="Wingdings" panose="05000000000000000000" pitchFamily="2" charset="2"/>
              <a:buNone/>
            </a:pPr>
            <a:r>
              <a:rPr lang="en-US" altLang="zh-CN" sz="2400" b="1">
                <a:solidFill>
                  <a:srgbClr val="A50021"/>
                </a:solidFill>
                <a:latin typeface="Comic Sans MS" panose="030F0702030302020204" pitchFamily="66" charset="0"/>
              </a:rPr>
              <a:t> 	 How to compute upper bounds (for maximum problem)  </a:t>
            </a:r>
            <a:endParaRPr lang="en-US" altLang="zh-CN" sz="2400" b="1">
              <a:solidFill>
                <a:srgbClr val="A50021"/>
              </a:solidFill>
              <a:latin typeface="Comic Sans MS" panose="030F0702030302020204" pitchFamily="66" charset="0"/>
            </a:endParaRPr>
          </a:p>
          <a:p>
            <a:pPr>
              <a:lnSpc>
                <a:spcPct val="90000"/>
              </a:lnSpc>
              <a:buFont typeface="Wingdings" panose="05000000000000000000" pitchFamily="2" charset="2"/>
              <a:buNone/>
            </a:pPr>
            <a:endParaRPr lang="en-US" altLang="zh-CN" sz="2400" b="1">
              <a:solidFill>
                <a:srgbClr val="A50021"/>
              </a:solidFill>
              <a:latin typeface="Comic Sans MS" panose="030F0702030302020204" pitchFamily="66" charset="0"/>
            </a:endParaRPr>
          </a:p>
          <a:p>
            <a:pPr>
              <a:lnSpc>
                <a:spcPct val="90000"/>
              </a:lnSpc>
              <a:buFont typeface="Wingdings" panose="05000000000000000000" pitchFamily="2" charset="2"/>
              <a:buNone/>
            </a:pPr>
            <a:r>
              <a:rPr lang="en-US" altLang="zh-CN" sz="2400" b="1">
                <a:solidFill>
                  <a:srgbClr val="A50021"/>
                </a:solidFill>
                <a:latin typeface="Comic Sans MS" panose="030F0702030302020204" pitchFamily="66" charset="0"/>
              </a:rPr>
              <a:t>    How to compute lower bounds (for minimum problem)</a:t>
            </a:r>
            <a:endParaRPr lang="en-US" altLang="zh-CN" sz="2400" b="1">
              <a:solidFill>
                <a:srgbClr val="A50021"/>
              </a:solidFill>
              <a:latin typeface="Comic Sans MS" panose="030F0702030302020204" pitchFamily="66" charset="0"/>
            </a:endParaRPr>
          </a:p>
          <a:p>
            <a:pPr>
              <a:lnSpc>
                <a:spcPct val="90000"/>
              </a:lnSpc>
              <a:buFont typeface="Wingdings" panose="05000000000000000000" pitchFamily="2" charset="2"/>
              <a:buNone/>
            </a:pPr>
            <a:endParaRPr lang="en-US" altLang="zh-CN" sz="2400" b="1">
              <a:solidFill>
                <a:srgbClr val="A50021"/>
              </a:solidFill>
              <a:latin typeface="Comic Sans MS" panose="030F0702030302020204" pitchFamily="66" charset="0"/>
            </a:endParaRPr>
          </a:p>
          <a:p>
            <a:pPr>
              <a:lnSpc>
                <a:spcPct val="90000"/>
              </a:lnSpc>
              <a:buFont typeface="Wingdings" panose="05000000000000000000" pitchFamily="2" charset="2"/>
              <a:buNone/>
            </a:pPr>
            <a:r>
              <a:rPr lang="en-US" altLang="zh-CN" sz="2400" b="1">
                <a:solidFill>
                  <a:srgbClr val="A50021"/>
                </a:solidFill>
                <a:latin typeface="Comic Sans MS" panose="030F0702030302020204" pitchFamily="66" charset="0"/>
              </a:rPr>
              <a:t>    How to choose an item for the next branching operation </a:t>
            </a:r>
            <a:endParaRPr lang="en-US" altLang="zh-CN" sz="2400" b="1">
              <a:solidFill>
                <a:srgbClr val="A50021"/>
              </a:solidFill>
              <a:latin typeface="Comic Sans MS" panose="030F0702030302020204" pitchFamily="66" charset="0"/>
            </a:endParaRPr>
          </a:p>
          <a:p>
            <a:pPr>
              <a:lnSpc>
                <a:spcPct val="90000"/>
              </a:lnSpc>
              <a:buFont typeface="Wingdings" panose="05000000000000000000" pitchFamily="2" charset="2"/>
              <a:buNone/>
            </a:pPr>
            <a:endParaRPr lang="en-US" altLang="zh-CN" sz="2400" b="1">
              <a:solidFill>
                <a:srgbClr val="A50021"/>
              </a:solidFill>
              <a:latin typeface="Comic Sans MS" panose="030F0702030302020204" pitchFamily="66" charset="0"/>
            </a:endParaRPr>
          </a:p>
          <a:p>
            <a:pPr>
              <a:lnSpc>
                <a:spcPct val="90000"/>
              </a:lnSpc>
              <a:buFont typeface="Wingdings" panose="05000000000000000000" pitchFamily="2" charset="2"/>
              <a:buNone/>
            </a:pPr>
            <a:r>
              <a:rPr lang="en-US" altLang="zh-CN" sz="2400" b="1">
                <a:solidFill>
                  <a:srgbClr val="A50021"/>
                </a:solidFill>
                <a:latin typeface="Comic Sans MS" panose="030F0702030302020204" pitchFamily="66" charset="0"/>
              </a:rPr>
              <a:t>    How to develop the search tree (BFS, DFS, ...) </a:t>
            </a:r>
            <a:endParaRPr lang="zh-CN" altLang="en-US" sz="2400" b="1">
              <a:solidFill>
                <a:srgbClr val="A50021"/>
              </a:solidFill>
              <a:latin typeface="Comic Sans MS" panose="030F0702030302020204" pitchFamily="66" charset="0"/>
            </a:endParaRPr>
          </a:p>
        </p:txBody>
      </p:sp>
      <p:grpSp>
        <p:nvGrpSpPr>
          <p:cNvPr id="443410" name="Group 18"/>
          <p:cNvGrpSpPr/>
          <p:nvPr/>
        </p:nvGrpSpPr>
        <p:grpSpPr bwMode="auto">
          <a:xfrm>
            <a:off x="6515100" y="2276475"/>
            <a:ext cx="2160588" cy="3336925"/>
            <a:chOff x="4104" y="2115"/>
            <a:chExt cx="1361" cy="2102"/>
          </a:xfrm>
        </p:grpSpPr>
        <p:sp>
          <p:nvSpPr>
            <p:cNvPr id="443397" name="Oval 5"/>
            <p:cNvSpPr>
              <a:spLocks noChangeArrowheads="1"/>
            </p:cNvSpPr>
            <p:nvPr/>
          </p:nvSpPr>
          <p:spPr bwMode="auto">
            <a:xfrm>
              <a:off x="4104" y="2840"/>
              <a:ext cx="317" cy="318"/>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2400">
                <a:latin typeface="Times New Roman" panose="02020603050405020304" pitchFamily="18" charset="0"/>
              </a:endParaRPr>
            </a:p>
          </p:txBody>
        </p:sp>
        <p:grpSp>
          <p:nvGrpSpPr>
            <p:cNvPr id="443409" name="Group 17"/>
            <p:cNvGrpSpPr/>
            <p:nvPr/>
          </p:nvGrpSpPr>
          <p:grpSpPr bwMode="auto">
            <a:xfrm>
              <a:off x="4143" y="2115"/>
              <a:ext cx="1322" cy="2102"/>
              <a:chOff x="4143" y="2115"/>
              <a:chExt cx="1322" cy="2102"/>
            </a:xfrm>
          </p:grpSpPr>
          <p:sp>
            <p:nvSpPr>
              <p:cNvPr id="443396" name="Oval 4"/>
              <p:cNvSpPr>
                <a:spLocks noChangeArrowheads="1"/>
              </p:cNvSpPr>
              <p:nvPr/>
            </p:nvSpPr>
            <p:spPr bwMode="auto">
              <a:xfrm>
                <a:off x="4513" y="2115"/>
                <a:ext cx="136" cy="136"/>
              </a:xfrm>
              <a:prstGeom prst="ellipse">
                <a:avLst/>
              </a:prstGeom>
              <a:solidFill>
                <a:srgbClr val="00FF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398" name="Oval 6"/>
              <p:cNvSpPr>
                <a:spLocks noChangeArrowheads="1"/>
              </p:cNvSpPr>
              <p:nvPr/>
            </p:nvSpPr>
            <p:spPr bwMode="auto">
              <a:xfrm>
                <a:off x="4603" y="3929"/>
                <a:ext cx="136" cy="136"/>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399" name="Freeform 7"/>
              <p:cNvSpPr/>
              <p:nvPr/>
            </p:nvSpPr>
            <p:spPr bwMode="auto">
              <a:xfrm>
                <a:off x="4143" y="2251"/>
                <a:ext cx="415" cy="619"/>
              </a:xfrm>
              <a:custGeom>
                <a:avLst/>
                <a:gdLst>
                  <a:gd name="T0" fmla="*/ 415 w 415"/>
                  <a:gd name="T1" fmla="*/ 0 h 619"/>
                  <a:gd name="T2" fmla="*/ 7 w 415"/>
                  <a:gd name="T3" fmla="*/ 136 h 619"/>
                  <a:gd name="T4" fmla="*/ 370 w 415"/>
                  <a:gd name="T5" fmla="*/ 363 h 619"/>
                  <a:gd name="T6" fmla="*/ 98 w 415"/>
                  <a:gd name="T7" fmla="*/ 589 h 619"/>
                  <a:gd name="T8" fmla="*/ 143 w 415"/>
                  <a:gd name="T9" fmla="*/ 544 h 619"/>
                </a:gdLst>
                <a:ahLst/>
                <a:cxnLst>
                  <a:cxn ang="0">
                    <a:pos x="T0" y="T1"/>
                  </a:cxn>
                  <a:cxn ang="0">
                    <a:pos x="T2" y="T3"/>
                  </a:cxn>
                  <a:cxn ang="0">
                    <a:pos x="T4" y="T5"/>
                  </a:cxn>
                  <a:cxn ang="0">
                    <a:pos x="T6" y="T7"/>
                  </a:cxn>
                  <a:cxn ang="0">
                    <a:pos x="T8" y="T9"/>
                  </a:cxn>
                </a:cxnLst>
                <a:rect l="0" t="0" r="r" b="b"/>
                <a:pathLst>
                  <a:path w="415" h="619">
                    <a:moveTo>
                      <a:pt x="415" y="0"/>
                    </a:moveTo>
                    <a:cubicBezTo>
                      <a:pt x="214" y="37"/>
                      <a:pt x="14" y="75"/>
                      <a:pt x="7" y="136"/>
                    </a:cubicBezTo>
                    <a:cubicBezTo>
                      <a:pt x="0" y="197"/>
                      <a:pt x="355" y="288"/>
                      <a:pt x="370" y="363"/>
                    </a:cubicBezTo>
                    <a:cubicBezTo>
                      <a:pt x="385" y="438"/>
                      <a:pt x="136" y="559"/>
                      <a:pt x="98" y="589"/>
                    </a:cubicBezTo>
                    <a:cubicBezTo>
                      <a:pt x="60" y="619"/>
                      <a:pt x="143" y="551"/>
                      <a:pt x="143" y="544"/>
                    </a:cubicBezTo>
                  </a:path>
                </a:pathLst>
              </a:custGeom>
              <a:noFill/>
              <a:ln w="12700" cap="flat" cmpd="sng">
                <a:solidFill>
                  <a:schemeClr val="tx1"/>
                </a:solidFill>
                <a:prstDash val="sysDot"/>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00" name="Freeform 8"/>
              <p:cNvSpPr/>
              <p:nvPr/>
            </p:nvSpPr>
            <p:spPr bwMode="auto">
              <a:xfrm>
                <a:off x="4172" y="3158"/>
                <a:ext cx="431" cy="771"/>
              </a:xfrm>
              <a:custGeom>
                <a:avLst/>
                <a:gdLst>
                  <a:gd name="T0" fmla="*/ 69 w 431"/>
                  <a:gd name="T1" fmla="*/ 0 h 771"/>
                  <a:gd name="T2" fmla="*/ 295 w 431"/>
                  <a:gd name="T3" fmla="*/ 227 h 771"/>
                  <a:gd name="T4" fmla="*/ 23 w 431"/>
                  <a:gd name="T5" fmla="*/ 454 h 771"/>
                  <a:gd name="T6" fmla="*/ 431 w 431"/>
                  <a:gd name="T7" fmla="*/ 771 h 771"/>
                </a:gdLst>
                <a:ahLst/>
                <a:cxnLst>
                  <a:cxn ang="0">
                    <a:pos x="T0" y="T1"/>
                  </a:cxn>
                  <a:cxn ang="0">
                    <a:pos x="T2" y="T3"/>
                  </a:cxn>
                  <a:cxn ang="0">
                    <a:pos x="T4" y="T5"/>
                  </a:cxn>
                  <a:cxn ang="0">
                    <a:pos x="T6" y="T7"/>
                  </a:cxn>
                </a:cxnLst>
                <a:rect l="0" t="0" r="r" b="b"/>
                <a:pathLst>
                  <a:path w="431" h="771">
                    <a:moveTo>
                      <a:pt x="69" y="0"/>
                    </a:moveTo>
                    <a:cubicBezTo>
                      <a:pt x="186" y="75"/>
                      <a:pt x="303" y="151"/>
                      <a:pt x="295" y="227"/>
                    </a:cubicBezTo>
                    <a:cubicBezTo>
                      <a:pt x="287" y="303"/>
                      <a:pt x="0" y="363"/>
                      <a:pt x="23" y="454"/>
                    </a:cubicBezTo>
                    <a:cubicBezTo>
                      <a:pt x="46" y="545"/>
                      <a:pt x="363" y="718"/>
                      <a:pt x="431" y="771"/>
                    </a:cubicBezTo>
                  </a:path>
                </a:pathLst>
              </a:custGeom>
              <a:noFill/>
              <a:ln w="12700" cap="flat" cmpd="sng">
                <a:solidFill>
                  <a:schemeClr val="tx1"/>
                </a:solidFill>
                <a:prstDash val="sysDot"/>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01" name="Rectangle 9"/>
              <p:cNvSpPr>
                <a:spLocks noChangeArrowheads="1"/>
              </p:cNvSpPr>
              <p:nvPr/>
            </p:nvSpPr>
            <p:spPr bwMode="auto">
              <a:xfrm>
                <a:off x="4467" y="2840"/>
                <a:ext cx="169"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i="1">
                    <a:latin typeface="Times New Roman" panose="02020603050405020304" pitchFamily="18" charset="0"/>
                  </a:rPr>
                  <a:t>i</a:t>
                </a:r>
                <a:endParaRPr lang="zh-CN" altLang="en-US" sz="2400" i="1">
                  <a:latin typeface="Times New Roman" panose="02020603050405020304" pitchFamily="18" charset="0"/>
                </a:endParaRPr>
              </a:p>
            </p:txBody>
          </p:sp>
          <p:sp>
            <p:nvSpPr>
              <p:cNvPr id="443402" name="Line 10"/>
              <p:cNvSpPr>
                <a:spLocks noChangeShapeType="1"/>
              </p:cNvSpPr>
              <p:nvPr/>
            </p:nvSpPr>
            <p:spPr bwMode="auto">
              <a:xfrm>
                <a:off x="4740" y="2160"/>
                <a:ext cx="68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03" name="Line 11"/>
              <p:cNvSpPr>
                <a:spLocks noChangeShapeType="1"/>
              </p:cNvSpPr>
              <p:nvPr/>
            </p:nvSpPr>
            <p:spPr bwMode="auto">
              <a:xfrm>
                <a:off x="4740" y="3974"/>
                <a:ext cx="725" cy="0"/>
              </a:xfrm>
              <a:prstGeom prst="line">
                <a:avLst/>
              </a:prstGeom>
              <a:noFill/>
              <a:ln w="1270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04" name="Line 12"/>
              <p:cNvSpPr>
                <a:spLocks noChangeShapeType="1"/>
              </p:cNvSpPr>
              <p:nvPr/>
            </p:nvSpPr>
            <p:spPr bwMode="auto">
              <a:xfrm flipV="1">
                <a:off x="5012" y="2160"/>
                <a:ext cx="0" cy="680"/>
              </a:xfrm>
              <a:prstGeom prst="line">
                <a:avLst/>
              </a:prstGeom>
              <a:noFill/>
              <a:ln w="1270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05" name="Line 13"/>
              <p:cNvSpPr>
                <a:spLocks noChangeShapeType="1"/>
              </p:cNvSpPr>
              <p:nvPr/>
            </p:nvSpPr>
            <p:spPr bwMode="auto">
              <a:xfrm>
                <a:off x="5012" y="3158"/>
                <a:ext cx="0" cy="816"/>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3406" name="Rectangle 14"/>
              <p:cNvSpPr>
                <a:spLocks noChangeArrowheads="1"/>
              </p:cNvSpPr>
              <p:nvPr/>
            </p:nvSpPr>
            <p:spPr bwMode="auto">
              <a:xfrm>
                <a:off x="4764" y="2840"/>
                <a:ext cx="414"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i="1">
                    <a:latin typeface="Times New Roman" panose="02020603050405020304" pitchFamily="18" charset="0"/>
                  </a:rPr>
                  <a:t>B</a:t>
                </a:r>
                <a:r>
                  <a:rPr lang="en-US" altLang="zh-CN" sz="2400">
                    <a:latin typeface="Times New Roman" panose="02020603050405020304" pitchFamily="18" charset="0"/>
                  </a:rPr>
                  <a:t>(</a:t>
                </a:r>
                <a:r>
                  <a:rPr lang="en-US" altLang="zh-CN" sz="2400" i="1">
                    <a:latin typeface="Times New Roman" panose="02020603050405020304" pitchFamily="18" charset="0"/>
                  </a:rPr>
                  <a:t>i</a:t>
                </a:r>
                <a:r>
                  <a:rPr lang="en-US" altLang="zh-CN" sz="2400">
                    <a:latin typeface="Times New Roman" panose="02020603050405020304" pitchFamily="18" charset="0"/>
                  </a:rPr>
                  <a:t>)</a:t>
                </a:r>
                <a:endParaRPr lang="zh-CN" altLang="en-US" sz="2400">
                  <a:latin typeface="Times New Roman" panose="02020603050405020304" pitchFamily="18" charset="0"/>
                </a:endParaRPr>
              </a:p>
            </p:txBody>
          </p:sp>
          <p:sp>
            <p:nvSpPr>
              <p:cNvPr id="443407" name="Rectangle 15"/>
              <p:cNvSpPr>
                <a:spLocks noChangeArrowheads="1"/>
              </p:cNvSpPr>
              <p:nvPr/>
            </p:nvSpPr>
            <p:spPr bwMode="auto">
              <a:xfrm>
                <a:off x="4558" y="2160"/>
                <a:ext cx="244"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a:latin typeface="Times New Roman" panose="02020603050405020304" pitchFamily="18" charset="0"/>
                  </a:rPr>
                  <a:t>R</a:t>
                </a:r>
                <a:endParaRPr lang="en-US" altLang="zh-CN" sz="2400">
                  <a:latin typeface="Times New Roman" panose="02020603050405020304" pitchFamily="18" charset="0"/>
                </a:endParaRPr>
              </a:p>
            </p:txBody>
          </p:sp>
          <p:sp>
            <p:nvSpPr>
              <p:cNvPr id="443408" name="Rectangle 16"/>
              <p:cNvSpPr>
                <a:spLocks noChangeArrowheads="1"/>
              </p:cNvSpPr>
              <p:nvPr/>
            </p:nvSpPr>
            <p:spPr bwMode="auto">
              <a:xfrm>
                <a:off x="4383" y="3929"/>
                <a:ext cx="233"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400">
                    <a:latin typeface="Times New Roman" panose="02020603050405020304" pitchFamily="18" charset="0"/>
                  </a:rPr>
                  <a:t>L</a:t>
                </a:r>
                <a:endParaRPr lang="en-US" altLang="zh-CN" sz="2400">
                  <a:latin typeface="Times New Roman" panose="02020603050405020304" pitchFamily="18" charset="0"/>
                </a:endParaRPr>
              </a:p>
            </p:txBody>
          </p:sp>
        </p:grpSp>
      </p:grpSp>
    </p:spTree>
  </p:cSld>
  <p:clrMapOvr>
    <a:masterClrMapping/>
  </p:clrMapOvr>
  <p:transition>
    <p:blinds/>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3219ED00-F07C-4DA0-B0F3-2060E5BB09A1}" type="slidenum">
              <a:rPr lang="en-US" altLang="zh-CN"/>
            </a:fld>
            <a:endParaRPr lang="en-US" altLang="zh-CN"/>
          </a:p>
        </p:txBody>
      </p:sp>
      <p:sp>
        <p:nvSpPr>
          <p:cNvPr id="444419" name="Rectangle 3"/>
          <p:cNvSpPr>
            <a:spLocks noGrp="1" noChangeArrowheads="1"/>
          </p:cNvSpPr>
          <p:nvPr>
            <p:ph type="body" idx="1"/>
          </p:nvPr>
        </p:nvSpPr>
        <p:spPr/>
        <p:txBody>
          <a:bodyPr/>
          <a:lstStyle/>
          <a:p>
            <a:endParaRPr lang="zh-CN" altLang="en-US"/>
          </a:p>
        </p:txBody>
      </p:sp>
      <p:pic>
        <p:nvPicPr>
          <p:cNvPr id="44442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9388" y="981075"/>
            <a:ext cx="8785225" cy="56340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blinds/>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3C42EB3D-0F30-4A06-A3C0-02D0B1B0268F}" type="slidenum">
              <a:rPr lang="en-US" altLang="zh-CN"/>
            </a:fld>
            <a:endParaRPr lang="en-US" altLang="zh-CN"/>
          </a:p>
        </p:txBody>
      </p:sp>
      <p:sp>
        <p:nvSpPr>
          <p:cNvPr id="445443" name="Rectangle 3"/>
          <p:cNvSpPr>
            <a:spLocks noGrp="1" noChangeArrowheads="1"/>
          </p:cNvSpPr>
          <p:nvPr>
            <p:ph type="body" idx="1"/>
          </p:nvPr>
        </p:nvSpPr>
        <p:spPr/>
        <p:txBody>
          <a:bodyPr/>
          <a:lstStyle/>
          <a:p>
            <a:endParaRPr lang="zh-CN" altLang="en-US"/>
          </a:p>
        </p:txBody>
      </p:sp>
      <p:pic>
        <p:nvPicPr>
          <p:cNvPr id="44544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692150"/>
            <a:ext cx="9144000" cy="583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Tree>
  </p:cSld>
  <p:clrMapOvr>
    <a:masterClrMapping/>
  </p:clrMapOvr>
  <p:transition>
    <p:blinds/>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A1212441-F071-4D81-AB3D-75ECE5C7E2B9}" type="slidenum">
              <a:rPr lang="en-US" altLang="zh-CN"/>
            </a:fld>
            <a:endParaRPr lang="en-US" altLang="zh-CN"/>
          </a:p>
        </p:txBody>
      </p:sp>
      <p:sp>
        <p:nvSpPr>
          <p:cNvPr id="446466" name="Rectangle 2"/>
          <p:cNvSpPr>
            <a:spLocks noGrp="1" noChangeArrowheads="1"/>
          </p:cNvSpPr>
          <p:nvPr>
            <p:ph type="title"/>
          </p:nvPr>
        </p:nvSpPr>
        <p:spPr/>
        <p:txBody>
          <a:bodyPr/>
          <a:lstStyle/>
          <a:p>
            <a:endParaRPr lang="zh-CN" altLang="en-US"/>
          </a:p>
        </p:txBody>
      </p:sp>
      <p:sp>
        <p:nvSpPr>
          <p:cNvPr id="446467" name="Rectangle 3"/>
          <p:cNvSpPr>
            <a:spLocks noGrp="1" noChangeArrowheads="1"/>
          </p:cNvSpPr>
          <p:nvPr>
            <p:ph type="body" idx="1"/>
          </p:nvPr>
        </p:nvSpPr>
        <p:spPr/>
        <p:txBody>
          <a:bodyPr/>
          <a:lstStyle/>
          <a:p>
            <a:endParaRPr lang="zh-CN" altLang="en-US"/>
          </a:p>
        </p:txBody>
      </p:sp>
      <p:pic>
        <p:nvPicPr>
          <p:cNvPr id="44646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6725" y="490538"/>
            <a:ext cx="8208963" cy="625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Tree>
  </p:cSld>
  <p:clrMapOvr>
    <a:masterClrMapping/>
  </p:clrMapOvr>
  <p:transition>
    <p:blinds/>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B745D5A7-AA10-4FCF-A63F-1141E8A002E4}" type="slidenum">
              <a:rPr lang="en-US" altLang="zh-CN"/>
            </a:fld>
            <a:endParaRPr lang="en-US" altLang="zh-CN"/>
          </a:p>
        </p:txBody>
      </p:sp>
      <p:sp>
        <p:nvSpPr>
          <p:cNvPr id="447490" name="Rectangle 2"/>
          <p:cNvSpPr>
            <a:spLocks noGrp="1" noChangeArrowheads="1"/>
          </p:cNvSpPr>
          <p:nvPr>
            <p:ph type="title"/>
          </p:nvPr>
        </p:nvSpPr>
        <p:spPr/>
        <p:txBody>
          <a:bodyPr/>
          <a:lstStyle/>
          <a:p>
            <a:endParaRPr lang="zh-CN" altLang="en-US"/>
          </a:p>
        </p:txBody>
      </p:sp>
      <p:sp>
        <p:nvSpPr>
          <p:cNvPr id="447491" name="Rectangle 3"/>
          <p:cNvSpPr>
            <a:spLocks noGrp="1" noChangeArrowheads="1"/>
          </p:cNvSpPr>
          <p:nvPr>
            <p:ph type="body" idx="1"/>
          </p:nvPr>
        </p:nvSpPr>
        <p:spPr/>
        <p:txBody>
          <a:bodyPr/>
          <a:lstStyle/>
          <a:p>
            <a:endParaRPr lang="zh-CN" altLang="en-US"/>
          </a:p>
        </p:txBody>
      </p:sp>
      <p:pic>
        <p:nvPicPr>
          <p:cNvPr id="44749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609600"/>
            <a:ext cx="9144000" cy="605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Tree>
  </p:cSld>
  <p:clrMapOvr>
    <a:masterClrMapping/>
  </p:clrMapOvr>
  <p:transition>
    <p:blinds/>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A604C5E6-1487-45A1-A43E-4B17CAD62DA8}" type="slidenum">
              <a:rPr lang="en-US" altLang="zh-CN"/>
            </a:fld>
            <a:endParaRPr lang="en-US" altLang="zh-CN"/>
          </a:p>
        </p:txBody>
      </p:sp>
      <p:sp>
        <p:nvSpPr>
          <p:cNvPr id="457730" name="Rectangle 2"/>
          <p:cNvSpPr>
            <a:spLocks noGrp="1" noChangeArrowheads="1"/>
          </p:cNvSpPr>
          <p:nvPr>
            <p:ph type="body" idx="1"/>
          </p:nvPr>
        </p:nvSpPr>
        <p:spPr/>
        <p:txBody>
          <a:bodyPr/>
          <a:lstStyle/>
          <a:p>
            <a:endParaRPr lang="zh-CN" altLang="en-US"/>
          </a:p>
        </p:txBody>
      </p:sp>
      <p:pic>
        <p:nvPicPr>
          <p:cNvPr id="45773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285750"/>
            <a:ext cx="9144000" cy="6370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spTree>
  </p:cSld>
  <p:clrMapOvr>
    <a:masterClrMapping/>
  </p:clrMapOvr>
  <p:transition>
    <p:blinds/>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ctrTitle"/>
          </p:nvPr>
        </p:nvSpPr>
        <p:spPr/>
        <p:txBody>
          <a:bodyPr/>
          <a:lstStyle/>
          <a:p>
            <a:r>
              <a:rPr lang="zh-CN" altLang="en-US"/>
              <a:t>单源最短路径问题</a:t>
            </a:r>
            <a:endParaRPr lang="zh-CN" altLang="en-US"/>
          </a:p>
        </p:txBody>
      </p:sp>
      <p:sp>
        <p:nvSpPr>
          <p:cNvPr id="92163" name="Rectangle 3"/>
          <p:cNvSpPr>
            <a:spLocks noGrp="1" noChangeArrowheads="1"/>
          </p:cNvSpPr>
          <p:nvPr>
            <p:ph type="subTitle" idx="1"/>
          </p:nvPr>
        </p:nvSpPr>
        <p:spPr/>
        <p:txBody>
          <a:bodyPr/>
          <a:lstStyle/>
          <a:p>
            <a:endParaRPr lang="zh-CN" altLang="zh-CN"/>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en-US" altLang="zh-CN" sz="3000"/>
              <a:t>6.2	</a:t>
            </a:r>
            <a:r>
              <a:rPr lang="zh-CN" altLang="en-US" sz="3000"/>
              <a:t>单源最短路径问题</a:t>
            </a:r>
            <a:endParaRPr lang="zh-CN" altLang="en-US" sz="3000"/>
          </a:p>
        </p:txBody>
      </p:sp>
      <p:sp>
        <p:nvSpPr>
          <p:cNvPr id="93187" name="Text Box 3"/>
          <p:cNvSpPr txBox="1">
            <a:spLocks noChangeArrowheads="1"/>
          </p:cNvSpPr>
          <p:nvPr/>
        </p:nvSpPr>
        <p:spPr bwMode="auto">
          <a:xfrm>
            <a:off x="304800" y="1905000"/>
            <a:ext cx="563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a:solidFill>
                  <a:schemeClr val="accent2"/>
                </a:solidFill>
                <a:latin typeface="Times New Roman" panose="02020603050405020304" pitchFamily="18" charset="0"/>
                <a:ea typeface="黑体" panose="02010609060101010101" pitchFamily="2" charset="-122"/>
              </a:rPr>
              <a:t>1. </a:t>
            </a:r>
            <a:r>
              <a:rPr kumimoji="1" lang="zh-CN" altLang="en-US" sz="3200">
                <a:solidFill>
                  <a:schemeClr val="accent2"/>
                </a:solidFill>
                <a:latin typeface="Times New Roman" panose="02020603050405020304" pitchFamily="18" charset="0"/>
                <a:ea typeface="黑体" panose="02010609060101010101" pitchFamily="2" charset="-122"/>
              </a:rPr>
              <a:t>问题描述</a:t>
            </a:r>
            <a:endParaRPr kumimoji="1" lang="zh-CN" altLang="en-US" sz="3200">
              <a:solidFill>
                <a:schemeClr val="accent2"/>
              </a:solidFill>
              <a:latin typeface="Times New Roman" panose="02020603050405020304" pitchFamily="18" charset="0"/>
              <a:ea typeface="黑体" panose="02010609060101010101" pitchFamily="2" charset="-122"/>
            </a:endParaRPr>
          </a:p>
        </p:txBody>
      </p:sp>
      <p:sp>
        <p:nvSpPr>
          <p:cNvPr id="93188" name="Text Box 4"/>
          <p:cNvSpPr txBox="1">
            <a:spLocks noChangeArrowheads="1"/>
          </p:cNvSpPr>
          <p:nvPr/>
        </p:nvSpPr>
        <p:spPr bwMode="auto">
          <a:xfrm>
            <a:off x="762000" y="2743200"/>
            <a:ext cx="7391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ea typeface="新宋体" panose="02010609030101010101" charset="-122"/>
              </a:rPr>
              <a:t>      </a:t>
            </a:r>
            <a:r>
              <a:rPr lang="zh-CN" altLang="en-US" sz="2400" b="1">
                <a:ea typeface="新宋体" panose="02010609030101010101" charset="-122"/>
              </a:rPr>
              <a:t>下面以一个例子来说明单源最短路径问题：</a:t>
            </a:r>
            <a:r>
              <a:rPr lang="zh-CN" altLang="en-US" sz="2400" b="1">
                <a:latin typeface="新宋体" panose="02010609030101010101" charset="-122"/>
                <a:ea typeface="新宋体" panose="02010609030101010101" charset="-122"/>
              </a:rPr>
              <a:t>在下图所给的有向图</a:t>
            </a:r>
            <a:r>
              <a:rPr lang="en-US" altLang="zh-CN" sz="2400" b="1">
                <a:latin typeface="新宋体" panose="02010609030101010101" charset="-122"/>
                <a:ea typeface="新宋体" panose="02010609030101010101" charset="-122"/>
              </a:rPr>
              <a:t>G</a:t>
            </a:r>
            <a:r>
              <a:rPr lang="zh-CN" altLang="en-US" sz="2400" b="1">
                <a:latin typeface="新宋体" panose="02010609030101010101" charset="-122"/>
                <a:ea typeface="新宋体" panose="02010609030101010101" charset="-122"/>
              </a:rPr>
              <a:t>中，每一边都有一个非负边权。要求图</a:t>
            </a:r>
            <a:r>
              <a:rPr lang="en-US" altLang="zh-CN" sz="2400" b="1">
                <a:latin typeface="新宋体" panose="02010609030101010101" charset="-122"/>
                <a:ea typeface="新宋体" panose="02010609030101010101" charset="-122"/>
              </a:rPr>
              <a:t>G</a:t>
            </a:r>
            <a:r>
              <a:rPr lang="zh-CN" altLang="en-US" sz="2400" b="1">
                <a:latin typeface="新宋体" panose="02010609030101010101" charset="-122"/>
                <a:ea typeface="新宋体" panose="02010609030101010101" charset="-122"/>
              </a:rPr>
              <a:t>的从源顶点</a:t>
            </a:r>
            <a:r>
              <a:rPr lang="en-US" altLang="zh-CN" sz="2400" b="1">
                <a:latin typeface="新宋体" panose="02010609030101010101" charset="-122"/>
                <a:ea typeface="新宋体" panose="02010609030101010101" charset="-122"/>
              </a:rPr>
              <a:t>s</a:t>
            </a:r>
            <a:r>
              <a:rPr lang="zh-CN" altLang="en-US" sz="2400" b="1">
                <a:latin typeface="新宋体" panose="02010609030101010101" charset="-122"/>
                <a:ea typeface="新宋体" panose="02010609030101010101" charset="-122"/>
              </a:rPr>
              <a:t>到目标顶点</a:t>
            </a:r>
            <a:r>
              <a:rPr lang="en-US" altLang="zh-CN" sz="2400" b="1">
                <a:latin typeface="新宋体" panose="02010609030101010101" charset="-122"/>
                <a:ea typeface="新宋体" panose="02010609030101010101" charset="-122"/>
              </a:rPr>
              <a:t>t</a:t>
            </a:r>
            <a:r>
              <a:rPr lang="zh-CN" altLang="en-US" sz="2400" b="1">
                <a:latin typeface="新宋体" panose="02010609030101010101" charset="-122"/>
                <a:ea typeface="新宋体" panose="02010609030101010101" charset="-122"/>
              </a:rPr>
              <a:t>之间的最短路径。 </a:t>
            </a:r>
            <a:endParaRPr lang="zh-CN" altLang="en-US" sz="2400" b="1">
              <a:latin typeface="新宋体" panose="02010609030101010101" charset="-122"/>
              <a:ea typeface="新宋体" panose="02010609030101010101" charset="-122"/>
            </a:endParaRPr>
          </a:p>
        </p:txBody>
      </p:sp>
      <p:pic>
        <p:nvPicPr>
          <p:cNvPr id="93189" name="Picture 5" descr="未命名"/>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62100" y="4038600"/>
            <a:ext cx="6019800" cy="2209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3187"/>
                                        </p:tgtEl>
                                        <p:attrNameLst>
                                          <p:attrName>style.visibility</p:attrName>
                                        </p:attrNameLst>
                                      </p:cBhvr>
                                      <p:to>
                                        <p:strVal val="visible"/>
                                      </p:to>
                                    </p:set>
                                    <p:anim calcmode="lin" valueType="num">
                                      <p:cBhvr additive="base">
                                        <p:cTn id="7" dur="500" fill="hold"/>
                                        <p:tgtEl>
                                          <p:spTgt spid="93187"/>
                                        </p:tgtEl>
                                        <p:attrNameLst>
                                          <p:attrName>ppt_x</p:attrName>
                                        </p:attrNameLst>
                                      </p:cBhvr>
                                      <p:tavLst>
                                        <p:tav tm="0">
                                          <p:val>
                                            <p:strVal val="1+#ppt_w/2"/>
                                          </p:val>
                                        </p:tav>
                                        <p:tav tm="100000">
                                          <p:val>
                                            <p:strVal val="#ppt_x"/>
                                          </p:val>
                                        </p:tav>
                                      </p:tavLst>
                                    </p:anim>
                                    <p:anim calcmode="lin" valueType="num">
                                      <p:cBhvr additive="base">
                                        <p:cTn id="8" dur="500" fill="hold"/>
                                        <p:tgtEl>
                                          <p:spTgt spid="9318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3188"/>
                                        </p:tgtEl>
                                        <p:attrNameLst>
                                          <p:attrName>style.visibility</p:attrName>
                                        </p:attrNameLst>
                                      </p:cBhvr>
                                      <p:to>
                                        <p:strVal val="visible"/>
                                      </p:to>
                                    </p:set>
                                    <p:anim calcmode="lin" valueType="num">
                                      <p:cBhvr additive="base">
                                        <p:cTn id="13" dur="500" fill="hold"/>
                                        <p:tgtEl>
                                          <p:spTgt spid="93188"/>
                                        </p:tgtEl>
                                        <p:attrNameLst>
                                          <p:attrName>ppt_x</p:attrName>
                                        </p:attrNameLst>
                                      </p:cBhvr>
                                      <p:tavLst>
                                        <p:tav tm="0">
                                          <p:val>
                                            <p:strVal val="0-#ppt_w/2"/>
                                          </p:val>
                                        </p:tav>
                                        <p:tav tm="100000">
                                          <p:val>
                                            <p:strVal val="#ppt_x"/>
                                          </p:val>
                                        </p:tav>
                                      </p:tavLst>
                                    </p:anim>
                                    <p:anim calcmode="lin" valueType="num">
                                      <p:cBhvr additive="base">
                                        <p:cTn id="14" dur="500" fill="hold"/>
                                        <p:tgtEl>
                                          <p:spTgt spid="9318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3189"/>
                                        </p:tgtEl>
                                        <p:attrNameLst>
                                          <p:attrName>style.visibility</p:attrName>
                                        </p:attrNameLst>
                                      </p:cBhvr>
                                      <p:to>
                                        <p:strVal val="visible"/>
                                      </p:to>
                                    </p:set>
                                    <p:anim calcmode="lin" valueType="num">
                                      <p:cBhvr additive="base">
                                        <p:cTn id="19" dur="500" fill="hold"/>
                                        <p:tgtEl>
                                          <p:spTgt spid="93189"/>
                                        </p:tgtEl>
                                        <p:attrNameLst>
                                          <p:attrName>ppt_x</p:attrName>
                                        </p:attrNameLst>
                                      </p:cBhvr>
                                      <p:tavLst>
                                        <p:tav tm="0">
                                          <p:val>
                                            <p:strVal val="#ppt_x"/>
                                          </p:val>
                                        </p:tav>
                                        <p:tav tm="100000">
                                          <p:val>
                                            <p:strVal val="#ppt_x"/>
                                          </p:val>
                                        </p:tav>
                                      </p:tavLst>
                                    </p:anim>
                                    <p:anim calcmode="lin" valueType="num">
                                      <p:cBhvr additive="base">
                                        <p:cTn id="20" dur="500" fill="hold"/>
                                        <p:tgtEl>
                                          <p:spTgt spid="931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autoUpdateAnimBg="0"/>
      <p:bldP spid="93188"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ChangeArrowheads="1"/>
          </p:cNvSpPr>
          <p:nvPr/>
        </p:nvSpPr>
        <p:spPr bwMode="auto">
          <a:xfrm>
            <a:off x="762000" y="762000"/>
            <a:ext cx="7924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1" hangingPunct="1"/>
            <a:r>
              <a:rPr lang="en-US" altLang="zh-CN" sz="3000" b="1">
                <a:solidFill>
                  <a:schemeClr val="tx2"/>
                </a:solidFill>
              </a:rPr>
              <a:t>6.2	</a:t>
            </a:r>
            <a:r>
              <a:rPr lang="zh-CN" altLang="en-US" sz="3000" b="1">
                <a:solidFill>
                  <a:schemeClr val="tx2"/>
                </a:solidFill>
              </a:rPr>
              <a:t>单源最短路径问题</a:t>
            </a:r>
            <a:endParaRPr lang="zh-CN" altLang="en-US" sz="3000" b="1">
              <a:solidFill>
                <a:schemeClr val="tx2"/>
              </a:solidFill>
            </a:endParaRPr>
          </a:p>
        </p:txBody>
      </p:sp>
      <p:sp>
        <p:nvSpPr>
          <p:cNvPr id="94211" name="Text Box 3"/>
          <p:cNvSpPr txBox="1">
            <a:spLocks noChangeArrowheads="1"/>
          </p:cNvSpPr>
          <p:nvPr/>
        </p:nvSpPr>
        <p:spPr bwMode="auto">
          <a:xfrm>
            <a:off x="304800" y="1905000"/>
            <a:ext cx="563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a:solidFill>
                  <a:schemeClr val="accent2"/>
                </a:solidFill>
                <a:latin typeface="Times New Roman" panose="02020603050405020304" pitchFamily="18" charset="0"/>
                <a:ea typeface="黑体" panose="02010609060101010101" pitchFamily="2" charset="-122"/>
              </a:rPr>
              <a:t>1. </a:t>
            </a:r>
            <a:r>
              <a:rPr kumimoji="1" lang="zh-CN" altLang="en-US" sz="3200">
                <a:solidFill>
                  <a:schemeClr val="accent2"/>
                </a:solidFill>
                <a:latin typeface="Times New Roman" panose="02020603050405020304" pitchFamily="18" charset="0"/>
                <a:ea typeface="黑体" panose="02010609060101010101" pitchFamily="2" charset="-122"/>
              </a:rPr>
              <a:t>问题描述</a:t>
            </a:r>
            <a:endParaRPr kumimoji="1" lang="zh-CN" altLang="en-US" sz="3200">
              <a:solidFill>
                <a:schemeClr val="accent2"/>
              </a:solidFill>
              <a:latin typeface="Times New Roman" panose="02020603050405020304" pitchFamily="18" charset="0"/>
              <a:ea typeface="黑体" panose="02010609060101010101" pitchFamily="2" charset="-122"/>
            </a:endParaRPr>
          </a:p>
        </p:txBody>
      </p:sp>
      <p:sp>
        <p:nvSpPr>
          <p:cNvPr id="94212" name="Text Box 4"/>
          <p:cNvSpPr txBox="1">
            <a:spLocks noChangeArrowheads="1"/>
          </p:cNvSpPr>
          <p:nvPr/>
        </p:nvSpPr>
        <p:spPr bwMode="auto">
          <a:xfrm>
            <a:off x="685800" y="2590800"/>
            <a:ext cx="7620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下图是用优先队列式分支限界法解有向图</a:t>
            </a:r>
            <a:r>
              <a:rPr lang="en-US" altLang="zh-CN" sz="2400" b="1">
                <a:latin typeface="新宋体" panose="02010609030101010101" charset="-122"/>
                <a:ea typeface="新宋体" panose="02010609030101010101" charset="-122"/>
              </a:rPr>
              <a:t>G</a:t>
            </a:r>
            <a:r>
              <a:rPr lang="zh-CN" altLang="en-US" sz="2400" b="1">
                <a:latin typeface="新宋体" panose="02010609030101010101" charset="-122"/>
                <a:ea typeface="新宋体" panose="02010609030101010101" charset="-122"/>
              </a:rPr>
              <a:t>的单源最短路径问题产生的解空间树。其中，每一个结点旁边的数字表示该结点所对应的当前路长。</a:t>
            </a:r>
            <a:endParaRPr lang="zh-CN" altLang="en-US" sz="2400" b="1">
              <a:latin typeface="新宋体" panose="02010609030101010101" charset="-122"/>
              <a:ea typeface="新宋体" panose="02010609030101010101" charset="-122"/>
            </a:endParaRPr>
          </a:p>
        </p:txBody>
      </p:sp>
      <p:pic>
        <p:nvPicPr>
          <p:cNvPr id="94213" name="Picture 5" descr="t62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00200" y="3781425"/>
            <a:ext cx="5410200" cy="2743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4211"/>
                                        </p:tgtEl>
                                        <p:attrNameLst>
                                          <p:attrName>style.visibility</p:attrName>
                                        </p:attrNameLst>
                                      </p:cBhvr>
                                      <p:to>
                                        <p:strVal val="visible"/>
                                      </p:to>
                                    </p:set>
                                    <p:anim calcmode="lin" valueType="num">
                                      <p:cBhvr additive="base">
                                        <p:cTn id="7" dur="500" fill="hold"/>
                                        <p:tgtEl>
                                          <p:spTgt spid="94211"/>
                                        </p:tgtEl>
                                        <p:attrNameLst>
                                          <p:attrName>ppt_x</p:attrName>
                                        </p:attrNameLst>
                                      </p:cBhvr>
                                      <p:tavLst>
                                        <p:tav tm="0">
                                          <p:val>
                                            <p:strVal val="1+#ppt_w/2"/>
                                          </p:val>
                                        </p:tav>
                                        <p:tav tm="100000">
                                          <p:val>
                                            <p:strVal val="#ppt_x"/>
                                          </p:val>
                                        </p:tav>
                                      </p:tavLst>
                                    </p:anim>
                                    <p:anim calcmode="lin" valueType="num">
                                      <p:cBhvr additive="base">
                                        <p:cTn id="8" dur="500" fill="hold"/>
                                        <p:tgtEl>
                                          <p:spTgt spid="942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4212"/>
                                        </p:tgtEl>
                                        <p:attrNameLst>
                                          <p:attrName>style.visibility</p:attrName>
                                        </p:attrNameLst>
                                      </p:cBhvr>
                                      <p:to>
                                        <p:strVal val="visible"/>
                                      </p:to>
                                    </p:set>
                                    <p:anim calcmode="lin" valueType="num">
                                      <p:cBhvr additive="base">
                                        <p:cTn id="13" dur="500" fill="hold"/>
                                        <p:tgtEl>
                                          <p:spTgt spid="94212"/>
                                        </p:tgtEl>
                                        <p:attrNameLst>
                                          <p:attrName>ppt_x</p:attrName>
                                        </p:attrNameLst>
                                      </p:cBhvr>
                                      <p:tavLst>
                                        <p:tav tm="0">
                                          <p:val>
                                            <p:strVal val="0-#ppt_w/2"/>
                                          </p:val>
                                        </p:tav>
                                        <p:tav tm="100000">
                                          <p:val>
                                            <p:strVal val="#ppt_x"/>
                                          </p:val>
                                        </p:tav>
                                      </p:tavLst>
                                    </p:anim>
                                    <p:anim calcmode="lin" valueType="num">
                                      <p:cBhvr additive="base">
                                        <p:cTn id="14" dur="500" fill="hold"/>
                                        <p:tgtEl>
                                          <p:spTgt spid="942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4213"/>
                                        </p:tgtEl>
                                        <p:attrNameLst>
                                          <p:attrName>style.visibility</p:attrName>
                                        </p:attrNameLst>
                                      </p:cBhvr>
                                      <p:to>
                                        <p:strVal val="visible"/>
                                      </p:to>
                                    </p:set>
                                    <p:anim calcmode="lin" valueType="num">
                                      <p:cBhvr additive="base">
                                        <p:cTn id="19" dur="500" fill="hold"/>
                                        <p:tgtEl>
                                          <p:spTgt spid="94213"/>
                                        </p:tgtEl>
                                        <p:attrNameLst>
                                          <p:attrName>ppt_x</p:attrName>
                                        </p:attrNameLst>
                                      </p:cBhvr>
                                      <p:tavLst>
                                        <p:tav tm="0">
                                          <p:val>
                                            <p:strVal val="#ppt_x"/>
                                          </p:val>
                                        </p:tav>
                                        <p:tav tm="100000">
                                          <p:val>
                                            <p:strVal val="#ppt_x"/>
                                          </p:val>
                                        </p:tav>
                                      </p:tavLst>
                                    </p:anim>
                                    <p:anim calcmode="lin" valueType="num">
                                      <p:cBhvr additive="base">
                                        <p:cTn id="20" dur="500" fill="hold"/>
                                        <p:tgtEl>
                                          <p:spTgt spid="942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autoUpdateAnimBg="0"/>
      <p:bldP spid="94212"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en-US" altLang="zh-CN" sz="3000"/>
              <a:t>6.2	</a:t>
            </a:r>
            <a:r>
              <a:rPr lang="zh-CN" altLang="en-US" sz="3000"/>
              <a:t>单源最短路径问题</a:t>
            </a:r>
            <a:endParaRPr lang="zh-CN" altLang="en-US" sz="3000"/>
          </a:p>
        </p:txBody>
      </p:sp>
      <p:sp>
        <p:nvSpPr>
          <p:cNvPr id="95235" name="Text Box 3"/>
          <p:cNvSpPr txBox="1">
            <a:spLocks noChangeArrowheads="1"/>
          </p:cNvSpPr>
          <p:nvPr/>
        </p:nvSpPr>
        <p:spPr bwMode="auto">
          <a:xfrm>
            <a:off x="304800" y="1628775"/>
            <a:ext cx="5638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a:solidFill>
                  <a:schemeClr val="accent2"/>
                </a:solidFill>
                <a:latin typeface="Times New Roman" panose="02020603050405020304" pitchFamily="18" charset="0"/>
                <a:ea typeface="黑体" panose="02010609060101010101" pitchFamily="2" charset="-122"/>
              </a:rPr>
              <a:t>2. </a:t>
            </a:r>
            <a:r>
              <a:rPr kumimoji="1" lang="zh-CN" altLang="en-US" sz="3200">
                <a:solidFill>
                  <a:schemeClr val="accent2"/>
                </a:solidFill>
                <a:latin typeface="Times New Roman" panose="02020603050405020304" pitchFamily="18" charset="0"/>
                <a:ea typeface="黑体" panose="02010609060101010101" pitchFamily="2" charset="-122"/>
              </a:rPr>
              <a:t>算法思想</a:t>
            </a:r>
            <a:endParaRPr kumimoji="1" lang="zh-CN" altLang="en-US" sz="3200">
              <a:solidFill>
                <a:schemeClr val="accent2"/>
              </a:solidFill>
              <a:latin typeface="Times New Roman" panose="02020603050405020304" pitchFamily="18" charset="0"/>
              <a:ea typeface="黑体" panose="02010609060101010101" pitchFamily="2" charset="-122"/>
            </a:endParaRPr>
          </a:p>
        </p:txBody>
      </p:sp>
      <p:sp>
        <p:nvSpPr>
          <p:cNvPr id="95236" name="Text Box 4"/>
          <p:cNvSpPr txBox="1">
            <a:spLocks noChangeArrowheads="1"/>
          </p:cNvSpPr>
          <p:nvPr/>
        </p:nvSpPr>
        <p:spPr bwMode="auto">
          <a:xfrm>
            <a:off x="762000" y="2289175"/>
            <a:ext cx="75438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解单源最短路径问题的优先队列式分支限界法用一极小堆来存储活结点表。其优先级是结点所对应的当前路长。</a:t>
            </a:r>
            <a:endParaRPr lang="zh-CN" altLang="en-US" sz="2400" b="1">
              <a:latin typeface="新宋体" panose="02010609030101010101" charset="-122"/>
              <a:ea typeface="新宋体" panose="02010609030101010101" charset="-122"/>
            </a:endParaRPr>
          </a:p>
        </p:txBody>
      </p:sp>
      <p:sp>
        <p:nvSpPr>
          <p:cNvPr id="95237" name="Text Box 5"/>
          <p:cNvSpPr txBox="1">
            <a:spLocks noChangeArrowheads="1"/>
          </p:cNvSpPr>
          <p:nvPr/>
        </p:nvSpPr>
        <p:spPr bwMode="auto">
          <a:xfrm>
            <a:off x="762000" y="3457575"/>
            <a:ext cx="7697788"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算法从图</a:t>
            </a:r>
            <a:r>
              <a:rPr lang="en-US" altLang="zh-CN" sz="2400" b="1">
                <a:latin typeface="新宋体" panose="02010609030101010101" charset="-122"/>
                <a:ea typeface="新宋体" panose="02010609030101010101" charset="-122"/>
              </a:rPr>
              <a:t>G</a:t>
            </a:r>
            <a:r>
              <a:rPr lang="zh-CN" altLang="en-US" sz="2400" b="1">
                <a:latin typeface="新宋体" panose="02010609030101010101" charset="-122"/>
                <a:ea typeface="新宋体" panose="02010609030101010101" charset="-122"/>
              </a:rPr>
              <a:t>的源顶点</a:t>
            </a:r>
            <a:r>
              <a:rPr lang="en-US" altLang="zh-CN" sz="2400" b="1">
                <a:latin typeface="新宋体" panose="02010609030101010101" charset="-122"/>
                <a:ea typeface="新宋体" panose="02010609030101010101" charset="-122"/>
              </a:rPr>
              <a:t>s</a:t>
            </a:r>
            <a:r>
              <a:rPr lang="zh-CN" altLang="en-US" sz="2400" b="1">
                <a:latin typeface="新宋体" panose="02010609030101010101" charset="-122"/>
                <a:ea typeface="新宋体" panose="02010609030101010101" charset="-122"/>
              </a:rPr>
              <a:t>和空优先队列开始。结点</a:t>
            </a:r>
            <a:r>
              <a:rPr lang="en-US" altLang="zh-CN" sz="2400" b="1">
                <a:latin typeface="新宋体" panose="02010609030101010101" charset="-122"/>
                <a:ea typeface="新宋体" panose="02010609030101010101" charset="-122"/>
              </a:rPr>
              <a:t>s</a:t>
            </a:r>
            <a:r>
              <a:rPr lang="zh-CN" altLang="en-US" sz="2400" b="1">
                <a:latin typeface="新宋体" panose="02010609030101010101" charset="-122"/>
                <a:ea typeface="新宋体" panose="02010609030101010101" charset="-122"/>
              </a:rPr>
              <a:t>被扩展后，它的儿子结点被依次插入堆中。此后，算法从堆中取出具有最小当前路长的结点作为当前扩展结点，并依次检查与当前扩展结点相邻的所有顶点。如果从当前扩展结点</a:t>
            </a:r>
            <a:r>
              <a:rPr lang="en-US" altLang="zh-CN" sz="2400" b="1">
                <a:latin typeface="新宋体" panose="02010609030101010101" charset="-122"/>
                <a:ea typeface="新宋体" panose="02010609030101010101" charset="-122"/>
              </a:rPr>
              <a:t>i</a:t>
            </a:r>
            <a:r>
              <a:rPr lang="zh-CN" altLang="en-US" sz="2400" b="1">
                <a:latin typeface="新宋体" panose="02010609030101010101" charset="-122"/>
                <a:ea typeface="新宋体" panose="02010609030101010101" charset="-122"/>
              </a:rPr>
              <a:t>到顶点</a:t>
            </a:r>
            <a:r>
              <a:rPr lang="en-US" altLang="zh-CN" sz="2400" b="1">
                <a:latin typeface="新宋体" panose="02010609030101010101" charset="-122"/>
                <a:ea typeface="新宋体" panose="02010609030101010101" charset="-122"/>
              </a:rPr>
              <a:t>j</a:t>
            </a:r>
            <a:r>
              <a:rPr lang="zh-CN" altLang="en-US" sz="2400" b="1">
                <a:latin typeface="新宋体" panose="02010609030101010101" charset="-122"/>
                <a:ea typeface="新宋体" panose="02010609030101010101" charset="-122"/>
              </a:rPr>
              <a:t>有边可达，且从源出发，途经顶点</a:t>
            </a:r>
            <a:r>
              <a:rPr lang="en-US" altLang="zh-CN" sz="2400" b="1">
                <a:latin typeface="新宋体" panose="02010609030101010101" charset="-122"/>
                <a:ea typeface="新宋体" panose="02010609030101010101" charset="-122"/>
              </a:rPr>
              <a:t>i</a:t>
            </a:r>
            <a:r>
              <a:rPr lang="zh-CN" altLang="en-US" sz="2400" b="1">
                <a:latin typeface="新宋体" panose="02010609030101010101" charset="-122"/>
                <a:ea typeface="新宋体" panose="02010609030101010101" charset="-122"/>
              </a:rPr>
              <a:t>再到顶点</a:t>
            </a:r>
            <a:r>
              <a:rPr lang="en-US" altLang="zh-CN" sz="2400" b="1">
                <a:latin typeface="新宋体" panose="02010609030101010101" charset="-122"/>
                <a:ea typeface="新宋体" panose="02010609030101010101" charset="-122"/>
              </a:rPr>
              <a:t>j</a:t>
            </a:r>
            <a:r>
              <a:rPr lang="zh-CN" altLang="en-US" sz="2400" b="1">
                <a:latin typeface="新宋体" panose="02010609030101010101" charset="-122"/>
                <a:ea typeface="新宋体" panose="02010609030101010101" charset="-122"/>
              </a:rPr>
              <a:t>的所相应的路径的长度小于当前最优路径长度，则将该顶点作为活结点插入到活结点优先队列中。这个结点的扩展过程一直继续到活结点优先队列为空时为止。</a:t>
            </a:r>
            <a:endParaRPr lang="zh-CN" altLang="en-US" sz="2400" b="1">
              <a:latin typeface="新宋体" panose="02010609030101010101" charset="-122"/>
              <a:ea typeface="新宋体" panose="02010609030101010101" charset="-122"/>
            </a:endParaRPr>
          </a:p>
        </p:txBody>
      </p:sp>
    </p:spTree>
  </p:cSld>
  <p:clrMapOvr>
    <a:masterClrMapping/>
  </p:clrMapOvr>
  <p:transition>
    <p:randomBa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5235"/>
                                        </p:tgtEl>
                                        <p:attrNameLst>
                                          <p:attrName>style.visibility</p:attrName>
                                        </p:attrNameLst>
                                      </p:cBhvr>
                                      <p:to>
                                        <p:strVal val="visible"/>
                                      </p:to>
                                    </p:set>
                                    <p:anim calcmode="lin" valueType="num">
                                      <p:cBhvr additive="base">
                                        <p:cTn id="7" dur="500" fill="hold"/>
                                        <p:tgtEl>
                                          <p:spTgt spid="95235"/>
                                        </p:tgtEl>
                                        <p:attrNameLst>
                                          <p:attrName>ppt_x</p:attrName>
                                        </p:attrNameLst>
                                      </p:cBhvr>
                                      <p:tavLst>
                                        <p:tav tm="0">
                                          <p:val>
                                            <p:strVal val="1+#ppt_w/2"/>
                                          </p:val>
                                        </p:tav>
                                        <p:tav tm="100000">
                                          <p:val>
                                            <p:strVal val="#ppt_x"/>
                                          </p:val>
                                        </p:tav>
                                      </p:tavLst>
                                    </p:anim>
                                    <p:anim calcmode="lin" valueType="num">
                                      <p:cBhvr additive="base">
                                        <p:cTn id="8" dur="500" fill="hold"/>
                                        <p:tgtEl>
                                          <p:spTgt spid="9523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42" fill="hold" grpId="0" nodeType="clickEffect">
                                  <p:stCondLst>
                                    <p:cond delay="0"/>
                                  </p:stCondLst>
                                  <p:childTnLst>
                                    <p:set>
                                      <p:cBhvr>
                                        <p:cTn id="12" dur="1" fill="hold">
                                          <p:stCondLst>
                                            <p:cond delay="0"/>
                                          </p:stCondLst>
                                        </p:cTn>
                                        <p:tgtEl>
                                          <p:spTgt spid="95236"/>
                                        </p:tgtEl>
                                        <p:attrNameLst>
                                          <p:attrName>style.visibility</p:attrName>
                                        </p:attrNameLst>
                                      </p:cBhvr>
                                      <p:to>
                                        <p:strVal val="visible"/>
                                      </p:to>
                                    </p:set>
                                    <p:animEffect transition="in" filter="barn(outHorizontal)">
                                      <p:cBhvr>
                                        <p:cTn id="13" dur="500"/>
                                        <p:tgtEl>
                                          <p:spTgt spid="95236"/>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12" fill="hold" grpId="0" nodeType="clickEffect">
                                  <p:stCondLst>
                                    <p:cond delay="0"/>
                                  </p:stCondLst>
                                  <p:childTnLst>
                                    <p:set>
                                      <p:cBhvr>
                                        <p:cTn id="17" dur="1" fill="hold">
                                          <p:stCondLst>
                                            <p:cond delay="0"/>
                                          </p:stCondLst>
                                        </p:cTn>
                                        <p:tgtEl>
                                          <p:spTgt spid="95237"/>
                                        </p:tgtEl>
                                        <p:attrNameLst>
                                          <p:attrName>style.visibility</p:attrName>
                                        </p:attrNameLst>
                                      </p:cBhvr>
                                      <p:to>
                                        <p:strVal val="visible"/>
                                      </p:to>
                                    </p:set>
                                    <p:animEffect transition="in" filter="strips(downLeft)">
                                      <p:cBhvr>
                                        <p:cTn id="18" dur="500"/>
                                        <p:tgtEl>
                                          <p:spTgt spid="95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autoUpdateAnimBg="0"/>
      <p:bldP spid="95236" grpId="0" autoUpdateAnimBg="0"/>
      <p:bldP spid="95237"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en-US" altLang="zh-CN" sz="3000"/>
              <a:t>6.2	</a:t>
            </a:r>
            <a:r>
              <a:rPr lang="zh-CN" altLang="en-US" sz="3000"/>
              <a:t>单源最短路径问题</a:t>
            </a:r>
            <a:endParaRPr lang="zh-CN" altLang="en-US" sz="3000"/>
          </a:p>
        </p:txBody>
      </p:sp>
      <p:sp>
        <p:nvSpPr>
          <p:cNvPr id="96259" name="Text Box 3"/>
          <p:cNvSpPr txBox="1">
            <a:spLocks noChangeArrowheads="1"/>
          </p:cNvSpPr>
          <p:nvPr/>
        </p:nvSpPr>
        <p:spPr bwMode="auto">
          <a:xfrm>
            <a:off x="517525" y="1484313"/>
            <a:ext cx="63404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ctr" eaLnBrk="1" hangingPunct="1"/>
            <a:endParaRPr lang="zh-CN" altLang="zh-CN">
              <a:solidFill>
                <a:schemeClr val="accent2"/>
              </a:solidFill>
              <a:ea typeface="华文行楷" panose="02010800040101010101" pitchFamily="2" charset="-122"/>
            </a:endParaRPr>
          </a:p>
        </p:txBody>
      </p:sp>
      <p:sp>
        <p:nvSpPr>
          <p:cNvPr id="96260" name="Text Box 4"/>
          <p:cNvSpPr txBox="1">
            <a:spLocks noChangeArrowheads="1"/>
          </p:cNvSpPr>
          <p:nvPr/>
        </p:nvSpPr>
        <p:spPr bwMode="auto">
          <a:xfrm>
            <a:off x="609600" y="1712913"/>
            <a:ext cx="7010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ctr" eaLnBrk="1" hangingPunct="1">
              <a:spcBef>
                <a:spcPct val="50000"/>
              </a:spcBef>
            </a:pPr>
            <a:endParaRPr lang="zh-CN" altLang="zh-CN">
              <a:solidFill>
                <a:schemeClr val="accent2"/>
              </a:solidFill>
              <a:ea typeface="华文行楷" panose="02010800040101010101" pitchFamily="2" charset="-122"/>
            </a:endParaRPr>
          </a:p>
        </p:txBody>
      </p:sp>
      <p:sp>
        <p:nvSpPr>
          <p:cNvPr id="96261" name="Text Box 5"/>
          <p:cNvSpPr txBox="1">
            <a:spLocks noChangeArrowheads="1"/>
          </p:cNvSpPr>
          <p:nvPr/>
        </p:nvSpPr>
        <p:spPr bwMode="auto">
          <a:xfrm>
            <a:off x="633413" y="1941513"/>
            <a:ext cx="7086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a:solidFill>
                  <a:schemeClr val="accent2"/>
                </a:solidFill>
                <a:latin typeface="Times New Roman" panose="02020603050405020304" pitchFamily="18" charset="0"/>
                <a:ea typeface="黑体" panose="02010609060101010101" pitchFamily="2" charset="-122"/>
              </a:rPr>
              <a:t>3. </a:t>
            </a:r>
            <a:r>
              <a:rPr kumimoji="1" lang="zh-CN" altLang="en-US" sz="3200">
                <a:solidFill>
                  <a:schemeClr val="accent2"/>
                </a:solidFill>
                <a:latin typeface="Times New Roman" panose="02020603050405020304" pitchFamily="18" charset="0"/>
                <a:ea typeface="黑体" panose="02010609060101010101" pitchFamily="2" charset="-122"/>
              </a:rPr>
              <a:t>剪枝策略</a:t>
            </a:r>
            <a:endParaRPr lang="zh-CN" altLang="en-US">
              <a:solidFill>
                <a:schemeClr val="accent2"/>
              </a:solidFill>
              <a:ea typeface="华文行楷" panose="02010800040101010101" pitchFamily="2" charset="-122"/>
            </a:endParaRPr>
          </a:p>
        </p:txBody>
      </p:sp>
      <p:sp>
        <p:nvSpPr>
          <p:cNvPr id="96262" name="Text Box 6"/>
          <p:cNvSpPr txBox="1">
            <a:spLocks noChangeArrowheads="1"/>
          </p:cNvSpPr>
          <p:nvPr/>
        </p:nvSpPr>
        <p:spPr bwMode="auto">
          <a:xfrm>
            <a:off x="862013" y="2855913"/>
            <a:ext cx="7239000"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just" eaLnBrk="1" hangingPunct="1">
              <a:spcBef>
                <a:spcPct val="50000"/>
              </a:spcBef>
            </a:pPr>
            <a:r>
              <a:rPr lang="en-US" altLang="zh-CN" sz="2400" b="1">
                <a:latin typeface="Times New Roman" panose="02020603050405020304" pitchFamily="18" charset="0"/>
                <a:ea typeface="新宋体" panose="02010609030101010101" charset="-122"/>
              </a:rPr>
              <a:t>        </a:t>
            </a:r>
            <a:r>
              <a:rPr lang="zh-CN" altLang="en-US" sz="2400" b="1">
                <a:latin typeface="Times New Roman" panose="02020603050405020304" pitchFamily="18" charset="0"/>
                <a:ea typeface="新宋体" panose="02010609030101010101" charset="-122"/>
              </a:rPr>
              <a:t>在算法扩展结点的过程中，一旦发现一个结点的下界不小于当前找到的最短路长，则算法剪去以该结点为根的子树。</a:t>
            </a:r>
            <a:endParaRPr lang="zh-CN" altLang="en-US" sz="2400" b="1">
              <a:latin typeface="Times New Roman" panose="02020603050405020304" pitchFamily="18" charset="0"/>
              <a:ea typeface="新宋体" panose="02010609030101010101" charset="-122"/>
            </a:endParaRPr>
          </a:p>
          <a:p>
            <a:pPr algn="just" eaLnBrk="1" hangingPunct="1">
              <a:spcBef>
                <a:spcPct val="50000"/>
              </a:spcBef>
            </a:pPr>
            <a:endParaRPr lang="zh-CN" altLang="en-US" sz="2400" b="1">
              <a:latin typeface="Times New Roman" panose="02020603050405020304" pitchFamily="18" charset="0"/>
              <a:ea typeface="新宋体" panose="02010609030101010101" charset="-122"/>
            </a:endParaRPr>
          </a:p>
          <a:p>
            <a:pPr algn="just" eaLnBrk="1" hangingPunct="1">
              <a:spcBef>
                <a:spcPct val="50000"/>
              </a:spcBef>
            </a:pPr>
            <a:r>
              <a:rPr lang="zh-CN" altLang="en-US" sz="2400" b="1">
                <a:latin typeface="新宋体" panose="02010609030101010101" charset="-122"/>
                <a:ea typeface="新宋体" panose="02010609030101010101" charset="-122"/>
              </a:rPr>
              <a:t>    在算法中，利用结点间的控制关系进行剪枝。从源顶点</a:t>
            </a:r>
            <a:r>
              <a:rPr lang="en-US" altLang="zh-CN" sz="2400" b="1">
                <a:latin typeface="新宋体" panose="02010609030101010101" charset="-122"/>
                <a:ea typeface="新宋体" panose="02010609030101010101" charset="-122"/>
              </a:rPr>
              <a:t>s</a:t>
            </a:r>
            <a:r>
              <a:rPr lang="zh-CN" altLang="en-US" sz="2400" b="1">
                <a:latin typeface="新宋体" panose="02010609030101010101" charset="-122"/>
                <a:ea typeface="新宋体" panose="02010609030101010101" charset="-122"/>
              </a:rPr>
              <a:t>出发，</a:t>
            </a:r>
            <a:r>
              <a:rPr lang="en-US" altLang="zh-CN" sz="2400" b="1">
                <a:latin typeface="新宋体" panose="02010609030101010101" charset="-122"/>
                <a:ea typeface="新宋体" panose="02010609030101010101" charset="-122"/>
              </a:rPr>
              <a:t>2</a:t>
            </a:r>
            <a:r>
              <a:rPr lang="zh-CN" altLang="en-US" sz="2400" b="1">
                <a:latin typeface="新宋体" panose="02010609030101010101" charset="-122"/>
                <a:ea typeface="新宋体" panose="02010609030101010101" charset="-122"/>
              </a:rPr>
              <a:t>条不同路径到达图</a:t>
            </a:r>
            <a:r>
              <a:rPr lang="en-US" altLang="zh-CN" sz="2400" b="1">
                <a:latin typeface="新宋体" panose="02010609030101010101" charset="-122"/>
                <a:ea typeface="新宋体" panose="02010609030101010101" charset="-122"/>
              </a:rPr>
              <a:t>G</a:t>
            </a:r>
            <a:r>
              <a:rPr lang="zh-CN" altLang="en-US" sz="2400" b="1">
                <a:latin typeface="新宋体" panose="02010609030101010101" charset="-122"/>
                <a:ea typeface="新宋体" panose="02010609030101010101" charset="-122"/>
              </a:rPr>
              <a:t>的同一顶点。由于两条路径的路长不同，因此可以将路长长的路径所对应的树中的结点为根的子树剪去。 </a:t>
            </a:r>
            <a:endParaRPr lang="zh-CN" altLang="en-US" sz="2400" b="1">
              <a:latin typeface="新宋体" panose="02010609030101010101" charset="-122"/>
              <a:ea typeface="新宋体" panose="02010609030101010101" charset="-122"/>
            </a:endParaRPr>
          </a:p>
        </p:txBody>
      </p:sp>
    </p:spTree>
  </p:cSld>
  <p:clrMapOvr>
    <a:masterClrMapping/>
  </p:clrMapOvr>
  <p:transition>
    <p:randomBa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6261"/>
                                        </p:tgtEl>
                                        <p:attrNameLst>
                                          <p:attrName>style.visibility</p:attrName>
                                        </p:attrNameLst>
                                      </p:cBhvr>
                                      <p:to>
                                        <p:strVal val="visible"/>
                                      </p:to>
                                    </p:set>
                                    <p:anim calcmode="lin" valueType="num">
                                      <p:cBhvr additive="base">
                                        <p:cTn id="7" dur="500" fill="hold"/>
                                        <p:tgtEl>
                                          <p:spTgt spid="96261"/>
                                        </p:tgtEl>
                                        <p:attrNameLst>
                                          <p:attrName>ppt_x</p:attrName>
                                        </p:attrNameLst>
                                      </p:cBhvr>
                                      <p:tavLst>
                                        <p:tav tm="0">
                                          <p:val>
                                            <p:strVal val="1+#ppt_w/2"/>
                                          </p:val>
                                        </p:tav>
                                        <p:tav tm="100000">
                                          <p:val>
                                            <p:strVal val="#ppt_x"/>
                                          </p:val>
                                        </p:tav>
                                      </p:tavLst>
                                    </p:anim>
                                    <p:anim calcmode="lin" valueType="num">
                                      <p:cBhvr additive="base">
                                        <p:cTn id="8" dur="500" fill="hold"/>
                                        <p:tgtEl>
                                          <p:spTgt spid="9626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96262"/>
                                        </p:tgtEl>
                                        <p:attrNameLst>
                                          <p:attrName>style.visibility</p:attrName>
                                        </p:attrNameLst>
                                      </p:cBhvr>
                                      <p:to>
                                        <p:strVal val="visible"/>
                                      </p:to>
                                    </p:set>
                                    <p:animEffect transition="in" filter="box(in)">
                                      <p:cBhvr>
                                        <p:cTn id="13" dur="500"/>
                                        <p:tgtEl>
                                          <p:spTgt spid="96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1" grpId="0" autoUpdateAnimBg="0"/>
      <p:bldP spid="96262"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altLang="zh-CN" sz="3000"/>
              <a:t>6.2	</a:t>
            </a:r>
            <a:r>
              <a:rPr lang="zh-CN" altLang="en-US" sz="3000"/>
              <a:t>单源最短路径问题</a:t>
            </a:r>
            <a:endParaRPr lang="zh-CN" altLang="en-US" sz="3000"/>
          </a:p>
        </p:txBody>
      </p:sp>
      <p:sp>
        <p:nvSpPr>
          <p:cNvPr id="97283" name="Text Box 3"/>
          <p:cNvSpPr txBox="1">
            <a:spLocks noChangeArrowheads="1"/>
          </p:cNvSpPr>
          <p:nvPr/>
        </p:nvSpPr>
        <p:spPr bwMode="auto">
          <a:xfrm>
            <a:off x="457200" y="1752600"/>
            <a:ext cx="7848600" cy="453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lnSpc>
                <a:spcPct val="120000"/>
              </a:lnSpc>
            </a:pPr>
            <a:r>
              <a:rPr lang="en-US" altLang="zh-CN" b="1">
                <a:solidFill>
                  <a:schemeClr val="accent2"/>
                </a:solidFill>
                <a:latin typeface="Times New Roman" panose="02020603050405020304" pitchFamily="18" charset="0"/>
                <a:cs typeface="Times New Roman" panose="02020603050405020304" pitchFamily="18" charset="0"/>
              </a:rPr>
              <a:t> </a:t>
            </a:r>
            <a:r>
              <a:rPr kumimoji="1" lang="en-US" altLang="zh-CN" sz="1600" b="1"/>
              <a:t>while (true) {</a:t>
            </a:r>
            <a:endParaRPr kumimoji="1" lang="en-US" altLang="zh-CN" sz="1600" b="1"/>
          </a:p>
          <a:p>
            <a:pPr eaLnBrk="1" hangingPunct="1">
              <a:lnSpc>
                <a:spcPct val="120000"/>
              </a:lnSpc>
            </a:pPr>
            <a:r>
              <a:rPr kumimoji="1" lang="en-US" altLang="zh-CN" sz="1600" b="1"/>
              <a:t>     for (int j = 1; j &lt;= n; j++)</a:t>
            </a:r>
            <a:endParaRPr kumimoji="1" lang="en-US" altLang="zh-CN" sz="1600" b="1"/>
          </a:p>
          <a:p>
            <a:pPr eaLnBrk="1" hangingPunct="1">
              <a:lnSpc>
                <a:spcPct val="120000"/>
              </a:lnSpc>
            </a:pPr>
            <a:r>
              <a:rPr kumimoji="1" lang="en-US" altLang="zh-CN" sz="1600" b="1"/>
              <a:t>       if ((c[E.i][j]&lt;inf)&amp;&amp;(E.length+c[E.i][j]&lt;dist[j])) {</a:t>
            </a:r>
            <a:endParaRPr kumimoji="1" lang="en-US" altLang="zh-CN" sz="1600" b="1"/>
          </a:p>
          <a:p>
            <a:pPr eaLnBrk="1" hangingPunct="1">
              <a:lnSpc>
                <a:spcPct val="120000"/>
              </a:lnSpc>
            </a:pPr>
            <a:r>
              <a:rPr kumimoji="1" lang="en-US" altLang="zh-CN" sz="1600" b="1"/>
              <a:t>         // </a:t>
            </a:r>
            <a:r>
              <a:rPr kumimoji="1" lang="zh-CN" altLang="en-US" sz="1600" b="1"/>
              <a:t>顶点</a:t>
            </a:r>
            <a:r>
              <a:rPr kumimoji="1" lang="en-US" altLang="zh-CN" sz="1600" b="1"/>
              <a:t>i</a:t>
            </a:r>
            <a:r>
              <a:rPr kumimoji="1" lang="zh-CN" altLang="en-US" sz="1600" b="1"/>
              <a:t>到顶点</a:t>
            </a:r>
            <a:r>
              <a:rPr kumimoji="1" lang="en-US" altLang="zh-CN" sz="1600" b="1"/>
              <a:t>j</a:t>
            </a:r>
            <a:r>
              <a:rPr kumimoji="1" lang="zh-CN" altLang="en-US" sz="1600" b="1"/>
              <a:t>可达，且满足控制约束</a:t>
            </a:r>
            <a:endParaRPr kumimoji="1" lang="zh-CN" altLang="en-US" sz="1600" b="1"/>
          </a:p>
          <a:p>
            <a:pPr eaLnBrk="1" hangingPunct="1">
              <a:lnSpc>
                <a:spcPct val="120000"/>
              </a:lnSpc>
            </a:pPr>
            <a:r>
              <a:rPr kumimoji="1" lang="zh-CN" altLang="en-US" sz="1600" b="1"/>
              <a:t>         </a:t>
            </a:r>
            <a:r>
              <a:rPr kumimoji="1" lang="en-US" altLang="zh-CN" sz="1600" b="1"/>
              <a:t>dist[j]=E.length+c[E.i][j];</a:t>
            </a:r>
            <a:endParaRPr kumimoji="1" lang="en-US" altLang="zh-CN" sz="1600" b="1"/>
          </a:p>
          <a:p>
            <a:pPr eaLnBrk="1" hangingPunct="1">
              <a:lnSpc>
                <a:spcPct val="120000"/>
              </a:lnSpc>
            </a:pPr>
            <a:r>
              <a:rPr kumimoji="1" lang="en-US" altLang="zh-CN" sz="1600" b="1"/>
              <a:t>         prev[j]=E.i;</a:t>
            </a:r>
            <a:endParaRPr kumimoji="1" lang="en-US" altLang="zh-CN" sz="1600" b="1"/>
          </a:p>
          <a:p>
            <a:pPr eaLnBrk="1" hangingPunct="1">
              <a:lnSpc>
                <a:spcPct val="120000"/>
              </a:lnSpc>
            </a:pPr>
            <a:r>
              <a:rPr kumimoji="1" lang="en-US" altLang="zh-CN" sz="1600" b="1"/>
              <a:t>         // </a:t>
            </a:r>
            <a:r>
              <a:rPr kumimoji="1" lang="zh-CN" altLang="en-US" sz="1600" b="1"/>
              <a:t>加入活结点优先队列</a:t>
            </a:r>
            <a:endParaRPr kumimoji="1" lang="zh-CN" altLang="en-US" sz="1600" b="1"/>
          </a:p>
          <a:p>
            <a:pPr eaLnBrk="1" hangingPunct="1">
              <a:lnSpc>
                <a:spcPct val="120000"/>
              </a:lnSpc>
            </a:pPr>
            <a:r>
              <a:rPr kumimoji="1" lang="zh-CN" altLang="en-US" sz="1600" b="1"/>
              <a:t>         </a:t>
            </a:r>
            <a:r>
              <a:rPr kumimoji="1" lang="en-US" altLang="zh-CN" sz="1600" b="1"/>
              <a:t>MinHeapNode&lt;Type&gt; N;</a:t>
            </a:r>
            <a:endParaRPr kumimoji="1" lang="en-US" altLang="zh-CN" sz="1600" b="1"/>
          </a:p>
          <a:p>
            <a:pPr eaLnBrk="1" hangingPunct="1">
              <a:lnSpc>
                <a:spcPct val="120000"/>
              </a:lnSpc>
            </a:pPr>
            <a:r>
              <a:rPr kumimoji="1" lang="en-US" altLang="zh-CN" sz="1600" b="1"/>
              <a:t>         N.i=j;</a:t>
            </a:r>
            <a:endParaRPr kumimoji="1" lang="en-US" altLang="zh-CN" sz="1600" b="1"/>
          </a:p>
          <a:p>
            <a:pPr eaLnBrk="1" hangingPunct="1">
              <a:lnSpc>
                <a:spcPct val="120000"/>
              </a:lnSpc>
            </a:pPr>
            <a:r>
              <a:rPr kumimoji="1" lang="en-US" altLang="zh-CN" sz="1600" b="1"/>
              <a:t>         N.length=dist[j];</a:t>
            </a:r>
            <a:endParaRPr kumimoji="1" lang="en-US" altLang="zh-CN" sz="1600" b="1"/>
          </a:p>
          <a:p>
            <a:pPr eaLnBrk="1" hangingPunct="1">
              <a:lnSpc>
                <a:spcPct val="120000"/>
              </a:lnSpc>
            </a:pPr>
            <a:r>
              <a:rPr kumimoji="1" lang="en-US" altLang="zh-CN" sz="1600" b="1"/>
              <a:t>         H.Insert(N);}</a:t>
            </a:r>
            <a:endParaRPr kumimoji="1" lang="en-US" altLang="zh-CN" sz="1600" b="1"/>
          </a:p>
          <a:p>
            <a:pPr eaLnBrk="1" hangingPunct="1">
              <a:lnSpc>
                <a:spcPct val="120000"/>
              </a:lnSpc>
            </a:pPr>
            <a:r>
              <a:rPr kumimoji="1" lang="en-US" altLang="zh-CN" sz="1600" b="1"/>
              <a:t>     try {H.DeleteMin(E);}         // </a:t>
            </a:r>
            <a:r>
              <a:rPr kumimoji="1" lang="zh-CN" altLang="en-US" sz="1600" b="1"/>
              <a:t>取下一扩展结点</a:t>
            </a:r>
            <a:endParaRPr kumimoji="1" lang="zh-CN" altLang="en-US" sz="1600" b="1"/>
          </a:p>
          <a:p>
            <a:pPr eaLnBrk="1" hangingPunct="1">
              <a:lnSpc>
                <a:spcPct val="120000"/>
              </a:lnSpc>
            </a:pPr>
            <a:r>
              <a:rPr kumimoji="1" lang="zh-CN" altLang="en-US" sz="1600" b="1"/>
              <a:t>     </a:t>
            </a:r>
            <a:r>
              <a:rPr kumimoji="1" lang="en-US" altLang="zh-CN" sz="1600" b="1"/>
              <a:t>catch (OutOfBounds) {break;}  // </a:t>
            </a:r>
            <a:r>
              <a:rPr kumimoji="1" lang="zh-CN" altLang="en-US" sz="1600" b="1"/>
              <a:t>优先队列空</a:t>
            </a:r>
            <a:endParaRPr kumimoji="1" lang="zh-CN" altLang="en-US" sz="1600" b="1"/>
          </a:p>
          <a:p>
            <a:pPr eaLnBrk="1" hangingPunct="1">
              <a:lnSpc>
                <a:spcPct val="120000"/>
              </a:lnSpc>
            </a:pPr>
            <a:r>
              <a:rPr kumimoji="1" lang="zh-CN" altLang="en-US" sz="1600" b="1"/>
              <a:t>     </a:t>
            </a:r>
            <a:r>
              <a:rPr kumimoji="1" lang="en-US" altLang="zh-CN" sz="1600" b="1"/>
              <a:t>}</a:t>
            </a:r>
            <a:endParaRPr kumimoji="1" lang="en-US" altLang="zh-CN" sz="1600" b="1"/>
          </a:p>
          <a:p>
            <a:pPr eaLnBrk="1" hangingPunct="1">
              <a:lnSpc>
                <a:spcPct val="120000"/>
              </a:lnSpc>
            </a:pPr>
            <a:r>
              <a:rPr kumimoji="1" lang="en-US" altLang="zh-CN" sz="1600" b="1"/>
              <a:t>} </a:t>
            </a:r>
            <a:endParaRPr kumimoji="1" lang="en-US" altLang="zh-CN" sz="1600" b="1"/>
          </a:p>
        </p:txBody>
      </p:sp>
      <p:sp>
        <p:nvSpPr>
          <p:cNvPr id="97284" name="AutoShape 4"/>
          <p:cNvSpPr>
            <a:spLocks noChangeArrowheads="1"/>
          </p:cNvSpPr>
          <p:nvPr/>
        </p:nvSpPr>
        <p:spPr bwMode="auto">
          <a:xfrm>
            <a:off x="4427538" y="2852738"/>
            <a:ext cx="3048000" cy="1143000"/>
          </a:xfrm>
          <a:prstGeom prst="wedgeRoundRectCallout">
            <a:avLst>
              <a:gd name="adj1" fmla="val -72032"/>
              <a:gd name="adj2" fmla="val -63889"/>
              <a:gd name="adj3" fmla="val 16667"/>
            </a:avLst>
          </a:prstGeom>
          <a:solidFill>
            <a:schemeClr val="hlink"/>
          </a:solidFill>
          <a:ln w="6350">
            <a:solidFill>
              <a:schemeClr val="hlink"/>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lstStyle/>
          <a:p>
            <a:pPr algn="ctr" eaLnBrk="1" hangingPunct="1"/>
            <a:r>
              <a:rPr lang="zh-CN" altLang="en-US" sz="2000" b="1">
                <a:solidFill>
                  <a:srgbClr val="A50021"/>
                </a:solidFill>
                <a:latin typeface="新宋体" panose="02010609030101010101" charset="-122"/>
                <a:ea typeface="新宋体" panose="02010609030101010101" charset="-122"/>
              </a:rPr>
              <a:t>顶点</a:t>
            </a:r>
            <a:r>
              <a:rPr lang="en-US" altLang="zh-CN" sz="2000" b="1">
                <a:solidFill>
                  <a:srgbClr val="A50021"/>
                </a:solidFill>
                <a:latin typeface="新宋体" panose="02010609030101010101" charset="-122"/>
                <a:ea typeface="新宋体" panose="02010609030101010101" charset="-122"/>
              </a:rPr>
              <a:t>I</a:t>
            </a:r>
            <a:r>
              <a:rPr lang="zh-CN" altLang="en-US" sz="2000" b="1">
                <a:solidFill>
                  <a:srgbClr val="A50021"/>
                </a:solidFill>
                <a:latin typeface="新宋体" panose="02010609030101010101" charset="-122"/>
                <a:ea typeface="新宋体" panose="02010609030101010101" charset="-122"/>
              </a:rPr>
              <a:t>和</a:t>
            </a:r>
            <a:r>
              <a:rPr lang="en-US" altLang="zh-CN" sz="2000" b="1">
                <a:solidFill>
                  <a:srgbClr val="A50021"/>
                </a:solidFill>
                <a:latin typeface="新宋体" panose="02010609030101010101" charset="-122"/>
                <a:ea typeface="新宋体" panose="02010609030101010101" charset="-122"/>
              </a:rPr>
              <a:t>j</a:t>
            </a:r>
            <a:r>
              <a:rPr lang="zh-CN" altLang="en-US" sz="2000" b="1">
                <a:solidFill>
                  <a:srgbClr val="A50021"/>
                </a:solidFill>
                <a:latin typeface="新宋体" panose="02010609030101010101" charset="-122"/>
                <a:ea typeface="新宋体" panose="02010609030101010101" charset="-122"/>
              </a:rPr>
              <a:t>间有边，且此路径长小于原先从原点到</a:t>
            </a:r>
            <a:r>
              <a:rPr lang="en-US" altLang="zh-CN" sz="2000" b="1">
                <a:solidFill>
                  <a:srgbClr val="A50021"/>
                </a:solidFill>
                <a:latin typeface="新宋体" panose="02010609030101010101" charset="-122"/>
                <a:ea typeface="新宋体" panose="02010609030101010101" charset="-122"/>
              </a:rPr>
              <a:t>j</a:t>
            </a:r>
            <a:r>
              <a:rPr lang="zh-CN" altLang="en-US" sz="2000" b="1">
                <a:solidFill>
                  <a:srgbClr val="A50021"/>
                </a:solidFill>
                <a:latin typeface="新宋体" panose="02010609030101010101" charset="-122"/>
                <a:ea typeface="新宋体" panose="02010609030101010101" charset="-122"/>
              </a:rPr>
              <a:t>的路径长</a:t>
            </a:r>
            <a:r>
              <a:rPr lang="zh-CN" altLang="en-US" sz="2000" b="1">
                <a:solidFill>
                  <a:schemeClr val="accent2"/>
                </a:solidFill>
                <a:latin typeface="新宋体" panose="02010609030101010101" charset="-122"/>
                <a:ea typeface="新宋体" panose="02010609030101010101" charset="-122"/>
              </a:rPr>
              <a:t> </a:t>
            </a:r>
            <a:endParaRPr lang="zh-CN" altLang="en-US" sz="2000" b="1">
              <a:solidFill>
                <a:schemeClr val="accent2"/>
              </a:solidFill>
              <a:latin typeface="新宋体" panose="02010609030101010101" charset="-122"/>
              <a:ea typeface="新宋体" panose="02010609030101010101" charset="-122"/>
            </a:endParaRPr>
          </a:p>
        </p:txBody>
      </p:sp>
    </p:spTree>
  </p:cSld>
  <p:clrMapOvr>
    <a:masterClrMapping/>
  </p:clrMapOvr>
  <p:transition>
    <p:randomBa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97283"/>
                                        </p:tgtEl>
                                        <p:attrNameLst>
                                          <p:attrName>style.visibility</p:attrName>
                                        </p:attrNameLst>
                                      </p:cBhvr>
                                      <p:to>
                                        <p:strVal val="visible"/>
                                      </p:to>
                                    </p:set>
                                    <p:anim calcmode="lin" valueType="num">
                                      <p:cBhvr>
                                        <p:cTn id="7" dur="500" fill="hold"/>
                                        <p:tgtEl>
                                          <p:spTgt spid="97283"/>
                                        </p:tgtEl>
                                        <p:attrNameLst>
                                          <p:attrName>ppt_w</p:attrName>
                                        </p:attrNameLst>
                                      </p:cBhvr>
                                      <p:tavLst>
                                        <p:tav tm="0">
                                          <p:val>
                                            <p:fltVal val="0"/>
                                          </p:val>
                                        </p:tav>
                                        <p:tav tm="100000">
                                          <p:val>
                                            <p:strVal val="#ppt_w"/>
                                          </p:val>
                                        </p:tav>
                                      </p:tavLst>
                                    </p:anim>
                                    <p:anim calcmode="lin" valueType="num">
                                      <p:cBhvr>
                                        <p:cTn id="8" dur="500" fill="hold"/>
                                        <p:tgtEl>
                                          <p:spTgt spid="97283"/>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7284"/>
                                        </p:tgtEl>
                                        <p:attrNameLst>
                                          <p:attrName>style.visibility</p:attrName>
                                        </p:attrNameLst>
                                      </p:cBhvr>
                                      <p:to>
                                        <p:strVal val="visible"/>
                                      </p:to>
                                    </p:set>
                                    <p:anim calcmode="lin" valueType="num">
                                      <p:cBhvr additive="base">
                                        <p:cTn id="13" dur="500" fill="hold"/>
                                        <p:tgtEl>
                                          <p:spTgt spid="97284"/>
                                        </p:tgtEl>
                                        <p:attrNameLst>
                                          <p:attrName>ppt_x</p:attrName>
                                        </p:attrNameLst>
                                      </p:cBhvr>
                                      <p:tavLst>
                                        <p:tav tm="0">
                                          <p:val>
                                            <p:strVal val="#ppt_x"/>
                                          </p:val>
                                        </p:tav>
                                        <p:tav tm="100000">
                                          <p:val>
                                            <p:strVal val="#ppt_x"/>
                                          </p:val>
                                        </p:tav>
                                      </p:tavLst>
                                    </p:anim>
                                    <p:anim calcmode="lin" valueType="num">
                                      <p:cBhvr additive="base">
                                        <p:cTn id="14" dur="500" fill="hold"/>
                                        <p:tgtEl>
                                          <p:spTgt spid="972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autoUpdateAnimBg="0"/>
      <p:bldP spid="97284"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ctrTitle"/>
          </p:nvPr>
        </p:nvSpPr>
        <p:spPr/>
        <p:txBody>
          <a:bodyPr/>
          <a:lstStyle/>
          <a:p>
            <a:r>
              <a:rPr lang="zh-CN" altLang="en-US"/>
              <a:t>装载问题</a:t>
            </a:r>
            <a:endParaRPr lang="zh-CN" altLang="en-US"/>
          </a:p>
        </p:txBody>
      </p:sp>
      <p:sp>
        <p:nvSpPr>
          <p:cNvPr id="98307" name="Rectangle 3"/>
          <p:cNvSpPr>
            <a:spLocks noGrp="1" noChangeArrowheads="1"/>
          </p:cNvSpPr>
          <p:nvPr>
            <p:ph type="subTitle" idx="1"/>
          </p:nvPr>
        </p:nvSpPr>
        <p:spPr/>
        <p:txBody>
          <a:bodyPr/>
          <a:lstStyle/>
          <a:p>
            <a:endParaRPr lang="zh-CN" altLang="zh-CN"/>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p:cNvSpPr txBox="1">
            <a:spLocks noChangeArrowheads="1"/>
          </p:cNvSpPr>
          <p:nvPr/>
        </p:nvSpPr>
        <p:spPr bwMode="auto">
          <a:xfrm>
            <a:off x="517525" y="1341438"/>
            <a:ext cx="63404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ctr" eaLnBrk="1" hangingPunct="1"/>
            <a:endParaRPr lang="zh-CN" altLang="zh-CN">
              <a:solidFill>
                <a:schemeClr val="accent2"/>
              </a:solidFill>
              <a:ea typeface="华文行楷" panose="02010800040101010101" pitchFamily="2" charset="-122"/>
            </a:endParaRPr>
          </a:p>
        </p:txBody>
      </p:sp>
      <p:sp>
        <p:nvSpPr>
          <p:cNvPr id="99331" name="Text Box 3"/>
          <p:cNvSpPr txBox="1">
            <a:spLocks noChangeArrowheads="1"/>
          </p:cNvSpPr>
          <p:nvPr/>
        </p:nvSpPr>
        <p:spPr bwMode="auto">
          <a:xfrm>
            <a:off x="609600" y="1570038"/>
            <a:ext cx="7010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ctr" eaLnBrk="1" hangingPunct="1">
              <a:spcBef>
                <a:spcPct val="50000"/>
              </a:spcBef>
            </a:pPr>
            <a:endParaRPr lang="zh-CN" altLang="zh-CN">
              <a:solidFill>
                <a:schemeClr val="accent2"/>
              </a:solidFill>
              <a:ea typeface="华文行楷" panose="02010800040101010101" pitchFamily="2" charset="-122"/>
            </a:endParaRPr>
          </a:p>
        </p:txBody>
      </p:sp>
      <p:sp>
        <p:nvSpPr>
          <p:cNvPr id="99332" name="Rectangle 4"/>
          <p:cNvSpPr>
            <a:spLocks noGrp="1" noChangeArrowheads="1"/>
          </p:cNvSpPr>
          <p:nvPr>
            <p:ph type="title"/>
          </p:nvPr>
        </p:nvSpPr>
        <p:spPr>
          <a:noFill/>
        </p:spPr>
        <p:txBody>
          <a:bodyPr anchor="ctr"/>
          <a:lstStyle/>
          <a:p>
            <a:r>
              <a:rPr lang="en-US" altLang="zh-CN"/>
              <a:t>6.3 </a:t>
            </a:r>
            <a:r>
              <a:rPr lang="zh-CN" altLang="en-US"/>
              <a:t>装载问题</a:t>
            </a:r>
            <a:endParaRPr lang="zh-CN" altLang="en-US"/>
          </a:p>
        </p:txBody>
      </p:sp>
      <p:sp>
        <p:nvSpPr>
          <p:cNvPr id="99333" name="Text Box 5"/>
          <p:cNvSpPr txBox="1">
            <a:spLocks noChangeArrowheads="1"/>
          </p:cNvSpPr>
          <p:nvPr/>
        </p:nvSpPr>
        <p:spPr bwMode="auto">
          <a:xfrm>
            <a:off x="304800" y="1646238"/>
            <a:ext cx="7696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a:solidFill>
                  <a:schemeClr val="accent2"/>
                </a:solidFill>
                <a:latin typeface="Times New Roman" panose="02020603050405020304" pitchFamily="18" charset="0"/>
                <a:ea typeface="黑体" panose="02010609060101010101" pitchFamily="2" charset="-122"/>
              </a:rPr>
              <a:t>1. </a:t>
            </a:r>
            <a:r>
              <a:rPr kumimoji="1" lang="zh-CN" altLang="en-US" sz="3200">
                <a:solidFill>
                  <a:schemeClr val="accent2"/>
                </a:solidFill>
                <a:latin typeface="Times New Roman" panose="02020603050405020304" pitchFamily="18" charset="0"/>
                <a:ea typeface="黑体" panose="02010609060101010101" pitchFamily="2" charset="-122"/>
              </a:rPr>
              <a:t>问题描述</a:t>
            </a:r>
            <a:endParaRPr lang="zh-CN" altLang="en-US">
              <a:solidFill>
                <a:schemeClr val="accent2"/>
              </a:solidFill>
              <a:ea typeface="华文行楷" panose="02010800040101010101" pitchFamily="2" charset="-122"/>
            </a:endParaRPr>
          </a:p>
        </p:txBody>
      </p:sp>
      <p:sp>
        <p:nvSpPr>
          <p:cNvPr id="99334" name="Text Box 6"/>
          <p:cNvSpPr txBox="1">
            <a:spLocks noChangeArrowheads="1"/>
          </p:cNvSpPr>
          <p:nvPr/>
        </p:nvSpPr>
        <p:spPr bwMode="auto">
          <a:xfrm>
            <a:off x="838200" y="2408238"/>
            <a:ext cx="76962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just" eaLnBrk="1" hangingPunct="1">
              <a:spcBef>
                <a:spcPct val="50000"/>
              </a:spcBef>
            </a:pPr>
            <a:r>
              <a:rPr lang="zh-CN" altLang="en-US" sz="2000" b="1">
                <a:latin typeface="新宋体" panose="02010609030101010101" charset="-122"/>
                <a:ea typeface="新宋体" panose="02010609030101010101" charset="-122"/>
              </a:rPr>
              <a:t>有一批共个集装箱要装上</a:t>
            </a:r>
            <a:r>
              <a:rPr lang="en-US" altLang="zh-CN" sz="2000" b="1">
                <a:latin typeface="新宋体" panose="02010609030101010101" charset="-122"/>
                <a:ea typeface="新宋体" panose="02010609030101010101" charset="-122"/>
              </a:rPr>
              <a:t>2</a:t>
            </a:r>
            <a:r>
              <a:rPr lang="zh-CN" altLang="en-US" sz="2000" b="1">
                <a:latin typeface="新宋体" panose="02010609030101010101" charset="-122"/>
                <a:ea typeface="新宋体" panose="02010609030101010101" charset="-122"/>
              </a:rPr>
              <a:t>艘载重量分别为</a:t>
            </a:r>
            <a:r>
              <a:rPr lang="en-US" altLang="zh-CN" sz="2000" b="1">
                <a:latin typeface="新宋体" panose="02010609030101010101" charset="-122"/>
                <a:ea typeface="新宋体" panose="02010609030101010101" charset="-122"/>
              </a:rPr>
              <a:t>C1</a:t>
            </a:r>
            <a:r>
              <a:rPr lang="zh-CN" altLang="en-US" sz="2000" b="1">
                <a:latin typeface="新宋体" panose="02010609030101010101" charset="-122"/>
                <a:ea typeface="新宋体" panose="02010609030101010101" charset="-122"/>
              </a:rPr>
              <a:t>和</a:t>
            </a:r>
            <a:r>
              <a:rPr lang="en-US" altLang="zh-CN" sz="2000" b="1">
                <a:latin typeface="新宋体" panose="02010609030101010101" charset="-122"/>
                <a:ea typeface="新宋体" panose="02010609030101010101" charset="-122"/>
              </a:rPr>
              <a:t>C2</a:t>
            </a:r>
            <a:r>
              <a:rPr lang="zh-CN" altLang="en-US" sz="2000" b="1">
                <a:latin typeface="新宋体" panose="02010609030101010101" charset="-122"/>
                <a:ea typeface="新宋体" panose="02010609030101010101" charset="-122"/>
              </a:rPr>
              <a:t>的轮船，其中集</a:t>
            </a:r>
            <a:endParaRPr lang="zh-CN" altLang="en-US" sz="2000" b="1">
              <a:latin typeface="新宋体" panose="02010609030101010101" charset="-122"/>
              <a:ea typeface="新宋体" panose="02010609030101010101" charset="-122"/>
            </a:endParaRPr>
          </a:p>
          <a:p>
            <a:pPr algn="just" eaLnBrk="1" hangingPunct="1">
              <a:spcBef>
                <a:spcPct val="50000"/>
              </a:spcBef>
            </a:pPr>
            <a:r>
              <a:rPr lang="zh-CN" altLang="en-US" sz="2000" b="1">
                <a:latin typeface="新宋体" panose="02010609030101010101" charset="-122"/>
                <a:ea typeface="新宋体" panose="02010609030101010101" charset="-122"/>
              </a:rPr>
              <a:t>装箱</a:t>
            </a:r>
            <a:r>
              <a:rPr lang="en-US" altLang="zh-CN" sz="2000" b="1">
                <a:latin typeface="新宋体" panose="02010609030101010101" charset="-122"/>
                <a:ea typeface="新宋体" panose="02010609030101010101" charset="-122"/>
              </a:rPr>
              <a:t>i</a:t>
            </a:r>
            <a:r>
              <a:rPr lang="zh-CN" altLang="en-US" sz="2000" b="1">
                <a:latin typeface="新宋体" panose="02010609030101010101" charset="-122"/>
                <a:ea typeface="新宋体" panose="02010609030101010101" charset="-122"/>
              </a:rPr>
              <a:t>的重量为</a:t>
            </a:r>
            <a:r>
              <a:rPr lang="en-US" altLang="zh-CN" sz="2000" b="1">
                <a:latin typeface="新宋体" panose="02010609030101010101" charset="-122"/>
                <a:ea typeface="新宋体" panose="02010609030101010101" charset="-122"/>
              </a:rPr>
              <a:t>Wi</a:t>
            </a:r>
            <a:r>
              <a:rPr lang="zh-CN" altLang="en-US" sz="2000" b="1">
                <a:latin typeface="新宋体" panose="02010609030101010101" charset="-122"/>
                <a:ea typeface="新宋体" panose="02010609030101010101" charset="-122"/>
              </a:rPr>
              <a:t>，且</a:t>
            </a:r>
            <a:endParaRPr lang="zh-CN" altLang="en-US" sz="2000" b="1">
              <a:latin typeface="新宋体" panose="02010609030101010101" charset="-122"/>
              <a:ea typeface="新宋体" panose="02010609030101010101" charset="-122"/>
            </a:endParaRPr>
          </a:p>
        </p:txBody>
      </p:sp>
      <p:graphicFrame>
        <p:nvGraphicFramePr>
          <p:cNvPr id="99335" name="Object 7"/>
          <p:cNvGraphicFramePr>
            <a:graphicFrameLocks noChangeAspect="1"/>
          </p:cNvGraphicFramePr>
          <p:nvPr/>
        </p:nvGraphicFramePr>
        <p:xfrm>
          <a:off x="3848100" y="2789238"/>
          <a:ext cx="1447800" cy="762000"/>
        </p:xfrm>
        <a:graphic>
          <a:graphicData uri="http://schemas.openxmlformats.org/presentationml/2006/ole">
            <mc:AlternateContent xmlns:mc="http://schemas.openxmlformats.org/markup-compatibility/2006">
              <mc:Choice xmlns:v="urn:schemas-microsoft-com:vml" Requires="v">
                <p:oleObj spid="_x0000_s1029" name="Microsoft 公式 3.0" r:id="rId1" imgW="927100" imgH="431800" progId="Equation.3">
                  <p:embed/>
                </p:oleObj>
              </mc:Choice>
              <mc:Fallback>
                <p:oleObj name="Microsoft 公式 3.0" r:id="rId1" imgW="927100" imgH="431800" progId="Equation.3">
                  <p:embed/>
                  <p:pic>
                    <p:nvPicPr>
                      <p:cNvPr id="0" name="图片 10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8100" y="2789238"/>
                        <a:ext cx="144780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336" name="Text Box 8"/>
          <p:cNvSpPr txBox="1">
            <a:spLocks noChangeArrowheads="1"/>
          </p:cNvSpPr>
          <p:nvPr/>
        </p:nvSpPr>
        <p:spPr bwMode="auto">
          <a:xfrm>
            <a:off x="838200" y="3551238"/>
            <a:ext cx="7696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zh-CN" altLang="en-US" sz="2000" b="1">
                <a:latin typeface="新宋体" panose="02010609030101010101" charset="-122"/>
                <a:ea typeface="新宋体" panose="02010609030101010101" charset="-122"/>
              </a:rPr>
              <a:t>装载问题要求确定是否有一个合理的装载方案可将这个集装箱装上这</a:t>
            </a:r>
            <a:r>
              <a:rPr lang="en-US" altLang="zh-CN" sz="2000" b="1">
                <a:latin typeface="新宋体" panose="02010609030101010101" charset="-122"/>
                <a:ea typeface="新宋体" panose="02010609030101010101" charset="-122"/>
              </a:rPr>
              <a:t>2</a:t>
            </a:r>
            <a:r>
              <a:rPr lang="zh-CN" altLang="en-US" sz="2000" b="1">
                <a:latin typeface="新宋体" panose="02010609030101010101" charset="-122"/>
                <a:ea typeface="新宋体" panose="02010609030101010101" charset="-122"/>
              </a:rPr>
              <a:t>艘轮船。如果有，找出一种装载方案。 </a:t>
            </a:r>
            <a:endParaRPr lang="zh-CN" altLang="en-US" sz="2000" b="1">
              <a:latin typeface="新宋体" panose="02010609030101010101" charset="-122"/>
              <a:ea typeface="新宋体" panose="02010609030101010101" charset="-122"/>
            </a:endParaRPr>
          </a:p>
        </p:txBody>
      </p:sp>
      <p:sp>
        <p:nvSpPr>
          <p:cNvPr id="99337" name="Text Box 9"/>
          <p:cNvSpPr txBox="1">
            <a:spLocks noChangeArrowheads="1"/>
          </p:cNvSpPr>
          <p:nvPr/>
        </p:nvSpPr>
        <p:spPr bwMode="auto">
          <a:xfrm>
            <a:off x="838200" y="4465638"/>
            <a:ext cx="769620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just" eaLnBrk="1" hangingPunct="1">
              <a:spcBef>
                <a:spcPct val="50000"/>
              </a:spcBef>
            </a:pPr>
            <a:r>
              <a:rPr lang="zh-CN" altLang="en-US" sz="2000" b="1">
                <a:latin typeface="新宋体" panose="02010609030101010101" charset="-122"/>
                <a:ea typeface="新宋体" panose="02010609030101010101" charset="-122"/>
              </a:rPr>
              <a:t>容易证明：如果一个给定装载问题有解，则采用下面的策略可得到最优装载方案。 </a:t>
            </a:r>
            <a:endParaRPr lang="zh-CN" altLang="en-US" sz="2000" b="1">
              <a:latin typeface="新宋体" panose="02010609030101010101" charset="-122"/>
              <a:ea typeface="新宋体" panose="02010609030101010101" charset="-122"/>
            </a:endParaRPr>
          </a:p>
          <a:p>
            <a:pPr algn="just" eaLnBrk="1" hangingPunct="1">
              <a:spcBef>
                <a:spcPct val="50000"/>
              </a:spcBef>
            </a:pPr>
            <a:r>
              <a:rPr lang="en-US" altLang="zh-CN" sz="2000" b="1">
                <a:latin typeface="新宋体" panose="02010609030101010101" charset="-122"/>
                <a:ea typeface="新宋体" panose="02010609030101010101" charset="-122"/>
              </a:rPr>
              <a:t>(1)</a:t>
            </a:r>
            <a:r>
              <a:rPr lang="zh-CN" altLang="en-US" sz="2000" b="1">
                <a:latin typeface="新宋体" panose="02010609030101010101" charset="-122"/>
                <a:ea typeface="新宋体" panose="02010609030101010101" charset="-122"/>
              </a:rPr>
              <a:t>首先将第一艘轮船尽可能装满；</a:t>
            </a:r>
            <a:endParaRPr lang="zh-CN" altLang="en-US" sz="2000" b="1">
              <a:latin typeface="新宋体" panose="02010609030101010101" charset="-122"/>
              <a:ea typeface="新宋体" panose="02010609030101010101" charset="-122"/>
            </a:endParaRPr>
          </a:p>
          <a:p>
            <a:pPr algn="just" eaLnBrk="1" hangingPunct="1">
              <a:spcBef>
                <a:spcPct val="50000"/>
              </a:spcBef>
            </a:pPr>
            <a:r>
              <a:rPr lang="en-US" altLang="zh-CN" sz="2000" b="1">
                <a:latin typeface="新宋体" panose="02010609030101010101" charset="-122"/>
                <a:ea typeface="新宋体" panose="02010609030101010101" charset="-122"/>
              </a:rPr>
              <a:t>(2)</a:t>
            </a:r>
            <a:r>
              <a:rPr lang="zh-CN" altLang="en-US" sz="2000" b="1">
                <a:latin typeface="新宋体" panose="02010609030101010101" charset="-122"/>
                <a:ea typeface="新宋体" panose="02010609030101010101" charset="-122"/>
              </a:rPr>
              <a:t>将剩余的集装箱装上第二艘轮船。 </a:t>
            </a:r>
            <a:endParaRPr lang="zh-CN" altLang="en-US" sz="2000" b="1">
              <a:latin typeface="新宋体" panose="02010609030101010101" charset="-122"/>
              <a:ea typeface="新宋体" panose="02010609030101010101" charset="-122"/>
            </a:endParaRPr>
          </a:p>
        </p:txBody>
      </p:sp>
    </p:spTree>
  </p:cSld>
  <p:clrMapOvr>
    <a:masterClrMapping/>
  </p:clrMapOvr>
  <p:transition>
    <p:randomBa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9333"/>
                                        </p:tgtEl>
                                        <p:attrNameLst>
                                          <p:attrName>style.visibility</p:attrName>
                                        </p:attrNameLst>
                                      </p:cBhvr>
                                      <p:to>
                                        <p:strVal val="visible"/>
                                      </p:to>
                                    </p:set>
                                    <p:anim calcmode="lin" valueType="num">
                                      <p:cBhvr additive="base">
                                        <p:cTn id="7" dur="500" fill="hold"/>
                                        <p:tgtEl>
                                          <p:spTgt spid="99333"/>
                                        </p:tgtEl>
                                        <p:attrNameLst>
                                          <p:attrName>ppt_x</p:attrName>
                                        </p:attrNameLst>
                                      </p:cBhvr>
                                      <p:tavLst>
                                        <p:tav tm="0">
                                          <p:val>
                                            <p:strVal val="1+#ppt_w/2"/>
                                          </p:val>
                                        </p:tav>
                                        <p:tav tm="100000">
                                          <p:val>
                                            <p:strVal val="#ppt_x"/>
                                          </p:val>
                                        </p:tav>
                                      </p:tavLst>
                                    </p:anim>
                                    <p:anim calcmode="lin" valueType="num">
                                      <p:cBhvr additive="base">
                                        <p:cTn id="8" dur="500" fill="hold"/>
                                        <p:tgtEl>
                                          <p:spTgt spid="9933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9334"/>
                                        </p:tgtEl>
                                        <p:attrNameLst>
                                          <p:attrName>style.visibility</p:attrName>
                                        </p:attrNameLst>
                                      </p:cBhvr>
                                      <p:to>
                                        <p:strVal val="visible"/>
                                      </p:to>
                                    </p:set>
                                    <p:anim calcmode="lin" valueType="num">
                                      <p:cBhvr additive="base">
                                        <p:cTn id="13" dur="500" fill="hold"/>
                                        <p:tgtEl>
                                          <p:spTgt spid="99334"/>
                                        </p:tgtEl>
                                        <p:attrNameLst>
                                          <p:attrName>ppt_x</p:attrName>
                                        </p:attrNameLst>
                                      </p:cBhvr>
                                      <p:tavLst>
                                        <p:tav tm="0">
                                          <p:val>
                                            <p:strVal val="0-#ppt_w/2"/>
                                          </p:val>
                                        </p:tav>
                                        <p:tav tm="100000">
                                          <p:val>
                                            <p:strVal val="#ppt_x"/>
                                          </p:val>
                                        </p:tav>
                                      </p:tavLst>
                                    </p:anim>
                                    <p:anim calcmode="lin" valueType="num">
                                      <p:cBhvr additive="base">
                                        <p:cTn id="14" dur="500" fill="hold"/>
                                        <p:tgtEl>
                                          <p:spTgt spid="9933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99335"/>
                                        </p:tgtEl>
                                        <p:attrNameLst>
                                          <p:attrName>style.visibility</p:attrName>
                                        </p:attrNameLst>
                                      </p:cBhvr>
                                      <p:to>
                                        <p:strVal val="visible"/>
                                      </p:to>
                                    </p:set>
                                    <p:anim calcmode="lin" valueType="num">
                                      <p:cBhvr additive="base">
                                        <p:cTn id="19" dur="500" fill="hold"/>
                                        <p:tgtEl>
                                          <p:spTgt spid="99335"/>
                                        </p:tgtEl>
                                        <p:attrNameLst>
                                          <p:attrName>ppt_x</p:attrName>
                                        </p:attrNameLst>
                                      </p:cBhvr>
                                      <p:tavLst>
                                        <p:tav tm="0">
                                          <p:val>
                                            <p:strVal val="0-#ppt_w/2"/>
                                          </p:val>
                                        </p:tav>
                                        <p:tav tm="100000">
                                          <p:val>
                                            <p:strVal val="#ppt_x"/>
                                          </p:val>
                                        </p:tav>
                                      </p:tavLst>
                                    </p:anim>
                                    <p:anim calcmode="lin" valueType="num">
                                      <p:cBhvr additive="base">
                                        <p:cTn id="20" dur="500" fill="hold"/>
                                        <p:tgtEl>
                                          <p:spTgt spid="9933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99336"/>
                                        </p:tgtEl>
                                        <p:attrNameLst>
                                          <p:attrName>style.visibility</p:attrName>
                                        </p:attrNameLst>
                                      </p:cBhvr>
                                      <p:to>
                                        <p:strVal val="visible"/>
                                      </p:to>
                                    </p:set>
                                    <p:animEffect transition="in" filter="checkerboard(across)">
                                      <p:cBhvr>
                                        <p:cTn id="25" dur="500"/>
                                        <p:tgtEl>
                                          <p:spTgt spid="99336"/>
                                        </p:tgtEl>
                                      </p:cBhvr>
                                    </p:animEffect>
                                  </p:childTnLst>
                                </p:cTn>
                              </p:par>
                            </p:childTnLst>
                          </p:cTn>
                        </p:par>
                      </p:childTnLst>
                    </p:cTn>
                  </p:par>
                  <p:par>
                    <p:cTn id="26" fill="hold">
                      <p:stCondLst>
                        <p:cond delay="indefinite"/>
                      </p:stCondLst>
                      <p:childTnLst>
                        <p:par>
                          <p:cTn id="27" fill="hold">
                            <p:stCondLst>
                              <p:cond delay="0"/>
                            </p:stCondLst>
                            <p:childTnLst>
                              <p:par>
                                <p:cTn id="28" presetID="5" presetClass="entr" presetSubtype="5" fill="hold" grpId="0" nodeType="clickEffect">
                                  <p:stCondLst>
                                    <p:cond delay="0"/>
                                  </p:stCondLst>
                                  <p:childTnLst>
                                    <p:set>
                                      <p:cBhvr>
                                        <p:cTn id="29" dur="1" fill="hold">
                                          <p:stCondLst>
                                            <p:cond delay="0"/>
                                          </p:stCondLst>
                                        </p:cTn>
                                        <p:tgtEl>
                                          <p:spTgt spid="99337"/>
                                        </p:tgtEl>
                                        <p:attrNameLst>
                                          <p:attrName>style.visibility</p:attrName>
                                        </p:attrNameLst>
                                      </p:cBhvr>
                                      <p:to>
                                        <p:strVal val="visible"/>
                                      </p:to>
                                    </p:set>
                                    <p:animEffect transition="in" filter="checkerboard(down)">
                                      <p:cBhvr>
                                        <p:cTn id="30" dur="500"/>
                                        <p:tgtEl>
                                          <p:spTgt spid="99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3" grpId="0" autoUpdateAnimBg="0"/>
      <p:bldP spid="99334" grpId="0" autoUpdateAnimBg="0"/>
      <p:bldP spid="99336" grpId="0" autoUpdateAnimBg="0"/>
      <p:bldP spid="99337"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altLang="zh-CN" sz="3000"/>
              <a:t>6.3 </a:t>
            </a:r>
            <a:r>
              <a:rPr lang="zh-CN" altLang="en-US" sz="3000"/>
              <a:t>装载问题</a:t>
            </a:r>
            <a:endParaRPr lang="zh-CN" altLang="en-US" sz="3000"/>
          </a:p>
        </p:txBody>
      </p:sp>
      <p:sp>
        <p:nvSpPr>
          <p:cNvPr id="100355" name="Text Box 3"/>
          <p:cNvSpPr txBox="1">
            <a:spLocks noChangeArrowheads="1"/>
          </p:cNvSpPr>
          <p:nvPr/>
        </p:nvSpPr>
        <p:spPr bwMode="auto">
          <a:xfrm>
            <a:off x="304800" y="1773238"/>
            <a:ext cx="7696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a:solidFill>
                  <a:schemeClr val="accent2"/>
                </a:solidFill>
                <a:latin typeface="Times New Roman" panose="02020603050405020304" pitchFamily="18" charset="0"/>
                <a:ea typeface="黑体" panose="02010609060101010101" pitchFamily="2" charset="-122"/>
              </a:rPr>
              <a:t>2. </a:t>
            </a:r>
            <a:r>
              <a:rPr kumimoji="1" lang="zh-CN" altLang="en-US" sz="3200">
                <a:solidFill>
                  <a:schemeClr val="accent2"/>
                </a:solidFill>
                <a:latin typeface="Times New Roman" panose="02020603050405020304" pitchFamily="18" charset="0"/>
                <a:ea typeface="黑体" panose="02010609060101010101" pitchFamily="2" charset="-122"/>
              </a:rPr>
              <a:t>队列式分支限界法</a:t>
            </a:r>
            <a:endParaRPr lang="zh-CN" altLang="en-US">
              <a:solidFill>
                <a:schemeClr val="accent2"/>
              </a:solidFill>
              <a:ea typeface="华文行楷" panose="02010800040101010101" pitchFamily="2" charset="-122"/>
            </a:endParaRPr>
          </a:p>
        </p:txBody>
      </p:sp>
      <p:sp>
        <p:nvSpPr>
          <p:cNvPr id="100356" name="Text Box 4"/>
          <p:cNvSpPr txBox="1">
            <a:spLocks noChangeArrowheads="1"/>
          </p:cNvSpPr>
          <p:nvPr/>
        </p:nvSpPr>
        <p:spPr bwMode="auto">
          <a:xfrm>
            <a:off x="539750" y="2420938"/>
            <a:ext cx="8135938" cy="392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just"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在算法的</a:t>
            </a:r>
            <a:r>
              <a:rPr lang="en-US" altLang="zh-CN" sz="2400" b="1">
                <a:latin typeface="新宋体" panose="02010609030101010101" charset="-122"/>
                <a:ea typeface="新宋体" panose="02010609030101010101" charset="-122"/>
              </a:rPr>
              <a:t>while</a:t>
            </a:r>
            <a:r>
              <a:rPr lang="zh-CN" altLang="en-US" sz="2400" b="1">
                <a:latin typeface="新宋体" panose="02010609030101010101" charset="-122"/>
                <a:ea typeface="新宋体" panose="02010609030101010101" charset="-122"/>
              </a:rPr>
              <a:t>循环中，首先检测当前扩展结点的左儿子结点是否为可行结点。如果是则将其加入到活结点队列中。然后将其右儿子结点加入到活结点队列中</a:t>
            </a:r>
            <a:r>
              <a:rPr lang="en-US" altLang="zh-CN" sz="2400" b="1">
                <a:latin typeface="新宋体" panose="02010609030101010101" charset="-122"/>
                <a:ea typeface="新宋体" panose="02010609030101010101" charset="-122"/>
              </a:rPr>
              <a:t>(</a:t>
            </a:r>
            <a:r>
              <a:rPr lang="zh-CN" altLang="en-US" sz="2400" b="1">
                <a:latin typeface="新宋体" panose="02010609030101010101" charset="-122"/>
                <a:ea typeface="新宋体" panose="02010609030101010101" charset="-122"/>
              </a:rPr>
              <a:t>右儿子结点一定是可行结点</a:t>
            </a:r>
            <a:r>
              <a:rPr lang="en-US" altLang="zh-CN" sz="2400" b="1">
                <a:latin typeface="新宋体" panose="02010609030101010101" charset="-122"/>
                <a:ea typeface="新宋体" panose="02010609030101010101" charset="-122"/>
              </a:rPr>
              <a:t>)</a:t>
            </a:r>
            <a:r>
              <a:rPr lang="zh-CN" altLang="en-US" sz="2400" b="1">
                <a:latin typeface="新宋体" panose="02010609030101010101" charset="-122"/>
                <a:ea typeface="新宋体" panose="02010609030101010101" charset="-122"/>
              </a:rPr>
              <a:t>。</a:t>
            </a:r>
            <a:r>
              <a:rPr lang="en-US" altLang="zh-CN" sz="2400" b="1">
                <a:latin typeface="新宋体" panose="02010609030101010101" charset="-122"/>
                <a:ea typeface="新宋体" panose="02010609030101010101" charset="-122"/>
              </a:rPr>
              <a:t>2</a:t>
            </a:r>
            <a:r>
              <a:rPr lang="zh-CN" altLang="en-US" sz="2400" b="1">
                <a:latin typeface="新宋体" panose="02010609030101010101" charset="-122"/>
                <a:ea typeface="新宋体" panose="02010609030101010101" charset="-122"/>
              </a:rPr>
              <a:t>个儿子结点都产生后，当前扩展结点被舍弃。</a:t>
            </a:r>
            <a:endParaRPr lang="zh-CN" altLang="en-US" sz="2400" b="1">
              <a:latin typeface="新宋体" panose="02010609030101010101" charset="-122"/>
              <a:ea typeface="新宋体" panose="02010609030101010101" charset="-122"/>
            </a:endParaRPr>
          </a:p>
          <a:p>
            <a:pPr algn="just" eaLnBrk="1" hangingPunct="1">
              <a:spcBef>
                <a:spcPct val="50000"/>
              </a:spcBef>
            </a:pPr>
            <a:r>
              <a:rPr lang="zh-CN" altLang="en-US" sz="2400" b="1">
                <a:latin typeface="新宋体" panose="02010609030101010101" charset="-122"/>
                <a:ea typeface="新宋体" panose="02010609030101010101" charset="-122"/>
              </a:rPr>
              <a:t>    活结点队列中的队首元素被取出作为当前扩展结点，由于队列中每一层结点之后都有一个尾部标记</a:t>
            </a:r>
            <a:r>
              <a:rPr lang="en-US" altLang="zh-CN" sz="2400" b="1">
                <a:latin typeface="新宋体" panose="02010609030101010101" charset="-122"/>
                <a:ea typeface="新宋体" panose="02010609030101010101" charset="-122"/>
              </a:rPr>
              <a:t>-1</a:t>
            </a:r>
            <a:r>
              <a:rPr lang="zh-CN" altLang="en-US" sz="2400" b="1">
                <a:latin typeface="新宋体" panose="02010609030101010101" charset="-122"/>
                <a:ea typeface="新宋体" panose="02010609030101010101" charset="-122"/>
              </a:rPr>
              <a:t>，故在取队首元素时，活结点队列一定不空。当取出的元素是</a:t>
            </a:r>
            <a:r>
              <a:rPr lang="en-US" altLang="zh-CN" sz="2400" b="1">
                <a:latin typeface="新宋体" panose="02010609030101010101" charset="-122"/>
                <a:ea typeface="新宋体" panose="02010609030101010101" charset="-122"/>
              </a:rPr>
              <a:t>-1</a:t>
            </a:r>
            <a:r>
              <a:rPr lang="zh-CN" altLang="en-US" sz="2400" b="1">
                <a:latin typeface="新宋体" panose="02010609030101010101" charset="-122"/>
                <a:ea typeface="新宋体" panose="02010609030101010101" charset="-122"/>
              </a:rPr>
              <a:t>时，再判断当前队列是否为空。如果队列非空，则将尾部标记</a:t>
            </a:r>
            <a:r>
              <a:rPr lang="en-US" altLang="zh-CN" sz="2400" b="1">
                <a:latin typeface="新宋体" panose="02010609030101010101" charset="-122"/>
                <a:ea typeface="新宋体" panose="02010609030101010101" charset="-122"/>
              </a:rPr>
              <a:t>-1</a:t>
            </a:r>
            <a:r>
              <a:rPr lang="zh-CN" altLang="en-US" sz="2400" b="1">
                <a:latin typeface="新宋体" panose="02010609030101010101" charset="-122"/>
                <a:ea typeface="新宋体" panose="02010609030101010101" charset="-122"/>
              </a:rPr>
              <a:t>加入活结点队列，算法开始处理下一层的活结点。</a:t>
            </a:r>
            <a:endParaRPr lang="zh-CN" altLang="en-US" sz="2400" b="1">
              <a:latin typeface="新宋体" panose="02010609030101010101" charset="-122"/>
              <a:ea typeface="新宋体" panose="02010609030101010101" charset="-122"/>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0355"/>
                                        </p:tgtEl>
                                        <p:attrNameLst>
                                          <p:attrName>style.visibility</p:attrName>
                                        </p:attrNameLst>
                                      </p:cBhvr>
                                      <p:to>
                                        <p:strVal val="visible"/>
                                      </p:to>
                                    </p:set>
                                    <p:anim calcmode="lin" valueType="num">
                                      <p:cBhvr additive="base">
                                        <p:cTn id="7" dur="500" fill="hold"/>
                                        <p:tgtEl>
                                          <p:spTgt spid="100355"/>
                                        </p:tgtEl>
                                        <p:attrNameLst>
                                          <p:attrName>ppt_x</p:attrName>
                                        </p:attrNameLst>
                                      </p:cBhvr>
                                      <p:tavLst>
                                        <p:tav tm="0">
                                          <p:val>
                                            <p:strVal val="1+#ppt_w/2"/>
                                          </p:val>
                                        </p:tav>
                                        <p:tav tm="100000">
                                          <p:val>
                                            <p:strVal val="#ppt_x"/>
                                          </p:val>
                                        </p:tav>
                                      </p:tavLst>
                                    </p:anim>
                                    <p:anim calcmode="lin" valueType="num">
                                      <p:cBhvr additive="base">
                                        <p:cTn id="8" dur="500" fill="hold"/>
                                        <p:tgtEl>
                                          <p:spTgt spid="10035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00356"/>
                                        </p:tgtEl>
                                        <p:attrNameLst>
                                          <p:attrName>style.visibility</p:attrName>
                                        </p:attrNameLst>
                                      </p:cBhvr>
                                      <p:to>
                                        <p:strVal val="visible"/>
                                      </p:to>
                                    </p:set>
                                    <p:animEffect transition="in" filter="dissolve">
                                      <p:cBhvr>
                                        <p:cTn id="13" dur="500"/>
                                        <p:tgtEl>
                                          <p:spTgt spid="100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autoUpdateAnimBg="0"/>
      <p:bldP spid="100356"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US" altLang="zh-CN" sz="3000"/>
              <a:t>6.3 </a:t>
            </a:r>
            <a:r>
              <a:rPr lang="zh-CN" altLang="en-US" sz="3000"/>
              <a:t>装载问题</a:t>
            </a:r>
            <a:endParaRPr lang="zh-CN" altLang="en-US" sz="3000"/>
          </a:p>
        </p:txBody>
      </p:sp>
      <p:sp>
        <p:nvSpPr>
          <p:cNvPr id="101379" name="Text Box 3"/>
          <p:cNvSpPr txBox="1">
            <a:spLocks noChangeArrowheads="1"/>
          </p:cNvSpPr>
          <p:nvPr/>
        </p:nvSpPr>
        <p:spPr bwMode="auto">
          <a:xfrm>
            <a:off x="1042988" y="1905000"/>
            <a:ext cx="69580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a:solidFill>
                  <a:schemeClr val="accent2"/>
                </a:solidFill>
                <a:latin typeface="Times New Roman" panose="02020603050405020304" pitchFamily="18" charset="0"/>
                <a:ea typeface="黑体" panose="02010609060101010101" pitchFamily="2" charset="-122"/>
              </a:rPr>
              <a:t>2. </a:t>
            </a:r>
            <a:r>
              <a:rPr kumimoji="1" lang="zh-CN" altLang="en-US" sz="3200">
                <a:solidFill>
                  <a:schemeClr val="accent2"/>
                </a:solidFill>
                <a:latin typeface="Times New Roman" panose="02020603050405020304" pitchFamily="18" charset="0"/>
                <a:ea typeface="黑体" panose="02010609060101010101" pitchFamily="2" charset="-122"/>
              </a:rPr>
              <a:t>队列式分支限界法</a:t>
            </a:r>
            <a:endParaRPr lang="zh-CN" altLang="en-US">
              <a:solidFill>
                <a:schemeClr val="accent2"/>
              </a:solidFill>
              <a:ea typeface="华文行楷" panose="02010800040101010101" pitchFamily="2" charset="-122"/>
            </a:endParaRPr>
          </a:p>
        </p:txBody>
      </p:sp>
      <p:sp>
        <p:nvSpPr>
          <p:cNvPr id="101380" name="Text Box 4"/>
          <p:cNvSpPr txBox="1">
            <a:spLocks noChangeArrowheads="1"/>
          </p:cNvSpPr>
          <p:nvPr/>
        </p:nvSpPr>
        <p:spPr bwMode="auto">
          <a:xfrm>
            <a:off x="228600" y="3124200"/>
            <a:ext cx="8001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ctr" eaLnBrk="1" hangingPunct="1">
              <a:spcBef>
                <a:spcPct val="50000"/>
              </a:spcBef>
            </a:pPr>
            <a:endParaRPr lang="zh-CN" altLang="zh-CN">
              <a:solidFill>
                <a:schemeClr val="accent2"/>
              </a:solidFill>
              <a:ea typeface="华文行楷" panose="02010800040101010101" pitchFamily="2" charset="-122"/>
            </a:endParaRPr>
          </a:p>
        </p:txBody>
      </p:sp>
      <p:sp>
        <p:nvSpPr>
          <p:cNvPr id="101381" name="Text Box 5"/>
          <p:cNvSpPr txBox="1">
            <a:spLocks noChangeArrowheads="1"/>
          </p:cNvSpPr>
          <p:nvPr/>
        </p:nvSpPr>
        <p:spPr bwMode="auto">
          <a:xfrm>
            <a:off x="1116013" y="2590800"/>
            <a:ext cx="7265987" cy="361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lnSpc>
                <a:spcPct val="120000"/>
              </a:lnSpc>
            </a:pPr>
            <a:r>
              <a:rPr kumimoji="1" lang="en-US" altLang="zh-CN" sz="1600" b="1"/>
              <a:t>while (true) {</a:t>
            </a:r>
            <a:endParaRPr kumimoji="1" lang="en-US" altLang="zh-CN" sz="1600" b="1"/>
          </a:p>
          <a:p>
            <a:pPr eaLnBrk="1" hangingPunct="1">
              <a:lnSpc>
                <a:spcPct val="120000"/>
              </a:lnSpc>
            </a:pPr>
            <a:r>
              <a:rPr kumimoji="1" lang="en-US" altLang="zh-CN" sz="1600" b="1"/>
              <a:t>      // </a:t>
            </a:r>
            <a:r>
              <a:rPr kumimoji="1" lang="zh-CN" altLang="en-US" sz="1600" b="1"/>
              <a:t>检查左儿子结点</a:t>
            </a:r>
            <a:endParaRPr kumimoji="1" lang="zh-CN" altLang="en-US" sz="1600" b="1"/>
          </a:p>
          <a:p>
            <a:pPr eaLnBrk="1" hangingPunct="1">
              <a:lnSpc>
                <a:spcPct val="120000"/>
              </a:lnSpc>
            </a:pPr>
            <a:r>
              <a:rPr kumimoji="1" lang="zh-CN" altLang="en-US" sz="1600" b="1"/>
              <a:t>      </a:t>
            </a:r>
            <a:r>
              <a:rPr kumimoji="1" lang="en-US" altLang="zh-CN" sz="1600" b="1"/>
              <a:t>if (Ew + w[i] &lt;= c) // x[i] = 1</a:t>
            </a:r>
            <a:endParaRPr kumimoji="1" lang="en-US" altLang="zh-CN" sz="1600" b="1"/>
          </a:p>
          <a:p>
            <a:pPr eaLnBrk="1" hangingPunct="1">
              <a:lnSpc>
                <a:spcPct val="120000"/>
              </a:lnSpc>
            </a:pPr>
            <a:r>
              <a:rPr kumimoji="1" lang="en-US" altLang="zh-CN" sz="1600" b="1"/>
              <a:t>         EnQueue(Q, Ew + w[i], bestw, i, n);</a:t>
            </a:r>
            <a:endParaRPr kumimoji="1" lang="en-US" altLang="zh-CN" sz="1600" b="1"/>
          </a:p>
          <a:p>
            <a:pPr eaLnBrk="1" hangingPunct="1">
              <a:lnSpc>
                <a:spcPct val="120000"/>
              </a:lnSpc>
            </a:pPr>
            <a:r>
              <a:rPr kumimoji="1" lang="en-US" altLang="zh-CN" sz="1600" b="1"/>
              <a:t>      // </a:t>
            </a:r>
            <a:r>
              <a:rPr kumimoji="1" lang="zh-CN" altLang="en-US" sz="1600" b="1"/>
              <a:t>右儿子结点总是可行的</a:t>
            </a:r>
            <a:endParaRPr kumimoji="1" lang="zh-CN" altLang="en-US" sz="1600" b="1"/>
          </a:p>
          <a:p>
            <a:pPr eaLnBrk="1" hangingPunct="1">
              <a:lnSpc>
                <a:spcPct val="120000"/>
              </a:lnSpc>
            </a:pPr>
            <a:r>
              <a:rPr kumimoji="1" lang="zh-CN" altLang="en-US" sz="1600" b="1"/>
              <a:t>      </a:t>
            </a:r>
            <a:r>
              <a:rPr kumimoji="1" lang="en-US" altLang="zh-CN" sz="1600" b="1"/>
              <a:t>EnQueue(Q, Ew, bestw, i, n); // x[i] = 0</a:t>
            </a:r>
            <a:endParaRPr kumimoji="1" lang="en-US" altLang="zh-CN" sz="1600" b="1"/>
          </a:p>
          <a:p>
            <a:pPr eaLnBrk="1" hangingPunct="1">
              <a:lnSpc>
                <a:spcPct val="120000"/>
              </a:lnSpc>
            </a:pPr>
            <a:r>
              <a:rPr kumimoji="1" lang="en-US" altLang="zh-CN" sz="1600" b="1"/>
              <a:t>      Q.Delete(Ew);     // </a:t>
            </a:r>
            <a:r>
              <a:rPr kumimoji="1" lang="zh-CN" altLang="en-US" sz="1600" b="1"/>
              <a:t>取下一扩展结点</a:t>
            </a:r>
            <a:endParaRPr kumimoji="1" lang="zh-CN" altLang="en-US" sz="1600" b="1"/>
          </a:p>
          <a:p>
            <a:pPr eaLnBrk="1" hangingPunct="1">
              <a:lnSpc>
                <a:spcPct val="120000"/>
              </a:lnSpc>
            </a:pPr>
            <a:r>
              <a:rPr kumimoji="1" lang="zh-CN" altLang="en-US" sz="1600" b="1"/>
              <a:t>      </a:t>
            </a:r>
            <a:r>
              <a:rPr kumimoji="1" lang="en-US" altLang="zh-CN" sz="1600" b="1"/>
              <a:t>if (Ew == -1) {      // </a:t>
            </a:r>
            <a:r>
              <a:rPr kumimoji="1" lang="zh-CN" altLang="en-US" sz="1600" b="1"/>
              <a:t>同层结点尾部</a:t>
            </a:r>
            <a:endParaRPr kumimoji="1" lang="zh-CN" altLang="en-US" sz="1600" b="1"/>
          </a:p>
          <a:p>
            <a:pPr eaLnBrk="1" hangingPunct="1">
              <a:lnSpc>
                <a:spcPct val="120000"/>
              </a:lnSpc>
            </a:pPr>
            <a:r>
              <a:rPr kumimoji="1" lang="zh-CN" altLang="en-US" sz="1600" b="1"/>
              <a:t>         </a:t>
            </a:r>
            <a:r>
              <a:rPr kumimoji="1" lang="en-US" altLang="zh-CN" sz="1600" b="1"/>
              <a:t>if (Q.IsEmpty()) return bestw;</a:t>
            </a:r>
            <a:endParaRPr kumimoji="1" lang="en-US" altLang="zh-CN" sz="1600" b="1"/>
          </a:p>
          <a:p>
            <a:pPr eaLnBrk="1" hangingPunct="1">
              <a:lnSpc>
                <a:spcPct val="120000"/>
              </a:lnSpc>
            </a:pPr>
            <a:r>
              <a:rPr kumimoji="1" lang="en-US" altLang="zh-CN" sz="1600" b="1"/>
              <a:t>         Q.Add(-1);        // </a:t>
            </a:r>
            <a:r>
              <a:rPr kumimoji="1" lang="zh-CN" altLang="en-US" sz="1600" b="1"/>
              <a:t>同层结点尾部标志</a:t>
            </a:r>
            <a:endParaRPr kumimoji="1" lang="zh-CN" altLang="en-US" sz="1600" b="1"/>
          </a:p>
          <a:p>
            <a:pPr eaLnBrk="1" hangingPunct="1">
              <a:lnSpc>
                <a:spcPct val="120000"/>
              </a:lnSpc>
            </a:pPr>
            <a:r>
              <a:rPr kumimoji="1" lang="zh-CN" altLang="en-US" sz="1600" b="1"/>
              <a:t>         </a:t>
            </a:r>
            <a:r>
              <a:rPr kumimoji="1" lang="en-US" altLang="zh-CN" sz="1600" b="1"/>
              <a:t>Q.Delete(Ew);  // </a:t>
            </a:r>
            <a:r>
              <a:rPr kumimoji="1" lang="zh-CN" altLang="en-US" sz="1600" b="1"/>
              <a:t>取下一扩展结点</a:t>
            </a:r>
            <a:endParaRPr kumimoji="1" lang="zh-CN" altLang="en-US" sz="1600" b="1"/>
          </a:p>
          <a:p>
            <a:pPr eaLnBrk="1" hangingPunct="1">
              <a:lnSpc>
                <a:spcPct val="120000"/>
              </a:lnSpc>
            </a:pPr>
            <a:r>
              <a:rPr kumimoji="1" lang="zh-CN" altLang="en-US" sz="1600" b="1"/>
              <a:t>         </a:t>
            </a:r>
            <a:r>
              <a:rPr kumimoji="1" lang="en-US" altLang="zh-CN" sz="1600" b="1"/>
              <a:t>i++;}                 // </a:t>
            </a:r>
            <a:r>
              <a:rPr kumimoji="1" lang="zh-CN" altLang="en-US" sz="1600" b="1"/>
              <a:t>进入下一层      </a:t>
            </a:r>
            <a:r>
              <a:rPr kumimoji="1" lang="en-US" altLang="zh-CN" sz="1600" b="1"/>
              <a:t>}  }</a:t>
            </a:r>
            <a:endParaRPr kumimoji="1" lang="en-US" altLang="zh-CN" sz="1600" b="1"/>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1379"/>
                                        </p:tgtEl>
                                        <p:attrNameLst>
                                          <p:attrName>style.visibility</p:attrName>
                                        </p:attrNameLst>
                                      </p:cBhvr>
                                      <p:to>
                                        <p:strVal val="visible"/>
                                      </p:to>
                                    </p:set>
                                    <p:anim calcmode="lin" valueType="num">
                                      <p:cBhvr additive="base">
                                        <p:cTn id="7" dur="500" fill="hold"/>
                                        <p:tgtEl>
                                          <p:spTgt spid="101379"/>
                                        </p:tgtEl>
                                        <p:attrNameLst>
                                          <p:attrName>ppt_x</p:attrName>
                                        </p:attrNameLst>
                                      </p:cBhvr>
                                      <p:tavLst>
                                        <p:tav tm="0">
                                          <p:val>
                                            <p:strVal val="1+#ppt_w/2"/>
                                          </p:val>
                                        </p:tav>
                                        <p:tav tm="100000">
                                          <p:val>
                                            <p:strVal val="#ppt_x"/>
                                          </p:val>
                                        </p:tav>
                                      </p:tavLst>
                                    </p:anim>
                                    <p:anim calcmode="lin" valueType="num">
                                      <p:cBhvr additive="base">
                                        <p:cTn id="8" dur="500" fill="hold"/>
                                        <p:tgtEl>
                                          <p:spTgt spid="1013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2" fill="hold" grpId="0" nodeType="clickEffect">
                                  <p:stCondLst>
                                    <p:cond delay="0"/>
                                  </p:stCondLst>
                                  <p:childTnLst>
                                    <p:set>
                                      <p:cBhvr>
                                        <p:cTn id="12" dur="1" fill="hold">
                                          <p:stCondLst>
                                            <p:cond delay="0"/>
                                          </p:stCondLst>
                                        </p:cTn>
                                        <p:tgtEl>
                                          <p:spTgt spid="101381"/>
                                        </p:tgtEl>
                                        <p:attrNameLst>
                                          <p:attrName>style.visibility</p:attrName>
                                        </p:attrNameLst>
                                      </p:cBhvr>
                                      <p:to>
                                        <p:strVal val="visible"/>
                                      </p:to>
                                    </p:set>
                                    <p:animEffect transition="in" filter="wipe(right)">
                                      <p:cBhvr>
                                        <p:cTn id="13" dur="500"/>
                                        <p:tgtEl>
                                          <p:spTgt spid="101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autoUpdateAnimBg="0"/>
      <p:bldP spid="101381"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457200" y="122238"/>
            <a:ext cx="7543800" cy="1123950"/>
          </a:xfrm>
          <a:noFill/>
        </p:spPr>
        <p:txBody>
          <a:bodyPr lIns="92075" tIns="46038" rIns="92075" bIns="46038" anchor="ctr"/>
          <a:lstStyle/>
          <a:p>
            <a:r>
              <a:rPr lang="en-US" altLang="zh-CN" i="1"/>
              <a:t>n</a:t>
            </a:r>
            <a:r>
              <a:rPr lang="en-US" altLang="zh-CN"/>
              <a:t>=3,</a:t>
            </a:r>
            <a:r>
              <a:rPr lang="en-US" altLang="zh-CN" i="1"/>
              <a:t>w</a:t>
            </a:r>
            <a:r>
              <a:rPr lang="en-US" altLang="zh-CN"/>
              <a:t>=[8,6,2], </a:t>
            </a:r>
            <a:r>
              <a:rPr lang="en-US" altLang="zh-CN" i="1"/>
              <a:t>W</a:t>
            </a:r>
            <a:r>
              <a:rPr lang="en-US" altLang="zh-CN"/>
              <a:t>=12</a:t>
            </a:r>
            <a:endParaRPr lang="en-US" altLang="zh-CN"/>
          </a:p>
        </p:txBody>
      </p:sp>
      <p:sp>
        <p:nvSpPr>
          <p:cNvPr id="102403" name="Oval 3"/>
          <p:cNvSpPr>
            <a:spLocks noChangeArrowheads="1"/>
          </p:cNvSpPr>
          <p:nvPr/>
        </p:nvSpPr>
        <p:spPr bwMode="auto">
          <a:xfrm>
            <a:off x="4067175" y="1377950"/>
            <a:ext cx="504825" cy="466725"/>
          </a:xfrm>
          <a:prstGeom prst="ellipse">
            <a:avLst/>
          </a:prstGeom>
          <a:solidFill>
            <a:srgbClr val="00FF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A</a:t>
            </a:r>
            <a:endParaRPr lang="en-US" altLang="zh-CN" sz="2400">
              <a:solidFill>
                <a:schemeClr val="bg1"/>
              </a:solidFill>
              <a:latin typeface="Times New Roman" panose="02020603050405020304" pitchFamily="18" charset="0"/>
            </a:endParaRPr>
          </a:p>
        </p:txBody>
      </p:sp>
      <p:sp>
        <p:nvSpPr>
          <p:cNvPr id="102404" name="Line 4"/>
          <p:cNvSpPr>
            <a:spLocks noChangeShapeType="1"/>
          </p:cNvSpPr>
          <p:nvPr/>
        </p:nvSpPr>
        <p:spPr bwMode="auto">
          <a:xfrm flipH="1">
            <a:off x="2286000" y="1700213"/>
            <a:ext cx="1781175" cy="119538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05" name="Oval 5"/>
          <p:cNvSpPr>
            <a:spLocks noChangeArrowheads="1"/>
          </p:cNvSpPr>
          <p:nvPr/>
        </p:nvSpPr>
        <p:spPr bwMode="auto">
          <a:xfrm>
            <a:off x="1979613" y="2852738"/>
            <a:ext cx="431800" cy="360362"/>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B</a:t>
            </a:r>
            <a:endParaRPr lang="en-US" altLang="zh-CN" sz="2400">
              <a:solidFill>
                <a:schemeClr val="bg1"/>
              </a:solidFill>
              <a:latin typeface="Times New Roman" panose="02020603050405020304" pitchFamily="18" charset="0"/>
            </a:endParaRPr>
          </a:p>
        </p:txBody>
      </p:sp>
      <p:sp>
        <p:nvSpPr>
          <p:cNvPr id="102406" name="Line 6"/>
          <p:cNvSpPr>
            <a:spLocks noChangeShapeType="1"/>
          </p:cNvSpPr>
          <p:nvPr/>
        </p:nvSpPr>
        <p:spPr bwMode="auto">
          <a:xfrm>
            <a:off x="4572000" y="1700213"/>
            <a:ext cx="1976438" cy="119538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07" name="Line 7"/>
          <p:cNvSpPr>
            <a:spLocks noChangeShapeType="1"/>
          </p:cNvSpPr>
          <p:nvPr/>
        </p:nvSpPr>
        <p:spPr bwMode="auto">
          <a:xfrm flipH="1">
            <a:off x="1066800" y="3141663"/>
            <a:ext cx="984250" cy="104933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08" name="Rectangle 8"/>
          <p:cNvSpPr>
            <a:spLocks noChangeArrowheads="1"/>
          </p:cNvSpPr>
          <p:nvPr/>
        </p:nvSpPr>
        <p:spPr bwMode="auto">
          <a:xfrm>
            <a:off x="0" y="3284538"/>
            <a:ext cx="539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102409" name="Line 9"/>
          <p:cNvSpPr>
            <a:spLocks noChangeShapeType="1"/>
          </p:cNvSpPr>
          <p:nvPr/>
        </p:nvSpPr>
        <p:spPr bwMode="auto">
          <a:xfrm>
            <a:off x="2339975" y="3141663"/>
            <a:ext cx="936625" cy="97313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10" name="Line 10"/>
          <p:cNvSpPr>
            <a:spLocks noChangeShapeType="1"/>
          </p:cNvSpPr>
          <p:nvPr/>
        </p:nvSpPr>
        <p:spPr bwMode="auto">
          <a:xfrm flipH="1">
            <a:off x="5562600" y="3213100"/>
            <a:ext cx="738188" cy="8255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11" name="Line 11"/>
          <p:cNvSpPr>
            <a:spLocks noChangeShapeType="1"/>
          </p:cNvSpPr>
          <p:nvPr/>
        </p:nvSpPr>
        <p:spPr bwMode="auto">
          <a:xfrm>
            <a:off x="6629400" y="3124200"/>
            <a:ext cx="9906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12" name="Line 12"/>
          <p:cNvSpPr>
            <a:spLocks noChangeShapeType="1"/>
          </p:cNvSpPr>
          <p:nvPr/>
        </p:nvSpPr>
        <p:spPr bwMode="auto">
          <a:xfrm flipH="1">
            <a:off x="533400" y="4419600"/>
            <a:ext cx="5334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13" name="Line 13"/>
          <p:cNvSpPr>
            <a:spLocks noChangeShapeType="1"/>
          </p:cNvSpPr>
          <p:nvPr/>
        </p:nvSpPr>
        <p:spPr bwMode="auto">
          <a:xfrm>
            <a:off x="1143000" y="4419600"/>
            <a:ext cx="3810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14" name="Line 14"/>
          <p:cNvSpPr>
            <a:spLocks noChangeShapeType="1"/>
          </p:cNvSpPr>
          <p:nvPr/>
        </p:nvSpPr>
        <p:spPr bwMode="auto">
          <a:xfrm flipH="1">
            <a:off x="2667000" y="4343400"/>
            <a:ext cx="6096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15" name="Line 15"/>
          <p:cNvSpPr>
            <a:spLocks noChangeShapeType="1"/>
          </p:cNvSpPr>
          <p:nvPr/>
        </p:nvSpPr>
        <p:spPr bwMode="auto">
          <a:xfrm>
            <a:off x="3352800" y="4343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16" name="Line 16"/>
          <p:cNvSpPr>
            <a:spLocks noChangeShapeType="1"/>
          </p:cNvSpPr>
          <p:nvPr/>
        </p:nvSpPr>
        <p:spPr bwMode="auto">
          <a:xfrm flipH="1">
            <a:off x="5029200" y="4267200"/>
            <a:ext cx="4572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17" name="Line 17"/>
          <p:cNvSpPr>
            <a:spLocks noChangeShapeType="1"/>
          </p:cNvSpPr>
          <p:nvPr/>
        </p:nvSpPr>
        <p:spPr bwMode="auto">
          <a:xfrm>
            <a:off x="5562600" y="4267200"/>
            <a:ext cx="5334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18" name="Line 18"/>
          <p:cNvSpPr>
            <a:spLocks noChangeShapeType="1"/>
          </p:cNvSpPr>
          <p:nvPr/>
        </p:nvSpPr>
        <p:spPr bwMode="auto">
          <a:xfrm flipH="1">
            <a:off x="7239000" y="4191000"/>
            <a:ext cx="4572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19" name="Line 19"/>
          <p:cNvSpPr>
            <a:spLocks noChangeShapeType="1"/>
          </p:cNvSpPr>
          <p:nvPr/>
        </p:nvSpPr>
        <p:spPr bwMode="auto">
          <a:xfrm>
            <a:off x="7848600" y="4191000"/>
            <a:ext cx="6096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20" name="Rectangle 20"/>
          <p:cNvSpPr>
            <a:spLocks noChangeArrowheads="1"/>
          </p:cNvSpPr>
          <p:nvPr/>
        </p:nvSpPr>
        <p:spPr bwMode="auto">
          <a:xfrm>
            <a:off x="0" y="1773238"/>
            <a:ext cx="1066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1</a:t>
            </a:r>
            <a:endParaRPr lang="en-US" altLang="zh-CN" sz="3200">
              <a:solidFill>
                <a:schemeClr val="hlink"/>
              </a:solidFill>
              <a:latin typeface="Times New Roman" panose="02020603050405020304" pitchFamily="18" charset="0"/>
            </a:endParaRPr>
          </a:p>
        </p:txBody>
      </p:sp>
      <p:sp>
        <p:nvSpPr>
          <p:cNvPr id="102421" name="Rectangle 21"/>
          <p:cNvSpPr>
            <a:spLocks noChangeArrowheads="1"/>
          </p:cNvSpPr>
          <p:nvPr/>
        </p:nvSpPr>
        <p:spPr bwMode="auto">
          <a:xfrm>
            <a:off x="0" y="4365625"/>
            <a:ext cx="539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102422" name="Oval 22"/>
          <p:cNvSpPr>
            <a:spLocks noChangeArrowheads="1"/>
          </p:cNvSpPr>
          <p:nvPr/>
        </p:nvSpPr>
        <p:spPr bwMode="auto">
          <a:xfrm>
            <a:off x="1908175" y="270827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B</a:t>
            </a:r>
            <a:endParaRPr lang="en-US" altLang="zh-CN" sz="2400">
              <a:latin typeface="Times New Roman" panose="02020603050405020304" pitchFamily="18" charset="0"/>
            </a:endParaRPr>
          </a:p>
        </p:txBody>
      </p:sp>
      <p:sp>
        <p:nvSpPr>
          <p:cNvPr id="102423" name="Oval 23"/>
          <p:cNvSpPr>
            <a:spLocks noChangeArrowheads="1"/>
          </p:cNvSpPr>
          <p:nvPr/>
        </p:nvSpPr>
        <p:spPr bwMode="auto">
          <a:xfrm>
            <a:off x="1908175" y="2708275"/>
            <a:ext cx="576263" cy="576263"/>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B</a:t>
            </a:r>
            <a:endParaRPr lang="en-US" altLang="zh-CN" sz="2400">
              <a:solidFill>
                <a:schemeClr val="bg1"/>
              </a:solidFill>
              <a:latin typeface="Times New Roman" panose="02020603050405020304" pitchFamily="18" charset="0"/>
            </a:endParaRPr>
          </a:p>
        </p:txBody>
      </p:sp>
      <p:sp>
        <p:nvSpPr>
          <p:cNvPr id="102424" name="Oval 24"/>
          <p:cNvSpPr>
            <a:spLocks noChangeArrowheads="1"/>
          </p:cNvSpPr>
          <p:nvPr/>
        </p:nvSpPr>
        <p:spPr bwMode="auto">
          <a:xfrm>
            <a:off x="3995738" y="1341438"/>
            <a:ext cx="576262" cy="576262"/>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A</a:t>
            </a:r>
            <a:endParaRPr lang="en-US" altLang="zh-CN" sz="2400">
              <a:solidFill>
                <a:schemeClr val="bg1"/>
              </a:solidFill>
              <a:latin typeface="Times New Roman" panose="02020603050405020304" pitchFamily="18" charset="0"/>
            </a:endParaRPr>
          </a:p>
        </p:txBody>
      </p:sp>
      <p:sp>
        <p:nvSpPr>
          <p:cNvPr id="102425" name="Oval 25"/>
          <p:cNvSpPr>
            <a:spLocks noChangeArrowheads="1"/>
          </p:cNvSpPr>
          <p:nvPr/>
        </p:nvSpPr>
        <p:spPr bwMode="auto">
          <a:xfrm>
            <a:off x="6732588" y="260350"/>
            <a:ext cx="503237" cy="504825"/>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2426" name="Oval 26"/>
          <p:cNvSpPr>
            <a:spLocks noChangeArrowheads="1"/>
          </p:cNvSpPr>
          <p:nvPr/>
        </p:nvSpPr>
        <p:spPr bwMode="auto">
          <a:xfrm>
            <a:off x="1908175" y="2708275"/>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2427" name="Oval 27"/>
          <p:cNvSpPr>
            <a:spLocks noChangeArrowheads="1"/>
          </p:cNvSpPr>
          <p:nvPr/>
        </p:nvSpPr>
        <p:spPr bwMode="auto">
          <a:xfrm>
            <a:off x="3995738" y="1341438"/>
            <a:ext cx="576262" cy="576262"/>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2428" name="Oval 28"/>
          <p:cNvSpPr>
            <a:spLocks noChangeArrowheads="1"/>
          </p:cNvSpPr>
          <p:nvPr/>
        </p:nvSpPr>
        <p:spPr bwMode="auto">
          <a:xfrm>
            <a:off x="6732588" y="981075"/>
            <a:ext cx="503237" cy="503238"/>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2429" name="Oval 29"/>
          <p:cNvSpPr>
            <a:spLocks noChangeArrowheads="1"/>
          </p:cNvSpPr>
          <p:nvPr/>
        </p:nvSpPr>
        <p:spPr bwMode="auto">
          <a:xfrm>
            <a:off x="6732588" y="1773238"/>
            <a:ext cx="503237" cy="503237"/>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2430" name="Rectangle 30"/>
          <p:cNvSpPr>
            <a:spLocks noChangeArrowheads="1"/>
          </p:cNvSpPr>
          <p:nvPr/>
        </p:nvSpPr>
        <p:spPr bwMode="auto">
          <a:xfrm>
            <a:off x="7308850" y="260350"/>
            <a:ext cx="16637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rgbClr val="993300"/>
                </a:solidFill>
                <a:latin typeface="Times New Roman" panose="02020603050405020304" pitchFamily="18" charset="0"/>
              </a:rPr>
              <a:t>extend node</a:t>
            </a:r>
            <a:endParaRPr lang="en-US" altLang="zh-CN" sz="2400">
              <a:solidFill>
                <a:srgbClr val="993300"/>
              </a:solidFill>
              <a:latin typeface="Times New Roman" panose="02020603050405020304" pitchFamily="18" charset="0"/>
            </a:endParaRPr>
          </a:p>
        </p:txBody>
      </p:sp>
      <p:sp>
        <p:nvSpPr>
          <p:cNvPr id="102431" name="Rectangle 31"/>
          <p:cNvSpPr>
            <a:spLocks noChangeArrowheads="1"/>
          </p:cNvSpPr>
          <p:nvPr/>
        </p:nvSpPr>
        <p:spPr bwMode="auto">
          <a:xfrm>
            <a:off x="7308850" y="981075"/>
            <a:ext cx="14732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2400">
                <a:solidFill>
                  <a:srgbClr val="993300"/>
                </a:solidFill>
                <a:latin typeface="Times New Roman" panose="02020603050405020304" pitchFamily="18" charset="0"/>
              </a:rPr>
              <a:t>dead node</a:t>
            </a:r>
            <a:endParaRPr lang="en-US" altLang="zh-CN" sz="2400">
              <a:solidFill>
                <a:srgbClr val="993300"/>
              </a:solidFill>
              <a:latin typeface="Times New Roman" panose="02020603050405020304" pitchFamily="18" charset="0"/>
            </a:endParaRPr>
          </a:p>
        </p:txBody>
      </p:sp>
      <p:sp>
        <p:nvSpPr>
          <p:cNvPr id="102432" name="Rectangle 32"/>
          <p:cNvSpPr>
            <a:spLocks noChangeArrowheads="1"/>
          </p:cNvSpPr>
          <p:nvPr/>
        </p:nvSpPr>
        <p:spPr bwMode="auto">
          <a:xfrm>
            <a:off x="7488238" y="1700213"/>
            <a:ext cx="13081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rgbClr val="993300"/>
                </a:solidFill>
                <a:latin typeface="Times New Roman" panose="02020603050405020304" pitchFamily="18" charset="0"/>
              </a:rPr>
              <a:t>live node</a:t>
            </a:r>
            <a:endParaRPr lang="en-US" altLang="zh-CN" sz="2400">
              <a:solidFill>
                <a:srgbClr val="993300"/>
              </a:solidFill>
              <a:latin typeface="Times New Roman" panose="02020603050405020304" pitchFamily="18" charset="0"/>
            </a:endParaRPr>
          </a:p>
        </p:txBody>
      </p:sp>
      <p:sp>
        <p:nvSpPr>
          <p:cNvPr id="102433" name="Oval 33"/>
          <p:cNvSpPr>
            <a:spLocks noChangeArrowheads="1"/>
          </p:cNvSpPr>
          <p:nvPr/>
        </p:nvSpPr>
        <p:spPr bwMode="auto">
          <a:xfrm>
            <a:off x="6227763" y="2852738"/>
            <a:ext cx="431800" cy="360362"/>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C</a:t>
            </a:r>
            <a:endParaRPr lang="en-US" altLang="zh-CN" sz="2400">
              <a:solidFill>
                <a:schemeClr val="bg1"/>
              </a:solidFill>
              <a:latin typeface="Times New Roman" panose="02020603050405020304" pitchFamily="18" charset="0"/>
            </a:endParaRPr>
          </a:p>
        </p:txBody>
      </p:sp>
      <p:sp>
        <p:nvSpPr>
          <p:cNvPr id="102434" name="Oval 34"/>
          <p:cNvSpPr>
            <a:spLocks noChangeArrowheads="1"/>
          </p:cNvSpPr>
          <p:nvPr/>
        </p:nvSpPr>
        <p:spPr bwMode="auto">
          <a:xfrm>
            <a:off x="900113" y="4149725"/>
            <a:ext cx="431800" cy="360363"/>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D</a:t>
            </a:r>
            <a:endParaRPr lang="en-US" altLang="zh-CN" sz="2400">
              <a:solidFill>
                <a:schemeClr val="bg1"/>
              </a:solidFill>
              <a:latin typeface="Times New Roman" panose="02020603050405020304" pitchFamily="18" charset="0"/>
            </a:endParaRPr>
          </a:p>
        </p:txBody>
      </p:sp>
      <p:sp>
        <p:nvSpPr>
          <p:cNvPr id="102435" name="Oval 35"/>
          <p:cNvSpPr>
            <a:spLocks noChangeArrowheads="1"/>
          </p:cNvSpPr>
          <p:nvPr/>
        </p:nvSpPr>
        <p:spPr bwMode="auto">
          <a:xfrm>
            <a:off x="3059113" y="4076700"/>
            <a:ext cx="431800" cy="360363"/>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E</a:t>
            </a:r>
            <a:endParaRPr lang="en-US" altLang="zh-CN" sz="2400">
              <a:solidFill>
                <a:schemeClr val="bg1"/>
              </a:solidFill>
              <a:latin typeface="Times New Roman" panose="02020603050405020304" pitchFamily="18" charset="0"/>
            </a:endParaRPr>
          </a:p>
        </p:txBody>
      </p:sp>
      <p:sp>
        <p:nvSpPr>
          <p:cNvPr id="102436" name="Oval 36"/>
          <p:cNvSpPr>
            <a:spLocks noChangeArrowheads="1"/>
          </p:cNvSpPr>
          <p:nvPr/>
        </p:nvSpPr>
        <p:spPr bwMode="auto">
          <a:xfrm>
            <a:off x="5292725" y="4005263"/>
            <a:ext cx="431800" cy="360362"/>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F</a:t>
            </a:r>
            <a:endParaRPr lang="en-US" altLang="zh-CN" sz="2400">
              <a:solidFill>
                <a:schemeClr val="bg1"/>
              </a:solidFill>
              <a:latin typeface="Times New Roman" panose="02020603050405020304" pitchFamily="18" charset="0"/>
            </a:endParaRPr>
          </a:p>
        </p:txBody>
      </p:sp>
      <p:sp>
        <p:nvSpPr>
          <p:cNvPr id="102437" name="Oval 37"/>
          <p:cNvSpPr>
            <a:spLocks noChangeArrowheads="1"/>
          </p:cNvSpPr>
          <p:nvPr/>
        </p:nvSpPr>
        <p:spPr bwMode="auto">
          <a:xfrm>
            <a:off x="7451725" y="3933825"/>
            <a:ext cx="431800" cy="360363"/>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G</a:t>
            </a:r>
            <a:endParaRPr lang="en-US" altLang="zh-CN" sz="2400">
              <a:solidFill>
                <a:schemeClr val="bg1"/>
              </a:solidFill>
              <a:latin typeface="Times New Roman" panose="02020603050405020304" pitchFamily="18" charset="0"/>
            </a:endParaRPr>
          </a:p>
        </p:txBody>
      </p:sp>
      <p:sp>
        <p:nvSpPr>
          <p:cNvPr id="102438" name="Oval 38"/>
          <p:cNvSpPr>
            <a:spLocks noChangeArrowheads="1"/>
          </p:cNvSpPr>
          <p:nvPr/>
        </p:nvSpPr>
        <p:spPr bwMode="auto">
          <a:xfrm>
            <a:off x="323850"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H</a:t>
            </a:r>
            <a:endParaRPr lang="en-US" altLang="zh-CN" sz="2400">
              <a:solidFill>
                <a:schemeClr val="bg1"/>
              </a:solidFill>
              <a:latin typeface="Times New Roman" panose="02020603050405020304" pitchFamily="18" charset="0"/>
            </a:endParaRPr>
          </a:p>
        </p:txBody>
      </p:sp>
      <p:sp>
        <p:nvSpPr>
          <p:cNvPr id="102439" name="Oval 39"/>
          <p:cNvSpPr>
            <a:spLocks noChangeArrowheads="1"/>
          </p:cNvSpPr>
          <p:nvPr/>
        </p:nvSpPr>
        <p:spPr bwMode="auto">
          <a:xfrm>
            <a:off x="1258888"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I</a:t>
            </a:r>
            <a:endParaRPr lang="en-US" altLang="zh-CN" sz="2400">
              <a:solidFill>
                <a:schemeClr val="bg1"/>
              </a:solidFill>
              <a:latin typeface="Times New Roman" panose="02020603050405020304" pitchFamily="18" charset="0"/>
            </a:endParaRPr>
          </a:p>
        </p:txBody>
      </p:sp>
      <p:sp>
        <p:nvSpPr>
          <p:cNvPr id="102440" name="Oval 40"/>
          <p:cNvSpPr>
            <a:spLocks noChangeArrowheads="1"/>
          </p:cNvSpPr>
          <p:nvPr/>
        </p:nvSpPr>
        <p:spPr bwMode="auto">
          <a:xfrm>
            <a:off x="2411413"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J</a:t>
            </a:r>
            <a:endParaRPr lang="en-US" altLang="zh-CN" sz="2400">
              <a:solidFill>
                <a:schemeClr val="bg1"/>
              </a:solidFill>
              <a:latin typeface="Times New Roman" panose="02020603050405020304" pitchFamily="18" charset="0"/>
            </a:endParaRPr>
          </a:p>
        </p:txBody>
      </p:sp>
      <p:sp>
        <p:nvSpPr>
          <p:cNvPr id="102441" name="Oval 41"/>
          <p:cNvSpPr>
            <a:spLocks noChangeArrowheads="1"/>
          </p:cNvSpPr>
          <p:nvPr/>
        </p:nvSpPr>
        <p:spPr bwMode="auto">
          <a:xfrm>
            <a:off x="3563938"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K</a:t>
            </a:r>
            <a:endParaRPr lang="en-US" altLang="zh-CN" sz="2400">
              <a:solidFill>
                <a:schemeClr val="bg1"/>
              </a:solidFill>
              <a:latin typeface="Times New Roman" panose="02020603050405020304" pitchFamily="18" charset="0"/>
            </a:endParaRPr>
          </a:p>
        </p:txBody>
      </p:sp>
      <p:sp>
        <p:nvSpPr>
          <p:cNvPr id="102442" name="Oval 42"/>
          <p:cNvSpPr>
            <a:spLocks noChangeArrowheads="1"/>
          </p:cNvSpPr>
          <p:nvPr/>
        </p:nvSpPr>
        <p:spPr bwMode="auto">
          <a:xfrm>
            <a:off x="4787900"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L</a:t>
            </a:r>
            <a:endParaRPr lang="en-US" altLang="zh-CN" sz="2400">
              <a:solidFill>
                <a:schemeClr val="bg1"/>
              </a:solidFill>
              <a:latin typeface="Times New Roman" panose="02020603050405020304" pitchFamily="18" charset="0"/>
            </a:endParaRPr>
          </a:p>
        </p:txBody>
      </p:sp>
      <p:sp>
        <p:nvSpPr>
          <p:cNvPr id="102443" name="Oval 43"/>
          <p:cNvSpPr>
            <a:spLocks noChangeArrowheads="1"/>
          </p:cNvSpPr>
          <p:nvPr/>
        </p:nvSpPr>
        <p:spPr bwMode="auto">
          <a:xfrm>
            <a:off x="5795963"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M</a:t>
            </a:r>
            <a:endParaRPr lang="en-US" altLang="zh-CN" sz="2400">
              <a:solidFill>
                <a:schemeClr val="bg1"/>
              </a:solidFill>
              <a:latin typeface="Times New Roman" panose="02020603050405020304" pitchFamily="18" charset="0"/>
            </a:endParaRPr>
          </a:p>
        </p:txBody>
      </p:sp>
      <p:sp>
        <p:nvSpPr>
          <p:cNvPr id="102444" name="Oval 44"/>
          <p:cNvSpPr>
            <a:spLocks noChangeArrowheads="1"/>
          </p:cNvSpPr>
          <p:nvPr/>
        </p:nvSpPr>
        <p:spPr bwMode="auto">
          <a:xfrm>
            <a:off x="6877050"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N</a:t>
            </a:r>
            <a:endParaRPr lang="en-US" altLang="zh-CN" sz="2400">
              <a:solidFill>
                <a:schemeClr val="bg1"/>
              </a:solidFill>
              <a:latin typeface="Times New Roman" panose="02020603050405020304" pitchFamily="18" charset="0"/>
            </a:endParaRPr>
          </a:p>
        </p:txBody>
      </p:sp>
      <p:sp>
        <p:nvSpPr>
          <p:cNvPr id="102445" name="Oval 45"/>
          <p:cNvSpPr>
            <a:spLocks noChangeArrowheads="1"/>
          </p:cNvSpPr>
          <p:nvPr/>
        </p:nvSpPr>
        <p:spPr bwMode="auto">
          <a:xfrm>
            <a:off x="8243888"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O</a:t>
            </a:r>
            <a:endParaRPr lang="en-US" altLang="zh-CN" sz="2400">
              <a:solidFill>
                <a:schemeClr val="bg1"/>
              </a:solidFill>
              <a:latin typeface="Times New Roman" panose="02020603050405020304" pitchFamily="18" charset="0"/>
            </a:endParaRPr>
          </a:p>
        </p:txBody>
      </p:sp>
      <p:sp>
        <p:nvSpPr>
          <p:cNvPr id="102446" name="Rectangle 46"/>
          <p:cNvSpPr>
            <a:spLocks noChangeArrowheads="1"/>
          </p:cNvSpPr>
          <p:nvPr/>
        </p:nvSpPr>
        <p:spPr bwMode="auto">
          <a:xfrm>
            <a:off x="2771775" y="1916113"/>
            <a:ext cx="414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2447" name="Rectangle 47"/>
          <p:cNvSpPr>
            <a:spLocks noChangeArrowheads="1"/>
          </p:cNvSpPr>
          <p:nvPr/>
        </p:nvSpPr>
        <p:spPr bwMode="auto">
          <a:xfrm>
            <a:off x="2843213" y="3284538"/>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102448" name="Rectangle 48"/>
          <p:cNvSpPr>
            <a:spLocks noChangeArrowheads="1"/>
          </p:cNvSpPr>
          <p:nvPr/>
        </p:nvSpPr>
        <p:spPr bwMode="auto">
          <a:xfrm>
            <a:off x="5364163" y="1844675"/>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102449" name="Oval 49"/>
          <p:cNvSpPr>
            <a:spLocks noChangeArrowheads="1"/>
          </p:cNvSpPr>
          <p:nvPr/>
        </p:nvSpPr>
        <p:spPr bwMode="auto">
          <a:xfrm>
            <a:off x="6156325" y="2781300"/>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C</a:t>
            </a:r>
            <a:endParaRPr lang="en-US" altLang="zh-CN" sz="2400">
              <a:latin typeface="Times New Roman" panose="02020603050405020304" pitchFamily="18" charset="0"/>
            </a:endParaRPr>
          </a:p>
        </p:txBody>
      </p:sp>
      <p:sp>
        <p:nvSpPr>
          <p:cNvPr id="102450" name="Oval 50"/>
          <p:cNvSpPr>
            <a:spLocks noChangeArrowheads="1"/>
          </p:cNvSpPr>
          <p:nvPr/>
        </p:nvSpPr>
        <p:spPr bwMode="auto">
          <a:xfrm>
            <a:off x="2987675" y="4005263"/>
            <a:ext cx="576263" cy="576262"/>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E</a:t>
            </a:r>
            <a:endParaRPr lang="en-US" altLang="zh-CN" sz="2400">
              <a:latin typeface="Times New Roman" panose="02020603050405020304" pitchFamily="18" charset="0"/>
            </a:endParaRPr>
          </a:p>
        </p:txBody>
      </p:sp>
      <p:sp>
        <p:nvSpPr>
          <p:cNvPr id="102451" name="Rectangle 51"/>
          <p:cNvSpPr>
            <a:spLocks noChangeArrowheads="1"/>
          </p:cNvSpPr>
          <p:nvPr/>
        </p:nvSpPr>
        <p:spPr bwMode="auto">
          <a:xfrm>
            <a:off x="1331913" y="3284538"/>
            <a:ext cx="414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2452" name="Oval 52"/>
          <p:cNvSpPr>
            <a:spLocks noChangeArrowheads="1"/>
          </p:cNvSpPr>
          <p:nvPr/>
        </p:nvSpPr>
        <p:spPr bwMode="auto">
          <a:xfrm>
            <a:off x="827088" y="4005263"/>
            <a:ext cx="576262" cy="576262"/>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2453" name="Oval 53"/>
          <p:cNvSpPr>
            <a:spLocks noChangeArrowheads="1"/>
          </p:cNvSpPr>
          <p:nvPr/>
        </p:nvSpPr>
        <p:spPr bwMode="auto">
          <a:xfrm>
            <a:off x="6156325" y="2781300"/>
            <a:ext cx="576263" cy="576263"/>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C</a:t>
            </a:r>
            <a:endParaRPr lang="en-US" altLang="zh-CN" sz="2400">
              <a:solidFill>
                <a:schemeClr val="bg1"/>
              </a:solidFill>
              <a:latin typeface="Times New Roman" panose="02020603050405020304" pitchFamily="18" charset="0"/>
            </a:endParaRPr>
          </a:p>
        </p:txBody>
      </p:sp>
      <p:sp>
        <p:nvSpPr>
          <p:cNvPr id="102454" name="Rectangle 54"/>
          <p:cNvSpPr>
            <a:spLocks noChangeArrowheads="1"/>
          </p:cNvSpPr>
          <p:nvPr/>
        </p:nvSpPr>
        <p:spPr bwMode="auto">
          <a:xfrm>
            <a:off x="5580063" y="3284538"/>
            <a:ext cx="414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2455" name="Oval 55"/>
          <p:cNvSpPr>
            <a:spLocks noChangeArrowheads="1"/>
          </p:cNvSpPr>
          <p:nvPr/>
        </p:nvSpPr>
        <p:spPr bwMode="auto">
          <a:xfrm>
            <a:off x="5219700" y="393382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F</a:t>
            </a:r>
            <a:endParaRPr lang="en-US" altLang="zh-CN" sz="2400">
              <a:latin typeface="Times New Roman" panose="02020603050405020304" pitchFamily="18" charset="0"/>
            </a:endParaRPr>
          </a:p>
        </p:txBody>
      </p:sp>
      <p:sp>
        <p:nvSpPr>
          <p:cNvPr id="102456" name="Oval 56"/>
          <p:cNvSpPr>
            <a:spLocks noChangeArrowheads="1"/>
          </p:cNvSpPr>
          <p:nvPr/>
        </p:nvSpPr>
        <p:spPr bwMode="auto">
          <a:xfrm>
            <a:off x="7380288" y="3860800"/>
            <a:ext cx="576262"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G</a:t>
            </a:r>
            <a:endParaRPr lang="en-US" altLang="zh-CN" sz="2400">
              <a:latin typeface="Times New Roman" panose="02020603050405020304" pitchFamily="18" charset="0"/>
            </a:endParaRPr>
          </a:p>
        </p:txBody>
      </p:sp>
      <p:sp>
        <p:nvSpPr>
          <p:cNvPr id="102457" name="Oval 57"/>
          <p:cNvSpPr>
            <a:spLocks noChangeArrowheads="1"/>
          </p:cNvSpPr>
          <p:nvPr/>
        </p:nvSpPr>
        <p:spPr bwMode="auto">
          <a:xfrm>
            <a:off x="6156325" y="2781300"/>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2458" name="Rectangle 58"/>
          <p:cNvSpPr>
            <a:spLocks noChangeArrowheads="1"/>
          </p:cNvSpPr>
          <p:nvPr/>
        </p:nvSpPr>
        <p:spPr bwMode="auto">
          <a:xfrm>
            <a:off x="7019925" y="3213100"/>
            <a:ext cx="452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102459" name="Oval 59"/>
          <p:cNvSpPr>
            <a:spLocks noChangeArrowheads="1"/>
          </p:cNvSpPr>
          <p:nvPr/>
        </p:nvSpPr>
        <p:spPr bwMode="auto">
          <a:xfrm>
            <a:off x="2987675" y="4005263"/>
            <a:ext cx="576263" cy="576262"/>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E</a:t>
            </a:r>
            <a:endParaRPr lang="en-US" altLang="zh-CN" sz="2400">
              <a:solidFill>
                <a:schemeClr val="bg1"/>
              </a:solidFill>
              <a:latin typeface="Times New Roman" panose="02020603050405020304" pitchFamily="18" charset="0"/>
            </a:endParaRPr>
          </a:p>
        </p:txBody>
      </p:sp>
      <p:sp>
        <p:nvSpPr>
          <p:cNvPr id="102460" name="Rectangle 60"/>
          <p:cNvSpPr>
            <a:spLocks noChangeArrowheads="1"/>
          </p:cNvSpPr>
          <p:nvPr/>
        </p:nvSpPr>
        <p:spPr bwMode="auto">
          <a:xfrm>
            <a:off x="2627313" y="4437063"/>
            <a:ext cx="414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2461" name="Oval 61"/>
          <p:cNvSpPr>
            <a:spLocks noChangeArrowheads="1"/>
          </p:cNvSpPr>
          <p:nvPr/>
        </p:nvSpPr>
        <p:spPr bwMode="auto">
          <a:xfrm>
            <a:off x="2339975" y="501332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J</a:t>
            </a:r>
            <a:endParaRPr lang="en-US" altLang="zh-CN" sz="2400">
              <a:latin typeface="Times New Roman" panose="02020603050405020304" pitchFamily="18" charset="0"/>
            </a:endParaRPr>
          </a:p>
        </p:txBody>
      </p:sp>
      <p:sp>
        <p:nvSpPr>
          <p:cNvPr id="102462" name="Rectangle 62"/>
          <p:cNvSpPr>
            <a:spLocks noChangeArrowheads="1"/>
          </p:cNvSpPr>
          <p:nvPr/>
        </p:nvSpPr>
        <p:spPr bwMode="auto">
          <a:xfrm>
            <a:off x="2339975" y="5589588"/>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10</a:t>
            </a:r>
            <a:endParaRPr lang="en-US" altLang="zh-CN" sz="2400">
              <a:solidFill>
                <a:schemeClr val="hlink"/>
              </a:solidFill>
              <a:latin typeface="Times New Roman" panose="02020603050405020304" pitchFamily="18" charset="0"/>
            </a:endParaRPr>
          </a:p>
        </p:txBody>
      </p:sp>
      <p:sp>
        <p:nvSpPr>
          <p:cNvPr id="102463" name="Rectangle 63"/>
          <p:cNvSpPr>
            <a:spLocks noChangeArrowheads="1"/>
          </p:cNvSpPr>
          <p:nvPr/>
        </p:nvSpPr>
        <p:spPr bwMode="auto">
          <a:xfrm>
            <a:off x="3563938" y="4437063"/>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102464" name="Oval 64"/>
          <p:cNvSpPr>
            <a:spLocks noChangeArrowheads="1"/>
          </p:cNvSpPr>
          <p:nvPr/>
        </p:nvSpPr>
        <p:spPr bwMode="auto">
          <a:xfrm>
            <a:off x="3492500" y="501332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K</a:t>
            </a:r>
            <a:endParaRPr lang="en-US" altLang="zh-CN" sz="2400">
              <a:latin typeface="Times New Roman" panose="02020603050405020304" pitchFamily="18" charset="0"/>
            </a:endParaRPr>
          </a:p>
        </p:txBody>
      </p:sp>
      <p:sp>
        <p:nvSpPr>
          <p:cNvPr id="102465" name="Oval 65"/>
          <p:cNvSpPr>
            <a:spLocks noChangeArrowheads="1"/>
          </p:cNvSpPr>
          <p:nvPr/>
        </p:nvSpPr>
        <p:spPr bwMode="auto">
          <a:xfrm>
            <a:off x="2987675" y="4005263"/>
            <a:ext cx="576263" cy="576262"/>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2466" name="Oval 66"/>
          <p:cNvSpPr>
            <a:spLocks noChangeArrowheads="1"/>
          </p:cNvSpPr>
          <p:nvPr/>
        </p:nvSpPr>
        <p:spPr bwMode="auto">
          <a:xfrm>
            <a:off x="5219700" y="3933825"/>
            <a:ext cx="576263" cy="576263"/>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F</a:t>
            </a:r>
            <a:endParaRPr lang="en-US" altLang="zh-CN" sz="2400">
              <a:solidFill>
                <a:schemeClr val="bg1"/>
              </a:solidFill>
              <a:latin typeface="Times New Roman" panose="02020603050405020304" pitchFamily="18" charset="0"/>
            </a:endParaRPr>
          </a:p>
        </p:txBody>
      </p:sp>
      <p:sp>
        <p:nvSpPr>
          <p:cNvPr id="102467" name="Oval 67"/>
          <p:cNvSpPr>
            <a:spLocks noChangeArrowheads="1"/>
          </p:cNvSpPr>
          <p:nvPr/>
        </p:nvSpPr>
        <p:spPr bwMode="auto">
          <a:xfrm>
            <a:off x="4716463" y="5013325"/>
            <a:ext cx="576262"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L</a:t>
            </a:r>
            <a:endParaRPr lang="en-US" altLang="zh-CN" sz="2400">
              <a:latin typeface="Times New Roman" panose="02020603050405020304" pitchFamily="18" charset="0"/>
            </a:endParaRPr>
          </a:p>
        </p:txBody>
      </p:sp>
      <p:sp>
        <p:nvSpPr>
          <p:cNvPr id="102468" name="Rectangle 68"/>
          <p:cNvSpPr>
            <a:spLocks noChangeArrowheads="1"/>
          </p:cNvSpPr>
          <p:nvPr/>
        </p:nvSpPr>
        <p:spPr bwMode="auto">
          <a:xfrm>
            <a:off x="4932363" y="4437063"/>
            <a:ext cx="414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2469" name="Rectangle 69"/>
          <p:cNvSpPr>
            <a:spLocks noChangeArrowheads="1"/>
          </p:cNvSpPr>
          <p:nvPr/>
        </p:nvSpPr>
        <p:spPr bwMode="auto">
          <a:xfrm>
            <a:off x="5795963" y="4437063"/>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102470" name="Oval 70"/>
          <p:cNvSpPr>
            <a:spLocks noChangeArrowheads="1"/>
          </p:cNvSpPr>
          <p:nvPr/>
        </p:nvSpPr>
        <p:spPr bwMode="auto">
          <a:xfrm>
            <a:off x="5724525" y="501332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M</a:t>
            </a:r>
            <a:endParaRPr lang="en-US" altLang="zh-CN" sz="2400">
              <a:latin typeface="Times New Roman" panose="02020603050405020304" pitchFamily="18" charset="0"/>
            </a:endParaRPr>
          </a:p>
        </p:txBody>
      </p:sp>
      <p:sp>
        <p:nvSpPr>
          <p:cNvPr id="102471" name="Oval 71"/>
          <p:cNvSpPr>
            <a:spLocks noChangeArrowheads="1"/>
          </p:cNvSpPr>
          <p:nvPr/>
        </p:nvSpPr>
        <p:spPr bwMode="auto">
          <a:xfrm>
            <a:off x="5219700" y="3933825"/>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2472" name="Oval 72"/>
          <p:cNvSpPr>
            <a:spLocks noChangeArrowheads="1"/>
          </p:cNvSpPr>
          <p:nvPr/>
        </p:nvSpPr>
        <p:spPr bwMode="auto">
          <a:xfrm>
            <a:off x="7380288" y="3860800"/>
            <a:ext cx="576262" cy="576263"/>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G</a:t>
            </a:r>
            <a:endParaRPr lang="en-US" altLang="zh-CN" sz="2400">
              <a:solidFill>
                <a:schemeClr val="bg1"/>
              </a:solidFill>
              <a:latin typeface="Times New Roman" panose="02020603050405020304" pitchFamily="18" charset="0"/>
            </a:endParaRPr>
          </a:p>
        </p:txBody>
      </p:sp>
      <p:sp>
        <p:nvSpPr>
          <p:cNvPr id="102473" name="Oval 73"/>
          <p:cNvSpPr>
            <a:spLocks noChangeArrowheads="1"/>
          </p:cNvSpPr>
          <p:nvPr/>
        </p:nvSpPr>
        <p:spPr bwMode="auto">
          <a:xfrm>
            <a:off x="6804025" y="501332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N</a:t>
            </a:r>
            <a:endParaRPr lang="en-US" altLang="zh-CN" sz="2400">
              <a:latin typeface="Times New Roman" panose="02020603050405020304" pitchFamily="18" charset="0"/>
            </a:endParaRPr>
          </a:p>
        </p:txBody>
      </p:sp>
      <p:sp>
        <p:nvSpPr>
          <p:cNvPr id="102474" name="Rectangle 74"/>
          <p:cNvSpPr>
            <a:spLocks noChangeArrowheads="1"/>
          </p:cNvSpPr>
          <p:nvPr/>
        </p:nvSpPr>
        <p:spPr bwMode="auto">
          <a:xfrm>
            <a:off x="7092950" y="4437063"/>
            <a:ext cx="414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2475" name="Rectangle 75"/>
          <p:cNvSpPr>
            <a:spLocks noChangeArrowheads="1"/>
          </p:cNvSpPr>
          <p:nvPr/>
        </p:nvSpPr>
        <p:spPr bwMode="auto">
          <a:xfrm>
            <a:off x="8172450" y="4365625"/>
            <a:ext cx="452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102476" name="Oval 76"/>
          <p:cNvSpPr>
            <a:spLocks noChangeArrowheads="1"/>
          </p:cNvSpPr>
          <p:nvPr/>
        </p:nvSpPr>
        <p:spPr bwMode="auto">
          <a:xfrm>
            <a:off x="8172450" y="501332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O</a:t>
            </a:r>
            <a:endParaRPr lang="en-US" altLang="zh-CN" sz="2400">
              <a:latin typeface="Times New Roman" panose="02020603050405020304" pitchFamily="18" charset="0"/>
            </a:endParaRPr>
          </a:p>
        </p:txBody>
      </p:sp>
      <p:sp>
        <p:nvSpPr>
          <p:cNvPr id="102477" name="Oval 77"/>
          <p:cNvSpPr>
            <a:spLocks noChangeArrowheads="1"/>
          </p:cNvSpPr>
          <p:nvPr/>
        </p:nvSpPr>
        <p:spPr bwMode="auto">
          <a:xfrm>
            <a:off x="4716463" y="5013325"/>
            <a:ext cx="576262" cy="576263"/>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L</a:t>
            </a:r>
            <a:endParaRPr lang="en-US" altLang="zh-CN" sz="2400">
              <a:solidFill>
                <a:schemeClr val="bg1"/>
              </a:solidFill>
              <a:latin typeface="Times New Roman" panose="02020603050405020304" pitchFamily="18" charset="0"/>
            </a:endParaRPr>
          </a:p>
        </p:txBody>
      </p:sp>
      <p:sp>
        <p:nvSpPr>
          <p:cNvPr id="102478" name="Oval 78"/>
          <p:cNvSpPr>
            <a:spLocks noChangeArrowheads="1"/>
          </p:cNvSpPr>
          <p:nvPr/>
        </p:nvSpPr>
        <p:spPr bwMode="auto">
          <a:xfrm>
            <a:off x="4716463" y="5013325"/>
            <a:ext cx="576262"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2479" name="Oval 79"/>
          <p:cNvSpPr>
            <a:spLocks noChangeArrowheads="1"/>
          </p:cNvSpPr>
          <p:nvPr/>
        </p:nvSpPr>
        <p:spPr bwMode="auto">
          <a:xfrm>
            <a:off x="5724525" y="5013325"/>
            <a:ext cx="576263" cy="576263"/>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M</a:t>
            </a:r>
            <a:endParaRPr lang="en-US" altLang="zh-CN" sz="2400">
              <a:solidFill>
                <a:schemeClr val="bg1"/>
              </a:solidFill>
              <a:latin typeface="Times New Roman" panose="02020603050405020304" pitchFamily="18" charset="0"/>
            </a:endParaRPr>
          </a:p>
        </p:txBody>
      </p:sp>
      <p:sp>
        <p:nvSpPr>
          <p:cNvPr id="102480" name="Oval 80"/>
          <p:cNvSpPr>
            <a:spLocks noChangeArrowheads="1"/>
          </p:cNvSpPr>
          <p:nvPr/>
        </p:nvSpPr>
        <p:spPr bwMode="auto">
          <a:xfrm>
            <a:off x="5724525" y="5013325"/>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2481" name="Oval 81"/>
          <p:cNvSpPr>
            <a:spLocks noChangeArrowheads="1"/>
          </p:cNvSpPr>
          <p:nvPr/>
        </p:nvSpPr>
        <p:spPr bwMode="auto">
          <a:xfrm>
            <a:off x="6804025" y="5013325"/>
            <a:ext cx="576263" cy="576263"/>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N</a:t>
            </a:r>
            <a:endParaRPr lang="en-US" altLang="zh-CN" sz="2400">
              <a:solidFill>
                <a:schemeClr val="bg1"/>
              </a:solidFill>
              <a:latin typeface="Times New Roman" panose="02020603050405020304" pitchFamily="18" charset="0"/>
            </a:endParaRPr>
          </a:p>
        </p:txBody>
      </p:sp>
      <p:sp>
        <p:nvSpPr>
          <p:cNvPr id="102482" name="Oval 82"/>
          <p:cNvSpPr>
            <a:spLocks noChangeArrowheads="1"/>
          </p:cNvSpPr>
          <p:nvPr/>
        </p:nvSpPr>
        <p:spPr bwMode="auto">
          <a:xfrm>
            <a:off x="6804025" y="5013325"/>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2483" name="Oval 83"/>
          <p:cNvSpPr>
            <a:spLocks noChangeArrowheads="1"/>
          </p:cNvSpPr>
          <p:nvPr/>
        </p:nvSpPr>
        <p:spPr bwMode="auto">
          <a:xfrm>
            <a:off x="8172450" y="5013325"/>
            <a:ext cx="576263" cy="576263"/>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O</a:t>
            </a:r>
            <a:endParaRPr lang="en-US" altLang="zh-CN" sz="2400">
              <a:solidFill>
                <a:schemeClr val="bg1"/>
              </a:solidFill>
              <a:latin typeface="Times New Roman" panose="02020603050405020304" pitchFamily="18" charset="0"/>
            </a:endParaRPr>
          </a:p>
        </p:txBody>
      </p:sp>
      <p:sp>
        <p:nvSpPr>
          <p:cNvPr id="102484" name="Oval 84"/>
          <p:cNvSpPr>
            <a:spLocks noChangeArrowheads="1"/>
          </p:cNvSpPr>
          <p:nvPr/>
        </p:nvSpPr>
        <p:spPr bwMode="auto">
          <a:xfrm>
            <a:off x="8172450" y="5013325"/>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2485" name="Oval 85"/>
          <p:cNvSpPr>
            <a:spLocks noChangeArrowheads="1"/>
          </p:cNvSpPr>
          <p:nvPr/>
        </p:nvSpPr>
        <p:spPr bwMode="auto">
          <a:xfrm>
            <a:off x="7380288" y="3860800"/>
            <a:ext cx="576262"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2486" name="Rectangle 86"/>
          <p:cNvSpPr>
            <a:spLocks noChangeArrowheads="1"/>
          </p:cNvSpPr>
          <p:nvPr/>
        </p:nvSpPr>
        <p:spPr bwMode="auto">
          <a:xfrm>
            <a:off x="1763713" y="6092825"/>
            <a:ext cx="3873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hlink"/>
                </a:solidFill>
                <a:latin typeface="Times New Roman" panose="02020603050405020304" pitchFamily="18" charset="0"/>
              </a:rPr>
              <a:t>B</a:t>
            </a:r>
            <a:endParaRPr lang="en-US" altLang="zh-CN" sz="2400">
              <a:solidFill>
                <a:schemeClr val="hlink"/>
              </a:solidFill>
              <a:latin typeface="Times New Roman" panose="02020603050405020304" pitchFamily="18" charset="0"/>
            </a:endParaRPr>
          </a:p>
        </p:txBody>
      </p:sp>
      <p:sp>
        <p:nvSpPr>
          <p:cNvPr id="102487" name="Rectangle 87"/>
          <p:cNvSpPr>
            <a:spLocks noChangeArrowheads="1"/>
          </p:cNvSpPr>
          <p:nvPr/>
        </p:nvSpPr>
        <p:spPr bwMode="auto">
          <a:xfrm>
            <a:off x="2268538" y="6092825"/>
            <a:ext cx="3873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hlink"/>
                </a:solidFill>
                <a:latin typeface="Times New Roman" panose="02020603050405020304" pitchFamily="18" charset="0"/>
              </a:rPr>
              <a:t>C</a:t>
            </a:r>
            <a:endParaRPr lang="en-US" altLang="zh-CN" sz="2400">
              <a:solidFill>
                <a:schemeClr val="hlink"/>
              </a:solidFill>
              <a:latin typeface="Times New Roman" panose="02020603050405020304" pitchFamily="18" charset="0"/>
            </a:endParaRPr>
          </a:p>
        </p:txBody>
      </p:sp>
      <p:sp>
        <p:nvSpPr>
          <p:cNvPr id="102488" name="Rectangle 88"/>
          <p:cNvSpPr>
            <a:spLocks noChangeArrowheads="1"/>
          </p:cNvSpPr>
          <p:nvPr/>
        </p:nvSpPr>
        <p:spPr bwMode="auto">
          <a:xfrm>
            <a:off x="3419475" y="6092825"/>
            <a:ext cx="369888"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hlink"/>
                </a:solidFill>
                <a:latin typeface="Times New Roman" panose="02020603050405020304" pitchFamily="18" charset="0"/>
              </a:rPr>
              <a:t>E</a:t>
            </a:r>
            <a:endParaRPr lang="en-US" altLang="zh-CN" sz="2400">
              <a:solidFill>
                <a:schemeClr val="hlink"/>
              </a:solidFill>
              <a:latin typeface="Times New Roman" panose="02020603050405020304" pitchFamily="18" charset="0"/>
            </a:endParaRPr>
          </a:p>
        </p:txBody>
      </p:sp>
      <p:sp>
        <p:nvSpPr>
          <p:cNvPr id="102489" name="Rectangle 89"/>
          <p:cNvSpPr>
            <a:spLocks noChangeArrowheads="1"/>
          </p:cNvSpPr>
          <p:nvPr/>
        </p:nvSpPr>
        <p:spPr bwMode="auto">
          <a:xfrm>
            <a:off x="4067175" y="6092825"/>
            <a:ext cx="354013"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hlink"/>
                </a:solidFill>
                <a:latin typeface="Times New Roman" panose="02020603050405020304" pitchFamily="18" charset="0"/>
              </a:rPr>
              <a:t>F</a:t>
            </a:r>
            <a:endParaRPr lang="en-US" altLang="zh-CN" sz="2400">
              <a:solidFill>
                <a:schemeClr val="hlink"/>
              </a:solidFill>
              <a:latin typeface="Times New Roman" panose="02020603050405020304" pitchFamily="18" charset="0"/>
            </a:endParaRPr>
          </a:p>
        </p:txBody>
      </p:sp>
      <p:sp>
        <p:nvSpPr>
          <p:cNvPr id="102490" name="Rectangle 90"/>
          <p:cNvSpPr>
            <a:spLocks noChangeArrowheads="1"/>
          </p:cNvSpPr>
          <p:nvPr/>
        </p:nvSpPr>
        <p:spPr bwMode="auto">
          <a:xfrm>
            <a:off x="4643438" y="6092825"/>
            <a:ext cx="404812"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hlink"/>
                </a:solidFill>
                <a:latin typeface="Times New Roman" panose="02020603050405020304" pitchFamily="18" charset="0"/>
              </a:rPr>
              <a:t>G</a:t>
            </a:r>
            <a:endParaRPr lang="en-US" altLang="zh-CN" sz="2400">
              <a:solidFill>
                <a:schemeClr val="hlink"/>
              </a:solidFill>
              <a:latin typeface="Times New Roman" panose="02020603050405020304" pitchFamily="18" charset="0"/>
            </a:endParaRPr>
          </a:p>
        </p:txBody>
      </p:sp>
      <p:sp>
        <p:nvSpPr>
          <p:cNvPr id="102491" name="Rectangle 91"/>
          <p:cNvSpPr>
            <a:spLocks noChangeArrowheads="1"/>
          </p:cNvSpPr>
          <p:nvPr/>
        </p:nvSpPr>
        <p:spPr bwMode="auto">
          <a:xfrm>
            <a:off x="5148263" y="6092825"/>
            <a:ext cx="4381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2492" name="Rectangle 92"/>
          <p:cNvSpPr>
            <a:spLocks noChangeArrowheads="1"/>
          </p:cNvSpPr>
          <p:nvPr/>
        </p:nvSpPr>
        <p:spPr bwMode="auto">
          <a:xfrm>
            <a:off x="1116013" y="6092825"/>
            <a:ext cx="633412"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2493" name="Rectangle 93"/>
          <p:cNvSpPr>
            <a:spLocks noChangeArrowheads="1"/>
          </p:cNvSpPr>
          <p:nvPr/>
        </p:nvSpPr>
        <p:spPr bwMode="auto">
          <a:xfrm>
            <a:off x="2627313" y="6092825"/>
            <a:ext cx="633412"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2494" name="Rectangle 94"/>
          <p:cNvSpPr>
            <a:spLocks noChangeArrowheads="1"/>
          </p:cNvSpPr>
          <p:nvPr/>
        </p:nvSpPr>
        <p:spPr bwMode="auto">
          <a:xfrm>
            <a:off x="5676900" y="6092825"/>
            <a:ext cx="303213"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hlink"/>
                </a:solidFill>
                <a:latin typeface="Times New Roman" panose="02020603050405020304" pitchFamily="18" charset="0"/>
              </a:rPr>
              <a:t>J</a:t>
            </a:r>
            <a:endParaRPr lang="en-US" altLang="zh-CN" sz="2400">
              <a:solidFill>
                <a:schemeClr val="hlink"/>
              </a:solidFill>
              <a:latin typeface="Times New Roman" panose="02020603050405020304" pitchFamily="18" charset="0"/>
            </a:endParaRPr>
          </a:p>
        </p:txBody>
      </p:sp>
      <p:sp>
        <p:nvSpPr>
          <p:cNvPr id="102495" name="Rectangle 95"/>
          <p:cNvSpPr>
            <a:spLocks noChangeArrowheads="1"/>
          </p:cNvSpPr>
          <p:nvPr/>
        </p:nvSpPr>
        <p:spPr bwMode="auto">
          <a:xfrm>
            <a:off x="6105525" y="6092825"/>
            <a:ext cx="404813"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hlink"/>
                </a:solidFill>
                <a:latin typeface="Times New Roman" panose="02020603050405020304" pitchFamily="18" charset="0"/>
              </a:rPr>
              <a:t>K</a:t>
            </a:r>
            <a:endParaRPr lang="en-US" altLang="zh-CN" sz="2400">
              <a:solidFill>
                <a:schemeClr val="hlink"/>
              </a:solidFill>
              <a:latin typeface="Times New Roman" panose="02020603050405020304" pitchFamily="18" charset="0"/>
            </a:endParaRPr>
          </a:p>
        </p:txBody>
      </p:sp>
      <p:sp>
        <p:nvSpPr>
          <p:cNvPr id="102496" name="Rectangle 96"/>
          <p:cNvSpPr>
            <a:spLocks noChangeArrowheads="1"/>
          </p:cNvSpPr>
          <p:nvPr/>
        </p:nvSpPr>
        <p:spPr bwMode="auto">
          <a:xfrm>
            <a:off x="6677025" y="6092825"/>
            <a:ext cx="369888"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hlink"/>
                </a:solidFill>
                <a:latin typeface="Times New Roman" panose="02020603050405020304" pitchFamily="18" charset="0"/>
              </a:rPr>
              <a:t>L</a:t>
            </a:r>
            <a:endParaRPr lang="en-US" altLang="zh-CN" sz="2400">
              <a:solidFill>
                <a:schemeClr val="hlink"/>
              </a:solidFill>
              <a:latin typeface="Times New Roman" panose="02020603050405020304" pitchFamily="18" charset="0"/>
            </a:endParaRPr>
          </a:p>
        </p:txBody>
      </p:sp>
      <p:sp>
        <p:nvSpPr>
          <p:cNvPr id="102497" name="Rectangle 97"/>
          <p:cNvSpPr>
            <a:spLocks noChangeArrowheads="1"/>
          </p:cNvSpPr>
          <p:nvPr/>
        </p:nvSpPr>
        <p:spPr bwMode="auto">
          <a:xfrm>
            <a:off x="7192963" y="6092825"/>
            <a:ext cx="455612"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hlink"/>
                </a:solidFill>
                <a:latin typeface="Times New Roman" panose="02020603050405020304" pitchFamily="18" charset="0"/>
              </a:rPr>
              <a:t>M</a:t>
            </a:r>
            <a:endParaRPr lang="en-US" altLang="zh-CN" sz="2400">
              <a:solidFill>
                <a:schemeClr val="hlink"/>
              </a:solidFill>
              <a:latin typeface="Times New Roman" panose="02020603050405020304" pitchFamily="18" charset="0"/>
            </a:endParaRPr>
          </a:p>
        </p:txBody>
      </p:sp>
      <p:sp>
        <p:nvSpPr>
          <p:cNvPr id="102498" name="Rectangle 98"/>
          <p:cNvSpPr>
            <a:spLocks noChangeArrowheads="1"/>
          </p:cNvSpPr>
          <p:nvPr/>
        </p:nvSpPr>
        <p:spPr bwMode="auto">
          <a:xfrm>
            <a:off x="7693025" y="6092825"/>
            <a:ext cx="404813"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hlink"/>
                </a:solidFill>
                <a:latin typeface="Times New Roman" panose="02020603050405020304" pitchFamily="18" charset="0"/>
              </a:rPr>
              <a:t>N</a:t>
            </a:r>
            <a:endParaRPr lang="en-US" altLang="zh-CN" sz="2400">
              <a:solidFill>
                <a:schemeClr val="hlink"/>
              </a:solidFill>
              <a:latin typeface="Times New Roman" panose="02020603050405020304" pitchFamily="18" charset="0"/>
            </a:endParaRPr>
          </a:p>
        </p:txBody>
      </p:sp>
      <p:sp>
        <p:nvSpPr>
          <p:cNvPr id="102499" name="Rectangle 99"/>
          <p:cNvSpPr>
            <a:spLocks noChangeArrowheads="1"/>
          </p:cNvSpPr>
          <p:nvPr/>
        </p:nvSpPr>
        <p:spPr bwMode="auto">
          <a:xfrm>
            <a:off x="8172450" y="6092825"/>
            <a:ext cx="404813"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hlink"/>
                </a:solidFill>
                <a:latin typeface="Times New Roman" panose="02020603050405020304" pitchFamily="18" charset="0"/>
              </a:rPr>
              <a:t>O</a:t>
            </a:r>
            <a:endParaRPr lang="en-US" altLang="zh-CN" sz="2400">
              <a:solidFill>
                <a:schemeClr val="hlink"/>
              </a:solidFill>
              <a:latin typeface="Times New Roman" panose="02020603050405020304" pitchFamily="18" charset="0"/>
            </a:endParaRPr>
          </a:p>
        </p:txBody>
      </p:sp>
      <p:sp>
        <p:nvSpPr>
          <p:cNvPr id="102500" name="Rectangle 100"/>
          <p:cNvSpPr>
            <a:spLocks noChangeArrowheads="1"/>
          </p:cNvSpPr>
          <p:nvPr/>
        </p:nvSpPr>
        <p:spPr bwMode="auto">
          <a:xfrm>
            <a:off x="8705850" y="6092825"/>
            <a:ext cx="4381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2501" name="Oval 101"/>
          <p:cNvSpPr>
            <a:spLocks noChangeArrowheads="1"/>
          </p:cNvSpPr>
          <p:nvPr/>
        </p:nvSpPr>
        <p:spPr bwMode="auto">
          <a:xfrm>
            <a:off x="2339975" y="5013325"/>
            <a:ext cx="576263" cy="576263"/>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J</a:t>
            </a:r>
            <a:endParaRPr lang="en-US" altLang="zh-CN" sz="2400">
              <a:solidFill>
                <a:schemeClr val="bg1"/>
              </a:solidFill>
              <a:latin typeface="Times New Roman" panose="02020603050405020304" pitchFamily="18" charset="0"/>
            </a:endParaRPr>
          </a:p>
        </p:txBody>
      </p:sp>
      <p:sp>
        <p:nvSpPr>
          <p:cNvPr id="102502" name="Oval 102"/>
          <p:cNvSpPr>
            <a:spLocks noChangeArrowheads="1"/>
          </p:cNvSpPr>
          <p:nvPr/>
        </p:nvSpPr>
        <p:spPr bwMode="auto">
          <a:xfrm>
            <a:off x="3492500" y="5013325"/>
            <a:ext cx="576263" cy="576263"/>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K</a:t>
            </a:r>
            <a:endParaRPr lang="en-US" altLang="zh-CN" sz="2400">
              <a:solidFill>
                <a:schemeClr val="bg1"/>
              </a:solidFill>
              <a:latin typeface="Times New Roman" panose="02020603050405020304" pitchFamily="18" charset="0"/>
            </a:endParaRPr>
          </a:p>
        </p:txBody>
      </p:sp>
      <p:sp>
        <p:nvSpPr>
          <p:cNvPr id="102503" name="Oval 103"/>
          <p:cNvSpPr>
            <a:spLocks noChangeArrowheads="1"/>
          </p:cNvSpPr>
          <p:nvPr/>
        </p:nvSpPr>
        <p:spPr bwMode="auto">
          <a:xfrm>
            <a:off x="3492500" y="5013325"/>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2504" name="Oval 104"/>
          <p:cNvSpPr>
            <a:spLocks noChangeArrowheads="1"/>
          </p:cNvSpPr>
          <p:nvPr/>
        </p:nvSpPr>
        <p:spPr bwMode="auto">
          <a:xfrm>
            <a:off x="2339975" y="5013325"/>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2505" name="Rectangle 105"/>
          <p:cNvSpPr>
            <a:spLocks noChangeArrowheads="1"/>
          </p:cNvSpPr>
          <p:nvPr/>
        </p:nvSpPr>
        <p:spPr bwMode="auto">
          <a:xfrm>
            <a:off x="0" y="1196975"/>
            <a:ext cx="539750" cy="360363"/>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i="1">
                <a:latin typeface="Times New Roman" panose="02020603050405020304" pitchFamily="18" charset="0"/>
              </a:rPr>
              <a:t>C</a:t>
            </a:r>
            <a:r>
              <a:rPr lang="en-US" altLang="zh-CN" sz="2400">
                <a:latin typeface="Times New Roman" panose="02020603050405020304" pitchFamily="18" charset="0"/>
              </a:rPr>
              <a:t>(</a:t>
            </a:r>
            <a:r>
              <a:rPr lang="en-US" altLang="zh-CN" sz="2400" i="1">
                <a:latin typeface="Times New Roman" panose="02020603050405020304" pitchFamily="18" charset="0"/>
              </a:rPr>
              <a:t>i</a:t>
            </a:r>
            <a:r>
              <a:rPr lang="en-US" altLang="zh-CN" sz="2400">
                <a:latin typeface="Times New Roman" panose="02020603050405020304" pitchFamily="18" charset="0"/>
              </a:rPr>
              <a:t>)</a:t>
            </a:r>
            <a:endParaRPr lang="en-US" altLang="zh-CN" sz="2400">
              <a:latin typeface="Times New Roman" panose="02020603050405020304" pitchFamily="18" charset="0"/>
            </a:endParaRPr>
          </a:p>
        </p:txBody>
      </p:sp>
      <p:sp>
        <p:nvSpPr>
          <p:cNvPr id="102506" name="Rectangle 106"/>
          <p:cNvSpPr>
            <a:spLocks noChangeArrowheads="1"/>
          </p:cNvSpPr>
          <p:nvPr/>
        </p:nvSpPr>
        <p:spPr bwMode="auto">
          <a:xfrm>
            <a:off x="1403350" y="4076700"/>
            <a:ext cx="539750" cy="360363"/>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14</a:t>
            </a:r>
            <a:endParaRPr lang="en-US" altLang="zh-CN" sz="2400">
              <a:latin typeface="Times New Roman" panose="02020603050405020304" pitchFamily="18" charset="0"/>
            </a:endParaRPr>
          </a:p>
        </p:txBody>
      </p:sp>
      <p:sp>
        <p:nvSpPr>
          <p:cNvPr id="102507" name="Rectangle 107"/>
          <p:cNvSpPr>
            <a:spLocks noChangeArrowheads="1"/>
          </p:cNvSpPr>
          <p:nvPr/>
        </p:nvSpPr>
        <p:spPr bwMode="auto">
          <a:xfrm>
            <a:off x="0" y="5949950"/>
            <a:ext cx="1403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3200">
                <a:solidFill>
                  <a:schemeClr val="hlink"/>
                </a:solidFill>
                <a:latin typeface="Times New Roman" panose="02020603050405020304" pitchFamily="18" charset="0"/>
              </a:rPr>
              <a:t>Quene:</a:t>
            </a:r>
            <a:endParaRPr lang="en-US" altLang="zh-CN" sz="3200">
              <a:solidFill>
                <a:schemeClr val="hlink"/>
              </a:solidFill>
              <a:latin typeface="Times New Roman" panose="02020603050405020304" pitchFamily="18" charset="0"/>
            </a:endParaRPr>
          </a:p>
        </p:txBody>
      </p:sp>
      <p:sp>
        <p:nvSpPr>
          <p:cNvPr id="102508" name="Rectangle 108"/>
          <p:cNvSpPr>
            <a:spLocks noChangeArrowheads="1"/>
          </p:cNvSpPr>
          <p:nvPr/>
        </p:nvSpPr>
        <p:spPr bwMode="auto">
          <a:xfrm>
            <a:off x="395288" y="5949950"/>
            <a:ext cx="821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3200">
                <a:solidFill>
                  <a:schemeClr val="hlink"/>
                </a:solidFill>
                <a:latin typeface="Times New Roman" panose="02020603050405020304" pitchFamily="18" charset="0"/>
              </a:rPr>
              <a:t>Congratulations! we made a success, so slowly!</a:t>
            </a:r>
            <a:endParaRPr lang="en-US" altLang="zh-CN" sz="3200">
              <a:solidFill>
                <a:schemeClr val="hlink"/>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24"/>
                                        </p:tgtEl>
                                        <p:attrNameLst>
                                          <p:attrName>style.visibility</p:attrName>
                                        </p:attrNameLst>
                                      </p:cBhvr>
                                      <p:to>
                                        <p:strVal val="visible"/>
                                      </p:to>
                                    </p:set>
                                    <p:anim calcmode="lin" valueType="num">
                                      <p:cBhvr additive="base">
                                        <p:cTn id="7" dur="500" fill="hold"/>
                                        <p:tgtEl>
                                          <p:spTgt spid="102424"/>
                                        </p:tgtEl>
                                        <p:attrNameLst>
                                          <p:attrName>ppt_x</p:attrName>
                                        </p:attrNameLst>
                                      </p:cBhvr>
                                      <p:tavLst>
                                        <p:tav tm="0">
                                          <p:val>
                                            <p:strVal val="#ppt_x"/>
                                          </p:val>
                                        </p:tav>
                                        <p:tav tm="100000">
                                          <p:val>
                                            <p:strVal val="#ppt_x"/>
                                          </p:val>
                                        </p:tav>
                                      </p:tavLst>
                                    </p:anim>
                                    <p:anim calcmode="lin" valueType="num">
                                      <p:cBhvr additive="base">
                                        <p:cTn id="8" dur="500" fill="hold"/>
                                        <p:tgtEl>
                                          <p:spTgt spid="1024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2492"/>
                                        </p:tgtEl>
                                        <p:attrNameLst>
                                          <p:attrName>style.visibility</p:attrName>
                                        </p:attrNameLst>
                                      </p:cBhvr>
                                      <p:to>
                                        <p:strVal val="visible"/>
                                      </p:to>
                                    </p:set>
                                    <p:anim calcmode="lin" valueType="num">
                                      <p:cBhvr additive="base">
                                        <p:cTn id="13" dur="500" fill="hold"/>
                                        <p:tgtEl>
                                          <p:spTgt spid="102492"/>
                                        </p:tgtEl>
                                        <p:attrNameLst>
                                          <p:attrName>ppt_x</p:attrName>
                                        </p:attrNameLst>
                                      </p:cBhvr>
                                      <p:tavLst>
                                        <p:tav tm="0">
                                          <p:val>
                                            <p:strVal val="#ppt_x"/>
                                          </p:val>
                                        </p:tav>
                                        <p:tav tm="100000">
                                          <p:val>
                                            <p:strVal val="#ppt_x"/>
                                          </p:val>
                                        </p:tav>
                                      </p:tavLst>
                                    </p:anim>
                                    <p:anim calcmode="lin" valueType="num">
                                      <p:cBhvr additive="base">
                                        <p:cTn id="14" dur="500" fill="hold"/>
                                        <p:tgtEl>
                                          <p:spTgt spid="10249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2446"/>
                                        </p:tgtEl>
                                        <p:attrNameLst>
                                          <p:attrName>style.visibility</p:attrName>
                                        </p:attrNameLst>
                                      </p:cBhvr>
                                      <p:to>
                                        <p:strVal val="visible"/>
                                      </p:to>
                                    </p:set>
                                    <p:anim calcmode="lin" valueType="num">
                                      <p:cBhvr additive="base">
                                        <p:cTn id="19" dur="500" fill="hold"/>
                                        <p:tgtEl>
                                          <p:spTgt spid="102446"/>
                                        </p:tgtEl>
                                        <p:attrNameLst>
                                          <p:attrName>ppt_x</p:attrName>
                                        </p:attrNameLst>
                                      </p:cBhvr>
                                      <p:tavLst>
                                        <p:tav tm="0">
                                          <p:val>
                                            <p:strVal val="#ppt_x"/>
                                          </p:val>
                                        </p:tav>
                                        <p:tav tm="100000">
                                          <p:val>
                                            <p:strVal val="#ppt_x"/>
                                          </p:val>
                                        </p:tav>
                                      </p:tavLst>
                                    </p:anim>
                                    <p:anim calcmode="lin" valueType="num">
                                      <p:cBhvr additive="base">
                                        <p:cTn id="20" dur="500" fill="hold"/>
                                        <p:tgtEl>
                                          <p:spTgt spid="10244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2422"/>
                                        </p:tgtEl>
                                        <p:attrNameLst>
                                          <p:attrName>style.visibility</p:attrName>
                                        </p:attrNameLst>
                                      </p:cBhvr>
                                      <p:to>
                                        <p:strVal val="visible"/>
                                      </p:to>
                                    </p:set>
                                    <p:anim calcmode="lin" valueType="num">
                                      <p:cBhvr additive="base">
                                        <p:cTn id="25" dur="500" fill="hold"/>
                                        <p:tgtEl>
                                          <p:spTgt spid="102422"/>
                                        </p:tgtEl>
                                        <p:attrNameLst>
                                          <p:attrName>ppt_x</p:attrName>
                                        </p:attrNameLst>
                                      </p:cBhvr>
                                      <p:tavLst>
                                        <p:tav tm="0">
                                          <p:val>
                                            <p:strVal val="#ppt_x"/>
                                          </p:val>
                                        </p:tav>
                                        <p:tav tm="100000">
                                          <p:val>
                                            <p:strVal val="#ppt_x"/>
                                          </p:val>
                                        </p:tav>
                                      </p:tavLst>
                                    </p:anim>
                                    <p:anim calcmode="lin" valueType="num">
                                      <p:cBhvr additive="base">
                                        <p:cTn id="26" dur="500" fill="hold"/>
                                        <p:tgtEl>
                                          <p:spTgt spid="10242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2486"/>
                                        </p:tgtEl>
                                        <p:attrNameLst>
                                          <p:attrName>style.visibility</p:attrName>
                                        </p:attrNameLst>
                                      </p:cBhvr>
                                      <p:to>
                                        <p:strVal val="visible"/>
                                      </p:to>
                                    </p:set>
                                    <p:anim calcmode="lin" valueType="num">
                                      <p:cBhvr additive="base">
                                        <p:cTn id="31" dur="500" fill="hold"/>
                                        <p:tgtEl>
                                          <p:spTgt spid="102486"/>
                                        </p:tgtEl>
                                        <p:attrNameLst>
                                          <p:attrName>ppt_x</p:attrName>
                                        </p:attrNameLst>
                                      </p:cBhvr>
                                      <p:tavLst>
                                        <p:tav tm="0">
                                          <p:val>
                                            <p:strVal val="#ppt_x"/>
                                          </p:val>
                                        </p:tav>
                                        <p:tav tm="100000">
                                          <p:val>
                                            <p:strVal val="#ppt_x"/>
                                          </p:val>
                                        </p:tav>
                                      </p:tavLst>
                                    </p:anim>
                                    <p:anim calcmode="lin" valueType="num">
                                      <p:cBhvr additive="base">
                                        <p:cTn id="32" dur="500" fill="hold"/>
                                        <p:tgtEl>
                                          <p:spTgt spid="10248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2448"/>
                                        </p:tgtEl>
                                        <p:attrNameLst>
                                          <p:attrName>style.visibility</p:attrName>
                                        </p:attrNameLst>
                                      </p:cBhvr>
                                      <p:to>
                                        <p:strVal val="visible"/>
                                      </p:to>
                                    </p:set>
                                    <p:anim calcmode="lin" valueType="num">
                                      <p:cBhvr additive="base">
                                        <p:cTn id="37" dur="500" fill="hold"/>
                                        <p:tgtEl>
                                          <p:spTgt spid="102448"/>
                                        </p:tgtEl>
                                        <p:attrNameLst>
                                          <p:attrName>ppt_x</p:attrName>
                                        </p:attrNameLst>
                                      </p:cBhvr>
                                      <p:tavLst>
                                        <p:tav tm="0">
                                          <p:val>
                                            <p:strVal val="#ppt_x"/>
                                          </p:val>
                                        </p:tav>
                                        <p:tav tm="100000">
                                          <p:val>
                                            <p:strVal val="#ppt_x"/>
                                          </p:val>
                                        </p:tav>
                                      </p:tavLst>
                                    </p:anim>
                                    <p:anim calcmode="lin" valueType="num">
                                      <p:cBhvr additive="base">
                                        <p:cTn id="38" dur="500" fill="hold"/>
                                        <p:tgtEl>
                                          <p:spTgt spid="10244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2449"/>
                                        </p:tgtEl>
                                        <p:attrNameLst>
                                          <p:attrName>style.visibility</p:attrName>
                                        </p:attrNameLst>
                                      </p:cBhvr>
                                      <p:to>
                                        <p:strVal val="visible"/>
                                      </p:to>
                                    </p:set>
                                    <p:anim calcmode="lin" valueType="num">
                                      <p:cBhvr additive="base">
                                        <p:cTn id="43" dur="500" fill="hold"/>
                                        <p:tgtEl>
                                          <p:spTgt spid="102449"/>
                                        </p:tgtEl>
                                        <p:attrNameLst>
                                          <p:attrName>ppt_x</p:attrName>
                                        </p:attrNameLst>
                                      </p:cBhvr>
                                      <p:tavLst>
                                        <p:tav tm="0">
                                          <p:val>
                                            <p:strVal val="#ppt_x"/>
                                          </p:val>
                                        </p:tav>
                                        <p:tav tm="100000">
                                          <p:val>
                                            <p:strVal val="#ppt_x"/>
                                          </p:val>
                                        </p:tav>
                                      </p:tavLst>
                                    </p:anim>
                                    <p:anim calcmode="lin" valueType="num">
                                      <p:cBhvr additive="base">
                                        <p:cTn id="44" dur="500" fill="hold"/>
                                        <p:tgtEl>
                                          <p:spTgt spid="10244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02487"/>
                                        </p:tgtEl>
                                        <p:attrNameLst>
                                          <p:attrName>style.visibility</p:attrName>
                                        </p:attrNameLst>
                                      </p:cBhvr>
                                      <p:to>
                                        <p:strVal val="visible"/>
                                      </p:to>
                                    </p:set>
                                    <p:anim calcmode="lin" valueType="num">
                                      <p:cBhvr additive="base">
                                        <p:cTn id="49" dur="500" fill="hold"/>
                                        <p:tgtEl>
                                          <p:spTgt spid="102487"/>
                                        </p:tgtEl>
                                        <p:attrNameLst>
                                          <p:attrName>ppt_x</p:attrName>
                                        </p:attrNameLst>
                                      </p:cBhvr>
                                      <p:tavLst>
                                        <p:tav tm="0">
                                          <p:val>
                                            <p:strVal val="#ppt_x"/>
                                          </p:val>
                                        </p:tav>
                                        <p:tav tm="100000">
                                          <p:val>
                                            <p:strVal val="#ppt_x"/>
                                          </p:val>
                                        </p:tav>
                                      </p:tavLst>
                                    </p:anim>
                                    <p:anim calcmode="lin" valueType="num">
                                      <p:cBhvr additive="base">
                                        <p:cTn id="50" dur="500" fill="hold"/>
                                        <p:tgtEl>
                                          <p:spTgt spid="10248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02427"/>
                                        </p:tgtEl>
                                        <p:attrNameLst>
                                          <p:attrName>style.visibility</p:attrName>
                                        </p:attrNameLst>
                                      </p:cBhvr>
                                      <p:to>
                                        <p:strVal val="visible"/>
                                      </p:to>
                                    </p:set>
                                    <p:anim calcmode="lin" valueType="num">
                                      <p:cBhvr additive="base">
                                        <p:cTn id="55" dur="500" fill="hold"/>
                                        <p:tgtEl>
                                          <p:spTgt spid="102427"/>
                                        </p:tgtEl>
                                        <p:attrNameLst>
                                          <p:attrName>ppt_x</p:attrName>
                                        </p:attrNameLst>
                                      </p:cBhvr>
                                      <p:tavLst>
                                        <p:tav tm="0">
                                          <p:val>
                                            <p:strVal val="#ppt_x"/>
                                          </p:val>
                                        </p:tav>
                                        <p:tav tm="100000">
                                          <p:val>
                                            <p:strVal val="#ppt_x"/>
                                          </p:val>
                                        </p:tav>
                                      </p:tavLst>
                                    </p:anim>
                                    <p:anim calcmode="lin" valueType="num">
                                      <p:cBhvr additive="base">
                                        <p:cTn id="56" dur="500" fill="hold"/>
                                        <p:tgtEl>
                                          <p:spTgt spid="102427"/>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xit" presetSubtype="4" fill="hold" grpId="1" nodeType="clickEffect">
                                  <p:stCondLst>
                                    <p:cond delay="0"/>
                                  </p:stCondLst>
                                  <p:childTnLst>
                                    <p:anim calcmode="lin" valueType="num">
                                      <p:cBhvr additive="base">
                                        <p:cTn id="60" dur="500"/>
                                        <p:tgtEl>
                                          <p:spTgt spid="102492"/>
                                        </p:tgtEl>
                                        <p:attrNameLst>
                                          <p:attrName>ppt_x</p:attrName>
                                        </p:attrNameLst>
                                      </p:cBhvr>
                                      <p:tavLst>
                                        <p:tav tm="0">
                                          <p:val>
                                            <p:strVal val="ppt_x"/>
                                          </p:val>
                                        </p:tav>
                                        <p:tav tm="100000">
                                          <p:val>
                                            <p:strVal val="ppt_x"/>
                                          </p:val>
                                        </p:tav>
                                      </p:tavLst>
                                    </p:anim>
                                    <p:anim calcmode="lin" valueType="num">
                                      <p:cBhvr additive="base">
                                        <p:cTn id="61" dur="500"/>
                                        <p:tgtEl>
                                          <p:spTgt spid="102492"/>
                                        </p:tgtEl>
                                        <p:attrNameLst>
                                          <p:attrName>ppt_y</p:attrName>
                                        </p:attrNameLst>
                                      </p:cBhvr>
                                      <p:tavLst>
                                        <p:tav tm="0">
                                          <p:val>
                                            <p:strVal val="ppt_y"/>
                                          </p:val>
                                        </p:tav>
                                        <p:tav tm="100000">
                                          <p:val>
                                            <p:strVal val="1+ppt_h/2"/>
                                          </p:val>
                                        </p:tav>
                                      </p:tavLst>
                                    </p:anim>
                                    <p:set>
                                      <p:cBhvr>
                                        <p:cTn id="62" dur="1" fill="hold">
                                          <p:stCondLst>
                                            <p:cond delay="499"/>
                                          </p:stCondLst>
                                        </p:cTn>
                                        <p:tgtEl>
                                          <p:spTgt spid="102492"/>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02493"/>
                                        </p:tgtEl>
                                        <p:attrNameLst>
                                          <p:attrName>style.visibility</p:attrName>
                                        </p:attrNameLst>
                                      </p:cBhvr>
                                      <p:to>
                                        <p:strVal val="visible"/>
                                      </p:to>
                                    </p:set>
                                    <p:anim calcmode="lin" valueType="num">
                                      <p:cBhvr additive="base">
                                        <p:cTn id="67" dur="500" fill="hold"/>
                                        <p:tgtEl>
                                          <p:spTgt spid="102493"/>
                                        </p:tgtEl>
                                        <p:attrNameLst>
                                          <p:attrName>ppt_x</p:attrName>
                                        </p:attrNameLst>
                                      </p:cBhvr>
                                      <p:tavLst>
                                        <p:tav tm="0">
                                          <p:val>
                                            <p:strVal val="#ppt_x"/>
                                          </p:val>
                                        </p:tav>
                                        <p:tav tm="100000">
                                          <p:val>
                                            <p:strVal val="#ppt_x"/>
                                          </p:val>
                                        </p:tav>
                                      </p:tavLst>
                                    </p:anim>
                                    <p:anim calcmode="lin" valueType="num">
                                      <p:cBhvr additive="base">
                                        <p:cTn id="68" dur="500" fill="hold"/>
                                        <p:tgtEl>
                                          <p:spTgt spid="102493"/>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xit" presetSubtype="4" fill="hold" grpId="1" nodeType="clickEffect">
                                  <p:stCondLst>
                                    <p:cond delay="0"/>
                                  </p:stCondLst>
                                  <p:childTnLst>
                                    <p:anim calcmode="lin" valueType="num">
                                      <p:cBhvr additive="base">
                                        <p:cTn id="72" dur="500"/>
                                        <p:tgtEl>
                                          <p:spTgt spid="102486"/>
                                        </p:tgtEl>
                                        <p:attrNameLst>
                                          <p:attrName>ppt_x</p:attrName>
                                        </p:attrNameLst>
                                      </p:cBhvr>
                                      <p:tavLst>
                                        <p:tav tm="0">
                                          <p:val>
                                            <p:strVal val="ppt_x"/>
                                          </p:val>
                                        </p:tav>
                                        <p:tav tm="100000">
                                          <p:val>
                                            <p:strVal val="ppt_x"/>
                                          </p:val>
                                        </p:tav>
                                      </p:tavLst>
                                    </p:anim>
                                    <p:anim calcmode="lin" valueType="num">
                                      <p:cBhvr additive="base">
                                        <p:cTn id="73" dur="500"/>
                                        <p:tgtEl>
                                          <p:spTgt spid="102486"/>
                                        </p:tgtEl>
                                        <p:attrNameLst>
                                          <p:attrName>ppt_y</p:attrName>
                                        </p:attrNameLst>
                                      </p:cBhvr>
                                      <p:tavLst>
                                        <p:tav tm="0">
                                          <p:val>
                                            <p:strVal val="ppt_y"/>
                                          </p:val>
                                        </p:tav>
                                        <p:tav tm="100000">
                                          <p:val>
                                            <p:strVal val="1+ppt_h/2"/>
                                          </p:val>
                                        </p:tav>
                                      </p:tavLst>
                                    </p:anim>
                                    <p:set>
                                      <p:cBhvr>
                                        <p:cTn id="74" dur="1" fill="hold">
                                          <p:stCondLst>
                                            <p:cond delay="499"/>
                                          </p:stCondLst>
                                        </p:cTn>
                                        <p:tgtEl>
                                          <p:spTgt spid="102486"/>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02423"/>
                                        </p:tgtEl>
                                        <p:attrNameLst>
                                          <p:attrName>style.visibility</p:attrName>
                                        </p:attrNameLst>
                                      </p:cBhvr>
                                      <p:to>
                                        <p:strVal val="visible"/>
                                      </p:to>
                                    </p:set>
                                    <p:anim calcmode="lin" valueType="num">
                                      <p:cBhvr additive="base">
                                        <p:cTn id="79" dur="500" fill="hold"/>
                                        <p:tgtEl>
                                          <p:spTgt spid="102423"/>
                                        </p:tgtEl>
                                        <p:attrNameLst>
                                          <p:attrName>ppt_x</p:attrName>
                                        </p:attrNameLst>
                                      </p:cBhvr>
                                      <p:tavLst>
                                        <p:tav tm="0">
                                          <p:val>
                                            <p:strVal val="#ppt_x"/>
                                          </p:val>
                                        </p:tav>
                                        <p:tav tm="100000">
                                          <p:val>
                                            <p:strVal val="#ppt_x"/>
                                          </p:val>
                                        </p:tav>
                                      </p:tavLst>
                                    </p:anim>
                                    <p:anim calcmode="lin" valueType="num">
                                      <p:cBhvr additive="base">
                                        <p:cTn id="80" dur="500" fill="hold"/>
                                        <p:tgtEl>
                                          <p:spTgt spid="102423"/>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02451"/>
                                        </p:tgtEl>
                                        <p:attrNameLst>
                                          <p:attrName>style.visibility</p:attrName>
                                        </p:attrNameLst>
                                      </p:cBhvr>
                                      <p:to>
                                        <p:strVal val="visible"/>
                                      </p:to>
                                    </p:set>
                                    <p:anim calcmode="lin" valueType="num">
                                      <p:cBhvr additive="base">
                                        <p:cTn id="85" dur="500" fill="hold"/>
                                        <p:tgtEl>
                                          <p:spTgt spid="102451"/>
                                        </p:tgtEl>
                                        <p:attrNameLst>
                                          <p:attrName>ppt_x</p:attrName>
                                        </p:attrNameLst>
                                      </p:cBhvr>
                                      <p:tavLst>
                                        <p:tav tm="0">
                                          <p:val>
                                            <p:strVal val="#ppt_x"/>
                                          </p:val>
                                        </p:tav>
                                        <p:tav tm="100000">
                                          <p:val>
                                            <p:strVal val="#ppt_x"/>
                                          </p:val>
                                        </p:tav>
                                      </p:tavLst>
                                    </p:anim>
                                    <p:anim calcmode="lin" valueType="num">
                                      <p:cBhvr additive="base">
                                        <p:cTn id="86" dur="500" fill="hold"/>
                                        <p:tgtEl>
                                          <p:spTgt spid="102451"/>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102506"/>
                                        </p:tgtEl>
                                        <p:attrNameLst>
                                          <p:attrName>style.visibility</p:attrName>
                                        </p:attrNameLst>
                                      </p:cBhvr>
                                      <p:to>
                                        <p:strVal val="visible"/>
                                      </p:to>
                                    </p:set>
                                    <p:anim calcmode="lin" valueType="num">
                                      <p:cBhvr additive="base">
                                        <p:cTn id="91" dur="500" fill="hold"/>
                                        <p:tgtEl>
                                          <p:spTgt spid="102506"/>
                                        </p:tgtEl>
                                        <p:attrNameLst>
                                          <p:attrName>ppt_x</p:attrName>
                                        </p:attrNameLst>
                                      </p:cBhvr>
                                      <p:tavLst>
                                        <p:tav tm="0">
                                          <p:val>
                                            <p:strVal val="#ppt_x"/>
                                          </p:val>
                                        </p:tav>
                                        <p:tav tm="100000">
                                          <p:val>
                                            <p:strVal val="#ppt_x"/>
                                          </p:val>
                                        </p:tav>
                                      </p:tavLst>
                                    </p:anim>
                                    <p:anim calcmode="lin" valueType="num">
                                      <p:cBhvr additive="base">
                                        <p:cTn id="92" dur="500" fill="hold"/>
                                        <p:tgtEl>
                                          <p:spTgt spid="102506"/>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102452"/>
                                        </p:tgtEl>
                                        <p:attrNameLst>
                                          <p:attrName>style.visibility</p:attrName>
                                        </p:attrNameLst>
                                      </p:cBhvr>
                                      <p:to>
                                        <p:strVal val="visible"/>
                                      </p:to>
                                    </p:set>
                                    <p:anim calcmode="lin" valueType="num">
                                      <p:cBhvr additive="base">
                                        <p:cTn id="97" dur="500" fill="hold"/>
                                        <p:tgtEl>
                                          <p:spTgt spid="102452"/>
                                        </p:tgtEl>
                                        <p:attrNameLst>
                                          <p:attrName>ppt_x</p:attrName>
                                        </p:attrNameLst>
                                      </p:cBhvr>
                                      <p:tavLst>
                                        <p:tav tm="0">
                                          <p:val>
                                            <p:strVal val="#ppt_x"/>
                                          </p:val>
                                        </p:tav>
                                        <p:tav tm="100000">
                                          <p:val>
                                            <p:strVal val="#ppt_x"/>
                                          </p:val>
                                        </p:tav>
                                      </p:tavLst>
                                    </p:anim>
                                    <p:anim calcmode="lin" valueType="num">
                                      <p:cBhvr additive="base">
                                        <p:cTn id="98" dur="500" fill="hold"/>
                                        <p:tgtEl>
                                          <p:spTgt spid="102452"/>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102447"/>
                                        </p:tgtEl>
                                        <p:attrNameLst>
                                          <p:attrName>style.visibility</p:attrName>
                                        </p:attrNameLst>
                                      </p:cBhvr>
                                      <p:to>
                                        <p:strVal val="visible"/>
                                      </p:to>
                                    </p:set>
                                    <p:anim calcmode="lin" valueType="num">
                                      <p:cBhvr additive="base">
                                        <p:cTn id="103" dur="500" fill="hold"/>
                                        <p:tgtEl>
                                          <p:spTgt spid="102447"/>
                                        </p:tgtEl>
                                        <p:attrNameLst>
                                          <p:attrName>ppt_x</p:attrName>
                                        </p:attrNameLst>
                                      </p:cBhvr>
                                      <p:tavLst>
                                        <p:tav tm="0">
                                          <p:val>
                                            <p:strVal val="#ppt_x"/>
                                          </p:val>
                                        </p:tav>
                                        <p:tav tm="100000">
                                          <p:val>
                                            <p:strVal val="#ppt_x"/>
                                          </p:val>
                                        </p:tav>
                                      </p:tavLst>
                                    </p:anim>
                                    <p:anim calcmode="lin" valueType="num">
                                      <p:cBhvr additive="base">
                                        <p:cTn id="104" dur="500" fill="hold"/>
                                        <p:tgtEl>
                                          <p:spTgt spid="102447"/>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102450"/>
                                        </p:tgtEl>
                                        <p:attrNameLst>
                                          <p:attrName>style.visibility</p:attrName>
                                        </p:attrNameLst>
                                      </p:cBhvr>
                                      <p:to>
                                        <p:strVal val="visible"/>
                                      </p:to>
                                    </p:set>
                                    <p:anim calcmode="lin" valueType="num">
                                      <p:cBhvr additive="base">
                                        <p:cTn id="109" dur="500" fill="hold"/>
                                        <p:tgtEl>
                                          <p:spTgt spid="102450"/>
                                        </p:tgtEl>
                                        <p:attrNameLst>
                                          <p:attrName>ppt_x</p:attrName>
                                        </p:attrNameLst>
                                      </p:cBhvr>
                                      <p:tavLst>
                                        <p:tav tm="0">
                                          <p:val>
                                            <p:strVal val="#ppt_x"/>
                                          </p:val>
                                        </p:tav>
                                        <p:tav tm="100000">
                                          <p:val>
                                            <p:strVal val="#ppt_x"/>
                                          </p:val>
                                        </p:tav>
                                      </p:tavLst>
                                    </p:anim>
                                    <p:anim calcmode="lin" valueType="num">
                                      <p:cBhvr additive="base">
                                        <p:cTn id="110" dur="500" fill="hold"/>
                                        <p:tgtEl>
                                          <p:spTgt spid="102450"/>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102488"/>
                                        </p:tgtEl>
                                        <p:attrNameLst>
                                          <p:attrName>style.visibility</p:attrName>
                                        </p:attrNameLst>
                                      </p:cBhvr>
                                      <p:to>
                                        <p:strVal val="visible"/>
                                      </p:to>
                                    </p:set>
                                    <p:anim calcmode="lin" valueType="num">
                                      <p:cBhvr additive="base">
                                        <p:cTn id="115" dur="500" fill="hold"/>
                                        <p:tgtEl>
                                          <p:spTgt spid="102488"/>
                                        </p:tgtEl>
                                        <p:attrNameLst>
                                          <p:attrName>ppt_x</p:attrName>
                                        </p:attrNameLst>
                                      </p:cBhvr>
                                      <p:tavLst>
                                        <p:tav tm="0">
                                          <p:val>
                                            <p:strVal val="#ppt_x"/>
                                          </p:val>
                                        </p:tav>
                                        <p:tav tm="100000">
                                          <p:val>
                                            <p:strVal val="#ppt_x"/>
                                          </p:val>
                                        </p:tav>
                                      </p:tavLst>
                                    </p:anim>
                                    <p:anim calcmode="lin" valueType="num">
                                      <p:cBhvr additive="base">
                                        <p:cTn id="116" dur="500" fill="hold"/>
                                        <p:tgtEl>
                                          <p:spTgt spid="102488"/>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102426"/>
                                        </p:tgtEl>
                                        <p:attrNameLst>
                                          <p:attrName>style.visibility</p:attrName>
                                        </p:attrNameLst>
                                      </p:cBhvr>
                                      <p:to>
                                        <p:strVal val="visible"/>
                                      </p:to>
                                    </p:set>
                                    <p:anim calcmode="lin" valueType="num">
                                      <p:cBhvr additive="base">
                                        <p:cTn id="121" dur="500" fill="hold"/>
                                        <p:tgtEl>
                                          <p:spTgt spid="102426"/>
                                        </p:tgtEl>
                                        <p:attrNameLst>
                                          <p:attrName>ppt_x</p:attrName>
                                        </p:attrNameLst>
                                      </p:cBhvr>
                                      <p:tavLst>
                                        <p:tav tm="0">
                                          <p:val>
                                            <p:strVal val="#ppt_x"/>
                                          </p:val>
                                        </p:tav>
                                        <p:tav tm="100000">
                                          <p:val>
                                            <p:strVal val="#ppt_x"/>
                                          </p:val>
                                        </p:tav>
                                      </p:tavLst>
                                    </p:anim>
                                    <p:anim calcmode="lin" valueType="num">
                                      <p:cBhvr additive="base">
                                        <p:cTn id="122" dur="500" fill="hold"/>
                                        <p:tgtEl>
                                          <p:spTgt spid="102426"/>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xit" presetSubtype="4" fill="hold" grpId="1" nodeType="clickEffect">
                                  <p:stCondLst>
                                    <p:cond delay="0"/>
                                  </p:stCondLst>
                                  <p:childTnLst>
                                    <p:anim calcmode="lin" valueType="num">
                                      <p:cBhvr additive="base">
                                        <p:cTn id="126" dur="500"/>
                                        <p:tgtEl>
                                          <p:spTgt spid="102487"/>
                                        </p:tgtEl>
                                        <p:attrNameLst>
                                          <p:attrName>ppt_x</p:attrName>
                                        </p:attrNameLst>
                                      </p:cBhvr>
                                      <p:tavLst>
                                        <p:tav tm="0">
                                          <p:val>
                                            <p:strVal val="ppt_x"/>
                                          </p:val>
                                        </p:tav>
                                        <p:tav tm="100000">
                                          <p:val>
                                            <p:strVal val="ppt_x"/>
                                          </p:val>
                                        </p:tav>
                                      </p:tavLst>
                                    </p:anim>
                                    <p:anim calcmode="lin" valueType="num">
                                      <p:cBhvr additive="base">
                                        <p:cTn id="127" dur="500"/>
                                        <p:tgtEl>
                                          <p:spTgt spid="102487"/>
                                        </p:tgtEl>
                                        <p:attrNameLst>
                                          <p:attrName>ppt_y</p:attrName>
                                        </p:attrNameLst>
                                      </p:cBhvr>
                                      <p:tavLst>
                                        <p:tav tm="0">
                                          <p:val>
                                            <p:strVal val="ppt_y"/>
                                          </p:val>
                                        </p:tav>
                                        <p:tav tm="100000">
                                          <p:val>
                                            <p:strVal val="1+ppt_h/2"/>
                                          </p:val>
                                        </p:tav>
                                      </p:tavLst>
                                    </p:anim>
                                    <p:set>
                                      <p:cBhvr>
                                        <p:cTn id="128" dur="1" fill="hold">
                                          <p:stCondLst>
                                            <p:cond delay="499"/>
                                          </p:stCondLst>
                                        </p:cTn>
                                        <p:tgtEl>
                                          <p:spTgt spid="102487"/>
                                        </p:tgtEl>
                                        <p:attrNameLst>
                                          <p:attrName>style.visibility</p:attrName>
                                        </p:attrNameLst>
                                      </p:cBhvr>
                                      <p:to>
                                        <p:strVal val="hidden"/>
                                      </p:to>
                                    </p:set>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102453"/>
                                        </p:tgtEl>
                                        <p:attrNameLst>
                                          <p:attrName>style.visibility</p:attrName>
                                        </p:attrNameLst>
                                      </p:cBhvr>
                                      <p:to>
                                        <p:strVal val="visible"/>
                                      </p:to>
                                    </p:set>
                                    <p:anim calcmode="lin" valueType="num">
                                      <p:cBhvr additive="base">
                                        <p:cTn id="133" dur="500" fill="hold"/>
                                        <p:tgtEl>
                                          <p:spTgt spid="102453"/>
                                        </p:tgtEl>
                                        <p:attrNameLst>
                                          <p:attrName>ppt_x</p:attrName>
                                        </p:attrNameLst>
                                      </p:cBhvr>
                                      <p:tavLst>
                                        <p:tav tm="0">
                                          <p:val>
                                            <p:strVal val="#ppt_x"/>
                                          </p:val>
                                        </p:tav>
                                        <p:tav tm="100000">
                                          <p:val>
                                            <p:strVal val="#ppt_x"/>
                                          </p:val>
                                        </p:tav>
                                      </p:tavLst>
                                    </p:anim>
                                    <p:anim calcmode="lin" valueType="num">
                                      <p:cBhvr additive="base">
                                        <p:cTn id="134" dur="500" fill="hold"/>
                                        <p:tgtEl>
                                          <p:spTgt spid="102453"/>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102454"/>
                                        </p:tgtEl>
                                        <p:attrNameLst>
                                          <p:attrName>style.visibility</p:attrName>
                                        </p:attrNameLst>
                                      </p:cBhvr>
                                      <p:to>
                                        <p:strVal val="visible"/>
                                      </p:to>
                                    </p:set>
                                    <p:anim calcmode="lin" valueType="num">
                                      <p:cBhvr additive="base">
                                        <p:cTn id="139" dur="500" fill="hold"/>
                                        <p:tgtEl>
                                          <p:spTgt spid="102454"/>
                                        </p:tgtEl>
                                        <p:attrNameLst>
                                          <p:attrName>ppt_x</p:attrName>
                                        </p:attrNameLst>
                                      </p:cBhvr>
                                      <p:tavLst>
                                        <p:tav tm="0">
                                          <p:val>
                                            <p:strVal val="#ppt_x"/>
                                          </p:val>
                                        </p:tav>
                                        <p:tav tm="100000">
                                          <p:val>
                                            <p:strVal val="#ppt_x"/>
                                          </p:val>
                                        </p:tav>
                                      </p:tavLst>
                                    </p:anim>
                                    <p:anim calcmode="lin" valueType="num">
                                      <p:cBhvr additive="base">
                                        <p:cTn id="140" dur="500" fill="hold"/>
                                        <p:tgtEl>
                                          <p:spTgt spid="102454"/>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grpId="0" nodeType="clickEffect">
                                  <p:stCondLst>
                                    <p:cond delay="0"/>
                                  </p:stCondLst>
                                  <p:childTnLst>
                                    <p:set>
                                      <p:cBhvr>
                                        <p:cTn id="144" dur="1" fill="hold">
                                          <p:stCondLst>
                                            <p:cond delay="0"/>
                                          </p:stCondLst>
                                        </p:cTn>
                                        <p:tgtEl>
                                          <p:spTgt spid="102455"/>
                                        </p:tgtEl>
                                        <p:attrNameLst>
                                          <p:attrName>style.visibility</p:attrName>
                                        </p:attrNameLst>
                                      </p:cBhvr>
                                      <p:to>
                                        <p:strVal val="visible"/>
                                      </p:to>
                                    </p:set>
                                    <p:anim calcmode="lin" valueType="num">
                                      <p:cBhvr additive="base">
                                        <p:cTn id="145" dur="500" fill="hold"/>
                                        <p:tgtEl>
                                          <p:spTgt spid="102455"/>
                                        </p:tgtEl>
                                        <p:attrNameLst>
                                          <p:attrName>ppt_x</p:attrName>
                                        </p:attrNameLst>
                                      </p:cBhvr>
                                      <p:tavLst>
                                        <p:tav tm="0">
                                          <p:val>
                                            <p:strVal val="#ppt_x"/>
                                          </p:val>
                                        </p:tav>
                                        <p:tav tm="100000">
                                          <p:val>
                                            <p:strVal val="#ppt_x"/>
                                          </p:val>
                                        </p:tav>
                                      </p:tavLst>
                                    </p:anim>
                                    <p:anim calcmode="lin" valueType="num">
                                      <p:cBhvr additive="base">
                                        <p:cTn id="146" dur="500" fill="hold"/>
                                        <p:tgtEl>
                                          <p:spTgt spid="102455"/>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grpId="0" nodeType="clickEffect">
                                  <p:stCondLst>
                                    <p:cond delay="0"/>
                                  </p:stCondLst>
                                  <p:childTnLst>
                                    <p:set>
                                      <p:cBhvr>
                                        <p:cTn id="150" dur="1" fill="hold">
                                          <p:stCondLst>
                                            <p:cond delay="0"/>
                                          </p:stCondLst>
                                        </p:cTn>
                                        <p:tgtEl>
                                          <p:spTgt spid="102489"/>
                                        </p:tgtEl>
                                        <p:attrNameLst>
                                          <p:attrName>style.visibility</p:attrName>
                                        </p:attrNameLst>
                                      </p:cBhvr>
                                      <p:to>
                                        <p:strVal val="visible"/>
                                      </p:to>
                                    </p:set>
                                    <p:anim calcmode="lin" valueType="num">
                                      <p:cBhvr additive="base">
                                        <p:cTn id="151" dur="500" fill="hold"/>
                                        <p:tgtEl>
                                          <p:spTgt spid="102489"/>
                                        </p:tgtEl>
                                        <p:attrNameLst>
                                          <p:attrName>ppt_x</p:attrName>
                                        </p:attrNameLst>
                                      </p:cBhvr>
                                      <p:tavLst>
                                        <p:tav tm="0">
                                          <p:val>
                                            <p:strVal val="#ppt_x"/>
                                          </p:val>
                                        </p:tav>
                                        <p:tav tm="100000">
                                          <p:val>
                                            <p:strVal val="#ppt_x"/>
                                          </p:val>
                                        </p:tav>
                                      </p:tavLst>
                                    </p:anim>
                                    <p:anim calcmode="lin" valueType="num">
                                      <p:cBhvr additive="base">
                                        <p:cTn id="152" dur="500" fill="hold"/>
                                        <p:tgtEl>
                                          <p:spTgt spid="102489"/>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grpId="0" nodeType="clickEffect">
                                  <p:stCondLst>
                                    <p:cond delay="0"/>
                                  </p:stCondLst>
                                  <p:childTnLst>
                                    <p:set>
                                      <p:cBhvr>
                                        <p:cTn id="156" dur="1" fill="hold">
                                          <p:stCondLst>
                                            <p:cond delay="0"/>
                                          </p:stCondLst>
                                        </p:cTn>
                                        <p:tgtEl>
                                          <p:spTgt spid="102458"/>
                                        </p:tgtEl>
                                        <p:attrNameLst>
                                          <p:attrName>style.visibility</p:attrName>
                                        </p:attrNameLst>
                                      </p:cBhvr>
                                      <p:to>
                                        <p:strVal val="visible"/>
                                      </p:to>
                                    </p:set>
                                    <p:anim calcmode="lin" valueType="num">
                                      <p:cBhvr additive="base">
                                        <p:cTn id="157" dur="500" fill="hold"/>
                                        <p:tgtEl>
                                          <p:spTgt spid="102458"/>
                                        </p:tgtEl>
                                        <p:attrNameLst>
                                          <p:attrName>ppt_x</p:attrName>
                                        </p:attrNameLst>
                                      </p:cBhvr>
                                      <p:tavLst>
                                        <p:tav tm="0">
                                          <p:val>
                                            <p:strVal val="#ppt_x"/>
                                          </p:val>
                                        </p:tav>
                                        <p:tav tm="100000">
                                          <p:val>
                                            <p:strVal val="#ppt_x"/>
                                          </p:val>
                                        </p:tav>
                                      </p:tavLst>
                                    </p:anim>
                                    <p:anim calcmode="lin" valueType="num">
                                      <p:cBhvr additive="base">
                                        <p:cTn id="158" dur="500" fill="hold"/>
                                        <p:tgtEl>
                                          <p:spTgt spid="102458"/>
                                        </p:tgtEl>
                                        <p:attrNameLst>
                                          <p:attrName>ppt_y</p:attrName>
                                        </p:attrNameLst>
                                      </p:cBhvr>
                                      <p:tavLst>
                                        <p:tav tm="0">
                                          <p:val>
                                            <p:strVal val="1+#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4" fill="hold" grpId="0" nodeType="clickEffect">
                                  <p:stCondLst>
                                    <p:cond delay="0"/>
                                  </p:stCondLst>
                                  <p:childTnLst>
                                    <p:set>
                                      <p:cBhvr>
                                        <p:cTn id="162" dur="1" fill="hold">
                                          <p:stCondLst>
                                            <p:cond delay="0"/>
                                          </p:stCondLst>
                                        </p:cTn>
                                        <p:tgtEl>
                                          <p:spTgt spid="102456"/>
                                        </p:tgtEl>
                                        <p:attrNameLst>
                                          <p:attrName>style.visibility</p:attrName>
                                        </p:attrNameLst>
                                      </p:cBhvr>
                                      <p:to>
                                        <p:strVal val="visible"/>
                                      </p:to>
                                    </p:set>
                                    <p:anim calcmode="lin" valueType="num">
                                      <p:cBhvr additive="base">
                                        <p:cTn id="163" dur="500" fill="hold"/>
                                        <p:tgtEl>
                                          <p:spTgt spid="102456"/>
                                        </p:tgtEl>
                                        <p:attrNameLst>
                                          <p:attrName>ppt_x</p:attrName>
                                        </p:attrNameLst>
                                      </p:cBhvr>
                                      <p:tavLst>
                                        <p:tav tm="0">
                                          <p:val>
                                            <p:strVal val="#ppt_x"/>
                                          </p:val>
                                        </p:tav>
                                        <p:tav tm="100000">
                                          <p:val>
                                            <p:strVal val="#ppt_x"/>
                                          </p:val>
                                        </p:tav>
                                      </p:tavLst>
                                    </p:anim>
                                    <p:anim calcmode="lin" valueType="num">
                                      <p:cBhvr additive="base">
                                        <p:cTn id="164" dur="500" fill="hold"/>
                                        <p:tgtEl>
                                          <p:spTgt spid="102456"/>
                                        </p:tgtEl>
                                        <p:attrNameLst>
                                          <p:attrName>ppt_y</p:attrName>
                                        </p:attrNameLst>
                                      </p:cBhvr>
                                      <p:tavLst>
                                        <p:tav tm="0">
                                          <p:val>
                                            <p:strVal val="1+#ppt_h/2"/>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4" fill="hold" grpId="0" nodeType="clickEffect">
                                  <p:stCondLst>
                                    <p:cond delay="0"/>
                                  </p:stCondLst>
                                  <p:childTnLst>
                                    <p:set>
                                      <p:cBhvr>
                                        <p:cTn id="168" dur="1" fill="hold">
                                          <p:stCondLst>
                                            <p:cond delay="0"/>
                                          </p:stCondLst>
                                        </p:cTn>
                                        <p:tgtEl>
                                          <p:spTgt spid="102490"/>
                                        </p:tgtEl>
                                        <p:attrNameLst>
                                          <p:attrName>style.visibility</p:attrName>
                                        </p:attrNameLst>
                                      </p:cBhvr>
                                      <p:to>
                                        <p:strVal val="visible"/>
                                      </p:to>
                                    </p:set>
                                    <p:anim calcmode="lin" valueType="num">
                                      <p:cBhvr additive="base">
                                        <p:cTn id="169" dur="500" fill="hold"/>
                                        <p:tgtEl>
                                          <p:spTgt spid="102490"/>
                                        </p:tgtEl>
                                        <p:attrNameLst>
                                          <p:attrName>ppt_x</p:attrName>
                                        </p:attrNameLst>
                                      </p:cBhvr>
                                      <p:tavLst>
                                        <p:tav tm="0">
                                          <p:val>
                                            <p:strVal val="#ppt_x"/>
                                          </p:val>
                                        </p:tav>
                                        <p:tav tm="100000">
                                          <p:val>
                                            <p:strVal val="#ppt_x"/>
                                          </p:val>
                                        </p:tav>
                                      </p:tavLst>
                                    </p:anim>
                                    <p:anim calcmode="lin" valueType="num">
                                      <p:cBhvr additive="base">
                                        <p:cTn id="170" dur="500" fill="hold"/>
                                        <p:tgtEl>
                                          <p:spTgt spid="102490"/>
                                        </p:tgtEl>
                                        <p:attrNameLst>
                                          <p:attrName>ppt_y</p:attrName>
                                        </p:attrNameLst>
                                      </p:cBhvr>
                                      <p:tavLst>
                                        <p:tav tm="0">
                                          <p:val>
                                            <p:strVal val="1+#ppt_h/2"/>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2" presetClass="entr" presetSubtype="4" fill="hold" grpId="0" nodeType="clickEffect">
                                  <p:stCondLst>
                                    <p:cond delay="0"/>
                                  </p:stCondLst>
                                  <p:childTnLst>
                                    <p:set>
                                      <p:cBhvr>
                                        <p:cTn id="174" dur="1" fill="hold">
                                          <p:stCondLst>
                                            <p:cond delay="0"/>
                                          </p:stCondLst>
                                        </p:cTn>
                                        <p:tgtEl>
                                          <p:spTgt spid="102457"/>
                                        </p:tgtEl>
                                        <p:attrNameLst>
                                          <p:attrName>style.visibility</p:attrName>
                                        </p:attrNameLst>
                                      </p:cBhvr>
                                      <p:to>
                                        <p:strVal val="visible"/>
                                      </p:to>
                                    </p:set>
                                    <p:anim calcmode="lin" valueType="num">
                                      <p:cBhvr additive="base">
                                        <p:cTn id="175" dur="500" fill="hold"/>
                                        <p:tgtEl>
                                          <p:spTgt spid="102457"/>
                                        </p:tgtEl>
                                        <p:attrNameLst>
                                          <p:attrName>ppt_x</p:attrName>
                                        </p:attrNameLst>
                                      </p:cBhvr>
                                      <p:tavLst>
                                        <p:tav tm="0">
                                          <p:val>
                                            <p:strVal val="#ppt_x"/>
                                          </p:val>
                                        </p:tav>
                                        <p:tav tm="100000">
                                          <p:val>
                                            <p:strVal val="#ppt_x"/>
                                          </p:val>
                                        </p:tav>
                                      </p:tavLst>
                                    </p:anim>
                                    <p:anim calcmode="lin" valueType="num">
                                      <p:cBhvr additive="base">
                                        <p:cTn id="176" dur="500" fill="hold"/>
                                        <p:tgtEl>
                                          <p:spTgt spid="102457"/>
                                        </p:tgtEl>
                                        <p:attrNameLst>
                                          <p:attrName>ppt_y</p:attrName>
                                        </p:attrNameLst>
                                      </p:cBhvr>
                                      <p:tavLst>
                                        <p:tav tm="0">
                                          <p:val>
                                            <p:strVal val="1+#ppt_h/2"/>
                                          </p:val>
                                        </p:tav>
                                        <p:tav tm="100000">
                                          <p:val>
                                            <p:strVal val="#ppt_y"/>
                                          </p:val>
                                        </p:tav>
                                      </p:tavLst>
                                    </p:anim>
                                  </p:childTnLst>
                                </p:cTn>
                              </p:par>
                            </p:childTnLst>
                          </p:cTn>
                        </p:par>
                      </p:childTnLst>
                    </p:cTn>
                  </p:par>
                  <p:par>
                    <p:cTn id="177" fill="hold">
                      <p:stCondLst>
                        <p:cond delay="indefinite"/>
                      </p:stCondLst>
                      <p:childTnLst>
                        <p:par>
                          <p:cTn id="178" fill="hold">
                            <p:stCondLst>
                              <p:cond delay="0"/>
                            </p:stCondLst>
                            <p:childTnLst>
                              <p:par>
                                <p:cTn id="179" presetID="2" presetClass="exit" presetSubtype="4" fill="hold" grpId="1" nodeType="clickEffect">
                                  <p:stCondLst>
                                    <p:cond delay="0"/>
                                  </p:stCondLst>
                                  <p:childTnLst>
                                    <p:anim calcmode="lin" valueType="num">
                                      <p:cBhvr additive="base">
                                        <p:cTn id="180" dur="500"/>
                                        <p:tgtEl>
                                          <p:spTgt spid="102493"/>
                                        </p:tgtEl>
                                        <p:attrNameLst>
                                          <p:attrName>ppt_x</p:attrName>
                                        </p:attrNameLst>
                                      </p:cBhvr>
                                      <p:tavLst>
                                        <p:tav tm="0">
                                          <p:val>
                                            <p:strVal val="ppt_x"/>
                                          </p:val>
                                        </p:tav>
                                        <p:tav tm="100000">
                                          <p:val>
                                            <p:strVal val="ppt_x"/>
                                          </p:val>
                                        </p:tav>
                                      </p:tavLst>
                                    </p:anim>
                                    <p:anim calcmode="lin" valueType="num">
                                      <p:cBhvr additive="base">
                                        <p:cTn id="181" dur="500"/>
                                        <p:tgtEl>
                                          <p:spTgt spid="102493"/>
                                        </p:tgtEl>
                                        <p:attrNameLst>
                                          <p:attrName>ppt_y</p:attrName>
                                        </p:attrNameLst>
                                      </p:cBhvr>
                                      <p:tavLst>
                                        <p:tav tm="0">
                                          <p:val>
                                            <p:strVal val="ppt_y"/>
                                          </p:val>
                                        </p:tav>
                                        <p:tav tm="100000">
                                          <p:val>
                                            <p:strVal val="1+ppt_h/2"/>
                                          </p:val>
                                        </p:tav>
                                      </p:tavLst>
                                    </p:anim>
                                    <p:set>
                                      <p:cBhvr>
                                        <p:cTn id="182" dur="1" fill="hold">
                                          <p:stCondLst>
                                            <p:cond delay="499"/>
                                          </p:stCondLst>
                                        </p:cTn>
                                        <p:tgtEl>
                                          <p:spTgt spid="102493"/>
                                        </p:tgtEl>
                                        <p:attrNameLst>
                                          <p:attrName>style.visibility</p:attrName>
                                        </p:attrNameLst>
                                      </p:cBhvr>
                                      <p:to>
                                        <p:strVal val="hidden"/>
                                      </p:to>
                                    </p:set>
                                  </p:childTnLst>
                                </p:cTn>
                              </p:par>
                            </p:childTnLst>
                          </p:cTn>
                        </p:par>
                      </p:childTnLst>
                    </p:cTn>
                  </p:par>
                  <p:par>
                    <p:cTn id="183" fill="hold">
                      <p:stCondLst>
                        <p:cond delay="indefinite"/>
                      </p:stCondLst>
                      <p:childTnLst>
                        <p:par>
                          <p:cTn id="184" fill="hold">
                            <p:stCondLst>
                              <p:cond delay="0"/>
                            </p:stCondLst>
                            <p:childTnLst>
                              <p:par>
                                <p:cTn id="185" presetID="2" presetClass="entr" presetSubtype="4" fill="hold" grpId="0" nodeType="clickEffect">
                                  <p:stCondLst>
                                    <p:cond delay="0"/>
                                  </p:stCondLst>
                                  <p:childTnLst>
                                    <p:set>
                                      <p:cBhvr>
                                        <p:cTn id="186" dur="1" fill="hold">
                                          <p:stCondLst>
                                            <p:cond delay="0"/>
                                          </p:stCondLst>
                                        </p:cTn>
                                        <p:tgtEl>
                                          <p:spTgt spid="102491"/>
                                        </p:tgtEl>
                                        <p:attrNameLst>
                                          <p:attrName>style.visibility</p:attrName>
                                        </p:attrNameLst>
                                      </p:cBhvr>
                                      <p:to>
                                        <p:strVal val="visible"/>
                                      </p:to>
                                    </p:set>
                                    <p:anim calcmode="lin" valueType="num">
                                      <p:cBhvr additive="base">
                                        <p:cTn id="187" dur="500" fill="hold"/>
                                        <p:tgtEl>
                                          <p:spTgt spid="102491"/>
                                        </p:tgtEl>
                                        <p:attrNameLst>
                                          <p:attrName>ppt_x</p:attrName>
                                        </p:attrNameLst>
                                      </p:cBhvr>
                                      <p:tavLst>
                                        <p:tav tm="0">
                                          <p:val>
                                            <p:strVal val="#ppt_x"/>
                                          </p:val>
                                        </p:tav>
                                        <p:tav tm="100000">
                                          <p:val>
                                            <p:strVal val="#ppt_x"/>
                                          </p:val>
                                        </p:tav>
                                      </p:tavLst>
                                    </p:anim>
                                    <p:anim calcmode="lin" valueType="num">
                                      <p:cBhvr additive="base">
                                        <p:cTn id="188" dur="500" fill="hold"/>
                                        <p:tgtEl>
                                          <p:spTgt spid="102491"/>
                                        </p:tgtEl>
                                        <p:attrNameLst>
                                          <p:attrName>ppt_y</p:attrName>
                                        </p:attrNameLst>
                                      </p:cBhvr>
                                      <p:tavLst>
                                        <p:tav tm="0">
                                          <p:val>
                                            <p:strVal val="1+#ppt_h/2"/>
                                          </p:val>
                                        </p:tav>
                                        <p:tav tm="100000">
                                          <p:val>
                                            <p:strVal val="#ppt_y"/>
                                          </p:val>
                                        </p:tav>
                                      </p:tavLst>
                                    </p:anim>
                                  </p:childTnLst>
                                </p:cTn>
                              </p:par>
                            </p:childTnLst>
                          </p:cTn>
                        </p:par>
                      </p:childTnLst>
                    </p:cTn>
                  </p:par>
                  <p:par>
                    <p:cTn id="189" fill="hold">
                      <p:stCondLst>
                        <p:cond delay="indefinite"/>
                      </p:stCondLst>
                      <p:childTnLst>
                        <p:par>
                          <p:cTn id="190" fill="hold">
                            <p:stCondLst>
                              <p:cond delay="0"/>
                            </p:stCondLst>
                            <p:childTnLst>
                              <p:par>
                                <p:cTn id="191" presetID="2" presetClass="exit" presetSubtype="4" fill="hold" grpId="1" nodeType="clickEffect">
                                  <p:stCondLst>
                                    <p:cond delay="0"/>
                                  </p:stCondLst>
                                  <p:childTnLst>
                                    <p:anim calcmode="lin" valueType="num">
                                      <p:cBhvr additive="base">
                                        <p:cTn id="192" dur="500"/>
                                        <p:tgtEl>
                                          <p:spTgt spid="102488"/>
                                        </p:tgtEl>
                                        <p:attrNameLst>
                                          <p:attrName>ppt_x</p:attrName>
                                        </p:attrNameLst>
                                      </p:cBhvr>
                                      <p:tavLst>
                                        <p:tav tm="0">
                                          <p:val>
                                            <p:strVal val="ppt_x"/>
                                          </p:val>
                                        </p:tav>
                                        <p:tav tm="100000">
                                          <p:val>
                                            <p:strVal val="ppt_x"/>
                                          </p:val>
                                        </p:tav>
                                      </p:tavLst>
                                    </p:anim>
                                    <p:anim calcmode="lin" valueType="num">
                                      <p:cBhvr additive="base">
                                        <p:cTn id="193" dur="500"/>
                                        <p:tgtEl>
                                          <p:spTgt spid="102488"/>
                                        </p:tgtEl>
                                        <p:attrNameLst>
                                          <p:attrName>ppt_y</p:attrName>
                                        </p:attrNameLst>
                                      </p:cBhvr>
                                      <p:tavLst>
                                        <p:tav tm="0">
                                          <p:val>
                                            <p:strVal val="ppt_y"/>
                                          </p:val>
                                        </p:tav>
                                        <p:tav tm="100000">
                                          <p:val>
                                            <p:strVal val="1+ppt_h/2"/>
                                          </p:val>
                                        </p:tav>
                                      </p:tavLst>
                                    </p:anim>
                                    <p:set>
                                      <p:cBhvr>
                                        <p:cTn id="194" dur="1" fill="hold">
                                          <p:stCondLst>
                                            <p:cond delay="499"/>
                                          </p:stCondLst>
                                        </p:cTn>
                                        <p:tgtEl>
                                          <p:spTgt spid="102488"/>
                                        </p:tgtEl>
                                        <p:attrNameLst>
                                          <p:attrName>style.visibility</p:attrName>
                                        </p:attrNameLst>
                                      </p:cBhvr>
                                      <p:to>
                                        <p:strVal val="hidden"/>
                                      </p:to>
                                    </p:set>
                                  </p:childTnLst>
                                </p:cTn>
                              </p:par>
                            </p:childTnLst>
                          </p:cTn>
                        </p:par>
                      </p:childTnLst>
                    </p:cTn>
                  </p:par>
                  <p:par>
                    <p:cTn id="195" fill="hold">
                      <p:stCondLst>
                        <p:cond delay="indefinite"/>
                      </p:stCondLst>
                      <p:childTnLst>
                        <p:par>
                          <p:cTn id="196" fill="hold">
                            <p:stCondLst>
                              <p:cond delay="0"/>
                            </p:stCondLst>
                            <p:childTnLst>
                              <p:par>
                                <p:cTn id="197" presetID="2" presetClass="entr" presetSubtype="4" fill="hold" grpId="0" nodeType="clickEffect">
                                  <p:stCondLst>
                                    <p:cond delay="0"/>
                                  </p:stCondLst>
                                  <p:childTnLst>
                                    <p:set>
                                      <p:cBhvr>
                                        <p:cTn id="198" dur="1" fill="hold">
                                          <p:stCondLst>
                                            <p:cond delay="0"/>
                                          </p:stCondLst>
                                        </p:cTn>
                                        <p:tgtEl>
                                          <p:spTgt spid="102459"/>
                                        </p:tgtEl>
                                        <p:attrNameLst>
                                          <p:attrName>style.visibility</p:attrName>
                                        </p:attrNameLst>
                                      </p:cBhvr>
                                      <p:to>
                                        <p:strVal val="visible"/>
                                      </p:to>
                                    </p:set>
                                    <p:anim calcmode="lin" valueType="num">
                                      <p:cBhvr additive="base">
                                        <p:cTn id="199" dur="500" fill="hold"/>
                                        <p:tgtEl>
                                          <p:spTgt spid="102459"/>
                                        </p:tgtEl>
                                        <p:attrNameLst>
                                          <p:attrName>ppt_x</p:attrName>
                                        </p:attrNameLst>
                                      </p:cBhvr>
                                      <p:tavLst>
                                        <p:tav tm="0">
                                          <p:val>
                                            <p:strVal val="#ppt_x"/>
                                          </p:val>
                                        </p:tav>
                                        <p:tav tm="100000">
                                          <p:val>
                                            <p:strVal val="#ppt_x"/>
                                          </p:val>
                                        </p:tav>
                                      </p:tavLst>
                                    </p:anim>
                                    <p:anim calcmode="lin" valueType="num">
                                      <p:cBhvr additive="base">
                                        <p:cTn id="200" dur="500" fill="hold"/>
                                        <p:tgtEl>
                                          <p:spTgt spid="102459"/>
                                        </p:tgtEl>
                                        <p:attrNameLst>
                                          <p:attrName>ppt_y</p:attrName>
                                        </p:attrNameLst>
                                      </p:cBhvr>
                                      <p:tavLst>
                                        <p:tav tm="0">
                                          <p:val>
                                            <p:strVal val="1+#ppt_h/2"/>
                                          </p:val>
                                        </p:tav>
                                        <p:tav tm="100000">
                                          <p:val>
                                            <p:strVal val="#ppt_y"/>
                                          </p:val>
                                        </p:tav>
                                      </p:tavLst>
                                    </p:anim>
                                  </p:childTnLst>
                                </p:cTn>
                              </p:par>
                            </p:childTnLst>
                          </p:cTn>
                        </p:par>
                      </p:childTnLst>
                    </p:cTn>
                  </p:par>
                  <p:par>
                    <p:cTn id="201" fill="hold">
                      <p:stCondLst>
                        <p:cond delay="indefinite"/>
                      </p:stCondLst>
                      <p:childTnLst>
                        <p:par>
                          <p:cTn id="202" fill="hold">
                            <p:stCondLst>
                              <p:cond delay="0"/>
                            </p:stCondLst>
                            <p:childTnLst>
                              <p:par>
                                <p:cTn id="203" presetID="2" presetClass="entr" presetSubtype="4" fill="hold" grpId="0" nodeType="clickEffect">
                                  <p:stCondLst>
                                    <p:cond delay="0"/>
                                  </p:stCondLst>
                                  <p:childTnLst>
                                    <p:set>
                                      <p:cBhvr>
                                        <p:cTn id="204" dur="1" fill="hold">
                                          <p:stCondLst>
                                            <p:cond delay="0"/>
                                          </p:stCondLst>
                                        </p:cTn>
                                        <p:tgtEl>
                                          <p:spTgt spid="102460"/>
                                        </p:tgtEl>
                                        <p:attrNameLst>
                                          <p:attrName>style.visibility</p:attrName>
                                        </p:attrNameLst>
                                      </p:cBhvr>
                                      <p:to>
                                        <p:strVal val="visible"/>
                                      </p:to>
                                    </p:set>
                                    <p:anim calcmode="lin" valueType="num">
                                      <p:cBhvr additive="base">
                                        <p:cTn id="205" dur="500" fill="hold"/>
                                        <p:tgtEl>
                                          <p:spTgt spid="102460"/>
                                        </p:tgtEl>
                                        <p:attrNameLst>
                                          <p:attrName>ppt_x</p:attrName>
                                        </p:attrNameLst>
                                      </p:cBhvr>
                                      <p:tavLst>
                                        <p:tav tm="0">
                                          <p:val>
                                            <p:strVal val="#ppt_x"/>
                                          </p:val>
                                        </p:tav>
                                        <p:tav tm="100000">
                                          <p:val>
                                            <p:strVal val="#ppt_x"/>
                                          </p:val>
                                        </p:tav>
                                      </p:tavLst>
                                    </p:anim>
                                    <p:anim calcmode="lin" valueType="num">
                                      <p:cBhvr additive="base">
                                        <p:cTn id="206" dur="500" fill="hold"/>
                                        <p:tgtEl>
                                          <p:spTgt spid="102460"/>
                                        </p:tgtEl>
                                        <p:attrNameLst>
                                          <p:attrName>ppt_y</p:attrName>
                                        </p:attrNameLst>
                                      </p:cBhvr>
                                      <p:tavLst>
                                        <p:tav tm="0">
                                          <p:val>
                                            <p:strVal val="1+#ppt_h/2"/>
                                          </p:val>
                                        </p:tav>
                                        <p:tav tm="100000">
                                          <p:val>
                                            <p:strVal val="#ppt_y"/>
                                          </p:val>
                                        </p:tav>
                                      </p:tavLst>
                                    </p:anim>
                                  </p:childTnLst>
                                </p:cTn>
                              </p:par>
                            </p:childTnLst>
                          </p:cTn>
                        </p:par>
                      </p:childTnLst>
                    </p:cTn>
                  </p:par>
                  <p:par>
                    <p:cTn id="207" fill="hold">
                      <p:stCondLst>
                        <p:cond delay="indefinite"/>
                      </p:stCondLst>
                      <p:childTnLst>
                        <p:par>
                          <p:cTn id="208" fill="hold">
                            <p:stCondLst>
                              <p:cond delay="0"/>
                            </p:stCondLst>
                            <p:childTnLst>
                              <p:par>
                                <p:cTn id="209" presetID="2" presetClass="entr" presetSubtype="4" fill="hold" grpId="0" nodeType="clickEffect">
                                  <p:stCondLst>
                                    <p:cond delay="0"/>
                                  </p:stCondLst>
                                  <p:childTnLst>
                                    <p:set>
                                      <p:cBhvr>
                                        <p:cTn id="210" dur="1" fill="hold">
                                          <p:stCondLst>
                                            <p:cond delay="0"/>
                                          </p:stCondLst>
                                        </p:cTn>
                                        <p:tgtEl>
                                          <p:spTgt spid="102461"/>
                                        </p:tgtEl>
                                        <p:attrNameLst>
                                          <p:attrName>style.visibility</p:attrName>
                                        </p:attrNameLst>
                                      </p:cBhvr>
                                      <p:to>
                                        <p:strVal val="visible"/>
                                      </p:to>
                                    </p:set>
                                    <p:anim calcmode="lin" valueType="num">
                                      <p:cBhvr additive="base">
                                        <p:cTn id="211" dur="500" fill="hold"/>
                                        <p:tgtEl>
                                          <p:spTgt spid="102461"/>
                                        </p:tgtEl>
                                        <p:attrNameLst>
                                          <p:attrName>ppt_x</p:attrName>
                                        </p:attrNameLst>
                                      </p:cBhvr>
                                      <p:tavLst>
                                        <p:tav tm="0">
                                          <p:val>
                                            <p:strVal val="#ppt_x"/>
                                          </p:val>
                                        </p:tav>
                                        <p:tav tm="100000">
                                          <p:val>
                                            <p:strVal val="#ppt_x"/>
                                          </p:val>
                                        </p:tav>
                                      </p:tavLst>
                                    </p:anim>
                                    <p:anim calcmode="lin" valueType="num">
                                      <p:cBhvr additive="base">
                                        <p:cTn id="212" dur="500" fill="hold"/>
                                        <p:tgtEl>
                                          <p:spTgt spid="102461"/>
                                        </p:tgtEl>
                                        <p:attrNameLst>
                                          <p:attrName>ppt_y</p:attrName>
                                        </p:attrNameLst>
                                      </p:cBhvr>
                                      <p:tavLst>
                                        <p:tav tm="0">
                                          <p:val>
                                            <p:strVal val="1+#ppt_h/2"/>
                                          </p:val>
                                        </p:tav>
                                        <p:tav tm="100000">
                                          <p:val>
                                            <p:strVal val="#ppt_y"/>
                                          </p:val>
                                        </p:tav>
                                      </p:tavLst>
                                    </p:anim>
                                  </p:childTnLst>
                                </p:cTn>
                              </p:par>
                            </p:childTnLst>
                          </p:cTn>
                        </p:par>
                      </p:childTnLst>
                    </p:cTn>
                  </p:par>
                  <p:par>
                    <p:cTn id="213" fill="hold">
                      <p:stCondLst>
                        <p:cond delay="indefinite"/>
                      </p:stCondLst>
                      <p:childTnLst>
                        <p:par>
                          <p:cTn id="214" fill="hold">
                            <p:stCondLst>
                              <p:cond delay="0"/>
                            </p:stCondLst>
                            <p:childTnLst>
                              <p:par>
                                <p:cTn id="215" presetID="2" presetClass="entr" presetSubtype="4" fill="hold" grpId="0" nodeType="clickEffect">
                                  <p:stCondLst>
                                    <p:cond delay="0"/>
                                  </p:stCondLst>
                                  <p:childTnLst>
                                    <p:set>
                                      <p:cBhvr>
                                        <p:cTn id="216" dur="1" fill="hold">
                                          <p:stCondLst>
                                            <p:cond delay="0"/>
                                          </p:stCondLst>
                                        </p:cTn>
                                        <p:tgtEl>
                                          <p:spTgt spid="102494"/>
                                        </p:tgtEl>
                                        <p:attrNameLst>
                                          <p:attrName>style.visibility</p:attrName>
                                        </p:attrNameLst>
                                      </p:cBhvr>
                                      <p:to>
                                        <p:strVal val="visible"/>
                                      </p:to>
                                    </p:set>
                                    <p:anim calcmode="lin" valueType="num">
                                      <p:cBhvr additive="base">
                                        <p:cTn id="217" dur="500" fill="hold"/>
                                        <p:tgtEl>
                                          <p:spTgt spid="102494"/>
                                        </p:tgtEl>
                                        <p:attrNameLst>
                                          <p:attrName>ppt_x</p:attrName>
                                        </p:attrNameLst>
                                      </p:cBhvr>
                                      <p:tavLst>
                                        <p:tav tm="0">
                                          <p:val>
                                            <p:strVal val="#ppt_x"/>
                                          </p:val>
                                        </p:tav>
                                        <p:tav tm="100000">
                                          <p:val>
                                            <p:strVal val="#ppt_x"/>
                                          </p:val>
                                        </p:tav>
                                      </p:tavLst>
                                    </p:anim>
                                    <p:anim calcmode="lin" valueType="num">
                                      <p:cBhvr additive="base">
                                        <p:cTn id="218" dur="500" fill="hold"/>
                                        <p:tgtEl>
                                          <p:spTgt spid="102494"/>
                                        </p:tgtEl>
                                        <p:attrNameLst>
                                          <p:attrName>ppt_y</p:attrName>
                                        </p:attrNameLst>
                                      </p:cBhvr>
                                      <p:tavLst>
                                        <p:tav tm="0">
                                          <p:val>
                                            <p:strVal val="1+#ppt_h/2"/>
                                          </p:val>
                                        </p:tav>
                                        <p:tav tm="100000">
                                          <p:val>
                                            <p:strVal val="#ppt_y"/>
                                          </p:val>
                                        </p:tav>
                                      </p:tavLst>
                                    </p:anim>
                                  </p:childTnLst>
                                </p:cTn>
                              </p:par>
                            </p:childTnLst>
                          </p:cTn>
                        </p:par>
                      </p:childTnLst>
                    </p:cTn>
                  </p:par>
                  <p:par>
                    <p:cTn id="219" fill="hold">
                      <p:stCondLst>
                        <p:cond delay="indefinite"/>
                      </p:stCondLst>
                      <p:childTnLst>
                        <p:par>
                          <p:cTn id="220" fill="hold">
                            <p:stCondLst>
                              <p:cond delay="0"/>
                            </p:stCondLst>
                            <p:childTnLst>
                              <p:par>
                                <p:cTn id="221" presetID="2" presetClass="entr" presetSubtype="4" fill="hold" grpId="0" nodeType="clickEffect">
                                  <p:stCondLst>
                                    <p:cond delay="0"/>
                                  </p:stCondLst>
                                  <p:childTnLst>
                                    <p:set>
                                      <p:cBhvr>
                                        <p:cTn id="222" dur="1" fill="hold">
                                          <p:stCondLst>
                                            <p:cond delay="0"/>
                                          </p:stCondLst>
                                        </p:cTn>
                                        <p:tgtEl>
                                          <p:spTgt spid="102463"/>
                                        </p:tgtEl>
                                        <p:attrNameLst>
                                          <p:attrName>style.visibility</p:attrName>
                                        </p:attrNameLst>
                                      </p:cBhvr>
                                      <p:to>
                                        <p:strVal val="visible"/>
                                      </p:to>
                                    </p:set>
                                    <p:anim calcmode="lin" valueType="num">
                                      <p:cBhvr additive="base">
                                        <p:cTn id="223" dur="500" fill="hold"/>
                                        <p:tgtEl>
                                          <p:spTgt spid="102463"/>
                                        </p:tgtEl>
                                        <p:attrNameLst>
                                          <p:attrName>ppt_x</p:attrName>
                                        </p:attrNameLst>
                                      </p:cBhvr>
                                      <p:tavLst>
                                        <p:tav tm="0">
                                          <p:val>
                                            <p:strVal val="#ppt_x"/>
                                          </p:val>
                                        </p:tav>
                                        <p:tav tm="100000">
                                          <p:val>
                                            <p:strVal val="#ppt_x"/>
                                          </p:val>
                                        </p:tav>
                                      </p:tavLst>
                                    </p:anim>
                                    <p:anim calcmode="lin" valueType="num">
                                      <p:cBhvr additive="base">
                                        <p:cTn id="224" dur="500" fill="hold"/>
                                        <p:tgtEl>
                                          <p:spTgt spid="102463"/>
                                        </p:tgtEl>
                                        <p:attrNameLst>
                                          <p:attrName>ppt_y</p:attrName>
                                        </p:attrNameLst>
                                      </p:cBhvr>
                                      <p:tavLst>
                                        <p:tav tm="0">
                                          <p:val>
                                            <p:strVal val="1+#ppt_h/2"/>
                                          </p:val>
                                        </p:tav>
                                        <p:tav tm="100000">
                                          <p:val>
                                            <p:strVal val="#ppt_y"/>
                                          </p:val>
                                        </p:tav>
                                      </p:tavLst>
                                    </p:anim>
                                  </p:childTnLst>
                                </p:cTn>
                              </p:par>
                            </p:childTnLst>
                          </p:cTn>
                        </p:par>
                      </p:childTnLst>
                    </p:cTn>
                  </p:par>
                  <p:par>
                    <p:cTn id="225" fill="hold">
                      <p:stCondLst>
                        <p:cond delay="indefinite"/>
                      </p:stCondLst>
                      <p:childTnLst>
                        <p:par>
                          <p:cTn id="226" fill="hold">
                            <p:stCondLst>
                              <p:cond delay="0"/>
                            </p:stCondLst>
                            <p:childTnLst>
                              <p:par>
                                <p:cTn id="227" presetID="2" presetClass="entr" presetSubtype="4" fill="hold" grpId="0" nodeType="clickEffect">
                                  <p:stCondLst>
                                    <p:cond delay="0"/>
                                  </p:stCondLst>
                                  <p:childTnLst>
                                    <p:set>
                                      <p:cBhvr>
                                        <p:cTn id="228" dur="1" fill="hold">
                                          <p:stCondLst>
                                            <p:cond delay="0"/>
                                          </p:stCondLst>
                                        </p:cTn>
                                        <p:tgtEl>
                                          <p:spTgt spid="102464"/>
                                        </p:tgtEl>
                                        <p:attrNameLst>
                                          <p:attrName>style.visibility</p:attrName>
                                        </p:attrNameLst>
                                      </p:cBhvr>
                                      <p:to>
                                        <p:strVal val="visible"/>
                                      </p:to>
                                    </p:set>
                                    <p:anim calcmode="lin" valueType="num">
                                      <p:cBhvr additive="base">
                                        <p:cTn id="229" dur="500" fill="hold"/>
                                        <p:tgtEl>
                                          <p:spTgt spid="102464"/>
                                        </p:tgtEl>
                                        <p:attrNameLst>
                                          <p:attrName>ppt_x</p:attrName>
                                        </p:attrNameLst>
                                      </p:cBhvr>
                                      <p:tavLst>
                                        <p:tav tm="0">
                                          <p:val>
                                            <p:strVal val="#ppt_x"/>
                                          </p:val>
                                        </p:tav>
                                        <p:tav tm="100000">
                                          <p:val>
                                            <p:strVal val="#ppt_x"/>
                                          </p:val>
                                        </p:tav>
                                      </p:tavLst>
                                    </p:anim>
                                    <p:anim calcmode="lin" valueType="num">
                                      <p:cBhvr additive="base">
                                        <p:cTn id="230" dur="500" fill="hold"/>
                                        <p:tgtEl>
                                          <p:spTgt spid="102464"/>
                                        </p:tgtEl>
                                        <p:attrNameLst>
                                          <p:attrName>ppt_y</p:attrName>
                                        </p:attrNameLst>
                                      </p:cBhvr>
                                      <p:tavLst>
                                        <p:tav tm="0">
                                          <p:val>
                                            <p:strVal val="1+#ppt_h/2"/>
                                          </p:val>
                                        </p:tav>
                                        <p:tav tm="100000">
                                          <p:val>
                                            <p:strVal val="#ppt_y"/>
                                          </p:val>
                                        </p:tav>
                                      </p:tavLst>
                                    </p:anim>
                                  </p:childTnLst>
                                </p:cTn>
                              </p:par>
                            </p:childTnLst>
                          </p:cTn>
                        </p:par>
                      </p:childTnLst>
                    </p:cTn>
                  </p:par>
                  <p:par>
                    <p:cTn id="231" fill="hold">
                      <p:stCondLst>
                        <p:cond delay="indefinite"/>
                      </p:stCondLst>
                      <p:childTnLst>
                        <p:par>
                          <p:cTn id="232" fill="hold">
                            <p:stCondLst>
                              <p:cond delay="0"/>
                            </p:stCondLst>
                            <p:childTnLst>
                              <p:par>
                                <p:cTn id="233" presetID="2" presetClass="entr" presetSubtype="4" fill="hold" grpId="0" nodeType="clickEffect">
                                  <p:stCondLst>
                                    <p:cond delay="0"/>
                                  </p:stCondLst>
                                  <p:childTnLst>
                                    <p:set>
                                      <p:cBhvr>
                                        <p:cTn id="234" dur="1" fill="hold">
                                          <p:stCondLst>
                                            <p:cond delay="0"/>
                                          </p:stCondLst>
                                        </p:cTn>
                                        <p:tgtEl>
                                          <p:spTgt spid="102495"/>
                                        </p:tgtEl>
                                        <p:attrNameLst>
                                          <p:attrName>style.visibility</p:attrName>
                                        </p:attrNameLst>
                                      </p:cBhvr>
                                      <p:to>
                                        <p:strVal val="visible"/>
                                      </p:to>
                                    </p:set>
                                    <p:anim calcmode="lin" valueType="num">
                                      <p:cBhvr additive="base">
                                        <p:cTn id="235" dur="500" fill="hold"/>
                                        <p:tgtEl>
                                          <p:spTgt spid="102495"/>
                                        </p:tgtEl>
                                        <p:attrNameLst>
                                          <p:attrName>ppt_x</p:attrName>
                                        </p:attrNameLst>
                                      </p:cBhvr>
                                      <p:tavLst>
                                        <p:tav tm="0">
                                          <p:val>
                                            <p:strVal val="#ppt_x"/>
                                          </p:val>
                                        </p:tav>
                                        <p:tav tm="100000">
                                          <p:val>
                                            <p:strVal val="#ppt_x"/>
                                          </p:val>
                                        </p:tav>
                                      </p:tavLst>
                                    </p:anim>
                                    <p:anim calcmode="lin" valueType="num">
                                      <p:cBhvr additive="base">
                                        <p:cTn id="236" dur="500" fill="hold"/>
                                        <p:tgtEl>
                                          <p:spTgt spid="102495"/>
                                        </p:tgtEl>
                                        <p:attrNameLst>
                                          <p:attrName>ppt_y</p:attrName>
                                        </p:attrNameLst>
                                      </p:cBhvr>
                                      <p:tavLst>
                                        <p:tav tm="0">
                                          <p:val>
                                            <p:strVal val="1+#ppt_h/2"/>
                                          </p:val>
                                        </p:tav>
                                        <p:tav tm="100000">
                                          <p:val>
                                            <p:strVal val="#ppt_y"/>
                                          </p:val>
                                        </p:tav>
                                      </p:tavLst>
                                    </p:anim>
                                  </p:childTnLst>
                                </p:cTn>
                              </p:par>
                            </p:childTnLst>
                          </p:cTn>
                        </p:par>
                      </p:childTnLst>
                    </p:cTn>
                  </p:par>
                  <p:par>
                    <p:cTn id="237" fill="hold">
                      <p:stCondLst>
                        <p:cond delay="indefinite"/>
                      </p:stCondLst>
                      <p:childTnLst>
                        <p:par>
                          <p:cTn id="238" fill="hold">
                            <p:stCondLst>
                              <p:cond delay="0"/>
                            </p:stCondLst>
                            <p:childTnLst>
                              <p:par>
                                <p:cTn id="239" presetID="2" presetClass="entr" presetSubtype="4" fill="hold" grpId="0" nodeType="clickEffect">
                                  <p:stCondLst>
                                    <p:cond delay="0"/>
                                  </p:stCondLst>
                                  <p:childTnLst>
                                    <p:set>
                                      <p:cBhvr>
                                        <p:cTn id="240" dur="1" fill="hold">
                                          <p:stCondLst>
                                            <p:cond delay="0"/>
                                          </p:stCondLst>
                                        </p:cTn>
                                        <p:tgtEl>
                                          <p:spTgt spid="102465"/>
                                        </p:tgtEl>
                                        <p:attrNameLst>
                                          <p:attrName>style.visibility</p:attrName>
                                        </p:attrNameLst>
                                      </p:cBhvr>
                                      <p:to>
                                        <p:strVal val="visible"/>
                                      </p:to>
                                    </p:set>
                                    <p:anim calcmode="lin" valueType="num">
                                      <p:cBhvr additive="base">
                                        <p:cTn id="241" dur="500" fill="hold"/>
                                        <p:tgtEl>
                                          <p:spTgt spid="102465"/>
                                        </p:tgtEl>
                                        <p:attrNameLst>
                                          <p:attrName>ppt_x</p:attrName>
                                        </p:attrNameLst>
                                      </p:cBhvr>
                                      <p:tavLst>
                                        <p:tav tm="0">
                                          <p:val>
                                            <p:strVal val="#ppt_x"/>
                                          </p:val>
                                        </p:tav>
                                        <p:tav tm="100000">
                                          <p:val>
                                            <p:strVal val="#ppt_x"/>
                                          </p:val>
                                        </p:tav>
                                      </p:tavLst>
                                    </p:anim>
                                    <p:anim calcmode="lin" valueType="num">
                                      <p:cBhvr additive="base">
                                        <p:cTn id="242" dur="500" fill="hold"/>
                                        <p:tgtEl>
                                          <p:spTgt spid="102465"/>
                                        </p:tgtEl>
                                        <p:attrNameLst>
                                          <p:attrName>ppt_y</p:attrName>
                                        </p:attrNameLst>
                                      </p:cBhvr>
                                      <p:tavLst>
                                        <p:tav tm="0">
                                          <p:val>
                                            <p:strVal val="1+#ppt_h/2"/>
                                          </p:val>
                                        </p:tav>
                                        <p:tav tm="100000">
                                          <p:val>
                                            <p:strVal val="#ppt_y"/>
                                          </p:val>
                                        </p:tav>
                                      </p:tavLst>
                                    </p:anim>
                                  </p:childTnLst>
                                </p:cTn>
                              </p:par>
                            </p:childTnLst>
                          </p:cTn>
                        </p:par>
                      </p:childTnLst>
                    </p:cTn>
                  </p:par>
                  <p:par>
                    <p:cTn id="243" fill="hold">
                      <p:stCondLst>
                        <p:cond delay="indefinite"/>
                      </p:stCondLst>
                      <p:childTnLst>
                        <p:par>
                          <p:cTn id="244" fill="hold">
                            <p:stCondLst>
                              <p:cond delay="0"/>
                            </p:stCondLst>
                            <p:childTnLst>
                              <p:par>
                                <p:cTn id="245" presetID="2" presetClass="exit" presetSubtype="4" fill="hold" grpId="1" nodeType="clickEffect">
                                  <p:stCondLst>
                                    <p:cond delay="0"/>
                                  </p:stCondLst>
                                  <p:childTnLst>
                                    <p:anim calcmode="lin" valueType="num">
                                      <p:cBhvr additive="base">
                                        <p:cTn id="246" dur="500"/>
                                        <p:tgtEl>
                                          <p:spTgt spid="102489"/>
                                        </p:tgtEl>
                                        <p:attrNameLst>
                                          <p:attrName>ppt_x</p:attrName>
                                        </p:attrNameLst>
                                      </p:cBhvr>
                                      <p:tavLst>
                                        <p:tav tm="0">
                                          <p:val>
                                            <p:strVal val="ppt_x"/>
                                          </p:val>
                                        </p:tav>
                                        <p:tav tm="100000">
                                          <p:val>
                                            <p:strVal val="ppt_x"/>
                                          </p:val>
                                        </p:tav>
                                      </p:tavLst>
                                    </p:anim>
                                    <p:anim calcmode="lin" valueType="num">
                                      <p:cBhvr additive="base">
                                        <p:cTn id="247" dur="500"/>
                                        <p:tgtEl>
                                          <p:spTgt spid="102489"/>
                                        </p:tgtEl>
                                        <p:attrNameLst>
                                          <p:attrName>ppt_y</p:attrName>
                                        </p:attrNameLst>
                                      </p:cBhvr>
                                      <p:tavLst>
                                        <p:tav tm="0">
                                          <p:val>
                                            <p:strVal val="ppt_y"/>
                                          </p:val>
                                        </p:tav>
                                        <p:tav tm="100000">
                                          <p:val>
                                            <p:strVal val="1+ppt_h/2"/>
                                          </p:val>
                                        </p:tav>
                                      </p:tavLst>
                                    </p:anim>
                                    <p:set>
                                      <p:cBhvr>
                                        <p:cTn id="248" dur="1" fill="hold">
                                          <p:stCondLst>
                                            <p:cond delay="499"/>
                                          </p:stCondLst>
                                        </p:cTn>
                                        <p:tgtEl>
                                          <p:spTgt spid="102489"/>
                                        </p:tgtEl>
                                        <p:attrNameLst>
                                          <p:attrName>style.visibility</p:attrName>
                                        </p:attrNameLst>
                                      </p:cBhvr>
                                      <p:to>
                                        <p:strVal val="hidden"/>
                                      </p:to>
                                    </p:set>
                                  </p:childTnLst>
                                </p:cTn>
                              </p:par>
                            </p:childTnLst>
                          </p:cTn>
                        </p:par>
                      </p:childTnLst>
                    </p:cTn>
                  </p:par>
                  <p:par>
                    <p:cTn id="249" fill="hold">
                      <p:stCondLst>
                        <p:cond delay="indefinite"/>
                      </p:stCondLst>
                      <p:childTnLst>
                        <p:par>
                          <p:cTn id="250" fill="hold">
                            <p:stCondLst>
                              <p:cond delay="0"/>
                            </p:stCondLst>
                            <p:childTnLst>
                              <p:par>
                                <p:cTn id="251" presetID="2" presetClass="entr" presetSubtype="4" fill="hold" grpId="0" nodeType="clickEffect">
                                  <p:stCondLst>
                                    <p:cond delay="0"/>
                                  </p:stCondLst>
                                  <p:childTnLst>
                                    <p:set>
                                      <p:cBhvr>
                                        <p:cTn id="252" dur="1" fill="hold">
                                          <p:stCondLst>
                                            <p:cond delay="0"/>
                                          </p:stCondLst>
                                        </p:cTn>
                                        <p:tgtEl>
                                          <p:spTgt spid="102466"/>
                                        </p:tgtEl>
                                        <p:attrNameLst>
                                          <p:attrName>style.visibility</p:attrName>
                                        </p:attrNameLst>
                                      </p:cBhvr>
                                      <p:to>
                                        <p:strVal val="visible"/>
                                      </p:to>
                                    </p:set>
                                    <p:anim calcmode="lin" valueType="num">
                                      <p:cBhvr additive="base">
                                        <p:cTn id="253" dur="500" fill="hold"/>
                                        <p:tgtEl>
                                          <p:spTgt spid="102466"/>
                                        </p:tgtEl>
                                        <p:attrNameLst>
                                          <p:attrName>ppt_x</p:attrName>
                                        </p:attrNameLst>
                                      </p:cBhvr>
                                      <p:tavLst>
                                        <p:tav tm="0">
                                          <p:val>
                                            <p:strVal val="#ppt_x"/>
                                          </p:val>
                                        </p:tav>
                                        <p:tav tm="100000">
                                          <p:val>
                                            <p:strVal val="#ppt_x"/>
                                          </p:val>
                                        </p:tav>
                                      </p:tavLst>
                                    </p:anim>
                                    <p:anim calcmode="lin" valueType="num">
                                      <p:cBhvr additive="base">
                                        <p:cTn id="254" dur="500" fill="hold"/>
                                        <p:tgtEl>
                                          <p:spTgt spid="102466"/>
                                        </p:tgtEl>
                                        <p:attrNameLst>
                                          <p:attrName>ppt_y</p:attrName>
                                        </p:attrNameLst>
                                      </p:cBhvr>
                                      <p:tavLst>
                                        <p:tav tm="0">
                                          <p:val>
                                            <p:strVal val="1+#ppt_h/2"/>
                                          </p:val>
                                        </p:tav>
                                        <p:tav tm="100000">
                                          <p:val>
                                            <p:strVal val="#ppt_y"/>
                                          </p:val>
                                        </p:tav>
                                      </p:tavLst>
                                    </p:anim>
                                  </p:childTnLst>
                                </p:cTn>
                              </p:par>
                            </p:childTnLst>
                          </p:cTn>
                        </p:par>
                      </p:childTnLst>
                    </p:cTn>
                  </p:par>
                  <p:par>
                    <p:cTn id="255" fill="hold">
                      <p:stCondLst>
                        <p:cond delay="indefinite"/>
                      </p:stCondLst>
                      <p:childTnLst>
                        <p:par>
                          <p:cTn id="256" fill="hold">
                            <p:stCondLst>
                              <p:cond delay="0"/>
                            </p:stCondLst>
                            <p:childTnLst>
                              <p:par>
                                <p:cTn id="257" presetID="2" presetClass="entr" presetSubtype="4" fill="hold" grpId="0" nodeType="clickEffect">
                                  <p:stCondLst>
                                    <p:cond delay="0"/>
                                  </p:stCondLst>
                                  <p:childTnLst>
                                    <p:set>
                                      <p:cBhvr>
                                        <p:cTn id="258" dur="1" fill="hold">
                                          <p:stCondLst>
                                            <p:cond delay="0"/>
                                          </p:stCondLst>
                                        </p:cTn>
                                        <p:tgtEl>
                                          <p:spTgt spid="102468"/>
                                        </p:tgtEl>
                                        <p:attrNameLst>
                                          <p:attrName>style.visibility</p:attrName>
                                        </p:attrNameLst>
                                      </p:cBhvr>
                                      <p:to>
                                        <p:strVal val="visible"/>
                                      </p:to>
                                    </p:set>
                                    <p:anim calcmode="lin" valueType="num">
                                      <p:cBhvr additive="base">
                                        <p:cTn id="259" dur="500" fill="hold"/>
                                        <p:tgtEl>
                                          <p:spTgt spid="102468"/>
                                        </p:tgtEl>
                                        <p:attrNameLst>
                                          <p:attrName>ppt_x</p:attrName>
                                        </p:attrNameLst>
                                      </p:cBhvr>
                                      <p:tavLst>
                                        <p:tav tm="0">
                                          <p:val>
                                            <p:strVal val="#ppt_x"/>
                                          </p:val>
                                        </p:tav>
                                        <p:tav tm="100000">
                                          <p:val>
                                            <p:strVal val="#ppt_x"/>
                                          </p:val>
                                        </p:tav>
                                      </p:tavLst>
                                    </p:anim>
                                    <p:anim calcmode="lin" valueType="num">
                                      <p:cBhvr additive="base">
                                        <p:cTn id="260" dur="500" fill="hold"/>
                                        <p:tgtEl>
                                          <p:spTgt spid="102468"/>
                                        </p:tgtEl>
                                        <p:attrNameLst>
                                          <p:attrName>ppt_y</p:attrName>
                                        </p:attrNameLst>
                                      </p:cBhvr>
                                      <p:tavLst>
                                        <p:tav tm="0">
                                          <p:val>
                                            <p:strVal val="1+#ppt_h/2"/>
                                          </p:val>
                                        </p:tav>
                                        <p:tav tm="100000">
                                          <p:val>
                                            <p:strVal val="#ppt_y"/>
                                          </p:val>
                                        </p:tav>
                                      </p:tavLst>
                                    </p:anim>
                                  </p:childTnLst>
                                </p:cTn>
                              </p:par>
                            </p:childTnLst>
                          </p:cTn>
                        </p:par>
                      </p:childTnLst>
                    </p:cTn>
                  </p:par>
                  <p:par>
                    <p:cTn id="261" fill="hold">
                      <p:stCondLst>
                        <p:cond delay="indefinite"/>
                      </p:stCondLst>
                      <p:childTnLst>
                        <p:par>
                          <p:cTn id="262" fill="hold">
                            <p:stCondLst>
                              <p:cond delay="0"/>
                            </p:stCondLst>
                            <p:childTnLst>
                              <p:par>
                                <p:cTn id="263" presetID="2" presetClass="entr" presetSubtype="4" fill="hold" grpId="0" nodeType="clickEffect">
                                  <p:stCondLst>
                                    <p:cond delay="0"/>
                                  </p:stCondLst>
                                  <p:childTnLst>
                                    <p:set>
                                      <p:cBhvr>
                                        <p:cTn id="264" dur="1" fill="hold">
                                          <p:stCondLst>
                                            <p:cond delay="0"/>
                                          </p:stCondLst>
                                        </p:cTn>
                                        <p:tgtEl>
                                          <p:spTgt spid="102467"/>
                                        </p:tgtEl>
                                        <p:attrNameLst>
                                          <p:attrName>style.visibility</p:attrName>
                                        </p:attrNameLst>
                                      </p:cBhvr>
                                      <p:to>
                                        <p:strVal val="visible"/>
                                      </p:to>
                                    </p:set>
                                    <p:anim calcmode="lin" valueType="num">
                                      <p:cBhvr additive="base">
                                        <p:cTn id="265" dur="500" fill="hold"/>
                                        <p:tgtEl>
                                          <p:spTgt spid="102467"/>
                                        </p:tgtEl>
                                        <p:attrNameLst>
                                          <p:attrName>ppt_x</p:attrName>
                                        </p:attrNameLst>
                                      </p:cBhvr>
                                      <p:tavLst>
                                        <p:tav tm="0">
                                          <p:val>
                                            <p:strVal val="#ppt_x"/>
                                          </p:val>
                                        </p:tav>
                                        <p:tav tm="100000">
                                          <p:val>
                                            <p:strVal val="#ppt_x"/>
                                          </p:val>
                                        </p:tav>
                                      </p:tavLst>
                                    </p:anim>
                                    <p:anim calcmode="lin" valueType="num">
                                      <p:cBhvr additive="base">
                                        <p:cTn id="266" dur="500" fill="hold"/>
                                        <p:tgtEl>
                                          <p:spTgt spid="102467"/>
                                        </p:tgtEl>
                                        <p:attrNameLst>
                                          <p:attrName>ppt_y</p:attrName>
                                        </p:attrNameLst>
                                      </p:cBhvr>
                                      <p:tavLst>
                                        <p:tav tm="0">
                                          <p:val>
                                            <p:strVal val="1+#ppt_h/2"/>
                                          </p:val>
                                        </p:tav>
                                        <p:tav tm="100000">
                                          <p:val>
                                            <p:strVal val="#ppt_y"/>
                                          </p:val>
                                        </p:tav>
                                      </p:tavLst>
                                    </p:anim>
                                  </p:childTnLst>
                                </p:cTn>
                              </p:par>
                            </p:childTnLst>
                          </p:cTn>
                        </p:par>
                      </p:childTnLst>
                    </p:cTn>
                  </p:par>
                  <p:par>
                    <p:cTn id="267" fill="hold">
                      <p:stCondLst>
                        <p:cond delay="indefinite"/>
                      </p:stCondLst>
                      <p:childTnLst>
                        <p:par>
                          <p:cTn id="268" fill="hold">
                            <p:stCondLst>
                              <p:cond delay="0"/>
                            </p:stCondLst>
                            <p:childTnLst>
                              <p:par>
                                <p:cTn id="269" presetID="2" presetClass="entr" presetSubtype="4" fill="hold" grpId="0" nodeType="clickEffect">
                                  <p:stCondLst>
                                    <p:cond delay="0"/>
                                  </p:stCondLst>
                                  <p:childTnLst>
                                    <p:set>
                                      <p:cBhvr>
                                        <p:cTn id="270" dur="1" fill="hold">
                                          <p:stCondLst>
                                            <p:cond delay="0"/>
                                          </p:stCondLst>
                                        </p:cTn>
                                        <p:tgtEl>
                                          <p:spTgt spid="102496"/>
                                        </p:tgtEl>
                                        <p:attrNameLst>
                                          <p:attrName>style.visibility</p:attrName>
                                        </p:attrNameLst>
                                      </p:cBhvr>
                                      <p:to>
                                        <p:strVal val="visible"/>
                                      </p:to>
                                    </p:set>
                                    <p:anim calcmode="lin" valueType="num">
                                      <p:cBhvr additive="base">
                                        <p:cTn id="271" dur="500" fill="hold"/>
                                        <p:tgtEl>
                                          <p:spTgt spid="102496"/>
                                        </p:tgtEl>
                                        <p:attrNameLst>
                                          <p:attrName>ppt_x</p:attrName>
                                        </p:attrNameLst>
                                      </p:cBhvr>
                                      <p:tavLst>
                                        <p:tav tm="0">
                                          <p:val>
                                            <p:strVal val="#ppt_x"/>
                                          </p:val>
                                        </p:tav>
                                        <p:tav tm="100000">
                                          <p:val>
                                            <p:strVal val="#ppt_x"/>
                                          </p:val>
                                        </p:tav>
                                      </p:tavLst>
                                    </p:anim>
                                    <p:anim calcmode="lin" valueType="num">
                                      <p:cBhvr additive="base">
                                        <p:cTn id="272" dur="500" fill="hold"/>
                                        <p:tgtEl>
                                          <p:spTgt spid="102496"/>
                                        </p:tgtEl>
                                        <p:attrNameLst>
                                          <p:attrName>ppt_y</p:attrName>
                                        </p:attrNameLst>
                                      </p:cBhvr>
                                      <p:tavLst>
                                        <p:tav tm="0">
                                          <p:val>
                                            <p:strVal val="1+#ppt_h/2"/>
                                          </p:val>
                                        </p:tav>
                                        <p:tav tm="100000">
                                          <p:val>
                                            <p:strVal val="#ppt_y"/>
                                          </p:val>
                                        </p:tav>
                                      </p:tavLst>
                                    </p:anim>
                                  </p:childTnLst>
                                </p:cTn>
                              </p:par>
                            </p:childTnLst>
                          </p:cTn>
                        </p:par>
                      </p:childTnLst>
                    </p:cTn>
                  </p:par>
                  <p:par>
                    <p:cTn id="273" fill="hold">
                      <p:stCondLst>
                        <p:cond delay="indefinite"/>
                      </p:stCondLst>
                      <p:childTnLst>
                        <p:par>
                          <p:cTn id="274" fill="hold">
                            <p:stCondLst>
                              <p:cond delay="0"/>
                            </p:stCondLst>
                            <p:childTnLst>
                              <p:par>
                                <p:cTn id="275" presetID="2" presetClass="entr" presetSubtype="4" fill="hold" grpId="0" nodeType="clickEffect">
                                  <p:stCondLst>
                                    <p:cond delay="0"/>
                                  </p:stCondLst>
                                  <p:childTnLst>
                                    <p:set>
                                      <p:cBhvr>
                                        <p:cTn id="276" dur="1" fill="hold">
                                          <p:stCondLst>
                                            <p:cond delay="0"/>
                                          </p:stCondLst>
                                        </p:cTn>
                                        <p:tgtEl>
                                          <p:spTgt spid="102469"/>
                                        </p:tgtEl>
                                        <p:attrNameLst>
                                          <p:attrName>style.visibility</p:attrName>
                                        </p:attrNameLst>
                                      </p:cBhvr>
                                      <p:to>
                                        <p:strVal val="visible"/>
                                      </p:to>
                                    </p:set>
                                    <p:anim calcmode="lin" valueType="num">
                                      <p:cBhvr additive="base">
                                        <p:cTn id="277" dur="500" fill="hold"/>
                                        <p:tgtEl>
                                          <p:spTgt spid="102469"/>
                                        </p:tgtEl>
                                        <p:attrNameLst>
                                          <p:attrName>ppt_x</p:attrName>
                                        </p:attrNameLst>
                                      </p:cBhvr>
                                      <p:tavLst>
                                        <p:tav tm="0">
                                          <p:val>
                                            <p:strVal val="#ppt_x"/>
                                          </p:val>
                                        </p:tav>
                                        <p:tav tm="100000">
                                          <p:val>
                                            <p:strVal val="#ppt_x"/>
                                          </p:val>
                                        </p:tav>
                                      </p:tavLst>
                                    </p:anim>
                                    <p:anim calcmode="lin" valueType="num">
                                      <p:cBhvr additive="base">
                                        <p:cTn id="278" dur="500" fill="hold"/>
                                        <p:tgtEl>
                                          <p:spTgt spid="102469"/>
                                        </p:tgtEl>
                                        <p:attrNameLst>
                                          <p:attrName>ppt_y</p:attrName>
                                        </p:attrNameLst>
                                      </p:cBhvr>
                                      <p:tavLst>
                                        <p:tav tm="0">
                                          <p:val>
                                            <p:strVal val="1+#ppt_h/2"/>
                                          </p:val>
                                        </p:tav>
                                        <p:tav tm="100000">
                                          <p:val>
                                            <p:strVal val="#ppt_y"/>
                                          </p:val>
                                        </p:tav>
                                      </p:tavLst>
                                    </p:anim>
                                  </p:childTnLst>
                                </p:cTn>
                              </p:par>
                            </p:childTnLst>
                          </p:cTn>
                        </p:par>
                      </p:childTnLst>
                    </p:cTn>
                  </p:par>
                  <p:par>
                    <p:cTn id="279" fill="hold">
                      <p:stCondLst>
                        <p:cond delay="indefinite"/>
                      </p:stCondLst>
                      <p:childTnLst>
                        <p:par>
                          <p:cTn id="280" fill="hold">
                            <p:stCondLst>
                              <p:cond delay="0"/>
                            </p:stCondLst>
                            <p:childTnLst>
                              <p:par>
                                <p:cTn id="281" presetID="2" presetClass="entr" presetSubtype="4" fill="hold" grpId="0" nodeType="clickEffect">
                                  <p:stCondLst>
                                    <p:cond delay="0"/>
                                  </p:stCondLst>
                                  <p:childTnLst>
                                    <p:set>
                                      <p:cBhvr>
                                        <p:cTn id="282" dur="1" fill="hold">
                                          <p:stCondLst>
                                            <p:cond delay="0"/>
                                          </p:stCondLst>
                                        </p:cTn>
                                        <p:tgtEl>
                                          <p:spTgt spid="102470"/>
                                        </p:tgtEl>
                                        <p:attrNameLst>
                                          <p:attrName>style.visibility</p:attrName>
                                        </p:attrNameLst>
                                      </p:cBhvr>
                                      <p:to>
                                        <p:strVal val="visible"/>
                                      </p:to>
                                    </p:set>
                                    <p:anim calcmode="lin" valueType="num">
                                      <p:cBhvr additive="base">
                                        <p:cTn id="283" dur="500" fill="hold"/>
                                        <p:tgtEl>
                                          <p:spTgt spid="102470"/>
                                        </p:tgtEl>
                                        <p:attrNameLst>
                                          <p:attrName>ppt_x</p:attrName>
                                        </p:attrNameLst>
                                      </p:cBhvr>
                                      <p:tavLst>
                                        <p:tav tm="0">
                                          <p:val>
                                            <p:strVal val="#ppt_x"/>
                                          </p:val>
                                        </p:tav>
                                        <p:tav tm="100000">
                                          <p:val>
                                            <p:strVal val="#ppt_x"/>
                                          </p:val>
                                        </p:tav>
                                      </p:tavLst>
                                    </p:anim>
                                    <p:anim calcmode="lin" valueType="num">
                                      <p:cBhvr additive="base">
                                        <p:cTn id="284" dur="500" fill="hold"/>
                                        <p:tgtEl>
                                          <p:spTgt spid="102470"/>
                                        </p:tgtEl>
                                        <p:attrNameLst>
                                          <p:attrName>ppt_y</p:attrName>
                                        </p:attrNameLst>
                                      </p:cBhvr>
                                      <p:tavLst>
                                        <p:tav tm="0">
                                          <p:val>
                                            <p:strVal val="1+#ppt_h/2"/>
                                          </p:val>
                                        </p:tav>
                                        <p:tav tm="100000">
                                          <p:val>
                                            <p:strVal val="#ppt_y"/>
                                          </p:val>
                                        </p:tav>
                                      </p:tavLst>
                                    </p:anim>
                                  </p:childTnLst>
                                </p:cTn>
                              </p:par>
                            </p:childTnLst>
                          </p:cTn>
                        </p:par>
                      </p:childTnLst>
                    </p:cTn>
                  </p:par>
                  <p:par>
                    <p:cTn id="285" fill="hold">
                      <p:stCondLst>
                        <p:cond delay="indefinite"/>
                      </p:stCondLst>
                      <p:childTnLst>
                        <p:par>
                          <p:cTn id="286" fill="hold">
                            <p:stCondLst>
                              <p:cond delay="0"/>
                            </p:stCondLst>
                            <p:childTnLst>
                              <p:par>
                                <p:cTn id="287" presetID="2" presetClass="entr" presetSubtype="4" fill="hold" grpId="0" nodeType="clickEffect">
                                  <p:stCondLst>
                                    <p:cond delay="0"/>
                                  </p:stCondLst>
                                  <p:childTnLst>
                                    <p:set>
                                      <p:cBhvr>
                                        <p:cTn id="288" dur="1" fill="hold">
                                          <p:stCondLst>
                                            <p:cond delay="0"/>
                                          </p:stCondLst>
                                        </p:cTn>
                                        <p:tgtEl>
                                          <p:spTgt spid="102497"/>
                                        </p:tgtEl>
                                        <p:attrNameLst>
                                          <p:attrName>style.visibility</p:attrName>
                                        </p:attrNameLst>
                                      </p:cBhvr>
                                      <p:to>
                                        <p:strVal val="visible"/>
                                      </p:to>
                                    </p:set>
                                    <p:anim calcmode="lin" valueType="num">
                                      <p:cBhvr additive="base">
                                        <p:cTn id="289" dur="500" fill="hold"/>
                                        <p:tgtEl>
                                          <p:spTgt spid="102497"/>
                                        </p:tgtEl>
                                        <p:attrNameLst>
                                          <p:attrName>ppt_x</p:attrName>
                                        </p:attrNameLst>
                                      </p:cBhvr>
                                      <p:tavLst>
                                        <p:tav tm="0">
                                          <p:val>
                                            <p:strVal val="#ppt_x"/>
                                          </p:val>
                                        </p:tav>
                                        <p:tav tm="100000">
                                          <p:val>
                                            <p:strVal val="#ppt_x"/>
                                          </p:val>
                                        </p:tav>
                                      </p:tavLst>
                                    </p:anim>
                                    <p:anim calcmode="lin" valueType="num">
                                      <p:cBhvr additive="base">
                                        <p:cTn id="290" dur="500" fill="hold"/>
                                        <p:tgtEl>
                                          <p:spTgt spid="102497"/>
                                        </p:tgtEl>
                                        <p:attrNameLst>
                                          <p:attrName>ppt_y</p:attrName>
                                        </p:attrNameLst>
                                      </p:cBhvr>
                                      <p:tavLst>
                                        <p:tav tm="0">
                                          <p:val>
                                            <p:strVal val="1+#ppt_h/2"/>
                                          </p:val>
                                        </p:tav>
                                        <p:tav tm="100000">
                                          <p:val>
                                            <p:strVal val="#ppt_y"/>
                                          </p:val>
                                        </p:tav>
                                      </p:tavLst>
                                    </p:anim>
                                  </p:childTnLst>
                                </p:cTn>
                              </p:par>
                            </p:childTnLst>
                          </p:cTn>
                        </p:par>
                      </p:childTnLst>
                    </p:cTn>
                  </p:par>
                  <p:par>
                    <p:cTn id="291" fill="hold">
                      <p:stCondLst>
                        <p:cond delay="indefinite"/>
                      </p:stCondLst>
                      <p:childTnLst>
                        <p:par>
                          <p:cTn id="292" fill="hold">
                            <p:stCondLst>
                              <p:cond delay="0"/>
                            </p:stCondLst>
                            <p:childTnLst>
                              <p:par>
                                <p:cTn id="293" presetID="2" presetClass="entr" presetSubtype="4" fill="hold" grpId="0" nodeType="clickEffect">
                                  <p:stCondLst>
                                    <p:cond delay="0"/>
                                  </p:stCondLst>
                                  <p:childTnLst>
                                    <p:set>
                                      <p:cBhvr>
                                        <p:cTn id="294" dur="1" fill="hold">
                                          <p:stCondLst>
                                            <p:cond delay="0"/>
                                          </p:stCondLst>
                                        </p:cTn>
                                        <p:tgtEl>
                                          <p:spTgt spid="102471"/>
                                        </p:tgtEl>
                                        <p:attrNameLst>
                                          <p:attrName>style.visibility</p:attrName>
                                        </p:attrNameLst>
                                      </p:cBhvr>
                                      <p:to>
                                        <p:strVal val="visible"/>
                                      </p:to>
                                    </p:set>
                                    <p:anim calcmode="lin" valueType="num">
                                      <p:cBhvr additive="base">
                                        <p:cTn id="295" dur="500" fill="hold"/>
                                        <p:tgtEl>
                                          <p:spTgt spid="102471"/>
                                        </p:tgtEl>
                                        <p:attrNameLst>
                                          <p:attrName>ppt_x</p:attrName>
                                        </p:attrNameLst>
                                      </p:cBhvr>
                                      <p:tavLst>
                                        <p:tav tm="0">
                                          <p:val>
                                            <p:strVal val="#ppt_x"/>
                                          </p:val>
                                        </p:tav>
                                        <p:tav tm="100000">
                                          <p:val>
                                            <p:strVal val="#ppt_x"/>
                                          </p:val>
                                        </p:tav>
                                      </p:tavLst>
                                    </p:anim>
                                    <p:anim calcmode="lin" valueType="num">
                                      <p:cBhvr additive="base">
                                        <p:cTn id="296" dur="500" fill="hold"/>
                                        <p:tgtEl>
                                          <p:spTgt spid="102471"/>
                                        </p:tgtEl>
                                        <p:attrNameLst>
                                          <p:attrName>ppt_y</p:attrName>
                                        </p:attrNameLst>
                                      </p:cBhvr>
                                      <p:tavLst>
                                        <p:tav tm="0">
                                          <p:val>
                                            <p:strVal val="1+#ppt_h/2"/>
                                          </p:val>
                                        </p:tav>
                                        <p:tav tm="100000">
                                          <p:val>
                                            <p:strVal val="#ppt_y"/>
                                          </p:val>
                                        </p:tav>
                                      </p:tavLst>
                                    </p:anim>
                                  </p:childTnLst>
                                </p:cTn>
                              </p:par>
                            </p:childTnLst>
                          </p:cTn>
                        </p:par>
                      </p:childTnLst>
                    </p:cTn>
                  </p:par>
                  <p:par>
                    <p:cTn id="297" fill="hold">
                      <p:stCondLst>
                        <p:cond delay="indefinite"/>
                      </p:stCondLst>
                      <p:childTnLst>
                        <p:par>
                          <p:cTn id="298" fill="hold">
                            <p:stCondLst>
                              <p:cond delay="0"/>
                            </p:stCondLst>
                            <p:childTnLst>
                              <p:par>
                                <p:cTn id="299" presetID="2" presetClass="exit" presetSubtype="4" fill="hold" grpId="1" nodeType="clickEffect">
                                  <p:stCondLst>
                                    <p:cond delay="0"/>
                                  </p:stCondLst>
                                  <p:childTnLst>
                                    <p:anim calcmode="lin" valueType="num">
                                      <p:cBhvr additive="base">
                                        <p:cTn id="300" dur="500"/>
                                        <p:tgtEl>
                                          <p:spTgt spid="102490"/>
                                        </p:tgtEl>
                                        <p:attrNameLst>
                                          <p:attrName>ppt_x</p:attrName>
                                        </p:attrNameLst>
                                      </p:cBhvr>
                                      <p:tavLst>
                                        <p:tav tm="0">
                                          <p:val>
                                            <p:strVal val="ppt_x"/>
                                          </p:val>
                                        </p:tav>
                                        <p:tav tm="100000">
                                          <p:val>
                                            <p:strVal val="ppt_x"/>
                                          </p:val>
                                        </p:tav>
                                      </p:tavLst>
                                    </p:anim>
                                    <p:anim calcmode="lin" valueType="num">
                                      <p:cBhvr additive="base">
                                        <p:cTn id="301" dur="500"/>
                                        <p:tgtEl>
                                          <p:spTgt spid="102490"/>
                                        </p:tgtEl>
                                        <p:attrNameLst>
                                          <p:attrName>ppt_y</p:attrName>
                                        </p:attrNameLst>
                                      </p:cBhvr>
                                      <p:tavLst>
                                        <p:tav tm="0">
                                          <p:val>
                                            <p:strVal val="ppt_y"/>
                                          </p:val>
                                        </p:tav>
                                        <p:tav tm="100000">
                                          <p:val>
                                            <p:strVal val="1+ppt_h/2"/>
                                          </p:val>
                                        </p:tav>
                                      </p:tavLst>
                                    </p:anim>
                                    <p:set>
                                      <p:cBhvr>
                                        <p:cTn id="302" dur="1" fill="hold">
                                          <p:stCondLst>
                                            <p:cond delay="499"/>
                                          </p:stCondLst>
                                        </p:cTn>
                                        <p:tgtEl>
                                          <p:spTgt spid="102490"/>
                                        </p:tgtEl>
                                        <p:attrNameLst>
                                          <p:attrName>style.visibility</p:attrName>
                                        </p:attrNameLst>
                                      </p:cBhvr>
                                      <p:to>
                                        <p:strVal val="hidden"/>
                                      </p:to>
                                    </p:set>
                                  </p:childTnLst>
                                </p:cTn>
                              </p:par>
                            </p:childTnLst>
                          </p:cTn>
                        </p:par>
                      </p:childTnLst>
                    </p:cTn>
                  </p:par>
                  <p:par>
                    <p:cTn id="303" fill="hold">
                      <p:stCondLst>
                        <p:cond delay="indefinite"/>
                      </p:stCondLst>
                      <p:childTnLst>
                        <p:par>
                          <p:cTn id="304" fill="hold">
                            <p:stCondLst>
                              <p:cond delay="0"/>
                            </p:stCondLst>
                            <p:childTnLst>
                              <p:par>
                                <p:cTn id="305" presetID="2" presetClass="entr" presetSubtype="4" fill="hold" grpId="0" nodeType="clickEffect">
                                  <p:stCondLst>
                                    <p:cond delay="0"/>
                                  </p:stCondLst>
                                  <p:childTnLst>
                                    <p:set>
                                      <p:cBhvr>
                                        <p:cTn id="306" dur="1" fill="hold">
                                          <p:stCondLst>
                                            <p:cond delay="0"/>
                                          </p:stCondLst>
                                        </p:cTn>
                                        <p:tgtEl>
                                          <p:spTgt spid="102472"/>
                                        </p:tgtEl>
                                        <p:attrNameLst>
                                          <p:attrName>style.visibility</p:attrName>
                                        </p:attrNameLst>
                                      </p:cBhvr>
                                      <p:to>
                                        <p:strVal val="visible"/>
                                      </p:to>
                                    </p:set>
                                    <p:anim calcmode="lin" valueType="num">
                                      <p:cBhvr additive="base">
                                        <p:cTn id="307" dur="500" fill="hold"/>
                                        <p:tgtEl>
                                          <p:spTgt spid="102472"/>
                                        </p:tgtEl>
                                        <p:attrNameLst>
                                          <p:attrName>ppt_x</p:attrName>
                                        </p:attrNameLst>
                                      </p:cBhvr>
                                      <p:tavLst>
                                        <p:tav tm="0">
                                          <p:val>
                                            <p:strVal val="#ppt_x"/>
                                          </p:val>
                                        </p:tav>
                                        <p:tav tm="100000">
                                          <p:val>
                                            <p:strVal val="#ppt_x"/>
                                          </p:val>
                                        </p:tav>
                                      </p:tavLst>
                                    </p:anim>
                                    <p:anim calcmode="lin" valueType="num">
                                      <p:cBhvr additive="base">
                                        <p:cTn id="308" dur="500" fill="hold"/>
                                        <p:tgtEl>
                                          <p:spTgt spid="102472"/>
                                        </p:tgtEl>
                                        <p:attrNameLst>
                                          <p:attrName>ppt_y</p:attrName>
                                        </p:attrNameLst>
                                      </p:cBhvr>
                                      <p:tavLst>
                                        <p:tav tm="0">
                                          <p:val>
                                            <p:strVal val="1+#ppt_h/2"/>
                                          </p:val>
                                        </p:tav>
                                        <p:tav tm="100000">
                                          <p:val>
                                            <p:strVal val="#ppt_y"/>
                                          </p:val>
                                        </p:tav>
                                      </p:tavLst>
                                    </p:anim>
                                  </p:childTnLst>
                                </p:cTn>
                              </p:par>
                            </p:childTnLst>
                          </p:cTn>
                        </p:par>
                      </p:childTnLst>
                    </p:cTn>
                  </p:par>
                  <p:par>
                    <p:cTn id="309" fill="hold">
                      <p:stCondLst>
                        <p:cond delay="indefinite"/>
                      </p:stCondLst>
                      <p:childTnLst>
                        <p:par>
                          <p:cTn id="310" fill="hold">
                            <p:stCondLst>
                              <p:cond delay="0"/>
                            </p:stCondLst>
                            <p:childTnLst>
                              <p:par>
                                <p:cTn id="311" presetID="2" presetClass="entr" presetSubtype="4" fill="hold" grpId="0" nodeType="clickEffect">
                                  <p:stCondLst>
                                    <p:cond delay="0"/>
                                  </p:stCondLst>
                                  <p:childTnLst>
                                    <p:set>
                                      <p:cBhvr>
                                        <p:cTn id="312" dur="1" fill="hold">
                                          <p:stCondLst>
                                            <p:cond delay="0"/>
                                          </p:stCondLst>
                                        </p:cTn>
                                        <p:tgtEl>
                                          <p:spTgt spid="102474"/>
                                        </p:tgtEl>
                                        <p:attrNameLst>
                                          <p:attrName>style.visibility</p:attrName>
                                        </p:attrNameLst>
                                      </p:cBhvr>
                                      <p:to>
                                        <p:strVal val="visible"/>
                                      </p:to>
                                    </p:set>
                                    <p:anim calcmode="lin" valueType="num">
                                      <p:cBhvr additive="base">
                                        <p:cTn id="313" dur="500" fill="hold"/>
                                        <p:tgtEl>
                                          <p:spTgt spid="102474"/>
                                        </p:tgtEl>
                                        <p:attrNameLst>
                                          <p:attrName>ppt_x</p:attrName>
                                        </p:attrNameLst>
                                      </p:cBhvr>
                                      <p:tavLst>
                                        <p:tav tm="0">
                                          <p:val>
                                            <p:strVal val="#ppt_x"/>
                                          </p:val>
                                        </p:tav>
                                        <p:tav tm="100000">
                                          <p:val>
                                            <p:strVal val="#ppt_x"/>
                                          </p:val>
                                        </p:tav>
                                      </p:tavLst>
                                    </p:anim>
                                    <p:anim calcmode="lin" valueType="num">
                                      <p:cBhvr additive="base">
                                        <p:cTn id="314" dur="500" fill="hold"/>
                                        <p:tgtEl>
                                          <p:spTgt spid="102474"/>
                                        </p:tgtEl>
                                        <p:attrNameLst>
                                          <p:attrName>ppt_y</p:attrName>
                                        </p:attrNameLst>
                                      </p:cBhvr>
                                      <p:tavLst>
                                        <p:tav tm="0">
                                          <p:val>
                                            <p:strVal val="1+#ppt_h/2"/>
                                          </p:val>
                                        </p:tav>
                                        <p:tav tm="100000">
                                          <p:val>
                                            <p:strVal val="#ppt_y"/>
                                          </p:val>
                                        </p:tav>
                                      </p:tavLst>
                                    </p:anim>
                                  </p:childTnLst>
                                </p:cTn>
                              </p:par>
                            </p:childTnLst>
                          </p:cTn>
                        </p:par>
                      </p:childTnLst>
                    </p:cTn>
                  </p:par>
                  <p:par>
                    <p:cTn id="315" fill="hold">
                      <p:stCondLst>
                        <p:cond delay="indefinite"/>
                      </p:stCondLst>
                      <p:childTnLst>
                        <p:par>
                          <p:cTn id="316" fill="hold">
                            <p:stCondLst>
                              <p:cond delay="0"/>
                            </p:stCondLst>
                            <p:childTnLst>
                              <p:par>
                                <p:cTn id="317" presetID="2" presetClass="entr" presetSubtype="4" fill="hold" grpId="0" nodeType="clickEffect">
                                  <p:stCondLst>
                                    <p:cond delay="0"/>
                                  </p:stCondLst>
                                  <p:childTnLst>
                                    <p:set>
                                      <p:cBhvr>
                                        <p:cTn id="318" dur="1" fill="hold">
                                          <p:stCondLst>
                                            <p:cond delay="0"/>
                                          </p:stCondLst>
                                        </p:cTn>
                                        <p:tgtEl>
                                          <p:spTgt spid="102473"/>
                                        </p:tgtEl>
                                        <p:attrNameLst>
                                          <p:attrName>style.visibility</p:attrName>
                                        </p:attrNameLst>
                                      </p:cBhvr>
                                      <p:to>
                                        <p:strVal val="visible"/>
                                      </p:to>
                                    </p:set>
                                    <p:anim calcmode="lin" valueType="num">
                                      <p:cBhvr additive="base">
                                        <p:cTn id="319" dur="500" fill="hold"/>
                                        <p:tgtEl>
                                          <p:spTgt spid="102473"/>
                                        </p:tgtEl>
                                        <p:attrNameLst>
                                          <p:attrName>ppt_x</p:attrName>
                                        </p:attrNameLst>
                                      </p:cBhvr>
                                      <p:tavLst>
                                        <p:tav tm="0">
                                          <p:val>
                                            <p:strVal val="#ppt_x"/>
                                          </p:val>
                                        </p:tav>
                                        <p:tav tm="100000">
                                          <p:val>
                                            <p:strVal val="#ppt_x"/>
                                          </p:val>
                                        </p:tav>
                                      </p:tavLst>
                                    </p:anim>
                                    <p:anim calcmode="lin" valueType="num">
                                      <p:cBhvr additive="base">
                                        <p:cTn id="320" dur="500" fill="hold"/>
                                        <p:tgtEl>
                                          <p:spTgt spid="102473"/>
                                        </p:tgtEl>
                                        <p:attrNameLst>
                                          <p:attrName>ppt_y</p:attrName>
                                        </p:attrNameLst>
                                      </p:cBhvr>
                                      <p:tavLst>
                                        <p:tav tm="0">
                                          <p:val>
                                            <p:strVal val="1+#ppt_h/2"/>
                                          </p:val>
                                        </p:tav>
                                        <p:tav tm="100000">
                                          <p:val>
                                            <p:strVal val="#ppt_y"/>
                                          </p:val>
                                        </p:tav>
                                      </p:tavLst>
                                    </p:anim>
                                  </p:childTnLst>
                                </p:cTn>
                              </p:par>
                            </p:childTnLst>
                          </p:cTn>
                        </p:par>
                      </p:childTnLst>
                    </p:cTn>
                  </p:par>
                  <p:par>
                    <p:cTn id="321" fill="hold">
                      <p:stCondLst>
                        <p:cond delay="indefinite"/>
                      </p:stCondLst>
                      <p:childTnLst>
                        <p:par>
                          <p:cTn id="322" fill="hold">
                            <p:stCondLst>
                              <p:cond delay="0"/>
                            </p:stCondLst>
                            <p:childTnLst>
                              <p:par>
                                <p:cTn id="323" presetID="2" presetClass="entr" presetSubtype="4" fill="hold" grpId="0" nodeType="clickEffect">
                                  <p:stCondLst>
                                    <p:cond delay="0"/>
                                  </p:stCondLst>
                                  <p:childTnLst>
                                    <p:set>
                                      <p:cBhvr>
                                        <p:cTn id="324" dur="1" fill="hold">
                                          <p:stCondLst>
                                            <p:cond delay="0"/>
                                          </p:stCondLst>
                                        </p:cTn>
                                        <p:tgtEl>
                                          <p:spTgt spid="102498"/>
                                        </p:tgtEl>
                                        <p:attrNameLst>
                                          <p:attrName>style.visibility</p:attrName>
                                        </p:attrNameLst>
                                      </p:cBhvr>
                                      <p:to>
                                        <p:strVal val="visible"/>
                                      </p:to>
                                    </p:set>
                                    <p:anim calcmode="lin" valueType="num">
                                      <p:cBhvr additive="base">
                                        <p:cTn id="325" dur="500" fill="hold"/>
                                        <p:tgtEl>
                                          <p:spTgt spid="102498"/>
                                        </p:tgtEl>
                                        <p:attrNameLst>
                                          <p:attrName>ppt_x</p:attrName>
                                        </p:attrNameLst>
                                      </p:cBhvr>
                                      <p:tavLst>
                                        <p:tav tm="0">
                                          <p:val>
                                            <p:strVal val="#ppt_x"/>
                                          </p:val>
                                        </p:tav>
                                        <p:tav tm="100000">
                                          <p:val>
                                            <p:strVal val="#ppt_x"/>
                                          </p:val>
                                        </p:tav>
                                      </p:tavLst>
                                    </p:anim>
                                    <p:anim calcmode="lin" valueType="num">
                                      <p:cBhvr additive="base">
                                        <p:cTn id="326" dur="500" fill="hold"/>
                                        <p:tgtEl>
                                          <p:spTgt spid="102498"/>
                                        </p:tgtEl>
                                        <p:attrNameLst>
                                          <p:attrName>ppt_y</p:attrName>
                                        </p:attrNameLst>
                                      </p:cBhvr>
                                      <p:tavLst>
                                        <p:tav tm="0">
                                          <p:val>
                                            <p:strVal val="1+#ppt_h/2"/>
                                          </p:val>
                                        </p:tav>
                                        <p:tav tm="100000">
                                          <p:val>
                                            <p:strVal val="#ppt_y"/>
                                          </p:val>
                                        </p:tav>
                                      </p:tavLst>
                                    </p:anim>
                                  </p:childTnLst>
                                </p:cTn>
                              </p:par>
                            </p:childTnLst>
                          </p:cTn>
                        </p:par>
                      </p:childTnLst>
                    </p:cTn>
                  </p:par>
                  <p:par>
                    <p:cTn id="327" fill="hold">
                      <p:stCondLst>
                        <p:cond delay="indefinite"/>
                      </p:stCondLst>
                      <p:childTnLst>
                        <p:par>
                          <p:cTn id="328" fill="hold">
                            <p:stCondLst>
                              <p:cond delay="0"/>
                            </p:stCondLst>
                            <p:childTnLst>
                              <p:par>
                                <p:cTn id="329" presetID="2" presetClass="entr" presetSubtype="4" fill="hold" grpId="0" nodeType="clickEffect">
                                  <p:stCondLst>
                                    <p:cond delay="0"/>
                                  </p:stCondLst>
                                  <p:childTnLst>
                                    <p:set>
                                      <p:cBhvr>
                                        <p:cTn id="330" dur="1" fill="hold">
                                          <p:stCondLst>
                                            <p:cond delay="0"/>
                                          </p:stCondLst>
                                        </p:cTn>
                                        <p:tgtEl>
                                          <p:spTgt spid="102475"/>
                                        </p:tgtEl>
                                        <p:attrNameLst>
                                          <p:attrName>style.visibility</p:attrName>
                                        </p:attrNameLst>
                                      </p:cBhvr>
                                      <p:to>
                                        <p:strVal val="visible"/>
                                      </p:to>
                                    </p:set>
                                    <p:anim calcmode="lin" valueType="num">
                                      <p:cBhvr additive="base">
                                        <p:cTn id="331" dur="500" fill="hold"/>
                                        <p:tgtEl>
                                          <p:spTgt spid="102475"/>
                                        </p:tgtEl>
                                        <p:attrNameLst>
                                          <p:attrName>ppt_x</p:attrName>
                                        </p:attrNameLst>
                                      </p:cBhvr>
                                      <p:tavLst>
                                        <p:tav tm="0">
                                          <p:val>
                                            <p:strVal val="#ppt_x"/>
                                          </p:val>
                                        </p:tav>
                                        <p:tav tm="100000">
                                          <p:val>
                                            <p:strVal val="#ppt_x"/>
                                          </p:val>
                                        </p:tav>
                                      </p:tavLst>
                                    </p:anim>
                                    <p:anim calcmode="lin" valueType="num">
                                      <p:cBhvr additive="base">
                                        <p:cTn id="332" dur="500" fill="hold"/>
                                        <p:tgtEl>
                                          <p:spTgt spid="102475"/>
                                        </p:tgtEl>
                                        <p:attrNameLst>
                                          <p:attrName>ppt_y</p:attrName>
                                        </p:attrNameLst>
                                      </p:cBhvr>
                                      <p:tavLst>
                                        <p:tav tm="0">
                                          <p:val>
                                            <p:strVal val="1+#ppt_h/2"/>
                                          </p:val>
                                        </p:tav>
                                        <p:tav tm="100000">
                                          <p:val>
                                            <p:strVal val="#ppt_y"/>
                                          </p:val>
                                        </p:tav>
                                      </p:tavLst>
                                    </p:anim>
                                  </p:childTnLst>
                                </p:cTn>
                              </p:par>
                            </p:childTnLst>
                          </p:cTn>
                        </p:par>
                      </p:childTnLst>
                    </p:cTn>
                  </p:par>
                  <p:par>
                    <p:cTn id="333" fill="hold">
                      <p:stCondLst>
                        <p:cond delay="indefinite"/>
                      </p:stCondLst>
                      <p:childTnLst>
                        <p:par>
                          <p:cTn id="334" fill="hold">
                            <p:stCondLst>
                              <p:cond delay="0"/>
                            </p:stCondLst>
                            <p:childTnLst>
                              <p:par>
                                <p:cTn id="335" presetID="2" presetClass="entr" presetSubtype="4" fill="hold" grpId="0" nodeType="clickEffect">
                                  <p:stCondLst>
                                    <p:cond delay="0"/>
                                  </p:stCondLst>
                                  <p:childTnLst>
                                    <p:set>
                                      <p:cBhvr>
                                        <p:cTn id="336" dur="1" fill="hold">
                                          <p:stCondLst>
                                            <p:cond delay="0"/>
                                          </p:stCondLst>
                                        </p:cTn>
                                        <p:tgtEl>
                                          <p:spTgt spid="102476"/>
                                        </p:tgtEl>
                                        <p:attrNameLst>
                                          <p:attrName>style.visibility</p:attrName>
                                        </p:attrNameLst>
                                      </p:cBhvr>
                                      <p:to>
                                        <p:strVal val="visible"/>
                                      </p:to>
                                    </p:set>
                                    <p:anim calcmode="lin" valueType="num">
                                      <p:cBhvr additive="base">
                                        <p:cTn id="337" dur="500" fill="hold"/>
                                        <p:tgtEl>
                                          <p:spTgt spid="102476"/>
                                        </p:tgtEl>
                                        <p:attrNameLst>
                                          <p:attrName>ppt_x</p:attrName>
                                        </p:attrNameLst>
                                      </p:cBhvr>
                                      <p:tavLst>
                                        <p:tav tm="0">
                                          <p:val>
                                            <p:strVal val="#ppt_x"/>
                                          </p:val>
                                        </p:tav>
                                        <p:tav tm="100000">
                                          <p:val>
                                            <p:strVal val="#ppt_x"/>
                                          </p:val>
                                        </p:tav>
                                      </p:tavLst>
                                    </p:anim>
                                    <p:anim calcmode="lin" valueType="num">
                                      <p:cBhvr additive="base">
                                        <p:cTn id="338" dur="500" fill="hold"/>
                                        <p:tgtEl>
                                          <p:spTgt spid="102476"/>
                                        </p:tgtEl>
                                        <p:attrNameLst>
                                          <p:attrName>ppt_y</p:attrName>
                                        </p:attrNameLst>
                                      </p:cBhvr>
                                      <p:tavLst>
                                        <p:tav tm="0">
                                          <p:val>
                                            <p:strVal val="1+#ppt_h/2"/>
                                          </p:val>
                                        </p:tav>
                                        <p:tav tm="100000">
                                          <p:val>
                                            <p:strVal val="#ppt_y"/>
                                          </p:val>
                                        </p:tav>
                                      </p:tavLst>
                                    </p:anim>
                                  </p:childTnLst>
                                </p:cTn>
                              </p:par>
                            </p:childTnLst>
                          </p:cTn>
                        </p:par>
                      </p:childTnLst>
                    </p:cTn>
                  </p:par>
                  <p:par>
                    <p:cTn id="339" fill="hold">
                      <p:stCondLst>
                        <p:cond delay="indefinite"/>
                      </p:stCondLst>
                      <p:childTnLst>
                        <p:par>
                          <p:cTn id="340" fill="hold">
                            <p:stCondLst>
                              <p:cond delay="0"/>
                            </p:stCondLst>
                            <p:childTnLst>
                              <p:par>
                                <p:cTn id="341" presetID="2" presetClass="entr" presetSubtype="4" fill="hold" grpId="0" nodeType="clickEffect">
                                  <p:stCondLst>
                                    <p:cond delay="0"/>
                                  </p:stCondLst>
                                  <p:childTnLst>
                                    <p:set>
                                      <p:cBhvr>
                                        <p:cTn id="342" dur="1" fill="hold">
                                          <p:stCondLst>
                                            <p:cond delay="0"/>
                                          </p:stCondLst>
                                        </p:cTn>
                                        <p:tgtEl>
                                          <p:spTgt spid="102499"/>
                                        </p:tgtEl>
                                        <p:attrNameLst>
                                          <p:attrName>style.visibility</p:attrName>
                                        </p:attrNameLst>
                                      </p:cBhvr>
                                      <p:to>
                                        <p:strVal val="visible"/>
                                      </p:to>
                                    </p:set>
                                    <p:anim calcmode="lin" valueType="num">
                                      <p:cBhvr additive="base">
                                        <p:cTn id="343" dur="500" fill="hold"/>
                                        <p:tgtEl>
                                          <p:spTgt spid="102499"/>
                                        </p:tgtEl>
                                        <p:attrNameLst>
                                          <p:attrName>ppt_x</p:attrName>
                                        </p:attrNameLst>
                                      </p:cBhvr>
                                      <p:tavLst>
                                        <p:tav tm="0">
                                          <p:val>
                                            <p:strVal val="#ppt_x"/>
                                          </p:val>
                                        </p:tav>
                                        <p:tav tm="100000">
                                          <p:val>
                                            <p:strVal val="#ppt_x"/>
                                          </p:val>
                                        </p:tav>
                                      </p:tavLst>
                                    </p:anim>
                                    <p:anim calcmode="lin" valueType="num">
                                      <p:cBhvr additive="base">
                                        <p:cTn id="344" dur="500" fill="hold"/>
                                        <p:tgtEl>
                                          <p:spTgt spid="102499"/>
                                        </p:tgtEl>
                                        <p:attrNameLst>
                                          <p:attrName>ppt_y</p:attrName>
                                        </p:attrNameLst>
                                      </p:cBhvr>
                                      <p:tavLst>
                                        <p:tav tm="0">
                                          <p:val>
                                            <p:strVal val="1+#ppt_h/2"/>
                                          </p:val>
                                        </p:tav>
                                        <p:tav tm="100000">
                                          <p:val>
                                            <p:strVal val="#ppt_y"/>
                                          </p:val>
                                        </p:tav>
                                      </p:tavLst>
                                    </p:anim>
                                  </p:childTnLst>
                                </p:cTn>
                              </p:par>
                            </p:childTnLst>
                          </p:cTn>
                        </p:par>
                      </p:childTnLst>
                    </p:cTn>
                  </p:par>
                  <p:par>
                    <p:cTn id="345" fill="hold">
                      <p:stCondLst>
                        <p:cond delay="indefinite"/>
                      </p:stCondLst>
                      <p:childTnLst>
                        <p:par>
                          <p:cTn id="346" fill="hold">
                            <p:stCondLst>
                              <p:cond delay="0"/>
                            </p:stCondLst>
                            <p:childTnLst>
                              <p:par>
                                <p:cTn id="347" presetID="2" presetClass="entr" presetSubtype="4" fill="hold" grpId="0" nodeType="clickEffect">
                                  <p:stCondLst>
                                    <p:cond delay="0"/>
                                  </p:stCondLst>
                                  <p:childTnLst>
                                    <p:set>
                                      <p:cBhvr>
                                        <p:cTn id="348" dur="1" fill="hold">
                                          <p:stCondLst>
                                            <p:cond delay="0"/>
                                          </p:stCondLst>
                                        </p:cTn>
                                        <p:tgtEl>
                                          <p:spTgt spid="102485"/>
                                        </p:tgtEl>
                                        <p:attrNameLst>
                                          <p:attrName>style.visibility</p:attrName>
                                        </p:attrNameLst>
                                      </p:cBhvr>
                                      <p:to>
                                        <p:strVal val="visible"/>
                                      </p:to>
                                    </p:set>
                                    <p:anim calcmode="lin" valueType="num">
                                      <p:cBhvr additive="base">
                                        <p:cTn id="349" dur="500" fill="hold"/>
                                        <p:tgtEl>
                                          <p:spTgt spid="102485"/>
                                        </p:tgtEl>
                                        <p:attrNameLst>
                                          <p:attrName>ppt_x</p:attrName>
                                        </p:attrNameLst>
                                      </p:cBhvr>
                                      <p:tavLst>
                                        <p:tav tm="0">
                                          <p:val>
                                            <p:strVal val="#ppt_x"/>
                                          </p:val>
                                        </p:tav>
                                        <p:tav tm="100000">
                                          <p:val>
                                            <p:strVal val="#ppt_x"/>
                                          </p:val>
                                        </p:tav>
                                      </p:tavLst>
                                    </p:anim>
                                    <p:anim calcmode="lin" valueType="num">
                                      <p:cBhvr additive="base">
                                        <p:cTn id="350" dur="500" fill="hold"/>
                                        <p:tgtEl>
                                          <p:spTgt spid="102485"/>
                                        </p:tgtEl>
                                        <p:attrNameLst>
                                          <p:attrName>ppt_y</p:attrName>
                                        </p:attrNameLst>
                                      </p:cBhvr>
                                      <p:tavLst>
                                        <p:tav tm="0">
                                          <p:val>
                                            <p:strVal val="1+#ppt_h/2"/>
                                          </p:val>
                                        </p:tav>
                                        <p:tav tm="100000">
                                          <p:val>
                                            <p:strVal val="#ppt_y"/>
                                          </p:val>
                                        </p:tav>
                                      </p:tavLst>
                                    </p:anim>
                                  </p:childTnLst>
                                </p:cTn>
                              </p:par>
                            </p:childTnLst>
                          </p:cTn>
                        </p:par>
                      </p:childTnLst>
                    </p:cTn>
                  </p:par>
                  <p:par>
                    <p:cTn id="351" fill="hold">
                      <p:stCondLst>
                        <p:cond delay="indefinite"/>
                      </p:stCondLst>
                      <p:childTnLst>
                        <p:par>
                          <p:cTn id="352" fill="hold">
                            <p:stCondLst>
                              <p:cond delay="0"/>
                            </p:stCondLst>
                            <p:childTnLst>
                              <p:par>
                                <p:cTn id="353" presetID="2" presetClass="exit" presetSubtype="4" fill="hold" grpId="1" nodeType="clickEffect">
                                  <p:stCondLst>
                                    <p:cond delay="0"/>
                                  </p:stCondLst>
                                  <p:childTnLst>
                                    <p:anim calcmode="lin" valueType="num">
                                      <p:cBhvr additive="base">
                                        <p:cTn id="354" dur="500"/>
                                        <p:tgtEl>
                                          <p:spTgt spid="102491"/>
                                        </p:tgtEl>
                                        <p:attrNameLst>
                                          <p:attrName>ppt_x</p:attrName>
                                        </p:attrNameLst>
                                      </p:cBhvr>
                                      <p:tavLst>
                                        <p:tav tm="0">
                                          <p:val>
                                            <p:strVal val="ppt_x"/>
                                          </p:val>
                                        </p:tav>
                                        <p:tav tm="100000">
                                          <p:val>
                                            <p:strVal val="ppt_x"/>
                                          </p:val>
                                        </p:tav>
                                      </p:tavLst>
                                    </p:anim>
                                    <p:anim calcmode="lin" valueType="num">
                                      <p:cBhvr additive="base">
                                        <p:cTn id="355" dur="500"/>
                                        <p:tgtEl>
                                          <p:spTgt spid="102491"/>
                                        </p:tgtEl>
                                        <p:attrNameLst>
                                          <p:attrName>ppt_y</p:attrName>
                                        </p:attrNameLst>
                                      </p:cBhvr>
                                      <p:tavLst>
                                        <p:tav tm="0">
                                          <p:val>
                                            <p:strVal val="ppt_y"/>
                                          </p:val>
                                        </p:tav>
                                        <p:tav tm="100000">
                                          <p:val>
                                            <p:strVal val="1+ppt_h/2"/>
                                          </p:val>
                                        </p:tav>
                                      </p:tavLst>
                                    </p:anim>
                                    <p:set>
                                      <p:cBhvr>
                                        <p:cTn id="356" dur="1" fill="hold">
                                          <p:stCondLst>
                                            <p:cond delay="499"/>
                                          </p:stCondLst>
                                        </p:cTn>
                                        <p:tgtEl>
                                          <p:spTgt spid="102491"/>
                                        </p:tgtEl>
                                        <p:attrNameLst>
                                          <p:attrName>style.visibility</p:attrName>
                                        </p:attrNameLst>
                                      </p:cBhvr>
                                      <p:to>
                                        <p:strVal val="hidden"/>
                                      </p:to>
                                    </p:set>
                                  </p:childTnLst>
                                </p:cTn>
                              </p:par>
                            </p:childTnLst>
                          </p:cTn>
                        </p:par>
                      </p:childTnLst>
                    </p:cTn>
                  </p:par>
                  <p:par>
                    <p:cTn id="357" fill="hold">
                      <p:stCondLst>
                        <p:cond delay="indefinite"/>
                      </p:stCondLst>
                      <p:childTnLst>
                        <p:par>
                          <p:cTn id="358" fill="hold">
                            <p:stCondLst>
                              <p:cond delay="0"/>
                            </p:stCondLst>
                            <p:childTnLst>
                              <p:par>
                                <p:cTn id="359" presetID="2" presetClass="entr" presetSubtype="4" fill="hold" grpId="0" nodeType="clickEffect">
                                  <p:stCondLst>
                                    <p:cond delay="0"/>
                                  </p:stCondLst>
                                  <p:childTnLst>
                                    <p:set>
                                      <p:cBhvr>
                                        <p:cTn id="360" dur="1" fill="hold">
                                          <p:stCondLst>
                                            <p:cond delay="0"/>
                                          </p:stCondLst>
                                        </p:cTn>
                                        <p:tgtEl>
                                          <p:spTgt spid="102500"/>
                                        </p:tgtEl>
                                        <p:attrNameLst>
                                          <p:attrName>style.visibility</p:attrName>
                                        </p:attrNameLst>
                                      </p:cBhvr>
                                      <p:to>
                                        <p:strVal val="visible"/>
                                      </p:to>
                                    </p:set>
                                    <p:anim calcmode="lin" valueType="num">
                                      <p:cBhvr additive="base">
                                        <p:cTn id="361" dur="500" fill="hold"/>
                                        <p:tgtEl>
                                          <p:spTgt spid="102500"/>
                                        </p:tgtEl>
                                        <p:attrNameLst>
                                          <p:attrName>ppt_x</p:attrName>
                                        </p:attrNameLst>
                                      </p:cBhvr>
                                      <p:tavLst>
                                        <p:tav tm="0">
                                          <p:val>
                                            <p:strVal val="#ppt_x"/>
                                          </p:val>
                                        </p:tav>
                                        <p:tav tm="100000">
                                          <p:val>
                                            <p:strVal val="#ppt_x"/>
                                          </p:val>
                                        </p:tav>
                                      </p:tavLst>
                                    </p:anim>
                                    <p:anim calcmode="lin" valueType="num">
                                      <p:cBhvr additive="base">
                                        <p:cTn id="362" dur="500" fill="hold"/>
                                        <p:tgtEl>
                                          <p:spTgt spid="102500"/>
                                        </p:tgtEl>
                                        <p:attrNameLst>
                                          <p:attrName>ppt_y</p:attrName>
                                        </p:attrNameLst>
                                      </p:cBhvr>
                                      <p:tavLst>
                                        <p:tav tm="0">
                                          <p:val>
                                            <p:strVal val="1+#ppt_h/2"/>
                                          </p:val>
                                        </p:tav>
                                        <p:tav tm="100000">
                                          <p:val>
                                            <p:strVal val="#ppt_y"/>
                                          </p:val>
                                        </p:tav>
                                      </p:tavLst>
                                    </p:anim>
                                  </p:childTnLst>
                                </p:cTn>
                              </p:par>
                            </p:childTnLst>
                          </p:cTn>
                        </p:par>
                      </p:childTnLst>
                    </p:cTn>
                  </p:par>
                  <p:par>
                    <p:cTn id="363" fill="hold">
                      <p:stCondLst>
                        <p:cond delay="indefinite"/>
                      </p:stCondLst>
                      <p:childTnLst>
                        <p:par>
                          <p:cTn id="364" fill="hold">
                            <p:stCondLst>
                              <p:cond delay="0"/>
                            </p:stCondLst>
                            <p:childTnLst>
                              <p:par>
                                <p:cTn id="365" presetID="2" presetClass="exit" presetSubtype="4" fill="hold" grpId="1" nodeType="clickEffect">
                                  <p:stCondLst>
                                    <p:cond delay="0"/>
                                  </p:stCondLst>
                                  <p:childTnLst>
                                    <p:anim calcmode="lin" valueType="num">
                                      <p:cBhvr additive="base">
                                        <p:cTn id="366" dur="500"/>
                                        <p:tgtEl>
                                          <p:spTgt spid="102494"/>
                                        </p:tgtEl>
                                        <p:attrNameLst>
                                          <p:attrName>ppt_x</p:attrName>
                                        </p:attrNameLst>
                                      </p:cBhvr>
                                      <p:tavLst>
                                        <p:tav tm="0">
                                          <p:val>
                                            <p:strVal val="ppt_x"/>
                                          </p:val>
                                        </p:tav>
                                        <p:tav tm="100000">
                                          <p:val>
                                            <p:strVal val="ppt_x"/>
                                          </p:val>
                                        </p:tav>
                                      </p:tavLst>
                                    </p:anim>
                                    <p:anim calcmode="lin" valueType="num">
                                      <p:cBhvr additive="base">
                                        <p:cTn id="367" dur="500"/>
                                        <p:tgtEl>
                                          <p:spTgt spid="102494"/>
                                        </p:tgtEl>
                                        <p:attrNameLst>
                                          <p:attrName>ppt_y</p:attrName>
                                        </p:attrNameLst>
                                      </p:cBhvr>
                                      <p:tavLst>
                                        <p:tav tm="0">
                                          <p:val>
                                            <p:strVal val="ppt_y"/>
                                          </p:val>
                                        </p:tav>
                                        <p:tav tm="100000">
                                          <p:val>
                                            <p:strVal val="1+ppt_h/2"/>
                                          </p:val>
                                        </p:tav>
                                      </p:tavLst>
                                    </p:anim>
                                    <p:set>
                                      <p:cBhvr>
                                        <p:cTn id="368" dur="1" fill="hold">
                                          <p:stCondLst>
                                            <p:cond delay="499"/>
                                          </p:stCondLst>
                                        </p:cTn>
                                        <p:tgtEl>
                                          <p:spTgt spid="102494"/>
                                        </p:tgtEl>
                                        <p:attrNameLst>
                                          <p:attrName>style.visibility</p:attrName>
                                        </p:attrNameLst>
                                      </p:cBhvr>
                                      <p:to>
                                        <p:strVal val="hidden"/>
                                      </p:to>
                                    </p:set>
                                  </p:childTnLst>
                                </p:cTn>
                              </p:par>
                            </p:childTnLst>
                          </p:cTn>
                        </p:par>
                      </p:childTnLst>
                    </p:cTn>
                  </p:par>
                  <p:par>
                    <p:cTn id="369" fill="hold">
                      <p:stCondLst>
                        <p:cond delay="indefinite"/>
                      </p:stCondLst>
                      <p:childTnLst>
                        <p:par>
                          <p:cTn id="370" fill="hold">
                            <p:stCondLst>
                              <p:cond delay="0"/>
                            </p:stCondLst>
                            <p:childTnLst>
                              <p:par>
                                <p:cTn id="371" presetID="2" presetClass="entr" presetSubtype="4" fill="hold" grpId="0" nodeType="clickEffect">
                                  <p:stCondLst>
                                    <p:cond delay="0"/>
                                  </p:stCondLst>
                                  <p:childTnLst>
                                    <p:set>
                                      <p:cBhvr>
                                        <p:cTn id="372" dur="1" fill="hold">
                                          <p:stCondLst>
                                            <p:cond delay="0"/>
                                          </p:stCondLst>
                                        </p:cTn>
                                        <p:tgtEl>
                                          <p:spTgt spid="102501"/>
                                        </p:tgtEl>
                                        <p:attrNameLst>
                                          <p:attrName>style.visibility</p:attrName>
                                        </p:attrNameLst>
                                      </p:cBhvr>
                                      <p:to>
                                        <p:strVal val="visible"/>
                                      </p:to>
                                    </p:set>
                                    <p:anim calcmode="lin" valueType="num">
                                      <p:cBhvr additive="base">
                                        <p:cTn id="373" dur="500" fill="hold"/>
                                        <p:tgtEl>
                                          <p:spTgt spid="102501"/>
                                        </p:tgtEl>
                                        <p:attrNameLst>
                                          <p:attrName>ppt_x</p:attrName>
                                        </p:attrNameLst>
                                      </p:cBhvr>
                                      <p:tavLst>
                                        <p:tav tm="0">
                                          <p:val>
                                            <p:strVal val="#ppt_x"/>
                                          </p:val>
                                        </p:tav>
                                        <p:tav tm="100000">
                                          <p:val>
                                            <p:strVal val="#ppt_x"/>
                                          </p:val>
                                        </p:tav>
                                      </p:tavLst>
                                    </p:anim>
                                    <p:anim calcmode="lin" valueType="num">
                                      <p:cBhvr additive="base">
                                        <p:cTn id="374" dur="500" fill="hold"/>
                                        <p:tgtEl>
                                          <p:spTgt spid="102501"/>
                                        </p:tgtEl>
                                        <p:attrNameLst>
                                          <p:attrName>ppt_y</p:attrName>
                                        </p:attrNameLst>
                                      </p:cBhvr>
                                      <p:tavLst>
                                        <p:tav tm="0">
                                          <p:val>
                                            <p:strVal val="1+#ppt_h/2"/>
                                          </p:val>
                                        </p:tav>
                                        <p:tav tm="100000">
                                          <p:val>
                                            <p:strVal val="#ppt_y"/>
                                          </p:val>
                                        </p:tav>
                                      </p:tavLst>
                                    </p:anim>
                                  </p:childTnLst>
                                </p:cTn>
                              </p:par>
                            </p:childTnLst>
                          </p:cTn>
                        </p:par>
                      </p:childTnLst>
                    </p:cTn>
                  </p:par>
                  <p:par>
                    <p:cTn id="375" fill="hold">
                      <p:stCondLst>
                        <p:cond delay="indefinite"/>
                      </p:stCondLst>
                      <p:childTnLst>
                        <p:par>
                          <p:cTn id="376" fill="hold">
                            <p:stCondLst>
                              <p:cond delay="0"/>
                            </p:stCondLst>
                            <p:childTnLst>
                              <p:par>
                                <p:cTn id="377" presetID="2" presetClass="entr" presetSubtype="4" fill="hold" grpId="0" nodeType="clickEffect">
                                  <p:stCondLst>
                                    <p:cond delay="0"/>
                                  </p:stCondLst>
                                  <p:childTnLst>
                                    <p:set>
                                      <p:cBhvr>
                                        <p:cTn id="378" dur="1" fill="hold">
                                          <p:stCondLst>
                                            <p:cond delay="0"/>
                                          </p:stCondLst>
                                        </p:cTn>
                                        <p:tgtEl>
                                          <p:spTgt spid="102462"/>
                                        </p:tgtEl>
                                        <p:attrNameLst>
                                          <p:attrName>style.visibility</p:attrName>
                                        </p:attrNameLst>
                                      </p:cBhvr>
                                      <p:to>
                                        <p:strVal val="visible"/>
                                      </p:to>
                                    </p:set>
                                    <p:anim calcmode="lin" valueType="num">
                                      <p:cBhvr additive="base">
                                        <p:cTn id="379" dur="500" fill="hold"/>
                                        <p:tgtEl>
                                          <p:spTgt spid="102462"/>
                                        </p:tgtEl>
                                        <p:attrNameLst>
                                          <p:attrName>ppt_x</p:attrName>
                                        </p:attrNameLst>
                                      </p:cBhvr>
                                      <p:tavLst>
                                        <p:tav tm="0">
                                          <p:val>
                                            <p:strVal val="#ppt_x"/>
                                          </p:val>
                                        </p:tav>
                                        <p:tav tm="100000">
                                          <p:val>
                                            <p:strVal val="#ppt_x"/>
                                          </p:val>
                                        </p:tav>
                                      </p:tavLst>
                                    </p:anim>
                                    <p:anim calcmode="lin" valueType="num">
                                      <p:cBhvr additive="base">
                                        <p:cTn id="380" dur="500" fill="hold"/>
                                        <p:tgtEl>
                                          <p:spTgt spid="102462"/>
                                        </p:tgtEl>
                                        <p:attrNameLst>
                                          <p:attrName>ppt_y</p:attrName>
                                        </p:attrNameLst>
                                      </p:cBhvr>
                                      <p:tavLst>
                                        <p:tav tm="0">
                                          <p:val>
                                            <p:strVal val="1+#ppt_h/2"/>
                                          </p:val>
                                        </p:tav>
                                        <p:tav tm="100000">
                                          <p:val>
                                            <p:strVal val="#ppt_y"/>
                                          </p:val>
                                        </p:tav>
                                      </p:tavLst>
                                    </p:anim>
                                  </p:childTnLst>
                                </p:cTn>
                              </p:par>
                            </p:childTnLst>
                          </p:cTn>
                        </p:par>
                      </p:childTnLst>
                    </p:cTn>
                  </p:par>
                  <p:par>
                    <p:cTn id="381" fill="hold">
                      <p:stCondLst>
                        <p:cond delay="indefinite"/>
                      </p:stCondLst>
                      <p:childTnLst>
                        <p:par>
                          <p:cTn id="382" fill="hold">
                            <p:stCondLst>
                              <p:cond delay="0"/>
                            </p:stCondLst>
                            <p:childTnLst>
                              <p:par>
                                <p:cTn id="383" presetID="2" presetClass="entr" presetSubtype="4" fill="hold" grpId="0" nodeType="clickEffect">
                                  <p:stCondLst>
                                    <p:cond delay="0"/>
                                  </p:stCondLst>
                                  <p:childTnLst>
                                    <p:set>
                                      <p:cBhvr>
                                        <p:cTn id="384" dur="1" fill="hold">
                                          <p:stCondLst>
                                            <p:cond delay="0"/>
                                          </p:stCondLst>
                                        </p:cTn>
                                        <p:tgtEl>
                                          <p:spTgt spid="102504"/>
                                        </p:tgtEl>
                                        <p:attrNameLst>
                                          <p:attrName>style.visibility</p:attrName>
                                        </p:attrNameLst>
                                      </p:cBhvr>
                                      <p:to>
                                        <p:strVal val="visible"/>
                                      </p:to>
                                    </p:set>
                                    <p:anim calcmode="lin" valueType="num">
                                      <p:cBhvr additive="base">
                                        <p:cTn id="385" dur="500" fill="hold"/>
                                        <p:tgtEl>
                                          <p:spTgt spid="102504"/>
                                        </p:tgtEl>
                                        <p:attrNameLst>
                                          <p:attrName>ppt_x</p:attrName>
                                        </p:attrNameLst>
                                      </p:cBhvr>
                                      <p:tavLst>
                                        <p:tav tm="0">
                                          <p:val>
                                            <p:strVal val="#ppt_x"/>
                                          </p:val>
                                        </p:tav>
                                        <p:tav tm="100000">
                                          <p:val>
                                            <p:strVal val="#ppt_x"/>
                                          </p:val>
                                        </p:tav>
                                      </p:tavLst>
                                    </p:anim>
                                    <p:anim calcmode="lin" valueType="num">
                                      <p:cBhvr additive="base">
                                        <p:cTn id="386" dur="500" fill="hold"/>
                                        <p:tgtEl>
                                          <p:spTgt spid="102504"/>
                                        </p:tgtEl>
                                        <p:attrNameLst>
                                          <p:attrName>ppt_y</p:attrName>
                                        </p:attrNameLst>
                                      </p:cBhvr>
                                      <p:tavLst>
                                        <p:tav tm="0">
                                          <p:val>
                                            <p:strVal val="1+#ppt_h/2"/>
                                          </p:val>
                                        </p:tav>
                                        <p:tav tm="100000">
                                          <p:val>
                                            <p:strVal val="#ppt_y"/>
                                          </p:val>
                                        </p:tav>
                                      </p:tavLst>
                                    </p:anim>
                                  </p:childTnLst>
                                </p:cTn>
                              </p:par>
                            </p:childTnLst>
                          </p:cTn>
                        </p:par>
                      </p:childTnLst>
                    </p:cTn>
                  </p:par>
                  <p:par>
                    <p:cTn id="387" fill="hold">
                      <p:stCondLst>
                        <p:cond delay="indefinite"/>
                      </p:stCondLst>
                      <p:childTnLst>
                        <p:par>
                          <p:cTn id="388" fill="hold">
                            <p:stCondLst>
                              <p:cond delay="0"/>
                            </p:stCondLst>
                            <p:childTnLst>
                              <p:par>
                                <p:cTn id="389" presetID="2" presetClass="exit" presetSubtype="4" fill="hold" grpId="1" nodeType="clickEffect">
                                  <p:stCondLst>
                                    <p:cond delay="0"/>
                                  </p:stCondLst>
                                  <p:childTnLst>
                                    <p:anim calcmode="lin" valueType="num">
                                      <p:cBhvr additive="base">
                                        <p:cTn id="390" dur="500"/>
                                        <p:tgtEl>
                                          <p:spTgt spid="102495"/>
                                        </p:tgtEl>
                                        <p:attrNameLst>
                                          <p:attrName>ppt_x</p:attrName>
                                        </p:attrNameLst>
                                      </p:cBhvr>
                                      <p:tavLst>
                                        <p:tav tm="0">
                                          <p:val>
                                            <p:strVal val="ppt_x"/>
                                          </p:val>
                                        </p:tav>
                                        <p:tav tm="100000">
                                          <p:val>
                                            <p:strVal val="ppt_x"/>
                                          </p:val>
                                        </p:tav>
                                      </p:tavLst>
                                    </p:anim>
                                    <p:anim calcmode="lin" valueType="num">
                                      <p:cBhvr additive="base">
                                        <p:cTn id="391" dur="500"/>
                                        <p:tgtEl>
                                          <p:spTgt spid="102495"/>
                                        </p:tgtEl>
                                        <p:attrNameLst>
                                          <p:attrName>ppt_y</p:attrName>
                                        </p:attrNameLst>
                                      </p:cBhvr>
                                      <p:tavLst>
                                        <p:tav tm="0">
                                          <p:val>
                                            <p:strVal val="ppt_y"/>
                                          </p:val>
                                        </p:tav>
                                        <p:tav tm="100000">
                                          <p:val>
                                            <p:strVal val="1+ppt_h/2"/>
                                          </p:val>
                                        </p:tav>
                                      </p:tavLst>
                                    </p:anim>
                                    <p:set>
                                      <p:cBhvr>
                                        <p:cTn id="392" dur="1" fill="hold">
                                          <p:stCondLst>
                                            <p:cond delay="499"/>
                                          </p:stCondLst>
                                        </p:cTn>
                                        <p:tgtEl>
                                          <p:spTgt spid="102495"/>
                                        </p:tgtEl>
                                        <p:attrNameLst>
                                          <p:attrName>style.visibility</p:attrName>
                                        </p:attrNameLst>
                                      </p:cBhvr>
                                      <p:to>
                                        <p:strVal val="hidden"/>
                                      </p:to>
                                    </p:set>
                                  </p:childTnLst>
                                </p:cTn>
                              </p:par>
                            </p:childTnLst>
                          </p:cTn>
                        </p:par>
                      </p:childTnLst>
                    </p:cTn>
                  </p:par>
                  <p:par>
                    <p:cTn id="393" fill="hold">
                      <p:stCondLst>
                        <p:cond delay="indefinite"/>
                      </p:stCondLst>
                      <p:childTnLst>
                        <p:par>
                          <p:cTn id="394" fill="hold">
                            <p:stCondLst>
                              <p:cond delay="0"/>
                            </p:stCondLst>
                            <p:childTnLst>
                              <p:par>
                                <p:cTn id="395" presetID="2" presetClass="entr" presetSubtype="4" fill="hold" grpId="0" nodeType="clickEffect">
                                  <p:stCondLst>
                                    <p:cond delay="0"/>
                                  </p:stCondLst>
                                  <p:childTnLst>
                                    <p:set>
                                      <p:cBhvr>
                                        <p:cTn id="396" dur="1" fill="hold">
                                          <p:stCondLst>
                                            <p:cond delay="0"/>
                                          </p:stCondLst>
                                        </p:cTn>
                                        <p:tgtEl>
                                          <p:spTgt spid="102502"/>
                                        </p:tgtEl>
                                        <p:attrNameLst>
                                          <p:attrName>style.visibility</p:attrName>
                                        </p:attrNameLst>
                                      </p:cBhvr>
                                      <p:to>
                                        <p:strVal val="visible"/>
                                      </p:to>
                                    </p:set>
                                    <p:anim calcmode="lin" valueType="num">
                                      <p:cBhvr additive="base">
                                        <p:cTn id="397" dur="500" fill="hold"/>
                                        <p:tgtEl>
                                          <p:spTgt spid="102502"/>
                                        </p:tgtEl>
                                        <p:attrNameLst>
                                          <p:attrName>ppt_x</p:attrName>
                                        </p:attrNameLst>
                                      </p:cBhvr>
                                      <p:tavLst>
                                        <p:tav tm="0">
                                          <p:val>
                                            <p:strVal val="#ppt_x"/>
                                          </p:val>
                                        </p:tav>
                                        <p:tav tm="100000">
                                          <p:val>
                                            <p:strVal val="#ppt_x"/>
                                          </p:val>
                                        </p:tav>
                                      </p:tavLst>
                                    </p:anim>
                                    <p:anim calcmode="lin" valueType="num">
                                      <p:cBhvr additive="base">
                                        <p:cTn id="398" dur="500" fill="hold"/>
                                        <p:tgtEl>
                                          <p:spTgt spid="102502"/>
                                        </p:tgtEl>
                                        <p:attrNameLst>
                                          <p:attrName>ppt_y</p:attrName>
                                        </p:attrNameLst>
                                      </p:cBhvr>
                                      <p:tavLst>
                                        <p:tav tm="0">
                                          <p:val>
                                            <p:strVal val="1+#ppt_h/2"/>
                                          </p:val>
                                        </p:tav>
                                        <p:tav tm="100000">
                                          <p:val>
                                            <p:strVal val="#ppt_y"/>
                                          </p:val>
                                        </p:tav>
                                      </p:tavLst>
                                    </p:anim>
                                  </p:childTnLst>
                                </p:cTn>
                              </p:par>
                            </p:childTnLst>
                          </p:cTn>
                        </p:par>
                      </p:childTnLst>
                    </p:cTn>
                  </p:par>
                  <p:par>
                    <p:cTn id="399" fill="hold">
                      <p:stCondLst>
                        <p:cond delay="indefinite"/>
                      </p:stCondLst>
                      <p:childTnLst>
                        <p:par>
                          <p:cTn id="400" fill="hold">
                            <p:stCondLst>
                              <p:cond delay="0"/>
                            </p:stCondLst>
                            <p:childTnLst>
                              <p:par>
                                <p:cTn id="401" presetID="2" presetClass="entr" presetSubtype="4" fill="hold" grpId="0" nodeType="clickEffect">
                                  <p:stCondLst>
                                    <p:cond delay="0"/>
                                  </p:stCondLst>
                                  <p:childTnLst>
                                    <p:set>
                                      <p:cBhvr>
                                        <p:cTn id="402" dur="1" fill="hold">
                                          <p:stCondLst>
                                            <p:cond delay="0"/>
                                          </p:stCondLst>
                                        </p:cTn>
                                        <p:tgtEl>
                                          <p:spTgt spid="102503"/>
                                        </p:tgtEl>
                                        <p:attrNameLst>
                                          <p:attrName>style.visibility</p:attrName>
                                        </p:attrNameLst>
                                      </p:cBhvr>
                                      <p:to>
                                        <p:strVal val="visible"/>
                                      </p:to>
                                    </p:set>
                                    <p:anim calcmode="lin" valueType="num">
                                      <p:cBhvr additive="base">
                                        <p:cTn id="403" dur="500" fill="hold"/>
                                        <p:tgtEl>
                                          <p:spTgt spid="102503"/>
                                        </p:tgtEl>
                                        <p:attrNameLst>
                                          <p:attrName>ppt_x</p:attrName>
                                        </p:attrNameLst>
                                      </p:cBhvr>
                                      <p:tavLst>
                                        <p:tav tm="0">
                                          <p:val>
                                            <p:strVal val="#ppt_x"/>
                                          </p:val>
                                        </p:tav>
                                        <p:tav tm="100000">
                                          <p:val>
                                            <p:strVal val="#ppt_x"/>
                                          </p:val>
                                        </p:tav>
                                      </p:tavLst>
                                    </p:anim>
                                    <p:anim calcmode="lin" valueType="num">
                                      <p:cBhvr additive="base">
                                        <p:cTn id="404" dur="500" fill="hold"/>
                                        <p:tgtEl>
                                          <p:spTgt spid="102503"/>
                                        </p:tgtEl>
                                        <p:attrNameLst>
                                          <p:attrName>ppt_y</p:attrName>
                                        </p:attrNameLst>
                                      </p:cBhvr>
                                      <p:tavLst>
                                        <p:tav tm="0">
                                          <p:val>
                                            <p:strVal val="1+#ppt_h/2"/>
                                          </p:val>
                                        </p:tav>
                                        <p:tav tm="100000">
                                          <p:val>
                                            <p:strVal val="#ppt_y"/>
                                          </p:val>
                                        </p:tav>
                                      </p:tavLst>
                                    </p:anim>
                                  </p:childTnLst>
                                </p:cTn>
                              </p:par>
                            </p:childTnLst>
                          </p:cTn>
                        </p:par>
                      </p:childTnLst>
                    </p:cTn>
                  </p:par>
                  <p:par>
                    <p:cTn id="405" fill="hold">
                      <p:stCondLst>
                        <p:cond delay="indefinite"/>
                      </p:stCondLst>
                      <p:childTnLst>
                        <p:par>
                          <p:cTn id="406" fill="hold">
                            <p:stCondLst>
                              <p:cond delay="0"/>
                            </p:stCondLst>
                            <p:childTnLst>
                              <p:par>
                                <p:cTn id="407" presetID="2" presetClass="exit" presetSubtype="4" fill="hold" grpId="1" nodeType="clickEffect">
                                  <p:stCondLst>
                                    <p:cond delay="0"/>
                                  </p:stCondLst>
                                  <p:childTnLst>
                                    <p:anim calcmode="lin" valueType="num">
                                      <p:cBhvr additive="base">
                                        <p:cTn id="408" dur="500"/>
                                        <p:tgtEl>
                                          <p:spTgt spid="102496"/>
                                        </p:tgtEl>
                                        <p:attrNameLst>
                                          <p:attrName>ppt_x</p:attrName>
                                        </p:attrNameLst>
                                      </p:cBhvr>
                                      <p:tavLst>
                                        <p:tav tm="0">
                                          <p:val>
                                            <p:strVal val="ppt_x"/>
                                          </p:val>
                                        </p:tav>
                                        <p:tav tm="100000">
                                          <p:val>
                                            <p:strVal val="ppt_x"/>
                                          </p:val>
                                        </p:tav>
                                      </p:tavLst>
                                    </p:anim>
                                    <p:anim calcmode="lin" valueType="num">
                                      <p:cBhvr additive="base">
                                        <p:cTn id="409" dur="500"/>
                                        <p:tgtEl>
                                          <p:spTgt spid="102496"/>
                                        </p:tgtEl>
                                        <p:attrNameLst>
                                          <p:attrName>ppt_y</p:attrName>
                                        </p:attrNameLst>
                                      </p:cBhvr>
                                      <p:tavLst>
                                        <p:tav tm="0">
                                          <p:val>
                                            <p:strVal val="ppt_y"/>
                                          </p:val>
                                        </p:tav>
                                        <p:tav tm="100000">
                                          <p:val>
                                            <p:strVal val="1+ppt_h/2"/>
                                          </p:val>
                                        </p:tav>
                                      </p:tavLst>
                                    </p:anim>
                                    <p:set>
                                      <p:cBhvr>
                                        <p:cTn id="410" dur="1" fill="hold">
                                          <p:stCondLst>
                                            <p:cond delay="499"/>
                                          </p:stCondLst>
                                        </p:cTn>
                                        <p:tgtEl>
                                          <p:spTgt spid="102496"/>
                                        </p:tgtEl>
                                        <p:attrNameLst>
                                          <p:attrName>style.visibility</p:attrName>
                                        </p:attrNameLst>
                                      </p:cBhvr>
                                      <p:to>
                                        <p:strVal val="hidden"/>
                                      </p:to>
                                    </p:set>
                                  </p:childTnLst>
                                </p:cTn>
                              </p:par>
                            </p:childTnLst>
                          </p:cTn>
                        </p:par>
                      </p:childTnLst>
                    </p:cTn>
                  </p:par>
                  <p:par>
                    <p:cTn id="411" fill="hold">
                      <p:stCondLst>
                        <p:cond delay="indefinite"/>
                      </p:stCondLst>
                      <p:childTnLst>
                        <p:par>
                          <p:cTn id="412" fill="hold">
                            <p:stCondLst>
                              <p:cond delay="0"/>
                            </p:stCondLst>
                            <p:childTnLst>
                              <p:par>
                                <p:cTn id="413" presetID="2" presetClass="entr" presetSubtype="4" fill="hold" grpId="0" nodeType="clickEffect">
                                  <p:stCondLst>
                                    <p:cond delay="0"/>
                                  </p:stCondLst>
                                  <p:childTnLst>
                                    <p:set>
                                      <p:cBhvr>
                                        <p:cTn id="414" dur="1" fill="hold">
                                          <p:stCondLst>
                                            <p:cond delay="0"/>
                                          </p:stCondLst>
                                        </p:cTn>
                                        <p:tgtEl>
                                          <p:spTgt spid="102477"/>
                                        </p:tgtEl>
                                        <p:attrNameLst>
                                          <p:attrName>style.visibility</p:attrName>
                                        </p:attrNameLst>
                                      </p:cBhvr>
                                      <p:to>
                                        <p:strVal val="visible"/>
                                      </p:to>
                                    </p:set>
                                    <p:anim calcmode="lin" valueType="num">
                                      <p:cBhvr additive="base">
                                        <p:cTn id="415" dur="500" fill="hold"/>
                                        <p:tgtEl>
                                          <p:spTgt spid="102477"/>
                                        </p:tgtEl>
                                        <p:attrNameLst>
                                          <p:attrName>ppt_x</p:attrName>
                                        </p:attrNameLst>
                                      </p:cBhvr>
                                      <p:tavLst>
                                        <p:tav tm="0">
                                          <p:val>
                                            <p:strVal val="#ppt_x"/>
                                          </p:val>
                                        </p:tav>
                                        <p:tav tm="100000">
                                          <p:val>
                                            <p:strVal val="#ppt_x"/>
                                          </p:val>
                                        </p:tav>
                                      </p:tavLst>
                                    </p:anim>
                                    <p:anim calcmode="lin" valueType="num">
                                      <p:cBhvr additive="base">
                                        <p:cTn id="416" dur="500" fill="hold"/>
                                        <p:tgtEl>
                                          <p:spTgt spid="102477"/>
                                        </p:tgtEl>
                                        <p:attrNameLst>
                                          <p:attrName>ppt_y</p:attrName>
                                        </p:attrNameLst>
                                      </p:cBhvr>
                                      <p:tavLst>
                                        <p:tav tm="0">
                                          <p:val>
                                            <p:strVal val="1+#ppt_h/2"/>
                                          </p:val>
                                        </p:tav>
                                        <p:tav tm="100000">
                                          <p:val>
                                            <p:strVal val="#ppt_y"/>
                                          </p:val>
                                        </p:tav>
                                      </p:tavLst>
                                    </p:anim>
                                  </p:childTnLst>
                                </p:cTn>
                              </p:par>
                            </p:childTnLst>
                          </p:cTn>
                        </p:par>
                      </p:childTnLst>
                    </p:cTn>
                  </p:par>
                  <p:par>
                    <p:cTn id="417" fill="hold">
                      <p:stCondLst>
                        <p:cond delay="indefinite"/>
                      </p:stCondLst>
                      <p:childTnLst>
                        <p:par>
                          <p:cTn id="418" fill="hold">
                            <p:stCondLst>
                              <p:cond delay="0"/>
                            </p:stCondLst>
                            <p:childTnLst>
                              <p:par>
                                <p:cTn id="419" presetID="2" presetClass="entr" presetSubtype="4" fill="hold" grpId="0" nodeType="clickEffect">
                                  <p:stCondLst>
                                    <p:cond delay="0"/>
                                  </p:stCondLst>
                                  <p:childTnLst>
                                    <p:set>
                                      <p:cBhvr>
                                        <p:cTn id="420" dur="1" fill="hold">
                                          <p:stCondLst>
                                            <p:cond delay="0"/>
                                          </p:stCondLst>
                                        </p:cTn>
                                        <p:tgtEl>
                                          <p:spTgt spid="102478"/>
                                        </p:tgtEl>
                                        <p:attrNameLst>
                                          <p:attrName>style.visibility</p:attrName>
                                        </p:attrNameLst>
                                      </p:cBhvr>
                                      <p:to>
                                        <p:strVal val="visible"/>
                                      </p:to>
                                    </p:set>
                                    <p:anim calcmode="lin" valueType="num">
                                      <p:cBhvr additive="base">
                                        <p:cTn id="421" dur="500" fill="hold"/>
                                        <p:tgtEl>
                                          <p:spTgt spid="102478"/>
                                        </p:tgtEl>
                                        <p:attrNameLst>
                                          <p:attrName>ppt_x</p:attrName>
                                        </p:attrNameLst>
                                      </p:cBhvr>
                                      <p:tavLst>
                                        <p:tav tm="0">
                                          <p:val>
                                            <p:strVal val="#ppt_x"/>
                                          </p:val>
                                        </p:tav>
                                        <p:tav tm="100000">
                                          <p:val>
                                            <p:strVal val="#ppt_x"/>
                                          </p:val>
                                        </p:tav>
                                      </p:tavLst>
                                    </p:anim>
                                    <p:anim calcmode="lin" valueType="num">
                                      <p:cBhvr additive="base">
                                        <p:cTn id="422" dur="500" fill="hold"/>
                                        <p:tgtEl>
                                          <p:spTgt spid="102478"/>
                                        </p:tgtEl>
                                        <p:attrNameLst>
                                          <p:attrName>ppt_y</p:attrName>
                                        </p:attrNameLst>
                                      </p:cBhvr>
                                      <p:tavLst>
                                        <p:tav tm="0">
                                          <p:val>
                                            <p:strVal val="1+#ppt_h/2"/>
                                          </p:val>
                                        </p:tav>
                                        <p:tav tm="100000">
                                          <p:val>
                                            <p:strVal val="#ppt_y"/>
                                          </p:val>
                                        </p:tav>
                                      </p:tavLst>
                                    </p:anim>
                                  </p:childTnLst>
                                </p:cTn>
                              </p:par>
                            </p:childTnLst>
                          </p:cTn>
                        </p:par>
                      </p:childTnLst>
                    </p:cTn>
                  </p:par>
                  <p:par>
                    <p:cTn id="423" fill="hold">
                      <p:stCondLst>
                        <p:cond delay="indefinite"/>
                      </p:stCondLst>
                      <p:childTnLst>
                        <p:par>
                          <p:cTn id="424" fill="hold">
                            <p:stCondLst>
                              <p:cond delay="0"/>
                            </p:stCondLst>
                            <p:childTnLst>
                              <p:par>
                                <p:cTn id="425" presetID="2" presetClass="exit" presetSubtype="4" fill="hold" grpId="1" nodeType="clickEffect">
                                  <p:stCondLst>
                                    <p:cond delay="0"/>
                                  </p:stCondLst>
                                  <p:childTnLst>
                                    <p:anim calcmode="lin" valueType="num">
                                      <p:cBhvr additive="base">
                                        <p:cTn id="426" dur="500"/>
                                        <p:tgtEl>
                                          <p:spTgt spid="102497"/>
                                        </p:tgtEl>
                                        <p:attrNameLst>
                                          <p:attrName>ppt_x</p:attrName>
                                        </p:attrNameLst>
                                      </p:cBhvr>
                                      <p:tavLst>
                                        <p:tav tm="0">
                                          <p:val>
                                            <p:strVal val="ppt_x"/>
                                          </p:val>
                                        </p:tav>
                                        <p:tav tm="100000">
                                          <p:val>
                                            <p:strVal val="ppt_x"/>
                                          </p:val>
                                        </p:tav>
                                      </p:tavLst>
                                    </p:anim>
                                    <p:anim calcmode="lin" valueType="num">
                                      <p:cBhvr additive="base">
                                        <p:cTn id="427" dur="500"/>
                                        <p:tgtEl>
                                          <p:spTgt spid="102497"/>
                                        </p:tgtEl>
                                        <p:attrNameLst>
                                          <p:attrName>ppt_y</p:attrName>
                                        </p:attrNameLst>
                                      </p:cBhvr>
                                      <p:tavLst>
                                        <p:tav tm="0">
                                          <p:val>
                                            <p:strVal val="ppt_y"/>
                                          </p:val>
                                        </p:tav>
                                        <p:tav tm="100000">
                                          <p:val>
                                            <p:strVal val="1+ppt_h/2"/>
                                          </p:val>
                                        </p:tav>
                                      </p:tavLst>
                                    </p:anim>
                                    <p:set>
                                      <p:cBhvr>
                                        <p:cTn id="428" dur="1" fill="hold">
                                          <p:stCondLst>
                                            <p:cond delay="499"/>
                                          </p:stCondLst>
                                        </p:cTn>
                                        <p:tgtEl>
                                          <p:spTgt spid="102497"/>
                                        </p:tgtEl>
                                        <p:attrNameLst>
                                          <p:attrName>style.visibility</p:attrName>
                                        </p:attrNameLst>
                                      </p:cBhvr>
                                      <p:to>
                                        <p:strVal val="hidden"/>
                                      </p:to>
                                    </p:set>
                                  </p:childTnLst>
                                </p:cTn>
                              </p:par>
                            </p:childTnLst>
                          </p:cTn>
                        </p:par>
                      </p:childTnLst>
                    </p:cTn>
                  </p:par>
                  <p:par>
                    <p:cTn id="429" fill="hold">
                      <p:stCondLst>
                        <p:cond delay="indefinite"/>
                      </p:stCondLst>
                      <p:childTnLst>
                        <p:par>
                          <p:cTn id="430" fill="hold">
                            <p:stCondLst>
                              <p:cond delay="0"/>
                            </p:stCondLst>
                            <p:childTnLst>
                              <p:par>
                                <p:cTn id="431" presetID="2" presetClass="entr" presetSubtype="4" fill="hold" grpId="0" nodeType="clickEffect">
                                  <p:stCondLst>
                                    <p:cond delay="0"/>
                                  </p:stCondLst>
                                  <p:childTnLst>
                                    <p:set>
                                      <p:cBhvr>
                                        <p:cTn id="432" dur="1" fill="hold">
                                          <p:stCondLst>
                                            <p:cond delay="0"/>
                                          </p:stCondLst>
                                        </p:cTn>
                                        <p:tgtEl>
                                          <p:spTgt spid="102479"/>
                                        </p:tgtEl>
                                        <p:attrNameLst>
                                          <p:attrName>style.visibility</p:attrName>
                                        </p:attrNameLst>
                                      </p:cBhvr>
                                      <p:to>
                                        <p:strVal val="visible"/>
                                      </p:to>
                                    </p:set>
                                    <p:anim calcmode="lin" valueType="num">
                                      <p:cBhvr additive="base">
                                        <p:cTn id="433" dur="500" fill="hold"/>
                                        <p:tgtEl>
                                          <p:spTgt spid="102479"/>
                                        </p:tgtEl>
                                        <p:attrNameLst>
                                          <p:attrName>ppt_x</p:attrName>
                                        </p:attrNameLst>
                                      </p:cBhvr>
                                      <p:tavLst>
                                        <p:tav tm="0">
                                          <p:val>
                                            <p:strVal val="#ppt_x"/>
                                          </p:val>
                                        </p:tav>
                                        <p:tav tm="100000">
                                          <p:val>
                                            <p:strVal val="#ppt_x"/>
                                          </p:val>
                                        </p:tav>
                                      </p:tavLst>
                                    </p:anim>
                                    <p:anim calcmode="lin" valueType="num">
                                      <p:cBhvr additive="base">
                                        <p:cTn id="434" dur="500" fill="hold"/>
                                        <p:tgtEl>
                                          <p:spTgt spid="102479"/>
                                        </p:tgtEl>
                                        <p:attrNameLst>
                                          <p:attrName>ppt_y</p:attrName>
                                        </p:attrNameLst>
                                      </p:cBhvr>
                                      <p:tavLst>
                                        <p:tav tm="0">
                                          <p:val>
                                            <p:strVal val="1+#ppt_h/2"/>
                                          </p:val>
                                        </p:tav>
                                        <p:tav tm="100000">
                                          <p:val>
                                            <p:strVal val="#ppt_y"/>
                                          </p:val>
                                        </p:tav>
                                      </p:tavLst>
                                    </p:anim>
                                  </p:childTnLst>
                                </p:cTn>
                              </p:par>
                            </p:childTnLst>
                          </p:cTn>
                        </p:par>
                      </p:childTnLst>
                    </p:cTn>
                  </p:par>
                  <p:par>
                    <p:cTn id="435" fill="hold">
                      <p:stCondLst>
                        <p:cond delay="indefinite"/>
                      </p:stCondLst>
                      <p:childTnLst>
                        <p:par>
                          <p:cTn id="436" fill="hold">
                            <p:stCondLst>
                              <p:cond delay="0"/>
                            </p:stCondLst>
                            <p:childTnLst>
                              <p:par>
                                <p:cTn id="437" presetID="2" presetClass="entr" presetSubtype="4" fill="hold" grpId="0" nodeType="clickEffect">
                                  <p:stCondLst>
                                    <p:cond delay="0"/>
                                  </p:stCondLst>
                                  <p:childTnLst>
                                    <p:set>
                                      <p:cBhvr>
                                        <p:cTn id="438" dur="1" fill="hold">
                                          <p:stCondLst>
                                            <p:cond delay="0"/>
                                          </p:stCondLst>
                                        </p:cTn>
                                        <p:tgtEl>
                                          <p:spTgt spid="102480"/>
                                        </p:tgtEl>
                                        <p:attrNameLst>
                                          <p:attrName>style.visibility</p:attrName>
                                        </p:attrNameLst>
                                      </p:cBhvr>
                                      <p:to>
                                        <p:strVal val="visible"/>
                                      </p:to>
                                    </p:set>
                                    <p:anim calcmode="lin" valueType="num">
                                      <p:cBhvr additive="base">
                                        <p:cTn id="439" dur="500" fill="hold"/>
                                        <p:tgtEl>
                                          <p:spTgt spid="102480"/>
                                        </p:tgtEl>
                                        <p:attrNameLst>
                                          <p:attrName>ppt_x</p:attrName>
                                        </p:attrNameLst>
                                      </p:cBhvr>
                                      <p:tavLst>
                                        <p:tav tm="0">
                                          <p:val>
                                            <p:strVal val="#ppt_x"/>
                                          </p:val>
                                        </p:tav>
                                        <p:tav tm="100000">
                                          <p:val>
                                            <p:strVal val="#ppt_x"/>
                                          </p:val>
                                        </p:tav>
                                      </p:tavLst>
                                    </p:anim>
                                    <p:anim calcmode="lin" valueType="num">
                                      <p:cBhvr additive="base">
                                        <p:cTn id="440" dur="500" fill="hold"/>
                                        <p:tgtEl>
                                          <p:spTgt spid="102480"/>
                                        </p:tgtEl>
                                        <p:attrNameLst>
                                          <p:attrName>ppt_y</p:attrName>
                                        </p:attrNameLst>
                                      </p:cBhvr>
                                      <p:tavLst>
                                        <p:tav tm="0">
                                          <p:val>
                                            <p:strVal val="1+#ppt_h/2"/>
                                          </p:val>
                                        </p:tav>
                                        <p:tav tm="100000">
                                          <p:val>
                                            <p:strVal val="#ppt_y"/>
                                          </p:val>
                                        </p:tav>
                                      </p:tavLst>
                                    </p:anim>
                                  </p:childTnLst>
                                </p:cTn>
                              </p:par>
                            </p:childTnLst>
                          </p:cTn>
                        </p:par>
                      </p:childTnLst>
                    </p:cTn>
                  </p:par>
                  <p:par>
                    <p:cTn id="441" fill="hold">
                      <p:stCondLst>
                        <p:cond delay="indefinite"/>
                      </p:stCondLst>
                      <p:childTnLst>
                        <p:par>
                          <p:cTn id="442" fill="hold">
                            <p:stCondLst>
                              <p:cond delay="0"/>
                            </p:stCondLst>
                            <p:childTnLst>
                              <p:par>
                                <p:cTn id="443" presetID="2" presetClass="exit" presetSubtype="4" fill="hold" grpId="1" nodeType="clickEffect">
                                  <p:stCondLst>
                                    <p:cond delay="0"/>
                                  </p:stCondLst>
                                  <p:childTnLst>
                                    <p:anim calcmode="lin" valueType="num">
                                      <p:cBhvr additive="base">
                                        <p:cTn id="444" dur="500"/>
                                        <p:tgtEl>
                                          <p:spTgt spid="102498"/>
                                        </p:tgtEl>
                                        <p:attrNameLst>
                                          <p:attrName>ppt_x</p:attrName>
                                        </p:attrNameLst>
                                      </p:cBhvr>
                                      <p:tavLst>
                                        <p:tav tm="0">
                                          <p:val>
                                            <p:strVal val="ppt_x"/>
                                          </p:val>
                                        </p:tav>
                                        <p:tav tm="100000">
                                          <p:val>
                                            <p:strVal val="ppt_x"/>
                                          </p:val>
                                        </p:tav>
                                      </p:tavLst>
                                    </p:anim>
                                    <p:anim calcmode="lin" valueType="num">
                                      <p:cBhvr additive="base">
                                        <p:cTn id="445" dur="500"/>
                                        <p:tgtEl>
                                          <p:spTgt spid="102498"/>
                                        </p:tgtEl>
                                        <p:attrNameLst>
                                          <p:attrName>ppt_y</p:attrName>
                                        </p:attrNameLst>
                                      </p:cBhvr>
                                      <p:tavLst>
                                        <p:tav tm="0">
                                          <p:val>
                                            <p:strVal val="ppt_y"/>
                                          </p:val>
                                        </p:tav>
                                        <p:tav tm="100000">
                                          <p:val>
                                            <p:strVal val="1+ppt_h/2"/>
                                          </p:val>
                                        </p:tav>
                                      </p:tavLst>
                                    </p:anim>
                                    <p:set>
                                      <p:cBhvr>
                                        <p:cTn id="446" dur="1" fill="hold">
                                          <p:stCondLst>
                                            <p:cond delay="499"/>
                                          </p:stCondLst>
                                        </p:cTn>
                                        <p:tgtEl>
                                          <p:spTgt spid="102498"/>
                                        </p:tgtEl>
                                        <p:attrNameLst>
                                          <p:attrName>style.visibility</p:attrName>
                                        </p:attrNameLst>
                                      </p:cBhvr>
                                      <p:to>
                                        <p:strVal val="hidden"/>
                                      </p:to>
                                    </p:set>
                                  </p:childTnLst>
                                </p:cTn>
                              </p:par>
                            </p:childTnLst>
                          </p:cTn>
                        </p:par>
                      </p:childTnLst>
                    </p:cTn>
                  </p:par>
                  <p:par>
                    <p:cTn id="447" fill="hold">
                      <p:stCondLst>
                        <p:cond delay="indefinite"/>
                      </p:stCondLst>
                      <p:childTnLst>
                        <p:par>
                          <p:cTn id="448" fill="hold">
                            <p:stCondLst>
                              <p:cond delay="0"/>
                            </p:stCondLst>
                            <p:childTnLst>
                              <p:par>
                                <p:cTn id="449" presetID="2" presetClass="entr" presetSubtype="4" fill="hold" grpId="0" nodeType="clickEffect">
                                  <p:stCondLst>
                                    <p:cond delay="0"/>
                                  </p:stCondLst>
                                  <p:childTnLst>
                                    <p:set>
                                      <p:cBhvr>
                                        <p:cTn id="450" dur="1" fill="hold">
                                          <p:stCondLst>
                                            <p:cond delay="0"/>
                                          </p:stCondLst>
                                        </p:cTn>
                                        <p:tgtEl>
                                          <p:spTgt spid="102481"/>
                                        </p:tgtEl>
                                        <p:attrNameLst>
                                          <p:attrName>style.visibility</p:attrName>
                                        </p:attrNameLst>
                                      </p:cBhvr>
                                      <p:to>
                                        <p:strVal val="visible"/>
                                      </p:to>
                                    </p:set>
                                    <p:anim calcmode="lin" valueType="num">
                                      <p:cBhvr additive="base">
                                        <p:cTn id="451" dur="500" fill="hold"/>
                                        <p:tgtEl>
                                          <p:spTgt spid="102481"/>
                                        </p:tgtEl>
                                        <p:attrNameLst>
                                          <p:attrName>ppt_x</p:attrName>
                                        </p:attrNameLst>
                                      </p:cBhvr>
                                      <p:tavLst>
                                        <p:tav tm="0">
                                          <p:val>
                                            <p:strVal val="#ppt_x"/>
                                          </p:val>
                                        </p:tav>
                                        <p:tav tm="100000">
                                          <p:val>
                                            <p:strVal val="#ppt_x"/>
                                          </p:val>
                                        </p:tav>
                                      </p:tavLst>
                                    </p:anim>
                                    <p:anim calcmode="lin" valueType="num">
                                      <p:cBhvr additive="base">
                                        <p:cTn id="452" dur="500" fill="hold"/>
                                        <p:tgtEl>
                                          <p:spTgt spid="102481"/>
                                        </p:tgtEl>
                                        <p:attrNameLst>
                                          <p:attrName>ppt_y</p:attrName>
                                        </p:attrNameLst>
                                      </p:cBhvr>
                                      <p:tavLst>
                                        <p:tav tm="0">
                                          <p:val>
                                            <p:strVal val="1+#ppt_h/2"/>
                                          </p:val>
                                        </p:tav>
                                        <p:tav tm="100000">
                                          <p:val>
                                            <p:strVal val="#ppt_y"/>
                                          </p:val>
                                        </p:tav>
                                      </p:tavLst>
                                    </p:anim>
                                  </p:childTnLst>
                                </p:cTn>
                              </p:par>
                            </p:childTnLst>
                          </p:cTn>
                        </p:par>
                      </p:childTnLst>
                    </p:cTn>
                  </p:par>
                  <p:par>
                    <p:cTn id="453" fill="hold">
                      <p:stCondLst>
                        <p:cond delay="indefinite"/>
                      </p:stCondLst>
                      <p:childTnLst>
                        <p:par>
                          <p:cTn id="454" fill="hold">
                            <p:stCondLst>
                              <p:cond delay="0"/>
                            </p:stCondLst>
                            <p:childTnLst>
                              <p:par>
                                <p:cTn id="455" presetID="2" presetClass="entr" presetSubtype="4" fill="hold" grpId="0" nodeType="clickEffect">
                                  <p:stCondLst>
                                    <p:cond delay="0"/>
                                  </p:stCondLst>
                                  <p:childTnLst>
                                    <p:set>
                                      <p:cBhvr>
                                        <p:cTn id="456" dur="1" fill="hold">
                                          <p:stCondLst>
                                            <p:cond delay="0"/>
                                          </p:stCondLst>
                                        </p:cTn>
                                        <p:tgtEl>
                                          <p:spTgt spid="102482"/>
                                        </p:tgtEl>
                                        <p:attrNameLst>
                                          <p:attrName>style.visibility</p:attrName>
                                        </p:attrNameLst>
                                      </p:cBhvr>
                                      <p:to>
                                        <p:strVal val="visible"/>
                                      </p:to>
                                    </p:set>
                                    <p:anim calcmode="lin" valueType="num">
                                      <p:cBhvr additive="base">
                                        <p:cTn id="457" dur="500" fill="hold"/>
                                        <p:tgtEl>
                                          <p:spTgt spid="102482"/>
                                        </p:tgtEl>
                                        <p:attrNameLst>
                                          <p:attrName>ppt_x</p:attrName>
                                        </p:attrNameLst>
                                      </p:cBhvr>
                                      <p:tavLst>
                                        <p:tav tm="0">
                                          <p:val>
                                            <p:strVal val="#ppt_x"/>
                                          </p:val>
                                        </p:tav>
                                        <p:tav tm="100000">
                                          <p:val>
                                            <p:strVal val="#ppt_x"/>
                                          </p:val>
                                        </p:tav>
                                      </p:tavLst>
                                    </p:anim>
                                    <p:anim calcmode="lin" valueType="num">
                                      <p:cBhvr additive="base">
                                        <p:cTn id="458" dur="500" fill="hold"/>
                                        <p:tgtEl>
                                          <p:spTgt spid="102482"/>
                                        </p:tgtEl>
                                        <p:attrNameLst>
                                          <p:attrName>ppt_y</p:attrName>
                                        </p:attrNameLst>
                                      </p:cBhvr>
                                      <p:tavLst>
                                        <p:tav tm="0">
                                          <p:val>
                                            <p:strVal val="1+#ppt_h/2"/>
                                          </p:val>
                                        </p:tav>
                                        <p:tav tm="100000">
                                          <p:val>
                                            <p:strVal val="#ppt_y"/>
                                          </p:val>
                                        </p:tav>
                                      </p:tavLst>
                                    </p:anim>
                                  </p:childTnLst>
                                </p:cTn>
                              </p:par>
                            </p:childTnLst>
                          </p:cTn>
                        </p:par>
                      </p:childTnLst>
                    </p:cTn>
                  </p:par>
                  <p:par>
                    <p:cTn id="459" fill="hold">
                      <p:stCondLst>
                        <p:cond delay="indefinite"/>
                      </p:stCondLst>
                      <p:childTnLst>
                        <p:par>
                          <p:cTn id="460" fill="hold">
                            <p:stCondLst>
                              <p:cond delay="0"/>
                            </p:stCondLst>
                            <p:childTnLst>
                              <p:par>
                                <p:cTn id="461" presetID="2" presetClass="exit" presetSubtype="4" fill="hold" grpId="1" nodeType="clickEffect">
                                  <p:stCondLst>
                                    <p:cond delay="0"/>
                                  </p:stCondLst>
                                  <p:childTnLst>
                                    <p:anim calcmode="lin" valueType="num">
                                      <p:cBhvr additive="base">
                                        <p:cTn id="462" dur="500"/>
                                        <p:tgtEl>
                                          <p:spTgt spid="102499"/>
                                        </p:tgtEl>
                                        <p:attrNameLst>
                                          <p:attrName>ppt_x</p:attrName>
                                        </p:attrNameLst>
                                      </p:cBhvr>
                                      <p:tavLst>
                                        <p:tav tm="0">
                                          <p:val>
                                            <p:strVal val="ppt_x"/>
                                          </p:val>
                                        </p:tav>
                                        <p:tav tm="100000">
                                          <p:val>
                                            <p:strVal val="ppt_x"/>
                                          </p:val>
                                        </p:tav>
                                      </p:tavLst>
                                    </p:anim>
                                    <p:anim calcmode="lin" valueType="num">
                                      <p:cBhvr additive="base">
                                        <p:cTn id="463" dur="500"/>
                                        <p:tgtEl>
                                          <p:spTgt spid="102499"/>
                                        </p:tgtEl>
                                        <p:attrNameLst>
                                          <p:attrName>ppt_y</p:attrName>
                                        </p:attrNameLst>
                                      </p:cBhvr>
                                      <p:tavLst>
                                        <p:tav tm="0">
                                          <p:val>
                                            <p:strVal val="ppt_y"/>
                                          </p:val>
                                        </p:tav>
                                        <p:tav tm="100000">
                                          <p:val>
                                            <p:strVal val="1+ppt_h/2"/>
                                          </p:val>
                                        </p:tav>
                                      </p:tavLst>
                                    </p:anim>
                                    <p:set>
                                      <p:cBhvr>
                                        <p:cTn id="464" dur="1" fill="hold">
                                          <p:stCondLst>
                                            <p:cond delay="499"/>
                                          </p:stCondLst>
                                        </p:cTn>
                                        <p:tgtEl>
                                          <p:spTgt spid="102499"/>
                                        </p:tgtEl>
                                        <p:attrNameLst>
                                          <p:attrName>style.visibility</p:attrName>
                                        </p:attrNameLst>
                                      </p:cBhvr>
                                      <p:to>
                                        <p:strVal val="hidden"/>
                                      </p:to>
                                    </p:set>
                                  </p:childTnLst>
                                </p:cTn>
                              </p:par>
                            </p:childTnLst>
                          </p:cTn>
                        </p:par>
                      </p:childTnLst>
                    </p:cTn>
                  </p:par>
                  <p:par>
                    <p:cTn id="465" fill="hold">
                      <p:stCondLst>
                        <p:cond delay="indefinite"/>
                      </p:stCondLst>
                      <p:childTnLst>
                        <p:par>
                          <p:cTn id="466" fill="hold">
                            <p:stCondLst>
                              <p:cond delay="0"/>
                            </p:stCondLst>
                            <p:childTnLst>
                              <p:par>
                                <p:cTn id="467" presetID="2" presetClass="entr" presetSubtype="4" fill="hold" grpId="0" nodeType="clickEffect">
                                  <p:stCondLst>
                                    <p:cond delay="0"/>
                                  </p:stCondLst>
                                  <p:childTnLst>
                                    <p:set>
                                      <p:cBhvr>
                                        <p:cTn id="468" dur="1" fill="hold">
                                          <p:stCondLst>
                                            <p:cond delay="0"/>
                                          </p:stCondLst>
                                        </p:cTn>
                                        <p:tgtEl>
                                          <p:spTgt spid="102483"/>
                                        </p:tgtEl>
                                        <p:attrNameLst>
                                          <p:attrName>style.visibility</p:attrName>
                                        </p:attrNameLst>
                                      </p:cBhvr>
                                      <p:to>
                                        <p:strVal val="visible"/>
                                      </p:to>
                                    </p:set>
                                    <p:anim calcmode="lin" valueType="num">
                                      <p:cBhvr additive="base">
                                        <p:cTn id="469" dur="500" fill="hold"/>
                                        <p:tgtEl>
                                          <p:spTgt spid="102483"/>
                                        </p:tgtEl>
                                        <p:attrNameLst>
                                          <p:attrName>ppt_x</p:attrName>
                                        </p:attrNameLst>
                                      </p:cBhvr>
                                      <p:tavLst>
                                        <p:tav tm="0">
                                          <p:val>
                                            <p:strVal val="#ppt_x"/>
                                          </p:val>
                                        </p:tav>
                                        <p:tav tm="100000">
                                          <p:val>
                                            <p:strVal val="#ppt_x"/>
                                          </p:val>
                                        </p:tav>
                                      </p:tavLst>
                                    </p:anim>
                                    <p:anim calcmode="lin" valueType="num">
                                      <p:cBhvr additive="base">
                                        <p:cTn id="470" dur="500" fill="hold"/>
                                        <p:tgtEl>
                                          <p:spTgt spid="102483"/>
                                        </p:tgtEl>
                                        <p:attrNameLst>
                                          <p:attrName>ppt_y</p:attrName>
                                        </p:attrNameLst>
                                      </p:cBhvr>
                                      <p:tavLst>
                                        <p:tav tm="0">
                                          <p:val>
                                            <p:strVal val="1+#ppt_h/2"/>
                                          </p:val>
                                        </p:tav>
                                        <p:tav tm="100000">
                                          <p:val>
                                            <p:strVal val="#ppt_y"/>
                                          </p:val>
                                        </p:tav>
                                      </p:tavLst>
                                    </p:anim>
                                  </p:childTnLst>
                                </p:cTn>
                              </p:par>
                            </p:childTnLst>
                          </p:cTn>
                        </p:par>
                      </p:childTnLst>
                    </p:cTn>
                  </p:par>
                  <p:par>
                    <p:cTn id="471" fill="hold">
                      <p:stCondLst>
                        <p:cond delay="indefinite"/>
                      </p:stCondLst>
                      <p:childTnLst>
                        <p:par>
                          <p:cTn id="472" fill="hold">
                            <p:stCondLst>
                              <p:cond delay="0"/>
                            </p:stCondLst>
                            <p:childTnLst>
                              <p:par>
                                <p:cTn id="473" presetID="2" presetClass="entr" presetSubtype="4" fill="hold" grpId="0" nodeType="clickEffect">
                                  <p:stCondLst>
                                    <p:cond delay="0"/>
                                  </p:stCondLst>
                                  <p:childTnLst>
                                    <p:set>
                                      <p:cBhvr>
                                        <p:cTn id="474" dur="1" fill="hold">
                                          <p:stCondLst>
                                            <p:cond delay="0"/>
                                          </p:stCondLst>
                                        </p:cTn>
                                        <p:tgtEl>
                                          <p:spTgt spid="102484"/>
                                        </p:tgtEl>
                                        <p:attrNameLst>
                                          <p:attrName>style.visibility</p:attrName>
                                        </p:attrNameLst>
                                      </p:cBhvr>
                                      <p:to>
                                        <p:strVal val="visible"/>
                                      </p:to>
                                    </p:set>
                                    <p:anim calcmode="lin" valueType="num">
                                      <p:cBhvr additive="base">
                                        <p:cTn id="475" dur="500" fill="hold"/>
                                        <p:tgtEl>
                                          <p:spTgt spid="102484"/>
                                        </p:tgtEl>
                                        <p:attrNameLst>
                                          <p:attrName>ppt_x</p:attrName>
                                        </p:attrNameLst>
                                      </p:cBhvr>
                                      <p:tavLst>
                                        <p:tav tm="0">
                                          <p:val>
                                            <p:strVal val="#ppt_x"/>
                                          </p:val>
                                        </p:tav>
                                        <p:tav tm="100000">
                                          <p:val>
                                            <p:strVal val="#ppt_x"/>
                                          </p:val>
                                        </p:tav>
                                      </p:tavLst>
                                    </p:anim>
                                    <p:anim calcmode="lin" valueType="num">
                                      <p:cBhvr additive="base">
                                        <p:cTn id="476" dur="500" fill="hold"/>
                                        <p:tgtEl>
                                          <p:spTgt spid="102484"/>
                                        </p:tgtEl>
                                        <p:attrNameLst>
                                          <p:attrName>ppt_y</p:attrName>
                                        </p:attrNameLst>
                                      </p:cBhvr>
                                      <p:tavLst>
                                        <p:tav tm="0">
                                          <p:val>
                                            <p:strVal val="1+#ppt_h/2"/>
                                          </p:val>
                                        </p:tav>
                                        <p:tav tm="100000">
                                          <p:val>
                                            <p:strVal val="#ppt_y"/>
                                          </p:val>
                                        </p:tav>
                                      </p:tavLst>
                                    </p:anim>
                                  </p:childTnLst>
                                </p:cTn>
                              </p:par>
                            </p:childTnLst>
                          </p:cTn>
                        </p:par>
                      </p:childTnLst>
                    </p:cTn>
                  </p:par>
                  <p:par>
                    <p:cTn id="477" fill="hold">
                      <p:stCondLst>
                        <p:cond delay="indefinite"/>
                      </p:stCondLst>
                      <p:childTnLst>
                        <p:par>
                          <p:cTn id="478" fill="hold">
                            <p:stCondLst>
                              <p:cond delay="0"/>
                            </p:stCondLst>
                            <p:childTnLst>
                              <p:par>
                                <p:cTn id="479" presetID="2" presetClass="exit" presetSubtype="4" fill="hold" grpId="1" nodeType="clickEffect">
                                  <p:stCondLst>
                                    <p:cond delay="0"/>
                                  </p:stCondLst>
                                  <p:childTnLst>
                                    <p:anim calcmode="lin" valueType="num">
                                      <p:cBhvr additive="base">
                                        <p:cTn id="480" dur="500"/>
                                        <p:tgtEl>
                                          <p:spTgt spid="102500"/>
                                        </p:tgtEl>
                                        <p:attrNameLst>
                                          <p:attrName>ppt_x</p:attrName>
                                        </p:attrNameLst>
                                      </p:cBhvr>
                                      <p:tavLst>
                                        <p:tav tm="0">
                                          <p:val>
                                            <p:strVal val="ppt_x"/>
                                          </p:val>
                                        </p:tav>
                                        <p:tav tm="100000">
                                          <p:val>
                                            <p:strVal val="ppt_x"/>
                                          </p:val>
                                        </p:tav>
                                      </p:tavLst>
                                    </p:anim>
                                    <p:anim calcmode="lin" valueType="num">
                                      <p:cBhvr additive="base">
                                        <p:cTn id="481" dur="500"/>
                                        <p:tgtEl>
                                          <p:spTgt spid="102500"/>
                                        </p:tgtEl>
                                        <p:attrNameLst>
                                          <p:attrName>ppt_y</p:attrName>
                                        </p:attrNameLst>
                                      </p:cBhvr>
                                      <p:tavLst>
                                        <p:tav tm="0">
                                          <p:val>
                                            <p:strVal val="ppt_y"/>
                                          </p:val>
                                        </p:tav>
                                        <p:tav tm="100000">
                                          <p:val>
                                            <p:strVal val="1+ppt_h/2"/>
                                          </p:val>
                                        </p:tav>
                                      </p:tavLst>
                                    </p:anim>
                                    <p:set>
                                      <p:cBhvr>
                                        <p:cTn id="482" dur="1" fill="hold">
                                          <p:stCondLst>
                                            <p:cond delay="499"/>
                                          </p:stCondLst>
                                        </p:cTn>
                                        <p:tgtEl>
                                          <p:spTgt spid="102500"/>
                                        </p:tgtEl>
                                        <p:attrNameLst>
                                          <p:attrName>style.visibility</p:attrName>
                                        </p:attrNameLst>
                                      </p:cBhvr>
                                      <p:to>
                                        <p:strVal val="hidden"/>
                                      </p:to>
                                    </p:set>
                                  </p:childTnLst>
                                </p:cTn>
                              </p:par>
                            </p:childTnLst>
                          </p:cTn>
                        </p:par>
                      </p:childTnLst>
                    </p:cTn>
                  </p:par>
                  <p:par>
                    <p:cTn id="483" fill="hold">
                      <p:stCondLst>
                        <p:cond delay="indefinite"/>
                      </p:stCondLst>
                      <p:childTnLst>
                        <p:par>
                          <p:cTn id="484" fill="hold">
                            <p:stCondLst>
                              <p:cond delay="0"/>
                            </p:stCondLst>
                            <p:childTnLst>
                              <p:par>
                                <p:cTn id="485" presetID="2" presetClass="exit" presetSubtype="4" fill="hold" grpId="0" nodeType="clickEffect">
                                  <p:stCondLst>
                                    <p:cond delay="0"/>
                                  </p:stCondLst>
                                  <p:childTnLst>
                                    <p:anim calcmode="lin" valueType="num">
                                      <p:cBhvr additive="base">
                                        <p:cTn id="486" dur="500"/>
                                        <p:tgtEl>
                                          <p:spTgt spid="102507"/>
                                        </p:tgtEl>
                                        <p:attrNameLst>
                                          <p:attrName>ppt_x</p:attrName>
                                        </p:attrNameLst>
                                      </p:cBhvr>
                                      <p:tavLst>
                                        <p:tav tm="0">
                                          <p:val>
                                            <p:strVal val="ppt_x"/>
                                          </p:val>
                                        </p:tav>
                                        <p:tav tm="100000">
                                          <p:val>
                                            <p:strVal val="ppt_x"/>
                                          </p:val>
                                        </p:tav>
                                      </p:tavLst>
                                    </p:anim>
                                    <p:anim calcmode="lin" valueType="num">
                                      <p:cBhvr additive="base">
                                        <p:cTn id="487" dur="500"/>
                                        <p:tgtEl>
                                          <p:spTgt spid="102507"/>
                                        </p:tgtEl>
                                        <p:attrNameLst>
                                          <p:attrName>ppt_y</p:attrName>
                                        </p:attrNameLst>
                                      </p:cBhvr>
                                      <p:tavLst>
                                        <p:tav tm="0">
                                          <p:val>
                                            <p:strVal val="ppt_y"/>
                                          </p:val>
                                        </p:tav>
                                        <p:tav tm="100000">
                                          <p:val>
                                            <p:strVal val="1+ppt_h/2"/>
                                          </p:val>
                                        </p:tav>
                                      </p:tavLst>
                                    </p:anim>
                                    <p:set>
                                      <p:cBhvr>
                                        <p:cTn id="488" dur="1" fill="hold">
                                          <p:stCondLst>
                                            <p:cond delay="499"/>
                                          </p:stCondLst>
                                        </p:cTn>
                                        <p:tgtEl>
                                          <p:spTgt spid="102507"/>
                                        </p:tgtEl>
                                        <p:attrNameLst>
                                          <p:attrName>style.visibility</p:attrName>
                                        </p:attrNameLst>
                                      </p:cBhvr>
                                      <p:to>
                                        <p:strVal val="hidden"/>
                                      </p:to>
                                    </p:set>
                                  </p:childTnLst>
                                </p:cTn>
                              </p:par>
                            </p:childTnLst>
                          </p:cTn>
                        </p:par>
                      </p:childTnLst>
                    </p:cTn>
                  </p:par>
                  <p:par>
                    <p:cTn id="489" fill="hold">
                      <p:stCondLst>
                        <p:cond delay="indefinite"/>
                      </p:stCondLst>
                      <p:childTnLst>
                        <p:par>
                          <p:cTn id="490" fill="hold">
                            <p:stCondLst>
                              <p:cond delay="0"/>
                            </p:stCondLst>
                            <p:childTnLst>
                              <p:par>
                                <p:cTn id="491" presetID="2" presetClass="entr" presetSubtype="4" fill="hold" grpId="0" nodeType="clickEffect">
                                  <p:stCondLst>
                                    <p:cond delay="0"/>
                                  </p:stCondLst>
                                  <p:childTnLst>
                                    <p:set>
                                      <p:cBhvr>
                                        <p:cTn id="492" dur="1" fill="hold">
                                          <p:stCondLst>
                                            <p:cond delay="0"/>
                                          </p:stCondLst>
                                        </p:cTn>
                                        <p:tgtEl>
                                          <p:spTgt spid="102508"/>
                                        </p:tgtEl>
                                        <p:attrNameLst>
                                          <p:attrName>style.visibility</p:attrName>
                                        </p:attrNameLst>
                                      </p:cBhvr>
                                      <p:to>
                                        <p:strVal val="visible"/>
                                      </p:to>
                                    </p:set>
                                    <p:anim calcmode="lin" valueType="num">
                                      <p:cBhvr additive="base">
                                        <p:cTn id="493" dur="500" fill="hold"/>
                                        <p:tgtEl>
                                          <p:spTgt spid="102508"/>
                                        </p:tgtEl>
                                        <p:attrNameLst>
                                          <p:attrName>ppt_x</p:attrName>
                                        </p:attrNameLst>
                                      </p:cBhvr>
                                      <p:tavLst>
                                        <p:tav tm="0">
                                          <p:val>
                                            <p:strVal val="#ppt_x"/>
                                          </p:val>
                                        </p:tav>
                                        <p:tav tm="100000">
                                          <p:val>
                                            <p:strVal val="#ppt_x"/>
                                          </p:val>
                                        </p:tav>
                                      </p:tavLst>
                                    </p:anim>
                                    <p:anim calcmode="lin" valueType="num">
                                      <p:cBhvr additive="base">
                                        <p:cTn id="494" dur="500" fill="hold"/>
                                        <p:tgtEl>
                                          <p:spTgt spid="1025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2" grpId="0" animBg="1"/>
      <p:bldP spid="102423" grpId="0" animBg="1"/>
      <p:bldP spid="102424" grpId="0" animBg="1"/>
      <p:bldP spid="102426" grpId="0" animBg="1"/>
      <p:bldP spid="102427" grpId="0" animBg="1"/>
      <p:bldP spid="102446" grpId="0"/>
      <p:bldP spid="102447" grpId="0"/>
      <p:bldP spid="102448" grpId="0"/>
      <p:bldP spid="102449" grpId="0" animBg="1"/>
      <p:bldP spid="102450" grpId="0" animBg="1"/>
      <p:bldP spid="102451" grpId="0"/>
      <p:bldP spid="102452" grpId="0" animBg="1"/>
      <p:bldP spid="102453" grpId="0" animBg="1"/>
      <p:bldP spid="102454" grpId="0"/>
      <p:bldP spid="102455" grpId="0" animBg="1"/>
      <p:bldP spid="102456" grpId="0" animBg="1"/>
      <p:bldP spid="102457" grpId="0" animBg="1"/>
      <p:bldP spid="102458" grpId="0"/>
      <p:bldP spid="102459" grpId="0" animBg="1"/>
      <p:bldP spid="102460" grpId="0"/>
      <p:bldP spid="102461" grpId="0" animBg="1"/>
      <p:bldP spid="102462" grpId="0"/>
      <p:bldP spid="102463" grpId="0"/>
      <p:bldP spid="102464" grpId="0" animBg="1"/>
      <p:bldP spid="102465" grpId="0" animBg="1"/>
      <p:bldP spid="102466" grpId="0" animBg="1"/>
      <p:bldP spid="102467" grpId="0" animBg="1"/>
      <p:bldP spid="102468" grpId="0"/>
      <p:bldP spid="102469" grpId="0"/>
      <p:bldP spid="102470" grpId="0" animBg="1"/>
      <p:bldP spid="102471" grpId="0" animBg="1"/>
      <p:bldP spid="102472" grpId="0" animBg="1"/>
      <p:bldP spid="102473" grpId="0" animBg="1"/>
      <p:bldP spid="102474" grpId="0"/>
      <p:bldP spid="102475" grpId="0"/>
      <p:bldP spid="102476" grpId="0" animBg="1"/>
      <p:bldP spid="102477" grpId="0" animBg="1"/>
      <p:bldP spid="102478" grpId="0" animBg="1"/>
      <p:bldP spid="102479" grpId="0" animBg="1"/>
      <p:bldP spid="102480" grpId="0" animBg="1"/>
      <p:bldP spid="102481" grpId="0" animBg="1"/>
      <p:bldP spid="102482" grpId="0" animBg="1"/>
      <p:bldP spid="102483" grpId="0" animBg="1"/>
      <p:bldP spid="102484" grpId="0" animBg="1"/>
      <p:bldP spid="102485" grpId="0" animBg="1"/>
      <p:bldP spid="102486" grpId="0"/>
      <p:bldP spid="102486" grpId="1"/>
      <p:bldP spid="102487" grpId="0"/>
      <p:bldP spid="102487" grpId="1"/>
      <p:bldP spid="102488" grpId="0"/>
      <p:bldP spid="102488" grpId="1"/>
      <p:bldP spid="102489" grpId="0"/>
      <p:bldP spid="102489" grpId="1"/>
      <p:bldP spid="102490" grpId="0"/>
      <p:bldP spid="102490" grpId="1"/>
      <p:bldP spid="102491" grpId="0"/>
      <p:bldP spid="102491" grpId="1"/>
      <p:bldP spid="102492" grpId="0"/>
      <p:bldP spid="102492" grpId="1"/>
      <p:bldP spid="102493" grpId="0"/>
      <p:bldP spid="102493" grpId="1"/>
      <p:bldP spid="102494" grpId="0"/>
      <p:bldP spid="102494" grpId="1"/>
      <p:bldP spid="102495" grpId="0"/>
      <p:bldP spid="102495" grpId="1"/>
      <p:bldP spid="102496" grpId="0"/>
      <p:bldP spid="102496" grpId="1"/>
      <p:bldP spid="102497" grpId="0"/>
      <p:bldP spid="102497" grpId="1"/>
      <p:bldP spid="102498" grpId="0"/>
      <p:bldP spid="102498" grpId="1"/>
      <p:bldP spid="102499" grpId="0"/>
      <p:bldP spid="102499" grpId="1"/>
      <p:bldP spid="102500" grpId="0"/>
      <p:bldP spid="102500" grpId="1"/>
      <p:bldP spid="102501" grpId="0" animBg="1"/>
      <p:bldP spid="102502" grpId="0" animBg="1"/>
      <p:bldP spid="102503" grpId="0" animBg="1"/>
      <p:bldP spid="102504" grpId="0" animBg="1"/>
      <p:bldP spid="102506" grpId="0" animBg="1"/>
      <p:bldP spid="102507" grpId="0"/>
      <p:bldP spid="10250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en-US" altLang="zh-CN" sz="3000"/>
              <a:t>6.3 </a:t>
            </a:r>
            <a:r>
              <a:rPr lang="zh-CN" altLang="en-US" sz="3000"/>
              <a:t>装载问题</a:t>
            </a:r>
            <a:endParaRPr lang="zh-CN" altLang="en-US" sz="3000"/>
          </a:p>
        </p:txBody>
      </p:sp>
      <p:sp>
        <p:nvSpPr>
          <p:cNvPr id="103427" name="Text Box 3"/>
          <p:cNvSpPr txBox="1">
            <a:spLocks noChangeArrowheads="1"/>
          </p:cNvSpPr>
          <p:nvPr/>
        </p:nvSpPr>
        <p:spPr bwMode="auto">
          <a:xfrm>
            <a:off x="352425" y="1773238"/>
            <a:ext cx="6324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a:solidFill>
                  <a:schemeClr val="accent2"/>
                </a:solidFill>
                <a:latin typeface="Times New Roman" panose="02020603050405020304" pitchFamily="18" charset="0"/>
                <a:ea typeface="黑体" panose="02010609060101010101" pitchFamily="2" charset="-122"/>
              </a:rPr>
              <a:t>3. </a:t>
            </a:r>
            <a:r>
              <a:rPr kumimoji="1" lang="zh-CN" altLang="en-US" sz="3200">
                <a:solidFill>
                  <a:schemeClr val="accent2"/>
                </a:solidFill>
                <a:latin typeface="Times New Roman" panose="02020603050405020304" pitchFamily="18" charset="0"/>
                <a:ea typeface="黑体" panose="02010609060101010101" pitchFamily="2" charset="-122"/>
              </a:rPr>
              <a:t>算法的改进</a:t>
            </a:r>
            <a:endParaRPr lang="zh-CN" altLang="en-US">
              <a:solidFill>
                <a:schemeClr val="accent2"/>
              </a:solidFill>
              <a:ea typeface="华文行楷" panose="02010800040101010101" pitchFamily="2" charset="-122"/>
            </a:endParaRPr>
          </a:p>
        </p:txBody>
      </p:sp>
      <p:sp>
        <p:nvSpPr>
          <p:cNvPr id="103428" name="Text Box 4"/>
          <p:cNvSpPr txBox="1">
            <a:spLocks noChangeArrowheads="1"/>
          </p:cNvSpPr>
          <p:nvPr/>
        </p:nvSpPr>
        <p:spPr bwMode="auto">
          <a:xfrm>
            <a:off x="733425" y="2687638"/>
            <a:ext cx="69342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节点的左子树表示将此集装箱装上船，右子树表示不将此集装箱装上船。设</a:t>
            </a:r>
            <a:r>
              <a:rPr lang="en-US" altLang="zh-CN" sz="2400" b="1">
                <a:latin typeface="新宋体" panose="02010609030101010101" charset="-122"/>
                <a:ea typeface="新宋体" panose="02010609030101010101" charset="-122"/>
              </a:rPr>
              <a:t>bestw</a:t>
            </a:r>
            <a:r>
              <a:rPr lang="zh-CN" altLang="en-US" sz="2400" b="1">
                <a:latin typeface="新宋体" panose="02010609030101010101" charset="-122"/>
                <a:ea typeface="新宋体" panose="02010609030101010101" charset="-122"/>
              </a:rPr>
              <a:t>是当前最优解；</a:t>
            </a:r>
            <a:r>
              <a:rPr lang="en-US" altLang="zh-CN" sz="2400" b="1">
                <a:latin typeface="新宋体" panose="02010609030101010101" charset="-122"/>
                <a:ea typeface="新宋体" panose="02010609030101010101" charset="-122"/>
              </a:rPr>
              <a:t>ew</a:t>
            </a:r>
            <a:r>
              <a:rPr lang="zh-CN" altLang="en-US" sz="2400" b="1">
                <a:latin typeface="新宋体" panose="02010609030101010101" charset="-122"/>
                <a:ea typeface="新宋体" panose="02010609030101010101" charset="-122"/>
              </a:rPr>
              <a:t>是当前扩展结点所相应的重量；</a:t>
            </a:r>
            <a:r>
              <a:rPr lang="en-US" altLang="zh-CN" sz="2400" b="1">
                <a:latin typeface="新宋体" panose="02010609030101010101" charset="-122"/>
                <a:ea typeface="新宋体" panose="02010609030101010101" charset="-122"/>
              </a:rPr>
              <a:t>r</a:t>
            </a:r>
            <a:r>
              <a:rPr lang="zh-CN" altLang="en-US" sz="2400" b="1">
                <a:latin typeface="新宋体" panose="02010609030101010101" charset="-122"/>
                <a:ea typeface="新宋体" panose="02010609030101010101" charset="-122"/>
              </a:rPr>
              <a:t>是剩余集装箱的重量。则当</a:t>
            </a:r>
            <a:r>
              <a:rPr lang="en-US" altLang="zh-CN" sz="2400" b="1">
                <a:latin typeface="新宋体" panose="02010609030101010101" charset="-122"/>
                <a:ea typeface="新宋体" panose="02010609030101010101" charset="-122"/>
              </a:rPr>
              <a:t>ew+r</a:t>
            </a:r>
            <a:r>
              <a:rPr lang="en-US" altLang="zh-CN" sz="2400" b="1">
                <a:latin typeface="新宋体" panose="02010609030101010101" charset="-122"/>
                <a:ea typeface="新宋体" panose="02010609030101010101" charset="-122"/>
                <a:sym typeface="Symbol" panose="05050102010706020507" pitchFamily="18" charset="2"/>
              </a:rPr>
              <a:t></a:t>
            </a:r>
            <a:r>
              <a:rPr lang="en-US" altLang="zh-CN" sz="2400" b="1">
                <a:latin typeface="新宋体" panose="02010609030101010101" charset="-122"/>
                <a:ea typeface="新宋体" panose="02010609030101010101" charset="-122"/>
              </a:rPr>
              <a:t>bestw</a:t>
            </a:r>
            <a:r>
              <a:rPr lang="zh-CN" altLang="en-US" sz="2400" b="1">
                <a:latin typeface="新宋体" panose="02010609030101010101" charset="-122"/>
                <a:ea typeface="新宋体" panose="02010609030101010101" charset="-122"/>
              </a:rPr>
              <a:t>时，可将其右子树剪去，因为此时若要船装最多集装箱，就应该把此箱装上船。</a:t>
            </a:r>
            <a:endParaRPr lang="zh-CN" altLang="en-US" sz="2400" b="1">
              <a:latin typeface="新宋体" panose="02010609030101010101" charset="-122"/>
              <a:ea typeface="新宋体" panose="02010609030101010101" charset="-122"/>
            </a:endParaRPr>
          </a:p>
        </p:txBody>
      </p:sp>
      <p:sp>
        <p:nvSpPr>
          <p:cNvPr id="103429" name="Text Box 5"/>
          <p:cNvSpPr txBox="1">
            <a:spLocks noChangeArrowheads="1"/>
          </p:cNvSpPr>
          <p:nvPr/>
        </p:nvSpPr>
        <p:spPr bwMode="auto">
          <a:xfrm>
            <a:off x="641350" y="4500563"/>
            <a:ext cx="68738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ctr" eaLnBrk="1" hangingPunct="1"/>
            <a:endParaRPr lang="zh-CN" altLang="zh-CN">
              <a:solidFill>
                <a:schemeClr val="accent2"/>
              </a:solidFill>
              <a:ea typeface="华文行楷" panose="02010800040101010101" pitchFamily="2" charset="-122"/>
            </a:endParaRPr>
          </a:p>
        </p:txBody>
      </p:sp>
      <p:sp>
        <p:nvSpPr>
          <p:cNvPr id="103430" name="Text Box 6"/>
          <p:cNvSpPr txBox="1">
            <a:spLocks noChangeArrowheads="1"/>
          </p:cNvSpPr>
          <p:nvPr/>
        </p:nvSpPr>
        <p:spPr bwMode="auto">
          <a:xfrm>
            <a:off x="733425" y="5175250"/>
            <a:ext cx="6858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另外，为了确保右子树成功剪枝，应该在算法每一次进入左子树的时候更新</a:t>
            </a:r>
            <a:r>
              <a:rPr lang="en-US" altLang="zh-CN" sz="2400" b="1">
                <a:latin typeface="新宋体" panose="02010609030101010101" charset="-122"/>
                <a:ea typeface="新宋体" panose="02010609030101010101" charset="-122"/>
              </a:rPr>
              <a:t>bestw</a:t>
            </a:r>
            <a:r>
              <a:rPr lang="zh-CN" altLang="en-US" sz="2400" b="1">
                <a:latin typeface="新宋体" panose="02010609030101010101" charset="-122"/>
                <a:ea typeface="新宋体" panose="02010609030101010101" charset="-122"/>
              </a:rPr>
              <a:t>的值。</a:t>
            </a:r>
            <a:endParaRPr lang="zh-CN" altLang="en-US" sz="2400" b="1">
              <a:latin typeface="新宋体" panose="02010609030101010101" charset="-122"/>
              <a:ea typeface="新宋体" panose="02010609030101010101"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3427"/>
                                        </p:tgtEl>
                                        <p:attrNameLst>
                                          <p:attrName>style.visibility</p:attrName>
                                        </p:attrNameLst>
                                      </p:cBhvr>
                                      <p:to>
                                        <p:strVal val="visible"/>
                                      </p:to>
                                    </p:set>
                                    <p:anim calcmode="lin" valueType="num">
                                      <p:cBhvr additive="base">
                                        <p:cTn id="7" dur="500" fill="hold"/>
                                        <p:tgtEl>
                                          <p:spTgt spid="103427"/>
                                        </p:tgtEl>
                                        <p:attrNameLst>
                                          <p:attrName>ppt_x</p:attrName>
                                        </p:attrNameLst>
                                      </p:cBhvr>
                                      <p:tavLst>
                                        <p:tav tm="0">
                                          <p:val>
                                            <p:strVal val="1+#ppt_w/2"/>
                                          </p:val>
                                        </p:tav>
                                        <p:tav tm="100000">
                                          <p:val>
                                            <p:strVal val="#ppt_x"/>
                                          </p:val>
                                        </p:tav>
                                      </p:tavLst>
                                    </p:anim>
                                    <p:anim calcmode="lin" valueType="num">
                                      <p:cBhvr additive="base">
                                        <p:cTn id="8" dur="500" fill="hold"/>
                                        <p:tgtEl>
                                          <p:spTgt spid="1034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103428"/>
                                        </p:tgtEl>
                                        <p:attrNameLst>
                                          <p:attrName>style.visibility</p:attrName>
                                        </p:attrNameLst>
                                      </p:cBhvr>
                                      <p:to>
                                        <p:strVal val="visible"/>
                                      </p:to>
                                    </p:set>
                                    <p:animEffect transition="in" filter="slide(fromLeft)">
                                      <p:cBhvr>
                                        <p:cTn id="13" dur="500"/>
                                        <p:tgtEl>
                                          <p:spTgt spid="103428"/>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2" fill="hold" grpId="0" nodeType="clickEffect">
                                  <p:stCondLst>
                                    <p:cond delay="0"/>
                                  </p:stCondLst>
                                  <p:childTnLst>
                                    <p:set>
                                      <p:cBhvr>
                                        <p:cTn id="17" dur="1" fill="hold">
                                          <p:stCondLst>
                                            <p:cond delay="0"/>
                                          </p:stCondLst>
                                        </p:cTn>
                                        <p:tgtEl>
                                          <p:spTgt spid="103430"/>
                                        </p:tgtEl>
                                        <p:attrNameLst>
                                          <p:attrName>style.visibility</p:attrName>
                                        </p:attrNameLst>
                                      </p:cBhvr>
                                      <p:to>
                                        <p:strVal val="visible"/>
                                      </p:to>
                                    </p:set>
                                    <p:animEffect transition="in" filter="slide(fromRight)">
                                      <p:cBhvr>
                                        <p:cTn id="18" dur="500"/>
                                        <p:tgtEl>
                                          <p:spTgt spid="103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autoUpdateAnimBg="0"/>
      <p:bldP spid="103428" grpId="0" autoUpdateAnimBg="0"/>
      <p:bldP spid="103430"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en-US" altLang="zh-CN" sz="3000"/>
              <a:t>6.3 </a:t>
            </a:r>
            <a:r>
              <a:rPr lang="zh-CN" altLang="en-US" sz="3000"/>
              <a:t>装载问题</a:t>
            </a:r>
            <a:endParaRPr lang="zh-CN" altLang="en-US" sz="3000"/>
          </a:p>
        </p:txBody>
      </p:sp>
      <p:sp>
        <p:nvSpPr>
          <p:cNvPr id="104451" name="Text Box 3"/>
          <p:cNvSpPr txBox="1">
            <a:spLocks noChangeArrowheads="1"/>
          </p:cNvSpPr>
          <p:nvPr/>
        </p:nvSpPr>
        <p:spPr bwMode="auto">
          <a:xfrm>
            <a:off x="304800" y="2209800"/>
            <a:ext cx="6324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a:solidFill>
                  <a:schemeClr val="accent2"/>
                </a:solidFill>
                <a:latin typeface="Times New Roman" panose="02020603050405020304" pitchFamily="18" charset="0"/>
                <a:ea typeface="黑体" panose="02010609060101010101" pitchFamily="2" charset="-122"/>
              </a:rPr>
              <a:t>3. </a:t>
            </a:r>
            <a:r>
              <a:rPr kumimoji="1" lang="zh-CN" altLang="en-US" sz="3200">
                <a:solidFill>
                  <a:schemeClr val="accent2"/>
                </a:solidFill>
                <a:latin typeface="Times New Roman" panose="02020603050405020304" pitchFamily="18" charset="0"/>
                <a:ea typeface="黑体" panose="02010609060101010101" pitchFamily="2" charset="-122"/>
              </a:rPr>
              <a:t>算法的改进</a:t>
            </a:r>
            <a:endParaRPr lang="zh-CN" altLang="en-US">
              <a:solidFill>
                <a:schemeClr val="accent2"/>
              </a:solidFill>
              <a:ea typeface="华文行楷" panose="02010800040101010101" pitchFamily="2" charset="-122"/>
            </a:endParaRPr>
          </a:p>
        </p:txBody>
      </p:sp>
      <p:sp>
        <p:nvSpPr>
          <p:cNvPr id="104452" name="Text Box 4"/>
          <p:cNvSpPr txBox="1">
            <a:spLocks noChangeArrowheads="1"/>
          </p:cNvSpPr>
          <p:nvPr/>
        </p:nvSpPr>
        <p:spPr bwMode="auto">
          <a:xfrm>
            <a:off x="381000" y="2819400"/>
            <a:ext cx="4114800" cy="291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lnSpc>
                <a:spcPct val="165000"/>
              </a:lnSpc>
            </a:pPr>
            <a:r>
              <a:rPr kumimoji="1" lang="en-US" altLang="zh-CN" sz="1600"/>
              <a:t>// </a:t>
            </a:r>
            <a:r>
              <a:rPr kumimoji="1" lang="zh-CN" altLang="en-US" sz="1600"/>
              <a:t>检查左儿子结点</a:t>
            </a:r>
            <a:endParaRPr kumimoji="1" lang="zh-CN" altLang="en-US" sz="1600"/>
          </a:p>
          <a:p>
            <a:pPr eaLnBrk="1" hangingPunct="1">
              <a:lnSpc>
                <a:spcPct val="165000"/>
              </a:lnSpc>
            </a:pPr>
            <a:r>
              <a:rPr kumimoji="1" lang="zh-CN" altLang="en-US" sz="1600"/>
              <a:t>  </a:t>
            </a:r>
            <a:r>
              <a:rPr kumimoji="1" lang="en-US" altLang="zh-CN" sz="1600"/>
              <a:t>Type wt = Ew + w[i];   // </a:t>
            </a:r>
            <a:r>
              <a:rPr kumimoji="1" lang="zh-CN" altLang="en-US" sz="1600"/>
              <a:t>左儿子结点的重量</a:t>
            </a:r>
            <a:endParaRPr kumimoji="1" lang="zh-CN" altLang="en-US" sz="1600"/>
          </a:p>
          <a:p>
            <a:pPr eaLnBrk="1" hangingPunct="1">
              <a:lnSpc>
                <a:spcPct val="165000"/>
              </a:lnSpc>
            </a:pPr>
            <a:r>
              <a:rPr kumimoji="1" lang="zh-CN" altLang="en-US" sz="1600"/>
              <a:t>      </a:t>
            </a:r>
            <a:r>
              <a:rPr kumimoji="1" lang="en-US" altLang="zh-CN" sz="1600"/>
              <a:t>if (wt &lt;= c) {     // </a:t>
            </a:r>
            <a:r>
              <a:rPr kumimoji="1" lang="zh-CN" altLang="en-US" sz="1600"/>
              <a:t>可行结点</a:t>
            </a:r>
            <a:endParaRPr kumimoji="1" lang="zh-CN" altLang="en-US" sz="1600"/>
          </a:p>
          <a:p>
            <a:pPr eaLnBrk="1" hangingPunct="1">
              <a:lnSpc>
                <a:spcPct val="165000"/>
              </a:lnSpc>
            </a:pPr>
            <a:r>
              <a:rPr kumimoji="1" lang="zh-CN" altLang="en-US" sz="1600"/>
              <a:t>         </a:t>
            </a:r>
            <a:r>
              <a:rPr kumimoji="1" lang="en-US" altLang="zh-CN" sz="1600"/>
              <a:t>if (wt &gt; bestw) bestw = wt;</a:t>
            </a:r>
            <a:endParaRPr kumimoji="1" lang="en-US" altLang="zh-CN" sz="1600"/>
          </a:p>
          <a:p>
            <a:pPr eaLnBrk="1" hangingPunct="1">
              <a:lnSpc>
                <a:spcPct val="165000"/>
              </a:lnSpc>
            </a:pPr>
            <a:r>
              <a:rPr kumimoji="1" lang="en-US" altLang="zh-CN" sz="1600"/>
              <a:t>         // </a:t>
            </a:r>
            <a:r>
              <a:rPr kumimoji="1" lang="zh-CN" altLang="en-US" sz="1600"/>
              <a:t>加入活结点队列</a:t>
            </a:r>
            <a:endParaRPr kumimoji="1" lang="zh-CN" altLang="en-US" sz="1600"/>
          </a:p>
          <a:p>
            <a:pPr eaLnBrk="1" hangingPunct="1">
              <a:lnSpc>
                <a:spcPct val="165000"/>
              </a:lnSpc>
            </a:pPr>
            <a:r>
              <a:rPr kumimoji="1" lang="zh-CN" altLang="en-US" sz="1600"/>
              <a:t>         </a:t>
            </a:r>
            <a:r>
              <a:rPr kumimoji="1" lang="en-US" altLang="zh-CN" sz="1600"/>
              <a:t>if (i &lt; n) Q.Add(wt);</a:t>
            </a:r>
            <a:endParaRPr kumimoji="1" lang="en-US" altLang="zh-CN" sz="1600"/>
          </a:p>
          <a:p>
            <a:pPr eaLnBrk="1" hangingPunct="1">
              <a:lnSpc>
                <a:spcPct val="165000"/>
              </a:lnSpc>
            </a:pPr>
            <a:r>
              <a:rPr kumimoji="1" lang="en-US" altLang="zh-CN" sz="1600"/>
              <a:t>}</a:t>
            </a:r>
            <a:endParaRPr kumimoji="1" lang="en-US" altLang="zh-CN" sz="1600"/>
          </a:p>
        </p:txBody>
      </p:sp>
      <p:sp>
        <p:nvSpPr>
          <p:cNvPr id="104453" name="AutoShape 5"/>
          <p:cNvSpPr>
            <a:spLocks noChangeArrowheads="1"/>
          </p:cNvSpPr>
          <p:nvPr/>
        </p:nvSpPr>
        <p:spPr bwMode="auto">
          <a:xfrm>
            <a:off x="2895600" y="2349500"/>
            <a:ext cx="1676400" cy="762000"/>
          </a:xfrm>
          <a:prstGeom prst="wedgeRoundRectCallout">
            <a:avLst>
              <a:gd name="adj1" fmla="val -39394"/>
              <a:gd name="adj2" fmla="val 187083"/>
              <a:gd name="adj3" fmla="val 16667"/>
            </a:avLst>
          </a:prstGeom>
          <a:solidFill>
            <a:schemeClr val="hlink"/>
          </a:solidFill>
          <a:ln w="6350">
            <a:solidFill>
              <a:schemeClr val="hlink"/>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lstStyle/>
          <a:p>
            <a:pPr algn="ctr" eaLnBrk="1" hangingPunct="1"/>
            <a:r>
              <a:rPr lang="zh-CN" altLang="en-US" sz="2000" b="1">
                <a:solidFill>
                  <a:schemeClr val="accent2"/>
                </a:solidFill>
                <a:latin typeface="新宋体" panose="02010609030101010101" charset="-122"/>
                <a:ea typeface="新宋体" panose="02010609030101010101" charset="-122"/>
              </a:rPr>
              <a:t>提前更新</a:t>
            </a:r>
            <a:r>
              <a:rPr lang="en-US" altLang="zh-CN" sz="2000" b="1">
                <a:solidFill>
                  <a:schemeClr val="accent2"/>
                </a:solidFill>
                <a:latin typeface="新宋体" panose="02010609030101010101" charset="-122"/>
                <a:ea typeface="新宋体" panose="02010609030101010101" charset="-122"/>
              </a:rPr>
              <a:t>bestw </a:t>
            </a:r>
            <a:endParaRPr lang="en-US" altLang="zh-CN" sz="2000" b="1">
              <a:solidFill>
                <a:schemeClr val="accent2"/>
              </a:solidFill>
              <a:latin typeface="新宋体" panose="02010609030101010101" charset="-122"/>
              <a:ea typeface="新宋体" panose="02010609030101010101" charset="-122"/>
            </a:endParaRPr>
          </a:p>
        </p:txBody>
      </p:sp>
      <p:sp>
        <p:nvSpPr>
          <p:cNvPr id="104454" name="Text Box 6"/>
          <p:cNvSpPr txBox="1">
            <a:spLocks noChangeArrowheads="1"/>
          </p:cNvSpPr>
          <p:nvPr/>
        </p:nvSpPr>
        <p:spPr bwMode="auto">
          <a:xfrm>
            <a:off x="4724400" y="2895600"/>
            <a:ext cx="3886200"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lnSpc>
                <a:spcPct val="200000"/>
              </a:lnSpc>
            </a:pPr>
            <a:r>
              <a:rPr kumimoji="1" lang="en-US" altLang="zh-CN" sz="1600"/>
              <a:t>// </a:t>
            </a:r>
            <a:r>
              <a:rPr kumimoji="1" lang="zh-CN" altLang="en-US" sz="1600"/>
              <a:t>检查右儿子结点</a:t>
            </a:r>
            <a:endParaRPr kumimoji="1" lang="zh-CN" altLang="en-US" sz="1600"/>
          </a:p>
          <a:p>
            <a:pPr eaLnBrk="1" hangingPunct="1">
              <a:lnSpc>
                <a:spcPct val="200000"/>
              </a:lnSpc>
            </a:pPr>
            <a:r>
              <a:rPr kumimoji="1" lang="zh-CN" altLang="en-US" sz="1600"/>
              <a:t>      </a:t>
            </a:r>
            <a:r>
              <a:rPr kumimoji="1" lang="en-US" altLang="zh-CN" sz="1600"/>
              <a:t>if (Ew + r &gt; bestw &amp;&amp; i &lt; n)</a:t>
            </a:r>
            <a:endParaRPr kumimoji="1" lang="en-US" altLang="zh-CN" sz="1600"/>
          </a:p>
          <a:p>
            <a:pPr eaLnBrk="1" hangingPunct="1">
              <a:lnSpc>
                <a:spcPct val="200000"/>
              </a:lnSpc>
            </a:pPr>
            <a:r>
              <a:rPr kumimoji="1" lang="en-US" altLang="zh-CN" sz="1600"/>
              <a:t>          Q.Add(Ew);     // </a:t>
            </a:r>
            <a:r>
              <a:rPr kumimoji="1" lang="zh-CN" altLang="en-US" sz="1600"/>
              <a:t>可能含最优解</a:t>
            </a:r>
            <a:endParaRPr kumimoji="1" lang="zh-CN" altLang="en-US" sz="1600"/>
          </a:p>
          <a:p>
            <a:pPr eaLnBrk="1" hangingPunct="1">
              <a:lnSpc>
                <a:spcPct val="200000"/>
              </a:lnSpc>
            </a:pPr>
            <a:r>
              <a:rPr kumimoji="1" lang="zh-CN" altLang="en-US" sz="1600"/>
              <a:t>      </a:t>
            </a:r>
            <a:r>
              <a:rPr kumimoji="1" lang="en-US" altLang="zh-CN" sz="1600"/>
              <a:t>Q.Delete(Ew);     // </a:t>
            </a:r>
            <a:r>
              <a:rPr kumimoji="1" lang="zh-CN" altLang="en-US" sz="1600"/>
              <a:t>取下一扩展结点</a:t>
            </a:r>
            <a:endParaRPr kumimoji="1" lang="zh-CN" altLang="en-US" sz="1600"/>
          </a:p>
        </p:txBody>
      </p:sp>
      <p:sp>
        <p:nvSpPr>
          <p:cNvPr id="104455" name="AutoShape 7"/>
          <p:cNvSpPr>
            <a:spLocks noChangeArrowheads="1"/>
          </p:cNvSpPr>
          <p:nvPr/>
        </p:nvSpPr>
        <p:spPr bwMode="auto">
          <a:xfrm>
            <a:off x="7162800" y="2235200"/>
            <a:ext cx="1676400" cy="762000"/>
          </a:xfrm>
          <a:prstGeom prst="wedgeRoundRectCallout">
            <a:avLst>
              <a:gd name="adj1" fmla="val -64773"/>
              <a:gd name="adj2" fmla="val 135000"/>
              <a:gd name="adj3" fmla="val 16667"/>
            </a:avLst>
          </a:prstGeom>
          <a:solidFill>
            <a:schemeClr val="hlink"/>
          </a:solidFill>
          <a:ln w="6350">
            <a:solidFill>
              <a:schemeClr val="hlink"/>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lstStyle/>
          <a:p>
            <a:pPr algn="ctr" eaLnBrk="1" hangingPunct="1"/>
            <a:r>
              <a:rPr lang="zh-CN" altLang="en-US" sz="2000" b="1">
                <a:solidFill>
                  <a:schemeClr val="accent2"/>
                </a:solidFill>
                <a:latin typeface="新宋体" panose="02010609030101010101" charset="-122"/>
                <a:ea typeface="新宋体" panose="02010609030101010101" charset="-122"/>
              </a:rPr>
              <a:t>右儿子剪枝 </a:t>
            </a:r>
            <a:endParaRPr lang="zh-CN" altLang="en-US" sz="2000" b="1">
              <a:solidFill>
                <a:schemeClr val="accent2"/>
              </a:solidFill>
              <a:latin typeface="新宋体" panose="02010609030101010101" charset="-122"/>
              <a:ea typeface="新宋体" panose="02010609030101010101" charset="-122"/>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4451"/>
                                        </p:tgtEl>
                                        <p:attrNameLst>
                                          <p:attrName>style.visibility</p:attrName>
                                        </p:attrNameLst>
                                      </p:cBhvr>
                                      <p:to>
                                        <p:strVal val="visible"/>
                                      </p:to>
                                    </p:set>
                                    <p:anim calcmode="lin" valueType="num">
                                      <p:cBhvr additive="base">
                                        <p:cTn id="7" dur="500" fill="hold"/>
                                        <p:tgtEl>
                                          <p:spTgt spid="104451"/>
                                        </p:tgtEl>
                                        <p:attrNameLst>
                                          <p:attrName>ppt_x</p:attrName>
                                        </p:attrNameLst>
                                      </p:cBhvr>
                                      <p:tavLst>
                                        <p:tav tm="0">
                                          <p:val>
                                            <p:strVal val="1+#ppt_w/2"/>
                                          </p:val>
                                        </p:tav>
                                        <p:tav tm="100000">
                                          <p:val>
                                            <p:strVal val="#ppt_x"/>
                                          </p:val>
                                        </p:tav>
                                      </p:tavLst>
                                    </p:anim>
                                    <p:anim calcmode="lin" valueType="num">
                                      <p:cBhvr additive="base">
                                        <p:cTn id="8" dur="500" fill="hold"/>
                                        <p:tgtEl>
                                          <p:spTgt spid="10445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4452"/>
                                        </p:tgtEl>
                                        <p:attrNameLst>
                                          <p:attrName>style.visibility</p:attrName>
                                        </p:attrNameLst>
                                      </p:cBhvr>
                                      <p:to>
                                        <p:strVal val="visible"/>
                                      </p:to>
                                    </p:set>
                                    <p:anim calcmode="lin" valueType="num">
                                      <p:cBhvr additive="base">
                                        <p:cTn id="13" dur="500" fill="hold"/>
                                        <p:tgtEl>
                                          <p:spTgt spid="104452"/>
                                        </p:tgtEl>
                                        <p:attrNameLst>
                                          <p:attrName>ppt_x</p:attrName>
                                        </p:attrNameLst>
                                      </p:cBhvr>
                                      <p:tavLst>
                                        <p:tav tm="0">
                                          <p:val>
                                            <p:strVal val="0-#ppt_w/2"/>
                                          </p:val>
                                        </p:tav>
                                        <p:tav tm="100000">
                                          <p:val>
                                            <p:strVal val="#ppt_x"/>
                                          </p:val>
                                        </p:tav>
                                      </p:tavLst>
                                    </p:anim>
                                    <p:anim calcmode="lin" valueType="num">
                                      <p:cBhvr additive="base">
                                        <p:cTn id="14" dur="500" fill="hold"/>
                                        <p:tgtEl>
                                          <p:spTgt spid="10445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4453"/>
                                        </p:tgtEl>
                                        <p:attrNameLst>
                                          <p:attrName>style.visibility</p:attrName>
                                        </p:attrNameLst>
                                      </p:cBhvr>
                                      <p:to>
                                        <p:strVal val="visible"/>
                                      </p:to>
                                    </p:set>
                                    <p:anim calcmode="lin" valueType="num">
                                      <p:cBhvr additive="base">
                                        <p:cTn id="19" dur="500" fill="hold"/>
                                        <p:tgtEl>
                                          <p:spTgt spid="104453"/>
                                        </p:tgtEl>
                                        <p:attrNameLst>
                                          <p:attrName>ppt_x</p:attrName>
                                        </p:attrNameLst>
                                      </p:cBhvr>
                                      <p:tavLst>
                                        <p:tav tm="0">
                                          <p:val>
                                            <p:strVal val="0-#ppt_w/2"/>
                                          </p:val>
                                        </p:tav>
                                        <p:tav tm="100000">
                                          <p:val>
                                            <p:strVal val="#ppt_x"/>
                                          </p:val>
                                        </p:tav>
                                      </p:tavLst>
                                    </p:anim>
                                    <p:anim calcmode="lin" valueType="num">
                                      <p:cBhvr additive="base">
                                        <p:cTn id="20" dur="500" fill="hold"/>
                                        <p:tgtEl>
                                          <p:spTgt spid="10445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04454"/>
                                        </p:tgtEl>
                                        <p:attrNameLst>
                                          <p:attrName>style.visibility</p:attrName>
                                        </p:attrNameLst>
                                      </p:cBhvr>
                                      <p:to>
                                        <p:strVal val="visible"/>
                                      </p:to>
                                    </p:set>
                                    <p:anim calcmode="lin" valueType="num">
                                      <p:cBhvr additive="base">
                                        <p:cTn id="25" dur="500" fill="hold"/>
                                        <p:tgtEl>
                                          <p:spTgt spid="104454"/>
                                        </p:tgtEl>
                                        <p:attrNameLst>
                                          <p:attrName>ppt_x</p:attrName>
                                        </p:attrNameLst>
                                      </p:cBhvr>
                                      <p:tavLst>
                                        <p:tav tm="0">
                                          <p:val>
                                            <p:strVal val="1+#ppt_w/2"/>
                                          </p:val>
                                        </p:tav>
                                        <p:tav tm="100000">
                                          <p:val>
                                            <p:strVal val="#ppt_x"/>
                                          </p:val>
                                        </p:tav>
                                      </p:tavLst>
                                    </p:anim>
                                    <p:anim calcmode="lin" valueType="num">
                                      <p:cBhvr additive="base">
                                        <p:cTn id="26" dur="500" fill="hold"/>
                                        <p:tgtEl>
                                          <p:spTgt spid="10445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04455"/>
                                        </p:tgtEl>
                                        <p:attrNameLst>
                                          <p:attrName>style.visibility</p:attrName>
                                        </p:attrNameLst>
                                      </p:cBhvr>
                                      <p:to>
                                        <p:strVal val="visible"/>
                                      </p:to>
                                    </p:set>
                                    <p:anim calcmode="lin" valueType="num">
                                      <p:cBhvr additive="base">
                                        <p:cTn id="31" dur="500" fill="hold"/>
                                        <p:tgtEl>
                                          <p:spTgt spid="104455"/>
                                        </p:tgtEl>
                                        <p:attrNameLst>
                                          <p:attrName>ppt_x</p:attrName>
                                        </p:attrNameLst>
                                      </p:cBhvr>
                                      <p:tavLst>
                                        <p:tav tm="0">
                                          <p:val>
                                            <p:strVal val="1+#ppt_w/2"/>
                                          </p:val>
                                        </p:tav>
                                        <p:tav tm="100000">
                                          <p:val>
                                            <p:strVal val="#ppt_x"/>
                                          </p:val>
                                        </p:tav>
                                      </p:tavLst>
                                    </p:anim>
                                    <p:anim calcmode="lin" valueType="num">
                                      <p:cBhvr additive="base">
                                        <p:cTn id="32" dur="500" fill="hold"/>
                                        <p:tgtEl>
                                          <p:spTgt spid="1044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autoUpdateAnimBg="0"/>
      <p:bldP spid="104452" grpId="0" autoUpdateAnimBg="0"/>
      <p:bldP spid="104453" grpId="0" animBg="1" autoUpdateAnimBg="0"/>
      <p:bldP spid="104454" grpId="0" autoUpdateAnimBg="0"/>
      <p:bldP spid="104455"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457200" y="122238"/>
            <a:ext cx="7543800" cy="1123950"/>
          </a:xfrm>
          <a:noFill/>
        </p:spPr>
        <p:txBody>
          <a:bodyPr lIns="92075" tIns="46038" rIns="92075" bIns="46038" anchor="ctr"/>
          <a:lstStyle/>
          <a:p>
            <a:r>
              <a:rPr lang="en-US" altLang="zh-CN" i="1"/>
              <a:t>n</a:t>
            </a:r>
            <a:r>
              <a:rPr lang="en-US" altLang="zh-CN"/>
              <a:t>=3,</a:t>
            </a:r>
            <a:r>
              <a:rPr lang="en-US" altLang="zh-CN" i="1"/>
              <a:t>w</a:t>
            </a:r>
            <a:r>
              <a:rPr lang="en-US" altLang="zh-CN"/>
              <a:t>=[8,6,2], </a:t>
            </a:r>
            <a:r>
              <a:rPr lang="en-US" altLang="zh-CN" i="1"/>
              <a:t>W</a:t>
            </a:r>
            <a:r>
              <a:rPr lang="en-US" altLang="zh-CN"/>
              <a:t>=12</a:t>
            </a:r>
            <a:endParaRPr lang="en-US" altLang="zh-CN"/>
          </a:p>
        </p:txBody>
      </p:sp>
      <p:sp>
        <p:nvSpPr>
          <p:cNvPr id="105475" name="Oval 3"/>
          <p:cNvSpPr>
            <a:spLocks noChangeArrowheads="1"/>
          </p:cNvSpPr>
          <p:nvPr/>
        </p:nvSpPr>
        <p:spPr bwMode="auto">
          <a:xfrm>
            <a:off x="4067175" y="1377950"/>
            <a:ext cx="504825" cy="466725"/>
          </a:xfrm>
          <a:prstGeom prst="ellipse">
            <a:avLst/>
          </a:prstGeom>
          <a:solidFill>
            <a:srgbClr val="00FF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A</a:t>
            </a:r>
            <a:endParaRPr lang="en-US" altLang="zh-CN" sz="2400">
              <a:solidFill>
                <a:schemeClr val="bg1"/>
              </a:solidFill>
              <a:latin typeface="Times New Roman" panose="02020603050405020304" pitchFamily="18" charset="0"/>
            </a:endParaRPr>
          </a:p>
        </p:txBody>
      </p:sp>
      <p:sp>
        <p:nvSpPr>
          <p:cNvPr id="105476" name="Line 4"/>
          <p:cNvSpPr>
            <a:spLocks noChangeShapeType="1"/>
          </p:cNvSpPr>
          <p:nvPr/>
        </p:nvSpPr>
        <p:spPr bwMode="auto">
          <a:xfrm flipH="1">
            <a:off x="2286000" y="1700213"/>
            <a:ext cx="1781175" cy="119538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77" name="Oval 5"/>
          <p:cNvSpPr>
            <a:spLocks noChangeArrowheads="1"/>
          </p:cNvSpPr>
          <p:nvPr/>
        </p:nvSpPr>
        <p:spPr bwMode="auto">
          <a:xfrm>
            <a:off x="1979613" y="2852738"/>
            <a:ext cx="431800" cy="360362"/>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B</a:t>
            </a:r>
            <a:endParaRPr lang="en-US" altLang="zh-CN" sz="2400">
              <a:solidFill>
                <a:schemeClr val="bg1"/>
              </a:solidFill>
              <a:latin typeface="Times New Roman" panose="02020603050405020304" pitchFamily="18" charset="0"/>
            </a:endParaRPr>
          </a:p>
        </p:txBody>
      </p:sp>
      <p:sp>
        <p:nvSpPr>
          <p:cNvPr id="105478" name="Line 6"/>
          <p:cNvSpPr>
            <a:spLocks noChangeShapeType="1"/>
          </p:cNvSpPr>
          <p:nvPr/>
        </p:nvSpPr>
        <p:spPr bwMode="auto">
          <a:xfrm>
            <a:off x="4572000" y="1700213"/>
            <a:ext cx="1976438" cy="119538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79" name="Line 7"/>
          <p:cNvSpPr>
            <a:spLocks noChangeShapeType="1"/>
          </p:cNvSpPr>
          <p:nvPr/>
        </p:nvSpPr>
        <p:spPr bwMode="auto">
          <a:xfrm flipH="1">
            <a:off x="1066800" y="3141663"/>
            <a:ext cx="984250" cy="104933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80" name="Rectangle 8"/>
          <p:cNvSpPr>
            <a:spLocks noChangeArrowheads="1"/>
          </p:cNvSpPr>
          <p:nvPr/>
        </p:nvSpPr>
        <p:spPr bwMode="auto">
          <a:xfrm>
            <a:off x="0" y="3284538"/>
            <a:ext cx="539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105481" name="Line 9"/>
          <p:cNvSpPr>
            <a:spLocks noChangeShapeType="1"/>
          </p:cNvSpPr>
          <p:nvPr/>
        </p:nvSpPr>
        <p:spPr bwMode="auto">
          <a:xfrm>
            <a:off x="2339975" y="3141663"/>
            <a:ext cx="936625" cy="97313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82" name="Line 10"/>
          <p:cNvSpPr>
            <a:spLocks noChangeShapeType="1"/>
          </p:cNvSpPr>
          <p:nvPr/>
        </p:nvSpPr>
        <p:spPr bwMode="auto">
          <a:xfrm flipH="1">
            <a:off x="5562600" y="3213100"/>
            <a:ext cx="738188" cy="8255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83" name="Line 11"/>
          <p:cNvSpPr>
            <a:spLocks noChangeShapeType="1"/>
          </p:cNvSpPr>
          <p:nvPr/>
        </p:nvSpPr>
        <p:spPr bwMode="auto">
          <a:xfrm>
            <a:off x="6629400" y="3124200"/>
            <a:ext cx="9906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84" name="Line 12"/>
          <p:cNvSpPr>
            <a:spLocks noChangeShapeType="1"/>
          </p:cNvSpPr>
          <p:nvPr/>
        </p:nvSpPr>
        <p:spPr bwMode="auto">
          <a:xfrm flipH="1">
            <a:off x="533400" y="4419600"/>
            <a:ext cx="5334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85" name="Line 13"/>
          <p:cNvSpPr>
            <a:spLocks noChangeShapeType="1"/>
          </p:cNvSpPr>
          <p:nvPr/>
        </p:nvSpPr>
        <p:spPr bwMode="auto">
          <a:xfrm>
            <a:off x="1143000" y="4419600"/>
            <a:ext cx="3810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86" name="Line 14"/>
          <p:cNvSpPr>
            <a:spLocks noChangeShapeType="1"/>
          </p:cNvSpPr>
          <p:nvPr/>
        </p:nvSpPr>
        <p:spPr bwMode="auto">
          <a:xfrm flipH="1">
            <a:off x="2667000" y="4343400"/>
            <a:ext cx="6096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87" name="Line 15"/>
          <p:cNvSpPr>
            <a:spLocks noChangeShapeType="1"/>
          </p:cNvSpPr>
          <p:nvPr/>
        </p:nvSpPr>
        <p:spPr bwMode="auto">
          <a:xfrm>
            <a:off x="3352800" y="4343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88" name="Line 16"/>
          <p:cNvSpPr>
            <a:spLocks noChangeShapeType="1"/>
          </p:cNvSpPr>
          <p:nvPr/>
        </p:nvSpPr>
        <p:spPr bwMode="auto">
          <a:xfrm flipH="1">
            <a:off x="5029200" y="4267200"/>
            <a:ext cx="4572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89" name="Line 17"/>
          <p:cNvSpPr>
            <a:spLocks noChangeShapeType="1"/>
          </p:cNvSpPr>
          <p:nvPr/>
        </p:nvSpPr>
        <p:spPr bwMode="auto">
          <a:xfrm>
            <a:off x="5562600" y="4267200"/>
            <a:ext cx="5334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90" name="Line 18"/>
          <p:cNvSpPr>
            <a:spLocks noChangeShapeType="1"/>
          </p:cNvSpPr>
          <p:nvPr/>
        </p:nvSpPr>
        <p:spPr bwMode="auto">
          <a:xfrm flipH="1">
            <a:off x="7239000" y="4191000"/>
            <a:ext cx="4572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91" name="Line 19"/>
          <p:cNvSpPr>
            <a:spLocks noChangeShapeType="1"/>
          </p:cNvSpPr>
          <p:nvPr/>
        </p:nvSpPr>
        <p:spPr bwMode="auto">
          <a:xfrm>
            <a:off x="7848600" y="4191000"/>
            <a:ext cx="6096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92" name="Rectangle 20"/>
          <p:cNvSpPr>
            <a:spLocks noChangeArrowheads="1"/>
          </p:cNvSpPr>
          <p:nvPr/>
        </p:nvSpPr>
        <p:spPr bwMode="auto">
          <a:xfrm>
            <a:off x="0" y="1773238"/>
            <a:ext cx="1066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1</a:t>
            </a:r>
            <a:endParaRPr lang="en-US" altLang="zh-CN" sz="3200">
              <a:solidFill>
                <a:schemeClr val="hlink"/>
              </a:solidFill>
              <a:latin typeface="Times New Roman" panose="02020603050405020304" pitchFamily="18" charset="0"/>
            </a:endParaRPr>
          </a:p>
        </p:txBody>
      </p:sp>
      <p:sp>
        <p:nvSpPr>
          <p:cNvPr id="105493" name="Rectangle 21"/>
          <p:cNvSpPr>
            <a:spLocks noChangeArrowheads="1"/>
          </p:cNvSpPr>
          <p:nvPr/>
        </p:nvSpPr>
        <p:spPr bwMode="auto">
          <a:xfrm>
            <a:off x="0" y="4365625"/>
            <a:ext cx="539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105494" name="Oval 22"/>
          <p:cNvSpPr>
            <a:spLocks noChangeArrowheads="1"/>
          </p:cNvSpPr>
          <p:nvPr/>
        </p:nvSpPr>
        <p:spPr bwMode="auto">
          <a:xfrm>
            <a:off x="1908175" y="270827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B</a:t>
            </a:r>
            <a:endParaRPr lang="en-US" altLang="zh-CN" sz="2400">
              <a:latin typeface="Times New Roman" panose="02020603050405020304" pitchFamily="18" charset="0"/>
            </a:endParaRPr>
          </a:p>
        </p:txBody>
      </p:sp>
      <p:sp>
        <p:nvSpPr>
          <p:cNvPr id="105495" name="Oval 23"/>
          <p:cNvSpPr>
            <a:spLocks noChangeArrowheads="1"/>
          </p:cNvSpPr>
          <p:nvPr/>
        </p:nvSpPr>
        <p:spPr bwMode="auto">
          <a:xfrm>
            <a:off x="1908175" y="2708275"/>
            <a:ext cx="576263" cy="576263"/>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B</a:t>
            </a:r>
            <a:endParaRPr lang="en-US" altLang="zh-CN" sz="2400">
              <a:solidFill>
                <a:schemeClr val="bg1"/>
              </a:solidFill>
              <a:latin typeface="Times New Roman" panose="02020603050405020304" pitchFamily="18" charset="0"/>
            </a:endParaRPr>
          </a:p>
        </p:txBody>
      </p:sp>
      <p:sp>
        <p:nvSpPr>
          <p:cNvPr id="105496" name="Oval 24"/>
          <p:cNvSpPr>
            <a:spLocks noChangeArrowheads="1"/>
          </p:cNvSpPr>
          <p:nvPr/>
        </p:nvSpPr>
        <p:spPr bwMode="auto">
          <a:xfrm>
            <a:off x="3995738" y="1341438"/>
            <a:ext cx="576262" cy="576262"/>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A</a:t>
            </a:r>
            <a:endParaRPr lang="en-US" altLang="zh-CN" sz="2400">
              <a:solidFill>
                <a:schemeClr val="bg1"/>
              </a:solidFill>
              <a:latin typeface="Times New Roman" panose="02020603050405020304" pitchFamily="18" charset="0"/>
            </a:endParaRPr>
          </a:p>
        </p:txBody>
      </p:sp>
      <p:sp>
        <p:nvSpPr>
          <p:cNvPr id="105497" name="Oval 25"/>
          <p:cNvSpPr>
            <a:spLocks noChangeArrowheads="1"/>
          </p:cNvSpPr>
          <p:nvPr/>
        </p:nvSpPr>
        <p:spPr bwMode="auto">
          <a:xfrm>
            <a:off x="6732588" y="260350"/>
            <a:ext cx="503237" cy="504825"/>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5498" name="Oval 26"/>
          <p:cNvSpPr>
            <a:spLocks noChangeArrowheads="1"/>
          </p:cNvSpPr>
          <p:nvPr/>
        </p:nvSpPr>
        <p:spPr bwMode="auto">
          <a:xfrm>
            <a:off x="1908175" y="2708275"/>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5499" name="Oval 27"/>
          <p:cNvSpPr>
            <a:spLocks noChangeArrowheads="1"/>
          </p:cNvSpPr>
          <p:nvPr/>
        </p:nvSpPr>
        <p:spPr bwMode="auto">
          <a:xfrm>
            <a:off x="3995738" y="1341438"/>
            <a:ext cx="576262" cy="576262"/>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5500" name="Oval 28"/>
          <p:cNvSpPr>
            <a:spLocks noChangeArrowheads="1"/>
          </p:cNvSpPr>
          <p:nvPr/>
        </p:nvSpPr>
        <p:spPr bwMode="auto">
          <a:xfrm>
            <a:off x="6732588" y="981075"/>
            <a:ext cx="503237" cy="503238"/>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5501" name="Oval 29"/>
          <p:cNvSpPr>
            <a:spLocks noChangeArrowheads="1"/>
          </p:cNvSpPr>
          <p:nvPr/>
        </p:nvSpPr>
        <p:spPr bwMode="auto">
          <a:xfrm>
            <a:off x="6732588" y="1773238"/>
            <a:ext cx="503237" cy="503237"/>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5502" name="Rectangle 30"/>
          <p:cNvSpPr>
            <a:spLocks noChangeArrowheads="1"/>
          </p:cNvSpPr>
          <p:nvPr/>
        </p:nvSpPr>
        <p:spPr bwMode="auto">
          <a:xfrm>
            <a:off x="7308850" y="260350"/>
            <a:ext cx="16637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rgbClr val="993300"/>
                </a:solidFill>
                <a:latin typeface="Times New Roman" panose="02020603050405020304" pitchFamily="18" charset="0"/>
              </a:rPr>
              <a:t>extend node</a:t>
            </a:r>
            <a:endParaRPr lang="en-US" altLang="zh-CN" sz="2400">
              <a:solidFill>
                <a:srgbClr val="993300"/>
              </a:solidFill>
              <a:latin typeface="Times New Roman" panose="02020603050405020304" pitchFamily="18" charset="0"/>
            </a:endParaRPr>
          </a:p>
        </p:txBody>
      </p:sp>
      <p:sp>
        <p:nvSpPr>
          <p:cNvPr id="105503" name="Rectangle 31"/>
          <p:cNvSpPr>
            <a:spLocks noChangeArrowheads="1"/>
          </p:cNvSpPr>
          <p:nvPr/>
        </p:nvSpPr>
        <p:spPr bwMode="auto">
          <a:xfrm>
            <a:off x="7308850" y="981075"/>
            <a:ext cx="14732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2400">
                <a:solidFill>
                  <a:srgbClr val="993300"/>
                </a:solidFill>
                <a:latin typeface="Times New Roman" panose="02020603050405020304" pitchFamily="18" charset="0"/>
              </a:rPr>
              <a:t>dead node</a:t>
            </a:r>
            <a:endParaRPr lang="en-US" altLang="zh-CN" sz="2400">
              <a:solidFill>
                <a:srgbClr val="993300"/>
              </a:solidFill>
              <a:latin typeface="Times New Roman" panose="02020603050405020304" pitchFamily="18" charset="0"/>
            </a:endParaRPr>
          </a:p>
        </p:txBody>
      </p:sp>
      <p:sp>
        <p:nvSpPr>
          <p:cNvPr id="105504" name="Rectangle 32"/>
          <p:cNvSpPr>
            <a:spLocks noChangeArrowheads="1"/>
          </p:cNvSpPr>
          <p:nvPr/>
        </p:nvSpPr>
        <p:spPr bwMode="auto">
          <a:xfrm>
            <a:off x="7488238" y="1700213"/>
            <a:ext cx="13081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rgbClr val="993300"/>
                </a:solidFill>
                <a:latin typeface="Times New Roman" panose="02020603050405020304" pitchFamily="18" charset="0"/>
              </a:rPr>
              <a:t>live node</a:t>
            </a:r>
            <a:endParaRPr lang="en-US" altLang="zh-CN" sz="2400">
              <a:solidFill>
                <a:srgbClr val="993300"/>
              </a:solidFill>
              <a:latin typeface="Times New Roman" panose="02020603050405020304" pitchFamily="18" charset="0"/>
            </a:endParaRPr>
          </a:p>
        </p:txBody>
      </p:sp>
      <p:sp>
        <p:nvSpPr>
          <p:cNvPr id="105505" name="Oval 33"/>
          <p:cNvSpPr>
            <a:spLocks noChangeArrowheads="1"/>
          </p:cNvSpPr>
          <p:nvPr/>
        </p:nvSpPr>
        <p:spPr bwMode="auto">
          <a:xfrm>
            <a:off x="6227763" y="2852738"/>
            <a:ext cx="431800" cy="360362"/>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C</a:t>
            </a:r>
            <a:endParaRPr lang="en-US" altLang="zh-CN" sz="2400">
              <a:solidFill>
                <a:schemeClr val="bg1"/>
              </a:solidFill>
              <a:latin typeface="Times New Roman" panose="02020603050405020304" pitchFamily="18" charset="0"/>
            </a:endParaRPr>
          </a:p>
        </p:txBody>
      </p:sp>
      <p:sp>
        <p:nvSpPr>
          <p:cNvPr id="105506" name="Oval 34"/>
          <p:cNvSpPr>
            <a:spLocks noChangeArrowheads="1"/>
          </p:cNvSpPr>
          <p:nvPr/>
        </p:nvSpPr>
        <p:spPr bwMode="auto">
          <a:xfrm>
            <a:off x="900113" y="4149725"/>
            <a:ext cx="431800" cy="360363"/>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D</a:t>
            </a:r>
            <a:endParaRPr lang="en-US" altLang="zh-CN" sz="2400">
              <a:solidFill>
                <a:schemeClr val="bg1"/>
              </a:solidFill>
              <a:latin typeface="Times New Roman" panose="02020603050405020304" pitchFamily="18" charset="0"/>
            </a:endParaRPr>
          </a:p>
        </p:txBody>
      </p:sp>
      <p:sp>
        <p:nvSpPr>
          <p:cNvPr id="105507" name="Oval 35"/>
          <p:cNvSpPr>
            <a:spLocks noChangeArrowheads="1"/>
          </p:cNvSpPr>
          <p:nvPr/>
        </p:nvSpPr>
        <p:spPr bwMode="auto">
          <a:xfrm>
            <a:off x="3059113" y="4076700"/>
            <a:ext cx="431800" cy="360363"/>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E</a:t>
            </a:r>
            <a:endParaRPr lang="en-US" altLang="zh-CN" sz="2400">
              <a:solidFill>
                <a:schemeClr val="bg1"/>
              </a:solidFill>
              <a:latin typeface="Times New Roman" panose="02020603050405020304" pitchFamily="18" charset="0"/>
            </a:endParaRPr>
          </a:p>
        </p:txBody>
      </p:sp>
      <p:sp>
        <p:nvSpPr>
          <p:cNvPr id="105508" name="Oval 36"/>
          <p:cNvSpPr>
            <a:spLocks noChangeArrowheads="1"/>
          </p:cNvSpPr>
          <p:nvPr/>
        </p:nvSpPr>
        <p:spPr bwMode="auto">
          <a:xfrm>
            <a:off x="5292725" y="4005263"/>
            <a:ext cx="431800" cy="360362"/>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F</a:t>
            </a:r>
            <a:endParaRPr lang="en-US" altLang="zh-CN" sz="2400">
              <a:solidFill>
                <a:schemeClr val="bg1"/>
              </a:solidFill>
              <a:latin typeface="Times New Roman" panose="02020603050405020304" pitchFamily="18" charset="0"/>
            </a:endParaRPr>
          </a:p>
        </p:txBody>
      </p:sp>
      <p:sp>
        <p:nvSpPr>
          <p:cNvPr id="105509" name="Oval 37"/>
          <p:cNvSpPr>
            <a:spLocks noChangeArrowheads="1"/>
          </p:cNvSpPr>
          <p:nvPr/>
        </p:nvSpPr>
        <p:spPr bwMode="auto">
          <a:xfrm>
            <a:off x="7451725" y="3933825"/>
            <a:ext cx="431800" cy="360363"/>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G</a:t>
            </a:r>
            <a:endParaRPr lang="en-US" altLang="zh-CN" sz="2400">
              <a:solidFill>
                <a:schemeClr val="bg1"/>
              </a:solidFill>
              <a:latin typeface="Times New Roman" panose="02020603050405020304" pitchFamily="18" charset="0"/>
            </a:endParaRPr>
          </a:p>
        </p:txBody>
      </p:sp>
      <p:sp>
        <p:nvSpPr>
          <p:cNvPr id="105510" name="Oval 38"/>
          <p:cNvSpPr>
            <a:spLocks noChangeArrowheads="1"/>
          </p:cNvSpPr>
          <p:nvPr/>
        </p:nvSpPr>
        <p:spPr bwMode="auto">
          <a:xfrm>
            <a:off x="323850"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H</a:t>
            </a:r>
            <a:endParaRPr lang="en-US" altLang="zh-CN" sz="2400">
              <a:solidFill>
                <a:schemeClr val="bg1"/>
              </a:solidFill>
              <a:latin typeface="Times New Roman" panose="02020603050405020304" pitchFamily="18" charset="0"/>
            </a:endParaRPr>
          </a:p>
        </p:txBody>
      </p:sp>
      <p:sp>
        <p:nvSpPr>
          <p:cNvPr id="105511" name="Oval 39"/>
          <p:cNvSpPr>
            <a:spLocks noChangeArrowheads="1"/>
          </p:cNvSpPr>
          <p:nvPr/>
        </p:nvSpPr>
        <p:spPr bwMode="auto">
          <a:xfrm>
            <a:off x="1258888"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I</a:t>
            </a:r>
            <a:endParaRPr lang="en-US" altLang="zh-CN" sz="2400">
              <a:solidFill>
                <a:schemeClr val="bg1"/>
              </a:solidFill>
              <a:latin typeface="Times New Roman" panose="02020603050405020304" pitchFamily="18" charset="0"/>
            </a:endParaRPr>
          </a:p>
        </p:txBody>
      </p:sp>
      <p:sp>
        <p:nvSpPr>
          <p:cNvPr id="105512" name="Oval 40"/>
          <p:cNvSpPr>
            <a:spLocks noChangeArrowheads="1"/>
          </p:cNvSpPr>
          <p:nvPr/>
        </p:nvSpPr>
        <p:spPr bwMode="auto">
          <a:xfrm>
            <a:off x="2411413"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J</a:t>
            </a:r>
            <a:endParaRPr lang="en-US" altLang="zh-CN" sz="2400">
              <a:solidFill>
                <a:schemeClr val="bg1"/>
              </a:solidFill>
              <a:latin typeface="Times New Roman" panose="02020603050405020304" pitchFamily="18" charset="0"/>
            </a:endParaRPr>
          </a:p>
        </p:txBody>
      </p:sp>
      <p:sp>
        <p:nvSpPr>
          <p:cNvPr id="105513" name="Oval 41"/>
          <p:cNvSpPr>
            <a:spLocks noChangeArrowheads="1"/>
          </p:cNvSpPr>
          <p:nvPr/>
        </p:nvSpPr>
        <p:spPr bwMode="auto">
          <a:xfrm>
            <a:off x="3563938"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K</a:t>
            </a:r>
            <a:endParaRPr lang="en-US" altLang="zh-CN" sz="2400">
              <a:solidFill>
                <a:schemeClr val="bg1"/>
              </a:solidFill>
              <a:latin typeface="Times New Roman" panose="02020603050405020304" pitchFamily="18" charset="0"/>
            </a:endParaRPr>
          </a:p>
        </p:txBody>
      </p:sp>
      <p:sp>
        <p:nvSpPr>
          <p:cNvPr id="105514" name="Oval 42"/>
          <p:cNvSpPr>
            <a:spLocks noChangeArrowheads="1"/>
          </p:cNvSpPr>
          <p:nvPr/>
        </p:nvSpPr>
        <p:spPr bwMode="auto">
          <a:xfrm>
            <a:off x="4787900"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L</a:t>
            </a:r>
            <a:endParaRPr lang="en-US" altLang="zh-CN" sz="2400">
              <a:solidFill>
                <a:schemeClr val="bg1"/>
              </a:solidFill>
              <a:latin typeface="Times New Roman" panose="02020603050405020304" pitchFamily="18" charset="0"/>
            </a:endParaRPr>
          </a:p>
        </p:txBody>
      </p:sp>
      <p:sp>
        <p:nvSpPr>
          <p:cNvPr id="105515" name="Oval 43"/>
          <p:cNvSpPr>
            <a:spLocks noChangeArrowheads="1"/>
          </p:cNvSpPr>
          <p:nvPr/>
        </p:nvSpPr>
        <p:spPr bwMode="auto">
          <a:xfrm>
            <a:off x="5795963"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M</a:t>
            </a:r>
            <a:endParaRPr lang="en-US" altLang="zh-CN" sz="2400">
              <a:solidFill>
                <a:schemeClr val="bg1"/>
              </a:solidFill>
              <a:latin typeface="Times New Roman" panose="02020603050405020304" pitchFamily="18" charset="0"/>
            </a:endParaRPr>
          </a:p>
        </p:txBody>
      </p:sp>
      <p:sp>
        <p:nvSpPr>
          <p:cNvPr id="105516" name="Oval 44"/>
          <p:cNvSpPr>
            <a:spLocks noChangeArrowheads="1"/>
          </p:cNvSpPr>
          <p:nvPr/>
        </p:nvSpPr>
        <p:spPr bwMode="auto">
          <a:xfrm>
            <a:off x="6877050"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N</a:t>
            </a:r>
            <a:endParaRPr lang="en-US" altLang="zh-CN" sz="2400">
              <a:solidFill>
                <a:schemeClr val="bg1"/>
              </a:solidFill>
              <a:latin typeface="Times New Roman" panose="02020603050405020304" pitchFamily="18" charset="0"/>
            </a:endParaRPr>
          </a:p>
        </p:txBody>
      </p:sp>
      <p:sp>
        <p:nvSpPr>
          <p:cNvPr id="105517" name="Oval 45"/>
          <p:cNvSpPr>
            <a:spLocks noChangeArrowheads="1"/>
          </p:cNvSpPr>
          <p:nvPr/>
        </p:nvSpPr>
        <p:spPr bwMode="auto">
          <a:xfrm>
            <a:off x="8243888"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O</a:t>
            </a:r>
            <a:endParaRPr lang="en-US" altLang="zh-CN" sz="2400">
              <a:solidFill>
                <a:schemeClr val="bg1"/>
              </a:solidFill>
              <a:latin typeface="Times New Roman" panose="02020603050405020304" pitchFamily="18" charset="0"/>
            </a:endParaRPr>
          </a:p>
        </p:txBody>
      </p:sp>
      <p:sp>
        <p:nvSpPr>
          <p:cNvPr id="105518" name="Rectangle 46"/>
          <p:cNvSpPr>
            <a:spLocks noChangeArrowheads="1"/>
          </p:cNvSpPr>
          <p:nvPr/>
        </p:nvSpPr>
        <p:spPr bwMode="auto">
          <a:xfrm>
            <a:off x="2771775" y="1916113"/>
            <a:ext cx="414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5519" name="Rectangle 47"/>
          <p:cNvSpPr>
            <a:spLocks noChangeArrowheads="1"/>
          </p:cNvSpPr>
          <p:nvPr/>
        </p:nvSpPr>
        <p:spPr bwMode="auto">
          <a:xfrm>
            <a:off x="2843213" y="3284538"/>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105520" name="Rectangle 48"/>
          <p:cNvSpPr>
            <a:spLocks noChangeArrowheads="1"/>
          </p:cNvSpPr>
          <p:nvPr/>
        </p:nvSpPr>
        <p:spPr bwMode="auto">
          <a:xfrm>
            <a:off x="5364163" y="1844675"/>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105521" name="Oval 49"/>
          <p:cNvSpPr>
            <a:spLocks noChangeArrowheads="1"/>
          </p:cNvSpPr>
          <p:nvPr/>
        </p:nvSpPr>
        <p:spPr bwMode="auto">
          <a:xfrm>
            <a:off x="2987675" y="4005263"/>
            <a:ext cx="576263" cy="576262"/>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E</a:t>
            </a:r>
            <a:endParaRPr lang="en-US" altLang="zh-CN" sz="2400">
              <a:latin typeface="Times New Roman" panose="02020603050405020304" pitchFamily="18" charset="0"/>
            </a:endParaRPr>
          </a:p>
        </p:txBody>
      </p:sp>
      <p:sp>
        <p:nvSpPr>
          <p:cNvPr id="105522" name="Rectangle 50"/>
          <p:cNvSpPr>
            <a:spLocks noChangeArrowheads="1"/>
          </p:cNvSpPr>
          <p:nvPr/>
        </p:nvSpPr>
        <p:spPr bwMode="auto">
          <a:xfrm>
            <a:off x="1331913" y="3284538"/>
            <a:ext cx="414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5523" name="Oval 51"/>
          <p:cNvSpPr>
            <a:spLocks noChangeArrowheads="1"/>
          </p:cNvSpPr>
          <p:nvPr/>
        </p:nvSpPr>
        <p:spPr bwMode="auto">
          <a:xfrm>
            <a:off x="827088" y="4005263"/>
            <a:ext cx="576262" cy="576262"/>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5524" name="Oval 52"/>
          <p:cNvSpPr>
            <a:spLocks noChangeArrowheads="1"/>
          </p:cNvSpPr>
          <p:nvPr/>
        </p:nvSpPr>
        <p:spPr bwMode="auto">
          <a:xfrm>
            <a:off x="6156325" y="2781300"/>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5525" name="Oval 53"/>
          <p:cNvSpPr>
            <a:spLocks noChangeArrowheads="1"/>
          </p:cNvSpPr>
          <p:nvPr/>
        </p:nvSpPr>
        <p:spPr bwMode="auto">
          <a:xfrm>
            <a:off x="2987675" y="4005263"/>
            <a:ext cx="576263" cy="576262"/>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E</a:t>
            </a:r>
            <a:endParaRPr lang="en-US" altLang="zh-CN" sz="2400">
              <a:solidFill>
                <a:schemeClr val="bg1"/>
              </a:solidFill>
              <a:latin typeface="Times New Roman" panose="02020603050405020304" pitchFamily="18" charset="0"/>
            </a:endParaRPr>
          </a:p>
        </p:txBody>
      </p:sp>
      <p:sp>
        <p:nvSpPr>
          <p:cNvPr id="105526" name="Rectangle 54"/>
          <p:cNvSpPr>
            <a:spLocks noChangeArrowheads="1"/>
          </p:cNvSpPr>
          <p:nvPr/>
        </p:nvSpPr>
        <p:spPr bwMode="auto">
          <a:xfrm>
            <a:off x="2627313" y="4437063"/>
            <a:ext cx="414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5527" name="Oval 55"/>
          <p:cNvSpPr>
            <a:spLocks noChangeArrowheads="1"/>
          </p:cNvSpPr>
          <p:nvPr/>
        </p:nvSpPr>
        <p:spPr bwMode="auto">
          <a:xfrm>
            <a:off x="2339975" y="501332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J</a:t>
            </a:r>
            <a:endParaRPr lang="en-US" altLang="zh-CN" sz="2400">
              <a:latin typeface="Times New Roman" panose="02020603050405020304" pitchFamily="18" charset="0"/>
            </a:endParaRPr>
          </a:p>
        </p:txBody>
      </p:sp>
      <p:sp>
        <p:nvSpPr>
          <p:cNvPr id="105528" name="Rectangle 56"/>
          <p:cNvSpPr>
            <a:spLocks noChangeArrowheads="1"/>
          </p:cNvSpPr>
          <p:nvPr/>
        </p:nvSpPr>
        <p:spPr bwMode="auto">
          <a:xfrm>
            <a:off x="2339975" y="5589588"/>
            <a:ext cx="57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10</a:t>
            </a:r>
            <a:endParaRPr lang="en-US" altLang="zh-CN" sz="2400">
              <a:solidFill>
                <a:schemeClr val="hlink"/>
              </a:solidFill>
              <a:latin typeface="Times New Roman" panose="02020603050405020304" pitchFamily="18" charset="0"/>
            </a:endParaRPr>
          </a:p>
        </p:txBody>
      </p:sp>
      <p:sp>
        <p:nvSpPr>
          <p:cNvPr id="105529" name="Rectangle 57"/>
          <p:cNvSpPr>
            <a:spLocks noChangeArrowheads="1"/>
          </p:cNvSpPr>
          <p:nvPr/>
        </p:nvSpPr>
        <p:spPr bwMode="auto">
          <a:xfrm>
            <a:off x="3563938" y="4437063"/>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105530" name="Oval 58"/>
          <p:cNvSpPr>
            <a:spLocks noChangeArrowheads="1"/>
          </p:cNvSpPr>
          <p:nvPr/>
        </p:nvSpPr>
        <p:spPr bwMode="auto">
          <a:xfrm>
            <a:off x="2987675" y="4005263"/>
            <a:ext cx="576263" cy="576262"/>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5531" name="Rectangle 59"/>
          <p:cNvSpPr>
            <a:spLocks noChangeArrowheads="1"/>
          </p:cNvSpPr>
          <p:nvPr/>
        </p:nvSpPr>
        <p:spPr bwMode="auto">
          <a:xfrm>
            <a:off x="2195513" y="6092825"/>
            <a:ext cx="3873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hlink"/>
                </a:solidFill>
                <a:latin typeface="Times New Roman" panose="02020603050405020304" pitchFamily="18" charset="0"/>
              </a:rPr>
              <a:t>B</a:t>
            </a:r>
            <a:endParaRPr lang="en-US" altLang="zh-CN" sz="2400">
              <a:solidFill>
                <a:schemeClr val="hlink"/>
              </a:solidFill>
              <a:latin typeface="Times New Roman" panose="02020603050405020304" pitchFamily="18" charset="0"/>
            </a:endParaRPr>
          </a:p>
        </p:txBody>
      </p:sp>
      <p:sp>
        <p:nvSpPr>
          <p:cNvPr id="105532" name="Rectangle 60"/>
          <p:cNvSpPr>
            <a:spLocks noChangeArrowheads="1"/>
          </p:cNvSpPr>
          <p:nvPr/>
        </p:nvSpPr>
        <p:spPr bwMode="auto">
          <a:xfrm>
            <a:off x="3419475" y="6092825"/>
            <a:ext cx="369888"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hlink"/>
                </a:solidFill>
                <a:latin typeface="Times New Roman" panose="02020603050405020304" pitchFamily="18" charset="0"/>
              </a:rPr>
              <a:t>E</a:t>
            </a:r>
            <a:endParaRPr lang="en-US" altLang="zh-CN" sz="2400">
              <a:solidFill>
                <a:schemeClr val="hlink"/>
              </a:solidFill>
              <a:latin typeface="Times New Roman" panose="02020603050405020304" pitchFamily="18" charset="0"/>
            </a:endParaRPr>
          </a:p>
        </p:txBody>
      </p:sp>
      <p:sp>
        <p:nvSpPr>
          <p:cNvPr id="105533" name="Rectangle 61"/>
          <p:cNvSpPr>
            <a:spLocks noChangeArrowheads="1"/>
          </p:cNvSpPr>
          <p:nvPr/>
        </p:nvSpPr>
        <p:spPr bwMode="auto">
          <a:xfrm>
            <a:off x="3995738" y="6092825"/>
            <a:ext cx="4381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5534" name="Rectangle 62"/>
          <p:cNvSpPr>
            <a:spLocks noChangeArrowheads="1"/>
          </p:cNvSpPr>
          <p:nvPr/>
        </p:nvSpPr>
        <p:spPr bwMode="auto">
          <a:xfrm>
            <a:off x="1547813" y="6092825"/>
            <a:ext cx="633412"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5535" name="Rectangle 63"/>
          <p:cNvSpPr>
            <a:spLocks noChangeArrowheads="1"/>
          </p:cNvSpPr>
          <p:nvPr/>
        </p:nvSpPr>
        <p:spPr bwMode="auto">
          <a:xfrm>
            <a:off x="2627313" y="6092825"/>
            <a:ext cx="633412"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5536" name="Rectangle 64"/>
          <p:cNvSpPr>
            <a:spLocks noChangeArrowheads="1"/>
          </p:cNvSpPr>
          <p:nvPr/>
        </p:nvSpPr>
        <p:spPr bwMode="auto">
          <a:xfrm>
            <a:off x="4643438" y="6092825"/>
            <a:ext cx="303212"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hlink"/>
                </a:solidFill>
                <a:latin typeface="Times New Roman" panose="02020603050405020304" pitchFamily="18" charset="0"/>
              </a:rPr>
              <a:t>J</a:t>
            </a:r>
            <a:endParaRPr lang="en-US" altLang="zh-CN" sz="2400">
              <a:solidFill>
                <a:schemeClr val="hlink"/>
              </a:solidFill>
              <a:latin typeface="Times New Roman" panose="02020603050405020304" pitchFamily="18" charset="0"/>
            </a:endParaRPr>
          </a:p>
        </p:txBody>
      </p:sp>
      <p:sp>
        <p:nvSpPr>
          <p:cNvPr id="105537" name="Rectangle 65"/>
          <p:cNvSpPr>
            <a:spLocks noChangeArrowheads="1"/>
          </p:cNvSpPr>
          <p:nvPr/>
        </p:nvSpPr>
        <p:spPr bwMode="auto">
          <a:xfrm>
            <a:off x="5148263" y="6092825"/>
            <a:ext cx="4381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5538" name="Oval 66"/>
          <p:cNvSpPr>
            <a:spLocks noChangeArrowheads="1"/>
          </p:cNvSpPr>
          <p:nvPr/>
        </p:nvSpPr>
        <p:spPr bwMode="auto">
          <a:xfrm>
            <a:off x="2339975" y="5013325"/>
            <a:ext cx="576263" cy="576263"/>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J</a:t>
            </a:r>
            <a:endParaRPr lang="en-US" altLang="zh-CN" sz="2400">
              <a:solidFill>
                <a:schemeClr val="bg1"/>
              </a:solidFill>
              <a:latin typeface="Times New Roman" panose="02020603050405020304" pitchFamily="18" charset="0"/>
            </a:endParaRPr>
          </a:p>
        </p:txBody>
      </p:sp>
      <p:sp>
        <p:nvSpPr>
          <p:cNvPr id="105539" name="Oval 67"/>
          <p:cNvSpPr>
            <a:spLocks noChangeArrowheads="1"/>
          </p:cNvSpPr>
          <p:nvPr/>
        </p:nvSpPr>
        <p:spPr bwMode="auto">
          <a:xfrm>
            <a:off x="3492500" y="5013325"/>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5540" name="Oval 68"/>
          <p:cNvSpPr>
            <a:spLocks noChangeArrowheads="1"/>
          </p:cNvSpPr>
          <p:nvPr/>
        </p:nvSpPr>
        <p:spPr bwMode="auto">
          <a:xfrm>
            <a:off x="2339975" y="5013325"/>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5541" name="Rectangle 69"/>
          <p:cNvSpPr>
            <a:spLocks noChangeArrowheads="1"/>
          </p:cNvSpPr>
          <p:nvPr/>
        </p:nvSpPr>
        <p:spPr bwMode="auto">
          <a:xfrm>
            <a:off x="0" y="1196975"/>
            <a:ext cx="539750" cy="360363"/>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i="1">
                <a:latin typeface="Times New Roman" panose="02020603050405020304" pitchFamily="18" charset="0"/>
              </a:rPr>
              <a:t>C</a:t>
            </a:r>
            <a:r>
              <a:rPr lang="en-US" altLang="zh-CN" sz="2400">
                <a:latin typeface="Times New Roman" panose="02020603050405020304" pitchFamily="18" charset="0"/>
              </a:rPr>
              <a:t>(</a:t>
            </a:r>
            <a:r>
              <a:rPr lang="en-US" altLang="zh-CN" sz="2400" i="1">
                <a:latin typeface="Times New Roman" panose="02020603050405020304" pitchFamily="18" charset="0"/>
              </a:rPr>
              <a:t>i</a:t>
            </a:r>
            <a:r>
              <a:rPr lang="en-US" altLang="zh-CN" sz="2400">
                <a:latin typeface="Times New Roman" panose="02020603050405020304" pitchFamily="18" charset="0"/>
              </a:rPr>
              <a:t>)</a:t>
            </a:r>
            <a:endParaRPr lang="en-US" altLang="zh-CN" sz="2400">
              <a:latin typeface="Times New Roman" panose="02020603050405020304" pitchFamily="18" charset="0"/>
            </a:endParaRPr>
          </a:p>
        </p:txBody>
      </p:sp>
      <p:sp>
        <p:nvSpPr>
          <p:cNvPr id="105542" name="Rectangle 70"/>
          <p:cNvSpPr>
            <a:spLocks noChangeArrowheads="1"/>
          </p:cNvSpPr>
          <p:nvPr/>
        </p:nvSpPr>
        <p:spPr bwMode="auto">
          <a:xfrm>
            <a:off x="1403350" y="4076700"/>
            <a:ext cx="539750" cy="360363"/>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14</a:t>
            </a:r>
            <a:endParaRPr lang="en-US" altLang="zh-CN" sz="2400">
              <a:latin typeface="Times New Roman" panose="02020603050405020304" pitchFamily="18" charset="0"/>
            </a:endParaRPr>
          </a:p>
        </p:txBody>
      </p:sp>
      <p:sp>
        <p:nvSpPr>
          <p:cNvPr id="105543" name="Rectangle 71"/>
          <p:cNvSpPr>
            <a:spLocks noChangeArrowheads="1"/>
          </p:cNvSpPr>
          <p:nvPr/>
        </p:nvSpPr>
        <p:spPr bwMode="auto">
          <a:xfrm>
            <a:off x="2555875" y="2708275"/>
            <a:ext cx="1296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i="1">
                <a:solidFill>
                  <a:schemeClr val="hlink"/>
                </a:solidFill>
                <a:latin typeface="Times New Roman" panose="02020603050405020304" pitchFamily="18" charset="0"/>
              </a:rPr>
              <a:t>Bestw</a:t>
            </a:r>
            <a:r>
              <a:rPr lang="en-US" altLang="zh-CN" sz="2400">
                <a:solidFill>
                  <a:schemeClr val="hlink"/>
                </a:solidFill>
                <a:latin typeface="Times New Roman" panose="02020603050405020304" pitchFamily="18" charset="0"/>
              </a:rPr>
              <a:t>=8</a:t>
            </a:r>
            <a:endParaRPr lang="en-US" altLang="zh-CN" sz="2400">
              <a:solidFill>
                <a:schemeClr val="hlink"/>
              </a:solidFill>
              <a:latin typeface="Times New Roman" panose="02020603050405020304" pitchFamily="18" charset="0"/>
            </a:endParaRPr>
          </a:p>
        </p:txBody>
      </p:sp>
      <p:sp>
        <p:nvSpPr>
          <p:cNvPr id="105544" name="Rectangle 72"/>
          <p:cNvSpPr>
            <a:spLocks noChangeArrowheads="1"/>
          </p:cNvSpPr>
          <p:nvPr/>
        </p:nvSpPr>
        <p:spPr bwMode="auto">
          <a:xfrm>
            <a:off x="6877050" y="2781300"/>
            <a:ext cx="1079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B(1)=8</a:t>
            </a:r>
            <a:endParaRPr lang="en-US" altLang="zh-CN" sz="2400">
              <a:solidFill>
                <a:schemeClr val="hlink"/>
              </a:solidFill>
              <a:latin typeface="Times New Roman" panose="02020603050405020304" pitchFamily="18" charset="0"/>
            </a:endParaRPr>
          </a:p>
        </p:txBody>
      </p:sp>
      <p:sp>
        <p:nvSpPr>
          <p:cNvPr id="105545" name="Rectangle 73"/>
          <p:cNvSpPr>
            <a:spLocks noChangeArrowheads="1"/>
          </p:cNvSpPr>
          <p:nvPr/>
        </p:nvSpPr>
        <p:spPr bwMode="auto">
          <a:xfrm>
            <a:off x="0" y="5949950"/>
            <a:ext cx="1403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3200">
                <a:solidFill>
                  <a:schemeClr val="hlink"/>
                </a:solidFill>
                <a:latin typeface="Times New Roman" panose="02020603050405020304" pitchFamily="18" charset="0"/>
              </a:rPr>
              <a:t>Quene:</a:t>
            </a:r>
            <a:endParaRPr lang="en-US" altLang="zh-CN" sz="3200">
              <a:solidFill>
                <a:schemeClr val="hlink"/>
              </a:solidFill>
              <a:latin typeface="Times New Roman" panose="02020603050405020304" pitchFamily="18" charset="0"/>
            </a:endParaRPr>
          </a:p>
        </p:txBody>
      </p:sp>
      <p:sp>
        <p:nvSpPr>
          <p:cNvPr id="105546" name="Rectangle 74"/>
          <p:cNvSpPr>
            <a:spLocks noChangeArrowheads="1"/>
          </p:cNvSpPr>
          <p:nvPr/>
        </p:nvSpPr>
        <p:spPr bwMode="auto">
          <a:xfrm>
            <a:off x="3348038" y="5516563"/>
            <a:ext cx="1079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i="1">
                <a:solidFill>
                  <a:schemeClr val="hlink"/>
                </a:solidFill>
                <a:latin typeface="Times New Roman" panose="02020603050405020304" pitchFamily="18" charset="0"/>
              </a:rPr>
              <a:t>B</a:t>
            </a:r>
            <a:r>
              <a:rPr lang="en-US" altLang="zh-CN" sz="2400">
                <a:solidFill>
                  <a:schemeClr val="hlink"/>
                </a:solidFill>
                <a:latin typeface="Times New Roman" panose="02020603050405020304" pitchFamily="18" charset="0"/>
              </a:rPr>
              <a:t>(3)=8</a:t>
            </a:r>
            <a:endParaRPr lang="en-US" altLang="zh-CN" sz="2400">
              <a:solidFill>
                <a:schemeClr val="hlink"/>
              </a:solidFill>
              <a:latin typeface="Times New Roman" panose="02020603050405020304" pitchFamily="18" charset="0"/>
            </a:endParaRPr>
          </a:p>
        </p:txBody>
      </p:sp>
      <p:sp>
        <p:nvSpPr>
          <p:cNvPr id="105547" name="Rectangle 75"/>
          <p:cNvSpPr>
            <a:spLocks noChangeArrowheads="1"/>
          </p:cNvSpPr>
          <p:nvPr/>
        </p:nvSpPr>
        <p:spPr bwMode="auto">
          <a:xfrm>
            <a:off x="395288" y="5949950"/>
            <a:ext cx="821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3200">
                <a:solidFill>
                  <a:schemeClr val="hlink"/>
                </a:solidFill>
                <a:latin typeface="Times New Roman" panose="02020603050405020304" pitchFamily="18" charset="0"/>
              </a:rPr>
              <a:t>Congratulations! we made a success, so fast!</a:t>
            </a:r>
            <a:endParaRPr lang="en-US" altLang="zh-CN" sz="3200">
              <a:solidFill>
                <a:schemeClr val="hlink"/>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5496"/>
                                        </p:tgtEl>
                                        <p:attrNameLst>
                                          <p:attrName>style.visibility</p:attrName>
                                        </p:attrNameLst>
                                      </p:cBhvr>
                                      <p:to>
                                        <p:strVal val="visible"/>
                                      </p:to>
                                    </p:set>
                                    <p:anim calcmode="lin" valueType="num">
                                      <p:cBhvr additive="base">
                                        <p:cTn id="7" dur="500" fill="hold"/>
                                        <p:tgtEl>
                                          <p:spTgt spid="105496"/>
                                        </p:tgtEl>
                                        <p:attrNameLst>
                                          <p:attrName>ppt_x</p:attrName>
                                        </p:attrNameLst>
                                      </p:cBhvr>
                                      <p:tavLst>
                                        <p:tav tm="0">
                                          <p:val>
                                            <p:strVal val="#ppt_x"/>
                                          </p:val>
                                        </p:tav>
                                        <p:tav tm="100000">
                                          <p:val>
                                            <p:strVal val="#ppt_x"/>
                                          </p:val>
                                        </p:tav>
                                      </p:tavLst>
                                    </p:anim>
                                    <p:anim calcmode="lin" valueType="num">
                                      <p:cBhvr additive="base">
                                        <p:cTn id="8" dur="500" fill="hold"/>
                                        <p:tgtEl>
                                          <p:spTgt spid="10549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5534"/>
                                        </p:tgtEl>
                                        <p:attrNameLst>
                                          <p:attrName>style.visibility</p:attrName>
                                        </p:attrNameLst>
                                      </p:cBhvr>
                                      <p:to>
                                        <p:strVal val="visible"/>
                                      </p:to>
                                    </p:set>
                                    <p:anim calcmode="lin" valueType="num">
                                      <p:cBhvr additive="base">
                                        <p:cTn id="13" dur="500" fill="hold"/>
                                        <p:tgtEl>
                                          <p:spTgt spid="105534"/>
                                        </p:tgtEl>
                                        <p:attrNameLst>
                                          <p:attrName>ppt_x</p:attrName>
                                        </p:attrNameLst>
                                      </p:cBhvr>
                                      <p:tavLst>
                                        <p:tav tm="0">
                                          <p:val>
                                            <p:strVal val="#ppt_x"/>
                                          </p:val>
                                        </p:tav>
                                        <p:tav tm="100000">
                                          <p:val>
                                            <p:strVal val="#ppt_x"/>
                                          </p:val>
                                        </p:tav>
                                      </p:tavLst>
                                    </p:anim>
                                    <p:anim calcmode="lin" valueType="num">
                                      <p:cBhvr additive="base">
                                        <p:cTn id="14" dur="500" fill="hold"/>
                                        <p:tgtEl>
                                          <p:spTgt spid="10553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5518"/>
                                        </p:tgtEl>
                                        <p:attrNameLst>
                                          <p:attrName>style.visibility</p:attrName>
                                        </p:attrNameLst>
                                      </p:cBhvr>
                                      <p:to>
                                        <p:strVal val="visible"/>
                                      </p:to>
                                    </p:set>
                                    <p:anim calcmode="lin" valueType="num">
                                      <p:cBhvr additive="base">
                                        <p:cTn id="19" dur="500" fill="hold"/>
                                        <p:tgtEl>
                                          <p:spTgt spid="105518"/>
                                        </p:tgtEl>
                                        <p:attrNameLst>
                                          <p:attrName>ppt_x</p:attrName>
                                        </p:attrNameLst>
                                      </p:cBhvr>
                                      <p:tavLst>
                                        <p:tav tm="0">
                                          <p:val>
                                            <p:strVal val="#ppt_x"/>
                                          </p:val>
                                        </p:tav>
                                        <p:tav tm="100000">
                                          <p:val>
                                            <p:strVal val="#ppt_x"/>
                                          </p:val>
                                        </p:tav>
                                      </p:tavLst>
                                    </p:anim>
                                    <p:anim calcmode="lin" valueType="num">
                                      <p:cBhvr additive="base">
                                        <p:cTn id="20" dur="500" fill="hold"/>
                                        <p:tgtEl>
                                          <p:spTgt spid="10551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5494"/>
                                        </p:tgtEl>
                                        <p:attrNameLst>
                                          <p:attrName>style.visibility</p:attrName>
                                        </p:attrNameLst>
                                      </p:cBhvr>
                                      <p:to>
                                        <p:strVal val="visible"/>
                                      </p:to>
                                    </p:set>
                                    <p:anim calcmode="lin" valueType="num">
                                      <p:cBhvr additive="base">
                                        <p:cTn id="25" dur="500" fill="hold"/>
                                        <p:tgtEl>
                                          <p:spTgt spid="105494"/>
                                        </p:tgtEl>
                                        <p:attrNameLst>
                                          <p:attrName>ppt_x</p:attrName>
                                        </p:attrNameLst>
                                      </p:cBhvr>
                                      <p:tavLst>
                                        <p:tav tm="0">
                                          <p:val>
                                            <p:strVal val="#ppt_x"/>
                                          </p:val>
                                        </p:tav>
                                        <p:tav tm="100000">
                                          <p:val>
                                            <p:strVal val="#ppt_x"/>
                                          </p:val>
                                        </p:tav>
                                      </p:tavLst>
                                    </p:anim>
                                    <p:anim calcmode="lin" valueType="num">
                                      <p:cBhvr additive="base">
                                        <p:cTn id="26" dur="500" fill="hold"/>
                                        <p:tgtEl>
                                          <p:spTgt spid="10549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5543"/>
                                        </p:tgtEl>
                                        <p:attrNameLst>
                                          <p:attrName>style.visibility</p:attrName>
                                        </p:attrNameLst>
                                      </p:cBhvr>
                                      <p:to>
                                        <p:strVal val="visible"/>
                                      </p:to>
                                    </p:set>
                                    <p:anim calcmode="lin" valueType="num">
                                      <p:cBhvr additive="base">
                                        <p:cTn id="31" dur="500" fill="hold"/>
                                        <p:tgtEl>
                                          <p:spTgt spid="105543"/>
                                        </p:tgtEl>
                                        <p:attrNameLst>
                                          <p:attrName>ppt_x</p:attrName>
                                        </p:attrNameLst>
                                      </p:cBhvr>
                                      <p:tavLst>
                                        <p:tav tm="0">
                                          <p:val>
                                            <p:strVal val="#ppt_x"/>
                                          </p:val>
                                        </p:tav>
                                        <p:tav tm="100000">
                                          <p:val>
                                            <p:strVal val="#ppt_x"/>
                                          </p:val>
                                        </p:tav>
                                      </p:tavLst>
                                    </p:anim>
                                    <p:anim calcmode="lin" valueType="num">
                                      <p:cBhvr additive="base">
                                        <p:cTn id="32" dur="500" fill="hold"/>
                                        <p:tgtEl>
                                          <p:spTgt spid="10554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5531"/>
                                        </p:tgtEl>
                                        <p:attrNameLst>
                                          <p:attrName>style.visibility</p:attrName>
                                        </p:attrNameLst>
                                      </p:cBhvr>
                                      <p:to>
                                        <p:strVal val="visible"/>
                                      </p:to>
                                    </p:set>
                                    <p:anim calcmode="lin" valueType="num">
                                      <p:cBhvr additive="base">
                                        <p:cTn id="37" dur="500" fill="hold"/>
                                        <p:tgtEl>
                                          <p:spTgt spid="105531"/>
                                        </p:tgtEl>
                                        <p:attrNameLst>
                                          <p:attrName>ppt_x</p:attrName>
                                        </p:attrNameLst>
                                      </p:cBhvr>
                                      <p:tavLst>
                                        <p:tav tm="0">
                                          <p:val>
                                            <p:strVal val="#ppt_x"/>
                                          </p:val>
                                        </p:tav>
                                        <p:tav tm="100000">
                                          <p:val>
                                            <p:strVal val="#ppt_x"/>
                                          </p:val>
                                        </p:tav>
                                      </p:tavLst>
                                    </p:anim>
                                    <p:anim calcmode="lin" valueType="num">
                                      <p:cBhvr additive="base">
                                        <p:cTn id="38" dur="500" fill="hold"/>
                                        <p:tgtEl>
                                          <p:spTgt spid="10553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5520"/>
                                        </p:tgtEl>
                                        <p:attrNameLst>
                                          <p:attrName>style.visibility</p:attrName>
                                        </p:attrNameLst>
                                      </p:cBhvr>
                                      <p:to>
                                        <p:strVal val="visible"/>
                                      </p:to>
                                    </p:set>
                                    <p:anim calcmode="lin" valueType="num">
                                      <p:cBhvr additive="base">
                                        <p:cTn id="43" dur="500" fill="hold"/>
                                        <p:tgtEl>
                                          <p:spTgt spid="105520"/>
                                        </p:tgtEl>
                                        <p:attrNameLst>
                                          <p:attrName>ppt_x</p:attrName>
                                        </p:attrNameLst>
                                      </p:cBhvr>
                                      <p:tavLst>
                                        <p:tav tm="0">
                                          <p:val>
                                            <p:strVal val="#ppt_x"/>
                                          </p:val>
                                        </p:tav>
                                        <p:tav tm="100000">
                                          <p:val>
                                            <p:strVal val="#ppt_x"/>
                                          </p:val>
                                        </p:tav>
                                      </p:tavLst>
                                    </p:anim>
                                    <p:anim calcmode="lin" valueType="num">
                                      <p:cBhvr additive="base">
                                        <p:cTn id="44" dur="500" fill="hold"/>
                                        <p:tgtEl>
                                          <p:spTgt spid="10552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05544"/>
                                        </p:tgtEl>
                                        <p:attrNameLst>
                                          <p:attrName>style.visibility</p:attrName>
                                        </p:attrNameLst>
                                      </p:cBhvr>
                                      <p:to>
                                        <p:strVal val="visible"/>
                                      </p:to>
                                    </p:set>
                                    <p:anim calcmode="lin" valueType="num">
                                      <p:cBhvr additive="base">
                                        <p:cTn id="49" dur="500" fill="hold"/>
                                        <p:tgtEl>
                                          <p:spTgt spid="105544"/>
                                        </p:tgtEl>
                                        <p:attrNameLst>
                                          <p:attrName>ppt_x</p:attrName>
                                        </p:attrNameLst>
                                      </p:cBhvr>
                                      <p:tavLst>
                                        <p:tav tm="0">
                                          <p:val>
                                            <p:strVal val="#ppt_x"/>
                                          </p:val>
                                        </p:tav>
                                        <p:tav tm="100000">
                                          <p:val>
                                            <p:strVal val="#ppt_x"/>
                                          </p:val>
                                        </p:tav>
                                      </p:tavLst>
                                    </p:anim>
                                    <p:anim calcmode="lin" valueType="num">
                                      <p:cBhvr additive="base">
                                        <p:cTn id="50" dur="500" fill="hold"/>
                                        <p:tgtEl>
                                          <p:spTgt spid="10554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05524"/>
                                        </p:tgtEl>
                                        <p:attrNameLst>
                                          <p:attrName>style.visibility</p:attrName>
                                        </p:attrNameLst>
                                      </p:cBhvr>
                                      <p:to>
                                        <p:strVal val="visible"/>
                                      </p:to>
                                    </p:set>
                                    <p:anim calcmode="lin" valueType="num">
                                      <p:cBhvr additive="base">
                                        <p:cTn id="55" dur="500" fill="hold"/>
                                        <p:tgtEl>
                                          <p:spTgt spid="105524"/>
                                        </p:tgtEl>
                                        <p:attrNameLst>
                                          <p:attrName>ppt_x</p:attrName>
                                        </p:attrNameLst>
                                      </p:cBhvr>
                                      <p:tavLst>
                                        <p:tav tm="0">
                                          <p:val>
                                            <p:strVal val="#ppt_x"/>
                                          </p:val>
                                        </p:tav>
                                        <p:tav tm="100000">
                                          <p:val>
                                            <p:strVal val="#ppt_x"/>
                                          </p:val>
                                        </p:tav>
                                      </p:tavLst>
                                    </p:anim>
                                    <p:anim calcmode="lin" valueType="num">
                                      <p:cBhvr additive="base">
                                        <p:cTn id="56" dur="500" fill="hold"/>
                                        <p:tgtEl>
                                          <p:spTgt spid="10552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05499"/>
                                        </p:tgtEl>
                                        <p:attrNameLst>
                                          <p:attrName>style.visibility</p:attrName>
                                        </p:attrNameLst>
                                      </p:cBhvr>
                                      <p:to>
                                        <p:strVal val="visible"/>
                                      </p:to>
                                    </p:set>
                                    <p:anim calcmode="lin" valueType="num">
                                      <p:cBhvr additive="base">
                                        <p:cTn id="61" dur="500" fill="hold"/>
                                        <p:tgtEl>
                                          <p:spTgt spid="105499"/>
                                        </p:tgtEl>
                                        <p:attrNameLst>
                                          <p:attrName>ppt_x</p:attrName>
                                        </p:attrNameLst>
                                      </p:cBhvr>
                                      <p:tavLst>
                                        <p:tav tm="0">
                                          <p:val>
                                            <p:strVal val="#ppt_x"/>
                                          </p:val>
                                        </p:tav>
                                        <p:tav tm="100000">
                                          <p:val>
                                            <p:strVal val="#ppt_x"/>
                                          </p:val>
                                        </p:tav>
                                      </p:tavLst>
                                    </p:anim>
                                    <p:anim calcmode="lin" valueType="num">
                                      <p:cBhvr additive="base">
                                        <p:cTn id="62" dur="500" fill="hold"/>
                                        <p:tgtEl>
                                          <p:spTgt spid="105499"/>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xit" presetSubtype="4" fill="hold" grpId="1" nodeType="clickEffect">
                                  <p:stCondLst>
                                    <p:cond delay="0"/>
                                  </p:stCondLst>
                                  <p:childTnLst>
                                    <p:anim calcmode="lin" valueType="num">
                                      <p:cBhvr additive="base">
                                        <p:cTn id="66" dur="500"/>
                                        <p:tgtEl>
                                          <p:spTgt spid="105534"/>
                                        </p:tgtEl>
                                        <p:attrNameLst>
                                          <p:attrName>ppt_x</p:attrName>
                                        </p:attrNameLst>
                                      </p:cBhvr>
                                      <p:tavLst>
                                        <p:tav tm="0">
                                          <p:val>
                                            <p:strVal val="ppt_x"/>
                                          </p:val>
                                        </p:tav>
                                        <p:tav tm="100000">
                                          <p:val>
                                            <p:strVal val="ppt_x"/>
                                          </p:val>
                                        </p:tav>
                                      </p:tavLst>
                                    </p:anim>
                                    <p:anim calcmode="lin" valueType="num">
                                      <p:cBhvr additive="base">
                                        <p:cTn id="67" dur="500"/>
                                        <p:tgtEl>
                                          <p:spTgt spid="105534"/>
                                        </p:tgtEl>
                                        <p:attrNameLst>
                                          <p:attrName>ppt_y</p:attrName>
                                        </p:attrNameLst>
                                      </p:cBhvr>
                                      <p:tavLst>
                                        <p:tav tm="0">
                                          <p:val>
                                            <p:strVal val="ppt_y"/>
                                          </p:val>
                                        </p:tav>
                                        <p:tav tm="100000">
                                          <p:val>
                                            <p:strVal val="1+ppt_h/2"/>
                                          </p:val>
                                        </p:tav>
                                      </p:tavLst>
                                    </p:anim>
                                    <p:set>
                                      <p:cBhvr>
                                        <p:cTn id="68" dur="1" fill="hold">
                                          <p:stCondLst>
                                            <p:cond delay="499"/>
                                          </p:stCondLst>
                                        </p:cTn>
                                        <p:tgtEl>
                                          <p:spTgt spid="105534"/>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05535"/>
                                        </p:tgtEl>
                                        <p:attrNameLst>
                                          <p:attrName>style.visibility</p:attrName>
                                        </p:attrNameLst>
                                      </p:cBhvr>
                                      <p:to>
                                        <p:strVal val="visible"/>
                                      </p:to>
                                    </p:set>
                                    <p:anim calcmode="lin" valueType="num">
                                      <p:cBhvr additive="base">
                                        <p:cTn id="73" dur="500" fill="hold"/>
                                        <p:tgtEl>
                                          <p:spTgt spid="105535"/>
                                        </p:tgtEl>
                                        <p:attrNameLst>
                                          <p:attrName>ppt_x</p:attrName>
                                        </p:attrNameLst>
                                      </p:cBhvr>
                                      <p:tavLst>
                                        <p:tav tm="0">
                                          <p:val>
                                            <p:strVal val="#ppt_x"/>
                                          </p:val>
                                        </p:tav>
                                        <p:tav tm="100000">
                                          <p:val>
                                            <p:strVal val="#ppt_x"/>
                                          </p:val>
                                        </p:tav>
                                      </p:tavLst>
                                    </p:anim>
                                    <p:anim calcmode="lin" valueType="num">
                                      <p:cBhvr additive="base">
                                        <p:cTn id="74" dur="500" fill="hold"/>
                                        <p:tgtEl>
                                          <p:spTgt spid="105535"/>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xit" presetSubtype="4" fill="hold" grpId="1" nodeType="clickEffect">
                                  <p:stCondLst>
                                    <p:cond delay="0"/>
                                  </p:stCondLst>
                                  <p:childTnLst>
                                    <p:anim calcmode="lin" valueType="num">
                                      <p:cBhvr additive="base">
                                        <p:cTn id="78" dur="500"/>
                                        <p:tgtEl>
                                          <p:spTgt spid="105531"/>
                                        </p:tgtEl>
                                        <p:attrNameLst>
                                          <p:attrName>ppt_x</p:attrName>
                                        </p:attrNameLst>
                                      </p:cBhvr>
                                      <p:tavLst>
                                        <p:tav tm="0">
                                          <p:val>
                                            <p:strVal val="ppt_x"/>
                                          </p:val>
                                        </p:tav>
                                        <p:tav tm="100000">
                                          <p:val>
                                            <p:strVal val="ppt_x"/>
                                          </p:val>
                                        </p:tav>
                                      </p:tavLst>
                                    </p:anim>
                                    <p:anim calcmode="lin" valueType="num">
                                      <p:cBhvr additive="base">
                                        <p:cTn id="79" dur="500"/>
                                        <p:tgtEl>
                                          <p:spTgt spid="105531"/>
                                        </p:tgtEl>
                                        <p:attrNameLst>
                                          <p:attrName>ppt_y</p:attrName>
                                        </p:attrNameLst>
                                      </p:cBhvr>
                                      <p:tavLst>
                                        <p:tav tm="0">
                                          <p:val>
                                            <p:strVal val="ppt_y"/>
                                          </p:val>
                                        </p:tav>
                                        <p:tav tm="100000">
                                          <p:val>
                                            <p:strVal val="1+ppt_h/2"/>
                                          </p:val>
                                        </p:tav>
                                      </p:tavLst>
                                    </p:anim>
                                    <p:set>
                                      <p:cBhvr>
                                        <p:cTn id="80" dur="1" fill="hold">
                                          <p:stCondLst>
                                            <p:cond delay="499"/>
                                          </p:stCondLst>
                                        </p:cTn>
                                        <p:tgtEl>
                                          <p:spTgt spid="105531"/>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05495"/>
                                        </p:tgtEl>
                                        <p:attrNameLst>
                                          <p:attrName>style.visibility</p:attrName>
                                        </p:attrNameLst>
                                      </p:cBhvr>
                                      <p:to>
                                        <p:strVal val="visible"/>
                                      </p:to>
                                    </p:set>
                                    <p:anim calcmode="lin" valueType="num">
                                      <p:cBhvr additive="base">
                                        <p:cTn id="85" dur="500" fill="hold"/>
                                        <p:tgtEl>
                                          <p:spTgt spid="105495"/>
                                        </p:tgtEl>
                                        <p:attrNameLst>
                                          <p:attrName>ppt_x</p:attrName>
                                        </p:attrNameLst>
                                      </p:cBhvr>
                                      <p:tavLst>
                                        <p:tav tm="0">
                                          <p:val>
                                            <p:strVal val="#ppt_x"/>
                                          </p:val>
                                        </p:tav>
                                        <p:tav tm="100000">
                                          <p:val>
                                            <p:strVal val="#ppt_x"/>
                                          </p:val>
                                        </p:tav>
                                      </p:tavLst>
                                    </p:anim>
                                    <p:anim calcmode="lin" valueType="num">
                                      <p:cBhvr additive="base">
                                        <p:cTn id="86" dur="500" fill="hold"/>
                                        <p:tgtEl>
                                          <p:spTgt spid="105495"/>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105522"/>
                                        </p:tgtEl>
                                        <p:attrNameLst>
                                          <p:attrName>style.visibility</p:attrName>
                                        </p:attrNameLst>
                                      </p:cBhvr>
                                      <p:to>
                                        <p:strVal val="visible"/>
                                      </p:to>
                                    </p:set>
                                    <p:anim calcmode="lin" valueType="num">
                                      <p:cBhvr additive="base">
                                        <p:cTn id="91" dur="500" fill="hold"/>
                                        <p:tgtEl>
                                          <p:spTgt spid="105522"/>
                                        </p:tgtEl>
                                        <p:attrNameLst>
                                          <p:attrName>ppt_x</p:attrName>
                                        </p:attrNameLst>
                                      </p:cBhvr>
                                      <p:tavLst>
                                        <p:tav tm="0">
                                          <p:val>
                                            <p:strVal val="#ppt_x"/>
                                          </p:val>
                                        </p:tav>
                                        <p:tav tm="100000">
                                          <p:val>
                                            <p:strVal val="#ppt_x"/>
                                          </p:val>
                                        </p:tav>
                                      </p:tavLst>
                                    </p:anim>
                                    <p:anim calcmode="lin" valueType="num">
                                      <p:cBhvr additive="base">
                                        <p:cTn id="92" dur="500" fill="hold"/>
                                        <p:tgtEl>
                                          <p:spTgt spid="105522"/>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105542"/>
                                        </p:tgtEl>
                                        <p:attrNameLst>
                                          <p:attrName>style.visibility</p:attrName>
                                        </p:attrNameLst>
                                      </p:cBhvr>
                                      <p:to>
                                        <p:strVal val="visible"/>
                                      </p:to>
                                    </p:set>
                                    <p:anim calcmode="lin" valueType="num">
                                      <p:cBhvr additive="base">
                                        <p:cTn id="97" dur="500" fill="hold"/>
                                        <p:tgtEl>
                                          <p:spTgt spid="105542"/>
                                        </p:tgtEl>
                                        <p:attrNameLst>
                                          <p:attrName>ppt_x</p:attrName>
                                        </p:attrNameLst>
                                      </p:cBhvr>
                                      <p:tavLst>
                                        <p:tav tm="0">
                                          <p:val>
                                            <p:strVal val="#ppt_x"/>
                                          </p:val>
                                        </p:tav>
                                        <p:tav tm="100000">
                                          <p:val>
                                            <p:strVal val="#ppt_x"/>
                                          </p:val>
                                        </p:tav>
                                      </p:tavLst>
                                    </p:anim>
                                    <p:anim calcmode="lin" valueType="num">
                                      <p:cBhvr additive="base">
                                        <p:cTn id="98" dur="500" fill="hold"/>
                                        <p:tgtEl>
                                          <p:spTgt spid="105542"/>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105523"/>
                                        </p:tgtEl>
                                        <p:attrNameLst>
                                          <p:attrName>style.visibility</p:attrName>
                                        </p:attrNameLst>
                                      </p:cBhvr>
                                      <p:to>
                                        <p:strVal val="visible"/>
                                      </p:to>
                                    </p:set>
                                    <p:anim calcmode="lin" valueType="num">
                                      <p:cBhvr additive="base">
                                        <p:cTn id="103" dur="500" fill="hold"/>
                                        <p:tgtEl>
                                          <p:spTgt spid="105523"/>
                                        </p:tgtEl>
                                        <p:attrNameLst>
                                          <p:attrName>ppt_x</p:attrName>
                                        </p:attrNameLst>
                                      </p:cBhvr>
                                      <p:tavLst>
                                        <p:tav tm="0">
                                          <p:val>
                                            <p:strVal val="#ppt_x"/>
                                          </p:val>
                                        </p:tav>
                                        <p:tav tm="100000">
                                          <p:val>
                                            <p:strVal val="#ppt_x"/>
                                          </p:val>
                                        </p:tav>
                                      </p:tavLst>
                                    </p:anim>
                                    <p:anim calcmode="lin" valueType="num">
                                      <p:cBhvr additive="base">
                                        <p:cTn id="104" dur="500" fill="hold"/>
                                        <p:tgtEl>
                                          <p:spTgt spid="105523"/>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105519"/>
                                        </p:tgtEl>
                                        <p:attrNameLst>
                                          <p:attrName>style.visibility</p:attrName>
                                        </p:attrNameLst>
                                      </p:cBhvr>
                                      <p:to>
                                        <p:strVal val="visible"/>
                                      </p:to>
                                    </p:set>
                                    <p:anim calcmode="lin" valueType="num">
                                      <p:cBhvr additive="base">
                                        <p:cTn id="109" dur="500" fill="hold"/>
                                        <p:tgtEl>
                                          <p:spTgt spid="105519"/>
                                        </p:tgtEl>
                                        <p:attrNameLst>
                                          <p:attrName>ppt_x</p:attrName>
                                        </p:attrNameLst>
                                      </p:cBhvr>
                                      <p:tavLst>
                                        <p:tav tm="0">
                                          <p:val>
                                            <p:strVal val="#ppt_x"/>
                                          </p:val>
                                        </p:tav>
                                        <p:tav tm="100000">
                                          <p:val>
                                            <p:strVal val="#ppt_x"/>
                                          </p:val>
                                        </p:tav>
                                      </p:tavLst>
                                    </p:anim>
                                    <p:anim calcmode="lin" valueType="num">
                                      <p:cBhvr additive="base">
                                        <p:cTn id="110" dur="500" fill="hold"/>
                                        <p:tgtEl>
                                          <p:spTgt spid="105519"/>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105521"/>
                                        </p:tgtEl>
                                        <p:attrNameLst>
                                          <p:attrName>style.visibility</p:attrName>
                                        </p:attrNameLst>
                                      </p:cBhvr>
                                      <p:to>
                                        <p:strVal val="visible"/>
                                      </p:to>
                                    </p:set>
                                    <p:anim calcmode="lin" valueType="num">
                                      <p:cBhvr additive="base">
                                        <p:cTn id="115" dur="500" fill="hold"/>
                                        <p:tgtEl>
                                          <p:spTgt spid="105521"/>
                                        </p:tgtEl>
                                        <p:attrNameLst>
                                          <p:attrName>ppt_x</p:attrName>
                                        </p:attrNameLst>
                                      </p:cBhvr>
                                      <p:tavLst>
                                        <p:tav tm="0">
                                          <p:val>
                                            <p:strVal val="#ppt_x"/>
                                          </p:val>
                                        </p:tav>
                                        <p:tav tm="100000">
                                          <p:val>
                                            <p:strVal val="#ppt_x"/>
                                          </p:val>
                                        </p:tav>
                                      </p:tavLst>
                                    </p:anim>
                                    <p:anim calcmode="lin" valueType="num">
                                      <p:cBhvr additive="base">
                                        <p:cTn id="116" dur="500" fill="hold"/>
                                        <p:tgtEl>
                                          <p:spTgt spid="105521"/>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105532"/>
                                        </p:tgtEl>
                                        <p:attrNameLst>
                                          <p:attrName>style.visibility</p:attrName>
                                        </p:attrNameLst>
                                      </p:cBhvr>
                                      <p:to>
                                        <p:strVal val="visible"/>
                                      </p:to>
                                    </p:set>
                                    <p:anim calcmode="lin" valueType="num">
                                      <p:cBhvr additive="base">
                                        <p:cTn id="121" dur="500" fill="hold"/>
                                        <p:tgtEl>
                                          <p:spTgt spid="105532"/>
                                        </p:tgtEl>
                                        <p:attrNameLst>
                                          <p:attrName>ppt_x</p:attrName>
                                        </p:attrNameLst>
                                      </p:cBhvr>
                                      <p:tavLst>
                                        <p:tav tm="0">
                                          <p:val>
                                            <p:strVal val="#ppt_x"/>
                                          </p:val>
                                        </p:tav>
                                        <p:tav tm="100000">
                                          <p:val>
                                            <p:strVal val="#ppt_x"/>
                                          </p:val>
                                        </p:tav>
                                      </p:tavLst>
                                    </p:anim>
                                    <p:anim calcmode="lin" valueType="num">
                                      <p:cBhvr additive="base">
                                        <p:cTn id="122" dur="500" fill="hold"/>
                                        <p:tgtEl>
                                          <p:spTgt spid="105532"/>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105498"/>
                                        </p:tgtEl>
                                        <p:attrNameLst>
                                          <p:attrName>style.visibility</p:attrName>
                                        </p:attrNameLst>
                                      </p:cBhvr>
                                      <p:to>
                                        <p:strVal val="visible"/>
                                      </p:to>
                                    </p:set>
                                    <p:anim calcmode="lin" valueType="num">
                                      <p:cBhvr additive="base">
                                        <p:cTn id="127" dur="500" fill="hold"/>
                                        <p:tgtEl>
                                          <p:spTgt spid="105498"/>
                                        </p:tgtEl>
                                        <p:attrNameLst>
                                          <p:attrName>ppt_x</p:attrName>
                                        </p:attrNameLst>
                                      </p:cBhvr>
                                      <p:tavLst>
                                        <p:tav tm="0">
                                          <p:val>
                                            <p:strVal val="#ppt_x"/>
                                          </p:val>
                                        </p:tav>
                                        <p:tav tm="100000">
                                          <p:val>
                                            <p:strVal val="#ppt_x"/>
                                          </p:val>
                                        </p:tav>
                                      </p:tavLst>
                                    </p:anim>
                                    <p:anim calcmode="lin" valueType="num">
                                      <p:cBhvr additive="base">
                                        <p:cTn id="128" dur="500" fill="hold"/>
                                        <p:tgtEl>
                                          <p:spTgt spid="105498"/>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xit" presetSubtype="4" fill="hold" grpId="1" nodeType="clickEffect">
                                  <p:stCondLst>
                                    <p:cond delay="0"/>
                                  </p:stCondLst>
                                  <p:childTnLst>
                                    <p:anim calcmode="lin" valueType="num">
                                      <p:cBhvr additive="base">
                                        <p:cTn id="132" dur="500"/>
                                        <p:tgtEl>
                                          <p:spTgt spid="105535"/>
                                        </p:tgtEl>
                                        <p:attrNameLst>
                                          <p:attrName>ppt_x</p:attrName>
                                        </p:attrNameLst>
                                      </p:cBhvr>
                                      <p:tavLst>
                                        <p:tav tm="0">
                                          <p:val>
                                            <p:strVal val="ppt_x"/>
                                          </p:val>
                                        </p:tav>
                                        <p:tav tm="100000">
                                          <p:val>
                                            <p:strVal val="ppt_x"/>
                                          </p:val>
                                        </p:tav>
                                      </p:tavLst>
                                    </p:anim>
                                    <p:anim calcmode="lin" valueType="num">
                                      <p:cBhvr additive="base">
                                        <p:cTn id="133" dur="500"/>
                                        <p:tgtEl>
                                          <p:spTgt spid="105535"/>
                                        </p:tgtEl>
                                        <p:attrNameLst>
                                          <p:attrName>ppt_y</p:attrName>
                                        </p:attrNameLst>
                                      </p:cBhvr>
                                      <p:tavLst>
                                        <p:tav tm="0">
                                          <p:val>
                                            <p:strVal val="ppt_y"/>
                                          </p:val>
                                        </p:tav>
                                        <p:tav tm="100000">
                                          <p:val>
                                            <p:strVal val="1+ppt_h/2"/>
                                          </p:val>
                                        </p:tav>
                                      </p:tavLst>
                                    </p:anim>
                                    <p:set>
                                      <p:cBhvr>
                                        <p:cTn id="134" dur="1" fill="hold">
                                          <p:stCondLst>
                                            <p:cond delay="499"/>
                                          </p:stCondLst>
                                        </p:cTn>
                                        <p:tgtEl>
                                          <p:spTgt spid="105535"/>
                                        </p:tgtEl>
                                        <p:attrNameLst>
                                          <p:attrName>style.visibility</p:attrName>
                                        </p:attrNameLst>
                                      </p:cBhvr>
                                      <p:to>
                                        <p:strVal val="hidden"/>
                                      </p:to>
                                    </p:set>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105533"/>
                                        </p:tgtEl>
                                        <p:attrNameLst>
                                          <p:attrName>style.visibility</p:attrName>
                                        </p:attrNameLst>
                                      </p:cBhvr>
                                      <p:to>
                                        <p:strVal val="visible"/>
                                      </p:to>
                                    </p:set>
                                    <p:anim calcmode="lin" valueType="num">
                                      <p:cBhvr additive="base">
                                        <p:cTn id="139" dur="500" fill="hold"/>
                                        <p:tgtEl>
                                          <p:spTgt spid="105533"/>
                                        </p:tgtEl>
                                        <p:attrNameLst>
                                          <p:attrName>ppt_x</p:attrName>
                                        </p:attrNameLst>
                                      </p:cBhvr>
                                      <p:tavLst>
                                        <p:tav tm="0">
                                          <p:val>
                                            <p:strVal val="#ppt_x"/>
                                          </p:val>
                                        </p:tav>
                                        <p:tav tm="100000">
                                          <p:val>
                                            <p:strVal val="#ppt_x"/>
                                          </p:val>
                                        </p:tav>
                                      </p:tavLst>
                                    </p:anim>
                                    <p:anim calcmode="lin" valueType="num">
                                      <p:cBhvr additive="base">
                                        <p:cTn id="140" dur="500" fill="hold"/>
                                        <p:tgtEl>
                                          <p:spTgt spid="105533"/>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xit" presetSubtype="4" fill="hold" grpId="1" nodeType="clickEffect">
                                  <p:stCondLst>
                                    <p:cond delay="0"/>
                                  </p:stCondLst>
                                  <p:childTnLst>
                                    <p:anim calcmode="lin" valueType="num">
                                      <p:cBhvr additive="base">
                                        <p:cTn id="144" dur="500"/>
                                        <p:tgtEl>
                                          <p:spTgt spid="105532"/>
                                        </p:tgtEl>
                                        <p:attrNameLst>
                                          <p:attrName>ppt_x</p:attrName>
                                        </p:attrNameLst>
                                      </p:cBhvr>
                                      <p:tavLst>
                                        <p:tav tm="0">
                                          <p:val>
                                            <p:strVal val="ppt_x"/>
                                          </p:val>
                                        </p:tav>
                                        <p:tav tm="100000">
                                          <p:val>
                                            <p:strVal val="ppt_x"/>
                                          </p:val>
                                        </p:tav>
                                      </p:tavLst>
                                    </p:anim>
                                    <p:anim calcmode="lin" valueType="num">
                                      <p:cBhvr additive="base">
                                        <p:cTn id="145" dur="500"/>
                                        <p:tgtEl>
                                          <p:spTgt spid="105532"/>
                                        </p:tgtEl>
                                        <p:attrNameLst>
                                          <p:attrName>ppt_y</p:attrName>
                                        </p:attrNameLst>
                                      </p:cBhvr>
                                      <p:tavLst>
                                        <p:tav tm="0">
                                          <p:val>
                                            <p:strVal val="ppt_y"/>
                                          </p:val>
                                        </p:tav>
                                        <p:tav tm="100000">
                                          <p:val>
                                            <p:strVal val="1+ppt_h/2"/>
                                          </p:val>
                                        </p:tav>
                                      </p:tavLst>
                                    </p:anim>
                                    <p:set>
                                      <p:cBhvr>
                                        <p:cTn id="146" dur="1" fill="hold">
                                          <p:stCondLst>
                                            <p:cond delay="499"/>
                                          </p:stCondLst>
                                        </p:cTn>
                                        <p:tgtEl>
                                          <p:spTgt spid="105532"/>
                                        </p:tgtEl>
                                        <p:attrNameLst>
                                          <p:attrName>style.visibility</p:attrName>
                                        </p:attrNameLst>
                                      </p:cBhvr>
                                      <p:to>
                                        <p:strVal val="hidden"/>
                                      </p:to>
                                    </p:set>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grpId="0" nodeType="clickEffect">
                                  <p:stCondLst>
                                    <p:cond delay="0"/>
                                  </p:stCondLst>
                                  <p:childTnLst>
                                    <p:set>
                                      <p:cBhvr>
                                        <p:cTn id="150" dur="1" fill="hold">
                                          <p:stCondLst>
                                            <p:cond delay="0"/>
                                          </p:stCondLst>
                                        </p:cTn>
                                        <p:tgtEl>
                                          <p:spTgt spid="105525"/>
                                        </p:tgtEl>
                                        <p:attrNameLst>
                                          <p:attrName>style.visibility</p:attrName>
                                        </p:attrNameLst>
                                      </p:cBhvr>
                                      <p:to>
                                        <p:strVal val="visible"/>
                                      </p:to>
                                    </p:set>
                                    <p:anim calcmode="lin" valueType="num">
                                      <p:cBhvr additive="base">
                                        <p:cTn id="151" dur="500" fill="hold"/>
                                        <p:tgtEl>
                                          <p:spTgt spid="105525"/>
                                        </p:tgtEl>
                                        <p:attrNameLst>
                                          <p:attrName>ppt_x</p:attrName>
                                        </p:attrNameLst>
                                      </p:cBhvr>
                                      <p:tavLst>
                                        <p:tav tm="0">
                                          <p:val>
                                            <p:strVal val="#ppt_x"/>
                                          </p:val>
                                        </p:tav>
                                        <p:tav tm="100000">
                                          <p:val>
                                            <p:strVal val="#ppt_x"/>
                                          </p:val>
                                        </p:tav>
                                      </p:tavLst>
                                    </p:anim>
                                    <p:anim calcmode="lin" valueType="num">
                                      <p:cBhvr additive="base">
                                        <p:cTn id="152" dur="500" fill="hold"/>
                                        <p:tgtEl>
                                          <p:spTgt spid="105525"/>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grpId="0" nodeType="clickEffect">
                                  <p:stCondLst>
                                    <p:cond delay="0"/>
                                  </p:stCondLst>
                                  <p:childTnLst>
                                    <p:set>
                                      <p:cBhvr>
                                        <p:cTn id="156" dur="1" fill="hold">
                                          <p:stCondLst>
                                            <p:cond delay="0"/>
                                          </p:stCondLst>
                                        </p:cTn>
                                        <p:tgtEl>
                                          <p:spTgt spid="105526"/>
                                        </p:tgtEl>
                                        <p:attrNameLst>
                                          <p:attrName>style.visibility</p:attrName>
                                        </p:attrNameLst>
                                      </p:cBhvr>
                                      <p:to>
                                        <p:strVal val="visible"/>
                                      </p:to>
                                    </p:set>
                                    <p:anim calcmode="lin" valueType="num">
                                      <p:cBhvr additive="base">
                                        <p:cTn id="157" dur="500" fill="hold"/>
                                        <p:tgtEl>
                                          <p:spTgt spid="105526"/>
                                        </p:tgtEl>
                                        <p:attrNameLst>
                                          <p:attrName>ppt_x</p:attrName>
                                        </p:attrNameLst>
                                      </p:cBhvr>
                                      <p:tavLst>
                                        <p:tav tm="0">
                                          <p:val>
                                            <p:strVal val="#ppt_x"/>
                                          </p:val>
                                        </p:tav>
                                        <p:tav tm="100000">
                                          <p:val>
                                            <p:strVal val="#ppt_x"/>
                                          </p:val>
                                        </p:tav>
                                      </p:tavLst>
                                    </p:anim>
                                    <p:anim calcmode="lin" valueType="num">
                                      <p:cBhvr additive="base">
                                        <p:cTn id="158" dur="500" fill="hold"/>
                                        <p:tgtEl>
                                          <p:spTgt spid="105526"/>
                                        </p:tgtEl>
                                        <p:attrNameLst>
                                          <p:attrName>ppt_y</p:attrName>
                                        </p:attrNameLst>
                                      </p:cBhvr>
                                      <p:tavLst>
                                        <p:tav tm="0">
                                          <p:val>
                                            <p:strVal val="1+#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4" fill="hold" grpId="0" nodeType="clickEffect">
                                  <p:stCondLst>
                                    <p:cond delay="0"/>
                                  </p:stCondLst>
                                  <p:childTnLst>
                                    <p:set>
                                      <p:cBhvr>
                                        <p:cTn id="162" dur="1" fill="hold">
                                          <p:stCondLst>
                                            <p:cond delay="0"/>
                                          </p:stCondLst>
                                        </p:cTn>
                                        <p:tgtEl>
                                          <p:spTgt spid="105527"/>
                                        </p:tgtEl>
                                        <p:attrNameLst>
                                          <p:attrName>style.visibility</p:attrName>
                                        </p:attrNameLst>
                                      </p:cBhvr>
                                      <p:to>
                                        <p:strVal val="visible"/>
                                      </p:to>
                                    </p:set>
                                    <p:anim calcmode="lin" valueType="num">
                                      <p:cBhvr additive="base">
                                        <p:cTn id="163" dur="500" fill="hold"/>
                                        <p:tgtEl>
                                          <p:spTgt spid="105527"/>
                                        </p:tgtEl>
                                        <p:attrNameLst>
                                          <p:attrName>ppt_x</p:attrName>
                                        </p:attrNameLst>
                                      </p:cBhvr>
                                      <p:tavLst>
                                        <p:tav tm="0">
                                          <p:val>
                                            <p:strVal val="#ppt_x"/>
                                          </p:val>
                                        </p:tav>
                                        <p:tav tm="100000">
                                          <p:val>
                                            <p:strVal val="#ppt_x"/>
                                          </p:val>
                                        </p:tav>
                                      </p:tavLst>
                                    </p:anim>
                                    <p:anim calcmode="lin" valueType="num">
                                      <p:cBhvr additive="base">
                                        <p:cTn id="164" dur="500" fill="hold"/>
                                        <p:tgtEl>
                                          <p:spTgt spid="105527"/>
                                        </p:tgtEl>
                                        <p:attrNameLst>
                                          <p:attrName>ppt_y</p:attrName>
                                        </p:attrNameLst>
                                      </p:cBhvr>
                                      <p:tavLst>
                                        <p:tav tm="0">
                                          <p:val>
                                            <p:strVal val="1+#ppt_h/2"/>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4" fill="hold" grpId="0" nodeType="clickEffect">
                                  <p:stCondLst>
                                    <p:cond delay="0"/>
                                  </p:stCondLst>
                                  <p:childTnLst>
                                    <p:set>
                                      <p:cBhvr>
                                        <p:cTn id="168" dur="1" fill="hold">
                                          <p:stCondLst>
                                            <p:cond delay="0"/>
                                          </p:stCondLst>
                                        </p:cTn>
                                        <p:tgtEl>
                                          <p:spTgt spid="105536"/>
                                        </p:tgtEl>
                                        <p:attrNameLst>
                                          <p:attrName>style.visibility</p:attrName>
                                        </p:attrNameLst>
                                      </p:cBhvr>
                                      <p:to>
                                        <p:strVal val="visible"/>
                                      </p:to>
                                    </p:set>
                                    <p:anim calcmode="lin" valueType="num">
                                      <p:cBhvr additive="base">
                                        <p:cTn id="169" dur="500" fill="hold"/>
                                        <p:tgtEl>
                                          <p:spTgt spid="105536"/>
                                        </p:tgtEl>
                                        <p:attrNameLst>
                                          <p:attrName>ppt_x</p:attrName>
                                        </p:attrNameLst>
                                      </p:cBhvr>
                                      <p:tavLst>
                                        <p:tav tm="0">
                                          <p:val>
                                            <p:strVal val="#ppt_x"/>
                                          </p:val>
                                        </p:tav>
                                        <p:tav tm="100000">
                                          <p:val>
                                            <p:strVal val="#ppt_x"/>
                                          </p:val>
                                        </p:tav>
                                      </p:tavLst>
                                    </p:anim>
                                    <p:anim calcmode="lin" valueType="num">
                                      <p:cBhvr additive="base">
                                        <p:cTn id="170" dur="500" fill="hold"/>
                                        <p:tgtEl>
                                          <p:spTgt spid="105536"/>
                                        </p:tgtEl>
                                        <p:attrNameLst>
                                          <p:attrName>ppt_y</p:attrName>
                                        </p:attrNameLst>
                                      </p:cBhvr>
                                      <p:tavLst>
                                        <p:tav tm="0">
                                          <p:val>
                                            <p:strVal val="1+#ppt_h/2"/>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2" presetClass="entr" presetSubtype="4" fill="hold" grpId="0" nodeType="clickEffect">
                                  <p:stCondLst>
                                    <p:cond delay="0"/>
                                  </p:stCondLst>
                                  <p:childTnLst>
                                    <p:set>
                                      <p:cBhvr>
                                        <p:cTn id="174" dur="1" fill="hold">
                                          <p:stCondLst>
                                            <p:cond delay="0"/>
                                          </p:stCondLst>
                                        </p:cTn>
                                        <p:tgtEl>
                                          <p:spTgt spid="105529"/>
                                        </p:tgtEl>
                                        <p:attrNameLst>
                                          <p:attrName>style.visibility</p:attrName>
                                        </p:attrNameLst>
                                      </p:cBhvr>
                                      <p:to>
                                        <p:strVal val="visible"/>
                                      </p:to>
                                    </p:set>
                                    <p:anim calcmode="lin" valueType="num">
                                      <p:cBhvr additive="base">
                                        <p:cTn id="175" dur="500" fill="hold"/>
                                        <p:tgtEl>
                                          <p:spTgt spid="105529"/>
                                        </p:tgtEl>
                                        <p:attrNameLst>
                                          <p:attrName>ppt_x</p:attrName>
                                        </p:attrNameLst>
                                      </p:cBhvr>
                                      <p:tavLst>
                                        <p:tav tm="0">
                                          <p:val>
                                            <p:strVal val="#ppt_x"/>
                                          </p:val>
                                        </p:tav>
                                        <p:tav tm="100000">
                                          <p:val>
                                            <p:strVal val="#ppt_x"/>
                                          </p:val>
                                        </p:tav>
                                      </p:tavLst>
                                    </p:anim>
                                    <p:anim calcmode="lin" valueType="num">
                                      <p:cBhvr additive="base">
                                        <p:cTn id="176" dur="500" fill="hold"/>
                                        <p:tgtEl>
                                          <p:spTgt spid="105529"/>
                                        </p:tgtEl>
                                        <p:attrNameLst>
                                          <p:attrName>ppt_y</p:attrName>
                                        </p:attrNameLst>
                                      </p:cBhvr>
                                      <p:tavLst>
                                        <p:tav tm="0">
                                          <p:val>
                                            <p:strVal val="1+#ppt_h/2"/>
                                          </p:val>
                                        </p:tav>
                                        <p:tav tm="100000">
                                          <p:val>
                                            <p:strVal val="#ppt_y"/>
                                          </p:val>
                                        </p:tav>
                                      </p:tavLst>
                                    </p:anim>
                                  </p:childTnLst>
                                </p:cTn>
                              </p:par>
                            </p:childTnLst>
                          </p:cTn>
                        </p:par>
                      </p:childTnLst>
                    </p:cTn>
                  </p:par>
                  <p:par>
                    <p:cTn id="177" fill="hold">
                      <p:stCondLst>
                        <p:cond delay="indefinite"/>
                      </p:stCondLst>
                      <p:childTnLst>
                        <p:par>
                          <p:cTn id="178" fill="hold">
                            <p:stCondLst>
                              <p:cond delay="0"/>
                            </p:stCondLst>
                            <p:childTnLst>
                              <p:par>
                                <p:cTn id="179" presetID="2" presetClass="entr" presetSubtype="4" fill="hold" grpId="0" nodeType="clickEffect">
                                  <p:stCondLst>
                                    <p:cond delay="0"/>
                                  </p:stCondLst>
                                  <p:childTnLst>
                                    <p:set>
                                      <p:cBhvr>
                                        <p:cTn id="180" dur="1" fill="hold">
                                          <p:stCondLst>
                                            <p:cond delay="0"/>
                                          </p:stCondLst>
                                        </p:cTn>
                                        <p:tgtEl>
                                          <p:spTgt spid="105546"/>
                                        </p:tgtEl>
                                        <p:attrNameLst>
                                          <p:attrName>style.visibility</p:attrName>
                                        </p:attrNameLst>
                                      </p:cBhvr>
                                      <p:to>
                                        <p:strVal val="visible"/>
                                      </p:to>
                                    </p:set>
                                    <p:anim calcmode="lin" valueType="num">
                                      <p:cBhvr additive="base">
                                        <p:cTn id="181" dur="500" fill="hold"/>
                                        <p:tgtEl>
                                          <p:spTgt spid="105546"/>
                                        </p:tgtEl>
                                        <p:attrNameLst>
                                          <p:attrName>ppt_x</p:attrName>
                                        </p:attrNameLst>
                                      </p:cBhvr>
                                      <p:tavLst>
                                        <p:tav tm="0">
                                          <p:val>
                                            <p:strVal val="#ppt_x"/>
                                          </p:val>
                                        </p:tav>
                                        <p:tav tm="100000">
                                          <p:val>
                                            <p:strVal val="#ppt_x"/>
                                          </p:val>
                                        </p:tav>
                                      </p:tavLst>
                                    </p:anim>
                                    <p:anim calcmode="lin" valueType="num">
                                      <p:cBhvr additive="base">
                                        <p:cTn id="182" dur="500" fill="hold"/>
                                        <p:tgtEl>
                                          <p:spTgt spid="105546"/>
                                        </p:tgtEl>
                                        <p:attrNameLst>
                                          <p:attrName>ppt_y</p:attrName>
                                        </p:attrNameLst>
                                      </p:cBhvr>
                                      <p:tavLst>
                                        <p:tav tm="0">
                                          <p:val>
                                            <p:strVal val="1+#ppt_h/2"/>
                                          </p:val>
                                        </p:tav>
                                        <p:tav tm="100000">
                                          <p:val>
                                            <p:strVal val="#ppt_y"/>
                                          </p:val>
                                        </p:tav>
                                      </p:tavLst>
                                    </p:anim>
                                  </p:childTnLst>
                                </p:cTn>
                              </p:par>
                            </p:childTnLst>
                          </p:cTn>
                        </p:par>
                      </p:childTnLst>
                    </p:cTn>
                  </p:par>
                  <p:par>
                    <p:cTn id="183" fill="hold">
                      <p:stCondLst>
                        <p:cond delay="indefinite"/>
                      </p:stCondLst>
                      <p:childTnLst>
                        <p:par>
                          <p:cTn id="184" fill="hold">
                            <p:stCondLst>
                              <p:cond delay="0"/>
                            </p:stCondLst>
                            <p:childTnLst>
                              <p:par>
                                <p:cTn id="185" presetID="2" presetClass="entr" presetSubtype="4" fill="hold" grpId="0" nodeType="clickEffect">
                                  <p:stCondLst>
                                    <p:cond delay="0"/>
                                  </p:stCondLst>
                                  <p:childTnLst>
                                    <p:set>
                                      <p:cBhvr>
                                        <p:cTn id="186" dur="1" fill="hold">
                                          <p:stCondLst>
                                            <p:cond delay="0"/>
                                          </p:stCondLst>
                                        </p:cTn>
                                        <p:tgtEl>
                                          <p:spTgt spid="105539"/>
                                        </p:tgtEl>
                                        <p:attrNameLst>
                                          <p:attrName>style.visibility</p:attrName>
                                        </p:attrNameLst>
                                      </p:cBhvr>
                                      <p:to>
                                        <p:strVal val="visible"/>
                                      </p:to>
                                    </p:set>
                                    <p:anim calcmode="lin" valueType="num">
                                      <p:cBhvr additive="base">
                                        <p:cTn id="187" dur="500" fill="hold"/>
                                        <p:tgtEl>
                                          <p:spTgt spid="105539"/>
                                        </p:tgtEl>
                                        <p:attrNameLst>
                                          <p:attrName>ppt_x</p:attrName>
                                        </p:attrNameLst>
                                      </p:cBhvr>
                                      <p:tavLst>
                                        <p:tav tm="0">
                                          <p:val>
                                            <p:strVal val="#ppt_x"/>
                                          </p:val>
                                        </p:tav>
                                        <p:tav tm="100000">
                                          <p:val>
                                            <p:strVal val="#ppt_x"/>
                                          </p:val>
                                        </p:tav>
                                      </p:tavLst>
                                    </p:anim>
                                    <p:anim calcmode="lin" valueType="num">
                                      <p:cBhvr additive="base">
                                        <p:cTn id="188" dur="500" fill="hold"/>
                                        <p:tgtEl>
                                          <p:spTgt spid="105539"/>
                                        </p:tgtEl>
                                        <p:attrNameLst>
                                          <p:attrName>ppt_y</p:attrName>
                                        </p:attrNameLst>
                                      </p:cBhvr>
                                      <p:tavLst>
                                        <p:tav tm="0">
                                          <p:val>
                                            <p:strVal val="1+#ppt_h/2"/>
                                          </p:val>
                                        </p:tav>
                                        <p:tav tm="100000">
                                          <p:val>
                                            <p:strVal val="#ppt_y"/>
                                          </p:val>
                                        </p:tav>
                                      </p:tavLst>
                                    </p:anim>
                                  </p:childTnLst>
                                </p:cTn>
                              </p:par>
                            </p:childTnLst>
                          </p:cTn>
                        </p:par>
                      </p:childTnLst>
                    </p:cTn>
                  </p:par>
                  <p:par>
                    <p:cTn id="189" fill="hold">
                      <p:stCondLst>
                        <p:cond delay="indefinite"/>
                      </p:stCondLst>
                      <p:childTnLst>
                        <p:par>
                          <p:cTn id="190" fill="hold">
                            <p:stCondLst>
                              <p:cond delay="0"/>
                            </p:stCondLst>
                            <p:childTnLst>
                              <p:par>
                                <p:cTn id="191" presetID="2" presetClass="entr" presetSubtype="4" fill="hold" grpId="0" nodeType="clickEffect">
                                  <p:stCondLst>
                                    <p:cond delay="0"/>
                                  </p:stCondLst>
                                  <p:childTnLst>
                                    <p:set>
                                      <p:cBhvr>
                                        <p:cTn id="192" dur="1" fill="hold">
                                          <p:stCondLst>
                                            <p:cond delay="0"/>
                                          </p:stCondLst>
                                        </p:cTn>
                                        <p:tgtEl>
                                          <p:spTgt spid="105530"/>
                                        </p:tgtEl>
                                        <p:attrNameLst>
                                          <p:attrName>style.visibility</p:attrName>
                                        </p:attrNameLst>
                                      </p:cBhvr>
                                      <p:to>
                                        <p:strVal val="visible"/>
                                      </p:to>
                                    </p:set>
                                    <p:anim calcmode="lin" valueType="num">
                                      <p:cBhvr additive="base">
                                        <p:cTn id="193" dur="500" fill="hold"/>
                                        <p:tgtEl>
                                          <p:spTgt spid="105530"/>
                                        </p:tgtEl>
                                        <p:attrNameLst>
                                          <p:attrName>ppt_x</p:attrName>
                                        </p:attrNameLst>
                                      </p:cBhvr>
                                      <p:tavLst>
                                        <p:tav tm="0">
                                          <p:val>
                                            <p:strVal val="#ppt_x"/>
                                          </p:val>
                                        </p:tav>
                                        <p:tav tm="100000">
                                          <p:val>
                                            <p:strVal val="#ppt_x"/>
                                          </p:val>
                                        </p:tav>
                                      </p:tavLst>
                                    </p:anim>
                                    <p:anim calcmode="lin" valueType="num">
                                      <p:cBhvr additive="base">
                                        <p:cTn id="194" dur="500" fill="hold"/>
                                        <p:tgtEl>
                                          <p:spTgt spid="105530"/>
                                        </p:tgtEl>
                                        <p:attrNameLst>
                                          <p:attrName>ppt_y</p:attrName>
                                        </p:attrNameLst>
                                      </p:cBhvr>
                                      <p:tavLst>
                                        <p:tav tm="0">
                                          <p:val>
                                            <p:strVal val="1+#ppt_h/2"/>
                                          </p:val>
                                        </p:tav>
                                        <p:tav tm="100000">
                                          <p:val>
                                            <p:strVal val="#ppt_y"/>
                                          </p:val>
                                        </p:tav>
                                      </p:tavLst>
                                    </p:anim>
                                  </p:childTnLst>
                                </p:cTn>
                              </p:par>
                            </p:childTnLst>
                          </p:cTn>
                        </p:par>
                      </p:childTnLst>
                    </p:cTn>
                  </p:par>
                  <p:par>
                    <p:cTn id="195" fill="hold">
                      <p:stCondLst>
                        <p:cond delay="indefinite"/>
                      </p:stCondLst>
                      <p:childTnLst>
                        <p:par>
                          <p:cTn id="196" fill="hold">
                            <p:stCondLst>
                              <p:cond delay="0"/>
                            </p:stCondLst>
                            <p:childTnLst>
                              <p:par>
                                <p:cTn id="197" presetID="2" presetClass="exit" presetSubtype="4" fill="hold" grpId="1" nodeType="clickEffect">
                                  <p:stCondLst>
                                    <p:cond delay="0"/>
                                  </p:stCondLst>
                                  <p:childTnLst>
                                    <p:anim calcmode="lin" valueType="num">
                                      <p:cBhvr additive="base">
                                        <p:cTn id="198" dur="500"/>
                                        <p:tgtEl>
                                          <p:spTgt spid="105533"/>
                                        </p:tgtEl>
                                        <p:attrNameLst>
                                          <p:attrName>ppt_x</p:attrName>
                                        </p:attrNameLst>
                                      </p:cBhvr>
                                      <p:tavLst>
                                        <p:tav tm="0">
                                          <p:val>
                                            <p:strVal val="ppt_x"/>
                                          </p:val>
                                        </p:tav>
                                        <p:tav tm="100000">
                                          <p:val>
                                            <p:strVal val="ppt_x"/>
                                          </p:val>
                                        </p:tav>
                                      </p:tavLst>
                                    </p:anim>
                                    <p:anim calcmode="lin" valueType="num">
                                      <p:cBhvr additive="base">
                                        <p:cTn id="199" dur="500"/>
                                        <p:tgtEl>
                                          <p:spTgt spid="105533"/>
                                        </p:tgtEl>
                                        <p:attrNameLst>
                                          <p:attrName>ppt_y</p:attrName>
                                        </p:attrNameLst>
                                      </p:cBhvr>
                                      <p:tavLst>
                                        <p:tav tm="0">
                                          <p:val>
                                            <p:strVal val="ppt_y"/>
                                          </p:val>
                                        </p:tav>
                                        <p:tav tm="100000">
                                          <p:val>
                                            <p:strVal val="1+ppt_h/2"/>
                                          </p:val>
                                        </p:tav>
                                      </p:tavLst>
                                    </p:anim>
                                    <p:set>
                                      <p:cBhvr>
                                        <p:cTn id="200" dur="1" fill="hold">
                                          <p:stCondLst>
                                            <p:cond delay="499"/>
                                          </p:stCondLst>
                                        </p:cTn>
                                        <p:tgtEl>
                                          <p:spTgt spid="105533"/>
                                        </p:tgtEl>
                                        <p:attrNameLst>
                                          <p:attrName>style.visibility</p:attrName>
                                        </p:attrNameLst>
                                      </p:cBhvr>
                                      <p:to>
                                        <p:strVal val="hidden"/>
                                      </p:to>
                                    </p:set>
                                  </p:childTnLst>
                                </p:cTn>
                              </p:par>
                            </p:childTnLst>
                          </p:cTn>
                        </p:par>
                      </p:childTnLst>
                    </p:cTn>
                  </p:par>
                  <p:par>
                    <p:cTn id="201" fill="hold">
                      <p:stCondLst>
                        <p:cond delay="indefinite"/>
                      </p:stCondLst>
                      <p:childTnLst>
                        <p:par>
                          <p:cTn id="202" fill="hold">
                            <p:stCondLst>
                              <p:cond delay="0"/>
                            </p:stCondLst>
                            <p:childTnLst>
                              <p:par>
                                <p:cTn id="203" presetID="2" presetClass="entr" presetSubtype="4" fill="hold" grpId="0" nodeType="clickEffect">
                                  <p:stCondLst>
                                    <p:cond delay="0"/>
                                  </p:stCondLst>
                                  <p:childTnLst>
                                    <p:set>
                                      <p:cBhvr>
                                        <p:cTn id="204" dur="1" fill="hold">
                                          <p:stCondLst>
                                            <p:cond delay="0"/>
                                          </p:stCondLst>
                                        </p:cTn>
                                        <p:tgtEl>
                                          <p:spTgt spid="105537"/>
                                        </p:tgtEl>
                                        <p:attrNameLst>
                                          <p:attrName>style.visibility</p:attrName>
                                        </p:attrNameLst>
                                      </p:cBhvr>
                                      <p:to>
                                        <p:strVal val="visible"/>
                                      </p:to>
                                    </p:set>
                                    <p:anim calcmode="lin" valueType="num">
                                      <p:cBhvr additive="base">
                                        <p:cTn id="205" dur="500" fill="hold"/>
                                        <p:tgtEl>
                                          <p:spTgt spid="105537"/>
                                        </p:tgtEl>
                                        <p:attrNameLst>
                                          <p:attrName>ppt_x</p:attrName>
                                        </p:attrNameLst>
                                      </p:cBhvr>
                                      <p:tavLst>
                                        <p:tav tm="0">
                                          <p:val>
                                            <p:strVal val="#ppt_x"/>
                                          </p:val>
                                        </p:tav>
                                        <p:tav tm="100000">
                                          <p:val>
                                            <p:strVal val="#ppt_x"/>
                                          </p:val>
                                        </p:tav>
                                      </p:tavLst>
                                    </p:anim>
                                    <p:anim calcmode="lin" valueType="num">
                                      <p:cBhvr additive="base">
                                        <p:cTn id="206" dur="500" fill="hold"/>
                                        <p:tgtEl>
                                          <p:spTgt spid="105537"/>
                                        </p:tgtEl>
                                        <p:attrNameLst>
                                          <p:attrName>ppt_y</p:attrName>
                                        </p:attrNameLst>
                                      </p:cBhvr>
                                      <p:tavLst>
                                        <p:tav tm="0">
                                          <p:val>
                                            <p:strVal val="1+#ppt_h/2"/>
                                          </p:val>
                                        </p:tav>
                                        <p:tav tm="100000">
                                          <p:val>
                                            <p:strVal val="#ppt_y"/>
                                          </p:val>
                                        </p:tav>
                                      </p:tavLst>
                                    </p:anim>
                                  </p:childTnLst>
                                </p:cTn>
                              </p:par>
                            </p:childTnLst>
                          </p:cTn>
                        </p:par>
                      </p:childTnLst>
                    </p:cTn>
                  </p:par>
                  <p:par>
                    <p:cTn id="207" fill="hold">
                      <p:stCondLst>
                        <p:cond delay="indefinite"/>
                      </p:stCondLst>
                      <p:childTnLst>
                        <p:par>
                          <p:cTn id="208" fill="hold">
                            <p:stCondLst>
                              <p:cond delay="0"/>
                            </p:stCondLst>
                            <p:childTnLst>
                              <p:par>
                                <p:cTn id="209" presetID="2" presetClass="exit" presetSubtype="4" fill="hold" grpId="1" nodeType="clickEffect">
                                  <p:stCondLst>
                                    <p:cond delay="0"/>
                                  </p:stCondLst>
                                  <p:childTnLst>
                                    <p:anim calcmode="lin" valueType="num">
                                      <p:cBhvr additive="base">
                                        <p:cTn id="210" dur="500"/>
                                        <p:tgtEl>
                                          <p:spTgt spid="105536"/>
                                        </p:tgtEl>
                                        <p:attrNameLst>
                                          <p:attrName>ppt_x</p:attrName>
                                        </p:attrNameLst>
                                      </p:cBhvr>
                                      <p:tavLst>
                                        <p:tav tm="0">
                                          <p:val>
                                            <p:strVal val="ppt_x"/>
                                          </p:val>
                                        </p:tav>
                                        <p:tav tm="100000">
                                          <p:val>
                                            <p:strVal val="ppt_x"/>
                                          </p:val>
                                        </p:tav>
                                      </p:tavLst>
                                    </p:anim>
                                    <p:anim calcmode="lin" valueType="num">
                                      <p:cBhvr additive="base">
                                        <p:cTn id="211" dur="500"/>
                                        <p:tgtEl>
                                          <p:spTgt spid="105536"/>
                                        </p:tgtEl>
                                        <p:attrNameLst>
                                          <p:attrName>ppt_y</p:attrName>
                                        </p:attrNameLst>
                                      </p:cBhvr>
                                      <p:tavLst>
                                        <p:tav tm="0">
                                          <p:val>
                                            <p:strVal val="ppt_y"/>
                                          </p:val>
                                        </p:tav>
                                        <p:tav tm="100000">
                                          <p:val>
                                            <p:strVal val="1+ppt_h/2"/>
                                          </p:val>
                                        </p:tav>
                                      </p:tavLst>
                                    </p:anim>
                                    <p:set>
                                      <p:cBhvr>
                                        <p:cTn id="212" dur="1" fill="hold">
                                          <p:stCondLst>
                                            <p:cond delay="499"/>
                                          </p:stCondLst>
                                        </p:cTn>
                                        <p:tgtEl>
                                          <p:spTgt spid="105536"/>
                                        </p:tgtEl>
                                        <p:attrNameLst>
                                          <p:attrName>style.visibility</p:attrName>
                                        </p:attrNameLst>
                                      </p:cBhvr>
                                      <p:to>
                                        <p:strVal val="hidden"/>
                                      </p:to>
                                    </p:set>
                                  </p:childTnLst>
                                </p:cTn>
                              </p:par>
                            </p:childTnLst>
                          </p:cTn>
                        </p:par>
                      </p:childTnLst>
                    </p:cTn>
                  </p:par>
                  <p:par>
                    <p:cTn id="213" fill="hold">
                      <p:stCondLst>
                        <p:cond delay="indefinite"/>
                      </p:stCondLst>
                      <p:childTnLst>
                        <p:par>
                          <p:cTn id="214" fill="hold">
                            <p:stCondLst>
                              <p:cond delay="0"/>
                            </p:stCondLst>
                            <p:childTnLst>
                              <p:par>
                                <p:cTn id="215" presetID="2" presetClass="entr" presetSubtype="4" fill="hold" grpId="0" nodeType="clickEffect">
                                  <p:stCondLst>
                                    <p:cond delay="0"/>
                                  </p:stCondLst>
                                  <p:childTnLst>
                                    <p:set>
                                      <p:cBhvr>
                                        <p:cTn id="216" dur="1" fill="hold">
                                          <p:stCondLst>
                                            <p:cond delay="0"/>
                                          </p:stCondLst>
                                        </p:cTn>
                                        <p:tgtEl>
                                          <p:spTgt spid="105538"/>
                                        </p:tgtEl>
                                        <p:attrNameLst>
                                          <p:attrName>style.visibility</p:attrName>
                                        </p:attrNameLst>
                                      </p:cBhvr>
                                      <p:to>
                                        <p:strVal val="visible"/>
                                      </p:to>
                                    </p:set>
                                    <p:anim calcmode="lin" valueType="num">
                                      <p:cBhvr additive="base">
                                        <p:cTn id="217" dur="500" fill="hold"/>
                                        <p:tgtEl>
                                          <p:spTgt spid="105538"/>
                                        </p:tgtEl>
                                        <p:attrNameLst>
                                          <p:attrName>ppt_x</p:attrName>
                                        </p:attrNameLst>
                                      </p:cBhvr>
                                      <p:tavLst>
                                        <p:tav tm="0">
                                          <p:val>
                                            <p:strVal val="#ppt_x"/>
                                          </p:val>
                                        </p:tav>
                                        <p:tav tm="100000">
                                          <p:val>
                                            <p:strVal val="#ppt_x"/>
                                          </p:val>
                                        </p:tav>
                                      </p:tavLst>
                                    </p:anim>
                                    <p:anim calcmode="lin" valueType="num">
                                      <p:cBhvr additive="base">
                                        <p:cTn id="218" dur="500" fill="hold"/>
                                        <p:tgtEl>
                                          <p:spTgt spid="105538"/>
                                        </p:tgtEl>
                                        <p:attrNameLst>
                                          <p:attrName>ppt_y</p:attrName>
                                        </p:attrNameLst>
                                      </p:cBhvr>
                                      <p:tavLst>
                                        <p:tav tm="0">
                                          <p:val>
                                            <p:strVal val="1+#ppt_h/2"/>
                                          </p:val>
                                        </p:tav>
                                        <p:tav tm="100000">
                                          <p:val>
                                            <p:strVal val="#ppt_y"/>
                                          </p:val>
                                        </p:tav>
                                      </p:tavLst>
                                    </p:anim>
                                  </p:childTnLst>
                                </p:cTn>
                              </p:par>
                            </p:childTnLst>
                          </p:cTn>
                        </p:par>
                      </p:childTnLst>
                    </p:cTn>
                  </p:par>
                  <p:par>
                    <p:cTn id="219" fill="hold">
                      <p:stCondLst>
                        <p:cond delay="indefinite"/>
                      </p:stCondLst>
                      <p:childTnLst>
                        <p:par>
                          <p:cTn id="220" fill="hold">
                            <p:stCondLst>
                              <p:cond delay="0"/>
                            </p:stCondLst>
                            <p:childTnLst>
                              <p:par>
                                <p:cTn id="221" presetID="2" presetClass="entr" presetSubtype="4" fill="hold" grpId="0" nodeType="clickEffect">
                                  <p:stCondLst>
                                    <p:cond delay="0"/>
                                  </p:stCondLst>
                                  <p:childTnLst>
                                    <p:set>
                                      <p:cBhvr>
                                        <p:cTn id="222" dur="1" fill="hold">
                                          <p:stCondLst>
                                            <p:cond delay="0"/>
                                          </p:stCondLst>
                                        </p:cTn>
                                        <p:tgtEl>
                                          <p:spTgt spid="105528"/>
                                        </p:tgtEl>
                                        <p:attrNameLst>
                                          <p:attrName>style.visibility</p:attrName>
                                        </p:attrNameLst>
                                      </p:cBhvr>
                                      <p:to>
                                        <p:strVal val="visible"/>
                                      </p:to>
                                    </p:set>
                                    <p:anim calcmode="lin" valueType="num">
                                      <p:cBhvr additive="base">
                                        <p:cTn id="223" dur="500" fill="hold"/>
                                        <p:tgtEl>
                                          <p:spTgt spid="105528"/>
                                        </p:tgtEl>
                                        <p:attrNameLst>
                                          <p:attrName>ppt_x</p:attrName>
                                        </p:attrNameLst>
                                      </p:cBhvr>
                                      <p:tavLst>
                                        <p:tav tm="0">
                                          <p:val>
                                            <p:strVal val="#ppt_x"/>
                                          </p:val>
                                        </p:tav>
                                        <p:tav tm="100000">
                                          <p:val>
                                            <p:strVal val="#ppt_x"/>
                                          </p:val>
                                        </p:tav>
                                      </p:tavLst>
                                    </p:anim>
                                    <p:anim calcmode="lin" valueType="num">
                                      <p:cBhvr additive="base">
                                        <p:cTn id="224" dur="500" fill="hold"/>
                                        <p:tgtEl>
                                          <p:spTgt spid="105528"/>
                                        </p:tgtEl>
                                        <p:attrNameLst>
                                          <p:attrName>ppt_y</p:attrName>
                                        </p:attrNameLst>
                                      </p:cBhvr>
                                      <p:tavLst>
                                        <p:tav tm="0">
                                          <p:val>
                                            <p:strVal val="1+#ppt_h/2"/>
                                          </p:val>
                                        </p:tav>
                                        <p:tav tm="100000">
                                          <p:val>
                                            <p:strVal val="#ppt_y"/>
                                          </p:val>
                                        </p:tav>
                                      </p:tavLst>
                                    </p:anim>
                                  </p:childTnLst>
                                </p:cTn>
                              </p:par>
                            </p:childTnLst>
                          </p:cTn>
                        </p:par>
                      </p:childTnLst>
                    </p:cTn>
                  </p:par>
                  <p:par>
                    <p:cTn id="225" fill="hold">
                      <p:stCondLst>
                        <p:cond delay="indefinite"/>
                      </p:stCondLst>
                      <p:childTnLst>
                        <p:par>
                          <p:cTn id="226" fill="hold">
                            <p:stCondLst>
                              <p:cond delay="0"/>
                            </p:stCondLst>
                            <p:childTnLst>
                              <p:par>
                                <p:cTn id="227" presetID="2" presetClass="entr" presetSubtype="4" fill="hold" grpId="0" nodeType="clickEffect">
                                  <p:stCondLst>
                                    <p:cond delay="0"/>
                                  </p:stCondLst>
                                  <p:childTnLst>
                                    <p:set>
                                      <p:cBhvr>
                                        <p:cTn id="228" dur="1" fill="hold">
                                          <p:stCondLst>
                                            <p:cond delay="0"/>
                                          </p:stCondLst>
                                        </p:cTn>
                                        <p:tgtEl>
                                          <p:spTgt spid="105540"/>
                                        </p:tgtEl>
                                        <p:attrNameLst>
                                          <p:attrName>style.visibility</p:attrName>
                                        </p:attrNameLst>
                                      </p:cBhvr>
                                      <p:to>
                                        <p:strVal val="visible"/>
                                      </p:to>
                                    </p:set>
                                    <p:anim calcmode="lin" valueType="num">
                                      <p:cBhvr additive="base">
                                        <p:cTn id="229" dur="500" fill="hold"/>
                                        <p:tgtEl>
                                          <p:spTgt spid="105540"/>
                                        </p:tgtEl>
                                        <p:attrNameLst>
                                          <p:attrName>ppt_x</p:attrName>
                                        </p:attrNameLst>
                                      </p:cBhvr>
                                      <p:tavLst>
                                        <p:tav tm="0">
                                          <p:val>
                                            <p:strVal val="#ppt_x"/>
                                          </p:val>
                                        </p:tav>
                                        <p:tav tm="100000">
                                          <p:val>
                                            <p:strVal val="#ppt_x"/>
                                          </p:val>
                                        </p:tav>
                                      </p:tavLst>
                                    </p:anim>
                                    <p:anim calcmode="lin" valueType="num">
                                      <p:cBhvr additive="base">
                                        <p:cTn id="230" dur="500" fill="hold"/>
                                        <p:tgtEl>
                                          <p:spTgt spid="105540"/>
                                        </p:tgtEl>
                                        <p:attrNameLst>
                                          <p:attrName>ppt_y</p:attrName>
                                        </p:attrNameLst>
                                      </p:cBhvr>
                                      <p:tavLst>
                                        <p:tav tm="0">
                                          <p:val>
                                            <p:strVal val="1+#ppt_h/2"/>
                                          </p:val>
                                        </p:tav>
                                        <p:tav tm="100000">
                                          <p:val>
                                            <p:strVal val="#ppt_y"/>
                                          </p:val>
                                        </p:tav>
                                      </p:tavLst>
                                    </p:anim>
                                  </p:childTnLst>
                                </p:cTn>
                              </p:par>
                            </p:childTnLst>
                          </p:cTn>
                        </p:par>
                      </p:childTnLst>
                    </p:cTn>
                  </p:par>
                  <p:par>
                    <p:cTn id="231" fill="hold">
                      <p:stCondLst>
                        <p:cond delay="indefinite"/>
                      </p:stCondLst>
                      <p:childTnLst>
                        <p:par>
                          <p:cTn id="232" fill="hold">
                            <p:stCondLst>
                              <p:cond delay="0"/>
                            </p:stCondLst>
                            <p:childTnLst>
                              <p:par>
                                <p:cTn id="233" presetID="2" presetClass="exit" presetSubtype="4" fill="hold" grpId="1" nodeType="clickEffect">
                                  <p:stCondLst>
                                    <p:cond delay="0"/>
                                  </p:stCondLst>
                                  <p:childTnLst>
                                    <p:anim calcmode="lin" valueType="num">
                                      <p:cBhvr additive="base">
                                        <p:cTn id="234" dur="500"/>
                                        <p:tgtEl>
                                          <p:spTgt spid="105537"/>
                                        </p:tgtEl>
                                        <p:attrNameLst>
                                          <p:attrName>ppt_x</p:attrName>
                                        </p:attrNameLst>
                                      </p:cBhvr>
                                      <p:tavLst>
                                        <p:tav tm="0">
                                          <p:val>
                                            <p:strVal val="ppt_x"/>
                                          </p:val>
                                        </p:tav>
                                        <p:tav tm="100000">
                                          <p:val>
                                            <p:strVal val="ppt_x"/>
                                          </p:val>
                                        </p:tav>
                                      </p:tavLst>
                                    </p:anim>
                                    <p:anim calcmode="lin" valueType="num">
                                      <p:cBhvr additive="base">
                                        <p:cTn id="235" dur="500"/>
                                        <p:tgtEl>
                                          <p:spTgt spid="105537"/>
                                        </p:tgtEl>
                                        <p:attrNameLst>
                                          <p:attrName>ppt_y</p:attrName>
                                        </p:attrNameLst>
                                      </p:cBhvr>
                                      <p:tavLst>
                                        <p:tav tm="0">
                                          <p:val>
                                            <p:strVal val="ppt_y"/>
                                          </p:val>
                                        </p:tav>
                                        <p:tav tm="100000">
                                          <p:val>
                                            <p:strVal val="1+ppt_h/2"/>
                                          </p:val>
                                        </p:tav>
                                      </p:tavLst>
                                    </p:anim>
                                    <p:set>
                                      <p:cBhvr>
                                        <p:cTn id="236" dur="1" fill="hold">
                                          <p:stCondLst>
                                            <p:cond delay="499"/>
                                          </p:stCondLst>
                                        </p:cTn>
                                        <p:tgtEl>
                                          <p:spTgt spid="105537"/>
                                        </p:tgtEl>
                                        <p:attrNameLst>
                                          <p:attrName>style.visibility</p:attrName>
                                        </p:attrNameLst>
                                      </p:cBhvr>
                                      <p:to>
                                        <p:strVal val="hidden"/>
                                      </p:to>
                                    </p:set>
                                  </p:childTnLst>
                                </p:cTn>
                              </p:par>
                            </p:childTnLst>
                          </p:cTn>
                        </p:par>
                      </p:childTnLst>
                    </p:cTn>
                  </p:par>
                  <p:par>
                    <p:cTn id="237" fill="hold">
                      <p:stCondLst>
                        <p:cond delay="indefinite"/>
                      </p:stCondLst>
                      <p:childTnLst>
                        <p:par>
                          <p:cTn id="238" fill="hold">
                            <p:stCondLst>
                              <p:cond delay="0"/>
                            </p:stCondLst>
                            <p:childTnLst>
                              <p:par>
                                <p:cTn id="239" presetID="2" presetClass="exit" presetSubtype="4" fill="hold" grpId="0" nodeType="clickEffect">
                                  <p:stCondLst>
                                    <p:cond delay="0"/>
                                  </p:stCondLst>
                                  <p:childTnLst>
                                    <p:anim calcmode="lin" valueType="num">
                                      <p:cBhvr additive="base">
                                        <p:cTn id="240" dur="500"/>
                                        <p:tgtEl>
                                          <p:spTgt spid="105545"/>
                                        </p:tgtEl>
                                        <p:attrNameLst>
                                          <p:attrName>ppt_x</p:attrName>
                                        </p:attrNameLst>
                                      </p:cBhvr>
                                      <p:tavLst>
                                        <p:tav tm="0">
                                          <p:val>
                                            <p:strVal val="ppt_x"/>
                                          </p:val>
                                        </p:tav>
                                        <p:tav tm="100000">
                                          <p:val>
                                            <p:strVal val="ppt_x"/>
                                          </p:val>
                                        </p:tav>
                                      </p:tavLst>
                                    </p:anim>
                                    <p:anim calcmode="lin" valueType="num">
                                      <p:cBhvr additive="base">
                                        <p:cTn id="241" dur="500"/>
                                        <p:tgtEl>
                                          <p:spTgt spid="105545"/>
                                        </p:tgtEl>
                                        <p:attrNameLst>
                                          <p:attrName>ppt_y</p:attrName>
                                        </p:attrNameLst>
                                      </p:cBhvr>
                                      <p:tavLst>
                                        <p:tav tm="0">
                                          <p:val>
                                            <p:strVal val="ppt_y"/>
                                          </p:val>
                                        </p:tav>
                                        <p:tav tm="100000">
                                          <p:val>
                                            <p:strVal val="1+ppt_h/2"/>
                                          </p:val>
                                        </p:tav>
                                      </p:tavLst>
                                    </p:anim>
                                    <p:set>
                                      <p:cBhvr>
                                        <p:cTn id="242" dur="1" fill="hold">
                                          <p:stCondLst>
                                            <p:cond delay="499"/>
                                          </p:stCondLst>
                                        </p:cTn>
                                        <p:tgtEl>
                                          <p:spTgt spid="105545"/>
                                        </p:tgtEl>
                                        <p:attrNameLst>
                                          <p:attrName>style.visibility</p:attrName>
                                        </p:attrNameLst>
                                      </p:cBhvr>
                                      <p:to>
                                        <p:strVal val="hidden"/>
                                      </p:to>
                                    </p:set>
                                  </p:childTnLst>
                                </p:cTn>
                              </p:par>
                            </p:childTnLst>
                          </p:cTn>
                        </p:par>
                      </p:childTnLst>
                    </p:cTn>
                  </p:par>
                  <p:par>
                    <p:cTn id="243" fill="hold">
                      <p:stCondLst>
                        <p:cond delay="indefinite"/>
                      </p:stCondLst>
                      <p:childTnLst>
                        <p:par>
                          <p:cTn id="244" fill="hold">
                            <p:stCondLst>
                              <p:cond delay="0"/>
                            </p:stCondLst>
                            <p:childTnLst>
                              <p:par>
                                <p:cTn id="245" presetID="2" presetClass="entr" presetSubtype="4" fill="hold" grpId="0" nodeType="clickEffect">
                                  <p:stCondLst>
                                    <p:cond delay="0"/>
                                  </p:stCondLst>
                                  <p:childTnLst>
                                    <p:set>
                                      <p:cBhvr>
                                        <p:cTn id="246" dur="1" fill="hold">
                                          <p:stCondLst>
                                            <p:cond delay="0"/>
                                          </p:stCondLst>
                                        </p:cTn>
                                        <p:tgtEl>
                                          <p:spTgt spid="105547"/>
                                        </p:tgtEl>
                                        <p:attrNameLst>
                                          <p:attrName>style.visibility</p:attrName>
                                        </p:attrNameLst>
                                      </p:cBhvr>
                                      <p:to>
                                        <p:strVal val="visible"/>
                                      </p:to>
                                    </p:set>
                                    <p:anim calcmode="lin" valueType="num">
                                      <p:cBhvr additive="base">
                                        <p:cTn id="247" dur="500" fill="hold"/>
                                        <p:tgtEl>
                                          <p:spTgt spid="105547"/>
                                        </p:tgtEl>
                                        <p:attrNameLst>
                                          <p:attrName>ppt_x</p:attrName>
                                        </p:attrNameLst>
                                      </p:cBhvr>
                                      <p:tavLst>
                                        <p:tav tm="0">
                                          <p:val>
                                            <p:strVal val="#ppt_x"/>
                                          </p:val>
                                        </p:tav>
                                        <p:tav tm="100000">
                                          <p:val>
                                            <p:strVal val="#ppt_x"/>
                                          </p:val>
                                        </p:tav>
                                      </p:tavLst>
                                    </p:anim>
                                    <p:anim calcmode="lin" valueType="num">
                                      <p:cBhvr additive="base">
                                        <p:cTn id="248" dur="500" fill="hold"/>
                                        <p:tgtEl>
                                          <p:spTgt spid="1055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94" grpId="0" animBg="1"/>
      <p:bldP spid="105495" grpId="0" animBg="1"/>
      <p:bldP spid="105496" grpId="0" animBg="1"/>
      <p:bldP spid="105498" grpId="0" animBg="1"/>
      <p:bldP spid="105499" grpId="0" animBg="1"/>
      <p:bldP spid="105518" grpId="0"/>
      <p:bldP spid="105519" grpId="0"/>
      <p:bldP spid="105520" grpId="0"/>
      <p:bldP spid="105521" grpId="0" animBg="1"/>
      <p:bldP spid="105522" grpId="0"/>
      <p:bldP spid="105523" grpId="0" animBg="1"/>
      <p:bldP spid="105524" grpId="0" animBg="1"/>
      <p:bldP spid="105525" grpId="0" animBg="1"/>
      <p:bldP spid="105526" grpId="0"/>
      <p:bldP spid="105527" grpId="0" animBg="1"/>
      <p:bldP spid="105528" grpId="0"/>
      <p:bldP spid="105529" grpId="0"/>
      <p:bldP spid="105530" grpId="0" animBg="1"/>
      <p:bldP spid="105531" grpId="0"/>
      <p:bldP spid="105531" grpId="1"/>
      <p:bldP spid="105532" grpId="0"/>
      <p:bldP spid="105532" grpId="1"/>
      <p:bldP spid="105533" grpId="0"/>
      <p:bldP spid="105533" grpId="1"/>
      <p:bldP spid="105534" grpId="0"/>
      <p:bldP spid="105534" grpId="1"/>
      <p:bldP spid="105535" grpId="0"/>
      <p:bldP spid="105535" grpId="1"/>
      <p:bldP spid="105536" grpId="0"/>
      <p:bldP spid="105536" grpId="1"/>
      <p:bldP spid="105537" grpId="0"/>
      <p:bldP spid="105537" grpId="1"/>
      <p:bldP spid="105538" grpId="0" animBg="1"/>
      <p:bldP spid="105539" grpId="0" animBg="1"/>
      <p:bldP spid="105540" grpId="0" animBg="1"/>
      <p:bldP spid="105542" grpId="0" animBg="1"/>
      <p:bldP spid="105543" grpId="0"/>
      <p:bldP spid="105544" grpId="0"/>
      <p:bldP spid="105545" grpId="0"/>
      <p:bldP spid="105546" grpId="0"/>
      <p:bldP spid="10554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US" altLang="zh-CN" sz="3000"/>
              <a:t>6.3 </a:t>
            </a:r>
            <a:r>
              <a:rPr lang="zh-CN" altLang="en-US" sz="3000"/>
              <a:t>装载问题</a:t>
            </a:r>
            <a:endParaRPr lang="zh-CN" altLang="en-US" sz="3000"/>
          </a:p>
        </p:txBody>
      </p:sp>
      <p:sp>
        <p:nvSpPr>
          <p:cNvPr id="106499" name="Text Box 3"/>
          <p:cNvSpPr txBox="1">
            <a:spLocks noChangeArrowheads="1"/>
          </p:cNvSpPr>
          <p:nvPr/>
        </p:nvSpPr>
        <p:spPr bwMode="auto">
          <a:xfrm>
            <a:off x="533400" y="2133600"/>
            <a:ext cx="7315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ctr" eaLnBrk="1" hangingPunct="1">
              <a:spcBef>
                <a:spcPct val="50000"/>
              </a:spcBef>
            </a:pPr>
            <a:endParaRPr lang="zh-CN" altLang="zh-CN">
              <a:solidFill>
                <a:schemeClr val="accent2"/>
              </a:solidFill>
              <a:ea typeface="华文行楷" panose="02010800040101010101" pitchFamily="2" charset="-122"/>
            </a:endParaRPr>
          </a:p>
        </p:txBody>
      </p:sp>
      <p:sp>
        <p:nvSpPr>
          <p:cNvPr id="106500" name="Text Box 4"/>
          <p:cNvSpPr txBox="1">
            <a:spLocks noChangeArrowheads="1"/>
          </p:cNvSpPr>
          <p:nvPr/>
        </p:nvSpPr>
        <p:spPr bwMode="auto">
          <a:xfrm>
            <a:off x="304800" y="1905000"/>
            <a:ext cx="6705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a:solidFill>
                  <a:schemeClr val="accent2"/>
                </a:solidFill>
                <a:latin typeface="Times New Roman" panose="02020603050405020304" pitchFamily="18" charset="0"/>
                <a:ea typeface="黑体" panose="02010609060101010101" pitchFamily="2" charset="-122"/>
              </a:rPr>
              <a:t>4. </a:t>
            </a:r>
            <a:r>
              <a:rPr lang="zh-CN" altLang="en-US" sz="3200">
                <a:solidFill>
                  <a:schemeClr val="accent2"/>
                </a:solidFill>
                <a:latin typeface="Times New Roman" panose="02020603050405020304" pitchFamily="18" charset="0"/>
                <a:ea typeface="黑体" panose="02010609060101010101" pitchFamily="2" charset="-122"/>
              </a:rPr>
              <a:t>构造最优解</a:t>
            </a:r>
            <a:endParaRPr lang="zh-CN" altLang="en-US">
              <a:solidFill>
                <a:schemeClr val="accent2"/>
              </a:solidFill>
              <a:ea typeface="华文行楷" panose="02010800040101010101" pitchFamily="2" charset="-122"/>
            </a:endParaRPr>
          </a:p>
        </p:txBody>
      </p:sp>
      <p:sp>
        <p:nvSpPr>
          <p:cNvPr id="106501" name="Text Box 5"/>
          <p:cNvSpPr txBox="1">
            <a:spLocks noChangeArrowheads="1"/>
          </p:cNvSpPr>
          <p:nvPr/>
        </p:nvSpPr>
        <p:spPr bwMode="auto">
          <a:xfrm>
            <a:off x="685800" y="2895600"/>
            <a:ext cx="79184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solidFill>
                  <a:schemeClr val="accent2"/>
                </a:solidFill>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为了在算法结束后能方便地构造出与最优值相应的最优解，算法必须存储相应子集树中从活结点到根结点的路径。为此目的，可在每个结点处设置指向其父结点的指针，并设置左、右儿子标志。</a:t>
            </a:r>
            <a:r>
              <a:rPr lang="zh-CN" altLang="en-US" sz="2400" b="1">
                <a:solidFill>
                  <a:schemeClr val="accent2"/>
                </a:solidFill>
                <a:ea typeface="华文行楷" panose="02010800040101010101" pitchFamily="2" charset="-122"/>
              </a:rPr>
              <a:t> </a:t>
            </a:r>
            <a:endParaRPr lang="zh-CN" altLang="en-US" sz="2400" b="1">
              <a:solidFill>
                <a:schemeClr val="accent2"/>
              </a:solidFill>
              <a:ea typeface="华文行楷" panose="02010800040101010101" pitchFamily="2" charset="-122"/>
            </a:endParaRPr>
          </a:p>
        </p:txBody>
      </p:sp>
      <p:sp>
        <p:nvSpPr>
          <p:cNvPr id="106502" name="Text Box 6"/>
          <p:cNvSpPr txBox="1">
            <a:spLocks noChangeArrowheads="1"/>
          </p:cNvSpPr>
          <p:nvPr/>
        </p:nvSpPr>
        <p:spPr bwMode="auto">
          <a:xfrm>
            <a:off x="914400" y="4343400"/>
            <a:ext cx="6324600"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just" eaLnBrk="1" hangingPunct="1">
              <a:lnSpc>
                <a:spcPct val="200000"/>
              </a:lnSpc>
              <a:spcBef>
                <a:spcPct val="50000"/>
              </a:spcBef>
            </a:pPr>
            <a:r>
              <a:rPr kumimoji="1" lang="en-US" altLang="zh-CN" sz="1600"/>
              <a:t>class QNode</a:t>
            </a:r>
            <a:endParaRPr kumimoji="1" lang="en-US" altLang="zh-CN" sz="1600"/>
          </a:p>
          <a:p>
            <a:pPr eaLnBrk="1" hangingPunct="1">
              <a:lnSpc>
                <a:spcPct val="200000"/>
              </a:lnSpc>
            </a:pPr>
            <a:r>
              <a:rPr lang="en-US" altLang="zh-CN" sz="1600">
                <a:solidFill>
                  <a:srgbClr val="0000FF"/>
                </a:solidFill>
                <a:latin typeface="Times New Roman" panose="02020603050405020304" pitchFamily="18" charset="0"/>
              </a:rPr>
              <a:t> {</a:t>
            </a:r>
            <a:r>
              <a:rPr kumimoji="1" lang="en-US" altLang="zh-CN" sz="1600"/>
              <a:t>QNode *parent;  // </a:t>
            </a:r>
            <a:r>
              <a:rPr kumimoji="1" lang="zh-CN" altLang="en-US" sz="1600"/>
              <a:t>指向父结点的指针</a:t>
            </a:r>
            <a:endParaRPr kumimoji="1" lang="zh-CN" altLang="en-US" sz="1600"/>
          </a:p>
          <a:p>
            <a:pPr eaLnBrk="1" hangingPunct="1">
              <a:lnSpc>
                <a:spcPct val="200000"/>
              </a:lnSpc>
            </a:pPr>
            <a:r>
              <a:rPr kumimoji="1" lang="zh-CN" altLang="en-US" sz="1600"/>
              <a:t>      </a:t>
            </a:r>
            <a:r>
              <a:rPr kumimoji="1" lang="en-US" altLang="zh-CN" sz="1600"/>
              <a:t>bool LChild;        // </a:t>
            </a:r>
            <a:r>
              <a:rPr kumimoji="1" lang="zh-CN" altLang="en-US" sz="1600"/>
              <a:t>左儿子标志</a:t>
            </a:r>
            <a:endParaRPr kumimoji="1" lang="zh-CN" altLang="en-US" sz="1600"/>
          </a:p>
          <a:p>
            <a:pPr eaLnBrk="1" hangingPunct="1">
              <a:lnSpc>
                <a:spcPct val="200000"/>
              </a:lnSpc>
            </a:pPr>
            <a:r>
              <a:rPr kumimoji="1" lang="zh-CN" altLang="en-US" sz="1600"/>
              <a:t>      </a:t>
            </a:r>
            <a:r>
              <a:rPr kumimoji="1" lang="en-US" altLang="zh-CN" sz="1600"/>
              <a:t>Type weight;       // </a:t>
            </a:r>
            <a:r>
              <a:rPr kumimoji="1" lang="zh-CN" altLang="en-US" sz="1600"/>
              <a:t>结点所相应的载重量</a:t>
            </a:r>
            <a:endParaRPr kumimoji="1" lang="zh-CN" altLang="en-US" sz="1600"/>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6500"/>
                                        </p:tgtEl>
                                        <p:attrNameLst>
                                          <p:attrName>style.visibility</p:attrName>
                                        </p:attrNameLst>
                                      </p:cBhvr>
                                      <p:to>
                                        <p:strVal val="visible"/>
                                      </p:to>
                                    </p:set>
                                    <p:anim calcmode="lin" valueType="num">
                                      <p:cBhvr additive="base">
                                        <p:cTn id="7" dur="500" fill="hold"/>
                                        <p:tgtEl>
                                          <p:spTgt spid="106500"/>
                                        </p:tgtEl>
                                        <p:attrNameLst>
                                          <p:attrName>ppt_x</p:attrName>
                                        </p:attrNameLst>
                                      </p:cBhvr>
                                      <p:tavLst>
                                        <p:tav tm="0">
                                          <p:val>
                                            <p:strVal val="1+#ppt_w/2"/>
                                          </p:val>
                                        </p:tav>
                                        <p:tav tm="100000">
                                          <p:val>
                                            <p:strVal val="#ppt_x"/>
                                          </p:val>
                                        </p:tav>
                                      </p:tavLst>
                                    </p:anim>
                                    <p:anim calcmode="lin" valueType="num">
                                      <p:cBhvr additive="base">
                                        <p:cTn id="8" dur="500" fill="hold"/>
                                        <p:tgtEl>
                                          <p:spTgt spid="10650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06501"/>
                                        </p:tgtEl>
                                        <p:attrNameLst>
                                          <p:attrName>style.visibility</p:attrName>
                                        </p:attrNameLst>
                                      </p:cBhvr>
                                      <p:to>
                                        <p:strVal val="visible"/>
                                      </p:to>
                                    </p:set>
                                    <p:animEffect transition="in" filter="blinds(horizontal)">
                                      <p:cBhvr>
                                        <p:cTn id="13" dur="500"/>
                                        <p:tgtEl>
                                          <p:spTgt spid="106501"/>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106502"/>
                                        </p:tgtEl>
                                        <p:attrNameLst>
                                          <p:attrName>style.visibility</p:attrName>
                                        </p:attrNameLst>
                                      </p:cBhvr>
                                      <p:to>
                                        <p:strVal val="visible"/>
                                      </p:to>
                                    </p:set>
                                    <p:animEffect transition="in" filter="randombar(horizontal)">
                                      <p:cBhvr>
                                        <p:cTn id="18" dur="500"/>
                                        <p:tgtEl>
                                          <p:spTgt spid="106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0" grpId="0" autoUpdateAnimBg="0"/>
      <p:bldP spid="106501" grpId="0" autoUpdateAnimBg="0"/>
      <p:bldP spid="106502"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r>
              <a:rPr lang="en-US" altLang="zh-CN" sz="3000"/>
              <a:t>6.3 </a:t>
            </a:r>
            <a:r>
              <a:rPr lang="zh-CN" altLang="en-US" sz="3000"/>
              <a:t>装载问题</a:t>
            </a:r>
            <a:endParaRPr lang="zh-CN" altLang="en-US" sz="3000"/>
          </a:p>
        </p:txBody>
      </p:sp>
      <p:sp>
        <p:nvSpPr>
          <p:cNvPr id="107523" name="Text Box 3"/>
          <p:cNvSpPr txBox="1">
            <a:spLocks noChangeArrowheads="1"/>
          </p:cNvSpPr>
          <p:nvPr/>
        </p:nvSpPr>
        <p:spPr bwMode="auto">
          <a:xfrm>
            <a:off x="685800" y="2895600"/>
            <a:ext cx="7543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zh-CN" altLang="en-US" sz="2000">
                <a:latin typeface="新宋体" panose="02010609030101010101" charset="-122"/>
                <a:ea typeface="新宋体" panose="02010609030101010101" charset="-122"/>
              </a:rPr>
              <a:t>找到最优值后，可以根据</a:t>
            </a:r>
            <a:r>
              <a:rPr lang="en-US" altLang="zh-CN" sz="2000">
                <a:latin typeface="新宋体" panose="02010609030101010101" charset="-122"/>
                <a:ea typeface="新宋体" panose="02010609030101010101" charset="-122"/>
              </a:rPr>
              <a:t>parent</a:t>
            </a:r>
            <a:r>
              <a:rPr lang="zh-CN" altLang="en-US" sz="2000">
                <a:latin typeface="新宋体" panose="02010609030101010101" charset="-122"/>
                <a:ea typeface="新宋体" panose="02010609030101010101" charset="-122"/>
              </a:rPr>
              <a:t>回溯到根节点，找到最优解。</a:t>
            </a:r>
            <a:endParaRPr lang="zh-CN" altLang="en-US" sz="2000">
              <a:latin typeface="新宋体" panose="02010609030101010101" charset="-122"/>
              <a:ea typeface="新宋体" panose="02010609030101010101" charset="-122"/>
            </a:endParaRPr>
          </a:p>
        </p:txBody>
      </p:sp>
      <p:sp>
        <p:nvSpPr>
          <p:cNvPr id="107524" name="Text Box 4"/>
          <p:cNvSpPr txBox="1">
            <a:spLocks noChangeArrowheads="1"/>
          </p:cNvSpPr>
          <p:nvPr/>
        </p:nvSpPr>
        <p:spPr bwMode="auto">
          <a:xfrm>
            <a:off x="304800" y="1905000"/>
            <a:ext cx="6705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a:solidFill>
                  <a:schemeClr val="accent2"/>
                </a:solidFill>
                <a:latin typeface="Times New Roman" panose="02020603050405020304" pitchFamily="18" charset="0"/>
                <a:ea typeface="黑体" panose="02010609060101010101" pitchFamily="2" charset="-122"/>
              </a:rPr>
              <a:t>4. </a:t>
            </a:r>
            <a:r>
              <a:rPr lang="zh-CN" altLang="en-US" sz="3200">
                <a:solidFill>
                  <a:schemeClr val="accent2"/>
                </a:solidFill>
                <a:latin typeface="Times New Roman" panose="02020603050405020304" pitchFamily="18" charset="0"/>
                <a:ea typeface="黑体" panose="02010609060101010101" pitchFamily="2" charset="-122"/>
              </a:rPr>
              <a:t>构造最优解</a:t>
            </a:r>
            <a:endParaRPr lang="zh-CN" altLang="en-US">
              <a:solidFill>
                <a:schemeClr val="accent2"/>
              </a:solidFill>
              <a:ea typeface="华文行楷" panose="02010800040101010101" pitchFamily="2" charset="-122"/>
            </a:endParaRPr>
          </a:p>
        </p:txBody>
      </p:sp>
      <p:sp>
        <p:nvSpPr>
          <p:cNvPr id="107525" name="Text Box 5"/>
          <p:cNvSpPr txBox="1">
            <a:spLocks noChangeArrowheads="1"/>
          </p:cNvSpPr>
          <p:nvPr/>
        </p:nvSpPr>
        <p:spPr bwMode="auto">
          <a:xfrm>
            <a:off x="838200" y="3657600"/>
            <a:ext cx="7162800" cy="253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just" eaLnBrk="1" hangingPunct="1">
              <a:lnSpc>
                <a:spcPct val="200000"/>
              </a:lnSpc>
              <a:spcBef>
                <a:spcPct val="50000"/>
              </a:spcBef>
            </a:pPr>
            <a:r>
              <a:rPr lang="en-US" altLang="zh-CN" sz="1600">
                <a:latin typeface="Times New Roman" panose="02020603050405020304" pitchFamily="18" charset="0"/>
                <a:cs typeface="Times New Roman" panose="02020603050405020304" pitchFamily="18" charset="0"/>
              </a:rPr>
              <a:t>// </a:t>
            </a:r>
            <a:r>
              <a:rPr lang="zh-CN" altLang="en-US" sz="1600">
                <a:latin typeface="宋体" panose="02010600030101010101" pitchFamily="2" charset="-122"/>
              </a:rPr>
              <a:t>构造当前最优解</a:t>
            </a:r>
            <a:endParaRPr lang="zh-CN" altLang="en-US" sz="1600">
              <a:latin typeface="Times New Roman" panose="02020603050405020304" pitchFamily="18" charset="0"/>
              <a:cs typeface="Times New Roman" panose="02020603050405020304" pitchFamily="18" charset="0"/>
            </a:endParaRPr>
          </a:p>
          <a:p>
            <a:pPr eaLnBrk="1" hangingPunct="1">
              <a:lnSpc>
                <a:spcPct val="200000"/>
              </a:lnSpc>
            </a:pPr>
            <a:r>
              <a:rPr kumimoji="1" lang="en-US" altLang="zh-CN" sz="1600"/>
              <a:t>for (int j = n - 1; j &gt; 0; j--) {</a:t>
            </a:r>
            <a:endParaRPr kumimoji="1" lang="en-US" altLang="zh-CN" sz="1600"/>
          </a:p>
          <a:p>
            <a:pPr eaLnBrk="1" hangingPunct="1">
              <a:lnSpc>
                <a:spcPct val="200000"/>
              </a:lnSpc>
            </a:pPr>
            <a:r>
              <a:rPr kumimoji="1" lang="en-US" altLang="zh-CN" sz="1600"/>
              <a:t>      bestx[j] = bestE-&gt;LChild; </a:t>
            </a:r>
            <a:endParaRPr kumimoji="1" lang="en-US" altLang="zh-CN" sz="1600"/>
          </a:p>
          <a:p>
            <a:pPr eaLnBrk="1" hangingPunct="1">
              <a:lnSpc>
                <a:spcPct val="200000"/>
              </a:lnSpc>
            </a:pPr>
            <a:r>
              <a:rPr kumimoji="1" lang="en-US" altLang="zh-CN" sz="1600"/>
              <a:t>      bestE = bestE-&gt;parent; </a:t>
            </a:r>
            <a:endParaRPr kumimoji="1" lang="en-US" altLang="zh-CN" sz="1600"/>
          </a:p>
          <a:p>
            <a:pPr eaLnBrk="1" hangingPunct="1">
              <a:lnSpc>
                <a:spcPct val="200000"/>
              </a:lnSpc>
            </a:pPr>
            <a:r>
              <a:rPr kumimoji="1" lang="en-US" altLang="zh-CN" sz="1600"/>
              <a:t>}</a:t>
            </a:r>
            <a:endParaRPr kumimoji="1" lang="en-US" altLang="zh-CN" sz="1600"/>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7524"/>
                                        </p:tgtEl>
                                        <p:attrNameLst>
                                          <p:attrName>style.visibility</p:attrName>
                                        </p:attrNameLst>
                                      </p:cBhvr>
                                      <p:to>
                                        <p:strVal val="visible"/>
                                      </p:to>
                                    </p:set>
                                    <p:anim calcmode="lin" valueType="num">
                                      <p:cBhvr additive="base">
                                        <p:cTn id="7" dur="500" fill="hold"/>
                                        <p:tgtEl>
                                          <p:spTgt spid="107524"/>
                                        </p:tgtEl>
                                        <p:attrNameLst>
                                          <p:attrName>ppt_x</p:attrName>
                                        </p:attrNameLst>
                                      </p:cBhvr>
                                      <p:tavLst>
                                        <p:tav tm="0">
                                          <p:val>
                                            <p:strVal val="1+#ppt_w/2"/>
                                          </p:val>
                                        </p:tav>
                                        <p:tav tm="100000">
                                          <p:val>
                                            <p:strVal val="#ppt_x"/>
                                          </p:val>
                                        </p:tav>
                                      </p:tavLst>
                                    </p:anim>
                                    <p:anim calcmode="lin" valueType="num">
                                      <p:cBhvr additive="base">
                                        <p:cTn id="8" dur="500" fill="hold"/>
                                        <p:tgtEl>
                                          <p:spTgt spid="10752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07523"/>
                                        </p:tgtEl>
                                        <p:attrNameLst>
                                          <p:attrName>style.visibility</p:attrName>
                                        </p:attrNameLst>
                                      </p:cBhvr>
                                      <p:to>
                                        <p:strVal val="visible"/>
                                      </p:to>
                                    </p:set>
                                    <p:animEffect transition="in" filter="slide(fromBottom)">
                                      <p:cBhvr>
                                        <p:cTn id="13" dur="500"/>
                                        <p:tgtEl>
                                          <p:spTgt spid="10752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07525"/>
                                        </p:tgtEl>
                                        <p:attrNameLst>
                                          <p:attrName>style.visibility</p:attrName>
                                        </p:attrNameLst>
                                      </p:cBhvr>
                                      <p:to>
                                        <p:strVal val="visible"/>
                                      </p:to>
                                    </p:set>
                                    <p:anim calcmode="lin" valueType="num">
                                      <p:cBhvr additive="base">
                                        <p:cTn id="18" dur="500" fill="hold"/>
                                        <p:tgtEl>
                                          <p:spTgt spid="107525"/>
                                        </p:tgtEl>
                                        <p:attrNameLst>
                                          <p:attrName>ppt_x</p:attrName>
                                        </p:attrNameLst>
                                      </p:cBhvr>
                                      <p:tavLst>
                                        <p:tav tm="0">
                                          <p:val>
                                            <p:strVal val="#ppt_x"/>
                                          </p:val>
                                        </p:tav>
                                        <p:tav tm="100000">
                                          <p:val>
                                            <p:strVal val="#ppt_x"/>
                                          </p:val>
                                        </p:tav>
                                      </p:tavLst>
                                    </p:anim>
                                    <p:anim calcmode="lin" valueType="num">
                                      <p:cBhvr additive="base">
                                        <p:cTn id="19" dur="500" fill="hold"/>
                                        <p:tgtEl>
                                          <p:spTgt spid="1075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autoUpdateAnimBg="0"/>
      <p:bldP spid="107524" grpId="0" autoUpdateAnimBg="0"/>
      <p:bldP spid="107525"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en-US" altLang="zh-CN" sz="3000"/>
              <a:t>6.3 </a:t>
            </a:r>
            <a:r>
              <a:rPr lang="zh-CN" altLang="en-US" sz="3000"/>
              <a:t>装载问题</a:t>
            </a:r>
            <a:endParaRPr lang="zh-CN" altLang="en-US" sz="3000"/>
          </a:p>
        </p:txBody>
      </p:sp>
      <p:sp>
        <p:nvSpPr>
          <p:cNvPr id="108547" name="Text Box 3"/>
          <p:cNvSpPr txBox="1">
            <a:spLocks noChangeArrowheads="1"/>
          </p:cNvSpPr>
          <p:nvPr/>
        </p:nvSpPr>
        <p:spPr bwMode="auto">
          <a:xfrm>
            <a:off x="304800" y="1773238"/>
            <a:ext cx="7467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a:solidFill>
                  <a:schemeClr val="accent2"/>
                </a:solidFill>
                <a:latin typeface="Times New Roman" panose="02020603050405020304" pitchFamily="18" charset="0"/>
                <a:ea typeface="黑体" panose="02010609060101010101" pitchFamily="2" charset="-122"/>
              </a:rPr>
              <a:t>5. </a:t>
            </a:r>
            <a:r>
              <a:rPr lang="zh-CN" altLang="en-US" sz="3200">
                <a:solidFill>
                  <a:schemeClr val="accent2"/>
                </a:solidFill>
                <a:latin typeface="Times New Roman" panose="02020603050405020304" pitchFamily="18" charset="0"/>
                <a:ea typeface="黑体" panose="02010609060101010101" pitchFamily="2" charset="-122"/>
              </a:rPr>
              <a:t>优先队列式分支限界法</a:t>
            </a:r>
            <a:endParaRPr lang="zh-CN" altLang="en-US">
              <a:solidFill>
                <a:schemeClr val="accent2"/>
              </a:solidFill>
              <a:ea typeface="华文行楷" panose="02010800040101010101" pitchFamily="2" charset="-122"/>
            </a:endParaRPr>
          </a:p>
        </p:txBody>
      </p:sp>
      <p:sp>
        <p:nvSpPr>
          <p:cNvPr id="108548" name="Text Box 4"/>
          <p:cNvSpPr txBox="1">
            <a:spLocks noChangeArrowheads="1"/>
          </p:cNvSpPr>
          <p:nvPr/>
        </p:nvSpPr>
        <p:spPr bwMode="auto">
          <a:xfrm>
            <a:off x="395288" y="2492375"/>
            <a:ext cx="8424862"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解装载问题的优先队列式分支限界法用最大优先队列存储活结点表。活结点</a:t>
            </a:r>
            <a:r>
              <a:rPr lang="en-US" altLang="zh-CN" sz="2400" b="1">
                <a:latin typeface="新宋体" panose="02010609030101010101" charset="-122"/>
                <a:ea typeface="新宋体" panose="02010609030101010101" charset="-122"/>
              </a:rPr>
              <a:t>x</a:t>
            </a:r>
            <a:r>
              <a:rPr lang="zh-CN" altLang="en-US" sz="2400" b="1">
                <a:latin typeface="新宋体" panose="02010609030101010101" charset="-122"/>
                <a:ea typeface="新宋体" panose="02010609030101010101" charset="-122"/>
              </a:rPr>
              <a:t>在优先队列中的优先级定义为从根结点到结点</a:t>
            </a:r>
            <a:r>
              <a:rPr lang="en-US" altLang="zh-CN" sz="2400" b="1">
                <a:latin typeface="新宋体" panose="02010609030101010101" charset="-122"/>
                <a:ea typeface="新宋体" panose="02010609030101010101" charset="-122"/>
              </a:rPr>
              <a:t>x</a:t>
            </a:r>
            <a:r>
              <a:rPr lang="zh-CN" altLang="en-US" sz="2400" b="1">
                <a:latin typeface="新宋体" panose="02010609030101010101" charset="-122"/>
                <a:ea typeface="新宋体" panose="02010609030101010101" charset="-122"/>
              </a:rPr>
              <a:t>的路径所相应的载重量再加上剩余集装箱的重量之和。</a:t>
            </a:r>
            <a:endParaRPr lang="zh-CN" altLang="en-US" sz="2400" b="1">
              <a:latin typeface="新宋体" panose="02010609030101010101" charset="-122"/>
              <a:ea typeface="新宋体" panose="02010609030101010101" charset="-122"/>
            </a:endParaRPr>
          </a:p>
          <a:p>
            <a:pPr eaLnBrk="1" hangingPunct="1">
              <a:spcBef>
                <a:spcPct val="50000"/>
              </a:spcBef>
            </a:pPr>
            <a:r>
              <a:rPr lang="zh-CN" altLang="en-US" sz="2400" b="1">
                <a:latin typeface="新宋体" panose="02010609030101010101" charset="-122"/>
                <a:ea typeface="新宋体" panose="02010609030101010101" charset="-122"/>
              </a:rPr>
              <a:t>    优先队列中优先级最大的活结点成为下一个扩展结点。以结点</a:t>
            </a:r>
            <a:r>
              <a:rPr lang="en-US" altLang="zh-CN" sz="2400" b="1">
                <a:latin typeface="新宋体" panose="02010609030101010101" charset="-122"/>
                <a:ea typeface="新宋体" panose="02010609030101010101" charset="-122"/>
              </a:rPr>
              <a:t>x</a:t>
            </a:r>
            <a:r>
              <a:rPr lang="zh-CN" altLang="en-US" sz="2400" b="1">
                <a:latin typeface="新宋体" panose="02010609030101010101" charset="-122"/>
                <a:ea typeface="新宋体" panose="02010609030101010101" charset="-122"/>
              </a:rPr>
              <a:t>为根的子树中所有结点相应的路径的载重量不超过它的优先级。子集树中叶结点所相应的载重量与其优先级相同。</a:t>
            </a:r>
            <a:endParaRPr lang="zh-CN" altLang="en-US" sz="2400" b="1">
              <a:latin typeface="新宋体" panose="02010609030101010101" charset="-122"/>
              <a:ea typeface="新宋体" panose="02010609030101010101" charset="-122"/>
            </a:endParaRPr>
          </a:p>
          <a:p>
            <a:pPr eaLnBrk="1" hangingPunct="1">
              <a:spcBef>
                <a:spcPct val="50000"/>
              </a:spcBef>
            </a:pPr>
            <a:r>
              <a:rPr lang="zh-CN" altLang="en-US" sz="2400" b="1">
                <a:latin typeface="新宋体" panose="02010609030101010101" charset="-122"/>
                <a:ea typeface="新宋体" panose="02010609030101010101" charset="-122"/>
              </a:rPr>
              <a:t>    在优先队列式分支限界法中，一旦有一个叶结点成为当前扩展结点，则可以断言该叶结点所相应的解即为最优解。此时可终止算法。 </a:t>
            </a:r>
            <a:endParaRPr lang="zh-CN" altLang="en-US" sz="2400" b="1">
              <a:latin typeface="新宋体" panose="02010609030101010101" charset="-122"/>
              <a:ea typeface="新宋体" panose="0201060903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8547"/>
                                        </p:tgtEl>
                                        <p:attrNameLst>
                                          <p:attrName>style.visibility</p:attrName>
                                        </p:attrNameLst>
                                      </p:cBhvr>
                                      <p:to>
                                        <p:strVal val="visible"/>
                                      </p:to>
                                    </p:set>
                                    <p:anim calcmode="lin" valueType="num">
                                      <p:cBhvr additive="base">
                                        <p:cTn id="7" dur="500" fill="hold"/>
                                        <p:tgtEl>
                                          <p:spTgt spid="108547"/>
                                        </p:tgtEl>
                                        <p:attrNameLst>
                                          <p:attrName>ppt_x</p:attrName>
                                        </p:attrNameLst>
                                      </p:cBhvr>
                                      <p:tavLst>
                                        <p:tav tm="0">
                                          <p:val>
                                            <p:strVal val="1+#ppt_w/2"/>
                                          </p:val>
                                        </p:tav>
                                        <p:tav tm="100000">
                                          <p:val>
                                            <p:strVal val="#ppt_x"/>
                                          </p:val>
                                        </p:tav>
                                      </p:tavLst>
                                    </p:anim>
                                    <p:anim calcmode="lin" valueType="num">
                                      <p:cBhvr additive="base">
                                        <p:cTn id="8" dur="500" fill="hold"/>
                                        <p:tgtEl>
                                          <p:spTgt spid="10854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108548"/>
                                        </p:tgtEl>
                                        <p:attrNameLst>
                                          <p:attrName>style.visibility</p:attrName>
                                        </p:attrNameLst>
                                      </p:cBhvr>
                                      <p:to>
                                        <p:strVal val="visible"/>
                                      </p:to>
                                    </p:set>
                                    <p:anim calcmode="lin" valueType="num">
                                      <p:cBhvr>
                                        <p:cTn id="13" dur="500" fill="hold"/>
                                        <p:tgtEl>
                                          <p:spTgt spid="108548"/>
                                        </p:tgtEl>
                                        <p:attrNameLst>
                                          <p:attrName>ppt_w</p:attrName>
                                        </p:attrNameLst>
                                      </p:cBhvr>
                                      <p:tavLst>
                                        <p:tav tm="0">
                                          <p:val>
                                            <p:fltVal val="0"/>
                                          </p:val>
                                        </p:tav>
                                        <p:tav tm="100000">
                                          <p:val>
                                            <p:strVal val="#ppt_w"/>
                                          </p:val>
                                        </p:tav>
                                      </p:tavLst>
                                    </p:anim>
                                    <p:anim calcmode="lin" valueType="num">
                                      <p:cBhvr>
                                        <p:cTn id="14" dur="500" fill="hold"/>
                                        <p:tgtEl>
                                          <p:spTgt spid="10854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autoUpdateAnimBg="0"/>
      <p:bldP spid="108548"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457200" y="122238"/>
            <a:ext cx="7543800" cy="1123950"/>
          </a:xfrm>
          <a:noFill/>
        </p:spPr>
        <p:txBody>
          <a:bodyPr lIns="92075" tIns="46038" rIns="92075" bIns="46038" anchor="ctr"/>
          <a:lstStyle/>
          <a:p>
            <a:r>
              <a:rPr lang="en-US" altLang="zh-CN" i="1"/>
              <a:t>n</a:t>
            </a:r>
            <a:r>
              <a:rPr lang="en-US" altLang="zh-CN"/>
              <a:t>=3,</a:t>
            </a:r>
            <a:r>
              <a:rPr lang="en-US" altLang="zh-CN" i="1"/>
              <a:t>w</a:t>
            </a:r>
            <a:r>
              <a:rPr lang="en-US" altLang="zh-CN"/>
              <a:t>=[8,6,2], </a:t>
            </a:r>
            <a:r>
              <a:rPr lang="en-US" altLang="zh-CN" i="1"/>
              <a:t>W</a:t>
            </a:r>
            <a:r>
              <a:rPr lang="en-US" altLang="zh-CN"/>
              <a:t>=12</a:t>
            </a:r>
            <a:endParaRPr lang="en-US" altLang="zh-CN"/>
          </a:p>
        </p:txBody>
      </p:sp>
      <p:sp>
        <p:nvSpPr>
          <p:cNvPr id="109571" name="Oval 3"/>
          <p:cNvSpPr>
            <a:spLocks noChangeArrowheads="1"/>
          </p:cNvSpPr>
          <p:nvPr/>
        </p:nvSpPr>
        <p:spPr bwMode="auto">
          <a:xfrm>
            <a:off x="4067175" y="1377950"/>
            <a:ext cx="504825" cy="466725"/>
          </a:xfrm>
          <a:prstGeom prst="ellipse">
            <a:avLst/>
          </a:prstGeom>
          <a:solidFill>
            <a:srgbClr val="00FF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A</a:t>
            </a:r>
            <a:endParaRPr lang="en-US" altLang="zh-CN" sz="2400">
              <a:solidFill>
                <a:schemeClr val="bg1"/>
              </a:solidFill>
              <a:latin typeface="Times New Roman" panose="02020603050405020304" pitchFamily="18" charset="0"/>
            </a:endParaRPr>
          </a:p>
        </p:txBody>
      </p:sp>
      <p:sp>
        <p:nvSpPr>
          <p:cNvPr id="109572" name="Line 4"/>
          <p:cNvSpPr>
            <a:spLocks noChangeShapeType="1"/>
          </p:cNvSpPr>
          <p:nvPr/>
        </p:nvSpPr>
        <p:spPr bwMode="auto">
          <a:xfrm flipH="1">
            <a:off x="2286000" y="1700213"/>
            <a:ext cx="1781175" cy="119538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73" name="Oval 5"/>
          <p:cNvSpPr>
            <a:spLocks noChangeArrowheads="1"/>
          </p:cNvSpPr>
          <p:nvPr/>
        </p:nvSpPr>
        <p:spPr bwMode="auto">
          <a:xfrm>
            <a:off x="1979613" y="2852738"/>
            <a:ext cx="431800" cy="360362"/>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B</a:t>
            </a:r>
            <a:endParaRPr lang="en-US" altLang="zh-CN" sz="2400">
              <a:solidFill>
                <a:schemeClr val="bg1"/>
              </a:solidFill>
              <a:latin typeface="Times New Roman" panose="02020603050405020304" pitchFamily="18" charset="0"/>
            </a:endParaRPr>
          </a:p>
        </p:txBody>
      </p:sp>
      <p:sp>
        <p:nvSpPr>
          <p:cNvPr id="109574" name="Line 6"/>
          <p:cNvSpPr>
            <a:spLocks noChangeShapeType="1"/>
          </p:cNvSpPr>
          <p:nvPr/>
        </p:nvSpPr>
        <p:spPr bwMode="auto">
          <a:xfrm>
            <a:off x="4572000" y="1700213"/>
            <a:ext cx="1976438" cy="119538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75" name="Line 7"/>
          <p:cNvSpPr>
            <a:spLocks noChangeShapeType="1"/>
          </p:cNvSpPr>
          <p:nvPr/>
        </p:nvSpPr>
        <p:spPr bwMode="auto">
          <a:xfrm flipH="1">
            <a:off x="1066800" y="3141663"/>
            <a:ext cx="984250" cy="104933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76" name="Rectangle 8"/>
          <p:cNvSpPr>
            <a:spLocks noChangeArrowheads="1"/>
          </p:cNvSpPr>
          <p:nvPr/>
        </p:nvSpPr>
        <p:spPr bwMode="auto">
          <a:xfrm>
            <a:off x="0" y="3284538"/>
            <a:ext cx="539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2</a:t>
            </a:r>
            <a:endParaRPr lang="en-US" altLang="zh-CN" sz="3200">
              <a:solidFill>
                <a:schemeClr val="hlink"/>
              </a:solidFill>
              <a:latin typeface="Times New Roman" panose="02020603050405020304" pitchFamily="18" charset="0"/>
            </a:endParaRPr>
          </a:p>
        </p:txBody>
      </p:sp>
      <p:sp>
        <p:nvSpPr>
          <p:cNvPr id="109577" name="Line 9"/>
          <p:cNvSpPr>
            <a:spLocks noChangeShapeType="1"/>
          </p:cNvSpPr>
          <p:nvPr/>
        </p:nvSpPr>
        <p:spPr bwMode="auto">
          <a:xfrm>
            <a:off x="2339975" y="3141663"/>
            <a:ext cx="936625" cy="973137"/>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78" name="Line 10"/>
          <p:cNvSpPr>
            <a:spLocks noChangeShapeType="1"/>
          </p:cNvSpPr>
          <p:nvPr/>
        </p:nvSpPr>
        <p:spPr bwMode="auto">
          <a:xfrm flipH="1">
            <a:off x="5562600" y="3213100"/>
            <a:ext cx="738188" cy="8255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79" name="Line 11"/>
          <p:cNvSpPr>
            <a:spLocks noChangeShapeType="1"/>
          </p:cNvSpPr>
          <p:nvPr/>
        </p:nvSpPr>
        <p:spPr bwMode="auto">
          <a:xfrm>
            <a:off x="6629400" y="3124200"/>
            <a:ext cx="9906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80" name="Line 12"/>
          <p:cNvSpPr>
            <a:spLocks noChangeShapeType="1"/>
          </p:cNvSpPr>
          <p:nvPr/>
        </p:nvSpPr>
        <p:spPr bwMode="auto">
          <a:xfrm flipH="1">
            <a:off x="533400" y="4419600"/>
            <a:ext cx="5334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81" name="Line 13"/>
          <p:cNvSpPr>
            <a:spLocks noChangeShapeType="1"/>
          </p:cNvSpPr>
          <p:nvPr/>
        </p:nvSpPr>
        <p:spPr bwMode="auto">
          <a:xfrm>
            <a:off x="1143000" y="4419600"/>
            <a:ext cx="38100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82" name="Line 14"/>
          <p:cNvSpPr>
            <a:spLocks noChangeShapeType="1"/>
          </p:cNvSpPr>
          <p:nvPr/>
        </p:nvSpPr>
        <p:spPr bwMode="auto">
          <a:xfrm flipH="1">
            <a:off x="2667000" y="4343400"/>
            <a:ext cx="6096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83" name="Line 15"/>
          <p:cNvSpPr>
            <a:spLocks noChangeShapeType="1"/>
          </p:cNvSpPr>
          <p:nvPr/>
        </p:nvSpPr>
        <p:spPr bwMode="auto">
          <a:xfrm>
            <a:off x="3352800" y="4343400"/>
            <a:ext cx="4572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84" name="Line 16"/>
          <p:cNvSpPr>
            <a:spLocks noChangeShapeType="1"/>
          </p:cNvSpPr>
          <p:nvPr/>
        </p:nvSpPr>
        <p:spPr bwMode="auto">
          <a:xfrm flipH="1">
            <a:off x="5029200" y="4267200"/>
            <a:ext cx="4572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85" name="Line 17"/>
          <p:cNvSpPr>
            <a:spLocks noChangeShapeType="1"/>
          </p:cNvSpPr>
          <p:nvPr/>
        </p:nvSpPr>
        <p:spPr bwMode="auto">
          <a:xfrm>
            <a:off x="5562600" y="4267200"/>
            <a:ext cx="533400" cy="838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86" name="Line 18"/>
          <p:cNvSpPr>
            <a:spLocks noChangeShapeType="1"/>
          </p:cNvSpPr>
          <p:nvPr/>
        </p:nvSpPr>
        <p:spPr bwMode="auto">
          <a:xfrm flipH="1">
            <a:off x="7239000" y="4191000"/>
            <a:ext cx="4572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87" name="Line 19"/>
          <p:cNvSpPr>
            <a:spLocks noChangeShapeType="1"/>
          </p:cNvSpPr>
          <p:nvPr/>
        </p:nvSpPr>
        <p:spPr bwMode="auto">
          <a:xfrm>
            <a:off x="7848600" y="4191000"/>
            <a:ext cx="609600" cy="914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9588" name="Rectangle 20"/>
          <p:cNvSpPr>
            <a:spLocks noChangeArrowheads="1"/>
          </p:cNvSpPr>
          <p:nvPr/>
        </p:nvSpPr>
        <p:spPr bwMode="auto">
          <a:xfrm>
            <a:off x="0" y="1773238"/>
            <a:ext cx="1066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1</a:t>
            </a:r>
            <a:endParaRPr lang="en-US" altLang="zh-CN" sz="3200">
              <a:solidFill>
                <a:schemeClr val="hlink"/>
              </a:solidFill>
              <a:latin typeface="Times New Roman" panose="02020603050405020304" pitchFamily="18" charset="0"/>
            </a:endParaRPr>
          </a:p>
        </p:txBody>
      </p:sp>
      <p:sp>
        <p:nvSpPr>
          <p:cNvPr id="109589" name="Rectangle 21"/>
          <p:cNvSpPr>
            <a:spLocks noChangeArrowheads="1"/>
          </p:cNvSpPr>
          <p:nvPr/>
        </p:nvSpPr>
        <p:spPr bwMode="auto">
          <a:xfrm>
            <a:off x="0" y="4365625"/>
            <a:ext cx="539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3200" i="1">
                <a:solidFill>
                  <a:schemeClr val="hlink"/>
                </a:solidFill>
                <a:latin typeface="Times New Roman" panose="02020603050405020304" pitchFamily="18" charset="0"/>
              </a:rPr>
              <a:t>x</a:t>
            </a:r>
            <a:r>
              <a:rPr lang="en-US" altLang="zh-CN" sz="3200" baseline="-25000">
                <a:solidFill>
                  <a:schemeClr val="hlink"/>
                </a:solidFill>
                <a:latin typeface="Times New Roman" panose="02020603050405020304" pitchFamily="18" charset="0"/>
              </a:rPr>
              <a:t>3</a:t>
            </a:r>
            <a:endParaRPr lang="en-US" altLang="zh-CN" sz="3200">
              <a:solidFill>
                <a:schemeClr val="hlink"/>
              </a:solidFill>
              <a:latin typeface="Times New Roman" panose="02020603050405020304" pitchFamily="18" charset="0"/>
            </a:endParaRPr>
          </a:p>
        </p:txBody>
      </p:sp>
      <p:sp>
        <p:nvSpPr>
          <p:cNvPr id="109590" name="Oval 22"/>
          <p:cNvSpPr>
            <a:spLocks noChangeArrowheads="1"/>
          </p:cNvSpPr>
          <p:nvPr/>
        </p:nvSpPr>
        <p:spPr bwMode="auto">
          <a:xfrm>
            <a:off x="1908175" y="270827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B</a:t>
            </a:r>
            <a:endParaRPr lang="en-US" altLang="zh-CN" sz="2400">
              <a:latin typeface="Times New Roman" panose="02020603050405020304" pitchFamily="18" charset="0"/>
            </a:endParaRPr>
          </a:p>
        </p:txBody>
      </p:sp>
      <p:sp>
        <p:nvSpPr>
          <p:cNvPr id="109591" name="Oval 23"/>
          <p:cNvSpPr>
            <a:spLocks noChangeArrowheads="1"/>
          </p:cNvSpPr>
          <p:nvPr/>
        </p:nvSpPr>
        <p:spPr bwMode="auto">
          <a:xfrm>
            <a:off x="1908175" y="2708275"/>
            <a:ext cx="576263" cy="576263"/>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B</a:t>
            </a:r>
            <a:endParaRPr lang="en-US" altLang="zh-CN" sz="2400">
              <a:solidFill>
                <a:schemeClr val="bg1"/>
              </a:solidFill>
              <a:latin typeface="Times New Roman" panose="02020603050405020304" pitchFamily="18" charset="0"/>
            </a:endParaRPr>
          </a:p>
        </p:txBody>
      </p:sp>
      <p:sp>
        <p:nvSpPr>
          <p:cNvPr id="109592" name="Oval 24"/>
          <p:cNvSpPr>
            <a:spLocks noChangeArrowheads="1"/>
          </p:cNvSpPr>
          <p:nvPr/>
        </p:nvSpPr>
        <p:spPr bwMode="auto">
          <a:xfrm>
            <a:off x="3995738" y="1341438"/>
            <a:ext cx="576262" cy="576262"/>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A</a:t>
            </a:r>
            <a:endParaRPr lang="en-US" altLang="zh-CN" sz="2400">
              <a:solidFill>
                <a:schemeClr val="bg1"/>
              </a:solidFill>
              <a:latin typeface="Times New Roman" panose="02020603050405020304" pitchFamily="18" charset="0"/>
            </a:endParaRPr>
          </a:p>
        </p:txBody>
      </p:sp>
      <p:sp>
        <p:nvSpPr>
          <p:cNvPr id="109593" name="Oval 25"/>
          <p:cNvSpPr>
            <a:spLocks noChangeArrowheads="1"/>
          </p:cNvSpPr>
          <p:nvPr/>
        </p:nvSpPr>
        <p:spPr bwMode="auto">
          <a:xfrm>
            <a:off x="6732588" y="260350"/>
            <a:ext cx="503237" cy="504825"/>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9594" name="Oval 26"/>
          <p:cNvSpPr>
            <a:spLocks noChangeArrowheads="1"/>
          </p:cNvSpPr>
          <p:nvPr/>
        </p:nvSpPr>
        <p:spPr bwMode="auto">
          <a:xfrm>
            <a:off x="1908175" y="2708275"/>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9595" name="Oval 27"/>
          <p:cNvSpPr>
            <a:spLocks noChangeArrowheads="1"/>
          </p:cNvSpPr>
          <p:nvPr/>
        </p:nvSpPr>
        <p:spPr bwMode="auto">
          <a:xfrm>
            <a:off x="3995738" y="1341438"/>
            <a:ext cx="576262" cy="576262"/>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9596" name="Oval 28"/>
          <p:cNvSpPr>
            <a:spLocks noChangeArrowheads="1"/>
          </p:cNvSpPr>
          <p:nvPr/>
        </p:nvSpPr>
        <p:spPr bwMode="auto">
          <a:xfrm>
            <a:off x="6732588" y="981075"/>
            <a:ext cx="503237" cy="503238"/>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9597" name="Oval 29"/>
          <p:cNvSpPr>
            <a:spLocks noChangeArrowheads="1"/>
          </p:cNvSpPr>
          <p:nvPr/>
        </p:nvSpPr>
        <p:spPr bwMode="auto">
          <a:xfrm>
            <a:off x="6732588" y="1773238"/>
            <a:ext cx="503237" cy="503237"/>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9598" name="Rectangle 30"/>
          <p:cNvSpPr>
            <a:spLocks noChangeArrowheads="1"/>
          </p:cNvSpPr>
          <p:nvPr/>
        </p:nvSpPr>
        <p:spPr bwMode="auto">
          <a:xfrm>
            <a:off x="7308850" y="260350"/>
            <a:ext cx="16637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rgbClr val="993300"/>
                </a:solidFill>
                <a:latin typeface="Times New Roman" panose="02020603050405020304" pitchFamily="18" charset="0"/>
              </a:rPr>
              <a:t>extend node</a:t>
            </a:r>
            <a:endParaRPr lang="en-US" altLang="zh-CN" sz="2400">
              <a:solidFill>
                <a:srgbClr val="993300"/>
              </a:solidFill>
              <a:latin typeface="Times New Roman" panose="02020603050405020304" pitchFamily="18" charset="0"/>
            </a:endParaRPr>
          </a:p>
        </p:txBody>
      </p:sp>
      <p:sp>
        <p:nvSpPr>
          <p:cNvPr id="109599" name="Rectangle 31"/>
          <p:cNvSpPr>
            <a:spLocks noChangeArrowheads="1"/>
          </p:cNvSpPr>
          <p:nvPr/>
        </p:nvSpPr>
        <p:spPr bwMode="auto">
          <a:xfrm>
            <a:off x="7308850" y="981075"/>
            <a:ext cx="14732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2400">
                <a:solidFill>
                  <a:srgbClr val="993300"/>
                </a:solidFill>
                <a:latin typeface="Times New Roman" panose="02020603050405020304" pitchFamily="18" charset="0"/>
              </a:rPr>
              <a:t>dead node</a:t>
            </a:r>
            <a:endParaRPr lang="en-US" altLang="zh-CN" sz="2400">
              <a:solidFill>
                <a:srgbClr val="993300"/>
              </a:solidFill>
              <a:latin typeface="Times New Roman" panose="02020603050405020304" pitchFamily="18" charset="0"/>
            </a:endParaRPr>
          </a:p>
        </p:txBody>
      </p:sp>
      <p:sp>
        <p:nvSpPr>
          <p:cNvPr id="109600" name="Rectangle 32"/>
          <p:cNvSpPr>
            <a:spLocks noChangeArrowheads="1"/>
          </p:cNvSpPr>
          <p:nvPr/>
        </p:nvSpPr>
        <p:spPr bwMode="auto">
          <a:xfrm>
            <a:off x="7488238" y="1700213"/>
            <a:ext cx="13081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a:solidFill>
                  <a:srgbClr val="993300"/>
                </a:solidFill>
                <a:latin typeface="Times New Roman" panose="02020603050405020304" pitchFamily="18" charset="0"/>
              </a:rPr>
              <a:t>live node</a:t>
            </a:r>
            <a:endParaRPr lang="en-US" altLang="zh-CN" sz="2400">
              <a:solidFill>
                <a:srgbClr val="993300"/>
              </a:solidFill>
              <a:latin typeface="Times New Roman" panose="02020603050405020304" pitchFamily="18" charset="0"/>
            </a:endParaRPr>
          </a:p>
        </p:txBody>
      </p:sp>
      <p:sp>
        <p:nvSpPr>
          <p:cNvPr id="109601" name="Oval 33"/>
          <p:cNvSpPr>
            <a:spLocks noChangeArrowheads="1"/>
          </p:cNvSpPr>
          <p:nvPr/>
        </p:nvSpPr>
        <p:spPr bwMode="auto">
          <a:xfrm>
            <a:off x="6227763" y="2852738"/>
            <a:ext cx="431800" cy="360362"/>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C</a:t>
            </a:r>
            <a:endParaRPr lang="en-US" altLang="zh-CN" sz="2400">
              <a:solidFill>
                <a:schemeClr val="bg1"/>
              </a:solidFill>
              <a:latin typeface="Times New Roman" panose="02020603050405020304" pitchFamily="18" charset="0"/>
            </a:endParaRPr>
          </a:p>
        </p:txBody>
      </p:sp>
      <p:sp>
        <p:nvSpPr>
          <p:cNvPr id="109602" name="Oval 34"/>
          <p:cNvSpPr>
            <a:spLocks noChangeArrowheads="1"/>
          </p:cNvSpPr>
          <p:nvPr/>
        </p:nvSpPr>
        <p:spPr bwMode="auto">
          <a:xfrm>
            <a:off x="900113" y="4149725"/>
            <a:ext cx="431800" cy="360363"/>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D</a:t>
            </a:r>
            <a:endParaRPr lang="en-US" altLang="zh-CN" sz="2400">
              <a:solidFill>
                <a:schemeClr val="bg1"/>
              </a:solidFill>
              <a:latin typeface="Times New Roman" panose="02020603050405020304" pitchFamily="18" charset="0"/>
            </a:endParaRPr>
          </a:p>
        </p:txBody>
      </p:sp>
      <p:sp>
        <p:nvSpPr>
          <p:cNvPr id="109603" name="Oval 35"/>
          <p:cNvSpPr>
            <a:spLocks noChangeArrowheads="1"/>
          </p:cNvSpPr>
          <p:nvPr/>
        </p:nvSpPr>
        <p:spPr bwMode="auto">
          <a:xfrm>
            <a:off x="3059113" y="4076700"/>
            <a:ext cx="431800" cy="360363"/>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E</a:t>
            </a:r>
            <a:endParaRPr lang="en-US" altLang="zh-CN" sz="2400">
              <a:solidFill>
                <a:schemeClr val="bg1"/>
              </a:solidFill>
              <a:latin typeface="Times New Roman" panose="02020603050405020304" pitchFamily="18" charset="0"/>
            </a:endParaRPr>
          </a:p>
        </p:txBody>
      </p:sp>
      <p:sp>
        <p:nvSpPr>
          <p:cNvPr id="109604" name="Oval 36"/>
          <p:cNvSpPr>
            <a:spLocks noChangeArrowheads="1"/>
          </p:cNvSpPr>
          <p:nvPr/>
        </p:nvSpPr>
        <p:spPr bwMode="auto">
          <a:xfrm>
            <a:off x="5292725" y="4005263"/>
            <a:ext cx="431800" cy="360362"/>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F</a:t>
            </a:r>
            <a:endParaRPr lang="en-US" altLang="zh-CN" sz="2400">
              <a:solidFill>
                <a:schemeClr val="bg1"/>
              </a:solidFill>
              <a:latin typeface="Times New Roman" panose="02020603050405020304" pitchFamily="18" charset="0"/>
            </a:endParaRPr>
          </a:p>
        </p:txBody>
      </p:sp>
      <p:sp>
        <p:nvSpPr>
          <p:cNvPr id="109605" name="Oval 37"/>
          <p:cNvSpPr>
            <a:spLocks noChangeArrowheads="1"/>
          </p:cNvSpPr>
          <p:nvPr/>
        </p:nvSpPr>
        <p:spPr bwMode="auto">
          <a:xfrm>
            <a:off x="7451725" y="3933825"/>
            <a:ext cx="431800" cy="360363"/>
          </a:xfrm>
          <a:prstGeom prst="ellipse">
            <a:avLst/>
          </a:prstGeom>
          <a:solidFill>
            <a:schemeClr val="accent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G</a:t>
            </a:r>
            <a:endParaRPr lang="en-US" altLang="zh-CN" sz="2400">
              <a:solidFill>
                <a:schemeClr val="bg1"/>
              </a:solidFill>
              <a:latin typeface="Times New Roman" panose="02020603050405020304" pitchFamily="18" charset="0"/>
            </a:endParaRPr>
          </a:p>
        </p:txBody>
      </p:sp>
      <p:sp>
        <p:nvSpPr>
          <p:cNvPr id="109606" name="Oval 38"/>
          <p:cNvSpPr>
            <a:spLocks noChangeArrowheads="1"/>
          </p:cNvSpPr>
          <p:nvPr/>
        </p:nvSpPr>
        <p:spPr bwMode="auto">
          <a:xfrm>
            <a:off x="323850"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H</a:t>
            </a:r>
            <a:endParaRPr lang="en-US" altLang="zh-CN" sz="2400">
              <a:solidFill>
                <a:schemeClr val="bg1"/>
              </a:solidFill>
              <a:latin typeface="Times New Roman" panose="02020603050405020304" pitchFamily="18" charset="0"/>
            </a:endParaRPr>
          </a:p>
        </p:txBody>
      </p:sp>
      <p:sp>
        <p:nvSpPr>
          <p:cNvPr id="109607" name="Oval 39"/>
          <p:cNvSpPr>
            <a:spLocks noChangeArrowheads="1"/>
          </p:cNvSpPr>
          <p:nvPr/>
        </p:nvSpPr>
        <p:spPr bwMode="auto">
          <a:xfrm>
            <a:off x="1258888"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I</a:t>
            </a:r>
            <a:endParaRPr lang="en-US" altLang="zh-CN" sz="2400">
              <a:solidFill>
                <a:schemeClr val="bg1"/>
              </a:solidFill>
              <a:latin typeface="Times New Roman" panose="02020603050405020304" pitchFamily="18" charset="0"/>
            </a:endParaRPr>
          </a:p>
        </p:txBody>
      </p:sp>
      <p:sp>
        <p:nvSpPr>
          <p:cNvPr id="109608" name="Oval 40"/>
          <p:cNvSpPr>
            <a:spLocks noChangeArrowheads="1"/>
          </p:cNvSpPr>
          <p:nvPr/>
        </p:nvSpPr>
        <p:spPr bwMode="auto">
          <a:xfrm>
            <a:off x="2411413"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J</a:t>
            </a:r>
            <a:endParaRPr lang="en-US" altLang="zh-CN" sz="2400">
              <a:solidFill>
                <a:schemeClr val="bg1"/>
              </a:solidFill>
              <a:latin typeface="Times New Roman" panose="02020603050405020304" pitchFamily="18" charset="0"/>
            </a:endParaRPr>
          </a:p>
        </p:txBody>
      </p:sp>
      <p:sp>
        <p:nvSpPr>
          <p:cNvPr id="109609" name="Oval 41"/>
          <p:cNvSpPr>
            <a:spLocks noChangeArrowheads="1"/>
          </p:cNvSpPr>
          <p:nvPr/>
        </p:nvSpPr>
        <p:spPr bwMode="auto">
          <a:xfrm>
            <a:off x="3563938"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K</a:t>
            </a:r>
            <a:endParaRPr lang="en-US" altLang="zh-CN" sz="2400">
              <a:solidFill>
                <a:schemeClr val="bg1"/>
              </a:solidFill>
              <a:latin typeface="Times New Roman" panose="02020603050405020304" pitchFamily="18" charset="0"/>
            </a:endParaRPr>
          </a:p>
        </p:txBody>
      </p:sp>
      <p:sp>
        <p:nvSpPr>
          <p:cNvPr id="109610" name="Oval 42"/>
          <p:cNvSpPr>
            <a:spLocks noChangeArrowheads="1"/>
          </p:cNvSpPr>
          <p:nvPr/>
        </p:nvSpPr>
        <p:spPr bwMode="auto">
          <a:xfrm>
            <a:off x="4787900"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L</a:t>
            </a:r>
            <a:endParaRPr lang="en-US" altLang="zh-CN" sz="2400">
              <a:solidFill>
                <a:schemeClr val="bg1"/>
              </a:solidFill>
              <a:latin typeface="Times New Roman" panose="02020603050405020304" pitchFamily="18" charset="0"/>
            </a:endParaRPr>
          </a:p>
        </p:txBody>
      </p:sp>
      <p:sp>
        <p:nvSpPr>
          <p:cNvPr id="109611" name="Oval 43"/>
          <p:cNvSpPr>
            <a:spLocks noChangeArrowheads="1"/>
          </p:cNvSpPr>
          <p:nvPr/>
        </p:nvSpPr>
        <p:spPr bwMode="auto">
          <a:xfrm>
            <a:off x="5795963"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M</a:t>
            </a:r>
            <a:endParaRPr lang="en-US" altLang="zh-CN" sz="2400">
              <a:solidFill>
                <a:schemeClr val="bg1"/>
              </a:solidFill>
              <a:latin typeface="Times New Roman" panose="02020603050405020304" pitchFamily="18" charset="0"/>
            </a:endParaRPr>
          </a:p>
        </p:txBody>
      </p:sp>
      <p:sp>
        <p:nvSpPr>
          <p:cNvPr id="109612" name="Oval 44"/>
          <p:cNvSpPr>
            <a:spLocks noChangeArrowheads="1"/>
          </p:cNvSpPr>
          <p:nvPr/>
        </p:nvSpPr>
        <p:spPr bwMode="auto">
          <a:xfrm>
            <a:off x="6877050"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N</a:t>
            </a:r>
            <a:endParaRPr lang="en-US" altLang="zh-CN" sz="2400">
              <a:solidFill>
                <a:schemeClr val="bg1"/>
              </a:solidFill>
              <a:latin typeface="Times New Roman" panose="02020603050405020304" pitchFamily="18" charset="0"/>
            </a:endParaRPr>
          </a:p>
        </p:txBody>
      </p:sp>
      <p:sp>
        <p:nvSpPr>
          <p:cNvPr id="109613" name="Oval 45"/>
          <p:cNvSpPr>
            <a:spLocks noChangeArrowheads="1"/>
          </p:cNvSpPr>
          <p:nvPr/>
        </p:nvSpPr>
        <p:spPr bwMode="auto">
          <a:xfrm>
            <a:off x="8243888" y="5084763"/>
            <a:ext cx="431800" cy="360362"/>
          </a:xfrm>
          <a:prstGeom prst="ellipse">
            <a:avLst/>
          </a:prstGeom>
          <a:solidFill>
            <a:schemeClr val="tx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O</a:t>
            </a:r>
            <a:endParaRPr lang="en-US" altLang="zh-CN" sz="2400">
              <a:solidFill>
                <a:schemeClr val="bg1"/>
              </a:solidFill>
              <a:latin typeface="Times New Roman" panose="02020603050405020304" pitchFamily="18" charset="0"/>
            </a:endParaRPr>
          </a:p>
        </p:txBody>
      </p:sp>
      <p:sp>
        <p:nvSpPr>
          <p:cNvPr id="109614" name="Rectangle 46"/>
          <p:cNvSpPr>
            <a:spLocks noChangeArrowheads="1"/>
          </p:cNvSpPr>
          <p:nvPr/>
        </p:nvSpPr>
        <p:spPr bwMode="auto">
          <a:xfrm>
            <a:off x="2771775" y="1916113"/>
            <a:ext cx="414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9615" name="Rectangle 47"/>
          <p:cNvSpPr>
            <a:spLocks noChangeArrowheads="1"/>
          </p:cNvSpPr>
          <p:nvPr/>
        </p:nvSpPr>
        <p:spPr bwMode="auto">
          <a:xfrm>
            <a:off x="2843213" y="3284538"/>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109616" name="Rectangle 48"/>
          <p:cNvSpPr>
            <a:spLocks noChangeArrowheads="1"/>
          </p:cNvSpPr>
          <p:nvPr/>
        </p:nvSpPr>
        <p:spPr bwMode="auto">
          <a:xfrm>
            <a:off x="5364163" y="1844675"/>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109617" name="Oval 49"/>
          <p:cNvSpPr>
            <a:spLocks noChangeArrowheads="1"/>
          </p:cNvSpPr>
          <p:nvPr/>
        </p:nvSpPr>
        <p:spPr bwMode="auto">
          <a:xfrm>
            <a:off x="2987675" y="4005263"/>
            <a:ext cx="576263" cy="576262"/>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E</a:t>
            </a:r>
            <a:endParaRPr lang="en-US" altLang="zh-CN" sz="2400">
              <a:latin typeface="Times New Roman" panose="02020603050405020304" pitchFamily="18" charset="0"/>
            </a:endParaRPr>
          </a:p>
        </p:txBody>
      </p:sp>
      <p:sp>
        <p:nvSpPr>
          <p:cNvPr id="109618" name="Rectangle 50"/>
          <p:cNvSpPr>
            <a:spLocks noChangeArrowheads="1"/>
          </p:cNvSpPr>
          <p:nvPr/>
        </p:nvSpPr>
        <p:spPr bwMode="auto">
          <a:xfrm>
            <a:off x="1331913" y="3284538"/>
            <a:ext cx="414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9619" name="Oval 51"/>
          <p:cNvSpPr>
            <a:spLocks noChangeArrowheads="1"/>
          </p:cNvSpPr>
          <p:nvPr/>
        </p:nvSpPr>
        <p:spPr bwMode="auto">
          <a:xfrm>
            <a:off x="827088" y="4005263"/>
            <a:ext cx="576262" cy="576262"/>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9620" name="Oval 52"/>
          <p:cNvSpPr>
            <a:spLocks noChangeArrowheads="1"/>
          </p:cNvSpPr>
          <p:nvPr/>
        </p:nvSpPr>
        <p:spPr bwMode="auto">
          <a:xfrm>
            <a:off x="2987675" y="4005263"/>
            <a:ext cx="576263" cy="576262"/>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E</a:t>
            </a:r>
            <a:endParaRPr lang="en-US" altLang="zh-CN" sz="2400">
              <a:solidFill>
                <a:schemeClr val="bg1"/>
              </a:solidFill>
              <a:latin typeface="Times New Roman" panose="02020603050405020304" pitchFamily="18" charset="0"/>
            </a:endParaRPr>
          </a:p>
        </p:txBody>
      </p:sp>
      <p:sp>
        <p:nvSpPr>
          <p:cNvPr id="109621" name="Rectangle 53"/>
          <p:cNvSpPr>
            <a:spLocks noChangeArrowheads="1"/>
          </p:cNvSpPr>
          <p:nvPr/>
        </p:nvSpPr>
        <p:spPr bwMode="auto">
          <a:xfrm>
            <a:off x="2627313" y="4437063"/>
            <a:ext cx="4143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1</a:t>
            </a:r>
            <a:endParaRPr lang="en-US" altLang="zh-CN" sz="2400">
              <a:solidFill>
                <a:schemeClr val="hlink"/>
              </a:solidFill>
              <a:latin typeface="Times New Roman" panose="02020603050405020304" pitchFamily="18" charset="0"/>
            </a:endParaRPr>
          </a:p>
        </p:txBody>
      </p:sp>
      <p:sp>
        <p:nvSpPr>
          <p:cNvPr id="109622" name="Oval 54"/>
          <p:cNvSpPr>
            <a:spLocks noChangeArrowheads="1"/>
          </p:cNvSpPr>
          <p:nvPr/>
        </p:nvSpPr>
        <p:spPr bwMode="auto">
          <a:xfrm>
            <a:off x="2339975" y="501332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J</a:t>
            </a:r>
            <a:endParaRPr lang="en-US" altLang="zh-CN" sz="2400">
              <a:latin typeface="Times New Roman" panose="02020603050405020304" pitchFamily="18" charset="0"/>
            </a:endParaRPr>
          </a:p>
        </p:txBody>
      </p:sp>
      <p:sp>
        <p:nvSpPr>
          <p:cNvPr id="109623" name="Rectangle 55"/>
          <p:cNvSpPr>
            <a:spLocks noChangeArrowheads="1"/>
          </p:cNvSpPr>
          <p:nvPr/>
        </p:nvSpPr>
        <p:spPr bwMode="auto">
          <a:xfrm>
            <a:off x="3563938" y="4437063"/>
            <a:ext cx="4524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zh-CN" sz="2400">
                <a:solidFill>
                  <a:schemeClr val="hlink"/>
                </a:solidFill>
                <a:latin typeface="Times New Roman" panose="02020603050405020304" pitchFamily="18" charset="0"/>
              </a:rPr>
              <a:t>0</a:t>
            </a:r>
            <a:endParaRPr lang="en-US" altLang="zh-CN" sz="2400">
              <a:solidFill>
                <a:schemeClr val="hlink"/>
              </a:solidFill>
              <a:latin typeface="Times New Roman" panose="02020603050405020304" pitchFamily="18" charset="0"/>
            </a:endParaRPr>
          </a:p>
        </p:txBody>
      </p:sp>
      <p:sp>
        <p:nvSpPr>
          <p:cNvPr id="109624" name="Oval 56"/>
          <p:cNvSpPr>
            <a:spLocks noChangeArrowheads="1"/>
          </p:cNvSpPr>
          <p:nvPr/>
        </p:nvSpPr>
        <p:spPr bwMode="auto">
          <a:xfrm>
            <a:off x="2987675" y="4005263"/>
            <a:ext cx="576263" cy="576262"/>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9625" name="Oval 57"/>
          <p:cNvSpPr>
            <a:spLocks noChangeArrowheads="1"/>
          </p:cNvSpPr>
          <p:nvPr/>
        </p:nvSpPr>
        <p:spPr bwMode="auto">
          <a:xfrm>
            <a:off x="2339975" y="5013325"/>
            <a:ext cx="576263" cy="576263"/>
          </a:xfrm>
          <a:prstGeom prst="ellipse">
            <a:avLst/>
          </a:prstGeom>
          <a:solidFill>
            <a:schemeClr val="accent2"/>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solidFill>
                  <a:schemeClr val="bg1"/>
                </a:solidFill>
                <a:latin typeface="Times New Roman" panose="02020603050405020304" pitchFamily="18" charset="0"/>
              </a:rPr>
              <a:t>J</a:t>
            </a:r>
            <a:endParaRPr lang="en-US" altLang="zh-CN" sz="2400">
              <a:solidFill>
                <a:schemeClr val="bg1"/>
              </a:solidFill>
              <a:latin typeface="Times New Roman" panose="02020603050405020304" pitchFamily="18" charset="0"/>
            </a:endParaRPr>
          </a:p>
        </p:txBody>
      </p:sp>
      <p:sp>
        <p:nvSpPr>
          <p:cNvPr id="109626" name="Oval 58"/>
          <p:cNvSpPr>
            <a:spLocks noChangeArrowheads="1"/>
          </p:cNvSpPr>
          <p:nvPr/>
        </p:nvSpPr>
        <p:spPr bwMode="auto">
          <a:xfrm>
            <a:off x="2339975" y="5013325"/>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9627" name="Rectangle 59"/>
          <p:cNvSpPr>
            <a:spLocks noChangeArrowheads="1"/>
          </p:cNvSpPr>
          <p:nvPr/>
        </p:nvSpPr>
        <p:spPr bwMode="auto">
          <a:xfrm>
            <a:off x="179388" y="1196975"/>
            <a:ext cx="1152525" cy="360363"/>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i="1">
                <a:latin typeface="Times New Roman" panose="02020603050405020304" pitchFamily="18" charset="0"/>
              </a:rPr>
              <a:t>C</a:t>
            </a:r>
            <a:r>
              <a:rPr lang="en-US" altLang="zh-CN" sz="2400">
                <a:latin typeface="Times New Roman" panose="02020603050405020304" pitchFamily="18" charset="0"/>
              </a:rPr>
              <a:t>(</a:t>
            </a:r>
            <a:r>
              <a:rPr lang="en-US" altLang="zh-CN" sz="2400" i="1">
                <a:latin typeface="Times New Roman" panose="02020603050405020304" pitchFamily="18" charset="0"/>
              </a:rPr>
              <a:t>i</a:t>
            </a:r>
            <a:r>
              <a:rPr lang="en-US" altLang="zh-CN" sz="2400">
                <a:latin typeface="Times New Roman" panose="02020603050405020304" pitchFamily="18" charset="0"/>
              </a:rPr>
              <a:t>)/</a:t>
            </a:r>
            <a:r>
              <a:rPr lang="en-US" altLang="zh-CN" sz="2400" i="1">
                <a:latin typeface="Times New Roman" panose="02020603050405020304" pitchFamily="18" charset="0"/>
              </a:rPr>
              <a:t>B</a:t>
            </a:r>
            <a:r>
              <a:rPr lang="en-US" altLang="zh-CN" sz="2400">
                <a:latin typeface="Times New Roman" panose="02020603050405020304" pitchFamily="18" charset="0"/>
              </a:rPr>
              <a:t>(</a:t>
            </a:r>
            <a:r>
              <a:rPr lang="en-US" altLang="zh-CN" sz="2400" i="1">
                <a:latin typeface="Times New Roman" panose="02020603050405020304" pitchFamily="18" charset="0"/>
              </a:rPr>
              <a:t>i</a:t>
            </a:r>
            <a:r>
              <a:rPr lang="en-US" altLang="zh-CN" sz="2400">
                <a:latin typeface="Times New Roman" panose="02020603050405020304" pitchFamily="18" charset="0"/>
              </a:rPr>
              <a:t>)</a:t>
            </a:r>
            <a:endParaRPr lang="en-US" altLang="zh-CN" sz="2400">
              <a:latin typeface="Times New Roman" panose="02020603050405020304" pitchFamily="18" charset="0"/>
            </a:endParaRPr>
          </a:p>
        </p:txBody>
      </p:sp>
      <p:sp>
        <p:nvSpPr>
          <p:cNvPr id="109628" name="Rectangle 60"/>
          <p:cNvSpPr>
            <a:spLocks noChangeArrowheads="1"/>
          </p:cNvSpPr>
          <p:nvPr/>
        </p:nvSpPr>
        <p:spPr bwMode="auto">
          <a:xfrm>
            <a:off x="1403350" y="4076700"/>
            <a:ext cx="720725" cy="360363"/>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14/16</a:t>
            </a:r>
            <a:endParaRPr lang="en-US" altLang="zh-CN" sz="2400">
              <a:latin typeface="Times New Roman" panose="02020603050405020304" pitchFamily="18" charset="0"/>
            </a:endParaRPr>
          </a:p>
        </p:txBody>
      </p:sp>
      <p:sp>
        <p:nvSpPr>
          <p:cNvPr id="109629" name="Oval 61"/>
          <p:cNvSpPr>
            <a:spLocks noChangeArrowheads="1"/>
          </p:cNvSpPr>
          <p:nvPr/>
        </p:nvSpPr>
        <p:spPr bwMode="auto">
          <a:xfrm>
            <a:off x="6156325" y="270827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C</a:t>
            </a:r>
            <a:endParaRPr lang="en-US" altLang="zh-CN" sz="2400">
              <a:latin typeface="Times New Roman" panose="02020603050405020304" pitchFamily="18" charset="0"/>
            </a:endParaRPr>
          </a:p>
        </p:txBody>
      </p:sp>
      <p:sp>
        <p:nvSpPr>
          <p:cNvPr id="109630" name="Rectangle 62"/>
          <p:cNvSpPr>
            <a:spLocks noChangeArrowheads="1"/>
          </p:cNvSpPr>
          <p:nvPr/>
        </p:nvSpPr>
        <p:spPr bwMode="auto">
          <a:xfrm>
            <a:off x="2555875" y="2781300"/>
            <a:ext cx="792163" cy="360363"/>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8/16</a:t>
            </a:r>
            <a:endParaRPr lang="en-US" altLang="zh-CN" sz="2400">
              <a:latin typeface="Times New Roman" panose="02020603050405020304" pitchFamily="18" charset="0"/>
            </a:endParaRPr>
          </a:p>
        </p:txBody>
      </p:sp>
      <p:sp>
        <p:nvSpPr>
          <p:cNvPr id="109631" name="Rectangle 63"/>
          <p:cNvSpPr>
            <a:spLocks noChangeArrowheads="1"/>
          </p:cNvSpPr>
          <p:nvPr/>
        </p:nvSpPr>
        <p:spPr bwMode="auto">
          <a:xfrm>
            <a:off x="6877050" y="2781300"/>
            <a:ext cx="539750" cy="360363"/>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0/8</a:t>
            </a:r>
            <a:endParaRPr lang="en-US" altLang="zh-CN" sz="2400">
              <a:latin typeface="Times New Roman" panose="02020603050405020304" pitchFamily="18" charset="0"/>
            </a:endParaRPr>
          </a:p>
        </p:txBody>
      </p:sp>
      <p:sp>
        <p:nvSpPr>
          <p:cNvPr id="109632" name="Rectangle 64"/>
          <p:cNvSpPr>
            <a:spLocks noChangeArrowheads="1"/>
          </p:cNvSpPr>
          <p:nvPr/>
        </p:nvSpPr>
        <p:spPr bwMode="auto">
          <a:xfrm>
            <a:off x="3708400" y="4076700"/>
            <a:ext cx="719138" cy="360363"/>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8/10</a:t>
            </a:r>
            <a:endParaRPr lang="en-US" altLang="zh-CN" sz="2400">
              <a:latin typeface="Times New Roman" panose="02020603050405020304" pitchFamily="18" charset="0"/>
            </a:endParaRPr>
          </a:p>
        </p:txBody>
      </p:sp>
      <p:sp>
        <p:nvSpPr>
          <p:cNvPr id="109633" name="Rectangle 65"/>
          <p:cNvSpPr>
            <a:spLocks noChangeArrowheads="1"/>
          </p:cNvSpPr>
          <p:nvPr/>
        </p:nvSpPr>
        <p:spPr bwMode="auto">
          <a:xfrm>
            <a:off x="2339975" y="5661025"/>
            <a:ext cx="719138" cy="360363"/>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10/10</a:t>
            </a:r>
            <a:endParaRPr lang="en-US" altLang="zh-CN" sz="2400">
              <a:latin typeface="Times New Roman" panose="02020603050405020304" pitchFamily="18" charset="0"/>
            </a:endParaRPr>
          </a:p>
        </p:txBody>
      </p:sp>
      <p:sp>
        <p:nvSpPr>
          <p:cNvPr id="109634" name="Rectangle 66"/>
          <p:cNvSpPr>
            <a:spLocks noChangeArrowheads="1"/>
          </p:cNvSpPr>
          <p:nvPr/>
        </p:nvSpPr>
        <p:spPr bwMode="auto">
          <a:xfrm>
            <a:off x="3419475" y="5589588"/>
            <a:ext cx="719138" cy="360362"/>
          </a:xfrm>
          <a:prstGeom prst="rect">
            <a:avLst/>
          </a:prstGeom>
          <a:solidFill>
            <a:schemeClr val="bg1"/>
          </a:solidFill>
          <a:ln w="1270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8/8</a:t>
            </a:r>
            <a:endParaRPr lang="en-US" altLang="zh-CN" sz="2400">
              <a:latin typeface="Times New Roman" panose="02020603050405020304" pitchFamily="18" charset="0"/>
            </a:endParaRPr>
          </a:p>
        </p:txBody>
      </p:sp>
      <p:sp>
        <p:nvSpPr>
          <p:cNvPr id="109635" name="Oval 67"/>
          <p:cNvSpPr>
            <a:spLocks noChangeArrowheads="1"/>
          </p:cNvSpPr>
          <p:nvPr/>
        </p:nvSpPr>
        <p:spPr bwMode="auto">
          <a:xfrm>
            <a:off x="3492500" y="5013325"/>
            <a:ext cx="576263" cy="576263"/>
          </a:xfrm>
          <a:prstGeom prst="ellipse">
            <a:avLst/>
          </a:prstGeom>
          <a:solidFill>
            <a:schemeClr val="bg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400">
                <a:latin typeface="Times New Roman" panose="02020603050405020304" pitchFamily="18" charset="0"/>
              </a:rPr>
              <a:t>J</a:t>
            </a:r>
            <a:endParaRPr lang="en-US" altLang="zh-CN" sz="2400">
              <a:latin typeface="Times New Roman" panose="02020603050405020304" pitchFamily="18" charset="0"/>
            </a:endParaRPr>
          </a:p>
        </p:txBody>
      </p:sp>
      <p:sp>
        <p:nvSpPr>
          <p:cNvPr id="109636" name="Oval 68"/>
          <p:cNvSpPr>
            <a:spLocks noChangeArrowheads="1"/>
          </p:cNvSpPr>
          <p:nvPr/>
        </p:nvSpPr>
        <p:spPr bwMode="auto">
          <a:xfrm>
            <a:off x="3492500" y="5013325"/>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109637" name="Oval 69"/>
          <p:cNvSpPr>
            <a:spLocks noChangeArrowheads="1"/>
          </p:cNvSpPr>
          <p:nvPr/>
        </p:nvSpPr>
        <p:spPr bwMode="auto">
          <a:xfrm>
            <a:off x="6156325" y="2708275"/>
            <a:ext cx="576263" cy="576263"/>
          </a:xfrm>
          <a:prstGeom prst="ellipse">
            <a:avLst/>
          </a:prstGeom>
          <a:solidFill>
            <a:schemeClr val="tx1"/>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9592"/>
                                        </p:tgtEl>
                                        <p:attrNameLst>
                                          <p:attrName>style.visibility</p:attrName>
                                        </p:attrNameLst>
                                      </p:cBhvr>
                                      <p:to>
                                        <p:strVal val="visible"/>
                                      </p:to>
                                    </p:set>
                                    <p:anim calcmode="lin" valueType="num">
                                      <p:cBhvr additive="base">
                                        <p:cTn id="7" dur="500" fill="hold"/>
                                        <p:tgtEl>
                                          <p:spTgt spid="109592"/>
                                        </p:tgtEl>
                                        <p:attrNameLst>
                                          <p:attrName>ppt_x</p:attrName>
                                        </p:attrNameLst>
                                      </p:cBhvr>
                                      <p:tavLst>
                                        <p:tav tm="0">
                                          <p:val>
                                            <p:strVal val="#ppt_x"/>
                                          </p:val>
                                        </p:tav>
                                        <p:tav tm="100000">
                                          <p:val>
                                            <p:strVal val="#ppt_x"/>
                                          </p:val>
                                        </p:tav>
                                      </p:tavLst>
                                    </p:anim>
                                    <p:anim calcmode="lin" valueType="num">
                                      <p:cBhvr additive="base">
                                        <p:cTn id="8" dur="500" fill="hold"/>
                                        <p:tgtEl>
                                          <p:spTgt spid="10959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9614"/>
                                        </p:tgtEl>
                                        <p:attrNameLst>
                                          <p:attrName>style.visibility</p:attrName>
                                        </p:attrNameLst>
                                      </p:cBhvr>
                                      <p:to>
                                        <p:strVal val="visible"/>
                                      </p:to>
                                    </p:set>
                                    <p:anim calcmode="lin" valueType="num">
                                      <p:cBhvr additive="base">
                                        <p:cTn id="13" dur="500" fill="hold"/>
                                        <p:tgtEl>
                                          <p:spTgt spid="109614"/>
                                        </p:tgtEl>
                                        <p:attrNameLst>
                                          <p:attrName>ppt_x</p:attrName>
                                        </p:attrNameLst>
                                      </p:cBhvr>
                                      <p:tavLst>
                                        <p:tav tm="0">
                                          <p:val>
                                            <p:strVal val="#ppt_x"/>
                                          </p:val>
                                        </p:tav>
                                        <p:tav tm="100000">
                                          <p:val>
                                            <p:strVal val="#ppt_x"/>
                                          </p:val>
                                        </p:tav>
                                      </p:tavLst>
                                    </p:anim>
                                    <p:anim calcmode="lin" valueType="num">
                                      <p:cBhvr additive="base">
                                        <p:cTn id="14" dur="500" fill="hold"/>
                                        <p:tgtEl>
                                          <p:spTgt spid="1096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9590"/>
                                        </p:tgtEl>
                                        <p:attrNameLst>
                                          <p:attrName>style.visibility</p:attrName>
                                        </p:attrNameLst>
                                      </p:cBhvr>
                                      <p:to>
                                        <p:strVal val="visible"/>
                                      </p:to>
                                    </p:set>
                                    <p:anim calcmode="lin" valueType="num">
                                      <p:cBhvr additive="base">
                                        <p:cTn id="19" dur="500" fill="hold"/>
                                        <p:tgtEl>
                                          <p:spTgt spid="109590"/>
                                        </p:tgtEl>
                                        <p:attrNameLst>
                                          <p:attrName>ppt_x</p:attrName>
                                        </p:attrNameLst>
                                      </p:cBhvr>
                                      <p:tavLst>
                                        <p:tav tm="0">
                                          <p:val>
                                            <p:strVal val="#ppt_x"/>
                                          </p:val>
                                        </p:tav>
                                        <p:tav tm="100000">
                                          <p:val>
                                            <p:strVal val="#ppt_x"/>
                                          </p:val>
                                        </p:tav>
                                      </p:tavLst>
                                    </p:anim>
                                    <p:anim calcmode="lin" valueType="num">
                                      <p:cBhvr additive="base">
                                        <p:cTn id="20" dur="500" fill="hold"/>
                                        <p:tgtEl>
                                          <p:spTgt spid="10959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9630"/>
                                        </p:tgtEl>
                                        <p:attrNameLst>
                                          <p:attrName>style.visibility</p:attrName>
                                        </p:attrNameLst>
                                      </p:cBhvr>
                                      <p:to>
                                        <p:strVal val="visible"/>
                                      </p:to>
                                    </p:set>
                                    <p:anim calcmode="lin" valueType="num">
                                      <p:cBhvr additive="base">
                                        <p:cTn id="25" dur="500" fill="hold"/>
                                        <p:tgtEl>
                                          <p:spTgt spid="109630"/>
                                        </p:tgtEl>
                                        <p:attrNameLst>
                                          <p:attrName>ppt_x</p:attrName>
                                        </p:attrNameLst>
                                      </p:cBhvr>
                                      <p:tavLst>
                                        <p:tav tm="0">
                                          <p:val>
                                            <p:strVal val="#ppt_x"/>
                                          </p:val>
                                        </p:tav>
                                        <p:tav tm="100000">
                                          <p:val>
                                            <p:strVal val="#ppt_x"/>
                                          </p:val>
                                        </p:tav>
                                      </p:tavLst>
                                    </p:anim>
                                    <p:anim calcmode="lin" valueType="num">
                                      <p:cBhvr additive="base">
                                        <p:cTn id="26" dur="500" fill="hold"/>
                                        <p:tgtEl>
                                          <p:spTgt spid="10963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9616"/>
                                        </p:tgtEl>
                                        <p:attrNameLst>
                                          <p:attrName>style.visibility</p:attrName>
                                        </p:attrNameLst>
                                      </p:cBhvr>
                                      <p:to>
                                        <p:strVal val="visible"/>
                                      </p:to>
                                    </p:set>
                                    <p:anim calcmode="lin" valueType="num">
                                      <p:cBhvr additive="base">
                                        <p:cTn id="31" dur="500" fill="hold"/>
                                        <p:tgtEl>
                                          <p:spTgt spid="109616"/>
                                        </p:tgtEl>
                                        <p:attrNameLst>
                                          <p:attrName>ppt_x</p:attrName>
                                        </p:attrNameLst>
                                      </p:cBhvr>
                                      <p:tavLst>
                                        <p:tav tm="0">
                                          <p:val>
                                            <p:strVal val="#ppt_x"/>
                                          </p:val>
                                        </p:tav>
                                        <p:tav tm="100000">
                                          <p:val>
                                            <p:strVal val="#ppt_x"/>
                                          </p:val>
                                        </p:tav>
                                      </p:tavLst>
                                    </p:anim>
                                    <p:anim calcmode="lin" valueType="num">
                                      <p:cBhvr additive="base">
                                        <p:cTn id="32" dur="500" fill="hold"/>
                                        <p:tgtEl>
                                          <p:spTgt spid="10961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9629"/>
                                        </p:tgtEl>
                                        <p:attrNameLst>
                                          <p:attrName>style.visibility</p:attrName>
                                        </p:attrNameLst>
                                      </p:cBhvr>
                                      <p:to>
                                        <p:strVal val="visible"/>
                                      </p:to>
                                    </p:set>
                                    <p:anim calcmode="lin" valueType="num">
                                      <p:cBhvr additive="base">
                                        <p:cTn id="37" dur="500" fill="hold"/>
                                        <p:tgtEl>
                                          <p:spTgt spid="109629"/>
                                        </p:tgtEl>
                                        <p:attrNameLst>
                                          <p:attrName>ppt_x</p:attrName>
                                        </p:attrNameLst>
                                      </p:cBhvr>
                                      <p:tavLst>
                                        <p:tav tm="0">
                                          <p:val>
                                            <p:strVal val="#ppt_x"/>
                                          </p:val>
                                        </p:tav>
                                        <p:tav tm="100000">
                                          <p:val>
                                            <p:strVal val="#ppt_x"/>
                                          </p:val>
                                        </p:tav>
                                      </p:tavLst>
                                    </p:anim>
                                    <p:anim calcmode="lin" valueType="num">
                                      <p:cBhvr additive="base">
                                        <p:cTn id="38" dur="500" fill="hold"/>
                                        <p:tgtEl>
                                          <p:spTgt spid="10962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9631"/>
                                        </p:tgtEl>
                                        <p:attrNameLst>
                                          <p:attrName>style.visibility</p:attrName>
                                        </p:attrNameLst>
                                      </p:cBhvr>
                                      <p:to>
                                        <p:strVal val="visible"/>
                                      </p:to>
                                    </p:set>
                                    <p:anim calcmode="lin" valueType="num">
                                      <p:cBhvr additive="base">
                                        <p:cTn id="43" dur="500" fill="hold"/>
                                        <p:tgtEl>
                                          <p:spTgt spid="109631"/>
                                        </p:tgtEl>
                                        <p:attrNameLst>
                                          <p:attrName>ppt_x</p:attrName>
                                        </p:attrNameLst>
                                      </p:cBhvr>
                                      <p:tavLst>
                                        <p:tav tm="0">
                                          <p:val>
                                            <p:strVal val="#ppt_x"/>
                                          </p:val>
                                        </p:tav>
                                        <p:tav tm="100000">
                                          <p:val>
                                            <p:strVal val="#ppt_x"/>
                                          </p:val>
                                        </p:tav>
                                      </p:tavLst>
                                    </p:anim>
                                    <p:anim calcmode="lin" valueType="num">
                                      <p:cBhvr additive="base">
                                        <p:cTn id="44" dur="500" fill="hold"/>
                                        <p:tgtEl>
                                          <p:spTgt spid="10963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09595"/>
                                        </p:tgtEl>
                                        <p:attrNameLst>
                                          <p:attrName>style.visibility</p:attrName>
                                        </p:attrNameLst>
                                      </p:cBhvr>
                                      <p:to>
                                        <p:strVal val="visible"/>
                                      </p:to>
                                    </p:set>
                                    <p:anim calcmode="lin" valueType="num">
                                      <p:cBhvr additive="base">
                                        <p:cTn id="49" dur="500" fill="hold"/>
                                        <p:tgtEl>
                                          <p:spTgt spid="109595"/>
                                        </p:tgtEl>
                                        <p:attrNameLst>
                                          <p:attrName>ppt_x</p:attrName>
                                        </p:attrNameLst>
                                      </p:cBhvr>
                                      <p:tavLst>
                                        <p:tav tm="0">
                                          <p:val>
                                            <p:strVal val="#ppt_x"/>
                                          </p:val>
                                        </p:tav>
                                        <p:tav tm="100000">
                                          <p:val>
                                            <p:strVal val="#ppt_x"/>
                                          </p:val>
                                        </p:tav>
                                      </p:tavLst>
                                    </p:anim>
                                    <p:anim calcmode="lin" valueType="num">
                                      <p:cBhvr additive="base">
                                        <p:cTn id="50" dur="500" fill="hold"/>
                                        <p:tgtEl>
                                          <p:spTgt spid="109595"/>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09591"/>
                                        </p:tgtEl>
                                        <p:attrNameLst>
                                          <p:attrName>style.visibility</p:attrName>
                                        </p:attrNameLst>
                                      </p:cBhvr>
                                      <p:to>
                                        <p:strVal val="visible"/>
                                      </p:to>
                                    </p:set>
                                    <p:anim calcmode="lin" valueType="num">
                                      <p:cBhvr additive="base">
                                        <p:cTn id="55" dur="500" fill="hold"/>
                                        <p:tgtEl>
                                          <p:spTgt spid="109591"/>
                                        </p:tgtEl>
                                        <p:attrNameLst>
                                          <p:attrName>ppt_x</p:attrName>
                                        </p:attrNameLst>
                                      </p:cBhvr>
                                      <p:tavLst>
                                        <p:tav tm="0">
                                          <p:val>
                                            <p:strVal val="#ppt_x"/>
                                          </p:val>
                                        </p:tav>
                                        <p:tav tm="100000">
                                          <p:val>
                                            <p:strVal val="#ppt_x"/>
                                          </p:val>
                                        </p:tav>
                                      </p:tavLst>
                                    </p:anim>
                                    <p:anim calcmode="lin" valueType="num">
                                      <p:cBhvr additive="base">
                                        <p:cTn id="56" dur="500" fill="hold"/>
                                        <p:tgtEl>
                                          <p:spTgt spid="109591"/>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09618"/>
                                        </p:tgtEl>
                                        <p:attrNameLst>
                                          <p:attrName>style.visibility</p:attrName>
                                        </p:attrNameLst>
                                      </p:cBhvr>
                                      <p:to>
                                        <p:strVal val="visible"/>
                                      </p:to>
                                    </p:set>
                                    <p:anim calcmode="lin" valueType="num">
                                      <p:cBhvr additive="base">
                                        <p:cTn id="61" dur="500" fill="hold"/>
                                        <p:tgtEl>
                                          <p:spTgt spid="109618"/>
                                        </p:tgtEl>
                                        <p:attrNameLst>
                                          <p:attrName>ppt_x</p:attrName>
                                        </p:attrNameLst>
                                      </p:cBhvr>
                                      <p:tavLst>
                                        <p:tav tm="0">
                                          <p:val>
                                            <p:strVal val="#ppt_x"/>
                                          </p:val>
                                        </p:tav>
                                        <p:tav tm="100000">
                                          <p:val>
                                            <p:strVal val="#ppt_x"/>
                                          </p:val>
                                        </p:tav>
                                      </p:tavLst>
                                    </p:anim>
                                    <p:anim calcmode="lin" valueType="num">
                                      <p:cBhvr additive="base">
                                        <p:cTn id="62" dur="500" fill="hold"/>
                                        <p:tgtEl>
                                          <p:spTgt spid="109618"/>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09628"/>
                                        </p:tgtEl>
                                        <p:attrNameLst>
                                          <p:attrName>style.visibility</p:attrName>
                                        </p:attrNameLst>
                                      </p:cBhvr>
                                      <p:to>
                                        <p:strVal val="visible"/>
                                      </p:to>
                                    </p:set>
                                    <p:anim calcmode="lin" valueType="num">
                                      <p:cBhvr additive="base">
                                        <p:cTn id="67" dur="500" fill="hold"/>
                                        <p:tgtEl>
                                          <p:spTgt spid="109628"/>
                                        </p:tgtEl>
                                        <p:attrNameLst>
                                          <p:attrName>ppt_x</p:attrName>
                                        </p:attrNameLst>
                                      </p:cBhvr>
                                      <p:tavLst>
                                        <p:tav tm="0">
                                          <p:val>
                                            <p:strVal val="#ppt_x"/>
                                          </p:val>
                                        </p:tav>
                                        <p:tav tm="100000">
                                          <p:val>
                                            <p:strVal val="#ppt_x"/>
                                          </p:val>
                                        </p:tav>
                                      </p:tavLst>
                                    </p:anim>
                                    <p:anim calcmode="lin" valueType="num">
                                      <p:cBhvr additive="base">
                                        <p:cTn id="68" dur="500" fill="hold"/>
                                        <p:tgtEl>
                                          <p:spTgt spid="109628"/>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09619"/>
                                        </p:tgtEl>
                                        <p:attrNameLst>
                                          <p:attrName>style.visibility</p:attrName>
                                        </p:attrNameLst>
                                      </p:cBhvr>
                                      <p:to>
                                        <p:strVal val="visible"/>
                                      </p:to>
                                    </p:set>
                                    <p:anim calcmode="lin" valueType="num">
                                      <p:cBhvr additive="base">
                                        <p:cTn id="73" dur="500" fill="hold"/>
                                        <p:tgtEl>
                                          <p:spTgt spid="109619"/>
                                        </p:tgtEl>
                                        <p:attrNameLst>
                                          <p:attrName>ppt_x</p:attrName>
                                        </p:attrNameLst>
                                      </p:cBhvr>
                                      <p:tavLst>
                                        <p:tav tm="0">
                                          <p:val>
                                            <p:strVal val="#ppt_x"/>
                                          </p:val>
                                        </p:tav>
                                        <p:tav tm="100000">
                                          <p:val>
                                            <p:strVal val="#ppt_x"/>
                                          </p:val>
                                        </p:tav>
                                      </p:tavLst>
                                    </p:anim>
                                    <p:anim calcmode="lin" valueType="num">
                                      <p:cBhvr additive="base">
                                        <p:cTn id="74" dur="500" fill="hold"/>
                                        <p:tgtEl>
                                          <p:spTgt spid="109619"/>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09615"/>
                                        </p:tgtEl>
                                        <p:attrNameLst>
                                          <p:attrName>style.visibility</p:attrName>
                                        </p:attrNameLst>
                                      </p:cBhvr>
                                      <p:to>
                                        <p:strVal val="visible"/>
                                      </p:to>
                                    </p:set>
                                    <p:anim calcmode="lin" valueType="num">
                                      <p:cBhvr additive="base">
                                        <p:cTn id="79" dur="500" fill="hold"/>
                                        <p:tgtEl>
                                          <p:spTgt spid="109615"/>
                                        </p:tgtEl>
                                        <p:attrNameLst>
                                          <p:attrName>ppt_x</p:attrName>
                                        </p:attrNameLst>
                                      </p:cBhvr>
                                      <p:tavLst>
                                        <p:tav tm="0">
                                          <p:val>
                                            <p:strVal val="#ppt_x"/>
                                          </p:val>
                                        </p:tav>
                                        <p:tav tm="100000">
                                          <p:val>
                                            <p:strVal val="#ppt_x"/>
                                          </p:val>
                                        </p:tav>
                                      </p:tavLst>
                                    </p:anim>
                                    <p:anim calcmode="lin" valueType="num">
                                      <p:cBhvr additive="base">
                                        <p:cTn id="80" dur="500" fill="hold"/>
                                        <p:tgtEl>
                                          <p:spTgt spid="109615"/>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09617"/>
                                        </p:tgtEl>
                                        <p:attrNameLst>
                                          <p:attrName>style.visibility</p:attrName>
                                        </p:attrNameLst>
                                      </p:cBhvr>
                                      <p:to>
                                        <p:strVal val="visible"/>
                                      </p:to>
                                    </p:set>
                                    <p:anim calcmode="lin" valueType="num">
                                      <p:cBhvr additive="base">
                                        <p:cTn id="85" dur="500" fill="hold"/>
                                        <p:tgtEl>
                                          <p:spTgt spid="109617"/>
                                        </p:tgtEl>
                                        <p:attrNameLst>
                                          <p:attrName>ppt_x</p:attrName>
                                        </p:attrNameLst>
                                      </p:cBhvr>
                                      <p:tavLst>
                                        <p:tav tm="0">
                                          <p:val>
                                            <p:strVal val="#ppt_x"/>
                                          </p:val>
                                        </p:tav>
                                        <p:tav tm="100000">
                                          <p:val>
                                            <p:strVal val="#ppt_x"/>
                                          </p:val>
                                        </p:tav>
                                      </p:tavLst>
                                    </p:anim>
                                    <p:anim calcmode="lin" valueType="num">
                                      <p:cBhvr additive="base">
                                        <p:cTn id="86" dur="500" fill="hold"/>
                                        <p:tgtEl>
                                          <p:spTgt spid="109617"/>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109632"/>
                                        </p:tgtEl>
                                        <p:attrNameLst>
                                          <p:attrName>style.visibility</p:attrName>
                                        </p:attrNameLst>
                                      </p:cBhvr>
                                      <p:to>
                                        <p:strVal val="visible"/>
                                      </p:to>
                                    </p:set>
                                    <p:anim calcmode="lin" valueType="num">
                                      <p:cBhvr additive="base">
                                        <p:cTn id="91" dur="500" fill="hold"/>
                                        <p:tgtEl>
                                          <p:spTgt spid="109632"/>
                                        </p:tgtEl>
                                        <p:attrNameLst>
                                          <p:attrName>ppt_x</p:attrName>
                                        </p:attrNameLst>
                                      </p:cBhvr>
                                      <p:tavLst>
                                        <p:tav tm="0">
                                          <p:val>
                                            <p:strVal val="#ppt_x"/>
                                          </p:val>
                                        </p:tav>
                                        <p:tav tm="100000">
                                          <p:val>
                                            <p:strVal val="#ppt_x"/>
                                          </p:val>
                                        </p:tav>
                                      </p:tavLst>
                                    </p:anim>
                                    <p:anim calcmode="lin" valueType="num">
                                      <p:cBhvr additive="base">
                                        <p:cTn id="92" dur="500" fill="hold"/>
                                        <p:tgtEl>
                                          <p:spTgt spid="109632"/>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109594"/>
                                        </p:tgtEl>
                                        <p:attrNameLst>
                                          <p:attrName>style.visibility</p:attrName>
                                        </p:attrNameLst>
                                      </p:cBhvr>
                                      <p:to>
                                        <p:strVal val="visible"/>
                                      </p:to>
                                    </p:set>
                                    <p:anim calcmode="lin" valueType="num">
                                      <p:cBhvr additive="base">
                                        <p:cTn id="97" dur="500" fill="hold"/>
                                        <p:tgtEl>
                                          <p:spTgt spid="109594"/>
                                        </p:tgtEl>
                                        <p:attrNameLst>
                                          <p:attrName>ppt_x</p:attrName>
                                        </p:attrNameLst>
                                      </p:cBhvr>
                                      <p:tavLst>
                                        <p:tav tm="0">
                                          <p:val>
                                            <p:strVal val="#ppt_x"/>
                                          </p:val>
                                        </p:tav>
                                        <p:tav tm="100000">
                                          <p:val>
                                            <p:strVal val="#ppt_x"/>
                                          </p:val>
                                        </p:tav>
                                      </p:tavLst>
                                    </p:anim>
                                    <p:anim calcmode="lin" valueType="num">
                                      <p:cBhvr additive="base">
                                        <p:cTn id="98" dur="500" fill="hold"/>
                                        <p:tgtEl>
                                          <p:spTgt spid="109594"/>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109620"/>
                                        </p:tgtEl>
                                        <p:attrNameLst>
                                          <p:attrName>style.visibility</p:attrName>
                                        </p:attrNameLst>
                                      </p:cBhvr>
                                      <p:to>
                                        <p:strVal val="visible"/>
                                      </p:to>
                                    </p:set>
                                    <p:anim calcmode="lin" valueType="num">
                                      <p:cBhvr additive="base">
                                        <p:cTn id="103" dur="500" fill="hold"/>
                                        <p:tgtEl>
                                          <p:spTgt spid="109620"/>
                                        </p:tgtEl>
                                        <p:attrNameLst>
                                          <p:attrName>ppt_x</p:attrName>
                                        </p:attrNameLst>
                                      </p:cBhvr>
                                      <p:tavLst>
                                        <p:tav tm="0">
                                          <p:val>
                                            <p:strVal val="#ppt_x"/>
                                          </p:val>
                                        </p:tav>
                                        <p:tav tm="100000">
                                          <p:val>
                                            <p:strVal val="#ppt_x"/>
                                          </p:val>
                                        </p:tav>
                                      </p:tavLst>
                                    </p:anim>
                                    <p:anim calcmode="lin" valueType="num">
                                      <p:cBhvr additive="base">
                                        <p:cTn id="104" dur="500" fill="hold"/>
                                        <p:tgtEl>
                                          <p:spTgt spid="109620"/>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109621"/>
                                        </p:tgtEl>
                                        <p:attrNameLst>
                                          <p:attrName>style.visibility</p:attrName>
                                        </p:attrNameLst>
                                      </p:cBhvr>
                                      <p:to>
                                        <p:strVal val="visible"/>
                                      </p:to>
                                    </p:set>
                                    <p:anim calcmode="lin" valueType="num">
                                      <p:cBhvr additive="base">
                                        <p:cTn id="109" dur="500" fill="hold"/>
                                        <p:tgtEl>
                                          <p:spTgt spid="109621"/>
                                        </p:tgtEl>
                                        <p:attrNameLst>
                                          <p:attrName>ppt_x</p:attrName>
                                        </p:attrNameLst>
                                      </p:cBhvr>
                                      <p:tavLst>
                                        <p:tav tm="0">
                                          <p:val>
                                            <p:strVal val="#ppt_x"/>
                                          </p:val>
                                        </p:tav>
                                        <p:tav tm="100000">
                                          <p:val>
                                            <p:strVal val="#ppt_x"/>
                                          </p:val>
                                        </p:tav>
                                      </p:tavLst>
                                    </p:anim>
                                    <p:anim calcmode="lin" valueType="num">
                                      <p:cBhvr additive="base">
                                        <p:cTn id="110" dur="500" fill="hold"/>
                                        <p:tgtEl>
                                          <p:spTgt spid="109621"/>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109622"/>
                                        </p:tgtEl>
                                        <p:attrNameLst>
                                          <p:attrName>style.visibility</p:attrName>
                                        </p:attrNameLst>
                                      </p:cBhvr>
                                      <p:to>
                                        <p:strVal val="visible"/>
                                      </p:to>
                                    </p:set>
                                    <p:anim calcmode="lin" valueType="num">
                                      <p:cBhvr additive="base">
                                        <p:cTn id="115" dur="500" fill="hold"/>
                                        <p:tgtEl>
                                          <p:spTgt spid="109622"/>
                                        </p:tgtEl>
                                        <p:attrNameLst>
                                          <p:attrName>ppt_x</p:attrName>
                                        </p:attrNameLst>
                                      </p:cBhvr>
                                      <p:tavLst>
                                        <p:tav tm="0">
                                          <p:val>
                                            <p:strVal val="#ppt_x"/>
                                          </p:val>
                                        </p:tav>
                                        <p:tav tm="100000">
                                          <p:val>
                                            <p:strVal val="#ppt_x"/>
                                          </p:val>
                                        </p:tav>
                                      </p:tavLst>
                                    </p:anim>
                                    <p:anim calcmode="lin" valueType="num">
                                      <p:cBhvr additive="base">
                                        <p:cTn id="116" dur="500" fill="hold"/>
                                        <p:tgtEl>
                                          <p:spTgt spid="109622"/>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109633"/>
                                        </p:tgtEl>
                                        <p:attrNameLst>
                                          <p:attrName>style.visibility</p:attrName>
                                        </p:attrNameLst>
                                      </p:cBhvr>
                                      <p:to>
                                        <p:strVal val="visible"/>
                                      </p:to>
                                    </p:set>
                                    <p:anim calcmode="lin" valueType="num">
                                      <p:cBhvr additive="base">
                                        <p:cTn id="121" dur="500" fill="hold"/>
                                        <p:tgtEl>
                                          <p:spTgt spid="109633"/>
                                        </p:tgtEl>
                                        <p:attrNameLst>
                                          <p:attrName>ppt_x</p:attrName>
                                        </p:attrNameLst>
                                      </p:cBhvr>
                                      <p:tavLst>
                                        <p:tav tm="0">
                                          <p:val>
                                            <p:strVal val="#ppt_x"/>
                                          </p:val>
                                        </p:tav>
                                        <p:tav tm="100000">
                                          <p:val>
                                            <p:strVal val="#ppt_x"/>
                                          </p:val>
                                        </p:tav>
                                      </p:tavLst>
                                    </p:anim>
                                    <p:anim calcmode="lin" valueType="num">
                                      <p:cBhvr additive="base">
                                        <p:cTn id="122" dur="500" fill="hold"/>
                                        <p:tgtEl>
                                          <p:spTgt spid="109633"/>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109623"/>
                                        </p:tgtEl>
                                        <p:attrNameLst>
                                          <p:attrName>style.visibility</p:attrName>
                                        </p:attrNameLst>
                                      </p:cBhvr>
                                      <p:to>
                                        <p:strVal val="visible"/>
                                      </p:to>
                                    </p:set>
                                    <p:anim calcmode="lin" valueType="num">
                                      <p:cBhvr additive="base">
                                        <p:cTn id="127" dur="500" fill="hold"/>
                                        <p:tgtEl>
                                          <p:spTgt spid="109623"/>
                                        </p:tgtEl>
                                        <p:attrNameLst>
                                          <p:attrName>ppt_x</p:attrName>
                                        </p:attrNameLst>
                                      </p:cBhvr>
                                      <p:tavLst>
                                        <p:tav tm="0">
                                          <p:val>
                                            <p:strVal val="#ppt_x"/>
                                          </p:val>
                                        </p:tav>
                                        <p:tav tm="100000">
                                          <p:val>
                                            <p:strVal val="#ppt_x"/>
                                          </p:val>
                                        </p:tav>
                                      </p:tavLst>
                                    </p:anim>
                                    <p:anim calcmode="lin" valueType="num">
                                      <p:cBhvr additive="base">
                                        <p:cTn id="128" dur="500" fill="hold"/>
                                        <p:tgtEl>
                                          <p:spTgt spid="109623"/>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109635"/>
                                        </p:tgtEl>
                                        <p:attrNameLst>
                                          <p:attrName>style.visibility</p:attrName>
                                        </p:attrNameLst>
                                      </p:cBhvr>
                                      <p:to>
                                        <p:strVal val="visible"/>
                                      </p:to>
                                    </p:set>
                                    <p:anim calcmode="lin" valueType="num">
                                      <p:cBhvr additive="base">
                                        <p:cTn id="133" dur="500" fill="hold"/>
                                        <p:tgtEl>
                                          <p:spTgt spid="109635"/>
                                        </p:tgtEl>
                                        <p:attrNameLst>
                                          <p:attrName>ppt_x</p:attrName>
                                        </p:attrNameLst>
                                      </p:cBhvr>
                                      <p:tavLst>
                                        <p:tav tm="0">
                                          <p:val>
                                            <p:strVal val="#ppt_x"/>
                                          </p:val>
                                        </p:tav>
                                        <p:tav tm="100000">
                                          <p:val>
                                            <p:strVal val="#ppt_x"/>
                                          </p:val>
                                        </p:tav>
                                      </p:tavLst>
                                    </p:anim>
                                    <p:anim calcmode="lin" valueType="num">
                                      <p:cBhvr additive="base">
                                        <p:cTn id="134" dur="500" fill="hold"/>
                                        <p:tgtEl>
                                          <p:spTgt spid="109635"/>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109634"/>
                                        </p:tgtEl>
                                        <p:attrNameLst>
                                          <p:attrName>style.visibility</p:attrName>
                                        </p:attrNameLst>
                                      </p:cBhvr>
                                      <p:to>
                                        <p:strVal val="visible"/>
                                      </p:to>
                                    </p:set>
                                    <p:anim calcmode="lin" valueType="num">
                                      <p:cBhvr additive="base">
                                        <p:cTn id="139" dur="500" fill="hold"/>
                                        <p:tgtEl>
                                          <p:spTgt spid="109634"/>
                                        </p:tgtEl>
                                        <p:attrNameLst>
                                          <p:attrName>ppt_x</p:attrName>
                                        </p:attrNameLst>
                                      </p:cBhvr>
                                      <p:tavLst>
                                        <p:tav tm="0">
                                          <p:val>
                                            <p:strVal val="#ppt_x"/>
                                          </p:val>
                                        </p:tav>
                                        <p:tav tm="100000">
                                          <p:val>
                                            <p:strVal val="#ppt_x"/>
                                          </p:val>
                                        </p:tav>
                                      </p:tavLst>
                                    </p:anim>
                                    <p:anim calcmode="lin" valueType="num">
                                      <p:cBhvr additive="base">
                                        <p:cTn id="140" dur="500" fill="hold"/>
                                        <p:tgtEl>
                                          <p:spTgt spid="109634"/>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grpId="0" nodeType="clickEffect">
                                  <p:stCondLst>
                                    <p:cond delay="0"/>
                                  </p:stCondLst>
                                  <p:childTnLst>
                                    <p:set>
                                      <p:cBhvr>
                                        <p:cTn id="144" dur="1" fill="hold">
                                          <p:stCondLst>
                                            <p:cond delay="0"/>
                                          </p:stCondLst>
                                        </p:cTn>
                                        <p:tgtEl>
                                          <p:spTgt spid="109624"/>
                                        </p:tgtEl>
                                        <p:attrNameLst>
                                          <p:attrName>style.visibility</p:attrName>
                                        </p:attrNameLst>
                                      </p:cBhvr>
                                      <p:to>
                                        <p:strVal val="visible"/>
                                      </p:to>
                                    </p:set>
                                    <p:anim calcmode="lin" valueType="num">
                                      <p:cBhvr additive="base">
                                        <p:cTn id="145" dur="500" fill="hold"/>
                                        <p:tgtEl>
                                          <p:spTgt spid="109624"/>
                                        </p:tgtEl>
                                        <p:attrNameLst>
                                          <p:attrName>ppt_x</p:attrName>
                                        </p:attrNameLst>
                                      </p:cBhvr>
                                      <p:tavLst>
                                        <p:tav tm="0">
                                          <p:val>
                                            <p:strVal val="#ppt_x"/>
                                          </p:val>
                                        </p:tav>
                                        <p:tav tm="100000">
                                          <p:val>
                                            <p:strVal val="#ppt_x"/>
                                          </p:val>
                                        </p:tav>
                                      </p:tavLst>
                                    </p:anim>
                                    <p:anim calcmode="lin" valueType="num">
                                      <p:cBhvr additive="base">
                                        <p:cTn id="146" dur="500" fill="hold"/>
                                        <p:tgtEl>
                                          <p:spTgt spid="109624"/>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grpId="0" nodeType="clickEffect">
                                  <p:stCondLst>
                                    <p:cond delay="0"/>
                                  </p:stCondLst>
                                  <p:childTnLst>
                                    <p:set>
                                      <p:cBhvr>
                                        <p:cTn id="150" dur="1" fill="hold">
                                          <p:stCondLst>
                                            <p:cond delay="0"/>
                                          </p:stCondLst>
                                        </p:cTn>
                                        <p:tgtEl>
                                          <p:spTgt spid="109625"/>
                                        </p:tgtEl>
                                        <p:attrNameLst>
                                          <p:attrName>style.visibility</p:attrName>
                                        </p:attrNameLst>
                                      </p:cBhvr>
                                      <p:to>
                                        <p:strVal val="visible"/>
                                      </p:to>
                                    </p:set>
                                    <p:anim calcmode="lin" valueType="num">
                                      <p:cBhvr additive="base">
                                        <p:cTn id="151" dur="500" fill="hold"/>
                                        <p:tgtEl>
                                          <p:spTgt spid="109625"/>
                                        </p:tgtEl>
                                        <p:attrNameLst>
                                          <p:attrName>ppt_x</p:attrName>
                                        </p:attrNameLst>
                                      </p:cBhvr>
                                      <p:tavLst>
                                        <p:tav tm="0">
                                          <p:val>
                                            <p:strVal val="#ppt_x"/>
                                          </p:val>
                                        </p:tav>
                                        <p:tav tm="100000">
                                          <p:val>
                                            <p:strVal val="#ppt_x"/>
                                          </p:val>
                                        </p:tav>
                                      </p:tavLst>
                                    </p:anim>
                                    <p:anim calcmode="lin" valueType="num">
                                      <p:cBhvr additive="base">
                                        <p:cTn id="152" dur="500" fill="hold"/>
                                        <p:tgtEl>
                                          <p:spTgt spid="109625"/>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grpId="0" nodeType="clickEffect">
                                  <p:stCondLst>
                                    <p:cond delay="0"/>
                                  </p:stCondLst>
                                  <p:childTnLst>
                                    <p:set>
                                      <p:cBhvr>
                                        <p:cTn id="156" dur="1" fill="hold">
                                          <p:stCondLst>
                                            <p:cond delay="0"/>
                                          </p:stCondLst>
                                        </p:cTn>
                                        <p:tgtEl>
                                          <p:spTgt spid="109626"/>
                                        </p:tgtEl>
                                        <p:attrNameLst>
                                          <p:attrName>style.visibility</p:attrName>
                                        </p:attrNameLst>
                                      </p:cBhvr>
                                      <p:to>
                                        <p:strVal val="visible"/>
                                      </p:to>
                                    </p:set>
                                    <p:anim calcmode="lin" valueType="num">
                                      <p:cBhvr additive="base">
                                        <p:cTn id="157" dur="500" fill="hold"/>
                                        <p:tgtEl>
                                          <p:spTgt spid="109626"/>
                                        </p:tgtEl>
                                        <p:attrNameLst>
                                          <p:attrName>ppt_x</p:attrName>
                                        </p:attrNameLst>
                                      </p:cBhvr>
                                      <p:tavLst>
                                        <p:tav tm="0">
                                          <p:val>
                                            <p:strVal val="#ppt_x"/>
                                          </p:val>
                                        </p:tav>
                                        <p:tav tm="100000">
                                          <p:val>
                                            <p:strVal val="#ppt_x"/>
                                          </p:val>
                                        </p:tav>
                                      </p:tavLst>
                                    </p:anim>
                                    <p:anim calcmode="lin" valueType="num">
                                      <p:cBhvr additive="base">
                                        <p:cTn id="158" dur="500" fill="hold"/>
                                        <p:tgtEl>
                                          <p:spTgt spid="109626"/>
                                        </p:tgtEl>
                                        <p:attrNameLst>
                                          <p:attrName>ppt_y</p:attrName>
                                        </p:attrNameLst>
                                      </p:cBhvr>
                                      <p:tavLst>
                                        <p:tav tm="0">
                                          <p:val>
                                            <p:strVal val="1+#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4" fill="hold" grpId="0" nodeType="clickEffect">
                                  <p:stCondLst>
                                    <p:cond delay="0"/>
                                  </p:stCondLst>
                                  <p:childTnLst>
                                    <p:set>
                                      <p:cBhvr>
                                        <p:cTn id="162" dur="1" fill="hold">
                                          <p:stCondLst>
                                            <p:cond delay="0"/>
                                          </p:stCondLst>
                                        </p:cTn>
                                        <p:tgtEl>
                                          <p:spTgt spid="109636"/>
                                        </p:tgtEl>
                                        <p:attrNameLst>
                                          <p:attrName>style.visibility</p:attrName>
                                        </p:attrNameLst>
                                      </p:cBhvr>
                                      <p:to>
                                        <p:strVal val="visible"/>
                                      </p:to>
                                    </p:set>
                                    <p:anim calcmode="lin" valueType="num">
                                      <p:cBhvr additive="base">
                                        <p:cTn id="163" dur="500" fill="hold"/>
                                        <p:tgtEl>
                                          <p:spTgt spid="109636"/>
                                        </p:tgtEl>
                                        <p:attrNameLst>
                                          <p:attrName>ppt_x</p:attrName>
                                        </p:attrNameLst>
                                      </p:cBhvr>
                                      <p:tavLst>
                                        <p:tav tm="0">
                                          <p:val>
                                            <p:strVal val="#ppt_x"/>
                                          </p:val>
                                        </p:tav>
                                        <p:tav tm="100000">
                                          <p:val>
                                            <p:strVal val="#ppt_x"/>
                                          </p:val>
                                        </p:tav>
                                      </p:tavLst>
                                    </p:anim>
                                    <p:anim calcmode="lin" valueType="num">
                                      <p:cBhvr additive="base">
                                        <p:cTn id="164" dur="500" fill="hold"/>
                                        <p:tgtEl>
                                          <p:spTgt spid="109636"/>
                                        </p:tgtEl>
                                        <p:attrNameLst>
                                          <p:attrName>ppt_y</p:attrName>
                                        </p:attrNameLst>
                                      </p:cBhvr>
                                      <p:tavLst>
                                        <p:tav tm="0">
                                          <p:val>
                                            <p:strVal val="1+#ppt_h/2"/>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4" fill="hold" grpId="0" nodeType="clickEffect">
                                  <p:stCondLst>
                                    <p:cond delay="0"/>
                                  </p:stCondLst>
                                  <p:childTnLst>
                                    <p:set>
                                      <p:cBhvr>
                                        <p:cTn id="168" dur="1" fill="hold">
                                          <p:stCondLst>
                                            <p:cond delay="0"/>
                                          </p:stCondLst>
                                        </p:cTn>
                                        <p:tgtEl>
                                          <p:spTgt spid="109637"/>
                                        </p:tgtEl>
                                        <p:attrNameLst>
                                          <p:attrName>style.visibility</p:attrName>
                                        </p:attrNameLst>
                                      </p:cBhvr>
                                      <p:to>
                                        <p:strVal val="visible"/>
                                      </p:to>
                                    </p:set>
                                    <p:anim calcmode="lin" valueType="num">
                                      <p:cBhvr additive="base">
                                        <p:cTn id="169" dur="500" fill="hold"/>
                                        <p:tgtEl>
                                          <p:spTgt spid="109637"/>
                                        </p:tgtEl>
                                        <p:attrNameLst>
                                          <p:attrName>ppt_x</p:attrName>
                                        </p:attrNameLst>
                                      </p:cBhvr>
                                      <p:tavLst>
                                        <p:tav tm="0">
                                          <p:val>
                                            <p:strVal val="#ppt_x"/>
                                          </p:val>
                                        </p:tav>
                                        <p:tav tm="100000">
                                          <p:val>
                                            <p:strVal val="#ppt_x"/>
                                          </p:val>
                                        </p:tav>
                                      </p:tavLst>
                                    </p:anim>
                                    <p:anim calcmode="lin" valueType="num">
                                      <p:cBhvr additive="base">
                                        <p:cTn id="170" dur="500" fill="hold"/>
                                        <p:tgtEl>
                                          <p:spTgt spid="1096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90" grpId="0" animBg="1"/>
      <p:bldP spid="109591" grpId="0" animBg="1"/>
      <p:bldP spid="109592" grpId="0" animBg="1"/>
      <p:bldP spid="109594" grpId="0" animBg="1"/>
      <p:bldP spid="109595" grpId="0" animBg="1"/>
      <p:bldP spid="109614" grpId="0"/>
      <p:bldP spid="109615" grpId="0"/>
      <p:bldP spid="109616" grpId="0"/>
      <p:bldP spid="109617" grpId="0" animBg="1"/>
      <p:bldP spid="109618" grpId="0"/>
      <p:bldP spid="109619" grpId="0" animBg="1"/>
      <p:bldP spid="109620" grpId="0" animBg="1"/>
      <p:bldP spid="109621" grpId="0"/>
      <p:bldP spid="109622" grpId="0" animBg="1"/>
      <p:bldP spid="109623" grpId="0"/>
      <p:bldP spid="109624" grpId="0" animBg="1"/>
      <p:bldP spid="109625" grpId="0" animBg="1"/>
      <p:bldP spid="109626" grpId="0" animBg="1"/>
      <p:bldP spid="109628" grpId="0" animBg="1"/>
      <p:bldP spid="109629" grpId="0" animBg="1"/>
      <p:bldP spid="109630" grpId="0" animBg="1"/>
      <p:bldP spid="109631" grpId="0" animBg="1"/>
      <p:bldP spid="109632" grpId="0" animBg="1"/>
      <p:bldP spid="109633" grpId="0" animBg="1"/>
      <p:bldP spid="109634" grpId="0" animBg="1"/>
      <p:bldP spid="109635" grpId="0" animBg="1"/>
      <p:bldP spid="109636" grpId="0" animBg="1"/>
      <p:bldP spid="10963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ctrTitle"/>
          </p:nvPr>
        </p:nvSpPr>
        <p:spPr/>
        <p:txBody>
          <a:bodyPr/>
          <a:lstStyle/>
          <a:p>
            <a:pPr algn="r"/>
            <a:r>
              <a:rPr lang="zh-CN" altLang="en-US"/>
              <a:t>布线问题</a:t>
            </a:r>
            <a:endParaRPr lang="zh-CN" altLang="en-US"/>
          </a:p>
        </p:txBody>
      </p:sp>
      <p:sp>
        <p:nvSpPr>
          <p:cNvPr id="23555" name="Rectangle 3"/>
          <p:cNvSpPr>
            <a:spLocks noGrp="1" noChangeArrowheads="1"/>
          </p:cNvSpPr>
          <p:nvPr>
            <p:ph type="subTitle" idx="1"/>
          </p:nvPr>
        </p:nvSpPr>
        <p:spPr/>
        <p:txBody>
          <a:bodyPr/>
          <a:lstStyle/>
          <a:p>
            <a:endParaRPr lang="zh-CN" altLang="zh-CN"/>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sz="3000"/>
              <a:t>6.4 </a:t>
            </a:r>
            <a:r>
              <a:rPr lang="zh-CN" altLang="en-US" sz="3000"/>
              <a:t>布线问题</a:t>
            </a:r>
            <a:endParaRPr lang="zh-CN" altLang="en-US" sz="3000"/>
          </a:p>
        </p:txBody>
      </p:sp>
      <p:sp>
        <p:nvSpPr>
          <p:cNvPr id="24579" name="Text Box 3"/>
          <p:cNvSpPr txBox="1">
            <a:spLocks noChangeArrowheads="1"/>
          </p:cNvSpPr>
          <p:nvPr/>
        </p:nvSpPr>
        <p:spPr bwMode="auto">
          <a:xfrm>
            <a:off x="304800" y="1628775"/>
            <a:ext cx="5791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a:solidFill>
                  <a:schemeClr val="accent2"/>
                </a:solidFill>
                <a:latin typeface="Times New Roman" panose="02020603050405020304" pitchFamily="18" charset="0"/>
                <a:ea typeface="黑体" panose="02010609060101010101" pitchFamily="2" charset="-122"/>
              </a:rPr>
              <a:t>1. </a:t>
            </a:r>
            <a:r>
              <a:rPr kumimoji="1" lang="zh-CN" altLang="en-US" sz="3200">
                <a:solidFill>
                  <a:schemeClr val="accent2"/>
                </a:solidFill>
                <a:latin typeface="Times New Roman" panose="02020603050405020304" pitchFamily="18" charset="0"/>
                <a:ea typeface="黑体" panose="02010609060101010101" pitchFamily="2" charset="-122"/>
              </a:rPr>
              <a:t>算法思想</a:t>
            </a:r>
            <a:endParaRPr lang="zh-CN" altLang="en-US">
              <a:solidFill>
                <a:schemeClr val="accent2"/>
              </a:solidFill>
              <a:ea typeface="华文行楷" panose="02010800040101010101" pitchFamily="2" charset="-122"/>
            </a:endParaRPr>
          </a:p>
        </p:txBody>
      </p:sp>
      <p:sp>
        <p:nvSpPr>
          <p:cNvPr id="24580" name="Text Box 4"/>
          <p:cNvSpPr txBox="1">
            <a:spLocks noChangeArrowheads="1"/>
          </p:cNvSpPr>
          <p:nvPr/>
        </p:nvSpPr>
        <p:spPr bwMode="auto">
          <a:xfrm>
            <a:off x="762000" y="2543175"/>
            <a:ext cx="76263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just"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解此问题的队列式分支限界法从起始位置</a:t>
            </a:r>
            <a:r>
              <a:rPr lang="en-US" altLang="zh-CN" sz="2400" b="1">
                <a:latin typeface="新宋体" panose="02010609030101010101" charset="-122"/>
                <a:ea typeface="新宋体" panose="02010609030101010101" charset="-122"/>
              </a:rPr>
              <a:t>a</a:t>
            </a:r>
            <a:r>
              <a:rPr lang="zh-CN" altLang="en-US" sz="2400" b="1">
                <a:latin typeface="新宋体" panose="02010609030101010101" charset="-122"/>
                <a:ea typeface="新宋体" panose="02010609030101010101" charset="-122"/>
              </a:rPr>
              <a:t>开始将它作为第一个扩展结点。与该扩展结点相邻并且可达的方格成为可行结点被加入到活结点队列中，并且将这些方格标记为</a:t>
            </a:r>
            <a:r>
              <a:rPr lang="en-US" altLang="zh-CN" sz="2400" b="1">
                <a:latin typeface="新宋体" panose="02010609030101010101" charset="-122"/>
                <a:ea typeface="新宋体" panose="02010609030101010101" charset="-122"/>
              </a:rPr>
              <a:t>1</a:t>
            </a:r>
            <a:r>
              <a:rPr lang="zh-CN" altLang="en-US" sz="2400" b="1">
                <a:latin typeface="新宋体" panose="02010609030101010101" charset="-122"/>
                <a:ea typeface="新宋体" panose="02010609030101010101" charset="-122"/>
              </a:rPr>
              <a:t>，即从起始方格</a:t>
            </a:r>
            <a:r>
              <a:rPr lang="en-US" altLang="zh-CN" sz="2400" b="1">
                <a:latin typeface="新宋体" panose="02010609030101010101" charset="-122"/>
                <a:ea typeface="新宋体" panose="02010609030101010101" charset="-122"/>
              </a:rPr>
              <a:t>a</a:t>
            </a:r>
            <a:r>
              <a:rPr lang="zh-CN" altLang="en-US" sz="2400" b="1">
                <a:latin typeface="新宋体" panose="02010609030101010101" charset="-122"/>
                <a:ea typeface="新宋体" panose="02010609030101010101" charset="-122"/>
              </a:rPr>
              <a:t>到这些方格的距离为</a:t>
            </a:r>
            <a:r>
              <a:rPr lang="en-US" altLang="zh-CN" sz="2400" b="1">
                <a:latin typeface="新宋体" panose="02010609030101010101" charset="-122"/>
                <a:ea typeface="新宋体" panose="02010609030101010101" charset="-122"/>
              </a:rPr>
              <a:t>1</a:t>
            </a:r>
            <a:r>
              <a:rPr lang="zh-CN" altLang="en-US" sz="2400" b="1">
                <a:latin typeface="新宋体" panose="02010609030101010101" charset="-122"/>
                <a:ea typeface="新宋体" panose="02010609030101010101" charset="-122"/>
              </a:rPr>
              <a:t>。</a:t>
            </a:r>
            <a:endParaRPr lang="zh-CN" altLang="en-US" sz="2400" b="1">
              <a:latin typeface="新宋体" panose="02010609030101010101" charset="-122"/>
              <a:ea typeface="新宋体" panose="02010609030101010101" charset="-122"/>
            </a:endParaRPr>
          </a:p>
        </p:txBody>
      </p:sp>
      <p:sp>
        <p:nvSpPr>
          <p:cNvPr id="24581" name="Text Box 5"/>
          <p:cNvSpPr txBox="1">
            <a:spLocks noChangeArrowheads="1"/>
          </p:cNvSpPr>
          <p:nvPr/>
        </p:nvSpPr>
        <p:spPr bwMode="auto">
          <a:xfrm>
            <a:off x="762000" y="4251325"/>
            <a:ext cx="762635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just"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接着，算法从活结点队列中取出队首结点作为下一个扩展结点，并将与当前扩展结点相邻且未标记过的方格标记为</a:t>
            </a:r>
            <a:r>
              <a:rPr lang="en-US" altLang="zh-CN" sz="2400" b="1">
                <a:latin typeface="新宋体" panose="02010609030101010101" charset="-122"/>
                <a:ea typeface="新宋体" panose="02010609030101010101" charset="-122"/>
              </a:rPr>
              <a:t>2</a:t>
            </a:r>
            <a:r>
              <a:rPr lang="zh-CN" altLang="en-US" sz="2400" b="1">
                <a:latin typeface="新宋体" panose="02010609030101010101" charset="-122"/>
                <a:ea typeface="新宋体" panose="02010609030101010101" charset="-122"/>
              </a:rPr>
              <a:t>，并存入活结点队列。这个过程一直继续到算法搜索到目标方格</a:t>
            </a:r>
            <a:r>
              <a:rPr lang="en-US" altLang="zh-CN" sz="2400" b="1">
                <a:latin typeface="新宋体" panose="02010609030101010101" charset="-122"/>
                <a:ea typeface="新宋体" panose="02010609030101010101" charset="-122"/>
              </a:rPr>
              <a:t>b</a:t>
            </a:r>
            <a:r>
              <a:rPr lang="zh-CN" altLang="en-US" sz="2400" b="1">
                <a:latin typeface="新宋体" panose="02010609030101010101" charset="-122"/>
                <a:ea typeface="新宋体" panose="02010609030101010101" charset="-122"/>
              </a:rPr>
              <a:t>或活结点队列为空时为止。即加入剪枝的广度优先搜索。</a:t>
            </a:r>
            <a:endParaRPr lang="zh-CN" altLang="en-US" sz="2400" b="1">
              <a:solidFill>
                <a:schemeClr val="accent2"/>
              </a:solidFill>
              <a:ea typeface="华文行楷" panose="02010800040101010101" pitchFamily="2" charset="-122"/>
            </a:endParaRP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4579"/>
                                        </p:tgtEl>
                                        <p:attrNameLst>
                                          <p:attrName>style.visibility</p:attrName>
                                        </p:attrNameLst>
                                      </p:cBhvr>
                                      <p:to>
                                        <p:strVal val="visible"/>
                                      </p:to>
                                    </p:set>
                                    <p:anim calcmode="lin" valueType="num">
                                      <p:cBhvr additive="base">
                                        <p:cTn id="7" dur="500" fill="hold"/>
                                        <p:tgtEl>
                                          <p:spTgt spid="24579"/>
                                        </p:tgtEl>
                                        <p:attrNameLst>
                                          <p:attrName>ppt_x</p:attrName>
                                        </p:attrNameLst>
                                      </p:cBhvr>
                                      <p:tavLst>
                                        <p:tav tm="0">
                                          <p:val>
                                            <p:strVal val="1+#ppt_w/2"/>
                                          </p:val>
                                        </p:tav>
                                        <p:tav tm="100000">
                                          <p:val>
                                            <p:strVal val="#ppt_x"/>
                                          </p:val>
                                        </p:tav>
                                      </p:tavLst>
                                    </p:anim>
                                    <p:anim calcmode="lin" valueType="num">
                                      <p:cBhvr additive="base">
                                        <p:cTn id="8" dur="500" fill="hold"/>
                                        <p:tgtEl>
                                          <p:spTgt spid="245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24580"/>
                                        </p:tgtEl>
                                        <p:attrNameLst>
                                          <p:attrName>style.visibility</p:attrName>
                                        </p:attrNameLst>
                                      </p:cBhvr>
                                      <p:to>
                                        <p:strVal val="visible"/>
                                      </p:to>
                                    </p:set>
                                    <p:anim calcmode="lin" valueType="num">
                                      <p:cBhvr>
                                        <p:cTn id="13" dur="500" fill="hold"/>
                                        <p:tgtEl>
                                          <p:spTgt spid="24580"/>
                                        </p:tgtEl>
                                        <p:attrNameLst>
                                          <p:attrName>ppt_w</p:attrName>
                                        </p:attrNameLst>
                                      </p:cBhvr>
                                      <p:tavLst>
                                        <p:tav tm="0">
                                          <p:val>
                                            <p:fltVal val="0"/>
                                          </p:val>
                                        </p:tav>
                                        <p:tav tm="100000">
                                          <p:val>
                                            <p:strVal val="#ppt_w"/>
                                          </p:val>
                                        </p:tav>
                                      </p:tavLst>
                                    </p:anim>
                                    <p:anim calcmode="lin" valueType="num">
                                      <p:cBhvr>
                                        <p:cTn id="14" dur="500" fill="hold"/>
                                        <p:tgtEl>
                                          <p:spTgt spid="24580"/>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24581"/>
                                        </p:tgtEl>
                                        <p:attrNameLst>
                                          <p:attrName>style.visibility</p:attrName>
                                        </p:attrNameLst>
                                      </p:cBhvr>
                                      <p:to>
                                        <p:strVal val="visible"/>
                                      </p:to>
                                    </p:set>
                                    <p:anim calcmode="lin" valueType="num">
                                      <p:cBhvr>
                                        <p:cTn id="19" dur="500" fill="hold"/>
                                        <p:tgtEl>
                                          <p:spTgt spid="24581"/>
                                        </p:tgtEl>
                                        <p:attrNameLst>
                                          <p:attrName>ppt_w</p:attrName>
                                        </p:attrNameLst>
                                      </p:cBhvr>
                                      <p:tavLst>
                                        <p:tav tm="0">
                                          <p:val>
                                            <p:fltVal val="0"/>
                                          </p:val>
                                        </p:tav>
                                        <p:tav tm="100000">
                                          <p:val>
                                            <p:strVal val="#ppt_w"/>
                                          </p:val>
                                        </p:tav>
                                      </p:tavLst>
                                    </p:anim>
                                    <p:anim calcmode="lin" valueType="num">
                                      <p:cBhvr>
                                        <p:cTn id="20" dur="500" fill="hold"/>
                                        <p:tgtEl>
                                          <p:spTgt spid="2458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autoUpdateAnimBg="0"/>
      <p:bldP spid="24580" grpId="0" autoUpdateAnimBg="0"/>
      <p:bldP spid="24581"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type="body" idx="1"/>
          </p:nvPr>
        </p:nvSpPr>
        <p:spPr>
          <a:xfrm>
            <a:off x="684213" y="1773238"/>
            <a:ext cx="7920037" cy="4465637"/>
          </a:xfrm>
        </p:spPr>
        <p:txBody>
          <a:bodyPr/>
          <a:lstStyle/>
          <a:p>
            <a:r>
              <a:rPr lang="zh-CN" altLang="en-US"/>
              <a:t>印刷电路板将布线区域划分为</a:t>
            </a:r>
            <a:r>
              <a:rPr lang="en-US" altLang="zh-CN"/>
              <a:t>n×m</a:t>
            </a:r>
            <a:r>
              <a:rPr lang="zh-CN" altLang="en-US"/>
              <a:t>个方格阵列</a:t>
            </a:r>
            <a:endParaRPr lang="zh-CN" altLang="en-US"/>
          </a:p>
          <a:p>
            <a:r>
              <a:rPr lang="zh-CN" altLang="en-US"/>
              <a:t>精确的电路板布线问题要求确定连接方格</a:t>
            </a:r>
            <a:r>
              <a:rPr lang="en-US" altLang="zh-CN"/>
              <a:t>a</a:t>
            </a:r>
            <a:r>
              <a:rPr lang="zh-CN" altLang="en-US"/>
              <a:t>的中点到方格</a:t>
            </a:r>
            <a:r>
              <a:rPr lang="en-US" altLang="zh-CN"/>
              <a:t>b</a:t>
            </a:r>
            <a:r>
              <a:rPr lang="zh-CN" altLang="en-US"/>
              <a:t>的中点的最短布线方案。</a:t>
            </a:r>
            <a:endParaRPr lang="zh-CN" altLang="en-US"/>
          </a:p>
          <a:p>
            <a:r>
              <a:rPr lang="zh-CN" altLang="en-US"/>
              <a:t>布线时电路只能沿直线或直角布线。</a:t>
            </a:r>
            <a:endParaRPr lang="zh-CN" altLang="en-US"/>
          </a:p>
          <a:p>
            <a:r>
              <a:rPr lang="zh-CN" altLang="en-US"/>
              <a:t>为避免线路相交，已布线方格做上封闭标记，其他线路布线不允许穿过封闭区域。</a:t>
            </a:r>
            <a:endParaRPr lang="zh-CN" altLang="en-US"/>
          </a:p>
          <a:p>
            <a:endParaRPr lang="en-US" altLang="zh-CN"/>
          </a:p>
        </p:txBody>
      </p:sp>
      <p:sp>
        <p:nvSpPr>
          <p:cNvPr id="43013" name="Rectangle 5"/>
          <p:cNvSpPr>
            <a:spLocks noGrp="1" noChangeArrowheads="1"/>
          </p:cNvSpPr>
          <p:nvPr>
            <p:ph type="title"/>
          </p:nvPr>
        </p:nvSpPr>
        <p:spPr>
          <a:noFill/>
        </p:spPr>
        <p:txBody>
          <a:bodyPr/>
          <a:lstStyle/>
          <a:p>
            <a:r>
              <a:rPr lang="en-US" altLang="zh-CN" sz="3000"/>
              <a:t>6.4 </a:t>
            </a:r>
            <a:r>
              <a:rPr lang="zh-CN" altLang="en-US" sz="3000"/>
              <a:t>布线问题</a:t>
            </a:r>
            <a:endParaRPr lang="zh-CN" altLang="en-US" sz="3000"/>
          </a:p>
        </p:txBody>
      </p:sp>
    </p:spTree>
  </p:cSld>
  <p:clrMapOvr>
    <a:masterClrMapping/>
  </p:clrMapOvr>
  <p:transition>
    <p:blinds/>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4034" name="Group 2"/>
          <p:cNvGraphicFramePr>
            <a:graphicFrameLocks noGrp="1"/>
          </p:cNvGraphicFramePr>
          <p:nvPr>
            <p:ph type="title"/>
          </p:nvPr>
        </p:nvGraphicFramePr>
        <p:xfrm>
          <a:off x="1476375" y="188913"/>
          <a:ext cx="6080125" cy="5545138"/>
        </p:xfrm>
        <a:graphic>
          <a:graphicData uri="http://schemas.openxmlformats.org/drawingml/2006/table">
            <a:tbl>
              <a:tblPr/>
              <a:tblGrid>
                <a:gridCol w="677863"/>
                <a:gridCol w="673100"/>
                <a:gridCol w="676275"/>
                <a:gridCol w="674687"/>
                <a:gridCol w="676275"/>
                <a:gridCol w="674688"/>
                <a:gridCol w="676275"/>
                <a:gridCol w="673100"/>
                <a:gridCol w="677862"/>
              </a:tblGrid>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a</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7538">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b</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spTree>
  </p:cSld>
  <p:clrMapOvr>
    <a:masterClrMapping/>
  </p:clrMapOvr>
  <p:transition>
    <p:blinds/>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058" name="Group 2"/>
          <p:cNvGraphicFramePr>
            <a:graphicFrameLocks noGrp="1"/>
          </p:cNvGraphicFramePr>
          <p:nvPr>
            <p:ph type="title"/>
          </p:nvPr>
        </p:nvGraphicFramePr>
        <p:xfrm>
          <a:off x="1476375" y="188913"/>
          <a:ext cx="6080125" cy="5545138"/>
        </p:xfrm>
        <a:graphic>
          <a:graphicData uri="http://schemas.openxmlformats.org/drawingml/2006/table">
            <a:tbl>
              <a:tblPr/>
              <a:tblGrid>
                <a:gridCol w="677863"/>
                <a:gridCol w="673100"/>
                <a:gridCol w="676275"/>
                <a:gridCol w="674687"/>
                <a:gridCol w="676275"/>
                <a:gridCol w="674688"/>
                <a:gridCol w="676275"/>
                <a:gridCol w="673100"/>
                <a:gridCol w="677862"/>
              </a:tblGrid>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a</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7538">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b</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spTree>
  </p:cSld>
  <p:clrMapOvr>
    <a:masterClrMapping/>
  </p:clrMapOvr>
  <p:transition>
    <p:blinds/>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082" name="Group 2"/>
          <p:cNvGraphicFramePr>
            <a:graphicFrameLocks noGrp="1"/>
          </p:cNvGraphicFramePr>
          <p:nvPr>
            <p:ph type="title"/>
          </p:nvPr>
        </p:nvGraphicFramePr>
        <p:xfrm>
          <a:off x="1476375" y="188913"/>
          <a:ext cx="6080125" cy="5545138"/>
        </p:xfrm>
        <a:graphic>
          <a:graphicData uri="http://schemas.openxmlformats.org/drawingml/2006/table">
            <a:tbl>
              <a:tblPr/>
              <a:tblGrid>
                <a:gridCol w="677863"/>
                <a:gridCol w="673100"/>
                <a:gridCol w="676275"/>
                <a:gridCol w="674687"/>
                <a:gridCol w="676275"/>
                <a:gridCol w="674688"/>
                <a:gridCol w="676275"/>
                <a:gridCol w="673100"/>
                <a:gridCol w="677862"/>
              </a:tblGrid>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a</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7538">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b</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spTree>
  </p:cSld>
  <p:clrMapOvr>
    <a:masterClrMapping/>
  </p:clrMapOvr>
  <p:transition>
    <p:blinds/>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106" name="Group 2"/>
          <p:cNvGraphicFramePr>
            <a:graphicFrameLocks noGrp="1"/>
          </p:cNvGraphicFramePr>
          <p:nvPr>
            <p:ph type="title"/>
          </p:nvPr>
        </p:nvGraphicFramePr>
        <p:xfrm>
          <a:off x="1476375" y="188913"/>
          <a:ext cx="6080125" cy="5545138"/>
        </p:xfrm>
        <a:graphic>
          <a:graphicData uri="http://schemas.openxmlformats.org/drawingml/2006/table">
            <a:tbl>
              <a:tblPr/>
              <a:tblGrid>
                <a:gridCol w="677863"/>
                <a:gridCol w="673100"/>
                <a:gridCol w="676275"/>
                <a:gridCol w="674687"/>
                <a:gridCol w="676275"/>
                <a:gridCol w="674688"/>
                <a:gridCol w="676275"/>
                <a:gridCol w="673100"/>
                <a:gridCol w="677862"/>
              </a:tblGrid>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3</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a</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7538">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b</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3</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spTree>
  </p:cSld>
  <p:clrMapOvr>
    <a:masterClrMapping/>
  </p:clrMapOvr>
  <p:transition>
    <p:blinds/>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30" name="Group 2"/>
          <p:cNvGraphicFramePr>
            <a:graphicFrameLocks noGrp="1"/>
          </p:cNvGraphicFramePr>
          <p:nvPr>
            <p:ph type="title"/>
          </p:nvPr>
        </p:nvGraphicFramePr>
        <p:xfrm>
          <a:off x="1476375" y="188913"/>
          <a:ext cx="6080125" cy="5545138"/>
        </p:xfrm>
        <a:graphic>
          <a:graphicData uri="http://schemas.openxmlformats.org/drawingml/2006/table">
            <a:tbl>
              <a:tblPr/>
              <a:tblGrid>
                <a:gridCol w="677863"/>
                <a:gridCol w="673100"/>
                <a:gridCol w="676275"/>
                <a:gridCol w="674687"/>
                <a:gridCol w="676275"/>
                <a:gridCol w="674688"/>
                <a:gridCol w="676275"/>
                <a:gridCol w="673100"/>
                <a:gridCol w="677862"/>
              </a:tblGrid>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3</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a</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7538">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b</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3</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4</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spTree>
  </p:cSld>
  <p:clrMapOvr>
    <a:masterClrMapping/>
  </p:clrMapOvr>
  <p:transition>
    <p:blinds/>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9154" name="Group 2"/>
          <p:cNvGraphicFramePr>
            <a:graphicFrameLocks noGrp="1"/>
          </p:cNvGraphicFramePr>
          <p:nvPr>
            <p:ph type="title"/>
          </p:nvPr>
        </p:nvGraphicFramePr>
        <p:xfrm>
          <a:off x="1476375" y="188913"/>
          <a:ext cx="6080125" cy="5545138"/>
        </p:xfrm>
        <a:graphic>
          <a:graphicData uri="http://schemas.openxmlformats.org/drawingml/2006/table">
            <a:tbl>
              <a:tblPr/>
              <a:tblGrid>
                <a:gridCol w="677863"/>
                <a:gridCol w="673100"/>
                <a:gridCol w="676275"/>
                <a:gridCol w="674687"/>
                <a:gridCol w="676275"/>
                <a:gridCol w="674688"/>
                <a:gridCol w="676275"/>
                <a:gridCol w="673100"/>
                <a:gridCol w="677862"/>
              </a:tblGrid>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3</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a</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7538">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b</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3</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4</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5</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spTree>
  </p:cSld>
  <p:clrMapOvr>
    <a:masterClrMapping/>
  </p:clrMapOvr>
  <p:transition>
    <p:blinds/>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50178" name="Group 2"/>
          <p:cNvGraphicFramePr>
            <a:graphicFrameLocks noGrp="1"/>
          </p:cNvGraphicFramePr>
          <p:nvPr>
            <p:ph type="title"/>
          </p:nvPr>
        </p:nvGraphicFramePr>
        <p:xfrm>
          <a:off x="1476375" y="188913"/>
          <a:ext cx="6080125" cy="5545138"/>
        </p:xfrm>
        <a:graphic>
          <a:graphicData uri="http://schemas.openxmlformats.org/drawingml/2006/table">
            <a:tbl>
              <a:tblPr/>
              <a:tblGrid>
                <a:gridCol w="677863"/>
                <a:gridCol w="673100"/>
                <a:gridCol w="676275"/>
                <a:gridCol w="674687"/>
                <a:gridCol w="676275"/>
                <a:gridCol w="674688"/>
                <a:gridCol w="676275"/>
                <a:gridCol w="673100"/>
                <a:gridCol w="677862"/>
              </a:tblGrid>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3</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a</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7538">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b</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3</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4</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5</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6</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6</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spTree>
  </p:cSld>
  <p:clrMapOvr>
    <a:masterClrMapping/>
  </p:clrMapOvr>
  <p:transition>
    <p:blinds/>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51202" name="Group 2"/>
          <p:cNvGraphicFramePr>
            <a:graphicFrameLocks noGrp="1"/>
          </p:cNvGraphicFramePr>
          <p:nvPr>
            <p:ph type="title"/>
          </p:nvPr>
        </p:nvGraphicFramePr>
        <p:xfrm>
          <a:off x="1476375" y="188913"/>
          <a:ext cx="6080125" cy="5545138"/>
        </p:xfrm>
        <a:graphic>
          <a:graphicData uri="http://schemas.openxmlformats.org/drawingml/2006/table">
            <a:tbl>
              <a:tblPr/>
              <a:tblGrid>
                <a:gridCol w="677863"/>
                <a:gridCol w="673100"/>
                <a:gridCol w="676275"/>
                <a:gridCol w="674687"/>
                <a:gridCol w="676275"/>
                <a:gridCol w="674688"/>
                <a:gridCol w="676275"/>
                <a:gridCol w="673100"/>
                <a:gridCol w="677862"/>
              </a:tblGrid>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3</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a</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7538">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b</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3</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4</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5</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6</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7</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6</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7</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spTree>
  </p:cSld>
  <p:clrMapOvr>
    <a:masterClrMapping/>
  </p:clrMapOvr>
  <p:transition>
    <p:blinds/>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54274" name="Group 2"/>
          <p:cNvGraphicFramePr>
            <a:graphicFrameLocks noGrp="1"/>
          </p:cNvGraphicFramePr>
          <p:nvPr>
            <p:ph type="title"/>
          </p:nvPr>
        </p:nvGraphicFramePr>
        <p:xfrm>
          <a:off x="1476375" y="188913"/>
          <a:ext cx="6080125" cy="5545138"/>
        </p:xfrm>
        <a:graphic>
          <a:graphicData uri="http://schemas.openxmlformats.org/drawingml/2006/table">
            <a:tbl>
              <a:tblPr/>
              <a:tblGrid>
                <a:gridCol w="677863"/>
                <a:gridCol w="673100"/>
                <a:gridCol w="676275"/>
                <a:gridCol w="674687"/>
                <a:gridCol w="676275"/>
                <a:gridCol w="674688"/>
                <a:gridCol w="676275"/>
                <a:gridCol w="673100"/>
                <a:gridCol w="677862"/>
              </a:tblGrid>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3</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a</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7538">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1</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b</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2</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3</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4</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8</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5</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6</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7</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8</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6</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7</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rPr>
                        <a:t>8</a:t>
                      </a:r>
                      <a:endParaRPr kumimoji="0" lang="en-US"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r>
              <a:tr h="6159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Black" panose="020B0A040201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r>
            </a:tbl>
          </a:graphicData>
        </a:graphic>
      </p:graphicFrame>
    </p:spTree>
  </p:cSld>
  <p:clrMapOvr>
    <a:masterClrMapping/>
  </p:clrMapOvr>
  <p:transition>
    <p:blinds/>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zh-CN" sz="3000"/>
              <a:t>6.4 </a:t>
            </a:r>
            <a:r>
              <a:rPr lang="zh-CN" altLang="en-US" sz="3000"/>
              <a:t>布线问题</a:t>
            </a:r>
            <a:endParaRPr lang="zh-CN" altLang="en-US" sz="3000"/>
          </a:p>
        </p:txBody>
      </p:sp>
      <p:sp>
        <p:nvSpPr>
          <p:cNvPr id="25603" name="Text Box 3"/>
          <p:cNvSpPr txBox="1">
            <a:spLocks noChangeArrowheads="1"/>
          </p:cNvSpPr>
          <p:nvPr/>
        </p:nvSpPr>
        <p:spPr bwMode="auto">
          <a:xfrm>
            <a:off x="762000" y="1905000"/>
            <a:ext cx="4114800" cy="210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lnSpc>
                <a:spcPct val="165000"/>
              </a:lnSpc>
            </a:pPr>
            <a:r>
              <a:rPr kumimoji="1" lang="en-US" altLang="zh-CN" sz="1600"/>
              <a:t>Position offset[4];</a:t>
            </a:r>
            <a:endParaRPr kumimoji="1" lang="en-US" altLang="zh-CN" sz="1600"/>
          </a:p>
          <a:p>
            <a:pPr eaLnBrk="1" hangingPunct="1">
              <a:lnSpc>
                <a:spcPct val="165000"/>
              </a:lnSpc>
            </a:pPr>
            <a:r>
              <a:rPr kumimoji="1" lang="en-US" altLang="zh-CN" sz="1600"/>
              <a:t>   offset[0].row = 0; offset[0].col = 1; // </a:t>
            </a:r>
            <a:r>
              <a:rPr kumimoji="1" lang="zh-CN" altLang="en-US" sz="1600"/>
              <a:t>右</a:t>
            </a:r>
            <a:endParaRPr kumimoji="1" lang="zh-CN" altLang="en-US" sz="1600"/>
          </a:p>
          <a:p>
            <a:pPr eaLnBrk="1" hangingPunct="1">
              <a:lnSpc>
                <a:spcPct val="165000"/>
              </a:lnSpc>
            </a:pPr>
            <a:r>
              <a:rPr kumimoji="1" lang="zh-CN" altLang="en-US" sz="1600"/>
              <a:t>   </a:t>
            </a:r>
            <a:r>
              <a:rPr kumimoji="1" lang="en-US" altLang="zh-CN" sz="1600"/>
              <a:t>offset[1].row = 1; offset[1].col = 0; // </a:t>
            </a:r>
            <a:r>
              <a:rPr kumimoji="1" lang="zh-CN" altLang="en-US" sz="1600"/>
              <a:t>下</a:t>
            </a:r>
            <a:endParaRPr kumimoji="1" lang="zh-CN" altLang="en-US" sz="1600"/>
          </a:p>
          <a:p>
            <a:pPr eaLnBrk="1" hangingPunct="1">
              <a:lnSpc>
                <a:spcPct val="165000"/>
              </a:lnSpc>
            </a:pPr>
            <a:r>
              <a:rPr kumimoji="1" lang="zh-CN" altLang="en-US" sz="1600"/>
              <a:t>   </a:t>
            </a:r>
            <a:r>
              <a:rPr kumimoji="1" lang="en-US" altLang="zh-CN" sz="1600"/>
              <a:t>offset[2].row = 0; offset[2].col = -1; // </a:t>
            </a:r>
            <a:r>
              <a:rPr kumimoji="1" lang="zh-CN" altLang="en-US" sz="1600"/>
              <a:t>左</a:t>
            </a:r>
            <a:endParaRPr kumimoji="1" lang="zh-CN" altLang="en-US" sz="1600"/>
          </a:p>
          <a:p>
            <a:pPr eaLnBrk="1" hangingPunct="1">
              <a:lnSpc>
                <a:spcPct val="165000"/>
              </a:lnSpc>
            </a:pPr>
            <a:r>
              <a:rPr kumimoji="1" lang="zh-CN" altLang="en-US" sz="1600"/>
              <a:t>   </a:t>
            </a:r>
            <a:r>
              <a:rPr kumimoji="1" lang="en-US" altLang="zh-CN" sz="1600"/>
              <a:t>offset[3].row = -1; offset[3].col = 0; // </a:t>
            </a:r>
            <a:r>
              <a:rPr kumimoji="1" lang="zh-CN" altLang="en-US" sz="1600"/>
              <a:t>上</a:t>
            </a:r>
            <a:endParaRPr kumimoji="1" lang="zh-CN" altLang="en-US" sz="1600"/>
          </a:p>
        </p:txBody>
      </p:sp>
      <p:sp>
        <p:nvSpPr>
          <p:cNvPr id="25604" name="AutoShape 4"/>
          <p:cNvSpPr>
            <a:spLocks noChangeArrowheads="1"/>
          </p:cNvSpPr>
          <p:nvPr/>
        </p:nvSpPr>
        <p:spPr bwMode="auto">
          <a:xfrm>
            <a:off x="5638800" y="1981200"/>
            <a:ext cx="2286000" cy="914400"/>
          </a:xfrm>
          <a:prstGeom prst="wedgeRoundRectCallout">
            <a:avLst>
              <a:gd name="adj1" fmla="val -95486"/>
              <a:gd name="adj2" fmla="val 30731"/>
              <a:gd name="adj3" fmla="val 16667"/>
            </a:avLst>
          </a:prstGeom>
          <a:solidFill>
            <a:schemeClr val="hlink"/>
          </a:solidFill>
          <a:ln w="6350">
            <a:solidFill>
              <a:schemeClr val="hlink"/>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lstStyle/>
          <a:p>
            <a:pPr algn="ctr" eaLnBrk="1" hangingPunct="1"/>
            <a:r>
              <a:rPr lang="zh-CN" altLang="en-US" sz="2000" b="1">
                <a:solidFill>
                  <a:srgbClr val="A50021"/>
                </a:solidFill>
                <a:latin typeface="新宋体" panose="02010609030101010101" charset="-122"/>
                <a:ea typeface="新宋体" panose="02010609030101010101" charset="-122"/>
              </a:rPr>
              <a:t>定义移动方向的相对位移</a:t>
            </a:r>
            <a:endParaRPr lang="zh-CN" altLang="en-US" sz="2000" b="1">
              <a:solidFill>
                <a:srgbClr val="A50021"/>
              </a:solidFill>
              <a:latin typeface="新宋体" panose="02010609030101010101" charset="-122"/>
              <a:ea typeface="新宋体" panose="02010609030101010101" charset="-122"/>
            </a:endParaRPr>
          </a:p>
        </p:txBody>
      </p:sp>
      <p:sp>
        <p:nvSpPr>
          <p:cNvPr id="25605" name="Text Box 5"/>
          <p:cNvSpPr txBox="1">
            <a:spLocks noChangeArrowheads="1"/>
          </p:cNvSpPr>
          <p:nvPr/>
        </p:nvSpPr>
        <p:spPr bwMode="auto">
          <a:xfrm>
            <a:off x="762000" y="4343400"/>
            <a:ext cx="5562600" cy="175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lnSpc>
                <a:spcPct val="165000"/>
              </a:lnSpc>
            </a:pPr>
            <a:r>
              <a:rPr lang="en-US" altLang="zh-CN">
                <a:solidFill>
                  <a:schemeClr val="accent2"/>
                </a:solidFill>
                <a:latin typeface="Times New Roman" panose="02020603050405020304" pitchFamily="18" charset="0"/>
                <a:cs typeface="Times New Roman" panose="02020603050405020304" pitchFamily="18" charset="0"/>
              </a:rPr>
              <a:t> </a:t>
            </a:r>
            <a:r>
              <a:rPr kumimoji="1" lang="en-US" altLang="zh-CN" sz="1600"/>
              <a:t>for (int i = 0; i &lt;= m+1; i++)</a:t>
            </a:r>
            <a:endParaRPr kumimoji="1" lang="en-US" altLang="zh-CN" sz="1600"/>
          </a:p>
          <a:p>
            <a:pPr eaLnBrk="1" hangingPunct="1">
              <a:lnSpc>
                <a:spcPct val="165000"/>
              </a:lnSpc>
            </a:pPr>
            <a:r>
              <a:rPr kumimoji="1" lang="en-US" altLang="zh-CN" sz="1600"/>
              <a:t>      grid[0][i] = grid[n+1][i] = 1; // </a:t>
            </a:r>
            <a:r>
              <a:rPr kumimoji="1" lang="zh-CN" altLang="en-US" sz="1600"/>
              <a:t>顶部和底部</a:t>
            </a:r>
            <a:endParaRPr kumimoji="1" lang="zh-CN" altLang="en-US" sz="1600"/>
          </a:p>
          <a:p>
            <a:pPr eaLnBrk="1" hangingPunct="1">
              <a:lnSpc>
                <a:spcPct val="165000"/>
              </a:lnSpc>
            </a:pPr>
            <a:r>
              <a:rPr kumimoji="1" lang="zh-CN" altLang="en-US" sz="1600"/>
              <a:t>   </a:t>
            </a:r>
            <a:r>
              <a:rPr kumimoji="1" lang="en-US" altLang="zh-CN" sz="1600"/>
              <a:t>for (int i = 0; i &lt;= n+1; i++)</a:t>
            </a:r>
            <a:endParaRPr kumimoji="1" lang="en-US" altLang="zh-CN" sz="1600"/>
          </a:p>
          <a:p>
            <a:pPr eaLnBrk="1" hangingPunct="1">
              <a:lnSpc>
                <a:spcPct val="165000"/>
              </a:lnSpc>
            </a:pPr>
            <a:r>
              <a:rPr kumimoji="1" lang="en-US" altLang="zh-CN" sz="1600"/>
              <a:t>      grid[i][0] = grid[i][m+1] = 1; // </a:t>
            </a:r>
            <a:r>
              <a:rPr kumimoji="1" lang="zh-CN" altLang="en-US" sz="1600"/>
              <a:t>左翼和右翼</a:t>
            </a:r>
            <a:endParaRPr kumimoji="1" lang="zh-CN" altLang="en-US" sz="1600"/>
          </a:p>
        </p:txBody>
      </p:sp>
      <p:sp>
        <p:nvSpPr>
          <p:cNvPr id="25606" name="AutoShape 6"/>
          <p:cNvSpPr>
            <a:spLocks noChangeArrowheads="1"/>
          </p:cNvSpPr>
          <p:nvPr/>
        </p:nvSpPr>
        <p:spPr bwMode="auto">
          <a:xfrm>
            <a:off x="5715000" y="3962400"/>
            <a:ext cx="2209800" cy="914400"/>
          </a:xfrm>
          <a:prstGeom prst="wedgeRoundRectCallout">
            <a:avLst>
              <a:gd name="adj1" fmla="val -111065"/>
              <a:gd name="adj2" fmla="val 51042"/>
              <a:gd name="adj3" fmla="val 16667"/>
            </a:avLst>
          </a:prstGeom>
          <a:solidFill>
            <a:schemeClr val="hlink"/>
          </a:solidFill>
          <a:ln w="6350">
            <a:solidFill>
              <a:schemeClr val="hlink"/>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lstStyle/>
          <a:p>
            <a:pPr algn="ctr" eaLnBrk="1" hangingPunct="1"/>
            <a:r>
              <a:rPr lang="zh-CN" altLang="en-US" sz="2000" b="1">
                <a:solidFill>
                  <a:srgbClr val="A50021"/>
                </a:solidFill>
                <a:latin typeface="新宋体" panose="02010609030101010101" charset="-122"/>
                <a:ea typeface="新宋体" panose="02010609030101010101" charset="-122"/>
              </a:rPr>
              <a:t>设置边界的围墙</a:t>
            </a:r>
            <a:endParaRPr lang="zh-CN" altLang="en-US" sz="2000" b="1">
              <a:solidFill>
                <a:srgbClr val="A50021"/>
              </a:solidFill>
              <a:latin typeface="新宋体" panose="02010609030101010101" charset="-122"/>
              <a:ea typeface="新宋体" panose="02010609030101010101"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603"/>
                                        </p:tgtEl>
                                        <p:attrNameLst>
                                          <p:attrName>style.visibility</p:attrName>
                                        </p:attrNameLst>
                                      </p:cBhvr>
                                      <p:to>
                                        <p:strVal val="visible"/>
                                      </p:to>
                                    </p:set>
                                    <p:anim calcmode="lin" valueType="num">
                                      <p:cBhvr additive="base">
                                        <p:cTn id="7" dur="500" fill="hold"/>
                                        <p:tgtEl>
                                          <p:spTgt spid="25603"/>
                                        </p:tgtEl>
                                        <p:attrNameLst>
                                          <p:attrName>ppt_x</p:attrName>
                                        </p:attrNameLst>
                                      </p:cBhvr>
                                      <p:tavLst>
                                        <p:tav tm="0">
                                          <p:val>
                                            <p:strVal val="0-#ppt_w/2"/>
                                          </p:val>
                                        </p:tav>
                                        <p:tav tm="100000">
                                          <p:val>
                                            <p:strVal val="#ppt_x"/>
                                          </p:val>
                                        </p:tav>
                                      </p:tavLst>
                                    </p:anim>
                                    <p:anim calcmode="lin" valueType="num">
                                      <p:cBhvr additive="base">
                                        <p:cTn id="8" dur="500" fill="hold"/>
                                        <p:tgtEl>
                                          <p:spTgt spid="2560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5604"/>
                                        </p:tgtEl>
                                        <p:attrNameLst>
                                          <p:attrName>style.visibility</p:attrName>
                                        </p:attrNameLst>
                                      </p:cBhvr>
                                      <p:to>
                                        <p:strVal val="visible"/>
                                      </p:to>
                                    </p:set>
                                    <p:anim calcmode="lin" valueType="num">
                                      <p:cBhvr additive="base">
                                        <p:cTn id="13" dur="500" fill="hold"/>
                                        <p:tgtEl>
                                          <p:spTgt spid="25604"/>
                                        </p:tgtEl>
                                        <p:attrNameLst>
                                          <p:attrName>ppt_x</p:attrName>
                                        </p:attrNameLst>
                                      </p:cBhvr>
                                      <p:tavLst>
                                        <p:tav tm="0">
                                          <p:val>
                                            <p:strVal val="1+#ppt_w/2"/>
                                          </p:val>
                                        </p:tav>
                                        <p:tav tm="100000">
                                          <p:val>
                                            <p:strVal val="#ppt_x"/>
                                          </p:val>
                                        </p:tav>
                                      </p:tavLst>
                                    </p:anim>
                                    <p:anim calcmode="lin" valueType="num">
                                      <p:cBhvr additive="base">
                                        <p:cTn id="14" dur="500" fill="hold"/>
                                        <p:tgtEl>
                                          <p:spTgt spid="2560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605"/>
                                        </p:tgtEl>
                                        <p:attrNameLst>
                                          <p:attrName>style.visibility</p:attrName>
                                        </p:attrNameLst>
                                      </p:cBhvr>
                                      <p:to>
                                        <p:strVal val="visible"/>
                                      </p:to>
                                    </p:set>
                                    <p:anim calcmode="lin" valueType="num">
                                      <p:cBhvr additive="base">
                                        <p:cTn id="19" dur="500" fill="hold"/>
                                        <p:tgtEl>
                                          <p:spTgt spid="25605"/>
                                        </p:tgtEl>
                                        <p:attrNameLst>
                                          <p:attrName>ppt_x</p:attrName>
                                        </p:attrNameLst>
                                      </p:cBhvr>
                                      <p:tavLst>
                                        <p:tav tm="0">
                                          <p:val>
                                            <p:strVal val="0-#ppt_w/2"/>
                                          </p:val>
                                        </p:tav>
                                        <p:tav tm="100000">
                                          <p:val>
                                            <p:strVal val="#ppt_x"/>
                                          </p:val>
                                        </p:tav>
                                      </p:tavLst>
                                    </p:anim>
                                    <p:anim calcmode="lin" valueType="num">
                                      <p:cBhvr additive="base">
                                        <p:cTn id="20" dur="500" fill="hold"/>
                                        <p:tgtEl>
                                          <p:spTgt spid="2560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5606"/>
                                        </p:tgtEl>
                                        <p:attrNameLst>
                                          <p:attrName>style.visibility</p:attrName>
                                        </p:attrNameLst>
                                      </p:cBhvr>
                                      <p:to>
                                        <p:strVal val="visible"/>
                                      </p:to>
                                    </p:set>
                                    <p:anim calcmode="lin" valueType="num">
                                      <p:cBhvr additive="base">
                                        <p:cTn id="25" dur="500" fill="hold"/>
                                        <p:tgtEl>
                                          <p:spTgt spid="25606"/>
                                        </p:tgtEl>
                                        <p:attrNameLst>
                                          <p:attrName>ppt_x</p:attrName>
                                        </p:attrNameLst>
                                      </p:cBhvr>
                                      <p:tavLst>
                                        <p:tav tm="0">
                                          <p:val>
                                            <p:strVal val="1+#ppt_w/2"/>
                                          </p:val>
                                        </p:tav>
                                        <p:tav tm="100000">
                                          <p:val>
                                            <p:strVal val="#ppt_x"/>
                                          </p:val>
                                        </p:tav>
                                      </p:tavLst>
                                    </p:anim>
                                    <p:anim calcmode="lin" valueType="num">
                                      <p:cBhvr additive="base">
                                        <p:cTn id="26" dur="500" fill="hold"/>
                                        <p:tgtEl>
                                          <p:spTgt spid="256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autoUpdateAnimBg="0"/>
      <p:bldP spid="25604" grpId="0" animBg="1" autoUpdateAnimBg="0"/>
      <p:bldP spid="25605" grpId="0" autoUpdateAnimBg="0"/>
      <p:bldP spid="25606" grpId="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zh-CN" sz="3000"/>
              <a:t>6.4 </a:t>
            </a:r>
            <a:r>
              <a:rPr lang="zh-CN" altLang="en-US" sz="3000"/>
              <a:t>布线问题</a:t>
            </a:r>
            <a:endParaRPr lang="zh-CN" altLang="en-US" sz="3000"/>
          </a:p>
        </p:txBody>
      </p:sp>
      <p:sp>
        <p:nvSpPr>
          <p:cNvPr id="26627" name="Text Box 3"/>
          <p:cNvSpPr txBox="1">
            <a:spLocks noChangeArrowheads="1"/>
          </p:cNvSpPr>
          <p:nvPr/>
        </p:nvSpPr>
        <p:spPr bwMode="auto">
          <a:xfrm>
            <a:off x="609600" y="1752600"/>
            <a:ext cx="8077200" cy="386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lnSpc>
                <a:spcPct val="140000"/>
              </a:lnSpc>
            </a:pPr>
            <a:r>
              <a:rPr kumimoji="1" lang="en-US" altLang="zh-CN" sz="1600"/>
              <a:t>for (int i = 0; i &lt; NumOfNbrs; i++) {</a:t>
            </a:r>
            <a:endParaRPr kumimoji="1" lang="en-US" altLang="zh-CN" sz="1600"/>
          </a:p>
          <a:p>
            <a:pPr eaLnBrk="1" hangingPunct="1">
              <a:lnSpc>
                <a:spcPct val="140000"/>
              </a:lnSpc>
            </a:pPr>
            <a:r>
              <a:rPr kumimoji="1" lang="en-US" altLang="zh-CN" sz="1600"/>
              <a:t>         nbr.row = here.row + offset[i].row;</a:t>
            </a:r>
            <a:endParaRPr kumimoji="1" lang="en-US" altLang="zh-CN" sz="1600"/>
          </a:p>
          <a:p>
            <a:pPr eaLnBrk="1" hangingPunct="1">
              <a:lnSpc>
                <a:spcPct val="140000"/>
              </a:lnSpc>
            </a:pPr>
            <a:r>
              <a:rPr kumimoji="1" lang="en-US" altLang="zh-CN" sz="1600"/>
              <a:t>         nbr.col = here.col + offset[i].col;</a:t>
            </a:r>
            <a:endParaRPr kumimoji="1" lang="en-US" altLang="zh-CN" sz="1600"/>
          </a:p>
          <a:p>
            <a:pPr eaLnBrk="1" hangingPunct="1">
              <a:lnSpc>
                <a:spcPct val="140000"/>
              </a:lnSpc>
            </a:pPr>
            <a:r>
              <a:rPr kumimoji="1" lang="en-US" altLang="zh-CN" sz="1600"/>
              <a:t>         if (grid[nbr.row][nbr.col] == 0) {</a:t>
            </a:r>
            <a:endParaRPr kumimoji="1" lang="en-US" altLang="zh-CN" sz="1600"/>
          </a:p>
          <a:p>
            <a:pPr eaLnBrk="1" hangingPunct="1">
              <a:lnSpc>
                <a:spcPct val="140000"/>
              </a:lnSpc>
            </a:pPr>
            <a:r>
              <a:rPr kumimoji="1" lang="en-US" altLang="zh-CN" sz="1600"/>
              <a:t>             // </a:t>
            </a:r>
            <a:r>
              <a:rPr kumimoji="1" lang="zh-CN" altLang="en-US" sz="1600"/>
              <a:t>该方格未标记</a:t>
            </a:r>
            <a:endParaRPr kumimoji="1" lang="zh-CN" altLang="en-US" sz="1600"/>
          </a:p>
          <a:p>
            <a:pPr eaLnBrk="1" hangingPunct="1">
              <a:lnSpc>
                <a:spcPct val="140000"/>
              </a:lnSpc>
            </a:pPr>
            <a:r>
              <a:rPr kumimoji="1" lang="zh-CN" altLang="en-US" sz="1600"/>
              <a:t>             </a:t>
            </a:r>
            <a:r>
              <a:rPr kumimoji="1" lang="en-US" altLang="zh-CN" sz="1600"/>
              <a:t>grid[nbr.row][nbr.col]</a:t>
            </a:r>
            <a:endParaRPr kumimoji="1" lang="en-US" altLang="zh-CN" sz="1600"/>
          </a:p>
          <a:p>
            <a:pPr eaLnBrk="1" hangingPunct="1">
              <a:lnSpc>
                <a:spcPct val="140000"/>
              </a:lnSpc>
            </a:pPr>
            <a:r>
              <a:rPr kumimoji="1" lang="en-US" altLang="zh-CN" sz="1600"/>
              <a:t>                = grid[here.row][here.col] + 1;</a:t>
            </a:r>
            <a:endParaRPr kumimoji="1" lang="en-US" altLang="zh-CN" sz="1600"/>
          </a:p>
          <a:p>
            <a:pPr eaLnBrk="1" hangingPunct="1">
              <a:lnSpc>
                <a:spcPct val="140000"/>
              </a:lnSpc>
            </a:pPr>
            <a:r>
              <a:rPr kumimoji="1" lang="en-US" altLang="zh-CN" sz="1600"/>
              <a:t>             if ((nbr.row == finish.row) &amp;&amp;</a:t>
            </a:r>
            <a:endParaRPr kumimoji="1" lang="en-US" altLang="zh-CN" sz="1600"/>
          </a:p>
          <a:p>
            <a:pPr eaLnBrk="1" hangingPunct="1">
              <a:lnSpc>
                <a:spcPct val="140000"/>
              </a:lnSpc>
            </a:pPr>
            <a:r>
              <a:rPr kumimoji="1" lang="en-US" altLang="zh-CN" sz="1600"/>
              <a:t>                (nbr.col == finish.col)) break; // </a:t>
            </a:r>
            <a:r>
              <a:rPr kumimoji="1" lang="zh-CN" altLang="en-US" sz="1600"/>
              <a:t>完成布线</a:t>
            </a:r>
            <a:endParaRPr kumimoji="1" lang="zh-CN" altLang="en-US" sz="1600"/>
          </a:p>
          <a:p>
            <a:pPr eaLnBrk="1" hangingPunct="1">
              <a:lnSpc>
                <a:spcPct val="140000"/>
              </a:lnSpc>
            </a:pPr>
            <a:r>
              <a:rPr kumimoji="1" lang="zh-CN" altLang="en-US" sz="1600"/>
              <a:t>         </a:t>
            </a:r>
            <a:r>
              <a:rPr kumimoji="1" lang="en-US" altLang="zh-CN" sz="1600"/>
              <a:t>Q.Add(nbr);} </a:t>
            </a:r>
            <a:endParaRPr kumimoji="1" lang="en-US" altLang="zh-CN" sz="1600"/>
          </a:p>
          <a:p>
            <a:pPr eaLnBrk="1" hangingPunct="1">
              <a:lnSpc>
                <a:spcPct val="140000"/>
              </a:lnSpc>
            </a:pPr>
            <a:r>
              <a:rPr kumimoji="1" lang="en-US" altLang="zh-CN" sz="1600"/>
              <a:t>         }</a:t>
            </a:r>
            <a:endParaRPr kumimoji="1" lang="en-US" altLang="zh-CN" sz="1600"/>
          </a:p>
        </p:txBody>
      </p:sp>
      <p:sp>
        <p:nvSpPr>
          <p:cNvPr id="26628" name="Text Box 4"/>
          <p:cNvSpPr txBox="1">
            <a:spLocks noChangeArrowheads="1"/>
          </p:cNvSpPr>
          <p:nvPr/>
        </p:nvSpPr>
        <p:spPr bwMode="auto">
          <a:xfrm>
            <a:off x="457200" y="5943600"/>
            <a:ext cx="7696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ctr" eaLnBrk="1" hangingPunct="1">
              <a:spcBef>
                <a:spcPct val="50000"/>
              </a:spcBef>
            </a:pPr>
            <a:endParaRPr lang="zh-CN" altLang="zh-CN">
              <a:solidFill>
                <a:schemeClr val="accent2"/>
              </a:solidFill>
              <a:ea typeface="华文行楷" panose="02010800040101010101" pitchFamily="2" charset="-122"/>
            </a:endParaRPr>
          </a:p>
        </p:txBody>
      </p:sp>
      <p:sp>
        <p:nvSpPr>
          <p:cNvPr id="26629" name="Text Box 5"/>
          <p:cNvSpPr txBox="1">
            <a:spLocks noChangeArrowheads="1"/>
          </p:cNvSpPr>
          <p:nvPr/>
        </p:nvSpPr>
        <p:spPr bwMode="auto">
          <a:xfrm>
            <a:off x="533400" y="5867400"/>
            <a:ext cx="7543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zh-CN" altLang="en-US" sz="2000">
                <a:ea typeface="新宋体" panose="02010609030101010101" charset="-122"/>
              </a:rPr>
              <a:t>找到目标位置后，可以通过回溯方法找到这条最短路径。</a:t>
            </a:r>
            <a:endParaRPr lang="zh-CN" altLang="en-US" sz="2000">
              <a:ea typeface="新宋体" panose="02010609030101010101"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6627"/>
                                        </p:tgtEl>
                                        <p:attrNameLst>
                                          <p:attrName>style.visibility</p:attrName>
                                        </p:attrNameLst>
                                      </p:cBhvr>
                                      <p:to>
                                        <p:strVal val="visible"/>
                                      </p:to>
                                    </p:set>
                                    <p:animEffect transition="in" filter="barn(inHorizontal)">
                                      <p:cBhvr>
                                        <p:cTn id="7" dur="500"/>
                                        <p:tgtEl>
                                          <p:spTgt spid="266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6629"/>
                                        </p:tgtEl>
                                        <p:attrNameLst>
                                          <p:attrName>style.visibility</p:attrName>
                                        </p:attrNameLst>
                                      </p:cBhvr>
                                      <p:to>
                                        <p:strVal val="visible"/>
                                      </p:to>
                                    </p:set>
                                    <p:anim calcmode="lin" valueType="num">
                                      <p:cBhvr additive="base">
                                        <p:cTn id="12" dur="500" fill="hold"/>
                                        <p:tgtEl>
                                          <p:spTgt spid="26629"/>
                                        </p:tgtEl>
                                        <p:attrNameLst>
                                          <p:attrName>ppt_x</p:attrName>
                                        </p:attrNameLst>
                                      </p:cBhvr>
                                      <p:tavLst>
                                        <p:tav tm="0">
                                          <p:val>
                                            <p:strVal val="#ppt_x"/>
                                          </p:val>
                                        </p:tav>
                                        <p:tav tm="100000">
                                          <p:val>
                                            <p:strVal val="#ppt_x"/>
                                          </p:val>
                                        </p:tav>
                                      </p:tavLst>
                                    </p:anim>
                                    <p:anim calcmode="lin" valueType="num">
                                      <p:cBhvr additive="base">
                                        <p:cTn id="13" dur="500" fill="hold"/>
                                        <p:tgtEl>
                                          <p:spTgt spid="266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utoUpdateAnimBg="0"/>
      <p:bldP spid="26629"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ctrTitle"/>
          </p:nvPr>
        </p:nvSpPr>
        <p:spPr/>
        <p:txBody>
          <a:bodyPr/>
          <a:lstStyle/>
          <a:p>
            <a:pPr algn="r"/>
            <a:r>
              <a:rPr lang="en-US" altLang="zh-CN" sz="3300"/>
              <a:t>0-1</a:t>
            </a:r>
            <a:r>
              <a:rPr lang="zh-CN" altLang="en-US" sz="3300"/>
              <a:t>背包问题</a:t>
            </a:r>
            <a:endParaRPr lang="zh-CN" altLang="en-US" sz="3300"/>
          </a:p>
        </p:txBody>
      </p:sp>
      <p:sp>
        <p:nvSpPr>
          <p:cNvPr id="34819" name="Rectangle 3"/>
          <p:cNvSpPr>
            <a:spLocks noGrp="1" noChangeArrowheads="1"/>
          </p:cNvSpPr>
          <p:nvPr>
            <p:ph type="subTitle" idx="1"/>
          </p:nvPr>
        </p:nvSpPr>
        <p:spPr/>
        <p:txBody>
          <a:bodyPr/>
          <a:lstStyle/>
          <a:p>
            <a:endParaRPr lang="zh-CN" altLang="zh-CN"/>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altLang="zh-CN" sz="3000"/>
              <a:t>6.5    0-1</a:t>
            </a:r>
            <a:r>
              <a:rPr lang="zh-CN" altLang="en-US" sz="3000"/>
              <a:t>背包问题</a:t>
            </a:r>
            <a:endParaRPr lang="zh-CN" altLang="en-US" sz="3000"/>
          </a:p>
        </p:txBody>
      </p:sp>
      <p:sp>
        <p:nvSpPr>
          <p:cNvPr id="3075" name="Text Box 3"/>
          <p:cNvSpPr txBox="1">
            <a:spLocks noChangeArrowheads="1"/>
          </p:cNvSpPr>
          <p:nvPr/>
        </p:nvSpPr>
        <p:spPr bwMode="auto">
          <a:xfrm>
            <a:off x="611188" y="1484313"/>
            <a:ext cx="5791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zh-CN" altLang="en-US" sz="3200" b="1">
                <a:solidFill>
                  <a:schemeClr val="accent2"/>
                </a:solidFill>
                <a:latin typeface="Times New Roman" panose="02020603050405020304" pitchFamily="18" charset="0"/>
                <a:ea typeface="黑体" panose="02010609060101010101" pitchFamily="2" charset="-122"/>
              </a:rPr>
              <a:t>算法的思想</a:t>
            </a:r>
            <a:endParaRPr lang="zh-CN" altLang="en-US" b="1">
              <a:solidFill>
                <a:schemeClr val="accent2"/>
              </a:solidFill>
              <a:ea typeface="华文行楷" panose="02010800040101010101" pitchFamily="2" charset="-122"/>
            </a:endParaRPr>
          </a:p>
        </p:txBody>
      </p:sp>
      <p:sp>
        <p:nvSpPr>
          <p:cNvPr id="3076" name="Text Box 4"/>
          <p:cNvSpPr txBox="1">
            <a:spLocks noChangeArrowheads="1"/>
          </p:cNvSpPr>
          <p:nvPr/>
        </p:nvSpPr>
        <p:spPr bwMode="auto">
          <a:xfrm>
            <a:off x="539750" y="2133600"/>
            <a:ext cx="820896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ea typeface="新宋体" panose="02010609030101010101" charset="-122"/>
              </a:rPr>
              <a:t>       </a:t>
            </a:r>
            <a:r>
              <a:rPr lang="zh-CN" altLang="en-US" sz="2400" b="1">
                <a:ea typeface="新宋体" panose="02010609030101010101" charset="-122"/>
              </a:rPr>
              <a:t>首先，要对输入数据进行预处理，将各物品依其单位重量价值从大到小进行排列。</a:t>
            </a:r>
            <a:endParaRPr lang="zh-CN" altLang="en-US" sz="2400" b="1">
              <a:ea typeface="新宋体" panose="02010609030101010101" charset="-122"/>
            </a:endParaRPr>
          </a:p>
        </p:txBody>
      </p:sp>
      <p:sp>
        <p:nvSpPr>
          <p:cNvPr id="3077" name="Text Box 5"/>
          <p:cNvSpPr txBox="1">
            <a:spLocks noChangeArrowheads="1"/>
          </p:cNvSpPr>
          <p:nvPr/>
        </p:nvSpPr>
        <p:spPr bwMode="auto">
          <a:xfrm>
            <a:off x="539750" y="3178175"/>
            <a:ext cx="8208963"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ea typeface="新宋体" panose="02010609030101010101" charset="-122"/>
              </a:rPr>
              <a:t>       </a:t>
            </a:r>
            <a:r>
              <a:rPr lang="zh-CN" altLang="en-US" sz="2400" b="1">
                <a:ea typeface="新宋体" panose="02010609030101010101" charset="-122"/>
              </a:rPr>
              <a:t>在下面描述的优先队列分支限界法中，节点的优先级由已装袋的物品价值加上剩下的最大单位重量价值的物品装满剩余容量的价值和。</a:t>
            </a:r>
            <a:endParaRPr lang="zh-CN" altLang="en-US" sz="2400" b="1">
              <a:ea typeface="新宋体" panose="02010609030101010101" charset="-122"/>
            </a:endParaRPr>
          </a:p>
        </p:txBody>
      </p:sp>
      <p:sp>
        <p:nvSpPr>
          <p:cNvPr id="3078" name="Text Box 6"/>
          <p:cNvSpPr txBox="1">
            <a:spLocks noChangeArrowheads="1"/>
          </p:cNvSpPr>
          <p:nvPr/>
        </p:nvSpPr>
        <p:spPr bwMode="auto">
          <a:xfrm>
            <a:off x="544513" y="4606925"/>
            <a:ext cx="81153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算法首先检查当前扩展结点的</a:t>
            </a:r>
            <a:r>
              <a:rPr lang="zh-CN" altLang="en-US" sz="2400" b="1">
                <a:solidFill>
                  <a:srgbClr val="990000"/>
                </a:solidFill>
                <a:latin typeface="新宋体" panose="02010609030101010101" charset="-122"/>
                <a:ea typeface="新宋体" panose="02010609030101010101" charset="-122"/>
              </a:rPr>
              <a:t>左儿子结点</a:t>
            </a:r>
            <a:r>
              <a:rPr lang="zh-CN" altLang="en-US" sz="2400" b="1">
                <a:latin typeface="新宋体" panose="02010609030101010101" charset="-122"/>
                <a:ea typeface="新宋体" panose="02010609030101010101" charset="-122"/>
              </a:rPr>
              <a:t>的可行性。如果该左儿子结点是可行结点，则将它加入到子集树和活结点优先队列中。当前扩展结点的</a:t>
            </a:r>
            <a:r>
              <a:rPr lang="zh-CN" altLang="en-US" sz="2400" b="1">
                <a:solidFill>
                  <a:srgbClr val="990000"/>
                </a:solidFill>
                <a:latin typeface="新宋体" panose="02010609030101010101" charset="-122"/>
                <a:ea typeface="新宋体" panose="02010609030101010101" charset="-122"/>
              </a:rPr>
              <a:t>右儿子结点</a:t>
            </a:r>
            <a:r>
              <a:rPr lang="zh-CN" altLang="en-US" sz="2400" b="1">
                <a:latin typeface="新宋体" panose="02010609030101010101" charset="-122"/>
                <a:ea typeface="新宋体" panose="02010609030101010101" charset="-122"/>
              </a:rPr>
              <a:t>一定是可行结点，仅当右儿子结点满足上界约束时才将它加入子集树和活结点优先队列。</a:t>
            </a:r>
            <a:r>
              <a:rPr lang="zh-CN" altLang="en-US" sz="2400" b="1">
                <a:solidFill>
                  <a:srgbClr val="990000"/>
                </a:solidFill>
                <a:latin typeface="新宋体" panose="02010609030101010101" charset="-122"/>
                <a:ea typeface="新宋体" panose="02010609030101010101" charset="-122"/>
              </a:rPr>
              <a:t>当扩展到叶节点时为问题的最优值。</a:t>
            </a:r>
            <a:endParaRPr lang="zh-CN" altLang="en-US" sz="2400" b="1">
              <a:solidFill>
                <a:srgbClr val="990000"/>
              </a:solidFill>
              <a:latin typeface="新宋体" panose="02010609030101010101" charset="-122"/>
              <a:ea typeface="新宋体" panose="02010609030101010101" charset="-122"/>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075"/>
                                        </p:tgtEl>
                                        <p:attrNameLst>
                                          <p:attrName>style.visibility</p:attrName>
                                        </p:attrNameLst>
                                      </p:cBhvr>
                                      <p:to>
                                        <p:strVal val="visible"/>
                                      </p:to>
                                    </p:set>
                                    <p:anim calcmode="lin" valueType="num">
                                      <p:cBhvr additive="base">
                                        <p:cTn id="7" dur="500" fill="hold"/>
                                        <p:tgtEl>
                                          <p:spTgt spid="3075"/>
                                        </p:tgtEl>
                                        <p:attrNameLst>
                                          <p:attrName>ppt_x</p:attrName>
                                        </p:attrNameLst>
                                      </p:cBhvr>
                                      <p:tavLst>
                                        <p:tav tm="0">
                                          <p:val>
                                            <p:strVal val="1+#ppt_w/2"/>
                                          </p:val>
                                        </p:tav>
                                        <p:tav tm="100000">
                                          <p:val>
                                            <p:strVal val="#ppt_x"/>
                                          </p:val>
                                        </p:tav>
                                      </p:tavLst>
                                    </p:anim>
                                    <p:anim calcmode="lin" valueType="num">
                                      <p:cBhvr additive="base">
                                        <p:cTn id="8" dur="500" fill="hold"/>
                                        <p:tgtEl>
                                          <p:spTgt spid="307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076"/>
                                        </p:tgtEl>
                                        <p:attrNameLst>
                                          <p:attrName>style.visibility</p:attrName>
                                        </p:attrNameLst>
                                      </p:cBhvr>
                                      <p:to>
                                        <p:strVal val="visible"/>
                                      </p:to>
                                    </p:set>
                                    <p:anim calcmode="lin" valueType="num">
                                      <p:cBhvr additive="base">
                                        <p:cTn id="13" dur="500" fill="hold"/>
                                        <p:tgtEl>
                                          <p:spTgt spid="3076"/>
                                        </p:tgtEl>
                                        <p:attrNameLst>
                                          <p:attrName>ppt_x</p:attrName>
                                        </p:attrNameLst>
                                      </p:cBhvr>
                                      <p:tavLst>
                                        <p:tav tm="0">
                                          <p:val>
                                            <p:strVal val="1+#ppt_w/2"/>
                                          </p:val>
                                        </p:tav>
                                        <p:tav tm="100000">
                                          <p:val>
                                            <p:strVal val="#ppt_x"/>
                                          </p:val>
                                        </p:tav>
                                      </p:tavLst>
                                    </p:anim>
                                    <p:anim calcmode="lin" valueType="num">
                                      <p:cBhvr additive="base">
                                        <p:cTn id="14" dur="500" fill="hold"/>
                                        <p:tgtEl>
                                          <p:spTgt spid="307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77"/>
                                        </p:tgtEl>
                                        <p:attrNameLst>
                                          <p:attrName>style.visibility</p:attrName>
                                        </p:attrNameLst>
                                      </p:cBhvr>
                                      <p:to>
                                        <p:strVal val="visible"/>
                                      </p:to>
                                    </p:set>
                                    <p:anim calcmode="lin" valueType="num">
                                      <p:cBhvr additive="base">
                                        <p:cTn id="19" dur="500" fill="hold"/>
                                        <p:tgtEl>
                                          <p:spTgt spid="3077"/>
                                        </p:tgtEl>
                                        <p:attrNameLst>
                                          <p:attrName>ppt_x</p:attrName>
                                        </p:attrNameLst>
                                      </p:cBhvr>
                                      <p:tavLst>
                                        <p:tav tm="0">
                                          <p:val>
                                            <p:strVal val="0-#ppt_w/2"/>
                                          </p:val>
                                        </p:tav>
                                        <p:tav tm="100000">
                                          <p:val>
                                            <p:strVal val="#ppt_x"/>
                                          </p:val>
                                        </p:tav>
                                      </p:tavLst>
                                    </p:anim>
                                    <p:anim calcmode="lin" valueType="num">
                                      <p:cBhvr additive="base">
                                        <p:cTn id="20" dur="500" fill="hold"/>
                                        <p:tgtEl>
                                          <p:spTgt spid="307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078"/>
                                        </p:tgtEl>
                                        <p:attrNameLst>
                                          <p:attrName>style.visibility</p:attrName>
                                        </p:attrNameLst>
                                      </p:cBhvr>
                                      <p:to>
                                        <p:strVal val="visible"/>
                                      </p:to>
                                    </p:set>
                                    <p:anim calcmode="lin" valueType="num">
                                      <p:cBhvr additive="base">
                                        <p:cTn id="25" dur="500" fill="hold"/>
                                        <p:tgtEl>
                                          <p:spTgt spid="3078"/>
                                        </p:tgtEl>
                                        <p:attrNameLst>
                                          <p:attrName>ppt_x</p:attrName>
                                        </p:attrNameLst>
                                      </p:cBhvr>
                                      <p:tavLst>
                                        <p:tav tm="0">
                                          <p:val>
                                            <p:strVal val="#ppt_x"/>
                                          </p:val>
                                        </p:tav>
                                        <p:tav tm="100000">
                                          <p:val>
                                            <p:strVal val="#ppt_x"/>
                                          </p:val>
                                        </p:tav>
                                      </p:tavLst>
                                    </p:anim>
                                    <p:anim calcmode="lin" valueType="num">
                                      <p:cBhvr additive="base">
                                        <p:cTn id="26" dur="500" fill="hold"/>
                                        <p:tgtEl>
                                          <p:spTgt spid="30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autoUpdateAnimBg="0"/>
      <p:bldP spid="3076" grpId="0" autoUpdateAnimBg="0"/>
      <p:bldP spid="3077" grpId="0" autoUpdateAnimBg="0"/>
      <p:bldP spid="3078"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ltLang="zh-CN" sz="3000"/>
              <a:t>6.5    0-1</a:t>
            </a:r>
            <a:r>
              <a:rPr lang="zh-CN" altLang="en-US" sz="3000"/>
              <a:t>背包问题</a:t>
            </a:r>
            <a:endParaRPr lang="zh-CN" altLang="en-US" sz="3000"/>
          </a:p>
        </p:txBody>
      </p:sp>
      <p:sp>
        <p:nvSpPr>
          <p:cNvPr id="4100" name="Text Box 4"/>
          <p:cNvSpPr txBox="1">
            <a:spLocks noChangeArrowheads="1"/>
          </p:cNvSpPr>
          <p:nvPr/>
        </p:nvSpPr>
        <p:spPr bwMode="auto">
          <a:xfrm>
            <a:off x="609600" y="1628775"/>
            <a:ext cx="5791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zh-CN" altLang="en-US" sz="3200" b="1">
                <a:solidFill>
                  <a:schemeClr val="accent2"/>
                </a:solidFill>
                <a:latin typeface="Times New Roman" panose="02020603050405020304" pitchFamily="18" charset="0"/>
                <a:ea typeface="黑体" panose="02010609060101010101" pitchFamily="2" charset="-122"/>
              </a:rPr>
              <a:t>上界函数</a:t>
            </a:r>
            <a:endParaRPr lang="zh-CN" altLang="en-US" b="1">
              <a:solidFill>
                <a:schemeClr val="accent2"/>
              </a:solidFill>
              <a:ea typeface="华文行楷" panose="02010800040101010101" pitchFamily="2" charset="-122"/>
            </a:endParaRPr>
          </a:p>
        </p:txBody>
      </p:sp>
      <p:sp>
        <p:nvSpPr>
          <p:cNvPr id="4101" name="Text Box 5"/>
          <p:cNvSpPr txBox="1">
            <a:spLocks noChangeArrowheads="1"/>
          </p:cNvSpPr>
          <p:nvPr/>
        </p:nvSpPr>
        <p:spPr bwMode="auto">
          <a:xfrm>
            <a:off x="1104900" y="2390775"/>
            <a:ext cx="7353300" cy="325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just" eaLnBrk="1" hangingPunct="1">
              <a:spcBef>
                <a:spcPct val="50000"/>
              </a:spcBef>
            </a:pPr>
            <a:r>
              <a:rPr lang="en-US" altLang="zh-CN">
                <a:solidFill>
                  <a:schemeClr val="accent2"/>
                </a:solidFill>
                <a:latin typeface="Times New Roman" panose="02020603050405020304" pitchFamily="18" charset="0"/>
                <a:cs typeface="Times New Roman" panose="02020603050405020304" pitchFamily="18" charset="0"/>
              </a:rPr>
              <a:t>while (i &lt;= n &amp;&amp; w[i] &lt;= cleft)       </a:t>
            </a:r>
            <a:r>
              <a:rPr lang="en-US" altLang="zh-CN">
                <a:latin typeface="Times New Roman" panose="02020603050405020304" pitchFamily="18" charset="0"/>
              </a:rPr>
              <a:t>// n</a:t>
            </a:r>
            <a:r>
              <a:rPr lang="zh-CN" altLang="en-US">
                <a:latin typeface="Times New Roman" panose="02020603050405020304" pitchFamily="18" charset="0"/>
              </a:rPr>
              <a:t>表示物品总数，</a:t>
            </a:r>
            <a:r>
              <a:rPr lang="en-US" altLang="zh-CN">
                <a:latin typeface="Times New Roman" panose="02020603050405020304" pitchFamily="18" charset="0"/>
              </a:rPr>
              <a:t>cleft</a:t>
            </a:r>
            <a:r>
              <a:rPr lang="zh-CN" altLang="en-US">
                <a:latin typeface="Times New Roman" panose="02020603050405020304" pitchFamily="18" charset="0"/>
              </a:rPr>
              <a:t>为剩余空间</a:t>
            </a:r>
            <a:endParaRPr lang="zh-CN" altLang="en-US">
              <a:latin typeface="Times New Roman" panose="02020603050405020304" pitchFamily="18" charset="0"/>
            </a:endParaRPr>
          </a:p>
          <a:p>
            <a:pPr algn="just" eaLnBrk="1" hangingPunct="1">
              <a:spcBef>
                <a:spcPct val="50000"/>
              </a:spcBef>
            </a:pPr>
            <a:r>
              <a:rPr lang="zh-CN" altLang="en-US">
                <a:solidFill>
                  <a:schemeClr val="accent2"/>
                </a:solidFill>
                <a:latin typeface="Times New Roman" panose="02020603050405020304" pitchFamily="18" charset="0"/>
                <a:cs typeface="Times New Roman" panose="02020603050405020304" pitchFamily="18" charset="0"/>
              </a:rPr>
              <a:t>      </a:t>
            </a:r>
            <a:r>
              <a:rPr lang="en-US" altLang="zh-CN">
                <a:solidFill>
                  <a:schemeClr val="accent2"/>
                </a:solidFill>
                <a:latin typeface="Times New Roman" panose="02020603050405020304" pitchFamily="18" charset="0"/>
                <a:cs typeface="Times New Roman" panose="02020603050405020304" pitchFamily="18" charset="0"/>
              </a:rPr>
              <a:t>{</a:t>
            </a:r>
            <a:endParaRPr lang="en-US" altLang="zh-CN">
              <a:solidFill>
                <a:schemeClr val="accent2"/>
              </a:solidFill>
              <a:latin typeface="Times New Roman" panose="02020603050405020304" pitchFamily="18" charset="0"/>
              <a:cs typeface="Times New Roman" panose="02020603050405020304" pitchFamily="18" charset="0"/>
            </a:endParaRPr>
          </a:p>
          <a:p>
            <a:pPr algn="just" eaLnBrk="1" hangingPunct="1">
              <a:spcBef>
                <a:spcPct val="50000"/>
              </a:spcBef>
            </a:pPr>
            <a:r>
              <a:rPr lang="en-US" altLang="zh-CN">
                <a:solidFill>
                  <a:schemeClr val="accent2"/>
                </a:solidFill>
                <a:latin typeface="Times New Roman" panose="02020603050405020304" pitchFamily="18" charset="0"/>
                <a:cs typeface="Times New Roman" panose="02020603050405020304" pitchFamily="18" charset="0"/>
              </a:rPr>
              <a:t>         cleft -= w[i];                            </a:t>
            </a:r>
            <a:r>
              <a:rPr lang="en-US" altLang="zh-CN">
                <a:latin typeface="Times New Roman" panose="02020603050405020304" pitchFamily="18" charset="0"/>
              </a:rPr>
              <a:t>//w[i]</a:t>
            </a:r>
            <a:r>
              <a:rPr lang="zh-CN" altLang="en-US">
                <a:latin typeface="Times New Roman" panose="02020603050405020304" pitchFamily="18" charset="0"/>
              </a:rPr>
              <a:t>表示</a:t>
            </a:r>
            <a:r>
              <a:rPr lang="en-US" altLang="zh-CN">
                <a:latin typeface="Times New Roman" panose="02020603050405020304" pitchFamily="18" charset="0"/>
              </a:rPr>
              <a:t>i</a:t>
            </a:r>
            <a:r>
              <a:rPr lang="zh-CN" altLang="en-US">
                <a:latin typeface="Times New Roman" panose="02020603050405020304" pitchFamily="18" charset="0"/>
              </a:rPr>
              <a:t>所占空间</a:t>
            </a:r>
            <a:endParaRPr lang="zh-CN" altLang="en-US">
              <a:latin typeface="Times New Roman" panose="02020603050405020304" pitchFamily="18" charset="0"/>
            </a:endParaRPr>
          </a:p>
          <a:p>
            <a:pPr algn="just" eaLnBrk="1" hangingPunct="1">
              <a:spcBef>
                <a:spcPct val="50000"/>
              </a:spcBef>
            </a:pPr>
            <a:r>
              <a:rPr lang="zh-CN" altLang="en-US">
                <a:solidFill>
                  <a:schemeClr val="accent2"/>
                </a:solidFill>
                <a:latin typeface="Times New Roman" panose="02020603050405020304" pitchFamily="18" charset="0"/>
                <a:cs typeface="Times New Roman" panose="02020603050405020304" pitchFamily="18" charset="0"/>
              </a:rPr>
              <a:t>         </a:t>
            </a:r>
            <a:r>
              <a:rPr lang="en-US" altLang="zh-CN">
                <a:solidFill>
                  <a:schemeClr val="accent2"/>
                </a:solidFill>
                <a:latin typeface="Times New Roman" panose="02020603050405020304" pitchFamily="18" charset="0"/>
                <a:cs typeface="Times New Roman" panose="02020603050405020304" pitchFamily="18" charset="0"/>
              </a:rPr>
              <a:t>b += p[i];                                 </a:t>
            </a:r>
            <a:r>
              <a:rPr lang="en-US" altLang="zh-CN">
                <a:latin typeface="Times New Roman" panose="02020603050405020304" pitchFamily="18" charset="0"/>
                <a:cs typeface="Times New Roman" panose="02020603050405020304" pitchFamily="18" charset="0"/>
              </a:rPr>
              <a:t>//p[</a:t>
            </a:r>
            <a:r>
              <a:rPr lang="en-US" altLang="zh-CN">
                <a:latin typeface="Times New Roman" panose="02020603050405020304" pitchFamily="18" charset="0"/>
              </a:rPr>
              <a:t>i</a:t>
            </a:r>
            <a:r>
              <a:rPr lang="en-US" altLang="zh-CN">
                <a:latin typeface="Times New Roman" panose="02020603050405020304" pitchFamily="18" charset="0"/>
                <a:cs typeface="Times New Roman" panose="02020603050405020304" pitchFamily="18" charset="0"/>
              </a:rPr>
              <a:t>]</a:t>
            </a:r>
            <a:r>
              <a:rPr lang="zh-CN" altLang="en-US">
                <a:latin typeface="Times New Roman" panose="02020603050405020304" pitchFamily="18" charset="0"/>
              </a:rPr>
              <a:t>表示</a:t>
            </a:r>
            <a:r>
              <a:rPr lang="en-US" altLang="zh-CN">
                <a:latin typeface="Times New Roman" panose="02020603050405020304" pitchFamily="18" charset="0"/>
              </a:rPr>
              <a:t>i</a:t>
            </a:r>
            <a:r>
              <a:rPr lang="zh-CN" altLang="en-US">
                <a:latin typeface="Times New Roman" panose="02020603050405020304" pitchFamily="18" charset="0"/>
              </a:rPr>
              <a:t>的价值</a:t>
            </a:r>
            <a:endParaRPr lang="zh-CN" altLang="en-US">
              <a:latin typeface="Times New Roman" panose="02020603050405020304" pitchFamily="18" charset="0"/>
            </a:endParaRPr>
          </a:p>
          <a:p>
            <a:pPr algn="just" eaLnBrk="1" hangingPunct="1">
              <a:spcBef>
                <a:spcPct val="50000"/>
              </a:spcBef>
            </a:pPr>
            <a:r>
              <a:rPr lang="zh-CN" altLang="en-US">
                <a:solidFill>
                  <a:schemeClr val="accent2"/>
                </a:solidFill>
                <a:latin typeface="Times New Roman" panose="02020603050405020304" pitchFamily="18" charset="0"/>
                <a:cs typeface="Times New Roman" panose="02020603050405020304" pitchFamily="18" charset="0"/>
              </a:rPr>
              <a:t>         </a:t>
            </a:r>
            <a:r>
              <a:rPr lang="en-US" altLang="zh-CN">
                <a:solidFill>
                  <a:schemeClr val="accent2"/>
                </a:solidFill>
                <a:latin typeface="Times New Roman" panose="02020603050405020304" pitchFamily="18" charset="0"/>
                <a:cs typeface="Times New Roman" panose="02020603050405020304" pitchFamily="18" charset="0"/>
              </a:rPr>
              <a:t>i++;</a:t>
            </a:r>
            <a:endParaRPr lang="en-US" altLang="zh-CN">
              <a:solidFill>
                <a:schemeClr val="accent2"/>
              </a:solidFill>
              <a:latin typeface="Times New Roman" panose="02020603050405020304" pitchFamily="18" charset="0"/>
              <a:cs typeface="Times New Roman" panose="02020603050405020304" pitchFamily="18" charset="0"/>
            </a:endParaRPr>
          </a:p>
          <a:p>
            <a:pPr algn="just" eaLnBrk="1" hangingPunct="1">
              <a:spcBef>
                <a:spcPct val="50000"/>
              </a:spcBef>
            </a:pPr>
            <a:r>
              <a:rPr lang="en-US" altLang="zh-CN">
                <a:solidFill>
                  <a:schemeClr val="accent2"/>
                </a:solidFill>
                <a:latin typeface="Times New Roman" panose="02020603050405020304" pitchFamily="18" charset="0"/>
                <a:cs typeface="Times New Roman" panose="02020603050405020304" pitchFamily="18" charset="0"/>
              </a:rPr>
              <a:t>      }</a:t>
            </a:r>
            <a:endParaRPr lang="en-US" altLang="zh-CN">
              <a:solidFill>
                <a:schemeClr val="accent2"/>
              </a:solidFill>
              <a:latin typeface="Times New Roman" panose="02020603050405020304" pitchFamily="18" charset="0"/>
              <a:cs typeface="Times New Roman" panose="02020603050405020304" pitchFamily="18" charset="0"/>
            </a:endParaRPr>
          </a:p>
          <a:p>
            <a:pPr algn="just" eaLnBrk="1" hangingPunct="1">
              <a:spcBef>
                <a:spcPct val="50000"/>
              </a:spcBef>
            </a:pPr>
            <a:r>
              <a:rPr lang="en-US" altLang="zh-CN">
                <a:solidFill>
                  <a:schemeClr val="accent2"/>
                </a:solidFill>
                <a:latin typeface="Times New Roman" panose="02020603050405020304" pitchFamily="18" charset="0"/>
                <a:cs typeface="Times New Roman" panose="02020603050405020304" pitchFamily="18" charset="0"/>
              </a:rPr>
              <a:t>if (i &lt;= n) b += p[i] / w[i] * cleft;    </a:t>
            </a:r>
            <a:r>
              <a:rPr lang="en-US" altLang="zh-CN">
                <a:latin typeface="Times New Roman" panose="02020603050405020304" pitchFamily="18" charset="0"/>
                <a:cs typeface="Times New Roman" panose="02020603050405020304" pitchFamily="18" charset="0"/>
              </a:rPr>
              <a:t>// </a:t>
            </a:r>
            <a:r>
              <a:rPr lang="zh-CN" altLang="en-US">
                <a:latin typeface="宋体" panose="02010600030101010101" pitchFamily="2" charset="-122"/>
              </a:rPr>
              <a:t>装填剩余容量装满背包</a:t>
            </a:r>
            <a:endParaRPr lang="zh-CN" altLang="en-US">
              <a:latin typeface="Times New Roman" panose="02020603050405020304" pitchFamily="18" charset="0"/>
              <a:cs typeface="Times New Roman" panose="02020603050405020304" pitchFamily="18" charset="0"/>
            </a:endParaRPr>
          </a:p>
          <a:p>
            <a:pPr algn="just" eaLnBrk="1" hangingPunct="1">
              <a:spcBef>
                <a:spcPct val="50000"/>
              </a:spcBef>
            </a:pPr>
            <a:r>
              <a:rPr lang="en-US" altLang="zh-CN">
                <a:solidFill>
                  <a:schemeClr val="accent2"/>
                </a:solidFill>
                <a:latin typeface="Times New Roman" panose="02020603050405020304" pitchFamily="18" charset="0"/>
                <a:cs typeface="Times New Roman" panose="02020603050405020304" pitchFamily="18" charset="0"/>
              </a:rPr>
              <a:t>return b;</a:t>
            </a:r>
            <a:r>
              <a:rPr lang="en-US" altLang="zh-CN">
                <a:solidFill>
                  <a:schemeClr val="accent2"/>
                </a:solidFill>
                <a:ea typeface="华文行楷" panose="02010800040101010101" pitchFamily="2" charset="-122"/>
              </a:rPr>
              <a:t>                                       </a:t>
            </a:r>
            <a:r>
              <a:rPr lang="en-US" altLang="zh-CN">
                <a:ea typeface="华文行楷" panose="02010800040101010101" pitchFamily="2" charset="-122"/>
              </a:rPr>
              <a:t>//b</a:t>
            </a:r>
            <a:r>
              <a:rPr lang="zh-CN" altLang="en-US"/>
              <a:t>为上界函数</a:t>
            </a:r>
            <a:endParaRPr lang="zh-CN" altLang="en-US"/>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100"/>
                                        </p:tgtEl>
                                        <p:attrNameLst>
                                          <p:attrName>style.visibility</p:attrName>
                                        </p:attrNameLst>
                                      </p:cBhvr>
                                      <p:to>
                                        <p:strVal val="visible"/>
                                      </p:to>
                                    </p:set>
                                    <p:anim calcmode="lin" valueType="num">
                                      <p:cBhvr additive="base">
                                        <p:cTn id="7" dur="500" fill="hold"/>
                                        <p:tgtEl>
                                          <p:spTgt spid="4100"/>
                                        </p:tgtEl>
                                        <p:attrNameLst>
                                          <p:attrName>ppt_x</p:attrName>
                                        </p:attrNameLst>
                                      </p:cBhvr>
                                      <p:tavLst>
                                        <p:tav tm="0">
                                          <p:val>
                                            <p:strVal val="1+#ppt_w/2"/>
                                          </p:val>
                                        </p:tav>
                                        <p:tav tm="100000">
                                          <p:val>
                                            <p:strVal val="#ppt_x"/>
                                          </p:val>
                                        </p:tav>
                                      </p:tavLst>
                                    </p:anim>
                                    <p:anim calcmode="lin" valueType="num">
                                      <p:cBhvr additive="base">
                                        <p:cTn id="8" dur="500" fill="hold"/>
                                        <p:tgtEl>
                                          <p:spTgt spid="410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4101"/>
                                        </p:tgtEl>
                                        <p:attrNameLst>
                                          <p:attrName>style.visibility</p:attrName>
                                        </p:attrNameLst>
                                      </p:cBhvr>
                                      <p:to>
                                        <p:strVal val="visible"/>
                                      </p:to>
                                    </p:set>
                                    <p:animEffect transition="in" filter="dissolve">
                                      <p:cBhvr>
                                        <p:cTn id="13" dur="500"/>
                                        <p:tgtEl>
                                          <p:spTgt spid="4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0" grpId="0" autoUpdateAnimBg="0"/>
      <p:bldP spid="4101"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zh-CN" sz="3000"/>
              <a:t>6.5    0-1</a:t>
            </a:r>
            <a:r>
              <a:rPr lang="zh-CN" altLang="en-US" sz="3000"/>
              <a:t>背包问题</a:t>
            </a:r>
            <a:endParaRPr lang="zh-CN" altLang="en-US" sz="3000"/>
          </a:p>
        </p:txBody>
      </p:sp>
      <p:sp>
        <p:nvSpPr>
          <p:cNvPr id="5124" name="Text Box 4"/>
          <p:cNvSpPr txBox="1">
            <a:spLocks noChangeArrowheads="1"/>
          </p:cNvSpPr>
          <p:nvPr/>
        </p:nvSpPr>
        <p:spPr bwMode="auto">
          <a:xfrm>
            <a:off x="685800" y="1524000"/>
            <a:ext cx="7848600" cy="473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lnSpc>
                <a:spcPct val="150000"/>
              </a:lnSpc>
            </a:pPr>
            <a:r>
              <a:rPr lang="en-US" altLang="zh-CN" sz="1600">
                <a:solidFill>
                  <a:schemeClr val="accent2"/>
                </a:solidFill>
                <a:latin typeface="Times New Roman" panose="02020603050405020304" pitchFamily="18" charset="0"/>
                <a:cs typeface="Times New Roman" panose="02020603050405020304" pitchFamily="18" charset="0"/>
              </a:rPr>
              <a:t> </a:t>
            </a:r>
            <a:r>
              <a:rPr kumimoji="1" lang="en-US" altLang="zh-CN" sz="1600"/>
              <a:t>while (i != n+1) {// </a:t>
            </a:r>
            <a:r>
              <a:rPr kumimoji="1" lang="zh-CN" altLang="en-US" sz="1600"/>
              <a:t>非叶结点</a:t>
            </a:r>
            <a:endParaRPr kumimoji="1" lang="zh-CN" altLang="en-US" sz="1600"/>
          </a:p>
          <a:p>
            <a:pPr eaLnBrk="1" hangingPunct="1">
              <a:lnSpc>
                <a:spcPct val="150000"/>
              </a:lnSpc>
            </a:pPr>
            <a:r>
              <a:rPr kumimoji="1" lang="zh-CN" altLang="en-US" sz="1600"/>
              <a:t>      </a:t>
            </a:r>
            <a:r>
              <a:rPr kumimoji="1" lang="en-US" altLang="zh-CN" sz="1600"/>
              <a:t>// </a:t>
            </a:r>
            <a:r>
              <a:rPr kumimoji="1" lang="zh-CN" altLang="en-US" sz="1600"/>
              <a:t>检查当前扩展结点的左儿子结点</a:t>
            </a:r>
            <a:endParaRPr kumimoji="1" lang="zh-CN" altLang="en-US" sz="1600"/>
          </a:p>
          <a:p>
            <a:pPr eaLnBrk="1" hangingPunct="1">
              <a:lnSpc>
                <a:spcPct val="150000"/>
              </a:lnSpc>
            </a:pPr>
            <a:r>
              <a:rPr kumimoji="1" lang="zh-CN" altLang="en-US" sz="1600"/>
              <a:t>      </a:t>
            </a:r>
            <a:r>
              <a:rPr kumimoji="1" lang="en-US" altLang="zh-CN" sz="1600"/>
              <a:t>Typew wt = cw + w[i];</a:t>
            </a:r>
            <a:endParaRPr kumimoji="1" lang="en-US" altLang="zh-CN" sz="1600"/>
          </a:p>
          <a:p>
            <a:pPr eaLnBrk="1" hangingPunct="1">
              <a:lnSpc>
                <a:spcPct val="150000"/>
              </a:lnSpc>
            </a:pPr>
            <a:r>
              <a:rPr kumimoji="1" lang="en-US" altLang="zh-CN" sz="1600"/>
              <a:t>      if (wt &lt;= c) {// </a:t>
            </a:r>
            <a:r>
              <a:rPr kumimoji="1" lang="zh-CN" altLang="en-US" sz="1600"/>
              <a:t>左儿子结点为可行结点</a:t>
            </a:r>
            <a:endParaRPr kumimoji="1" lang="zh-CN" altLang="en-US" sz="1600"/>
          </a:p>
          <a:p>
            <a:pPr eaLnBrk="1" hangingPunct="1">
              <a:lnSpc>
                <a:spcPct val="150000"/>
              </a:lnSpc>
            </a:pPr>
            <a:r>
              <a:rPr kumimoji="1" lang="zh-CN" altLang="en-US" sz="1600"/>
              <a:t>         </a:t>
            </a:r>
            <a:r>
              <a:rPr kumimoji="1" lang="en-US" altLang="zh-CN" sz="1600"/>
              <a:t>if (cp+p[i] &gt; bestp) bestp = cp+p[i];</a:t>
            </a:r>
            <a:endParaRPr kumimoji="1" lang="en-US" altLang="zh-CN" sz="1600"/>
          </a:p>
          <a:p>
            <a:pPr eaLnBrk="1" hangingPunct="1">
              <a:lnSpc>
                <a:spcPct val="150000"/>
              </a:lnSpc>
            </a:pPr>
            <a:r>
              <a:rPr kumimoji="1" lang="en-US" altLang="zh-CN" sz="1600"/>
              <a:t>         AddLiveNode(up, cp+p[i], cw+w[i], true, i+1);}</a:t>
            </a:r>
            <a:endParaRPr kumimoji="1" lang="en-US" altLang="zh-CN" sz="1600"/>
          </a:p>
          <a:p>
            <a:pPr eaLnBrk="1" hangingPunct="1">
              <a:lnSpc>
                <a:spcPct val="150000"/>
              </a:lnSpc>
            </a:pPr>
            <a:r>
              <a:rPr kumimoji="1" lang="en-US" altLang="zh-CN" sz="1600"/>
              <a:t>         up = Bound(i+1);</a:t>
            </a:r>
            <a:endParaRPr kumimoji="1" lang="en-US" altLang="zh-CN" sz="1600"/>
          </a:p>
          <a:p>
            <a:pPr eaLnBrk="1" hangingPunct="1">
              <a:lnSpc>
                <a:spcPct val="150000"/>
              </a:lnSpc>
            </a:pPr>
            <a:r>
              <a:rPr kumimoji="1" lang="en-US" altLang="zh-CN" sz="1600"/>
              <a:t>      // </a:t>
            </a:r>
            <a:r>
              <a:rPr kumimoji="1" lang="zh-CN" altLang="en-US" sz="1600"/>
              <a:t>检查当前扩展结点的右儿子结点</a:t>
            </a:r>
            <a:endParaRPr kumimoji="1" lang="zh-CN" altLang="en-US" sz="1600"/>
          </a:p>
          <a:p>
            <a:pPr eaLnBrk="1" hangingPunct="1">
              <a:lnSpc>
                <a:spcPct val="150000"/>
              </a:lnSpc>
            </a:pPr>
            <a:r>
              <a:rPr kumimoji="1" lang="zh-CN" altLang="en-US" sz="1600"/>
              <a:t>      </a:t>
            </a:r>
            <a:r>
              <a:rPr kumimoji="1" lang="en-US" altLang="zh-CN" sz="1600"/>
              <a:t>if (up &gt;= bestp) // </a:t>
            </a:r>
            <a:r>
              <a:rPr kumimoji="1" lang="zh-CN" altLang="en-US" sz="1600"/>
              <a:t>右子树可能含最优解</a:t>
            </a:r>
            <a:endParaRPr kumimoji="1" lang="zh-CN" altLang="en-US" sz="1600"/>
          </a:p>
          <a:p>
            <a:pPr eaLnBrk="1" hangingPunct="1">
              <a:lnSpc>
                <a:spcPct val="150000"/>
              </a:lnSpc>
            </a:pPr>
            <a:r>
              <a:rPr kumimoji="1" lang="zh-CN" altLang="en-US" sz="1600"/>
              <a:t>           </a:t>
            </a:r>
            <a:r>
              <a:rPr kumimoji="1" lang="en-US" altLang="zh-CN" sz="1600"/>
              <a:t>AddLiveNode(up, cp, cw, false, i+1);</a:t>
            </a:r>
            <a:endParaRPr kumimoji="1" lang="en-US" altLang="zh-CN" sz="1600"/>
          </a:p>
          <a:p>
            <a:pPr algn="just" eaLnBrk="1" hangingPunct="1">
              <a:lnSpc>
                <a:spcPct val="150000"/>
              </a:lnSpc>
              <a:spcBef>
                <a:spcPct val="50000"/>
              </a:spcBef>
            </a:pPr>
            <a:r>
              <a:rPr lang="en-US" altLang="zh-CN" sz="1600">
                <a:solidFill>
                  <a:schemeClr val="accent2"/>
                </a:solidFill>
                <a:latin typeface="Times New Roman" panose="02020603050405020304" pitchFamily="18" charset="0"/>
                <a:cs typeface="Times New Roman" panose="02020603050405020304" pitchFamily="18" charset="0"/>
              </a:rPr>
              <a:t>         </a:t>
            </a:r>
            <a:r>
              <a:rPr lang="en-US" altLang="zh-CN" sz="1600">
                <a:latin typeface="Times New Roman" panose="02020603050405020304" pitchFamily="18" charset="0"/>
              </a:rPr>
              <a:t>//   </a:t>
            </a:r>
            <a:r>
              <a:rPr lang="zh-CN" altLang="en-US" sz="1600">
                <a:latin typeface="Times New Roman" panose="02020603050405020304" pitchFamily="18" charset="0"/>
              </a:rPr>
              <a:t>取下一个扩展节点（略）</a:t>
            </a:r>
            <a:endParaRPr lang="zh-CN" altLang="en-US" sz="1600">
              <a:latin typeface="Times New Roman" panose="02020603050405020304" pitchFamily="18" charset="0"/>
            </a:endParaRPr>
          </a:p>
          <a:p>
            <a:pPr algn="just" eaLnBrk="1" hangingPunct="1">
              <a:lnSpc>
                <a:spcPct val="150000"/>
              </a:lnSpc>
              <a:spcBef>
                <a:spcPct val="50000"/>
              </a:spcBef>
            </a:pPr>
            <a:r>
              <a:rPr lang="en-US" altLang="zh-CN" sz="1600">
                <a:solidFill>
                  <a:schemeClr val="accent2"/>
                </a:solidFill>
                <a:latin typeface="Times New Roman" panose="02020603050405020304" pitchFamily="18" charset="0"/>
                <a:cs typeface="Times New Roman" panose="02020603050405020304" pitchFamily="18" charset="0"/>
              </a:rPr>
              <a:t>}</a:t>
            </a:r>
            <a:endParaRPr lang="en-US" altLang="zh-CN" sz="1600">
              <a:solidFill>
                <a:schemeClr val="accent2"/>
              </a:solidFill>
              <a:latin typeface="Times New Roman" panose="02020603050405020304" pitchFamily="18" charset="0"/>
              <a:cs typeface="Times New Roman" panose="02020603050405020304" pitchFamily="18" charset="0"/>
            </a:endParaRPr>
          </a:p>
        </p:txBody>
      </p:sp>
      <p:sp>
        <p:nvSpPr>
          <p:cNvPr id="5125" name="AutoShape 5"/>
          <p:cNvSpPr>
            <a:spLocks noChangeArrowheads="1"/>
          </p:cNvSpPr>
          <p:nvPr/>
        </p:nvSpPr>
        <p:spPr bwMode="auto">
          <a:xfrm>
            <a:off x="5638800" y="1981200"/>
            <a:ext cx="2057400" cy="914400"/>
          </a:xfrm>
          <a:prstGeom prst="wedgeRoundRectCallout">
            <a:avLst>
              <a:gd name="adj1" fmla="val -139815"/>
              <a:gd name="adj2" fmla="val 32639"/>
              <a:gd name="adj3" fmla="val 16667"/>
            </a:avLst>
          </a:prstGeom>
          <a:solidFill>
            <a:schemeClr val="hlink"/>
          </a:solidFill>
          <a:ln w="6350">
            <a:solidFill>
              <a:schemeClr val="hlink"/>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lstStyle/>
          <a:p>
            <a:pPr algn="ctr" eaLnBrk="1" hangingPunct="1"/>
            <a:r>
              <a:rPr lang="zh-CN" altLang="en-US" sz="2000" b="1">
                <a:solidFill>
                  <a:srgbClr val="990000"/>
                </a:solidFill>
                <a:latin typeface="新宋体" panose="02010609030101010101" charset="-122"/>
                <a:ea typeface="新宋体" panose="02010609030101010101" charset="-122"/>
              </a:rPr>
              <a:t>分支限界搜索过程</a:t>
            </a:r>
            <a:endParaRPr lang="zh-CN" altLang="en-US" sz="2000" b="1">
              <a:solidFill>
                <a:srgbClr val="990000"/>
              </a:solidFill>
              <a:latin typeface="新宋体" panose="02010609030101010101" charset="-122"/>
              <a:ea typeface="新宋体" panose="02010609030101010101" charset="-122"/>
            </a:endParaRP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4"/>
                                        </p:tgtEl>
                                        <p:attrNameLst>
                                          <p:attrName>style.visibility</p:attrName>
                                        </p:attrNameLst>
                                      </p:cBhvr>
                                      <p:to>
                                        <p:strVal val="visible"/>
                                      </p:to>
                                    </p:set>
                                    <p:animEffect transition="in" filter="blinds(horizontal)">
                                      <p:cBhvr>
                                        <p:cTn id="7" dur="500"/>
                                        <p:tgtEl>
                                          <p:spTgt spid="512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5125"/>
                                        </p:tgtEl>
                                        <p:attrNameLst>
                                          <p:attrName>style.visibility</p:attrName>
                                        </p:attrNameLst>
                                      </p:cBhvr>
                                      <p:to>
                                        <p:strVal val="visible"/>
                                      </p:to>
                                    </p:set>
                                    <p:anim calcmode="lin" valueType="num">
                                      <p:cBhvr additive="base">
                                        <p:cTn id="12" dur="500" fill="hold"/>
                                        <p:tgtEl>
                                          <p:spTgt spid="5125"/>
                                        </p:tgtEl>
                                        <p:attrNameLst>
                                          <p:attrName>ppt_x</p:attrName>
                                        </p:attrNameLst>
                                      </p:cBhvr>
                                      <p:tavLst>
                                        <p:tav tm="0">
                                          <p:val>
                                            <p:strVal val="1+#ppt_w/2"/>
                                          </p:val>
                                        </p:tav>
                                        <p:tav tm="100000">
                                          <p:val>
                                            <p:strVal val="#ppt_x"/>
                                          </p:val>
                                        </p:tav>
                                      </p:tavLst>
                                    </p:anim>
                                    <p:anim calcmode="lin" valueType="num">
                                      <p:cBhvr additive="base">
                                        <p:cTn id="13" dur="500" fill="hold"/>
                                        <p:tgtEl>
                                          <p:spTgt spid="51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autoUpdateAnimBg="0"/>
      <p:bldP spid="5125" grpId="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ctrTitle"/>
          </p:nvPr>
        </p:nvSpPr>
        <p:spPr/>
        <p:txBody>
          <a:bodyPr/>
          <a:lstStyle/>
          <a:p>
            <a:pPr algn="r"/>
            <a:r>
              <a:rPr lang="zh-CN" altLang="en-US" sz="3300"/>
              <a:t>最大团问题</a:t>
            </a:r>
            <a:endParaRPr lang="zh-CN" altLang="en-US" sz="3300"/>
          </a:p>
        </p:txBody>
      </p:sp>
      <p:sp>
        <p:nvSpPr>
          <p:cNvPr id="35843" name="Rectangle 3"/>
          <p:cNvSpPr>
            <a:spLocks noGrp="1" noChangeArrowheads="1"/>
          </p:cNvSpPr>
          <p:nvPr>
            <p:ph type="subTitle" idx="1"/>
          </p:nvPr>
        </p:nvSpPr>
        <p:spPr/>
        <p:txBody>
          <a:bodyPr/>
          <a:lstStyle/>
          <a:p>
            <a:endParaRPr lang="zh-CN" altLang="zh-CN"/>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zh-CN" sz="3000"/>
              <a:t>6.6 </a:t>
            </a:r>
            <a:r>
              <a:rPr lang="zh-CN" altLang="en-US" sz="3000"/>
              <a:t>最大团问题</a:t>
            </a:r>
            <a:endParaRPr lang="zh-CN" altLang="en-US" sz="3000"/>
          </a:p>
        </p:txBody>
      </p:sp>
      <p:sp>
        <p:nvSpPr>
          <p:cNvPr id="6148" name="Text Box 4"/>
          <p:cNvSpPr txBox="1">
            <a:spLocks noChangeArrowheads="1"/>
          </p:cNvSpPr>
          <p:nvPr/>
        </p:nvSpPr>
        <p:spPr bwMode="auto">
          <a:xfrm>
            <a:off x="539750" y="2133600"/>
            <a:ext cx="8280400" cy="319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给定无向图</a:t>
            </a:r>
            <a:r>
              <a:rPr lang="en-US" altLang="zh-CN" sz="2400" b="1">
                <a:latin typeface="新宋体" panose="02010609030101010101" charset="-122"/>
                <a:ea typeface="新宋体" panose="02010609030101010101" charset="-122"/>
              </a:rPr>
              <a:t>G=(V</a:t>
            </a:r>
            <a:r>
              <a:rPr lang="zh-CN" altLang="en-US" sz="2400" b="1">
                <a:latin typeface="新宋体" panose="02010609030101010101" charset="-122"/>
                <a:ea typeface="新宋体" panose="02010609030101010101" charset="-122"/>
              </a:rPr>
              <a:t>，</a:t>
            </a:r>
            <a:r>
              <a:rPr lang="en-US" altLang="zh-CN" sz="2400" b="1">
                <a:latin typeface="新宋体" panose="02010609030101010101" charset="-122"/>
                <a:ea typeface="新宋体" panose="02010609030101010101" charset="-122"/>
              </a:rPr>
              <a:t>E)</a:t>
            </a:r>
            <a:r>
              <a:rPr lang="zh-CN" altLang="en-US" sz="2400" b="1">
                <a:latin typeface="新宋体" panose="02010609030101010101" charset="-122"/>
                <a:ea typeface="新宋体" panose="02010609030101010101" charset="-122"/>
              </a:rPr>
              <a:t>。如果</a:t>
            </a:r>
            <a:r>
              <a:rPr lang="en-US" altLang="zh-CN" sz="2400" b="1">
                <a:latin typeface="新宋体" panose="02010609030101010101" charset="-122"/>
                <a:ea typeface="新宋体" panose="02010609030101010101" charset="-122"/>
              </a:rPr>
              <a:t>U</a:t>
            </a:r>
            <a:r>
              <a:rPr lang="en-US" altLang="zh-CN" sz="2400" b="1">
                <a:latin typeface="新宋体" panose="02010609030101010101" charset="-122"/>
                <a:ea typeface="新宋体" panose="02010609030101010101" charset="-122"/>
                <a:sym typeface="Symbol" panose="05050102010706020507" pitchFamily="18" charset="2"/>
              </a:rPr>
              <a:t></a:t>
            </a:r>
            <a:r>
              <a:rPr lang="en-US" altLang="zh-CN" sz="2400" b="1">
                <a:latin typeface="新宋体" panose="02010609030101010101" charset="-122"/>
                <a:ea typeface="新宋体" panose="02010609030101010101" charset="-122"/>
              </a:rPr>
              <a:t>V</a:t>
            </a:r>
            <a:r>
              <a:rPr lang="zh-CN" altLang="en-US" sz="2400" b="1">
                <a:latin typeface="新宋体" panose="02010609030101010101" charset="-122"/>
                <a:ea typeface="新宋体" panose="02010609030101010101" charset="-122"/>
              </a:rPr>
              <a:t>，且对任意</a:t>
            </a:r>
            <a:r>
              <a:rPr lang="en-US" altLang="zh-CN" sz="2400" b="1">
                <a:latin typeface="新宋体" panose="02010609030101010101" charset="-122"/>
                <a:ea typeface="新宋体" panose="02010609030101010101" charset="-122"/>
              </a:rPr>
              <a:t>u</a:t>
            </a:r>
            <a:r>
              <a:rPr lang="zh-CN" altLang="en-US" sz="2400" b="1">
                <a:latin typeface="新宋体" panose="02010609030101010101" charset="-122"/>
                <a:ea typeface="新宋体" panose="02010609030101010101" charset="-122"/>
              </a:rPr>
              <a:t>，</a:t>
            </a:r>
            <a:r>
              <a:rPr lang="en-US" altLang="zh-CN" sz="2400" b="1">
                <a:latin typeface="新宋体" panose="02010609030101010101" charset="-122"/>
                <a:ea typeface="新宋体" panose="02010609030101010101" charset="-122"/>
              </a:rPr>
              <a:t>v</a:t>
            </a:r>
            <a:r>
              <a:rPr lang="en-US" altLang="zh-CN" sz="2400" b="1">
                <a:latin typeface="新宋体" panose="02010609030101010101" charset="-122"/>
                <a:ea typeface="新宋体" panose="02010609030101010101" charset="-122"/>
                <a:sym typeface="Symbol" panose="05050102010706020507" pitchFamily="18" charset="2"/>
              </a:rPr>
              <a:t></a:t>
            </a:r>
            <a:r>
              <a:rPr lang="en-US" altLang="zh-CN" sz="2400" b="1">
                <a:latin typeface="新宋体" panose="02010609030101010101" charset="-122"/>
                <a:ea typeface="新宋体" panose="02010609030101010101" charset="-122"/>
              </a:rPr>
              <a:t>U</a:t>
            </a:r>
            <a:r>
              <a:rPr lang="zh-CN" altLang="en-US" sz="2400" b="1">
                <a:latin typeface="新宋体" panose="02010609030101010101" charset="-122"/>
                <a:ea typeface="新宋体" panose="02010609030101010101" charset="-122"/>
              </a:rPr>
              <a:t>有</a:t>
            </a:r>
            <a:r>
              <a:rPr lang="en-US" altLang="zh-CN" sz="2400" b="1">
                <a:latin typeface="新宋体" panose="02010609030101010101" charset="-122"/>
                <a:ea typeface="新宋体" panose="02010609030101010101" charset="-122"/>
              </a:rPr>
              <a:t>(u</a:t>
            </a:r>
            <a:r>
              <a:rPr lang="zh-CN" altLang="en-US" sz="2400" b="1">
                <a:latin typeface="新宋体" panose="02010609030101010101" charset="-122"/>
                <a:ea typeface="新宋体" panose="02010609030101010101" charset="-122"/>
              </a:rPr>
              <a:t>，</a:t>
            </a:r>
            <a:r>
              <a:rPr lang="en-US" altLang="zh-CN" sz="2400" b="1">
                <a:latin typeface="新宋体" panose="02010609030101010101" charset="-122"/>
                <a:ea typeface="新宋体" panose="02010609030101010101" charset="-122"/>
              </a:rPr>
              <a:t>v)</a:t>
            </a:r>
            <a:r>
              <a:rPr lang="en-US" altLang="zh-CN" sz="2400" b="1">
                <a:latin typeface="新宋体" panose="02010609030101010101" charset="-122"/>
                <a:ea typeface="新宋体" panose="02010609030101010101" charset="-122"/>
                <a:sym typeface="Symbol" panose="05050102010706020507" pitchFamily="18" charset="2"/>
              </a:rPr>
              <a:t></a:t>
            </a:r>
            <a:r>
              <a:rPr lang="en-US" altLang="zh-CN" sz="2400" b="1">
                <a:latin typeface="新宋体" panose="02010609030101010101" charset="-122"/>
                <a:ea typeface="新宋体" panose="02010609030101010101" charset="-122"/>
              </a:rPr>
              <a:t>E</a:t>
            </a:r>
            <a:r>
              <a:rPr lang="zh-CN" altLang="en-US" sz="2400" b="1">
                <a:latin typeface="新宋体" panose="02010609030101010101" charset="-122"/>
                <a:ea typeface="新宋体" panose="02010609030101010101" charset="-122"/>
              </a:rPr>
              <a:t>，则称</a:t>
            </a:r>
            <a:r>
              <a:rPr lang="en-US" altLang="zh-CN" sz="2400" b="1">
                <a:latin typeface="新宋体" panose="02010609030101010101" charset="-122"/>
                <a:ea typeface="新宋体" panose="02010609030101010101" charset="-122"/>
              </a:rPr>
              <a:t>U</a:t>
            </a:r>
            <a:r>
              <a:rPr lang="zh-CN" altLang="en-US" sz="2400" b="1">
                <a:latin typeface="新宋体" panose="02010609030101010101" charset="-122"/>
                <a:ea typeface="新宋体" panose="02010609030101010101" charset="-122"/>
              </a:rPr>
              <a:t>是</a:t>
            </a:r>
            <a:r>
              <a:rPr lang="en-US" altLang="zh-CN" sz="2400" b="1">
                <a:latin typeface="新宋体" panose="02010609030101010101" charset="-122"/>
                <a:ea typeface="新宋体" panose="02010609030101010101" charset="-122"/>
              </a:rPr>
              <a:t>G</a:t>
            </a:r>
            <a:r>
              <a:rPr lang="zh-CN" altLang="en-US" sz="2400" b="1">
                <a:latin typeface="新宋体" panose="02010609030101010101" charset="-122"/>
                <a:ea typeface="新宋体" panose="02010609030101010101" charset="-122"/>
              </a:rPr>
              <a:t>的完全子图。</a:t>
            </a:r>
            <a:r>
              <a:rPr lang="en-US" altLang="zh-CN" sz="2400" b="1">
                <a:latin typeface="新宋体" panose="02010609030101010101" charset="-122"/>
                <a:ea typeface="新宋体" panose="02010609030101010101" charset="-122"/>
              </a:rPr>
              <a:t>G</a:t>
            </a:r>
            <a:r>
              <a:rPr lang="zh-CN" altLang="en-US" sz="2400" b="1">
                <a:latin typeface="新宋体" panose="02010609030101010101" charset="-122"/>
                <a:ea typeface="新宋体" panose="02010609030101010101" charset="-122"/>
              </a:rPr>
              <a:t>的完全子图</a:t>
            </a:r>
            <a:r>
              <a:rPr lang="en-US" altLang="zh-CN" sz="2400" b="1">
                <a:latin typeface="新宋体" panose="02010609030101010101" charset="-122"/>
                <a:ea typeface="新宋体" panose="02010609030101010101" charset="-122"/>
              </a:rPr>
              <a:t>U</a:t>
            </a:r>
            <a:r>
              <a:rPr lang="zh-CN" altLang="en-US" sz="2400" b="1">
                <a:latin typeface="新宋体" panose="02010609030101010101" charset="-122"/>
                <a:ea typeface="新宋体" panose="02010609030101010101" charset="-122"/>
              </a:rPr>
              <a:t>是</a:t>
            </a:r>
            <a:r>
              <a:rPr lang="en-US" altLang="zh-CN" sz="2400" b="1">
                <a:latin typeface="新宋体" panose="02010609030101010101" charset="-122"/>
                <a:ea typeface="新宋体" panose="02010609030101010101" charset="-122"/>
              </a:rPr>
              <a:t>G</a:t>
            </a:r>
            <a:r>
              <a:rPr lang="zh-CN" altLang="en-US" sz="2400" b="1">
                <a:latin typeface="新宋体" panose="02010609030101010101" charset="-122"/>
                <a:ea typeface="新宋体" panose="02010609030101010101" charset="-122"/>
              </a:rPr>
              <a:t>的团当且仅当</a:t>
            </a:r>
            <a:r>
              <a:rPr lang="en-US" altLang="zh-CN" sz="2400" b="1">
                <a:latin typeface="新宋体" panose="02010609030101010101" charset="-122"/>
                <a:ea typeface="新宋体" panose="02010609030101010101" charset="-122"/>
              </a:rPr>
              <a:t>U</a:t>
            </a:r>
            <a:r>
              <a:rPr lang="zh-CN" altLang="en-US" sz="2400" b="1">
                <a:latin typeface="新宋体" panose="02010609030101010101" charset="-122"/>
                <a:ea typeface="新宋体" panose="02010609030101010101" charset="-122"/>
              </a:rPr>
              <a:t>不包含在</a:t>
            </a:r>
            <a:r>
              <a:rPr lang="en-US" altLang="zh-CN" sz="2400" b="1">
                <a:latin typeface="新宋体" panose="02010609030101010101" charset="-122"/>
                <a:ea typeface="新宋体" panose="02010609030101010101" charset="-122"/>
              </a:rPr>
              <a:t>G</a:t>
            </a:r>
            <a:r>
              <a:rPr lang="zh-CN" altLang="en-US" sz="2400" b="1">
                <a:latin typeface="新宋体" panose="02010609030101010101" charset="-122"/>
                <a:ea typeface="新宋体" panose="02010609030101010101" charset="-122"/>
              </a:rPr>
              <a:t>的更大的完全子图中。</a:t>
            </a:r>
            <a:r>
              <a:rPr lang="en-US" altLang="zh-CN" sz="2400" b="1">
                <a:latin typeface="新宋体" panose="02010609030101010101" charset="-122"/>
                <a:ea typeface="新宋体" panose="02010609030101010101" charset="-122"/>
              </a:rPr>
              <a:t>G</a:t>
            </a:r>
            <a:r>
              <a:rPr lang="zh-CN" altLang="en-US" sz="2400" b="1">
                <a:latin typeface="新宋体" panose="02010609030101010101" charset="-122"/>
                <a:ea typeface="新宋体" panose="02010609030101010101" charset="-122"/>
              </a:rPr>
              <a:t>的最大团是指</a:t>
            </a:r>
            <a:r>
              <a:rPr lang="en-US" altLang="zh-CN" sz="2400" b="1">
                <a:latin typeface="新宋体" panose="02010609030101010101" charset="-122"/>
                <a:ea typeface="新宋体" panose="02010609030101010101" charset="-122"/>
              </a:rPr>
              <a:t>G</a:t>
            </a:r>
            <a:r>
              <a:rPr lang="zh-CN" altLang="en-US" sz="2400" b="1">
                <a:latin typeface="新宋体" panose="02010609030101010101" charset="-122"/>
                <a:ea typeface="新宋体" panose="02010609030101010101" charset="-122"/>
              </a:rPr>
              <a:t>中所含顶点数最多的团。</a:t>
            </a:r>
            <a:endParaRPr lang="zh-CN" altLang="en-US" sz="2400" b="1">
              <a:latin typeface="新宋体" panose="02010609030101010101" charset="-122"/>
              <a:ea typeface="新宋体" panose="02010609030101010101" charset="-122"/>
            </a:endParaRPr>
          </a:p>
          <a:p>
            <a:pPr eaLnBrk="1" hangingPunct="1">
              <a:spcBef>
                <a:spcPct val="50000"/>
              </a:spcBef>
            </a:pPr>
            <a:r>
              <a:rPr lang="zh-CN" altLang="en-US" sz="2400" b="1">
                <a:latin typeface="新宋体" panose="02010609030101010101" charset="-122"/>
                <a:ea typeface="新宋体" panose="02010609030101010101" charset="-122"/>
              </a:rPr>
              <a:t>    下图</a:t>
            </a:r>
            <a:r>
              <a:rPr lang="en-US" altLang="zh-CN" sz="2400" b="1">
                <a:latin typeface="新宋体" panose="02010609030101010101" charset="-122"/>
                <a:ea typeface="新宋体" panose="02010609030101010101" charset="-122"/>
              </a:rPr>
              <a:t>G</a:t>
            </a:r>
            <a:r>
              <a:rPr lang="zh-CN" altLang="en-US" sz="2400" b="1">
                <a:latin typeface="新宋体" panose="02010609030101010101" charset="-122"/>
                <a:ea typeface="新宋体" panose="02010609030101010101" charset="-122"/>
              </a:rPr>
              <a:t>中，子集</a:t>
            </a:r>
            <a:r>
              <a:rPr lang="en-US" altLang="zh-CN" sz="2400" b="1">
                <a:latin typeface="新宋体" panose="02010609030101010101" charset="-122"/>
                <a:ea typeface="新宋体" panose="02010609030101010101" charset="-122"/>
              </a:rPr>
              <a:t>{1</a:t>
            </a:r>
            <a:r>
              <a:rPr lang="zh-CN" altLang="en-US" sz="2400" b="1">
                <a:latin typeface="新宋体" panose="02010609030101010101" charset="-122"/>
                <a:ea typeface="新宋体" panose="02010609030101010101" charset="-122"/>
              </a:rPr>
              <a:t>，</a:t>
            </a:r>
            <a:r>
              <a:rPr lang="en-US" altLang="zh-CN" sz="2400" b="1">
                <a:latin typeface="新宋体" panose="02010609030101010101" charset="-122"/>
                <a:ea typeface="新宋体" panose="02010609030101010101" charset="-122"/>
              </a:rPr>
              <a:t>2}</a:t>
            </a:r>
            <a:r>
              <a:rPr lang="zh-CN" altLang="en-US" sz="2400" b="1">
                <a:latin typeface="新宋体" panose="02010609030101010101" charset="-122"/>
                <a:ea typeface="新宋体" panose="02010609030101010101" charset="-122"/>
              </a:rPr>
              <a:t>是</a:t>
            </a:r>
            <a:r>
              <a:rPr lang="en-US" altLang="zh-CN" sz="2400" b="1">
                <a:latin typeface="新宋体" panose="02010609030101010101" charset="-122"/>
                <a:ea typeface="新宋体" panose="02010609030101010101" charset="-122"/>
              </a:rPr>
              <a:t>G</a:t>
            </a:r>
            <a:r>
              <a:rPr lang="zh-CN" altLang="en-US" sz="2400" b="1">
                <a:latin typeface="新宋体" panose="02010609030101010101" charset="-122"/>
                <a:ea typeface="新宋体" panose="02010609030101010101" charset="-122"/>
              </a:rPr>
              <a:t>的大小为</a:t>
            </a:r>
            <a:r>
              <a:rPr lang="en-US" altLang="zh-CN" sz="2400" b="1">
                <a:latin typeface="新宋体" panose="02010609030101010101" charset="-122"/>
                <a:ea typeface="新宋体" panose="02010609030101010101" charset="-122"/>
              </a:rPr>
              <a:t>2</a:t>
            </a:r>
            <a:r>
              <a:rPr lang="zh-CN" altLang="en-US" sz="2400" b="1">
                <a:latin typeface="新宋体" panose="02010609030101010101" charset="-122"/>
                <a:ea typeface="新宋体" panose="02010609030101010101" charset="-122"/>
              </a:rPr>
              <a:t>的完全子图。这个完全子图不是团，因为它被</a:t>
            </a:r>
            <a:r>
              <a:rPr lang="en-US" altLang="zh-CN" sz="2400" b="1">
                <a:latin typeface="新宋体" panose="02010609030101010101" charset="-122"/>
                <a:ea typeface="新宋体" panose="02010609030101010101" charset="-122"/>
              </a:rPr>
              <a:t>G</a:t>
            </a:r>
            <a:r>
              <a:rPr lang="zh-CN" altLang="en-US" sz="2400" b="1">
                <a:latin typeface="新宋体" panose="02010609030101010101" charset="-122"/>
                <a:ea typeface="新宋体" panose="02010609030101010101" charset="-122"/>
              </a:rPr>
              <a:t>的更大的完全子图</a:t>
            </a:r>
            <a:r>
              <a:rPr lang="en-US" altLang="zh-CN" sz="2400" b="1">
                <a:latin typeface="新宋体" panose="02010609030101010101" charset="-122"/>
                <a:ea typeface="新宋体" panose="02010609030101010101" charset="-122"/>
              </a:rPr>
              <a:t>{1</a:t>
            </a:r>
            <a:r>
              <a:rPr lang="zh-CN" altLang="en-US" sz="2400" b="1">
                <a:latin typeface="新宋体" panose="02010609030101010101" charset="-122"/>
                <a:ea typeface="新宋体" panose="02010609030101010101" charset="-122"/>
              </a:rPr>
              <a:t>，</a:t>
            </a:r>
            <a:r>
              <a:rPr lang="en-US" altLang="zh-CN" sz="2400" b="1">
                <a:latin typeface="新宋体" panose="02010609030101010101" charset="-122"/>
                <a:ea typeface="新宋体" panose="02010609030101010101" charset="-122"/>
              </a:rPr>
              <a:t>2</a:t>
            </a:r>
            <a:r>
              <a:rPr lang="zh-CN" altLang="en-US" sz="2400" b="1">
                <a:latin typeface="新宋体" panose="02010609030101010101" charset="-122"/>
                <a:ea typeface="新宋体" panose="02010609030101010101" charset="-122"/>
              </a:rPr>
              <a:t>，</a:t>
            </a:r>
            <a:r>
              <a:rPr lang="en-US" altLang="zh-CN" sz="2400" b="1">
                <a:latin typeface="新宋体" panose="02010609030101010101" charset="-122"/>
                <a:ea typeface="新宋体" panose="02010609030101010101" charset="-122"/>
              </a:rPr>
              <a:t>5}</a:t>
            </a:r>
            <a:r>
              <a:rPr lang="zh-CN" altLang="en-US" sz="2400" b="1">
                <a:latin typeface="新宋体" panose="02010609030101010101" charset="-122"/>
                <a:ea typeface="新宋体" panose="02010609030101010101" charset="-122"/>
              </a:rPr>
              <a:t>包含。</a:t>
            </a:r>
            <a:r>
              <a:rPr lang="en-US" altLang="zh-CN" sz="2400" b="1">
                <a:latin typeface="新宋体" panose="02010609030101010101" charset="-122"/>
                <a:ea typeface="新宋体" panose="02010609030101010101" charset="-122"/>
              </a:rPr>
              <a:t>{1</a:t>
            </a:r>
            <a:r>
              <a:rPr lang="zh-CN" altLang="en-US" sz="2400" b="1">
                <a:latin typeface="新宋体" panose="02010609030101010101" charset="-122"/>
                <a:ea typeface="新宋体" panose="02010609030101010101" charset="-122"/>
              </a:rPr>
              <a:t>，</a:t>
            </a:r>
            <a:r>
              <a:rPr lang="en-US" altLang="zh-CN" sz="2400" b="1">
                <a:latin typeface="新宋体" panose="02010609030101010101" charset="-122"/>
                <a:ea typeface="新宋体" panose="02010609030101010101" charset="-122"/>
              </a:rPr>
              <a:t>2</a:t>
            </a:r>
            <a:r>
              <a:rPr lang="zh-CN" altLang="en-US" sz="2400" b="1">
                <a:latin typeface="新宋体" panose="02010609030101010101" charset="-122"/>
                <a:ea typeface="新宋体" panose="02010609030101010101" charset="-122"/>
              </a:rPr>
              <a:t>，</a:t>
            </a:r>
            <a:r>
              <a:rPr lang="en-US" altLang="zh-CN" sz="2400" b="1">
                <a:latin typeface="新宋体" panose="02010609030101010101" charset="-122"/>
                <a:ea typeface="新宋体" panose="02010609030101010101" charset="-122"/>
              </a:rPr>
              <a:t>5}</a:t>
            </a:r>
            <a:r>
              <a:rPr lang="zh-CN" altLang="en-US" sz="2400" b="1">
                <a:latin typeface="新宋体" panose="02010609030101010101" charset="-122"/>
                <a:ea typeface="新宋体" panose="02010609030101010101" charset="-122"/>
              </a:rPr>
              <a:t>是</a:t>
            </a:r>
            <a:r>
              <a:rPr lang="en-US" altLang="zh-CN" sz="2400" b="1">
                <a:latin typeface="新宋体" panose="02010609030101010101" charset="-122"/>
                <a:ea typeface="新宋体" panose="02010609030101010101" charset="-122"/>
              </a:rPr>
              <a:t>G</a:t>
            </a:r>
            <a:r>
              <a:rPr lang="zh-CN" altLang="en-US" sz="2400" b="1">
                <a:latin typeface="新宋体" panose="02010609030101010101" charset="-122"/>
                <a:ea typeface="新宋体" panose="02010609030101010101" charset="-122"/>
              </a:rPr>
              <a:t>的最大团。</a:t>
            </a:r>
            <a:r>
              <a:rPr lang="en-US" altLang="zh-CN" sz="2400" b="1">
                <a:latin typeface="新宋体" panose="02010609030101010101" charset="-122"/>
                <a:ea typeface="新宋体" panose="02010609030101010101" charset="-122"/>
              </a:rPr>
              <a:t>{1</a:t>
            </a:r>
            <a:r>
              <a:rPr lang="zh-CN" altLang="en-US" sz="2400" b="1">
                <a:latin typeface="新宋体" panose="02010609030101010101" charset="-122"/>
                <a:ea typeface="新宋体" panose="02010609030101010101" charset="-122"/>
              </a:rPr>
              <a:t>，</a:t>
            </a:r>
            <a:r>
              <a:rPr lang="en-US" altLang="zh-CN" sz="2400" b="1">
                <a:latin typeface="新宋体" panose="02010609030101010101" charset="-122"/>
                <a:ea typeface="新宋体" panose="02010609030101010101" charset="-122"/>
              </a:rPr>
              <a:t>4</a:t>
            </a:r>
            <a:r>
              <a:rPr lang="zh-CN" altLang="en-US" sz="2400" b="1">
                <a:latin typeface="新宋体" panose="02010609030101010101" charset="-122"/>
                <a:ea typeface="新宋体" panose="02010609030101010101" charset="-122"/>
              </a:rPr>
              <a:t>，</a:t>
            </a:r>
            <a:r>
              <a:rPr lang="en-US" altLang="zh-CN" sz="2400" b="1">
                <a:latin typeface="新宋体" panose="02010609030101010101" charset="-122"/>
                <a:ea typeface="新宋体" panose="02010609030101010101" charset="-122"/>
              </a:rPr>
              <a:t>5}</a:t>
            </a:r>
            <a:r>
              <a:rPr lang="zh-CN" altLang="en-US" sz="2400" b="1">
                <a:latin typeface="新宋体" panose="02010609030101010101" charset="-122"/>
                <a:ea typeface="新宋体" panose="02010609030101010101" charset="-122"/>
              </a:rPr>
              <a:t>和</a:t>
            </a:r>
            <a:r>
              <a:rPr lang="en-US" altLang="zh-CN" sz="2400" b="1">
                <a:latin typeface="新宋体" panose="02010609030101010101" charset="-122"/>
                <a:ea typeface="新宋体" panose="02010609030101010101" charset="-122"/>
              </a:rPr>
              <a:t>{2</a:t>
            </a:r>
            <a:r>
              <a:rPr lang="zh-CN" altLang="en-US" sz="2400" b="1">
                <a:latin typeface="新宋体" panose="02010609030101010101" charset="-122"/>
                <a:ea typeface="新宋体" panose="02010609030101010101" charset="-122"/>
              </a:rPr>
              <a:t>，</a:t>
            </a:r>
            <a:r>
              <a:rPr lang="en-US" altLang="zh-CN" sz="2400" b="1">
                <a:latin typeface="新宋体" panose="02010609030101010101" charset="-122"/>
                <a:ea typeface="新宋体" panose="02010609030101010101" charset="-122"/>
              </a:rPr>
              <a:t>3</a:t>
            </a:r>
            <a:r>
              <a:rPr lang="zh-CN" altLang="en-US" sz="2400" b="1">
                <a:latin typeface="新宋体" panose="02010609030101010101" charset="-122"/>
                <a:ea typeface="新宋体" panose="02010609030101010101" charset="-122"/>
              </a:rPr>
              <a:t>，</a:t>
            </a:r>
            <a:r>
              <a:rPr lang="en-US" altLang="zh-CN" sz="2400" b="1">
                <a:latin typeface="新宋体" panose="02010609030101010101" charset="-122"/>
                <a:ea typeface="新宋体" panose="02010609030101010101" charset="-122"/>
              </a:rPr>
              <a:t>5}</a:t>
            </a:r>
            <a:r>
              <a:rPr lang="zh-CN" altLang="en-US" sz="2400" b="1">
                <a:latin typeface="新宋体" panose="02010609030101010101" charset="-122"/>
                <a:ea typeface="新宋体" panose="02010609030101010101" charset="-122"/>
              </a:rPr>
              <a:t>也是</a:t>
            </a:r>
            <a:r>
              <a:rPr lang="en-US" altLang="zh-CN" sz="2400" b="1">
                <a:latin typeface="新宋体" panose="02010609030101010101" charset="-122"/>
                <a:ea typeface="新宋体" panose="02010609030101010101" charset="-122"/>
              </a:rPr>
              <a:t>G</a:t>
            </a:r>
            <a:r>
              <a:rPr lang="zh-CN" altLang="en-US" sz="2400" b="1">
                <a:latin typeface="新宋体" panose="02010609030101010101" charset="-122"/>
                <a:ea typeface="新宋体" panose="02010609030101010101" charset="-122"/>
              </a:rPr>
              <a:t>的最大团。 </a:t>
            </a:r>
            <a:endParaRPr lang="zh-CN" altLang="en-US" sz="2400" b="1">
              <a:latin typeface="新宋体" panose="02010609030101010101" charset="-122"/>
              <a:ea typeface="新宋体" panose="02010609030101010101" charset="-122"/>
            </a:endParaRPr>
          </a:p>
        </p:txBody>
      </p:sp>
      <p:sp>
        <p:nvSpPr>
          <p:cNvPr id="6149" name="Text Box 5"/>
          <p:cNvSpPr txBox="1">
            <a:spLocks noChangeArrowheads="1"/>
          </p:cNvSpPr>
          <p:nvPr/>
        </p:nvSpPr>
        <p:spPr bwMode="auto">
          <a:xfrm>
            <a:off x="323850" y="1484313"/>
            <a:ext cx="5943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b="1">
                <a:solidFill>
                  <a:schemeClr val="accent2"/>
                </a:solidFill>
                <a:latin typeface="Times New Roman" panose="02020603050405020304" pitchFamily="18" charset="0"/>
                <a:ea typeface="黑体" panose="02010609060101010101" pitchFamily="2" charset="-122"/>
              </a:rPr>
              <a:t>1. </a:t>
            </a:r>
            <a:r>
              <a:rPr kumimoji="1" lang="zh-CN" altLang="en-US" sz="3200" b="1">
                <a:solidFill>
                  <a:schemeClr val="accent2"/>
                </a:solidFill>
                <a:latin typeface="Times New Roman" panose="02020603050405020304" pitchFamily="18" charset="0"/>
                <a:ea typeface="黑体" panose="02010609060101010101" pitchFamily="2" charset="-122"/>
              </a:rPr>
              <a:t>问题描述</a:t>
            </a:r>
            <a:endParaRPr lang="zh-CN" altLang="en-US" b="1">
              <a:solidFill>
                <a:schemeClr val="accent2"/>
              </a:solidFill>
              <a:ea typeface="华文行楷" panose="02010800040101010101" pitchFamily="2" charset="-122"/>
            </a:endParaRPr>
          </a:p>
        </p:txBody>
      </p:sp>
      <p:pic>
        <p:nvPicPr>
          <p:cNvPr id="6150" name="Picture 6" descr="未命名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32138" y="5229225"/>
            <a:ext cx="2819400" cy="13319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149"/>
                                        </p:tgtEl>
                                        <p:attrNameLst>
                                          <p:attrName>style.visibility</p:attrName>
                                        </p:attrNameLst>
                                      </p:cBhvr>
                                      <p:to>
                                        <p:strVal val="visible"/>
                                      </p:to>
                                    </p:set>
                                    <p:anim calcmode="lin" valueType="num">
                                      <p:cBhvr additive="base">
                                        <p:cTn id="7" dur="500" fill="hold"/>
                                        <p:tgtEl>
                                          <p:spTgt spid="6149"/>
                                        </p:tgtEl>
                                        <p:attrNameLst>
                                          <p:attrName>ppt_x</p:attrName>
                                        </p:attrNameLst>
                                      </p:cBhvr>
                                      <p:tavLst>
                                        <p:tav tm="0">
                                          <p:val>
                                            <p:strVal val="1+#ppt_w/2"/>
                                          </p:val>
                                        </p:tav>
                                        <p:tav tm="100000">
                                          <p:val>
                                            <p:strVal val="#ppt_x"/>
                                          </p:val>
                                        </p:tav>
                                      </p:tavLst>
                                    </p:anim>
                                    <p:anim calcmode="lin" valueType="num">
                                      <p:cBhvr additive="base">
                                        <p:cTn id="8" dur="500" fill="hold"/>
                                        <p:tgtEl>
                                          <p:spTgt spid="614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6148"/>
                                        </p:tgtEl>
                                        <p:attrNameLst>
                                          <p:attrName>style.visibility</p:attrName>
                                        </p:attrNameLst>
                                      </p:cBhvr>
                                      <p:to>
                                        <p:strVal val="visible"/>
                                      </p:to>
                                    </p:set>
                                    <p:animEffect transition="in" filter="blinds(horizontal)">
                                      <p:cBhvr>
                                        <p:cTn id="13" dur="500"/>
                                        <p:tgtEl>
                                          <p:spTgt spid="614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150"/>
                                        </p:tgtEl>
                                        <p:attrNameLst>
                                          <p:attrName>style.visibility</p:attrName>
                                        </p:attrNameLst>
                                      </p:cBhvr>
                                      <p:to>
                                        <p:strVal val="visible"/>
                                      </p:to>
                                    </p:set>
                                    <p:anim calcmode="lin" valueType="num">
                                      <p:cBhvr additive="base">
                                        <p:cTn id="18" dur="500" fill="hold"/>
                                        <p:tgtEl>
                                          <p:spTgt spid="6150"/>
                                        </p:tgtEl>
                                        <p:attrNameLst>
                                          <p:attrName>ppt_x</p:attrName>
                                        </p:attrNameLst>
                                      </p:cBhvr>
                                      <p:tavLst>
                                        <p:tav tm="0">
                                          <p:val>
                                            <p:strVal val="#ppt_x"/>
                                          </p:val>
                                        </p:tav>
                                        <p:tav tm="100000">
                                          <p:val>
                                            <p:strVal val="#ppt_x"/>
                                          </p:val>
                                        </p:tav>
                                      </p:tavLst>
                                    </p:anim>
                                    <p:anim calcmode="lin" valueType="num">
                                      <p:cBhvr additive="base">
                                        <p:cTn id="19" dur="500" fill="hold"/>
                                        <p:tgtEl>
                                          <p:spTgt spid="61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autoUpdateAnimBg="0"/>
      <p:bldP spid="6149"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zh-CN" sz="3000"/>
              <a:t>6.6 </a:t>
            </a:r>
            <a:r>
              <a:rPr lang="zh-CN" altLang="en-US" sz="3000"/>
              <a:t>最大团问题</a:t>
            </a:r>
            <a:endParaRPr lang="zh-CN" altLang="en-US" sz="3000"/>
          </a:p>
        </p:txBody>
      </p:sp>
      <p:sp>
        <p:nvSpPr>
          <p:cNvPr id="7172" name="Text Box 4"/>
          <p:cNvSpPr txBox="1">
            <a:spLocks noChangeArrowheads="1"/>
          </p:cNvSpPr>
          <p:nvPr/>
        </p:nvSpPr>
        <p:spPr bwMode="auto">
          <a:xfrm>
            <a:off x="533400" y="1916113"/>
            <a:ext cx="5029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ctr" eaLnBrk="1" hangingPunct="1">
              <a:spcBef>
                <a:spcPct val="50000"/>
              </a:spcBef>
            </a:pPr>
            <a:endParaRPr lang="zh-CN" altLang="zh-CN" b="1">
              <a:solidFill>
                <a:schemeClr val="accent2"/>
              </a:solidFill>
              <a:ea typeface="华文行楷" panose="02010800040101010101" pitchFamily="2" charset="-122"/>
            </a:endParaRPr>
          </a:p>
        </p:txBody>
      </p:sp>
      <p:sp>
        <p:nvSpPr>
          <p:cNvPr id="7173" name="Text Box 5"/>
          <p:cNvSpPr txBox="1">
            <a:spLocks noChangeArrowheads="1"/>
          </p:cNvSpPr>
          <p:nvPr/>
        </p:nvSpPr>
        <p:spPr bwMode="auto">
          <a:xfrm>
            <a:off x="304800" y="1916113"/>
            <a:ext cx="5943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b="1">
                <a:solidFill>
                  <a:schemeClr val="accent2"/>
                </a:solidFill>
                <a:latin typeface="Times New Roman" panose="02020603050405020304" pitchFamily="18" charset="0"/>
                <a:ea typeface="黑体" panose="02010609060101010101" pitchFamily="2" charset="-122"/>
              </a:rPr>
              <a:t>2. </a:t>
            </a:r>
            <a:r>
              <a:rPr kumimoji="1" lang="zh-CN" altLang="en-US" sz="3200" b="1">
                <a:solidFill>
                  <a:schemeClr val="accent2"/>
                </a:solidFill>
                <a:latin typeface="Times New Roman" panose="02020603050405020304" pitchFamily="18" charset="0"/>
                <a:ea typeface="黑体" panose="02010609060101010101" pitchFamily="2" charset="-122"/>
              </a:rPr>
              <a:t>上界函数</a:t>
            </a:r>
            <a:endParaRPr lang="zh-CN" altLang="en-US" b="1">
              <a:solidFill>
                <a:schemeClr val="accent2"/>
              </a:solidFill>
              <a:ea typeface="华文行楷" panose="02010800040101010101" pitchFamily="2" charset="-122"/>
            </a:endParaRPr>
          </a:p>
        </p:txBody>
      </p:sp>
      <p:sp>
        <p:nvSpPr>
          <p:cNvPr id="7174" name="Text Box 6"/>
          <p:cNvSpPr txBox="1">
            <a:spLocks noChangeArrowheads="1"/>
          </p:cNvSpPr>
          <p:nvPr/>
        </p:nvSpPr>
        <p:spPr bwMode="auto">
          <a:xfrm>
            <a:off x="755650" y="2636838"/>
            <a:ext cx="7704138"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zh-CN" altLang="en-US" sz="2400" b="1">
                <a:latin typeface="新宋体" panose="02010609030101010101" charset="-122"/>
                <a:ea typeface="新宋体" panose="02010609030101010101" charset="-122"/>
              </a:rPr>
              <a:t>用变量</a:t>
            </a:r>
            <a:r>
              <a:rPr lang="en-US" altLang="zh-CN" sz="2400" b="1">
                <a:latin typeface="新宋体" panose="02010609030101010101" charset="-122"/>
                <a:ea typeface="新宋体" panose="02010609030101010101" charset="-122"/>
              </a:rPr>
              <a:t>cliqueSize</a:t>
            </a:r>
            <a:r>
              <a:rPr lang="zh-CN" altLang="en-US" sz="2400" b="1">
                <a:latin typeface="新宋体" panose="02010609030101010101" charset="-122"/>
                <a:ea typeface="新宋体" panose="02010609030101010101" charset="-122"/>
              </a:rPr>
              <a:t>表示与该结点相应的团的顶点数；</a:t>
            </a:r>
            <a:r>
              <a:rPr lang="en-US" altLang="zh-CN" sz="2400" b="1">
                <a:latin typeface="新宋体" panose="02010609030101010101" charset="-122"/>
                <a:ea typeface="新宋体" panose="02010609030101010101" charset="-122"/>
              </a:rPr>
              <a:t>level</a:t>
            </a:r>
            <a:r>
              <a:rPr lang="zh-CN" altLang="en-US" sz="2400" b="1">
                <a:latin typeface="新宋体" panose="02010609030101010101" charset="-122"/>
                <a:ea typeface="新宋体" panose="02010609030101010101" charset="-122"/>
              </a:rPr>
              <a:t>表示结点在子集空间树中所处的层次；用</a:t>
            </a:r>
            <a:r>
              <a:rPr lang="en-US" altLang="zh-CN" sz="2400" b="1">
                <a:latin typeface="新宋体" panose="02010609030101010101" charset="-122"/>
                <a:ea typeface="新宋体" panose="02010609030101010101" charset="-122"/>
              </a:rPr>
              <a:t>cliqueSize +n-level+1</a:t>
            </a:r>
            <a:r>
              <a:rPr lang="zh-CN" altLang="en-US" sz="2400" b="1">
                <a:latin typeface="新宋体" panose="02010609030101010101" charset="-122"/>
                <a:ea typeface="新宋体" panose="02010609030101010101" charset="-122"/>
              </a:rPr>
              <a:t>作为顶点数上界</a:t>
            </a:r>
            <a:r>
              <a:rPr lang="en-US" altLang="zh-CN" sz="2400" b="1">
                <a:latin typeface="新宋体" panose="02010609030101010101" charset="-122"/>
                <a:ea typeface="新宋体" panose="02010609030101010101" charset="-122"/>
              </a:rPr>
              <a:t>upperSize</a:t>
            </a:r>
            <a:r>
              <a:rPr lang="zh-CN" altLang="en-US" sz="2400" b="1">
                <a:latin typeface="新宋体" panose="02010609030101010101" charset="-122"/>
                <a:ea typeface="新宋体" panose="02010609030101010101" charset="-122"/>
              </a:rPr>
              <a:t>的值。 </a:t>
            </a:r>
            <a:endParaRPr lang="zh-CN" altLang="en-US" sz="2400" b="1">
              <a:latin typeface="新宋体" panose="02010609030101010101" charset="-122"/>
              <a:ea typeface="新宋体" panose="02010609030101010101" charset="-122"/>
            </a:endParaRPr>
          </a:p>
        </p:txBody>
      </p:sp>
      <p:sp>
        <p:nvSpPr>
          <p:cNvPr id="7175" name="Text Box 7"/>
          <p:cNvSpPr txBox="1">
            <a:spLocks noChangeArrowheads="1"/>
          </p:cNvSpPr>
          <p:nvPr/>
        </p:nvSpPr>
        <p:spPr bwMode="auto">
          <a:xfrm>
            <a:off x="755650" y="4008438"/>
            <a:ext cx="7704138"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zh-CN" altLang="en-US" sz="2400" b="1">
                <a:latin typeface="新宋体" panose="02010609030101010101" charset="-122"/>
                <a:ea typeface="新宋体" panose="02010609030101010101" charset="-122"/>
              </a:rPr>
              <a:t>在此优先队列式分支限界法中，</a:t>
            </a:r>
            <a:r>
              <a:rPr lang="en-US" altLang="zh-CN" sz="2400" b="1">
                <a:latin typeface="新宋体" panose="02010609030101010101" charset="-122"/>
                <a:ea typeface="新宋体" panose="02010609030101010101" charset="-122"/>
              </a:rPr>
              <a:t>upperSize</a:t>
            </a:r>
            <a:r>
              <a:rPr lang="zh-CN" altLang="en-US" sz="2400" b="1">
                <a:latin typeface="新宋体" panose="02010609030101010101" charset="-122"/>
                <a:ea typeface="新宋体" panose="02010609030101010101" charset="-122"/>
              </a:rPr>
              <a:t>实际上也是优先队列中元素的优先级。算法总是从活结点优先队列中抽取具有最大</a:t>
            </a:r>
            <a:r>
              <a:rPr lang="en-US" altLang="zh-CN" sz="2400" b="1">
                <a:latin typeface="新宋体" panose="02010609030101010101" charset="-122"/>
                <a:ea typeface="新宋体" panose="02010609030101010101" charset="-122"/>
              </a:rPr>
              <a:t>upperSize</a:t>
            </a:r>
            <a:r>
              <a:rPr lang="zh-CN" altLang="en-US" sz="2400" b="1">
                <a:latin typeface="新宋体" panose="02010609030101010101" charset="-122"/>
                <a:ea typeface="新宋体" panose="02010609030101010101" charset="-122"/>
              </a:rPr>
              <a:t>值的元素作为下一个扩展元素。 </a:t>
            </a:r>
            <a:endParaRPr lang="zh-CN" altLang="en-US" sz="2400" b="1">
              <a:latin typeface="新宋体" panose="02010609030101010101" charset="-122"/>
              <a:ea typeface="新宋体" panose="02010609030101010101" charset="-122"/>
            </a:endParaRPr>
          </a:p>
        </p:txBody>
      </p:sp>
    </p:spTree>
  </p:cSld>
  <p:clrMapOvr>
    <a:masterClrMapping/>
  </p:clrMapOvr>
  <p:transition>
    <p:spli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173"/>
                                        </p:tgtEl>
                                        <p:attrNameLst>
                                          <p:attrName>style.visibility</p:attrName>
                                        </p:attrNameLst>
                                      </p:cBhvr>
                                      <p:to>
                                        <p:strVal val="visible"/>
                                      </p:to>
                                    </p:set>
                                    <p:anim calcmode="lin" valueType="num">
                                      <p:cBhvr additive="base">
                                        <p:cTn id="7" dur="500" fill="hold"/>
                                        <p:tgtEl>
                                          <p:spTgt spid="7173"/>
                                        </p:tgtEl>
                                        <p:attrNameLst>
                                          <p:attrName>ppt_x</p:attrName>
                                        </p:attrNameLst>
                                      </p:cBhvr>
                                      <p:tavLst>
                                        <p:tav tm="0">
                                          <p:val>
                                            <p:strVal val="1+#ppt_w/2"/>
                                          </p:val>
                                        </p:tav>
                                        <p:tav tm="100000">
                                          <p:val>
                                            <p:strVal val="#ppt_x"/>
                                          </p:val>
                                        </p:tav>
                                      </p:tavLst>
                                    </p:anim>
                                    <p:anim calcmode="lin" valueType="num">
                                      <p:cBhvr additive="base">
                                        <p:cTn id="8" dur="500" fill="hold"/>
                                        <p:tgtEl>
                                          <p:spTgt spid="717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7174"/>
                                        </p:tgtEl>
                                        <p:attrNameLst>
                                          <p:attrName>style.visibility</p:attrName>
                                        </p:attrNameLst>
                                      </p:cBhvr>
                                      <p:to>
                                        <p:strVal val="visible"/>
                                      </p:to>
                                    </p:set>
                                    <p:animEffect transition="in" filter="randombar(horizontal)">
                                      <p:cBhvr>
                                        <p:cTn id="13" dur="500"/>
                                        <p:tgtEl>
                                          <p:spTgt spid="7174"/>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5" fill="hold" grpId="0" nodeType="clickEffect">
                                  <p:stCondLst>
                                    <p:cond delay="0"/>
                                  </p:stCondLst>
                                  <p:childTnLst>
                                    <p:set>
                                      <p:cBhvr>
                                        <p:cTn id="17" dur="1" fill="hold">
                                          <p:stCondLst>
                                            <p:cond delay="0"/>
                                          </p:stCondLst>
                                        </p:cTn>
                                        <p:tgtEl>
                                          <p:spTgt spid="7175"/>
                                        </p:tgtEl>
                                        <p:attrNameLst>
                                          <p:attrName>style.visibility</p:attrName>
                                        </p:attrNameLst>
                                      </p:cBhvr>
                                      <p:to>
                                        <p:strVal val="visible"/>
                                      </p:to>
                                    </p:set>
                                    <p:animEffect transition="in" filter="randombar(vertical)">
                                      <p:cBhvr>
                                        <p:cTn id="18" dur="500"/>
                                        <p:tgtEl>
                                          <p:spTgt spid="7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autoUpdateAnimBg="0"/>
      <p:bldP spid="7174" grpId="0" autoUpdateAnimBg="0"/>
      <p:bldP spid="7175"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zh-CN" sz="3000"/>
              <a:t>6.6 </a:t>
            </a:r>
            <a:r>
              <a:rPr lang="zh-CN" altLang="en-US" sz="3000"/>
              <a:t>最大团问题</a:t>
            </a:r>
            <a:endParaRPr lang="zh-CN" altLang="en-US" sz="3000"/>
          </a:p>
        </p:txBody>
      </p:sp>
      <p:sp>
        <p:nvSpPr>
          <p:cNvPr id="8196" name="Text Box 4"/>
          <p:cNvSpPr txBox="1">
            <a:spLocks noChangeArrowheads="1"/>
          </p:cNvSpPr>
          <p:nvPr/>
        </p:nvSpPr>
        <p:spPr bwMode="auto">
          <a:xfrm>
            <a:off x="304800" y="1700213"/>
            <a:ext cx="5943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b="1">
                <a:solidFill>
                  <a:schemeClr val="accent2"/>
                </a:solidFill>
                <a:latin typeface="Times New Roman" panose="02020603050405020304" pitchFamily="18" charset="0"/>
                <a:ea typeface="黑体" panose="02010609060101010101" pitchFamily="2" charset="-122"/>
              </a:rPr>
              <a:t>3. </a:t>
            </a:r>
            <a:r>
              <a:rPr kumimoji="1" lang="zh-CN" altLang="en-US" sz="3200" b="1">
                <a:solidFill>
                  <a:schemeClr val="accent2"/>
                </a:solidFill>
                <a:latin typeface="Times New Roman" panose="02020603050405020304" pitchFamily="18" charset="0"/>
                <a:ea typeface="黑体" panose="02010609060101010101" pitchFamily="2" charset="-122"/>
              </a:rPr>
              <a:t>算法思想</a:t>
            </a:r>
            <a:endParaRPr lang="zh-CN" altLang="en-US" b="1">
              <a:solidFill>
                <a:schemeClr val="accent2"/>
              </a:solidFill>
              <a:ea typeface="华文行楷" panose="02010800040101010101" pitchFamily="2" charset="-122"/>
            </a:endParaRPr>
          </a:p>
        </p:txBody>
      </p:sp>
      <p:sp>
        <p:nvSpPr>
          <p:cNvPr id="8197" name="Text Box 5"/>
          <p:cNvSpPr txBox="1">
            <a:spLocks noChangeArrowheads="1"/>
          </p:cNvSpPr>
          <p:nvPr/>
        </p:nvSpPr>
        <p:spPr bwMode="auto">
          <a:xfrm>
            <a:off x="533400" y="2246313"/>
            <a:ext cx="82867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子集树的根结点是初始扩展结点，对于这个特殊的扩展结点，其</a:t>
            </a:r>
            <a:r>
              <a:rPr lang="en-US" altLang="zh-CN" sz="2400" b="1">
                <a:latin typeface="新宋体" panose="02010609030101010101" charset="-122"/>
                <a:ea typeface="新宋体" panose="02010609030101010101" charset="-122"/>
              </a:rPr>
              <a:t>cliqueSize</a:t>
            </a:r>
            <a:r>
              <a:rPr lang="zh-CN" altLang="en-US" sz="2400" b="1">
                <a:latin typeface="新宋体" panose="02010609030101010101" charset="-122"/>
                <a:ea typeface="新宋体" panose="02010609030101010101" charset="-122"/>
              </a:rPr>
              <a:t>的值为</a:t>
            </a:r>
            <a:r>
              <a:rPr lang="en-US" altLang="zh-CN" sz="2400" b="1">
                <a:latin typeface="新宋体" panose="02010609030101010101" charset="-122"/>
                <a:ea typeface="新宋体" panose="02010609030101010101" charset="-122"/>
              </a:rPr>
              <a:t>0</a:t>
            </a:r>
            <a:r>
              <a:rPr lang="zh-CN" altLang="en-US" sz="2400" b="1">
                <a:latin typeface="新宋体" panose="02010609030101010101" charset="-122"/>
                <a:ea typeface="新宋体" panose="02010609030101010101" charset="-122"/>
              </a:rPr>
              <a:t>。 </a:t>
            </a:r>
            <a:endParaRPr lang="zh-CN" altLang="en-US" sz="2400" b="1">
              <a:latin typeface="新宋体" panose="02010609030101010101" charset="-122"/>
              <a:ea typeface="新宋体" panose="02010609030101010101" charset="-122"/>
            </a:endParaRPr>
          </a:p>
        </p:txBody>
      </p:sp>
      <p:sp>
        <p:nvSpPr>
          <p:cNvPr id="8198" name="Text Box 6"/>
          <p:cNvSpPr txBox="1">
            <a:spLocks noChangeArrowheads="1"/>
          </p:cNvSpPr>
          <p:nvPr/>
        </p:nvSpPr>
        <p:spPr bwMode="auto">
          <a:xfrm>
            <a:off x="533400" y="3090863"/>
            <a:ext cx="828675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just"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算法在扩展内部结点时，首先考察其左儿子结点。在左儿子结点处，将顶点</a:t>
            </a:r>
            <a:r>
              <a:rPr lang="en-US" altLang="zh-CN" sz="2400" b="1">
                <a:latin typeface="新宋体" panose="02010609030101010101" charset="-122"/>
                <a:ea typeface="新宋体" panose="02010609030101010101" charset="-122"/>
              </a:rPr>
              <a:t>i</a:t>
            </a:r>
            <a:r>
              <a:rPr lang="zh-CN" altLang="en-US" sz="2400" b="1">
                <a:latin typeface="新宋体" panose="02010609030101010101" charset="-122"/>
                <a:ea typeface="新宋体" panose="02010609030101010101" charset="-122"/>
              </a:rPr>
              <a:t>加入到当前团中，并检查该顶点与当前团中其它顶点之间是否有边相连。当顶点</a:t>
            </a:r>
            <a:r>
              <a:rPr lang="en-US" altLang="zh-CN" sz="2400" b="1">
                <a:latin typeface="新宋体" panose="02010609030101010101" charset="-122"/>
                <a:ea typeface="新宋体" panose="02010609030101010101" charset="-122"/>
              </a:rPr>
              <a:t>i</a:t>
            </a:r>
            <a:r>
              <a:rPr lang="zh-CN" altLang="en-US" sz="2400" b="1">
                <a:latin typeface="新宋体" panose="02010609030101010101" charset="-122"/>
                <a:ea typeface="新宋体" panose="02010609030101010101" charset="-122"/>
              </a:rPr>
              <a:t>与当前团中所有顶点之间都有边相连，则相应的左儿子结点是可行结点，将它加入到子集树中并插入活结点优先队列，否则就不是可行结点。</a:t>
            </a:r>
            <a:endParaRPr lang="zh-CN" altLang="en-US" sz="2400" b="1">
              <a:latin typeface="新宋体" panose="02010609030101010101" charset="-122"/>
              <a:ea typeface="新宋体" panose="02010609030101010101" charset="-122"/>
            </a:endParaRPr>
          </a:p>
        </p:txBody>
      </p:sp>
      <p:sp>
        <p:nvSpPr>
          <p:cNvPr id="8199" name="Text Box 7"/>
          <p:cNvSpPr txBox="1">
            <a:spLocks noChangeArrowheads="1"/>
          </p:cNvSpPr>
          <p:nvPr/>
        </p:nvSpPr>
        <p:spPr bwMode="auto">
          <a:xfrm>
            <a:off x="533400" y="5410200"/>
            <a:ext cx="828675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just"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接着继续考察当前扩展结点的右儿子结点。当</a:t>
            </a:r>
            <a:r>
              <a:rPr lang="en-US" altLang="zh-CN" sz="2400" b="1">
                <a:latin typeface="新宋体" panose="02010609030101010101" charset="-122"/>
                <a:ea typeface="新宋体" panose="02010609030101010101" charset="-122"/>
              </a:rPr>
              <a:t>upperSize&gt;bestn</a:t>
            </a:r>
            <a:r>
              <a:rPr lang="zh-CN" altLang="en-US" sz="2400" b="1">
                <a:latin typeface="新宋体" panose="02010609030101010101" charset="-122"/>
                <a:ea typeface="新宋体" panose="02010609030101010101" charset="-122"/>
              </a:rPr>
              <a:t>时，右子树中可能含有最优解，此时将右儿子结点加入到子集树中并插入到活结点优先队列中。</a:t>
            </a:r>
            <a:endParaRPr lang="zh-CN" altLang="en-US" sz="2400" b="1">
              <a:solidFill>
                <a:schemeClr val="accent2"/>
              </a:solidFill>
              <a:ea typeface="华文行楷" panose="02010800040101010101" pitchFamily="2" charset="-122"/>
            </a:endParaRPr>
          </a:p>
        </p:txBody>
      </p:sp>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196"/>
                                        </p:tgtEl>
                                        <p:attrNameLst>
                                          <p:attrName>style.visibility</p:attrName>
                                        </p:attrNameLst>
                                      </p:cBhvr>
                                      <p:to>
                                        <p:strVal val="visible"/>
                                      </p:to>
                                    </p:set>
                                    <p:anim calcmode="lin" valueType="num">
                                      <p:cBhvr additive="base">
                                        <p:cTn id="7" dur="500" fill="hold"/>
                                        <p:tgtEl>
                                          <p:spTgt spid="8196"/>
                                        </p:tgtEl>
                                        <p:attrNameLst>
                                          <p:attrName>ppt_x</p:attrName>
                                        </p:attrNameLst>
                                      </p:cBhvr>
                                      <p:tavLst>
                                        <p:tav tm="0">
                                          <p:val>
                                            <p:strVal val="1+#ppt_w/2"/>
                                          </p:val>
                                        </p:tav>
                                        <p:tav tm="100000">
                                          <p:val>
                                            <p:strVal val="#ppt_x"/>
                                          </p:val>
                                        </p:tav>
                                      </p:tavLst>
                                    </p:anim>
                                    <p:anim calcmode="lin" valueType="num">
                                      <p:cBhvr additive="base">
                                        <p:cTn id="8" dur="500" fill="hold"/>
                                        <p:tgtEl>
                                          <p:spTgt spid="819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8197"/>
                                        </p:tgtEl>
                                        <p:attrNameLst>
                                          <p:attrName>style.visibility</p:attrName>
                                        </p:attrNameLst>
                                      </p:cBhvr>
                                      <p:to>
                                        <p:strVal val="visible"/>
                                      </p:to>
                                    </p:set>
                                    <p:animEffect transition="in" filter="wipe(up)">
                                      <p:cBhvr>
                                        <p:cTn id="13" dur="500"/>
                                        <p:tgtEl>
                                          <p:spTgt spid="819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8198"/>
                                        </p:tgtEl>
                                        <p:attrNameLst>
                                          <p:attrName>style.visibility</p:attrName>
                                        </p:attrNameLst>
                                      </p:cBhvr>
                                      <p:to>
                                        <p:strVal val="visible"/>
                                      </p:to>
                                    </p:set>
                                    <p:animEffect transition="in" filter="wipe(down)">
                                      <p:cBhvr>
                                        <p:cTn id="18" dur="500"/>
                                        <p:tgtEl>
                                          <p:spTgt spid="819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8199"/>
                                        </p:tgtEl>
                                        <p:attrNameLst>
                                          <p:attrName>style.visibility</p:attrName>
                                        </p:attrNameLst>
                                      </p:cBhvr>
                                      <p:to>
                                        <p:strVal val="visible"/>
                                      </p:to>
                                    </p:set>
                                    <p:animEffect transition="in" filter="wipe(up)">
                                      <p:cBhvr>
                                        <p:cTn id="23" dur="500"/>
                                        <p:tgtEl>
                                          <p:spTgt spid="8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autoUpdateAnimBg="0"/>
      <p:bldP spid="8197" grpId="0" autoUpdateAnimBg="0"/>
      <p:bldP spid="8198" grpId="0" autoUpdateAnimBg="0"/>
      <p:bldP spid="8199"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zh-CN" sz="3000"/>
              <a:t>6.6 </a:t>
            </a:r>
            <a:r>
              <a:rPr lang="zh-CN" altLang="en-US" sz="3000"/>
              <a:t>最大团问题</a:t>
            </a:r>
            <a:endParaRPr lang="zh-CN" altLang="en-US" sz="3000"/>
          </a:p>
        </p:txBody>
      </p:sp>
      <p:sp>
        <p:nvSpPr>
          <p:cNvPr id="9220" name="Text Box 4"/>
          <p:cNvSpPr txBox="1">
            <a:spLocks noChangeArrowheads="1"/>
          </p:cNvSpPr>
          <p:nvPr/>
        </p:nvSpPr>
        <p:spPr bwMode="auto">
          <a:xfrm>
            <a:off x="304800" y="1773238"/>
            <a:ext cx="5943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b="1">
                <a:solidFill>
                  <a:schemeClr val="accent2"/>
                </a:solidFill>
                <a:latin typeface="Times New Roman" panose="02020603050405020304" pitchFamily="18" charset="0"/>
                <a:ea typeface="黑体" panose="02010609060101010101" pitchFamily="2" charset="-122"/>
              </a:rPr>
              <a:t>3. </a:t>
            </a:r>
            <a:r>
              <a:rPr kumimoji="1" lang="zh-CN" altLang="en-US" sz="3200" b="1">
                <a:solidFill>
                  <a:schemeClr val="accent2"/>
                </a:solidFill>
                <a:latin typeface="Times New Roman" panose="02020603050405020304" pitchFamily="18" charset="0"/>
                <a:ea typeface="黑体" panose="02010609060101010101" pitchFamily="2" charset="-122"/>
              </a:rPr>
              <a:t>算法思想</a:t>
            </a:r>
            <a:endParaRPr lang="zh-CN" altLang="en-US" b="1">
              <a:solidFill>
                <a:schemeClr val="accent2"/>
              </a:solidFill>
              <a:ea typeface="华文行楷" panose="02010800040101010101" pitchFamily="2" charset="-122"/>
            </a:endParaRPr>
          </a:p>
        </p:txBody>
      </p:sp>
      <p:sp>
        <p:nvSpPr>
          <p:cNvPr id="9222" name="Text Box 6"/>
          <p:cNvSpPr txBox="1">
            <a:spLocks noChangeArrowheads="1"/>
          </p:cNvSpPr>
          <p:nvPr/>
        </p:nvSpPr>
        <p:spPr bwMode="auto">
          <a:xfrm>
            <a:off x="838200" y="2763838"/>
            <a:ext cx="7162800"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算法的</a:t>
            </a:r>
            <a:r>
              <a:rPr lang="en-US" altLang="zh-CN" sz="2400" b="1">
                <a:latin typeface="新宋体" panose="02010609030101010101" charset="-122"/>
                <a:ea typeface="新宋体" panose="02010609030101010101" charset="-122"/>
              </a:rPr>
              <a:t>while</a:t>
            </a:r>
            <a:r>
              <a:rPr lang="zh-CN" altLang="en-US" sz="2400" b="1">
                <a:latin typeface="新宋体" panose="02010609030101010101" charset="-122"/>
                <a:ea typeface="新宋体" panose="02010609030101010101" charset="-122"/>
              </a:rPr>
              <a:t>循环的终止条件是</a:t>
            </a:r>
            <a:endParaRPr lang="zh-CN" altLang="en-US" sz="2400" b="1">
              <a:latin typeface="新宋体" panose="02010609030101010101" charset="-122"/>
              <a:ea typeface="新宋体" panose="02010609030101010101" charset="-122"/>
            </a:endParaRPr>
          </a:p>
          <a:p>
            <a:pPr eaLnBrk="1" hangingPunct="1">
              <a:spcBef>
                <a:spcPct val="50000"/>
              </a:spcBef>
            </a:pPr>
            <a:r>
              <a:rPr lang="zh-CN" altLang="en-US" sz="2400" b="1">
                <a:latin typeface="新宋体" panose="02010609030101010101" charset="-122"/>
                <a:ea typeface="新宋体" panose="02010609030101010101" charset="-122"/>
              </a:rPr>
              <a:t>遇到子集树中的一个叶结点</a:t>
            </a:r>
            <a:r>
              <a:rPr lang="en-US" altLang="zh-CN" sz="2400" b="1">
                <a:latin typeface="新宋体" panose="02010609030101010101" charset="-122"/>
                <a:ea typeface="新宋体" panose="02010609030101010101" charset="-122"/>
              </a:rPr>
              <a:t>(</a:t>
            </a:r>
            <a:r>
              <a:rPr lang="zh-CN" altLang="en-US" sz="2400" b="1">
                <a:latin typeface="新宋体" panose="02010609030101010101" charset="-122"/>
                <a:ea typeface="新宋体" panose="02010609030101010101" charset="-122"/>
              </a:rPr>
              <a:t>即</a:t>
            </a:r>
            <a:r>
              <a:rPr lang="en-US" altLang="zh-CN" sz="2400" b="1">
                <a:latin typeface="新宋体" panose="02010609030101010101" charset="-122"/>
                <a:ea typeface="新宋体" panose="02010609030101010101" charset="-122"/>
              </a:rPr>
              <a:t>n+1</a:t>
            </a:r>
            <a:r>
              <a:rPr lang="zh-CN" altLang="en-US" sz="2400" b="1">
                <a:latin typeface="新宋体" panose="02010609030101010101" charset="-122"/>
                <a:ea typeface="新宋体" panose="02010609030101010101" charset="-122"/>
              </a:rPr>
              <a:t>层结点</a:t>
            </a:r>
            <a:r>
              <a:rPr lang="en-US" altLang="zh-CN" sz="2400" b="1">
                <a:latin typeface="新宋体" panose="02010609030101010101" charset="-122"/>
                <a:ea typeface="新宋体" panose="02010609030101010101" charset="-122"/>
              </a:rPr>
              <a:t>)</a:t>
            </a:r>
            <a:r>
              <a:rPr lang="zh-CN" altLang="en-US" sz="2400" b="1">
                <a:latin typeface="新宋体" panose="02010609030101010101" charset="-122"/>
                <a:ea typeface="新宋体" panose="02010609030101010101" charset="-122"/>
              </a:rPr>
              <a:t>成为当前扩展结点。</a:t>
            </a:r>
            <a:endParaRPr lang="zh-CN" altLang="en-US" sz="2400" b="1">
              <a:latin typeface="新宋体" panose="02010609030101010101" charset="-122"/>
              <a:ea typeface="新宋体" panose="02010609030101010101" charset="-122"/>
            </a:endParaRPr>
          </a:p>
          <a:p>
            <a:pPr eaLnBrk="1" hangingPunct="1">
              <a:spcBef>
                <a:spcPct val="50000"/>
              </a:spcBef>
            </a:pPr>
            <a:r>
              <a:rPr lang="zh-CN" altLang="en-US" sz="2400" b="1">
                <a:latin typeface="新宋体" panose="02010609030101010101" charset="-122"/>
                <a:ea typeface="新宋体" panose="02010609030101010101" charset="-122"/>
              </a:rPr>
              <a:t>    对于子集树中的叶结点，有</a:t>
            </a:r>
            <a:r>
              <a:rPr lang="en-US" altLang="zh-CN" sz="2400" b="1">
                <a:latin typeface="新宋体" panose="02010609030101010101" charset="-122"/>
                <a:ea typeface="新宋体" panose="02010609030101010101" charset="-122"/>
              </a:rPr>
              <a:t>upperSize</a:t>
            </a:r>
            <a:r>
              <a:rPr lang="zh-CN" altLang="en-US" sz="2400" b="1">
                <a:latin typeface="新宋体" panose="02010609030101010101" charset="-122"/>
                <a:ea typeface="新宋体" panose="02010609030101010101" charset="-122"/>
              </a:rPr>
              <a:t>＝</a:t>
            </a:r>
            <a:r>
              <a:rPr lang="en-US" altLang="zh-CN" sz="2400" b="1">
                <a:latin typeface="新宋体" panose="02010609030101010101" charset="-122"/>
                <a:ea typeface="新宋体" panose="02010609030101010101" charset="-122"/>
              </a:rPr>
              <a:t>cliqueSize</a:t>
            </a:r>
            <a:r>
              <a:rPr lang="zh-CN" altLang="en-US" sz="2400" b="1">
                <a:latin typeface="新宋体" panose="02010609030101010101" charset="-122"/>
                <a:ea typeface="新宋体" panose="02010609030101010101" charset="-122"/>
              </a:rPr>
              <a:t>。此时活结点优先队列中剩余结点的</a:t>
            </a:r>
            <a:r>
              <a:rPr lang="en-US" altLang="zh-CN" sz="2400" b="1">
                <a:latin typeface="新宋体" panose="02010609030101010101" charset="-122"/>
                <a:ea typeface="新宋体" panose="02010609030101010101" charset="-122"/>
              </a:rPr>
              <a:t>upperSize</a:t>
            </a:r>
            <a:r>
              <a:rPr lang="zh-CN" altLang="en-US" sz="2400" b="1">
                <a:latin typeface="新宋体" panose="02010609030101010101" charset="-122"/>
                <a:ea typeface="新宋体" panose="02010609030101010101" charset="-122"/>
              </a:rPr>
              <a:t>值均不超过当前扩展结点的</a:t>
            </a:r>
            <a:r>
              <a:rPr lang="en-US" altLang="zh-CN" sz="2400" b="1">
                <a:latin typeface="新宋体" panose="02010609030101010101" charset="-122"/>
                <a:ea typeface="新宋体" panose="02010609030101010101" charset="-122"/>
              </a:rPr>
              <a:t>upperSize</a:t>
            </a:r>
            <a:r>
              <a:rPr lang="zh-CN" altLang="en-US" sz="2400" b="1">
                <a:latin typeface="新宋体" panose="02010609030101010101" charset="-122"/>
                <a:ea typeface="新宋体" panose="02010609030101010101" charset="-122"/>
              </a:rPr>
              <a:t>值，从而进一步搜索不可能得到更大的团，此时算法已找到一个最优解。 </a:t>
            </a:r>
            <a:endParaRPr lang="zh-CN" altLang="en-US" sz="2400" b="1">
              <a:latin typeface="新宋体" panose="02010609030101010101" charset="-122"/>
              <a:ea typeface="新宋体" panose="02010609030101010101"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9220"/>
                                        </p:tgtEl>
                                        <p:attrNameLst>
                                          <p:attrName>style.visibility</p:attrName>
                                        </p:attrNameLst>
                                      </p:cBhvr>
                                      <p:to>
                                        <p:strVal val="visible"/>
                                      </p:to>
                                    </p:set>
                                    <p:anim calcmode="lin" valueType="num">
                                      <p:cBhvr additive="base">
                                        <p:cTn id="7" dur="500" fill="hold"/>
                                        <p:tgtEl>
                                          <p:spTgt spid="9220"/>
                                        </p:tgtEl>
                                        <p:attrNameLst>
                                          <p:attrName>ppt_x</p:attrName>
                                        </p:attrNameLst>
                                      </p:cBhvr>
                                      <p:tavLst>
                                        <p:tav tm="0">
                                          <p:val>
                                            <p:strVal val="1+#ppt_w/2"/>
                                          </p:val>
                                        </p:tav>
                                        <p:tav tm="100000">
                                          <p:val>
                                            <p:strVal val="#ppt_x"/>
                                          </p:val>
                                        </p:tav>
                                      </p:tavLst>
                                    </p:anim>
                                    <p:anim calcmode="lin" valueType="num">
                                      <p:cBhvr additive="base">
                                        <p:cTn id="8" dur="500" fill="hold"/>
                                        <p:tgtEl>
                                          <p:spTgt spid="9220"/>
                                        </p:tgtEl>
                                        <p:attrNameLst>
                                          <p:attrName>ppt_y</p:attrName>
                                        </p:attrNameLst>
                                      </p:cBhvr>
                                      <p:tavLst>
                                        <p:tav tm="0">
                                          <p:val>
                                            <p:strVal val="#ppt_y"/>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222">
                                            <p:txEl>
                                              <p:pRg st="0" end="0"/>
                                            </p:txEl>
                                          </p:spTgt>
                                        </p:tgtEl>
                                        <p:attrNameLst>
                                          <p:attrName>style.visibility</p:attrName>
                                        </p:attrNameLst>
                                      </p:cBhvr>
                                      <p:to>
                                        <p:strVal val="visible"/>
                                      </p:to>
                                    </p:set>
                                    <p:anim calcmode="lin" valueType="num">
                                      <p:cBhvr additive="base">
                                        <p:cTn id="11" dur="500" fill="hold"/>
                                        <p:tgtEl>
                                          <p:spTgt spid="9222">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22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222">
                                            <p:txEl>
                                              <p:pRg st="1" end="1"/>
                                            </p:txEl>
                                          </p:spTgt>
                                        </p:tgtEl>
                                        <p:attrNameLst>
                                          <p:attrName>style.visibility</p:attrName>
                                        </p:attrNameLst>
                                      </p:cBhvr>
                                      <p:to>
                                        <p:strVal val="visible"/>
                                      </p:to>
                                    </p:set>
                                    <p:anim calcmode="lin" valueType="num">
                                      <p:cBhvr additive="base">
                                        <p:cTn id="17" dur="500" fill="hold"/>
                                        <p:tgtEl>
                                          <p:spTgt spid="9222">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22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9222">
                                            <p:txEl>
                                              <p:pRg st="2" end="2"/>
                                            </p:txEl>
                                          </p:spTgt>
                                        </p:tgtEl>
                                        <p:attrNameLst>
                                          <p:attrName>style.visibility</p:attrName>
                                        </p:attrNameLst>
                                      </p:cBhvr>
                                      <p:to>
                                        <p:strVal val="visible"/>
                                      </p:to>
                                    </p:set>
                                    <p:anim calcmode="lin" valueType="num">
                                      <p:cBhvr additive="base">
                                        <p:cTn id="23" dur="500" fill="hold"/>
                                        <p:tgtEl>
                                          <p:spTgt spid="9222">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22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ctrTitle"/>
          </p:nvPr>
        </p:nvSpPr>
        <p:spPr/>
        <p:txBody>
          <a:bodyPr/>
          <a:lstStyle/>
          <a:p>
            <a:pPr algn="r"/>
            <a:r>
              <a:rPr lang="zh-CN" altLang="en-US" sz="3300"/>
              <a:t>旅行售货员问题</a:t>
            </a:r>
            <a:endParaRPr lang="zh-CN" altLang="en-US" sz="3300"/>
          </a:p>
        </p:txBody>
      </p:sp>
      <p:sp>
        <p:nvSpPr>
          <p:cNvPr id="36867" name="Rectangle 3"/>
          <p:cNvSpPr>
            <a:spLocks noGrp="1" noChangeArrowheads="1"/>
          </p:cNvSpPr>
          <p:nvPr>
            <p:ph type="subTitle" idx="1"/>
          </p:nvPr>
        </p:nvSpPr>
        <p:spPr/>
        <p:txBody>
          <a:bodyPr/>
          <a:lstStyle/>
          <a:p>
            <a:endParaRPr lang="zh-CN" altLang="zh-CN"/>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zh-CN" sz="3000"/>
              <a:t>6.7 </a:t>
            </a:r>
            <a:r>
              <a:rPr lang="zh-CN" altLang="en-US" sz="3000"/>
              <a:t>旅行售货员问题</a:t>
            </a:r>
            <a:endParaRPr lang="zh-CN" altLang="en-US" sz="3000"/>
          </a:p>
        </p:txBody>
      </p:sp>
      <p:sp>
        <p:nvSpPr>
          <p:cNvPr id="10244" name="Text Box 4"/>
          <p:cNvSpPr txBox="1">
            <a:spLocks noChangeArrowheads="1"/>
          </p:cNvSpPr>
          <p:nvPr/>
        </p:nvSpPr>
        <p:spPr bwMode="auto">
          <a:xfrm>
            <a:off x="304800" y="1700213"/>
            <a:ext cx="5943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b="1">
                <a:solidFill>
                  <a:schemeClr val="accent2"/>
                </a:solidFill>
                <a:latin typeface="Times New Roman" panose="02020603050405020304" pitchFamily="18" charset="0"/>
                <a:ea typeface="黑体" panose="02010609060101010101" pitchFamily="2" charset="-122"/>
              </a:rPr>
              <a:t>1. </a:t>
            </a:r>
            <a:r>
              <a:rPr kumimoji="1" lang="zh-CN" altLang="en-US" sz="3200" b="1">
                <a:solidFill>
                  <a:schemeClr val="accent2"/>
                </a:solidFill>
                <a:latin typeface="Times New Roman" panose="02020603050405020304" pitchFamily="18" charset="0"/>
                <a:ea typeface="黑体" panose="02010609060101010101" pitchFamily="2" charset="-122"/>
              </a:rPr>
              <a:t>问题描述</a:t>
            </a:r>
            <a:endParaRPr lang="zh-CN" altLang="en-US" b="1">
              <a:solidFill>
                <a:schemeClr val="accent2"/>
              </a:solidFill>
              <a:ea typeface="华文行楷" panose="02010800040101010101" pitchFamily="2" charset="-122"/>
            </a:endParaRPr>
          </a:p>
        </p:txBody>
      </p:sp>
      <p:sp>
        <p:nvSpPr>
          <p:cNvPr id="10245" name="Text Box 5"/>
          <p:cNvSpPr txBox="1">
            <a:spLocks noChangeArrowheads="1"/>
          </p:cNvSpPr>
          <p:nvPr/>
        </p:nvSpPr>
        <p:spPr bwMode="auto">
          <a:xfrm>
            <a:off x="395288" y="2492375"/>
            <a:ext cx="8305800"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某售货员要到若干城市去推销商品，已知各城市之间的路程</a:t>
            </a:r>
            <a:r>
              <a:rPr lang="en-US" altLang="zh-CN" sz="2400" b="1">
                <a:latin typeface="新宋体" panose="02010609030101010101" charset="-122"/>
                <a:ea typeface="新宋体" panose="02010609030101010101" charset="-122"/>
              </a:rPr>
              <a:t>(</a:t>
            </a:r>
            <a:r>
              <a:rPr lang="zh-CN" altLang="en-US" sz="2400" b="1">
                <a:latin typeface="新宋体" panose="02010609030101010101" charset="-122"/>
                <a:ea typeface="新宋体" panose="02010609030101010101" charset="-122"/>
              </a:rPr>
              <a:t>或旅费</a:t>
            </a:r>
            <a:r>
              <a:rPr lang="en-US" altLang="zh-CN" sz="2400" b="1">
                <a:latin typeface="新宋体" panose="02010609030101010101" charset="-122"/>
                <a:ea typeface="新宋体" panose="02010609030101010101" charset="-122"/>
              </a:rPr>
              <a:t>)</a:t>
            </a:r>
            <a:r>
              <a:rPr lang="zh-CN" altLang="en-US" sz="2400" b="1">
                <a:latin typeface="新宋体" panose="02010609030101010101" charset="-122"/>
                <a:ea typeface="新宋体" panose="02010609030101010101" charset="-122"/>
              </a:rPr>
              <a:t>。他要选定一条从驻地出发，经过每个城市一次，最后回到驻地的路线，使总的路程</a:t>
            </a:r>
            <a:r>
              <a:rPr lang="en-US" altLang="zh-CN" sz="2400" b="1">
                <a:latin typeface="新宋体" panose="02010609030101010101" charset="-122"/>
                <a:ea typeface="新宋体" panose="02010609030101010101" charset="-122"/>
              </a:rPr>
              <a:t>(</a:t>
            </a:r>
            <a:r>
              <a:rPr lang="zh-CN" altLang="en-US" sz="2400" b="1">
                <a:latin typeface="新宋体" panose="02010609030101010101" charset="-122"/>
                <a:ea typeface="新宋体" panose="02010609030101010101" charset="-122"/>
              </a:rPr>
              <a:t>或总旅费</a:t>
            </a:r>
            <a:r>
              <a:rPr lang="en-US" altLang="zh-CN" sz="2400" b="1">
                <a:latin typeface="新宋体" panose="02010609030101010101" charset="-122"/>
                <a:ea typeface="新宋体" panose="02010609030101010101" charset="-122"/>
              </a:rPr>
              <a:t>)</a:t>
            </a:r>
            <a:r>
              <a:rPr lang="zh-CN" altLang="en-US" sz="2400" b="1">
                <a:latin typeface="新宋体" panose="02010609030101010101" charset="-122"/>
                <a:ea typeface="新宋体" panose="02010609030101010101" charset="-122"/>
              </a:rPr>
              <a:t>最小。</a:t>
            </a:r>
            <a:endParaRPr lang="zh-CN" altLang="en-US" sz="2400" b="1">
              <a:latin typeface="新宋体" panose="02010609030101010101" charset="-122"/>
              <a:ea typeface="新宋体" panose="02010609030101010101" charset="-122"/>
            </a:endParaRPr>
          </a:p>
          <a:p>
            <a:pPr eaLnBrk="1" hangingPunct="1">
              <a:spcBef>
                <a:spcPct val="50000"/>
              </a:spcBef>
            </a:pPr>
            <a:r>
              <a:rPr lang="zh-CN" altLang="en-US" sz="2400" b="1">
                <a:latin typeface="新宋体" panose="02010609030101010101" charset="-122"/>
                <a:ea typeface="新宋体" panose="02010609030101010101" charset="-122"/>
              </a:rPr>
              <a:t>    路线是一个带权图。图中各边的费用（权）为正数。图的一条周游路线是包括</a:t>
            </a:r>
            <a:r>
              <a:rPr lang="en-US" altLang="zh-CN" sz="2400" b="1">
                <a:latin typeface="新宋体" panose="02010609030101010101" charset="-122"/>
                <a:ea typeface="新宋体" panose="02010609030101010101" charset="-122"/>
              </a:rPr>
              <a:t>V</a:t>
            </a:r>
            <a:r>
              <a:rPr lang="zh-CN" altLang="en-US" sz="2400" b="1">
                <a:latin typeface="新宋体" panose="02010609030101010101" charset="-122"/>
                <a:ea typeface="新宋体" panose="02010609030101010101" charset="-122"/>
              </a:rPr>
              <a:t>中的每个顶点在内的一条回路。周游路线的费用是这条路线上所有边的费用之和。</a:t>
            </a:r>
            <a:endParaRPr lang="zh-CN" altLang="en-US" sz="2400" b="1">
              <a:latin typeface="新宋体" panose="02010609030101010101" charset="-122"/>
              <a:ea typeface="新宋体" panose="02010609030101010101" charset="-122"/>
            </a:endParaRPr>
          </a:p>
          <a:p>
            <a:pPr eaLnBrk="1" hangingPunct="1">
              <a:spcBef>
                <a:spcPct val="50000"/>
              </a:spcBef>
            </a:pPr>
            <a:r>
              <a:rPr lang="zh-CN" altLang="en-US" sz="2400" b="1">
                <a:latin typeface="新宋体" panose="02010609030101010101" charset="-122"/>
                <a:ea typeface="新宋体" panose="02010609030101010101" charset="-122"/>
              </a:rPr>
              <a:t>    旅行售货员问题的解空间可以组织成一棵树，从树的根结点到任一叶结点的路径定义了图的一条周游路线。旅行售货员问题要在图</a:t>
            </a:r>
            <a:r>
              <a:rPr lang="en-US" altLang="zh-CN" sz="2400" b="1">
                <a:latin typeface="新宋体" panose="02010609030101010101" charset="-122"/>
                <a:ea typeface="新宋体" panose="02010609030101010101" charset="-122"/>
              </a:rPr>
              <a:t>G</a:t>
            </a:r>
            <a:r>
              <a:rPr lang="zh-CN" altLang="en-US" sz="2400" b="1">
                <a:latin typeface="新宋体" panose="02010609030101010101" charset="-122"/>
                <a:ea typeface="新宋体" panose="02010609030101010101" charset="-122"/>
              </a:rPr>
              <a:t>中找出费用最小的周游路线。 </a:t>
            </a:r>
            <a:endParaRPr lang="zh-CN" altLang="en-US" sz="2400" b="1">
              <a:latin typeface="新宋体" panose="02010609030101010101" charset="-122"/>
              <a:ea typeface="新宋体" panose="0201060903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244"/>
                                        </p:tgtEl>
                                        <p:attrNameLst>
                                          <p:attrName>style.visibility</p:attrName>
                                        </p:attrNameLst>
                                      </p:cBhvr>
                                      <p:to>
                                        <p:strVal val="visible"/>
                                      </p:to>
                                    </p:set>
                                    <p:anim calcmode="lin" valueType="num">
                                      <p:cBhvr additive="base">
                                        <p:cTn id="7" dur="500" fill="hold"/>
                                        <p:tgtEl>
                                          <p:spTgt spid="10244"/>
                                        </p:tgtEl>
                                        <p:attrNameLst>
                                          <p:attrName>ppt_x</p:attrName>
                                        </p:attrNameLst>
                                      </p:cBhvr>
                                      <p:tavLst>
                                        <p:tav tm="0">
                                          <p:val>
                                            <p:strVal val="1+#ppt_w/2"/>
                                          </p:val>
                                        </p:tav>
                                        <p:tav tm="100000">
                                          <p:val>
                                            <p:strVal val="#ppt_x"/>
                                          </p:val>
                                        </p:tav>
                                      </p:tavLst>
                                    </p:anim>
                                    <p:anim calcmode="lin" valueType="num">
                                      <p:cBhvr additive="base">
                                        <p:cTn id="8" dur="500" fill="hold"/>
                                        <p:tgtEl>
                                          <p:spTgt spid="1024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0245"/>
                                        </p:tgtEl>
                                        <p:attrNameLst>
                                          <p:attrName>style.visibility</p:attrName>
                                        </p:attrNameLst>
                                      </p:cBhvr>
                                      <p:to>
                                        <p:strVal val="visible"/>
                                      </p:to>
                                    </p:set>
                                    <p:animEffect transition="in" filter="dissolve">
                                      <p:cBhvr>
                                        <p:cTn id="13" dur="500"/>
                                        <p:tgtEl>
                                          <p:spTgt spid="10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autoUpdateAnimBg="0"/>
      <p:bldP spid="10245"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zh-CN" sz="3000"/>
              <a:t>6.7 </a:t>
            </a:r>
            <a:r>
              <a:rPr lang="zh-CN" altLang="en-US" sz="3000"/>
              <a:t>旅行售货员问题</a:t>
            </a:r>
            <a:endParaRPr lang="zh-CN" altLang="en-US" sz="3000"/>
          </a:p>
        </p:txBody>
      </p:sp>
      <p:sp>
        <p:nvSpPr>
          <p:cNvPr id="11268" name="Text Box 4"/>
          <p:cNvSpPr txBox="1">
            <a:spLocks noChangeArrowheads="1"/>
          </p:cNvSpPr>
          <p:nvPr/>
        </p:nvSpPr>
        <p:spPr bwMode="auto">
          <a:xfrm>
            <a:off x="304800" y="1773238"/>
            <a:ext cx="5943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b="1">
                <a:solidFill>
                  <a:schemeClr val="accent2"/>
                </a:solidFill>
                <a:latin typeface="Times New Roman" panose="02020603050405020304" pitchFamily="18" charset="0"/>
                <a:ea typeface="黑体" panose="02010609060101010101" pitchFamily="2" charset="-122"/>
              </a:rPr>
              <a:t>2. </a:t>
            </a:r>
            <a:r>
              <a:rPr kumimoji="1" lang="zh-CN" altLang="en-US" sz="3200" b="1">
                <a:solidFill>
                  <a:schemeClr val="accent2"/>
                </a:solidFill>
                <a:latin typeface="Times New Roman" panose="02020603050405020304" pitchFamily="18" charset="0"/>
                <a:ea typeface="黑体" panose="02010609060101010101" pitchFamily="2" charset="-122"/>
              </a:rPr>
              <a:t>算法描述</a:t>
            </a:r>
            <a:endParaRPr lang="zh-CN" altLang="en-US" b="1">
              <a:solidFill>
                <a:schemeClr val="accent2"/>
              </a:solidFill>
              <a:ea typeface="华文行楷" panose="02010800040101010101" pitchFamily="2" charset="-122"/>
            </a:endParaRPr>
          </a:p>
        </p:txBody>
      </p:sp>
      <p:sp>
        <p:nvSpPr>
          <p:cNvPr id="11269" name="Text Box 5"/>
          <p:cNvSpPr txBox="1">
            <a:spLocks noChangeArrowheads="1"/>
          </p:cNvSpPr>
          <p:nvPr/>
        </p:nvSpPr>
        <p:spPr bwMode="auto">
          <a:xfrm>
            <a:off x="611188" y="2687638"/>
            <a:ext cx="80645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算法开始时创建一个最小堆，用于表示活结点优先队列。堆中每个结点的子树费用的下界</a:t>
            </a:r>
            <a:r>
              <a:rPr lang="en-US" altLang="zh-CN" sz="2400" b="1">
                <a:latin typeface="新宋体" panose="02010609030101010101" charset="-122"/>
                <a:ea typeface="新宋体" panose="02010609030101010101" charset="-122"/>
              </a:rPr>
              <a:t>lcost</a:t>
            </a:r>
            <a:r>
              <a:rPr lang="zh-CN" altLang="en-US" sz="2400" b="1">
                <a:latin typeface="新宋体" panose="02010609030101010101" charset="-122"/>
                <a:ea typeface="新宋体" panose="02010609030101010101" charset="-122"/>
              </a:rPr>
              <a:t>值是优先队列的优先级。接着算法计算出图中每个顶点的最小费用出边并用</a:t>
            </a:r>
            <a:r>
              <a:rPr lang="en-US" altLang="zh-CN" sz="2400" b="1">
                <a:latin typeface="新宋体" panose="02010609030101010101" charset="-122"/>
                <a:ea typeface="新宋体" panose="02010609030101010101" charset="-122"/>
              </a:rPr>
              <a:t>minout</a:t>
            </a:r>
            <a:r>
              <a:rPr lang="zh-CN" altLang="en-US" sz="2400" b="1">
                <a:latin typeface="新宋体" panose="02010609030101010101" charset="-122"/>
                <a:ea typeface="新宋体" panose="02010609030101010101" charset="-122"/>
              </a:rPr>
              <a:t>记录。如果所给的有向图中某个顶点没有出边，则该图不可能有回路，算法即告结束。如果每个顶点都有出边，则根据计算出的</a:t>
            </a:r>
            <a:r>
              <a:rPr lang="en-US" altLang="zh-CN" sz="2400" b="1">
                <a:latin typeface="新宋体" panose="02010609030101010101" charset="-122"/>
                <a:ea typeface="新宋体" panose="02010609030101010101" charset="-122"/>
              </a:rPr>
              <a:t>minout</a:t>
            </a:r>
            <a:r>
              <a:rPr lang="zh-CN" altLang="en-US" sz="2400" b="1">
                <a:latin typeface="新宋体" panose="02010609030101010101" charset="-122"/>
                <a:ea typeface="新宋体" panose="02010609030101010101" charset="-122"/>
              </a:rPr>
              <a:t>作算法初始化。 </a:t>
            </a:r>
            <a:endParaRPr lang="zh-CN" altLang="en-US" sz="2400" b="1">
              <a:latin typeface="新宋体" panose="02010609030101010101" charset="-122"/>
              <a:ea typeface="新宋体" panose="02010609030101010101" charset="-122"/>
            </a:endParaRPr>
          </a:p>
        </p:txBody>
      </p:sp>
      <p:sp>
        <p:nvSpPr>
          <p:cNvPr id="11270" name="Text Box 6"/>
          <p:cNvSpPr txBox="1">
            <a:spLocks noChangeArrowheads="1"/>
          </p:cNvSpPr>
          <p:nvPr/>
        </p:nvSpPr>
        <p:spPr bwMode="auto">
          <a:xfrm>
            <a:off x="611188" y="5199063"/>
            <a:ext cx="80645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算法的</a:t>
            </a:r>
            <a:r>
              <a:rPr lang="en-US" altLang="zh-CN" sz="2400" b="1">
                <a:latin typeface="新宋体" panose="02010609030101010101" charset="-122"/>
                <a:ea typeface="新宋体" panose="02010609030101010101" charset="-122"/>
              </a:rPr>
              <a:t>while</a:t>
            </a:r>
            <a:r>
              <a:rPr lang="zh-CN" altLang="en-US" sz="2400" b="1">
                <a:latin typeface="新宋体" panose="02010609030101010101" charset="-122"/>
                <a:ea typeface="新宋体" panose="02010609030101010101" charset="-122"/>
              </a:rPr>
              <a:t>循环体完成对排列树内部结点的扩展。对于当前扩展结点，算法分</a:t>
            </a:r>
            <a:r>
              <a:rPr lang="en-US" altLang="zh-CN" sz="2400" b="1">
                <a:latin typeface="新宋体" panose="02010609030101010101" charset="-122"/>
                <a:ea typeface="新宋体" panose="02010609030101010101" charset="-122"/>
              </a:rPr>
              <a:t>2</a:t>
            </a:r>
            <a:r>
              <a:rPr lang="zh-CN" altLang="en-US" sz="2400" b="1">
                <a:latin typeface="新宋体" panose="02010609030101010101" charset="-122"/>
                <a:ea typeface="新宋体" panose="02010609030101010101" charset="-122"/>
              </a:rPr>
              <a:t>种情况进行处理：</a:t>
            </a:r>
            <a:endParaRPr lang="zh-CN" altLang="en-US" sz="2400" b="1">
              <a:latin typeface="新宋体" panose="02010609030101010101" charset="-122"/>
              <a:ea typeface="新宋体" panose="02010609030101010101" charset="-122"/>
            </a:endParaRP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anim calcmode="lin" valueType="num">
                                      <p:cBhvr additive="base">
                                        <p:cTn id="7" dur="500" fill="hold"/>
                                        <p:tgtEl>
                                          <p:spTgt spid="11268"/>
                                        </p:tgtEl>
                                        <p:attrNameLst>
                                          <p:attrName>ppt_x</p:attrName>
                                        </p:attrNameLst>
                                      </p:cBhvr>
                                      <p:tavLst>
                                        <p:tav tm="0">
                                          <p:val>
                                            <p:strVal val="1+#ppt_w/2"/>
                                          </p:val>
                                        </p:tav>
                                        <p:tav tm="100000">
                                          <p:val>
                                            <p:strVal val="#ppt_x"/>
                                          </p:val>
                                        </p:tav>
                                      </p:tavLst>
                                    </p:anim>
                                    <p:anim calcmode="lin" valueType="num">
                                      <p:cBhvr additive="base">
                                        <p:cTn id="8" dur="500" fill="hold"/>
                                        <p:tgtEl>
                                          <p:spTgt spid="1126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1269"/>
                                        </p:tgtEl>
                                        <p:attrNameLst>
                                          <p:attrName>style.visibility</p:attrName>
                                        </p:attrNameLst>
                                      </p:cBhvr>
                                      <p:to>
                                        <p:strVal val="visible"/>
                                      </p:to>
                                    </p:set>
                                    <p:animEffect transition="in" filter="blinds(horizontal)">
                                      <p:cBhvr>
                                        <p:cTn id="13" dur="500"/>
                                        <p:tgtEl>
                                          <p:spTgt spid="11269"/>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1270"/>
                                        </p:tgtEl>
                                        <p:attrNameLst>
                                          <p:attrName>style.visibility</p:attrName>
                                        </p:attrNameLst>
                                      </p:cBhvr>
                                      <p:to>
                                        <p:strVal val="visible"/>
                                      </p:to>
                                    </p:set>
                                    <p:animEffect transition="in" filter="blinds(horizontal)">
                                      <p:cBhvr>
                                        <p:cTn id="18" dur="500"/>
                                        <p:tgtEl>
                                          <p:spTgt spid="11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utoUpdateAnimBg="0"/>
      <p:bldP spid="11269" grpId="0" autoUpdateAnimBg="0"/>
      <p:bldP spid="11270"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zh-CN" sz="3000"/>
              <a:t>6.7 </a:t>
            </a:r>
            <a:r>
              <a:rPr lang="zh-CN" altLang="en-US" sz="3000"/>
              <a:t>旅行售货员问题</a:t>
            </a:r>
            <a:endParaRPr lang="zh-CN" altLang="en-US" sz="3000"/>
          </a:p>
        </p:txBody>
      </p:sp>
      <p:sp>
        <p:nvSpPr>
          <p:cNvPr id="12292" name="Text Box 4"/>
          <p:cNvSpPr txBox="1">
            <a:spLocks noChangeArrowheads="1"/>
          </p:cNvSpPr>
          <p:nvPr/>
        </p:nvSpPr>
        <p:spPr bwMode="auto">
          <a:xfrm>
            <a:off x="304800" y="1628775"/>
            <a:ext cx="5943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b="1">
                <a:solidFill>
                  <a:schemeClr val="accent2"/>
                </a:solidFill>
                <a:latin typeface="Times New Roman" panose="02020603050405020304" pitchFamily="18" charset="0"/>
                <a:ea typeface="黑体" panose="02010609060101010101" pitchFamily="2" charset="-122"/>
              </a:rPr>
              <a:t>2. </a:t>
            </a:r>
            <a:r>
              <a:rPr kumimoji="1" lang="zh-CN" altLang="en-US" sz="3200" b="1">
                <a:solidFill>
                  <a:schemeClr val="accent2"/>
                </a:solidFill>
                <a:latin typeface="Times New Roman" panose="02020603050405020304" pitchFamily="18" charset="0"/>
                <a:ea typeface="黑体" panose="02010609060101010101" pitchFamily="2" charset="-122"/>
              </a:rPr>
              <a:t>算法描述</a:t>
            </a:r>
            <a:endParaRPr lang="zh-CN" altLang="en-US" b="1">
              <a:solidFill>
                <a:schemeClr val="accent2"/>
              </a:solidFill>
              <a:ea typeface="华文行楷" panose="02010800040101010101" pitchFamily="2" charset="-122"/>
            </a:endParaRPr>
          </a:p>
        </p:txBody>
      </p:sp>
      <p:sp>
        <p:nvSpPr>
          <p:cNvPr id="12293" name="Text Box 5"/>
          <p:cNvSpPr txBox="1">
            <a:spLocks noChangeArrowheads="1"/>
          </p:cNvSpPr>
          <p:nvPr/>
        </p:nvSpPr>
        <p:spPr bwMode="auto">
          <a:xfrm>
            <a:off x="684213" y="2349500"/>
            <a:ext cx="80645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1</a:t>
            </a:r>
            <a:r>
              <a:rPr lang="zh-CN" altLang="en-US" sz="2400" b="1">
                <a:latin typeface="新宋体" panose="02010609030101010101" charset="-122"/>
                <a:ea typeface="新宋体" panose="02010609030101010101" charset="-122"/>
              </a:rPr>
              <a:t>、首先考虑</a:t>
            </a:r>
            <a:r>
              <a:rPr lang="en-US" altLang="zh-CN" sz="2400" b="1">
                <a:latin typeface="新宋体" panose="02010609030101010101" charset="-122"/>
                <a:ea typeface="新宋体" panose="02010609030101010101" charset="-122"/>
              </a:rPr>
              <a:t>s=n-2</a:t>
            </a:r>
            <a:r>
              <a:rPr lang="zh-CN" altLang="en-US" sz="2400" b="1">
                <a:latin typeface="新宋体" panose="02010609030101010101" charset="-122"/>
                <a:ea typeface="新宋体" panose="02010609030101010101" charset="-122"/>
              </a:rPr>
              <a:t>的情形，此时当前扩展结点是排列树中某个叶结点的父结点。如果该叶结点相应一条可行回路且费用小于当前最小费用，则将该叶结点插入到优先队列中，否则舍去该叶结点。</a:t>
            </a:r>
            <a:endParaRPr lang="zh-CN" altLang="en-US" sz="2400" b="1">
              <a:latin typeface="新宋体" panose="02010609030101010101" charset="-122"/>
              <a:ea typeface="新宋体" panose="02010609030101010101" charset="-122"/>
            </a:endParaRPr>
          </a:p>
        </p:txBody>
      </p:sp>
      <p:sp>
        <p:nvSpPr>
          <p:cNvPr id="12294" name="Text Box 6"/>
          <p:cNvSpPr txBox="1">
            <a:spLocks noChangeArrowheads="1"/>
          </p:cNvSpPr>
          <p:nvPr/>
        </p:nvSpPr>
        <p:spPr bwMode="auto">
          <a:xfrm>
            <a:off x="685800" y="4021138"/>
            <a:ext cx="798195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2</a:t>
            </a:r>
            <a:r>
              <a:rPr lang="zh-CN" altLang="en-US" sz="2400" b="1">
                <a:latin typeface="新宋体" panose="02010609030101010101" charset="-122"/>
                <a:ea typeface="新宋体" panose="02010609030101010101" charset="-122"/>
              </a:rPr>
              <a:t>、当</a:t>
            </a:r>
            <a:r>
              <a:rPr lang="en-US" altLang="zh-CN" sz="2400" b="1">
                <a:latin typeface="新宋体" panose="02010609030101010101" charset="-122"/>
                <a:ea typeface="新宋体" panose="02010609030101010101" charset="-122"/>
              </a:rPr>
              <a:t>s&lt;n-2</a:t>
            </a:r>
            <a:r>
              <a:rPr lang="zh-CN" altLang="en-US" sz="2400" b="1">
                <a:latin typeface="新宋体" panose="02010609030101010101" charset="-122"/>
                <a:ea typeface="新宋体" panose="02010609030101010101" charset="-122"/>
              </a:rPr>
              <a:t>时，算法依次产生当前扩展结点的所有儿子结点。由于当前扩展结点所相应的路径是</a:t>
            </a:r>
            <a:r>
              <a:rPr lang="en-US" altLang="zh-CN" sz="2400" b="1">
                <a:latin typeface="新宋体" panose="02010609030101010101" charset="-122"/>
                <a:ea typeface="新宋体" panose="02010609030101010101" charset="-122"/>
              </a:rPr>
              <a:t>x[0:s]</a:t>
            </a:r>
            <a:r>
              <a:rPr lang="zh-CN" altLang="en-US" sz="2400" b="1">
                <a:latin typeface="新宋体" panose="02010609030101010101" charset="-122"/>
                <a:ea typeface="新宋体" panose="02010609030101010101" charset="-122"/>
              </a:rPr>
              <a:t>，其可行儿子结点是从剩余顶点</a:t>
            </a:r>
            <a:r>
              <a:rPr lang="en-US" altLang="zh-CN" sz="2400" b="1">
                <a:latin typeface="新宋体" panose="02010609030101010101" charset="-122"/>
                <a:ea typeface="新宋体" panose="02010609030101010101" charset="-122"/>
              </a:rPr>
              <a:t>x[s+1:n-1]</a:t>
            </a:r>
            <a:r>
              <a:rPr lang="zh-CN" altLang="en-US" sz="2400" b="1">
                <a:latin typeface="新宋体" panose="02010609030101010101" charset="-122"/>
                <a:ea typeface="新宋体" panose="02010609030101010101" charset="-122"/>
              </a:rPr>
              <a:t>中选取的顶点</a:t>
            </a:r>
            <a:r>
              <a:rPr lang="en-US" altLang="zh-CN" sz="2400" b="1">
                <a:latin typeface="新宋体" panose="02010609030101010101" charset="-122"/>
                <a:ea typeface="新宋体" panose="02010609030101010101" charset="-122"/>
              </a:rPr>
              <a:t>x[i]</a:t>
            </a:r>
            <a:r>
              <a:rPr lang="zh-CN" altLang="en-US" sz="2400" b="1">
                <a:latin typeface="新宋体" panose="02010609030101010101" charset="-122"/>
                <a:ea typeface="新宋体" panose="02010609030101010101" charset="-122"/>
              </a:rPr>
              <a:t>，且</a:t>
            </a:r>
            <a:r>
              <a:rPr lang="en-US" altLang="zh-CN" sz="2400" b="1">
                <a:latin typeface="新宋体" panose="02010609030101010101" charset="-122"/>
                <a:ea typeface="新宋体" panose="02010609030101010101" charset="-122"/>
              </a:rPr>
              <a:t>(x[s]</a:t>
            </a:r>
            <a:r>
              <a:rPr lang="zh-CN" altLang="en-US" sz="2400" b="1">
                <a:latin typeface="新宋体" panose="02010609030101010101" charset="-122"/>
                <a:ea typeface="新宋体" panose="02010609030101010101" charset="-122"/>
              </a:rPr>
              <a:t>，</a:t>
            </a:r>
            <a:r>
              <a:rPr lang="en-US" altLang="zh-CN" sz="2400" b="1">
                <a:latin typeface="新宋体" panose="02010609030101010101" charset="-122"/>
                <a:ea typeface="新宋体" panose="02010609030101010101" charset="-122"/>
              </a:rPr>
              <a:t>x[i])</a:t>
            </a:r>
            <a:r>
              <a:rPr lang="zh-CN" altLang="en-US" sz="2400" b="1">
                <a:latin typeface="新宋体" panose="02010609030101010101" charset="-122"/>
                <a:ea typeface="新宋体" panose="02010609030101010101" charset="-122"/>
              </a:rPr>
              <a:t>是所给有向图</a:t>
            </a:r>
            <a:r>
              <a:rPr lang="en-US" altLang="zh-CN" sz="2400" b="1">
                <a:latin typeface="新宋体" panose="02010609030101010101" charset="-122"/>
                <a:ea typeface="新宋体" panose="02010609030101010101" charset="-122"/>
              </a:rPr>
              <a:t>G</a:t>
            </a:r>
            <a:r>
              <a:rPr lang="zh-CN" altLang="en-US" sz="2400" b="1">
                <a:latin typeface="新宋体" panose="02010609030101010101" charset="-122"/>
                <a:ea typeface="新宋体" panose="02010609030101010101" charset="-122"/>
              </a:rPr>
              <a:t>中的一条边。对于当前扩展结点的每一个可行儿子结点，计算出其前缀</a:t>
            </a:r>
            <a:r>
              <a:rPr lang="en-US" altLang="zh-CN" sz="2400" b="1">
                <a:latin typeface="新宋体" panose="02010609030101010101" charset="-122"/>
                <a:ea typeface="新宋体" panose="02010609030101010101" charset="-122"/>
              </a:rPr>
              <a:t>(x[0:s]</a:t>
            </a:r>
            <a:r>
              <a:rPr lang="zh-CN" altLang="en-US" sz="2400" b="1">
                <a:latin typeface="新宋体" panose="02010609030101010101" charset="-122"/>
                <a:ea typeface="新宋体" panose="02010609030101010101" charset="-122"/>
              </a:rPr>
              <a:t>，</a:t>
            </a:r>
            <a:r>
              <a:rPr lang="en-US" altLang="zh-CN" sz="2400" b="1">
                <a:latin typeface="新宋体" panose="02010609030101010101" charset="-122"/>
                <a:ea typeface="新宋体" panose="02010609030101010101" charset="-122"/>
              </a:rPr>
              <a:t>x[i])</a:t>
            </a:r>
            <a:r>
              <a:rPr lang="zh-CN" altLang="en-US" sz="2400" b="1">
                <a:latin typeface="新宋体" panose="02010609030101010101" charset="-122"/>
                <a:ea typeface="新宋体" panose="02010609030101010101" charset="-122"/>
              </a:rPr>
              <a:t>的费用</a:t>
            </a:r>
            <a:r>
              <a:rPr lang="en-US" altLang="zh-CN" sz="2400" b="1">
                <a:latin typeface="新宋体" panose="02010609030101010101" charset="-122"/>
                <a:ea typeface="新宋体" panose="02010609030101010101" charset="-122"/>
              </a:rPr>
              <a:t>cc</a:t>
            </a:r>
            <a:r>
              <a:rPr lang="zh-CN" altLang="en-US" sz="2400" b="1">
                <a:latin typeface="新宋体" panose="02010609030101010101" charset="-122"/>
                <a:ea typeface="新宋体" panose="02010609030101010101" charset="-122"/>
              </a:rPr>
              <a:t>和相应的下界</a:t>
            </a:r>
            <a:r>
              <a:rPr lang="en-US" altLang="zh-CN" sz="2400" b="1">
                <a:latin typeface="新宋体" panose="02010609030101010101" charset="-122"/>
                <a:ea typeface="新宋体" panose="02010609030101010101" charset="-122"/>
              </a:rPr>
              <a:t>lcost</a:t>
            </a:r>
            <a:r>
              <a:rPr lang="zh-CN" altLang="en-US" sz="2400" b="1">
                <a:latin typeface="新宋体" panose="02010609030101010101" charset="-122"/>
                <a:ea typeface="新宋体" panose="02010609030101010101" charset="-122"/>
              </a:rPr>
              <a:t>。当</a:t>
            </a:r>
            <a:r>
              <a:rPr lang="en-US" altLang="zh-CN" sz="2400" b="1">
                <a:latin typeface="新宋体" panose="02010609030101010101" charset="-122"/>
                <a:ea typeface="新宋体" panose="02010609030101010101" charset="-122"/>
              </a:rPr>
              <a:t>lcost&lt;bestc</a:t>
            </a:r>
            <a:r>
              <a:rPr lang="zh-CN" altLang="en-US" sz="2400" b="1">
                <a:latin typeface="新宋体" panose="02010609030101010101" charset="-122"/>
                <a:ea typeface="新宋体" panose="02010609030101010101" charset="-122"/>
              </a:rPr>
              <a:t>时，将这个可行儿子结点插入到活结点优先队列中。 </a:t>
            </a:r>
            <a:endParaRPr lang="zh-CN" altLang="en-US" sz="2400" b="1">
              <a:latin typeface="新宋体" panose="02010609030101010101" charset="-122"/>
              <a:ea typeface="新宋体" panose="0201060903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anim calcmode="lin" valueType="num">
                                      <p:cBhvr additive="base">
                                        <p:cTn id="7" dur="500" fill="hold"/>
                                        <p:tgtEl>
                                          <p:spTgt spid="12292"/>
                                        </p:tgtEl>
                                        <p:attrNameLst>
                                          <p:attrName>ppt_x</p:attrName>
                                        </p:attrNameLst>
                                      </p:cBhvr>
                                      <p:tavLst>
                                        <p:tav tm="0">
                                          <p:val>
                                            <p:strVal val="1+#ppt_w/2"/>
                                          </p:val>
                                        </p:tav>
                                        <p:tav tm="100000">
                                          <p:val>
                                            <p:strVal val="#ppt_x"/>
                                          </p:val>
                                        </p:tav>
                                      </p:tavLst>
                                    </p:anim>
                                    <p:anim calcmode="lin" valueType="num">
                                      <p:cBhvr additive="base">
                                        <p:cTn id="8" dur="500" fill="hold"/>
                                        <p:tgtEl>
                                          <p:spTgt spid="1229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2293"/>
                                        </p:tgtEl>
                                        <p:attrNameLst>
                                          <p:attrName>style.visibility</p:attrName>
                                        </p:attrNameLst>
                                      </p:cBhvr>
                                      <p:to>
                                        <p:strVal val="visible"/>
                                      </p:to>
                                    </p:set>
                                    <p:animEffect transition="in" filter="box(in)">
                                      <p:cBhvr>
                                        <p:cTn id="13" dur="500"/>
                                        <p:tgtEl>
                                          <p:spTgt spid="12293"/>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2294"/>
                                        </p:tgtEl>
                                        <p:attrNameLst>
                                          <p:attrName>style.visibility</p:attrName>
                                        </p:attrNameLst>
                                      </p:cBhvr>
                                      <p:to>
                                        <p:strVal val="visible"/>
                                      </p:to>
                                    </p:set>
                                    <p:animEffect transition="in" filter="box(in)">
                                      <p:cBhvr>
                                        <p:cTn id="18" dur="500"/>
                                        <p:tgtEl>
                                          <p:spTgt spid="12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autoUpdateAnimBg="0"/>
      <p:bldP spid="12293" grpId="0" autoUpdateAnimBg="0"/>
      <p:bldP spid="12294"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zh-CN" sz="3000"/>
              <a:t>6.7 </a:t>
            </a:r>
            <a:r>
              <a:rPr lang="zh-CN" altLang="en-US" sz="3000"/>
              <a:t>旅行售货员问题</a:t>
            </a:r>
            <a:endParaRPr lang="zh-CN" altLang="en-US" sz="3000"/>
          </a:p>
        </p:txBody>
      </p:sp>
      <p:sp>
        <p:nvSpPr>
          <p:cNvPr id="13316" name="Text Box 4"/>
          <p:cNvSpPr txBox="1">
            <a:spLocks noChangeArrowheads="1"/>
          </p:cNvSpPr>
          <p:nvPr/>
        </p:nvSpPr>
        <p:spPr bwMode="auto">
          <a:xfrm>
            <a:off x="304800" y="1844675"/>
            <a:ext cx="5943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b="1">
                <a:solidFill>
                  <a:schemeClr val="accent2"/>
                </a:solidFill>
                <a:latin typeface="Times New Roman" panose="02020603050405020304" pitchFamily="18" charset="0"/>
                <a:ea typeface="黑体" panose="02010609060101010101" pitchFamily="2" charset="-122"/>
              </a:rPr>
              <a:t>2. </a:t>
            </a:r>
            <a:r>
              <a:rPr kumimoji="1" lang="zh-CN" altLang="en-US" sz="3200" b="1">
                <a:solidFill>
                  <a:schemeClr val="accent2"/>
                </a:solidFill>
                <a:latin typeface="Times New Roman" panose="02020603050405020304" pitchFamily="18" charset="0"/>
                <a:ea typeface="黑体" panose="02010609060101010101" pitchFamily="2" charset="-122"/>
              </a:rPr>
              <a:t>算法描述</a:t>
            </a:r>
            <a:endParaRPr lang="zh-CN" altLang="en-US" b="1">
              <a:solidFill>
                <a:schemeClr val="accent2"/>
              </a:solidFill>
              <a:ea typeface="华文行楷" panose="02010800040101010101" pitchFamily="2" charset="-122"/>
            </a:endParaRPr>
          </a:p>
        </p:txBody>
      </p:sp>
      <p:sp>
        <p:nvSpPr>
          <p:cNvPr id="13317" name="Text Box 5"/>
          <p:cNvSpPr txBox="1">
            <a:spLocks noChangeArrowheads="1"/>
          </p:cNvSpPr>
          <p:nvPr/>
        </p:nvSpPr>
        <p:spPr bwMode="auto">
          <a:xfrm>
            <a:off x="611188" y="2565400"/>
            <a:ext cx="8137525" cy="392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算法中</a:t>
            </a:r>
            <a:r>
              <a:rPr lang="en-US" altLang="zh-CN" sz="2400" b="1">
                <a:latin typeface="新宋体" panose="02010609030101010101" charset="-122"/>
                <a:ea typeface="新宋体" panose="02010609030101010101" charset="-122"/>
              </a:rPr>
              <a:t>while</a:t>
            </a:r>
            <a:r>
              <a:rPr lang="zh-CN" altLang="en-US" sz="2400" b="1">
                <a:latin typeface="新宋体" panose="02010609030101010101" charset="-122"/>
                <a:ea typeface="新宋体" panose="02010609030101010101" charset="-122"/>
              </a:rPr>
              <a:t>循环的终止条件是排列树的一个叶结点成为当前扩展结点。当</a:t>
            </a:r>
            <a:r>
              <a:rPr lang="en-US" altLang="zh-CN" sz="2400" b="1">
                <a:latin typeface="新宋体" panose="02010609030101010101" charset="-122"/>
                <a:ea typeface="新宋体" panose="02010609030101010101" charset="-122"/>
              </a:rPr>
              <a:t>s=n-1</a:t>
            </a:r>
            <a:r>
              <a:rPr lang="zh-CN" altLang="en-US" sz="2400" b="1">
                <a:latin typeface="新宋体" panose="02010609030101010101" charset="-122"/>
                <a:ea typeface="新宋体" panose="02010609030101010101" charset="-122"/>
              </a:rPr>
              <a:t>时，已找到的回路前缀是</a:t>
            </a:r>
            <a:r>
              <a:rPr lang="en-US" altLang="zh-CN" sz="2400" b="1">
                <a:latin typeface="新宋体" panose="02010609030101010101" charset="-122"/>
                <a:ea typeface="新宋体" panose="02010609030101010101" charset="-122"/>
              </a:rPr>
              <a:t>x[0:n-1]</a:t>
            </a:r>
            <a:r>
              <a:rPr lang="zh-CN" altLang="en-US" sz="2400" b="1">
                <a:latin typeface="新宋体" panose="02010609030101010101" charset="-122"/>
                <a:ea typeface="新宋体" panose="02010609030101010101" charset="-122"/>
              </a:rPr>
              <a:t>，它已包含图</a:t>
            </a:r>
            <a:r>
              <a:rPr lang="en-US" altLang="zh-CN" sz="2400" b="1">
                <a:latin typeface="新宋体" panose="02010609030101010101" charset="-122"/>
                <a:ea typeface="新宋体" panose="02010609030101010101" charset="-122"/>
              </a:rPr>
              <a:t>G</a:t>
            </a:r>
            <a:r>
              <a:rPr lang="zh-CN" altLang="en-US" sz="2400" b="1">
                <a:latin typeface="新宋体" panose="02010609030101010101" charset="-122"/>
                <a:ea typeface="新宋体" panose="02010609030101010101" charset="-122"/>
              </a:rPr>
              <a:t>的所有</a:t>
            </a:r>
            <a:r>
              <a:rPr lang="en-US" altLang="zh-CN" sz="2400" b="1">
                <a:latin typeface="新宋体" panose="02010609030101010101" charset="-122"/>
                <a:ea typeface="新宋体" panose="02010609030101010101" charset="-122"/>
              </a:rPr>
              <a:t>n</a:t>
            </a:r>
            <a:r>
              <a:rPr lang="zh-CN" altLang="en-US" sz="2400" b="1">
                <a:latin typeface="新宋体" panose="02010609030101010101" charset="-122"/>
                <a:ea typeface="新宋体" panose="02010609030101010101" charset="-122"/>
              </a:rPr>
              <a:t>个顶点。因此，当</a:t>
            </a:r>
            <a:r>
              <a:rPr lang="en-US" altLang="zh-CN" sz="2400" b="1">
                <a:latin typeface="新宋体" panose="02010609030101010101" charset="-122"/>
                <a:ea typeface="新宋体" panose="02010609030101010101" charset="-122"/>
              </a:rPr>
              <a:t>s=n-1</a:t>
            </a:r>
            <a:r>
              <a:rPr lang="zh-CN" altLang="en-US" sz="2400" b="1">
                <a:latin typeface="新宋体" panose="02010609030101010101" charset="-122"/>
                <a:ea typeface="新宋体" panose="02010609030101010101" charset="-122"/>
              </a:rPr>
              <a:t>时，相应的扩展结点表示一个叶结点。此时该叶结点所相应的回路的费用等于</a:t>
            </a:r>
            <a:r>
              <a:rPr lang="en-US" altLang="zh-CN" sz="2400" b="1">
                <a:latin typeface="新宋体" panose="02010609030101010101" charset="-122"/>
                <a:ea typeface="新宋体" panose="02010609030101010101" charset="-122"/>
              </a:rPr>
              <a:t>cc</a:t>
            </a:r>
            <a:r>
              <a:rPr lang="zh-CN" altLang="en-US" sz="2400" b="1">
                <a:latin typeface="新宋体" panose="02010609030101010101" charset="-122"/>
                <a:ea typeface="新宋体" panose="02010609030101010101" charset="-122"/>
              </a:rPr>
              <a:t>和</a:t>
            </a:r>
            <a:r>
              <a:rPr lang="en-US" altLang="zh-CN" sz="2400" b="1">
                <a:latin typeface="新宋体" panose="02010609030101010101" charset="-122"/>
                <a:ea typeface="新宋体" panose="02010609030101010101" charset="-122"/>
              </a:rPr>
              <a:t>lcost</a:t>
            </a:r>
            <a:r>
              <a:rPr lang="zh-CN" altLang="en-US" sz="2400" b="1">
                <a:latin typeface="新宋体" panose="02010609030101010101" charset="-122"/>
                <a:ea typeface="新宋体" panose="02010609030101010101" charset="-122"/>
              </a:rPr>
              <a:t>的值。剩余的活结点的</a:t>
            </a:r>
            <a:r>
              <a:rPr lang="en-US" altLang="zh-CN" sz="2400" b="1">
                <a:latin typeface="新宋体" panose="02010609030101010101" charset="-122"/>
                <a:ea typeface="新宋体" panose="02010609030101010101" charset="-122"/>
              </a:rPr>
              <a:t>lcost</a:t>
            </a:r>
            <a:r>
              <a:rPr lang="zh-CN" altLang="en-US" sz="2400" b="1">
                <a:latin typeface="新宋体" panose="02010609030101010101" charset="-122"/>
                <a:ea typeface="新宋体" panose="02010609030101010101" charset="-122"/>
              </a:rPr>
              <a:t>值不小于已找到的回路的费用。它们都不可能导致费用更小的回路。因此已找到的叶结点所相应的回路是一个最小费用旅行售货员回路，算法可以结束。</a:t>
            </a:r>
            <a:endParaRPr lang="zh-CN" altLang="en-US" sz="2400" b="1">
              <a:latin typeface="新宋体" panose="02010609030101010101" charset="-122"/>
              <a:ea typeface="新宋体" panose="02010609030101010101" charset="-122"/>
            </a:endParaRPr>
          </a:p>
          <a:p>
            <a:pPr eaLnBrk="1" hangingPunct="1">
              <a:spcBef>
                <a:spcPct val="50000"/>
              </a:spcBef>
            </a:pPr>
            <a:r>
              <a:rPr lang="zh-CN" altLang="en-US" sz="2400" b="1">
                <a:latin typeface="新宋体" panose="02010609030101010101" charset="-122"/>
                <a:ea typeface="新宋体" panose="02010609030101010101" charset="-122"/>
              </a:rPr>
              <a:t>   算法结束时返回找到的最小费用，相应的最优解由数组</a:t>
            </a:r>
            <a:r>
              <a:rPr lang="en-US" altLang="zh-CN" sz="2400" b="1">
                <a:latin typeface="新宋体" panose="02010609030101010101" charset="-122"/>
                <a:ea typeface="新宋体" panose="02010609030101010101" charset="-122"/>
              </a:rPr>
              <a:t>v</a:t>
            </a:r>
            <a:r>
              <a:rPr lang="zh-CN" altLang="en-US" sz="2400" b="1">
                <a:latin typeface="新宋体" panose="02010609030101010101" charset="-122"/>
                <a:ea typeface="新宋体" panose="02010609030101010101" charset="-122"/>
              </a:rPr>
              <a:t>给出。 </a:t>
            </a:r>
            <a:endParaRPr lang="zh-CN" altLang="en-US" sz="2400" b="1">
              <a:latin typeface="新宋体" panose="02010609030101010101" charset="-122"/>
              <a:ea typeface="新宋体" panose="02010609030101010101"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316"/>
                                        </p:tgtEl>
                                        <p:attrNameLst>
                                          <p:attrName>style.visibility</p:attrName>
                                        </p:attrNameLst>
                                      </p:cBhvr>
                                      <p:to>
                                        <p:strVal val="visible"/>
                                      </p:to>
                                    </p:set>
                                    <p:anim calcmode="lin" valueType="num">
                                      <p:cBhvr additive="base">
                                        <p:cTn id="7" dur="500" fill="hold"/>
                                        <p:tgtEl>
                                          <p:spTgt spid="13316"/>
                                        </p:tgtEl>
                                        <p:attrNameLst>
                                          <p:attrName>ppt_x</p:attrName>
                                        </p:attrNameLst>
                                      </p:cBhvr>
                                      <p:tavLst>
                                        <p:tav tm="0">
                                          <p:val>
                                            <p:strVal val="1+#ppt_w/2"/>
                                          </p:val>
                                        </p:tav>
                                        <p:tav tm="100000">
                                          <p:val>
                                            <p:strVal val="#ppt_x"/>
                                          </p:val>
                                        </p:tav>
                                      </p:tavLst>
                                    </p:anim>
                                    <p:anim calcmode="lin" valueType="num">
                                      <p:cBhvr additive="base">
                                        <p:cTn id="8" dur="500" fill="hold"/>
                                        <p:tgtEl>
                                          <p:spTgt spid="133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12" fill="hold" grpId="0" nodeType="clickEffect">
                                  <p:stCondLst>
                                    <p:cond delay="0"/>
                                  </p:stCondLst>
                                  <p:childTnLst>
                                    <p:set>
                                      <p:cBhvr>
                                        <p:cTn id="12" dur="1" fill="hold">
                                          <p:stCondLst>
                                            <p:cond delay="0"/>
                                          </p:stCondLst>
                                        </p:cTn>
                                        <p:tgtEl>
                                          <p:spTgt spid="13317"/>
                                        </p:tgtEl>
                                        <p:attrNameLst>
                                          <p:attrName>style.visibility</p:attrName>
                                        </p:attrNameLst>
                                      </p:cBhvr>
                                      <p:to>
                                        <p:strVal val="visible"/>
                                      </p:to>
                                    </p:set>
                                    <p:animEffect transition="in" filter="strips(downLeft)">
                                      <p:cBhvr>
                                        <p:cTn id="13" dur="500"/>
                                        <p:tgtEl>
                                          <p:spTgt spid="13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autoUpdateAnimBg="0"/>
      <p:bldP spid="13317"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ctrTitle"/>
          </p:nvPr>
        </p:nvSpPr>
        <p:spPr/>
        <p:txBody>
          <a:bodyPr/>
          <a:lstStyle/>
          <a:p>
            <a:pPr algn="r"/>
            <a:r>
              <a:rPr lang="zh-CN" altLang="en-US" sz="3300"/>
              <a:t>电路板排列问题</a:t>
            </a:r>
            <a:endParaRPr lang="zh-CN" altLang="en-US"/>
          </a:p>
        </p:txBody>
      </p:sp>
      <p:sp>
        <p:nvSpPr>
          <p:cNvPr id="37891" name="Rectangle 3"/>
          <p:cNvSpPr>
            <a:spLocks noGrp="1" noChangeArrowheads="1"/>
          </p:cNvSpPr>
          <p:nvPr>
            <p:ph type="subTitle" idx="1"/>
          </p:nvPr>
        </p:nvSpPr>
        <p:spPr/>
        <p:txBody>
          <a:bodyPr/>
          <a:lstStyle/>
          <a:p>
            <a:endParaRPr lang="zh-CN" altLang="zh-CN"/>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zh-CN" sz="3000"/>
              <a:t>6.8 </a:t>
            </a:r>
            <a:r>
              <a:rPr lang="zh-CN" altLang="en-US" sz="3000"/>
              <a:t>电路板排列问题</a:t>
            </a:r>
            <a:endParaRPr lang="zh-CN" altLang="en-US" sz="3000"/>
          </a:p>
        </p:txBody>
      </p:sp>
      <p:sp>
        <p:nvSpPr>
          <p:cNvPr id="14340" name="Text Box 4"/>
          <p:cNvSpPr txBox="1">
            <a:spLocks noChangeArrowheads="1"/>
          </p:cNvSpPr>
          <p:nvPr/>
        </p:nvSpPr>
        <p:spPr bwMode="auto">
          <a:xfrm>
            <a:off x="304800" y="1557338"/>
            <a:ext cx="5943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zh-CN" altLang="en-US" sz="3200" b="1">
                <a:solidFill>
                  <a:schemeClr val="accent2"/>
                </a:solidFill>
                <a:latin typeface="Times New Roman" panose="02020603050405020304" pitchFamily="18" charset="0"/>
                <a:ea typeface="黑体" panose="02010609060101010101" pitchFamily="2" charset="-122"/>
              </a:rPr>
              <a:t>算法描述</a:t>
            </a:r>
            <a:endParaRPr lang="zh-CN" altLang="en-US" b="1">
              <a:solidFill>
                <a:schemeClr val="accent2"/>
              </a:solidFill>
              <a:ea typeface="华文行楷" panose="02010800040101010101" pitchFamily="2" charset="-122"/>
            </a:endParaRPr>
          </a:p>
        </p:txBody>
      </p:sp>
      <p:sp>
        <p:nvSpPr>
          <p:cNvPr id="14341" name="Text Box 5"/>
          <p:cNvSpPr txBox="1">
            <a:spLocks noChangeArrowheads="1"/>
          </p:cNvSpPr>
          <p:nvPr/>
        </p:nvSpPr>
        <p:spPr bwMode="auto">
          <a:xfrm>
            <a:off x="539750" y="2349500"/>
            <a:ext cx="80645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算法开始时，将排列树的根结点置为当前扩展结点。在</a:t>
            </a:r>
            <a:r>
              <a:rPr lang="en-US" altLang="zh-CN" sz="2400" b="1">
                <a:latin typeface="新宋体" panose="02010609030101010101" charset="-122"/>
                <a:ea typeface="新宋体" panose="02010609030101010101" charset="-122"/>
              </a:rPr>
              <a:t>do-while</a:t>
            </a:r>
            <a:r>
              <a:rPr lang="zh-CN" altLang="en-US" sz="2400" b="1">
                <a:latin typeface="新宋体" panose="02010609030101010101" charset="-122"/>
                <a:ea typeface="新宋体" panose="02010609030101010101" charset="-122"/>
              </a:rPr>
              <a:t>循环体内算法依次从活结点优先队列中取出具有最小</a:t>
            </a:r>
            <a:r>
              <a:rPr lang="en-US" altLang="zh-CN" sz="2400" b="1">
                <a:latin typeface="新宋体" panose="02010609030101010101" charset="-122"/>
                <a:ea typeface="新宋体" panose="02010609030101010101" charset="-122"/>
              </a:rPr>
              <a:t>cd</a:t>
            </a:r>
            <a:r>
              <a:rPr lang="zh-CN" altLang="en-US" sz="2400" b="1">
                <a:latin typeface="新宋体" panose="02010609030101010101" charset="-122"/>
                <a:ea typeface="新宋体" panose="02010609030101010101" charset="-122"/>
              </a:rPr>
              <a:t>值的结点作为当前扩展结点，并加以扩展。</a:t>
            </a:r>
            <a:endParaRPr lang="zh-CN" altLang="en-US" sz="2400" b="1">
              <a:latin typeface="新宋体" panose="02010609030101010101" charset="-122"/>
              <a:ea typeface="新宋体" panose="02010609030101010101" charset="-122"/>
            </a:endParaRPr>
          </a:p>
        </p:txBody>
      </p:sp>
      <p:sp>
        <p:nvSpPr>
          <p:cNvPr id="14342" name="Text Box 6"/>
          <p:cNvSpPr txBox="1">
            <a:spLocks noChangeArrowheads="1"/>
          </p:cNvSpPr>
          <p:nvPr/>
        </p:nvSpPr>
        <p:spPr bwMode="auto">
          <a:xfrm>
            <a:off x="539750" y="3605213"/>
            <a:ext cx="80645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首先考虑</a:t>
            </a:r>
            <a:r>
              <a:rPr lang="en-US" altLang="zh-CN" sz="2400" b="1">
                <a:latin typeface="新宋体" panose="02010609030101010101" charset="-122"/>
                <a:ea typeface="新宋体" panose="02010609030101010101" charset="-122"/>
              </a:rPr>
              <a:t>s=n-1</a:t>
            </a:r>
            <a:r>
              <a:rPr lang="zh-CN" altLang="en-US" sz="2400" b="1">
                <a:latin typeface="新宋体" panose="02010609030101010101" charset="-122"/>
                <a:ea typeface="新宋体" panose="02010609030101010101" charset="-122"/>
              </a:rPr>
              <a:t>的情形，当前扩展结点是排列树中的一个叶结点的父结点。</a:t>
            </a:r>
            <a:r>
              <a:rPr lang="en-US" altLang="zh-CN" sz="2400" b="1">
                <a:latin typeface="新宋体" panose="02010609030101010101" charset="-122"/>
                <a:ea typeface="新宋体" panose="02010609030101010101" charset="-122"/>
              </a:rPr>
              <a:t>x</a:t>
            </a:r>
            <a:r>
              <a:rPr lang="zh-CN" altLang="en-US" sz="2400" b="1">
                <a:latin typeface="新宋体" panose="02010609030101010101" charset="-122"/>
                <a:ea typeface="新宋体" panose="02010609030101010101" charset="-122"/>
              </a:rPr>
              <a:t>表示相应于该叶结点的电路板排列。计算出与</a:t>
            </a:r>
            <a:r>
              <a:rPr lang="en-US" altLang="zh-CN" sz="2400" b="1">
                <a:latin typeface="新宋体" panose="02010609030101010101" charset="-122"/>
                <a:ea typeface="新宋体" panose="02010609030101010101" charset="-122"/>
              </a:rPr>
              <a:t>x</a:t>
            </a:r>
            <a:r>
              <a:rPr lang="zh-CN" altLang="en-US" sz="2400" b="1">
                <a:latin typeface="新宋体" panose="02010609030101010101" charset="-122"/>
                <a:ea typeface="新宋体" panose="02010609030101010101" charset="-122"/>
              </a:rPr>
              <a:t>相应的密度并在必要时更新当前最优值和相应的当前最优解。</a:t>
            </a:r>
            <a:endParaRPr lang="zh-CN" altLang="en-US" sz="2400" b="1">
              <a:solidFill>
                <a:schemeClr val="accent2"/>
              </a:solidFill>
              <a:ea typeface="华文行楷" panose="02010800040101010101" pitchFamily="2" charset="-122"/>
            </a:endParaRPr>
          </a:p>
        </p:txBody>
      </p:sp>
      <p:sp>
        <p:nvSpPr>
          <p:cNvPr id="14343" name="Text Box 7"/>
          <p:cNvSpPr txBox="1">
            <a:spLocks noChangeArrowheads="1"/>
          </p:cNvSpPr>
          <p:nvPr/>
        </p:nvSpPr>
        <p:spPr bwMode="auto">
          <a:xfrm>
            <a:off x="539750" y="5045075"/>
            <a:ext cx="80645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当</a:t>
            </a:r>
            <a:r>
              <a:rPr lang="en-US" altLang="zh-CN" sz="2400" b="1">
                <a:latin typeface="新宋体" panose="02010609030101010101" charset="-122"/>
                <a:ea typeface="新宋体" panose="02010609030101010101" charset="-122"/>
              </a:rPr>
              <a:t>s&lt;n-1</a:t>
            </a:r>
            <a:r>
              <a:rPr lang="zh-CN" altLang="en-US" sz="2400" b="1">
                <a:latin typeface="新宋体" panose="02010609030101010101" charset="-122"/>
                <a:ea typeface="新宋体" panose="02010609030101010101" charset="-122"/>
              </a:rPr>
              <a:t>时，算法依次产生当前扩展结点的所有儿子结点。对于当前扩展结点的每一个儿子结点</a:t>
            </a:r>
            <a:r>
              <a:rPr lang="en-US" altLang="zh-CN" sz="2400" b="1">
                <a:latin typeface="新宋体" panose="02010609030101010101" charset="-122"/>
                <a:ea typeface="新宋体" panose="02010609030101010101" charset="-122"/>
              </a:rPr>
              <a:t>node</a:t>
            </a:r>
            <a:r>
              <a:rPr lang="zh-CN" altLang="en-US" sz="2400" b="1">
                <a:latin typeface="新宋体" panose="02010609030101010101" charset="-122"/>
                <a:ea typeface="新宋体" panose="02010609030101010101" charset="-122"/>
              </a:rPr>
              <a:t>，计算出其相应的密度</a:t>
            </a:r>
            <a:r>
              <a:rPr lang="en-US" altLang="zh-CN" sz="2400" b="1">
                <a:latin typeface="新宋体" panose="02010609030101010101" charset="-122"/>
                <a:ea typeface="新宋体" panose="02010609030101010101" charset="-122"/>
              </a:rPr>
              <a:t>node.cd</a:t>
            </a:r>
            <a:r>
              <a:rPr lang="zh-CN" altLang="en-US" sz="2400" b="1">
                <a:latin typeface="新宋体" panose="02010609030101010101" charset="-122"/>
                <a:ea typeface="新宋体" panose="02010609030101010101" charset="-122"/>
              </a:rPr>
              <a:t>。当</a:t>
            </a:r>
            <a:r>
              <a:rPr lang="en-US" altLang="zh-CN" sz="2400" b="1">
                <a:latin typeface="新宋体" panose="02010609030101010101" charset="-122"/>
                <a:ea typeface="新宋体" panose="02010609030101010101" charset="-122"/>
              </a:rPr>
              <a:t>node.cd&lt;bestd</a:t>
            </a:r>
            <a:r>
              <a:rPr lang="zh-CN" altLang="en-US" sz="2400" b="1">
                <a:latin typeface="新宋体" panose="02010609030101010101" charset="-122"/>
                <a:ea typeface="新宋体" panose="02010609030101010101" charset="-122"/>
              </a:rPr>
              <a:t>时，将该儿子结点</a:t>
            </a:r>
            <a:r>
              <a:rPr lang="en-US" altLang="zh-CN" sz="2400" b="1">
                <a:latin typeface="新宋体" panose="02010609030101010101" charset="-122"/>
                <a:ea typeface="新宋体" panose="02010609030101010101" charset="-122"/>
              </a:rPr>
              <a:t>N</a:t>
            </a:r>
            <a:r>
              <a:rPr lang="zh-CN" altLang="en-US" sz="2400" b="1">
                <a:latin typeface="新宋体" panose="02010609030101010101" charset="-122"/>
                <a:ea typeface="新宋体" panose="02010609030101010101" charset="-122"/>
              </a:rPr>
              <a:t>插入到活结点优先队列中。</a:t>
            </a:r>
            <a:endParaRPr lang="zh-CN" altLang="en-US" sz="2400" b="1">
              <a:latin typeface="新宋体" panose="02010609030101010101" charset="-122"/>
              <a:ea typeface="新宋体" panose="02010609030101010101" charset="-122"/>
            </a:endParaRPr>
          </a:p>
        </p:txBody>
      </p:sp>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 calcmode="lin" valueType="num">
                                      <p:cBhvr additive="base">
                                        <p:cTn id="7" dur="500" fill="hold"/>
                                        <p:tgtEl>
                                          <p:spTgt spid="14340"/>
                                        </p:tgtEl>
                                        <p:attrNameLst>
                                          <p:attrName>ppt_x</p:attrName>
                                        </p:attrNameLst>
                                      </p:cBhvr>
                                      <p:tavLst>
                                        <p:tav tm="0">
                                          <p:val>
                                            <p:strVal val="1+#ppt_w/2"/>
                                          </p:val>
                                        </p:tav>
                                        <p:tav tm="100000">
                                          <p:val>
                                            <p:strVal val="#ppt_x"/>
                                          </p:val>
                                        </p:tav>
                                      </p:tavLst>
                                    </p:anim>
                                    <p:anim calcmode="lin" valueType="num">
                                      <p:cBhvr additive="base">
                                        <p:cTn id="8" dur="500" fill="hold"/>
                                        <p:tgtEl>
                                          <p:spTgt spid="1434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8" fill="hold" grpId="0" nodeType="clickEffect">
                                  <p:stCondLst>
                                    <p:cond delay="0"/>
                                  </p:stCondLst>
                                  <p:childTnLst>
                                    <p:set>
                                      <p:cBhvr>
                                        <p:cTn id="12" dur="1" fill="hold">
                                          <p:stCondLst>
                                            <p:cond delay="0"/>
                                          </p:stCondLst>
                                        </p:cTn>
                                        <p:tgtEl>
                                          <p:spTgt spid="14341"/>
                                        </p:tgtEl>
                                        <p:attrNameLst>
                                          <p:attrName>style.visibility</p:attrName>
                                        </p:attrNameLst>
                                      </p:cBhvr>
                                      <p:to>
                                        <p:strVal val="visible"/>
                                      </p:to>
                                    </p:set>
                                    <p:anim calcmode="lin" valueType="num">
                                      <p:cBhvr>
                                        <p:cTn id="13" dur="500" fill="hold"/>
                                        <p:tgtEl>
                                          <p:spTgt spid="14341"/>
                                        </p:tgtEl>
                                        <p:attrNameLst>
                                          <p:attrName>ppt_x</p:attrName>
                                        </p:attrNameLst>
                                      </p:cBhvr>
                                      <p:tavLst>
                                        <p:tav tm="0">
                                          <p:val>
                                            <p:strVal val="#ppt_x-#ppt_w/2"/>
                                          </p:val>
                                        </p:tav>
                                        <p:tav tm="100000">
                                          <p:val>
                                            <p:strVal val="#ppt_x"/>
                                          </p:val>
                                        </p:tav>
                                      </p:tavLst>
                                    </p:anim>
                                    <p:anim calcmode="lin" valueType="num">
                                      <p:cBhvr>
                                        <p:cTn id="14" dur="500" fill="hold"/>
                                        <p:tgtEl>
                                          <p:spTgt spid="14341"/>
                                        </p:tgtEl>
                                        <p:attrNameLst>
                                          <p:attrName>ppt_y</p:attrName>
                                        </p:attrNameLst>
                                      </p:cBhvr>
                                      <p:tavLst>
                                        <p:tav tm="0">
                                          <p:val>
                                            <p:strVal val="#ppt_y"/>
                                          </p:val>
                                        </p:tav>
                                        <p:tav tm="100000">
                                          <p:val>
                                            <p:strVal val="#ppt_y"/>
                                          </p:val>
                                        </p:tav>
                                      </p:tavLst>
                                    </p:anim>
                                    <p:anim calcmode="lin" valueType="num">
                                      <p:cBhvr>
                                        <p:cTn id="15" dur="500" fill="hold"/>
                                        <p:tgtEl>
                                          <p:spTgt spid="14341"/>
                                        </p:tgtEl>
                                        <p:attrNameLst>
                                          <p:attrName>ppt_w</p:attrName>
                                        </p:attrNameLst>
                                      </p:cBhvr>
                                      <p:tavLst>
                                        <p:tav tm="0">
                                          <p:val>
                                            <p:fltVal val="0"/>
                                          </p:val>
                                        </p:tav>
                                        <p:tav tm="100000">
                                          <p:val>
                                            <p:strVal val="#ppt_w"/>
                                          </p:val>
                                        </p:tav>
                                      </p:tavLst>
                                    </p:anim>
                                    <p:anim calcmode="lin" valueType="num">
                                      <p:cBhvr>
                                        <p:cTn id="16" dur="500" fill="hold"/>
                                        <p:tgtEl>
                                          <p:spTgt spid="14341"/>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7" presetClass="entr" presetSubtype="2" fill="hold" grpId="0" nodeType="clickEffect">
                                  <p:stCondLst>
                                    <p:cond delay="0"/>
                                  </p:stCondLst>
                                  <p:childTnLst>
                                    <p:set>
                                      <p:cBhvr>
                                        <p:cTn id="20" dur="1" fill="hold">
                                          <p:stCondLst>
                                            <p:cond delay="0"/>
                                          </p:stCondLst>
                                        </p:cTn>
                                        <p:tgtEl>
                                          <p:spTgt spid="14342"/>
                                        </p:tgtEl>
                                        <p:attrNameLst>
                                          <p:attrName>style.visibility</p:attrName>
                                        </p:attrNameLst>
                                      </p:cBhvr>
                                      <p:to>
                                        <p:strVal val="visible"/>
                                      </p:to>
                                    </p:set>
                                    <p:anim calcmode="lin" valueType="num">
                                      <p:cBhvr>
                                        <p:cTn id="21" dur="500" fill="hold"/>
                                        <p:tgtEl>
                                          <p:spTgt spid="14342"/>
                                        </p:tgtEl>
                                        <p:attrNameLst>
                                          <p:attrName>ppt_x</p:attrName>
                                        </p:attrNameLst>
                                      </p:cBhvr>
                                      <p:tavLst>
                                        <p:tav tm="0">
                                          <p:val>
                                            <p:strVal val="#ppt_x+#ppt_w/2"/>
                                          </p:val>
                                        </p:tav>
                                        <p:tav tm="100000">
                                          <p:val>
                                            <p:strVal val="#ppt_x"/>
                                          </p:val>
                                        </p:tav>
                                      </p:tavLst>
                                    </p:anim>
                                    <p:anim calcmode="lin" valueType="num">
                                      <p:cBhvr>
                                        <p:cTn id="22" dur="500" fill="hold"/>
                                        <p:tgtEl>
                                          <p:spTgt spid="14342"/>
                                        </p:tgtEl>
                                        <p:attrNameLst>
                                          <p:attrName>ppt_y</p:attrName>
                                        </p:attrNameLst>
                                      </p:cBhvr>
                                      <p:tavLst>
                                        <p:tav tm="0">
                                          <p:val>
                                            <p:strVal val="#ppt_y"/>
                                          </p:val>
                                        </p:tav>
                                        <p:tav tm="100000">
                                          <p:val>
                                            <p:strVal val="#ppt_y"/>
                                          </p:val>
                                        </p:tav>
                                      </p:tavLst>
                                    </p:anim>
                                    <p:anim calcmode="lin" valueType="num">
                                      <p:cBhvr>
                                        <p:cTn id="23" dur="500" fill="hold"/>
                                        <p:tgtEl>
                                          <p:spTgt spid="14342"/>
                                        </p:tgtEl>
                                        <p:attrNameLst>
                                          <p:attrName>ppt_w</p:attrName>
                                        </p:attrNameLst>
                                      </p:cBhvr>
                                      <p:tavLst>
                                        <p:tav tm="0">
                                          <p:val>
                                            <p:fltVal val="0"/>
                                          </p:val>
                                        </p:tav>
                                        <p:tav tm="100000">
                                          <p:val>
                                            <p:strVal val="#ppt_w"/>
                                          </p:val>
                                        </p:tav>
                                      </p:tavLst>
                                    </p:anim>
                                    <p:anim calcmode="lin" valueType="num">
                                      <p:cBhvr>
                                        <p:cTn id="24" dur="500" fill="hold"/>
                                        <p:tgtEl>
                                          <p:spTgt spid="14342"/>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10" fill="hold" grpId="0" nodeType="clickEffect">
                                  <p:stCondLst>
                                    <p:cond delay="0"/>
                                  </p:stCondLst>
                                  <p:childTnLst>
                                    <p:set>
                                      <p:cBhvr>
                                        <p:cTn id="28" dur="1" fill="hold">
                                          <p:stCondLst>
                                            <p:cond delay="0"/>
                                          </p:stCondLst>
                                        </p:cTn>
                                        <p:tgtEl>
                                          <p:spTgt spid="14343"/>
                                        </p:tgtEl>
                                        <p:attrNameLst>
                                          <p:attrName>style.visibility</p:attrName>
                                        </p:attrNameLst>
                                      </p:cBhvr>
                                      <p:to>
                                        <p:strVal val="visible"/>
                                      </p:to>
                                    </p:set>
                                    <p:anim calcmode="lin" valueType="num">
                                      <p:cBhvr>
                                        <p:cTn id="29" dur="500" fill="hold"/>
                                        <p:tgtEl>
                                          <p:spTgt spid="14343"/>
                                        </p:tgtEl>
                                        <p:attrNameLst>
                                          <p:attrName>ppt_w</p:attrName>
                                        </p:attrNameLst>
                                      </p:cBhvr>
                                      <p:tavLst>
                                        <p:tav tm="0">
                                          <p:val>
                                            <p:fltVal val="0"/>
                                          </p:val>
                                        </p:tav>
                                        <p:tav tm="100000">
                                          <p:val>
                                            <p:strVal val="#ppt_w"/>
                                          </p:val>
                                        </p:tav>
                                      </p:tavLst>
                                    </p:anim>
                                    <p:anim calcmode="lin" valueType="num">
                                      <p:cBhvr>
                                        <p:cTn id="30" dur="500" fill="hold"/>
                                        <p:tgtEl>
                                          <p:spTgt spid="1434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autoUpdateAnimBg="0"/>
      <p:bldP spid="14341" grpId="0" autoUpdateAnimBg="0"/>
      <p:bldP spid="14342" grpId="0" autoUpdateAnimBg="0"/>
      <p:bldP spid="14343"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zh-CN" sz="3000"/>
              <a:t>6.8 </a:t>
            </a:r>
            <a:r>
              <a:rPr lang="zh-CN" altLang="en-US" sz="3000"/>
              <a:t>电路板排列问题</a:t>
            </a:r>
            <a:endParaRPr lang="zh-CN" altLang="en-US" sz="3000"/>
          </a:p>
        </p:txBody>
      </p:sp>
      <p:sp>
        <p:nvSpPr>
          <p:cNvPr id="15364" name="Text Box 4"/>
          <p:cNvSpPr txBox="1">
            <a:spLocks noChangeArrowheads="1"/>
          </p:cNvSpPr>
          <p:nvPr/>
        </p:nvSpPr>
        <p:spPr bwMode="auto">
          <a:xfrm>
            <a:off x="304800" y="1828800"/>
            <a:ext cx="5943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zh-CN" altLang="en-US" sz="3200">
                <a:solidFill>
                  <a:schemeClr val="accent2"/>
                </a:solidFill>
                <a:latin typeface="Times New Roman" panose="02020603050405020304" pitchFamily="18" charset="0"/>
                <a:ea typeface="黑体" panose="02010609060101010101" pitchFamily="2" charset="-122"/>
              </a:rPr>
              <a:t>算法描述</a:t>
            </a:r>
            <a:endParaRPr lang="zh-CN" altLang="en-US">
              <a:solidFill>
                <a:schemeClr val="accent2"/>
              </a:solidFill>
              <a:ea typeface="华文行楷" panose="02010800040101010101" pitchFamily="2" charset="-122"/>
            </a:endParaRPr>
          </a:p>
        </p:txBody>
      </p:sp>
      <p:sp>
        <p:nvSpPr>
          <p:cNvPr id="15365" name="Text Box 5"/>
          <p:cNvSpPr txBox="1">
            <a:spLocks noChangeArrowheads="1"/>
          </p:cNvSpPr>
          <p:nvPr/>
        </p:nvSpPr>
        <p:spPr bwMode="auto">
          <a:xfrm>
            <a:off x="914400" y="2363788"/>
            <a:ext cx="7391400" cy="375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lnSpc>
                <a:spcPct val="150000"/>
              </a:lnSpc>
            </a:pPr>
            <a:r>
              <a:rPr kumimoji="1" lang="en-US" altLang="zh-CN" sz="1600"/>
              <a:t>do {// </a:t>
            </a:r>
            <a:r>
              <a:rPr kumimoji="1" lang="zh-CN" altLang="en-US" sz="1600"/>
              <a:t>结点扩展</a:t>
            </a:r>
            <a:endParaRPr kumimoji="1" lang="zh-CN" altLang="en-US" sz="1600"/>
          </a:p>
          <a:p>
            <a:pPr eaLnBrk="1" hangingPunct="1">
              <a:lnSpc>
                <a:spcPct val="150000"/>
              </a:lnSpc>
            </a:pPr>
            <a:r>
              <a:rPr kumimoji="1" lang="zh-CN" altLang="en-US" sz="1600"/>
              <a:t>      </a:t>
            </a:r>
            <a:r>
              <a:rPr kumimoji="1" lang="en-US" altLang="zh-CN" sz="1600"/>
              <a:t>if (E.s == n - 1) {// </a:t>
            </a:r>
            <a:r>
              <a:rPr kumimoji="1" lang="zh-CN" altLang="en-US" sz="1600"/>
              <a:t>仅一个儿子结点</a:t>
            </a:r>
            <a:endParaRPr kumimoji="1" lang="zh-CN" altLang="en-US" sz="1600"/>
          </a:p>
          <a:p>
            <a:pPr eaLnBrk="1" hangingPunct="1">
              <a:lnSpc>
                <a:spcPct val="150000"/>
              </a:lnSpc>
            </a:pPr>
            <a:r>
              <a:rPr kumimoji="1" lang="zh-CN" altLang="en-US" sz="1600"/>
              <a:t>         </a:t>
            </a:r>
            <a:r>
              <a:rPr kumimoji="1" lang="en-US" altLang="zh-CN" sz="1600"/>
              <a:t>int ld = 0; // </a:t>
            </a:r>
            <a:r>
              <a:rPr kumimoji="1" lang="zh-CN" altLang="en-US" sz="1600"/>
              <a:t>最后一块电路板的密度</a:t>
            </a:r>
            <a:endParaRPr kumimoji="1" lang="zh-CN" altLang="en-US" sz="1600"/>
          </a:p>
          <a:p>
            <a:pPr eaLnBrk="1" hangingPunct="1">
              <a:lnSpc>
                <a:spcPct val="150000"/>
              </a:lnSpc>
            </a:pPr>
            <a:r>
              <a:rPr kumimoji="1" lang="zh-CN" altLang="en-US" sz="1600"/>
              <a:t>         </a:t>
            </a:r>
            <a:r>
              <a:rPr kumimoji="1" lang="en-US" altLang="zh-CN" sz="1600"/>
              <a:t>for (int j = 1; j &lt;= m; j++)</a:t>
            </a:r>
            <a:endParaRPr kumimoji="1" lang="en-US" altLang="zh-CN" sz="1600"/>
          </a:p>
          <a:p>
            <a:pPr eaLnBrk="1" hangingPunct="1">
              <a:lnSpc>
                <a:spcPct val="150000"/>
              </a:lnSpc>
            </a:pPr>
            <a:r>
              <a:rPr kumimoji="1" lang="en-US" altLang="zh-CN" sz="1600"/>
              <a:t>            ld += B[E.x[n]][j];</a:t>
            </a:r>
            <a:endParaRPr kumimoji="1" lang="en-US" altLang="zh-CN" sz="1600"/>
          </a:p>
          <a:p>
            <a:pPr eaLnBrk="1" hangingPunct="1">
              <a:lnSpc>
                <a:spcPct val="150000"/>
              </a:lnSpc>
            </a:pPr>
            <a:r>
              <a:rPr kumimoji="1" lang="en-US" altLang="zh-CN" sz="1600"/>
              <a:t>         if (ld &lt; bestd) {// </a:t>
            </a:r>
            <a:r>
              <a:rPr kumimoji="1" lang="zh-CN" altLang="en-US" sz="1600"/>
              <a:t>密度更小的电路板排列</a:t>
            </a:r>
            <a:endParaRPr kumimoji="1" lang="zh-CN" altLang="en-US" sz="1600"/>
          </a:p>
          <a:p>
            <a:pPr eaLnBrk="1" hangingPunct="1">
              <a:lnSpc>
                <a:spcPct val="150000"/>
              </a:lnSpc>
            </a:pPr>
            <a:r>
              <a:rPr kumimoji="1" lang="zh-CN" altLang="en-US" sz="1600"/>
              <a:t>            </a:t>
            </a:r>
            <a:r>
              <a:rPr kumimoji="1" lang="en-US" altLang="zh-CN" sz="1600"/>
              <a:t>delete [] bestx;</a:t>
            </a:r>
            <a:endParaRPr kumimoji="1" lang="en-US" altLang="zh-CN" sz="1600"/>
          </a:p>
          <a:p>
            <a:pPr eaLnBrk="1" hangingPunct="1">
              <a:lnSpc>
                <a:spcPct val="150000"/>
              </a:lnSpc>
            </a:pPr>
            <a:r>
              <a:rPr kumimoji="1" lang="en-US" altLang="zh-CN" sz="1600"/>
              <a:t>            bestx = E.x;</a:t>
            </a:r>
            <a:endParaRPr kumimoji="1" lang="en-US" altLang="zh-CN" sz="1600"/>
          </a:p>
          <a:p>
            <a:pPr eaLnBrk="1" hangingPunct="1">
              <a:lnSpc>
                <a:spcPct val="150000"/>
              </a:lnSpc>
            </a:pPr>
            <a:r>
              <a:rPr kumimoji="1" lang="en-US" altLang="zh-CN" sz="1600"/>
              <a:t>            bestd = max(ld, E.cd);</a:t>
            </a:r>
            <a:endParaRPr kumimoji="1" lang="en-US" altLang="zh-CN" sz="1600"/>
          </a:p>
          <a:p>
            <a:pPr eaLnBrk="1" hangingPunct="1">
              <a:lnSpc>
                <a:spcPct val="150000"/>
              </a:lnSpc>
            </a:pPr>
            <a:r>
              <a:rPr kumimoji="1" lang="en-US" altLang="zh-CN" sz="1600"/>
              <a:t>            }</a:t>
            </a:r>
            <a:endParaRPr kumimoji="1" lang="en-US" altLang="zh-CN" sz="1600"/>
          </a:p>
        </p:txBody>
      </p:sp>
      <p:sp>
        <p:nvSpPr>
          <p:cNvPr id="15366" name="AutoShape 6"/>
          <p:cNvSpPr>
            <a:spLocks noChangeArrowheads="1"/>
          </p:cNvSpPr>
          <p:nvPr/>
        </p:nvSpPr>
        <p:spPr bwMode="auto">
          <a:xfrm>
            <a:off x="5410200" y="1905000"/>
            <a:ext cx="2819400" cy="1066800"/>
          </a:xfrm>
          <a:prstGeom prst="wedgeRoundRectCallout">
            <a:avLst>
              <a:gd name="adj1" fmla="val -115259"/>
              <a:gd name="adj2" fmla="val 46431"/>
              <a:gd name="adj3" fmla="val 16667"/>
            </a:avLst>
          </a:prstGeom>
          <a:solidFill>
            <a:schemeClr val="hlink"/>
          </a:solidFill>
          <a:ln w="6350">
            <a:solidFill>
              <a:schemeClr val="hlink"/>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lstStyle/>
          <a:p>
            <a:pPr algn="ctr" eaLnBrk="1" hangingPunct="1"/>
            <a:r>
              <a:rPr lang="en-US" altLang="zh-CN" sz="2000" b="1">
                <a:solidFill>
                  <a:srgbClr val="990000"/>
                </a:solidFill>
                <a:latin typeface="新宋体" panose="02010609030101010101" charset="-122"/>
                <a:ea typeface="新宋体" panose="02010609030101010101" charset="-122"/>
              </a:rPr>
              <a:t>S=n-1</a:t>
            </a:r>
            <a:r>
              <a:rPr lang="zh-CN" altLang="en-US" sz="2000" b="1">
                <a:solidFill>
                  <a:srgbClr val="990000"/>
                </a:solidFill>
                <a:latin typeface="新宋体" panose="02010609030101010101" charset="-122"/>
                <a:ea typeface="新宋体" panose="02010609030101010101" charset="-122"/>
              </a:rPr>
              <a:t>的情况，计算出此时的密度和</a:t>
            </a:r>
            <a:r>
              <a:rPr lang="en-US" altLang="zh-CN" sz="2000" b="1">
                <a:solidFill>
                  <a:srgbClr val="990000"/>
                </a:solidFill>
                <a:latin typeface="新宋体" panose="02010609030101010101" charset="-122"/>
                <a:ea typeface="新宋体" panose="02010609030101010101" charset="-122"/>
              </a:rPr>
              <a:t>bestd</a:t>
            </a:r>
            <a:r>
              <a:rPr lang="zh-CN" altLang="en-US" sz="2000" b="1">
                <a:solidFill>
                  <a:srgbClr val="990000"/>
                </a:solidFill>
                <a:latin typeface="新宋体" panose="02010609030101010101" charset="-122"/>
                <a:ea typeface="新宋体" panose="02010609030101010101" charset="-122"/>
              </a:rPr>
              <a:t>进行比较。</a:t>
            </a:r>
            <a:endParaRPr lang="zh-CN" altLang="en-US" sz="2000" b="1">
              <a:solidFill>
                <a:srgbClr val="990000"/>
              </a:solidFill>
              <a:latin typeface="新宋体" panose="02010609030101010101" charset="-122"/>
              <a:ea typeface="新宋体" panose="02010609030101010101" charset="-122"/>
            </a:endParaRPr>
          </a:p>
        </p:txBody>
      </p:sp>
    </p:spTree>
  </p:cSld>
  <p:clrMapOvr>
    <a:masterClrMapping/>
  </p:clrMapOvr>
  <p:transition>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364"/>
                                        </p:tgtEl>
                                        <p:attrNameLst>
                                          <p:attrName>style.visibility</p:attrName>
                                        </p:attrNameLst>
                                      </p:cBhvr>
                                      <p:to>
                                        <p:strVal val="visible"/>
                                      </p:to>
                                    </p:set>
                                    <p:anim calcmode="lin" valueType="num">
                                      <p:cBhvr additive="base">
                                        <p:cTn id="7" dur="500" fill="hold"/>
                                        <p:tgtEl>
                                          <p:spTgt spid="15364"/>
                                        </p:tgtEl>
                                        <p:attrNameLst>
                                          <p:attrName>ppt_x</p:attrName>
                                        </p:attrNameLst>
                                      </p:cBhvr>
                                      <p:tavLst>
                                        <p:tav tm="0">
                                          <p:val>
                                            <p:strVal val="1+#ppt_w/2"/>
                                          </p:val>
                                        </p:tav>
                                        <p:tav tm="100000">
                                          <p:val>
                                            <p:strVal val="#ppt_x"/>
                                          </p:val>
                                        </p:tav>
                                      </p:tavLst>
                                    </p:anim>
                                    <p:anim calcmode="lin" valueType="num">
                                      <p:cBhvr additive="base">
                                        <p:cTn id="8" dur="500" fill="hold"/>
                                        <p:tgtEl>
                                          <p:spTgt spid="1536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5365"/>
                                        </p:tgtEl>
                                        <p:attrNameLst>
                                          <p:attrName>style.visibility</p:attrName>
                                        </p:attrNameLst>
                                      </p:cBhvr>
                                      <p:to>
                                        <p:strVal val="visible"/>
                                      </p:to>
                                    </p:set>
                                    <p:animEffect transition="in" filter="blinds(horizontal)">
                                      <p:cBhvr>
                                        <p:cTn id="13" dur="500"/>
                                        <p:tgtEl>
                                          <p:spTgt spid="1536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5366"/>
                                        </p:tgtEl>
                                        <p:attrNameLst>
                                          <p:attrName>style.visibility</p:attrName>
                                        </p:attrNameLst>
                                      </p:cBhvr>
                                      <p:to>
                                        <p:strVal val="visible"/>
                                      </p:to>
                                    </p:set>
                                    <p:anim calcmode="lin" valueType="num">
                                      <p:cBhvr additive="base">
                                        <p:cTn id="18" dur="500" fill="hold"/>
                                        <p:tgtEl>
                                          <p:spTgt spid="15366"/>
                                        </p:tgtEl>
                                        <p:attrNameLst>
                                          <p:attrName>ppt_x</p:attrName>
                                        </p:attrNameLst>
                                      </p:cBhvr>
                                      <p:tavLst>
                                        <p:tav tm="0">
                                          <p:val>
                                            <p:strVal val="1+#ppt_w/2"/>
                                          </p:val>
                                        </p:tav>
                                        <p:tav tm="100000">
                                          <p:val>
                                            <p:strVal val="#ppt_x"/>
                                          </p:val>
                                        </p:tav>
                                      </p:tavLst>
                                    </p:anim>
                                    <p:anim calcmode="lin" valueType="num">
                                      <p:cBhvr additive="base">
                                        <p:cTn id="19" dur="500" fill="hold"/>
                                        <p:tgtEl>
                                          <p:spTgt spid="153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autoUpdateAnimBg="0"/>
      <p:bldP spid="15365" grpId="0" autoUpdateAnimBg="0"/>
      <p:bldP spid="15366" grpId="0" animBg="1"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zh-CN" sz="3000"/>
              <a:t>6.8 </a:t>
            </a:r>
            <a:r>
              <a:rPr lang="zh-CN" altLang="en-US" sz="3000"/>
              <a:t>电路板排列问题</a:t>
            </a:r>
            <a:endParaRPr lang="zh-CN" altLang="en-US" sz="3000"/>
          </a:p>
        </p:txBody>
      </p:sp>
      <p:sp>
        <p:nvSpPr>
          <p:cNvPr id="16388" name="Text Box 4"/>
          <p:cNvSpPr txBox="1">
            <a:spLocks noChangeArrowheads="1"/>
          </p:cNvSpPr>
          <p:nvPr/>
        </p:nvSpPr>
        <p:spPr bwMode="auto">
          <a:xfrm>
            <a:off x="304800" y="1828800"/>
            <a:ext cx="5943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zh-CN" altLang="en-US" sz="3200">
                <a:solidFill>
                  <a:schemeClr val="accent2"/>
                </a:solidFill>
                <a:latin typeface="Times New Roman" panose="02020603050405020304" pitchFamily="18" charset="0"/>
                <a:ea typeface="黑体" panose="02010609060101010101" pitchFamily="2" charset="-122"/>
              </a:rPr>
              <a:t>算法描述</a:t>
            </a:r>
            <a:endParaRPr lang="zh-CN" altLang="en-US">
              <a:solidFill>
                <a:schemeClr val="accent2"/>
              </a:solidFill>
              <a:ea typeface="华文行楷" panose="02010800040101010101" pitchFamily="2" charset="-122"/>
            </a:endParaRPr>
          </a:p>
        </p:txBody>
      </p:sp>
      <p:sp>
        <p:nvSpPr>
          <p:cNvPr id="16389" name="Text Box 5"/>
          <p:cNvSpPr txBox="1">
            <a:spLocks noChangeArrowheads="1"/>
          </p:cNvSpPr>
          <p:nvPr/>
        </p:nvSpPr>
        <p:spPr bwMode="auto">
          <a:xfrm>
            <a:off x="609600" y="2514600"/>
            <a:ext cx="6781800" cy="314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just" eaLnBrk="1" hangingPunct="1">
              <a:lnSpc>
                <a:spcPct val="150000"/>
              </a:lnSpc>
              <a:spcBef>
                <a:spcPct val="50000"/>
              </a:spcBef>
            </a:pPr>
            <a:r>
              <a:rPr kumimoji="1" lang="en-US" altLang="zh-CN" sz="1600">
                <a:cs typeface="Times New Roman" panose="02020603050405020304" pitchFamily="18" charset="0"/>
              </a:rPr>
              <a:t>else</a:t>
            </a:r>
            <a:endParaRPr kumimoji="1" lang="en-US" altLang="zh-CN" sz="1600">
              <a:cs typeface="Times New Roman" panose="02020603050405020304" pitchFamily="18" charset="0"/>
            </a:endParaRPr>
          </a:p>
          <a:p>
            <a:pPr algn="just" eaLnBrk="1" hangingPunct="1">
              <a:lnSpc>
                <a:spcPct val="150000"/>
              </a:lnSpc>
              <a:spcBef>
                <a:spcPct val="50000"/>
              </a:spcBef>
            </a:pPr>
            <a:r>
              <a:rPr lang="en-US" altLang="zh-CN" sz="1600">
                <a:solidFill>
                  <a:srgbClr val="0000FF"/>
                </a:solidFill>
                <a:latin typeface="Times New Roman" panose="02020603050405020304" pitchFamily="18" charset="0"/>
                <a:cs typeface="Times New Roman" panose="02020603050405020304" pitchFamily="18" charset="0"/>
              </a:rPr>
              <a:t>         {</a:t>
            </a:r>
            <a:r>
              <a:rPr lang="en-US" altLang="zh-CN" sz="1600">
                <a:latin typeface="Times New Roman" panose="02020603050405020304" pitchFamily="18" charset="0"/>
                <a:cs typeface="Times New Roman" panose="02020603050405020304" pitchFamily="18" charset="0"/>
              </a:rPr>
              <a:t>// </a:t>
            </a:r>
            <a:r>
              <a:rPr lang="zh-CN" altLang="en-US" sz="1600">
                <a:latin typeface="宋体" panose="02010600030101010101" pitchFamily="2" charset="-122"/>
              </a:rPr>
              <a:t>产生当前扩展结点的所有儿子结点</a:t>
            </a:r>
            <a:endParaRPr lang="zh-CN" altLang="en-US" sz="1600">
              <a:latin typeface="Times New Roman" panose="02020603050405020304" pitchFamily="18" charset="0"/>
              <a:cs typeface="Times New Roman" panose="02020603050405020304" pitchFamily="18" charset="0"/>
            </a:endParaRPr>
          </a:p>
          <a:p>
            <a:pPr eaLnBrk="1" hangingPunct="1">
              <a:lnSpc>
                <a:spcPct val="150000"/>
              </a:lnSpc>
            </a:pPr>
            <a:r>
              <a:rPr lang="zh-CN" altLang="en-US" sz="1600">
                <a:solidFill>
                  <a:srgbClr val="0000FF"/>
                </a:solidFill>
                <a:latin typeface="Times New Roman" panose="02020603050405020304" pitchFamily="18" charset="0"/>
                <a:cs typeface="Times New Roman" panose="02020603050405020304" pitchFamily="18" charset="0"/>
              </a:rPr>
              <a:t> </a:t>
            </a:r>
            <a:r>
              <a:rPr kumimoji="1" lang="en-US" altLang="zh-CN" sz="1600"/>
              <a:t>for (int i = E.s + 1; i &lt;= n; i++) {</a:t>
            </a:r>
            <a:endParaRPr kumimoji="1" lang="en-US" altLang="zh-CN" sz="1600"/>
          </a:p>
          <a:p>
            <a:pPr eaLnBrk="1" hangingPunct="1">
              <a:lnSpc>
                <a:spcPct val="150000"/>
              </a:lnSpc>
            </a:pPr>
            <a:r>
              <a:rPr kumimoji="1" lang="en-US" altLang="zh-CN" sz="1600"/>
              <a:t>         BoardNode N;</a:t>
            </a:r>
            <a:endParaRPr kumimoji="1" lang="en-US" altLang="zh-CN" sz="1600"/>
          </a:p>
          <a:p>
            <a:pPr eaLnBrk="1" hangingPunct="1">
              <a:lnSpc>
                <a:spcPct val="150000"/>
              </a:lnSpc>
            </a:pPr>
            <a:r>
              <a:rPr kumimoji="1" lang="en-US" altLang="zh-CN" sz="1600"/>
              <a:t>         N.now = new int [m+1];</a:t>
            </a:r>
            <a:endParaRPr kumimoji="1" lang="en-US" altLang="zh-CN" sz="1600"/>
          </a:p>
          <a:p>
            <a:pPr eaLnBrk="1" hangingPunct="1">
              <a:lnSpc>
                <a:spcPct val="150000"/>
              </a:lnSpc>
            </a:pPr>
            <a:r>
              <a:rPr kumimoji="1" lang="en-US" altLang="zh-CN" sz="1600"/>
              <a:t>         for (int j = 1; j &lt;= m; j++)</a:t>
            </a:r>
            <a:endParaRPr kumimoji="1" lang="en-US" altLang="zh-CN" sz="1600"/>
          </a:p>
          <a:p>
            <a:pPr eaLnBrk="1" hangingPunct="1">
              <a:lnSpc>
                <a:spcPct val="150000"/>
              </a:lnSpc>
            </a:pPr>
            <a:r>
              <a:rPr kumimoji="1" lang="en-US" altLang="zh-CN" sz="1600"/>
              <a:t>            // </a:t>
            </a:r>
            <a:r>
              <a:rPr kumimoji="1" lang="zh-CN" altLang="en-US" sz="1600"/>
              <a:t>新插入的电路板</a:t>
            </a:r>
            <a:endParaRPr kumimoji="1" lang="zh-CN" altLang="en-US" sz="1600"/>
          </a:p>
          <a:p>
            <a:pPr eaLnBrk="1" hangingPunct="1">
              <a:lnSpc>
                <a:spcPct val="150000"/>
              </a:lnSpc>
            </a:pPr>
            <a:r>
              <a:rPr kumimoji="1" lang="zh-CN" altLang="en-US" sz="1600"/>
              <a:t>            </a:t>
            </a:r>
            <a:r>
              <a:rPr kumimoji="1" lang="en-US" altLang="zh-CN" sz="1600"/>
              <a:t>N.now[j] = E.now[j] + B[E.x[i]][j];         </a:t>
            </a:r>
            <a:endParaRPr kumimoji="1" lang="en-US" altLang="zh-CN" sz="1600"/>
          </a:p>
        </p:txBody>
      </p:sp>
    </p:spTree>
  </p:cSld>
  <p:clrMapOvr>
    <a:masterClrMapping/>
  </p:clrMapOvr>
  <p:transition>
    <p:randomBa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388"/>
                                        </p:tgtEl>
                                        <p:attrNameLst>
                                          <p:attrName>style.visibility</p:attrName>
                                        </p:attrNameLst>
                                      </p:cBhvr>
                                      <p:to>
                                        <p:strVal val="visible"/>
                                      </p:to>
                                    </p:set>
                                    <p:anim calcmode="lin" valueType="num">
                                      <p:cBhvr additive="base">
                                        <p:cTn id="7" dur="500" fill="hold"/>
                                        <p:tgtEl>
                                          <p:spTgt spid="16388"/>
                                        </p:tgtEl>
                                        <p:attrNameLst>
                                          <p:attrName>ppt_x</p:attrName>
                                        </p:attrNameLst>
                                      </p:cBhvr>
                                      <p:tavLst>
                                        <p:tav tm="0">
                                          <p:val>
                                            <p:strVal val="1+#ppt_w/2"/>
                                          </p:val>
                                        </p:tav>
                                        <p:tav tm="100000">
                                          <p:val>
                                            <p:strVal val="#ppt_x"/>
                                          </p:val>
                                        </p:tav>
                                      </p:tavLst>
                                    </p:anim>
                                    <p:anim calcmode="lin" valueType="num">
                                      <p:cBhvr additive="base">
                                        <p:cTn id="8" dur="500" fill="hold"/>
                                        <p:tgtEl>
                                          <p:spTgt spid="1638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42" fill="hold" grpId="0" nodeType="clickEffect">
                                  <p:stCondLst>
                                    <p:cond delay="0"/>
                                  </p:stCondLst>
                                  <p:childTnLst>
                                    <p:set>
                                      <p:cBhvr>
                                        <p:cTn id="12" dur="1" fill="hold">
                                          <p:stCondLst>
                                            <p:cond delay="0"/>
                                          </p:stCondLst>
                                        </p:cTn>
                                        <p:tgtEl>
                                          <p:spTgt spid="16389"/>
                                        </p:tgtEl>
                                        <p:attrNameLst>
                                          <p:attrName>style.visibility</p:attrName>
                                        </p:attrNameLst>
                                      </p:cBhvr>
                                      <p:to>
                                        <p:strVal val="visible"/>
                                      </p:to>
                                    </p:set>
                                    <p:animEffect transition="in" filter="barn(outHorizontal)">
                                      <p:cBhvr>
                                        <p:cTn id="13" dur="500"/>
                                        <p:tgtEl>
                                          <p:spTgt spid="16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autoUpdateAnimBg="0"/>
      <p:bldP spid="16389"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zh-CN" sz="3000"/>
              <a:t>6.8 </a:t>
            </a:r>
            <a:r>
              <a:rPr lang="zh-CN" altLang="en-US" sz="3000"/>
              <a:t>电路板排列问题</a:t>
            </a:r>
            <a:endParaRPr lang="zh-CN" altLang="en-US" sz="3000"/>
          </a:p>
        </p:txBody>
      </p:sp>
      <p:sp>
        <p:nvSpPr>
          <p:cNvPr id="17412" name="Text Box 4"/>
          <p:cNvSpPr txBox="1">
            <a:spLocks noChangeArrowheads="1"/>
          </p:cNvSpPr>
          <p:nvPr/>
        </p:nvSpPr>
        <p:spPr bwMode="auto">
          <a:xfrm>
            <a:off x="914400" y="2438400"/>
            <a:ext cx="7315200" cy="375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lnSpc>
                <a:spcPct val="150000"/>
              </a:lnSpc>
            </a:pPr>
            <a:r>
              <a:rPr kumimoji="1" lang="en-US" altLang="zh-CN" sz="1600"/>
              <a:t>int ld = 0; // </a:t>
            </a:r>
            <a:r>
              <a:rPr kumimoji="1" lang="zh-CN" altLang="en-US" sz="1600"/>
              <a:t>新插入电路板的密度</a:t>
            </a:r>
            <a:endParaRPr kumimoji="1" lang="zh-CN" altLang="en-US" sz="1600"/>
          </a:p>
          <a:p>
            <a:pPr eaLnBrk="1" hangingPunct="1">
              <a:lnSpc>
                <a:spcPct val="150000"/>
              </a:lnSpc>
            </a:pPr>
            <a:r>
              <a:rPr kumimoji="1" lang="zh-CN" altLang="en-US" sz="1600"/>
              <a:t>         </a:t>
            </a:r>
            <a:r>
              <a:rPr kumimoji="1" lang="en-US" altLang="zh-CN" sz="1600"/>
              <a:t>for (int j = 1; j &lt;= m; j++)</a:t>
            </a:r>
            <a:endParaRPr kumimoji="1" lang="en-US" altLang="zh-CN" sz="1600"/>
          </a:p>
          <a:p>
            <a:pPr eaLnBrk="1" hangingPunct="1">
              <a:lnSpc>
                <a:spcPct val="150000"/>
              </a:lnSpc>
            </a:pPr>
            <a:r>
              <a:rPr kumimoji="1" lang="en-US" altLang="zh-CN" sz="1600"/>
              <a:t>            if (N.now[j] &gt; 0 &amp;&amp; total[j] != N.now[j]) ld++;</a:t>
            </a:r>
            <a:endParaRPr kumimoji="1" lang="en-US" altLang="zh-CN" sz="1600"/>
          </a:p>
          <a:p>
            <a:pPr eaLnBrk="1" hangingPunct="1">
              <a:lnSpc>
                <a:spcPct val="150000"/>
              </a:lnSpc>
            </a:pPr>
            <a:r>
              <a:rPr kumimoji="1" lang="en-US" altLang="zh-CN" sz="1600"/>
              <a:t>         N.cd = max(ld, E.cd);</a:t>
            </a:r>
            <a:endParaRPr kumimoji="1" lang="en-US" altLang="zh-CN" sz="1600"/>
          </a:p>
          <a:p>
            <a:pPr eaLnBrk="1" hangingPunct="1">
              <a:lnSpc>
                <a:spcPct val="150000"/>
              </a:lnSpc>
            </a:pPr>
            <a:r>
              <a:rPr kumimoji="1" lang="en-US" altLang="zh-CN" sz="1600"/>
              <a:t>         if (N.cd &lt; bestd) {// </a:t>
            </a:r>
            <a:r>
              <a:rPr kumimoji="1" lang="zh-CN" altLang="en-US" sz="1600"/>
              <a:t>可能产生更好的叶结点</a:t>
            </a:r>
            <a:endParaRPr kumimoji="1" lang="zh-CN" altLang="en-US" sz="1600"/>
          </a:p>
          <a:p>
            <a:pPr eaLnBrk="1" hangingPunct="1">
              <a:lnSpc>
                <a:spcPct val="150000"/>
              </a:lnSpc>
            </a:pPr>
            <a:r>
              <a:rPr kumimoji="1" lang="zh-CN" altLang="en-US" sz="1600"/>
              <a:t>            </a:t>
            </a:r>
            <a:r>
              <a:rPr kumimoji="1" lang="en-US" altLang="zh-CN" sz="1600"/>
              <a:t>N.x = new int [n+1]; N.s = E.s + 1;</a:t>
            </a:r>
            <a:endParaRPr kumimoji="1" lang="en-US" altLang="zh-CN" sz="1600"/>
          </a:p>
          <a:p>
            <a:pPr eaLnBrk="1" hangingPunct="1">
              <a:lnSpc>
                <a:spcPct val="150000"/>
              </a:lnSpc>
            </a:pPr>
            <a:r>
              <a:rPr kumimoji="1" lang="en-US" altLang="zh-CN" sz="1600"/>
              <a:t>            for (int j = 1; j &lt;= n; j++) N.x[j] = E.x[j]; </a:t>
            </a:r>
            <a:endParaRPr kumimoji="1" lang="en-US" altLang="zh-CN" sz="1600"/>
          </a:p>
          <a:p>
            <a:pPr eaLnBrk="1" hangingPunct="1">
              <a:lnSpc>
                <a:spcPct val="150000"/>
              </a:lnSpc>
            </a:pPr>
            <a:r>
              <a:rPr kumimoji="1" lang="en-US" altLang="zh-CN" sz="1600"/>
              <a:t>            N.x[N.s] = E.x[i]; N.x[i] = E.x[N.s]; H.Insert(N);}</a:t>
            </a:r>
            <a:endParaRPr kumimoji="1" lang="en-US" altLang="zh-CN" sz="1600"/>
          </a:p>
          <a:p>
            <a:pPr eaLnBrk="1" hangingPunct="1">
              <a:lnSpc>
                <a:spcPct val="150000"/>
              </a:lnSpc>
            </a:pPr>
            <a:r>
              <a:rPr kumimoji="1" lang="en-US" altLang="zh-CN" sz="1600"/>
              <a:t>         else delete [] N.now;}</a:t>
            </a:r>
            <a:endParaRPr kumimoji="1" lang="en-US" altLang="zh-CN" sz="1600"/>
          </a:p>
          <a:p>
            <a:pPr eaLnBrk="1" hangingPunct="1">
              <a:lnSpc>
                <a:spcPct val="150000"/>
              </a:lnSpc>
            </a:pPr>
            <a:r>
              <a:rPr kumimoji="1" lang="en-US" altLang="zh-CN" sz="1600"/>
              <a:t>         delete [] E.x;}</a:t>
            </a:r>
            <a:endParaRPr kumimoji="1" lang="en-US" altLang="zh-CN" sz="1600"/>
          </a:p>
        </p:txBody>
      </p:sp>
      <p:sp>
        <p:nvSpPr>
          <p:cNvPr id="17413" name="Text Box 5"/>
          <p:cNvSpPr txBox="1">
            <a:spLocks noChangeArrowheads="1"/>
          </p:cNvSpPr>
          <p:nvPr/>
        </p:nvSpPr>
        <p:spPr bwMode="auto">
          <a:xfrm>
            <a:off x="304800" y="1828800"/>
            <a:ext cx="5943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zh-CN" altLang="en-US" sz="3200">
                <a:solidFill>
                  <a:schemeClr val="accent2"/>
                </a:solidFill>
                <a:latin typeface="Times New Roman" panose="02020603050405020304" pitchFamily="18" charset="0"/>
                <a:ea typeface="黑体" panose="02010609060101010101" pitchFamily="2" charset="-122"/>
              </a:rPr>
              <a:t>算法描述</a:t>
            </a:r>
            <a:endParaRPr lang="zh-CN" altLang="en-US">
              <a:solidFill>
                <a:schemeClr val="accent2"/>
              </a:solidFill>
              <a:ea typeface="华文行楷" panose="02010800040101010101" pitchFamily="2" charset="-122"/>
            </a:endParaRPr>
          </a:p>
        </p:txBody>
      </p:sp>
      <p:sp>
        <p:nvSpPr>
          <p:cNvPr id="17414" name="AutoShape 6"/>
          <p:cNvSpPr>
            <a:spLocks noChangeArrowheads="1"/>
          </p:cNvSpPr>
          <p:nvPr/>
        </p:nvSpPr>
        <p:spPr bwMode="auto">
          <a:xfrm>
            <a:off x="5638800" y="3581400"/>
            <a:ext cx="3124200" cy="1066800"/>
          </a:xfrm>
          <a:prstGeom prst="wedgeRoundRectCallout">
            <a:avLst>
              <a:gd name="adj1" fmla="val -122866"/>
              <a:gd name="adj2" fmla="val -894"/>
              <a:gd name="adj3" fmla="val 16667"/>
            </a:avLst>
          </a:prstGeom>
          <a:solidFill>
            <a:schemeClr val="hlink"/>
          </a:solidFill>
          <a:ln w="6350">
            <a:solidFill>
              <a:schemeClr val="hlink"/>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lstStyle/>
          <a:p>
            <a:pPr algn="ctr" eaLnBrk="1" hangingPunct="1"/>
            <a:r>
              <a:rPr lang="zh-CN" altLang="en-US" sz="2000" b="1">
                <a:solidFill>
                  <a:srgbClr val="990000"/>
                </a:solidFill>
                <a:latin typeface="新宋体" panose="02010609030101010101" charset="-122"/>
                <a:ea typeface="新宋体" panose="02010609030101010101" charset="-122"/>
              </a:rPr>
              <a:t>计算出每一个儿子结点的密度与</a:t>
            </a:r>
            <a:r>
              <a:rPr lang="en-US" altLang="zh-CN" sz="2000" b="1">
                <a:solidFill>
                  <a:srgbClr val="990000"/>
                </a:solidFill>
                <a:latin typeface="新宋体" panose="02010609030101010101" charset="-122"/>
                <a:ea typeface="新宋体" panose="02010609030101010101" charset="-122"/>
              </a:rPr>
              <a:t>bestd</a:t>
            </a:r>
            <a:r>
              <a:rPr lang="zh-CN" altLang="en-US" sz="2000" b="1">
                <a:solidFill>
                  <a:srgbClr val="990000"/>
                </a:solidFill>
                <a:latin typeface="新宋体" panose="02010609030101010101" charset="-122"/>
                <a:ea typeface="新宋体" panose="02010609030101010101" charset="-122"/>
              </a:rPr>
              <a:t>进行比较大于</a:t>
            </a:r>
            <a:r>
              <a:rPr lang="en-US" altLang="zh-CN" sz="2000" b="1">
                <a:solidFill>
                  <a:srgbClr val="990000"/>
                </a:solidFill>
                <a:latin typeface="新宋体" panose="02010609030101010101" charset="-122"/>
                <a:ea typeface="新宋体" panose="02010609030101010101" charset="-122"/>
              </a:rPr>
              <a:t>bestd</a:t>
            </a:r>
            <a:r>
              <a:rPr lang="zh-CN" altLang="en-US" sz="2000" b="1">
                <a:solidFill>
                  <a:srgbClr val="990000"/>
                </a:solidFill>
                <a:latin typeface="新宋体" panose="02010609030101010101" charset="-122"/>
                <a:ea typeface="新宋体" panose="02010609030101010101" charset="-122"/>
              </a:rPr>
              <a:t>时加入队列</a:t>
            </a:r>
            <a:endParaRPr lang="zh-CN" altLang="en-US" sz="2000" b="1">
              <a:solidFill>
                <a:srgbClr val="990000"/>
              </a:solidFill>
              <a:latin typeface="新宋体" panose="02010609030101010101" charset="-122"/>
              <a:ea typeface="新宋体" panose="02010609030101010101"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413"/>
                                        </p:tgtEl>
                                        <p:attrNameLst>
                                          <p:attrName>style.visibility</p:attrName>
                                        </p:attrNameLst>
                                      </p:cBhvr>
                                      <p:to>
                                        <p:strVal val="visible"/>
                                      </p:to>
                                    </p:set>
                                    <p:anim calcmode="lin" valueType="num">
                                      <p:cBhvr additive="base">
                                        <p:cTn id="7" dur="500" fill="hold"/>
                                        <p:tgtEl>
                                          <p:spTgt spid="17413"/>
                                        </p:tgtEl>
                                        <p:attrNameLst>
                                          <p:attrName>ppt_x</p:attrName>
                                        </p:attrNameLst>
                                      </p:cBhvr>
                                      <p:tavLst>
                                        <p:tav tm="0">
                                          <p:val>
                                            <p:strVal val="1+#ppt_w/2"/>
                                          </p:val>
                                        </p:tav>
                                        <p:tav tm="100000">
                                          <p:val>
                                            <p:strVal val="#ppt_x"/>
                                          </p:val>
                                        </p:tav>
                                      </p:tavLst>
                                    </p:anim>
                                    <p:anim calcmode="lin" valueType="num">
                                      <p:cBhvr additive="base">
                                        <p:cTn id="8" dur="500" fill="hold"/>
                                        <p:tgtEl>
                                          <p:spTgt spid="174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7412"/>
                                        </p:tgtEl>
                                        <p:attrNameLst>
                                          <p:attrName>style.visibility</p:attrName>
                                        </p:attrNameLst>
                                      </p:cBhvr>
                                      <p:to>
                                        <p:strVal val="visible"/>
                                      </p:to>
                                    </p:set>
                                    <p:animEffect transition="in" filter="dissolve">
                                      <p:cBhvr>
                                        <p:cTn id="13" dur="500"/>
                                        <p:tgtEl>
                                          <p:spTgt spid="1741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7414"/>
                                        </p:tgtEl>
                                        <p:attrNameLst>
                                          <p:attrName>style.visibility</p:attrName>
                                        </p:attrNameLst>
                                      </p:cBhvr>
                                      <p:to>
                                        <p:strVal val="visible"/>
                                      </p:to>
                                    </p:set>
                                    <p:anim calcmode="lin" valueType="num">
                                      <p:cBhvr additive="base">
                                        <p:cTn id="18" dur="500" fill="hold"/>
                                        <p:tgtEl>
                                          <p:spTgt spid="17414"/>
                                        </p:tgtEl>
                                        <p:attrNameLst>
                                          <p:attrName>ppt_x</p:attrName>
                                        </p:attrNameLst>
                                      </p:cBhvr>
                                      <p:tavLst>
                                        <p:tav tm="0">
                                          <p:val>
                                            <p:strVal val="1+#ppt_w/2"/>
                                          </p:val>
                                        </p:tav>
                                        <p:tav tm="100000">
                                          <p:val>
                                            <p:strVal val="#ppt_x"/>
                                          </p:val>
                                        </p:tav>
                                      </p:tavLst>
                                    </p:anim>
                                    <p:anim calcmode="lin" valueType="num">
                                      <p:cBhvr additive="base">
                                        <p:cTn id="19" dur="500" fill="hold"/>
                                        <p:tgtEl>
                                          <p:spTgt spid="174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autoUpdateAnimBg="0"/>
      <p:bldP spid="17413" grpId="0" autoUpdateAnimBg="0"/>
      <p:bldP spid="17414" grpId="0" animBg="1"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ctrTitle"/>
          </p:nvPr>
        </p:nvSpPr>
        <p:spPr/>
        <p:txBody>
          <a:bodyPr/>
          <a:lstStyle/>
          <a:p>
            <a:pPr algn="r"/>
            <a:r>
              <a:rPr lang="zh-CN" altLang="en-US" sz="3000"/>
              <a:t>批处理作业调度问题</a:t>
            </a:r>
            <a:endParaRPr lang="zh-CN" altLang="en-US" sz="3000"/>
          </a:p>
        </p:txBody>
      </p:sp>
      <p:sp>
        <p:nvSpPr>
          <p:cNvPr id="38915" name="Rectangle 3"/>
          <p:cNvSpPr>
            <a:spLocks noGrp="1" noChangeArrowheads="1"/>
          </p:cNvSpPr>
          <p:nvPr>
            <p:ph type="subTitle" idx="1"/>
          </p:nvPr>
        </p:nvSpPr>
        <p:spPr/>
        <p:txBody>
          <a:bodyPr/>
          <a:lstStyle/>
          <a:p>
            <a:endParaRPr lang="zh-CN" altLang="zh-CN"/>
          </a:p>
        </p:txBody>
      </p:sp>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685800" y="7620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1" hangingPunct="1"/>
            <a:r>
              <a:rPr lang="en-US" altLang="zh-CN" sz="3000" b="1">
                <a:solidFill>
                  <a:schemeClr val="tx2"/>
                </a:solidFill>
              </a:rPr>
              <a:t>6.9 </a:t>
            </a:r>
            <a:r>
              <a:rPr lang="zh-CN" altLang="en-US" sz="3000" b="1">
                <a:solidFill>
                  <a:schemeClr val="tx2"/>
                </a:solidFill>
              </a:rPr>
              <a:t>批处理作业调度问题</a:t>
            </a:r>
            <a:endParaRPr lang="zh-CN" altLang="en-US" sz="3000" b="1">
              <a:solidFill>
                <a:schemeClr val="tx2"/>
              </a:solidFill>
            </a:endParaRPr>
          </a:p>
        </p:txBody>
      </p:sp>
      <p:sp>
        <p:nvSpPr>
          <p:cNvPr id="18435" name="Text Box 3"/>
          <p:cNvSpPr txBox="1">
            <a:spLocks noChangeArrowheads="1"/>
          </p:cNvSpPr>
          <p:nvPr/>
        </p:nvSpPr>
        <p:spPr bwMode="auto">
          <a:xfrm>
            <a:off x="457200" y="1341438"/>
            <a:ext cx="6934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ctr" eaLnBrk="1" hangingPunct="1">
              <a:spcBef>
                <a:spcPct val="50000"/>
              </a:spcBef>
            </a:pPr>
            <a:endParaRPr lang="zh-CN" altLang="zh-CN" b="1">
              <a:solidFill>
                <a:schemeClr val="accent2"/>
              </a:solidFill>
              <a:ea typeface="华文行楷" panose="02010800040101010101" pitchFamily="2" charset="-122"/>
            </a:endParaRPr>
          </a:p>
        </p:txBody>
      </p:sp>
      <p:sp>
        <p:nvSpPr>
          <p:cNvPr id="18436" name="Text Box 4"/>
          <p:cNvSpPr txBox="1">
            <a:spLocks noChangeArrowheads="1"/>
          </p:cNvSpPr>
          <p:nvPr/>
        </p:nvSpPr>
        <p:spPr bwMode="auto">
          <a:xfrm>
            <a:off x="304800" y="1697038"/>
            <a:ext cx="7696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b="1">
                <a:solidFill>
                  <a:schemeClr val="accent2"/>
                </a:solidFill>
                <a:latin typeface="Times New Roman" panose="02020603050405020304" pitchFamily="18" charset="0"/>
                <a:ea typeface="黑体" panose="02010609060101010101" pitchFamily="2" charset="-122"/>
              </a:rPr>
              <a:t>1. </a:t>
            </a:r>
            <a:r>
              <a:rPr lang="zh-CN" altLang="en-US" sz="3200" b="1">
                <a:solidFill>
                  <a:schemeClr val="accent2"/>
                </a:solidFill>
                <a:latin typeface="Times New Roman" panose="02020603050405020304" pitchFamily="18" charset="0"/>
                <a:ea typeface="黑体" panose="02010609060101010101" pitchFamily="2" charset="-122"/>
              </a:rPr>
              <a:t>问题的描述</a:t>
            </a:r>
            <a:endParaRPr lang="zh-CN" altLang="en-US" b="1">
              <a:solidFill>
                <a:schemeClr val="accent2"/>
              </a:solidFill>
              <a:ea typeface="华文行楷" panose="02010800040101010101" pitchFamily="2" charset="-122"/>
            </a:endParaRPr>
          </a:p>
        </p:txBody>
      </p:sp>
      <p:sp>
        <p:nvSpPr>
          <p:cNvPr id="18437" name="Text Box 5"/>
          <p:cNvSpPr txBox="1">
            <a:spLocks noChangeArrowheads="1"/>
          </p:cNvSpPr>
          <p:nvPr/>
        </p:nvSpPr>
        <p:spPr bwMode="auto">
          <a:xfrm>
            <a:off x="762000" y="2332038"/>
            <a:ext cx="7913688"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给定</a:t>
            </a:r>
            <a:r>
              <a:rPr lang="en-US" altLang="zh-CN" sz="2400" b="1">
                <a:latin typeface="新宋体" panose="02010609030101010101" charset="-122"/>
                <a:ea typeface="新宋体" panose="02010609030101010101" charset="-122"/>
              </a:rPr>
              <a:t>n</a:t>
            </a:r>
            <a:r>
              <a:rPr lang="zh-CN" altLang="en-US" sz="2400" b="1">
                <a:latin typeface="新宋体" panose="02010609030101010101" charset="-122"/>
                <a:ea typeface="新宋体" panose="02010609030101010101" charset="-122"/>
              </a:rPr>
              <a:t>个作业的集合</a:t>
            </a:r>
            <a:r>
              <a:rPr lang="en-US" altLang="zh-CN" sz="2400" b="1">
                <a:latin typeface="新宋体" panose="02010609030101010101" charset="-122"/>
                <a:ea typeface="新宋体" panose="02010609030101010101" charset="-122"/>
              </a:rPr>
              <a:t>J={J1,J2,</a:t>
            </a:r>
            <a:r>
              <a:rPr lang="en-US" altLang="zh-CN" sz="2400" b="1">
                <a:latin typeface="Times New Roman" panose="02020603050405020304"/>
                <a:ea typeface="新宋体" panose="02010609030101010101" charset="-122"/>
              </a:rPr>
              <a:t>…</a:t>
            </a:r>
            <a:r>
              <a:rPr lang="en-US" altLang="zh-CN" sz="2400" b="1">
                <a:latin typeface="新宋体" panose="02010609030101010101" charset="-122"/>
                <a:ea typeface="新宋体" panose="02010609030101010101" charset="-122"/>
              </a:rPr>
              <a:t>,Jn}</a:t>
            </a:r>
            <a:r>
              <a:rPr lang="zh-CN" altLang="en-US" sz="2400" b="1">
                <a:latin typeface="新宋体" panose="02010609030101010101" charset="-122"/>
                <a:ea typeface="新宋体" panose="02010609030101010101" charset="-122"/>
              </a:rPr>
              <a:t>。每一个作业</a:t>
            </a:r>
            <a:r>
              <a:rPr lang="en-US" altLang="zh-CN" sz="2400" b="1">
                <a:latin typeface="新宋体" panose="02010609030101010101" charset="-122"/>
                <a:ea typeface="新宋体" panose="02010609030101010101" charset="-122"/>
              </a:rPr>
              <a:t>Ji</a:t>
            </a:r>
            <a:r>
              <a:rPr lang="zh-CN" altLang="en-US" sz="2400" b="1">
                <a:latin typeface="新宋体" panose="02010609030101010101" charset="-122"/>
                <a:ea typeface="新宋体" panose="02010609030101010101" charset="-122"/>
              </a:rPr>
              <a:t>都有</a:t>
            </a:r>
            <a:r>
              <a:rPr lang="en-US" altLang="zh-CN" sz="2400" b="1">
                <a:latin typeface="新宋体" panose="02010609030101010101" charset="-122"/>
                <a:ea typeface="新宋体" panose="02010609030101010101" charset="-122"/>
              </a:rPr>
              <a:t>2</a:t>
            </a:r>
            <a:r>
              <a:rPr lang="zh-CN" altLang="en-US" sz="2400" b="1">
                <a:latin typeface="新宋体" panose="02010609030101010101" charset="-122"/>
                <a:ea typeface="新宋体" panose="02010609030101010101" charset="-122"/>
              </a:rPr>
              <a:t>项任务要分别在</a:t>
            </a:r>
            <a:r>
              <a:rPr lang="en-US" altLang="zh-CN" sz="2400" b="1">
                <a:latin typeface="新宋体" panose="02010609030101010101" charset="-122"/>
                <a:ea typeface="新宋体" panose="02010609030101010101" charset="-122"/>
              </a:rPr>
              <a:t>2</a:t>
            </a:r>
            <a:r>
              <a:rPr lang="zh-CN" altLang="en-US" sz="2400" b="1">
                <a:latin typeface="新宋体" panose="02010609030101010101" charset="-122"/>
                <a:ea typeface="新宋体" panose="02010609030101010101" charset="-122"/>
              </a:rPr>
              <a:t>台机器上完成。每一个作业必须先由机器</a:t>
            </a:r>
            <a:r>
              <a:rPr lang="en-US" altLang="zh-CN" sz="2400" b="1">
                <a:latin typeface="新宋体" panose="02010609030101010101" charset="-122"/>
                <a:ea typeface="新宋体" panose="02010609030101010101" charset="-122"/>
              </a:rPr>
              <a:t>1</a:t>
            </a:r>
            <a:r>
              <a:rPr lang="zh-CN" altLang="en-US" sz="2400" b="1">
                <a:latin typeface="新宋体" panose="02010609030101010101" charset="-122"/>
                <a:ea typeface="新宋体" panose="02010609030101010101" charset="-122"/>
              </a:rPr>
              <a:t>处理，然后再由机器</a:t>
            </a:r>
            <a:r>
              <a:rPr lang="en-US" altLang="zh-CN" sz="2400" b="1">
                <a:latin typeface="新宋体" panose="02010609030101010101" charset="-122"/>
                <a:ea typeface="新宋体" panose="02010609030101010101" charset="-122"/>
              </a:rPr>
              <a:t>2</a:t>
            </a:r>
            <a:r>
              <a:rPr lang="zh-CN" altLang="en-US" sz="2400" b="1">
                <a:latin typeface="新宋体" panose="02010609030101010101" charset="-122"/>
                <a:ea typeface="新宋体" panose="02010609030101010101" charset="-122"/>
              </a:rPr>
              <a:t>处理。作业</a:t>
            </a:r>
            <a:r>
              <a:rPr lang="en-US" altLang="zh-CN" sz="2400" b="1">
                <a:latin typeface="新宋体" panose="02010609030101010101" charset="-122"/>
                <a:ea typeface="新宋体" panose="02010609030101010101" charset="-122"/>
              </a:rPr>
              <a:t>Ji</a:t>
            </a:r>
            <a:r>
              <a:rPr lang="zh-CN" altLang="en-US" sz="2400" b="1">
                <a:latin typeface="新宋体" panose="02010609030101010101" charset="-122"/>
                <a:ea typeface="新宋体" panose="02010609030101010101" charset="-122"/>
              </a:rPr>
              <a:t>需要机器</a:t>
            </a:r>
            <a:r>
              <a:rPr lang="en-US" altLang="zh-CN" sz="2400" b="1">
                <a:latin typeface="新宋体" panose="02010609030101010101" charset="-122"/>
                <a:ea typeface="新宋体" panose="02010609030101010101" charset="-122"/>
              </a:rPr>
              <a:t>j</a:t>
            </a:r>
            <a:r>
              <a:rPr lang="zh-CN" altLang="en-US" sz="2400" b="1">
                <a:latin typeface="新宋体" panose="02010609030101010101" charset="-122"/>
                <a:ea typeface="新宋体" panose="02010609030101010101" charset="-122"/>
              </a:rPr>
              <a:t>的处理时间为</a:t>
            </a:r>
            <a:r>
              <a:rPr lang="en-US" altLang="zh-CN" sz="2400" b="1">
                <a:latin typeface="新宋体" panose="02010609030101010101" charset="-122"/>
                <a:ea typeface="新宋体" panose="02010609030101010101" charset="-122"/>
              </a:rPr>
              <a:t>tji</a:t>
            </a:r>
            <a:r>
              <a:rPr lang="zh-CN" altLang="en-US" sz="2400" b="1">
                <a:latin typeface="新宋体" panose="02010609030101010101" charset="-122"/>
                <a:ea typeface="新宋体" panose="02010609030101010101" charset="-122"/>
              </a:rPr>
              <a:t>，</a:t>
            </a:r>
            <a:r>
              <a:rPr lang="en-US" altLang="zh-CN" sz="2400" b="1">
                <a:latin typeface="新宋体" panose="02010609030101010101" charset="-122"/>
                <a:ea typeface="新宋体" panose="02010609030101010101" charset="-122"/>
              </a:rPr>
              <a:t>i=1,2,</a:t>
            </a:r>
            <a:r>
              <a:rPr lang="en-US" altLang="zh-CN" sz="2400" b="1">
                <a:latin typeface="Times New Roman" panose="02020603050405020304"/>
                <a:ea typeface="新宋体" panose="02010609030101010101" charset="-122"/>
              </a:rPr>
              <a:t>…</a:t>
            </a:r>
            <a:r>
              <a:rPr lang="en-US" altLang="zh-CN" sz="2400" b="1">
                <a:latin typeface="新宋体" panose="02010609030101010101" charset="-122"/>
                <a:ea typeface="新宋体" panose="02010609030101010101" charset="-122"/>
              </a:rPr>
              <a:t>,n</a:t>
            </a:r>
            <a:r>
              <a:rPr lang="zh-CN" altLang="en-US" sz="2400" b="1">
                <a:latin typeface="新宋体" panose="02010609030101010101" charset="-122"/>
                <a:ea typeface="新宋体" panose="02010609030101010101" charset="-122"/>
              </a:rPr>
              <a:t>；</a:t>
            </a:r>
            <a:r>
              <a:rPr lang="en-US" altLang="zh-CN" sz="2400" b="1">
                <a:latin typeface="新宋体" panose="02010609030101010101" charset="-122"/>
                <a:ea typeface="新宋体" panose="02010609030101010101" charset="-122"/>
              </a:rPr>
              <a:t>j=1,2</a:t>
            </a:r>
            <a:r>
              <a:rPr lang="zh-CN" altLang="en-US" sz="2400" b="1">
                <a:latin typeface="新宋体" panose="02010609030101010101" charset="-122"/>
                <a:ea typeface="新宋体" panose="02010609030101010101" charset="-122"/>
              </a:rPr>
              <a:t>。对于一个确定的作业调度，设是</a:t>
            </a:r>
            <a:r>
              <a:rPr lang="en-US" altLang="zh-CN" sz="2400" b="1">
                <a:latin typeface="新宋体" panose="02010609030101010101" charset="-122"/>
                <a:ea typeface="新宋体" panose="02010609030101010101" charset="-122"/>
              </a:rPr>
              <a:t>Fji</a:t>
            </a:r>
            <a:r>
              <a:rPr lang="zh-CN" altLang="en-US" sz="2400" b="1">
                <a:latin typeface="新宋体" panose="02010609030101010101" charset="-122"/>
                <a:ea typeface="新宋体" panose="02010609030101010101" charset="-122"/>
              </a:rPr>
              <a:t>是作业</a:t>
            </a:r>
            <a:r>
              <a:rPr lang="en-US" altLang="zh-CN" sz="2400" b="1">
                <a:latin typeface="新宋体" panose="02010609030101010101" charset="-122"/>
                <a:ea typeface="新宋体" panose="02010609030101010101" charset="-122"/>
              </a:rPr>
              <a:t>i</a:t>
            </a:r>
            <a:r>
              <a:rPr lang="zh-CN" altLang="en-US" sz="2400" b="1">
                <a:latin typeface="新宋体" panose="02010609030101010101" charset="-122"/>
                <a:ea typeface="新宋体" panose="02010609030101010101" charset="-122"/>
              </a:rPr>
              <a:t>在机器</a:t>
            </a:r>
            <a:r>
              <a:rPr lang="en-US" altLang="zh-CN" sz="2400" b="1">
                <a:latin typeface="新宋体" panose="02010609030101010101" charset="-122"/>
                <a:ea typeface="新宋体" panose="02010609030101010101" charset="-122"/>
              </a:rPr>
              <a:t>j</a:t>
            </a:r>
            <a:r>
              <a:rPr lang="zh-CN" altLang="en-US" sz="2400" b="1">
                <a:latin typeface="新宋体" panose="02010609030101010101" charset="-122"/>
                <a:ea typeface="新宋体" panose="02010609030101010101" charset="-122"/>
              </a:rPr>
              <a:t>上完成处理的时间。则所有作业在机器</a:t>
            </a:r>
            <a:r>
              <a:rPr lang="en-US" altLang="zh-CN" sz="2400" b="1">
                <a:latin typeface="新宋体" panose="02010609030101010101" charset="-122"/>
                <a:ea typeface="新宋体" panose="02010609030101010101" charset="-122"/>
              </a:rPr>
              <a:t>2</a:t>
            </a:r>
            <a:r>
              <a:rPr lang="zh-CN" altLang="en-US" sz="2400" b="1">
                <a:latin typeface="新宋体" panose="02010609030101010101" charset="-122"/>
                <a:ea typeface="新宋体" panose="02010609030101010101" charset="-122"/>
              </a:rPr>
              <a:t>上完成处理的时间和</a:t>
            </a:r>
            <a:endParaRPr lang="zh-CN" altLang="en-US" sz="2400" b="1">
              <a:latin typeface="新宋体" panose="02010609030101010101" charset="-122"/>
              <a:ea typeface="新宋体" panose="02010609030101010101" charset="-122"/>
            </a:endParaRPr>
          </a:p>
        </p:txBody>
      </p:sp>
      <p:graphicFrame>
        <p:nvGraphicFramePr>
          <p:cNvPr id="18438" name="Object 6"/>
          <p:cNvGraphicFramePr>
            <a:graphicFrameLocks noChangeAspect="1"/>
          </p:cNvGraphicFramePr>
          <p:nvPr/>
        </p:nvGraphicFramePr>
        <p:xfrm>
          <a:off x="5724525" y="4152900"/>
          <a:ext cx="1368425" cy="658813"/>
        </p:xfrm>
        <a:graphic>
          <a:graphicData uri="http://schemas.openxmlformats.org/presentationml/2006/ole">
            <mc:AlternateContent xmlns:mc="http://schemas.openxmlformats.org/markup-compatibility/2006">
              <mc:Choice xmlns:v="urn:schemas-microsoft-com:vml" Requires="v">
                <p:oleObj spid="_x0000_s2053" name="Microsoft 公式 3.0" r:id="rId1" imgW="685800" imgH="431800" progId="Equation.3">
                  <p:embed/>
                </p:oleObj>
              </mc:Choice>
              <mc:Fallback>
                <p:oleObj name="Microsoft 公式 3.0" r:id="rId1" imgW="685800" imgH="431800" progId="Equation.3">
                  <p:embed/>
                  <p:pic>
                    <p:nvPicPr>
                      <p:cNvPr id="0" name="图片 20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525" y="4152900"/>
                        <a:ext cx="1368425" cy="658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39" name="Text Box 7"/>
          <p:cNvSpPr txBox="1">
            <a:spLocks noChangeArrowheads="1"/>
          </p:cNvSpPr>
          <p:nvPr/>
        </p:nvSpPr>
        <p:spPr bwMode="auto">
          <a:xfrm>
            <a:off x="755650" y="4729163"/>
            <a:ext cx="7913688"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4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称为该作业调度的完成时间和。批处理作业调度问题要求对于给定的</a:t>
            </a:r>
            <a:r>
              <a:rPr lang="en-US" altLang="zh-CN" sz="2400" b="1">
                <a:latin typeface="新宋体" panose="02010609030101010101" charset="-122"/>
                <a:ea typeface="新宋体" panose="02010609030101010101" charset="-122"/>
              </a:rPr>
              <a:t>n</a:t>
            </a:r>
            <a:r>
              <a:rPr lang="zh-CN" altLang="en-US" sz="2400" b="1">
                <a:latin typeface="新宋体" panose="02010609030101010101" charset="-122"/>
                <a:ea typeface="新宋体" panose="02010609030101010101" charset="-122"/>
              </a:rPr>
              <a:t>个作业，制定最佳作业调度方案，使其完成时间和达到最小。</a:t>
            </a:r>
            <a:endParaRPr lang="zh-CN" altLang="en-US" sz="2400" b="1">
              <a:latin typeface="新宋体" panose="02010609030101010101" charset="-122"/>
              <a:ea typeface="新宋体" panose="02010609030101010101" charset="-122"/>
            </a:endParaRPr>
          </a:p>
        </p:txBody>
      </p:sp>
    </p:spTree>
  </p:cSld>
  <p:clrMapOvr>
    <a:masterClrMapping/>
  </p:clrMapOvr>
  <p:transition>
    <p:randomBa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436"/>
                                        </p:tgtEl>
                                        <p:attrNameLst>
                                          <p:attrName>style.visibility</p:attrName>
                                        </p:attrNameLst>
                                      </p:cBhvr>
                                      <p:to>
                                        <p:strVal val="visible"/>
                                      </p:to>
                                    </p:set>
                                    <p:anim calcmode="lin" valueType="num">
                                      <p:cBhvr additive="base">
                                        <p:cTn id="7" dur="500" fill="hold"/>
                                        <p:tgtEl>
                                          <p:spTgt spid="18436"/>
                                        </p:tgtEl>
                                        <p:attrNameLst>
                                          <p:attrName>ppt_x</p:attrName>
                                        </p:attrNameLst>
                                      </p:cBhvr>
                                      <p:tavLst>
                                        <p:tav tm="0">
                                          <p:val>
                                            <p:strVal val="1+#ppt_w/2"/>
                                          </p:val>
                                        </p:tav>
                                        <p:tav tm="100000">
                                          <p:val>
                                            <p:strVal val="#ppt_x"/>
                                          </p:val>
                                        </p:tav>
                                      </p:tavLst>
                                    </p:anim>
                                    <p:anim calcmode="lin" valueType="num">
                                      <p:cBhvr additive="base">
                                        <p:cTn id="8" dur="500" fill="hold"/>
                                        <p:tgtEl>
                                          <p:spTgt spid="184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8437"/>
                                        </p:tgtEl>
                                        <p:attrNameLst>
                                          <p:attrName>style.visibility</p:attrName>
                                        </p:attrNameLst>
                                      </p:cBhvr>
                                      <p:to>
                                        <p:strVal val="visible"/>
                                      </p:to>
                                    </p:set>
                                    <p:animEffect transition="in" filter="dissolve">
                                      <p:cBhvr>
                                        <p:cTn id="13" dur="500"/>
                                        <p:tgtEl>
                                          <p:spTgt spid="18437"/>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8438"/>
                                        </p:tgtEl>
                                        <p:attrNameLst>
                                          <p:attrName>style.visibility</p:attrName>
                                        </p:attrNameLst>
                                      </p:cBhvr>
                                      <p:to>
                                        <p:strVal val="visible"/>
                                      </p:to>
                                    </p:set>
                                    <p:animEffect transition="in" filter="dissolve">
                                      <p:cBhvr>
                                        <p:cTn id="18" dur="500"/>
                                        <p:tgtEl>
                                          <p:spTgt spid="18438"/>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8439"/>
                                        </p:tgtEl>
                                        <p:attrNameLst>
                                          <p:attrName>style.visibility</p:attrName>
                                        </p:attrNameLst>
                                      </p:cBhvr>
                                      <p:to>
                                        <p:strVal val="visible"/>
                                      </p:to>
                                    </p:set>
                                    <p:animEffect transition="in" filter="box(in)">
                                      <p:cBhvr>
                                        <p:cTn id="23" dur="500"/>
                                        <p:tgtEl>
                                          <p:spTgt spid="18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utoUpdateAnimBg="0"/>
      <p:bldP spid="18437" grpId="0" autoUpdateAnimBg="0"/>
      <p:bldP spid="18439"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685800" y="7620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1" hangingPunct="1"/>
            <a:r>
              <a:rPr lang="en-US" altLang="zh-CN" sz="3000" b="1">
                <a:solidFill>
                  <a:schemeClr val="tx2"/>
                </a:solidFill>
              </a:rPr>
              <a:t>6.9 </a:t>
            </a:r>
            <a:r>
              <a:rPr lang="zh-CN" altLang="en-US" sz="3000" b="1">
                <a:solidFill>
                  <a:schemeClr val="tx2"/>
                </a:solidFill>
              </a:rPr>
              <a:t>批处理作业调度问题</a:t>
            </a:r>
            <a:endParaRPr lang="zh-CN" altLang="en-US" sz="3000" b="1">
              <a:solidFill>
                <a:schemeClr val="tx2"/>
              </a:solidFill>
            </a:endParaRPr>
          </a:p>
        </p:txBody>
      </p:sp>
      <p:sp>
        <p:nvSpPr>
          <p:cNvPr id="19459" name="Text Box 3"/>
          <p:cNvSpPr txBox="1">
            <a:spLocks noChangeArrowheads="1"/>
          </p:cNvSpPr>
          <p:nvPr/>
        </p:nvSpPr>
        <p:spPr bwMode="auto">
          <a:xfrm>
            <a:off x="457200" y="2057400"/>
            <a:ext cx="6934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algn="ctr" eaLnBrk="1" hangingPunct="1">
              <a:spcBef>
                <a:spcPct val="50000"/>
              </a:spcBef>
            </a:pPr>
            <a:endParaRPr lang="zh-CN" altLang="zh-CN" b="1">
              <a:solidFill>
                <a:schemeClr val="accent2"/>
              </a:solidFill>
              <a:ea typeface="华文行楷" panose="02010800040101010101" pitchFamily="2" charset="-122"/>
            </a:endParaRPr>
          </a:p>
        </p:txBody>
      </p:sp>
      <p:sp>
        <p:nvSpPr>
          <p:cNvPr id="19460" name="Text Box 4"/>
          <p:cNvSpPr txBox="1">
            <a:spLocks noChangeArrowheads="1"/>
          </p:cNvSpPr>
          <p:nvPr/>
        </p:nvSpPr>
        <p:spPr bwMode="auto">
          <a:xfrm>
            <a:off x="608013" y="1989138"/>
            <a:ext cx="7696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b="1">
                <a:solidFill>
                  <a:schemeClr val="accent2"/>
                </a:solidFill>
                <a:latin typeface="Times New Roman" panose="02020603050405020304" pitchFamily="18" charset="0"/>
                <a:ea typeface="黑体" panose="02010609060101010101" pitchFamily="2" charset="-122"/>
              </a:rPr>
              <a:t>2. </a:t>
            </a:r>
            <a:r>
              <a:rPr lang="zh-CN" altLang="en-US" sz="3200" b="1">
                <a:solidFill>
                  <a:schemeClr val="accent2"/>
                </a:solidFill>
                <a:latin typeface="Times New Roman" panose="02020603050405020304" pitchFamily="18" charset="0"/>
                <a:ea typeface="黑体" panose="02010609060101010101" pitchFamily="2" charset="-122"/>
              </a:rPr>
              <a:t>限界函数</a:t>
            </a:r>
            <a:endParaRPr lang="zh-CN" altLang="en-US" b="1">
              <a:solidFill>
                <a:schemeClr val="accent2"/>
              </a:solidFill>
              <a:ea typeface="华文行楷" panose="02010800040101010101" pitchFamily="2" charset="-122"/>
            </a:endParaRPr>
          </a:p>
        </p:txBody>
      </p:sp>
      <p:sp>
        <p:nvSpPr>
          <p:cNvPr id="19461" name="Text Box 5"/>
          <p:cNvSpPr txBox="1">
            <a:spLocks noChangeArrowheads="1"/>
          </p:cNvSpPr>
          <p:nvPr/>
        </p:nvSpPr>
        <p:spPr bwMode="auto">
          <a:xfrm>
            <a:off x="1065213" y="2674938"/>
            <a:ext cx="693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zh-CN" altLang="en-US" sz="2400" b="1">
                <a:latin typeface="新宋体" panose="02010609030101010101" charset="-122"/>
                <a:ea typeface="新宋体" panose="02010609030101010101" charset="-122"/>
              </a:rPr>
              <a:t>在结点</a:t>
            </a:r>
            <a:r>
              <a:rPr lang="en-US" altLang="zh-CN" sz="2400" b="1">
                <a:latin typeface="新宋体" panose="02010609030101010101" charset="-122"/>
                <a:ea typeface="新宋体" panose="02010609030101010101" charset="-122"/>
              </a:rPr>
              <a:t>E</a:t>
            </a:r>
            <a:r>
              <a:rPr lang="zh-CN" altLang="en-US" sz="2400" b="1">
                <a:latin typeface="新宋体" panose="02010609030101010101" charset="-122"/>
                <a:ea typeface="新宋体" panose="02010609030101010101" charset="-122"/>
              </a:rPr>
              <a:t>处相应子树中叶结点完成时间和的下界是：</a:t>
            </a:r>
            <a:endParaRPr lang="zh-CN" altLang="en-US" sz="2400" b="1">
              <a:latin typeface="新宋体" panose="02010609030101010101" charset="-122"/>
              <a:ea typeface="新宋体" panose="02010609030101010101" charset="-122"/>
            </a:endParaRPr>
          </a:p>
        </p:txBody>
      </p:sp>
      <p:graphicFrame>
        <p:nvGraphicFramePr>
          <p:cNvPr id="19462" name="Object 6"/>
          <p:cNvGraphicFramePr>
            <a:graphicFrameLocks noChangeAspect="1"/>
          </p:cNvGraphicFramePr>
          <p:nvPr/>
        </p:nvGraphicFramePr>
        <p:xfrm>
          <a:off x="2741613" y="3132138"/>
          <a:ext cx="3810000" cy="762000"/>
        </p:xfrm>
        <a:graphic>
          <a:graphicData uri="http://schemas.openxmlformats.org/presentationml/2006/ole">
            <mc:AlternateContent xmlns:mc="http://schemas.openxmlformats.org/markup-compatibility/2006">
              <mc:Choice xmlns:v="urn:schemas-microsoft-com:vml" Requires="v">
                <p:oleObj spid="_x0000_s3080" name="Microsoft 公式 3.0" r:id="rId1" imgW="1600200" imgH="342900" progId="Equation.3">
                  <p:embed/>
                </p:oleObj>
              </mc:Choice>
              <mc:Fallback>
                <p:oleObj name="Microsoft 公式 3.0" r:id="rId1" imgW="1600200" imgH="342900" progId="Equation.3">
                  <p:embed/>
                  <p:pic>
                    <p:nvPicPr>
                      <p:cNvPr id="0" name="图片 307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1613" y="3132138"/>
                        <a:ext cx="381000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3" name="Text Box 7"/>
          <p:cNvSpPr txBox="1">
            <a:spLocks noChangeArrowheads="1"/>
          </p:cNvSpPr>
          <p:nvPr/>
        </p:nvSpPr>
        <p:spPr bwMode="auto">
          <a:xfrm>
            <a:off x="1065213" y="3970338"/>
            <a:ext cx="7467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zh-CN" altLang="en-US" sz="2400" b="1">
                <a:latin typeface="新宋体" panose="02010609030101010101" charset="-122"/>
                <a:ea typeface="新宋体" panose="02010609030101010101" charset="-122"/>
              </a:rPr>
              <a:t>注意到如果选择</a:t>
            </a:r>
            <a:r>
              <a:rPr lang="en-US" altLang="zh-CN" sz="2400" b="1">
                <a:latin typeface="新宋体" panose="02010609030101010101" charset="-122"/>
                <a:ea typeface="新宋体" panose="02010609030101010101" charset="-122"/>
              </a:rPr>
              <a:t>Pk</a:t>
            </a:r>
            <a:r>
              <a:rPr lang="zh-CN" altLang="en-US" sz="2400" b="1">
                <a:latin typeface="新宋体" panose="02010609030101010101" charset="-122"/>
                <a:ea typeface="新宋体" panose="02010609030101010101" charset="-122"/>
              </a:rPr>
              <a:t>，使</a:t>
            </a:r>
            <a:r>
              <a:rPr lang="en-US" altLang="zh-CN" sz="2400" b="1">
                <a:latin typeface="新宋体" panose="02010609030101010101" charset="-122"/>
                <a:ea typeface="新宋体" panose="02010609030101010101" charset="-122"/>
              </a:rPr>
              <a:t>t1pk</a:t>
            </a:r>
            <a:r>
              <a:rPr lang="zh-CN" altLang="en-US" sz="2400" b="1">
                <a:latin typeface="新宋体" panose="02010609030101010101" charset="-122"/>
                <a:ea typeface="新宋体" panose="02010609030101010101" charset="-122"/>
              </a:rPr>
              <a:t>在</a:t>
            </a:r>
            <a:r>
              <a:rPr lang="en-US" altLang="zh-CN" sz="2400" b="1">
                <a:latin typeface="新宋体" panose="02010609030101010101" charset="-122"/>
                <a:ea typeface="新宋体" panose="02010609030101010101" charset="-122"/>
              </a:rPr>
              <a:t>k&gt;=r+1</a:t>
            </a:r>
            <a:r>
              <a:rPr lang="zh-CN" altLang="en-US" sz="2400" b="1">
                <a:latin typeface="新宋体" panose="02010609030101010101" charset="-122"/>
                <a:ea typeface="新宋体" panose="02010609030101010101" charset="-122"/>
              </a:rPr>
              <a:t>时依非减序排列，</a:t>
            </a:r>
            <a:r>
              <a:rPr lang="en-US" altLang="zh-CN" sz="2400" b="1">
                <a:latin typeface="新宋体" panose="02010609030101010101" charset="-122"/>
                <a:ea typeface="新宋体" panose="02010609030101010101" charset="-122"/>
              </a:rPr>
              <a:t>S1</a:t>
            </a:r>
            <a:r>
              <a:rPr lang="zh-CN" altLang="en-US" sz="2400" b="1">
                <a:latin typeface="新宋体" panose="02010609030101010101" charset="-122"/>
                <a:ea typeface="新宋体" panose="02010609030101010101" charset="-122"/>
              </a:rPr>
              <a:t>则取得极小值。同理如果选择</a:t>
            </a:r>
            <a:r>
              <a:rPr lang="en-US" altLang="zh-CN" sz="2400" b="1">
                <a:latin typeface="新宋体" panose="02010609030101010101" charset="-122"/>
                <a:ea typeface="新宋体" panose="02010609030101010101" charset="-122"/>
              </a:rPr>
              <a:t>Pk</a:t>
            </a:r>
            <a:r>
              <a:rPr lang="zh-CN" altLang="en-US" sz="2400" b="1">
                <a:latin typeface="新宋体" panose="02010609030101010101" charset="-122"/>
                <a:ea typeface="新宋体" panose="02010609030101010101" charset="-122"/>
              </a:rPr>
              <a:t>使</a:t>
            </a:r>
            <a:r>
              <a:rPr lang="en-US" altLang="zh-CN" sz="2400" b="1">
                <a:latin typeface="新宋体" panose="02010609030101010101" charset="-122"/>
                <a:ea typeface="新宋体" panose="02010609030101010101" charset="-122"/>
              </a:rPr>
              <a:t>t2pk</a:t>
            </a:r>
            <a:r>
              <a:rPr lang="zh-CN" altLang="en-US" sz="2400" b="1">
                <a:latin typeface="新宋体" panose="02010609030101010101" charset="-122"/>
                <a:ea typeface="新宋体" panose="02010609030101010101" charset="-122"/>
              </a:rPr>
              <a:t>依非减序排列，则</a:t>
            </a:r>
            <a:r>
              <a:rPr lang="en-US" altLang="zh-CN" sz="2400" b="1">
                <a:latin typeface="新宋体" panose="02010609030101010101" charset="-122"/>
                <a:ea typeface="新宋体" panose="02010609030101010101" charset="-122"/>
              </a:rPr>
              <a:t>S2</a:t>
            </a:r>
            <a:r>
              <a:rPr lang="zh-CN" altLang="en-US" sz="2400" b="1">
                <a:latin typeface="新宋体" panose="02010609030101010101" charset="-122"/>
                <a:ea typeface="新宋体" panose="02010609030101010101" charset="-122"/>
              </a:rPr>
              <a:t>取得极小值。 </a:t>
            </a:r>
            <a:endParaRPr lang="zh-CN" altLang="en-US" sz="2400" b="1">
              <a:latin typeface="新宋体" panose="02010609030101010101" charset="-122"/>
              <a:ea typeface="新宋体" panose="02010609030101010101" charset="-122"/>
            </a:endParaRPr>
          </a:p>
        </p:txBody>
      </p:sp>
      <p:graphicFrame>
        <p:nvGraphicFramePr>
          <p:cNvPr id="19464" name="Object 8"/>
          <p:cNvGraphicFramePr>
            <a:graphicFrameLocks noChangeAspect="1"/>
          </p:cNvGraphicFramePr>
          <p:nvPr/>
        </p:nvGraphicFramePr>
        <p:xfrm>
          <a:off x="2741613" y="5191125"/>
          <a:ext cx="3886200" cy="685800"/>
        </p:xfrm>
        <a:graphic>
          <a:graphicData uri="http://schemas.openxmlformats.org/presentationml/2006/ole">
            <mc:AlternateContent xmlns:mc="http://schemas.openxmlformats.org/markup-compatibility/2006">
              <mc:Choice xmlns:v="urn:schemas-microsoft-com:vml" Requires="v">
                <p:oleObj spid="_x0000_s3081" name="" r:id="rId3" imgW="1600200" imgH="355600" progId="Equation.3">
                  <p:embed/>
                </p:oleObj>
              </mc:Choice>
              <mc:Fallback>
                <p:oleObj name="" r:id="rId3" imgW="1600200" imgH="355600" progId="Equation.3">
                  <p:embed/>
                  <p:pic>
                    <p:nvPicPr>
                      <p:cNvPr id="0" name="图片 30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1613" y="5191125"/>
                        <a:ext cx="38862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5" name="Text Box 9"/>
          <p:cNvSpPr txBox="1">
            <a:spLocks noChangeArrowheads="1"/>
          </p:cNvSpPr>
          <p:nvPr/>
        </p:nvSpPr>
        <p:spPr bwMode="auto">
          <a:xfrm>
            <a:off x="1065213" y="5875338"/>
            <a:ext cx="693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zh-CN" altLang="en-US" sz="2400" b="1">
                <a:latin typeface="新宋体" panose="02010609030101010101" charset="-122"/>
                <a:ea typeface="新宋体" panose="02010609030101010101" charset="-122"/>
              </a:rPr>
              <a:t>这可以作为优先队列式分支限界法中的限界函数。 </a:t>
            </a:r>
            <a:endParaRPr lang="zh-CN" altLang="en-US" sz="2400" b="1">
              <a:latin typeface="新宋体" panose="02010609030101010101" charset="-122"/>
              <a:ea typeface="新宋体" panose="02010609030101010101" charset="-122"/>
            </a:endParaRPr>
          </a:p>
        </p:txBody>
      </p:sp>
    </p:spTree>
  </p:cSld>
  <p:clrMapOvr>
    <a:masterClrMapping/>
  </p:clrMapOvr>
  <p:transition>
    <p:randomBa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460"/>
                                        </p:tgtEl>
                                        <p:attrNameLst>
                                          <p:attrName>style.visibility</p:attrName>
                                        </p:attrNameLst>
                                      </p:cBhvr>
                                      <p:to>
                                        <p:strVal val="visible"/>
                                      </p:to>
                                    </p:set>
                                    <p:anim calcmode="lin" valueType="num">
                                      <p:cBhvr additive="base">
                                        <p:cTn id="7" dur="500" fill="hold"/>
                                        <p:tgtEl>
                                          <p:spTgt spid="19460"/>
                                        </p:tgtEl>
                                        <p:attrNameLst>
                                          <p:attrName>ppt_x</p:attrName>
                                        </p:attrNameLst>
                                      </p:cBhvr>
                                      <p:tavLst>
                                        <p:tav tm="0">
                                          <p:val>
                                            <p:strVal val="1+#ppt_w/2"/>
                                          </p:val>
                                        </p:tav>
                                        <p:tav tm="100000">
                                          <p:val>
                                            <p:strVal val="#ppt_x"/>
                                          </p:val>
                                        </p:tav>
                                      </p:tavLst>
                                    </p:anim>
                                    <p:anim calcmode="lin" valueType="num">
                                      <p:cBhvr additive="base">
                                        <p:cTn id="8" dur="500" fill="hold"/>
                                        <p:tgtEl>
                                          <p:spTgt spid="1946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461"/>
                                        </p:tgtEl>
                                        <p:attrNameLst>
                                          <p:attrName>style.visibility</p:attrName>
                                        </p:attrNameLst>
                                      </p:cBhvr>
                                      <p:to>
                                        <p:strVal val="visible"/>
                                      </p:to>
                                    </p:set>
                                    <p:anim calcmode="lin" valueType="num">
                                      <p:cBhvr additive="base">
                                        <p:cTn id="13" dur="500" fill="hold"/>
                                        <p:tgtEl>
                                          <p:spTgt spid="19461"/>
                                        </p:tgtEl>
                                        <p:attrNameLst>
                                          <p:attrName>ppt_x</p:attrName>
                                        </p:attrNameLst>
                                      </p:cBhvr>
                                      <p:tavLst>
                                        <p:tav tm="0">
                                          <p:val>
                                            <p:strVal val="0-#ppt_w/2"/>
                                          </p:val>
                                        </p:tav>
                                        <p:tav tm="100000">
                                          <p:val>
                                            <p:strVal val="#ppt_x"/>
                                          </p:val>
                                        </p:tav>
                                      </p:tavLst>
                                    </p:anim>
                                    <p:anim calcmode="lin" valueType="num">
                                      <p:cBhvr additive="base">
                                        <p:cTn id="14" dur="500" fill="hold"/>
                                        <p:tgtEl>
                                          <p:spTgt spid="1946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9462"/>
                                        </p:tgtEl>
                                        <p:attrNameLst>
                                          <p:attrName>style.visibility</p:attrName>
                                        </p:attrNameLst>
                                      </p:cBhvr>
                                      <p:to>
                                        <p:strVal val="visible"/>
                                      </p:to>
                                    </p:set>
                                    <p:anim calcmode="lin" valueType="num">
                                      <p:cBhvr additive="base">
                                        <p:cTn id="19" dur="500" fill="hold"/>
                                        <p:tgtEl>
                                          <p:spTgt spid="19462"/>
                                        </p:tgtEl>
                                        <p:attrNameLst>
                                          <p:attrName>ppt_x</p:attrName>
                                        </p:attrNameLst>
                                      </p:cBhvr>
                                      <p:tavLst>
                                        <p:tav tm="0">
                                          <p:val>
                                            <p:strVal val="0-#ppt_w/2"/>
                                          </p:val>
                                        </p:tav>
                                        <p:tav tm="100000">
                                          <p:val>
                                            <p:strVal val="#ppt_x"/>
                                          </p:val>
                                        </p:tav>
                                      </p:tavLst>
                                    </p:anim>
                                    <p:anim calcmode="lin" valueType="num">
                                      <p:cBhvr additive="base">
                                        <p:cTn id="20" dur="500" fill="hold"/>
                                        <p:tgtEl>
                                          <p:spTgt spid="1946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463"/>
                                        </p:tgtEl>
                                        <p:attrNameLst>
                                          <p:attrName>style.visibility</p:attrName>
                                        </p:attrNameLst>
                                      </p:cBhvr>
                                      <p:to>
                                        <p:strVal val="visible"/>
                                      </p:to>
                                    </p:set>
                                    <p:anim calcmode="lin" valueType="num">
                                      <p:cBhvr additive="base">
                                        <p:cTn id="25" dur="500" fill="hold"/>
                                        <p:tgtEl>
                                          <p:spTgt spid="19463"/>
                                        </p:tgtEl>
                                        <p:attrNameLst>
                                          <p:attrName>ppt_x</p:attrName>
                                        </p:attrNameLst>
                                      </p:cBhvr>
                                      <p:tavLst>
                                        <p:tav tm="0">
                                          <p:val>
                                            <p:strVal val="0-#ppt_w/2"/>
                                          </p:val>
                                        </p:tav>
                                        <p:tav tm="100000">
                                          <p:val>
                                            <p:strVal val="#ppt_x"/>
                                          </p:val>
                                        </p:tav>
                                      </p:tavLst>
                                    </p:anim>
                                    <p:anim calcmode="lin" valueType="num">
                                      <p:cBhvr additive="base">
                                        <p:cTn id="26" dur="500" fill="hold"/>
                                        <p:tgtEl>
                                          <p:spTgt spid="1946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9464"/>
                                        </p:tgtEl>
                                        <p:attrNameLst>
                                          <p:attrName>style.visibility</p:attrName>
                                        </p:attrNameLst>
                                      </p:cBhvr>
                                      <p:to>
                                        <p:strVal val="visible"/>
                                      </p:to>
                                    </p:set>
                                    <p:anim calcmode="lin" valueType="num">
                                      <p:cBhvr additive="base">
                                        <p:cTn id="31" dur="500" fill="hold"/>
                                        <p:tgtEl>
                                          <p:spTgt spid="19464"/>
                                        </p:tgtEl>
                                        <p:attrNameLst>
                                          <p:attrName>ppt_x</p:attrName>
                                        </p:attrNameLst>
                                      </p:cBhvr>
                                      <p:tavLst>
                                        <p:tav tm="0">
                                          <p:val>
                                            <p:strVal val="0-#ppt_w/2"/>
                                          </p:val>
                                        </p:tav>
                                        <p:tav tm="100000">
                                          <p:val>
                                            <p:strVal val="#ppt_x"/>
                                          </p:val>
                                        </p:tav>
                                      </p:tavLst>
                                    </p:anim>
                                    <p:anim calcmode="lin" valueType="num">
                                      <p:cBhvr additive="base">
                                        <p:cTn id="32" dur="500" fill="hold"/>
                                        <p:tgtEl>
                                          <p:spTgt spid="1946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465"/>
                                        </p:tgtEl>
                                        <p:attrNameLst>
                                          <p:attrName>style.visibility</p:attrName>
                                        </p:attrNameLst>
                                      </p:cBhvr>
                                      <p:to>
                                        <p:strVal val="visible"/>
                                      </p:to>
                                    </p:set>
                                    <p:anim calcmode="lin" valueType="num">
                                      <p:cBhvr additive="base">
                                        <p:cTn id="37" dur="500" fill="hold"/>
                                        <p:tgtEl>
                                          <p:spTgt spid="19465"/>
                                        </p:tgtEl>
                                        <p:attrNameLst>
                                          <p:attrName>ppt_x</p:attrName>
                                        </p:attrNameLst>
                                      </p:cBhvr>
                                      <p:tavLst>
                                        <p:tav tm="0">
                                          <p:val>
                                            <p:strVal val="#ppt_x"/>
                                          </p:val>
                                        </p:tav>
                                        <p:tav tm="100000">
                                          <p:val>
                                            <p:strVal val="#ppt_x"/>
                                          </p:val>
                                        </p:tav>
                                      </p:tavLst>
                                    </p:anim>
                                    <p:anim calcmode="lin" valueType="num">
                                      <p:cBhvr additive="base">
                                        <p:cTn id="38" dur="500" fill="hold"/>
                                        <p:tgtEl>
                                          <p:spTgt spid="194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autoUpdateAnimBg="0"/>
      <p:bldP spid="19461" grpId="0" autoUpdateAnimBg="0"/>
      <p:bldP spid="19463" grpId="0" autoUpdateAnimBg="0"/>
      <p:bldP spid="19465"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zh-CN" sz="3000"/>
              <a:t>6.9 </a:t>
            </a:r>
            <a:r>
              <a:rPr lang="zh-CN" altLang="en-US" sz="3000"/>
              <a:t>批处理作业调度问题</a:t>
            </a:r>
            <a:endParaRPr lang="zh-CN" altLang="en-US" sz="3000"/>
          </a:p>
        </p:txBody>
      </p:sp>
      <p:sp>
        <p:nvSpPr>
          <p:cNvPr id="20484" name="Text Box 4"/>
          <p:cNvSpPr txBox="1">
            <a:spLocks noChangeArrowheads="1"/>
          </p:cNvSpPr>
          <p:nvPr/>
        </p:nvSpPr>
        <p:spPr bwMode="auto">
          <a:xfrm>
            <a:off x="304800" y="1828800"/>
            <a:ext cx="5943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b="1">
                <a:solidFill>
                  <a:schemeClr val="accent2"/>
                </a:solidFill>
                <a:latin typeface="Times New Roman" panose="02020603050405020304" pitchFamily="18" charset="0"/>
                <a:ea typeface="黑体" panose="02010609060101010101" pitchFamily="2" charset="-122"/>
              </a:rPr>
              <a:t>3. </a:t>
            </a:r>
            <a:r>
              <a:rPr kumimoji="1" lang="zh-CN" altLang="en-US" sz="3200" b="1">
                <a:solidFill>
                  <a:schemeClr val="accent2"/>
                </a:solidFill>
                <a:latin typeface="Times New Roman" panose="02020603050405020304" pitchFamily="18" charset="0"/>
                <a:ea typeface="黑体" panose="02010609060101010101" pitchFamily="2" charset="-122"/>
              </a:rPr>
              <a:t>算法描述</a:t>
            </a:r>
            <a:endParaRPr lang="zh-CN" altLang="en-US" b="1">
              <a:solidFill>
                <a:schemeClr val="accent2"/>
              </a:solidFill>
              <a:ea typeface="华文行楷" panose="02010800040101010101" pitchFamily="2" charset="-122"/>
            </a:endParaRPr>
          </a:p>
        </p:txBody>
      </p:sp>
      <p:sp>
        <p:nvSpPr>
          <p:cNvPr id="20485" name="Text Box 5"/>
          <p:cNvSpPr txBox="1">
            <a:spLocks noChangeArrowheads="1"/>
          </p:cNvSpPr>
          <p:nvPr/>
        </p:nvSpPr>
        <p:spPr bwMode="auto">
          <a:xfrm>
            <a:off x="762000" y="2514600"/>
            <a:ext cx="77724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000" b="1">
                <a:latin typeface="新宋体" panose="02010609030101010101" charset="-122"/>
                <a:ea typeface="新宋体" panose="02010609030101010101" charset="-122"/>
              </a:rPr>
              <a:t>    </a:t>
            </a:r>
            <a:r>
              <a:rPr lang="zh-CN" altLang="en-US" sz="2000" b="1">
                <a:latin typeface="新宋体" panose="02010609030101010101" charset="-122"/>
                <a:ea typeface="新宋体" panose="02010609030101010101" charset="-122"/>
              </a:rPr>
              <a:t>算法的</a:t>
            </a:r>
            <a:r>
              <a:rPr lang="en-US" altLang="zh-CN" sz="2000" b="1">
                <a:latin typeface="新宋体" panose="02010609030101010101" charset="-122"/>
                <a:ea typeface="新宋体" panose="02010609030101010101" charset="-122"/>
              </a:rPr>
              <a:t>while</a:t>
            </a:r>
            <a:r>
              <a:rPr lang="zh-CN" altLang="en-US" sz="2000" b="1">
                <a:latin typeface="新宋体" panose="02010609030101010101" charset="-122"/>
                <a:ea typeface="新宋体" panose="02010609030101010101" charset="-122"/>
              </a:rPr>
              <a:t>循环完成对排列树内部结点的有序扩展。在</a:t>
            </a:r>
            <a:r>
              <a:rPr lang="en-US" altLang="zh-CN" sz="2000" b="1">
                <a:latin typeface="新宋体" panose="02010609030101010101" charset="-122"/>
                <a:ea typeface="新宋体" panose="02010609030101010101" charset="-122"/>
              </a:rPr>
              <a:t>while</a:t>
            </a:r>
            <a:r>
              <a:rPr lang="zh-CN" altLang="en-US" sz="2000" b="1">
                <a:latin typeface="新宋体" panose="02010609030101010101" charset="-122"/>
                <a:ea typeface="新宋体" panose="02010609030101010101" charset="-122"/>
              </a:rPr>
              <a:t>循环体内算法依次从活结点优先队列中取出具有最小</a:t>
            </a:r>
            <a:r>
              <a:rPr lang="en-US" altLang="zh-CN" sz="2000" b="1">
                <a:latin typeface="新宋体" panose="02010609030101010101" charset="-122"/>
                <a:ea typeface="新宋体" panose="02010609030101010101" charset="-122"/>
              </a:rPr>
              <a:t>bb</a:t>
            </a:r>
            <a:r>
              <a:rPr lang="zh-CN" altLang="en-US" sz="2000" b="1">
                <a:latin typeface="新宋体" panose="02010609030101010101" charset="-122"/>
                <a:ea typeface="新宋体" panose="02010609030101010101" charset="-122"/>
              </a:rPr>
              <a:t>值（完成时间和下界）的结点作为当前扩展结点，并加以扩展。 </a:t>
            </a:r>
            <a:endParaRPr lang="zh-CN" altLang="en-US" sz="2000" b="1">
              <a:latin typeface="新宋体" panose="02010609030101010101" charset="-122"/>
              <a:ea typeface="新宋体" panose="02010609030101010101" charset="-122"/>
            </a:endParaRPr>
          </a:p>
        </p:txBody>
      </p:sp>
      <p:sp>
        <p:nvSpPr>
          <p:cNvPr id="20486" name="Text Box 6"/>
          <p:cNvSpPr txBox="1">
            <a:spLocks noChangeArrowheads="1"/>
          </p:cNvSpPr>
          <p:nvPr/>
        </p:nvSpPr>
        <p:spPr bwMode="auto">
          <a:xfrm>
            <a:off x="762000" y="3657600"/>
            <a:ext cx="77724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000" b="1">
                <a:latin typeface="新宋体" panose="02010609030101010101" charset="-122"/>
                <a:ea typeface="新宋体" panose="02010609030101010101" charset="-122"/>
              </a:rPr>
              <a:t>    </a:t>
            </a:r>
            <a:r>
              <a:rPr lang="zh-CN" altLang="en-US" sz="2000" b="1">
                <a:latin typeface="新宋体" panose="02010609030101010101" charset="-122"/>
                <a:ea typeface="新宋体" panose="02010609030101010101" charset="-122"/>
              </a:rPr>
              <a:t>首先考虑</a:t>
            </a:r>
            <a:r>
              <a:rPr lang="en-US" altLang="zh-CN" sz="2000" b="1">
                <a:latin typeface="新宋体" panose="02010609030101010101" charset="-122"/>
                <a:ea typeface="新宋体" panose="02010609030101010101" charset="-122"/>
              </a:rPr>
              <a:t>E.s=n</a:t>
            </a:r>
            <a:r>
              <a:rPr lang="zh-CN" altLang="en-US" sz="2000" b="1">
                <a:latin typeface="新宋体" panose="02010609030101010101" charset="-122"/>
                <a:ea typeface="新宋体" panose="02010609030101010101" charset="-122"/>
              </a:rPr>
              <a:t>的情形，当前扩展结点</a:t>
            </a:r>
            <a:r>
              <a:rPr lang="en-US" altLang="zh-CN" sz="2000" b="1">
                <a:latin typeface="新宋体" panose="02010609030101010101" charset="-122"/>
                <a:ea typeface="新宋体" panose="02010609030101010101" charset="-122"/>
              </a:rPr>
              <a:t>E</a:t>
            </a:r>
            <a:r>
              <a:rPr lang="zh-CN" altLang="en-US" sz="2000" b="1">
                <a:latin typeface="新宋体" panose="02010609030101010101" charset="-122"/>
                <a:ea typeface="新宋体" panose="02010609030101010101" charset="-122"/>
              </a:rPr>
              <a:t>是排列树中的叶结点。</a:t>
            </a:r>
            <a:r>
              <a:rPr lang="en-US" altLang="zh-CN" sz="2000" b="1">
                <a:latin typeface="新宋体" panose="02010609030101010101" charset="-122"/>
                <a:ea typeface="新宋体" panose="02010609030101010101" charset="-122"/>
              </a:rPr>
              <a:t>E.sf2</a:t>
            </a:r>
            <a:r>
              <a:rPr lang="zh-CN" altLang="en-US" sz="2000" b="1">
                <a:latin typeface="新宋体" panose="02010609030101010101" charset="-122"/>
                <a:ea typeface="新宋体" panose="02010609030101010101" charset="-122"/>
              </a:rPr>
              <a:t>是相应于该叶结点的完成时间和。当</a:t>
            </a:r>
            <a:r>
              <a:rPr lang="en-US" altLang="zh-CN" sz="2000" b="1">
                <a:latin typeface="新宋体" panose="02010609030101010101" charset="-122"/>
                <a:ea typeface="新宋体" panose="02010609030101010101" charset="-122"/>
              </a:rPr>
              <a:t>E.sf2 &lt; bestc</a:t>
            </a:r>
            <a:r>
              <a:rPr lang="zh-CN" altLang="en-US" sz="2000" b="1">
                <a:latin typeface="新宋体" panose="02010609030101010101" charset="-122"/>
                <a:ea typeface="新宋体" panose="02010609030101010101" charset="-122"/>
              </a:rPr>
              <a:t>时更新当前最优值</a:t>
            </a:r>
            <a:r>
              <a:rPr lang="en-US" altLang="zh-CN" sz="2000" b="1">
                <a:latin typeface="新宋体" panose="02010609030101010101" charset="-122"/>
                <a:ea typeface="新宋体" panose="02010609030101010101" charset="-122"/>
              </a:rPr>
              <a:t>bestc</a:t>
            </a:r>
            <a:r>
              <a:rPr lang="zh-CN" altLang="en-US" sz="2000" b="1">
                <a:latin typeface="新宋体" panose="02010609030101010101" charset="-122"/>
                <a:ea typeface="新宋体" panose="02010609030101010101" charset="-122"/>
              </a:rPr>
              <a:t>和相应的当前最优解</a:t>
            </a:r>
            <a:r>
              <a:rPr lang="en-US" altLang="zh-CN" sz="2000" b="1">
                <a:latin typeface="新宋体" panose="02010609030101010101" charset="-122"/>
                <a:ea typeface="新宋体" panose="02010609030101010101" charset="-122"/>
              </a:rPr>
              <a:t>bestx</a:t>
            </a:r>
            <a:r>
              <a:rPr lang="zh-CN" altLang="en-US" sz="2000" b="1">
                <a:latin typeface="新宋体" panose="02010609030101010101" charset="-122"/>
                <a:ea typeface="新宋体" panose="02010609030101010101" charset="-122"/>
              </a:rPr>
              <a:t>。 </a:t>
            </a:r>
            <a:endParaRPr lang="zh-CN" altLang="en-US" sz="2000" b="1">
              <a:latin typeface="新宋体" panose="02010609030101010101" charset="-122"/>
              <a:ea typeface="新宋体" panose="02010609030101010101" charset="-122"/>
            </a:endParaRPr>
          </a:p>
        </p:txBody>
      </p:sp>
      <p:sp>
        <p:nvSpPr>
          <p:cNvPr id="20487" name="Text Box 7"/>
          <p:cNvSpPr txBox="1">
            <a:spLocks noChangeArrowheads="1"/>
          </p:cNvSpPr>
          <p:nvPr/>
        </p:nvSpPr>
        <p:spPr bwMode="auto">
          <a:xfrm>
            <a:off x="762000" y="4800600"/>
            <a:ext cx="76962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lang="en-US" altLang="zh-CN" sz="2000" b="1">
                <a:latin typeface="新宋体" panose="02010609030101010101" charset="-122"/>
                <a:ea typeface="新宋体" panose="02010609030101010101" charset="-122"/>
              </a:rPr>
              <a:t>    </a:t>
            </a:r>
            <a:r>
              <a:rPr lang="zh-CN" altLang="en-US" sz="2000" b="1">
                <a:latin typeface="新宋体" panose="02010609030101010101" charset="-122"/>
                <a:ea typeface="新宋体" panose="02010609030101010101" charset="-122"/>
              </a:rPr>
              <a:t>当</a:t>
            </a:r>
            <a:r>
              <a:rPr lang="en-US" altLang="zh-CN" sz="2000" b="1">
                <a:latin typeface="新宋体" panose="02010609030101010101" charset="-122"/>
                <a:ea typeface="新宋体" panose="02010609030101010101" charset="-122"/>
              </a:rPr>
              <a:t>E.s&lt;n</a:t>
            </a:r>
            <a:r>
              <a:rPr lang="zh-CN" altLang="en-US" sz="2000" b="1">
                <a:latin typeface="新宋体" panose="02010609030101010101" charset="-122"/>
                <a:ea typeface="新宋体" panose="02010609030101010101" charset="-122"/>
              </a:rPr>
              <a:t>时，算法依次产生当前扩展结点</a:t>
            </a:r>
            <a:r>
              <a:rPr lang="en-US" altLang="zh-CN" sz="2000" b="1">
                <a:latin typeface="新宋体" panose="02010609030101010101" charset="-122"/>
                <a:ea typeface="新宋体" panose="02010609030101010101" charset="-122"/>
              </a:rPr>
              <a:t>E</a:t>
            </a:r>
            <a:r>
              <a:rPr lang="zh-CN" altLang="en-US" sz="2000" b="1">
                <a:latin typeface="新宋体" panose="02010609030101010101" charset="-122"/>
                <a:ea typeface="新宋体" panose="02010609030101010101" charset="-122"/>
              </a:rPr>
              <a:t>的所有儿子结点。对于当前扩展结点的每一个儿子结点</a:t>
            </a:r>
            <a:r>
              <a:rPr lang="en-US" altLang="zh-CN" sz="2000" b="1">
                <a:latin typeface="新宋体" panose="02010609030101010101" charset="-122"/>
                <a:ea typeface="新宋体" panose="02010609030101010101" charset="-122"/>
              </a:rPr>
              <a:t>node</a:t>
            </a:r>
            <a:r>
              <a:rPr lang="zh-CN" altLang="en-US" sz="2000" b="1">
                <a:latin typeface="新宋体" panose="02010609030101010101" charset="-122"/>
                <a:ea typeface="新宋体" panose="02010609030101010101" charset="-122"/>
              </a:rPr>
              <a:t>，计算出其相应的完成时间和的下界</a:t>
            </a:r>
            <a:r>
              <a:rPr lang="en-US" altLang="zh-CN" sz="2000" b="1">
                <a:latin typeface="新宋体" panose="02010609030101010101" charset="-122"/>
                <a:ea typeface="新宋体" panose="02010609030101010101" charset="-122"/>
              </a:rPr>
              <a:t>bb</a:t>
            </a:r>
            <a:r>
              <a:rPr lang="zh-CN" altLang="en-US" sz="2000" b="1">
                <a:latin typeface="新宋体" panose="02010609030101010101" charset="-122"/>
                <a:ea typeface="新宋体" panose="02010609030101010101" charset="-122"/>
              </a:rPr>
              <a:t>。当</a:t>
            </a:r>
            <a:r>
              <a:rPr lang="en-US" altLang="zh-CN" sz="2000" b="1">
                <a:latin typeface="新宋体" panose="02010609030101010101" charset="-122"/>
                <a:ea typeface="新宋体" panose="02010609030101010101" charset="-122"/>
              </a:rPr>
              <a:t>bb &lt; bestc</a:t>
            </a:r>
            <a:r>
              <a:rPr lang="zh-CN" altLang="en-US" sz="2000" b="1">
                <a:latin typeface="新宋体" panose="02010609030101010101" charset="-122"/>
                <a:ea typeface="新宋体" panose="02010609030101010101" charset="-122"/>
              </a:rPr>
              <a:t>时，将该儿子结点插入到活结点优先队列中。而当</a:t>
            </a:r>
            <a:r>
              <a:rPr lang="en-US" altLang="zh-CN" sz="2000" b="1">
                <a:latin typeface="新宋体" panose="02010609030101010101" charset="-122"/>
                <a:ea typeface="新宋体" panose="02010609030101010101" charset="-122"/>
              </a:rPr>
              <a:t>bb</a:t>
            </a:r>
            <a:r>
              <a:rPr lang="en-US" altLang="zh-CN" sz="2000" b="1">
                <a:latin typeface="新宋体" panose="02010609030101010101" charset="-122"/>
                <a:ea typeface="新宋体" panose="02010609030101010101" charset="-122"/>
                <a:sym typeface="Symbol" panose="05050102010706020507" pitchFamily="18" charset="2"/>
              </a:rPr>
              <a:t></a:t>
            </a:r>
            <a:r>
              <a:rPr lang="en-US" altLang="zh-CN" sz="2000" b="1">
                <a:latin typeface="新宋体" panose="02010609030101010101" charset="-122"/>
                <a:ea typeface="新宋体" panose="02010609030101010101" charset="-122"/>
              </a:rPr>
              <a:t> bestc</a:t>
            </a:r>
            <a:r>
              <a:rPr lang="zh-CN" altLang="en-US" sz="2000" b="1">
                <a:latin typeface="新宋体" panose="02010609030101010101" charset="-122"/>
                <a:ea typeface="新宋体" panose="02010609030101010101" charset="-122"/>
              </a:rPr>
              <a:t>时，可将结点</a:t>
            </a:r>
            <a:r>
              <a:rPr lang="en-US" altLang="zh-CN" sz="2000" b="1">
                <a:latin typeface="新宋体" panose="02010609030101010101" charset="-122"/>
                <a:ea typeface="新宋体" panose="02010609030101010101" charset="-122"/>
              </a:rPr>
              <a:t>node</a:t>
            </a:r>
            <a:r>
              <a:rPr lang="zh-CN" altLang="en-US" sz="2000" b="1">
                <a:latin typeface="新宋体" panose="02010609030101010101" charset="-122"/>
                <a:ea typeface="新宋体" panose="02010609030101010101" charset="-122"/>
              </a:rPr>
              <a:t>舍去。 </a:t>
            </a:r>
            <a:endParaRPr lang="zh-CN" altLang="en-US" sz="2000" b="1">
              <a:latin typeface="新宋体" panose="02010609030101010101" charset="-122"/>
              <a:ea typeface="新宋体" panose="02010609030101010101" charset="-122"/>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0484"/>
                                        </p:tgtEl>
                                        <p:attrNameLst>
                                          <p:attrName>style.visibility</p:attrName>
                                        </p:attrNameLst>
                                      </p:cBhvr>
                                      <p:to>
                                        <p:strVal val="visible"/>
                                      </p:to>
                                    </p:set>
                                    <p:anim calcmode="lin" valueType="num">
                                      <p:cBhvr additive="base">
                                        <p:cTn id="7" dur="500" fill="hold"/>
                                        <p:tgtEl>
                                          <p:spTgt spid="20484"/>
                                        </p:tgtEl>
                                        <p:attrNameLst>
                                          <p:attrName>ppt_x</p:attrName>
                                        </p:attrNameLst>
                                      </p:cBhvr>
                                      <p:tavLst>
                                        <p:tav tm="0">
                                          <p:val>
                                            <p:strVal val="1+#ppt_w/2"/>
                                          </p:val>
                                        </p:tav>
                                        <p:tav tm="100000">
                                          <p:val>
                                            <p:strVal val="#ppt_x"/>
                                          </p:val>
                                        </p:tav>
                                      </p:tavLst>
                                    </p:anim>
                                    <p:anim calcmode="lin" valueType="num">
                                      <p:cBhvr additive="base">
                                        <p:cTn id="8" dur="500" fill="hold"/>
                                        <p:tgtEl>
                                          <p:spTgt spid="2048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485"/>
                                        </p:tgtEl>
                                        <p:attrNameLst>
                                          <p:attrName>style.visibility</p:attrName>
                                        </p:attrNameLst>
                                      </p:cBhvr>
                                      <p:to>
                                        <p:strVal val="visible"/>
                                      </p:to>
                                    </p:set>
                                    <p:anim calcmode="lin" valueType="num">
                                      <p:cBhvr additive="base">
                                        <p:cTn id="13" dur="500" fill="hold"/>
                                        <p:tgtEl>
                                          <p:spTgt spid="20485"/>
                                        </p:tgtEl>
                                        <p:attrNameLst>
                                          <p:attrName>ppt_x</p:attrName>
                                        </p:attrNameLst>
                                      </p:cBhvr>
                                      <p:tavLst>
                                        <p:tav tm="0">
                                          <p:val>
                                            <p:strVal val="0-#ppt_w/2"/>
                                          </p:val>
                                        </p:tav>
                                        <p:tav tm="100000">
                                          <p:val>
                                            <p:strVal val="#ppt_x"/>
                                          </p:val>
                                        </p:tav>
                                      </p:tavLst>
                                    </p:anim>
                                    <p:anim calcmode="lin" valueType="num">
                                      <p:cBhvr additive="base">
                                        <p:cTn id="14" dur="500" fill="hold"/>
                                        <p:tgtEl>
                                          <p:spTgt spid="2048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0486"/>
                                        </p:tgtEl>
                                        <p:attrNameLst>
                                          <p:attrName>style.visibility</p:attrName>
                                        </p:attrNameLst>
                                      </p:cBhvr>
                                      <p:to>
                                        <p:strVal val="visible"/>
                                      </p:to>
                                    </p:set>
                                    <p:anim calcmode="lin" valueType="num">
                                      <p:cBhvr additive="base">
                                        <p:cTn id="19" dur="500" fill="hold"/>
                                        <p:tgtEl>
                                          <p:spTgt spid="20486"/>
                                        </p:tgtEl>
                                        <p:attrNameLst>
                                          <p:attrName>ppt_x</p:attrName>
                                        </p:attrNameLst>
                                      </p:cBhvr>
                                      <p:tavLst>
                                        <p:tav tm="0">
                                          <p:val>
                                            <p:strVal val="1+#ppt_w/2"/>
                                          </p:val>
                                        </p:tav>
                                        <p:tav tm="100000">
                                          <p:val>
                                            <p:strVal val="#ppt_x"/>
                                          </p:val>
                                        </p:tav>
                                      </p:tavLst>
                                    </p:anim>
                                    <p:anim calcmode="lin" valueType="num">
                                      <p:cBhvr additive="base">
                                        <p:cTn id="20" dur="500" fill="hold"/>
                                        <p:tgtEl>
                                          <p:spTgt spid="2048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0487"/>
                                        </p:tgtEl>
                                        <p:attrNameLst>
                                          <p:attrName>style.visibility</p:attrName>
                                        </p:attrNameLst>
                                      </p:cBhvr>
                                      <p:to>
                                        <p:strVal val="visible"/>
                                      </p:to>
                                    </p:set>
                                    <p:anim calcmode="lin" valueType="num">
                                      <p:cBhvr additive="base">
                                        <p:cTn id="25" dur="500" fill="hold"/>
                                        <p:tgtEl>
                                          <p:spTgt spid="20487"/>
                                        </p:tgtEl>
                                        <p:attrNameLst>
                                          <p:attrName>ppt_x</p:attrName>
                                        </p:attrNameLst>
                                      </p:cBhvr>
                                      <p:tavLst>
                                        <p:tav tm="0">
                                          <p:val>
                                            <p:strVal val="#ppt_x"/>
                                          </p:val>
                                        </p:tav>
                                        <p:tav tm="100000">
                                          <p:val>
                                            <p:strVal val="#ppt_x"/>
                                          </p:val>
                                        </p:tav>
                                      </p:tavLst>
                                    </p:anim>
                                    <p:anim calcmode="lin" valueType="num">
                                      <p:cBhvr additive="base">
                                        <p:cTn id="26" dur="500" fill="hold"/>
                                        <p:tgtEl>
                                          <p:spTgt spid="204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autoUpdateAnimBg="0"/>
      <p:bldP spid="20485" grpId="0" autoUpdateAnimBg="0"/>
      <p:bldP spid="20486" grpId="0" autoUpdateAnimBg="0"/>
      <p:bldP spid="20487"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zh-CN" sz="3000"/>
              <a:t>6.9 </a:t>
            </a:r>
            <a:r>
              <a:rPr lang="zh-CN" altLang="en-US" sz="3000"/>
              <a:t>批处理作业调度问题</a:t>
            </a:r>
            <a:endParaRPr lang="zh-CN" altLang="en-US" sz="3000"/>
          </a:p>
        </p:txBody>
      </p:sp>
      <p:sp>
        <p:nvSpPr>
          <p:cNvPr id="21508" name="Text Box 4"/>
          <p:cNvSpPr txBox="1">
            <a:spLocks noChangeArrowheads="1"/>
          </p:cNvSpPr>
          <p:nvPr/>
        </p:nvSpPr>
        <p:spPr bwMode="auto">
          <a:xfrm>
            <a:off x="609600" y="2743200"/>
            <a:ext cx="3810000" cy="270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lnSpc>
                <a:spcPct val="150000"/>
              </a:lnSpc>
            </a:pPr>
            <a:r>
              <a:rPr lang="en-US" altLang="zh-CN">
                <a:solidFill>
                  <a:srgbClr val="0000FF"/>
                </a:solidFill>
                <a:latin typeface="Times New Roman" panose="02020603050405020304" pitchFamily="18" charset="0"/>
                <a:cs typeface="Times New Roman" panose="02020603050405020304" pitchFamily="18" charset="0"/>
              </a:rPr>
              <a:t>     </a:t>
            </a:r>
            <a:r>
              <a:rPr kumimoji="1" lang="en-US" altLang="zh-CN" sz="1600"/>
              <a:t>while (E.s &lt;= n ) {</a:t>
            </a:r>
            <a:endParaRPr kumimoji="1" lang="en-US" altLang="zh-CN" sz="1600"/>
          </a:p>
          <a:p>
            <a:pPr eaLnBrk="1" hangingPunct="1">
              <a:lnSpc>
                <a:spcPct val="150000"/>
              </a:lnSpc>
            </a:pPr>
            <a:r>
              <a:rPr kumimoji="1" lang="en-US" altLang="zh-CN" sz="1600"/>
              <a:t>      if (E.s == n ) {// </a:t>
            </a:r>
            <a:r>
              <a:rPr kumimoji="1" lang="zh-CN" altLang="en-US" sz="1600"/>
              <a:t>叶结点</a:t>
            </a:r>
            <a:endParaRPr kumimoji="1" lang="zh-CN" altLang="en-US" sz="1600"/>
          </a:p>
          <a:p>
            <a:pPr eaLnBrk="1" hangingPunct="1">
              <a:lnSpc>
                <a:spcPct val="150000"/>
              </a:lnSpc>
            </a:pPr>
            <a:r>
              <a:rPr kumimoji="1" lang="zh-CN" altLang="en-US" sz="1600"/>
              <a:t>         </a:t>
            </a:r>
            <a:r>
              <a:rPr kumimoji="1" lang="en-US" altLang="zh-CN" sz="1600"/>
              <a:t>if (E.sf2 &lt; bestc) {</a:t>
            </a:r>
            <a:endParaRPr kumimoji="1" lang="en-US" altLang="zh-CN" sz="1600"/>
          </a:p>
          <a:p>
            <a:pPr eaLnBrk="1" hangingPunct="1">
              <a:lnSpc>
                <a:spcPct val="150000"/>
              </a:lnSpc>
            </a:pPr>
            <a:r>
              <a:rPr kumimoji="1" lang="en-US" altLang="zh-CN" sz="1600"/>
              <a:t>           bestc = E.sf2;</a:t>
            </a:r>
            <a:endParaRPr kumimoji="1" lang="en-US" altLang="zh-CN" sz="1600"/>
          </a:p>
          <a:p>
            <a:pPr eaLnBrk="1" hangingPunct="1">
              <a:lnSpc>
                <a:spcPct val="150000"/>
              </a:lnSpc>
            </a:pPr>
            <a:r>
              <a:rPr kumimoji="1" lang="en-US" altLang="zh-CN" sz="1600"/>
              <a:t>           for (int i = 0; i &lt; n; i++)</a:t>
            </a:r>
            <a:endParaRPr kumimoji="1" lang="en-US" altLang="zh-CN" sz="1600"/>
          </a:p>
          <a:p>
            <a:pPr eaLnBrk="1" hangingPunct="1">
              <a:lnSpc>
                <a:spcPct val="150000"/>
              </a:lnSpc>
            </a:pPr>
            <a:r>
              <a:rPr kumimoji="1" lang="en-US" altLang="zh-CN" sz="1600"/>
              <a:t>             bestx[i] = E.x[i];}</a:t>
            </a:r>
            <a:endParaRPr kumimoji="1" lang="en-US" altLang="zh-CN" sz="1600"/>
          </a:p>
          <a:p>
            <a:pPr eaLnBrk="1" hangingPunct="1">
              <a:lnSpc>
                <a:spcPct val="150000"/>
              </a:lnSpc>
            </a:pPr>
            <a:r>
              <a:rPr kumimoji="1" lang="en-US" altLang="zh-CN" sz="1600"/>
              <a:t>         delete [] E.x;}</a:t>
            </a:r>
            <a:endParaRPr lang="en-US" altLang="zh-CN" sz="1600">
              <a:solidFill>
                <a:srgbClr val="0000FF"/>
              </a:solidFill>
              <a:latin typeface="Times New Roman" panose="02020603050405020304" pitchFamily="18" charset="0"/>
              <a:cs typeface="Times New Roman" panose="02020603050405020304" pitchFamily="18" charset="0"/>
            </a:endParaRPr>
          </a:p>
        </p:txBody>
      </p:sp>
      <p:sp>
        <p:nvSpPr>
          <p:cNvPr id="21509" name="Text Box 5"/>
          <p:cNvSpPr txBox="1">
            <a:spLocks noChangeArrowheads="1"/>
          </p:cNvSpPr>
          <p:nvPr/>
        </p:nvSpPr>
        <p:spPr bwMode="auto">
          <a:xfrm>
            <a:off x="304800" y="1828800"/>
            <a:ext cx="5943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a:solidFill>
                  <a:schemeClr val="accent2"/>
                </a:solidFill>
                <a:latin typeface="Times New Roman" panose="02020603050405020304" pitchFamily="18" charset="0"/>
                <a:ea typeface="黑体" panose="02010609060101010101" pitchFamily="2" charset="-122"/>
              </a:rPr>
              <a:t>3. </a:t>
            </a:r>
            <a:r>
              <a:rPr kumimoji="1" lang="zh-CN" altLang="en-US" sz="3200">
                <a:solidFill>
                  <a:schemeClr val="accent2"/>
                </a:solidFill>
                <a:latin typeface="Times New Roman" panose="02020603050405020304" pitchFamily="18" charset="0"/>
                <a:ea typeface="黑体" panose="02010609060101010101" pitchFamily="2" charset="-122"/>
              </a:rPr>
              <a:t>算法描述</a:t>
            </a:r>
            <a:endParaRPr lang="zh-CN" altLang="en-US">
              <a:solidFill>
                <a:schemeClr val="accent2"/>
              </a:solidFill>
              <a:ea typeface="华文行楷" panose="02010800040101010101" pitchFamily="2" charset="-122"/>
            </a:endParaRPr>
          </a:p>
        </p:txBody>
      </p:sp>
      <p:sp>
        <p:nvSpPr>
          <p:cNvPr id="21510" name="AutoShape 6"/>
          <p:cNvSpPr>
            <a:spLocks noChangeArrowheads="1"/>
          </p:cNvSpPr>
          <p:nvPr/>
        </p:nvSpPr>
        <p:spPr bwMode="auto">
          <a:xfrm>
            <a:off x="5181600" y="2819400"/>
            <a:ext cx="3048000" cy="1066800"/>
          </a:xfrm>
          <a:prstGeom prst="wedgeRoundRectCallout">
            <a:avLst>
              <a:gd name="adj1" fmla="val -80731"/>
              <a:gd name="adj2" fmla="val 121727"/>
              <a:gd name="adj3" fmla="val 16667"/>
            </a:avLst>
          </a:prstGeom>
          <a:solidFill>
            <a:schemeClr val="hlink"/>
          </a:solidFill>
          <a:ln w="6350">
            <a:solidFill>
              <a:schemeClr val="hlink"/>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lstStyle/>
          <a:p>
            <a:pPr algn="ctr" eaLnBrk="1" hangingPunct="1"/>
            <a:r>
              <a:rPr lang="en-US" altLang="zh-CN" sz="2000" b="1">
                <a:solidFill>
                  <a:srgbClr val="990000"/>
                </a:solidFill>
                <a:latin typeface="新宋体" panose="02010609030101010101" charset="-122"/>
                <a:ea typeface="新宋体" panose="02010609030101010101" charset="-122"/>
              </a:rPr>
              <a:t> </a:t>
            </a:r>
            <a:r>
              <a:rPr lang="zh-CN" altLang="en-US" sz="2000" b="1">
                <a:solidFill>
                  <a:srgbClr val="990000"/>
                </a:solidFill>
                <a:latin typeface="新宋体" panose="02010609030101010101" charset="-122"/>
                <a:ea typeface="新宋体" panose="02010609030101010101" charset="-122"/>
              </a:rPr>
              <a:t>当</a:t>
            </a:r>
            <a:r>
              <a:rPr lang="en-US" altLang="zh-CN" sz="2000" b="1">
                <a:solidFill>
                  <a:srgbClr val="990000"/>
                </a:solidFill>
                <a:latin typeface="新宋体" panose="02010609030101010101" charset="-122"/>
                <a:ea typeface="新宋体" panose="02010609030101010101" charset="-122"/>
              </a:rPr>
              <a:t>E.sf2&lt;bestc</a:t>
            </a:r>
            <a:r>
              <a:rPr lang="zh-CN" altLang="en-US" sz="2000" b="1">
                <a:solidFill>
                  <a:srgbClr val="990000"/>
                </a:solidFill>
                <a:latin typeface="新宋体" panose="02010609030101010101" charset="-122"/>
                <a:ea typeface="新宋体" panose="02010609030101010101" charset="-122"/>
              </a:rPr>
              <a:t>时，更新当前最优值</a:t>
            </a:r>
            <a:r>
              <a:rPr lang="en-US" altLang="zh-CN" sz="2000" b="1">
                <a:solidFill>
                  <a:srgbClr val="990000"/>
                </a:solidFill>
                <a:latin typeface="新宋体" panose="02010609030101010101" charset="-122"/>
                <a:ea typeface="新宋体" panose="02010609030101010101" charset="-122"/>
              </a:rPr>
              <a:t>bestc</a:t>
            </a:r>
            <a:r>
              <a:rPr lang="zh-CN" altLang="en-US" sz="2000" b="1">
                <a:solidFill>
                  <a:srgbClr val="990000"/>
                </a:solidFill>
                <a:latin typeface="新宋体" panose="02010609030101010101" charset="-122"/>
                <a:ea typeface="新宋体" panose="02010609030101010101" charset="-122"/>
              </a:rPr>
              <a:t>和相应的最优解</a:t>
            </a:r>
            <a:r>
              <a:rPr lang="en-US" altLang="zh-CN" sz="2000" b="1">
                <a:solidFill>
                  <a:srgbClr val="990000"/>
                </a:solidFill>
                <a:latin typeface="新宋体" panose="02010609030101010101" charset="-122"/>
                <a:ea typeface="新宋体" panose="02010609030101010101" charset="-122"/>
              </a:rPr>
              <a:t>bestx</a:t>
            </a:r>
            <a:endParaRPr lang="en-US" altLang="zh-CN" sz="2000" b="1">
              <a:solidFill>
                <a:srgbClr val="990000"/>
              </a:solidFill>
              <a:latin typeface="新宋体" panose="02010609030101010101" charset="-122"/>
              <a:ea typeface="新宋体" panose="02010609030101010101" charset="-122"/>
            </a:endParaRPr>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1509"/>
                                        </p:tgtEl>
                                        <p:attrNameLst>
                                          <p:attrName>style.visibility</p:attrName>
                                        </p:attrNameLst>
                                      </p:cBhvr>
                                      <p:to>
                                        <p:strVal val="visible"/>
                                      </p:to>
                                    </p:set>
                                    <p:anim calcmode="lin" valueType="num">
                                      <p:cBhvr additive="base">
                                        <p:cTn id="7" dur="500" fill="hold"/>
                                        <p:tgtEl>
                                          <p:spTgt spid="21509"/>
                                        </p:tgtEl>
                                        <p:attrNameLst>
                                          <p:attrName>ppt_x</p:attrName>
                                        </p:attrNameLst>
                                      </p:cBhvr>
                                      <p:tavLst>
                                        <p:tav tm="0">
                                          <p:val>
                                            <p:strVal val="1+#ppt_w/2"/>
                                          </p:val>
                                        </p:tav>
                                        <p:tav tm="100000">
                                          <p:val>
                                            <p:strVal val="#ppt_x"/>
                                          </p:val>
                                        </p:tav>
                                      </p:tavLst>
                                    </p:anim>
                                    <p:anim calcmode="lin" valueType="num">
                                      <p:cBhvr additive="base">
                                        <p:cTn id="8" dur="500" fill="hold"/>
                                        <p:tgtEl>
                                          <p:spTgt spid="2150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21508"/>
                                        </p:tgtEl>
                                        <p:attrNameLst>
                                          <p:attrName>style.visibility</p:attrName>
                                        </p:attrNameLst>
                                      </p:cBhvr>
                                      <p:to>
                                        <p:strVal val="visible"/>
                                      </p:to>
                                    </p:set>
                                    <p:animEffect transition="in" filter="box(in)">
                                      <p:cBhvr>
                                        <p:cTn id="13" dur="500"/>
                                        <p:tgtEl>
                                          <p:spTgt spid="2150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3" fill="hold" grpId="0" nodeType="clickEffect">
                                  <p:stCondLst>
                                    <p:cond delay="0"/>
                                  </p:stCondLst>
                                  <p:childTnLst>
                                    <p:set>
                                      <p:cBhvr>
                                        <p:cTn id="17" dur="1" fill="hold">
                                          <p:stCondLst>
                                            <p:cond delay="0"/>
                                          </p:stCondLst>
                                        </p:cTn>
                                        <p:tgtEl>
                                          <p:spTgt spid="21510"/>
                                        </p:tgtEl>
                                        <p:attrNameLst>
                                          <p:attrName>style.visibility</p:attrName>
                                        </p:attrNameLst>
                                      </p:cBhvr>
                                      <p:to>
                                        <p:strVal val="visible"/>
                                      </p:to>
                                    </p:set>
                                    <p:anim calcmode="lin" valueType="num">
                                      <p:cBhvr additive="base">
                                        <p:cTn id="18" dur="500" fill="hold"/>
                                        <p:tgtEl>
                                          <p:spTgt spid="21510"/>
                                        </p:tgtEl>
                                        <p:attrNameLst>
                                          <p:attrName>ppt_x</p:attrName>
                                        </p:attrNameLst>
                                      </p:cBhvr>
                                      <p:tavLst>
                                        <p:tav tm="0">
                                          <p:val>
                                            <p:strVal val="1+#ppt_w/2"/>
                                          </p:val>
                                        </p:tav>
                                        <p:tav tm="100000">
                                          <p:val>
                                            <p:strVal val="#ppt_x"/>
                                          </p:val>
                                        </p:tav>
                                      </p:tavLst>
                                    </p:anim>
                                    <p:anim calcmode="lin" valueType="num">
                                      <p:cBhvr additive="base">
                                        <p:cTn id="19" dur="500" fill="hold"/>
                                        <p:tgtEl>
                                          <p:spTgt spid="215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autoUpdateAnimBg="0"/>
      <p:bldP spid="21509" grpId="0" autoUpdateAnimBg="0"/>
      <p:bldP spid="21510" grpId="0" animBg="1"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zh-CN" sz="3000"/>
              <a:t>6.9 </a:t>
            </a:r>
            <a:r>
              <a:rPr lang="zh-CN" altLang="en-US" sz="3000"/>
              <a:t>批处理作业调度问题</a:t>
            </a:r>
            <a:endParaRPr lang="zh-CN" altLang="en-US" sz="3000"/>
          </a:p>
        </p:txBody>
      </p:sp>
      <p:sp>
        <p:nvSpPr>
          <p:cNvPr id="22532" name="Text Box 4"/>
          <p:cNvSpPr txBox="1">
            <a:spLocks noChangeArrowheads="1"/>
          </p:cNvSpPr>
          <p:nvPr/>
        </p:nvSpPr>
        <p:spPr bwMode="auto">
          <a:xfrm>
            <a:off x="304800" y="1828800"/>
            <a:ext cx="5943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spcBef>
                <a:spcPct val="50000"/>
              </a:spcBef>
            </a:pPr>
            <a:r>
              <a:rPr kumimoji="1" lang="en-US" altLang="zh-CN" sz="3200">
                <a:solidFill>
                  <a:schemeClr val="accent2"/>
                </a:solidFill>
                <a:latin typeface="Times New Roman" panose="02020603050405020304" pitchFamily="18" charset="0"/>
                <a:ea typeface="黑体" panose="02010609060101010101" pitchFamily="2" charset="-122"/>
              </a:rPr>
              <a:t>3. </a:t>
            </a:r>
            <a:r>
              <a:rPr kumimoji="1" lang="zh-CN" altLang="en-US" sz="3200">
                <a:solidFill>
                  <a:schemeClr val="accent2"/>
                </a:solidFill>
                <a:latin typeface="Times New Roman" panose="02020603050405020304" pitchFamily="18" charset="0"/>
                <a:ea typeface="黑体" panose="02010609060101010101" pitchFamily="2" charset="-122"/>
              </a:rPr>
              <a:t>算法描述</a:t>
            </a:r>
            <a:endParaRPr lang="zh-CN" altLang="en-US">
              <a:solidFill>
                <a:schemeClr val="accent2"/>
              </a:solidFill>
              <a:ea typeface="华文行楷" panose="02010800040101010101" pitchFamily="2" charset="-122"/>
            </a:endParaRPr>
          </a:p>
        </p:txBody>
      </p:sp>
      <p:sp>
        <p:nvSpPr>
          <p:cNvPr id="22533" name="Text Box 5"/>
          <p:cNvSpPr txBox="1">
            <a:spLocks noChangeArrowheads="1"/>
          </p:cNvSpPr>
          <p:nvPr/>
        </p:nvSpPr>
        <p:spPr bwMode="auto">
          <a:xfrm>
            <a:off x="762000" y="2438400"/>
            <a:ext cx="6324600" cy="390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a:spAutoFit/>
          </a:bodyPr>
          <a:lstStyle/>
          <a:p>
            <a:pPr eaLnBrk="1" hangingPunct="1">
              <a:lnSpc>
                <a:spcPct val="130000"/>
              </a:lnSpc>
            </a:pPr>
            <a:r>
              <a:rPr kumimoji="1" lang="en-US" altLang="zh-CN" sz="1600"/>
              <a:t>else {// </a:t>
            </a:r>
            <a:r>
              <a:rPr kumimoji="1" lang="zh-CN" altLang="en-US" sz="1600"/>
              <a:t>产生当前扩展结点的儿子结点</a:t>
            </a:r>
            <a:endParaRPr kumimoji="1" lang="zh-CN" altLang="en-US" sz="1600"/>
          </a:p>
          <a:p>
            <a:pPr eaLnBrk="1" hangingPunct="1">
              <a:lnSpc>
                <a:spcPct val="130000"/>
              </a:lnSpc>
            </a:pPr>
            <a:r>
              <a:rPr kumimoji="1" lang="zh-CN" altLang="en-US" sz="1600"/>
              <a:t>         </a:t>
            </a:r>
            <a:r>
              <a:rPr kumimoji="1" lang="en-US" altLang="zh-CN" sz="1600"/>
              <a:t>for (int i = E.s; i &lt; n; i++) {</a:t>
            </a:r>
            <a:endParaRPr kumimoji="1" lang="en-US" altLang="zh-CN" sz="1600"/>
          </a:p>
          <a:p>
            <a:pPr eaLnBrk="1" hangingPunct="1">
              <a:lnSpc>
                <a:spcPct val="130000"/>
              </a:lnSpc>
            </a:pPr>
            <a:r>
              <a:rPr kumimoji="1" lang="en-US" altLang="zh-CN" sz="1600"/>
              <a:t>               Swap(E.x[E.s],E.x[i]);</a:t>
            </a:r>
            <a:endParaRPr kumimoji="1" lang="en-US" altLang="zh-CN" sz="1600"/>
          </a:p>
          <a:p>
            <a:pPr eaLnBrk="1" hangingPunct="1">
              <a:lnSpc>
                <a:spcPct val="130000"/>
              </a:lnSpc>
            </a:pPr>
            <a:r>
              <a:rPr kumimoji="1" lang="en-US" altLang="zh-CN" sz="1600"/>
              <a:t>               int f1,f2;</a:t>
            </a:r>
            <a:endParaRPr kumimoji="1" lang="en-US" altLang="zh-CN" sz="1600"/>
          </a:p>
          <a:p>
            <a:pPr eaLnBrk="1" hangingPunct="1">
              <a:lnSpc>
                <a:spcPct val="130000"/>
              </a:lnSpc>
            </a:pPr>
            <a:r>
              <a:rPr kumimoji="1" lang="en-US" altLang="zh-CN" sz="1600"/>
              <a:t>               int bb=Bound(E,f1,f2,y);</a:t>
            </a:r>
            <a:endParaRPr kumimoji="1" lang="en-US" altLang="zh-CN" sz="1600"/>
          </a:p>
          <a:p>
            <a:pPr eaLnBrk="1" hangingPunct="1">
              <a:lnSpc>
                <a:spcPct val="130000"/>
              </a:lnSpc>
            </a:pPr>
            <a:r>
              <a:rPr kumimoji="1" lang="en-US" altLang="zh-CN" sz="1600"/>
              <a:t>               if (bb &lt; bestc ) {</a:t>
            </a:r>
            <a:endParaRPr kumimoji="1" lang="en-US" altLang="zh-CN" sz="1600"/>
          </a:p>
          <a:p>
            <a:pPr eaLnBrk="1" hangingPunct="1">
              <a:lnSpc>
                <a:spcPct val="130000"/>
              </a:lnSpc>
            </a:pPr>
            <a:r>
              <a:rPr kumimoji="1" lang="en-US" altLang="zh-CN" sz="1600"/>
              <a:t>                   MinHeapNode N;</a:t>
            </a:r>
            <a:endParaRPr kumimoji="1" lang="en-US" altLang="zh-CN" sz="1600"/>
          </a:p>
          <a:p>
            <a:pPr eaLnBrk="1" hangingPunct="1">
              <a:lnSpc>
                <a:spcPct val="130000"/>
              </a:lnSpc>
            </a:pPr>
            <a:r>
              <a:rPr kumimoji="1" lang="en-US" altLang="zh-CN" sz="1600"/>
              <a:t>                   N.NewNode(E,f1,f2,bb,n);</a:t>
            </a:r>
            <a:endParaRPr kumimoji="1" lang="en-US" altLang="zh-CN" sz="1600"/>
          </a:p>
          <a:p>
            <a:pPr eaLnBrk="1" hangingPunct="1">
              <a:lnSpc>
                <a:spcPct val="130000"/>
              </a:lnSpc>
            </a:pPr>
            <a:r>
              <a:rPr kumimoji="1" lang="en-US" altLang="zh-CN" sz="1600"/>
              <a:t>                   H.Insert(N);}</a:t>
            </a:r>
            <a:endParaRPr kumimoji="1" lang="en-US" altLang="zh-CN" sz="1600"/>
          </a:p>
          <a:p>
            <a:pPr eaLnBrk="1" hangingPunct="1">
              <a:lnSpc>
                <a:spcPct val="130000"/>
              </a:lnSpc>
            </a:pPr>
            <a:r>
              <a:rPr kumimoji="1" lang="en-US" altLang="zh-CN" sz="1600"/>
              <a:t>               Swap(E.x[E.s],E.x[i]);</a:t>
            </a:r>
            <a:endParaRPr kumimoji="1" lang="en-US" altLang="zh-CN" sz="1600"/>
          </a:p>
          <a:p>
            <a:pPr eaLnBrk="1" hangingPunct="1">
              <a:lnSpc>
                <a:spcPct val="130000"/>
              </a:lnSpc>
            </a:pPr>
            <a:r>
              <a:rPr kumimoji="1" lang="en-US" altLang="zh-CN" sz="1600"/>
              <a:t>               }</a:t>
            </a:r>
            <a:endParaRPr kumimoji="1" lang="en-US" altLang="zh-CN" sz="1600"/>
          </a:p>
          <a:p>
            <a:pPr eaLnBrk="1" hangingPunct="1">
              <a:lnSpc>
                <a:spcPct val="130000"/>
              </a:lnSpc>
            </a:pPr>
            <a:r>
              <a:rPr kumimoji="1" lang="en-US" altLang="zh-CN" sz="1600"/>
              <a:t>         delete [] E.x;}  // </a:t>
            </a:r>
            <a:r>
              <a:rPr kumimoji="1" lang="zh-CN" altLang="en-US" sz="1600"/>
              <a:t>完成结点扩展</a:t>
            </a:r>
            <a:endParaRPr kumimoji="1" lang="zh-CN" altLang="en-US" sz="1600"/>
          </a:p>
        </p:txBody>
      </p:sp>
      <p:sp>
        <p:nvSpPr>
          <p:cNvPr id="22534" name="AutoShape 6"/>
          <p:cNvSpPr>
            <a:spLocks noChangeArrowheads="1"/>
          </p:cNvSpPr>
          <p:nvPr/>
        </p:nvSpPr>
        <p:spPr bwMode="auto">
          <a:xfrm>
            <a:off x="4572000" y="2217738"/>
            <a:ext cx="2819400" cy="1066800"/>
          </a:xfrm>
          <a:prstGeom prst="wedgeRoundRectCallout">
            <a:avLst>
              <a:gd name="adj1" fmla="val -92060"/>
              <a:gd name="adj2" fmla="val 142708"/>
              <a:gd name="adj3" fmla="val 16667"/>
            </a:avLst>
          </a:prstGeom>
          <a:solidFill>
            <a:schemeClr val="hlink"/>
          </a:solidFill>
          <a:ln w="6350">
            <a:solidFill>
              <a:schemeClr val="hlink"/>
            </a:solidFill>
            <a:miter lim="800000"/>
          </a:ln>
          <a:effectLst/>
          <a:extLst>
            <a:ext uri="{AF507438-7753-43E0-B8FC-AC1667EBCBE1}">
              <a14:hiddenEffects xmlns:a14="http://schemas.microsoft.com/office/drawing/2010/main">
                <a:effectLst>
                  <a:outerShdw dist="107763" dir="18900000" algn="ctr" rotWithShape="0">
                    <a:schemeClr val="bg2"/>
                  </a:outerShdw>
                </a:effectLst>
              </a14:hiddenEffects>
            </a:ext>
          </a:extLst>
        </p:spPr>
        <p:txBody>
          <a:bodyPr anchor="ctr"/>
          <a:lstStyle/>
          <a:p>
            <a:pPr algn="ctr" eaLnBrk="1" hangingPunct="1"/>
            <a:r>
              <a:rPr lang="zh-CN" altLang="en-US" sz="2000" b="1">
                <a:solidFill>
                  <a:srgbClr val="990000"/>
                </a:solidFill>
                <a:latin typeface="新宋体" panose="02010609030101010101" charset="-122"/>
                <a:ea typeface="新宋体" panose="02010609030101010101" charset="-122"/>
              </a:rPr>
              <a:t>当</a:t>
            </a:r>
            <a:r>
              <a:rPr lang="en-US" altLang="zh-CN" sz="2000" b="1">
                <a:solidFill>
                  <a:srgbClr val="990000"/>
                </a:solidFill>
                <a:latin typeface="新宋体" panose="02010609030101010101" charset="-122"/>
                <a:ea typeface="新宋体" panose="02010609030101010101" charset="-122"/>
              </a:rPr>
              <a:t>bb&lt;bestc</a:t>
            </a:r>
            <a:r>
              <a:rPr lang="zh-CN" altLang="en-US" sz="2000" b="1">
                <a:solidFill>
                  <a:srgbClr val="990000"/>
                </a:solidFill>
                <a:latin typeface="新宋体" panose="02010609030101010101" charset="-122"/>
                <a:ea typeface="新宋体" panose="02010609030101010101" charset="-122"/>
              </a:rPr>
              <a:t>时，将儿子结点插入到活结点优先队列中</a:t>
            </a:r>
            <a:endParaRPr lang="zh-CN" altLang="en-US" sz="2000" b="1">
              <a:solidFill>
                <a:srgbClr val="990000"/>
              </a:solidFill>
              <a:latin typeface="新宋体" panose="02010609030101010101" charset="-122"/>
              <a:ea typeface="新宋体" panose="02010609030101010101" charset="-122"/>
            </a:endParaRPr>
          </a:p>
        </p:txBody>
      </p:sp>
    </p:spTree>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2532"/>
                                        </p:tgtEl>
                                        <p:attrNameLst>
                                          <p:attrName>style.visibility</p:attrName>
                                        </p:attrNameLst>
                                      </p:cBhvr>
                                      <p:to>
                                        <p:strVal val="visible"/>
                                      </p:to>
                                    </p:set>
                                    <p:anim calcmode="lin" valueType="num">
                                      <p:cBhvr additive="base">
                                        <p:cTn id="7" dur="500" fill="hold"/>
                                        <p:tgtEl>
                                          <p:spTgt spid="22532"/>
                                        </p:tgtEl>
                                        <p:attrNameLst>
                                          <p:attrName>ppt_x</p:attrName>
                                        </p:attrNameLst>
                                      </p:cBhvr>
                                      <p:tavLst>
                                        <p:tav tm="0">
                                          <p:val>
                                            <p:strVal val="1+#ppt_w/2"/>
                                          </p:val>
                                        </p:tav>
                                        <p:tav tm="100000">
                                          <p:val>
                                            <p:strVal val="#ppt_x"/>
                                          </p:val>
                                        </p:tav>
                                      </p:tavLst>
                                    </p:anim>
                                    <p:anim calcmode="lin" valueType="num">
                                      <p:cBhvr additive="base">
                                        <p:cTn id="8" dur="500" fill="hold"/>
                                        <p:tgtEl>
                                          <p:spTgt spid="2253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2533"/>
                                        </p:tgtEl>
                                        <p:attrNameLst>
                                          <p:attrName>style.visibility</p:attrName>
                                        </p:attrNameLst>
                                      </p:cBhvr>
                                      <p:to>
                                        <p:strVal val="visible"/>
                                      </p:to>
                                    </p:set>
                                    <p:animEffect transition="in" filter="blinds(horizontal)">
                                      <p:cBhvr>
                                        <p:cTn id="13" dur="500"/>
                                        <p:tgtEl>
                                          <p:spTgt spid="2253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22534"/>
                                        </p:tgtEl>
                                        <p:attrNameLst>
                                          <p:attrName>style.visibility</p:attrName>
                                        </p:attrNameLst>
                                      </p:cBhvr>
                                      <p:to>
                                        <p:strVal val="visible"/>
                                      </p:to>
                                    </p:set>
                                    <p:anim calcmode="lin" valueType="num">
                                      <p:cBhvr additive="base">
                                        <p:cTn id="18" dur="500" fill="hold"/>
                                        <p:tgtEl>
                                          <p:spTgt spid="22534"/>
                                        </p:tgtEl>
                                        <p:attrNameLst>
                                          <p:attrName>ppt_x</p:attrName>
                                        </p:attrNameLst>
                                      </p:cBhvr>
                                      <p:tavLst>
                                        <p:tav tm="0">
                                          <p:val>
                                            <p:strVal val="1+#ppt_w/2"/>
                                          </p:val>
                                        </p:tav>
                                        <p:tav tm="100000">
                                          <p:val>
                                            <p:strVal val="#ppt_x"/>
                                          </p:val>
                                        </p:tav>
                                      </p:tavLst>
                                    </p:anim>
                                    <p:anim calcmode="lin" valueType="num">
                                      <p:cBhvr additive="base">
                                        <p:cTn id="19" dur="500" fill="hold"/>
                                        <p:tgtEl>
                                          <p:spTgt spid="225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autoUpdateAnimBg="0"/>
      <p:bldP spid="22533" grpId="0" autoUpdateAnimBg="0"/>
      <p:bldP spid="22534" grpId="0" animBg="1"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2A5EFDE-B952-47CB-8E4C-486623C40467}" type="slidenum">
              <a:rPr lang="en-US" altLang="zh-CN"/>
            </a:fld>
            <a:endParaRPr lang="en-US" altLang="zh-CN"/>
          </a:p>
        </p:txBody>
      </p:sp>
      <p:sp>
        <p:nvSpPr>
          <p:cNvPr id="20483" name="Rectangle 2"/>
          <p:cNvSpPr>
            <a:spLocks noGrp="1" noChangeArrowheads="1"/>
          </p:cNvSpPr>
          <p:nvPr>
            <p:ph type="title"/>
          </p:nvPr>
        </p:nvSpPr>
        <p:spPr/>
        <p:txBody>
          <a:bodyPr/>
          <a:lstStyle/>
          <a:p>
            <a:pPr eaLnBrk="1" hangingPunct="1"/>
            <a:r>
              <a:rPr lang="zh-CN" altLang="en-US" smtClean="0"/>
              <a:t>分组实验：</a:t>
            </a:r>
            <a:endParaRPr lang="zh-CN" altLang="en-US" smtClean="0"/>
          </a:p>
        </p:txBody>
      </p:sp>
      <p:sp>
        <p:nvSpPr>
          <p:cNvPr id="20484" name="Rectangle 3"/>
          <p:cNvSpPr>
            <a:spLocks noGrp="1" noChangeArrowheads="1"/>
          </p:cNvSpPr>
          <p:nvPr>
            <p:ph type="body" idx="1"/>
          </p:nvPr>
        </p:nvSpPr>
        <p:spPr/>
        <p:txBody>
          <a:bodyPr/>
          <a:lstStyle/>
          <a:p>
            <a:pPr eaLnBrk="1" hangingPunct="1"/>
            <a:r>
              <a:rPr lang="en-US" altLang="zh-CN" dirty="0" smtClean="0"/>
              <a:t>2</a:t>
            </a:r>
            <a:r>
              <a:rPr lang="zh-CN" altLang="en-US" dirty="0" smtClean="0"/>
              <a:t>人一组，分别完成</a:t>
            </a:r>
            <a:r>
              <a:rPr lang="en-US" altLang="zh-CN" dirty="0" smtClean="0"/>
              <a:t>2</a:t>
            </a:r>
            <a:r>
              <a:rPr lang="zh-CN" altLang="en-US" dirty="0" smtClean="0"/>
              <a:t>组题目。</a:t>
            </a:r>
            <a:endParaRPr lang="zh-CN" altLang="en-US" dirty="0" smtClean="0"/>
          </a:p>
          <a:p>
            <a:pPr eaLnBrk="1" hangingPunct="1"/>
            <a:r>
              <a:rPr lang="zh-CN" altLang="en-US" dirty="0" smtClean="0"/>
              <a:t>第一组题目完成任意一题</a:t>
            </a:r>
            <a:endParaRPr lang="zh-CN" altLang="en-US" dirty="0" smtClean="0"/>
          </a:p>
          <a:p>
            <a:pPr eaLnBrk="1" hangingPunct="1"/>
            <a:r>
              <a:rPr lang="zh-CN" altLang="en-US" dirty="0" smtClean="0"/>
              <a:t>第二组题目完成任意一题</a:t>
            </a:r>
            <a:endParaRPr lang="zh-CN" altLang="en-US" dirty="0" smtClean="0"/>
          </a:p>
          <a:p>
            <a:pPr eaLnBrk="1" hangingPunct="1"/>
            <a:r>
              <a:rPr lang="zh-CN" altLang="en-US" dirty="0" smtClean="0"/>
              <a:t>并且完成书面实验报告。</a:t>
            </a:r>
            <a:endParaRPr lang="zh-CN" altLang="en-US" dirty="0" smtClean="0"/>
          </a:p>
          <a:p>
            <a:pPr eaLnBrk="1" hangingPunct="1"/>
            <a:r>
              <a:rPr lang="zh-CN" altLang="en-US" dirty="0" smtClean="0"/>
              <a:t>时间截止</a:t>
            </a:r>
            <a:endParaRPr lang="zh-CN" altLang="en-US" dirty="0" smtClean="0"/>
          </a:p>
          <a:p>
            <a:pPr eaLnBrk="1" hangingPunct="1"/>
            <a:r>
              <a:rPr lang="zh-CN" altLang="en-US" dirty="0" smtClean="0"/>
              <a:t>书面报告：</a:t>
            </a:r>
            <a:r>
              <a:rPr lang="en-US" altLang="zh-CN" dirty="0" smtClean="0"/>
              <a:t>2015</a:t>
            </a:r>
            <a:r>
              <a:rPr lang="zh-CN" altLang="en-US" dirty="0" smtClean="0"/>
              <a:t>年</a:t>
            </a:r>
            <a:r>
              <a:rPr lang="en-US" altLang="zh-CN" dirty="0" smtClean="0"/>
              <a:t>12</a:t>
            </a:r>
            <a:r>
              <a:rPr lang="zh-CN" altLang="en-US" dirty="0" smtClean="0"/>
              <a:t>月</a:t>
            </a:r>
            <a:r>
              <a:rPr lang="en-US" altLang="zh-CN" dirty="0" smtClean="0"/>
              <a:t>30</a:t>
            </a:r>
            <a:r>
              <a:rPr lang="zh-CN" altLang="en-US" dirty="0" smtClean="0"/>
              <a:t>日下午</a:t>
            </a:r>
            <a:r>
              <a:rPr lang="zh-CN" altLang="en-US" dirty="0" smtClean="0"/>
              <a:t>的课后</a:t>
            </a:r>
            <a:endParaRPr lang="zh-CN" altLang="en-US" dirty="0" smtClean="0"/>
          </a:p>
          <a:p>
            <a:pPr eaLnBrk="1" hangingPunct="1"/>
            <a:r>
              <a:rPr lang="zh-CN" altLang="en-US" dirty="0" smtClean="0"/>
              <a:t>程序：</a:t>
            </a:r>
            <a:r>
              <a:rPr lang="en-US" altLang="zh-CN" smtClean="0"/>
              <a:t>2015</a:t>
            </a:r>
            <a:r>
              <a:rPr lang="zh-CN" altLang="en-US" smtClean="0"/>
              <a:t>年</a:t>
            </a:r>
            <a:r>
              <a:rPr lang="en-US" altLang="zh-CN" dirty="0" smtClean="0"/>
              <a:t>1</a:t>
            </a:r>
            <a:r>
              <a:rPr lang="zh-CN" altLang="en-US" dirty="0" smtClean="0"/>
              <a:t>月</a:t>
            </a:r>
            <a:r>
              <a:rPr lang="en-US" altLang="zh-CN" dirty="0"/>
              <a:t>3</a:t>
            </a:r>
            <a:r>
              <a:rPr lang="zh-CN" altLang="en-US" dirty="0" smtClean="0"/>
              <a:t>日</a:t>
            </a:r>
            <a:r>
              <a:rPr lang="en-US" altLang="zh-CN" dirty="0" smtClean="0"/>
              <a:t>23</a:t>
            </a:r>
            <a:r>
              <a:rPr lang="zh-CN" altLang="en-US" dirty="0" smtClean="0"/>
              <a:t>：</a:t>
            </a:r>
            <a:r>
              <a:rPr lang="en-US" altLang="zh-CN" dirty="0" smtClean="0"/>
              <a:t>59</a:t>
            </a:r>
            <a:r>
              <a:rPr lang="zh-CN" altLang="en-US" dirty="0" smtClean="0"/>
              <a:t>：</a:t>
            </a:r>
            <a:r>
              <a:rPr lang="en-US" altLang="zh-CN" dirty="0" smtClean="0"/>
              <a:t>59</a:t>
            </a:r>
            <a:r>
              <a:rPr lang="zh-CN" altLang="en-US" dirty="0" smtClean="0"/>
              <a:t>分</a:t>
            </a:r>
            <a:endParaRPr lang="zh-CN" altLang="en-US" dirty="0" smtClean="0"/>
          </a:p>
        </p:txBody>
      </p:sp>
    </p:spTree>
  </p:cSld>
  <p:clrMapOvr>
    <a:masterClrMapping/>
  </p:clrMapOvr>
  <p:transition>
    <p:blinds/>
  </p:transition>
  <p:timing>
    <p:tnLst>
      <p:par>
        <p:cTn id="1" dur="indefinite" restart="never" nodeType="tmRoot"/>
      </p:par>
    </p:tnLst>
  </p:timing>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6350" cap="flat" cmpd="sng" algn="ctr">
          <a:solidFill>
            <a:schemeClr val="tx1"/>
          </a:solidFill>
          <a:prstDash val="solid"/>
          <a:round/>
          <a:headEnd type="none" w="med" len="med"/>
          <a:tailEnd type="none" w="med" len="med"/>
        </a:ln>
      </a:spPr>
      <a:bodyPr vert="horz" wrap="non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6350" cap="flat" cmpd="sng" algn="ctr">
          <a:solidFill>
            <a:schemeClr val="tx1"/>
          </a:solidFill>
          <a:prstDash val="solid"/>
          <a:round/>
          <a:headEnd type="none" w="med" len="med"/>
          <a:tailEnd type="none" w="med" len="med"/>
        </a:ln>
      </a:spPr>
      <a:bodyPr vert="horz" wrap="non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0</TotalTime>
  <Words>12079</Words>
  <Application>WPS 演示</Application>
  <PresentationFormat>全屏显示(4:3)</PresentationFormat>
  <Paragraphs>1176</Paragraphs>
  <Slides>75</Slides>
  <Notes>1</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4</vt:i4>
      </vt:variant>
      <vt:variant>
        <vt:lpstr>幻灯片标题</vt:lpstr>
      </vt:variant>
      <vt:variant>
        <vt:i4>75</vt:i4>
      </vt:variant>
    </vt:vector>
  </HeadingPairs>
  <TitlesOfParts>
    <vt:vector size="99" baseType="lpstr">
      <vt:lpstr>Arial</vt:lpstr>
      <vt:lpstr>宋体</vt:lpstr>
      <vt:lpstr>Wingdings</vt:lpstr>
      <vt:lpstr>Times New Roman</vt:lpstr>
      <vt:lpstr>黑体</vt:lpstr>
      <vt:lpstr>Symbol</vt:lpstr>
      <vt:lpstr>楷体_GB2312</vt:lpstr>
      <vt:lpstr>新宋体</vt:lpstr>
      <vt:lpstr>Times</vt:lpstr>
      <vt:lpstr>华文新魏</vt:lpstr>
      <vt:lpstr>Arial</vt:lpstr>
      <vt:lpstr>微软雅黑</vt:lpstr>
      <vt:lpstr>Arial Unicode MS</vt:lpstr>
      <vt:lpstr>Comic Sans MS</vt:lpstr>
      <vt:lpstr>华文行楷</vt:lpstr>
      <vt:lpstr>Arial Black</vt:lpstr>
      <vt:lpstr>Times New Roman</vt:lpstr>
      <vt:lpstr>Symbol</vt:lpstr>
      <vt:lpstr>楷体_GB2312</vt:lpstr>
      <vt:lpstr>Network</vt:lpstr>
      <vt:lpstr>Equation.3</vt:lpstr>
      <vt:lpstr>Equation.3</vt:lpstr>
      <vt:lpstr>Equation.3</vt:lpstr>
      <vt:lpstr>Equation.3</vt:lpstr>
      <vt:lpstr>第6章    分支限界法</vt:lpstr>
      <vt:lpstr>PowerPoint 演示文稿</vt:lpstr>
      <vt:lpstr>PowerPoint 演示文稿</vt:lpstr>
      <vt:lpstr>6.1	分支限界法的基本思想</vt:lpstr>
      <vt:lpstr>6.1	分支限界法的基本思想</vt:lpstr>
      <vt:lpstr>6.1	分支限界法的基本思想</vt:lpstr>
      <vt:lpstr>解空间树</vt:lpstr>
      <vt:lpstr>PowerPoint 演示文稿</vt:lpstr>
      <vt:lpstr>常见的两种分支限界法</vt:lpstr>
      <vt:lpstr>子集树</vt:lpstr>
      <vt:lpstr>排列树</vt:lpstr>
      <vt:lpstr>四个How？</vt:lpstr>
      <vt:lpstr>PowerPoint 演示文稿</vt:lpstr>
      <vt:lpstr>PowerPoint 演示文稿</vt:lpstr>
      <vt:lpstr>PowerPoint 演示文稿</vt:lpstr>
      <vt:lpstr>PowerPoint 演示文稿</vt:lpstr>
      <vt:lpstr>PowerPoint 演示文稿</vt:lpstr>
      <vt:lpstr>单源最短路径问题</vt:lpstr>
      <vt:lpstr>6.2	单源最短路径问题</vt:lpstr>
      <vt:lpstr>PowerPoint 演示文稿</vt:lpstr>
      <vt:lpstr>6.2	单源最短路径问题</vt:lpstr>
      <vt:lpstr>6.2	单源最短路径问题</vt:lpstr>
      <vt:lpstr>6.2	单源最短路径问题</vt:lpstr>
      <vt:lpstr>装载问题</vt:lpstr>
      <vt:lpstr>6.3 装载问题</vt:lpstr>
      <vt:lpstr>6.3 装载问题</vt:lpstr>
      <vt:lpstr>6.3 装载问题</vt:lpstr>
      <vt:lpstr>n=3,w=[8,6,2], W=12</vt:lpstr>
      <vt:lpstr>6.3 装载问题</vt:lpstr>
      <vt:lpstr>6.3 装载问题</vt:lpstr>
      <vt:lpstr>n=3,w=[8,6,2], W=12</vt:lpstr>
      <vt:lpstr>6.3 装载问题</vt:lpstr>
      <vt:lpstr>6.3 装载问题</vt:lpstr>
      <vt:lpstr>6.3 装载问题</vt:lpstr>
      <vt:lpstr>n=3,w=[8,6,2], W=12</vt:lpstr>
      <vt:lpstr>布线问题</vt:lpstr>
      <vt:lpstr>6.4 布线问题</vt:lpstr>
      <vt:lpstr>6.4 布线问题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6.4 布线问题</vt:lpstr>
      <vt:lpstr>6.4 布线问题</vt:lpstr>
      <vt:lpstr>0-1背包问题</vt:lpstr>
      <vt:lpstr>6.5    0-1背包问题</vt:lpstr>
      <vt:lpstr>6.5    0-1背包问题</vt:lpstr>
      <vt:lpstr>6.5    0-1背包问题</vt:lpstr>
      <vt:lpstr>最大团问题</vt:lpstr>
      <vt:lpstr>6.6 最大团问题</vt:lpstr>
      <vt:lpstr>6.6 最大团问题</vt:lpstr>
      <vt:lpstr>6.6 最大团问题</vt:lpstr>
      <vt:lpstr>6.6 最大团问题</vt:lpstr>
      <vt:lpstr>旅行售货员问题</vt:lpstr>
      <vt:lpstr>6.7 旅行售货员问题</vt:lpstr>
      <vt:lpstr>6.7 旅行售货员问题</vt:lpstr>
      <vt:lpstr>6.7 旅行售货员问题</vt:lpstr>
      <vt:lpstr>6.7 旅行售货员问题</vt:lpstr>
      <vt:lpstr>电路板排列问题</vt:lpstr>
      <vt:lpstr>6.8 电路板排列问题</vt:lpstr>
      <vt:lpstr>6.8 电路板排列问题</vt:lpstr>
      <vt:lpstr>6.8 电路板排列问题</vt:lpstr>
      <vt:lpstr>6.8 电路板排列问题</vt:lpstr>
      <vt:lpstr>批处理作业调度问题</vt:lpstr>
      <vt:lpstr>PowerPoint 演示文稿</vt:lpstr>
      <vt:lpstr>PowerPoint 演示文稿</vt:lpstr>
      <vt:lpstr>6.9 批处理作业调度问题</vt:lpstr>
      <vt:lpstr>6.9 批处理作业调度问题</vt:lpstr>
      <vt:lpstr>6.9 批处理作业调度问题</vt:lpstr>
      <vt:lpstr>分组实验：</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dc:creator>
  <cp:lastModifiedBy>花师小哲</cp:lastModifiedBy>
  <cp:revision>77</cp:revision>
  <cp:lastPrinted>2113-01-01T00:00:00Z</cp:lastPrinted>
  <dcterms:created xsi:type="dcterms:W3CDTF">2003-05-27T06:14:00Z</dcterms:created>
  <dcterms:modified xsi:type="dcterms:W3CDTF">2019-12-01T15:07:59Z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