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3"/>
    <p:sldId id="257" r:id="rId4"/>
    <p:sldId id="258" r:id="rId5"/>
    <p:sldId id="259" r:id="rId6"/>
    <p:sldId id="305" r:id="rId7"/>
    <p:sldId id="322" r:id="rId8"/>
    <p:sldId id="323" r:id="rId9"/>
    <p:sldId id="261" r:id="rId10"/>
    <p:sldId id="314" r:id="rId11"/>
    <p:sldId id="307" r:id="rId12"/>
    <p:sldId id="310" r:id="rId13"/>
    <p:sldId id="308" r:id="rId14"/>
    <p:sldId id="306" r:id="rId15"/>
    <p:sldId id="315" r:id="rId16"/>
    <p:sldId id="309" r:id="rId17"/>
    <p:sldId id="311" r:id="rId18"/>
    <p:sldId id="316" r:id="rId19"/>
    <p:sldId id="317" r:id="rId20"/>
    <p:sldId id="318" r:id="rId21"/>
    <p:sldId id="262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321" r:id="rId42"/>
    <p:sldId id="324" r:id="rId43"/>
    <p:sldId id="319" r:id="rId44"/>
    <p:sldId id="320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4" r:id="rId53"/>
    <p:sldId id="369" r:id="rId5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059" autoAdjust="0"/>
  </p:normalViewPr>
  <p:slideViewPr>
    <p:cSldViewPr>
      <p:cViewPr varScale="1">
        <p:scale>
          <a:sx n="91" d="100"/>
          <a:sy n="91" d="100"/>
        </p:scale>
        <p:origin x="-136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handoutMaster" Target="handoutMasters/handoutMaster1.xml"/><Relationship Id="rId55" Type="http://schemas.openxmlformats.org/officeDocument/2006/relationships/notesMaster" Target="notesMasters/notesMaster1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5" Type="http://schemas.openxmlformats.org/officeDocument/2006/relationships/image" Target="../media/image9.wmf"/><Relationship Id="rId4" Type="http://schemas.openxmlformats.org/officeDocument/2006/relationships/image" Target="../media/image8.wmf"/><Relationship Id="rId3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2.vml.rels><?xml version="1.0" encoding="UTF-8" standalone="yes"?>
<Relationships xmlns="http://schemas.openxmlformats.org/package/2006/relationships"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6.vml.rels><?xml version="1.0" encoding="UTF-8" standalone="yes"?>
<Relationships xmlns="http://schemas.openxmlformats.org/package/2006/relationships"><Relationship Id="rId9" Type="http://schemas.openxmlformats.org/officeDocument/2006/relationships/image" Target="../media/image61.wmf"/><Relationship Id="rId8" Type="http://schemas.openxmlformats.org/officeDocument/2006/relationships/image" Target="../media/image60.wmf"/><Relationship Id="rId7" Type="http://schemas.openxmlformats.org/officeDocument/2006/relationships/image" Target="../media/image59.wmf"/><Relationship Id="rId6" Type="http://schemas.openxmlformats.org/officeDocument/2006/relationships/image" Target="../media/image58.wmf"/><Relationship Id="rId5" Type="http://schemas.openxmlformats.org/officeDocument/2006/relationships/image" Target="../media/image57.wmf"/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0" Type="http://schemas.openxmlformats.org/officeDocument/2006/relationships/image" Target="../media/image62.wmf"/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18.vml.rels><?xml version="1.0" encoding="UTF-8" standalone="yes"?>
<Relationships xmlns="http://schemas.openxmlformats.org/package/2006/relationships"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55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9CD64B50-F13D-4940-B6BC-E89AD1ED6F1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C6F2F026-E9BE-4AD1-ADA4-02009D9BB73E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3C2BE-FF8F-4F8B-BE4D-63BDE678E2A8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907A0-AB51-41A5-AB79-579227B6949B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BAF48C-33C3-4980-B894-2FA3C34A4D67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A65A-1906-4053-9257-FEC942D25251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7AD9C-6B29-4DF0-AD7A-D4B865EE653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381A7-7BAC-4CD2-B065-B495309620A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B2F1A-8569-4475-AE24-76207EFC1E0D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AB65F-46FB-43FC-87EC-3C91281610C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6D59408-ACD9-4D0E-80D3-A19458455BC0}" type="slidenum">
              <a:rPr lang="en-US" altLang="zh-CN" smtClean="0"/>
            </a:fld>
            <a:endParaRPr lang="en-US" alt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/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A6C246-4C60-4BC4-9E39-B796B4245DA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EB907-D88B-4911-B8CC-945542C4073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/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B376F1D-6BAC-444A-B3D1-6ACCE241FA1F}" type="slidenum">
              <a:rPr lang="en-US" altLang="zh-CN" smtClean="0"/>
            </a:fld>
            <a:endParaRPr lang="en-US" altLang="zh-CN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zo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7015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7015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185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185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185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7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wmf"/><Relationship Id="rId14" Type="http://schemas.openxmlformats.org/officeDocument/2006/relationships/vmlDrawing" Target="../drawings/vmlDrawing2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9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0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wmf"/><Relationship Id="rId1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7.bin"/><Relationship Id="rId8" Type="http://schemas.openxmlformats.org/officeDocument/2006/relationships/image" Target="../media/image8.wmf"/><Relationship Id="rId7" Type="http://schemas.openxmlformats.org/officeDocument/2006/relationships/oleObject" Target="../embeddings/oleObject16.bin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6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4.wmf"/><Relationship Id="rId12" Type="http://schemas.openxmlformats.org/officeDocument/2006/relationships/vmlDrawing" Target="../drawings/vmlDrawing4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9.wmf"/><Relationship Id="rId1" Type="http://schemas.openxmlformats.org/officeDocument/2006/relationships/oleObject" Target="../embeddings/oleObject13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wmf"/><Relationship Id="rId1" Type="http://schemas.openxmlformats.org/officeDocument/2006/relationships/oleObject" Target="../embeddings/oleObject1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3.bin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2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9.w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4.wmf"/><Relationship Id="rId11" Type="http://schemas.openxmlformats.org/officeDocument/2006/relationships/oleObject" Target="../embeddings/oleObject24.bin"/><Relationship Id="rId10" Type="http://schemas.openxmlformats.org/officeDocument/2006/relationships/image" Target="../media/image23.wmf"/><Relationship Id="rId1" Type="http://schemas.openxmlformats.org/officeDocument/2006/relationships/oleObject" Target="../embeddings/oleObject19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5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6.wmf"/><Relationship Id="rId1" Type="http://schemas.openxmlformats.org/officeDocument/2006/relationships/oleObject" Target="../embeddings/oleObject26.bin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28.bin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29.bin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1.bin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6.bin"/><Relationship Id="rId8" Type="http://schemas.openxmlformats.org/officeDocument/2006/relationships/image" Target="../media/image35.wmf"/><Relationship Id="rId7" Type="http://schemas.openxmlformats.org/officeDocument/2006/relationships/oleObject" Target="../embeddings/oleObject35.bin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32.wmf"/><Relationship Id="rId14" Type="http://schemas.openxmlformats.org/officeDocument/2006/relationships/vmlDrawing" Target="../drawings/vmlDrawing12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37.wmf"/><Relationship Id="rId11" Type="http://schemas.openxmlformats.org/officeDocument/2006/relationships/oleObject" Target="../embeddings/oleObject37.bin"/><Relationship Id="rId10" Type="http://schemas.openxmlformats.org/officeDocument/2006/relationships/image" Target="../media/image36.wmf"/><Relationship Id="rId1" Type="http://schemas.openxmlformats.org/officeDocument/2006/relationships/oleObject" Target="../embeddings/oleObject32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38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41.bin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8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47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4.wmf"/><Relationship Id="rId12" Type="http://schemas.openxmlformats.org/officeDocument/2006/relationships/vmlDrawing" Target="../drawings/vmlDrawing15.v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44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6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50.bin"/><Relationship Id="rId22" Type="http://schemas.openxmlformats.org/officeDocument/2006/relationships/vmlDrawing" Target="../drawings/vmlDrawing16.v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62.wmf"/><Relationship Id="rId2" Type="http://schemas.openxmlformats.org/officeDocument/2006/relationships/image" Target="../media/image53.wmf"/><Relationship Id="rId19" Type="http://schemas.openxmlformats.org/officeDocument/2006/relationships/oleObject" Target="../embeddings/oleObject58.bin"/><Relationship Id="rId18" Type="http://schemas.openxmlformats.org/officeDocument/2006/relationships/image" Target="../media/image61.wmf"/><Relationship Id="rId17" Type="http://schemas.openxmlformats.org/officeDocument/2006/relationships/oleObject" Target="../embeddings/oleObject57.bin"/><Relationship Id="rId16" Type="http://schemas.openxmlformats.org/officeDocument/2006/relationships/image" Target="../media/image60.wmf"/><Relationship Id="rId15" Type="http://schemas.openxmlformats.org/officeDocument/2006/relationships/oleObject" Target="../embeddings/oleObject56.bin"/><Relationship Id="rId14" Type="http://schemas.openxmlformats.org/officeDocument/2006/relationships/image" Target="../media/image59.wmf"/><Relationship Id="rId13" Type="http://schemas.openxmlformats.org/officeDocument/2006/relationships/oleObject" Target="../embeddings/oleObject55.bin"/><Relationship Id="rId12" Type="http://schemas.openxmlformats.org/officeDocument/2006/relationships/image" Target="../media/image58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57.wmf"/><Relationship Id="rId1" Type="http://schemas.openxmlformats.org/officeDocument/2006/relationships/oleObject" Target="../embeddings/oleObject49.bin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5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4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3.wmf"/><Relationship Id="rId1" Type="http://schemas.openxmlformats.org/officeDocument/2006/relationships/oleObject" Target="../embeddings/oleObject59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6.bin"/><Relationship Id="rId8" Type="http://schemas.openxmlformats.org/officeDocument/2006/relationships/image" Target="../media/image69.w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6.wmf"/><Relationship Id="rId14" Type="http://schemas.openxmlformats.org/officeDocument/2006/relationships/vmlDrawing" Target="../drawings/vmlDrawing18.v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71.wmf"/><Relationship Id="rId11" Type="http://schemas.openxmlformats.org/officeDocument/2006/relationships/oleObject" Target="../embeddings/oleObject67.bin"/><Relationship Id="rId10" Type="http://schemas.openxmlformats.org/officeDocument/2006/relationships/image" Target="../media/image70.wmf"/><Relationship Id="rId1" Type="http://schemas.openxmlformats.org/officeDocument/2006/relationships/oleObject" Target="../embeddings/oleObject62.bin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2.wmf"/><Relationship Id="rId1" Type="http://schemas.openxmlformats.org/officeDocument/2006/relationships/oleObject" Target="../embeddings/oleObject68.bin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算法复杂度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曾华琳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fld id="{9C1CB9F8-85E7-4EC6-9F0D-DAC09DBA180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算法复杂性分析 </a:t>
            </a:r>
            <a:endParaRPr lang="zh-CN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100"/>
              <a:t>算法复杂性 </a:t>
            </a:r>
            <a:r>
              <a:rPr lang="en-US" altLang="zh-CN" sz="2100"/>
              <a:t>= </a:t>
            </a:r>
            <a:r>
              <a:rPr lang="zh-CN" altLang="en-US" sz="2100"/>
              <a:t>算法所需要的计算机资源</a:t>
            </a:r>
            <a:endParaRPr lang="zh-CN" altLang="en-US" sz="2100"/>
          </a:p>
          <a:p>
            <a:pPr lvl="1">
              <a:lnSpc>
                <a:spcPct val="150000"/>
              </a:lnSpc>
            </a:pPr>
            <a:r>
              <a:rPr lang="en-US" altLang="zh-CN" sz="2000"/>
              <a:t>C=F(N, I ,A)	</a:t>
            </a:r>
            <a:r>
              <a:rPr lang="zh-CN" altLang="en-US" sz="2000"/>
              <a:t>问题的规模、算法的输入、算法本身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zh-CN" altLang="en-US" sz="2100"/>
              <a:t>算法的时间复杂性</a:t>
            </a:r>
            <a:r>
              <a:rPr lang="en-US" altLang="zh-CN" sz="2100" i="1"/>
              <a:t>T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lnSpc>
                <a:spcPct val="150000"/>
              </a:lnSpc>
            </a:pPr>
            <a:r>
              <a:rPr lang="zh-CN" altLang="en-US" sz="2100"/>
              <a:t>算法的空间复杂性</a:t>
            </a:r>
            <a:r>
              <a:rPr lang="en-US" altLang="zh-CN" sz="2100" i="1"/>
              <a:t>S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</a:t>
            </a:r>
            <a:r>
              <a:rPr lang="zh-CN" altLang="en-US" sz="2100"/>
              <a:t>。</a:t>
            </a:r>
            <a:endParaRPr lang="zh-CN" altLang="en-US" sz="2100"/>
          </a:p>
          <a:p>
            <a:pPr>
              <a:lnSpc>
                <a:spcPct val="150000"/>
              </a:lnSpc>
            </a:pPr>
            <a:r>
              <a:rPr lang="zh-CN" altLang="en-US" sz="2100"/>
              <a:t>其中</a:t>
            </a:r>
            <a:r>
              <a:rPr lang="en-US" altLang="zh-CN" sz="2100" i="1"/>
              <a:t>n</a:t>
            </a:r>
            <a:r>
              <a:rPr lang="zh-CN" altLang="en-US" sz="2100"/>
              <a:t>是问题的规模（输入大小）。</a:t>
            </a:r>
            <a:endParaRPr lang="zh-CN" altLang="en-US" sz="2100"/>
          </a:p>
          <a:p>
            <a:pPr>
              <a:lnSpc>
                <a:spcPct val="150000"/>
              </a:lnSpc>
            </a:pPr>
            <a:endParaRPr lang="zh-CN" altLang="en-US" sz="2100"/>
          </a:p>
          <a:p>
            <a:pPr>
              <a:lnSpc>
                <a:spcPct val="150000"/>
              </a:lnSpc>
            </a:pPr>
            <a:r>
              <a:rPr lang="zh-CN" altLang="en-US" sz="2100"/>
              <a:t>需要对算法复杂度进行具体化，简化。</a:t>
            </a:r>
            <a:endParaRPr lang="zh-CN" altLang="en-US" sz="21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FD7A7-646B-4EFD-9A1E-EBD2518A4AE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690587"/>
            <a:ext cx="8229600" cy="1139825"/>
          </a:xfrm>
        </p:spPr>
        <p:txBody>
          <a:bodyPr>
            <a:normAutofit/>
          </a:bodyPr>
          <a:lstStyle/>
          <a:p>
            <a:r>
              <a:rPr lang="zh-CN" altLang="en-US" dirty="0"/>
              <a:t>算法的时间复杂性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914550"/>
            <a:ext cx="8243887" cy="4322762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1</a:t>
            </a:r>
            <a:r>
              <a:rPr lang="zh-CN" altLang="en-US" sz="2100" dirty="0"/>
              <a:t>）</a:t>
            </a:r>
            <a:r>
              <a:rPr lang="zh-CN" altLang="en-US" sz="2100" b="1" dirty="0">
                <a:solidFill>
                  <a:srgbClr val="3907F1"/>
                </a:solidFill>
              </a:rPr>
              <a:t>最坏情况</a:t>
            </a:r>
            <a:r>
              <a:rPr lang="zh-CN" altLang="en-US" sz="2100" dirty="0"/>
              <a:t>下的时间复杂性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i="1" dirty="0"/>
              <a:t>  </a:t>
            </a:r>
            <a:r>
              <a:rPr lang="en-US" altLang="zh-CN" sz="2100" i="1" dirty="0" err="1"/>
              <a:t>T</a:t>
            </a:r>
            <a:r>
              <a:rPr lang="en-US" altLang="zh-CN" sz="2100" baseline="-25000" dirty="0" err="1"/>
              <a:t>max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= max{ </a:t>
            </a:r>
            <a:r>
              <a:rPr lang="en-US" altLang="zh-CN" sz="2100" i="1" dirty="0"/>
              <a:t>T</a:t>
            </a:r>
            <a:r>
              <a:rPr lang="en-US" altLang="zh-CN" sz="2100" dirty="0"/>
              <a:t>(I) | size(I)=</a:t>
            </a:r>
            <a:r>
              <a:rPr lang="en-US" altLang="zh-CN" sz="2100" i="1" dirty="0"/>
              <a:t>n </a:t>
            </a:r>
            <a:r>
              <a:rPr lang="en-US" altLang="zh-CN" sz="2100" dirty="0"/>
              <a:t>}</a:t>
            </a:r>
            <a:endParaRPr lang="en-US" altLang="zh-CN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2</a:t>
            </a:r>
            <a:r>
              <a:rPr lang="zh-CN" altLang="en-US" sz="2100" dirty="0"/>
              <a:t>）</a:t>
            </a:r>
            <a:r>
              <a:rPr lang="zh-CN" altLang="en-US" sz="2100" b="1" dirty="0">
                <a:solidFill>
                  <a:srgbClr val="3907F1"/>
                </a:solidFill>
              </a:rPr>
              <a:t>最好情况</a:t>
            </a:r>
            <a:r>
              <a:rPr lang="zh-CN" altLang="en-US" sz="2100" dirty="0"/>
              <a:t>下的时间复杂性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i="1" dirty="0"/>
              <a:t>  </a:t>
            </a:r>
            <a:r>
              <a:rPr lang="en-US" altLang="zh-CN" sz="2100" i="1" dirty="0" err="1"/>
              <a:t>T</a:t>
            </a:r>
            <a:r>
              <a:rPr lang="en-US" altLang="zh-CN" sz="2100" baseline="-25000" dirty="0" err="1"/>
              <a:t>min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= min{ </a:t>
            </a:r>
            <a:r>
              <a:rPr lang="en-US" altLang="zh-CN" sz="2100" i="1" dirty="0"/>
              <a:t>T</a:t>
            </a:r>
            <a:r>
              <a:rPr lang="en-US" altLang="zh-CN" sz="2100" dirty="0"/>
              <a:t>(I) | size(I)=</a:t>
            </a:r>
            <a:r>
              <a:rPr lang="en-US" altLang="zh-CN" sz="2100" i="1" dirty="0"/>
              <a:t>n </a:t>
            </a:r>
            <a:r>
              <a:rPr lang="en-US" altLang="zh-CN" sz="2100" dirty="0"/>
              <a:t>}</a:t>
            </a:r>
            <a:endParaRPr lang="en-US" altLang="zh-CN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3</a:t>
            </a:r>
            <a:r>
              <a:rPr lang="zh-CN" altLang="en-US" sz="2100" dirty="0"/>
              <a:t>）</a:t>
            </a:r>
            <a:r>
              <a:rPr lang="zh-CN" altLang="en-US" sz="2100" b="1" dirty="0">
                <a:solidFill>
                  <a:srgbClr val="3907F1"/>
                </a:solidFill>
              </a:rPr>
              <a:t>平均情况</a:t>
            </a:r>
            <a:r>
              <a:rPr lang="zh-CN" altLang="en-US" sz="2100" dirty="0"/>
              <a:t>下的时间复杂性</a:t>
            </a:r>
            <a:endParaRPr lang="zh-CN" altLang="en-US" sz="21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zh-CN" altLang="en-US" sz="2100" i="1" dirty="0"/>
              <a:t>  </a:t>
            </a:r>
            <a:r>
              <a:rPr lang="en-US" altLang="zh-CN" sz="2100" i="1" dirty="0" err="1"/>
              <a:t>T</a:t>
            </a:r>
            <a:r>
              <a:rPr lang="en-US" altLang="zh-CN" sz="2100" baseline="-25000" dirty="0" err="1"/>
              <a:t>avg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=</a:t>
            </a:r>
            <a:endParaRPr lang="en-US" altLang="zh-CN" sz="2100" dirty="0"/>
          </a:p>
          <a:p>
            <a:pPr>
              <a:lnSpc>
                <a:spcPct val="20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 </a:t>
            </a:r>
            <a:r>
              <a:rPr lang="zh-CN" altLang="en-US" sz="2100" dirty="0"/>
              <a:t>其中</a:t>
            </a:r>
            <a:r>
              <a:rPr lang="en-US" altLang="zh-CN" sz="2100" dirty="0"/>
              <a:t>I</a:t>
            </a:r>
            <a:r>
              <a:rPr lang="zh-CN" altLang="en-US" sz="2100" dirty="0"/>
              <a:t>是问题的规模为</a:t>
            </a:r>
            <a:r>
              <a:rPr lang="en-US" altLang="zh-CN" sz="2100" i="1" dirty="0"/>
              <a:t>n</a:t>
            </a:r>
            <a:r>
              <a:rPr lang="zh-CN" altLang="en-US" sz="2100" dirty="0"/>
              <a:t>的实例，</a:t>
            </a:r>
            <a:r>
              <a:rPr lang="en-US" altLang="zh-CN" sz="2100" i="1" dirty="0"/>
              <a:t>p</a:t>
            </a:r>
            <a:r>
              <a:rPr lang="en-US" altLang="zh-CN" sz="2100" dirty="0"/>
              <a:t>(I)</a:t>
            </a:r>
            <a:r>
              <a:rPr lang="zh-CN" altLang="en-US" sz="2100"/>
              <a:t>是</a:t>
            </a:r>
            <a:r>
              <a:rPr lang="zh-CN" altLang="en-US" sz="2100" smtClean="0"/>
              <a:t>实例</a:t>
            </a:r>
            <a:r>
              <a:rPr lang="en-US" altLang="zh-CN" sz="2100" dirty="0"/>
              <a:t>I</a:t>
            </a:r>
            <a:r>
              <a:rPr lang="zh-CN" altLang="en-US" sz="2100" dirty="0"/>
              <a:t>出现的概率。</a:t>
            </a:r>
            <a:endParaRPr lang="zh-CN" altLang="en-US" sz="2100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F210E-EE60-454E-9E9E-DA95C698B632}" type="slidenum">
              <a:rPr lang="en-US" altLang="zh-CN"/>
            </a:fld>
            <a:endParaRPr lang="en-US" altLang="zh-CN"/>
          </a:p>
        </p:txBody>
      </p:sp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1691680" y="4869160"/>
          <a:ext cx="1584325" cy="630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公式" r:id="rId1" imgW="888365" imgH="355600" progId="Equation.3">
                  <p:embed/>
                </p:oleObj>
              </mc:Choice>
              <mc:Fallback>
                <p:oleObj name="公式" r:id="rId1" imgW="888365" imgH="355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869160"/>
                        <a:ext cx="1584325" cy="63023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算法渐近复杂性</a:t>
            </a:r>
            <a:endParaRPr lang="zh-CN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772493"/>
            <a:ext cx="7848600" cy="49688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</a:t>
            </a:r>
            <a:r>
              <a:rPr lang="en-US" altLang="zh-CN" sz="2100" dirty="0"/>
              <a:t> ,  as </a:t>
            </a:r>
            <a:r>
              <a:rPr lang="en-US" altLang="zh-CN" sz="2100" i="1" dirty="0"/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</a:t>
            </a:r>
            <a:r>
              <a:rPr lang="en-US" altLang="zh-CN" sz="2100" dirty="0"/>
              <a:t> ;</a:t>
            </a:r>
            <a:endParaRPr lang="en-US" altLang="zh-CN" sz="2100" dirty="0"/>
          </a:p>
          <a:p>
            <a:pPr>
              <a:lnSpc>
                <a:spcPct val="150000"/>
              </a:lnSpc>
            </a:pPr>
            <a:r>
              <a:rPr lang="en-US" altLang="zh-CN" sz="2100" dirty="0"/>
              <a:t>(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- 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)/ 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0</a:t>
            </a:r>
            <a:r>
              <a:rPr lang="en-US" altLang="zh-CN" sz="2100" dirty="0"/>
              <a:t> </a:t>
            </a:r>
            <a:r>
              <a:rPr lang="zh-CN" altLang="en-US" sz="2100" dirty="0"/>
              <a:t>，</a:t>
            </a:r>
            <a:r>
              <a:rPr lang="en-US" altLang="zh-CN" sz="2100" dirty="0"/>
              <a:t>as  </a:t>
            </a:r>
            <a:r>
              <a:rPr lang="en-US" altLang="zh-CN" sz="2100" i="1" dirty="0"/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;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</a:t>
            </a:r>
            <a:r>
              <a:rPr lang="zh-CN" altLang="en-US" sz="2100" dirty="0"/>
              <a:t>是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</a:t>
            </a:r>
            <a:r>
              <a:rPr lang="zh-CN" altLang="en-US" sz="2100" dirty="0"/>
              <a:t>的渐近性态，为算法的渐近复杂性。</a:t>
            </a:r>
            <a:endParaRPr lang="zh-CN" altLang="en-US" sz="2100" dirty="0"/>
          </a:p>
          <a:p>
            <a:pPr>
              <a:lnSpc>
                <a:spcPct val="150000"/>
              </a:lnSpc>
            </a:pPr>
            <a:r>
              <a:rPr lang="zh-CN" altLang="en-US" sz="2100" dirty="0"/>
              <a:t>在数学上， 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</a:t>
            </a:r>
            <a:r>
              <a:rPr lang="zh-CN" altLang="en-US" sz="2100" dirty="0"/>
              <a:t>是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</a:t>
            </a:r>
            <a:r>
              <a:rPr lang="zh-CN" altLang="en-US" sz="2100" dirty="0"/>
              <a:t>的渐近表达式，是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</a:t>
            </a:r>
            <a:r>
              <a:rPr lang="zh-CN" altLang="en-US" sz="2100" dirty="0"/>
              <a:t>略去低阶项留下的主项。它比</a:t>
            </a:r>
            <a:r>
              <a:rPr lang="en-US" altLang="zh-CN" sz="2100" i="1" dirty="0"/>
              <a:t>T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zh-CN" altLang="en-US" sz="2100" dirty="0"/>
              <a:t>简单。</a:t>
            </a:r>
            <a:endParaRPr lang="zh-CN" altLang="en-US" sz="2100" dirty="0"/>
          </a:p>
          <a:p>
            <a:pPr>
              <a:lnSpc>
                <a:spcPct val="150000"/>
              </a:lnSpc>
            </a:pPr>
            <a:endParaRPr lang="zh-CN" altLang="en-US" sz="21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引入渐近符号，以便表示算法的运行时间与输入规模之间的主要关系，即渐近时间复杂性，来衡量算法的好坏。</a:t>
            </a:r>
            <a:endParaRPr lang="zh-CN" altLang="en-US" sz="24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BD3D-553F-4FE6-B0E9-2727B08D7E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95116"/>
            <a:ext cx="8229600" cy="1143000"/>
          </a:xfrm>
        </p:spPr>
        <p:txBody>
          <a:bodyPr/>
          <a:lstStyle/>
          <a:p>
            <a:r>
              <a:rPr lang="zh-CN" altLang="en-US" dirty="0"/>
              <a:t>渐近记号</a:t>
            </a:r>
            <a:r>
              <a:rPr lang="zh-CN" altLang="en-US" dirty="0">
                <a:sym typeface="Symbol" panose="05050102010706020507" pitchFamily="18" charset="2"/>
              </a:rPr>
              <a:t>，</a:t>
            </a:r>
            <a:r>
              <a:rPr lang="en-US" altLang="zh-CN" dirty="0">
                <a:sym typeface="Symbol" panose="05050102010706020507" pitchFamily="18" charset="2"/>
              </a:rPr>
              <a:t>O</a:t>
            </a:r>
            <a:r>
              <a:rPr lang="zh-CN" altLang="en-US" dirty="0">
                <a:sym typeface="Symbol" panose="05050102010706020507" pitchFamily="18" charset="2"/>
              </a:rPr>
              <a:t>， 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E8B51-D925-4C61-8E76-5C58DA06A7AA}" type="slidenum">
              <a:rPr lang="en-US" altLang="zh-CN"/>
            </a:fld>
            <a:endParaRPr lang="en-US" altLang="zh-CN"/>
          </a:p>
        </p:txBody>
      </p:sp>
      <p:pic>
        <p:nvPicPr>
          <p:cNvPr id="68612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44675"/>
            <a:ext cx="9144000" cy="333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3"/>
          <p:cNvSpPr>
            <a:spLocks noGrp="1" noChangeArrowheads="1"/>
          </p:cNvSpPr>
          <p:nvPr>
            <p:ph type="title"/>
          </p:nvPr>
        </p:nvSpPr>
        <p:spPr>
          <a:xfrm>
            <a:off x="395858" y="476672"/>
            <a:ext cx="8229600" cy="1139825"/>
          </a:xfrm>
          <a:noFill/>
        </p:spPr>
        <p:txBody>
          <a:bodyPr>
            <a:normAutofit/>
          </a:bodyPr>
          <a:lstStyle/>
          <a:p>
            <a:r>
              <a:rPr lang="zh-CN" altLang="en-US" dirty="0"/>
              <a:t>渐近分析的记号</a:t>
            </a:r>
            <a:endParaRPr lang="zh-CN" altLang="en-US" dirty="0"/>
          </a:p>
        </p:txBody>
      </p:sp>
      <p:sp>
        <p:nvSpPr>
          <p:cNvPr id="93186" name="Rectangle 2"/>
          <p:cNvSpPr>
            <a:spLocks noGrp="1" noChangeArrowheads="1"/>
          </p:cNvSpPr>
          <p:nvPr>
            <p:ph idx="1"/>
          </p:nvPr>
        </p:nvSpPr>
        <p:spPr>
          <a:xfrm>
            <a:off x="540643" y="1557734"/>
            <a:ext cx="8351837" cy="511162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在下面的讨论中，对所有</a:t>
            </a:r>
            <a:r>
              <a:rPr lang="en-US" altLang="zh-CN" sz="2400" i="1" dirty="0"/>
              <a:t>n</a:t>
            </a:r>
            <a:r>
              <a:rPr lang="zh-CN" altLang="en-US" sz="2400" dirty="0"/>
              <a:t>，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dirty="0"/>
              <a:t> 0</a:t>
            </a:r>
            <a:r>
              <a:rPr lang="zh-CN" altLang="en-US" sz="2400" dirty="0"/>
              <a:t>，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</a:t>
            </a:r>
            <a:r>
              <a:rPr lang="en-US" altLang="zh-CN" sz="2400" dirty="0"/>
              <a:t> 0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= </a:t>
            </a:r>
            <a:r>
              <a:rPr lang="zh-CN" altLang="en-US" sz="2400" dirty="0"/>
              <a:t>代表属于</a:t>
            </a:r>
            <a:endParaRPr lang="zh-CN" alt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800" dirty="0"/>
              <a:t>（</a:t>
            </a:r>
            <a:r>
              <a:rPr lang="en-US" altLang="zh-CN" sz="1800" dirty="0"/>
              <a:t>1</a:t>
            </a:r>
            <a:r>
              <a:rPr lang="zh-CN" altLang="en-US" sz="1800" dirty="0"/>
              <a:t>）</a:t>
            </a:r>
            <a:r>
              <a:rPr lang="zh-CN" altLang="en-US" sz="1800" b="1" dirty="0">
                <a:solidFill>
                  <a:srgbClr val="3907F1"/>
                </a:solidFill>
              </a:rPr>
              <a:t>紧渐近界记号</a:t>
            </a:r>
            <a:r>
              <a:rPr lang="zh-CN" altLang="en-US" sz="1800" b="1" dirty="0">
                <a:solidFill>
                  <a:srgbClr val="3907F1"/>
                </a:solidFill>
                <a:sym typeface="Symbol" panose="05050102010706020507" pitchFamily="18" charset="2"/>
              </a:rPr>
              <a:t></a:t>
            </a:r>
            <a:r>
              <a:rPr lang="zh-CN" altLang="en-US" sz="1800" b="1" dirty="0">
                <a:solidFill>
                  <a:srgbClr val="3907F1"/>
                </a:solidFill>
              </a:rPr>
              <a:t> </a:t>
            </a:r>
            <a:endParaRPr lang="zh-CN" altLang="en-US" sz="1800" b="1" dirty="0">
              <a:solidFill>
                <a:srgbClr val="3907F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	</a:t>
            </a:r>
            <a:r>
              <a:rPr lang="zh-CN" altLang="en-US" sz="2400" dirty="0"/>
              <a:t> 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= {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| </a:t>
            </a:r>
            <a:r>
              <a:rPr lang="zh-CN" altLang="en-US" sz="2400" dirty="0"/>
              <a:t>存在正常数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,c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和</a:t>
            </a:r>
            <a:r>
              <a:rPr lang="en-US" altLang="zh-CN" sz="2400" i="1" dirty="0"/>
              <a:t>n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使得对所有</a:t>
            </a:r>
            <a:r>
              <a:rPr lang="en-US" altLang="zh-CN" sz="2400" i="1" dirty="0"/>
              <a:t>n</a:t>
            </a:r>
            <a:r>
              <a:rPr lang="en-US" altLang="zh-CN" sz="2400" dirty="0">
                <a:sym typeface="Symbol" panose="05050102010706020507" pitchFamily="18" charset="2"/>
              </a:rPr>
              <a:t> </a:t>
            </a:r>
            <a:r>
              <a:rPr lang="en-US" altLang="zh-CN" sz="2400" i="1" dirty="0"/>
              <a:t>n</a:t>
            </a:r>
            <a:r>
              <a:rPr lang="en-US" altLang="zh-CN" sz="2400" baseline="-25000" dirty="0"/>
              <a:t>0</a:t>
            </a:r>
            <a:r>
              <a:rPr lang="zh-CN" altLang="en-US" sz="2400" dirty="0"/>
              <a:t>有：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1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 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</a:t>
            </a:r>
            <a:r>
              <a:rPr lang="en-US" altLang="zh-CN" sz="2400" dirty="0">
                <a:sym typeface="Symbol" panose="05050102010706020507" pitchFamily="18" charset="2"/>
              </a:rPr>
              <a:t></a:t>
            </a:r>
            <a:r>
              <a:rPr lang="en-US" altLang="zh-CN" sz="2400" dirty="0"/>
              <a:t> </a:t>
            </a:r>
            <a:r>
              <a:rPr lang="en-US" altLang="zh-CN" sz="2400" i="1" dirty="0"/>
              <a:t>c</a:t>
            </a:r>
            <a:r>
              <a:rPr lang="en-US" altLang="zh-CN" sz="2400" baseline="-25000" dirty="0"/>
              <a:t>2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 }</a:t>
            </a:r>
            <a:endParaRPr lang="en-US" altLang="zh-C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	f 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) = 3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+ 3,</a:t>
            </a:r>
            <a:endParaRPr lang="en-US" altLang="zh-CN" sz="2000" b="1" dirty="0">
              <a:solidFill>
                <a:srgbClr val="FF0000"/>
              </a:solidFill>
              <a:ea typeface="仿宋" panose="02010609060101010101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	3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+3≤3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+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= 4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 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for 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≥3,</a:t>
            </a:r>
            <a:endParaRPr lang="en-US" altLang="zh-CN" sz="2000" b="1" dirty="0">
              <a:solidFill>
                <a:srgbClr val="FF0000"/>
              </a:solidFill>
              <a:ea typeface="仿宋" panose="02010609060101010101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	3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+ 3≥3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 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for 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≥0,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 </a:t>
            </a:r>
            <a:endParaRPr lang="en-US" altLang="zh-CN" sz="2000" b="1" i="1" dirty="0">
              <a:solidFill>
                <a:srgbClr val="FF0000"/>
              </a:solidFill>
              <a:ea typeface="仿宋" panose="02010609060101010101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	f 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)= </a:t>
            </a:r>
            <a:r>
              <a:rPr lang="el-GR" altLang="zh-CN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Θ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(</a:t>
            </a:r>
            <a:r>
              <a:rPr lang="en-US" altLang="zh-CN" sz="2000" b="1" i="1" dirty="0">
                <a:solidFill>
                  <a:srgbClr val="FF0000"/>
                </a:solidFill>
                <a:ea typeface="仿宋" panose="02010609060101010101" charset="-122"/>
              </a:rPr>
              <a:t>n</a:t>
            </a:r>
            <a:r>
              <a:rPr lang="en-US" altLang="zh-CN" sz="2000" b="1" dirty="0">
                <a:solidFill>
                  <a:srgbClr val="FF0000"/>
                </a:solidFill>
                <a:ea typeface="仿宋" panose="02010609060101010101" charset="-122"/>
              </a:rPr>
              <a:t>).</a:t>
            </a:r>
            <a:endParaRPr lang="en-US" altLang="zh-CN" sz="2000" b="1" dirty="0">
              <a:solidFill>
                <a:srgbClr val="FF0000"/>
              </a:solidFill>
              <a:ea typeface="仿宋" panose="02010609060101010101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271CE-EE9A-45EA-964A-2B656972C2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93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93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931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93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93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93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931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931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E0BB90-3951-4E38-905E-4F5356537079}" type="slidenum">
              <a:rPr lang="en-US" altLang="zh-CN"/>
            </a:fld>
            <a:endParaRPr lang="en-US" altLang="zh-CN"/>
          </a:p>
        </p:txBody>
      </p:sp>
      <p:grpSp>
        <p:nvGrpSpPr>
          <p:cNvPr id="94210" name="Group 2"/>
          <p:cNvGrpSpPr/>
          <p:nvPr/>
        </p:nvGrpSpPr>
        <p:grpSpPr bwMode="auto">
          <a:xfrm>
            <a:off x="1547664" y="620811"/>
            <a:ext cx="5616575" cy="4824413"/>
            <a:chOff x="1066" y="890"/>
            <a:chExt cx="3538" cy="3039"/>
          </a:xfrm>
        </p:grpSpPr>
        <p:graphicFrame>
          <p:nvGraphicFramePr>
            <p:cNvPr id="94211" name="Object 3"/>
            <p:cNvGraphicFramePr>
              <a:graphicFrameLocks noChangeAspect="1"/>
            </p:cNvGraphicFramePr>
            <p:nvPr/>
          </p:nvGraphicFramePr>
          <p:xfrm>
            <a:off x="2245" y="3657"/>
            <a:ext cx="113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78" name="公式" r:id="rId1" imgW="989965" imgH="203200" progId="Equation.3">
                    <p:embed/>
                  </p:oleObj>
                </mc:Choice>
                <mc:Fallback>
                  <p:oleObj name="公式" r:id="rId1" imgW="989965" imgH="20320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3657"/>
                          <a:ext cx="1134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12" name="Object 4"/>
            <p:cNvGraphicFramePr>
              <a:graphicFrameLocks noChangeAspect="1"/>
            </p:cNvGraphicFramePr>
            <p:nvPr/>
          </p:nvGraphicFramePr>
          <p:xfrm>
            <a:off x="4014" y="1978"/>
            <a:ext cx="59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79" name="公式" r:id="rId3" imgW="431800" imgH="215900" progId="Equation.3">
                    <p:embed/>
                  </p:oleObj>
                </mc:Choice>
                <mc:Fallback>
                  <p:oleObj name="公式" r:id="rId3" imgW="431800" imgH="2159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14" y="1978"/>
                          <a:ext cx="59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13" name="Object 5"/>
            <p:cNvGraphicFramePr>
              <a:graphicFrameLocks noChangeAspect="1"/>
            </p:cNvGraphicFramePr>
            <p:nvPr/>
          </p:nvGraphicFramePr>
          <p:xfrm>
            <a:off x="1656" y="3566"/>
            <a:ext cx="26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80" name="公式" r:id="rId5" imgW="165100" imgH="228600" progId="Equation.3">
                    <p:embed/>
                  </p:oleObj>
                </mc:Choice>
                <mc:Fallback>
                  <p:oleObj name="公式" r:id="rId5" imgW="1651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" y="3566"/>
                          <a:ext cx="26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4214" name="Line 6"/>
            <p:cNvSpPr>
              <a:spLocks noChangeShapeType="1"/>
            </p:cNvSpPr>
            <p:nvPr/>
          </p:nvSpPr>
          <p:spPr bwMode="auto">
            <a:xfrm flipV="1">
              <a:off x="1066" y="1026"/>
              <a:ext cx="45" cy="2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15" name="Line 7"/>
            <p:cNvSpPr>
              <a:spLocks noChangeShapeType="1"/>
            </p:cNvSpPr>
            <p:nvPr/>
          </p:nvSpPr>
          <p:spPr bwMode="auto">
            <a:xfrm>
              <a:off x="1066" y="3520"/>
              <a:ext cx="29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16" name="Line 8"/>
            <p:cNvSpPr>
              <a:spLocks noChangeShapeType="1"/>
            </p:cNvSpPr>
            <p:nvPr/>
          </p:nvSpPr>
          <p:spPr bwMode="auto">
            <a:xfrm>
              <a:off x="1701" y="2523"/>
              <a:ext cx="0" cy="9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17" name="Freeform 9"/>
            <p:cNvSpPr/>
            <p:nvPr/>
          </p:nvSpPr>
          <p:spPr bwMode="auto">
            <a:xfrm>
              <a:off x="1066" y="1751"/>
              <a:ext cx="2721" cy="1566"/>
            </a:xfrm>
            <a:custGeom>
              <a:avLst/>
              <a:gdLst>
                <a:gd name="T0" fmla="*/ 0 w 2721"/>
                <a:gd name="T1" fmla="*/ 1452 h 1566"/>
                <a:gd name="T2" fmla="*/ 227 w 2721"/>
                <a:gd name="T3" fmla="*/ 1407 h 1566"/>
                <a:gd name="T4" fmla="*/ 453 w 2721"/>
                <a:gd name="T5" fmla="*/ 1543 h 1566"/>
                <a:gd name="T6" fmla="*/ 816 w 2721"/>
                <a:gd name="T7" fmla="*/ 1270 h 1566"/>
                <a:gd name="T8" fmla="*/ 1678 w 2721"/>
                <a:gd name="T9" fmla="*/ 953 h 1566"/>
                <a:gd name="T10" fmla="*/ 2721 w 2721"/>
                <a:gd name="T11" fmla="*/ 0 h 1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21" h="1566">
                  <a:moveTo>
                    <a:pt x="0" y="1452"/>
                  </a:moveTo>
                  <a:cubicBezTo>
                    <a:pt x="76" y="1422"/>
                    <a:pt x="152" y="1392"/>
                    <a:pt x="227" y="1407"/>
                  </a:cubicBezTo>
                  <a:cubicBezTo>
                    <a:pt x="302" y="1422"/>
                    <a:pt x="355" y="1566"/>
                    <a:pt x="453" y="1543"/>
                  </a:cubicBezTo>
                  <a:cubicBezTo>
                    <a:pt x="551" y="1520"/>
                    <a:pt x="612" y="1368"/>
                    <a:pt x="816" y="1270"/>
                  </a:cubicBezTo>
                  <a:cubicBezTo>
                    <a:pt x="1020" y="1172"/>
                    <a:pt x="1361" y="1165"/>
                    <a:pt x="1678" y="953"/>
                  </a:cubicBezTo>
                  <a:cubicBezTo>
                    <a:pt x="1995" y="741"/>
                    <a:pt x="2358" y="370"/>
                    <a:pt x="2721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18" name="Freeform 10"/>
            <p:cNvSpPr/>
            <p:nvPr/>
          </p:nvSpPr>
          <p:spPr bwMode="auto">
            <a:xfrm>
              <a:off x="1066" y="1071"/>
              <a:ext cx="2767" cy="2449"/>
            </a:xfrm>
            <a:custGeom>
              <a:avLst/>
              <a:gdLst>
                <a:gd name="T0" fmla="*/ 0 w 2767"/>
                <a:gd name="T1" fmla="*/ 2449 h 2449"/>
                <a:gd name="T2" fmla="*/ 363 w 2767"/>
                <a:gd name="T3" fmla="*/ 1724 h 2449"/>
                <a:gd name="T4" fmla="*/ 862 w 2767"/>
                <a:gd name="T5" fmla="*/ 1315 h 2449"/>
                <a:gd name="T6" fmla="*/ 1315 w 2767"/>
                <a:gd name="T7" fmla="*/ 1270 h 2449"/>
                <a:gd name="T8" fmla="*/ 1814 w 2767"/>
                <a:gd name="T9" fmla="*/ 635 h 2449"/>
                <a:gd name="T10" fmla="*/ 2767 w 2767"/>
                <a:gd name="T11" fmla="*/ 0 h 24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67" h="2449">
                  <a:moveTo>
                    <a:pt x="0" y="2449"/>
                  </a:moveTo>
                  <a:cubicBezTo>
                    <a:pt x="109" y="2181"/>
                    <a:pt x="219" y="1913"/>
                    <a:pt x="363" y="1724"/>
                  </a:cubicBezTo>
                  <a:cubicBezTo>
                    <a:pt x="507" y="1535"/>
                    <a:pt x="703" y="1391"/>
                    <a:pt x="862" y="1315"/>
                  </a:cubicBezTo>
                  <a:cubicBezTo>
                    <a:pt x="1021" y="1239"/>
                    <a:pt x="1156" y="1383"/>
                    <a:pt x="1315" y="1270"/>
                  </a:cubicBezTo>
                  <a:cubicBezTo>
                    <a:pt x="1474" y="1157"/>
                    <a:pt x="1572" y="847"/>
                    <a:pt x="1814" y="635"/>
                  </a:cubicBezTo>
                  <a:cubicBezTo>
                    <a:pt x="2056" y="423"/>
                    <a:pt x="2411" y="211"/>
                    <a:pt x="2767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19" name="Freeform 11"/>
            <p:cNvSpPr/>
            <p:nvPr/>
          </p:nvSpPr>
          <p:spPr bwMode="auto">
            <a:xfrm>
              <a:off x="1066" y="2160"/>
              <a:ext cx="2948" cy="1360"/>
            </a:xfrm>
            <a:custGeom>
              <a:avLst/>
              <a:gdLst>
                <a:gd name="T0" fmla="*/ 0 w 2948"/>
                <a:gd name="T1" fmla="*/ 1360 h 1360"/>
                <a:gd name="T2" fmla="*/ 453 w 2948"/>
                <a:gd name="T3" fmla="*/ 907 h 1360"/>
                <a:gd name="T4" fmla="*/ 998 w 2948"/>
                <a:gd name="T5" fmla="*/ 1134 h 1360"/>
                <a:gd name="T6" fmla="*/ 1905 w 2948"/>
                <a:gd name="T7" fmla="*/ 544 h 1360"/>
                <a:gd name="T8" fmla="*/ 2948 w 2948"/>
                <a:gd name="T9" fmla="*/ 0 h 1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48" h="1360">
                  <a:moveTo>
                    <a:pt x="0" y="1360"/>
                  </a:moveTo>
                  <a:cubicBezTo>
                    <a:pt x="143" y="1152"/>
                    <a:pt x="287" y="945"/>
                    <a:pt x="453" y="907"/>
                  </a:cubicBezTo>
                  <a:cubicBezTo>
                    <a:pt x="619" y="869"/>
                    <a:pt x="756" y="1194"/>
                    <a:pt x="998" y="1134"/>
                  </a:cubicBezTo>
                  <a:cubicBezTo>
                    <a:pt x="1240" y="1074"/>
                    <a:pt x="1580" y="733"/>
                    <a:pt x="1905" y="544"/>
                  </a:cubicBezTo>
                  <a:cubicBezTo>
                    <a:pt x="2230" y="355"/>
                    <a:pt x="2589" y="177"/>
                    <a:pt x="2948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4220" name="Object 12"/>
            <p:cNvGraphicFramePr>
              <a:graphicFrameLocks noChangeAspect="1"/>
            </p:cNvGraphicFramePr>
            <p:nvPr/>
          </p:nvGraphicFramePr>
          <p:xfrm>
            <a:off x="3878" y="890"/>
            <a:ext cx="59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81" name="公式" r:id="rId7" imgW="443865" imgH="215900" progId="Equation.3">
                    <p:embed/>
                  </p:oleObj>
                </mc:Choice>
                <mc:Fallback>
                  <p:oleObj name="公式" r:id="rId7" imgW="443865" imgH="21590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8" y="890"/>
                          <a:ext cx="59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21" name="Object 13"/>
            <p:cNvGraphicFramePr>
              <a:graphicFrameLocks noChangeAspect="1"/>
            </p:cNvGraphicFramePr>
            <p:nvPr/>
          </p:nvGraphicFramePr>
          <p:xfrm>
            <a:off x="3924" y="3611"/>
            <a:ext cx="20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82" name="公式" r:id="rId9" imgW="127000" imgH="139700" progId="Equation.3">
                    <p:embed/>
                  </p:oleObj>
                </mc:Choice>
                <mc:Fallback>
                  <p:oleObj name="公式" r:id="rId9" imgW="127000" imgH="13970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" y="3611"/>
                          <a:ext cx="208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222" name="Object 14"/>
            <p:cNvGraphicFramePr>
              <a:graphicFrameLocks noChangeAspect="1"/>
            </p:cNvGraphicFramePr>
            <p:nvPr/>
          </p:nvGraphicFramePr>
          <p:xfrm>
            <a:off x="3787" y="1434"/>
            <a:ext cx="49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4283" name="公式" r:id="rId11" imgW="342900" imgH="203200" progId="Equation.3">
                    <p:embed/>
                  </p:oleObj>
                </mc:Choice>
                <mc:Fallback>
                  <p:oleObj name="公式" r:id="rId11" imgW="342900" imgH="203200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434"/>
                          <a:ext cx="49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4223" name="Rectangle 15"/>
          <p:cNvSpPr>
            <a:spLocks noChangeArrowheads="1"/>
          </p:cNvSpPr>
          <p:nvPr/>
        </p:nvSpPr>
        <p:spPr bwMode="auto">
          <a:xfrm>
            <a:off x="1475656" y="5641553"/>
            <a:ext cx="5878513" cy="739775"/>
          </a:xfrm>
          <a:prstGeom prst="rect">
            <a:avLst/>
          </a:prstGeom>
          <a:solidFill>
            <a:srgbClr val="FFFF00"/>
          </a:solidFill>
          <a:ln w="3810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/>
              <a:t> </a:t>
            </a:r>
            <a:r>
              <a:rPr lang="zh-CN" altLang="en-US" sz="2000" b="1">
                <a:solidFill>
                  <a:srgbClr val="3907F1"/>
                </a:solidFill>
              </a:rPr>
              <a:t>定理</a:t>
            </a:r>
            <a:r>
              <a:rPr lang="en-US" altLang="zh-CN" sz="2000" b="1">
                <a:solidFill>
                  <a:srgbClr val="3907F1"/>
                </a:solidFill>
              </a:rPr>
              <a:t>1</a:t>
            </a:r>
            <a:r>
              <a:rPr lang="zh-CN" altLang="en-US" sz="2000" b="1">
                <a:solidFill>
                  <a:srgbClr val="3907F1"/>
                </a:solidFill>
              </a:rPr>
              <a:t>：</a:t>
            </a:r>
            <a:r>
              <a:rPr lang="zh-CN" altLang="en-US" sz="2000"/>
              <a:t> </a:t>
            </a:r>
            <a:r>
              <a:rPr lang="zh-CN" altLang="en-US" sz="2000">
                <a:sym typeface="Symbol" panose="05050102010706020507" pitchFamily="18" charset="2"/>
              </a:rPr>
              <a:t></a:t>
            </a:r>
            <a:r>
              <a:rPr lang="zh-CN" altLang="en-US" sz="2000"/>
              <a:t> </a:t>
            </a:r>
            <a:r>
              <a:rPr lang="en-US" altLang="zh-CN" sz="2000"/>
              <a:t>(</a:t>
            </a:r>
            <a:r>
              <a:rPr lang="en-US" altLang="zh-CN" sz="2000" i="1"/>
              <a:t>g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)) = </a:t>
            </a:r>
            <a:r>
              <a:rPr lang="en-US" altLang="zh-CN" sz="2000" i="1">
                <a:sym typeface="Symbol" panose="05050102010706020507" pitchFamily="18" charset="2"/>
              </a:rPr>
              <a:t>O</a:t>
            </a:r>
            <a:r>
              <a:rPr lang="en-US" altLang="zh-CN" sz="2000"/>
              <a:t> (</a:t>
            </a:r>
            <a:r>
              <a:rPr lang="en-US" altLang="zh-CN" sz="2000" i="1"/>
              <a:t>g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)) </a:t>
            </a:r>
            <a:r>
              <a:rPr lang="en-US" altLang="zh-CN" sz="2000">
                <a:sym typeface="Symbol" panose="05050102010706020507" pitchFamily="18" charset="2"/>
              </a:rPr>
              <a:t></a:t>
            </a:r>
            <a:r>
              <a:rPr lang="en-US" altLang="zh-CN" sz="2000"/>
              <a:t> </a:t>
            </a:r>
            <a:r>
              <a:rPr lang="en-US" altLang="zh-CN" sz="2000">
                <a:sym typeface="Symbol" panose="05050102010706020507" pitchFamily="18" charset="2"/>
              </a:rPr>
              <a:t></a:t>
            </a:r>
            <a:r>
              <a:rPr lang="en-US" altLang="zh-CN" sz="2000"/>
              <a:t> (</a:t>
            </a:r>
            <a:r>
              <a:rPr lang="en-US" altLang="zh-CN" sz="2000" i="1"/>
              <a:t>g</a:t>
            </a:r>
            <a:r>
              <a:rPr lang="en-US" altLang="zh-CN" sz="2000"/>
              <a:t>(</a:t>
            </a:r>
            <a:r>
              <a:rPr lang="en-US" altLang="zh-CN" sz="2000" i="1"/>
              <a:t>n</a:t>
            </a:r>
            <a:r>
              <a:rPr lang="en-US" altLang="zh-CN" sz="2000"/>
              <a:t>)) </a:t>
            </a:r>
            <a:endParaRPr lang="en-US" altLang="zh-CN" sz="2000"/>
          </a:p>
          <a:p>
            <a:r>
              <a:rPr lang="zh-CN" altLang="en-US" sz="2000"/>
              <a:t>两个函数</a:t>
            </a:r>
            <a:r>
              <a:rPr lang="en-US" altLang="zh-CN" sz="2000"/>
              <a:t>f(n)</a:t>
            </a:r>
            <a:r>
              <a:rPr lang="zh-CN" altLang="en-US" sz="2000"/>
              <a:t>和</a:t>
            </a:r>
            <a:r>
              <a:rPr lang="en-US" altLang="zh-CN" sz="2000"/>
              <a:t>g(n)</a:t>
            </a:r>
            <a:r>
              <a:rPr lang="zh-CN" altLang="en-US" sz="2000"/>
              <a:t>同阶，即高阶项的增长次数相同</a:t>
            </a:r>
            <a:endParaRPr lang="zh-CN" altLang="en-US" sz="20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990229"/>
            <a:ext cx="8351837" cy="4031059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在下面的讨论中，对所有</a:t>
            </a:r>
            <a:r>
              <a:rPr lang="en-US" altLang="zh-CN" sz="2600" i="1" dirty="0"/>
              <a:t>n</a:t>
            </a:r>
            <a:r>
              <a:rPr lang="zh-CN" altLang="en-US" sz="2600" dirty="0"/>
              <a:t>，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Symbol" panose="05050102010706020507" pitchFamily="18" charset="2"/>
              </a:rPr>
              <a:t></a:t>
            </a:r>
            <a:r>
              <a:rPr lang="en-US" altLang="zh-CN" sz="2600" dirty="0"/>
              <a:t> 0</a:t>
            </a:r>
            <a:r>
              <a:rPr lang="zh-CN" altLang="en-US" sz="2600" dirty="0"/>
              <a:t>，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Symbol" panose="05050102010706020507" pitchFamily="18" charset="2"/>
              </a:rPr>
              <a:t></a:t>
            </a:r>
            <a:r>
              <a:rPr lang="en-US" altLang="zh-CN" sz="2600" dirty="0"/>
              <a:t> 0</a:t>
            </a:r>
            <a:r>
              <a:rPr lang="zh-CN" altLang="en-US" sz="2600" dirty="0"/>
              <a:t>。</a:t>
            </a:r>
            <a:endParaRPr lang="zh-CN" altLang="en-US" sz="2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（</a:t>
            </a:r>
            <a:r>
              <a:rPr lang="en-US" altLang="zh-CN" sz="2600" dirty="0"/>
              <a:t>2</a:t>
            </a:r>
            <a:r>
              <a:rPr lang="zh-CN" altLang="en-US" sz="2600" dirty="0"/>
              <a:t>）</a:t>
            </a:r>
            <a:r>
              <a:rPr lang="zh-CN" altLang="en-US" sz="2600" b="1" dirty="0">
                <a:solidFill>
                  <a:srgbClr val="3907F1"/>
                </a:solidFill>
              </a:rPr>
              <a:t>渐近上界记号</a:t>
            </a:r>
            <a:r>
              <a:rPr lang="en-US" altLang="zh-CN" sz="2600" b="1" i="1" dirty="0">
                <a:solidFill>
                  <a:srgbClr val="3907F1"/>
                </a:solidFill>
              </a:rPr>
              <a:t>O</a:t>
            </a:r>
            <a:endParaRPr lang="en-US" altLang="zh-CN" sz="2600" b="1" i="1" dirty="0">
              <a:solidFill>
                <a:srgbClr val="3907F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600" i="1" dirty="0"/>
              <a:t>	O</a:t>
            </a:r>
            <a:r>
              <a:rPr lang="en-US" altLang="zh-CN" sz="2600" dirty="0"/>
              <a:t>(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= {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| </a:t>
            </a:r>
            <a:r>
              <a:rPr lang="zh-CN" altLang="en-US" sz="2600" dirty="0"/>
              <a:t>存在正常数</a:t>
            </a:r>
            <a:r>
              <a:rPr lang="en-US" altLang="zh-CN" sz="2600" i="1" dirty="0"/>
              <a:t>c</a:t>
            </a:r>
            <a:r>
              <a:rPr lang="zh-CN" altLang="en-US" sz="2600" dirty="0"/>
              <a:t>和</a:t>
            </a:r>
            <a:r>
              <a:rPr lang="en-US" altLang="zh-CN" sz="2600" i="1" dirty="0"/>
              <a:t>n</a:t>
            </a:r>
            <a:r>
              <a:rPr lang="en-US" altLang="zh-CN" sz="2600" baseline="-25000" dirty="0"/>
              <a:t>0</a:t>
            </a:r>
            <a:r>
              <a:rPr lang="zh-CN" altLang="en-US" sz="2600" dirty="0"/>
              <a:t>使得对所有</a:t>
            </a:r>
            <a:r>
              <a:rPr lang="en-US" altLang="zh-CN" sz="2600" i="1" dirty="0"/>
              <a:t>n</a:t>
            </a:r>
            <a:r>
              <a:rPr lang="en-US" altLang="zh-CN" sz="2600" dirty="0">
                <a:sym typeface="Symbol" panose="05050102010706020507" pitchFamily="18" charset="2"/>
              </a:rPr>
              <a:t> </a:t>
            </a:r>
            <a:r>
              <a:rPr lang="en-US" altLang="zh-CN" sz="2600" i="1" dirty="0"/>
              <a:t>n</a:t>
            </a:r>
            <a:r>
              <a:rPr lang="en-US" altLang="zh-CN" sz="2600" baseline="-25000" dirty="0"/>
              <a:t>0</a:t>
            </a:r>
            <a:r>
              <a:rPr lang="zh-CN" altLang="en-US" sz="2600" dirty="0"/>
              <a:t>有：</a:t>
            </a:r>
            <a:r>
              <a:rPr lang="en-US" altLang="zh-CN" sz="2600" dirty="0"/>
              <a:t>0 </a:t>
            </a:r>
            <a:r>
              <a:rPr lang="en-US" altLang="zh-CN" sz="2600" dirty="0">
                <a:sym typeface="Symbol" panose="05050102010706020507" pitchFamily="18" charset="2"/>
              </a:rPr>
              <a:t>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Symbol" panose="05050102010706020507" pitchFamily="18" charset="2"/>
              </a:rPr>
              <a:t></a:t>
            </a:r>
            <a:r>
              <a:rPr lang="en-US" altLang="zh-CN" sz="2600" dirty="0"/>
              <a:t> </a:t>
            </a:r>
            <a:r>
              <a:rPr lang="en-US" altLang="zh-CN" sz="2600" i="1" dirty="0"/>
              <a:t>cg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}</a:t>
            </a:r>
            <a:endParaRPr lang="en-US" altLang="zh-CN" sz="2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8FEBB2-61A3-4E8C-993A-6F164AD1BC66}" type="slidenum">
              <a:rPr lang="en-US" altLang="zh-CN"/>
            </a:fld>
            <a:endParaRPr lang="en-US" altLang="zh-C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95858" y="476672"/>
            <a:ext cx="8229600" cy="1139825"/>
          </a:xfrm>
          <a:prstGeom prst="rect">
            <a:avLst/>
          </a:prstGeom>
          <a:noFill/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渐近分析的记号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31E6F-F63B-4A21-B7DC-79CDD2DDA39D}" type="slidenum">
              <a:rPr lang="en-US" altLang="zh-CN"/>
            </a:fld>
            <a:endParaRPr lang="en-US" altLang="zh-CN"/>
          </a:p>
        </p:txBody>
      </p:sp>
      <p:grpSp>
        <p:nvGrpSpPr>
          <p:cNvPr id="77838" name="Group 14"/>
          <p:cNvGrpSpPr/>
          <p:nvPr/>
        </p:nvGrpSpPr>
        <p:grpSpPr bwMode="auto">
          <a:xfrm>
            <a:off x="1836738" y="981075"/>
            <a:ext cx="5111750" cy="4968875"/>
            <a:chOff x="1066" y="799"/>
            <a:chExt cx="3220" cy="3130"/>
          </a:xfrm>
        </p:grpSpPr>
        <p:graphicFrame>
          <p:nvGraphicFramePr>
            <p:cNvPr id="77828" name="Object 4"/>
            <p:cNvGraphicFramePr>
              <a:graphicFrameLocks noChangeAspect="1"/>
            </p:cNvGraphicFramePr>
            <p:nvPr/>
          </p:nvGraphicFramePr>
          <p:xfrm>
            <a:off x="2245" y="3657"/>
            <a:ext cx="113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84" name="公式" r:id="rId1" imgW="989965" imgH="203200" progId="Equation.3">
                    <p:embed/>
                  </p:oleObj>
                </mc:Choice>
                <mc:Fallback>
                  <p:oleObj name="公式" r:id="rId1" imgW="989965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3657"/>
                          <a:ext cx="1134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29" name="Object 5"/>
            <p:cNvGraphicFramePr>
              <a:graphicFrameLocks noChangeAspect="1"/>
            </p:cNvGraphicFramePr>
            <p:nvPr/>
          </p:nvGraphicFramePr>
          <p:xfrm>
            <a:off x="1656" y="3566"/>
            <a:ext cx="26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85" name="公式" r:id="rId3" imgW="165100" imgH="228600" progId="Equation.3">
                    <p:embed/>
                  </p:oleObj>
                </mc:Choice>
                <mc:Fallback>
                  <p:oleObj name="公式" r:id="rId3" imgW="1651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" y="3566"/>
                          <a:ext cx="26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830" name="Line 6"/>
            <p:cNvSpPr>
              <a:spLocks noChangeShapeType="1"/>
            </p:cNvSpPr>
            <p:nvPr/>
          </p:nvSpPr>
          <p:spPr bwMode="auto">
            <a:xfrm flipV="1">
              <a:off x="1066" y="1026"/>
              <a:ext cx="45" cy="2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1" name="Line 7"/>
            <p:cNvSpPr>
              <a:spLocks noChangeShapeType="1"/>
            </p:cNvSpPr>
            <p:nvPr/>
          </p:nvSpPr>
          <p:spPr bwMode="auto">
            <a:xfrm>
              <a:off x="1066" y="3520"/>
              <a:ext cx="29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2" name="Line 8"/>
            <p:cNvSpPr>
              <a:spLocks noChangeShapeType="1"/>
            </p:cNvSpPr>
            <p:nvPr/>
          </p:nvSpPr>
          <p:spPr bwMode="auto">
            <a:xfrm>
              <a:off x="1701" y="2523"/>
              <a:ext cx="0" cy="9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7833" name="Object 9"/>
            <p:cNvGraphicFramePr>
              <a:graphicFrameLocks noChangeAspect="1"/>
            </p:cNvGraphicFramePr>
            <p:nvPr/>
          </p:nvGraphicFramePr>
          <p:xfrm>
            <a:off x="3541" y="799"/>
            <a:ext cx="5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86" name="公式" r:id="rId5" imgW="381000" imgH="203200" progId="Equation.3">
                    <p:embed/>
                  </p:oleObj>
                </mc:Choice>
                <mc:Fallback>
                  <p:oleObj name="公式" r:id="rId5" imgW="381000" imgH="203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1" y="799"/>
                          <a:ext cx="5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4" name="Object 10"/>
            <p:cNvGraphicFramePr>
              <a:graphicFrameLocks noChangeAspect="1"/>
            </p:cNvGraphicFramePr>
            <p:nvPr/>
          </p:nvGraphicFramePr>
          <p:xfrm>
            <a:off x="3924" y="3611"/>
            <a:ext cx="20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87" name="公式" r:id="rId7" imgW="127000" imgH="139700" progId="Equation.3">
                    <p:embed/>
                  </p:oleObj>
                </mc:Choice>
                <mc:Fallback>
                  <p:oleObj name="公式" r:id="rId7" imgW="127000" imgH="1397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" y="3611"/>
                          <a:ext cx="208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35" name="Object 11"/>
            <p:cNvGraphicFramePr>
              <a:graphicFrameLocks noChangeAspect="1"/>
            </p:cNvGraphicFramePr>
            <p:nvPr/>
          </p:nvGraphicFramePr>
          <p:xfrm>
            <a:off x="3787" y="1434"/>
            <a:ext cx="49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7888" name="公式" r:id="rId9" imgW="342900" imgH="203200" progId="Equation.3">
                    <p:embed/>
                  </p:oleObj>
                </mc:Choice>
                <mc:Fallback>
                  <p:oleObj name="公式" r:id="rId9" imgW="342900" imgH="203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434"/>
                          <a:ext cx="49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836" name="Freeform 12"/>
            <p:cNvSpPr/>
            <p:nvPr/>
          </p:nvSpPr>
          <p:spPr bwMode="auto">
            <a:xfrm>
              <a:off x="1066" y="1661"/>
              <a:ext cx="2857" cy="1588"/>
            </a:xfrm>
            <a:custGeom>
              <a:avLst/>
              <a:gdLst>
                <a:gd name="T0" fmla="*/ 0 w 2857"/>
                <a:gd name="T1" fmla="*/ 1270 h 1588"/>
                <a:gd name="T2" fmla="*/ 272 w 2857"/>
                <a:gd name="T3" fmla="*/ 1497 h 1588"/>
                <a:gd name="T4" fmla="*/ 499 w 2857"/>
                <a:gd name="T5" fmla="*/ 726 h 1588"/>
                <a:gd name="T6" fmla="*/ 907 w 2857"/>
                <a:gd name="T7" fmla="*/ 1180 h 1588"/>
                <a:gd name="T8" fmla="*/ 1769 w 2857"/>
                <a:gd name="T9" fmla="*/ 545 h 1588"/>
                <a:gd name="T10" fmla="*/ 2857 w 2857"/>
                <a:gd name="T11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57" h="1588">
                  <a:moveTo>
                    <a:pt x="0" y="1270"/>
                  </a:moveTo>
                  <a:cubicBezTo>
                    <a:pt x="94" y="1429"/>
                    <a:pt x="189" y="1588"/>
                    <a:pt x="272" y="1497"/>
                  </a:cubicBezTo>
                  <a:cubicBezTo>
                    <a:pt x="355" y="1406"/>
                    <a:pt x="393" y="779"/>
                    <a:pt x="499" y="726"/>
                  </a:cubicBezTo>
                  <a:cubicBezTo>
                    <a:pt x="605" y="673"/>
                    <a:pt x="695" y="1210"/>
                    <a:pt x="907" y="1180"/>
                  </a:cubicBezTo>
                  <a:cubicBezTo>
                    <a:pt x="1119" y="1150"/>
                    <a:pt x="1444" y="742"/>
                    <a:pt x="1769" y="545"/>
                  </a:cubicBezTo>
                  <a:cubicBezTo>
                    <a:pt x="2094" y="348"/>
                    <a:pt x="2475" y="174"/>
                    <a:pt x="2857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837" name="Freeform 13"/>
            <p:cNvSpPr/>
            <p:nvPr/>
          </p:nvSpPr>
          <p:spPr bwMode="auto">
            <a:xfrm>
              <a:off x="1066" y="890"/>
              <a:ext cx="2404" cy="2268"/>
            </a:xfrm>
            <a:custGeom>
              <a:avLst/>
              <a:gdLst>
                <a:gd name="T0" fmla="*/ 0 w 2404"/>
                <a:gd name="T1" fmla="*/ 2268 h 2268"/>
                <a:gd name="T2" fmla="*/ 408 w 2404"/>
                <a:gd name="T3" fmla="*/ 1996 h 2268"/>
                <a:gd name="T4" fmla="*/ 771 w 2404"/>
                <a:gd name="T5" fmla="*/ 1451 h 2268"/>
                <a:gd name="T6" fmla="*/ 1406 w 2404"/>
                <a:gd name="T7" fmla="*/ 1043 h 2268"/>
                <a:gd name="T8" fmla="*/ 2404 w 2404"/>
                <a:gd name="T9" fmla="*/ 0 h 2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4" h="2268">
                  <a:moveTo>
                    <a:pt x="0" y="2268"/>
                  </a:moveTo>
                  <a:cubicBezTo>
                    <a:pt x="139" y="2200"/>
                    <a:pt x="279" y="2132"/>
                    <a:pt x="408" y="1996"/>
                  </a:cubicBezTo>
                  <a:cubicBezTo>
                    <a:pt x="537" y="1860"/>
                    <a:pt x="605" y="1610"/>
                    <a:pt x="771" y="1451"/>
                  </a:cubicBezTo>
                  <a:cubicBezTo>
                    <a:pt x="937" y="1292"/>
                    <a:pt x="1134" y="1285"/>
                    <a:pt x="1406" y="1043"/>
                  </a:cubicBezTo>
                  <a:cubicBezTo>
                    <a:pt x="1678" y="801"/>
                    <a:pt x="2041" y="400"/>
                    <a:pt x="2404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b="1">
                <a:solidFill>
                  <a:srgbClr val="3907F1"/>
                </a:solidFill>
              </a:rPr>
              <a:t>渐近上界记号</a:t>
            </a:r>
            <a:r>
              <a:rPr lang="en-US" altLang="zh-CN" sz="2800" b="1" i="1">
                <a:solidFill>
                  <a:srgbClr val="3907F1"/>
                </a:solidFill>
              </a:rPr>
              <a:t>O</a:t>
            </a:r>
            <a:br>
              <a:rPr lang="en-US" altLang="zh-CN" sz="2800" b="1" i="1">
                <a:solidFill>
                  <a:srgbClr val="3907F1"/>
                </a:solidFill>
              </a:rPr>
            </a:br>
            <a:endParaRPr lang="en-US" altLang="zh-CN" sz="2800" b="1" i="1">
              <a:solidFill>
                <a:srgbClr val="3907F1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68C3C-625E-49FF-B1B7-21683C8B2CB9}" type="slidenum">
              <a:rPr lang="en-US" altLang="zh-CN"/>
            </a:fld>
            <a:endParaRPr lang="en-US" altLang="zh-CN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468313" y="1557338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3000" dirty="0"/>
              <a:t>3n = O(n)</a:t>
            </a:r>
            <a:endParaRPr lang="en-US" altLang="zh-CN" sz="3000" dirty="0"/>
          </a:p>
          <a:p>
            <a:pPr marL="669925" lvl="1" indent="-325755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/>
              <a:t>3n&lt;=4n</a:t>
            </a:r>
            <a:endParaRPr lang="en-US" altLang="zh-CN" sz="26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3000" dirty="0"/>
              <a:t>n+1024 = O(n)</a:t>
            </a:r>
            <a:endParaRPr lang="en-US" altLang="zh-CN" sz="3000" dirty="0"/>
          </a:p>
          <a:p>
            <a:pPr marL="669925" lvl="1" indent="-325755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/>
              <a:t>n+1024 &lt;= 1025n , n&gt;=n</a:t>
            </a:r>
            <a:r>
              <a:rPr lang="en-US" altLang="zh-CN" sz="2600" baseline="-25000" dirty="0"/>
              <a:t>0</a:t>
            </a:r>
            <a:endParaRPr lang="en-US" altLang="zh-CN" sz="2600" baseline="-250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3000" dirty="0"/>
              <a:t>3n</a:t>
            </a:r>
            <a:r>
              <a:rPr lang="en-US" altLang="zh-CN" sz="3000" baseline="30000" dirty="0"/>
              <a:t>2</a:t>
            </a:r>
            <a:r>
              <a:rPr lang="en-US" altLang="zh-CN" sz="3000" dirty="0"/>
              <a:t>+5n+3 = O(n</a:t>
            </a:r>
            <a:r>
              <a:rPr lang="en-US" altLang="zh-CN" sz="3400" baseline="30000" dirty="0"/>
              <a:t>2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 marL="669925" lvl="1" indent="-325755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/>
              <a:t>3n</a:t>
            </a:r>
            <a:r>
              <a:rPr lang="en-US" altLang="zh-CN" sz="3000" baseline="30000" dirty="0"/>
              <a:t>2</a:t>
            </a:r>
            <a:r>
              <a:rPr lang="en-US" altLang="zh-CN" sz="2600" dirty="0"/>
              <a:t>+5n+3 &lt;= 11n</a:t>
            </a:r>
            <a:r>
              <a:rPr lang="en-US" altLang="zh-CN" sz="3000" baseline="30000" dirty="0"/>
              <a:t>2</a:t>
            </a:r>
            <a:endParaRPr lang="en-US" altLang="zh-CN" sz="3000" baseline="300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en-US" altLang="zh-CN" sz="3000" dirty="0"/>
              <a:t>n</a:t>
            </a:r>
            <a:r>
              <a:rPr lang="en-US" altLang="zh-CN" sz="3000" baseline="30000" dirty="0"/>
              <a:t>2 </a:t>
            </a:r>
            <a:r>
              <a:rPr lang="en-US" altLang="zh-CN" sz="3000" dirty="0"/>
              <a:t>= O(n</a:t>
            </a:r>
            <a:r>
              <a:rPr lang="en-US" altLang="zh-CN" sz="3000" baseline="30000" dirty="0"/>
              <a:t>3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 marL="669925" lvl="1" indent="-325755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</a:pPr>
            <a:r>
              <a:rPr lang="en-US" altLang="zh-CN" sz="2600" dirty="0"/>
              <a:t>n</a:t>
            </a:r>
            <a:r>
              <a:rPr lang="en-US" altLang="zh-CN" sz="3000" baseline="30000" dirty="0"/>
              <a:t>3</a:t>
            </a:r>
            <a:r>
              <a:rPr lang="en-US" altLang="zh-CN" sz="2600" baseline="30000" dirty="0"/>
              <a:t> </a:t>
            </a:r>
            <a:r>
              <a:rPr lang="en-US" altLang="zh-CN" sz="3000" dirty="0"/>
              <a:t>&lt;&gt; O(</a:t>
            </a:r>
            <a:r>
              <a:rPr lang="en-US" altLang="zh-CN" sz="2600" dirty="0"/>
              <a:t>n</a:t>
            </a:r>
            <a:r>
              <a:rPr lang="en-US" altLang="zh-CN" sz="3000" baseline="30000" dirty="0"/>
              <a:t>2</a:t>
            </a:r>
            <a:r>
              <a:rPr lang="en-US" altLang="zh-CN" sz="2600" baseline="30000" dirty="0"/>
              <a:t> </a:t>
            </a:r>
            <a:r>
              <a:rPr lang="en-US" altLang="zh-CN" sz="3000" dirty="0"/>
              <a:t>)</a:t>
            </a:r>
            <a:endParaRPr lang="en-US" altLang="zh-CN" sz="3000" dirty="0"/>
          </a:p>
        </p:txBody>
      </p:sp>
      <p:pic>
        <p:nvPicPr>
          <p:cNvPr id="70662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908050"/>
            <a:ext cx="4824412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06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706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706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06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706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706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706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4" dur="500"/>
                                        <p:tgtEl>
                                          <p:spTgt spid="7066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741" y="836712"/>
            <a:ext cx="8362950" cy="1139825"/>
          </a:xfrm>
        </p:spPr>
        <p:txBody>
          <a:bodyPr>
            <a:normAutofit fontScale="90000"/>
          </a:bodyPr>
          <a:lstStyle/>
          <a:p>
            <a:r>
              <a:rPr lang="zh-CN" altLang="en-US" sz="3800" dirty="0"/>
              <a:t>若</a:t>
            </a:r>
            <a:r>
              <a:rPr lang="en-US" altLang="zh-CN" sz="3800" dirty="0"/>
              <a:t>A(n)=│</a:t>
            </a:r>
            <a:r>
              <a:rPr lang="en-US" altLang="zh-CN" sz="3800" dirty="0" err="1"/>
              <a:t>a</a:t>
            </a:r>
            <a:r>
              <a:rPr lang="en-US" altLang="zh-CN" sz="3800" baseline="-25000" dirty="0" err="1"/>
              <a:t>m</a:t>
            </a:r>
            <a:r>
              <a:rPr lang="en-US" altLang="zh-CN" sz="3800" dirty="0" err="1"/>
              <a:t>│n</a:t>
            </a:r>
            <a:r>
              <a:rPr lang="en-US" altLang="zh-CN" sz="3800" baseline="30000" dirty="0" err="1"/>
              <a:t>m</a:t>
            </a:r>
            <a:r>
              <a:rPr lang="en-US" altLang="zh-CN" sz="3800" dirty="0"/>
              <a:t>+</a:t>
            </a:r>
            <a:r>
              <a:rPr lang="en-US" altLang="zh-CN" sz="3800" dirty="0">
                <a:latin typeface="Arial" panose="020B0604020202020204"/>
              </a:rPr>
              <a:t>…</a:t>
            </a:r>
            <a:r>
              <a:rPr lang="en-US" altLang="zh-CN" sz="3800" dirty="0"/>
              <a:t>+ │a</a:t>
            </a:r>
            <a:r>
              <a:rPr lang="en-US" altLang="zh-CN" sz="3800" baseline="-25000" dirty="0"/>
              <a:t>1</a:t>
            </a:r>
            <a:r>
              <a:rPr lang="en-US" altLang="zh-CN" sz="3800" dirty="0"/>
              <a:t>│n+ │a</a:t>
            </a:r>
            <a:r>
              <a:rPr lang="en-US" altLang="zh-CN" sz="3800" baseline="-25000" dirty="0"/>
              <a:t>0</a:t>
            </a:r>
            <a:r>
              <a:rPr lang="en-US" altLang="zh-CN" sz="3800" dirty="0"/>
              <a:t>│</a:t>
            </a:r>
            <a:br>
              <a:rPr lang="en-US" altLang="zh-CN" sz="3800" dirty="0"/>
            </a:br>
            <a:r>
              <a:rPr lang="zh-CN" altLang="en-US" sz="3800" dirty="0"/>
              <a:t>是一个</a:t>
            </a:r>
            <a:r>
              <a:rPr lang="en-US" altLang="zh-CN" sz="3800" dirty="0"/>
              <a:t>m</a:t>
            </a:r>
            <a:r>
              <a:rPr lang="zh-CN" altLang="en-US" sz="3800" dirty="0"/>
              <a:t>次多项式</a:t>
            </a:r>
            <a:r>
              <a:rPr lang="en-US" altLang="zh-CN" sz="3800" dirty="0"/>
              <a:t>,</a:t>
            </a:r>
            <a:r>
              <a:rPr lang="zh-CN" altLang="en-US" sz="3800" dirty="0"/>
              <a:t>则</a:t>
            </a:r>
            <a:r>
              <a:rPr lang="en-US" altLang="zh-CN" sz="3800" dirty="0"/>
              <a:t>A(n)= O(n</a:t>
            </a:r>
            <a:r>
              <a:rPr lang="en-US" altLang="zh-CN" sz="3800" baseline="30000" dirty="0"/>
              <a:t>m</a:t>
            </a:r>
            <a:r>
              <a:rPr lang="en-US" altLang="zh-CN" sz="3800" dirty="0"/>
              <a:t>)</a:t>
            </a:r>
            <a:endParaRPr lang="en-US" altLang="zh-CN" sz="3800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601091" y="2159099"/>
            <a:ext cx="8507413" cy="4530725"/>
          </a:xfrm>
        </p:spPr>
        <p:txBody>
          <a:bodyPr/>
          <a:lstStyle/>
          <a:p>
            <a:r>
              <a:rPr lang="zh-CN" altLang="en-US"/>
              <a:t>证明</a:t>
            </a:r>
            <a:r>
              <a:rPr lang="en-US" altLang="zh-CN"/>
              <a:t>: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zh-CN" altLang="en-US"/>
              <a:t>取</a:t>
            </a:r>
            <a:r>
              <a:rPr lang="en-US" altLang="zh-CN"/>
              <a:t>n</a:t>
            </a:r>
            <a:r>
              <a:rPr lang="en-US" altLang="zh-CN" baseline="-25000"/>
              <a:t>0</a:t>
            </a:r>
            <a:r>
              <a:rPr lang="en-US" altLang="zh-CN"/>
              <a:t>=1,</a:t>
            </a:r>
            <a:r>
              <a:rPr lang="zh-CN" altLang="en-US"/>
              <a:t>当</a:t>
            </a:r>
            <a:r>
              <a:rPr lang="en-US" altLang="zh-CN"/>
              <a:t>n&gt;=n</a:t>
            </a:r>
            <a:r>
              <a:rPr lang="en-US" altLang="zh-CN" baseline="-25000"/>
              <a:t>0</a:t>
            </a:r>
            <a:r>
              <a:rPr lang="zh-CN" altLang="en-US"/>
              <a:t>时</a:t>
            </a:r>
            <a:r>
              <a:rPr lang="en-US" altLang="zh-CN"/>
              <a:t>,</a:t>
            </a:r>
            <a:r>
              <a:rPr lang="zh-CN" altLang="en-US"/>
              <a:t>利用</a:t>
            </a:r>
            <a:r>
              <a:rPr lang="en-US" altLang="zh-CN"/>
              <a:t>A(n)</a:t>
            </a:r>
            <a:r>
              <a:rPr lang="zh-CN" altLang="en-US"/>
              <a:t>的定义和一个简单的不等式</a:t>
            </a:r>
            <a:r>
              <a:rPr lang="en-US" altLang="zh-CN"/>
              <a:t>,</a:t>
            </a:r>
            <a:r>
              <a:rPr lang="zh-CN" altLang="en-US"/>
              <a:t>有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A(n)&lt;=│a</a:t>
            </a:r>
            <a:r>
              <a:rPr lang="en-US" altLang="zh-CN" baseline="-25000"/>
              <a:t>m</a:t>
            </a:r>
            <a:r>
              <a:rPr lang="en-US" altLang="zh-CN"/>
              <a:t>│n</a:t>
            </a:r>
            <a:r>
              <a:rPr lang="en-US" altLang="zh-CN" baseline="30000"/>
              <a:t>m </a:t>
            </a:r>
            <a:r>
              <a:rPr lang="en-US" altLang="zh-CN"/>
              <a:t>+…+ │a</a:t>
            </a:r>
            <a:r>
              <a:rPr lang="en-US" altLang="zh-CN" baseline="-25000"/>
              <a:t>1</a:t>
            </a:r>
            <a:r>
              <a:rPr lang="en-US" altLang="zh-CN"/>
              <a:t>│n + │a</a:t>
            </a:r>
            <a:r>
              <a:rPr lang="en-US" altLang="zh-CN" baseline="-25000"/>
              <a:t>0</a:t>
            </a:r>
            <a:r>
              <a:rPr lang="en-US" altLang="zh-CN"/>
              <a:t>│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	 &lt;=(│a</a:t>
            </a:r>
            <a:r>
              <a:rPr lang="en-US" altLang="zh-CN" baseline="-25000"/>
              <a:t>m</a:t>
            </a:r>
            <a:r>
              <a:rPr lang="en-US" altLang="zh-CN"/>
              <a:t>│+ │a</a:t>
            </a:r>
            <a:r>
              <a:rPr lang="en-US" altLang="zh-CN" baseline="-25000"/>
              <a:t>m-1</a:t>
            </a:r>
            <a:r>
              <a:rPr lang="en-US" altLang="zh-CN"/>
              <a:t>│/n +…+ │a</a:t>
            </a:r>
            <a:r>
              <a:rPr lang="en-US" altLang="zh-CN" baseline="-25000"/>
              <a:t>0</a:t>
            </a:r>
            <a:r>
              <a:rPr lang="en-US" altLang="zh-CN"/>
              <a:t>│/ n</a:t>
            </a:r>
            <a:r>
              <a:rPr lang="en-US" altLang="zh-CN" baseline="30000"/>
              <a:t>m</a:t>
            </a:r>
            <a:r>
              <a:rPr lang="en-US" altLang="zh-CN"/>
              <a:t>) n</a:t>
            </a:r>
            <a:r>
              <a:rPr lang="en-US" altLang="zh-CN" baseline="30000"/>
              <a:t>m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	 &lt;=(│a</a:t>
            </a:r>
            <a:r>
              <a:rPr lang="en-US" altLang="zh-CN" baseline="-25000"/>
              <a:t>m</a:t>
            </a:r>
            <a:r>
              <a:rPr lang="en-US" altLang="zh-CN"/>
              <a:t>│+ …+ │a</a:t>
            </a:r>
            <a:r>
              <a:rPr lang="en-US" altLang="zh-CN" baseline="-25000"/>
              <a:t>0</a:t>
            </a:r>
            <a:r>
              <a:rPr lang="en-US" altLang="zh-CN"/>
              <a:t>│) n</a:t>
            </a:r>
            <a:r>
              <a:rPr lang="en-US" altLang="zh-CN" baseline="30000"/>
              <a:t>m</a:t>
            </a:r>
            <a:endParaRPr lang="en-US" altLang="zh-CN" baseline="30000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选取</a:t>
            </a:r>
            <a:r>
              <a:rPr lang="en-US" altLang="zh-CN"/>
              <a:t>c= │a</a:t>
            </a:r>
            <a:r>
              <a:rPr lang="en-US" altLang="zh-CN" baseline="-25000"/>
              <a:t>m</a:t>
            </a:r>
            <a:r>
              <a:rPr lang="en-US" altLang="zh-CN"/>
              <a:t>│+ …+ │a</a:t>
            </a:r>
            <a:r>
              <a:rPr lang="en-US" altLang="zh-CN" baseline="-25000"/>
              <a:t>0</a:t>
            </a:r>
            <a:r>
              <a:rPr lang="en-US" altLang="zh-CN"/>
              <a:t>│</a:t>
            </a:r>
            <a:r>
              <a:rPr lang="zh-CN" altLang="en-US"/>
              <a:t>，得证。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83782-19BB-40A9-A557-AF0514B1468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8" name="Picture 8"/>
          <p:cNvPicPr>
            <a:picLocks noGrp="1" noChangeAspect="1" noChangeArrowheads="1"/>
          </p:cNvPicPr>
          <p:nvPr>
            <p:ph type="title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9750" y="879376"/>
            <a:ext cx="4968875" cy="533400"/>
          </a:xfrm>
          <a:noFill/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94AD6-B567-4B9F-B297-F19A5EB005DA}" type="slidenum">
              <a:rPr lang="en-US" altLang="zh-CN"/>
            </a:fld>
            <a:endParaRPr lang="en-US" altLang="zh-CN"/>
          </a:p>
        </p:txBody>
      </p:sp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12875"/>
            <a:ext cx="8424862" cy="411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556792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dirty="0"/>
              <a:t>（</a:t>
            </a:r>
            <a:r>
              <a:rPr lang="en-US" altLang="zh-CN" sz="2600" dirty="0"/>
              <a:t>3</a:t>
            </a:r>
            <a:r>
              <a:rPr lang="zh-CN" altLang="en-US" sz="2600" dirty="0"/>
              <a:t>）</a:t>
            </a:r>
            <a:r>
              <a:rPr lang="zh-CN" altLang="en-US" sz="2600" b="1" dirty="0">
                <a:solidFill>
                  <a:srgbClr val="3907F1"/>
                </a:solidFill>
              </a:rPr>
              <a:t>渐近下界记号</a:t>
            </a:r>
            <a:r>
              <a:rPr lang="zh-CN" altLang="en-US" sz="2600" b="1" dirty="0">
                <a:solidFill>
                  <a:srgbClr val="3907F1"/>
                </a:solidFill>
                <a:sym typeface="Symbol" panose="05050102010706020507" pitchFamily="18" charset="2"/>
              </a:rPr>
              <a:t></a:t>
            </a:r>
            <a:r>
              <a:rPr lang="zh-CN" altLang="en-US" sz="2600" dirty="0"/>
              <a:t> </a:t>
            </a:r>
            <a:endParaRPr lang="zh-CN" altLang="en-US" sz="2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dirty="0">
                <a:sym typeface="Symbol" panose="05050102010706020507" pitchFamily="18" charset="2"/>
              </a:rPr>
              <a:t>	</a:t>
            </a:r>
            <a:r>
              <a:rPr lang="zh-CN" altLang="en-US" sz="2600" dirty="0"/>
              <a:t> </a:t>
            </a:r>
            <a:r>
              <a:rPr lang="en-US" altLang="zh-CN" sz="2600" dirty="0"/>
              <a:t>(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= {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| </a:t>
            </a:r>
            <a:r>
              <a:rPr lang="zh-CN" altLang="en-US" sz="2600" dirty="0"/>
              <a:t>存在正常数</a:t>
            </a:r>
            <a:r>
              <a:rPr lang="en-US" altLang="zh-CN" sz="2600" i="1" dirty="0"/>
              <a:t>c</a:t>
            </a:r>
            <a:r>
              <a:rPr lang="zh-CN" altLang="en-US" sz="2600" dirty="0"/>
              <a:t>和</a:t>
            </a:r>
            <a:r>
              <a:rPr lang="en-US" altLang="zh-CN" sz="2600" i="1" dirty="0"/>
              <a:t>n</a:t>
            </a:r>
            <a:r>
              <a:rPr lang="en-US" altLang="zh-CN" sz="2600" baseline="-25000" dirty="0"/>
              <a:t>0</a:t>
            </a:r>
            <a:r>
              <a:rPr lang="zh-CN" altLang="en-US" sz="2600" dirty="0"/>
              <a:t>使得对所有</a:t>
            </a:r>
            <a:r>
              <a:rPr lang="en-US" altLang="zh-CN" sz="2600" i="1" dirty="0"/>
              <a:t>n</a:t>
            </a:r>
            <a:r>
              <a:rPr lang="en-US" altLang="zh-CN" sz="2600" dirty="0">
                <a:sym typeface="Symbol" panose="05050102010706020507" pitchFamily="18" charset="2"/>
              </a:rPr>
              <a:t> </a:t>
            </a:r>
            <a:r>
              <a:rPr lang="en-US" altLang="zh-CN" sz="2600" i="1" dirty="0"/>
              <a:t>n</a:t>
            </a:r>
            <a:r>
              <a:rPr lang="en-US" altLang="zh-CN" sz="2600" baseline="-25000" dirty="0"/>
              <a:t>0</a:t>
            </a:r>
            <a:r>
              <a:rPr lang="zh-CN" altLang="en-US" sz="2600" dirty="0"/>
              <a:t>有：</a:t>
            </a:r>
            <a:r>
              <a:rPr lang="en-US" altLang="zh-CN" sz="2600" dirty="0"/>
              <a:t>0</a:t>
            </a:r>
            <a:r>
              <a:rPr lang="en-US" altLang="zh-CN" sz="2600" dirty="0">
                <a:sym typeface="Symbol" panose="05050102010706020507" pitchFamily="18" charset="2"/>
              </a:rPr>
              <a:t></a:t>
            </a:r>
            <a:r>
              <a:rPr lang="en-US" altLang="zh-CN" sz="2600" dirty="0"/>
              <a:t> </a:t>
            </a:r>
            <a:r>
              <a:rPr lang="en-US" altLang="zh-CN" sz="2600" i="1" dirty="0"/>
              <a:t>cg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</a:t>
            </a:r>
            <a:r>
              <a:rPr lang="en-US" altLang="zh-CN" sz="2600" dirty="0">
                <a:sym typeface="Symbol" panose="05050102010706020507" pitchFamily="18" charset="2"/>
              </a:rPr>
              <a:t></a:t>
            </a:r>
            <a:r>
              <a:rPr lang="en-US" altLang="zh-CN" sz="2600" dirty="0"/>
              <a:t> 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 }</a:t>
            </a:r>
            <a:endParaRPr lang="en-US" altLang="zh-CN" sz="2600" dirty="0"/>
          </a:p>
          <a:p>
            <a:endParaRPr lang="en-US" altLang="zh-CN" sz="26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91DDDA-9277-40BD-BFCE-1CCD26A6A344}" type="slidenum">
              <a:rPr lang="en-US" altLang="zh-CN"/>
            </a:fld>
            <a:endParaRPr lang="en-US" altLang="zh-C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95858" y="476672"/>
            <a:ext cx="8229600" cy="1139825"/>
          </a:xfrm>
          <a:prstGeom prst="rect">
            <a:avLst/>
          </a:prstGeom>
          <a:noFill/>
        </p:spPr>
        <p:txBody>
          <a:bodyPr vert="horz" lIns="0" rIns="0" bIns="0" anchor="b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 smtClean="0"/>
              <a:t>渐近分析的记号</a:t>
            </a:r>
            <a:endParaRPr lang="zh-CN" altLang="en-US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C8592-7A1C-48F0-8A8B-05288B0F18F8}" type="slidenum">
              <a:rPr lang="en-US" altLang="zh-CN"/>
            </a:fld>
            <a:endParaRPr lang="en-US" altLang="zh-CN"/>
          </a:p>
        </p:txBody>
      </p:sp>
      <p:grpSp>
        <p:nvGrpSpPr>
          <p:cNvPr id="78862" name="Group 14"/>
          <p:cNvGrpSpPr/>
          <p:nvPr/>
        </p:nvGrpSpPr>
        <p:grpSpPr bwMode="auto">
          <a:xfrm>
            <a:off x="1692275" y="1052513"/>
            <a:ext cx="5759450" cy="4752975"/>
            <a:chOff x="1066" y="935"/>
            <a:chExt cx="3628" cy="2994"/>
          </a:xfrm>
        </p:grpSpPr>
        <p:graphicFrame>
          <p:nvGraphicFramePr>
            <p:cNvPr id="78852" name="Object 4"/>
            <p:cNvGraphicFramePr>
              <a:graphicFrameLocks noChangeAspect="1"/>
            </p:cNvGraphicFramePr>
            <p:nvPr/>
          </p:nvGraphicFramePr>
          <p:xfrm>
            <a:off x="2245" y="3657"/>
            <a:ext cx="1134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08" name="公式" r:id="rId1" imgW="989965" imgH="203200" progId="Equation.3">
                    <p:embed/>
                  </p:oleObj>
                </mc:Choice>
                <mc:Fallback>
                  <p:oleObj name="公式" r:id="rId1" imgW="989965" imgH="2032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5" y="3657"/>
                          <a:ext cx="1134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53" name="Object 5"/>
            <p:cNvGraphicFramePr>
              <a:graphicFrameLocks noChangeAspect="1"/>
            </p:cNvGraphicFramePr>
            <p:nvPr/>
          </p:nvGraphicFramePr>
          <p:xfrm>
            <a:off x="1656" y="3566"/>
            <a:ext cx="260" cy="3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09" name="公式" r:id="rId3" imgW="165100" imgH="228600" progId="Equation.3">
                    <p:embed/>
                  </p:oleObj>
                </mc:Choice>
                <mc:Fallback>
                  <p:oleObj name="公式" r:id="rId3" imgW="165100" imgH="2286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6" y="3566"/>
                          <a:ext cx="260" cy="3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54" name="Line 6"/>
            <p:cNvSpPr>
              <a:spLocks noChangeShapeType="1"/>
            </p:cNvSpPr>
            <p:nvPr/>
          </p:nvSpPr>
          <p:spPr bwMode="auto">
            <a:xfrm flipV="1">
              <a:off x="1066" y="1026"/>
              <a:ext cx="45" cy="24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55" name="Line 7"/>
            <p:cNvSpPr>
              <a:spLocks noChangeShapeType="1"/>
            </p:cNvSpPr>
            <p:nvPr/>
          </p:nvSpPr>
          <p:spPr bwMode="auto">
            <a:xfrm>
              <a:off x="1066" y="3520"/>
              <a:ext cx="299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56" name="Line 8"/>
            <p:cNvSpPr>
              <a:spLocks noChangeShapeType="1"/>
            </p:cNvSpPr>
            <p:nvPr/>
          </p:nvSpPr>
          <p:spPr bwMode="auto">
            <a:xfrm>
              <a:off x="1655" y="2568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8857" name="Object 9"/>
            <p:cNvGraphicFramePr>
              <a:graphicFrameLocks noChangeAspect="1"/>
            </p:cNvGraphicFramePr>
            <p:nvPr/>
          </p:nvGraphicFramePr>
          <p:xfrm>
            <a:off x="4105" y="1797"/>
            <a:ext cx="538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10" name="公式" r:id="rId5" imgW="381000" imgH="203200" progId="Equation.3">
                    <p:embed/>
                  </p:oleObj>
                </mc:Choice>
                <mc:Fallback>
                  <p:oleObj name="公式" r:id="rId5" imgW="381000" imgH="20320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5" y="1797"/>
                          <a:ext cx="538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58" name="Object 10"/>
            <p:cNvGraphicFramePr>
              <a:graphicFrameLocks noChangeAspect="1"/>
            </p:cNvGraphicFramePr>
            <p:nvPr/>
          </p:nvGraphicFramePr>
          <p:xfrm>
            <a:off x="3924" y="3611"/>
            <a:ext cx="208" cy="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11" name="公式" r:id="rId7" imgW="127000" imgH="139700" progId="Equation.3">
                    <p:embed/>
                  </p:oleObj>
                </mc:Choice>
                <mc:Fallback>
                  <p:oleObj name="公式" r:id="rId7" imgW="127000" imgH="1397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4" y="3611"/>
                          <a:ext cx="208" cy="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859" name="Object 11"/>
            <p:cNvGraphicFramePr>
              <a:graphicFrameLocks noChangeAspect="1"/>
            </p:cNvGraphicFramePr>
            <p:nvPr/>
          </p:nvGraphicFramePr>
          <p:xfrm>
            <a:off x="4195" y="935"/>
            <a:ext cx="499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8912" name="公式" r:id="rId9" imgW="342900" imgH="203200" progId="Equation.3">
                    <p:embed/>
                  </p:oleObj>
                </mc:Choice>
                <mc:Fallback>
                  <p:oleObj name="公式" r:id="rId9" imgW="342900" imgH="2032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5" y="935"/>
                          <a:ext cx="499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8860" name="Freeform 12"/>
            <p:cNvSpPr/>
            <p:nvPr/>
          </p:nvSpPr>
          <p:spPr bwMode="auto">
            <a:xfrm>
              <a:off x="1066" y="1117"/>
              <a:ext cx="3220" cy="1950"/>
            </a:xfrm>
            <a:custGeom>
              <a:avLst/>
              <a:gdLst>
                <a:gd name="T0" fmla="*/ 0 w 3220"/>
                <a:gd name="T1" fmla="*/ 1905 h 1950"/>
                <a:gd name="T2" fmla="*/ 226 w 3220"/>
                <a:gd name="T3" fmla="*/ 1633 h 1950"/>
                <a:gd name="T4" fmla="*/ 408 w 3220"/>
                <a:gd name="T5" fmla="*/ 1859 h 1950"/>
                <a:gd name="T6" fmla="*/ 907 w 3220"/>
                <a:gd name="T7" fmla="*/ 1088 h 1950"/>
                <a:gd name="T8" fmla="*/ 2812 w 3220"/>
                <a:gd name="T9" fmla="*/ 272 h 1950"/>
                <a:gd name="T10" fmla="*/ 3220 w 3220"/>
                <a:gd name="T11" fmla="*/ 0 h 19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20" h="1950">
                  <a:moveTo>
                    <a:pt x="0" y="1905"/>
                  </a:moveTo>
                  <a:cubicBezTo>
                    <a:pt x="79" y="1773"/>
                    <a:pt x="158" y="1641"/>
                    <a:pt x="226" y="1633"/>
                  </a:cubicBezTo>
                  <a:cubicBezTo>
                    <a:pt x="294" y="1625"/>
                    <a:pt x="295" y="1950"/>
                    <a:pt x="408" y="1859"/>
                  </a:cubicBezTo>
                  <a:cubicBezTo>
                    <a:pt x="521" y="1768"/>
                    <a:pt x="506" y="1353"/>
                    <a:pt x="907" y="1088"/>
                  </a:cubicBezTo>
                  <a:cubicBezTo>
                    <a:pt x="1308" y="823"/>
                    <a:pt x="2427" y="453"/>
                    <a:pt x="2812" y="272"/>
                  </a:cubicBezTo>
                  <a:cubicBezTo>
                    <a:pt x="3197" y="91"/>
                    <a:pt x="3208" y="45"/>
                    <a:pt x="3220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61" name="Freeform 13"/>
            <p:cNvSpPr/>
            <p:nvPr/>
          </p:nvSpPr>
          <p:spPr bwMode="auto">
            <a:xfrm>
              <a:off x="1066" y="1979"/>
              <a:ext cx="2993" cy="861"/>
            </a:xfrm>
            <a:custGeom>
              <a:avLst/>
              <a:gdLst>
                <a:gd name="T0" fmla="*/ 0 w 2993"/>
                <a:gd name="T1" fmla="*/ 861 h 861"/>
                <a:gd name="T2" fmla="*/ 363 w 2993"/>
                <a:gd name="T3" fmla="*/ 816 h 861"/>
                <a:gd name="T4" fmla="*/ 544 w 2993"/>
                <a:gd name="T5" fmla="*/ 589 h 861"/>
                <a:gd name="T6" fmla="*/ 998 w 2993"/>
                <a:gd name="T7" fmla="*/ 499 h 861"/>
                <a:gd name="T8" fmla="*/ 1496 w 2993"/>
                <a:gd name="T9" fmla="*/ 272 h 861"/>
                <a:gd name="T10" fmla="*/ 2993 w 2993"/>
                <a:gd name="T11" fmla="*/ 0 h 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93" h="861">
                  <a:moveTo>
                    <a:pt x="0" y="861"/>
                  </a:moveTo>
                  <a:cubicBezTo>
                    <a:pt x="136" y="861"/>
                    <a:pt x="272" y="861"/>
                    <a:pt x="363" y="816"/>
                  </a:cubicBezTo>
                  <a:cubicBezTo>
                    <a:pt x="454" y="771"/>
                    <a:pt x="438" y="642"/>
                    <a:pt x="544" y="589"/>
                  </a:cubicBezTo>
                  <a:cubicBezTo>
                    <a:pt x="650" y="536"/>
                    <a:pt x="839" y="552"/>
                    <a:pt x="998" y="499"/>
                  </a:cubicBezTo>
                  <a:cubicBezTo>
                    <a:pt x="1157" y="446"/>
                    <a:pt x="1164" y="355"/>
                    <a:pt x="1496" y="272"/>
                  </a:cubicBezTo>
                  <a:cubicBezTo>
                    <a:pt x="1828" y="189"/>
                    <a:pt x="2410" y="94"/>
                    <a:pt x="2993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333375"/>
            <a:ext cx="8229600" cy="1139825"/>
          </a:xfrm>
        </p:spPr>
        <p:txBody>
          <a:bodyPr/>
          <a:lstStyle/>
          <a:p>
            <a:r>
              <a:rPr lang="zh-CN" altLang="en-US" sz="2800" b="1">
                <a:solidFill>
                  <a:srgbClr val="3907F1"/>
                </a:solidFill>
              </a:rPr>
              <a:t>渐近下界记号</a:t>
            </a:r>
            <a:r>
              <a:rPr lang="zh-CN" altLang="en-US" sz="2800" b="1">
                <a:solidFill>
                  <a:srgbClr val="3907F1"/>
                </a:solidFill>
                <a:sym typeface="Symbol" panose="05050102010706020507" pitchFamily="18" charset="2"/>
              </a:rPr>
              <a:t></a:t>
            </a:r>
            <a:endParaRPr lang="zh-CN" altLang="en-US" sz="2800" b="1">
              <a:solidFill>
                <a:srgbClr val="3907F1"/>
              </a:solidFill>
              <a:sym typeface="Symbol" panose="05050102010706020507" pitchFamily="18" charset="2"/>
            </a:endParaRPr>
          </a:p>
        </p:txBody>
      </p:sp>
      <p:pic>
        <p:nvPicPr>
          <p:cNvPr id="7270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1700213"/>
            <a:ext cx="8208962" cy="3527425"/>
          </a:xfrm>
          <a:noFill/>
        </p:spPr>
      </p:pic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08420-9F13-43DE-8208-C3B67E92A5B2}" type="slidenum">
              <a:rPr lang="en-US" altLang="zh-CN"/>
            </a:fld>
            <a:endParaRPr lang="en-US" altLang="zh-CN"/>
          </a:p>
        </p:txBody>
      </p:sp>
      <p:pic>
        <p:nvPicPr>
          <p:cNvPr id="727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836613"/>
            <a:ext cx="4319587" cy="63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476250"/>
            <a:ext cx="8497887" cy="5413375"/>
          </a:xfrm>
          <a:noFill/>
        </p:spPr>
      </p:pic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11994-0F69-486C-9810-0491AA5D3709}" type="slidenum">
              <a:rPr lang="en-US" altLang="zh-CN"/>
            </a:fld>
            <a:endParaRPr lang="en-US" altLang="zh-CN"/>
          </a:p>
        </p:txBody>
      </p:sp>
      <p:sp>
        <p:nvSpPr>
          <p:cNvPr id="74757" name="Rectangle 5"/>
          <p:cNvSpPr>
            <a:spLocks noChangeArrowheads="1"/>
          </p:cNvSpPr>
          <p:nvPr/>
        </p:nvSpPr>
        <p:spPr bwMode="auto">
          <a:xfrm>
            <a:off x="468313" y="5949950"/>
            <a:ext cx="8207375" cy="641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</a:pPr>
            <a:r>
              <a:rPr lang="zh-CN" altLang="en-US" b="1"/>
              <a:t>实际中，通常根据渐近上界和渐近下界来证明渐近紧界，而不是根据渐近紧界来得到渐近上界和渐近下界）</a:t>
            </a:r>
            <a:endParaRPr lang="zh-CN" altLang="en-US" b="1"/>
          </a:p>
        </p:txBody>
      </p:sp>
      <p:sp>
        <p:nvSpPr>
          <p:cNvPr id="74758" name="Rectangle 6"/>
          <p:cNvSpPr>
            <a:spLocks noChangeArrowheads="1"/>
          </p:cNvSpPr>
          <p:nvPr/>
        </p:nvSpPr>
        <p:spPr bwMode="auto">
          <a:xfrm>
            <a:off x="1763713" y="404813"/>
            <a:ext cx="504825" cy="431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468313" y="333375"/>
            <a:ext cx="8496300" cy="12954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zh-CN" altLang="en-US" sz="2800"/>
              <a:t>定理</a:t>
            </a:r>
            <a:r>
              <a:rPr lang="en-US" altLang="zh-CN" sz="2800"/>
              <a:t>: </a:t>
            </a:r>
            <a:r>
              <a:rPr lang="zh-CN" altLang="en-US" sz="2800"/>
              <a:t>对于任意给定的函数</a:t>
            </a:r>
            <a:r>
              <a:rPr lang="en-US" altLang="zh-CN" sz="2800"/>
              <a:t>f(n),g(n)</a:t>
            </a:r>
            <a:r>
              <a:rPr lang="zh-CN" altLang="en-US" sz="2800"/>
              <a:t>，</a:t>
            </a:r>
            <a:r>
              <a:rPr lang="en-US" altLang="zh-CN" sz="2800"/>
              <a:t>f (n)= Θ(g(n))</a:t>
            </a:r>
            <a:endParaRPr lang="en-US" altLang="zh-CN" sz="2800"/>
          </a:p>
          <a:p>
            <a:r>
              <a:rPr lang="en-US" altLang="zh-CN" sz="2800"/>
              <a:t>	</a:t>
            </a:r>
            <a:r>
              <a:rPr lang="zh-CN" altLang="en-US" sz="2800"/>
              <a:t>当且仅当</a:t>
            </a:r>
            <a:r>
              <a:rPr lang="en-US" altLang="zh-CN" sz="2800"/>
              <a:t>f (n)= O(g(n))</a:t>
            </a:r>
            <a:r>
              <a:rPr lang="zh-CN" altLang="en-US" sz="2800"/>
              <a:t>且</a:t>
            </a:r>
            <a:r>
              <a:rPr lang="en-US" altLang="zh-CN" sz="2800"/>
              <a:t>f (n)= Ω(g(n))</a:t>
            </a:r>
            <a:r>
              <a:rPr lang="zh-CN" altLang="en-US" sz="2800"/>
              <a:t>。</a:t>
            </a:r>
            <a:endParaRPr lang="zh-CN" altLang="en-US" sz="28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Write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)) to indicate that a function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is a member of the set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)).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Θ(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 smtClean="0"/>
              <a:t>))</a:t>
            </a:r>
            <a:r>
              <a:rPr lang="zh-CN" altLang="en-US" dirty="0" smtClean="0"/>
              <a:t>意味着</a:t>
            </a:r>
            <a:r>
              <a:rPr lang="en-US" altLang="zh-CN" dirty="0" smtClean="0"/>
              <a:t> 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 = </a:t>
            </a:r>
            <a:r>
              <a:rPr lang="en-US" altLang="zh-CN" i="1" dirty="0"/>
              <a:t>O</a:t>
            </a:r>
            <a:r>
              <a:rPr lang="en-US" altLang="zh-CN" dirty="0"/>
              <a:t>(</a:t>
            </a:r>
            <a:r>
              <a:rPr lang="en-US" altLang="zh-CN" i="1" dirty="0"/>
              <a:t>g</a:t>
            </a:r>
            <a:r>
              <a:rPr lang="en-US" altLang="zh-CN" dirty="0"/>
              <a:t>(</a:t>
            </a:r>
            <a:r>
              <a:rPr lang="en-US" altLang="zh-CN" i="1" dirty="0"/>
              <a:t>n</a:t>
            </a:r>
            <a:r>
              <a:rPr lang="en-US" altLang="zh-CN" dirty="0"/>
              <a:t>))</a:t>
            </a:r>
            <a:endParaRPr lang="en-US" altLang="zh-CN" dirty="0"/>
          </a:p>
          <a:p>
            <a:r>
              <a:rPr lang="en-US" altLang="zh-CN" i="1" dirty="0"/>
              <a:t>O</a:t>
            </a:r>
            <a:r>
              <a:rPr lang="zh-CN" altLang="en-US" dirty="0"/>
              <a:t>记号是用来表示上界的，当用它作为算法的最坏情况运行时间的上界时，就有对任意输入的运行时间的上界。</a:t>
            </a:r>
            <a:endParaRPr lang="zh-CN" altLang="en-US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6CDFE-9F5C-462C-8774-1D386A102BC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18488" cy="1927225"/>
          </a:xfrm>
        </p:spPr>
        <p:txBody>
          <a:bodyPr>
            <a:noAutofit/>
          </a:bodyPr>
          <a:lstStyle/>
          <a:p>
            <a:r>
              <a:rPr lang="zh-CN" altLang="en-US" sz="3200" b="1" dirty="0"/>
              <a:t>若</a:t>
            </a:r>
            <a:r>
              <a:rPr lang="en-US" altLang="zh-CN" sz="3200" b="1" dirty="0"/>
              <a:t>f(n) = O(g(n)) </a:t>
            </a:r>
            <a:r>
              <a:rPr lang="zh-CN" altLang="en-US" sz="3200" b="1" dirty="0"/>
              <a:t>且 </a:t>
            </a:r>
            <a:r>
              <a:rPr lang="en-US" altLang="zh-CN" sz="3200" b="1" dirty="0"/>
              <a:t>g(n) = O(f(n)), </a:t>
            </a:r>
            <a:r>
              <a:rPr lang="zh-CN" altLang="en-US" sz="3200" b="1" dirty="0"/>
              <a:t>则</a:t>
            </a:r>
            <a:r>
              <a:rPr lang="en-US" altLang="zh-CN" sz="3200" b="1" dirty="0"/>
              <a:t>f, g</a:t>
            </a:r>
            <a:r>
              <a:rPr lang="zh-CN" altLang="en-US" sz="3200" b="1" dirty="0"/>
              <a:t>具有相同的增长率</a:t>
            </a:r>
            <a:br>
              <a:rPr lang="zh-CN" altLang="en-US" sz="3200" b="1" dirty="0"/>
            </a:br>
            <a:r>
              <a:rPr lang="zh-CN" altLang="en-US" sz="3200" b="1" dirty="0"/>
              <a:t>若</a:t>
            </a:r>
            <a:r>
              <a:rPr lang="en-US" altLang="zh-CN" sz="3200" b="1" dirty="0"/>
              <a:t>f(n) = O(g(n)) </a:t>
            </a:r>
            <a:r>
              <a:rPr lang="zh-CN" altLang="en-US" sz="3200" b="1" dirty="0"/>
              <a:t>且 </a:t>
            </a:r>
            <a:r>
              <a:rPr lang="en-US" altLang="zh-CN" sz="3200" b="1" dirty="0"/>
              <a:t>g(n) &lt;&gt;O(f(n)),  </a:t>
            </a:r>
            <a:r>
              <a:rPr lang="zh-CN" altLang="en-US" sz="3200" b="1" dirty="0"/>
              <a:t>则称</a:t>
            </a:r>
            <a:r>
              <a:rPr lang="en-US" altLang="zh-CN" sz="3200" b="1" dirty="0"/>
              <a:t>g(n)</a:t>
            </a:r>
            <a:r>
              <a:rPr lang="zh-CN" altLang="en-US" sz="3200" b="1" dirty="0"/>
              <a:t>比</a:t>
            </a:r>
            <a:r>
              <a:rPr lang="en-US" altLang="zh-CN" sz="3200" b="1" dirty="0"/>
              <a:t>f(n)</a:t>
            </a:r>
            <a:r>
              <a:rPr lang="zh-CN" altLang="en-US" sz="3200" b="1" dirty="0"/>
              <a:t>增长得快</a:t>
            </a:r>
            <a:endParaRPr lang="zh-CN" altLang="en-US" sz="3200" b="1" dirty="0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C7878-5DD1-4D42-9B0F-531DE8E58E12}" type="slidenum">
              <a:rPr lang="en-US" altLang="zh-CN"/>
            </a:fld>
            <a:endParaRPr lang="en-US" altLang="zh-CN"/>
          </a:p>
        </p:txBody>
      </p:sp>
      <p:sp>
        <p:nvSpPr>
          <p:cNvPr id="80904" name="Rectangle 8"/>
          <p:cNvSpPr>
            <a:spLocks noChangeArrowheads="1"/>
          </p:cNvSpPr>
          <p:nvPr/>
        </p:nvSpPr>
        <p:spPr bwMode="auto">
          <a:xfrm>
            <a:off x="0" y="2266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0906" name="Rectangle 10"/>
          <p:cNvSpPr>
            <a:spLocks noChangeArrowheads="1"/>
          </p:cNvSpPr>
          <p:nvPr/>
        </p:nvSpPr>
        <p:spPr bwMode="auto">
          <a:xfrm>
            <a:off x="0" y="2119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0905" name="Object 9"/>
          <p:cNvGraphicFramePr>
            <a:graphicFrameLocks noChangeAspect="1"/>
          </p:cNvGraphicFramePr>
          <p:nvPr/>
        </p:nvGraphicFramePr>
        <p:xfrm>
          <a:off x="611188" y="2205038"/>
          <a:ext cx="7129462" cy="428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16" name="公式" r:id="rId1" imgW="3340100" imgH="2006600" progId="Equation.3">
                  <p:embed/>
                </p:oleObj>
              </mc:Choice>
              <mc:Fallback>
                <p:oleObj name="公式" r:id="rId1" imgW="3340100" imgH="2006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205038"/>
                        <a:ext cx="7129462" cy="42894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977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关于</a:t>
            </a:r>
            <a:r>
              <a:rPr lang="en-US" altLang="zh-CN" sz="4800" dirty="0"/>
              <a:t>O</a:t>
            </a:r>
            <a:r>
              <a:rPr lang="zh-CN" altLang="en-US" sz="4800" dirty="0"/>
              <a:t>的延伸理解</a:t>
            </a:r>
            <a:endParaRPr lang="zh-CN" altLang="en-US" sz="4800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412776"/>
            <a:ext cx="8229600" cy="50784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O</a:t>
            </a:r>
            <a:r>
              <a:rPr lang="zh-CN" altLang="en-US" dirty="0"/>
              <a:t>是一种机制，对给定的一个算法，找出其时间、空间上限的机制，而不是此算法写成程序后所需的具体时间。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/>
              <a:t>O</a:t>
            </a:r>
            <a:r>
              <a:rPr lang="zh-CN" altLang="en-US" dirty="0"/>
              <a:t>是一种增长趋势，不依赖于某一台机器，是计算时间的渐进表示。</a:t>
            </a:r>
            <a:endParaRPr lang="zh-CN" altLang="en-US" dirty="0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dirty="0"/>
              <a:t>算法计算时间的数量级</a:t>
            </a:r>
            <a:endParaRPr lang="zh-CN" altLang="en-US" dirty="0"/>
          </a:p>
          <a:p>
            <a:pPr lvl="1">
              <a:lnSpc>
                <a:spcPct val="125000"/>
              </a:lnSpc>
            </a:pPr>
            <a:r>
              <a:rPr lang="zh-CN" altLang="en-US" dirty="0"/>
              <a:t>若算法</a:t>
            </a:r>
            <a:r>
              <a:rPr lang="en-US" altLang="zh-CN" dirty="0"/>
              <a:t>A</a:t>
            </a:r>
            <a:r>
              <a:rPr lang="zh-CN" altLang="en-US" dirty="0"/>
              <a:t>中有顺序的数量级分别为       ，    ，</a:t>
            </a:r>
            <a:r>
              <a:rPr lang="en-US" altLang="zh-CN" dirty="0"/>
              <a:t>…</a:t>
            </a:r>
            <a:r>
              <a:rPr lang="zh-CN" altLang="en-US" dirty="0"/>
              <a:t>，</a:t>
            </a:r>
            <a:endParaRPr lang="zh-CN" altLang="en-US" dirty="0"/>
          </a:p>
          <a:p>
            <a:pPr lvl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	共</a:t>
            </a:r>
            <a:r>
              <a:rPr lang="en-US" altLang="zh-CN" dirty="0"/>
              <a:t>k</a:t>
            </a:r>
            <a:r>
              <a:rPr lang="zh-CN" altLang="en-US" dirty="0"/>
              <a:t>个运算，则</a:t>
            </a:r>
            <a:r>
              <a:rPr lang="en-US" altLang="zh-CN" dirty="0"/>
              <a:t>A</a:t>
            </a:r>
            <a:r>
              <a:rPr lang="zh-CN" altLang="en-US" dirty="0"/>
              <a:t>的数量级为</a:t>
            </a:r>
            <a:endParaRPr lang="zh-CN" altLang="en-US" dirty="0"/>
          </a:p>
          <a:p>
            <a:pPr lvl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	取                                 ，等于</a:t>
            </a:r>
            <a:endParaRPr lang="zh-CN" altLang="en-US" dirty="0"/>
          </a:p>
        </p:txBody>
      </p:sp>
      <p:sp>
        <p:nvSpPr>
          <p:cNvPr id="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6D998-8119-4E20-9A74-97E7E451501B}" type="slidenum">
              <a:rPr lang="en-US" altLang="zh-CN"/>
            </a:fld>
            <a:endParaRPr lang="en-US" altLang="zh-CN"/>
          </a:p>
        </p:txBody>
      </p:sp>
      <p:sp>
        <p:nvSpPr>
          <p:cNvPr id="8192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24" name="Object 4"/>
          <p:cNvGraphicFramePr>
            <a:graphicFrameLocks noChangeAspect="1"/>
          </p:cNvGraphicFramePr>
          <p:nvPr/>
        </p:nvGraphicFramePr>
        <p:xfrm>
          <a:off x="5580112" y="4293096"/>
          <a:ext cx="571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2" name="公式" r:id="rId1" imgW="342900" imgH="228600" progId="Equation.3">
                  <p:embed/>
                </p:oleObj>
              </mc:Choice>
              <mc:Fallback>
                <p:oleObj name="公式" r:id="rId1" imgW="3429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112" y="4293096"/>
                        <a:ext cx="57150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26" name="Object 6"/>
          <p:cNvGraphicFramePr>
            <a:graphicFrameLocks noChangeAspect="1"/>
          </p:cNvGraphicFramePr>
          <p:nvPr/>
        </p:nvGraphicFramePr>
        <p:xfrm>
          <a:off x="6228184" y="4293096"/>
          <a:ext cx="5905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3" name="公式" r:id="rId3" imgW="355600" imgH="228600" progId="Equation.3">
                  <p:embed/>
                </p:oleObj>
              </mc:Choice>
              <mc:Fallback>
                <p:oleObj name="公式" r:id="rId3" imgW="355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8184" y="4293096"/>
                        <a:ext cx="5905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7308304" y="4293096"/>
          <a:ext cx="60960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4" name="公式" r:id="rId5" imgW="368300" imgH="241300" progId="Equation.3">
                  <p:embed/>
                </p:oleObj>
              </mc:Choice>
              <mc:Fallback>
                <p:oleObj name="公式" r:id="rId5" imgW="368300" imgH="2413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304" y="4293096"/>
                        <a:ext cx="609600" cy="400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32" name="Object 12"/>
          <p:cNvGraphicFramePr>
            <a:graphicFrameLocks noChangeAspect="1"/>
          </p:cNvGraphicFramePr>
          <p:nvPr/>
        </p:nvGraphicFramePr>
        <p:xfrm>
          <a:off x="1403648" y="5301208"/>
          <a:ext cx="27368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5" name="公式" r:id="rId7" imgW="1295400" imgH="254000" progId="Equation.3">
                  <p:embed/>
                </p:oleObj>
              </mc:Choice>
              <mc:Fallback>
                <p:oleObj name="公式" r:id="rId7" imgW="1295400" imgH="254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5301208"/>
                        <a:ext cx="2736850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34" name="Object 14"/>
          <p:cNvGraphicFramePr>
            <a:graphicFrameLocks noChangeAspect="1"/>
          </p:cNvGraphicFramePr>
          <p:nvPr/>
        </p:nvGraphicFramePr>
        <p:xfrm>
          <a:off x="5004048" y="4653136"/>
          <a:ext cx="74295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6" name="公式" r:id="rId9" imgW="444500" imgH="431800" progId="Equation.3">
                  <p:embed/>
                </p:oleObj>
              </mc:Choice>
              <mc:Fallback>
                <p:oleObj name="公式" r:id="rId9" imgW="444500" imgH="431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4653136"/>
                        <a:ext cx="74295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7" name="Rectangle 1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1936" name="Object 16"/>
          <p:cNvGraphicFramePr>
            <a:graphicFrameLocks noChangeAspect="1"/>
          </p:cNvGraphicFramePr>
          <p:nvPr/>
        </p:nvGraphicFramePr>
        <p:xfrm>
          <a:off x="4860032" y="5373216"/>
          <a:ext cx="6572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7" name="公式" r:id="rId11" imgW="393700" imgH="228600" progId="Equation.3">
                  <p:embed/>
                </p:oleObj>
              </mc:Choice>
              <mc:Fallback>
                <p:oleObj name="公式" r:id="rId11" imgW="393700" imgH="2286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0032" y="5373216"/>
                        <a:ext cx="6572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404813"/>
            <a:ext cx="8280400" cy="6048375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500"/>
              <a:t>（</a:t>
            </a:r>
            <a:r>
              <a:rPr lang="en-US" altLang="zh-CN" sz="2500"/>
              <a:t>4</a:t>
            </a:r>
            <a:r>
              <a:rPr lang="zh-CN" altLang="en-US" sz="2500"/>
              <a:t>）</a:t>
            </a:r>
            <a:r>
              <a:rPr lang="zh-CN" altLang="en-US" sz="2500" b="1">
                <a:solidFill>
                  <a:srgbClr val="3907F1"/>
                </a:solidFill>
              </a:rPr>
              <a:t>非紧上界记号</a:t>
            </a:r>
            <a:r>
              <a:rPr lang="en-US" altLang="zh-CN" sz="2500" b="1" i="1">
                <a:solidFill>
                  <a:srgbClr val="3907F1"/>
                </a:solidFill>
              </a:rPr>
              <a:t>o</a:t>
            </a:r>
            <a:r>
              <a:rPr lang="en-US" altLang="zh-CN" sz="2500" i="1"/>
              <a:t> </a:t>
            </a:r>
            <a:endParaRPr lang="en-US" altLang="zh-CN" sz="2500" i="1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500" i="1"/>
              <a:t>	o</a:t>
            </a:r>
            <a:r>
              <a:rPr lang="en-US" altLang="zh-CN" sz="2500"/>
              <a:t>(</a:t>
            </a:r>
            <a:r>
              <a:rPr lang="en-US" altLang="zh-CN" sz="2500" i="1"/>
              <a:t>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)) = { 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| </a:t>
            </a:r>
            <a:r>
              <a:rPr lang="zh-CN" altLang="en-US" sz="2500"/>
              <a:t>对于任何正常数</a:t>
            </a:r>
            <a:r>
              <a:rPr lang="en-US" altLang="zh-CN" sz="2500" i="1"/>
              <a:t>c</a:t>
            </a:r>
            <a:r>
              <a:rPr lang="en-US" altLang="zh-CN" sz="2500"/>
              <a:t>&gt;0</a:t>
            </a:r>
            <a:r>
              <a:rPr lang="zh-CN" altLang="en-US" sz="2500" i="1"/>
              <a:t>，</a:t>
            </a:r>
            <a:r>
              <a:rPr lang="zh-CN" altLang="en-US" sz="2500"/>
              <a:t>存在正数和</a:t>
            </a:r>
            <a:r>
              <a:rPr lang="en-US" altLang="zh-CN" sz="2500" i="1"/>
              <a:t>n</a:t>
            </a:r>
            <a:r>
              <a:rPr lang="en-US" altLang="zh-CN" sz="2500" baseline="-25000"/>
              <a:t>0 </a:t>
            </a:r>
            <a:r>
              <a:rPr lang="en-US" altLang="zh-CN" sz="2500"/>
              <a:t>&gt;0</a:t>
            </a:r>
            <a:r>
              <a:rPr lang="zh-CN" altLang="en-US" sz="2500"/>
              <a:t>使得对所有</a:t>
            </a:r>
            <a:r>
              <a:rPr lang="en-US" altLang="zh-CN" sz="2500" i="1"/>
              <a:t>n</a:t>
            </a:r>
            <a:r>
              <a:rPr lang="en-US" altLang="zh-CN" sz="2500">
                <a:sym typeface="Symbol" panose="05050102010706020507" pitchFamily="18" charset="2"/>
              </a:rPr>
              <a:t> </a:t>
            </a:r>
            <a:r>
              <a:rPr lang="en-US" altLang="zh-CN" sz="2500" i="1"/>
              <a:t>n</a:t>
            </a:r>
            <a:r>
              <a:rPr lang="en-US" altLang="zh-CN" sz="2500" baseline="-25000"/>
              <a:t>0</a:t>
            </a:r>
            <a:r>
              <a:rPr lang="zh-CN" altLang="en-US" sz="2500"/>
              <a:t>有：</a:t>
            </a:r>
            <a:r>
              <a:rPr lang="en-US" altLang="zh-CN" sz="2500"/>
              <a:t>0 </a:t>
            </a:r>
            <a:r>
              <a:rPr lang="en-US" altLang="zh-CN" sz="2500">
                <a:sym typeface="Symbol" panose="05050102010706020507" pitchFamily="18" charset="2"/>
              </a:rPr>
              <a:t> 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)&lt;</a:t>
            </a:r>
            <a:r>
              <a:rPr lang="en-US" altLang="zh-CN" sz="2500" i="1"/>
              <a:t>cg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}</a:t>
            </a:r>
            <a:endParaRPr lang="en-US" altLang="zh-CN" sz="25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500"/>
              <a:t>	</a:t>
            </a:r>
            <a:r>
              <a:rPr lang="zh-CN" altLang="en-US" sz="2500"/>
              <a:t>等价于</a:t>
            </a:r>
            <a:r>
              <a:rPr lang="zh-CN" altLang="en-US" sz="2500" i="1"/>
              <a:t>  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/ </a:t>
            </a:r>
            <a:r>
              <a:rPr lang="en-US" altLang="zh-CN" sz="2500" i="1"/>
              <a:t>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</a:t>
            </a:r>
            <a:r>
              <a:rPr lang="en-US" altLang="zh-CN" sz="2500">
                <a:sym typeface="Symbol" panose="05050102010706020507" pitchFamily="18" charset="2"/>
              </a:rPr>
              <a:t>0</a:t>
            </a:r>
            <a:r>
              <a:rPr lang="en-US" altLang="zh-CN" sz="2500"/>
              <a:t> </a:t>
            </a:r>
            <a:r>
              <a:rPr lang="zh-CN" altLang="en-US" sz="2500"/>
              <a:t>，</a:t>
            </a:r>
            <a:r>
              <a:rPr lang="en-US" altLang="zh-CN" sz="2500"/>
              <a:t>as  </a:t>
            </a:r>
            <a:r>
              <a:rPr lang="en-US" altLang="zh-CN" sz="2500" i="1"/>
              <a:t>n</a:t>
            </a:r>
            <a:r>
              <a:rPr lang="en-US" altLang="zh-CN" sz="2500">
                <a:sym typeface="Symbol" panose="05050102010706020507" pitchFamily="18" charset="2"/>
              </a:rPr>
              <a:t></a:t>
            </a:r>
            <a:r>
              <a:rPr lang="zh-CN" altLang="en-US" sz="2500">
                <a:sym typeface="Symbol" panose="05050102010706020507" pitchFamily="18" charset="2"/>
              </a:rPr>
              <a:t>。</a:t>
            </a:r>
            <a:endParaRPr lang="zh-CN" altLang="en-US" sz="25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500"/>
              <a:t>（</a:t>
            </a:r>
            <a:r>
              <a:rPr lang="en-US" altLang="zh-CN" sz="2500"/>
              <a:t>5</a:t>
            </a:r>
            <a:r>
              <a:rPr lang="zh-CN" altLang="en-US" sz="2500"/>
              <a:t>）</a:t>
            </a:r>
            <a:r>
              <a:rPr lang="zh-CN" altLang="en-US" sz="2500" b="1">
                <a:solidFill>
                  <a:srgbClr val="3907F1"/>
                </a:solidFill>
              </a:rPr>
              <a:t>非紧下界记号</a:t>
            </a:r>
            <a:r>
              <a:rPr lang="zh-CN" altLang="en-US" sz="2500" b="1" i="1">
                <a:solidFill>
                  <a:srgbClr val="3907F1"/>
                </a:solidFill>
                <a:sym typeface="Symbol" panose="05050102010706020507" pitchFamily="18" charset="2"/>
              </a:rPr>
              <a:t></a:t>
            </a:r>
            <a:r>
              <a:rPr lang="zh-CN" altLang="en-US" sz="3500"/>
              <a:t> </a:t>
            </a:r>
            <a:r>
              <a:rPr lang="zh-CN" altLang="en-US" sz="2500" i="1"/>
              <a:t> </a:t>
            </a:r>
            <a:endParaRPr lang="zh-CN" altLang="en-US" sz="2500" i="1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500" i="1">
                <a:sym typeface="Symbol" panose="05050102010706020507" pitchFamily="18" charset="2"/>
              </a:rPr>
              <a:t>	</a:t>
            </a:r>
            <a:r>
              <a:rPr lang="zh-CN" altLang="en-US" sz="2500"/>
              <a:t> </a:t>
            </a:r>
            <a:r>
              <a:rPr lang="en-US" altLang="zh-CN" sz="2500"/>
              <a:t>(</a:t>
            </a:r>
            <a:r>
              <a:rPr lang="en-US" altLang="zh-CN" sz="2500" i="1"/>
              <a:t>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)) = { 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| </a:t>
            </a:r>
            <a:r>
              <a:rPr lang="zh-CN" altLang="en-US" sz="2500"/>
              <a:t>对于任何正常数</a:t>
            </a:r>
            <a:r>
              <a:rPr lang="en-US" altLang="zh-CN" sz="2500" i="1"/>
              <a:t>c</a:t>
            </a:r>
            <a:r>
              <a:rPr lang="en-US" altLang="zh-CN" sz="2500"/>
              <a:t>&gt;0</a:t>
            </a:r>
            <a:r>
              <a:rPr lang="zh-CN" altLang="en-US" sz="2500" i="1"/>
              <a:t>，</a:t>
            </a:r>
            <a:r>
              <a:rPr lang="zh-CN" altLang="en-US" sz="2500"/>
              <a:t>存在正数和</a:t>
            </a:r>
            <a:r>
              <a:rPr lang="en-US" altLang="zh-CN" sz="2500" i="1"/>
              <a:t>n</a:t>
            </a:r>
            <a:r>
              <a:rPr lang="en-US" altLang="zh-CN" sz="2500" baseline="-25000"/>
              <a:t>0 </a:t>
            </a:r>
            <a:r>
              <a:rPr lang="en-US" altLang="zh-CN" sz="2500"/>
              <a:t>&gt;0</a:t>
            </a:r>
            <a:r>
              <a:rPr lang="zh-CN" altLang="en-US" sz="2500"/>
              <a:t>使得对所有</a:t>
            </a:r>
            <a:r>
              <a:rPr lang="en-US" altLang="zh-CN" sz="2500" i="1"/>
              <a:t>n</a:t>
            </a:r>
            <a:r>
              <a:rPr lang="en-US" altLang="zh-CN" sz="2500">
                <a:sym typeface="Symbol" panose="05050102010706020507" pitchFamily="18" charset="2"/>
              </a:rPr>
              <a:t> </a:t>
            </a:r>
            <a:r>
              <a:rPr lang="en-US" altLang="zh-CN" sz="2500" i="1"/>
              <a:t>n</a:t>
            </a:r>
            <a:r>
              <a:rPr lang="en-US" altLang="zh-CN" sz="2500" baseline="-25000"/>
              <a:t>0</a:t>
            </a:r>
            <a:r>
              <a:rPr lang="zh-CN" altLang="en-US" sz="2500"/>
              <a:t>有：</a:t>
            </a:r>
            <a:r>
              <a:rPr lang="en-US" altLang="zh-CN" sz="2500"/>
              <a:t>0 </a:t>
            </a:r>
            <a:r>
              <a:rPr lang="en-US" altLang="zh-CN" sz="2500">
                <a:sym typeface="Symbol" panose="05050102010706020507" pitchFamily="18" charset="2"/>
              </a:rPr>
              <a:t> </a:t>
            </a:r>
            <a:r>
              <a:rPr lang="en-US" altLang="zh-CN" sz="2500" i="1"/>
              <a:t>cg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</a:t>
            </a:r>
            <a:r>
              <a:rPr lang="en-US" altLang="zh-CN" sz="2500">
                <a:sym typeface="Symbol" panose="05050102010706020507" pitchFamily="18" charset="2"/>
              </a:rPr>
              <a:t> </a:t>
            </a:r>
            <a:r>
              <a:rPr lang="en-US" altLang="zh-CN" sz="2500"/>
              <a:t>&lt; 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}</a:t>
            </a:r>
            <a:endParaRPr lang="en-US" altLang="zh-CN" sz="25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500"/>
              <a:t>	</a:t>
            </a:r>
            <a:r>
              <a:rPr lang="zh-CN" altLang="en-US" sz="2500"/>
              <a:t>等价于</a:t>
            </a:r>
            <a:r>
              <a:rPr lang="zh-CN" altLang="en-US" sz="2500" i="1"/>
              <a:t>  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/ </a:t>
            </a:r>
            <a:r>
              <a:rPr lang="en-US" altLang="zh-CN" sz="2500" i="1"/>
              <a:t>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</a:t>
            </a:r>
            <a:r>
              <a:rPr lang="en-US" altLang="zh-CN" sz="2500">
                <a:sym typeface="Symbol" panose="05050102010706020507" pitchFamily="18" charset="2"/>
              </a:rPr>
              <a:t></a:t>
            </a:r>
            <a:r>
              <a:rPr lang="en-US" altLang="zh-CN" sz="2500"/>
              <a:t> </a:t>
            </a:r>
            <a:r>
              <a:rPr lang="zh-CN" altLang="en-US" sz="2500"/>
              <a:t>，</a:t>
            </a:r>
            <a:r>
              <a:rPr lang="en-US" altLang="zh-CN" sz="2500"/>
              <a:t>as  </a:t>
            </a:r>
            <a:r>
              <a:rPr lang="en-US" altLang="zh-CN" sz="2500" i="1"/>
              <a:t>n</a:t>
            </a:r>
            <a:r>
              <a:rPr lang="en-US" altLang="zh-CN" sz="2500">
                <a:sym typeface="Symbol" panose="05050102010706020507" pitchFamily="18" charset="2"/>
              </a:rPr>
              <a:t></a:t>
            </a:r>
            <a:r>
              <a:rPr lang="zh-CN" altLang="en-US" sz="2500">
                <a:sym typeface="Symbol" panose="05050102010706020507" pitchFamily="18" charset="2"/>
              </a:rPr>
              <a:t>。</a:t>
            </a:r>
            <a:endParaRPr lang="zh-CN" altLang="en-US" sz="25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500" i="1"/>
              <a:t>	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</a:t>
            </a:r>
            <a:r>
              <a:rPr lang="en-US" altLang="zh-CN" sz="2500">
                <a:sym typeface="Symbol" panose="05050102010706020507" pitchFamily="18" charset="2"/>
              </a:rPr>
              <a:t></a:t>
            </a:r>
            <a:r>
              <a:rPr lang="en-US" altLang="zh-CN" sz="2500"/>
              <a:t> </a:t>
            </a:r>
            <a:r>
              <a:rPr lang="en-US" altLang="zh-CN" sz="2500" i="1">
                <a:sym typeface="Symbol" panose="05050102010706020507" pitchFamily="18" charset="2"/>
              </a:rPr>
              <a:t></a:t>
            </a:r>
            <a:r>
              <a:rPr lang="en-US" altLang="zh-CN" sz="2500"/>
              <a:t> (</a:t>
            </a:r>
            <a:r>
              <a:rPr lang="en-US" altLang="zh-CN" sz="2500" i="1"/>
              <a:t>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))  </a:t>
            </a:r>
            <a:r>
              <a:rPr lang="en-US" altLang="zh-CN" sz="2500">
                <a:sym typeface="Symbol" panose="05050102010706020507" pitchFamily="18" charset="2"/>
              </a:rPr>
              <a:t> </a:t>
            </a:r>
            <a:r>
              <a:rPr lang="en-US" altLang="zh-CN" sz="2500"/>
              <a:t> </a:t>
            </a:r>
            <a:r>
              <a:rPr lang="en-US" altLang="zh-CN" sz="2500" i="1"/>
              <a:t>g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 </a:t>
            </a:r>
            <a:r>
              <a:rPr lang="en-US" altLang="zh-CN" sz="2500">
                <a:sym typeface="Symbol" panose="05050102010706020507" pitchFamily="18" charset="2"/>
              </a:rPr>
              <a:t></a:t>
            </a:r>
            <a:r>
              <a:rPr lang="en-US" altLang="zh-CN" sz="2500"/>
              <a:t> </a:t>
            </a:r>
            <a:r>
              <a:rPr lang="en-US" altLang="zh-CN" sz="2500" i="1">
                <a:sym typeface="Symbol" panose="05050102010706020507" pitchFamily="18" charset="2"/>
              </a:rPr>
              <a:t>o</a:t>
            </a:r>
            <a:r>
              <a:rPr lang="en-US" altLang="zh-CN" sz="2500"/>
              <a:t> (</a:t>
            </a:r>
            <a:r>
              <a:rPr lang="en-US" altLang="zh-CN" sz="2500" i="1"/>
              <a:t>f</a:t>
            </a:r>
            <a:r>
              <a:rPr lang="en-US" altLang="zh-CN" sz="2500"/>
              <a:t>(</a:t>
            </a:r>
            <a:r>
              <a:rPr lang="en-US" altLang="zh-CN" sz="2500" i="1"/>
              <a:t>n</a:t>
            </a:r>
            <a:r>
              <a:rPr lang="en-US" altLang="zh-CN" sz="2500"/>
              <a:t>)) </a:t>
            </a:r>
            <a:endParaRPr lang="en-US" altLang="zh-CN" sz="250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5F3D6-6B82-41B3-B2F1-5784679350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渐近分析记号在等式和不等式中的意义</a:t>
            </a:r>
            <a:endParaRPr lang="zh-CN" altLang="en-US" sz="36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00808"/>
            <a:ext cx="82296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500" i="1" dirty="0"/>
              <a:t>f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)= </a:t>
            </a:r>
            <a:r>
              <a:rPr lang="en-US" altLang="zh-CN" sz="2500" dirty="0">
                <a:sym typeface="Symbol" panose="05050102010706020507" pitchFamily="18" charset="2"/>
              </a:rPr>
              <a:t></a:t>
            </a:r>
            <a:r>
              <a:rPr lang="en-US" altLang="zh-CN" sz="2500" dirty="0"/>
              <a:t>(</a:t>
            </a:r>
            <a:r>
              <a:rPr lang="en-US" altLang="zh-CN" sz="2500" i="1" dirty="0"/>
              <a:t>g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))</a:t>
            </a:r>
            <a:r>
              <a:rPr lang="zh-CN" altLang="en-US" sz="2500" dirty="0"/>
              <a:t>的确切意义是：</a:t>
            </a:r>
            <a:r>
              <a:rPr lang="en-US" altLang="zh-CN" sz="2500" i="1" dirty="0"/>
              <a:t>f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 </a:t>
            </a:r>
            <a:r>
              <a:rPr lang="en-US" altLang="zh-CN" sz="2500" dirty="0">
                <a:sym typeface="Symbol" panose="05050102010706020507" pitchFamily="18" charset="2"/>
              </a:rPr>
              <a:t>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</a:t>
            </a:r>
            <a:r>
              <a:rPr lang="en-US" altLang="zh-CN" sz="2500" dirty="0"/>
              <a:t>(</a:t>
            </a:r>
            <a:r>
              <a:rPr lang="en-US" altLang="zh-CN" sz="2500" i="1" dirty="0"/>
              <a:t>g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))</a:t>
            </a:r>
            <a:r>
              <a:rPr lang="zh-CN" altLang="en-US" sz="2500" dirty="0"/>
              <a:t>。</a:t>
            </a:r>
            <a:endParaRPr lang="zh-CN" altLang="en-US" sz="2500" dirty="0"/>
          </a:p>
          <a:p>
            <a:pPr>
              <a:lnSpc>
                <a:spcPct val="150000"/>
              </a:lnSpc>
            </a:pPr>
            <a:r>
              <a:rPr lang="zh-CN" altLang="en-US" sz="2500" dirty="0"/>
              <a:t>一般情况下，等式和不等式中的渐近记号</a:t>
            </a:r>
            <a:r>
              <a:rPr lang="zh-CN" altLang="en-US" sz="2500" dirty="0">
                <a:sym typeface="Symbol" panose="05050102010706020507" pitchFamily="18" charset="2"/>
              </a:rPr>
              <a:t></a:t>
            </a:r>
            <a:r>
              <a:rPr lang="en-US" altLang="zh-CN" sz="2500" dirty="0"/>
              <a:t>(</a:t>
            </a:r>
            <a:r>
              <a:rPr lang="en-US" altLang="zh-CN" sz="2500" i="1" dirty="0"/>
              <a:t>g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))</a:t>
            </a:r>
            <a:r>
              <a:rPr lang="zh-CN" altLang="en-US" sz="2500" dirty="0"/>
              <a:t>表示</a:t>
            </a:r>
            <a:r>
              <a:rPr lang="zh-CN" altLang="en-US" sz="2500" dirty="0">
                <a:sym typeface="Symbol" panose="05050102010706020507" pitchFamily="18" charset="2"/>
              </a:rPr>
              <a:t></a:t>
            </a:r>
            <a:r>
              <a:rPr lang="en-US" altLang="zh-CN" sz="2500" dirty="0"/>
              <a:t>(</a:t>
            </a:r>
            <a:r>
              <a:rPr lang="en-US" altLang="zh-CN" sz="2500" i="1" dirty="0"/>
              <a:t>g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))</a:t>
            </a:r>
            <a:r>
              <a:rPr lang="zh-CN" altLang="en-US" sz="2500" dirty="0"/>
              <a:t>中的某个函数。</a:t>
            </a:r>
            <a:endParaRPr lang="zh-CN" altLang="en-US" sz="2500" dirty="0"/>
          </a:p>
          <a:p>
            <a:pPr>
              <a:lnSpc>
                <a:spcPct val="150000"/>
              </a:lnSpc>
            </a:pPr>
            <a:r>
              <a:rPr lang="zh-CN" altLang="en-US" sz="2500" dirty="0"/>
              <a:t>例如：</a:t>
            </a:r>
            <a:r>
              <a:rPr lang="en-US" altLang="zh-CN" sz="2500" dirty="0"/>
              <a:t>2</a:t>
            </a:r>
            <a:r>
              <a:rPr lang="en-US" altLang="zh-CN" sz="2500" i="1" dirty="0"/>
              <a:t>n</a:t>
            </a:r>
            <a:r>
              <a:rPr lang="en-US" altLang="zh-CN" sz="2500" baseline="30000" dirty="0"/>
              <a:t>2 </a:t>
            </a:r>
            <a:r>
              <a:rPr lang="en-US" altLang="zh-CN" sz="2500" dirty="0"/>
              <a:t>+ 3</a:t>
            </a:r>
            <a:r>
              <a:rPr lang="en-US" altLang="zh-CN" sz="2500" i="1" dirty="0"/>
              <a:t>n </a:t>
            </a:r>
            <a:r>
              <a:rPr lang="en-US" altLang="zh-CN" sz="2500" dirty="0"/>
              <a:t>+ 1 = 2</a:t>
            </a:r>
            <a:r>
              <a:rPr lang="en-US" altLang="zh-CN" sz="2500" i="1" dirty="0"/>
              <a:t>n</a:t>
            </a:r>
            <a:r>
              <a:rPr lang="en-US" altLang="zh-CN" sz="2500" baseline="30000" dirty="0"/>
              <a:t>2 </a:t>
            </a:r>
            <a:r>
              <a:rPr lang="en-US" altLang="zh-CN" sz="2500" dirty="0"/>
              <a:t>+ </a:t>
            </a:r>
            <a:r>
              <a:rPr lang="en-US" altLang="zh-CN" sz="2500" dirty="0">
                <a:sym typeface="Symbol" panose="05050102010706020507" pitchFamily="18" charset="2"/>
              </a:rPr>
              <a:t>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 </a:t>
            </a:r>
            <a:r>
              <a:rPr lang="zh-CN" altLang="en-US" sz="2500" dirty="0"/>
              <a:t>表示</a:t>
            </a:r>
            <a:endParaRPr lang="zh-CN" altLang="en-US" sz="2500" dirty="0"/>
          </a:p>
          <a:p>
            <a:pPr>
              <a:lnSpc>
                <a:spcPct val="150000"/>
              </a:lnSpc>
            </a:pPr>
            <a:r>
              <a:rPr lang="zh-CN" altLang="en-US" sz="2500" dirty="0"/>
              <a:t> </a:t>
            </a:r>
            <a:r>
              <a:rPr lang="en-US" altLang="zh-CN" sz="2500" dirty="0"/>
              <a:t>2</a:t>
            </a:r>
            <a:r>
              <a:rPr lang="en-US" altLang="zh-CN" sz="2500" i="1" dirty="0"/>
              <a:t>n</a:t>
            </a:r>
            <a:r>
              <a:rPr lang="en-US" altLang="zh-CN" sz="2500" baseline="30000" dirty="0"/>
              <a:t>2 </a:t>
            </a:r>
            <a:r>
              <a:rPr lang="en-US" altLang="zh-CN" sz="2500" dirty="0"/>
              <a:t>+3</a:t>
            </a:r>
            <a:r>
              <a:rPr lang="en-US" altLang="zh-CN" sz="2500" i="1" dirty="0"/>
              <a:t>n </a:t>
            </a:r>
            <a:r>
              <a:rPr lang="en-US" altLang="zh-CN" sz="2500" dirty="0"/>
              <a:t>+1=2</a:t>
            </a:r>
            <a:r>
              <a:rPr lang="en-US" altLang="zh-CN" sz="2500" i="1" dirty="0"/>
              <a:t>n</a:t>
            </a:r>
            <a:r>
              <a:rPr lang="en-US" altLang="zh-CN" sz="2500" baseline="30000" dirty="0"/>
              <a:t>2 </a:t>
            </a:r>
            <a:r>
              <a:rPr lang="en-US" altLang="zh-CN" sz="2500" dirty="0"/>
              <a:t>+ </a:t>
            </a:r>
            <a:r>
              <a:rPr lang="en-US" altLang="zh-CN" sz="2500" i="1" dirty="0"/>
              <a:t>f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</a:t>
            </a:r>
            <a:r>
              <a:rPr lang="zh-CN" altLang="en-US" sz="2500" dirty="0"/>
              <a:t>，其中</a:t>
            </a:r>
            <a:r>
              <a:rPr lang="en-US" altLang="zh-CN" sz="2500" i="1" dirty="0"/>
              <a:t>f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 </a:t>
            </a:r>
            <a:r>
              <a:rPr lang="zh-CN" altLang="en-US" sz="2500" dirty="0"/>
              <a:t>是</a:t>
            </a:r>
            <a:r>
              <a:rPr lang="zh-CN" altLang="en-US" sz="2500" dirty="0">
                <a:sym typeface="Symbol" panose="05050102010706020507" pitchFamily="18" charset="2"/>
              </a:rPr>
              <a:t></a:t>
            </a:r>
            <a:r>
              <a:rPr lang="en-US" altLang="zh-CN" sz="2500" dirty="0"/>
              <a:t>(</a:t>
            </a:r>
            <a:r>
              <a:rPr lang="en-US" altLang="zh-CN" sz="2500" i="1" dirty="0"/>
              <a:t>n</a:t>
            </a:r>
            <a:r>
              <a:rPr lang="en-US" altLang="zh-CN" sz="2500" dirty="0"/>
              <a:t>)</a:t>
            </a:r>
            <a:r>
              <a:rPr lang="zh-CN" altLang="en-US" sz="2500" dirty="0"/>
              <a:t>中某个函数。</a:t>
            </a:r>
            <a:endParaRPr lang="zh-CN" altLang="en-US" sz="2500" dirty="0"/>
          </a:p>
          <a:p>
            <a:pPr>
              <a:lnSpc>
                <a:spcPct val="150000"/>
              </a:lnSpc>
            </a:pPr>
            <a:r>
              <a:rPr lang="zh-CN" altLang="en-US" sz="2500" dirty="0"/>
              <a:t>等式和不等式中渐近记号</a:t>
            </a:r>
            <a:r>
              <a:rPr lang="en-US" altLang="zh-CN" sz="2500" i="1" dirty="0" err="1"/>
              <a:t>O</a:t>
            </a:r>
            <a:r>
              <a:rPr lang="en-US" altLang="zh-CN" sz="2500" dirty="0" err="1"/>
              <a:t>,</a:t>
            </a:r>
            <a:r>
              <a:rPr lang="en-US" altLang="zh-CN" sz="2500" i="1" dirty="0" err="1"/>
              <a:t>o</a:t>
            </a:r>
            <a:r>
              <a:rPr lang="en-US" altLang="zh-CN" sz="2500" dirty="0"/>
              <a:t>, </a:t>
            </a:r>
            <a:r>
              <a:rPr lang="en-US" altLang="zh-CN" sz="2500" dirty="0">
                <a:sym typeface="Symbol" panose="05050102010706020507" pitchFamily="18" charset="2"/>
              </a:rPr>
              <a:t></a:t>
            </a:r>
            <a:r>
              <a:rPr lang="zh-CN" altLang="en-US" sz="2500" dirty="0">
                <a:sym typeface="Symbol" panose="05050102010706020507" pitchFamily="18" charset="2"/>
              </a:rPr>
              <a:t>和</a:t>
            </a:r>
            <a:r>
              <a:rPr lang="zh-CN" altLang="en-US" sz="2500" i="1" dirty="0">
                <a:sym typeface="Symbol" panose="05050102010706020507" pitchFamily="18" charset="2"/>
              </a:rPr>
              <a:t></a:t>
            </a:r>
            <a:r>
              <a:rPr lang="zh-CN" altLang="en-US" sz="2500" dirty="0">
                <a:sym typeface="Symbol" panose="05050102010706020507" pitchFamily="18" charset="2"/>
              </a:rPr>
              <a:t>的意义是类似的。</a:t>
            </a:r>
            <a:endParaRPr lang="zh-CN" altLang="en-US" sz="2500" dirty="0">
              <a:sym typeface="Symbol" panose="05050102010706020507" pitchFamily="18" charset="2"/>
            </a:endParaRP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09D58-02CC-496C-B45F-22312FDCF260}" type="slidenum">
              <a:rPr lang="en-US" altLang="zh-CN"/>
            </a:fld>
            <a:endParaRPr lang="en-US" altLang="zh-CN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899592" y="5445224"/>
          <a:ext cx="460851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公式" r:id="rId1" imgW="2006600" imgH="228600" progId="Equation.3">
                  <p:embed/>
                </p:oleObj>
              </mc:Choice>
              <mc:Fallback>
                <p:oleObj name="公式" r:id="rId1" imgW="2006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445224"/>
                        <a:ext cx="4608512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000" dirty="0"/>
              <a:t>渐近分析中函数比较（类比实数集）</a:t>
            </a:r>
            <a:endParaRPr lang="zh-CN" altLang="en-US" sz="400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56792"/>
            <a:ext cx="8229600" cy="49339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i="1" dirty="0">
                <a:sym typeface="Symbol" panose="05050102010706020507" pitchFamily="18" charset="2"/>
              </a:rPr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</a:t>
            </a:r>
            <a:r>
              <a:rPr lang="en-US" altLang="zh-CN" sz="2400" dirty="0"/>
              <a:t> a </a:t>
            </a:r>
            <a:r>
              <a:rPr lang="en-US" altLang="zh-CN" sz="2400" dirty="0">
                <a:sym typeface="Symbol" panose="05050102010706020507" pitchFamily="18" charset="2"/>
              </a:rPr>
              <a:t> b;	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dirty="0">
                <a:sym typeface="Symbol" panose="05050102010706020507" pitchFamily="18" charset="2"/>
              </a:rPr>
              <a:t>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</a:t>
            </a:r>
            <a:r>
              <a:rPr lang="en-US" altLang="zh-CN" sz="2400" dirty="0"/>
              <a:t> a </a:t>
            </a:r>
            <a:r>
              <a:rPr lang="en-US" altLang="zh-CN" sz="2400" dirty="0">
                <a:sym typeface="Symbol" panose="05050102010706020507" pitchFamily="18" charset="2"/>
              </a:rPr>
              <a:t> b;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dirty="0">
                <a:sym typeface="Symbol" panose="05050102010706020507" pitchFamily="18" charset="2"/>
              </a:rPr>
              <a:t>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</a:t>
            </a:r>
            <a:r>
              <a:rPr lang="en-US" altLang="zh-CN" sz="2400" dirty="0"/>
              <a:t> a </a:t>
            </a:r>
            <a:r>
              <a:rPr lang="en-US" altLang="zh-CN" sz="2400" dirty="0">
                <a:sym typeface="Symbol" panose="05050102010706020507" pitchFamily="18" charset="2"/>
              </a:rPr>
              <a:t>= b;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</a:t>
            </a:r>
            <a:r>
              <a:rPr lang="en-US" altLang="zh-CN" sz="2400" dirty="0"/>
              <a:t> a </a:t>
            </a:r>
            <a:r>
              <a:rPr lang="en-US" altLang="zh-CN" sz="2400" dirty="0">
                <a:sym typeface="Symbol" panose="05050102010706020507" pitchFamily="18" charset="2"/>
              </a:rPr>
              <a:t>&lt; b;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)= </a:t>
            </a:r>
            <a:r>
              <a:rPr lang="en-US" altLang="zh-CN" sz="2400" i="1" dirty="0">
                <a:sym typeface="Symbol" panose="05050102010706020507" pitchFamily="18" charset="2"/>
              </a:rPr>
              <a:t>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</a:t>
            </a:r>
            <a:r>
              <a:rPr lang="en-US" altLang="zh-CN" sz="2400" dirty="0"/>
              <a:t> a </a:t>
            </a:r>
            <a:r>
              <a:rPr lang="en-US" altLang="zh-CN" sz="2400" dirty="0">
                <a:sym typeface="Symbol" panose="05050102010706020507" pitchFamily="18" charset="2"/>
              </a:rPr>
              <a:t>&gt; b.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实数集的三分性不能类比：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对于两个实数</a:t>
            </a:r>
            <a:r>
              <a:rPr lang="en-US" altLang="zh-CN" sz="2000" dirty="0"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和</a:t>
            </a:r>
            <a:r>
              <a:rPr lang="en-US" altLang="zh-CN" sz="2000" dirty="0">
                <a:sym typeface="Symbol" panose="05050102010706020507" pitchFamily="18" charset="2"/>
              </a:rPr>
              <a:t>b</a:t>
            </a:r>
            <a:r>
              <a:rPr lang="zh-CN" altLang="en-US" sz="2000" dirty="0">
                <a:sym typeface="Symbol" panose="05050102010706020507" pitchFamily="18" charset="2"/>
              </a:rPr>
              <a:t>，下列三种情况恰有一种成立：</a:t>
            </a:r>
            <a:r>
              <a:rPr lang="en-US" altLang="zh-CN" sz="2000" dirty="0">
                <a:sym typeface="Symbol" panose="05050102010706020507" pitchFamily="18" charset="2"/>
              </a:rPr>
              <a:t>a&lt;</a:t>
            </a:r>
            <a:r>
              <a:rPr lang="en-US" altLang="zh-CN" sz="2000" dirty="0" err="1">
                <a:sym typeface="Symbol" panose="05050102010706020507" pitchFamily="18" charset="2"/>
              </a:rPr>
              <a:t>b,a</a:t>
            </a:r>
            <a:r>
              <a:rPr lang="en-US" altLang="zh-CN" sz="2000" dirty="0">
                <a:sym typeface="Symbol" panose="05050102010706020507" pitchFamily="18" charset="2"/>
              </a:rPr>
              <a:t>=</a:t>
            </a:r>
            <a:r>
              <a:rPr lang="en-US" altLang="zh-CN" sz="2000" dirty="0" err="1">
                <a:sym typeface="Symbol" panose="05050102010706020507" pitchFamily="18" charset="2"/>
              </a:rPr>
              <a:t>b,a</a:t>
            </a:r>
            <a:r>
              <a:rPr lang="en-US" altLang="zh-CN" sz="2000" dirty="0">
                <a:sym typeface="Symbol" panose="05050102010706020507" pitchFamily="18" charset="2"/>
              </a:rPr>
              <a:t>&gt;b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例，函数   和</a:t>
            </a:r>
            <a:endParaRPr lang="zh-CN" altLang="en-US" sz="2000" dirty="0">
              <a:sym typeface="Symbol" panose="05050102010706020507" pitchFamily="18" charset="2"/>
            </a:endParaRPr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64BC6-D0AC-46A8-B123-2DEBD13C2343}" type="slidenum">
              <a:rPr lang="en-US" altLang="zh-CN"/>
            </a:fld>
            <a:endParaRPr lang="en-US" altLang="zh-CN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627784" y="5877272"/>
          <a:ext cx="65722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0" name="公式" r:id="rId1" imgW="393700" imgH="203200" progId="Equation.3">
                  <p:embed/>
                </p:oleObj>
              </mc:Choice>
              <mc:Fallback>
                <p:oleObj name="公式" r:id="rId1" imgW="3937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5877272"/>
                        <a:ext cx="657225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/>
        </p:nvGraphicFramePr>
        <p:xfrm>
          <a:off x="2195736" y="6008712"/>
          <a:ext cx="209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公式" r:id="rId3" imgW="127000" imgH="139700" progId="Equation.3">
                  <p:embed/>
                </p:oleObj>
              </mc:Choice>
              <mc:Fallback>
                <p:oleObj name="公式" r:id="rId3" imgW="127000" imgH="139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6008712"/>
                        <a:ext cx="209550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800" dirty="0"/>
              <a:t>渐近分析记号的若干性质</a:t>
            </a:r>
            <a:endParaRPr lang="zh-CN" altLang="en-US" sz="48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b="1">
                <a:solidFill>
                  <a:srgbClr val="0000FF"/>
                </a:solidFill>
              </a:rPr>
              <a:t>（</a:t>
            </a:r>
            <a:r>
              <a:rPr lang="en-US" altLang="zh-CN" sz="2100" b="1">
                <a:solidFill>
                  <a:srgbClr val="0000FF"/>
                </a:solidFill>
              </a:rPr>
              <a:t>1</a:t>
            </a:r>
            <a:r>
              <a:rPr lang="zh-CN" altLang="en-US" sz="2100" b="1">
                <a:solidFill>
                  <a:srgbClr val="0000FF"/>
                </a:solidFill>
              </a:rPr>
              <a:t>）传递性：</a:t>
            </a:r>
            <a:endParaRPr lang="zh-CN" altLang="en-US" sz="2100" b="1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>
                <a:sym typeface="Symbol" panose="05050102010706020507" pitchFamily="18" charset="2"/>
              </a:rPr>
              <a:t></a:t>
            </a:r>
            <a:r>
              <a:rPr lang="en-US" altLang="zh-CN" sz="2100"/>
              <a:t>(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， 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>
                <a:sym typeface="Symbol" panose="05050102010706020507" pitchFamily="18" charset="2"/>
              </a:rPr>
              <a:t>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  </a:t>
            </a:r>
            <a:r>
              <a:rPr lang="en-US" altLang="zh-CN" sz="1900">
                <a:sym typeface="Symbol" panose="05050102010706020507" pitchFamily="18" charset="2"/>
              </a:rPr>
              <a:t></a:t>
            </a:r>
            <a:r>
              <a:rPr lang="en-US" altLang="zh-CN" sz="1900"/>
              <a:t>  </a:t>
            </a: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>
                <a:sym typeface="Symbol" panose="05050102010706020507" pitchFamily="18" charset="2"/>
              </a:rPr>
              <a:t>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lnSpc>
                <a:spcPct val="150000"/>
              </a:lnSpc>
            </a:pP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>
                <a:sym typeface="Symbol" panose="05050102010706020507" pitchFamily="18" charset="2"/>
              </a:rPr>
              <a:t>O</a:t>
            </a:r>
            <a:r>
              <a:rPr lang="en-US" altLang="zh-CN" sz="2100"/>
              <a:t>(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， 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>
                <a:sym typeface="Symbol" panose="05050102010706020507" pitchFamily="18" charset="2"/>
              </a:rPr>
              <a:t>O</a:t>
            </a:r>
            <a:r>
              <a:rPr lang="en-US" altLang="zh-CN" sz="2100">
                <a:sym typeface="Symbol" panose="05050102010706020507" pitchFamily="18" charset="2"/>
              </a:rPr>
              <a:t> 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 </a:t>
            </a:r>
            <a:r>
              <a:rPr lang="en-US" altLang="zh-CN" sz="1900">
                <a:sym typeface="Symbol" panose="05050102010706020507" pitchFamily="18" charset="2"/>
              </a:rPr>
              <a:t></a:t>
            </a:r>
            <a:r>
              <a:rPr lang="en-US" altLang="zh-CN" sz="1900"/>
              <a:t>  </a:t>
            </a: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>
                <a:sym typeface="Symbol" panose="05050102010706020507" pitchFamily="18" charset="2"/>
              </a:rPr>
              <a:t>O</a:t>
            </a:r>
            <a:r>
              <a:rPr lang="en-US" altLang="zh-CN" sz="2100">
                <a:sym typeface="Symbol" panose="05050102010706020507" pitchFamily="18" charset="2"/>
              </a:rPr>
              <a:t> 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lnSpc>
                <a:spcPct val="150000"/>
              </a:lnSpc>
            </a:pP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>
                <a:sym typeface="Symbol" panose="05050102010706020507" pitchFamily="18" charset="2"/>
              </a:rPr>
              <a:t></a:t>
            </a:r>
            <a:r>
              <a:rPr lang="en-US" altLang="zh-CN" sz="2100"/>
              <a:t>(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， 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>
                <a:sym typeface="Symbol" panose="05050102010706020507" pitchFamily="18" charset="2"/>
              </a:rPr>
              <a:t> 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 </a:t>
            </a:r>
            <a:r>
              <a:rPr lang="en-US" altLang="zh-CN" sz="1900">
                <a:sym typeface="Symbol" panose="05050102010706020507" pitchFamily="18" charset="2"/>
              </a:rPr>
              <a:t></a:t>
            </a:r>
            <a:r>
              <a:rPr lang="en-US" altLang="zh-CN" sz="1900"/>
              <a:t>  </a:t>
            </a: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>
                <a:sym typeface="Symbol" panose="05050102010706020507" pitchFamily="18" charset="2"/>
              </a:rPr>
              <a:t>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lnSpc>
                <a:spcPct val="150000"/>
              </a:lnSpc>
            </a:pP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/>
              <a:t>o</a:t>
            </a:r>
            <a:r>
              <a:rPr lang="en-US" altLang="zh-CN" sz="2100"/>
              <a:t>(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， 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/>
              <a:t>o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   </a:t>
            </a:r>
            <a:r>
              <a:rPr lang="en-US" altLang="zh-CN" sz="1900">
                <a:sym typeface="Symbol" panose="05050102010706020507" pitchFamily="18" charset="2"/>
              </a:rPr>
              <a:t></a:t>
            </a:r>
            <a:r>
              <a:rPr lang="en-US" altLang="zh-CN" sz="1900"/>
              <a:t>  </a:t>
            </a: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/>
              <a:t>o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lnSpc>
                <a:spcPct val="150000"/>
              </a:lnSpc>
            </a:pP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>
                <a:sym typeface="Symbol" panose="05050102010706020507" pitchFamily="18" charset="2"/>
              </a:rPr>
              <a:t></a:t>
            </a:r>
            <a:r>
              <a:rPr lang="en-US" altLang="zh-CN" sz="2100"/>
              <a:t>(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， </a:t>
            </a:r>
            <a:r>
              <a:rPr lang="en-US" altLang="zh-CN" sz="2100" i="1"/>
              <a:t>g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>
                <a:sym typeface="Symbol" panose="05050102010706020507" pitchFamily="18" charset="2"/>
              </a:rPr>
              <a:t></a:t>
            </a:r>
            <a:r>
              <a:rPr lang="en-US" altLang="zh-CN" sz="2100">
                <a:sym typeface="Symbol" panose="05050102010706020507" pitchFamily="18" charset="2"/>
              </a:rPr>
              <a:t> 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 </a:t>
            </a:r>
            <a:r>
              <a:rPr lang="en-US" altLang="zh-CN" sz="1900">
                <a:sym typeface="Symbol" panose="05050102010706020507" pitchFamily="18" charset="2"/>
              </a:rPr>
              <a:t></a:t>
            </a:r>
            <a:r>
              <a:rPr lang="en-US" altLang="zh-CN" sz="1900"/>
              <a:t>  </a:t>
            </a:r>
            <a:r>
              <a:rPr lang="en-US" altLang="zh-CN" sz="2100" i="1"/>
              <a:t>f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)= </a:t>
            </a:r>
            <a:r>
              <a:rPr lang="en-US" altLang="zh-CN" sz="2100" i="1">
                <a:sym typeface="Symbol" panose="05050102010706020507" pitchFamily="18" charset="2"/>
              </a:rPr>
              <a:t></a:t>
            </a:r>
            <a:r>
              <a:rPr lang="en-US" altLang="zh-CN" sz="2100">
                <a:sym typeface="Symbol" panose="05050102010706020507" pitchFamily="18" charset="2"/>
              </a:rPr>
              <a:t> </a:t>
            </a:r>
            <a:r>
              <a:rPr lang="en-US" altLang="zh-CN" sz="2100"/>
              <a:t>(</a:t>
            </a:r>
            <a:r>
              <a:rPr lang="en-US" altLang="zh-CN" sz="2100" i="1"/>
              <a:t>h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endParaRPr lang="en-US" altLang="zh-CN" sz="21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E1C4F-1A9D-40C7-BFDB-D5E8BF738CA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idx="1"/>
          </p:nvPr>
        </p:nvSpPr>
        <p:spPr>
          <a:xfrm>
            <a:off x="688032" y="833140"/>
            <a:ext cx="7772400" cy="5764212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（</a:t>
            </a:r>
            <a:r>
              <a:rPr lang="en-US" altLang="zh-CN" sz="2600" b="1" dirty="0">
                <a:solidFill>
                  <a:srgbClr val="0000FF"/>
                </a:solidFill>
              </a:rPr>
              <a:t>2</a:t>
            </a:r>
            <a:r>
              <a:rPr lang="zh-CN" altLang="en-US" sz="2600" b="1" dirty="0">
                <a:solidFill>
                  <a:srgbClr val="0000FF"/>
                </a:solidFill>
              </a:rPr>
              <a:t>）反身性：</a:t>
            </a:r>
            <a:endParaRPr lang="zh-CN" altLang="en-US" sz="2600" b="1" dirty="0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dirty="0">
                <a:sym typeface="Symbol" panose="05050102010706020507" pitchFamily="18" charset="2"/>
              </a:rPr>
              <a:t></a:t>
            </a:r>
            <a:r>
              <a:rPr lang="en-US" altLang="zh-CN" sz="2600" dirty="0"/>
              <a:t>(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</a:t>
            </a:r>
            <a:r>
              <a:rPr lang="zh-CN" altLang="en-US" sz="2600" dirty="0"/>
              <a:t>；</a:t>
            </a:r>
            <a:endParaRPr lang="zh-CN" altLang="en-US" sz="2600" dirty="0"/>
          </a:p>
          <a:p>
            <a:pPr>
              <a:lnSpc>
                <a:spcPct val="150000"/>
              </a:lnSpc>
            </a:pP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i="1" dirty="0">
                <a:sym typeface="Symbol" panose="05050102010706020507" pitchFamily="18" charset="2"/>
              </a:rPr>
              <a:t>O</a:t>
            </a:r>
            <a:r>
              <a:rPr lang="en-US" altLang="zh-CN" sz="2600" dirty="0"/>
              <a:t>(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</a:t>
            </a:r>
            <a:r>
              <a:rPr lang="zh-CN" altLang="en-US" sz="2600" dirty="0"/>
              <a:t>；</a:t>
            </a:r>
            <a:endParaRPr lang="zh-CN" altLang="en-US" sz="2600" dirty="0"/>
          </a:p>
          <a:p>
            <a:pPr>
              <a:lnSpc>
                <a:spcPct val="150000"/>
              </a:lnSpc>
            </a:pP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dirty="0">
                <a:sym typeface="Symbol" panose="05050102010706020507" pitchFamily="18" charset="2"/>
              </a:rPr>
              <a:t></a:t>
            </a:r>
            <a:r>
              <a:rPr lang="en-US" altLang="zh-CN" sz="2600" dirty="0"/>
              <a:t>(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)).</a:t>
            </a:r>
            <a:endParaRPr lang="en-US" altLang="zh-CN" sz="26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（</a:t>
            </a:r>
            <a:r>
              <a:rPr lang="en-US" altLang="zh-CN" sz="2600" b="1" dirty="0">
                <a:solidFill>
                  <a:srgbClr val="0000FF"/>
                </a:solidFill>
              </a:rPr>
              <a:t>3</a:t>
            </a:r>
            <a:r>
              <a:rPr lang="zh-CN" altLang="en-US" sz="2600" b="1" dirty="0">
                <a:solidFill>
                  <a:srgbClr val="0000FF"/>
                </a:solidFill>
              </a:rPr>
              <a:t>）对称性：</a:t>
            </a:r>
            <a:endParaRPr lang="zh-CN" altLang="en-US" sz="2600" dirty="0"/>
          </a:p>
          <a:p>
            <a:pPr>
              <a:lnSpc>
                <a:spcPct val="150000"/>
              </a:lnSpc>
            </a:pP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dirty="0">
                <a:sym typeface="Symbol" panose="05050102010706020507" pitchFamily="18" charset="2"/>
              </a:rPr>
              <a:t></a:t>
            </a:r>
            <a:r>
              <a:rPr lang="en-US" altLang="zh-CN" sz="2600" dirty="0"/>
              <a:t>(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</a:t>
            </a:r>
            <a:r>
              <a:rPr lang="en-US" altLang="zh-CN" sz="2100" dirty="0">
                <a:sym typeface="Symbol" panose="05050102010706020507" pitchFamily="18" charset="2"/>
              </a:rPr>
              <a:t></a:t>
            </a:r>
            <a:r>
              <a:rPr lang="en-US" altLang="zh-CN" sz="2100" dirty="0"/>
              <a:t> 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dirty="0">
                <a:sym typeface="Symbol" panose="05050102010706020507" pitchFamily="18" charset="2"/>
              </a:rPr>
              <a:t> </a:t>
            </a:r>
            <a:r>
              <a:rPr lang="en-US" altLang="zh-CN" sz="2600" dirty="0"/>
              <a:t>(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</a:t>
            </a:r>
            <a:r>
              <a:rPr lang="en-US" altLang="zh-CN" sz="2100" dirty="0">
                <a:sym typeface="Symbol" panose="05050102010706020507" pitchFamily="18" charset="2"/>
              </a:rPr>
              <a:t>.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600" b="1" dirty="0">
                <a:solidFill>
                  <a:srgbClr val="0000FF"/>
                </a:solidFill>
              </a:rPr>
              <a:t>（</a:t>
            </a:r>
            <a:r>
              <a:rPr lang="en-US" altLang="zh-CN" sz="2600" b="1" dirty="0">
                <a:solidFill>
                  <a:srgbClr val="0000FF"/>
                </a:solidFill>
              </a:rPr>
              <a:t>4</a:t>
            </a:r>
            <a:r>
              <a:rPr lang="zh-CN" altLang="en-US" sz="2600" b="1" dirty="0">
                <a:solidFill>
                  <a:srgbClr val="0000FF"/>
                </a:solidFill>
              </a:rPr>
              <a:t>）互对称性：</a:t>
            </a:r>
            <a:endParaRPr lang="zh-CN" altLang="en-US" sz="2600" dirty="0"/>
          </a:p>
          <a:p>
            <a:pPr>
              <a:lnSpc>
                <a:spcPct val="150000"/>
              </a:lnSpc>
            </a:pP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i="1" dirty="0"/>
              <a:t>O</a:t>
            </a:r>
            <a:r>
              <a:rPr lang="en-US" altLang="zh-CN" sz="2600" dirty="0"/>
              <a:t>(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</a:t>
            </a:r>
            <a:r>
              <a:rPr lang="en-US" altLang="zh-CN" sz="2100" dirty="0">
                <a:sym typeface="Symbol" panose="05050102010706020507" pitchFamily="18" charset="2"/>
              </a:rPr>
              <a:t></a:t>
            </a:r>
            <a:r>
              <a:rPr lang="en-US" altLang="zh-CN" sz="2100" dirty="0"/>
              <a:t> 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dirty="0">
                <a:sym typeface="Symbol" panose="05050102010706020507" pitchFamily="18" charset="2"/>
              </a:rPr>
              <a:t> </a:t>
            </a:r>
            <a:r>
              <a:rPr lang="en-US" altLang="zh-CN" sz="2600" dirty="0"/>
              <a:t>(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</a:t>
            </a:r>
            <a:r>
              <a:rPr lang="zh-CN" altLang="en-US" sz="2600" dirty="0"/>
              <a:t>；</a:t>
            </a:r>
            <a:endParaRPr lang="zh-CN" altLang="en-US" sz="2600" dirty="0"/>
          </a:p>
          <a:p>
            <a:pPr>
              <a:lnSpc>
                <a:spcPct val="150000"/>
              </a:lnSpc>
            </a:pP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i="1" dirty="0"/>
              <a:t>o</a:t>
            </a:r>
            <a:r>
              <a:rPr lang="en-US" altLang="zh-CN" sz="2600" dirty="0"/>
              <a:t>(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</a:t>
            </a:r>
            <a:r>
              <a:rPr lang="en-US" altLang="zh-CN" sz="2100" dirty="0">
                <a:sym typeface="Symbol" panose="05050102010706020507" pitchFamily="18" charset="2"/>
              </a:rPr>
              <a:t></a:t>
            </a:r>
            <a:r>
              <a:rPr lang="en-US" altLang="zh-CN" sz="2100" dirty="0"/>
              <a:t> </a:t>
            </a:r>
            <a:r>
              <a:rPr lang="en-US" altLang="zh-CN" sz="2600" i="1" dirty="0"/>
              <a:t>g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)= </a:t>
            </a:r>
            <a:r>
              <a:rPr lang="en-US" altLang="zh-CN" sz="2600" i="1" dirty="0">
                <a:sym typeface="Symbol" panose="05050102010706020507" pitchFamily="18" charset="2"/>
              </a:rPr>
              <a:t></a:t>
            </a:r>
            <a:r>
              <a:rPr lang="en-US" altLang="zh-CN" sz="2600" dirty="0">
                <a:sym typeface="Symbol" panose="05050102010706020507" pitchFamily="18" charset="2"/>
              </a:rPr>
              <a:t> </a:t>
            </a:r>
            <a:r>
              <a:rPr lang="en-US" altLang="zh-CN" sz="2600" dirty="0"/>
              <a:t>(</a:t>
            </a:r>
            <a:r>
              <a:rPr lang="en-US" altLang="zh-CN" sz="2600" i="1" dirty="0"/>
              <a:t>f</a:t>
            </a:r>
            <a:r>
              <a:rPr lang="en-US" altLang="zh-CN" sz="2600" dirty="0"/>
              <a:t>(</a:t>
            </a:r>
            <a:r>
              <a:rPr lang="en-US" altLang="zh-CN" sz="2600" i="1" dirty="0"/>
              <a:t>n</a:t>
            </a:r>
            <a:r>
              <a:rPr lang="en-US" altLang="zh-CN" sz="2600" dirty="0"/>
              <a:t>)) </a:t>
            </a:r>
            <a:r>
              <a:rPr lang="zh-CN" altLang="en-US" sz="2600" dirty="0"/>
              <a:t>；</a:t>
            </a:r>
            <a:endParaRPr lang="zh-CN" altLang="en-US" sz="260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B0C3F-2FC4-408C-8905-547BAFF0A7D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idx="1"/>
          </p:nvPr>
        </p:nvSpPr>
        <p:spPr>
          <a:xfrm>
            <a:off x="755650" y="836613"/>
            <a:ext cx="7772400" cy="504348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00FF"/>
                </a:solidFill>
              </a:rPr>
              <a:t>（</a:t>
            </a:r>
            <a:r>
              <a:rPr lang="en-US" altLang="zh-CN" b="1">
                <a:solidFill>
                  <a:srgbClr val="0000FF"/>
                </a:solidFill>
              </a:rPr>
              <a:t>5</a:t>
            </a:r>
            <a:r>
              <a:rPr lang="zh-CN" altLang="en-US" b="1">
                <a:solidFill>
                  <a:srgbClr val="0000FF"/>
                </a:solidFill>
              </a:rPr>
              <a:t>）算术运算：</a:t>
            </a:r>
            <a:endParaRPr lang="zh-CN" altLang="en-US" b="1">
              <a:solidFill>
                <a:srgbClr val="0000FF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))+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/>
              <a:t> </a:t>
            </a:r>
            <a:r>
              <a:rPr lang="en-US" altLang="zh-CN" sz="2800" i="1"/>
              <a:t>O</a:t>
            </a:r>
            <a:r>
              <a:rPr lang="en-US" altLang="zh-CN" sz="2800"/>
              <a:t>(max{</a:t>
            </a:r>
            <a:r>
              <a:rPr lang="en-US" altLang="zh-CN" sz="2800" i="1"/>
              <a:t>f</a:t>
            </a:r>
            <a:r>
              <a:rPr lang="en-US" altLang="zh-CN" sz="2800"/>
              <a:t>(n),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)}) </a:t>
            </a:r>
            <a:r>
              <a:rPr lang="zh-CN" altLang="en-US" sz="2800"/>
              <a:t>；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))+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/>
              <a:t> 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(n)+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zh-CN" altLang="en-US" sz="2800"/>
              <a:t>；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))*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/>
              <a:t> 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(n)*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zh-CN" altLang="en-US" sz="2800"/>
              <a:t>；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cf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/>
              <a:t> 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(n)) </a:t>
            </a:r>
            <a:r>
              <a:rPr lang="zh-CN" altLang="en-US" sz="2800"/>
              <a:t>；</a:t>
            </a:r>
            <a:endParaRPr lang="zh-CN" altLang="en-US" sz="2800"/>
          </a:p>
          <a:p>
            <a:pPr>
              <a:lnSpc>
                <a:spcPct val="150000"/>
              </a:lnSpc>
            </a:pP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)= 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en-US" altLang="zh-CN" sz="2800">
                <a:sym typeface="Symbol" panose="05050102010706020507" pitchFamily="18" charset="2"/>
              </a:rPr>
              <a:t> 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))+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g</a:t>
            </a:r>
            <a:r>
              <a:rPr lang="en-US" altLang="zh-CN" sz="2800"/>
              <a:t>(</a:t>
            </a:r>
            <a:r>
              <a:rPr lang="en-US" altLang="zh-CN" sz="2800" i="1"/>
              <a:t>n</a:t>
            </a:r>
            <a:r>
              <a:rPr lang="en-US" altLang="zh-CN" sz="2800"/>
              <a:t>))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/>
              <a:t> </a:t>
            </a:r>
            <a:r>
              <a:rPr lang="en-US" altLang="zh-CN" sz="2800" i="1"/>
              <a:t>O</a:t>
            </a:r>
            <a:r>
              <a:rPr lang="en-US" altLang="zh-CN" sz="2800"/>
              <a:t>(</a:t>
            </a:r>
            <a:r>
              <a:rPr lang="en-US" altLang="zh-CN" sz="2800" i="1"/>
              <a:t>f</a:t>
            </a:r>
            <a:r>
              <a:rPr lang="en-US" altLang="zh-CN" sz="2800"/>
              <a:t>(n)) </a:t>
            </a:r>
            <a:r>
              <a:rPr lang="zh-CN" altLang="en-US" sz="2800"/>
              <a:t>。</a:t>
            </a:r>
            <a:endParaRPr lang="zh-CN" altLang="en-US" sz="280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B9A14A-38BF-449B-ADE3-ED1AB5D2A9A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692696"/>
            <a:ext cx="8064500" cy="5976937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/>
              <a:t>规则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f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))+</a:t>
            </a:r>
            <a:r>
              <a:rPr lang="en-US" altLang="zh-CN" sz="2800" i="1" dirty="0"/>
              <a:t>O</a:t>
            </a:r>
            <a:r>
              <a:rPr lang="en-US" altLang="zh-CN" sz="2800" dirty="0"/>
              <a:t>(</a:t>
            </a:r>
            <a:r>
              <a:rPr lang="en-US" altLang="zh-CN" sz="2800" i="1" dirty="0"/>
              <a:t>g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)) </a:t>
            </a:r>
            <a:r>
              <a:rPr lang="en-US" altLang="zh-CN" sz="2800" dirty="0">
                <a:sym typeface="Symbol" panose="05050102010706020507" pitchFamily="18" charset="2"/>
              </a:rPr>
              <a:t>=</a:t>
            </a:r>
            <a:r>
              <a:rPr lang="en-US" altLang="zh-CN" sz="2800" dirty="0"/>
              <a:t> </a:t>
            </a:r>
            <a:r>
              <a:rPr lang="en-US" altLang="zh-CN" sz="2800" i="1" dirty="0"/>
              <a:t>O</a:t>
            </a:r>
            <a:r>
              <a:rPr lang="en-US" altLang="zh-CN" sz="2800" dirty="0"/>
              <a:t>(max{</a:t>
            </a:r>
            <a:r>
              <a:rPr lang="en-US" altLang="zh-CN" sz="2800" i="1" dirty="0"/>
              <a:t>f</a:t>
            </a:r>
            <a:r>
              <a:rPr lang="en-US" altLang="zh-CN" sz="2800" dirty="0"/>
              <a:t>(n),</a:t>
            </a:r>
            <a:r>
              <a:rPr lang="en-US" altLang="zh-CN" sz="2800" i="1" dirty="0"/>
              <a:t>g</a:t>
            </a:r>
            <a:r>
              <a:rPr lang="en-US" altLang="zh-CN" sz="2800" dirty="0"/>
              <a:t>(</a:t>
            </a:r>
            <a:r>
              <a:rPr lang="en-US" altLang="zh-CN" sz="2800" i="1" dirty="0"/>
              <a:t>n</a:t>
            </a:r>
            <a:r>
              <a:rPr lang="en-US" altLang="zh-CN" sz="2800" dirty="0"/>
              <a:t>)}) </a:t>
            </a:r>
            <a:r>
              <a:rPr lang="zh-CN" altLang="en-US" sz="2800" dirty="0"/>
              <a:t>的</a:t>
            </a:r>
            <a:r>
              <a:rPr lang="zh-CN" altLang="en-US" sz="2800" b="1" dirty="0">
                <a:solidFill>
                  <a:srgbClr val="3907F1"/>
                </a:solidFill>
              </a:rPr>
              <a:t>证明：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100" dirty="0"/>
              <a:t>对于任意</a:t>
            </a:r>
            <a:r>
              <a:rPr lang="en-US" altLang="zh-CN" sz="2100" i="1" dirty="0"/>
              <a:t>f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</a:t>
            </a:r>
            <a:r>
              <a:rPr lang="en-US" altLang="zh-CN" sz="2100" dirty="0"/>
              <a:t> </a:t>
            </a:r>
            <a:r>
              <a:rPr lang="en-US" altLang="zh-CN" sz="2100" i="1" dirty="0"/>
              <a:t>O</a:t>
            </a:r>
            <a:r>
              <a:rPr lang="en-US" altLang="zh-CN" sz="2100" dirty="0"/>
              <a:t>(</a:t>
            </a:r>
            <a:r>
              <a:rPr lang="en-US" altLang="zh-CN" sz="2100" i="1" dirty="0"/>
              <a:t>f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)) </a:t>
            </a:r>
            <a:r>
              <a:rPr lang="zh-CN" altLang="en-US" sz="2100" dirty="0"/>
              <a:t>，存在正常数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1</a:t>
            </a:r>
            <a:r>
              <a:rPr lang="zh-CN" altLang="en-US" sz="2100" dirty="0"/>
              <a:t>和自然数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1</a:t>
            </a:r>
            <a:r>
              <a:rPr lang="zh-CN" altLang="en-US" sz="2100" dirty="0"/>
              <a:t>，使得对所有</a:t>
            </a:r>
            <a:r>
              <a:rPr lang="en-US" altLang="zh-CN" sz="2100" i="1" dirty="0"/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 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1</a:t>
            </a:r>
            <a:r>
              <a:rPr lang="zh-CN" altLang="en-US" sz="2100" dirty="0"/>
              <a:t>，有</a:t>
            </a:r>
            <a:r>
              <a:rPr lang="en-US" altLang="zh-CN" sz="2100" i="1" dirty="0"/>
              <a:t>f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</a:t>
            </a:r>
            <a:r>
              <a:rPr lang="en-US" altLang="zh-CN" sz="2100" dirty="0"/>
              <a:t>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1</a:t>
            </a:r>
            <a:r>
              <a:rPr lang="en-US" altLang="zh-CN" sz="2100" i="1" dirty="0"/>
              <a:t>f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zh-CN" altLang="en-US" sz="2100" dirty="0"/>
              <a:t>。</a:t>
            </a:r>
            <a:endParaRPr lang="zh-CN" altLang="en-US" sz="2100" dirty="0"/>
          </a:p>
          <a:p>
            <a:pPr>
              <a:lnSpc>
                <a:spcPct val="150000"/>
              </a:lnSpc>
            </a:pPr>
            <a:r>
              <a:rPr lang="zh-CN" altLang="en-US" sz="2100" dirty="0"/>
              <a:t>类似地，对于任意</a:t>
            </a:r>
            <a:r>
              <a:rPr lang="en-US" altLang="zh-CN" sz="2100" i="1" dirty="0"/>
              <a:t>g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</a:t>
            </a:r>
            <a:r>
              <a:rPr lang="en-US" altLang="zh-CN" sz="2100" dirty="0"/>
              <a:t> </a:t>
            </a:r>
            <a:r>
              <a:rPr lang="en-US" altLang="zh-CN" sz="2100" i="1" dirty="0"/>
              <a:t>O</a:t>
            </a:r>
            <a:r>
              <a:rPr lang="en-US" altLang="zh-CN" sz="2100" dirty="0"/>
              <a:t>(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)) </a:t>
            </a:r>
            <a:r>
              <a:rPr lang="zh-CN" altLang="en-US" sz="2100" dirty="0"/>
              <a:t>，存在正常数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2</a:t>
            </a:r>
            <a:r>
              <a:rPr lang="zh-CN" altLang="en-US" sz="2100" dirty="0"/>
              <a:t>和自然数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2</a:t>
            </a:r>
            <a:r>
              <a:rPr lang="zh-CN" altLang="en-US" sz="2100" dirty="0"/>
              <a:t>，使得对所有</a:t>
            </a:r>
            <a:r>
              <a:rPr lang="en-US" altLang="zh-CN" sz="2100" i="1" dirty="0"/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 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2</a:t>
            </a:r>
            <a:r>
              <a:rPr lang="zh-CN" altLang="en-US" sz="2100" dirty="0"/>
              <a:t>，有</a:t>
            </a:r>
            <a:r>
              <a:rPr lang="en-US" altLang="zh-CN" sz="2100" i="1" dirty="0"/>
              <a:t>g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</a:t>
            </a:r>
            <a:r>
              <a:rPr lang="en-US" altLang="zh-CN" sz="2100" dirty="0"/>
              <a:t>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2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zh-CN" altLang="en-US" sz="2100" dirty="0"/>
              <a:t>。</a:t>
            </a:r>
            <a:endParaRPr lang="zh-CN" altLang="en-US" sz="2100" dirty="0"/>
          </a:p>
          <a:p>
            <a:pPr>
              <a:lnSpc>
                <a:spcPct val="150000"/>
              </a:lnSpc>
            </a:pPr>
            <a:r>
              <a:rPr lang="zh-CN" altLang="en-US" sz="2100" dirty="0"/>
              <a:t>令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3</a:t>
            </a:r>
            <a:r>
              <a:rPr lang="en-US" altLang="zh-CN" sz="2100" dirty="0"/>
              <a:t>=max{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,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}</a:t>
            </a:r>
            <a:r>
              <a:rPr lang="zh-CN" altLang="en-US" sz="2100" dirty="0"/>
              <a:t>， 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3</a:t>
            </a:r>
            <a:r>
              <a:rPr lang="en-US" altLang="zh-CN" sz="2100" dirty="0"/>
              <a:t> =max{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, 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2</a:t>
            </a:r>
            <a:r>
              <a:rPr lang="en-US" altLang="zh-CN" sz="2100" dirty="0"/>
              <a:t>}</a:t>
            </a:r>
            <a:r>
              <a:rPr lang="zh-CN" altLang="en-US" sz="2100" dirty="0"/>
              <a:t>，</a:t>
            </a:r>
            <a:r>
              <a:rPr lang="en-US" altLang="zh-CN" sz="2100" i="1" dirty="0"/>
              <a:t>h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)= max{</a:t>
            </a:r>
            <a:r>
              <a:rPr lang="en-US" altLang="zh-CN" sz="2100" i="1" dirty="0"/>
              <a:t>f</a:t>
            </a:r>
            <a:r>
              <a:rPr lang="en-US" altLang="zh-CN" sz="2100" dirty="0"/>
              <a:t>(n),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)} </a:t>
            </a:r>
            <a:r>
              <a:rPr lang="zh-CN" altLang="en-US" sz="2100" dirty="0"/>
              <a:t>。</a:t>
            </a:r>
            <a:endParaRPr lang="zh-CN" altLang="en-US" sz="2100" dirty="0"/>
          </a:p>
          <a:p>
            <a:pPr>
              <a:lnSpc>
                <a:spcPct val="150000"/>
              </a:lnSpc>
            </a:pPr>
            <a:r>
              <a:rPr lang="zh-CN" altLang="en-US" sz="2100" dirty="0"/>
              <a:t>则对所有的 </a:t>
            </a:r>
            <a:r>
              <a:rPr lang="en-US" altLang="zh-CN" sz="2100" i="1" dirty="0"/>
              <a:t>n </a:t>
            </a:r>
            <a:r>
              <a:rPr lang="en-US" altLang="zh-CN" sz="2100" dirty="0">
                <a:sym typeface="Symbol" panose="05050102010706020507" pitchFamily="18" charset="2"/>
              </a:rPr>
              <a:t> </a:t>
            </a:r>
            <a:r>
              <a:rPr lang="en-US" altLang="zh-CN" sz="2100" i="1" dirty="0"/>
              <a:t>n</a:t>
            </a:r>
            <a:r>
              <a:rPr lang="en-US" altLang="zh-CN" sz="2100" baseline="-25000" dirty="0"/>
              <a:t>3</a:t>
            </a:r>
            <a:r>
              <a:rPr lang="zh-CN" altLang="en-US" sz="2100" dirty="0"/>
              <a:t>，有</a:t>
            </a:r>
            <a:endParaRPr lang="zh-CN" altLang="en-US" sz="2100" dirty="0"/>
          </a:p>
          <a:p>
            <a:pPr>
              <a:lnSpc>
                <a:spcPct val="150000"/>
              </a:lnSpc>
            </a:pPr>
            <a:r>
              <a:rPr lang="en-US" altLang="zh-CN" sz="2100" i="1" dirty="0"/>
              <a:t>f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+</a:t>
            </a:r>
            <a:r>
              <a:rPr lang="en-US" altLang="zh-CN" sz="2100" i="1" dirty="0"/>
              <a:t>g</a:t>
            </a:r>
            <a:r>
              <a:rPr lang="en-US" altLang="zh-CN" sz="2100" baseline="-25000" dirty="0"/>
              <a:t>1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r>
              <a:rPr lang="en-US" altLang="zh-CN" sz="2100" dirty="0">
                <a:sym typeface="Symbol" panose="05050102010706020507" pitchFamily="18" charset="2"/>
              </a:rPr>
              <a:t></a:t>
            </a:r>
            <a:r>
              <a:rPr lang="en-US" altLang="zh-CN" sz="2100" dirty="0"/>
              <a:t>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1</a:t>
            </a:r>
            <a:r>
              <a:rPr lang="en-US" altLang="zh-CN" sz="2100" i="1" dirty="0"/>
              <a:t>f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+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2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</a:t>
            </a:r>
            <a:endParaRPr lang="en-US" altLang="zh-CN" sz="2100" dirty="0"/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2100" dirty="0">
                <a:sym typeface="Symbol" panose="05050102010706020507" pitchFamily="18" charset="2"/>
              </a:rPr>
              <a:t>    </a:t>
            </a:r>
            <a:r>
              <a:rPr lang="en-US" altLang="zh-CN" sz="2100" dirty="0"/>
              <a:t>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3</a:t>
            </a:r>
            <a:r>
              <a:rPr lang="en-US" altLang="zh-CN" sz="2100" i="1" dirty="0"/>
              <a:t>f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+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3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)=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3</a:t>
            </a:r>
            <a:r>
              <a:rPr lang="en-US" altLang="zh-CN" sz="2100" dirty="0"/>
              <a:t>(</a:t>
            </a:r>
            <a:r>
              <a:rPr lang="en-US" altLang="zh-CN" sz="2100" i="1" dirty="0"/>
              <a:t>f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+ 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))</a:t>
            </a:r>
            <a:endParaRPr lang="en-US" altLang="zh-CN" sz="2100" dirty="0"/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2100" dirty="0">
                <a:sym typeface="Symbol" panose="05050102010706020507" pitchFamily="18" charset="2"/>
              </a:rPr>
              <a:t>    </a:t>
            </a:r>
            <a:r>
              <a:rPr lang="en-US" altLang="zh-CN" sz="2100" dirty="0"/>
              <a:t> 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3</a:t>
            </a:r>
            <a:r>
              <a:rPr lang="en-US" altLang="zh-CN" sz="2100" dirty="0"/>
              <a:t>2 max{</a:t>
            </a:r>
            <a:r>
              <a:rPr lang="en-US" altLang="zh-CN" sz="2100" i="1" dirty="0"/>
              <a:t>f</a:t>
            </a:r>
            <a:r>
              <a:rPr lang="en-US" altLang="zh-CN" sz="2100" dirty="0"/>
              <a:t>(n),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)}</a:t>
            </a:r>
            <a:endParaRPr lang="en-US" altLang="zh-CN" sz="2100" dirty="0"/>
          </a:p>
          <a:p>
            <a:pPr>
              <a:lnSpc>
                <a:spcPct val="150000"/>
              </a:lnSpc>
              <a:spcBef>
                <a:spcPct val="0"/>
              </a:spcBef>
              <a:buClr>
                <a:schemeClr val="bg1"/>
              </a:buClr>
              <a:buFont typeface="Wingdings" panose="05000000000000000000" pitchFamily="2" charset="2"/>
              <a:buNone/>
            </a:pPr>
            <a:r>
              <a:rPr lang="en-US" altLang="zh-CN" sz="2100" dirty="0"/>
              <a:t>    = 2</a:t>
            </a:r>
            <a:r>
              <a:rPr lang="en-US" altLang="zh-CN" sz="2100" i="1" dirty="0"/>
              <a:t>c</a:t>
            </a:r>
            <a:r>
              <a:rPr lang="en-US" altLang="zh-CN" sz="2100" baseline="-25000" dirty="0"/>
              <a:t>3</a:t>
            </a:r>
            <a:r>
              <a:rPr lang="en-US" altLang="zh-CN" sz="2100" i="1" dirty="0"/>
              <a:t>h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 = </a:t>
            </a:r>
            <a:r>
              <a:rPr lang="en-US" altLang="zh-CN" sz="2100" i="1" dirty="0"/>
              <a:t>O</a:t>
            </a:r>
            <a:r>
              <a:rPr lang="en-US" altLang="zh-CN" sz="2100" dirty="0"/>
              <a:t>(max{</a:t>
            </a:r>
            <a:r>
              <a:rPr lang="en-US" altLang="zh-CN" sz="2100" i="1" dirty="0"/>
              <a:t>f</a:t>
            </a:r>
            <a:r>
              <a:rPr lang="en-US" altLang="zh-CN" sz="2100" dirty="0"/>
              <a:t>(n),</a:t>
            </a:r>
            <a:r>
              <a:rPr lang="en-US" altLang="zh-CN" sz="2100" i="1" dirty="0"/>
              <a:t>g</a:t>
            </a:r>
            <a:r>
              <a:rPr lang="en-US" altLang="zh-CN" sz="2100" dirty="0"/>
              <a:t>(</a:t>
            </a:r>
            <a:r>
              <a:rPr lang="en-US" altLang="zh-CN" sz="2100" i="1" dirty="0"/>
              <a:t>n</a:t>
            </a:r>
            <a:r>
              <a:rPr lang="en-US" altLang="zh-CN" sz="2100" dirty="0"/>
              <a:t>)}) .</a:t>
            </a:r>
            <a:endParaRPr lang="en-US" altLang="zh-CN" sz="210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BCD61-8FFB-4A09-809D-3E77BD1D499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3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4400" dirty="0"/>
              <a:t>算法渐近复杂性分析中常用函数</a:t>
            </a:r>
            <a:endParaRPr lang="zh-CN" altLang="en-US" sz="440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3907F1"/>
                </a:solidFill>
              </a:rPr>
              <a:t>（</a:t>
            </a:r>
            <a:r>
              <a:rPr lang="en-US" altLang="zh-CN" sz="2500" b="1" dirty="0">
                <a:solidFill>
                  <a:srgbClr val="3907F1"/>
                </a:solidFill>
              </a:rPr>
              <a:t>1</a:t>
            </a:r>
            <a:r>
              <a:rPr lang="zh-CN" altLang="en-US" sz="2500" b="1" dirty="0">
                <a:solidFill>
                  <a:srgbClr val="3907F1"/>
                </a:solidFill>
              </a:rPr>
              <a:t>）单调函数</a:t>
            </a:r>
            <a:endParaRPr lang="zh-CN" altLang="en-US" sz="2500" b="1" dirty="0">
              <a:solidFill>
                <a:srgbClr val="3907F1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2500" dirty="0"/>
              <a:t>单调递增：</a:t>
            </a:r>
            <a:r>
              <a:rPr lang="en-US" altLang="zh-CN" sz="2500" i="1" dirty="0"/>
              <a:t>m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 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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/>
              <a:t>m</a:t>
            </a:r>
            <a:r>
              <a:rPr lang="en-US" altLang="zh-CN" sz="2500" dirty="0"/>
              <a:t>) </a:t>
            </a:r>
            <a:r>
              <a:rPr lang="en-US" altLang="zh-CN" sz="2500" dirty="0">
                <a:sym typeface="Symbol" panose="05050102010706020507" pitchFamily="18" charset="2"/>
              </a:rPr>
              <a:t>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>
                <a:sym typeface="Symbol" panose="05050102010706020507" pitchFamily="18" charset="2"/>
              </a:rPr>
              <a:t>)</a:t>
            </a:r>
            <a:r>
              <a:rPr lang="en-US" altLang="zh-CN" sz="2500" dirty="0"/>
              <a:t> ;</a:t>
            </a:r>
            <a:endParaRPr lang="en-US" altLang="zh-CN" sz="2500" dirty="0"/>
          </a:p>
          <a:p>
            <a:pPr>
              <a:lnSpc>
                <a:spcPct val="120000"/>
              </a:lnSpc>
            </a:pPr>
            <a:r>
              <a:rPr lang="zh-CN" altLang="en-US" sz="2500" dirty="0"/>
              <a:t>单调递减：</a:t>
            </a:r>
            <a:r>
              <a:rPr lang="en-US" altLang="zh-CN" sz="2500" i="1" dirty="0"/>
              <a:t>m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 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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/>
              <a:t>m</a:t>
            </a:r>
            <a:r>
              <a:rPr lang="en-US" altLang="zh-CN" sz="2500" dirty="0"/>
              <a:t>) </a:t>
            </a:r>
            <a:r>
              <a:rPr lang="en-US" altLang="zh-CN" sz="2500" dirty="0">
                <a:sym typeface="Symbol" panose="05050102010706020507" pitchFamily="18" charset="2"/>
              </a:rPr>
              <a:t>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>
                <a:sym typeface="Symbol" panose="05050102010706020507" pitchFamily="18" charset="2"/>
              </a:rPr>
              <a:t>);</a:t>
            </a:r>
            <a:endParaRPr lang="en-US" altLang="zh-CN" sz="25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500" dirty="0"/>
              <a:t>严格单调递增：</a:t>
            </a:r>
            <a:r>
              <a:rPr lang="en-US" altLang="zh-CN" sz="2500" i="1" dirty="0"/>
              <a:t>m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&lt; 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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/>
              <a:t>m</a:t>
            </a:r>
            <a:r>
              <a:rPr lang="en-US" altLang="zh-CN" sz="2500" dirty="0"/>
              <a:t>) </a:t>
            </a:r>
            <a:r>
              <a:rPr lang="en-US" altLang="zh-CN" sz="2500" dirty="0">
                <a:sym typeface="Symbol" panose="05050102010706020507" pitchFamily="18" charset="2"/>
              </a:rPr>
              <a:t>&lt;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>
                <a:sym typeface="Symbol" panose="05050102010706020507" pitchFamily="18" charset="2"/>
              </a:rPr>
              <a:t>);</a:t>
            </a:r>
            <a:endParaRPr lang="en-US" altLang="zh-CN" sz="25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500" dirty="0"/>
              <a:t>严格单调递减：</a:t>
            </a:r>
            <a:r>
              <a:rPr lang="en-US" altLang="zh-CN" sz="2500" i="1" dirty="0"/>
              <a:t>m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&lt; 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/>
              <a:t> </a:t>
            </a:r>
            <a:r>
              <a:rPr lang="en-US" altLang="zh-CN" sz="2500" dirty="0">
                <a:sym typeface="Symbol" panose="05050102010706020507" pitchFamily="18" charset="2"/>
              </a:rPr>
              <a:t>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/>
              <a:t>m</a:t>
            </a:r>
            <a:r>
              <a:rPr lang="en-US" altLang="zh-CN" sz="2500" dirty="0"/>
              <a:t>) &gt; </a:t>
            </a:r>
            <a:r>
              <a:rPr lang="en-US" altLang="zh-CN" sz="2500" i="1" dirty="0">
                <a:sym typeface="Symbol" panose="05050102010706020507" pitchFamily="18" charset="2"/>
              </a:rPr>
              <a:t>f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>
                <a:sym typeface="Symbol" panose="05050102010706020507" pitchFamily="18" charset="2"/>
              </a:rPr>
              <a:t>n</a:t>
            </a:r>
            <a:r>
              <a:rPr lang="en-US" altLang="zh-CN" sz="2500" dirty="0">
                <a:sym typeface="Symbol" panose="05050102010706020507" pitchFamily="18" charset="2"/>
              </a:rPr>
              <a:t>).</a:t>
            </a:r>
            <a:endParaRPr lang="en-US" altLang="zh-CN" sz="25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3907F1"/>
                </a:solidFill>
                <a:sym typeface="Symbol" panose="05050102010706020507" pitchFamily="18" charset="2"/>
              </a:rPr>
              <a:t>（</a:t>
            </a:r>
            <a:r>
              <a:rPr lang="en-US" altLang="zh-CN" sz="2500" b="1" dirty="0">
                <a:solidFill>
                  <a:srgbClr val="3907F1"/>
                </a:solidFill>
                <a:sym typeface="Symbol" panose="05050102010706020507" pitchFamily="18" charset="2"/>
              </a:rPr>
              <a:t>2</a:t>
            </a:r>
            <a:r>
              <a:rPr lang="zh-CN" altLang="en-US" sz="2500" b="1" dirty="0">
                <a:solidFill>
                  <a:srgbClr val="3907F1"/>
                </a:solidFill>
                <a:sym typeface="Symbol" panose="05050102010706020507" pitchFamily="18" charset="2"/>
              </a:rPr>
              <a:t>）取整函数</a:t>
            </a:r>
            <a:endParaRPr lang="zh-CN" altLang="en-US" sz="2500" b="1" dirty="0">
              <a:solidFill>
                <a:srgbClr val="3907F1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500" dirty="0">
                <a:sym typeface="Symbol" panose="05050102010706020507" pitchFamily="18" charset="2"/>
              </a:rPr>
              <a:t>  </a:t>
            </a:r>
            <a:r>
              <a:rPr lang="en-US" altLang="zh-CN" sz="2500" i="1" dirty="0">
                <a:sym typeface="Symbol" panose="05050102010706020507" pitchFamily="18" charset="2"/>
              </a:rPr>
              <a:t>x </a:t>
            </a:r>
            <a:r>
              <a:rPr lang="en-US" altLang="zh-CN" sz="2500" dirty="0">
                <a:sym typeface="Symbol" panose="05050102010706020507" pitchFamily="18" charset="2"/>
              </a:rPr>
              <a:t> </a:t>
            </a:r>
            <a:r>
              <a:rPr lang="zh-CN" altLang="en-US" sz="2500" dirty="0">
                <a:sym typeface="Symbol" panose="05050102010706020507" pitchFamily="18" charset="2"/>
              </a:rPr>
              <a:t>：不大于</a:t>
            </a:r>
            <a:r>
              <a:rPr lang="en-US" altLang="zh-CN" sz="2500" i="1" dirty="0">
                <a:sym typeface="Symbol" panose="05050102010706020507" pitchFamily="18" charset="2"/>
              </a:rPr>
              <a:t>x</a:t>
            </a:r>
            <a:r>
              <a:rPr lang="zh-CN" altLang="en-US" sz="2500" dirty="0">
                <a:sym typeface="Symbol" panose="05050102010706020507" pitchFamily="18" charset="2"/>
              </a:rPr>
              <a:t>的最大整数；</a:t>
            </a:r>
            <a:endParaRPr lang="zh-CN" altLang="en-US" sz="25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500" dirty="0">
                <a:sym typeface="Symbol" panose="05050102010706020507" pitchFamily="18" charset="2"/>
              </a:rPr>
              <a:t> </a:t>
            </a:r>
            <a:r>
              <a:rPr lang="zh-CN" altLang="en-US" sz="2500" i="1" dirty="0">
                <a:sym typeface="Symbol" panose="05050102010706020507" pitchFamily="18" charset="2"/>
              </a:rPr>
              <a:t> </a:t>
            </a:r>
            <a:r>
              <a:rPr lang="en-US" altLang="zh-CN" sz="2500" i="1" dirty="0">
                <a:sym typeface="Symbol" panose="05050102010706020507" pitchFamily="18" charset="2"/>
              </a:rPr>
              <a:t>x</a:t>
            </a:r>
            <a:r>
              <a:rPr lang="en-US" altLang="zh-CN" sz="2500" dirty="0">
                <a:sym typeface="Symbol" panose="05050102010706020507" pitchFamily="18" charset="2"/>
              </a:rPr>
              <a:t>  </a:t>
            </a:r>
            <a:r>
              <a:rPr lang="zh-CN" altLang="en-US" sz="2500" dirty="0">
                <a:sym typeface="Symbol" panose="05050102010706020507" pitchFamily="18" charset="2"/>
              </a:rPr>
              <a:t>：不小于</a:t>
            </a:r>
            <a:r>
              <a:rPr lang="en-US" altLang="zh-CN" sz="2500" i="1" dirty="0">
                <a:sym typeface="Symbol" panose="05050102010706020507" pitchFamily="18" charset="2"/>
              </a:rPr>
              <a:t>x</a:t>
            </a:r>
            <a:r>
              <a:rPr lang="zh-CN" altLang="en-US" sz="2500" dirty="0">
                <a:sym typeface="Symbol" panose="05050102010706020507" pitchFamily="18" charset="2"/>
              </a:rPr>
              <a:t>的最小整数。 </a:t>
            </a:r>
            <a:endParaRPr lang="zh-CN" altLang="en-US" sz="2500" dirty="0">
              <a:sym typeface="Symbol" panose="05050102010706020507" pitchFamily="18" charset="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24B4-37E7-4636-9836-1746818A216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18864" y="269776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ym typeface="Symbol" panose="05050102010706020507" pitchFamily="18" charset="2"/>
              </a:rPr>
              <a:t>取整函数的若干性质</a:t>
            </a:r>
            <a:endParaRPr lang="zh-CN" altLang="en-US" sz="4400" dirty="0">
              <a:sym typeface="Symbol" panose="05050102010706020507" pitchFamily="18" charset="2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84337"/>
            <a:ext cx="7772400" cy="47529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100" dirty="0">
                <a:sym typeface="Symbol" panose="05050102010706020507" pitchFamily="18" charset="2"/>
              </a:rPr>
              <a:t> </a:t>
            </a:r>
            <a:r>
              <a:rPr lang="en-US" altLang="zh-CN" sz="2100" i="1" dirty="0">
                <a:sym typeface="Symbol" panose="05050102010706020507" pitchFamily="18" charset="2"/>
              </a:rPr>
              <a:t>x</a:t>
            </a:r>
            <a:r>
              <a:rPr lang="en-US" altLang="zh-CN" sz="2100" dirty="0">
                <a:sym typeface="Symbol" panose="05050102010706020507" pitchFamily="18" charset="2"/>
              </a:rPr>
              <a:t>-1 &lt;  </a:t>
            </a:r>
            <a:r>
              <a:rPr lang="en-US" altLang="zh-CN" sz="2100" i="1" dirty="0">
                <a:sym typeface="Symbol" panose="05050102010706020507" pitchFamily="18" charset="2"/>
              </a:rPr>
              <a:t>x </a:t>
            </a:r>
            <a:r>
              <a:rPr lang="en-US" altLang="zh-CN" sz="2100" dirty="0">
                <a:sym typeface="Symbol" panose="05050102010706020507" pitchFamily="18" charset="2"/>
              </a:rPr>
              <a:t>    </a:t>
            </a:r>
            <a:r>
              <a:rPr lang="en-US" altLang="zh-CN" sz="2100" i="1" dirty="0">
                <a:sym typeface="Symbol" panose="05050102010706020507" pitchFamily="18" charset="2"/>
              </a:rPr>
              <a:t>x </a:t>
            </a:r>
            <a:r>
              <a:rPr lang="en-US" altLang="zh-CN" sz="2100" dirty="0">
                <a:sym typeface="Symbol" panose="05050102010706020507" pitchFamily="18" charset="2"/>
              </a:rPr>
              <a:t>   </a:t>
            </a:r>
            <a:r>
              <a:rPr lang="en-US" altLang="zh-CN" sz="2100" i="1" dirty="0">
                <a:sym typeface="Symbol" panose="05050102010706020507" pitchFamily="18" charset="2"/>
              </a:rPr>
              <a:t> x</a:t>
            </a:r>
            <a:r>
              <a:rPr lang="en-US" altLang="zh-CN" sz="2100" dirty="0">
                <a:sym typeface="Symbol" panose="05050102010706020507" pitchFamily="18" charset="2"/>
              </a:rPr>
              <a:t>  &lt; </a:t>
            </a:r>
            <a:r>
              <a:rPr lang="en-US" altLang="zh-CN" sz="2100" i="1" dirty="0">
                <a:sym typeface="Symbol" panose="05050102010706020507" pitchFamily="18" charset="2"/>
              </a:rPr>
              <a:t>x</a:t>
            </a:r>
            <a:r>
              <a:rPr lang="en-US" altLang="zh-CN" sz="2100" dirty="0">
                <a:sym typeface="Symbol" panose="05050102010706020507" pitchFamily="18" charset="2"/>
              </a:rPr>
              <a:t>+1</a:t>
            </a:r>
            <a:r>
              <a:rPr lang="zh-CN" altLang="en-US" sz="2100" dirty="0">
                <a:sym typeface="Symbol" panose="05050102010706020507" pitchFamily="18" charset="2"/>
              </a:rPr>
              <a:t>；</a:t>
            </a:r>
            <a:endParaRPr lang="zh-CN" altLang="en-US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100" dirty="0"/>
              <a:t> </a:t>
            </a:r>
            <a:r>
              <a:rPr lang="zh-CN" altLang="en-US" sz="2100" dirty="0">
                <a:sym typeface="Symbol" panose="05050102010706020507" pitchFamily="18" charset="2"/>
              </a:rPr>
              <a:t> </a:t>
            </a:r>
            <a:r>
              <a:rPr lang="en-US" altLang="zh-CN" sz="2100" i="1" dirty="0">
                <a:sym typeface="Symbol" panose="05050102010706020507" pitchFamily="18" charset="2"/>
              </a:rPr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/2</a:t>
            </a:r>
            <a:r>
              <a:rPr lang="en-US" altLang="zh-CN" sz="2100" i="1" dirty="0">
                <a:sym typeface="Symbol" panose="05050102010706020507" pitchFamily="18" charset="2"/>
              </a:rPr>
              <a:t> </a:t>
            </a:r>
            <a:r>
              <a:rPr lang="en-US" altLang="zh-CN" sz="2100" dirty="0">
                <a:sym typeface="Symbol" panose="05050102010706020507" pitchFamily="18" charset="2"/>
              </a:rPr>
              <a:t>  +  </a:t>
            </a:r>
            <a:r>
              <a:rPr lang="en-US" altLang="zh-CN" sz="2100" i="1" dirty="0">
                <a:sym typeface="Symbol" panose="05050102010706020507" pitchFamily="18" charset="2"/>
              </a:rPr>
              <a:t> n</a:t>
            </a:r>
            <a:r>
              <a:rPr lang="en-US" altLang="zh-CN" sz="2100" dirty="0">
                <a:sym typeface="Symbol" panose="05050102010706020507" pitchFamily="18" charset="2"/>
              </a:rPr>
              <a:t>/2  = </a:t>
            </a:r>
            <a:r>
              <a:rPr lang="en-US" altLang="zh-CN" sz="2100" i="1" dirty="0">
                <a:sym typeface="Symbol" panose="05050102010706020507" pitchFamily="18" charset="2"/>
              </a:rPr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;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i="1" dirty="0">
                <a:sym typeface="Symbol" panose="05050102010706020507" pitchFamily="18" charset="2"/>
              </a:rPr>
              <a:t> </a:t>
            </a:r>
            <a:r>
              <a:rPr lang="zh-CN" altLang="en-US" sz="2100" dirty="0">
                <a:sym typeface="Symbol" panose="05050102010706020507" pitchFamily="18" charset="2"/>
              </a:rPr>
              <a:t>对于</a:t>
            </a:r>
            <a:r>
              <a:rPr lang="en-US" altLang="zh-CN" sz="2100" i="1" dirty="0">
                <a:sym typeface="Symbol" panose="05050102010706020507" pitchFamily="18" charset="2"/>
              </a:rPr>
              <a:t>n</a:t>
            </a:r>
            <a:r>
              <a:rPr lang="en-US" altLang="zh-CN" sz="2100" dirty="0"/>
              <a:t> </a:t>
            </a:r>
            <a:r>
              <a:rPr lang="en-US" altLang="zh-CN" sz="2100" dirty="0">
                <a:sym typeface="Symbol" panose="05050102010706020507" pitchFamily="18" charset="2"/>
              </a:rPr>
              <a:t> 0</a:t>
            </a:r>
            <a:r>
              <a:rPr lang="zh-CN" altLang="en-US" sz="2100" i="1" dirty="0">
                <a:sym typeface="Symbol" panose="05050102010706020507" pitchFamily="18" charset="2"/>
              </a:rPr>
              <a:t>，</a:t>
            </a:r>
            <a:r>
              <a:rPr lang="en-US" altLang="zh-CN" sz="2100" i="1" dirty="0" err="1">
                <a:sym typeface="Symbol" panose="05050102010706020507" pitchFamily="18" charset="2"/>
              </a:rPr>
              <a:t>a,b</a:t>
            </a:r>
            <a:r>
              <a:rPr lang="en-US" altLang="zh-CN" sz="2100" dirty="0">
                <a:sym typeface="Symbol" panose="05050102010706020507" pitchFamily="18" charset="2"/>
              </a:rPr>
              <a:t>&gt;0</a:t>
            </a:r>
            <a:r>
              <a:rPr lang="zh-CN" altLang="en-US" sz="2100" dirty="0">
                <a:sym typeface="Symbol" panose="05050102010706020507" pitchFamily="18" charset="2"/>
              </a:rPr>
              <a:t>，有：</a:t>
            </a:r>
            <a:endParaRPr lang="zh-CN" altLang="en-US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100" dirty="0">
                <a:sym typeface="Symbol" panose="05050102010706020507" pitchFamily="18" charset="2"/>
              </a:rPr>
              <a:t> </a:t>
            </a:r>
            <a:r>
              <a:rPr lang="zh-CN" altLang="en-US" sz="2100" i="1" dirty="0">
                <a:sym typeface="Symbol" panose="05050102010706020507" pitchFamily="18" charset="2"/>
              </a:rPr>
              <a:t> </a:t>
            </a:r>
            <a:r>
              <a:rPr lang="zh-CN" altLang="en-US" sz="2100" dirty="0">
                <a:sym typeface="Symbol" panose="05050102010706020507" pitchFamily="18" charset="2"/>
              </a:rPr>
              <a:t></a:t>
            </a:r>
            <a:r>
              <a:rPr lang="zh-CN" altLang="en-US" sz="2100" i="1" dirty="0">
                <a:sym typeface="Symbol" panose="05050102010706020507" pitchFamily="18" charset="2"/>
              </a:rPr>
              <a:t> </a:t>
            </a:r>
            <a:r>
              <a:rPr lang="en-US" altLang="zh-CN" sz="2100" i="1" dirty="0">
                <a:sym typeface="Symbol" panose="05050102010706020507" pitchFamily="18" charset="2"/>
              </a:rPr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/</a:t>
            </a:r>
            <a:r>
              <a:rPr lang="en-US" altLang="zh-CN" sz="2100" i="1" dirty="0">
                <a:sym typeface="Symbol" panose="05050102010706020507" pitchFamily="18" charset="2"/>
              </a:rPr>
              <a:t>a</a:t>
            </a:r>
            <a:r>
              <a:rPr lang="en-US" altLang="zh-CN" sz="2100" dirty="0">
                <a:sym typeface="Symbol" panose="05050102010706020507" pitchFamily="18" charset="2"/>
              </a:rPr>
              <a:t>  /</a:t>
            </a:r>
            <a:r>
              <a:rPr lang="en-US" altLang="zh-CN" sz="2100" i="1" dirty="0">
                <a:sym typeface="Symbol" panose="05050102010706020507" pitchFamily="18" charset="2"/>
              </a:rPr>
              <a:t>b</a:t>
            </a:r>
            <a:r>
              <a:rPr lang="en-US" altLang="zh-CN" sz="2100" dirty="0">
                <a:sym typeface="Symbol" panose="05050102010706020507" pitchFamily="18" charset="2"/>
              </a:rPr>
              <a:t>  = </a:t>
            </a:r>
            <a:r>
              <a:rPr lang="en-US" altLang="zh-CN" sz="2100" i="1" dirty="0">
                <a:sym typeface="Symbol" panose="05050102010706020507" pitchFamily="18" charset="2"/>
              </a:rPr>
              <a:t> n</a:t>
            </a:r>
            <a:r>
              <a:rPr lang="en-US" altLang="zh-CN" sz="2100" dirty="0">
                <a:sym typeface="Symbol" panose="05050102010706020507" pitchFamily="18" charset="2"/>
              </a:rPr>
              <a:t>/</a:t>
            </a:r>
            <a:r>
              <a:rPr lang="en-US" altLang="zh-CN" sz="2100" i="1" dirty="0" err="1">
                <a:sym typeface="Symbol" panose="05050102010706020507" pitchFamily="18" charset="2"/>
              </a:rPr>
              <a:t>ab</a:t>
            </a:r>
            <a:r>
              <a:rPr lang="en-US" altLang="zh-CN" sz="2100" dirty="0">
                <a:sym typeface="Symbol" panose="05050102010706020507" pitchFamily="18" charset="2"/>
              </a:rPr>
              <a:t>  ;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ym typeface="Symbol" panose="05050102010706020507" pitchFamily="18" charset="2"/>
              </a:rPr>
              <a:t>   </a:t>
            </a:r>
            <a:r>
              <a:rPr lang="en-US" altLang="zh-CN" sz="2100" i="1" dirty="0">
                <a:sym typeface="Symbol" panose="05050102010706020507" pitchFamily="18" charset="2"/>
              </a:rPr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/</a:t>
            </a:r>
            <a:r>
              <a:rPr lang="en-US" altLang="zh-CN" sz="2100" i="1" dirty="0">
                <a:sym typeface="Symbol" panose="05050102010706020507" pitchFamily="18" charset="2"/>
              </a:rPr>
              <a:t>a </a:t>
            </a:r>
            <a:r>
              <a:rPr lang="en-US" altLang="zh-CN" sz="2100" dirty="0">
                <a:sym typeface="Symbol" panose="05050102010706020507" pitchFamily="18" charset="2"/>
              </a:rPr>
              <a:t> /</a:t>
            </a:r>
            <a:r>
              <a:rPr lang="en-US" altLang="zh-CN" sz="2100" i="1" dirty="0">
                <a:sym typeface="Symbol" panose="05050102010706020507" pitchFamily="18" charset="2"/>
              </a:rPr>
              <a:t>b </a:t>
            </a:r>
            <a:r>
              <a:rPr lang="en-US" altLang="zh-CN" sz="2100" dirty="0">
                <a:sym typeface="Symbol" panose="05050102010706020507" pitchFamily="18" charset="2"/>
              </a:rPr>
              <a:t> =  </a:t>
            </a:r>
            <a:r>
              <a:rPr lang="en-US" altLang="zh-CN" sz="2100" i="1" dirty="0">
                <a:sym typeface="Symbol" panose="05050102010706020507" pitchFamily="18" charset="2"/>
              </a:rPr>
              <a:t>n</a:t>
            </a:r>
            <a:r>
              <a:rPr lang="en-US" altLang="zh-CN" sz="2100" dirty="0">
                <a:sym typeface="Symbol" panose="05050102010706020507" pitchFamily="18" charset="2"/>
              </a:rPr>
              <a:t>/</a:t>
            </a:r>
            <a:r>
              <a:rPr lang="en-US" altLang="zh-CN" sz="2100" i="1" dirty="0" err="1">
                <a:sym typeface="Symbol" panose="05050102010706020507" pitchFamily="18" charset="2"/>
              </a:rPr>
              <a:t>ab</a:t>
            </a:r>
            <a:r>
              <a:rPr lang="en-US" altLang="zh-CN" sz="2100" i="1" dirty="0">
                <a:sym typeface="Symbol" panose="05050102010706020507" pitchFamily="18" charset="2"/>
              </a:rPr>
              <a:t> </a:t>
            </a:r>
            <a:r>
              <a:rPr lang="en-US" altLang="zh-CN" sz="2100" dirty="0">
                <a:sym typeface="Symbol" panose="05050102010706020507" pitchFamily="18" charset="2"/>
              </a:rPr>
              <a:t> ;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ym typeface="Symbol" panose="05050102010706020507" pitchFamily="18" charset="2"/>
              </a:rPr>
              <a:t> </a:t>
            </a:r>
            <a:r>
              <a:rPr lang="en-US" altLang="zh-CN" sz="2100" i="1" dirty="0">
                <a:sym typeface="Symbol" panose="05050102010706020507" pitchFamily="18" charset="2"/>
              </a:rPr>
              <a:t> a</a:t>
            </a:r>
            <a:r>
              <a:rPr lang="en-US" altLang="zh-CN" sz="2100" dirty="0">
                <a:sym typeface="Symbol" panose="05050102010706020507" pitchFamily="18" charset="2"/>
              </a:rPr>
              <a:t>/</a:t>
            </a:r>
            <a:r>
              <a:rPr lang="en-US" altLang="zh-CN" sz="2100" i="1" dirty="0">
                <a:sym typeface="Symbol" panose="05050102010706020507" pitchFamily="18" charset="2"/>
              </a:rPr>
              <a:t>b</a:t>
            </a:r>
            <a:r>
              <a:rPr lang="en-US" altLang="zh-CN" sz="2100" dirty="0">
                <a:sym typeface="Symbol" panose="05050102010706020507" pitchFamily="18" charset="2"/>
              </a:rPr>
              <a:t>   (</a:t>
            </a:r>
            <a:r>
              <a:rPr lang="en-US" altLang="zh-CN" sz="2100" i="1" dirty="0">
                <a:sym typeface="Symbol" panose="05050102010706020507" pitchFamily="18" charset="2"/>
              </a:rPr>
              <a:t>a</a:t>
            </a:r>
            <a:r>
              <a:rPr lang="en-US" altLang="zh-CN" sz="2100" dirty="0">
                <a:sym typeface="Symbol" panose="05050102010706020507" pitchFamily="18" charset="2"/>
              </a:rPr>
              <a:t>+(</a:t>
            </a:r>
            <a:r>
              <a:rPr lang="en-US" altLang="zh-CN" sz="2100" i="1" dirty="0">
                <a:sym typeface="Symbol" panose="05050102010706020507" pitchFamily="18" charset="2"/>
              </a:rPr>
              <a:t>b</a:t>
            </a:r>
            <a:r>
              <a:rPr lang="en-US" altLang="zh-CN" sz="2100" dirty="0">
                <a:sym typeface="Symbol" panose="05050102010706020507" pitchFamily="18" charset="2"/>
              </a:rPr>
              <a:t>-1))/</a:t>
            </a:r>
            <a:r>
              <a:rPr lang="en-US" altLang="zh-CN" sz="2100" i="1" dirty="0">
                <a:sym typeface="Symbol" panose="05050102010706020507" pitchFamily="18" charset="2"/>
              </a:rPr>
              <a:t>b</a:t>
            </a:r>
            <a:r>
              <a:rPr lang="en-US" altLang="zh-CN" sz="2100" dirty="0">
                <a:sym typeface="Symbol" panose="05050102010706020507" pitchFamily="18" charset="2"/>
              </a:rPr>
              <a:t>;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ym typeface="Symbol" panose="05050102010706020507" pitchFamily="18" charset="2"/>
              </a:rPr>
              <a:t>  </a:t>
            </a:r>
            <a:r>
              <a:rPr lang="en-US" altLang="zh-CN" sz="2100" i="1" dirty="0">
                <a:sym typeface="Symbol" panose="05050102010706020507" pitchFamily="18" charset="2"/>
              </a:rPr>
              <a:t>a</a:t>
            </a:r>
            <a:r>
              <a:rPr lang="en-US" altLang="zh-CN" sz="2100" dirty="0">
                <a:sym typeface="Symbol" panose="05050102010706020507" pitchFamily="18" charset="2"/>
              </a:rPr>
              <a:t>/</a:t>
            </a:r>
            <a:r>
              <a:rPr lang="en-US" altLang="zh-CN" sz="2100" i="1" dirty="0">
                <a:sym typeface="Symbol" panose="05050102010706020507" pitchFamily="18" charset="2"/>
              </a:rPr>
              <a:t>b </a:t>
            </a:r>
            <a:r>
              <a:rPr lang="en-US" altLang="zh-CN" sz="2100" dirty="0">
                <a:sym typeface="Symbol" panose="05050102010706020507" pitchFamily="18" charset="2"/>
              </a:rPr>
              <a:t>  (</a:t>
            </a:r>
            <a:r>
              <a:rPr lang="en-US" altLang="zh-CN" sz="2100" i="1" dirty="0">
                <a:sym typeface="Symbol" panose="05050102010706020507" pitchFamily="18" charset="2"/>
              </a:rPr>
              <a:t>a</a:t>
            </a:r>
            <a:r>
              <a:rPr lang="en-US" altLang="zh-CN" sz="2100" dirty="0">
                <a:sym typeface="Symbol" panose="05050102010706020507" pitchFamily="18" charset="2"/>
              </a:rPr>
              <a:t>-(</a:t>
            </a:r>
            <a:r>
              <a:rPr lang="en-US" altLang="zh-CN" sz="2100" i="1" dirty="0">
                <a:sym typeface="Symbol" panose="05050102010706020507" pitchFamily="18" charset="2"/>
              </a:rPr>
              <a:t>b</a:t>
            </a:r>
            <a:r>
              <a:rPr lang="en-US" altLang="zh-CN" sz="2100" dirty="0">
                <a:sym typeface="Symbol" panose="05050102010706020507" pitchFamily="18" charset="2"/>
              </a:rPr>
              <a:t>-1))/</a:t>
            </a:r>
            <a:r>
              <a:rPr lang="en-US" altLang="zh-CN" sz="2100" i="1" dirty="0">
                <a:sym typeface="Symbol" panose="05050102010706020507" pitchFamily="18" charset="2"/>
              </a:rPr>
              <a:t>b</a:t>
            </a:r>
            <a:r>
              <a:rPr lang="en-US" altLang="zh-CN" sz="2100" dirty="0">
                <a:sym typeface="Symbol" panose="05050102010706020507" pitchFamily="18" charset="2"/>
              </a:rPr>
              <a:t>;</a:t>
            </a:r>
            <a:endParaRPr lang="en-US" altLang="zh-CN" sz="21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dirty="0">
                <a:sym typeface="Symbol" panose="05050102010706020507" pitchFamily="18" charset="2"/>
              </a:rPr>
              <a:t> </a:t>
            </a:r>
            <a:r>
              <a:rPr lang="en-US" altLang="zh-CN" sz="2100" i="1" dirty="0">
                <a:sym typeface="Symbol" panose="05050102010706020507" pitchFamily="18" charset="2"/>
              </a:rPr>
              <a:t>f</a:t>
            </a:r>
            <a:r>
              <a:rPr lang="en-US" altLang="zh-CN" sz="2100" dirty="0">
                <a:sym typeface="Symbol" panose="05050102010706020507" pitchFamily="18" charset="2"/>
              </a:rPr>
              <a:t>(</a:t>
            </a:r>
            <a:r>
              <a:rPr lang="en-US" altLang="zh-CN" sz="2100" i="1" dirty="0">
                <a:sym typeface="Symbol" panose="05050102010706020507" pitchFamily="18" charset="2"/>
              </a:rPr>
              <a:t>x</a:t>
            </a:r>
            <a:r>
              <a:rPr lang="en-US" altLang="zh-CN" sz="2100" dirty="0">
                <a:sym typeface="Symbol" panose="05050102010706020507" pitchFamily="18" charset="2"/>
              </a:rPr>
              <a:t>)=  </a:t>
            </a:r>
            <a:r>
              <a:rPr lang="en-US" altLang="zh-CN" sz="2100" i="1" dirty="0">
                <a:sym typeface="Symbol" panose="05050102010706020507" pitchFamily="18" charset="2"/>
              </a:rPr>
              <a:t>x </a:t>
            </a:r>
            <a:r>
              <a:rPr lang="en-US" altLang="zh-CN" sz="2100" dirty="0">
                <a:sym typeface="Symbol" panose="05050102010706020507" pitchFamily="18" charset="2"/>
              </a:rPr>
              <a:t> , </a:t>
            </a:r>
            <a:r>
              <a:rPr lang="en-US" altLang="zh-CN" sz="2100" i="1" dirty="0">
                <a:sym typeface="Symbol" panose="05050102010706020507" pitchFamily="18" charset="2"/>
              </a:rPr>
              <a:t>g</a:t>
            </a:r>
            <a:r>
              <a:rPr lang="en-US" altLang="zh-CN" sz="2100" dirty="0">
                <a:sym typeface="Symbol" panose="05050102010706020507" pitchFamily="18" charset="2"/>
              </a:rPr>
              <a:t>(</a:t>
            </a:r>
            <a:r>
              <a:rPr lang="en-US" altLang="zh-CN" sz="2100" i="1" dirty="0">
                <a:sym typeface="Symbol" panose="05050102010706020507" pitchFamily="18" charset="2"/>
              </a:rPr>
              <a:t>x</a:t>
            </a:r>
            <a:r>
              <a:rPr lang="en-US" altLang="zh-CN" sz="2100" dirty="0">
                <a:sym typeface="Symbol" panose="05050102010706020507" pitchFamily="18" charset="2"/>
              </a:rPr>
              <a:t>)= </a:t>
            </a:r>
            <a:r>
              <a:rPr lang="en-US" altLang="zh-CN" sz="2100" i="1" dirty="0">
                <a:sym typeface="Symbol" panose="05050102010706020507" pitchFamily="18" charset="2"/>
              </a:rPr>
              <a:t> x</a:t>
            </a:r>
            <a:r>
              <a:rPr lang="en-US" altLang="zh-CN" sz="2100" dirty="0">
                <a:sym typeface="Symbol" panose="05050102010706020507" pitchFamily="18" charset="2"/>
              </a:rPr>
              <a:t>  </a:t>
            </a:r>
            <a:r>
              <a:rPr lang="zh-CN" altLang="en-US" sz="2100" dirty="0">
                <a:sym typeface="Symbol" panose="05050102010706020507" pitchFamily="18" charset="2"/>
              </a:rPr>
              <a:t>为</a:t>
            </a:r>
            <a:r>
              <a:rPr lang="zh-CN" altLang="en-US" sz="2100" dirty="0"/>
              <a:t>单调递增函数。</a:t>
            </a:r>
            <a:endParaRPr lang="zh-CN" altLang="en-US" sz="21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3C904-E6BA-44DD-8B98-78DE71D069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idx="1"/>
          </p:nvPr>
        </p:nvSpPr>
        <p:spPr>
          <a:xfrm>
            <a:off x="539750" y="981075"/>
            <a:ext cx="7772400" cy="547211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907F1"/>
                </a:solidFill>
                <a:sym typeface="Symbol" panose="05050102010706020507" pitchFamily="18" charset="2"/>
              </a:rPr>
              <a:t>（</a:t>
            </a:r>
            <a:r>
              <a:rPr lang="en-US" altLang="zh-CN" b="1" dirty="0">
                <a:solidFill>
                  <a:srgbClr val="3907F1"/>
                </a:solidFill>
                <a:sym typeface="Symbol" panose="05050102010706020507" pitchFamily="18" charset="2"/>
              </a:rPr>
              <a:t>3</a:t>
            </a:r>
            <a:r>
              <a:rPr lang="zh-CN" altLang="en-US" b="1" dirty="0">
                <a:solidFill>
                  <a:srgbClr val="3907F1"/>
                </a:solidFill>
                <a:sym typeface="Symbol" panose="05050102010706020507" pitchFamily="18" charset="2"/>
              </a:rPr>
              <a:t>）多项式函数</a:t>
            </a:r>
            <a:endParaRPr lang="zh-CN" altLang="en-US" b="1" dirty="0">
              <a:solidFill>
                <a:srgbClr val="3907F1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/>
              <a:t> </a:t>
            </a:r>
            <a:r>
              <a:rPr lang="en-US" altLang="zh-CN" sz="2000" i="1" dirty="0"/>
              <a:t>p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)= 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0</a:t>
            </a:r>
            <a:r>
              <a:rPr lang="en-US" altLang="zh-CN" sz="2000" dirty="0"/>
              <a:t>+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1</a:t>
            </a:r>
            <a:r>
              <a:rPr lang="en-US" altLang="zh-CN" sz="2000" i="1" dirty="0"/>
              <a:t>n</a:t>
            </a:r>
            <a:r>
              <a:rPr lang="en-US" altLang="zh-CN" sz="2000" dirty="0"/>
              <a:t>+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2</a:t>
            </a:r>
            <a:r>
              <a:rPr lang="en-US" altLang="zh-CN" sz="2000" i="1" dirty="0"/>
              <a:t>n</a:t>
            </a:r>
            <a:r>
              <a:rPr lang="en-US" altLang="zh-CN" sz="2000" baseline="30000" dirty="0"/>
              <a:t>2</a:t>
            </a:r>
            <a:r>
              <a:rPr lang="en-US" altLang="zh-CN" sz="2000" dirty="0"/>
              <a:t>+…+</a:t>
            </a:r>
            <a:r>
              <a:rPr lang="en-US" altLang="zh-CN" sz="2000" i="1" dirty="0" err="1"/>
              <a:t>a</a:t>
            </a:r>
            <a:r>
              <a:rPr lang="en-US" altLang="zh-CN" sz="2000" baseline="-25000" dirty="0" err="1"/>
              <a:t>d</a:t>
            </a:r>
            <a:r>
              <a:rPr lang="en-US" altLang="zh-CN" sz="2000" i="1" dirty="0" err="1"/>
              <a:t>n</a:t>
            </a:r>
            <a:r>
              <a:rPr lang="en-US" altLang="zh-CN" sz="2000" baseline="30000" dirty="0" err="1"/>
              <a:t>d</a:t>
            </a:r>
            <a:r>
              <a:rPr lang="zh-CN" altLang="en-US" sz="2000" dirty="0"/>
              <a:t>； </a:t>
            </a:r>
            <a:r>
              <a:rPr lang="en-US" altLang="zh-CN" sz="2000" i="1" dirty="0"/>
              <a:t>a</a:t>
            </a:r>
            <a:r>
              <a:rPr lang="en-US" altLang="zh-CN" sz="2000" baseline="-25000" dirty="0"/>
              <a:t>d</a:t>
            </a:r>
            <a:r>
              <a:rPr lang="en-US" altLang="zh-CN" sz="2000" dirty="0"/>
              <a:t>&gt;0;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i="1" dirty="0"/>
              <a:t>p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dirty="0">
                <a:sym typeface="Symbol" panose="05050102010706020507" pitchFamily="18" charset="2"/>
              </a:rPr>
              <a:t>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n</a:t>
            </a:r>
            <a:r>
              <a:rPr lang="en-US" altLang="zh-CN" sz="2000" i="1" baseline="30000" dirty="0" err="1"/>
              <a:t>d</a:t>
            </a:r>
            <a:r>
              <a:rPr lang="en-US" altLang="zh-CN" sz="2000" dirty="0"/>
              <a:t>);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i="1" dirty="0">
                <a:sym typeface="Symbol" panose="05050102010706020507" pitchFamily="18" charset="2"/>
              </a:rPr>
              <a:t>O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n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/>
              <a:t>) </a:t>
            </a:r>
            <a:r>
              <a:rPr lang="en-US" altLang="zh-CN" sz="2000" dirty="0">
                <a:sym typeface="Symbol" panose="05050102010706020507" pitchFamily="18" charset="2"/>
              </a:rPr>
              <a:t>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</a:t>
            </a:r>
            <a:r>
              <a:rPr lang="zh-CN" altLang="en-US" sz="2000" dirty="0">
                <a:sym typeface="Symbol" panose="05050102010706020507" pitchFamily="18" charset="2"/>
              </a:rPr>
              <a:t>多项式有界；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000" i="1" dirty="0"/>
              <a:t>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i="1" dirty="0"/>
              <a:t>O</a:t>
            </a:r>
            <a:r>
              <a:rPr lang="en-US" altLang="zh-CN" sz="2000" dirty="0"/>
              <a:t>(1) </a:t>
            </a:r>
            <a:r>
              <a:rPr lang="en-US" altLang="zh-CN" sz="2000" dirty="0">
                <a:sym typeface="Symbol" panose="05050102010706020507" pitchFamily="18" charset="2"/>
              </a:rPr>
              <a:t></a:t>
            </a:r>
            <a:r>
              <a:rPr lang="en-US" altLang="zh-CN" sz="2000" dirty="0"/>
              <a:t> </a:t>
            </a:r>
            <a:r>
              <a:rPr lang="en-US" altLang="zh-CN" sz="2000" i="1" dirty="0"/>
              <a:t>f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</a:t>
            </a:r>
            <a:r>
              <a:rPr lang="en-US" altLang="zh-CN" sz="2000" dirty="0">
                <a:sym typeface="Symbol" panose="05050102010706020507" pitchFamily="18" charset="2"/>
              </a:rPr>
              <a:t></a:t>
            </a:r>
            <a:r>
              <a:rPr lang="en-US" altLang="zh-CN" sz="2000" dirty="0"/>
              <a:t> </a:t>
            </a:r>
            <a:r>
              <a:rPr lang="en-US" altLang="zh-CN" sz="2000" i="1" dirty="0"/>
              <a:t>c</a:t>
            </a:r>
            <a:r>
              <a:rPr lang="en-US" altLang="zh-CN" sz="2000" dirty="0"/>
              <a:t>;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i="1" dirty="0">
                <a:sym typeface="Symbol" panose="05050102010706020507" pitchFamily="18" charset="2"/>
              </a:rPr>
              <a:t>k </a:t>
            </a:r>
            <a:r>
              <a:rPr lang="en-US" altLang="zh-CN" sz="2000" dirty="0">
                <a:sym typeface="Symbol" panose="05050102010706020507" pitchFamily="18" charset="2"/>
              </a:rPr>
              <a:t> </a:t>
            </a:r>
            <a:r>
              <a:rPr lang="en-US" altLang="zh-CN" sz="2000" i="1" dirty="0">
                <a:sym typeface="Symbol" panose="05050102010706020507" pitchFamily="18" charset="2"/>
              </a:rPr>
              <a:t>d</a:t>
            </a:r>
            <a:r>
              <a:rPr lang="en-US" altLang="zh-CN" sz="2000" dirty="0">
                <a:sym typeface="Symbol" panose="05050102010706020507" pitchFamily="18" charset="2"/>
              </a:rPr>
              <a:t> </a:t>
            </a:r>
            <a:r>
              <a:rPr lang="en-US" altLang="zh-CN" sz="2000" i="1" dirty="0"/>
              <a:t> p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i="1" dirty="0">
                <a:sym typeface="Symbol" panose="05050102010706020507" pitchFamily="18" charset="2"/>
              </a:rPr>
              <a:t>O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n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/>
              <a:t>) ;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i="1" dirty="0">
                <a:sym typeface="Symbol" panose="05050102010706020507" pitchFamily="18" charset="2"/>
              </a:rPr>
              <a:t>k </a:t>
            </a:r>
            <a:r>
              <a:rPr lang="en-US" altLang="zh-CN" sz="2000" dirty="0">
                <a:sym typeface="Symbol" panose="05050102010706020507" pitchFamily="18" charset="2"/>
              </a:rPr>
              <a:t> </a:t>
            </a:r>
            <a:r>
              <a:rPr lang="en-US" altLang="zh-CN" sz="2000" i="1" dirty="0">
                <a:sym typeface="Symbol" panose="05050102010706020507" pitchFamily="18" charset="2"/>
              </a:rPr>
              <a:t>d</a:t>
            </a:r>
            <a:r>
              <a:rPr lang="en-US" altLang="zh-CN" sz="2000" dirty="0">
                <a:sym typeface="Symbol" panose="05050102010706020507" pitchFamily="18" charset="2"/>
              </a:rPr>
              <a:t> </a:t>
            </a:r>
            <a:r>
              <a:rPr lang="en-US" altLang="zh-CN" sz="2000" i="1" dirty="0"/>
              <a:t> p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dirty="0">
                <a:sym typeface="Symbol" panose="05050102010706020507" pitchFamily="18" charset="2"/>
              </a:rPr>
              <a:t>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n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/>
              <a:t>) ;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i="1" dirty="0">
                <a:sym typeface="Symbol" panose="05050102010706020507" pitchFamily="18" charset="2"/>
              </a:rPr>
              <a:t>k &gt;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i="1" dirty="0">
                <a:sym typeface="Symbol" panose="05050102010706020507" pitchFamily="18" charset="2"/>
              </a:rPr>
              <a:t>d</a:t>
            </a:r>
            <a:r>
              <a:rPr lang="en-US" altLang="zh-CN" sz="2000" dirty="0">
                <a:sym typeface="Symbol" panose="05050102010706020507" pitchFamily="18" charset="2"/>
              </a:rPr>
              <a:t> </a:t>
            </a:r>
            <a:r>
              <a:rPr lang="en-US" altLang="zh-CN" sz="2000" i="1" dirty="0"/>
              <a:t> p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i="1" dirty="0">
                <a:sym typeface="Symbol" panose="05050102010706020507" pitchFamily="18" charset="2"/>
              </a:rPr>
              <a:t>o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n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/>
              <a:t>) ;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i="1" dirty="0">
                <a:sym typeface="Symbol" panose="05050102010706020507" pitchFamily="18" charset="2"/>
              </a:rPr>
              <a:t>k </a:t>
            </a:r>
            <a:r>
              <a:rPr lang="en-US" altLang="zh-CN" sz="2000" dirty="0">
                <a:sym typeface="Symbol" panose="05050102010706020507" pitchFamily="18" charset="2"/>
              </a:rPr>
              <a:t>&lt; </a:t>
            </a:r>
            <a:r>
              <a:rPr lang="en-US" altLang="zh-CN" sz="2000" i="1" dirty="0">
                <a:sym typeface="Symbol" panose="05050102010706020507" pitchFamily="18" charset="2"/>
              </a:rPr>
              <a:t>d</a:t>
            </a:r>
            <a:r>
              <a:rPr lang="en-US" altLang="zh-CN" sz="2000" dirty="0">
                <a:sym typeface="Symbol" panose="05050102010706020507" pitchFamily="18" charset="2"/>
              </a:rPr>
              <a:t> </a:t>
            </a:r>
            <a:r>
              <a:rPr lang="en-US" altLang="zh-CN" sz="2000" i="1" dirty="0"/>
              <a:t> p</a:t>
            </a:r>
            <a:r>
              <a:rPr lang="en-US" altLang="zh-CN" sz="2000" dirty="0"/>
              <a:t>(</a:t>
            </a:r>
            <a:r>
              <a:rPr lang="en-US" altLang="zh-CN" sz="2000" i="1" dirty="0"/>
              <a:t>n</a:t>
            </a:r>
            <a:r>
              <a:rPr lang="en-US" altLang="zh-CN" sz="2000" dirty="0"/>
              <a:t>) = </a:t>
            </a:r>
            <a:r>
              <a:rPr lang="en-US" altLang="zh-CN" sz="2000" i="1" dirty="0">
                <a:sym typeface="Symbol" panose="05050102010706020507" pitchFamily="18" charset="2"/>
              </a:rPr>
              <a:t></a:t>
            </a:r>
            <a:r>
              <a:rPr lang="en-US" altLang="zh-CN" sz="2000" dirty="0"/>
              <a:t>(</a:t>
            </a:r>
            <a:r>
              <a:rPr lang="en-US" altLang="zh-CN" sz="2000" i="1" dirty="0" err="1"/>
              <a:t>n</a:t>
            </a:r>
            <a:r>
              <a:rPr lang="en-US" altLang="zh-CN" sz="2000" i="1" baseline="30000" dirty="0" err="1"/>
              <a:t>k</a:t>
            </a:r>
            <a:r>
              <a:rPr lang="en-US" altLang="zh-CN" sz="2000" dirty="0"/>
              <a:t>) .</a:t>
            </a:r>
            <a:endParaRPr lang="en-US" altLang="zh-CN" sz="2000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6ED81-5D2F-4891-8EEF-CEB8893793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idx="1"/>
          </p:nvPr>
        </p:nvSpPr>
        <p:spPr>
          <a:xfrm>
            <a:off x="760040" y="618579"/>
            <a:ext cx="7772400" cy="554672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3907F1"/>
                </a:solidFill>
                <a:sym typeface="Symbol" panose="05050102010706020507" pitchFamily="18" charset="2"/>
              </a:rPr>
              <a:t>（</a:t>
            </a:r>
            <a:r>
              <a:rPr lang="en-US" altLang="zh-CN" b="1" dirty="0">
                <a:solidFill>
                  <a:srgbClr val="3907F1"/>
                </a:solidFill>
                <a:sym typeface="Symbol" panose="05050102010706020507" pitchFamily="18" charset="2"/>
              </a:rPr>
              <a:t>4</a:t>
            </a:r>
            <a:r>
              <a:rPr lang="zh-CN" altLang="en-US" b="1" dirty="0">
                <a:solidFill>
                  <a:srgbClr val="3907F1"/>
                </a:solidFill>
                <a:sym typeface="Symbol" panose="05050102010706020507" pitchFamily="18" charset="2"/>
              </a:rPr>
              <a:t>）指数函数</a:t>
            </a:r>
            <a:endParaRPr lang="zh-CN" altLang="en-US" b="1" dirty="0">
              <a:solidFill>
                <a:srgbClr val="3907F1"/>
              </a:solidFill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zh-CN" altLang="en-US" sz="2500" dirty="0">
                <a:sym typeface="Symbol" panose="05050102010706020507" pitchFamily="18" charset="2"/>
              </a:rPr>
              <a:t> 对于正整数</a:t>
            </a:r>
            <a:r>
              <a:rPr lang="en-US" altLang="zh-CN" sz="2500" i="1" dirty="0" err="1">
                <a:sym typeface="Symbol" panose="05050102010706020507" pitchFamily="18" charset="2"/>
              </a:rPr>
              <a:t>m</a:t>
            </a:r>
            <a:r>
              <a:rPr lang="en-US" altLang="zh-CN" sz="2500" dirty="0" err="1">
                <a:sym typeface="Symbol" panose="05050102010706020507" pitchFamily="18" charset="2"/>
              </a:rPr>
              <a:t>,</a:t>
            </a:r>
            <a:r>
              <a:rPr lang="en-US" altLang="zh-CN" sz="2500" i="1" dirty="0" err="1">
                <a:sym typeface="Symbol" panose="05050102010706020507" pitchFamily="18" charset="2"/>
              </a:rPr>
              <a:t>n</a:t>
            </a:r>
            <a:r>
              <a:rPr lang="zh-CN" altLang="en-US" sz="2500" dirty="0">
                <a:sym typeface="Symbol" panose="05050102010706020507" pitchFamily="18" charset="2"/>
              </a:rPr>
              <a:t>和实数</a:t>
            </a:r>
            <a:r>
              <a:rPr lang="en-US" altLang="zh-CN" sz="2500" i="1" dirty="0">
                <a:sym typeface="Symbol" panose="05050102010706020507" pitchFamily="18" charset="2"/>
              </a:rPr>
              <a:t>a</a:t>
            </a:r>
            <a:r>
              <a:rPr lang="en-US" altLang="zh-CN" sz="2500" dirty="0">
                <a:sym typeface="Symbol" panose="05050102010706020507" pitchFamily="18" charset="2"/>
              </a:rPr>
              <a:t>&gt;0:</a:t>
            </a:r>
            <a:endParaRPr lang="en-US" altLang="zh-CN" sz="2500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500" i="1" dirty="0"/>
              <a:t> a</a:t>
            </a:r>
            <a:r>
              <a:rPr lang="en-US" altLang="zh-CN" sz="2500" baseline="30000" dirty="0"/>
              <a:t>0</a:t>
            </a:r>
            <a:r>
              <a:rPr lang="en-US" altLang="zh-CN" sz="2500" dirty="0"/>
              <a:t>=1;</a:t>
            </a:r>
            <a:endParaRPr lang="en-US" altLang="zh-CN" sz="2500" dirty="0"/>
          </a:p>
          <a:p>
            <a:pPr>
              <a:lnSpc>
                <a:spcPct val="120000"/>
              </a:lnSpc>
            </a:pPr>
            <a:r>
              <a:rPr lang="en-US" altLang="zh-CN" sz="2500" dirty="0"/>
              <a:t> </a:t>
            </a:r>
            <a:r>
              <a:rPr lang="en-US" altLang="zh-CN" sz="2500" i="1" dirty="0"/>
              <a:t>a</a:t>
            </a:r>
            <a:r>
              <a:rPr lang="en-US" altLang="zh-CN" sz="2500" baseline="30000" dirty="0"/>
              <a:t>1</a:t>
            </a:r>
            <a:r>
              <a:rPr lang="en-US" altLang="zh-CN" sz="2500" dirty="0"/>
              <a:t>=</a:t>
            </a:r>
            <a:r>
              <a:rPr lang="en-US" altLang="zh-CN" sz="2500" i="1" dirty="0"/>
              <a:t>a </a:t>
            </a:r>
            <a:r>
              <a:rPr lang="en-US" altLang="zh-CN" sz="2500" dirty="0"/>
              <a:t>;</a:t>
            </a:r>
            <a:endParaRPr lang="en-US" altLang="zh-CN" sz="2500" dirty="0"/>
          </a:p>
          <a:p>
            <a:pPr>
              <a:lnSpc>
                <a:spcPct val="120000"/>
              </a:lnSpc>
            </a:pPr>
            <a:r>
              <a:rPr lang="en-US" altLang="zh-CN" sz="2500" dirty="0"/>
              <a:t> </a:t>
            </a:r>
            <a:r>
              <a:rPr lang="en-US" altLang="zh-CN" sz="2500" i="1" dirty="0"/>
              <a:t>a</a:t>
            </a:r>
            <a:r>
              <a:rPr lang="en-US" altLang="zh-CN" sz="2500" baseline="30000" dirty="0"/>
              <a:t>-1</a:t>
            </a:r>
            <a:r>
              <a:rPr lang="en-US" altLang="zh-CN" sz="2500" dirty="0"/>
              <a:t>=1/</a:t>
            </a:r>
            <a:r>
              <a:rPr lang="en-US" altLang="zh-CN" sz="2500" i="1" dirty="0"/>
              <a:t>a </a:t>
            </a:r>
            <a:r>
              <a:rPr lang="en-US" altLang="zh-CN" sz="2500" dirty="0"/>
              <a:t>;</a:t>
            </a:r>
            <a:endParaRPr lang="en-US" altLang="zh-CN" sz="2500" dirty="0"/>
          </a:p>
          <a:p>
            <a:pPr>
              <a:lnSpc>
                <a:spcPct val="120000"/>
              </a:lnSpc>
            </a:pPr>
            <a:r>
              <a:rPr lang="en-US" altLang="zh-CN" sz="2500" dirty="0">
                <a:sym typeface="Symbol" panose="05050102010706020507" pitchFamily="18" charset="2"/>
              </a:rPr>
              <a:t> (</a:t>
            </a:r>
            <a:r>
              <a:rPr lang="en-US" altLang="zh-CN" sz="2500" i="1" dirty="0"/>
              <a:t>a</a:t>
            </a:r>
            <a:r>
              <a:rPr lang="en-US" altLang="zh-CN" sz="2500" i="1" baseline="30000" dirty="0"/>
              <a:t>m</a:t>
            </a:r>
            <a:r>
              <a:rPr lang="en-US" altLang="zh-CN" sz="2500" dirty="0"/>
              <a:t>)</a:t>
            </a:r>
            <a:r>
              <a:rPr lang="en-US" altLang="zh-CN" sz="2500" i="1" baseline="30000" dirty="0"/>
              <a:t>n </a:t>
            </a:r>
            <a:r>
              <a:rPr lang="en-US" altLang="zh-CN" sz="2500" dirty="0"/>
              <a:t>= </a:t>
            </a:r>
            <a:r>
              <a:rPr lang="en-US" altLang="zh-CN" sz="2500" i="1" dirty="0" err="1"/>
              <a:t>a</a:t>
            </a:r>
            <a:r>
              <a:rPr lang="en-US" altLang="zh-CN" sz="2500" i="1" baseline="30000" dirty="0" err="1"/>
              <a:t>mn</a:t>
            </a:r>
            <a:r>
              <a:rPr lang="en-US" altLang="zh-CN" sz="2500" i="1" baseline="30000" dirty="0"/>
              <a:t> </a:t>
            </a:r>
            <a:r>
              <a:rPr lang="en-US" altLang="zh-CN" sz="2500" dirty="0"/>
              <a:t>;</a:t>
            </a:r>
            <a:r>
              <a:rPr lang="en-US" altLang="zh-CN" sz="2500" i="1" dirty="0">
                <a:sym typeface="Symbol" panose="05050102010706020507" pitchFamily="18" charset="2"/>
              </a:rPr>
              <a:t> </a:t>
            </a:r>
            <a:endParaRPr lang="en-US" altLang="zh-CN" sz="2500" i="1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/>
              <a:t>a</a:t>
            </a:r>
            <a:r>
              <a:rPr lang="en-US" altLang="zh-CN" sz="2500" i="1" baseline="30000" dirty="0"/>
              <a:t>m</a:t>
            </a:r>
            <a:r>
              <a:rPr lang="en-US" altLang="zh-CN" sz="2500" dirty="0"/>
              <a:t>)</a:t>
            </a:r>
            <a:r>
              <a:rPr lang="en-US" altLang="zh-CN" sz="2500" i="1" baseline="30000" dirty="0"/>
              <a:t>n </a:t>
            </a:r>
            <a:r>
              <a:rPr lang="en-US" altLang="zh-CN" sz="2500" dirty="0"/>
              <a:t>= 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/>
              <a:t>a</a:t>
            </a:r>
            <a:r>
              <a:rPr lang="en-US" altLang="zh-CN" sz="2500" i="1" baseline="30000" dirty="0"/>
              <a:t>n</a:t>
            </a:r>
            <a:r>
              <a:rPr lang="en-US" altLang="zh-CN" sz="2500" dirty="0"/>
              <a:t>)</a:t>
            </a:r>
            <a:r>
              <a:rPr lang="en-US" altLang="zh-CN" sz="2500" i="1" baseline="30000" dirty="0"/>
              <a:t>m </a:t>
            </a:r>
            <a:r>
              <a:rPr lang="en-US" altLang="zh-CN" sz="2500" dirty="0"/>
              <a:t>;</a:t>
            </a:r>
            <a:r>
              <a:rPr lang="en-US" altLang="zh-CN" sz="2500" i="1" dirty="0">
                <a:sym typeface="Symbol" panose="05050102010706020507" pitchFamily="18" charset="2"/>
              </a:rPr>
              <a:t> </a:t>
            </a:r>
            <a:endParaRPr lang="en-US" altLang="zh-CN" sz="2500" i="1" dirty="0">
              <a:sym typeface="Symbol" panose="05050102010706020507" pitchFamily="18" charset="2"/>
            </a:endParaRPr>
          </a:p>
          <a:p>
            <a:pPr>
              <a:lnSpc>
                <a:spcPct val="120000"/>
              </a:lnSpc>
            </a:pPr>
            <a:r>
              <a:rPr lang="en-US" altLang="zh-CN" sz="2500" i="1" dirty="0"/>
              <a:t> </a:t>
            </a:r>
            <a:r>
              <a:rPr lang="en-US" altLang="zh-CN" sz="2500" i="1" dirty="0" err="1"/>
              <a:t>a</a:t>
            </a:r>
            <a:r>
              <a:rPr lang="en-US" altLang="zh-CN" sz="2500" i="1" baseline="30000" dirty="0" err="1"/>
              <a:t>m</a:t>
            </a:r>
            <a:r>
              <a:rPr lang="en-US" altLang="zh-CN" sz="2500" i="1" dirty="0" err="1"/>
              <a:t>a</a:t>
            </a:r>
            <a:r>
              <a:rPr lang="en-US" altLang="zh-CN" sz="2500" i="1" baseline="30000" dirty="0" err="1"/>
              <a:t>n</a:t>
            </a:r>
            <a:r>
              <a:rPr lang="en-US" altLang="zh-CN" sz="2500" i="1" baseline="30000" dirty="0"/>
              <a:t>  </a:t>
            </a:r>
            <a:r>
              <a:rPr lang="en-US" altLang="zh-CN" sz="2500" i="1" dirty="0"/>
              <a:t>=</a:t>
            </a:r>
            <a:r>
              <a:rPr lang="en-US" altLang="zh-CN" sz="2500" i="1" baseline="30000" dirty="0"/>
              <a:t> </a:t>
            </a:r>
            <a:r>
              <a:rPr lang="en-US" altLang="zh-CN" sz="2500" i="1" dirty="0" err="1"/>
              <a:t>a</a:t>
            </a:r>
            <a:r>
              <a:rPr lang="en-US" altLang="zh-CN" sz="2500" i="1" baseline="30000" dirty="0" err="1"/>
              <a:t>m+n</a:t>
            </a:r>
            <a:r>
              <a:rPr lang="en-US" altLang="zh-CN" sz="2500" i="1" baseline="30000" dirty="0"/>
              <a:t> </a:t>
            </a:r>
            <a:r>
              <a:rPr lang="en-US" altLang="zh-CN" sz="2500" dirty="0"/>
              <a:t>;</a:t>
            </a:r>
            <a:endParaRPr lang="en-US" altLang="zh-CN" sz="2500" dirty="0"/>
          </a:p>
          <a:p>
            <a:pPr>
              <a:lnSpc>
                <a:spcPct val="120000"/>
              </a:lnSpc>
            </a:pPr>
            <a:r>
              <a:rPr lang="en-US" altLang="zh-CN" sz="2500" dirty="0"/>
              <a:t> </a:t>
            </a:r>
            <a:r>
              <a:rPr lang="en-US" altLang="zh-CN" sz="2500" i="1" dirty="0"/>
              <a:t>a</a:t>
            </a:r>
            <a:r>
              <a:rPr lang="en-US" altLang="zh-CN" sz="2500" dirty="0"/>
              <a:t>&gt;1 </a:t>
            </a:r>
            <a:r>
              <a:rPr lang="en-US" altLang="zh-CN" sz="2500" dirty="0">
                <a:sym typeface="Symbol" panose="05050102010706020507" pitchFamily="18" charset="2"/>
              </a:rPr>
              <a:t> </a:t>
            </a:r>
            <a:r>
              <a:rPr lang="en-US" altLang="zh-CN" sz="2500" i="1" dirty="0">
                <a:sym typeface="Symbol" panose="05050102010706020507" pitchFamily="18" charset="2"/>
              </a:rPr>
              <a:t>a</a:t>
            </a:r>
            <a:r>
              <a:rPr lang="en-US" altLang="zh-CN" sz="2500" i="1" baseline="30000" dirty="0">
                <a:sym typeface="Symbol" panose="05050102010706020507" pitchFamily="18" charset="2"/>
              </a:rPr>
              <a:t>n</a:t>
            </a:r>
            <a:r>
              <a:rPr lang="zh-CN" altLang="en-US" sz="2500" dirty="0">
                <a:sym typeface="Symbol" panose="05050102010706020507" pitchFamily="18" charset="2"/>
              </a:rPr>
              <a:t>为</a:t>
            </a:r>
            <a:r>
              <a:rPr lang="zh-CN" altLang="en-US" sz="2500" dirty="0"/>
              <a:t>单调递增函数</a:t>
            </a:r>
            <a:r>
              <a:rPr lang="en-US" altLang="zh-CN" sz="2500" dirty="0"/>
              <a:t>;</a:t>
            </a:r>
            <a:endParaRPr lang="en-US" altLang="zh-CN" sz="2500" dirty="0"/>
          </a:p>
          <a:p>
            <a:pPr>
              <a:lnSpc>
                <a:spcPct val="120000"/>
              </a:lnSpc>
            </a:pPr>
            <a:r>
              <a:rPr lang="en-US" altLang="zh-CN" sz="2500" i="1" dirty="0"/>
              <a:t> a</a:t>
            </a:r>
            <a:r>
              <a:rPr lang="en-US" altLang="zh-CN" sz="2500" dirty="0"/>
              <a:t>&gt;1 </a:t>
            </a:r>
            <a:r>
              <a:rPr lang="en-US" altLang="zh-CN" sz="2500" dirty="0">
                <a:sym typeface="Symbol" panose="05050102010706020507" pitchFamily="18" charset="2"/>
              </a:rPr>
              <a:t>                      </a:t>
            </a:r>
            <a:r>
              <a:rPr lang="en-US" altLang="zh-CN" sz="2500" i="1" dirty="0" err="1">
                <a:sym typeface="Symbol" panose="05050102010706020507" pitchFamily="18" charset="2"/>
              </a:rPr>
              <a:t>n</a:t>
            </a:r>
            <a:r>
              <a:rPr lang="en-US" altLang="zh-CN" sz="2500" i="1" baseline="30000" dirty="0" err="1">
                <a:sym typeface="Symbol" panose="05050102010706020507" pitchFamily="18" charset="2"/>
              </a:rPr>
              <a:t>b</a:t>
            </a:r>
            <a:r>
              <a:rPr lang="en-US" altLang="zh-CN" sz="2500" dirty="0">
                <a:sym typeface="Symbol" panose="05050102010706020507" pitchFamily="18" charset="2"/>
              </a:rPr>
              <a:t> = </a:t>
            </a:r>
            <a:r>
              <a:rPr lang="en-US" altLang="zh-CN" sz="2500" i="1" dirty="0">
                <a:sym typeface="Symbol" panose="05050102010706020507" pitchFamily="18" charset="2"/>
              </a:rPr>
              <a:t>o</a:t>
            </a:r>
            <a:r>
              <a:rPr lang="en-US" altLang="zh-CN" sz="2500" dirty="0">
                <a:sym typeface="Symbol" panose="05050102010706020507" pitchFamily="18" charset="2"/>
              </a:rPr>
              <a:t>(</a:t>
            </a:r>
            <a:r>
              <a:rPr lang="en-US" altLang="zh-CN" sz="2500" i="1" dirty="0">
                <a:sym typeface="Symbol" panose="05050102010706020507" pitchFamily="18" charset="2"/>
              </a:rPr>
              <a:t>a</a:t>
            </a:r>
            <a:r>
              <a:rPr lang="en-US" altLang="zh-CN" sz="2500" i="1" baseline="30000" dirty="0">
                <a:sym typeface="Symbol" panose="05050102010706020507" pitchFamily="18" charset="2"/>
              </a:rPr>
              <a:t>n</a:t>
            </a:r>
            <a:r>
              <a:rPr lang="en-US" altLang="zh-CN" sz="2500" dirty="0">
                <a:sym typeface="Symbol" panose="05050102010706020507" pitchFamily="18" charset="2"/>
              </a:rPr>
              <a:t>)</a:t>
            </a:r>
            <a:endParaRPr lang="en-US" altLang="zh-CN" sz="2500" dirty="0">
              <a:sym typeface="Symbol" panose="05050102010706020507" pitchFamily="18" charset="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02472-686D-4EBA-AC26-56C9251468B9}" type="slidenum">
              <a:rPr lang="en-US" altLang="zh-CN"/>
            </a:fld>
            <a:endParaRPr lang="en-US" altLang="zh-CN"/>
          </a:p>
        </p:txBody>
      </p:sp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2267744" y="5373216"/>
          <a:ext cx="1223963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公式" r:id="rId1" imgW="698500" imgH="419100" progId="Equation.3">
                  <p:embed/>
                </p:oleObj>
              </mc:Choice>
              <mc:Fallback>
                <p:oleObj name="公式" r:id="rId1" imgW="6985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5373216"/>
                        <a:ext cx="1223963" cy="738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idx="1"/>
          </p:nvPr>
        </p:nvSpPr>
        <p:spPr>
          <a:xfrm>
            <a:off x="827088" y="981075"/>
            <a:ext cx="7772400" cy="5330825"/>
          </a:xfrm>
        </p:spPr>
        <p:txBody>
          <a:bodyPr/>
          <a:lstStyle/>
          <a:p>
            <a:endParaRPr lang="en-US" altLang="zh-CN" sz="2600"/>
          </a:p>
          <a:p>
            <a:endParaRPr lang="en-US" altLang="zh-CN" sz="2600"/>
          </a:p>
          <a:p>
            <a:r>
              <a:rPr lang="en-US" altLang="zh-CN" sz="2600" i="1"/>
              <a:t>e</a:t>
            </a:r>
            <a:r>
              <a:rPr lang="en-US" altLang="zh-CN" sz="2600" i="1" baseline="30000"/>
              <a:t>x</a:t>
            </a:r>
            <a:r>
              <a:rPr lang="en-US" altLang="zh-CN" sz="2600"/>
              <a:t> </a:t>
            </a:r>
            <a:r>
              <a:rPr lang="en-US" altLang="zh-CN" sz="2600">
                <a:sym typeface="Symbol" panose="05050102010706020507" pitchFamily="18" charset="2"/>
              </a:rPr>
              <a:t> 1+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;</a:t>
            </a:r>
            <a:endParaRPr lang="en-US" altLang="zh-CN" sz="2600"/>
          </a:p>
          <a:p>
            <a:pPr>
              <a:lnSpc>
                <a:spcPct val="150000"/>
              </a:lnSpc>
            </a:pPr>
            <a:r>
              <a:rPr lang="en-US" altLang="zh-CN" sz="2600" i="1">
                <a:sym typeface="Symbol" panose="05050102010706020507" pitchFamily="18" charset="2"/>
              </a:rPr>
              <a:t>|x| </a:t>
            </a:r>
            <a:r>
              <a:rPr lang="en-US" altLang="zh-CN" sz="2600">
                <a:sym typeface="Symbol" panose="05050102010706020507" pitchFamily="18" charset="2"/>
              </a:rPr>
              <a:t>1  1+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>
                <a:sym typeface="Symbol" panose="05050102010706020507" pitchFamily="18" charset="2"/>
              </a:rPr>
              <a:t>  </a:t>
            </a:r>
            <a:r>
              <a:rPr lang="en-US" altLang="zh-CN" sz="2600" i="1"/>
              <a:t>e</a:t>
            </a:r>
            <a:r>
              <a:rPr lang="en-US" altLang="zh-CN" sz="2600" i="1" baseline="30000"/>
              <a:t>x</a:t>
            </a:r>
            <a:r>
              <a:rPr lang="en-US" altLang="zh-CN" sz="2600"/>
              <a:t> </a:t>
            </a:r>
            <a:r>
              <a:rPr lang="en-US" altLang="zh-CN" sz="2600">
                <a:sym typeface="Symbol" panose="05050102010706020507" pitchFamily="18" charset="2"/>
              </a:rPr>
              <a:t> 1+</a:t>
            </a:r>
            <a:r>
              <a:rPr lang="en-US" altLang="zh-CN" sz="2600" i="1">
                <a:sym typeface="Symbol" panose="05050102010706020507" pitchFamily="18" charset="2"/>
              </a:rPr>
              <a:t>x+x</a:t>
            </a:r>
            <a:r>
              <a:rPr lang="en-US" altLang="zh-CN" sz="2600" baseline="30000">
                <a:sym typeface="Symbol" panose="05050102010706020507" pitchFamily="18" charset="2"/>
              </a:rPr>
              <a:t>2</a:t>
            </a:r>
            <a:r>
              <a:rPr lang="en-US" altLang="zh-CN" sz="2600">
                <a:sym typeface="Symbol" panose="05050102010706020507" pitchFamily="18" charset="2"/>
              </a:rPr>
              <a:t> ;</a:t>
            </a:r>
            <a:endParaRPr lang="en-US" altLang="zh-CN" sz="26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600">
                <a:sym typeface="Symbol" panose="05050102010706020507" pitchFamily="18" charset="2"/>
              </a:rPr>
              <a:t> </a:t>
            </a:r>
            <a:r>
              <a:rPr lang="en-US" altLang="zh-CN" sz="2600" i="1"/>
              <a:t>e</a:t>
            </a:r>
            <a:r>
              <a:rPr lang="en-US" altLang="zh-CN" sz="2600" i="1" baseline="30000"/>
              <a:t>x</a:t>
            </a:r>
            <a:r>
              <a:rPr lang="en-US" altLang="zh-CN" sz="2600"/>
              <a:t> </a:t>
            </a:r>
            <a:r>
              <a:rPr lang="en-US" altLang="zh-CN" sz="2600">
                <a:sym typeface="Symbol" panose="05050102010706020507" pitchFamily="18" charset="2"/>
              </a:rPr>
              <a:t>= 1+</a:t>
            </a:r>
            <a:r>
              <a:rPr lang="en-US" altLang="zh-CN" sz="2600" i="1">
                <a:sym typeface="Symbol" panose="05050102010706020507" pitchFamily="18" charset="2"/>
              </a:rPr>
              <a:t>x+ </a:t>
            </a:r>
            <a:r>
              <a:rPr lang="en-US" altLang="zh-CN" sz="2600">
                <a:sym typeface="Symbol" panose="05050102010706020507" pitchFamily="18" charset="2"/>
              </a:rPr>
              <a:t>(</a:t>
            </a:r>
            <a:r>
              <a:rPr lang="en-US" altLang="zh-CN" sz="2600" i="1">
                <a:sym typeface="Symbol" panose="05050102010706020507" pitchFamily="18" charset="2"/>
              </a:rPr>
              <a:t>x</a:t>
            </a:r>
            <a:r>
              <a:rPr lang="en-US" altLang="zh-CN" sz="2600" baseline="30000">
                <a:sym typeface="Symbol" panose="05050102010706020507" pitchFamily="18" charset="2"/>
              </a:rPr>
              <a:t>2</a:t>
            </a:r>
            <a:r>
              <a:rPr lang="en-US" altLang="zh-CN" sz="2600">
                <a:sym typeface="Symbol" panose="05050102010706020507" pitchFamily="18" charset="2"/>
              </a:rPr>
              <a:t>),  as </a:t>
            </a:r>
            <a:r>
              <a:rPr lang="en-US" altLang="zh-CN" sz="2600" i="1"/>
              <a:t>x</a:t>
            </a:r>
            <a:r>
              <a:rPr lang="en-US" altLang="zh-CN" sz="2600">
                <a:sym typeface="Symbol" panose="05050102010706020507" pitchFamily="18" charset="2"/>
              </a:rPr>
              <a:t>0;</a:t>
            </a:r>
            <a:endParaRPr lang="en-US" altLang="zh-CN" sz="2600">
              <a:sym typeface="Symbol" panose="05050102010706020507" pitchFamily="18" charset="2"/>
            </a:endParaRPr>
          </a:p>
          <a:p>
            <a:endParaRPr lang="en-US" altLang="zh-CN" sz="2600">
              <a:sym typeface="Symbol" panose="05050102010706020507" pitchFamily="18" charset="2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593A3-0A52-4C5F-8BE0-FF37DABA97E5}" type="slidenum">
              <a:rPr lang="en-US" altLang="zh-CN"/>
            </a:fld>
            <a:endParaRPr lang="en-US" altLang="zh-CN"/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484" name="Object 4"/>
          <p:cNvGraphicFramePr>
            <a:graphicFrameLocks noChangeAspect="1"/>
          </p:cNvGraphicFramePr>
          <p:nvPr/>
        </p:nvGraphicFramePr>
        <p:xfrm>
          <a:off x="1258888" y="620713"/>
          <a:ext cx="4032250" cy="884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公式" r:id="rId1" imgW="2044700" imgH="444500" progId="Equation.3">
                  <p:embed/>
                </p:oleObj>
              </mc:Choice>
              <mc:Fallback>
                <p:oleObj name="公式" r:id="rId1" imgW="20447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620713"/>
                        <a:ext cx="4032250" cy="884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763713" y="4221163"/>
          <a:ext cx="223202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公式" r:id="rId3" imgW="1066800" imgH="469900" progId="Equation.3">
                  <p:embed/>
                </p:oleObj>
              </mc:Choice>
              <mc:Fallback>
                <p:oleObj name="公式" r:id="rId3" imgW="1066800" imgH="469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221163"/>
                        <a:ext cx="2232025" cy="977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xfrm>
            <a:off x="900113" y="908050"/>
            <a:ext cx="7772400" cy="5546725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3907F1"/>
                </a:solidFill>
                <a:sym typeface="Symbol" panose="05050102010706020507" pitchFamily="18" charset="2"/>
              </a:rPr>
              <a:t>（</a:t>
            </a:r>
            <a:r>
              <a:rPr lang="en-US" altLang="zh-CN" b="1">
                <a:solidFill>
                  <a:srgbClr val="3907F1"/>
                </a:solidFill>
                <a:sym typeface="Symbol" panose="05050102010706020507" pitchFamily="18" charset="2"/>
              </a:rPr>
              <a:t>5</a:t>
            </a:r>
            <a:r>
              <a:rPr lang="zh-CN" altLang="en-US" b="1">
                <a:solidFill>
                  <a:srgbClr val="3907F1"/>
                </a:solidFill>
                <a:sym typeface="Symbol" panose="05050102010706020507" pitchFamily="18" charset="2"/>
              </a:rPr>
              <a:t>）对数函数</a:t>
            </a:r>
            <a:endParaRPr lang="zh-CN" altLang="en-US" b="1">
              <a:solidFill>
                <a:srgbClr val="3907F1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zh-CN" altLang="en-US" sz="2100">
                <a:sym typeface="Symbol" panose="05050102010706020507" pitchFamily="18" charset="2"/>
              </a:rPr>
              <a:t> </a:t>
            </a:r>
            <a:r>
              <a:rPr lang="en-US" altLang="zh-CN" sz="2100">
                <a:sym typeface="Symbol" panose="05050102010706020507" pitchFamily="18" charset="2"/>
              </a:rPr>
              <a:t>log </a:t>
            </a:r>
            <a:r>
              <a:rPr lang="en-US" altLang="zh-CN" sz="2100" i="1">
                <a:sym typeface="Symbol" panose="05050102010706020507" pitchFamily="18" charset="2"/>
              </a:rPr>
              <a:t>n </a:t>
            </a:r>
            <a:r>
              <a:rPr lang="en-US" altLang="zh-CN" sz="2100">
                <a:sym typeface="Symbol" panose="05050102010706020507" pitchFamily="18" charset="2"/>
              </a:rPr>
              <a:t>= log</a:t>
            </a:r>
            <a:r>
              <a:rPr lang="en-US" altLang="zh-CN" sz="2100" baseline="-25000">
                <a:sym typeface="Symbol" panose="05050102010706020507" pitchFamily="18" charset="2"/>
              </a:rPr>
              <a:t>2</a:t>
            </a:r>
            <a:r>
              <a:rPr lang="en-US" altLang="zh-CN" sz="2100" i="1">
                <a:sym typeface="Symbol" panose="05050102010706020507" pitchFamily="18" charset="2"/>
              </a:rPr>
              <a:t>n</a:t>
            </a:r>
            <a:r>
              <a:rPr lang="en-US" altLang="zh-CN" sz="2100">
                <a:sym typeface="Symbol" panose="05050102010706020507" pitchFamily="18" charset="2"/>
              </a:rPr>
              <a:t>;</a:t>
            </a:r>
            <a:endParaRPr lang="en-US" altLang="zh-CN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 i="1"/>
              <a:t> </a:t>
            </a:r>
            <a:r>
              <a:rPr lang="en-US" altLang="zh-CN" sz="2100">
                <a:sym typeface="Symbol" panose="05050102010706020507" pitchFamily="18" charset="2"/>
              </a:rPr>
              <a:t>lg </a:t>
            </a:r>
            <a:r>
              <a:rPr lang="en-US" altLang="zh-CN" sz="2100" i="1">
                <a:sym typeface="Symbol" panose="05050102010706020507" pitchFamily="18" charset="2"/>
              </a:rPr>
              <a:t>n </a:t>
            </a:r>
            <a:r>
              <a:rPr lang="en-US" altLang="zh-CN" sz="2100">
                <a:sym typeface="Symbol" panose="05050102010706020507" pitchFamily="18" charset="2"/>
              </a:rPr>
              <a:t>= log</a:t>
            </a:r>
            <a:r>
              <a:rPr lang="en-US" altLang="zh-CN" sz="2100" baseline="-25000">
                <a:sym typeface="Symbol" panose="05050102010706020507" pitchFamily="18" charset="2"/>
              </a:rPr>
              <a:t>10</a:t>
            </a:r>
            <a:r>
              <a:rPr lang="en-US" altLang="zh-CN" sz="2100" i="1">
                <a:sym typeface="Symbol" panose="05050102010706020507" pitchFamily="18" charset="2"/>
              </a:rPr>
              <a:t>n</a:t>
            </a:r>
            <a:r>
              <a:rPr lang="en-US" altLang="zh-CN" sz="2100">
                <a:sym typeface="Symbol" panose="05050102010706020507" pitchFamily="18" charset="2"/>
              </a:rPr>
              <a:t>;</a:t>
            </a:r>
            <a:endParaRPr lang="en-US" altLang="zh-CN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/>
              <a:t> </a:t>
            </a:r>
            <a:r>
              <a:rPr lang="en-US" altLang="zh-CN" sz="2100">
                <a:sym typeface="Symbol" panose="05050102010706020507" pitchFamily="18" charset="2"/>
              </a:rPr>
              <a:t>ln </a:t>
            </a:r>
            <a:r>
              <a:rPr lang="en-US" altLang="zh-CN" sz="2100" i="1">
                <a:sym typeface="Symbol" panose="05050102010706020507" pitchFamily="18" charset="2"/>
              </a:rPr>
              <a:t>n </a:t>
            </a:r>
            <a:r>
              <a:rPr lang="en-US" altLang="zh-CN" sz="2100">
                <a:sym typeface="Symbol" panose="05050102010706020507" pitchFamily="18" charset="2"/>
              </a:rPr>
              <a:t>= log</a:t>
            </a:r>
            <a:r>
              <a:rPr lang="en-US" altLang="zh-CN" sz="2100" i="1" baseline="-25000">
                <a:sym typeface="Symbol" panose="05050102010706020507" pitchFamily="18" charset="2"/>
              </a:rPr>
              <a:t>e</a:t>
            </a:r>
            <a:r>
              <a:rPr lang="en-US" altLang="zh-CN" sz="2100" i="1">
                <a:sym typeface="Symbol" panose="05050102010706020507" pitchFamily="18" charset="2"/>
              </a:rPr>
              <a:t>n</a:t>
            </a:r>
            <a:r>
              <a:rPr lang="en-US" altLang="zh-CN" sz="2100">
                <a:sym typeface="Symbol" panose="05050102010706020507" pitchFamily="18" charset="2"/>
              </a:rPr>
              <a:t>;</a:t>
            </a:r>
            <a:endParaRPr lang="en-US" altLang="zh-CN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/>
              <a:t> </a:t>
            </a:r>
            <a:r>
              <a:rPr lang="en-US" altLang="zh-CN" sz="2100">
                <a:sym typeface="Symbol" panose="05050102010706020507" pitchFamily="18" charset="2"/>
              </a:rPr>
              <a:t>log</a:t>
            </a:r>
            <a:r>
              <a:rPr lang="en-US" altLang="zh-CN" sz="2100" i="1" baseline="30000">
                <a:sym typeface="Symbol" panose="05050102010706020507" pitchFamily="18" charset="2"/>
              </a:rPr>
              <a:t>k</a:t>
            </a:r>
            <a:r>
              <a:rPr lang="en-US" altLang="zh-CN" sz="2100" i="1">
                <a:sym typeface="Symbol" panose="05050102010706020507" pitchFamily="18" charset="2"/>
              </a:rPr>
              <a:t>n </a:t>
            </a:r>
            <a:r>
              <a:rPr lang="en-US" altLang="zh-CN" sz="2100">
                <a:sym typeface="Symbol" panose="05050102010706020507" pitchFamily="18" charset="2"/>
              </a:rPr>
              <a:t>= (log </a:t>
            </a:r>
            <a:r>
              <a:rPr lang="en-US" altLang="zh-CN" sz="2100" i="1">
                <a:sym typeface="Symbol" panose="05050102010706020507" pitchFamily="18" charset="2"/>
              </a:rPr>
              <a:t>n</a:t>
            </a:r>
            <a:r>
              <a:rPr lang="en-US" altLang="zh-CN" sz="2100">
                <a:sym typeface="Symbol" panose="05050102010706020507" pitchFamily="18" charset="2"/>
              </a:rPr>
              <a:t>)</a:t>
            </a:r>
            <a:r>
              <a:rPr lang="en-US" altLang="zh-CN" sz="2100" i="1" baseline="30000">
                <a:sym typeface="Symbol" panose="05050102010706020507" pitchFamily="18" charset="2"/>
              </a:rPr>
              <a:t>k</a:t>
            </a:r>
            <a:r>
              <a:rPr lang="en-US" altLang="zh-CN" sz="2100">
                <a:sym typeface="Symbol" panose="05050102010706020507" pitchFamily="18" charset="2"/>
              </a:rPr>
              <a:t>l;</a:t>
            </a:r>
            <a:endParaRPr lang="en-US" altLang="zh-CN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>
                <a:sym typeface="Symbol" panose="05050102010706020507" pitchFamily="18" charset="2"/>
              </a:rPr>
              <a:t> log log </a:t>
            </a:r>
            <a:r>
              <a:rPr lang="en-US" altLang="zh-CN" sz="2100" i="1">
                <a:sym typeface="Symbol" panose="05050102010706020507" pitchFamily="18" charset="2"/>
              </a:rPr>
              <a:t>n </a:t>
            </a:r>
            <a:r>
              <a:rPr lang="en-US" altLang="zh-CN" sz="2100">
                <a:sym typeface="Symbol" panose="05050102010706020507" pitchFamily="18" charset="2"/>
              </a:rPr>
              <a:t>= log(log </a:t>
            </a:r>
            <a:r>
              <a:rPr lang="en-US" altLang="zh-CN" sz="2100" i="1">
                <a:sym typeface="Symbol" panose="05050102010706020507" pitchFamily="18" charset="2"/>
              </a:rPr>
              <a:t>n</a:t>
            </a:r>
            <a:r>
              <a:rPr lang="en-US" altLang="zh-CN" sz="2100">
                <a:sym typeface="Symbol" panose="05050102010706020507" pitchFamily="18" charset="2"/>
              </a:rPr>
              <a:t>);</a:t>
            </a:r>
            <a:endParaRPr lang="en-US" altLang="zh-CN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/>
              <a:t> for a&gt;0,b&gt;0,c&gt;0</a:t>
            </a:r>
            <a:endParaRPr lang="en-US" altLang="zh-CN" sz="21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AD113-5087-4F01-ADAD-40F1079D58F4}" type="slidenum">
              <a:rPr lang="en-US" altLang="zh-CN"/>
            </a:fld>
            <a:endParaRPr lang="en-US" altLang="zh-CN"/>
          </a:p>
        </p:txBody>
      </p:sp>
      <p:sp>
        <p:nvSpPr>
          <p:cNvPr id="2150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1763713" y="4941888"/>
          <a:ext cx="17272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8" name="公式" r:id="rId1" imgW="596900" imgH="203200" progId="Equation.3">
                  <p:embed/>
                </p:oleObj>
              </mc:Choice>
              <mc:Fallback>
                <p:oleObj name="公式" r:id="rId1" imgW="5969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941888"/>
                        <a:ext cx="17272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66A9B-1EF8-40AC-9571-A6A1A96CB067}" type="slidenum">
              <a:rPr lang="en-US" altLang="zh-CN"/>
            </a:fld>
            <a:endParaRPr lang="en-US" altLang="zh-CN"/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1908175" y="836613"/>
          <a:ext cx="33845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6" name="公式" r:id="rId1" imgW="1612900" imgH="228600" progId="Equation.3">
                  <p:embed/>
                </p:oleObj>
              </mc:Choice>
              <mc:Fallback>
                <p:oleObj name="公式" r:id="rId1" imgW="16129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836613"/>
                        <a:ext cx="3384550" cy="481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1979613" y="1557338"/>
          <a:ext cx="2376487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7" name="公式" r:id="rId3" imgW="1129665" imgH="241300" progId="Equation.3">
                  <p:embed/>
                </p:oleObj>
              </mc:Choice>
              <mc:Fallback>
                <p:oleObj name="公式" r:id="rId3" imgW="1129665" imgH="2413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557338"/>
                        <a:ext cx="2376487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1979613" y="2276475"/>
          <a:ext cx="208915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8" name="公式" r:id="rId5" imgW="977265" imgH="444500" progId="Equation.3">
                  <p:embed/>
                </p:oleObj>
              </mc:Choice>
              <mc:Fallback>
                <p:oleObj name="公式" r:id="rId5" imgW="977265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276475"/>
                        <a:ext cx="2089150" cy="954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2051050" y="3429000"/>
          <a:ext cx="28082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99" name="公式" r:id="rId7" imgW="1282700" imgH="228600" progId="Equation.3">
                  <p:embed/>
                </p:oleObj>
              </mc:Choice>
              <mc:Fallback>
                <p:oleObj name="公式" r:id="rId7" imgW="12827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429000"/>
                        <a:ext cx="2808288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0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2051050" y="4221163"/>
          <a:ext cx="2016125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0" name="公式" r:id="rId9" imgW="977900" imgH="431800" progId="Equation.3">
                  <p:embed/>
                </p:oleObj>
              </mc:Choice>
              <mc:Fallback>
                <p:oleObj name="公式" r:id="rId9" imgW="977900" imgH="431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221163"/>
                        <a:ext cx="2016125" cy="881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Rectangle 12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2124075" y="5300663"/>
          <a:ext cx="2663825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01" name="公式" r:id="rId11" imgW="837565" imgH="203200" progId="Equation.3">
                  <p:embed/>
                </p:oleObj>
              </mc:Choice>
              <mc:Fallback>
                <p:oleObj name="公式" r:id="rId11" imgW="837565" imgH="203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300663"/>
                        <a:ext cx="2663825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755650" y="1844675"/>
            <a:ext cx="7772400" cy="4473575"/>
          </a:xfrm>
        </p:spPr>
        <p:txBody>
          <a:bodyPr/>
          <a:lstStyle/>
          <a:p>
            <a:r>
              <a:rPr lang="en-US" altLang="zh-CN" sz="1900" i="1" dirty="0">
                <a:sym typeface="Symbol" panose="05050102010706020507" pitchFamily="18" charset="2"/>
              </a:rPr>
              <a:t>|x| </a:t>
            </a:r>
            <a:r>
              <a:rPr lang="en-US" altLang="zh-CN" sz="1900" dirty="0">
                <a:sym typeface="Symbol" panose="05050102010706020507" pitchFamily="18" charset="2"/>
              </a:rPr>
              <a:t>1 </a:t>
            </a:r>
            <a:endParaRPr lang="en-US" altLang="zh-CN" sz="1900" dirty="0">
              <a:sym typeface="Symbol" panose="05050102010706020507" pitchFamily="18" charset="2"/>
            </a:endParaRPr>
          </a:p>
          <a:p>
            <a:endParaRPr lang="en-US" altLang="zh-CN" sz="1900" dirty="0">
              <a:sym typeface="Symbol" panose="05050102010706020507" pitchFamily="18" charset="2"/>
            </a:endParaRPr>
          </a:p>
          <a:p>
            <a:r>
              <a:rPr lang="en-US" altLang="zh-CN" sz="1900" dirty="0">
                <a:sym typeface="Symbol" panose="05050102010706020507" pitchFamily="18" charset="2"/>
              </a:rPr>
              <a:t>for </a:t>
            </a:r>
            <a:r>
              <a:rPr lang="en-US" altLang="zh-CN" sz="1900" i="1" dirty="0">
                <a:sym typeface="Symbol" panose="05050102010706020507" pitchFamily="18" charset="2"/>
              </a:rPr>
              <a:t>x </a:t>
            </a:r>
            <a:r>
              <a:rPr lang="en-US" altLang="zh-CN" sz="1900" dirty="0">
                <a:sym typeface="Symbol" panose="05050102010706020507" pitchFamily="18" charset="2"/>
              </a:rPr>
              <a:t>&gt; -1,</a:t>
            </a:r>
            <a:endParaRPr lang="en-US" altLang="zh-CN" sz="1900" dirty="0">
              <a:sym typeface="Symbol" panose="05050102010706020507" pitchFamily="18" charset="2"/>
            </a:endParaRPr>
          </a:p>
          <a:p>
            <a:endParaRPr lang="en-US" altLang="zh-CN" sz="1900" dirty="0">
              <a:sym typeface="Symbol" panose="05050102010706020507" pitchFamily="18" charset="2"/>
            </a:endParaRPr>
          </a:p>
          <a:p>
            <a:r>
              <a:rPr lang="en-US" altLang="zh-CN" sz="1900" dirty="0">
                <a:sym typeface="Symbol" panose="05050102010706020507" pitchFamily="18" charset="2"/>
              </a:rPr>
              <a:t>for any </a:t>
            </a:r>
            <a:r>
              <a:rPr lang="en-US" altLang="zh-CN" sz="1900" i="1" dirty="0">
                <a:sym typeface="Symbol" panose="05050102010706020507" pitchFamily="18" charset="2"/>
              </a:rPr>
              <a:t>a </a:t>
            </a:r>
            <a:r>
              <a:rPr lang="en-US" altLang="zh-CN" sz="1900" dirty="0">
                <a:sym typeface="Symbol" panose="05050102010706020507" pitchFamily="18" charset="2"/>
              </a:rPr>
              <a:t>&gt; 0, </a:t>
            </a:r>
            <a:r>
              <a:rPr lang="en-US" altLang="zh-CN" sz="1900" dirty="0" smtClean="0">
                <a:sym typeface="Symbol" panose="05050102010706020507" pitchFamily="18" charset="2"/>
              </a:rPr>
              <a:t>                                                  </a:t>
            </a:r>
            <a:r>
              <a:rPr lang="en-US" altLang="zh-CN" sz="1900" dirty="0">
                <a:sym typeface="Symbol" panose="05050102010706020507" pitchFamily="18" charset="2"/>
              </a:rPr>
              <a:t>,   </a:t>
            </a:r>
            <a:r>
              <a:rPr lang="en-US" altLang="zh-CN" sz="1900" dirty="0" err="1">
                <a:sym typeface="Symbol" panose="05050102010706020507" pitchFamily="18" charset="2"/>
              </a:rPr>
              <a:t>log</a:t>
            </a:r>
            <a:r>
              <a:rPr lang="en-US" altLang="zh-CN" sz="1900" i="1" baseline="30000" dirty="0" err="1">
                <a:sym typeface="Symbol" panose="05050102010706020507" pitchFamily="18" charset="2"/>
              </a:rPr>
              <a:t>b</a:t>
            </a:r>
            <a:r>
              <a:rPr lang="en-US" altLang="zh-CN" sz="1900" i="1" dirty="0" err="1">
                <a:sym typeface="Symbol" panose="05050102010706020507" pitchFamily="18" charset="2"/>
              </a:rPr>
              <a:t>n</a:t>
            </a:r>
            <a:r>
              <a:rPr lang="en-US" altLang="zh-CN" sz="1900" i="1" dirty="0">
                <a:sym typeface="Symbol" panose="05050102010706020507" pitchFamily="18" charset="2"/>
              </a:rPr>
              <a:t> </a:t>
            </a:r>
            <a:r>
              <a:rPr lang="en-US" altLang="zh-CN" sz="1900" dirty="0">
                <a:sym typeface="Symbol" panose="05050102010706020507" pitchFamily="18" charset="2"/>
              </a:rPr>
              <a:t>= </a:t>
            </a:r>
            <a:r>
              <a:rPr lang="en-US" altLang="zh-CN" sz="1900" i="1" dirty="0">
                <a:sym typeface="Symbol" panose="05050102010706020507" pitchFamily="18" charset="2"/>
              </a:rPr>
              <a:t>o</a:t>
            </a:r>
            <a:r>
              <a:rPr lang="en-US" altLang="zh-CN" sz="1900" dirty="0">
                <a:sym typeface="Symbol" panose="05050102010706020507" pitchFamily="18" charset="2"/>
              </a:rPr>
              <a:t>(</a:t>
            </a:r>
            <a:r>
              <a:rPr lang="en-US" altLang="zh-CN" sz="1900" i="1" dirty="0" err="1">
                <a:sym typeface="Symbol" panose="05050102010706020507" pitchFamily="18" charset="2"/>
              </a:rPr>
              <a:t>n</a:t>
            </a:r>
            <a:r>
              <a:rPr lang="en-US" altLang="zh-CN" sz="1900" i="1" baseline="30000" dirty="0" err="1">
                <a:sym typeface="Symbol" panose="05050102010706020507" pitchFamily="18" charset="2"/>
              </a:rPr>
              <a:t>a</a:t>
            </a:r>
            <a:r>
              <a:rPr lang="en-US" altLang="zh-CN" sz="1900" dirty="0">
                <a:sym typeface="Symbol" panose="05050102010706020507" pitchFamily="18" charset="2"/>
              </a:rPr>
              <a:t>)</a:t>
            </a:r>
            <a:endParaRPr lang="en-US" altLang="zh-CN" sz="1900" dirty="0">
              <a:sym typeface="Symbol" panose="05050102010706020507" pitchFamily="18" charset="2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35EC4-C40A-4226-9343-B8CA67ECF028}" type="slidenum">
              <a:rPr lang="en-US" altLang="zh-CN"/>
            </a:fld>
            <a:endParaRPr lang="en-US" altLang="zh-CN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2339975" y="1700213"/>
          <a:ext cx="381635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8" name="公式" r:id="rId1" imgW="2387600" imgH="419100" progId="Equation.3">
                  <p:embed/>
                </p:oleObj>
              </mc:Choice>
              <mc:Fallback>
                <p:oleObj name="公式" r:id="rId1" imgW="23876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700213"/>
                        <a:ext cx="3816350" cy="668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2843213" y="2349500"/>
          <a:ext cx="2020887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公式" r:id="rId3" imgW="1231265" imgH="393700" progId="Equation.3">
                  <p:embed/>
                </p:oleObj>
              </mc:Choice>
              <mc:Fallback>
                <p:oleObj name="公式" r:id="rId3" imgW="1231265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2349500"/>
                        <a:ext cx="2020887" cy="642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2483916" y="3068638"/>
          <a:ext cx="30241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0" name="公式" r:id="rId5" imgW="1790700" imgH="457200" progId="Equation.3">
                  <p:embed/>
                </p:oleObj>
              </mc:Choice>
              <mc:Fallback>
                <p:oleObj name="公式" r:id="rId5" imgW="1790700" imgH="457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916" y="3068638"/>
                        <a:ext cx="3024188" cy="771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idx="1"/>
          </p:nvPr>
        </p:nvSpPr>
        <p:spPr>
          <a:xfrm>
            <a:off x="1257300" y="620713"/>
            <a:ext cx="7772400" cy="54752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3907F1"/>
                </a:solidFill>
                <a:sym typeface="Symbol" panose="05050102010706020507" pitchFamily="18" charset="2"/>
              </a:rPr>
              <a:t>（</a:t>
            </a:r>
            <a:r>
              <a:rPr lang="en-US" altLang="zh-CN" sz="2100" b="1">
                <a:solidFill>
                  <a:srgbClr val="3907F1"/>
                </a:solidFill>
                <a:sym typeface="Symbol" panose="05050102010706020507" pitchFamily="18" charset="2"/>
              </a:rPr>
              <a:t>6</a:t>
            </a:r>
            <a:r>
              <a:rPr lang="zh-CN" altLang="en-US" sz="2100" b="1">
                <a:solidFill>
                  <a:srgbClr val="3907F1"/>
                </a:solidFill>
                <a:sym typeface="Symbol" panose="05050102010706020507" pitchFamily="18" charset="2"/>
              </a:rPr>
              <a:t>）阶层函数</a:t>
            </a:r>
            <a:endParaRPr lang="zh-CN" altLang="en-US" sz="2100" b="1">
              <a:solidFill>
                <a:srgbClr val="3907F1"/>
              </a:solidFill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zh-CN" altLang="en-US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zh-CN" altLang="en-US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zh-CN" altLang="en-US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endParaRPr lang="zh-CN" altLang="en-US" sz="2100">
              <a:sym typeface="Symbol" panose="05050102010706020507" pitchFamily="18" charset="2"/>
            </a:endParaRPr>
          </a:p>
          <a:p>
            <a:pPr>
              <a:lnSpc>
                <a:spcPct val="150000"/>
              </a:lnSpc>
            </a:pPr>
            <a:r>
              <a:rPr lang="en-US" altLang="zh-CN" sz="2100">
                <a:sym typeface="Symbol" panose="05050102010706020507" pitchFamily="18" charset="2"/>
              </a:rPr>
              <a:t>Stirling’s approximation</a:t>
            </a:r>
            <a:r>
              <a:rPr lang="en-US" altLang="zh-CN" sz="2100"/>
              <a:t> </a:t>
            </a:r>
            <a:endParaRPr lang="en-US" altLang="zh-CN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1F989-A186-4922-ABF2-3597DF20A93D}" type="slidenum">
              <a:rPr lang="en-US" altLang="zh-CN"/>
            </a:fld>
            <a:endParaRPr lang="en-US" altLang="zh-CN"/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580" name="Object 4"/>
          <p:cNvGraphicFramePr>
            <a:graphicFrameLocks noChangeAspect="1"/>
          </p:cNvGraphicFramePr>
          <p:nvPr/>
        </p:nvGraphicFramePr>
        <p:xfrm>
          <a:off x="2339975" y="1484313"/>
          <a:ext cx="26638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公式" r:id="rId1" imgW="1282700" imgH="457200" progId="Equation.3">
                  <p:embed/>
                </p:oleObj>
              </mc:Choice>
              <mc:Fallback>
                <p:oleObj name="公式" r:id="rId1" imgW="1282700" imgH="457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1484313"/>
                        <a:ext cx="2663825" cy="947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582" name="Object 6"/>
          <p:cNvGraphicFramePr>
            <a:graphicFrameLocks noChangeAspect="1"/>
          </p:cNvGraphicFramePr>
          <p:nvPr/>
        </p:nvGraphicFramePr>
        <p:xfrm>
          <a:off x="2484438" y="2708275"/>
          <a:ext cx="20383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公式" r:id="rId3" imgW="888365" imgH="177800" progId="Equation.3">
                  <p:embed/>
                </p:oleObj>
              </mc:Choice>
              <mc:Fallback>
                <p:oleObj name="公式" r:id="rId3" imgW="888365" imgH="177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708275"/>
                        <a:ext cx="2038350" cy="417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/>
        </p:nvGraphicFramePr>
        <p:xfrm>
          <a:off x="2484438" y="4005263"/>
          <a:ext cx="3744912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4" name="公式" r:id="rId5" imgW="1663700" imgH="482600" progId="Equation.3">
                  <p:embed/>
                </p:oleObj>
              </mc:Choice>
              <mc:Fallback>
                <p:oleObj name="公式" r:id="rId5" imgW="1663700" imgH="48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005263"/>
                        <a:ext cx="3744912" cy="1090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328C12-B0CB-4C61-8220-101C4C59EDBD}" type="slidenum">
              <a:rPr lang="en-US" altLang="zh-CN"/>
            </a:fld>
            <a:endParaRPr lang="en-US" altLang="zh-CN"/>
          </a:p>
        </p:txBody>
      </p:sp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1692275" y="1052513"/>
          <a:ext cx="2952750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7" name="公式" r:id="rId1" imgW="1180465" imgH="469900" progId="Equation.3">
                  <p:embed/>
                </p:oleObj>
              </mc:Choice>
              <mc:Fallback>
                <p:oleObj name="公式" r:id="rId1" imgW="1180465" imgH="4699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052513"/>
                        <a:ext cx="2952750" cy="1166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0" y="32337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5219700" y="1196975"/>
          <a:ext cx="266382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" name="公式" r:id="rId3" imgW="1205865" imgH="393700" progId="Equation.3">
                  <p:embed/>
                </p:oleObj>
              </mc:Choice>
              <mc:Fallback>
                <p:oleObj name="公式" r:id="rId3" imgW="1205865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1196975"/>
                        <a:ext cx="2663825" cy="860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2195513" y="2781300"/>
          <a:ext cx="1584325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9" name="公式" r:id="rId5" imgW="635000" imgH="228600" progId="Equation.3">
                  <p:embed/>
                </p:oleObj>
              </mc:Choice>
              <mc:Fallback>
                <p:oleObj name="公式" r:id="rId5" imgW="6350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81300"/>
                        <a:ext cx="1584325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8" name="Rectangle 8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2268538" y="3789363"/>
          <a:ext cx="15113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" name="公式" r:id="rId7" imgW="660400" imgH="228600" progId="Equation.3">
                  <p:embed/>
                </p:oleObj>
              </mc:Choice>
              <mc:Fallback>
                <p:oleObj name="公式" r:id="rId7" imgW="6604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789363"/>
                        <a:ext cx="1511300" cy="5254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Rectangle 10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5611" name="Object 11"/>
          <p:cNvGraphicFramePr>
            <a:graphicFrameLocks noChangeAspect="1"/>
          </p:cNvGraphicFramePr>
          <p:nvPr/>
        </p:nvGraphicFramePr>
        <p:xfrm>
          <a:off x="2254250" y="4941888"/>
          <a:ext cx="2763838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1" name="公式" r:id="rId9" imgW="1218565" imgH="203200" progId="Equation.3">
                  <p:embed/>
                </p:oleObj>
              </mc:Choice>
              <mc:Fallback>
                <p:oleObj name="公式" r:id="rId9" imgW="1218565" imgH="2032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4941888"/>
                        <a:ext cx="2763838" cy="452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868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4400" dirty="0"/>
              <a:t>算法分析中常见的复杂性函数</a:t>
            </a:r>
            <a:endParaRPr lang="zh-CN" altLang="en-US" sz="4400" dirty="0"/>
          </a:p>
        </p:txBody>
      </p:sp>
      <p:pic>
        <p:nvPicPr>
          <p:cNvPr id="266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95400" y="1768475"/>
            <a:ext cx="6711950" cy="40052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D3CEA-7BF0-49A2-B51F-947F727371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1139825"/>
          </a:xfrm>
        </p:spPr>
        <p:txBody>
          <a:bodyPr/>
          <a:lstStyle/>
          <a:p>
            <a:r>
              <a:rPr lang="zh-CN" altLang="en-US" sz="2900" b="1">
                <a:solidFill>
                  <a:srgbClr val="0000FF"/>
                </a:solidFill>
              </a:rPr>
              <a:t>小规模数据</a:t>
            </a:r>
            <a:endParaRPr lang="zh-CN" altLang="en-US" sz="2900" b="1">
              <a:solidFill>
                <a:srgbClr val="0000FF"/>
              </a:solidFill>
            </a:endParaRPr>
          </a:p>
        </p:txBody>
      </p:sp>
      <p:pic>
        <p:nvPicPr>
          <p:cNvPr id="276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988" y="1557338"/>
            <a:ext cx="6192837" cy="4356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BC17-C3EF-483E-9EBD-E9CC4F03BB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1143000"/>
          </a:xfrm>
        </p:spPr>
        <p:txBody>
          <a:bodyPr/>
          <a:lstStyle/>
          <a:p>
            <a:r>
              <a:rPr lang="zh-CN" altLang="en-US" sz="2900" b="1" dirty="0">
                <a:solidFill>
                  <a:srgbClr val="0000FF"/>
                </a:solidFill>
              </a:rPr>
              <a:t>中等规模数据</a:t>
            </a:r>
            <a:endParaRPr lang="zh-CN" altLang="en-US" sz="2900" b="1" dirty="0">
              <a:solidFill>
                <a:srgbClr val="0000FF"/>
              </a:solidFill>
            </a:endParaRPr>
          </a:p>
        </p:txBody>
      </p:sp>
      <p:pic>
        <p:nvPicPr>
          <p:cNvPr id="286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1700213"/>
            <a:ext cx="6119812" cy="42132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4CBF2-23C9-45D3-96C6-54D09D0EFE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0695AC-D4C4-4A5C-8491-550D4AA28665}" type="slidenum">
              <a:rPr lang="en-US" altLang="zh-CN"/>
            </a:fld>
            <a:endParaRPr lang="en-US" altLang="zh-CN"/>
          </a:p>
        </p:txBody>
      </p:sp>
      <p:pic>
        <p:nvPicPr>
          <p:cNvPr id="92164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72009"/>
            <a:ext cx="9144000" cy="66693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781300"/>
            <a:ext cx="8229600" cy="1584325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CN" sz="8000" b="1" dirty="0">
                <a:solidFill>
                  <a:schemeClr val="tx2"/>
                </a:solidFill>
              </a:rPr>
              <a:t>example</a:t>
            </a:r>
            <a:endParaRPr lang="en-US" altLang="zh-CN" sz="8000" b="1" dirty="0">
              <a:solidFill>
                <a:schemeClr val="tx2"/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7694A-7FE1-4D89-9459-6E6D2B7A0C1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例，</a:t>
            </a:r>
            <a:r>
              <a:rPr lang="en-US" altLang="zh-CN" sz="3200"/>
              <a:t>L(1:n)</a:t>
            </a:r>
            <a:r>
              <a:rPr lang="zh-CN" altLang="en-US" sz="3200"/>
              <a:t>是一张表，</a:t>
            </a:r>
            <a:r>
              <a:rPr lang="en-US" altLang="zh-CN" sz="3200"/>
              <a:t>x</a:t>
            </a:r>
            <a:r>
              <a:rPr lang="zh-CN" altLang="en-US" sz="3200"/>
              <a:t>是输入，若</a:t>
            </a:r>
            <a:r>
              <a:rPr lang="en-US" altLang="zh-CN" sz="3200"/>
              <a:t>x∈L</a:t>
            </a:r>
            <a:r>
              <a:rPr lang="zh-CN" altLang="en-US" sz="3200"/>
              <a:t>，就输出</a:t>
            </a:r>
            <a:r>
              <a:rPr lang="en-US" altLang="zh-CN" sz="3200"/>
              <a:t>x</a:t>
            </a:r>
            <a:r>
              <a:rPr lang="zh-CN" altLang="en-US" sz="3200"/>
              <a:t>在表中位置；若</a:t>
            </a:r>
            <a:r>
              <a:rPr lang="en-US" altLang="zh-CN" sz="3200"/>
              <a:t>x∈L</a:t>
            </a:r>
            <a:r>
              <a:rPr lang="zh-CN" altLang="en-US" sz="3200"/>
              <a:t>，则输出信息。</a:t>
            </a:r>
            <a:endParaRPr lang="zh-CN" altLang="en-US" sz="3200"/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600"/>
              <a:t>以比较基础的算法</a:t>
            </a:r>
            <a:endParaRPr lang="zh-CN" altLang="en-US" sz="2600"/>
          </a:p>
          <a:p>
            <a:pPr>
              <a:lnSpc>
                <a:spcPct val="90000"/>
              </a:lnSpc>
            </a:pPr>
            <a:r>
              <a:rPr lang="zh-CN" altLang="en-US" sz="2600"/>
              <a:t>算法</a:t>
            </a:r>
            <a:r>
              <a:rPr lang="en-US" altLang="zh-CN" sz="2600"/>
              <a:t>A</a:t>
            </a:r>
            <a:endParaRPr lang="en-US" altLang="zh-CN" sz="260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A1. </a:t>
            </a:r>
            <a:r>
              <a:rPr lang="zh-CN" altLang="en-US" sz="2200"/>
              <a:t>输入</a:t>
            </a:r>
            <a:r>
              <a:rPr lang="en-US" altLang="zh-CN" sz="2200"/>
              <a:t>L</a:t>
            </a:r>
            <a:r>
              <a:rPr lang="zh-CN" altLang="en-US" sz="2200"/>
              <a:t>，</a:t>
            </a:r>
            <a:r>
              <a:rPr lang="en-US" altLang="zh-CN" sz="2200"/>
              <a:t>n</a:t>
            </a:r>
            <a:r>
              <a:rPr lang="zh-CN" altLang="en-US" sz="2200"/>
              <a:t>，</a:t>
            </a:r>
            <a:r>
              <a:rPr lang="en-US" altLang="zh-CN" sz="2200"/>
              <a:t>x</a:t>
            </a:r>
            <a:r>
              <a:rPr lang="zh-CN" altLang="en-US" sz="2200"/>
              <a:t>；</a:t>
            </a:r>
            <a:endParaRPr lang="zh-CN" altLang="en-US" sz="220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A2. j&lt;-1;</a:t>
            </a:r>
            <a:endParaRPr lang="en-US" altLang="zh-CN" sz="220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A3. </a:t>
            </a:r>
            <a:r>
              <a:rPr lang="zh-CN" altLang="en-US" sz="2200"/>
              <a:t>当</a:t>
            </a:r>
            <a:r>
              <a:rPr lang="en-US" altLang="zh-CN" sz="2200"/>
              <a:t>j&lt;=n</a:t>
            </a:r>
            <a:r>
              <a:rPr lang="zh-CN" altLang="en-US" sz="2200"/>
              <a:t>且</a:t>
            </a:r>
            <a:r>
              <a:rPr lang="en-US" altLang="zh-CN" sz="2200"/>
              <a:t>x&lt;&gt;L(j)</a:t>
            </a:r>
            <a:r>
              <a:rPr lang="zh-CN" altLang="en-US" sz="2200"/>
              <a:t>时做</a:t>
            </a:r>
            <a:r>
              <a:rPr lang="en-US" altLang="zh-CN" sz="2200"/>
              <a:t>j&lt;-j+1;</a:t>
            </a:r>
            <a:endParaRPr lang="en-US" altLang="zh-CN" sz="220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A4. </a:t>
            </a:r>
            <a:r>
              <a:rPr lang="zh-CN" altLang="en-US" sz="2200"/>
              <a:t>若</a:t>
            </a:r>
            <a:r>
              <a:rPr lang="en-US" altLang="zh-CN" sz="2200"/>
              <a:t>j&gt;n</a:t>
            </a:r>
            <a:r>
              <a:rPr lang="zh-CN" altLang="en-US" sz="2200"/>
              <a:t>，则</a:t>
            </a:r>
            <a:r>
              <a:rPr lang="en-US" altLang="zh-CN" sz="2200"/>
              <a:t>j&lt;-0;</a:t>
            </a:r>
            <a:endParaRPr lang="en-US" altLang="zh-CN" sz="220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A5. </a:t>
            </a:r>
            <a:r>
              <a:rPr lang="zh-CN" altLang="en-US" sz="2200"/>
              <a:t>输出</a:t>
            </a:r>
            <a:r>
              <a:rPr lang="en-US" altLang="zh-CN" sz="2200"/>
              <a:t>j.</a:t>
            </a:r>
            <a:endParaRPr lang="en-US" altLang="zh-CN" sz="2200"/>
          </a:p>
          <a:p>
            <a:pPr>
              <a:lnSpc>
                <a:spcPct val="90000"/>
              </a:lnSpc>
            </a:pPr>
            <a:r>
              <a:rPr lang="zh-CN" altLang="en-US" sz="2600"/>
              <a:t>分析：</a:t>
            </a:r>
            <a:endParaRPr lang="zh-CN" altLang="en-US" sz="2600"/>
          </a:p>
          <a:p>
            <a:pPr lvl="1">
              <a:lnSpc>
                <a:spcPct val="90000"/>
              </a:lnSpc>
            </a:pPr>
            <a:r>
              <a:rPr lang="zh-CN" altLang="en-US" sz="2200"/>
              <a:t>最好情况：</a:t>
            </a:r>
            <a:r>
              <a:rPr lang="en-US" altLang="zh-CN" sz="2200"/>
              <a:t>O(1)</a:t>
            </a:r>
            <a:endParaRPr lang="en-US" altLang="zh-CN" sz="2200"/>
          </a:p>
          <a:p>
            <a:pPr lvl="1">
              <a:lnSpc>
                <a:spcPct val="90000"/>
              </a:lnSpc>
            </a:pPr>
            <a:r>
              <a:rPr lang="zh-CN" altLang="en-US" sz="2200"/>
              <a:t>最差情况：</a:t>
            </a:r>
            <a:endParaRPr lang="zh-CN" altLang="en-US" sz="2200"/>
          </a:p>
          <a:p>
            <a:pPr lvl="1">
              <a:lnSpc>
                <a:spcPct val="90000"/>
              </a:lnSpc>
            </a:pPr>
            <a:r>
              <a:rPr lang="zh-CN" altLang="en-US" sz="2200"/>
              <a:t>平均性态：</a:t>
            </a:r>
            <a:endParaRPr lang="zh-CN" altLang="en-US" sz="22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69A43-BCCB-4B29-8351-956456BD7255}" type="slidenum">
              <a:rPr lang="en-US" altLang="zh-CN"/>
            </a:fld>
            <a:endParaRPr lang="en-US" altLang="zh-CN"/>
          </a:p>
        </p:txBody>
      </p:sp>
      <p:sp>
        <p:nvSpPr>
          <p:cNvPr id="82948" name="Line 4"/>
          <p:cNvSpPr>
            <a:spLocks noChangeShapeType="1"/>
          </p:cNvSpPr>
          <p:nvPr/>
        </p:nvSpPr>
        <p:spPr bwMode="auto">
          <a:xfrm>
            <a:off x="4283968" y="1412776"/>
            <a:ext cx="0" cy="360362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29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idx="1"/>
          </p:nvPr>
        </p:nvSpPr>
        <p:spPr>
          <a:xfrm>
            <a:off x="395536" y="315416"/>
            <a:ext cx="8229600" cy="6281936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设       </a:t>
            </a:r>
            <a:r>
              <a:rPr lang="zh-CN" altLang="en-US" dirty="0" smtClean="0"/>
              <a:t>  的</a:t>
            </a:r>
            <a:r>
              <a:rPr lang="zh-CN" altLang="en-US" dirty="0"/>
              <a:t>概率为</a:t>
            </a:r>
            <a:r>
              <a:rPr lang="en-US" altLang="zh-CN" dirty="0"/>
              <a:t>q</a:t>
            </a:r>
            <a:r>
              <a:rPr lang="zh-CN" altLang="en-US" dirty="0"/>
              <a:t>，   为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对任意</a:t>
            </a:r>
            <a:r>
              <a:rPr lang="en-US" altLang="zh-CN" dirty="0"/>
              <a:t>j&lt;</a:t>
            </a:r>
            <a:r>
              <a:rPr lang="en-US" altLang="zh-CN" dirty="0" err="1"/>
              <a:t>i</a:t>
            </a:r>
            <a:r>
              <a:rPr lang="en-US" altLang="zh-CN" dirty="0" smtClean="0"/>
              <a:t>,               </a:t>
            </a:r>
            <a:r>
              <a:rPr lang="en-US" altLang="zh-CN" dirty="0"/>
              <a:t>,       </a:t>
            </a:r>
            <a:r>
              <a:rPr lang="zh-CN" altLang="en-US" dirty="0"/>
              <a:t>为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当输入为      时，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/>
              <a:t>再</a:t>
            </a:r>
            <a:r>
              <a:rPr lang="zh-CN" altLang="en-US" dirty="0"/>
              <a:t>设</a:t>
            </a:r>
            <a:r>
              <a:rPr lang="en-US" altLang="zh-CN" dirty="0"/>
              <a:t>x ∈L</a:t>
            </a:r>
            <a:r>
              <a:rPr lang="zh-CN" altLang="en-US" dirty="0"/>
              <a:t>中每个位置上的概率是一样的，</a:t>
            </a:r>
            <a:r>
              <a:rPr lang="en-US" altLang="zh-CN" dirty="0"/>
              <a:t>q/n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最坏情况： </a:t>
            </a:r>
            <a:r>
              <a:rPr lang="en-US" altLang="zh-CN" dirty="0"/>
              <a:t>x=L(n)    n</a:t>
            </a:r>
            <a:r>
              <a:rPr lang="zh-CN" altLang="en-US" dirty="0"/>
              <a:t>次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                 </a:t>
            </a:r>
            <a:r>
              <a:rPr lang="en-US" altLang="zh-CN" dirty="0"/>
              <a:t>x&lt;&gt;L      n</a:t>
            </a:r>
            <a:r>
              <a:rPr lang="zh-CN" altLang="en-US" dirty="0"/>
              <a:t>次</a:t>
            </a:r>
            <a:endParaRPr lang="zh-CN" altLang="en-US" dirty="0"/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5651500" y="188913"/>
            <a:ext cx="3419475" cy="1797050"/>
          </a:xfrm>
          <a:prstGeom prst="rect">
            <a:avLst/>
          </a:prstGeom>
          <a:solidFill>
            <a:srgbClr val="FFFF00"/>
          </a:solidFill>
          <a:ln w="57150">
            <a:solidFill>
              <a:srgbClr val="FF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en-US" altLang="zh-CN" b="1">
                <a:solidFill>
                  <a:srgbClr val="3907F1"/>
                </a:solidFill>
              </a:rPr>
              <a:t>A1. </a:t>
            </a:r>
            <a:r>
              <a:rPr lang="zh-CN" altLang="en-US" b="1">
                <a:solidFill>
                  <a:srgbClr val="3907F1"/>
                </a:solidFill>
              </a:rPr>
              <a:t>输入</a:t>
            </a:r>
            <a:r>
              <a:rPr lang="en-US" altLang="zh-CN" b="1">
                <a:solidFill>
                  <a:srgbClr val="3907F1"/>
                </a:solidFill>
              </a:rPr>
              <a:t>L</a:t>
            </a:r>
            <a:r>
              <a:rPr lang="zh-CN" altLang="en-US" b="1">
                <a:solidFill>
                  <a:srgbClr val="3907F1"/>
                </a:solidFill>
              </a:rPr>
              <a:t>，</a:t>
            </a:r>
            <a:r>
              <a:rPr lang="en-US" altLang="zh-CN" b="1">
                <a:solidFill>
                  <a:srgbClr val="3907F1"/>
                </a:solidFill>
              </a:rPr>
              <a:t>n</a:t>
            </a:r>
            <a:r>
              <a:rPr lang="zh-CN" altLang="en-US" b="1">
                <a:solidFill>
                  <a:srgbClr val="3907F1"/>
                </a:solidFill>
              </a:rPr>
              <a:t>，</a:t>
            </a:r>
            <a:r>
              <a:rPr lang="en-US" altLang="zh-CN" b="1">
                <a:solidFill>
                  <a:srgbClr val="3907F1"/>
                </a:solidFill>
              </a:rPr>
              <a:t>x</a:t>
            </a:r>
            <a:r>
              <a:rPr lang="zh-CN" altLang="en-US" b="1">
                <a:solidFill>
                  <a:srgbClr val="3907F1"/>
                </a:solidFill>
              </a:rPr>
              <a:t>；</a:t>
            </a:r>
            <a:endParaRPr lang="zh-CN" altLang="en-US" b="1">
              <a:solidFill>
                <a:srgbClr val="3907F1"/>
              </a:solidFill>
            </a:endParaRPr>
          </a:p>
          <a:p>
            <a:pPr lvl="1"/>
            <a:r>
              <a:rPr lang="en-US" altLang="zh-CN" b="1">
                <a:solidFill>
                  <a:srgbClr val="3907F1"/>
                </a:solidFill>
              </a:rPr>
              <a:t>A2. j&lt;-1;</a:t>
            </a:r>
            <a:endParaRPr lang="en-US" altLang="zh-CN" b="1">
              <a:solidFill>
                <a:srgbClr val="3907F1"/>
              </a:solidFill>
            </a:endParaRPr>
          </a:p>
          <a:p>
            <a:pPr lvl="1"/>
            <a:r>
              <a:rPr lang="en-US" altLang="zh-CN" b="1">
                <a:solidFill>
                  <a:srgbClr val="3907F1"/>
                </a:solidFill>
              </a:rPr>
              <a:t>A3. </a:t>
            </a:r>
            <a:r>
              <a:rPr lang="zh-CN" altLang="en-US" b="1">
                <a:solidFill>
                  <a:srgbClr val="3907F1"/>
                </a:solidFill>
              </a:rPr>
              <a:t>当</a:t>
            </a:r>
            <a:r>
              <a:rPr lang="en-US" altLang="zh-CN" b="1">
                <a:solidFill>
                  <a:srgbClr val="3907F1"/>
                </a:solidFill>
              </a:rPr>
              <a:t>j&lt;=n</a:t>
            </a:r>
            <a:r>
              <a:rPr lang="zh-CN" altLang="en-US" b="1">
                <a:solidFill>
                  <a:srgbClr val="3907F1"/>
                </a:solidFill>
              </a:rPr>
              <a:t>且</a:t>
            </a:r>
            <a:r>
              <a:rPr lang="en-US" altLang="zh-CN" b="1">
                <a:solidFill>
                  <a:srgbClr val="3907F1"/>
                </a:solidFill>
              </a:rPr>
              <a:t>x&lt;&gt;L(j)</a:t>
            </a:r>
            <a:r>
              <a:rPr lang="zh-CN" altLang="en-US" b="1">
                <a:solidFill>
                  <a:srgbClr val="3907F1"/>
                </a:solidFill>
              </a:rPr>
              <a:t>时做</a:t>
            </a:r>
            <a:r>
              <a:rPr lang="en-US" altLang="zh-CN" b="1">
                <a:solidFill>
                  <a:srgbClr val="3907F1"/>
                </a:solidFill>
              </a:rPr>
              <a:t>j&lt;-j+1;</a:t>
            </a:r>
            <a:endParaRPr lang="en-US" altLang="zh-CN" b="1">
              <a:solidFill>
                <a:srgbClr val="3907F1"/>
              </a:solidFill>
            </a:endParaRPr>
          </a:p>
          <a:p>
            <a:pPr lvl="1"/>
            <a:r>
              <a:rPr lang="en-US" altLang="zh-CN" b="1">
                <a:solidFill>
                  <a:srgbClr val="3907F1"/>
                </a:solidFill>
              </a:rPr>
              <a:t>A4. </a:t>
            </a:r>
            <a:r>
              <a:rPr lang="zh-CN" altLang="en-US" b="1">
                <a:solidFill>
                  <a:srgbClr val="3907F1"/>
                </a:solidFill>
              </a:rPr>
              <a:t>若</a:t>
            </a:r>
            <a:r>
              <a:rPr lang="en-US" altLang="zh-CN" b="1">
                <a:solidFill>
                  <a:srgbClr val="3907F1"/>
                </a:solidFill>
              </a:rPr>
              <a:t>j&gt;n</a:t>
            </a:r>
            <a:r>
              <a:rPr lang="zh-CN" altLang="en-US" b="1">
                <a:solidFill>
                  <a:srgbClr val="3907F1"/>
                </a:solidFill>
              </a:rPr>
              <a:t>，则</a:t>
            </a:r>
            <a:r>
              <a:rPr lang="en-US" altLang="zh-CN" b="1">
                <a:solidFill>
                  <a:srgbClr val="3907F1"/>
                </a:solidFill>
              </a:rPr>
              <a:t>j&lt;-0;</a:t>
            </a:r>
            <a:endParaRPr lang="en-US" altLang="zh-CN" b="1">
              <a:solidFill>
                <a:srgbClr val="3907F1"/>
              </a:solidFill>
            </a:endParaRPr>
          </a:p>
          <a:p>
            <a:pPr lvl="1"/>
            <a:r>
              <a:rPr lang="en-US" altLang="zh-CN" b="1">
                <a:solidFill>
                  <a:srgbClr val="3907F1"/>
                </a:solidFill>
              </a:rPr>
              <a:t>A5. </a:t>
            </a:r>
            <a:r>
              <a:rPr lang="zh-CN" altLang="en-US" b="1">
                <a:solidFill>
                  <a:srgbClr val="3907F1"/>
                </a:solidFill>
              </a:rPr>
              <a:t>输出</a:t>
            </a:r>
            <a:r>
              <a:rPr lang="en-US" altLang="zh-CN" b="1">
                <a:solidFill>
                  <a:srgbClr val="3907F1"/>
                </a:solidFill>
              </a:rPr>
              <a:t>j.</a:t>
            </a:r>
            <a:endParaRPr lang="en-US" altLang="zh-CN" b="1">
              <a:solidFill>
                <a:srgbClr val="3907F1"/>
              </a:solidFill>
            </a:endParaRPr>
          </a:p>
        </p:txBody>
      </p:sp>
      <p:sp>
        <p:nvSpPr>
          <p:cNvPr id="9114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1" name="Object 5"/>
          <p:cNvGraphicFramePr>
            <a:graphicFrameLocks noChangeAspect="1"/>
          </p:cNvGraphicFramePr>
          <p:nvPr/>
        </p:nvGraphicFramePr>
        <p:xfrm>
          <a:off x="755576" y="1772816"/>
          <a:ext cx="204787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0" name="公式" r:id="rId1" imgW="1231900" imgH="457200" progId="Equation.3">
                  <p:embed/>
                </p:oleObj>
              </mc:Choice>
              <mc:Fallback>
                <p:oleObj name="公式" r:id="rId1" imgW="1231900" imgH="457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576" y="1772816"/>
                        <a:ext cx="2047875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3" name="Object 7"/>
          <p:cNvGraphicFramePr>
            <a:graphicFrameLocks noChangeAspect="1"/>
          </p:cNvGraphicFramePr>
          <p:nvPr/>
        </p:nvGraphicFramePr>
        <p:xfrm>
          <a:off x="827510" y="332656"/>
          <a:ext cx="7921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1" name="公式" r:id="rId3" imgW="354965" imgH="177800" progId="Equation.3">
                  <p:embed/>
                </p:oleObj>
              </mc:Choice>
              <mc:Fallback>
                <p:oleObj name="公式" r:id="rId3" imgW="354965" imgH="177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10" y="332656"/>
                        <a:ext cx="79216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5" name="Object 9"/>
          <p:cNvGraphicFramePr>
            <a:graphicFrameLocks noChangeAspect="1"/>
          </p:cNvGraphicFramePr>
          <p:nvPr/>
        </p:nvGraphicFramePr>
        <p:xfrm>
          <a:off x="4067968" y="332656"/>
          <a:ext cx="1008063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2" name="公式" r:id="rId5" imgW="494665" imgH="215900" progId="Equation.3">
                  <p:embed/>
                </p:oleObj>
              </mc:Choice>
              <mc:Fallback>
                <p:oleObj name="公式" r:id="rId5" imgW="494665" imgH="2159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68" y="332656"/>
                        <a:ext cx="1008063" cy="439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7" name="Object 11"/>
          <p:cNvGraphicFramePr>
            <a:graphicFrameLocks noChangeAspect="1"/>
          </p:cNvGraphicFramePr>
          <p:nvPr/>
        </p:nvGraphicFramePr>
        <p:xfrm>
          <a:off x="3275856" y="332656"/>
          <a:ext cx="3016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3" name="公式" r:id="rId7" imgW="139700" imgH="228600" progId="Equation.3">
                  <p:embed/>
                </p:oleObj>
              </mc:Choice>
              <mc:Fallback>
                <p:oleObj name="公式" r:id="rId7" imgW="139700" imgH="228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32656"/>
                        <a:ext cx="301625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4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49" name="Object 13"/>
          <p:cNvGraphicFramePr>
            <a:graphicFrameLocks noChangeAspect="1"/>
          </p:cNvGraphicFramePr>
          <p:nvPr/>
        </p:nvGraphicFramePr>
        <p:xfrm>
          <a:off x="1979712" y="837407"/>
          <a:ext cx="122396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4" name="公式" r:id="rId9" imgW="532765" imgH="215900" progId="Equation.3">
                  <p:embed/>
                </p:oleObj>
              </mc:Choice>
              <mc:Fallback>
                <p:oleObj name="公式" r:id="rId9" imgW="532765" imgH="2159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837407"/>
                        <a:ext cx="1223962" cy="500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0" name="Rectangle 1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51" name="Object 15"/>
          <p:cNvGraphicFramePr>
            <a:graphicFrameLocks noChangeAspect="1"/>
          </p:cNvGraphicFramePr>
          <p:nvPr/>
        </p:nvGraphicFramePr>
        <p:xfrm>
          <a:off x="3275856" y="825500"/>
          <a:ext cx="5762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5" name="公式" r:id="rId11" imgW="254000" imgH="228600" progId="Equation.3">
                  <p:embed/>
                </p:oleObj>
              </mc:Choice>
              <mc:Fallback>
                <p:oleObj name="公式" r:id="rId11" imgW="254000" imgH="2286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825500"/>
                        <a:ext cx="576263" cy="523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2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53" name="Object 17"/>
          <p:cNvGraphicFramePr>
            <a:graphicFrameLocks noChangeAspect="1"/>
          </p:cNvGraphicFramePr>
          <p:nvPr/>
        </p:nvGraphicFramePr>
        <p:xfrm>
          <a:off x="4067969" y="842169"/>
          <a:ext cx="10080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6" name="公式" r:id="rId13" imgW="368300" imgH="177800" progId="Equation.3">
                  <p:embed/>
                </p:oleObj>
              </mc:Choice>
              <mc:Fallback>
                <p:oleObj name="公式" r:id="rId13" imgW="368300" imgH="177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69" y="842169"/>
                        <a:ext cx="1008062" cy="490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4" name="Rectangle 18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55" name="Object 19"/>
          <p:cNvGraphicFramePr>
            <a:graphicFrameLocks noChangeAspect="1"/>
          </p:cNvGraphicFramePr>
          <p:nvPr/>
        </p:nvGraphicFramePr>
        <p:xfrm>
          <a:off x="1907704" y="1268760"/>
          <a:ext cx="34607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7" name="公式" r:id="rId15" imgW="139700" imgH="228600" progId="Equation.3">
                  <p:embed/>
                </p:oleObj>
              </mc:Choice>
              <mc:Fallback>
                <p:oleObj name="公式" r:id="rId15" imgW="139700" imgH="228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268760"/>
                        <a:ext cx="34607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6" name="Rectangle 20"/>
          <p:cNvSpPr>
            <a:spLocks noChangeArrowheads="1"/>
          </p:cNvSpPr>
          <p:nvPr/>
        </p:nvSpPr>
        <p:spPr bwMode="auto">
          <a:xfrm>
            <a:off x="0" y="30480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57" name="Object 21"/>
          <p:cNvGraphicFramePr>
            <a:graphicFrameLocks noChangeAspect="1"/>
          </p:cNvGraphicFramePr>
          <p:nvPr/>
        </p:nvGraphicFramePr>
        <p:xfrm>
          <a:off x="683568" y="3208345"/>
          <a:ext cx="43910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8" name="公式" r:id="rId17" imgW="2044700" imgH="457200" progId="Equation.3">
                  <p:embed/>
                </p:oleObj>
              </mc:Choice>
              <mc:Fallback>
                <p:oleObj name="公式" r:id="rId17" imgW="2044700" imgH="457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3208345"/>
                        <a:ext cx="4391025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8" name="Rectangle 22"/>
          <p:cNvSpPr>
            <a:spLocks noChangeArrowheads="1"/>
          </p:cNvSpPr>
          <p:nvPr/>
        </p:nvSpPr>
        <p:spPr bwMode="auto">
          <a:xfrm>
            <a:off x="0" y="28765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539552" y="4077072"/>
          <a:ext cx="5464175" cy="1433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259" name="公式" r:id="rId19" imgW="2527300" imgH="660400" progId="Equation.3">
                  <p:embed/>
                </p:oleObj>
              </mc:Choice>
              <mc:Fallback>
                <p:oleObj name="公式" r:id="rId19" imgW="2527300" imgH="66040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077072"/>
                        <a:ext cx="5464175" cy="1433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500" b="1">
                <a:solidFill>
                  <a:srgbClr val="3907F1"/>
                </a:solidFill>
              </a:rPr>
              <a:t>算法分析方法</a:t>
            </a:r>
            <a:endParaRPr lang="zh-CN" altLang="en-US" sz="2500" b="1">
              <a:solidFill>
                <a:srgbClr val="3907F1"/>
              </a:solidFill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100" b="1">
                <a:solidFill>
                  <a:srgbClr val="3907F1"/>
                </a:solidFill>
              </a:rPr>
              <a:t>例：顺序搜索算法</a:t>
            </a:r>
            <a:endParaRPr lang="zh-CN" altLang="en-US" sz="2100" b="1">
              <a:solidFill>
                <a:srgbClr val="3907F1"/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BB35-3712-46B8-83E5-2353D08D0FC8}" type="slidenum">
              <a:rPr lang="en-US" altLang="zh-CN"/>
            </a:fld>
            <a:endParaRPr lang="en-US" altLang="zh-CN"/>
          </a:p>
        </p:txBody>
      </p:sp>
      <p:sp>
        <p:nvSpPr>
          <p:cNvPr id="41988" name="AutoShape 4"/>
          <p:cNvSpPr>
            <a:spLocks noChangeArrowheads="1"/>
          </p:cNvSpPr>
          <p:nvPr/>
        </p:nvSpPr>
        <p:spPr bwMode="auto">
          <a:xfrm>
            <a:off x="1763713" y="2565400"/>
            <a:ext cx="5113337" cy="302418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30000"/>
              </a:lnSpc>
            </a:pPr>
            <a:r>
              <a:rPr kumimoji="1" lang="en-US" altLang="zh-CN" sz="2000"/>
              <a:t>template&lt;class Type&gt;</a:t>
            </a:r>
            <a:endParaRPr kumimoji="1" lang="en-US" altLang="zh-CN" sz="2000"/>
          </a:p>
          <a:p>
            <a:pPr>
              <a:lnSpc>
                <a:spcPct val="130000"/>
              </a:lnSpc>
            </a:pPr>
            <a:r>
              <a:rPr kumimoji="1" lang="en-US" altLang="zh-CN" sz="2000"/>
              <a:t>int seqSearch(Type *a, int n, Type k)</a:t>
            </a:r>
            <a:endParaRPr kumimoji="1" lang="en-US" altLang="zh-CN" sz="2000"/>
          </a:p>
          <a:p>
            <a:pPr>
              <a:lnSpc>
                <a:spcPct val="130000"/>
              </a:lnSpc>
            </a:pPr>
            <a:r>
              <a:rPr kumimoji="1" lang="en-US" altLang="zh-CN" sz="2000"/>
              <a:t>{</a:t>
            </a:r>
            <a:endParaRPr kumimoji="1" lang="en-US" altLang="zh-CN" sz="2000"/>
          </a:p>
          <a:p>
            <a:pPr>
              <a:lnSpc>
                <a:spcPct val="130000"/>
              </a:lnSpc>
            </a:pPr>
            <a:r>
              <a:rPr kumimoji="1" lang="en-US" altLang="zh-CN" sz="2000"/>
              <a:t>     for(int i=0;i&lt;n;i++)</a:t>
            </a:r>
            <a:endParaRPr kumimoji="1" lang="en-US" altLang="zh-CN" sz="2000"/>
          </a:p>
          <a:p>
            <a:pPr>
              <a:lnSpc>
                <a:spcPct val="130000"/>
              </a:lnSpc>
            </a:pPr>
            <a:r>
              <a:rPr kumimoji="1" lang="en-US" altLang="zh-CN" sz="2000"/>
              <a:t>	  if (a[i]==k) return i;</a:t>
            </a:r>
            <a:endParaRPr kumimoji="1" lang="en-US" altLang="zh-CN" sz="2000"/>
          </a:p>
          <a:p>
            <a:pPr>
              <a:lnSpc>
                <a:spcPct val="130000"/>
              </a:lnSpc>
            </a:pPr>
            <a:r>
              <a:rPr kumimoji="1" lang="en-US" altLang="zh-CN" sz="2000"/>
              <a:t>     return -1;</a:t>
            </a:r>
            <a:endParaRPr kumimoji="1" lang="en-US" altLang="zh-CN" sz="2000"/>
          </a:p>
          <a:p>
            <a:pPr>
              <a:lnSpc>
                <a:spcPct val="130000"/>
              </a:lnSpc>
            </a:pPr>
            <a:r>
              <a:rPr kumimoji="1" lang="en-US" altLang="zh-CN" sz="2000"/>
              <a:t>}</a:t>
            </a:r>
            <a:endParaRPr kumimoji="1" lang="en-US" altLang="zh-CN" sz="200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260350"/>
            <a:ext cx="8424862" cy="324008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/>
              <a:t>（</a:t>
            </a:r>
            <a:r>
              <a:rPr lang="en-US" altLang="zh-CN" sz="2100"/>
              <a:t>1</a:t>
            </a:r>
            <a:r>
              <a:rPr lang="zh-CN" altLang="en-US" sz="2100"/>
              <a:t>）</a:t>
            </a:r>
            <a:r>
              <a:rPr lang="en-US" altLang="zh-CN" sz="2100" i="1"/>
              <a:t>T</a:t>
            </a:r>
            <a:r>
              <a:rPr lang="en-US" altLang="zh-CN" sz="2100" baseline="-25000"/>
              <a:t>max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 = max{ </a:t>
            </a:r>
            <a:r>
              <a:rPr lang="en-US" altLang="zh-CN" sz="2100" i="1"/>
              <a:t>T</a:t>
            </a:r>
            <a:r>
              <a:rPr lang="en-US" altLang="zh-CN" sz="2100"/>
              <a:t>(I) | size(I)=</a:t>
            </a:r>
            <a:r>
              <a:rPr lang="en-US" altLang="zh-CN" sz="2100" i="1"/>
              <a:t>n </a:t>
            </a:r>
            <a:r>
              <a:rPr lang="en-US" altLang="zh-CN" sz="2100"/>
              <a:t>}=</a:t>
            </a:r>
            <a:r>
              <a:rPr lang="en-US" altLang="zh-CN" sz="2100" i="1"/>
              <a:t>O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</a:t>
            </a:r>
            <a:endParaRPr lang="en-US" altLang="zh-CN" sz="21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/>
              <a:t>（</a:t>
            </a:r>
            <a:r>
              <a:rPr lang="en-US" altLang="zh-CN" sz="2100"/>
              <a:t>2</a:t>
            </a:r>
            <a:r>
              <a:rPr lang="zh-CN" altLang="en-US" sz="2100"/>
              <a:t>）</a:t>
            </a:r>
            <a:r>
              <a:rPr lang="en-US" altLang="zh-CN" sz="2100" i="1"/>
              <a:t>T</a:t>
            </a:r>
            <a:r>
              <a:rPr lang="en-US" altLang="zh-CN" sz="2100" baseline="-25000"/>
              <a:t>min</a:t>
            </a:r>
            <a:r>
              <a:rPr lang="en-US" altLang="zh-CN" sz="2100"/>
              <a:t>(</a:t>
            </a:r>
            <a:r>
              <a:rPr lang="en-US" altLang="zh-CN" sz="2100" i="1"/>
              <a:t>n</a:t>
            </a:r>
            <a:r>
              <a:rPr lang="en-US" altLang="zh-CN" sz="2100"/>
              <a:t>) = min{ </a:t>
            </a:r>
            <a:r>
              <a:rPr lang="en-US" altLang="zh-CN" sz="2100" i="1"/>
              <a:t>T</a:t>
            </a:r>
            <a:r>
              <a:rPr lang="en-US" altLang="zh-CN" sz="2100"/>
              <a:t>(I) | size(I)=</a:t>
            </a:r>
            <a:r>
              <a:rPr lang="en-US" altLang="zh-CN" sz="2100" i="1"/>
              <a:t>n </a:t>
            </a:r>
            <a:r>
              <a:rPr lang="en-US" altLang="zh-CN" sz="2100"/>
              <a:t>}=</a:t>
            </a:r>
            <a:r>
              <a:rPr lang="en-US" altLang="zh-CN" sz="2100" i="1"/>
              <a:t>O</a:t>
            </a:r>
            <a:r>
              <a:rPr lang="en-US" altLang="zh-CN" sz="2100"/>
              <a:t>(1)</a:t>
            </a:r>
            <a:endParaRPr lang="en-US" altLang="zh-CN" sz="21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/>
              <a:t>（</a:t>
            </a:r>
            <a:r>
              <a:rPr lang="en-US" altLang="zh-CN" sz="2100"/>
              <a:t>3</a:t>
            </a:r>
            <a:r>
              <a:rPr lang="zh-CN" altLang="en-US" sz="2100"/>
              <a:t>）在平均情况下，假设：</a:t>
            </a:r>
            <a:endParaRPr lang="zh-CN" altLang="en-US" sz="21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/>
              <a:t>   </a:t>
            </a:r>
            <a:r>
              <a:rPr lang="en-US" altLang="zh-CN" sz="2100"/>
              <a:t>(a) </a:t>
            </a:r>
            <a:r>
              <a:rPr lang="zh-CN" altLang="en-US" sz="2100"/>
              <a:t>搜索成功的概率为</a:t>
            </a:r>
            <a:r>
              <a:rPr lang="en-US" altLang="zh-CN" sz="2100" i="1"/>
              <a:t>p </a:t>
            </a:r>
            <a:r>
              <a:rPr lang="en-US" altLang="zh-CN" sz="2100"/>
              <a:t>( 0 </a:t>
            </a:r>
            <a:r>
              <a:rPr lang="en-US" altLang="zh-CN" sz="2100">
                <a:sym typeface="Symbol" panose="05050102010706020507" pitchFamily="18" charset="2"/>
              </a:rPr>
              <a:t></a:t>
            </a:r>
            <a:r>
              <a:rPr lang="en-US" altLang="zh-CN" sz="2100"/>
              <a:t> </a:t>
            </a:r>
            <a:r>
              <a:rPr lang="en-US" altLang="zh-CN" sz="2100" i="1"/>
              <a:t>p</a:t>
            </a:r>
            <a:r>
              <a:rPr lang="en-US" altLang="zh-CN" sz="2100"/>
              <a:t> </a:t>
            </a:r>
            <a:r>
              <a:rPr lang="en-US" altLang="zh-CN" sz="2100">
                <a:sym typeface="Symbol" panose="05050102010706020507" pitchFamily="18" charset="2"/>
              </a:rPr>
              <a:t></a:t>
            </a:r>
            <a:r>
              <a:rPr lang="en-US" altLang="zh-CN" sz="2100"/>
              <a:t> 1 )</a:t>
            </a:r>
            <a:r>
              <a:rPr lang="zh-CN" altLang="en-US" sz="2100"/>
              <a:t>；</a:t>
            </a:r>
            <a:endParaRPr lang="zh-CN" altLang="en-US" sz="210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/>
              <a:t>   </a:t>
            </a:r>
            <a:r>
              <a:rPr lang="en-US" altLang="zh-CN" sz="2100"/>
              <a:t>(b) </a:t>
            </a:r>
            <a:r>
              <a:rPr lang="zh-CN" altLang="en-US" sz="2100"/>
              <a:t>在数组的每个位置</a:t>
            </a:r>
            <a:r>
              <a:rPr lang="en-US" altLang="zh-CN" sz="2100" i="1"/>
              <a:t>i </a:t>
            </a:r>
            <a:r>
              <a:rPr lang="en-US" altLang="zh-CN" sz="2100"/>
              <a:t>( 0 </a:t>
            </a:r>
            <a:r>
              <a:rPr lang="en-US" altLang="zh-CN" sz="2100">
                <a:sym typeface="Symbol" panose="05050102010706020507" pitchFamily="18" charset="2"/>
              </a:rPr>
              <a:t> </a:t>
            </a:r>
            <a:r>
              <a:rPr lang="en-US" altLang="zh-CN" sz="2100" i="1"/>
              <a:t>i </a:t>
            </a:r>
            <a:r>
              <a:rPr lang="en-US" altLang="zh-CN" sz="2100"/>
              <a:t>&lt; </a:t>
            </a:r>
            <a:r>
              <a:rPr lang="en-US" altLang="zh-CN" sz="2100" i="1"/>
              <a:t>n </a:t>
            </a:r>
            <a:r>
              <a:rPr lang="en-US" altLang="zh-CN" sz="2100"/>
              <a:t>)</a:t>
            </a:r>
            <a:r>
              <a:rPr lang="zh-CN" altLang="en-US" sz="2100"/>
              <a:t>搜索成功的概率相同，均为 </a:t>
            </a:r>
            <a:r>
              <a:rPr lang="en-US" altLang="zh-CN" sz="2100" i="1"/>
              <a:t>p</a:t>
            </a:r>
            <a:r>
              <a:rPr lang="en-US" altLang="zh-CN" sz="2100"/>
              <a:t>/</a:t>
            </a:r>
            <a:r>
              <a:rPr lang="en-US" altLang="zh-CN" sz="2100" i="1"/>
              <a:t>n</a:t>
            </a:r>
            <a:r>
              <a:rPr lang="zh-CN" altLang="en-US" sz="2100"/>
              <a:t>。</a:t>
            </a:r>
            <a:endParaRPr lang="zh-CN" altLang="en-US" sz="210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3961-B21C-4523-9642-09777326A854}" type="slidenum">
              <a:rPr lang="en-US" altLang="zh-CN"/>
            </a:fld>
            <a:endParaRPr lang="en-US" altLang="zh-CN"/>
          </a:p>
        </p:txBody>
      </p:sp>
      <p:sp>
        <p:nvSpPr>
          <p:cNvPr id="43011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3012" name="Object 4"/>
          <p:cNvGraphicFramePr>
            <a:graphicFrameLocks noChangeAspect="1"/>
          </p:cNvGraphicFramePr>
          <p:nvPr/>
        </p:nvGraphicFramePr>
        <p:xfrm>
          <a:off x="1619250" y="3213100"/>
          <a:ext cx="3168650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4" name="公式" r:id="rId1" imgW="1473200" imgH="355600" progId="Equation.3">
                  <p:embed/>
                </p:oleObj>
              </mc:Choice>
              <mc:Fallback>
                <p:oleObj name="公式" r:id="rId1" imgW="1473200" imgH="355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3213100"/>
                        <a:ext cx="3168650" cy="757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1619250" y="4076700"/>
          <a:ext cx="5688013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5" name="公式" r:id="rId3" imgW="2819400" imgH="431800" progId="Equation.3">
                  <p:embed/>
                </p:oleObj>
              </mc:Choice>
              <mc:Fallback>
                <p:oleObj name="公式" r:id="rId3" imgW="28194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076700"/>
                        <a:ext cx="5688013" cy="865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619250" y="5086350"/>
          <a:ext cx="504031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6" name="公式" r:id="rId5" imgW="2438400" imgH="431800" progId="Equation.3">
                  <p:embed/>
                </p:oleObj>
              </mc:Choice>
              <mc:Fallback>
                <p:oleObj name="公式" r:id="rId5" imgW="2438400" imgH="431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086350"/>
                        <a:ext cx="5040313" cy="885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872" y="260648"/>
            <a:ext cx="8229600" cy="638944"/>
          </a:xfrm>
        </p:spPr>
        <p:txBody>
          <a:bodyPr/>
          <a:lstStyle/>
          <a:p>
            <a:r>
              <a:rPr lang="zh-CN" altLang="en-US" sz="2900" b="1" dirty="0">
                <a:solidFill>
                  <a:srgbClr val="3907F1"/>
                </a:solidFill>
              </a:rPr>
              <a:t>算法分析的基本法则</a:t>
            </a:r>
            <a:endParaRPr lang="zh-CN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900113" y="981075"/>
            <a:ext cx="7772400" cy="4824413"/>
          </a:xfrm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500" b="1" dirty="0">
                <a:solidFill>
                  <a:srgbClr val="3907F1"/>
                </a:solidFill>
              </a:rPr>
              <a:t>非递归算法：</a:t>
            </a:r>
            <a:endParaRPr lang="zh-CN" altLang="en-US" sz="2500" b="1" dirty="0">
              <a:solidFill>
                <a:srgbClr val="3907F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1</a:t>
            </a:r>
            <a:r>
              <a:rPr lang="zh-CN" altLang="en-US" sz="2100" dirty="0"/>
              <a:t>）</a:t>
            </a:r>
            <a:r>
              <a:rPr lang="en-US" altLang="zh-CN" sz="2100" dirty="0"/>
              <a:t>for / while </a:t>
            </a:r>
            <a:r>
              <a:rPr lang="zh-CN" altLang="en-US" sz="2100" dirty="0"/>
              <a:t>循环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循环体内计算时间*循环次数；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2</a:t>
            </a:r>
            <a:r>
              <a:rPr lang="zh-CN" altLang="en-US" sz="2100" dirty="0"/>
              <a:t>）嵌套循环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循环体内计算时间*所有循环次数；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3</a:t>
            </a:r>
            <a:r>
              <a:rPr lang="zh-CN" altLang="en-US" sz="2100" dirty="0"/>
              <a:t>）顺序语句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各语句计算时间相加；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100" dirty="0"/>
              <a:t>（</a:t>
            </a:r>
            <a:r>
              <a:rPr lang="en-US" altLang="zh-CN" sz="2100" dirty="0"/>
              <a:t>4</a:t>
            </a:r>
            <a:r>
              <a:rPr lang="zh-CN" altLang="en-US" sz="2100" dirty="0"/>
              <a:t>）</a:t>
            </a:r>
            <a:r>
              <a:rPr lang="en-US" altLang="zh-CN" sz="2100" dirty="0"/>
              <a:t>if-else</a:t>
            </a:r>
            <a:r>
              <a:rPr lang="zh-CN" altLang="en-US" sz="2100" dirty="0"/>
              <a:t>语句</a:t>
            </a:r>
            <a:endParaRPr lang="zh-CN" altLang="en-US" sz="21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100" dirty="0"/>
              <a:t>if</a:t>
            </a:r>
            <a:r>
              <a:rPr lang="zh-CN" altLang="en-US" sz="2100" dirty="0"/>
              <a:t>语句计算时间和</a:t>
            </a:r>
            <a:r>
              <a:rPr lang="en-US" altLang="zh-CN" sz="2100" dirty="0"/>
              <a:t>else</a:t>
            </a:r>
            <a:r>
              <a:rPr lang="zh-CN" altLang="en-US" sz="2100" dirty="0"/>
              <a:t>语句计算时间的较大者。</a:t>
            </a:r>
            <a:endParaRPr lang="zh-CN" altLang="en-US" sz="210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CDE75-7B49-4CD9-802D-2E763F4D9F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D87474-9A01-4027-90E3-A4A4764EB125}" type="slidenum">
              <a:rPr lang="en-US" altLang="zh-CN"/>
            </a:fld>
            <a:endParaRPr lang="en-US" altLang="zh-CN"/>
          </a:p>
        </p:txBody>
      </p:sp>
      <p:sp>
        <p:nvSpPr>
          <p:cNvPr id="45058" name="AutoShape 2"/>
          <p:cNvSpPr>
            <a:spLocks noChangeArrowheads="1"/>
          </p:cNvSpPr>
          <p:nvPr/>
        </p:nvSpPr>
        <p:spPr bwMode="auto">
          <a:xfrm>
            <a:off x="1043608" y="764182"/>
            <a:ext cx="7200900" cy="5545138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lnSpc>
                <a:spcPct val="120000"/>
              </a:lnSpc>
            </a:pPr>
            <a:r>
              <a:rPr kumimoji="1" lang="en-US" altLang="zh-CN" sz="2000" dirty="0"/>
              <a:t>template&lt;class Type&gt;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void </a:t>
            </a:r>
            <a:r>
              <a:rPr kumimoji="1" lang="en-US" altLang="zh-CN" sz="2000" dirty="0" err="1"/>
              <a:t>insertion_sort</a:t>
            </a:r>
            <a:r>
              <a:rPr kumimoji="1" lang="en-US" altLang="zh-CN" sz="2000" dirty="0"/>
              <a:t>(Type *a, </a:t>
            </a:r>
            <a:r>
              <a:rPr kumimoji="1" lang="en-US" altLang="zh-CN" sz="2000" dirty="0" err="1"/>
              <a:t>int</a:t>
            </a:r>
            <a:r>
              <a:rPr kumimoji="1" lang="en-US" altLang="zh-CN" sz="2000" dirty="0"/>
              <a:t> n)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{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    Type key;                                      //   </a:t>
            </a:r>
            <a:r>
              <a:rPr kumimoji="1" lang="en-US" altLang="zh-CN" sz="2000" dirty="0">
                <a:solidFill>
                  <a:srgbClr val="F72401"/>
                </a:solidFill>
              </a:rPr>
              <a:t>cost        times</a:t>
            </a:r>
            <a:endParaRPr kumimoji="1" lang="en-US" altLang="zh-CN" sz="2000" dirty="0">
              <a:solidFill>
                <a:srgbClr val="F7240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    for (</a:t>
            </a:r>
            <a:r>
              <a:rPr kumimoji="1" lang="en-US" altLang="zh-CN" sz="2000" dirty="0" err="1"/>
              <a:t>int</a:t>
            </a:r>
            <a:r>
              <a:rPr kumimoji="1" lang="en-US" altLang="zh-CN" sz="2000" dirty="0"/>
              <a:t> </a:t>
            </a:r>
            <a:r>
              <a:rPr kumimoji="1" lang="en-US" altLang="zh-CN" sz="2000" dirty="0" err="1"/>
              <a:t>i</a:t>
            </a:r>
            <a:r>
              <a:rPr kumimoji="1" lang="en-US" altLang="zh-CN" sz="2000" dirty="0"/>
              <a:t> = 1; </a:t>
            </a:r>
            <a:r>
              <a:rPr kumimoji="1" lang="en-US" altLang="zh-CN" sz="2000" dirty="0" err="1"/>
              <a:t>i</a:t>
            </a:r>
            <a:r>
              <a:rPr kumimoji="1" lang="en-US" altLang="zh-CN" sz="2000" dirty="0"/>
              <a:t> &lt; n; </a:t>
            </a:r>
            <a:r>
              <a:rPr kumimoji="1" lang="en-US" altLang="zh-CN" sz="2000" dirty="0" err="1"/>
              <a:t>i</a:t>
            </a:r>
            <a:r>
              <a:rPr kumimoji="1" lang="en-US" altLang="zh-CN" sz="2000" dirty="0"/>
              <a:t>++){          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c1          n</a:t>
            </a:r>
            <a:r>
              <a:rPr kumimoji="1" lang="en-US" altLang="zh-CN" sz="2000" dirty="0"/>
              <a:t>   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          key=a[</a:t>
            </a:r>
            <a:r>
              <a:rPr kumimoji="1" lang="en-US" altLang="zh-CN" sz="2000" dirty="0" err="1"/>
              <a:t>i</a:t>
            </a:r>
            <a:r>
              <a:rPr kumimoji="1" lang="en-US" altLang="zh-CN" sz="2000" dirty="0"/>
              <a:t>];                           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c2          n-1</a:t>
            </a:r>
            <a:r>
              <a:rPr kumimoji="1" lang="en-US" altLang="zh-CN" sz="2000" dirty="0"/>
              <a:t> 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          </a:t>
            </a:r>
            <a:r>
              <a:rPr kumimoji="1" lang="en-US" altLang="zh-CN" sz="2000" dirty="0" err="1"/>
              <a:t>int</a:t>
            </a:r>
            <a:r>
              <a:rPr kumimoji="1" lang="en-US" altLang="zh-CN" sz="2000" dirty="0"/>
              <a:t> j=i-1;                            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c3          n-1</a:t>
            </a:r>
            <a:r>
              <a:rPr kumimoji="1" lang="en-US" altLang="zh-CN" sz="2000" dirty="0"/>
              <a:t> 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          while( j&gt;=0 &amp;&amp; a[j]&gt;key ){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c4          sum of </a:t>
            </a:r>
            <a:r>
              <a:rPr kumimoji="1" lang="en-US" altLang="zh-CN" sz="2000" dirty="0" err="1">
                <a:solidFill>
                  <a:srgbClr val="3907F1"/>
                </a:solidFill>
              </a:rPr>
              <a:t>ti</a:t>
            </a:r>
            <a:endParaRPr kumimoji="1" lang="en-US" altLang="zh-CN" sz="2000" dirty="0">
              <a:solidFill>
                <a:srgbClr val="3907F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	 a[j+1]=a[j];                   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c5          sum of (ti-1)</a:t>
            </a:r>
            <a:r>
              <a:rPr kumimoji="1" lang="en-US" altLang="zh-CN" sz="2000" dirty="0"/>
              <a:t>  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	 j--;                                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c6          sum </a:t>
            </a:r>
            <a:r>
              <a:rPr kumimoji="1" lang="en-US" altLang="zh-CN" sz="2000" dirty="0" smtClean="0">
                <a:solidFill>
                  <a:srgbClr val="3907F1"/>
                </a:solidFill>
              </a:rPr>
              <a:t>of </a:t>
            </a:r>
            <a:r>
              <a:rPr kumimoji="1" lang="en-US" altLang="zh-CN" sz="2000" dirty="0">
                <a:solidFill>
                  <a:srgbClr val="3907F1"/>
                </a:solidFill>
              </a:rPr>
              <a:t>(ti-1)</a:t>
            </a:r>
            <a:endParaRPr kumimoji="1" lang="en-US" altLang="zh-CN" sz="2000" dirty="0">
              <a:solidFill>
                <a:srgbClr val="3907F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	 }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         a[j+1]=key;                              //    </a:t>
            </a:r>
            <a:r>
              <a:rPr kumimoji="1" lang="en-US" altLang="zh-CN" sz="2000" dirty="0">
                <a:solidFill>
                  <a:srgbClr val="3907F1"/>
                </a:solidFill>
              </a:rPr>
              <a:t>c7          n-1</a:t>
            </a:r>
            <a:endParaRPr kumimoji="1" lang="en-US" altLang="zh-CN" sz="2000" dirty="0">
              <a:solidFill>
                <a:srgbClr val="3907F1"/>
              </a:solidFill>
            </a:endParaRPr>
          </a:p>
          <a:p>
            <a:pPr>
              <a:lnSpc>
                <a:spcPct val="120000"/>
              </a:lnSpc>
            </a:pPr>
            <a:r>
              <a:rPr kumimoji="1" lang="en-US" altLang="zh-CN" sz="2000" dirty="0">
                <a:solidFill>
                  <a:srgbClr val="3907F1"/>
                </a:solidFill>
              </a:rPr>
              <a:t>        </a:t>
            </a:r>
            <a:r>
              <a:rPr kumimoji="1" lang="en-US" altLang="zh-CN" sz="2000" dirty="0"/>
              <a:t>}</a:t>
            </a:r>
            <a:endParaRPr kumimoji="1" lang="en-US" altLang="zh-CN" sz="2000" dirty="0"/>
          </a:p>
          <a:p>
            <a:pPr>
              <a:lnSpc>
                <a:spcPct val="120000"/>
              </a:lnSpc>
            </a:pPr>
            <a:r>
              <a:rPr kumimoji="1" lang="en-US" altLang="zh-CN" sz="2000" dirty="0"/>
              <a:t>}</a:t>
            </a:r>
            <a:endParaRPr kumimoji="1" lang="en-US" altLang="zh-CN" sz="2000" dirty="0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idx="1"/>
          </p:nvPr>
        </p:nvSpPr>
        <p:spPr>
          <a:xfrm>
            <a:off x="611188" y="909638"/>
            <a:ext cx="7772400" cy="2159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100"/>
              <a:t>在最好情况下，</a:t>
            </a:r>
            <a:r>
              <a:rPr lang="en-US" altLang="zh-CN" sz="2100" i="1"/>
              <a:t>t</a:t>
            </a:r>
            <a:r>
              <a:rPr lang="en-US" altLang="zh-CN" sz="2100" baseline="-25000"/>
              <a:t>i</a:t>
            </a:r>
            <a:r>
              <a:rPr lang="en-US" altLang="zh-CN" sz="2100"/>
              <a:t>=1, for 1 </a:t>
            </a:r>
            <a:r>
              <a:rPr lang="en-US" altLang="zh-CN" sz="2100">
                <a:sym typeface="Symbol" panose="05050102010706020507" pitchFamily="18" charset="2"/>
              </a:rPr>
              <a:t></a:t>
            </a:r>
            <a:r>
              <a:rPr lang="en-US" altLang="zh-CN" sz="2100"/>
              <a:t> </a:t>
            </a:r>
            <a:r>
              <a:rPr lang="en-US" altLang="zh-CN" sz="2100" i="1"/>
              <a:t>i </a:t>
            </a:r>
            <a:r>
              <a:rPr lang="en-US" altLang="zh-CN" sz="2100"/>
              <a:t>&lt;</a:t>
            </a:r>
            <a:r>
              <a:rPr lang="en-US" altLang="zh-CN" sz="2100" i="1"/>
              <a:t>n</a:t>
            </a:r>
            <a:r>
              <a:rPr lang="en-US" altLang="zh-CN" sz="2100"/>
              <a:t>;</a:t>
            </a:r>
            <a:endParaRPr lang="en-US" altLang="zh-CN" sz="2100"/>
          </a:p>
          <a:p>
            <a:pPr>
              <a:lnSpc>
                <a:spcPct val="90000"/>
              </a:lnSpc>
            </a:pPr>
            <a:endParaRPr lang="en-US" altLang="zh-CN" sz="2100"/>
          </a:p>
          <a:p>
            <a:pPr>
              <a:lnSpc>
                <a:spcPct val="90000"/>
              </a:lnSpc>
            </a:pPr>
            <a:endParaRPr lang="en-US" altLang="zh-CN" sz="2100"/>
          </a:p>
          <a:p>
            <a:pPr>
              <a:lnSpc>
                <a:spcPct val="90000"/>
              </a:lnSpc>
            </a:pPr>
            <a:endParaRPr lang="en-US" altLang="zh-CN" sz="2100"/>
          </a:p>
          <a:p>
            <a:pPr>
              <a:lnSpc>
                <a:spcPct val="90000"/>
              </a:lnSpc>
            </a:pPr>
            <a:endParaRPr lang="en-US" altLang="zh-CN" sz="2100"/>
          </a:p>
          <a:p>
            <a:pPr>
              <a:lnSpc>
                <a:spcPct val="90000"/>
              </a:lnSpc>
            </a:pPr>
            <a:r>
              <a:rPr lang="zh-CN" altLang="en-US" sz="2100"/>
              <a:t>在最坏情况下，</a:t>
            </a:r>
            <a:r>
              <a:rPr lang="en-US" altLang="zh-CN" sz="2100" i="1"/>
              <a:t>t</a:t>
            </a:r>
            <a:r>
              <a:rPr lang="en-US" altLang="zh-CN" sz="2100" baseline="-25000"/>
              <a:t>i </a:t>
            </a:r>
            <a:r>
              <a:rPr lang="en-US" altLang="zh-CN" sz="2100">
                <a:sym typeface="Symbol" panose="05050102010706020507" pitchFamily="18" charset="2"/>
              </a:rPr>
              <a:t></a:t>
            </a:r>
            <a:r>
              <a:rPr lang="en-US" altLang="zh-CN" sz="2100"/>
              <a:t> </a:t>
            </a:r>
            <a:r>
              <a:rPr lang="en-US" altLang="zh-CN" sz="2100" i="1"/>
              <a:t>i</a:t>
            </a:r>
            <a:r>
              <a:rPr lang="en-US" altLang="zh-CN" sz="2100"/>
              <a:t>+1, for 1 </a:t>
            </a:r>
            <a:r>
              <a:rPr lang="en-US" altLang="zh-CN" sz="2100">
                <a:sym typeface="Symbol" panose="05050102010706020507" pitchFamily="18" charset="2"/>
              </a:rPr>
              <a:t></a:t>
            </a:r>
            <a:r>
              <a:rPr lang="en-US" altLang="zh-CN" sz="2100"/>
              <a:t> </a:t>
            </a:r>
            <a:r>
              <a:rPr lang="en-US" altLang="zh-CN" sz="2100" i="1"/>
              <a:t>i </a:t>
            </a:r>
            <a:r>
              <a:rPr lang="en-US" altLang="zh-CN" sz="2100"/>
              <a:t>&lt;</a:t>
            </a:r>
            <a:r>
              <a:rPr lang="en-US" altLang="zh-CN" sz="2100" i="1"/>
              <a:t>n</a:t>
            </a:r>
            <a:r>
              <a:rPr lang="en-US" altLang="zh-CN" sz="2100"/>
              <a:t>;</a:t>
            </a:r>
            <a:endParaRPr lang="en-US" altLang="zh-CN" sz="2100"/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CE900-F5CB-4A4F-8B56-7734B158D561}" type="slidenum">
              <a:rPr lang="en-US" altLang="zh-CN"/>
            </a:fld>
            <a:endParaRPr lang="en-US" altLang="zh-CN"/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612775" y="188913"/>
          <a:ext cx="77422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9" name="公式" r:id="rId1" imgW="4914900" imgH="431800" progId="Equation.3">
                  <p:embed/>
                </p:oleObj>
              </mc:Choice>
              <mc:Fallback>
                <p:oleObj name="公式" r:id="rId1" imgW="49149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188913"/>
                        <a:ext cx="7742238" cy="698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1046163" y="1485900"/>
          <a:ext cx="53276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0" name="公式" r:id="rId3" imgW="3276600" imgH="228600" progId="Equation.3">
                  <p:embed/>
                </p:oleObj>
              </mc:Choice>
              <mc:Fallback>
                <p:oleObj name="公式" r:id="rId3" imgW="32766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1485900"/>
                        <a:ext cx="532765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7" name="Rectangle 7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88" name="Object 8"/>
          <p:cNvGraphicFramePr>
            <a:graphicFrameLocks noChangeAspect="1"/>
          </p:cNvGraphicFramePr>
          <p:nvPr/>
        </p:nvGraphicFramePr>
        <p:xfrm>
          <a:off x="1046163" y="2133600"/>
          <a:ext cx="4751387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1" name="公式" r:id="rId5" imgW="3073400" imgH="228600" progId="Equation.3">
                  <p:embed/>
                </p:oleObj>
              </mc:Choice>
              <mc:Fallback>
                <p:oleObj name="公式" r:id="rId5" imgW="30734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2133600"/>
                        <a:ext cx="4751387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Rectangle 9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90" name="Object 10"/>
          <p:cNvGraphicFramePr>
            <a:graphicFrameLocks noChangeAspect="1"/>
          </p:cNvGraphicFramePr>
          <p:nvPr/>
        </p:nvGraphicFramePr>
        <p:xfrm>
          <a:off x="1046163" y="3286125"/>
          <a:ext cx="201612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2" name="公式" r:id="rId7" imgW="1409065" imgH="431800" progId="Equation.3">
                  <p:embed/>
                </p:oleObj>
              </mc:Choice>
              <mc:Fallback>
                <p:oleObj name="公式" r:id="rId7" imgW="1409065" imgH="431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3286125"/>
                        <a:ext cx="2016125" cy="612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1" name="Rectangle 11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/>
        </p:nvGraphicFramePr>
        <p:xfrm>
          <a:off x="3638550" y="3286125"/>
          <a:ext cx="1439863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3" name="公式" r:id="rId9" imgW="914400" imgH="431800" progId="Equation.3">
                  <p:embed/>
                </p:oleObj>
              </mc:Choice>
              <mc:Fallback>
                <p:oleObj name="公式" r:id="rId9" imgW="914400" imgH="431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8550" y="3286125"/>
                        <a:ext cx="1439863" cy="67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Rectangle 13"/>
          <p:cNvSpPr>
            <a:spLocks noChangeArrowheads="1"/>
          </p:cNvSpPr>
          <p:nvPr/>
        </p:nvSpPr>
        <p:spPr bwMode="auto">
          <a:xfrm>
            <a:off x="0" y="2743200"/>
            <a:ext cx="8964613" cy="69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6094" name="Object 14"/>
          <p:cNvGraphicFramePr>
            <a:graphicFrameLocks noChangeAspect="1"/>
          </p:cNvGraphicFramePr>
          <p:nvPr/>
        </p:nvGraphicFramePr>
        <p:xfrm>
          <a:off x="1316038" y="4076700"/>
          <a:ext cx="6299200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4" name="公式" r:id="rId11" imgW="4140200" imgH="1371600" progId="Equation.3">
                  <p:embed/>
                </p:oleObj>
              </mc:Choice>
              <mc:Fallback>
                <p:oleObj name="公式" r:id="rId11" imgW="4140200" imgH="1371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4076700"/>
                        <a:ext cx="6299200" cy="2087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idx="1"/>
          </p:nvPr>
        </p:nvSpPr>
        <p:spPr>
          <a:xfrm>
            <a:off x="684213" y="404813"/>
            <a:ext cx="7772400" cy="56197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900"/>
              <a:t>对于输入数据</a:t>
            </a:r>
            <a:r>
              <a:rPr lang="en-US" altLang="zh-CN" sz="1900"/>
              <a:t>a[i]=n-i,i=0,1,…,n-1</a:t>
            </a:r>
            <a:r>
              <a:rPr lang="zh-CN" altLang="en-US" sz="1900"/>
              <a:t>，算法</a:t>
            </a:r>
            <a:r>
              <a:rPr lang="en-US" altLang="zh-CN" sz="1900"/>
              <a:t>insertion_sort </a:t>
            </a:r>
            <a:r>
              <a:rPr lang="zh-CN" altLang="en-US" sz="1900"/>
              <a:t>达到其最坏情形。因此，</a:t>
            </a:r>
            <a:endParaRPr lang="zh-CN" altLang="en-US" sz="1900"/>
          </a:p>
          <a:p>
            <a:pPr>
              <a:lnSpc>
                <a:spcPct val="150000"/>
              </a:lnSpc>
            </a:pPr>
            <a:endParaRPr lang="zh-CN" altLang="en-US" sz="1900"/>
          </a:p>
          <a:p>
            <a:pPr>
              <a:lnSpc>
                <a:spcPct val="150000"/>
              </a:lnSpc>
            </a:pPr>
            <a:endParaRPr lang="zh-CN" altLang="en-US" sz="1900"/>
          </a:p>
          <a:p>
            <a:pPr>
              <a:lnSpc>
                <a:spcPct val="150000"/>
              </a:lnSpc>
            </a:pPr>
            <a:endParaRPr lang="zh-CN" altLang="en-US" sz="1900"/>
          </a:p>
          <a:p>
            <a:pPr>
              <a:lnSpc>
                <a:spcPct val="150000"/>
              </a:lnSpc>
            </a:pPr>
            <a:r>
              <a:rPr lang="zh-CN" altLang="en-US" sz="1900"/>
              <a:t>由此可见，</a:t>
            </a:r>
            <a:r>
              <a:rPr lang="en-US" altLang="zh-CN" sz="1900" i="1"/>
              <a:t>T</a:t>
            </a:r>
            <a:r>
              <a:rPr lang="en-US" altLang="zh-CN" sz="1900" baseline="-25000"/>
              <a:t>max</a:t>
            </a:r>
            <a:r>
              <a:rPr lang="en-US" altLang="zh-CN" sz="1900"/>
              <a:t>(</a:t>
            </a:r>
            <a:r>
              <a:rPr lang="en-US" altLang="zh-CN" sz="1900" i="1"/>
              <a:t>n</a:t>
            </a:r>
            <a:r>
              <a:rPr lang="en-US" altLang="zh-CN" sz="1900"/>
              <a:t>)= </a:t>
            </a:r>
            <a:r>
              <a:rPr lang="en-US" altLang="zh-CN" sz="1900">
                <a:sym typeface="Symbol" panose="05050102010706020507" pitchFamily="18" charset="2"/>
              </a:rPr>
              <a:t></a:t>
            </a:r>
            <a:r>
              <a:rPr lang="en-US" altLang="zh-CN" sz="1900"/>
              <a:t>(</a:t>
            </a:r>
            <a:r>
              <a:rPr lang="en-US" altLang="zh-CN" sz="1900" i="1"/>
              <a:t>n</a:t>
            </a:r>
            <a:r>
              <a:rPr lang="en-US" altLang="zh-CN" sz="1900" baseline="30000"/>
              <a:t>2</a:t>
            </a:r>
            <a:r>
              <a:rPr lang="en-US" altLang="zh-CN" sz="1900"/>
              <a:t>)</a:t>
            </a:r>
            <a:endParaRPr lang="en-US" altLang="zh-CN" sz="19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72336-82EE-44DB-B613-5401B29ED93C}" type="slidenum">
              <a:rPr lang="en-US" altLang="zh-CN"/>
            </a:fld>
            <a:endParaRPr lang="en-US" altLang="zh-CN"/>
          </a:p>
        </p:txBody>
      </p:sp>
      <p:sp>
        <p:nvSpPr>
          <p:cNvPr id="47107" name="Rectangle 3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7108" name="Object 4"/>
          <p:cNvGraphicFramePr>
            <a:graphicFrameLocks noChangeAspect="1"/>
          </p:cNvGraphicFramePr>
          <p:nvPr/>
        </p:nvGraphicFramePr>
        <p:xfrm>
          <a:off x="971550" y="1628775"/>
          <a:ext cx="7812088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18" name="公式" r:id="rId1" imgW="4965700" imgH="685800" progId="Equation.3">
                  <p:embed/>
                </p:oleObj>
              </mc:Choice>
              <mc:Fallback>
                <p:oleObj name="公式" r:id="rId1" imgW="496570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28775"/>
                        <a:ext cx="7812088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500" b="1">
                <a:solidFill>
                  <a:srgbClr val="3907F1"/>
                </a:solidFill>
              </a:rPr>
              <a:t>最优算法</a:t>
            </a:r>
            <a:endParaRPr lang="zh-CN" altLang="en-US" sz="2500" b="1">
              <a:solidFill>
                <a:srgbClr val="3907F1"/>
              </a:solidFill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900"/>
              <a:t>问题的计算时间下界为</a:t>
            </a:r>
            <a:r>
              <a:rPr lang="zh-CN" altLang="en-US" sz="1900">
                <a:sym typeface="Symbol" panose="05050102010706020507" pitchFamily="18" charset="2"/>
              </a:rPr>
              <a:t></a:t>
            </a:r>
            <a:r>
              <a:rPr lang="en-US" altLang="zh-CN" sz="1900"/>
              <a:t>(</a:t>
            </a:r>
            <a:r>
              <a:rPr lang="en-US" altLang="zh-CN" sz="1900" i="1"/>
              <a:t>f</a:t>
            </a:r>
            <a:r>
              <a:rPr lang="en-US" altLang="zh-CN" sz="1900"/>
              <a:t>(</a:t>
            </a:r>
            <a:r>
              <a:rPr lang="en-US" altLang="zh-CN" sz="1900" i="1"/>
              <a:t>n</a:t>
            </a:r>
            <a:r>
              <a:rPr lang="en-US" altLang="zh-CN" sz="1900"/>
              <a:t>))</a:t>
            </a:r>
            <a:r>
              <a:rPr lang="zh-CN" altLang="en-US" sz="1900"/>
              <a:t>，则计算时间复杂性为</a:t>
            </a:r>
            <a:r>
              <a:rPr lang="en-US" altLang="zh-CN" sz="1900"/>
              <a:t>O(</a:t>
            </a:r>
            <a:r>
              <a:rPr lang="en-US" altLang="zh-CN" sz="1900" i="1"/>
              <a:t>f</a:t>
            </a:r>
            <a:r>
              <a:rPr lang="en-US" altLang="zh-CN" sz="1900"/>
              <a:t>(</a:t>
            </a:r>
            <a:r>
              <a:rPr lang="en-US" altLang="zh-CN" sz="1900" i="1"/>
              <a:t>n</a:t>
            </a:r>
            <a:r>
              <a:rPr lang="en-US" altLang="zh-CN" sz="1900"/>
              <a:t>))</a:t>
            </a:r>
            <a:r>
              <a:rPr lang="zh-CN" altLang="en-US" sz="1900"/>
              <a:t>的算法是最优算法。</a:t>
            </a:r>
            <a:endParaRPr lang="zh-CN" altLang="en-US" sz="1900"/>
          </a:p>
          <a:p>
            <a:pPr>
              <a:lnSpc>
                <a:spcPct val="150000"/>
              </a:lnSpc>
            </a:pPr>
            <a:r>
              <a:rPr lang="zh-CN" altLang="en-US" sz="1900"/>
              <a:t>例如，排序问题的计算时间下界为</a:t>
            </a:r>
            <a:r>
              <a:rPr lang="zh-CN" altLang="en-US" sz="1900">
                <a:sym typeface="Symbol" panose="05050102010706020507" pitchFamily="18" charset="2"/>
              </a:rPr>
              <a:t></a:t>
            </a:r>
            <a:r>
              <a:rPr lang="en-US" altLang="zh-CN" sz="1900"/>
              <a:t>(</a:t>
            </a:r>
            <a:r>
              <a:rPr lang="en-US" altLang="zh-CN" sz="1900" i="1"/>
              <a:t>n</a:t>
            </a:r>
            <a:r>
              <a:rPr lang="en-US" altLang="zh-CN" sz="1900"/>
              <a:t>log</a:t>
            </a:r>
            <a:r>
              <a:rPr lang="en-US" altLang="zh-CN" sz="1900" i="1"/>
              <a:t>n</a:t>
            </a:r>
            <a:r>
              <a:rPr lang="en-US" altLang="zh-CN" sz="1900"/>
              <a:t>)</a:t>
            </a:r>
            <a:r>
              <a:rPr lang="zh-CN" altLang="en-US" sz="1900"/>
              <a:t>，计算时间复杂性为</a:t>
            </a:r>
            <a:r>
              <a:rPr lang="en-US" altLang="zh-CN" sz="1900" i="1">
                <a:sym typeface="Symbol" panose="05050102010706020507" pitchFamily="18" charset="2"/>
              </a:rPr>
              <a:t>O</a:t>
            </a:r>
            <a:r>
              <a:rPr lang="en-US" altLang="zh-CN" sz="1900"/>
              <a:t>(</a:t>
            </a:r>
            <a:r>
              <a:rPr lang="en-US" altLang="zh-CN" sz="1900" i="1"/>
              <a:t>n</a:t>
            </a:r>
            <a:r>
              <a:rPr lang="en-US" altLang="zh-CN" sz="1900"/>
              <a:t>log</a:t>
            </a:r>
            <a:r>
              <a:rPr lang="en-US" altLang="zh-CN" sz="1900" i="1"/>
              <a:t>n</a:t>
            </a:r>
            <a:r>
              <a:rPr lang="en-US" altLang="zh-CN" sz="1900"/>
              <a:t>)</a:t>
            </a:r>
            <a:r>
              <a:rPr lang="zh-CN" altLang="en-US" sz="1900"/>
              <a:t>的排序算法是最优算法。</a:t>
            </a:r>
            <a:endParaRPr lang="zh-CN" altLang="en-US" sz="1900"/>
          </a:p>
          <a:p>
            <a:pPr>
              <a:lnSpc>
                <a:spcPct val="150000"/>
              </a:lnSpc>
            </a:pPr>
            <a:r>
              <a:rPr lang="zh-CN" altLang="en-US" sz="1900"/>
              <a:t>堆排序算法是最优算法。</a:t>
            </a:r>
            <a:endParaRPr lang="zh-CN" altLang="en-US" sz="26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4197-9362-4204-946C-041646D6B45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课堂练习</a:t>
            </a:r>
            <a:endParaRPr lang="zh-CN" altLang="en-US"/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400"/>
              <a:t>课后习题</a:t>
            </a:r>
            <a:endParaRPr lang="zh-CN" altLang="en-US" sz="3400"/>
          </a:p>
          <a:p>
            <a:pPr lvl="1"/>
            <a:r>
              <a:rPr lang="en-US" altLang="zh-CN" sz="3500"/>
              <a:t>1-5</a:t>
            </a:r>
            <a:endParaRPr lang="en-US" altLang="zh-CN" sz="3500"/>
          </a:p>
          <a:p>
            <a:pPr lvl="1"/>
            <a:r>
              <a:rPr lang="en-US" altLang="zh-CN" sz="3500"/>
              <a:t>1-10</a:t>
            </a:r>
            <a:endParaRPr lang="en-US" altLang="zh-CN" sz="3500"/>
          </a:p>
          <a:p>
            <a:endParaRPr lang="en-US" altLang="zh-CN" sz="340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15EDC4-5E89-4432-AAF2-09E3B3A03FEA}" type="slidenum">
              <a:rPr lang="en-US" altLang="zh-CN"/>
            </a:fld>
            <a:endParaRPr lang="en-US" altLang="zh-CN"/>
          </a:p>
        </p:txBody>
      </p:sp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1196975"/>
            <a:ext cx="4216400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今日任务</a:t>
            </a:r>
            <a:endParaRPr lang="zh-CN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/>
              <a:t>规则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f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))+</a:t>
            </a:r>
            <a:r>
              <a:rPr lang="en-US" altLang="zh-CN" sz="2400" i="1" dirty="0"/>
              <a:t>O</a:t>
            </a:r>
            <a:r>
              <a:rPr lang="en-US" altLang="zh-CN" sz="2400" dirty="0"/>
              <a:t>(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)) </a:t>
            </a:r>
            <a:r>
              <a:rPr lang="en-US" altLang="zh-CN" sz="2400" dirty="0">
                <a:sym typeface="Symbol" panose="05050102010706020507" pitchFamily="18" charset="2"/>
              </a:rPr>
              <a:t>=</a:t>
            </a:r>
            <a:r>
              <a:rPr lang="en-US" altLang="zh-CN" sz="2400" dirty="0"/>
              <a:t> </a:t>
            </a:r>
            <a:r>
              <a:rPr lang="en-US" altLang="zh-CN" sz="2400" i="1" dirty="0"/>
              <a:t>O</a:t>
            </a:r>
            <a:r>
              <a:rPr lang="en-US" altLang="zh-CN" sz="2400" dirty="0"/>
              <a:t>(max{</a:t>
            </a:r>
            <a:r>
              <a:rPr lang="en-US" altLang="zh-CN" sz="2400" i="1" dirty="0"/>
              <a:t>f</a:t>
            </a:r>
            <a:r>
              <a:rPr lang="en-US" altLang="zh-CN" sz="2400" dirty="0"/>
              <a:t>(n),</a:t>
            </a:r>
            <a:r>
              <a:rPr lang="en-US" altLang="zh-CN" sz="2400" i="1" dirty="0"/>
              <a:t>g</a:t>
            </a:r>
            <a:r>
              <a:rPr lang="en-US" altLang="zh-CN" sz="2400" dirty="0"/>
              <a:t>(</a:t>
            </a:r>
            <a:r>
              <a:rPr lang="en-US" altLang="zh-CN" sz="2400" i="1" dirty="0"/>
              <a:t>n</a:t>
            </a:r>
            <a:r>
              <a:rPr lang="en-US" altLang="zh-CN" sz="2400" dirty="0"/>
              <a:t>)}) </a:t>
            </a:r>
            <a:r>
              <a:rPr lang="zh-CN" altLang="en-US" sz="2400" dirty="0"/>
              <a:t>的</a:t>
            </a:r>
            <a:r>
              <a:rPr lang="zh-CN" altLang="en-US" sz="2400" b="1" dirty="0" smtClean="0">
                <a:solidFill>
                  <a:srgbClr val="3907F1"/>
                </a:solidFill>
              </a:rPr>
              <a:t>证明</a:t>
            </a:r>
            <a:endParaRPr lang="en-US" altLang="zh-CN" sz="2400" b="1" dirty="0" smtClean="0">
              <a:solidFill>
                <a:srgbClr val="3907F1"/>
              </a:solidFill>
            </a:endParaRPr>
          </a:p>
          <a:p>
            <a:r>
              <a:rPr lang="zh-CN" altLang="en-US" sz="2400" b="1" dirty="0" smtClean="0">
                <a:solidFill>
                  <a:srgbClr val="3907F1"/>
                </a:solidFill>
              </a:rPr>
              <a:t>请同学们自行搜索</a:t>
            </a:r>
            <a:r>
              <a:rPr lang="en-US" altLang="zh-CN" sz="2400" b="1" dirty="0" err="1" smtClean="0">
                <a:solidFill>
                  <a:srgbClr val="3907F1"/>
                </a:solidFill>
              </a:rPr>
              <a:t>poj</a:t>
            </a:r>
            <a:r>
              <a:rPr lang="zh-CN" altLang="en-US" sz="2400" b="1" dirty="0" smtClean="0">
                <a:solidFill>
                  <a:srgbClr val="3907F1"/>
                </a:solidFill>
              </a:rPr>
              <a:t>，</a:t>
            </a:r>
            <a:r>
              <a:rPr lang="en-US" altLang="zh-CN" sz="2400" b="1" dirty="0" err="1" smtClean="0">
                <a:solidFill>
                  <a:srgbClr val="3907F1"/>
                </a:solidFill>
              </a:rPr>
              <a:t>xoj</a:t>
            </a:r>
            <a:r>
              <a:rPr lang="zh-CN" altLang="en-US" sz="2400" b="1" dirty="0" smtClean="0">
                <a:solidFill>
                  <a:srgbClr val="3907F1"/>
                </a:solidFill>
              </a:rPr>
              <a:t>，并注册自己的账号</a:t>
            </a:r>
            <a:endParaRPr lang="en-US" altLang="zh-CN" sz="2400" b="1" dirty="0" smtClean="0">
              <a:solidFill>
                <a:srgbClr val="3907F1"/>
              </a:solidFill>
            </a:endParaRPr>
          </a:p>
          <a:p>
            <a:r>
              <a:rPr lang="zh-CN" altLang="en-US" sz="2400" b="1" dirty="0" smtClean="0">
                <a:solidFill>
                  <a:srgbClr val="3907F1"/>
                </a:solidFill>
              </a:rPr>
              <a:t>完成</a:t>
            </a:r>
            <a:r>
              <a:rPr lang="en-US" altLang="zh-CN" sz="2400" b="1" dirty="0" smtClean="0">
                <a:solidFill>
                  <a:srgbClr val="3907F1"/>
                </a:solidFill>
              </a:rPr>
              <a:t>1001</a:t>
            </a:r>
            <a:r>
              <a:rPr lang="zh-CN" altLang="en-US" sz="2400" b="1" dirty="0" smtClean="0">
                <a:solidFill>
                  <a:srgbClr val="3907F1"/>
                </a:solidFill>
              </a:rPr>
              <a:t>题目（或者任意一题），并将运行通过画面截图上传到</a:t>
            </a:r>
            <a:r>
              <a:rPr lang="en-US" altLang="zh-CN" sz="2400" b="1" dirty="0" smtClean="0">
                <a:solidFill>
                  <a:srgbClr val="3907F1"/>
                </a:solidFill>
              </a:rPr>
              <a:t>course</a:t>
            </a:r>
            <a:r>
              <a:rPr lang="zh-CN" altLang="en-US" sz="2400" b="1" dirty="0" smtClean="0">
                <a:solidFill>
                  <a:srgbClr val="3907F1"/>
                </a:solidFill>
              </a:rPr>
              <a:t>网站</a:t>
            </a:r>
            <a:endParaRPr lang="en-US" altLang="zh-CN" sz="2400" b="1" dirty="0" smtClean="0">
              <a:solidFill>
                <a:srgbClr val="3907F1"/>
              </a:solidFill>
            </a:endParaRPr>
          </a:p>
          <a:p>
            <a:endParaRPr lang="en-US" altLang="zh-CN" sz="2400" b="1" dirty="0">
              <a:solidFill>
                <a:srgbClr val="3907F1"/>
              </a:solidFill>
            </a:endParaRPr>
          </a:p>
          <a:p>
            <a:endParaRPr lang="en-US" altLang="zh-CN" sz="2400" b="1" dirty="0">
              <a:solidFill>
                <a:srgbClr val="3907F1"/>
              </a:solidFill>
            </a:endParaRPr>
          </a:p>
          <a:p>
            <a:r>
              <a:rPr lang="zh-CN" altLang="en-US" dirty="0" smtClean="0"/>
              <a:t>补充</a:t>
            </a:r>
            <a:r>
              <a:rPr lang="zh-CN" altLang="en-US" dirty="0"/>
              <a:t>题目：</a:t>
            </a:r>
            <a:endParaRPr lang="zh-CN" altLang="en-US" dirty="0"/>
          </a:p>
          <a:p>
            <a:pPr lvl="1"/>
            <a:r>
              <a:rPr lang="zh-CN" altLang="en-US" dirty="0">
                <a:latin typeface="Times New Roman" panose="02020603050405020304" pitchFamily="18" charset="0"/>
              </a:rPr>
              <a:t>设有两个在同一台机器上实现的算法，运行时间分别为</a:t>
            </a:r>
            <a:r>
              <a:rPr lang="en-US" altLang="zh-CN" dirty="0">
                <a:latin typeface="Times New Roman" panose="02020603050405020304" pitchFamily="18" charset="0"/>
              </a:rPr>
              <a:t>100n</a:t>
            </a:r>
            <a:r>
              <a:rPr lang="en-US" altLang="zh-CN" baseline="30000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。当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取何值时，前者比后者快？</a:t>
            </a:r>
            <a:endParaRPr lang="zh-CN" altLang="en-US" baseline="30000" dirty="0">
              <a:latin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</a:rPr>
              <a:t>证明对于任意给定的实常数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和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其中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 &gt; 0,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	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n </a:t>
            </a:r>
            <a:r>
              <a:rPr lang="en-US" altLang="zh-CN" dirty="0">
                <a:latin typeface="Times New Roman" panose="02020603050405020304" pitchFamily="18" charset="0"/>
              </a:rPr>
              <a:t>+ </a:t>
            </a:r>
            <a:r>
              <a:rPr lang="en-US" altLang="zh-CN" i="1" dirty="0">
                <a:latin typeface="Times New Roman" panose="02020603050405020304" pitchFamily="18" charset="0"/>
              </a:rPr>
              <a:t>a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=</a:t>
            </a:r>
            <a:r>
              <a:rPr lang="el-GR" altLang="zh-CN" dirty="0">
                <a:latin typeface="Times New Roman" panose="02020603050405020304" pitchFamily="18" charset="0"/>
                <a:ea typeface="方正舒体" panose="02010601030101010101" pitchFamily="2" charset="-122"/>
              </a:rPr>
              <a:t>Θ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 err="1">
                <a:latin typeface="Times New Roman" panose="02020603050405020304" pitchFamily="18" charset="0"/>
              </a:rPr>
              <a:t>n</a:t>
            </a:r>
            <a:r>
              <a:rPr lang="en-US" altLang="zh-CN" i="1" baseline="30000" dirty="0" err="1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).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2E139-D962-46D2-A3D9-3004DB61C61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6416</Words>
  <Application>WPS 演示</Application>
  <PresentationFormat>全屏显示(4:3)</PresentationFormat>
  <Paragraphs>467</Paragraphs>
  <Slides>52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68</vt:i4>
      </vt:variant>
      <vt:variant>
        <vt:lpstr>幻灯片标题</vt:lpstr>
      </vt:variant>
      <vt:variant>
        <vt:i4>52</vt:i4>
      </vt:variant>
    </vt:vector>
  </HeadingPairs>
  <TitlesOfParts>
    <vt:vector size="138" baseType="lpstr">
      <vt:lpstr>Arial</vt:lpstr>
      <vt:lpstr>宋体</vt:lpstr>
      <vt:lpstr>Wingdings</vt:lpstr>
      <vt:lpstr>Wingdings 2</vt:lpstr>
      <vt:lpstr>Symbol</vt:lpstr>
      <vt:lpstr>仿宋_GB2312</vt:lpstr>
      <vt:lpstr>仿宋</vt:lpstr>
      <vt:lpstr>Times New Roman</vt:lpstr>
      <vt:lpstr>Constantia</vt:lpstr>
      <vt:lpstr>隶书</vt:lpstr>
      <vt:lpstr>Calibri</vt:lpstr>
      <vt:lpstr>微软雅黑</vt:lpstr>
      <vt:lpstr>Arial Unicode MS</vt:lpstr>
      <vt:lpstr>Arial</vt:lpstr>
      <vt:lpstr>方正舒体</vt:lpstr>
      <vt:lpstr>Symbol</vt:lpstr>
      <vt:lpstr>仿宋_GB2312</vt:lpstr>
      <vt:lpstr>流畅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算法复杂度</vt:lpstr>
      <vt:lpstr>算法复杂性分析 </vt:lpstr>
      <vt:lpstr>算法的时间复杂性</vt:lpstr>
      <vt:lpstr>算法渐近复杂性</vt:lpstr>
      <vt:lpstr>渐近记号，O， </vt:lpstr>
      <vt:lpstr>渐近分析的记号</vt:lpstr>
      <vt:lpstr>PowerPoint 演示文稿</vt:lpstr>
      <vt:lpstr>PowerPoint 演示文稿</vt:lpstr>
      <vt:lpstr>PowerPoint 演示文稿</vt:lpstr>
      <vt:lpstr>渐近上界记号O </vt:lpstr>
      <vt:lpstr>若A(n)=│am│nm+…+ │a1│n+ │a0│ 是一个m次多项式,则A(n)= O(nm)</vt:lpstr>
      <vt:lpstr>PowerPoint 演示文稿</vt:lpstr>
      <vt:lpstr>PowerPoint 演示文稿</vt:lpstr>
      <vt:lpstr>PowerPoint 演示文稿</vt:lpstr>
      <vt:lpstr>渐近下界记号</vt:lpstr>
      <vt:lpstr>PowerPoint 演示文稿</vt:lpstr>
      <vt:lpstr>PowerPoint 演示文稿</vt:lpstr>
      <vt:lpstr>若f(n) = O(g(n)) 且 g(n) = O(f(n)), 则f, g具有相同的增长率 若f(n) = O(g(n)) 且 g(n) &lt;&gt;O(f(n)),  则称g(n)比f(n)增长得快</vt:lpstr>
      <vt:lpstr>关于O的延伸理解</vt:lpstr>
      <vt:lpstr>PowerPoint 演示文稿</vt:lpstr>
      <vt:lpstr>渐近分析记号在等式和不等式中的意义</vt:lpstr>
      <vt:lpstr>渐近分析中函数比较（类比实数集）</vt:lpstr>
      <vt:lpstr>渐近分析记号的若干性质</vt:lpstr>
      <vt:lpstr>PowerPoint 演示文稿</vt:lpstr>
      <vt:lpstr>PowerPoint 演示文稿</vt:lpstr>
      <vt:lpstr>PowerPoint 演示文稿</vt:lpstr>
      <vt:lpstr>算法渐近复杂性分析中常用函数</vt:lpstr>
      <vt:lpstr>取整函数的若干性质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算法分析中常见的复杂性函数</vt:lpstr>
      <vt:lpstr>小规模数据</vt:lpstr>
      <vt:lpstr>中等规模数据</vt:lpstr>
      <vt:lpstr>PowerPoint 演示文稿</vt:lpstr>
      <vt:lpstr>PowerPoint 演示文稿</vt:lpstr>
      <vt:lpstr>例，L(1:n)是一张表，x是输入，若x∈L，就输出x在表中位置；若x∈L，则输出信息。</vt:lpstr>
      <vt:lpstr>PowerPoint 演示文稿</vt:lpstr>
      <vt:lpstr>算法分析方法</vt:lpstr>
      <vt:lpstr>PowerPoint 演示文稿</vt:lpstr>
      <vt:lpstr>算法分析的基本法则</vt:lpstr>
      <vt:lpstr>PowerPoint 演示文稿</vt:lpstr>
      <vt:lpstr>PowerPoint 演示文稿</vt:lpstr>
      <vt:lpstr>PowerPoint 演示文稿</vt:lpstr>
      <vt:lpstr>最优算法</vt:lpstr>
      <vt:lpstr>课堂练习</vt:lpstr>
      <vt:lpstr>今日任务</vt:lpstr>
    </vt:vector>
  </TitlesOfParts>
  <Company>mac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算法复杂度</dc:title>
  <dc:creator>ee</dc:creator>
  <cp:lastModifiedBy>Administrator</cp:lastModifiedBy>
  <cp:revision>91</cp:revision>
  <dcterms:created xsi:type="dcterms:W3CDTF">2009-09-04T09:32:00Z</dcterms:created>
  <dcterms:modified xsi:type="dcterms:W3CDTF">2019-11-10T13:34:16Z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