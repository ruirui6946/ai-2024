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Lst>
  <p:notesMasterIdLst>
    <p:notesMasterId r:id="rId25"/>
  </p:notesMasterIdLst>
  <p:sldIdLst>
    <p:sldId id="290" r:id="rId12"/>
    <p:sldId id="274" r:id="rId13"/>
    <p:sldId id="292" r:id="rId14"/>
    <p:sldId id="291" r:id="rId15"/>
    <p:sldId id="275" r:id="rId16"/>
    <p:sldId id="293" r:id="rId17"/>
    <p:sldId id="331" r:id="rId18"/>
    <p:sldId id="332" r:id="rId19"/>
    <p:sldId id="334" r:id="rId20"/>
    <p:sldId id="335" r:id="rId21"/>
    <p:sldId id="394" r:id="rId22"/>
    <p:sldId id="391" r:id="rId23"/>
    <p:sldId id="337" r:id="rId24"/>
    <p:sldId id="373" r:id="rId26"/>
    <p:sldId id="396" r:id="rId27"/>
    <p:sldId id="388" r:id="rId28"/>
    <p:sldId id="386" r:id="rId29"/>
    <p:sldId id="387" r:id="rId30"/>
    <p:sldId id="421" r:id="rId31"/>
    <p:sldId id="422" r:id="rId32"/>
    <p:sldId id="423" r:id="rId33"/>
    <p:sldId id="424" r:id="rId34"/>
    <p:sldId id="438" r:id="rId35"/>
    <p:sldId id="426" r:id="rId36"/>
    <p:sldId id="399" r:id="rId37"/>
    <p:sldId id="401" r:id="rId38"/>
    <p:sldId id="400" r:id="rId39"/>
    <p:sldId id="403" r:id="rId40"/>
    <p:sldId id="456" r:id="rId41"/>
    <p:sldId id="477" r:id="rId42"/>
    <p:sldId id="454" r:id="rId43"/>
    <p:sldId id="455" r:id="rId44"/>
    <p:sldId id="402" r:id="rId45"/>
    <p:sldId id="461" r:id="rId46"/>
    <p:sldId id="457" r:id="rId47"/>
    <p:sldId id="458" r:id="rId48"/>
    <p:sldId id="460" r:id="rId49"/>
    <p:sldId id="459" r:id="rId50"/>
    <p:sldId id="383" r:id="rId51"/>
    <p:sldId id="569" r:id="rId52"/>
    <p:sldId id="570" r:id="rId53"/>
    <p:sldId id="404" r:id="rId54"/>
    <p:sldId id="416" r:id="rId55"/>
    <p:sldId id="417" r:id="rId56"/>
    <p:sldId id="414" r:id="rId57"/>
    <p:sldId id="451" r:id="rId58"/>
    <p:sldId id="415" r:id="rId59"/>
    <p:sldId id="502" r:id="rId60"/>
    <p:sldId id="501" r:id="rId61"/>
    <p:sldId id="503" r:id="rId62"/>
    <p:sldId id="478" r:id="rId63"/>
    <p:sldId id="480" r:id="rId64"/>
    <p:sldId id="479" r:id="rId65"/>
    <p:sldId id="504" r:id="rId66"/>
    <p:sldId id="505" r:id="rId67"/>
    <p:sldId id="506" r:id="rId68"/>
    <p:sldId id="513" r:id="rId69"/>
    <p:sldId id="514" r:id="rId70"/>
    <p:sldId id="515" r:id="rId71"/>
    <p:sldId id="516" r:id="rId72"/>
    <p:sldId id="517" r:id="rId73"/>
    <p:sldId id="518" r:id="rId74"/>
    <p:sldId id="522" r:id="rId75"/>
    <p:sldId id="523" r:id="rId76"/>
    <p:sldId id="525" r:id="rId77"/>
    <p:sldId id="528" r:id="rId78"/>
    <p:sldId id="529" r:id="rId79"/>
    <p:sldId id="530" r:id="rId80"/>
    <p:sldId id="531" r:id="rId81"/>
    <p:sldId id="543" r:id="rId82"/>
    <p:sldId id="541" r:id="rId83"/>
    <p:sldId id="545" r:id="rId84"/>
    <p:sldId id="547" r:id="rId85"/>
    <p:sldId id="548" r:id="rId86"/>
    <p:sldId id="549" r:id="rId87"/>
    <p:sldId id="546" r:id="rId88"/>
    <p:sldId id="550" r:id="rId89"/>
    <p:sldId id="537" r:id="rId90"/>
    <p:sldId id="551" r:id="rId91"/>
    <p:sldId id="538" r:id="rId92"/>
    <p:sldId id="539" r:id="rId93"/>
    <p:sldId id="624" r:id="rId94"/>
    <p:sldId id="625" r:id="rId95"/>
    <p:sldId id="626" r:id="rId96"/>
    <p:sldId id="558" r:id="rId97"/>
    <p:sldId id="627" r:id="rId98"/>
    <p:sldId id="559" r:id="rId99"/>
    <p:sldId id="560" r:id="rId100"/>
    <p:sldId id="561" r:id="rId101"/>
    <p:sldId id="562" r:id="rId102"/>
    <p:sldId id="563" r:id="rId103"/>
    <p:sldId id="628" r:id="rId104"/>
    <p:sldId id="631" r:id="rId105"/>
    <p:sldId id="630" r:id="rId106"/>
    <p:sldId id="632" r:id="rId107"/>
    <p:sldId id="633" r:id="rId108"/>
    <p:sldId id="634" r:id="rId109"/>
    <p:sldId id="635" r:id="rId110"/>
    <p:sldId id="636" r:id="rId111"/>
    <p:sldId id="637" r:id="rId112"/>
    <p:sldId id="643" r:id="rId113"/>
    <p:sldId id="644" r:id="rId114"/>
    <p:sldId id="645" r:id="rId115"/>
    <p:sldId id="646" r:id="rId116"/>
    <p:sldId id="647" r:id="rId117"/>
    <p:sldId id="648" r:id="rId118"/>
    <p:sldId id="649" r:id="rId119"/>
    <p:sldId id="650" r:id="rId120"/>
    <p:sldId id="651" r:id="rId121"/>
    <p:sldId id="652" r:id="rId122"/>
    <p:sldId id="653" r:id="rId123"/>
    <p:sldId id="654" r:id="rId124"/>
    <p:sldId id="655" r:id="rId125"/>
    <p:sldId id="656" r:id="rId126"/>
    <p:sldId id="657" r:id="rId127"/>
    <p:sldId id="658" r:id="rId128"/>
    <p:sldId id="659" r:id="rId129"/>
    <p:sldId id="661" r:id="rId130"/>
    <p:sldId id="660" r:id="rId131"/>
    <p:sldId id="662" r:id="rId132"/>
    <p:sldId id="663" r:id="rId133"/>
    <p:sldId id="664" r:id="rId134"/>
    <p:sldId id="665" r:id="rId135"/>
    <p:sldId id="666" r:id="rId136"/>
    <p:sldId id="668" r:id="rId137"/>
    <p:sldId id="667" r:id="rId138"/>
    <p:sldId id="669" r:id="rId139"/>
    <p:sldId id="670" r:id="rId14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5pPr>
    <a:lvl6pPr marL="2286000" lvl="5"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6pPr>
    <a:lvl7pPr marL="2743200" lvl="6"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7pPr>
    <a:lvl8pPr marL="3200400" lvl="7"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8pPr>
    <a:lvl9pPr marL="3657600" lvl="8"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Chiller" panose="04020404031007020602" pitchFamily="82"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921"/>
    <p:restoredTop sz="94603"/>
  </p:normalViewPr>
  <p:slideViewPr>
    <p:cSldViewPr showGuides="1">
      <p:cViewPr varScale="1">
        <p:scale>
          <a:sx n="83" d="100"/>
          <a:sy n="83" d="100"/>
        </p:scale>
        <p:origin x="1110" y="90"/>
      </p:cViewPr>
      <p:guideLst>
        <p:guide orient="horz" pos="2118"/>
        <p:guide pos="3278"/>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7.xml"/><Relationship Id="rId98" Type="http://schemas.openxmlformats.org/officeDocument/2006/relationships/slide" Target="slides/slide86.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notesMaster" Target="notesMasters/notesMaster1.xml"/><Relationship Id="rId24" Type="http://schemas.openxmlformats.org/officeDocument/2006/relationships/slide" Target="slides/slide13.xml"/><Relationship Id="rId23" Type="http://schemas.openxmlformats.org/officeDocument/2006/relationships/slide" Target="slides/slide12.xml"/><Relationship Id="rId22" Type="http://schemas.openxmlformats.org/officeDocument/2006/relationships/slide" Target="slides/slide11.xml"/><Relationship Id="rId21" Type="http://schemas.openxmlformats.org/officeDocument/2006/relationships/slide" Target="slides/slide10.xml"/><Relationship Id="rId20" Type="http://schemas.openxmlformats.org/officeDocument/2006/relationships/slide" Target="slides/slide9.xml"/><Relationship Id="rId2" Type="http://schemas.openxmlformats.org/officeDocument/2006/relationships/theme" Target="theme/theme1.xml"/><Relationship Id="rId19" Type="http://schemas.openxmlformats.org/officeDocument/2006/relationships/slide" Target="slides/slide8.xml"/><Relationship Id="rId18" Type="http://schemas.openxmlformats.org/officeDocument/2006/relationships/slide" Target="slides/slide7.xml"/><Relationship Id="rId17" Type="http://schemas.openxmlformats.org/officeDocument/2006/relationships/slide" Target="slides/slide6.xml"/><Relationship Id="rId16" Type="http://schemas.openxmlformats.org/officeDocument/2006/relationships/slide" Target="slides/slide5.xml"/><Relationship Id="rId15" Type="http://schemas.openxmlformats.org/officeDocument/2006/relationships/slide" Target="slides/slide4.xml"/><Relationship Id="rId143" Type="http://schemas.openxmlformats.org/officeDocument/2006/relationships/tableStyles" Target="tableStyles.xml"/><Relationship Id="rId142" Type="http://schemas.openxmlformats.org/officeDocument/2006/relationships/viewProps" Target="viewProps.xml"/><Relationship Id="rId141" Type="http://schemas.openxmlformats.org/officeDocument/2006/relationships/presProps" Target="presProps.xml"/><Relationship Id="rId140" Type="http://schemas.openxmlformats.org/officeDocument/2006/relationships/slide" Target="slides/slide128.xml"/><Relationship Id="rId14" Type="http://schemas.openxmlformats.org/officeDocument/2006/relationships/slide" Target="slides/slide3.xml"/><Relationship Id="rId139" Type="http://schemas.openxmlformats.org/officeDocument/2006/relationships/slide" Target="slides/slide127.xml"/><Relationship Id="rId138" Type="http://schemas.openxmlformats.org/officeDocument/2006/relationships/slide" Target="slides/slide126.xml"/><Relationship Id="rId137" Type="http://schemas.openxmlformats.org/officeDocument/2006/relationships/slide" Target="slides/slide125.xml"/><Relationship Id="rId136" Type="http://schemas.openxmlformats.org/officeDocument/2006/relationships/slide" Target="slides/slide124.xml"/><Relationship Id="rId135" Type="http://schemas.openxmlformats.org/officeDocument/2006/relationships/slide" Target="slides/slide123.xml"/><Relationship Id="rId134" Type="http://schemas.openxmlformats.org/officeDocument/2006/relationships/slide" Target="slides/slide122.xml"/><Relationship Id="rId133" Type="http://schemas.openxmlformats.org/officeDocument/2006/relationships/slide" Target="slides/slide121.xml"/><Relationship Id="rId132" Type="http://schemas.openxmlformats.org/officeDocument/2006/relationships/slide" Target="slides/slide120.xml"/><Relationship Id="rId131" Type="http://schemas.openxmlformats.org/officeDocument/2006/relationships/slide" Target="slides/slide119.xml"/><Relationship Id="rId130" Type="http://schemas.openxmlformats.org/officeDocument/2006/relationships/slide" Target="slides/slide118.xml"/><Relationship Id="rId13" Type="http://schemas.openxmlformats.org/officeDocument/2006/relationships/slide" Target="slides/slide2.xml"/><Relationship Id="rId129" Type="http://schemas.openxmlformats.org/officeDocument/2006/relationships/slide" Target="slides/slide117.xml"/><Relationship Id="rId128" Type="http://schemas.openxmlformats.org/officeDocument/2006/relationships/slide" Target="slides/slide116.xml"/><Relationship Id="rId127" Type="http://schemas.openxmlformats.org/officeDocument/2006/relationships/slide" Target="slides/slide115.xml"/><Relationship Id="rId126" Type="http://schemas.openxmlformats.org/officeDocument/2006/relationships/slide" Target="slides/slide114.xml"/><Relationship Id="rId125" Type="http://schemas.openxmlformats.org/officeDocument/2006/relationships/slide" Target="slides/slide113.xml"/><Relationship Id="rId124" Type="http://schemas.openxmlformats.org/officeDocument/2006/relationships/slide" Target="slides/slide112.xml"/><Relationship Id="rId123" Type="http://schemas.openxmlformats.org/officeDocument/2006/relationships/slide" Target="slides/slide111.xml"/><Relationship Id="rId122" Type="http://schemas.openxmlformats.org/officeDocument/2006/relationships/slide" Target="slides/slide110.xml"/><Relationship Id="rId121" Type="http://schemas.openxmlformats.org/officeDocument/2006/relationships/slide" Target="slides/slide109.xml"/><Relationship Id="rId120" Type="http://schemas.openxmlformats.org/officeDocument/2006/relationships/slide" Target="slides/slide108.xml"/><Relationship Id="rId12" Type="http://schemas.openxmlformats.org/officeDocument/2006/relationships/slide" Target="slides/slide1.xml"/><Relationship Id="rId119" Type="http://schemas.openxmlformats.org/officeDocument/2006/relationships/slide" Target="slides/slide107.xml"/><Relationship Id="rId118" Type="http://schemas.openxmlformats.org/officeDocument/2006/relationships/slide" Target="slides/slide106.xml"/><Relationship Id="rId117" Type="http://schemas.openxmlformats.org/officeDocument/2006/relationships/slide" Target="slides/slide105.xml"/><Relationship Id="rId116" Type="http://schemas.openxmlformats.org/officeDocument/2006/relationships/slide" Target="slides/slide104.xml"/><Relationship Id="rId115" Type="http://schemas.openxmlformats.org/officeDocument/2006/relationships/slide" Target="slides/slide103.xml"/><Relationship Id="rId114" Type="http://schemas.openxmlformats.org/officeDocument/2006/relationships/slide" Target="slides/slide102.xml"/><Relationship Id="rId113" Type="http://schemas.openxmlformats.org/officeDocument/2006/relationships/slide" Target="slides/slide101.xml"/><Relationship Id="rId112" Type="http://schemas.openxmlformats.org/officeDocument/2006/relationships/slide" Target="slides/slide100.xml"/><Relationship Id="rId111" Type="http://schemas.openxmlformats.org/officeDocument/2006/relationships/slide" Target="slides/slide99.xml"/><Relationship Id="rId110" Type="http://schemas.openxmlformats.org/officeDocument/2006/relationships/slide" Target="slides/slide98.xml"/><Relationship Id="rId11" Type="http://schemas.openxmlformats.org/officeDocument/2006/relationships/slideMaster" Target="slideMasters/slideMaster10.xml"/><Relationship Id="rId109" Type="http://schemas.openxmlformats.org/officeDocument/2006/relationships/slide" Target="slides/slide97.xml"/><Relationship Id="rId108" Type="http://schemas.openxmlformats.org/officeDocument/2006/relationships/slide" Target="slides/slide96.xml"/><Relationship Id="rId107" Type="http://schemas.openxmlformats.org/officeDocument/2006/relationships/slide" Target="slides/slide95.xml"/><Relationship Id="rId106" Type="http://schemas.openxmlformats.org/officeDocument/2006/relationships/slide" Target="slides/slide94.xml"/><Relationship Id="rId105" Type="http://schemas.openxmlformats.org/officeDocument/2006/relationships/slide" Target="slides/slide93.xml"/><Relationship Id="rId104" Type="http://schemas.openxmlformats.org/officeDocument/2006/relationships/slide" Target="slides/slide92.xml"/><Relationship Id="rId103" Type="http://schemas.openxmlformats.org/officeDocument/2006/relationships/slide" Target="slides/slide91.xml"/><Relationship Id="rId102" Type="http://schemas.openxmlformats.org/officeDocument/2006/relationships/slide" Target="slides/slide90.xml"/><Relationship Id="rId101" Type="http://schemas.openxmlformats.org/officeDocument/2006/relationships/slide" Target="slides/slide89.xml"/><Relationship Id="rId100" Type="http://schemas.openxmlformats.org/officeDocument/2006/relationships/slide" Target="slides/slide88.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5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686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1508"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altLang="zh-CN"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3687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DB53066-8F83-45B0-A031-94488936D6A6}"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幻灯片图像占位符 1"/>
          <p:cNvSpPr>
            <a:spLocks noTextEdit="1"/>
          </p:cNvSpPr>
          <p:nvPr>
            <p:ph type="sldImg"/>
          </p:nvPr>
        </p:nvSpPr>
        <p:spPr/>
      </p:sp>
      <p:sp>
        <p:nvSpPr>
          <p:cNvPr id="35842" name="文本占位符 2"/>
          <p:cNvSpPr/>
          <p:nvPr>
            <p:ph type="body"/>
          </p:nvPr>
        </p:nvSpPr>
        <p:spPr/>
        <p:txBody>
          <a:bodyPr wrap="square" lIns="91440" tIns="45720" rIns="91440" bIns="45720" anchor="t"/>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幻灯片图像占位符 1"/>
          <p:cNvSpPr>
            <a:spLocks noTextEdit="1"/>
          </p:cNvSpPr>
          <p:nvPr>
            <p:ph type="sldImg"/>
          </p:nvPr>
        </p:nvSpPr>
        <p:spPr/>
      </p:sp>
      <p:sp>
        <p:nvSpPr>
          <p:cNvPr id="37890" name="文本占位符 2"/>
          <p:cNvSpPr/>
          <p:nvPr>
            <p:ph type="body"/>
          </p:nvPr>
        </p:nvSpPr>
        <p:spPr/>
        <p:txBody>
          <a:bodyPr wrap="square" lIns="91440" tIns="45720" rIns="91440" bIns="45720" anchor="t"/>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幻灯片图像占位符 1"/>
          <p:cNvSpPr>
            <a:spLocks noGrp="1" noRot="1" noChangeAspect="1" noTextEdit="1"/>
          </p:cNvSpPr>
          <p:nvPr>
            <p:ph type="sldImg"/>
          </p:nvPr>
        </p:nvSpPr>
        <p:spPr/>
      </p:sp>
      <p:sp>
        <p:nvSpPr>
          <p:cNvPr id="4198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419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幻灯片图像占位符 1"/>
          <p:cNvSpPr>
            <a:spLocks noGrp="1" noRot="1" noChangeAspect="1" noTextEdit="1"/>
          </p:cNvSpPr>
          <p:nvPr>
            <p:ph type="sldImg"/>
          </p:nvPr>
        </p:nvSpPr>
        <p:spPr/>
      </p:sp>
      <p:sp>
        <p:nvSpPr>
          <p:cNvPr id="4403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440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幻灯片图像占位符 1"/>
          <p:cNvSpPr>
            <a:spLocks noGrp="1" noRot="1" noChangeAspect="1" noTextEdit="1"/>
          </p:cNvSpPr>
          <p:nvPr>
            <p:ph type="sldImg"/>
          </p:nvPr>
        </p:nvSpPr>
        <p:spPr/>
      </p:sp>
      <p:sp>
        <p:nvSpPr>
          <p:cNvPr id="4608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4608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幻灯片图像占位符 1"/>
          <p:cNvSpPr>
            <a:spLocks noGrp="1" noRot="1" noChangeAspect="1" noTextEdit="1"/>
          </p:cNvSpPr>
          <p:nvPr>
            <p:ph type="sldImg"/>
          </p:nvPr>
        </p:nvSpPr>
        <p:spPr/>
      </p:sp>
      <p:sp>
        <p:nvSpPr>
          <p:cNvPr id="5017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5017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幻灯片图像占位符 1"/>
          <p:cNvSpPr>
            <a:spLocks noGrp="1" noRot="1" noChangeAspect="1" noTextEdit="1"/>
          </p:cNvSpPr>
          <p:nvPr>
            <p:ph type="sldImg"/>
          </p:nvPr>
        </p:nvSpPr>
        <p:spPr/>
      </p:sp>
      <p:sp>
        <p:nvSpPr>
          <p:cNvPr id="4813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4813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幻灯片图像占位符 1"/>
          <p:cNvSpPr>
            <a:spLocks noGrp="1" noRot="1" noChangeAspect="1" noTextEdit="1"/>
          </p:cNvSpPr>
          <p:nvPr>
            <p:ph type="sldImg"/>
          </p:nvPr>
        </p:nvSpPr>
        <p:spPr/>
      </p:sp>
      <p:sp>
        <p:nvSpPr>
          <p:cNvPr id="522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522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幻灯片图像占位符 1"/>
          <p:cNvSpPr>
            <a:spLocks noGrp="1" noRot="1" noChangeAspect="1" noTextEdit="1"/>
          </p:cNvSpPr>
          <p:nvPr>
            <p:ph type="sldImg"/>
          </p:nvPr>
        </p:nvSpPr>
        <p:spPr/>
      </p:sp>
      <p:sp>
        <p:nvSpPr>
          <p:cNvPr id="5427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5427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幻灯片图像占位符 1"/>
          <p:cNvSpPr>
            <a:spLocks noGrp="1" noRot="1" noChangeAspect="1" noTextEdit="1"/>
          </p:cNvSpPr>
          <p:nvPr>
            <p:ph type="sldImg"/>
          </p:nvPr>
        </p:nvSpPr>
        <p:spPr/>
      </p:sp>
      <p:sp>
        <p:nvSpPr>
          <p:cNvPr id="5632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5632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幻灯片图像占位符 1"/>
          <p:cNvSpPr>
            <a:spLocks noGrp="1" noRot="1" noChangeAspect="1" noTextEdit="1"/>
          </p:cNvSpPr>
          <p:nvPr>
            <p:ph type="sldImg"/>
          </p:nvPr>
        </p:nvSpPr>
        <p:spPr/>
      </p:sp>
      <p:sp>
        <p:nvSpPr>
          <p:cNvPr id="5837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5837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幻灯片图像占位符 1"/>
          <p:cNvSpPr>
            <a:spLocks noGrp="1" noRot="1" noChangeAspect="1" noTextEdit="1"/>
          </p:cNvSpPr>
          <p:nvPr>
            <p:ph type="sldImg"/>
          </p:nvPr>
        </p:nvSpPr>
        <p:spPr/>
      </p:sp>
      <p:sp>
        <p:nvSpPr>
          <p:cNvPr id="6041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6041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幻灯片图像占位符 1"/>
          <p:cNvSpPr>
            <a:spLocks noGrp="1" noRot="1" noChangeAspect="1" noTextEdit="1"/>
          </p:cNvSpPr>
          <p:nvPr>
            <p:ph type="sldImg"/>
          </p:nvPr>
        </p:nvSpPr>
        <p:spPr/>
      </p:sp>
      <p:sp>
        <p:nvSpPr>
          <p:cNvPr id="6246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6246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幻灯片图像占位符 1"/>
          <p:cNvSpPr>
            <a:spLocks noGrp="1" noRot="1" noChangeAspect="1" noTextEdit="1"/>
          </p:cNvSpPr>
          <p:nvPr>
            <p:ph type="sldImg"/>
          </p:nvPr>
        </p:nvSpPr>
        <p:spPr/>
      </p:sp>
      <p:sp>
        <p:nvSpPr>
          <p:cNvPr id="6451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645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幻灯片图像占位符 1"/>
          <p:cNvSpPr>
            <a:spLocks noGrp="1" noRot="1" noChangeAspect="1" noTextEdit="1"/>
          </p:cNvSpPr>
          <p:nvPr>
            <p:ph type="sldImg"/>
          </p:nvPr>
        </p:nvSpPr>
        <p:spPr/>
      </p:sp>
      <p:sp>
        <p:nvSpPr>
          <p:cNvPr id="6656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6656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幻灯片图像占位符 1"/>
          <p:cNvSpPr>
            <a:spLocks noGrp="1" noRot="1" noChangeAspect="1" noTextEdit="1"/>
          </p:cNvSpPr>
          <p:nvPr>
            <p:ph type="sldImg"/>
          </p:nvPr>
        </p:nvSpPr>
        <p:spPr/>
      </p:sp>
      <p:sp>
        <p:nvSpPr>
          <p:cNvPr id="6861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6861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幻灯片图像占位符 1"/>
          <p:cNvSpPr>
            <a:spLocks noGrp="1" noRot="1" noChangeAspect="1" noTextEdit="1"/>
          </p:cNvSpPr>
          <p:nvPr>
            <p:ph type="sldImg"/>
          </p:nvPr>
        </p:nvSpPr>
        <p:spPr/>
      </p:sp>
      <p:sp>
        <p:nvSpPr>
          <p:cNvPr id="7065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7065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幻灯片图像占位符 1"/>
          <p:cNvSpPr>
            <a:spLocks noGrp="1" noRot="1" noChangeAspect="1" noTextEdit="1"/>
          </p:cNvSpPr>
          <p:nvPr>
            <p:ph type="sldImg"/>
          </p:nvPr>
        </p:nvSpPr>
        <p:spPr/>
      </p:sp>
      <p:sp>
        <p:nvSpPr>
          <p:cNvPr id="7270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7270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幻灯片图像占位符 1"/>
          <p:cNvSpPr>
            <a:spLocks noGrp="1" noRot="1" noChangeAspect="1" noTextEdit="1"/>
          </p:cNvSpPr>
          <p:nvPr>
            <p:ph type="sldImg"/>
          </p:nvPr>
        </p:nvSpPr>
        <p:spPr/>
      </p:sp>
      <p:sp>
        <p:nvSpPr>
          <p:cNvPr id="7475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7475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幻灯片图像占位符 1"/>
          <p:cNvSpPr>
            <a:spLocks noGrp="1" noRot="1" noChangeAspect="1" noTextEdit="1"/>
          </p:cNvSpPr>
          <p:nvPr>
            <p:ph type="sldImg"/>
          </p:nvPr>
        </p:nvSpPr>
        <p:spPr/>
      </p:sp>
      <p:sp>
        <p:nvSpPr>
          <p:cNvPr id="7680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768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幻灯片图像占位符 1"/>
          <p:cNvSpPr>
            <a:spLocks noGrp="1" noRot="1" noChangeAspect="1" noTextEdit="1"/>
          </p:cNvSpPr>
          <p:nvPr>
            <p:ph type="sldImg"/>
          </p:nvPr>
        </p:nvSpPr>
        <p:spPr/>
      </p:sp>
      <p:sp>
        <p:nvSpPr>
          <p:cNvPr id="7885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7885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幻灯片图像占位符 1"/>
          <p:cNvSpPr>
            <a:spLocks noGrp="1" noRot="1" noChangeAspect="1" noTextEdit="1"/>
          </p:cNvSpPr>
          <p:nvPr>
            <p:ph type="sldImg"/>
          </p:nvPr>
        </p:nvSpPr>
        <p:spPr/>
      </p:sp>
      <p:sp>
        <p:nvSpPr>
          <p:cNvPr id="8089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8089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幻灯片图像占位符 1"/>
          <p:cNvSpPr>
            <a:spLocks noGrp="1" noRot="1" noChangeAspect="1" noTextEdit="1"/>
          </p:cNvSpPr>
          <p:nvPr>
            <p:ph type="sldImg"/>
          </p:nvPr>
        </p:nvSpPr>
        <p:spPr/>
      </p:sp>
      <p:sp>
        <p:nvSpPr>
          <p:cNvPr id="8294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8294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幻灯片图像占位符 1"/>
          <p:cNvSpPr>
            <a:spLocks noGrp="1" noRot="1" noChangeAspect="1" noTextEdit="1"/>
          </p:cNvSpPr>
          <p:nvPr>
            <p:ph type="sldImg"/>
          </p:nvPr>
        </p:nvSpPr>
        <p:spPr/>
      </p:sp>
      <p:sp>
        <p:nvSpPr>
          <p:cNvPr id="8499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8499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8704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8704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8704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幻灯片图像占位符 1"/>
          <p:cNvSpPr>
            <a:spLocks noGrp="1" noRot="1" noChangeAspect="1" noTextEdit="1"/>
          </p:cNvSpPr>
          <p:nvPr>
            <p:ph type="sldImg"/>
          </p:nvPr>
        </p:nvSpPr>
        <p:spPr/>
      </p:sp>
      <p:sp>
        <p:nvSpPr>
          <p:cNvPr id="9318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931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幻灯片图像占位符 1"/>
          <p:cNvSpPr>
            <a:spLocks noGrp="1" noRot="1" noChangeAspect="1" noTextEdit="1"/>
          </p:cNvSpPr>
          <p:nvPr>
            <p:ph type="sldImg"/>
          </p:nvPr>
        </p:nvSpPr>
        <p:spPr/>
      </p:sp>
      <p:sp>
        <p:nvSpPr>
          <p:cNvPr id="9523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952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幻灯片图像占位符 1"/>
          <p:cNvSpPr>
            <a:spLocks noGrp="1" noRot="1" noChangeAspect="1" noTextEdit="1"/>
          </p:cNvSpPr>
          <p:nvPr>
            <p:ph type="sldImg"/>
          </p:nvPr>
        </p:nvSpPr>
        <p:spPr/>
      </p:sp>
      <p:sp>
        <p:nvSpPr>
          <p:cNvPr id="9728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9728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幻灯片图像占位符 1"/>
          <p:cNvSpPr>
            <a:spLocks noGrp="1" noRot="1" noChangeAspect="1" noTextEdit="1"/>
          </p:cNvSpPr>
          <p:nvPr>
            <p:ph type="sldImg"/>
          </p:nvPr>
        </p:nvSpPr>
        <p:spPr/>
      </p:sp>
      <p:sp>
        <p:nvSpPr>
          <p:cNvPr id="9933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9933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幻灯片图像占位符 1"/>
          <p:cNvSpPr>
            <a:spLocks noGrp="1" noRot="1" noChangeAspect="1" noTextEdit="1"/>
          </p:cNvSpPr>
          <p:nvPr>
            <p:ph type="sldImg"/>
          </p:nvPr>
        </p:nvSpPr>
        <p:spPr/>
      </p:sp>
      <p:sp>
        <p:nvSpPr>
          <p:cNvPr id="10137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0137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幻灯片图像占位符 1"/>
          <p:cNvSpPr>
            <a:spLocks noGrp="1" noRot="1" noChangeAspect="1" noTextEdit="1"/>
          </p:cNvSpPr>
          <p:nvPr>
            <p:ph type="sldImg"/>
          </p:nvPr>
        </p:nvSpPr>
        <p:spPr/>
      </p:sp>
      <p:sp>
        <p:nvSpPr>
          <p:cNvPr id="1034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034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幻灯片图像占位符 1"/>
          <p:cNvSpPr>
            <a:spLocks noGrp="1" noRot="1" noChangeAspect="1" noTextEdit="1"/>
          </p:cNvSpPr>
          <p:nvPr>
            <p:ph type="sldImg"/>
          </p:nvPr>
        </p:nvSpPr>
        <p:spPr/>
      </p:sp>
      <p:sp>
        <p:nvSpPr>
          <p:cNvPr id="10649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0649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幻灯片图像占位符 1"/>
          <p:cNvSpPr>
            <a:spLocks noGrp="1" noRot="1" noChangeAspect="1" noTextEdit="1"/>
          </p:cNvSpPr>
          <p:nvPr>
            <p:ph type="sldImg"/>
          </p:nvPr>
        </p:nvSpPr>
        <p:spPr/>
      </p:sp>
      <p:sp>
        <p:nvSpPr>
          <p:cNvPr id="10854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0854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幻灯片图像占位符 1"/>
          <p:cNvSpPr>
            <a:spLocks noGrp="1" noRot="1" noChangeAspect="1" noTextEdit="1"/>
          </p:cNvSpPr>
          <p:nvPr>
            <p:ph type="sldImg"/>
          </p:nvPr>
        </p:nvSpPr>
        <p:spPr/>
      </p:sp>
      <p:sp>
        <p:nvSpPr>
          <p:cNvPr id="11059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1059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幻灯片图像占位符 1"/>
          <p:cNvSpPr>
            <a:spLocks noGrp="1" noRot="1" noChangeAspect="1" noTextEdit="1"/>
          </p:cNvSpPr>
          <p:nvPr>
            <p:ph type="sldImg"/>
          </p:nvPr>
        </p:nvSpPr>
        <p:spPr/>
      </p:sp>
      <p:sp>
        <p:nvSpPr>
          <p:cNvPr id="11264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1264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幻灯片图像占位符 1"/>
          <p:cNvSpPr>
            <a:spLocks noGrp="1" noRot="1" noChangeAspect="1" noTextEdit="1"/>
          </p:cNvSpPr>
          <p:nvPr>
            <p:ph type="sldImg"/>
          </p:nvPr>
        </p:nvSpPr>
        <p:spPr/>
      </p:sp>
      <p:sp>
        <p:nvSpPr>
          <p:cNvPr id="11469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146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幻灯片图像占位符 1"/>
          <p:cNvSpPr>
            <a:spLocks noGrp="1" noRot="1" noChangeAspect="1" noTextEdit="1"/>
          </p:cNvSpPr>
          <p:nvPr>
            <p:ph type="sldImg"/>
          </p:nvPr>
        </p:nvSpPr>
        <p:spPr/>
      </p:sp>
      <p:sp>
        <p:nvSpPr>
          <p:cNvPr id="11673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1673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幻灯片图像占位符 1"/>
          <p:cNvSpPr>
            <a:spLocks noGrp="1" noRot="1" noChangeAspect="1" noTextEdit="1"/>
          </p:cNvSpPr>
          <p:nvPr>
            <p:ph type="sldImg"/>
          </p:nvPr>
        </p:nvSpPr>
        <p:spPr/>
      </p:sp>
      <p:sp>
        <p:nvSpPr>
          <p:cNvPr id="11878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187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幻灯片图像占位符 1"/>
          <p:cNvSpPr>
            <a:spLocks noGrp="1" noRot="1" noChangeAspect="1" noTextEdit="1"/>
          </p:cNvSpPr>
          <p:nvPr>
            <p:ph type="sldImg"/>
          </p:nvPr>
        </p:nvSpPr>
        <p:spPr/>
      </p:sp>
      <p:sp>
        <p:nvSpPr>
          <p:cNvPr id="12083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208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幻灯片图像占位符 1"/>
          <p:cNvSpPr>
            <a:spLocks noGrp="1" noRot="1" noChangeAspect="1" noTextEdit="1"/>
          </p:cNvSpPr>
          <p:nvPr>
            <p:ph type="sldImg"/>
          </p:nvPr>
        </p:nvSpPr>
        <p:spPr/>
      </p:sp>
      <p:sp>
        <p:nvSpPr>
          <p:cNvPr id="12288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2288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幻灯片图像占位符 1"/>
          <p:cNvSpPr>
            <a:spLocks noGrp="1" noRot="1" noChangeAspect="1" noTextEdit="1"/>
          </p:cNvSpPr>
          <p:nvPr>
            <p:ph type="sldImg"/>
          </p:nvPr>
        </p:nvSpPr>
        <p:spPr/>
      </p:sp>
      <p:sp>
        <p:nvSpPr>
          <p:cNvPr id="12493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2493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幻灯片图像占位符 1"/>
          <p:cNvSpPr>
            <a:spLocks noGrp="1" noRot="1" noChangeAspect="1" noTextEdit="1"/>
          </p:cNvSpPr>
          <p:nvPr>
            <p:ph type="sldImg"/>
          </p:nvPr>
        </p:nvSpPr>
        <p:spPr/>
      </p:sp>
      <p:sp>
        <p:nvSpPr>
          <p:cNvPr id="12697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2697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幻灯片图像占位符 1"/>
          <p:cNvSpPr>
            <a:spLocks noGrp="1" noRot="1" noChangeAspect="1" noTextEdit="1"/>
          </p:cNvSpPr>
          <p:nvPr>
            <p:ph type="sldImg"/>
          </p:nvPr>
        </p:nvSpPr>
        <p:spPr/>
      </p:sp>
      <p:sp>
        <p:nvSpPr>
          <p:cNvPr id="1290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290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幻灯片图像占位符 1"/>
          <p:cNvSpPr>
            <a:spLocks noGrp="1" noRot="1" noChangeAspect="1" noTextEdit="1"/>
          </p:cNvSpPr>
          <p:nvPr>
            <p:ph type="sldImg"/>
          </p:nvPr>
        </p:nvSpPr>
        <p:spPr/>
      </p:sp>
      <p:sp>
        <p:nvSpPr>
          <p:cNvPr id="13107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3107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幻灯片图像占位符 1"/>
          <p:cNvSpPr>
            <a:spLocks noGrp="1" noRot="1" noChangeAspect="1" noTextEdit="1"/>
          </p:cNvSpPr>
          <p:nvPr>
            <p:ph type="sldImg"/>
          </p:nvPr>
        </p:nvSpPr>
        <p:spPr/>
      </p:sp>
      <p:sp>
        <p:nvSpPr>
          <p:cNvPr id="13312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3312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幻灯片图像占位符 1"/>
          <p:cNvSpPr>
            <a:spLocks noGrp="1" noRot="1" noChangeAspect="1" noTextEdit="1"/>
          </p:cNvSpPr>
          <p:nvPr>
            <p:ph type="sldImg"/>
          </p:nvPr>
        </p:nvSpPr>
        <p:spPr/>
      </p:sp>
      <p:sp>
        <p:nvSpPr>
          <p:cNvPr id="14131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413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幻灯片图像占位符 1"/>
          <p:cNvSpPr>
            <a:spLocks noGrp="1" noRot="1" noChangeAspect="1" noTextEdit="1"/>
          </p:cNvSpPr>
          <p:nvPr>
            <p:ph type="sldImg"/>
          </p:nvPr>
        </p:nvSpPr>
        <p:spPr/>
      </p:sp>
      <p:sp>
        <p:nvSpPr>
          <p:cNvPr id="14336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4336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幻灯片图像占位符 1"/>
          <p:cNvSpPr>
            <a:spLocks noGrp="1" noRot="1" noChangeAspect="1" noTextEdit="1"/>
          </p:cNvSpPr>
          <p:nvPr>
            <p:ph type="sldImg"/>
          </p:nvPr>
        </p:nvSpPr>
        <p:spPr/>
      </p:sp>
      <p:sp>
        <p:nvSpPr>
          <p:cNvPr id="14745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4745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幻灯片图像占位符 1"/>
          <p:cNvSpPr>
            <a:spLocks noGrp="1" noRot="1" noChangeAspect="1" noTextEdit="1"/>
          </p:cNvSpPr>
          <p:nvPr>
            <p:ph type="sldImg"/>
          </p:nvPr>
        </p:nvSpPr>
        <p:spPr/>
      </p:sp>
      <p:sp>
        <p:nvSpPr>
          <p:cNvPr id="14950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4950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幻灯片图像占位符 1"/>
          <p:cNvSpPr>
            <a:spLocks noGrp="1" noRot="1" noChangeAspect="1" noTextEdit="1"/>
          </p:cNvSpPr>
          <p:nvPr>
            <p:ph type="sldImg"/>
          </p:nvPr>
        </p:nvSpPr>
        <p:spPr/>
      </p:sp>
      <p:sp>
        <p:nvSpPr>
          <p:cNvPr id="15155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5155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幻灯片图像占位符 1"/>
          <p:cNvSpPr>
            <a:spLocks noGrp="1" noRot="1" noChangeAspect="1" noTextEdit="1"/>
          </p:cNvSpPr>
          <p:nvPr>
            <p:ph type="sldImg"/>
          </p:nvPr>
        </p:nvSpPr>
        <p:spPr/>
      </p:sp>
      <p:sp>
        <p:nvSpPr>
          <p:cNvPr id="15360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536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幻灯片图像占位符 1"/>
          <p:cNvSpPr>
            <a:spLocks noGrp="1" noRot="1" noChangeAspect="1" noTextEdit="1"/>
          </p:cNvSpPr>
          <p:nvPr>
            <p:ph type="sldImg"/>
          </p:nvPr>
        </p:nvSpPr>
        <p:spPr/>
      </p:sp>
      <p:sp>
        <p:nvSpPr>
          <p:cNvPr id="15565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5565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幻灯片图像占位符 1"/>
          <p:cNvSpPr>
            <a:spLocks noGrp="1" noRot="1" noChangeAspect="1" noTextEdit="1"/>
          </p:cNvSpPr>
          <p:nvPr>
            <p:ph type="sldImg"/>
          </p:nvPr>
        </p:nvSpPr>
        <p:spPr/>
      </p:sp>
      <p:sp>
        <p:nvSpPr>
          <p:cNvPr id="15769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5769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幻灯片图像占位符 1"/>
          <p:cNvSpPr>
            <a:spLocks noGrp="1" noRot="1" noChangeAspect="1" noTextEdit="1"/>
          </p:cNvSpPr>
          <p:nvPr>
            <p:ph type="sldImg"/>
          </p:nvPr>
        </p:nvSpPr>
        <p:spPr/>
      </p:sp>
      <p:sp>
        <p:nvSpPr>
          <p:cNvPr id="15974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5974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幻灯片图像占位符 1"/>
          <p:cNvSpPr>
            <a:spLocks noGrp="1" noRot="1" noChangeAspect="1" noTextEdit="1"/>
          </p:cNvSpPr>
          <p:nvPr>
            <p:ph type="sldImg"/>
          </p:nvPr>
        </p:nvSpPr>
        <p:spPr/>
      </p:sp>
      <p:sp>
        <p:nvSpPr>
          <p:cNvPr id="16179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6179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幻灯片图像占位符 1"/>
          <p:cNvSpPr>
            <a:spLocks noGrp="1" noRot="1" noChangeAspect="1" noTextEdit="1"/>
          </p:cNvSpPr>
          <p:nvPr>
            <p:ph type="sldImg"/>
          </p:nvPr>
        </p:nvSpPr>
        <p:spPr/>
      </p:sp>
      <p:sp>
        <p:nvSpPr>
          <p:cNvPr id="16384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6384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幻灯片图像占位符 1"/>
          <p:cNvSpPr>
            <a:spLocks noGrp="1" noRot="1" noChangeAspect="1" noTextEdit="1"/>
          </p:cNvSpPr>
          <p:nvPr>
            <p:ph type="sldImg"/>
          </p:nvPr>
        </p:nvSpPr>
        <p:spPr/>
      </p:sp>
      <p:sp>
        <p:nvSpPr>
          <p:cNvPr id="16589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658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7" name="幻灯片图像占位符 1"/>
          <p:cNvSpPr>
            <a:spLocks noGrp="1" noRot="1" noChangeAspect="1" noTextEdit="1"/>
          </p:cNvSpPr>
          <p:nvPr>
            <p:ph type="sldImg"/>
          </p:nvPr>
        </p:nvSpPr>
        <p:spPr/>
      </p:sp>
      <p:sp>
        <p:nvSpPr>
          <p:cNvPr id="16793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6793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幻灯片图像占位符 1"/>
          <p:cNvSpPr>
            <a:spLocks noGrp="1" noRot="1" noChangeAspect="1" noTextEdit="1"/>
          </p:cNvSpPr>
          <p:nvPr>
            <p:ph type="sldImg"/>
          </p:nvPr>
        </p:nvSpPr>
        <p:spPr/>
      </p:sp>
      <p:sp>
        <p:nvSpPr>
          <p:cNvPr id="16998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699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幻灯片图像占位符 1"/>
          <p:cNvSpPr>
            <a:spLocks noGrp="1" noRot="1" noChangeAspect="1" noTextEdit="1"/>
          </p:cNvSpPr>
          <p:nvPr>
            <p:ph type="sldImg"/>
          </p:nvPr>
        </p:nvSpPr>
        <p:spPr/>
      </p:sp>
      <p:sp>
        <p:nvSpPr>
          <p:cNvPr id="17203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720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1" name="幻灯片图像占位符 1"/>
          <p:cNvSpPr>
            <a:spLocks noGrp="1" noRot="1" noChangeAspect="1" noTextEdit="1"/>
          </p:cNvSpPr>
          <p:nvPr>
            <p:ph type="sldImg"/>
          </p:nvPr>
        </p:nvSpPr>
        <p:spPr/>
      </p:sp>
      <p:sp>
        <p:nvSpPr>
          <p:cNvPr id="17408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7408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29" name="幻灯片图像占位符 1"/>
          <p:cNvSpPr>
            <a:spLocks noGrp="1" noRot="1" noChangeAspect="1" noTextEdit="1"/>
          </p:cNvSpPr>
          <p:nvPr>
            <p:ph type="sldImg"/>
          </p:nvPr>
        </p:nvSpPr>
        <p:spPr/>
      </p:sp>
      <p:sp>
        <p:nvSpPr>
          <p:cNvPr id="17613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7613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7" name="幻灯片图像占位符 1"/>
          <p:cNvSpPr>
            <a:spLocks noGrp="1" noRot="1" noChangeAspect="1" noTextEdit="1"/>
          </p:cNvSpPr>
          <p:nvPr>
            <p:ph type="sldImg"/>
          </p:nvPr>
        </p:nvSpPr>
        <p:spPr/>
      </p:sp>
      <p:sp>
        <p:nvSpPr>
          <p:cNvPr id="17817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7817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幻灯片图像占位符 1"/>
          <p:cNvSpPr>
            <a:spLocks noGrp="1" noRot="1" noChangeAspect="1" noTextEdit="1"/>
          </p:cNvSpPr>
          <p:nvPr>
            <p:ph type="sldImg"/>
          </p:nvPr>
        </p:nvSpPr>
        <p:spPr/>
      </p:sp>
      <p:sp>
        <p:nvSpPr>
          <p:cNvPr id="1802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802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幻灯片图像占位符 1"/>
          <p:cNvSpPr>
            <a:spLocks noGrp="1" noRot="1" noChangeAspect="1" noTextEdit="1"/>
          </p:cNvSpPr>
          <p:nvPr>
            <p:ph type="sldImg"/>
          </p:nvPr>
        </p:nvSpPr>
        <p:spPr/>
      </p:sp>
      <p:sp>
        <p:nvSpPr>
          <p:cNvPr id="1802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802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幻灯片图像占位符 1"/>
          <p:cNvSpPr>
            <a:spLocks noGrp="1" noRot="1" noChangeAspect="1" noTextEdit="1"/>
          </p:cNvSpPr>
          <p:nvPr>
            <p:ph type="sldImg"/>
          </p:nvPr>
        </p:nvSpPr>
        <p:spPr/>
      </p:sp>
      <p:sp>
        <p:nvSpPr>
          <p:cNvPr id="1802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802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幻灯片图像占位符 1"/>
          <p:cNvSpPr>
            <a:spLocks noGrp="1" noRot="1" noChangeAspect="1" noTextEdit="1"/>
          </p:cNvSpPr>
          <p:nvPr>
            <p:ph type="sldImg"/>
          </p:nvPr>
        </p:nvSpPr>
        <p:spPr/>
      </p:sp>
      <p:sp>
        <p:nvSpPr>
          <p:cNvPr id="18022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8022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幻灯片图像占位符 1"/>
          <p:cNvSpPr>
            <a:spLocks noGrp="1" noRot="1" noChangeAspect="1" noTextEdit="1"/>
          </p:cNvSpPr>
          <p:nvPr>
            <p:ph type="sldImg"/>
          </p:nvPr>
        </p:nvSpPr>
        <p:spPr/>
      </p:sp>
      <p:sp>
        <p:nvSpPr>
          <p:cNvPr id="19456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9456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幻灯片图像占位符 1"/>
          <p:cNvSpPr>
            <a:spLocks noGrp="1" noRot="1" noChangeAspect="1" noTextEdit="1"/>
          </p:cNvSpPr>
          <p:nvPr>
            <p:ph type="sldImg"/>
          </p:nvPr>
        </p:nvSpPr>
        <p:spPr/>
      </p:sp>
      <p:sp>
        <p:nvSpPr>
          <p:cNvPr id="19456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9456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7" name="幻灯片图像占位符 1"/>
          <p:cNvSpPr>
            <a:spLocks noGrp="1" noRot="1" noChangeAspect="1" noTextEdit="1"/>
          </p:cNvSpPr>
          <p:nvPr>
            <p:ph type="sldImg"/>
          </p:nvPr>
        </p:nvSpPr>
        <p:spPr/>
      </p:sp>
      <p:sp>
        <p:nvSpPr>
          <p:cNvPr id="198658"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19865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5" name="幻灯片图像占位符 1"/>
          <p:cNvSpPr>
            <a:spLocks noGrp="1" noRot="1" noChangeAspect="1" noTextEdit="1"/>
          </p:cNvSpPr>
          <p:nvPr>
            <p:ph type="sldImg"/>
          </p:nvPr>
        </p:nvSpPr>
        <p:spPr/>
      </p:sp>
      <p:sp>
        <p:nvSpPr>
          <p:cNvPr id="200706"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0070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3" name="幻灯片图像占位符 1"/>
          <p:cNvSpPr>
            <a:spLocks noGrp="1" noRot="1" noChangeAspect="1" noTextEdit="1"/>
          </p:cNvSpPr>
          <p:nvPr>
            <p:ph type="sldImg"/>
          </p:nvPr>
        </p:nvSpPr>
        <p:spPr/>
      </p:sp>
      <p:sp>
        <p:nvSpPr>
          <p:cNvPr id="202754"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0275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1" name="幻灯片图像占位符 1"/>
          <p:cNvSpPr>
            <a:spLocks noGrp="1" noRot="1" noChangeAspect="1" noTextEdit="1"/>
          </p:cNvSpPr>
          <p:nvPr>
            <p:ph type="sldImg"/>
          </p:nvPr>
        </p:nvSpPr>
        <p:spPr/>
      </p:sp>
      <p:sp>
        <p:nvSpPr>
          <p:cNvPr id="204802"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048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49" name="幻灯片图像占位符 1"/>
          <p:cNvSpPr>
            <a:spLocks noGrp="1" noRot="1" noChangeAspect="1" noTextEdit="1"/>
          </p:cNvSpPr>
          <p:nvPr>
            <p:ph type="sldImg"/>
          </p:nvPr>
        </p:nvSpPr>
        <p:spPr/>
      </p:sp>
      <p:sp>
        <p:nvSpPr>
          <p:cNvPr id="206850"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0685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p>
            <a:pPr lvl="0" algn="r"/>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幻灯片图像占位符 1"/>
          <p:cNvSpPr>
            <a:spLocks noGrp="1" noRot="1" noChangeAspect="1" noTextEdit="1"/>
          </p:cNvSpPr>
          <p:nvPr>
            <p:ph type="sldImg"/>
          </p:nvPr>
        </p:nvSpPr>
        <p:spPr/>
      </p:sp>
      <p:sp>
        <p:nvSpPr>
          <p:cNvPr id="21709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1709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幻灯片图像占位符 1"/>
          <p:cNvSpPr>
            <a:spLocks noGrp="1" noRot="1" noChangeAspect="1" noTextEdit="1"/>
          </p:cNvSpPr>
          <p:nvPr>
            <p:ph type="sldImg"/>
          </p:nvPr>
        </p:nvSpPr>
        <p:spPr/>
      </p:sp>
      <p:sp>
        <p:nvSpPr>
          <p:cNvPr id="21709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1709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幻灯片图像占位符 1"/>
          <p:cNvSpPr>
            <a:spLocks noGrp="1" noRot="1" noChangeAspect="1" noTextEdit="1"/>
          </p:cNvSpPr>
          <p:nvPr>
            <p:ph type="sldImg"/>
          </p:nvPr>
        </p:nvSpPr>
        <p:spPr/>
      </p:sp>
      <p:sp>
        <p:nvSpPr>
          <p:cNvPr id="22118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2118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幻灯片图像占位符 1"/>
          <p:cNvSpPr>
            <a:spLocks noGrp="1" noRot="1" noChangeAspect="1" noTextEdit="1"/>
          </p:cNvSpPr>
          <p:nvPr>
            <p:ph type="sldImg"/>
          </p:nvPr>
        </p:nvSpPr>
        <p:spPr/>
      </p:sp>
      <p:sp>
        <p:nvSpPr>
          <p:cNvPr id="223235"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23236"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幻灯片图像占位符 1"/>
          <p:cNvSpPr>
            <a:spLocks noGrp="1" noRot="1" noChangeAspect="1" noTextEdit="1"/>
          </p:cNvSpPr>
          <p:nvPr>
            <p:ph type="sldImg"/>
          </p:nvPr>
        </p:nvSpPr>
        <p:spPr/>
      </p:sp>
      <p:sp>
        <p:nvSpPr>
          <p:cNvPr id="225283"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25284"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幻灯片图像占位符 1"/>
          <p:cNvSpPr>
            <a:spLocks noGrp="1" noRot="1" noChangeAspect="1" noTextEdit="1"/>
          </p:cNvSpPr>
          <p:nvPr>
            <p:ph type="sldImg"/>
          </p:nvPr>
        </p:nvSpPr>
        <p:spPr/>
      </p:sp>
      <p:sp>
        <p:nvSpPr>
          <p:cNvPr id="22733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2733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幻灯片图像占位符 1"/>
          <p:cNvSpPr>
            <a:spLocks noGrp="1" noRot="1" noChangeAspect="1" noTextEdit="1"/>
          </p:cNvSpPr>
          <p:nvPr>
            <p:ph type="sldImg"/>
          </p:nvPr>
        </p:nvSpPr>
        <p:spPr/>
      </p:sp>
      <p:sp>
        <p:nvSpPr>
          <p:cNvPr id="229379"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29380"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幻灯片图像占位符 1"/>
          <p:cNvSpPr>
            <a:spLocks noGrp="1" noRot="1" noChangeAspect="1" noTextEdit="1"/>
          </p:cNvSpPr>
          <p:nvPr>
            <p:ph type="sldImg"/>
          </p:nvPr>
        </p:nvSpPr>
        <p:spPr/>
      </p:sp>
      <p:sp>
        <p:nvSpPr>
          <p:cNvPr id="23142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3142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幻灯片图像占位符 1"/>
          <p:cNvSpPr>
            <a:spLocks noGrp="1" noRot="1" noChangeAspect="1" noTextEdit="1"/>
          </p:cNvSpPr>
          <p:nvPr>
            <p:ph type="sldImg"/>
          </p:nvPr>
        </p:nvSpPr>
        <p:spPr/>
      </p:sp>
      <p:sp>
        <p:nvSpPr>
          <p:cNvPr id="233475"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33476"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幻灯片图像占位符 1"/>
          <p:cNvSpPr>
            <a:spLocks noGrp="1" noRot="1" noChangeAspect="1" noTextEdit="1"/>
          </p:cNvSpPr>
          <p:nvPr>
            <p:ph type="sldImg"/>
          </p:nvPr>
        </p:nvSpPr>
        <p:spPr/>
      </p:sp>
      <p:sp>
        <p:nvSpPr>
          <p:cNvPr id="235523"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35524"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幻灯片图像占位符 1"/>
          <p:cNvSpPr>
            <a:spLocks noGrp="1" noRot="1" noChangeAspect="1" noTextEdit="1"/>
          </p:cNvSpPr>
          <p:nvPr>
            <p:ph type="sldImg"/>
          </p:nvPr>
        </p:nvSpPr>
        <p:spPr/>
      </p:sp>
      <p:sp>
        <p:nvSpPr>
          <p:cNvPr id="23757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3757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幻灯片图像占位符 1"/>
          <p:cNvSpPr>
            <a:spLocks noGrp="1" noRot="1" noChangeAspect="1" noTextEdit="1"/>
          </p:cNvSpPr>
          <p:nvPr>
            <p:ph type="sldImg"/>
          </p:nvPr>
        </p:nvSpPr>
        <p:spPr/>
      </p:sp>
      <p:sp>
        <p:nvSpPr>
          <p:cNvPr id="239619"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39620"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幻灯片图像占位符 1"/>
          <p:cNvSpPr>
            <a:spLocks noGrp="1" noRot="1" noChangeAspect="1" noTextEdit="1"/>
          </p:cNvSpPr>
          <p:nvPr>
            <p:ph type="sldImg"/>
          </p:nvPr>
        </p:nvSpPr>
        <p:spPr/>
      </p:sp>
      <p:sp>
        <p:nvSpPr>
          <p:cNvPr id="24166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4166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幻灯片图像占位符 1"/>
          <p:cNvSpPr>
            <a:spLocks noGrp="1" noRot="1" noChangeAspect="1" noTextEdit="1"/>
          </p:cNvSpPr>
          <p:nvPr>
            <p:ph type="sldImg"/>
          </p:nvPr>
        </p:nvSpPr>
        <p:spPr/>
      </p:sp>
      <p:sp>
        <p:nvSpPr>
          <p:cNvPr id="243715"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43716"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幻灯片图像占位符 1"/>
          <p:cNvSpPr>
            <a:spLocks noGrp="1" noRot="1" noChangeAspect="1" noTextEdit="1"/>
          </p:cNvSpPr>
          <p:nvPr>
            <p:ph type="sldImg"/>
          </p:nvPr>
        </p:nvSpPr>
        <p:spPr/>
      </p:sp>
      <p:sp>
        <p:nvSpPr>
          <p:cNvPr id="245763"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45764"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幻灯片图像占位符 1"/>
          <p:cNvSpPr>
            <a:spLocks noGrp="1" noRot="1" noChangeAspect="1" noTextEdit="1"/>
          </p:cNvSpPr>
          <p:nvPr>
            <p:ph type="sldImg"/>
          </p:nvPr>
        </p:nvSpPr>
        <p:spPr/>
      </p:sp>
      <p:sp>
        <p:nvSpPr>
          <p:cNvPr id="24781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4781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幻灯片图像占位符 1"/>
          <p:cNvSpPr>
            <a:spLocks noGrp="1" noRot="1" noChangeAspect="1" noTextEdit="1"/>
          </p:cNvSpPr>
          <p:nvPr>
            <p:ph type="sldImg"/>
          </p:nvPr>
        </p:nvSpPr>
        <p:spPr/>
      </p:sp>
      <p:sp>
        <p:nvSpPr>
          <p:cNvPr id="249859"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49860"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幻灯片图像占位符 1"/>
          <p:cNvSpPr>
            <a:spLocks noGrp="1" noRot="1" noChangeAspect="1" noTextEdit="1"/>
          </p:cNvSpPr>
          <p:nvPr>
            <p:ph type="sldImg"/>
          </p:nvPr>
        </p:nvSpPr>
        <p:spPr/>
      </p:sp>
      <p:sp>
        <p:nvSpPr>
          <p:cNvPr id="25190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5190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幻灯片图像占位符 1"/>
          <p:cNvSpPr>
            <a:spLocks noGrp="1" noRot="1" noChangeAspect="1" noTextEdit="1"/>
          </p:cNvSpPr>
          <p:nvPr>
            <p:ph type="sldImg"/>
          </p:nvPr>
        </p:nvSpPr>
        <p:spPr/>
      </p:sp>
      <p:sp>
        <p:nvSpPr>
          <p:cNvPr id="253955"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53956"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幻灯片图像占位符 1"/>
          <p:cNvSpPr>
            <a:spLocks noGrp="1" noRot="1" noChangeAspect="1" noTextEdit="1"/>
          </p:cNvSpPr>
          <p:nvPr>
            <p:ph type="sldImg"/>
          </p:nvPr>
        </p:nvSpPr>
        <p:spPr/>
      </p:sp>
      <p:sp>
        <p:nvSpPr>
          <p:cNvPr id="256003"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56004"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50" name="幻灯片图像占位符 1"/>
          <p:cNvSpPr>
            <a:spLocks noGrp="1" noRot="1" noChangeAspect="1" noTextEdit="1"/>
          </p:cNvSpPr>
          <p:nvPr>
            <p:ph type="sldImg"/>
          </p:nvPr>
        </p:nvSpPr>
        <p:spPr/>
      </p:sp>
      <p:sp>
        <p:nvSpPr>
          <p:cNvPr id="25805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5805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8" name="幻灯片图像占位符 1"/>
          <p:cNvSpPr>
            <a:spLocks noGrp="1" noRot="1" noChangeAspect="1" noTextEdit="1"/>
          </p:cNvSpPr>
          <p:nvPr>
            <p:ph type="sldImg"/>
          </p:nvPr>
        </p:nvSpPr>
        <p:spPr/>
      </p:sp>
      <p:sp>
        <p:nvSpPr>
          <p:cNvPr id="260099"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60100"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幻灯片图像占位符 1"/>
          <p:cNvSpPr>
            <a:spLocks noGrp="1" noRot="1" noChangeAspect="1" noTextEdit="1"/>
          </p:cNvSpPr>
          <p:nvPr>
            <p:ph type="sldImg"/>
          </p:nvPr>
        </p:nvSpPr>
        <p:spPr/>
      </p:sp>
      <p:sp>
        <p:nvSpPr>
          <p:cNvPr id="26214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6214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4" name="幻灯片图像占位符 1"/>
          <p:cNvSpPr>
            <a:spLocks noGrp="1" noRot="1" noChangeAspect="1" noTextEdit="1"/>
          </p:cNvSpPr>
          <p:nvPr>
            <p:ph type="sldImg"/>
          </p:nvPr>
        </p:nvSpPr>
        <p:spPr/>
      </p:sp>
      <p:sp>
        <p:nvSpPr>
          <p:cNvPr id="264195"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64196"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42" name="幻灯片图像占位符 1"/>
          <p:cNvSpPr>
            <a:spLocks noGrp="1" noRot="1" noChangeAspect="1" noTextEdit="1"/>
          </p:cNvSpPr>
          <p:nvPr>
            <p:ph type="sldImg"/>
          </p:nvPr>
        </p:nvSpPr>
        <p:spPr/>
      </p:sp>
      <p:sp>
        <p:nvSpPr>
          <p:cNvPr id="266243"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66244"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幻灯片图像占位符 1"/>
          <p:cNvSpPr>
            <a:spLocks noGrp="1" noRot="1" noChangeAspect="1" noTextEdit="1"/>
          </p:cNvSpPr>
          <p:nvPr>
            <p:ph type="sldImg"/>
          </p:nvPr>
        </p:nvSpPr>
        <p:spPr/>
      </p:sp>
      <p:sp>
        <p:nvSpPr>
          <p:cNvPr id="26829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6829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幻灯片图像占位符 1"/>
          <p:cNvSpPr>
            <a:spLocks noGrp="1" noRot="1" noChangeAspect="1" noTextEdit="1"/>
          </p:cNvSpPr>
          <p:nvPr>
            <p:ph type="sldImg"/>
          </p:nvPr>
        </p:nvSpPr>
        <p:spPr/>
      </p:sp>
      <p:sp>
        <p:nvSpPr>
          <p:cNvPr id="26829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6829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8" name="幻灯片图像占位符 1"/>
          <p:cNvSpPr>
            <a:spLocks noGrp="1" noRot="1" noChangeAspect="1" noTextEdit="1"/>
          </p:cNvSpPr>
          <p:nvPr>
            <p:ph type="sldImg"/>
          </p:nvPr>
        </p:nvSpPr>
        <p:spPr/>
      </p:sp>
      <p:sp>
        <p:nvSpPr>
          <p:cNvPr id="270339"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70340"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2386" name="幻灯片图像占位符 1"/>
          <p:cNvSpPr>
            <a:spLocks noGrp="1" noRot="1" noChangeAspect="1" noTextEdit="1"/>
          </p:cNvSpPr>
          <p:nvPr>
            <p:ph type="sldImg"/>
          </p:nvPr>
        </p:nvSpPr>
        <p:spPr/>
      </p:sp>
      <p:sp>
        <p:nvSpPr>
          <p:cNvPr id="27238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7238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4434" name="幻灯片图像占位符 1"/>
          <p:cNvSpPr>
            <a:spLocks noGrp="1" noRot="1" noChangeAspect="1" noTextEdit="1"/>
          </p:cNvSpPr>
          <p:nvPr>
            <p:ph type="sldImg"/>
          </p:nvPr>
        </p:nvSpPr>
        <p:spPr/>
      </p:sp>
      <p:sp>
        <p:nvSpPr>
          <p:cNvPr id="274435"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74436"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82" name="幻灯片图像占位符 1"/>
          <p:cNvSpPr>
            <a:spLocks noGrp="1" noRot="1" noChangeAspect="1" noTextEdit="1"/>
          </p:cNvSpPr>
          <p:nvPr>
            <p:ph type="sldImg"/>
          </p:nvPr>
        </p:nvSpPr>
        <p:spPr/>
      </p:sp>
      <p:sp>
        <p:nvSpPr>
          <p:cNvPr id="276483"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76484"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8530" name="幻灯片图像占位符 1"/>
          <p:cNvSpPr>
            <a:spLocks noGrp="1" noRot="1" noChangeAspect="1" noTextEdit="1"/>
          </p:cNvSpPr>
          <p:nvPr>
            <p:ph type="sldImg"/>
          </p:nvPr>
        </p:nvSpPr>
        <p:spPr/>
      </p:sp>
      <p:sp>
        <p:nvSpPr>
          <p:cNvPr id="278531"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78532"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8" name="幻灯片图像占位符 1"/>
          <p:cNvSpPr>
            <a:spLocks noGrp="1" noRot="1" noChangeAspect="1" noTextEdit="1"/>
          </p:cNvSpPr>
          <p:nvPr>
            <p:ph type="sldImg"/>
          </p:nvPr>
        </p:nvSpPr>
        <p:spPr/>
      </p:sp>
      <p:sp>
        <p:nvSpPr>
          <p:cNvPr id="280579"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80580"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幻灯片图像占位符 1"/>
          <p:cNvSpPr>
            <a:spLocks noGrp="1" noRot="1" noChangeAspect="1" noTextEdit="1"/>
          </p:cNvSpPr>
          <p:nvPr>
            <p:ph type="sldImg"/>
          </p:nvPr>
        </p:nvSpPr>
        <p:spPr/>
      </p:sp>
      <p:sp>
        <p:nvSpPr>
          <p:cNvPr id="28262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8262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幻灯片图像占位符 1"/>
          <p:cNvSpPr>
            <a:spLocks noGrp="1" noRot="1" noChangeAspect="1" noTextEdit="1"/>
          </p:cNvSpPr>
          <p:nvPr>
            <p:ph type="sldImg"/>
          </p:nvPr>
        </p:nvSpPr>
        <p:spPr/>
      </p:sp>
      <p:sp>
        <p:nvSpPr>
          <p:cNvPr id="28262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8262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幻灯片图像占位符 1"/>
          <p:cNvSpPr>
            <a:spLocks noGrp="1" noRot="1" noChangeAspect="1" noTextEdit="1"/>
          </p:cNvSpPr>
          <p:nvPr>
            <p:ph type="sldImg"/>
          </p:nvPr>
        </p:nvSpPr>
        <p:spPr/>
      </p:sp>
      <p:sp>
        <p:nvSpPr>
          <p:cNvPr id="28262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8262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幻灯片图像占位符 1"/>
          <p:cNvSpPr>
            <a:spLocks noGrp="1" noRot="1" noChangeAspect="1" noTextEdit="1"/>
          </p:cNvSpPr>
          <p:nvPr>
            <p:ph type="sldImg"/>
          </p:nvPr>
        </p:nvSpPr>
        <p:spPr/>
      </p:sp>
      <p:sp>
        <p:nvSpPr>
          <p:cNvPr id="282627" name="备注占位符 2"/>
          <p:cNvSpPr>
            <a:spLocks noGrp="1"/>
          </p:cNvSpPr>
          <p:nvPr>
            <p:ph type="body"/>
          </p:nvPr>
        </p:nvSpPr>
        <p:spPr/>
        <p:txBody>
          <a:bodyPr wrap="square" lIns="91440" tIns="45720" rIns="91440" bIns="45720" anchor="t"/>
          <a:p>
            <a:pPr lvl="0"/>
            <a:endParaRPr lang="zh-CN" altLang="en-US" dirty="0">
              <a:ea typeface="宋体" panose="02010600030101010101" pitchFamily="2" charset="-122"/>
            </a:endParaRPr>
          </a:p>
        </p:txBody>
      </p:sp>
      <p:sp>
        <p:nvSpPr>
          <p:cNvPr id="282628" name="灯片编号占位符 3"/>
          <p:cNvSpPr txBox="1">
            <a:spLocks noGrp="1"/>
          </p:cNvSpPr>
          <p:nvPr>
            <p:ph type="sldNum" sz="quarter"/>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dirty="0">
                <a:latin typeface="Times New Roman" panose="02020603050405020304" pitchFamily="18" charset="0"/>
                <a:ea typeface="宋体" panose="02010600030101010101" pitchFamily="2" charset="-122"/>
              </a:rPr>
            </a:fld>
            <a:endParaRPr lang="zh-CN" altLang="en-US" sz="1200" dirty="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1266"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1268"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1269"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1270"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1271"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1272"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1273"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1274"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1275"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AC48867-BA4B-439B-8CE3-9E80F9E0C74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2290"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2292"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2293"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2294"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2295"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2296"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2297"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2298"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2299"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1E92A1-0B92-437D-B663-B9A2E939C367}"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3314"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3316"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3317"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3318"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3319"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3320"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3321"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3322"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3323"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0591BE1-C145-412C-AEFA-E3FF4A5884D7}"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4338"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4340"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4341"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4342"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4343"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4344"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4345"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4346"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4347"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6BBB75E-EB03-4F0B-ABD6-E267DF1BA3AB}"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5362"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5364"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5365"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5366"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5367"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5368"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5369"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5370"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5371"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CF9B721-FE7B-4DF5-B138-D7AD1D54932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6386"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6388"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6389"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6390"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6391"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6392"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6393"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6394"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6395"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B60EB22-6589-494C-90AA-21ABF0CD59F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7410"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7412"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7413"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7414"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7415"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7416"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7417"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7418"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7419"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76F75D2-5B72-4A3C-8BEB-A05CE4E2DB9C}"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8434"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8436"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8437"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8438"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8439"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8440"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8441"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8442"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8443"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1E92A1-0B92-437D-B663-B9A2E939C367}"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19458"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9460"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9461"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9462"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9463"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9464"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9465"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9466"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9467"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1E92A1-0B92-437D-B663-B9A2E939C367}"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rotWithShape="0">
          <a:gsLst>
            <a:gs pos="0">
              <a:schemeClr val="bg2"/>
            </a:gs>
            <a:gs pos="100000">
              <a:schemeClr val="bg1"/>
            </a:gs>
          </a:gsLst>
          <a:lin ang="0" scaled="1"/>
          <a:tileRect/>
        </a:gradFill>
        <a:effectLst/>
      </p:bgPr>
    </p:bg>
    <p:spTree>
      <p:nvGrpSpPr>
        <p:cNvPr id="1" name=""/>
        <p:cNvGrpSpPr/>
        <p:nvPr/>
      </p:nvGrpSpPr>
      <p:grpSpPr>
        <a:xfrm>
          <a:off x="0" y="0"/>
          <a:ext cx="0" cy="0"/>
          <a:chOff x="0" y="0"/>
          <a:chExt cx="0" cy="0"/>
        </a:xfrm>
      </p:grpSpPr>
      <p:grpSp>
        <p:nvGrpSpPr>
          <p:cNvPr id="20482" name="Group 18"/>
          <p:cNvGrpSpPr/>
          <p:nvPr/>
        </p:nvGrpSpPr>
        <p:grpSpPr>
          <a:xfrm>
            <a:off x="-9525" y="-20637"/>
            <a:ext cx="9153525" cy="6878637"/>
            <a:chOff x="-6" y="-13"/>
            <a:chExt cx="5766" cy="4333"/>
          </a:xfrm>
        </p:grpSpPr>
        <p:sp>
          <p:nvSpPr>
            <p:cNvPr id="18"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20484"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20485"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486"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487"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488"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489"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490"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491"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91" name="Rectangle 19"/>
          <p:cNvSpPr>
            <a:spLocks noGrp="1" noChangeArrowheads="1"/>
          </p:cNvSpPr>
          <p:nvPr>
            <p:ph type="ctrTitle" sz="quarter"/>
          </p:nvPr>
        </p:nvSpPr>
        <p:spPr>
          <a:xfrm>
            <a:off x="685800" y="2057400"/>
            <a:ext cx="7772400" cy="1143000"/>
          </a:xfrm>
        </p:spPr>
        <p:txBody>
          <a:bodyPr/>
          <a:lstStyle>
            <a:lvl1pPr>
              <a:defRPr/>
            </a:lvl1pPr>
          </a:lstStyle>
          <a:p>
            <a:pPr lvl="0" fontAlgn="base"/>
            <a:r>
              <a:rPr lang="en-US" altLang="zh-CN" strike="noStrike" noProof="0" smtClean="0"/>
              <a:t>Click to edit Master title style</a:t>
            </a:r>
            <a:endParaRPr lang="en-US" altLang="zh-CN" strike="noStrike" noProof="0" smtClean="0"/>
          </a:p>
        </p:txBody>
      </p:sp>
      <p:sp>
        <p:nvSpPr>
          <p:cNvPr id="3092" name="Rectangle 20"/>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
        <p:nvSpPr>
          <p:cNvPr id="27" name="Rectangle 21"/>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8"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A1E92A1-0B92-437D-B663-B9A2E939C367}"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981200"/>
            <a:ext cx="381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random/>
    <p:sndAc>
      <p:stSnd>
        <p:snd r:embed="rId2" name="clap.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audio" Target="../media/audio1.wav"/><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audio" Target="../media/audio1.wav"/><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audio" Target="../media/audio1.wav"/><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audio" Target="../media/audio1.wav"/><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audio" Target="../media/audio1.wav"/><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3" Type="http://schemas.openxmlformats.org/officeDocument/2006/relationships/theme" Target="../theme/theme6.xml"/><Relationship Id="rId12" Type="http://schemas.openxmlformats.org/officeDocument/2006/relationships/audio" Target="../media/audio1.wav"/><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3" Type="http://schemas.openxmlformats.org/officeDocument/2006/relationships/theme" Target="../theme/theme7.xml"/><Relationship Id="rId12" Type="http://schemas.openxmlformats.org/officeDocument/2006/relationships/audio" Target="../media/audio1.wav"/><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3" Type="http://schemas.openxmlformats.org/officeDocument/2006/relationships/theme" Target="../theme/theme8.xml"/><Relationship Id="rId12" Type="http://schemas.openxmlformats.org/officeDocument/2006/relationships/audio" Target="../media/audio1.wav"/><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3" Type="http://schemas.openxmlformats.org/officeDocument/2006/relationships/theme" Target="../theme/theme9.xml"/><Relationship Id="rId12" Type="http://schemas.openxmlformats.org/officeDocument/2006/relationships/audio" Target="../media/audio1.wav"/><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3" Type="http://schemas.openxmlformats.org/officeDocument/2006/relationships/theme" Target="../theme/theme10.xml"/><Relationship Id="rId12" Type="http://schemas.openxmlformats.org/officeDocument/2006/relationships/audio" Target="../media/audio1.wav"/><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1026" name="Group 18"/>
          <p:cNvGrpSpPr/>
          <p:nvPr/>
        </p:nvGrpSpPr>
        <p:grpSpPr>
          <a:xfrm>
            <a:off x="-9525" y="-20637"/>
            <a:ext cx="9153525" cy="6878637"/>
            <a:chOff x="-6" y="-13"/>
            <a:chExt cx="5766" cy="4333"/>
          </a:xfrm>
        </p:grpSpPr>
        <p:sp>
          <p:nvSpPr>
            <p:cNvPr id="2050"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028"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029"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30"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31"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32"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33"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34"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35"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1036"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1037"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6029D43-8BB7-498B-9957-EAC265E8D01E}"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2050" name="Group 18"/>
          <p:cNvGrpSpPr/>
          <p:nvPr/>
        </p:nvGrpSpPr>
        <p:grpSpPr>
          <a:xfrm>
            <a:off x="-9525" y="-20637"/>
            <a:ext cx="9153525" cy="6878637"/>
            <a:chOff x="-6" y="-13"/>
            <a:chExt cx="5766" cy="4333"/>
          </a:xfrm>
        </p:grpSpPr>
        <p:sp>
          <p:nvSpPr>
            <p:cNvPr id="2"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2052"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2053"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54"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55"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56"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57"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58"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2059"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2060"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2061"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3074" name="Group 18"/>
          <p:cNvGrpSpPr/>
          <p:nvPr/>
        </p:nvGrpSpPr>
        <p:grpSpPr>
          <a:xfrm>
            <a:off x="-9525" y="-20637"/>
            <a:ext cx="9153525" cy="6878637"/>
            <a:chOff x="-6" y="-13"/>
            <a:chExt cx="5766" cy="4333"/>
          </a:xfrm>
        </p:grpSpPr>
        <p:sp>
          <p:nvSpPr>
            <p:cNvPr id="2050"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3076"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3077"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3078"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3079"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3080"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3081"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3082"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3083"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3084"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3085"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BF8047B-0877-47AB-BBF0-96A469236E8A}"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4098" name="Group 18"/>
          <p:cNvGrpSpPr/>
          <p:nvPr/>
        </p:nvGrpSpPr>
        <p:grpSpPr>
          <a:xfrm>
            <a:off x="-9525" y="-20637"/>
            <a:ext cx="9153525" cy="6878637"/>
            <a:chOff x="-6" y="-13"/>
            <a:chExt cx="5766" cy="4333"/>
          </a:xfrm>
        </p:grpSpPr>
        <p:sp>
          <p:nvSpPr>
            <p:cNvPr id="2050"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4100"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4101"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4102"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4103"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4104"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4105"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4106"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4107"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4108"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4109"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0686302-0E13-4D1B-AC79-7BC4E15401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5122" name="Group 18"/>
          <p:cNvGrpSpPr/>
          <p:nvPr/>
        </p:nvGrpSpPr>
        <p:grpSpPr>
          <a:xfrm>
            <a:off x="-9525" y="-20637"/>
            <a:ext cx="9153525" cy="6878637"/>
            <a:chOff x="-6" y="-13"/>
            <a:chExt cx="5766" cy="4333"/>
          </a:xfrm>
        </p:grpSpPr>
        <p:sp>
          <p:nvSpPr>
            <p:cNvPr id="2"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5124"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5125"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5126"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5127"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5128"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5129"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5130"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5131"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5132"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5133"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EFC1AEC-D10F-4B0F-9B91-F64DF177C872}"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6146" name="Group 18"/>
          <p:cNvGrpSpPr/>
          <p:nvPr/>
        </p:nvGrpSpPr>
        <p:grpSpPr>
          <a:xfrm>
            <a:off x="-9525" y="-20637"/>
            <a:ext cx="9153525" cy="6878637"/>
            <a:chOff x="-6" y="-13"/>
            <a:chExt cx="5766" cy="4333"/>
          </a:xfrm>
        </p:grpSpPr>
        <p:sp>
          <p:nvSpPr>
            <p:cNvPr id="2050"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6148"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6149"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6150"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6151"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6152"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6153"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6154"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6155"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6156"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6157"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0ED92A4-3257-4ECD-A3BE-8D566AF41ABF}"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7170" name="Group 18"/>
          <p:cNvGrpSpPr/>
          <p:nvPr/>
        </p:nvGrpSpPr>
        <p:grpSpPr>
          <a:xfrm>
            <a:off x="-9525" y="-20637"/>
            <a:ext cx="9153525" cy="6878637"/>
            <a:chOff x="-6" y="-13"/>
            <a:chExt cx="5766" cy="4333"/>
          </a:xfrm>
        </p:grpSpPr>
        <p:sp>
          <p:nvSpPr>
            <p:cNvPr id="2050"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7172"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7173"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7174"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7175"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7176"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7177"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7178"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7179"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7180"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7181"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4D370A3-5C26-4262-BF27-0EC860099BED}"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8194" name="Group 18"/>
          <p:cNvGrpSpPr/>
          <p:nvPr/>
        </p:nvGrpSpPr>
        <p:grpSpPr>
          <a:xfrm>
            <a:off x="-9525" y="-20637"/>
            <a:ext cx="9153525" cy="6878637"/>
            <a:chOff x="-6" y="-13"/>
            <a:chExt cx="5766" cy="4333"/>
          </a:xfrm>
        </p:grpSpPr>
        <p:sp>
          <p:nvSpPr>
            <p:cNvPr id="2"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8196"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8197"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8198"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8199"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8200"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8201"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8202"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8203"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8204"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8205"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9218" name="Group 18"/>
          <p:cNvGrpSpPr/>
          <p:nvPr/>
        </p:nvGrpSpPr>
        <p:grpSpPr>
          <a:xfrm>
            <a:off x="-9525" y="-20637"/>
            <a:ext cx="9153525" cy="6878637"/>
            <a:chOff x="-6" y="-13"/>
            <a:chExt cx="5766" cy="4333"/>
          </a:xfrm>
        </p:grpSpPr>
        <p:sp>
          <p:nvSpPr>
            <p:cNvPr id="2"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9220"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9221"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9222"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9223"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9224"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9225"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9226"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9227"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9228"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9229"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tileRect/>
        </a:gradFill>
        <a:effectLst/>
      </p:bgPr>
    </p:bg>
    <p:spTree>
      <p:nvGrpSpPr>
        <p:cNvPr id="1" name=""/>
        <p:cNvGrpSpPr/>
        <p:nvPr/>
      </p:nvGrpSpPr>
      <p:grpSpPr/>
      <p:grpSp>
        <p:nvGrpSpPr>
          <p:cNvPr id="10242" name="Group 18"/>
          <p:cNvGrpSpPr/>
          <p:nvPr/>
        </p:nvGrpSpPr>
        <p:grpSpPr>
          <a:xfrm>
            <a:off x="-9525" y="-20637"/>
            <a:ext cx="9153525" cy="6878637"/>
            <a:chOff x="-6" y="-13"/>
            <a:chExt cx="5766" cy="4333"/>
          </a:xfrm>
        </p:grpSpPr>
        <p:sp>
          <p:nvSpPr>
            <p:cNvPr id="2" name="Rectangle 2"/>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10244" name="Freeform 3"/>
            <p:cNvSpPr/>
            <p:nvPr/>
          </p:nvSpPr>
          <p:spPr>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tileRect/>
            </a:gradFill>
            <a:ln w="9525">
              <a:noFill/>
            </a:ln>
          </p:spPr>
          <p:txBody>
            <a:bodyPr/>
            <a:p>
              <a:endParaRPr lang="zh-CN" altLang="en-US"/>
            </a:p>
          </p:txBody>
        </p:sp>
        <p:sp>
          <p:nvSpPr>
            <p:cNvPr id="10245" name="Freeform 4"/>
            <p:cNvSpPr/>
            <p:nvPr/>
          </p:nvSpPr>
          <p:spPr>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246" name="Freeform 5"/>
            <p:cNvSpPr/>
            <p:nvPr/>
          </p:nvSpPr>
          <p:spPr>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247" name="Freeform 6"/>
            <p:cNvSpPr/>
            <p:nvPr/>
          </p:nvSpPr>
          <p:spPr>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248" name="Freeform 7"/>
            <p:cNvSpPr/>
            <p:nvPr/>
          </p:nvSpPr>
          <p:spPr>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249" name="Freeform 8"/>
            <p:cNvSpPr/>
            <p:nvPr/>
          </p:nvSpPr>
          <p:spPr>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250" name="Freeform 9"/>
            <p:cNvSpPr/>
            <p:nvPr/>
          </p:nvSpPr>
          <p:spPr>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tileRect/>
            </a:gradFill>
            <a:ln w="9525">
              <a:noFill/>
            </a:ln>
          </p:spPr>
          <p:txBody>
            <a:bodyPr/>
            <a:p>
              <a:endParaRPr lang="zh-CN" altLang="en-US"/>
            </a:p>
          </p:txBody>
        </p:sp>
        <p:sp>
          <p:nvSpPr>
            <p:cNvPr id="10251" name="Freeform 10"/>
            <p:cNvSpPr/>
            <p:nvPr/>
          </p:nvSpPr>
          <p:spPr>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tileRect/>
            </a:gradFill>
            <a:ln w="9525">
              <a:noFill/>
            </a:ln>
          </p:spPr>
          <p:txBody>
            <a:bodyPr/>
            <a:p>
              <a:endParaRPr lang="zh-CN" altLang="en-US"/>
            </a:p>
          </p:txBody>
        </p:sp>
      </p:grpSp>
      <p:sp>
        <p:nvSpPr>
          <p:cNvPr id="10252" name="Rectangle 19"/>
          <p:cNvSpPr>
            <a:spLocks noGrp="1"/>
          </p:cNvSpPr>
          <p:nvPr>
            <p:ph type="title"/>
          </p:nvPr>
        </p:nvSpPr>
        <p:spPr>
          <a:xfrm>
            <a:off x="685800" y="609600"/>
            <a:ext cx="7772400" cy="1143000"/>
          </a:xfrm>
          <a:prstGeom prst="rect">
            <a:avLst/>
          </a:prstGeom>
          <a:noFill/>
          <a:ln w="9525">
            <a:noFill/>
          </a:ln>
        </p:spPr>
        <p:txBody>
          <a:bodyPr anchor="ctr"/>
          <a:p>
            <a:pPr lvl="0"/>
            <a:r>
              <a:rPr lang="en-US" altLang="zh-CN" dirty="0"/>
              <a:t>Click to edit Master title style</a:t>
            </a:r>
            <a:endParaRPr lang="en-US" altLang="zh-CN" dirty="0"/>
          </a:p>
        </p:txBody>
      </p:sp>
      <p:sp>
        <p:nvSpPr>
          <p:cNvPr id="10253" name="Rectangle 20"/>
          <p:cNvSpPr>
            <a:spLocks noGrp="1"/>
          </p:cNvSpPr>
          <p:nvPr>
            <p:ph type="body"/>
          </p:nvPr>
        </p:nvSpPr>
        <p:spPr>
          <a:xfrm>
            <a:off x="685800" y="1981200"/>
            <a:ext cx="7772400" cy="4114800"/>
          </a:xfrm>
          <a:prstGeom prst="rect">
            <a:avLst/>
          </a:prstGeom>
          <a:noFill/>
          <a:ln w="9525">
            <a:noFill/>
          </a:ln>
        </p:spPr>
        <p:txBody>
          <a:bodyPr anchor="t"/>
          <a:p>
            <a:pPr lvl="0"/>
            <a:r>
              <a:rPr lang="en-US" altLang="zh-CN" dirty="0"/>
              <a:t>Click to edit Master text styles</a:t>
            </a:r>
            <a:endParaRPr lang="en-US" altLang="zh-CN" dirty="0"/>
          </a:p>
          <a:p>
            <a:pPr lvl="1" indent="-285750"/>
            <a:r>
              <a:rPr lang="en-US" altLang="zh-CN" dirty="0"/>
              <a:t>Second level</a:t>
            </a:r>
            <a:endParaRPr lang="en-US" altLang="zh-CN" dirty="0"/>
          </a:p>
          <a:p>
            <a:pPr lvl="2" indent="-228600"/>
            <a:r>
              <a:rPr lang="en-US" altLang="zh-CN" dirty="0"/>
              <a:t>Third level</a:t>
            </a:r>
            <a:endParaRPr lang="en-US" altLang="zh-CN" dirty="0"/>
          </a:p>
          <a:p>
            <a:pPr lvl="3" indent="-228600"/>
            <a:r>
              <a:rPr lang="en-US" altLang="zh-CN" dirty="0"/>
              <a:t>Fourth level</a:t>
            </a:r>
            <a:endParaRPr lang="en-US" altLang="zh-CN" dirty="0"/>
          </a:p>
          <a:p>
            <a:pPr lvl="4" indent="-228600"/>
            <a:r>
              <a:rPr lang="en-US" altLang="zh-CN" dirty="0"/>
              <a:t>Fifth level</a:t>
            </a:r>
            <a:endParaRPr lang="en-US" altLang="zh-CN" dirty="0"/>
          </a:p>
        </p:txBody>
      </p:sp>
      <p:sp>
        <p:nvSpPr>
          <p:cNvPr id="2069" name="Rectangle 21"/>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4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0" name="Rectangle 2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eaLnBrk="1" hangingPunct="1">
              <a:defRPr sz="14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71" name="Rectangle 23"/>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400">
                <a:latin typeface="+mn-lt"/>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059C7E6-FE4C-4B6D-B859-B812E4F5B174}" type="slidenum">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dk2" tx1="lt1" bg2="dk1"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med">
    <p:random/>
    <p:sndAc>
      <p:stSnd>
        <p:snd r:embed="rId12" name="clap.wav"/>
      </p:stSnd>
    </p:sndAc>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oleObject" Target="../embeddings/oleObject2.bin"/><Relationship Id="rId2" Type="http://schemas.openxmlformats.org/officeDocument/2006/relationships/image" Target="../media/image1.png"/><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oleObject" Target="../embeddings/oleObject5.bin"/><Relationship Id="rId2" Type="http://schemas.openxmlformats.org/officeDocument/2006/relationships/image" Target="../media/image1.png"/><Relationship Id="rId1"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media" Target="file:///E:\&#35745;&#31639;&#26426;&#38899;&#20048;\ComputerMusic\cope-emi-kb-concerto-excerp.mp3" TargetMode="External"/><Relationship Id="rId5" Type="http://schemas.openxmlformats.org/officeDocument/2006/relationships/audio" Target="file:///E:\&#35745;&#31639;&#26426;&#38899;&#20048;\ComputerMusic\cope-emi-kb-concerto-excerp.mp3" TargetMode="External"/><Relationship Id="rId4" Type="http://schemas.openxmlformats.org/officeDocument/2006/relationships/image" Target="../media/image5.png"/><Relationship Id="rId3" Type="http://schemas.microsoft.com/office/2007/relationships/media" Target="file:///E:\&#35745;&#31639;&#26426;&#38899;&#20048;\ComputerMusic\invention.mp3" TargetMode="External"/><Relationship Id="rId2" Type="http://schemas.openxmlformats.org/officeDocument/2006/relationships/audio" Target="file:///E:\&#35745;&#31639;&#26426;&#38899;&#20048;\ComputerMusic\invention.mp3" TargetMode="Externa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39.xml"/><Relationship Id="rId3" Type="http://schemas.openxmlformats.org/officeDocument/2006/relationships/image" Target="../media/image10.emf"/><Relationship Id="rId2" Type="http://schemas.openxmlformats.org/officeDocument/2006/relationships/image" Target="../media/image9.jpeg"/><Relationship Id="rId1"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slide" Target="slide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4.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4.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5.xml"/><Relationship Id="rId1"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4.xml"/><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slide" Target="slide39.xml"/><Relationship Id="rId1" Type="http://schemas.openxmlformats.org/officeDocument/2006/relationships/image" Target="../media/image11.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57.xml"/><Relationship Id="rId5" Type="http://schemas.openxmlformats.org/officeDocument/2006/relationships/slide" Target="slide39.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9" Type="http://schemas.openxmlformats.org/officeDocument/2006/relationships/image" Target="../media/image29.jpeg"/><Relationship Id="rId8" Type="http://schemas.openxmlformats.org/officeDocument/2006/relationships/image" Target="../media/image28.wmf"/><Relationship Id="rId7" Type="http://schemas.openxmlformats.org/officeDocument/2006/relationships/oleObject" Target="../embeddings/oleObject9.bin"/><Relationship Id="rId6" Type="http://schemas.openxmlformats.org/officeDocument/2006/relationships/image" Target="../media/image27.wmf"/><Relationship Id="rId5" Type="http://schemas.openxmlformats.org/officeDocument/2006/relationships/oleObject" Target="../embeddings/oleObject8.bin"/><Relationship Id="rId4" Type="http://schemas.openxmlformats.org/officeDocument/2006/relationships/image" Target="../media/image26.wmf"/><Relationship Id="rId3" Type="http://schemas.openxmlformats.org/officeDocument/2006/relationships/oleObject" Target="../embeddings/oleObject7.bin"/><Relationship Id="rId2" Type="http://schemas.openxmlformats.org/officeDocument/2006/relationships/image" Target="../media/image25.wmf"/><Relationship Id="rId13" Type="http://schemas.openxmlformats.org/officeDocument/2006/relationships/notesSlide" Target="../notesSlides/notesSlide16.xml"/><Relationship Id="rId12" Type="http://schemas.openxmlformats.org/officeDocument/2006/relationships/vmlDrawing" Target="../drawings/vmlDrawing4.vml"/><Relationship Id="rId11" Type="http://schemas.openxmlformats.org/officeDocument/2006/relationships/slideLayout" Target="../slideLayouts/slideLayout68.xml"/><Relationship Id="rId10" Type="http://schemas.openxmlformats.org/officeDocument/2006/relationships/slide" Target="slide39.xml"/><Relationship Id="rId1"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image" Target="../media/image28.wmf"/><Relationship Id="rId7" Type="http://schemas.openxmlformats.org/officeDocument/2006/relationships/oleObject" Target="../embeddings/oleObject13.bin"/><Relationship Id="rId6" Type="http://schemas.openxmlformats.org/officeDocument/2006/relationships/image" Target="../media/image27.wmf"/><Relationship Id="rId5" Type="http://schemas.openxmlformats.org/officeDocument/2006/relationships/oleObject" Target="../embeddings/oleObject12.bin"/><Relationship Id="rId4" Type="http://schemas.openxmlformats.org/officeDocument/2006/relationships/image" Target="../media/image26.wmf"/><Relationship Id="rId3" Type="http://schemas.openxmlformats.org/officeDocument/2006/relationships/oleObject" Target="../embeddings/oleObject11.bin"/><Relationship Id="rId2" Type="http://schemas.openxmlformats.org/officeDocument/2006/relationships/image" Target="../media/image25.wmf"/><Relationship Id="rId11" Type="http://schemas.openxmlformats.org/officeDocument/2006/relationships/notesSlide" Target="../notesSlides/notesSlide17.xml"/><Relationship Id="rId10" Type="http://schemas.openxmlformats.org/officeDocument/2006/relationships/vmlDrawing" Target="../drawings/vmlDrawing5.vml"/><Relationship Id="rId1" Type="http://schemas.openxmlformats.org/officeDocument/2006/relationships/oleObject" Target="../embeddings/oleObject10.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7.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jpe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57.xml"/><Relationship Id="rId3" Type="http://schemas.openxmlformats.org/officeDocument/2006/relationships/slide" Target="slide39.xml"/><Relationship Id="rId2" Type="http://schemas.openxmlformats.org/officeDocument/2006/relationships/image" Target="../media/image33.png"/><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57.xml"/><Relationship Id="rId6" Type="http://schemas.openxmlformats.org/officeDocument/2006/relationships/slide" Target="slide39.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11.jpeg"/></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57.xml"/><Relationship Id="rId5" Type="http://schemas.openxmlformats.org/officeDocument/2006/relationships/image" Target="../media/image37.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jpeg"/></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57.xml"/><Relationship Id="rId5" Type="http://schemas.openxmlformats.org/officeDocument/2006/relationships/slide" Target="slide39.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42.png"/><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57.xml"/><Relationship Id="rId2" Type="http://schemas.openxmlformats.org/officeDocument/2006/relationships/image" Target="../media/image44.png"/><Relationship Id="rId1" Type="http://schemas.openxmlformats.org/officeDocument/2006/relationships/image" Target="../media/image43.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slide" Target="slide30.xml"/><Relationship Id="rId4" Type="http://schemas.openxmlformats.org/officeDocument/2006/relationships/slide" Target="slide25.xml"/><Relationship Id="rId3" Type="http://schemas.openxmlformats.org/officeDocument/2006/relationships/slide" Target="slide35.xml"/><Relationship Id="rId2" Type="http://schemas.openxmlformats.org/officeDocument/2006/relationships/slide" Target="slide16.xml"/><Relationship Id="rId1" Type="http://schemas.openxmlformats.org/officeDocument/2006/relationships/slide" Target="slide34.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slide" Target="slide25.xml"/><Relationship Id="rId2" Type="http://schemas.openxmlformats.org/officeDocument/2006/relationships/slide" Target="slide12.xml"/><Relationship Id="rId1" Type="http://schemas.openxmlformats.org/officeDocument/2006/relationships/slide" Target="slide30.xml"/></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slide" Target="slide25.xml"/><Relationship Id="rId3" Type="http://schemas.openxmlformats.org/officeDocument/2006/relationships/slide" Target="slide35.xml"/><Relationship Id="rId2" Type="http://schemas.openxmlformats.org/officeDocument/2006/relationships/slide" Target="slide16.xml"/><Relationship Id="rId1" Type="http://schemas.openxmlformats.org/officeDocument/2006/relationships/slide" Target="slide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6.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vmlDrawing" Target="../drawings/vmlDrawing6.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14.bin"/><Relationship Id="rId1"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79.xml"/><Relationship Id="rId5" Type="http://schemas.openxmlformats.org/officeDocument/2006/relationships/image" Target="../media/image37.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9.xml"/><Relationship Id="rId1" Type="http://schemas.openxmlformats.org/officeDocument/2006/relationships/image" Target="../media/image48.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3.xml"/><Relationship Id="rId2" Type="http://schemas.openxmlformats.org/officeDocument/2006/relationships/image" Target="../media/image41.png"/><Relationship Id="rId1" Type="http://schemas.openxmlformats.org/officeDocument/2006/relationships/image" Target="../media/image37.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50.png"/><Relationship Id="rId1" Type="http://schemas.openxmlformats.org/officeDocument/2006/relationships/image" Target="../media/image49.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3.xml"/><Relationship Id="rId2" Type="http://schemas.openxmlformats.org/officeDocument/2006/relationships/image" Target="../media/image51.png"/><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9.xml"/><Relationship Id="rId2" Type="http://schemas.openxmlformats.org/officeDocument/2006/relationships/image" Target="../media/image36.png"/><Relationship Id="rId1" Type="http://schemas.openxmlformats.org/officeDocument/2006/relationships/image" Target="../media/image37.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9.xml"/><Relationship Id="rId2" Type="http://schemas.openxmlformats.org/officeDocument/2006/relationships/image" Target="../media/image50.png"/><Relationship Id="rId1" Type="http://schemas.openxmlformats.org/officeDocument/2006/relationships/image" Target="../media/image5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9.xml"/><Relationship Id="rId2" Type="http://schemas.openxmlformats.org/officeDocument/2006/relationships/image" Target="../media/image54.png"/><Relationship Id="rId1" Type="http://schemas.openxmlformats.org/officeDocument/2006/relationships/image" Target="../media/image5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90.xml"/><Relationship Id="rId2" Type="http://schemas.openxmlformats.org/officeDocument/2006/relationships/image" Target="../media/image56.png"/><Relationship Id="rId1" Type="http://schemas.openxmlformats.org/officeDocument/2006/relationships/image" Target="../media/image55.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90.xml"/><Relationship Id="rId2" Type="http://schemas.openxmlformats.org/officeDocument/2006/relationships/image" Target="../media/image50.png"/><Relationship Id="rId1" Type="http://schemas.openxmlformats.org/officeDocument/2006/relationships/image" Target="../media/image52.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90.xml"/><Relationship Id="rId2" Type="http://schemas.openxmlformats.org/officeDocument/2006/relationships/image" Target="../media/image58.png"/><Relationship Id="rId1" Type="http://schemas.openxmlformats.org/officeDocument/2006/relationships/image" Target="../media/image5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0.xml"/></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vmlDrawing" Target="../drawings/vmlDrawing7.vml"/><Relationship Id="rId4" Type="http://schemas.openxmlformats.org/officeDocument/2006/relationships/slideLayout" Target="../slideLayouts/slideLayout90.xml"/><Relationship Id="rId3" Type="http://schemas.openxmlformats.org/officeDocument/2006/relationships/image" Target="../media/image60.png"/><Relationship Id="rId2" Type="http://schemas.openxmlformats.org/officeDocument/2006/relationships/image" Target="../media/image59.wmf"/><Relationship Id="rId1" Type="http://schemas.openxmlformats.org/officeDocument/2006/relationships/oleObject" Target="../embeddings/oleObject15.bin"/></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vmlDrawing" Target="../drawings/vmlDrawing8.vml"/><Relationship Id="rId6" Type="http://schemas.openxmlformats.org/officeDocument/2006/relationships/slideLayout" Target="../slideLayouts/slideLayout90.xml"/><Relationship Id="rId5" Type="http://schemas.openxmlformats.org/officeDocument/2006/relationships/image" Target="../media/image62.png"/><Relationship Id="rId4" Type="http://schemas.openxmlformats.org/officeDocument/2006/relationships/image" Target="../media/image61.wmf"/><Relationship Id="rId3" Type="http://schemas.openxmlformats.org/officeDocument/2006/relationships/oleObject" Target="../embeddings/oleObject17.bin"/><Relationship Id="rId2" Type="http://schemas.openxmlformats.org/officeDocument/2006/relationships/image" Target="../media/image59.wmf"/><Relationship Id="rId1" Type="http://schemas.openxmlformats.org/officeDocument/2006/relationships/oleObject" Target="../embeddings/oleObject16.bin"/></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vmlDrawing" Target="../drawings/vmlDrawing9.vml"/><Relationship Id="rId3" Type="http://schemas.openxmlformats.org/officeDocument/2006/relationships/slideLayout" Target="../slideLayouts/slideLayout90.xml"/><Relationship Id="rId2" Type="http://schemas.openxmlformats.org/officeDocument/2006/relationships/image" Target="../media/image59.wmf"/><Relationship Id="rId1" Type="http://schemas.openxmlformats.org/officeDocument/2006/relationships/oleObject" Target="../embeddings/oleObject18.bin"/></Relationships>
</file>

<file path=ppt/slides/_rels/slide64.xml.rels><?xml version="1.0" encoding="UTF-8" standalone="yes"?>
<Relationships xmlns="http://schemas.openxmlformats.org/package/2006/relationships"><Relationship Id="rId7" Type="http://schemas.openxmlformats.org/officeDocument/2006/relationships/notesSlide" Target="../notesSlides/notesSlide49.xml"/><Relationship Id="rId6" Type="http://schemas.openxmlformats.org/officeDocument/2006/relationships/vmlDrawing" Target="../drawings/vmlDrawing10.vml"/><Relationship Id="rId5" Type="http://schemas.openxmlformats.org/officeDocument/2006/relationships/slideLayout" Target="../slideLayouts/slideLayout90.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59.wmf"/><Relationship Id="rId1" Type="http://schemas.openxmlformats.org/officeDocument/2006/relationships/oleObject" Target="../embeddings/oleObject19.bin"/></Relationships>
</file>

<file path=ppt/slides/_rels/slide65.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90.xml"/><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59.wmf"/><Relationship Id="rId10" Type="http://schemas.openxmlformats.org/officeDocument/2006/relationships/notesSlide" Target="../notesSlides/notesSlide50.xml"/><Relationship Id="rId1" Type="http://schemas.openxmlformats.org/officeDocument/2006/relationships/oleObject" Target="../embeddings/oleObject20.bin"/></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vmlDrawing" Target="../drawings/vmlDrawing12.vml"/><Relationship Id="rId4" Type="http://schemas.openxmlformats.org/officeDocument/2006/relationships/slideLayout" Target="../slideLayouts/slideLayout90.xml"/><Relationship Id="rId3" Type="http://schemas.openxmlformats.org/officeDocument/2006/relationships/image" Target="../media/image63.png"/><Relationship Id="rId2" Type="http://schemas.openxmlformats.org/officeDocument/2006/relationships/image" Target="../media/image59.wmf"/><Relationship Id="rId1" Type="http://schemas.openxmlformats.org/officeDocument/2006/relationships/oleObject" Target="../embeddings/oleObject21.bin"/></Relationships>
</file>

<file path=ppt/slides/_rels/slide67.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vmlDrawing" Target="../drawings/vmlDrawing13.vml"/><Relationship Id="rId4" Type="http://schemas.openxmlformats.org/officeDocument/2006/relationships/slideLayout" Target="../slideLayouts/slideLayout90.xml"/><Relationship Id="rId3" Type="http://schemas.openxmlformats.org/officeDocument/2006/relationships/image" Target="../media/image63.png"/><Relationship Id="rId2" Type="http://schemas.openxmlformats.org/officeDocument/2006/relationships/image" Target="../media/image59.wmf"/><Relationship Id="rId1" Type="http://schemas.openxmlformats.org/officeDocument/2006/relationships/oleObject" Target="../embeddings/oleObject22.bin"/></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vmlDrawing" Target="../drawings/vmlDrawing14.vml"/><Relationship Id="rId4" Type="http://schemas.openxmlformats.org/officeDocument/2006/relationships/slideLayout" Target="../slideLayouts/slideLayout90.xml"/><Relationship Id="rId3" Type="http://schemas.openxmlformats.org/officeDocument/2006/relationships/image" Target="../media/image63.png"/><Relationship Id="rId2" Type="http://schemas.openxmlformats.org/officeDocument/2006/relationships/image" Target="../media/image59.wmf"/><Relationship Id="rId1" Type="http://schemas.openxmlformats.org/officeDocument/2006/relationships/oleObject" Target="../embeddings/oleObject23.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90.xml"/><Relationship Id="rId1" Type="http://schemas.openxmlformats.org/officeDocument/2006/relationships/image" Target="../media/image38.jpe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01.xml"/><Relationship Id="rId2" Type="http://schemas.openxmlformats.org/officeDocument/2006/relationships/image" Target="../media/image68.png"/><Relationship Id="rId1" Type="http://schemas.openxmlformats.org/officeDocument/2006/relationships/image" Target="../media/image38.jpe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01.xml"/><Relationship Id="rId2" Type="http://schemas.openxmlformats.org/officeDocument/2006/relationships/image" Target="../media/image38.jpeg"/><Relationship Id="rId1" Type="http://schemas.openxmlformats.org/officeDocument/2006/relationships/image" Target="../media/image68.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01.xml"/><Relationship Id="rId2" Type="http://schemas.openxmlformats.org/officeDocument/2006/relationships/image" Target="../media/image38.jpeg"/><Relationship Id="rId1" Type="http://schemas.openxmlformats.org/officeDocument/2006/relationships/image" Target="../media/image68.png"/></Relationships>
</file>

<file path=ppt/slides/_rels/slide73.xml.rels><?xml version="1.0" encoding="UTF-8" standalone="yes"?>
<Relationships xmlns="http://schemas.openxmlformats.org/package/2006/relationships"><Relationship Id="rId6" Type="http://schemas.openxmlformats.org/officeDocument/2006/relationships/notesSlide" Target="../notesSlides/notesSlide58.xml"/><Relationship Id="rId5" Type="http://schemas.openxmlformats.org/officeDocument/2006/relationships/slideLayout" Target="../slideLayouts/slideLayout101.xml"/><Relationship Id="rId4" Type="http://schemas.openxmlformats.org/officeDocument/2006/relationships/image" Target="../media/image70.png"/><Relationship Id="rId3" Type="http://schemas.openxmlformats.org/officeDocument/2006/relationships/image" Target="../media/image38.jpeg"/><Relationship Id="rId2" Type="http://schemas.openxmlformats.org/officeDocument/2006/relationships/image" Target="../media/image68.png"/><Relationship Id="rId1" Type="http://schemas.openxmlformats.org/officeDocument/2006/relationships/image" Target="../media/image69.png"/></Relationships>
</file>

<file path=ppt/slides/_rels/slide74.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slideLayout" Target="../slideLayouts/slideLayout101.xml"/><Relationship Id="rId4" Type="http://schemas.openxmlformats.org/officeDocument/2006/relationships/image" Target="../media/image70.png"/><Relationship Id="rId3" Type="http://schemas.openxmlformats.org/officeDocument/2006/relationships/image" Target="../media/image38.jpeg"/><Relationship Id="rId2" Type="http://schemas.openxmlformats.org/officeDocument/2006/relationships/image" Target="../media/image68.png"/><Relationship Id="rId1" Type="http://schemas.openxmlformats.org/officeDocument/2006/relationships/image" Target="../media/image69.png"/></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60.xml"/><Relationship Id="rId5" Type="http://schemas.openxmlformats.org/officeDocument/2006/relationships/slideLayout" Target="../slideLayouts/slideLayout101.xml"/><Relationship Id="rId4" Type="http://schemas.openxmlformats.org/officeDocument/2006/relationships/image" Target="../media/image70.png"/><Relationship Id="rId3" Type="http://schemas.openxmlformats.org/officeDocument/2006/relationships/image" Target="../media/image38.jpeg"/><Relationship Id="rId2" Type="http://schemas.openxmlformats.org/officeDocument/2006/relationships/image" Target="../media/image68.png"/><Relationship Id="rId1" Type="http://schemas.openxmlformats.org/officeDocument/2006/relationships/image" Target="../media/image69.png"/></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101.xml"/><Relationship Id="rId4" Type="http://schemas.openxmlformats.org/officeDocument/2006/relationships/image" Target="../media/image70.png"/><Relationship Id="rId3" Type="http://schemas.openxmlformats.org/officeDocument/2006/relationships/image" Target="../media/image38.jpeg"/><Relationship Id="rId2" Type="http://schemas.openxmlformats.org/officeDocument/2006/relationships/image" Target="../media/image68.png"/><Relationship Id="rId1" Type="http://schemas.openxmlformats.org/officeDocument/2006/relationships/image" Target="../media/image69.png"/></Relationships>
</file>

<file path=ppt/slides/_rels/slide77.xml.rels><?xml version="1.0" encoding="UTF-8" standalone="yes"?>
<Relationships xmlns="http://schemas.openxmlformats.org/package/2006/relationships"><Relationship Id="rId6" Type="http://schemas.openxmlformats.org/officeDocument/2006/relationships/notesSlide" Target="../notesSlides/notesSlide62.xml"/><Relationship Id="rId5" Type="http://schemas.openxmlformats.org/officeDocument/2006/relationships/slideLayout" Target="../slideLayouts/slideLayout101.xml"/><Relationship Id="rId4" Type="http://schemas.openxmlformats.org/officeDocument/2006/relationships/image" Target="../media/image70.png"/><Relationship Id="rId3" Type="http://schemas.openxmlformats.org/officeDocument/2006/relationships/image" Target="../media/image38.jpeg"/><Relationship Id="rId2" Type="http://schemas.openxmlformats.org/officeDocument/2006/relationships/image" Target="../media/image68.png"/><Relationship Id="rId1" Type="http://schemas.openxmlformats.org/officeDocument/2006/relationships/image" Target="../media/image69.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1.xml"/><Relationship Id="rId1" Type="http://schemas.openxmlformats.org/officeDocument/2006/relationships/image" Target="../media/image71.png"/></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64.xml"/><Relationship Id="rId5" Type="http://schemas.openxmlformats.org/officeDocument/2006/relationships/slideLayout" Target="../slideLayouts/slideLayout101.xml"/><Relationship Id="rId4" Type="http://schemas.openxmlformats.org/officeDocument/2006/relationships/image" Target="../media/image73.png"/><Relationship Id="rId3" Type="http://schemas.openxmlformats.org/officeDocument/2006/relationships/image" Target="../media/image70.png"/><Relationship Id="rId2" Type="http://schemas.openxmlformats.org/officeDocument/2006/relationships/image" Target="../media/image72.png"/><Relationship Id="rId1" Type="http://schemas.openxmlformats.org/officeDocument/2006/relationships/image" Target="../media/image69.png"/></Relationships>
</file>

<file path=ppt/slides/_rels/slide80.xml.rels><?xml version="1.0" encoding="UTF-8" standalone="yes"?>
<Relationships xmlns="http://schemas.openxmlformats.org/package/2006/relationships"><Relationship Id="rId9" Type="http://schemas.openxmlformats.org/officeDocument/2006/relationships/notesSlide" Target="../notesSlides/notesSlide65.xml"/><Relationship Id="rId8" Type="http://schemas.openxmlformats.org/officeDocument/2006/relationships/slideLayout" Target="../slideLayouts/slideLayout101.xml"/><Relationship Id="rId7" Type="http://schemas.openxmlformats.org/officeDocument/2006/relationships/image" Target="../media/image78.png"/><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4.png"/></Relationships>
</file>

<file path=ppt/slides/_rels/slide81.xml.rels><?xml version="1.0" encoding="UTF-8" standalone="yes"?>
<Relationships xmlns="http://schemas.openxmlformats.org/package/2006/relationships"><Relationship Id="rId9" Type="http://schemas.openxmlformats.org/officeDocument/2006/relationships/notesSlide" Target="../notesSlides/notesSlide66.xml"/><Relationship Id="rId8" Type="http://schemas.openxmlformats.org/officeDocument/2006/relationships/vmlDrawing" Target="../drawings/vmlDrawing15.vml"/><Relationship Id="rId7" Type="http://schemas.openxmlformats.org/officeDocument/2006/relationships/slideLayout" Target="../slideLayouts/slideLayout101.xml"/><Relationship Id="rId6" Type="http://schemas.openxmlformats.org/officeDocument/2006/relationships/image" Target="../media/image80.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79.png"/><Relationship Id="rId2" Type="http://schemas.openxmlformats.org/officeDocument/2006/relationships/image" Target="../media/image59.wmf"/><Relationship Id="rId1" Type="http://schemas.openxmlformats.org/officeDocument/2006/relationships/oleObject" Target="../embeddings/oleObject24.bin"/></Relationships>
</file>

<file path=ppt/slides/_rels/slide82.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2.xml"/><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59.wmf"/><Relationship Id="rId2" Type="http://schemas.openxmlformats.org/officeDocument/2006/relationships/oleObject" Target="../embeddings/oleObject25.bin"/><Relationship Id="rId10" Type="http://schemas.openxmlformats.org/officeDocument/2006/relationships/notesSlide" Target="../notesSlides/notesSlide67.xml"/><Relationship Id="rId1" Type="http://schemas.openxmlformats.org/officeDocument/2006/relationships/image" Target="../media/image81.png"/></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68.xml"/><Relationship Id="rId7" Type="http://schemas.openxmlformats.org/officeDocument/2006/relationships/vmlDrawing" Target="../drawings/vmlDrawing17.vml"/><Relationship Id="rId6"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 Id="rId3" Type="http://schemas.openxmlformats.org/officeDocument/2006/relationships/image" Target="../media/image63.png"/><Relationship Id="rId2" Type="http://schemas.openxmlformats.org/officeDocument/2006/relationships/image" Target="../media/image59.wmf"/><Relationship Id="rId1" Type="http://schemas.openxmlformats.org/officeDocument/2006/relationships/oleObject" Target="../embeddings/oleObject26.bin"/></Relationships>
</file>

<file path=ppt/slides/_rels/slide84.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3.png"/><Relationship Id="rId7" Type="http://schemas.openxmlformats.org/officeDocument/2006/relationships/image" Target="../media/image81.png"/><Relationship Id="rId6" Type="http://schemas.openxmlformats.org/officeDocument/2006/relationships/image" Target="../media/image84.png"/><Relationship Id="rId5" Type="http://schemas.openxmlformats.org/officeDocument/2006/relationships/image" Target="../media/image63.png"/><Relationship Id="rId4" Type="http://schemas.openxmlformats.org/officeDocument/2006/relationships/image" Target="../media/image70.png"/><Relationship Id="rId3" Type="http://schemas.openxmlformats.org/officeDocument/2006/relationships/image" Target="../media/image59.wmf"/><Relationship Id="rId2" Type="http://schemas.openxmlformats.org/officeDocument/2006/relationships/oleObject" Target="../embeddings/oleObject27.bin"/><Relationship Id="rId12" Type="http://schemas.openxmlformats.org/officeDocument/2006/relationships/notesSlide" Target="../notesSlides/notesSlide69.xml"/><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image" Target="../media/image69.png"/></Relationships>
</file>

<file path=ppt/slides/_rels/slide85.xml.rels><?xml version="1.0" encoding="UTF-8" standalone="yes"?>
<Relationships xmlns="http://schemas.openxmlformats.org/package/2006/relationships"><Relationship Id="rId6" Type="http://schemas.openxmlformats.org/officeDocument/2006/relationships/notesSlide" Target="../notesSlides/notesSlide70.xml"/><Relationship Id="rId5" Type="http://schemas.openxmlformats.org/officeDocument/2006/relationships/slideLayout" Target="../slideLayouts/slideLayout101.xml"/><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image" Target="../media/image69.png"/></Relationships>
</file>

<file path=ppt/slides/_rels/slide86.xml.rels><?xml version="1.0" encoding="UTF-8" standalone="yes"?>
<Relationships xmlns="http://schemas.openxmlformats.org/package/2006/relationships"><Relationship Id="rId6" Type="http://schemas.openxmlformats.org/officeDocument/2006/relationships/notesSlide" Target="../notesSlides/notesSlide71.xml"/><Relationship Id="rId5" Type="http://schemas.openxmlformats.org/officeDocument/2006/relationships/slideLayout" Target="../slideLayouts/slideLayout2.xml"/><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0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1.xml"/></Relationships>
</file>

<file path=ppt/slides/_rels/slide92.xml.rels><?xml version="1.0" encoding="UTF-8" standalone="yes"?>
<Relationships xmlns="http://schemas.openxmlformats.org/package/2006/relationships"><Relationship Id="rId7" Type="http://schemas.openxmlformats.org/officeDocument/2006/relationships/notesSlide" Target="../notesSlides/notesSlide77.xml"/><Relationship Id="rId6" Type="http://schemas.openxmlformats.org/officeDocument/2006/relationships/slideLayout" Target="../slideLayouts/slideLayout101.xml"/><Relationship Id="rId5" Type="http://schemas.openxmlformats.org/officeDocument/2006/relationships/audio" Target="../media/audio3.wav"/><Relationship Id="rId4" Type="http://schemas.openxmlformats.org/officeDocument/2006/relationships/image" Target="../media/image5.png"/><Relationship Id="rId3" Type="http://schemas.openxmlformats.org/officeDocument/2006/relationships/audio" Target="../media/audio2.wav"/><Relationship Id="rId2" Type="http://schemas.openxmlformats.org/officeDocument/2006/relationships/image" Target="../media/image91.emf"/><Relationship Id="rId1" Type="http://schemas.openxmlformats.org/officeDocument/2006/relationships/image" Target="../media/image90.emf"/></Relationships>
</file>

<file path=ppt/slides/_rels/slide93.xml.rels><?xml version="1.0" encoding="UTF-8" standalone="yes"?>
<Relationships xmlns="http://schemas.openxmlformats.org/package/2006/relationships"><Relationship Id="rId7" Type="http://schemas.openxmlformats.org/officeDocument/2006/relationships/notesSlide" Target="../notesSlides/notesSlide78.xml"/><Relationship Id="rId6" Type="http://schemas.openxmlformats.org/officeDocument/2006/relationships/slideLayout" Target="../slideLayouts/slideLayout2.xml"/><Relationship Id="rId5" Type="http://schemas.openxmlformats.org/officeDocument/2006/relationships/audio" Target="../media/audio3.wav"/><Relationship Id="rId4" Type="http://schemas.openxmlformats.org/officeDocument/2006/relationships/image" Target="../media/image5.png"/><Relationship Id="rId3" Type="http://schemas.openxmlformats.org/officeDocument/2006/relationships/audio" Target="../media/audio2.wav"/><Relationship Id="rId2" Type="http://schemas.openxmlformats.org/officeDocument/2006/relationships/image" Target="../media/image91.emf"/><Relationship Id="rId1" Type="http://schemas.openxmlformats.org/officeDocument/2006/relationships/image" Target="../media/image90.emf"/></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01.xml"/><Relationship Id="rId1" Type="http://schemas.openxmlformats.org/officeDocument/2006/relationships/image" Target="../media/image92.png"/></Relationships>
</file>

<file path=ppt/slides/_rels/slide95.xml.rels><?xml version="1.0" encoding="UTF-8" standalone="yes"?>
<Relationships xmlns="http://schemas.openxmlformats.org/package/2006/relationships"><Relationship Id="rId5" Type="http://schemas.openxmlformats.org/officeDocument/2006/relationships/notesSlide" Target="../notesSlides/notesSlide80.xml"/><Relationship Id="rId4" Type="http://schemas.openxmlformats.org/officeDocument/2006/relationships/slideLayout" Target="../slideLayouts/slideLayout101.xml"/><Relationship Id="rId3" Type="http://schemas.openxmlformats.org/officeDocument/2006/relationships/image" Target="../media/image5.png"/><Relationship Id="rId2" Type="http://schemas.openxmlformats.org/officeDocument/2006/relationships/audio" Target="../media/audio2.wav"/><Relationship Id="rId1" Type="http://schemas.openxmlformats.org/officeDocument/2006/relationships/image" Target="../media/image90.emf"/></Relationships>
</file>

<file path=ppt/slides/_rels/slide96.xml.rels><?xml version="1.0" encoding="UTF-8" standalone="yes"?>
<Relationships xmlns="http://schemas.openxmlformats.org/package/2006/relationships"><Relationship Id="rId5" Type="http://schemas.openxmlformats.org/officeDocument/2006/relationships/notesSlide" Target="../notesSlides/notesSlide81.xml"/><Relationship Id="rId4" Type="http://schemas.openxmlformats.org/officeDocument/2006/relationships/slideLayout" Target="../slideLayouts/slideLayout101.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01.xml"/><Relationship Id="rId1" Type="http://schemas.openxmlformats.org/officeDocument/2006/relationships/image" Target="../media/image96.pn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101.xml"/><Relationship Id="rId2" Type="http://schemas.openxmlformats.org/officeDocument/2006/relationships/image" Target="../media/image96.png"/><Relationship Id="rId1" Type="http://schemas.openxmlformats.org/officeDocument/2006/relationships/image" Target="../media/image97.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01.xml"/><Relationship Id="rId1" Type="http://schemas.openxmlformats.org/officeDocument/2006/relationships/image" Target="../media/image98.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01.xml"/><Relationship Id="rId1" Type="http://schemas.openxmlformats.org/officeDocument/2006/relationships/image" Target="../media/image98.png"/></Relationships>
</file>

<file path=ppt/slides/_rels/slide101.xml.rels><?xml version="1.0" encoding="UTF-8" standalone="yes"?>
<Relationships xmlns="http://schemas.openxmlformats.org/package/2006/relationships"><Relationship Id="rId5" Type="http://schemas.openxmlformats.org/officeDocument/2006/relationships/notesSlide" Target="../notesSlides/notesSlide86.xml"/><Relationship Id="rId4" Type="http://schemas.openxmlformats.org/officeDocument/2006/relationships/slideLayout" Target="../slideLayouts/slideLayout101.xml"/><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tags" Target="../tags/tag1.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01.xml"/><Relationship Id="rId1" Type="http://schemas.openxmlformats.org/officeDocument/2006/relationships/image" Target="../media/image98.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01.xml"/><Relationship Id="rId1" Type="http://schemas.openxmlformats.org/officeDocument/2006/relationships/image" Target="../media/image98.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01.xml"/><Relationship Id="rId1" Type="http://schemas.openxmlformats.org/officeDocument/2006/relationships/image" Target="../media/image101.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01.xml"/><Relationship Id="rId1" Type="http://schemas.openxmlformats.org/officeDocument/2006/relationships/image" Target="../media/image98.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1.xml"/></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2.xml"/></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3.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4.xml"/></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5.xml"/></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6.xml"/></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7.xml"/></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8.xml"/></Relationships>
</file>

<file path=ppt/slides/_rels/slide114.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9.xml"/></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0.xml"/></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1.xml"/></Relationships>
</file>

<file path=ppt/slides/_rels/slide117.xml.rels><?xml version="1.0" encoding="UTF-8" standalone="yes"?>
<Relationships xmlns="http://schemas.openxmlformats.org/package/2006/relationships"><Relationship Id="rId5" Type="http://schemas.openxmlformats.org/officeDocument/2006/relationships/notesSlide" Target="../notesSlides/notesSlide102.xml"/><Relationship Id="rId4" Type="http://schemas.openxmlformats.org/officeDocument/2006/relationships/slideLayout" Target="../slideLayouts/slideLayout101.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118.xml.rels><?xml version="1.0" encoding="UTF-8" standalone="yes"?>
<Relationships xmlns="http://schemas.openxmlformats.org/package/2006/relationships"><Relationship Id="rId5" Type="http://schemas.openxmlformats.org/officeDocument/2006/relationships/notesSlide" Target="../notesSlides/notesSlide103.xml"/><Relationship Id="rId4" Type="http://schemas.openxmlformats.org/officeDocument/2006/relationships/slideLayout" Target="../slideLayouts/slideLayout2.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2.xml"/></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05.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3.xml"/></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4.xml"/></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5.xml"/></Relationships>
</file>

<file path=ppt/slides/_rels/slide123.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6.xml"/></Relationships>
</file>

<file path=ppt/slides/_rels/slide124.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7.xml"/></Relationships>
</file>

<file path=ppt/slides/_rels/slide125.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tags" Target="../tags/tag18.xml"/></Relationships>
</file>

<file path=ppt/slides/_rels/slide126.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101.xml"/><Relationship Id="rId2" Type="http://schemas.openxmlformats.org/officeDocument/2006/relationships/image" Target="../media/image102.png"/><Relationship Id="rId1" Type="http://schemas.openxmlformats.org/officeDocument/2006/relationships/tags" Target="../tags/tag19.xml"/></Relationships>
</file>

<file path=ppt/slides/_rels/slide127.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tags" Target="../tags/tag20.xml"/></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113.xml"/><Relationship Id="rId3" Type="http://schemas.openxmlformats.org/officeDocument/2006/relationships/slideLayout" Target="../slideLayouts/slideLayout2.xml"/><Relationship Id="rId2" Type="http://schemas.openxmlformats.org/officeDocument/2006/relationships/image" Target="../media/image102.png"/><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3"/>
          <p:cNvSpPr>
            <a:spLocks noGrp="1"/>
          </p:cNvSpPr>
          <p:nvPr>
            <p:ph idx="1"/>
          </p:nvPr>
        </p:nvSpPr>
        <p:spPr>
          <a:xfrm>
            <a:off x="468313" y="3284538"/>
            <a:ext cx="8496300" cy="1879600"/>
          </a:xfrm>
        </p:spPr>
        <p:txBody>
          <a:bodyPr vert="horz" wrap="square" lIns="91440" tIns="45720" rIns="91440" bIns="45720" anchor="t"/>
          <a:p>
            <a:pPr eaLnBrk="1" hangingPunct="1">
              <a:buNone/>
            </a:pPr>
            <a:r>
              <a:rPr lang="zh-CN" altLang="en-US" sz="4800" dirty="0">
                <a:ea typeface="楷体_GB2312" pitchFamily="49" charset="-122"/>
              </a:rPr>
              <a:t>算法作曲</a:t>
            </a:r>
            <a:endParaRPr lang="zh-CN" altLang="en-US" sz="4800" dirty="0">
              <a:ea typeface="楷体_GB2312" pitchFamily="49" charset="-122"/>
            </a:endParaRPr>
          </a:p>
        </p:txBody>
      </p:sp>
    </p:spTree>
  </p:cSld>
  <p:clrMapOvr>
    <a:masterClrMapping/>
  </p:clrMapOvr>
  <p:transition spd="med">
    <p:wheel spokes="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3"/>
          <p:cNvSpPr>
            <a:spLocks noGrp="1"/>
          </p:cNvSpPr>
          <p:nvPr>
            <p:ph idx="1"/>
          </p:nvPr>
        </p:nvSpPr>
        <p:spPr>
          <a:xfrm>
            <a:off x="684213" y="2871788"/>
            <a:ext cx="4319587" cy="3248025"/>
          </a:xfrm>
        </p:spPr>
        <p:txBody>
          <a:bodyPr vert="horz" wrap="square" lIns="91440" tIns="45720" rIns="91440" bIns="45720" anchor="t"/>
          <a:p>
            <a:pPr eaLnBrk="1" hangingPunct="1">
              <a:lnSpc>
                <a:spcPct val="90000"/>
              </a:lnSpc>
            </a:pPr>
            <a:r>
              <a:rPr lang="en-US" altLang="zh-CN" sz="2400" dirty="0">
                <a:ea typeface="楷体_GB2312" pitchFamily="49" charset="-122"/>
              </a:rPr>
              <a:t>        </a:t>
            </a:r>
            <a:r>
              <a:rPr lang="zh-CN" altLang="en-US" sz="2400" dirty="0">
                <a:ea typeface="楷体_GB2312" pitchFamily="49" charset="-122"/>
              </a:rPr>
              <a:t>计算机音乐领域中最著名的话题应该是</a:t>
            </a:r>
            <a:r>
              <a:rPr lang="zh-CN" altLang="en-US" sz="2400" dirty="0">
                <a:ea typeface="楷体_GB2312" pitchFamily="49" charset="-122"/>
                <a:sym typeface="+mn-ea"/>
              </a:rPr>
              <a:t>算法作曲了</a:t>
            </a:r>
            <a:r>
              <a:rPr lang="zh-CN" sz="2400" dirty="0">
                <a:ea typeface="宋体" panose="02010600030101010101" pitchFamily="2" charset="-122"/>
              </a:rPr>
              <a:t>。</a:t>
            </a:r>
            <a:r>
              <a:rPr lang="en-US" altLang="zh-CN" sz="2400" dirty="0">
                <a:ea typeface="楷体_GB2312" pitchFamily="49" charset="-122"/>
              </a:rPr>
              <a:t>      </a:t>
            </a:r>
            <a:r>
              <a:rPr lang="zh-CN" altLang="en-US" sz="2400" dirty="0">
                <a:ea typeface="楷体_GB2312" pitchFamily="49" charset="-122"/>
              </a:rPr>
              <a:t>算法作曲系统其实就是能够模拟音乐家创作行为的智力程序。</a:t>
            </a:r>
            <a:endParaRPr lang="zh-CN" altLang="en-US" sz="2400" dirty="0">
              <a:ea typeface="楷体_GB2312" pitchFamily="49" charset="-122"/>
            </a:endParaRPr>
          </a:p>
          <a:p>
            <a:pPr eaLnBrk="1" hangingPunct="1">
              <a:lnSpc>
                <a:spcPct val="90000"/>
              </a:lnSpc>
            </a:pPr>
            <a:r>
              <a:rPr lang="zh-CN" altLang="en-US" sz="2400" dirty="0">
                <a:ea typeface="楷体_GB2312" pitchFamily="49" charset="-122"/>
              </a:rPr>
              <a:t>        算法作曲，就是试图使用某个形式化的过程以使人（或作曲家）在利用计算机进行音乐创作时的介入程度达到最小的研究。</a:t>
            </a:r>
            <a:r>
              <a:rPr lang="zh-CN" altLang="en-US" sz="2800" dirty="0">
                <a:ea typeface="宋体" panose="02010600030101010101" pitchFamily="2" charset="-122"/>
              </a:rPr>
              <a:t> </a:t>
            </a:r>
            <a:endParaRPr lang="zh-CN" altLang="en-US" sz="2800" dirty="0">
              <a:ea typeface="宋体" panose="02010600030101010101" pitchFamily="2" charset="-122"/>
            </a:endParaRPr>
          </a:p>
        </p:txBody>
      </p:sp>
      <p:sp>
        <p:nvSpPr>
          <p:cNvPr id="23554" name="Rectangle 2"/>
          <p:cNvSpPr>
            <a:spLocks noGrp="1"/>
          </p:cNvSpPr>
          <p:nvPr>
            <p:ph type="title"/>
          </p:nvPr>
        </p:nvSpPr>
        <p:spPr/>
        <p:txBody>
          <a:bodyPr vert="horz" wrap="square" lIns="91440" tIns="45720" rIns="91440" bIns="45720" anchor="ctr"/>
          <a:p>
            <a:pPr eaLnBrk="1" hangingPunct="1"/>
            <a:r>
              <a:rPr lang="zh-CN" dirty="0">
                <a:ea typeface="楷体_GB2312" pitchFamily="49" charset="-122"/>
              </a:rPr>
              <a:t>引言</a:t>
            </a:r>
            <a:endParaRPr lang="zh-CN" dirty="0">
              <a:ea typeface="楷体_GB2312" pitchFamily="49" charset="-122"/>
            </a:endParaRPr>
          </a:p>
        </p:txBody>
      </p:sp>
      <p:grpSp>
        <p:nvGrpSpPr>
          <p:cNvPr id="23555" name="Group 4"/>
          <p:cNvGrpSpPr/>
          <p:nvPr/>
        </p:nvGrpSpPr>
        <p:grpSpPr>
          <a:xfrm>
            <a:off x="6170613" y="3001963"/>
            <a:ext cx="1930400" cy="2514600"/>
            <a:chOff x="4176" y="1488"/>
            <a:chExt cx="1216" cy="1584"/>
          </a:xfrm>
        </p:grpSpPr>
        <p:graphicFrame>
          <p:nvGraphicFramePr>
            <p:cNvPr id="23556" name="Object 5"/>
            <p:cNvGraphicFramePr>
              <a:graphicFrameLocks noChangeAspect="1"/>
            </p:cNvGraphicFramePr>
            <p:nvPr/>
          </p:nvGraphicFramePr>
          <p:xfrm>
            <a:off x="4176" y="2600"/>
            <a:ext cx="472" cy="472"/>
          </p:xfrm>
          <a:graphic>
            <a:graphicData uri="http://schemas.openxmlformats.org/presentationml/2006/ole">
              <mc:AlternateContent xmlns:mc="http://schemas.openxmlformats.org/markup-compatibility/2006">
                <mc:Choice xmlns:v="urn:schemas-microsoft-com:vml" Requires="v">
                  <p:oleObj spid="_x0000_s3076" name="" r:id="rId1" imgW="749300" imgH="749300" progId="Photoshop.Image.7">
                    <p:embed/>
                  </p:oleObj>
                </mc:Choice>
                <mc:Fallback>
                  <p:oleObj name="" r:id="rId1" imgW="749300" imgH="749300" progId="Photoshop.Image.7">
                    <p:embed/>
                    <p:pic>
                      <p:nvPicPr>
                        <p:cNvPr id="0" name="图片 3075"/>
                        <p:cNvPicPr/>
                        <p:nvPr/>
                      </p:nvPicPr>
                      <p:blipFill>
                        <a:blip r:embed="rId2"/>
                        <a:stretch>
                          <a:fillRect/>
                        </a:stretch>
                      </p:blipFill>
                      <p:spPr>
                        <a:xfrm>
                          <a:off x="4176" y="2600"/>
                          <a:ext cx="472" cy="472"/>
                        </a:xfrm>
                        <a:prstGeom prst="rect">
                          <a:avLst/>
                        </a:prstGeom>
                        <a:noFill/>
                        <a:ln w="38100">
                          <a:noFill/>
                          <a:miter/>
                        </a:ln>
                      </p:spPr>
                    </p:pic>
                  </p:oleObj>
                </mc:Fallback>
              </mc:AlternateContent>
            </a:graphicData>
          </a:graphic>
        </p:graphicFrame>
        <p:graphicFrame>
          <p:nvGraphicFramePr>
            <p:cNvPr id="23557" name="Object 6"/>
            <p:cNvGraphicFramePr>
              <a:graphicFrameLocks noChangeAspect="1"/>
            </p:cNvGraphicFramePr>
            <p:nvPr/>
          </p:nvGraphicFramePr>
          <p:xfrm>
            <a:off x="4704" y="1488"/>
            <a:ext cx="688" cy="568"/>
          </p:xfrm>
          <a:graphic>
            <a:graphicData uri="http://schemas.openxmlformats.org/presentationml/2006/ole">
              <mc:AlternateContent xmlns:mc="http://schemas.openxmlformats.org/markup-compatibility/2006">
                <mc:Choice xmlns:v="urn:schemas-microsoft-com:vml" Requires="v">
                  <p:oleObj spid="_x0000_s3077" name="" r:id="rId3" imgW="1092200" imgH="901700" progId="Photoshop.Image.7">
                    <p:embed/>
                  </p:oleObj>
                </mc:Choice>
                <mc:Fallback>
                  <p:oleObj name="" r:id="rId3" imgW="1092200" imgH="901700" progId="Photoshop.Image.7">
                    <p:embed/>
                    <p:pic>
                      <p:nvPicPr>
                        <p:cNvPr id="0" name="图片 3076"/>
                        <p:cNvPicPr/>
                        <p:nvPr/>
                      </p:nvPicPr>
                      <p:blipFill>
                        <a:blip r:embed="rId4"/>
                        <a:stretch>
                          <a:fillRect/>
                        </a:stretch>
                      </p:blipFill>
                      <p:spPr>
                        <a:xfrm>
                          <a:off x="4704" y="1488"/>
                          <a:ext cx="688" cy="568"/>
                        </a:xfrm>
                        <a:prstGeom prst="rect">
                          <a:avLst/>
                        </a:prstGeom>
                        <a:noFill/>
                        <a:ln w="38100">
                          <a:noFill/>
                          <a:miter/>
                        </a:ln>
                      </p:spPr>
                    </p:pic>
                  </p:oleObj>
                </mc:Fallback>
              </mc:AlternateContent>
            </a:graphicData>
          </a:graphic>
        </p:graphicFrame>
        <p:sp>
          <p:nvSpPr>
            <p:cNvPr id="23558" name="Oval 7"/>
            <p:cNvSpPr/>
            <p:nvPr/>
          </p:nvSpPr>
          <p:spPr>
            <a:xfrm>
              <a:off x="4464" y="2496"/>
              <a:ext cx="96" cy="48"/>
            </a:xfrm>
            <a:prstGeom prst="ellipse">
              <a:avLst/>
            </a:prstGeom>
            <a:solidFill>
              <a:schemeClr val="accent2"/>
            </a:solidFill>
            <a:ln w="9525" cap="flat" cmpd="sng">
              <a:solidFill>
                <a:schemeClr val="bg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3559" name="Oval 8"/>
            <p:cNvSpPr/>
            <p:nvPr/>
          </p:nvSpPr>
          <p:spPr>
            <a:xfrm>
              <a:off x="4608" y="2352"/>
              <a:ext cx="192" cy="96"/>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3560" name="Oval 9"/>
            <p:cNvSpPr/>
            <p:nvPr/>
          </p:nvSpPr>
          <p:spPr>
            <a:xfrm>
              <a:off x="4848" y="2160"/>
              <a:ext cx="288" cy="144"/>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grpSp>
      <p:sp>
        <p:nvSpPr>
          <p:cNvPr id="23561" name="Rectangle 3"/>
          <p:cNvSpPr txBox="1"/>
          <p:nvPr/>
        </p:nvSpPr>
        <p:spPr>
          <a:xfrm>
            <a:off x="166688" y="2103438"/>
            <a:ext cx="55578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dirty="0">
                <a:solidFill>
                  <a:srgbClr val="FFC000"/>
                </a:solidFill>
                <a:latin typeface="Times New Roman" panose="02020603050405020304" pitchFamily="18" charset="0"/>
                <a:ea typeface="宋体" panose="02010600030101010101" pitchFamily="2" charset="-122"/>
              </a:rPr>
              <a:t>什么是算法作曲</a:t>
            </a:r>
            <a:r>
              <a:rPr lang="en-US" altLang="zh-CN" sz="2400" dirty="0">
                <a:solidFill>
                  <a:srgbClr val="FFC000"/>
                </a:solidFill>
                <a:latin typeface="Times New Roman" panose="02020603050405020304" pitchFamily="18" charset="0"/>
                <a:ea typeface="宋体" panose="02010600030101010101" pitchFamily="2" charset="-122"/>
              </a:rPr>
              <a:t>? </a:t>
            </a:r>
            <a:endParaRPr lang="en-US" altLang="zh-CN" sz="2400"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4579" name="Rectangle 3"/>
          <p:cNvSpPr>
            <a:spLocks noGrp="1"/>
          </p:cNvSpPr>
          <p:nvPr>
            <p:ph idx="1"/>
          </p:nvPr>
        </p:nvSpPr>
        <p:spPr>
          <a:xfrm>
            <a:off x="711200" y="2895600"/>
            <a:ext cx="3670300" cy="3200400"/>
          </a:xfrm>
        </p:spPr>
        <p:txBody>
          <a:bodyPr vert="horz" wrap="square" lIns="91440" tIns="45720" rIns="91440" bIns="45720" anchor="t"/>
          <a:p>
            <a:pPr eaLnBrk="1" hangingPunct="1"/>
            <a:r>
              <a:rPr lang="en-US" altLang="zh-CN" sz="2400" dirty="0">
                <a:ea typeface="楷体_GB2312" pitchFamily="49" charset="-122"/>
              </a:rPr>
              <a:t>        </a:t>
            </a:r>
            <a:r>
              <a:rPr lang="zh-CN" altLang="en-US" sz="2400" dirty="0">
                <a:ea typeface="楷体_GB2312" pitchFamily="49" charset="-122"/>
              </a:rPr>
              <a:t>有关旋律创作的形式化技术可以追溯到</a:t>
            </a:r>
            <a:r>
              <a:rPr lang="en-US" altLang="zh-CN" sz="2400" dirty="0">
                <a:ea typeface="楷体_GB2312" pitchFamily="49" charset="-122"/>
              </a:rPr>
              <a:t>11</a:t>
            </a:r>
            <a:r>
              <a:rPr lang="zh-CN" altLang="en-US" sz="2400" dirty="0">
                <a:ea typeface="楷体_GB2312" pitchFamily="49" charset="-122"/>
              </a:rPr>
              <a:t>世纪。当时，有一位名叫</a:t>
            </a:r>
            <a:r>
              <a:rPr lang="en-US" altLang="zh-CN" sz="2400" dirty="0">
                <a:ea typeface="楷体_GB2312" pitchFamily="49" charset="-122"/>
              </a:rPr>
              <a:t> Guido d 'Arezzo </a:t>
            </a:r>
            <a:r>
              <a:rPr lang="zh-CN" altLang="en-US" sz="2400" dirty="0">
                <a:ea typeface="楷体_GB2312" pitchFamily="49" charset="-122"/>
              </a:rPr>
              <a:t>的人构造了一种可为一部宗教书籍中的每个元音设计不同音高的计算模型。</a:t>
            </a:r>
            <a:endParaRPr lang="zh-CN" altLang="en-US" sz="2400" dirty="0">
              <a:ea typeface="楷体_GB2312" pitchFamily="49" charset="-122"/>
            </a:endParaRPr>
          </a:p>
        </p:txBody>
      </p:sp>
      <p:grpSp>
        <p:nvGrpSpPr>
          <p:cNvPr id="24580" name="Group 4"/>
          <p:cNvGrpSpPr/>
          <p:nvPr/>
        </p:nvGrpSpPr>
        <p:grpSpPr>
          <a:xfrm>
            <a:off x="5029200" y="2952750"/>
            <a:ext cx="3733800" cy="3429000"/>
            <a:chOff x="3168" y="1584"/>
            <a:chExt cx="2352" cy="2160"/>
          </a:xfrm>
        </p:grpSpPr>
        <p:graphicFrame>
          <p:nvGraphicFramePr>
            <p:cNvPr id="24581" name="Object 5"/>
            <p:cNvGraphicFramePr>
              <a:graphicFrameLocks noChangeAspect="1"/>
            </p:cNvGraphicFramePr>
            <p:nvPr/>
          </p:nvGraphicFramePr>
          <p:xfrm>
            <a:off x="4248" y="3264"/>
            <a:ext cx="456" cy="480"/>
          </p:xfrm>
          <a:graphic>
            <a:graphicData uri="http://schemas.openxmlformats.org/presentationml/2006/ole">
              <mc:AlternateContent xmlns:mc="http://schemas.openxmlformats.org/markup-compatibility/2006">
                <mc:Choice xmlns:v="urn:schemas-microsoft-com:vml" Requires="v">
                  <p:oleObj spid="_x0000_s3078" name="" r:id="rId1" imgW="723900" imgH="762000" progId="Photoshop.Image.7">
                    <p:embed/>
                  </p:oleObj>
                </mc:Choice>
                <mc:Fallback>
                  <p:oleObj name="" r:id="rId1" imgW="723900" imgH="762000" progId="Photoshop.Image.7">
                    <p:embed/>
                    <p:pic>
                      <p:nvPicPr>
                        <p:cNvPr id="0" name="图片 3077"/>
                        <p:cNvPicPr/>
                        <p:nvPr/>
                      </p:nvPicPr>
                      <p:blipFill>
                        <a:blip r:embed="rId2"/>
                        <a:stretch>
                          <a:fillRect/>
                        </a:stretch>
                      </p:blipFill>
                      <p:spPr>
                        <a:xfrm>
                          <a:off x="4248" y="3264"/>
                          <a:ext cx="456" cy="480"/>
                        </a:xfrm>
                        <a:prstGeom prst="rect">
                          <a:avLst/>
                        </a:prstGeom>
                        <a:noFill/>
                        <a:ln w="38100">
                          <a:noFill/>
                          <a:miter/>
                        </a:ln>
                      </p:spPr>
                    </p:pic>
                  </p:oleObj>
                </mc:Fallback>
              </mc:AlternateContent>
            </a:graphicData>
          </a:graphic>
        </p:graphicFrame>
        <p:grpSp>
          <p:nvGrpSpPr>
            <p:cNvPr id="24582" name="Group 6"/>
            <p:cNvGrpSpPr/>
            <p:nvPr/>
          </p:nvGrpSpPr>
          <p:grpSpPr>
            <a:xfrm>
              <a:off x="3168" y="1680"/>
              <a:ext cx="672" cy="761"/>
              <a:chOff x="3312" y="1975"/>
              <a:chExt cx="672" cy="761"/>
            </a:xfrm>
          </p:grpSpPr>
          <p:grpSp>
            <p:nvGrpSpPr>
              <p:cNvPr id="24583" name="Group 7"/>
              <p:cNvGrpSpPr/>
              <p:nvPr/>
            </p:nvGrpSpPr>
            <p:grpSpPr>
              <a:xfrm>
                <a:off x="3312" y="2064"/>
                <a:ext cx="288" cy="336"/>
                <a:chOff x="3504" y="1824"/>
                <a:chExt cx="288" cy="336"/>
              </a:xfrm>
            </p:grpSpPr>
            <p:grpSp>
              <p:nvGrpSpPr>
                <p:cNvPr id="24584" name="Group 8"/>
                <p:cNvGrpSpPr/>
                <p:nvPr/>
              </p:nvGrpSpPr>
              <p:grpSpPr>
                <a:xfrm>
                  <a:off x="3696" y="1872"/>
                  <a:ext cx="96" cy="288"/>
                  <a:chOff x="3456" y="1824"/>
                  <a:chExt cx="96" cy="336"/>
                </a:xfrm>
              </p:grpSpPr>
              <p:sp>
                <p:nvSpPr>
                  <p:cNvPr id="24585" name="Oval 9"/>
                  <p:cNvSpPr/>
                  <p:nvPr/>
                </p:nvSpPr>
                <p:spPr>
                  <a:xfrm rot="-1926376">
                    <a:off x="3456" y="1824"/>
                    <a:ext cx="96"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4586" name="Line 10"/>
                  <p:cNvSpPr/>
                  <p:nvPr/>
                </p:nvSpPr>
                <p:spPr>
                  <a:xfrm>
                    <a:off x="3456" y="1872"/>
                    <a:ext cx="0" cy="288"/>
                  </a:xfrm>
                  <a:prstGeom prst="line">
                    <a:avLst/>
                  </a:prstGeom>
                  <a:ln w="28575" cap="flat" cmpd="sng">
                    <a:solidFill>
                      <a:schemeClr val="tx1"/>
                    </a:solidFill>
                    <a:prstDash val="solid"/>
                    <a:round/>
                    <a:headEnd type="none" w="med" len="med"/>
                    <a:tailEnd type="none" w="med" len="med"/>
                  </a:ln>
                </p:spPr>
              </p:sp>
            </p:grpSp>
            <p:grpSp>
              <p:nvGrpSpPr>
                <p:cNvPr id="24587" name="Group 11"/>
                <p:cNvGrpSpPr/>
                <p:nvPr/>
              </p:nvGrpSpPr>
              <p:grpSpPr>
                <a:xfrm>
                  <a:off x="3504" y="1824"/>
                  <a:ext cx="96" cy="288"/>
                  <a:chOff x="3456" y="1824"/>
                  <a:chExt cx="96" cy="336"/>
                </a:xfrm>
              </p:grpSpPr>
              <p:sp>
                <p:nvSpPr>
                  <p:cNvPr id="24588" name="Oval 12"/>
                  <p:cNvSpPr/>
                  <p:nvPr/>
                </p:nvSpPr>
                <p:spPr>
                  <a:xfrm rot="-1926376">
                    <a:off x="3456" y="1824"/>
                    <a:ext cx="96"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4589" name="Line 13"/>
                  <p:cNvSpPr/>
                  <p:nvPr/>
                </p:nvSpPr>
                <p:spPr>
                  <a:xfrm>
                    <a:off x="3456" y="1872"/>
                    <a:ext cx="0" cy="288"/>
                  </a:xfrm>
                  <a:prstGeom prst="line">
                    <a:avLst/>
                  </a:prstGeom>
                  <a:ln w="28575" cap="flat" cmpd="sng">
                    <a:solidFill>
                      <a:schemeClr val="tx1"/>
                    </a:solidFill>
                    <a:prstDash val="solid"/>
                    <a:round/>
                    <a:headEnd type="none" w="med" len="med"/>
                    <a:tailEnd type="none" w="med" len="med"/>
                  </a:ln>
                </p:spPr>
              </p:sp>
            </p:grpSp>
            <p:sp>
              <p:nvSpPr>
                <p:cNvPr id="24590" name="Line 14"/>
                <p:cNvSpPr/>
                <p:nvPr/>
              </p:nvSpPr>
              <p:spPr>
                <a:xfrm>
                  <a:off x="3504" y="2112"/>
                  <a:ext cx="192" cy="48"/>
                </a:xfrm>
                <a:prstGeom prst="line">
                  <a:avLst/>
                </a:prstGeom>
                <a:ln w="28575" cap="flat" cmpd="sng">
                  <a:solidFill>
                    <a:schemeClr val="tx1"/>
                  </a:solidFill>
                  <a:prstDash val="solid"/>
                  <a:round/>
                  <a:headEnd type="none" w="med" len="med"/>
                  <a:tailEnd type="none" w="med" len="med"/>
                </a:ln>
              </p:spPr>
            </p:sp>
          </p:grpSp>
          <p:grpSp>
            <p:nvGrpSpPr>
              <p:cNvPr id="24591" name="Group 15"/>
              <p:cNvGrpSpPr/>
              <p:nvPr/>
            </p:nvGrpSpPr>
            <p:grpSpPr>
              <a:xfrm>
                <a:off x="3648" y="1975"/>
                <a:ext cx="288" cy="329"/>
                <a:chOff x="3744" y="1968"/>
                <a:chExt cx="288" cy="329"/>
              </a:xfrm>
            </p:grpSpPr>
            <p:grpSp>
              <p:nvGrpSpPr>
                <p:cNvPr id="24592" name="Group 16"/>
                <p:cNvGrpSpPr/>
                <p:nvPr/>
              </p:nvGrpSpPr>
              <p:grpSpPr>
                <a:xfrm>
                  <a:off x="3744" y="2009"/>
                  <a:ext cx="96" cy="288"/>
                  <a:chOff x="3744" y="2009"/>
                  <a:chExt cx="96" cy="288"/>
                </a:xfrm>
              </p:grpSpPr>
              <p:sp>
                <p:nvSpPr>
                  <p:cNvPr id="24593" name="Oval 17"/>
                  <p:cNvSpPr/>
                  <p:nvPr/>
                </p:nvSpPr>
                <p:spPr>
                  <a:xfrm rot="-1926376">
                    <a:off x="3744" y="2256"/>
                    <a:ext cx="96" cy="41"/>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4594" name="Line 18"/>
                  <p:cNvSpPr/>
                  <p:nvPr/>
                </p:nvSpPr>
                <p:spPr>
                  <a:xfrm flipV="1">
                    <a:off x="3840" y="2009"/>
                    <a:ext cx="0" cy="247"/>
                  </a:xfrm>
                  <a:prstGeom prst="line">
                    <a:avLst/>
                  </a:prstGeom>
                  <a:ln w="28575" cap="flat" cmpd="sng">
                    <a:solidFill>
                      <a:schemeClr val="tx1"/>
                    </a:solidFill>
                    <a:prstDash val="solid"/>
                    <a:round/>
                    <a:headEnd type="none" w="med" len="med"/>
                    <a:tailEnd type="none" w="med" len="med"/>
                  </a:ln>
                </p:spPr>
              </p:sp>
            </p:grpSp>
            <p:sp>
              <p:nvSpPr>
                <p:cNvPr id="24595" name="Line 19"/>
                <p:cNvSpPr/>
                <p:nvPr/>
              </p:nvSpPr>
              <p:spPr>
                <a:xfrm flipV="1">
                  <a:off x="3840" y="1968"/>
                  <a:ext cx="192" cy="48"/>
                </a:xfrm>
                <a:prstGeom prst="line">
                  <a:avLst/>
                </a:prstGeom>
                <a:ln w="28575" cap="flat" cmpd="sng">
                  <a:solidFill>
                    <a:schemeClr val="tx1"/>
                  </a:solidFill>
                  <a:prstDash val="solid"/>
                  <a:round/>
                  <a:headEnd type="none" w="med" len="med"/>
                  <a:tailEnd type="none" w="med" len="med"/>
                </a:ln>
              </p:spPr>
            </p:sp>
            <p:grpSp>
              <p:nvGrpSpPr>
                <p:cNvPr id="24596" name="Group 20"/>
                <p:cNvGrpSpPr/>
                <p:nvPr/>
              </p:nvGrpSpPr>
              <p:grpSpPr>
                <a:xfrm>
                  <a:off x="3936" y="1968"/>
                  <a:ext cx="96" cy="288"/>
                  <a:chOff x="3744" y="2009"/>
                  <a:chExt cx="96" cy="288"/>
                </a:xfrm>
              </p:grpSpPr>
              <p:sp>
                <p:nvSpPr>
                  <p:cNvPr id="24597" name="Oval 21"/>
                  <p:cNvSpPr/>
                  <p:nvPr/>
                </p:nvSpPr>
                <p:spPr>
                  <a:xfrm rot="-1926376">
                    <a:off x="3744" y="2256"/>
                    <a:ext cx="96" cy="41"/>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4598" name="Line 22"/>
                  <p:cNvSpPr/>
                  <p:nvPr/>
                </p:nvSpPr>
                <p:spPr>
                  <a:xfrm flipV="1">
                    <a:off x="3840" y="2009"/>
                    <a:ext cx="0" cy="247"/>
                  </a:xfrm>
                  <a:prstGeom prst="line">
                    <a:avLst/>
                  </a:prstGeom>
                  <a:ln w="28575" cap="flat" cmpd="sng">
                    <a:solidFill>
                      <a:schemeClr val="tx1"/>
                    </a:solidFill>
                    <a:prstDash val="solid"/>
                    <a:round/>
                    <a:headEnd type="none" w="med" len="med"/>
                    <a:tailEnd type="none" w="med" len="med"/>
                  </a:ln>
                </p:spPr>
              </p:sp>
            </p:grpSp>
          </p:grpSp>
          <p:sp>
            <p:nvSpPr>
              <p:cNvPr id="24599" name="Rectangle 23"/>
              <p:cNvSpPr/>
              <p:nvPr/>
            </p:nvSpPr>
            <p:spPr>
              <a:xfrm>
                <a:off x="3408" y="2544"/>
                <a:ext cx="576" cy="192"/>
              </a:xfrm>
              <a:prstGeom prst="rect">
                <a:avLst/>
              </a:prstGeom>
              <a:solidFill>
                <a:schemeClr val="bg1"/>
              </a:solidFill>
              <a:ln w="9525" cap="flat" cmpd="sng">
                <a:solidFill>
                  <a:schemeClr val="accent2"/>
                </a:solidFill>
                <a:prstDash val="solid"/>
                <a:miter/>
                <a:headEnd type="none" w="med" len="med"/>
                <a:tailEnd type="none" w="med" len="med"/>
              </a:ln>
            </p:spPr>
            <p:txBody>
              <a:bodyPr wrap="none" anchor="ctr"/>
              <a:p>
                <a:pPr algn="ctr"/>
                <a:r>
                  <a:rPr lang="zh-CN" altLang="en-US" sz="2400" dirty="0">
                    <a:latin typeface="Times New Roman" panose="02020603050405020304" pitchFamily="18" charset="0"/>
                    <a:ea typeface="楷体_GB2312" pitchFamily="49" charset="-122"/>
                  </a:rPr>
                  <a:t>音高</a:t>
                </a:r>
                <a:endParaRPr lang="zh-CN" altLang="en-US" sz="2400" dirty="0">
                  <a:latin typeface="Times New Roman" panose="02020603050405020304" pitchFamily="18" charset="0"/>
                  <a:ea typeface="楷体_GB2312" pitchFamily="49" charset="-122"/>
                </a:endParaRPr>
              </a:p>
            </p:txBody>
          </p:sp>
        </p:grpSp>
        <p:sp>
          <p:nvSpPr>
            <p:cNvPr id="24600" name="Oval 24"/>
            <p:cNvSpPr/>
            <p:nvPr/>
          </p:nvSpPr>
          <p:spPr>
            <a:xfrm>
              <a:off x="4128" y="3072"/>
              <a:ext cx="144" cy="96"/>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4601" name="Oval 25"/>
            <p:cNvSpPr/>
            <p:nvPr/>
          </p:nvSpPr>
          <p:spPr>
            <a:xfrm>
              <a:off x="3984" y="2832"/>
              <a:ext cx="192" cy="144"/>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4602" name="Oval 26"/>
            <p:cNvSpPr/>
            <p:nvPr/>
          </p:nvSpPr>
          <p:spPr>
            <a:xfrm>
              <a:off x="3792" y="2496"/>
              <a:ext cx="336" cy="240"/>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grpSp>
          <p:nvGrpSpPr>
            <p:cNvPr id="24603" name="Group 27"/>
            <p:cNvGrpSpPr/>
            <p:nvPr/>
          </p:nvGrpSpPr>
          <p:grpSpPr>
            <a:xfrm>
              <a:off x="4608" y="1584"/>
              <a:ext cx="912" cy="1296"/>
              <a:chOff x="4608" y="1488"/>
              <a:chExt cx="912" cy="1296"/>
            </a:xfrm>
          </p:grpSpPr>
          <p:sp>
            <p:nvSpPr>
              <p:cNvPr id="24604" name="Rectangle 28"/>
              <p:cNvSpPr/>
              <p:nvPr/>
            </p:nvSpPr>
            <p:spPr>
              <a:xfrm>
                <a:off x="4704" y="1488"/>
                <a:ext cx="768" cy="96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r>
                  <a:rPr lang="zh-CN" altLang="en-US"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24605" name="Rectangle 29"/>
              <p:cNvSpPr/>
              <p:nvPr/>
            </p:nvSpPr>
            <p:spPr>
              <a:xfrm>
                <a:off x="4608" y="2544"/>
                <a:ext cx="912" cy="240"/>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pPr algn="ctr"/>
                <a:r>
                  <a:rPr lang="zh-CN" sz="2000" dirty="0">
                    <a:latin typeface="Times New Roman" panose="02020603050405020304" pitchFamily="18" charset="0"/>
                    <a:ea typeface="宋体" panose="02010600030101010101" pitchFamily="2" charset="-122"/>
                  </a:rPr>
                  <a:t>文本</a:t>
                </a:r>
                <a:endParaRPr lang="zh-CN" sz="2000" dirty="0">
                  <a:solidFill>
                    <a:schemeClr val="bg1"/>
                  </a:solidFill>
                  <a:latin typeface="Times New Roman" panose="02020603050405020304" pitchFamily="18" charset="0"/>
                  <a:ea typeface="宋体" panose="02010600030101010101" pitchFamily="2" charset="-122"/>
                </a:endParaRPr>
              </a:p>
            </p:txBody>
          </p:sp>
        </p:grpSp>
        <p:sp>
          <p:nvSpPr>
            <p:cNvPr id="24606" name="Line 30"/>
            <p:cNvSpPr/>
            <p:nvPr/>
          </p:nvSpPr>
          <p:spPr>
            <a:xfrm>
              <a:off x="3936" y="2016"/>
              <a:ext cx="672" cy="0"/>
            </a:xfrm>
            <a:prstGeom prst="line">
              <a:avLst/>
            </a:prstGeom>
            <a:ln w="19050" cap="flat" cmpd="sng">
              <a:solidFill>
                <a:schemeClr val="bg1"/>
              </a:solidFill>
              <a:prstDash val="solid"/>
              <a:round/>
              <a:headEnd type="none" w="med" len="med"/>
              <a:tailEnd type="triangle" w="med" len="med"/>
            </a:ln>
          </p:spPr>
        </p:sp>
      </p:grpSp>
      <p:sp>
        <p:nvSpPr>
          <p:cNvPr id="24607" name="Line 31"/>
          <p:cNvSpPr/>
          <p:nvPr/>
        </p:nvSpPr>
        <p:spPr>
          <a:xfrm flipH="1" flipV="1">
            <a:off x="6300788" y="3357563"/>
            <a:ext cx="1008062" cy="0"/>
          </a:xfrm>
          <a:prstGeom prst="line">
            <a:avLst/>
          </a:prstGeom>
          <a:ln w="38100" cap="flat" cmpd="sng">
            <a:solidFill>
              <a:schemeClr val="tx1"/>
            </a:solidFill>
            <a:prstDash val="solid"/>
            <a:round/>
            <a:headEnd type="none" w="med" len="med"/>
            <a:tailEnd type="triangle" w="med" len="med"/>
          </a:ln>
        </p:spPr>
      </p:sp>
      <p:sp>
        <p:nvSpPr>
          <p:cNvPr id="24608" name="Rectangle 3"/>
          <p:cNvSpPr txBox="1"/>
          <p:nvPr/>
        </p:nvSpPr>
        <p:spPr>
          <a:xfrm>
            <a:off x="166688" y="2103438"/>
            <a:ext cx="635000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dirty="0">
                <a:solidFill>
                  <a:srgbClr val="FFC000"/>
                </a:solidFill>
                <a:latin typeface="Times New Roman" panose="02020603050405020304" pitchFamily="18" charset="0"/>
                <a:ea typeface="宋体" panose="02010600030101010101" pitchFamily="2" charset="-122"/>
              </a:rPr>
              <a:t>早期的算法作曲方法</a:t>
            </a:r>
            <a:endParaRPr lang="zh-CN" altLang="en-US" sz="2400" dirty="0">
              <a:solidFill>
                <a:srgbClr val="FFC000"/>
              </a:solidFill>
              <a:latin typeface="Times New Roman" panose="02020603050405020304" pitchFamily="18" charset="0"/>
              <a:ea typeface="宋体" panose="02010600030101010101" pitchFamily="2" charset="-122"/>
            </a:endParaRPr>
          </a:p>
        </p:txBody>
      </p:sp>
      <p:sp>
        <p:nvSpPr>
          <p:cNvPr id="23554" name="Rectangle 2"/>
          <p:cNvSpPr>
            <a:spLocks noGrp="1"/>
          </p:cNvSpPr>
          <p:nvPr>
            <p:ph type="title"/>
          </p:nvPr>
        </p:nvSpPr>
        <p:spPr/>
        <p:txBody>
          <a:bodyPr vert="horz" wrap="square" lIns="91440" tIns="45720" rIns="91440" bIns="45720" anchor="ctr"/>
          <a:p>
            <a:pPr eaLnBrk="1" hangingPunct="1"/>
            <a:r>
              <a:rPr lang="zh-CN" dirty="0">
                <a:ea typeface="楷体_GB2312" pitchFamily="49" charset="-122"/>
              </a:rPr>
              <a:t>引言</a:t>
            </a:r>
            <a:endParaRPr lang="zh-CN" dirty="0">
              <a:ea typeface="楷体_GB2312" pitchFamily="49" charset="-122"/>
            </a:endParaRP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p:cNvSpPr>
          <p:nvPr>
            <p:ph idx="1"/>
          </p:nvPr>
        </p:nvSpPr>
        <p:spPr>
          <a:xfrm>
            <a:off x="827088" y="2852738"/>
            <a:ext cx="4321175" cy="2952750"/>
          </a:xfrm>
        </p:spPr>
        <p:txBody>
          <a:bodyPr vert="horz" wrap="square" lIns="91440" tIns="45720" rIns="91440" bIns="45720" anchor="t"/>
          <a:p>
            <a:pPr marL="0" indent="0" eaLnBrk="1" hangingPunct="1">
              <a:buNone/>
            </a:pPr>
            <a:r>
              <a:rPr lang="en-US" altLang="zh-TW" sz="2400" dirty="0">
                <a:ea typeface="楷体_GB2312" pitchFamily="49" charset="-122"/>
              </a:rPr>
              <a:t>        </a:t>
            </a:r>
            <a:r>
              <a:rPr lang="zh-CN" altLang="en-US" sz="2400" dirty="0">
                <a:ea typeface="楷体_GB2312" pitchFamily="49" charset="-122"/>
              </a:rPr>
              <a:t>使用机器学习技术，我们可以让程序学习音乐家的创作风格并产生具有试图模拟的创作风格特征的新音乐。</a:t>
            </a:r>
            <a:endParaRPr lang="en-US" altLang="zh-CN" sz="2400" dirty="0">
              <a:latin typeface="楷体_GB2312" pitchFamily="49" charset="-122"/>
              <a:ea typeface="楷体_GB2312" pitchFamily="49" charset="-122"/>
            </a:endParaRPr>
          </a:p>
        </p:txBody>
      </p:sp>
      <p:grpSp>
        <p:nvGrpSpPr>
          <p:cNvPr id="25603" name="Group 4"/>
          <p:cNvGrpSpPr/>
          <p:nvPr/>
        </p:nvGrpSpPr>
        <p:grpSpPr>
          <a:xfrm>
            <a:off x="6170613" y="3001963"/>
            <a:ext cx="1930400" cy="2514600"/>
            <a:chOff x="4176" y="1488"/>
            <a:chExt cx="1216" cy="1584"/>
          </a:xfrm>
        </p:grpSpPr>
        <p:graphicFrame>
          <p:nvGraphicFramePr>
            <p:cNvPr id="25604" name="Object 5"/>
            <p:cNvGraphicFramePr>
              <a:graphicFrameLocks noChangeAspect="1"/>
            </p:cNvGraphicFramePr>
            <p:nvPr/>
          </p:nvGraphicFramePr>
          <p:xfrm>
            <a:off x="4176" y="2600"/>
            <a:ext cx="472" cy="472"/>
          </p:xfrm>
          <a:graphic>
            <a:graphicData uri="http://schemas.openxmlformats.org/presentationml/2006/ole">
              <mc:AlternateContent xmlns:mc="http://schemas.openxmlformats.org/markup-compatibility/2006">
                <mc:Choice xmlns:v="urn:schemas-microsoft-com:vml" Requires="v">
                  <p:oleObj spid="_x0000_s3079" name="" r:id="rId1" imgW="749300" imgH="749300" progId="Photoshop.Image.7">
                    <p:embed/>
                  </p:oleObj>
                </mc:Choice>
                <mc:Fallback>
                  <p:oleObj name="" r:id="rId1" imgW="749300" imgH="749300" progId="Photoshop.Image.7">
                    <p:embed/>
                    <p:pic>
                      <p:nvPicPr>
                        <p:cNvPr id="0" name="图片 3078"/>
                        <p:cNvPicPr/>
                        <p:nvPr/>
                      </p:nvPicPr>
                      <p:blipFill>
                        <a:blip r:embed="rId2"/>
                        <a:stretch>
                          <a:fillRect/>
                        </a:stretch>
                      </p:blipFill>
                      <p:spPr>
                        <a:xfrm>
                          <a:off x="4176" y="2600"/>
                          <a:ext cx="472" cy="472"/>
                        </a:xfrm>
                        <a:prstGeom prst="rect">
                          <a:avLst/>
                        </a:prstGeom>
                        <a:noFill/>
                        <a:ln w="38100">
                          <a:noFill/>
                          <a:miter/>
                        </a:ln>
                      </p:spPr>
                    </p:pic>
                  </p:oleObj>
                </mc:Fallback>
              </mc:AlternateContent>
            </a:graphicData>
          </a:graphic>
        </p:graphicFrame>
        <p:graphicFrame>
          <p:nvGraphicFramePr>
            <p:cNvPr id="25605" name="Object 6"/>
            <p:cNvGraphicFramePr>
              <a:graphicFrameLocks noChangeAspect="1"/>
            </p:cNvGraphicFramePr>
            <p:nvPr/>
          </p:nvGraphicFramePr>
          <p:xfrm>
            <a:off x="4704" y="1488"/>
            <a:ext cx="688" cy="568"/>
          </p:xfrm>
          <a:graphic>
            <a:graphicData uri="http://schemas.openxmlformats.org/presentationml/2006/ole">
              <mc:AlternateContent xmlns:mc="http://schemas.openxmlformats.org/markup-compatibility/2006">
                <mc:Choice xmlns:v="urn:schemas-microsoft-com:vml" Requires="v">
                  <p:oleObj spid="_x0000_s3080" name="" r:id="rId3" imgW="1092200" imgH="901700" progId="Photoshop.Image.7">
                    <p:embed/>
                  </p:oleObj>
                </mc:Choice>
                <mc:Fallback>
                  <p:oleObj name="" r:id="rId3" imgW="1092200" imgH="901700" progId="Photoshop.Image.7">
                    <p:embed/>
                    <p:pic>
                      <p:nvPicPr>
                        <p:cNvPr id="0" name="图片 3079"/>
                        <p:cNvPicPr/>
                        <p:nvPr/>
                      </p:nvPicPr>
                      <p:blipFill>
                        <a:blip r:embed="rId4"/>
                        <a:stretch>
                          <a:fillRect/>
                        </a:stretch>
                      </p:blipFill>
                      <p:spPr>
                        <a:xfrm>
                          <a:off x="4704" y="1488"/>
                          <a:ext cx="688" cy="568"/>
                        </a:xfrm>
                        <a:prstGeom prst="rect">
                          <a:avLst/>
                        </a:prstGeom>
                        <a:noFill/>
                        <a:ln w="38100">
                          <a:noFill/>
                          <a:miter/>
                        </a:ln>
                      </p:spPr>
                    </p:pic>
                  </p:oleObj>
                </mc:Fallback>
              </mc:AlternateContent>
            </a:graphicData>
          </a:graphic>
        </p:graphicFrame>
        <p:sp>
          <p:nvSpPr>
            <p:cNvPr id="25606" name="Oval 7"/>
            <p:cNvSpPr/>
            <p:nvPr/>
          </p:nvSpPr>
          <p:spPr>
            <a:xfrm>
              <a:off x="4464" y="2496"/>
              <a:ext cx="96" cy="48"/>
            </a:xfrm>
            <a:prstGeom prst="ellipse">
              <a:avLst/>
            </a:prstGeom>
            <a:solidFill>
              <a:schemeClr val="accent2"/>
            </a:solidFill>
            <a:ln w="9525" cap="flat" cmpd="sng">
              <a:solidFill>
                <a:schemeClr val="bg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5607" name="Oval 8"/>
            <p:cNvSpPr/>
            <p:nvPr/>
          </p:nvSpPr>
          <p:spPr>
            <a:xfrm>
              <a:off x="4608" y="2352"/>
              <a:ext cx="192" cy="96"/>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25608" name="Oval 9"/>
            <p:cNvSpPr/>
            <p:nvPr/>
          </p:nvSpPr>
          <p:spPr>
            <a:xfrm>
              <a:off x="4848" y="2160"/>
              <a:ext cx="288" cy="144"/>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grpSp>
      <p:sp>
        <p:nvSpPr>
          <p:cNvPr id="25609" name="Rectangle 3"/>
          <p:cNvSpPr txBox="1"/>
          <p:nvPr/>
        </p:nvSpPr>
        <p:spPr>
          <a:xfrm>
            <a:off x="166688" y="2103438"/>
            <a:ext cx="55578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dirty="0">
                <a:solidFill>
                  <a:srgbClr val="FFC000"/>
                </a:solidFill>
                <a:latin typeface="Times New Roman" panose="02020603050405020304" pitchFamily="18" charset="0"/>
                <a:ea typeface="宋体" panose="02010600030101010101" pitchFamily="2" charset="-122"/>
              </a:rPr>
              <a:t>创作风格的模拟</a:t>
            </a:r>
            <a:endParaRPr lang="zh-CN" altLang="en-US" sz="2400" dirty="0">
              <a:solidFill>
                <a:srgbClr val="FFC000"/>
              </a:solidFill>
              <a:latin typeface="Times New Roman" panose="02020603050405020304" pitchFamily="18" charset="0"/>
              <a:ea typeface="宋体" panose="02010600030101010101" pitchFamily="2" charset="-122"/>
            </a:endParaRPr>
          </a:p>
        </p:txBody>
      </p:sp>
      <p:sp>
        <p:nvSpPr>
          <p:cNvPr id="23554" name="Rectangle 2"/>
          <p:cNvSpPr>
            <a:spLocks noGrp="1"/>
          </p:cNvSpPr>
          <p:nvPr>
            <p:ph type="title"/>
          </p:nvPr>
        </p:nvSpPr>
        <p:spPr/>
        <p:txBody>
          <a:bodyPr vert="horz" wrap="square" lIns="91440" tIns="45720" rIns="91440" bIns="45720" anchor="ctr"/>
          <a:p>
            <a:pPr eaLnBrk="1" hangingPunct="1"/>
            <a:r>
              <a:rPr lang="zh-CN" dirty="0">
                <a:ea typeface="楷体_GB2312" pitchFamily="49" charset="-122"/>
              </a:rPr>
              <a:t>引言</a:t>
            </a:r>
            <a:endParaRPr lang="zh-CN" dirty="0">
              <a:ea typeface="楷体_GB2312" pitchFamily="49" charset="-122"/>
            </a:endParaRP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3"/>
          <p:cNvSpPr>
            <a:spLocks noGrp="1"/>
          </p:cNvSpPr>
          <p:nvPr>
            <p:ph idx="1"/>
          </p:nvPr>
        </p:nvSpPr>
        <p:spPr>
          <a:xfrm>
            <a:off x="638175" y="2835275"/>
            <a:ext cx="3741738" cy="3032125"/>
          </a:xfrm>
        </p:spPr>
        <p:txBody>
          <a:bodyPr vert="horz" wrap="square" lIns="91440" tIns="45720" rIns="91440" bIns="45720" anchor="t"/>
          <a:p>
            <a:pPr eaLnBrk="1" hangingPunct="1"/>
            <a:r>
              <a:rPr lang="en-US" altLang="zh-TW" sz="2400" dirty="0">
                <a:ea typeface="楷体_GB2312" pitchFamily="49" charset="-122"/>
              </a:rPr>
              <a:t>         California</a:t>
            </a:r>
            <a:r>
              <a:rPr lang="zh-CN" altLang="en-US" sz="2400" dirty="0">
                <a:ea typeface="楷体_GB2312" pitchFamily="49" charset="-122"/>
              </a:rPr>
              <a:t>大学的</a:t>
            </a:r>
            <a:r>
              <a:rPr lang="en-US" altLang="zh-TW" sz="2400" dirty="0">
                <a:ea typeface="楷体_GB2312" pitchFamily="49" charset="-122"/>
              </a:rPr>
              <a:t> </a:t>
            </a:r>
            <a:r>
              <a:rPr lang="zh-CN" altLang="en-US" sz="2400" dirty="0">
                <a:ea typeface="楷体_GB2312" pitchFamily="49" charset="-122"/>
              </a:rPr>
              <a:t>音乐教授</a:t>
            </a:r>
            <a:r>
              <a:rPr lang="en-US" altLang="zh-TW" sz="2400" dirty="0">
                <a:ea typeface="楷体_GB2312" pitchFamily="49" charset="-122"/>
              </a:rPr>
              <a:t>David Cope </a:t>
            </a:r>
            <a:r>
              <a:rPr lang="zh-CN" altLang="en-US" sz="2400" dirty="0">
                <a:ea typeface="楷体_GB2312" pitchFamily="49" charset="-122"/>
              </a:rPr>
              <a:t>曾使用风格模拟的方法让计算机模拟巴赫、肖邦、贝多芬、以及莫扎特等已故著名的音乐家的创作方法生成类似的音乐作品。</a:t>
            </a:r>
            <a:endParaRPr lang="zh-CN" altLang="en-US" sz="2400" dirty="0">
              <a:ea typeface="楷体_GB2312" pitchFamily="49" charset="-122"/>
            </a:endParaRPr>
          </a:p>
        </p:txBody>
      </p:sp>
      <p:pic>
        <p:nvPicPr>
          <p:cNvPr id="26626" name="Picture 4"/>
          <p:cNvPicPr>
            <a:picLocks noChangeAspect="1"/>
          </p:cNvPicPr>
          <p:nvPr/>
        </p:nvPicPr>
        <p:blipFill>
          <a:blip r:embed="rId1"/>
          <a:stretch>
            <a:fillRect/>
          </a:stretch>
        </p:blipFill>
        <p:spPr>
          <a:xfrm>
            <a:off x="4643438" y="2205038"/>
            <a:ext cx="4105275" cy="3565525"/>
          </a:xfrm>
          <a:prstGeom prst="rect">
            <a:avLst/>
          </a:prstGeom>
          <a:noFill/>
          <a:ln w="9525">
            <a:noFill/>
          </a:ln>
        </p:spPr>
      </p:pic>
      <p:pic>
        <p:nvPicPr>
          <p:cNvPr id="3" name="invention.mp3">
            <a:hlinkClick r:id="" action="ppaction://media"/>
          </p:cNvPr>
          <p:cNvPicPr>
            <a:picLocks noRot="1"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5292725" y="5949950"/>
            <a:ext cx="304800" cy="304800"/>
          </a:xfrm>
          <a:prstGeom prst="rect">
            <a:avLst/>
          </a:prstGeom>
          <a:noFill/>
          <a:ln w="9525">
            <a:noFill/>
          </a:ln>
        </p:spPr>
      </p:pic>
      <p:pic>
        <p:nvPicPr>
          <p:cNvPr id="2" name="cope-emi-kb-concerto-excerp.mp3">
            <a:hlinkClick r:id="" action="ppaction://media"/>
          </p:cNvPr>
          <p:cNvPicPr>
            <a:picLocks noRot="1" noChangeAspect="1"/>
          </p:cNvPicPr>
          <p:nvPr>
            <a:audioFile r:link="rId5"/>
            <p:extLst>
              <p:ext uri="{DAA4B4D4-6D71-4841-9C94-3DE7FCFB9230}">
                <p14:media xmlns:p14="http://schemas.microsoft.com/office/powerpoint/2010/main" r:link="rId6"/>
              </p:ext>
            </p:extLst>
          </p:nvPr>
        </p:nvPicPr>
        <p:blipFill>
          <a:blip r:embed="rId4"/>
          <a:stretch>
            <a:fillRect/>
          </a:stretch>
        </p:blipFill>
        <p:spPr>
          <a:xfrm>
            <a:off x="6453188" y="5949950"/>
            <a:ext cx="304800" cy="304800"/>
          </a:xfrm>
          <a:prstGeom prst="rect">
            <a:avLst/>
          </a:prstGeom>
          <a:noFill/>
          <a:ln w="9525">
            <a:noFill/>
          </a:ln>
        </p:spPr>
      </p:pic>
      <p:sp>
        <p:nvSpPr>
          <p:cNvPr id="9" name="Rectangle 3"/>
          <p:cNvSpPr txBox="1">
            <a:spLocks noChangeArrowheads="1"/>
          </p:cNvSpPr>
          <p:nvPr/>
        </p:nvSpPr>
        <p:spPr bwMode="auto">
          <a:xfrm>
            <a:off x="4946650" y="6197600"/>
            <a:ext cx="1008063"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1600" b="0" i="0" u="none" strike="noStrike" kern="1200" cap="none" spc="0" normalizeH="0" baseline="0" noProof="0" dirty="0" smtClean="0">
                <a:ln>
                  <a:noFill/>
                </a:ln>
                <a:solidFill>
                  <a:schemeClr val="tx1"/>
                </a:solidFill>
                <a:effectLst/>
                <a:uLnTx/>
                <a:uFillTx/>
                <a:latin typeface="+mj-lt"/>
                <a:ea typeface="楷体_GB2312" pitchFamily="49" charset="-122"/>
                <a:cs typeface="+mn-cs"/>
              </a:rPr>
              <a:t>Invention</a:t>
            </a:r>
            <a:endParaRPr kumimoji="0" lang="en-US" altLang="zh-CN" sz="28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 </a:t>
            </a:r>
            <a:endParaRPr kumimoji="0" lang="zh-CN" altLang="en-US" sz="2800" b="0" i="0" u="none" strike="noStrike" kern="1200" cap="none" spc="0" normalizeH="0" baseline="0" noProof="0" dirty="0" smtClean="0">
              <a:ln>
                <a:noFill/>
              </a:ln>
              <a:solidFill>
                <a:schemeClr val="tx1"/>
              </a:solidFill>
              <a:effectLst/>
              <a:uLnTx/>
              <a:uFillTx/>
              <a:latin typeface="+mn-lt"/>
              <a:ea typeface="楷体_GB2312" pitchFamily="49" charset="-122"/>
              <a:cs typeface="+mn-cs"/>
              <a:sym typeface="Wingdings" panose="05000000000000000000" pitchFamily="2" charset="2"/>
            </a:endParaRPr>
          </a:p>
        </p:txBody>
      </p:sp>
      <p:sp>
        <p:nvSpPr>
          <p:cNvPr id="11" name="Rectangle 3"/>
          <p:cNvSpPr txBox="1">
            <a:spLocks noChangeArrowheads="1"/>
          </p:cNvSpPr>
          <p:nvPr/>
        </p:nvSpPr>
        <p:spPr bwMode="auto">
          <a:xfrm>
            <a:off x="6011863" y="6197600"/>
            <a:ext cx="18732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1600" b="0" i="0" u="none" strike="noStrike" kern="1200" cap="none" spc="0" normalizeH="0" baseline="0" noProof="0" dirty="0" smtClean="0">
                <a:ln>
                  <a:noFill/>
                </a:ln>
                <a:solidFill>
                  <a:schemeClr val="tx1"/>
                </a:solidFill>
                <a:effectLst/>
                <a:uLnTx/>
                <a:uFillTx/>
                <a:latin typeface="+mj-lt"/>
                <a:ea typeface="楷体_GB2312" pitchFamily="49" charset="-122"/>
                <a:cs typeface="+mn-cs"/>
              </a:rPr>
              <a:t>Concerto-</a:t>
            </a:r>
            <a:r>
              <a:rPr kumimoji="0" lang="en-US" altLang="zh-CN" sz="1600" b="0" i="0" u="none" strike="noStrike" kern="1200" cap="none" spc="0" normalizeH="0" baseline="0" noProof="0" dirty="0" err="1" smtClean="0">
                <a:ln>
                  <a:noFill/>
                </a:ln>
                <a:solidFill>
                  <a:schemeClr val="tx1"/>
                </a:solidFill>
                <a:effectLst/>
                <a:uLnTx/>
                <a:uFillTx/>
                <a:latin typeface="+mj-lt"/>
                <a:ea typeface="楷体_GB2312" pitchFamily="49" charset="-122"/>
                <a:cs typeface="+mn-cs"/>
              </a:rPr>
              <a:t>excerp</a:t>
            </a:r>
            <a:endParaRPr kumimoji="0" lang="en-US" altLang="zh-CN" sz="28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 </a:t>
            </a:r>
            <a:endParaRPr kumimoji="0" lang="zh-CN" altLang="en-US" sz="2800" b="0" i="0" u="none" strike="noStrike" kern="1200" cap="none" spc="0" normalizeH="0" baseline="0" noProof="0" dirty="0" smtClean="0">
              <a:ln>
                <a:noFill/>
              </a:ln>
              <a:solidFill>
                <a:schemeClr val="tx1"/>
              </a:solidFill>
              <a:effectLst/>
              <a:uLnTx/>
              <a:uFillTx/>
              <a:latin typeface="+mn-lt"/>
              <a:ea typeface="楷体_GB2312" pitchFamily="49" charset="-122"/>
              <a:cs typeface="+mn-cs"/>
              <a:sym typeface="Wingdings" panose="05000000000000000000" pitchFamily="2" charset="2"/>
            </a:endParaRPr>
          </a:p>
        </p:txBody>
      </p:sp>
      <p:sp>
        <p:nvSpPr>
          <p:cNvPr id="26633" name="Rectangle 3"/>
          <p:cNvSpPr txBox="1"/>
          <p:nvPr/>
        </p:nvSpPr>
        <p:spPr>
          <a:xfrm>
            <a:off x="1773238" y="6051550"/>
            <a:ext cx="3752850" cy="314325"/>
          </a:xfrm>
          <a:prstGeom prst="rect">
            <a:avLst/>
          </a:prstGeom>
          <a:noFill/>
          <a:ln w="9525">
            <a:noFill/>
          </a:ln>
        </p:spPr>
        <p:txBody>
          <a:bodyPr anchor="t"/>
          <a:p>
            <a:pPr>
              <a:spcBef>
                <a:spcPct val="20000"/>
              </a:spcBef>
            </a:pPr>
            <a:r>
              <a:rPr lang="en-US" altLang="zh-CN" sz="1600" dirty="0">
                <a:latin typeface="Times New Roman" panose="02020603050405020304" pitchFamily="18" charset="0"/>
                <a:ea typeface="宋体" panose="02010600030101010101" pitchFamily="2" charset="-122"/>
                <a:sym typeface="+mn-ea"/>
              </a:rPr>
              <a:t>A specified musical genre/style</a:t>
            </a:r>
            <a:r>
              <a:rPr lang="en-GB" altLang="en-US" sz="1600" dirty="0">
                <a:latin typeface="Times New Roman" panose="02020603050405020304" pitchFamily="18" charset="0"/>
                <a:ea typeface="宋体" panose="02010600030101010101" pitchFamily="2" charset="-122"/>
                <a:sym typeface="+mn-ea"/>
              </a:rPr>
              <a:t>:</a:t>
            </a:r>
            <a:r>
              <a:rPr lang="en-US" altLang="zh-CN" sz="2800" dirty="0">
                <a:latin typeface="Times New Roman" panose="02020603050405020304" pitchFamily="18" charset="0"/>
              </a:rPr>
              <a:t> </a:t>
            </a:r>
            <a:endParaRPr lang="zh-CN" altLang="en-US" sz="2800" dirty="0">
              <a:latin typeface="Times New Roman" panose="02020603050405020304" pitchFamily="18" charset="0"/>
              <a:ea typeface="楷体_GB2312" pitchFamily="49" charset="-122"/>
              <a:sym typeface="Wingdings" panose="05000000000000000000" pitchFamily="2" charset="2"/>
            </a:endParaRPr>
          </a:p>
        </p:txBody>
      </p:sp>
      <p:sp>
        <p:nvSpPr>
          <p:cNvPr id="23554" name="Rectangle 2"/>
          <p:cNvSpPr>
            <a:spLocks noGrp="1"/>
          </p:cNvSpPr>
          <p:nvPr>
            <p:ph type="title"/>
          </p:nvPr>
        </p:nvSpPr>
        <p:spPr/>
        <p:txBody>
          <a:bodyPr vert="horz" wrap="square" lIns="91440" tIns="45720" rIns="91440" bIns="45720" anchor="ctr"/>
          <a:p>
            <a:pPr eaLnBrk="1" hangingPunct="1"/>
            <a:r>
              <a:rPr lang="zh-CN" dirty="0">
                <a:ea typeface="楷体_GB2312" pitchFamily="49" charset="-122"/>
              </a:rPr>
              <a:t>引言</a:t>
            </a:r>
            <a:endParaRPr lang="zh-CN" dirty="0">
              <a:ea typeface="楷体_GB2312" pitchFamily="49" charset="-122"/>
            </a:endParaRPr>
          </a:p>
        </p:txBody>
      </p:sp>
      <p:sp>
        <p:nvSpPr>
          <p:cNvPr id="25609" name="Rectangle 3"/>
          <p:cNvSpPr txBox="1"/>
          <p:nvPr/>
        </p:nvSpPr>
        <p:spPr>
          <a:xfrm>
            <a:off x="166688" y="2103438"/>
            <a:ext cx="55578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dirty="0">
                <a:solidFill>
                  <a:srgbClr val="FFC000"/>
                </a:solidFill>
                <a:latin typeface="Times New Roman" panose="02020603050405020304" pitchFamily="18" charset="0"/>
                <a:ea typeface="宋体" panose="02010600030101010101" pitchFamily="2" charset="-122"/>
              </a:rPr>
              <a:t>创作风格的模拟</a:t>
            </a:r>
            <a:endParaRPr lang="zh-CN" altLang="en-US" sz="2400"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 fill="hold"/>
                                        <p:tgtEl>
                                          <p:spTgt spid="2"/>
                                        </p:tgtEl>
                                      </p:cBhvr>
                                    </p:cmd>
                                  </p:childTnLst>
                                </p:cTn>
                              </p:par>
                            </p:childTnLst>
                          </p:cTn>
                        </p:par>
                      </p:childTnLst>
                    </p:cTn>
                  </p:par>
                </p:childTnLst>
              </p:cTn>
              <p:nextCondLst>
                <p:cond evt="onClick" delay="0">
                  <p:tgtEl>
                    <p:spTgt spid="2"/>
                  </p:tgtEl>
                </p:cond>
              </p:nextCondLst>
            </p:seq>
            <p:audio>
              <p:cMediaNode vol="80000">
                <p:cTn id="13"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 name="组合 2"/>
          <p:cNvGrpSpPr/>
          <p:nvPr/>
        </p:nvGrpSpPr>
        <p:grpSpPr>
          <a:xfrm>
            <a:off x="3660774" y="3836035"/>
            <a:ext cx="4304666" cy="1111885"/>
            <a:chOff x="5059768" y="2882466"/>
            <a:chExt cx="2768793" cy="1520825"/>
          </a:xfrm>
        </p:grpSpPr>
        <p:sp>
          <p:nvSpPr>
            <p:cNvPr id="79893" name="Rectangle 21"/>
            <p:cNvSpPr>
              <a:spLocks noChangeArrowheads="1"/>
            </p:cNvSpPr>
            <p:nvPr/>
          </p:nvSpPr>
          <p:spPr bwMode="auto">
            <a:xfrm>
              <a:off x="5578683" y="2882466"/>
              <a:ext cx="2249878" cy="1520825"/>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特定音乐体裁或风格，欲表达</a:t>
              </a:r>
              <a:endPar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的心境或情感的新音乐</a:t>
              </a:r>
              <a:endParaRPr kumimoji="0" lang="zh-CN" altLang="en-US" sz="2000" b="0" i="0" u="none" strike="noStrike" kern="1200" cap="none" spc="0" normalizeH="0" baseline="0" noProof="0" dirty="0" smtClean="0">
                <a:ln>
                  <a:noFill/>
                </a:ln>
                <a:solidFill>
                  <a:schemeClr val="tx1"/>
                </a:solidFill>
                <a:effectLst/>
                <a:uLnTx/>
                <a:uFillTx/>
                <a:latin typeface="Chiller" panose="04020404031007020602" pitchFamily="82" charset="0"/>
                <a:ea typeface="宋体" panose="02010600030101010101" pitchFamily="2" charset="-122"/>
                <a:cs typeface="+mn-cs"/>
              </a:endParaRPr>
            </a:p>
          </p:txBody>
        </p:sp>
        <p:sp>
          <p:nvSpPr>
            <p:cNvPr id="79894" name="AutoShape 22"/>
            <p:cNvSpPr>
              <a:spLocks noChangeArrowheads="1"/>
            </p:cNvSpPr>
            <p:nvPr/>
          </p:nvSpPr>
          <p:spPr bwMode="auto">
            <a:xfrm>
              <a:off x="5059768" y="3357562"/>
              <a:ext cx="518715" cy="863335"/>
            </a:xfrm>
            <a:prstGeom prst="rightArrow">
              <a:avLst>
                <a:gd name="adj1" fmla="val 50000"/>
                <a:gd name="adj2" fmla="val 3331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生成</a:t>
              </a:r>
              <a:endParaRPr kumimoji="0" 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grpSp>
      <p:sp>
        <p:nvSpPr>
          <p:cNvPr id="10" name="Rectangle 3"/>
          <p:cNvSpPr txBox="1">
            <a:spLocks noChangeArrowheads="1"/>
          </p:cNvSpPr>
          <p:nvPr/>
        </p:nvSpPr>
        <p:spPr bwMode="auto">
          <a:xfrm>
            <a:off x="827088" y="3503613"/>
            <a:ext cx="360997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隐马尔可夫模型</a:t>
            </a: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800" b="0" i="0" u="none" strike="noStrike" kern="1200" cap="none" spc="0" normalizeH="0" baseline="0" noProof="0" dirty="0" smtClean="0">
              <a:ln>
                <a:noFill/>
              </a:ln>
              <a:solidFill>
                <a:schemeClr val="tx1"/>
              </a:solidFill>
              <a:effectLst/>
              <a:uLnTx/>
              <a:uFillTx/>
              <a:latin typeface="+mn-lt"/>
              <a:ea typeface="楷体_GB2312" pitchFamily="49" charset="-122"/>
              <a:cs typeface="+mn-cs"/>
            </a:endParaRPr>
          </a:p>
        </p:txBody>
      </p:sp>
      <p:sp>
        <p:nvSpPr>
          <p:cNvPr id="11" name="Rectangle 3"/>
          <p:cNvSpPr txBox="1"/>
          <p:nvPr/>
        </p:nvSpPr>
        <p:spPr>
          <a:xfrm>
            <a:off x="827088" y="2938463"/>
            <a:ext cx="3025775" cy="593725"/>
          </a:xfrm>
          <a:prstGeom prst="rect">
            <a:avLst/>
          </a:prstGeom>
          <a:noFill/>
          <a:ln w="9525">
            <a:noFill/>
          </a:ln>
        </p:spPr>
        <p:txBody>
          <a:bodyPr anchor="t"/>
          <a:p>
            <a:pPr marL="342900" indent="-342900">
              <a:spcBef>
                <a:spcPct val="20000"/>
              </a:spcBef>
              <a:buChar char="•"/>
            </a:pPr>
            <a:r>
              <a:rPr lang="zh-CN" altLang="en-US" sz="2400" dirty="0">
                <a:latin typeface="Times New Roman" panose="02020603050405020304" pitchFamily="18" charset="0"/>
                <a:ea typeface="楷体_GB2312" pitchFamily="49" charset="-122"/>
              </a:rPr>
              <a:t>随机过程</a:t>
            </a:r>
            <a:endParaRPr lang="zh-CN" altLang="en-US" sz="2800" dirty="0">
              <a:latin typeface="Times New Roman" panose="02020603050405020304" pitchFamily="18" charset="0"/>
              <a:ea typeface="楷体_GB2312" pitchFamily="49" charset="-122"/>
            </a:endParaRPr>
          </a:p>
        </p:txBody>
      </p:sp>
      <p:sp>
        <p:nvSpPr>
          <p:cNvPr id="12" name="Rectangle 3"/>
          <p:cNvSpPr txBox="1"/>
          <p:nvPr/>
        </p:nvSpPr>
        <p:spPr>
          <a:xfrm>
            <a:off x="827088" y="5257800"/>
            <a:ext cx="3121025" cy="584200"/>
          </a:xfrm>
          <a:prstGeom prst="rect">
            <a:avLst/>
          </a:prstGeom>
          <a:noFill/>
          <a:ln w="9525">
            <a:noFill/>
          </a:ln>
        </p:spPr>
        <p:txBody>
          <a:bodyPr anchor="t"/>
          <a:p>
            <a:pPr marL="342900" indent="-342900">
              <a:spcBef>
                <a:spcPct val="20000"/>
              </a:spcBef>
              <a:buChar char="•"/>
            </a:pPr>
            <a:r>
              <a:rPr lang="zh-CN" altLang="en-US" sz="2400" dirty="0">
                <a:latin typeface="Times New Roman" panose="02020603050405020304" pitchFamily="18" charset="0"/>
                <a:ea typeface="楷体_GB2312" pitchFamily="49" charset="-122"/>
              </a:rPr>
              <a:t>音乐文法</a:t>
            </a:r>
            <a:endParaRPr lang="zh-CN" altLang="en-US" sz="2800" dirty="0">
              <a:latin typeface="Times New Roman" panose="02020603050405020304" pitchFamily="18" charset="0"/>
              <a:ea typeface="楷体_GB2312" pitchFamily="49" charset="-122"/>
            </a:endParaRPr>
          </a:p>
        </p:txBody>
      </p:sp>
      <p:sp>
        <p:nvSpPr>
          <p:cNvPr id="13" name="Rectangle 3"/>
          <p:cNvSpPr txBox="1"/>
          <p:nvPr/>
        </p:nvSpPr>
        <p:spPr>
          <a:xfrm>
            <a:off x="830263" y="4098925"/>
            <a:ext cx="2560637" cy="514350"/>
          </a:xfrm>
          <a:prstGeom prst="rect">
            <a:avLst/>
          </a:prstGeom>
          <a:noFill/>
          <a:ln w="9525">
            <a:noFill/>
          </a:ln>
        </p:spPr>
        <p:txBody>
          <a:bodyPr anchor="t"/>
          <a:p>
            <a:pPr marL="342900" indent="-342900">
              <a:spcBef>
                <a:spcPct val="20000"/>
              </a:spcBef>
              <a:buChar char="•"/>
            </a:pPr>
            <a:r>
              <a:rPr lang="zh-CN" altLang="en-US" sz="2400" dirty="0">
                <a:latin typeface="Times New Roman" panose="02020603050405020304" pitchFamily="18" charset="0"/>
                <a:ea typeface="楷体_GB2312" pitchFamily="49" charset="-122"/>
              </a:rPr>
              <a:t>人工神经网络</a:t>
            </a:r>
            <a:endParaRPr lang="zh-CN" altLang="en-US" sz="2400" dirty="0">
              <a:latin typeface="Times New Roman" panose="02020603050405020304" pitchFamily="18" charset="0"/>
              <a:ea typeface="楷体_GB2312" pitchFamily="49" charset="-122"/>
            </a:endParaRPr>
          </a:p>
        </p:txBody>
      </p:sp>
      <p:sp>
        <p:nvSpPr>
          <p:cNvPr id="14" name="Rectangle 3"/>
          <p:cNvSpPr txBox="1"/>
          <p:nvPr/>
        </p:nvSpPr>
        <p:spPr>
          <a:xfrm>
            <a:off x="827088" y="5754688"/>
            <a:ext cx="5472112" cy="534987"/>
          </a:xfrm>
          <a:prstGeom prst="rect">
            <a:avLst/>
          </a:prstGeom>
          <a:noFill/>
          <a:ln w="9525">
            <a:noFill/>
          </a:ln>
        </p:spPr>
        <p:txBody>
          <a:bodyPr anchor="t"/>
          <a:p>
            <a:pPr marL="342900" indent="-342900">
              <a:spcBef>
                <a:spcPct val="20000"/>
              </a:spcBef>
              <a:buChar char="•"/>
            </a:pPr>
            <a:r>
              <a:rPr lang="zh-CN" altLang="en-US" sz="2400" dirty="0">
                <a:latin typeface="Times New Roman" panose="02020603050405020304" pitchFamily="18" charset="0"/>
                <a:ea typeface="楷体_GB2312" pitchFamily="49" charset="-122"/>
              </a:rPr>
              <a:t>风格模拟与机器学习</a:t>
            </a:r>
            <a:endParaRPr lang="en-US" altLang="zh-CN" sz="2800" dirty="0">
              <a:latin typeface="Times New Roman" panose="02020603050405020304" pitchFamily="18" charset="0"/>
              <a:ea typeface="楷体_GB2312" pitchFamily="49" charset="-122"/>
            </a:endParaRPr>
          </a:p>
        </p:txBody>
      </p:sp>
      <p:sp>
        <p:nvSpPr>
          <p:cNvPr id="15" name="Rectangle 3"/>
          <p:cNvSpPr txBox="1"/>
          <p:nvPr/>
        </p:nvSpPr>
        <p:spPr>
          <a:xfrm>
            <a:off x="827088" y="4654550"/>
            <a:ext cx="3095625" cy="495300"/>
          </a:xfrm>
          <a:prstGeom prst="rect">
            <a:avLst/>
          </a:prstGeom>
          <a:noFill/>
          <a:ln w="9525">
            <a:noFill/>
          </a:ln>
        </p:spPr>
        <p:txBody>
          <a:bodyPr anchor="t"/>
          <a:p>
            <a:pPr marL="342900" indent="-342900">
              <a:spcBef>
                <a:spcPct val="20000"/>
              </a:spcBef>
              <a:buChar char="•"/>
            </a:pPr>
            <a:r>
              <a:rPr lang="zh-CN" altLang="en-US" sz="2400" dirty="0">
                <a:latin typeface="Times New Roman" panose="02020603050405020304" pitchFamily="18" charset="0"/>
                <a:ea typeface="楷体_GB2312" pitchFamily="49" charset="-122"/>
              </a:rPr>
              <a:t>遗传算法</a:t>
            </a:r>
            <a:endParaRPr lang="zh-CN" altLang="en-US" sz="2400" dirty="0">
              <a:latin typeface="Times New Roman" panose="02020603050405020304" pitchFamily="18" charset="0"/>
              <a:ea typeface="楷体_GB2312" pitchFamily="49" charset="-122"/>
            </a:endParaRPr>
          </a:p>
        </p:txBody>
      </p:sp>
      <p:sp>
        <p:nvSpPr>
          <p:cNvPr id="27659" name="Rectangle 3"/>
          <p:cNvSpPr txBox="1"/>
          <p:nvPr/>
        </p:nvSpPr>
        <p:spPr>
          <a:xfrm>
            <a:off x="166688" y="2103438"/>
            <a:ext cx="635000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dirty="0">
                <a:solidFill>
                  <a:srgbClr val="FFC000"/>
                </a:solidFill>
                <a:latin typeface="Times New Roman" panose="02020603050405020304" pitchFamily="18" charset="0"/>
                <a:ea typeface="宋体" panose="02010600030101010101" pitchFamily="2" charset="-122"/>
              </a:rPr>
              <a:t>算法作曲技术</a:t>
            </a:r>
            <a:endParaRPr lang="zh-CN" altLang="en-US" sz="2400" dirty="0">
              <a:solidFill>
                <a:srgbClr val="FFC000"/>
              </a:solidFill>
              <a:latin typeface="Times New Roman" panose="02020603050405020304" pitchFamily="18" charset="0"/>
              <a:ea typeface="宋体" panose="02010600030101010101" pitchFamily="2" charset="-122"/>
            </a:endParaRPr>
          </a:p>
        </p:txBody>
      </p:sp>
      <p:sp>
        <p:nvSpPr>
          <p:cNvPr id="23554" name="Rectangle 2"/>
          <p:cNvSpPr>
            <a:spLocks noGrp="1"/>
          </p:cNvSpPr>
          <p:nvPr>
            <p:ph type="title"/>
          </p:nvPr>
        </p:nvSpPr>
        <p:spPr/>
        <p:txBody>
          <a:bodyPr vert="horz" wrap="square" lIns="91440" tIns="45720" rIns="91440" bIns="45720" anchor="ctr"/>
          <a:p>
            <a:pPr eaLnBrk="1" hangingPunct="1"/>
            <a:r>
              <a:rPr lang="zh-CN" dirty="0">
                <a:ea typeface="楷体_GB2312" pitchFamily="49" charset="-122"/>
              </a:rPr>
              <a:t>引言</a:t>
            </a:r>
            <a:endParaRPr lang="zh-CN" dirty="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10243" name="Rectangle 3"/>
          <p:cNvSpPr>
            <a:spLocks noGrp="1" noChangeArrowheads="1"/>
          </p:cNvSpPr>
          <p:nvPr>
            <p:ph idx="1"/>
          </p:nvPr>
        </p:nvSpPr>
        <p:spPr>
          <a:xfrm>
            <a:off x="611188" y="3141663"/>
            <a:ext cx="7991475" cy="29527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1200" cap="none" spc="0" normalizeH="0" baseline="0" noProof="0" dirty="0" smtClean="0">
                <a:ln>
                  <a:noFill/>
                </a:ln>
                <a:solidFill>
                  <a:schemeClr val="tx1"/>
                </a:solidFill>
                <a:effectLst/>
                <a:uLnTx/>
                <a:uFillTx/>
                <a:latin typeface="+mn-lt"/>
                <a:ea typeface="楷体_GB2312" pitchFamily="49" charset="-122"/>
                <a:cs typeface="+mn-cs"/>
              </a:rPr>
              <a:t>作曲算法的创作目标是什么</a:t>
            </a:r>
            <a:r>
              <a:rPr kumimoji="0" lang="en-US" altLang="zh-CN" sz="2400" b="0" i="0" u="none" strike="noStrike" kern="1200" cap="none" spc="0" normalizeH="0" baseline="0" noProof="0" dirty="0" smtClean="0">
                <a:ln>
                  <a:noFill/>
                </a:ln>
                <a:solidFill>
                  <a:schemeClr val="tx1"/>
                </a:solidFill>
                <a:effectLst/>
                <a:uLnTx/>
                <a:uFillTx/>
                <a:latin typeface="+mn-lt"/>
                <a:ea typeface="楷体_GB2312" pitchFamily="49"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1200" cap="none" spc="0" normalizeH="0" baseline="0" noProof="0" dirty="0" smtClean="0">
              <a:ln>
                <a:noFill/>
              </a:ln>
              <a:solidFill>
                <a:schemeClr val="tx1"/>
              </a:solidFill>
              <a:effectLst/>
              <a:uLnTx/>
              <a:uFillTx/>
              <a:latin typeface="+mn-lt"/>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如何构造具有一定乐思的旋律片段</a:t>
            </a: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如何将旋律片段扩展成一个完整旋律</a:t>
            </a: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28675" name="Rectangle 3"/>
          <p:cNvSpPr txBox="1"/>
          <p:nvPr/>
        </p:nvSpPr>
        <p:spPr>
          <a:xfrm>
            <a:off x="166688" y="2103438"/>
            <a:ext cx="635000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dirty="0">
                <a:solidFill>
                  <a:srgbClr val="FFC000"/>
                </a:solidFill>
                <a:latin typeface="Times New Roman" panose="02020603050405020304" pitchFamily="18" charset="0"/>
                <a:ea typeface="宋体" panose="02010600030101010101" pitchFamily="2" charset="-122"/>
              </a:rPr>
              <a:t>如何用计算机生成旋律</a:t>
            </a:r>
            <a:r>
              <a:rPr lang="en-US" altLang="zh-CN" sz="2400" dirty="0">
                <a:solidFill>
                  <a:srgbClr val="FFC000"/>
                </a:solidFill>
                <a:latin typeface="Times New Roman" panose="02020603050405020304" pitchFamily="18" charset="0"/>
                <a:ea typeface="宋体" panose="02010600030101010101" pitchFamily="2" charset="-122"/>
              </a:rPr>
              <a:t>?</a:t>
            </a:r>
            <a:endParaRPr lang="en-US" altLang="zh-CN" sz="2400"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3">
                                            <p:txEl>
                                              <p:charRg st="0" end="57"/>
                                            </p:txEl>
                                          </p:spTgt>
                                        </p:tgtEl>
                                        <p:attrNameLst>
                                          <p:attrName>style.visibility</p:attrName>
                                        </p:attrNameLst>
                                      </p:cBhvr>
                                      <p:to>
                                        <p:strVal val="visible"/>
                                      </p:to>
                                    </p:set>
                                    <p:anim calcmode="lin" valueType="num">
                                      <p:cBhvr additive="base">
                                        <p:cTn id="7" dur="500" fill="hold"/>
                                        <p:tgtEl>
                                          <p:spTgt spid="10243">
                                            <p:txEl>
                                              <p:charRg st="0" end="5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charRg st="0" end="5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3">
                                            <p:txEl>
                                              <p:charRg st="58" end="124"/>
                                            </p:txEl>
                                          </p:spTgt>
                                        </p:tgtEl>
                                        <p:attrNameLst>
                                          <p:attrName>style.visibility</p:attrName>
                                        </p:attrNameLst>
                                      </p:cBhvr>
                                      <p:to>
                                        <p:strVal val="visible"/>
                                      </p:to>
                                    </p:set>
                                    <p:anim calcmode="lin" valueType="num">
                                      <p:cBhvr additive="base">
                                        <p:cTn id="13" dur="500" fill="hold"/>
                                        <p:tgtEl>
                                          <p:spTgt spid="10243">
                                            <p:txEl>
                                              <p:charRg st="58" end="12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charRg st="58" end="12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3">
                                            <p:txEl>
                                              <p:charRg st="125" end="182"/>
                                            </p:txEl>
                                          </p:spTgt>
                                        </p:tgtEl>
                                        <p:attrNameLst>
                                          <p:attrName>style.visibility</p:attrName>
                                        </p:attrNameLst>
                                      </p:cBhvr>
                                      <p:to>
                                        <p:strVal val="visible"/>
                                      </p:to>
                                    </p:set>
                                    <p:anim calcmode="lin" valueType="num">
                                      <p:cBhvr additive="base">
                                        <p:cTn id="19" dur="500" fill="hold"/>
                                        <p:tgtEl>
                                          <p:spTgt spid="10243">
                                            <p:txEl>
                                              <p:charRg st="125" end="18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charRg st="125" end="18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Rectangle 3"/>
          <p:cNvSpPr>
            <a:spLocks noGrp="1"/>
          </p:cNvSpPr>
          <p:nvPr>
            <p:ph idx="1"/>
          </p:nvPr>
        </p:nvSpPr>
        <p:spPr>
          <a:xfrm>
            <a:off x="1259205" y="2853055"/>
            <a:ext cx="6789420" cy="758190"/>
          </a:xfrm>
        </p:spPr>
        <p:txBody>
          <a:bodyPr vert="horz" wrap="square" lIns="91440" tIns="45720" rIns="91440" bIns="45720" anchor="t"/>
          <a:p>
            <a:pPr eaLnBrk="1" hangingPunct="1"/>
            <a:r>
              <a:rPr lang="zh-CN" altLang="en-US" sz="2400" dirty="0">
                <a:ea typeface="楷体_GB2312" pitchFamily="49" charset="-122"/>
              </a:rPr>
              <a:t>旋律的体裁</a:t>
            </a:r>
            <a:r>
              <a:rPr lang="en-US" altLang="zh-CN" sz="2400" dirty="0">
                <a:ea typeface="楷体_GB2312" pitchFamily="49" charset="-122"/>
              </a:rPr>
              <a:t> (</a:t>
            </a:r>
            <a:r>
              <a:rPr lang="zh-CN" altLang="en-US" sz="2400" dirty="0">
                <a:ea typeface="楷体_GB2312" pitchFamily="49" charset="-122"/>
              </a:rPr>
              <a:t>比如</a:t>
            </a:r>
            <a:r>
              <a:rPr lang="en-US" altLang="zh-CN" sz="2400" dirty="0">
                <a:ea typeface="楷体_GB2312" pitchFamily="49" charset="-122"/>
              </a:rPr>
              <a:t>, </a:t>
            </a:r>
            <a:r>
              <a:rPr lang="zh-CN" altLang="en-US" sz="2400" dirty="0">
                <a:ea typeface="楷体_GB2312" pitchFamily="49" charset="-122"/>
              </a:rPr>
              <a:t>歌曲旋律，器乐曲等</a:t>
            </a:r>
            <a:r>
              <a:rPr lang="en-US" altLang="zh-CN" sz="2400" dirty="0">
                <a:ea typeface="楷体_GB2312" pitchFamily="49" charset="-122"/>
              </a:rPr>
              <a:t>)</a:t>
            </a:r>
            <a:endParaRPr lang="en-US" altLang="zh-CN" sz="2400" dirty="0">
              <a:ea typeface="楷体_GB2312" pitchFamily="49" charset="-122"/>
            </a:endParaRPr>
          </a:p>
          <a:p>
            <a:pPr eaLnBrk="1" hangingPunct="1"/>
            <a:r>
              <a:rPr lang="zh-CN" altLang="en-US" sz="2400" dirty="0">
                <a:ea typeface="宋体" panose="02010600030101010101" pitchFamily="2" charset="-122"/>
                <a:sym typeface="+mn-ea"/>
              </a:rPr>
              <a:t>旋律表达的情感或意境</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sym typeface="+mn-ea"/>
              </a:rPr>
              <a:t>生成旋律的长度</a:t>
            </a:r>
            <a:r>
              <a:rPr lang="en-US" altLang="zh-CN" sz="2400" dirty="0">
                <a:ea typeface="宋体" panose="02010600030101010101" pitchFamily="2" charset="-122"/>
                <a:sym typeface="+mn-ea"/>
              </a:rPr>
              <a:t> (</a:t>
            </a:r>
            <a:r>
              <a:rPr lang="zh-CN" altLang="en-US" sz="2400" dirty="0">
                <a:ea typeface="宋体" panose="02010600030101010101" pitchFamily="2" charset="-122"/>
                <a:sym typeface="+mn-ea"/>
              </a:rPr>
              <a:t>和歌词有关</a:t>
            </a:r>
            <a:r>
              <a:rPr lang="en-US" altLang="zh-CN" sz="2400" dirty="0">
                <a:ea typeface="宋体" panose="02010600030101010101" pitchFamily="2" charset="-122"/>
                <a:sym typeface="+mn-ea"/>
              </a:rPr>
              <a:t>)</a:t>
            </a:r>
            <a:endParaRPr lang="en-US" altLang="zh-CN" sz="2400" dirty="0">
              <a:ea typeface="宋体" panose="02010600030101010101" pitchFamily="2" charset="-122"/>
              <a:sym typeface="+mn-ea"/>
            </a:endParaRPr>
          </a:p>
          <a:p>
            <a:pPr eaLnBrk="1" hangingPunct="1"/>
            <a:r>
              <a:rPr lang="zh-CN" altLang="en-US" sz="2400" dirty="0">
                <a:ea typeface="宋体" panose="02010600030101010101" pitchFamily="2" charset="-122"/>
                <a:sym typeface="+mn-ea"/>
              </a:rPr>
              <a:t>欲模仿的创作风格</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a:p>
            <a:pPr eaLnBrk="1" hangingPunct="1"/>
            <a:endParaRPr lang="zh-CN" altLang="en-US" sz="2400" dirty="0">
              <a:ea typeface="宋体" panose="02010600030101010101" pitchFamily="2" charset="-122"/>
            </a:endParaRPr>
          </a:p>
          <a:p>
            <a:pPr eaLnBrk="1" hangingPunct="1"/>
            <a:endParaRPr lang="en-US" altLang="zh-CN" sz="2400" dirty="0">
              <a:ea typeface="楷体_GB2312" pitchFamily="49" charset="-122"/>
            </a:endParaRPr>
          </a:p>
          <a:p>
            <a:pPr eaLnBrk="1" hangingPunct="1"/>
            <a:endParaRPr lang="en-US" altLang="zh-CN" sz="2400" dirty="0">
              <a:ea typeface="楷体_GB2312" pitchFamily="49" charset="-122"/>
            </a:endParaRPr>
          </a:p>
          <a:p>
            <a:pPr eaLnBrk="1" hangingPunct="1"/>
            <a:endParaRPr lang="zh-CN" altLang="en-US" sz="2800" dirty="0">
              <a:ea typeface="宋体" panose="02010600030101010101" pitchFamily="2" charset="-122"/>
            </a:endParaRPr>
          </a:p>
        </p:txBody>
      </p:sp>
      <p:sp>
        <p:nvSpPr>
          <p:cNvPr id="29699" name="Rectangle 3"/>
          <p:cNvSpPr txBox="1"/>
          <p:nvPr/>
        </p:nvSpPr>
        <p:spPr>
          <a:xfrm>
            <a:off x="166688" y="2103438"/>
            <a:ext cx="635000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创作目标</a:t>
            </a:r>
            <a:r>
              <a:rPr lang="en-US" altLang="zh-CN" sz="2400" dirty="0">
                <a:solidFill>
                  <a:srgbClr val="FFC000"/>
                </a:solidFill>
                <a:latin typeface="Times New Roman" panose="02020603050405020304" pitchFamily="18" charset="0"/>
                <a:ea typeface="宋体" panose="02010600030101010101" pitchFamily="2" charset="-122"/>
              </a:rPr>
              <a:t>?</a:t>
            </a:r>
            <a:endParaRPr lang="en-US" altLang="zh-CN" sz="2400" dirty="0">
              <a:solidFill>
                <a:srgbClr val="FFC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500" fill="hold">
                                          <p:stCondLst>
                                            <p:cond delay="0"/>
                                          </p:stCondLst>
                                        </p:cTn>
                                        <p:tgtEl>
                                          <p:spTgt spid="11267">
                                            <p:txEl>
                                              <p:charRg st="0" end="47"/>
                                            </p:txEl>
                                          </p:spTgt>
                                        </p:tgtEl>
                                        <p:attrNameLst>
                                          <p:attrName>style.visibility</p:attrName>
                                        </p:attrNameLst>
                                      </p:cBhvr>
                                      <p:to>
                                        <p:strVal val="visible"/>
                                      </p:to>
                                    </p:set>
                                    <p:anim calcmode="lin" valueType="num">
                                      <p:cBhvr additive="base">
                                        <p:cTn id="7" dur="500" fill="hold"/>
                                        <p:tgtEl>
                                          <p:spTgt spid="11267">
                                            <p:txEl>
                                              <p:charRg st="0" end="4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charRg st="0" end="4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500" fill="hold">
                                          <p:stCondLst>
                                            <p:cond delay="0"/>
                                          </p:stCondLst>
                                        </p:cTn>
                                        <p:tgtEl>
                                          <p:spTgt spid="11267">
                                            <p:txEl>
                                              <p:charRg st="1" end="1"/>
                                            </p:txEl>
                                          </p:spTgt>
                                        </p:tgtEl>
                                        <p:attrNameLst>
                                          <p:attrName>style.visibility</p:attrName>
                                        </p:attrNameLst>
                                      </p:cBhvr>
                                      <p:to>
                                        <p:strVal val="visible"/>
                                      </p:to>
                                    </p:set>
                                    <p:anim calcmode="lin" valueType="num">
                                      <p:cBhvr additive="base">
                                        <p:cTn id="13" dur="500" fill="hold"/>
                                        <p:tgtEl>
                                          <p:spTgt spid="11267">
                                            <p:txEl>
                                              <p:char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char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500" fill="hold">
                                          <p:stCondLst>
                                            <p:cond delay="0"/>
                                          </p:stCondLst>
                                        </p:cTn>
                                        <p:tgtEl>
                                          <p:spTgt spid="11267">
                                            <p:txEl>
                                              <p:charRg st="2" end="2"/>
                                            </p:txEl>
                                          </p:spTgt>
                                        </p:tgtEl>
                                        <p:attrNameLst>
                                          <p:attrName>style.visibility</p:attrName>
                                        </p:attrNameLst>
                                      </p:cBhvr>
                                      <p:to>
                                        <p:strVal val="visible"/>
                                      </p:to>
                                    </p:set>
                                    <p:anim calcmode="lin" valueType="num">
                                      <p:cBhvr additive="base">
                                        <p:cTn id="19" dur="500" fill="hold"/>
                                        <p:tgtEl>
                                          <p:spTgt spid="11267">
                                            <p:txEl>
                                              <p:char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500" fill="hold">
                                          <p:stCondLst>
                                            <p:cond delay="0"/>
                                          </p:stCondLst>
                                        </p:cTn>
                                        <p:tgtEl>
                                          <p:spTgt spid="11267">
                                            <p:txEl>
                                              <p:charRg st="3" end="3"/>
                                            </p:txEl>
                                          </p:spTgt>
                                        </p:tgtEl>
                                        <p:attrNameLst>
                                          <p:attrName>style.visibility</p:attrName>
                                        </p:attrNameLst>
                                      </p:cBhvr>
                                      <p:to>
                                        <p:strVal val="visible"/>
                                      </p:to>
                                    </p:set>
                                    <p:anim calcmode="lin" valueType="num">
                                      <p:cBhvr additive="base">
                                        <p:cTn id="25" dur="500" fill="hold"/>
                                        <p:tgtEl>
                                          <p:spTgt spid="11267">
                                            <p:txEl>
                                              <p:char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char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3"/>
          <p:cNvSpPr>
            <a:spLocks noGrp="1"/>
          </p:cNvSpPr>
          <p:nvPr>
            <p:ph idx="1"/>
          </p:nvPr>
        </p:nvSpPr>
        <p:spPr>
          <a:xfrm>
            <a:off x="684213" y="3141663"/>
            <a:ext cx="3743325" cy="2303462"/>
          </a:xfrm>
        </p:spPr>
        <p:txBody>
          <a:bodyPr vert="horz" wrap="square" lIns="91440" tIns="45720" rIns="91440" bIns="45720" anchor="t"/>
          <a:p>
            <a:pPr marL="0" indent="0" eaLnBrk="1" hangingPunct="1">
              <a:buNone/>
            </a:pPr>
            <a:r>
              <a:rPr lang="en-US" altLang="zh-CN" sz="2800" dirty="0">
                <a:ea typeface="楷体_GB2312" pitchFamily="49" charset="-122"/>
              </a:rPr>
              <a:t>        </a:t>
            </a:r>
            <a:r>
              <a:rPr lang="zh-CN" altLang="en-US" sz="2400" dirty="0">
                <a:ea typeface="楷体_GB2312" pitchFamily="49" charset="-122"/>
              </a:rPr>
              <a:t>在一首现有的歌曲中</a:t>
            </a:r>
            <a:r>
              <a:rPr lang="en-US" altLang="zh-CN" sz="2400" dirty="0">
                <a:ea typeface="楷体_GB2312" pitchFamily="49" charset="-122"/>
              </a:rPr>
              <a:t>, </a:t>
            </a:r>
            <a:r>
              <a:rPr lang="zh-CN" altLang="en-US" sz="2400" dirty="0">
                <a:ea typeface="楷体_GB2312" pitchFamily="49" charset="-122"/>
              </a:rPr>
              <a:t>歌词的结构可以为旋律创作单元的边界提供重要的线索。</a:t>
            </a:r>
            <a:r>
              <a:rPr lang="en-US" altLang="zh-CN" sz="2400" dirty="0">
                <a:ea typeface="楷体_GB2312" pitchFamily="49" charset="-122"/>
              </a:rPr>
              <a:t> </a:t>
            </a:r>
            <a:endParaRPr lang="en-US" altLang="zh-CN" sz="2400" dirty="0">
              <a:ea typeface="宋体" panose="02010600030101010101" pitchFamily="2" charset="-122"/>
            </a:endParaRPr>
          </a:p>
        </p:txBody>
      </p:sp>
      <p:pic>
        <p:nvPicPr>
          <p:cNvPr id="30723" name="图片 3"/>
          <p:cNvPicPr>
            <a:picLocks noChangeAspect="1"/>
          </p:cNvPicPr>
          <p:nvPr/>
        </p:nvPicPr>
        <p:blipFill>
          <a:blip r:embed="rId1"/>
          <a:stretch>
            <a:fillRect/>
          </a:stretch>
        </p:blipFill>
        <p:spPr>
          <a:xfrm>
            <a:off x="4873625" y="2959100"/>
            <a:ext cx="4168775" cy="3695700"/>
          </a:xfrm>
          <a:prstGeom prst="rect">
            <a:avLst/>
          </a:prstGeom>
          <a:noFill/>
          <a:ln w="9525">
            <a:noFill/>
          </a:ln>
        </p:spPr>
      </p:pic>
      <p:sp>
        <p:nvSpPr>
          <p:cNvPr id="30724" name="矩形 1"/>
          <p:cNvSpPr/>
          <p:nvPr/>
        </p:nvSpPr>
        <p:spPr>
          <a:xfrm>
            <a:off x="5148263" y="4025900"/>
            <a:ext cx="3744912" cy="287338"/>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zh-CN" altLang="en-US" sz="1200" dirty="0">
                <a:solidFill>
                  <a:schemeClr val="bg1"/>
                </a:solidFill>
                <a:latin typeface="Times New Roman" panose="02020603050405020304" pitchFamily="18" charset="0"/>
                <a:ea typeface="宋体" panose="02010600030101010101" pitchFamily="2" charset="-122"/>
              </a:rPr>
              <a:t>雪        绒        花</a:t>
            </a:r>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rPr>
              <a:t>雪         绒         花</a:t>
            </a:r>
            <a:r>
              <a:rPr lang="en-US" altLang="zh-CN" sz="1200" dirty="0">
                <a:solidFill>
                  <a:schemeClr val="bg1"/>
                </a:solidFill>
                <a:latin typeface="Times New Roman" panose="02020603050405020304" pitchFamily="18" charset="0"/>
                <a:ea typeface="宋体" panose="02010600030101010101" pitchFamily="2" charset="-122"/>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0725" name="矩形 5"/>
          <p:cNvSpPr/>
          <p:nvPr/>
        </p:nvSpPr>
        <p:spPr>
          <a:xfrm>
            <a:off x="5111750" y="4843463"/>
            <a:ext cx="3671888" cy="287337"/>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zh-CN" altLang="en-US" sz="1200" dirty="0">
                <a:solidFill>
                  <a:schemeClr val="bg1"/>
                </a:solidFill>
                <a:latin typeface="Times New Roman" panose="02020603050405020304" pitchFamily="18" charset="0"/>
                <a:ea typeface="宋体" panose="02010600030101010101" pitchFamily="2" charset="-122"/>
              </a:rPr>
              <a:t>每         天        清    晨   欢       迎                      我，</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0726" name="矩形 6"/>
          <p:cNvSpPr/>
          <p:nvPr/>
        </p:nvSpPr>
        <p:spPr>
          <a:xfrm>
            <a:off x="5043488" y="5610225"/>
            <a:ext cx="3889375"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rPr>
              <a:t>你          洁        白</a:t>
            </a:r>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rPr>
              <a:t>又         鲜         艳</a:t>
            </a:r>
            <a:r>
              <a:rPr lang="en-US" altLang="zh-CN" sz="1200" dirty="0">
                <a:solidFill>
                  <a:schemeClr val="bg1"/>
                </a:solidFill>
                <a:latin typeface="Times New Roman" panose="02020603050405020304" pitchFamily="18" charset="0"/>
                <a:ea typeface="宋体" panose="02010600030101010101" pitchFamily="2" charset="-122"/>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0727" name="矩形 7"/>
          <p:cNvSpPr/>
          <p:nvPr/>
        </p:nvSpPr>
        <p:spPr>
          <a:xfrm>
            <a:off x="5060950" y="6405563"/>
            <a:ext cx="3602038"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en-US" altLang="zh-CN" sz="1200" dirty="0">
                <a:solidFill>
                  <a:schemeClr val="bg1"/>
                </a:solidFill>
                <a:latin typeface="Times New Roman" panose="02020603050405020304" pitchFamily="18" charset="0"/>
                <a:ea typeface="宋体" panose="02010600030101010101" pitchFamily="2" charset="-122"/>
              </a:rPr>
              <a:t> </a:t>
            </a:r>
            <a:r>
              <a:rPr lang="zh-CN" sz="1200" dirty="0">
                <a:solidFill>
                  <a:schemeClr val="bg1"/>
                </a:solidFill>
                <a:latin typeface="Times New Roman" panose="02020603050405020304" pitchFamily="18" charset="0"/>
                <a:ea typeface="宋体" panose="02010600030101010101" pitchFamily="2" charset="-122"/>
              </a:rPr>
              <a:t>看         见         你   我   多       快                      乐。</a:t>
            </a:r>
            <a:endParaRPr lang="zh-CN" sz="1200" dirty="0">
              <a:solidFill>
                <a:schemeClr val="bg1"/>
              </a:solidFill>
              <a:latin typeface="Times New Roman" panose="02020603050405020304" pitchFamily="18" charset="0"/>
              <a:ea typeface="宋体" panose="02010600030101010101" pitchFamily="2" charset="-122"/>
            </a:endParaRPr>
          </a:p>
        </p:txBody>
      </p:sp>
      <p:sp>
        <p:nvSpPr>
          <p:cNvPr id="30728" name="矩形 8"/>
          <p:cNvSpPr/>
          <p:nvPr/>
        </p:nvSpPr>
        <p:spPr>
          <a:xfrm>
            <a:off x="6607810" y="2983230"/>
            <a:ext cx="713740"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zh-CN" altLang="en-US" sz="1400" dirty="0">
                <a:solidFill>
                  <a:schemeClr val="bg1"/>
                </a:solidFill>
                <a:latin typeface="Times New Roman" panose="02020603050405020304" pitchFamily="18" charset="0"/>
                <a:ea typeface="宋体" panose="02010600030101010101" pitchFamily="2" charset="-122"/>
              </a:rPr>
              <a:t>雪绒花</a:t>
            </a:r>
            <a:endParaRPr lang="zh-CN" altLang="en-US" sz="1400" dirty="0">
              <a:solidFill>
                <a:schemeClr val="bg1"/>
              </a:solidFill>
              <a:latin typeface="Times New Roman" panose="02020603050405020304" pitchFamily="18" charset="0"/>
              <a:ea typeface="宋体" panose="02010600030101010101" pitchFamily="2" charset="-122"/>
            </a:endParaRPr>
          </a:p>
        </p:txBody>
      </p:sp>
      <p:sp>
        <p:nvSpPr>
          <p:cNvPr id="10" name="椭圆 9"/>
          <p:cNvSpPr/>
          <p:nvPr/>
        </p:nvSpPr>
        <p:spPr>
          <a:xfrm>
            <a:off x="5084763" y="3667125"/>
            <a:ext cx="1682750" cy="71913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椭圆 10"/>
          <p:cNvSpPr/>
          <p:nvPr/>
        </p:nvSpPr>
        <p:spPr>
          <a:xfrm>
            <a:off x="7019925" y="3698875"/>
            <a:ext cx="1763713" cy="68738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椭圆 11"/>
          <p:cNvSpPr/>
          <p:nvPr/>
        </p:nvSpPr>
        <p:spPr>
          <a:xfrm>
            <a:off x="4873625" y="4459288"/>
            <a:ext cx="3946525" cy="76993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椭圆 12"/>
          <p:cNvSpPr/>
          <p:nvPr/>
        </p:nvSpPr>
        <p:spPr>
          <a:xfrm>
            <a:off x="4932363" y="5229225"/>
            <a:ext cx="1727200" cy="76993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椭圆 13"/>
          <p:cNvSpPr/>
          <p:nvPr/>
        </p:nvSpPr>
        <p:spPr>
          <a:xfrm>
            <a:off x="6767513" y="5229225"/>
            <a:ext cx="2160588" cy="720725"/>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椭圆 14"/>
          <p:cNvSpPr/>
          <p:nvPr/>
        </p:nvSpPr>
        <p:spPr>
          <a:xfrm>
            <a:off x="4932363" y="5949950"/>
            <a:ext cx="3816350" cy="86360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0735" name="Rectangle 3"/>
          <p:cNvSpPr txBox="1"/>
          <p:nvPr/>
        </p:nvSpPr>
        <p:spPr>
          <a:xfrm>
            <a:off x="166688" y="2103438"/>
            <a:ext cx="77898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音乐最小单元的构造</a:t>
            </a:r>
            <a:r>
              <a:rPr lang="en-US" altLang="zh-CN" sz="2400" i="1" dirty="0">
                <a:solidFill>
                  <a:srgbClr val="FFC000"/>
                </a:solidFill>
                <a:latin typeface="Times New Roman" panose="02020603050405020304" pitchFamily="18" charset="0"/>
                <a:ea typeface="宋体" panose="02010600030101010101" pitchFamily="2" charset="-122"/>
              </a:rPr>
              <a:t> </a:t>
            </a:r>
            <a:r>
              <a:rPr lang="en-US" altLang="zh-CN" sz="2400"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旋律片段</a:t>
            </a:r>
            <a:r>
              <a:rPr lang="en-US" altLang="zh-CN" sz="2400" dirty="0">
                <a:solidFill>
                  <a:srgbClr val="FFC000"/>
                </a:solidFill>
                <a:latin typeface="Times New Roman" panose="02020603050405020304" pitchFamily="18" charset="0"/>
                <a:ea typeface="宋体" panose="02010600030101010101" pitchFamily="2" charset="-122"/>
              </a:rPr>
              <a:t>)</a:t>
            </a:r>
            <a:endParaRPr lang="en-US" altLang="zh-CN" sz="2400" dirty="0">
              <a:solidFill>
                <a:srgbClr val="FFC000"/>
              </a:solidFill>
              <a:latin typeface="Times New Roman" panose="02020603050405020304" pitchFamily="18" charset="0"/>
              <a:ea typeface="宋体" panose="02010600030101010101" pitchFamily="2" charset="-122"/>
            </a:endParaRPr>
          </a:p>
        </p:txBody>
      </p:sp>
      <p:sp>
        <p:nvSpPr>
          <p:cNvPr id="30736" name="Rectangle 3"/>
          <p:cNvSpPr txBox="1"/>
          <p:nvPr/>
        </p:nvSpPr>
        <p:spPr>
          <a:xfrm>
            <a:off x="2533650" y="5803900"/>
            <a:ext cx="1295400" cy="631825"/>
          </a:xfrm>
          <a:prstGeom prst="rect">
            <a:avLst/>
          </a:prstGeom>
          <a:noFill/>
          <a:ln w="9525">
            <a:noFill/>
          </a:ln>
        </p:spPr>
        <p:txBody>
          <a:bodyPr anchor="t"/>
          <a:p>
            <a:pPr>
              <a:spcBef>
                <a:spcPct val="20000"/>
              </a:spcBef>
            </a:pPr>
            <a:r>
              <a:rPr lang="en-US" altLang="zh-CN" sz="2400" dirty="0">
                <a:solidFill>
                  <a:srgbClr val="FF0000"/>
                </a:solidFill>
                <a:latin typeface="Times New Roman" panose="02020603050405020304" pitchFamily="18" charset="0"/>
                <a:ea typeface="宋体" panose="02010600030101010101" pitchFamily="2" charset="-122"/>
              </a:rPr>
              <a:t>      </a:t>
            </a:r>
            <a:r>
              <a:rPr lang="zh-CN" altLang="en-US" sz="2400" dirty="0">
                <a:solidFill>
                  <a:srgbClr val="FF0000"/>
                </a:solidFill>
                <a:latin typeface="Times New Roman" panose="02020603050405020304" pitchFamily="18" charset="0"/>
                <a:ea typeface="宋体" panose="02010600030101010101" pitchFamily="2" charset="-122"/>
              </a:rPr>
              <a:t>逗号</a:t>
            </a:r>
            <a:endParaRPr lang="zh-CN" altLang="en-US" sz="2400" dirty="0">
              <a:solidFill>
                <a:srgbClr val="FF0000"/>
              </a:solidFill>
              <a:latin typeface="Times New Roman" panose="02020603050405020304" pitchFamily="18" charset="0"/>
              <a:ea typeface="宋体" panose="02010600030101010101" pitchFamily="2" charset="-122"/>
            </a:endParaRPr>
          </a:p>
        </p:txBody>
      </p:sp>
      <p:cxnSp>
        <p:nvCxnSpPr>
          <p:cNvPr id="30737" name="直接箭头连接符 2"/>
          <p:cNvCxnSpPr>
            <a:stCxn id="30736" idx="3"/>
          </p:cNvCxnSpPr>
          <p:nvPr/>
        </p:nvCxnSpPr>
        <p:spPr>
          <a:xfrm flipV="1">
            <a:off x="3829050" y="4220845"/>
            <a:ext cx="2471420" cy="1899285"/>
          </a:xfrm>
          <a:prstGeom prst="straightConnector1">
            <a:avLst/>
          </a:prstGeom>
          <a:ln w="19050" cap="flat" cmpd="sng">
            <a:solidFill>
              <a:srgbClr val="FF0000"/>
            </a:solidFill>
            <a:prstDash val="solid"/>
            <a:round/>
            <a:headEnd type="none" w="med" len="med"/>
            <a:tailEnd type="triangle" w="med" len="med"/>
          </a:ln>
        </p:spPr>
      </p:cxnSp>
      <p:cxnSp>
        <p:nvCxnSpPr>
          <p:cNvPr id="30738" name="直接箭头连接符 19"/>
          <p:cNvCxnSpPr>
            <a:stCxn id="30736" idx="3"/>
          </p:cNvCxnSpPr>
          <p:nvPr/>
        </p:nvCxnSpPr>
        <p:spPr>
          <a:xfrm flipV="1">
            <a:off x="3829050" y="4220845"/>
            <a:ext cx="4415155" cy="1899285"/>
          </a:xfrm>
          <a:prstGeom prst="straightConnector1">
            <a:avLst/>
          </a:prstGeom>
          <a:ln w="19050" cap="flat" cmpd="sng">
            <a:solidFill>
              <a:srgbClr val="FF0000"/>
            </a:solidFill>
            <a:prstDash val="solid"/>
            <a:round/>
            <a:headEnd type="none" w="med" len="med"/>
            <a:tailEnd type="triangle" w="med" len="med"/>
          </a:ln>
        </p:spPr>
      </p:cxnSp>
      <p:cxnSp>
        <p:nvCxnSpPr>
          <p:cNvPr id="30739" name="直接箭头连接符 24"/>
          <p:cNvCxnSpPr>
            <a:stCxn id="30736" idx="3"/>
          </p:cNvCxnSpPr>
          <p:nvPr/>
        </p:nvCxnSpPr>
        <p:spPr>
          <a:xfrm flipV="1">
            <a:off x="3829050" y="5056188"/>
            <a:ext cx="4487863" cy="1063625"/>
          </a:xfrm>
          <a:prstGeom prst="straightConnector1">
            <a:avLst/>
          </a:prstGeom>
          <a:ln w="19050" cap="flat" cmpd="sng">
            <a:solidFill>
              <a:srgbClr val="FF0000"/>
            </a:solidFill>
            <a:prstDash val="solid"/>
            <a:round/>
            <a:headEnd type="none" w="med" len="med"/>
            <a:tailEnd type="triangle" w="med" len="med"/>
          </a:ln>
        </p:spPr>
      </p:cxnSp>
      <p:cxnSp>
        <p:nvCxnSpPr>
          <p:cNvPr id="30740" name="直接箭头连接符 27"/>
          <p:cNvCxnSpPr>
            <a:stCxn id="30736" idx="3"/>
          </p:cNvCxnSpPr>
          <p:nvPr/>
        </p:nvCxnSpPr>
        <p:spPr>
          <a:xfrm flipV="1">
            <a:off x="3829050" y="5840413"/>
            <a:ext cx="2614613" cy="279400"/>
          </a:xfrm>
          <a:prstGeom prst="straightConnector1">
            <a:avLst/>
          </a:prstGeom>
          <a:ln w="19050" cap="flat" cmpd="sng">
            <a:solidFill>
              <a:srgbClr val="FF0000"/>
            </a:solidFill>
            <a:prstDash val="solid"/>
            <a:round/>
            <a:headEnd type="none" w="med" len="med"/>
            <a:tailEnd type="triangle" w="med" len="med"/>
          </a:ln>
        </p:spPr>
      </p:cxnSp>
      <p:cxnSp>
        <p:nvCxnSpPr>
          <p:cNvPr id="30741" name="直接箭头连接符 33"/>
          <p:cNvCxnSpPr>
            <a:stCxn id="30736" idx="3"/>
          </p:cNvCxnSpPr>
          <p:nvPr/>
        </p:nvCxnSpPr>
        <p:spPr>
          <a:xfrm flipV="1">
            <a:off x="3829050" y="5815013"/>
            <a:ext cx="4605338" cy="304800"/>
          </a:xfrm>
          <a:prstGeom prst="straightConnector1">
            <a:avLst/>
          </a:prstGeom>
          <a:ln w="19050" cap="flat" cmpd="sng">
            <a:solidFill>
              <a:srgbClr val="FF0000"/>
            </a:solidFill>
            <a:prstDash val="solid"/>
            <a:round/>
            <a:headEnd type="none" w="med" len="med"/>
            <a:tailEnd type="triangle" w="med" len="med"/>
          </a:ln>
        </p:spPr>
      </p:cxn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Rectangle 3"/>
          <p:cNvSpPr>
            <a:spLocks noGrp="1"/>
          </p:cNvSpPr>
          <p:nvPr>
            <p:ph idx="1"/>
          </p:nvPr>
        </p:nvSpPr>
        <p:spPr>
          <a:xfrm>
            <a:off x="406400" y="2708275"/>
            <a:ext cx="3805555" cy="1529715"/>
          </a:xfrm>
        </p:spPr>
        <p:txBody>
          <a:bodyPr vert="horz" wrap="square" lIns="91440" tIns="45720" rIns="91440" bIns="45720" anchor="t"/>
          <a:p>
            <a:pPr marL="0" indent="0" eaLnBrk="1" hangingPunct="1">
              <a:buNone/>
            </a:pPr>
            <a:r>
              <a:rPr lang="en-US" altLang="zh-CN" sz="2800" dirty="0">
                <a:ea typeface="楷体_GB2312" pitchFamily="49" charset="-122"/>
              </a:rPr>
              <a:t>       </a:t>
            </a:r>
            <a:r>
              <a:rPr lang="zh-CN" altLang="en-US" sz="2400" dirty="0">
                <a:ea typeface="楷体_GB2312" pitchFamily="49" charset="-122"/>
              </a:rPr>
              <a:t>人</a:t>
            </a:r>
            <a:r>
              <a:rPr lang="en-US" altLang="zh-CN" sz="2400" dirty="0">
                <a:ea typeface="楷体_GB2312" pitchFamily="49" charset="-122"/>
              </a:rPr>
              <a:t>对歌词中情绪和情感的理解会体现在歌词的朗诵中。</a:t>
            </a:r>
            <a:endParaRPr lang="en-US" altLang="zh-CN" sz="2400" dirty="0">
              <a:ea typeface="楷体_GB2312" pitchFamily="49" charset="-122"/>
            </a:endParaRPr>
          </a:p>
          <a:p>
            <a:pPr marL="0" indent="0" eaLnBrk="1" hangingPunct="1">
              <a:buNone/>
            </a:pPr>
            <a:r>
              <a:rPr lang="en-US" altLang="zh-CN" sz="2800" dirty="0">
                <a:ea typeface="楷体_GB2312" pitchFamily="49" charset="-122"/>
              </a:rPr>
              <a:t>      </a:t>
            </a:r>
            <a:endParaRPr lang="en-US" altLang="zh-CN" sz="2800" dirty="0">
              <a:ea typeface="宋体" panose="02010600030101010101" pitchFamily="2" charset="-122"/>
            </a:endParaRPr>
          </a:p>
        </p:txBody>
      </p:sp>
      <p:pic>
        <p:nvPicPr>
          <p:cNvPr id="31747" name="图片 15"/>
          <p:cNvPicPr>
            <a:picLocks noChangeAspect="1"/>
          </p:cNvPicPr>
          <p:nvPr/>
        </p:nvPicPr>
        <p:blipFill>
          <a:blip r:embed="rId1"/>
          <a:stretch>
            <a:fillRect/>
          </a:stretch>
        </p:blipFill>
        <p:spPr>
          <a:xfrm>
            <a:off x="4572000" y="2606675"/>
            <a:ext cx="4046538" cy="3757613"/>
          </a:xfrm>
          <a:prstGeom prst="rect">
            <a:avLst/>
          </a:prstGeom>
          <a:noFill/>
          <a:ln w="9525">
            <a:noFill/>
          </a:ln>
        </p:spPr>
      </p:pic>
      <p:sp>
        <p:nvSpPr>
          <p:cNvPr id="5" name="Rectangle 3"/>
          <p:cNvSpPr txBox="1"/>
          <p:nvPr/>
        </p:nvSpPr>
        <p:spPr>
          <a:xfrm>
            <a:off x="323850" y="4510405"/>
            <a:ext cx="3695700" cy="1152525"/>
          </a:xfrm>
          <a:prstGeom prst="rect">
            <a:avLst/>
          </a:prstGeom>
          <a:noFill/>
          <a:ln w="9525">
            <a:noFill/>
          </a:ln>
        </p:spPr>
        <p:txBody>
          <a:bodyPr anchor="t"/>
          <a:p>
            <a:pPr>
              <a:spcBef>
                <a:spcPct val="20000"/>
              </a:spcBef>
            </a:pPr>
            <a:r>
              <a:rPr lang="en-US" altLang="zh-CN" sz="2800" dirty="0">
                <a:latin typeface="Times New Roman" panose="02020603050405020304" pitchFamily="18" charset="0"/>
                <a:ea typeface="楷体_GB2312" pitchFamily="49" charset="-122"/>
              </a:rPr>
              <a:t>       </a:t>
            </a:r>
            <a:r>
              <a:rPr sz="2400" dirty="0">
                <a:latin typeface="Times New Roman" panose="02020603050405020304" pitchFamily="18" charset="0"/>
              </a:rPr>
              <a:t>我们可以根据歌词中的逗号</a:t>
            </a:r>
            <a:r>
              <a:rPr lang="zh-CN" sz="2400" dirty="0">
                <a:latin typeface="Times New Roman" panose="02020603050405020304" pitchFamily="18" charset="0"/>
                <a:ea typeface="宋体" panose="02010600030101010101" pitchFamily="2" charset="-122"/>
              </a:rPr>
              <a:t>将</a:t>
            </a:r>
            <a:r>
              <a:rPr sz="2400" dirty="0">
                <a:latin typeface="Times New Roman" panose="02020603050405020304" pitchFamily="18" charset="0"/>
                <a:sym typeface="+mn-ea"/>
              </a:rPr>
              <a:t>歌词</a:t>
            </a:r>
            <a:r>
              <a:rPr lang="zh-CN" sz="2400" dirty="0">
                <a:latin typeface="Times New Roman" panose="02020603050405020304" pitchFamily="18" charset="0"/>
                <a:ea typeface="宋体" panose="02010600030101010101" pitchFamily="2" charset="-122"/>
                <a:sym typeface="+mn-ea"/>
              </a:rPr>
              <a:t>按</a:t>
            </a:r>
            <a:r>
              <a:rPr sz="2400" dirty="0">
                <a:latin typeface="Times New Roman" panose="02020603050405020304" pitchFamily="18" charset="0"/>
                <a:sym typeface="+mn-ea"/>
              </a:rPr>
              <a:t>诗</a:t>
            </a:r>
            <a:r>
              <a:rPr lang="zh-CN" sz="2400" dirty="0">
                <a:latin typeface="Times New Roman" panose="02020603050405020304" pitchFamily="18" charset="0"/>
                <a:ea typeface="宋体" panose="02010600030101010101" pitchFamily="2" charset="-122"/>
                <a:sym typeface="+mn-ea"/>
              </a:rPr>
              <a:t>歌的形式来</a:t>
            </a:r>
            <a:r>
              <a:rPr lang="zh-CN" sz="2400" dirty="0">
                <a:latin typeface="Times New Roman" panose="02020603050405020304" pitchFamily="18" charset="0"/>
                <a:ea typeface="宋体" panose="02010600030101010101" pitchFamily="2" charset="-122"/>
              </a:rPr>
              <a:t>书写</a:t>
            </a:r>
            <a:r>
              <a:rPr sz="2400" dirty="0">
                <a:latin typeface="Times New Roman" panose="02020603050405020304" pitchFamily="18" charset="0"/>
              </a:rPr>
              <a:t>。</a:t>
            </a:r>
            <a:endParaRPr sz="2400" dirty="0">
              <a:latin typeface="Times New Roman" panose="02020603050405020304" pitchFamily="18" charset="0"/>
            </a:endParaRPr>
          </a:p>
        </p:txBody>
      </p:sp>
      <p:sp>
        <p:nvSpPr>
          <p:cNvPr id="31749" name="Rectangle 3"/>
          <p:cNvSpPr txBox="1"/>
          <p:nvPr/>
        </p:nvSpPr>
        <p:spPr>
          <a:xfrm>
            <a:off x="167005" y="2103755"/>
            <a:ext cx="350774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歌词的诗歌形式</a:t>
            </a:r>
            <a:endParaRPr lang="zh-CN" altLang="en-US" sz="2400" dirty="0">
              <a:solidFill>
                <a:srgbClr val="FFC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charRg st="0" end="104"/>
                                            </p:txEl>
                                          </p:spTgt>
                                        </p:tgtEl>
                                        <p:attrNameLst>
                                          <p:attrName>style.visibility</p:attrName>
                                        </p:attrNameLst>
                                      </p:cBhvr>
                                      <p:to>
                                        <p:strVal val="visible"/>
                                      </p:to>
                                    </p:set>
                                    <p:anim calcmode="lin" valueType="num">
                                      <p:cBhvr additive="base">
                                        <p:cTn id="7" dur="500" fill="hold"/>
                                        <p:tgtEl>
                                          <p:spTgt spid="13315">
                                            <p:txEl>
                                              <p:charRg st="0" end="10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charRg st="0" end="10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xEl>
                                              <p:charRg st="104" end="111"/>
                                            </p:txEl>
                                          </p:spTgt>
                                        </p:tgtEl>
                                        <p:attrNameLst>
                                          <p:attrName>style.visibility</p:attrName>
                                        </p:attrNameLst>
                                      </p:cBhvr>
                                      <p:to>
                                        <p:strVal val="visible"/>
                                      </p:to>
                                    </p:set>
                                    <p:anim calcmode="lin" valueType="num">
                                      <p:cBhvr additive="base">
                                        <p:cTn id="13" dur="500" fill="hold"/>
                                        <p:tgtEl>
                                          <p:spTgt spid="13315">
                                            <p:txEl>
                                              <p:charRg st="104" end="11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charRg st="104" end="11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500" fill="hold">
                                          <p:stCondLst>
                                            <p:cond delay="0"/>
                                          </p:stCondLst>
                                        </p:cTn>
                                        <p:tgtEl>
                                          <p:spTgt spid="5">
                                            <p:txEl>
                                              <p:charRg st="0" end="76"/>
                                            </p:txEl>
                                          </p:spTgt>
                                        </p:tgtEl>
                                        <p:attrNameLst>
                                          <p:attrName>style.visibility</p:attrName>
                                        </p:attrNameLst>
                                      </p:cBhvr>
                                      <p:to>
                                        <p:strVal val="visible"/>
                                      </p:to>
                                    </p:set>
                                    <p:anim calcmode="lin" valueType="num">
                                      <p:cBhvr additive="base">
                                        <p:cTn id="19" dur="500" fill="hold"/>
                                        <p:tgtEl>
                                          <p:spTgt spid="5">
                                            <p:txEl>
                                              <p:charRg st="0" end="7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charRg st="0" end="7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70" name="图片 3"/>
          <p:cNvPicPr>
            <a:picLocks noChangeAspect="1"/>
          </p:cNvPicPr>
          <p:nvPr/>
        </p:nvPicPr>
        <p:blipFill>
          <a:blip r:embed="rId1"/>
          <a:stretch>
            <a:fillRect/>
          </a:stretch>
        </p:blipFill>
        <p:spPr>
          <a:xfrm>
            <a:off x="4816475" y="2925763"/>
            <a:ext cx="4141788" cy="3671887"/>
          </a:xfrm>
          <a:prstGeom prst="rect">
            <a:avLst/>
          </a:prstGeom>
          <a:noFill/>
          <a:ln w="9525">
            <a:noFill/>
          </a:ln>
        </p:spPr>
      </p:pic>
      <p:sp>
        <p:nvSpPr>
          <p:cNvPr id="32771" name="矩形 1"/>
          <p:cNvSpPr/>
          <p:nvPr/>
        </p:nvSpPr>
        <p:spPr>
          <a:xfrm>
            <a:off x="5060950" y="4019550"/>
            <a:ext cx="3763963" cy="287338"/>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zh-CN" altLang="en-US" sz="1200" dirty="0">
                <a:solidFill>
                  <a:schemeClr val="bg1"/>
                </a:solidFill>
                <a:latin typeface="Times New Roman" panose="02020603050405020304" pitchFamily="18" charset="0"/>
                <a:ea typeface="宋体" panose="02010600030101010101" pitchFamily="2" charset="-122"/>
              </a:rPr>
              <a:t>雪         绒        花</a:t>
            </a:r>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rPr>
              <a:t>雪          绒         花</a:t>
            </a:r>
            <a:r>
              <a:rPr lang="en-US" altLang="zh-CN" sz="1200" dirty="0">
                <a:solidFill>
                  <a:schemeClr val="bg1"/>
                </a:solidFill>
                <a:latin typeface="Times New Roman" panose="02020603050405020304" pitchFamily="18" charset="0"/>
                <a:ea typeface="宋体" panose="02010600030101010101" pitchFamily="2" charset="-122"/>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2772" name="矩形 5"/>
          <p:cNvSpPr/>
          <p:nvPr/>
        </p:nvSpPr>
        <p:spPr>
          <a:xfrm>
            <a:off x="5029200" y="4810125"/>
            <a:ext cx="3811588" cy="287338"/>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zh-CN" altLang="en-US" sz="1200" dirty="0">
                <a:solidFill>
                  <a:schemeClr val="bg1"/>
                </a:solidFill>
                <a:latin typeface="Times New Roman" panose="02020603050405020304" pitchFamily="18" charset="0"/>
                <a:ea typeface="宋体" panose="02010600030101010101" pitchFamily="2" charset="-122"/>
              </a:rPr>
              <a:t>每         天         清    晨   欢       迎                      我</a:t>
            </a:r>
            <a:r>
              <a:rPr lang="en-US" altLang="zh-CN" sz="1200" dirty="0">
                <a:solidFill>
                  <a:schemeClr val="bg1"/>
                </a:solidFill>
                <a:latin typeface="Times New Roman" panose="02020603050405020304" pitchFamily="18" charset="0"/>
                <a:ea typeface="宋体" panose="02010600030101010101" pitchFamily="2" charset="-122"/>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2773" name="矩形 6"/>
          <p:cNvSpPr/>
          <p:nvPr/>
        </p:nvSpPr>
        <p:spPr>
          <a:xfrm>
            <a:off x="5046663" y="5561013"/>
            <a:ext cx="3836987"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zh-CN" altLang="en-US" sz="1200" dirty="0">
                <a:solidFill>
                  <a:schemeClr val="bg1"/>
                </a:solidFill>
                <a:latin typeface="Times New Roman" panose="02020603050405020304" pitchFamily="18" charset="0"/>
                <a:ea typeface="宋体" panose="02010600030101010101" pitchFamily="2" charset="-122"/>
              </a:rPr>
              <a:t>你         洁        白</a:t>
            </a:r>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rPr>
              <a:t>又          鲜        艳</a:t>
            </a:r>
            <a:r>
              <a:rPr lang="en-US" altLang="zh-CN" sz="1200" dirty="0">
                <a:solidFill>
                  <a:schemeClr val="bg1"/>
                </a:solidFill>
                <a:latin typeface="Times New Roman" panose="02020603050405020304" pitchFamily="18" charset="0"/>
                <a:ea typeface="宋体" panose="02010600030101010101" pitchFamily="2" charset="-122"/>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2774" name="矩形 7"/>
          <p:cNvSpPr/>
          <p:nvPr/>
        </p:nvSpPr>
        <p:spPr>
          <a:xfrm>
            <a:off x="5003800" y="6373813"/>
            <a:ext cx="3922713"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r>
              <a:rPr lang="en-US" altLang="zh-CN" sz="1200" dirty="0">
                <a:solidFill>
                  <a:schemeClr val="bg1"/>
                </a:solidFill>
                <a:latin typeface="Times New Roman" panose="02020603050405020304" pitchFamily="18" charset="0"/>
                <a:ea typeface="宋体" panose="02010600030101010101" pitchFamily="2" charset="-122"/>
              </a:rPr>
              <a:t> </a:t>
            </a:r>
            <a:r>
              <a:rPr lang="zh-CN" sz="1200" dirty="0">
                <a:solidFill>
                  <a:schemeClr val="bg1"/>
                </a:solidFill>
                <a:latin typeface="Times New Roman" panose="02020603050405020304" pitchFamily="18" charset="0"/>
                <a:ea typeface="宋体" panose="02010600030101010101" pitchFamily="2" charset="-122"/>
              </a:rPr>
              <a:t>看         见         你   我  多        快                     乐。</a:t>
            </a:r>
            <a:endParaRPr lang="zh-CN" sz="1200" dirty="0">
              <a:solidFill>
                <a:schemeClr val="bg1"/>
              </a:solidFill>
              <a:latin typeface="Times New Roman" panose="02020603050405020304" pitchFamily="18" charset="0"/>
              <a:ea typeface="宋体" panose="02010600030101010101" pitchFamily="2" charset="-122"/>
            </a:endParaRPr>
          </a:p>
        </p:txBody>
      </p:sp>
      <p:sp>
        <p:nvSpPr>
          <p:cNvPr id="10" name="椭圆 9"/>
          <p:cNvSpPr/>
          <p:nvPr/>
        </p:nvSpPr>
        <p:spPr>
          <a:xfrm>
            <a:off x="5010150" y="4021138"/>
            <a:ext cx="1517650" cy="29845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椭圆 10"/>
          <p:cNvSpPr/>
          <p:nvPr/>
        </p:nvSpPr>
        <p:spPr>
          <a:xfrm>
            <a:off x="6888163" y="4005263"/>
            <a:ext cx="1655763" cy="31273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椭圆 11"/>
          <p:cNvSpPr/>
          <p:nvPr/>
        </p:nvSpPr>
        <p:spPr>
          <a:xfrm>
            <a:off x="4926013" y="4764088"/>
            <a:ext cx="3744913" cy="3794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椭圆 12"/>
          <p:cNvSpPr/>
          <p:nvPr/>
        </p:nvSpPr>
        <p:spPr>
          <a:xfrm>
            <a:off x="5016500" y="5591175"/>
            <a:ext cx="1633538" cy="24130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椭圆 13"/>
          <p:cNvSpPr/>
          <p:nvPr/>
        </p:nvSpPr>
        <p:spPr>
          <a:xfrm>
            <a:off x="6869113" y="5565775"/>
            <a:ext cx="1781175" cy="3159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椭圆 14"/>
          <p:cNvSpPr/>
          <p:nvPr/>
        </p:nvSpPr>
        <p:spPr>
          <a:xfrm>
            <a:off x="4840288" y="6330950"/>
            <a:ext cx="3649663" cy="42386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2782" name="Rectangle 3"/>
          <p:cNvSpPr txBox="1"/>
          <p:nvPr/>
        </p:nvSpPr>
        <p:spPr>
          <a:xfrm>
            <a:off x="4264025" y="2081213"/>
            <a:ext cx="1947863" cy="446087"/>
          </a:xfrm>
          <a:prstGeom prst="rect">
            <a:avLst/>
          </a:prstGeom>
          <a:noFill/>
          <a:ln w="9525">
            <a:noFill/>
          </a:ln>
        </p:spPr>
        <p:txBody>
          <a:bodyPr anchor="t"/>
          <a:p>
            <a:pPr>
              <a:spcBef>
                <a:spcPct val="20000"/>
              </a:spcBef>
            </a:pPr>
            <a:r>
              <a:rPr lang="zh-CN" altLang="en-US" sz="2000" dirty="0">
                <a:solidFill>
                  <a:srgbClr val="FF0000"/>
                </a:solidFill>
                <a:latin typeface="Times New Roman" panose="02020603050405020304" pitchFamily="18" charset="0"/>
                <a:ea typeface="楷体_GB2312" pitchFamily="49" charset="-122"/>
              </a:rPr>
              <a:t>诗句</a:t>
            </a:r>
            <a:endParaRPr lang="zh-CN" altLang="en-US" sz="2000" dirty="0">
              <a:solidFill>
                <a:srgbClr val="FF0000"/>
              </a:solidFill>
              <a:latin typeface="Times New Roman" panose="02020603050405020304" pitchFamily="18" charset="0"/>
              <a:ea typeface="楷体_GB2312" pitchFamily="49" charset="-122"/>
            </a:endParaRPr>
          </a:p>
        </p:txBody>
      </p:sp>
      <p:cxnSp>
        <p:nvCxnSpPr>
          <p:cNvPr id="32783" name="直接箭头连接符 31"/>
          <p:cNvCxnSpPr/>
          <p:nvPr/>
        </p:nvCxnSpPr>
        <p:spPr>
          <a:xfrm>
            <a:off x="4999038" y="2409825"/>
            <a:ext cx="1074737" cy="2344738"/>
          </a:xfrm>
          <a:prstGeom prst="straightConnector1">
            <a:avLst/>
          </a:prstGeom>
          <a:ln w="19050" cap="flat" cmpd="sng">
            <a:solidFill>
              <a:srgbClr val="FF0000"/>
            </a:solidFill>
            <a:prstDash val="solid"/>
            <a:round/>
            <a:headEnd type="none" w="med" len="med"/>
            <a:tailEnd type="triangle" w="med" len="med"/>
          </a:ln>
        </p:spPr>
      </p:cxnSp>
      <p:cxnSp>
        <p:nvCxnSpPr>
          <p:cNvPr id="32784" name="直接箭头连接符 32"/>
          <p:cNvCxnSpPr/>
          <p:nvPr/>
        </p:nvCxnSpPr>
        <p:spPr>
          <a:xfrm>
            <a:off x="4999038" y="2409825"/>
            <a:ext cx="307975" cy="1652588"/>
          </a:xfrm>
          <a:prstGeom prst="straightConnector1">
            <a:avLst/>
          </a:prstGeom>
          <a:ln w="19050" cap="flat" cmpd="sng">
            <a:solidFill>
              <a:srgbClr val="FF0000"/>
            </a:solidFill>
            <a:prstDash val="solid"/>
            <a:round/>
            <a:headEnd type="none" w="med" len="med"/>
            <a:tailEnd type="triangle" w="med" len="med"/>
          </a:ln>
        </p:spPr>
      </p:cxnSp>
      <p:cxnSp>
        <p:nvCxnSpPr>
          <p:cNvPr id="32785" name="直接箭头连接符 35"/>
          <p:cNvCxnSpPr/>
          <p:nvPr/>
        </p:nvCxnSpPr>
        <p:spPr>
          <a:xfrm>
            <a:off x="4970463" y="2411413"/>
            <a:ext cx="2395537" cy="1608137"/>
          </a:xfrm>
          <a:prstGeom prst="straightConnector1">
            <a:avLst/>
          </a:prstGeom>
          <a:ln w="19050" cap="flat" cmpd="sng">
            <a:solidFill>
              <a:srgbClr val="FF0000"/>
            </a:solidFill>
            <a:prstDash val="solid"/>
            <a:round/>
            <a:headEnd type="none" w="med" len="med"/>
            <a:tailEnd type="triangle" w="med" len="med"/>
          </a:ln>
        </p:spPr>
      </p:cxnSp>
      <p:cxnSp>
        <p:nvCxnSpPr>
          <p:cNvPr id="32786" name="直接箭头连接符 38"/>
          <p:cNvCxnSpPr/>
          <p:nvPr/>
        </p:nvCxnSpPr>
        <p:spPr>
          <a:xfrm>
            <a:off x="4986338" y="2409825"/>
            <a:ext cx="2633662" cy="3109913"/>
          </a:xfrm>
          <a:prstGeom prst="straightConnector1">
            <a:avLst/>
          </a:prstGeom>
          <a:ln w="19050" cap="flat" cmpd="sng">
            <a:solidFill>
              <a:srgbClr val="FF0000"/>
            </a:solidFill>
            <a:prstDash val="solid"/>
            <a:round/>
            <a:headEnd type="none" w="med" len="med"/>
            <a:tailEnd type="triangle" w="med" len="med"/>
          </a:ln>
        </p:spPr>
      </p:cxnSp>
      <p:cxnSp>
        <p:nvCxnSpPr>
          <p:cNvPr id="32787" name="直接箭头连接符 40"/>
          <p:cNvCxnSpPr/>
          <p:nvPr/>
        </p:nvCxnSpPr>
        <p:spPr>
          <a:xfrm>
            <a:off x="4970463" y="2408238"/>
            <a:ext cx="673100" cy="3157537"/>
          </a:xfrm>
          <a:prstGeom prst="straightConnector1">
            <a:avLst/>
          </a:prstGeom>
          <a:ln w="19050" cap="flat" cmpd="sng">
            <a:solidFill>
              <a:srgbClr val="FF0000"/>
            </a:solidFill>
            <a:prstDash val="solid"/>
            <a:round/>
            <a:headEnd type="none" w="med" len="med"/>
            <a:tailEnd type="triangle" w="med" len="med"/>
          </a:ln>
        </p:spPr>
      </p:cxnSp>
      <p:cxnSp>
        <p:nvCxnSpPr>
          <p:cNvPr id="32788" name="直接箭头连接符 43"/>
          <p:cNvCxnSpPr/>
          <p:nvPr/>
        </p:nvCxnSpPr>
        <p:spPr>
          <a:xfrm>
            <a:off x="4976813" y="2398713"/>
            <a:ext cx="441325" cy="3981450"/>
          </a:xfrm>
          <a:prstGeom prst="straightConnector1">
            <a:avLst/>
          </a:prstGeom>
          <a:ln w="19050" cap="flat" cmpd="sng">
            <a:solidFill>
              <a:srgbClr val="FF0000"/>
            </a:solidFill>
            <a:prstDash val="solid"/>
            <a:round/>
            <a:headEnd type="none" w="med" len="med"/>
            <a:tailEnd type="triangle" w="med" len="med"/>
          </a:ln>
        </p:spPr>
      </p:cxnSp>
      <p:sp>
        <p:nvSpPr>
          <p:cNvPr id="32790" name="Rectangle 3"/>
          <p:cNvSpPr txBox="1"/>
          <p:nvPr/>
        </p:nvSpPr>
        <p:spPr>
          <a:xfrm>
            <a:off x="590550" y="2768600"/>
            <a:ext cx="3659505" cy="518160"/>
          </a:xfrm>
          <a:prstGeom prst="rect">
            <a:avLst/>
          </a:prstGeom>
          <a:noFill/>
          <a:ln w="9525">
            <a:noFill/>
          </a:ln>
        </p:spPr>
        <p:txBody>
          <a:bodyPr anchor="t"/>
          <a:p>
            <a:pPr>
              <a:spcBef>
                <a:spcPct val="20000"/>
              </a:spcBef>
            </a:pPr>
            <a:r>
              <a:rPr lang="en-US" altLang="zh-CN" sz="2400" dirty="0">
                <a:latin typeface="Times New Roman" panose="02020603050405020304" pitchFamily="18" charset="0"/>
                <a:ea typeface="楷体_GB2312" pitchFamily="49" charset="-122"/>
              </a:rPr>
              <a:t>              </a:t>
            </a:r>
            <a:r>
              <a:rPr lang="zh-CN" altLang="en-US" sz="2400" dirty="0">
                <a:latin typeface="Times New Roman" panose="02020603050405020304" pitchFamily="18" charset="0"/>
                <a:ea typeface="楷体_GB2312" pitchFamily="49" charset="-122"/>
              </a:rPr>
              <a:t>雪绒花</a:t>
            </a:r>
            <a:endParaRPr lang="zh-CN" altLang="en-US" sz="2400" dirty="0">
              <a:latin typeface="Times New Roman" panose="02020603050405020304" pitchFamily="18" charset="0"/>
              <a:ea typeface="楷体_GB2312" pitchFamily="49" charset="-122"/>
            </a:endParaRPr>
          </a:p>
          <a:p>
            <a:pPr>
              <a:spcBef>
                <a:spcPct val="20000"/>
              </a:spcBef>
            </a:pPr>
            <a:r>
              <a:rPr lang="zh-CN" altLang="en-US" sz="2000" dirty="0">
                <a:latin typeface="Times New Roman" panose="02020603050405020304" pitchFamily="18" charset="0"/>
                <a:ea typeface="楷体_GB2312" pitchFamily="49" charset="-122"/>
              </a:rPr>
              <a:t>雪绒花，</a:t>
            </a:r>
            <a:endParaRPr lang="en-US" altLang="zh-CN" sz="2000" dirty="0">
              <a:latin typeface="Times New Roman" panose="02020603050405020304" pitchFamily="18" charset="0"/>
              <a:ea typeface="楷体_GB2312" pitchFamily="49" charset="-122"/>
            </a:endParaRPr>
          </a:p>
          <a:p>
            <a:pPr>
              <a:spcBef>
                <a:spcPct val="20000"/>
              </a:spcBef>
            </a:pPr>
            <a:r>
              <a:rPr lang="zh-CN" altLang="en-US" sz="2000" dirty="0">
                <a:latin typeface="Times New Roman" panose="02020603050405020304" pitchFamily="18" charset="0"/>
                <a:ea typeface="楷体_GB2312" pitchFamily="49" charset="-122"/>
              </a:rPr>
              <a:t>雪绒花，</a:t>
            </a:r>
            <a:endParaRPr lang="en-US" altLang="zh-CN" sz="2000" dirty="0">
              <a:latin typeface="Times New Roman" panose="02020603050405020304" pitchFamily="18" charset="0"/>
              <a:ea typeface="楷体_GB2312" pitchFamily="49" charset="-122"/>
            </a:endParaRPr>
          </a:p>
          <a:p>
            <a:pPr>
              <a:spcBef>
                <a:spcPct val="20000"/>
              </a:spcBef>
            </a:pPr>
            <a:r>
              <a:rPr lang="zh-CN" altLang="en-US" sz="2000" dirty="0">
                <a:latin typeface="Times New Roman" panose="02020603050405020304" pitchFamily="18" charset="0"/>
                <a:ea typeface="宋体" panose="02010600030101010101" pitchFamily="2" charset="-122"/>
              </a:rPr>
              <a:t>每天清晨欢迎我</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a:spcBef>
                <a:spcPct val="20000"/>
              </a:spcBef>
            </a:pPr>
            <a:r>
              <a:rPr lang="zh-CN" altLang="en-US" sz="2000" dirty="0">
                <a:latin typeface="Times New Roman" panose="02020603050405020304" pitchFamily="18" charset="0"/>
                <a:ea typeface="宋体" panose="02010600030101010101" pitchFamily="2" charset="-122"/>
              </a:rPr>
              <a:t>你洁白</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a:spcBef>
                <a:spcPct val="20000"/>
              </a:spcBef>
            </a:pPr>
            <a:r>
              <a:rPr lang="zh-CN" altLang="en-US" sz="2000" dirty="0">
                <a:latin typeface="Times New Roman" panose="02020603050405020304" pitchFamily="18" charset="0"/>
                <a:ea typeface="宋体" panose="02010600030101010101" pitchFamily="2" charset="-122"/>
              </a:rPr>
              <a:t>又鲜艳</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a:spcBef>
                <a:spcPct val="20000"/>
              </a:spcBef>
            </a:pPr>
            <a:r>
              <a:rPr lang="zh-CN" altLang="en-US" sz="2000" dirty="0">
                <a:latin typeface="Times New Roman" panose="02020603050405020304" pitchFamily="18" charset="0"/>
                <a:ea typeface="宋体" panose="02010600030101010101" pitchFamily="2" charset="-122"/>
              </a:rPr>
              <a:t>看见你我多快乐。</a:t>
            </a:r>
            <a:endParaRPr lang="en-US" altLang="zh-CN" sz="2000"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31749" name="Rectangle 3"/>
          <p:cNvSpPr txBox="1"/>
          <p:nvPr/>
        </p:nvSpPr>
        <p:spPr>
          <a:xfrm>
            <a:off x="167005" y="2103755"/>
            <a:ext cx="350774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歌词的诗歌形式</a:t>
            </a:r>
            <a:endParaRPr lang="zh-CN" altLang="en-US" sz="2400"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a:spLocks noGrp="1"/>
          </p:cNvSpPr>
          <p:nvPr>
            <p:ph idx="1"/>
          </p:nvPr>
        </p:nvSpPr>
        <p:spPr>
          <a:xfrm>
            <a:off x="546100" y="2973388"/>
            <a:ext cx="3762375" cy="2374900"/>
          </a:xfrm>
        </p:spPr>
        <p:txBody>
          <a:bodyPr vert="horz" wrap="square" lIns="91440" tIns="45720" rIns="91440" bIns="45720" anchor="t"/>
          <a:p>
            <a:pPr marL="0" indent="0" eaLnBrk="1" hangingPunct="1">
              <a:buNone/>
            </a:pPr>
            <a:r>
              <a:rPr lang="en-US" altLang="zh-CN" sz="2800" dirty="0">
                <a:ea typeface="楷体_GB2312" pitchFamily="49" charset="-122"/>
              </a:rPr>
              <a:t>      </a:t>
            </a:r>
            <a:r>
              <a:rPr lang="zh-CN" altLang="en-US" sz="2400" dirty="0">
                <a:ea typeface="楷体_GB2312" pitchFamily="49" charset="-122"/>
              </a:rPr>
              <a:t>一首现有的歌曲中，歌词的一个诗句上方对应的旋律片段称为乐汇。</a:t>
            </a:r>
            <a:endParaRPr lang="en-US" altLang="zh-CN" sz="2800" dirty="0">
              <a:ea typeface="宋体" panose="02010600030101010101" pitchFamily="2" charset="-122"/>
            </a:endParaRPr>
          </a:p>
        </p:txBody>
      </p:sp>
      <p:pic>
        <p:nvPicPr>
          <p:cNvPr id="33795" name="图片 3"/>
          <p:cNvPicPr>
            <a:picLocks noChangeAspect="1"/>
          </p:cNvPicPr>
          <p:nvPr/>
        </p:nvPicPr>
        <p:blipFill>
          <a:blip r:embed="rId1"/>
          <a:stretch>
            <a:fillRect/>
          </a:stretch>
        </p:blipFill>
        <p:spPr>
          <a:xfrm>
            <a:off x="4816475" y="2925763"/>
            <a:ext cx="4141788" cy="3671887"/>
          </a:xfrm>
          <a:prstGeom prst="rect">
            <a:avLst/>
          </a:prstGeom>
          <a:noFill/>
          <a:ln w="9525">
            <a:noFill/>
          </a:ln>
        </p:spPr>
      </p:pic>
      <p:sp>
        <p:nvSpPr>
          <p:cNvPr id="33796" name="矩形 1"/>
          <p:cNvSpPr/>
          <p:nvPr/>
        </p:nvSpPr>
        <p:spPr>
          <a:xfrm>
            <a:off x="5060950" y="4019550"/>
            <a:ext cx="3763963" cy="287338"/>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pPr algn="l"/>
            <a:r>
              <a:rPr lang="zh-CN" altLang="en-US" sz="1200" dirty="0">
                <a:solidFill>
                  <a:schemeClr val="bg1"/>
                </a:solidFill>
                <a:latin typeface="Times New Roman" panose="02020603050405020304" pitchFamily="18" charset="0"/>
                <a:ea typeface="宋体" panose="02010600030101010101" pitchFamily="2" charset="-122"/>
                <a:sym typeface="+mn-ea"/>
              </a:rPr>
              <a:t>雪         绒        花</a:t>
            </a:r>
            <a:r>
              <a:rPr lang="en-US" altLang="zh-CN" sz="1200" dirty="0">
                <a:solidFill>
                  <a:schemeClr val="bg1"/>
                </a:solidFill>
                <a:latin typeface="Times New Roman" panose="02020603050405020304" pitchFamily="18" charset="0"/>
                <a:ea typeface="宋体" panose="02010600030101010101" pitchFamily="2" charset="-122"/>
                <a:sym typeface="+mn-ea"/>
              </a:rPr>
              <a:t>, </a:t>
            </a:r>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sym typeface="+mn-ea"/>
              </a:rPr>
              <a:t>雪         绒         花</a:t>
            </a:r>
            <a:r>
              <a:rPr lang="en-US" altLang="zh-CN" sz="1200" dirty="0">
                <a:solidFill>
                  <a:schemeClr val="bg1"/>
                </a:solidFill>
                <a:latin typeface="Times New Roman" panose="02020603050405020304" pitchFamily="18" charset="0"/>
                <a:ea typeface="宋体" panose="02010600030101010101" pitchFamily="2" charset="-122"/>
                <a:sym typeface="+mn-ea"/>
              </a:rPr>
              <a:t>,</a:t>
            </a:r>
            <a:endParaRPr lang="zh-CN" altLang="en-US" sz="1200" dirty="0">
              <a:solidFill>
                <a:schemeClr val="bg1"/>
              </a:solidFill>
              <a:latin typeface="Times New Roman" panose="02020603050405020304" pitchFamily="18" charset="0"/>
              <a:ea typeface="宋体" panose="02010600030101010101" pitchFamily="2" charset="-122"/>
            </a:endParaRPr>
          </a:p>
          <a:p>
            <a:pPr algn="l"/>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3797" name="矩形 5"/>
          <p:cNvSpPr/>
          <p:nvPr/>
        </p:nvSpPr>
        <p:spPr>
          <a:xfrm>
            <a:off x="5029200" y="4810125"/>
            <a:ext cx="3811588" cy="287338"/>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pPr algn="l"/>
            <a:r>
              <a:rPr lang="zh-CN" altLang="en-US" sz="1200" dirty="0">
                <a:solidFill>
                  <a:schemeClr val="bg1"/>
                </a:solidFill>
                <a:latin typeface="Times New Roman" panose="02020603050405020304" pitchFamily="18" charset="0"/>
                <a:ea typeface="宋体" panose="02010600030101010101" pitchFamily="2" charset="-122"/>
                <a:sym typeface="+mn-ea"/>
              </a:rPr>
              <a:t>每         天         清    晨   欢       迎                      我</a:t>
            </a:r>
            <a:r>
              <a:rPr lang="en-US" altLang="zh-CN" sz="1200" dirty="0">
                <a:solidFill>
                  <a:schemeClr val="bg1"/>
                </a:solidFill>
                <a:latin typeface="Times New Roman" panose="02020603050405020304" pitchFamily="18" charset="0"/>
                <a:ea typeface="宋体" panose="02010600030101010101" pitchFamily="2" charset="-122"/>
                <a:sym typeface="+mn-ea"/>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3798" name="矩形 6"/>
          <p:cNvSpPr/>
          <p:nvPr/>
        </p:nvSpPr>
        <p:spPr>
          <a:xfrm>
            <a:off x="5046663" y="5561013"/>
            <a:ext cx="3836987"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pPr algn="l"/>
            <a:r>
              <a:rPr lang="zh-CN" altLang="en-US" sz="1200" dirty="0">
                <a:solidFill>
                  <a:schemeClr val="bg1"/>
                </a:solidFill>
                <a:latin typeface="Times New Roman" panose="02020603050405020304" pitchFamily="18" charset="0"/>
                <a:ea typeface="宋体" panose="02010600030101010101" pitchFamily="2" charset="-122"/>
                <a:sym typeface="+mn-ea"/>
              </a:rPr>
              <a:t>你         洁        白</a:t>
            </a:r>
            <a:r>
              <a:rPr lang="en-US" altLang="zh-CN" sz="1200" dirty="0">
                <a:solidFill>
                  <a:schemeClr val="bg1"/>
                </a:solidFill>
                <a:latin typeface="Times New Roman" panose="02020603050405020304" pitchFamily="18" charset="0"/>
                <a:ea typeface="宋体" panose="02010600030101010101" pitchFamily="2" charset="-122"/>
                <a:sym typeface="+mn-ea"/>
              </a:rPr>
              <a:t>, </a:t>
            </a:r>
            <a:r>
              <a:rPr lang="en-US" altLang="zh-CN" sz="1200" dirty="0">
                <a:solidFill>
                  <a:schemeClr val="bg1"/>
                </a:solidFill>
                <a:latin typeface="Times New Roman" panose="02020603050405020304" pitchFamily="18" charset="0"/>
                <a:ea typeface="宋体" panose="02010600030101010101" pitchFamily="2" charset="-122"/>
              </a:rPr>
              <a:t>                    </a:t>
            </a:r>
            <a:r>
              <a:rPr lang="zh-CN" altLang="en-US" sz="1200" dirty="0">
                <a:solidFill>
                  <a:schemeClr val="bg1"/>
                </a:solidFill>
                <a:latin typeface="Times New Roman" panose="02020603050405020304" pitchFamily="18" charset="0"/>
                <a:ea typeface="宋体" panose="02010600030101010101" pitchFamily="2" charset="-122"/>
                <a:sym typeface="+mn-ea"/>
              </a:rPr>
              <a:t>又          鲜        艳</a:t>
            </a:r>
            <a:r>
              <a:rPr lang="en-US" altLang="zh-CN" sz="1200" dirty="0">
                <a:solidFill>
                  <a:schemeClr val="bg1"/>
                </a:solidFill>
                <a:latin typeface="Times New Roman" panose="02020603050405020304" pitchFamily="18" charset="0"/>
                <a:ea typeface="宋体" panose="02010600030101010101" pitchFamily="2" charset="-122"/>
                <a:sym typeface="+mn-ea"/>
              </a:rPr>
              <a:t>,</a:t>
            </a:r>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33799" name="矩形 7"/>
          <p:cNvSpPr/>
          <p:nvPr/>
        </p:nvSpPr>
        <p:spPr>
          <a:xfrm>
            <a:off x="5003800" y="6373813"/>
            <a:ext cx="3922713" cy="288925"/>
          </a:xfrm>
          <a:prstGeom prst="rect">
            <a:avLst/>
          </a:prstGeom>
          <a:solidFill>
            <a:schemeClr val="accent1"/>
          </a:solidFill>
          <a:ln w="9525" cap="flat" cmpd="sng">
            <a:solidFill>
              <a:schemeClr val="tx1"/>
            </a:solidFill>
            <a:prstDash val="solid"/>
            <a:round/>
            <a:headEnd type="none" w="med" len="med"/>
            <a:tailEnd type="none" w="med" len="med"/>
          </a:ln>
        </p:spPr>
        <p:txBody>
          <a:bodyPr wrap="none" anchor="t"/>
          <a:p>
            <a:pPr algn="l"/>
            <a:r>
              <a:rPr lang="zh-CN" sz="1200" dirty="0">
                <a:solidFill>
                  <a:schemeClr val="bg1"/>
                </a:solidFill>
                <a:latin typeface="Times New Roman" panose="02020603050405020304" pitchFamily="18" charset="0"/>
                <a:ea typeface="宋体" panose="02010600030101010101" pitchFamily="2" charset="-122"/>
                <a:sym typeface="+mn-ea"/>
              </a:rPr>
              <a:t>看         见         你   我  多        快                     乐。</a:t>
            </a:r>
            <a:endParaRPr lang="zh-CN" sz="1200" dirty="0">
              <a:solidFill>
                <a:schemeClr val="bg1"/>
              </a:solidFill>
              <a:latin typeface="Times New Roman" panose="02020603050405020304" pitchFamily="18" charset="0"/>
              <a:ea typeface="宋体" panose="02010600030101010101" pitchFamily="2" charset="-122"/>
            </a:endParaRPr>
          </a:p>
          <a:p>
            <a:endParaRPr lang="zh-CN" altLang="en-US" sz="1200" dirty="0">
              <a:solidFill>
                <a:schemeClr val="bg1"/>
              </a:solidFill>
              <a:latin typeface="Times New Roman" panose="02020603050405020304" pitchFamily="18" charset="0"/>
              <a:ea typeface="宋体" panose="02010600030101010101" pitchFamily="2" charset="-122"/>
            </a:endParaRPr>
          </a:p>
        </p:txBody>
      </p:sp>
      <p:sp>
        <p:nvSpPr>
          <p:cNvPr id="10" name="椭圆 9"/>
          <p:cNvSpPr/>
          <p:nvPr/>
        </p:nvSpPr>
        <p:spPr>
          <a:xfrm>
            <a:off x="5010150" y="4021138"/>
            <a:ext cx="1517650" cy="29845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1" name="椭圆 10"/>
          <p:cNvSpPr/>
          <p:nvPr/>
        </p:nvSpPr>
        <p:spPr>
          <a:xfrm>
            <a:off x="6888163" y="4005263"/>
            <a:ext cx="1655763" cy="31273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2" name="椭圆 11"/>
          <p:cNvSpPr/>
          <p:nvPr/>
        </p:nvSpPr>
        <p:spPr>
          <a:xfrm>
            <a:off x="4926013" y="4764088"/>
            <a:ext cx="3744913" cy="3794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3" name="椭圆 12"/>
          <p:cNvSpPr/>
          <p:nvPr/>
        </p:nvSpPr>
        <p:spPr>
          <a:xfrm>
            <a:off x="5016500" y="5591175"/>
            <a:ext cx="1633538" cy="24130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4" name="椭圆 13"/>
          <p:cNvSpPr/>
          <p:nvPr/>
        </p:nvSpPr>
        <p:spPr>
          <a:xfrm>
            <a:off x="6869113" y="5565775"/>
            <a:ext cx="1781175" cy="3159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5" name="椭圆 14"/>
          <p:cNvSpPr/>
          <p:nvPr/>
        </p:nvSpPr>
        <p:spPr>
          <a:xfrm>
            <a:off x="4840288" y="6330950"/>
            <a:ext cx="3649663" cy="42386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3807" name="Rectangle 3"/>
          <p:cNvSpPr txBox="1"/>
          <p:nvPr/>
        </p:nvSpPr>
        <p:spPr>
          <a:xfrm>
            <a:off x="1411288" y="5473700"/>
            <a:ext cx="1947862" cy="446088"/>
          </a:xfrm>
          <a:prstGeom prst="rect">
            <a:avLst/>
          </a:prstGeom>
          <a:noFill/>
          <a:ln w="9525">
            <a:noFill/>
          </a:ln>
        </p:spPr>
        <p:txBody>
          <a:bodyPr anchor="t"/>
          <a:p>
            <a:pPr>
              <a:spcBef>
                <a:spcPct val="20000"/>
              </a:spcBef>
            </a:pPr>
            <a:r>
              <a:rPr lang="en-US" altLang="zh-CN" sz="2000" i="1" dirty="0">
                <a:solidFill>
                  <a:srgbClr val="FF0000"/>
                </a:solidFill>
                <a:latin typeface="Times New Roman" panose="02020603050405020304" pitchFamily="18" charset="0"/>
                <a:ea typeface="楷体_GB2312" pitchFamily="49" charset="-122"/>
              </a:rPr>
              <a:t>               </a:t>
            </a:r>
            <a:r>
              <a:rPr lang="zh-CN" altLang="en-US" sz="2000" i="1" dirty="0">
                <a:solidFill>
                  <a:srgbClr val="FF0000"/>
                </a:solidFill>
                <a:latin typeface="Times New Roman" panose="02020603050405020304" pitchFamily="18" charset="0"/>
                <a:ea typeface="楷体_GB2312" pitchFamily="49" charset="-122"/>
              </a:rPr>
              <a:t>乐汇</a:t>
            </a:r>
            <a:endParaRPr lang="zh-CN" altLang="en-US" sz="2000" i="1" dirty="0">
              <a:solidFill>
                <a:srgbClr val="FF0000"/>
              </a:solidFill>
              <a:latin typeface="Times New Roman" panose="02020603050405020304" pitchFamily="18" charset="0"/>
              <a:ea typeface="楷体_GB2312" pitchFamily="49" charset="-122"/>
            </a:endParaRPr>
          </a:p>
        </p:txBody>
      </p:sp>
      <p:sp>
        <p:nvSpPr>
          <p:cNvPr id="24" name="矩形 23"/>
          <p:cNvSpPr/>
          <p:nvPr/>
        </p:nvSpPr>
        <p:spPr>
          <a:xfrm>
            <a:off x="7027863" y="3640138"/>
            <a:ext cx="1422400" cy="37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5" name="矩形 24"/>
          <p:cNvSpPr/>
          <p:nvPr/>
        </p:nvSpPr>
        <p:spPr>
          <a:xfrm>
            <a:off x="5060950" y="4448175"/>
            <a:ext cx="3529013" cy="3714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7" name="矩形 26"/>
          <p:cNvSpPr/>
          <p:nvPr/>
        </p:nvSpPr>
        <p:spPr>
          <a:xfrm>
            <a:off x="5122863" y="5237163"/>
            <a:ext cx="1317625" cy="3222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9" name="矩形 28"/>
          <p:cNvSpPr/>
          <p:nvPr/>
        </p:nvSpPr>
        <p:spPr>
          <a:xfrm>
            <a:off x="7059613" y="5246688"/>
            <a:ext cx="1358900" cy="3476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1" name="矩形 30"/>
          <p:cNvSpPr/>
          <p:nvPr/>
        </p:nvSpPr>
        <p:spPr>
          <a:xfrm>
            <a:off x="5122863" y="6078538"/>
            <a:ext cx="3494088" cy="2698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33813" name="直接箭头连接符 31"/>
          <p:cNvCxnSpPr/>
          <p:nvPr/>
        </p:nvCxnSpPr>
        <p:spPr>
          <a:xfrm flipV="1">
            <a:off x="3100388" y="3933825"/>
            <a:ext cx="1993900" cy="1749425"/>
          </a:xfrm>
          <a:prstGeom prst="straightConnector1">
            <a:avLst/>
          </a:prstGeom>
          <a:ln w="19050" cap="flat" cmpd="sng">
            <a:solidFill>
              <a:srgbClr val="FF0000"/>
            </a:solidFill>
            <a:prstDash val="solid"/>
            <a:round/>
            <a:headEnd type="none" w="med" len="med"/>
            <a:tailEnd type="triangle" w="med" len="med"/>
          </a:ln>
        </p:spPr>
      </p:cxnSp>
      <p:cxnSp>
        <p:nvCxnSpPr>
          <p:cNvPr id="33814" name="直接箭头连接符 32"/>
          <p:cNvCxnSpPr/>
          <p:nvPr/>
        </p:nvCxnSpPr>
        <p:spPr>
          <a:xfrm flipV="1">
            <a:off x="3100388" y="4627563"/>
            <a:ext cx="1943100" cy="1055687"/>
          </a:xfrm>
          <a:prstGeom prst="straightConnector1">
            <a:avLst/>
          </a:prstGeom>
          <a:ln w="19050" cap="flat" cmpd="sng">
            <a:solidFill>
              <a:srgbClr val="FF0000"/>
            </a:solidFill>
            <a:prstDash val="solid"/>
            <a:round/>
            <a:headEnd type="none" w="med" len="med"/>
            <a:tailEnd type="triangle" w="med" len="med"/>
          </a:ln>
        </p:spPr>
      </p:cxnSp>
      <p:cxnSp>
        <p:nvCxnSpPr>
          <p:cNvPr id="33815" name="直接箭头连接符 35"/>
          <p:cNvCxnSpPr/>
          <p:nvPr/>
        </p:nvCxnSpPr>
        <p:spPr>
          <a:xfrm flipV="1">
            <a:off x="3111500" y="3895725"/>
            <a:ext cx="3916363" cy="1760538"/>
          </a:xfrm>
          <a:prstGeom prst="straightConnector1">
            <a:avLst/>
          </a:prstGeom>
          <a:ln w="19050" cap="flat" cmpd="sng">
            <a:solidFill>
              <a:srgbClr val="FF0000"/>
            </a:solidFill>
            <a:prstDash val="solid"/>
            <a:round/>
            <a:headEnd type="none" w="med" len="med"/>
            <a:tailEnd type="triangle" w="med" len="med"/>
          </a:ln>
        </p:spPr>
      </p:cxnSp>
      <p:cxnSp>
        <p:nvCxnSpPr>
          <p:cNvPr id="33816" name="直接箭头连接符 38"/>
          <p:cNvCxnSpPr/>
          <p:nvPr/>
        </p:nvCxnSpPr>
        <p:spPr>
          <a:xfrm flipV="1">
            <a:off x="3117850" y="5410200"/>
            <a:ext cx="3910013" cy="325438"/>
          </a:xfrm>
          <a:prstGeom prst="straightConnector1">
            <a:avLst/>
          </a:prstGeom>
          <a:ln w="19050" cap="flat" cmpd="sng">
            <a:solidFill>
              <a:srgbClr val="FF0000"/>
            </a:solidFill>
            <a:prstDash val="solid"/>
            <a:round/>
            <a:headEnd type="none" w="med" len="med"/>
            <a:tailEnd type="triangle" w="med" len="med"/>
          </a:ln>
        </p:spPr>
      </p:cxnSp>
      <p:cxnSp>
        <p:nvCxnSpPr>
          <p:cNvPr id="33817" name="直接箭头连接符 40"/>
          <p:cNvCxnSpPr/>
          <p:nvPr/>
        </p:nvCxnSpPr>
        <p:spPr>
          <a:xfrm flipV="1">
            <a:off x="3151188" y="5410200"/>
            <a:ext cx="1887537" cy="315913"/>
          </a:xfrm>
          <a:prstGeom prst="straightConnector1">
            <a:avLst/>
          </a:prstGeom>
          <a:ln w="19050" cap="flat" cmpd="sng">
            <a:solidFill>
              <a:srgbClr val="FF0000"/>
            </a:solidFill>
            <a:prstDash val="solid"/>
            <a:round/>
            <a:headEnd type="none" w="med" len="med"/>
            <a:tailEnd type="triangle" w="med" len="med"/>
          </a:ln>
        </p:spPr>
      </p:cxnSp>
      <p:cxnSp>
        <p:nvCxnSpPr>
          <p:cNvPr id="33818" name="直接箭头连接符 43"/>
          <p:cNvCxnSpPr/>
          <p:nvPr/>
        </p:nvCxnSpPr>
        <p:spPr>
          <a:xfrm>
            <a:off x="3090863" y="5745163"/>
            <a:ext cx="2025650" cy="420687"/>
          </a:xfrm>
          <a:prstGeom prst="straightConnector1">
            <a:avLst/>
          </a:prstGeom>
          <a:ln w="19050" cap="flat" cmpd="sng">
            <a:solidFill>
              <a:srgbClr val="FF0000"/>
            </a:solidFill>
            <a:prstDash val="solid"/>
            <a:round/>
            <a:headEnd type="none" w="med" len="med"/>
            <a:tailEnd type="triangle" w="med" len="med"/>
          </a:ln>
        </p:spPr>
      </p:cxnSp>
      <p:sp>
        <p:nvSpPr>
          <p:cNvPr id="33819" name="Rectangle 3"/>
          <p:cNvSpPr txBox="1"/>
          <p:nvPr/>
        </p:nvSpPr>
        <p:spPr>
          <a:xfrm>
            <a:off x="166688" y="2103438"/>
            <a:ext cx="27495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乐汇</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2" name="矩形 31"/>
          <p:cNvSpPr/>
          <p:nvPr/>
        </p:nvSpPr>
        <p:spPr>
          <a:xfrm>
            <a:off x="5116513" y="3659188"/>
            <a:ext cx="1423988" cy="37306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3"/>
          <p:cNvSpPr>
            <a:spLocks noGrp="1"/>
          </p:cNvSpPr>
          <p:nvPr>
            <p:ph idx="1"/>
          </p:nvPr>
        </p:nvSpPr>
        <p:spPr>
          <a:xfrm>
            <a:off x="474663" y="2741613"/>
            <a:ext cx="3168650" cy="2663825"/>
          </a:xfrm>
        </p:spPr>
        <p:txBody>
          <a:bodyPr vert="horz" wrap="square" lIns="91440" tIns="45720" rIns="91440" bIns="45720" anchor="t"/>
          <a:p>
            <a:pPr marL="0" indent="0" eaLnBrk="1" hangingPunct="1">
              <a:buNone/>
            </a:pPr>
            <a:r>
              <a:rPr lang="en-US" altLang="zh-CN" sz="2800" dirty="0">
                <a:ea typeface="楷体_GB2312" pitchFamily="49" charset="-122"/>
              </a:rPr>
              <a:t>      </a:t>
            </a:r>
            <a:r>
              <a:rPr lang="en-US" altLang="zh-CN" sz="2400" dirty="0">
                <a:ea typeface="楷体_GB2312" pitchFamily="49" charset="-122"/>
              </a:rPr>
              <a:t>我们可以收集大量已有的歌曲，并从中构建一个新的旋律片段（</a:t>
            </a:r>
            <a:r>
              <a:rPr lang="zh-CN" altLang="en-US" sz="2400" dirty="0">
                <a:ea typeface="楷体_GB2312" pitchFamily="49" charset="-122"/>
              </a:rPr>
              <a:t>乐汇</a:t>
            </a:r>
            <a:r>
              <a:rPr lang="en-US" altLang="zh-CN" sz="2400" dirty="0">
                <a:ea typeface="楷体_GB2312" pitchFamily="49" charset="-122"/>
              </a:rPr>
              <a:t>）数据库</a:t>
            </a:r>
            <a:r>
              <a:rPr lang="zh-CN" altLang="en-US" sz="2400" dirty="0">
                <a:ea typeface="楷体_GB2312" pitchFamily="49" charset="-122"/>
              </a:rPr>
              <a:t>。</a:t>
            </a:r>
            <a:endParaRPr lang="zh-CN" altLang="en-US" sz="2400" dirty="0">
              <a:ea typeface="楷体_GB2312" pitchFamily="49" charset="-122"/>
            </a:endParaRPr>
          </a:p>
        </p:txBody>
      </p:sp>
      <p:sp>
        <p:nvSpPr>
          <p:cNvPr id="4" name="流程图: 磁盘 3"/>
          <p:cNvSpPr/>
          <p:nvPr/>
        </p:nvSpPr>
        <p:spPr>
          <a:xfrm>
            <a:off x="6913563" y="4191000"/>
            <a:ext cx="1884363" cy="468313"/>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2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乐汇数据库</a:t>
            </a:r>
            <a:endParaRPr kumimoji="0" lang="zh-CN" sz="12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 name="流程图: 磁盘 4"/>
          <p:cNvSpPr/>
          <p:nvPr/>
        </p:nvSpPr>
        <p:spPr>
          <a:xfrm>
            <a:off x="6862763" y="3614738"/>
            <a:ext cx="1943100" cy="458788"/>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4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现有歌曲库</a:t>
            </a:r>
            <a:endParaRPr kumimoji="0" lang="zh-CN" sz="14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6" name="直角上箭头 5"/>
          <p:cNvSpPr/>
          <p:nvPr/>
        </p:nvSpPr>
        <p:spPr>
          <a:xfrm flipV="1">
            <a:off x="6172200" y="3194050"/>
            <a:ext cx="1816100" cy="522288"/>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7" name="左箭头 6"/>
          <p:cNvSpPr/>
          <p:nvPr/>
        </p:nvSpPr>
        <p:spPr>
          <a:xfrm>
            <a:off x="6308725" y="3736975"/>
            <a:ext cx="565150" cy="21431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 name="左箭头 7"/>
          <p:cNvSpPr/>
          <p:nvPr/>
        </p:nvSpPr>
        <p:spPr>
          <a:xfrm flipH="1">
            <a:off x="6308725" y="4279900"/>
            <a:ext cx="574675"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11" name="直接箭头连接符 10"/>
          <p:cNvCxnSpPr/>
          <p:nvPr/>
        </p:nvCxnSpPr>
        <p:spPr>
          <a:xfrm>
            <a:off x="5029200" y="2825750"/>
            <a:ext cx="0" cy="2143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4572000" y="2349500"/>
            <a:ext cx="911225" cy="4556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lt1"/>
                </a:solidFill>
                <a:effectLst/>
                <a:uLnTx/>
                <a:uFillTx/>
                <a:latin typeface="+mn-lt"/>
                <a:ea typeface="宋体" panose="02010600030101010101" pitchFamily="2" charset="-122"/>
                <a:cs typeface="+mn-cs"/>
              </a:rPr>
              <a:t>开始</a:t>
            </a:r>
            <a:endParaRPr kumimoji="0" lang="zh-CN" altLang="en-US" sz="1200" b="0" i="0" u="none" strike="noStrike" kern="1200" cap="none" spc="0" normalizeH="0" baseline="0" noProof="0" dirty="0">
              <a:ln>
                <a:noFill/>
              </a:ln>
              <a:solidFill>
                <a:schemeClr val="lt1"/>
              </a:solidFill>
              <a:effectLst/>
              <a:uLnTx/>
              <a:uFillTx/>
              <a:latin typeface="+mn-lt"/>
              <a:ea typeface="宋体" panose="02010600030101010101" pitchFamily="2" charset="-122"/>
              <a:cs typeface="+mn-cs"/>
            </a:endParaRPr>
          </a:p>
        </p:txBody>
      </p:sp>
      <p:sp>
        <p:nvSpPr>
          <p:cNvPr id="15" name="矩形 14"/>
          <p:cNvSpPr/>
          <p:nvPr/>
        </p:nvSpPr>
        <p:spPr>
          <a:xfrm>
            <a:off x="4021138" y="3040063"/>
            <a:ext cx="2135188" cy="38893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收集并输入现有的歌曲</a:t>
            </a:r>
            <a:endParaRPr kumimoji="0" lang="zh-CN"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17" name="矩形 16"/>
          <p:cNvSpPr/>
          <p:nvPr/>
        </p:nvSpPr>
        <p:spPr>
          <a:xfrm>
            <a:off x="3779838" y="3627438"/>
            <a:ext cx="2520950" cy="38893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将歌曲的歌词转换成诗歌形式</a:t>
            </a:r>
            <a:endParaRPr kumimoji="0" lang="zh-CN"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18" name="直接箭头连接符 17"/>
          <p:cNvCxnSpPr/>
          <p:nvPr/>
        </p:nvCxnSpPr>
        <p:spPr>
          <a:xfrm>
            <a:off x="5029200" y="3429000"/>
            <a:ext cx="0" cy="2143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789363" y="4248150"/>
            <a:ext cx="2519363" cy="38893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收集乐汇</a:t>
            </a:r>
            <a:endParaRPr kumimoji="0" lang="zh-CN"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20" name="直接箭头连接符 19"/>
          <p:cNvCxnSpPr/>
          <p:nvPr/>
        </p:nvCxnSpPr>
        <p:spPr>
          <a:xfrm>
            <a:off x="5029200" y="4016375"/>
            <a:ext cx="0" cy="2143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4572000" y="4864100"/>
            <a:ext cx="911225" cy="45561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lt1"/>
                </a:solidFill>
                <a:effectLst/>
                <a:uLnTx/>
                <a:uFillTx/>
                <a:latin typeface="+mn-lt"/>
                <a:ea typeface="宋体" panose="02010600030101010101" pitchFamily="2" charset="-122"/>
                <a:cs typeface="+mn-cs"/>
              </a:rPr>
              <a:t>结束</a:t>
            </a:r>
            <a:endParaRPr kumimoji="0" lang="zh-CN" altLang="en-US" sz="1200" b="0" i="0" u="none" strike="noStrike" kern="1200" cap="none" spc="0" normalizeH="0" baseline="0" noProof="0" dirty="0">
              <a:ln>
                <a:noFill/>
              </a:ln>
              <a:solidFill>
                <a:schemeClr val="lt1"/>
              </a:solidFill>
              <a:effectLst/>
              <a:uLnTx/>
              <a:uFillTx/>
              <a:latin typeface="+mn-lt"/>
              <a:ea typeface="宋体" panose="02010600030101010101" pitchFamily="2" charset="-122"/>
              <a:cs typeface="+mn-cs"/>
            </a:endParaRPr>
          </a:p>
        </p:txBody>
      </p:sp>
      <p:cxnSp>
        <p:nvCxnSpPr>
          <p:cNvPr id="22" name="直接箭头连接符 21"/>
          <p:cNvCxnSpPr/>
          <p:nvPr/>
        </p:nvCxnSpPr>
        <p:spPr>
          <a:xfrm>
            <a:off x="5003800" y="4637088"/>
            <a:ext cx="0" cy="2143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4833" name="Rectangle 3"/>
          <p:cNvSpPr txBox="1"/>
          <p:nvPr/>
        </p:nvSpPr>
        <p:spPr>
          <a:xfrm>
            <a:off x="166688" y="2103438"/>
            <a:ext cx="397351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乐汇数据库</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3"/>
          <p:cNvSpPr>
            <a:spLocks noGrp="1"/>
          </p:cNvSpPr>
          <p:nvPr>
            <p:ph idx="1"/>
          </p:nvPr>
        </p:nvSpPr>
        <p:spPr>
          <a:xfrm>
            <a:off x="423863" y="3068638"/>
            <a:ext cx="3262312" cy="2662237"/>
          </a:xfrm>
        </p:spPr>
        <p:txBody>
          <a:bodyPr vert="horz" wrap="square" lIns="91440" tIns="45720" rIns="91440" bIns="45720" anchor="t"/>
          <a:p>
            <a:pPr marL="0" indent="0" eaLnBrk="1" hangingPunct="1">
              <a:buNone/>
            </a:pPr>
            <a:r>
              <a:rPr lang="en-US" altLang="zh-CN" sz="2800" dirty="0">
                <a:ea typeface="楷体_GB2312" pitchFamily="49" charset="-122"/>
              </a:rPr>
              <a:t>    </a:t>
            </a:r>
            <a:r>
              <a:rPr lang="en-US" altLang="zh-CN" sz="2400" dirty="0">
                <a:ea typeface="楷体_GB2312" pitchFamily="49" charset="-122"/>
              </a:rPr>
              <a:t>   </a:t>
            </a:r>
            <a:r>
              <a:rPr lang="zh-CN" altLang="en-US" sz="2400" dirty="0">
                <a:ea typeface="楷体_GB2312" pitchFamily="49" charset="-122"/>
              </a:rPr>
              <a:t>乐汇数据</a:t>
            </a:r>
            <a:r>
              <a:rPr lang="en-US" altLang="zh-CN" sz="2400" dirty="0">
                <a:ea typeface="楷体_GB2312" pitchFamily="49" charset="-122"/>
              </a:rPr>
              <a:t>库中的</a:t>
            </a:r>
            <a:r>
              <a:rPr lang="zh-CN" altLang="en-US" sz="2400" dirty="0">
                <a:ea typeface="楷体_GB2312" pitchFamily="49" charset="-122"/>
              </a:rPr>
              <a:t>乐汇可以</a:t>
            </a:r>
            <a:r>
              <a:rPr lang="en-US" altLang="zh-CN" sz="2400" dirty="0">
                <a:ea typeface="楷体_GB2312" pitchFamily="49" charset="-122"/>
              </a:rPr>
              <a:t>根据</a:t>
            </a:r>
            <a:r>
              <a:rPr lang="zh-CN" altLang="en-US" sz="2400" dirty="0">
                <a:ea typeface="楷体_GB2312" pitchFamily="49" charset="-122"/>
              </a:rPr>
              <a:t>乐汇所在的歌曲的</a:t>
            </a:r>
            <a:r>
              <a:rPr lang="en-US" altLang="zh-CN" sz="2400" dirty="0">
                <a:ea typeface="楷体_GB2312" pitchFamily="49" charset="-122"/>
              </a:rPr>
              <a:t>歌词中表达的情感</a:t>
            </a:r>
            <a:r>
              <a:rPr lang="zh-CN" altLang="en-US" sz="2400" dirty="0">
                <a:ea typeface="楷体_GB2312" pitchFamily="49" charset="-122"/>
              </a:rPr>
              <a:t>色彩</a:t>
            </a:r>
            <a:r>
              <a:rPr lang="en-US" altLang="zh-CN" sz="2400" dirty="0">
                <a:ea typeface="楷体_GB2312" pitchFamily="49" charset="-122"/>
              </a:rPr>
              <a:t>、</a:t>
            </a:r>
            <a:r>
              <a:rPr lang="zh-CN" altLang="en-US" sz="2400" dirty="0">
                <a:ea typeface="楷体_GB2312" pitchFamily="49" charset="-122"/>
              </a:rPr>
              <a:t>节拍</a:t>
            </a:r>
            <a:r>
              <a:rPr lang="en-US" altLang="zh-CN" sz="2400" dirty="0">
                <a:ea typeface="楷体_GB2312" pitchFamily="49" charset="-122"/>
              </a:rPr>
              <a:t>、节奏和歌曲的</a:t>
            </a:r>
            <a:r>
              <a:rPr lang="zh-CN" altLang="en-US" sz="2400" dirty="0">
                <a:ea typeface="楷体_GB2312" pitchFamily="49" charset="-122"/>
              </a:rPr>
              <a:t>调</a:t>
            </a:r>
            <a:r>
              <a:rPr lang="en-US" altLang="zh-CN" sz="2400" dirty="0">
                <a:ea typeface="楷体_GB2312" pitchFamily="49" charset="-122"/>
              </a:rPr>
              <a:t>式来分类的。</a:t>
            </a:r>
            <a:endParaRPr lang="en-US" altLang="zh-CN" sz="2400" dirty="0">
              <a:ea typeface="楷体_GB2312" pitchFamily="49" charset="-122"/>
            </a:endParaRPr>
          </a:p>
        </p:txBody>
      </p:sp>
      <p:sp>
        <p:nvSpPr>
          <p:cNvPr id="4" name="流程图: 磁盘 3"/>
          <p:cNvSpPr/>
          <p:nvPr/>
        </p:nvSpPr>
        <p:spPr>
          <a:xfrm>
            <a:off x="4859338" y="2817813"/>
            <a:ext cx="2736850" cy="6127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2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乐汇数据库</a:t>
            </a:r>
            <a:endParaRPr kumimoji="0" lang="zh-CN" sz="2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 name="流程图: 磁盘 4"/>
          <p:cNvSpPr/>
          <p:nvPr/>
        </p:nvSpPr>
        <p:spPr>
          <a:xfrm>
            <a:off x="3756025" y="3970338"/>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乐汇子集合</a:t>
            </a:r>
            <a:r>
              <a:rPr kumimoji="0" lang="en-US" altLang="zh-CN" sz="5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1</a:t>
            </a:r>
            <a:endParaRPr kumimoji="0" lang="zh-CN" altLang="en-US" sz="1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流程图: 磁盘 22"/>
          <p:cNvSpPr/>
          <p:nvPr/>
        </p:nvSpPr>
        <p:spPr>
          <a:xfrm>
            <a:off x="5467350" y="3962400"/>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2</a:t>
            </a:r>
            <a:endParaRPr kumimoji="0" lang="zh-CN" altLang="en-US" sz="10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流程图: 磁盘 23"/>
          <p:cNvSpPr/>
          <p:nvPr/>
        </p:nvSpPr>
        <p:spPr>
          <a:xfrm>
            <a:off x="7235825" y="3962400"/>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1"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N</a:t>
            </a:r>
            <a:endParaRPr kumimoji="0" lang="zh-CN" altLang="en-US" sz="1000" b="0" i="1"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25" name="直接连接符 24"/>
          <p:cNvCxnSpPr/>
          <p:nvPr/>
        </p:nvCxnSpPr>
        <p:spPr>
          <a:xfrm>
            <a:off x="4456113" y="3703638"/>
            <a:ext cx="3498850"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460875" y="3703638"/>
            <a:ext cx="1588"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958138" y="3735388"/>
            <a:ext cx="0"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188075" y="3721100"/>
            <a:ext cx="1588"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186488" y="3462338"/>
            <a:ext cx="1588" cy="28257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876" name="矩形 29"/>
          <p:cNvSpPr/>
          <p:nvPr/>
        </p:nvSpPr>
        <p:spPr>
          <a:xfrm>
            <a:off x="3851910" y="5042535"/>
            <a:ext cx="4972685" cy="306705"/>
          </a:xfrm>
          <a:prstGeom prst="rect">
            <a:avLst/>
          </a:prstGeom>
          <a:noFill/>
          <a:ln w="9525">
            <a:noFill/>
          </a:ln>
        </p:spPr>
        <p:txBody>
          <a:bodyPr wrap="square" anchor="t">
            <a:spAutoFit/>
          </a:bodyPr>
          <a:p>
            <a:pPr eaLnBrk="0" hangingPunct="0"/>
            <a:r>
              <a:rPr lang="en-US" altLang="zh-CN" sz="1400" dirty="0">
                <a:latin typeface="Times New Roman" panose="02020603050405020304" pitchFamily="18" charset="0"/>
                <a:ea typeface="宋体" panose="02010600030101010101" pitchFamily="2" charset="-122"/>
              </a:rPr>
              <a:t>情感色彩：抒情婉约，豪迈舒缓，悲伤忧郁，欢快热情</a:t>
            </a:r>
            <a:endParaRPr lang="en-US" altLang="zh-CN" sz="1400" dirty="0">
              <a:latin typeface="Times New Roman" panose="02020603050405020304" pitchFamily="18" charset="0"/>
              <a:ea typeface="宋体" panose="02010600030101010101" pitchFamily="2" charset="-122"/>
            </a:endParaRPr>
          </a:p>
        </p:txBody>
      </p:sp>
      <p:sp>
        <p:nvSpPr>
          <p:cNvPr id="36877" name="矩形 30"/>
          <p:cNvSpPr/>
          <p:nvPr/>
        </p:nvSpPr>
        <p:spPr>
          <a:xfrm>
            <a:off x="3851275" y="5538788"/>
            <a:ext cx="2589213" cy="306705"/>
          </a:xfrm>
          <a:prstGeom prst="rect">
            <a:avLst/>
          </a:prstGeom>
          <a:noFill/>
          <a:ln w="9525">
            <a:noFill/>
          </a:ln>
        </p:spPr>
        <p:txBody>
          <a:bodyPr anchor="t">
            <a:spAutoFit/>
          </a:bodyPr>
          <a:p>
            <a:pPr eaLnBrk="0" hangingPunct="0"/>
            <a:r>
              <a:rPr lang="zh-CN" altLang="en-US" sz="1400" dirty="0">
                <a:latin typeface="Times New Roman" panose="02020603050405020304" pitchFamily="18" charset="0"/>
                <a:ea typeface="宋体" panose="02010600030101010101" pitchFamily="2" charset="-122"/>
              </a:rPr>
              <a:t>节拍：</a:t>
            </a:r>
            <a:r>
              <a:rPr lang="en-US" altLang="zh-CN" sz="1400" dirty="0">
                <a:latin typeface="Times New Roman" panose="02020603050405020304" pitchFamily="18" charset="0"/>
                <a:ea typeface="宋体" panose="02010600030101010101" pitchFamily="2" charset="-122"/>
              </a:rPr>
              <a:t> 2/4,3/4, 4/4</a:t>
            </a:r>
            <a:r>
              <a:rPr lang="zh-CN" altLang="en-US" sz="1400" dirty="0">
                <a:latin typeface="Times New Roman" panose="02020603050405020304" pitchFamily="18" charset="0"/>
                <a:ea typeface="宋体" panose="02010600030101010101" pitchFamily="2" charset="-122"/>
              </a:rPr>
              <a:t>，散板</a:t>
            </a:r>
            <a:endParaRPr lang="zh-CN" altLang="en-US" sz="1400" dirty="0">
              <a:latin typeface="Times New Roman" panose="02020603050405020304" pitchFamily="18" charset="0"/>
              <a:ea typeface="宋体" panose="02010600030101010101" pitchFamily="2" charset="-122"/>
            </a:endParaRPr>
          </a:p>
        </p:txBody>
      </p:sp>
      <p:sp>
        <p:nvSpPr>
          <p:cNvPr id="36878" name="矩形 31"/>
          <p:cNvSpPr/>
          <p:nvPr/>
        </p:nvSpPr>
        <p:spPr>
          <a:xfrm>
            <a:off x="3851275" y="5895975"/>
            <a:ext cx="2589213" cy="306705"/>
          </a:xfrm>
          <a:prstGeom prst="rect">
            <a:avLst/>
          </a:prstGeom>
          <a:noFill/>
          <a:ln w="9525">
            <a:noFill/>
          </a:ln>
        </p:spPr>
        <p:txBody>
          <a:bodyPr anchor="t">
            <a:spAutoFit/>
          </a:bodyPr>
          <a:p>
            <a:pPr eaLnBrk="0" hangingPunct="0"/>
            <a:r>
              <a:rPr lang="zh-CN" altLang="en-US" sz="1400" dirty="0">
                <a:latin typeface="Times New Roman" panose="02020603050405020304" pitchFamily="18" charset="0"/>
                <a:ea typeface="宋体" panose="02010600030101010101" pitchFamily="2" charset="-122"/>
              </a:rPr>
              <a:t>调式</a:t>
            </a:r>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大调</a:t>
            </a:r>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小调</a:t>
            </a:r>
            <a:endParaRPr lang="zh-CN" altLang="en-US" sz="1400" dirty="0">
              <a:latin typeface="Times New Roman" panose="02020603050405020304" pitchFamily="18" charset="0"/>
              <a:ea typeface="宋体" panose="02010600030101010101" pitchFamily="2" charset="-122"/>
            </a:endParaRPr>
          </a:p>
        </p:txBody>
      </p:sp>
      <p:sp>
        <p:nvSpPr>
          <p:cNvPr id="36879" name="矩形 31"/>
          <p:cNvSpPr/>
          <p:nvPr/>
        </p:nvSpPr>
        <p:spPr>
          <a:xfrm>
            <a:off x="6865938" y="4014788"/>
            <a:ext cx="360362" cy="307975"/>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36880" name="Rectangle 3"/>
          <p:cNvSpPr txBox="1"/>
          <p:nvPr/>
        </p:nvSpPr>
        <p:spPr>
          <a:xfrm>
            <a:off x="166688" y="2103438"/>
            <a:ext cx="49101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乐汇的分类</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流程图: 磁盘 3"/>
          <p:cNvSpPr/>
          <p:nvPr/>
        </p:nvSpPr>
        <p:spPr>
          <a:xfrm>
            <a:off x="4859338" y="2817813"/>
            <a:ext cx="2736850" cy="6127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sz="20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乐汇数据库</a:t>
            </a:r>
            <a:endParaRPr kumimoji="0" lang="zh-CN" altLang="en-US" sz="2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 name="流程图: 磁盘 4"/>
          <p:cNvSpPr/>
          <p:nvPr/>
        </p:nvSpPr>
        <p:spPr>
          <a:xfrm>
            <a:off x="3756025" y="3970338"/>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1</a:t>
            </a:r>
            <a:endParaRPr kumimoji="0" lang="zh-CN" altLang="en-US" sz="1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流程图: 磁盘 22"/>
          <p:cNvSpPr/>
          <p:nvPr/>
        </p:nvSpPr>
        <p:spPr>
          <a:xfrm>
            <a:off x="5467350" y="3962400"/>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2</a:t>
            </a:r>
            <a:endParaRPr kumimoji="0" lang="zh-CN" altLang="en-US" sz="10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流程图: 磁盘 23"/>
          <p:cNvSpPr/>
          <p:nvPr/>
        </p:nvSpPr>
        <p:spPr>
          <a:xfrm>
            <a:off x="7235825" y="3962400"/>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0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1"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rPr>
              <a:t>N</a:t>
            </a:r>
            <a:endParaRPr kumimoji="0" lang="zh-CN" altLang="en-US" sz="1000" b="0" i="1"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25" name="直接连接符 24"/>
          <p:cNvCxnSpPr/>
          <p:nvPr/>
        </p:nvCxnSpPr>
        <p:spPr>
          <a:xfrm>
            <a:off x="4456113" y="3703638"/>
            <a:ext cx="3498850"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460875" y="3703638"/>
            <a:ext cx="1588"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958138" y="3735388"/>
            <a:ext cx="0"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188075" y="3721100"/>
            <a:ext cx="1588"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186488" y="3462338"/>
            <a:ext cx="1588" cy="28257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8924" name="矩形 30"/>
          <p:cNvSpPr/>
          <p:nvPr/>
        </p:nvSpPr>
        <p:spPr>
          <a:xfrm>
            <a:off x="3851275" y="5538788"/>
            <a:ext cx="2589213" cy="306705"/>
          </a:xfrm>
          <a:prstGeom prst="rect">
            <a:avLst/>
          </a:prstGeom>
          <a:noFill/>
          <a:ln w="9525">
            <a:noFill/>
          </a:ln>
        </p:spPr>
        <p:txBody>
          <a:bodyPr anchor="t">
            <a:spAutoFit/>
          </a:bodyPr>
          <a:p>
            <a:pPr eaLnBrk="0" hangingPunct="0"/>
            <a:r>
              <a:rPr lang="zh-CN" altLang="en-US" sz="1400" dirty="0">
                <a:latin typeface="Times New Roman" panose="02020603050405020304" pitchFamily="18" charset="0"/>
                <a:ea typeface="宋体" panose="02010600030101010101" pitchFamily="2" charset="-122"/>
                <a:sym typeface="+mn-ea"/>
              </a:rPr>
              <a:t>节拍：</a:t>
            </a:r>
            <a:r>
              <a:rPr lang="en-US" altLang="zh-CN" sz="1400" dirty="0">
                <a:latin typeface="Times New Roman" panose="02020603050405020304" pitchFamily="18" charset="0"/>
                <a:ea typeface="宋体" panose="02010600030101010101" pitchFamily="2" charset="-122"/>
                <a:sym typeface="+mn-ea"/>
              </a:rPr>
              <a:t> 2/4,3/4, 4/4</a:t>
            </a:r>
            <a:r>
              <a:rPr lang="zh-CN" altLang="en-US" sz="1400" dirty="0">
                <a:latin typeface="Times New Roman" panose="02020603050405020304" pitchFamily="18" charset="0"/>
                <a:ea typeface="宋体" panose="02010600030101010101" pitchFamily="2" charset="-122"/>
                <a:sym typeface="+mn-ea"/>
              </a:rPr>
              <a:t>，散板</a:t>
            </a:r>
            <a:endParaRPr lang="en-US" altLang="zh-CN" sz="1400" dirty="0">
              <a:latin typeface="Times New Roman" panose="02020603050405020304" pitchFamily="18" charset="0"/>
              <a:ea typeface="宋体" panose="02010600030101010101" pitchFamily="2" charset="-122"/>
            </a:endParaRPr>
          </a:p>
        </p:txBody>
      </p:sp>
      <p:sp>
        <p:nvSpPr>
          <p:cNvPr id="38925" name="矩形 31"/>
          <p:cNvSpPr/>
          <p:nvPr/>
        </p:nvSpPr>
        <p:spPr>
          <a:xfrm>
            <a:off x="3851275" y="5895975"/>
            <a:ext cx="2589213" cy="306705"/>
          </a:xfrm>
          <a:prstGeom prst="rect">
            <a:avLst/>
          </a:prstGeom>
          <a:noFill/>
          <a:ln w="9525">
            <a:noFill/>
          </a:ln>
        </p:spPr>
        <p:txBody>
          <a:bodyPr anchor="t">
            <a:spAutoFit/>
          </a:bodyPr>
          <a:p>
            <a:pPr eaLnBrk="0" hangingPunct="0"/>
            <a:r>
              <a:rPr lang="zh-CN" altLang="en-US" sz="1400" dirty="0">
                <a:latin typeface="Times New Roman" panose="02020603050405020304" pitchFamily="18" charset="0"/>
                <a:ea typeface="宋体" panose="02010600030101010101" pitchFamily="2" charset="-122"/>
                <a:sym typeface="+mn-ea"/>
              </a:rPr>
              <a:t>调式</a:t>
            </a:r>
            <a:r>
              <a:rPr lang="en-US" altLang="zh-CN" sz="1400" dirty="0">
                <a:latin typeface="Times New Roman" panose="02020603050405020304" pitchFamily="18" charset="0"/>
                <a:ea typeface="宋体" panose="02010600030101010101" pitchFamily="2" charset="-122"/>
                <a:sym typeface="+mn-ea"/>
              </a:rPr>
              <a:t>:  </a:t>
            </a:r>
            <a:r>
              <a:rPr lang="zh-CN" altLang="en-US" sz="1400" dirty="0">
                <a:latin typeface="Times New Roman" panose="02020603050405020304" pitchFamily="18" charset="0"/>
                <a:ea typeface="宋体" panose="02010600030101010101" pitchFamily="2" charset="-122"/>
                <a:sym typeface="+mn-ea"/>
              </a:rPr>
              <a:t>大调</a:t>
            </a:r>
            <a:r>
              <a:rPr lang="en-US" altLang="zh-CN" sz="1400" dirty="0">
                <a:latin typeface="Times New Roman" panose="02020603050405020304" pitchFamily="18" charset="0"/>
                <a:ea typeface="宋体" panose="02010600030101010101" pitchFamily="2" charset="-122"/>
                <a:sym typeface="+mn-ea"/>
              </a:rPr>
              <a:t>, </a:t>
            </a:r>
            <a:r>
              <a:rPr lang="zh-CN" altLang="en-US" sz="1400" dirty="0">
                <a:latin typeface="Times New Roman" panose="02020603050405020304" pitchFamily="18" charset="0"/>
                <a:ea typeface="宋体" panose="02010600030101010101" pitchFamily="2" charset="-122"/>
                <a:sym typeface="+mn-ea"/>
              </a:rPr>
              <a:t>小调</a:t>
            </a:r>
            <a:endParaRPr lang="en-US" altLang="zh-CN" sz="1400" dirty="0">
              <a:latin typeface="Times New Roman" panose="02020603050405020304" pitchFamily="18" charset="0"/>
              <a:ea typeface="宋体" panose="02010600030101010101" pitchFamily="2" charset="-122"/>
            </a:endParaRPr>
          </a:p>
        </p:txBody>
      </p:sp>
      <p:sp>
        <p:nvSpPr>
          <p:cNvPr id="38926" name="矩形 31"/>
          <p:cNvSpPr/>
          <p:nvPr/>
        </p:nvSpPr>
        <p:spPr>
          <a:xfrm>
            <a:off x="6865938" y="4014788"/>
            <a:ext cx="360362" cy="307975"/>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38928" name="矩形 29"/>
          <p:cNvSpPr/>
          <p:nvPr/>
        </p:nvSpPr>
        <p:spPr>
          <a:xfrm>
            <a:off x="403225" y="2841625"/>
            <a:ext cx="3376613" cy="2676525"/>
          </a:xfrm>
          <a:prstGeom prst="rect">
            <a:avLst/>
          </a:prstGeom>
          <a:noFill/>
          <a:ln w="9525">
            <a:noFill/>
          </a:ln>
        </p:spPr>
        <p:txBody>
          <a:bodyPr anchor="t">
            <a:spAutoFit/>
          </a:bodyPr>
          <a:p>
            <a:pPr eaLnBrk="0" hangingPunct="0"/>
            <a:r>
              <a:rPr lang="en-US" altLang="zh-CN" sz="2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我们认为，如果将两个旋律的旋律短语归为同一个旋律短语子集，那么它们的创作目标是一致的。这是因为他们的情感色彩、</a:t>
            </a:r>
            <a:r>
              <a:rPr lang="zh-CN" altLang="en-US" sz="2400" dirty="0">
                <a:latin typeface="Times New Roman" panose="02020603050405020304" pitchFamily="18" charset="0"/>
                <a:ea typeface="宋体" panose="02010600030101010101" pitchFamily="2" charset="-122"/>
              </a:rPr>
              <a:t>节拍</a:t>
            </a:r>
            <a:r>
              <a:rPr lang="en-US" altLang="zh-CN" sz="2400" dirty="0">
                <a:latin typeface="Times New Roman" panose="02020603050405020304" pitchFamily="18" charset="0"/>
                <a:ea typeface="宋体" panose="02010600030101010101" pitchFamily="2" charset="-122"/>
              </a:rPr>
              <a:t>和调式是一样的。</a:t>
            </a:r>
            <a:endParaRPr lang="en-US" altLang="zh-CN" sz="2400"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36880" name="Rectangle 3"/>
          <p:cNvSpPr txBox="1"/>
          <p:nvPr/>
        </p:nvSpPr>
        <p:spPr>
          <a:xfrm>
            <a:off x="166688" y="2103438"/>
            <a:ext cx="49101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乐汇的分类</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6876" name="矩形 29"/>
          <p:cNvSpPr/>
          <p:nvPr/>
        </p:nvSpPr>
        <p:spPr>
          <a:xfrm>
            <a:off x="3851910" y="5042535"/>
            <a:ext cx="4972685" cy="306705"/>
          </a:xfrm>
          <a:prstGeom prst="rect">
            <a:avLst/>
          </a:prstGeom>
          <a:noFill/>
          <a:ln w="9525">
            <a:noFill/>
          </a:ln>
        </p:spPr>
        <p:txBody>
          <a:bodyPr wrap="square" anchor="t">
            <a:spAutoFit/>
          </a:bodyPr>
          <a:p>
            <a:pPr eaLnBrk="0" hangingPunct="0"/>
            <a:r>
              <a:rPr lang="en-US" altLang="zh-CN" sz="1400" dirty="0">
                <a:latin typeface="Times New Roman" panose="02020603050405020304" pitchFamily="18" charset="0"/>
                <a:ea typeface="宋体" panose="02010600030101010101" pitchFamily="2" charset="-122"/>
              </a:rPr>
              <a:t>情感色彩：抒情婉约，豪迈舒缓，悲伤忧郁，欢快热情</a:t>
            </a:r>
            <a:endParaRPr lang="en-US" altLang="zh-CN" sz="14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3"/>
          <p:cNvSpPr>
            <a:spLocks noGrp="1"/>
          </p:cNvSpPr>
          <p:nvPr>
            <p:ph idx="1"/>
          </p:nvPr>
        </p:nvSpPr>
        <p:spPr>
          <a:xfrm>
            <a:off x="361950" y="2630488"/>
            <a:ext cx="2898775" cy="2663825"/>
          </a:xfrm>
        </p:spPr>
        <p:txBody>
          <a:bodyPr vert="horz" wrap="square" lIns="91440" tIns="45720" rIns="91440" bIns="45720" anchor="t"/>
          <a:p>
            <a:pPr marL="0" indent="0" eaLnBrk="1" hangingPunct="1">
              <a:buNone/>
            </a:pPr>
            <a:r>
              <a:rPr lang="en-US" altLang="zh-CN" sz="2800" dirty="0">
                <a:ea typeface="楷体_GB2312" pitchFamily="49" charset="-122"/>
              </a:rPr>
              <a:t>       </a:t>
            </a:r>
            <a:r>
              <a:rPr lang="zh-CN" altLang="en-US" sz="2400" dirty="0">
                <a:ea typeface="楷体_GB2312" pitchFamily="49" charset="-122"/>
              </a:rPr>
              <a:t>通过在</a:t>
            </a:r>
            <a:r>
              <a:rPr lang="zh-CN" altLang="en-US" sz="2400" dirty="0">
                <a:ea typeface="楷体_GB2312" pitchFamily="49" charset="-122"/>
                <a:sym typeface="+mn-ea"/>
              </a:rPr>
              <a:t>同一乐汇子集合中，</a:t>
            </a:r>
            <a:r>
              <a:rPr lang="zh-CN" altLang="en-US" sz="2400" dirty="0">
                <a:ea typeface="楷体_GB2312" pitchFamily="49" charset="-122"/>
              </a:rPr>
              <a:t>相</a:t>
            </a:r>
            <a:r>
              <a:rPr lang="zh-CN" altLang="en-US" sz="2400" dirty="0">
                <a:ea typeface="楷体_GB2312" pitchFamily="49" charset="-122"/>
                <a:sym typeface="+mn-ea"/>
              </a:rPr>
              <a:t>互</a:t>
            </a:r>
            <a:r>
              <a:rPr lang="zh-CN" altLang="en-US" sz="2400" dirty="0">
                <a:ea typeface="楷体_GB2312" pitchFamily="49" charset="-122"/>
              </a:rPr>
              <a:t>交换具有相同非休止符音符数的</a:t>
            </a:r>
            <a:r>
              <a:rPr lang="zh-CN" altLang="en-US" sz="2400" dirty="0">
                <a:ea typeface="楷体_GB2312" pitchFamily="49" charset="-122"/>
                <a:sym typeface="+mn-ea"/>
              </a:rPr>
              <a:t>二</a:t>
            </a:r>
            <a:r>
              <a:rPr lang="zh-CN" altLang="en-US" sz="2400" dirty="0">
                <a:ea typeface="楷体_GB2312" pitchFamily="49" charset="-122"/>
                <a:sym typeface="+mn-ea"/>
              </a:rPr>
              <a:t>个</a:t>
            </a:r>
            <a:r>
              <a:rPr lang="zh-CN" altLang="en-US" sz="2400" dirty="0">
                <a:ea typeface="楷体_GB2312" pitchFamily="49" charset="-122"/>
                <a:sym typeface="+mn-ea"/>
              </a:rPr>
              <a:t>乐汇中音符的调性音级或时值，就可以得到一个新的乐汇。</a:t>
            </a:r>
            <a:endParaRPr lang="zh-CN" altLang="en-US" sz="2400" dirty="0">
              <a:ea typeface="楷体_GB2312" pitchFamily="49" charset="-122"/>
              <a:sym typeface="+mn-ea"/>
            </a:endParaRPr>
          </a:p>
          <a:p>
            <a:pPr marL="0" indent="0" eaLnBrk="1" hangingPunct="1">
              <a:buNone/>
            </a:pPr>
            <a:r>
              <a:rPr lang="en-US" altLang="zh-CN" sz="2400" dirty="0">
                <a:ea typeface="宋体" panose="02010600030101010101" pitchFamily="2" charset="-122"/>
              </a:rPr>
              <a:t>        </a:t>
            </a:r>
            <a:r>
              <a:rPr lang="zh-CN" altLang="en-US" sz="2400" dirty="0">
                <a:ea typeface="宋体" panose="02010600030101010101" pitchFamily="2" charset="-122"/>
              </a:rPr>
              <a:t>具体</a:t>
            </a:r>
            <a:r>
              <a:rPr lang="zh-CN" altLang="en-US" sz="2400" dirty="0">
                <a:ea typeface="宋体" panose="02010600030101010101" pitchFamily="2" charset="-122"/>
                <a:sym typeface="+mn-ea"/>
              </a:rPr>
              <a:t>例示如</a:t>
            </a:r>
            <a:r>
              <a:rPr lang="zh-CN" altLang="en-US" sz="2400" dirty="0">
                <a:ea typeface="宋体" panose="02010600030101010101" pitchFamily="2" charset="-122"/>
              </a:rPr>
              <a:t>右图所示。</a:t>
            </a:r>
            <a:endParaRPr lang="zh-CN" altLang="en-US" sz="2400" dirty="0">
              <a:ea typeface="宋体" panose="02010600030101010101" pitchFamily="2" charset="-122"/>
            </a:endParaRPr>
          </a:p>
        </p:txBody>
      </p:sp>
      <p:sp>
        <p:nvSpPr>
          <p:cNvPr id="5" name="流程图: 磁盘 4"/>
          <p:cNvSpPr/>
          <p:nvPr/>
        </p:nvSpPr>
        <p:spPr>
          <a:xfrm>
            <a:off x="3390900" y="2974975"/>
            <a:ext cx="16287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8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1</a:t>
            </a:r>
            <a:endParaRPr kumimoji="0" lang="zh-CN" altLang="en-US" sz="8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流程图: 磁盘 22"/>
          <p:cNvSpPr/>
          <p:nvPr/>
        </p:nvSpPr>
        <p:spPr>
          <a:xfrm>
            <a:off x="5321300" y="2982913"/>
            <a:ext cx="1608138"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800" b="0" i="1" u="none" strike="noStrike" kern="1200" cap="none" spc="0" normalizeH="0" baseline="0" noProof="0" dirty="0" err="1" smtClean="0">
                <a:ln>
                  <a:noFill/>
                </a:ln>
                <a:solidFill>
                  <a:srgbClr val="FFFFFF"/>
                </a:solidFill>
                <a:effectLst/>
                <a:uLnTx/>
                <a:uFillTx/>
                <a:latin typeface="Times New Roman" panose="02020603050405020304" pitchFamily="18" charset="0"/>
                <a:ea typeface="宋体" panose="02010600030101010101" pitchFamily="2" charset="-122"/>
                <a:cs typeface="+mn-cs"/>
              </a:rPr>
              <a:t>i</a:t>
            </a:r>
            <a:endParaRPr kumimoji="0" lang="zh-CN" alt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流程图: 磁盘 23"/>
          <p:cNvSpPr/>
          <p:nvPr/>
        </p:nvSpPr>
        <p:spPr>
          <a:xfrm>
            <a:off x="7232650" y="2974975"/>
            <a:ext cx="17049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1" u="none" strike="noStrike" kern="1200" cap="none" spc="0" normalizeH="0" baseline="0" noProof="0" dirty="0" err="1" smtClean="0">
                <a:ln>
                  <a:noFill/>
                </a:ln>
                <a:solidFill>
                  <a:srgbClr val="FFFFFF"/>
                </a:solidFill>
                <a:effectLst/>
                <a:uLnTx/>
                <a:uFillTx/>
                <a:latin typeface="Times New Roman" panose="02020603050405020304" pitchFamily="18" charset="0"/>
                <a:ea typeface="宋体" panose="02010600030101010101" pitchFamily="2" charset="-122"/>
                <a:cs typeface="+mn-cs"/>
              </a:rPr>
              <a:t>N</a:t>
            </a:r>
            <a:endParaRPr kumimoji="0" lang="zh-CN" altLang="en-US" sz="10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39942" name="矩形 30"/>
          <p:cNvSpPr/>
          <p:nvPr/>
        </p:nvSpPr>
        <p:spPr>
          <a:xfrm>
            <a:off x="3444875" y="4692650"/>
            <a:ext cx="2745105" cy="706755"/>
          </a:xfrm>
          <a:prstGeom prst="rect">
            <a:avLst/>
          </a:prstGeom>
          <a:noFill/>
          <a:ln w="9525">
            <a:noFill/>
          </a:ln>
        </p:spPr>
        <p:txBody>
          <a:bodyPr wrap="square" anchor="t">
            <a:spAutoFit/>
          </a:bodyPr>
          <a:p>
            <a:pPr eaLnBrk="0" hangingPunct="0"/>
            <a:r>
              <a:rPr lang="zh-CN" altLang="en-US" sz="2000" dirty="0">
                <a:latin typeface="Times New Roman" panose="02020603050405020304" pitchFamily="18" charset="0"/>
                <a:ea typeface="宋体" panose="02010600030101010101" pitchFamily="2" charset="-122"/>
              </a:rPr>
              <a:t>复制旋律线（音符的调性音级序列）</a:t>
            </a:r>
            <a:r>
              <a:rPr lang="en-US" altLang="zh-CN" sz="2000" dirty="0">
                <a:latin typeface="Times New Roman" panose="02020603050405020304" pitchFamily="18" charset="0"/>
                <a:ea typeface="宋体" panose="02010600030101010101" pitchFamily="2" charset="-122"/>
              </a:rPr>
              <a:t>5, 1, 3, 1</a:t>
            </a:r>
            <a:endParaRPr lang="en-US" altLang="zh-CN" sz="2000" dirty="0">
              <a:latin typeface="Times New Roman" panose="02020603050405020304" pitchFamily="18" charset="0"/>
              <a:ea typeface="宋体" panose="02010600030101010101" pitchFamily="2" charset="-122"/>
            </a:endParaRPr>
          </a:p>
        </p:txBody>
      </p:sp>
      <p:sp>
        <p:nvSpPr>
          <p:cNvPr id="39943" name="矩形 31"/>
          <p:cNvSpPr/>
          <p:nvPr/>
        </p:nvSpPr>
        <p:spPr>
          <a:xfrm>
            <a:off x="3672205" y="5473700"/>
            <a:ext cx="2038350" cy="398780"/>
          </a:xfrm>
          <a:prstGeom prst="rect">
            <a:avLst/>
          </a:prstGeom>
          <a:noFill/>
          <a:ln w="9525">
            <a:noFill/>
          </a:ln>
        </p:spPr>
        <p:txBody>
          <a:bodyPr wrap="square" anchor="t">
            <a:spAutoFit/>
          </a:bodyPr>
          <a:p>
            <a:pPr eaLnBrk="0" hangingPunct="0"/>
            <a:r>
              <a:rPr lang="zh-CN" altLang="en-US" sz="2000" dirty="0">
                <a:latin typeface="Times New Roman" panose="02020603050405020304" pitchFamily="18" charset="0"/>
                <a:ea typeface="宋体" panose="02010600030101010101" pitchFamily="2" charset="-122"/>
              </a:rPr>
              <a:t>构造的新乐汇</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pic>
        <p:nvPicPr>
          <p:cNvPr id="39944" name="图片 15"/>
          <p:cNvPicPr>
            <a:picLocks noChangeAspect="1"/>
          </p:cNvPicPr>
          <p:nvPr/>
        </p:nvPicPr>
        <p:blipFill>
          <a:blip r:embed="rId1"/>
          <a:stretch>
            <a:fillRect/>
          </a:stretch>
        </p:blipFill>
        <p:spPr>
          <a:xfrm>
            <a:off x="5573713" y="5449888"/>
            <a:ext cx="2238375" cy="479425"/>
          </a:xfrm>
          <a:prstGeom prst="rect">
            <a:avLst/>
          </a:prstGeom>
          <a:noFill/>
          <a:ln w="9525">
            <a:noFill/>
          </a:ln>
        </p:spPr>
      </p:pic>
      <p:pic>
        <p:nvPicPr>
          <p:cNvPr id="39945" name="图片 17"/>
          <p:cNvPicPr>
            <a:picLocks noChangeAspect="1"/>
          </p:cNvPicPr>
          <p:nvPr/>
        </p:nvPicPr>
        <p:blipFill>
          <a:blip r:embed="rId2"/>
          <a:stretch>
            <a:fillRect/>
          </a:stretch>
        </p:blipFill>
        <p:spPr>
          <a:xfrm>
            <a:off x="3711575" y="4041775"/>
            <a:ext cx="2635250" cy="331788"/>
          </a:xfrm>
          <a:prstGeom prst="rect">
            <a:avLst/>
          </a:prstGeom>
          <a:noFill/>
          <a:ln w="9525">
            <a:noFill/>
          </a:ln>
        </p:spPr>
      </p:pic>
      <p:sp>
        <p:nvSpPr>
          <p:cNvPr id="39946" name="矩形 31"/>
          <p:cNvSpPr/>
          <p:nvPr/>
        </p:nvSpPr>
        <p:spPr>
          <a:xfrm>
            <a:off x="6921500" y="3036888"/>
            <a:ext cx="360363" cy="307975"/>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cxnSp>
        <p:nvCxnSpPr>
          <p:cNvPr id="20" name="直接箭头连接符 19"/>
          <p:cNvCxnSpPr/>
          <p:nvPr/>
        </p:nvCxnSpPr>
        <p:spPr>
          <a:xfrm flipH="1">
            <a:off x="5083175" y="3448050"/>
            <a:ext cx="1143000" cy="541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6329363" y="3427413"/>
            <a:ext cx="1236663" cy="5334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029200" y="4681538"/>
            <a:ext cx="2782888" cy="158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076825" y="4378325"/>
            <a:ext cx="0" cy="282575"/>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759700" y="4387850"/>
            <a:ext cx="0" cy="284163"/>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9952" name="矩形 31"/>
          <p:cNvSpPr/>
          <p:nvPr/>
        </p:nvSpPr>
        <p:spPr>
          <a:xfrm>
            <a:off x="5019675" y="3049588"/>
            <a:ext cx="360363" cy="307975"/>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39953" name="矩形 30"/>
          <p:cNvSpPr/>
          <p:nvPr/>
        </p:nvSpPr>
        <p:spPr>
          <a:xfrm>
            <a:off x="6484620" y="4669155"/>
            <a:ext cx="2731135" cy="706755"/>
          </a:xfrm>
          <a:prstGeom prst="rect">
            <a:avLst/>
          </a:prstGeom>
          <a:noFill/>
          <a:ln w="9525">
            <a:noFill/>
          </a:ln>
        </p:spPr>
        <p:txBody>
          <a:bodyPr wrap="square" anchor="t">
            <a:spAutoFit/>
          </a:bodyPr>
          <a:p>
            <a:pPr eaLnBrk="0" hangingPunct="0"/>
            <a:r>
              <a:rPr lang="zh-CN" altLang="en-US" sz="2000" dirty="0">
                <a:latin typeface="Times New Roman" panose="02020603050405020304" pitchFamily="18" charset="0"/>
                <a:ea typeface="宋体" panose="02010600030101010101" pitchFamily="2" charset="-122"/>
              </a:rPr>
              <a:t>复制节奏（音符的时值序列）</a:t>
            </a:r>
            <a:r>
              <a:rPr lang="en-US" altLang="zh-CN" sz="2000" dirty="0">
                <a:latin typeface="Times New Roman" panose="02020603050405020304" pitchFamily="18" charset="0"/>
                <a:ea typeface="宋体" panose="02010600030101010101" pitchFamily="2" charset="-122"/>
              </a:rPr>
              <a:t>1.5, 0.5, 0.5, 0.5</a:t>
            </a:r>
            <a:endParaRPr lang="en-US" altLang="zh-CN" sz="2000" dirty="0">
              <a:latin typeface="Times New Roman" panose="02020603050405020304" pitchFamily="18" charset="0"/>
              <a:ea typeface="宋体" panose="02010600030101010101" pitchFamily="2" charset="-122"/>
            </a:endParaRPr>
          </a:p>
        </p:txBody>
      </p:sp>
      <p:sp>
        <p:nvSpPr>
          <p:cNvPr id="39954" name="Rectangle 3"/>
          <p:cNvSpPr txBox="1"/>
          <p:nvPr/>
        </p:nvSpPr>
        <p:spPr>
          <a:xfrm>
            <a:off x="166688" y="2103438"/>
            <a:ext cx="518477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新乐汇的构造方法</a:t>
            </a:r>
            <a:endParaRPr lang="zh-CN" altLang="en-US" sz="2400" dirty="0">
              <a:solidFill>
                <a:srgbClr val="FFC000"/>
              </a:solidFill>
              <a:latin typeface="Times New Roman" panose="02020603050405020304" pitchFamily="18" charset="0"/>
              <a:ea typeface="宋体" panose="02010600030101010101" pitchFamily="2" charset="-122"/>
            </a:endParaRPr>
          </a:p>
        </p:txBody>
      </p:sp>
      <p:pic>
        <p:nvPicPr>
          <p:cNvPr id="39955" name="图片 1"/>
          <p:cNvPicPr>
            <a:picLocks noChangeAspect="1"/>
          </p:cNvPicPr>
          <p:nvPr/>
        </p:nvPicPr>
        <p:blipFill>
          <a:blip r:embed="rId3"/>
          <a:stretch>
            <a:fillRect/>
          </a:stretch>
        </p:blipFill>
        <p:spPr>
          <a:xfrm>
            <a:off x="7056438" y="3983038"/>
            <a:ext cx="1511300" cy="455612"/>
          </a:xfrm>
          <a:prstGeom prst="rect">
            <a:avLst/>
          </a:prstGeom>
          <a:noFill/>
          <a:ln w="9525">
            <a:noFill/>
          </a:ln>
        </p:spPr>
      </p:pic>
      <p:cxnSp>
        <p:nvCxnSpPr>
          <p:cNvPr id="39956" name="直接箭头连接符 5"/>
          <p:cNvCxnSpPr/>
          <p:nvPr/>
        </p:nvCxnSpPr>
        <p:spPr>
          <a:xfrm>
            <a:off x="6421438" y="4724400"/>
            <a:ext cx="22225" cy="679450"/>
          </a:xfrm>
          <a:prstGeom prst="straightConnector1">
            <a:avLst/>
          </a:prstGeom>
          <a:ln w="76200" cap="flat" cmpd="sng">
            <a:solidFill>
              <a:schemeClr val="accent1"/>
            </a:solidFill>
            <a:prstDash val="solid"/>
            <a:round/>
            <a:headEnd type="none" w="med" len="med"/>
            <a:tailEnd type="triangle" w="med" len="med"/>
          </a:ln>
        </p:spPr>
      </p:cxnSp>
      <p:sp>
        <p:nvSpPr>
          <p:cNvPr id="39957" name="矩形 30"/>
          <p:cNvSpPr/>
          <p:nvPr/>
        </p:nvSpPr>
        <p:spPr>
          <a:xfrm>
            <a:off x="4785995" y="5905500"/>
            <a:ext cx="3616325" cy="1014730"/>
          </a:xfrm>
          <a:prstGeom prst="rect">
            <a:avLst/>
          </a:prstGeom>
          <a:noFill/>
          <a:ln w="9525">
            <a:noFill/>
          </a:ln>
        </p:spPr>
        <p:txBody>
          <a:bodyPr wrap="square" anchor="t">
            <a:spAutoFit/>
          </a:bodyPr>
          <a:p>
            <a:pPr eaLnBrk="0" hangingPunct="0"/>
            <a:r>
              <a:rPr lang="zh-CN" altLang="en-US" sz="2000" dirty="0">
                <a:latin typeface="Times New Roman" panose="02020603050405020304" pitchFamily="18" charset="0"/>
                <a:ea typeface="宋体" panose="02010600030101010101" pitchFamily="2" charset="-122"/>
              </a:rPr>
              <a:t>新乐汇的旋律线</a:t>
            </a:r>
            <a:r>
              <a:rPr lang="en-US" altLang="zh-CN" sz="2000" dirty="0">
                <a:latin typeface="Times New Roman" panose="02020603050405020304" pitchFamily="18" charset="0"/>
                <a:ea typeface="宋体" panose="02010600030101010101" pitchFamily="2" charset="-122"/>
              </a:rPr>
              <a:t>=5, 1, 3, 1</a:t>
            </a:r>
            <a:endParaRPr lang="en-US" altLang="zh-CN" sz="2000" dirty="0">
              <a:latin typeface="Times New Roman" panose="02020603050405020304" pitchFamily="18" charset="0"/>
              <a:ea typeface="宋体" panose="02010600030101010101" pitchFamily="2" charset="-122"/>
            </a:endParaRPr>
          </a:p>
          <a:p>
            <a:pPr eaLnBrk="0" hangingPunct="0"/>
            <a:r>
              <a:rPr lang="zh-CN" altLang="en-US" sz="2000" dirty="0">
                <a:latin typeface="Times New Roman" panose="02020603050405020304" pitchFamily="18" charset="0"/>
                <a:ea typeface="宋体" panose="02010600030101010101" pitchFamily="2" charset="-122"/>
              </a:rPr>
              <a:t>新乐汇的节奏</a:t>
            </a:r>
            <a:r>
              <a:rPr lang="en-US" altLang="zh-CN" sz="2000" dirty="0">
                <a:latin typeface="Times New Roman" panose="02020603050405020304" pitchFamily="18" charset="0"/>
                <a:ea typeface="宋体" panose="02010600030101010101" pitchFamily="2" charset="-122"/>
              </a:rPr>
              <a:t>=1.5, 0.5, 0.5, 0.5</a:t>
            </a:r>
            <a:endParaRPr lang="en-US" altLang="zh-CN" sz="2000" dirty="0">
              <a:latin typeface="Times New Roman" panose="02020603050405020304" pitchFamily="18" charset="0"/>
              <a:ea typeface="宋体" panose="02010600030101010101" pitchFamily="2" charset="-122"/>
            </a:endParaRPr>
          </a:p>
          <a:p>
            <a:pPr eaLnBrk="0" hangingPunct="0"/>
            <a:endParaRPr lang="en-US" altLang="zh-CN" sz="2000" dirty="0">
              <a:latin typeface="Times New Roman" panose="02020603050405020304" pitchFamily="18" charset="0"/>
              <a:ea typeface="宋体" panose="02010600030101010101" pitchFamily="2" charset="-122"/>
            </a:endParaRPr>
          </a:p>
        </p:txBody>
      </p:sp>
      <p:sp>
        <p:nvSpPr>
          <p:cNvPr id="39958" name="云形标注 1"/>
          <p:cNvSpPr/>
          <p:nvPr/>
        </p:nvSpPr>
        <p:spPr>
          <a:xfrm flipH="1" flipV="1">
            <a:off x="2949575" y="3006725"/>
            <a:ext cx="6159500" cy="3849688"/>
          </a:xfrm>
          <a:prstGeom prst="cloudCallout">
            <a:avLst>
              <a:gd name="adj1" fmla="val -20833"/>
              <a:gd name="adj2" fmla="val 62500"/>
            </a:avLst>
          </a:prstGeom>
          <a:noFill/>
          <a:ln w="9525" cap="flat" cmpd="sng">
            <a:solidFill>
              <a:srgbClr val="FF000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39959" name="矩形 31"/>
          <p:cNvSpPr/>
          <p:nvPr/>
        </p:nvSpPr>
        <p:spPr>
          <a:xfrm>
            <a:off x="4388485" y="2013585"/>
            <a:ext cx="4575810" cy="398780"/>
          </a:xfrm>
          <a:prstGeom prst="rect">
            <a:avLst/>
          </a:prstGeom>
          <a:noFill/>
          <a:ln w="9525">
            <a:noFill/>
          </a:ln>
        </p:spPr>
        <p:txBody>
          <a:bodyPr wrap="square" anchor="t">
            <a:spAutoFit/>
          </a:bodyPr>
          <a:p>
            <a:pPr eaLnBrk="0" hangingPunct="0"/>
            <a:r>
              <a:rPr lang="zh-CN" altLang="en-GB" sz="2000" i="1" dirty="0">
                <a:solidFill>
                  <a:srgbClr val="FF0000"/>
                </a:solidFill>
                <a:latin typeface="Times New Roman" panose="02020603050405020304" pitchFamily="18" charset="0"/>
                <a:ea typeface="宋体" panose="02010600030101010101" pitchFamily="2" charset="-122"/>
              </a:rPr>
              <a:t>交换非休止符音符的调性音级或时值</a:t>
            </a:r>
            <a:endParaRPr lang="zh-CN" altLang="en-GB" sz="2000" i="1" dirty="0">
              <a:solidFill>
                <a:srgbClr val="FF0000"/>
              </a:solidFill>
              <a:latin typeface="Times New Roman" panose="02020603050405020304" pitchFamily="18" charset="0"/>
              <a:ea typeface="宋体" panose="02010600030101010101" pitchFamily="2" charset="-122"/>
            </a:endParaRPr>
          </a:p>
        </p:txBody>
      </p:sp>
      <p:sp>
        <p:nvSpPr>
          <p:cNvPr id="39960" name="矩形 31"/>
          <p:cNvSpPr/>
          <p:nvPr/>
        </p:nvSpPr>
        <p:spPr>
          <a:xfrm>
            <a:off x="8135938" y="6497638"/>
            <a:ext cx="1035050" cy="398462"/>
          </a:xfrm>
          <a:prstGeom prst="rect">
            <a:avLst/>
          </a:prstGeom>
          <a:noFill/>
          <a:ln w="9525">
            <a:noFill/>
          </a:ln>
        </p:spPr>
        <p:txBody>
          <a:bodyPr anchor="t">
            <a:spAutoFit/>
          </a:bodyPr>
          <a:p>
            <a:pPr eaLnBrk="0" hangingPunct="0"/>
            <a:r>
              <a:rPr lang="en-GB" altLang="en-US" sz="2000" i="1" dirty="0">
                <a:solidFill>
                  <a:srgbClr val="FF0000"/>
                </a:solidFill>
                <a:latin typeface="Times New Roman" panose="02020603050405020304" pitchFamily="18" charset="0"/>
                <a:ea typeface="宋体" panose="02010600030101010101" pitchFamily="2" charset="-122"/>
                <a:hlinkClick r:id="rId4" action="ppaction://hlinksldjump"/>
              </a:rPr>
              <a:t>Goback</a:t>
            </a:r>
            <a:endParaRPr lang="en-GB" altLang="en-US" sz="2000" i="1" dirty="0">
              <a:solidFill>
                <a:srgbClr val="FF0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33821" name="Rectangle 3"/>
          <p:cNvSpPr txBox="1"/>
          <p:nvPr/>
        </p:nvSpPr>
        <p:spPr>
          <a:xfrm>
            <a:off x="1825625" y="6102668"/>
            <a:ext cx="1947863" cy="446087"/>
          </a:xfrm>
          <a:prstGeom prst="rect">
            <a:avLst/>
          </a:prstGeom>
          <a:noFill/>
          <a:ln w="9525">
            <a:noFill/>
          </a:ln>
        </p:spPr>
        <p:txBody>
          <a:bodyPr anchor="t"/>
          <a:p>
            <a:pPr>
              <a:spcBef>
                <a:spcPct val="20000"/>
              </a:spcBef>
            </a:pPr>
            <a:r>
              <a:rPr lang="en-GB" altLang="en-US" sz="2000" i="1" dirty="0">
                <a:latin typeface="Times New Roman" panose="02020603050405020304" pitchFamily="18" charset="0"/>
                <a:ea typeface="楷体_GB2312" pitchFamily="49" charset="-122"/>
                <a:hlinkClick r:id="rId4" action="ppaction://hlinksldjump"/>
              </a:rPr>
              <a:t>Goback</a:t>
            </a:r>
            <a:endParaRPr lang="en-GB" altLang="en-US" sz="2000" i="1" dirty="0">
              <a:latin typeface="Times New Roman" panose="02020603050405020304" pitchFamily="18" charset="0"/>
              <a:ea typeface="楷体_GB2312" pitchFamily="49" charset="-122"/>
            </a:endParaRP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矩形 42"/>
          <p:cNvSpPr/>
          <p:nvPr/>
        </p:nvSpPr>
        <p:spPr>
          <a:xfrm>
            <a:off x="5794375" y="2587625"/>
            <a:ext cx="1156970" cy="368300"/>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800" dirty="0">
                <a:latin typeface="Times New Roman" panose="02020603050405020304" pitchFamily="18" charset="0"/>
                <a:ea typeface="宋体" panose="02010600030101010101" pitchFamily="2" charset="-122"/>
              </a:rPr>
              <a:t>作曲模板</a:t>
            </a:r>
            <a:endParaRPr lang="zh-CN" sz="1800" dirty="0">
              <a:latin typeface="Times New Roman" panose="02020603050405020304" pitchFamily="18" charset="0"/>
              <a:ea typeface="宋体" panose="02010600030101010101" pitchFamily="2" charset="-122"/>
            </a:endParaRPr>
          </a:p>
        </p:txBody>
      </p:sp>
      <p:sp>
        <p:nvSpPr>
          <p:cNvPr id="40963" name="矩形 42"/>
          <p:cNvSpPr/>
          <p:nvPr/>
        </p:nvSpPr>
        <p:spPr>
          <a:xfrm>
            <a:off x="3530600" y="4672013"/>
            <a:ext cx="693738" cy="275590"/>
          </a:xfrm>
          <a:prstGeom prst="rect">
            <a:avLst/>
          </a:prstGeom>
          <a:noFill/>
          <a:ln w="9525" cap="flat" cmpd="sng">
            <a:solidFill>
              <a:srgbClr val="92D050"/>
            </a:solidFill>
            <a:prstDash val="solid"/>
            <a:miter/>
            <a:headEnd type="none" w="med" len="med"/>
            <a:tailEnd type="none" w="med" len="med"/>
          </a:ln>
        </p:spPr>
        <p:txBody>
          <a:bodyPr anchor="t">
            <a:spAutoFit/>
          </a:bodyPr>
          <a:p>
            <a:pPr eaLnBrk="0" hangingPunct="0">
              <a:spcBef>
                <a:spcPct val="20000"/>
              </a:spcBef>
            </a:pPr>
            <a:r>
              <a:rPr lang="zh-CN" sz="1200" dirty="0">
                <a:latin typeface="Times New Roman" panose="02020603050405020304" pitchFamily="18" charset="0"/>
                <a:ea typeface="宋体" panose="02010600030101010101" pitchFamily="2" charset="-122"/>
              </a:rPr>
              <a:t>乐汇</a:t>
            </a:r>
            <a:r>
              <a:rPr lang="en-US" altLang="zh-CN" sz="1200" dirty="0">
                <a:latin typeface="Times New Roman" panose="02020603050405020304" pitchFamily="18" charset="0"/>
                <a:ea typeface="宋体" panose="02010600030101010101" pitchFamily="2" charset="-122"/>
              </a:rPr>
              <a:t>1</a:t>
            </a:r>
            <a:endParaRPr lang="en-US" altLang="zh-CN" sz="1200" dirty="0">
              <a:latin typeface="Times New Roman" panose="02020603050405020304" pitchFamily="18" charset="0"/>
              <a:ea typeface="宋体" panose="02010600030101010101" pitchFamily="2" charset="-122"/>
            </a:endParaRPr>
          </a:p>
        </p:txBody>
      </p:sp>
      <p:sp>
        <p:nvSpPr>
          <p:cNvPr id="40964" name="矩形 28"/>
          <p:cNvSpPr/>
          <p:nvPr/>
        </p:nvSpPr>
        <p:spPr>
          <a:xfrm>
            <a:off x="339725" y="2736850"/>
            <a:ext cx="30734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en-US" altLang="zh-CN" sz="2000" i="1" dirty="0">
                <a:latin typeface="Times New Roman" panose="02020603050405020304" pitchFamily="18" charset="0"/>
                <a:ea typeface="宋体" panose="02010600030101010101" pitchFamily="2" charset="-122"/>
              </a:rPr>
              <a:t> </a:t>
            </a:r>
            <a:r>
              <a:rPr lang="zh-CN" altLang="en-US" sz="2000" i="1" dirty="0">
                <a:latin typeface="Times New Roman" panose="02020603050405020304" pitchFamily="18" charset="0"/>
                <a:ea typeface="宋体" panose="02010600030101010101" pitchFamily="2" charset="-122"/>
                <a:hlinkClick r:id="rId1" action="ppaction://hlinksldjump"/>
              </a:rPr>
              <a:t>乐</a:t>
            </a:r>
            <a:r>
              <a:rPr lang="zh-CN" altLang="en-US" sz="2000" i="1" dirty="0">
                <a:latin typeface="Times New Roman" panose="02020603050405020304" pitchFamily="18" charset="0"/>
                <a:ea typeface="宋体" panose="02010600030101010101" pitchFamily="2" charset="-122"/>
                <a:hlinkClick r:id="rId1" action="ppaction://hlinksldjump"/>
              </a:rPr>
              <a:t>汇</a:t>
            </a:r>
            <a:r>
              <a:rPr lang="zh-CN" altLang="en-US" sz="2000" i="1" dirty="0">
                <a:latin typeface="Times New Roman" panose="02020603050405020304" pitchFamily="18" charset="0"/>
                <a:ea typeface="宋体" panose="02010600030101010101" pitchFamily="2" charset="-122"/>
              </a:rPr>
              <a:t>间的关系</a:t>
            </a:r>
            <a:endParaRPr lang="zh-CN" altLang="en-US" sz="2000" i="1" dirty="0">
              <a:latin typeface="Times New Roman" panose="02020603050405020304" pitchFamily="18" charset="0"/>
              <a:ea typeface="宋体" panose="02010600030101010101" pitchFamily="2" charset="-122"/>
            </a:endParaRPr>
          </a:p>
        </p:txBody>
      </p:sp>
      <p:sp>
        <p:nvSpPr>
          <p:cNvPr id="40965" name="矩形 29"/>
          <p:cNvSpPr/>
          <p:nvPr/>
        </p:nvSpPr>
        <p:spPr>
          <a:xfrm>
            <a:off x="331788" y="3611563"/>
            <a:ext cx="31337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多乐汇结构</a:t>
            </a:r>
            <a:endParaRPr lang="zh-CN" altLang="en-US" sz="2000" i="1" dirty="0">
              <a:latin typeface="Times New Roman" panose="02020603050405020304" pitchFamily="18" charset="0"/>
              <a:ea typeface="宋体" panose="02010600030101010101" pitchFamily="2" charset="-122"/>
            </a:endParaRPr>
          </a:p>
        </p:txBody>
      </p:sp>
      <p:sp>
        <p:nvSpPr>
          <p:cNvPr id="40966" name="矩形 30"/>
          <p:cNvSpPr/>
          <p:nvPr/>
        </p:nvSpPr>
        <p:spPr>
          <a:xfrm>
            <a:off x="339725" y="4645025"/>
            <a:ext cx="31337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作曲模板</a:t>
            </a:r>
            <a:endParaRPr lang="zh-CN" altLang="en-US" sz="2000" i="1" dirty="0">
              <a:latin typeface="Times New Roman" panose="02020603050405020304" pitchFamily="18" charset="0"/>
              <a:ea typeface="宋体" panose="02010600030101010101" pitchFamily="2" charset="-122"/>
            </a:endParaRPr>
          </a:p>
        </p:txBody>
      </p:sp>
      <p:sp>
        <p:nvSpPr>
          <p:cNvPr id="40967" name="矩形 42"/>
          <p:cNvSpPr/>
          <p:nvPr/>
        </p:nvSpPr>
        <p:spPr>
          <a:xfrm>
            <a:off x="3996055" y="3644900"/>
            <a:ext cx="1029970" cy="275590"/>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200" dirty="0">
                <a:latin typeface="Times New Roman" panose="02020603050405020304" pitchFamily="18" charset="0"/>
                <a:ea typeface="宋体" panose="02010600030101010101" pitchFamily="2" charset="-122"/>
              </a:rPr>
              <a:t>多乐汇结构</a:t>
            </a:r>
            <a:endParaRPr lang="zh-CN" altLang="en-US" sz="1200" dirty="0">
              <a:latin typeface="Times New Roman" panose="02020603050405020304" pitchFamily="18" charset="0"/>
              <a:ea typeface="宋体" panose="02010600030101010101" pitchFamily="2" charset="-122"/>
            </a:endParaRPr>
          </a:p>
        </p:txBody>
      </p:sp>
      <p:sp>
        <p:nvSpPr>
          <p:cNvPr id="40968" name="矩形 42"/>
          <p:cNvSpPr/>
          <p:nvPr/>
        </p:nvSpPr>
        <p:spPr>
          <a:xfrm>
            <a:off x="5724525" y="3644900"/>
            <a:ext cx="955675" cy="275590"/>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200" dirty="0">
                <a:latin typeface="Times New Roman" panose="02020603050405020304" pitchFamily="18" charset="0"/>
                <a:ea typeface="宋体" panose="02010600030101010101" pitchFamily="2" charset="-122"/>
                <a:sym typeface="+mn-ea"/>
              </a:rPr>
              <a:t>多乐汇结构</a:t>
            </a:r>
            <a:endParaRPr lang="zh-CN" altLang="zh-CN" sz="1200" i="1" dirty="0">
              <a:latin typeface="Times New Roman" panose="02020603050405020304" pitchFamily="18" charset="0"/>
              <a:ea typeface="宋体" panose="02010600030101010101" pitchFamily="2" charset="-122"/>
            </a:endParaRPr>
          </a:p>
        </p:txBody>
      </p:sp>
      <p:sp>
        <p:nvSpPr>
          <p:cNvPr id="40969" name="矩形 42"/>
          <p:cNvSpPr/>
          <p:nvPr/>
        </p:nvSpPr>
        <p:spPr>
          <a:xfrm>
            <a:off x="7486650" y="3630930"/>
            <a:ext cx="972820" cy="275590"/>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200" dirty="0">
                <a:latin typeface="Times New Roman" panose="02020603050405020304" pitchFamily="18" charset="0"/>
                <a:ea typeface="宋体" panose="02010600030101010101" pitchFamily="2" charset="-122"/>
                <a:sym typeface="+mn-ea"/>
              </a:rPr>
              <a:t>多乐汇结构</a:t>
            </a:r>
            <a:endParaRPr lang="zh-CN" altLang="zh-CN" sz="1200" i="1" dirty="0">
              <a:latin typeface="Times New Roman" panose="02020603050405020304" pitchFamily="18" charset="0"/>
              <a:ea typeface="宋体" panose="02010600030101010101" pitchFamily="2" charset="-122"/>
            </a:endParaRPr>
          </a:p>
        </p:txBody>
      </p:sp>
      <p:sp>
        <p:nvSpPr>
          <p:cNvPr id="40970" name="矩形 34"/>
          <p:cNvSpPr/>
          <p:nvPr/>
        </p:nvSpPr>
        <p:spPr>
          <a:xfrm>
            <a:off x="6918325" y="3608388"/>
            <a:ext cx="676275" cy="40005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40971" name="矩形 42"/>
          <p:cNvSpPr/>
          <p:nvPr/>
        </p:nvSpPr>
        <p:spPr>
          <a:xfrm>
            <a:off x="4332605" y="4672330"/>
            <a:ext cx="607060" cy="275590"/>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200" dirty="0">
                <a:latin typeface="Times New Roman" panose="02020603050405020304" pitchFamily="18" charset="0"/>
                <a:ea typeface="宋体" panose="02010600030101010101" pitchFamily="2" charset="-122"/>
              </a:rPr>
              <a:t>乐汇</a:t>
            </a:r>
            <a:r>
              <a:rPr lang="en-US" altLang="zh-CN" sz="1200" dirty="0">
                <a:latin typeface="Times New Roman" panose="02020603050405020304" pitchFamily="18" charset="0"/>
                <a:ea typeface="宋体" panose="02010600030101010101" pitchFamily="2" charset="-122"/>
              </a:rPr>
              <a:t>2</a:t>
            </a:r>
            <a:endParaRPr lang="en-US" altLang="zh-CN" sz="1200" dirty="0">
              <a:latin typeface="Times New Roman" panose="02020603050405020304" pitchFamily="18" charset="0"/>
              <a:ea typeface="宋体" panose="02010600030101010101" pitchFamily="2" charset="-122"/>
            </a:endParaRPr>
          </a:p>
        </p:txBody>
      </p:sp>
      <p:sp>
        <p:nvSpPr>
          <p:cNvPr id="40972" name="矩形 36"/>
          <p:cNvSpPr/>
          <p:nvPr/>
        </p:nvSpPr>
        <p:spPr>
          <a:xfrm>
            <a:off x="6084888" y="4652963"/>
            <a:ext cx="676275" cy="40005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40973" name="矩形 42"/>
          <p:cNvSpPr/>
          <p:nvPr/>
        </p:nvSpPr>
        <p:spPr>
          <a:xfrm>
            <a:off x="6875780" y="4662805"/>
            <a:ext cx="718185" cy="275590"/>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200" dirty="0">
                <a:latin typeface="Times New Roman" panose="02020603050405020304" pitchFamily="18" charset="0"/>
                <a:ea typeface="宋体" panose="02010600030101010101" pitchFamily="2" charset="-122"/>
              </a:rPr>
              <a:t>乐汇</a:t>
            </a:r>
            <a:r>
              <a:rPr lang="en-US" altLang="zh-CN" sz="1200" dirty="0">
                <a:latin typeface="Times New Roman" panose="02020603050405020304" pitchFamily="18" charset="0"/>
                <a:ea typeface="宋体" panose="02010600030101010101" pitchFamily="2" charset="-122"/>
              </a:rPr>
              <a:t>s</a:t>
            </a:r>
            <a:endParaRPr lang="en-US" altLang="zh-CN" sz="1200" i="1" dirty="0">
              <a:latin typeface="Times New Roman" panose="02020603050405020304" pitchFamily="18" charset="0"/>
              <a:ea typeface="宋体" panose="02010600030101010101" pitchFamily="2" charset="-122"/>
            </a:endParaRPr>
          </a:p>
        </p:txBody>
      </p:sp>
      <p:cxnSp>
        <p:nvCxnSpPr>
          <p:cNvPr id="39" name="直接连接符 38"/>
          <p:cNvCxnSpPr>
            <a:endCxn id="40967" idx="0"/>
          </p:cNvCxnSpPr>
          <p:nvPr/>
        </p:nvCxnSpPr>
        <p:spPr>
          <a:xfrm flipH="1">
            <a:off x="4510723" y="2955925"/>
            <a:ext cx="1830388" cy="688975"/>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endCxn id="40968" idx="0"/>
          </p:cNvCxnSpPr>
          <p:nvPr/>
        </p:nvCxnSpPr>
        <p:spPr>
          <a:xfrm flipH="1">
            <a:off x="6202680" y="2955925"/>
            <a:ext cx="58738" cy="688975"/>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40969" idx="0"/>
          </p:cNvCxnSpPr>
          <p:nvPr/>
        </p:nvCxnSpPr>
        <p:spPr>
          <a:xfrm>
            <a:off x="6237923" y="2955925"/>
            <a:ext cx="1735138" cy="674688"/>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40963" idx="0"/>
          </p:cNvCxnSpPr>
          <p:nvPr/>
        </p:nvCxnSpPr>
        <p:spPr>
          <a:xfrm flipH="1">
            <a:off x="3877945" y="3933190"/>
            <a:ext cx="694055" cy="73914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endCxn id="40971" idx="0"/>
          </p:cNvCxnSpPr>
          <p:nvPr/>
        </p:nvCxnSpPr>
        <p:spPr>
          <a:xfrm>
            <a:off x="4572000" y="3933190"/>
            <a:ext cx="64135" cy="73914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40969" idx="2"/>
            <a:endCxn id="40973" idx="0"/>
          </p:cNvCxnSpPr>
          <p:nvPr/>
        </p:nvCxnSpPr>
        <p:spPr>
          <a:xfrm flipH="1">
            <a:off x="7235190" y="3906520"/>
            <a:ext cx="737870" cy="756285"/>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40980" name="矩形 42"/>
          <p:cNvSpPr/>
          <p:nvPr/>
        </p:nvSpPr>
        <p:spPr>
          <a:xfrm>
            <a:off x="5140325" y="4668838"/>
            <a:ext cx="693738" cy="275590"/>
          </a:xfrm>
          <a:prstGeom prst="rect">
            <a:avLst/>
          </a:prstGeom>
          <a:noFill/>
          <a:ln w="9525" cap="flat" cmpd="sng">
            <a:solidFill>
              <a:srgbClr val="92D050"/>
            </a:solidFill>
            <a:prstDash val="solid"/>
            <a:miter/>
            <a:headEnd type="none" w="med" len="med"/>
            <a:tailEnd type="none" w="med" len="med"/>
          </a:ln>
        </p:spPr>
        <p:txBody>
          <a:bodyPr anchor="t">
            <a:spAutoFit/>
          </a:bodyPr>
          <a:p>
            <a:pPr eaLnBrk="0" hangingPunct="0">
              <a:spcBef>
                <a:spcPct val="20000"/>
              </a:spcBef>
            </a:pPr>
            <a:r>
              <a:rPr lang="zh-CN" altLang="en-US" sz="1200" dirty="0">
                <a:latin typeface="Times New Roman" panose="02020603050405020304" pitchFamily="18" charset="0"/>
                <a:ea typeface="宋体" panose="02010600030101010101" pitchFamily="2" charset="-122"/>
              </a:rPr>
              <a:t>乐汇</a:t>
            </a:r>
            <a:r>
              <a:rPr lang="en-US" altLang="zh-CN" sz="1200" dirty="0">
                <a:latin typeface="Times New Roman" panose="02020603050405020304" pitchFamily="18" charset="0"/>
                <a:ea typeface="宋体" panose="02010600030101010101" pitchFamily="2" charset="-122"/>
              </a:rPr>
              <a:t>3</a:t>
            </a:r>
            <a:endParaRPr lang="en-US" altLang="zh-CN" sz="1200" dirty="0">
              <a:latin typeface="Times New Roman" panose="02020603050405020304" pitchFamily="18" charset="0"/>
              <a:ea typeface="宋体" panose="02010600030101010101" pitchFamily="2" charset="-122"/>
            </a:endParaRPr>
          </a:p>
        </p:txBody>
      </p:sp>
      <p:cxnSp>
        <p:nvCxnSpPr>
          <p:cNvPr id="60" name="直接连接符 59"/>
          <p:cNvCxnSpPr>
            <a:stCxn id="40967" idx="2"/>
          </p:cNvCxnSpPr>
          <p:nvPr/>
        </p:nvCxnSpPr>
        <p:spPr>
          <a:xfrm>
            <a:off x="4511040" y="3920490"/>
            <a:ext cx="925195" cy="73279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40982" name="矩形 42"/>
          <p:cNvSpPr/>
          <p:nvPr/>
        </p:nvSpPr>
        <p:spPr>
          <a:xfrm>
            <a:off x="7700963" y="4668838"/>
            <a:ext cx="720725" cy="275590"/>
          </a:xfrm>
          <a:prstGeom prst="rect">
            <a:avLst/>
          </a:prstGeom>
          <a:noFill/>
          <a:ln w="9525" cap="flat" cmpd="sng">
            <a:solidFill>
              <a:srgbClr val="92D050"/>
            </a:solidFill>
            <a:prstDash val="solid"/>
            <a:miter/>
            <a:headEnd type="none" w="med" len="med"/>
            <a:tailEnd type="none" w="med" len="med"/>
          </a:ln>
        </p:spPr>
        <p:txBody>
          <a:bodyPr anchor="t">
            <a:spAutoFit/>
          </a:bodyPr>
          <a:p>
            <a:pPr eaLnBrk="0" hangingPunct="0">
              <a:spcBef>
                <a:spcPct val="20000"/>
              </a:spcBef>
            </a:pPr>
            <a:r>
              <a:rPr lang="zh-CN" altLang="en-US" sz="1200" dirty="0">
                <a:latin typeface="Times New Roman" panose="02020603050405020304" pitchFamily="18" charset="0"/>
                <a:ea typeface="宋体" panose="02010600030101010101" pitchFamily="2" charset="-122"/>
              </a:rPr>
              <a:t>乐汇</a:t>
            </a:r>
            <a:r>
              <a:rPr lang="en-US" altLang="zh-CN" sz="1200" dirty="0">
                <a:latin typeface="Times New Roman" panose="02020603050405020304" pitchFamily="18" charset="0"/>
                <a:ea typeface="宋体" panose="02010600030101010101" pitchFamily="2" charset="-122"/>
              </a:rPr>
              <a:t>s+1</a:t>
            </a:r>
            <a:endParaRPr lang="en-US" altLang="zh-CN" sz="1200" dirty="0">
              <a:latin typeface="Times New Roman" panose="02020603050405020304" pitchFamily="18" charset="0"/>
              <a:ea typeface="宋体" panose="02010600030101010101" pitchFamily="2" charset="-122"/>
            </a:endParaRPr>
          </a:p>
        </p:txBody>
      </p:sp>
      <p:cxnSp>
        <p:nvCxnSpPr>
          <p:cNvPr id="66" name="直接连接符 65"/>
          <p:cNvCxnSpPr>
            <a:stCxn id="40969" idx="2"/>
            <a:endCxn id="40982" idx="0"/>
          </p:cNvCxnSpPr>
          <p:nvPr/>
        </p:nvCxnSpPr>
        <p:spPr>
          <a:xfrm>
            <a:off x="7973060" y="3906520"/>
            <a:ext cx="88265" cy="762635"/>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sp>
        <p:nvSpPr>
          <p:cNvPr id="40984" name="矩形 66"/>
          <p:cNvSpPr/>
          <p:nvPr/>
        </p:nvSpPr>
        <p:spPr>
          <a:xfrm>
            <a:off x="8397875" y="4652963"/>
            <a:ext cx="676275" cy="40005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68" name="任意多边形 67"/>
          <p:cNvSpPr/>
          <p:nvPr/>
        </p:nvSpPr>
        <p:spPr>
          <a:xfrm>
            <a:off x="3890963" y="5135563"/>
            <a:ext cx="7889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71" name="任意多边形 70"/>
          <p:cNvSpPr/>
          <p:nvPr/>
        </p:nvSpPr>
        <p:spPr>
          <a:xfrm>
            <a:off x="4811713" y="5135563"/>
            <a:ext cx="7889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72" name="任意多边形 71"/>
          <p:cNvSpPr/>
          <p:nvPr/>
        </p:nvSpPr>
        <p:spPr>
          <a:xfrm>
            <a:off x="3792538" y="5149850"/>
            <a:ext cx="1774825" cy="365125"/>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84" name="任意多边形 83"/>
          <p:cNvSpPr/>
          <p:nvPr/>
        </p:nvSpPr>
        <p:spPr>
          <a:xfrm>
            <a:off x="7200900" y="5133975"/>
            <a:ext cx="788988" cy="374650"/>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85" name="任意多边形 84"/>
          <p:cNvSpPr/>
          <p:nvPr/>
        </p:nvSpPr>
        <p:spPr>
          <a:xfrm>
            <a:off x="8150225" y="5146675"/>
            <a:ext cx="7889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86" name="任意多边形 85"/>
          <p:cNvSpPr/>
          <p:nvPr/>
        </p:nvSpPr>
        <p:spPr>
          <a:xfrm>
            <a:off x="7262813" y="5140325"/>
            <a:ext cx="1774825" cy="365125"/>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40998" name="矩形 89"/>
          <p:cNvSpPr/>
          <p:nvPr/>
        </p:nvSpPr>
        <p:spPr>
          <a:xfrm>
            <a:off x="1933258" y="5477510"/>
            <a:ext cx="1922462" cy="398780"/>
          </a:xfrm>
          <a:prstGeom prst="rect">
            <a:avLst/>
          </a:prstGeom>
          <a:noFill/>
          <a:ln w="9525">
            <a:noFill/>
          </a:ln>
        </p:spPr>
        <p:txBody>
          <a:bodyPr wrap="square" anchor="t">
            <a:spAutoFit/>
          </a:bodyPr>
          <a:p>
            <a:pPr eaLnBrk="0" hangingPunct="0"/>
            <a:r>
              <a:rPr lang="zh-CN" altLang="en-US" sz="1600" dirty="0">
                <a:solidFill>
                  <a:srgbClr val="FFC000"/>
                </a:solidFill>
                <a:latin typeface="Times New Roman" panose="02020603050405020304" pitchFamily="18" charset="0"/>
                <a:ea typeface="宋体" panose="02010600030101010101" pitchFamily="2" charset="-122"/>
              </a:rPr>
              <a:t>乐汇间的关系</a:t>
            </a:r>
            <a:r>
              <a:rPr lang="en-US" altLang="zh-CN" sz="2000" dirty="0">
                <a:solidFill>
                  <a:srgbClr val="FFC000"/>
                </a:solidFill>
                <a:latin typeface="Times New Roman" panose="02020603050405020304" pitchFamily="18" charset="0"/>
                <a:ea typeface="宋体" panose="02010600030101010101" pitchFamily="2" charset="-122"/>
              </a:rPr>
              <a:t> </a:t>
            </a:r>
            <a:endParaRPr lang="en-US" altLang="zh-CN" sz="2000" dirty="0">
              <a:solidFill>
                <a:srgbClr val="FFC000"/>
              </a:solidFill>
              <a:latin typeface="Times New Roman" panose="02020603050405020304" pitchFamily="18" charset="0"/>
              <a:ea typeface="宋体" panose="02010600030101010101" pitchFamily="2" charset="-122"/>
            </a:endParaRPr>
          </a:p>
        </p:txBody>
      </p:sp>
      <p:sp>
        <p:nvSpPr>
          <p:cNvPr id="40999" name="矩形 90"/>
          <p:cNvSpPr/>
          <p:nvPr/>
        </p:nvSpPr>
        <p:spPr>
          <a:xfrm>
            <a:off x="5466715" y="6116320"/>
            <a:ext cx="1725295" cy="337185"/>
          </a:xfrm>
          <a:prstGeom prst="rect">
            <a:avLst/>
          </a:prstGeom>
          <a:noFill/>
          <a:ln w="9525">
            <a:noFill/>
          </a:ln>
        </p:spPr>
        <p:txBody>
          <a:bodyPr wrap="square" anchor="t">
            <a:spAutoFit/>
          </a:bodyPr>
          <a:p>
            <a:pPr eaLnBrk="0" hangingPunct="0"/>
            <a:r>
              <a:rPr lang="zh-CN" altLang="en-US" sz="1600" dirty="0">
                <a:solidFill>
                  <a:srgbClr val="FFC000"/>
                </a:solidFill>
                <a:latin typeface="Times New Roman" panose="02020603050405020304" pitchFamily="18" charset="0"/>
                <a:ea typeface="宋体" panose="02010600030101010101" pitchFamily="2" charset="-122"/>
              </a:rPr>
              <a:t>旋律的形式结构</a:t>
            </a:r>
            <a:endParaRPr lang="zh-CN" altLang="en-US" sz="2000" dirty="0">
              <a:solidFill>
                <a:srgbClr val="FFC000"/>
              </a:solidFill>
              <a:latin typeface="Times New Roman" panose="02020603050405020304" pitchFamily="18" charset="0"/>
              <a:ea typeface="宋体" panose="02010600030101010101" pitchFamily="2" charset="-122"/>
            </a:endParaRPr>
          </a:p>
        </p:txBody>
      </p:sp>
      <p:sp>
        <p:nvSpPr>
          <p:cNvPr id="41000" name="矩形 91"/>
          <p:cNvSpPr/>
          <p:nvPr/>
        </p:nvSpPr>
        <p:spPr>
          <a:xfrm>
            <a:off x="5192713" y="3598863"/>
            <a:ext cx="676275" cy="40005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cxnSp>
        <p:nvCxnSpPr>
          <p:cNvPr id="3" name="直接连接符 24"/>
          <p:cNvCxnSpPr/>
          <p:nvPr/>
        </p:nvCxnSpPr>
        <p:spPr>
          <a:xfrm flipH="1">
            <a:off x="4140200" y="5508625"/>
            <a:ext cx="33338" cy="152400"/>
          </a:xfrm>
          <a:prstGeom prst="line">
            <a:avLst/>
          </a:prstGeom>
          <a:ln w="9525" cap="flat" cmpd="sng">
            <a:solidFill>
              <a:srgbClr val="FFC000"/>
            </a:solidFill>
            <a:prstDash val="solid"/>
            <a:round/>
            <a:headEnd type="none" w="med" len="med"/>
            <a:tailEnd type="none" w="med" len="med"/>
          </a:ln>
        </p:spPr>
      </p:cxnSp>
      <p:cxnSp>
        <p:nvCxnSpPr>
          <p:cNvPr id="4" name="直接连接符 24"/>
          <p:cNvCxnSpPr/>
          <p:nvPr/>
        </p:nvCxnSpPr>
        <p:spPr>
          <a:xfrm flipH="1">
            <a:off x="5056505" y="5492115"/>
            <a:ext cx="33338" cy="152400"/>
          </a:xfrm>
          <a:prstGeom prst="line">
            <a:avLst/>
          </a:prstGeom>
          <a:ln w="9525" cap="flat" cmpd="sng">
            <a:solidFill>
              <a:srgbClr val="FFC000"/>
            </a:solidFill>
            <a:prstDash val="solid"/>
            <a:round/>
            <a:headEnd type="none" w="med" len="med"/>
            <a:tailEnd type="none" w="med" len="med"/>
          </a:ln>
        </p:spPr>
      </p:cxnSp>
      <p:cxnSp>
        <p:nvCxnSpPr>
          <p:cNvPr id="5" name="直接连接符 24"/>
          <p:cNvCxnSpPr/>
          <p:nvPr/>
        </p:nvCxnSpPr>
        <p:spPr>
          <a:xfrm flipH="1">
            <a:off x="7424420" y="5492115"/>
            <a:ext cx="33338" cy="152400"/>
          </a:xfrm>
          <a:prstGeom prst="line">
            <a:avLst/>
          </a:prstGeom>
          <a:ln w="9525" cap="flat" cmpd="sng">
            <a:solidFill>
              <a:srgbClr val="FFC000"/>
            </a:solidFill>
            <a:prstDash val="solid"/>
            <a:round/>
            <a:headEnd type="none" w="med" len="med"/>
            <a:tailEnd type="none" w="med" len="med"/>
          </a:ln>
        </p:spPr>
      </p:cxnSp>
      <p:cxnSp>
        <p:nvCxnSpPr>
          <p:cNvPr id="6" name="直接连接符 24"/>
          <p:cNvCxnSpPr/>
          <p:nvPr/>
        </p:nvCxnSpPr>
        <p:spPr>
          <a:xfrm flipH="1">
            <a:off x="8428990" y="5492115"/>
            <a:ext cx="33338" cy="152400"/>
          </a:xfrm>
          <a:prstGeom prst="line">
            <a:avLst/>
          </a:prstGeom>
          <a:ln w="9525" cap="flat" cmpd="sng">
            <a:solidFill>
              <a:srgbClr val="FFC000"/>
            </a:solidFill>
            <a:prstDash val="solid"/>
            <a:round/>
            <a:headEnd type="none" w="med" len="med"/>
            <a:tailEnd type="none" w="med" len="med"/>
          </a:ln>
        </p:spPr>
      </p:cxnSp>
      <p:cxnSp>
        <p:nvCxnSpPr>
          <p:cNvPr id="7" name="直接连接符 6"/>
          <p:cNvCxnSpPr/>
          <p:nvPr/>
        </p:nvCxnSpPr>
        <p:spPr>
          <a:xfrm flipV="1">
            <a:off x="3419475" y="5646738"/>
            <a:ext cx="5040313" cy="25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24"/>
          <p:cNvCxnSpPr/>
          <p:nvPr/>
        </p:nvCxnSpPr>
        <p:spPr>
          <a:xfrm flipH="1">
            <a:off x="4394200" y="5516880"/>
            <a:ext cx="34290" cy="182880"/>
          </a:xfrm>
          <a:prstGeom prst="line">
            <a:avLst/>
          </a:prstGeom>
          <a:ln w="9525" cap="flat" cmpd="sng">
            <a:solidFill>
              <a:srgbClr val="00B050"/>
            </a:solidFill>
            <a:prstDash val="solid"/>
            <a:round/>
            <a:headEnd type="none" w="med" len="med"/>
            <a:tailEnd type="none" w="med" len="med"/>
          </a:ln>
        </p:spPr>
      </p:cxnSp>
      <p:cxnSp>
        <p:nvCxnSpPr>
          <p:cNvPr id="9" name="直接连接符 24"/>
          <p:cNvCxnSpPr/>
          <p:nvPr/>
        </p:nvCxnSpPr>
        <p:spPr>
          <a:xfrm flipH="1">
            <a:off x="7821930" y="5500370"/>
            <a:ext cx="34290" cy="182880"/>
          </a:xfrm>
          <a:prstGeom prst="line">
            <a:avLst/>
          </a:prstGeom>
          <a:ln w="9525" cap="flat" cmpd="sng">
            <a:solidFill>
              <a:srgbClr val="00B050"/>
            </a:solidFill>
            <a:prstDash val="solid"/>
            <a:round/>
            <a:headEnd type="none" w="med" len="med"/>
            <a:tailEnd type="none" w="med" len="med"/>
          </a:ln>
        </p:spPr>
      </p:cxn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矩形 41"/>
          <p:cNvSpPr/>
          <p:nvPr/>
        </p:nvSpPr>
        <p:spPr>
          <a:xfrm>
            <a:off x="852488" y="3270250"/>
            <a:ext cx="3071812" cy="2399665"/>
          </a:xfrm>
          <a:prstGeom prst="rect">
            <a:avLst/>
          </a:prstGeom>
          <a:noFill/>
          <a:ln w="9525">
            <a:noFill/>
          </a:ln>
        </p:spPr>
        <p:txBody>
          <a:bodyPr anchor="t">
            <a:spAutoFit/>
          </a:bodyPr>
          <a:p>
            <a:pPr eaLnBrk="0" hangingPunct="0"/>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模仿类</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eaLnBrk="0" hangingPunct="0"/>
            <a:r>
              <a:rPr lang="zh-CN" altLang="en-US" sz="1800" dirty="0">
                <a:latin typeface="Times New Roman" panose="02020603050405020304" pitchFamily="18" charset="0"/>
                <a:ea typeface="宋体" panose="02010600030101010101" pitchFamily="2" charset="-122"/>
              </a:rPr>
              <a:t>重复关系</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节奏重复关系</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自由模进关系</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严格模进关系</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endParaRPr lang="en-US" altLang="zh-CN" sz="18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b) </a:t>
            </a:r>
            <a:r>
              <a:rPr lang="zh-CN" altLang="en-US" sz="2000" dirty="0">
                <a:latin typeface="Times New Roman" panose="02020603050405020304" pitchFamily="18" charset="0"/>
                <a:ea typeface="宋体" panose="02010600030101010101" pitchFamily="2" charset="-122"/>
              </a:rPr>
              <a:t>对比类</a:t>
            </a:r>
            <a:r>
              <a:rPr lang="en-US"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A</a:t>
            </a:r>
            <a:r>
              <a:rPr lang="zh-CN" altLang="en-US" sz="1800" dirty="0">
                <a:latin typeface="Times New Roman" panose="02020603050405020304" pitchFamily="18" charset="0"/>
                <a:ea typeface="宋体" panose="02010600030101010101" pitchFamily="2" charset="-122"/>
              </a:rPr>
              <a:t>类对比关系与</a:t>
            </a:r>
            <a:r>
              <a:rPr lang="en-US" altLang="zh-CN" sz="1800" dirty="0">
                <a:latin typeface="Times New Roman" panose="02020603050405020304" pitchFamily="18" charset="0"/>
                <a:ea typeface="宋体" panose="02010600030101010101" pitchFamily="2" charset="-122"/>
              </a:rPr>
              <a:t>B</a:t>
            </a:r>
            <a:r>
              <a:rPr lang="zh-CN" altLang="en-US" sz="1800" dirty="0">
                <a:latin typeface="Times New Roman" panose="02020603050405020304" pitchFamily="18" charset="0"/>
                <a:ea typeface="宋体" panose="02010600030101010101" pitchFamily="2" charset="-122"/>
                <a:sym typeface="+mn-ea"/>
              </a:rPr>
              <a:t>类对比关系</a:t>
            </a:r>
            <a:endParaRPr lang="en-US" altLang="zh-CN" sz="1800" dirty="0">
              <a:latin typeface="Times New Roman" panose="02020603050405020304" pitchFamily="18" charset="0"/>
              <a:ea typeface="宋体" panose="02010600030101010101" pitchFamily="2" charset="-122"/>
            </a:endParaRPr>
          </a:p>
          <a:p>
            <a:pPr eaLnBrk="0" hangingPunct="0"/>
            <a:endParaRPr lang="en-US" altLang="zh-CN" sz="1800" dirty="0">
              <a:latin typeface="Times New Roman" panose="02020603050405020304" pitchFamily="18" charset="0"/>
              <a:ea typeface="宋体" panose="02010600030101010101" pitchFamily="2" charset="-122"/>
            </a:endParaRPr>
          </a:p>
          <a:p>
            <a:pPr eaLnBrk="0" hangingPunct="0"/>
            <a:r>
              <a:rPr lang="en-US" altLang="zh-CN" sz="2000" dirty="0">
                <a:latin typeface="Times New Roman" panose="02020603050405020304" pitchFamily="18" charset="0"/>
                <a:ea typeface="宋体" panose="02010600030101010101" pitchFamily="2" charset="-122"/>
              </a:rPr>
              <a:t>c) </a:t>
            </a:r>
            <a:r>
              <a:rPr lang="zh-CN" altLang="en-US" sz="2000" dirty="0">
                <a:latin typeface="Times New Roman" panose="02020603050405020304" pitchFamily="18" charset="0"/>
                <a:ea typeface="宋体" panose="02010600030101010101" pitchFamily="2" charset="-122"/>
              </a:rPr>
              <a:t>其它关系</a:t>
            </a:r>
            <a:endParaRPr lang="zh-CN" altLang="en-US" sz="2000" dirty="0">
              <a:latin typeface="Times New Roman" panose="02020603050405020304" pitchFamily="18" charset="0"/>
              <a:ea typeface="宋体" panose="02010600030101010101" pitchFamily="2" charset="-122"/>
            </a:endParaRPr>
          </a:p>
        </p:txBody>
      </p:sp>
      <p:pic>
        <p:nvPicPr>
          <p:cNvPr id="43011" name="图片 40"/>
          <p:cNvPicPr>
            <a:picLocks noChangeAspect="1"/>
          </p:cNvPicPr>
          <p:nvPr/>
        </p:nvPicPr>
        <p:blipFill>
          <a:blip r:embed="rId1"/>
          <a:stretch>
            <a:fillRect/>
          </a:stretch>
        </p:blipFill>
        <p:spPr>
          <a:xfrm>
            <a:off x="3818255" y="2341880"/>
            <a:ext cx="4881245" cy="2929890"/>
          </a:xfrm>
          <a:prstGeom prst="rect">
            <a:avLst/>
          </a:prstGeom>
          <a:noFill/>
          <a:ln w="9525">
            <a:noFill/>
          </a:ln>
        </p:spPr>
      </p:pic>
      <p:sp>
        <p:nvSpPr>
          <p:cNvPr id="43012" name="矩形 43"/>
          <p:cNvSpPr/>
          <p:nvPr/>
        </p:nvSpPr>
        <p:spPr>
          <a:xfrm>
            <a:off x="4211955" y="5430520"/>
            <a:ext cx="4597400" cy="79883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1400" i="1" dirty="0">
                <a:latin typeface="Times New Roman" panose="02020603050405020304" pitchFamily="18" charset="0"/>
                <a:ea typeface="宋体" panose="02010600030101010101" pitchFamily="2" charset="-122"/>
              </a:rPr>
              <a:t>kMP</a:t>
            </a:r>
            <a:r>
              <a:rPr lang="zh-CN" altLang="en-US" sz="1400" dirty="0">
                <a:latin typeface="Times New Roman" panose="02020603050405020304" pitchFamily="18" charset="0"/>
                <a:ea typeface="宋体" panose="02010600030101010101" pitchFamily="2" charset="-122"/>
              </a:rPr>
              <a:t>是一个多乐汇结构</a:t>
            </a:r>
            <a:r>
              <a:rPr lang="en-US" altLang="zh-CN" sz="1400" dirty="0">
                <a:latin typeface="Times New Roman" panose="02020603050405020304" pitchFamily="18" charset="0"/>
                <a:ea typeface="宋体" panose="02010600030101010101" pitchFamily="2" charset="-122"/>
              </a:rPr>
              <a:t>;     </a:t>
            </a:r>
            <a:endParaRPr lang="en-US" altLang="zh-CN" sz="1400" dirty="0">
              <a:latin typeface="Times New Roman" panose="02020603050405020304" pitchFamily="18" charset="0"/>
              <a:ea typeface="宋体" panose="02010600030101010101" pitchFamily="2" charset="-122"/>
            </a:endParaRPr>
          </a:p>
          <a:p>
            <a:pPr eaLnBrk="0" hangingPunct="0"/>
            <a:r>
              <a:rPr lang="en-US" altLang="zh-CN" sz="1400" i="1" dirty="0">
                <a:latin typeface="Times New Roman" panose="02020603050405020304" pitchFamily="18" charset="0"/>
                <a:ea typeface="宋体" panose="02010600030101010101" pitchFamily="2" charset="-122"/>
              </a:rPr>
              <a:t> </a:t>
            </a:r>
            <a:r>
              <a:rPr lang="en-US" altLang="zh-CN" sz="1400" i="1" dirty="0">
                <a:solidFill>
                  <a:srgbClr val="FF0000"/>
                </a:solidFill>
                <a:latin typeface="Times New Roman" panose="02020603050405020304" pitchFamily="18" charset="0"/>
                <a:ea typeface="宋体" panose="02010600030101010101" pitchFamily="2" charset="-122"/>
              </a:rPr>
              <a:t>kMP</a:t>
            </a:r>
            <a:r>
              <a:rPr lang="en-US" altLang="zh-CN" sz="900" dirty="0">
                <a:solidFill>
                  <a:srgbClr val="FF0000"/>
                </a:solidFill>
                <a:latin typeface="Times New Roman" panose="02020603050405020304" pitchFamily="18" charset="0"/>
                <a:ea typeface="宋体" panose="02010600030101010101" pitchFamily="2" charset="-122"/>
              </a:rPr>
              <a:t>1</a:t>
            </a:r>
            <a:r>
              <a:rPr lang="en-US" altLang="zh-CN" sz="1400" i="1"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1</a:t>
            </a:r>
            <a:r>
              <a:rPr lang="en-US" altLang="zh-CN" sz="1400" dirty="0">
                <a:solidFill>
                  <a:srgbClr val="00B0F0"/>
                </a:solidFill>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r>
              <a:rPr lang="en-US" altLang="zh-CN" sz="1400" dirty="0">
                <a:solidFill>
                  <a:srgbClr val="00B0F0"/>
                </a:solidFill>
                <a:latin typeface="Times New Roman" panose="02020603050405020304" pitchFamily="18" charset="0"/>
                <a:ea typeface="宋体" panose="02010600030101010101" pitchFamily="2" charset="-122"/>
              </a:rPr>
              <a:t> </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2</a:t>
            </a:r>
            <a:r>
              <a:rPr lang="en-US" altLang="zh-CN" sz="1400" dirty="0">
                <a:latin typeface="Times New Roman" panose="02020603050405020304" pitchFamily="18" charset="0"/>
                <a:ea typeface="宋体" panose="02010600030101010101" pitchFamily="2" charset="-122"/>
              </a:rPr>
              <a:t>+ </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3</a:t>
            </a:r>
            <a:r>
              <a:rPr lang="en-US" altLang="zh-CN" sz="1400" dirty="0">
                <a:latin typeface="Times New Roman" panose="02020603050405020304" pitchFamily="18" charset="0"/>
                <a:ea typeface="宋体" panose="02010600030101010101" pitchFamily="2" charset="-122"/>
              </a:rPr>
              <a:t> ;</a:t>
            </a:r>
            <a:r>
              <a:rPr lang="en-US" altLang="zh-CN" sz="1400" dirty="0">
                <a:solidFill>
                  <a:srgbClr val="00B050"/>
                </a:solidFill>
                <a:latin typeface="Times New Roman" panose="02020603050405020304" pitchFamily="18" charset="0"/>
                <a:ea typeface="宋体" panose="02010600030101010101" pitchFamily="2" charset="-122"/>
              </a:rPr>
              <a:t> </a:t>
            </a:r>
            <a:r>
              <a:rPr lang="en-US" altLang="zh-CN" sz="1400" i="1" dirty="0">
                <a:solidFill>
                  <a:srgbClr val="00B050"/>
                </a:solidFill>
                <a:latin typeface="Times New Roman" panose="02020603050405020304" pitchFamily="18" charset="0"/>
                <a:ea typeface="宋体" panose="02010600030101010101" pitchFamily="2" charset="-122"/>
              </a:rPr>
              <a:t>kMP</a:t>
            </a:r>
            <a:r>
              <a:rPr lang="en-US" altLang="zh-CN" sz="900" dirty="0">
                <a:solidFill>
                  <a:srgbClr val="00B050"/>
                </a:solidFill>
                <a:latin typeface="Times New Roman" panose="02020603050405020304" pitchFamily="18" charset="0"/>
                <a:ea typeface="宋体" panose="02010600030101010101" pitchFamily="2" charset="-122"/>
              </a:rPr>
              <a:t>2</a:t>
            </a:r>
            <a:r>
              <a:rPr lang="en-US" altLang="zh-CN" sz="1400" i="1" dirty="0">
                <a:solidFill>
                  <a:srgbClr val="00B050"/>
                </a:solidFill>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4</a:t>
            </a:r>
            <a:r>
              <a:rPr lang="en-US" altLang="zh-CN" sz="1400" dirty="0">
                <a:latin typeface="Times New Roman" panose="02020603050405020304" pitchFamily="18" charset="0"/>
                <a:ea typeface="宋体" panose="02010600030101010101" pitchFamily="2" charset="-122"/>
              </a:rPr>
              <a:t> + </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5</a:t>
            </a:r>
            <a:r>
              <a:rPr lang="en-US" altLang="zh-CN" sz="1400" dirty="0">
                <a:latin typeface="Times New Roman" panose="02020603050405020304" pitchFamily="18" charset="0"/>
                <a:ea typeface="宋体" panose="02010600030101010101" pitchFamily="2" charset="-122"/>
              </a:rPr>
              <a:t>+ </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6</a:t>
            </a:r>
            <a:r>
              <a:rPr lang="en-US" altLang="zh-CN" sz="900"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a:p>
            <a:pPr eaLnBrk="0" hangingPunct="0"/>
            <a:r>
              <a:rPr lang="en-US" altLang="zh-CN" sz="1400" dirty="0">
                <a:latin typeface="Times New Roman" panose="02020603050405020304" pitchFamily="18" charset="0"/>
                <a:ea typeface="宋体" panose="02010600030101010101" pitchFamily="2" charset="-122"/>
              </a:rPr>
              <a:t> </a:t>
            </a:r>
            <a:r>
              <a:rPr lang="en-US" altLang="zh-CN" sz="1400" i="1" dirty="0">
                <a:solidFill>
                  <a:srgbClr val="FF0000"/>
                </a:solidFill>
                <a:latin typeface="Times New Roman" panose="02020603050405020304" pitchFamily="18" charset="0"/>
                <a:ea typeface="宋体" panose="02010600030101010101" pitchFamily="2" charset="-122"/>
              </a:rPr>
              <a:t>kMP</a:t>
            </a:r>
            <a:r>
              <a:rPr lang="en-US" altLang="zh-CN" sz="900" dirty="0">
                <a:solidFill>
                  <a:srgbClr val="FF0000"/>
                </a:solidFill>
                <a:latin typeface="Times New Roman" panose="02020603050405020304" pitchFamily="18" charset="0"/>
                <a:ea typeface="宋体" panose="02010600030101010101" pitchFamily="2" charset="-122"/>
              </a:rPr>
              <a:t>3</a:t>
            </a:r>
            <a:r>
              <a:rPr lang="en-US" altLang="zh-CN" sz="1400" i="1"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 </a:t>
            </a:r>
            <a:r>
              <a:rPr lang="en-US" altLang="zh-CN" sz="14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7</a:t>
            </a:r>
            <a:endParaRPr lang="en-US" altLang="zh-CN" sz="900" dirty="0">
              <a:solidFill>
                <a:srgbClr val="00B0F0"/>
              </a:solidFill>
              <a:latin typeface="Times New Roman" panose="02020603050405020304" pitchFamily="18" charset="0"/>
              <a:ea typeface="宋体" panose="02010600030101010101" pitchFamily="2" charset="-122"/>
            </a:endParaRPr>
          </a:p>
        </p:txBody>
      </p:sp>
      <p:sp>
        <p:nvSpPr>
          <p:cNvPr id="43013" name="矩形 28"/>
          <p:cNvSpPr/>
          <p:nvPr/>
        </p:nvSpPr>
        <p:spPr>
          <a:xfrm>
            <a:off x="490538" y="2727325"/>
            <a:ext cx="55213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矩形 41"/>
          <p:cNvSpPr/>
          <p:nvPr/>
        </p:nvSpPr>
        <p:spPr>
          <a:xfrm>
            <a:off x="852488" y="3270250"/>
            <a:ext cx="8010525" cy="1753235"/>
          </a:xfrm>
          <a:prstGeom prst="rect">
            <a:avLst/>
          </a:prstGeom>
          <a:noFill/>
          <a:ln w="9525">
            <a:noFill/>
          </a:ln>
        </p:spPr>
        <p:txBody>
          <a:bodyPr anchor="t">
            <a:spAutoFit/>
          </a:bodyPr>
          <a:p>
            <a:pPr eaLnBrk="0" hangingPunct="0"/>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乐汇</a:t>
            </a:r>
            <a:r>
              <a:rPr lang="zh-CN" altLang="en-US" sz="1800" i="1" dirty="0">
                <a:latin typeface="Times New Roman" panose="02020603050405020304" pitchFamily="18" charset="0"/>
                <a:ea typeface="宋体" panose="02010600030101010101" pitchFamily="2" charset="-122"/>
              </a:rPr>
              <a:t>MP</a:t>
            </a:r>
            <a:r>
              <a:rPr lang="zh-CN" altLang="en-US" sz="1800" i="1" baseline="-25000" dirty="0">
                <a:latin typeface="Times New Roman" panose="02020603050405020304" pitchFamily="18" charset="0"/>
                <a:ea typeface="宋体" panose="02010600030101010101" pitchFamily="2" charset="-122"/>
              </a:rPr>
              <a:t>A</a:t>
            </a:r>
            <a:r>
              <a:rPr lang="zh-CN" altLang="en-US" sz="1800" dirty="0">
                <a:latin typeface="Times New Roman" panose="02020603050405020304" pitchFamily="18" charset="0"/>
                <a:ea typeface="宋体" panose="02010600030101010101" pitchFamily="2" charset="-122"/>
              </a:rPr>
              <a:t> 与</a:t>
            </a:r>
            <a:r>
              <a:rPr lang="en-US" altLang="zh-CN" sz="1800" dirty="0">
                <a:latin typeface="Times New Roman" panose="02020603050405020304" pitchFamily="18" charset="0"/>
                <a:ea typeface="宋体" panose="02010600030101010101" pitchFamily="2" charset="-122"/>
              </a:rPr>
              <a:t> </a:t>
            </a:r>
            <a:r>
              <a:rPr lang="zh-CN" altLang="en-US" sz="1800" i="1" dirty="0">
                <a:latin typeface="Times New Roman" panose="02020603050405020304" pitchFamily="18" charset="0"/>
                <a:ea typeface="宋体" panose="02010600030101010101" pitchFamily="2" charset="-122"/>
              </a:rPr>
              <a:t>MP</a:t>
            </a:r>
            <a:r>
              <a:rPr lang="zh-CN" altLang="en-US" sz="1800" i="1" baseline="-25000" dirty="0">
                <a:latin typeface="Times New Roman" panose="02020603050405020304" pitchFamily="18" charset="0"/>
                <a:ea typeface="宋体" panose="02010600030101010101" pitchFamily="2" charset="-122"/>
              </a:rPr>
              <a:t>B</a:t>
            </a:r>
            <a:r>
              <a:rPr lang="zh-CN" altLang="en-US" sz="1800" dirty="0">
                <a:latin typeface="Times New Roman" panose="02020603050405020304" pitchFamily="18" charset="0"/>
                <a:ea typeface="宋体" panose="02010600030101010101" pitchFamily="2" charset="-122"/>
                <a:sym typeface="+mn-ea"/>
              </a:rPr>
              <a:t>的重复关系</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a:t>
            </a:r>
            <a:r>
              <a:rPr lang="zh-CN" altLang="en-US" sz="1800" dirty="0">
                <a:latin typeface="Times New Roman" panose="02020603050405020304" pitchFamily="18" charset="0"/>
                <a:ea typeface="宋体" panose="02010600030101010101" pitchFamily="2" charset="-122"/>
              </a:rPr>
              <a:t>) </a:t>
            </a:r>
            <a:r>
              <a:rPr lang="zh-CN" altLang="en-US" sz="1800" i="1" dirty="0">
                <a:latin typeface="Times New Roman" panose="02020603050405020304" pitchFamily="18" charset="0"/>
                <a:ea typeface="宋体" panose="02010600030101010101" pitchFamily="2" charset="-122"/>
              </a:rPr>
              <a:t>MP</a:t>
            </a:r>
            <a:r>
              <a:rPr lang="zh-CN" altLang="en-US" sz="1800" i="1" baseline="-25000" dirty="0">
                <a:latin typeface="Times New Roman" panose="02020603050405020304" pitchFamily="18" charset="0"/>
                <a:ea typeface="宋体" panose="02010600030101010101" pitchFamily="2" charset="-122"/>
              </a:rPr>
              <a:t>A</a:t>
            </a:r>
            <a:r>
              <a:rPr lang="zh-CN" altLang="en-US" sz="1800" dirty="0">
                <a:latin typeface="Times New Roman" panose="02020603050405020304" pitchFamily="18" charset="0"/>
                <a:ea typeface="宋体" panose="02010600030101010101" pitchFamily="2" charset="-122"/>
              </a:rPr>
              <a:t>=</a:t>
            </a:r>
            <a:r>
              <a:rPr lang="zh-CN" altLang="en-US" sz="1800" i="1" dirty="0">
                <a:latin typeface="Times New Roman" panose="02020603050405020304" pitchFamily="18" charset="0"/>
                <a:ea typeface="宋体" panose="02010600030101010101" pitchFamily="2" charset="-122"/>
              </a:rPr>
              <a:t>MP</a:t>
            </a:r>
            <a:r>
              <a:rPr lang="zh-CN" altLang="en-US" sz="1800" i="1" baseline="-25000" dirty="0">
                <a:latin typeface="Times New Roman" panose="02020603050405020304" pitchFamily="18" charset="0"/>
                <a:ea typeface="宋体" panose="02010600030101010101" pitchFamily="2" charset="-122"/>
              </a:rPr>
              <a:t>B</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a:t>
            </a:r>
            <a:r>
              <a:rPr lang="zh-CN" altLang="en-US" sz="1800" dirty="0">
                <a:latin typeface="Times New Roman" panose="02020603050405020304" pitchFamily="18" charset="0"/>
                <a:ea typeface="宋体" panose="02010600030101010101" pitchFamily="2" charset="-122"/>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所对应的</a:t>
            </a:r>
            <a:r>
              <a:rPr lang="zh-CN" altLang="en-US" sz="1800" dirty="0">
                <a:latin typeface="Times New Roman" panose="02020603050405020304" pitchFamily="18" charset="0"/>
                <a:ea typeface="宋体" panose="02010600030101010101" pitchFamily="2" charset="-122"/>
              </a:rPr>
              <a:t>诗句中的汉字数或单词（或单词音节）数相等;</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iii) </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所对应的</a:t>
            </a:r>
            <a:r>
              <a:rPr lang="zh-CN" altLang="en-US" sz="1800" dirty="0">
                <a:latin typeface="Times New Roman" panose="02020603050405020304" pitchFamily="18" charset="0"/>
                <a:ea typeface="宋体" panose="02010600030101010101" pitchFamily="2" charset="-122"/>
                <a:sym typeface="+mn-ea"/>
              </a:rPr>
              <a:t>诗句中的汉字分布或单词（或单词音节）分布是一致的。</a:t>
            </a:r>
            <a:r>
              <a:rPr lang="zh-CN" altLang="en-US" sz="1800" dirty="0">
                <a:latin typeface="Times New Roman" panose="02020603050405020304" pitchFamily="18" charset="0"/>
                <a:ea typeface="宋体" panose="02010600030101010101" pitchFamily="2" charset="-122"/>
              </a:rPr>
              <a:t> </a:t>
            </a:r>
            <a:endParaRPr lang="zh-CN" altLang="en-US" sz="1800" dirty="0">
              <a:latin typeface="Times New Roman" panose="02020603050405020304" pitchFamily="18" charset="0"/>
              <a:ea typeface="宋体" panose="02010600030101010101" pitchFamily="2" charset="-122"/>
            </a:endParaRPr>
          </a:p>
        </p:txBody>
      </p:sp>
      <p:pic>
        <p:nvPicPr>
          <p:cNvPr id="45061" name="图片 1"/>
          <p:cNvPicPr>
            <a:picLocks noChangeAspect="1"/>
          </p:cNvPicPr>
          <p:nvPr/>
        </p:nvPicPr>
        <p:blipFill>
          <a:blip r:embed="rId1"/>
          <a:stretch>
            <a:fillRect/>
          </a:stretch>
        </p:blipFill>
        <p:spPr>
          <a:xfrm>
            <a:off x="1931988" y="5023485"/>
            <a:ext cx="5434012" cy="1025525"/>
          </a:xfrm>
          <a:prstGeom prst="rect">
            <a:avLst/>
          </a:prstGeom>
          <a:noFill/>
          <a:ln w="9525">
            <a:noFill/>
          </a:ln>
        </p:spPr>
      </p:pic>
      <p:sp>
        <p:nvSpPr>
          <p:cNvPr id="44" name="矩形 43"/>
          <p:cNvSpPr/>
          <p:nvPr/>
        </p:nvSpPr>
        <p:spPr>
          <a:xfrm>
            <a:off x="3230563" y="6122988"/>
            <a:ext cx="4059238" cy="368300"/>
          </a:xfrm>
          <a:prstGeom prst="rect">
            <a:avLst/>
          </a:prstGeom>
        </p:spPr>
        <p:txBody>
          <a:bodyPr>
            <a:spAutoFit/>
          </a:bodyP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 </a:t>
            </a:r>
            <a:r>
              <a:rPr lang="zh-CN" altLang="en-US" sz="1200" dirty="0">
                <a:latin typeface="Times New Roman" panose="02020603050405020304" pitchFamily="18" charset="0"/>
                <a:ea typeface="宋体" panose="02010600030101010101" pitchFamily="2" charset="-122"/>
                <a:sym typeface="+mn-ea"/>
              </a:rPr>
              <a:t>乐汇</a:t>
            </a:r>
            <a:r>
              <a:rPr lang="zh-CN" altLang="en-US" sz="1200" i="1" dirty="0">
                <a:latin typeface="Times New Roman" panose="02020603050405020304" pitchFamily="18" charset="0"/>
                <a:ea typeface="宋体" panose="02010600030101010101" pitchFamily="2" charset="-122"/>
                <a:sym typeface="+mn-ea"/>
              </a:rPr>
              <a:t>MP</a:t>
            </a:r>
            <a:r>
              <a:rPr lang="zh-CN" altLang="en-US" sz="1200" i="1" baseline="-25000" dirty="0">
                <a:latin typeface="Times New Roman" panose="02020603050405020304" pitchFamily="18" charset="0"/>
                <a:ea typeface="宋体" panose="02010600030101010101" pitchFamily="2" charset="-122"/>
                <a:sym typeface="+mn-ea"/>
              </a:rPr>
              <a:t>A</a:t>
            </a:r>
            <a:r>
              <a:rPr lang="zh-CN" altLang="en-US" sz="1200" dirty="0">
                <a:latin typeface="Times New Roman" panose="02020603050405020304" pitchFamily="18" charset="0"/>
                <a:ea typeface="宋体" panose="02010600030101010101" pitchFamily="2" charset="-122"/>
                <a:sym typeface="+mn-ea"/>
              </a:rPr>
              <a:t> 与</a:t>
            </a:r>
            <a:r>
              <a:rPr lang="en-US" altLang="zh-CN" sz="1200" dirty="0">
                <a:latin typeface="Times New Roman" panose="02020603050405020304" pitchFamily="18" charset="0"/>
                <a:ea typeface="宋体" panose="02010600030101010101" pitchFamily="2" charset="-122"/>
                <a:sym typeface="+mn-ea"/>
              </a:rPr>
              <a:t> </a:t>
            </a:r>
            <a:r>
              <a:rPr lang="zh-CN" altLang="en-US" sz="1200" i="1" dirty="0">
                <a:latin typeface="Times New Roman" panose="02020603050405020304" pitchFamily="18" charset="0"/>
                <a:ea typeface="宋体" panose="02010600030101010101" pitchFamily="2" charset="-122"/>
                <a:sym typeface="+mn-ea"/>
              </a:rPr>
              <a:t>MP</a:t>
            </a:r>
            <a:r>
              <a:rPr lang="zh-CN" altLang="en-US" sz="1200" i="1" baseline="-25000" dirty="0">
                <a:latin typeface="Times New Roman" panose="02020603050405020304" pitchFamily="18" charset="0"/>
                <a:ea typeface="宋体" panose="02010600030101010101" pitchFamily="2" charset="-122"/>
                <a:sym typeface="+mn-ea"/>
              </a:rPr>
              <a:t>B</a:t>
            </a:r>
            <a:r>
              <a:rPr lang="zh-CN" altLang="en-US" sz="1200" dirty="0">
                <a:latin typeface="Times New Roman" panose="02020603050405020304" pitchFamily="18" charset="0"/>
                <a:ea typeface="宋体" panose="02010600030101010101" pitchFamily="2" charset="-122"/>
                <a:sym typeface="+mn-ea"/>
              </a:rPr>
              <a:t>相互间满足重复关系</a:t>
            </a:r>
            <a:endParaRPr kumimoji="0" lang="en-US" altLang="zh-CN" sz="1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Times New Roman" panose="02020603050405020304" pitchFamily="18" charset="0"/>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3013" name="矩形 28"/>
          <p:cNvSpPr/>
          <p:nvPr/>
        </p:nvSpPr>
        <p:spPr>
          <a:xfrm>
            <a:off x="490538" y="2727325"/>
            <a:ext cx="55213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矩形 41"/>
          <p:cNvSpPr/>
          <p:nvPr/>
        </p:nvSpPr>
        <p:spPr>
          <a:xfrm>
            <a:off x="852488" y="3270250"/>
            <a:ext cx="3308350" cy="286131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的节奏重复关系：</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a:t>
            </a:r>
            <a:r>
              <a:rPr lang="zh-CN" altLang="en-US"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的节奏与乐汇</a:t>
            </a:r>
            <a:r>
              <a:rPr lang="zh-CN" altLang="en-US"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的节奏</a:t>
            </a:r>
            <a:r>
              <a:rPr lang="zh-CN" sz="1800" dirty="0">
                <a:latin typeface="Times New Roman" panose="02020603050405020304" pitchFamily="18" charset="0"/>
                <a:ea typeface="宋体" panose="02010600030101010101" pitchFamily="2" charset="-122"/>
                <a:sym typeface="+mn-ea"/>
              </a:rPr>
              <a:t>一致</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a:t>
            </a:r>
            <a:r>
              <a:rPr lang="zh-CN" altLang="en-US"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所对应的诗句中的汉字数或单词（或单词音节）数相等</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iii)</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对应的诗句中的汉字分布或单词（或单词音节）分布是一致的。</a:t>
            </a:r>
            <a:endParaRPr lang="zh-CN" altLang="en-US" sz="1800" dirty="0">
              <a:latin typeface="Times New Roman" panose="02020603050405020304" pitchFamily="18" charset="0"/>
              <a:ea typeface="宋体" panose="02010600030101010101" pitchFamily="2" charset="-122"/>
            </a:endParaRPr>
          </a:p>
        </p:txBody>
      </p:sp>
      <p:pic>
        <p:nvPicPr>
          <p:cNvPr id="49157" name="图片 6"/>
          <p:cNvPicPr>
            <a:picLocks noChangeAspect="1"/>
          </p:cNvPicPr>
          <p:nvPr/>
        </p:nvPicPr>
        <p:blipFill>
          <a:blip r:embed="rId1"/>
          <a:stretch>
            <a:fillRect/>
          </a:stretch>
        </p:blipFill>
        <p:spPr>
          <a:xfrm>
            <a:off x="4044950" y="3365500"/>
            <a:ext cx="4818063" cy="1908175"/>
          </a:xfrm>
          <a:prstGeom prst="rect">
            <a:avLst/>
          </a:prstGeom>
          <a:noFill/>
          <a:ln w="9525">
            <a:noFill/>
          </a:ln>
        </p:spPr>
      </p:pic>
      <p:sp>
        <p:nvSpPr>
          <p:cNvPr id="44" name="矩形 43"/>
          <p:cNvSpPr/>
          <p:nvPr/>
        </p:nvSpPr>
        <p:spPr>
          <a:xfrm>
            <a:off x="4342765" y="5405755"/>
            <a:ext cx="4428490" cy="368300"/>
          </a:xfrm>
          <a:prstGeom prst="rect">
            <a:avLst/>
          </a:prstGeom>
        </p:spPr>
        <p:txBody>
          <a:bodyPr wrap="square">
            <a:spAutoFit/>
          </a:bodyP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lang="zh-CN" altLang="en-US" sz="1800" noProof="0" dirty="0" smtClean="0">
                <a:ln>
                  <a:noFill/>
                </a:ln>
                <a:effectLst/>
                <a:uLnTx/>
                <a:uFillTx/>
                <a:latin typeface="Times New Roman" panose="02020603050405020304" pitchFamily="18" charset="0"/>
                <a:ea typeface="宋体" panose="02010600030101010101" pitchFamily="2" charset="-122"/>
                <a:sym typeface="+mn-ea"/>
              </a:rPr>
              <a:t> </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相互间满足节奏重复关系</a:t>
            </a:r>
            <a:endParaRPr kumimoji="0" lang="en-US" altLang="zh-CN" sz="1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Times New Roman" panose="02020603050405020304" pitchFamily="18" charset="0"/>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3013" name="矩形 28"/>
          <p:cNvSpPr/>
          <p:nvPr/>
        </p:nvSpPr>
        <p:spPr>
          <a:xfrm>
            <a:off x="490538" y="2727325"/>
            <a:ext cx="55213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矩形 41"/>
          <p:cNvSpPr/>
          <p:nvPr/>
        </p:nvSpPr>
        <p:spPr>
          <a:xfrm>
            <a:off x="852488" y="3198813"/>
            <a:ext cx="3071812" cy="3692525"/>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的自由模进关系</a:t>
            </a:r>
            <a:r>
              <a:rPr lang="zh-CN" altLang="en-US" sz="1800" dirty="0">
                <a:latin typeface="Times New Roman" panose="02020603050405020304" pitchFamily="18" charset="0"/>
                <a:ea typeface="宋体" panose="02010600030101010101" pitchFamily="2" charset="-122"/>
                <a:sym typeface="+mn-ea"/>
              </a:rPr>
              <a:t>：</a:t>
            </a:r>
            <a:endParaRPr lang="zh-CN" altLang="en-US" sz="1800" dirty="0">
              <a:latin typeface="Times New Roman" panose="02020603050405020304" pitchFamily="18" charset="0"/>
              <a:ea typeface="宋体" panose="02010600030101010101" pitchFamily="2" charset="-122"/>
              <a:sym typeface="+mn-ea"/>
            </a:endParaRPr>
          </a:p>
          <a:p>
            <a:pPr eaLnBrk="0" hangingPunct="0"/>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a:t>
            </a:r>
            <a:r>
              <a:rPr lang="zh-CN" altLang="en-US"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的相邻音符间的调性音级差序列与乐汇</a:t>
            </a:r>
            <a:r>
              <a:rPr lang="zh-CN" altLang="en-US"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的相邻音符间的调性音级差序列</a:t>
            </a:r>
            <a:r>
              <a:rPr lang="zh-CN" sz="1800" dirty="0">
                <a:latin typeface="Times New Roman" panose="02020603050405020304" pitchFamily="18" charset="0"/>
                <a:ea typeface="宋体" panose="02010600030101010101" pitchFamily="2" charset="-122"/>
              </a:rPr>
              <a:t>一致</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a:t>
            </a:r>
            <a:r>
              <a:rPr lang="zh-CN" altLang="en-US"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所对应的</a:t>
            </a:r>
            <a:r>
              <a:rPr lang="zh-CN" altLang="en-US" sz="1800" dirty="0">
                <a:latin typeface="Times New Roman" panose="02020603050405020304" pitchFamily="18" charset="0"/>
                <a:ea typeface="宋体" panose="02010600030101010101" pitchFamily="2" charset="-122"/>
                <a:sym typeface="+mn-ea"/>
              </a:rPr>
              <a:t>诗句中的汉字数或单词（或单词音节）数相等</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iii)</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对应的诗句中的汉字分布或单词（或单词音节）分布是一致的。</a:t>
            </a:r>
            <a:endParaRPr lang="zh-CN" altLang="en-US" sz="1800" dirty="0">
              <a:latin typeface="Times New Roman" panose="02020603050405020304" pitchFamily="18" charset="0"/>
              <a:ea typeface="宋体" panose="02010600030101010101" pitchFamily="2" charset="-122"/>
            </a:endParaRPr>
          </a:p>
        </p:txBody>
      </p:sp>
      <p:pic>
        <p:nvPicPr>
          <p:cNvPr id="47109" name="图片 8"/>
          <p:cNvPicPr>
            <a:picLocks noChangeAspect="1"/>
          </p:cNvPicPr>
          <p:nvPr/>
        </p:nvPicPr>
        <p:blipFill>
          <a:blip r:embed="rId1"/>
          <a:stretch>
            <a:fillRect/>
          </a:stretch>
        </p:blipFill>
        <p:spPr>
          <a:xfrm>
            <a:off x="3852545" y="2736215"/>
            <a:ext cx="5170805" cy="1887855"/>
          </a:xfrm>
          <a:prstGeom prst="rect">
            <a:avLst/>
          </a:prstGeom>
          <a:noFill/>
          <a:ln w="9525">
            <a:noFill/>
          </a:ln>
        </p:spPr>
      </p:pic>
      <p:sp>
        <p:nvSpPr>
          <p:cNvPr id="10" name="矩形 9"/>
          <p:cNvSpPr/>
          <p:nvPr/>
        </p:nvSpPr>
        <p:spPr>
          <a:xfrm>
            <a:off x="4331335" y="4611688"/>
            <a:ext cx="4105275" cy="614045"/>
          </a:xfrm>
          <a:prstGeom prst="rect">
            <a:avLst/>
          </a:prstGeom>
        </p:spPr>
        <p:txBody>
          <a:bodyPr wrap="square">
            <a:spAutoFit/>
          </a:bodyP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 </a:t>
            </a:r>
            <a:r>
              <a:rPr lang="zh-CN" altLang="en-US" sz="1600" dirty="0">
                <a:latin typeface="Times New Roman" panose="02020603050405020304" pitchFamily="18" charset="0"/>
                <a:ea typeface="宋体" panose="02010600030101010101" pitchFamily="2" charset="-122"/>
                <a:sym typeface="+mn-ea"/>
              </a:rPr>
              <a:t>乐汇</a:t>
            </a:r>
            <a:r>
              <a:rPr lang="zh-CN" altLang="en-US" sz="1600" i="1" dirty="0">
                <a:latin typeface="Times New Roman" panose="02020603050405020304" pitchFamily="18" charset="0"/>
                <a:ea typeface="宋体" panose="02010600030101010101" pitchFamily="2" charset="-122"/>
                <a:sym typeface="+mn-ea"/>
              </a:rPr>
              <a:t>MP</a:t>
            </a:r>
            <a:r>
              <a:rPr lang="zh-CN" altLang="en-US" sz="1600" i="1" baseline="-25000" dirty="0">
                <a:latin typeface="Times New Roman" panose="02020603050405020304" pitchFamily="18" charset="0"/>
                <a:ea typeface="宋体" panose="02010600030101010101" pitchFamily="2" charset="-122"/>
                <a:sym typeface="+mn-ea"/>
              </a:rPr>
              <a:t>A</a:t>
            </a:r>
            <a:r>
              <a:rPr lang="zh-CN" altLang="en-US" sz="1600" dirty="0">
                <a:latin typeface="Times New Roman" panose="02020603050405020304" pitchFamily="18" charset="0"/>
                <a:ea typeface="宋体" panose="02010600030101010101" pitchFamily="2" charset="-122"/>
                <a:sym typeface="+mn-ea"/>
              </a:rPr>
              <a:t> 与</a:t>
            </a:r>
            <a:r>
              <a:rPr lang="en-US" altLang="zh-CN" sz="1600" dirty="0">
                <a:latin typeface="Times New Roman" panose="02020603050405020304" pitchFamily="18" charset="0"/>
                <a:ea typeface="宋体" panose="02010600030101010101" pitchFamily="2" charset="-122"/>
                <a:sym typeface="+mn-ea"/>
              </a:rPr>
              <a:t> </a:t>
            </a:r>
            <a:r>
              <a:rPr lang="zh-CN" altLang="en-US" sz="1600" i="1" dirty="0">
                <a:latin typeface="Times New Roman" panose="02020603050405020304" pitchFamily="18" charset="0"/>
                <a:ea typeface="宋体" panose="02010600030101010101" pitchFamily="2" charset="-122"/>
                <a:sym typeface="+mn-ea"/>
              </a:rPr>
              <a:t>MP</a:t>
            </a:r>
            <a:r>
              <a:rPr lang="zh-CN" altLang="en-US" sz="1600" i="1" baseline="-25000" dirty="0">
                <a:latin typeface="Times New Roman" panose="02020603050405020304" pitchFamily="18" charset="0"/>
                <a:ea typeface="宋体" panose="02010600030101010101" pitchFamily="2" charset="-122"/>
                <a:sym typeface="+mn-ea"/>
              </a:rPr>
              <a:t>B</a:t>
            </a:r>
            <a:r>
              <a:rPr lang="zh-CN" altLang="en-US" sz="1600" dirty="0">
                <a:latin typeface="Times New Roman" panose="02020603050405020304" pitchFamily="18" charset="0"/>
                <a:ea typeface="宋体" panose="02010600030101010101" pitchFamily="2" charset="-122"/>
                <a:sym typeface="+mn-ea"/>
              </a:rPr>
              <a:t>相互间满足自由模进关系</a:t>
            </a:r>
            <a:endParaRPr kumimoji="0" lang="en-US" altLang="zh-CN" sz="1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Times New Roman" panose="02020603050405020304" pitchFamily="18" charset="0"/>
            </a:endParaRPr>
          </a:p>
        </p:txBody>
      </p:sp>
      <p:sp>
        <p:nvSpPr>
          <p:cNvPr id="47111" name="文本框 2"/>
          <p:cNvSpPr txBox="1"/>
          <p:nvPr/>
        </p:nvSpPr>
        <p:spPr>
          <a:xfrm>
            <a:off x="3917633" y="5080635"/>
            <a:ext cx="2065337" cy="368300"/>
          </a:xfrm>
          <a:prstGeom prst="rect">
            <a:avLst/>
          </a:prstGeom>
          <a:noFill/>
          <a:ln w="9525">
            <a:noFill/>
          </a:ln>
        </p:spPr>
        <p:txBody>
          <a:bodyPr wrap="square" anchor="t">
            <a:spAutoFit/>
          </a:bodyPr>
          <a:p>
            <a:r>
              <a:rPr lang="zh-CN" altLang="en-US" sz="1600" i="1" dirty="0">
                <a:latin typeface="Times New Roman" panose="02020603050405020304" pitchFamily="18" charset="0"/>
                <a:ea typeface="宋体" panose="02010600030101010101" pitchFamily="2" charset="-122"/>
              </a:rPr>
              <a:t>MP</a:t>
            </a:r>
            <a:r>
              <a:rPr lang="zh-CN" altLang="en-US" sz="1600" i="1" baseline="-25000" dirty="0">
                <a:latin typeface="Times New Roman" panose="02020603050405020304" pitchFamily="18" charset="0"/>
                <a:ea typeface="宋体" panose="02010600030101010101" pitchFamily="2" charset="-122"/>
              </a:rPr>
              <a:t>A</a:t>
            </a:r>
            <a:r>
              <a:rPr lang="zh-CN" altLang="en-US" sz="1600" dirty="0">
                <a:latin typeface="Times New Roman" panose="02020603050405020304" pitchFamily="18" charset="0"/>
                <a:ea typeface="宋体" panose="02010600030101010101" pitchFamily="2" charset="-122"/>
                <a:sym typeface="+mn-ea"/>
              </a:rPr>
              <a:t>的</a:t>
            </a:r>
            <a:r>
              <a:rPr lang="zh-CN" altLang="en-US" sz="1600" dirty="0">
                <a:latin typeface="Times New Roman" panose="02020603050405020304" pitchFamily="18" charset="0"/>
                <a:ea typeface="宋体" panose="02010600030101010101" pitchFamily="2" charset="-122"/>
              </a:rPr>
              <a:t>调性音级序列</a:t>
            </a:r>
            <a:r>
              <a:rPr lang="en-US" altLang="en-GB"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47112" name="文本框 3"/>
          <p:cNvSpPr txBox="1"/>
          <p:nvPr/>
        </p:nvSpPr>
        <p:spPr>
          <a:xfrm>
            <a:off x="6053138" y="5136198"/>
            <a:ext cx="2995612" cy="338137"/>
          </a:xfrm>
          <a:prstGeom prst="rect">
            <a:avLst/>
          </a:prstGeom>
          <a:noFill/>
          <a:ln w="9525">
            <a:noFill/>
          </a:ln>
        </p:spPr>
        <p:txBody>
          <a:bodyPr wrap="square" anchor="t">
            <a:spAutoFit/>
          </a:bodyPr>
          <a:p>
            <a:r>
              <a:rPr lang="en-US" altLang="en-GB" sz="1600" dirty="0">
                <a:latin typeface="Times New Roman" panose="02020603050405020304" pitchFamily="18" charset="0"/>
                <a:ea typeface="宋体" panose="02010600030101010101" pitchFamily="2" charset="-122"/>
              </a:rPr>
              <a:t>3,   4,    3,    3,   2,   2,  #1,   2  </a:t>
            </a:r>
            <a:endParaRPr lang="zh-CN" altLang="en-US" sz="1600">
              <a:latin typeface="Chiller" panose="04020404031007020602" pitchFamily="82" charset="0"/>
            </a:endParaRPr>
          </a:p>
        </p:txBody>
      </p:sp>
      <p:sp>
        <p:nvSpPr>
          <p:cNvPr id="47114" name="文本框 5"/>
          <p:cNvSpPr txBox="1"/>
          <p:nvPr/>
        </p:nvSpPr>
        <p:spPr>
          <a:xfrm>
            <a:off x="6053455" y="5479415"/>
            <a:ext cx="3049270" cy="368300"/>
          </a:xfrm>
          <a:prstGeom prst="rect">
            <a:avLst/>
          </a:prstGeom>
          <a:noFill/>
          <a:ln w="9525">
            <a:noFill/>
          </a:ln>
        </p:spPr>
        <p:txBody>
          <a:bodyPr wrap="square" anchor="t">
            <a:spAutoFit/>
          </a:bodyPr>
          <a:p>
            <a:r>
              <a:rPr lang="en-US" altLang="en-GB" sz="1600" dirty="0">
                <a:latin typeface="Times New Roman" panose="02020603050405020304" pitchFamily="18" charset="0"/>
                <a:ea typeface="宋体" panose="02010600030101010101" pitchFamily="2" charset="-122"/>
              </a:rPr>
              <a:t>2,   3,    2,    2,   1,   1,  -7,    1 </a:t>
            </a:r>
            <a:r>
              <a:rPr lang="en-US" altLang="en-GB" sz="1800" dirty="0">
                <a:latin typeface="Times New Roman" panose="02020603050405020304" pitchFamily="18" charset="0"/>
                <a:ea typeface="宋体" panose="02010600030101010101" pitchFamily="2" charset="-122"/>
              </a:rPr>
              <a:t> </a:t>
            </a:r>
            <a:endParaRPr lang="zh-CN" altLang="en-US" sz="1800">
              <a:latin typeface="Chiller" panose="04020404031007020602" pitchFamily="82" charset="0"/>
            </a:endParaRPr>
          </a:p>
        </p:txBody>
      </p:sp>
      <p:sp>
        <p:nvSpPr>
          <p:cNvPr id="47115" name="文本框 6"/>
          <p:cNvSpPr txBox="1"/>
          <p:nvPr/>
        </p:nvSpPr>
        <p:spPr>
          <a:xfrm>
            <a:off x="3884295" y="5981700"/>
            <a:ext cx="1673860" cy="583565"/>
          </a:xfrm>
          <a:prstGeom prst="rect">
            <a:avLst/>
          </a:prstGeom>
          <a:noFill/>
          <a:ln w="9525">
            <a:noFill/>
          </a:ln>
        </p:spPr>
        <p:txBody>
          <a:bodyPr wrap="square" anchor="t">
            <a:spAutoFit/>
          </a:bodyPr>
          <a:p>
            <a:r>
              <a:rPr lang="zh-CN" altLang="en-US" sz="1600" dirty="0">
                <a:latin typeface="Times New Roman" panose="02020603050405020304" pitchFamily="18" charset="0"/>
                <a:ea typeface="宋体" panose="02010600030101010101" pitchFamily="2" charset="-122"/>
                <a:sym typeface="+mn-ea"/>
              </a:rPr>
              <a:t>相邻音符间的调性音级差序列：</a:t>
            </a:r>
            <a:endParaRPr lang="zh-CN" altLang="en-US" sz="1600">
              <a:latin typeface="Chiller" panose="04020404031007020602" pitchFamily="82" charset="0"/>
            </a:endParaRPr>
          </a:p>
        </p:txBody>
      </p:sp>
      <p:sp>
        <p:nvSpPr>
          <p:cNvPr id="47116" name="文本框 7"/>
          <p:cNvSpPr txBox="1"/>
          <p:nvPr/>
        </p:nvSpPr>
        <p:spPr>
          <a:xfrm>
            <a:off x="5558790" y="5892800"/>
            <a:ext cx="3240405" cy="368300"/>
          </a:xfrm>
          <a:prstGeom prst="rect">
            <a:avLst/>
          </a:prstGeom>
          <a:noFill/>
          <a:ln w="9525">
            <a:noFill/>
          </a:ln>
        </p:spPr>
        <p:txBody>
          <a:bodyPr wrap="square" anchor="t">
            <a:spAutoFit/>
          </a:bodyPr>
          <a:p>
            <a:r>
              <a:rPr lang="zh-CN" altLang="en-US" sz="1400" i="1" dirty="0">
                <a:latin typeface="Times New Roman" panose="02020603050405020304" pitchFamily="18" charset="0"/>
                <a:ea typeface="宋体" panose="02010600030101010101" pitchFamily="2" charset="-122"/>
              </a:rPr>
              <a:t>MP</a:t>
            </a:r>
            <a:r>
              <a:rPr lang="zh-CN" altLang="en-US" sz="1400" i="1" baseline="-250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的：</a:t>
            </a:r>
            <a:r>
              <a:rPr lang="en-US" altLang="en-GB" sz="1400" dirty="0">
                <a:latin typeface="Times New Roman" panose="02020603050405020304" pitchFamily="18" charset="0"/>
                <a:ea typeface="宋体" panose="02010600030101010101" pitchFamily="2" charset="-122"/>
              </a:rPr>
              <a:t>  </a:t>
            </a:r>
            <a:r>
              <a:rPr lang="en-US" altLang="en-GB" sz="1600" dirty="0">
                <a:latin typeface="Times New Roman" panose="02020603050405020304" pitchFamily="18" charset="0"/>
                <a:ea typeface="宋体" panose="02010600030101010101" pitchFamily="2" charset="-122"/>
              </a:rPr>
              <a:t>-1,   1,    0,    1,   0,   1,  -1</a:t>
            </a:r>
            <a:r>
              <a:rPr lang="en-US" altLang="en-GB" sz="1800" dirty="0">
                <a:latin typeface="Times New Roman" panose="02020603050405020304" pitchFamily="18" charset="0"/>
                <a:ea typeface="宋体" panose="02010600030101010101" pitchFamily="2" charset="-122"/>
              </a:rPr>
              <a:t>  </a:t>
            </a:r>
            <a:endParaRPr lang="zh-CN" altLang="en-US" sz="1800">
              <a:latin typeface="Chiller" panose="04020404031007020602" pitchFamily="82" charset="0"/>
            </a:endParaRPr>
          </a:p>
        </p:txBody>
      </p:sp>
      <p:sp>
        <p:nvSpPr>
          <p:cNvPr id="47117" name="文本框 8"/>
          <p:cNvSpPr txBox="1"/>
          <p:nvPr/>
        </p:nvSpPr>
        <p:spPr>
          <a:xfrm>
            <a:off x="5574030" y="6235700"/>
            <a:ext cx="3237230" cy="368300"/>
          </a:xfrm>
          <a:prstGeom prst="rect">
            <a:avLst/>
          </a:prstGeom>
          <a:noFill/>
          <a:ln w="9525">
            <a:noFill/>
          </a:ln>
        </p:spPr>
        <p:txBody>
          <a:bodyPr wrap="square" anchor="t">
            <a:spAutoFit/>
          </a:bodyPr>
          <a:p>
            <a:r>
              <a:rPr lang="zh-CN" altLang="en-US" sz="1400" i="1" dirty="0">
                <a:latin typeface="Times New Roman" panose="02020603050405020304" pitchFamily="18" charset="0"/>
                <a:ea typeface="宋体" panose="02010600030101010101" pitchFamily="2" charset="-122"/>
                <a:sym typeface="+mn-ea"/>
              </a:rPr>
              <a:t>MP</a:t>
            </a:r>
            <a:r>
              <a:rPr lang="en-US" altLang="zh-CN" sz="1400" i="1" baseline="-25000" dirty="0">
                <a:latin typeface="Times New Roman" panose="02020603050405020304" pitchFamily="18" charset="0"/>
                <a:ea typeface="宋体" panose="02010600030101010101" pitchFamily="2" charset="-122"/>
                <a:sym typeface="+mn-ea"/>
              </a:rPr>
              <a:t>B</a:t>
            </a:r>
            <a:r>
              <a:rPr lang="zh-CN" altLang="en-US" sz="1400" dirty="0">
                <a:latin typeface="Times New Roman" panose="02020603050405020304" pitchFamily="18" charset="0"/>
                <a:ea typeface="宋体" panose="02010600030101010101" pitchFamily="2" charset="-122"/>
                <a:sym typeface="+mn-ea"/>
              </a:rPr>
              <a:t>的：</a:t>
            </a:r>
            <a:r>
              <a:rPr lang="en-US" altLang="en-GB" sz="1400" dirty="0">
                <a:latin typeface="Times New Roman" panose="02020603050405020304" pitchFamily="18" charset="0"/>
                <a:ea typeface="宋体" panose="02010600030101010101" pitchFamily="2" charset="-122"/>
              </a:rPr>
              <a:t>  </a:t>
            </a:r>
            <a:r>
              <a:rPr lang="en-US" altLang="en-GB" sz="1600" dirty="0">
                <a:latin typeface="Times New Roman" panose="02020603050405020304" pitchFamily="18" charset="0"/>
                <a:ea typeface="宋体" panose="02010600030101010101" pitchFamily="2" charset="-122"/>
              </a:rPr>
              <a:t>-1,   1,    0,    1,   0,   1,  -1</a:t>
            </a:r>
            <a:r>
              <a:rPr lang="en-US" altLang="en-GB" sz="1800" dirty="0">
                <a:latin typeface="Times New Roman" panose="02020603050405020304" pitchFamily="18" charset="0"/>
                <a:ea typeface="宋体" panose="02010600030101010101" pitchFamily="2" charset="-122"/>
              </a:rPr>
              <a:t>  </a:t>
            </a:r>
            <a:endParaRPr lang="zh-CN" altLang="en-US" sz="1800">
              <a:latin typeface="Chiller" panose="04020404031007020602" pitchFamily="82" charset="0"/>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3013" name="矩形 28"/>
          <p:cNvSpPr/>
          <p:nvPr/>
        </p:nvSpPr>
        <p:spPr>
          <a:xfrm>
            <a:off x="490538" y="2727325"/>
            <a:ext cx="55213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
        <p:nvSpPr>
          <p:cNvPr id="3" name="文本框 2"/>
          <p:cNvSpPr txBox="1"/>
          <p:nvPr/>
        </p:nvSpPr>
        <p:spPr>
          <a:xfrm>
            <a:off x="3901123" y="5494655"/>
            <a:ext cx="2065337" cy="368300"/>
          </a:xfrm>
          <a:prstGeom prst="rect">
            <a:avLst/>
          </a:prstGeom>
          <a:noFill/>
          <a:ln w="9525">
            <a:noFill/>
          </a:ln>
        </p:spPr>
        <p:txBody>
          <a:bodyPr wrap="square" anchor="t">
            <a:spAutoFit/>
          </a:bodyPr>
          <a:p>
            <a:r>
              <a:rPr lang="zh-CN" altLang="en-US" sz="1600" i="1" dirty="0">
                <a:latin typeface="Times New Roman" panose="02020603050405020304" pitchFamily="18" charset="0"/>
                <a:ea typeface="宋体" panose="02010600030101010101" pitchFamily="2" charset="-122"/>
              </a:rPr>
              <a:t>MP</a:t>
            </a:r>
            <a:r>
              <a:rPr lang="en-US" altLang="zh-CN" sz="1600" i="1" baseline="-25000" dirty="0">
                <a:latin typeface="Times New Roman" panose="02020603050405020304" pitchFamily="18" charset="0"/>
                <a:ea typeface="宋体" panose="02010600030101010101" pitchFamily="2" charset="-122"/>
              </a:rPr>
              <a:t>B</a:t>
            </a:r>
            <a:r>
              <a:rPr lang="zh-CN" altLang="en-US" sz="1600" dirty="0">
                <a:latin typeface="Times New Roman" panose="02020603050405020304" pitchFamily="18" charset="0"/>
                <a:ea typeface="宋体" panose="02010600030101010101" pitchFamily="2" charset="-122"/>
                <a:sym typeface="+mn-ea"/>
              </a:rPr>
              <a:t>的</a:t>
            </a:r>
            <a:r>
              <a:rPr lang="zh-CN" altLang="en-US" sz="1600" dirty="0">
                <a:latin typeface="Times New Roman" panose="02020603050405020304" pitchFamily="18" charset="0"/>
                <a:ea typeface="宋体" panose="02010600030101010101" pitchFamily="2" charset="-122"/>
              </a:rPr>
              <a:t>调性音级序列</a:t>
            </a:r>
            <a:r>
              <a:rPr lang="en-US" altLang="en-GB"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矩形 41"/>
          <p:cNvSpPr/>
          <p:nvPr/>
        </p:nvSpPr>
        <p:spPr>
          <a:xfrm>
            <a:off x="852488" y="3198495"/>
            <a:ext cx="3071812" cy="341503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的严格模进关系：</a:t>
            </a:r>
            <a:endParaRPr lang="zh-CN" altLang="en-US" sz="1800" dirty="0">
              <a:latin typeface="Times New Roman" panose="02020603050405020304" pitchFamily="18" charset="0"/>
              <a:ea typeface="宋体" panose="02010600030101010101" pitchFamily="2" charset="-122"/>
            </a:endParaRPr>
          </a:p>
          <a:p>
            <a:pPr eaLnBrk="0" hangingPunct="0"/>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a:t>
            </a:r>
            <a:r>
              <a:rPr lang="zh-CN" altLang="en-US"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的相邻音符间的音程序列与乐汇</a:t>
            </a:r>
            <a:r>
              <a:rPr lang="zh-CN" altLang="en-US"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的相邻音符间的音程序列</a:t>
            </a:r>
            <a:r>
              <a:rPr lang="zh-CN" sz="1800" dirty="0">
                <a:latin typeface="Times New Roman" panose="02020603050405020304" pitchFamily="18" charset="0"/>
                <a:ea typeface="宋体" panose="02010600030101010101" pitchFamily="2" charset="-122"/>
                <a:sym typeface="+mn-ea"/>
              </a:rPr>
              <a:t>一致</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a:t>
            </a:r>
            <a:r>
              <a:rPr lang="zh-CN" altLang="en-US"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所对应的诗句中的汉字数或单词（或单词音节）数相等</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iii)</a:t>
            </a:r>
            <a:r>
              <a:rPr lang="zh-CN" altLang="en-US" sz="1800" dirty="0">
                <a:latin typeface="Times New Roman" panose="02020603050405020304" pitchFamily="18" charset="0"/>
                <a:ea typeface="宋体" panose="02010600030101010101" pitchFamily="2" charset="-122"/>
                <a:sym typeface="+mn-ea"/>
              </a:rPr>
              <a:t>乐汇</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A</a:t>
            </a:r>
            <a:r>
              <a:rPr lang="zh-CN" altLang="en-US" sz="1800" dirty="0">
                <a:latin typeface="Times New Roman" panose="02020603050405020304" pitchFamily="18" charset="0"/>
                <a:ea typeface="宋体" panose="02010600030101010101" pitchFamily="2" charset="-122"/>
                <a:sym typeface="+mn-ea"/>
              </a:rPr>
              <a:t> 与</a:t>
            </a:r>
            <a:r>
              <a:rPr lang="en-US" altLang="zh-CN" sz="1800" dirty="0">
                <a:latin typeface="Times New Roman" panose="02020603050405020304" pitchFamily="18" charset="0"/>
                <a:ea typeface="宋体" panose="02010600030101010101" pitchFamily="2" charset="-122"/>
                <a:sym typeface="+mn-ea"/>
              </a:rPr>
              <a:t> </a:t>
            </a:r>
            <a:r>
              <a:rPr lang="zh-CN" altLang="en-US" sz="1800" i="1" dirty="0">
                <a:latin typeface="Times New Roman" panose="02020603050405020304" pitchFamily="18" charset="0"/>
                <a:ea typeface="宋体" panose="02010600030101010101" pitchFamily="2" charset="-122"/>
                <a:sym typeface="+mn-ea"/>
              </a:rPr>
              <a:t>MP</a:t>
            </a:r>
            <a:r>
              <a:rPr lang="zh-CN" altLang="en-US" sz="1800" i="1" baseline="-25000" dirty="0">
                <a:latin typeface="Times New Roman" panose="02020603050405020304" pitchFamily="18" charset="0"/>
                <a:ea typeface="宋体" panose="02010600030101010101" pitchFamily="2" charset="-122"/>
                <a:sym typeface="+mn-ea"/>
              </a:rPr>
              <a:t>B</a:t>
            </a:r>
            <a:r>
              <a:rPr lang="zh-CN" altLang="en-US" sz="1800" dirty="0">
                <a:latin typeface="Times New Roman" panose="02020603050405020304" pitchFamily="18" charset="0"/>
                <a:ea typeface="宋体" panose="02010600030101010101" pitchFamily="2" charset="-122"/>
                <a:sym typeface="+mn-ea"/>
              </a:rPr>
              <a:t>对应的诗句中的汉字分布或单词（或单词音节）分布是一致的。</a:t>
            </a:r>
            <a:endParaRPr lang="zh-CN" altLang="en-US" sz="1800" dirty="0">
              <a:latin typeface="Times New Roman" panose="02020603050405020304" pitchFamily="18" charset="0"/>
              <a:ea typeface="宋体" panose="02010600030101010101" pitchFamily="2" charset="-122"/>
            </a:endParaRPr>
          </a:p>
        </p:txBody>
      </p:sp>
      <p:pic>
        <p:nvPicPr>
          <p:cNvPr id="51205" name="图片 1"/>
          <p:cNvPicPr>
            <a:picLocks noChangeAspect="1"/>
          </p:cNvPicPr>
          <p:nvPr/>
        </p:nvPicPr>
        <p:blipFill>
          <a:blip r:embed="rId1"/>
          <a:stretch>
            <a:fillRect/>
          </a:stretch>
        </p:blipFill>
        <p:spPr>
          <a:xfrm>
            <a:off x="4016375" y="2660968"/>
            <a:ext cx="4991100" cy="1928812"/>
          </a:xfrm>
          <a:prstGeom prst="rect">
            <a:avLst/>
          </a:prstGeom>
          <a:noFill/>
          <a:ln w="9525">
            <a:noFill/>
          </a:ln>
        </p:spPr>
      </p:pic>
      <p:sp>
        <p:nvSpPr>
          <p:cNvPr id="51207" name="文本框 2"/>
          <p:cNvSpPr txBox="1"/>
          <p:nvPr/>
        </p:nvSpPr>
        <p:spPr>
          <a:xfrm>
            <a:off x="3989388" y="5511800"/>
            <a:ext cx="2997200" cy="368300"/>
          </a:xfrm>
          <a:prstGeom prst="rect">
            <a:avLst/>
          </a:prstGeom>
          <a:noFill/>
          <a:ln w="9525">
            <a:noFill/>
          </a:ln>
        </p:spPr>
        <p:txBody>
          <a:bodyPr wrap="square" anchor="t">
            <a:spAutoFit/>
          </a:bodyPr>
          <a:p>
            <a:r>
              <a:rPr lang="zh-CN" altLang="en-US" sz="1400" dirty="0">
                <a:latin typeface="Times New Roman" panose="02020603050405020304" pitchFamily="18" charset="0"/>
                <a:ea typeface="宋体" panose="02010600030101010101" pitchFamily="2" charset="-122"/>
              </a:rPr>
              <a:t>乐汇</a:t>
            </a:r>
            <a:r>
              <a:rPr lang="zh-CN" altLang="en-US" sz="1400" i="1" dirty="0">
                <a:latin typeface="Times New Roman" panose="02020603050405020304" pitchFamily="18" charset="0"/>
                <a:ea typeface="宋体" panose="02010600030101010101" pitchFamily="2" charset="-122"/>
                <a:sym typeface="+mn-ea"/>
              </a:rPr>
              <a:t>MP</a:t>
            </a:r>
            <a:r>
              <a:rPr lang="zh-CN" altLang="en-US" sz="1400" i="1" baseline="-25000" dirty="0">
                <a:latin typeface="Times New Roman" panose="02020603050405020304" pitchFamily="18" charset="0"/>
                <a:ea typeface="宋体" panose="02010600030101010101" pitchFamily="2" charset="-122"/>
                <a:sym typeface="+mn-ea"/>
              </a:rPr>
              <a:t>A</a:t>
            </a:r>
            <a:r>
              <a:rPr lang="zh-CN" altLang="en-US" sz="1400" dirty="0">
                <a:latin typeface="Times New Roman" panose="02020603050405020304" pitchFamily="18" charset="0"/>
                <a:ea typeface="宋体" panose="02010600030101010101" pitchFamily="2" charset="-122"/>
              </a:rPr>
              <a:t>相邻音符的音程序列：</a:t>
            </a:r>
            <a:r>
              <a:rPr lang="en-US" altLang="en-GB" sz="1400" dirty="0">
                <a:latin typeface="Times New Roman" panose="02020603050405020304" pitchFamily="18" charset="0"/>
                <a:ea typeface="宋体" panose="02010600030101010101" pitchFamily="2" charset="-122"/>
              </a:rPr>
              <a:t> </a:t>
            </a:r>
            <a:r>
              <a:rPr lang="en-US" altLang="en-GB" sz="1800" dirty="0">
                <a:latin typeface="Times New Roman" panose="02020603050405020304" pitchFamily="18" charset="0"/>
                <a:ea typeface="宋体" panose="02010600030101010101" pitchFamily="2" charset="-122"/>
              </a:rPr>
              <a:t> </a:t>
            </a:r>
            <a:endParaRPr lang="zh-CN" altLang="en-US" sz="1800">
              <a:latin typeface="Chiller" panose="04020404031007020602" pitchFamily="82" charset="0"/>
            </a:endParaRPr>
          </a:p>
        </p:txBody>
      </p:sp>
      <p:sp>
        <p:nvSpPr>
          <p:cNvPr id="51208" name="文本框 3"/>
          <p:cNvSpPr txBox="1"/>
          <p:nvPr/>
        </p:nvSpPr>
        <p:spPr>
          <a:xfrm>
            <a:off x="6699885" y="5567680"/>
            <a:ext cx="2335530" cy="337185"/>
          </a:xfrm>
          <a:prstGeom prst="rect">
            <a:avLst/>
          </a:prstGeom>
          <a:noFill/>
          <a:ln w="9525">
            <a:noFill/>
          </a:ln>
        </p:spPr>
        <p:txBody>
          <a:bodyPr wrap="square" anchor="t">
            <a:spAutoFit/>
          </a:bodyPr>
          <a:p>
            <a:r>
              <a:rPr lang="en-US" altLang="en-GB" sz="1600" dirty="0">
                <a:latin typeface="Times New Roman" panose="02020603050405020304" pitchFamily="18" charset="0"/>
                <a:ea typeface="宋体" panose="02010600030101010101" pitchFamily="2" charset="-122"/>
              </a:rPr>
              <a:t>7,   -2,    -2,    -1,   -2,   -2  </a:t>
            </a:r>
            <a:endParaRPr lang="zh-CN" altLang="en-US" sz="1600">
              <a:latin typeface="Chiller" panose="04020404031007020602" pitchFamily="82" charset="0"/>
            </a:endParaRPr>
          </a:p>
        </p:txBody>
      </p:sp>
      <p:sp>
        <p:nvSpPr>
          <p:cNvPr id="51209" name="文本框 1"/>
          <p:cNvSpPr txBox="1"/>
          <p:nvPr/>
        </p:nvSpPr>
        <p:spPr>
          <a:xfrm>
            <a:off x="3971925" y="5854700"/>
            <a:ext cx="2997200" cy="368300"/>
          </a:xfrm>
          <a:prstGeom prst="rect">
            <a:avLst/>
          </a:prstGeom>
          <a:noFill/>
          <a:ln w="9525">
            <a:noFill/>
          </a:ln>
        </p:spPr>
        <p:txBody>
          <a:bodyPr wrap="square" anchor="t">
            <a:spAutoFit/>
          </a:bodyPr>
          <a:p>
            <a:r>
              <a:rPr lang="zh-CN" altLang="en-US" sz="1400" dirty="0">
                <a:latin typeface="Times New Roman" panose="02020603050405020304" pitchFamily="18" charset="0"/>
                <a:ea typeface="宋体" panose="02010600030101010101" pitchFamily="2" charset="-122"/>
                <a:sym typeface="+mn-ea"/>
              </a:rPr>
              <a:t>乐汇</a:t>
            </a:r>
            <a:r>
              <a:rPr lang="zh-CN" altLang="en-US" sz="1400" i="1" dirty="0">
                <a:latin typeface="Times New Roman" panose="02020603050405020304" pitchFamily="18" charset="0"/>
                <a:ea typeface="宋体" panose="02010600030101010101" pitchFamily="2" charset="-122"/>
                <a:sym typeface="+mn-ea"/>
              </a:rPr>
              <a:t>MP</a:t>
            </a:r>
            <a:r>
              <a:rPr lang="en-US" altLang="zh-CN" sz="1400" i="1" baseline="-25000" dirty="0">
                <a:latin typeface="Times New Roman" panose="02020603050405020304" pitchFamily="18" charset="0"/>
                <a:ea typeface="宋体" panose="02010600030101010101" pitchFamily="2" charset="-122"/>
                <a:sym typeface="+mn-ea"/>
              </a:rPr>
              <a:t>B</a:t>
            </a:r>
            <a:r>
              <a:rPr lang="zh-CN" altLang="en-US" sz="1400" dirty="0">
                <a:latin typeface="Times New Roman" panose="02020603050405020304" pitchFamily="18" charset="0"/>
                <a:ea typeface="宋体" panose="02010600030101010101" pitchFamily="2" charset="-122"/>
                <a:sym typeface="+mn-ea"/>
              </a:rPr>
              <a:t>相邻音符的音程序列：</a:t>
            </a:r>
            <a:r>
              <a:rPr lang="en-US" altLang="en-GB" sz="1400" dirty="0">
                <a:latin typeface="Times New Roman" panose="02020603050405020304" pitchFamily="18" charset="0"/>
                <a:ea typeface="宋体" panose="02010600030101010101" pitchFamily="2" charset="-122"/>
              </a:rPr>
              <a:t> </a:t>
            </a:r>
            <a:r>
              <a:rPr lang="en-US" altLang="en-GB" sz="1800" dirty="0">
                <a:latin typeface="Times New Roman" panose="02020603050405020304" pitchFamily="18" charset="0"/>
                <a:ea typeface="宋体" panose="02010600030101010101" pitchFamily="2" charset="-122"/>
              </a:rPr>
              <a:t> </a:t>
            </a:r>
            <a:endParaRPr lang="zh-CN" altLang="en-US" sz="1800">
              <a:latin typeface="Chiller" panose="04020404031007020602" pitchFamily="82" charset="0"/>
            </a:endParaRPr>
          </a:p>
        </p:txBody>
      </p:sp>
      <p:sp>
        <p:nvSpPr>
          <p:cNvPr id="51210" name="文本框 4"/>
          <p:cNvSpPr txBox="1"/>
          <p:nvPr/>
        </p:nvSpPr>
        <p:spPr>
          <a:xfrm>
            <a:off x="6683375" y="5908675"/>
            <a:ext cx="2320925" cy="338138"/>
          </a:xfrm>
          <a:prstGeom prst="rect">
            <a:avLst/>
          </a:prstGeom>
          <a:noFill/>
          <a:ln w="9525">
            <a:noFill/>
          </a:ln>
        </p:spPr>
        <p:txBody>
          <a:bodyPr wrap="square" anchor="t">
            <a:spAutoFit/>
          </a:bodyPr>
          <a:p>
            <a:r>
              <a:rPr lang="en-US" altLang="en-GB" sz="1600" dirty="0">
                <a:latin typeface="Times New Roman" panose="02020603050405020304" pitchFamily="18" charset="0"/>
                <a:ea typeface="宋体" panose="02010600030101010101" pitchFamily="2" charset="-122"/>
              </a:rPr>
              <a:t>7,   -2,    -2,    -1,   -2,   -2  </a:t>
            </a:r>
            <a:endParaRPr lang="zh-CN" altLang="en-US" sz="1600">
              <a:latin typeface="Chiller" panose="04020404031007020602" pitchFamily="82" charset="0"/>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3013" name="矩形 28"/>
          <p:cNvSpPr/>
          <p:nvPr/>
        </p:nvSpPr>
        <p:spPr>
          <a:xfrm>
            <a:off x="490538" y="2727325"/>
            <a:ext cx="5521325"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
        <p:nvSpPr>
          <p:cNvPr id="3" name="矩形 2"/>
          <p:cNvSpPr/>
          <p:nvPr/>
        </p:nvSpPr>
        <p:spPr>
          <a:xfrm>
            <a:off x="4331335" y="4611688"/>
            <a:ext cx="4105275" cy="614045"/>
          </a:xfrm>
          <a:prstGeom prst="rect">
            <a:avLst/>
          </a:prstGeom>
        </p:spPr>
        <p:txBody>
          <a:bodyPr wrap="square">
            <a:spAutoFit/>
          </a:bodyP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 </a:t>
            </a:r>
            <a:r>
              <a:rPr lang="zh-CN" altLang="en-US" sz="1600" dirty="0">
                <a:latin typeface="Times New Roman" panose="02020603050405020304" pitchFamily="18" charset="0"/>
                <a:ea typeface="宋体" panose="02010600030101010101" pitchFamily="2" charset="-122"/>
                <a:sym typeface="+mn-ea"/>
              </a:rPr>
              <a:t>乐汇</a:t>
            </a:r>
            <a:r>
              <a:rPr lang="zh-CN" altLang="en-US" sz="1600" i="1" dirty="0">
                <a:latin typeface="Times New Roman" panose="02020603050405020304" pitchFamily="18" charset="0"/>
                <a:ea typeface="宋体" panose="02010600030101010101" pitchFamily="2" charset="-122"/>
                <a:sym typeface="+mn-ea"/>
              </a:rPr>
              <a:t>MP</a:t>
            </a:r>
            <a:r>
              <a:rPr lang="zh-CN" altLang="en-US" sz="1600" i="1" baseline="-25000" dirty="0">
                <a:latin typeface="Times New Roman" panose="02020603050405020304" pitchFamily="18" charset="0"/>
                <a:ea typeface="宋体" panose="02010600030101010101" pitchFamily="2" charset="-122"/>
                <a:sym typeface="+mn-ea"/>
              </a:rPr>
              <a:t>A</a:t>
            </a:r>
            <a:r>
              <a:rPr lang="zh-CN" altLang="en-US" sz="1600" dirty="0">
                <a:latin typeface="Times New Roman" panose="02020603050405020304" pitchFamily="18" charset="0"/>
                <a:ea typeface="宋体" panose="02010600030101010101" pitchFamily="2" charset="-122"/>
                <a:sym typeface="+mn-ea"/>
              </a:rPr>
              <a:t> 与</a:t>
            </a:r>
            <a:r>
              <a:rPr lang="en-US" altLang="zh-CN" sz="1600" dirty="0">
                <a:latin typeface="Times New Roman" panose="02020603050405020304" pitchFamily="18" charset="0"/>
                <a:ea typeface="宋体" panose="02010600030101010101" pitchFamily="2" charset="-122"/>
                <a:sym typeface="+mn-ea"/>
              </a:rPr>
              <a:t> </a:t>
            </a:r>
            <a:r>
              <a:rPr lang="zh-CN" altLang="en-US" sz="1600" i="1" dirty="0">
                <a:latin typeface="Times New Roman" panose="02020603050405020304" pitchFamily="18" charset="0"/>
                <a:ea typeface="宋体" panose="02010600030101010101" pitchFamily="2" charset="-122"/>
                <a:sym typeface="+mn-ea"/>
              </a:rPr>
              <a:t>MP</a:t>
            </a:r>
            <a:r>
              <a:rPr lang="zh-CN" altLang="en-US" sz="1600" i="1" baseline="-25000" dirty="0">
                <a:latin typeface="Times New Roman" panose="02020603050405020304" pitchFamily="18" charset="0"/>
                <a:ea typeface="宋体" panose="02010600030101010101" pitchFamily="2" charset="-122"/>
                <a:sym typeface="+mn-ea"/>
              </a:rPr>
              <a:t>B</a:t>
            </a:r>
            <a:r>
              <a:rPr lang="zh-CN" altLang="en-US" sz="1600" dirty="0">
                <a:latin typeface="Times New Roman" panose="02020603050405020304" pitchFamily="18" charset="0"/>
                <a:ea typeface="宋体" panose="02010600030101010101" pitchFamily="2" charset="-122"/>
                <a:sym typeface="+mn-ea"/>
              </a:rPr>
              <a:t>相互间满足严格模进关系</a:t>
            </a:r>
            <a:endParaRPr kumimoji="0" lang="en-US" altLang="zh-CN" sz="1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Times New Roman" panose="02020603050405020304" pitchFamily="18" charset="0"/>
            </a:endParaRP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矩形 41"/>
          <p:cNvSpPr/>
          <p:nvPr/>
        </p:nvSpPr>
        <p:spPr>
          <a:xfrm>
            <a:off x="900430" y="3322955"/>
            <a:ext cx="1722755" cy="368300"/>
          </a:xfrm>
          <a:prstGeom prst="rect">
            <a:avLst/>
          </a:prstGeom>
          <a:noFill/>
          <a:ln w="9525">
            <a:noFill/>
          </a:ln>
        </p:spPr>
        <p:txBody>
          <a:bodyPr wrap="square" anchor="t">
            <a:spAutoFit/>
          </a:bodyPr>
          <a:p>
            <a:pPr eaLnBrk="0" hangingPunct="0"/>
            <a:r>
              <a:rPr lang="en-US" altLang="zh-CN" sz="1800" dirty="0">
                <a:latin typeface="Times New Roman" panose="02020603050405020304" pitchFamily="18" charset="0"/>
                <a:ea typeface="宋体" panose="02010600030101010101" pitchFamily="2" charset="-122"/>
              </a:rPr>
              <a:t>A</a:t>
            </a:r>
            <a:r>
              <a:rPr lang="zh-CN" altLang="en-US" sz="1800" dirty="0">
                <a:latin typeface="Times New Roman" panose="02020603050405020304" pitchFamily="18" charset="0"/>
                <a:ea typeface="宋体" panose="02010600030101010101" pitchFamily="2" charset="-122"/>
              </a:rPr>
              <a:t>类对比关系</a:t>
            </a:r>
            <a:r>
              <a:rPr lang="en-US" altLang="zh-CN" sz="1800" dirty="0">
                <a:latin typeface="Times New Roman" panose="02020603050405020304" pitchFamily="18" charset="0"/>
                <a:ea typeface="宋体" panose="02010600030101010101" pitchFamily="2" charset="-122"/>
              </a:rPr>
              <a:t> :</a:t>
            </a:r>
            <a:endParaRPr lang="en-US" altLang="zh-CN" sz="1800" dirty="0">
              <a:latin typeface="Times New Roman" panose="02020603050405020304" pitchFamily="18" charset="0"/>
              <a:ea typeface="宋体" panose="02010600030101010101" pitchFamily="2" charset="-122"/>
            </a:endParaRPr>
          </a:p>
        </p:txBody>
      </p:sp>
      <p:pic>
        <p:nvPicPr>
          <p:cNvPr id="53253" name="图片 10"/>
          <p:cNvPicPr>
            <a:picLocks noChangeAspect="1"/>
          </p:cNvPicPr>
          <p:nvPr/>
        </p:nvPicPr>
        <p:blipFill>
          <a:blip r:embed="rId1"/>
          <a:stretch>
            <a:fillRect/>
          </a:stretch>
        </p:blipFill>
        <p:spPr>
          <a:xfrm>
            <a:off x="2729865" y="2682240"/>
            <a:ext cx="6238240" cy="1582420"/>
          </a:xfrm>
          <a:prstGeom prst="rect">
            <a:avLst/>
          </a:prstGeom>
          <a:noFill/>
          <a:ln w="9525">
            <a:noFill/>
          </a:ln>
        </p:spPr>
      </p:pic>
      <p:sp>
        <p:nvSpPr>
          <p:cNvPr id="53255" name="矩形 7"/>
          <p:cNvSpPr/>
          <p:nvPr/>
        </p:nvSpPr>
        <p:spPr>
          <a:xfrm>
            <a:off x="763905" y="4537710"/>
            <a:ext cx="7103745" cy="1753235"/>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如果：</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可分解成</a:t>
            </a:r>
            <a:r>
              <a:rPr lang="en-US" altLang="zh-CN" sz="18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rPr>
              <a:t>个部分：</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与</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2</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sym typeface="+mn-ea"/>
              </a:rPr>
              <a:t>可分解成</a:t>
            </a:r>
            <a:r>
              <a:rPr lang="en-US" altLang="zh-CN" sz="1800" dirty="0">
                <a:latin typeface="Times New Roman" panose="02020603050405020304" pitchFamily="18" charset="0"/>
                <a:ea typeface="宋体" panose="02010600030101010101" pitchFamily="2" charset="-122"/>
                <a:sym typeface="+mn-ea"/>
              </a:rPr>
              <a:t>2</a:t>
            </a:r>
            <a:r>
              <a:rPr lang="zh-CN" altLang="en-US" sz="1800" dirty="0">
                <a:latin typeface="Times New Roman" panose="02020603050405020304" pitchFamily="18" charset="0"/>
                <a:ea typeface="宋体" panose="02010600030101010101" pitchFamily="2" charset="-122"/>
                <a:sym typeface="+mn-ea"/>
              </a:rPr>
              <a:t>个部分：</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and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2</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iii)</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1</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rPr>
              <a:t>≧</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iv)</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1</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rPr>
              <a:t>≧</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v)</a:t>
            </a:r>
            <a:r>
              <a:rPr lang="zh-CN" altLang="en-US" sz="1800" dirty="0">
                <a:latin typeface="Times New Roman" panose="02020603050405020304" pitchFamily="18" charset="0"/>
                <a:ea typeface="宋体" panose="02010600030101010101" pitchFamily="2" charset="-122"/>
                <a:sym typeface="+mn-ea"/>
              </a:rPr>
              <a:t>乐汇</a:t>
            </a:r>
            <a:r>
              <a:rPr lang="en-US" altLang="zh-CN"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A</a:t>
            </a:r>
            <a:r>
              <a:rPr lang="en-US" altLang="zh-CN" sz="1800" baseline="-25000" dirty="0">
                <a:latin typeface="Times New Roman" panose="02020603050405020304" pitchFamily="18" charset="0"/>
                <a:ea typeface="宋体" panose="02010600030101010101" pitchFamily="2" charset="-122"/>
                <a:sym typeface="+mn-ea"/>
              </a:rPr>
              <a:t>1</a:t>
            </a:r>
            <a:r>
              <a:rPr lang="zh-CN" altLang="en-US" sz="1800" dirty="0">
                <a:latin typeface="Times New Roman" panose="02020603050405020304" pitchFamily="18" charset="0"/>
                <a:ea typeface="宋体" panose="02010600030101010101" pitchFamily="2" charset="-122"/>
                <a:sym typeface="+mn-ea"/>
              </a:rPr>
              <a:t>与乐汇</a:t>
            </a:r>
            <a:r>
              <a:rPr lang="en-US" altLang="zh-CN"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B</a:t>
            </a:r>
            <a:r>
              <a:rPr lang="en-US" altLang="zh-CN" sz="1800" baseline="-25000" dirty="0">
                <a:latin typeface="Times New Roman" panose="02020603050405020304" pitchFamily="18" charset="0"/>
                <a:ea typeface="宋体" panose="02010600030101010101" pitchFamily="2" charset="-122"/>
                <a:sym typeface="+mn-ea"/>
              </a:rPr>
              <a:t>1</a:t>
            </a:r>
            <a:r>
              <a:rPr lang="zh-CN" sz="1800" dirty="0">
                <a:latin typeface="Times New Roman" panose="02020603050405020304" pitchFamily="18" charset="0"/>
                <a:ea typeface="宋体" panose="02010600030101010101" pitchFamily="2" charset="-122"/>
                <a:sym typeface="+mn-ea"/>
              </a:rPr>
              <a:t>存在一模仿类</a:t>
            </a:r>
            <a:r>
              <a:rPr lang="zh-CN" altLang="en-US" sz="1800" dirty="0">
                <a:latin typeface="Times New Roman" panose="02020603050405020304" pitchFamily="18" charset="0"/>
                <a:ea typeface="宋体" panose="02010600030101010101" pitchFamily="2" charset="-122"/>
                <a:sym typeface="+mn-ea"/>
              </a:rPr>
              <a:t>关系</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j</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3013" name="矩形 28"/>
          <p:cNvSpPr/>
          <p:nvPr/>
        </p:nvSpPr>
        <p:spPr>
          <a:xfrm>
            <a:off x="490855" y="2727325"/>
            <a:ext cx="2191385"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
        <p:nvSpPr>
          <p:cNvPr id="2" name="矩形 41"/>
          <p:cNvSpPr/>
          <p:nvPr/>
        </p:nvSpPr>
        <p:spPr>
          <a:xfrm>
            <a:off x="3663315" y="4239260"/>
            <a:ext cx="4285615" cy="58356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rPr>
              <a:t>乐汇</a:t>
            </a:r>
            <a:r>
              <a:rPr lang="en-US" altLang="zh-CN" sz="1600" i="1" dirty="0">
                <a:latin typeface="Times New Roman" panose="02020603050405020304" pitchFamily="18" charset="0"/>
                <a:ea typeface="宋体" panose="02010600030101010101" pitchFamily="2" charset="-122"/>
              </a:rPr>
              <a:t>MP</a:t>
            </a:r>
            <a:r>
              <a:rPr lang="en-US" altLang="zh-CN" sz="1600" i="1" baseline="-25000" dirty="0">
                <a:latin typeface="Times New Roman" panose="02020603050405020304" pitchFamily="18" charset="0"/>
                <a:ea typeface="宋体" panose="02010600030101010101" pitchFamily="2" charset="-122"/>
              </a:rPr>
              <a:t>A</a:t>
            </a:r>
            <a:r>
              <a:rPr lang="zh-CN" altLang="en-US" sz="1600" dirty="0">
                <a:latin typeface="Times New Roman" panose="02020603050405020304" pitchFamily="18" charset="0"/>
                <a:ea typeface="宋体" panose="02010600030101010101" pitchFamily="2" charset="-122"/>
              </a:rPr>
              <a:t>与乐汇</a:t>
            </a:r>
            <a:r>
              <a:rPr lang="en-US" altLang="zh-CN" sz="1600" i="1" dirty="0">
                <a:latin typeface="Times New Roman" panose="02020603050405020304" pitchFamily="18" charset="0"/>
                <a:ea typeface="宋体" panose="02010600030101010101" pitchFamily="2" charset="-122"/>
              </a:rPr>
              <a:t>MP</a:t>
            </a:r>
            <a:r>
              <a:rPr lang="en-US" altLang="zh-CN" sz="1600" i="1" baseline="-25000" dirty="0">
                <a:latin typeface="Times New Roman" panose="02020603050405020304" pitchFamily="18" charset="0"/>
                <a:ea typeface="宋体" panose="02010600030101010101" pitchFamily="2" charset="-122"/>
              </a:rPr>
              <a:t>B</a:t>
            </a:r>
            <a:r>
              <a:rPr lang="zh-CN" altLang="en-US" sz="1600" dirty="0">
                <a:latin typeface="Times New Roman" panose="02020603050405020304" pitchFamily="18" charset="0"/>
                <a:ea typeface="宋体" panose="02010600030101010101" pitchFamily="2" charset="-122"/>
              </a:rPr>
              <a:t>之间的</a:t>
            </a:r>
            <a:r>
              <a:rPr lang="en-US" altLang="zh-CN" sz="1600" dirty="0">
                <a:latin typeface="Times New Roman" panose="02020603050405020304" pitchFamily="18" charset="0"/>
                <a:ea typeface="宋体" panose="02010600030101010101" pitchFamily="2" charset="-122"/>
              </a:rPr>
              <a:t>A</a:t>
            </a:r>
            <a:r>
              <a:rPr lang="zh-CN" altLang="en-US" sz="1600" dirty="0">
                <a:latin typeface="Times New Roman" panose="02020603050405020304" pitchFamily="18" charset="0"/>
                <a:ea typeface="宋体" panose="02010600030101010101" pitchFamily="2" charset="-122"/>
              </a:rPr>
              <a:t>类对比关系，其中，</a:t>
            </a:r>
            <a:r>
              <a:rPr lang="zh-CN" altLang="en-US" sz="1600" dirty="0">
                <a:latin typeface="Times New Roman" panose="02020603050405020304" pitchFamily="18" charset="0"/>
                <a:ea typeface="宋体" panose="02010600030101010101" pitchFamily="2" charset="-122"/>
                <a:sym typeface="+mn-ea"/>
              </a:rPr>
              <a:t>乐汇</a:t>
            </a:r>
            <a:r>
              <a:rPr lang="en-US" altLang="zh-CN" sz="1600" i="1" dirty="0">
                <a:latin typeface="Times New Roman" panose="02020603050405020304" pitchFamily="18" charset="0"/>
                <a:ea typeface="宋体" panose="02010600030101010101" pitchFamily="2" charset="-122"/>
                <a:sym typeface="+mn-ea"/>
              </a:rPr>
              <a:t>mp</a:t>
            </a:r>
            <a:r>
              <a:rPr lang="en-US" altLang="zh-CN" sz="1600" i="1" baseline="-25000" dirty="0">
                <a:latin typeface="Times New Roman" panose="02020603050405020304" pitchFamily="18" charset="0"/>
                <a:ea typeface="宋体" panose="02010600030101010101" pitchFamily="2" charset="-122"/>
                <a:sym typeface="+mn-ea"/>
              </a:rPr>
              <a:t>A</a:t>
            </a:r>
            <a:r>
              <a:rPr lang="en-US" altLang="zh-CN" sz="1600" baseline="-25000" dirty="0">
                <a:latin typeface="Times New Roman" panose="02020603050405020304" pitchFamily="18" charset="0"/>
                <a:ea typeface="宋体" panose="02010600030101010101" pitchFamily="2" charset="-122"/>
                <a:sym typeface="+mn-ea"/>
              </a:rPr>
              <a:t>1</a:t>
            </a:r>
            <a:r>
              <a:rPr lang="zh-CN" altLang="en-US" sz="1600" dirty="0">
                <a:latin typeface="Times New Roman" panose="02020603050405020304" pitchFamily="18" charset="0"/>
                <a:ea typeface="宋体" panose="02010600030101010101" pitchFamily="2" charset="-122"/>
                <a:sym typeface="+mn-ea"/>
              </a:rPr>
              <a:t>与乐汇</a:t>
            </a:r>
            <a:r>
              <a:rPr lang="en-US" altLang="zh-CN" sz="1600" i="1" dirty="0">
                <a:latin typeface="Times New Roman" panose="02020603050405020304" pitchFamily="18" charset="0"/>
                <a:ea typeface="宋体" panose="02010600030101010101" pitchFamily="2" charset="-122"/>
                <a:sym typeface="+mn-ea"/>
              </a:rPr>
              <a:t>mp</a:t>
            </a:r>
            <a:r>
              <a:rPr lang="en-US" altLang="zh-CN" sz="1600" i="1" baseline="-25000" dirty="0">
                <a:latin typeface="Times New Roman" panose="02020603050405020304" pitchFamily="18" charset="0"/>
                <a:ea typeface="宋体" panose="02010600030101010101" pitchFamily="2" charset="-122"/>
                <a:sym typeface="+mn-ea"/>
              </a:rPr>
              <a:t>B</a:t>
            </a:r>
            <a:r>
              <a:rPr lang="en-US" altLang="zh-CN" sz="1600" baseline="-25000" dirty="0">
                <a:latin typeface="Times New Roman" panose="02020603050405020304" pitchFamily="18" charset="0"/>
                <a:ea typeface="宋体" panose="02010600030101010101" pitchFamily="2" charset="-122"/>
                <a:sym typeface="+mn-ea"/>
              </a:rPr>
              <a:t>1</a:t>
            </a:r>
            <a:r>
              <a:rPr lang="zh-CN" sz="1600" dirty="0">
                <a:latin typeface="Times New Roman" panose="02020603050405020304" pitchFamily="18" charset="0"/>
                <a:ea typeface="宋体" panose="02010600030101010101" pitchFamily="2" charset="-122"/>
              </a:rPr>
              <a:t>存在自由模进</a:t>
            </a:r>
            <a:r>
              <a:rPr lang="zh-CN" altLang="en-US" sz="1600" dirty="0">
                <a:latin typeface="Times New Roman" panose="02020603050405020304" pitchFamily="18" charset="0"/>
                <a:ea typeface="宋体" panose="02010600030101010101" pitchFamily="2" charset="-122"/>
              </a:rPr>
              <a:t>关系</a:t>
            </a:r>
            <a:endParaRPr lang="en-US" altLang="zh-CN" sz="16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9" name="图片 11"/>
          <p:cNvPicPr>
            <a:picLocks noChangeAspect="1"/>
          </p:cNvPicPr>
          <p:nvPr/>
        </p:nvPicPr>
        <p:blipFill>
          <a:blip r:embed="rId1"/>
          <a:stretch>
            <a:fillRect/>
          </a:stretch>
        </p:blipFill>
        <p:spPr>
          <a:xfrm>
            <a:off x="2852420" y="2781300"/>
            <a:ext cx="6210300" cy="1241425"/>
          </a:xfrm>
          <a:prstGeom prst="rect">
            <a:avLst/>
          </a:prstGeom>
          <a:noFill/>
          <a:ln w="9525">
            <a:noFill/>
          </a:ln>
        </p:spPr>
      </p:pic>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3013" name="矩形 28"/>
          <p:cNvSpPr/>
          <p:nvPr/>
        </p:nvSpPr>
        <p:spPr>
          <a:xfrm>
            <a:off x="490855" y="2727325"/>
            <a:ext cx="2191385"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乐汇间的关系</a:t>
            </a:r>
            <a:r>
              <a:rPr lang="en-US" altLang="zh-CN" sz="2000" i="1" dirty="0">
                <a:latin typeface="Times New Roman" panose="02020603050405020304" pitchFamily="18" charset="0"/>
                <a:ea typeface="宋体" panose="02010600030101010101" pitchFamily="2" charset="-122"/>
              </a:rPr>
              <a:t> </a:t>
            </a:r>
            <a:endParaRPr lang="en-US" altLang="zh-CN" sz="2000" i="1" dirty="0">
              <a:latin typeface="Times New Roman" panose="02020603050405020304" pitchFamily="18" charset="0"/>
              <a:ea typeface="宋体" panose="02010600030101010101" pitchFamily="2" charset="-122"/>
            </a:endParaRPr>
          </a:p>
        </p:txBody>
      </p:sp>
      <p:sp>
        <p:nvSpPr>
          <p:cNvPr id="53250" name="矩形 41"/>
          <p:cNvSpPr/>
          <p:nvPr/>
        </p:nvSpPr>
        <p:spPr>
          <a:xfrm>
            <a:off x="900430" y="3322955"/>
            <a:ext cx="1722755" cy="368300"/>
          </a:xfrm>
          <a:prstGeom prst="rect">
            <a:avLst/>
          </a:prstGeom>
          <a:noFill/>
          <a:ln w="9525">
            <a:noFill/>
          </a:ln>
        </p:spPr>
        <p:txBody>
          <a:bodyPr wrap="square" anchor="t">
            <a:spAutoFit/>
          </a:bodyPr>
          <a:p>
            <a:pPr eaLnBrk="0" hangingPunct="0"/>
            <a:r>
              <a:rPr lang="en-US" altLang="zh-CN" sz="1800" dirty="0">
                <a:latin typeface="Times New Roman" panose="02020603050405020304" pitchFamily="18" charset="0"/>
                <a:ea typeface="宋体" panose="02010600030101010101" pitchFamily="2" charset="-122"/>
              </a:rPr>
              <a:t>B</a:t>
            </a:r>
            <a:r>
              <a:rPr lang="zh-CN" altLang="en-US" sz="1800" dirty="0">
                <a:latin typeface="Times New Roman" panose="02020603050405020304" pitchFamily="18" charset="0"/>
                <a:ea typeface="宋体" panose="02010600030101010101" pitchFamily="2" charset="-122"/>
              </a:rPr>
              <a:t>类对比关系</a:t>
            </a:r>
            <a:r>
              <a:rPr lang="en-US" altLang="zh-CN" sz="1800" dirty="0">
                <a:latin typeface="Times New Roman" panose="02020603050405020304" pitchFamily="18" charset="0"/>
                <a:ea typeface="宋体" panose="02010600030101010101" pitchFamily="2" charset="-122"/>
              </a:rPr>
              <a:t> :</a:t>
            </a:r>
            <a:endParaRPr lang="en-US" altLang="zh-CN" sz="1800" dirty="0">
              <a:latin typeface="Times New Roman" panose="02020603050405020304" pitchFamily="18" charset="0"/>
              <a:ea typeface="宋体" panose="02010600030101010101" pitchFamily="2" charset="-122"/>
            </a:endParaRPr>
          </a:p>
        </p:txBody>
      </p:sp>
      <p:sp>
        <p:nvSpPr>
          <p:cNvPr id="3" name="矩形 41"/>
          <p:cNvSpPr/>
          <p:nvPr/>
        </p:nvSpPr>
        <p:spPr>
          <a:xfrm>
            <a:off x="3663315" y="4023995"/>
            <a:ext cx="4285615" cy="58356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rPr>
              <a:t>乐汇</a:t>
            </a:r>
            <a:r>
              <a:rPr lang="en-US" altLang="zh-CN" sz="1600" i="1" dirty="0">
                <a:latin typeface="Times New Roman" panose="02020603050405020304" pitchFamily="18" charset="0"/>
                <a:ea typeface="宋体" panose="02010600030101010101" pitchFamily="2" charset="-122"/>
              </a:rPr>
              <a:t>MP</a:t>
            </a:r>
            <a:r>
              <a:rPr lang="en-US" altLang="zh-CN" sz="1600" i="1" baseline="-25000" dirty="0">
                <a:latin typeface="Times New Roman" panose="02020603050405020304" pitchFamily="18" charset="0"/>
                <a:ea typeface="宋体" panose="02010600030101010101" pitchFamily="2" charset="-122"/>
              </a:rPr>
              <a:t>A</a:t>
            </a:r>
            <a:r>
              <a:rPr lang="zh-CN" altLang="en-US" sz="1600" dirty="0">
                <a:latin typeface="Times New Roman" panose="02020603050405020304" pitchFamily="18" charset="0"/>
                <a:ea typeface="宋体" panose="02010600030101010101" pitchFamily="2" charset="-122"/>
              </a:rPr>
              <a:t>与乐汇</a:t>
            </a:r>
            <a:r>
              <a:rPr lang="en-US" altLang="zh-CN" sz="1600" i="1" dirty="0">
                <a:latin typeface="Times New Roman" panose="02020603050405020304" pitchFamily="18" charset="0"/>
                <a:ea typeface="宋体" panose="02010600030101010101" pitchFamily="2" charset="-122"/>
              </a:rPr>
              <a:t>MP</a:t>
            </a:r>
            <a:r>
              <a:rPr lang="en-US" altLang="zh-CN" sz="1600" i="1" baseline="-25000" dirty="0">
                <a:latin typeface="Times New Roman" panose="02020603050405020304" pitchFamily="18" charset="0"/>
                <a:ea typeface="宋体" panose="02010600030101010101" pitchFamily="2" charset="-122"/>
              </a:rPr>
              <a:t>B</a:t>
            </a:r>
            <a:r>
              <a:rPr lang="zh-CN" altLang="en-US" sz="1600" dirty="0">
                <a:latin typeface="Times New Roman" panose="02020603050405020304" pitchFamily="18" charset="0"/>
                <a:ea typeface="宋体" panose="02010600030101010101" pitchFamily="2" charset="-122"/>
              </a:rPr>
              <a:t>之间的</a:t>
            </a:r>
            <a:r>
              <a:rPr lang="en-US" altLang="zh-CN" sz="1600" dirty="0">
                <a:latin typeface="Times New Roman" panose="02020603050405020304" pitchFamily="18" charset="0"/>
                <a:ea typeface="宋体" panose="02010600030101010101" pitchFamily="2" charset="-122"/>
              </a:rPr>
              <a:t>B</a:t>
            </a:r>
            <a:r>
              <a:rPr lang="zh-CN" altLang="en-US" sz="1600" dirty="0">
                <a:latin typeface="Times New Roman" panose="02020603050405020304" pitchFamily="18" charset="0"/>
                <a:ea typeface="宋体" panose="02010600030101010101" pitchFamily="2" charset="-122"/>
              </a:rPr>
              <a:t>类对比关系，其中，</a:t>
            </a:r>
            <a:r>
              <a:rPr lang="zh-CN" altLang="en-US" sz="1600" dirty="0">
                <a:latin typeface="Times New Roman" panose="02020603050405020304" pitchFamily="18" charset="0"/>
                <a:ea typeface="宋体" panose="02010600030101010101" pitchFamily="2" charset="-122"/>
                <a:sym typeface="+mn-ea"/>
              </a:rPr>
              <a:t>乐汇</a:t>
            </a:r>
            <a:r>
              <a:rPr lang="en-US" altLang="zh-CN" sz="1600" i="1" dirty="0">
                <a:latin typeface="Times New Roman" panose="02020603050405020304" pitchFamily="18" charset="0"/>
                <a:ea typeface="宋体" panose="02010600030101010101" pitchFamily="2" charset="-122"/>
                <a:sym typeface="+mn-ea"/>
              </a:rPr>
              <a:t>mp</a:t>
            </a:r>
            <a:r>
              <a:rPr lang="en-US" altLang="zh-CN" sz="1600" i="1" baseline="-25000" dirty="0">
                <a:latin typeface="Times New Roman" panose="02020603050405020304" pitchFamily="18" charset="0"/>
                <a:ea typeface="宋体" panose="02010600030101010101" pitchFamily="2" charset="-122"/>
                <a:sym typeface="+mn-ea"/>
              </a:rPr>
              <a:t>A</a:t>
            </a:r>
            <a:r>
              <a:rPr lang="en-US" altLang="zh-CN" sz="1600" baseline="-25000" dirty="0">
                <a:latin typeface="Times New Roman" panose="02020603050405020304" pitchFamily="18" charset="0"/>
                <a:ea typeface="宋体" panose="02010600030101010101" pitchFamily="2" charset="-122"/>
                <a:sym typeface="+mn-ea"/>
              </a:rPr>
              <a:t>2</a:t>
            </a:r>
            <a:r>
              <a:rPr lang="zh-CN" altLang="en-US" sz="1600" dirty="0">
                <a:latin typeface="Times New Roman" panose="02020603050405020304" pitchFamily="18" charset="0"/>
                <a:ea typeface="宋体" panose="02010600030101010101" pitchFamily="2" charset="-122"/>
                <a:sym typeface="+mn-ea"/>
              </a:rPr>
              <a:t>与乐汇</a:t>
            </a:r>
            <a:r>
              <a:rPr lang="en-US" altLang="zh-CN" sz="1600" i="1" dirty="0">
                <a:latin typeface="Times New Roman" panose="02020603050405020304" pitchFamily="18" charset="0"/>
                <a:ea typeface="宋体" panose="02010600030101010101" pitchFamily="2" charset="-122"/>
                <a:sym typeface="+mn-ea"/>
              </a:rPr>
              <a:t>mp</a:t>
            </a:r>
            <a:r>
              <a:rPr lang="en-US" altLang="zh-CN" sz="1600" i="1" baseline="-25000" dirty="0">
                <a:latin typeface="Times New Roman" panose="02020603050405020304" pitchFamily="18" charset="0"/>
                <a:ea typeface="宋体" panose="02010600030101010101" pitchFamily="2" charset="-122"/>
                <a:sym typeface="+mn-ea"/>
              </a:rPr>
              <a:t>B</a:t>
            </a:r>
            <a:r>
              <a:rPr lang="en-US" altLang="zh-CN" sz="1600" baseline="-25000" dirty="0">
                <a:latin typeface="Times New Roman" panose="02020603050405020304" pitchFamily="18" charset="0"/>
                <a:ea typeface="宋体" panose="02010600030101010101" pitchFamily="2" charset="-122"/>
                <a:sym typeface="+mn-ea"/>
              </a:rPr>
              <a:t>2</a:t>
            </a:r>
            <a:r>
              <a:rPr lang="zh-CN" sz="1600" dirty="0">
                <a:latin typeface="Times New Roman" panose="02020603050405020304" pitchFamily="18" charset="0"/>
                <a:ea typeface="宋体" panose="02010600030101010101" pitchFamily="2" charset="-122"/>
              </a:rPr>
              <a:t>存在自由模进</a:t>
            </a:r>
            <a:r>
              <a:rPr lang="zh-CN" altLang="en-US" sz="1600" dirty="0">
                <a:latin typeface="Times New Roman" panose="02020603050405020304" pitchFamily="18" charset="0"/>
                <a:ea typeface="宋体" panose="02010600030101010101" pitchFamily="2" charset="-122"/>
              </a:rPr>
              <a:t>关系</a:t>
            </a:r>
            <a:endParaRPr lang="en-US" altLang="zh-CN" sz="1600" dirty="0">
              <a:latin typeface="Times New Roman" panose="02020603050405020304" pitchFamily="18" charset="0"/>
              <a:ea typeface="宋体" panose="02010600030101010101" pitchFamily="2" charset="-122"/>
            </a:endParaRPr>
          </a:p>
        </p:txBody>
      </p:sp>
      <p:sp>
        <p:nvSpPr>
          <p:cNvPr id="53255" name="矩形 7"/>
          <p:cNvSpPr/>
          <p:nvPr/>
        </p:nvSpPr>
        <p:spPr>
          <a:xfrm>
            <a:off x="763905" y="4537710"/>
            <a:ext cx="7103745" cy="1753235"/>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如果：</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可分解成</a:t>
            </a:r>
            <a:r>
              <a:rPr lang="en-US" altLang="zh-CN" sz="18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rPr>
              <a:t>个部分：</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与</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2</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sym typeface="+mn-ea"/>
              </a:rPr>
              <a:t>可分解成</a:t>
            </a:r>
            <a:r>
              <a:rPr lang="en-US" altLang="zh-CN" sz="1800" dirty="0">
                <a:latin typeface="Times New Roman" panose="02020603050405020304" pitchFamily="18" charset="0"/>
                <a:ea typeface="宋体" panose="02010600030101010101" pitchFamily="2" charset="-122"/>
                <a:sym typeface="+mn-ea"/>
              </a:rPr>
              <a:t>2</a:t>
            </a:r>
            <a:r>
              <a:rPr lang="zh-CN" altLang="en-US" sz="1800" dirty="0">
                <a:latin typeface="Times New Roman" panose="02020603050405020304" pitchFamily="18" charset="0"/>
                <a:ea typeface="宋体" panose="02010600030101010101" pitchFamily="2" charset="-122"/>
                <a:sym typeface="+mn-ea"/>
              </a:rPr>
              <a:t>个部分：</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and </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2</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iii)</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1</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&lt;</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A</a:t>
            </a:r>
            <a:r>
              <a:rPr lang="en-US" altLang="zh-CN" sz="1800" baseline="-250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iv)</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1</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cs typeface="Times New Roman" panose="02020603050405020304" pitchFamily="18" charset="0"/>
                <a:sym typeface="+mn-ea"/>
              </a:rPr>
              <a:t>&lt;</a:t>
            </a:r>
            <a:r>
              <a:rPr lang="en-US" altLang="zh-CN" sz="1800" i="1" dirty="0">
                <a:latin typeface="Times New Roman" panose="02020603050405020304" pitchFamily="18" charset="0"/>
                <a:ea typeface="宋体" panose="02010600030101010101" pitchFamily="2" charset="-122"/>
              </a:rPr>
              <a:t>mp</a:t>
            </a:r>
            <a:r>
              <a:rPr lang="en-US" altLang="zh-CN" sz="1800" i="1" baseline="-25000" dirty="0">
                <a:latin typeface="Times New Roman" panose="02020603050405020304" pitchFamily="18" charset="0"/>
                <a:ea typeface="宋体" panose="02010600030101010101" pitchFamily="2" charset="-122"/>
              </a:rPr>
              <a:t>B</a:t>
            </a:r>
            <a:r>
              <a:rPr lang="en-US" altLang="zh-CN" sz="1800" baseline="-25000" dirty="0">
                <a:latin typeface="Times New Roman" panose="02020603050405020304" pitchFamily="18" charset="0"/>
                <a:ea typeface="宋体" panose="02010600030101010101" pitchFamily="2" charset="-122"/>
              </a:rPr>
              <a:t>2</a:t>
            </a:r>
            <a:r>
              <a:rPr lang="zh-CN" altLang="en-US" sz="1800" dirty="0">
                <a:latin typeface="Times New Roman" panose="02020603050405020304" pitchFamily="18" charset="0"/>
                <a:ea typeface="宋体" panose="02010600030101010101" pitchFamily="2" charset="-122"/>
                <a:sym typeface="+mn-ea"/>
              </a:rPr>
              <a:t>中的音符总时值</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v)</a:t>
            </a:r>
            <a:r>
              <a:rPr lang="zh-CN" altLang="en-US" sz="1800" dirty="0">
                <a:latin typeface="Times New Roman" panose="02020603050405020304" pitchFamily="18" charset="0"/>
                <a:ea typeface="宋体" panose="02010600030101010101" pitchFamily="2" charset="-122"/>
                <a:sym typeface="+mn-ea"/>
              </a:rPr>
              <a:t>乐汇</a:t>
            </a:r>
            <a:r>
              <a:rPr lang="en-US" altLang="zh-CN"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A</a:t>
            </a:r>
            <a:r>
              <a:rPr lang="en-US" altLang="zh-CN" sz="1800" baseline="-25000" dirty="0">
                <a:latin typeface="Times New Roman" panose="02020603050405020304" pitchFamily="18" charset="0"/>
                <a:ea typeface="宋体" panose="02010600030101010101" pitchFamily="2" charset="-122"/>
                <a:sym typeface="+mn-ea"/>
              </a:rPr>
              <a:t>2</a:t>
            </a:r>
            <a:r>
              <a:rPr lang="zh-CN" altLang="en-US" sz="1800" dirty="0">
                <a:latin typeface="Times New Roman" panose="02020603050405020304" pitchFamily="18" charset="0"/>
                <a:ea typeface="宋体" panose="02010600030101010101" pitchFamily="2" charset="-122"/>
                <a:sym typeface="+mn-ea"/>
              </a:rPr>
              <a:t>与乐汇</a:t>
            </a:r>
            <a:r>
              <a:rPr lang="en-US" altLang="zh-CN" sz="1800" i="1" dirty="0">
                <a:latin typeface="Times New Roman" panose="02020603050405020304" pitchFamily="18" charset="0"/>
                <a:ea typeface="宋体" panose="02010600030101010101" pitchFamily="2" charset="-122"/>
                <a:sym typeface="+mn-ea"/>
              </a:rPr>
              <a:t>mp</a:t>
            </a:r>
            <a:r>
              <a:rPr lang="en-US" altLang="zh-CN" sz="1800" i="1" baseline="-25000" dirty="0">
                <a:latin typeface="Times New Roman" panose="02020603050405020304" pitchFamily="18" charset="0"/>
                <a:ea typeface="宋体" panose="02010600030101010101" pitchFamily="2" charset="-122"/>
                <a:sym typeface="+mn-ea"/>
              </a:rPr>
              <a:t>B</a:t>
            </a:r>
            <a:r>
              <a:rPr lang="en-US" altLang="zh-CN" sz="1800" baseline="-25000" dirty="0">
                <a:latin typeface="Times New Roman" panose="02020603050405020304" pitchFamily="18" charset="0"/>
                <a:ea typeface="宋体" panose="02010600030101010101" pitchFamily="2" charset="-122"/>
                <a:sym typeface="+mn-ea"/>
              </a:rPr>
              <a:t>2</a:t>
            </a:r>
            <a:r>
              <a:rPr lang="zh-CN" sz="1800" dirty="0">
                <a:latin typeface="Times New Roman" panose="02020603050405020304" pitchFamily="18" charset="0"/>
                <a:ea typeface="宋体" panose="02010600030101010101" pitchFamily="2" charset="-122"/>
                <a:sym typeface="+mn-ea"/>
              </a:rPr>
              <a:t>存在一模仿类</a:t>
            </a:r>
            <a:r>
              <a:rPr lang="zh-CN" altLang="en-US" sz="1800" dirty="0">
                <a:latin typeface="Times New Roman" panose="02020603050405020304" pitchFamily="18" charset="0"/>
                <a:ea typeface="宋体" panose="02010600030101010101" pitchFamily="2" charset="-122"/>
                <a:sym typeface="+mn-ea"/>
              </a:rPr>
              <a:t>关系</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j</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矩形 41"/>
          <p:cNvSpPr/>
          <p:nvPr/>
        </p:nvSpPr>
        <p:spPr>
          <a:xfrm>
            <a:off x="506413" y="3281363"/>
            <a:ext cx="3182937" cy="1476375"/>
          </a:xfrm>
          <a:prstGeom prst="rect">
            <a:avLst/>
          </a:prstGeom>
          <a:noFill/>
          <a:ln w="9525">
            <a:noFill/>
          </a:ln>
        </p:spPr>
        <p:txBody>
          <a:bodyPr wrap="square" anchor="t">
            <a:spAutoFit/>
          </a:bodyPr>
          <a:p>
            <a:pPr eaLnBrk="0" hangingPunct="0"/>
            <a:r>
              <a:rPr lang="en-US" altLang="zh-CN" sz="1800" i="1" dirty="0">
                <a:latin typeface="Times New Roman" panose="02020603050405020304" pitchFamily="18" charset="0"/>
                <a:ea typeface="宋体" panose="02010600030101010101" pitchFamily="2" charset="-122"/>
              </a:rPr>
              <a:t>kMP </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k</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MPSeq</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RDS</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endParaRPr lang="zh-CN" altLang="en-US" sz="1800" dirty="0">
              <a:latin typeface="Times New Roman" panose="02020603050405020304" pitchFamily="18" charset="0"/>
              <a:ea typeface="宋体" panose="02010600030101010101" pitchFamily="2" charset="-122"/>
            </a:endParaRPr>
          </a:p>
          <a:p>
            <a:pPr eaLnBrk="0" hangingPunct="0"/>
            <a:r>
              <a:rPr lang="zh-CN" altLang="en-US" sz="1800" dirty="0">
                <a:latin typeface="Times New Roman" panose="02020603050405020304" pitchFamily="18" charset="0"/>
                <a:ea typeface="宋体" panose="02010600030101010101" pitchFamily="2" charset="-122"/>
              </a:rPr>
              <a:t>其中：</a:t>
            </a:r>
            <a:endParaRPr lang="zh-CN" altLang="en-US" sz="1800" dirty="0">
              <a:latin typeface="Times New Roman" panose="02020603050405020304" pitchFamily="18" charset="0"/>
              <a:ea typeface="宋体" panose="02010600030101010101" pitchFamily="2" charset="-122"/>
            </a:endParaRPr>
          </a:p>
          <a:p>
            <a:pPr eaLnBrk="0" hangingPunct="0"/>
            <a:r>
              <a:rPr lang="en-US" altLang="zh-CN" sz="1800" i="1" dirty="0">
                <a:latin typeface="Times New Roman" panose="02020603050405020304" pitchFamily="18" charset="0"/>
                <a:ea typeface="宋体" panose="02010600030101010101" pitchFamily="2" charset="-122"/>
              </a:rPr>
              <a:t>MPSeq</a:t>
            </a:r>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表示由</a:t>
            </a:r>
            <a:r>
              <a:rPr lang="en-US" altLang="zh-CN" sz="1800" i="1" dirty="0">
                <a:latin typeface="Times New Roman" panose="02020603050405020304" pitchFamily="18" charset="0"/>
                <a:ea typeface="宋体" panose="02010600030101010101" pitchFamily="2" charset="-122"/>
                <a:sym typeface="+mn-ea"/>
              </a:rPr>
              <a:t>k</a:t>
            </a:r>
            <a:r>
              <a:rPr lang="en-US" altLang="zh-CN" sz="1800" dirty="0">
                <a:latin typeface="Times New Roman" panose="02020603050405020304" pitchFamily="18" charset="0"/>
                <a:ea typeface="宋体" panose="02010600030101010101" pitchFamily="2" charset="-122"/>
                <a:sym typeface="+mn-ea"/>
              </a:rPr>
              <a:t> </a:t>
            </a:r>
            <a:r>
              <a:rPr lang="zh-CN" altLang="en-US" sz="1800" dirty="0">
                <a:latin typeface="Times New Roman" panose="02020603050405020304" pitchFamily="18" charset="0"/>
                <a:ea typeface="宋体" panose="02010600030101010101" pitchFamily="2" charset="-122"/>
              </a:rPr>
              <a:t>个乐汇构成的</a:t>
            </a:r>
            <a:r>
              <a:rPr lang="zh-CN" altLang="en-US" sz="1800" dirty="0">
                <a:latin typeface="Times New Roman" panose="02020603050405020304" pitchFamily="18" charset="0"/>
                <a:ea typeface="宋体" panose="02010600030101010101" pitchFamily="2" charset="-122"/>
                <a:sym typeface="+mn-ea"/>
              </a:rPr>
              <a:t>乐汇</a:t>
            </a:r>
            <a:r>
              <a:rPr lang="zh-CN" altLang="en-US" sz="1800" dirty="0">
                <a:latin typeface="Times New Roman" panose="02020603050405020304" pitchFamily="18" charset="0"/>
                <a:ea typeface="宋体" panose="02010600030101010101" pitchFamily="2" charset="-122"/>
              </a:rPr>
              <a:t>序列</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pic>
        <p:nvPicPr>
          <p:cNvPr id="57347" name="图片 40"/>
          <p:cNvPicPr>
            <a:picLocks noChangeAspect="1"/>
          </p:cNvPicPr>
          <p:nvPr/>
        </p:nvPicPr>
        <p:blipFill>
          <a:blip r:embed="rId1"/>
          <a:stretch>
            <a:fillRect/>
          </a:stretch>
        </p:blipFill>
        <p:spPr>
          <a:xfrm>
            <a:off x="3702685" y="2206625"/>
            <a:ext cx="5126355" cy="3075305"/>
          </a:xfrm>
          <a:prstGeom prst="rect">
            <a:avLst/>
          </a:prstGeom>
          <a:noFill/>
          <a:ln w="9525">
            <a:noFill/>
          </a:ln>
        </p:spPr>
      </p:pic>
      <p:sp>
        <p:nvSpPr>
          <p:cNvPr id="57348" name="矩形 41"/>
          <p:cNvSpPr/>
          <p:nvPr/>
        </p:nvSpPr>
        <p:spPr>
          <a:xfrm>
            <a:off x="527050" y="4724400"/>
            <a:ext cx="3289300" cy="1476375"/>
          </a:xfrm>
          <a:prstGeom prst="rect">
            <a:avLst/>
          </a:prstGeom>
          <a:noFill/>
          <a:ln w="9525">
            <a:noFill/>
          </a:ln>
        </p:spPr>
        <p:txBody>
          <a:bodyPr wrap="square" anchor="t">
            <a:spAutoFit/>
          </a:bodyPr>
          <a:p>
            <a:pPr eaLnBrk="0" hangingPunct="0"/>
            <a:r>
              <a:rPr lang="en-US" altLang="zh-CN" sz="1800" i="1" dirty="0">
                <a:latin typeface="Times New Roman" panose="02020603050405020304" pitchFamily="18" charset="0"/>
                <a:ea typeface="宋体" panose="02010600030101010101" pitchFamily="2" charset="-122"/>
              </a:rPr>
              <a:t>RDS</a:t>
            </a:r>
            <a:r>
              <a:rPr lang="en-US" altLang="zh-CN" sz="1800" dirty="0">
                <a:latin typeface="Times New Roman" panose="02020603050405020304" pitchFamily="18" charset="0"/>
                <a:ea typeface="宋体" panose="02010600030101010101" pitchFamily="2" charset="-122"/>
              </a:rPr>
              <a:t> = {(</a:t>
            </a:r>
            <a:r>
              <a:rPr lang="en-US" altLang="zh-CN" sz="1800" i="1" dirty="0">
                <a:latin typeface="Times New Roman" panose="02020603050405020304" pitchFamily="18" charset="0"/>
                <a:ea typeface="宋体" panose="02010600030101010101" pitchFamily="2" charset="-122"/>
              </a:rPr>
              <a:t>i</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j</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k</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i</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j</a:t>
            </a:r>
            <a:r>
              <a:rPr lang="en-US" altLang="zh-CN" sz="1800" baseline="-25000" dirty="0">
                <a:latin typeface="Times New Roman" panose="02020603050405020304" pitchFamily="18" charset="0"/>
                <a:ea typeface="宋体" panose="02010600030101010101" pitchFamily="2" charset="-122"/>
              </a:rPr>
              <a:t>1</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k</a:t>
            </a:r>
            <a:r>
              <a:rPr lang="en-US" altLang="zh-CN" sz="1800" baseline="-25000" dirty="0">
                <a:latin typeface="Times New Roman" panose="02020603050405020304" pitchFamily="18" charset="0"/>
                <a:ea typeface="宋体" panose="02010600030101010101" pitchFamily="2" charset="-122"/>
              </a:rPr>
              <a:t>2</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i</a:t>
            </a:r>
            <a:r>
              <a:rPr lang="en-US" altLang="zh-CN" sz="1800" i="1" baseline="-25000" dirty="0">
                <a:latin typeface="Times New Roman" panose="02020603050405020304" pitchFamily="18" charset="0"/>
                <a:ea typeface="宋体" panose="02010600030101010101" pitchFamily="2" charset="-122"/>
              </a:rPr>
              <a:t>S</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j</a:t>
            </a:r>
            <a:r>
              <a:rPr lang="en-US" altLang="zh-CN" sz="1800" i="1" baseline="-25000" dirty="0">
                <a:latin typeface="Times New Roman" panose="02020603050405020304" pitchFamily="18" charset="0"/>
                <a:ea typeface="宋体" panose="02010600030101010101" pitchFamily="2" charset="-122"/>
              </a:rPr>
              <a:t>S</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kS</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zh-CN" altLang="en-US" sz="1800" dirty="0">
                <a:latin typeface="Times New Roman" panose="02020603050405020304" pitchFamily="18" charset="0"/>
                <a:ea typeface="宋体" panose="02010600030101010101" pitchFamily="2" charset="-122"/>
              </a:rPr>
              <a:t>对任意的</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a:t>
            </a:r>
            <a:r>
              <a:rPr lang="en-US" altLang="zh-CN" sz="1800" dirty="0">
                <a:latin typeface="Times New Roman" panose="02020603050405020304" pitchFamily="18" charset="0"/>
                <a:ea typeface="宋体" panose="02010600030101010101" pitchFamily="2" charset="-122"/>
              </a:rPr>
              <a:t>(1</a:t>
            </a:r>
            <a:r>
              <a:rPr lang="zh-CN" altLang="zh-CN" sz="1800" dirty="0">
                <a:latin typeface="Times New Roman" panose="02020603050405020304" pitchFamily="18" charset="0"/>
                <a:ea typeface="宋体" panose="02010600030101010101" pitchFamily="2" charset="-122"/>
              </a:rPr>
              <a:t>≦</a:t>
            </a:r>
            <a:r>
              <a:rPr lang="en-US" altLang="zh-CN" sz="1800" i="1" dirty="0">
                <a:latin typeface="Times New Roman" panose="02020603050405020304" pitchFamily="18" charset="0"/>
                <a:ea typeface="宋体" panose="02010600030101010101" pitchFamily="2" charset="-122"/>
              </a:rPr>
              <a:t>r</a:t>
            </a:r>
            <a:r>
              <a:rPr lang="zh-CN" altLang="zh-CN" sz="1800" dirty="0">
                <a:latin typeface="Times New Roman" panose="02020603050405020304" pitchFamily="18" charset="0"/>
                <a:ea typeface="宋体" panose="02010600030101010101" pitchFamily="2" charset="-122"/>
              </a:rPr>
              <a:t>≦</a:t>
            </a:r>
            <a:r>
              <a:rPr lang="en-US" altLang="zh-CN" sz="1800" i="1" dirty="0">
                <a:latin typeface="Times New Roman" panose="02020603050405020304" pitchFamily="18" charset="0"/>
                <a:ea typeface="宋体" panose="02010600030101010101" pitchFamily="2" charset="-122"/>
              </a:rPr>
              <a:t>S</a:t>
            </a:r>
            <a:r>
              <a:rPr lang="en-US" altLang="zh-CN" sz="1800" dirty="0">
                <a:latin typeface="Times New Roman" panose="02020603050405020304" pitchFamily="18" charset="0"/>
                <a:ea typeface="宋体" panose="02010600030101010101" pitchFamily="2" charset="-122"/>
              </a:rPr>
              <a:t>-1), (</a:t>
            </a:r>
            <a:r>
              <a:rPr lang="en-US" altLang="zh-CN" sz="1800" i="1" dirty="0">
                <a:latin typeface="Times New Roman" panose="02020603050405020304" pitchFamily="18" charset="0"/>
                <a:ea typeface="宋体" panose="02010600030101010101" pitchFamily="2" charset="-122"/>
              </a:rPr>
              <a:t>i</a:t>
            </a:r>
            <a:r>
              <a:rPr lang="en-US" altLang="zh-CN" sz="1800" i="1" baseline="-25000" dirty="0">
                <a:latin typeface="Times New Roman" panose="02020603050405020304" pitchFamily="18" charset="0"/>
                <a:ea typeface="宋体" panose="02010600030101010101" pitchFamily="2" charset="-122"/>
              </a:rPr>
              <a:t>r</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j</a:t>
            </a:r>
            <a:r>
              <a:rPr lang="en-US" altLang="zh-CN" sz="1800" i="1" baseline="-25000" dirty="0">
                <a:latin typeface="Times New Roman" panose="02020603050405020304" pitchFamily="18" charset="0"/>
                <a:ea typeface="宋体" panose="02010600030101010101" pitchFamily="2" charset="-122"/>
              </a:rPr>
              <a:t>r</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kr</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sym typeface="+mn-ea"/>
              </a:rPr>
              <a:t>表示乐汇序列</a:t>
            </a:r>
            <a:r>
              <a:rPr lang="en-US" altLang="zh-CN" sz="1800" i="1" dirty="0">
                <a:latin typeface="Times New Roman" panose="02020603050405020304" pitchFamily="18" charset="0"/>
                <a:ea typeface="宋体" panose="02010600030101010101" pitchFamily="2" charset="-122"/>
                <a:sym typeface="+mn-ea"/>
              </a:rPr>
              <a:t>MPSeq</a:t>
            </a:r>
            <a:r>
              <a:rPr lang="zh-CN" altLang="en-US" sz="1800" dirty="0">
                <a:latin typeface="Times New Roman" panose="02020603050405020304" pitchFamily="18" charset="0"/>
                <a:ea typeface="宋体" panose="02010600030101010101" pitchFamily="2" charset="-122"/>
                <a:sym typeface="+mn-ea"/>
              </a:rPr>
              <a:t>中第</a:t>
            </a:r>
            <a:r>
              <a:rPr lang="en-US" altLang="zh-CN" sz="1800" i="1" dirty="0">
                <a:latin typeface="Times New Roman" panose="02020603050405020304" pitchFamily="18" charset="0"/>
                <a:ea typeface="宋体" panose="02010600030101010101" pitchFamily="2" charset="-122"/>
                <a:sym typeface="+mn-ea"/>
              </a:rPr>
              <a:t>i</a:t>
            </a:r>
            <a:r>
              <a:rPr lang="en-US" altLang="zh-CN" sz="1800" i="1" baseline="-25000" dirty="0">
                <a:latin typeface="Times New Roman" panose="02020603050405020304" pitchFamily="18" charset="0"/>
                <a:ea typeface="宋体" panose="02010600030101010101" pitchFamily="2" charset="-122"/>
                <a:sym typeface="+mn-ea"/>
              </a:rPr>
              <a:t>r</a:t>
            </a:r>
            <a:r>
              <a:rPr lang="zh-CN" altLang="en-US" sz="1800" dirty="0">
                <a:latin typeface="Times New Roman" panose="02020603050405020304" pitchFamily="18" charset="0"/>
                <a:ea typeface="宋体" panose="02010600030101010101" pitchFamily="2" charset="-122"/>
                <a:sym typeface="+mn-ea"/>
              </a:rPr>
              <a:t>与</a:t>
            </a:r>
            <a:r>
              <a:rPr lang="en-US" altLang="zh-CN" sz="1800" dirty="0">
                <a:latin typeface="Times New Roman" panose="02020603050405020304" pitchFamily="18" charset="0"/>
                <a:ea typeface="宋体" panose="02010600030101010101" pitchFamily="2" charset="-122"/>
                <a:sym typeface="+mn-ea"/>
              </a:rPr>
              <a:t> </a:t>
            </a:r>
            <a:r>
              <a:rPr lang="en-US" altLang="zh-CN" sz="1800" i="1" dirty="0">
                <a:latin typeface="Times New Roman" panose="02020603050405020304" pitchFamily="18" charset="0"/>
                <a:ea typeface="宋体" panose="02010600030101010101" pitchFamily="2" charset="-122"/>
                <a:sym typeface="+mn-ea"/>
              </a:rPr>
              <a:t>j</a:t>
            </a:r>
            <a:r>
              <a:rPr lang="en-US" altLang="zh-CN" sz="1800" i="1" baseline="-25000" dirty="0">
                <a:latin typeface="Times New Roman" panose="02020603050405020304" pitchFamily="18" charset="0"/>
                <a:ea typeface="宋体" panose="02010600030101010101" pitchFamily="2" charset="-122"/>
                <a:sym typeface="+mn-ea"/>
              </a:rPr>
              <a:t>r</a:t>
            </a:r>
            <a:r>
              <a:rPr lang="zh-CN" altLang="en-US" sz="1800" dirty="0">
                <a:latin typeface="Times New Roman" panose="02020603050405020304" pitchFamily="18" charset="0"/>
                <a:ea typeface="宋体" panose="02010600030101010101" pitchFamily="2" charset="-122"/>
                <a:sym typeface="+mn-ea"/>
              </a:rPr>
              <a:t>个乐汇之间存在关系</a:t>
            </a:r>
            <a:r>
              <a:rPr lang="en-US" altLang="zh-CN" sz="1800" dirty="0">
                <a:latin typeface="Times New Roman" panose="02020603050405020304" pitchFamily="18" charset="0"/>
                <a:ea typeface="宋体" panose="02010600030101010101" pitchFamily="2" charset="-122"/>
              </a:rPr>
              <a:t> </a:t>
            </a:r>
            <a:r>
              <a:rPr lang="en-US" altLang="zh-CN" sz="1800" i="1" dirty="0">
                <a:latin typeface="Times New Roman" panose="02020603050405020304" pitchFamily="18" charset="0"/>
                <a:ea typeface="宋体" panose="02010600030101010101" pitchFamily="2" charset="-122"/>
              </a:rPr>
              <a:t>R</a:t>
            </a:r>
            <a:r>
              <a:rPr lang="en-US" altLang="zh-CN" sz="1800" i="1" baseline="-25000" dirty="0">
                <a:latin typeface="Times New Roman" panose="02020603050405020304" pitchFamily="18" charset="0"/>
                <a:ea typeface="宋体" panose="02010600030101010101" pitchFamily="2" charset="-122"/>
              </a:rPr>
              <a:t>kr</a:t>
            </a:r>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57349"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多乐汇结构</a:t>
            </a:r>
            <a:endParaRPr lang="zh-CN" altLang="en-US" sz="2000" i="1" dirty="0">
              <a:latin typeface="Times New Roman" panose="02020603050405020304" pitchFamily="18" charset="0"/>
              <a:ea typeface="宋体" panose="02010600030101010101" pitchFamily="2" charset="-122"/>
            </a:endParaRPr>
          </a:p>
        </p:txBody>
      </p:sp>
      <p:sp>
        <p:nvSpPr>
          <p:cNvPr id="57351" name="矩形 43"/>
          <p:cNvSpPr/>
          <p:nvPr/>
        </p:nvSpPr>
        <p:spPr>
          <a:xfrm>
            <a:off x="3948430" y="5358765"/>
            <a:ext cx="4769485" cy="860425"/>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kMP</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是一个多乐汇结构</a:t>
            </a:r>
            <a:r>
              <a:rPr lang="en-US" altLang="zh-CN" sz="1600" dirty="0">
                <a:latin typeface="Times New Roman" panose="02020603050405020304" pitchFamily="18"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a:p>
            <a:pPr eaLnBrk="0" hangingPunct="0"/>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kMP</a:t>
            </a:r>
            <a:r>
              <a:rPr lang="en-US" altLang="zh-CN" sz="1600" baseline="-25000" dirty="0">
                <a:solidFill>
                  <a:srgbClr val="FF0000"/>
                </a:solidFill>
                <a:latin typeface="Times New Roman" panose="02020603050405020304" pitchFamily="18" charset="0"/>
                <a:ea typeface="宋体" panose="02010600030101010101" pitchFamily="2" charset="-122"/>
              </a:rPr>
              <a:t>1</a:t>
            </a:r>
            <a:r>
              <a:rPr lang="en-US" altLang="zh-CN" sz="1600" i="1"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1</a:t>
            </a:r>
            <a:r>
              <a:rPr lang="en-US" altLang="zh-CN" sz="1600" dirty="0">
                <a:solidFill>
                  <a:srgbClr val="00B0F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dirty="0">
                <a:solidFill>
                  <a:srgbClr val="00B0F0"/>
                </a:solidFill>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2</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3</a:t>
            </a:r>
            <a:r>
              <a:rPr lang="en-US" altLang="zh-CN" sz="1600" baseline="-25000"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dirty="0">
                <a:solidFill>
                  <a:srgbClr val="00B050"/>
                </a:solidFill>
                <a:latin typeface="Times New Roman" panose="02020603050405020304" pitchFamily="18" charset="0"/>
                <a:ea typeface="宋体" panose="02010600030101010101" pitchFamily="2" charset="-122"/>
              </a:rPr>
              <a:t>  </a:t>
            </a:r>
            <a:r>
              <a:rPr lang="en-US" altLang="zh-CN" sz="1600" i="1" dirty="0">
                <a:solidFill>
                  <a:srgbClr val="00B050"/>
                </a:solidFill>
                <a:latin typeface="Times New Roman" panose="02020603050405020304" pitchFamily="18" charset="0"/>
                <a:ea typeface="宋体" panose="02010600030101010101" pitchFamily="2" charset="-122"/>
              </a:rPr>
              <a:t>kMP</a:t>
            </a:r>
            <a:r>
              <a:rPr lang="en-US" altLang="zh-CN" sz="1600" baseline="-25000" dirty="0">
                <a:solidFill>
                  <a:srgbClr val="00B050"/>
                </a:solidFill>
                <a:latin typeface="Times New Roman" panose="02020603050405020304" pitchFamily="18" charset="0"/>
                <a:ea typeface="宋体" panose="02010600030101010101" pitchFamily="2" charset="-122"/>
              </a:rPr>
              <a:t>2</a:t>
            </a:r>
            <a:r>
              <a:rPr lang="en-US" altLang="zh-CN" sz="1600" i="1" baseline="-25000" dirty="0">
                <a:solidFill>
                  <a:srgbClr val="00B05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4</a:t>
            </a:r>
            <a:r>
              <a:rPr lang="en-US" altLang="zh-CN" sz="1600" dirty="0">
                <a:latin typeface="Times New Roman" panose="02020603050405020304" pitchFamily="18" charset="0"/>
                <a:ea typeface="宋体" panose="02010600030101010101" pitchFamily="2" charset="-122"/>
              </a:rPr>
              <a:t> +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a:p>
            <a:pPr eaLnBrk="0" hangingPunct="0"/>
            <a:r>
              <a:rPr lang="en-US" altLang="zh-CN" sz="16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kMP</a:t>
            </a:r>
            <a:r>
              <a:rPr lang="en-US" altLang="zh-CN" sz="1600" baseline="-25000" dirty="0">
                <a:solidFill>
                  <a:srgbClr val="FF0000"/>
                </a:solidFill>
                <a:latin typeface="Times New Roman" panose="02020603050405020304" pitchFamily="18" charset="0"/>
                <a:ea typeface="宋体" panose="02010600030101010101" pitchFamily="2" charset="-122"/>
              </a:rPr>
              <a:t>3</a:t>
            </a:r>
            <a:r>
              <a:rPr lang="en-US" altLang="zh-CN" sz="1600" i="1"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7</a:t>
            </a:r>
            <a:endParaRPr lang="en-US" altLang="zh-CN" sz="1600" baseline="-25000" dirty="0">
              <a:solidFill>
                <a:srgbClr val="00B0F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 name="Rectangle 3"/>
          <p:cNvSpPr txBox="1"/>
          <p:nvPr/>
        </p:nvSpPr>
        <p:spPr>
          <a:xfrm>
            <a:off x="7712710" y="6120130"/>
            <a:ext cx="1085850" cy="445770"/>
          </a:xfrm>
          <a:prstGeom prst="rect">
            <a:avLst/>
          </a:prstGeom>
          <a:noFill/>
          <a:ln w="9525">
            <a:noFill/>
          </a:ln>
        </p:spPr>
        <p:txBody>
          <a:bodyPr anchor="t"/>
          <a:p>
            <a:pPr>
              <a:spcBef>
                <a:spcPct val="20000"/>
              </a:spcBef>
            </a:pPr>
            <a:r>
              <a:rPr lang="en-GB" altLang="en-US" sz="2000" i="1" dirty="0">
                <a:latin typeface="Times New Roman" panose="02020603050405020304" pitchFamily="18" charset="0"/>
                <a:ea typeface="楷体_GB2312" pitchFamily="49" charset="-122"/>
                <a:hlinkClick r:id="rId2" action="ppaction://hlinksldjump"/>
              </a:rPr>
              <a:t>Goback</a:t>
            </a:r>
            <a:endParaRPr lang="en-GB" altLang="en-US" sz="2000" i="1" dirty="0">
              <a:latin typeface="Times New Roman" panose="02020603050405020304" pitchFamily="18" charset="0"/>
              <a:ea typeface="楷体_GB2312" pitchFamily="49" charset="-122"/>
            </a:endParaRP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矩形 41"/>
          <p:cNvSpPr/>
          <p:nvPr/>
        </p:nvSpPr>
        <p:spPr>
          <a:xfrm>
            <a:off x="755650" y="3271838"/>
            <a:ext cx="2622550" cy="1476375"/>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情况</a:t>
            </a:r>
            <a:r>
              <a:rPr lang="en-US" altLang="zh-CN" sz="1800" dirty="0">
                <a:latin typeface="Times New Roman" panose="02020603050405020304" pitchFamily="18" charset="0"/>
                <a:ea typeface="宋体" panose="02010600030101010101" pitchFamily="2" charset="-122"/>
              </a:rPr>
              <a:t> 1</a:t>
            </a:r>
            <a:r>
              <a:rPr lang="zh-CN" altLang="en-US" sz="18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连续模仿类多乐汇结构</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sym typeface="+mn-ea"/>
              </a:rPr>
              <a:t>乐汇</a:t>
            </a:r>
            <a:r>
              <a:rPr lang="zh-CN" altLang="en-US" sz="1800" dirty="0">
                <a:latin typeface="Times New Roman" panose="02020603050405020304" pitchFamily="18" charset="0"/>
                <a:ea typeface="宋体" panose="02010600030101010101" pitchFamily="2" charset="-122"/>
                <a:sym typeface="+mn-ea"/>
              </a:rPr>
              <a:t>序列</a:t>
            </a:r>
            <a:r>
              <a:rPr lang="en-US" altLang="zh-CN" sz="1800" i="1" dirty="0">
                <a:latin typeface="Times New Roman" panose="02020603050405020304" pitchFamily="18" charset="0"/>
                <a:ea typeface="宋体" panose="02010600030101010101" pitchFamily="2" charset="-122"/>
                <a:sym typeface="+mn-ea"/>
              </a:rPr>
              <a:t>MPSeq</a:t>
            </a:r>
            <a:r>
              <a:rPr lang="zh-CN" altLang="en-US" sz="1800" dirty="0">
                <a:latin typeface="Times New Roman" panose="02020603050405020304" pitchFamily="18" charset="0"/>
                <a:ea typeface="宋体" panose="02010600030101010101" pitchFamily="2" charset="-122"/>
                <a:sym typeface="+mn-ea"/>
              </a:rPr>
              <a:t>中任意二个相邻乐汇间存在模仿类关系。</a:t>
            </a:r>
            <a:endParaRPr lang="en-US" altLang="zh-CN" sz="1800" dirty="0">
              <a:latin typeface="Times New Roman" panose="02020603050405020304" pitchFamily="18" charset="0"/>
              <a:ea typeface="宋体" panose="02010600030101010101" pitchFamily="2" charset="-122"/>
            </a:endParaRPr>
          </a:p>
        </p:txBody>
      </p:sp>
      <p:sp>
        <p:nvSpPr>
          <p:cNvPr id="59395" name="矩形 43"/>
          <p:cNvSpPr/>
          <p:nvPr/>
        </p:nvSpPr>
        <p:spPr>
          <a:xfrm>
            <a:off x="4123690" y="5714365"/>
            <a:ext cx="4524375" cy="36830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kMP</a:t>
            </a:r>
            <a:r>
              <a:rPr lang="en-US" altLang="zh-CN" sz="1600" dirty="0">
                <a:solidFill>
                  <a:srgbClr val="FF0000"/>
                </a:solidFill>
                <a:latin typeface="Times New Roman" panose="02020603050405020304" pitchFamily="18" charset="0"/>
                <a:ea typeface="宋体" panose="02010600030101010101" pitchFamily="2" charset="-122"/>
              </a:rPr>
              <a:t> </a:t>
            </a:r>
            <a:r>
              <a:rPr lang="zh-CN" altLang="en-US" sz="1600" dirty="0">
                <a:solidFill>
                  <a:srgbClr val="FF0000"/>
                </a:solidFill>
                <a:latin typeface="Times New Roman" panose="02020603050405020304" pitchFamily="18" charset="0"/>
                <a:ea typeface="宋体" panose="02010600030101010101" pitchFamily="2" charset="-122"/>
              </a:rPr>
              <a:t>是多乐汇结构</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kMP</a:t>
            </a:r>
            <a:r>
              <a:rPr lang="en-US" altLang="zh-CN" sz="1600" baseline="-25000" dirty="0">
                <a:solidFill>
                  <a:srgbClr val="FF0000"/>
                </a:solidFill>
                <a:latin typeface="Times New Roman" panose="02020603050405020304" pitchFamily="18" charset="0"/>
                <a:ea typeface="宋体" panose="02010600030101010101" pitchFamily="2" charset="-122"/>
              </a:rPr>
              <a:t>1</a:t>
            </a:r>
            <a:r>
              <a:rPr lang="en-US" altLang="zh-CN" sz="1600" i="1"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2</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3</a:t>
            </a:r>
            <a:r>
              <a:rPr lang="en-US" altLang="zh-CN" sz="1600" dirty="0">
                <a:latin typeface="Times New Roman" panose="02020603050405020304" pitchFamily="18"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p:txBody>
      </p:sp>
      <p:pic>
        <p:nvPicPr>
          <p:cNvPr id="59398" name="图片 4"/>
          <p:cNvPicPr>
            <a:picLocks noChangeAspect="1"/>
          </p:cNvPicPr>
          <p:nvPr/>
        </p:nvPicPr>
        <p:blipFill>
          <a:blip r:embed="rId1"/>
          <a:stretch>
            <a:fillRect/>
          </a:stretch>
        </p:blipFill>
        <p:spPr>
          <a:xfrm>
            <a:off x="5176838" y="2801938"/>
            <a:ext cx="2030412" cy="1368425"/>
          </a:xfrm>
          <a:prstGeom prst="rect">
            <a:avLst/>
          </a:prstGeom>
          <a:noFill/>
          <a:ln w="9525">
            <a:noFill/>
          </a:ln>
        </p:spPr>
      </p:pic>
      <p:pic>
        <p:nvPicPr>
          <p:cNvPr id="59399" name="图片 5"/>
          <p:cNvPicPr>
            <a:picLocks noChangeAspect="1"/>
          </p:cNvPicPr>
          <p:nvPr/>
        </p:nvPicPr>
        <p:blipFill>
          <a:blip r:embed="rId2"/>
          <a:stretch>
            <a:fillRect/>
          </a:stretch>
        </p:blipFill>
        <p:spPr>
          <a:xfrm>
            <a:off x="3865563" y="4289425"/>
            <a:ext cx="4965700" cy="1443038"/>
          </a:xfrm>
          <a:prstGeom prst="rect">
            <a:avLst/>
          </a:prstGeom>
          <a:noFill/>
          <a:ln w="9525">
            <a:noFill/>
          </a:ln>
        </p:spPr>
      </p:pic>
      <p:cxnSp>
        <p:nvCxnSpPr>
          <p:cNvPr id="59400" name="直接箭头连接符 6"/>
          <p:cNvCxnSpPr/>
          <p:nvPr/>
        </p:nvCxnSpPr>
        <p:spPr>
          <a:xfrm flipH="1">
            <a:off x="4787900" y="3429000"/>
            <a:ext cx="576263" cy="936625"/>
          </a:xfrm>
          <a:prstGeom prst="straightConnector1">
            <a:avLst/>
          </a:prstGeom>
          <a:ln w="28575" cap="flat" cmpd="sng">
            <a:solidFill>
              <a:srgbClr val="0070C0"/>
            </a:solidFill>
            <a:prstDash val="solid"/>
            <a:round/>
            <a:headEnd type="none" w="med" len="med"/>
            <a:tailEnd type="arrow" w="med" len="med"/>
          </a:ln>
        </p:spPr>
      </p:cxnSp>
      <p:cxnSp>
        <p:nvCxnSpPr>
          <p:cNvPr id="59401" name="直接箭头连接符 7"/>
          <p:cNvCxnSpPr/>
          <p:nvPr/>
        </p:nvCxnSpPr>
        <p:spPr>
          <a:xfrm flipH="1">
            <a:off x="5508625" y="3429000"/>
            <a:ext cx="1295400" cy="1728788"/>
          </a:xfrm>
          <a:prstGeom prst="straightConnector1">
            <a:avLst/>
          </a:prstGeom>
          <a:ln w="28575" cap="flat" cmpd="sng">
            <a:solidFill>
              <a:srgbClr val="0070C0"/>
            </a:solidFill>
            <a:prstDash val="solid"/>
            <a:round/>
            <a:headEnd type="none" w="med" len="med"/>
            <a:tailEnd type="arrow" w="med" len="med"/>
          </a:ln>
        </p:spPr>
      </p:cxnSp>
      <p:cxnSp>
        <p:nvCxnSpPr>
          <p:cNvPr id="59402" name="直接箭头连接符 8"/>
          <p:cNvCxnSpPr/>
          <p:nvPr/>
        </p:nvCxnSpPr>
        <p:spPr>
          <a:xfrm>
            <a:off x="6227763" y="3429000"/>
            <a:ext cx="1008062" cy="1079500"/>
          </a:xfrm>
          <a:prstGeom prst="straightConnector1">
            <a:avLst/>
          </a:prstGeom>
          <a:ln w="28575" cap="flat" cmpd="sng">
            <a:solidFill>
              <a:srgbClr val="0070C0"/>
            </a:solidFill>
            <a:prstDash val="solid"/>
            <a:round/>
            <a:headEnd type="none" w="med" len="med"/>
            <a:tailEnd type="arrow" w="med" len="med"/>
          </a:ln>
        </p:spPr>
      </p:cxn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7349"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多乐汇结构</a:t>
            </a:r>
            <a:endParaRPr lang="zh-CN" altLang="en-US" sz="2000" i="1"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矩形 41"/>
          <p:cNvSpPr/>
          <p:nvPr/>
        </p:nvSpPr>
        <p:spPr>
          <a:xfrm>
            <a:off x="755650" y="3271838"/>
            <a:ext cx="2622550" cy="1476375"/>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情况</a:t>
            </a:r>
            <a:r>
              <a:rPr lang="en-US" altLang="zh-CN" sz="1800" dirty="0">
                <a:latin typeface="Times New Roman" panose="02020603050405020304" pitchFamily="18" charset="0"/>
                <a:ea typeface="宋体" panose="02010600030101010101" pitchFamily="2" charset="-122"/>
              </a:rPr>
              <a:t> 2(</a:t>
            </a:r>
            <a:r>
              <a:rPr lang="zh-CN" altLang="en-US" sz="1800" dirty="0">
                <a:latin typeface="Times New Roman" panose="02020603050405020304" pitchFamily="18" charset="0"/>
                <a:ea typeface="宋体" panose="02010600030101010101" pitchFamily="2" charset="-122"/>
              </a:rPr>
              <a:t>连续对比类多乐汇结构</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sym typeface="+mn-ea"/>
              </a:rPr>
              <a:t>乐汇序列</a:t>
            </a:r>
            <a:r>
              <a:rPr lang="en-US" altLang="zh-CN" sz="1800" i="1" dirty="0">
                <a:latin typeface="Times New Roman" panose="02020603050405020304" pitchFamily="18" charset="0"/>
                <a:ea typeface="宋体" panose="02010600030101010101" pitchFamily="2" charset="-122"/>
                <a:sym typeface="+mn-ea"/>
              </a:rPr>
              <a:t>MPSeq</a:t>
            </a:r>
            <a:r>
              <a:rPr lang="zh-CN" altLang="en-US" sz="1800" dirty="0">
                <a:latin typeface="Times New Roman" panose="02020603050405020304" pitchFamily="18" charset="0"/>
                <a:ea typeface="宋体" panose="02010600030101010101" pitchFamily="2" charset="-122"/>
                <a:sym typeface="+mn-ea"/>
              </a:rPr>
              <a:t>中任意二个相邻乐汇间存在对比类关系。</a:t>
            </a:r>
            <a:endParaRPr lang="en-US" altLang="zh-CN" sz="1800" dirty="0">
              <a:latin typeface="Times New Roman" panose="02020603050405020304" pitchFamily="18" charset="0"/>
              <a:ea typeface="宋体" panose="02010600030101010101" pitchFamily="2" charset="-122"/>
            </a:endParaRPr>
          </a:p>
        </p:txBody>
      </p:sp>
      <p:sp>
        <p:nvSpPr>
          <p:cNvPr id="61447" name="矩形 43"/>
          <p:cNvSpPr/>
          <p:nvPr/>
        </p:nvSpPr>
        <p:spPr>
          <a:xfrm>
            <a:off x="3583305" y="5921375"/>
            <a:ext cx="5323205" cy="36830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kMP</a:t>
            </a:r>
            <a:r>
              <a:rPr lang="en-US" altLang="zh-CN" sz="1600" dirty="0">
                <a:solidFill>
                  <a:srgbClr val="FF0000"/>
                </a:solidFill>
                <a:latin typeface="Times New Roman" panose="02020603050405020304" pitchFamily="18" charset="0"/>
                <a:ea typeface="宋体" panose="02010600030101010101" pitchFamily="2" charset="-122"/>
              </a:rPr>
              <a:t> </a:t>
            </a:r>
            <a:r>
              <a:rPr lang="zh-CN" altLang="en-US" sz="1600" dirty="0">
                <a:solidFill>
                  <a:srgbClr val="FF0000"/>
                </a:solidFill>
                <a:latin typeface="Times New Roman" panose="02020603050405020304" pitchFamily="18" charset="0"/>
                <a:ea typeface="宋体" panose="02010600030101010101" pitchFamily="2" charset="-122"/>
              </a:rPr>
              <a:t>是一个多乐汇结构</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其中</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kMP</a:t>
            </a:r>
            <a:r>
              <a:rPr lang="en-US" altLang="zh-CN" sz="1600" baseline="-25000" dirty="0">
                <a:solidFill>
                  <a:srgbClr val="FF0000"/>
                </a:solidFill>
                <a:latin typeface="Times New Roman" panose="02020603050405020304" pitchFamily="18" charset="0"/>
                <a:ea typeface="宋体" panose="02010600030101010101" pitchFamily="2" charset="-122"/>
              </a:rPr>
              <a:t>1</a:t>
            </a:r>
            <a:r>
              <a:rPr lang="en-US" altLang="zh-CN" sz="1600" i="1" dirty="0">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2</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600" baseline="-25000" dirty="0">
                <a:solidFill>
                  <a:srgbClr val="00B0F0"/>
                </a:solidFill>
                <a:latin typeface="Times New Roman" panose="02020603050405020304" pitchFamily="18" charset="0"/>
                <a:ea typeface="宋体" panose="02010600030101010101" pitchFamily="2" charset="-122"/>
              </a:rPr>
              <a:t>3</a:t>
            </a:r>
            <a:r>
              <a:rPr lang="en-US" altLang="zh-CN" sz="1600" dirty="0">
                <a:latin typeface="Times New Roman" panose="02020603050405020304" pitchFamily="18"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p:txBody>
      </p:sp>
      <p:pic>
        <p:nvPicPr>
          <p:cNvPr id="61448" name="图片 5"/>
          <p:cNvPicPr>
            <a:picLocks noChangeAspect="1"/>
          </p:cNvPicPr>
          <p:nvPr/>
        </p:nvPicPr>
        <p:blipFill>
          <a:blip r:embed="rId1"/>
          <a:stretch>
            <a:fillRect/>
          </a:stretch>
        </p:blipFill>
        <p:spPr>
          <a:xfrm>
            <a:off x="4890135" y="4523423"/>
            <a:ext cx="2030413" cy="1368425"/>
          </a:xfrm>
          <a:prstGeom prst="rect">
            <a:avLst/>
          </a:prstGeom>
          <a:noFill/>
          <a:ln w="9525">
            <a:noFill/>
          </a:ln>
        </p:spPr>
      </p:pic>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7349"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多乐汇结构</a:t>
            </a:r>
            <a:endParaRPr lang="zh-CN" altLang="en-US" sz="2000" i="1" dirty="0">
              <a:latin typeface="Times New Roman" panose="02020603050405020304" pitchFamily="18" charset="0"/>
              <a:ea typeface="宋体" panose="02010600030101010101" pitchFamily="2" charset="-122"/>
            </a:endParaRPr>
          </a:p>
        </p:txBody>
      </p:sp>
      <p:pic>
        <p:nvPicPr>
          <p:cNvPr id="65543" name="图片 6"/>
          <p:cNvPicPr>
            <a:picLocks noChangeAspect="1"/>
          </p:cNvPicPr>
          <p:nvPr/>
        </p:nvPicPr>
        <p:blipFill>
          <a:blip r:embed="rId2"/>
          <a:stretch>
            <a:fillRect/>
          </a:stretch>
        </p:blipFill>
        <p:spPr>
          <a:xfrm>
            <a:off x="3440430" y="2334895"/>
            <a:ext cx="5576570" cy="2066290"/>
          </a:xfrm>
          <a:prstGeom prst="rect">
            <a:avLst/>
          </a:prstGeom>
          <a:noFill/>
          <a:ln w="9525">
            <a:noFill/>
          </a:ln>
        </p:spPr>
      </p:pic>
      <p:cxnSp>
        <p:nvCxnSpPr>
          <p:cNvPr id="59400" name="直接箭头连接符 6"/>
          <p:cNvCxnSpPr/>
          <p:nvPr/>
        </p:nvCxnSpPr>
        <p:spPr>
          <a:xfrm flipH="1">
            <a:off x="5148580" y="3068955"/>
            <a:ext cx="71755" cy="1872615"/>
          </a:xfrm>
          <a:prstGeom prst="straightConnector1">
            <a:avLst/>
          </a:prstGeom>
          <a:ln w="28575" cap="flat" cmpd="sng">
            <a:solidFill>
              <a:srgbClr val="0070C0"/>
            </a:solidFill>
            <a:prstDash val="solid"/>
            <a:round/>
            <a:headEnd type="none" w="med" len="med"/>
            <a:tailEnd type="arrow" w="med" len="med"/>
          </a:ln>
        </p:spPr>
      </p:cxnSp>
      <p:cxnSp>
        <p:nvCxnSpPr>
          <p:cNvPr id="3" name="直接箭头连接符 6"/>
          <p:cNvCxnSpPr/>
          <p:nvPr/>
        </p:nvCxnSpPr>
        <p:spPr>
          <a:xfrm flipH="1">
            <a:off x="5940425" y="3032760"/>
            <a:ext cx="1326515" cy="1980565"/>
          </a:xfrm>
          <a:prstGeom prst="straightConnector1">
            <a:avLst/>
          </a:prstGeom>
          <a:ln w="28575" cap="flat" cmpd="sng">
            <a:solidFill>
              <a:srgbClr val="0070C0"/>
            </a:solidFill>
            <a:prstDash val="solid"/>
            <a:round/>
            <a:headEnd type="none" w="med" len="med"/>
            <a:tailEnd type="arrow" w="med" len="med"/>
          </a:ln>
        </p:spPr>
      </p:cxnSp>
      <p:cxnSp>
        <p:nvCxnSpPr>
          <p:cNvPr id="4" name="直接箭头连接符 6"/>
          <p:cNvCxnSpPr/>
          <p:nvPr/>
        </p:nvCxnSpPr>
        <p:spPr>
          <a:xfrm>
            <a:off x="5364480" y="4149090"/>
            <a:ext cx="1007745" cy="864235"/>
          </a:xfrm>
          <a:prstGeom prst="straightConnector1">
            <a:avLst/>
          </a:prstGeom>
          <a:ln w="28575" cap="flat" cmpd="sng">
            <a:solidFill>
              <a:srgbClr val="0070C0"/>
            </a:solidFill>
            <a:prstDash val="solid"/>
            <a:round/>
            <a:headEnd type="none" w="med" len="med"/>
            <a:tailEnd type="arrow" w="med" len="med"/>
          </a:ln>
        </p:spPr>
      </p:cxn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矩形 41"/>
          <p:cNvSpPr/>
          <p:nvPr/>
        </p:nvSpPr>
        <p:spPr>
          <a:xfrm>
            <a:off x="755650" y="3241675"/>
            <a:ext cx="3270250" cy="2030095"/>
          </a:xfrm>
          <a:prstGeom prst="rect">
            <a:avLst/>
          </a:prstGeom>
          <a:noFill/>
          <a:ln w="9525">
            <a:noFill/>
          </a:ln>
        </p:spPr>
        <p:txBody>
          <a:bodyPr anchor="t">
            <a:spAutoFit/>
          </a:bodyPr>
          <a:p>
            <a:pPr eaLnBrk="0" hangingPunct="0"/>
            <a:r>
              <a:rPr lang="en-US" altLang="zh-CN" sz="1800" dirty="0">
                <a:latin typeface="Times New Roman" panose="02020603050405020304" pitchFamily="18" charset="0"/>
                <a:ea typeface="宋体" panose="02010600030101010101" pitchFamily="2" charset="-122"/>
              </a:rPr>
              <a:t>Case 3(</a:t>
            </a:r>
            <a:r>
              <a:rPr lang="zh-CN" altLang="en-US" sz="1800" dirty="0">
                <a:latin typeface="Times New Roman" panose="02020603050405020304" pitchFamily="18" charset="0"/>
                <a:ea typeface="宋体" panose="02010600030101010101" pitchFamily="2" charset="-122"/>
              </a:rPr>
              <a:t>含间隔模仿类的多乐汇结构</a:t>
            </a:r>
            <a:r>
              <a:rPr lang="en-US" altLang="zh-CN" sz="1800" dirty="0">
                <a:latin typeface="Times New Roman" panose="02020603050405020304" pitchFamily="18" charset="0"/>
                <a:ea typeface="宋体" panose="02010600030101010101" pitchFamily="2" charset="-122"/>
              </a:rPr>
              <a:t>): </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           </a:t>
            </a:r>
            <a:endParaRPr lang="en-US" altLang="zh-CN" sz="1800" dirty="0">
              <a:latin typeface="Times New Roman" panose="02020603050405020304" pitchFamily="18" charset="0"/>
              <a:ea typeface="宋体" panose="02010600030101010101" pitchFamily="2" charset="-122"/>
            </a:endParaRPr>
          </a:p>
          <a:p>
            <a:pPr eaLnBrk="0" hangingPunct="0"/>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sym typeface="+mn-ea"/>
              </a:rPr>
              <a:t>乐汇序列</a:t>
            </a:r>
            <a:r>
              <a:rPr lang="en-US" altLang="zh-CN" sz="1800" i="1" dirty="0">
                <a:latin typeface="Times New Roman" panose="02020603050405020304" pitchFamily="18" charset="0"/>
                <a:ea typeface="宋体" panose="02010600030101010101" pitchFamily="2" charset="-122"/>
                <a:sym typeface="+mn-ea"/>
              </a:rPr>
              <a:t>MPSeq</a:t>
            </a:r>
            <a:r>
              <a:rPr lang="zh-CN" altLang="en-US" sz="1800" dirty="0">
                <a:latin typeface="Times New Roman" panose="02020603050405020304" pitchFamily="18" charset="0"/>
                <a:ea typeface="宋体" panose="02010600030101010101" pitchFamily="2" charset="-122"/>
                <a:sym typeface="+mn-ea"/>
              </a:rPr>
              <a:t>中的第</a:t>
            </a:r>
            <a:r>
              <a:rPr lang="en-US" altLang="zh-CN" sz="1800" dirty="0">
                <a:latin typeface="Times New Roman" panose="02020603050405020304" pitchFamily="18" charset="0"/>
                <a:ea typeface="宋体" panose="02010600030101010101" pitchFamily="2" charset="-122"/>
                <a:sym typeface="+mn-ea"/>
              </a:rPr>
              <a:t>1</a:t>
            </a:r>
            <a:r>
              <a:rPr lang="zh-CN" altLang="en-US" sz="1800" dirty="0">
                <a:latin typeface="Times New Roman" panose="02020603050405020304" pitchFamily="18" charset="0"/>
                <a:ea typeface="宋体" panose="02010600030101010101" pitchFamily="2" charset="-122"/>
                <a:sym typeface="+mn-ea"/>
              </a:rPr>
              <a:t>与第</a:t>
            </a:r>
            <a:r>
              <a:rPr lang="en-US" altLang="zh-CN" sz="1800" dirty="0">
                <a:latin typeface="Times New Roman" panose="02020603050405020304" pitchFamily="18" charset="0"/>
                <a:ea typeface="宋体" panose="02010600030101010101" pitchFamily="2" charset="-122"/>
                <a:sym typeface="+mn-ea"/>
              </a:rPr>
              <a:t>3</a:t>
            </a:r>
            <a:r>
              <a:rPr lang="zh-CN" altLang="en-US" sz="1800" dirty="0">
                <a:latin typeface="Times New Roman" panose="02020603050405020304" pitchFamily="18" charset="0"/>
                <a:ea typeface="宋体" panose="02010600030101010101" pitchFamily="2" charset="-122"/>
                <a:sym typeface="+mn-ea"/>
              </a:rPr>
              <a:t>，第</a:t>
            </a:r>
            <a:r>
              <a:rPr lang="en-US" altLang="zh-CN" sz="1800" dirty="0">
                <a:latin typeface="Times New Roman" panose="02020603050405020304" pitchFamily="18" charset="0"/>
                <a:ea typeface="宋体" panose="02010600030101010101" pitchFamily="2" charset="-122"/>
                <a:sym typeface="+mn-ea"/>
              </a:rPr>
              <a:t>3</a:t>
            </a:r>
            <a:r>
              <a:rPr lang="zh-CN" altLang="en-US" sz="1800" dirty="0">
                <a:latin typeface="Times New Roman" panose="02020603050405020304" pitchFamily="18" charset="0"/>
                <a:ea typeface="宋体" panose="02010600030101010101" pitchFamily="2" charset="-122"/>
                <a:sym typeface="+mn-ea"/>
              </a:rPr>
              <a:t>与第</a:t>
            </a:r>
            <a:r>
              <a:rPr lang="en-US" altLang="zh-CN" sz="1800" dirty="0">
                <a:latin typeface="Times New Roman" panose="02020603050405020304" pitchFamily="18" charset="0"/>
                <a:ea typeface="宋体" panose="02010600030101010101" pitchFamily="2" charset="-122"/>
                <a:sym typeface="+mn-ea"/>
              </a:rPr>
              <a:t>5</a:t>
            </a:r>
            <a:r>
              <a:rPr lang="en-US" altLang="zh-CN" sz="1800" dirty="0">
                <a:latin typeface="Times New Roman" panose="02020603050405020304" pitchFamily="18" charset="0"/>
                <a:ea typeface="宋体" panose="02010600030101010101" pitchFamily="2" charset="-122"/>
                <a:sym typeface="+mn-ea"/>
              </a:rPr>
              <a:t>, …,</a:t>
            </a:r>
            <a:r>
              <a:rPr lang="zh-CN" altLang="en-US" sz="1800" dirty="0">
                <a:latin typeface="Times New Roman" panose="02020603050405020304" pitchFamily="18" charset="0"/>
                <a:ea typeface="宋体" panose="02010600030101010101" pitchFamily="2" charset="-122"/>
                <a:sym typeface="+mn-ea"/>
              </a:rPr>
              <a:t>个乐汇间或第</a:t>
            </a:r>
            <a:r>
              <a:rPr lang="en-US" altLang="zh-CN" sz="1800" dirty="0">
                <a:latin typeface="Times New Roman" panose="02020603050405020304" pitchFamily="18" charset="0"/>
                <a:ea typeface="宋体" panose="02010600030101010101" pitchFamily="2" charset="-122"/>
                <a:sym typeface="+mn-ea"/>
              </a:rPr>
              <a:t>2</a:t>
            </a:r>
            <a:r>
              <a:rPr lang="zh-CN" altLang="en-US" sz="1800" dirty="0">
                <a:latin typeface="Times New Roman" panose="02020603050405020304" pitchFamily="18" charset="0"/>
                <a:ea typeface="宋体" panose="02010600030101010101" pitchFamily="2" charset="-122"/>
                <a:sym typeface="+mn-ea"/>
              </a:rPr>
              <a:t>与第</a:t>
            </a:r>
            <a:r>
              <a:rPr lang="en-US" altLang="zh-CN" sz="1800" dirty="0">
                <a:latin typeface="Times New Roman" panose="02020603050405020304" pitchFamily="18" charset="0"/>
                <a:ea typeface="宋体" panose="02010600030101010101" pitchFamily="2" charset="-122"/>
                <a:sym typeface="+mn-ea"/>
              </a:rPr>
              <a:t>4</a:t>
            </a:r>
            <a:r>
              <a:rPr lang="zh-CN" altLang="en-US" sz="1800" dirty="0">
                <a:latin typeface="Times New Roman" panose="02020603050405020304" pitchFamily="18" charset="0"/>
                <a:ea typeface="宋体" panose="02010600030101010101" pitchFamily="2" charset="-122"/>
                <a:sym typeface="+mn-ea"/>
              </a:rPr>
              <a:t>，第</a:t>
            </a:r>
            <a:r>
              <a:rPr lang="en-US" altLang="zh-CN" sz="1800" dirty="0">
                <a:latin typeface="Times New Roman" panose="02020603050405020304" pitchFamily="18" charset="0"/>
                <a:ea typeface="宋体" panose="02010600030101010101" pitchFamily="2" charset="-122"/>
                <a:sym typeface="+mn-ea"/>
              </a:rPr>
              <a:t>4</a:t>
            </a:r>
            <a:r>
              <a:rPr lang="zh-CN" altLang="en-US" sz="1800" dirty="0">
                <a:latin typeface="Times New Roman" panose="02020603050405020304" pitchFamily="18" charset="0"/>
                <a:ea typeface="宋体" panose="02010600030101010101" pitchFamily="2" charset="-122"/>
                <a:sym typeface="+mn-ea"/>
              </a:rPr>
              <a:t>与第</a:t>
            </a:r>
            <a:r>
              <a:rPr lang="en-US" altLang="zh-CN" sz="1800" dirty="0">
                <a:latin typeface="Times New Roman" panose="02020603050405020304" pitchFamily="18" charset="0"/>
                <a:ea typeface="宋体" panose="02010600030101010101" pitchFamily="2" charset="-122"/>
                <a:sym typeface="+mn-ea"/>
              </a:rPr>
              <a:t>6</a:t>
            </a:r>
            <a:r>
              <a:rPr lang="zh-CN" altLang="en-US" sz="1800" dirty="0">
                <a:latin typeface="Times New Roman" panose="02020603050405020304" pitchFamily="18" charset="0"/>
                <a:ea typeface="宋体" panose="02010600030101010101" pitchFamily="2" charset="-122"/>
                <a:sym typeface="+mn-ea"/>
              </a:rPr>
              <a:t>个乐汇间</a:t>
            </a:r>
            <a:r>
              <a:rPr lang="en-US" altLang="zh-CN" sz="1800" dirty="0">
                <a:latin typeface="Times New Roman" panose="02020603050405020304" pitchFamily="18" charset="0"/>
                <a:ea typeface="宋体" panose="02010600030101010101" pitchFamily="2" charset="-122"/>
                <a:sym typeface="+mn-ea"/>
              </a:rPr>
              <a:t>, …,</a:t>
            </a:r>
            <a:r>
              <a:rPr lang="zh-CN" altLang="en-US" sz="1800" dirty="0">
                <a:latin typeface="Times New Roman" panose="02020603050405020304" pitchFamily="18" charset="0"/>
                <a:ea typeface="宋体" panose="02010600030101010101" pitchFamily="2" charset="-122"/>
                <a:sym typeface="+mn-ea"/>
              </a:rPr>
              <a:t>均存在</a:t>
            </a:r>
            <a:r>
              <a:rPr lang="zh-CN" altLang="en-US" sz="1800" dirty="0">
                <a:latin typeface="Times New Roman" panose="02020603050405020304" pitchFamily="18" charset="0"/>
                <a:ea typeface="宋体" panose="02010600030101010101" pitchFamily="2" charset="-122"/>
                <a:sym typeface="+mn-ea"/>
              </a:rPr>
              <a:t>模仿类关系。</a:t>
            </a:r>
            <a:endParaRPr lang="en-US" altLang="zh-CN" sz="1800" dirty="0">
              <a:latin typeface="Times New Roman" panose="02020603050405020304" pitchFamily="18" charset="0"/>
              <a:ea typeface="宋体" panose="02010600030101010101" pitchFamily="2" charset="-122"/>
            </a:endParaRPr>
          </a:p>
        </p:txBody>
      </p:sp>
      <p:sp>
        <p:nvSpPr>
          <p:cNvPr id="63491" name="矩形 43"/>
          <p:cNvSpPr/>
          <p:nvPr/>
        </p:nvSpPr>
        <p:spPr>
          <a:xfrm>
            <a:off x="3898900" y="5427345"/>
            <a:ext cx="4864100" cy="860425"/>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kMP</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是一个多乐汇结构，其中，</a:t>
            </a:r>
            <a:r>
              <a:rPr lang="en-US" altLang="zh-CN" sz="1600" dirty="0">
                <a:latin typeface="Times New Roman" panose="02020603050405020304" pitchFamily="18" charset="0"/>
                <a:ea typeface="宋体" panose="02010600030101010101" pitchFamily="2" charset="-122"/>
              </a:rPr>
              <a:t>     </a:t>
            </a:r>
            <a:endParaRPr lang="en-US" altLang="zh-CN" sz="1600" dirty="0">
              <a:latin typeface="Times New Roman" panose="02020603050405020304" pitchFamily="18" charset="0"/>
              <a:ea typeface="宋体" panose="02010600030101010101" pitchFamily="2" charset="-122"/>
            </a:endParaRPr>
          </a:p>
          <a:p>
            <a:pPr eaLnBrk="0" hangingPunct="0"/>
            <a:r>
              <a:rPr lang="en-US" altLang="zh-CN" sz="1600" i="1" dirty="0">
                <a:latin typeface="Times New Roman" panose="02020603050405020304" pitchFamily="18" charset="0"/>
                <a:ea typeface="宋体" panose="02010600030101010101" pitchFamily="2" charset="-122"/>
              </a:rPr>
              <a:t> </a:t>
            </a:r>
            <a:r>
              <a:rPr lang="en-US" altLang="zh-CN" sz="1600" b="1" i="1" dirty="0">
                <a:solidFill>
                  <a:srgbClr val="FFFF00"/>
                </a:solidFill>
                <a:latin typeface="Times New Roman" panose="02020603050405020304" pitchFamily="18" charset="0"/>
                <a:ea typeface="宋体" panose="02010600030101010101" pitchFamily="2" charset="-122"/>
              </a:rPr>
              <a:t>kMP</a:t>
            </a:r>
            <a:r>
              <a:rPr lang="en-US" altLang="zh-CN" sz="1600" b="1" baseline="-25000" dirty="0">
                <a:solidFill>
                  <a:srgbClr val="FFFF00"/>
                </a:solidFill>
                <a:latin typeface="Times New Roman" panose="02020603050405020304" pitchFamily="18" charset="0"/>
                <a:ea typeface="宋体" panose="02010600030101010101" pitchFamily="2" charset="-122"/>
              </a:rPr>
              <a:t>1</a:t>
            </a:r>
            <a:r>
              <a:rPr lang="en-US" altLang="zh-CN" sz="1600" b="1" i="1" baseline="-25000" dirty="0">
                <a:solidFill>
                  <a:srgbClr val="FFFF0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solidFill>
                  <a:srgbClr val="FF0000"/>
                </a:solidFill>
                <a:latin typeface="Times New Roman" panose="02020603050405020304" pitchFamily="18" charset="0"/>
                <a:ea typeface="宋体" panose="02010600030101010101" pitchFamily="2" charset="-122"/>
              </a:rPr>
              <a:t>MP</a:t>
            </a:r>
            <a:r>
              <a:rPr lang="en-US" altLang="zh-CN" sz="1600" baseline="-25000" dirty="0">
                <a:solidFill>
                  <a:srgbClr val="FF0000"/>
                </a:solidFill>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 </a:t>
            </a:r>
            <a:r>
              <a:rPr lang="en-US" altLang="zh-CN" sz="1600" i="1" dirty="0">
                <a:solidFill>
                  <a:srgbClr val="FFFF00"/>
                </a:solidFill>
                <a:latin typeface="Times New Roman" panose="02020603050405020304" pitchFamily="18" charset="0"/>
                <a:ea typeface="宋体" panose="02010600030101010101" pitchFamily="2" charset="-122"/>
              </a:rPr>
              <a:t>MP</a:t>
            </a:r>
            <a:r>
              <a:rPr lang="en-US" altLang="zh-CN" sz="1600" baseline="-25000" dirty="0">
                <a:solidFill>
                  <a:srgbClr val="FFFF00"/>
                </a:solidFill>
                <a:latin typeface="Times New Roman" panose="02020603050405020304" pitchFamily="18" charset="0"/>
                <a:ea typeface="宋体" panose="02010600030101010101" pitchFamily="2" charset="-122"/>
              </a:rPr>
              <a:t>2</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MP</a:t>
            </a:r>
            <a:r>
              <a:rPr lang="en-US" altLang="zh-CN" sz="1600" baseline="-25000" dirty="0">
                <a:solidFill>
                  <a:srgbClr val="FF0000"/>
                </a:solidFill>
                <a:latin typeface="Times New Roman" panose="02020603050405020304" pitchFamily="18" charset="0"/>
                <a:ea typeface="宋体" panose="02010600030101010101" pitchFamily="2" charset="-122"/>
              </a:rPr>
              <a:t>3</a:t>
            </a:r>
            <a:r>
              <a:rPr lang="en-US" altLang="zh-CN" sz="1600" dirty="0">
                <a:latin typeface="Times New Roman" panose="02020603050405020304" pitchFamily="18" charset="0"/>
                <a:ea typeface="宋体" panose="02010600030101010101" pitchFamily="2" charset="-122"/>
              </a:rPr>
              <a:t> + </a:t>
            </a:r>
            <a:r>
              <a:rPr lang="en-US" altLang="zh-CN" sz="1600" i="1" dirty="0">
                <a:solidFill>
                  <a:srgbClr val="FFFF00"/>
                </a:solidFill>
                <a:latin typeface="Times New Roman" panose="02020603050405020304" pitchFamily="18" charset="0"/>
                <a:ea typeface="宋体" panose="02010600030101010101" pitchFamily="2" charset="-122"/>
              </a:rPr>
              <a:t>MP</a:t>
            </a:r>
            <a:r>
              <a:rPr lang="en-US" altLang="zh-CN" sz="1600" baseline="-25000" dirty="0">
                <a:solidFill>
                  <a:srgbClr val="FFFF00"/>
                </a:solidFill>
                <a:latin typeface="Times New Roman" panose="02020603050405020304" pitchFamily="18" charset="0"/>
                <a:ea typeface="宋体" panose="02010600030101010101" pitchFamily="2" charset="-122"/>
              </a:rPr>
              <a:t>4</a:t>
            </a:r>
            <a:r>
              <a:rPr lang="en-US" altLang="zh-CN" sz="1600" dirty="0">
                <a:solidFill>
                  <a:srgbClr val="FFFF0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MP</a:t>
            </a:r>
            <a:r>
              <a:rPr lang="en-US" altLang="zh-CN" sz="1600" baseline="-25000" dirty="0">
                <a:solidFill>
                  <a:srgbClr val="FF000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a:t>
            </a:r>
            <a:r>
              <a:rPr lang="en-US" altLang="zh-CN" sz="1600" dirty="0">
                <a:solidFill>
                  <a:srgbClr val="FFFF00"/>
                </a:solidFill>
                <a:latin typeface="Times New Roman" panose="02020603050405020304" pitchFamily="18" charset="0"/>
                <a:ea typeface="宋体" panose="02010600030101010101" pitchFamily="2" charset="-122"/>
              </a:rPr>
              <a:t> </a:t>
            </a:r>
            <a:r>
              <a:rPr lang="en-US" altLang="zh-CN" sz="1600" i="1" dirty="0">
                <a:solidFill>
                  <a:srgbClr val="FFFF00"/>
                </a:solidFill>
                <a:latin typeface="Times New Roman" panose="02020603050405020304" pitchFamily="18" charset="0"/>
                <a:ea typeface="宋体" panose="02010600030101010101" pitchFamily="2" charset="-122"/>
              </a:rPr>
              <a:t>MP</a:t>
            </a:r>
            <a:r>
              <a:rPr lang="en-US" altLang="zh-CN" sz="1600" baseline="-25000" dirty="0">
                <a:solidFill>
                  <a:srgbClr val="FFFF00"/>
                </a:solidFill>
                <a:latin typeface="Times New Roman" panose="02020603050405020304" pitchFamily="18" charset="0"/>
                <a:ea typeface="宋体" panose="02010600030101010101" pitchFamily="2" charset="-122"/>
              </a:rPr>
              <a:t>6</a:t>
            </a:r>
            <a:r>
              <a:rPr lang="en-US" altLang="zh-CN" sz="1600" dirty="0">
                <a:solidFill>
                  <a:srgbClr val="FFFF0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MP</a:t>
            </a:r>
            <a:r>
              <a:rPr lang="en-US" altLang="zh-CN" sz="1600" baseline="-25000" dirty="0">
                <a:solidFill>
                  <a:srgbClr val="FF0000"/>
                </a:solidFill>
                <a:latin typeface="Times New Roman" panose="02020603050405020304" pitchFamily="18" charset="0"/>
                <a:ea typeface="宋体" panose="02010600030101010101" pitchFamily="2" charset="-122"/>
              </a:rPr>
              <a:t>7</a:t>
            </a:r>
            <a:r>
              <a:rPr lang="en-US" altLang="zh-CN" sz="1600" dirty="0">
                <a:solidFill>
                  <a:srgbClr val="FF000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a:p>
            <a:pPr eaLnBrk="0" hangingPunct="0"/>
            <a:r>
              <a:rPr lang="en-US" altLang="zh-CN" sz="1600" dirty="0">
                <a:latin typeface="Times New Roman" panose="02020603050405020304" pitchFamily="18" charset="0"/>
                <a:ea typeface="宋体" panose="02010600030101010101" pitchFamily="2" charset="-122"/>
              </a:rPr>
              <a:t> </a:t>
            </a:r>
            <a:r>
              <a:rPr lang="en-US" altLang="zh-CN" sz="1600" b="1" i="1" dirty="0">
                <a:solidFill>
                  <a:srgbClr val="FFFF00"/>
                </a:solidFill>
                <a:latin typeface="Times New Roman" panose="02020603050405020304" pitchFamily="18" charset="0"/>
                <a:ea typeface="宋体" panose="02010600030101010101" pitchFamily="2" charset="-122"/>
              </a:rPr>
              <a:t>kMP</a:t>
            </a:r>
            <a:r>
              <a:rPr lang="en-US" altLang="zh-CN" sz="1600" b="1" baseline="-25000" dirty="0">
                <a:solidFill>
                  <a:srgbClr val="FFFF00"/>
                </a:solidFill>
                <a:latin typeface="Times New Roman" panose="02020603050405020304" pitchFamily="18" charset="0"/>
                <a:ea typeface="宋体" panose="02010600030101010101" pitchFamily="2" charset="-122"/>
              </a:rPr>
              <a:t>2</a:t>
            </a:r>
            <a:r>
              <a:rPr lang="en-US" altLang="zh-CN" sz="1600" i="1" dirty="0">
                <a:solidFill>
                  <a:srgbClr val="FFFF00"/>
                </a:solidFill>
                <a:latin typeface="Times New Roman" panose="02020603050405020304" pitchFamily="18" charset="0"/>
                <a:ea typeface="宋体" panose="02010600030101010101" pitchFamily="2" charset="-122"/>
              </a:rPr>
              <a:t> </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rPr>
              <a:t>MP</a:t>
            </a:r>
            <a:r>
              <a:rPr lang="en-US" altLang="zh-CN" sz="1600" baseline="-25000" dirty="0">
                <a:solidFill>
                  <a:srgbClr val="FF0000"/>
                </a:solidFill>
                <a:latin typeface="Times New Roman" panose="02020603050405020304" pitchFamily="18" charset="0"/>
                <a:ea typeface="宋体" panose="02010600030101010101" pitchFamily="2" charset="-122"/>
              </a:rPr>
              <a:t>8</a:t>
            </a:r>
            <a:endParaRPr lang="en-US" altLang="zh-CN" sz="1600" baseline="-25000" dirty="0">
              <a:solidFill>
                <a:srgbClr val="FF0000"/>
              </a:solidFill>
              <a:latin typeface="Times New Roman" panose="02020603050405020304" pitchFamily="18" charset="0"/>
              <a:ea typeface="宋体" panose="02010600030101010101" pitchFamily="2" charset="-122"/>
            </a:endParaRPr>
          </a:p>
        </p:txBody>
      </p:sp>
      <p:pic>
        <p:nvPicPr>
          <p:cNvPr id="63492" name="图片 7"/>
          <p:cNvPicPr>
            <a:picLocks noChangeAspect="1"/>
          </p:cNvPicPr>
          <p:nvPr/>
        </p:nvPicPr>
        <p:blipFill>
          <a:blip r:embed="rId1"/>
          <a:stretch>
            <a:fillRect/>
          </a:stretch>
        </p:blipFill>
        <p:spPr>
          <a:xfrm>
            <a:off x="4025900" y="1898015"/>
            <a:ext cx="4798695" cy="3522980"/>
          </a:xfrm>
          <a:prstGeom prst="rect">
            <a:avLst/>
          </a:prstGeom>
          <a:noFill/>
          <a:ln w="9525">
            <a:noFill/>
          </a:ln>
        </p:spPr>
      </p:pic>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7349"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多乐汇结构</a:t>
            </a:r>
            <a:endParaRPr lang="zh-CN" altLang="en-US" sz="2000" i="1"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矩形 41"/>
          <p:cNvSpPr/>
          <p:nvPr/>
        </p:nvSpPr>
        <p:spPr>
          <a:xfrm>
            <a:off x="755650" y="3241675"/>
            <a:ext cx="3250565" cy="3291840"/>
          </a:xfrm>
          <a:prstGeom prst="rect">
            <a:avLst/>
          </a:prstGeom>
          <a:noFill/>
          <a:ln w="9525">
            <a:noFill/>
          </a:ln>
        </p:spPr>
        <p:txBody>
          <a:bodyPr wrap="square" anchor="t">
            <a:spAutoFit/>
          </a:bodyPr>
          <a:p>
            <a:pPr eaLnBrk="0" hangingPunct="0"/>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假设</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kMP</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k</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MPSeq</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RDS</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是一个多乐汇结构，其中，</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MPSeq</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MP</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 , </a:t>
            </a:r>
            <a:r>
              <a:rPr lang="en-US" altLang="zh-CN" sz="1600" i="1" dirty="0">
                <a:latin typeface="Times New Roman" panose="02020603050405020304" pitchFamily="18" charset="0"/>
                <a:ea typeface="宋体" panose="02010600030101010101" pitchFamily="2" charset="-122"/>
              </a:rPr>
              <a:t>MP</a:t>
            </a:r>
            <a:r>
              <a:rPr lang="en-US" altLang="zh-CN" sz="1600" i="1" baseline="-25000" dirty="0">
                <a:latin typeface="Times New Roman" panose="02020603050405020304" pitchFamily="18" charset="0"/>
                <a:ea typeface="宋体" panose="02010600030101010101" pitchFamily="2" charset="-122"/>
              </a:rPr>
              <a:t>k</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RDS</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i</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j</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R</a:t>
            </a:r>
            <a:r>
              <a:rPr lang="en-US" altLang="zh-CN" sz="1600" i="1" baseline="-25000" dirty="0">
                <a:latin typeface="Times New Roman" panose="02020603050405020304" pitchFamily="18" charset="0"/>
                <a:ea typeface="宋体" panose="02010600030101010101" pitchFamily="2" charset="-122"/>
              </a:rPr>
              <a:t>k</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i</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j</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R</a:t>
            </a:r>
            <a:r>
              <a:rPr lang="en-US" altLang="zh-CN" sz="1600" i="1" baseline="-25000" dirty="0">
                <a:latin typeface="Times New Roman" panose="02020603050405020304" pitchFamily="18" charset="0"/>
                <a:ea typeface="宋体" panose="02010600030101010101" pitchFamily="2" charset="-122"/>
              </a:rPr>
              <a:t>k</a:t>
            </a:r>
            <a:r>
              <a:rPr lang="en-US" altLang="zh-CN" sz="1600" baseline="-25000" dirty="0">
                <a:latin typeface="Times New Roman" panose="02020603050405020304" pitchFamily="18" charset="0"/>
                <a:ea typeface="宋体" panose="02010600030101010101" pitchFamily="2" charset="-122"/>
              </a:rPr>
              <a:t>2</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i</a:t>
            </a:r>
            <a:r>
              <a:rPr lang="en-US" altLang="zh-CN" sz="1600" i="1" baseline="-25000" dirty="0">
                <a:latin typeface="Times New Roman" panose="02020603050405020304" pitchFamily="18" charset="0"/>
                <a:ea typeface="宋体" panose="02010600030101010101" pitchFamily="2" charset="-122"/>
              </a:rPr>
              <a:t>S</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j</a:t>
            </a:r>
            <a:r>
              <a:rPr lang="en-US" altLang="zh-CN" sz="1600" i="1" baseline="-25000" dirty="0">
                <a:latin typeface="Times New Roman" panose="02020603050405020304" pitchFamily="18" charset="0"/>
                <a:ea typeface="宋体" panose="02010600030101010101" pitchFamily="2" charset="-122"/>
              </a:rPr>
              <a:t>S</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R</a:t>
            </a:r>
            <a:r>
              <a:rPr lang="en-US" altLang="zh-CN" sz="1600" i="1" baseline="-25000" dirty="0">
                <a:latin typeface="Times New Roman" panose="02020603050405020304" pitchFamily="18" charset="0"/>
                <a:ea typeface="宋体" panose="02010600030101010101" pitchFamily="2" charset="-122"/>
              </a:rPr>
              <a:t>kS</a:t>
            </a: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a:t>
            </a:r>
            <a:endParaRPr lang="zh-CN" altLang="en-US" sz="1600" dirty="0">
              <a:latin typeface="Times New Roman" panose="02020603050405020304" pitchFamily="18" charset="0"/>
              <a:ea typeface="宋体" panose="02010600030101010101" pitchFamily="2" charset="-122"/>
            </a:endParaRPr>
          </a:p>
          <a:p>
            <a:pPr eaLnBrk="0" hangingPunct="0"/>
            <a:endParaRPr lang="zh-CN" altLang="en-US" sz="1600" dirty="0">
              <a:latin typeface="Times New Roman" panose="02020603050405020304" pitchFamily="18" charset="0"/>
              <a:ea typeface="宋体" panose="02010600030101010101" pitchFamily="2" charset="-122"/>
            </a:endParaRPr>
          </a:p>
          <a:p>
            <a:pPr eaLnBrk="0" hangingPunct="0"/>
            <a:r>
              <a:rPr lang="zh-CN" altLang="en-US" sz="1600" dirty="0">
                <a:latin typeface="Times New Roman" panose="02020603050405020304" pitchFamily="18" charset="0"/>
                <a:ea typeface="宋体" panose="02010600030101010101" pitchFamily="2" charset="-122"/>
              </a:rPr>
              <a:t>        再设</a:t>
            </a:r>
            <a:r>
              <a:rPr lang="en-US" altLang="zh-CN" sz="1600" i="1" dirty="0">
                <a:latin typeface="Times New Roman" panose="02020603050405020304" pitchFamily="18" charset="0"/>
                <a:ea typeface="宋体" panose="02010600030101010101" pitchFamily="2" charset="-122"/>
              </a:rPr>
              <a:t>MPSeq</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MP</a:t>
            </a:r>
            <a:r>
              <a:rPr lang="en-US" altLang="zh-CN" sz="1600" dirty="0">
                <a:latin typeface="Times New Roman" panose="02020603050405020304" pitchFamily="18" charset="0"/>
                <a:ea typeface="宋体" panose="02010600030101010101" pitchFamily="2" charset="-122"/>
              </a:rPr>
              <a:t>’</a:t>
            </a:r>
            <a:r>
              <a:rPr lang="en-US" altLang="zh-CN" sz="1600" baseline="-25000" dirty="0">
                <a:latin typeface="Times New Roman" panose="02020603050405020304" pitchFamily="18" charset="0"/>
                <a:ea typeface="宋体" panose="02010600030101010101" pitchFamily="2" charset="-122"/>
              </a:rPr>
              <a:t>1</a:t>
            </a:r>
            <a:r>
              <a:rPr lang="en-US" altLang="zh-CN" sz="1600" dirty="0">
                <a:latin typeface="Times New Roman" panose="02020603050405020304" pitchFamily="18" charset="0"/>
                <a:ea typeface="宋体" panose="02010600030101010101" pitchFamily="2" charset="-122"/>
              </a:rPr>
              <a:t>, …, </a:t>
            </a:r>
            <a:r>
              <a:rPr lang="en-US" altLang="zh-CN" sz="1600" i="1" dirty="0">
                <a:latin typeface="Times New Roman" panose="02020603050405020304" pitchFamily="18" charset="0"/>
                <a:ea typeface="宋体" panose="02010600030101010101" pitchFamily="2" charset="-122"/>
              </a:rPr>
              <a:t>MP</a:t>
            </a:r>
            <a:r>
              <a:rPr lang="en-US" altLang="zh-CN" sz="1600" dirty="0">
                <a:latin typeface="Times New Roman" panose="02020603050405020304" pitchFamily="18" charset="0"/>
                <a:ea typeface="宋体" panose="02010600030101010101" pitchFamily="2" charset="-122"/>
              </a:rPr>
              <a:t>’</a:t>
            </a:r>
            <a:r>
              <a:rPr lang="en-US" altLang="zh-CN" sz="1600" i="1" baseline="-25000" dirty="0">
                <a:latin typeface="Times New Roman" panose="02020603050405020304" pitchFamily="18" charset="0"/>
                <a:ea typeface="宋体" panose="02010600030101010101" pitchFamily="2" charset="-122"/>
              </a:rPr>
              <a:t>k</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是另</a:t>
            </a:r>
            <a:r>
              <a:rPr lang="en-US" altLang="zh-CN" sz="1600" i="1" dirty="0">
                <a:latin typeface="Times New Roman" panose="02020603050405020304" pitchFamily="18" charset="0"/>
                <a:ea typeface="宋体" panose="02010600030101010101" pitchFamily="2" charset="-122"/>
                <a:sym typeface="+mn-ea"/>
              </a:rPr>
              <a:t>k</a:t>
            </a:r>
            <a:r>
              <a:rPr lang="zh-CN" altLang="en-US" sz="1600" dirty="0">
                <a:latin typeface="Times New Roman" panose="02020603050405020304" pitchFamily="18" charset="0"/>
                <a:ea typeface="宋体" panose="02010600030101010101" pitchFamily="2" charset="-122"/>
              </a:rPr>
              <a:t>个乐汇构成的乐汇序列。若在</a:t>
            </a:r>
            <a:r>
              <a:rPr lang="en-US" altLang="zh-CN" sz="1600" i="1" dirty="0">
                <a:latin typeface="Times New Roman" panose="02020603050405020304" pitchFamily="18" charset="0"/>
                <a:ea typeface="宋体" panose="02010600030101010101" pitchFamily="2" charset="-122"/>
                <a:sym typeface="+mn-ea"/>
              </a:rPr>
              <a:t>MPSeq</a:t>
            </a:r>
            <a:r>
              <a:rPr lang="en-US" altLang="zh-CN" sz="1600" dirty="0">
                <a:latin typeface="Times New Roman" panose="02020603050405020304" pitchFamily="18" charset="0"/>
                <a:ea typeface="宋体" panose="02010600030101010101" pitchFamily="2" charset="-122"/>
                <a:sym typeface="+mn-ea"/>
              </a:rPr>
              <a:t>’</a:t>
            </a:r>
            <a:r>
              <a:rPr lang="zh-CN" altLang="en-US" sz="1600" dirty="0">
                <a:latin typeface="Times New Roman" panose="02020603050405020304" pitchFamily="18" charset="0"/>
                <a:ea typeface="宋体" panose="02010600030101010101" pitchFamily="2" charset="-122"/>
              </a:rPr>
              <a:t>中</a:t>
            </a:r>
            <a:r>
              <a:rPr lang="zh-CN" altLang="en-US" sz="1600" dirty="0">
                <a:latin typeface="Times New Roman" panose="02020603050405020304" pitchFamily="18" charset="0"/>
                <a:ea typeface="宋体" panose="02010600030101010101" pitchFamily="2" charset="-122"/>
                <a:sym typeface="+mn-ea"/>
              </a:rPr>
              <a:t>对所有的</a:t>
            </a:r>
            <a:r>
              <a:rPr lang="en-US" altLang="zh-CN" sz="1600" i="1" dirty="0">
                <a:latin typeface="Times New Roman" panose="02020603050405020304" pitchFamily="18" charset="0"/>
                <a:ea typeface="宋体" panose="02010600030101010101" pitchFamily="2" charset="-122"/>
                <a:sym typeface="+mn-ea"/>
              </a:rPr>
              <a:t>r</a:t>
            </a:r>
            <a:r>
              <a:rPr lang="en-US" altLang="zh-CN" sz="1600" dirty="0">
                <a:latin typeface="Times New Roman" panose="02020603050405020304" pitchFamily="18" charset="0"/>
                <a:ea typeface="宋体" panose="02010600030101010101" pitchFamily="2" charset="-122"/>
                <a:sym typeface="+mn-ea"/>
              </a:rPr>
              <a:t> =1, …, </a:t>
            </a:r>
            <a:r>
              <a:rPr lang="en-US" altLang="zh-CN" sz="1600" i="1" dirty="0">
                <a:latin typeface="Times New Roman" panose="02020603050405020304" pitchFamily="18" charset="0"/>
                <a:ea typeface="宋体" panose="02010600030101010101" pitchFamily="2" charset="-122"/>
                <a:sym typeface="+mn-ea"/>
              </a:rPr>
              <a:t>s</a:t>
            </a:r>
            <a:r>
              <a:rPr lang="en-US" altLang="zh-CN" sz="1600" dirty="0">
                <a:latin typeface="Times New Roman" panose="02020603050405020304" pitchFamily="18" charset="0"/>
                <a:ea typeface="宋体" panose="02010600030101010101" pitchFamily="2" charset="-122"/>
                <a:sym typeface="+mn-ea"/>
              </a:rPr>
              <a:t>, </a:t>
            </a:r>
            <a:r>
              <a:rPr lang="zh-CN" altLang="en-US" sz="1600" dirty="0">
                <a:latin typeface="Times New Roman" panose="02020603050405020304" pitchFamily="18" charset="0"/>
                <a:ea typeface="宋体" panose="02010600030101010101" pitchFamily="2" charset="-122"/>
              </a:rPr>
              <a:t>第</a:t>
            </a:r>
            <a:r>
              <a:rPr lang="en-US" altLang="zh-CN" sz="1600" i="1" dirty="0">
                <a:latin typeface="Times New Roman" panose="02020603050405020304" pitchFamily="18" charset="0"/>
                <a:ea typeface="宋体" panose="02010600030101010101" pitchFamily="2" charset="-122"/>
                <a:sym typeface="+mn-ea"/>
              </a:rPr>
              <a:t>i</a:t>
            </a:r>
            <a:r>
              <a:rPr lang="en-US" altLang="zh-CN" sz="1600" i="1" baseline="-25000" dirty="0">
                <a:latin typeface="Times New Roman" panose="02020603050405020304" pitchFamily="18" charset="0"/>
                <a:ea typeface="宋体" panose="02010600030101010101" pitchFamily="2" charset="-122"/>
                <a:sym typeface="+mn-ea"/>
              </a:rPr>
              <a:t>r</a:t>
            </a:r>
            <a:r>
              <a:rPr lang="zh-CN" altLang="en-US" sz="1600" dirty="0">
                <a:latin typeface="Times New Roman" panose="02020603050405020304" pitchFamily="18" charset="0"/>
                <a:ea typeface="宋体" panose="02010600030101010101" pitchFamily="2" charset="-122"/>
              </a:rPr>
              <a:t>个</a:t>
            </a:r>
            <a:r>
              <a:rPr lang="zh-CN" altLang="en-US" sz="1600" dirty="0">
                <a:latin typeface="Times New Roman" panose="02020603050405020304" pitchFamily="18" charset="0"/>
                <a:ea typeface="宋体" panose="02010600030101010101" pitchFamily="2" charset="-122"/>
                <a:sym typeface="+mn-ea"/>
              </a:rPr>
              <a:t>乐汇</a:t>
            </a:r>
            <a:r>
              <a:rPr lang="zh-CN" altLang="en-US" sz="1600" dirty="0">
                <a:latin typeface="Times New Roman" panose="02020603050405020304" pitchFamily="18" charset="0"/>
                <a:ea typeface="宋体" panose="02010600030101010101" pitchFamily="2" charset="-122"/>
              </a:rPr>
              <a:t>与第</a:t>
            </a:r>
            <a:r>
              <a:rPr lang="en-US" altLang="zh-CN" sz="1600" dirty="0">
                <a:latin typeface="Times New Roman" panose="02020603050405020304" pitchFamily="18" charset="0"/>
                <a:ea typeface="宋体" panose="02010600030101010101" pitchFamily="2" charset="-122"/>
                <a:sym typeface="+mn-ea"/>
              </a:rPr>
              <a:t> </a:t>
            </a:r>
            <a:r>
              <a:rPr lang="en-US" altLang="zh-CN" sz="1600" i="1" dirty="0">
                <a:latin typeface="Times New Roman" panose="02020603050405020304" pitchFamily="18" charset="0"/>
                <a:ea typeface="宋体" panose="02010600030101010101" pitchFamily="2" charset="-122"/>
                <a:sym typeface="+mn-ea"/>
              </a:rPr>
              <a:t>j</a:t>
            </a:r>
            <a:r>
              <a:rPr lang="en-US" altLang="zh-CN" sz="1600" i="1" baseline="-25000" dirty="0">
                <a:latin typeface="Times New Roman" panose="02020603050405020304" pitchFamily="18" charset="0"/>
                <a:ea typeface="宋体" panose="02010600030101010101" pitchFamily="2" charset="-122"/>
                <a:sym typeface="+mn-ea"/>
              </a:rPr>
              <a:t>r</a:t>
            </a:r>
            <a:r>
              <a:rPr lang="zh-CN" altLang="en-US" sz="1600" dirty="0">
                <a:latin typeface="Times New Roman" panose="02020603050405020304" pitchFamily="18" charset="0"/>
                <a:ea typeface="宋体" panose="02010600030101010101" pitchFamily="2" charset="-122"/>
              </a:rPr>
              <a:t>个乐汇间也存在关系</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R</a:t>
            </a:r>
            <a:r>
              <a:rPr lang="en-US" altLang="zh-CN" sz="1600" i="1" baseline="-25000" dirty="0">
                <a:latin typeface="Times New Roman" panose="02020603050405020304" pitchFamily="18" charset="0"/>
                <a:ea typeface="宋体" panose="02010600030101010101" pitchFamily="2" charset="-122"/>
              </a:rPr>
              <a:t>kr</a:t>
            </a:r>
            <a:r>
              <a:rPr lang="zh-CN" altLang="en-US" sz="1600" dirty="0">
                <a:latin typeface="Times New Roman" panose="02020603050405020304" pitchFamily="18" charset="0"/>
                <a:ea typeface="宋体" panose="02010600030101010101" pitchFamily="2" charset="-122"/>
                <a:sym typeface="+mn-ea"/>
              </a:rPr>
              <a:t>，即</a:t>
            </a:r>
            <a:r>
              <a:rPr lang="en-US" altLang="zh-CN" sz="1600" dirty="0">
                <a:latin typeface="Times New Roman" panose="02020603050405020304" pitchFamily="18" charset="0"/>
                <a:ea typeface="宋体" panose="02010600030101010101" pitchFamily="2" charset="-122"/>
                <a:sym typeface="+mn-ea"/>
              </a:rPr>
              <a:t>(</a:t>
            </a:r>
            <a:r>
              <a:rPr lang="en-US" altLang="zh-CN" sz="1600" i="1" dirty="0">
                <a:latin typeface="Times New Roman" panose="02020603050405020304" pitchFamily="18" charset="0"/>
                <a:ea typeface="宋体" panose="02010600030101010101" pitchFamily="2" charset="-122"/>
                <a:sym typeface="+mn-ea"/>
              </a:rPr>
              <a:t>i</a:t>
            </a:r>
            <a:r>
              <a:rPr lang="en-US" altLang="zh-CN" sz="1600" i="1" baseline="-25000" dirty="0">
                <a:latin typeface="Times New Roman" panose="02020603050405020304" pitchFamily="18" charset="0"/>
                <a:ea typeface="宋体" panose="02010600030101010101" pitchFamily="2" charset="-122"/>
                <a:sym typeface="+mn-ea"/>
              </a:rPr>
              <a:t>r</a:t>
            </a:r>
            <a:r>
              <a:rPr lang="en-US" altLang="zh-CN" sz="1600" dirty="0">
                <a:latin typeface="Times New Roman" panose="02020603050405020304" pitchFamily="18" charset="0"/>
                <a:ea typeface="宋体" panose="02010600030101010101" pitchFamily="2" charset="-122"/>
                <a:sym typeface="+mn-ea"/>
              </a:rPr>
              <a:t>, </a:t>
            </a:r>
            <a:r>
              <a:rPr lang="en-US" altLang="zh-CN" sz="1600" i="1" dirty="0">
                <a:latin typeface="Times New Roman" panose="02020603050405020304" pitchFamily="18" charset="0"/>
                <a:ea typeface="宋体" panose="02010600030101010101" pitchFamily="2" charset="-122"/>
                <a:sym typeface="+mn-ea"/>
              </a:rPr>
              <a:t>j</a:t>
            </a:r>
            <a:r>
              <a:rPr lang="en-US" altLang="zh-CN" sz="1600" i="1" baseline="-25000" dirty="0">
                <a:latin typeface="Times New Roman" panose="02020603050405020304" pitchFamily="18" charset="0"/>
                <a:ea typeface="宋体" panose="02010600030101010101" pitchFamily="2" charset="-122"/>
                <a:sym typeface="+mn-ea"/>
              </a:rPr>
              <a:t>r</a:t>
            </a:r>
            <a:r>
              <a:rPr lang="en-US" altLang="zh-CN" sz="1600" dirty="0">
                <a:latin typeface="Times New Roman" panose="02020603050405020304" pitchFamily="18" charset="0"/>
                <a:ea typeface="宋体" panose="02010600030101010101" pitchFamily="2" charset="-122"/>
                <a:sym typeface="+mn-ea"/>
              </a:rPr>
              <a:t>, </a:t>
            </a:r>
            <a:r>
              <a:rPr lang="en-US" altLang="zh-CN" sz="1600" i="1" dirty="0">
                <a:latin typeface="Times New Roman" panose="02020603050405020304" pitchFamily="18" charset="0"/>
                <a:ea typeface="宋体" panose="02010600030101010101" pitchFamily="2" charset="-122"/>
                <a:sym typeface="+mn-ea"/>
              </a:rPr>
              <a:t>R</a:t>
            </a:r>
            <a:r>
              <a:rPr lang="en-US" altLang="zh-CN" sz="1600" i="1" baseline="-25000" dirty="0">
                <a:latin typeface="Times New Roman" panose="02020603050405020304" pitchFamily="18" charset="0"/>
                <a:ea typeface="宋体" panose="02010600030101010101" pitchFamily="2" charset="-122"/>
                <a:sym typeface="+mn-ea"/>
              </a:rPr>
              <a:t>kr</a:t>
            </a:r>
            <a:r>
              <a:rPr lang="en-US" altLang="zh-CN" sz="1600" dirty="0">
                <a:latin typeface="Times New Roman" panose="02020603050405020304" pitchFamily="18" charset="0"/>
                <a:ea typeface="宋体" panose="02010600030101010101" pitchFamily="2" charset="-122"/>
                <a:sym typeface="+mn-ea"/>
              </a:rPr>
              <a:t>)∈</a:t>
            </a:r>
            <a:r>
              <a:rPr lang="en-US" altLang="zh-CN" sz="1600" i="1" dirty="0">
                <a:latin typeface="Times New Roman" panose="02020603050405020304" pitchFamily="18" charset="0"/>
                <a:ea typeface="宋体" panose="02010600030101010101" pitchFamily="2" charset="-122"/>
                <a:sym typeface="+mn-ea"/>
              </a:rPr>
              <a:t>RDS</a:t>
            </a:r>
            <a:r>
              <a:rPr lang="zh-CN" altLang="en-US" sz="1600" dirty="0">
                <a:latin typeface="Times New Roman" panose="02020603050405020304" pitchFamily="18" charset="0"/>
                <a:ea typeface="宋体" panose="02010600030101010101" pitchFamily="2" charset="-122"/>
                <a:sym typeface="+mn-ea"/>
              </a:rPr>
              <a:t>，从而使</a:t>
            </a:r>
            <a:r>
              <a:rPr lang="en-US" altLang="zh-CN" sz="1600" i="1" dirty="0">
                <a:latin typeface="Times New Roman" panose="02020603050405020304" pitchFamily="18" charset="0"/>
                <a:ea typeface="宋体" panose="02010600030101010101" pitchFamily="2" charset="-122"/>
                <a:sym typeface="+mn-ea"/>
              </a:rPr>
              <a:t>kMP</a:t>
            </a:r>
            <a:r>
              <a:rPr lang="en-US" altLang="zh-CN" sz="1600" dirty="0">
                <a:latin typeface="Times New Roman" panose="02020603050405020304" pitchFamily="18" charset="0"/>
                <a:ea typeface="宋体" panose="02010600030101010101" pitchFamily="2" charset="-122"/>
                <a:sym typeface="+mn-ea"/>
              </a:rPr>
              <a:t>’=(</a:t>
            </a:r>
            <a:r>
              <a:rPr lang="en-US" altLang="zh-CN" sz="1600" i="1" dirty="0">
                <a:latin typeface="Times New Roman" panose="02020603050405020304" pitchFamily="18" charset="0"/>
                <a:ea typeface="宋体" panose="02010600030101010101" pitchFamily="2" charset="-122"/>
                <a:sym typeface="+mn-ea"/>
              </a:rPr>
              <a:t>k</a:t>
            </a:r>
            <a:r>
              <a:rPr lang="en-US" altLang="zh-CN" sz="1600" dirty="0">
                <a:latin typeface="Times New Roman" panose="02020603050405020304" pitchFamily="18" charset="0"/>
                <a:ea typeface="宋体" panose="02010600030101010101" pitchFamily="2" charset="-122"/>
                <a:sym typeface="+mn-ea"/>
              </a:rPr>
              <a:t>, </a:t>
            </a:r>
            <a:r>
              <a:rPr lang="en-US" altLang="zh-CN" sz="1600" i="1" dirty="0">
                <a:latin typeface="Times New Roman" panose="02020603050405020304" pitchFamily="18" charset="0"/>
                <a:ea typeface="宋体" panose="02010600030101010101" pitchFamily="2" charset="-122"/>
                <a:sym typeface="+mn-ea"/>
              </a:rPr>
              <a:t>MPSeq</a:t>
            </a:r>
            <a:r>
              <a:rPr lang="en-US" altLang="zh-CN" sz="1600" dirty="0">
                <a:latin typeface="Times New Roman" panose="02020603050405020304" pitchFamily="18" charset="0"/>
                <a:ea typeface="宋体" panose="02010600030101010101" pitchFamily="2" charset="-122"/>
                <a:sym typeface="+mn-ea"/>
              </a:rPr>
              <a:t>’, </a:t>
            </a:r>
            <a:r>
              <a:rPr lang="en-US" altLang="zh-CN" sz="1600" i="1" dirty="0">
                <a:latin typeface="Times New Roman" panose="02020603050405020304" pitchFamily="18" charset="0"/>
                <a:ea typeface="宋体" panose="02010600030101010101" pitchFamily="2" charset="-122"/>
                <a:sym typeface="+mn-ea"/>
              </a:rPr>
              <a:t>RDS</a:t>
            </a:r>
            <a:r>
              <a:rPr lang="en-US" altLang="zh-CN" sz="1600" dirty="0">
                <a:latin typeface="Times New Roman" panose="02020603050405020304" pitchFamily="18" charset="0"/>
                <a:ea typeface="宋体" panose="02010600030101010101" pitchFamily="2" charset="-122"/>
                <a:sym typeface="+mn-ea"/>
              </a:rPr>
              <a:t>)</a:t>
            </a:r>
            <a:r>
              <a:rPr lang="zh-CN" altLang="en-US" sz="1600" dirty="0">
                <a:latin typeface="Times New Roman" panose="02020603050405020304" pitchFamily="18" charset="0"/>
                <a:ea typeface="宋体" panose="02010600030101010101" pitchFamily="2" charset="-122"/>
                <a:sym typeface="+mn-ea"/>
              </a:rPr>
              <a:t>也是</a:t>
            </a:r>
            <a:r>
              <a:rPr lang="zh-CN" altLang="en-US" sz="1600" dirty="0">
                <a:latin typeface="Times New Roman" panose="02020603050405020304" pitchFamily="18" charset="0"/>
                <a:ea typeface="宋体" panose="02010600030101010101" pitchFamily="2" charset="-122"/>
              </a:rPr>
              <a:t>多乐汇结构。此时</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我们称</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kMP</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匹配多乐汇结构</a:t>
            </a:r>
            <a:r>
              <a:rPr lang="en-US" altLang="zh-CN" sz="1600" dirty="0">
                <a:latin typeface="Times New Roman" panose="02020603050405020304" pitchFamily="18" charset="0"/>
                <a:ea typeface="宋体" panose="02010600030101010101" pitchFamily="2" charset="-122"/>
              </a:rPr>
              <a:t> </a:t>
            </a:r>
            <a:r>
              <a:rPr lang="en-US" altLang="zh-CN" sz="1600" i="1" dirty="0">
                <a:latin typeface="Times New Roman" panose="02020603050405020304" pitchFamily="18" charset="0"/>
                <a:ea typeface="宋体" panose="02010600030101010101" pitchFamily="2" charset="-122"/>
              </a:rPr>
              <a:t>kMP</a:t>
            </a:r>
            <a:r>
              <a:rPr lang="zh-CN" altLang="en-US" sz="1600" dirty="0">
                <a:latin typeface="Times New Roman" panose="02020603050405020304" pitchFamily="18" charset="0"/>
                <a:ea typeface="宋体" panose="02010600030101010101" pitchFamily="2" charset="-122"/>
              </a:rPr>
              <a:t>。</a:t>
            </a:r>
            <a:endParaRPr lang="zh-CN" altLang="en-US" sz="1600" dirty="0">
              <a:latin typeface="Times New Roman" panose="02020603050405020304" pitchFamily="18" charset="0"/>
              <a:ea typeface="宋体" panose="02010600030101010101" pitchFamily="2" charset="-122"/>
            </a:endParaRPr>
          </a:p>
        </p:txBody>
      </p:sp>
      <p:sp>
        <p:nvSpPr>
          <p:cNvPr id="65539" name="矩形 43"/>
          <p:cNvSpPr/>
          <p:nvPr/>
        </p:nvSpPr>
        <p:spPr>
          <a:xfrm>
            <a:off x="4958715" y="5724525"/>
            <a:ext cx="3518535" cy="306705"/>
          </a:xfrm>
          <a:prstGeom prst="rect">
            <a:avLst/>
          </a:prstGeom>
          <a:noFill/>
          <a:ln w="9525">
            <a:noFill/>
          </a:ln>
        </p:spPr>
        <p:txBody>
          <a:bodyPr wrap="square" anchor="t">
            <a:spAutoFit/>
          </a:bodyPr>
          <a:p>
            <a:pPr eaLnBrk="0" hangingPunct="0"/>
            <a:r>
              <a:rPr lang="zh-CN" altLang="en-US"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sym typeface="+mn-ea"/>
              </a:rPr>
              <a:t>多乐汇结构</a:t>
            </a:r>
            <a:r>
              <a:rPr lang="en-US" altLang="zh-CN" sz="1400" i="1" dirty="0">
                <a:latin typeface="Times New Roman" panose="02020603050405020304" pitchFamily="18" charset="0"/>
                <a:ea typeface="宋体" panose="02010600030101010101" pitchFamily="2" charset="-122"/>
              </a:rPr>
              <a:t>kMP</a:t>
            </a:r>
            <a:r>
              <a:rPr lang="en-US" altLang="zh-CN" sz="1400" dirty="0">
                <a:latin typeface="Times New Roman" panose="02020603050405020304" pitchFamily="18" charset="0"/>
                <a:ea typeface="宋体" panose="02010600030101010101" pitchFamily="2" charset="-122"/>
              </a:rPr>
              <a:t>’ </a:t>
            </a:r>
            <a:r>
              <a:rPr lang="en-US" altLang="zh-CN" sz="1400" i="1"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 MP</a:t>
            </a:r>
            <a:r>
              <a:rPr lang="en-GB" altLang="en-US" sz="1400" baseline="-25000" dirty="0">
                <a:latin typeface="Times New Roman" panose="02020603050405020304" pitchFamily="18" charset="0"/>
                <a:ea typeface="宋体" panose="02010600030101010101" pitchFamily="2" charset="-122"/>
              </a:rPr>
              <a:t>4</a:t>
            </a:r>
            <a:r>
              <a:rPr lang="en-US" altLang="zh-CN" sz="1400" dirty="0">
                <a:latin typeface="Times New Roman" panose="02020603050405020304" pitchFamily="18" charset="0"/>
                <a:ea typeface="宋体" panose="02010600030101010101" pitchFamily="2" charset="-122"/>
              </a:rPr>
              <a:t> + </a:t>
            </a:r>
            <a:r>
              <a:rPr lang="en-US" altLang="zh-CN" sz="1400" i="1" dirty="0">
                <a:latin typeface="Times New Roman" panose="02020603050405020304" pitchFamily="18" charset="0"/>
                <a:ea typeface="宋体" panose="02010600030101010101" pitchFamily="2" charset="-122"/>
              </a:rPr>
              <a:t>MP</a:t>
            </a:r>
            <a:r>
              <a:rPr lang="en-GB" altLang="en-US" sz="1400" baseline="-25000" dirty="0">
                <a:latin typeface="Times New Roman" panose="02020603050405020304" pitchFamily="18" charset="0"/>
                <a:ea typeface="宋体" panose="02010600030101010101" pitchFamily="2" charset="-122"/>
              </a:rPr>
              <a:t>5</a:t>
            </a:r>
            <a:r>
              <a:rPr lang="en-US" altLang="zh-CN" sz="1400" dirty="0">
                <a:latin typeface="Times New Roman" panose="02020603050405020304" pitchFamily="18" charset="0"/>
                <a:ea typeface="宋体" panose="02010600030101010101" pitchFamily="2" charset="-122"/>
              </a:rPr>
              <a:t>+ </a:t>
            </a:r>
            <a:r>
              <a:rPr lang="en-US" altLang="zh-CN" sz="1400" i="1" dirty="0">
                <a:latin typeface="Times New Roman" panose="02020603050405020304" pitchFamily="18" charset="0"/>
                <a:ea typeface="宋体" panose="02010600030101010101" pitchFamily="2" charset="-122"/>
              </a:rPr>
              <a:t>MP</a:t>
            </a:r>
            <a:r>
              <a:rPr lang="en-GB" altLang="en-US" sz="1400" baseline="-25000" dirty="0">
                <a:latin typeface="Times New Roman" panose="02020603050405020304" pitchFamily="18" charset="0"/>
                <a:ea typeface="宋体" panose="02010600030101010101" pitchFamily="2" charset="-122"/>
              </a:rPr>
              <a:t>6</a:t>
            </a:r>
            <a:endParaRPr lang="en-GB" altLang="en-US" sz="1400" baseline="-25000" dirty="0">
              <a:latin typeface="Times New Roman" panose="02020603050405020304" pitchFamily="18" charset="0"/>
              <a:ea typeface="宋体" panose="02010600030101010101" pitchFamily="2" charset="-122"/>
            </a:endParaRPr>
          </a:p>
        </p:txBody>
      </p:sp>
      <p:sp>
        <p:nvSpPr>
          <p:cNvPr id="65541" name="矩形 28"/>
          <p:cNvSpPr/>
          <p:nvPr/>
        </p:nvSpPr>
        <p:spPr>
          <a:xfrm>
            <a:off x="490538" y="2727325"/>
            <a:ext cx="6796087"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2-1</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sym typeface="+mn-ea"/>
              </a:rPr>
              <a:t>多乐汇结构的匹配</a:t>
            </a:r>
            <a:endParaRPr lang="en-US" altLang="zh-CN" sz="2000" i="1" dirty="0">
              <a:latin typeface="Times New Roman" panose="02020603050405020304" pitchFamily="18" charset="0"/>
              <a:ea typeface="宋体" panose="02010600030101010101" pitchFamily="2" charset="-122"/>
            </a:endParaRPr>
          </a:p>
        </p:txBody>
      </p:sp>
      <p:pic>
        <p:nvPicPr>
          <p:cNvPr id="65542" name="图片 1"/>
          <p:cNvPicPr>
            <a:picLocks noChangeAspect="1"/>
          </p:cNvPicPr>
          <p:nvPr/>
        </p:nvPicPr>
        <p:blipFill>
          <a:blip r:embed="rId1"/>
          <a:stretch>
            <a:fillRect/>
          </a:stretch>
        </p:blipFill>
        <p:spPr>
          <a:xfrm>
            <a:off x="7142798" y="1888490"/>
            <a:ext cx="1439862" cy="1022350"/>
          </a:xfrm>
          <a:prstGeom prst="rect">
            <a:avLst/>
          </a:prstGeom>
          <a:noFill/>
          <a:ln w="9525">
            <a:noFill/>
          </a:ln>
        </p:spPr>
      </p:pic>
      <p:pic>
        <p:nvPicPr>
          <p:cNvPr id="65543" name="图片 6"/>
          <p:cNvPicPr>
            <a:picLocks noChangeAspect="1"/>
          </p:cNvPicPr>
          <p:nvPr/>
        </p:nvPicPr>
        <p:blipFill>
          <a:blip r:embed="rId2"/>
          <a:stretch>
            <a:fillRect/>
          </a:stretch>
        </p:blipFill>
        <p:spPr>
          <a:xfrm>
            <a:off x="4081145" y="2279650"/>
            <a:ext cx="2964815" cy="1271270"/>
          </a:xfrm>
          <a:prstGeom prst="rect">
            <a:avLst/>
          </a:prstGeom>
          <a:noFill/>
          <a:ln w="9525">
            <a:noFill/>
          </a:ln>
        </p:spPr>
      </p:pic>
      <p:pic>
        <p:nvPicPr>
          <p:cNvPr id="65544" name="图片 8"/>
          <p:cNvPicPr>
            <a:picLocks noChangeAspect="1"/>
          </p:cNvPicPr>
          <p:nvPr/>
        </p:nvPicPr>
        <p:blipFill>
          <a:blip r:embed="rId3"/>
          <a:stretch>
            <a:fillRect/>
          </a:stretch>
        </p:blipFill>
        <p:spPr>
          <a:xfrm>
            <a:off x="7295833" y="3197860"/>
            <a:ext cx="1336675" cy="996950"/>
          </a:xfrm>
          <a:prstGeom prst="rect">
            <a:avLst/>
          </a:prstGeom>
          <a:noFill/>
          <a:ln w="9525">
            <a:noFill/>
          </a:ln>
        </p:spPr>
      </p:pic>
      <p:pic>
        <p:nvPicPr>
          <p:cNvPr id="65545" name="图片 9"/>
          <p:cNvPicPr>
            <a:picLocks noChangeAspect="1"/>
          </p:cNvPicPr>
          <p:nvPr/>
        </p:nvPicPr>
        <p:blipFill>
          <a:blip r:embed="rId4"/>
          <a:stretch>
            <a:fillRect/>
          </a:stretch>
        </p:blipFill>
        <p:spPr>
          <a:xfrm>
            <a:off x="4088130" y="4250690"/>
            <a:ext cx="4742815" cy="1438910"/>
          </a:xfrm>
          <a:prstGeom prst="rect">
            <a:avLst/>
          </a:prstGeom>
          <a:noFill/>
          <a:ln w="9525">
            <a:noFill/>
          </a:ln>
        </p:spPr>
      </p:pic>
      <p:sp>
        <p:nvSpPr>
          <p:cNvPr id="65546" name="矩形 41"/>
          <p:cNvSpPr/>
          <p:nvPr/>
        </p:nvSpPr>
        <p:spPr>
          <a:xfrm>
            <a:off x="4992370" y="6038850"/>
            <a:ext cx="3401060" cy="306705"/>
          </a:xfrm>
          <a:prstGeom prst="rect">
            <a:avLst/>
          </a:prstGeom>
          <a:noFill/>
          <a:ln w="9525">
            <a:noFill/>
          </a:ln>
        </p:spPr>
        <p:txBody>
          <a:bodyPr wrap="square" anchor="t">
            <a:spAutoFit/>
          </a:bodyPr>
          <a:p>
            <a:pPr eaLnBrk="0" hangingPunct="0"/>
            <a:r>
              <a:rPr lang="zh-CN" altLang="en-US" sz="1400" dirty="0">
                <a:latin typeface="Times New Roman" panose="02020603050405020304" pitchFamily="18" charset="0"/>
                <a:ea typeface="楷体_GB2312" pitchFamily="49" charset="-122"/>
              </a:rPr>
              <a:t>多乐汇结构</a:t>
            </a:r>
            <a:r>
              <a:rPr lang="en-US" altLang="zh-CN" sz="1400" i="1" dirty="0">
                <a:latin typeface="Times New Roman" panose="02020603050405020304" pitchFamily="18" charset="0"/>
                <a:ea typeface="宋体" panose="02010600030101010101" pitchFamily="2" charset="-122"/>
                <a:sym typeface="+mn-ea"/>
              </a:rPr>
              <a:t>kMP</a:t>
            </a:r>
            <a:r>
              <a:rPr lang="en-US" altLang="zh-CN" sz="1400" dirty="0">
                <a:latin typeface="Times New Roman" panose="02020603050405020304" pitchFamily="18" charset="0"/>
                <a:ea typeface="宋体" panose="02010600030101010101" pitchFamily="2" charset="-122"/>
                <a:sym typeface="+mn-ea"/>
              </a:rPr>
              <a:t>’ </a:t>
            </a:r>
            <a:r>
              <a:rPr lang="zh-CN" altLang="en-US" sz="1400" dirty="0">
                <a:latin typeface="Times New Roman" panose="02020603050405020304" pitchFamily="18" charset="0"/>
                <a:ea typeface="宋体" panose="02010600030101010101" pitchFamily="2" charset="-122"/>
                <a:sym typeface="+mn-ea"/>
              </a:rPr>
              <a:t>匹配多乐汇结构</a:t>
            </a:r>
            <a:r>
              <a:rPr lang="en-US" altLang="zh-CN" sz="1400" dirty="0">
                <a:latin typeface="Times New Roman" panose="02020603050405020304" pitchFamily="18" charset="0"/>
                <a:ea typeface="宋体" panose="02010600030101010101" pitchFamily="2" charset="-122"/>
                <a:sym typeface="+mn-ea"/>
              </a:rPr>
              <a:t> </a:t>
            </a:r>
            <a:r>
              <a:rPr lang="en-US" altLang="zh-CN" sz="1400" i="1" dirty="0">
                <a:latin typeface="Times New Roman" panose="02020603050405020304" pitchFamily="18" charset="0"/>
                <a:ea typeface="宋体" panose="02010600030101010101" pitchFamily="2" charset="-122"/>
                <a:sym typeface="+mn-ea"/>
              </a:rPr>
              <a:t>kMP</a:t>
            </a:r>
            <a:r>
              <a:rPr lang="en-US" altLang="zh-CN" sz="1400" dirty="0">
                <a:latin typeface="Times New Roman" panose="02020603050405020304" pitchFamily="18" charset="0"/>
                <a:ea typeface="楷体_GB2312" pitchFamily="49" charset="-122"/>
              </a:rPr>
              <a:t> </a:t>
            </a:r>
            <a:endParaRPr lang="en-US" altLang="zh-CN" sz="1400" dirty="0">
              <a:latin typeface="Times New Roman" panose="02020603050405020304" pitchFamily="18" charset="0"/>
              <a:ea typeface="楷体_GB2312" pitchFamily="49" charset="-122"/>
            </a:endParaRPr>
          </a:p>
        </p:txBody>
      </p:sp>
      <p:sp>
        <p:nvSpPr>
          <p:cNvPr id="65547" name="文本框 3"/>
          <p:cNvSpPr txBox="1"/>
          <p:nvPr/>
        </p:nvSpPr>
        <p:spPr>
          <a:xfrm>
            <a:off x="7989888" y="6451600"/>
            <a:ext cx="984250" cy="338138"/>
          </a:xfrm>
          <a:prstGeom prst="rect">
            <a:avLst/>
          </a:prstGeom>
          <a:noFill/>
          <a:ln w="9525">
            <a:noFill/>
          </a:ln>
        </p:spPr>
        <p:txBody>
          <a:bodyPr wrap="square" anchor="t">
            <a:spAutoFit/>
          </a:bodyPr>
          <a:p>
            <a:r>
              <a:rPr lang="en-US" altLang="en-GB" sz="1600" dirty="0">
                <a:latin typeface="Times New Roman" panose="02020603050405020304" pitchFamily="18" charset="0"/>
                <a:ea typeface="楷体_GB2312" pitchFamily="49" charset="-122"/>
                <a:hlinkClick r:id="rId5" action="ppaction://hlinksldjump"/>
              </a:rPr>
              <a:t>Goback</a:t>
            </a:r>
            <a:endParaRPr lang="en-US" altLang="en-GB" sz="1600" dirty="0">
              <a:latin typeface="Times New Roman" panose="02020603050405020304" pitchFamily="18" charset="0"/>
              <a:ea typeface="楷体_GB2312" pitchFamily="49"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 name="矩形 43"/>
          <p:cNvSpPr/>
          <p:nvPr/>
        </p:nvSpPr>
        <p:spPr>
          <a:xfrm>
            <a:off x="4140835" y="3558540"/>
            <a:ext cx="3143250" cy="306705"/>
          </a:xfrm>
          <a:prstGeom prst="rect">
            <a:avLst/>
          </a:prstGeom>
          <a:noFill/>
          <a:ln w="9525">
            <a:noFill/>
          </a:ln>
        </p:spPr>
        <p:txBody>
          <a:bodyPr wrap="square" anchor="t">
            <a:spAutoFit/>
          </a:bodyPr>
          <a:p>
            <a:pPr eaLnBrk="0" hangingPunct="0"/>
            <a:r>
              <a:rPr lang="zh-CN" altLang="en-US" sz="1400" dirty="0">
                <a:latin typeface="Times New Roman" panose="02020603050405020304" pitchFamily="18" charset="0"/>
                <a:ea typeface="宋体" panose="02010600030101010101" pitchFamily="2" charset="-122"/>
              </a:rPr>
              <a:t>多乐汇结构</a:t>
            </a:r>
            <a:r>
              <a:rPr lang="en-US" altLang="zh-CN" sz="1400" dirty="0">
                <a:latin typeface="Times New Roman" panose="02020603050405020304" pitchFamily="18" charset="0"/>
                <a:ea typeface="宋体" panose="02010600030101010101" pitchFamily="2" charset="-122"/>
              </a:rPr>
              <a:t> </a:t>
            </a:r>
            <a:r>
              <a:rPr lang="en-US" altLang="zh-CN" sz="1400" i="1" dirty="0">
                <a:latin typeface="Times New Roman" panose="02020603050405020304" pitchFamily="18" charset="0"/>
                <a:ea typeface="宋体" panose="02010600030101010101" pitchFamily="2" charset="-122"/>
              </a:rPr>
              <a:t>kMP</a:t>
            </a:r>
            <a:r>
              <a:rPr lang="en-US" altLang="zh-CN" sz="1400" dirty="0">
                <a:latin typeface="Times New Roman" panose="02020603050405020304" pitchFamily="18" charset="0"/>
                <a:ea typeface="宋体" panose="02010600030101010101" pitchFamily="2" charset="-122"/>
              </a:rPr>
              <a:t> </a:t>
            </a:r>
            <a:r>
              <a:rPr lang="en-US" altLang="zh-CN" sz="1400" i="1"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a:t>
            </a:r>
            <a:r>
              <a:rPr lang="en-US" altLang="zh-CN" sz="1400" i="1" dirty="0">
                <a:latin typeface="Times New Roman" panose="02020603050405020304" pitchFamily="18" charset="0"/>
                <a:ea typeface="宋体" panose="02010600030101010101" pitchFamily="2" charset="-122"/>
              </a:rPr>
              <a:t>MP</a:t>
            </a:r>
            <a:r>
              <a:rPr lang="en-US" altLang="zh-CN" sz="1400" baseline="-25000" dirty="0">
                <a:latin typeface="Times New Roman" panose="02020603050405020304" pitchFamily="18" charset="0"/>
                <a:ea typeface="宋体" panose="02010600030101010101" pitchFamily="2" charset="-122"/>
              </a:rPr>
              <a:t>1</a:t>
            </a:r>
            <a:r>
              <a:rPr lang="en-US" altLang="zh-CN" sz="1400" dirty="0">
                <a:latin typeface="Times New Roman" panose="02020603050405020304" pitchFamily="18" charset="0"/>
                <a:ea typeface="宋体" panose="02010600030101010101" pitchFamily="2" charset="-122"/>
              </a:rPr>
              <a:t> + </a:t>
            </a:r>
            <a:r>
              <a:rPr lang="en-US" altLang="zh-CN" sz="1400" i="1" dirty="0">
                <a:latin typeface="Times New Roman" panose="02020603050405020304" pitchFamily="18" charset="0"/>
                <a:ea typeface="宋体" panose="02010600030101010101" pitchFamily="2" charset="-122"/>
              </a:rPr>
              <a:t>MP</a:t>
            </a:r>
            <a:r>
              <a:rPr lang="en-US" altLang="zh-CN" sz="1400" baseline="-25000" dirty="0">
                <a:latin typeface="Times New Roman" panose="02020603050405020304" pitchFamily="18" charset="0"/>
                <a:ea typeface="宋体" panose="02010600030101010101" pitchFamily="2" charset="-122"/>
              </a:rPr>
              <a:t>2</a:t>
            </a:r>
            <a:r>
              <a:rPr lang="en-US" altLang="zh-CN" sz="1400" dirty="0">
                <a:latin typeface="Times New Roman" panose="02020603050405020304" pitchFamily="18" charset="0"/>
                <a:ea typeface="宋体" panose="02010600030101010101" pitchFamily="2" charset="-122"/>
              </a:rPr>
              <a:t>+ </a:t>
            </a:r>
            <a:r>
              <a:rPr lang="en-US" altLang="zh-CN" sz="1400" i="1" dirty="0">
                <a:latin typeface="Times New Roman" panose="02020603050405020304" pitchFamily="18" charset="0"/>
                <a:ea typeface="宋体" panose="02010600030101010101" pitchFamily="2" charset="-122"/>
              </a:rPr>
              <a:t>MP</a:t>
            </a:r>
            <a:r>
              <a:rPr lang="en-US" altLang="zh-CN" sz="1400" baseline="-25000" dirty="0">
                <a:latin typeface="Times New Roman" panose="02020603050405020304" pitchFamily="18" charset="0"/>
                <a:ea typeface="宋体" panose="02010600030101010101" pitchFamily="2" charset="-122"/>
              </a:rPr>
              <a:t>3 </a:t>
            </a:r>
            <a:endParaRPr lang="en-GB" altLang="en-US" sz="1400" baseline="-250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矩形 41"/>
          <p:cNvSpPr/>
          <p:nvPr/>
        </p:nvSpPr>
        <p:spPr>
          <a:xfrm>
            <a:off x="3662680" y="2800350"/>
            <a:ext cx="5422900" cy="368300"/>
          </a:xfrm>
          <a:prstGeom prst="rect">
            <a:avLst/>
          </a:prstGeom>
          <a:noFill/>
          <a:ln w="9525">
            <a:noFill/>
          </a:ln>
        </p:spPr>
        <p:txBody>
          <a:bodyPr wrap="square" anchor="t">
            <a:spAutoFit/>
          </a:bodyPr>
          <a:p>
            <a:pPr eaLnBrk="0" hangingPunct="0"/>
            <a:r>
              <a:rPr lang="en-US" altLang="zh-CN" sz="1800" dirty="0">
                <a:latin typeface="Times New Roman" panose="02020603050405020304" pitchFamily="18" charset="0"/>
                <a:ea typeface="楷体_GB2312" pitchFamily="49" charset="-122"/>
              </a:rPr>
              <a:t>i) </a:t>
            </a:r>
            <a:r>
              <a:rPr lang="zh-CN" altLang="en-US" sz="1800" dirty="0">
                <a:latin typeface="Times New Roman" panose="02020603050405020304" pitchFamily="18" charset="0"/>
                <a:ea typeface="楷体_GB2312" pitchFamily="49" charset="-122"/>
              </a:rPr>
              <a:t>歌词的诗句形式</a:t>
            </a:r>
            <a:r>
              <a:rPr lang="en-US" altLang="zh-CN" sz="1800" dirty="0">
                <a:latin typeface="Times New Roman" panose="02020603050405020304" pitchFamily="18" charset="0"/>
                <a:ea typeface="楷体_GB2312" pitchFamily="49" charset="-122"/>
              </a:rPr>
              <a:t>; ii) </a:t>
            </a:r>
            <a:r>
              <a:rPr lang="zh-CN" altLang="en-US" sz="1800" dirty="0">
                <a:latin typeface="Times New Roman" panose="02020603050405020304" pitchFamily="18" charset="0"/>
                <a:ea typeface="楷体_GB2312" pitchFamily="49" charset="-122"/>
              </a:rPr>
              <a:t>情感色彩</a:t>
            </a:r>
            <a:r>
              <a:rPr lang="en-US" altLang="zh-CN" sz="1800" dirty="0">
                <a:latin typeface="Times New Roman" panose="02020603050405020304" pitchFamily="18" charset="0"/>
                <a:ea typeface="楷体_GB2312" pitchFamily="49" charset="-122"/>
              </a:rPr>
              <a:t>; iii) </a:t>
            </a:r>
            <a:r>
              <a:rPr lang="zh-CN" altLang="en-US" sz="1800" dirty="0">
                <a:latin typeface="Times New Roman" panose="02020603050405020304" pitchFamily="18" charset="0"/>
                <a:ea typeface="宋体" panose="02010600030101010101" pitchFamily="2" charset="-122"/>
              </a:rPr>
              <a:t>节拍（韵律）</a:t>
            </a:r>
            <a:endParaRPr lang="zh-CN" altLang="en-US" sz="1800" dirty="0">
              <a:latin typeface="Times New Roman" panose="02020603050405020304" pitchFamily="18" charset="0"/>
              <a:ea typeface="宋体" panose="02010600030101010101" pitchFamily="2" charset="-122"/>
            </a:endParaRPr>
          </a:p>
        </p:txBody>
      </p:sp>
      <p:sp>
        <p:nvSpPr>
          <p:cNvPr id="67588"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作曲模板</a:t>
            </a:r>
            <a:endParaRPr lang="zh-CN" altLang="en-US" sz="2000" i="1" dirty="0">
              <a:latin typeface="Times New Roman" panose="02020603050405020304" pitchFamily="18" charset="0"/>
              <a:ea typeface="宋体" panose="02010600030101010101" pitchFamily="2" charset="-122"/>
            </a:endParaRPr>
          </a:p>
        </p:txBody>
      </p:sp>
      <p:sp>
        <p:nvSpPr>
          <p:cNvPr id="67589" name="矩形 11"/>
          <p:cNvSpPr/>
          <p:nvPr/>
        </p:nvSpPr>
        <p:spPr>
          <a:xfrm>
            <a:off x="3279775" y="4448175"/>
            <a:ext cx="2325688" cy="338138"/>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1</a:t>
            </a:r>
            <a:r>
              <a:rPr lang="en-US" altLang="zh-CN" sz="16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2</a:t>
            </a:r>
            <a:r>
              <a:rPr lang="en-US" altLang="zh-CN" sz="16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3</a:t>
            </a:r>
            <a:r>
              <a:rPr lang="en-US" altLang="zh-CN" sz="1600" dirty="0">
                <a:solidFill>
                  <a:srgbClr val="00B0F0"/>
                </a:solidFill>
                <a:latin typeface="Times New Roman" panose="02020603050405020304" pitchFamily="18" charset="0"/>
                <a:ea typeface="宋体" panose="02010600030101010101" pitchFamily="2" charset="-122"/>
              </a:rPr>
              <a:t>(5)</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67590" name="矩形 12"/>
          <p:cNvSpPr/>
          <p:nvPr/>
        </p:nvSpPr>
        <p:spPr>
          <a:xfrm>
            <a:off x="5915025" y="4484688"/>
            <a:ext cx="2182813" cy="339725"/>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4</a:t>
            </a:r>
            <a:r>
              <a:rPr lang="en-US" altLang="zh-CN" sz="16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5</a:t>
            </a:r>
            <a:r>
              <a:rPr lang="en-US" altLang="zh-CN" sz="16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6</a:t>
            </a:r>
            <a:r>
              <a:rPr lang="en-US" altLang="zh-CN" sz="1600" dirty="0">
                <a:solidFill>
                  <a:srgbClr val="00B0F0"/>
                </a:solidFill>
                <a:latin typeface="Times New Roman" panose="02020603050405020304" pitchFamily="18" charset="0"/>
                <a:ea typeface="宋体" panose="02010600030101010101" pitchFamily="2" charset="-122"/>
              </a:rPr>
              <a:t>(6)</a:t>
            </a:r>
            <a:endParaRPr lang="en-US" altLang="zh-CN" sz="1600" dirty="0">
              <a:solidFill>
                <a:srgbClr val="00B050"/>
              </a:solidFill>
              <a:latin typeface="Times New Roman" panose="02020603050405020304" pitchFamily="18" charset="0"/>
              <a:ea typeface="宋体" panose="02010600030101010101" pitchFamily="2" charset="-122"/>
            </a:endParaRPr>
          </a:p>
        </p:txBody>
      </p:sp>
      <p:cxnSp>
        <p:nvCxnSpPr>
          <p:cNvPr id="14" name="直接连接符 13"/>
          <p:cNvCxnSpPr/>
          <p:nvPr/>
        </p:nvCxnSpPr>
        <p:spPr>
          <a:xfrm flipV="1">
            <a:off x="4527550" y="3560763"/>
            <a:ext cx="2247900" cy="3730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505575" y="3548063"/>
            <a:ext cx="268288" cy="355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6788150" y="3560763"/>
            <a:ext cx="1323975" cy="3746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任意多边形 16"/>
          <p:cNvSpPr/>
          <p:nvPr/>
        </p:nvSpPr>
        <p:spPr>
          <a:xfrm>
            <a:off x="3424238" y="4838700"/>
            <a:ext cx="7889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18" name="任意多边形 17"/>
          <p:cNvSpPr/>
          <p:nvPr/>
        </p:nvSpPr>
        <p:spPr>
          <a:xfrm>
            <a:off x="4503738" y="4846638"/>
            <a:ext cx="711200"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19" name="任意多边形 18"/>
          <p:cNvSpPr/>
          <p:nvPr/>
        </p:nvSpPr>
        <p:spPr>
          <a:xfrm>
            <a:off x="6288088" y="4838700"/>
            <a:ext cx="7127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0" name="任意多边形 19"/>
          <p:cNvSpPr/>
          <p:nvPr/>
        </p:nvSpPr>
        <p:spPr>
          <a:xfrm>
            <a:off x="7092950" y="4846638"/>
            <a:ext cx="714375"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1" name="任意多边形 20"/>
          <p:cNvSpPr/>
          <p:nvPr/>
        </p:nvSpPr>
        <p:spPr>
          <a:xfrm>
            <a:off x="5360988" y="4824413"/>
            <a:ext cx="714375"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2" name="任意多边形 21"/>
          <p:cNvSpPr/>
          <p:nvPr/>
        </p:nvSpPr>
        <p:spPr>
          <a:xfrm>
            <a:off x="7950200" y="4824413"/>
            <a:ext cx="457200"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cxnSp>
        <p:nvCxnSpPr>
          <p:cNvPr id="23" name="直接连接符 22"/>
          <p:cNvCxnSpPr/>
          <p:nvPr/>
        </p:nvCxnSpPr>
        <p:spPr>
          <a:xfrm flipV="1">
            <a:off x="3584575" y="4221163"/>
            <a:ext cx="987425" cy="3032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67589" idx="0"/>
          </p:cNvCxnSpPr>
          <p:nvPr/>
        </p:nvCxnSpPr>
        <p:spPr>
          <a:xfrm flipV="1">
            <a:off x="4514850" y="4192588"/>
            <a:ext cx="60325" cy="255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67589" idx="0"/>
          </p:cNvCxnSpPr>
          <p:nvPr/>
        </p:nvCxnSpPr>
        <p:spPr>
          <a:xfrm flipH="1" flipV="1">
            <a:off x="4575175" y="4192588"/>
            <a:ext cx="561975" cy="3190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67589" idx="0"/>
          </p:cNvCxnSpPr>
          <p:nvPr/>
        </p:nvCxnSpPr>
        <p:spPr>
          <a:xfrm flipV="1">
            <a:off x="6156325" y="4241800"/>
            <a:ext cx="349250" cy="2667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67589" idx="0"/>
          </p:cNvCxnSpPr>
          <p:nvPr/>
        </p:nvCxnSpPr>
        <p:spPr>
          <a:xfrm flipH="1" flipV="1">
            <a:off x="6505575" y="4241800"/>
            <a:ext cx="1162050" cy="3397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605" name="Rectangle 3"/>
          <p:cNvSpPr txBox="1"/>
          <p:nvPr/>
        </p:nvSpPr>
        <p:spPr>
          <a:xfrm>
            <a:off x="695325" y="3198813"/>
            <a:ext cx="2293938" cy="444500"/>
          </a:xfrm>
          <a:prstGeom prst="rect">
            <a:avLst/>
          </a:prstGeom>
          <a:noFill/>
          <a:ln w="9525">
            <a:noFill/>
          </a:ln>
        </p:spPr>
        <p:txBody>
          <a:bodyPr anchor="t"/>
          <a:p>
            <a:pPr>
              <a:spcBef>
                <a:spcPct val="20000"/>
              </a:spcBef>
            </a:pPr>
            <a:r>
              <a:rPr lang="en-GB" altLang="en-US" sz="1600" dirty="0">
                <a:latin typeface="Times New Roman" panose="02020603050405020304" pitchFamily="18" charset="0"/>
                <a:ea typeface="楷体_GB2312" pitchFamily="49" charset="-122"/>
              </a:rPr>
              <a:t>         </a:t>
            </a:r>
            <a:r>
              <a:rPr lang="zh-CN" altLang="en-US" sz="1600" dirty="0">
                <a:latin typeface="Times New Roman" panose="02020603050405020304" pitchFamily="18" charset="0"/>
                <a:ea typeface="宋体" panose="02010600030101010101" pitchFamily="2" charset="-122"/>
              </a:rPr>
              <a:t> </a:t>
            </a:r>
            <a:r>
              <a:rPr lang="zh-CN" sz="2000" dirty="0">
                <a:latin typeface="Times New Roman" panose="02020603050405020304" pitchFamily="18" charset="0"/>
                <a:ea typeface="宋体" panose="02010600030101010101" pitchFamily="2" charset="-122"/>
              </a:rPr>
              <a:t>我们可以从一首现有的歌曲中提取一个作曲模板。</a:t>
            </a:r>
            <a:r>
              <a:rPr lang="en-GB" altLang="en-US" sz="2400" dirty="0">
                <a:latin typeface="Times New Roman" panose="02020603050405020304" pitchFamily="18" charset="0"/>
                <a:ea typeface="楷体_GB2312" pitchFamily="49" charset="-122"/>
              </a:rPr>
              <a:t>       </a:t>
            </a:r>
            <a:r>
              <a:rPr lang="en-GB" altLang="en-US" sz="1600" dirty="0">
                <a:latin typeface="Times New Roman" panose="02020603050405020304" pitchFamily="18" charset="0"/>
                <a:ea typeface="楷体_GB2312" pitchFamily="49" charset="-122"/>
              </a:rPr>
              <a:t>                    </a:t>
            </a:r>
            <a:endParaRPr lang="en-GB" altLang="en-US" sz="1600" dirty="0">
              <a:latin typeface="Times New Roman" panose="02020603050405020304" pitchFamily="18" charset="0"/>
              <a:ea typeface="楷体_GB2312" pitchFamily="49" charset="-122"/>
            </a:endParaRPr>
          </a:p>
        </p:txBody>
      </p:sp>
      <p:sp>
        <p:nvSpPr>
          <p:cNvPr id="67606" name="矩形 47"/>
          <p:cNvSpPr/>
          <p:nvPr/>
        </p:nvSpPr>
        <p:spPr>
          <a:xfrm>
            <a:off x="8215313" y="4511675"/>
            <a:ext cx="869950" cy="339725"/>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7</a:t>
            </a:r>
            <a:r>
              <a:rPr lang="en-US" altLang="zh-CN" sz="1600" dirty="0">
                <a:solidFill>
                  <a:srgbClr val="00B0F0"/>
                </a:solidFill>
                <a:latin typeface="Times New Roman" panose="02020603050405020304" pitchFamily="18" charset="0"/>
                <a:ea typeface="宋体" panose="02010600030101010101" pitchFamily="2" charset="-122"/>
              </a:rPr>
              <a:t>(8)</a:t>
            </a:r>
            <a:endParaRPr lang="en-US" altLang="zh-CN" sz="1600" dirty="0">
              <a:solidFill>
                <a:srgbClr val="00B050"/>
              </a:solidFill>
              <a:latin typeface="Times New Roman" panose="02020603050405020304" pitchFamily="18" charset="0"/>
              <a:ea typeface="宋体" panose="02010600030101010101" pitchFamily="2" charset="-122"/>
            </a:endParaRPr>
          </a:p>
        </p:txBody>
      </p:sp>
      <p:cxnSp>
        <p:nvCxnSpPr>
          <p:cNvPr id="68" name="直接连接符 67"/>
          <p:cNvCxnSpPr>
            <a:stCxn id="67589" idx="0"/>
          </p:cNvCxnSpPr>
          <p:nvPr/>
        </p:nvCxnSpPr>
        <p:spPr>
          <a:xfrm flipH="1" flipV="1">
            <a:off x="8099425" y="4221163"/>
            <a:ext cx="433388" cy="36036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a:stCxn id="67589" idx="0"/>
          </p:cNvCxnSpPr>
          <p:nvPr/>
        </p:nvCxnSpPr>
        <p:spPr>
          <a:xfrm flipH="1" flipV="1">
            <a:off x="6505575" y="4241800"/>
            <a:ext cx="442913" cy="339725"/>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67609" name="对象 2">
            <a:hlinkClick r:id="" action="ppaction://ole?verb="/>
          </p:cNvPr>
          <p:cNvGraphicFramePr>
            <a:graphicFrameLocks noChangeAspect="1"/>
          </p:cNvGraphicFramePr>
          <p:nvPr/>
        </p:nvGraphicFramePr>
        <p:xfrm>
          <a:off x="4184650" y="3276600"/>
          <a:ext cx="774700" cy="304800"/>
        </p:xfrm>
        <a:graphic>
          <a:graphicData uri="http://schemas.openxmlformats.org/presentationml/2006/ole">
            <mc:AlternateContent xmlns:mc="http://schemas.openxmlformats.org/markup-compatibility/2006">
              <mc:Choice xmlns:v="urn:schemas-microsoft-com:vml" Requires="v">
                <p:oleObj spid="_x0000_s3077" name="" r:id="rId1" imgW="774065" imgH="304800" progId="Equation.KSEE3">
                  <p:embed/>
                </p:oleObj>
              </mc:Choice>
              <mc:Fallback>
                <p:oleObj name="" r:id="rId1" imgW="774065" imgH="304800" progId="Equation.KSEE3">
                  <p:embed/>
                  <p:pic>
                    <p:nvPicPr>
                      <p:cNvPr id="0" name="图片 3076"/>
                      <p:cNvPicPr/>
                      <p:nvPr/>
                    </p:nvPicPr>
                    <p:blipFill>
                      <a:blip r:embed="rId2"/>
                      <a:stretch>
                        <a:fillRect/>
                      </a:stretch>
                    </p:blipFill>
                    <p:spPr>
                      <a:xfrm>
                        <a:off x="4184650" y="3276600"/>
                        <a:ext cx="774700" cy="304800"/>
                      </a:xfrm>
                      <a:prstGeom prst="rect">
                        <a:avLst/>
                      </a:prstGeom>
                      <a:noFill/>
                      <a:ln w="38100">
                        <a:noFill/>
                        <a:miter/>
                      </a:ln>
                    </p:spPr>
                  </p:pic>
                </p:oleObj>
              </mc:Fallback>
            </mc:AlternateContent>
          </a:graphicData>
        </a:graphic>
      </p:graphicFrame>
      <p:graphicFrame>
        <p:nvGraphicFramePr>
          <p:cNvPr id="67610" name="对象 3">
            <a:hlinkClick r:id="" action="ppaction://ole?verb="/>
          </p:cNvPr>
          <p:cNvGraphicFramePr>
            <a:graphicFrameLocks noChangeAspect="1"/>
          </p:cNvGraphicFramePr>
          <p:nvPr/>
        </p:nvGraphicFramePr>
        <p:xfrm>
          <a:off x="4184650" y="3276600"/>
          <a:ext cx="774700" cy="304800"/>
        </p:xfrm>
        <a:graphic>
          <a:graphicData uri="http://schemas.openxmlformats.org/presentationml/2006/ole">
            <mc:AlternateContent xmlns:mc="http://schemas.openxmlformats.org/markup-compatibility/2006">
              <mc:Choice xmlns:v="urn:schemas-microsoft-com:vml" Requires="v">
                <p:oleObj spid="_x0000_s3078" name="" r:id="rId3" imgW="774065" imgH="304800" progId="Equation.KSEE3">
                  <p:embed/>
                </p:oleObj>
              </mc:Choice>
              <mc:Fallback>
                <p:oleObj name="" r:id="rId3" imgW="774065" imgH="304800" progId="Equation.KSEE3">
                  <p:embed/>
                  <p:pic>
                    <p:nvPicPr>
                      <p:cNvPr id="0" name="图片 3077"/>
                      <p:cNvPicPr/>
                      <p:nvPr/>
                    </p:nvPicPr>
                    <p:blipFill>
                      <a:blip r:embed="rId4"/>
                      <a:stretch>
                        <a:fillRect/>
                      </a:stretch>
                    </p:blipFill>
                    <p:spPr>
                      <a:xfrm>
                        <a:off x="4184650" y="3276600"/>
                        <a:ext cx="774700" cy="304800"/>
                      </a:xfrm>
                      <a:prstGeom prst="rect">
                        <a:avLst/>
                      </a:prstGeom>
                      <a:noFill/>
                      <a:ln w="38100">
                        <a:noFill/>
                        <a:miter/>
                      </a:ln>
                    </p:spPr>
                  </p:pic>
                </p:oleObj>
              </mc:Fallback>
            </mc:AlternateContent>
          </a:graphicData>
        </a:graphic>
      </p:graphicFrame>
      <p:graphicFrame>
        <p:nvGraphicFramePr>
          <p:cNvPr id="67611" name="对象 4">
            <a:hlinkClick r:id="" action="ppaction://ole?verb="/>
          </p:cNvPr>
          <p:cNvGraphicFramePr>
            <a:graphicFrameLocks noChangeAspect="1"/>
          </p:cNvGraphicFramePr>
          <p:nvPr/>
        </p:nvGraphicFramePr>
        <p:xfrm>
          <a:off x="4451350" y="3346450"/>
          <a:ext cx="241300" cy="165100"/>
        </p:xfrm>
        <a:graphic>
          <a:graphicData uri="http://schemas.openxmlformats.org/presentationml/2006/ole">
            <mc:AlternateContent xmlns:mc="http://schemas.openxmlformats.org/markup-compatibility/2006">
              <mc:Choice xmlns:v="urn:schemas-microsoft-com:vml" Requires="v">
                <p:oleObj spid="_x0000_s3079" name="" r:id="rId5" imgW="241300" imgH="165100" progId="Equation.KSEE3">
                  <p:embed/>
                </p:oleObj>
              </mc:Choice>
              <mc:Fallback>
                <p:oleObj name="" r:id="rId5" imgW="241300" imgH="165100" progId="Equation.KSEE3">
                  <p:embed/>
                  <p:pic>
                    <p:nvPicPr>
                      <p:cNvPr id="0" name="图片 3078"/>
                      <p:cNvPicPr/>
                      <p:nvPr/>
                    </p:nvPicPr>
                    <p:blipFill>
                      <a:blip r:embed="rId6"/>
                      <a:stretch>
                        <a:fillRect/>
                      </a:stretch>
                    </p:blipFill>
                    <p:spPr>
                      <a:xfrm>
                        <a:off x="4451350" y="3346450"/>
                        <a:ext cx="241300" cy="165100"/>
                      </a:xfrm>
                      <a:prstGeom prst="rect">
                        <a:avLst/>
                      </a:prstGeom>
                      <a:noFill/>
                      <a:ln w="38100">
                        <a:noFill/>
                        <a:miter/>
                      </a:ln>
                    </p:spPr>
                  </p:pic>
                </p:oleObj>
              </mc:Fallback>
            </mc:AlternateContent>
          </a:graphicData>
        </a:graphic>
      </p:graphicFrame>
      <p:graphicFrame>
        <p:nvGraphicFramePr>
          <p:cNvPr id="67612" name="对象 5">
            <a:hlinkClick r:id="" action="ppaction://ole?verb="/>
          </p:cNvPr>
          <p:cNvGraphicFramePr>
            <a:graphicFrameLocks noChangeAspect="1"/>
          </p:cNvGraphicFramePr>
          <p:nvPr/>
        </p:nvGraphicFramePr>
        <p:xfrm>
          <a:off x="4413250" y="3270250"/>
          <a:ext cx="317500" cy="317500"/>
        </p:xfrm>
        <a:graphic>
          <a:graphicData uri="http://schemas.openxmlformats.org/presentationml/2006/ole">
            <mc:AlternateContent xmlns:mc="http://schemas.openxmlformats.org/markup-compatibility/2006">
              <mc:Choice xmlns:v="urn:schemas-microsoft-com:vml" Requires="v">
                <p:oleObj spid="_x0000_s3076" name="" r:id="rId7" imgW="316865" imgH="316865" progId="Equation.KSEE3">
                  <p:embed/>
                </p:oleObj>
              </mc:Choice>
              <mc:Fallback>
                <p:oleObj name="" r:id="rId7" imgW="316865" imgH="316865" progId="Equation.KSEE3">
                  <p:embed/>
                  <p:pic>
                    <p:nvPicPr>
                      <p:cNvPr id="0" name="图片 3075"/>
                      <p:cNvPicPr/>
                      <p:nvPr/>
                    </p:nvPicPr>
                    <p:blipFill>
                      <a:blip r:embed="rId8"/>
                      <a:stretch>
                        <a:fillRect/>
                      </a:stretch>
                    </p:blipFill>
                    <p:spPr>
                      <a:xfrm>
                        <a:off x="4413250" y="3270250"/>
                        <a:ext cx="317500" cy="317500"/>
                      </a:xfrm>
                      <a:prstGeom prst="rect">
                        <a:avLst/>
                      </a:prstGeom>
                      <a:noFill/>
                      <a:ln w="38100">
                        <a:noFill/>
                        <a:miter/>
                      </a:ln>
                    </p:spPr>
                  </p:pic>
                </p:oleObj>
              </mc:Fallback>
            </mc:AlternateContent>
          </a:graphicData>
        </a:graphic>
      </p:graphicFrame>
      <p:cxnSp>
        <p:nvCxnSpPr>
          <p:cNvPr id="13" name="直接连接符 12"/>
          <p:cNvCxnSpPr>
            <a:stCxn id="67589" idx="0"/>
          </p:cNvCxnSpPr>
          <p:nvPr/>
        </p:nvCxnSpPr>
        <p:spPr>
          <a:xfrm flipV="1">
            <a:off x="3657600" y="5405438"/>
            <a:ext cx="4486275" cy="111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67589" idx="0"/>
          </p:cNvCxnSpPr>
          <p:nvPr/>
        </p:nvCxnSpPr>
        <p:spPr>
          <a:xfrm flipV="1">
            <a:off x="3660775" y="522922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67589" idx="0"/>
          </p:cNvCxnSpPr>
          <p:nvPr/>
        </p:nvCxnSpPr>
        <p:spPr>
          <a:xfrm flipV="1">
            <a:off x="4721225" y="52133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67589" idx="0"/>
          </p:cNvCxnSpPr>
          <p:nvPr/>
        </p:nvCxnSpPr>
        <p:spPr>
          <a:xfrm flipV="1">
            <a:off x="5637213" y="5195888"/>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67589" idx="0"/>
          </p:cNvCxnSpPr>
          <p:nvPr/>
        </p:nvCxnSpPr>
        <p:spPr>
          <a:xfrm flipV="1">
            <a:off x="6580188" y="5211763"/>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67589" idx="0"/>
          </p:cNvCxnSpPr>
          <p:nvPr/>
        </p:nvCxnSpPr>
        <p:spPr>
          <a:xfrm flipV="1">
            <a:off x="7335838" y="522922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67589" idx="0"/>
          </p:cNvCxnSpPr>
          <p:nvPr/>
        </p:nvCxnSpPr>
        <p:spPr>
          <a:xfrm flipV="1">
            <a:off x="8112125" y="519747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7620" name="矩形 41"/>
          <p:cNvSpPr/>
          <p:nvPr/>
        </p:nvSpPr>
        <p:spPr>
          <a:xfrm>
            <a:off x="6157595" y="3215005"/>
            <a:ext cx="1260475" cy="368300"/>
          </a:xfrm>
          <a:prstGeom prst="rect">
            <a:avLst/>
          </a:prstGeom>
          <a:noFill/>
          <a:ln w="9525">
            <a:noFill/>
          </a:ln>
        </p:spPr>
        <p:txBody>
          <a:bodyPr wrap="square" anchor="t">
            <a:spAutoFit/>
          </a:bodyPr>
          <a:p>
            <a:pPr eaLnBrk="0" hangingPunct="0"/>
            <a:r>
              <a:rPr lang="zh-CN" altLang="en-US" sz="1800" b="1" i="1" dirty="0">
                <a:solidFill>
                  <a:srgbClr val="FFC000"/>
                </a:solidFill>
                <a:latin typeface="Times New Roman" panose="02020603050405020304" pitchFamily="18" charset="0"/>
                <a:ea typeface="宋体" panose="02010600030101010101" pitchFamily="2" charset="-122"/>
              </a:rPr>
              <a:t>作曲模板</a:t>
            </a:r>
            <a:endParaRPr lang="zh-CN" altLang="en-US" sz="1800" b="1" i="1" dirty="0">
              <a:solidFill>
                <a:srgbClr val="FFC000"/>
              </a:solidFill>
              <a:latin typeface="Times New Roman" panose="02020603050405020304" pitchFamily="18" charset="0"/>
              <a:ea typeface="宋体" panose="02010600030101010101" pitchFamily="2" charset="-122"/>
            </a:endParaRPr>
          </a:p>
        </p:txBody>
      </p:sp>
      <p:sp>
        <p:nvSpPr>
          <p:cNvPr id="67621" name="矩形 43"/>
          <p:cNvSpPr/>
          <p:nvPr/>
        </p:nvSpPr>
        <p:spPr>
          <a:xfrm>
            <a:off x="4139565" y="5445125"/>
            <a:ext cx="4269105"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rPr>
              <a:t>一首歌曲中的乐汇以及多乐汇结构的关系图</a:t>
            </a:r>
            <a:endParaRPr lang="zh-CN" altLang="en-US" sz="1600" dirty="0">
              <a:latin typeface="Times New Roman" panose="02020603050405020304" pitchFamily="18" charset="0"/>
              <a:ea typeface="宋体" panose="02010600030101010101" pitchFamily="2" charset="-122"/>
            </a:endParaRPr>
          </a:p>
        </p:txBody>
      </p:sp>
      <p:sp>
        <p:nvSpPr>
          <p:cNvPr id="67622" name="矩形 40"/>
          <p:cNvSpPr/>
          <p:nvPr/>
        </p:nvSpPr>
        <p:spPr>
          <a:xfrm>
            <a:off x="4283075" y="3922713"/>
            <a:ext cx="4584700" cy="338137"/>
          </a:xfrm>
          <a:prstGeom prst="rect">
            <a:avLst/>
          </a:prstGeom>
          <a:noFill/>
          <a:ln w="9525">
            <a:noFill/>
          </a:ln>
        </p:spPr>
        <p:txBody>
          <a:bodyPr anchor="t">
            <a:spAutoFit/>
          </a:bodyPr>
          <a:p>
            <a:pPr eaLnBrk="0" hangingPunct="0"/>
            <a:r>
              <a:rPr lang="en-US" altLang="zh-CN" sz="1600" i="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kMP</a:t>
            </a:r>
            <a:r>
              <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rPr>
              <a:t>1</a:t>
            </a:r>
            <a:r>
              <a:rPr lang="en-US" altLang="zh-CN" sz="1600" dirty="0">
                <a:latin typeface="Times New Roman" panose="02020603050405020304" pitchFamily="18" charset="0"/>
                <a:ea typeface="宋体" panose="02010600030101010101" pitchFamily="2" charset="-122"/>
                <a:sym typeface="Wingdings" panose="05000000000000000000" pitchFamily="2" charset="2"/>
              </a:rPr>
              <a:t> </a:t>
            </a:r>
            <a:r>
              <a:rPr lang="en-US" altLang="zh-CN" sz="1600" i="1" dirty="0">
                <a:solidFill>
                  <a:srgbClr val="00B050"/>
                </a:solidFill>
                <a:latin typeface="Times New Roman" panose="02020603050405020304" pitchFamily="18" charset="0"/>
                <a:ea typeface="宋体" panose="02010600030101010101" pitchFamily="2" charset="-122"/>
                <a:sym typeface="Wingdings" panose="05000000000000000000" pitchFamily="2" charset="2"/>
              </a:rPr>
              <a:t>                            kMP</a:t>
            </a:r>
            <a:r>
              <a:rPr lang="en-US" altLang="zh-CN" sz="1600" baseline="-25000" dirty="0">
                <a:solidFill>
                  <a:srgbClr val="00B050"/>
                </a:solidFill>
                <a:latin typeface="Times New Roman" panose="02020603050405020304" pitchFamily="18" charset="0"/>
                <a:ea typeface="宋体" panose="02010600030101010101" pitchFamily="2" charset="-122"/>
                <a:sym typeface="Wingdings" panose="05000000000000000000" pitchFamily="2" charset="2"/>
              </a:rPr>
              <a:t>2</a:t>
            </a:r>
            <a:r>
              <a:rPr lang="en-US" altLang="zh-CN" sz="1600" dirty="0">
                <a:latin typeface="Times New Roman" panose="02020603050405020304" pitchFamily="18" charset="0"/>
                <a:ea typeface="宋体" panose="02010600030101010101" pitchFamily="2" charset="-122"/>
                <a:sym typeface="Wingdings" panose="05000000000000000000" pitchFamily="2" charset="2"/>
              </a:rPr>
              <a:t> </a:t>
            </a:r>
            <a:r>
              <a:rPr lang="en-US" altLang="zh-CN" sz="1600" dirty="0">
                <a:solidFill>
                  <a:srgbClr val="00B050"/>
                </a:solidFill>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kMP</a:t>
            </a:r>
            <a:r>
              <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rPr>
              <a:t>3</a:t>
            </a:r>
            <a:endPar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p:txBody>
      </p:sp>
      <p:pic>
        <p:nvPicPr>
          <p:cNvPr id="67623" name="图片 40"/>
          <p:cNvPicPr>
            <a:picLocks noChangeAspect="1"/>
          </p:cNvPicPr>
          <p:nvPr/>
        </p:nvPicPr>
        <p:blipFill>
          <a:blip r:embed="rId9"/>
          <a:stretch>
            <a:fillRect/>
          </a:stretch>
        </p:blipFill>
        <p:spPr>
          <a:xfrm>
            <a:off x="640080" y="4365625"/>
            <a:ext cx="1607185" cy="962660"/>
          </a:xfrm>
          <a:prstGeom prst="rect">
            <a:avLst/>
          </a:prstGeom>
          <a:noFill/>
          <a:ln w="9525">
            <a:noFill/>
          </a:ln>
        </p:spPr>
      </p:pic>
      <p:sp>
        <p:nvSpPr>
          <p:cNvPr id="67624" name="虚尾箭头 3"/>
          <p:cNvSpPr/>
          <p:nvPr/>
        </p:nvSpPr>
        <p:spPr>
          <a:xfrm>
            <a:off x="2322513" y="4524375"/>
            <a:ext cx="865187" cy="792163"/>
          </a:xfrm>
          <a:custGeom>
            <a:avLst/>
            <a:gdLst/>
            <a:ahLst/>
            <a:cxnLst>
              <a:cxn ang="0">
                <a:pos x="0" y="198040"/>
              </a:cxn>
              <a:cxn ang="0">
                <a:pos x="24772" y="198040"/>
              </a:cxn>
              <a:cxn ang="0">
                <a:pos x="24772" y="594121"/>
              </a:cxn>
              <a:cxn ang="0">
                <a:pos x="0" y="594121"/>
              </a:cxn>
              <a:cxn ang="0">
                <a:pos x="49545" y="198040"/>
              </a:cxn>
              <a:cxn ang="0">
                <a:pos x="99089" y="198040"/>
              </a:cxn>
              <a:cxn ang="0">
                <a:pos x="99089" y="594121"/>
              </a:cxn>
              <a:cxn ang="0">
                <a:pos x="49545" y="594121"/>
              </a:cxn>
              <a:cxn ang="0">
                <a:pos x="123861" y="198040"/>
              </a:cxn>
              <a:cxn ang="0">
                <a:pos x="468828" y="198040"/>
              </a:cxn>
              <a:cxn ang="0">
                <a:pos x="468828" y="0"/>
              </a:cxn>
              <a:cxn ang="0">
                <a:pos x="865187" y="396081"/>
              </a:cxn>
              <a:cxn ang="0">
                <a:pos x="468828" y="792163"/>
              </a:cxn>
              <a:cxn ang="0">
                <a:pos x="468828" y="594121"/>
              </a:cxn>
              <a:cxn ang="0">
                <a:pos x="123861" y="594121"/>
              </a:cxn>
            </a:cxnLst>
            <a:pathLst>
              <a:path w="864235" h="791845">
                <a:moveTo>
                  <a:pt x="0" y="197961"/>
                </a:moveTo>
                <a:lnTo>
                  <a:pt x="24745" y="197961"/>
                </a:lnTo>
                <a:lnTo>
                  <a:pt x="24745" y="593883"/>
                </a:lnTo>
                <a:lnTo>
                  <a:pt x="0" y="593883"/>
                </a:lnTo>
                <a:lnTo>
                  <a:pt x="0" y="197961"/>
                </a:lnTo>
                <a:close/>
                <a:moveTo>
                  <a:pt x="49490" y="197961"/>
                </a:moveTo>
                <a:lnTo>
                  <a:pt x="98980" y="197961"/>
                </a:lnTo>
                <a:lnTo>
                  <a:pt x="98980" y="593883"/>
                </a:lnTo>
                <a:lnTo>
                  <a:pt x="49490" y="593883"/>
                </a:lnTo>
                <a:lnTo>
                  <a:pt x="49490" y="197961"/>
                </a:lnTo>
                <a:close/>
                <a:moveTo>
                  <a:pt x="123725" y="197961"/>
                </a:moveTo>
                <a:lnTo>
                  <a:pt x="468312" y="197961"/>
                </a:lnTo>
                <a:lnTo>
                  <a:pt x="468312" y="0"/>
                </a:lnTo>
                <a:lnTo>
                  <a:pt x="864235" y="395922"/>
                </a:lnTo>
                <a:lnTo>
                  <a:pt x="468312" y="791845"/>
                </a:lnTo>
                <a:lnTo>
                  <a:pt x="468312" y="593883"/>
                </a:lnTo>
                <a:lnTo>
                  <a:pt x="123725" y="593883"/>
                </a:lnTo>
                <a:lnTo>
                  <a:pt x="123725" y="197961"/>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67625" name="矩形 10"/>
          <p:cNvSpPr/>
          <p:nvPr/>
        </p:nvSpPr>
        <p:spPr>
          <a:xfrm>
            <a:off x="1627188" y="5461000"/>
            <a:ext cx="1000125" cy="1384300"/>
          </a:xfrm>
          <a:prstGeom prst="rect">
            <a:avLst/>
          </a:prstGeom>
          <a:noFill/>
          <a:ln w="9525">
            <a:noFill/>
          </a:ln>
        </p:spPr>
        <p:txBody>
          <a:bodyPr anchor="t">
            <a:spAutoFit/>
          </a:bodyPr>
          <a:p>
            <a:pPr eaLnBrk="0" hangingPunct="0"/>
            <a:r>
              <a:rPr lang="en-US" altLang="zh-CN" sz="1200" dirty="0">
                <a:latin typeface="Chiller" panose="04020404031007020602" pitchFamily="82" charset="0"/>
                <a:ea typeface="宋体" panose="02010600030101010101" pitchFamily="2" charset="-122"/>
              </a:rPr>
              <a:t>X X X X X,</a:t>
            </a:r>
            <a:endParaRPr lang="en-US" altLang="zh-CN" sz="1200" dirty="0">
              <a:latin typeface="Chiller" panose="04020404031007020602" pitchFamily="82" charset="0"/>
              <a:ea typeface="宋体" panose="02010600030101010101" pitchFamily="2" charset="-122"/>
            </a:endParaRPr>
          </a:p>
          <a:p>
            <a:pPr eaLnBrk="0" hangingPunct="0"/>
            <a:r>
              <a:rPr lang="en-US" altLang="zh-CN" sz="1200" dirty="0">
                <a:latin typeface="Chiller" panose="04020404031007020602" pitchFamily="82" charset="0"/>
                <a:ea typeface="宋体" panose="02010600030101010101" pitchFamily="2" charset="-122"/>
              </a:rPr>
              <a:t>X X X X X,</a:t>
            </a:r>
            <a:endParaRPr lang="en-US" altLang="zh-CN" sz="1200" dirty="0">
              <a:latin typeface="Chiller" panose="04020404031007020602" pitchFamily="82" charset="0"/>
              <a:ea typeface="宋体" panose="02010600030101010101" pitchFamily="2" charset="-122"/>
            </a:endParaRPr>
          </a:p>
          <a:p>
            <a:pPr eaLnBrk="0" hangingPunct="0"/>
            <a:r>
              <a:rPr lang="en-US" altLang="zh-CN" sz="1200" dirty="0">
                <a:latin typeface="Chiller" panose="04020404031007020602" pitchFamily="82" charset="0"/>
                <a:ea typeface="宋体" panose="02010600030101010101" pitchFamily="2" charset="-122"/>
              </a:rPr>
              <a:t>X X X X X.</a:t>
            </a:r>
            <a:endParaRPr lang="en-US" altLang="zh-CN" sz="1200" dirty="0">
              <a:latin typeface="Chiller" panose="04020404031007020602" pitchFamily="82" charset="0"/>
              <a:ea typeface="宋体" panose="02010600030101010101" pitchFamily="2" charset="-122"/>
            </a:endParaRPr>
          </a:p>
          <a:p>
            <a:pPr eaLnBrk="0" hangingPunct="0"/>
            <a:r>
              <a:rPr lang="en-US" altLang="zh-CN" sz="1200" dirty="0">
                <a:latin typeface="Chiller" panose="04020404031007020602" pitchFamily="82" charset="0"/>
                <a:ea typeface="宋体" panose="02010600030101010101" pitchFamily="2" charset="-122"/>
              </a:rPr>
              <a:t>X X X X X X,</a:t>
            </a:r>
            <a:endParaRPr lang="en-US" altLang="zh-CN" sz="1200" dirty="0">
              <a:latin typeface="Chiller" panose="04020404031007020602" pitchFamily="82" charset="0"/>
              <a:ea typeface="宋体" panose="02010600030101010101" pitchFamily="2" charset="-122"/>
            </a:endParaRPr>
          </a:p>
          <a:p>
            <a:pPr eaLnBrk="0" hangingPunct="0"/>
            <a:r>
              <a:rPr lang="en-US" altLang="zh-CN" sz="1200" dirty="0">
                <a:latin typeface="Chiller" panose="04020404031007020602" pitchFamily="82" charset="0"/>
                <a:ea typeface="宋体" panose="02010600030101010101" pitchFamily="2" charset="-122"/>
              </a:rPr>
              <a:t>X X X X X X,</a:t>
            </a:r>
            <a:endParaRPr lang="en-US" altLang="zh-CN" sz="1200" dirty="0">
              <a:latin typeface="Chiller" panose="04020404031007020602" pitchFamily="82" charset="0"/>
              <a:ea typeface="宋体" panose="02010600030101010101" pitchFamily="2" charset="-122"/>
            </a:endParaRPr>
          </a:p>
          <a:p>
            <a:pPr eaLnBrk="0" hangingPunct="0"/>
            <a:r>
              <a:rPr lang="en-US" altLang="zh-CN" sz="1200" dirty="0">
                <a:latin typeface="Chiller" panose="04020404031007020602" pitchFamily="82" charset="0"/>
                <a:ea typeface="宋体" panose="02010600030101010101" pitchFamily="2" charset="-122"/>
              </a:rPr>
              <a:t>X X X X X X.</a:t>
            </a:r>
            <a:endParaRPr lang="en-US" altLang="zh-CN" sz="1200" dirty="0">
              <a:latin typeface="Chiller" panose="04020404031007020602" pitchFamily="82" charset="0"/>
              <a:ea typeface="宋体" panose="02010600030101010101" pitchFamily="2" charset="-122"/>
            </a:endParaRPr>
          </a:p>
          <a:p>
            <a:pPr eaLnBrk="0" hangingPunct="0"/>
            <a:r>
              <a:rPr lang="en-US" altLang="zh-CN" sz="1200" dirty="0">
                <a:latin typeface="Chiller" panose="04020404031007020602" pitchFamily="82" charset="0"/>
                <a:ea typeface="宋体" panose="02010600030101010101" pitchFamily="2" charset="-122"/>
              </a:rPr>
              <a:t>X X X X X X X </a:t>
            </a:r>
            <a:endParaRPr lang="en-GB" altLang="en-US" sz="1200" dirty="0">
              <a:latin typeface="Chiller" panose="04020404031007020602" pitchFamily="82" charset="0"/>
            </a:endParaRPr>
          </a:p>
        </p:txBody>
      </p:sp>
      <p:sp>
        <p:nvSpPr>
          <p:cNvPr id="67626" name="矩形 41"/>
          <p:cNvSpPr/>
          <p:nvPr/>
        </p:nvSpPr>
        <p:spPr>
          <a:xfrm>
            <a:off x="2565400" y="5612130"/>
            <a:ext cx="1938655"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楷体_GB2312" pitchFamily="49" charset="-122"/>
              </a:rPr>
              <a:t>歌词的诗句形式</a:t>
            </a:r>
            <a:endParaRPr lang="zh-CN" altLang="en-US" sz="1600" dirty="0">
              <a:latin typeface="Times New Roman" panose="02020603050405020304" pitchFamily="18" charset="0"/>
              <a:ea typeface="楷体_GB2312" pitchFamily="49" charset="-122"/>
            </a:endParaRPr>
          </a:p>
        </p:txBody>
      </p:sp>
      <p:cxnSp>
        <p:nvCxnSpPr>
          <p:cNvPr id="67627" name="直接箭头连接符 8"/>
          <p:cNvCxnSpPr>
            <a:stCxn id="67589" idx="0"/>
          </p:cNvCxnSpPr>
          <p:nvPr/>
        </p:nvCxnSpPr>
        <p:spPr>
          <a:xfrm flipH="1">
            <a:off x="2438400" y="5876925"/>
            <a:ext cx="406400" cy="276225"/>
          </a:xfrm>
          <a:prstGeom prst="straightConnector1">
            <a:avLst/>
          </a:prstGeom>
          <a:ln w="38100" cap="flat" cmpd="sng">
            <a:solidFill>
              <a:schemeClr val="tx1"/>
            </a:solidFill>
            <a:prstDash val="solid"/>
            <a:round/>
            <a:headEnd type="none" w="med" len="med"/>
            <a:tailEnd type="arrow" w="med" len="med"/>
          </a:ln>
        </p:spPr>
      </p:cxnSp>
      <p:sp>
        <p:nvSpPr>
          <p:cNvPr id="67628" name="Rectangle 3"/>
          <p:cNvSpPr txBox="1"/>
          <p:nvPr/>
        </p:nvSpPr>
        <p:spPr>
          <a:xfrm>
            <a:off x="640080" y="5805805"/>
            <a:ext cx="811530" cy="309245"/>
          </a:xfrm>
          <a:prstGeom prst="rect">
            <a:avLst/>
          </a:prstGeom>
          <a:noFill/>
          <a:ln w="9525">
            <a:noFill/>
          </a:ln>
        </p:spPr>
        <p:txBody>
          <a:bodyPr anchor="t"/>
          <a:p>
            <a:pPr>
              <a:spcBef>
                <a:spcPct val="20000"/>
              </a:spcBef>
            </a:pPr>
            <a:r>
              <a:rPr lang="zh-CN" altLang="en-US" sz="1600" dirty="0">
                <a:solidFill>
                  <a:srgbClr val="FF0000"/>
                </a:solidFill>
                <a:latin typeface="Times New Roman" panose="02020603050405020304" pitchFamily="18" charset="0"/>
                <a:ea typeface="楷体_GB2312" pitchFamily="49" charset="-122"/>
              </a:rPr>
              <a:t>诗句</a:t>
            </a:r>
            <a:endParaRPr lang="zh-CN" altLang="en-US" sz="1600" dirty="0">
              <a:solidFill>
                <a:srgbClr val="FF0000"/>
              </a:solidFill>
              <a:latin typeface="Times New Roman" panose="02020603050405020304" pitchFamily="18" charset="0"/>
              <a:ea typeface="楷体_GB2312" pitchFamily="49" charset="-122"/>
            </a:endParaRPr>
          </a:p>
        </p:txBody>
      </p:sp>
      <p:cxnSp>
        <p:nvCxnSpPr>
          <p:cNvPr id="55" name="直接连接符 54"/>
          <p:cNvCxnSpPr>
            <a:stCxn id="67589" idx="0"/>
          </p:cNvCxnSpPr>
          <p:nvPr/>
        </p:nvCxnSpPr>
        <p:spPr>
          <a:xfrm flipH="1">
            <a:off x="1260475" y="5805488"/>
            <a:ext cx="431800" cy="2159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67589" idx="0"/>
          </p:cNvCxnSpPr>
          <p:nvPr/>
        </p:nvCxnSpPr>
        <p:spPr>
          <a:xfrm flipH="1">
            <a:off x="1260475" y="5949950"/>
            <a:ext cx="431800" cy="714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a:stCxn id="67625" idx="1"/>
          </p:cNvCxnSpPr>
          <p:nvPr/>
        </p:nvCxnSpPr>
        <p:spPr>
          <a:xfrm flipH="1" flipV="1">
            <a:off x="1260475" y="6029325"/>
            <a:ext cx="366713" cy="12382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a:stCxn id="67625" idx="1"/>
          </p:cNvCxnSpPr>
          <p:nvPr/>
        </p:nvCxnSpPr>
        <p:spPr>
          <a:xfrm flipH="1">
            <a:off x="1260475" y="5594350"/>
            <a:ext cx="414338" cy="4270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7625" idx="1"/>
          </p:cNvCxnSpPr>
          <p:nvPr/>
        </p:nvCxnSpPr>
        <p:spPr>
          <a:xfrm flipH="1" flipV="1">
            <a:off x="1260475" y="6021388"/>
            <a:ext cx="441325" cy="2984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7625" idx="1"/>
          </p:cNvCxnSpPr>
          <p:nvPr/>
        </p:nvCxnSpPr>
        <p:spPr>
          <a:xfrm flipH="1" flipV="1">
            <a:off x="1260475" y="6021388"/>
            <a:ext cx="441325" cy="4714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7625" idx="1"/>
          </p:cNvCxnSpPr>
          <p:nvPr/>
        </p:nvCxnSpPr>
        <p:spPr>
          <a:xfrm flipH="1" flipV="1">
            <a:off x="1260475" y="6021388"/>
            <a:ext cx="427038" cy="6969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3821" name="Rectangle 3"/>
          <p:cNvSpPr txBox="1"/>
          <p:nvPr/>
        </p:nvSpPr>
        <p:spPr>
          <a:xfrm>
            <a:off x="7853045" y="6102985"/>
            <a:ext cx="1184275" cy="445770"/>
          </a:xfrm>
          <a:prstGeom prst="rect">
            <a:avLst/>
          </a:prstGeom>
          <a:noFill/>
          <a:ln w="9525">
            <a:noFill/>
          </a:ln>
        </p:spPr>
        <p:txBody>
          <a:bodyPr anchor="t"/>
          <a:p>
            <a:pPr>
              <a:spcBef>
                <a:spcPct val="20000"/>
              </a:spcBef>
            </a:pPr>
            <a:r>
              <a:rPr lang="en-GB" altLang="en-US" sz="2000" i="1" dirty="0">
                <a:latin typeface="Times New Roman" panose="02020603050405020304" pitchFamily="18" charset="0"/>
                <a:ea typeface="楷体_GB2312" pitchFamily="49" charset="-122"/>
                <a:hlinkClick r:id="rId10" action="ppaction://hlinksldjump"/>
              </a:rPr>
              <a:t>Goback</a:t>
            </a:r>
            <a:endParaRPr lang="en-GB" altLang="en-US" sz="2000" i="1" dirty="0">
              <a:latin typeface="Times New Roman" panose="02020603050405020304" pitchFamily="18" charset="0"/>
              <a:ea typeface="楷体_GB2312" pitchFamily="49" charset="-122"/>
            </a:endParaRP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7" name="矩形 11"/>
          <p:cNvSpPr/>
          <p:nvPr/>
        </p:nvSpPr>
        <p:spPr>
          <a:xfrm>
            <a:off x="3279775" y="4448175"/>
            <a:ext cx="2325688" cy="338138"/>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1</a:t>
            </a:r>
            <a:r>
              <a:rPr lang="en-US" altLang="zh-CN" sz="16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2</a:t>
            </a:r>
            <a:r>
              <a:rPr lang="en-US" altLang="zh-CN" sz="16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3</a:t>
            </a:r>
            <a:r>
              <a:rPr lang="en-US" altLang="zh-CN" sz="1600" dirty="0">
                <a:solidFill>
                  <a:srgbClr val="00B0F0"/>
                </a:solidFill>
                <a:latin typeface="Times New Roman" panose="02020603050405020304" pitchFamily="18" charset="0"/>
                <a:ea typeface="宋体" panose="02010600030101010101" pitchFamily="2" charset="-122"/>
              </a:rPr>
              <a:t>(5)</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69638" name="矩形 12"/>
          <p:cNvSpPr/>
          <p:nvPr/>
        </p:nvSpPr>
        <p:spPr>
          <a:xfrm>
            <a:off x="5915025" y="4484688"/>
            <a:ext cx="2182813" cy="339725"/>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4</a:t>
            </a:r>
            <a:r>
              <a:rPr lang="en-US" altLang="zh-CN" sz="16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5</a:t>
            </a:r>
            <a:r>
              <a:rPr lang="en-US" altLang="zh-CN" sz="16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6</a:t>
            </a:r>
            <a:r>
              <a:rPr lang="en-US" altLang="zh-CN" sz="1600" dirty="0">
                <a:solidFill>
                  <a:srgbClr val="00B0F0"/>
                </a:solidFill>
                <a:latin typeface="Times New Roman" panose="02020603050405020304" pitchFamily="18" charset="0"/>
                <a:ea typeface="宋体" panose="02010600030101010101" pitchFamily="2" charset="-122"/>
              </a:rPr>
              <a:t>(6)</a:t>
            </a:r>
            <a:endParaRPr lang="en-US" altLang="zh-CN" sz="1600" dirty="0">
              <a:solidFill>
                <a:srgbClr val="00B050"/>
              </a:solidFill>
              <a:latin typeface="Times New Roman" panose="02020603050405020304" pitchFamily="18" charset="0"/>
              <a:ea typeface="宋体" panose="02010600030101010101" pitchFamily="2" charset="-122"/>
            </a:endParaRPr>
          </a:p>
        </p:txBody>
      </p:sp>
      <p:cxnSp>
        <p:nvCxnSpPr>
          <p:cNvPr id="14" name="直接连接符 13"/>
          <p:cNvCxnSpPr/>
          <p:nvPr/>
        </p:nvCxnSpPr>
        <p:spPr>
          <a:xfrm flipV="1">
            <a:off x="4527550" y="3560763"/>
            <a:ext cx="2247900" cy="3730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505575" y="3548063"/>
            <a:ext cx="268288" cy="355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6788150" y="3560763"/>
            <a:ext cx="1323975" cy="3746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任意多边形 16"/>
          <p:cNvSpPr/>
          <p:nvPr/>
        </p:nvSpPr>
        <p:spPr>
          <a:xfrm>
            <a:off x="3424238" y="4838700"/>
            <a:ext cx="7889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18" name="任意多边形 17"/>
          <p:cNvSpPr/>
          <p:nvPr/>
        </p:nvSpPr>
        <p:spPr>
          <a:xfrm>
            <a:off x="4503738" y="4846638"/>
            <a:ext cx="711200"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19" name="任意多边形 18"/>
          <p:cNvSpPr/>
          <p:nvPr/>
        </p:nvSpPr>
        <p:spPr>
          <a:xfrm>
            <a:off x="6288088" y="4838700"/>
            <a:ext cx="7127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0" name="任意多边形 19"/>
          <p:cNvSpPr/>
          <p:nvPr/>
        </p:nvSpPr>
        <p:spPr>
          <a:xfrm>
            <a:off x="7092950" y="4846638"/>
            <a:ext cx="714375"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1" name="任意多边形 20"/>
          <p:cNvSpPr/>
          <p:nvPr/>
        </p:nvSpPr>
        <p:spPr>
          <a:xfrm>
            <a:off x="5360988" y="4824413"/>
            <a:ext cx="714375"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2" name="任意多边形 21"/>
          <p:cNvSpPr/>
          <p:nvPr/>
        </p:nvSpPr>
        <p:spPr>
          <a:xfrm>
            <a:off x="7950200" y="4824413"/>
            <a:ext cx="457200"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cxnSp>
        <p:nvCxnSpPr>
          <p:cNvPr id="23" name="直接连接符 22"/>
          <p:cNvCxnSpPr/>
          <p:nvPr/>
        </p:nvCxnSpPr>
        <p:spPr>
          <a:xfrm flipV="1">
            <a:off x="3584575" y="4221163"/>
            <a:ext cx="987425" cy="3032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69637" idx="0"/>
          </p:cNvCxnSpPr>
          <p:nvPr/>
        </p:nvCxnSpPr>
        <p:spPr>
          <a:xfrm flipV="1">
            <a:off x="4514850" y="4192588"/>
            <a:ext cx="60325" cy="255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69637" idx="0"/>
          </p:cNvCxnSpPr>
          <p:nvPr/>
        </p:nvCxnSpPr>
        <p:spPr>
          <a:xfrm flipH="1" flipV="1">
            <a:off x="4575175" y="4192588"/>
            <a:ext cx="561975" cy="3190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69637" idx="0"/>
          </p:cNvCxnSpPr>
          <p:nvPr/>
        </p:nvCxnSpPr>
        <p:spPr>
          <a:xfrm flipV="1">
            <a:off x="6156325" y="4241800"/>
            <a:ext cx="349250" cy="2667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69637" idx="0"/>
          </p:cNvCxnSpPr>
          <p:nvPr/>
        </p:nvCxnSpPr>
        <p:spPr>
          <a:xfrm flipH="1" flipV="1">
            <a:off x="6505575" y="4241800"/>
            <a:ext cx="1162050" cy="3397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9653" name="Rectangle 3"/>
          <p:cNvSpPr txBox="1"/>
          <p:nvPr/>
        </p:nvSpPr>
        <p:spPr>
          <a:xfrm>
            <a:off x="695325" y="3198813"/>
            <a:ext cx="2830513" cy="444500"/>
          </a:xfrm>
          <a:prstGeom prst="rect">
            <a:avLst/>
          </a:prstGeom>
          <a:noFill/>
          <a:ln w="9525">
            <a:noFill/>
          </a:ln>
        </p:spPr>
        <p:txBody>
          <a:bodyPr anchor="t"/>
          <a:p>
            <a:pPr>
              <a:spcBef>
                <a:spcPct val="20000"/>
              </a:spcBef>
            </a:pPr>
            <a:r>
              <a:rPr lang="en-GB" altLang="en-US" sz="1600" dirty="0">
                <a:latin typeface="Times New Roman" panose="02020603050405020304" pitchFamily="18" charset="0"/>
                <a:ea typeface="楷体_GB2312" pitchFamily="49" charset="-122"/>
              </a:rPr>
              <a:t>      </a:t>
            </a:r>
            <a:r>
              <a:rPr lang="zh-CN" altLang="en-US" sz="1600" dirty="0">
                <a:latin typeface="Times New Roman" panose="02020603050405020304" pitchFamily="18" charset="0"/>
                <a:ea typeface="楷体_GB2312" pitchFamily="49" charset="-122"/>
              </a:rPr>
              <a:t>假设</a:t>
            </a:r>
            <a:r>
              <a:rPr lang="en-US" altLang="zh-CN" sz="1600" i="1" dirty="0">
                <a:latin typeface="Times New Roman" panose="02020603050405020304" pitchFamily="18" charset="0"/>
                <a:ea typeface="楷体_GB2312" pitchFamily="49" charset="-122"/>
              </a:rPr>
              <a:t>MP</a:t>
            </a:r>
            <a:r>
              <a:rPr lang="en-US" altLang="zh-CN" sz="1600" baseline="-25000" dirty="0">
                <a:latin typeface="Times New Roman" panose="02020603050405020304" pitchFamily="18" charset="0"/>
                <a:ea typeface="楷体_GB2312" pitchFamily="49" charset="-122"/>
              </a:rPr>
              <a:t>1</a:t>
            </a:r>
            <a:r>
              <a:rPr lang="en-US" altLang="zh-CN" sz="1600" dirty="0">
                <a:latin typeface="Times New Roman" panose="02020603050405020304" pitchFamily="18" charset="0"/>
                <a:ea typeface="楷体_GB2312" pitchFamily="49" charset="-122"/>
              </a:rPr>
              <a:t>,  …, </a:t>
            </a:r>
            <a:r>
              <a:rPr lang="en-US" altLang="zh-CN" sz="1600" i="1" dirty="0">
                <a:latin typeface="Times New Roman" panose="02020603050405020304" pitchFamily="18" charset="0"/>
                <a:ea typeface="楷体_GB2312" pitchFamily="49" charset="-122"/>
              </a:rPr>
              <a:t>MP</a:t>
            </a:r>
            <a:r>
              <a:rPr lang="en-US" altLang="zh-CN" sz="1600" i="1" baseline="-25000" dirty="0">
                <a:latin typeface="Times New Roman" panose="02020603050405020304" pitchFamily="18" charset="0"/>
                <a:ea typeface="楷体_GB2312" pitchFamily="49" charset="-122"/>
              </a:rPr>
              <a:t>N</a:t>
            </a:r>
            <a:r>
              <a:rPr lang="en-US" altLang="zh-CN" sz="1600" dirty="0">
                <a:latin typeface="Times New Roman" panose="02020603050405020304" pitchFamily="18" charset="0"/>
                <a:ea typeface="楷体_GB2312" pitchFamily="49" charset="-122"/>
              </a:rPr>
              <a:t> </a:t>
            </a:r>
            <a:r>
              <a:rPr lang="zh-CN" altLang="en-US" sz="1600" dirty="0">
                <a:latin typeface="Times New Roman" panose="02020603050405020304" pitchFamily="18" charset="0"/>
                <a:ea typeface="楷体_GB2312" pitchFamily="49" charset="-122"/>
              </a:rPr>
              <a:t>是由一首现有样板歌曲分解成</a:t>
            </a:r>
            <a:r>
              <a:rPr lang="en-US" altLang="zh-CN" sz="1600" i="1" dirty="0">
                <a:latin typeface="Times New Roman" panose="02020603050405020304" pitchFamily="18" charset="0"/>
                <a:ea typeface="楷体_GB2312" pitchFamily="49" charset="-122"/>
                <a:sym typeface="+mn-ea"/>
              </a:rPr>
              <a:t>M</a:t>
            </a:r>
            <a:r>
              <a:rPr lang="en-US" altLang="zh-CN" sz="1600" dirty="0">
                <a:latin typeface="Times New Roman" panose="02020603050405020304" pitchFamily="18" charset="0"/>
                <a:ea typeface="楷体_GB2312" pitchFamily="49" charset="-122"/>
                <a:sym typeface="+mn-ea"/>
              </a:rPr>
              <a:t> </a:t>
            </a:r>
            <a:r>
              <a:rPr lang="zh-CN" altLang="en-US" sz="1600" dirty="0">
                <a:latin typeface="Times New Roman" panose="02020603050405020304" pitchFamily="18" charset="0"/>
                <a:ea typeface="楷体_GB2312" pitchFamily="49" charset="-122"/>
              </a:rPr>
              <a:t>个旋律片段所对应的乐汇序列。每个旋律片段可构成一个多乐汇结构</a:t>
            </a:r>
            <a:r>
              <a:rPr lang="en-US" altLang="zh-CN" sz="1600" dirty="0">
                <a:latin typeface="Times New Roman" panose="02020603050405020304" pitchFamily="18" charset="0"/>
                <a:ea typeface="楷体_GB2312" pitchFamily="49" charset="-122"/>
              </a:rPr>
              <a:t> </a:t>
            </a:r>
            <a:r>
              <a:rPr lang="en-US" altLang="zh-CN" sz="1600" i="1" dirty="0">
                <a:latin typeface="Times New Roman" panose="02020603050405020304" pitchFamily="18" charset="0"/>
                <a:ea typeface="楷体_GB2312" pitchFamily="49" charset="-122"/>
              </a:rPr>
              <a:t>kMP</a:t>
            </a:r>
            <a:r>
              <a:rPr lang="en-US" altLang="zh-CN" sz="1600" i="1" baseline="-25000" dirty="0">
                <a:latin typeface="Times New Roman" panose="02020603050405020304" pitchFamily="18" charset="0"/>
                <a:ea typeface="楷体_GB2312" pitchFamily="49" charset="-122"/>
              </a:rPr>
              <a:t>r</a:t>
            </a:r>
            <a:r>
              <a:rPr lang="en-US" altLang="zh-CN" sz="1600" i="1" dirty="0">
                <a:latin typeface="Times New Roman" panose="02020603050405020304" pitchFamily="18" charset="0"/>
                <a:ea typeface="楷体_GB2312" pitchFamily="49" charset="-122"/>
              </a:rPr>
              <a:t> </a:t>
            </a:r>
            <a:r>
              <a:rPr lang="en-US" altLang="zh-CN" sz="1600" dirty="0">
                <a:latin typeface="Times New Roman" panose="02020603050405020304" pitchFamily="18" charset="0"/>
                <a:ea typeface="楷体_GB2312" pitchFamily="49" charset="-122"/>
              </a:rPr>
              <a:t>(1</a:t>
            </a:r>
            <a:r>
              <a:rPr lang="en-US" altLang="zh-CN" sz="1600" dirty="0">
                <a:latin typeface="宋体" panose="02010600030101010101" pitchFamily="2" charset="-122"/>
                <a:ea typeface="宋体" panose="02010600030101010101" pitchFamily="2" charset="-122"/>
              </a:rPr>
              <a:t>≦</a:t>
            </a:r>
            <a:r>
              <a:rPr lang="en-US" altLang="zh-CN" sz="1600" i="1" dirty="0">
                <a:latin typeface="Times New Roman" panose="02020603050405020304" pitchFamily="18" charset="0"/>
                <a:ea typeface="楷体_GB2312" pitchFamily="49" charset="-122"/>
              </a:rPr>
              <a:t>r</a:t>
            </a:r>
            <a:r>
              <a:rPr lang="en-US" altLang="zh-CN" sz="1600" dirty="0">
                <a:latin typeface="宋体" panose="02010600030101010101" pitchFamily="2" charset="-122"/>
                <a:ea typeface="宋体" panose="02010600030101010101" pitchFamily="2" charset="-122"/>
              </a:rPr>
              <a:t>≦</a:t>
            </a:r>
            <a:r>
              <a:rPr lang="en-US" altLang="zh-CN" sz="1600" i="1" dirty="0">
                <a:latin typeface="Times New Roman" panose="02020603050405020304" pitchFamily="18" charset="0"/>
                <a:ea typeface="楷体_GB2312" pitchFamily="49" charset="-122"/>
              </a:rPr>
              <a:t>M</a:t>
            </a:r>
            <a:r>
              <a:rPr lang="en-US" altLang="zh-CN" sz="1600" dirty="0">
                <a:latin typeface="Times New Roman" panose="02020603050405020304" pitchFamily="18" charset="0"/>
                <a:ea typeface="楷体_GB2312" pitchFamily="49" charset="-122"/>
              </a:rPr>
              <a:t>)</a:t>
            </a:r>
            <a:r>
              <a:rPr lang="en-GB" altLang="en-US" sz="1600" dirty="0">
                <a:latin typeface="Times New Roman" panose="02020603050405020304" pitchFamily="18" charset="0"/>
                <a:ea typeface="楷体_GB2312" pitchFamily="49" charset="-122"/>
              </a:rPr>
              <a:t>. </a:t>
            </a:r>
            <a:r>
              <a:rPr lang="zh-CN" altLang="en-GB" sz="1600" dirty="0">
                <a:latin typeface="Times New Roman" panose="02020603050405020304" pitchFamily="18" charset="0"/>
                <a:ea typeface="楷体_GB2312" pitchFamily="49" charset="-122"/>
              </a:rPr>
              <a:t>令</a:t>
            </a:r>
            <a:r>
              <a:rPr lang="en-GB" altLang="en-US"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kMP</a:t>
            </a:r>
            <a:r>
              <a:rPr lang="en-GB" altLang="en-US" sz="1600" i="1" baseline="-25000" dirty="0">
                <a:latin typeface="Times New Roman" panose="02020603050405020304" pitchFamily="18" charset="0"/>
                <a:ea typeface="楷体_GB2312" pitchFamily="49" charset="-122"/>
              </a:rPr>
              <a:t>r</a:t>
            </a:r>
            <a:r>
              <a:rPr lang="en-GB" altLang="en-US"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k</a:t>
            </a:r>
            <a:r>
              <a:rPr lang="en-GB" altLang="en-US" sz="1600" i="1" baseline="-25000" dirty="0">
                <a:latin typeface="Times New Roman" panose="02020603050405020304" pitchFamily="18" charset="0"/>
                <a:ea typeface="楷体_GB2312" pitchFamily="49" charset="-122"/>
              </a:rPr>
              <a:t>r</a:t>
            </a:r>
            <a:r>
              <a:rPr lang="en-GB" altLang="en-US"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MPSeq</a:t>
            </a:r>
            <a:r>
              <a:rPr lang="en-GB" altLang="en-US" sz="1600" i="1" baseline="-25000" dirty="0">
                <a:latin typeface="Times New Roman" panose="02020603050405020304" pitchFamily="18" charset="0"/>
                <a:ea typeface="楷体_GB2312" pitchFamily="49" charset="-122"/>
              </a:rPr>
              <a:t>r</a:t>
            </a:r>
            <a:r>
              <a:rPr lang="en-GB" altLang="en-US"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RDS</a:t>
            </a:r>
            <a:r>
              <a:rPr lang="en-GB" altLang="en-US" sz="1600" i="1" baseline="-25000" dirty="0">
                <a:latin typeface="Times New Roman" panose="02020603050405020304" pitchFamily="18" charset="0"/>
                <a:ea typeface="楷体_GB2312" pitchFamily="49" charset="-122"/>
              </a:rPr>
              <a:t>r</a:t>
            </a:r>
            <a:r>
              <a:rPr lang="en-GB" altLang="en-US" sz="1600" dirty="0">
                <a:latin typeface="Times New Roman" panose="02020603050405020304" pitchFamily="18" charset="0"/>
                <a:ea typeface="楷体_GB2312" pitchFamily="49" charset="-122"/>
              </a:rPr>
              <a:t>)</a:t>
            </a:r>
            <a:r>
              <a:rPr lang="zh-CN" altLang="en-GB" sz="1600" dirty="0">
                <a:latin typeface="Times New Roman" panose="02020603050405020304" pitchFamily="18" charset="0"/>
                <a:ea typeface="楷体_GB2312" pitchFamily="49" charset="-122"/>
              </a:rPr>
              <a:t>。我们称</a:t>
            </a:r>
            <a:r>
              <a:rPr lang="en-GB" altLang="en-US" sz="1600" i="1" dirty="0">
                <a:latin typeface="Times New Roman" panose="02020603050405020304" pitchFamily="18" charset="0"/>
                <a:ea typeface="楷体_GB2312" pitchFamily="49" charset="-122"/>
              </a:rPr>
              <a:t>CT</a:t>
            </a:r>
            <a:r>
              <a:rPr lang="en-GB" altLang="en-US" sz="1600" dirty="0">
                <a:latin typeface="Times New Roman" panose="02020603050405020304" pitchFamily="18" charset="0"/>
                <a:ea typeface="楷体_GB2312" pitchFamily="49" charset="-122"/>
              </a:rPr>
              <a:t>=(</a:t>
            </a:r>
            <a:r>
              <a:rPr lang="en-GB" altLang="en-US" sz="1600" i="1" dirty="0">
                <a:latin typeface="Times New Roman" panose="02020603050405020304" pitchFamily="18" charset="0"/>
                <a:ea typeface="楷体_GB2312" pitchFamily="49" charset="-122"/>
              </a:rPr>
              <a:t>kMPSeq</a:t>
            </a:r>
            <a:r>
              <a:rPr lang="en-GB" altLang="en-US"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RS</a:t>
            </a:r>
            <a:r>
              <a:rPr lang="en-GB" altLang="en-US" sz="1600" dirty="0">
                <a:latin typeface="Times New Roman" panose="02020603050405020304" pitchFamily="18" charset="0"/>
                <a:ea typeface="楷体_GB2312" pitchFamily="49" charset="-122"/>
              </a:rPr>
              <a:t>) </a:t>
            </a:r>
            <a:r>
              <a:rPr lang="zh-CN" altLang="en-GB" sz="1600" dirty="0">
                <a:latin typeface="Times New Roman" panose="02020603050405020304" pitchFamily="18" charset="0"/>
                <a:ea typeface="楷体_GB2312" pitchFamily="49" charset="-122"/>
              </a:rPr>
              <a:t>为该首歌曲的一个创作模板，其中，</a:t>
            </a:r>
            <a:r>
              <a:rPr lang="en-GB" altLang="en-US" sz="1600" i="1" dirty="0">
                <a:latin typeface="Times New Roman" panose="02020603050405020304" pitchFamily="18" charset="0"/>
                <a:ea typeface="楷体_GB2312" pitchFamily="49" charset="-122"/>
              </a:rPr>
              <a:t>kMPSeq</a:t>
            </a:r>
            <a:r>
              <a:rPr lang="en-GB" altLang="en-US"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kMP</a:t>
            </a:r>
            <a:r>
              <a:rPr lang="en-GB" altLang="en-US" sz="1600" baseline="-25000" dirty="0">
                <a:latin typeface="Times New Roman" panose="02020603050405020304" pitchFamily="18" charset="0"/>
                <a:ea typeface="楷体_GB2312" pitchFamily="49" charset="-122"/>
              </a:rPr>
              <a:t>1</a:t>
            </a:r>
            <a:r>
              <a:rPr lang="en-GB" altLang="en-US" sz="1600" dirty="0">
                <a:latin typeface="Times New Roman" panose="02020603050405020304" pitchFamily="18" charset="0"/>
                <a:ea typeface="楷体_GB2312" pitchFamily="49" charset="-122"/>
              </a:rPr>
              <a:t>, … , </a:t>
            </a:r>
            <a:r>
              <a:rPr lang="en-GB" altLang="en-US" sz="1600" i="1" dirty="0">
                <a:latin typeface="Times New Roman" panose="02020603050405020304" pitchFamily="18" charset="0"/>
                <a:ea typeface="楷体_GB2312" pitchFamily="49" charset="-122"/>
              </a:rPr>
              <a:t>kMP</a:t>
            </a:r>
            <a:r>
              <a:rPr lang="en-GB" altLang="en-US" sz="1600" i="1" baseline="-25000" dirty="0">
                <a:latin typeface="Times New Roman" panose="02020603050405020304" pitchFamily="18" charset="0"/>
                <a:ea typeface="楷体_GB2312" pitchFamily="49" charset="-122"/>
              </a:rPr>
              <a:t>M </a:t>
            </a:r>
            <a:r>
              <a:rPr lang="en-GB" altLang="en-US" sz="1600" dirty="0">
                <a:latin typeface="Times New Roman" panose="02020603050405020304" pitchFamily="18" charset="0"/>
                <a:ea typeface="楷体_GB2312" pitchFamily="49" charset="-122"/>
              </a:rPr>
              <a:t>; </a:t>
            </a:r>
            <a:endParaRPr lang="en-GB" altLang="en-US" sz="1600" dirty="0">
              <a:latin typeface="Times New Roman" panose="02020603050405020304" pitchFamily="18" charset="0"/>
              <a:ea typeface="楷体_GB2312" pitchFamily="49" charset="-122"/>
            </a:endParaRPr>
          </a:p>
          <a:p>
            <a:pPr>
              <a:spcBef>
                <a:spcPct val="20000"/>
              </a:spcBef>
            </a:pPr>
            <a:r>
              <a:rPr lang="en-GB" altLang="en-US" sz="1600" i="1" dirty="0">
                <a:latin typeface="Times New Roman" panose="02020603050405020304" pitchFamily="18" charset="0"/>
                <a:ea typeface="楷体_GB2312" pitchFamily="49" charset="-122"/>
              </a:rPr>
              <a:t>RS</a:t>
            </a:r>
            <a:r>
              <a:rPr lang="en-GB" altLang="en-US" sz="1600" dirty="0">
                <a:latin typeface="Times New Roman" panose="02020603050405020304" pitchFamily="18" charset="0"/>
                <a:ea typeface="楷体_GB2312" pitchFamily="49" charset="-122"/>
              </a:rPr>
              <a:t>=                                                </a:t>
            </a:r>
            <a:endParaRPr lang="en-GB" altLang="en-US" sz="1600" dirty="0">
              <a:latin typeface="Times New Roman" panose="02020603050405020304" pitchFamily="18" charset="0"/>
              <a:ea typeface="楷体_GB2312" pitchFamily="49" charset="-122"/>
            </a:endParaRPr>
          </a:p>
        </p:txBody>
      </p:sp>
      <p:sp>
        <p:nvSpPr>
          <p:cNvPr id="69654" name="矩形 47"/>
          <p:cNvSpPr/>
          <p:nvPr/>
        </p:nvSpPr>
        <p:spPr>
          <a:xfrm>
            <a:off x="8215313" y="4511675"/>
            <a:ext cx="869950" cy="339725"/>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7</a:t>
            </a:r>
            <a:r>
              <a:rPr lang="en-US" altLang="zh-CN" sz="1600" dirty="0">
                <a:solidFill>
                  <a:srgbClr val="00B0F0"/>
                </a:solidFill>
                <a:latin typeface="Times New Roman" panose="02020603050405020304" pitchFamily="18" charset="0"/>
                <a:ea typeface="宋体" panose="02010600030101010101" pitchFamily="2" charset="-122"/>
              </a:rPr>
              <a:t>(8)</a:t>
            </a:r>
            <a:endParaRPr lang="en-US" altLang="zh-CN" sz="1600" dirty="0">
              <a:solidFill>
                <a:srgbClr val="00B050"/>
              </a:solidFill>
              <a:latin typeface="Times New Roman" panose="02020603050405020304" pitchFamily="18" charset="0"/>
              <a:ea typeface="宋体" panose="02010600030101010101" pitchFamily="2" charset="-122"/>
            </a:endParaRPr>
          </a:p>
        </p:txBody>
      </p:sp>
      <p:cxnSp>
        <p:nvCxnSpPr>
          <p:cNvPr id="68" name="直接连接符 67"/>
          <p:cNvCxnSpPr>
            <a:stCxn id="69637" idx="0"/>
          </p:cNvCxnSpPr>
          <p:nvPr/>
        </p:nvCxnSpPr>
        <p:spPr>
          <a:xfrm flipH="1" flipV="1">
            <a:off x="8099425" y="4221163"/>
            <a:ext cx="433388" cy="36036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a:stCxn id="69637" idx="0"/>
          </p:cNvCxnSpPr>
          <p:nvPr/>
        </p:nvCxnSpPr>
        <p:spPr>
          <a:xfrm flipH="1" flipV="1">
            <a:off x="6505575" y="4241800"/>
            <a:ext cx="442913" cy="339725"/>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69657" name="对象 2">
            <a:hlinkClick r:id="" action="ppaction://ole?verb="/>
          </p:cNvPr>
          <p:cNvGraphicFramePr>
            <a:graphicFrameLocks noChangeAspect="1"/>
          </p:cNvGraphicFramePr>
          <p:nvPr/>
        </p:nvGraphicFramePr>
        <p:xfrm>
          <a:off x="4184650" y="3276600"/>
          <a:ext cx="774700" cy="304800"/>
        </p:xfrm>
        <a:graphic>
          <a:graphicData uri="http://schemas.openxmlformats.org/presentationml/2006/ole">
            <mc:AlternateContent xmlns:mc="http://schemas.openxmlformats.org/markup-compatibility/2006">
              <mc:Choice xmlns:v="urn:schemas-microsoft-com:vml" Requires="v">
                <p:oleObj spid="_x0000_s3080" name="" r:id="rId1" imgW="774065" imgH="304800" progId="Equation.KSEE3">
                  <p:embed/>
                </p:oleObj>
              </mc:Choice>
              <mc:Fallback>
                <p:oleObj name="" r:id="rId1" imgW="774065" imgH="304800" progId="Equation.KSEE3">
                  <p:embed/>
                  <p:pic>
                    <p:nvPicPr>
                      <p:cNvPr id="0" name="图片 3079"/>
                      <p:cNvPicPr/>
                      <p:nvPr/>
                    </p:nvPicPr>
                    <p:blipFill>
                      <a:blip r:embed="rId2"/>
                      <a:stretch>
                        <a:fillRect/>
                      </a:stretch>
                    </p:blipFill>
                    <p:spPr>
                      <a:xfrm>
                        <a:off x="4184650" y="3276600"/>
                        <a:ext cx="774700" cy="304800"/>
                      </a:xfrm>
                      <a:prstGeom prst="rect">
                        <a:avLst/>
                      </a:prstGeom>
                      <a:noFill/>
                      <a:ln w="38100">
                        <a:noFill/>
                        <a:miter/>
                      </a:ln>
                    </p:spPr>
                  </p:pic>
                </p:oleObj>
              </mc:Fallback>
            </mc:AlternateContent>
          </a:graphicData>
        </a:graphic>
      </p:graphicFrame>
      <p:graphicFrame>
        <p:nvGraphicFramePr>
          <p:cNvPr id="69658" name="对象 3">
            <a:hlinkClick r:id="" action="ppaction://ole?verb="/>
          </p:cNvPr>
          <p:cNvGraphicFramePr>
            <a:graphicFrameLocks noChangeAspect="1"/>
          </p:cNvGraphicFramePr>
          <p:nvPr/>
        </p:nvGraphicFramePr>
        <p:xfrm>
          <a:off x="4184650" y="3276600"/>
          <a:ext cx="774700" cy="304800"/>
        </p:xfrm>
        <a:graphic>
          <a:graphicData uri="http://schemas.openxmlformats.org/presentationml/2006/ole">
            <mc:AlternateContent xmlns:mc="http://schemas.openxmlformats.org/markup-compatibility/2006">
              <mc:Choice xmlns:v="urn:schemas-microsoft-com:vml" Requires="v">
                <p:oleObj spid="_x0000_s3082" name="" r:id="rId3" imgW="774065" imgH="304800" progId="Equation.KSEE3">
                  <p:embed/>
                </p:oleObj>
              </mc:Choice>
              <mc:Fallback>
                <p:oleObj name="" r:id="rId3" imgW="774065" imgH="304800" progId="Equation.KSEE3">
                  <p:embed/>
                  <p:pic>
                    <p:nvPicPr>
                      <p:cNvPr id="0" name="图片 3081"/>
                      <p:cNvPicPr/>
                      <p:nvPr/>
                    </p:nvPicPr>
                    <p:blipFill>
                      <a:blip r:embed="rId4"/>
                      <a:stretch>
                        <a:fillRect/>
                      </a:stretch>
                    </p:blipFill>
                    <p:spPr>
                      <a:xfrm>
                        <a:off x="4184650" y="3276600"/>
                        <a:ext cx="774700" cy="304800"/>
                      </a:xfrm>
                      <a:prstGeom prst="rect">
                        <a:avLst/>
                      </a:prstGeom>
                      <a:noFill/>
                      <a:ln w="38100">
                        <a:noFill/>
                        <a:miter/>
                      </a:ln>
                    </p:spPr>
                  </p:pic>
                </p:oleObj>
              </mc:Fallback>
            </mc:AlternateContent>
          </a:graphicData>
        </a:graphic>
      </p:graphicFrame>
      <p:graphicFrame>
        <p:nvGraphicFramePr>
          <p:cNvPr id="69659" name="对象 4">
            <a:hlinkClick r:id="" action="ppaction://ole?verb="/>
          </p:cNvPr>
          <p:cNvGraphicFramePr>
            <a:graphicFrameLocks noChangeAspect="1"/>
          </p:cNvGraphicFramePr>
          <p:nvPr/>
        </p:nvGraphicFramePr>
        <p:xfrm>
          <a:off x="4451350" y="3346450"/>
          <a:ext cx="241300" cy="165100"/>
        </p:xfrm>
        <a:graphic>
          <a:graphicData uri="http://schemas.openxmlformats.org/presentationml/2006/ole">
            <mc:AlternateContent xmlns:mc="http://schemas.openxmlformats.org/markup-compatibility/2006">
              <mc:Choice xmlns:v="urn:schemas-microsoft-com:vml" Requires="v">
                <p:oleObj spid="_x0000_s3083" name="" r:id="rId5" imgW="241300" imgH="165100" progId="Equation.KSEE3">
                  <p:embed/>
                </p:oleObj>
              </mc:Choice>
              <mc:Fallback>
                <p:oleObj name="" r:id="rId5" imgW="241300" imgH="165100" progId="Equation.KSEE3">
                  <p:embed/>
                  <p:pic>
                    <p:nvPicPr>
                      <p:cNvPr id="0" name="图片 3082"/>
                      <p:cNvPicPr/>
                      <p:nvPr/>
                    </p:nvPicPr>
                    <p:blipFill>
                      <a:blip r:embed="rId6"/>
                      <a:stretch>
                        <a:fillRect/>
                      </a:stretch>
                    </p:blipFill>
                    <p:spPr>
                      <a:xfrm>
                        <a:off x="4451350" y="3346450"/>
                        <a:ext cx="241300" cy="165100"/>
                      </a:xfrm>
                      <a:prstGeom prst="rect">
                        <a:avLst/>
                      </a:prstGeom>
                      <a:noFill/>
                      <a:ln w="38100">
                        <a:noFill/>
                        <a:miter/>
                      </a:ln>
                    </p:spPr>
                  </p:pic>
                </p:oleObj>
              </mc:Fallback>
            </mc:AlternateContent>
          </a:graphicData>
        </a:graphic>
      </p:graphicFrame>
      <p:graphicFrame>
        <p:nvGraphicFramePr>
          <p:cNvPr id="69660" name="对象 5">
            <a:hlinkClick r:id="" action="ppaction://ole?verb="/>
          </p:cNvPr>
          <p:cNvGraphicFramePr>
            <a:graphicFrameLocks noChangeAspect="1"/>
          </p:cNvGraphicFramePr>
          <p:nvPr/>
        </p:nvGraphicFramePr>
        <p:xfrm>
          <a:off x="4413250" y="3270250"/>
          <a:ext cx="317500" cy="317500"/>
        </p:xfrm>
        <a:graphic>
          <a:graphicData uri="http://schemas.openxmlformats.org/presentationml/2006/ole">
            <mc:AlternateContent xmlns:mc="http://schemas.openxmlformats.org/markup-compatibility/2006">
              <mc:Choice xmlns:v="urn:schemas-microsoft-com:vml" Requires="v">
                <p:oleObj spid="_x0000_s3081" name="" r:id="rId7" imgW="316865" imgH="316865" progId="Equation.KSEE3">
                  <p:embed/>
                </p:oleObj>
              </mc:Choice>
              <mc:Fallback>
                <p:oleObj name="" r:id="rId7" imgW="316865" imgH="316865" progId="Equation.KSEE3">
                  <p:embed/>
                  <p:pic>
                    <p:nvPicPr>
                      <p:cNvPr id="0" name="图片 3080"/>
                      <p:cNvPicPr/>
                      <p:nvPr/>
                    </p:nvPicPr>
                    <p:blipFill>
                      <a:blip r:embed="rId8"/>
                      <a:stretch>
                        <a:fillRect/>
                      </a:stretch>
                    </p:blipFill>
                    <p:spPr>
                      <a:xfrm>
                        <a:off x="4413250" y="3270250"/>
                        <a:ext cx="317500" cy="317500"/>
                      </a:xfrm>
                      <a:prstGeom prst="rect">
                        <a:avLst/>
                      </a:prstGeom>
                      <a:noFill/>
                      <a:ln w="38100">
                        <a:noFill/>
                        <a:miter/>
                      </a:ln>
                    </p:spPr>
                  </p:pic>
                </p:oleObj>
              </mc:Fallback>
            </mc:AlternateContent>
          </a:graphicData>
        </a:graphic>
      </p:graphicFrame>
      <p:sp>
        <p:nvSpPr>
          <p:cNvPr id="69661" name="矩形 43"/>
          <p:cNvSpPr/>
          <p:nvPr/>
        </p:nvSpPr>
        <p:spPr>
          <a:xfrm>
            <a:off x="974408" y="5413693"/>
            <a:ext cx="696912" cy="460375"/>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GB" altLang="en-US" sz="2400" dirty="0">
                <a:latin typeface="Times New Roman" panose="02020603050405020304" pitchFamily="18" charset="0"/>
                <a:ea typeface="宋体" panose="02010600030101010101" pitchFamily="2" charset="-122"/>
              </a:rPr>
              <a:t>U</a:t>
            </a:r>
            <a:endParaRPr lang="en-GB" altLang="en-US" sz="2400" dirty="0">
              <a:latin typeface="Times New Roman" panose="02020603050405020304" pitchFamily="18" charset="0"/>
              <a:ea typeface="宋体" panose="02010600030101010101" pitchFamily="2" charset="-122"/>
            </a:endParaRPr>
          </a:p>
        </p:txBody>
      </p:sp>
      <p:sp>
        <p:nvSpPr>
          <p:cNvPr id="69662" name="矩形 43"/>
          <p:cNvSpPr/>
          <p:nvPr/>
        </p:nvSpPr>
        <p:spPr>
          <a:xfrm>
            <a:off x="1263333" y="5615305"/>
            <a:ext cx="481012" cy="307975"/>
          </a:xfrm>
          <a:prstGeom prst="rect">
            <a:avLst/>
          </a:prstGeom>
          <a:noFill/>
          <a:ln w="9525">
            <a:noFill/>
          </a:ln>
        </p:spPr>
        <p:txBody>
          <a:bodyPr anchor="t">
            <a:spAutoFit/>
          </a:bodyPr>
          <a:p>
            <a:pPr eaLnBrk="0" hangingPunct="0"/>
            <a:r>
              <a:rPr lang="en-GB" altLang="zh-CN" sz="1400" i="1" dirty="0">
                <a:latin typeface="Times New Roman" panose="02020603050405020304" pitchFamily="18" charset="0"/>
                <a:ea typeface="宋体" panose="02010600030101010101" pitchFamily="2" charset="-122"/>
              </a:rPr>
              <a:t>r</a:t>
            </a:r>
            <a:r>
              <a:rPr lang="en-GB" altLang="zh-CN" sz="1400" dirty="0">
                <a:latin typeface="Times New Roman" panose="02020603050405020304" pitchFamily="18" charset="0"/>
                <a:ea typeface="宋体" panose="02010600030101010101" pitchFamily="2" charset="-122"/>
              </a:rPr>
              <a:t>=1</a:t>
            </a:r>
            <a:endParaRPr lang="en-GB" altLang="zh-CN" sz="1400" dirty="0">
              <a:latin typeface="Times New Roman" panose="02020603050405020304" pitchFamily="18" charset="0"/>
              <a:ea typeface="宋体" panose="02010600030101010101" pitchFamily="2" charset="-122"/>
            </a:endParaRPr>
          </a:p>
        </p:txBody>
      </p:sp>
      <p:sp>
        <p:nvSpPr>
          <p:cNvPr id="69663" name="矩形 43"/>
          <p:cNvSpPr/>
          <p:nvPr/>
        </p:nvSpPr>
        <p:spPr>
          <a:xfrm>
            <a:off x="1263333" y="5356225"/>
            <a:ext cx="481012" cy="307975"/>
          </a:xfrm>
          <a:prstGeom prst="rect">
            <a:avLst/>
          </a:prstGeom>
          <a:noFill/>
          <a:ln w="9525">
            <a:noFill/>
          </a:ln>
        </p:spPr>
        <p:txBody>
          <a:bodyPr anchor="t">
            <a:spAutoFit/>
          </a:bodyPr>
          <a:p>
            <a:pPr eaLnBrk="0" hangingPunct="0"/>
            <a:r>
              <a:rPr lang="en-GB" altLang="zh-CN" sz="1400" i="1" dirty="0">
                <a:latin typeface="Times New Roman" panose="02020603050405020304" pitchFamily="18" charset="0"/>
                <a:ea typeface="宋体" panose="02010600030101010101" pitchFamily="2" charset="-122"/>
              </a:rPr>
              <a:t>M</a:t>
            </a:r>
            <a:endParaRPr lang="en-GB" altLang="zh-CN" sz="1400" dirty="0">
              <a:latin typeface="Times New Roman" panose="02020603050405020304" pitchFamily="18" charset="0"/>
              <a:ea typeface="宋体" panose="02010600030101010101" pitchFamily="2" charset="-122"/>
            </a:endParaRPr>
          </a:p>
        </p:txBody>
      </p:sp>
      <p:sp>
        <p:nvSpPr>
          <p:cNvPr id="69664" name="矩形 43"/>
          <p:cNvSpPr/>
          <p:nvPr/>
        </p:nvSpPr>
        <p:spPr>
          <a:xfrm>
            <a:off x="1479550" y="5469255"/>
            <a:ext cx="1020445" cy="337185"/>
          </a:xfrm>
          <a:prstGeom prst="rect">
            <a:avLst/>
          </a:prstGeom>
          <a:noFill/>
          <a:ln w="9525">
            <a:noFill/>
          </a:ln>
        </p:spPr>
        <p:txBody>
          <a:bodyPr wrap="square" anchor="t">
            <a:spAutoFit/>
          </a:bodyPr>
          <a:p>
            <a:pPr eaLnBrk="0" hangingPunct="0"/>
            <a:r>
              <a:rPr lang="en-GB" altLang="zh-CN" sz="1600" dirty="0">
                <a:latin typeface="Times New Roman" panose="02020603050405020304" pitchFamily="18" charset="0"/>
                <a:ea typeface="宋体" panose="02010600030101010101" pitchFamily="2" charset="-122"/>
              </a:rPr>
              <a:t>{</a:t>
            </a:r>
            <a:r>
              <a:rPr lang="en-GB" altLang="zh-CN" sz="1600" i="1" dirty="0">
                <a:latin typeface="Times New Roman" panose="02020603050405020304" pitchFamily="18" charset="0"/>
                <a:ea typeface="宋体" panose="02010600030101010101" pitchFamily="2" charset="-122"/>
              </a:rPr>
              <a:t>RDS</a:t>
            </a:r>
            <a:r>
              <a:rPr lang="en-GB" altLang="zh-CN" sz="1600" i="1" baseline="-25000" dirty="0">
                <a:latin typeface="Times New Roman" panose="02020603050405020304" pitchFamily="18" charset="0"/>
                <a:ea typeface="宋体" panose="02010600030101010101" pitchFamily="2" charset="-122"/>
              </a:rPr>
              <a:t>r</a:t>
            </a:r>
            <a:r>
              <a:rPr lang="en-GB" altLang="zh-CN" sz="1600" dirty="0">
                <a:latin typeface="Times New Roman" panose="02020603050405020304" pitchFamily="18" charset="0"/>
                <a:ea typeface="宋体" panose="02010600030101010101" pitchFamily="2" charset="-122"/>
              </a:rPr>
              <a:t>}</a:t>
            </a:r>
            <a:r>
              <a:rPr lang="zh-CN" altLang="en-GB" sz="1600" dirty="0">
                <a:latin typeface="Times New Roman" panose="02020603050405020304" pitchFamily="18" charset="0"/>
                <a:ea typeface="宋体" panose="02010600030101010101" pitchFamily="2" charset="-122"/>
              </a:rPr>
              <a:t>。</a:t>
            </a:r>
            <a:endParaRPr lang="zh-CN" altLang="en-GB" sz="1600" dirty="0">
              <a:latin typeface="Times New Roman" panose="02020603050405020304" pitchFamily="18" charset="0"/>
              <a:ea typeface="宋体" panose="02010600030101010101" pitchFamily="2" charset="-122"/>
            </a:endParaRPr>
          </a:p>
        </p:txBody>
      </p:sp>
      <p:cxnSp>
        <p:nvCxnSpPr>
          <p:cNvPr id="13" name="直接连接符 12"/>
          <p:cNvCxnSpPr>
            <a:stCxn id="69637" idx="0"/>
          </p:cNvCxnSpPr>
          <p:nvPr/>
        </p:nvCxnSpPr>
        <p:spPr>
          <a:xfrm flipV="1">
            <a:off x="3657600" y="5405438"/>
            <a:ext cx="4486275" cy="111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69637" idx="0"/>
          </p:cNvCxnSpPr>
          <p:nvPr/>
        </p:nvCxnSpPr>
        <p:spPr>
          <a:xfrm flipV="1">
            <a:off x="3660775" y="522922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69637" idx="0"/>
          </p:cNvCxnSpPr>
          <p:nvPr/>
        </p:nvCxnSpPr>
        <p:spPr>
          <a:xfrm flipV="1">
            <a:off x="4721225" y="52133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69637" idx="0"/>
          </p:cNvCxnSpPr>
          <p:nvPr/>
        </p:nvCxnSpPr>
        <p:spPr>
          <a:xfrm flipV="1">
            <a:off x="5637213" y="5195888"/>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69637" idx="0"/>
          </p:cNvCxnSpPr>
          <p:nvPr/>
        </p:nvCxnSpPr>
        <p:spPr>
          <a:xfrm flipV="1">
            <a:off x="6580188" y="5211763"/>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69637" idx="0"/>
          </p:cNvCxnSpPr>
          <p:nvPr/>
        </p:nvCxnSpPr>
        <p:spPr>
          <a:xfrm flipV="1">
            <a:off x="7335838" y="522922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69637" idx="0"/>
          </p:cNvCxnSpPr>
          <p:nvPr/>
        </p:nvCxnSpPr>
        <p:spPr>
          <a:xfrm flipV="1">
            <a:off x="8112125" y="519747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9674" name="矩形 40"/>
          <p:cNvSpPr/>
          <p:nvPr/>
        </p:nvSpPr>
        <p:spPr>
          <a:xfrm>
            <a:off x="4283075" y="3922713"/>
            <a:ext cx="4584700" cy="338137"/>
          </a:xfrm>
          <a:prstGeom prst="rect">
            <a:avLst/>
          </a:prstGeom>
          <a:noFill/>
          <a:ln w="9525">
            <a:noFill/>
          </a:ln>
        </p:spPr>
        <p:txBody>
          <a:bodyPr anchor="t">
            <a:spAutoFit/>
          </a:bodyPr>
          <a:p>
            <a:pPr eaLnBrk="0" hangingPunct="0"/>
            <a:r>
              <a:rPr lang="en-US" altLang="zh-CN" sz="1600" i="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kMP</a:t>
            </a:r>
            <a:r>
              <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rPr>
              <a:t>1</a:t>
            </a:r>
            <a:r>
              <a:rPr lang="en-US" altLang="zh-CN" sz="1600" dirty="0">
                <a:latin typeface="Times New Roman" panose="02020603050405020304" pitchFamily="18" charset="0"/>
                <a:ea typeface="宋体" panose="02010600030101010101" pitchFamily="2" charset="-122"/>
                <a:sym typeface="Wingdings" panose="05000000000000000000" pitchFamily="2" charset="2"/>
              </a:rPr>
              <a:t> </a:t>
            </a:r>
            <a:r>
              <a:rPr lang="en-US" altLang="zh-CN" sz="1600" i="1" dirty="0">
                <a:solidFill>
                  <a:srgbClr val="00B050"/>
                </a:solidFill>
                <a:latin typeface="Times New Roman" panose="02020603050405020304" pitchFamily="18" charset="0"/>
                <a:ea typeface="宋体" panose="02010600030101010101" pitchFamily="2" charset="-122"/>
                <a:sym typeface="Wingdings" panose="05000000000000000000" pitchFamily="2" charset="2"/>
              </a:rPr>
              <a:t>                            kMP</a:t>
            </a:r>
            <a:r>
              <a:rPr lang="en-US" altLang="zh-CN" sz="1600" baseline="-25000" dirty="0">
                <a:solidFill>
                  <a:srgbClr val="00B050"/>
                </a:solidFill>
                <a:latin typeface="Times New Roman" panose="02020603050405020304" pitchFamily="18" charset="0"/>
                <a:ea typeface="宋体" panose="02010600030101010101" pitchFamily="2" charset="-122"/>
                <a:sym typeface="Wingdings" panose="05000000000000000000" pitchFamily="2" charset="2"/>
              </a:rPr>
              <a:t>2</a:t>
            </a:r>
            <a:r>
              <a:rPr lang="en-US" altLang="zh-CN" sz="1600" dirty="0">
                <a:latin typeface="Times New Roman" panose="02020603050405020304" pitchFamily="18" charset="0"/>
                <a:ea typeface="宋体" panose="02010600030101010101" pitchFamily="2" charset="-122"/>
                <a:sym typeface="Wingdings" panose="05000000000000000000" pitchFamily="2" charset="2"/>
              </a:rPr>
              <a:t> </a:t>
            </a:r>
            <a:r>
              <a:rPr lang="en-US" altLang="zh-CN" sz="1600" dirty="0">
                <a:solidFill>
                  <a:srgbClr val="00B050"/>
                </a:solidFill>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kMP</a:t>
            </a:r>
            <a:r>
              <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rPr>
              <a:t>3</a:t>
            </a:r>
            <a:endPar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7588"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作曲模板</a:t>
            </a:r>
            <a:endParaRPr lang="zh-CN" altLang="en-US" sz="2000" i="1" dirty="0">
              <a:latin typeface="Times New Roman" panose="02020603050405020304" pitchFamily="18" charset="0"/>
              <a:ea typeface="宋体" panose="02010600030101010101" pitchFamily="2" charset="-122"/>
            </a:endParaRPr>
          </a:p>
        </p:txBody>
      </p:sp>
      <p:sp>
        <p:nvSpPr>
          <p:cNvPr id="67586" name="矩形 41"/>
          <p:cNvSpPr/>
          <p:nvPr/>
        </p:nvSpPr>
        <p:spPr>
          <a:xfrm>
            <a:off x="3662680" y="2800350"/>
            <a:ext cx="5422900" cy="368300"/>
          </a:xfrm>
          <a:prstGeom prst="rect">
            <a:avLst/>
          </a:prstGeom>
          <a:noFill/>
          <a:ln w="9525">
            <a:noFill/>
          </a:ln>
        </p:spPr>
        <p:txBody>
          <a:bodyPr wrap="square" anchor="t">
            <a:spAutoFit/>
          </a:bodyPr>
          <a:p>
            <a:pPr eaLnBrk="0" hangingPunct="0"/>
            <a:r>
              <a:rPr lang="en-US" altLang="zh-CN" sz="1800" dirty="0">
                <a:latin typeface="Times New Roman" panose="02020603050405020304" pitchFamily="18" charset="0"/>
                <a:ea typeface="楷体_GB2312" pitchFamily="49" charset="-122"/>
              </a:rPr>
              <a:t>i) </a:t>
            </a:r>
            <a:r>
              <a:rPr lang="zh-CN" altLang="en-US" sz="1800" dirty="0">
                <a:latin typeface="Times New Roman" panose="02020603050405020304" pitchFamily="18" charset="0"/>
                <a:ea typeface="楷体_GB2312" pitchFamily="49" charset="-122"/>
              </a:rPr>
              <a:t>歌词的诗句形式</a:t>
            </a:r>
            <a:r>
              <a:rPr lang="en-US" altLang="zh-CN" sz="1800" dirty="0">
                <a:latin typeface="Times New Roman" panose="02020603050405020304" pitchFamily="18" charset="0"/>
                <a:ea typeface="楷体_GB2312" pitchFamily="49" charset="-122"/>
              </a:rPr>
              <a:t>; ii) </a:t>
            </a:r>
            <a:r>
              <a:rPr lang="zh-CN" altLang="en-US" sz="1800" dirty="0">
                <a:latin typeface="Times New Roman" panose="02020603050405020304" pitchFamily="18" charset="0"/>
                <a:ea typeface="楷体_GB2312" pitchFamily="49" charset="-122"/>
              </a:rPr>
              <a:t>情感色彩</a:t>
            </a:r>
            <a:r>
              <a:rPr lang="en-US" altLang="zh-CN" sz="1800" dirty="0">
                <a:latin typeface="Times New Roman" panose="02020603050405020304" pitchFamily="18" charset="0"/>
                <a:ea typeface="楷体_GB2312" pitchFamily="49" charset="-122"/>
              </a:rPr>
              <a:t>; iii) </a:t>
            </a:r>
            <a:r>
              <a:rPr lang="zh-CN" altLang="en-US" sz="1800" dirty="0">
                <a:latin typeface="Times New Roman" panose="02020603050405020304" pitchFamily="18" charset="0"/>
                <a:ea typeface="宋体" panose="02010600030101010101" pitchFamily="2" charset="-122"/>
              </a:rPr>
              <a:t>节拍（韵律）</a:t>
            </a:r>
            <a:endParaRPr lang="zh-CN" altLang="en-US" sz="1800" dirty="0">
              <a:latin typeface="Times New Roman" panose="02020603050405020304" pitchFamily="18" charset="0"/>
              <a:ea typeface="宋体" panose="02010600030101010101" pitchFamily="2" charset="-122"/>
            </a:endParaRPr>
          </a:p>
        </p:txBody>
      </p:sp>
      <p:sp>
        <p:nvSpPr>
          <p:cNvPr id="67620" name="矩形 41"/>
          <p:cNvSpPr/>
          <p:nvPr/>
        </p:nvSpPr>
        <p:spPr>
          <a:xfrm>
            <a:off x="6157595" y="3215005"/>
            <a:ext cx="1260475" cy="368300"/>
          </a:xfrm>
          <a:prstGeom prst="rect">
            <a:avLst/>
          </a:prstGeom>
          <a:noFill/>
          <a:ln w="9525">
            <a:noFill/>
          </a:ln>
        </p:spPr>
        <p:txBody>
          <a:bodyPr wrap="square" anchor="t">
            <a:spAutoFit/>
          </a:bodyPr>
          <a:p>
            <a:pPr eaLnBrk="0" hangingPunct="0"/>
            <a:r>
              <a:rPr lang="zh-CN" altLang="en-US" sz="1800" b="1" i="1" dirty="0">
                <a:solidFill>
                  <a:srgbClr val="FFC000"/>
                </a:solidFill>
                <a:latin typeface="Times New Roman" panose="02020603050405020304" pitchFamily="18" charset="0"/>
                <a:ea typeface="宋体" panose="02010600030101010101" pitchFamily="2" charset="-122"/>
              </a:rPr>
              <a:t>作曲模板</a:t>
            </a:r>
            <a:endParaRPr lang="zh-CN" altLang="en-US" sz="1800" b="1" i="1" dirty="0">
              <a:solidFill>
                <a:srgbClr val="FFC000"/>
              </a:solidFill>
              <a:latin typeface="Times New Roman" panose="02020603050405020304" pitchFamily="18" charset="0"/>
              <a:ea typeface="宋体" panose="02010600030101010101" pitchFamily="2" charset="-122"/>
            </a:endParaRPr>
          </a:p>
        </p:txBody>
      </p:sp>
      <p:sp>
        <p:nvSpPr>
          <p:cNvPr id="4" name="矩形 43"/>
          <p:cNvSpPr/>
          <p:nvPr/>
        </p:nvSpPr>
        <p:spPr>
          <a:xfrm>
            <a:off x="4139565" y="5445125"/>
            <a:ext cx="4269105"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rPr>
              <a:t>一首歌曲中的乐汇以及多乐汇结构的关系图</a:t>
            </a:r>
            <a:endParaRPr lang="zh-CN" altLang="en-US" sz="16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43"/>
          <p:cNvSpPr/>
          <p:nvPr/>
        </p:nvSpPr>
        <p:spPr>
          <a:xfrm>
            <a:off x="4139565" y="5445125"/>
            <a:ext cx="4269105"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rPr>
              <a:t>一首歌曲中的乐汇以及多乐汇结构的关系图</a:t>
            </a:r>
            <a:endParaRPr lang="zh-CN" altLang="en-US" sz="1600" dirty="0">
              <a:latin typeface="Times New Roman" panose="02020603050405020304" pitchFamily="18" charset="0"/>
              <a:ea typeface="宋体" panose="02010600030101010101" pitchFamily="2" charset="-122"/>
            </a:endParaRPr>
          </a:p>
        </p:txBody>
      </p:sp>
      <p:sp>
        <p:nvSpPr>
          <p:cNvPr id="71686" name="矩形 11"/>
          <p:cNvSpPr/>
          <p:nvPr/>
        </p:nvSpPr>
        <p:spPr>
          <a:xfrm>
            <a:off x="3279775" y="4448175"/>
            <a:ext cx="2325688" cy="338138"/>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1</a:t>
            </a:r>
            <a:r>
              <a:rPr lang="en-US" altLang="zh-CN" sz="16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2</a:t>
            </a:r>
            <a:r>
              <a:rPr lang="en-US" altLang="zh-CN" sz="1600" dirty="0">
                <a:solidFill>
                  <a:srgbClr val="00B0F0"/>
                </a:solidFill>
                <a:latin typeface="Times New Roman" panose="02020603050405020304" pitchFamily="18" charset="0"/>
                <a:ea typeface="宋体" panose="02010600030101010101" pitchFamily="2" charset="-122"/>
              </a:rPr>
              <a:t>(5)</a:t>
            </a:r>
            <a:r>
              <a:rPr lang="en-US" altLang="zh-CN" sz="1600"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3</a:t>
            </a:r>
            <a:r>
              <a:rPr lang="en-US" altLang="zh-CN" sz="1600" dirty="0">
                <a:solidFill>
                  <a:srgbClr val="00B0F0"/>
                </a:solidFill>
                <a:latin typeface="Times New Roman" panose="02020603050405020304" pitchFamily="18" charset="0"/>
                <a:ea typeface="宋体" panose="02010600030101010101" pitchFamily="2" charset="-122"/>
              </a:rPr>
              <a:t>(5)</a:t>
            </a:r>
            <a:endParaRPr lang="en-US" altLang="zh-CN" sz="1600" dirty="0">
              <a:solidFill>
                <a:srgbClr val="FF0000"/>
              </a:solidFill>
              <a:latin typeface="Times New Roman" panose="02020603050405020304" pitchFamily="18" charset="0"/>
              <a:ea typeface="宋体" panose="02010600030101010101" pitchFamily="2" charset="-122"/>
            </a:endParaRPr>
          </a:p>
        </p:txBody>
      </p:sp>
      <p:sp>
        <p:nvSpPr>
          <p:cNvPr id="71687" name="矩形 12"/>
          <p:cNvSpPr/>
          <p:nvPr/>
        </p:nvSpPr>
        <p:spPr>
          <a:xfrm>
            <a:off x="5915025" y="4484688"/>
            <a:ext cx="2182813" cy="339725"/>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900" dirty="0">
                <a:solidFill>
                  <a:srgbClr val="00B0F0"/>
                </a:solidFill>
                <a:latin typeface="Times New Roman" panose="02020603050405020304" pitchFamily="18" charset="0"/>
                <a:ea typeface="宋体" panose="02010600030101010101" pitchFamily="2" charset="-122"/>
              </a:rPr>
              <a:t>4</a:t>
            </a:r>
            <a:r>
              <a:rPr lang="en-US" altLang="zh-CN" sz="16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5</a:t>
            </a:r>
            <a:r>
              <a:rPr lang="en-US" altLang="zh-CN" sz="1600" dirty="0">
                <a:solidFill>
                  <a:srgbClr val="00B0F0"/>
                </a:solidFill>
                <a:latin typeface="Times New Roman" panose="02020603050405020304" pitchFamily="18" charset="0"/>
                <a:ea typeface="宋体" panose="02010600030101010101" pitchFamily="2" charset="-122"/>
              </a:rPr>
              <a:t>(6)</a:t>
            </a:r>
            <a:r>
              <a:rPr lang="en-US" altLang="zh-CN" sz="1600" dirty="0">
                <a:latin typeface="Times New Roman" panose="02020603050405020304" pitchFamily="18" charset="0"/>
                <a:ea typeface="宋体" panose="02010600030101010101" pitchFamily="2" charset="-122"/>
              </a:rPr>
              <a:t>,</a:t>
            </a:r>
            <a:r>
              <a:rPr lang="en-US" altLang="zh-CN" sz="1600" i="1" dirty="0">
                <a:latin typeface="Times New Roman" panose="02020603050405020304" pitchFamily="18" charset="0"/>
                <a:ea typeface="宋体" panose="02010600030101010101" pitchFamily="2" charset="-122"/>
              </a:rPr>
              <a:t> </a:t>
            </a:r>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6</a:t>
            </a:r>
            <a:r>
              <a:rPr lang="en-US" altLang="zh-CN" sz="1600" dirty="0">
                <a:solidFill>
                  <a:srgbClr val="00B0F0"/>
                </a:solidFill>
                <a:latin typeface="Times New Roman" panose="02020603050405020304" pitchFamily="18" charset="0"/>
                <a:ea typeface="宋体" panose="02010600030101010101" pitchFamily="2" charset="-122"/>
              </a:rPr>
              <a:t>(6)</a:t>
            </a:r>
            <a:endParaRPr lang="en-US" altLang="zh-CN" sz="1600" dirty="0">
              <a:solidFill>
                <a:srgbClr val="00B050"/>
              </a:solidFill>
              <a:latin typeface="Times New Roman" panose="02020603050405020304" pitchFamily="18" charset="0"/>
              <a:ea typeface="宋体" panose="02010600030101010101" pitchFamily="2" charset="-122"/>
            </a:endParaRPr>
          </a:p>
        </p:txBody>
      </p:sp>
      <p:cxnSp>
        <p:nvCxnSpPr>
          <p:cNvPr id="14" name="直接连接符 13"/>
          <p:cNvCxnSpPr/>
          <p:nvPr/>
        </p:nvCxnSpPr>
        <p:spPr>
          <a:xfrm flipV="1">
            <a:off x="4527550" y="3560763"/>
            <a:ext cx="2247900" cy="3730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505575" y="3548063"/>
            <a:ext cx="268288" cy="355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flipV="1">
            <a:off x="6788150" y="3560763"/>
            <a:ext cx="1323975" cy="3746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任意多边形 16"/>
          <p:cNvSpPr/>
          <p:nvPr/>
        </p:nvSpPr>
        <p:spPr>
          <a:xfrm>
            <a:off x="3424238" y="4838700"/>
            <a:ext cx="7889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18" name="任意多边形 17"/>
          <p:cNvSpPr/>
          <p:nvPr/>
        </p:nvSpPr>
        <p:spPr>
          <a:xfrm>
            <a:off x="4503738" y="4846638"/>
            <a:ext cx="711200"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19" name="任意多边形 18"/>
          <p:cNvSpPr/>
          <p:nvPr/>
        </p:nvSpPr>
        <p:spPr>
          <a:xfrm>
            <a:off x="6288088" y="4838700"/>
            <a:ext cx="712788"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0" name="任意多边形 19"/>
          <p:cNvSpPr/>
          <p:nvPr/>
        </p:nvSpPr>
        <p:spPr>
          <a:xfrm>
            <a:off x="7092950" y="4846638"/>
            <a:ext cx="714375"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1" name="任意多边形 20"/>
          <p:cNvSpPr/>
          <p:nvPr/>
        </p:nvSpPr>
        <p:spPr>
          <a:xfrm>
            <a:off x="5360988" y="4824413"/>
            <a:ext cx="714375"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sp>
        <p:nvSpPr>
          <p:cNvPr id="22" name="任意多边形 21"/>
          <p:cNvSpPr/>
          <p:nvPr/>
        </p:nvSpPr>
        <p:spPr>
          <a:xfrm>
            <a:off x="7950200" y="4824413"/>
            <a:ext cx="457200" cy="373063"/>
          </a:xfrm>
          <a:custGeom>
            <a:avLst/>
            <a:gdLst>
              <a:gd name="connsiteX0" fmla="*/ 0 w 788670"/>
              <a:gd name="connsiteY0" fmla="*/ 0 h 373380"/>
              <a:gd name="connsiteX1" fmla="*/ 281940 w 788670"/>
              <a:gd name="connsiteY1" fmla="*/ 373380 h 373380"/>
              <a:gd name="connsiteX2" fmla="*/ 788670 w 788670"/>
              <a:gd name="connsiteY2" fmla="*/ 0 h 373380"/>
            </a:gdLst>
            <a:ahLst/>
            <a:cxnLst>
              <a:cxn ang="0">
                <a:pos x="connsiteX0" y="connsiteY0"/>
              </a:cxn>
              <a:cxn ang="0">
                <a:pos x="connsiteX1" y="connsiteY1"/>
              </a:cxn>
              <a:cxn ang="0">
                <a:pos x="connsiteX2" y="connsiteY2"/>
              </a:cxn>
            </a:cxnLst>
            <a:rect l="l" t="t" r="r" b="b"/>
            <a:pathLst>
              <a:path w="788670" h="373380">
                <a:moveTo>
                  <a:pt x="0" y="0"/>
                </a:moveTo>
                <a:cubicBezTo>
                  <a:pt x="75247" y="186690"/>
                  <a:pt x="150495" y="373380"/>
                  <a:pt x="281940" y="373380"/>
                </a:cubicBezTo>
                <a:cubicBezTo>
                  <a:pt x="413385" y="373380"/>
                  <a:pt x="601027" y="186690"/>
                  <a:pt x="78867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a:ln>
                <a:noFill/>
              </a:ln>
              <a:solidFill>
                <a:schemeClr val="lt1"/>
              </a:solidFill>
              <a:effectLst/>
              <a:uLnTx/>
              <a:uFillTx/>
              <a:latin typeface="+mn-lt"/>
              <a:ea typeface="+mn-ea"/>
              <a:cs typeface="+mn-cs"/>
            </a:endParaRPr>
          </a:p>
        </p:txBody>
      </p:sp>
      <p:cxnSp>
        <p:nvCxnSpPr>
          <p:cNvPr id="23" name="直接连接符 22"/>
          <p:cNvCxnSpPr/>
          <p:nvPr/>
        </p:nvCxnSpPr>
        <p:spPr>
          <a:xfrm flipV="1">
            <a:off x="3584575" y="4221163"/>
            <a:ext cx="987425" cy="3032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71686" idx="0"/>
          </p:cNvCxnSpPr>
          <p:nvPr/>
        </p:nvCxnSpPr>
        <p:spPr>
          <a:xfrm flipV="1">
            <a:off x="4514850" y="4192588"/>
            <a:ext cx="60325" cy="255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71686" idx="0"/>
          </p:cNvCxnSpPr>
          <p:nvPr/>
        </p:nvCxnSpPr>
        <p:spPr>
          <a:xfrm flipH="1" flipV="1">
            <a:off x="4575175" y="4192588"/>
            <a:ext cx="561975" cy="3190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71686" idx="0"/>
          </p:cNvCxnSpPr>
          <p:nvPr/>
        </p:nvCxnSpPr>
        <p:spPr>
          <a:xfrm flipV="1">
            <a:off x="6156325" y="4241800"/>
            <a:ext cx="349250" cy="2667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71686" idx="0"/>
          </p:cNvCxnSpPr>
          <p:nvPr/>
        </p:nvCxnSpPr>
        <p:spPr>
          <a:xfrm flipH="1" flipV="1">
            <a:off x="6505575" y="4241800"/>
            <a:ext cx="1162050" cy="3397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1702" name="Rectangle 3"/>
          <p:cNvSpPr txBox="1"/>
          <p:nvPr/>
        </p:nvSpPr>
        <p:spPr>
          <a:xfrm>
            <a:off x="712788" y="3206750"/>
            <a:ext cx="2711450" cy="444500"/>
          </a:xfrm>
          <a:prstGeom prst="rect">
            <a:avLst/>
          </a:prstGeom>
          <a:noFill/>
          <a:ln w="9525">
            <a:noFill/>
          </a:ln>
        </p:spPr>
        <p:txBody>
          <a:bodyPr anchor="t"/>
          <a:p>
            <a:pPr>
              <a:spcBef>
                <a:spcPct val="20000"/>
              </a:spcBef>
            </a:pPr>
            <a:r>
              <a:rPr lang="en-GB" altLang="en-US" sz="1600" dirty="0">
                <a:latin typeface="Times New Roman" panose="02020603050405020304" pitchFamily="18" charset="0"/>
                <a:ea typeface="楷体_GB2312" pitchFamily="49" charset="-122"/>
              </a:rPr>
              <a:t>           </a:t>
            </a:r>
            <a:r>
              <a:rPr lang="zh-CN" sz="2000" dirty="0">
                <a:latin typeface="Times New Roman" panose="02020603050405020304" pitchFamily="18" charset="0"/>
                <a:ea typeface="宋体" panose="02010600030101010101" pitchFamily="2" charset="-122"/>
              </a:rPr>
              <a:t>显然</a:t>
            </a:r>
            <a:r>
              <a:rPr lang="zh-CN" altLang="zh-CN" sz="2000" dirty="0">
                <a:latin typeface="Times New Roman" panose="02020603050405020304" pitchFamily="18" charset="0"/>
                <a:ea typeface="宋体" panose="02010600030101010101" pitchFamily="2" charset="-122"/>
              </a:rPr>
              <a:t>, 当式中的</a:t>
            </a:r>
            <a:r>
              <a:rPr lang="en-US" altLang="zh-CN" sz="2000" dirty="0">
                <a:latin typeface="Times New Roman" panose="02020603050405020304" pitchFamily="18" charset="0"/>
                <a:ea typeface="宋体" panose="02010600030101010101" pitchFamily="2" charset="-122"/>
              </a:rPr>
              <a:t>M=1</a:t>
            </a:r>
            <a:r>
              <a:rPr lang="zh-CN" altLang="en-US" sz="2000" dirty="0">
                <a:latin typeface="Times New Roman" panose="02020603050405020304" pitchFamily="18" charset="0"/>
                <a:ea typeface="宋体" panose="02010600030101010101" pitchFamily="2" charset="-122"/>
              </a:rPr>
              <a:t>时，作曲模板描述了一个单</a:t>
            </a:r>
            <a:r>
              <a:rPr lang="zh-CN" altLang="en-US" sz="2000" dirty="0">
                <a:solidFill>
                  <a:srgbClr val="00B050"/>
                </a:solidFill>
                <a:latin typeface="Times New Roman" panose="02020603050405020304" pitchFamily="18" charset="0"/>
                <a:ea typeface="宋体" panose="02010600030101010101" pitchFamily="2" charset="-122"/>
              </a:rPr>
              <a:t>乐段</a:t>
            </a:r>
            <a:r>
              <a:rPr lang="zh-CN" altLang="en-US" sz="2000" dirty="0">
                <a:latin typeface="Times New Roman" panose="02020603050405020304" pitchFamily="18" charset="0"/>
                <a:ea typeface="宋体" panose="02010600030101010101" pitchFamily="2" charset="-122"/>
              </a:rPr>
              <a:t>曲式结构，当</a:t>
            </a:r>
            <a:r>
              <a:rPr lang="zh-CN" altLang="zh-CN" sz="2000" dirty="0">
                <a:latin typeface="Times New Roman" panose="02020603050405020304" pitchFamily="18" charset="0"/>
                <a:ea typeface="宋体" panose="02010600030101010101" pitchFamily="2" charset="-122"/>
                <a:sym typeface="+mn-ea"/>
              </a:rPr>
              <a:t>M&gt;1时，</a:t>
            </a:r>
            <a:r>
              <a:rPr lang="zh-CN" altLang="en-US" sz="2000" dirty="0">
                <a:latin typeface="Times New Roman" panose="02020603050405020304" pitchFamily="18" charset="0"/>
                <a:ea typeface="宋体" panose="02010600030101010101" pitchFamily="2" charset="-122"/>
                <a:sym typeface="+mn-ea"/>
              </a:rPr>
              <a:t>作曲模板描述了一个多乐段曲式结构</a:t>
            </a:r>
            <a:r>
              <a:rPr lang="zh-CN" sz="2000" dirty="0">
                <a:latin typeface="Times New Roman" panose="02020603050405020304" pitchFamily="18" charset="0"/>
                <a:ea typeface="宋体" panose="02010600030101010101" pitchFamily="2" charset="-122"/>
              </a:rPr>
              <a:t>。</a:t>
            </a:r>
            <a:r>
              <a:rPr lang="en-GB" altLang="en-US" sz="2000" dirty="0">
                <a:latin typeface="Times New Roman" panose="02020603050405020304" pitchFamily="18" charset="0"/>
                <a:ea typeface="楷体_GB2312" pitchFamily="49" charset="-122"/>
              </a:rPr>
              <a:t>     </a:t>
            </a:r>
            <a:r>
              <a:rPr lang="en-GB" altLang="en-US" sz="1600" dirty="0">
                <a:latin typeface="Times New Roman" panose="02020603050405020304" pitchFamily="18" charset="0"/>
                <a:ea typeface="楷体_GB2312" pitchFamily="49" charset="-122"/>
              </a:rPr>
              <a:t>                                    </a:t>
            </a:r>
            <a:endParaRPr lang="en-GB" altLang="en-US" sz="1600" dirty="0">
              <a:latin typeface="Times New Roman" panose="02020603050405020304" pitchFamily="18" charset="0"/>
              <a:ea typeface="楷体_GB2312" pitchFamily="49" charset="-122"/>
            </a:endParaRPr>
          </a:p>
        </p:txBody>
      </p:sp>
      <p:sp>
        <p:nvSpPr>
          <p:cNvPr id="71703" name="矩形 47"/>
          <p:cNvSpPr/>
          <p:nvPr/>
        </p:nvSpPr>
        <p:spPr>
          <a:xfrm>
            <a:off x="8215313" y="4511675"/>
            <a:ext cx="869950" cy="339725"/>
          </a:xfrm>
          <a:prstGeom prst="rect">
            <a:avLst/>
          </a:prstGeom>
          <a:noFill/>
          <a:ln w="9525">
            <a:noFill/>
          </a:ln>
        </p:spPr>
        <p:txBody>
          <a:bodyPr anchor="t">
            <a:spAutoFit/>
          </a:bodyPr>
          <a:p>
            <a:pPr eaLnBrk="0" hangingPunct="0"/>
            <a:r>
              <a:rPr lang="en-US" altLang="zh-CN" sz="1600" i="1" dirty="0">
                <a:solidFill>
                  <a:srgbClr val="00B0F0"/>
                </a:solidFill>
                <a:latin typeface="Times New Roman" panose="02020603050405020304" pitchFamily="18" charset="0"/>
                <a:ea typeface="宋体" panose="02010600030101010101" pitchFamily="2" charset="-122"/>
              </a:rPr>
              <a:t>MP</a:t>
            </a:r>
            <a:r>
              <a:rPr lang="en-US" altLang="zh-CN" sz="1000" dirty="0">
                <a:solidFill>
                  <a:srgbClr val="00B0F0"/>
                </a:solidFill>
                <a:latin typeface="Times New Roman" panose="02020603050405020304" pitchFamily="18" charset="0"/>
                <a:ea typeface="宋体" panose="02010600030101010101" pitchFamily="2" charset="-122"/>
              </a:rPr>
              <a:t>7</a:t>
            </a:r>
            <a:r>
              <a:rPr lang="en-US" altLang="zh-CN" sz="1600" dirty="0">
                <a:solidFill>
                  <a:srgbClr val="00B0F0"/>
                </a:solidFill>
                <a:latin typeface="Times New Roman" panose="02020603050405020304" pitchFamily="18" charset="0"/>
                <a:ea typeface="宋体" panose="02010600030101010101" pitchFamily="2" charset="-122"/>
              </a:rPr>
              <a:t>(8)</a:t>
            </a:r>
            <a:endParaRPr lang="en-US" altLang="zh-CN" sz="1600" dirty="0">
              <a:solidFill>
                <a:srgbClr val="00B050"/>
              </a:solidFill>
              <a:latin typeface="Times New Roman" panose="02020603050405020304" pitchFamily="18" charset="0"/>
              <a:ea typeface="宋体" panose="02010600030101010101" pitchFamily="2" charset="-122"/>
            </a:endParaRPr>
          </a:p>
        </p:txBody>
      </p:sp>
      <p:cxnSp>
        <p:nvCxnSpPr>
          <p:cNvPr id="68" name="直接连接符 67"/>
          <p:cNvCxnSpPr>
            <a:stCxn id="71686" idx="0"/>
          </p:cNvCxnSpPr>
          <p:nvPr/>
        </p:nvCxnSpPr>
        <p:spPr>
          <a:xfrm flipH="1" flipV="1">
            <a:off x="8099425" y="4221163"/>
            <a:ext cx="433388" cy="36036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a:stCxn id="71686" idx="0"/>
          </p:cNvCxnSpPr>
          <p:nvPr/>
        </p:nvCxnSpPr>
        <p:spPr>
          <a:xfrm flipH="1" flipV="1">
            <a:off x="6505575" y="4241800"/>
            <a:ext cx="442913" cy="3397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71686" idx="0"/>
          </p:cNvCxnSpPr>
          <p:nvPr/>
        </p:nvCxnSpPr>
        <p:spPr>
          <a:xfrm flipV="1">
            <a:off x="3657600" y="5405438"/>
            <a:ext cx="4486275" cy="111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71686" idx="0"/>
          </p:cNvCxnSpPr>
          <p:nvPr/>
        </p:nvCxnSpPr>
        <p:spPr>
          <a:xfrm flipV="1">
            <a:off x="3660775" y="522922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71686" idx="0"/>
          </p:cNvCxnSpPr>
          <p:nvPr/>
        </p:nvCxnSpPr>
        <p:spPr>
          <a:xfrm flipV="1">
            <a:off x="4721225" y="52133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71686" idx="0"/>
          </p:cNvCxnSpPr>
          <p:nvPr/>
        </p:nvCxnSpPr>
        <p:spPr>
          <a:xfrm flipV="1">
            <a:off x="5637213" y="5195888"/>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71686" idx="0"/>
          </p:cNvCxnSpPr>
          <p:nvPr/>
        </p:nvCxnSpPr>
        <p:spPr>
          <a:xfrm flipV="1">
            <a:off x="6580188" y="5211763"/>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71686" idx="0"/>
          </p:cNvCxnSpPr>
          <p:nvPr/>
        </p:nvCxnSpPr>
        <p:spPr>
          <a:xfrm flipV="1">
            <a:off x="7335838" y="522922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71686" idx="0"/>
          </p:cNvCxnSpPr>
          <p:nvPr/>
        </p:nvCxnSpPr>
        <p:spPr>
          <a:xfrm flipV="1">
            <a:off x="8112125" y="5197475"/>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1713" name="椭圆形标注 6"/>
          <p:cNvSpPr/>
          <p:nvPr/>
        </p:nvSpPr>
        <p:spPr>
          <a:xfrm>
            <a:off x="3040063" y="4165600"/>
            <a:ext cx="2433637" cy="1219200"/>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1715" name="矩形 41"/>
          <p:cNvSpPr/>
          <p:nvPr/>
        </p:nvSpPr>
        <p:spPr>
          <a:xfrm>
            <a:off x="3291205" y="5516880"/>
            <a:ext cx="942975" cy="368300"/>
          </a:xfrm>
          <a:prstGeom prst="rect">
            <a:avLst/>
          </a:prstGeom>
          <a:noFill/>
          <a:ln w="9525">
            <a:noFill/>
          </a:ln>
        </p:spPr>
        <p:txBody>
          <a:bodyPr anchor="t">
            <a:spAutoFit/>
          </a:bodyPr>
          <a:p>
            <a:pPr eaLnBrk="0" hangingPunct="0"/>
            <a:r>
              <a:rPr lang="zh-CN" altLang="en-US" sz="1800" b="1" i="1" dirty="0">
                <a:solidFill>
                  <a:srgbClr val="00B050"/>
                </a:solidFill>
                <a:latin typeface="Times New Roman" panose="02020603050405020304" pitchFamily="18" charset="0"/>
                <a:ea typeface="宋体" panose="02010600030101010101" pitchFamily="2" charset="-122"/>
              </a:rPr>
              <a:t>乐段</a:t>
            </a:r>
            <a:r>
              <a:rPr lang="en-US" altLang="zh-CN" sz="1800" b="1" baseline="-25000" dirty="0">
                <a:solidFill>
                  <a:srgbClr val="00B050"/>
                </a:solidFill>
                <a:latin typeface="Times New Roman" panose="02020603050405020304" pitchFamily="18" charset="0"/>
                <a:ea typeface="宋体" panose="02010600030101010101" pitchFamily="2" charset="-122"/>
              </a:rPr>
              <a:t>1</a:t>
            </a:r>
            <a:endParaRPr lang="en-US" altLang="zh-CN" sz="1800" b="1" baseline="-25000" dirty="0">
              <a:solidFill>
                <a:srgbClr val="00B050"/>
              </a:solidFill>
              <a:latin typeface="Times New Roman" panose="02020603050405020304" pitchFamily="18" charset="0"/>
              <a:ea typeface="宋体" panose="02010600030101010101" pitchFamily="2" charset="-122"/>
            </a:endParaRPr>
          </a:p>
        </p:txBody>
      </p:sp>
      <p:sp>
        <p:nvSpPr>
          <p:cNvPr id="71716" name="椭圆形标注 27"/>
          <p:cNvSpPr/>
          <p:nvPr/>
        </p:nvSpPr>
        <p:spPr>
          <a:xfrm flipH="1">
            <a:off x="5888038" y="4148138"/>
            <a:ext cx="2211387" cy="1519237"/>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1717" name="矩形 41"/>
          <p:cNvSpPr/>
          <p:nvPr/>
        </p:nvSpPr>
        <p:spPr>
          <a:xfrm>
            <a:off x="7149783" y="5859780"/>
            <a:ext cx="942975" cy="368300"/>
          </a:xfrm>
          <a:prstGeom prst="rect">
            <a:avLst/>
          </a:prstGeom>
          <a:noFill/>
          <a:ln w="9525">
            <a:noFill/>
          </a:ln>
        </p:spPr>
        <p:txBody>
          <a:bodyPr anchor="t">
            <a:spAutoFit/>
          </a:bodyPr>
          <a:p>
            <a:pPr eaLnBrk="0" hangingPunct="0"/>
            <a:r>
              <a:rPr lang="zh-CN" altLang="en-US" sz="1800" b="1" i="1" dirty="0">
                <a:solidFill>
                  <a:srgbClr val="00B050"/>
                </a:solidFill>
                <a:latin typeface="Times New Roman" panose="02020603050405020304" pitchFamily="18" charset="0"/>
                <a:ea typeface="宋体" panose="02010600030101010101" pitchFamily="2" charset="-122"/>
              </a:rPr>
              <a:t>乐段</a:t>
            </a:r>
            <a:r>
              <a:rPr lang="en-US" altLang="zh-CN" sz="1800" b="1" baseline="-25000" dirty="0">
                <a:solidFill>
                  <a:srgbClr val="00B050"/>
                </a:solidFill>
                <a:latin typeface="Times New Roman" panose="02020603050405020304" pitchFamily="18" charset="0"/>
                <a:ea typeface="宋体" panose="02010600030101010101" pitchFamily="2" charset="-122"/>
              </a:rPr>
              <a:t>2</a:t>
            </a:r>
            <a:endParaRPr lang="en-US" altLang="zh-CN" sz="1800" b="1" baseline="-25000" dirty="0">
              <a:solidFill>
                <a:srgbClr val="00B050"/>
              </a:solidFill>
              <a:latin typeface="Times New Roman" panose="02020603050405020304" pitchFamily="18" charset="0"/>
              <a:ea typeface="宋体" panose="02010600030101010101" pitchFamily="2" charset="-122"/>
            </a:endParaRPr>
          </a:p>
        </p:txBody>
      </p:sp>
      <p:sp>
        <p:nvSpPr>
          <p:cNvPr id="71718" name="椭圆形标注 29"/>
          <p:cNvSpPr/>
          <p:nvPr/>
        </p:nvSpPr>
        <p:spPr>
          <a:xfrm>
            <a:off x="8216900" y="4197350"/>
            <a:ext cx="801688" cy="1219200"/>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1719" name="矩形 41"/>
          <p:cNvSpPr/>
          <p:nvPr/>
        </p:nvSpPr>
        <p:spPr>
          <a:xfrm>
            <a:off x="8137525" y="5556250"/>
            <a:ext cx="942975" cy="368300"/>
          </a:xfrm>
          <a:prstGeom prst="rect">
            <a:avLst/>
          </a:prstGeom>
          <a:noFill/>
          <a:ln w="9525">
            <a:noFill/>
          </a:ln>
        </p:spPr>
        <p:txBody>
          <a:bodyPr anchor="t">
            <a:spAutoFit/>
          </a:bodyPr>
          <a:p>
            <a:pPr eaLnBrk="0" hangingPunct="0"/>
            <a:r>
              <a:rPr lang="zh-CN" altLang="en-US" sz="1800" b="1" i="1" dirty="0">
                <a:solidFill>
                  <a:srgbClr val="00B050"/>
                </a:solidFill>
                <a:latin typeface="Times New Roman" panose="02020603050405020304" pitchFamily="18" charset="0"/>
                <a:ea typeface="宋体" panose="02010600030101010101" pitchFamily="2" charset="-122"/>
              </a:rPr>
              <a:t>乐段</a:t>
            </a:r>
            <a:r>
              <a:rPr lang="en-US" altLang="zh-CN" sz="1800" b="1" baseline="-25000" dirty="0">
                <a:solidFill>
                  <a:srgbClr val="00B050"/>
                </a:solidFill>
                <a:latin typeface="Times New Roman" panose="02020603050405020304" pitchFamily="18" charset="0"/>
                <a:ea typeface="宋体" panose="02010600030101010101" pitchFamily="2" charset="-122"/>
              </a:rPr>
              <a:t>3</a:t>
            </a:r>
            <a:endParaRPr lang="en-US" altLang="zh-CN" sz="1800" b="1" baseline="-25000" dirty="0">
              <a:solidFill>
                <a:srgbClr val="00B050"/>
              </a:solidFill>
              <a:latin typeface="Times New Roman" panose="02020603050405020304" pitchFamily="18" charset="0"/>
              <a:ea typeface="宋体" panose="02010600030101010101" pitchFamily="2" charset="-122"/>
            </a:endParaRPr>
          </a:p>
        </p:txBody>
      </p:sp>
      <p:sp>
        <p:nvSpPr>
          <p:cNvPr id="71720" name="矩形 40"/>
          <p:cNvSpPr/>
          <p:nvPr/>
        </p:nvSpPr>
        <p:spPr>
          <a:xfrm>
            <a:off x="4283075" y="3922713"/>
            <a:ext cx="4584700" cy="338137"/>
          </a:xfrm>
          <a:prstGeom prst="rect">
            <a:avLst/>
          </a:prstGeom>
          <a:noFill/>
          <a:ln w="9525">
            <a:noFill/>
          </a:ln>
        </p:spPr>
        <p:txBody>
          <a:bodyPr anchor="t">
            <a:spAutoFit/>
          </a:bodyPr>
          <a:p>
            <a:pPr eaLnBrk="0" hangingPunct="0"/>
            <a:r>
              <a:rPr lang="en-US" altLang="zh-CN" sz="1600" i="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kMP</a:t>
            </a:r>
            <a:r>
              <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rPr>
              <a:t>1</a:t>
            </a:r>
            <a:r>
              <a:rPr lang="en-US" altLang="zh-CN" sz="1600" dirty="0">
                <a:latin typeface="Times New Roman" panose="02020603050405020304" pitchFamily="18" charset="0"/>
                <a:ea typeface="宋体" panose="02010600030101010101" pitchFamily="2" charset="-122"/>
                <a:sym typeface="Wingdings" panose="05000000000000000000" pitchFamily="2" charset="2"/>
              </a:rPr>
              <a:t> </a:t>
            </a:r>
            <a:r>
              <a:rPr lang="en-US" altLang="zh-CN" sz="1600" i="1" dirty="0">
                <a:solidFill>
                  <a:srgbClr val="00B050"/>
                </a:solidFill>
                <a:latin typeface="Times New Roman" panose="02020603050405020304" pitchFamily="18" charset="0"/>
                <a:ea typeface="宋体" panose="02010600030101010101" pitchFamily="2" charset="-122"/>
                <a:sym typeface="Wingdings" panose="05000000000000000000" pitchFamily="2" charset="2"/>
              </a:rPr>
              <a:t>                            kMP</a:t>
            </a:r>
            <a:r>
              <a:rPr lang="en-US" altLang="zh-CN" sz="1600" baseline="-25000" dirty="0">
                <a:solidFill>
                  <a:srgbClr val="00B050"/>
                </a:solidFill>
                <a:latin typeface="Times New Roman" panose="02020603050405020304" pitchFamily="18" charset="0"/>
                <a:ea typeface="宋体" panose="02010600030101010101" pitchFamily="2" charset="-122"/>
                <a:sym typeface="Wingdings" panose="05000000000000000000" pitchFamily="2" charset="2"/>
              </a:rPr>
              <a:t>2</a:t>
            </a:r>
            <a:r>
              <a:rPr lang="en-US" altLang="zh-CN" sz="1600" dirty="0">
                <a:latin typeface="Times New Roman" panose="02020603050405020304" pitchFamily="18" charset="0"/>
                <a:ea typeface="宋体" panose="02010600030101010101" pitchFamily="2" charset="-122"/>
                <a:sym typeface="Wingdings" panose="05000000000000000000" pitchFamily="2" charset="2"/>
              </a:rPr>
              <a:t> </a:t>
            </a:r>
            <a:r>
              <a:rPr lang="en-US" altLang="zh-CN" sz="1600" dirty="0">
                <a:solidFill>
                  <a:srgbClr val="00B050"/>
                </a:solidFill>
                <a:latin typeface="Times New Roman" panose="02020603050405020304" pitchFamily="18" charset="0"/>
                <a:ea typeface="宋体" panose="02010600030101010101" pitchFamily="2" charset="-122"/>
              </a:rPr>
              <a:t>                     </a:t>
            </a:r>
            <a:r>
              <a:rPr lang="en-US" altLang="zh-CN" sz="1600" i="1" dirty="0">
                <a:solidFill>
                  <a:srgbClr val="FF0000"/>
                </a:solidFill>
                <a:latin typeface="Times New Roman" panose="02020603050405020304" pitchFamily="18" charset="0"/>
                <a:ea typeface="宋体" panose="02010600030101010101" pitchFamily="2" charset="-122"/>
                <a:sym typeface="Wingdings" panose="05000000000000000000" pitchFamily="2" charset="2"/>
              </a:rPr>
              <a:t>kMP</a:t>
            </a:r>
            <a:r>
              <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rPr>
              <a:t>3</a:t>
            </a:r>
            <a:endParaRPr lang="en-US" altLang="zh-CN" sz="1600" baseline="-25000" dirty="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7588" name="矩形 28"/>
          <p:cNvSpPr/>
          <p:nvPr/>
        </p:nvSpPr>
        <p:spPr>
          <a:xfrm>
            <a:off x="490855" y="2727325"/>
            <a:ext cx="2015490"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作曲模板</a:t>
            </a:r>
            <a:endParaRPr lang="zh-CN" altLang="en-US" sz="2000" i="1" dirty="0">
              <a:latin typeface="Times New Roman" panose="02020603050405020304" pitchFamily="18" charset="0"/>
              <a:ea typeface="宋体" panose="02010600030101010101" pitchFamily="2" charset="-122"/>
            </a:endParaRPr>
          </a:p>
        </p:txBody>
      </p:sp>
      <p:sp>
        <p:nvSpPr>
          <p:cNvPr id="67586" name="矩形 41"/>
          <p:cNvSpPr/>
          <p:nvPr/>
        </p:nvSpPr>
        <p:spPr>
          <a:xfrm>
            <a:off x="3662680" y="2800350"/>
            <a:ext cx="5422900" cy="368300"/>
          </a:xfrm>
          <a:prstGeom prst="rect">
            <a:avLst/>
          </a:prstGeom>
          <a:noFill/>
          <a:ln w="9525">
            <a:noFill/>
          </a:ln>
        </p:spPr>
        <p:txBody>
          <a:bodyPr wrap="square" anchor="t">
            <a:spAutoFit/>
          </a:bodyPr>
          <a:p>
            <a:pPr eaLnBrk="0" hangingPunct="0"/>
            <a:r>
              <a:rPr lang="en-US" altLang="zh-CN" sz="1800" dirty="0">
                <a:latin typeface="Times New Roman" panose="02020603050405020304" pitchFamily="18" charset="0"/>
                <a:ea typeface="楷体_GB2312" pitchFamily="49" charset="-122"/>
              </a:rPr>
              <a:t>i) </a:t>
            </a:r>
            <a:r>
              <a:rPr lang="zh-CN" altLang="en-US" sz="1800" dirty="0">
                <a:latin typeface="Times New Roman" panose="02020603050405020304" pitchFamily="18" charset="0"/>
                <a:ea typeface="楷体_GB2312" pitchFamily="49" charset="-122"/>
              </a:rPr>
              <a:t>歌词的诗句形式</a:t>
            </a:r>
            <a:r>
              <a:rPr lang="en-US" altLang="zh-CN" sz="1800" dirty="0">
                <a:latin typeface="Times New Roman" panose="02020603050405020304" pitchFamily="18" charset="0"/>
                <a:ea typeface="楷体_GB2312" pitchFamily="49" charset="-122"/>
              </a:rPr>
              <a:t>; ii) </a:t>
            </a:r>
            <a:r>
              <a:rPr lang="zh-CN" altLang="en-US" sz="1800" dirty="0">
                <a:latin typeface="Times New Roman" panose="02020603050405020304" pitchFamily="18" charset="0"/>
                <a:ea typeface="楷体_GB2312" pitchFamily="49" charset="-122"/>
              </a:rPr>
              <a:t>情感色彩</a:t>
            </a:r>
            <a:r>
              <a:rPr lang="en-US" altLang="zh-CN" sz="1800" dirty="0">
                <a:latin typeface="Times New Roman" panose="02020603050405020304" pitchFamily="18" charset="0"/>
                <a:ea typeface="楷体_GB2312" pitchFamily="49" charset="-122"/>
              </a:rPr>
              <a:t>; iii) </a:t>
            </a:r>
            <a:r>
              <a:rPr lang="zh-CN" altLang="en-US" sz="1800" dirty="0">
                <a:latin typeface="Times New Roman" panose="02020603050405020304" pitchFamily="18" charset="0"/>
                <a:ea typeface="宋体" panose="02010600030101010101" pitchFamily="2" charset="-122"/>
              </a:rPr>
              <a:t>节拍（韵律）</a:t>
            </a:r>
            <a:endParaRPr lang="zh-CN" altLang="en-US" sz="1800" dirty="0">
              <a:latin typeface="Times New Roman" panose="02020603050405020304" pitchFamily="18" charset="0"/>
              <a:ea typeface="宋体" panose="02010600030101010101" pitchFamily="2" charset="-122"/>
            </a:endParaRPr>
          </a:p>
        </p:txBody>
      </p:sp>
      <p:sp>
        <p:nvSpPr>
          <p:cNvPr id="67620" name="矩形 41"/>
          <p:cNvSpPr/>
          <p:nvPr/>
        </p:nvSpPr>
        <p:spPr>
          <a:xfrm>
            <a:off x="6157595" y="3215005"/>
            <a:ext cx="1260475" cy="368300"/>
          </a:xfrm>
          <a:prstGeom prst="rect">
            <a:avLst/>
          </a:prstGeom>
          <a:noFill/>
          <a:ln w="9525">
            <a:noFill/>
          </a:ln>
        </p:spPr>
        <p:txBody>
          <a:bodyPr wrap="square" anchor="t">
            <a:spAutoFit/>
          </a:bodyPr>
          <a:p>
            <a:pPr eaLnBrk="0" hangingPunct="0"/>
            <a:r>
              <a:rPr lang="zh-CN" altLang="en-US" sz="1800" b="1" i="1" dirty="0">
                <a:solidFill>
                  <a:srgbClr val="FFC000"/>
                </a:solidFill>
                <a:latin typeface="Times New Roman" panose="02020603050405020304" pitchFamily="18" charset="0"/>
                <a:ea typeface="宋体" panose="02010600030101010101" pitchFamily="2" charset="-122"/>
              </a:rPr>
              <a:t>作曲模板</a:t>
            </a:r>
            <a:endParaRPr lang="zh-CN" altLang="en-US" sz="1800" b="1"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1" name="矩形 28"/>
          <p:cNvSpPr/>
          <p:nvPr/>
        </p:nvSpPr>
        <p:spPr>
          <a:xfrm>
            <a:off x="490538" y="2727325"/>
            <a:ext cx="4953000" cy="398780"/>
          </a:xfrm>
          <a:prstGeom prst="rect">
            <a:avLst/>
          </a:prstGeom>
          <a:noFill/>
          <a:ln w="9525">
            <a:noFill/>
          </a:ln>
        </p:spPr>
        <p:txBody>
          <a:bodyPr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en-GB" altLang="en-US"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a:t>
            </a:r>
            <a:r>
              <a:rPr lang="zh-CN" sz="2000" i="1" dirty="0">
                <a:latin typeface="Times New Roman" panose="02020603050405020304" pitchFamily="18" charset="0"/>
                <a:ea typeface="宋体" panose="02010600030101010101" pitchFamily="2" charset="-122"/>
              </a:rPr>
              <a:t>建立作曲模板库</a:t>
            </a:r>
            <a:endParaRPr lang="zh-CN" sz="2000" i="1" dirty="0">
              <a:latin typeface="Times New Roman" panose="02020603050405020304" pitchFamily="18" charset="0"/>
              <a:ea typeface="宋体" panose="02010600030101010101" pitchFamily="2" charset="-122"/>
            </a:endParaRPr>
          </a:p>
        </p:txBody>
      </p:sp>
      <p:sp>
        <p:nvSpPr>
          <p:cNvPr id="73732" name="矩形 43"/>
          <p:cNvSpPr/>
          <p:nvPr/>
        </p:nvSpPr>
        <p:spPr>
          <a:xfrm>
            <a:off x="662305" y="3238500"/>
            <a:ext cx="2440305" cy="1630045"/>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我们可以通过收集并转换现有的歌曲成</a:t>
            </a:r>
            <a:r>
              <a:rPr lang="zh-CN" altLang="en-US" sz="2000" dirty="0">
                <a:solidFill>
                  <a:srgbClr val="00B050"/>
                </a:solidFill>
                <a:latin typeface="Times New Roman" panose="02020603050405020304" pitchFamily="18" charset="0"/>
                <a:ea typeface="宋体" panose="02010600030101010101" pitchFamily="2" charset="-122"/>
              </a:rPr>
              <a:t>作曲模板</a:t>
            </a:r>
            <a:r>
              <a:rPr lang="zh-CN" altLang="en-US" sz="2000" dirty="0">
                <a:latin typeface="Times New Roman" panose="02020603050405020304" pitchFamily="18" charset="0"/>
                <a:ea typeface="宋体" panose="02010600030101010101" pitchFamily="2" charset="-122"/>
              </a:rPr>
              <a:t>，可以建立一个</a:t>
            </a:r>
            <a:r>
              <a:rPr lang="zh-CN" altLang="en-US" sz="2000" dirty="0">
                <a:solidFill>
                  <a:srgbClr val="00B050"/>
                </a:solidFill>
                <a:latin typeface="Times New Roman" panose="02020603050405020304" pitchFamily="18" charset="0"/>
                <a:ea typeface="宋体" panose="02010600030101010101" pitchFamily="2" charset="-122"/>
                <a:sym typeface="+mn-ea"/>
              </a:rPr>
              <a:t>作曲模板库</a:t>
            </a:r>
            <a:r>
              <a:rPr lang="zh-CN" altLang="en-US" sz="2000" dirty="0">
                <a:latin typeface="Times New Roman" panose="02020603050405020304" pitchFamily="18" charset="0"/>
                <a:ea typeface="宋体" panose="02010600030101010101" pitchFamily="2" charset="-122"/>
                <a:sym typeface="+mn-ea"/>
              </a:rPr>
              <a:t>。</a:t>
            </a:r>
            <a:endParaRPr lang="en-US" altLang="zh-CN" sz="2000" dirty="0">
              <a:latin typeface="Times New Roman" panose="02020603050405020304" pitchFamily="18" charset="0"/>
              <a:ea typeface="宋体" panose="02010600030101010101" pitchFamily="2" charset="-122"/>
            </a:endParaRPr>
          </a:p>
        </p:txBody>
      </p:sp>
      <p:pic>
        <p:nvPicPr>
          <p:cNvPr id="73733" name="图片 40"/>
          <p:cNvPicPr>
            <a:picLocks noChangeAspect="1"/>
          </p:cNvPicPr>
          <p:nvPr/>
        </p:nvPicPr>
        <p:blipFill>
          <a:blip r:embed="rId1"/>
          <a:stretch>
            <a:fillRect/>
          </a:stretch>
        </p:blipFill>
        <p:spPr>
          <a:xfrm>
            <a:off x="3281363" y="3238500"/>
            <a:ext cx="982662" cy="588963"/>
          </a:xfrm>
          <a:prstGeom prst="rect">
            <a:avLst/>
          </a:prstGeom>
          <a:noFill/>
          <a:ln w="9525">
            <a:noFill/>
          </a:ln>
        </p:spPr>
      </p:pic>
      <p:sp>
        <p:nvSpPr>
          <p:cNvPr id="73734" name="波形 9"/>
          <p:cNvSpPr/>
          <p:nvPr/>
        </p:nvSpPr>
        <p:spPr>
          <a:xfrm>
            <a:off x="5189855" y="2865120"/>
            <a:ext cx="3571875" cy="2252980"/>
          </a:xfrm>
          <a:prstGeom prst="wave">
            <a:avLst>
              <a:gd name="adj1" fmla="val 12500"/>
              <a:gd name="adj2" fmla="val 0"/>
            </a:avLst>
          </a:prstGeom>
          <a:no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3735" name="矩形 41"/>
          <p:cNvSpPr/>
          <p:nvPr/>
        </p:nvSpPr>
        <p:spPr>
          <a:xfrm>
            <a:off x="7524750" y="4471988"/>
            <a:ext cx="1362075" cy="306705"/>
          </a:xfrm>
          <a:prstGeom prst="rect">
            <a:avLst/>
          </a:prstGeom>
          <a:noFill/>
          <a:ln w="9525">
            <a:noFill/>
          </a:ln>
        </p:spPr>
        <p:txBody>
          <a:bodyPr anchor="t">
            <a:spAutoFit/>
          </a:bodyPr>
          <a:p>
            <a:pPr eaLnBrk="0" hangingPunct="0"/>
            <a:r>
              <a:rPr lang="zh-CN" altLang="en-US" sz="1400" dirty="0">
                <a:latin typeface="Times New Roman" panose="02020603050405020304" pitchFamily="18" charset="0"/>
                <a:ea typeface="楷体_GB2312" pitchFamily="49" charset="-122"/>
              </a:rPr>
              <a:t>作曲模板库</a:t>
            </a:r>
            <a:endParaRPr lang="zh-CN" altLang="en-US" sz="1400" dirty="0">
              <a:latin typeface="Times New Roman" panose="02020603050405020304" pitchFamily="18" charset="0"/>
              <a:ea typeface="楷体_GB2312" pitchFamily="49" charset="-122"/>
            </a:endParaRPr>
          </a:p>
        </p:txBody>
      </p:sp>
      <p:pic>
        <p:nvPicPr>
          <p:cNvPr id="73736" name="图片 5"/>
          <p:cNvPicPr>
            <a:picLocks noChangeAspect="1"/>
          </p:cNvPicPr>
          <p:nvPr/>
        </p:nvPicPr>
        <p:blipFill>
          <a:blip r:embed="rId2"/>
          <a:stretch>
            <a:fillRect/>
          </a:stretch>
        </p:blipFill>
        <p:spPr>
          <a:xfrm>
            <a:off x="5281613" y="3432175"/>
            <a:ext cx="2506662" cy="1027113"/>
          </a:xfrm>
          <a:prstGeom prst="rect">
            <a:avLst/>
          </a:prstGeom>
          <a:noFill/>
          <a:ln w="9525">
            <a:noFill/>
          </a:ln>
        </p:spPr>
      </p:pic>
      <p:sp>
        <p:nvSpPr>
          <p:cNvPr id="73737" name="矩形 41"/>
          <p:cNvSpPr/>
          <p:nvPr/>
        </p:nvSpPr>
        <p:spPr>
          <a:xfrm>
            <a:off x="7847013" y="4043363"/>
            <a:ext cx="388937" cy="306387"/>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楷体_GB2312" pitchFamily="49" charset="-122"/>
              </a:rPr>
              <a:t>...</a:t>
            </a:r>
            <a:endParaRPr lang="en-US" altLang="zh-CN" sz="1400" dirty="0">
              <a:latin typeface="Times New Roman" panose="02020603050405020304" pitchFamily="18" charset="0"/>
              <a:ea typeface="楷体_GB2312" pitchFamily="49" charset="-122"/>
            </a:endParaRPr>
          </a:p>
        </p:txBody>
      </p:sp>
      <p:pic>
        <p:nvPicPr>
          <p:cNvPr id="73738" name="图片 40"/>
          <p:cNvPicPr>
            <a:picLocks noChangeAspect="1"/>
          </p:cNvPicPr>
          <p:nvPr/>
        </p:nvPicPr>
        <p:blipFill>
          <a:blip r:embed="rId1"/>
          <a:stretch>
            <a:fillRect/>
          </a:stretch>
        </p:blipFill>
        <p:spPr>
          <a:xfrm>
            <a:off x="3314700" y="4092575"/>
            <a:ext cx="982663" cy="588963"/>
          </a:xfrm>
          <a:prstGeom prst="rect">
            <a:avLst/>
          </a:prstGeom>
          <a:noFill/>
          <a:ln w="9525">
            <a:noFill/>
          </a:ln>
        </p:spPr>
      </p:pic>
      <p:sp>
        <p:nvSpPr>
          <p:cNvPr id="73739" name="矩形 41"/>
          <p:cNvSpPr/>
          <p:nvPr/>
        </p:nvSpPr>
        <p:spPr>
          <a:xfrm>
            <a:off x="3597275" y="4672013"/>
            <a:ext cx="387350" cy="306387"/>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楷体_GB2312" pitchFamily="49" charset="-122"/>
              </a:rPr>
              <a:t>...</a:t>
            </a:r>
            <a:endParaRPr lang="en-US" altLang="zh-CN" sz="1400" dirty="0">
              <a:latin typeface="Times New Roman" panose="02020603050405020304" pitchFamily="18" charset="0"/>
              <a:ea typeface="楷体_GB2312" pitchFamily="49" charset="-122"/>
            </a:endParaRPr>
          </a:p>
        </p:txBody>
      </p:sp>
      <p:pic>
        <p:nvPicPr>
          <p:cNvPr id="73740" name="图片 40"/>
          <p:cNvPicPr>
            <a:picLocks noChangeAspect="1"/>
          </p:cNvPicPr>
          <p:nvPr/>
        </p:nvPicPr>
        <p:blipFill>
          <a:blip r:embed="rId1"/>
          <a:stretch>
            <a:fillRect/>
          </a:stretch>
        </p:blipFill>
        <p:spPr>
          <a:xfrm>
            <a:off x="3328988" y="5011738"/>
            <a:ext cx="982662" cy="588962"/>
          </a:xfrm>
          <a:prstGeom prst="rect">
            <a:avLst/>
          </a:prstGeom>
          <a:noFill/>
          <a:ln w="9525">
            <a:noFill/>
          </a:ln>
        </p:spPr>
      </p:pic>
      <p:sp>
        <p:nvSpPr>
          <p:cNvPr id="73741" name="虚尾箭头 44"/>
          <p:cNvSpPr/>
          <p:nvPr/>
        </p:nvSpPr>
        <p:spPr>
          <a:xfrm>
            <a:off x="4319588" y="3775075"/>
            <a:ext cx="865187" cy="792163"/>
          </a:xfrm>
          <a:custGeom>
            <a:avLst/>
            <a:gdLst/>
            <a:ahLst/>
            <a:cxnLst>
              <a:cxn ang="0">
                <a:pos x="0" y="198040"/>
              </a:cxn>
              <a:cxn ang="0">
                <a:pos x="24772" y="198040"/>
              </a:cxn>
              <a:cxn ang="0">
                <a:pos x="24772" y="594121"/>
              </a:cxn>
              <a:cxn ang="0">
                <a:pos x="0" y="594121"/>
              </a:cxn>
              <a:cxn ang="0">
                <a:pos x="49545" y="198040"/>
              </a:cxn>
              <a:cxn ang="0">
                <a:pos x="99089" y="198040"/>
              </a:cxn>
              <a:cxn ang="0">
                <a:pos x="99089" y="594121"/>
              </a:cxn>
              <a:cxn ang="0">
                <a:pos x="49545" y="594121"/>
              </a:cxn>
              <a:cxn ang="0">
                <a:pos x="123861" y="198040"/>
              </a:cxn>
              <a:cxn ang="0">
                <a:pos x="468828" y="198040"/>
              </a:cxn>
              <a:cxn ang="0">
                <a:pos x="468828" y="0"/>
              </a:cxn>
              <a:cxn ang="0">
                <a:pos x="865187" y="396081"/>
              </a:cxn>
              <a:cxn ang="0">
                <a:pos x="468828" y="792163"/>
              </a:cxn>
              <a:cxn ang="0">
                <a:pos x="468828" y="594121"/>
              </a:cxn>
              <a:cxn ang="0">
                <a:pos x="123861" y="594121"/>
              </a:cxn>
            </a:cxnLst>
            <a:pathLst>
              <a:path w="864235" h="791845">
                <a:moveTo>
                  <a:pt x="0" y="197961"/>
                </a:moveTo>
                <a:lnTo>
                  <a:pt x="24745" y="197961"/>
                </a:lnTo>
                <a:lnTo>
                  <a:pt x="24745" y="593883"/>
                </a:lnTo>
                <a:lnTo>
                  <a:pt x="0" y="593883"/>
                </a:lnTo>
                <a:lnTo>
                  <a:pt x="0" y="197961"/>
                </a:lnTo>
                <a:close/>
                <a:moveTo>
                  <a:pt x="49490" y="197961"/>
                </a:moveTo>
                <a:lnTo>
                  <a:pt x="98980" y="197961"/>
                </a:lnTo>
                <a:lnTo>
                  <a:pt x="98980" y="593883"/>
                </a:lnTo>
                <a:lnTo>
                  <a:pt x="49490" y="593883"/>
                </a:lnTo>
                <a:lnTo>
                  <a:pt x="49490" y="197961"/>
                </a:lnTo>
                <a:close/>
                <a:moveTo>
                  <a:pt x="123725" y="197961"/>
                </a:moveTo>
                <a:lnTo>
                  <a:pt x="468312" y="197961"/>
                </a:lnTo>
                <a:lnTo>
                  <a:pt x="468312" y="0"/>
                </a:lnTo>
                <a:lnTo>
                  <a:pt x="864235" y="395922"/>
                </a:lnTo>
                <a:lnTo>
                  <a:pt x="468312" y="791845"/>
                </a:lnTo>
                <a:lnTo>
                  <a:pt x="468312" y="593883"/>
                </a:lnTo>
                <a:lnTo>
                  <a:pt x="123725" y="593883"/>
                </a:lnTo>
                <a:lnTo>
                  <a:pt x="123725" y="197961"/>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5" name="流程图: 磁盘 4"/>
          <p:cNvSpPr/>
          <p:nvPr/>
        </p:nvSpPr>
        <p:spPr>
          <a:xfrm>
            <a:off x="3678238" y="6061075"/>
            <a:ext cx="16287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8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1</a:t>
            </a:r>
            <a:endParaRPr kumimoji="0" lang="zh-CN" altLang="en-US" sz="8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流程图: 磁盘 22"/>
          <p:cNvSpPr/>
          <p:nvPr/>
        </p:nvSpPr>
        <p:spPr>
          <a:xfrm>
            <a:off x="5464175" y="6069013"/>
            <a:ext cx="1608138"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800" b="0" i="1" u="none" strike="noStrike" kern="1200" cap="none" spc="0" normalizeH="0" baseline="0" noProof="0" dirty="0" err="1" smtClean="0">
                <a:ln>
                  <a:noFill/>
                </a:ln>
                <a:solidFill>
                  <a:srgbClr val="FFFFFF"/>
                </a:solidFill>
                <a:effectLst/>
                <a:uLnTx/>
                <a:uFillTx/>
                <a:latin typeface="Times New Roman" panose="02020603050405020304" pitchFamily="18" charset="0"/>
                <a:ea typeface="宋体" panose="02010600030101010101" pitchFamily="2" charset="-122"/>
                <a:cs typeface="+mn-cs"/>
              </a:rPr>
              <a:t>i</a:t>
            </a:r>
            <a:endParaRPr kumimoji="0" lang="zh-CN" alt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流程图: 磁盘 23"/>
          <p:cNvSpPr/>
          <p:nvPr/>
        </p:nvSpPr>
        <p:spPr>
          <a:xfrm>
            <a:off x="7232650" y="6061075"/>
            <a:ext cx="17049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2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kumimoji="0" lang="en-US" altLang="zh-CN" sz="500" b="0" i="1" u="none" strike="noStrike" kern="1200" cap="none" spc="0" normalizeH="0" baseline="0" noProof="0" dirty="0" err="1" smtClean="0">
                <a:ln>
                  <a:noFill/>
                </a:ln>
                <a:solidFill>
                  <a:srgbClr val="FFFFFF"/>
                </a:solidFill>
                <a:effectLst/>
                <a:uLnTx/>
                <a:uFillTx/>
                <a:latin typeface="Times New Roman" panose="02020603050405020304" pitchFamily="18" charset="0"/>
                <a:ea typeface="宋体" panose="02010600030101010101" pitchFamily="2" charset="-122"/>
                <a:cs typeface="+mn-cs"/>
              </a:rPr>
              <a:t>N</a:t>
            </a:r>
            <a:endParaRPr kumimoji="0" lang="zh-CN" altLang="en-US" sz="10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3745" name="下箭头 1"/>
          <p:cNvSpPr/>
          <p:nvPr/>
        </p:nvSpPr>
        <p:spPr>
          <a:xfrm>
            <a:off x="5834063" y="5516563"/>
            <a:ext cx="919162" cy="576262"/>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73746" name="下箭头 2"/>
          <p:cNvSpPr/>
          <p:nvPr/>
        </p:nvSpPr>
        <p:spPr>
          <a:xfrm>
            <a:off x="4198938" y="5516563"/>
            <a:ext cx="919162" cy="576262"/>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73747" name="下箭头 3"/>
          <p:cNvSpPr/>
          <p:nvPr/>
        </p:nvSpPr>
        <p:spPr>
          <a:xfrm>
            <a:off x="7616825" y="5502275"/>
            <a:ext cx="919163" cy="577850"/>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73748" name="矩形 41"/>
          <p:cNvSpPr/>
          <p:nvPr/>
        </p:nvSpPr>
        <p:spPr>
          <a:xfrm>
            <a:off x="4457700" y="5173663"/>
            <a:ext cx="4602163" cy="368300"/>
          </a:xfrm>
          <a:prstGeom prst="rect">
            <a:avLst/>
          </a:prstGeom>
          <a:noFill/>
          <a:ln w="9525">
            <a:noFill/>
          </a:ln>
        </p:spPr>
        <p:txBody>
          <a:bodyPr wrap="square" anchor="t">
            <a:spAutoFit/>
          </a:bodyPr>
          <a:p>
            <a:pPr eaLnBrk="0" hangingPunct="0"/>
            <a:r>
              <a:rPr lang="zh-CN" altLang="en-GB" sz="1800" dirty="0">
                <a:latin typeface="Times New Roman" panose="02020603050405020304" pitchFamily="18" charset="0"/>
                <a:ea typeface="楷体_GB2312" pitchFamily="49" charset="-122"/>
              </a:rPr>
              <a:t>按照节拍、情感色彩、速度以及调式分类</a:t>
            </a:r>
            <a:r>
              <a:rPr lang="en-GB" altLang="en-US" sz="1400" dirty="0">
                <a:latin typeface="Times New Roman" panose="02020603050405020304" pitchFamily="18" charset="0"/>
                <a:ea typeface="楷体_GB2312" pitchFamily="49" charset="-122"/>
              </a:rPr>
              <a:t> </a:t>
            </a:r>
            <a:endParaRPr lang="en-GB" altLang="en-US" sz="1400" dirty="0">
              <a:latin typeface="Times New Roman" panose="02020603050405020304" pitchFamily="18" charset="0"/>
              <a:ea typeface="楷体_GB2312" pitchFamily="49" charset="-122"/>
            </a:endParaRPr>
          </a:p>
        </p:txBody>
      </p:sp>
      <p:sp>
        <p:nvSpPr>
          <p:cNvPr id="73749" name="矩形 41"/>
          <p:cNvSpPr/>
          <p:nvPr/>
        </p:nvSpPr>
        <p:spPr>
          <a:xfrm>
            <a:off x="4584700" y="2430463"/>
            <a:ext cx="4602163" cy="306705"/>
          </a:xfrm>
          <a:prstGeom prst="rect">
            <a:avLst/>
          </a:prstGeom>
          <a:noFill/>
          <a:ln w="9525">
            <a:noFill/>
          </a:ln>
        </p:spPr>
        <p:txBody>
          <a:bodyPr wrap="square" anchor="t">
            <a:spAutoFit/>
          </a:bodyPr>
          <a:p>
            <a:pPr eaLnBrk="0" hangingPunct="0"/>
            <a:r>
              <a:rPr lang="zh-CN" altLang="en-GB" sz="1400" dirty="0">
                <a:latin typeface="Times New Roman" panose="02020603050405020304" pitchFamily="18" charset="0"/>
                <a:ea typeface="楷体_GB2312" pitchFamily="49" charset="-122"/>
              </a:rPr>
              <a:t>训练阶段</a:t>
            </a:r>
            <a:r>
              <a:rPr lang="en-GB" altLang="zh-CN" sz="1400" dirty="0">
                <a:latin typeface="Times New Roman" panose="02020603050405020304" pitchFamily="18" charset="0"/>
                <a:ea typeface="楷体_GB2312" pitchFamily="49" charset="-122"/>
              </a:rPr>
              <a:t>:</a:t>
            </a:r>
            <a:r>
              <a:rPr lang="en-GB" altLang="en-US" sz="1400" dirty="0">
                <a:latin typeface="Times New Roman" panose="02020603050405020304" pitchFamily="18" charset="0"/>
                <a:ea typeface="楷体_GB2312" pitchFamily="49" charset="-122"/>
              </a:rPr>
              <a:t> </a:t>
            </a:r>
            <a:endParaRPr lang="en-GB" altLang="en-US" sz="1400" dirty="0">
              <a:latin typeface="Times New Roman" panose="02020603050405020304" pitchFamily="18" charset="0"/>
              <a:ea typeface="楷体_GB2312" pitchFamily="49"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7620" name="矩形 41"/>
          <p:cNvSpPr/>
          <p:nvPr/>
        </p:nvSpPr>
        <p:spPr>
          <a:xfrm>
            <a:off x="6255385" y="3310255"/>
            <a:ext cx="977900" cy="306705"/>
          </a:xfrm>
          <a:prstGeom prst="rect">
            <a:avLst/>
          </a:prstGeom>
          <a:solidFill>
            <a:schemeClr val="accent2"/>
          </a:solidFill>
          <a:ln w="9525">
            <a:noFill/>
          </a:ln>
        </p:spPr>
        <p:txBody>
          <a:bodyPr wrap="square" anchor="t">
            <a:spAutoFit/>
          </a:bodyPr>
          <a:p>
            <a:pPr eaLnBrk="0" hangingPunct="0"/>
            <a:r>
              <a:rPr lang="zh-CN" altLang="en-US" sz="1400" b="1" i="1" dirty="0">
                <a:solidFill>
                  <a:srgbClr val="FFC000"/>
                </a:solidFill>
                <a:latin typeface="Times New Roman" panose="02020603050405020304" pitchFamily="18" charset="0"/>
                <a:ea typeface="宋体" panose="02010600030101010101" pitchFamily="2" charset="-122"/>
              </a:rPr>
              <a:t>作曲模板</a:t>
            </a:r>
            <a:endParaRPr lang="zh-CN" altLang="en-US" sz="1400" b="1"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7" name="图片 5"/>
          <p:cNvPicPr>
            <a:picLocks noChangeAspect="1"/>
          </p:cNvPicPr>
          <p:nvPr/>
        </p:nvPicPr>
        <p:blipFill>
          <a:blip r:embed="rId1"/>
          <a:stretch>
            <a:fillRect/>
          </a:stretch>
        </p:blipFill>
        <p:spPr>
          <a:xfrm>
            <a:off x="6532880" y="4436110"/>
            <a:ext cx="1981200" cy="800735"/>
          </a:xfrm>
          <a:prstGeom prst="rect">
            <a:avLst/>
          </a:prstGeom>
          <a:noFill/>
          <a:ln w="9525">
            <a:noFill/>
          </a:ln>
        </p:spPr>
      </p:pic>
      <p:sp>
        <p:nvSpPr>
          <p:cNvPr id="75780" name="矩形 28"/>
          <p:cNvSpPr/>
          <p:nvPr/>
        </p:nvSpPr>
        <p:spPr>
          <a:xfrm>
            <a:off x="490855" y="2730500"/>
            <a:ext cx="2801620"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en-GB" altLang="en-US"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为歌词配旋律</a:t>
            </a:r>
            <a:endParaRPr lang="zh-CN" altLang="en-US" sz="2000" i="1" dirty="0">
              <a:latin typeface="Times New Roman" panose="02020603050405020304" pitchFamily="18" charset="0"/>
              <a:ea typeface="宋体" panose="02010600030101010101" pitchFamily="2" charset="-122"/>
            </a:endParaRPr>
          </a:p>
        </p:txBody>
      </p:sp>
      <p:sp>
        <p:nvSpPr>
          <p:cNvPr id="75781" name="Rectangle 3"/>
          <p:cNvSpPr txBox="1"/>
          <p:nvPr/>
        </p:nvSpPr>
        <p:spPr>
          <a:xfrm>
            <a:off x="712788" y="3206750"/>
            <a:ext cx="3668712" cy="452438"/>
          </a:xfrm>
          <a:prstGeom prst="rect">
            <a:avLst/>
          </a:prstGeom>
          <a:noFill/>
          <a:ln w="9525">
            <a:noFill/>
          </a:ln>
        </p:spPr>
        <p:txBody>
          <a:bodyPr anchor="t"/>
          <a:p>
            <a:pPr>
              <a:spcBef>
                <a:spcPct val="20000"/>
              </a:spcBef>
            </a:pPr>
            <a:r>
              <a:rPr lang="en-GB" altLang="en-US" sz="1600" dirty="0">
                <a:latin typeface="Times New Roman" panose="02020603050405020304" pitchFamily="18" charset="0"/>
                <a:ea typeface="楷体_GB2312" pitchFamily="49" charset="-122"/>
              </a:rPr>
              <a:t>          </a:t>
            </a:r>
            <a:r>
              <a:rPr lang="zh-CN" altLang="zh-CN" sz="2000" dirty="0">
                <a:latin typeface="Times New Roman" panose="02020603050405020304" pitchFamily="18" charset="0"/>
                <a:ea typeface="宋体" panose="02010600030101010101" pitchFamily="2" charset="-122"/>
              </a:rPr>
              <a:t>假设 </a:t>
            </a:r>
            <a:r>
              <a:rPr lang="zh-CN" altLang="zh-CN" sz="2000" i="1" dirty="0">
                <a:latin typeface="Times New Roman" panose="02020603050405020304" pitchFamily="18" charset="0"/>
                <a:ea typeface="宋体" panose="02010600030101010101" pitchFamily="2" charset="-122"/>
              </a:rPr>
              <a:t>V</a:t>
            </a:r>
            <a:r>
              <a:rPr lang="zh-CN" altLang="zh-CN" sz="2000" baseline="-25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 </a:t>
            </a:r>
            <a:r>
              <a:rPr lang="zh-CN" altLang="zh-CN" sz="2000" i="1" dirty="0">
                <a:latin typeface="Times New Roman" panose="02020603050405020304" pitchFamily="18" charset="0"/>
                <a:ea typeface="宋体" panose="02010600030101010101" pitchFamily="2" charset="-122"/>
              </a:rPr>
              <a:t>V</a:t>
            </a:r>
            <a:r>
              <a:rPr lang="zh-CN" altLang="zh-CN" sz="2000" baseline="-25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 …, </a:t>
            </a:r>
            <a:r>
              <a:rPr lang="zh-CN" altLang="zh-CN" sz="2000" i="1" dirty="0">
                <a:latin typeface="Times New Roman" panose="02020603050405020304" pitchFamily="18" charset="0"/>
                <a:ea typeface="宋体" panose="02010600030101010101" pitchFamily="2" charset="-122"/>
              </a:rPr>
              <a:t>V</a:t>
            </a:r>
            <a:r>
              <a:rPr lang="zh-CN" altLang="zh-CN" sz="2000" i="1" baseline="-25000" dirty="0">
                <a:latin typeface="Times New Roman" panose="02020603050405020304" pitchFamily="18" charset="0"/>
                <a:ea typeface="宋体" panose="02010600030101010101" pitchFamily="2" charset="-122"/>
              </a:rPr>
              <a:t>N</a:t>
            </a:r>
            <a:r>
              <a:rPr lang="zh-CN" altLang="zh-CN" sz="2000" dirty="0">
                <a:latin typeface="Times New Roman" panose="02020603050405020304" pitchFamily="18" charset="0"/>
                <a:ea typeface="宋体" panose="02010600030101010101" pitchFamily="2" charset="-122"/>
              </a:rPr>
              <a:t> 是一诗句序列。 它是输入歌词的一种诗的形式, 其中 </a:t>
            </a:r>
            <a:r>
              <a:rPr lang="zh-CN" altLang="zh-CN" sz="2000" i="1" dirty="0">
                <a:latin typeface="Times New Roman" panose="02020603050405020304" pitchFamily="18" charset="0"/>
                <a:ea typeface="宋体" panose="02010600030101010101" pitchFamily="2" charset="-122"/>
              </a:rPr>
              <a:t>V</a:t>
            </a:r>
            <a:r>
              <a:rPr lang="zh-CN" altLang="zh-CN" sz="2000" i="1" baseline="-25000" dirty="0">
                <a:latin typeface="Times New Roman" panose="02020603050405020304" pitchFamily="18" charset="0"/>
                <a:ea typeface="宋体" panose="02010600030101010101" pitchFamily="2" charset="-122"/>
              </a:rPr>
              <a:t>i</a:t>
            </a:r>
            <a:r>
              <a:rPr lang="zh-CN" altLang="zh-CN" sz="2000" dirty="0">
                <a:latin typeface="Times New Roman" panose="02020603050405020304" pitchFamily="18" charset="0"/>
                <a:ea typeface="宋体" panose="02010600030101010101" pitchFamily="2" charset="-122"/>
              </a:rPr>
              <a:t>(</a:t>
            </a:r>
            <a:r>
              <a:rPr lang="zh-CN" altLang="zh-CN" sz="2000" i="1" dirty="0">
                <a:latin typeface="Times New Roman" panose="02020603050405020304" pitchFamily="18" charset="0"/>
                <a:ea typeface="宋体" panose="02010600030101010101" pitchFamily="2" charset="-122"/>
              </a:rPr>
              <a:t>i</a:t>
            </a:r>
            <a:r>
              <a:rPr lang="zh-CN" altLang="zh-CN" sz="2000" dirty="0">
                <a:latin typeface="Times New Roman" panose="02020603050405020304" pitchFamily="18" charset="0"/>
                <a:ea typeface="宋体" panose="02010600030101010101" pitchFamily="2" charset="-122"/>
              </a:rPr>
              <a:t>=1, …, </a:t>
            </a:r>
            <a:r>
              <a:rPr lang="zh-CN" altLang="zh-CN" sz="2000" i="1" dirty="0">
                <a:latin typeface="Times New Roman" panose="02020603050405020304" pitchFamily="18" charset="0"/>
                <a:ea typeface="宋体" panose="02010600030101010101" pitchFamily="2" charset="-122"/>
              </a:rPr>
              <a:t>N</a:t>
            </a:r>
            <a:r>
              <a:rPr lang="zh-CN" altLang="zh-CN" sz="2000" dirty="0">
                <a:latin typeface="Times New Roman" panose="02020603050405020304" pitchFamily="18" charset="0"/>
                <a:ea typeface="宋体" panose="02010600030101010101" pitchFamily="2" charset="-122"/>
              </a:rPr>
              <a:t>) 是一个诗句。 设诗句 </a:t>
            </a:r>
            <a:r>
              <a:rPr lang="zh-CN" altLang="zh-CN" sz="2000" i="1" dirty="0">
                <a:latin typeface="Times New Roman" panose="02020603050405020304" pitchFamily="18" charset="0"/>
                <a:ea typeface="宋体" panose="02010600030101010101" pitchFamily="2" charset="-122"/>
              </a:rPr>
              <a:t>V</a:t>
            </a:r>
            <a:r>
              <a:rPr lang="zh-CN" altLang="zh-CN" sz="2000" i="1" baseline="-25000" dirty="0">
                <a:latin typeface="Times New Roman" panose="02020603050405020304" pitchFamily="18" charset="0"/>
                <a:ea typeface="宋体" panose="02010600030101010101" pitchFamily="2" charset="-122"/>
              </a:rPr>
              <a:t>i</a:t>
            </a:r>
            <a:r>
              <a:rPr lang="zh-CN" altLang="zh-CN" sz="2000" i="1"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含 </a:t>
            </a:r>
            <a:r>
              <a:rPr lang="zh-CN" altLang="zh-CN" sz="2000" i="1" dirty="0">
                <a:latin typeface="Times New Roman" panose="02020603050405020304" pitchFamily="18" charset="0"/>
                <a:ea typeface="宋体" panose="02010600030101010101" pitchFamily="2" charset="-122"/>
              </a:rPr>
              <a:t>r</a:t>
            </a:r>
            <a:r>
              <a:rPr lang="zh-CN" altLang="zh-CN" sz="2000" i="1" baseline="-25000" dirty="0">
                <a:latin typeface="Times New Roman" panose="02020603050405020304" pitchFamily="18" charset="0"/>
                <a:ea typeface="宋体" panose="02010600030101010101" pitchFamily="2" charset="-122"/>
              </a:rPr>
              <a:t>i</a:t>
            </a:r>
            <a:r>
              <a:rPr lang="zh-CN" altLang="zh-CN" sz="2000" dirty="0">
                <a:latin typeface="Times New Roman" panose="02020603050405020304" pitchFamily="18" charset="0"/>
                <a:ea typeface="宋体" panose="02010600030101010101" pitchFamily="2" charset="-122"/>
              </a:rPr>
              <a:t> 个词(或音节). </a:t>
            </a:r>
            <a:r>
              <a:rPr lang="zh-CN" altLang="zh-CN" sz="2000" i="1" dirty="0">
                <a:latin typeface="Times New Roman" panose="02020603050405020304" pitchFamily="18" charset="0"/>
                <a:ea typeface="宋体" panose="02010600030101010101" pitchFamily="2" charset="-122"/>
              </a:rPr>
              <a:t>CT</a:t>
            </a:r>
            <a:r>
              <a:rPr lang="zh-CN" altLang="zh-CN" sz="2000" dirty="0">
                <a:latin typeface="Times New Roman" panose="02020603050405020304" pitchFamily="18" charset="0"/>
                <a:ea typeface="宋体" panose="02010600030101010101" pitchFamily="2" charset="-122"/>
              </a:rPr>
              <a:t>=(</a:t>
            </a:r>
            <a:r>
              <a:rPr lang="zh-CN" altLang="zh-CN" sz="2000" i="1" dirty="0">
                <a:latin typeface="Times New Roman" panose="02020603050405020304" pitchFamily="18" charset="0"/>
                <a:ea typeface="宋体" panose="02010600030101010101" pitchFamily="2" charset="-122"/>
              </a:rPr>
              <a:t>kMPSeq</a:t>
            </a:r>
            <a:r>
              <a:rPr lang="zh-CN" altLang="zh-CN" sz="2000" dirty="0">
                <a:latin typeface="Times New Roman" panose="02020603050405020304" pitchFamily="18" charset="0"/>
                <a:ea typeface="宋体" panose="02010600030101010101" pitchFamily="2" charset="-122"/>
              </a:rPr>
              <a:t>, </a:t>
            </a:r>
            <a:r>
              <a:rPr lang="zh-CN" altLang="zh-CN" sz="2000" i="1" dirty="0">
                <a:latin typeface="Times New Roman" panose="02020603050405020304" pitchFamily="18" charset="0"/>
                <a:ea typeface="宋体" panose="02010600030101010101" pitchFamily="2" charset="-122"/>
              </a:rPr>
              <a:t>RS</a:t>
            </a:r>
            <a:r>
              <a:rPr lang="zh-CN" altLang="zh-CN" sz="2000" dirty="0">
                <a:latin typeface="Times New Roman" panose="02020603050405020304" pitchFamily="18" charset="0"/>
                <a:ea typeface="宋体" panose="02010600030101010101" pitchFamily="2" charset="-122"/>
              </a:rPr>
              <a:t>) 是一个作曲模板。再</a:t>
            </a:r>
            <a:r>
              <a:rPr lang="zh-CN" altLang="en-GB" sz="2000" dirty="0">
                <a:latin typeface="Times New Roman" panose="02020603050405020304" pitchFamily="18" charset="0"/>
                <a:ea typeface="楷体_GB2312" pitchFamily="49" charset="-122"/>
              </a:rPr>
              <a:t>设</a:t>
            </a:r>
            <a:r>
              <a:rPr lang="en-GB" altLang="en-US" sz="2000" i="1" dirty="0">
                <a:latin typeface="Times New Roman" panose="02020603050405020304" pitchFamily="18" charset="0"/>
                <a:ea typeface="楷体_GB2312" pitchFamily="49" charset="-122"/>
              </a:rPr>
              <a:t>S</a:t>
            </a:r>
            <a:r>
              <a:rPr lang="en-GB" altLang="en-US" sz="2000" dirty="0">
                <a:latin typeface="Times New Roman" panose="02020603050405020304" pitchFamily="18" charset="0"/>
                <a:ea typeface="楷体_GB2312" pitchFamily="49" charset="-122"/>
              </a:rPr>
              <a:t>(</a:t>
            </a:r>
            <a:r>
              <a:rPr lang="en-GB" altLang="en-US" sz="2000" i="1" dirty="0">
                <a:latin typeface="Times New Roman" panose="02020603050405020304" pitchFamily="18" charset="0"/>
                <a:ea typeface="楷体_GB2312" pitchFamily="49" charset="-122"/>
              </a:rPr>
              <a:t>Meter</a:t>
            </a:r>
            <a:r>
              <a:rPr lang="en-GB" altLang="en-US" sz="2000" i="1" baseline="-25000" dirty="0">
                <a:latin typeface="Times New Roman" panose="02020603050405020304" pitchFamily="18" charset="0"/>
                <a:ea typeface="楷体_GB2312" pitchFamily="49" charset="-122"/>
              </a:rPr>
              <a:t>x</a:t>
            </a:r>
            <a:r>
              <a:rPr lang="en-GB" altLang="en-US" sz="2000" dirty="0">
                <a:latin typeface="Times New Roman" panose="02020603050405020304" pitchFamily="18" charset="0"/>
                <a:ea typeface="楷体_GB2312" pitchFamily="49" charset="-122"/>
              </a:rPr>
              <a:t>, </a:t>
            </a:r>
            <a:r>
              <a:rPr lang="en-GB" altLang="en-US" sz="2000" i="1" dirty="0">
                <a:latin typeface="Times New Roman" panose="02020603050405020304" pitchFamily="18" charset="0"/>
                <a:ea typeface="楷体_GB2312" pitchFamily="49" charset="-122"/>
              </a:rPr>
              <a:t>Emotion</a:t>
            </a:r>
            <a:r>
              <a:rPr lang="en-GB" altLang="en-US" sz="2000" i="1" baseline="-25000" dirty="0">
                <a:latin typeface="Times New Roman" panose="02020603050405020304" pitchFamily="18" charset="0"/>
                <a:ea typeface="楷体_GB2312" pitchFamily="49" charset="-122"/>
              </a:rPr>
              <a:t>y</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是从节拍为</a:t>
            </a:r>
            <a:r>
              <a:rPr lang="en-GB" altLang="en-US" sz="2000" i="1" dirty="0">
                <a:latin typeface="Times New Roman" panose="02020603050405020304" pitchFamily="18" charset="0"/>
                <a:ea typeface="楷体_GB2312" pitchFamily="49" charset="-122"/>
                <a:sym typeface="+mn-ea"/>
              </a:rPr>
              <a:t>Meter</a:t>
            </a:r>
            <a:r>
              <a:rPr lang="en-GB" altLang="en-US" sz="2000" i="1" baseline="-25000" dirty="0">
                <a:latin typeface="Times New Roman" panose="02020603050405020304" pitchFamily="18" charset="0"/>
                <a:ea typeface="楷体_GB2312" pitchFamily="49" charset="-122"/>
                <a:sym typeface="+mn-ea"/>
              </a:rPr>
              <a:t>x</a:t>
            </a:r>
            <a:r>
              <a:rPr lang="zh-CN" altLang="en-GB" sz="2000" dirty="0">
                <a:latin typeface="Times New Roman" panose="02020603050405020304" pitchFamily="18" charset="0"/>
                <a:ea typeface="楷体_GB2312" pitchFamily="49" charset="-122"/>
              </a:rPr>
              <a:t>，情感色彩为</a:t>
            </a:r>
            <a:r>
              <a:rPr lang="en-GB" altLang="en-US" sz="2000" i="1" dirty="0">
                <a:latin typeface="Times New Roman" panose="02020603050405020304" pitchFamily="18" charset="0"/>
                <a:ea typeface="楷体_GB2312" pitchFamily="49" charset="-122"/>
                <a:sym typeface="+mn-ea"/>
              </a:rPr>
              <a:t>Emotion</a:t>
            </a:r>
            <a:r>
              <a:rPr lang="en-GB" altLang="en-US" sz="2000" i="1" baseline="-25000" dirty="0">
                <a:latin typeface="Times New Roman" panose="02020603050405020304" pitchFamily="18" charset="0"/>
                <a:ea typeface="楷体_GB2312" pitchFamily="49" charset="-122"/>
                <a:sym typeface="+mn-ea"/>
              </a:rPr>
              <a:t>y</a:t>
            </a:r>
            <a:r>
              <a:rPr lang="zh-CN" altLang="en-GB" sz="2000" dirty="0">
                <a:latin typeface="Times New Roman" panose="02020603050405020304" pitchFamily="18" charset="0"/>
                <a:ea typeface="楷体_GB2312" pitchFamily="49" charset="-122"/>
              </a:rPr>
              <a:t>的现有歌曲中的转换来的乐汇组成的集合。</a:t>
            </a:r>
            <a:r>
              <a:rPr lang="en-GB" altLang="en-US" sz="2000" dirty="0">
                <a:latin typeface="Times New Roman" panose="02020603050405020304" pitchFamily="18" charset="0"/>
                <a:ea typeface="楷体_GB2312" pitchFamily="49" charset="-122"/>
              </a:rPr>
              <a:t>        </a:t>
            </a:r>
            <a:r>
              <a:rPr lang="en-GB" altLang="en-US" sz="1600" dirty="0">
                <a:latin typeface="Times New Roman" panose="02020603050405020304" pitchFamily="18" charset="0"/>
                <a:ea typeface="楷体_GB2312" pitchFamily="49" charset="-122"/>
              </a:rPr>
              <a:t>                     </a:t>
            </a:r>
            <a:endParaRPr lang="en-GB" altLang="en-US" sz="1600" dirty="0">
              <a:latin typeface="Times New Roman" panose="02020603050405020304" pitchFamily="18" charset="0"/>
              <a:ea typeface="楷体_GB2312" pitchFamily="49" charset="-122"/>
            </a:endParaRPr>
          </a:p>
        </p:txBody>
      </p:sp>
      <p:sp>
        <p:nvSpPr>
          <p:cNvPr id="75782" name="矩形 10"/>
          <p:cNvSpPr/>
          <p:nvPr/>
        </p:nvSpPr>
        <p:spPr>
          <a:xfrm>
            <a:off x="7097713" y="2932113"/>
            <a:ext cx="974725" cy="1168400"/>
          </a:xfrm>
          <a:prstGeom prst="rect">
            <a:avLst/>
          </a:prstGeom>
          <a:noFill/>
          <a:ln w="9525">
            <a:noFill/>
          </a:ln>
        </p:spPr>
        <p:txBody>
          <a:bodyPr anchor="t">
            <a:spAutoFit/>
          </a:bodyPr>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 X X.</a:t>
            </a:r>
            <a:endParaRPr lang="en-US" altLang="zh-CN" sz="1000" dirty="0">
              <a:latin typeface="Chiller" panose="04020404031007020602" pitchFamily="82" charset="0"/>
              <a:ea typeface="宋体" panose="02010600030101010101" pitchFamily="2" charset="-122"/>
            </a:endParaRPr>
          </a:p>
        </p:txBody>
      </p:sp>
      <p:sp>
        <p:nvSpPr>
          <p:cNvPr id="75783" name="矩形 41"/>
          <p:cNvSpPr/>
          <p:nvPr/>
        </p:nvSpPr>
        <p:spPr>
          <a:xfrm>
            <a:off x="4841875" y="2622550"/>
            <a:ext cx="1637030" cy="583565"/>
          </a:xfrm>
          <a:prstGeom prst="rect">
            <a:avLst/>
          </a:prstGeom>
          <a:noFill/>
          <a:ln w="9525">
            <a:noFill/>
          </a:ln>
        </p:spPr>
        <p:txBody>
          <a:bodyPr wrap="square" anchor="t">
            <a:spAutoFit/>
          </a:bodyPr>
          <a:p>
            <a:pPr eaLnBrk="0" hangingPunct="0"/>
            <a:r>
              <a:rPr lang="zh-CN" altLang="en-GB" sz="1600" dirty="0">
                <a:latin typeface="Times New Roman" panose="02020603050405020304" pitchFamily="18" charset="0"/>
                <a:ea typeface="楷体_GB2312" pitchFamily="49" charset="-122"/>
              </a:rPr>
              <a:t>步骤</a:t>
            </a:r>
            <a:r>
              <a:rPr lang="en-GB" altLang="en-US" sz="1600" dirty="0">
                <a:latin typeface="Times New Roman" panose="02020603050405020304" pitchFamily="18" charset="0"/>
                <a:ea typeface="楷体_GB2312" pitchFamily="49" charset="-122"/>
              </a:rPr>
              <a:t>2: </a:t>
            </a:r>
            <a:r>
              <a:rPr lang="zh-CN" altLang="en-US" sz="1600" dirty="0">
                <a:latin typeface="Times New Roman" panose="02020603050405020304" pitchFamily="18" charset="0"/>
                <a:ea typeface="楷体_GB2312" pitchFamily="49" charset="-122"/>
              </a:rPr>
              <a:t>将歌词书写成诗歌形式</a:t>
            </a:r>
            <a:endParaRPr lang="zh-CN" altLang="en-US" sz="1600" dirty="0">
              <a:latin typeface="Times New Roman" panose="02020603050405020304" pitchFamily="18" charset="0"/>
              <a:ea typeface="楷体_GB2312" pitchFamily="49" charset="-122"/>
            </a:endParaRPr>
          </a:p>
        </p:txBody>
      </p:sp>
      <p:sp>
        <p:nvSpPr>
          <p:cNvPr id="75784" name="矩形 41"/>
          <p:cNvSpPr/>
          <p:nvPr/>
        </p:nvSpPr>
        <p:spPr>
          <a:xfrm>
            <a:off x="6669405" y="2373630"/>
            <a:ext cx="2219325" cy="337185"/>
          </a:xfrm>
          <a:prstGeom prst="rect">
            <a:avLst/>
          </a:prstGeom>
          <a:noFill/>
          <a:ln w="9525">
            <a:noFill/>
          </a:ln>
        </p:spPr>
        <p:txBody>
          <a:bodyPr wrap="square" anchor="t">
            <a:spAutoFit/>
          </a:bodyPr>
          <a:p>
            <a:pPr eaLnBrk="0" hangingPunct="0"/>
            <a:r>
              <a:rPr lang="zh-CN" altLang="en-GB" sz="1600" dirty="0">
                <a:latin typeface="Times New Roman" panose="02020603050405020304" pitchFamily="18" charset="0"/>
                <a:ea typeface="楷体_GB2312" pitchFamily="49" charset="-122"/>
              </a:rPr>
              <a:t>步骤</a:t>
            </a:r>
            <a:r>
              <a:rPr lang="en-GB" altLang="en-US" sz="1600" dirty="0">
                <a:latin typeface="Times New Roman" panose="02020603050405020304" pitchFamily="18" charset="0"/>
                <a:ea typeface="楷体_GB2312" pitchFamily="49" charset="-122"/>
              </a:rPr>
              <a:t>1:</a:t>
            </a:r>
            <a:r>
              <a:rPr lang="zh-CN" altLang="en-US" sz="1600" dirty="0">
                <a:latin typeface="Times New Roman" panose="02020603050405020304" pitchFamily="18" charset="0"/>
                <a:ea typeface="楷体_GB2312" pitchFamily="49" charset="-122"/>
              </a:rPr>
              <a:t>将歌词输入系统</a:t>
            </a:r>
            <a:endParaRPr lang="zh-CN" altLang="en-US" sz="1600" dirty="0">
              <a:latin typeface="Times New Roman" panose="02020603050405020304" pitchFamily="18" charset="0"/>
              <a:ea typeface="楷体_GB2312" pitchFamily="49" charset="-122"/>
            </a:endParaRPr>
          </a:p>
        </p:txBody>
      </p:sp>
      <p:cxnSp>
        <p:nvCxnSpPr>
          <p:cNvPr id="75785" name="直接箭头连接符 8"/>
          <p:cNvCxnSpPr/>
          <p:nvPr/>
        </p:nvCxnSpPr>
        <p:spPr>
          <a:xfrm flipH="1">
            <a:off x="6391275" y="2547938"/>
            <a:ext cx="277813" cy="233362"/>
          </a:xfrm>
          <a:prstGeom prst="straightConnector1">
            <a:avLst/>
          </a:prstGeom>
          <a:ln w="38100" cap="flat" cmpd="sng">
            <a:solidFill>
              <a:schemeClr val="tx1"/>
            </a:solidFill>
            <a:prstDash val="solid"/>
            <a:round/>
            <a:headEnd type="none" w="med" len="med"/>
            <a:tailEnd type="arrow" w="med" len="med"/>
          </a:ln>
        </p:spPr>
      </p:cxnSp>
      <p:sp>
        <p:nvSpPr>
          <p:cNvPr id="75786" name="波形 9"/>
          <p:cNvSpPr/>
          <p:nvPr/>
        </p:nvSpPr>
        <p:spPr>
          <a:xfrm>
            <a:off x="4812030" y="5124450"/>
            <a:ext cx="2880995" cy="1363345"/>
          </a:xfrm>
          <a:prstGeom prst="wave">
            <a:avLst>
              <a:gd name="adj1" fmla="val 12500"/>
              <a:gd name="adj2" fmla="val 0"/>
            </a:avLst>
          </a:prstGeom>
          <a:no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5787" name="矩形 41"/>
          <p:cNvSpPr/>
          <p:nvPr/>
        </p:nvSpPr>
        <p:spPr>
          <a:xfrm>
            <a:off x="4811713" y="3425825"/>
            <a:ext cx="1573212" cy="1322070"/>
          </a:xfrm>
          <a:prstGeom prst="rect">
            <a:avLst/>
          </a:prstGeom>
          <a:noFill/>
          <a:ln w="9525">
            <a:noFill/>
          </a:ln>
        </p:spPr>
        <p:txBody>
          <a:bodyPr anchor="t">
            <a:spAutoFit/>
          </a:bodyPr>
          <a:p>
            <a:pPr eaLnBrk="0" hangingPunct="0"/>
            <a:r>
              <a:rPr lang="zh-CN" altLang="en-GB" sz="1600" dirty="0">
                <a:latin typeface="Times New Roman" panose="02020603050405020304" pitchFamily="18" charset="0"/>
                <a:ea typeface="楷体_GB2312" pitchFamily="49" charset="-122"/>
              </a:rPr>
              <a:t>步骤</a:t>
            </a:r>
            <a:r>
              <a:rPr lang="en-GB" altLang="en-US" sz="1600" dirty="0">
                <a:latin typeface="Times New Roman" panose="02020603050405020304" pitchFamily="18" charset="0"/>
                <a:ea typeface="楷体_GB2312" pitchFamily="49" charset="-122"/>
              </a:rPr>
              <a:t>3:</a:t>
            </a:r>
            <a:r>
              <a:rPr lang="zh-CN" altLang="en-US" sz="1600" dirty="0">
                <a:latin typeface="Times New Roman" panose="02020603050405020304" pitchFamily="18" charset="0"/>
                <a:ea typeface="楷体_GB2312" pitchFamily="49" charset="-122"/>
              </a:rPr>
              <a:t>在作曲模板数据库中搜索并选择能匹配输入歌词的歌曲模板</a:t>
            </a:r>
            <a:r>
              <a:rPr lang="en-US" altLang="zh-CN" sz="1600" dirty="0">
                <a:latin typeface="Times New Roman" panose="02020603050405020304" pitchFamily="18" charset="0"/>
                <a:ea typeface="楷体_GB2312" pitchFamily="49" charset="-122"/>
              </a:rPr>
              <a:t> </a:t>
            </a:r>
            <a:r>
              <a:rPr lang="en-US" altLang="zh-CN" sz="1600" i="1" dirty="0">
                <a:latin typeface="Times New Roman" panose="02020603050405020304" pitchFamily="18" charset="0"/>
                <a:ea typeface="楷体_GB2312" pitchFamily="49" charset="-122"/>
              </a:rPr>
              <a:t>CT</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75788" name="矩形 41"/>
          <p:cNvSpPr/>
          <p:nvPr/>
        </p:nvSpPr>
        <p:spPr>
          <a:xfrm>
            <a:off x="6578600" y="5756275"/>
            <a:ext cx="996950" cy="521970"/>
          </a:xfrm>
          <a:prstGeom prst="rect">
            <a:avLst/>
          </a:prstGeom>
          <a:noFill/>
          <a:ln w="9525">
            <a:noFill/>
          </a:ln>
        </p:spPr>
        <p:txBody>
          <a:bodyPr wrap="square" anchor="t">
            <a:spAutoFit/>
          </a:bodyPr>
          <a:p>
            <a:pPr eaLnBrk="0" hangingPunct="0"/>
            <a:r>
              <a:rPr lang="zh-CN" altLang="en-US" sz="1400" dirty="0">
                <a:latin typeface="Times New Roman" panose="02020603050405020304" pitchFamily="18" charset="0"/>
                <a:ea typeface="楷体_GB2312" pitchFamily="49" charset="-122"/>
              </a:rPr>
              <a:t>作曲模板数据库</a:t>
            </a:r>
            <a:endParaRPr lang="zh-CN" altLang="en-US" sz="1400" dirty="0">
              <a:latin typeface="Times New Roman" panose="02020603050405020304" pitchFamily="18" charset="0"/>
              <a:ea typeface="楷体_GB2312" pitchFamily="49" charset="-122"/>
            </a:endParaRPr>
          </a:p>
        </p:txBody>
      </p:sp>
      <p:cxnSp>
        <p:nvCxnSpPr>
          <p:cNvPr id="75789" name="直接箭头连接符 31"/>
          <p:cNvCxnSpPr/>
          <p:nvPr/>
        </p:nvCxnSpPr>
        <p:spPr>
          <a:xfrm>
            <a:off x="5508625" y="3141663"/>
            <a:ext cx="0" cy="360362"/>
          </a:xfrm>
          <a:prstGeom prst="straightConnector1">
            <a:avLst/>
          </a:prstGeom>
          <a:ln w="38100" cap="flat" cmpd="sng">
            <a:solidFill>
              <a:schemeClr val="tx1"/>
            </a:solidFill>
            <a:prstDash val="solid"/>
            <a:round/>
            <a:headEnd type="none" w="med" len="med"/>
            <a:tailEnd type="arrow" w="med" len="med"/>
          </a:ln>
        </p:spPr>
      </p:cxnSp>
      <p:sp>
        <p:nvSpPr>
          <p:cNvPr id="75790" name="矩形 41"/>
          <p:cNvSpPr/>
          <p:nvPr/>
        </p:nvSpPr>
        <p:spPr>
          <a:xfrm>
            <a:off x="6854825" y="5480685"/>
            <a:ext cx="585788" cy="306388"/>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楷体_GB2312" pitchFamily="49" charset="-122"/>
              </a:rPr>
              <a:t>...</a:t>
            </a:r>
            <a:endParaRPr lang="en-US" altLang="zh-CN" sz="1400" dirty="0">
              <a:latin typeface="Times New Roman" panose="02020603050405020304" pitchFamily="18" charset="0"/>
              <a:ea typeface="楷体_GB2312" pitchFamily="49" charset="-122"/>
            </a:endParaRPr>
          </a:p>
        </p:txBody>
      </p:sp>
      <p:pic>
        <p:nvPicPr>
          <p:cNvPr id="75791" name="图片 7"/>
          <p:cNvPicPr>
            <a:picLocks noChangeAspect="1"/>
          </p:cNvPicPr>
          <p:nvPr/>
        </p:nvPicPr>
        <p:blipFill>
          <a:blip r:embed="rId2"/>
          <a:stretch>
            <a:fillRect/>
          </a:stretch>
        </p:blipFill>
        <p:spPr>
          <a:xfrm>
            <a:off x="4924425" y="5480368"/>
            <a:ext cx="1577975" cy="646112"/>
          </a:xfrm>
          <a:prstGeom prst="rect">
            <a:avLst/>
          </a:prstGeom>
          <a:noFill/>
          <a:ln w="9525">
            <a:noFill/>
          </a:ln>
        </p:spPr>
      </p:pic>
      <p:sp>
        <p:nvSpPr>
          <p:cNvPr id="75793" name="矩形 41"/>
          <p:cNvSpPr/>
          <p:nvPr/>
        </p:nvSpPr>
        <p:spPr>
          <a:xfrm>
            <a:off x="7700963" y="4056063"/>
            <a:ext cx="1138237" cy="337185"/>
          </a:xfrm>
          <a:prstGeom prst="rect">
            <a:avLst/>
          </a:prstGeom>
          <a:noFill/>
          <a:ln w="9525">
            <a:noFill/>
          </a:ln>
        </p:spPr>
        <p:txBody>
          <a:bodyPr anchor="t">
            <a:spAutoFit/>
          </a:bodyPr>
          <a:p>
            <a:pPr eaLnBrk="0" hangingPunct="0"/>
            <a:r>
              <a:rPr lang="zh-CN" sz="1600" i="1" dirty="0">
                <a:latin typeface="Times New Roman" panose="02020603050405020304" pitchFamily="18" charset="0"/>
                <a:ea typeface="楷体_GB2312" pitchFamily="49" charset="-122"/>
              </a:rPr>
              <a:t>匹配</a:t>
            </a:r>
            <a:endParaRPr lang="zh-CN" sz="1600" i="1" dirty="0">
              <a:latin typeface="Times New Roman" panose="02020603050405020304" pitchFamily="18" charset="0"/>
              <a:ea typeface="楷体_GB2312" pitchFamily="49" charset="-122"/>
            </a:endParaRPr>
          </a:p>
        </p:txBody>
      </p:sp>
      <p:sp>
        <p:nvSpPr>
          <p:cNvPr id="75794" name="下箭头 3"/>
          <p:cNvSpPr/>
          <p:nvPr/>
        </p:nvSpPr>
        <p:spPr>
          <a:xfrm flipV="1">
            <a:off x="7378700" y="4056063"/>
            <a:ext cx="288925" cy="365125"/>
          </a:xfrm>
          <a:prstGeom prst="downArrow">
            <a:avLst>
              <a:gd name="adj1" fmla="val 50000"/>
              <a:gd name="adj2" fmla="val 49935"/>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5795" name="矩形 41"/>
          <p:cNvSpPr/>
          <p:nvPr/>
        </p:nvSpPr>
        <p:spPr>
          <a:xfrm>
            <a:off x="5746750" y="4684395"/>
            <a:ext cx="831850" cy="337185"/>
          </a:xfrm>
          <a:prstGeom prst="rect">
            <a:avLst/>
          </a:prstGeom>
          <a:noFill/>
          <a:ln w="9525">
            <a:noFill/>
          </a:ln>
        </p:spPr>
        <p:txBody>
          <a:bodyPr anchor="t">
            <a:spAutoFit/>
          </a:bodyPr>
          <a:p>
            <a:pPr eaLnBrk="0" hangingPunct="0"/>
            <a:r>
              <a:rPr lang="zh-CN" altLang="en-GB" sz="1600" i="1" dirty="0">
                <a:latin typeface="Times New Roman" panose="02020603050405020304" pitchFamily="18" charset="0"/>
                <a:ea typeface="楷体_GB2312" pitchFamily="49" charset="-122"/>
              </a:rPr>
              <a:t>选择</a:t>
            </a:r>
            <a:endParaRPr lang="zh-CN" altLang="en-GB" sz="1600" i="1" dirty="0">
              <a:latin typeface="Times New Roman" panose="02020603050405020304" pitchFamily="18" charset="0"/>
              <a:ea typeface="楷体_GB2312" pitchFamily="49" charset="-122"/>
            </a:endParaRPr>
          </a:p>
        </p:txBody>
      </p:sp>
      <p:sp>
        <p:nvSpPr>
          <p:cNvPr id="75796" name="圆角右箭头 7"/>
          <p:cNvSpPr/>
          <p:nvPr/>
        </p:nvSpPr>
        <p:spPr>
          <a:xfrm>
            <a:off x="5879465" y="4994275"/>
            <a:ext cx="599440" cy="227330"/>
          </a:xfrm>
          <a:custGeom>
            <a:avLst/>
            <a:gdLst/>
            <a:ahLst/>
            <a:cxnLst>
              <a:cxn ang="0">
                <a:pos x="0" y="427038"/>
              </a:cxn>
              <a:cxn ang="0">
                <a:pos x="0" y="240209"/>
              </a:cxn>
              <a:cxn ang="0">
                <a:pos x="186870" y="53380"/>
              </a:cxn>
              <a:cxn ang="0">
                <a:pos x="504404" y="53379"/>
              </a:cxn>
              <a:cxn ang="0">
                <a:pos x="504404" y="0"/>
              </a:cxn>
              <a:cxn ang="0">
                <a:pos x="611188" y="106759"/>
              </a:cxn>
              <a:cxn ang="0">
                <a:pos x="504404" y="213519"/>
              </a:cxn>
              <a:cxn ang="0">
                <a:pos x="504404" y="160139"/>
              </a:cxn>
              <a:cxn ang="0">
                <a:pos x="186870" y="160139"/>
              </a:cxn>
              <a:cxn ang="0">
                <a:pos x="106783" y="240209"/>
              </a:cxn>
              <a:cxn ang="0">
                <a:pos x="106783" y="427038"/>
              </a:cxn>
            </a:cxnLst>
            <a:pathLst>
              <a:path w="611505" h="427355">
                <a:moveTo>
                  <a:pt x="0" y="427355"/>
                </a:moveTo>
                <a:lnTo>
                  <a:pt x="0" y="240387"/>
                </a:lnTo>
                <a:cubicBezTo>
                  <a:pt x="0" y="137128"/>
                  <a:pt x="83708" y="53420"/>
                  <a:pt x="186967" y="53420"/>
                </a:cubicBezTo>
                <a:lnTo>
                  <a:pt x="504666" y="53419"/>
                </a:lnTo>
                <a:lnTo>
                  <a:pt x="504666" y="0"/>
                </a:lnTo>
                <a:lnTo>
                  <a:pt x="611505" y="106838"/>
                </a:lnTo>
                <a:lnTo>
                  <a:pt x="504666" y="213677"/>
                </a:lnTo>
                <a:lnTo>
                  <a:pt x="504666" y="160258"/>
                </a:lnTo>
                <a:lnTo>
                  <a:pt x="186967" y="160258"/>
                </a:lnTo>
                <a:cubicBezTo>
                  <a:pt x="142713" y="160258"/>
                  <a:pt x="106838" y="196133"/>
                  <a:pt x="106838" y="240387"/>
                </a:cubicBezTo>
                <a:lnTo>
                  <a:pt x="106838" y="427355"/>
                </a:lnTo>
                <a:lnTo>
                  <a:pt x="0" y="427355"/>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75797" name="下箭头 5"/>
          <p:cNvSpPr/>
          <p:nvPr/>
        </p:nvSpPr>
        <p:spPr>
          <a:xfrm>
            <a:off x="5375593" y="4731068"/>
            <a:ext cx="288925" cy="381000"/>
          </a:xfrm>
          <a:prstGeom prst="downArrow">
            <a:avLst>
              <a:gd name="adj1" fmla="val 50000"/>
              <a:gd name="adj2" fmla="val 50012"/>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5798" name="矩形 41"/>
          <p:cNvSpPr/>
          <p:nvPr/>
        </p:nvSpPr>
        <p:spPr>
          <a:xfrm>
            <a:off x="4654550" y="4739640"/>
            <a:ext cx="996950" cy="337185"/>
          </a:xfrm>
          <a:prstGeom prst="rect">
            <a:avLst/>
          </a:prstGeom>
          <a:noFill/>
          <a:ln w="9525">
            <a:noFill/>
          </a:ln>
        </p:spPr>
        <p:txBody>
          <a:bodyPr anchor="t">
            <a:spAutoFit/>
          </a:bodyPr>
          <a:p>
            <a:pPr eaLnBrk="0" hangingPunct="0"/>
            <a:r>
              <a:rPr lang="zh-CN" altLang="en-GB" sz="1600" i="1" dirty="0">
                <a:latin typeface="Times New Roman" panose="02020603050405020304" pitchFamily="18" charset="0"/>
                <a:ea typeface="楷体_GB2312" pitchFamily="49" charset="-122"/>
              </a:rPr>
              <a:t>搜索</a:t>
            </a:r>
            <a:endParaRPr lang="zh-CN" altLang="en-GB" sz="1600" i="1" dirty="0">
              <a:latin typeface="Times New Roman" panose="02020603050405020304" pitchFamily="18" charset="0"/>
              <a:ea typeface="楷体_GB2312" pitchFamily="49" charset="-122"/>
            </a:endParaRPr>
          </a:p>
        </p:txBody>
      </p:sp>
      <p:sp>
        <p:nvSpPr>
          <p:cNvPr id="75799" name="矩形 41"/>
          <p:cNvSpPr/>
          <p:nvPr/>
        </p:nvSpPr>
        <p:spPr>
          <a:xfrm>
            <a:off x="4584700" y="2071688"/>
            <a:ext cx="4602163" cy="306705"/>
          </a:xfrm>
          <a:prstGeom prst="rect">
            <a:avLst/>
          </a:prstGeom>
          <a:noFill/>
          <a:ln w="9525">
            <a:noFill/>
          </a:ln>
        </p:spPr>
        <p:txBody>
          <a:bodyPr wrap="square" anchor="t">
            <a:spAutoFit/>
          </a:bodyPr>
          <a:p>
            <a:pPr eaLnBrk="0" hangingPunct="0"/>
            <a:r>
              <a:rPr lang="zh-CN" altLang="en-GB" sz="1400" dirty="0">
                <a:latin typeface="Times New Roman" panose="02020603050405020304" pitchFamily="18" charset="0"/>
                <a:ea typeface="楷体_GB2312" pitchFamily="49" charset="-122"/>
              </a:rPr>
              <a:t>旋律创作阶段</a:t>
            </a:r>
            <a:r>
              <a:rPr lang="en-GB" altLang="zh-CN" sz="1400" dirty="0">
                <a:latin typeface="Times New Roman" panose="02020603050405020304" pitchFamily="18" charset="0"/>
                <a:ea typeface="楷体_GB2312" pitchFamily="49" charset="-122"/>
              </a:rPr>
              <a:t>:</a:t>
            </a:r>
            <a:r>
              <a:rPr lang="en-GB" altLang="en-US" sz="1400" dirty="0">
                <a:latin typeface="Times New Roman" panose="02020603050405020304" pitchFamily="18" charset="0"/>
                <a:ea typeface="楷体_GB2312" pitchFamily="49" charset="-122"/>
              </a:rPr>
              <a:t> </a:t>
            </a:r>
            <a:endParaRPr lang="en-GB" altLang="en-US" sz="1400" dirty="0">
              <a:latin typeface="Times New Roman" panose="02020603050405020304" pitchFamily="18" charset="0"/>
              <a:ea typeface="楷体_GB2312" pitchFamily="49" charset="-122"/>
            </a:endParaRPr>
          </a:p>
        </p:txBody>
      </p:sp>
      <p:sp>
        <p:nvSpPr>
          <p:cNvPr id="75800" name="虚尾箭头 2"/>
          <p:cNvSpPr/>
          <p:nvPr/>
        </p:nvSpPr>
        <p:spPr>
          <a:xfrm>
            <a:off x="6353175" y="2851150"/>
            <a:ext cx="576263" cy="504825"/>
          </a:xfrm>
          <a:custGeom>
            <a:avLst/>
            <a:gdLst/>
            <a:ahLst/>
            <a:cxnLst>
              <a:cxn ang="16200000">
                <a:pos x="323850" y="0"/>
              </a:cxn>
              <a:cxn ang="10800000">
                <a:pos x="0" y="252095"/>
              </a:cxn>
              <a:cxn ang="5400000">
                <a:pos x="323850" y="504190"/>
              </a:cxn>
              <a:cxn ang="0">
                <a:pos x="575945" y="252095"/>
              </a:cxn>
            </a:cxnLst>
            <a:pathLst>
              <a:path w="575945" h="504190">
                <a:moveTo>
                  <a:pt x="0" y="126047"/>
                </a:moveTo>
                <a:lnTo>
                  <a:pt x="15755" y="126047"/>
                </a:lnTo>
                <a:lnTo>
                  <a:pt x="15755" y="378142"/>
                </a:lnTo>
                <a:lnTo>
                  <a:pt x="0" y="378142"/>
                </a:lnTo>
                <a:close/>
                <a:moveTo>
                  <a:pt x="31511" y="126047"/>
                </a:moveTo>
                <a:lnTo>
                  <a:pt x="63023" y="126047"/>
                </a:lnTo>
                <a:lnTo>
                  <a:pt x="63023" y="378142"/>
                </a:lnTo>
                <a:lnTo>
                  <a:pt x="31511" y="378142"/>
                </a:lnTo>
                <a:close/>
                <a:moveTo>
                  <a:pt x="78779" y="126047"/>
                </a:moveTo>
                <a:lnTo>
                  <a:pt x="323850" y="126047"/>
                </a:lnTo>
                <a:lnTo>
                  <a:pt x="323850" y="0"/>
                </a:lnTo>
                <a:lnTo>
                  <a:pt x="575945" y="252095"/>
                </a:lnTo>
                <a:lnTo>
                  <a:pt x="323850" y="504190"/>
                </a:lnTo>
                <a:lnTo>
                  <a:pt x="323850" y="378142"/>
                </a:lnTo>
                <a:lnTo>
                  <a:pt x="78779" y="378142"/>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7620" name="矩形 41"/>
          <p:cNvSpPr/>
          <p:nvPr/>
        </p:nvSpPr>
        <p:spPr>
          <a:xfrm>
            <a:off x="7336155" y="4386580"/>
            <a:ext cx="943610" cy="213995"/>
          </a:xfrm>
          <a:prstGeom prst="rect">
            <a:avLst/>
          </a:prstGeom>
          <a:solidFill>
            <a:schemeClr val="accent2"/>
          </a:solidFill>
          <a:ln w="9525">
            <a:noFill/>
          </a:ln>
        </p:spPr>
        <p:txBody>
          <a:bodyPr wrap="square" anchor="t">
            <a:spAutoFit/>
          </a:bodyPr>
          <a:p>
            <a:pPr eaLnBrk="0" hangingPunct="0"/>
            <a:r>
              <a:rPr lang="zh-CN" altLang="en-US" sz="800" b="1" i="1" dirty="0">
                <a:solidFill>
                  <a:srgbClr val="FFC000"/>
                </a:solidFill>
                <a:latin typeface="Times New Roman" panose="02020603050405020304" pitchFamily="18" charset="0"/>
                <a:ea typeface="宋体" panose="02010600030101010101" pitchFamily="2" charset="-122"/>
              </a:rPr>
              <a:t>作曲模板</a:t>
            </a:r>
            <a:endParaRPr lang="zh-CN" altLang="en-US" sz="800" b="1" i="1" dirty="0">
              <a:solidFill>
                <a:srgbClr val="FFC000"/>
              </a:solidFill>
              <a:latin typeface="Times New Roman" panose="02020603050405020304" pitchFamily="18" charset="0"/>
              <a:ea typeface="宋体" panose="02010600030101010101" pitchFamily="2" charset="-122"/>
            </a:endParaRPr>
          </a:p>
        </p:txBody>
      </p:sp>
      <p:sp>
        <p:nvSpPr>
          <p:cNvPr id="2" name="矩形 41"/>
          <p:cNvSpPr/>
          <p:nvPr/>
        </p:nvSpPr>
        <p:spPr>
          <a:xfrm>
            <a:off x="5508625" y="5374640"/>
            <a:ext cx="875665" cy="213995"/>
          </a:xfrm>
          <a:prstGeom prst="rect">
            <a:avLst/>
          </a:prstGeom>
          <a:solidFill>
            <a:schemeClr val="accent2"/>
          </a:solidFill>
          <a:ln w="9525">
            <a:noFill/>
          </a:ln>
        </p:spPr>
        <p:txBody>
          <a:bodyPr wrap="square" anchor="t">
            <a:spAutoFit/>
          </a:bodyPr>
          <a:p>
            <a:pPr eaLnBrk="0" hangingPunct="0"/>
            <a:r>
              <a:rPr lang="zh-CN" altLang="en-US" sz="800" b="1" i="1" dirty="0">
                <a:solidFill>
                  <a:srgbClr val="FFC000"/>
                </a:solidFill>
                <a:latin typeface="Times New Roman" panose="02020603050405020304" pitchFamily="18" charset="0"/>
                <a:ea typeface="宋体" panose="02010600030101010101" pitchFamily="2" charset="-122"/>
              </a:rPr>
              <a:t>作曲模板</a:t>
            </a:r>
            <a:endParaRPr lang="zh-CN" altLang="en-US" sz="800" b="1" i="1" dirty="0">
              <a:solidFill>
                <a:srgbClr val="FFC000"/>
              </a:solidFill>
              <a:latin typeface="Times New Roman" panose="02020603050405020304" pitchFamily="18" charset="0"/>
              <a:ea typeface="宋体" panose="02010600030101010101" pitchFamily="2" charset="-122"/>
            </a:endParaRPr>
          </a:p>
        </p:txBody>
      </p:sp>
      <p:sp>
        <p:nvSpPr>
          <p:cNvPr id="33821" name="Rectangle 3"/>
          <p:cNvSpPr txBox="1"/>
          <p:nvPr/>
        </p:nvSpPr>
        <p:spPr>
          <a:xfrm>
            <a:off x="7853045" y="6102985"/>
            <a:ext cx="1184275" cy="445770"/>
          </a:xfrm>
          <a:prstGeom prst="rect">
            <a:avLst/>
          </a:prstGeom>
          <a:noFill/>
          <a:ln w="9525">
            <a:noFill/>
          </a:ln>
        </p:spPr>
        <p:txBody>
          <a:bodyPr anchor="t"/>
          <a:p>
            <a:pPr>
              <a:spcBef>
                <a:spcPct val="20000"/>
              </a:spcBef>
            </a:pPr>
            <a:r>
              <a:rPr lang="en-GB" altLang="en-US" sz="2000" i="1" dirty="0">
                <a:latin typeface="Times New Roman" panose="02020603050405020304" pitchFamily="18" charset="0"/>
                <a:ea typeface="楷体_GB2312" pitchFamily="49" charset="-122"/>
                <a:hlinkClick r:id="rId3" action="ppaction://hlinksldjump"/>
              </a:rPr>
              <a:t>Goback</a:t>
            </a:r>
            <a:endParaRPr lang="en-GB" altLang="en-US" sz="2000" i="1" dirty="0">
              <a:latin typeface="Times New Roman" panose="02020603050405020304" pitchFamily="18" charset="0"/>
              <a:ea typeface="楷体_GB2312" pitchFamily="49" charset="-122"/>
            </a:endParaRP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8" name="Rectangle 3"/>
          <p:cNvSpPr txBox="1"/>
          <p:nvPr/>
        </p:nvSpPr>
        <p:spPr>
          <a:xfrm>
            <a:off x="713105" y="3206750"/>
            <a:ext cx="3380105" cy="444500"/>
          </a:xfrm>
          <a:prstGeom prst="rect">
            <a:avLst/>
          </a:prstGeom>
          <a:noFill/>
          <a:ln w="9525">
            <a:noFill/>
          </a:ln>
        </p:spPr>
        <p:txBody>
          <a:bodyPr anchor="t"/>
          <a:p>
            <a:pPr>
              <a:spcBef>
                <a:spcPct val="20000"/>
              </a:spcBef>
            </a:pPr>
            <a:r>
              <a:rPr lang="en-GB" altLang="en-US" sz="16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于是，</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我们可以在集合</a:t>
            </a:r>
            <a:r>
              <a:rPr lang="en-GB" altLang="en-US" sz="2000" i="1" dirty="0">
                <a:latin typeface="Times New Roman" panose="02020603050405020304" pitchFamily="18" charset="0"/>
                <a:ea typeface="楷体_GB2312" pitchFamily="49" charset="-122"/>
                <a:sym typeface="+mn-ea"/>
              </a:rPr>
              <a:t>S</a:t>
            </a:r>
            <a:r>
              <a:rPr lang="en-GB" altLang="en-US" sz="2000" dirty="0">
                <a:latin typeface="Times New Roman" panose="02020603050405020304" pitchFamily="18" charset="0"/>
                <a:ea typeface="楷体_GB2312" pitchFamily="49" charset="-122"/>
                <a:sym typeface="+mn-ea"/>
              </a:rPr>
              <a:t>(</a:t>
            </a:r>
            <a:r>
              <a:rPr lang="en-GB" altLang="en-US" sz="2000" i="1" dirty="0">
                <a:latin typeface="Times New Roman" panose="02020603050405020304" pitchFamily="18" charset="0"/>
                <a:ea typeface="楷体_GB2312" pitchFamily="49" charset="-122"/>
                <a:sym typeface="+mn-ea"/>
              </a:rPr>
              <a:t>Meter</a:t>
            </a:r>
            <a:r>
              <a:rPr lang="en-GB" altLang="en-US" sz="2000" i="1" baseline="-25000" dirty="0">
                <a:latin typeface="Times New Roman" panose="02020603050405020304" pitchFamily="18" charset="0"/>
                <a:ea typeface="楷体_GB2312" pitchFamily="49" charset="-122"/>
                <a:sym typeface="+mn-ea"/>
              </a:rPr>
              <a:t>x</a:t>
            </a:r>
            <a:r>
              <a:rPr lang="en-GB" altLang="en-US" sz="2000" dirty="0">
                <a:latin typeface="Times New Roman" panose="02020603050405020304" pitchFamily="18" charset="0"/>
                <a:ea typeface="楷体_GB2312" pitchFamily="49" charset="-122"/>
                <a:sym typeface="+mn-ea"/>
              </a:rPr>
              <a:t>, </a:t>
            </a:r>
            <a:r>
              <a:rPr lang="en-GB" altLang="en-US" sz="2000" i="1" dirty="0">
                <a:latin typeface="Times New Roman" panose="02020603050405020304" pitchFamily="18" charset="0"/>
                <a:ea typeface="楷体_GB2312" pitchFamily="49" charset="-122"/>
                <a:sym typeface="+mn-ea"/>
              </a:rPr>
              <a:t>Emotion</a:t>
            </a:r>
            <a:r>
              <a:rPr lang="en-GB" altLang="en-US" sz="2000" i="1" baseline="-25000" dirty="0">
                <a:latin typeface="Times New Roman" panose="02020603050405020304" pitchFamily="18" charset="0"/>
                <a:ea typeface="楷体_GB2312" pitchFamily="49" charset="-122"/>
                <a:sym typeface="+mn-ea"/>
              </a:rPr>
              <a:t>y</a:t>
            </a:r>
            <a:r>
              <a:rPr lang="en-GB" altLang="en-US" sz="2000" dirty="0">
                <a:latin typeface="Times New Roman" panose="02020603050405020304" pitchFamily="18" charset="0"/>
                <a:ea typeface="楷体_GB2312" pitchFamily="49" charset="-122"/>
                <a:sym typeface="+mn-ea"/>
              </a:rPr>
              <a:t>)</a:t>
            </a:r>
            <a:r>
              <a:rPr lang="zh-CN" altLang="en-GB" sz="2000" dirty="0">
                <a:latin typeface="Times New Roman" panose="02020603050405020304" pitchFamily="18" charset="0"/>
                <a:ea typeface="楷体_GB2312" pitchFamily="49" charset="-122"/>
                <a:sym typeface="+mn-ea"/>
              </a:rPr>
              <a:t>上</a:t>
            </a:r>
            <a:r>
              <a:rPr lang="zh-CN" altLang="en-GB" sz="2000" dirty="0">
                <a:latin typeface="Times New Roman" panose="02020603050405020304" pitchFamily="18" charset="0"/>
                <a:ea typeface="楷体_GB2312" pitchFamily="49" charset="-122"/>
              </a:rPr>
              <a:t>构造一个新的乐汇结构序列：</a:t>
            </a:r>
            <a:r>
              <a:rPr lang="en-GB" altLang="en-US" sz="2000" i="1" dirty="0">
                <a:latin typeface="Times New Roman" panose="02020603050405020304" pitchFamily="18" charset="0"/>
                <a:ea typeface="楷体_GB2312" pitchFamily="49" charset="-122"/>
                <a:sym typeface="+mn-ea"/>
              </a:rPr>
              <a:t>MP</a:t>
            </a:r>
            <a:r>
              <a:rPr lang="en-GB" altLang="en-US" sz="2000" baseline="-25000" dirty="0">
                <a:latin typeface="Times New Roman" panose="02020603050405020304" pitchFamily="18" charset="0"/>
                <a:ea typeface="楷体_GB2312" pitchFamily="49" charset="-122"/>
                <a:sym typeface="+mn-ea"/>
              </a:rPr>
              <a:t>1</a:t>
            </a:r>
            <a:r>
              <a:rPr lang="en-GB" altLang="en-US" sz="2000" dirty="0">
                <a:latin typeface="Times New Roman" panose="02020603050405020304" pitchFamily="18" charset="0"/>
                <a:ea typeface="楷体_GB2312" pitchFamily="49" charset="-122"/>
                <a:sym typeface="+mn-ea"/>
              </a:rPr>
              <a:t>’(</a:t>
            </a:r>
            <a:r>
              <a:rPr lang="en-GB" altLang="en-US" sz="2000" i="1" dirty="0">
                <a:latin typeface="Times New Roman" panose="02020603050405020304" pitchFamily="18" charset="0"/>
                <a:ea typeface="楷体_GB2312" pitchFamily="49" charset="-122"/>
                <a:sym typeface="+mn-ea"/>
              </a:rPr>
              <a:t>r</a:t>
            </a:r>
            <a:r>
              <a:rPr lang="en-GB" altLang="en-US" sz="2000" baseline="-25000" dirty="0">
                <a:latin typeface="Times New Roman" panose="02020603050405020304" pitchFamily="18" charset="0"/>
                <a:ea typeface="楷体_GB2312" pitchFamily="49" charset="-122"/>
                <a:sym typeface="+mn-ea"/>
              </a:rPr>
              <a:t>1</a:t>
            </a:r>
            <a:r>
              <a:rPr lang="en-GB" altLang="en-US" sz="2000" dirty="0">
                <a:latin typeface="Times New Roman" panose="02020603050405020304" pitchFamily="18" charset="0"/>
                <a:ea typeface="楷体_GB2312" pitchFamily="49" charset="-122"/>
                <a:sym typeface="+mn-ea"/>
              </a:rPr>
              <a:t>), …, </a:t>
            </a:r>
            <a:r>
              <a:rPr lang="en-GB" altLang="en-US" sz="2000" i="1" dirty="0">
                <a:latin typeface="Times New Roman" panose="02020603050405020304" pitchFamily="18" charset="0"/>
                <a:ea typeface="楷体_GB2312" pitchFamily="49" charset="-122"/>
                <a:sym typeface="+mn-ea"/>
              </a:rPr>
              <a:t>MP</a:t>
            </a:r>
            <a:r>
              <a:rPr lang="en-GB" altLang="en-US" sz="2000" i="1" baseline="-25000" dirty="0">
                <a:latin typeface="Times New Roman" panose="02020603050405020304" pitchFamily="18" charset="0"/>
                <a:ea typeface="楷体_GB2312" pitchFamily="49" charset="-122"/>
                <a:sym typeface="+mn-ea"/>
              </a:rPr>
              <a:t>N</a:t>
            </a:r>
            <a:r>
              <a:rPr lang="en-GB" altLang="en-US" sz="2000" dirty="0">
                <a:latin typeface="Times New Roman" panose="02020603050405020304" pitchFamily="18" charset="0"/>
                <a:ea typeface="楷体_GB2312" pitchFamily="49" charset="-122"/>
                <a:sym typeface="+mn-ea"/>
              </a:rPr>
              <a:t>’(</a:t>
            </a:r>
            <a:r>
              <a:rPr lang="en-GB" altLang="en-US" sz="2000" i="1" dirty="0">
                <a:latin typeface="Times New Roman" panose="02020603050405020304" pitchFamily="18" charset="0"/>
                <a:ea typeface="楷体_GB2312" pitchFamily="49" charset="-122"/>
                <a:sym typeface="+mn-ea"/>
              </a:rPr>
              <a:t>r</a:t>
            </a:r>
            <a:r>
              <a:rPr lang="en-GB" altLang="en-US" sz="2000" i="1" baseline="-25000" dirty="0">
                <a:latin typeface="Times New Roman" panose="02020603050405020304" pitchFamily="18" charset="0"/>
                <a:ea typeface="楷体_GB2312" pitchFamily="49" charset="-122"/>
                <a:sym typeface="+mn-ea"/>
              </a:rPr>
              <a:t>N</a:t>
            </a:r>
            <a:r>
              <a:rPr lang="en-GB" altLang="en-US" sz="2000" dirty="0">
                <a:latin typeface="Times New Roman" panose="02020603050405020304" pitchFamily="18" charset="0"/>
                <a:ea typeface="楷体_GB2312" pitchFamily="49" charset="-122"/>
                <a:sym typeface="+mn-ea"/>
              </a:rPr>
              <a:t>)</a:t>
            </a:r>
            <a:r>
              <a:rPr lang="zh-CN" altLang="en-GB" sz="2000" dirty="0">
                <a:latin typeface="Times New Roman" panose="02020603050405020304" pitchFamily="18" charset="0"/>
                <a:ea typeface="楷体_GB2312" pitchFamily="49" charset="-122"/>
              </a:rPr>
              <a:t>，其中，</a:t>
            </a:r>
            <a:r>
              <a:rPr lang="en-GB" altLang="en-US" sz="2000" i="1" dirty="0">
                <a:latin typeface="Times New Roman" panose="02020603050405020304" pitchFamily="18" charset="0"/>
                <a:ea typeface="楷体_GB2312" pitchFamily="49" charset="-122"/>
              </a:rPr>
              <a:t>MP</a:t>
            </a:r>
            <a:r>
              <a:rPr lang="en-GB" altLang="en-US" sz="2000" i="1" baseline="-25000" dirty="0">
                <a:latin typeface="Times New Roman" panose="02020603050405020304" pitchFamily="18" charset="0"/>
                <a:ea typeface="楷体_GB2312" pitchFamily="49" charset="-122"/>
              </a:rPr>
              <a:t>i</a:t>
            </a:r>
            <a:r>
              <a:rPr lang="en-GB" altLang="en-US" sz="2000" dirty="0">
                <a:latin typeface="Times New Roman" panose="02020603050405020304" pitchFamily="18" charset="0"/>
                <a:ea typeface="楷体_GB2312" pitchFamily="49" charset="-122"/>
              </a:rPr>
              <a:t>’(</a:t>
            </a:r>
            <a:r>
              <a:rPr lang="en-GB" altLang="en-US" sz="2000" i="1" dirty="0">
                <a:latin typeface="Times New Roman" panose="02020603050405020304" pitchFamily="18" charset="0"/>
                <a:ea typeface="楷体_GB2312" pitchFamily="49" charset="-122"/>
              </a:rPr>
              <a:t>r</a:t>
            </a:r>
            <a:r>
              <a:rPr lang="en-GB" altLang="en-US" sz="2000" i="1" baseline="-25000" dirty="0">
                <a:latin typeface="Times New Roman" panose="02020603050405020304" pitchFamily="18" charset="0"/>
                <a:ea typeface="楷体_GB2312" pitchFamily="49" charset="-122"/>
              </a:rPr>
              <a:t>i</a:t>
            </a:r>
            <a:r>
              <a:rPr lang="en-GB" altLang="en-US" sz="2000" dirty="0">
                <a:latin typeface="Times New Roman" panose="02020603050405020304" pitchFamily="18" charset="0"/>
                <a:ea typeface="楷体_GB2312" pitchFamily="49" charset="-122"/>
              </a:rPr>
              <a:t>) (</a:t>
            </a:r>
            <a:r>
              <a:rPr lang="en-GB" altLang="en-US" sz="2000" i="1" dirty="0">
                <a:latin typeface="Times New Roman" panose="02020603050405020304" pitchFamily="18" charset="0"/>
                <a:ea typeface="楷体_GB2312" pitchFamily="49" charset="-122"/>
              </a:rPr>
              <a:t>i</a:t>
            </a:r>
            <a:r>
              <a:rPr lang="en-GB" altLang="en-US" sz="2000" dirty="0">
                <a:latin typeface="Times New Roman" panose="02020603050405020304" pitchFamily="18" charset="0"/>
                <a:ea typeface="楷体_GB2312" pitchFamily="49" charset="-122"/>
              </a:rPr>
              <a:t>=1, …, </a:t>
            </a:r>
            <a:r>
              <a:rPr lang="en-GB" altLang="en-US" sz="2000" i="1" dirty="0">
                <a:latin typeface="Times New Roman" panose="02020603050405020304" pitchFamily="18" charset="0"/>
                <a:ea typeface="楷体_GB2312" pitchFamily="49" charset="-122"/>
              </a:rPr>
              <a:t>N</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是在乐汇集合</a:t>
            </a:r>
            <a:r>
              <a:rPr lang="en-GB" altLang="en-US" sz="2000" i="1" dirty="0">
                <a:latin typeface="Times New Roman" panose="02020603050405020304" pitchFamily="18" charset="0"/>
                <a:ea typeface="楷体_GB2312" pitchFamily="49" charset="-122"/>
                <a:sym typeface="+mn-ea"/>
              </a:rPr>
              <a:t>S</a:t>
            </a:r>
            <a:r>
              <a:rPr lang="en-GB" altLang="en-US" sz="2000" dirty="0">
                <a:latin typeface="Times New Roman" panose="02020603050405020304" pitchFamily="18" charset="0"/>
                <a:ea typeface="楷体_GB2312" pitchFamily="49" charset="-122"/>
                <a:sym typeface="+mn-ea"/>
              </a:rPr>
              <a:t>(</a:t>
            </a:r>
            <a:r>
              <a:rPr lang="en-GB" altLang="en-US" sz="2000" i="1" dirty="0">
                <a:latin typeface="Times New Roman" panose="02020603050405020304" pitchFamily="18" charset="0"/>
                <a:ea typeface="楷体_GB2312" pitchFamily="49" charset="-122"/>
                <a:sym typeface="+mn-ea"/>
              </a:rPr>
              <a:t>Meter</a:t>
            </a:r>
            <a:r>
              <a:rPr lang="en-GB" altLang="en-US" sz="2000" i="1" baseline="-25000" dirty="0">
                <a:latin typeface="Times New Roman" panose="02020603050405020304" pitchFamily="18" charset="0"/>
                <a:ea typeface="楷体_GB2312" pitchFamily="49" charset="-122"/>
                <a:sym typeface="+mn-ea"/>
              </a:rPr>
              <a:t>x</a:t>
            </a:r>
            <a:r>
              <a:rPr lang="en-GB" altLang="en-US" sz="2000" dirty="0">
                <a:latin typeface="Times New Roman" panose="02020603050405020304" pitchFamily="18" charset="0"/>
                <a:ea typeface="楷体_GB2312" pitchFamily="49" charset="-122"/>
                <a:sym typeface="+mn-ea"/>
              </a:rPr>
              <a:t>, </a:t>
            </a:r>
            <a:r>
              <a:rPr lang="en-GB" altLang="en-US" sz="2000" i="1" dirty="0">
                <a:latin typeface="Times New Roman" panose="02020603050405020304" pitchFamily="18" charset="0"/>
                <a:ea typeface="楷体_GB2312" pitchFamily="49" charset="-122"/>
                <a:sym typeface="+mn-ea"/>
              </a:rPr>
              <a:t>Emotion</a:t>
            </a:r>
            <a:r>
              <a:rPr lang="en-GB" altLang="en-US" sz="2000" i="1" baseline="-25000" dirty="0">
                <a:latin typeface="Times New Roman" panose="02020603050405020304" pitchFamily="18" charset="0"/>
                <a:ea typeface="楷体_GB2312" pitchFamily="49" charset="-122"/>
                <a:sym typeface="+mn-ea"/>
              </a:rPr>
              <a:t>y</a:t>
            </a:r>
            <a:r>
              <a:rPr lang="en-GB" altLang="en-US" sz="2000" dirty="0">
                <a:latin typeface="Times New Roman" panose="02020603050405020304" pitchFamily="18" charset="0"/>
                <a:ea typeface="楷体_GB2312" pitchFamily="49" charset="-122"/>
                <a:sym typeface="+mn-ea"/>
              </a:rPr>
              <a:t>)</a:t>
            </a:r>
            <a:r>
              <a:rPr lang="zh-CN" altLang="en-GB" sz="2000" dirty="0">
                <a:latin typeface="Times New Roman" panose="02020603050405020304" pitchFamily="18" charset="0"/>
                <a:ea typeface="楷体_GB2312" pitchFamily="49" charset="-122"/>
                <a:sym typeface="+mn-ea"/>
              </a:rPr>
              <a:t>上</a:t>
            </a:r>
            <a:r>
              <a:rPr lang="zh-CN" altLang="en-GB" sz="2000" dirty="0">
                <a:latin typeface="Times New Roman" panose="02020603050405020304" pitchFamily="18" charset="0"/>
                <a:ea typeface="楷体_GB2312" pitchFamily="49" charset="-122"/>
                <a:sym typeface="+mn-ea"/>
              </a:rPr>
              <a:t>挑选出二</a:t>
            </a:r>
            <a:r>
              <a:rPr lang="zh-CN" altLang="en-US" sz="2000" dirty="0">
                <a:latin typeface="Times New Roman" panose="02020603050405020304" pitchFamily="18" charset="0"/>
                <a:ea typeface="楷体_GB2312" pitchFamily="49" charset="-122"/>
                <a:sym typeface="+mn-ea"/>
              </a:rPr>
              <a:t>个乐汇按如前所述的新乐汇构造法构造的新乐汇。</a:t>
            </a:r>
            <a:r>
              <a:rPr lang="en-GB" altLang="en-US" sz="20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r>
              <a:rPr lang="en-GB" altLang="en-US" sz="1600" dirty="0">
                <a:latin typeface="Times New Roman" panose="02020603050405020304" pitchFamily="18" charset="0"/>
                <a:ea typeface="楷体_GB2312" pitchFamily="49" charset="-122"/>
              </a:rPr>
              <a:t>                                </a:t>
            </a:r>
            <a:endParaRPr lang="en-GB" altLang="en-US" sz="1600" dirty="0">
              <a:latin typeface="Times New Roman" panose="02020603050405020304" pitchFamily="18" charset="0"/>
              <a:ea typeface="楷体_GB2312" pitchFamily="49" charset="-122"/>
            </a:endParaRPr>
          </a:p>
        </p:txBody>
      </p:sp>
      <p:pic>
        <p:nvPicPr>
          <p:cNvPr id="77829" name="图片 40"/>
          <p:cNvPicPr>
            <a:picLocks noChangeAspect="1"/>
          </p:cNvPicPr>
          <p:nvPr/>
        </p:nvPicPr>
        <p:blipFill>
          <a:blip r:embed="rId1"/>
          <a:stretch>
            <a:fillRect/>
          </a:stretch>
        </p:blipFill>
        <p:spPr>
          <a:xfrm>
            <a:off x="5159375" y="5194300"/>
            <a:ext cx="3521075" cy="1628775"/>
          </a:xfrm>
          <a:prstGeom prst="rect">
            <a:avLst/>
          </a:prstGeom>
          <a:noFill/>
          <a:ln w="9525">
            <a:noFill/>
          </a:ln>
        </p:spPr>
      </p:pic>
      <p:sp>
        <p:nvSpPr>
          <p:cNvPr id="77830" name="下箭头 3"/>
          <p:cNvSpPr/>
          <p:nvPr/>
        </p:nvSpPr>
        <p:spPr>
          <a:xfrm>
            <a:off x="6973888" y="4149725"/>
            <a:ext cx="287337" cy="287338"/>
          </a:xfrm>
          <a:prstGeom prst="downArrow">
            <a:avLst>
              <a:gd name="adj1" fmla="val 50000"/>
              <a:gd name="adj2" fmla="val 49939"/>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7831" name="矩形 41"/>
          <p:cNvSpPr/>
          <p:nvPr/>
        </p:nvSpPr>
        <p:spPr>
          <a:xfrm>
            <a:off x="6740525" y="2660650"/>
            <a:ext cx="409575" cy="338138"/>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33" name="流程图: 磁盘 32"/>
          <p:cNvSpPr/>
          <p:nvPr/>
        </p:nvSpPr>
        <p:spPr>
          <a:xfrm>
            <a:off x="5168900" y="2716213"/>
            <a:ext cx="16287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乐汇子集合</a:t>
            </a:r>
            <a:r>
              <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i</a:t>
            </a:r>
            <a:endPar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34" name="直接箭头连接符 33"/>
          <p:cNvCxnSpPr/>
          <p:nvPr/>
        </p:nvCxnSpPr>
        <p:spPr>
          <a:xfrm flipH="1">
            <a:off x="6515100" y="2852738"/>
            <a:ext cx="1657350" cy="7207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流程图: 磁盘 34"/>
          <p:cNvSpPr/>
          <p:nvPr/>
        </p:nvSpPr>
        <p:spPr>
          <a:xfrm>
            <a:off x="6950075" y="2398713"/>
            <a:ext cx="16287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乐汇子集合</a:t>
            </a:r>
            <a:r>
              <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j</a:t>
            </a:r>
            <a:endPar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77835" name="矩形 41"/>
          <p:cNvSpPr/>
          <p:nvPr/>
        </p:nvSpPr>
        <p:spPr>
          <a:xfrm>
            <a:off x="4857750" y="2716213"/>
            <a:ext cx="409575" cy="338137"/>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cxnSp>
        <p:nvCxnSpPr>
          <p:cNvPr id="45" name="直接箭头连接符 44"/>
          <p:cNvCxnSpPr/>
          <p:nvPr/>
        </p:nvCxnSpPr>
        <p:spPr>
          <a:xfrm flipH="1">
            <a:off x="7845425" y="2852738"/>
            <a:ext cx="327025" cy="7270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443663" y="4149725"/>
            <a:ext cx="12969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7721600" y="3960813"/>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6443663" y="3960813"/>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7840" name="矩形 41"/>
          <p:cNvSpPr/>
          <p:nvPr/>
        </p:nvSpPr>
        <p:spPr>
          <a:xfrm>
            <a:off x="5129213" y="4278313"/>
            <a:ext cx="423862" cy="336550"/>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7841" name="矩形 41"/>
          <p:cNvSpPr/>
          <p:nvPr/>
        </p:nvSpPr>
        <p:spPr>
          <a:xfrm>
            <a:off x="8340725" y="4333875"/>
            <a:ext cx="409575" cy="336550"/>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7842" name="矩形 41"/>
          <p:cNvSpPr/>
          <p:nvPr/>
        </p:nvSpPr>
        <p:spPr>
          <a:xfrm>
            <a:off x="5233988" y="2444750"/>
            <a:ext cx="1531937" cy="276225"/>
          </a:xfrm>
          <a:prstGeom prst="rect">
            <a:avLst/>
          </a:prstGeom>
          <a:noFill/>
          <a:ln w="9525">
            <a:noFill/>
          </a:ln>
        </p:spPr>
        <p:txBody>
          <a:bodyPr anchor="t">
            <a:spAutoFit/>
          </a:bodyPr>
          <a:p>
            <a:pPr eaLnBrk="0" hangingPunct="0"/>
            <a:r>
              <a:rPr lang="en-GB" altLang="en-US" sz="1200" i="1" dirty="0">
                <a:latin typeface="Times New Roman" panose="02020603050405020304" pitchFamily="18" charset="0"/>
                <a:ea typeface="楷体_GB2312" pitchFamily="49" charset="-122"/>
              </a:rPr>
              <a:t>S</a:t>
            </a:r>
            <a:r>
              <a:rPr lang="en-GB" altLang="en-US" sz="1200" dirty="0">
                <a:latin typeface="Times New Roman" panose="02020603050405020304" pitchFamily="18" charset="0"/>
                <a:ea typeface="楷体_GB2312" pitchFamily="49" charset="-122"/>
              </a:rPr>
              <a:t>(</a:t>
            </a:r>
            <a:r>
              <a:rPr lang="en-GB" altLang="en-US" sz="1200" i="1" dirty="0">
                <a:latin typeface="Times New Roman" panose="02020603050405020304" pitchFamily="18" charset="0"/>
                <a:ea typeface="楷体_GB2312" pitchFamily="49" charset="-122"/>
              </a:rPr>
              <a:t>Meter</a:t>
            </a:r>
            <a:r>
              <a:rPr lang="en-US" altLang="en-GB" sz="1200" i="1" baseline="-25000" dirty="0">
                <a:latin typeface="Times New Roman" panose="02020603050405020304" pitchFamily="18" charset="0"/>
                <a:ea typeface="楷体_GB2312" pitchFamily="49" charset="-122"/>
              </a:rPr>
              <a:t>i</a:t>
            </a:r>
            <a:r>
              <a:rPr lang="en-GB" altLang="en-US" sz="1200" dirty="0">
                <a:latin typeface="Times New Roman" panose="02020603050405020304" pitchFamily="18" charset="0"/>
                <a:ea typeface="楷体_GB2312" pitchFamily="49" charset="-122"/>
              </a:rPr>
              <a:t> </a:t>
            </a:r>
            <a:r>
              <a:rPr lang="en-GB" altLang="en-US" sz="1200" i="1" dirty="0">
                <a:latin typeface="Times New Roman" panose="02020603050405020304" pitchFamily="18" charset="0"/>
                <a:ea typeface="楷体_GB2312" pitchFamily="49" charset="-122"/>
              </a:rPr>
              <a:t>Emotion</a:t>
            </a:r>
            <a:r>
              <a:rPr lang="en-US" altLang="en-GB" sz="1200" i="1" baseline="-25000" dirty="0">
                <a:latin typeface="Times New Roman" panose="02020603050405020304" pitchFamily="18" charset="0"/>
                <a:ea typeface="楷体_GB2312" pitchFamily="49" charset="-122"/>
              </a:rPr>
              <a:t>i</a:t>
            </a:r>
            <a:r>
              <a:rPr lang="en-GB" altLang="en-US" sz="1200" dirty="0">
                <a:latin typeface="Times New Roman" panose="02020603050405020304" pitchFamily="18" charset="0"/>
                <a:ea typeface="楷体_GB2312" pitchFamily="49" charset="-122"/>
              </a:rPr>
              <a:t>)</a:t>
            </a:r>
            <a:endParaRPr lang="en-US" altLang="zh-CN" sz="1200" dirty="0">
              <a:latin typeface="Times New Roman" panose="02020603050405020304" pitchFamily="18" charset="0"/>
              <a:ea typeface="楷体_GB2312" pitchFamily="49" charset="-122"/>
            </a:endParaRPr>
          </a:p>
        </p:txBody>
      </p:sp>
      <p:sp>
        <p:nvSpPr>
          <p:cNvPr id="77843" name="矩形 41"/>
          <p:cNvSpPr/>
          <p:nvPr/>
        </p:nvSpPr>
        <p:spPr>
          <a:xfrm>
            <a:off x="7083425" y="2141538"/>
            <a:ext cx="1530350" cy="276225"/>
          </a:xfrm>
          <a:prstGeom prst="rect">
            <a:avLst/>
          </a:prstGeom>
          <a:noFill/>
          <a:ln w="9525">
            <a:noFill/>
          </a:ln>
        </p:spPr>
        <p:txBody>
          <a:bodyPr anchor="t">
            <a:spAutoFit/>
          </a:bodyPr>
          <a:p>
            <a:pPr eaLnBrk="0" hangingPunct="0"/>
            <a:r>
              <a:rPr lang="en-GB" altLang="en-US" sz="1200" i="1" dirty="0">
                <a:latin typeface="Times New Roman" panose="02020603050405020304" pitchFamily="18" charset="0"/>
                <a:ea typeface="楷体_GB2312" pitchFamily="49" charset="-122"/>
              </a:rPr>
              <a:t>S</a:t>
            </a:r>
            <a:r>
              <a:rPr lang="en-GB" altLang="en-US" sz="1200" dirty="0">
                <a:latin typeface="Times New Roman" panose="02020603050405020304" pitchFamily="18" charset="0"/>
                <a:ea typeface="楷体_GB2312" pitchFamily="49" charset="-122"/>
              </a:rPr>
              <a:t>(</a:t>
            </a:r>
            <a:r>
              <a:rPr lang="en-GB" altLang="en-US" sz="1200" i="1" dirty="0">
                <a:latin typeface="Times New Roman" panose="02020603050405020304" pitchFamily="18" charset="0"/>
                <a:ea typeface="楷体_GB2312" pitchFamily="49" charset="-122"/>
              </a:rPr>
              <a:t>Meter</a:t>
            </a:r>
            <a:r>
              <a:rPr lang="en-US" altLang="en-GB" sz="1200" i="1" baseline="-25000" dirty="0">
                <a:latin typeface="Times New Roman" panose="02020603050405020304" pitchFamily="18" charset="0"/>
                <a:ea typeface="楷体_GB2312" pitchFamily="49" charset="-122"/>
              </a:rPr>
              <a:t>j</a:t>
            </a:r>
            <a:r>
              <a:rPr lang="en-GB" altLang="en-US" sz="1200" dirty="0">
                <a:latin typeface="Times New Roman" panose="02020603050405020304" pitchFamily="18" charset="0"/>
                <a:ea typeface="楷体_GB2312" pitchFamily="49" charset="-122"/>
              </a:rPr>
              <a:t> </a:t>
            </a:r>
            <a:r>
              <a:rPr lang="en-GB" altLang="en-US" sz="1200" i="1" dirty="0">
                <a:latin typeface="Times New Roman" panose="02020603050405020304" pitchFamily="18" charset="0"/>
                <a:ea typeface="楷体_GB2312" pitchFamily="49" charset="-122"/>
              </a:rPr>
              <a:t>Emotion</a:t>
            </a:r>
            <a:r>
              <a:rPr lang="en-US" altLang="en-GB" sz="1200" i="1" baseline="-25000" dirty="0">
                <a:latin typeface="Times New Roman" panose="02020603050405020304" pitchFamily="18" charset="0"/>
                <a:ea typeface="楷体_GB2312" pitchFamily="49" charset="-122"/>
              </a:rPr>
              <a:t>j</a:t>
            </a:r>
            <a:r>
              <a:rPr lang="en-GB" altLang="en-US" sz="1200" dirty="0">
                <a:latin typeface="Times New Roman" panose="02020603050405020304" pitchFamily="18" charset="0"/>
                <a:ea typeface="楷体_GB2312" pitchFamily="49" charset="-122"/>
              </a:rPr>
              <a:t>)</a:t>
            </a:r>
            <a:endParaRPr lang="en-US" altLang="zh-CN" sz="1200" dirty="0">
              <a:latin typeface="Times New Roman" panose="02020603050405020304" pitchFamily="18" charset="0"/>
              <a:ea typeface="楷体_GB2312" pitchFamily="49" charset="-122"/>
            </a:endParaRPr>
          </a:p>
        </p:txBody>
      </p:sp>
      <p:pic>
        <p:nvPicPr>
          <p:cNvPr id="77844" name="图片 5"/>
          <p:cNvPicPr>
            <a:picLocks noChangeAspect="1"/>
          </p:cNvPicPr>
          <p:nvPr/>
        </p:nvPicPr>
        <p:blipFill>
          <a:blip r:embed="rId2"/>
          <a:stretch>
            <a:fillRect/>
          </a:stretch>
        </p:blipFill>
        <p:spPr>
          <a:xfrm>
            <a:off x="2662238" y="5638483"/>
            <a:ext cx="2454275" cy="1004887"/>
          </a:xfrm>
          <a:prstGeom prst="rect">
            <a:avLst/>
          </a:prstGeom>
          <a:noFill/>
          <a:ln w="9525">
            <a:noFill/>
          </a:ln>
        </p:spPr>
      </p:pic>
      <p:sp>
        <p:nvSpPr>
          <p:cNvPr id="77846" name="下箭头 50"/>
          <p:cNvSpPr/>
          <p:nvPr/>
        </p:nvSpPr>
        <p:spPr>
          <a:xfrm>
            <a:off x="8416925" y="4716463"/>
            <a:ext cx="258763" cy="439737"/>
          </a:xfrm>
          <a:prstGeom prst="downArrow">
            <a:avLst>
              <a:gd name="adj1" fmla="val 50000"/>
              <a:gd name="adj2" fmla="val 50076"/>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7847" name="圆角右箭头 3"/>
          <p:cNvSpPr/>
          <p:nvPr/>
        </p:nvSpPr>
        <p:spPr>
          <a:xfrm>
            <a:off x="4238625" y="4321175"/>
            <a:ext cx="885825" cy="1318260"/>
          </a:xfrm>
          <a:custGeom>
            <a:avLst/>
            <a:gdLst/>
            <a:ahLst/>
            <a:cxnLst>
              <a:cxn ang="0">
                <a:pos x="0" y="1030288"/>
              </a:cxn>
              <a:cxn ang="0">
                <a:pos x="0" y="498430"/>
              </a:cxn>
              <a:cxn ang="0">
                <a:pos x="387548" y="110762"/>
              </a:cxn>
              <a:cxn ang="0">
                <a:pos x="664368" y="110762"/>
              </a:cxn>
              <a:cxn ang="0">
                <a:pos x="664368" y="0"/>
              </a:cxn>
              <a:cxn ang="0">
                <a:pos x="885825" y="221524"/>
              </a:cxn>
              <a:cxn ang="0">
                <a:pos x="664368" y="443049"/>
              </a:cxn>
              <a:cxn ang="0">
                <a:pos x="664368" y="332287"/>
              </a:cxn>
              <a:cxn ang="0">
                <a:pos x="387548" y="332287"/>
              </a:cxn>
              <a:cxn ang="0">
                <a:pos x="221456" y="498430"/>
              </a:cxn>
              <a:cxn ang="0">
                <a:pos x="221456" y="1030288"/>
              </a:cxn>
            </a:cxnLst>
            <a:pathLst>
              <a:path w="885825" h="1029970">
                <a:moveTo>
                  <a:pt x="0" y="1029970"/>
                </a:moveTo>
                <a:lnTo>
                  <a:pt x="0" y="498276"/>
                </a:lnTo>
                <a:cubicBezTo>
                  <a:pt x="0" y="284239"/>
                  <a:pt x="173511" y="110728"/>
                  <a:pt x="387548" y="110728"/>
                </a:cubicBezTo>
                <a:lnTo>
                  <a:pt x="664368" y="110728"/>
                </a:lnTo>
                <a:lnTo>
                  <a:pt x="664368" y="0"/>
                </a:lnTo>
                <a:lnTo>
                  <a:pt x="885825" y="221456"/>
                </a:lnTo>
                <a:lnTo>
                  <a:pt x="664368" y="442912"/>
                </a:lnTo>
                <a:lnTo>
                  <a:pt x="664368" y="332184"/>
                </a:lnTo>
                <a:lnTo>
                  <a:pt x="387548" y="332184"/>
                </a:lnTo>
                <a:cubicBezTo>
                  <a:pt x="295818" y="332184"/>
                  <a:pt x="221456" y="406546"/>
                  <a:pt x="221456" y="498276"/>
                </a:cubicBezTo>
                <a:lnTo>
                  <a:pt x="221456" y="1029970"/>
                </a:lnTo>
                <a:lnTo>
                  <a:pt x="0" y="102997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77848" name="下箭头 50"/>
          <p:cNvSpPr/>
          <p:nvPr/>
        </p:nvSpPr>
        <p:spPr>
          <a:xfrm>
            <a:off x="7011988" y="4716463"/>
            <a:ext cx="258762" cy="439737"/>
          </a:xfrm>
          <a:prstGeom prst="downArrow">
            <a:avLst>
              <a:gd name="adj1" fmla="val 50000"/>
              <a:gd name="adj2" fmla="val 49935"/>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7849" name="下箭头 50"/>
          <p:cNvSpPr/>
          <p:nvPr/>
        </p:nvSpPr>
        <p:spPr>
          <a:xfrm>
            <a:off x="5205413" y="4632325"/>
            <a:ext cx="258762" cy="523875"/>
          </a:xfrm>
          <a:prstGeom prst="downArrow">
            <a:avLst>
              <a:gd name="adj1" fmla="val 50000"/>
              <a:gd name="adj2" fmla="val 50013"/>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7850" name="矩形 41"/>
          <p:cNvSpPr/>
          <p:nvPr/>
        </p:nvSpPr>
        <p:spPr>
          <a:xfrm>
            <a:off x="8324850" y="3527425"/>
            <a:ext cx="409575" cy="336550"/>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7851" name="矩形 41"/>
          <p:cNvSpPr/>
          <p:nvPr/>
        </p:nvSpPr>
        <p:spPr>
          <a:xfrm>
            <a:off x="8021638" y="3152775"/>
            <a:ext cx="409575" cy="336550"/>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7852" name="矩形 41"/>
          <p:cNvSpPr/>
          <p:nvPr/>
        </p:nvSpPr>
        <p:spPr>
          <a:xfrm>
            <a:off x="6640513" y="3135313"/>
            <a:ext cx="409575" cy="338137"/>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7853" name="矩形 41"/>
          <p:cNvSpPr/>
          <p:nvPr/>
        </p:nvSpPr>
        <p:spPr>
          <a:xfrm>
            <a:off x="5118100" y="3549650"/>
            <a:ext cx="409575" cy="336550"/>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7854" name="下箭头 3"/>
          <p:cNvSpPr/>
          <p:nvPr/>
        </p:nvSpPr>
        <p:spPr>
          <a:xfrm>
            <a:off x="8393113" y="4133850"/>
            <a:ext cx="287337" cy="287338"/>
          </a:xfrm>
          <a:prstGeom prst="downArrow">
            <a:avLst>
              <a:gd name="adj1" fmla="val 50000"/>
              <a:gd name="adj2" fmla="val 49939"/>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7855" name="下箭头 3"/>
          <p:cNvSpPr/>
          <p:nvPr/>
        </p:nvSpPr>
        <p:spPr>
          <a:xfrm>
            <a:off x="5156200" y="4097338"/>
            <a:ext cx="287338" cy="287337"/>
          </a:xfrm>
          <a:prstGeom prst="downArrow">
            <a:avLst>
              <a:gd name="adj1" fmla="val 50000"/>
              <a:gd name="adj2" fmla="val 49939"/>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pic>
        <p:nvPicPr>
          <p:cNvPr id="77856" name="图片 12"/>
          <p:cNvPicPr>
            <a:picLocks noChangeAspect="1"/>
          </p:cNvPicPr>
          <p:nvPr/>
        </p:nvPicPr>
        <p:blipFill>
          <a:blip r:embed="rId3"/>
          <a:stretch>
            <a:fillRect/>
          </a:stretch>
        </p:blipFill>
        <p:spPr>
          <a:xfrm>
            <a:off x="6884988" y="3579813"/>
            <a:ext cx="1508125" cy="292100"/>
          </a:xfrm>
          <a:prstGeom prst="rect">
            <a:avLst/>
          </a:prstGeom>
          <a:noFill/>
          <a:ln w="9525">
            <a:noFill/>
          </a:ln>
        </p:spPr>
      </p:pic>
      <p:pic>
        <p:nvPicPr>
          <p:cNvPr id="77857" name="图片 16"/>
          <p:cNvPicPr>
            <a:picLocks noChangeAspect="1"/>
          </p:cNvPicPr>
          <p:nvPr/>
        </p:nvPicPr>
        <p:blipFill>
          <a:blip r:embed="rId4"/>
          <a:stretch>
            <a:fillRect/>
          </a:stretch>
        </p:blipFill>
        <p:spPr>
          <a:xfrm>
            <a:off x="5815013" y="3579813"/>
            <a:ext cx="925512" cy="300037"/>
          </a:xfrm>
          <a:prstGeom prst="rect">
            <a:avLst/>
          </a:prstGeom>
          <a:noFill/>
          <a:ln w="9525">
            <a:noFill/>
          </a:ln>
        </p:spPr>
      </p:pic>
      <p:pic>
        <p:nvPicPr>
          <p:cNvPr id="77858" name="图片 17"/>
          <p:cNvPicPr>
            <a:picLocks noChangeAspect="1"/>
          </p:cNvPicPr>
          <p:nvPr/>
        </p:nvPicPr>
        <p:blipFill>
          <a:blip r:embed="rId5"/>
          <a:stretch>
            <a:fillRect/>
          </a:stretch>
        </p:blipFill>
        <p:spPr>
          <a:xfrm>
            <a:off x="6399213" y="4421188"/>
            <a:ext cx="1436687" cy="234950"/>
          </a:xfrm>
          <a:prstGeom prst="rect">
            <a:avLst/>
          </a:prstGeom>
          <a:noFill/>
          <a:ln w="9525">
            <a:noFill/>
          </a:ln>
        </p:spPr>
      </p:pic>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75780" name="矩形 28"/>
          <p:cNvSpPr/>
          <p:nvPr/>
        </p:nvSpPr>
        <p:spPr>
          <a:xfrm>
            <a:off x="490855" y="2730500"/>
            <a:ext cx="2801620"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en-GB" altLang="en-US"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为歌词配旋律</a:t>
            </a:r>
            <a:endParaRPr lang="zh-CN" altLang="en-US" sz="2000" i="1" dirty="0">
              <a:latin typeface="Times New Roman" panose="02020603050405020304" pitchFamily="18" charset="0"/>
              <a:ea typeface="宋体" panose="02010600030101010101" pitchFamily="2" charset="-122"/>
            </a:endParaRPr>
          </a:p>
        </p:txBody>
      </p:sp>
      <p:sp>
        <p:nvSpPr>
          <p:cNvPr id="4" name="矩形 41"/>
          <p:cNvSpPr/>
          <p:nvPr/>
        </p:nvSpPr>
        <p:spPr>
          <a:xfrm>
            <a:off x="3583940" y="5661660"/>
            <a:ext cx="1000760" cy="213995"/>
          </a:xfrm>
          <a:prstGeom prst="rect">
            <a:avLst/>
          </a:prstGeom>
          <a:solidFill>
            <a:schemeClr val="accent2"/>
          </a:solidFill>
          <a:ln w="9525">
            <a:noFill/>
          </a:ln>
        </p:spPr>
        <p:txBody>
          <a:bodyPr wrap="square" anchor="t">
            <a:spAutoFit/>
          </a:bodyPr>
          <a:p>
            <a:pPr eaLnBrk="0" hangingPunct="0"/>
            <a:r>
              <a:rPr lang="zh-CN" altLang="en-US" sz="800" b="1" i="1" dirty="0">
                <a:solidFill>
                  <a:srgbClr val="FFC000"/>
                </a:solidFill>
                <a:latin typeface="Times New Roman" panose="02020603050405020304" pitchFamily="18" charset="0"/>
                <a:ea typeface="宋体" panose="02010600030101010101" pitchFamily="2" charset="-122"/>
              </a:rPr>
              <a:t>作曲模板</a:t>
            </a:r>
            <a:endParaRPr lang="zh-CN" altLang="en-US" sz="800" b="1" i="1" dirty="0">
              <a:solidFill>
                <a:srgbClr val="FFC000"/>
              </a:solidFill>
              <a:latin typeface="Times New Roman" panose="02020603050405020304" pitchFamily="18" charset="0"/>
              <a:ea typeface="宋体" panose="02010600030101010101" pitchFamily="2" charset="-122"/>
            </a:endParaRPr>
          </a:p>
        </p:txBody>
      </p:sp>
      <p:sp>
        <p:nvSpPr>
          <p:cNvPr id="33821" name="Rectangle 3"/>
          <p:cNvSpPr txBox="1"/>
          <p:nvPr/>
        </p:nvSpPr>
        <p:spPr>
          <a:xfrm>
            <a:off x="390525" y="6102985"/>
            <a:ext cx="1085850" cy="445770"/>
          </a:xfrm>
          <a:prstGeom prst="rect">
            <a:avLst/>
          </a:prstGeom>
          <a:noFill/>
          <a:ln w="9525">
            <a:noFill/>
          </a:ln>
        </p:spPr>
        <p:txBody>
          <a:bodyPr anchor="t"/>
          <a:p>
            <a:pPr>
              <a:spcBef>
                <a:spcPct val="20000"/>
              </a:spcBef>
            </a:pPr>
            <a:r>
              <a:rPr lang="en-GB" altLang="en-US" sz="2000" i="1" dirty="0">
                <a:latin typeface="Times New Roman" panose="02020603050405020304" pitchFamily="18" charset="0"/>
                <a:ea typeface="楷体_GB2312" pitchFamily="49" charset="-122"/>
                <a:hlinkClick r:id="rId6" action="ppaction://hlinksldjump"/>
              </a:rPr>
              <a:t>Goback</a:t>
            </a:r>
            <a:endParaRPr lang="en-GB" altLang="en-US" sz="2000" i="1" dirty="0">
              <a:latin typeface="Times New Roman" panose="02020603050405020304" pitchFamily="18" charset="0"/>
              <a:ea typeface="楷体_GB2312" pitchFamily="49" charset="-122"/>
            </a:endParaRP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6" name="Rectangle 3"/>
          <p:cNvSpPr txBox="1"/>
          <p:nvPr/>
        </p:nvSpPr>
        <p:spPr>
          <a:xfrm>
            <a:off x="569913" y="3206750"/>
            <a:ext cx="3830637" cy="444500"/>
          </a:xfrm>
          <a:prstGeom prst="rect">
            <a:avLst/>
          </a:prstGeom>
          <a:noFill/>
          <a:ln w="9525">
            <a:noFill/>
          </a:ln>
        </p:spPr>
        <p:txBody>
          <a:bodyPr anchor="t"/>
          <a:p>
            <a:pPr>
              <a:spcBef>
                <a:spcPct val="20000"/>
              </a:spcBef>
            </a:pPr>
            <a:r>
              <a:rPr lang="en-GB" altLang="en-US" sz="1600" dirty="0">
                <a:latin typeface="Times New Roman" panose="02020603050405020304" pitchFamily="18" charset="0"/>
                <a:ea typeface="楷体_GB2312" pitchFamily="49" charset="-122"/>
              </a:rPr>
              <a:t>         </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这样，我们可以在新构造的乐汇序列</a:t>
            </a:r>
            <a:r>
              <a:rPr lang="en-GB" altLang="en-US" sz="2000" i="1" dirty="0">
                <a:latin typeface="Times New Roman" panose="02020603050405020304" pitchFamily="18" charset="0"/>
                <a:ea typeface="楷体_GB2312" pitchFamily="49" charset="-122"/>
                <a:sym typeface="+mn-ea"/>
              </a:rPr>
              <a:t>MP</a:t>
            </a:r>
            <a:r>
              <a:rPr lang="en-GB" altLang="en-US" sz="2000" baseline="-25000" dirty="0">
                <a:latin typeface="Times New Roman" panose="02020603050405020304" pitchFamily="18" charset="0"/>
                <a:ea typeface="楷体_GB2312" pitchFamily="49" charset="-122"/>
                <a:sym typeface="+mn-ea"/>
              </a:rPr>
              <a:t>1</a:t>
            </a:r>
            <a:r>
              <a:rPr lang="en-GB" altLang="en-US" sz="2000" dirty="0">
                <a:latin typeface="Times New Roman" panose="02020603050405020304" pitchFamily="18" charset="0"/>
                <a:ea typeface="楷体_GB2312" pitchFamily="49" charset="-122"/>
                <a:sym typeface="+mn-ea"/>
              </a:rPr>
              <a:t>’, …, </a:t>
            </a:r>
            <a:r>
              <a:rPr lang="en-GB" altLang="en-US" sz="2000" i="1" dirty="0">
                <a:latin typeface="Times New Roman" panose="02020603050405020304" pitchFamily="18" charset="0"/>
                <a:ea typeface="楷体_GB2312" pitchFamily="49" charset="-122"/>
                <a:sym typeface="+mn-ea"/>
              </a:rPr>
              <a:t>MP</a:t>
            </a:r>
            <a:r>
              <a:rPr lang="en-GB" altLang="en-US" sz="2000" i="1" baseline="-25000" dirty="0">
                <a:latin typeface="Times New Roman" panose="02020603050405020304" pitchFamily="18" charset="0"/>
                <a:ea typeface="楷体_GB2312" pitchFamily="49" charset="-122"/>
                <a:sym typeface="+mn-ea"/>
              </a:rPr>
              <a:t>N</a:t>
            </a:r>
            <a:r>
              <a:rPr lang="en-GB" altLang="en-US" sz="2000" dirty="0">
                <a:latin typeface="Times New Roman" panose="02020603050405020304" pitchFamily="18" charset="0"/>
                <a:ea typeface="楷体_GB2312" pitchFamily="49" charset="-122"/>
                <a:sym typeface="+mn-ea"/>
              </a:rPr>
              <a:t>’</a:t>
            </a:r>
            <a:r>
              <a:rPr lang="zh-CN" altLang="en-GB" sz="2000" dirty="0">
                <a:latin typeface="Times New Roman" panose="02020603050405020304" pitchFamily="18" charset="0"/>
                <a:ea typeface="楷体_GB2312" pitchFamily="49" charset="-122"/>
                <a:sym typeface="+mn-ea"/>
              </a:rPr>
              <a:t>上形成</a:t>
            </a:r>
            <a:r>
              <a:rPr lang="zh-CN" altLang="en-GB" sz="2000" dirty="0">
                <a:latin typeface="Times New Roman" panose="02020603050405020304" pitchFamily="18" charset="0"/>
                <a:ea typeface="楷体_GB2312" pitchFamily="49" charset="-122"/>
              </a:rPr>
              <a:t>一个</a:t>
            </a:r>
            <a:r>
              <a:rPr lang="zh-CN" sz="2000" dirty="0">
                <a:latin typeface="Times New Roman" panose="02020603050405020304" pitchFamily="18" charset="0"/>
                <a:ea typeface="宋体" panose="02010600030101010101" pitchFamily="2" charset="-122"/>
              </a:rPr>
              <a:t>多乐汇结构序列</a:t>
            </a:r>
            <a:r>
              <a:rPr lang="zh-CN" altLang="zh-CN" sz="2000" dirty="0">
                <a:latin typeface="Times New Roman" panose="02020603050405020304" pitchFamily="18" charset="0"/>
                <a:ea typeface="宋体" panose="02010600030101010101" pitchFamily="2" charset="-122"/>
              </a:rPr>
              <a:t> </a:t>
            </a:r>
            <a:r>
              <a:rPr lang="zh-CN" altLang="zh-CN" sz="2000" i="1" dirty="0">
                <a:latin typeface="Times New Roman" panose="02020603050405020304" pitchFamily="18" charset="0"/>
                <a:ea typeface="宋体" panose="02010600030101010101" pitchFamily="2" charset="-122"/>
              </a:rPr>
              <a:t>kMP</a:t>
            </a:r>
            <a:r>
              <a:rPr lang="zh-CN" altLang="zh-CN" sz="2000" baseline="-25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 </a:t>
            </a:r>
            <a:r>
              <a:rPr lang="zh-CN" altLang="zh-CN" sz="2000" i="1" dirty="0">
                <a:latin typeface="Times New Roman" panose="02020603050405020304" pitchFamily="18" charset="0"/>
                <a:ea typeface="宋体" panose="02010600030101010101" pitchFamily="2" charset="-122"/>
              </a:rPr>
              <a:t>kMP</a:t>
            </a:r>
            <a:r>
              <a:rPr lang="zh-CN" altLang="zh-CN" sz="2000" baseline="-25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 …, </a:t>
            </a:r>
            <a:r>
              <a:rPr lang="zh-CN" altLang="zh-CN" sz="2000" i="1" dirty="0">
                <a:latin typeface="Times New Roman" panose="02020603050405020304" pitchFamily="18" charset="0"/>
                <a:ea typeface="宋体" panose="02010600030101010101" pitchFamily="2" charset="-122"/>
              </a:rPr>
              <a:t>kMP</a:t>
            </a:r>
            <a:r>
              <a:rPr lang="zh-CN" altLang="zh-CN" sz="2000" i="1" baseline="-25000" dirty="0">
                <a:latin typeface="Times New Roman" panose="02020603050405020304" pitchFamily="18" charset="0"/>
                <a:ea typeface="宋体" panose="02010600030101010101" pitchFamily="2" charset="-122"/>
              </a:rPr>
              <a:t>M</a:t>
            </a:r>
            <a:r>
              <a:rPr lang="zh-CN" altLang="zh-CN" sz="2000" dirty="0">
                <a:latin typeface="Times New Roman" panose="02020603050405020304" pitchFamily="18" charset="0"/>
                <a:ea typeface="宋体" panose="02010600030101010101" pitchFamily="2" charset="-122"/>
              </a:rPr>
              <a:t>’</a:t>
            </a:r>
            <a:r>
              <a:rPr lang="zh-CN" altLang="en-GB" sz="2000" dirty="0">
                <a:latin typeface="Times New Roman" panose="02020603050405020304" pitchFamily="18" charset="0"/>
                <a:ea typeface="楷体_GB2312" pitchFamily="49" charset="-122"/>
              </a:rPr>
              <a:t>。乐汇序列</a:t>
            </a:r>
            <a:r>
              <a:rPr lang="en-GB" altLang="en-US" sz="2000" dirty="0">
                <a:latin typeface="Times New Roman" panose="02020603050405020304" pitchFamily="18" charset="0"/>
                <a:ea typeface="楷体_GB2312" pitchFamily="49" charset="-122"/>
              </a:rPr>
              <a:t> </a:t>
            </a:r>
            <a:r>
              <a:rPr lang="en-GB" altLang="en-US" sz="2000" i="1" dirty="0">
                <a:latin typeface="Times New Roman" panose="02020603050405020304" pitchFamily="18" charset="0"/>
                <a:ea typeface="楷体_GB2312" pitchFamily="49" charset="-122"/>
              </a:rPr>
              <a:t>MP</a:t>
            </a:r>
            <a:r>
              <a:rPr lang="en-GB" altLang="en-US" sz="2000" baseline="-25000" dirty="0">
                <a:latin typeface="Times New Roman" panose="02020603050405020304" pitchFamily="18" charset="0"/>
                <a:ea typeface="楷体_GB2312" pitchFamily="49" charset="-122"/>
              </a:rPr>
              <a:t>1</a:t>
            </a:r>
            <a:r>
              <a:rPr lang="en-GB" altLang="en-US" sz="2000" dirty="0">
                <a:latin typeface="Times New Roman" panose="02020603050405020304" pitchFamily="18" charset="0"/>
                <a:ea typeface="楷体_GB2312" pitchFamily="49" charset="-122"/>
              </a:rPr>
              <a:t>’, …, </a:t>
            </a:r>
            <a:r>
              <a:rPr lang="en-GB" altLang="en-US" sz="2000" i="1" dirty="0">
                <a:latin typeface="Times New Roman" panose="02020603050405020304" pitchFamily="18" charset="0"/>
                <a:ea typeface="楷体_GB2312" pitchFamily="49" charset="-122"/>
              </a:rPr>
              <a:t>MP</a:t>
            </a:r>
            <a:r>
              <a:rPr lang="en-GB" altLang="en-US" sz="2000" i="1" baseline="-25000" dirty="0">
                <a:latin typeface="Times New Roman" panose="02020603050405020304" pitchFamily="18" charset="0"/>
                <a:ea typeface="楷体_GB2312" pitchFamily="49" charset="-122"/>
              </a:rPr>
              <a:t>N</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称为输入歌词的一个创作，如果：</a:t>
            </a:r>
            <a:endParaRPr lang="en-GB" altLang="en-US" sz="2000" dirty="0">
              <a:latin typeface="Times New Roman" panose="02020603050405020304" pitchFamily="18" charset="0"/>
              <a:ea typeface="楷体_GB2312" pitchFamily="49" charset="-122"/>
            </a:endParaRPr>
          </a:p>
        </p:txBody>
      </p:sp>
      <p:sp>
        <p:nvSpPr>
          <p:cNvPr id="79877" name="矩形 10"/>
          <p:cNvSpPr/>
          <p:nvPr/>
        </p:nvSpPr>
        <p:spPr>
          <a:xfrm>
            <a:off x="4543425" y="3271838"/>
            <a:ext cx="1100138" cy="1168400"/>
          </a:xfrm>
          <a:prstGeom prst="rect">
            <a:avLst/>
          </a:prstGeom>
          <a:noFill/>
          <a:ln w="9525">
            <a:noFill/>
          </a:ln>
        </p:spPr>
        <p:txBody>
          <a:bodyPr anchor="t">
            <a:spAutoFit/>
          </a:bodyPr>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 X X.</a:t>
            </a:r>
            <a:endParaRPr lang="en-US" altLang="zh-CN" sz="1000" dirty="0">
              <a:latin typeface="Chiller" panose="04020404031007020602" pitchFamily="82" charset="0"/>
              <a:ea typeface="宋体" panose="02010600030101010101" pitchFamily="2" charset="-122"/>
            </a:endParaRPr>
          </a:p>
        </p:txBody>
      </p:sp>
      <p:sp>
        <p:nvSpPr>
          <p:cNvPr id="79878" name="矩形 41"/>
          <p:cNvSpPr/>
          <p:nvPr/>
        </p:nvSpPr>
        <p:spPr>
          <a:xfrm>
            <a:off x="4445000" y="2660650"/>
            <a:ext cx="1856105"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楷体_GB2312" pitchFamily="49" charset="-122"/>
              </a:rPr>
              <a:t>将歌词输入系统</a:t>
            </a:r>
            <a:endParaRPr lang="zh-CN" altLang="en-US" sz="1600" dirty="0">
              <a:latin typeface="Times New Roman" panose="02020603050405020304" pitchFamily="18" charset="0"/>
              <a:ea typeface="楷体_GB2312" pitchFamily="49" charset="-122"/>
            </a:endParaRPr>
          </a:p>
        </p:txBody>
      </p:sp>
      <p:sp>
        <p:nvSpPr>
          <p:cNvPr id="79879" name="下箭头 5"/>
          <p:cNvSpPr/>
          <p:nvPr/>
        </p:nvSpPr>
        <p:spPr>
          <a:xfrm>
            <a:off x="4762500" y="3044825"/>
            <a:ext cx="288925" cy="288925"/>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pic>
        <p:nvPicPr>
          <p:cNvPr id="79881" name="图片 40"/>
          <p:cNvPicPr>
            <a:picLocks noChangeAspect="1"/>
          </p:cNvPicPr>
          <p:nvPr/>
        </p:nvPicPr>
        <p:blipFill>
          <a:blip r:embed="rId1"/>
          <a:stretch>
            <a:fillRect/>
          </a:stretch>
        </p:blipFill>
        <p:spPr>
          <a:xfrm>
            <a:off x="6721475" y="2959100"/>
            <a:ext cx="2084388" cy="1250950"/>
          </a:xfrm>
          <a:prstGeom prst="rect">
            <a:avLst/>
          </a:prstGeom>
          <a:noFill/>
          <a:ln w="9525">
            <a:noFill/>
          </a:ln>
        </p:spPr>
      </p:pic>
      <p:pic>
        <p:nvPicPr>
          <p:cNvPr id="79882" name="图片 5"/>
          <p:cNvPicPr>
            <a:picLocks noChangeAspect="1"/>
          </p:cNvPicPr>
          <p:nvPr/>
        </p:nvPicPr>
        <p:blipFill>
          <a:blip r:embed="rId2"/>
          <a:stretch>
            <a:fillRect/>
          </a:stretch>
        </p:blipFill>
        <p:spPr>
          <a:xfrm>
            <a:off x="4113213" y="5060950"/>
            <a:ext cx="2608262" cy="1068388"/>
          </a:xfrm>
          <a:prstGeom prst="rect">
            <a:avLst/>
          </a:prstGeom>
          <a:noFill/>
          <a:ln w="9525">
            <a:noFill/>
          </a:ln>
        </p:spPr>
      </p:pic>
      <p:sp>
        <p:nvSpPr>
          <p:cNvPr id="79883" name="下箭头 5"/>
          <p:cNvSpPr/>
          <p:nvPr/>
        </p:nvSpPr>
        <p:spPr>
          <a:xfrm flipV="1">
            <a:off x="7473950" y="4240213"/>
            <a:ext cx="763588" cy="388937"/>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79884" name="虚尾箭头 9"/>
          <p:cNvSpPr/>
          <p:nvPr/>
        </p:nvSpPr>
        <p:spPr>
          <a:xfrm>
            <a:off x="5241925" y="3406775"/>
            <a:ext cx="1452563" cy="655638"/>
          </a:xfrm>
          <a:custGeom>
            <a:avLst/>
            <a:gdLst/>
            <a:ahLst/>
            <a:cxnLst>
              <a:cxn ang="0">
                <a:pos x="0" y="163909"/>
              </a:cxn>
              <a:cxn ang="0">
                <a:pos x="20494" y="163909"/>
              </a:cxn>
              <a:cxn ang="0">
                <a:pos x="20494" y="491728"/>
              </a:cxn>
              <a:cxn ang="0">
                <a:pos x="0" y="491728"/>
              </a:cxn>
              <a:cxn ang="0">
                <a:pos x="40988" y="163909"/>
              </a:cxn>
              <a:cxn ang="0">
                <a:pos x="81976" y="163909"/>
              </a:cxn>
              <a:cxn ang="0">
                <a:pos x="81976" y="491728"/>
              </a:cxn>
              <a:cxn ang="0">
                <a:pos x="40988" y="491728"/>
              </a:cxn>
              <a:cxn ang="0">
                <a:pos x="102470" y="163909"/>
              </a:cxn>
              <a:cxn ang="0">
                <a:pos x="1124657" y="163909"/>
              </a:cxn>
              <a:cxn ang="0">
                <a:pos x="1124657" y="0"/>
              </a:cxn>
              <a:cxn ang="0">
                <a:pos x="1452563" y="327819"/>
              </a:cxn>
              <a:cxn ang="0">
                <a:pos x="1124657" y="655638"/>
              </a:cxn>
              <a:cxn ang="0">
                <a:pos x="1124657" y="491728"/>
              </a:cxn>
              <a:cxn ang="0">
                <a:pos x="102470" y="491728"/>
              </a:cxn>
            </a:cxnLst>
            <a:pathLst>
              <a:path w="1452880" h="655955">
                <a:moveTo>
                  <a:pt x="0" y="163988"/>
                </a:moveTo>
                <a:lnTo>
                  <a:pt x="20498" y="163988"/>
                </a:lnTo>
                <a:lnTo>
                  <a:pt x="20498" y="491966"/>
                </a:lnTo>
                <a:lnTo>
                  <a:pt x="0" y="491966"/>
                </a:lnTo>
                <a:lnTo>
                  <a:pt x="0" y="163988"/>
                </a:lnTo>
                <a:close/>
                <a:moveTo>
                  <a:pt x="40997" y="163988"/>
                </a:moveTo>
                <a:lnTo>
                  <a:pt x="81994" y="163988"/>
                </a:lnTo>
                <a:lnTo>
                  <a:pt x="81994" y="491966"/>
                </a:lnTo>
                <a:lnTo>
                  <a:pt x="40997" y="491966"/>
                </a:lnTo>
                <a:lnTo>
                  <a:pt x="40997" y="163988"/>
                </a:lnTo>
                <a:close/>
                <a:moveTo>
                  <a:pt x="102492" y="163988"/>
                </a:moveTo>
                <a:lnTo>
                  <a:pt x="1124902" y="163988"/>
                </a:lnTo>
                <a:lnTo>
                  <a:pt x="1124902" y="0"/>
                </a:lnTo>
                <a:lnTo>
                  <a:pt x="1452880" y="327977"/>
                </a:lnTo>
                <a:lnTo>
                  <a:pt x="1124902" y="655955"/>
                </a:lnTo>
                <a:lnTo>
                  <a:pt x="1124902" y="491966"/>
                </a:lnTo>
                <a:lnTo>
                  <a:pt x="102492" y="491966"/>
                </a:lnTo>
                <a:lnTo>
                  <a:pt x="102492" y="163988"/>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79885" name="矩形 41"/>
          <p:cNvSpPr/>
          <p:nvPr/>
        </p:nvSpPr>
        <p:spPr>
          <a:xfrm>
            <a:off x="5528945" y="3154680"/>
            <a:ext cx="685800"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楷体_GB2312" pitchFamily="49" charset="-122"/>
              </a:rPr>
              <a:t>创作</a:t>
            </a:r>
            <a:endParaRPr lang="zh-CN" altLang="en-US" sz="1600" dirty="0">
              <a:latin typeface="Times New Roman" panose="02020603050405020304" pitchFamily="18" charset="0"/>
              <a:ea typeface="楷体_GB2312" pitchFamily="49" charset="-122"/>
            </a:endParaRPr>
          </a:p>
        </p:txBody>
      </p:sp>
      <p:sp>
        <p:nvSpPr>
          <p:cNvPr id="33" name="流程图: 磁盘 32"/>
          <p:cNvSpPr/>
          <p:nvPr/>
        </p:nvSpPr>
        <p:spPr>
          <a:xfrm>
            <a:off x="7178675" y="6088063"/>
            <a:ext cx="16287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乐汇子集合</a:t>
            </a:r>
            <a:r>
              <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i</a:t>
            </a:r>
            <a:endPar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46" name="直接连接符 45"/>
          <p:cNvCxnSpPr/>
          <p:nvPr/>
        </p:nvCxnSpPr>
        <p:spPr>
          <a:xfrm>
            <a:off x="7304088" y="5226050"/>
            <a:ext cx="12969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8601075" y="52260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7339013" y="52260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9890" name="下箭头 3"/>
          <p:cNvSpPr/>
          <p:nvPr/>
        </p:nvSpPr>
        <p:spPr>
          <a:xfrm flipV="1">
            <a:off x="7750175" y="4968875"/>
            <a:ext cx="287338" cy="212725"/>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cxnSp>
        <p:nvCxnSpPr>
          <p:cNvPr id="34" name="直接箭头连接符 33"/>
          <p:cNvCxnSpPr/>
          <p:nvPr/>
        </p:nvCxnSpPr>
        <p:spPr>
          <a:xfrm flipH="1" flipV="1">
            <a:off x="7524750" y="5661025"/>
            <a:ext cx="431800" cy="5048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7956550" y="5661025"/>
            <a:ext cx="431800" cy="5048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9893" name="矩形 41"/>
          <p:cNvSpPr/>
          <p:nvPr/>
        </p:nvSpPr>
        <p:spPr>
          <a:xfrm>
            <a:off x="6851650" y="4637088"/>
            <a:ext cx="409575" cy="338137"/>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9894" name="矩形 41"/>
          <p:cNvSpPr/>
          <p:nvPr/>
        </p:nvSpPr>
        <p:spPr>
          <a:xfrm>
            <a:off x="8556625" y="4619625"/>
            <a:ext cx="409575" cy="338138"/>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79895" name="矩形 41"/>
          <p:cNvSpPr/>
          <p:nvPr/>
        </p:nvSpPr>
        <p:spPr>
          <a:xfrm>
            <a:off x="2921000" y="5943600"/>
            <a:ext cx="1531938" cy="276225"/>
          </a:xfrm>
          <a:prstGeom prst="rect">
            <a:avLst/>
          </a:prstGeom>
          <a:noFill/>
          <a:ln w="9525">
            <a:noFill/>
          </a:ln>
        </p:spPr>
        <p:txBody>
          <a:bodyPr anchor="t">
            <a:spAutoFit/>
          </a:bodyPr>
          <a:p>
            <a:pPr eaLnBrk="0" hangingPunct="0"/>
            <a:r>
              <a:rPr lang="en-GB" altLang="en-US" sz="1200" i="1" dirty="0">
                <a:latin typeface="Times New Roman" panose="02020603050405020304" pitchFamily="18" charset="0"/>
                <a:ea typeface="楷体_GB2312" pitchFamily="49" charset="-122"/>
              </a:rPr>
              <a:t>S</a:t>
            </a:r>
            <a:r>
              <a:rPr lang="en-GB" altLang="en-US" sz="1200" dirty="0">
                <a:latin typeface="Times New Roman" panose="02020603050405020304" pitchFamily="18" charset="0"/>
                <a:ea typeface="楷体_GB2312" pitchFamily="49" charset="-122"/>
              </a:rPr>
              <a:t>(</a:t>
            </a:r>
            <a:r>
              <a:rPr lang="en-GB" altLang="en-US" sz="1200" i="1" dirty="0">
                <a:latin typeface="Times New Roman" panose="02020603050405020304" pitchFamily="18" charset="0"/>
                <a:ea typeface="楷体_GB2312" pitchFamily="49" charset="-122"/>
              </a:rPr>
              <a:t>Meter</a:t>
            </a:r>
            <a:r>
              <a:rPr lang="en-US" altLang="en-GB" sz="1200" i="1" baseline="-25000" dirty="0">
                <a:latin typeface="Times New Roman" panose="02020603050405020304" pitchFamily="18" charset="0"/>
                <a:ea typeface="楷体_GB2312" pitchFamily="49" charset="-122"/>
              </a:rPr>
              <a:t>i</a:t>
            </a:r>
            <a:r>
              <a:rPr lang="en-GB" altLang="en-US" sz="1200" dirty="0">
                <a:latin typeface="Times New Roman" panose="02020603050405020304" pitchFamily="18" charset="0"/>
                <a:ea typeface="楷体_GB2312" pitchFamily="49" charset="-122"/>
              </a:rPr>
              <a:t> </a:t>
            </a:r>
            <a:r>
              <a:rPr lang="en-GB" altLang="en-US" sz="1200" i="1" dirty="0">
                <a:latin typeface="Times New Roman" panose="02020603050405020304" pitchFamily="18" charset="0"/>
                <a:ea typeface="楷体_GB2312" pitchFamily="49" charset="-122"/>
              </a:rPr>
              <a:t>Emotion</a:t>
            </a:r>
            <a:r>
              <a:rPr lang="en-US" altLang="en-GB" sz="1200" i="1" baseline="-25000" dirty="0">
                <a:latin typeface="Times New Roman" panose="02020603050405020304" pitchFamily="18" charset="0"/>
                <a:ea typeface="楷体_GB2312" pitchFamily="49" charset="-122"/>
              </a:rPr>
              <a:t>i</a:t>
            </a:r>
            <a:r>
              <a:rPr lang="en-GB" altLang="en-US" sz="1200" dirty="0">
                <a:latin typeface="Times New Roman" panose="02020603050405020304" pitchFamily="18" charset="0"/>
                <a:ea typeface="楷体_GB2312" pitchFamily="49" charset="-122"/>
              </a:rPr>
              <a:t>)</a:t>
            </a:r>
            <a:endParaRPr lang="en-US" altLang="zh-CN" sz="1200" dirty="0">
              <a:latin typeface="Times New Roman" panose="02020603050405020304" pitchFamily="18" charset="0"/>
              <a:ea typeface="楷体_GB2312" pitchFamily="49" charset="-122"/>
            </a:endParaRPr>
          </a:p>
        </p:txBody>
      </p:sp>
      <p:cxnSp>
        <p:nvCxnSpPr>
          <p:cNvPr id="17" name="直接箭头连接符 16"/>
          <p:cNvCxnSpPr/>
          <p:nvPr/>
        </p:nvCxnSpPr>
        <p:spPr>
          <a:xfrm flipH="1">
            <a:off x="3708400" y="4365625"/>
            <a:ext cx="1223963" cy="16605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79882" idx="0"/>
          </p:cNvCxnSpPr>
          <p:nvPr/>
        </p:nvCxnSpPr>
        <p:spPr>
          <a:xfrm>
            <a:off x="5003800" y="4365625"/>
            <a:ext cx="414338" cy="6953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79882" idx="0"/>
          </p:cNvCxnSpPr>
          <p:nvPr/>
        </p:nvCxnSpPr>
        <p:spPr>
          <a:xfrm>
            <a:off x="3635375" y="6308725"/>
            <a:ext cx="3552825" cy="142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79882" idx="0"/>
          </p:cNvCxnSpPr>
          <p:nvPr/>
        </p:nvCxnSpPr>
        <p:spPr>
          <a:xfrm flipV="1">
            <a:off x="3662363" y="6142038"/>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9900" name="直角上箭头 24"/>
          <p:cNvSpPr/>
          <p:nvPr/>
        </p:nvSpPr>
        <p:spPr>
          <a:xfrm>
            <a:off x="6219825" y="4221163"/>
            <a:ext cx="728663" cy="1033462"/>
          </a:xfrm>
          <a:custGeom>
            <a:avLst/>
            <a:gdLst/>
            <a:ahLst/>
            <a:cxnLst>
              <a:cxn ang="0">
                <a:pos x="0" y="851478"/>
              </a:cxn>
              <a:cxn ang="0">
                <a:pos x="455414" y="851478"/>
              </a:cxn>
              <a:cxn ang="0">
                <a:pos x="455414" y="181983"/>
              </a:cxn>
              <a:cxn ang="0">
                <a:pos x="364332" y="181983"/>
              </a:cxn>
              <a:cxn ang="0">
                <a:pos x="546497" y="0"/>
              </a:cxn>
              <a:cxn ang="0">
                <a:pos x="728663" y="181983"/>
              </a:cxn>
              <a:cxn ang="0">
                <a:pos x="637580" y="181983"/>
              </a:cxn>
              <a:cxn ang="0">
                <a:pos x="637580" y="1033462"/>
              </a:cxn>
              <a:cxn ang="0">
                <a:pos x="0" y="1033462"/>
              </a:cxn>
            </a:cxnLst>
            <a:pathLst>
              <a:path w="727710" h="1033145">
                <a:moveTo>
                  <a:pt x="0" y="851217"/>
                </a:moveTo>
                <a:lnTo>
                  <a:pt x="454818" y="851217"/>
                </a:lnTo>
                <a:lnTo>
                  <a:pt x="454818" y="181927"/>
                </a:lnTo>
                <a:lnTo>
                  <a:pt x="363855" y="181927"/>
                </a:lnTo>
                <a:lnTo>
                  <a:pt x="545782" y="0"/>
                </a:lnTo>
                <a:lnTo>
                  <a:pt x="727710" y="181927"/>
                </a:lnTo>
                <a:lnTo>
                  <a:pt x="636746" y="181927"/>
                </a:lnTo>
                <a:lnTo>
                  <a:pt x="636746" y="1033145"/>
                </a:lnTo>
                <a:lnTo>
                  <a:pt x="0" y="1033145"/>
                </a:lnTo>
                <a:lnTo>
                  <a:pt x="0" y="851217"/>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pic>
        <p:nvPicPr>
          <p:cNvPr id="79901" name="图片 1"/>
          <p:cNvPicPr>
            <a:picLocks noChangeAspect="1"/>
          </p:cNvPicPr>
          <p:nvPr/>
        </p:nvPicPr>
        <p:blipFill>
          <a:blip r:embed="rId3"/>
          <a:stretch>
            <a:fillRect/>
          </a:stretch>
        </p:blipFill>
        <p:spPr>
          <a:xfrm>
            <a:off x="6985000" y="5397500"/>
            <a:ext cx="655638" cy="212725"/>
          </a:xfrm>
          <a:prstGeom prst="rect">
            <a:avLst/>
          </a:prstGeom>
          <a:noFill/>
          <a:ln w="9525">
            <a:noFill/>
          </a:ln>
        </p:spPr>
      </p:pic>
      <p:pic>
        <p:nvPicPr>
          <p:cNvPr id="79902" name="图片 12"/>
          <p:cNvPicPr>
            <a:picLocks noChangeAspect="1"/>
          </p:cNvPicPr>
          <p:nvPr/>
        </p:nvPicPr>
        <p:blipFill>
          <a:blip r:embed="rId4"/>
          <a:stretch>
            <a:fillRect/>
          </a:stretch>
        </p:blipFill>
        <p:spPr>
          <a:xfrm>
            <a:off x="7918450" y="5413375"/>
            <a:ext cx="1084263" cy="209550"/>
          </a:xfrm>
          <a:prstGeom prst="rect">
            <a:avLst/>
          </a:prstGeom>
          <a:noFill/>
          <a:ln w="9525">
            <a:noFill/>
          </a:ln>
        </p:spPr>
      </p:pic>
      <p:pic>
        <p:nvPicPr>
          <p:cNvPr id="79903" name="图片 2"/>
          <p:cNvPicPr>
            <a:picLocks noChangeAspect="1"/>
          </p:cNvPicPr>
          <p:nvPr/>
        </p:nvPicPr>
        <p:blipFill>
          <a:blip r:embed="rId5"/>
          <a:stretch>
            <a:fillRect/>
          </a:stretch>
        </p:blipFill>
        <p:spPr>
          <a:xfrm>
            <a:off x="7137400" y="4740275"/>
            <a:ext cx="1436688" cy="234950"/>
          </a:xfrm>
          <a:prstGeom prst="rect">
            <a:avLst/>
          </a:prstGeom>
          <a:noFill/>
          <a:ln w="9525">
            <a:noFill/>
          </a:ln>
        </p:spPr>
      </p:pic>
      <p:sp>
        <p:nvSpPr>
          <p:cNvPr id="75780" name="矩形 28"/>
          <p:cNvSpPr/>
          <p:nvPr/>
        </p:nvSpPr>
        <p:spPr>
          <a:xfrm>
            <a:off x="490855" y="2730500"/>
            <a:ext cx="2801620"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en-GB" altLang="en-US"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为歌词配旋律</a:t>
            </a:r>
            <a:endParaRPr lang="zh-CN" altLang="en-US" sz="2000" i="1"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矩形 41"/>
          <p:cNvSpPr/>
          <p:nvPr/>
        </p:nvSpPr>
        <p:spPr>
          <a:xfrm>
            <a:off x="5162550" y="5087620"/>
            <a:ext cx="1000760" cy="213995"/>
          </a:xfrm>
          <a:prstGeom prst="rect">
            <a:avLst/>
          </a:prstGeom>
          <a:solidFill>
            <a:schemeClr val="accent2"/>
          </a:solidFill>
          <a:ln w="9525">
            <a:noFill/>
          </a:ln>
        </p:spPr>
        <p:txBody>
          <a:bodyPr wrap="square" anchor="t">
            <a:spAutoFit/>
          </a:bodyPr>
          <a:p>
            <a:pPr eaLnBrk="0" hangingPunct="0"/>
            <a:r>
              <a:rPr lang="zh-CN" altLang="en-US" sz="800" b="1" i="1" dirty="0">
                <a:solidFill>
                  <a:srgbClr val="FFC000"/>
                </a:solidFill>
                <a:latin typeface="Times New Roman" panose="02020603050405020304" pitchFamily="18" charset="0"/>
                <a:ea typeface="宋体" panose="02010600030101010101" pitchFamily="2" charset="-122"/>
              </a:rPr>
              <a:t>作曲模板</a:t>
            </a:r>
            <a:endParaRPr lang="zh-CN" altLang="en-US" sz="800" b="1"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4" name="Rectangle 3"/>
          <p:cNvSpPr txBox="1"/>
          <p:nvPr/>
        </p:nvSpPr>
        <p:spPr>
          <a:xfrm>
            <a:off x="712788" y="3206750"/>
            <a:ext cx="3741737" cy="444500"/>
          </a:xfrm>
          <a:prstGeom prst="rect">
            <a:avLst/>
          </a:prstGeom>
          <a:noFill/>
          <a:ln w="9525">
            <a:noFill/>
          </a:ln>
        </p:spPr>
        <p:txBody>
          <a:bodyPr anchor="t"/>
          <a:p>
            <a:pPr>
              <a:spcBef>
                <a:spcPct val="20000"/>
              </a:spcBef>
            </a:pPr>
            <a:r>
              <a:rPr lang="en-US" altLang="en-GB" sz="2000" dirty="0">
                <a:latin typeface="Times New Roman" panose="02020603050405020304" pitchFamily="18" charset="0"/>
                <a:ea typeface="楷体_GB2312" pitchFamily="49" charset="-122"/>
              </a:rPr>
              <a:t>          a)</a:t>
            </a:r>
            <a:r>
              <a:rPr lang="zh-CN" altLang="en-US" sz="2000" dirty="0">
                <a:latin typeface="Times New Roman" panose="02020603050405020304" pitchFamily="18" charset="0"/>
                <a:ea typeface="楷体_GB2312" pitchFamily="49" charset="-122"/>
              </a:rPr>
              <a:t>对所有的</a:t>
            </a:r>
            <a:r>
              <a:rPr lang="en-US" altLang="zh-CN" sz="2000" i="1" dirty="0">
                <a:latin typeface="Times New Roman" panose="02020603050405020304" pitchFamily="18" charset="0"/>
                <a:ea typeface="楷体_GB2312" pitchFamily="49" charset="-122"/>
              </a:rPr>
              <a:t>r</a:t>
            </a:r>
            <a:r>
              <a:rPr lang="en-GB" altLang="en-US" sz="2000" dirty="0">
                <a:latin typeface="Times New Roman" panose="02020603050405020304" pitchFamily="18" charset="0"/>
                <a:ea typeface="楷体_GB2312" pitchFamily="49" charset="-122"/>
              </a:rPr>
              <a:t> (</a:t>
            </a:r>
            <a:r>
              <a:rPr lang="en-GB" altLang="en-US" sz="2000" i="1" dirty="0">
                <a:latin typeface="Times New Roman" panose="02020603050405020304" pitchFamily="18" charset="0"/>
                <a:ea typeface="楷体_GB2312" pitchFamily="49" charset="-122"/>
              </a:rPr>
              <a:t>r</a:t>
            </a:r>
            <a:r>
              <a:rPr lang="en-GB" altLang="en-US" sz="2000" dirty="0">
                <a:latin typeface="Times New Roman" panose="02020603050405020304" pitchFamily="18" charset="0"/>
                <a:ea typeface="楷体_GB2312" pitchFamily="49" charset="-122"/>
              </a:rPr>
              <a:t>=1, …, </a:t>
            </a:r>
            <a:r>
              <a:rPr lang="en-GB" altLang="en-US" sz="2000" i="1" dirty="0">
                <a:latin typeface="Times New Roman" panose="02020603050405020304" pitchFamily="18" charset="0"/>
                <a:ea typeface="楷体_GB2312" pitchFamily="49" charset="-122"/>
              </a:rPr>
              <a:t>M</a:t>
            </a:r>
            <a:r>
              <a:rPr lang="en-GB" altLang="en-US" sz="2000" dirty="0">
                <a:latin typeface="Times New Roman" panose="02020603050405020304" pitchFamily="18" charset="0"/>
                <a:ea typeface="楷体_GB2312" pitchFamily="49" charset="-122"/>
              </a:rPr>
              <a:t>)</a:t>
            </a:r>
            <a:r>
              <a:rPr lang="zh-CN" altLang="en-GB" sz="2000" dirty="0">
                <a:latin typeface="Times New Roman" panose="02020603050405020304" pitchFamily="18" charset="0"/>
                <a:ea typeface="楷体_GB2312" pitchFamily="49" charset="-122"/>
              </a:rPr>
              <a:t>，新构造的乐汇序列上形成的第</a:t>
            </a:r>
            <a:r>
              <a:rPr lang="en-US" altLang="zh-CN" sz="2000" i="1" dirty="0">
                <a:latin typeface="Times New Roman" panose="02020603050405020304" pitchFamily="18" charset="0"/>
                <a:ea typeface="楷体_GB2312" pitchFamily="49" charset="-122"/>
                <a:sym typeface="+mn-ea"/>
              </a:rPr>
              <a:t>r</a:t>
            </a:r>
            <a:r>
              <a:rPr lang="zh-CN" altLang="en-GB" sz="2000" dirty="0">
                <a:latin typeface="Times New Roman" panose="02020603050405020304" pitchFamily="18" charset="0"/>
                <a:ea typeface="楷体_GB2312" pitchFamily="49" charset="-122"/>
              </a:rPr>
              <a:t>个多乐汇结构</a:t>
            </a:r>
            <a:r>
              <a:rPr lang="en-GB" altLang="en-US" sz="2000" dirty="0">
                <a:latin typeface="Times New Roman" panose="02020603050405020304" pitchFamily="18" charset="0"/>
                <a:ea typeface="楷体_GB2312" pitchFamily="49" charset="-122"/>
              </a:rPr>
              <a:t> </a:t>
            </a:r>
            <a:r>
              <a:rPr lang="en-GB" altLang="en-US" sz="2000" i="1" dirty="0">
                <a:solidFill>
                  <a:srgbClr val="00B050"/>
                </a:solidFill>
                <a:latin typeface="Times New Roman" panose="02020603050405020304" pitchFamily="18" charset="0"/>
                <a:ea typeface="楷体_GB2312" pitchFamily="49" charset="-122"/>
              </a:rPr>
              <a:t>kMP</a:t>
            </a:r>
            <a:r>
              <a:rPr lang="en-GB" altLang="en-US" sz="2000" i="1" baseline="-25000" dirty="0">
                <a:solidFill>
                  <a:srgbClr val="00B050"/>
                </a:solidFill>
                <a:latin typeface="Times New Roman" panose="02020603050405020304" pitchFamily="18" charset="0"/>
                <a:ea typeface="楷体_GB2312" pitchFamily="49" charset="-122"/>
              </a:rPr>
              <a:t>r</a:t>
            </a:r>
            <a:r>
              <a:rPr lang="en-US" altLang="en-GB" sz="2000" dirty="0">
                <a:solidFill>
                  <a:srgbClr val="00B050"/>
                </a:solidFill>
                <a:latin typeface="Times New Roman" panose="02020603050405020304" pitchFamily="18" charset="0"/>
                <a:ea typeface="楷体_GB2312" pitchFamily="49" charset="-122"/>
              </a:rPr>
              <a:t>'</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能匹配在作曲模板数据库中所选择的作曲模板</a:t>
            </a:r>
            <a:r>
              <a:rPr lang="en-GB" altLang="en-US" sz="2000" i="1" dirty="0">
                <a:latin typeface="Times New Roman" panose="02020603050405020304" pitchFamily="18" charset="0"/>
                <a:ea typeface="楷体_GB2312" pitchFamily="49" charset="-122"/>
                <a:sym typeface="+mn-ea"/>
              </a:rPr>
              <a:t>CT</a:t>
            </a:r>
            <a:r>
              <a:rPr lang="zh-CN" altLang="en-GB" sz="2000" dirty="0">
                <a:latin typeface="Times New Roman" panose="02020603050405020304" pitchFamily="18" charset="0"/>
                <a:ea typeface="楷体_GB2312" pitchFamily="49" charset="-122"/>
                <a:sym typeface="+mn-ea"/>
              </a:rPr>
              <a:t>的</a:t>
            </a:r>
            <a:r>
              <a:rPr lang="en-GB" altLang="en-US" sz="2000" i="1" dirty="0">
                <a:latin typeface="Times New Roman" panose="02020603050405020304" pitchFamily="18" charset="0"/>
                <a:ea typeface="楷体_GB2312" pitchFamily="49" charset="-122"/>
                <a:sym typeface="+mn-ea"/>
              </a:rPr>
              <a:t>kMPSeq</a:t>
            </a:r>
            <a:r>
              <a:rPr lang="zh-CN" altLang="en-GB" sz="2000" dirty="0">
                <a:latin typeface="Times New Roman" panose="02020603050405020304" pitchFamily="18" charset="0"/>
                <a:ea typeface="楷体_GB2312" pitchFamily="49" charset="-122"/>
              </a:rPr>
              <a:t>中的第</a:t>
            </a:r>
            <a:r>
              <a:rPr lang="en-GB" altLang="en-US" sz="2000" i="1" dirty="0">
                <a:latin typeface="Times New Roman" panose="02020603050405020304" pitchFamily="18" charset="0"/>
                <a:ea typeface="楷体_GB2312" pitchFamily="49" charset="-122"/>
                <a:sym typeface="+mn-ea"/>
              </a:rPr>
              <a:t>r</a:t>
            </a:r>
            <a:r>
              <a:rPr lang="zh-CN" altLang="en-GB" sz="2000" dirty="0">
                <a:latin typeface="Times New Roman" panose="02020603050405020304" pitchFamily="18" charset="0"/>
                <a:ea typeface="楷体_GB2312" pitchFamily="49" charset="-122"/>
              </a:rPr>
              <a:t>个多乐汇结构</a:t>
            </a:r>
            <a:r>
              <a:rPr lang="en-GB" altLang="en-US" sz="2000" i="1" dirty="0">
                <a:latin typeface="Times New Roman" panose="02020603050405020304" pitchFamily="18" charset="0"/>
                <a:ea typeface="楷体_GB2312" pitchFamily="49" charset="-122"/>
                <a:sym typeface="+mn-ea"/>
              </a:rPr>
              <a:t>kMP</a:t>
            </a:r>
            <a:r>
              <a:rPr lang="en-GB" altLang="en-US" sz="2000" i="1" baseline="-25000" dirty="0">
                <a:latin typeface="Times New Roman" panose="02020603050405020304" pitchFamily="18" charset="0"/>
                <a:ea typeface="楷体_GB2312" pitchFamily="49" charset="-122"/>
              </a:rPr>
              <a:t>r</a:t>
            </a:r>
            <a:r>
              <a:rPr lang="en-GB" altLang="en-US" sz="2000" dirty="0">
                <a:latin typeface="Times New Roman" panose="02020603050405020304" pitchFamily="18" charset="0"/>
                <a:ea typeface="楷体_GB2312" pitchFamily="49" charset="-122"/>
              </a:rPr>
              <a:t>; </a:t>
            </a:r>
            <a:endParaRPr lang="en-GB" altLang="en-US" sz="1400" dirty="0">
              <a:latin typeface="Times New Roman" panose="02020603050405020304" pitchFamily="18" charset="0"/>
              <a:ea typeface="楷体_GB2312" pitchFamily="49" charset="-122"/>
            </a:endParaRPr>
          </a:p>
          <a:p>
            <a:pPr>
              <a:spcBef>
                <a:spcPct val="20000"/>
              </a:spcBef>
            </a:pPr>
            <a:r>
              <a:rPr lang="en-GB" altLang="en-US" sz="1400" dirty="0">
                <a:latin typeface="Times New Roman" panose="02020603050405020304" pitchFamily="18" charset="0"/>
                <a:ea typeface="楷体_GB2312" pitchFamily="49" charset="-122"/>
              </a:rPr>
              <a:t>                                 </a:t>
            </a:r>
            <a:endParaRPr lang="en-GB" altLang="en-US" sz="1400" dirty="0">
              <a:latin typeface="Times New Roman" panose="02020603050405020304" pitchFamily="18" charset="0"/>
              <a:ea typeface="楷体_GB2312" pitchFamily="49" charset="-122"/>
            </a:endParaRPr>
          </a:p>
        </p:txBody>
      </p:sp>
      <p:pic>
        <p:nvPicPr>
          <p:cNvPr id="81925" name="图片 2"/>
          <p:cNvPicPr>
            <a:picLocks noChangeAspect="1"/>
          </p:cNvPicPr>
          <p:nvPr/>
        </p:nvPicPr>
        <p:blipFill>
          <a:blip r:embed="rId1"/>
          <a:stretch>
            <a:fillRect/>
          </a:stretch>
        </p:blipFill>
        <p:spPr>
          <a:xfrm>
            <a:off x="4503738" y="3676650"/>
            <a:ext cx="1439862" cy="1022350"/>
          </a:xfrm>
          <a:prstGeom prst="rect">
            <a:avLst/>
          </a:prstGeom>
          <a:noFill/>
          <a:ln w="9525">
            <a:noFill/>
          </a:ln>
        </p:spPr>
      </p:pic>
      <p:pic>
        <p:nvPicPr>
          <p:cNvPr id="81926" name="图片 6"/>
          <p:cNvPicPr>
            <a:picLocks noChangeAspect="1"/>
          </p:cNvPicPr>
          <p:nvPr/>
        </p:nvPicPr>
        <p:blipFill>
          <a:blip r:embed="rId2"/>
          <a:stretch>
            <a:fillRect/>
          </a:stretch>
        </p:blipFill>
        <p:spPr>
          <a:xfrm>
            <a:off x="4570413" y="4948238"/>
            <a:ext cx="1679575" cy="682625"/>
          </a:xfrm>
          <a:prstGeom prst="rect">
            <a:avLst/>
          </a:prstGeom>
          <a:noFill/>
          <a:ln w="9525">
            <a:noFill/>
          </a:ln>
        </p:spPr>
      </p:pic>
      <p:pic>
        <p:nvPicPr>
          <p:cNvPr id="81927" name="图片 8"/>
          <p:cNvPicPr>
            <a:picLocks noChangeAspect="1"/>
          </p:cNvPicPr>
          <p:nvPr/>
        </p:nvPicPr>
        <p:blipFill>
          <a:blip r:embed="rId3"/>
          <a:stretch>
            <a:fillRect/>
          </a:stretch>
        </p:blipFill>
        <p:spPr>
          <a:xfrm>
            <a:off x="6865938" y="3689350"/>
            <a:ext cx="1336675" cy="996950"/>
          </a:xfrm>
          <a:prstGeom prst="rect">
            <a:avLst/>
          </a:prstGeom>
          <a:noFill/>
          <a:ln w="9525">
            <a:noFill/>
          </a:ln>
        </p:spPr>
      </p:pic>
      <p:pic>
        <p:nvPicPr>
          <p:cNvPr id="81928" name="图片 9"/>
          <p:cNvPicPr>
            <a:picLocks noChangeAspect="1"/>
          </p:cNvPicPr>
          <p:nvPr/>
        </p:nvPicPr>
        <p:blipFill>
          <a:blip r:embed="rId4"/>
          <a:stretch>
            <a:fillRect/>
          </a:stretch>
        </p:blipFill>
        <p:spPr>
          <a:xfrm>
            <a:off x="6415088" y="4948238"/>
            <a:ext cx="2308225" cy="700087"/>
          </a:xfrm>
          <a:prstGeom prst="rect">
            <a:avLst/>
          </a:prstGeom>
          <a:noFill/>
          <a:ln w="9525">
            <a:noFill/>
          </a:ln>
        </p:spPr>
      </p:pic>
      <p:cxnSp>
        <p:nvCxnSpPr>
          <p:cNvPr id="81930" name="直接箭头连接符 11"/>
          <p:cNvCxnSpPr/>
          <p:nvPr/>
        </p:nvCxnSpPr>
        <p:spPr>
          <a:xfrm flipH="1">
            <a:off x="5651500" y="3783013"/>
            <a:ext cx="1289050" cy="6350"/>
          </a:xfrm>
          <a:prstGeom prst="straightConnector1">
            <a:avLst/>
          </a:prstGeom>
          <a:ln w="28575" cap="flat" cmpd="sng">
            <a:solidFill>
              <a:schemeClr val="tx1"/>
            </a:solidFill>
            <a:prstDash val="solid"/>
            <a:round/>
            <a:headEnd type="none" w="med" len="med"/>
            <a:tailEnd type="arrow" w="med" len="med"/>
          </a:ln>
        </p:spPr>
      </p:cxnSp>
      <p:sp>
        <p:nvSpPr>
          <p:cNvPr id="81931" name="矩形 41"/>
          <p:cNvSpPr/>
          <p:nvPr/>
        </p:nvSpPr>
        <p:spPr>
          <a:xfrm>
            <a:off x="5957888" y="3455988"/>
            <a:ext cx="1989137" cy="337185"/>
          </a:xfrm>
          <a:prstGeom prst="rect">
            <a:avLst/>
          </a:prstGeom>
          <a:noFill/>
          <a:ln w="9525">
            <a:noFill/>
          </a:ln>
        </p:spPr>
        <p:txBody>
          <a:bodyPr anchor="t">
            <a:spAutoFit/>
          </a:bodyPr>
          <a:p>
            <a:pPr eaLnBrk="0" hangingPunct="0"/>
            <a:r>
              <a:rPr lang="zh-CN" altLang="en-US" sz="1600" dirty="0">
                <a:latin typeface="Times New Roman" panose="02020603050405020304" pitchFamily="18" charset="0"/>
                <a:ea typeface="楷体_GB2312" pitchFamily="49" charset="-122"/>
              </a:rPr>
              <a:t>匹配</a:t>
            </a:r>
            <a:endParaRPr lang="zh-CN" altLang="en-US" sz="1600" dirty="0">
              <a:latin typeface="Times New Roman" panose="02020603050405020304" pitchFamily="18" charset="0"/>
              <a:ea typeface="楷体_GB2312" pitchFamily="49" charset="-122"/>
            </a:endParaRPr>
          </a:p>
        </p:txBody>
      </p:sp>
      <p:sp>
        <p:nvSpPr>
          <p:cNvPr id="81932" name="文本框 3"/>
          <p:cNvSpPr txBox="1"/>
          <p:nvPr/>
        </p:nvSpPr>
        <p:spPr>
          <a:xfrm>
            <a:off x="7989888" y="6451600"/>
            <a:ext cx="984250" cy="338138"/>
          </a:xfrm>
          <a:prstGeom prst="rect">
            <a:avLst/>
          </a:prstGeom>
          <a:noFill/>
          <a:ln w="9525">
            <a:noFill/>
          </a:ln>
        </p:spPr>
        <p:txBody>
          <a:bodyPr wrap="square" anchor="t">
            <a:spAutoFit/>
          </a:bodyPr>
          <a:p>
            <a:r>
              <a:rPr lang="en-US" altLang="en-GB" sz="1600" dirty="0">
                <a:latin typeface="Times New Roman" panose="02020603050405020304" pitchFamily="18" charset="0"/>
                <a:ea typeface="楷体_GB2312" pitchFamily="49" charset="-122"/>
                <a:hlinkClick r:id="rId5" action="ppaction://hlinksldjump"/>
              </a:rPr>
              <a:t>Goback</a:t>
            </a:r>
            <a:endParaRPr lang="en-US" altLang="en-GB" sz="1600" dirty="0">
              <a:latin typeface="Times New Roman" panose="02020603050405020304" pitchFamily="18" charset="0"/>
              <a:ea typeface="楷体_GB2312" pitchFamily="49"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75780" name="矩形 28"/>
          <p:cNvSpPr/>
          <p:nvPr/>
        </p:nvSpPr>
        <p:spPr>
          <a:xfrm>
            <a:off x="490855" y="2730500"/>
            <a:ext cx="2801620"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en-GB" altLang="en-US"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为歌词配旋律</a:t>
            </a:r>
            <a:endParaRPr lang="zh-CN" altLang="en-US" sz="2000" i="1"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3969" name="图片 24"/>
          <p:cNvPicPr>
            <a:picLocks noChangeAspect="1"/>
          </p:cNvPicPr>
          <p:nvPr/>
        </p:nvPicPr>
        <p:blipFill>
          <a:blip r:embed="rId1"/>
          <a:stretch>
            <a:fillRect/>
          </a:stretch>
        </p:blipFill>
        <p:spPr>
          <a:xfrm>
            <a:off x="4570413" y="4379913"/>
            <a:ext cx="3830637" cy="1516062"/>
          </a:xfrm>
          <a:prstGeom prst="rect">
            <a:avLst/>
          </a:prstGeom>
          <a:noFill/>
          <a:ln w="9525">
            <a:noFill/>
          </a:ln>
        </p:spPr>
      </p:pic>
      <p:sp>
        <p:nvSpPr>
          <p:cNvPr id="83973" name="Rectangle 3"/>
          <p:cNvSpPr txBox="1"/>
          <p:nvPr/>
        </p:nvSpPr>
        <p:spPr>
          <a:xfrm>
            <a:off x="712788" y="3206750"/>
            <a:ext cx="3551237" cy="444500"/>
          </a:xfrm>
          <a:prstGeom prst="rect">
            <a:avLst/>
          </a:prstGeom>
          <a:noFill/>
          <a:ln w="9525">
            <a:noFill/>
          </a:ln>
        </p:spPr>
        <p:txBody>
          <a:bodyPr anchor="t"/>
          <a:p>
            <a:pPr>
              <a:spcBef>
                <a:spcPct val="20000"/>
              </a:spcBef>
            </a:pPr>
            <a:r>
              <a:rPr lang="en-US" altLang="en-GB" sz="2000" dirty="0">
                <a:latin typeface="Times New Roman" panose="02020603050405020304" pitchFamily="18" charset="0"/>
                <a:ea typeface="楷体_GB2312" pitchFamily="49" charset="-122"/>
              </a:rPr>
              <a:t>           b) </a:t>
            </a:r>
            <a:r>
              <a:rPr lang="zh-CN" altLang="en-US" sz="2000" dirty="0">
                <a:latin typeface="Times New Roman" panose="02020603050405020304" pitchFamily="18" charset="0"/>
                <a:ea typeface="楷体_GB2312" pitchFamily="49" charset="-122"/>
              </a:rPr>
              <a:t>在新构造的乐汇序列中，</a:t>
            </a:r>
            <a:r>
              <a:rPr lang="zh-CN" altLang="en-GB" sz="2000" dirty="0">
                <a:latin typeface="Times New Roman" panose="02020603050405020304" pitchFamily="18" charset="0"/>
                <a:ea typeface="楷体_GB2312" pitchFamily="49" charset="-122"/>
              </a:rPr>
              <a:t>多乐汇结构</a:t>
            </a:r>
            <a:r>
              <a:rPr lang="en-GB" altLang="en-US" sz="2000" dirty="0">
                <a:latin typeface="Times New Roman" panose="02020603050405020304" pitchFamily="18" charset="0"/>
                <a:ea typeface="楷体_GB2312" pitchFamily="49" charset="-122"/>
              </a:rPr>
              <a:t> </a:t>
            </a:r>
            <a:r>
              <a:rPr lang="en-GB" altLang="en-US" sz="2000" i="1" dirty="0">
                <a:solidFill>
                  <a:srgbClr val="00B050"/>
                </a:solidFill>
                <a:latin typeface="Times New Roman" panose="02020603050405020304" pitchFamily="18" charset="0"/>
                <a:ea typeface="楷体_GB2312" pitchFamily="49" charset="-122"/>
              </a:rPr>
              <a:t>kMP</a:t>
            </a:r>
            <a:r>
              <a:rPr lang="en-GB" altLang="en-US" sz="2000" i="1" baseline="-25000" dirty="0">
                <a:solidFill>
                  <a:srgbClr val="00B050"/>
                </a:solidFill>
                <a:latin typeface="Times New Roman" panose="02020603050405020304" pitchFamily="18" charset="0"/>
                <a:ea typeface="楷体_GB2312" pitchFamily="49" charset="-122"/>
              </a:rPr>
              <a:t>r</a:t>
            </a:r>
            <a:r>
              <a:rPr lang="en-US" altLang="en-GB" sz="2000" dirty="0">
                <a:solidFill>
                  <a:srgbClr val="00B050"/>
                </a:solidFill>
                <a:latin typeface="Times New Roman" panose="02020603050405020304" pitchFamily="18" charset="0"/>
                <a:ea typeface="楷体_GB2312" pitchFamily="49" charset="-122"/>
              </a:rPr>
              <a:t>'</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的最后一个乐汇与多乐汇结构</a:t>
            </a:r>
            <a:r>
              <a:rPr lang="en-GB" altLang="en-US" sz="2000" dirty="0">
                <a:latin typeface="Times New Roman" panose="02020603050405020304" pitchFamily="18" charset="0"/>
                <a:ea typeface="楷体_GB2312" pitchFamily="49" charset="-122"/>
              </a:rPr>
              <a:t> </a:t>
            </a:r>
            <a:r>
              <a:rPr lang="en-GB" altLang="en-US" sz="2000" i="1" dirty="0">
                <a:solidFill>
                  <a:srgbClr val="00B050"/>
                </a:solidFill>
                <a:latin typeface="Times New Roman" panose="02020603050405020304" pitchFamily="18" charset="0"/>
                <a:ea typeface="楷体_GB2312" pitchFamily="49" charset="-122"/>
              </a:rPr>
              <a:t>kMP</a:t>
            </a:r>
            <a:r>
              <a:rPr lang="en-US" altLang="en-GB" sz="2000" dirty="0">
                <a:solidFill>
                  <a:srgbClr val="00B050"/>
                </a:solidFill>
                <a:latin typeface="Times New Roman" panose="02020603050405020304" pitchFamily="18" charset="0"/>
                <a:ea typeface="楷体_GB2312" pitchFamily="49" charset="-122"/>
              </a:rPr>
              <a:t>'</a:t>
            </a:r>
            <a:r>
              <a:rPr lang="en-GB" altLang="en-US" sz="2000" i="1" baseline="-25000" dirty="0">
                <a:solidFill>
                  <a:srgbClr val="00B050"/>
                </a:solidFill>
                <a:latin typeface="Times New Roman" panose="02020603050405020304" pitchFamily="18" charset="0"/>
                <a:ea typeface="楷体_GB2312" pitchFamily="49" charset="-122"/>
              </a:rPr>
              <a:t>r</a:t>
            </a:r>
            <a:r>
              <a:rPr lang="en-GB" altLang="en-US" sz="2000" baseline="-25000" dirty="0">
                <a:solidFill>
                  <a:srgbClr val="00B050"/>
                </a:solidFill>
                <a:latin typeface="Times New Roman" panose="02020603050405020304" pitchFamily="18" charset="0"/>
                <a:ea typeface="楷体_GB2312" pitchFamily="49" charset="-122"/>
              </a:rPr>
              <a:t>+1</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的第一个乐汇之间的关系和作曲模板</a:t>
            </a:r>
            <a:r>
              <a:rPr lang="en-GB" altLang="en-US" sz="2000" i="1" dirty="0">
                <a:latin typeface="Times New Roman" panose="02020603050405020304" pitchFamily="18" charset="0"/>
                <a:ea typeface="楷体_GB2312" pitchFamily="49" charset="-122"/>
                <a:sym typeface="+mn-ea"/>
              </a:rPr>
              <a:t>CT</a:t>
            </a:r>
            <a:r>
              <a:rPr lang="zh-CN" altLang="en-GB" sz="2000" dirty="0">
                <a:latin typeface="Times New Roman" panose="02020603050405020304" pitchFamily="18" charset="0"/>
                <a:ea typeface="楷体_GB2312" pitchFamily="49" charset="-122"/>
              </a:rPr>
              <a:t>的</a:t>
            </a:r>
            <a:r>
              <a:rPr lang="en-GB" altLang="en-US" sz="2000" i="1" dirty="0">
                <a:latin typeface="Times New Roman" panose="02020603050405020304" pitchFamily="18" charset="0"/>
                <a:ea typeface="楷体_GB2312" pitchFamily="49" charset="-122"/>
                <a:sym typeface="+mn-ea"/>
              </a:rPr>
              <a:t>kMPSeq</a:t>
            </a:r>
            <a:r>
              <a:rPr lang="en-GB" altLang="en-US" sz="2000" dirty="0">
                <a:latin typeface="Times New Roman" panose="02020603050405020304" pitchFamily="18" charset="0"/>
                <a:ea typeface="楷体_GB2312" pitchFamily="49" charset="-122"/>
                <a:sym typeface="+mn-ea"/>
              </a:rPr>
              <a:t> </a:t>
            </a:r>
            <a:r>
              <a:rPr lang="zh-CN" altLang="en-GB" sz="2000" dirty="0">
                <a:latin typeface="Times New Roman" panose="02020603050405020304" pitchFamily="18" charset="0"/>
                <a:ea typeface="楷体_GB2312" pitchFamily="49" charset="-122"/>
                <a:sym typeface="+mn-ea"/>
              </a:rPr>
              <a:t>中多乐汇结构</a:t>
            </a:r>
            <a:r>
              <a:rPr lang="en-GB" altLang="en-US" sz="2000" dirty="0">
                <a:solidFill>
                  <a:srgbClr val="FF0000"/>
                </a:solidFill>
                <a:latin typeface="Times New Roman" panose="02020603050405020304" pitchFamily="18" charset="0"/>
                <a:ea typeface="楷体_GB2312" pitchFamily="49" charset="-122"/>
                <a:sym typeface="+mn-ea"/>
              </a:rPr>
              <a:t> </a:t>
            </a:r>
            <a:r>
              <a:rPr lang="en-GB" altLang="en-US" sz="2000" i="1" dirty="0">
                <a:solidFill>
                  <a:srgbClr val="FF0000"/>
                </a:solidFill>
                <a:latin typeface="Times New Roman" panose="02020603050405020304" pitchFamily="18" charset="0"/>
                <a:ea typeface="楷体_GB2312" pitchFamily="49" charset="-122"/>
                <a:sym typeface="+mn-ea"/>
              </a:rPr>
              <a:t>kMP</a:t>
            </a:r>
            <a:r>
              <a:rPr lang="en-GB" altLang="en-US" sz="2000" i="1" baseline="-25000" dirty="0">
                <a:solidFill>
                  <a:srgbClr val="FF0000"/>
                </a:solidFill>
                <a:latin typeface="Times New Roman" panose="02020603050405020304" pitchFamily="18" charset="0"/>
                <a:ea typeface="楷体_GB2312" pitchFamily="49" charset="-122"/>
                <a:sym typeface="+mn-ea"/>
              </a:rPr>
              <a:t>r</a:t>
            </a:r>
            <a:r>
              <a:rPr lang="en-GB" altLang="en-US" sz="2000" dirty="0">
                <a:solidFill>
                  <a:srgbClr val="FF0000"/>
                </a:solidFill>
                <a:latin typeface="Times New Roman" panose="02020603050405020304" pitchFamily="18" charset="0"/>
                <a:ea typeface="楷体_GB2312" pitchFamily="49" charset="-122"/>
                <a:sym typeface="+mn-ea"/>
              </a:rPr>
              <a:t> </a:t>
            </a:r>
            <a:r>
              <a:rPr lang="zh-CN" altLang="en-GB" sz="2000" dirty="0">
                <a:latin typeface="Times New Roman" panose="02020603050405020304" pitchFamily="18" charset="0"/>
                <a:ea typeface="楷体_GB2312" pitchFamily="49" charset="-122"/>
                <a:sym typeface="+mn-ea"/>
              </a:rPr>
              <a:t>的最后一个乐汇与多乐汇结构</a:t>
            </a:r>
            <a:r>
              <a:rPr lang="en-GB" altLang="en-US" sz="2000" dirty="0">
                <a:latin typeface="Times New Roman" panose="02020603050405020304" pitchFamily="18" charset="0"/>
                <a:ea typeface="楷体_GB2312" pitchFamily="49" charset="-122"/>
                <a:sym typeface="+mn-ea"/>
              </a:rPr>
              <a:t> </a:t>
            </a:r>
            <a:r>
              <a:rPr lang="en-GB" altLang="en-US" sz="2000" i="1" dirty="0">
                <a:solidFill>
                  <a:srgbClr val="FF0000"/>
                </a:solidFill>
                <a:latin typeface="Times New Roman" panose="02020603050405020304" pitchFamily="18" charset="0"/>
                <a:ea typeface="楷体_GB2312" pitchFamily="49" charset="-122"/>
                <a:sym typeface="+mn-ea"/>
              </a:rPr>
              <a:t>kMP</a:t>
            </a:r>
            <a:r>
              <a:rPr lang="en-GB" altLang="en-US" sz="2000" i="1" baseline="-25000" dirty="0">
                <a:solidFill>
                  <a:srgbClr val="FF0000"/>
                </a:solidFill>
                <a:latin typeface="Times New Roman" panose="02020603050405020304" pitchFamily="18" charset="0"/>
                <a:ea typeface="楷体_GB2312" pitchFamily="49" charset="-122"/>
                <a:sym typeface="+mn-ea"/>
              </a:rPr>
              <a:t>r</a:t>
            </a:r>
            <a:r>
              <a:rPr lang="en-GB" altLang="en-US" sz="2000" baseline="-25000" dirty="0">
                <a:solidFill>
                  <a:srgbClr val="FF0000"/>
                </a:solidFill>
                <a:latin typeface="Times New Roman" panose="02020603050405020304" pitchFamily="18" charset="0"/>
                <a:ea typeface="楷体_GB2312" pitchFamily="49" charset="-122"/>
                <a:sym typeface="+mn-ea"/>
              </a:rPr>
              <a:t>+1</a:t>
            </a:r>
            <a:r>
              <a:rPr lang="en-GB" altLang="en-US" sz="2000" dirty="0">
                <a:latin typeface="Times New Roman" panose="02020603050405020304" pitchFamily="18" charset="0"/>
                <a:ea typeface="楷体_GB2312" pitchFamily="49" charset="-122"/>
                <a:sym typeface="+mn-ea"/>
              </a:rPr>
              <a:t> </a:t>
            </a:r>
            <a:r>
              <a:rPr lang="zh-CN" altLang="en-GB" sz="2000" dirty="0">
                <a:latin typeface="Times New Roman" panose="02020603050405020304" pitchFamily="18" charset="0"/>
                <a:ea typeface="楷体_GB2312" pitchFamily="49" charset="-122"/>
                <a:sym typeface="+mn-ea"/>
              </a:rPr>
              <a:t>的第一个乐汇之间的关系</a:t>
            </a:r>
            <a:r>
              <a:rPr lang="zh-CN" altLang="en-GB" sz="2000" dirty="0">
                <a:latin typeface="Times New Roman" panose="02020603050405020304" pitchFamily="18" charset="0"/>
                <a:ea typeface="楷体_GB2312" pitchFamily="49" charset="-122"/>
              </a:rPr>
              <a:t>是</a:t>
            </a:r>
            <a:r>
              <a:rPr lang="zh-CN" altLang="en-GB" sz="2000" dirty="0">
                <a:latin typeface="Times New Roman" panose="02020603050405020304" pitchFamily="18" charset="0"/>
                <a:ea typeface="楷体_GB2312" pitchFamily="49" charset="-122"/>
              </a:rPr>
              <a:t>一致的。</a:t>
            </a:r>
            <a:r>
              <a:rPr lang="en-GB" altLang="en-US" sz="2000" dirty="0">
                <a:latin typeface="Times New Roman" panose="02020603050405020304" pitchFamily="18" charset="0"/>
                <a:ea typeface="楷体_GB2312" pitchFamily="49" charset="-122"/>
              </a:rPr>
              <a:t>   </a:t>
            </a:r>
            <a:r>
              <a:rPr lang="en-GB" altLang="en-US" sz="1400" dirty="0">
                <a:latin typeface="Times New Roman" panose="02020603050405020304" pitchFamily="18" charset="0"/>
                <a:ea typeface="楷体_GB2312" pitchFamily="49" charset="-122"/>
              </a:rPr>
              <a:t>                                </a:t>
            </a:r>
            <a:endParaRPr lang="en-GB" altLang="en-US" sz="1400" dirty="0">
              <a:latin typeface="Times New Roman" panose="02020603050405020304" pitchFamily="18" charset="0"/>
              <a:ea typeface="楷体_GB2312" pitchFamily="49" charset="-122"/>
            </a:endParaRPr>
          </a:p>
        </p:txBody>
      </p:sp>
      <p:pic>
        <p:nvPicPr>
          <p:cNvPr id="83974" name="图片 2"/>
          <p:cNvPicPr>
            <a:picLocks noChangeAspect="1"/>
          </p:cNvPicPr>
          <p:nvPr/>
        </p:nvPicPr>
        <p:blipFill>
          <a:blip r:embed="rId2"/>
          <a:stretch>
            <a:fillRect/>
          </a:stretch>
        </p:blipFill>
        <p:spPr>
          <a:xfrm>
            <a:off x="4510088" y="1922463"/>
            <a:ext cx="3938587" cy="1516062"/>
          </a:xfrm>
          <a:prstGeom prst="rect">
            <a:avLst/>
          </a:prstGeom>
          <a:noFill/>
          <a:ln w="9525">
            <a:noFill/>
          </a:ln>
        </p:spPr>
      </p:pic>
      <p:sp>
        <p:nvSpPr>
          <p:cNvPr id="83975" name="矩形 41"/>
          <p:cNvSpPr/>
          <p:nvPr/>
        </p:nvSpPr>
        <p:spPr>
          <a:xfrm>
            <a:off x="5902325" y="3471863"/>
            <a:ext cx="460375" cy="336550"/>
          </a:xfrm>
          <a:prstGeom prst="rect">
            <a:avLst/>
          </a:prstGeom>
          <a:noFill/>
          <a:ln w="9525">
            <a:noFill/>
          </a:ln>
        </p:spPr>
        <p:txBody>
          <a:bodyPr anchor="t">
            <a:spAutoFit/>
          </a:bodyPr>
          <a:p>
            <a:pPr eaLnBrk="0" hangingPunct="0"/>
            <a:r>
              <a:rPr lang="en-US" altLang="zh-CN" sz="1600" i="1" dirty="0">
                <a:latin typeface="Times New Roman" panose="02020603050405020304" pitchFamily="18" charset="0"/>
                <a:ea typeface="楷体_GB2312" pitchFamily="49" charset="-122"/>
              </a:rPr>
              <a:t>R</a:t>
            </a:r>
            <a:r>
              <a:rPr lang="en-US" altLang="zh-CN" sz="1600" baseline="-25000" dirty="0">
                <a:latin typeface="Times New Roman" panose="02020603050405020304" pitchFamily="18" charset="0"/>
                <a:ea typeface="楷体_GB2312" pitchFamily="49" charset="-122"/>
              </a:rPr>
              <a:t>34</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83976" name="矩形 41"/>
          <p:cNvSpPr/>
          <p:nvPr/>
        </p:nvSpPr>
        <p:spPr>
          <a:xfrm>
            <a:off x="8397875" y="3095625"/>
            <a:ext cx="458788" cy="338138"/>
          </a:xfrm>
          <a:prstGeom prst="rect">
            <a:avLst/>
          </a:prstGeom>
          <a:noFill/>
          <a:ln w="9525">
            <a:noFill/>
          </a:ln>
        </p:spPr>
        <p:txBody>
          <a:bodyPr anchor="t">
            <a:spAutoFit/>
          </a:bodyPr>
          <a:p>
            <a:pPr eaLnBrk="0" hangingPunct="0"/>
            <a:r>
              <a:rPr lang="en-US" altLang="zh-CN" sz="1600" i="1" dirty="0">
                <a:latin typeface="Times New Roman" panose="02020603050405020304" pitchFamily="18" charset="0"/>
                <a:ea typeface="楷体_GB2312" pitchFamily="49" charset="-122"/>
              </a:rPr>
              <a:t>R</a:t>
            </a:r>
            <a:r>
              <a:rPr lang="en-US" altLang="zh-CN" sz="1600" baseline="-25000" dirty="0">
                <a:latin typeface="Times New Roman" panose="02020603050405020304" pitchFamily="18" charset="0"/>
                <a:ea typeface="楷体_GB2312" pitchFamily="49" charset="-122"/>
              </a:rPr>
              <a:t>67</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cxnSp>
        <p:nvCxnSpPr>
          <p:cNvPr id="83977" name="直接箭头连接符 5"/>
          <p:cNvCxnSpPr/>
          <p:nvPr/>
        </p:nvCxnSpPr>
        <p:spPr>
          <a:xfrm flipV="1">
            <a:off x="6081713" y="3216275"/>
            <a:ext cx="74612" cy="330200"/>
          </a:xfrm>
          <a:prstGeom prst="straightConnector1">
            <a:avLst/>
          </a:prstGeom>
          <a:ln w="9525" cap="flat" cmpd="sng">
            <a:solidFill>
              <a:schemeClr val="tx1"/>
            </a:solidFill>
            <a:prstDash val="solid"/>
            <a:round/>
            <a:headEnd type="none" w="med" len="med"/>
            <a:tailEnd type="arrow" w="med" len="med"/>
          </a:ln>
        </p:spPr>
      </p:cxnSp>
      <p:cxnSp>
        <p:nvCxnSpPr>
          <p:cNvPr id="83978" name="直接箭头连接符 6"/>
          <p:cNvCxnSpPr/>
          <p:nvPr/>
        </p:nvCxnSpPr>
        <p:spPr>
          <a:xfrm flipH="1" flipV="1">
            <a:off x="7981950" y="3165475"/>
            <a:ext cx="549275" cy="120650"/>
          </a:xfrm>
          <a:prstGeom prst="straightConnector1">
            <a:avLst/>
          </a:prstGeom>
          <a:ln w="9525" cap="flat" cmpd="sng">
            <a:solidFill>
              <a:schemeClr val="tx1"/>
            </a:solidFill>
            <a:prstDash val="solid"/>
            <a:round/>
            <a:headEnd type="none" w="med" len="med"/>
            <a:tailEnd type="arrow" w="med" len="med"/>
          </a:ln>
        </p:spPr>
      </p:cxnSp>
      <p:sp>
        <p:nvSpPr>
          <p:cNvPr id="83979" name="椭圆形标注 29"/>
          <p:cNvSpPr/>
          <p:nvPr/>
        </p:nvSpPr>
        <p:spPr>
          <a:xfrm flipV="1">
            <a:off x="5554663" y="2225675"/>
            <a:ext cx="500062" cy="914400"/>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80" name="矩形 41"/>
          <p:cNvSpPr/>
          <p:nvPr/>
        </p:nvSpPr>
        <p:spPr>
          <a:xfrm>
            <a:off x="4635500" y="1590675"/>
            <a:ext cx="1654175" cy="583565"/>
          </a:xfrm>
          <a:prstGeom prst="rect">
            <a:avLst/>
          </a:prstGeom>
          <a:noFill/>
          <a:ln w="9525">
            <a:noFill/>
          </a:ln>
        </p:spPr>
        <p:txBody>
          <a:bodyPr anchor="t">
            <a:spAutoFit/>
          </a:bodyPr>
          <a:p>
            <a:pPr eaLnBrk="0" hangingPunct="0"/>
            <a:r>
              <a:rPr lang="en-GB" altLang="en-US" sz="1600" dirty="0">
                <a:latin typeface="Times New Roman" panose="02020603050405020304" pitchFamily="18" charset="0"/>
                <a:ea typeface="楷体_GB2312" pitchFamily="49" charset="-122"/>
                <a:sym typeface="+mn-ea"/>
              </a:rPr>
              <a:t> </a:t>
            </a:r>
            <a:r>
              <a:rPr lang="en-GB" altLang="en-US" sz="1600" i="1" dirty="0">
                <a:solidFill>
                  <a:srgbClr val="FF0000"/>
                </a:solidFill>
                <a:latin typeface="Times New Roman" panose="02020603050405020304" pitchFamily="18" charset="0"/>
                <a:ea typeface="楷体_GB2312" pitchFamily="49" charset="-122"/>
                <a:sym typeface="+mn-ea"/>
              </a:rPr>
              <a:t>kMP</a:t>
            </a:r>
            <a:r>
              <a:rPr lang="en-GB" altLang="en-US" sz="1600" baseline="-25000" dirty="0">
                <a:solidFill>
                  <a:srgbClr val="FF0000"/>
                </a:solidFill>
                <a:latin typeface="Times New Roman" panose="02020603050405020304" pitchFamily="18" charset="0"/>
                <a:ea typeface="楷体_GB2312" pitchFamily="49" charset="-122"/>
                <a:sym typeface="+mn-ea"/>
              </a:rPr>
              <a:t>1</a:t>
            </a:r>
            <a:r>
              <a:rPr lang="en-US" altLang="zh-CN" sz="1600" dirty="0">
                <a:latin typeface="Times New Roman" panose="02020603050405020304" pitchFamily="18" charset="0"/>
                <a:ea typeface="楷体_GB2312" pitchFamily="49" charset="-122"/>
                <a:sym typeface="+mn-ea"/>
              </a:rPr>
              <a:t> </a:t>
            </a:r>
            <a:r>
              <a:rPr lang="zh-CN" altLang="en-GB" sz="1600" dirty="0">
                <a:latin typeface="Times New Roman" panose="02020603050405020304" pitchFamily="18" charset="0"/>
                <a:ea typeface="楷体_GB2312" pitchFamily="49" charset="-122"/>
              </a:rPr>
              <a:t>中的最后一个乐汇</a:t>
            </a:r>
            <a:endParaRPr lang="en-US" altLang="zh-CN" sz="1400" dirty="0">
              <a:latin typeface="Times New Roman" panose="02020603050405020304" pitchFamily="18" charset="0"/>
              <a:ea typeface="楷体_GB2312" pitchFamily="49" charset="-122"/>
            </a:endParaRPr>
          </a:p>
        </p:txBody>
      </p:sp>
      <p:sp>
        <p:nvSpPr>
          <p:cNvPr id="83981" name="椭圆形标注 29"/>
          <p:cNvSpPr/>
          <p:nvPr/>
        </p:nvSpPr>
        <p:spPr>
          <a:xfrm>
            <a:off x="6399213" y="2622550"/>
            <a:ext cx="500062" cy="1058863"/>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82" name="矩形 41"/>
          <p:cNvSpPr/>
          <p:nvPr/>
        </p:nvSpPr>
        <p:spPr>
          <a:xfrm>
            <a:off x="5835650" y="3798888"/>
            <a:ext cx="1657350" cy="583565"/>
          </a:xfrm>
          <a:prstGeom prst="rect">
            <a:avLst/>
          </a:prstGeom>
          <a:noFill/>
          <a:ln w="9525">
            <a:noFill/>
          </a:ln>
        </p:spPr>
        <p:txBody>
          <a:bodyPr anchor="t">
            <a:spAutoFit/>
          </a:bodyPr>
          <a:p>
            <a:pPr eaLnBrk="0" hangingPunct="0"/>
            <a:r>
              <a:rPr lang="en-GB" altLang="en-US" sz="1600" i="1" dirty="0">
                <a:solidFill>
                  <a:srgbClr val="00B050"/>
                </a:solidFill>
                <a:latin typeface="Times New Roman" panose="02020603050405020304" pitchFamily="18" charset="0"/>
                <a:ea typeface="楷体_GB2312" pitchFamily="49" charset="-122"/>
                <a:sym typeface="+mn-ea"/>
              </a:rPr>
              <a:t>kMP</a:t>
            </a:r>
            <a:r>
              <a:rPr lang="en-GB" altLang="en-US" sz="1600" baseline="-25000" dirty="0">
                <a:solidFill>
                  <a:srgbClr val="00B050"/>
                </a:solidFill>
                <a:latin typeface="Times New Roman" panose="02020603050405020304" pitchFamily="18" charset="0"/>
                <a:ea typeface="楷体_GB2312" pitchFamily="49" charset="-122"/>
                <a:sym typeface="+mn-ea"/>
              </a:rPr>
              <a:t>2</a:t>
            </a:r>
            <a:r>
              <a:rPr lang="en-US" altLang="zh-CN" sz="1600" dirty="0">
                <a:solidFill>
                  <a:srgbClr val="FF0000"/>
                </a:solidFill>
                <a:latin typeface="Times New Roman" panose="02020603050405020304" pitchFamily="18" charset="0"/>
                <a:ea typeface="楷体_GB2312" pitchFamily="49" charset="-122"/>
                <a:sym typeface="+mn-ea"/>
              </a:rPr>
              <a:t> </a:t>
            </a:r>
            <a:r>
              <a:rPr lang="zh-CN" altLang="en-GB" sz="1600" dirty="0">
                <a:latin typeface="Times New Roman" panose="02020603050405020304" pitchFamily="18" charset="0"/>
                <a:ea typeface="楷体_GB2312" pitchFamily="49" charset="-122"/>
              </a:rPr>
              <a:t>中的第一个乐汇</a:t>
            </a:r>
            <a:r>
              <a:rPr lang="en-GB" altLang="en-US"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83983" name="椭圆形标注 29"/>
          <p:cNvSpPr/>
          <p:nvPr/>
        </p:nvSpPr>
        <p:spPr>
          <a:xfrm flipH="1" flipV="1">
            <a:off x="7331075" y="2352675"/>
            <a:ext cx="419100" cy="914400"/>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84" name="矩形 41"/>
          <p:cNvSpPr/>
          <p:nvPr/>
        </p:nvSpPr>
        <p:spPr>
          <a:xfrm>
            <a:off x="7488238" y="1717675"/>
            <a:ext cx="1655762" cy="583565"/>
          </a:xfrm>
          <a:prstGeom prst="rect">
            <a:avLst/>
          </a:prstGeom>
          <a:noFill/>
          <a:ln w="9525">
            <a:noFill/>
          </a:ln>
        </p:spPr>
        <p:txBody>
          <a:bodyPr anchor="t">
            <a:spAutoFit/>
          </a:bodyPr>
          <a:p>
            <a:pPr eaLnBrk="0" hangingPunct="0"/>
            <a:r>
              <a:rPr lang="en-GB" altLang="en-US" sz="1600" dirty="0">
                <a:latin typeface="Times New Roman" panose="02020603050405020304" pitchFamily="18" charset="0"/>
                <a:ea typeface="楷体_GB2312" pitchFamily="49" charset="-122"/>
                <a:sym typeface="+mn-ea"/>
              </a:rPr>
              <a:t> </a:t>
            </a:r>
            <a:r>
              <a:rPr lang="en-GB" altLang="en-US" sz="1600" i="1" dirty="0">
                <a:solidFill>
                  <a:srgbClr val="00B050"/>
                </a:solidFill>
                <a:latin typeface="Times New Roman" panose="02020603050405020304" pitchFamily="18" charset="0"/>
                <a:ea typeface="楷体_GB2312" pitchFamily="49" charset="-122"/>
                <a:sym typeface="+mn-ea"/>
              </a:rPr>
              <a:t>kMP</a:t>
            </a:r>
            <a:r>
              <a:rPr lang="en-GB" altLang="en-US" sz="1600" baseline="-25000" dirty="0">
                <a:solidFill>
                  <a:srgbClr val="00B050"/>
                </a:solidFill>
                <a:latin typeface="Times New Roman" panose="02020603050405020304" pitchFamily="18" charset="0"/>
                <a:ea typeface="楷体_GB2312" pitchFamily="49" charset="-122"/>
                <a:sym typeface="+mn-ea"/>
              </a:rPr>
              <a:t>2</a:t>
            </a:r>
            <a:r>
              <a:rPr lang="zh-CN" altLang="en-GB" sz="1600" dirty="0">
                <a:latin typeface="Times New Roman" panose="02020603050405020304" pitchFamily="18" charset="0"/>
                <a:ea typeface="楷体_GB2312" pitchFamily="49" charset="-122"/>
              </a:rPr>
              <a:t>中的最后一个乐汇</a:t>
            </a:r>
            <a:r>
              <a:rPr lang="en-US" altLang="zh-CN" sz="1400" dirty="0">
                <a:solidFill>
                  <a:srgbClr val="00B050"/>
                </a:solidFill>
                <a:latin typeface="Times New Roman" panose="02020603050405020304" pitchFamily="18" charset="0"/>
                <a:ea typeface="楷体_GB2312" pitchFamily="49" charset="-122"/>
              </a:rPr>
              <a:t> </a:t>
            </a:r>
            <a:endParaRPr lang="en-US" altLang="zh-CN" sz="1400" dirty="0">
              <a:solidFill>
                <a:srgbClr val="00B050"/>
              </a:solidFill>
              <a:latin typeface="Times New Roman" panose="02020603050405020304" pitchFamily="18" charset="0"/>
              <a:ea typeface="楷体_GB2312" pitchFamily="49" charset="-122"/>
            </a:endParaRPr>
          </a:p>
        </p:txBody>
      </p:sp>
      <p:sp>
        <p:nvSpPr>
          <p:cNvPr id="83985" name="椭圆形标注 29"/>
          <p:cNvSpPr/>
          <p:nvPr/>
        </p:nvSpPr>
        <p:spPr>
          <a:xfrm>
            <a:off x="7927975" y="2476500"/>
            <a:ext cx="461963" cy="973138"/>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86" name="矩形 41"/>
          <p:cNvSpPr/>
          <p:nvPr/>
        </p:nvSpPr>
        <p:spPr>
          <a:xfrm>
            <a:off x="7288213" y="3495675"/>
            <a:ext cx="1508125" cy="583565"/>
          </a:xfrm>
          <a:prstGeom prst="rect">
            <a:avLst/>
          </a:prstGeom>
          <a:noFill/>
          <a:ln w="9525">
            <a:noFill/>
          </a:ln>
        </p:spPr>
        <p:txBody>
          <a:bodyPr anchor="t">
            <a:spAutoFit/>
          </a:bodyPr>
          <a:p>
            <a:pPr eaLnBrk="0" hangingPunct="0"/>
            <a:r>
              <a:rPr lang="en-GB" altLang="en-US" sz="1600" i="1" dirty="0">
                <a:solidFill>
                  <a:srgbClr val="FF0000"/>
                </a:solidFill>
                <a:latin typeface="Times New Roman" panose="02020603050405020304" pitchFamily="18" charset="0"/>
                <a:ea typeface="楷体_GB2312" pitchFamily="49" charset="-122"/>
                <a:sym typeface="+mn-ea"/>
              </a:rPr>
              <a:t>kMP</a:t>
            </a:r>
            <a:r>
              <a:rPr lang="en-GB" altLang="en-US" sz="1600" baseline="-25000" dirty="0">
                <a:solidFill>
                  <a:srgbClr val="FF0000"/>
                </a:solidFill>
                <a:latin typeface="Times New Roman" panose="02020603050405020304" pitchFamily="18" charset="0"/>
                <a:ea typeface="楷体_GB2312" pitchFamily="49" charset="-122"/>
                <a:sym typeface="+mn-ea"/>
              </a:rPr>
              <a:t>3</a:t>
            </a:r>
            <a:r>
              <a:rPr lang="en-US" altLang="zh-CN" sz="1600" dirty="0">
                <a:latin typeface="Times New Roman" panose="02020603050405020304" pitchFamily="18" charset="0"/>
                <a:ea typeface="楷体_GB2312" pitchFamily="49" charset="-122"/>
                <a:sym typeface="+mn-ea"/>
              </a:rPr>
              <a:t> </a:t>
            </a:r>
            <a:r>
              <a:rPr lang="zh-CN" altLang="en-GB" sz="1600" dirty="0">
                <a:latin typeface="Times New Roman" panose="02020603050405020304" pitchFamily="18" charset="0"/>
                <a:ea typeface="楷体_GB2312" pitchFamily="49" charset="-122"/>
              </a:rPr>
              <a:t>中的第一个乐汇</a:t>
            </a:r>
            <a:r>
              <a:rPr lang="en-GB" altLang="en-US"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83987" name="矩形 41"/>
          <p:cNvSpPr/>
          <p:nvPr/>
        </p:nvSpPr>
        <p:spPr>
          <a:xfrm>
            <a:off x="5884863" y="6038850"/>
            <a:ext cx="612775" cy="338138"/>
          </a:xfrm>
          <a:prstGeom prst="rect">
            <a:avLst/>
          </a:prstGeom>
          <a:noFill/>
          <a:ln w="9525">
            <a:noFill/>
          </a:ln>
        </p:spPr>
        <p:txBody>
          <a:bodyPr anchor="t">
            <a:spAutoFit/>
          </a:bodyPr>
          <a:p>
            <a:pPr eaLnBrk="0" hangingPunct="0"/>
            <a:r>
              <a:rPr lang="en-US" altLang="zh-CN" sz="1600" i="1" dirty="0">
                <a:latin typeface="Times New Roman" panose="02020603050405020304" pitchFamily="18" charset="0"/>
                <a:ea typeface="楷体_GB2312" pitchFamily="49" charset="-122"/>
              </a:rPr>
              <a:t>R</a:t>
            </a:r>
            <a:r>
              <a:rPr lang="en-GB" altLang="en-US" sz="1600" i="1" dirty="0">
                <a:latin typeface="Times New Roman" panose="02020603050405020304" pitchFamily="18" charset="0"/>
                <a:ea typeface="楷体_GB2312" pitchFamily="49" charset="-122"/>
              </a:rPr>
              <a:t>'</a:t>
            </a:r>
            <a:r>
              <a:rPr lang="en-US" altLang="zh-CN" sz="1600" baseline="-25000" dirty="0">
                <a:latin typeface="Times New Roman" panose="02020603050405020304" pitchFamily="18" charset="0"/>
                <a:ea typeface="楷体_GB2312" pitchFamily="49" charset="-122"/>
              </a:rPr>
              <a:t>34</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83988" name="矩形 41"/>
          <p:cNvSpPr/>
          <p:nvPr/>
        </p:nvSpPr>
        <p:spPr>
          <a:xfrm>
            <a:off x="8382000" y="5662613"/>
            <a:ext cx="581025" cy="338137"/>
          </a:xfrm>
          <a:prstGeom prst="rect">
            <a:avLst/>
          </a:prstGeom>
          <a:noFill/>
          <a:ln w="9525">
            <a:noFill/>
          </a:ln>
        </p:spPr>
        <p:txBody>
          <a:bodyPr anchor="t">
            <a:spAutoFit/>
          </a:bodyPr>
          <a:p>
            <a:pPr eaLnBrk="0" hangingPunct="0"/>
            <a:r>
              <a:rPr lang="en-US" altLang="zh-CN" sz="1600" i="1" dirty="0">
                <a:latin typeface="Times New Roman" panose="02020603050405020304" pitchFamily="18" charset="0"/>
                <a:ea typeface="楷体_GB2312" pitchFamily="49" charset="-122"/>
              </a:rPr>
              <a:t>R</a:t>
            </a:r>
            <a:r>
              <a:rPr lang="en-GB" altLang="en-US" sz="1600" i="1" dirty="0">
                <a:latin typeface="Times New Roman" panose="02020603050405020304" pitchFamily="18" charset="0"/>
                <a:ea typeface="楷体_GB2312" pitchFamily="49" charset="-122"/>
              </a:rPr>
              <a:t>'</a:t>
            </a:r>
            <a:r>
              <a:rPr lang="en-US" altLang="zh-CN" sz="1600" baseline="-25000" dirty="0">
                <a:latin typeface="Times New Roman" panose="02020603050405020304" pitchFamily="18" charset="0"/>
                <a:ea typeface="楷体_GB2312" pitchFamily="49" charset="-122"/>
              </a:rPr>
              <a:t>67</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cxnSp>
        <p:nvCxnSpPr>
          <p:cNvPr id="83989" name="直接箭头连接符 5"/>
          <p:cNvCxnSpPr/>
          <p:nvPr/>
        </p:nvCxnSpPr>
        <p:spPr>
          <a:xfrm flipV="1">
            <a:off x="6064250" y="5734050"/>
            <a:ext cx="92075" cy="379413"/>
          </a:xfrm>
          <a:prstGeom prst="straightConnector1">
            <a:avLst/>
          </a:prstGeom>
          <a:ln w="9525" cap="flat" cmpd="sng">
            <a:solidFill>
              <a:schemeClr val="tx1"/>
            </a:solidFill>
            <a:prstDash val="solid"/>
            <a:round/>
            <a:headEnd type="none" w="med" len="med"/>
            <a:tailEnd type="arrow" w="med" len="med"/>
          </a:ln>
        </p:spPr>
      </p:cxnSp>
      <p:cxnSp>
        <p:nvCxnSpPr>
          <p:cNvPr id="83990" name="直接箭头连接符 6"/>
          <p:cNvCxnSpPr/>
          <p:nvPr/>
        </p:nvCxnSpPr>
        <p:spPr>
          <a:xfrm flipH="1" flipV="1">
            <a:off x="7956550" y="5661025"/>
            <a:ext cx="558800" cy="190500"/>
          </a:xfrm>
          <a:prstGeom prst="straightConnector1">
            <a:avLst/>
          </a:prstGeom>
          <a:ln w="9525" cap="flat" cmpd="sng">
            <a:solidFill>
              <a:schemeClr val="tx1"/>
            </a:solidFill>
            <a:prstDash val="solid"/>
            <a:round/>
            <a:headEnd type="none" w="med" len="med"/>
            <a:tailEnd type="arrow" w="med" len="med"/>
          </a:ln>
        </p:spPr>
      </p:cxnSp>
      <p:sp>
        <p:nvSpPr>
          <p:cNvPr id="83991" name="椭圆形标注 29"/>
          <p:cNvSpPr/>
          <p:nvPr/>
        </p:nvSpPr>
        <p:spPr>
          <a:xfrm flipV="1">
            <a:off x="5613400" y="4870450"/>
            <a:ext cx="525463" cy="836613"/>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92" name="矩形 41"/>
          <p:cNvSpPr/>
          <p:nvPr/>
        </p:nvSpPr>
        <p:spPr>
          <a:xfrm>
            <a:off x="4618038" y="4229100"/>
            <a:ext cx="1655762" cy="583565"/>
          </a:xfrm>
          <a:prstGeom prst="rect">
            <a:avLst/>
          </a:prstGeom>
          <a:noFill/>
          <a:ln w="9525">
            <a:noFill/>
          </a:ln>
        </p:spPr>
        <p:txBody>
          <a:bodyPr anchor="t">
            <a:spAutoFit/>
          </a:bodyPr>
          <a:p>
            <a:pPr eaLnBrk="0" hangingPunct="0"/>
            <a:r>
              <a:rPr lang="en-GB" altLang="en-US" sz="1600" i="1" dirty="0">
                <a:solidFill>
                  <a:srgbClr val="FF0000"/>
                </a:solidFill>
                <a:latin typeface="Times New Roman" panose="02020603050405020304" pitchFamily="18" charset="0"/>
                <a:ea typeface="楷体_GB2312" pitchFamily="49" charset="-122"/>
                <a:sym typeface="+mn-ea"/>
              </a:rPr>
              <a:t>kMP'</a:t>
            </a:r>
            <a:r>
              <a:rPr lang="en-GB" altLang="en-US" sz="1600" baseline="-25000" dirty="0">
                <a:solidFill>
                  <a:srgbClr val="FF0000"/>
                </a:solidFill>
                <a:latin typeface="Times New Roman" panose="02020603050405020304" pitchFamily="18" charset="0"/>
                <a:ea typeface="楷体_GB2312" pitchFamily="49" charset="-122"/>
                <a:sym typeface="+mn-ea"/>
              </a:rPr>
              <a:t>1</a:t>
            </a:r>
            <a:r>
              <a:rPr lang="zh-CN" altLang="en-GB" sz="1600" dirty="0">
                <a:latin typeface="Times New Roman" panose="02020603050405020304" pitchFamily="18" charset="0"/>
                <a:ea typeface="楷体_GB2312" pitchFamily="49" charset="-122"/>
                <a:sym typeface="+mn-ea"/>
              </a:rPr>
              <a:t>中的最后一个乐汇</a:t>
            </a:r>
            <a:r>
              <a:rPr lang="en-GB" altLang="en-US" sz="1400" dirty="0">
                <a:latin typeface="Times New Roman" panose="02020603050405020304" pitchFamily="18" charset="0"/>
                <a:ea typeface="楷体_GB2312" pitchFamily="49" charset="-122"/>
              </a:rPr>
              <a:t> </a:t>
            </a:r>
            <a:r>
              <a:rPr lang="en-US" altLang="zh-CN" sz="1400" dirty="0">
                <a:latin typeface="Times New Roman" panose="02020603050405020304" pitchFamily="18" charset="0"/>
                <a:ea typeface="楷体_GB2312" pitchFamily="49" charset="-122"/>
              </a:rPr>
              <a:t> </a:t>
            </a:r>
            <a:endParaRPr lang="en-US" altLang="zh-CN" sz="1400" dirty="0">
              <a:latin typeface="Times New Roman" panose="02020603050405020304" pitchFamily="18" charset="0"/>
              <a:ea typeface="楷体_GB2312" pitchFamily="49" charset="-122"/>
            </a:endParaRPr>
          </a:p>
        </p:txBody>
      </p:sp>
      <p:sp>
        <p:nvSpPr>
          <p:cNvPr id="83993" name="椭圆形标注 29"/>
          <p:cNvSpPr/>
          <p:nvPr/>
        </p:nvSpPr>
        <p:spPr>
          <a:xfrm>
            <a:off x="6361113" y="5116513"/>
            <a:ext cx="593725" cy="1058862"/>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94" name="矩形 41"/>
          <p:cNvSpPr/>
          <p:nvPr/>
        </p:nvSpPr>
        <p:spPr>
          <a:xfrm>
            <a:off x="5818188" y="6292850"/>
            <a:ext cx="1658937" cy="798830"/>
          </a:xfrm>
          <a:prstGeom prst="rect">
            <a:avLst/>
          </a:prstGeom>
          <a:noFill/>
          <a:ln w="9525">
            <a:noFill/>
          </a:ln>
        </p:spPr>
        <p:txBody>
          <a:bodyPr anchor="t">
            <a:spAutoFit/>
          </a:bodyPr>
          <a:p>
            <a:pPr eaLnBrk="0" hangingPunct="0"/>
            <a:r>
              <a:rPr lang="en-GB" altLang="en-US" sz="1600" i="1" dirty="0">
                <a:solidFill>
                  <a:srgbClr val="00B050"/>
                </a:solidFill>
                <a:latin typeface="Times New Roman" panose="02020603050405020304" pitchFamily="18" charset="0"/>
                <a:ea typeface="楷体_GB2312" pitchFamily="49" charset="-122"/>
                <a:sym typeface="+mn-ea"/>
              </a:rPr>
              <a:t>kMP'</a:t>
            </a:r>
            <a:r>
              <a:rPr lang="en-GB" altLang="en-US" sz="1600" baseline="-25000" dirty="0">
                <a:solidFill>
                  <a:srgbClr val="00B050"/>
                </a:solidFill>
                <a:latin typeface="Times New Roman" panose="02020603050405020304" pitchFamily="18" charset="0"/>
                <a:ea typeface="楷体_GB2312" pitchFamily="49" charset="-122"/>
                <a:sym typeface="+mn-ea"/>
              </a:rPr>
              <a:t>2</a:t>
            </a:r>
            <a:r>
              <a:rPr lang="zh-CN" altLang="en-GB" sz="1600" dirty="0">
                <a:latin typeface="Times New Roman" panose="02020603050405020304" pitchFamily="18" charset="0"/>
                <a:ea typeface="楷体_GB2312" pitchFamily="49" charset="-122"/>
                <a:sym typeface="+mn-ea"/>
              </a:rPr>
              <a:t>中的第一个乐汇</a:t>
            </a:r>
            <a:r>
              <a:rPr lang="en-GB" altLang="en-US" sz="1600" dirty="0">
                <a:latin typeface="Times New Roman" panose="02020603050405020304" pitchFamily="18" charset="0"/>
                <a:ea typeface="楷体_GB2312" pitchFamily="49" charset="-122"/>
                <a:sym typeface="+mn-ea"/>
              </a:rPr>
              <a:t> </a:t>
            </a:r>
            <a:endParaRPr lang="en-US" altLang="zh-CN" sz="1600" dirty="0">
              <a:latin typeface="Times New Roman" panose="02020603050405020304" pitchFamily="18" charset="0"/>
              <a:ea typeface="楷体_GB2312" pitchFamily="49" charset="-122"/>
            </a:endParaRPr>
          </a:p>
          <a:p>
            <a:pPr eaLnBrk="0" hangingPunct="0"/>
            <a:r>
              <a:rPr lang="en-GB" altLang="en-US" sz="1400" dirty="0">
                <a:latin typeface="Times New Roman" panose="02020603050405020304" pitchFamily="18" charset="0"/>
                <a:ea typeface="楷体_GB2312" pitchFamily="49" charset="-122"/>
              </a:rPr>
              <a:t> </a:t>
            </a:r>
            <a:r>
              <a:rPr lang="en-US" altLang="zh-CN" sz="1400" dirty="0">
                <a:latin typeface="Times New Roman" panose="02020603050405020304" pitchFamily="18" charset="0"/>
                <a:ea typeface="楷体_GB2312" pitchFamily="49" charset="-122"/>
              </a:rPr>
              <a:t> </a:t>
            </a:r>
            <a:endParaRPr lang="en-US" altLang="zh-CN" sz="1400" dirty="0">
              <a:latin typeface="Times New Roman" panose="02020603050405020304" pitchFamily="18" charset="0"/>
              <a:ea typeface="楷体_GB2312" pitchFamily="49" charset="-122"/>
            </a:endParaRPr>
          </a:p>
        </p:txBody>
      </p:sp>
      <p:sp>
        <p:nvSpPr>
          <p:cNvPr id="83995" name="椭圆形标注 29"/>
          <p:cNvSpPr/>
          <p:nvPr/>
        </p:nvSpPr>
        <p:spPr>
          <a:xfrm flipH="1" flipV="1">
            <a:off x="7388225" y="4870450"/>
            <a:ext cx="488950" cy="820738"/>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96" name="矩形 41"/>
          <p:cNvSpPr/>
          <p:nvPr/>
        </p:nvSpPr>
        <p:spPr>
          <a:xfrm>
            <a:off x="7615238" y="4213225"/>
            <a:ext cx="1655762" cy="583565"/>
          </a:xfrm>
          <a:prstGeom prst="rect">
            <a:avLst/>
          </a:prstGeom>
          <a:noFill/>
          <a:ln w="9525">
            <a:noFill/>
          </a:ln>
        </p:spPr>
        <p:txBody>
          <a:bodyPr anchor="t">
            <a:spAutoFit/>
          </a:bodyPr>
          <a:p>
            <a:pPr eaLnBrk="0" hangingPunct="0"/>
            <a:r>
              <a:rPr lang="en-GB" altLang="en-US" sz="1600" i="1" dirty="0">
                <a:solidFill>
                  <a:srgbClr val="00B050"/>
                </a:solidFill>
                <a:latin typeface="Times New Roman" panose="02020603050405020304" pitchFamily="18" charset="0"/>
                <a:ea typeface="楷体_GB2312" pitchFamily="49" charset="-122"/>
                <a:sym typeface="+mn-ea"/>
              </a:rPr>
              <a:t>kMP'</a:t>
            </a:r>
            <a:r>
              <a:rPr lang="en-GB" altLang="en-US" sz="1600" baseline="-25000" dirty="0">
                <a:solidFill>
                  <a:srgbClr val="00B050"/>
                </a:solidFill>
                <a:latin typeface="Times New Roman" panose="02020603050405020304" pitchFamily="18" charset="0"/>
                <a:ea typeface="楷体_GB2312" pitchFamily="49" charset="-122"/>
                <a:sym typeface="+mn-ea"/>
              </a:rPr>
              <a:t>2</a:t>
            </a:r>
            <a:r>
              <a:rPr lang="en-US" altLang="zh-CN" sz="1600" dirty="0">
                <a:solidFill>
                  <a:srgbClr val="00B050"/>
                </a:solidFill>
                <a:latin typeface="Times New Roman" panose="02020603050405020304" pitchFamily="18" charset="0"/>
                <a:ea typeface="楷体_GB2312" pitchFamily="49" charset="-122"/>
                <a:sym typeface="+mn-ea"/>
              </a:rPr>
              <a:t> </a:t>
            </a:r>
            <a:r>
              <a:rPr lang="zh-CN" altLang="en-GB" sz="1600" dirty="0">
                <a:latin typeface="Times New Roman" panose="02020603050405020304" pitchFamily="18" charset="0"/>
                <a:ea typeface="楷体_GB2312" pitchFamily="49" charset="-122"/>
                <a:sym typeface="+mn-ea"/>
              </a:rPr>
              <a:t>中的最后一个乐汇</a:t>
            </a:r>
            <a:r>
              <a:rPr lang="en-GB" altLang="en-US" sz="1400" dirty="0">
                <a:latin typeface="Times New Roman" panose="02020603050405020304" pitchFamily="18" charset="0"/>
                <a:ea typeface="楷体_GB2312" pitchFamily="49" charset="-122"/>
              </a:rPr>
              <a:t> </a:t>
            </a:r>
            <a:endParaRPr lang="en-US" altLang="zh-CN" sz="1400" dirty="0">
              <a:solidFill>
                <a:srgbClr val="00B050"/>
              </a:solidFill>
              <a:latin typeface="Times New Roman" panose="02020603050405020304" pitchFamily="18" charset="0"/>
              <a:ea typeface="楷体_GB2312" pitchFamily="49" charset="-122"/>
            </a:endParaRPr>
          </a:p>
        </p:txBody>
      </p:sp>
      <p:sp>
        <p:nvSpPr>
          <p:cNvPr id="83997" name="椭圆形标注 29"/>
          <p:cNvSpPr/>
          <p:nvPr/>
        </p:nvSpPr>
        <p:spPr>
          <a:xfrm>
            <a:off x="7912100" y="5043488"/>
            <a:ext cx="534988" cy="973137"/>
          </a:xfrm>
          <a:prstGeom prst="wedgeEllipseCallout">
            <a:avLst>
              <a:gd name="adj1" fmla="val -20833"/>
              <a:gd name="adj2" fmla="val 62500"/>
            </a:avLst>
          </a:prstGeom>
          <a:noFill/>
          <a:ln w="28575" cap="flat" cmpd="sng">
            <a:solidFill>
              <a:srgbClr val="00B050"/>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83998" name="矩形 41"/>
          <p:cNvSpPr/>
          <p:nvPr/>
        </p:nvSpPr>
        <p:spPr>
          <a:xfrm>
            <a:off x="7270750" y="6132830"/>
            <a:ext cx="1509713" cy="798830"/>
          </a:xfrm>
          <a:prstGeom prst="rect">
            <a:avLst/>
          </a:prstGeom>
          <a:noFill/>
          <a:ln w="9525">
            <a:noFill/>
          </a:ln>
        </p:spPr>
        <p:txBody>
          <a:bodyPr wrap="square" anchor="t">
            <a:spAutoFit/>
          </a:bodyPr>
          <a:p>
            <a:pPr eaLnBrk="0" hangingPunct="0"/>
            <a:r>
              <a:rPr lang="en-GB" altLang="en-US" sz="1600" i="1" dirty="0">
                <a:solidFill>
                  <a:srgbClr val="FF0000"/>
                </a:solidFill>
                <a:latin typeface="Times New Roman" panose="02020603050405020304" pitchFamily="18" charset="0"/>
                <a:ea typeface="楷体_GB2312" pitchFamily="49" charset="-122"/>
                <a:sym typeface="+mn-ea"/>
              </a:rPr>
              <a:t>kMP'</a:t>
            </a:r>
            <a:r>
              <a:rPr lang="en-GB" altLang="en-US" sz="1600" baseline="-25000" dirty="0">
                <a:solidFill>
                  <a:srgbClr val="FF0000"/>
                </a:solidFill>
                <a:latin typeface="Times New Roman" panose="02020603050405020304" pitchFamily="18" charset="0"/>
                <a:ea typeface="楷体_GB2312" pitchFamily="49" charset="-122"/>
                <a:sym typeface="+mn-ea"/>
              </a:rPr>
              <a:t>3</a:t>
            </a:r>
            <a:r>
              <a:rPr lang="en-US" altLang="zh-CN" sz="1600" dirty="0">
                <a:latin typeface="Times New Roman" panose="02020603050405020304" pitchFamily="18" charset="0"/>
                <a:ea typeface="楷体_GB2312" pitchFamily="49" charset="-122"/>
                <a:sym typeface="+mn-ea"/>
              </a:rPr>
              <a:t> </a:t>
            </a:r>
            <a:r>
              <a:rPr lang="zh-CN" altLang="en-GB" sz="1600" dirty="0">
                <a:latin typeface="Times New Roman" panose="02020603050405020304" pitchFamily="18" charset="0"/>
                <a:ea typeface="楷体_GB2312" pitchFamily="49" charset="-122"/>
                <a:sym typeface="+mn-ea"/>
              </a:rPr>
              <a:t>中的第一个乐汇</a:t>
            </a:r>
            <a:r>
              <a:rPr lang="en-GB" altLang="en-US" sz="1600" dirty="0">
                <a:latin typeface="Times New Roman" panose="02020603050405020304" pitchFamily="18" charset="0"/>
                <a:ea typeface="楷体_GB2312" pitchFamily="49" charset="-122"/>
                <a:sym typeface="+mn-ea"/>
              </a:rPr>
              <a:t> </a:t>
            </a:r>
            <a:endParaRPr lang="en-US" altLang="zh-CN" sz="1400" dirty="0">
              <a:latin typeface="Times New Roman" panose="02020603050405020304" pitchFamily="18" charset="0"/>
              <a:ea typeface="楷体_GB2312" pitchFamily="49" charset="-122"/>
            </a:endParaRPr>
          </a:p>
          <a:p>
            <a:pPr eaLnBrk="0" hangingPunct="0"/>
            <a:r>
              <a:rPr lang="en-GB" altLang="en-US" sz="1400" dirty="0">
                <a:latin typeface="Times New Roman" panose="02020603050405020304" pitchFamily="18" charset="0"/>
                <a:ea typeface="楷体_GB2312" pitchFamily="49" charset="-122"/>
              </a:rPr>
              <a:t> </a:t>
            </a:r>
            <a:endParaRPr lang="en-US" altLang="zh-CN" sz="1400" dirty="0">
              <a:latin typeface="Times New Roman" panose="02020603050405020304" pitchFamily="18" charset="0"/>
              <a:ea typeface="楷体_GB2312" pitchFamily="49" charset="-122"/>
            </a:endParaRPr>
          </a:p>
        </p:txBody>
      </p:sp>
      <p:sp>
        <p:nvSpPr>
          <p:cNvPr id="83999" name="矩形 41"/>
          <p:cNvSpPr/>
          <p:nvPr/>
        </p:nvSpPr>
        <p:spPr>
          <a:xfrm>
            <a:off x="4146550" y="6094413"/>
            <a:ext cx="989013" cy="338137"/>
          </a:xfrm>
          <a:prstGeom prst="rect">
            <a:avLst/>
          </a:prstGeom>
          <a:noFill/>
          <a:ln w="9525">
            <a:noFill/>
          </a:ln>
        </p:spPr>
        <p:txBody>
          <a:bodyPr anchor="t">
            <a:spAutoFit/>
          </a:bodyPr>
          <a:p>
            <a:pPr eaLnBrk="0" hangingPunct="0"/>
            <a:r>
              <a:rPr lang="en-US" altLang="zh-CN" sz="1600" i="1" dirty="0">
                <a:latin typeface="Times New Roman" panose="02020603050405020304" pitchFamily="18" charset="0"/>
                <a:ea typeface="楷体_GB2312" pitchFamily="49" charset="-122"/>
              </a:rPr>
              <a:t>R</a:t>
            </a:r>
            <a:r>
              <a:rPr lang="en-US" altLang="zh-CN" sz="1600" baseline="-25000" dirty="0">
                <a:latin typeface="Times New Roman" panose="02020603050405020304" pitchFamily="18" charset="0"/>
                <a:ea typeface="楷体_GB2312" pitchFamily="49" charset="-122"/>
              </a:rPr>
              <a:t>34</a:t>
            </a:r>
            <a:r>
              <a:rPr lang="en-US" altLang="zh-CN"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R</a:t>
            </a:r>
            <a:r>
              <a:rPr lang="en-GB" altLang="en-US" sz="1600" i="1" dirty="0">
                <a:latin typeface="Times New Roman" panose="02020603050405020304" pitchFamily="18" charset="0"/>
                <a:ea typeface="楷体_GB2312" pitchFamily="49" charset="-122"/>
              </a:rPr>
              <a:t>'</a:t>
            </a:r>
            <a:r>
              <a:rPr lang="en-US" altLang="zh-CN" sz="1600" baseline="-25000" dirty="0">
                <a:latin typeface="Times New Roman" panose="02020603050405020304" pitchFamily="18" charset="0"/>
                <a:ea typeface="楷体_GB2312" pitchFamily="49" charset="-122"/>
              </a:rPr>
              <a:t>34</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84000" name="矩形 41"/>
          <p:cNvSpPr/>
          <p:nvPr/>
        </p:nvSpPr>
        <p:spPr>
          <a:xfrm>
            <a:off x="4130675" y="6437313"/>
            <a:ext cx="989013" cy="336550"/>
          </a:xfrm>
          <a:prstGeom prst="rect">
            <a:avLst/>
          </a:prstGeom>
          <a:noFill/>
          <a:ln w="9525">
            <a:noFill/>
          </a:ln>
        </p:spPr>
        <p:txBody>
          <a:bodyPr anchor="t">
            <a:spAutoFit/>
          </a:bodyPr>
          <a:p>
            <a:pPr eaLnBrk="0" hangingPunct="0"/>
            <a:r>
              <a:rPr lang="en-US" altLang="zh-CN" sz="1600" i="1" dirty="0">
                <a:latin typeface="Times New Roman" panose="02020603050405020304" pitchFamily="18" charset="0"/>
                <a:ea typeface="楷体_GB2312" pitchFamily="49" charset="-122"/>
              </a:rPr>
              <a:t>R</a:t>
            </a:r>
            <a:r>
              <a:rPr lang="en-GB" altLang="en-US" sz="1600" baseline="-25000" dirty="0">
                <a:latin typeface="Times New Roman" panose="02020603050405020304" pitchFamily="18" charset="0"/>
                <a:ea typeface="楷体_GB2312" pitchFamily="49" charset="-122"/>
              </a:rPr>
              <a:t>67</a:t>
            </a:r>
            <a:r>
              <a:rPr lang="en-US" altLang="zh-CN" sz="1600" dirty="0">
                <a:latin typeface="Times New Roman" panose="02020603050405020304" pitchFamily="18" charset="0"/>
                <a:ea typeface="楷体_GB2312" pitchFamily="49" charset="-122"/>
              </a:rPr>
              <a:t> </a:t>
            </a:r>
            <a:r>
              <a:rPr lang="en-GB" altLang="en-US" sz="1600" i="1" dirty="0">
                <a:latin typeface="Times New Roman" panose="02020603050405020304" pitchFamily="18" charset="0"/>
                <a:ea typeface="楷体_GB2312" pitchFamily="49" charset="-122"/>
              </a:rPr>
              <a:t>=</a:t>
            </a:r>
            <a:r>
              <a:rPr lang="en-US" altLang="zh-CN" sz="1600" i="1" dirty="0">
                <a:latin typeface="Times New Roman" panose="02020603050405020304" pitchFamily="18" charset="0"/>
                <a:ea typeface="楷体_GB2312" pitchFamily="49" charset="-122"/>
              </a:rPr>
              <a:t>R</a:t>
            </a:r>
            <a:r>
              <a:rPr lang="en-GB" altLang="en-US" sz="1600" i="1" dirty="0">
                <a:latin typeface="Times New Roman" panose="02020603050405020304" pitchFamily="18" charset="0"/>
                <a:ea typeface="楷体_GB2312" pitchFamily="49" charset="-122"/>
              </a:rPr>
              <a:t>'</a:t>
            </a:r>
            <a:r>
              <a:rPr lang="en-GB" altLang="en-US" sz="1600" baseline="-25000" dirty="0">
                <a:latin typeface="Times New Roman" panose="02020603050405020304" pitchFamily="18" charset="0"/>
                <a:ea typeface="楷体_GB2312" pitchFamily="49" charset="-122"/>
              </a:rPr>
              <a:t>67</a:t>
            </a:r>
            <a:r>
              <a:rPr lang="en-US" altLang="zh-CN" sz="1600" dirty="0">
                <a:latin typeface="Times New Roman" panose="02020603050405020304" pitchFamily="18" charset="0"/>
                <a:ea typeface="楷体_GB2312" pitchFamily="49" charset="-122"/>
              </a:rPr>
              <a:t> </a:t>
            </a:r>
            <a:endParaRPr lang="en-US" altLang="zh-CN" sz="1600" dirty="0">
              <a:latin typeface="Times New Roman" panose="02020603050405020304" pitchFamily="18" charset="0"/>
              <a:ea typeface="楷体_GB2312" pitchFamily="49"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
        <p:nvSpPr>
          <p:cNvPr id="41001" name="Rectangle 3"/>
          <p:cNvSpPr txBox="1"/>
          <p:nvPr/>
        </p:nvSpPr>
        <p:spPr>
          <a:xfrm>
            <a:off x="167005" y="2103755"/>
            <a:ext cx="3422015"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旋律的形式结构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75780" name="矩形 28"/>
          <p:cNvSpPr/>
          <p:nvPr/>
        </p:nvSpPr>
        <p:spPr>
          <a:xfrm>
            <a:off x="490855" y="2730500"/>
            <a:ext cx="2801620" cy="398780"/>
          </a:xfrm>
          <a:prstGeom prst="rect">
            <a:avLst/>
          </a:prstGeom>
          <a:noFill/>
          <a:ln w="9525">
            <a:noFill/>
          </a:ln>
        </p:spPr>
        <p:txBody>
          <a:bodyPr wrap="square" anchor="t">
            <a:spAutoFit/>
          </a:bodyPr>
          <a:p>
            <a:pPr eaLnBrk="0" hangingPunct="0"/>
            <a:r>
              <a:rPr lang="zh-CN" altLang="en-US" sz="18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en-GB" altLang="en-US"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a:t>
            </a:r>
            <a:r>
              <a:rPr lang="zh-CN" altLang="en-US" sz="2000" i="1" dirty="0">
                <a:latin typeface="Times New Roman" panose="02020603050405020304" pitchFamily="18" charset="0"/>
                <a:ea typeface="宋体" panose="02010600030101010101" pitchFamily="2" charset="-122"/>
              </a:rPr>
              <a:t>为歌词配旋律</a:t>
            </a:r>
            <a:endParaRPr lang="zh-CN" altLang="en-US" sz="2000" i="1" dirty="0">
              <a:latin typeface="Times New Roman" panose="02020603050405020304" pitchFamily="18" charset="0"/>
              <a:ea typeface="宋体" panose="02010600030101010101" pitchFamily="2" charset="-122"/>
            </a:endParaRPr>
          </a:p>
        </p:txBody>
      </p:sp>
      <p:sp>
        <p:nvSpPr>
          <p:cNvPr id="4" name="矩形 41"/>
          <p:cNvSpPr/>
          <p:nvPr/>
        </p:nvSpPr>
        <p:spPr>
          <a:xfrm>
            <a:off x="6156325" y="1950085"/>
            <a:ext cx="1459230" cy="275590"/>
          </a:xfrm>
          <a:prstGeom prst="rect">
            <a:avLst/>
          </a:prstGeom>
          <a:solidFill>
            <a:schemeClr val="accent2"/>
          </a:solidFill>
          <a:ln w="9525">
            <a:noFill/>
          </a:ln>
        </p:spPr>
        <p:txBody>
          <a:bodyPr wrap="square" anchor="t">
            <a:spAutoFit/>
          </a:bodyPr>
          <a:p>
            <a:pPr eaLnBrk="0" hangingPunct="0"/>
            <a:r>
              <a:rPr lang="zh-CN" altLang="en-US" sz="1200" b="1" i="1" dirty="0">
                <a:solidFill>
                  <a:srgbClr val="FFC000"/>
                </a:solidFill>
                <a:latin typeface="Times New Roman" panose="02020603050405020304" pitchFamily="18" charset="0"/>
                <a:ea typeface="宋体" panose="02010600030101010101" pitchFamily="2" charset="-122"/>
              </a:rPr>
              <a:t>作   曲   模   板</a:t>
            </a:r>
            <a:endParaRPr lang="zh-CN" altLang="en-US" sz="1200" b="1" i="1" dirty="0">
              <a:solidFill>
                <a:srgbClr val="FFC000"/>
              </a:solidFill>
              <a:latin typeface="Times New Roman" panose="02020603050405020304" pitchFamily="18" charset="0"/>
              <a:ea typeface="宋体" panose="02010600030101010101" pitchFamily="2" charset="-122"/>
            </a:endParaRPr>
          </a:p>
        </p:txBody>
      </p:sp>
      <p:sp>
        <p:nvSpPr>
          <p:cNvPr id="3" name="矩形 41"/>
          <p:cNvSpPr/>
          <p:nvPr/>
        </p:nvSpPr>
        <p:spPr>
          <a:xfrm>
            <a:off x="6211570" y="4351655"/>
            <a:ext cx="1459230" cy="275590"/>
          </a:xfrm>
          <a:prstGeom prst="rect">
            <a:avLst/>
          </a:prstGeom>
          <a:solidFill>
            <a:schemeClr val="accent2"/>
          </a:solidFill>
          <a:ln w="9525">
            <a:noFill/>
          </a:ln>
        </p:spPr>
        <p:txBody>
          <a:bodyPr wrap="square" anchor="t">
            <a:spAutoFit/>
          </a:bodyPr>
          <a:p>
            <a:pPr eaLnBrk="0" hangingPunct="0"/>
            <a:r>
              <a:rPr lang="zh-CN" altLang="en-US" sz="1200" b="1" i="1" dirty="0">
                <a:solidFill>
                  <a:srgbClr val="FFC000"/>
                </a:solidFill>
                <a:latin typeface="Times New Roman" panose="02020603050405020304" pitchFamily="18" charset="0"/>
                <a:ea typeface="宋体" panose="02010600030101010101" pitchFamily="2" charset="-122"/>
              </a:rPr>
              <a:t>作   曲   模   板</a:t>
            </a:r>
            <a:endParaRPr lang="zh-CN" altLang="en-US" sz="1200" b="1"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矩形 15"/>
          <p:cNvSpPr/>
          <p:nvPr/>
        </p:nvSpPr>
        <p:spPr>
          <a:xfrm>
            <a:off x="365125" y="2635250"/>
            <a:ext cx="3686175" cy="3416300"/>
          </a:xfrm>
          <a:prstGeom prst="rect">
            <a:avLst/>
          </a:prstGeom>
          <a:noFill/>
          <a:ln w="19050" cap="flat" cmpd="sng">
            <a:solidFill>
              <a:srgbClr val="FF0000"/>
            </a:solidFill>
            <a:prstDash val="dashDot"/>
            <a:miter/>
            <a:headEnd type="none" w="med" len="med"/>
            <a:tailEnd type="none" w="med" len="med"/>
          </a:ln>
        </p:spPr>
        <p:txBody>
          <a:bodyPr anchor="t">
            <a:spAutoFit/>
          </a:bodyPr>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p:txBody>
      </p:sp>
      <p:sp>
        <p:nvSpPr>
          <p:cNvPr id="86019" name="矩形 16"/>
          <p:cNvSpPr/>
          <p:nvPr/>
        </p:nvSpPr>
        <p:spPr>
          <a:xfrm>
            <a:off x="388938" y="2613025"/>
            <a:ext cx="1774825" cy="337185"/>
          </a:xfrm>
          <a:prstGeom prst="rect">
            <a:avLst/>
          </a:prstGeom>
          <a:noFill/>
          <a:ln w="9525">
            <a:noFill/>
          </a:ln>
        </p:spPr>
        <p:txBody>
          <a:bodyPr anchor="t">
            <a:spAutoFit/>
          </a:bodyPr>
          <a:p>
            <a:pPr eaLnBrk="0" hangingPunct="0">
              <a:spcBef>
                <a:spcPct val="20000"/>
              </a:spcBef>
            </a:pPr>
            <a:r>
              <a:rPr lang="zh-CN" sz="1600" dirty="0">
                <a:solidFill>
                  <a:srgbClr val="FF0000"/>
                </a:solidFill>
                <a:latin typeface="Times New Roman" panose="02020603050405020304" pitchFamily="18" charset="0"/>
                <a:ea typeface="宋体" panose="02010600030101010101" pitchFamily="2" charset="-122"/>
              </a:rPr>
              <a:t>训练阶段</a:t>
            </a:r>
            <a:endParaRPr lang="zh-CN" sz="1600" dirty="0">
              <a:solidFill>
                <a:srgbClr val="FF0000"/>
              </a:solidFill>
              <a:latin typeface="Times New Roman" panose="02020603050405020304" pitchFamily="18" charset="0"/>
              <a:ea typeface="宋体" panose="02010600030101010101" pitchFamily="2" charset="-122"/>
            </a:endParaRPr>
          </a:p>
        </p:txBody>
      </p:sp>
      <p:sp>
        <p:nvSpPr>
          <p:cNvPr id="18" name="椭圆 17"/>
          <p:cNvSpPr/>
          <p:nvPr/>
        </p:nvSpPr>
        <p:spPr>
          <a:xfrm>
            <a:off x="2192338" y="2997200"/>
            <a:ext cx="969963" cy="323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开始</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21" name="矩形 18"/>
          <p:cNvSpPr/>
          <p:nvPr/>
        </p:nvSpPr>
        <p:spPr>
          <a:xfrm>
            <a:off x="814705" y="3554730"/>
            <a:ext cx="294767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algn="ctr" eaLnBrk="0" hangingPunct="0"/>
            <a:r>
              <a:rPr lang="zh-CN" altLang="en-US" sz="1600" dirty="0">
                <a:latin typeface="Times New Roman" panose="02020603050405020304" pitchFamily="18" charset="0"/>
                <a:ea typeface="宋体" panose="02010600030101010101" pitchFamily="2" charset="-122"/>
              </a:rPr>
              <a:t>收集现有歌曲并将其输入系统</a:t>
            </a:r>
            <a:endParaRPr lang="zh-CN" altLang="en-US" sz="1600" dirty="0">
              <a:latin typeface="Times New Roman" panose="02020603050405020304" pitchFamily="18" charset="0"/>
              <a:ea typeface="宋体" panose="02010600030101010101" pitchFamily="2" charset="-122"/>
            </a:endParaRPr>
          </a:p>
        </p:txBody>
      </p:sp>
      <p:sp>
        <p:nvSpPr>
          <p:cNvPr id="22" name="流程图: 磁盘 21"/>
          <p:cNvSpPr/>
          <p:nvPr/>
        </p:nvSpPr>
        <p:spPr>
          <a:xfrm>
            <a:off x="1235075" y="6015038"/>
            <a:ext cx="6313488" cy="463550"/>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作曲模板与乐汇数据库</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30" name="直接箭头连接符 29"/>
          <p:cNvCxnSpPr/>
          <p:nvPr/>
        </p:nvCxnSpPr>
        <p:spPr>
          <a:xfrm>
            <a:off x="2667000" y="3317875"/>
            <a:ext cx="0" cy="236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679700" y="3905250"/>
            <a:ext cx="0" cy="236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2273618" y="4725988"/>
            <a:ext cx="969963" cy="323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结束</a:t>
            </a:r>
            <a:endParaRPr kumimoji="0" lang="zh-CN" altLang="en-US"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34" name="直接箭头连接符 33"/>
          <p:cNvCxnSpPr/>
          <p:nvPr/>
        </p:nvCxnSpPr>
        <p:spPr>
          <a:xfrm flipV="1">
            <a:off x="1979613" y="4508500"/>
            <a:ext cx="0" cy="577850"/>
          </a:xfrm>
          <a:prstGeom prst="straightConnector1">
            <a:avLst/>
          </a:prstGeom>
          <a:ln w="28575">
            <a:solidFill>
              <a:srgbClr val="FFC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1835150" y="4510088"/>
            <a:ext cx="0" cy="577850"/>
          </a:xfrm>
          <a:prstGeom prst="straightConnector1">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下箭头 37"/>
          <p:cNvSpPr/>
          <p:nvPr/>
        </p:nvSpPr>
        <p:spPr>
          <a:xfrm>
            <a:off x="1689100" y="5447030"/>
            <a:ext cx="377825" cy="6286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30" name="矩形 39"/>
          <p:cNvSpPr/>
          <p:nvPr/>
        </p:nvSpPr>
        <p:spPr>
          <a:xfrm>
            <a:off x="4176713" y="2643188"/>
            <a:ext cx="4662487" cy="3416300"/>
          </a:xfrm>
          <a:prstGeom prst="rect">
            <a:avLst/>
          </a:prstGeom>
          <a:noFill/>
          <a:ln w="19050" cap="flat" cmpd="sng">
            <a:solidFill>
              <a:srgbClr val="FF0000"/>
            </a:solidFill>
            <a:prstDash val="dashDot"/>
            <a:miter/>
            <a:headEnd type="none" w="med" len="med"/>
            <a:tailEnd type="none" w="med" len="med"/>
          </a:ln>
        </p:spPr>
        <p:txBody>
          <a:bodyPr anchor="t">
            <a:spAutoFit/>
          </a:bodyPr>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p:txBody>
      </p:sp>
      <p:sp>
        <p:nvSpPr>
          <p:cNvPr id="41" name="椭圆 40"/>
          <p:cNvSpPr/>
          <p:nvPr/>
        </p:nvSpPr>
        <p:spPr>
          <a:xfrm>
            <a:off x="6364288" y="2698750"/>
            <a:ext cx="969963" cy="323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开始</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32" name="矩形 41"/>
          <p:cNvSpPr/>
          <p:nvPr/>
        </p:nvSpPr>
        <p:spPr>
          <a:xfrm>
            <a:off x="4115753" y="2643505"/>
            <a:ext cx="1901825" cy="337185"/>
          </a:xfrm>
          <a:prstGeom prst="rect">
            <a:avLst/>
          </a:prstGeom>
          <a:noFill/>
          <a:ln w="9525">
            <a:noFill/>
          </a:ln>
        </p:spPr>
        <p:txBody>
          <a:bodyPr wrap="square" anchor="t">
            <a:spAutoFit/>
          </a:bodyPr>
          <a:p>
            <a:pPr eaLnBrk="0" hangingPunct="0">
              <a:spcBef>
                <a:spcPct val="20000"/>
              </a:spcBef>
            </a:pPr>
            <a:r>
              <a:rPr lang="zh-CN" sz="1600" dirty="0">
                <a:solidFill>
                  <a:srgbClr val="FF0000"/>
                </a:solidFill>
                <a:latin typeface="Times New Roman" panose="02020603050405020304" pitchFamily="18" charset="0"/>
                <a:ea typeface="宋体" panose="02010600030101010101" pitchFamily="2" charset="-122"/>
              </a:rPr>
              <a:t>为歌词配旋律阶段</a:t>
            </a:r>
            <a:endParaRPr lang="zh-CN" sz="1600" dirty="0">
              <a:solidFill>
                <a:srgbClr val="FF0000"/>
              </a:solidFill>
              <a:latin typeface="Times New Roman" panose="02020603050405020304" pitchFamily="18" charset="0"/>
              <a:ea typeface="宋体" panose="02010600030101010101" pitchFamily="2" charset="-122"/>
            </a:endParaRPr>
          </a:p>
        </p:txBody>
      </p:sp>
      <p:sp>
        <p:nvSpPr>
          <p:cNvPr id="86033" name="矩形 42"/>
          <p:cNvSpPr/>
          <p:nvPr/>
        </p:nvSpPr>
        <p:spPr>
          <a:xfrm>
            <a:off x="5893435" y="3181350"/>
            <a:ext cx="205994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600" dirty="0">
                <a:latin typeface="Times New Roman" panose="02020603050405020304" pitchFamily="18" charset="0"/>
                <a:ea typeface="宋体" panose="02010600030101010101" pitchFamily="2" charset="-122"/>
              </a:rPr>
              <a:t>输入歌曲的诗歌形式</a:t>
            </a:r>
            <a:endParaRPr lang="zh-CN" sz="1600" dirty="0">
              <a:latin typeface="Times New Roman" panose="02020603050405020304" pitchFamily="18" charset="0"/>
              <a:ea typeface="宋体" panose="02010600030101010101" pitchFamily="2" charset="-122"/>
            </a:endParaRPr>
          </a:p>
        </p:txBody>
      </p:sp>
      <p:sp>
        <p:nvSpPr>
          <p:cNvPr id="86034" name="矩形 42"/>
          <p:cNvSpPr/>
          <p:nvPr/>
        </p:nvSpPr>
        <p:spPr>
          <a:xfrm>
            <a:off x="5568315" y="3634105"/>
            <a:ext cx="274574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600" dirty="0">
                <a:latin typeface="Times New Roman" panose="02020603050405020304" pitchFamily="18" charset="0"/>
                <a:ea typeface="宋体" panose="02010600030101010101" pitchFamily="2" charset="-122"/>
              </a:rPr>
              <a:t>设置节拍、情感色彩与调式</a:t>
            </a:r>
            <a:endParaRPr lang="zh-CN" altLang="en-US" sz="1600" dirty="0">
              <a:latin typeface="Times New Roman" panose="02020603050405020304" pitchFamily="18" charset="0"/>
              <a:ea typeface="宋体" panose="02010600030101010101" pitchFamily="2" charset="-122"/>
            </a:endParaRPr>
          </a:p>
        </p:txBody>
      </p:sp>
      <p:sp>
        <p:nvSpPr>
          <p:cNvPr id="86041" name="矩形 42"/>
          <p:cNvSpPr/>
          <p:nvPr/>
        </p:nvSpPr>
        <p:spPr>
          <a:xfrm>
            <a:off x="4697095" y="4200525"/>
            <a:ext cx="1224280" cy="58356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600" dirty="0">
                <a:latin typeface="Times New Roman" panose="02020603050405020304" pitchFamily="18" charset="0"/>
                <a:ea typeface="宋体" panose="02010600030101010101" pitchFamily="2" charset="-122"/>
                <a:hlinkClick r:id="rId1" action="ppaction://hlinksldjump"/>
              </a:rPr>
              <a:t>搜索并匹配作曲模板</a:t>
            </a:r>
            <a:endParaRPr lang="zh-CN" sz="1600" dirty="0">
              <a:latin typeface="Times New Roman" panose="02020603050405020304" pitchFamily="18" charset="0"/>
              <a:ea typeface="宋体" panose="02010600030101010101" pitchFamily="2" charset="-122"/>
            </a:endParaRPr>
          </a:p>
        </p:txBody>
      </p:sp>
      <p:sp>
        <p:nvSpPr>
          <p:cNvPr id="86042" name="矩形 42"/>
          <p:cNvSpPr/>
          <p:nvPr/>
        </p:nvSpPr>
        <p:spPr>
          <a:xfrm>
            <a:off x="6962775" y="4088130"/>
            <a:ext cx="1453515" cy="58356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600" dirty="0">
                <a:latin typeface="Times New Roman" panose="02020603050405020304" pitchFamily="18" charset="0"/>
                <a:ea typeface="宋体" panose="02010600030101010101" pitchFamily="2" charset="-122"/>
                <a:hlinkClick r:id="rId2" action="ppaction://hlinksldjump"/>
              </a:rPr>
              <a:t>置换非休止音符的调式音级</a:t>
            </a:r>
            <a:endParaRPr lang="zh-CN" altLang="en-US" sz="1600" dirty="0">
              <a:latin typeface="Times New Roman" panose="02020603050405020304" pitchFamily="18" charset="0"/>
              <a:ea typeface="宋体" panose="02010600030101010101" pitchFamily="2" charset="-122"/>
            </a:endParaRPr>
          </a:p>
        </p:txBody>
      </p:sp>
      <p:sp>
        <p:nvSpPr>
          <p:cNvPr id="86044" name="矩形 42"/>
          <p:cNvSpPr/>
          <p:nvPr/>
        </p:nvSpPr>
        <p:spPr>
          <a:xfrm>
            <a:off x="6838315" y="4974590"/>
            <a:ext cx="165100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600" dirty="0">
                <a:latin typeface="Times New Roman" panose="02020603050405020304" pitchFamily="18" charset="0"/>
                <a:ea typeface="宋体" panose="02010600030101010101" pitchFamily="2" charset="-122"/>
                <a:hlinkClick r:id="rId3" action="ppaction://hlinksldjump"/>
              </a:rPr>
              <a:t>生成新乐汇序列</a:t>
            </a:r>
            <a:endParaRPr lang="zh-CN" altLang="en-US" sz="1600" dirty="0">
              <a:latin typeface="Times New Roman" panose="02020603050405020304" pitchFamily="18" charset="0"/>
              <a:ea typeface="宋体" panose="02010600030101010101" pitchFamily="2" charset="-122"/>
            </a:endParaRPr>
          </a:p>
        </p:txBody>
      </p:sp>
      <p:sp>
        <p:nvSpPr>
          <p:cNvPr id="69" name="椭圆 68"/>
          <p:cNvSpPr/>
          <p:nvPr/>
        </p:nvSpPr>
        <p:spPr>
          <a:xfrm>
            <a:off x="7226300" y="5562600"/>
            <a:ext cx="969963" cy="279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结束</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上下箭头 80"/>
          <p:cNvSpPr/>
          <p:nvPr/>
        </p:nvSpPr>
        <p:spPr>
          <a:xfrm>
            <a:off x="5438140" y="5603875"/>
            <a:ext cx="370205" cy="47180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上下箭头 81"/>
          <p:cNvSpPr/>
          <p:nvPr/>
        </p:nvSpPr>
        <p:spPr>
          <a:xfrm>
            <a:off x="4652010" y="4783773"/>
            <a:ext cx="369888" cy="137953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53" name="矩形 30"/>
          <p:cNvSpPr/>
          <p:nvPr/>
        </p:nvSpPr>
        <p:spPr>
          <a:xfrm>
            <a:off x="3504565" y="6508750"/>
            <a:ext cx="2172970" cy="306705"/>
          </a:xfrm>
          <a:prstGeom prst="rect">
            <a:avLst/>
          </a:prstGeom>
          <a:noFill/>
          <a:ln w="9525">
            <a:noFill/>
          </a:ln>
        </p:spPr>
        <p:txBody>
          <a:bodyPr wrap="square" anchor="t">
            <a:spAutoFit/>
          </a:bodyPr>
          <a:p>
            <a:pPr eaLnBrk="0" hangingPunct="0"/>
            <a:r>
              <a:rPr lang="zh-CN" altLang="en-US" sz="1400" dirty="0">
                <a:solidFill>
                  <a:srgbClr val="FFC000"/>
                </a:solidFill>
                <a:latin typeface="Times New Roman" panose="02020603050405020304" pitchFamily="18" charset="0"/>
                <a:ea typeface="宋体" panose="02010600030101010101" pitchFamily="2" charset="-122"/>
              </a:rPr>
              <a:t>旋律创作系统的工作流程</a:t>
            </a:r>
            <a:endParaRPr lang="zh-CN" altLang="en-US" sz="1400" dirty="0">
              <a:solidFill>
                <a:srgbClr val="FFC000"/>
              </a:solidFill>
              <a:latin typeface="Times New Roman" panose="02020603050405020304" pitchFamily="18" charset="0"/>
              <a:ea typeface="宋体" panose="02010600030101010101" pitchFamily="2" charset="-122"/>
            </a:endParaRPr>
          </a:p>
        </p:txBody>
      </p:sp>
      <p:sp>
        <p:nvSpPr>
          <p:cNvPr id="86055" name="矩形 42"/>
          <p:cNvSpPr/>
          <p:nvPr/>
        </p:nvSpPr>
        <p:spPr>
          <a:xfrm>
            <a:off x="5056505" y="5020310"/>
            <a:ext cx="1033780" cy="58356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600" dirty="0">
                <a:latin typeface="Times New Roman" panose="02020603050405020304" pitchFamily="18" charset="0"/>
                <a:ea typeface="宋体" panose="02010600030101010101" pitchFamily="2" charset="-122"/>
                <a:hlinkClick r:id="rId4" action="ppaction://hlinksldjump"/>
              </a:rPr>
              <a:t>匹配多乐汇结构</a:t>
            </a:r>
            <a:endParaRPr lang="zh-CN" sz="1600" dirty="0">
              <a:latin typeface="Times New Roman" panose="02020603050405020304" pitchFamily="18" charset="0"/>
              <a:ea typeface="宋体" panose="02010600030101010101" pitchFamily="2" charset="-122"/>
            </a:endParaRPr>
          </a:p>
        </p:txBody>
      </p:sp>
      <p:sp>
        <p:nvSpPr>
          <p:cNvPr id="86058" name="Rectangle 3"/>
          <p:cNvSpPr txBox="1"/>
          <p:nvPr/>
        </p:nvSpPr>
        <p:spPr>
          <a:xfrm>
            <a:off x="166688" y="2103438"/>
            <a:ext cx="49101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86063" name="矩形 18"/>
          <p:cNvSpPr/>
          <p:nvPr/>
        </p:nvSpPr>
        <p:spPr>
          <a:xfrm>
            <a:off x="1595120" y="4151630"/>
            <a:ext cx="1438275"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hlinkClick r:id="rId5" action="ppaction://hlinksldjump"/>
              </a:rPr>
              <a:t>建立作曲模板</a:t>
            </a:r>
            <a:endParaRPr lang="zh-CN" altLang="en-US" sz="1600"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cxnSp>
        <p:nvCxnSpPr>
          <p:cNvPr id="4" name="直接箭头连接符 3"/>
          <p:cNvCxnSpPr/>
          <p:nvPr/>
        </p:nvCxnSpPr>
        <p:spPr>
          <a:xfrm>
            <a:off x="2722245" y="4521200"/>
            <a:ext cx="0" cy="236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4237" name="直接连接符 51"/>
          <p:cNvCxnSpPr/>
          <p:nvPr/>
        </p:nvCxnSpPr>
        <p:spPr>
          <a:xfrm>
            <a:off x="5373688" y="4056063"/>
            <a:ext cx="1544637" cy="0"/>
          </a:xfrm>
          <a:prstGeom prst="line">
            <a:avLst/>
          </a:prstGeom>
          <a:ln w="19050" cap="flat" cmpd="sng">
            <a:solidFill>
              <a:srgbClr val="FFC000"/>
            </a:solidFill>
            <a:prstDash val="solid"/>
            <a:headEnd type="none" w="med" len="med"/>
            <a:tailEnd type="none" w="med" len="med"/>
          </a:ln>
        </p:spPr>
      </p:cxnSp>
      <p:cxnSp>
        <p:nvCxnSpPr>
          <p:cNvPr id="5" name="直接箭头连接符 4"/>
          <p:cNvCxnSpPr/>
          <p:nvPr/>
        </p:nvCxnSpPr>
        <p:spPr>
          <a:xfrm>
            <a:off x="6902450" y="3041650"/>
            <a:ext cx="1588" cy="1428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6915150" y="3514725"/>
            <a:ext cx="1588" cy="1428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4238" name="直接连接符 72"/>
          <p:cNvCxnSpPr/>
          <p:nvPr/>
        </p:nvCxnSpPr>
        <p:spPr>
          <a:xfrm>
            <a:off x="6899275" y="3975100"/>
            <a:ext cx="6350" cy="80963"/>
          </a:xfrm>
          <a:prstGeom prst="line">
            <a:avLst/>
          </a:prstGeom>
          <a:ln w="19050" cap="flat" cmpd="sng">
            <a:solidFill>
              <a:srgbClr val="FFC000"/>
            </a:solidFill>
            <a:prstDash val="solid"/>
            <a:headEnd type="none" w="med" len="med"/>
            <a:tailEnd type="none" w="med" len="med"/>
          </a:ln>
        </p:spPr>
      </p:cxnSp>
      <p:cxnSp>
        <p:nvCxnSpPr>
          <p:cNvPr id="7" name="直接箭头连接符 6"/>
          <p:cNvCxnSpPr/>
          <p:nvPr/>
        </p:nvCxnSpPr>
        <p:spPr>
          <a:xfrm>
            <a:off x="5367338" y="4056063"/>
            <a:ext cx="0" cy="1428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921375" y="4432935"/>
            <a:ext cx="1026795" cy="44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endCxn id="86044" idx="0"/>
          </p:cNvCxnSpPr>
          <p:nvPr/>
        </p:nvCxnSpPr>
        <p:spPr>
          <a:xfrm flipH="1">
            <a:off x="7663815" y="4681855"/>
            <a:ext cx="3810" cy="2927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6044" idx="2"/>
          </p:cNvCxnSpPr>
          <p:nvPr/>
        </p:nvCxnSpPr>
        <p:spPr>
          <a:xfrm>
            <a:off x="7663815" y="5311775"/>
            <a:ext cx="4445" cy="27749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5622925" y="4799013"/>
            <a:ext cx="0" cy="214313"/>
          </a:xfrm>
          <a:prstGeom prst="straightConnector1">
            <a:avLst/>
          </a:prstGeom>
          <a:ln w="28575">
            <a:solidFill>
              <a:srgbClr val="FFC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5508625" y="4802188"/>
            <a:ext cx="0" cy="217488"/>
          </a:xfrm>
          <a:prstGeom prst="straightConnector1">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直角上箭头 12"/>
          <p:cNvSpPr/>
          <p:nvPr/>
        </p:nvSpPr>
        <p:spPr>
          <a:xfrm flipV="1">
            <a:off x="3033395" y="4200525"/>
            <a:ext cx="922655" cy="1931670"/>
          </a:xfrm>
          <a:prstGeom prst="bentUpArrow">
            <a:avLst/>
          </a:prstGeom>
          <a:solidFill>
            <a:schemeClr val="accent1"/>
          </a:solidFill>
          <a:ln w="9525" cap="flat" cmpd="sng" algn="ctr">
            <a:no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3600" b="0" i="0" u="none" strike="noStrike" cap="none" normalizeH="0" baseline="0" smtClean="0">
              <a:ln>
                <a:noFill/>
              </a:ln>
              <a:solidFill>
                <a:schemeClr val="tx1"/>
              </a:solidFill>
              <a:effectLst/>
              <a:latin typeface="Chiller" panose="04020404031007020602" pitchFamily="82" charset="0"/>
            </a:endParaRPr>
          </a:p>
        </p:txBody>
      </p:sp>
      <p:sp>
        <p:nvSpPr>
          <p:cNvPr id="16" name="矩形 15"/>
          <p:cNvSpPr/>
          <p:nvPr/>
        </p:nvSpPr>
        <p:spPr>
          <a:xfrm>
            <a:off x="635635" y="5088255"/>
            <a:ext cx="1197610" cy="360045"/>
          </a:xfrm>
          <a:prstGeom prst="rect">
            <a:avLst/>
          </a:prstGeom>
          <a:solidFill>
            <a:schemeClr val="accent1"/>
          </a:solidFill>
          <a:ln w="9525" cap="flat" cmpd="sng" algn="ctr">
            <a:solidFill>
              <a:srgbClr val="00B050"/>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hlinkClick r:id="rId6" action="ppaction://hlinksldjump"/>
              </a:rPr>
              <a:t>构造乐汇与</a:t>
            </a:r>
            <a:endPar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endParaRPr>
          </a:p>
        </p:txBody>
      </p:sp>
      <p:sp>
        <p:nvSpPr>
          <p:cNvPr id="17" name="矩形 16"/>
          <p:cNvSpPr/>
          <p:nvPr/>
        </p:nvSpPr>
        <p:spPr>
          <a:xfrm>
            <a:off x="1833245" y="5088255"/>
            <a:ext cx="1558290" cy="360045"/>
          </a:xfrm>
          <a:prstGeom prst="rect">
            <a:avLst/>
          </a:prstGeom>
          <a:solidFill>
            <a:schemeClr val="accent1"/>
          </a:solidFill>
          <a:ln w="9525" cap="flat" cmpd="sng" algn="ctr">
            <a:solidFill>
              <a:srgbClr val="00B050"/>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hlinkClick r:id="rId4" action="ppaction://hlinksldjump"/>
              </a:rPr>
              <a:t>构造多乐汇结构</a:t>
            </a:r>
            <a:endPar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endParaRP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矩形 15"/>
          <p:cNvSpPr/>
          <p:nvPr/>
        </p:nvSpPr>
        <p:spPr>
          <a:xfrm>
            <a:off x="365125" y="2635250"/>
            <a:ext cx="3686175" cy="3416300"/>
          </a:xfrm>
          <a:prstGeom prst="rect">
            <a:avLst/>
          </a:prstGeom>
          <a:noFill/>
          <a:ln w="19050" cap="flat" cmpd="sng">
            <a:solidFill>
              <a:srgbClr val="FF0000"/>
            </a:solidFill>
            <a:prstDash val="dashDot"/>
            <a:miter/>
            <a:headEnd type="none" w="med" len="med"/>
            <a:tailEnd type="none" w="med" len="med"/>
          </a:ln>
        </p:spPr>
        <p:txBody>
          <a:bodyPr anchor="t">
            <a:spAutoFit/>
          </a:bodyPr>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p:txBody>
      </p:sp>
      <p:sp>
        <p:nvSpPr>
          <p:cNvPr id="86019" name="矩形 16"/>
          <p:cNvSpPr/>
          <p:nvPr/>
        </p:nvSpPr>
        <p:spPr>
          <a:xfrm>
            <a:off x="388938" y="2613025"/>
            <a:ext cx="1774825" cy="337185"/>
          </a:xfrm>
          <a:prstGeom prst="rect">
            <a:avLst/>
          </a:prstGeom>
          <a:noFill/>
          <a:ln w="9525">
            <a:noFill/>
          </a:ln>
        </p:spPr>
        <p:txBody>
          <a:bodyPr anchor="t">
            <a:spAutoFit/>
          </a:bodyPr>
          <a:p>
            <a:pPr eaLnBrk="0" hangingPunct="0">
              <a:spcBef>
                <a:spcPct val="20000"/>
              </a:spcBef>
            </a:pPr>
            <a:r>
              <a:rPr lang="zh-CN" sz="1600" dirty="0">
                <a:solidFill>
                  <a:srgbClr val="FF0000"/>
                </a:solidFill>
                <a:latin typeface="Times New Roman" panose="02020603050405020304" pitchFamily="18" charset="0"/>
                <a:ea typeface="宋体" panose="02010600030101010101" pitchFamily="2" charset="-122"/>
              </a:rPr>
              <a:t>训练阶段</a:t>
            </a:r>
            <a:endParaRPr lang="zh-CN" sz="1600" dirty="0">
              <a:solidFill>
                <a:srgbClr val="FF0000"/>
              </a:solidFill>
              <a:latin typeface="Times New Roman" panose="02020603050405020304" pitchFamily="18" charset="0"/>
              <a:ea typeface="宋体" panose="02010600030101010101" pitchFamily="2" charset="-122"/>
            </a:endParaRPr>
          </a:p>
        </p:txBody>
      </p:sp>
      <p:sp>
        <p:nvSpPr>
          <p:cNvPr id="18" name="椭圆 17"/>
          <p:cNvSpPr/>
          <p:nvPr/>
        </p:nvSpPr>
        <p:spPr>
          <a:xfrm>
            <a:off x="2192338" y="2997200"/>
            <a:ext cx="969963" cy="323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开始</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21" name="矩形 18"/>
          <p:cNvSpPr/>
          <p:nvPr/>
        </p:nvSpPr>
        <p:spPr>
          <a:xfrm>
            <a:off x="814705" y="3554730"/>
            <a:ext cx="294767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algn="ctr" eaLnBrk="0" hangingPunct="0"/>
            <a:r>
              <a:rPr lang="zh-CN" altLang="en-US" sz="1600" dirty="0">
                <a:latin typeface="Times New Roman" panose="02020603050405020304" pitchFamily="18" charset="0"/>
                <a:ea typeface="宋体" panose="02010600030101010101" pitchFamily="2" charset="-122"/>
              </a:rPr>
              <a:t>收集现有歌曲并将其输入系统</a:t>
            </a:r>
            <a:endParaRPr lang="zh-CN" altLang="en-US" sz="1600" dirty="0">
              <a:latin typeface="Times New Roman" panose="02020603050405020304" pitchFamily="18" charset="0"/>
              <a:ea typeface="宋体" panose="02010600030101010101" pitchFamily="2" charset="-122"/>
            </a:endParaRPr>
          </a:p>
        </p:txBody>
      </p:sp>
      <p:sp>
        <p:nvSpPr>
          <p:cNvPr id="22" name="流程图: 磁盘 21"/>
          <p:cNvSpPr/>
          <p:nvPr/>
        </p:nvSpPr>
        <p:spPr>
          <a:xfrm>
            <a:off x="1235075" y="6015355"/>
            <a:ext cx="2767330" cy="463550"/>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作曲模板与乐汇数据库</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30" name="直接箭头连接符 29"/>
          <p:cNvCxnSpPr/>
          <p:nvPr/>
        </p:nvCxnSpPr>
        <p:spPr>
          <a:xfrm>
            <a:off x="2667000" y="3317875"/>
            <a:ext cx="0" cy="236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679700" y="3905250"/>
            <a:ext cx="0" cy="236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2273618" y="4725988"/>
            <a:ext cx="969963" cy="323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结束</a:t>
            </a:r>
            <a:endParaRPr kumimoji="0" lang="zh-CN" altLang="en-US"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34" name="直接箭头连接符 33"/>
          <p:cNvCxnSpPr/>
          <p:nvPr/>
        </p:nvCxnSpPr>
        <p:spPr>
          <a:xfrm flipV="1">
            <a:off x="1979613" y="4508500"/>
            <a:ext cx="0" cy="577850"/>
          </a:xfrm>
          <a:prstGeom prst="straightConnector1">
            <a:avLst/>
          </a:prstGeom>
          <a:ln w="28575">
            <a:solidFill>
              <a:srgbClr val="FFC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1835150" y="4510088"/>
            <a:ext cx="0" cy="577850"/>
          </a:xfrm>
          <a:prstGeom prst="straightConnector1">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下箭头 37"/>
          <p:cNvSpPr/>
          <p:nvPr/>
        </p:nvSpPr>
        <p:spPr>
          <a:xfrm>
            <a:off x="1689100" y="5447030"/>
            <a:ext cx="377825" cy="6286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53" name="矩形 30"/>
          <p:cNvSpPr/>
          <p:nvPr/>
        </p:nvSpPr>
        <p:spPr>
          <a:xfrm>
            <a:off x="1136650" y="6508750"/>
            <a:ext cx="2172970" cy="306705"/>
          </a:xfrm>
          <a:prstGeom prst="rect">
            <a:avLst/>
          </a:prstGeom>
          <a:noFill/>
          <a:ln w="9525">
            <a:noFill/>
          </a:ln>
        </p:spPr>
        <p:txBody>
          <a:bodyPr wrap="square" anchor="t">
            <a:spAutoFit/>
          </a:bodyPr>
          <a:p>
            <a:pPr eaLnBrk="0" hangingPunct="0"/>
            <a:r>
              <a:rPr lang="zh-CN" altLang="en-US" sz="1400" dirty="0">
                <a:solidFill>
                  <a:srgbClr val="FFC000"/>
                </a:solidFill>
                <a:latin typeface="Times New Roman" panose="02020603050405020304" pitchFamily="18" charset="0"/>
                <a:ea typeface="宋体" panose="02010600030101010101" pitchFamily="2" charset="-122"/>
              </a:rPr>
              <a:t>旋律创作系统的工作流程</a:t>
            </a:r>
            <a:endParaRPr lang="zh-CN" altLang="en-US" sz="1400" dirty="0">
              <a:solidFill>
                <a:srgbClr val="FFC000"/>
              </a:solidFill>
              <a:latin typeface="Times New Roman" panose="02020603050405020304" pitchFamily="18" charset="0"/>
              <a:ea typeface="宋体" panose="02010600030101010101" pitchFamily="2" charset="-122"/>
            </a:endParaRPr>
          </a:p>
        </p:txBody>
      </p:sp>
      <p:sp>
        <p:nvSpPr>
          <p:cNvPr id="86058" name="Rectangle 3"/>
          <p:cNvSpPr txBox="1"/>
          <p:nvPr/>
        </p:nvSpPr>
        <p:spPr>
          <a:xfrm>
            <a:off x="167005" y="2103755"/>
            <a:ext cx="378841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86063" name="矩形 18"/>
          <p:cNvSpPr/>
          <p:nvPr/>
        </p:nvSpPr>
        <p:spPr>
          <a:xfrm>
            <a:off x="1595120" y="4151630"/>
            <a:ext cx="1438275"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r>
              <a:rPr lang="zh-CN" altLang="en-US" sz="1600" dirty="0">
                <a:latin typeface="Times New Roman" panose="02020603050405020304" pitchFamily="18" charset="0"/>
                <a:ea typeface="宋体" panose="02010600030101010101" pitchFamily="2" charset="-122"/>
                <a:hlinkClick r:id="rId1" action="ppaction://hlinksldjump"/>
              </a:rPr>
              <a:t>建立作曲模板</a:t>
            </a:r>
            <a:endParaRPr lang="zh-CN" altLang="en-US" sz="1600"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cxnSp>
        <p:nvCxnSpPr>
          <p:cNvPr id="4" name="直接箭头连接符 3"/>
          <p:cNvCxnSpPr/>
          <p:nvPr/>
        </p:nvCxnSpPr>
        <p:spPr>
          <a:xfrm>
            <a:off x="2722245" y="4521200"/>
            <a:ext cx="0" cy="2365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直角上箭头 12"/>
          <p:cNvSpPr/>
          <p:nvPr/>
        </p:nvSpPr>
        <p:spPr>
          <a:xfrm flipV="1">
            <a:off x="3033395" y="4200525"/>
            <a:ext cx="922655" cy="1931670"/>
          </a:xfrm>
          <a:prstGeom prst="bentUpArrow">
            <a:avLst/>
          </a:prstGeom>
          <a:solidFill>
            <a:schemeClr val="accent1"/>
          </a:solidFill>
          <a:ln w="9525" cap="flat" cmpd="sng" algn="ctr">
            <a:no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zh-CN" sz="3600" b="0" i="0" u="none" strike="noStrike" cap="none" normalizeH="0" baseline="0" smtClean="0">
              <a:ln>
                <a:noFill/>
              </a:ln>
              <a:solidFill>
                <a:schemeClr val="tx1"/>
              </a:solidFill>
              <a:effectLst/>
              <a:latin typeface="Chiller" panose="04020404031007020602" pitchFamily="82" charset="0"/>
            </a:endParaRPr>
          </a:p>
        </p:txBody>
      </p:sp>
      <p:sp>
        <p:nvSpPr>
          <p:cNvPr id="16" name="矩形 15"/>
          <p:cNvSpPr/>
          <p:nvPr/>
        </p:nvSpPr>
        <p:spPr>
          <a:xfrm>
            <a:off x="635635" y="5088255"/>
            <a:ext cx="1197610" cy="360045"/>
          </a:xfrm>
          <a:prstGeom prst="rect">
            <a:avLst/>
          </a:prstGeom>
          <a:solidFill>
            <a:schemeClr val="accent1"/>
          </a:solidFill>
          <a:ln w="9525" cap="flat" cmpd="sng" algn="ctr">
            <a:solidFill>
              <a:srgbClr val="00B050"/>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hlinkClick r:id="rId2" action="ppaction://hlinksldjump"/>
              </a:rPr>
              <a:t>构造乐汇与</a:t>
            </a:r>
            <a:endPar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endParaRPr>
          </a:p>
        </p:txBody>
      </p:sp>
      <p:sp>
        <p:nvSpPr>
          <p:cNvPr id="17" name="矩形 16"/>
          <p:cNvSpPr/>
          <p:nvPr/>
        </p:nvSpPr>
        <p:spPr>
          <a:xfrm>
            <a:off x="1833245" y="5088255"/>
            <a:ext cx="1558290" cy="360045"/>
          </a:xfrm>
          <a:prstGeom prst="rect">
            <a:avLst/>
          </a:prstGeom>
          <a:solidFill>
            <a:schemeClr val="accent1"/>
          </a:solidFill>
          <a:ln w="9525" cap="flat" cmpd="sng" algn="ctr">
            <a:solidFill>
              <a:srgbClr val="00B050"/>
            </a:solidFill>
            <a:prstDash val="solid"/>
            <a:round/>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hlinkClick r:id="rId3" action="ppaction://hlinksldjump"/>
              </a:rPr>
              <a:t>构造多乐汇结构</a:t>
            </a:r>
            <a:endParaRPr kumimoji="0" lang="zh-CN" altLang="en-US" sz="1600" b="0" i="0" u="none" strike="noStrike" cap="none" normalizeH="0" baseline="0" smtClean="0">
              <a:ln>
                <a:noFill/>
              </a:ln>
              <a:solidFill>
                <a:schemeClr val="tx1"/>
              </a:solidFill>
              <a:effectLst/>
              <a:latin typeface="Chiller" panose="04020404031007020602" pitchFamily="82" charset="0"/>
              <a:ea typeface="宋体" panose="02010600030101010101" pitchFamily="2" charset="-122"/>
            </a:endParaRPr>
          </a:p>
        </p:txBody>
      </p:sp>
      <p:pic>
        <p:nvPicPr>
          <p:cNvPr id="88087" name="图片 44"/>
          <p:cNvPicPr>
            <a:picLocks noChangeAspect="1"/>
          </p:cNvPicPr>
          <p:nvPr/>
        </p:nvPicPr>
        <p:blipFill>
          <a:blip r:embed="rId4"/>
          <a:stretch>
            <a:fillRect/>
          </a:stretch>
        </p:blipFill>
        <p:spPr>
          <a:xfrm>
            <a:off x="4638675" y="2622550"/>
            <a:ext cx="4324350" cy="3733800"/>
          </a:xfrm>
          <a:prstGeom prst="rect">
            <a:avLst/>
          </a:prstGeom>
          <a:noFill/>
          <a:ln w="9525">
            <a:noFill/>
          </a:ln>
        </p:spPr>
      </p:pic>
      <p:sp>
        <p:nvSpPr>
          <p:cNvPr id="88089" name="矩形 30"/>
          <p:cNvSpPr/>
          <p:nvPr/>
        </p:nvSpPr>
        <p:spPr>
          <a:xfrm>
            <a:off x="5488940" y="6453505"/>
            <a:ext cx="2658745" cy="306705"/>
          </a:xfrm>
          <a:prstGeom prst="rect">
            <a:avLst/>
          </a:prstGeom>
          <a:noFill/>
          <a:ln w="9525">
            <a:noFill/>
          </a:ln>
        </p:spPr>
        <p:txBody>
          <a:bodyPr wrap="square" anchor="t">
            <a:spAutoFit/>
          </a:bodyPr>
          <a:p>
            <a:pPr eaLnBrk="0" hangingPunct="0"/>
            <a:r>
              <a:rPr lang="zh-CN" sz="1400" dirty="0">
                <a:solidFill>
                  <a:srgbClr val="FFC000"/>
                </a:solidFill>
                <a:latin typeface="Times New Roman" panose="02020603050405020304" pitchFamily="18" charset="0"/>
                <a:ea typeface="宋体" panose="02010600030101010101" pitchFamily="2" charset="-122"/>
              </a:rPr>
              <a:t>系统训练阶段的人机交互界面</a:t>
            </a:r>
            <a:endParaRPr lang="zh-CN" sz="1400"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流程图: 磁盘 21"/>
          <p:cNvSpPr/>
          <p:nvPr/>
        </p:nvSpPr>
        <p:spPr>
          <a:xfrm>
            <a:off x="4455795" y="6015355"/>
            <a:ext cx="3093085" cy="463550"/>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作曲模板与乐汇数据库</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30" name="矩形 39"/>
          <p:cNvSpPr/>
          <p:nvPr/>
        </p:nvSpPr>
        <p:spPr>
          <a:xfrm>
            <a:off x="4176713" y="2643188"/>
            <a:ext cx="4662487" cy="3416300"/>
          </a:xfrm>
          <a:prstGeom prst="rect">
            <a:avLst/>
          </a:prstGeom>
          <a:noFill/>
          <a:ln w="19050" cap="flat" cmpd="sng">
            <a:solidFill>
              <a:srgbClr val="FF0000"/>
            </a:solidFill>
            <a:prstDash val="dashDot"/>
            <a:miter/>
            <a:headEnd type="none" w="med" len="med"/>
            <a:tailEnd type="none" w="med" len="med"/>
          </a:ln>
        </p:spPr>
        <p:txBody>
          <a:bodyPr anchor="t">
            <a:spAutoFit/>
          </a:bodyPr>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a:p>
            <a:pPr eaLnBrk="0" hangingPunct="0"/>
            <a:endParaRPr lang="en-US" altLang="zh-CN" dirty="0">
              <a:latin typeface="Times New Roman" panose="02020603050405020304" pitchFamily="18" charset="0"/>
              <a:ea typeface="宋体" panose="02010600030101010101" pitchFamily="2" charset="-122"/>
            </a:endParaRPr>
          </a:p>
        </p:txBody>
      </p:sp>
      <p:sp>
        <p:nvSpPr>
          <p:cNvPr id="41" name="椭圆 40"/>
          <p:cNvSpPr/>
          <p:nvPr/>
        </p:nvSpPr>
        <p:spPr>
          <a:xfrm>
            <a:off x="6364288" y="2698750"/>
            <a:ext cx="969963" cy="3238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开始</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32" name="矩形 41"/>
          <p:cNvSpPr/>
          <p:nvPr/>
        </p:nvSpPr>
        <p:spPr>
          <a:xfrm>
            <a:off x="4115753" y="2643505"/>
            <a:ext cx="1901825" cy="337185"/>
          </a:xfrm>
          <a:prstGeom prst="rect">
            <a:avLst/>
          </a:prstGeom>
          <a:noFill/>
          <a:ln w="9525">
            <a:noFill/>
          </a:ln>
        </p:spPr>
        <p:txBody>
          <a:bodyPr wrap="square" anchor="t">
            <a:spAutoFit/>
          </a:bodyPr>
          <a:p>
            <a:pPr eaLnBrk="0" hangingPunct="0">
              <a:spcBef>
                <a:spcPct val="20000"/>
              </a:spcBef>
            </a:pPr>
            <a:r>
              <a:rPr lang="zh-CN" sz="1600" dirty="0">
                <a:solidFill>
                  <a:srgbClr val="FF0000"/>
                </a:solidFill>
                <a:latin typeface="Times New Roman" panose="02020603050405020304" pitchFamily="18" charset="0"/>
                <a:ea typeface="宋体" panose="02010600030101010101" pitchFamily="2" charset="-122"/>
              </a:rPr>
              <a:t>为歌词配旋律阶段</a:t>
            </a:r>
            <a:endParaRPr lang="zh-CN" sz="1600" dirty="0">
              <a:solidFill>
                <a:srgbClr val="FF0000"/>
              </a:solidFill>
              <a:latin typeface="Times New Roman" panose="02020603050405020304" pitchFamily="18" charset="0"/>
              <a:ea typeface="宋体" panose="02010600030101010101" pitchFamily="2" charset="-122"/>
            </a:endParaRPr>
          </a:p>
        </p:txBody>
      </p:sp>
      <p:sp>
        <p:nvSpPr>
          <p:cNvPr id="86033" name="矩形 42"/>
          <p:cNvSpPr/>
          <p:nvPr/>
        </p:nvSpPr>
        <p:spPr>
          <a:xfrm>
            <a:off x="5893435" y="3181350"/>
            <a:ext cx="205994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600" dirty="0">
                <a:latin typeface="Times New Roman" panose="02020603050405020304" pitchFamily="18" charset="0"/>
                <a:ea typeface="宋体" panose="02010600030101010101" pitchFamily="2" charset="-122"/>
              </a:rPr>
              <a:t>输入歌曲的诗歌形式</a:t>
            </a:r>
            <a:endParaRPr lang="zh-CN" sz="1600" dirty="0">
              <a:latin typeface="Times New Roman" panose="02020603050405020304" pitchFamily="18" charset="0"/>
              <a:ea typeface="宋体" panose="02010600030101010101" pitchFamily="2" charset="-122"/>
            </a:endParaRPr>
          </a:p>
        </p:txBody>
      </p:sp>
      <p:sp>
        <p:nvSpPr>
          <p:cNvPr id="86034" name="矩形 42"/>
          <p:cNvSpPr/>
          <p:nvPr/>
        </p:nvSpPr>
        <p:spPr>
          <a:xfrm>
            <a:off x="5568315" y="3634105"/>
            <a:ext cx="274574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600" dirty="0">
                <a:latin typeface="Times New Roman" panose="02020603050405020304" pitchFamily="18" charset="0"/>
                <a:ea typeface="宋体" panose="02010600030101010101" pitchFamily="2" charset="-122"/>
              </a:rPr>
              <a:t>设置节拍、情感色彩与调式</a:t>
            </a:r>
            <a:endParaRPr lang="zh-CN" altLang="en-US" sz="1600" dirty="0">
              <a:latin typeface="Times New Roman" panose="02020603050405020304" pitchFamily="18" charset="0"/>
              <a:ea typeface="宋体" panose="02010600030101010101" pitchFamily="2" charset="-122"/>
            </a:endParaRPr>
          </a:p>
        </p:txBody>
      </p:sp>
      <p:sp>
        <p:nvSpPr>
          <p:cNvPr id="86041" name="矩形 42"/>
          <p:cNvSpPr/>
          <p:nvPr/>
        </p:nvSpPr>
        <p:spPr>
          <a:xfrm>
            <a:off x="4697095" y="4200525"/>
            <a:ext cx="1224280" cy="58356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600" dirty="0">
                <a:latin typeface="Times New Roman" panose="02020603050405020304" pitchFamily="18" charset="0"/>
                <a:ea typeface="宋体" panose="02010600030101010101" pitchFamily="2" charset="-122"/>
                <a:hlinkClick r:id="rId1" action="ppaction://hlinksldjump"/>
              </a:rPr>
              <a:t>搜索并匹配作曲模板</a:t>
            </a:r>
            <a:endParaRPr lang="zh-CN" sz="1600" dirty="0">
              <a:latin typeface="Times New Roman" panose="02020603050405020304" pitchFamily="18" charset="0"/>
              <a:ea typeface="宋体" panose="02010600030101010101" pitchFamily="2" charset="-122"/>
            </a:endParaRPr>
          </a:p>
        </p:txBody>
      </p:sp>
      <p:sp>
        <p:nvSpPr>
          <p:cNvPr id="86042" name="矩形 42"/>
          <p:cNvSpPr/>
          <p:nvPr/>
        </p:nvSpPr>
        <p:spPr>
          <a:xfrm>
            <a:off x="6962775" y="4088130"/>
            <a:ext cx="1453515" cy="58356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600" dirty="0">
                <a:latin typeface="Times New Roman" panose="02020603050405020304" pitchFamily="18" charset="0"/>
                <a:ea typeface="宋体" panose="02010600030101010101" pitchFamily="2" charset="-122"/>
                <a:hlinkClick r:id="rId2" action="ppaction://hlinksldjump"/>
              </a:rPr>
              <a:t>置换非休止音符的调式音级</a:t>
            </a:r>
            <a:endParaRPr lang="zh-CN" altLang="en-US" sz="1600" dirty="0">
              <a:latin typeface="Times New Roman" panose="02020603050405020304" pitchFamily="18" charset="0"/>
              <a:ea typeface="宋体" panose="02010600030101010101" pitchFamily="2" charset="-122"/>
            </a:endParaRPr>
          </a:p>
        </p:txBody>
      </p:sp>
      <p:sp>
        <p:nvSpPr>
          <p:cNvPr id="86044" name="矩形 42"/>
          <p:cNvSpPr/>
          <p:nvPr/>
        </p:nvSpPr>
        <p:spPr>
          <a:xfrm>
            <a:off x="6838315" y="4974590"/>
            <a:ext cx="1651000" cy="33718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altLang="en-US" sz="1600" dirty="0">
                <a:latin typeface="Times New Roman" panose="02020603050405020304" pitchFamily="18" charset="0"/>
                <a:ea typeface="宋体" panose="02010600030101010101" pitchFamily="2" charset="-122"/>
                <a:hlinkClick r:id="rId3" action="ppaction://hlinksldjump"/>
              </a:rPr>
              <a:t>生成新乐汇序列</a:t>
            </a:r>
            <a:endParaRPr lang="zh-CN" altLang="en-US" sz="1600" dirty="0">
              <a:latin typeface="Times New Roman" panose="02020603050405020304" pitchFamily="18" charset="0"/>
              <a:ea typeface="宋体" panose="02010600030101010101" pitchFamily="2" charset="-122"/>
            </a:endParaRPr>
          </a:p>
        </p:txBody>
      </p:sp>
      <p:sp>
        <p:nvSpPr>
          <p:cNvPr id="69" name="椭圆 68"/>
          <p:cNvSpPr/>
          <p:nvPr/>
        </p:nvSpPr>
        <p:spPr>
          <a:xfrm>
            <a:off x="7226300" y="5562600"/>
            <a:ext cx="969963" cy="279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结束</a:t>
            </a:r>
            <a:endParaRPr kumimoji="0" lang="zh-CN" sz="16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1" name="上下箭头 80"/>
          <p:cNvSpPr/>
          <p:nvPr/>
        </p:nvSpPr>
        <p:spPr>
          <a:xfrm>
            <a:off x="5438140" y="5603875"/>
            <a:ext cx="370205" cy="47180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2" name="上下箭头 81"/>
          <p:cNvSpPr/>
          <p:nvPr/>
        </p:nvSpPr>
        <p:spPr>
          <a:xfrm>
            <a:off x="4652010" y="4783773"/>
            <a:ext cx="369888" cy="137953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36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86053" name="矩形 30"/>
          <p:cNvSpPr/>
          <p:nvPr/>
        </p:nvSpPr>
        <p:spPr>
          <a:xfrm>
            <a:off x="5083175" y="6508750"/>
            <a:ext cx="3144520" cy="306705"/>
          </a:xfrm>
          <a:prstGeom prst="rect">
            <a:avLst/>
          </a:prstGeom>
          <a:noFill/>
          <a:ln w="9525">
            <a:noFill/>
          </a:ln>
        </p:spPr>
        <p:txBody>
          <a:bodyPr wrap="square" anchor="t">
            <a:spAutoFit/>
          </a:bodyPr>
          <a:p>
            <a:pPr eaLnBrk="0" hangingPunct="0"/>
            <a:r>
              <a:rPr lang="zh-CN" altLang="en-US" sz="1400" dirty="0">
                <a:solidFill>
                  <a:srgbClr val="FFC000"/>
                </a:solidFill>
                <a:latin typeface="Times New Roman" panose="02020603050405020304" pitchFamily="18" charset="0"/>
                <a:ea typeface="宋体" panose="02010600030101010101" pitchFamily="2" charset="-122"/>
              </a:rPr>
              <a:t>为输入歌词创作旋律阶段的工作流程</a:t>
            </a:r>
            <a:endParaRPr lang="zh-CN" altLang="en-US" sz="1400" dirty="0">
              <a:solidFill>
                <a:srgbClr val="FFC000"/>
              </a:solidFill>
              <a:latin typeface="Times New Roman" panose="02020603050405020304" pitchFamily="18" charset="0"/>
              <a:ea typeface="宋体" panose="02010600030101010101" pitchFamily="2" charset="-122"/>
            </a:endParaRPr>
          </a:p>
        </p:txBody>
      </p:sp>
      <p:sp>
        <p:nvSpPr>
          <p:cNvPr id="86055" name="矩形 42"/>
          <p:cNvSpPr/>
          <p:nvPr/>
        </p:nvSpPr>
        <p:spPr>
          <a:xfrm>
            <a:off x="5056505" y="5020310"/>
            <a:ext cx="1033780" cy="583565"/>
          </a:xfrm>
          <a:prstGeom prst="rect">
            <a:avLst/>
          </a:prstGeom>
          <a:noFill/>
          <a:ln w="9525" cap="flat" cmpd="sng">
            <a:solidFill>
              <a:srgbClr val="92D050"/>
            </a:solidFill>
            <a:prstDash val="solid"/>
            <a:miter/>
            <a:headEnd type="none" w="med" len="med"/>
            <a:tailEnd type="none" w="med" len="med"/>
          </a:ln>
        </p:spPr>
        <p:txBody>
          <a:bodyPr wrap="square" anchor="t">
            <a:spAutoFit/>
          </a:bodyPr>
          <a:p>
            <a:pPr eaLnBrk="0" hangingPunct="0">
              <a:spcBef>
                <a:spcPct val="20000"/>
              </a:spcBef>
            </a:pPr>
            <a:r>
              <a:rPr lang="zh-CN" sz="1600" dirty="0">
                <a:latin typeface="Times New Roman" panose="02020603050405020304" pitchFamily="18" charset="0"/>
                <a:ea typeface="宋体" panose="02010600030101010101" pitchFamily="2" charset="-122"/>
                <a:hlinkClick r:id="rId4" action="ppaction://hlinksldjump"/>
              </a:rPr>
              <a:t>匹配多乐汇结构</a:t>
            </a:r>
            <a:endParaRPr lang="zh-CN" sz="1600" dirty="0">
              <a:latin typeface="Times New Roman" panose="02020603050405020304" pitchFamily="18" charset="0"/>
              <a:ea typeface="宋体" panose="02010600030101010101" pitchFamily="2" charset="-122"/>
            </a:endParaRPr>
          </a:p>
        </p:txBody>
      </p:sp>
      <p:sp>
        <p:nvSpPr>
          <p:cNvPr id="86058" name="Rectangle 3"/>
          <p:cNvSpPr txBox="1"/>
          <p:nvPr/>
        </p:nvSpPr>
        <p:spPr>
          <a:xfrm>
            <a:off x="166688" y="2103438"/>
            <a:ext cx="4910137"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cxnSp>
        <p:nvCxnSpPr>
          <p:cNvPr id="94237" name="直接连接符 51"/>
          <p:cNvCxnSpPr/>
          <p:nvPr/>
        </p:nvCxnSpPr>
        <p:spPr>
          <a:xfrm>
            <a:off x="5373688" y="4056063"/>
            <a:ext cx="1544637" cy="0"/>
          </a:xfrm>
          <a:prstGeom prst="line">
            <a:avLst/>
          </a:prstGeom>
          <a:ln w="19050" cap="flat" cmpd="sng">
            <a:solidFill>
              <a:srgbClr val="FFC000"/>
            </a:solidFill>
            <a:prstDash val="solid"/>
            <a:headEnd type="none" w="med" len="med"/>
            <a:tailEnd type="none" w="med" len="med"/>
          </a:ln>
        </p:spPr>
      </p:cxnSp>
      <p:cxnSp>
        <p:nvCxnSpPr>
          <p:cNvPr id="5" name="直接箭头连接符 4"/>
          <p:cNvCxnSpPr/>
          <p:nvPr/>
        </p:nvCxnSpPr>
        <p:spPr>
          <a:xfrm>
            <a:off x="6902450" y="3041650"/>
            <a:ext cx="1588" cy="1428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6915150" y="3514725"/>
            <a:ext cx="1588" cy="1428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4238" name="直接连接符 72"/>
          <p:cNvCxnSpPr/>
          <p:nvPr/>
        </p:nvCxnSpPr>
        <p:spPr>
          <a:xfrm>
            <a:off x="6899275" y="3975100"/>
            <a:ext cx="6350" cy="80963"/>
          </a:xfrm>
          <a:prstGeom prst="line">
            <a:avLst/>
          </a:prstGeom>
          <a:ln w="19050" cap="flat" cmpd="sng">
            <a:solidFill>
              <a:srgbClr val="FFC000"/>
            </a:solidFill>
            <a:prstDash val="solid"/>
            <a:headEnd type="none" w="med" len="med"/>
            <a:tailEnd type="none" w="med" len="med"/>
          </a:ln>
        </p:spPr>
      </p:cxnSp>
      <p:cxnSp>
        <p:nvCxnSpPr>
          <p:cNvPr id="7" name="直接箭头连接符 6"/>
          <p:cNvCxnSpPr/>
          <p:nvPr/>
        </p:nvCxnSpPr>
        <p:spPr>
          <a:xfrm>
            <a:off x="5367338" y="4056063"/>
            <a:ext cx="0" cy="1428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921375" y="4432935"/>
            <a:ext cx="1026795" cy="44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endCxn id="86044" idx="0"/>
          </p:cNvCxnSpPr>
          <p:nvPr/>
        </p:nvCxnSpPr>
        <p:spPr>
          <a:xfrm flipH="1">
            <a:off x="7663815" y="4681855"/>
            <a:ext cx="3810" cy="29273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6044" idx="2"/>
          </p:cNvCxnSpPr>
          <p:nvPr/>
        </p:nvCxnSpPr>
        <p:spPr>
          <a:xfrm>
            <a:off x="7663815" y="5311775"/>
            <a:ext cx="4445" cy="27749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5622925" y="4799013"/>
            <a:ext cx="0" cy="214313"/>
          </a:xfrm>
          <a:prstGeom prst="straightConnector1">
            <a:avLst/>
          </a:prstGeom>
          <a:ln w="28575">
            <a:solidFill>
              <a:srgbClr val="FFC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5508625" y="4802188"/>
            <a:ext cx="0" cy="217488"/>
          </a:xfrm>
          <a:prstGeom prst="straightConnector1">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pic>
        <p:nvPicPr>
          <p:cNvPr id="90143" name="图片 44"/>
          <p:cNvPicPr>
            <a:picLocks noChangeAspect="1"/>
          </p:cNvPicPr>
          <p:nvPr/>
        </p:nvPicPr>
        <p:blipFill>
          <a:blip r:embed="rId5"/>
          <a:stretch>
            <a:fillRect/>
          </a:stretch>
        </p:blipFill>
        <p:spPr>
          <a:xfrm>
            <a:off x="131763" y="2643188"/>
            <a:ext cx="3967162" cy="3621087"/>
          </a:xfrm>
          <a:prstGeom prst="rect">
            <a:avLst/>
          </a:prstGeom>
          <a:noFill/>
          <a:ln w="9525">
            <a:noFill/>
          </a:ln>
        </p:spPr>
      </p:pic>
      <p:sp>
        <p:nvSpPr>
          <p:cNvPr id="90144" name="矩形 30"/>
          <p:cNvSpPr/>
          <p:nvPr/>
        </p:nvSpPr>
        <p:spPr>
          <a:xfrm>
            <a:off x="419735" y="6355080"/>
            <a:ext cx="3863340" cy="306705"/>
          </a:xfrm>
          <a:prstGeom prst="rect">
            <a:avLst/>
          </a:prstGeom>
          <a:noFill/>
          <a:ln w="9525">
            <a:noFill/>
          </a:ln>
        </p:spPr>
        <p:txBody>
          <a:bodyPr wrap="square" anchor="t">
            <a:spAutoFit/>
          </a:bodyPr>
          <a:p>
            <a:pPr eaLnBrk="0" hangingPunct="0"/>
            <a:r>
              <a:rPr lang="zh-CN" sz="1400" dirty="0">
                <a:solidFill>
                  <a:srgbClr val="FFC000"/>
                </a:solidFill>
                <a:latin typeface="Times New Roman" panose="02020603050405020304" pitchFamily="18" charset="0"/>
                <a:ea typeface="宋体" panose="02010600030101010101" pitchFamily="2" charset="-122"/>
              </a:rPr>
              <a:t>为输入歌词创作旋律阶段的人机交互界面</a:t>
            </a:r>
            <a:endParaRPr lang="zh-CN" sz="1400"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3"/>
          <p:cNvSpPr txBox="1"/>
          <p:nvPr/>
        </p:nvSpPr>
        <p:spPr>
          <a:xfrm>
            <a:off x="166688" y="2103438"/>
            <a:ext cx="527685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旋律生成原理</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92163" name="矩形 41"/>
          <p:cNvSpPr/>
          <p:nvPr/>
        </p:nvSpPr>
        <p:spPr>
          <a:xfrm>
            <a:off x="57150" y="3162300"/>
            <a:ext cx="1590675" cy="36830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宋体" panose="02010600030101010101" pitchFamily="2" charset="-122"/>
              </a:rPr>
              <a:t>乐汇层次</a:t>
            </a:r>
            <a:endParaRPr lang="zh-CN" altLang="en-US" sz="1800" i="1" dirty="0">
              <a:latin typeface="Times New Roman" panose="02020603050405020304" pitchFamily="18" charset="0"/>
              <a:ea typeface="宋体" panose="02010600030101010101" pitchFamily="2" charset="-122"/>
            </a:endParaRPr>
          </a:p>
        </p:txBody>
      </p:sp>
      <p:sp>
        <p:nvSpPr>
          <p:cNvPr id="92164" name="矩形 41"/>
          <p:cNvSpPr/>
          <p:nvPr/>
        </p:nvSpPr>
        <p:spPr>
          <a:xfrm>
            <a:off x="57150" y="4018280"/>
            <a:ext cx="1332865" cy="645160"/>
          </a:xfrm>
          <a:prstGeom prst="rect">
            <a:avLst/>
          </a:prstGeom>
          <a:noFill/>
          <a:ln w="9525">
            <a:noFill/>
          </a:ln>
        </p:spPr>
        <p:txBody>
          <a:bodyPr wrap="square" anchor="t">
            <a:spAutoFit/>
          </a:bodyPr>
          <a:p>
            <a:pPr eaLnBrk="0" hangingPunct="0"/>
            <a:r>
              <a:rPr lang="zh-CN" altLang="en-US" sz="1800" i="1" dirty="0">
                <a:latin typeface="Times New Roman" panose="02020603050405020304" pitchFamily="18" charset="0"/>
                <a:ea typeface="楷体_GB2312" pitchFamily="49" charset="-122"/>
              </a:rPr>
              <a:t>多乐汇结构层次</a:t>
            </a:r>
            <a:endParaRPr lang="zh-CN" altLang="en-US" sz="1800" i="1" dirty="0">
              <a:latin typeface="Times New Roman" panose="02020603050405020304" pitchFamily="18" charset="0"/>
              <a:ea typeface="楷体_GB2312" pitchFamily="49" charset="-122"/>
            </a:endParaRPr>
          </a:p>
        </p:txBody>
      </p:sp>
      <p:sp>
        <p:nvSpPr>
          <p:cNvPr id="92165" name="矩形 41"/>
          <p:cNvSpPr/>
          <p:nvPr/>
        </p:nvSpPr>
        <p:spPr>
          <a:xfrm>
            <a:off x="85725" y="5275580"/>
            <a:ext cx="1355725" cy="645160"/>
          </a:xfrm>
          <a:prstGeom prst="rect">
            <a:avLst/>
          </a:prstGeom>
          <a:noFill/>
          <a:ln w="9525">
            <a:noFill/>
          </a:ln>
        </p:spPr>
        <p:txBody>
          <a:bodyPr wrap="square" anchor="t">
            <a:spAutoFit/>
          </a:bodyPr>
          <a:p>
            <a:pPr eaLnBrk="0" hangingPunct="0"/>
            <a:r>
              <a:rPr lang="zh-CN" altLang="en-US" sz="1800" i="1" dirty="0">
                <a:latin typeface="Times New Roman" panose="02020603050405020304" pitchFamily="18" charset="0"/>
                <a:ea typeface="楷体_GB2312" pitchFamily="49" charset="-122"/>
              </a:rPr>
              <a:t>作曲模板层</a:t>
            </a:r>
            <a:r>
              <a:rPr lang="zh-CN" altLang="en-US" sz="1800" i="1" dirty="0">
                <a:latin typeface="Times New Roman" panose="02020603050405020304" pitchFamily="18" charset="0"/>
                <a:ea typeface="楷体_GB2312" pitchFamily="49" charset="-122"/>
                <a:sym typeface="+mn-ea"/>
              </a:rPr>
              <a:t>次</a:t>
            </a:r>
            <a:endParaRPr lang="zh-CN" altLang="en-US" sz="1800" i="1" dirty="0">
              <a:latin typeface="Times New Roman" panose="02020603050405020304" pitchFamily="18" charset="0"/>
              <a:ea typeface="楷体_GB2312" pitchFamily="49" charset="-122"/>
            </a:endParaRPr>
          </a:p>
        </p:txBody>
      </p:sp>
      <p:cxnSp>
        <p:nvCxnSpPr>
          <p:cNvPr id="51" name="直接连接符 50"/>
          <p:cNvCxnSpPr/>
          <p:nvPr/>
        </p:nvCxnSpPr>
        <p:spPr>
          <a:xfrm>
            <a:off x="107950" y="6453188"/>
            <a:ext cx="8928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1547813" y="3124200"/>
            <a:ext cx="6350" cy="33289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flipV="1">
            <a:off x="95250" y="3127375"/>
            <a:ext cx="12700" cy="332581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2169" name="矩形 41"/>
          <p:cNvSpPr/>
          <p:nvPr/>
        </p:nvSpPr>
        <p:spPr>
          <a:xfrm>
            <a:off x="1546225" y="3149600"/>
            <a:ext cx="3400425" cy="64516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楷体_GB2312" pitchFamily="49" charset="-122"/>
              </a:rPr>
              <a:t>将每首歌曲的歌词手工转换成诗歌的形式</a:t>
            </a:r>
            <a:r>
              <a:rPr lang="en-US" altLang="zh-CN" sz="1800" i="1" dirty="0">
                <a:latin typeface="Times New Roman" panose="02020603050405020304" pitchFamily="18" charset="0"/>
                <a:ea typeface="楷体_GB2312" pitchFamily="49" charset="-122"/>
              </a:rPr>
              <a:t> </a:t>
            </a:r>
            <a:r>
              <a:rPr lang="en-US" altLang="zh-CN" sz="1800" dirty="0">
                <a:latin typeface="Times New Roman" panose="02020603050405020304" pitchFamily="18" charset="0"/>
                <a:ea typeface="楷体_GB2312" pitchFamily="49" charset="-122"/>
              </a:rPr>
              <a:t>(</a:t>
            </a:r>
            <a:r>
              <a:rPr lang="zh-CN" altLang="en-US" sz="1800" i="1" dirty="0">
                <a:latin typeface="Times New Roman" panose="02020603050405020304" pitchFamily="18" charset="0"/>
                <a:ea typeface="楷体_GB2312" pitchFamily="49" charset="-122"/>
              </a:rPr>
              <a:t>即，诗句序列</a:t>
            </a:r>
            <a:r>
              <a:rPr lang="en-US" altLang="zh-CN" sz="1800" dirty="0">
                <a:latin typeface="Times New Roman" panose="02020603050405020304" pitchFamily="18" charset="0"/>
                <a:ea typeface="楷体_GB2312" pitchFamily="49" charset="-122"/>
              </a:rPr>
              <a:t>)</a:t>
            </a:r>
            <a:endParaRPr lang="en-US" altLang="zh-CN" sz="1800" dirty="0">
              <a:latin typeface="Times New Roman" panose="02020603050405020304" pitchFamily="18" charset="0"/>
              <a:ea typeface="楷体_GB2312" pitchFamily="49" charset="-122"/>
            </a:endParaRPr>
          </a:p>
        </p:txBody>
      </p:sp>
      <p:sp>
        <p:nvSpPr>
          <p:cNvPr id="92170" name="矩形 41"/>
          <p:cNvSpPr/>
          <p:nvPr/>
        </p:nvSpPr>
        <p:spPr>
          <a:xfrm>
            <a:off x="5132388" y="3155950"/>
            <a:ext cx="3663950" cy="64516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楷体_GB2312" pitchFamily="49" charset="-122"/>
              </a:rPr>
              <a:t>通过</a:t>
            </a:r>
            <a:r>
              <a:rPr lang="zh-CN" altLang="en-US" sz="1800" i="1" dirty="0">
                <a:latin typeface="Times New Roman" panose="02020603050405020304" pitchFamily="18" charset="0"/>
                <a:ea typeface="楷体_GB2312" pitchFamily="49" charset="-122"/>
                <a:sym typeface="+mn-ea"/>
              </a:rPr>
              <a:t>互相置换</a:t>
            </a:r>
            <a:r>
              <a:rPr lang="zh-CN" altLang="en-US" sz="1800" i="1" dirty="0">
                <a:latin typeface="Times New Roman" panose="02020603050405020304" pitchFamily="18" charset="0"/>
                <a:ea typeface="楷体_GB2312" pitchFamily="49" charset="-122"/>
              </a:rPr>
              <a:t>二个乐汇相应音符的调性音级</a:t>
            </a:r>
            <a:r>
              <a:rPr lang="zh-CN" sz="1800" i="1" dirty="0">
                <a:latin typeface="Times New Roman" panose="02020603050405020304" pitchFamily="18" charset="0"/>
                <a:ea typeface="楷体_GB2312" pitchFamily="49" charset="-122"/>
              </a:rPr>
              <a:t>以生成新乐汇</a:t>
            </a:r>
            <a:endParaRPr lang="zh-CN" sz="1800" i="1" dirty="0">
              <a:latin typeface="Times New Roman" panose="02020603050405020304" pitchFamily="18" charset="0"/>
              <a:ea typeface="楷体_GB2312" pitchFamily="49" charset="-122"/>
            </a:endParaRPr>
          </a:p>
        </p:txBody>
      </p:sp>
      <p:cxnSp>
        <p:nvCxnSpPr>
          <p:cNvPr id="4" name="直接连接符 3"/>
          <p:cNvCxnSpPr/>
          <p:nvPr/>
        </p:nvCxnSpPr>
        <p:spPr>
          <a:xfrm flipV="1">
            <a:off x="5148263" y="3141663"/>
            <a:ext cx="0" cy="33115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2172" name="矩形 41"/>
          <p:cNvSpPr/>
          <p:nvPr/>
        </p:nvSpPr>
        <p:spPr>
          <a:xfrm>
            <a:off x="1533525" y="4071938"/>
            <a:ext cx="3498850" cy="64516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楷体_GB2312" pitchFamily="49" charset="-122"/>
              </a:rPr>
              <a:t>确定乐汇间的关系并构造多乐汇结构</a:t>
            </a:r>
            <a:endParaRPr lang="en-GB" altLang="en-US" sz="1800" i="1" dirty="0">
              <a:latin typeface="Times New Roman" panose="02020603050405020304" pitchFamily="18" charset="0"/>
              <a:ea typeface="楷体_GB2312" pitchFamily="49" charset="-122"/>
            </a:endParaRPr>
          </a:p>
        </p:txBody>
      </p:sp>
      <p:sp>
        <p:nvSpPr>
          <p:cNvPr id="92173" name="矩形 41"/>
          <p:cNvSpPr/>
          <p:nvPr/>
        </p:nvSpPr>
        <p:spPr>
          <a:xfrm>
            <a:off x="1589088" y="5203825"/>
            <a:ext cx="3571875" cy="92202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楷体_GB2312" pitchFamily="49" charset="-122"/>
              </a:rPr>
              <a:t>确定诗句中的汉字（或单词）以及音节的个数，歌曲的情感色彩、调式以及速度</a:t>
            </a:r>
            <a:endParaRPr lang="en-US" altLang="zh-CN" sz="1800" i="1" dirty="0">
              <a:latin typeface="Times New Roman" panose="02020603050405020304" pitchFamily="18" charset="0"/>
              <a:ea typeface="楷体_GB2312" pitchFamily="49" charset="-122"/>
            </a:endParaRPr>
          </a:p>
        </p:txBody>
      </p:sp>
      <p:sp>
        <p:nvSpPr>
          <p:cNvPr id="92174" name="矩形 41"/>
          <p:cNvSpPr/>
          <p:nvPr/>
        </p:nvSpPr>
        <p:spPr>
          <a:xfrm>
            <a:off x="5105400" y="4054475"/>
            <a:ext cx="3619500" cy="64516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楷体_GB2312" pitchFamily="49" charset="-122"/>
              </a:rPr>
              <a:t>选择一个或多个多乐汇以匹配多乐汇结构</a:t>
            </a:r>
            <a:endParaRPr lang="en-US" altLang="zh-CN" sz="1800" i="1" dirty="0">
              <a:latin typeface="Times New Roman" panose="02020603050405020304" pitchFamily="18" charset="0"/>
              <a:ea typeface="楷体_GB2312" pitchFamily="49" charset="-122"/>
            </a:endParaRPr>
          </a:p>
        </p:txBody>
      </p:sp>
      <p:sp>
        <p:nvSpPr>
          <p:cNvPr id="92175" name="矩形 41"/>
          <p:cNvSpPr/>
          <p:nvPr/>
        </p:nvSpPr>
        <p:spPr>
          <a:xfrm>
            <a:off x="5156200" y="5226050"/>
            <a:ext cx="3822700" cy="922020"/>
          </a:xfrm>
          <a:prstGeom prst="rect">
            <a:avLst/>
          </a:prstGeom>
          <a:noFill/>
          <a:ln w="9525">
            <a:noFill/>
          </a:ln>
        </p:spPr>
        <p:txBody>
          <a:bodyPr anchor="t">
            <a:spAutoFit/>
          </a:bodyPr>
          <a:p>
            <a:pPr eaLnBrk="0" hangingPunct="0"/>
            <a:r>
              <a:rPr lang="zh-CN" altLang="en-US" sz="1800" i="1" dirty="0">
                <a:latin typeface="Times New Roman" panose="02020603050405020304" pitchFamily="18" charset="0"/>
                <a:ea typeface="楷体_GB2312" pitchFamily="49" charset="-122"/>
                <a:sym typeface="+mn-ea"/>
              </a:rPr>
              <a:t>确定诗句中的汉字（或单词）以及音节的个数，歌曲的情感色彩以便选择合适的作曲模板</a:t>
            </a:r>
            <a:endParaRPr lang="en-US" altLang="zh-CN" sz="1800" i="1" dirty="0">
              <a:latin typeface="Times New Roman" panose="02020603050405020304" pitchFamily="18" charset="0"/>
              <a:ea typeface="楷体_GB2312" pitchFamily="49" charset="-122"/>
            </a:endParaRPr>
          </a:p>
        </p:txBody>
      </p:sp>
      <p:cxnSp>
        <p:nvCxnSpPr>
          <p:cNvPr id="3" name="直接连接符 2"/>
          <p:cNvCxnSpPr/>
          <p:nvPr/>
        </p:nvCxnSpPr>
        <p:spPr>
          <a:xfrm>
            <a:off x="107950" y="5229225"/>
            <a:ext cx="8928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107950" y="4076700"/>
            <a:ext cx="885666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07950" y="3141663"/>
            <a:ext cx="8928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9001125" y="3108325"/>
            <a:ext cx="34925" cy="334486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032375" y="3313113"/>
            <a:ext cx="0" cy="2881313"/>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8867775" y="3271838"/>
            <a:ext cx="23813" cy="296545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2182" name="矩形 41"/>
          <p:cNvSpPr/>
          <p:nvPr/>
        </p:nvSpPr>
        <p:spPr>
          <a:xfrm>
            <a:off x="1665288" y="2695575"/>
            <a:ext cx="7707312" cy="368300"/>
          </a:xfrm>
          <a:prstGeom prst="rect">
            <a:avLst/>
          </a:prstGeom>
          <a:noFill/>
          <a:ln w="9525">
            <a:noFill/>
          </a:ln>
        </p:spPr>
        <p:txBody>
          <a:bodyPr anchor="t">
            <a:spAutoFit/>
          </a:bodyPr>
          <a:p>
            <a:pPr eaLnBrk="0" hangingPunct="0"/>
            <a:r>
              <a:rPr lang="en-US" altLang="zh-CN" sz="1800" dirty="0">
                <a:latin typeface="Times New Roman" panose="02020603050405020304" pitchFamily="18" charset="0"/>
                <a:ea typeface="楷体_GB2312" pitchFamily="49" charset="-122"/>
              </a:rPr>
              <a:t>i) </a:t>
            </a:r>
            <a:r>
              <a:rPr lang="zh-CN" altLang="en-GB" sz="1800" dirty="0">
                <a:latin typeface="Times New Roman" panose="02020603050405020304" pitchFamily="18" charset="0"/>
                <a:ea typeface="楷体_GB2312" pitchFamily="49" charset="-122"/>
              </a:rPr>
              <a:t>训练阶段</a:t>
            </a:r>
            <a:r>
              <a:rPr lang="en-GB" altLang="en-US" sz="1800" dirty="0">
                <a:latin typeface="Times New Roman" panose="02020603050405020304" pitchFamily="18" charset="0"/>
                <a:ea typeface="楷体_GB2312" pitchFamily="49" charset="-122"/>
              </a:rPr>
              <a:t>                               </a:t>
            </a:r>
            <a:r>
              <a:rPr lang="en-US" altLang="zh-CN" sz="1800" dirty="0">
                <a:latin typeface="Times New Roman" panose="02020603050405020304" pitchFamily="18" charset="0"/>
                <a:ea typeface="楷体_GB2312" pitchFamily="49" charset="-122"/>
              </a:rPr>
              <a:t>           ii) </a:t>
            </a:r>
            <a:r>
              <a:rPr lang="zh-CN" altLang="en-US" sz="1800" dirty="0">
                <a:latin typeface="Times New Roman" panose="02020603050405020304" pitchFamily="18" charset="0"/>
                <a:ea typeface="楷体_GB2312" pitchFamily="49" charset="-122"/>
              </a:rPr>
              <a:t>为歌词创作旋律阶段</a:t>
            </a:r>
            <a:r>
              <a:rPr lang="en-US" altLang="zh-CN"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28673" name="Rectangle 2"/>
          <p:cNvSpPr>
            <a:spLocks noGrp="1"/>
          </p:cNvSpPr>
          <p:nvPr>
            <p:ph type="title"/>
          </p:nvPr>
        </p:nvSpPr>
        <p:spPr>
          <a:xfrm>
            <a:off x="255270" y="631825"/>
            <a:ext cx="8707755" cy="1127125"/>
          </a:xfrm>
        </p:spPr>
        <p:txBody>
          <a:bodyPr vert="horz" wrap="square" lIns="91440" tIns="45720" rIns="91440" bIns="45720" anchor="ctr"/>
          <a:p>
            <a:pPr eaLnBrk="1" hangingPunct="1"/>
            <a:r>
              <a:rPr lang="zh-CN" altLang="en-US" dirty="0">
                <a:ea typeface="楷体_GB2312" pitchFamily="49" charset="-122"/>
              </a:rPr>
              <a:t>旋律自动生成模型</a:t>
            </a:r>
            <a:r>
              <a:rPr lang="en-US" altLang="zh-CN" dirty="0">
                <a:ea typeface="楷体_GB2312" pitchFamily="49" charset="-122"/>
              </a:rPr>
              <a:t> </a:t>
            </a:r>
            <a:endParaRPr lang="zh-CN" altLang="en-US" dirty="0">
              <a:ea typeface="楷体_GB2312" pitchFamily="49" charset="-122"/>
            </a:endParaRP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94210" name="Rectangle 3"/>
          <p:cNvSpPr txBox="1"/>
          <p:nvPr/>
        </p:nvSpPr>
        <p:spPr>
          <a:xfrm>
            <a:off x="166688" y="2103438"/>
            <a:ext cx="80819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为什么需要评估机器音乐的质量</a:t>
            </a:r>
            <a:r>
              <a:rPr lang="en-US" altLang="zh-CN" sz="2400" i="1" dirty="0">
                <a:solidFill>
                  <a:srgbClr val="FFC000"/>
                </a:solidFill>
                <a:latin typeface="Times New Roman" panose="02020603050405020304" pitchFamily="18" charset="0"/>
                <a:ea typeface="宋体" panose="02010600030101010101" pitchFamily="2" charset="-122"/>
              </a:rPr>
              <a:t>?</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4211" name="矩形 41"/>
          <p:cNvSpPr/>
          <p:nvPr/>
        </p:nvSpPr>
        <p:spPr>
          <a:xfrm>
            <a:off x="803275" y="2982913"/>
            <a:ext cx="7399338" cy="829945"/>
          </a:xfrm>
          <a:prstGeom prst="rect">
            <a:avLst/>
          </a:prstGeom>
          <a:noFill/>
          <a:ln w="9525">
            <a:noFill/>
          </a:ln>
        </p:spPr>
        <p:txBody>
          <a:bodyPr anchor="t">
            <a:spAutoFit/>
          </a:bodyPr>
          <a:p>
            <a:pPr eaLnBrk="0" hangingPunct="0"/>
            <a:r>
              <a:rPr lang="en-US" altLang="zh-CN" sz="2000" dirty="0">
                <a:latin typeface="Times New Roman" panose="02020603050405020304" pitchFamily="18" charset="0"/>
                <a:ea typeface="楷体_GB2312" pitchFamily="49" charset="-122"/>
              </a:rPr>
              <a:t>        </a:t>
            </a:r>
            <a:r>
              <a:rPr lang="zh-CN" altLang="en-US" sz="2400" dirty="0">
                <a:latin typeface="Times New Roman" panose="02020603050405020304" pitchFamily="18" charset="0"/>
                <a:ea typeface="楷体_GB2312" pitchFamily="49" charset="-122"/>
              </a:rPr>
              <a:t>研究自动作曲技术，可以使我们建立模拟作曲家各种创作风格的自动作曲系统并确定相关的计算模型</a:t>
            </a:r>
            <a:r>
              <a:rPr lang="zh-CN" altLang="zh-CN" sz="2400" dirty="0">
                <a:latin typeface="Times New Roman" panose="02020603050405020304" pitchFamily="18" charset="0"/>
                <a:ea typeface="楷体_GB2312" pitchFamily="49" charset="-122"/>
              </a:rPr>
              <a:t>;</a:t>
            </a:r>
            <a:r>
              <a:rPr lang="zh-CN" altLang="zh-CN" sz="24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94212" name="矩形 41"/>
          <p:cNvSpPr/>
          <p:nvPr/>
        </p:nvSpPr>
        <p:spPr>
          <a:xfrm>
            <a:off x="825500" y="4584700"/>
            <a:ext cx="7713345" cy="829945"/>
          </a:xfrm>
          <a:prstGeom prst="rect">
            <a:avLst/>
          </a:prstGeom>
          <a:noFill/>
          <a:ln w="9525">
            <a:noFill/>
          </a:ln>
        </p:spPr>
        <p:txBody>
          <a:bodyPr wrap="square" anchor="t">
            <a:spAutoFit/>
          </a:bodyPr>
          <a:p>
            <a:pPr eaLnBrk="0" hangingPunct="0"/>
            <a:r>
              <a:rPr lang="en-US" altLang="zh-CN" sz="2000" dirty="0">
                <a:latin typeface="Times New Roman" panose="02020603050405020304" pitchFamily="18" charset="0"/>
                <a:ea typeface="楷体_GB2312" pitchFamily="49" charset="-122"/>
              </a:rPr>
              <a:t>       </a:t>
            </a:r>
            <a:r>
              <a:rPr lang="zh-CN" altLang="en-US" sz="2400" dirty="0">
                <a:latin typeface="Times New Roman" panose="02020603050405020304" pitchFamily="18" charset="0"/>
                <a:ea typeface="楷体_GB2312" pitchFamily="49" charset="-122"/>
              </a:rPr>
              <a:t>而另一个需要解决的问题则是如何评估由自动作曲程序生成的音乐作品的质量。</a:t>
            </a:r>
            <a:r>
              <a:rPr lang="en-GB" altLang="en-US" sz="24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p:nvPr/>
        </p:nvSpPr>
        <p:spPr>
          <a:xfrm>
            <a:off x="803275" y="2983230"/>
            <a:ext cx="7684770" cy="1938020"/>
          </a:xfrm>
          <a:prstGeom prst="rect">
            <a:avLst/>
          </a:prstGeom>
          <a:noFill/>
          <a:ln w="9525">
            <a:noFill/>
          </a:ln>
        </p:spPr>
        <p:txBody>
          <a:bodyPr wrap="square" anchor="t">
            <a:spAutoFit/>
          </a:bodyPr>
          <a:p>
            <a:pPr eaLnBrk="0" hangingPunct="0"/>
            <a:r>
              <a:rPr lang="en-US" altLang="zh-CN" sz="2000" dirty="0">
                <a:latin typeface="Times New Roman" panose="02020603050405020304" pitchFamily="18" charset="0"/>
                <a:ea typeface="楷体_GB2312" pitchFamily="49" charset="-122"/>
              </a:rPr>
              <a:t>        </a:t>
            </a:r>
            <a:r>
              <a:rPr lang="zh-CN" altLang="en-US" sz="2400" dirty="0">
                <a:latin typeface="Times New Roman" panose="02020603050405020304" pitchFamily="18" charset="0"/>
                <a:ea typeface="楷体_GB2312" pitchFamily="49" charset="-122"/>
              </a:rPr>
              <a:t>这里涉及一个评估标准的问题。如果没有一个恰当的而且正确的评估标准，我们就无法解释一段随机生成的音符序列或基于某个计算模型而生成的机器音乐与作曲家根据某一创作目标而创作的音乐作品之间有什么本质差异了。</a:t>
            </a:r>
            <a:r>
              <a:rPr lang="en-GB" altLang="en-US" sz="24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94210" name="Rectangle 3"/>
          <p:cNvSpPr txBox="1"/>
          <p:nvPr/>
        </p:nvSpPr>
        <p:spPr>
          <a:xfrm>
            <a:off x="166688" y="2103438"/>
            <a:ext cx="80819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为什么需要评估机器音乐的质量</a:t>
            </a:r>
            <a:r>
              <a:rPr lang="en-US" altLang="zh-CN" sz="2400" i="1" dirty="0">
                <a:solidFill>
                  <a:srgbClr val="FFC000"/>
                </a:solidFill>
                <a:latin typeface="Times New Roman" panose="02020603050405020304" pitchFamily="18" charset="0"/>
                <a:ea typeface="宋体" panose="02010600030101010101" pitchFamily="2" charset="-122"/>
              </a:rPr>
              <a:t>?</a:t>
            </a:r>
            <a:endParaRPr lang="en-US" altLang="zh-CN"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3"/>
          <p:cNvSpPr txBox="1"/>
          <p:nvPr/>
        </p:nvSpPr>
        <p:spPr>
          <a:xfrm>
            <a:off x="166688" y="2103438"/>
            <a:ext cx="80819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传统评估机器音乐的方法</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98307" name="矩形 41"/>
          <p:cNvSpPr/>
          <p:nvPr/>
        </p:nvSpPr>
        <p:spPr>
          <a:xfrm>
            <a:off x="803275" y="2982913"/>
            <a:ext cx="8213725" cy="460375"/>
          </a:xfrm>
          <a:prstGeom prst="rect">
            <a:avLst/>
          </a:prstGeom>
          <a:noFill/>
          <a:ln w="9525">
            <a:noFill/>
          </a:ln>
        </p:spPr>
        <p:txBody>
          <a:bodyPr anchor="t">
            <a:spAutoFit/>
          </a:bodyPr>
          <a:p>
            <a:pPr eaLnBrk="0" hangingPunct="0"/>
            <a:r>
              <a:rPr lang="zh-CN" altLang="en-GB" sz="2400" dirty="0">
                <a:latin typeface="Times New Roman" panose="02020603050405020304" pitchFamily="18" charset="0"/>
                <a:ea typeface="楷体_GB2312" pitchFamily="49" charset="-122"/>
              </a:rPr>
              <a:t>目前评估机器音乐质量的方法主要有下面二种</a:t>
            </a:r>
            <a:r>
              <a:rPr lang="en-US" altLang="en-GB" sz="2400" dirty="0">
                <a:latin typeface="Times New Roman" panose="02020603050405020304" pitchFamily="18" charset="0"/>
                <a:ea typeface="楷体_GB2312" pitchFamily="49" charset="-122"/>
              </a:rPr>
              <a:t>:</a:t>
            </a:r>
            <a:endParaRPr lang="en-US" altLang="zh-CN" sz="1800" dirty="0">
              <a:latin typeface="Times New Roman" panose="02020603050405020304" pitchFamily="18" charset="0"/>
              <a:ea typeface="宋体" panose="02010600030101010101" pitchFamily="2" charset="-122"/>
            </a:endParaRPr>
          </a:p>
        </p:txBody>
      </p:sp>
      <p:sp>
        <p:nvSpPr>
          <p:cNvPr id="98308" name="矩形 41"/>
          <p:cNvSpPr/>
          <p:nvPr/>
        </p:nvSpPr>
        <p:spPr>
          <a:xfrm>
            <a:off x="830263" y="5400675"/>
            <a:ext cx="7707312" cy="460375"/>
          </a:xfrm>
          <a:prstGeom prst="rect">
            <a:avLst/>
          </a:prstGeom>
          <a:noFill/>
          <a:ln w="9525">
            <a:noFill/>
          </a:ln>
        </p:spPr>
        <p:txBody>
          <a:bodyPr anchor="t">
            <a:spAutoFit/>
          </a:bodyPr>
          <a:p>
            <a:pPr eaLnBrk="0" hangingPunct="0"/>
            <a:r>
              <a:rPr lang="en-US" altLang="zh-CN" sz="2400" dirty="0">
                <a:latin typeface="Times New Roman" panose="02020603050405020304" pitchFamily="18" charset="0"/>
                <a:ea typeface="楷体_GB2312" pitchFamily="49" charset="-122"/>
              </a:rPr>
              <a:t>2)</a:t>
            </a:r>
            <a:r>
              <a:rPr lang="zh-CN" altLang="en-US" sz="2400" dirty="0">
                <a:latin typeface="Times New Roman" panose="02020603050405020304" pitchFamily="18" charset="0"/>
                <a:ea typeface="楷体_GB2312" pitchFamily="49" charset="-122"/>
              </a:rPr>
              <a:t>差异性测试法，例如图灵测试</a:t>
            </a:r>
            <a:r>
              <a:rPr lang="zh-CN" sz="2400" dirty="0">
                <a:latin typeface="Times New Roman" panose="02020603050405020304" pitchFamily="18" charset="0"/>
                <a:ea typeface="楷体_GB2312" pitchFamily="49" charset="-122"/>
              </a:rPr>
              <a:t>。</a:t>
            </a:r>
            <a:r>
              <a:rPr lang="en-GB" altLang="en-US" sz="24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98309" name="矩形 41"/>
          <p:cNvSpPr/>
          <p:nvPr/>
        </p:nvSpPr>
        <p:spPr>
          <a:xfrm>
            <a:off x="803275" y="3822700"/>
            <a:ext cx="7556500" cy="829945"/>
          </a:xfrm>
          <a:prstGeom prst="rect">
            <a:avLst/>
          </a:prstGeom>
          <a:noFill/>
          <a:ln w="9525">
            <a:noFill/>
          </a:ln>
        </p:spPr>
        <p:txBody>
          <a:bodyPr anchor="t">
            <a:spAutoFit/>
          </a:bodyPr>
          <a:p>
            <a:pPr eaLnBrk="0" hangingPunct="0"/>
            <a:r>
              <a:rPr lang="en-US" altLang="zh-CN" sz="2400" dirty="0">
                <a:latin typeface="Times New Roman" panose="02020603050405020304" pitchFamily="18" charset="0"/>
                <a:ea typeface="楷体_GB2312" pitchFamily="49" charset="-122"/>
              </a:rPr>
              <a:t>1) </a:t>
            </a:r>
            <a:r>
              <a:rPr lang="zh-CN" altLang="en-US" sz="2400" dirty="0">
                <a:latin typeface="Times New Roman" panose="02020603050405020304" pitchFamily="18" charset="0"/>
                <a:ea typeface="楷体_GB2312" pitchFamily="49" charset="-122"/>
              </a:rPr>
              <a:t>听者对各种预设选项的主观评估（例如，对作品的流畅度、创新性、审美性以及正确性等选项）；</a:t>
            </a:r>
            <a:r>
              <a:rPr lang="en-GB" altLang="en-US" sz="20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5" name="矩形 41"/>
          <p:cNvSpPr/>
          <p:nvPr/>
        </p:nvSpPr>
        <p:spPr>
          <a:xfrm>
            <a:off x="522288" y="3705225"/>
            <a:ext cx="4122737" cy="460375"/>
          </a:xfrm>
          <a:prstGeom prst="rect">
            <a:avLst/>
          </a:prstGeom>
          <a:noFill/>
          <a:ln w="9525">
            <a:noFill/>
          </a:ln>
        </p:spPr>
        <p:txBody>
          <a:bodyPr anchor="t">
            <a:spAutoFit/>
          </a:bodyPr>
          <a:p>
            <a:pPr eaLnBrk="0" hangingPunct="0"/>
            <a:r>
              <a:rPr lang="zh-CN" sz="2400" dirty="0">
                <a:latin typeface="Times New Roman" panose="02020603050405020304" pitchFamily="18" charset="0"/>
                <a:ea typeface="楷体_GB2312" pitchFamily="49" charset="-122"/>
              </a:rPr>
              <a:t>听者的主观评估法</a:t>
            </a:r>
            <a:r>
              <a:rPr lang="en-GB" altLang="en-US" sz="20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100356" name="矩形 41"/>
          <p:cNvSpPr/>
          <p:nvPr/>
        </p:nvSpPr>
        <p:spPr>
          <a:xfrm>
            <a:off x="4948555" y="3707130"/>
            <a:ext cx="2197100" cy="460375"/>
          </a:xfrm>
          <a:prstGeom prst="rect">
            <a:avLst/>
          </a:prstGeom>
          <a:noFill/>
          <a:ln w="9525">
            <a:noFill/>
          </a:ln>
        </p:spPr>
        <p:txBody>
          <a:bodyPr wrap="square" anchor="t">
            <a:spAutoFit/>
          </a:bodyPr>
          <a:p>
            <a:pPr eaLnBrk="0" hangingPunct="0"/>
            <a:r>
              <a:rPr lang="en-GB" altLang="en-US" sz="2000" dirty="0">
                <a:latin typeface="Times New Roman" panose="02020603050405020304" pitchFamily="18" charset="0"/>
                <a:ea typeface="楷体_GB2312" pitchFamily="49" charset="-122"/>
              </a:rPr>
              <a:t> </a:t>
            </a:r>
            <a:r>
              <a:rPr lang="zh-CN" altLang="en-GB" sz="2400" dirty="0">
                <a:latin typeface="Times New Roman" panose="02020603050405020304" pitchFamily="18" charset="0"/>
                <a:ea typeface="楷体_GB2312" pitchFamily="49" charset="-122"/>
              </a:rPr>
              <a:t>图灵测试法</a:t>
            </a:r>
            <a:r>
              <a:rPr lang="en-GB" altLang="en-US" sz="24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100357" name="矩形 41"/>
          <p:cNvSpPr/>
          <p:nvPr/>
        </p:nvSpPr>
        <p:spPr>
          <a:xfrm>
            <a:off x="809625" y="3038475"/>
            <a:ext cx="1963738" cy="521970"/>
          </a:xfrm>
          <a:prstGeom prst="rect">
            <a:avLst/>
          </a:prstGeom>
          <a:noFill/>
          <a:ln w="9525">
            <a:noFill/>
          </a:ln>
        </p:spPr>
        <p:txBody>
          <a:bodyPr anchor="t">
            <a:spAutoFit/>
          </a:bodyPr>
          <a:p>
            <a:pPr eaLnBrk="0" hangingPunct="0"/>
            <a:r>
              <a:rPr lang="zh-CN" altLang="en-US" sz="2800" dirty="0">
                <a:latin typeface="Times New Roman" panose="02020603050405020304" pitchFamily="18" charset="0"/>
                <a:ea typeface="楷体_GB2312" pitchFamily="49" charset="-122"/>
              </a:rPr>
              <a:t>缺陷：</a:t>
            </a:r>
            <a:r>
              <a:rPr lang="en-GB" altLang="en-US" sz="28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100358" name="矩形 41"/>
          <p:cNvSpPr/>
          <p:nvPr/>
        </p:nvSpPr>
        <p:spPr>
          <a:xfrm>
            <a:off x="522288" y="4268788"/>
            <a:ext cx="3573462" cy="1198880"/>
          </a:xfrm>
          <a:prstGeom prst="rect">
            <a:avLst/>
          </a:prstGeom>
          <a:noFill/>
          <a:ln w="9525">
            <a:noFill/>
          </a:ln>
        </p:spPr>
        <p:txBody>
          <a:bodyPr anchor="t">
            <a:spAutoFit/>
          </a:bodyPr>
          <a:p>
            <a:pPr eaLnBrk="0" hangingPunct="0"/>
            <a:r>
              <a:rPr lang="zh-CN" altLang="zh-CN" sz="2400" dirty="0">
                <a:latin typeface="Times New Roman" panose="02020603050405020304" pitchFamily="18" charset="0"/>
                <a:ea typeface="楷体_GB2312" pitchFamily="49" charset="-122"/>
              </a:rPr>
              <a:t>对于同一音乐作品，不同的听者的质量评估标准并不完全一致</a:t>
            </a:r>
            <a:r>
              <a:rPr lang="zh-CN" sz="2400" dirty="0">
                <a:latin typeface="Times New Roman" panose="02020603050405020304" pitchFamily="18" charset="0"/>
                <a:ea typeface="楷体_GB2312" pitchFamily="49" charset="-122"/>
              </a:rPr>
              <a:t>。</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sp>
        <p:nvSpPr>
          <p:cNvPr id="100359" name="矩形 41"/>
          <p:cNvSpPr/>
          <p:nvPr/>
        </p:nvSpPr>
        <p:spPr>
          <a:xfrm>
            <a:off x="5054600" y="4268788"/>
            <a:ext cx="3686175" cy="829945"/>
          </a:xfrm>
          <a:prstGeom prst="rect">
            <a:avLst/>
          </a:prstGeom>
          <a:noFill/>
          <a:ln w="9525">
            <a:noFill/>
          </a:ln>
        </p:spPr>
        <p:txBody>
          <a:bodyPr anchor="t">
            <a:spAutoFit/>
          </a:bodyPr>
          <a:p>
            <a:pPr eaLnBrk="0" hangingPunct="0"/>
            <a:r>
              <a:rPr lang="zh-CN" sz="2400" dirty="0">
                <a:latin typeface="Times New Roman" panose="02020603050405020304" pitchFamily="18" charset="0"/>
                <a:ea typeface="楷体_GB2312" pitchFamily="49" charset="-122"/>
              </a:rPr>
              <a:t>无法确认所评估的机器音乐是否具有创新性。</a:t>
            </a:r>
            <a:r>
              <a:rPr lang="en-GB" altLang="en-US" sz="2400" dirty="0">
                <a:latin typeface="Times New Roman" panose="02020603050405020304" pitchFamily="18" charset="0"/>
                <a:ea typeface="楷体_GB2312" pitchFamily="49" charset="-122"/>
              </a:rPr>
              <a:t>   </a:t>
            </a:r>
            <a:r>
              <a:rPr lang="en-GB" altLang="en-US" sz="1800" dirty="0">
                <a:latin typeface="Times New Roman" panose="02020603050405020304" pitchFamily="18" charset="0"/>
                <a:ea typeface="楷体_GB2312" pitchFamily="49" charset="-122"/>
              </a:rPr>
              <a:t>                       </a:t>
            </a:r>
            <a:endParaRPr lang="en-US" altLang="zh-CN" sz="1800" dirty="0">
              <a:latin typeface="Times New Roman" panose="02020603050405020304" pitchFamily="18" charset="0"/>
              <a:ea typeface="宋体" panose="02010600030101010101" pitchFamily="2" charset="-122"/>
            </a:endParaRPr>
          </a:p>
        </p:txBody>
      </p:sp>
      <p:cxnSp>
        <p:nvCxnSpPr>
          <p:cNvPr id="6" name="直接连接符 5"/>
          <p:cNvCxnSpPr/>
          <p:nvPr/>
        </p:nvCxnSpPr>
        <p:spPr>
          <a:xfrm>
            <a:off x="107950" y="3662363"/>
            <a:ext cx="8928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90488" y="4292600"/>
            <a:ext cx="8928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46050" y="6213475"/>
            <a:ext cx="8928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flipV="1">
            <a:off x="179388" y="3644900"/>
            <a:ext cx="0" cy="25685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flipV="1">
            <a:off x="4889500" y="3663950"/>
            <a:ext cx="0" cy="25669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flipV="1">
            <a:off x="9036050" y="3663950"/>
            <a:ext cx="0" cy="25669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8306" name="Rectangle 3"/>
          <p:cNvSpPr txBox="1"/>
          <p:nvPr/>
        </p:nvSpPr>
        <p:spPr>
          <a:xfrm>
            <a:off x="166688" y="2103438"/>
            <a:ext cx="80819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传统评估机器音乐的方法</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3"/>
          <p:cNvSpPr txBox="1"/>
          <p:nvPr/>
        </p:nvSpPr>
        <p:spPr>
          <a:xfrm>
            <a:off x="166688" y="2103438"/>
            <a:ext cx="8081962" cy="533400"/>
          </a:xfrm>
          <a:prstGeom prst="rect">
            <a:avLst/>
          </a:prstGeom>
          <a:noFill/>
          <a:ln w="9525">
            <a:noFill/>
          </a:ln>
        </p:spPr>
        <p:txBody>
          <a:bodyPr anchor="t"/>
          <a:p>
            <a:pPr>
              <a:spcBef>
                <a:spcPct val="20000"/>
              </a:spcBef>
              <a:buSzTx/>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客观估算模型与主观评估模型</a:t>
            </a:r>
            <a:r>
              <a:rPr lang="en-US" altLang="zh-CN" sz="2400" i="1" dirty="0">
                <a:solidFill>
                  <a:srgbClr val="FFC000"/>
                </a:solidFill>
                <a:latin typeface="Times New Roman" panose="02020603050405020304" pitchFamily="18" charset="0"/>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2" name="矩形 41"/>
          <p:cNvSpPr>
            <a:spLocks noChangeArrowheads="1"/>
          </p:cNvSpPr>
          <p:nvPr/>
        </p:nvSpPr>
        <p:spPr bwMode="auto">
          <a:xfrm>
            <a:off x="714375" y="4616450"/>
            <a:ext cx="3907155" cy="150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客观估算模型通过公式评估音乐作品的质量，而主观评估模型则通过人的凝听主观判断</a:t>
            </a:r>
            <a:r>
              <a:rPr lang="zh-CN" altLang="en-US" sz="2000" noProof="0" dirty="0" smtClean="0">
                <a:ln>
                  <a:noFill/>
                </a:ln>
                <a:effectLst/>
                <a:uLnTx/>
                <a:uFillTx/>
                <a:latin typeface="Times New Roman" panose="02020603050405020304" pitchFamily="18" charset="0"/>
                <a:ea typeface="楷体_GB2312" pitchFamily="49" charset="-122"/>
                <a:sym typeface="+mn-ea"/>
              </a:rPr>
              <a:t>音乐</a:t>
            </a:r>
            <a:r>
              <a:rPr lang="zh-CN" altLang="en-US" sz="2000" noProof="0" dirty="0" smtClean="0">
                <a:ln>
                  <a:noFill/>
                </a:ln>
                <a:effectLst/>
                <a:uLnTx/>
                <a:uFillTx/>
                <a:latin typeface="Times New Roman" panose="02020603050405020304" pitchFamily="18" charset="0"/>
                <a:ea typeface="楷体_GB2312" pitchFamily="49" charset="-122"/>
                <a:sym typeface="+mn-ea"/>
              </a:rPr>
              <a:t>作品的质量</a:t>
            </a:r>
            <a:r>
              <a:rPr lang="zh-CN" altLang="en-US" sz="2000" noProof="0" dirty="0" smtClean="0">
                <a:ln>
                  <a:noFill/>
                </a:ln>
                <a:effectLst/>
                <a:uLnTx/>
                <a:uFillTx/>
                <a:latin typeface="Times New Roman" panose="02020603050405020304" pitchFamily="18" charset="0"/>
                <a:ea typeface="楷体_GB2312" pitchFamily="49" charset="-122"/>
                <a:sym typeface="+mn-ea"/>
              </a:rPr>
              <a:t>。</a:t>
            </a:r>
            <a:r>
              <a:rPr kumimoji="0" lang="en-GB" altLang="en-US"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GB" altLang="en-US"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endParaRPr kumimoji="0" lang="en-US" altLang="zh-CN" sz="2800" b="0" i="0"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404" name="Rectangle 3"/>
          <p:cNvSpPr txBox="1"/>
          <p:nvPr/>
        </p:nvSpPr>
        <p:spPr>
          <a:xfrm>
            <a:off x="569913" y="2776538"/>
            <a:ext cx="3454400" cy="444500"/>
          </a:xfrm>
          <a:prstGeom prst="rect">
            <a:avLst/>
          </a:prstGeom>
          <a:noFill/>
          <a:ln w="9525">
            <a:noFill/>
          </a:ln>
        </p:spPr>
        <p:txBody>
          <a:bodyPr anchor="t"/>
          <a:p>
            <a:pPr>
              <a:spcBef>
                <a:spcPct val="20000"/>
              </a:spcBef>
              <a:buSzTx/>
            </a:pPr>
            <a:r>
              <a:rPr lang="en-GB" altLang="en-US" sz="1600" dirty="0">
                <a:latin typeface="Times New Roman" panose="02020603050405020304" pitchFamily="18" charset="0"/>
                <a:ea typeface="楷体_GB2312" pitchFamily="49" charset="-122"/>
              </a:rPr>
              <a:t>          </a:t>
            </a:r>
            <a:r>
              <a:rPr lang="en-GB" altLang="en-US" sz="2000" dirty="0">
                <a:latin typeface="Times New Roman" panose="02020603050405020304" pitchFamily="18" charset="0"/>
                <a:ea typeface="楷体_GB2312" pitchFamily="49" charset="-122"/>
              </a:rPr>
              <a:t> </a:t>
            </a:r>
            <a:r>
              <a:rPr lang="zh-CN" altLang="en-GB" sz="2000" dirty="0">
                <a:latin typeface="Times New Roman" panose="02020603050405020304" pitchFamily="18" charset="0"/>
                <a:ea typeface="楷体_GB2312" pitchFamily="49" charset="-122"/>
              </a:rPr>
              <a:t>由算法生成的歌曲旋律的质量评估涉及如下二个方面的属性，即：</a:t>
            </a:r>
            <a:endParaRPr lang="en-GB" altLang="en-US" sz="2000" dirty="0">
              <a:latin typeface="Times New Roman" panose="02020603050405020304" pitchFamily="18" charset="0"/>
              <a:ea typeface="楷体_GB2312" pitchFamily="49" charset="-122"/>
            </a:endParaRPr>
          </a:p>
        </p:txBody>
      </p:sp>
      <p:sp>
        <p:nvSpPr>
          <p:cNvPr id="102405" name="Rectangle 3"/>
          <p:cNvSpPr txBox="1"/>
          <p:nvPr/>
        </p:nvSpPr>
        <p:spPr>
          <a:xfrm>
            <a:off x="1200150" y="3835400"/>
            <a:ext cx="1535113" cy="417513"/>
          </a:xfrm>
          <a:prstGeom prst="rect">
            <a:avLst/>
          </a:prstGeom>
          <a:noFill/>
          <a:ln w="9525">
            <a:noFill/>
          </a:ln>
        </p:spPr>
        <p:txBody>
          <a:bodyPr anchor="t"/>
          <a:p>
            <a:pPr>
              <a:spcBef>
                <a:spcPct val="20000"/>
              </a:spcBef>
              <a:buSzTx/>
            </a:pPr>
            <a:r>
              <a:rPr lang="en-US" altLang="zh-CN" sz="2000" dirty="0">
                <a:latin typeface="Times New Roman" panose="02020603050405020304" pitchFamily="18" charset="0"/>
              </a:rPr>
              <a:t>1) </a:t>
            </a:r>
            <a:r>
              <a:rPr lang="zh-CN" sz="2000" dirty="0">
                <a:latin typeface="Times New Roman" panose="02020603050405020304" pitchFamily="18" charset="0"/>
                <a:ea typeface="宋体" panose="02010600030101010101" pitchFamily="2" charset="-122"/>
              </a:rPr>
              <a:t>创新性</a:t>
            </a:r>
            <a:endParaRPr lang="zh-CN" sz="2000" dirty="0">
              <a:latin typeface="Times New Roman" panose="02020603050405020304" pitchFamily="18" charset="0"/>
              <a:ea typeface="宋体" panose="02010600030101010101" pitchFamily="2" charset="-122"/>
            </a:endParaRPr>
          </a:p>
        </p:txBody>
      </p:sp>
      <p:sp>
        <p:nvSpPr>
          <p:cNvPr id="102406" name="Rectangle 3"/>
          <p:cNvSpPr txBox="1"/>
          <p:nvPr/>
        </p:nvSpPr>
        <p:spPr>
          <a:xfrm>
            <a:off x="1182688" y="4249738"/>
            <a:ext cx="1536700" cy="417512"/>
          </a:xfrm>
          <a:prstGeom prst="rect">
            <a:avLst/>
          </a:prstGeom>
          <a:noFill/>
          <a:ln w="9525">
            <a:noFill/>
          </a:ln>
        </p:spPr>
        <p:txBody>
          <a:bodyPr anchor="t"/>
          <a:p>
            <a:pPr>
              <a:spcBef>
                <a:spcPct val="20000"/>
              </a:spcBef>
              <a:buSzTx/>
            </a:pPr>
            <a:r>
              <a:rPr lang="en-US" altLang="zh-CN" sz="2000" dirty="0">
                <a:latin typeface="Times New Roman" panose="02020603050405020304" pitchFamily="18" charset="0"/>
              </a:rPr>
              <a:t>2) </a:t>
            </a:r>
            <a:r>
              <a:rPr lang="zh-CN" sz="2000" dirty="0">
                <a:latin typeface="Times New Roman" panose="02020603050405020304" pitchFamily="18" charset="0"/>
                <a:ea typeface="宋体" panose="02010600030101010101" pitchFamily="2" charset="-122"/>
              </a:rPr>
              <a:t>美学特性</a:t>
            </a:r>
            <a:endParaRPr lang="zh-CN" sz="2000" dirty="0">
              <a:latin typeface="Times New Roman" panose="02020603050405020304" pitchFamily="18" charset="0"/>
              <a:ea typeface="宋体" panose="02010600030101010101" pitchFamily="2" charset="-122"/>
            </a:endParaRPr>
          </a:p>
        </p:txBody>
      </p:sp>
      <p:sp>
        <p:nvSpPr>
          <p:cNvPr id="102407" name="Rectangle 3"/>
          <p:cNvSpPr txBox="1"/>
          <p:nvPr/>
        </p:nvSpPr>
        <p:spPr>
          <a:xfrm>
            <a:off x="5629275" y="3389630"/>
            <a:ext cx="1896110" cy="495935"/>
          </a:xfrm>
          <a:prstGeom prst="rect">
            <a:avLst/>
          </a:prstGeom>
          <a:noFill/>
          <a:ln w="9525">
            <a:noFill/>
          </a:ln>
        </p:spPr>
        <p:txBody>
          <a:bodyPr anchor="t"/>
          <a:p>
            <a:pPr>
              <a:spcBef>
                <a:spcPct val="20000"/>
              </a:spcBef>
              <a:buSzTx/>
            </a:pPr>
            <a:r>
              <a:rPr lang="zh-CN" sz="2000" dirty="0">
                <a:latin typeface="Times New Roman" panose="02020603050405020304" pitchFamily="18" charset="0"/>
                <a:ea typeface="宋体" panose="02010600030101010101" pitchFamily="2" charset="-122"/>
              </a:rPr>
              <a:t>客观估算模型</a:t>
            </a:r>
            <a:endParaRPr lang="zh-CN" sz="2000" dirty="0">
              <a:latin typeface="Times New Roman" panose="02020603050405020304" pitchFamily="18" charset="0"/>
              <a:ea typeface="宋体" panose="02010600030101010101" pitchFamily="2" charset="-122"/>
            </a:endParaRPr>
          </a:p>
        </p:txBody>
      </p:sp>
      <p:pic>
        <p:nvPicPr>
          <p:cNvPr id="102408" name="图片 7"/>
          <p:cNvPicPr>
            <a:picLocks noChangeAspect="1"/>
          </p:cNvPicPr>
          <p:nvPr/>
        </p:nvPicPr>
        <p:blipFill>
          <a:blip r:embed="rId1"/>
          <a:stretch>
            <a:fillRect/>
          </a:stretch>
        </p:blipFill>
        <p:spPr>
          <a:xfrm>
            <a:off x="5589588" y="2525713"/>
            <a:ext cx="1735137" cy="881062"/>
          </a:xfrm>
          <a:prstGeom prst="rect">
            <a:avLst/>
          </a:prstGeom>
          <a:noFill/>
          <a:ln w="9525">
            <a:noFill/>
          </a:ln>
        </p:spPr>
      </p:pic>
      <p:sp>
        <p:nvSpPr>
          <p:cNvPr id="102409" name="Rectangle 3"/>
          <p:cNvSpPr txBox="1"/>
          <p:nvPr/>
        </p:nvSpPr>
        <p:spPr>
          <a:xfrm>
            <a:off x="5684520" y="6099175"/>
            <a:ext cx="1830070" cy="371475"/>
          </a:xfrm>
          <a:prstGeom prst="rect">
            <a:avLst/>
          </a:prstGeom>
          <a:noFill/>
          <a:ln w="9525">
            <a:noFill/>
          </a:ln>
        </p:spPr>
        <p:txBody>
          <a:bodyPr anchor="t"/>
          <a:p>
            <a:pPr>
              <a:spcBef>
                <a:spcPct val="20000"/>
              </a:spcBef>
              <a:buSzTx/>
            </a:pPr>
            <a:r>
              <a:rPr lang="zh-CN" altLang="en-US" sz="2000" dirty="0">
                <a:latin typeface="Times New Roman" panose="02020603050405020304" pitchFamily="18" charset="0"/>
                <a:ea typeface="宋体" panose="02010600030101010101" pitchFamily="2" charset="-122"/>
              </a:rPr>
              <a:t>主观评估模型</a:t>
            </a:r>
            <a:endParaRPr lang="zh-CN" altLang="en-GB" sz="2000" dirty="0">
              <a:latin typeface="Times New Roman" panose="02020603050405020304" pitchFamily="18" charset="0"/>
              <a:ea typeface="楷体_GB2312" pitchFamily="49" charset="-122"/>
            </a:endParaRPr>
          </a:p>
          <a:p>
            <a:pPr>
              <a:spcBef>
                <a:spcPct val="20000"/>
              </a:spcBef>
              <a:buSzTx/>
            </a:pPr>
            <a:endParaRPr lang="en-GB" altLang="en-US" sz="2000" dirty="0">
              <a:latin typeface="Times New Roman" panose="02020603050405020304" pitchFamily="18" charset="0"/>
              <a:ea typeface="楷体_GB2312" pitchFamily="49" charset="-122"/>
            </a:endParaRPr>
          </a:p>
        </p:txBody>
      </p:sp>
      <p:grpSp>
        <p:nvGrpSpPr>
          <p:cNvPr id="102411" name="组合 39"/>
          <p:cNvGrpSpPr/>
          <p:nvPr/>
        </p:nvGrpSpPr>
        <p:grpSpPr>
          <a:xfrm>
            <a:off x="5252085" y="3979545"/>
            <a:ext cx="2700020" cy="2169160"/>
            <a:chOff x="7791" y="6909"/>
            <a:chExt cx="4401" cy="3397"/>
          </a:xfrm>
        </p:grpSpPr>
        <p:graphicFrame>
          <p:nvGraphicFramePr>
            <p:cNvPr id="102412" name="Object 5"/>
            <p:cNvGraphicFramePr>
              <a:graphicFrameLocks noChangeAspect="1"/>
            </p:cNvGraphicFramePr>
            <p:nvPr/>
          </p:nvGraphicFramePr>
          <p:xfrm>
            <a:off x="9498" y="9274"/>
            <a:ext cx="980" cy="1032"/>
          </p:xfrm>
          <a:graphic>
            <a:graphicData uri="http://schemas.openxmlformats.org/presentationml/2006/ole">
              <mc:AlternateContent xmlns:mc="http://schemas.openxmlformats.org/markup-compatibility/2006">
                <mc:Choice xmlns:v="urn:schemas-microsoft-com:vml" Requires="v">
                  <p:oleObj spid="_x0000_s3084" name="" r:id="rId2" imgW="723900" imgH="762000" progId="Photoshop.Image.7">
                    <p:embed/>
                  </p:oleObj>
                </mc:Choice>
                <mc:Fallback>
                  <p:oleObj name="" r:id="rId2" imgW="723900" imgH="762000" progId="Photoshop.Image.7">
                    <p:embed/>
                    <p:pic>
                      <p:nvPicPr>
                        <p:cNvPr id="0" name="图片 3083"/>
                        <p:cNvPicPr/>
                        <p:nvPr/>
                      </p:nvPicPr>
                      <p:blipFill>
                        <a:blip r:embed="rId3"/>
                        <a:stretch>
                          <a:fillRect/>
                        </a:stretch>
                      </p:blipFill>
                      <p:spPr>
                        <a:xfrm>
                          <a:off x="9498" y="9274"/>
                          <a:ext cx="980" cy="1032"/>
                        </a:xfrm>
                        <a:prstGeom prst="rect">
                          <a:avLst/>
                        </a:prstGeom>
                        <a:noFill/>
                        <a:ln w="38100">
                          <a:noFill/>
                          <a:miter/>
                        </a:ln>
                      </p:spPr>
                    </p:pic>
                  </p:oleObj>
                </mc:Fallback>
              </mc:AlternateContent>
            </a:graphicData>
          </a:graphic>
        </p:graphicFrame>
        <p:grpSp>
          <p:nvGrpSpPr>
            <p:cNvPr id="102413" name="Group 7"/>
            <p:cNvGrpSpPr/>
            <p:nvPr/>
          </p:nvGrpSpPr>
          <p:grpSpPr>
            <a:xfrm>
              <a:off x="10632" y="7147"/>
              <a:ext cx="720" cy="840"/>
              <a:chOff x="3504" y="1824"/>
              <a:chExt cx="288" cy="336"/>
            </a:xfrm>
          </p:grpSpPr>
          <p:grpSp>
            <p:nvGrpSpPr>
              <p:cNvPr id="102414" name="Group 8"/>
              <p:cNvGrpSpPr/>
              <p:nvPr/>
            </p:nvGrpSpPr>
            <p:grpSpPr>
              <a:xfrm>
                <a:off x="3696" y="1872"/>
                <a:ext cx="96" cy="288"/>
                <a:chOff x="3456" y="1824"/>
                <a:chExt cx="96" cy="336"/>
              </a:xfrm>
            </p:grpSpPr>
            <p:sp>
              <p:nvSpPr>
                <p:cNvPr id="102415" name="Oval 9"/>
                <p:cNvSpPr/>
                <p:nvPr/>
              </p:nvSpPr>
              <p:spPr>
                <a:xfrm rot="-1926376">
                  <a:off x="3456" y="1824"/>
                  <a:ext cx="96"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16" name="Line 10"/>
                <p:cNvSpPr/>
                <p:nvPr/>
              </p:nvSpPr>
              <p:spPr>
                <a:xfrm>
                  <a:off x="3456" y="1872"/>
                  <a:ext cx="0" cy="288"/>
                </a:xfrm>
                <a:prstGeom prst="line">
                  <a:avLst/>
                </a:prstGeom>
                <a:ln w="28575" cap="flat" cmpd="sng">
                  <a:solidFill>
                    <a:schemeClr val="tx1"/>
                  </a:solidFill>
                  <a:prstDash val="solid"/>
                  <a:round/>
                  <a:headEnd type="none" w="med" len="med"/>
                  <a:tailEnd type="none" w="med" len="med"/>
                </a:ln>
              </p:spPr>
            </p:sp>
          </p:grpSp>
          <p:grpSp>
            <p:nvGrpSpPr>
              <p:cNvPr id="102417" name="Group 11"/>
              <p:cNvGrpSpPr/>
              <p:nvPr/>
            </p:nvGrpSpPr>
            <p:grpSpPr>
              <a:xfrm>
                <a:off x="3504" y="1824"/>
                <a:ext cx="96" cy="288"/>
                <a:chOff x="3456" y="1824"/>
                <a:chExt cx="96" cy="336"/>
              </a:xfrm>
            </p:grpSpPr>
            <p:sp>
              <p:nvSpPr>
                <p:cNvPr id="102418" name="Oval 12"/>
                <p:cNvSpPr/>
                <p:nvPr/>
              </p:nvSpPr>
              <p:spPr>
                <a:xfrm rot="-1926376">
                  <a:off x="3456" y="1824"/>
                  <a:ext cx="96" cy="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19" name="Line 13"/>
                <p:cNvSpPr/>
                <p:nvPr/>
              </p:nvSpPr>
              <p:spPr>
                <a:xfrm>
                  <a:off x="3456" y="1872"/>
                  <a:ext cx="0" cy="288"/>
                </a:xfrm>
                <a:prstGeom prst="line">
                  <a:avLst/>
                </a:prstGeom>
                <a:ln w="28575" cap="flat" cmpd="sng">
                  <a:solidFill>
                    <a:schemeClr val="tx1"/>
                  </a:solidFill>
                  <a:prstDash val="solid"/>
                  <a:round/>
                  <a:headEnd type="none" w="med" len="med"/>
                  <a:tailEnd type="none" w="med" len="med"/>
                </a:ln>
              </p:spPr>
            </p:sp>
          </p:grpSp>
          <p:sp>
            <p:nvSpPr>
              <p:cNvPr id="102420" name="Line 14"/>
              <p:cNvSpPr/>
              <p:nvPr/>
            </p:nvSpPr>
            <p:spPr>
              <a:xfrm>
                <a:off x="3504" y="2112"/>
                <a:ext cx="192" cy="48"/>
              </a:xfrm>
              <a:prstGeom prst="line">
                <a:avLst/>
              </a:prstGeom>
              <a:ln w="28575" cap="flat" cmpd="sng">
                <a:solidFill>
                  <a:schemeClr val="tx1"/>
                </a:solidFill>
                <a:prstDash val="solid"/>
                <a:round/>
                <a:headEnd type="none" w="med" len="med"/>
                <a:tailEnd type="none" w="med" len="med"/>
              </a:ln>
            </p:spPr>
          </p:sp>
        </p:grpSp>
        <p:grpSp>
          <p:nvGrpSpPr>
            <p:cNvPr id="102421" name="Group 15"/>
            <p:cNvGrpSpPr/>
            <p:nvPr/>
          </p:nvGrpSpPr>
          <p:grpSpPr>
            <a:xfrm>
              <a:off x="11472" y="7150"/>
              <a:ext cx="720" cy="823"/>
              <a:chOff x="3744" y="1968"/>
              <a:chExt cx="288" cy="329"/>
            </a:xfrm>
          </p:grpSpPr>
          <p:grpSp>
            <p:nvGrpSpPr>
              <p:cNvPr id="102422" name="Group 16"/>
              <p:cNvGrpSpPr/>
              <p:nvPr/>
            </p:nvGrpSpPr>
            <p:grpSpPr>
              <a:xfrm>
                <a:off x="3744" y="2009"/>
                <a:ext cx="96" cy="288"/>
                <a:chOff x="3744" y="2009"/>
                <a:chExt cx="96" cy="288"/>
              </a:xfrm>
            </p:grpSpPr>
            <p:sp>
              <p:nvSpPr>
                <p:cNvPr id="102423" name="Oval 17"/>
                <p:cNvSpPr/>
                <p:nvPr/>
              </p:nvSpPr>
              <p:spPr>
                <a:xfrm rot="-1926376">
                  <a:off x="3744" y="2256"/>
                  <a:ext cx="96" cy="41"/>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24" name="Line 18"/>
                <p:cNvSpPr/>
                <p:nvPr/>
              </p:nvSpPr>
              <p:spPr>
                <a:xfrm flipV="1">
                  <a:off x="3840" y="2009"/>
                  <a:ext cx="0" cy="247"/>
                </a:xfrm>
                <a:prstGeom prst="line">
                  <a:avLst/>
                </a:prstGeom>
                <a:ln w="28575" cap="flat" cmpd="sng">
                  <a:solidFill>
                    <a:schemeClr val="tx1"/>
                  </a:solidFill>
                  <a:prstDash val="solid"/>
                  <a:round/>
                  <a:headEnd type="none" w="med" len="med"/>
                  <a:tailEnd type="none" w="med" len="med"/>
                </a:ln>
              </p:spPr>
            </p:sp>
          </p:grpSp>
          <p:sp>
            <p:nvSpPr>
              <p:cNvPr id="102425" name="Line 19"/>
              <p:cNvSpPr/>
              <p:nvPr/>
            </p:nvSpPr>
            <p:spPr>
              <a:xfrm flipV="1">
                <a:off x="3840" y="1968"/>
                <a:ext cx="192" cy="48"/>
              </a:xfrm>
              <a:prstGeom prst="line">
                <a:avLst/>
              </a:prstGeom>
              <a:ln w="28575" cap="flat" cmpd="sng">
                <a:solidFill>
                  <a:schemeClr val="tx1"/>
                </a:solidFill>
                <a:prstDash val="solid"/>
                <a:round/>
                <a:headEnd type="none" w="med" len="med"/>
                <a:tailEnd type="none" w="med" len="med"/>
              </a:ln>
            </p:spPr>
          </p:sp>
          <p:grpSp>
            <p:nvGrpSpPr>
              <p:cNvPr id="102426" name="Group 20"/>
              <p:cNvGrpSpPr/>
              <p:nvPr/>
            </p:nvGrpSpPr>
            <p:grpSpPr>
              <a:xfrm>
                <a:off x="3936" y="1968"/>
                <a:ext cx="96" cy="288"/>
                <a:chOff x="3744" y="2009"/>
                <a:chExt cx="96" cy="288"/>
              </a:xfrm>
            </p:grpSpPr>
            <p:sp>
              <p:nvSpPr>
                <p:cNvPr id="102427" name="Oval 21"/>
                <p:cNvSpPr/>
                <p:nvPr/>
              </p:nvSpPr>
              <p:spPr>
                <a:xfrm rot="-1926376">
                  <a:off x="3744" y="2256"/>
                  <a:ext cx="96" cy="41"/>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28" name="Line 22"/>
                <p:cNvSpPr/>
                <p:nvPr/>
              </p:nvSpPr>
              <p:spPr>
                <a:xfrm flipV="1">
                  <a:off x="3840" y="2009"/>
                  <a:ext cx="0" cy="247"/>
                </a:xfrm>
                <a:prstGeom prst="line">
                  <a:avLst/>
                </a:prstGeom>
                <a:ln w="28575" cap="flat" cmpd="sng">
                  <a:solidFill>
                    <a:schemeClr val="tx1"/>
                  </a:solidFill>
                  <a:prstDash val="solid"/>
                  <a:round/>
                  <a:headEnd type="none" w="med" len="med"/>
                  <a:tailEnd type="none" w="med" len="med"/>
                </a:ln>
              </p:spPr>
            </p:sp>
          </p:grpSp>
        </p:grpSp>
        <p:sp>
          <p:nvSpPr>
            <p:cNvPr id="102429" name="Oval 24"/>
            <p:cNvSpPr/>
            <p:nvPr/>
          </p:nvSpPr>
          <p:spPr>
            <a:xfrm>
              <a:off x="10320" y="9048"/>
              <a:ext cx="360" cy="240"/>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30" name="Oval 25"/>
            <p:cNvSpPr/>
            <p:nvPr/>
          </p:nvSpPr>
          <p:spPr>
            <a:xfrm>
              <a:off x="10412" y="8674"/>
              <a:ext cx="480" cy="360"/>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31" name="Oval 26"/>
            <p:cNvSpPr/>
            <p:nvPr/>
          </p:nvSpPr>
          <p:spPr>
            <a:xfrm>
              <a:off x="10497" y="8060"/>
              <a:ext cx="840" cy="600"/>
            </a:xfrm>
            <a:prstGeom prst="ellipse">
              <a:avLst/>
            </a:prstGeom>
            <a:solidFill>
              <a:schemeClr val="accent2"/>
            </a:solidFill>
            <a:ln w="9525" cap="flat" cmpd="sng">
              <a:solidFill>
                <a:schemeClr val="tx1"/>
              </a:solidFill>
              <a:prstDash val="solid"/>
              <a:round/>
              <a:headEnd type="none" w="med" len="med"/>
              <a:tailEnd type="none" w="med" len="med"/>
            </a:ln>
          </p:spPr>
          <p:txBody>
            <a:bodyPr wrap="none" anchor="ctr"/>
            <a:p>
              <a:endParaRPr lang="zh-CN" altLang="en-US" dirty="0">
                <a:latin typeface="Chiller" panose="04020404031007020602" pitchFamily="82" charset="0"/>
                <a:ea typeface="宋体" panose="02010600030101010101" pitchFamily="2" charset="-122"/>
              </a:endParaRPr>
            </a:p>
          </p:txBody>
        </p:sp>
        <p:sp>
          <p:nvSpPr>
            <p:cNvPr id="102432" name="Rectangle 29"/>
            <p:cNvSpPr/>
            <p:nvPr/>
          </p:nvSpPr>
          <p:spPr>
            <a:xfrm>
              <a:off x="7791" y="8533"/>
              <a:ext cx="2137" cy="600"/>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p>
              <a:pPr algn="ctr"/>
              <a:r>
                <a:rPr lang="zh-CN" altLang="en-US" sz="2000" dirty="0">
                  <a:latin typeface="Times New Roman" panose="02020603050405020304" pitchFamily="18" charset="0"/>
                  <a:ea typeface="宋体" panose="02010600030101010101" pitchFamily="2" charset="-122"/>
                </a:rPr>
                <a:t>输入文本</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歌词</a:t>
              </a:r>
              <a:r>
                <a:rPr lang="en-US" altLang="zh-CN" sz="2000" dirty="0">
                  <a:latin typeface="Times New Roman" panose="02020603050405020304" pitchFamily="18" charset="0"/>
                  <a:ea typeface="宋体" panose="02010600030101010101" pitchFamily="2" charset="-122"/>
                </a:rPr>
                <a:t>)</a:t>
              </a:r>
              <a:endParaRPr lang="zh-CN" altLang="en-US" sz="2000" dirty="0">
                <a:solidFill>
                  <a:schemeClr val="bg1"/>
                </a:solidFill>
                <a:latin typeface="Times New Roman" panose="02020603050405020304" pitchFamily="18" charset="0"/>
                <a:ea typeface="宋体" panose="02010600030101010101" pitchFamily="2" charset="-122"/>
              </a:endParaRPr>
            </a:p>
          </p:txBody>
        </p:sp>
        <p:sp>
          <p:nvSpPr>
            <p:cNvPr id="102433" name="Rectangle 28"/>
            <p:cNvSpPr/>
            <p:nvPr/>
          </p:nvSpPr>
          <p:spPr>
            <a:xfrm>
              <a:off x="8257" y="6909"/>
              <a:ext cx="1153" cy="1623"/>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p>
              <a:r>
                <a:rPr lang="zh-CN" altLang="en-US" sz="2400" dirty="0">
                  <a:latin typeface="Times New Roman" panose="02020603050405020304" pitchFamily="18" charset="0"/>
                  <a:ea typeface="宋体" panose="02010600030101010101" pitchFamily="2" charset="-122"/>
                </a:rPr>
                <a:t>  </a:t>
              </a:r>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a:p>
              <a:r>
                <a:rPr lang="en-US" altLang="zh-CN" sz="1800" dirty="0">
                  <a:latin typeface="Times New Roman" panose="02020603050405020304" pitchFamily="18" charset="0"/>
                  <a:ea typeface="宋体" panose="02010600030101010101" pitchFamily="2" charset="-122"/>
                </a:rPr>
                <a:t>-------</a:t>
              </a:r>
              <a:endParaRPr lang="en-US" altLang="zh-CN" sz="1800" dirty="0">
                <a:latin typeface="Times New Roman" panose="02020603050405020304" pitchFamily="18" charset="0"/>
                <a:ea typeface="宋体" panose="02010600030101010101" pitchFamily="2" charset="-122"/>
              </a:endParaRPr>
            </a:p>
          </p:txBody>
        </p:sp>
        <p:sp>
          <p:nvSpPr>
            <p:cNvPr id="102434" name="虚尾箭头 38"/>
            <p:cNvSpPr/>
            <p:nvPr/>
          </p:nvSpPr>
          <p:spPr>
            <a:xfrm>
              <a:off x="9694" y="7329"/>
              <a:ext cx="681" cy="680"/>
            </a:xfrm>
            <a:custGeom>
              <a:avLst/>
              <a:gdLst/>
              <a:ahLst/>
              <a:cxnLst>
                <a:cxn ang="16200000">
                  <a:pos x="341" y="0"/>
                </a:cxn>
                <a:cxn ang="10800000">
                  <a:pos x="0" y="340"/>
                </a:cxn>
                <a:cxn ang="5400000">
                  <a:pos x="341" y="680"/>
                </a:cxn>
                <a:cxn ang="0">
                  <a:pos x="681" y="340"/>
                </a:cxn>
              </a:cxnLst>
              <a:pathLst>
                <a:path w="681" h="680">
                  <a:moveTo>
                    <a:pt x="0" y="170"/>
                  </a:moveTo>
                  <a:lnTo>
                    <a:pt x="21" y="170"/>
                  </a:lnTo>
                  <a:lnTo>
                    <a:pt x="21" y="510"/>
                  </a:lnTo>
                  <a:lnTo>
                    <a:pt x="0" y="510"/>
                  </a:lnTo>
                  <a:close/>
                  <a:moveTo>
                    <a:pt x="42" y="170"/>
                  </a:moveTo>
                  <a:lnTo>
                    <a:pt x="85" y="170"/>
                  </a:lnTo>
                  <a:lnTo>
                    <a:pt x="85" y="510"/>
                  </a:lnTo>
                  <a:lnTo>
                    <a:pt x="42" y="510"/>
                  </a:lnTo>
                  <a:close/>
                  <a:moveTo>
                    <a:pt x="106" y="170"/>
                  </a:moveTo>
                  <a:lnTo>
                    <a:pt x="341" y="170"/>
                  </a:lnTo>
                  <a:lnTo>
                    <a:pt x="341" y="0"/>
                  </a:lnTo>
                  <a:lnTo>
                    <a:pt x="681" y="340"/>
                  </a:lnTo>
                  <a:lnTo>
                    <a:pt x="341" y="680"/>
                  </a:lnTo>
                  <a:lnTo>
                    <a:pt x="341" y="510"/>
                  </a:lnTo>
                  <a:lnTo>
                    <a:pt x="106" y="510"/>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gr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流程图: 磁盘 3"/>
          <p:cNvSpPr/>
          <p:nvPr/>
        </p:nvSpPr>
        <p:spPr>
          <a:xfrm>
            <a:off x="4859338" y="2817813"/>
            <a:ext cx="2736850" cy="6127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2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乐汇数据库</a:t>
            </a:r>
            <a:endParaRPr kumimoji="0" lang="zh-CN" sz="20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5" name="流程图: 磁盘 4"/>
          <p:cNvSpPr/>
          <p:nvPr/>
        </p:nvSpPr>
        <p:spPr>
          <a:xfrm>
            <a:off x="3756025" y="3970338"/>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乐汇子集合</a:t>
            </a:r>
            <a:r>
              <a:rPr kumimoji="0" lang="en-US" altLang="zh-CN" sz="8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1</a:t>
            </a:r>
            <a:endParaRPr kumimoji="0" lang="en-US" altLang="zh-CN" sz="8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3" name="流程图: 磁盘 22"/>
          <p:cNvSpPr/>
          <p:nvPr/>
        </p:nvSpPr>
        <p:spPr>
          <a:xfrm>
            <a:off x="5467350" y="3962400"/>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4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lang="en-US" sz="8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2</a:t>
            </a:r>
            <a:endParaRPr kumimoji="0" lang="en-US" sz="800" b="0" i="0"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sp>
        <p:nvSpPr>
          <p:cNvPr id="24" name="流程图: 磁盘 23"/>
          <p:cNvSpPr/>
          <p:nvPr/>
        </p:nvSpPr>
        <p:spPr>
          <a:xfrm>
            <a:off x="7235825" y="3962400"/>
            <a:ext cx="1439863"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1400"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乐汇子集合</a:t>
            </a:r>
            <a:r>
              <a:rPr lang="en-US" sz="1000" i="1" noProof="0" dirty="0" smtClean="0">
                <a:ln>
                  <a:noFill/>
                </a:ln>
                <a:solidFill>
                  <a:srgbClr val="FFFFFF"/>
                </a:solidFill>
                <a:effectLst/>
                <a:uLnTx/>
                <a:uFillTx/>
                <a:latin typeface="Times New Roman" panose="02020603050405020304" pitchFamily="18" charset="0"/>
                <a:ea typeface="宋体" panose="02010600030101010101" pitchFamily="2" charset="-122"/>
                <a:sym typeface="+mn-ea"/>
              </a:rPr>
              <a:t>N</a:t>
            </a:r>
            <a:endParaRPr kumimoji="0" lang="en-US" sz="1000" b="0" i="1" u="none" strike="noStrike" kern="1200" cap="none" spc="0" normalizeH="0" baseline="0" noProof="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25" name="直接连接符 24"/>
          <p:cNvCxnSpPr/>
          <p:nvPr/>
        </p:nvCxnSpPr>
        <p:spPr>
          <a:xfrm>
            <a:off x="4456113" y="3703638"/>
            <a:ext cx="3498850"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460875" y="3703638"/>
            <a:ext cx="1588"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958138" y="3735388"/>
            <a:ext cx="0"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6188075" y="3721100"/>
            <a:ext cx="1588" cy="2841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186488" y="3462338"/>
            <a:ext cx="1588" cy="282575"/>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4458" name="矩形 29"/>
          <p:cNvSpPr/>
          <p:nvPr/>
        </p:nvSpPr>
        <p:spPr>
          <a:xfrm>
            <a:off x="4066858" y="4683760"/>
            <a:ext cx="4968875" cy="337185"/>
          </a:xfrm>
          <a:prstGeom prst="rect">
            <a:avLst/>
          </a:prstGeom>
          <a:noFill/>
          <a:ln w="9525">
            <a:noFill/>
          </a:ln>
        </p:spPr>
        <p:txBody>
          <a:bodyPr anchor="t">
            <a:spAutoFit/>
          </a:bodyPr>
          <a:p>
            <a:pPr eaLnBrk="0" hangingPunct="0"/>
            <a:r>
              <a:rPr lang="zh-CN" altLang="en-US" sz="1600" dirty="0">
                <a:latin typeface="Times New Roman" panose="02020603050405020304" pitchFamily="18" charset="0"/>
                <a:ea typeface="宋体" panose="02010600030101010101" pitchFamily="2" charset="-122"/>
              </a:rPr>
              <a:t>情感色彩</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抒情</a:t>
            </a: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优美</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豪迈</a:t>
            </a: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舒缓</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悲伤</a:t>
            </a: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忧郁</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欢快</a:t>
            </a:r>
            <a:r>
              <a:rPr lang="en-US" altLang="zh-CN" sz="1600" dirty="0">
                <a:latin typeface="Times New Roman" panose="02020603050405020304" pitchFamily="18" charset="0"/>
                <a:ea typeface="宋体" panose="02010600030101010101" pitchFamily="2" charset="-122"/>
              </a:rPr>
              <a:t>/</a:t>
            </a:r>
            <a:r>
              <a:rPr lang="zh-CN" altLang="en-US" sz="1600" dirty="0">
                <a:latin typeface="Times New Roman" panose="02020603050405020304" pitchFamily="18" charset="0"/>
                <a:ea typeface="宋体" panose="02010600030101010101" pitchFamily="2" charset="-122"/>
              </a:rPr>
              <a:t>热情</a:t>
            </a:r>
            <a:endParaRPr lang="zh-CN" altLang="en-US" sz="1600" dirty="0">
              <a:latin typeface="Times New Roman" panose="02020603050405020304" pitchFamily="18" charset="0"/>
              <a:ea typeface="宋体" panose="02010600030101010101" pitchFamily="2" charset="-122"/>
            </a:endParaRPr>
          </a:p>
        </p:txBody>
      </p:sp>
      <p:sp>
        <p:nvSpPr>
          <p:cNvPr id="104459" name="矩形 30"/>
          <p:cNvSpPr/>
          <p:nvPr/>
        </p:nvSpPr>
        <p:spPr>
          <a:xfrm>
            <a:off x="4066540" y="5036820"/>
            <a:ext cx="2589213" cy="337185"/>
          </a:xfrm>
          <a:prstGeom prst="rect">
            <a:avLst/>
          </a:prstGeom>
          <a:noFill/>
          <a:ln w="9525">
            <a:noFill/>
          </a:ln>
        </p:spPr>
        <p:txBody>
          <a:bodyPr anchor="t">
            <a:spAutoFit/>
          </a:bodyPr>
          <a:p>
            <a:pPr eaLnBrk="0" hangingPunct="0"/>
            <a:r>
              <a:rPr lang="zh-CN" altLang="en-US" sz="1600" dirty="0">
                <a:latin typeface="Times New Roman" panose="02020603050405020304" pitchFamily="18" charset="0"/>
                <a:ea typeface="宋体" panose="02010600030101010101" pitchFamily="2" charset="-122"/>
              </a:rPr>
              <a:t>节拍</a:t>
            </a:r>
            <a:r>
              <a:rPr lang="en-US" altLang="zh-CN" sz="1600" dirty="0">
                <a:latin typeface="Times New Roman" panose="02020603050405020304" pitchFamily="18" charset="0"/>
                <a:ea typeface="宋体" panose="02010600030101010101" pitchFamily="2" charset="-122"/>
              </a:rPr>
              <a:t>: 2/4,3/4, 4/4</a:t>
            </a:r>
            <a:endParaRPr lang="en-US" altLang="zh-CN" sz="1600" dirty="0">
              <a:latin typeface="Times New Roman" panose="02020603050405020304" pitchFamily="18" charset="0"/>
              <a:ea typeface="宋体" panose="02010600030101010101" pitchFamily="2" charset="-122"/>
            </a:endParaRPr>
          </a:p>
        </p:txBody>
      </p:sp>
      <p:sp>
        <p:nvSpPr>
          <p:cNvPr id="104460" name="矩形 31"/>
          <p:cNvSpPr/>
          <p:nvPr/>
        </p:nvSpPr>
        <p:spPr>
          <a:xfrm>
            <a:off x="4066540" y="5394325"/>
            <a:ext cx="2589213" cy="337185"/>
          </a:xfrm>
          <a:prstGeom prst="rect">
            <a:avLst/>
          </a:prstGeom>
          <a:noFill/>
          <a:ln w="9525">
            <a:noFill/>
          </a:ln>
        </p:spPr>
        <p:txBody>
          <a:bodyPr anchor="t">
            <a:spAutoFit/>
          </a:bodyPr>
          <a:p>
            <a:pPr eaLnBrk="0" hangingPunct="0"/>
            <a:r>
              <a:rPr lang="zh-CN" altLang="en-US" sz="1600" dirty="0">
                <a:latin typeface="Times New Roman" panose="02020603050405020304" pitchFamily="18" charset="0"/>
                <a:ea typeface="宋体" panose="02010600030101010101" pitchFamily="2" charset="-122"/>
              </a:rPr>
              <a:t>调式</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大调式</a:t>
            </a:r>
            <a:r>
              <a:rPr lang="en-US" altLang="zh-CN" sz="16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小调式</a:t>
            </a:r>
            <a:endParaRPr lang="zh-CN" altLang="en-US" sz="1600" dirty="0">
              <a:latin typeface="Times New Roman" panose="02020603050405020304" pitchFamily="18" charset="0"/>
              <a:ea typeface="宋体" panose="02010600030101010101" pitchFamily="2" charset="-122"/>
            </a:endParaRPr>
          </a:p>
        </p:txBody>
      </p:sp>
      <p:sp>
        <p:nvSpPr>
          <p:cNvPr id="104461" name="矩形 31"/>
          <p:cNvSpPr/>
          <p:nvPr/>
        </p:nvSpPr>
        <p:spPr>
          <a:xfrm>
            <a:off x="6865938" y="4014788"/>
            <a:ext cx="360362" cy="307975"/>
          </a:xfrm>
          <a:prstGeom prst="rect">
            <a:avLst/>
          </a:prstGeom>
          <a:noFill/>
          <a:ln w="9525">
            <a:noFill/>
          </a:ln>
        </p:spPr>
        <p:txBody>
          <a:bodyPr anchor="t">
            <a:spAutoFit/>
          </a:bodyPr>
          <a:p>
            <a:pPr eaLnBrk="0" hangingPunct="0"/>
            <a:r>
              <a:rPr lang="en-US" altLang="zh-CN" sz="1400" dirty="0">
                <a:latin typeface="Times New Roman" panose="02020603050405020304" pitchFamily="18" charset="0"/>
                <a:ea typeface="宋体" panose="02010600030101010101" pitchFamily="2" charset="-122"/>
              </a:rPr>
              <a:t>…</a:t>
            </a:r>
            <a:endParaRPr lang="en-US" altLang="zh-CN" sz="1400" dirty="0">
              <a:latin typeface="Times New Roman" panose="02020603050405020304" pitchFamily="18" charset="0"/>
              <a:ea typeface="宋体" panose="02010600030101010101" pitchFamily="2" charset="-122"/>
            </a:endParaRPr>
          </a:p>
        </p:txBody>
      </p:sp>
      <p:sp>
        <p:nvSpPr>
          <p:cNvPr id="32785" name="矩形 29"/>
          <p:cNvSpPr/>
          <p:nvPr/>
        </p:nvSpPr>
        <p:spPr>
          <a:xfrm>
            <a:off x="546100" y="3846830"/>
            <a:ext cx="3080385" cy="2245360"/>
          </a:xfrm>
          <a:prstGeom prst="rect">
            <a:avLst/>
          </a:prstGeom>
          <a:noFill/>
          <a:ln w="9525">
            <a:noFill/>
          </a:ln>
        </p:spPr>
        <p:txBody>
          <a:bodyPr wrap="square">
            <a:spAutoFit/>
          </a:bodyPr>
          <a:p>
            <a:pPr marL="0" marR="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kern="1200" cap="none" spc="0" normalizeH="0" baseline="0" noProof="1" dirty="0">
                <a:solidFill>
                  <a:schemeClr val="tx1"/>
                </a:solidFill>
                <a:latin typeface="Times New Roman" panose="02020603050405020304" pitchFamily="18" charset="0"/>
                <a:ea typeface="宋体" panose="02010600030101010101" pitchFamily="2" charset="-122"/>
                <a:cs typeface="+mn-cs"/>
              </a:rPr>
              <a:t>         </a:t>
            </a:r>
            <a:r>
              <a:rPr kumimoji="0" lang="zh-CN" altLang="en-US" sz="2000" b="0" i="0" u="none" strike="noStrike" kern="1200" cap="none" spc="0" normalizeH="0" baseline="0" noProof="1" dirty="0">
                <a:solidFill>
                  <a:schemeClr val="tx1"/>
                </a:solidFill>
                <a:latin typeface="Times New Roman" panose="02020603050405020304" pitchFamily="18" charset="0"/>
                <a:ea typeface="宋体" panose="02010600030101010101" pitchFamily="2" charset="-122"/>
                <a:cs typeface="+mn-cs"/>
              </a:rPr>
              <a:t>具有同样情感色彩、节拍、调式以及速度的歌曲将分派在同一类别子集中。</a:t>
            </a:r>
            <a:r>
              <a:rPr kumimoji="0" lang="en-US" sz="2000" b="0" i="0" u="none" strike="noStrike" kern="1200" cap="none" spc="0" normalizeH="0" baseline="0" noProof="0" dirty="0" smtClean="0">
                <a:ln>
                  <a:noFill/>
                </a:ln>
                <a:solidFill>
                  <a:schemeClr val="tx1"/>
                </a:solidFill>
                <a:effectLst/>
                <a:uLnTx/>
                <a:uFillTx/>
                <a:latin typeface="+mj-lt"/>
                <a:ea typeface="+mn-ea"/>
                <a:cs typeface="+mj-lt"/>
                <a:sym typeface="+mn-ea"/>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j-lt"/>
                <a:sym typeface="+mn-ea"/>
              </a:rPr>
              <a:t>这样，可在同类歌曲中任取一首歌曲的歌词作为我们歌曲旋律创作系统的歌词输入。</a:t>
            </a:r>
            <a:endParaRPr kumimoji="0" lang="en-GB"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j-lt"/>
              <a:sym typeface="+mn-ea"/>
            </a:endParaRPr>
          </a:p>
        </p:txBody>
      </p:sp>
      <p:sp>
        <p:nvSpPr>
          <p:cNvPr id="2" name="矩形 29"/>
          <p:cNvSpPr/>
          <p:nvPr/>
        </p:nvSpPr>
        <p:spPr>
          <a:xfrm>
            <a:off x="530225" y="2752725"/>
            <a:ext cx="3171825" cy="1014730"/>
          </a:xfrm>
          <a:prstGeom prst="rect">
            <a:avLst/>
          </a:prstGeom>
          <a:noFill/>
          <a:ln w="9525">
            <a:noFill/>
          </a:ln>
        </p:spPr>
        <p:txBody>
          <a:bodyPr wrap="square">
            <a:spAutoFit/>
          </a:bodyPr>
          <a:p>
            <a:pPr marL="0" marR="0" indent="0" algn="l" defTabSz="914400" rtl="0" eaLnBrk="0" fontAlgn="base" latinLnBrk="0" hangingPunct="0">
              <a:lnSpc>
                <a:spcPct val="100000"/>
              </a:lnSpc>
              <a:spcBef>
                <a:spcPct val="0"/>
              </a:spcBef>
              <a:spcAft>
                <a:spcPct val="0"/>
              </a:spcAft>
              <a:buClrTx/>
              <a:buSzTx/>
              <a:buFontTx/>
              <a:buNone/>
            </a:pPr>
            <a:r>
              <a:rPr kumimoji="0" lang="en-US" altLang="zh-CN" sz="2000" b="0" i="0" u="none" strike="noStrike" kern="1200" cap="none" spc="0" normalizeH="0" baseline="0" noProof="1" dirty="0">
                <a:solidFill>
                  <a:schemeClr val="tx1"/>
                </a:solidFill>
                <a:latin typeface="Times New Roman" panose="02020603050405020304" pitchFamily="18" charset="0"/>
                <a:ea typeface="宋体" panose="02010600030101010101" pitchFamily="2" charset="-122"/>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j-lt"/>
                <a:sym typeface="+mn-ea"/>
              </a:rPr>
              <a:t>首先，我们需要给收集到的样板歌曲做合适的分类。</a:t>
            </a: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j-lt"/>
              <a:sym typeface="+mn-ea"/>
            </a:endParaRPr>
          </a:p>
        </p:txBody>
      </p:sp>
      <p:sp>
        <p:nvSpPr>
          <p:cNvPr id="104465" name="矩形 31"/>
          <p:cNvSpPr/>
          <p:nvPr/>
        </p:nvSpPr>
        <p:spPr>
          <a:xfrm>
            <a:off x="4050665" y="5735955"/>
            <a:ext cx="4790440" cy="583565"/>
          </a:xfrm>
          <a:prstGeom prst="rect">
            <a:avLst/>
          </a:prstGeom>
          <a:noFill/>
          <a:ln w="9525">
            <a:noFill/>
          </a:ln>
        </p:spPr>
        <p:txBody>
          <a:bodyPr wrap="square" anchor="t">
            <a:spAutoFit/>
          </a:bodyPr>
          <a:p>
            <a:pPr eaLnBrk="0" hangingPunct="0"/>
            <a:r>
              <a:rPr lang="zh-CN" altLang="en-GB" sz="1600" dirty="0">
                <a:latin typeface="Times New Roman" panose="02020603050405020304" pitchFamily="18" charset="0"/>
                <a:ea typeface="宋体" panose="02010600030101010101" pitchFamily="2" charset="-122"/>
              </a:rPr>
              <a:t>速度范围</a:t>
            </a:r>
            <a:r>
              <a:rPr lang="en-US" altLang="zh-CN" sz="1600" dirty="0">
                <a:latin typeface="Times New Roman" panose="02020603050405020304" pitchFamily="18" charset="0"/>
                <a:ea typeface="宋体" panose="02010600030101010101" pitchFamily="2" charset="-122"/>
              </a:rPr>
              <a:t>: </a:t>
            </a:r>
            <a:r>
              <a:rPr lang="zh-CN" sz="1600" dirty="0">
                <a:latin typeface="Times New Roman" panose="02020603050405020304" pitchFamily="18" charset="0"/>
                <a:ea typeface="宋体" panose="02010600030101010101" pitchFamily="2" charset="-122"/>
              </a:rPr>
              <a:t>广板，慢板，中板，快板。小快板，。。。</a:t>
            </a:r>
            <a:endParaRPr lang="zh-CN" sz="1600" dirty="0">
              <a:latin typeface="Times New Roman" panose="02020603050405020304" pitchFamily="18" charset="0"/>
              <a:ea typeface="宋体" panose="02010600030101010101" pitchFamily="2" charset="-122"/>
            </a:endParaRPr>
          </a:p>
        </p:txBody>
      </p:sp>
      <p:sp>
        <p:nvSpPr>
          <p:cNvPr id="102402" name="Rectangle 3"/>
          <p:cNvSpPr txBox="1"/>
          <p:nvPr/>
        </p:nvSpPr>
        <p:spPr>
          <a:xfrm>
            <a:off x="166688" y="2103438"/>
            <a:ext cx="8081962" cy="533400"/>
          </a:xfrm>
          <a:prstGeom prst="rect">
            <a:avLst/>
          </a:prstGeom>
          <a:noFill/>
          <a:ln w="9525">
            <a:noFill/>
          </a:ln>
        </p:spPr>
        <p:txBody>
          <a:bodyPr anchor="t"/>
          <a:p>
            <a:pPr>
              <a:spcBef>
                <a:spcPct val="20000"/>
              </a:spcBef>
              <a:buSzTx/>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客观估算模型与主观评估模型</a:t>
            </a:r>
            <a:r>
              <a:rPr lang="en-US" altLang="zh-CN" sz="2400" i="1" dirty="0">
                <a:solidFill>
                  <a:srgbClr val="FFC000"/>
                </a:solidFill>
                <a:latin typeface="Times New Roman" panose="02020603050405020304" pitchFamily="18" charset="0"/>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3"/>
          <p:cNvSpPr txBox="1"/>
          <p:nvPr/>
        </p:nvSpPr>
        <p:spPr>
          <a:xfrm>
            <a:off x="569913" y="2776538"/>
            <a:ext cx="3454400" cy="444500"/>
          </a:xfrm>
          <a:prstGeom prst="rect">
            <a:avLst/>
          </a:prstGeom>
          <a:noFill/>
          <a:ln w="9525">
            <a:noFill/>
          </a:ln>
        </p:spPr>
        <p:txBody>
          <a:bodyPr anchor="t"/>
          <a:p>
            <a:pPr>
              <a:spcBef>
                <a:spcPct val="20000"/>
              </a:spcBef>
              <a:buSzTx/>
            </a:pPr>
            <a:r>
              <a:rPr lang="en-GB" altLang="en-US" sz="1600" dirty="0">
                <a:latin typeface="Times New Roman" panose="02020603050405020304" pitchFamily="18" charset="0"/>
                <a:ea typeface="楷体_GB2312" pitchFamily="49" charset="-122"/>
              </a:rPr>
              <a:t>            </a:t>
            </a:r>
            <a:r>
              <a:rPr lang="zh-CN" altLang="en-GB" sz="2400" dirty="0">
                <a:latin typeface="Times New Roman" panose="02020603050405020304" pitchFamily="18" charset="0"/>
                <a:ea typeface="楷体_GB2312" pitchFamily="49" charset="-122"/>
              </a:rPr>
              <a:t>诗歌形式歌词中的诗句数量可视为待创作旋律的乐汇总数。它可作为欲创作具有与收集到的同类歌曲同样情感色彩，节拍，调式以及速的新旋律的预设创作目标。</a:t>
            </a:r>
            <a:r>
              <a:rPr lang="en-GB" altLang="en-US" sz="2400" dirty="0">
                <a:latin typeface="Times New Roman" panose="02020603050405020304" pitchFamily="18" charset="0"/>
                <a:ea typeface="楷体_GB2312" pitchFamily="49" charset="-122"/>
              </a:rPr>
              <a:t> </a:t>
            </a:r>
            <a:endParaRPr lang="en-GB" altLang="en-US" sz="2400" dirty="0">
              <a:latin typeface="Times New Roman" panose="02020603050405020304" pitchFamily="18" charset="0"/>
              <a:ea typeface="楷体_GB2312" pitchFamily="49" charset="-122"/>
            </a:endParaRPr>
          </a:p>
        </p:txBody>
      </p:sp>
      <p:sp>
        <p:nvSpPr>
          <p:cNvPr id="105474" name="矩形 10"/>
          <p:cNvSpPr/>
          <p:nvPr/>
        </p:nvSpPr>
        <p:spPr>
          <a:xfrm>
            <a:off x="4543425" y="3271838"/>
            <a:ext cx="1100138" cy="1168400"/>
          </a:xfrm>
          <a:prstGeom prst="rect">
            <a:avLst/>
          </a:prstGeom>
          <a:noFill/>
          <a:ln w="9525">
            <a:noFill/>
          </a:ln>
        </p:spPr>
        <p:txBody>
          <a:bodyPr anchor="t">
            <a:spAutoFit/>
          </a:bodyPr>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a:t>
            </a:r>
            <a:endParaRPr lang="en-US" altLang="zh-CN" sz="1000" dirty="0">
              <a:latin typeface="Chiller" panose="04020404031007020602" pitchFamily="82" charset="0"/>
              <a:ea typeface="宋体" panose="02010600030101010101" pitchFamily="2" charset="-122"/>
            </a:endParaRPr>
          </a:p>
          <a:p>
            <a:pPr eaLnBrk="0" hangingPunct="0"/>
            <a:r>
              <a:rPr lang="en-US" altLang="zh-CN" sz="1000" dirty="0">
                <a:latin typeface="Chiller" panose="04020404031007020602" pitchFamily="82" charset="0"/>
                <a:ea typeface="宋体" panose="02010600030101010101" pitchFamily="2" charset="-122"/>
              </a:rPr>
              <a:t> X X X X X X X X.</a:t>
            </a:r>
            <a:endParaRPr lang="en-US" altLang="zh-CN" sz="1000" dirty="0">
              <a:latin typeface="Chiller" panose="04020404031007020602" pitchFamily="82" charset="0"/>
              <a:ea typeface="宋体" panose="02010600030101010101" pitchFamily="2" charset="-122"/>
            </a:endParaRPr>
          </a:p>
        </p:txBody>
      </p:sp>
      <p:sp>
        <p:nvSpPr>
          <p:cNvPr id="105475" name="矩形 41"/>
          <p:cNvSpPr/>
          <p:nvPr/>
        </p:nvSpPr>
        <p:spPr>
          <a:xfrm>
            <a:off x="4157980" y="2660650"/>
            <a:ext cx="2341245"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楷体_GB2312" pitchFamily="49" charset="-122"/>
              </a:rPr>
              <a:t>输入歌词（诗歌形式）</a:t>
            </a:r>
            <a:endParaRPr lang="zh-CN" altLang="en-US" sz="1600" dirty="0">
              <a:latin typeface="Times New Roman" panose="02020603050405020304" pitchFamily="18" charset="0"/>
              <a:ea typeface="楷体_GB2312" pitchFamily="49" charset="-122"/>
            </a:endParaRPr>
          </a:p>
        </p:txBody>
      </p:sp>
      <p:sp>
        <p:nvSpPr>
          <p:cNvPr id="105476" name="下箭头 5"/>
          <p:cNvSpPr/>
          <p:nvPr/>
        </p:nvSpPr>
        <p:spPr>
          <a:xfrm>
            <a:off x="4762500" y="3044825"/>
            <a:ext cx="288925" cy="288925"/>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pic>
        <p:nvPicPr>
          <p:cNvPr id="105477" name="图片 40"/>
          <p:cNvPicPr>
            <a:picLocks noChangeAspect="1"/>
          </p:cNvPicPr>
          <p:nvPr/>
        </p:nvPicPr>
        <p:blipFill>
          <a:blip r:embed="rId1"/>
          <a:stretch>
            <a:fillRect/>
          </a:stretch>
        </p:blipFill>
        <p:spPr>
          <a:xfrm>
            <a:off x="6721475" y="2959100"/>
            <a:ext cx="2084388" cy="1250950"/>
          </a:xfrm>
          <a:prstGeom prst="rect">
            <a:avLst/>
          </a:prstGeom>
          <a:noFill/>
          <a:ln w="9525">
            <a:noFill/>
          </a:ln>
        </p:spPr>
      </p:pic>
      <p:pic>
        <p:nvPicPr>
          <p:cNvPr id="105478" name="图片 5"/>
          <p:cNvPicPr>
            <a:picLocks noChangeAspect="1"/>
          </p:cNvPicPr>
          <p:nvPr/>
        </p:nvPicPr>
        <p:blipFill>
          <a:blip r:embed="rId2"/>
          <a:stretch>
            <a:fillRect/>
          </a:stretch>
        </p:blipFill>
        <p:spPr>
          <a:xfrm>
            <a:off x="4113213" y="5060950"/>
            <a:ext cx="2608262" cy="1068388"/>
          </a:xfrm>
          <a:prstGeom prst="rect">
            <a:avLst/>
          </a:prstGeom>
          <a:noFill/>
          <a:ln w="9525">
            <a:noFill/>
          </a:ln>
        </p:spPr>
      </p:pic>
      <p:sp>
        <p:nvSpPr>
          <p:cNvPr id="105479" name="下箭头 5"/>
          <p:cNvSpPr/>
          <p:nvPr/>
        </p:nvSpPr>
        <p:spPr>
          <a:xfrm flipV="1">
            <a:off x="7473950" y="4240213"/>
            <a:ext cx="763588" cy="388937"/>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sp>
        <p:nvSpPr>
          <p:cNvPr id="105480" name="虚尾箭头 9"/>
          <p:cNvSpPr/>
          <p:nvPr/>
        </p:nvSpPr>
        <p:spPr>
          <a:xfrm>
            <a:off x="5241925" y="3406775"/>
            <a:ext cx="1452563" cy="655638"/>
          </a:xfrm>
          <a:custGeom>
            <a:avLst/>
            <a:gdLst/>
            <a:ahLst/>
            <a:cxnLst>
              <a:cxn ang="0">
                <a:pos x="0" y="163909"/>
              </a:cxn>
              <a:cxn ang="0">
                <a:pos x="20494" y="163909"/>
              </a:cxn>
              <a:cxn ang="0">
                <a:pos x="20494" y="491728"/>
              </a:cxn>
              <a:cxn ang="0">
                <a:pos x="0" y="491728"/>
              </a:cxn>
              <a:cxn ang="0">
                <a:pos x="40988" y="163909"/>
              </a:cxn>
              <a:cxn ang="0">
                <a:pos x="81976" y="163909"/>
              </a:cxn>
              <a:cxn ang="0">
                <a:pos x="81976" y="491728"/>
              </a:cxn>
              <a:cxn ang="0">
                <a:pos x="40988" y="491728"/>
              </a:cxn>
              <a:cxn ang="0">
                <a:pos x="102470" y="163909"/>
              </a:cxn>
              <a:cxn ang="0">
                <a:pos x="1124657" y="163909"/>
              </a:cxn>
              <a:cxn ang="0">
                <a:pos x="1124657" y="0"/>
              </a:cxn>
              <a:cxn ang="0">
                <a:pos x="1452563" y="327819"/>
              </a:cxn>
              <a:cxn ang="0">
                <a:pos x="1124657" y="655638"/>
              </a:cxn>
              <a:cxn ang="0">
                <a:pos x="1124657" y="491728"/>
              </a:cxn>
              <a:cxn ang="0">
                <a:pos x="102470" y="491728"/>
              </a:cxn>
            </a:cxnLst>
            <a:pathLst>
              <a:path w="1452880" h="655955">
                <a:moveTo>
                  <a:pt x="0" y="163988"/>
                </a:moveTo>
                <a:lnTo>
                  <a:pt x="20498" y="163988"/>
                </a:lnTo>
                <a:lnTo>
                  <a:pt x="20498" y="491966"/>
                </a:lnTo>
                <a:lnTo>
                  <a:pt x="0" y="491966"/>
                </a:lnTo>
                <a:lnTo>
                  <a:pt x="0" y="163988"/>
                </a:lnTo>
                <a:close/>
                <a:moveTo>
                  <a:pt x="40997" y="163988"/>
                </a:moveTo>
                <a:lnTo>
                  <a:pt x="81994" y="163988"/>
                </a:lnTo>
                <a:lnTo>
                  <a:pt x="81994" y="491966"/>
                </a:lnTo>
                <a:lnTo>
                  <a:pt x="40997" y="491966"/>
                </a:lnTo>
                <a:lnTo>
                  <a:pt x="40997" y="163988"/>
                </a:lnTo>
                <a:close/>
                <a:moveTo>
                  <a:pt x="102492" y="163988"/>
                </a:moveTo>
                <a:lnTo>
                  <a:pt x="1124902" y="163988"/>
                </a:lnTo>
                <a:lnTo>
                  <a:pt x="1124902" y="0"/>
                </a:lnTo>
                <a:lnTo>
                  <a:pt x="1452880" y="327977"/>
                </a:lnTo>
                <a:lnTo>
                  <a:pt x="1124902" y="655955"/>
                </a:lnTo>
                <a:lnTo>
                  <a:pt x="1124902" y="491966"/>
                </a:lnTo>
                <a:lnTo>
                  <a:pt x="102492" y="491966"/>
                </a:lnTo>
                <a:lnTo>
                  <a:pt x="102492" y="163988"/>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105481" name="矩形 41"/>
          <p:cNvSpPr/>
          <p:nvPr/>
        </p:nvSpPr>
        <p:spPr>
          <a:xfrm>
            <a:off x="5098415" y="3154680"/>
            <a:ext cx="1609090" cy="337185"/>
          </a:xfrm>
          <a:prstGeom prst="rect">
            <a:avLst/>
          </a:prstGeom>
          <a:noFill/>
          <a:ln w="9525">
            <a:noFill/>
          </a:ln>
        </p:spPr>
        <p:txBody>
          <a:bodyPr wrap="square" anchor="t">
            <a:spAutoFit/>
          </a:bodyPr>
          <a:p>
            <a:pPr eaLnBrk="0" hangingPunct="0"/>
            <a:r>
              <a:rPr lang="zh-CN" altLang="en-US" sz="1600" dirty="0">
                <a:latin typeface="Times New Roman" panose="02020603050405020304" pitchFamily="18" charset="0"/>
                <a:ea typeface="楷体_GB2312" pitchFamily="49" charset="-122"/>
              </a:rPr>
              <a:t>自动创作新旋律</a:t>
            </a:r>
            <a:endParaRPr lang="zh-CN" altLang="en-US" sz="1600" dirty="0">
              <a:latin typeface="Times New Roman" panose="02020603050405020304" pitchFamily="18" charset="0"/>
              <a:ea typeface="楷体_GB2312" pitchFamily="49" charset="-122"/>
            </a:endParaRPr>
          </a:p>
        </p:txBody>
      </p:sp>
      <p:sp>
        <p:nvSpPr>
          <p:cNvPr id="33" name="流程图: 磁盘 32"/>
          <p:cNvSpPr/>
          <p:nvPr/>
        </p:nvSpPr>
        <p:spPr>
          <a:xfrm>
            <a:off x="7178675" y="6088063"/>
            <a:ext cx="1628775" cy="460375"/>
          </a:xfrm>
          <a:prstGeom prst="flowChartMagneticDisk">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3600">
                <a:solidFill>
                  <a:schemeClr val="tx1"/>
                </a:solidFill>
                <a:latin typeface="Chiller" panose="04020404031007020602" pitchFamily="82" charset="0"/>
              </a:defRPr>
            </a:lvl1pPr>
            <a:lvl2pPr marL="742950" indent="-285750">
              <a:defRPr sz="3600">
                <a:solidFill>
                  <a:schemeClr val="tx1"/>
                </a:solidFill>
                <a:latin typeface="Chiller" panose="04020404031007020602" pitchFamily="82" charset="0"/>
              </a:defRPr>
            </a:lvl2pPr>
            <a:lvl3pPr marL="1143000" indent="-228600">
              <a:defRPr sz="3600">
                <a:solidFill>
                  <a:schemeClr val="tx1"/>
                </a:solidFill>
                <a:latin typeface="Chiller" panose="04020404031007020602" pitchFamily="82" charset="0"/>
              </a:defRPr>
            </a:lvl3pPr>
            <a:lvl4pPr marL="1600200" indent="-228600">
              <a:defRPr sz="3600">
                <a:solidFill>
                  <a:schemeClr val="tx1"/>
                </a:solidFill>
                <a:latin typeface="Chiller" panose="04020404031007020602" pitchFamily="82" charset="0"/>
              </a:defRPr>
            </a:lvl4pPr>
            <a:lvl5pPr marL="2057400" indent="-228600">
              <a:defRPr sz="3600">
                <a:solidFill>
                  <a:schemeClr val="tx1"/>
                </a:solidFill>
                <a:latin typeface="Chiller" panose="04020404031007020602" pitchFamily="82" charset="0"/>
              </a:defRPr>
            </a:lvl5pPr>
            <a:lvl6pPr marL="2514600" indent="-228600" eaLnBrk="0" fontAlgn="base" hangingPunct="0">
              <a:spcBef>
                <a:spcPct val="0"/>
              </a:spcBef>
              <a:spcAft>
                <a:spcPct val="0"/>
              </a:spcAft>
              <a:defRPr sz="3600">
                <a:solidFill>
                  <a:schemeClr val="tx1"/>
                </a:solidFill>
                <a:latin typeface="Chiller" panose="04020404031007020602" pitchFamily="82" charset="0"/>
              </a:defRPr>
            </a:lvl6pPr>
            <a:lvl7pPr marL="2971800" indent="-228600" eaLnBrk="0" fontAlgn="base" hangingPunct="0">
              <a:spcBef>
                <a:spcPct val="0"/>
              </a:spcBef>
              <a:spcAft>
                <a:spcPct val="0"/>
              </a:spcAft>
              <a:defRPr sz="3600">
                <a:solidFill>
                  <a:schemeClr val="tx1"/>
                </a:solidFill>
                <a:latin typeface="Chiller" panose="04020404031007020602" pitchFamily="82" charset="0"/>
              </a:defRPr>
            </a:lvl7pPr>
            <a:lvl8pPr marL="3429000" indent="-228600" eaLnBrk="0" fontAlgn="base" hangingPunct="0">
              <a:spcBef>
                <a:spcPct val="0"/>
              </a:spcBef>
              <a:spcAft>
                <a:spcPct val="0"/>
              </a:spcAft>
              <a:defRPr sz="3600">
                <a:solidFill>
                  <a:schemeClr val="tx1"/>
                </a:solidFill>
                <a:latin typeface="Chiller" panose="04020404031007020602" pitchFamily="82" charset="0"/>
              </a:defRPr>
            </a:lvl8pPr>
            <a:lvl9pPr marL="3886200" indent="-228600" eaLnBrk="0" fontAlgn="base" hangingPunct="0">
              <a:spcBef>
                <a:spcPct val="0"/>
              </a:spcBef>
              <a:spcAft>
                <a:spcPct val="0"/>
              </a:spcAft>
              <a:defRPr sz="3600">
                <a:solidFill>
                  <a:schemeClr val="tx1"/>
                </a:solidFill>
                <a:latin typeface="Chiller" panose="04020404031007020602" pitchFamily="82" charset="0"/>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乐汇子集合</a:t>
            </a:r>
            <a:r>
              <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rPr>
              <a:t>i</a:t>
            </a:r>
            <a:endParaRPr kumimoji="0" lang="en-US" sz="800" b="0" i="1" u="none" strike="noStrike" kern="1200" cap="none" spc="0" normalizeH="0" baseline="0" noProof="0" dirty="0" smtClean="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cxnSp>
        <p:nvCxnSpPr>
          <p:cNvPr id="46" name="直接连接符 45"/>
          <p:cNvCxnSpPr/>
          <p:nvPr/>
        </p:nvCxnSpPr>
        <p:spPr>
          <a:xfrm>
            <a:off x="7304088" y="5226050"/>
            <a:ext cx="12969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8601075" y="52260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7339013" y="5226050"/>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5486" name="下箭头 3"/>
          <p:cNvSpPr/>
          <p:nvPr/>
        </p:nvSpPr>
        <p:spPr>
          <a:xfrm flipV="1">
            <a:off x="7750175" y="4968875"/>
            <a:ext cx="287338" cy="212725"/>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anchor="t"/>
          <a:p>
            <a:endParaRPr lang="en-US" altLang="zh-CN" dirty="0">
              <a:latin typeface="Chiller" panose="04020404031007020602" pitchFamily="82" charset="0"/>
              <a:ea typeface="宋体" panose="02010600030101010101" pitchFamily="2" charset="-122"/>
            </a:endParaRPr>
          </a:p>
        </p:txBody>
      </p:sp>
      <p:cxnSp>
        <p:nvCxnSpPr>
          <p:cNvPr id="34" name="直接箭头连接符 33"/>
          <p:cNvCxnSpPr/>
          <p:nvPr/>
        </p:nvCxnSpPr>
        <p:spPr>
          <a:xfrm flipH="1" flipV="1">
            <a:off x="7524750" y="5661025"/>
            <a:ext cx="431800" cy="5048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7956550" y="5661025"/>
            <a:ext cx="431800" cy="5048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5489" name="矩形 41"/>
          <p:cNvSpPr/>
          <p:nvPr/>
        </p:nvSpPr>
        <p:spPr>
          <a:xfrm>
            <a:off x="6851650" y="4637088"/>
            <a:ext cx="409575" cy="338137"/>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105490" name="矩形 41"/>
          <p:cNvSpPr/>
          <p:nvPr/>
        </p:nvSpPr>
        <p:spPr>
          <a:xfrm>
            <a:off x="8556625" y="4619625"/>
            <a:ext cx="409575" cy="338138"/>
          </a:xfrm>
          <a:prstGeom prst="rect">
            <a:avLst/>
          </a:prstGeom>
          <a:noFill/>
          <a:ln w="9525">
            <a:noFill/>
          </a:ln>
        </p:spPr>
        <p:txBody>
          <a:bodyPr anchor="t">
            <a:spAutoFit/>
          </a:bodyPr>
          <a:p>
            <a:pPr eaLnBrk="0" hangingPunct="0"/>
            <a:r>
              <a:rPr lang="en-US" altLang="zh-CN" sz="1600" dirty="0">
                <a:latin typeface="Times New Roman" panose="02020603050405020304" pitchFamily="18" charset="0"/>
                <a:ea typeface="楷体_GB2312" pitchFamily="49" charset="-122"/>
              </a:rPr>
              <a:t>...</a:t>
            </a:r>
            <a:endParaRPr lang="en-US" altLang="zh-CN" sz="1600" dirty="0">
              <a:latin typeface="Times New Roman" panose="02020603050405020304" pitchFamily="18" charset="0"/>
              <a:ea typeface="楷体_GB2312" pitchFamily="49" charset="-122"/>
            </a:endParaRPr>
          </a:p>
        </p:txBody>
      </p:sp>
      <p:sp>
        <p:nvSpPr>
          <p:cNvPr id="105491" name="矩形 41"/>
          <p:cNvSpPr/>
          <p:nvPr/>
        </p:nvSpPr>
        <p:spPr>
          <a:xfrm>
            <a:off x="2921000" y="5943600"/>
            <a:ext cx="1531938" cy="276225"/>
          </a:xfrm>
          <a:prstGeom prst="rect">
            <a:avLst/>
          </a:prstGeom>
          <a:noFill/>
          <a:ln w="9525">
            <a:noFill/>
          </a:ln>
        </p:spPr>
        <p:txBody>
          <a:bodyPr anchor="t">
            <a:spAutoFit/>
          </a:bodyPr>
          <a:p>
            <a:pPr eaLnBrk="0" hangingPunct="0"/>
            <a:r>
              <a:rPr lang="en-GB" altLang="en-US" sz="1200" i="1" dirty="0">
                <a:latin typeface="Times New Roman" panose="02020603050405020304" pitchFamily="18" charset="0"/>
                <a:ea typeface="楷体_GB2312" pitchFamily="49" charset="-122"/>
              </a:rPr>
              <a:t>S</a:t>
            </a:r>
            <a:r>
              <a:rPr lang="en-GB" altLang="en-US" sz="1200" dirty="0">
                <a:latin typeface="Times New Roman" panose="02020603050405020304" pitchFamily="18" charset="0"/>
                <a:ea typeface="楷体_GB2312" pitchFamily="49" charset="-122"/>
              </a:rPr>
              <a:t>(</a:t>
            </a:r>
            <a:r>
              <a:rPr lang="en-GB" altLang="en-US" sz="1200" i="1" dirty="0">
                <a:latin typeface="Times New Roman" panose="02020603050405020304" pitchFamily="18" charset="0"/>
                <a:ea typeface="楷体_GB2312" pitchFamily="49" charset="-122"/>
              </a:rPr>
              <a:t>Meter</a:t>
            </a:r>
            <a:r>
              <a:rPr lang="en-US" altLang="en-GB" sz="1200" i="1" baseline="-25000" dirty="0">
                <a:latin typeface="Times New Roman" panose="02020603050405020304" pitchFamily="18" charset="0"/>
                <a:ea typeface="楷体_GB2312" pitchFamily="49" charset="-122"/>
              </a:rPr>
              <a:t>i</a:t>
            </a:r>
            <a:r>
              <a:rPr lang="en-GB" altLang="en-US" sz="1200" dirty="0">
                <a:latin typeface="Times New Roman" panose="02020603050405020304" pitchFamily="18" charset="0"/>
                <a:ea typeface="楷体_GB2312" pitchFamily="49" charset="-122"/>
              </a:rPr>
              <a:t> </a:t>
            </a:r>
            <a:r>
              <a:rPr lang="en-GB" altLang="en-US" sz="1200" i="1" dirty="0">
                <a:latin typeface="Times New Roman" panose="02020603050405020304" pitchFamily="18" charset="0"/>
                <a:ea typeface="楷体_GB2312" pitchFamily="49" charset="-122"/>
              </a:rPr>
              <a:t>Emotion</a:t>
            </a:r>
            <a:r>
              <a:rPr lang="en-US" altLang="en-GB" sz="1200" i="1" baseline="-25000" dirty="0">
                <a:latin typeface="Times New Roman" panose="02020603050405020304" pitchFamily="18" charset="0"/>
                <a:ea typeface="楷体_GB2312" pitchFamily="49" charset="-122"/>
              </a:rPr>
              <a:t>i</a:t>
            </a:r>
            <a:r>
              <a:rPr lang="en-GB" altLang="en-US" sz="1200" dirty="0">
                <a:latin typeface="Times New Roman" panose="02020603050405020304" pitchFamily="18" charset="0"/>
                <a:ea typeface="楷体_GB2312" pitchFamily="49" charset="-122"/>
              </a:rPr>
              <a:t>)</a:t>
            </a:r>
            <a:endParaRPr lang="en-US" altLang="zh-CN" sz="1200" dirty="0">
              <a:latin typeface="Times New Roman" panose="02020603050405020304" pitchFamily="18" charset="0"/>
              <a:ea typeface="楷体_GB2312" pitchFamily="49" charset="-122"/>
            </a:endParaRPr>
          </a:p>
        </p:txBody>
      </p:sp>
      <p:cxnSp>
        <p:nvCxnSpPr>
          <p:cNvPr id="17" name="直接箭头连接符 16"/>
          <p:cNvCxnSpPr/>
          <p:nvPr/>
        </p:nvCxnSpPr>
        <p:spPr>
          <a:xfrm flipH="1">
            <a:off x="3708400" y="4365625"/>
            <a:ext cx="1223963" cy="16605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endCxn id="105478" idx="0"/>
          </p:cNvCxnSpPr>
          <p:nvPr/>
        </p:nvCxnSpPr>
        <p:spPr>
          <a:xfrm>
            <a:off x="5003800" y="4365625"/>
            <a:ext cx="414338" cy="6953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105478" idx="0"/>
          </p:cNvCxnSpPr>
          <p:nvPr/>
        </p:nvCxnSpPr>
        <p:spPr>
          <a:xfrm>
            <a:off x="3635375" y="6308725"/>
            <a:ext cx="3552825" cy="142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05478" idx="0"/>
          </p:cNvCxnSpPr>
          <p:nvPr/>
        </p:nvCxnSpPr>
        <p:spPr>
          <a:xfrm flipV="1">
            <a:off x="3662363" y="6142038"/>
            <a:ext cx="0" cy="18732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5496" name="直角上箭头 24"/>
          <p:cNvSpPr/>
          <p:nvPr/>
        </p:nvSpPr>
        <p:spPr>
          <a:xfrm>
            <a:off x="6219825" y="4221163"/>
            <a:ext cx="728663" cy="1033462"/>
          </a:xfrm>
          <a:custGeom>
            <a:avLst/>
            <a:gdLst/>
            <a:ahLst/>
            <a:cxnLst>
              <a:cxn ang="0">
                <a:pos x="0" y="851478"/>
              </a:cxn>
              <a:cxn ang="0">
                <a:pos x="455414" y="851478"/>
              </a:cxn>
              <a:cxn ang="0">
                <a:pos x="455414" y="181983"/>
              </a:cxn>
              <a:cxn ang="0">
                <a:pos x="364332" y="181983"/>
              </a:cxn>
              <a:cxn ang="0">
                <a:pos x="546497" y="0"/>
              </a:cxn>
              <a:cxn ang="0">
                <a:pos x="728663" y="181983"/>
              </a:cxn>
              <a:cxn ang="0">
                <a:pos x="637580" y="181983"/>
              </a:cxn>
              <a:cxn ang="0">
                <a:pos x="637580" y="1033462"/>
              </a:cxn>
              <a:cxn ang="0">
                <a:pos x="0" y="1033462"/>
              </a:cxn>
            </a:cxnLst>
            <a:pathLst>
              <a:path w="727710" h="1033145">
                <a:moveTo>
                  <a:pt x="0" y="851217"/>
                </a:moveTo>
                <a:lnTo>
                  <a:pt x="454818" y="851217"/>
                </a:lnTo>
                <a:lnTo>
                  <a:pt x="454818" y="181927"/>
                </a:lnTo>
                <a:lnTo>
                  <a:pt x="363855" y="181927"/>
                </a:lnTo>
                <a:lnTo>
                  <a:pt x="545782" y="0"/>
                </a:lnTo>
                <a:lnTo>
                  <a:pt x="727710" y="181927"/>
                </a:lnTo>
                <a:lnTo>
                  <a:pt x="636746" y="181927"/>
                </a:lnTo>
                <a:lnTo>
                  <a:pt x="636746" y="1033145"/>
                </a:lnTo>
                <a:lnTo>
                  <a:pt x="0" y="1033145"/>
                </a:lnTo>
                <a:lnTo>
                  <a:pt x="0" y="851217"/>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pic>
        <p:nvPicPr>
          <p:cNvPr id="105497" name="图片 1"/>
          <p:cNvPicPr>
            <a:picLocks noChangeAspect="1"/>
          </p:cNvPicPr>
          <p:nvPr/>
        </p:nvPicPr>
        <p:blipFill>
          <a:blip r:embed="rId3"/>
          <a:stretch>
            <a:fillRect/>
          </a:stretch>
        </p:blipFill>
        <p:spPr>
          <a:xfrm>
            <a:off x="6985000" y="5397500"/>
            <a:ext cx="655638" cy="212725"/>
          </a:xfrm>
          <a:prstGeom prst="rect">
            <a:avLst/>
          </a:prstGeom>
          <a:noFill/>
          <a:ln w="9525">
            <a:noFill/>
          </a:ln>
        </p:spPr>
      </p:pic>
      <p:pic>
        <p:nvPicPr>
          <p:cNvPr id="105498" name="图片 12"/>
          <p:cNvPicPr>
            <a:picLocks noChangeAspect="1"/>
          </p:cNvPicPr>
          <p:nvPr/>
        </p:nvPicPr>
        <p:blipFill>
          <a:blip r:embed="rId4"/>
          <a:stretch>
            <a:fillRect/>
          </a:stretch>
        </p:blipFill>
        <p:spPr>
          <a:xfrm>
            <a:off x="7918450" y="5413375"/>
            <a:ext cx="1084263" cy="209550"/>
          </a:xfrm>
          <a:prstGeom prst="rect">
            <a:avLst/>
          </a:prstGeom>
          <a:noFill/>
          <a:ln w="9525">
            <a:noFill/>
          </a:ln>
        </p:spPr>
      </p:pic>
      <p:pic>
        <p:nvPicPr>
          <p:cNvPr id="105499" name="图片 2"/>
          <p:cNvPicPr>
            <a:picLocks noChangeAspect="1"/>
          </p:cNvPicPr>
          <p:nvPr/>
        </p:nvPicPr>
        <p:blipFill>
          <a:blip r:embed="rId5"/>
          <a:stretch>
            <a:fillRect/>
          </a:stretch>
        </p:blipFill>
        <p:spPr>
          <a:xfrm>
            <a:off x="7137400" y="4740275"/>
            <a:ext cx="1436688" cy="234950"/>
          </a:xfrm>
          <a:prstGeom prst="rect">
            <a:avLst/>
          </a:prstGeom>
          <a:noFill/>
          <a:ln w="9525">
            <a:noFill/>
          </a:ln>
        </p:spPr>
      </p:pic>
      <p:sp>
        <p:nvSpPr>
          <p:cNvPr id="102402" name="Rectangle 3"/>
          <p:cNvSpPr txBox="1"/>
          <p:nvPr/>
        </p:nvSpPr>
        <p:spPr>
          <a:xfrm>
            <a:off x="166688" y="2103438"/>
            <a:ext cx="8081962" cy="533400"/>
          </a:xfrm>
          <a:prstGeom prst="rect">
            <a:avLst/>
          </a:prstGeom>
          <a:noFill/>
          <a:ln w="9525">
            <a:noFill/>
          </a:ln>
        </p:spPr>
        <p:txBody>
          <a:bodyPr anchor="t"/>
          <a:p>
            <a:pPr>
              <a:spcBef>
                <a:spcPct val="20000"/>
              </a:spcBef>
              <a:buSzTx/>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客观估算模型与主观评估模型</a:t>
            </a:r>
            <a:r>
              <a:rPr lang="en-US" altLang="zh-CN" sz="2400" i="1" dirty="0">
                <a:solidFill>
                  <a:srgbClr val="FFC000"/>
                </a:solidFill>
                <a:latin typeface="Times New Roman" panose="02020603050405020304" pitchFamily="18" charset="0"/>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3" name="矩形 41"/>
          <p:cNvSpPr/>
          <p:nvPr/>
        </p:nvSpPr>
        <p:spPr>
          <a:xfrm>
            <a:off x="4919980" y="5069205"/>
            <a:ext cx="1299845" cy="275590"/>
          </a:xfrm>
          <a:prstGeom prst="rect">
            <a:avLst/>
          </a:prstGeom>
          <a:solidFill>
            <a:schemeClr val="accent2"/>
          </a:solidFill>
          <a:ln w="9525">
            <a:noFill/>
          </a:ln>
        </p:spPr>
        <p:txBody>
          <a:bodyPr wrap="square" anchor="t">
            <a:spAutoFit/>
          </a:bodyPr>
          <a:p>
            <a:pPr eaLnBrk="0" hangingPunct="0"/>
            <a:r>
              <a:rPr lang="zh-CN" altLang="en-US" sz="1200" b="1" i="1" dirty="0">
                <a:solidFill>
                  <a:srgbClr val="FFC000"/>
                </a:solidFill>
                <a:latin typeface="Times New Roman" panose="02020603050405020304" pitchFamily="18" charset="0"/>
                <a:ea typeface="宋体" panose="02010600030101010101" pitchFamily="2" charset="-122"/>
              </a:rPr>
              <a:t>作   曲   模   板</a:t>
            </a:r>
            <a:endParaRPr lang="zh-CN" altLang="en-US" sz="1200" b="1"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3"/>
          <p:cNvSpPr txBox="1"/>
          <p:nvPr/>
        </p:nvSpPr>
        <p:spPr>
          <a:xfrm>
            <a:off x="569913" y="2847975"/>
            <a:ext cx="2462212" cy="444500"/>
          </a:xfrm>
          <a:prstGeom prst="rect">
            <a:avLst/>
          </a:prstGeom>
          <a:noFill/>
          <a:ln w="9525">
            <a:noFill/>
          </a:ln>
        </p:spPr>
        <p:txBody>
          <a:bodyPr anchor="t"/>
          <a:p>
            <a:pPr>
              <a:spcBef>
                <a:spcPct val="20000"/>
              </a:spcBef>
              <a:buSzTx/>
            </a:pPr>
            <a:r>
              <a:rPr lang="en-GB" altLang="en-US" sz="1600" dirty="0">
                <a:latin typeface="Times New Roman" panose="02020603050405020304" pitchFamily="18" charset="0"/>
                <a:ea typeface="楷体_GB2312" pitchFamily="49" charset="-122"/>
              </a:rPr>
              <a:t>           </a:t>
            </a:r>
            <a:r>
              <a:rPr lang="zh-CN" altLang="en-GB" sz="2400" dirty="0">
                <a:latin typeface="Times New Roman" panose="02020603050405020304" pitchFamily="18" charset="0"/>
                <a:ea typeface="楷体_GB2312" pitchFamily="49" charset="-122"/>
              </a:rPr>
              <a:t>如右图所示，系统可从收集到的同类歌曲集合中任选一首歌曲并将其转换成歌曲模板，用于生成</a:t>
            </a:r>
            <a:r>
              <a:rPr lang="zh-CN" altLang="en-GB" sz="2400" dirty="0">
                <a:latin typeface="Times New Roman" panose="02020603050405020304" pitchFamily="18" charset="0"/>
                <a:ea typeface="楷体_GB2312" pitchFamily="49" charset="-122"/>
                <a:sym typeface="+mn-ea"/>
              </a:rPr>
              <a:t>同类的</a:t>
            </a:r>
            <a:r>
              <a:rPr lang="zh-CN" altLang="en-GB" sz="2400" dirty="0">
                <a:latin typeface="Times New Roman" panose="02020603050405020304" pitchFamily="18" charset="0"/>
                <a:ea typeface="楷体_GB2312" pitchFamily="49" charset="-122"/>
              </a:rPr>
              <a:t>新旋律。</a:t>
            </a:r>
            <a:r>
              <a:rPr lang="en-GB" altLang="en-US" sz="2400" dirty="0">
                <a:latin typeface="Times New Roman" panose="02020603050405020304" pitchFamily="18" charset="0"/>
                <a:ea typeface="楷体_GB2312" pitchFamily="49" charset="-122"/>
              </a:rPr>
              <a:t> </a:t>
            </a:r>
            <a:r>
              <a:rPr lang="en-US" altLang="zh-CN" sz="2400" dirty="0">
                <a:latin typeface="Times New Roman" panose="02020603050405020304" pitchFamily="18" charset="0"/>
              </a:rPr>
              <a:t> </a:t>
            </a:r>
            <a:endParaRPr lang="en-GB" altLang="en-US" sz="2400" dirty="0">
              <a:latin typeface="Times New Roman" panose="02020603050405020304" pitchFamily="18" charset="0"/>
              <a:ea typeface="楷体_GB2312" pitchFamily="49" charset="-122"/>
            </a:endParaRPr>
          </a:p>
        </p:txBody>
      </p:sp>
      <p:sp>
        <p:nvSpPr>
          <p:cNvPr id="107524" name="Rectangle 3"/>
          <p:cNvSpPr txBox="1"/>
          <p:nvPr/>
        </p:nvSpPr>
        <p:spPr>
          <a:xfrm>
            <a:off x="622300" y="5702300"/>
            <a:ext cx="8372475" cy="444500"/>
          </a:xfrm>
          <a:prstGeom prst="rect">
            <a:avLst/>
          </a:prstGeom>
          <a:noFill/>
          <a:ln w="9525">
            <a:noFill/>
          </a:ln>
        </p:spPr>
        <p:txBody>
          <a:bodyPr anchor="t"/>
          <a:p>
            <a:pPr>
              <a:spcBef>
                <a:spcPct val="20000"/>
              </a:spcBef>
              <a:buSzTx/>
            </a:pPr>
            <a:r>
              <a:rPr lang="en-GB" altLang="en-US" sz="1600" dirty="0">
                <a:latin typeface="Times New Roman" panose="02020603050405020304" pitchFamily="18" charset="0"/>
                <a:ea typeface="楷体_GB2312" pitchFamily="49" charset="-122"/>
              </a:rPr>
              <a:t>          </a:t>
            </a:r>
            <a:r>
              <a:rPr lang="en-GB" altLang="en-US" sz="2400" dirty="0">
                <a:latin typeface="Times New Roman" panose="02020603050405020304" pitchFamily="18" charset="0"/>
                <a:ea typeface="楷体_GB2312" pitchFamily="49" charset="-122"/>
              </a:rPr>
              <a:t> </a:t>
            </a:r>
            <a:r>
              <a:rPr lang="zh-CN" altLang="en-GB" sz="2400" dirty="0">
                <a:latin typeface="Times New Roman" panose="02020603050405020304" pitchFamily="18" charset="0"/>
                <a:ea typeface="楷体_GB2312" pitchFamily="49" charset="-122"/>
              </a:rPr>
              <a:t>我们首先从同类歌曲集合中选择不同歌词但相同乐汇数的作曲模板，以便算法可以生成更有创意的新歌曲。</a:t>
            </a:r>
            <a:r>
              <a:rPr lang="zh-CN" altLang="zh-CN" sz="2400" dirty="0">
                <a:latin typeface="Times New Roman" panose="02020603050405020304" pitchFamily="18" charset="0"/>
              </a:rPr>
              <a:t> </a:t>
            </a:r>
            <a:endParaRPr lang="zh-CN" altLang="zh-CN" sz="2400" dirty="0">
              <a:latin typeface="Times New Roman" panose="02020603050405020304" pitchFamily="18" charset="0"/>
            </a:endParaRPr>
          </a:p>
        </p:txBody>
      </p:sp>
      <p:sp>
        <p:nvSpPr>
          <p:cNvPr id="107525" name="矩形 30"/>
          <p:cNvSpPr/>
          <p:nvPr/>
        </p:nvSpPr>
        <p:spPr>
          <a:xfrm>
            <a:off x="4662170" y="5396230"/>
            <a:ext cx="3003550" cy="306705"/>
          </a:xfrm>
          <a:prstGeom prst="rect">
            <a:avLst/>
          </a:prstGeom>
          <a:noFill/>
          <a:ln w="9525">
            <a:noFill/>
          </a:ln>
        </p:spPr>
        <p:txBody>
          <a:bodyPr wrap="square" anchor="t">
            <a:spAutoFit/>
          </a:bodyPr>
          <a:p>
            <a:pPr eaLnBrk="0" hangingPunct="0"/>
            <a:r>
              <a:rPr lang="zh-CN" altLang="en-US" sz="1400" dirty="0">
                <a:latin typeface="Times New Roman" panose="02020603050405020304" pitchFamily="18" charset="0"/>
                <a:ea typeface="宋体" panose="02010600030101010101" pitchFamily="2" charset="-122"/>
              </a:rPr>
              <a:t>旋律自动创作系统的体系结构</a:t>
            </a:r>
            <a:endParaRPr lang="zh-CN" altLang="en-US" sz="1400" dirty="0">
              <a:latin typeface="Times New Roman" panose="02020603050405020304" pitchFamily="18" charset="0"/>
              <a:ea typeface="宋体" panose="02010600030101010101" pitchFamily="2" charset="-122"/>
            </a:endParaRPr>
          </a:p>
        </p:txBody>
      </p:sp>
      <p:sp>
        <p:nvSpPr>
          <p:cNvPr id="102402" name="Rectangle 3"/>
          <p:cNvSpPr txBox="1"/>
          <p:nvPr/>
        </p:nvSpPr>
        <p:spPr>
          <a:xfrm>
            <a:off x="166688" y="2103438"/>
            <a:ext cx="8081962" cy="533400"/>
          </a:xfrm>
          <a:prstGeom prst="rect">
            <a:avLst/>
          </a:prstGeom>
          <a:noFill/>
          <a:ln w="9525">
            <a:noFill/>
          </a:ln>
        </p:spPr>
        <p:txBody>
          <a:bodyPr anchor="t"/>
          <a:p>
            <a:pPr>
              <a:spcBef>
                <a:spcPct val="20000"/>
              </a:spcBef>
              <a:buSzTx/>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客观估算模型与主观评估模型</a:t>
            </a:r>
            <a:r>
              <a:rPr lang="en-US" altLang="zh-CN" sz="2400" i="1" dirty="0">
                <a:solidFill>
                  <a:srgbClr val="FFC000"/>
                </a:solidFill>
                <a:latin typeface="Times New Roman" panose="02020603050405020304" pitchFamily="18" charset="0"/>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1"/>
          <a:stretch>
            <a:fillRect/>
          </a:stretch>
        </p:blipFill>
        <p:spPr>
          <a:xfrm>
            <a:off x="3086100" y="2535555"/>
            <a:ext cx="5991225" cy="2876550"/>
          </a:xfrm>
          <a:prstGeom prst="rect">
            <a:avLst/>
          </a:prstGeom>
        </p:spPr>
      </p:pic>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3"/>
          <p:cNvSpPr txBox="1"/>
          <p:nvPr/>
        </p:nvSpPr>
        <p:spPr>
          <a:xfrm>
            <a:off x="166688" y="2103438"/>
            <a:ext cx="80819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96258" name="矩形 41"/>
          <p:cNvSpPr>
            <a:spLocks noChangeArrowheads="1"/>
          </p:cNvSpPr>
          <p:nvPr/>
        </p:nvSpPr>
        <p:spPr bwMode="auto">
          <a:xfrm>
            <a:off x="803275" y="2781300"/>
            <a:ext cx="76803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先依次引入下面的概念</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endParaRPr kumimoji="0" lang="en-US" altLang="zh-CN" sz="2000" b="0" i="0" u="none" strike="noStrike" kern="1200" cap="none" spc="0" normalizeH="0" baseline="0" noProof="0" dirty="0" smtClean="0">
              <a:ln>
                <a:noFill/>
              </a:ln>
              <a:solidFill>
                <a:schemeClr val="tx1"/>
              </a:solidFill>
              <a:effectLst/>
              <a:uLnTx/>
              <a:uFillTx/>
              <a:latin typeface="+mj-lt"/>
              <a:ea typeface="+mn-ea"/>
              <a:cs typeface="+mn-cs"/>
            </a:endParaRPr>
          </a:p>
        </p:txBody>
      </p:sp>
      <p:sp>
        <p:nvSpPr>
          <p:cNvPr id="96259" name="矩形 41"/>
          <p:cNvSpPr>
            <a:spLocks noChangeArrowheads="1"/>
          </p:cNvSpPr>
          <p:nvPr/>
        </p:nvSpPr>
        <p:spPr bwMode="auto">
          <a:xfrm>
            <a:off x="1042988" y="3213100"/>
            <a:ext cx="3889375" cy="2553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1) </a:t>
            </a:r>
            <a:r>
              <a:rPr kumimoji="0" lang="zh-CN" altLang="en-US" sz="2000" b="0" i="1"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再现乐汇节奏</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由算法生成的一个乐汇的节奏</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smtClean="0">
                <a:ln>
                  <a:noFill/>
                </a:ln>
                <a:solidFill>
                  <a:schemeClr val="tx1"/>
                </a:solidFill>
                <a:effectLst/>
                <a:uLnTx/>
                <a:uFillTx/>
                <a:latin typeface="+mj-lt"/>
                <a:ea typeface="+mn-ea"/>
                <a:cs typeface="+mn-cs"/>
              </a:rPr>
              <a:t>A</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一个音符序列</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lang="zh-CN" altLang="en-US" sz="2000" noProof="0" dirty="0" smtClean="0">
                <a:ln>
                  <a:noFill/>
                </a:ln>
                <a:effectLst/>
                <a:uLnTx/>
                <a:uFillTx/>
                <a:latin typeface="+mj-lt"/>
                <a:ea typeface="宋体" panose="02010600030101010101" pitchFamily="2" charset="-122"/>
                <a:sym typeface="+mn-ea"/>
              </a:rPr>
              <a:t>称为再现乐汇节奏，如果它和同类歌曲集中的某一乐汇的节奏是一致的。这里，</a:t>
            </a:r>
            <a:r>
              <a:rPr lang="zh-CN" altLang="en-US" sz="2000" noProof="0" dirty="0" smtClean="0">
                <a:ln>
                  <a:noFill/>
                </a:ln>
                <a:effectLst/>
                <a:uLnTx/>
                <a:uFillTx/>
                <a:latin typeface="+mj-lt"/>
                <a:ea typeface="宋体" panose="02010600030101010101" pitchFamily="2" charset="-122"/>
                <a:sym typeface="+mn-ea"/>
              </a:rPr>
              <a:t>同类歌曲集指的是具有相同情感色彩</a:t>
            </a:r>
            <a:r>
              <a:rPr lang="zh-CN" altLang="en-US" sz="2000" noProof="0" dirty="0" smtClean="0">
                <a:ln>
                  <a:noFill/>
                </a:ln>
                <a:effectLst/>
                <a:uLnTx/>
                <a:uFillTx/>
                <a:latin typeface="+mj-lt"/>
                <a:ea typeface="宋体" panose="02010600030101010101" pitchFamily="2" charset="-122"/>
                <a:sym typeface="+mn-ea"/>
              </a:rPr>
              <a:t>，节拍，调式与速度范围的所有搜集来的样板歌曲组成的集合。</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GB" altLang="en-US" sz="18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09573" name="图片 2"/>
          <p:cNvPicPr>
            <a:picLocks noChangeAspect="1"/>
          </p:cNvPicPr>
          <p:nvPr/>
        </p:nvPicPr>
        <p:blipFill>
          <a:blip r:embed="rId1"/>
          <a:stretch>
            <a:fillRect/>
          </a:stretch>
        </p:blipFill>
        <p:spPr>
          <a:xfrm>
            <a:off x="5602288" y="3386138"/>
            <a:ext cx="3290887" cy="538162"/>
          </a:xfrm>
          <a:prstGeom prst="rect">
            <a:avLst/>
          </a:prstGeom>
          <a:noFill/>
          <a:ln w="9525">
            <a:noFill/>
          </a:ln>
        </p:spPr>
      </p:pic>
      <p:sp>
        <p:nvSpPr>
          <p:cNvPr id="109574" name="椭圆形标注 1"/>
          <p:cNvSpPr/>
          <p:nvPr/>
        </p:nvSpPr>
        <p:spPr>
          <a:xfrm>
            <a:off x="6455410" y="2276475"/>
            <a:ext cx="2383790" cy="865505"/>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lgn="l"/>
            <a:r>
              <a:rPr lang="zh-CN" sz="1600" dirty="0">
                <a:latin typeface="Times New Roman" panose="02020603050405020304" pitchFamily="18" charset="0"/>
                <a:ea typeface="宋体" panose="02010600030101010101" pitchFamily="2" charset="-122"/>
                <a:sym typeface="+mn-ea"/>
              </a:rPr>
              <a:t>由算法生成的乐汇</a:t>
            </a:r>
            <a:endParaRPr lang="zh-CN" sz="1600" dirty="0">
              <a:latin typeface="Times New Roman" panose="02020603050405020304" pitchFamily="18" charset="0"/>
              <a:ea typeface="宋体" panose="02010600030101010101" pitchFamily="2" charset="-122"/>
            </a:endParaRPr>
          </a:p>
          <a:p>
            <a:pPr algn="l"/>
            <a:r>
              <a:rPr lang="en-US" altLang="zh-CN" sz="1600" i="1" dirty="0">
                <a:latin typeface="Times New Roman" panose="02020603050405020304" pitchFamily="18" charset="0"/>
              </a:rPr>
              <a:t>MP</a:t>
            </a:r>
            <a:r>
              <a:rPr lang="en-US" altLang="zh-CN" sz="800" dirty="0">
                <a:latin typeface="Times New Roman" panose="02020603050405020304" pitchFamily="18" charset="0"/>
              </a:rPr>
              <a:t>1</a:t>
            </a:r>
            <a:r>
              <a:rPr lang="en-US" altLang="zh-CN" sz="1600" dirty="0">
                <a:latin typeface="Times New Roman" panose="02020603050405020304" pitchFamily="18" charset="0"/>
              </a:rPr>
              <a:t> </a:t>
            </a:r>
            <a:endParaRPr lang="zh-CN" sz="1600" dirty="0">
              <a:latin typeface="Times New Roman" panose="02020603050405020304" pitchFamily="18" charset="0"/>
              <a:ea typeface="宋体" panose="02010600030101010101" pitchFamily="2" charset="-122"/>
            </a:endParaRPr>
          </a:p>
        </p:txBody>
      </p:sp>
      <p:sp>
        <p:nvSpPr>
          <p:cNvPr id="9" name="矩形 41"/>
          <p:cNvSpPr>
            <a:spLocks noChangeArrowheads="1"/>
          </p:cNvSpPr>
          <p:nvPr/>
        </p:nvSpPr>
        <p:spPr bwMode="auto">
          <a:xfrm>
            <a:off x="5710238" y="3929063"/>
            <a:ext cx="3384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900" b="0" i="0" u="none" strike="noStrike" kern="1200" cap="none" spc="0" normalizeH="0" baseline="0" noProof="0" dirty="0" smtClean="0">
                <a:ln>
                  <a:noFill/>
                </a:ln>
                <a:solidFill>
                  <a:schemeClr val="tx1"/>
                </a:solidFill>
                <a:effectLst/>
                <a:uLnTx/>
                <a:uFillTx/>
                <a:latin typeface="+mj-lt"/>
                <a:ea typeface="+mn-ea"/>
                <a:cs typeface="+mn-cs"/>
              </a:rPr>
              <a:t>1</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的节奏是</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rPr>
              <a:t> 0.5, 0.5, 0.5,1,1;</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09576" name="图片 12"/>
          <p:cNvPicPr>
            <a:picLocks noChangeAspect="1"/>
          </p:cNvPicPr>
          <p:nvPr/>
        </p:nvPicPr>
        <p:blipFill>
          <a:blip r:embed="rId2"/>
          <a:stretch>
            <a:fillRect/>
          </a:stretch>
        </p:blipFill>
        <p:spPr>
          <a:xfrm>
            <a:off x="5658485" y="5727700"/>
            <a:ext cx="3166745" cy="581025"/>
          </a:xfrm>
          <a:prstGeom prst="rect">
            <a:avLst/>
          </a:prstGeom>
          <a:noFill/>
          <a:ln w="9525">
            <a:noFill/>
          </a:ln>
        </p:spPr>
      </p:pic>
      <p:sp>
        <p:nvSpPr>
          <p:cNvPr id="11" name="矩形 41"/>
          <p:cNvSpPr>
            <a:spLocks noChangeArrowheads="1"/>
          </p:cNvSpPr>
          <p:nvPr/>
        </p:nvSpPr>
        <p:spPr bwMode="auto">
          <a:xfrm>
            <a:off x="5602288" y="3041650"/>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900" b="0" i="0" u="none" strike="noStrike" kern="1200" cap="none" spc="0" normalizeH="0" baseline="0" noProof="0" dirty="0" smtClean="0">
                <a:ln>
                  <a:noFill/>
                </a:ln>
                <a:solidFill>
                  <a:schemeClr val="tx1"/>
                </a:solidFill>
                <a:effectLst/>
                <a:uLnTx/>
                <a:uFillTx/>
                <a:latin typeface="+mj-lt"/>
                <a:ea typeface="+mn-ea"/>
                <a:cs typeface="+mn-cs"/>
              </a:rPr>
              <a:t>1</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rPr>
              <a:t>:</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2" name="矩形 41"/>
          <p:cNvSpPr>
            <a:spLocks noChangeArrowheads="1"/>
          </p:cNvSpPr>
          <p:nvPr/>
        </p:nvSpPr>
        <p:spPr bwMode="auto">
          <a:xfrm>
            <a:off x="5586413" y="5435600"/>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900" b="0" i="0" u="none" strike="noStrike" kern="1200" cap="none" spc="0" normalizeH="0" baseline="0" noProof="0" dirty="0" smtClean="0">
                <a:ln>
                  <a:noFill/>
                </a:ln>
                <a:solidFill>
                  <a:schemeClr val="tx1"/>
                </a:solidFill>
                <a:effectLst/>
                <a:uLnTx/>
                <a:uFillTx/>
                <a:latin typeface="+mj-lt"/>
                <a:ea typeface="+mn-ea"/>
                <a:cs typeface="+mn-cs"/>
              </a:rPr>
              <a:t>2</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rPr>
              <a:t>:</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09579" name="椭圆形标注 12"/>
          <p:cNvSpPr/>
          <p:nvPr/>
        </p:nvSpPr>
        <p:spPr>
          <a:xfrm>
            <a:off x="5837555" y="4547235"/>
            <a:ext cx="3125470" cy="1018540"/>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lgn="l"/>
            <a:r>
              <a:rPr lang="zh-CN" altLang="en-US" sz="1600" dirty="0">
                <a:latin typeface="Times New Roman" panose="02020603050405020304" pitchFamily="18" charset="0"/>
                <a:ea typeface="宋体" panose="02010600030101010101" pitchFamily="2" charset="-122"/>
                <a:sym typeface="+mn-ea"/>
              </a:rPr>
              <a:t>由同类歌曲集中（相同情</a:t>
            </a:r>
            <a:endParaRPr lang="zh-CN" altLang="en-US" sz="1600" dirty="0">
              <a:latin typeface="Times New Roman" panose="02020603050405020304" pitchFamily="18" charset="0"/>
              <a:ea typeface="宋体" panose="02010600030101010101" pitchFamily="2" charset="-122"/>
            </a:endParaRPr>
          </a:p>
          <a:p>
            <a:pPr algn="l"/>
            <a:r>
              <a:rPr lang="zh-CN" altLang="en-US" sz="1600" dirty="0">
                <a:latin typeface="Times New Roman" panose="02020603050405020304" pitchFamily="18" charset="0"/>
                <a:ea typeface="宋体" panose="02010600030101010101" pitchFamily="2" charset="-122"/>
                <a:sym typeface="+mn-ea"/>
              </a:rPr>
              <a:t>感色彩、节拍、速度范围）</a:t>
            </a:r>
            <a:endParaRPr lang="zh-CN" altLang="en-US" sz="1600" dirty="0">
              <a:latin typeface="Times New Roman" panose="02020603050405020304" pitchFamily="18" charset="0"/>
              <a:ea typeface="宋体" panose="02010600030101010101" pitchFamily="2" charset="-122"/>
              <a:sym typeface="+mn-ea"/>
            </a:endParaRPr>
          </a:p>
          <a:p>
            <a:pPr algn="l"/>
            <a:r>
              <a:rPr lang="zh-CN" altLang="en-US" sz="1600" dirty="0">
                <a:latin typeface="Times New Roman" panose="02020603050405020304" pitchFamily="18" charset="0"/>
                <a:ea typeface="宋体" panose="02010600030101010101" pitchFamily="2" charset="-122"/>
                <a:sym typeface="+mn-ea"/>
              </a:rPr>
              <a:t>复制来的乐汇</a:t>
            </a:r>
            <a:r>
              <a:rPr lang="en-US" altLang="zh-CN" sz="1600" i="1" dirty="0">
                <a:latin typeface="Times New Roman" panose="02020603050405020304" pitchFamily="18" charset="0"/>
              </a:rPr>
              <a:t>MP</a:t>
            </a:r>
            <a:r>
              <a:rPr lang="en-US" altLang="zh-CN" sz="800" dirty="0">
                <a:latin typeface="Times New Roman" panose="02020603050405020304" pitchFamily="18" charset="0"/>
              </a:rPr>
              <a:t>2</a:t>
            </a:r>
            <a:r>
              <a:rPr lang="en-US" altLang="zh-CN" sz="1600" dirty="0">
                <a:latin typeface="Times New Roman" panose="02020603050405020304" pitchFamily="18" charset="0"/>
              </a:rPr>
              <a:t> </a:t>
            </a:r>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r>
              <a:rPr lang="en-GB" altLang="en-US" sz="1600" dirty="0">
                <a:latin typeface="Times New Roman" panose="02020603050405020304" pitchFamily="18" charset="0"/>
              </a:rPr>
              <a:t>r</a:t>
            </a:r>
            <a:r>
              <a:rPr lang="en-US" altLang="zh-CN" sz="1600" dirty="0">
                <a:latin typeface="Times New Roman" panose="02020603050405020304" pitchFamily="18" charset="0"/>
              </a:rPr>
              <a:t>a</a:t>
            </a:r>
            <a:r>
              <a:rPr lang="en-GB" altLang="en-US" sz="1600" dirty="0">
                <a:latin typeface="Times New Roman" panose="02020603050405020304" pitchFamily="18" charset="0"/>
              </a:rPr>
              <a:t>n</a:t>
            </a:r>
            <a:r>
              <a:rPr lang="en-US" altLang="zh-CN" sz="1600" dirty="0">
                <a:latin typeface="Times New Roman" panose="02020603050405020304" pitchFamily="18" charset="0"/>
              </a:rPr>
              <a:t>ge of tempo, meter and</a:t>
            </a:r>
            <a:endParaRPr lang="en-US" altLang="zh-CN" sz="1600" dirty="0">
              <a:latin typeface="Times New Roman" panose="02020603050405020304" pitchFamily="18" charset="0"/>
            </a:endParaRPr>
          </a:p>
          <a:p>
            <a:pPr algn="l"/>
            <a:r>
              <a:rPr lang="en-GB" altLang="en-US" sz="1600" dirty="0">
                <a:latin typeface="Times New Roman" panose="02020603050405020304" pitchFamily="18" charset="0"/>
              </a:rPr>
              <a:t>e</a:t>
            </a:r>
            <a:r>
              <a:rPr lang="en-US" altLang="zh-CN" sz="1600" dirty="0">
                <a:latin typeface="Times New Roman" panose="02020603050405020304" pitchFamily="18" charset="0"/>
              </a:rPr>
              <a:t>m</a:t>
            </a:r>
            <a:r>
              <a:rPr lang="en-GB" altLang="en-US" sz="1600" dirty="0">
                <a:latin typeface="Times New Roman" panose="02020603050405020304" pitchFamily="18" charset="0"/>
              </a:rPr>
              <a:t>o</a:t>
            </a:r>
            <a:r>
              <a:rPr lang="en-US" altLang="zh-CN" sz="1600" dirty="0">
                <a:latin typeface="Times New Roman" panose="02020603050405020304" pitchFamily="18" charset="0"/>
              </a:rPr>
              <a:t>tion color </a:t>
            </a:r>
            <a:endParaRPr lang="zh-CN" altLang="en-US" sz="1600" dirty="0">
              <a:latin typeface="Times New Roman" panose="02020603050405020304" pitchFamily="18" charset="0"/>
            </a:endParaRPr>
          </a:p>
        </p:txBody>
      </p:sp>
      <p:sp>
        <p:nvSpPr>
          <p:cNvPr id="14" name="矩形 41"/>
          <p:cNvSpPr>
            <a:spLocks noChangeArrowheads="1"/>
          </p:cNvSpPr>
          <p:nvPr/>
        </p:nvSpPr>
        <p:spPr bwMode="auto">
          <a:xfrm>
            <a:off x="5724525" y="6308725"/>
            <a:ext cx="3384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900" b="0" i="0" u="none" strike="noStrike" kern="1200" cap="none" spc="0" normalizeH="0" baseline="0" noProof="0" dirty="0" smtClean="0">
                <a:ln>
                  <a:noFill/>
                </a:ln>
                <a:solidFill>
                  <a:schemeClr val="tx1"/>
                </a:solidFill>
                <a:effectLst/>
                <a:uLnTx/>
                <a:uFillTx/>
                <a:latin typeface="+mj-lt"/>
                <a:ea typeface="+mn-ea"/>
                <a:cs typeface="+mn-cs"/>
              </a:rPr>
              <a:t>2</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的节奏也是</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rPr>
              <a:t> 0.5, 0.5, 0.5,1,1;</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5" name="矩形 41"/>
          <p:cNvSpPr>
            <a:spLocks noChangeArrowheads="1"/>
          </p:cNvSpPr>
          <p:nvPr/>
        </p:nvSpPr>
        <p:spPr bwMode="auto">
          <a:xfrm>
            <a:off x="1094105" y="5941695"/>
            <a:ext cx="379793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1000" b="0" i="0" u="none" strike="noStrike" kern="1200" cap="none" spc="0" normalizeH="0" baseline="0" noProof="0" dirty="0" smtClean="0">
                <a:ln>
                  <a:noFill/>
                </a:ln>
                <a:solidFill>
                  <a:schemeClr val="tx1"/>
                </a:solidFill>
                <a:effectLst/>
                <a:uLnTx/>
                <a:uFillTx/>
                <a:latin typeface="+mj-lt"/>
                <a:ea typeface="+mn-ea"/>
                <a:cs typeface="+mn-cs"/>
              </a:rPr>
              <a:t>1</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的节奏称为再现乐汇节奏。</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94209"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3" name="Rectangle 3"/>
          <p:cNvSpPr txBox="1"/>
          <p:nvPr/>
        </p:nvSpPr>
        <p:spPr>
          <a:xfrm>
            <a:off x="157798" y="2103438"/>
            <a:ext cx="8081962"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41935"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1035050" y="2790825"/>
            <a:ext cx="4147820"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2)</a:t>
            </a:r>
            <a:r>
              <a:rPr kumimoji="0" lang="zh-CN" altLang="en-US" sz="2000" b="0" i="1" u="none" strike="noStrike" kern="120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mn-cs"/>
              </a:rPr>
              <a:t>再现乐汇子节奏</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我们称算法生成的乐汇节奏</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smtClean="0">
                <a:ln>
                  <a:noFill/>
                </a:ln>
                <a:solidFill>
                  <a:schemeClr val="tx1"/>
                </a:solidFill>
                <a:effectLst/>
                <a:uLnTx/>
                <a:uFillTx/>
                <a:latin typeface="+mj-lt"/>
                <a:ea typeface="+mn-ea"/>
                <a:cs typeface="+mn-cs"/>
              </a:rPr>
              <a:t>A</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包含一个再现乐汇子节奏</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smtClean="0">
                <a:ln>
                  <a:noFill/>
                </a:ln>
                <a:solidFill>
                  <a:schemeClr val="tx1"/>
                </a:solidFill>
                <a:effectLst/>
                <a:uLnTx/>
                <a:uFillTx/>
                <a:latin typeface="+mj-lt"/>
                <a:ea typeface="+mn-ea"/>
                <a:cs typeface="+mn-cs"/>
              </a:rPr>
              <a:t>a</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US" altLang="zh-CN" sz="2000" b="0" i="1" u="none" strike="noStrike" kern="1200" cap="none" spc="0" normalizeH="0" baseline="0" noProof="0" dirty="0" err="1"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err="1" smtClean="0">
                <a:ln>
                  <a:noFill/>
                </a:ln>
                <a:solidFill>
                  <a:schemeClr val="tx1"/>
                </a:solidFill>
                <a:effectLst/>
                <a:uLnTx/>
                <a:uFillTx/>
                <a:latin typeface="+mj-lt"/>
                <a:ea typeface="+mn-ea"/>
                <a:cs typeface="+mn-cs"/>
              </a:rPr>
              <a:t>a</a:t>
            </a:r>
            <a:r>
              <a:rPr kumimoji="0" lang="en-US" altLang="zh-CN" sz="2000" b="0" i="0" u="none" strike="noStrike" kern="1200" cap="none" spc="0" normalizeH="0" baseline="0" noProof="0" dirty="0" err="1" smtClean="0">
                <a:ln>
                  <a:noFill/>
                </a:ln>
                <a:solidFill>
                  <a:schemeClr val="tx1"/>
                </a:solidFill>
                <a:effectLst/>
                <a:uLnTx/>
                <a:uFillTx/>
                <a:latin typeface="+mj-lt"/>
                <a:ea typeface="+mn-ea"/>
                <a:cs typeface="+mn-cs"/>
              </a:rPr>
              <a:t>≠</a:t>
            </a:r>
            <a:r>
              <a:rPr kumimoji="0" lang="en-US" altLang="zh-CN" sz="2000" b="0" i="1" u="none" strike="noStrike" kern="1200" cap="none" spc="0" normalizeH="0" baseline="0" noProof="0" dirty="0" err="1"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err="1" smtClean="0">
                <a:ln>
                  <a:noFill/>
                </a:ln>
                <a:solidFill>
                  <a:schemeClr val="tx1"/>
                </a:solidFill>
                <a:effectLst/>
                <a:uLnTx/>
                <a:uFillTx/>
                <a:latin typeface="+mj-lt"/>
                <a:ea typeface="+mn-ea"/>
                <a:cs typeface="+mn-cs"/>
              </a:rPr>
              <a:t>A</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如果：</a:t>
            </a: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乐汇节奏</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中</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某一部分（设为</a:t>
            </a:r>
            <a:r>
              <a:rPr lang="en-US" altLang="zh-CN" sz="2000" i="1" noProof="0" dirty="0" err="1" smtClean="0">
                <a:ln>
                  <a:noFill/>
                </a:ln>
                <a:effectLst/>
                <a:uLnTx/>
                <a:uFillTx/>
                <a:latin typeface="+mj-lt"/>
                <a:sym typeface="+mn-ea"/>
              </a:rPr>
              <a:t>R</a:t>
            </a:r>
            <a:r>
              <a:rPr lang="en-US" altLang="zh-CN" sz="2000" i="1" baseline="-25000" noProof="0" dirty="0" err="1"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正好与该乐汇</a:t>
            </a:r>
            <a:r>
              <a:rPr lang="zh-CN" altLang="en-US" sz="2000" noProof="0" dirty="0" smtClean="0">
                <a:ln>
                  <a:noFill/>
                </a:ln>
                <a:effectLst/>
                <a:uLnTx/>
                <a:uFillTx/>
                <a:latin typeface="+mj-lt"/>
                <a:ea typeface="宋体" panose="02010600030101010101" pitchFamily="2" charset="-122"/>
                <a:sym typeface="+mn-ea"/>
              </a:rPr>
              <a:t>同类的歌曲集合中的某一样板歌曲中的某一乐汇</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节奏</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x</a:t>
            </a:r>
            <a:r>
              <a:rPr lang="en-US" altLang="zh-CN" sz="2000" noProof="0" dirty="0" smtClean="0">
                <a:ln>
                  <a:noFill/>
                </a:ln>
                <a:effectLst/>
                <a:uLnTx/>
                <a:uFillTx/>
                <a:latin typeface="+mj-lt"/>
                <a:sym typeface="+mn-ea"/>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一致（即：</a:t>
            </a:r>
            <a:r>
              <a:rPr lang="en-US" altLang="zh-CN" sz="2000" i="1" noProof="0" dirty="0" err="1" smtClean="0">
                <a:ln>
                  <a:noFill/>
                </a:ln>
                <a:effectLst/>
                <a:uLnTx/>
                <a:uFillTx/>
                <a:latin typeface="+mj-lt"/>
                <a:sym typeface="+mn-ea"/>
              </a:rPr>
              <a:t>R</a:t>
            </a:r>
            <a:r>
              <a:rPr lang="en-US" altLang="zh-CN" sz="2000" i="1" baseline="-25000" noProof="0" dirty="0" err="1" smtClean="0">
                <a:ln>
                  <a:noFill/>
                </a:ln>
                <a:effectLst/>
                <a:uLnTx/>
                <a:uFillTx/>
                <a:latin typeface="+mj-lt"/>
                <a:sym typeface="+mn-ea"/>
              </a:rPr>
              <a:t>a</a:t>
            </a:r>
            <a:r>
              <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x</a:t>
            </a:r>
            <a:r>
              <a:rPr lang="en-US" altLang="zh-CN" sz="2000" noProof="0" dirty="0" smtClean="0">
                <a:ln>
                  <a:noFill/>
                </a:ln>
                <a:effectLst/>
                <a:uLnTx/>
                <a:uFillTx/>
                <a:latin typeface="+mj-lt"/>
                <a:sym typeface="+mn-ea"/>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），并且</a:t>
            </a: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b)</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节奏</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smtClean="0">
                <a:ln>
                  <a:noFill/>
                </a:ln>
                <a:solidFill>
                  <a:schemeClr val="tx1"/>
                </a:solidFill>
                <a:effectLst/>
                <a:uLnTx/>
                <a:uFillTx/>
                <a:latin typeface="+mj-lt"/>
                <a:ea typeface="+mn-ea"/>
                <a:cs typeface="+mn-cs"/>
              </a:rPr>
              <a:t>a</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与节奏</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R</a:t>
            </a:r>
            <a:r>
              <a:rPr kumimoji="0" lang="en-US" altLang="zh-CN" sz="2000" b="0" i="1" u="none" strike="noStrike" kern="1200" cap="none" spc="0" normalizeH="0" baseline="-25000" noProof="0" dirty="0" smtClean="0">
                <a:ln>
                  <a:noFill/>
                </a:ln>
                <a:solidFill>
                  <a:schemeClr val="tx1"/>
                </a:solidFill>
                <a:effectLst/>
                <a:uLnTx/>
                <a:uFillTx/>
                <a:latin typeface="+mj-lt"/>
                <a:ea typeface="+mn-ea"/>
                <a:cs typeface="+mn-cs"/>
              </a:rPr>
              <a:t>x</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中相对应的音符在小节中的位置也一致</a:t>
            </a:r>
            <a:r>
              <a:rPr kumimoji="0" 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11620" name="图片 1"/>
          <p:cNvPicPr>
            <a:picLocks noChangeAspect="1"/>
          </p:cNvPicPr>
          <p:nvPr/>
        </p:nvPicPr>
        <p:blipFill>
          <a:blip r:embed="rId1"/>
          <a:stretch>
            <a:fillRect/>
          </a:stretch>
        </p:blipFill>
        <p:spPr>
          <a:xfrm>
            <a:off x="5576888" y="4316413"/>
            <a:ext cx="3263900" cy="512762"/>
          </a:xfrm>
          <a:prstGeom prst="rect">
            <a:avLst/>
          </a:prstGeom>
          <a:noFill/>
          <a:ln w="9525">
            <a:noFill/>
          </a:ln>
        </p:spPr>
      </p:pic>
      <p:pic>
        <p:nvPicPr>
          <p:cNvPr id="111621" name="图片 3"/>
          <p:cNvPicPr>
            <a:picLocks noChangeAspect="1"/>
          </p:cNvPicPr>
          <p:nvPr/>
        </p:nvPicPr>
        <p:blipFill>
          <a:blip r:embed="rId2"/>
          <a:stretch>
            <a:fillRect/>
          </a:stretch>
        </p:blipFill>
        <p:spPr>
          <a:xfrm>
            <a:off x="5432425" y="3194050"/>
            <a:ext cx="3635375" cy="384175"/>
          </a:xfrm>
          <a:prstGeom prst="rect">
            <a:avLst/>
          </a:prstGeom>
          <a:noFill/>
          <a:ln w="9525">
            <a:noFill/>
          </a:ln>
        </p:spPr>
      </p:pic>
      <p:sp>
        <p:nvSpPr>
          <p:cNvPr id="111622" name="圆角矩形标注 5"/>
          <p:cNvSpPr/>
          <p:nvPr/>
        </p:nvSpPr>
        <p:spPr>
          <a:xfrm>
            <a:off x="6750050" y="4292600"/>
            <a:ext cx="1582738" cy="649288"/>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1623" name="圆角矩形标注 6"/>
          <p:cNvSpPr/>
          <p:nvPr/>
        </p:nvSpPr>
        <p:spPr>
          <a:xfrm flipV="1">
            <a:off x="6097588" y="3011488"/>
            <a:ext cx="1781175" cy="709612"/>
          </a:xfrm>
          <a:prstGeom prst="wedgeRoundRectCallout">
            <a:avLst>
              <a:gd name="adj1" fmla="val -20833"/>
              <a:gd name="adj2" fmla="val 62500"/>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 name="矩形 41"/>
          <p:cNvSpPr>
            <a:spLocks noChangeArrowheads="1"/>
          </p:cNvSpPr>
          <p:nvPr/>
        </p:nvSpPr>
        <p:spPr bwMode="auto">
          <a:xfrm>
            <a:off x="5183188" y="2611438"/>
            <a:ext cx="3914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rgbClr val="92D050"/>
                </a:solidFill>
                <a:effectLst/>
                <a:uLnTx/>
                <a:uFillTx/>
                <a:latin typeface="+mj-lt"/>
                <a:ea typeface="宋体" panose="02010600030101010101" pitchFamily="2" charset="-122"/>
                <a:cs typeface="+mn-cs"/>
                <a:sym typeface="+mn-ea"/>
              </a:rPr>
              <a:t>节奏</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rPr>
              <a:t>R</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rPr>
              <a:t>A</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0.5, 0.75, 0.25, 0.5, 0.5, 0.75,0.25,0.5</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111625" name="圆角矩形标注 7"/>
          <p:cNvSpPr/>
          <p:nvPr/>
        </p:nvSpPr>
        <p:spPr>
          <a:xfrm>
            <a:off x="6153150" y="3211513"/>
            <a:ext cx="1384300" cy="676275"/>
          </a:xfrm>
          <a:prstGeom prst="wedgeRoundRectCallout">
            <a:avLst>
              <a:gd name="adj1" fmla="val -20833"/>
              <a:gd name="adj2" fmla="val 62500"/>
              <a:gd name="adj3" fmla="val 16667"/>
            </a:avLst>
          </a:prstGeom>
          <a:noFill/>
          <a:ln w="28575" cap="flat" cmpd="sng">
            <a:solidFill>
              <a:srgbClr val="00B0F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9" name="矩形 41"/>
          <p:cNvSpPr>
            <a:spLocks noChangeArrowheads="1"/>
          </p:cNvSpPr>
          <p:nvPr/>
        </p:nvSpPr>
        <p:spPr bwMode="auto">
          <a:xfrm>
            <a:off x="5648325" y="3886200"/>
            <a:ext cx="3676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smtClean="0">
                <a:ln>
                  <a:noFill/>
                </a:ln>
                <a:solidFill>
                  <a:srgbClr val="00B0F0"/>
                </a:solidFill>
                <a:effectLst/>
                <a:uLnTx/>
                <a:uFillTx/>
                <a:latin typeface="+mj-lt"/>
                <a:ea typeface="+mn-ea"/>
                <a:cs typeface="+mn-cs"/>
                <a:sym typeface="+mn-ea"/>
              </a:rPr>
              <a:t>rhythm </a:t>
            </a:r>
            <a:r>
              <a:rPr kumimoji="0" lang="en-US" altLang="zh-CN" sz="1600" b="0" i="1" u="none" strike="noStrike" kern="1200" cap="none" spc="0" normalizeH="0" baseline="0" noProof="0" dirty="0" smtClean="0">
                <a:ln>
                  <a:noFill/>
                </a:ln>
                <a:solidFill>
                  <a:srgbClr val="00B0F0"/>
                </a:solidFill>
                <a:effectLst/>
                <a:uLnTx/>
                <a:uFillTx/>
                <a:latin typeface="+mj-lt"/>
                <a:ea typeface="+mn-ea"/>
                <a:cs typeface="+mn-cs"/>
                <a:sym typeface="+mn-ea"/>
              </a:rPr>
              <a:t>R</a:t>
            </a:r>
            <a:r>
              <a:rPr kumimoji="0" lang="en-US" altLang="zh-CN" sz="1600" b="0" i="1" u="none" strike="noStrike" kern="1200" cap="none" spc="0" normalizeH="0" baseline="-25000" noProof="0" dirty="0" smtClean="0">
                <a:ln>
                  <a:noFill/>
                </a:ln>
                <a:solidFill>
                  <a:srgbClr val="00B0F0"/>
                </a:solidFill>
                <a:effectLst/>
                <a:uLnTx/>
                <a:uFillTx/>
                <a:latin typeface="+mj-lt"/>
                <a:ea typeface="+mn-ea"/>
                <a:cs typeface="+mn-cs"/>
                <a:sym typeface="+mn-ea"/>
              </a:rPr>
              <a:t>a</a:t>
            </a:r>
            <a:r>
              <a:rPr kumimoji="0" lang="en-US" altLang="zh-CN" sz="16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600" b="0" i="0" u="none" strike="noStrike" kern="1200" cap="none" spc="0" normalizeH="0" baseline="0" noProof="0" dirty="0" smtClean="0">
                <a:ln>
                  <a:noFill/>
                </a:ln>
                <a:solidFill>
                  <a:schemeClr val="tx1"/>
                </a:solidFill>
                <a:effectLst/>
                <a:uLnTx/>
                <a:uFillTx/>
                <a:latin typeface="+mj-lt"/>
                <a:ea typeface="+mn-ea"/>
                <a:cs typeface="+mn-cs"/>
                <a:sym typeface="+mn-ea"/>
              </a:rPr>
              <a:t>0.5, 0.75, 0.25, 0.5, 0.5, </a:t>
            </a:r>
            <a:r>
              <a:rPr kumimoji="0" lang="en-US" altLang="zh-CN" sz="1600" b="0" i="0" u="none" strike="noStrike" kern="1200" cap="none" spc="0" normalizeH="0" baseline="0" noProof="0" dirty="0" smtClean="0">
                <a:ln>
                  <a:noFill/>
                </a:ln>
                <a:solidFill>
                  <a:srgbClr val="92D050"/>
                </a:solidFill>
                <a:effectLst/>
                <a:uLnTx/>
                <a:uFillTx/>
                <a:latin typeface="+mj-lt"/>
                <a:ea typeface="+mn-ea"/>
                <a:cs typeface="+mn-cs"/>
                <a:sym typeface="+mn-ea"/>
              </a:rPr>
              <a:t>0.75</a:t>
            </a:r>
            <a:endParaRPr kumimoji="0" lang="en-US" altLang="zh-CN" sz="1600" b="0" i="0" u="none" strike="noStrike" kern="1200" cap="none" spc="0" normalizeH="0" baseline="0" noProof="0" dirty="0" smtClean="0">
              <a:ln>
                <a:noFill/>
              </a:ln>
              <a:solidFill>
                <a:srgbClr val="92D050"/>
              </a:solidFill>
              <a:effectLst/>
              <a:uLnTx/>
              <a:uFillTx/>
              <a:latin typeface="+mj-lt"/>
              <a:ea typeface="宋体" panose="02010600030101010101" pitchFamily="2" charset="-122"/>
              <a:cs typeface="+mn-cs"/>
              <a:sym typeface="+mn-ea"/>
            </a:endParaRPr>
          </a:p>
        </p:txBody>
      </p:sp>
      <p:sp>
        <p:nvSpPr>
          <p:cNvPr id="12" name="矩形 41"/>
          <p:cNvSpPr>
            <a:spLocks noChangeArrowheads="1"/>
          </p:cNvSpPr>
          <p:nvPr/>
        </p:nvSpPr>
        <p:spPr bwMode="auto">
          <a:xfrm>
            <a:off x="5702300" y="5018088"/>
            <a:ext cx="3678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dirty="0" smtClean="0">
                <a:ln>
                  <a:noFill/>
                </a:ln>
                <a:solidFill>
                  <a:srgbClr val="FF0000"/>
                </a:solidFill>
                <a:effectLst/>
                <a:uLnTx/>
                <a:uFillTx/>
                <a:latin typeface="+mj-lt"/>
                <a:ea typeface="+mn-ea"/>
                <a:cs typeface="+mn-cs"/>
                <a:sym typeface="+mn-ea"/>
              </a:rPr>
              <a:t>rhythm </a:t>
            </a:r>
            <a:r>
              <a:rPr kumimoji="0" lang="en-US" altLang="zh-CN" sz="1600" b="0" i="1" u="none" strike="noStrike" kern="1200" cap="none" spc="0" normalizeH="0" baseline="0" noProof="0" dirty="0" smtClean="0">
                <a:ln>
                  <a:noFill/>
                </a:ln>
                <a:solidFill>
                  <a:srgbClr val="FF0000"/>
                </a:solidFill>
                <a:effectLst/>
                <a:uLnTx/>
                <a:uFillTx/>
                <a:latin typeface="+mj-lt"/>
                <a:ea typeface="+mn-ea"/>
                <a:cs typeface="+mn-cs"/>
                <a:sym typeface="+mn-ea"/>
              </a:rPr>
              <a:t>R</a:t>
            </a:r>
            <a:r>
              <a:rPr kumimoji="0" lang="en-US" altLang="zh-CN" sz="1600" b="0" i="1" u="none" strike="noStrike" kern="1200" cap="none" spc="0" normalizeH="0" baseline="-25000" noProof="0" dirty="0" smtClean="0">
                <a:ln>
                  <a:noFill/>
                </a:ln>
                <a:solidFill>
                  <a:srgbClr val="FF0000"/>
                </a:solidFill>
                <a:effectLst/>
                <a:uLnTx/>
                <a:uFillTx/>
                <a:latin typeface="+mj-lt"/>
                <a:ea typeface="+mn-ea"/>
                <a:cs typeface="+mn-cs"/>
                <a:sym typeface="+mn-ea"/>
              </a:rPr>
              <a:t>x</a:t>
            </a:r>
            <a:r>
              <a:rPr kumimoji="0" lang="en-US" altLang="zh-CN" sz="16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600" b="0" i="0" u="none" strike="noStrike" kern="1200" cap="none" spc="0" normalizeH="0" baseline="0" noProof="0" dirty="0" smtClean="0">
                <a:ln>
                  <a:noFill/>
                </a:ln>
                <a:solidFill>
                  <a:schemeClr val="tx1"/>
                </a:solidFill>
                <a:effectLst/>
                <a:uLnTx/>
                <a:uFillTx/>
                <a:latin typeface="+mj-lt"/>
                <a:ea typeface="+mn-ea"/>
                <a:cs typeface="+mn-cs"/>
                <a:sym typeface="+mn-ea"/>
              </a:rPr>
              <a:t>0.5, 0.75, 0.25, 0.5, 0.5, </a:t>
            </a:r>
            <a:r>
              <a:rPr kumimoji="0" lang="en-US" altLang="zh-CN" sz="1600" b="0" i="0" u="none" strike="noStrike" kern="1200" cap="none" spc="0" normalizeH="0" baseline="0" noProof="0" dirty="0" smtClean="0">
                <a:ln>
                  <a:noFill/>
                </a:ln>
                <a:solidFill>
                  <a:srgbClr val="FF0000"/>
                </a:solidFill>
                <a:effectLst/>
                <a:uLnTx/>
                <a:uFillTx/>
                <a:latin typeface="+mj-lt"/>
                <a:ea typeface="+mn-ea"/>
                <a:cs typeface="+mn-cs"/>
                <a:sym typeface="+mn-ea"/>
              </a:rPr>
              <a:t>1.5</a:t>
            </a:r>
            <a:endParaRPr kumimoji="0" lang="en-US" altLang="zh-CN" sz="1600" b="0" i="0"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13" name="矩形 41"/>
          <p:cNvSpPr>
            <a:spLocks noChangeArrowheads="1"/>
          </p:cNvSpPr>
          <p:nvPr/>
        </p:nvSpPr>
        <p:spPr bwMode="auto">
          <a:xfrm>
            <a:off x="5167313" y="5751513"/>
            <a:ext cx="391477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处于节奏</a:t>
            </a:r>
            <a:r>
              <a:rPr lang="en-US" altLang="zh-CN" sz="1600" i="1" noProof="0" dirty="0" smtClean="0">
                <a:ln>
                  <a:noFill/>
                </a:ln>
                <a:effectLst/>
                <a:uLnTx/>
                <a:uFillTx/>
                <a:latin typeface="+mj-lt"/>
                <a:sym typeface="+mn-ea"/>
              </a:rPr>
              <a:t>R</a:t>
            </a:r>
            <a:r>
              <a:rPr lang="en-US" altLang="zh-CN" sz="1600" i="1" baseline="-25000" noProof="0" dirty="0" smtClean="0">
                <a:ln>
                  <a:noFill/>
                </a:ln>
                <a:effectLst/>
                <a:uLnTx/>
                <a:uFillTx/>
                <a:latin typeface="+mj-lt"/>
                <a:sym typeface="+mn-ea"/>
              </a:rPr>
              <a:t>a</a:t>
            </a:r>
            <a:r>
              <a:rPr lang="en-US" altLang="zh-CN" sz="1600" noProof="0" dirty="0" smtClean="0">
                <a:ln>
                  <a:noFill/>
                </a:ln>
                <a:effectLst/>
                <a:uLnTx/>
                <a:uFillTx/>
                <a:latin typeface="+mj-lt"/>
                <a:sym typeface="+mn-ea"/>
              </a:rPr>
              <a:t> </a:t>
            </a:r>
            <a:r>
              <a:rPr lang="zh-CN" altLang="en-US" sz="1600" noProof="0" dirty="0" smtClean="0">
                <a:ln>
                  <a:noFill/>
                </a:ln>
                <a:effectLst/>
                <a:uLnTx/>
                <a:uFillTx/>
                <a:latin typeface="+mj-lt"/>
                <a:ea typeface="宋体" panose="02010600030101010101" pitchFamily="2" charset="-122"/>
                <a:sym typeface="+mn-ea"/>
              </a:rPr>
              <a:t>与</a:t>
            </a:r>
            <a:r>
              <a:rPr lang="en-US" altLang="zh-CN" sz="1600" noProof="0" dirty="0" smtClean="0">
                <a:ln>
                  <a:noFill/>
                </a:ln>
                <a:effectLst/>
                <a:uLnTx/>
                <a:uFillTx/>
                <a:latin typeface="+mj-lt"/>
                <a:sym typeface="+mn-ea"/>
              </a:rPr>
              <a:t> </a:t>
            </a:r>
            <a:r>
              <a:rPr lang="en-US" altLang="zh-CN" sz="1600" i="1" noProof="0" dirty="0" smtClean="0">
                <a:ln>
                  <a:noFill/>
                </a:ln>
                <a:effectLst/>
                <a:uLnTx/>
                <a:uFillTx/>
                <a:latin typeface="+mj-lt"/>
                <a:sym typeface="+mn-ea"/>
              </a:rPr>
              <a:t>R</a:t>
            </a:r>
            <a:r>
              <a:rPr lang="en-US" altLang="zh-CN" sz="1600" i="1" baseline="-25000" noProof="0" dirty="0" smtClean="0">
                <a:ln>
                  <a:noFill/>
                </a:ln>
                <a:effectLst/>
                <a:uLnTx/>
                <a:uFillTx/>
                <a:latin typeface="+mj-lt"/>
                <a:sym typeface="+mn-ea"/>
              </a:rPr>
              <a:t>x</a:t>
            </a:r>
            <a:r>
              <a:rPr lang="zh-CN" altLang="en-US" sz="1600" noProof="0" dirty="0" smtClean="0">
                <a:ln>
                  <a:noFill/>
                </a:ln>
                <a:effectLst/>
                <a:uLnTx/>
                <a:uFillTx/>
                <a:latin typeface="+mj-lt"/>
                <a:ea typeface="宋体" panose="02010600030101010101" pitchFamily="2" charset="-122"/>
                <a:sym typeface="+mn-ea"/>
              </a:rPr>
              <a:t>中</a:t>
            </a:r>
            <a:r>
              <a:rPr kumimoji="0" lang="zh-CN" altLang="en-US"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相对应的音符在时值上是一致的（最后音符除外），且在小节的位置也一致。</a:t>
            </a:r>
            <a:endParaRPr kumimoji="0" lang="zh-CN" altLang="en-US"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11629" name="直接箭头连接符 13"/>
          <p:cNvCxnSpPr/>
          <p:nvPr/>
        </p:nvCxnSpPr>
        <p:spPr>
          <a:xfrm flipV="1">
            <a:off x="6732270" y="4653280"/>
            <a:ext cx="1440180" cy="1368425"/>
          </a:xfrm>
          <a:prstGeom prst="straightConnector1">
            <a:avLst/>
          </a:prstGeom>
          <a:ln w="28575" cap="flat" cmpd="sng">
            <a:solidFill>
              <a:srgbClr val="FF0000"/>
            </a:solidFill>
            <a:prstDash val="solid"/>
            <a:round/>
            <a:headEnd type="none" w="med" len="med"/>
            <a:tailEnd type="arrow" w="med" len="med"/>
          </a:ln>
        </p:spPr>
      </p:cxnSp>
      <p:cxnSp>
        <p:nvCxnSpPr>
          <p:cNvPr id="111630" name="直接箭头连接符 14"/>
          <p:cNvCxnSpPr/>
          <p:nvPr/>
        </p:nvCxnSpPr>
        <p:spPr>
          <a:xfrm flipV="1">
            <a:off x="6732270" y="3429000"/>
            <a:ext cx="648335" cy="2664460"/>
          </a:xfrm>
          <a:prstGeom prst="straightConnector1">
            <a:avLst/>
          </a:prstGeom>
          <a:ln w="28575" cap="flat" cmpd="sng">
            <a:solidFill>
              <a:srgbClr val="92D050"/>
            </a:solidFill>
            <a:prstDash val="solid"/>
            <a:round/>
            <a:headEnd type="none" w="med" len="med"/>
            <a:tailEnd type="arrow" w="med" len="med"/>
          </a:ln>
        </p:spPr>
      </p:cxnSp>
      <p:sp>
        <p:nvSpPr>
          <p:cNvPr id="16" name="矩形 41"/>
          <p:cNvSpPr>
            <a:spLocks noChangeArrowheads="1"/>
          </p:cNvSpPr>
          <p:nvPr/>
        </p:nvSpPr>
        <p:spPr bwMode="auto">
          <a:xfrm>
            <a:off x="5303520" y="2076450"/>
            <a:ext cx="39058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sym typeface="+mn-ea"/>
              </a:rPr>
              <a:t>R</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sym typeface="+mn-ea"/>
              </a:rPr>
              <a:t>A</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是由算法生成的某一乐汇的节奏</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11632" name="直接箭头连接符 16"/>
          <p:cNvCxnSpPr/>
          <p:nvPr/>
        </p:nvCxnSpPr>
        <p:spPr>
          <a:xfrm flipH="1">
            <a:off x="6227763" y="2349500"/>
            <a:ext cx="144462" cy="647700"/>
          </a:xfrm>
          <a:prstGeom prst="straightConnector1">
            <a:avLst/>
          </a:prstGeom>
          <a:ln w="28575" cap="flat" cmpd="sng">
            <a:solidFill>
              <a:srgbClr val="92D050"/>
            </a:solidFill>
            <a:prstDash val="solid"/>
            <a:round/>
            <a:headEnd type="none" w="med" len="med"/>
            <a:tailEnd type="arrow" w="med" len="med"/>
          </a:ln>
        </p:spPr>
      </p:cxnSp>
      <p:sp>
        <p:nvSpPr>
          <p:cNvPr id="3" name="Rectangle 3"/>
          <p:cNvSpPr txBox="1"/>
          <p:nvPr/>
        </p:nvSpPr>
        <p:spPr>
          <a:xfrm>
            <a:off x="158115" y="2103755"/>
            <a:ext cx="359029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41935"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1042988" y="2781300"/>
            <a:ext cx="4176713" cy="3446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3) </a:t>
            </a:r>
            <a:r>
              <a:rPr lang="zh-CN" altLang="en-US" sz="2000" i="1" noProof="0" dirty="0" smtClean="0">
                <a:ln>
                  <a:noFill/>
                </a:ln>
                <a:effectLst/>
                <a:uLnTx/>
                <a:uFillTx/>
                <a:latin typeface="Times New Roman" panose="02020603050405020304" pitchFamily="18" charset="0"/>
                <a:ea typeface="宋体" panose="02010600030101010101" pitchFamily="2" charset="-122"/>
                <a:sym typeface="+mn-ea"/>
              </a:rPr>
              <a:t>再现</a:t>
            </a:r>
            <a:r>
              <a:rPr lang="zh-CN" altLang="en-US" sz="2000" i="1" noProof="0" dirty="0" smtClean="0">
                <a:ln>
                  <a:noFill/>
                </a:ln>
                <a:effectLst/>
                <a:uLnTx/>
                <a:uFillTx/>
                <a:latin typeface="Times New Roman" panose="02020603050405020304" pitchFamily="18" charset="0"/>
                <a:ea typeface="宋体" panose="02010600030101010101" pitchFamily="2" charset="-122"/>
                <a:sym typeface="+mn-ea"/>
              </a:rPr>
              <a:t>父</a:t>
            </a:r>
            <a:r>
              <a:rPr lang="zh-CN" altLang="en-US" sz="2000" i="1" noProof="0" dirty="0" smtClean="0">
                <a:ln>
                  <a:noFill/>
                </a:ln>
                <a:effectLst/>
                <a:uLnTx/>
                <a:uFillTx/>
                <a:latin typeface="Times New Roman" panose="02020603050405020304" pitchFamily="18" charset="0"/>
                <a:ea typeface="宋体" panose="02010600030101010101" pitchFamily="2" charset="-122"/>
                <a:sym typeface="+mn-ea"/>
              </a:rPr>
              <a:t>乐汇节奏</a:t>
            </a:r>
            <a:r>
              <a:rPr lang="en-US" altLang="zh-CN" sz="2000" noProof="0" dirty="0" smtClean="0">
                <a:ln>
                  <a:noFill/>
                </a:ln>
                <a:effectLst/>
                <a:uLnTx/>
                <a:uFillTx/>
                <a:latin typeface="+mj-lt"/>
                <a:sym typeface="+mn-ea"/>
              </a:rPr>
              <a:t>:</a:t>
            </a:r>
            <a:r>
              <a:rPr lang="en-US" altLang="zh-CN" sz="2000" noProof="0" dirty="0" smtClean="0">
                <a:ln>
                  <a:noFill/>
                </a:ln>
                <a:effectLst/>
                <a:uLnTx/>
                <a:uFillTx/>
                <a:sym typeface="+mn-ea"/>
              </a:rPr>
              <a:t> </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altLang="zh-CN" sz="2000" noProof="0" dirty="0" smtClean="0">
                <a:ln>
                  <a:noFill/>
                </a:ln>
                <a:effectLst/>
                <a:uLnTx/>
                <a:uFillTx/>
                <a:sym typeface="+mn-ea"/>
              </a:rPr>
              <a:t>我们称算法生成的乐汇节奏</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A</a:t>
            </a:r>
            <a:r>
              <a:rPr lang="en-US" altLang="zh-CN" sz="2000" noProof="0" dirty="0" smtClean="0">
                <a:ln>
                  <a:noFill/>
                </a:ln>
                <a:effectLst/>
                <a:uLnTx/>
                <a:uFillTx/>
                <a:latin typeface="+mj-lt"/>
                <a:sym typeface="+mn-ea"/>
              </a:rPr>
              <a:t> </a:t>
            </a:r>
            <a:r>
              <a:rPr lang="zh-CN" altLang="zh-CN" sz="2000" noProof="0" dirty="0" smtClean="0">
                <a:ln>
                  <a:noFill/>
                </a:ln>
                <a:effectLst/>
                <a:uLnTx/>
                <a:uFillTx/>
                <a:sym typeface="+mn-ea"/>
              </a:rPr>
              <a:t>存在一个再现</a:t>
            </a:r>
            <a:r>
              <a:rPr lang="zh-CN" altLang="zh-CN" sz="2000" noProof="0" dirty="0" smtClean="0">
                <a:ln>
                  <a:noFill/>
                </a:ln>
                <a:effectLst/>
                <a:uLnTx/>
                <a:uFillTx/>
                <a:sym typeface="+mn-ea"/>
              </a:rPr>
              <a:t>父</a:t>
            </a:r>
            <a:r>
              <a:rPr lang="zh-CN" altLang="zh-CN" sz="2000" noProof="0" dirty="0" smtClean="0">
                <a:ln>
                  <a:noFill/>
                </a:ln>
                <a:effectLst/>
                <a:uLnTx/>
                <a:uFillTx/>
                <a:sym typeface="+mn-ea"/>
              </a:rPr>
              <a:t>乐汇节奏</a:t>
            </a:r>
            <a:r>
              <a:rPr lang="en-US" altLang="zh-CN" sz="2000" noProof="0" dirty="0" smtClean="0">
                <a:ln>
                  <a:noFill/>
                </a:ln>
                <a:effectLst/>
                <a:uLnTx/>
                <a:uFillTx/>
                <a:latin typeface="+mj-lt"/>
                <a:sym typeface="+mn-ea"/>
              </a:rPr>
              <a:t> </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Y</a:t>
            </a:r>
            <a:r>
              <a:rPr lang="zh-CN" altLang="en-US" sz="2000" noProof="0" dirty="0" smtClean="0">
                <a:ln>
                  <a:noFill/>
                </a:ln>
                <a:effectLst/>
                <a:uLnTx/>
                <a:uFillTx/>
                <a:latin typeface="+mj-lt"/>
                <a:ea typeface="宋体" panose="02010600030101010101" pitchFamily="2" charset="-122"/>
                <a:sym typeface="+mn-ea"/>
              </a:rPr>
              <a:t>如果：</a:t>
            </a: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dirty="0" smtClean="0">
              <a:ln>
                <a:noFill/>
              </a:ln>
              <a:solidFill>
                <a:schemeClr val="tx1"/>
              </a:solidFill>
              <a:effectLst/>
              <a:uLnTx/>
              <a:uFillTx/>
              <a:latin typeface="+mj-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与算法生成的</a:t>
            </a:r>
            <a:r>
              <a:rPr lang="zh-CN" altLang="en-US" sz="2000" noProof="0" dirty="0" smtClean="0">
                <a:ln>
                  <a:noFill/>
                </a:ln>
                <a:effectLst/>
                <a:uLnTx/>
                <a:uFillTx/>
                <a:latin typeface="+mj-lt"/>
                <a:ea typeface="宋体" panose="02010600030101010101" pitchFamily="2" charset="-122"/>
                <a:sym typeface="+mn-ea"/>
              </a:rPr>
              <a:t>乐汇</a:t>
            </a:r>
            <a:r>
              <a:rPr lang="zh-CN" altLang="en-US" sz="2000" noProof="0" dirty="0" smtClean="0">
                <a:ln>
                  <a:noFill/>
                </a:ln>
                <a:effectLst/>
                <a:uLnTx/>
                <a:uFillTx/>
                <a:latin typeface="+mj-lt"/>
                <a:ea typeface="宋体" panose="02010600030101010101" pitchFamily="2" charset="-122"/>
                <a:sym typeface="+mn-ea"/>
              </a:rPr>
              <a:t>同类的歌曲集合中的某一样板歌曲中的某一乐汇的节奏</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Y</a:t>
            </a:r>
            <a:r>
              <a:rPr lang="en-US" altLang="zh-CN" sz="2000" noProof="0" dirty="0" smtClean="0">
                <a:ln>
                  <a:noFill/>
                </a:ln>
                <a:effectLst/>
                <a:uLnTx/>
                <a:uFillTx/>
                <a:latin typeface="+mj-lt"/>
                <a:sym typeface="+mn-ea"/>
              </a:rPr>
              <a:t> </a:t>
            </a:r>
            <a:r>
              <a:rPr lang="zh-CN" altLang="en-US" sz="2000" noProof="0" dirty="0" smtClean="0">
                <a:ln>
                  <a:noFill/>
                </a:ln>
                <a:effectLst/>
                <a:uLnTx/>
                <a:uFillTx/>
                <a:latin typeface="+mj-lt"/>
                <a:ea typeface="宋体" panose="02010600030101010101" pitchFamily="2" charset="-122"/>
                <a:sym typeface="+mn-ea"/>
              </a:rPr>
              <a:t>的某一部分</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y</a:t>
            </a:r>
            <a:r>
              <a:rPr lang="zh-CN" altLang="en-US" sz="2000" noProof="0" dirty="0" smtClean="0">
                <a:ln>
                  <a:noFill/>
                </a:ln>
                <a:effectLst/>
                <a:uLnTx/>
                <a:uFillTx/>
                <a:latin typeface="+mj-lt"/>
                <a:ea typeface="宋体" panose="02010600030101010101" pitchFamily="2" charset="-122"/>
                <a:sym typeface="+mn-ea"/>
              </a:rPr>
              <a:t>正好与</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一致</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并且</a:t>
            </a: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 b) </a:t>
            </a:r>
            <a:r>
              <a:rPr lang="zh-CN" altLang="en-US" sz="2000" noProof="0" dirty="0" smtClean="0">
                <a:ln>
                  <a:noFill/>
                </a:ln>
                <a:effectLst/>
                <a:uLnTx/>
                <a:uFillTx/>
                <a:latin typeface="+mj-lt"/>
                <a:ea typeface="宋体" panose="02010600030101010101" pitchFamily="2" charset="-122"/>
                <a:sym typeface="+mn-ea"/>
              </a:rPr>
              <a:t>节奏</a:t>
            </a:r>
            <a:r>
              <a:rPr lang="en-US" altLang="zh-CN" sz="2000" noProof="0" dirty="0" smtClean="0">
                <a:ln>
                  <a:noFill/>
                </a:ln>
                <a:effectLst/>
                <a:uLnTx/>
                <a:uFillTx/>
                <a:latin typeface="+mj-lt"/>
                <a:sym typeface="+mn-ea"/>
              </a:rPr>
              <a:t> </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y</a:t>
            </a:r>
            <a:r>
              <a:rPr lang="zh-CN" altLang="en-US" sz="2000" noProof="0" dirty="0" smtClean="0">
                <a:ln>
                  <a:noFill/>
                </a:ln>
                <a:effectLst/>
                <a:uLnTx/>
                <a:uFillTx/>
                <a:latin typeface="+mj-lt"/>
                <a:ea typeface="宋体" panose="02010600030101010101" pitchFamily="2" charset="-122"/>
                <a:sym typeface="+mn-ea"/>
              </a:rPr>
              <a:t>与节奏</a:t>
            </a:r>
            <a:r>
              <a:rPr lang="en-US" altLang="zh-CN" sz="2000" i="1" noProof="0" dirty="0" smtClean="0">
                <a:ln>
                  <a:noFill/>
                </a:ln>
                <a:effectLst/>
                <a:uLnTx/>
                <a:uFillTx/>
                <a:latin typeface="+mj-lt"/>
                <a:sym typeface="+mn-ea"/>
              </a:rPr>
              <a:t>R</a:t>
            </a:r>
            <a:r>
              <a:rPr lang="en-US" altLang="zh-CN" sz="2000" i="1" baseline="-25000" noProof="0" dirty="0" smtClean="0">
                <a:ln>
                  <a:noFill/>
                </a:ln>
                <a:effectLst/>
                <a:uLnTx/>
                <a:uFillTx/>
                <a:latin typeface="+mj-lt"/>
                <a:sym typeface="+mn-ea"/>
              </a:rPr>
              <a:t>A</a:t>
            </a:r>
            <a:r>
              <a:rPr lang="en-US" altLang="zh-CN" sz="2000" noProof="0" dirty="0" smtClean="0">
                <a:ln>
                  <a:noFill/>
                </a:ln>
                <a:effectLst/>
                <a:uLnTx/>
                <a:uFillTx/>
                <a:latin typeface="+mj-lt"/>
                <a:sym typeface="+mn-ea"/>
              </a:rPr>
              <a:t> </a:t>
            </a:r>
            <a:r>
              <a:rPr lang="zh-CN" altLang="en-US" sz="2000" noProof="0" dirty="0" smtClean="0">
                <a:ln>
                  <a:noFill/>
                </a:ln>
                <a:effectLst/>
                <a:uLnTx/>
                <a:uFillTx/>
                <a:latin typeface="+mj-lt"/>
                <a:ea typeface="宋体" panose="02010600030101010101" pitchFamily="2" charset="-122"/>
                <a:sym typeface="+mn-ea"/>
              </a:rPr>
              <a:t>中相对应的音符在小节中的位置也一致</a:t>
            </a:r>
            <a:r>
              <a:rPr lang="zh-CN" sz="2000" noProof="0" dirty="0" smtClean="0">
                <a:ln>
                  <a:noFill/>
                </a:ln>
                <a:effectLst/>
                <a:uLnTx/>
                <a:uFillTx/>
                <a:latin typeface="+mj-lt"/>
                <a:ea typeface="宋体" panose="02010600030101010101" pitchFamily="2" charset="-122"/>
                <a:sym typeface="+mn-ea"/>
              </a:rPr>
              <a:t>。</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13668" name="图片 3"/>
          <p:cNvPicPr>
            <a:picLocks noChangeAspect="1"/>
          </p:cNvPicPr>
          <p:nvPr/>
        </p:nvPicPr>
        <p:blipFill>
          <a:blip r:embed="rId1"/>
          <a:stretch>
            <a:fillRect/>
          </a:stretch>
        </p:blipFill>
        <p:spPr>
          <a:xfrm>
            <a:off x="5432425" y="3194050"/>
            <a:ext cx="3635375" cy="384175"/>
          </a:xfrm>
          <a:prstGeom prst="rect">
            <a:avLst/>
          </a:prstGeom>
          <a:noFill/>
          <a:ln w="9525">
            <a:noFill/>
          </a:ln>
        </p:spPr>
      </p:pic>
      <p:pic>
        <p:nvPicPr>
          <p:cNvPr id="113669" name="图片 2"/>
          <p:cNvPicPr>
            <a:picLocks noChangeAspect="1"/>
          </p:cNvPicPr>
          <p:nvPr/>
        </p:nvPicPr>
        <p:blipFill>
          <a:blip r:embed="rId2"/>
          <a:stretch>
            <a:fillRect/>
          </a:stretch>
        </p:blipFill>
        <p:spPr>
          <a:xfrm>
            <a:off x="5408613" y="4402138"/>
            <a:ext cx="3598862" cy="398462"/>
          </a:xfrm>
          <a:prstGeom prst="rect">
            <a:avLst/>
          </a:prstGeom>
          <a:noFill/>
          <a:ln w="9525">
            <a:noFill/>
          </a:ln>
        </p:spPr>
      </p:pic>
      <p:sp>
        <p:nvSpPr>
          <p:cNvPr id="113670" name="圆角矩形标注 6"/>
          <p:cNvSpPr/>
          <p:nvPr/>
        </p:nvSpPr>
        <p:spPr>
          <a:xfrm flipV="1">
            <a:off x="6097588" y="3011488"/>
            <a:ext cx="1781175" cy="709612"/>
          </a:xfrm>
          <a:prstGeom prst="wedgeRoundRectCallout">
            <a:avLst>
              <a:gd name="adj1" fmla="val -20833"/>
              <a:gd name="adj2" fmla="val 62500"/>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3671" name="圆角矩形标注 5"/>
          <p:cNvSpPr/>
          <p:nvPr/>
        </p:nvSpPr>
        <p:spPr>
          <a:xfrm>
            <a:off x="5908675" y="4445000"/>
            <a:ext cx="2724150" cy="649288"/>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3672" name="圆角矩形标注 7"/>
          <p:cNvSpPr/>
          <p:nvPr/>
        </p:nvSpPr>
        <p:spPr>
          <a:xfrm flipV="1">
            <a:off x="6008688" y="4298950"/>
            <a:ext cx="1416050" cy="490538"/>
          </a:xfrm>
          <a:prstGeom prst="wedgeRoundRectCallout">
            <a:avLst>
              <a:gd name="adj1" fmla="val -20833"/>
              <a:gd name="adj2" fmla="val 62500"/>
              <a:gd name="adj3" fmla="val 16667"/>
            </a:avLst>
          </a:prstGeom>
          <a:noFill/>
          <a:ln w="28575" cap="flat" cmpd="sng">
            <a:solidFill>
              <a:srgbClr val="00B0F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cxnSp>
        <p:nvCxnSpPr>
          <p:cNvPr id="113674" name="直接箭头连接符 16"/>
          <p:cNvCxnSpPr/>
          <p:nvPr/>
        </p:nvCxnSpPr>
        <p:spPr>
          <a:xfrm flipH="1">
            <a:off x="6227763" y="2349500"/>
            <a:ext cx="144462" cy="647700"/>
          </a:xfrm>
          <a:prstGeom prst="straightConnector1">
            <a:avLst/>
          </a:prstGeom>
          <a:ln w="28575" cap="flat" cmpd="sng">
            <a:solidFill>
              <a:srgbClr val="92D050"/>
            </a:solidFill>
            <a:prstDash val="solid"/>
            <a:round/>
            <a:headEnd type="none" w="med" len="med"/>
            <a:tailEnd type="arrow" w="med" len="med"/>
          </a:ln>
        </p:spPr>
      </p:cxnSp>
      <p:sp>
        <p:nvSpPr>
          <p:cNvPr id="11" name="矩形 41"/>
          <p:cNvSpPr>
            <a:spLocks noChangeArrowheads="1"/>
          </p:cNvSpPr>
          <p:nvPr/>
        </p:nvSpPr>
        <p:spPr bwMode="auto">
          <a:xfrm>
            <a:off x="5183188" y="2611438"/>
            <a:ext cx="391477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rhythm </a:t>
            </a: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rPr>
              <a:t>R</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rPr>
              <a:t>A</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0.5, 0.75, 0.25, 0.5, 0.5, 0.75,0.25,0.5</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9" name="矩形 41"/>
          <p:cNvSpPr>
            <a:spLocks noChangeArrowheads="1"/>
          </p:cNvSpPr>
          <p:nvPr/>
        </p:nvSpPr>
        <p:spPr bwMode="auto">
          <a:xfrm>
            <a:off x="5360988" y="3957638"/>
            <a:ext cx="416083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rgbClr val="00B0F0"/>
                </a:solidFill>
                <a:effectLst/>
                <a:uLnTx/>
                <a:uFillTx/>
                <a:latin typeface="+mj-lt"/>
                <a:ea typeface="+mn-ea"/>
                <a:cs typeface="+mn-cs"/>
                <a:sym typeface="+mn-ea"/>
              </a:rPr>
              <a:t>rhythm </a:t>
            </a:r>
            <a:r>
              <a:rPr kumimoji="0" lang="en-US" altLang="zh-CN" sz="1400" b="0" i="1" u="none" strike="noStrike" kern="1200" cap="none" spc="0" normalizeH="0" baseline="0" noProof="0" dirty="0" smtClean="0">
                <a:ln>
                  <a:noFill/>
                </a:ln>
                <a:solidFill>
                  <a:srgbClr val="00B0F0"/>
                </a:solidFill>
                <a:effectLst/>
                <a:uLnTx/>
                <a:uFillTx/>
                <a:latin typeface="+mj-lt"/>
                <a:ea typeface="+mn-ea"/>
                <a:cs typeface="+mn-cs"/>
                <a:sym typeface="+mn-ea"/>
              </a:rPr>
              <a:t>R</a:t>
            </a:r>
            <a:r>
              <a:rPr kumimoji="0" lang="en-US" altLang="zh-CN" sz="1400" b="0" i="1" u="none" strike="noStrike" kern="1200" cap="none" spc="0" normalizeH="0" baseline="-25000" noProof="0" dirty="0" smtClean="0">
                <a:ln>
                  <a:noFill/>
                </a:ln>
                <a:solidFill>
                  <a:srgbClr val="00B0F0"/>
                </a:solidFill>
                <a:effectLst/>
                <a:uLnTx/>
                <a:uFillTx/>
                <a:latin typeface="+mj-lt"/>
                <a:ea typeface="+mn-ea"/>
                <a:cs typeface="+mn-cs"/>
                <a:sym typeface="+mn-ea"/>
              </a:rPr>
              <a:t>y</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0</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.5, 0.75, 0.25, 0.5, 0.5, 0.75,0.25,0.5</a:t>
            </a:r>
            <a:endParaRPr kumimoji="0" lang="en-US" altLang="zh-CN" sz="1400" b="0" i="0" u="none" strike="noStrike" kern="1200" cap="none" spc="0" normalizeH="0" baseline="0" noProof="0" dirty="0" smtClean="0">
              <a:ln>
                <a:noFill/>
              </a:ln>
              <a:solidFill>
                <a:srgbClr val="92D050"/>
              </a:solidFill>
              <a:effectLst/>
              <a:uLnTx/>
              <a:uFillTx/>
              <a:latin typeface="+mj-lt"/>
              <a:ea typeface="宋体" panose="02010600030101010101" pitchFamily="2" charset="-122"/>
              <a:cs typeface="+mn-cs"/>
              <a:sym typeface="+mn-ea"/>
            </a:endParaRPr>
          </a:p>
        </p:txBody>
      </p:sp>
      <p:sp>
        <p:nvSpPr>
          <p:cNvPr id="12" name="矩形 41"/>
          <p:cNvSpPr>
            <a:spLocks noChangeArrowheads="1"/>
          </p:cNvSpPr>
          <p:nvPr/>
        </p:nvSpPr>
        <p:spPr bwMode="auto">
          <a:xfrm>
            <a:off x="5272088" y="5160963"/>
            <a:ext cx="3970338"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rgbClr val="FF0000"/>
                </a:solidFill>
                <a:effectLst/>
                <a:uLnTx/>
                <a:uFillTx/>
                <a:latin typeface="+mj-lt"/>
                <a:ea typeface="+mn-ea"/>
                <a:cs typeface="+mn-cs"/>
                <a:sym typeface="+mn-ea"/>
              </a:rPr>
              <a:t>rhythm </a:t>
            </a: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R</a:t>
            </a:r>
            <a:r>
              <a:rPr kumimoji="0" lang="en-US" altLang="zh-CN" sz="1400" b="0" i="1" u="none" strike="noStrike" kern="1200" cap="none" spc="0" normalizeH="0" baseline="-25000" noProof="0" dirty="0" smtClean="0">
                <a:ln>
                  <a:noFill/>
                </a:ln>
                <a:solidFill>
                  <a:srgbClr val="FF0000"/>
                </a:solidFill>
                <a:effectLst/>
                <a:uLnTx/>
                <a:uFillTx/>
                <a:latin typeface="+mj-lt"/>
                <a:ea typeface="+mn-ea"/>
                <a:cs typeface="+mn-cs"/>
                <a:sym typeface="+mn-ea"/>
              </a:rPr>
              <a:t>Y</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0.5, 0.75, 0.25, 0.5, 0.5, 0.75, 0.25, 0.5, 0.5, 0.75, 0.25, 0.5,0.5, 2</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13" name="矩形 41"/>
          <p:cNvSpPr>
            <a:spLocks noChangeArrowheads="1"/>
          </p:cNvSpPr>
          <p:nvPr/>
        </p:nvSpPr>
        <p:spPr bwMode="auto">
          <a:xfrm>
            <a:off x="5167313" y="5751513"/>
            <a:ext cx="393065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zh-CN" altLang="en-US" sz="1800" noProof="0" dirty="0" smtClean="0">
                <a:ln>
                  <a:noFill/>
                </a:ln>
                <a:effectLst/>
                <a:uLnTx/>
                <a:uFillTx/>
                <a:latin typeface="+mj-lt"/>
                <a:ea typeface="宋体" panose="02010600030101010101" pitchFamily="2" charset="-122"/>
                <a:sym typeface="+mn-ea"/>
              </a:rPr>
              <a:t>处于节奏</a:t>
            </a:r>
            <a:r>
              <a:rPr lang="en-US" altLang="zh-CN" sz="1800" i="1" noProof="0" dirty="0" smtClean="0">
                <a:ln>
                  <a:noFill/>
                </a:ln>
                <a:effectLst/>
                <a:uLnTx/>
                <a:uFillTx/>
                <a:latin typeface="+mj-lt"/>
                <a:sym typeface="+mn-ea"/>
              </a:rPr>
              <a:t>R</a:t>
            </a:r>
            <a:r>
              <a:rPr lang="en-US" altLang="zh-CN" sz="1800" i="1" baseline="-25000" noProof="0" dirty="0" smtClean="0">
                <a:ln>
                  <a:noFill/>
                </a:ln>
                <a:effectLst/>
                <a:uLnTx/>
                <a:uFillTx/>
                <a:latin typeface="+mj-lt"/>
                <a:sym typeface="+mn-ea"/>
              </a:rPr>
              <a:t>y</a:t>
            </a:r>
            <a:r>
              <a:rPr lang="en-US" altLang="zh-CN" sz="1800" noProof="0" dirty="0" smtClean="0">
                <a:ln>
                  <a:noFill/>
                </a:ln>
                <a:effectLst/>
                <a:uLnTx/>
                <a:uFillTx/>
                <a:latin typeface="+mj-lt"/>
                <a:sym typeface="+mn-ea"/>
              </a:rPr>
              <a:t> </a:t>
            </a:r>
            <a:r>
              <a:rPr lang="zh-CN" altLang="en-US" sz="1800" noProof="0" dirty="0" smtClean="0">
                <a:ln>
                  <a:noFill/>
                </a:ln>
                <a:effectLst/>
                <a:uLnTx/>
                <a:uFillTx/>
                <a:latin typeface="+mj-lt"/>
                <a:ea typeface="宋体" panose="02010600030101010101" pitchFamily="2" charset="-122"/>
                <a:sym typeface="+mn-ea"/>
              </a:rPr>
              <a:t>与</a:t>
            </a:r>
            <a:r>
              <a:rPr lang="en-US" altLang="zh-CN" sz="1800" noProof="0" dirty="0" smtClean="0">
                <a:ln>
                  <a:noFill/>
                </a:ln>
                <a:effectLst/>
                <a:uLnTx/>
                <a:uFillTx/>
                <a:latin typeface="+mj-lt"/>
                <a:sym typeface="+mn-ea"/>
              </a:rPr>
              <a:t> </a:t>
            </a:r>
            <a:r>
              <a:rPr lang="en-US" altLang="zh-CN" sz="1800" i="1" noProof="0" dirty="0" smtClean="0">
                <a:ln>
                  <a:noFill/>
                </a:ln>
                <a:effectLst/>
                <a:uLnTx/>
                <a:uFillTx/>
                <a:latin typeface="+mj-lt"/>
                <a:sym typeface="+mn-ea"/>
              </a:rPr>
              <a:t>R</a:t>
            </a:r>
            <a:r>
              <a:rPr lang="en-US" altLang="zh-CN" sz="1800" i="1" baseline="-25000" noProof="0" dirty="0" smtClean="0">
                <a:ln>
                  <a:noFill/>
                </a:ln>
                <a:effectLst/>
                <a:uLnTx/>
                <a:uFillTx/>
                <a:latin typeface="+mj-lt"/>
                <a:sym typeface="+mn-ea"/>
              </a:rPr>
              <a:t>A</a:t>
            </a:r>
            <a:r>
              <a:rPr lang="zh-CN" altLang="en-US" sz="1800" noProof="0" dirty="0" smtClean="0">
                <a:ln>
                  <a:noFill/>
                </a:ln>
                <a:effectLst/>
                <a:uLnTx/>
                <a:uFillTx/>
                <a:latin typeface="+mj-lt"/>
                <a:ea typeface="宋体" panose="02010600030101010101" pitchFamily="2" charset="-122"/>
                <a:sym typeface="+mn-ea"/>
              </a:rPr>
              <a:t>中相对应的音符在时值上是一致的（最后音符除外），且在小节的位置也一致。</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13679" name="直接箭头连接符 13"/>
          <p:cNvCxnSpPr/>
          <p:nvPr/>
        </p:nvCxnSpPr>
        <p:spPr>
          <a:xfrm>
            <a:off x="2124075" y="3717290"/>
            <a:ext cx="3739515" cy="1160145"/>
          </a:xfrm>
          <a:prstGeom prst="straightConnector1">
            <a:avLst/>
          </a:prstGeom>
          <a:ln w="28575" cap="flat" cmpd="sng">
            <a:solidFill>
              <a:srgbClr val="FF0000"/>
            </a:solidFill>
            <a:prstDash val="solid"/>
            <a:round/>
            <a:headEnd type="none" w="med" len="med"/>
            <a:tailEnd type="arrow" w="med" len="med"/>
          </a:ln>
        </p:spPr>
      </p:cxnSp>
      <p:sp>
        <p:nvSpPr>
          <p:cNvPr id="4" name="Rectangle 2"/>
          <p:cNvSpPr>
            <a:spLocks noGrp="1"/>
          </p:cNvSpPr>
          <p:nvPr/>
        </p:nvSpPr>
        <p:spPr>
          <a:xfrm>
            <a:off x="241935"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3" name="Rectangle 3"/>
          <p:cNvSpPr txBox="1"/>
          <p:nvPr/>
        </p:nvSpPr>
        <p:spPr>
          <a:xfrm>
            <a:off x="158115" y="2103755"/>
            <a:ext cx="359029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矩形 41"/>
          <p:cNvSpPr>
            <a:spLocks noChangeArrowheads="1"/>
          </p:cNvSpPr>
          <p:nvPr/>
        </p:nvSpPr>
        <p:spPr bwMode="auto">
          <a:xfrm>
            <a:off x="5303520" y="2076450"/>
            <a:ext cx="39058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sym typeface="+mn-ea"/>
              </a:rPr>
              <a:t>R</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sym typeface="+mn-ea"/>
              </a:rPr>
              <a:t>A</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是由算法生成的某一乐汇的节奏</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5715" name="图片 2"/>
          <p:cNvPicPr>
            <a:picLocks noChangeAspect="1"/>
          </p:cNvPicPr>
          <p:nvPr/>
        </p:nvPicPr>
        <p:blipFill>
          <a:blip r:embed="rId1"/>
          <a:stretch>
            <a:fillRect/>
          </a:stretch>
        </p:blipFill>
        <p:spPr>
          <a:xfrm>
            <a:off x="5602288" y="3386138"/>
            <a:ext cx="3290887" cy="538162"/>
          </a:xfrm>
          <a:prstGeom prst="rect">
            <a:avLst/>
          </a:prstGeom>
          <a:noFill/>
          <a:ln w="9525">
            <a:noFill/>
          </a:ln>
        </p:spPr>
      </p:pic>
      <p:sp>
        <p:nvSpPr>
          <p:cNvPr id="9" name="矩形 41"/>
          <p:cNvSpPr>
            <a:spLocks noChangeArrowheads="1"/>
          </p:cNvSpPr>
          <p:nvPr/>
        </p:nvSpPr>
        <p:spPr bwMode="auto">
          <a:xfrm>
            <a:off x="5849620" y="3929380"/>
            <a:ext cx="274510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rPr>
              <a:t>M</a:t>
            </a:r>
            <a:r>
              <a:rPr kumimoji="0" lang="en-US" altLang="zh-CN" sz="1600" b="0" i="1" u="none" strike="noStrike" kern="1200" cap="none" spc="0" normalizeH="0" baseline="0" noProof="0" dirty="0" smtClean="0">
                <a:ln>
                  <a:noFill/>
                </a:ln>
                <a:solidFill>
                  <a:schemeClr val="tx1"/>
                </a:solidFill>
                <a:effectLst/>
                <a:uLnTx/>
                <a:uFillTx/>
                <a:latin typeface="+mj-lt"/>
                <a:ea typeface="+mn-ea"/>
                <a:cs typeface="+mn-cs"/>
              </a:rPr>
              <a:t>P</a:t>
            </a:r>
            <a:r>
              <a:rPr kumimoji="0" lang="en-US" altLang="zh-CN" sz="1600" b="0" i="0" u="none" strike="noStrike" kern="1200" cap="none" spc="0" normalizeH="0" baseline="-25000" noProof="0" dirty="0" smtClean="0">
                <a:ln>
                  <a:noFill/>
                </a:ln>
                <a:solidFill>
                  <a:schemeClr val="tx1"/>
                </a:solidFill>
                <a:effectLst/>
                <a:uLnTx/>
                <a:uFillTx/>
                <a:latin typeface="+mj-lt"/>
                <a:ea typeface="+mn-ea"/>
                <a:cs typeface="+mn-cs"/>
              </a:rPr>
              <a:t>1</a:t>
            </a:r>
            <a:r>
              <a:rPr kumimoji="0" lang="zh-CN" altLang="en-US"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音级序列是</a:t>
            </a:r>
            <a:r>
              <a:rPr kumimoji="0" lang="en-US" altLang="zh-CN" sz="1600" b="0" i="0" u="none" strike="noStrike" kern="1200" cap="none" spc="0" normalizeH="0" baseline="0" noProof="0" dirty="0" smtClean="0">
                <a:ln>
                  <a:noFill/>
                </a:ln>
                <a:solidFill>
                  <a:schemeClr val="tx1"/>
                </a:solidFill>
                <a:effectLst/>
                <a:uLnTx/>
                <a:uFillTx/>
                <a:latin typeface="+mj-lt"/>
                <a:ea typeface="+mn-ea"/>
                <a:cs typeface="+mn-cs"/>
              </a:rPr>
              <a:t> 2, 3, 4, 6, 5;</a:t>
            </a:r>
            <a:endParaRPr kumimoji="0" lang="en-US" altLang="zh-CN"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1" name="矩形 41"/>
          <p:cNvSpPr>
            <a:spLocks noChangeArrowheads="1"/>
          </p:cNvSpPr>
          <p:nvPr/>
        </p:nvSpPr>
        <p:spPr bwMode="auto">
          <a:xfrm>
            <a:off x="5602288" y="3041650"/>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900" b="0" i="0" u="none" strike="noStrike" kern="1200" cap="none" spc="0" normalizeH="0" baseline="0" noProof="0" dirty="0" smtClean="0">
                <a:ln>
                  <a:noFill/>
                </a:ln>
                <a:solidFill>
                  <a:schemeClr val="tx1"/>
                </a:solidFill>
                <a:effectLst/>
                <a:uLnTx/>
                <a:uFillTx/>
                <a:latin typeface="+mj-lt"/>
                <a:ea typeface="+mn-ea"/>
                <a:cs typeface="+mn-cs"/>
              </a:rPr>
              <a:t>1</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rPr>
              <a:t>:</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2" name="矩形 41"/>
          <p:cNvSpPr>
            <a:spLocks noChangeArrowheads="1"/>
          </p:cNvSpPr>
          <p:nvPr/>
        </p:nvSpPr>
        <p:spPr bwMode="auto">
          <a:xfrm>
            <a:off x="5586413" y="5435600"/>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900" b="0" i="0" u="none" strike="noStrike" kern="1200" cap="none" spc="0" normalizeH="0" baseline="0" noProof="0" dirty="0" smtClean="0">
                <a:ln>
                  <a:noFill/>
                </a:ln>
                <a:solidFill>
                  <a:schemeClr val="tx1"/>
                </a:solidFill>
                <a:effectLst/>
                <a:uLnTx/>
                <a:uFillTx/>
                <a:latin typeface="+mj-lt"/>
                <a:ea typeface="+mn-ea"/>
                <a:cs typeface="+mn-cs"/>
              </a:rPr>
              <a:t>2</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rPr>
              <a:t>:</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4" name="矩形 41"/>
          <p:cNvSpPr>
            <a:spLocks noChangeArrowheads="1"/>
          </p:cNvSpPr>
          <p:nvPr/>
        </p:nvSpPr>
        <p:spPr bwMode="auto">
          <a:xfrm>
            <a:off x="5724525" y="6308725"/>
            <a:ext cx="316865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1" u="none" strike="noStrike" kern="1200" cap="none" spc="0" normalizeH="0" baseline="0" noProof="0" dirty="0" smtClean="0">
                <a:ln>
                  <a:noFill/>
                </a:ln>
                <a:solidFill>
                  <a:schemeClr val="tx1"/>
                </a:solidFill>
                <a:effectLst/>
                <a:uLnTx/>
                <a:uFillTx/>
                <a:latin typeface="+mj-lt"/>
                <a:ea typeface="+mn-ea"/>
                <a:cs typeface="+mn-cs"/>
                <a:sym typeface="+mn-ea"/>
              </a:rPr>
              <a:t>MP</a:t>
            </a:r>
            <a:r>
              <a:rPr kumimoji="0" lang="en-US" altLang="zh-CN" sz="1600" b="0" i="0" u="none" strike="noStrike" kern="1200" cap="none" spc="0" normalizeH="0" baseline="-25000" noProof="0" dirty="0" smtClean="0">
                <a:ln>
                  <a:noFill/>
                </a:ln>
                <a:solidFill>
                  <a:schemeClr val="tx1"/>
                </a:solidFill>
                <a:effectLst/>
                <a:uLnTx/>
                <a:uFillTx/>
                <a:latin typeface="+mj-lt"/>
                <a:ea typeface="+mn-ea"/>
                <a:cs typeface="+mn-cs"/>
                <a:sym typeface="+mn-ea"/>
              </a:rPr>
              <a:t>2</a:t>
            </a:r>
            <a:r>
              <a:rPr kumimoji="0" lang="zh-CN" altLang="en-US"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的音级序列也是</a:t>
            </a:r>
            <a:r>
              <a:rPr kumimoji="0" lang="en-US" altLang="zh-CN" sz="1600" b="0" i="0" u="none" strike="noStrike" kern="1200" cap="none" spc="0" normalizeH="0" baseline="0" noProof="0" dirty="0" smtClean="0">
                <a:ln>
                  <a:noFill/>
                </a:ln>
                <a:solidFill>
                  <a:schemeClr val="tx1"/>
                </a:solidFill>
                <a:effectLst/>
                <a:uLnTx/>
                <a:uFillTx/>
                <a:latin typeface="+mj-lt"/>
                <a:ea typeface="+mn-ea"/>
                <a:cs typeface="+mn-cs"/>
                <a:sym typeface="+mn-ea"/>
              </a:rPr>
              <a:t> 2, 3, 4, 6, 5;</a:t>
            </a:r>
            <a:endParaRPr kumimoji="0" lang="en-US" altLang="zh-CN" sz="16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3" name="矩形 41"/>
          <p:cNvSpPr>
            <a:spLocks noChangeArrowheads="1"/>
          </p:cNvSpPr>
          <p:nvPr/>
        </p:nvSpPr>
        <p:spPr bwMode="auto">
          <a:xfrm>
            <a:off x="1042988" y="2781300"/>
            <a:ext cx="3563938"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4) </a:t>
            </a:r>
            <a:r>
              <a:rPr kumimoji="0" lang="zh-CN" altLang="en-US" sz="2000" b="0" i="1"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再现乐汇音级序列</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US" sz="2000" b="0" i="0" u="none" strike="noStrike" kern="1200" cap="none" spc="0" normalizeH="0" baseline="0" noProof="0" dirty="0" smtClean="0">
                <a:ln>
                  <a:noFill/>
                </a:ln>
                <a:solidFill>
                  <a:schemeClr val="tx1"/>
                </a:solidFill>
                <a:effectLst/>
                <a:uLnTx/>
                <a:uFillTx/>
                <a:latin typeface="Chiller" panose="04020404031007020602" pitchFamily="82" charset="0"/>
                <a:ea typeface="宋体" panose="02010600030101010101" pitchFamily="2" charset="-122"/>
                <a:cs typeface="+mn-cs"/>
              </a:rPr>
              <a:t>称由算法生成的乐汇的非休止音符</a:t>
            </a:r>
            <a:r>
              <a:rPr lang="zh-CN" altLang="en-US" sz="2000" noProof="0" dirty="0" smtClean="0">
                <a:ln>
                  <a:noFill/>
                </a:ln>
                <a:effectLst/>
                <a:uLnTx/>
                <a:uFillTx/>
                <a:ea typeface="宋体" panose="02010600030101010101" pitchFamily="2" charset="-122"/>
                <a:sym typeface="+mn-ea"/>
              </a:rPr>
              <a:t>音级序列</a:t>
            </a:r>
            <a:r>
              <a:rPr altLang="zh-CN" sz="2000" i="1" noProof="0" dirty="0" smtClean="0">
                <a:ln>
                  <a:noFill/>
                </a:ln>
                <a:effectLst/>
                <a:uLnTx/>
                <a:uFillTx/>
                <a:latin typeface="+mj-lt"/>
                <a:cs typeface="+mj-lt"/>
                <a:sym typeface="+mn-ea"/>
              </a:rPr>
              <a:t>D</a:t>
            </a:r>
            <a:r>
              <a:rPr altLang="zh-CN" sz="2000" i="1" baseline="-25000" noProof="0" dirty="0" smtClean="0">
                <a:ln>
                  <a:noFill/>
                </a:ln>
                <a:effectLst/>
                <a:uLnTx/>
                <a:uFillTx/>
                <a:latin typeface="+mj-lt"/>
                <a:cs typeface="+mj-lt"/>
                <a:sym typeface="+mn-ea"/>
              </a:rPr>
              <a:t>A</a:t>
            </a:r>
            <a:r>
              <a:rPr altLang="zh-CN" sz="2000" noProof="0" dirty="0" smtClean="0">
                <a:ln>
                  <a:noFill/>
                </a:ln>
                <a:effectLst/>
                <a:uLnTx/>
                <a:uFillTx/>
                <a:latin typeface="+mj-lt"/>
                <a:cs typeface="+mj-lt"/>
                <a:sym typeface="+mn-ea"/>
              </a:rPr>
              <a:t> </a:t>
            </a:r>
            <a:r>
              <a:rPr kumimoji="0" lang="zh-CN" altLang="en-US" sz="2000" b="0" i="0" u="none" strike="noStrike" kern="1200" cap="none" spc="0" normalizeH="0" baseline="0" noProof="0" dirty="0" smtClean="0">
                <a:ln>
                  <a:noFill/>
                </a:ln>
                <a:solidFill>
                  <a:schemeClr val="tx1"/>
                </a:solidFill>
                <a:effectLst/>
                <a:uLnTx/>
                <a:uFillTx/>
                <a:latin typeface="Chiller" panose="04020404031007020602" pitchFamily="82" charset="0"/>
                <a:ea typeface="宋体" panose="02010600030101010101" pitchFamily="2" charset="-122"/>
                <a:cs typeface="+mn-cs"/>
              </a:rPr>
              <a:t>为再现乐汇的音符音级序列，如果它</a:t>
            </a:r>
            <a:r>
              <a:rPr lang="zh-CN" altLang="en-US" sz="2000" noProof="0" dirty="0" smtClean="0">
                <a:ln>
                  <a:noFill/>
                </a:ln>
                <a:effectLst/>
                <a:uLnTx/>
                <a:uFillTx/>
                <a:latin typeface="+mj-lt"/>
                <a:ea typeface="宋体" panose="02010600030101010101" pitchFamily="2" charset="-122"/>
                <a:sym typeface="+mn-ea"/>
              </a:rPr>
              <a:t>与</a:t>
            </a:r>
            <a:r>
              <a:rPr lang="zh-CN" altLang="en-US" sz="2000" noProof="0" dirty="0" smtClean="0">
                <a:ln>
                  <a:noFill/>
                </a:ln>
                <a:effectLst/>
                <a:uLnTx/>
                <a:uFillTx/>
                <a:latin typeface="+mj-lt"/>
                <a:ea typeface="宋体" panose="02010600030101010101" pitchFamily="2" charset="-122"/>
                <a:sym typeface="+mn-ea"/>
              </a:rPr>
              <a:t>同类的歌曲集合中的某一样板歌曲中的某一乐汇的</a:t>
            </a:r>
            <a:r>
              <a:rPr lang="zh-CN" altLang="en-US" sz="2000" noProof="0" dirty="0" smtClean="0">
                <a:ln>
                  <a:noFill/>
                </a:ln>
                <a:effectLst/>
                <a:uLnTx/>
                <a:uFillTx/>
                <a:ea typeface="宋体" panose="02010600030101010101" pitchFamily="2" charset="-122"/>
                <a:sym typeface="+mn-ea"/>
              </a:rPr>
              <a:t>音级序列一致</a:t>
            </a:r>
            <a:r>
              <a:rPr kumimoji="0" 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j-lt"/>
              </a:rPr>
              <a:t>。</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18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15724" name="图片 16"/>
          <p:cNvPicPr>
            <a:picLocks noChangeAspect="1"/>
          </p:cNvPicPr>
          <p:nvPr/>
        </p:nvPicPr>
        <p:blipFill>
          <a:blip r:embed="rId2"/>
          <a:stretch>
            <a:fillRect/>
          </a:stretch>
        </p:blipFill>
        <p:spPr>
          <a:xfrm>
            <a:off x="6245225" y="5732463"/>
            <a:ext cx="1835150" cy="595312"/>
          </a:xfrm>
          <a:prstGeom prst="rect">
            <a:avLst/>
          </a:prstGeom>
          <a:noFill/>
          <a:ln w="9525">
            <a:noFill/>
          </a:ln>
        </p:spPr>
      </p:pic>
      <p:sp>
        <p:nvSpPr>
          <p:cNvPr id="4" name="Rectangle 2"/>
          <p:cNvSpPr>
            <a:spLocks noGrp="1"/>
          </p:cNvSpPr>
          <p:nvPr/>
        </p:nvSpPr>
        <p:spPr>
          <a:xfrm>
            <a:off x="241935"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5" name="Rectangle 3"/>
          <p:cNvSpPr txBox="1"/>
          <p:nvPr/>
        </p:nvSpPr>
        <p:spPr>
          <a:xfrm>
            <a:off x="158115" y="2103755"/>
            <a:ext cx="359029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109574" name="椭圆形标注 1"/>
          <p:cNvSpPr/>
          <p:nvPr/>
        </p:nvSpPr>
        <p:spPr>
          <a:xfrm>
            <a:off x="6455410" y="2348230"/>
            <a:ext cx="2383790" cy="865505"/>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lgn="l"/>
            <a:r>
              <a:rPr lang="zh-CN" sz="1600" dirty="0">
                <a:latin typeface="Times New Roman" panose="02020603050405020304" pitchFamily="18" charset="0"/>
                <a:ea typeface="宋体" panose="02010600030101010101" pitchFamily="2" charset="-122"/>
                <a:sym typeface="+mn-ea"/>
              </a:rPr>
              <a:t>由算法生成的乐汇</a:t>
            </a:r>
            <a:endParaRPr lang="zh-CN" sz="1600" dirty="0">
              <a:latin typeface="Times New Roman" panose="02020603050405020304" pitchFamily="18" charset="0"/>
              <a:ea typeface="宋体" panose="02010600030101010101" pitchFamily="2" charset="-122"/>
            </a:endParaRPr>
          </a:p>
          <a:p>
            <a:pPr algn="l"/>
            <a:r>
              <a:rPr lang="en-US" altLang="zh-CN" sz="1600" i="1" dirty="0">
                <a:latin typeface="Times New Roman" panose="02020603050405020304" pitchFamily="18" charset="0"/>
              </a:rPr>
              <a:t>MP</a:t>
            </a:r>
            <a:r>
              <a:rPr lang="en-US" altLang="zh-CN" sz="800" dirty="0">
                <a:latin typeface="Times New Roman" panose="02020603050405020304" pitchFamily="18" charset="0"/>
              </a:rPr>
              <a:t>1</a:t>
            </a:r>
            <a:r>
              <a:rPr lang="en-US" altLang="zh-CN" sz="1600" dirty="0">
                <a:latin typeface="Times New Roman" panose="02020603050405020304" pitchFamily="18" charset="0"/>
              </a:rPr>
              <a:t> </a:t>
            </a:r>
            <a:endParaRPr lang="zh-CN" sz="1600" dirty="0">
              <a:latin typeface="Times New Roman" panose="02020603050405020304" pitchFamily="18" charset="0"/>
              <a:ea typeface="宋体" panose="02010600030101010101" pitchFamily="2" charset="-122"/>
            </a:endParaRPr>
          </a:p>
        </p:txBody>
      </p:sp>
      <p:sp>
        <p:nvSpPr>
          <p:cNvPr id="109579" name="椭圆形标注 12"/>
          <p:cNvSpPr/>
          <p:nvPr/>
        </p:nvSpPr>
        <p:spPr>
          <a:xfrm>
            <a:off x="5976620" y="4525010"/>
            <a:ext cx="3125470" cy="1018540"/>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lgn="l"/>
            <a:r>
              <a:rPr lang="zh-CN" altLang="en-US" sz="1600" dirty="0">
                <a:latin typeface="Times New Roman" panose="02020603050405020304" pitchFamily="18" charset="0"/>
                <a:ea typeface="宋体" panose="02010600030101010101" pitchFamily="2" charset="-122"/>
                <a:sym typeface="+mn-ea"/>
              </a:rPr>
              <a:t>由同类歌曲集中（相同情</a:t>
            </a:r>
            <a:endParaRPr lang="zh-CN" altLang="en-US" sz="1600" dirty="0">
              <a:latin typeface="Times New Roman" panose="02020603050405020304" pitchFamily="18" charset="0"/>
              <a:ea typeface="宋体" panose="02010600030101010101" pitchFamily="2" charset="-122"/>
            </a:endParaRPr>
          </a:p>
          <a:p>
            <a:pPr algn="l"/>
            <a:r>
              <a:rPr lang="zh-CN" altLang="en-US" sz="1600" dirty="0">
                <a:latin typeface="Times New Roman" panose="02020603050405020304" pitchFamily="18" charset="0"/>
                <a:ea typeface="宋体" panose="02010600030101010101" pitchFamily="2" charset="-122"/>
                <a:sym typeface="+mn-ea"/>
              </a:rPr>
              <a:t>感色彩、节拍、速度范围）</a:t>
            </a:r>
            <a:endParaRPr lang="zh-CN" altLang="en-US" sz="1600" dirty="0">
              <a:latin typeface="Times New Roman" panose="02020603050405020304" pitchFamily="18" charset="0"/>
              <a:ea typeface="宋体" panose="02010600030101010101" pitchFamily="2" charset="-122"/>
              <a:sym typeface="+mn-ea"/>
            </a:endParaRPr>
          </a:p>
          <a:p>
            <a:pPr algn="l"/>
            <a:r>
              <a:rPr lang="zh-CN" altLang="en-US" sz="1600" dirty="0">
                <a:latin typeface="Times New Roman" panose="02020603050405020304" pitchFamily="18" charset="0"/>
                <a:ea typeface="宋体" panose="02010600030101010101" pitchFamily="2" charset="-122"/>
                <a:sym typeface="+mn-ea"/>
              </a:rPr>
              <a:t>复制来的乐汇</a:t>
            </a:r>
            <a:r>
              <a:rPr lang="en-US" altLang="zh-CN" sz="1600" i="1" dirty="0">
                <a:latin typeface="Times New Roman" panose="02020603050405020304" pitchFamily="18" charset="0"/>
              </a:rPr>
              <a:t>MP</a:t>
            </a:r>
            <a:r>
              <a:rPr lang="en-US" altLang="zh-CN" sz="800" dirty="0">
                <a:latin typeface="Times New Roman" panose="02020603050405020304" pitchFamily="18" charset="0"/>
              </a:rPr>
              <a:t>2</a:t>
            </a:r>
            <a:r>
              <a:rPr lang="en-US" altLang="zh-CN" sz="1600" dirty="0">
                <a:latin typeface="Times New Roman" panose="02020603050405020304" pitchFamily="18" charset="0"/>
              </a:rPr>
              <a:t> </a:t>
            </a:r>
            <a:endParaRPr lang="en-US" altLang="zh-CN" sz="1600" dirty="0">
              <a:latin typeface="Times New Roman" panose="02020603050405020304" pitchFamily="18" charset="0"/>
            </a:endParaRPr>
          </a:p>
          <a:p>
            <a:pPr algn="l"/>
            <a:endParaRPr lang="en-US" altLang="zh-CN" sz="1600" dirty="0">
              <a:latin typeface="Times New Roman" panose="02020603050405020304" pitchFamily="18" charset="0"/>
            </a:endParaRPr>
          </a:p>
          <a:p>
            <a:pPr algn="l"/>
            <a:r>
              <a:rPr lang="en-GB" altLang="en-US" sz="1600" dirty="0">
                <a:latin typeface="Times New Roman" panose="02020603050405020304" pitchFamily="18" charset="0"/>
              </a:rPr>
              <a:t>r</a:t>
            </a:r>
            <a:endParaRPr lang="zh-CN" altLang="en-US" sz="1600" dirty="0">
              <a:latin typeface="Times New Roman" panose="02020603050405020304" pitchFamily="18" charset="0"/>
            </a:endParaRPr>
          </a:p>
        </p:txBody>
      </p:sp>
      <p:sp>
        <p:nvSpPr>
          <p:cNvPr id="6" name="矩形 41"/>
          <p:cNvSpPr>
            <a:spLocks noChangeArrowheads="1"/>
          </p:cNvSpPr>
          <p:nvPr/>
        </p:nvSpPr>
        <p:spPr bwMode="auto">
          <a:xfrm>
            <a:off x="1094105" y="4865370"/>
            <a:ext cx="379793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zh-CN" altLang="en-US" sz="2000" noProof="0" dirty="0" smtClean="0">
                <a:ln>
                  <a:noFill/>
                </a:ln>
                <a:effectLst/>
                <a:uLnTx/>
                <a:uFillTx/>
                <a:latin typeface="+mj-lt"/>
                <a:ea typeface="宋体" panose="02010600030101010101" pitchFamily="2" charset="-122"/>
                <a:sym typeface="+mn-ea"/>
              </a:rPr>
              <a:t>如右图所示的乐汇</a:t>
            </a:r>
            <a:r>
              <a:rPr kumimoji="0" lang="en-US" altLang="zh-CN" sz="2000" b="0" i="1" u="none" strike="noStrike" kern="1200" cap="none" spc="0" normalizeH="0" baseline="0" noProof="0" dirty="0" smtClean="0">
                <a:ln>
                  <a:noFill/>
                </a:ln>
                <a:solidFill>
                  <a:schemeClr val="tx1"/>
                </a:solidFill>
                <a:effectLst/>
                <a:uLnTx/>
                <a:uFillTx/>
                <a:latin typeface="+mj-lt"/>
                <a:ea typeface="+mn-ea"/>
                <a:cs typeface="+mn-cs"/>
              </a:rPr>
              <a:t>MP</a:t>
            </a:r>
            <a:r>
              <a:rPr kumimoji="0" lang="en-US" altLang="zh-CN" sz="1000" b="0" i="0" u="none" strike="noStrike" kern="1200" cap="none" spc="0" normalizeH="0" baseline="0" noProof="0" dirty="0" smtClean="0">
                <a:ln>
                  <a:noFill/>
                </a:ln>
                <a:solidFill>
                  <a:schemeClr val="tx1"/>
                </a:solidFill>
                <a:effectLst/>
                <a:uLnTx/>
                <a:uFillTx/>
                <a:latin typeface="+mj-lt"/>
                <a:ea typeface="+mn-ea"/>
                <a:cs typeface="+mn-cs"/>
              </a:rPr>
              <a:t>1</a:t>
            </a:r>
            <a:r>
              <a:rPr kumimoji="0" lang="zh-CN" altLang="en-US"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的音级序列可称为再现乐汇音级序列。</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7761" name="图片 1"/>
          <p:cNvPicPr>
            <a:picLocks noChangeAspect="1"/>
          </p:cNvPicPr>
          <p:nvPr/>
        </p:nvPicPr>
        <p:blipFill>
          <a:blip r:embed="rId1"/>
          <a:stretch>
            <a:fillRect/>
          </a:stretch>
        </p:blipFill>
        <p:spPr>
          <a:xfrm>
            <a:off x="5224463" y="5086350"/>
            <a:ext cx="3632200" cy="396875"/>
          </a:xfrm>
          <a:prstGeom prst="rect">
            <a:avLst/>
          </a:prstGeom>
          <a:noFill/>
          <a:ln w="9525">
            <a:noFill/>
          </a:ln>
        </p:spPr>
      </p:pic>
      <p:sp>
        <p:nvSpPr>
          <p:cNvPr id="96259" name="矩形 41"/>
          <p:cNvSpPr>
            <a:spLocks noChangeArrowheads="1"/>
          </p:cNvSpPr>
          <p:nvPr/>
        </p:nvSpPr>
        <p:spPr bwMode="auto">
          <a:xfrm>
            <a:off x="1035050" y="2790825"/>
            <a:ext cx="3405188"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5) </a:t>
            </a:r>
            <a:r>
              <a:rPr lang="zh-CN" altLang="en-US" sz="2000" i="1" noProof="0" dirty="0" smtClean="0">
                <a:ln>
                  <a:noFill/>
                </a:ln>
                <a:effectLst/>
                <a:uLnTx/>
                <a:uFillTx/>
                <a:latin typeface="+mj-lt"/>
                <a:ea typeface="宋体" panose="02010600030101010101" pitchFamily="2" charset="-122"/>
                <a:sym typeface="+mn-ea"/>
              </a:rPr>
              <a:t>再现子乐汇音级序列</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称由</a:t>
            </a:r>
            <a:r>
              <a:rPr lang="zh-CN" altLang="zh-CN" sz="2000" noProof="0" dirty="0" smtClean="0">
                <a:ln>
                  <a:noFill/>
                </a:ln>
                <a:effectLst/>
                <a:uLnTx/>
                <a:uFillTx/>
                <a:sym typeface="+mn-ea"/>
              </a:rPr>
              <a:t>算法生成的乐汇的非休止音符的调性音级序列</a:t>
            </a:r>
            <a:r>
              <a:rPr lang="en-US" altLang="zh-CN" sz="2000" i="1" noProof="0" smtClean="0">
                <a:ln>
                  <a:noFill/>
                </a:ln>
                <a:effectLst/>
                <a:uLnTx/>
                <a:uFillTx/>
                <a:latin typeface="+mj-lt"/>
                <a:sym typeface="+mn-ea"/>
              </a:rPr>
              <a:t>D</a:t>
            </a:r>
            <a:r>
              <a:rPr lang="en-US" altLang="zh-CN" sz="2000" i="1" baseline="-25000" noProof="0"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为包含一个</a:t>
            </a:r>
            <a:r>
              <a:rPr lang="zh-CN" altLang="en-US" sz="2000" noProof="0" dirty="0" smtClean="0">
                <a:ln>
                  <a:noFill/>
                </a:ln>
                <a:effectLst/>
                <a:uLnTx/>
                <a:uFillTx/>
                <a:latin typeface="+mj-lt"/>
                <a:ea typeface="宋体" panose="02010600030101010101" pitchFamily="2" charset="-122"/>
                <a:sym typeface="+mn-ea"/>
              </a:rPr>
              <a:t>再现子乐汇音级序列</a:t>
            </a:r>
            <a:r>
              <a:rPr lang="en-US" altLang="zh-CN" sz="2000" i="1" noProof="0" smtClean="0">
                <a:ln>
                  <a:noFill/>
                </a:ln>
                <a:effectLst/>
                <a:uLnTx/>
                <a:uFillTx/>
                <a:latin typeface="+mj-lt"/>
                <a:sym typeface="+mn-ea"/>
              </a:rPr>
              <a:t>D</a:t>
            </a:r>
            <a:r>
              <a:rPr lang="en-US" altLang="zh-CN" sz="2000" i="1" baseline="-25000" noProof="0"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a:t>
            </a:r>
            <a:r>
              <a:rPr lang="zh-CN" altLang="en-US" sz="2000" noProof="0" dirty="0" smtClean="0">
                <a:ln>
                  <a:noFill/>
                </a:ln>
                <a:effectLst/>
                <a:uLnTx/>
                <a:uFillTx/>
                <a:latin typeface="+mj-lt"/>
                <a:ea typeface="宋体" panose="02010600030101010101" pitchFamily="2" charset="-122"/>
                <a:sym typeface="+mn-ea"/>
              </a:rPr>
              <a:t>如果该音级序列中</a:t>
            </a:r>
            <a:r>
              <a:rPr lang="zh-CN" altLang="en-US" sz="2000" noProof="0" dirty="0" smtClean="0">
                <a:ln>
                  <a:noFill/>
                </a:ln>
                <a:effectLst/>
                <a:uLnTx/>
                <a:uFillTx/>
                <a:latin typeface="+mj-lt"/>
                <a:ea typeface="宋体" panose="02010600030101010101" pitchFamily="2" charset="-122"/>
                <a:sym typeface="+mn-ea"/>
              </a:rPr>
              <a:t>某一部分（设为</a:t>
            </a:r>
            <a:r>
              <a:rPr lang="en-US" altLang="zh-CN" sz="2000" i="1" noProof="0" smtClean="0">
                <a:ln>
                  <a:noFill/>
                </a:ln>
                <a:effectLst/>
                <a:uLnTx/>
                <a:uFillTx/>
                <a:latin typeface="+mj-lt"/>
                <a:sym typeface="+mn-ea"/>
              </a:rPr>
              <a:t>D</a:t>
            </a:r>
            <a:r>
              <a:rPr lang="en-US" altLang="zh-CN" sz="2000" i="1" baseline="-25000" noProof="0"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）正好与该乐汇</a:t>
            </a:r>
            <a:r>
              <a:rPr lang="zh-CN" altLang="en-US" sz="2000" noProof="0" dirty="0" smtClean="0">
                <a:ln>
                  <a:noFill/>
                </a:ln>
                <a:effectLst/>
                <a:uLnTx/>
                <a:uFillTx/>
                <a:latin typeface="+mj-lt"/>
                <a:ea typeface="宋体" panose="02010600030101010101" pitchFamily="2" charset="-122"/>
                <a:sym typeface="+mn-ea"/>
              </a:rPr>
              <a:t>同类的歌曲集合中的某一样板歌曲中的某一乐汇的调性音级</a:t>
            </a:r>
            <a:r>
              <a:rPr lang="en-US" altLang="zh-CN" sz="2000" i="1" noProof="0" smtClean="0">
                <a:ln>
                  <a:noFill/>
                </a:ln>
                <a:effectLst/>
                <a:uLnTx/>
                <a:uFillTx/>
                <a:latin typeface="+mj-lt"/>
                <a:sym typeface="+mn-ea"/>
              </a:rPr>
              <a:t>D</a:t>
            </a:r>
            <a:r>
              <a:rPr lang="en-US" altLang="zh-CN" sz="2000" i="1" baseline="-25000" noProof="0" smtClean="0">
                <a:ln>
                  <a:noFill/>
                </a:ln>
                <a:effectLst/>
                <a:uLnTx/>
                <a:uFillTx/>
                <a:latin typeface="+mj-lt"/>
                <a:sym typeface="+mn-ea"/>
              </a:rPr>
              <a:t>x</a:t>
            </a:r>
            <a:r>
              <a:rPr lang="en-US" altLang="zh-CN" sz="2000" noProof="0" smtClean="0">
                <a:ln>
                  <a:noFill/>
                </a:ln>
                <a:effectLst/>
                <a:uLnTx/>
                <a:uFillTx/>
                <a:latin typeface="+mj-lt"/>
                <a:sym typeface="+mn-ea"/>
              </a:rPr>
              <a:t> </a:t>
            </a:r>
            <a:r>
              <a:rPr lang="zh-CN" altLang="en-US" sz="2000" noProof="0" dirty="0" smtClean="0">
                <a:ln>
                  <a:noFill/>
                </a:ln>
                <a:effectLst/>
                <a:uLnTx/>
                <a:uFillTx/>
                <a:latin typeface="+mj-lt"/>
                <a:ea typeface="宋体" panose="02010600030101010101" pitchFamily="2" charset="-122"/>
                <a:sym typeface="+mn-ea"/>
              </a:rPr>
              <a:t>一致</a:t>
            </a:r>
            <a:r>
              <a:rPr kumimoji="0" lang="zh-CN" altLang="en-US" sz="2000" b="0" i="0" u="none" strike="noStrike" kern="1200" cap="none" spc="0" normalizeH="0" baseline="0" noProof="0" smtClean="0">
                <a:ln>
                  <a:noFill/>
                </a:ln>
                <a:solidFill>
                  <a:schemeClr val="tx1"/>
                </a:solidFill>
                <a:effectLst/>
                <a:uLnTx/>
                <a:uFillTx/>
                <a:latin typeface="+mj-lt"/>
                <a:ea typeface="宋体" panose="02010600030101010101" pitchFamily="2" charset="-122"/>
                <a:cs typeface="+mn-cs"/>
              </a:rPr>
              <a:t>。</a:t>
            </a:r>
            <a:r>
              <a:rPr kumimoji="0" lang="en-GB" altLang="en-US" sz="18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17765" name="图片 3"/>
          <p:cNvPicPr>
            <a:picLocks noChangeAspect="1"/>
          </p:cNvPicPr>
          <p:nvPr/>
        </p:nvPicPr>
        <p:blipFill>
          <a:blip r:embed="rId2"/>
          <a:stretch>
            <a:fillRect/>
          </a:stretch>
        </p:blipFill>
        <p:spPr>
          <a:xfrm>
            <a:off x="5146675" y="3194050"/>
            <a:ext cx="3633788" cy="384175"/>
          </a:xfrm>
          <a:prstGeom prst="rect">
            <a:avLst/>
          </a:prstGeom>
          <a:noFill/>
          <a:ln w="9525">
            <a:noFill/>
          </a:ln>
        </p:spPr>
      </p:pic>
      <p:sp>
        <p:nvSpPr>
          <p:cNvPr id="117766" name="圆角矩形标注 5"/>
          <p:cNvSpPr/>
          <p:nvPr/>
        </p:nvSpPr>
        <p:spPr>
          <a:xfrm>
            <a:off x="5715000" y="5010150"/>
            <a:ext cx="1285875" cy="649288"/>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7767" name="圆角矩形标注 6"/>
          <p:cNvSpPr/>
          <p:nvPr/>
        </p:nvSpPr>
        <p:spPr>
          <a:xfrm flipV="1">
            <a:off x="5810250" y="3011488"/>
            <a:ext cx="1781175" cy="709612"/>
          </a:xfrm>
          <a:prstGeom prst="wedgeRoundRectCallout">
            <a:avLst>
              <a:gd name="adj1" fmla="val -20833"/>
              <a:gd name="adj2" fmla="val 62500"/>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 name="矩形 41"/>
          <p:cNvSpPr>
            <a:spLocks noChangeArrowheads="1"/>
          </p:cNvSpPr>
          <p:nvPr/>
        </p:nvSpPr>
        <p:spPr bwMode="auto">
          <a:xfrm>
            <a:off x="5005388" y="2611438"/>
            <a:ext cx="4021138"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smtClean="0">
                <a:ln>
                  <a:noFill/>
                </a:ln>
                <a:solidFill>
                  <a:srgbClr val="92D050"/>
                </a:solidFill>
                <a:effectLst/>
                <a:uLnTx/>
                <a:uFillTx/>
                <a:latin typeface="+mj-lt"/>
                <a:ea typeface="+mn-ea"/>
                <a:cs typeface="+mn-cs"/>
                <a:sym typeface="+mn-ea"/>
              </a:rPr>
              <a:t>MP</a:t>
            </a:r>
            <a:r>
              <a:rPr kumimoji="0" lang="en-US" altLang="zh-CN" sz="1400" b="0" i="0" u="none" strike="noStrike" kern="1200" cap="none" spc="0" normalizeH="0" baseline="-25000" noProof="0" smtClean="0">
                <a:ln>
                  <a:noFill/>
                </a:ln>
                <a:solidFill>
                  <a:srgbClr val="92D050"/>
                </a:solidFill>
                <a:effectLst/>
                <a:uLnTx/>
                <a:uFillTx/>
                <a:latin typeface="+mj-lt"/>
                <a:ea typeface="+mn-ea"/>
                <a:cs typeface="+mn-cs"/>
                <a:sym typeface="+mn-ea"/>
              </a:rPr>
              <a:t>1</a:t>
            </a:r>
            <a:r>
              <a:rPr kumimoji="0" lang="zh-CN" altLang="en-US" sz="1400" b="0" i="0" u="none" strike="noStrike" kern="1200" cap="none" spc="0" normalizeH="0" baseline="0" noProof="0" smtClean="0">
                <a:ln>
                  <a:noFill/>
                </a:ln>
                <a:solidFill>
                  <a:schemeClr val="tx1"/>
                </a:solidFill>
                <a:effectLst/>
                <a:uLnTx/>
                <a:uFillTx/>
                <a:latin typeface="+mj-lt"/>
                <a:ea typeface="宋体" panose="02010600030101010101" pitchFamily="2" charset="-122"/>
                <a:cs typeface="+mn-cs"/>
                <a:sym typeface="+mn-ea"/>
              </a:rPr>
              <a:t>的调性音级序列</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rPr>
              <a:t>D</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rPr>
              <a:t>A</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3</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 2, 1, 5, 3, 2, 1, 5</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117769" name="圆角矩形标注 7"/>
          <p:cNvSpPr/>
          <p:nvPr/>
        </p:nvSpPr>
        <p:spPr>
          <a:xfrm>
            <a:off x="5865813" y="3211513"/>
            <a:ext cx="958850" cy="676275"/>
          </a:xfrm>
          <a:prstGeom prst="wedgeRoundRectCallout">
            <a:avLst>
              <a:gd name="adj1" fmla="val -20833"/>
              <a:gd name="adj2" fmla="val 62500"/>
              <a:gd name="adj3" fmla="val 16667"/>
            </a:avLst>
          </a:prstGeom>
          <a:noFill/>
          <a:ln w="28575" cap="flat" cmpd="sng">
            <a:solidFill>
              <a:srgbClr val="00B0F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9" name="矩形 41"/>
          <p:cNvSpPr>
            <a:spLocks noChangeArrowheads="1"/>
          </p:cNvSpPr>
          <p:nvPr/>
        </p:nvSpPr>
        <p:spPr bwMode="auto">
          <a:xfrm>
            <a:off x="4932680" y="3957955"/>
            <a:ext cx="403034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chemeClr val="tx1"/>
                </a:solidFill>
                <a:effectLst/>
                <a:uLnTx/>
                <a:uFillTx/>
                <a:latin typeface="+mj-lt"/>
                <a:ea typeface="宋体" panose="02010600030101010101" pitchFamily="2" charset="-122"/>
                <a:cs typeface="+mn-cs"/>
                <a:sym typeface="+mn-ea"/>
              </a:rPr>
              <a:t>包含一个非休止音符的调性音级序列</a:t>
            </a:r>
            <a:r>
              <a:rPr kumimoji="0" lang="en-US" altLang="zh-CN" sz="1400" b="0" i="0" u="none" strike="noStrike" kern="1200" cap="none" spc="0" normalizeH="0" baseline="0" noProof="0" dirty="0" smtClean="0">
                <a:ln>
                  <a:noFill/>
                </a:ln>
                <a:solidFill>
                  <a:srgbClr val="00B0F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00B0F0"/>
                </a:solidFill>
                <a:effectLst/>
                <a:uLnTx/>
                <a:uFillTx/>
                <a:latin typeface="+mj-lt"/>
                <a:ea typeface="+mn-ea"/>
                <a:cs typeface="+mn-cs"/>
                <a:sym typeface="+mn-ea"/>
              </a:rPr>
              <a:t>D</a:t>
            </a:r>
            <a:r>
              <a:rPr kumimoji="0" lang="en-US" altLang="zh-CN" sz="1400" b="0" i="1" u="none" strike="noStrike" kern="1200" cap="none" spc="0" normalizeH="0" baseline="-25000" noProof="0" dirty="0" smtClean="0">
                <a:ln>
                  <a:noFill/>
                </a:ln>
                <a:solidFill>
                  <a:srgbClr val="00B0F0"/>
                </a:solidFill>
                <a:effectLst/>
                <a:uLnTx/>
                <a:uFillTx/>
                <a:latin typeface="+mj-lt"/>
                <a:ea typeface="+mn-ea"/>
                <a:cs typeface="+mn-cs"/>
                <a:sym typeface="+mn-ea"/>
              </a:rPr>
              <a:t>a</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3, 2, 1, 5</a:t>
            </a:r>
            <a:endParaRPr kumimoji="0" lang="en-US" altLang="zh-CN" sz="1400" b="0" i="0" u="none" strike="noStrike" kern="1200" cap="none" spc="0" normalizeH="0" baseline="0" noProof="0" dirty="0" smtClean="0">
              <a:ln>
                <a:noFill/>
              </a:ln>
              <a:solidFill>
                <a:srgbClr val="92D050"/>
              </a:solidFill>
              <a:effectLst/>
              <a:uLnTx/>
              <a:uFillTx/>
              <a:latin typeface="+mj-lt"/>
              <a:ea typeface="宋体" panose="02010600030101010101" pitchFamily="2" charset="-122"/>
              <a:cs typeface="+mn-cs"/>
              <a:sym typeface="+mn-ea"/>
            </a:endParaRPr>
          </a:p>
        </p:txBody>
      </p:sp>
      <p:sp>
        <p:nvSpPr>
          <p:cNvPr id="12" name="矩形 41"/>
          <p:cNvSpPr>
            <a:spLocks noChangeArrowheads="1"/>
          </p:cNvSpPr>
          <p:nvPr/>
        </p:nvSpPr>
        <p:spPr bwMode="auto">
          <a:xfrm>
            <a:off x="5272088" y="5664200"/>
            <a:ext cx="3678238"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400" b="0" i="0" u="none" strike="noStrike" kern="1200" cap="none" spc="0" normalizeH="0" baseline="-25000" noProof="0" dirty="0" smtClean="0">
                <a:ln>
                  <a:noFill/>
                </a:ln>
                <a:solidFill>
                  <a:srgbClr val="FF0000"/>
                </a:solidFill>
                <a:effectLst/>
                <a:uLnTx/>
                <a:uFillTx/>
                <a:latin typeface="+mj-lt"/>
                <a:ea typeface="+mn-ea"/>
                <a:cs typeface="+mn-cs"/>
                <a:sym typeface="+mn-ea"/>
              </a:rPr>
              <a:t>2</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的调性音级序列</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D</a:t>
            </a:r>
            <a:r>
              <a:rPr kumimoji="0" lang="en-US" altLang="zh-CN" sz="1400" b="0" i="1" u="none" strike="noStrike" kern="1200" cap="none" spc="0" normalizeH="0" baseline="-25000" noProof="0" dirty="0" smtClean="0">
                <a:ln>
                  <a:noFill/>
                </a:ln>
                <a:solidFill>
                  <a:srgbClr val="FF0000"/>
                </a:solidFill>
                <a:effectLst/>
                <a:uLnTx/>
                <a:uFillTx/>
                <a:latin typeface="+mj-lt"/>
                <a:ea typeface="+mn-ea"/>
                <a:cs typeface="+mn-cs"/>
                <a:sym typeface="+mn-ea"/>
              </a:rPr>
              <a:t>x</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3, 2, 1, 5</a:t>
            </a:r>
            <a:endParaRPr kumimoji="0" lang="en-US" altLang="zh-CN" sz="1400" b="0" i="0"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cxnSp>
        <p:nvCxnSpPr>
          <p:cNvPr id="117772" name="直接箭头连接符 16"/>
          <p:cNvCxnSpPr/>
          <p:nvPr/>
        </p:nvCxnSpPr>
        <p:spPr>
          <a:xfrm>
            <a:off x="4730750" y="2982913"/>
            <a:ext cx="1079500" cy="144462"/>
          </a:xfrm>
          <a:prstGeom prst="straightConnector1">
            <a:avLst/>
          </a:prstGeom>
          <a:ln w="28575" cap="flat" cmpd="sng">
            <a:solidFill>
              <a:srgbClr val="92D050"/>
            </a:solidFill>
            <a:prstDash val="solid"/>
            <a:round/>
            <a:headEnd type="none" w="med" len="med"/>
            <a:tailEnd type="arrow" w="med" len="med"/>
          </a:ln>
        </p:spPr>
      </p:cxnSp>
      <p:cxnSp>
        <p:nvCxnSpPr>
          <p:cNvPr id="117774" name="直接连接符 21"/>
          <p:cNvCxnSpPr/>
          <p:nvPr/>
        </p:nvCxnSpPr>
        <p:spPr>
          <a:xfrm flipH="1">
            <a:off x="4714875" y="2347913"/>
            <a:ext cx="419100" cy="649287"/>
          </a:xfrm>
          <a:prstGeom prst="line">
            <a:avLst/>
          </a:prstGeom>
          <a:ln w="28575" cap="flat" cmpd="sng">
            <a:solidFill>
              <a:srgbClr val="92D050"/>
            </a:solidFill>
            <a:prstDash val="solid"/>
            <a:round/>
            <a:headEnd type="none" w="med" len="med"/>
            <a:tailEnd type="none" w="med" len="med"/>
          </a:ln>
        </p:spPr>
      </p:cxnSp>
      <p:cxnSp>
        <p:nvCxnSpPr>
          <p:cNvPr id="117775" name="直接箭头连接符 22"/>
          <p:cNvCxnSpPr/>
          <p:nvPr/>
        </p:nvCxnSpPr>
        <p:spPr>
          <a:xfrm>
            <a:off x="4644390" y="4797425"/>
            <a:ext cx="1070610" cy="255905"/>
          </a:xfrm>
          <a:prstGeom prst="straightConnector1">
            <a:avLst/>
          </a:prstGeom>
          <a:ln w="28575" cap="flat" cmpd="sng">
            <a:solidFill>
              <a:srgbClr val="FF0000"/>
            </a:solidFill>
            <a:prstDash val="solid"/>
            <a:round/>
            <a:headEnd type="none" w="med" len="med"/>
            <a:tailEnd type="arrow" w="med" len="med"/>
          </a:ln>
        </p:spPr>
      </p:cxnSp>
      <p:sp>
        <p:nvSpPr>
          <p:cNvPr id="24" name="矩形 41"/>
          <p:cNvSpPr>
            <a:spLocks noChangeArrowheads="1"/>
          </p:cNvSpPr>
          <p:nvPr/>
        </p:nvSpPr>
        <p:spPr bwMode="auto">
          <a:xfrm>
            <a:off x="4415155" y="4498975"/>
            <a:ext cx="48875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400" b="0" i="0" u="none" strike="noStrike" kern="1200" cap="none" spc="0" normalizeH="0" baseline="-25000" noProof="0" dirty="0" smtClean="0">
                <a:ln>
                  <a:noFill/>
                </a:ln>
                <a:solidFill>
                  <a:srgbClr val="FF0000"/>
                </a:solidFill>
                <a:effectLst/>
                <a:uLnTx/>
                <a:uFillTx/>
                <a:latin typeface="+mj-lt"/>
                <a:ea typeface="+mn-ea"/>
                <a:cs typeface="+mn-cs"/>
                <a:sym typeface="+mn-ea"/>
              </a:rPr>
              <a:t>2</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是与</a:t>
            </a:r>
            <a:r>
              <a:rPr lang="en-US" altLang="zh-CN" sz="1400" i="1" noProof="0" dirty="0" smtClean="0">
                <a:ln>
                  <a:noFill/>
                </a:ln>
                <a:solidFill>
                  <a:srgbClr val="92D050"/>
                </a:solidFill>
                <a:effectLst/>
                <a:uLnTx/>
                <a:uFillTx/>
                <a:latin typeface="+mj-lt"/>
                <a:sym typeface="+mn-ea"/>
              </a:rPr>
              <a:t>MP</a:t>
            </a:r>
            <a:r>
              <a:rPr lang="en-US" altLang="zh-CN" sz="1400" baseline="-25000" noProof="0" dirty="0" smtClean="0">
                <a:ln>
                  <a:noFill/>
                </a:ln>
                <a:solidFill>
                  <a:srgbClr val="92D050"/>
                </a:solidFill>
                <a:effectLst/>
                <a:uLnTx/>
                <a:uFillTx/>
                <a:latin typeface="+mj-lt"/>
                <a:sym typeface="+mn-ea"/>
              </a:rPr>
              <a:t>1</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同类的歌曲集合中某一样板歌曲中某一乐汇。</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4" name="Rectangle 2"/>
          <p:cNvSpPr>
            <a:spLocks noGrp="1"/>
          </p:cNvSpPr>
          <p:nvPr/>
        </p:nvSpPr>
        <p:spPr>
          <a:xfrm>
            <a:off x="241935"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5" name="Rectangle 3"/>
          <p:cNvSpPr txBox="1"/>
          <p:nvPr/>
        </p:nvSpPr>
        <p:spPr>
          <a:xfrm>
            <a:off x="158115" y="2103755"/>
            <a:ext cx="359029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 name="矩形 41"/>
          <p:cNvSpPr>
            <a:spLocks noChangeArrowheads="1"/>
          </p:cNvSpPr>
          <p:nvPr/>
        </p:nvSpPr>
        <p:spPr bwMode="auto">
          <a:xfrm>
            <a:off x="5303520" y="2076450"/>
            <a:ext cx="39058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lang="en-US" altLang="zh-CN" sz="1400" i="1" noProof="0" dirty="0" smtClean="0">
                <a:ln>
                  <a:noFill/>
                </a:ln>
                <a:solidFill>
                  <a:srgbClr val="92D050"/>
                </a:solidFill>
                <a:effectLst/>
                <a:uLnTx/>
                <a:uFillTx/>
                <a:latin typeface="+mj-lt"/>
                <a:sym typeface="+mn-ea"/>
              </a:rPr>
              <a:t>MP</a:t>
            </a:r>
            <a:r>
              <a:rPr lang="en-US" altLang="zh-CN" sz="1400" baseline="-25000" noProof="0" dirty="0" smtClean="0">
                <a:ln>
                  <a:noFill/>
                </a:ln>
                <a:solidFill>
                  <a:srgbClr val="92D050"/>
                </a:solidFill>
                <a:effectLst/>
                <a:uLnTx/>
                <a:uFillTx/>
                <a:latin typeface="+mj-lt"/>
                <a:sym typeface="+mn-ea"/>
              </a:rPr>
              <a:t>1</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是由算法生成一乐汇。</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9809" name="图片 2"/>
          <p:cNvPicPr>
            <a:picLocks noChangeAspect="1"/>
          </p:cNvPicPr>
          <p:nvPr/>
        </p:nvPicPr>
        <p:blipFill>
          <a:blip r:embed="rId1"/>
          <a:stretch>
            <a:fillRect/>
          </a:stretch>
        </p:blipFill>
        <p:spPr>
          <a:xfrm>
            <a:off x="5210175" y="4525963"/>
            <a:ext cx="3457575" cy="376237"/>
          </a:xfrm>
          <a:prstGeom prst="rect">
            <a:avLst/>
          </a:prstGeom>
          <a:noFill/>
          <a:ln w="9525">
            <a:noFill/>
          </a:ln>
        </p:spPr>
      </p:pic>
      <p:pic>
        <p:nvPicPr>
          <p:cNvPr id="119810" name="图片 1"/>
          <p:cNvPicPr>
            <a:picLocks noChangeAspect="1"/>
          </p:cNvPicPr>
          <p:nvPr/>
        </p:nvPicPr>
        <p:blipFill>
          <a:blip r:embed="rId2"/>
          <a:stretch>
            <a:fillRect/>
          </a:stretch>
        </p:blipFill>
        <p:spPr>
          <a:xfrm>
            <a:off x="5272088" y="3127375"/>
            <a:ext cx="3001962" cy="404813"/>
          </a:xfrm>
          <a:prstGeom prst="rect">
            <a:avLst/>
          </a:prstGeom>
          <a:noFill/>
          <a:ln w="9525">
            <a:noFill/>
          </a:ln>
        </p:spPr>
      </p:pic>
      <p:sp>
        <p:nvSpPr>
          <p:cNvPr id="96259" name="矩形 41"/>
          <p:cNvSpPr>
            <a:spLocks noChangeArrowheads="1"/>
          </p:cNvSpPr>
          <p:nvPr/>
        </p:nvSpPr>
        <p:spPr bwMode="auto">
          <a:xfrm>
            <a:off x="1039813" y="2795588"/>
            <a:ext cx="3403600"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6) </a:t>
            </a:r>
            <a:r>
              <a:rPr lang="zh-CN" altLang="en-US" sz="2000" i="1" noProof="0" dirty="0" smtClean="0">
                <a:ln>
                  <a:noFill/>
                </a:ln>
                <a:effectLst/>
                <a:uLnTx/>
                <a:uFillTx/>
                <a:latin typeface="+mj-lt"/>
                <a:ea typeface="宋体" panose="02010600030101010101" pitchFamily="2" charset="-122"/>
                <a:sym typeface="+mn-ea"/>
              </a:rPr>
              <a:t>再现父乐汇音级序列</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altLang="zh-CN" sz="2000" noProof="0" dirty="0" smtClean="0">
                <a:ln>
                  <a:noFill/>
                </a:ln>
                <a:effectLst/>
                <a:uLnTx/>
                <a:uFillTx/>
                <a:sym typeface="+mn-ea"/>
              </a:rPr>
              <a:t>称算法生成的乐汇音级序列</a:t>
            </a:r>
            <a:r>
              <a:rPr lang="en-US" altLang="zh-CN" sz="2000" i="1" noProof="0" dirty="0" smtClean="0">
                <a:ln>
                  <a:noFill/>
                </a:ln>
                <a:effectLst/>
                <a:uLnTx/>
                <a:uFillTx/>
                <a:latin typeface="+mj-lt"/>
                <a:sym typeface="+mn-ea"/>
              </a:rPr>
              <a:t>D</a:t>
            </a:r>
            <a:r>
              <a:rPr lang="en-US" altLang="zh-CN" sz="2000" i="1" baseline="-25000" noProof="0" dirty="0" smtClean="0">
                <a:ln>
                  <a:noFill/>
                </a:ln>
                <a:effectLst/>
                <a:uLnTx/>
                <a:uFillTx/>
                <a:latin typeface="+mj-lt"/>
                <a:sym typeface="+mn-ea"/>
              </a:rPr>
              <a:t>A</a:t>
            </a:r>
            <a:r>
              <a:rPr lang="en-US" altLang="zh-CN" sz="2000" noProof="0" dirty="0" smtClean="0">
                <a:ln>
                  <a:noFill/>
                </a:ln>
                <a:effectLst/>
                <a:uLnTx/>
                <a:uFillTx/>
                <a:latin typeface="+mj-lt"/>
                <a:sym typeface="+mn-ea"/>
              </a:rPr>
              <a:t> </a:t>
            </a:r>
            <a:r>
              <a:rPr lang="zh-CN" altLang="zh-CN" sz="2000" noProof="0" dirty="0" smtClean="0">
                <a:ln>
                  <a:noFill/>
                </a:ln>
                <a:effectLst/>
                <a:uLnTx/>
                <a:uFillTx/>
                <a:sym typeface="+mn-ea"/>
              </a:rPr>
              <a:t>存在一个再现父乐汇音级序列</a:t>
            </a:r>
            <a:r>
              <a:rPr lang="en-US" altLang="zh-CN" sz="2000" noProof="0" dirty="0" smtClean="0">
                <a:ln>
                  <a:noFill/>
                </a:ln>
                <a:effectLst/>
                <a:uLnTx/>
                <a:uFillTx/>
                <a:latin typeface="+mj-lt"/>
                <a:sym typeface="+mn-ea"/>
              </a:rPr>
              <a:t> </a:t>
            </a:r>
            <a:r>
              <a:rPr lang="en-US" altLang="zh-CN" sz="2000" i="1" noProof="0" dirty="0" smtClean="0">
                <a:ln>
                  <a:noFill/>
                </a:ln>
                <a:effectLst/>
                <a:uLnTx/>
                <a:uFillTx/>
                <a:latin typeface="+mj-lt"/>
                <a:sym typeface="+mn-ea"/>
              </a:rPr>
              <a:t>D</a:t>
            </a:r>
            <a:r>
              <a:rPr lang="en-US" altLang="zh-CN" sz="2000" i="1" baseline="-25000" noProof="0" dirty="0" smtClean="0">
                <a:ln>
                  <a:noFill/>
                </a:ln>
                <a:effectLst/>
                <a:uLnTx/>
                <a:uFillTx/>
                <a:latin typeface="+mj-lt"/>
                <a:sym typeface="+mn-ea"/>
              </a:rPr>
              <a:t>Y </a:t>
            </a:r>
            <a:r>
              <a:rPr lang="en-US" altLang="zh-CN" sz="2000" noProof="0" smtClean="0">
                <a:ln>
                  <a:noFill/>
                </a:ln>
                <a:effectLst/>
                <a:uLnTx/>
                <a:uFillTx/>
                <a:latin typeface="+mj-lt"/>
                <a:sym typeface="+mn-ea"/>
              </a:rPr>
              <a:t>(</a:t>
            </a:r>
            <a:r>
              <a:rPr lang="en-US" altLang="zh-CN" sz="2000" i="1" noProof="0" smtClean="0">
                <a:ln>
                  <a:noFill/>
                </a:ln>
                <a:effectLst/>
                <a:uLnTx/>
                <a:uFillTx/>
                <a:latin typeface="+mj-lt"/>
                <a:sym typeface="+mn-ea"/>
              </a:rPr>
              <a:t>D</a:t>
            </a:r>
            <a:r>
              <a:rPr lang="en-US" altLang="zh-CN" sz="2000" i="1" baseline="-25000" noProof="0" smtClean="0">
                <a:ln>
                  <a:noFill/>
                </a:ln>
                <a:effectLst/>
                <a:uLnTx/>
                <a:uFillTx/>
                <a:latin typeface="+mj-lt"/>
                <a:sym typeface="+mn-ea"/>
              </a:rPr>
              <a:t>Y</a:t>
            </a:r>
            <a:r>
              <a:rPr lang="en-US" altLang="zh-CN" sz="2000" noProof="0" smtClean="0">
                <a:ln>
                  <a:noFill/>
                </a:ln>
                <a:effectLst/>
                <a:uLnTx/>
                <a:uFillTx/>
                <a:latin typeface="+mj-lt"/>
                <a:sym typeface="+mn-ea"/>
              </a:rPr>
              <a:t>≠</a:t>
            </a:r>
            <a:r>
              <a:rPr lang="en-US" altLang="zh-CN" sz="2000" i="1" noProof="0" smtClean="0">
                <a:ln>
                  <a:noFill/>
                </a:ln>
                <a:effectLst/>
                <a:uLnTx/>
                <a:uFillTx/>
                <a:latin typeface="+mj-lt"/>
                <a:sym typeface="+mn-ea"/>
              </a:rPr>
              <a:t>D</a:t>
            </a:r>
            <a:r>
              <a:rPr lang="en-US" altLang="zh-CN" sz="2000" i="1" baseline="-25000" noProof="0" smtClean="0">
                <a:ln>
                  <a:noFill/>
                </a:ln>
                <a:effectLst/>
                <a:uLnTx/>
                <a:uFillTx/>
                <a:latin typeface="+mj-lt"/>
                <a:sym typeface="+mn-ea"/>
              </a:rPr>
              <a:t>A</a:t>
            </a:r>
            <a:r>
              <a:rPr lang="en-US" altLang="zh-CN" sz="2000" noProof="0" smtClean="0">
                <a:ln>
                  <a:noFill/>
                </a:ln>
                <a:effectLst/>
                <a:uLnTx/>
                <a:uFillTx/>
                <a:latin typeface="+mj-lt"/>
                <a:sym typeface="+mn-ea"/>
              </a:rPr>
              <a:t>) </a:t>
            </a:r>
            <a:r>
              <a:rPr lang="zh-CN" altLang="en-US" sz="2000" noProof="0" smtClean="0">
                <a:ln>
                  <a:noFill/>
                </a:ln>
                <a:effectLst/>
                <a:uLnTx/>
                <a:uFillTx/>
                <a:latin typeface="+mj-lt"/>
                <a:ea typeface="宋体" panose="02010600030101010101" pitchFamily="2" charset="-122"/>
                <a:sym typeface="+mn-ea"/>
              </a:rPr>
              <a:t>，</a:t>
            </a:r>
            <a:r>
              <a:rPr lang="zh-CN" altLang="en-US" sz="2000" noProof="0" dirty="0" smtClean="0">
                <a:ln>
                  <a:noFill/>
                </a:ln>
                <a:effectLst/>
                <a:uLnTx/>
                <a:uFillTx/>
                <a:latin typeface="+mj-lt"/>
                <a:ea typeface="宋体" panose="02010600030101010101" pitchFamily="2" charset="-122"/>
                <a:sym typeface="+mn-ea"/>
              </a:rPr>
              <a:t>如果</a:t>
            </a:r>
            <a:r>
              <a:rPr lang="zh-CN" altLang="en-US" sz="2000" noProof="0" dirty="0" smtClean="0">
                <a:ln>
                  <a:noFill/>
                </a:ln>
                <a:effectLst/>
                <a:uLnTx/>
                <a:uFillTx/>
                <a:latin typeface="+mj-lt"/>
                <a:ea typeface="宋体" panose="02010600030101010101" pitchFamily="2" charset="-122"/>
                <a:sym typeface="+mn-ea"/>
              </a:rPr>
              <a:t>与算法生成的</a:t>
            </a:r>
            <a:r>
              <a:rPr lang="zh-CN" altLang="en-US" sz="2000" noProof="0" dirty="0" smtClean="0">
                <a:ln>
                  <a:noFill/>
                </a:ln>
                <a:effectLst/>
                <a:uLnTx/>
                <a:uFillTx/>
                <a:latin typeface="+mj-lt"/>
                <a:ea typeface="宋体" panose="02010600030101010101" pitchFamily="2" charset="-122"/>
                <a:sym typeface="+mn-ea"/>
              </a:rPr>
              <a:t>乐汇同类的歌曲集合中的某一样板歌曲中的某一乐汇的非休止音符的音级序列</a:t>
            </a:r>
            <a:r>
              <a:rPr lang="en-US" altLang="zh-CN" sz="2000" i="1" noProof="0" dirty="0" smtClean="0">
                <a:ln>
                  <a:noFill/>
                </a:ln>
                <a:effectLst/>
                <a:uLnTx/>
                <a:uFillTx/>
                <a:latin typeface="+mj-lt"/>
                <a:sym typeface="+mn-ea"/>
              </a:rPr>
              <a:t>D</a:t>
            </a:r>
            <a:r>
              <a:rPr lang="en-US" altLang="zh-CN" sz="2000" i="1" baseline="-25000" noProof="0" dirty="0" smtClean="0">
                <a:ln>
                  <a:noFill/>
                </a:ln>
                <a:effectLst/>
                <a:uLnTx/>
                <a:uFillTx/>
                <a:latin typeface="+mj-lt"/>
                <a:sym typeface="+mn-ea"/>
              </a:rPr>
              <a:t>Y</a:t>
            </a:r>
            <a:r>
              <a:rPr lang="en-US" altLang="zh-CN" sz="2000" noProof="0" dirty="0" smtClean="0">
                <a:ln>
                  <a:noFill/>
                </a:ln>
                <a:effectLst/>
                <a:uLnTx/>
                <a:uFillTx/>
                <a:latin typeface="+mj-lt"/>
                <a:sym typeface="+mn-ea"/>
              </a:rPr>
              <a:t> </a:t>
            </a:r>
            <a:r>
              <a:rPr lang="zh-CN" altLang="en-US" sz="2000" noProof="0" dirty="0" smtClean="0">
                <a:ln>
                  <a:noFill/>
                </a:ln>
                <a:effectLst/>
                <a:uLnTx/>
                <a:uFillTx/>
                <a:latin typeface="+mj-lt"/>
                <a:ea typeface="宋体" panose="02010600030101010101" pitchFamily="2" charset="-122"/>
                <a:sym typeface="+mn-ea"/>
              </a:rPr>
              <a:t>的某一部分</a:t>
            </a:r>
            <a:r>
              <a:rPr lang="en-US" altLang="zh-CN" sz="2000" i="1" noProof="0" dirty="0" smtClean="0">
                <a:ln>
                  <a:noFill/>
                </a:ln>
                <a:effectLst/>
                <a:uLnTx/>
                <a:uFillTx/>
                <a:latin typeface="+mj-lt"/>
                <a:sym typeface="+mn-ea"/>
              </a:rPr>
              <a:t>D</a:t>
            </a:r>
            <a:r>
              <a:rPr lang="en-US" altLang="zh-CN" sz="2000" i="1" baseline="-25000" noProof="0" dirty="0" smtClean="0">
                <a:ln>
                  <a:noFill/>
                </a:ln>
                <a:effectLst/>
                <a:uLnTx/>
                <a:uFillTx/>
                <a:latin typeface="+mj-lt"/>
                <a:sym typeface="+mn-ea"/>
              </a:rPr>
              <a:t>y</a:t>
            </a:r>
            <a:r>
              <a:rPr lang="zh-CN" altLang="en-US" sz="2000" noProof="0" dirty="0" smtClean="0">
                <a:ln>
                  <a:noFill/>
                </a:ln>
                <a:effectLst/>
                <a:uLnTx/>
                <a:uFillTx/>
                <a:latin typeface="+mj-lt"/>
                <a:ea typeface="宋体" panose="02010600030101010101" pitchFamily="2" charset="-122"/>
                <a:sym typeface="+mn-ea"/>
              </a:rPr>
              <a:t>正好与</a:t>
            </a:r>
            <a:r>
              <a:rPr lang="en-US" altLang="zh-CN" sz="2000" i="1" noProof="0" dirty="0" smtClean="0">
                <a:ln>
                  <a:noFill/>
                </a:ln>
                <a:effectLst/>
                <a:uLnTx/>
                <a:uFillTx/>
                <a:latin typeface="+mj-lt"/>
                <a:sym typeface="+mn-ea"/>
              </a:rPr>
              <a:t>D</a:t>
            </a:r>
            <a:r>
              <a:rPr lang="en-US" altLang="zh-CN" sz="2000" i="1" baseline="-25000" noProof="0" dirty="0" smtClean="0">
                <a:ln>
                  <a:noFill/>
                </a:ln>
                <a:effectLst/>
                <a:uLnTx/>
                <a:uFillTx/>
                <a:latin typeface="+mj-lt"/>
                <a:sym typeface="+mn-ea"/>
              </a:rPr>
              <a:t>A</a:t>
            </a:r>
            <a:r>
              <a:rPr lang="zh-CN" altLang="en-US" sz="2000" noProof="0" dirty="0" smtClean="0">
                <a:ln>
                  <a:noFill/>
                </a:ln>
                <a:effectLst/>
                <a:uLnTx/>
                <a:uFillTx/>
                <a:latin typeface="+mj-lt"/>
                <a:ea typeface="宋体" panose="02010600030101010101" pitchFamily="2" charset="-122"/>
                <a:sym typeface="+mn-ea"/>
              </a:rPr>
              <a:t>一致</a:t>
            </a:r>
            <a:r>
              <a:rPr kumimoji="0" lang="zh-CN" altLang="en-US" sz="2000" b="0" i="1" u="none" strike="noStrike" kern="1200" cap="none" spc="0" normalizeH="0" baseline="0" noProof="0" smtClean="0">
                <a:ln>
                  <a:noFill/>
                </a:ln>
                <a:solidFill>
                  <a:schemeClr val="tx1"/>
                </a:solidFill>
                <a:effectLst/>
                <a:uLnTx/>
                <a:uFillTx/>
                <a:latin typeface="+mj-lt"/>
                <a:ea typeface="宋体" panose="02010600030101010101" pitchFamily="2" charset="-122"/>
                <a:cs typeface="+mn-cs"/>
              </a:rPr>
              <a:t>。</a:t>
            </a:r>
            <a:r>
              <a:rPr kumimoji="0" lang="en-US" altLang="zh-CN" sz="2000" b="0" i="0" u="none" strike="noStrike" kern="1200" cap="none" spc="0" normalizeH="0" baseline="0" noProof="0" smtClean="0">
                <a:ln>
                  <a:noFill/>
                </a:ln>
                <a:solidFill>
                  <a:schemeClr val="tx1"/>
                </a:solidFill>
                <a:effectLst/>
                <a:uLnTx/>
                <a:uFillTx/>
                <a:latin typeface="+mj-lt"/>
                <a:ea typeface="+mn-ea"/>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19814" name="圆角矩形标注 5"/>
          <p:cNvSpPr/>
          <p:nvPr/>
        </p:nvSpPr>
        <p:spPr>
          <a:xfrm>
            <a:off x="5857875" y="4333875"/>
            <a:ext cx="2309813" cy="785813"/>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9815" name="圆角矩形标注 6"/>
          <p:cNvSpPr/>
          <p:nvPr/>
        </p:nvSpPr>
        <p:spPr>
          <a:xfrm flipV="1">
            <a:off x="5810250" y="3011488"/>
            <a:ext cx="808038" cy="709612"/>
          </a:xfrm>
          <a:prstGeom prst="wedgeRoundRectCallout">
            <a:avLst>
              <a:gd name="adj1" fmla="val -20833"/>
              <a:gd name="adj2" fmla="val 62500"/>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1" name="矩形 41"/>
          <p:cNvSpPr>
            <a:spLocks noChangeArrowheads="1"/>
          </p:cNvSpPr>
          <p:nvPr/>
        </p:nvSpPr>
        <p:spPr bwMode="auto">
          <a:xfrm>
            <a:off x="5005388" y="2611438"/>
            <a:ext cx="4021138"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smtClean="0">
                <a:ln>
                  <a:noFill/>
                </a:ln>
                <a:solidFill>
                  <a:srgbClr val="92D050"/>
                </a:solidFill>
                <a:effectLst/>
                <a:uLnTx/>
                <a:uFillTx/>
                <a:latin typeface="+mj-lt"/>
                <a:ea typeface="+mn-ea"/>
                <a:cs typeface="+mn-cs"/>
                <a:sym typeface="+mn-ea"/>
              </a:rPr>
              <a:t>MP</a:t>
            </a:r>
            <a:r>
              <a:rPr kumimoji="0" lang="en-US" altLang="zh-CN" sz="1400" b="0" i="0" u="none" strike="noStrike" kern="1200" cap="none" spc="0" normalizeH="0" baseline="-25000" noProof="0" smtClean="0">
                <a:ln>
                  <a:noFill/>
                </a:ln>
                <a:solidFill>
                  <a:srgbClr val="92D050"/>
                </a:solidFill>
                <a:effectLst/>
                <a:uLnTx/>
                <a:uFillTx/>
                <a:latin typeface="+mj-lt"/>
                <a:ea typeface="+mn-ea"/>
                <a:cs typeface="+mn-cs"/>
                <a:sym typeface="+mn-ea"/>
              </a:rPr>
              <a:t>1</a:t>
            </a:r>
            <a:r>
              <a:rPr kumimoji="0" lang="zh-CN" altLang="en-US" sz="1400" b="0" i="0" u="none" strike="noStrike" kern="1200" cap="none" spc="0" normalizeH="0" baseline="0" noProof="0" smtClean="0">
                <a:ln>
                  <a:noFill/>
                </a:ln>
                <a:solidFill>
                  <a:schemeClr val="tx1"/>
                </a:solidFill>
                <a:effectLst/>
                <a:uLnTx/>
                <a:uFillTx/>
                <a:latin typeface="+mj-lt"/>
                <a:ea typeface="宋体" panose="02010600030101010101" pitchFamily="2" charset="-122"/>
                <a:cs typeface="+mn-cs"/>
                <a:sym typeface="+mn-ea"/>
              </a:rPr>
              <a:t>的调性音级序列</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rPr>
              <a:t>D</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rPr>
              <a:t>A</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6</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 6, 3, 5</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119817" name="圆角矩形标注 7"/>
          <p:cNvSpPr/>
          <p:nvPr/>
        </p:nvSpPr>
        <p:spPr>
          <a:xfrm flipV="1">
            <a:off x="5895975" y="4264025"/>
            <a:ext cx="720725" cy="688975"/>
          </a:xfrm>
          <a:prstGeom prst="wedgeRoundRectCallout">
            <a:avLst>
              <a:gd name="adj1" fmla="val -20833"/>
              <a:gd name="adj2" fmla="val 62500"/>
              <a:gd name="adj3" fmla="val 16667"/>
            </a:avLst>
          </a:prstGeom>
          <a:noFill/>
          <a:ln w="28575" cap="flat" cmpd="sng">
            <a:solidFill>
              <a:srgbClr val="00B0F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9" name="矩形 41"/>
          <p:cNvSpPr>
            <a:spLocks noChangeArrowheads="1"/>
          </p:cNvSpPr>
          <p:nvPr/>
        </p:nvSpPr>
        <p:spPr bwMode="auto">
          <a:xfrm>
            <a:off x="4504055" y="3886200"/>
            <a:ext cx="445897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altLang="zh-CN" sz="1400" i="1" noProof="0" dirty="0" smtClean="0">
                <a:ln>
                  <a:noFill/>
                </a:ln>
                <a:solidFill>
                  <a:srgbClr val="FF0000"/>
                </a:solidFill>
                <a:effectLst/>
                <a:uLnTx/>
                <a:uFillTx/>
                <a:latin typeface="+mj-lt"/>
                <a:sym typeface="+mn-ea"/>
              </a:rPr>
              <a:t>MP</a:t>
            </a:r>
            <a:r>
              <a:rPr lang="en-US" altLang="zh-CN" sz="1400" baseline="-25000" noProof="0" dirty="0" smtClean="0">
                <a:ln>
                  <a:noFill/>
                </a:ln>
                <a:solidFill>
                  <a:srgbClr val="FF0000"/>
                </a:solidFill>
                <a:effectLst/>
                <a:uLnTx/>
                <a:uFillTx/>
                <a:latin typeface="+mj-lt"/>
                <a:sym typeface="+mn-ea"/>
              </a:rPr>
              <a:t>2</a:t>
            </a:r>
            <a:r>
              <a:rPr lang="zh-CN" altLang="en-US" sz="1400" noProof="0" smtClean="0">
                <a:ln>
                  <a:noFill/>
                </a:ln>
                <a:effectLst/>
                <a:uLnTx/>
                <a:uFillTx/>
                <a:latin typeface="+mj-lt"/>
                <a:ea typeface="宋体" panose="02010600030101010101" pitchFamily="2" charset="-122"/>
                <a:sym typeface="+mn-ea"/>
              </a:rPr>
              <a:t>包含一个非休止音符的调性音级序列</a:t>
            </a:r>
            <a:r>
              <a:rPr kumimoji="0" lang="en-US" altLang="zh-CN" sz="1400" b="0" i="0" u="none" strike="noStrike" kern="1200" cap="none" spc="0" normalizeH="0" baseline="0" noProof="0" dirty="0" smtClean="0">
                <a:ln>
                  <a:noFill/>
                </a:ln>
                <a:solidFill>
                  <a:srgbClr val="00B0F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00B0F0"/>
                </a:solidFill>
                <a:effectLst/>
                <a:uLnTx/>
                <a:uFillTx/>
                <a:latin typeface="+mj-lt"/>
                <a:ea typeface="+mn-ea"/>
                <a:cs typeface="+mn-cs"/>
                <a:sym typeface="+mn-ea"/>
              </a:rPr>
              <a:t>D</a:t>
            </a:r>
            <a:r>
              <a:rPr kumimoji="0" lang="en-US" altLang="zh-CN" sz="1400" b="0" i="1" u="none" strike="noStrike" kern="1200" cap="none" spc="0" normalizeH="0" baseline="-25000" noProof="0" dirty="0" smtClean="0">
                <a:ln>
                  <a:noFill/>
                </a:ln>
                <a:solidFill>
                  <a:srgbClr val="00B0F0"/>
                </a:solidFill>
                <a:effectLst/>
                <a:uLnTx/>
                <a:uFillTx/>
                <a:latin typeface="+mj-lt"/>
                <a:ea typeface="+mn-ea"/>
                <a:cs typeface="+mn-cs"/>
                <a:sym typeface="+mn-ea"/>
              </a:rPr>
              <a:t>y</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6</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 6, 3, 5</a:t>
            </a:r>
            <a:endParaRPr kumimoji="0" lang="en-US" altLang="zh-CN" sz="1400" b="0" i="0" u="none" strike="noStrike" kern="1200" cap="none" spc="0" normalizeH="0" baseline="0" noProof="0" dirty="0" smtClean="0">
              <a:ln>
                <a:noFill/>
              </a:ln>
              <a:solidFill>
                <a:srgbClr val="92D050"/>
              </a:solidFill>
              <a:effectLst/>
              <a:uLnTx/>
              <a:uFillTx/>
              <a:latin typeface="+mj-lt"/>
              <a:ea typeface="宋体" panose="02010600030101010101" pitchFamily="2" charset="-122"/>
              <a:cs typeface="+mn-cs"/>
              <a:sym typeface="+mn-ea"/>
            </a:endParaRPr>
          </a:p>
        </p:txBody>
      </p:sp>
      <p:sp>
        <p:nvSpPr>
          <p:cNvPr id="12" name="矩形 41"/>
          <p:cNvSpPr>
            <a:spLocks noChangeArrowheads="1"/>
          </p:cNvSpPr>
          <p:nvPr/>
        </p:nvSpPr>
        <p:spPr bwMode="auto">
          <a:xfrm>
            <a:off x="4770438" y="5162550"/>
            <a:ext cx="433705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400" b="0" i="0" u="none" strike="noStrike" kern="1200" cap="none" spc="0" normalizeH="0" baseline="-25000" noProof="0" dirty="0" smtClean="0">
                <a:ln>
                  <a:noFill/>
                </a:ln>
                <a:solidFill>
                  <a:srgbClr val="FF0000"/>
                </a:solidFill>
                <a:effectLst/>
                <a:uLnTx/>
                <a:uFillTx/>
                <a:latin typeface="+mj-lt"/>
                <a:ea typeface="+mn-ea"/>
                <a:cs typeface="+mn-cs"/>
                <a:sym typeface="+mn-ea"/>
              </a:rPr>
              <a:t>2</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的调性音级序列</a:t>
            </a:r>
            <a:r>
              <a:rPr kumimoji="0" lang="en-US" altLang="zh-CN" sz="1400" b="0" i="0" u="none" strike="noStrike" kern="1200" cap="none" spc="0" normalizeH="0" baseline="0" noProof="0" dirty="0" smtClean="0">
                <a:ln>
                  <a:noFill/>
                </a:ln>
                <a:solidFill>
                  <a:srgbClr val="FF0000"/>
                </a:solidFill>
                <a:effectLst/>
                <a:uLnTx/>
                <a:uFillTx/>
                <a:latin typeface="+mj-lt"/>
                <a:ea typeface="+mn-ea"/>
                <a:cs typeface="+mn-cs"/>
                <a:sym typeface="+mn-ea"/>
              </a:rPr>
              <a:t> </a:t>
            </a: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D</a:t>
            </a:r>
            <a:r>
              <a:rPr kumimoji="0" lang="en-US" altLang="zh-CN" sz="1400" b="0" i="1" u="none" strike="noStrike" kern="1200" cap="none" spc="0" normalizeH="0" baseline="-25000" noProof="0" dirty="0" smtClean="0">
                <a:ln>
                  <a:noFill/>
                </a:ln>
                <a:solidFill>
                  <a:srgbClr val="FF0000"/>
                </a:solidFill>
                <a:effectLst/>
                <a:uLnTx/>
                <a:uFillTx/>
                <a:latin typeface="+mj-lt"/>
                <a:ea typeface="+mn-ea"/>
                <a:cs typeface="+mn-cs"/>
                <a:sym typeface="+mn-ea"/>
              </a:rPr>
              <a:t>Y</a:t>
            </a:r>
            <a:r>
              <a:rPr kumimoji="0" lang="en-US" altLang="zh-CN" sz="1400" b="0" i="1"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400" b="0" u="none" strike="noStrike" kern="1200" cap="none" spc="0" normalizeH="0" baseline="0" noProof="0" dirty="0" smtClean="0">
                <a:ln>
                  <a:noFill/>
                </a:ln>
                <a:solidFill>
                  <a:schemeClr val="tx1"/>
                </a:solidFill>
                <a:effectLst/>
                <a:uLnTx/>
                <a:uFillTx/>
                <a:latin typeface="+mj-lt"/>
                <a:ea typeface="+mn-ea"/>
                <a:cs typeface="+mn-cs"/>
                <a:sym typeface="+mn-ea"/>
              </a:rPr>
              <a:t>6</a:t>
            </a: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 6, 3, 5, #4, 3, 2, 3, 3</a:t>
            </a:r>
            <a:endParaRPr kumimoji="0" lang="en-US" altLang="zh-CN" sz="1400" b="0" i="0"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cxnSp>
        <p:nvCxnSpPr>
          <p:cNvPr id="119820" name="直接箭头连接符 16"/>
          <p:cNvCxnSpPr/>
          <p:nvPr/>
        </p:nvCxnSpPr>
        <p:spPr>
          <a:xfrm>
            <a:off x="4730750" y="2982913"/>
            <a:ext cx="1079500" cy="144462"/>
          </a:xfrm>
          <a:prstGeom prst="straightConnector1">
            <a:avLst/>
          </a:prstGeom>
          <a:ln w="28575" cap="flat" cmpd="sng">
            <a:solidFill>
              <a:srgbClr val="92D050"/>
            </a:solidFill>
            <a:prstDash val="solid"/>
            <a:round/>
            <a:headEnd type="none" w="med" len="med"/>
            <a:tailEnd type="arrow" w="med" len="med"/>
          </a:ln>
        </p:spPr>
      </p:cxnSp>
      <p:sp>
        <p:nvSpPr>
          <p:cNvPr id="21" name="矩形 41"/>
          <p:cNvSpPr>
            <a:spLocks noChangeArrowheads="1"/>
          </p:cNvSpPr>
          <p:nvPr/>
        </p:nvSpPr>
        <p:spPr bwMode="auto">
          <a:xfrm>
            <a:off x="4413250" y="5504180"/>
            <a:ext cx="480949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400" b="0" i="0" u="none" strike="noStrike" kern="1200" cap="none" spc="0" normalizeH="0" baseline="-25000" noProof="0" dirty="0" smtClean="0">
                <a:ln>
                  <a:noFill/>
                </a:ln>
                <a:solidFill>
                  <a:srgbClr val="FF0000"/>
                </a:solidFill>
                <a:effectLst/>
                <a:uLnTx/>
                <a:uFillTx/>
                <a:latin typeface="+mj-lt"/>
                <a:ea typeface="+mn-ea"/>
                <a:cs typeface="+mn-cs"/>
                <a:sym typeface="+mn-ea"/>
              </a:rPr>
              <a:t>2</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lang="zh-CN" altLang="en-US" sz="1400" noProof="0" dirty="0" smtClean="0">
                <a:ln>
                  <a:noFill/>
                </a:ln>
                <a:effectLst/>
                <a:uLnTx/>
                <a:uFillTx/>
                <a:latin typeface="+mj-lt"/>
                <a:ea typeface="宋体" panose="02010600030101010101" pitchFamily="2" charset="-122"/>
                <a:sym typeface="+mn-ea"/>
              </a:rPr>
              <a:t>是与</a:t>
            </a:r>
            <a:r>
              <a:rPr lang="en-US" altLang="zh-CN" sz="1400" i="1" noProof="0" dirty="0" smtClean="0">
                <a:ln>
                  <a:noFill/>
                </a:ln>
                <a:solidFill>
                  <a:srgbClr val="92D050"/>
                </a:solidFill>
                <a:effectLst/>
                <a:uLnTx/>
                <a:uFillTx/>
                <a:latin typeface="+mj-lt"/>
                <a:sym typeface="+mn-ea"/>
              </a:rPr>
              <a:t>MP</a:t>
            </a:r>
            <a:r>
              <a:rPr lang="en-US" altLang="zh-CN" sz="1400" baseline="-25000" noProof="0" dirty="0" smtClean="0">
                <a:ln>
                  <a:noFill/>
                </a:ln>
                <a:solidFill>
                  <a:srgbClr val="92D050"/>
                </a:solidFill>
                <a:effectLst/>
                <a:uLnTx/>
                <a:uFillTx/>
                <a:latin typeface="+mj-lt"/>
                <a:sym typeface="+mn-ea"/>
              </a:rPr>
              <a:t>1</a:t>
            </a:r>
            <a:r>
              <a:rPr lang="zh-CN" altLang="en-US" sz="1400" noProof="0" dirty="0" smtClean="0">
                <a:ln>
                  <a:noFill/>
                </a:ln>
                <a:effectLst/>
                <a:uLnTx/>
                <a:uFillTx/>
                <a:latin typeface="+mj-lt"/>
                <a:ea typeface="宋体" panose="02010600030101010101" pitchFamily="2" charset="-122"/>
                <a:sym typeface="+mn-ea"/>
              </a:rPr>
              <a:t>同类的歌曲集合中某一样板歌曲中某一乐汇。</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19823" name="直接连接符 21"/>
          <p:cNvCxnSpPr/>
          <p:nvPr/>
        </p:nvCxnSpPr>
        <p:spPr>
          <a:xfrm flipH="1">
            <a:off x="4714875" y="2348865"/>
            <a:ext cx="721360" cy="648335"/>
          </a:xfrm>
          <a:prstGeom prst="line">
            <a:avLst/>
          </a:prstGeom>
          <a:ln w="28575" cap="flat" cmpd="sng">
            <a:solidFill>
              <a:srgbClr val="92D050"/>
            </a:solidFill>
            <a:prstDash val="solid"/>
            <a:round/>
            <a:headEnd type="none" w="med" len="med"/>
            <a:tailEnd type="none" w="med" len="med"/>
          </a:ln>
        </p:spPr>
      </p:cxnSp>
      <p:cxnSp>
        <p:nvCxnSpPr>
          <p:cNvPr id="119824" name="直接箭头连接符 22"/>
          <p:cNvCxnSpPr/>
          <p:nvPr/>
        </p:nvCxnSpPr>
        <p:spPr>
          <a:xfrm flipV="1">
            <a:off x="5148580" y="5022215"/>
            <a:ext cx="732790" cy="207010"/>
          </a:xfrm>
          <a:prstGeom prst="straightConnector1">
            <a:avLst/>
          </a:prstGeom>
          <a:ln w="28575" cap="flat" cmpd="sng">
            <a:solidFill>
              <a:srgbClr val="FF0000"/>
            </a:solidFill>
            <a:prstDash val="solid"/>
            <a:round/>
            <a:headEnd type="none" w="med" len="med"/>
            <a:tailEnd type="arrow" w="med" len="med"/>
          </a:ln>
        </p:spPr>
      </p:cxnSp>
      <p:sp>
        <p:nvSpPr>
          <p:cNvPr id="4" name="Rectangle 2"/>
          <p:cNvSpPr>
            <a:spLocks noGrp="1"/>
          </p:cNvSpPr>
          <p:nvPr/>
        </p:nvSpPr>
        <p:spPr>
          <a:xfrm>
            <a:off x="241935"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5" name="Rectangle 3"/>
          <p:cNvSpPr txBox="1"/>
          <p:nvPr/>
        </p:nvSpPr>
        <p:spPr>
          <a:xfrm>
            <a:off x="158115" y="2103755"/>
            <a:ext cx="359029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 name="矩形 41"/>
          <p:cNvSpPr>
            <a:spLocks noChangeArrowheads="1"/>
          </p:cNvSpPr>
          <p:nvPr/>
        </p:nvSpPr>
        <p:spPr bwMode="auto">
          <a:xfrm>
            <a:off x="5303520" y="2076450"/>
            <a:ext cx="39058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lang="en-US" altLang="zh-CN" sz="1400" i="1" noProof="0" dirty="0" smtClean="0">
                <a:ln>
                  <a:noFill/>
                </a:ln>
                <a:solidFill>
                  <a:srgbClr val="92D050"/>
                </a:solidFill>
                <a:effectLst/>
                <a:uLnTx/>
                <a:uFillTx/>
                <a:latin typeface="+mj-lt"/>
                <a:sym typeface="+mn-ea"/>
              </a:rPr>
              <a:t>MP</a:t>
            </a:r>
            <a:r>
              <a:rPr lang="en-US" altLang="zh-CN" sz="1400" baseline="-25000" noProof="0" dirty="0" smtClean="0">
                <a:ln>
                  <a:noFill/>
                </a:ln>
                <a:solidFill>
                  <a:srgbClr val="92D050"/>
                </a:solidFill>
                <a:effectLst/>
                <a:uLnTx/>
                <a:uFillTx/>
                <a:latin typeface="+mj-lt"/>
                <a:sym typeface="+mn-ea"/>
              </a:rPr>
              <a:t>1</a:t>
            </a:r>
            <a:r>
              <a:rPr kumimoji="0" lang="zh-CN" altLang="en-US"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是由算法生成一乐汇。</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6" name="Rectangle 2"/>
          <p:cNvSpPr>
            <a:spLocks noGrp="1"/>
          </p:cNvSpPr>
          <p:nvPr/>
        </p:nvSpPr>
        <p:spPr>
          <a:xfrm>
            <a:off x="224790" y="640080"/>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0970" y="2112010"/>
            <a:ext cx="3590290"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1857" name="图片 6"/>
          <p:cNvPicPr>
            <a:picLocks noChangeAspect="1"/>
          </p:cNvPicPr>
          <p:nvPr/>
        </p:nvPicPr>
        <p:blipFill>
          <a:blip r:embed="rId1"/>
          <a:stretch>
            <a:fillRect/>
          </a:stretch>
        </p:blipFill>
        <p:spPr>
          <a:xfrm>
            <a:off x="4624388" y="4333875"/>
            <a:ext cx="4179887" cy="547688"/>
          </a:xfrm>
          <a:prstGeom prst="rect">
            <a:avLst/>
          </a:prstGeom>
          <a:noFill/>
          <a:ln w="9525">
            <a:noFill/>
          </a:ln>
        </p:spPr>
      </p:pic>
      <p:pic>
        <p:nvPicPr>
          <p:cNvPr id="121858" name="图片 5"/>
          <p:cNvPicPr>
            <a:picLocks noChangeAspect="1"/>
          </p:cNvPicPr>
          <p:nvPr/>
        </p:nvPicPr>
        <p:blipFill>
          <a:blip r:embed="rId2"/>
          <a:stretch>
            <a:fillRect/>
          </a:stretch>
        </p:blipFill>
        <p:spPr>
          <a:xfrm>
            <a:off x="4603750" y="3114675"/>
            <a:ext cx="4254500" cy="501650"/>
          </a:xfrm>
          <a:prstGeom prst="rect">
            <a:avLst/>
          </a:prstGeom>
          <a:noFill/>
          <a:ln w="9525">
            <a:noFill/>
          </a:ln>
        </p:spPr>
      </p:pic>
      <p:sp>
        <p:nvSpPr>
          <p:cNvPr id="96259" name="矩形 41"/>
          <p:cNvSpPr>
            <a:spLocks noChangeArrowheads="1"/>
          </p:cNvSpPr>
          <p:nvPr/>
        </p:nvSpPr>
        <p:spPr bwMode="auto">
          <a:xfrm>
            <a:off x="1039813" y="2795588"/>
            <a:ext cx="3248025"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7) </a:t>
            </a:r>
            <a:r>
              <a:rPr lang="zh-CN" altLang="en-US" sz="2000" i="1" noProof="0" dirty="0" smtClean="0">
                <a:ln>
                  <a:noFill/>
                </a:ln>
                <a:effectLst/>
                <a:uLnTx/>
                <a:uFillTx/>
                <a:latin typeface="+mj-lt"/>
                <a:ea typeface="宋体" panose="02010600030101010101" pitchFamily="2" charset="-122"/>
                <a:sym typeface="+mn-ea"/>
              </a:rPr>
              <a:t>再现乐汇</a:t>
            </a:r>
            <a:r>
              <a:rPr lang="en-US" altLang="zh-CN" sz="2000" noProof="0" dirty="0" smtClean="0">
                <a:ln>
                  <a:noFill/>
                </a:ln>
                <a:effectLst/>
                <a:uLnTx/>
                <a:uFillTx/>
                <a:latin typeface="+mj-lt"/>
                <a:sym typeface="+mn-ea"/>
              </a:rPr>
              <a:t>:</a:t>
            </a:r>
            <a:r>
              <a:rPr lang="en-US" altLang="zh-CN" sz="2000" noProof="0" dirty="0" smtClean="0">
                <a:ln>
                  <a:noFill/>
                </a:ln>
                <a:effectLst/>
                <a:uLnTx/>
                <a:uFillTx/>
                <a:sym typeface="+mn-ea"/>
              </a:rPr>
              <a:t> </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若算法生成的乐汇</a:t>
            </a:r>
            <a:r>
              <a:rPr lang="en-US" altLang="zh-CN" sz="2000" i="1" noProof="0" smtClean="0">
                <a:ln>
                  <a:noFill/>
                </a:ln>
                <a:effectLst/>
                <a:uLnTx/>
                <a:uFillTx/>
                <a:latin typeface="+mj-lt"/>
                <a:sym typeface="+mn-ea"/>
              </a:rPr>
              <a:t>MP</a:t>
            </a:r>
            <a:r>
              <a:rPr lang="en-US" altLang="zh-CN" sz="2000" baseline="-25000" noProof="0" smtClean="0">
                <a:ln>
                  <a:noFill/>
                </a:ln>
                <a:effectLst/>
                <a:uLnTx/>
                <a:uFillTx/>
                <a:latin typeface="+mj-lt"/>
                <a:sym typeface="+mn-ea"/>
              </a:rPr>
              <a:t>1</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与某同类样板歌曲集中的某一乐汇一致，则称</a:t>
            </a:r>
            <a:r>
              <a:rPr lang="en-US" altLang="zh-CN" sz="2000" i="1" noProof="0" smtClean="0">
                <a:ln>
                  <a:noFill/>
                </a:ln>
                <a:effectLst/>
                <a:uLnTx/>
                <a:uFillTx/>
                <a:latin typeface="+mj-lt"/>
                <a:sym typeface="+mn-ea"/>
              </a:rPr>
              <a:t>MP</a:t>
            </a:r>
            <a:r>
              <a:rPr lang="en-US" altLang="zh-CN" sz="2000" baseline="-25000" noProof="0" smtClean="0">
                <a:ln>
                  <a:noFill/>
                </a:ln>
                <a:effectLst/>
                <a:uLnTx/>
                <a:uFillTx/>
                <a:latin typeface="+mj-lt"/>
                <a:sym typeface="+mn-ea"/>
              </a:rPr>
              <a:t>1</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为再现乐汇（或称</a:t>
            </a:r>
            <a:r>
              <a:rPr lang="en-US" altLang="zh-CN" sz="2000" i="1" noProof="0" smtClean="0">
                <a:ln>
                  <a:noFill/>
                </a:ln>
                <a:effectLst/>
                <a:uLnTx/>
                <a:uFillTx/>
                <a:latin typeface="+mj-lt"/>
                <a:sym typeface="+mn-ea"/>
              </a:rPr>
              <a:t>MP</a:t>
            </a:r>
            <a:r>
              <a:rPr lang="en-US" altLang="zh-CN" sz="2000" baseline="-25000" noProof="0" smtClean="0">
                <a:ln>
                  <a:noFill/>
                </a:ln>
                <a:effectLst/>
                <a:uLnTx/>
                <a:uFillTx/>
                <a:latin typeface="+mj-lt"/>
                <a:sym typeface="+mn-ea"/>
              </a:rPr>
              <a:t>1</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存在再现乐汇）</a:t>
            </a:r>
            <a:r>
              <a:rPr kumimoji="0" lang="zh-CN"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121862" name="圆角矩形标注 5"/>
          <p:cNvSpPr/>
          <p:nvPr/>
        </p:nvSpPr>
        <p:spPr>
          <a:xfrm>
            <a:off x="4878388" y="4333875"/>
            <a:ext cx="3925887" cy="785813"/>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21863" name="圆角矩形标注 6"/>
          <p:cNvSpPr/>
          <p:nvPr/>
        </p:nvSpPr>
        <p:spPr>
          <a:xfrm flipV="1">
            <a:off x="4930775" y="3011488"/>
            <a:ext cx="3787775" cy="709612"/>
          </a:xfrm>
          <a:prstGeom prst="wedgeRoundRectCallout">
            <a:avLst>
              <a:gd name="adj1" fmla="val -20833"/>
              <a:gd name="adj2" fmla="val 62500"/>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21" name="矩形 41"/>
          <p:cNvSpPr>
            <a:spLocks noChangeArrowheads="1"/>
          </p:cNvSpPr>
          <p:nvPr/>
        </p:nvSpPr>
        <p:spPr bwMode="auto">
          <a:xfrm>
            <a:off x="4854575" y="5213350"/>
            <a:ext cx="4578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800" b="0" i="0" u="none" strike="noStrike" kern="1200" cap="none" spc="0" normalizeH="0" baseline="-25000" noProof="0" dirty="0" smtClean="0">
                <a:ln>
                  <a:noFill/>
                </a:ln>
                <a:solidFill>
                  <a:srgbClr val="FF0000"/>
                </a:solidFill>
                <a:effectLst/>
                <a:uLnTx/>
                <a:uFillTx/>
                <a:latin typeface="+mj-lt"/>
                <a:ea typeface="+mn-ea"/>
                <a:cs typeface="+mn-cs"/>
                <a:sym typeface="+mn-ea"/>
              </a:rPr>
              <a:t>2</a:t>
            </a:r>
            <a:r>
              <a:rPr kumimoji="0" lang="en-US" altLang="zh-CN" sz="18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a:t>
            </a:r>
            <a:r>
              <a:rPr lang="zh-CN" altLang="zh-CN" sz="1800" noProof="0" dirty="0" smtClean="0">
                <a:ln>
                  <a:noFill/>
                </a:ln>
                <a:effectLst/>
                <a:uLnTx/>
                <a:uFillTx/>
                <a:sym typeface="+mn-ea"/>
              </a:rPr>
              <a:t>某同类样板歌曲集中的某一乐汇。</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6" name="Rectangle 2"/>
          <p:cNvSpPr>
            <a:spLocks noGrp="1"/>
          </p:cNvSpPr>
          <p:nvPr/>
        </p:nvSpPr>
        <p:spPr>
          <a:xfrm>
            <a:off x="224790" y="640080"/>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5415" y="2112010"/>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 name="矩形 41"/>
          <p:cNvSpPr>
            <a:spLocks noChangeArrowheads="1"/>
          </p:cNvSpPr>
          <p:nvPr/>
        </p:nvSpPr>
        <p:spPr bwMode="auto">
          <a:xfrm>
            <a:off x="5303520" y="2506980"/>
            <a:ext cx="39058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a:t>
            </a:r>
            <a:r>
              <a:rPr kumimoji="0" lang="en-US" altLang="zh-CN" sz="1800" b="0" i="0" u="none" strike="noStrike" kern="1200" cap="none" spc="0" normalizeH="0" baseline="0" noProof="0" dirty="0" smtClean="0">
                <a:ln>
                  <a:noFill/>
                </a:ln>
                <a:solidFill>
                  <a:srgbClr val="92D050"/>
                </a:solidFill>
                <a:effectLst/>
                <a:uLnTx/>
                <a:uFillTx/>
                <a:latin typeface="+mj-lt"/>
                <a:ea typeface="+mn-ea"/>
                <a:cs typeface="+mn-cs"/>
                <a:sym typeface="+mn-ea"/>
              </a:rPr>
              <a:t> </a:t>
            </a:r>
            <a:r>
              <a:rPr lang="en-US" altLang="zh-CN" sz="1800" i="1" noProof="0" dirty="0" smtClean="0">
                <a:ln>
                  <a:noFill/>
                </a:ln>
                <a:solidFill>
                  <a:srgbClr val="92D050"/>
                </a:solidFill>
                <a:effectLst/>
                <a:uLnTx/>
                <a:uFillTx/>
                <a:latin typeface="+mj-lt"/>
                <a:sym typeface="+mn-ea"/>
              </a:rPr>
              <a:t>MP</a:t>
            </a:r>
            <a:r>
              <a:rPr lang="en-US" altLang="zh-CN" sz="1800" baseline="-25000" noProof="0" dirty="0" smtClean="0">
                <a:ln>
                  <a:noFill/>
                </a:ln>
                <a:solidFill>
                  <a:srgbClr val="92D050"/>
                </a:solidFill>
                <a:effectLst/>
                <a:uLnTx/>
                <a:uFillTx/>
                <a:latin typeface="+mj-lt"/>
                <a:sym typeface="+mn-ea"/>
              </a:rPr>
              <a:t>1</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是由算法生成的乐汇。</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3905" name="图片 1"/>
          <p:cNvPicPr>
            <a:picLocks noChangeAspect="1"/>
          </p:cNvPicPr>
          <p:nvPr/>
        </p:nvPicPr>
        <p:blipFill>
          <a:blip r:embed="rId1"/>
          <a:stretch>
            <a:fillRect/>
          </a:stretch>
        </p:blipFill>
        <p:spPr>
          <a:xfrm>
            <a:off x="5224463" y="5086350"/>
            <a:ext cx="3632200" cy="396875"/>
          </a:xfrm>
          <a:prstGeom prst="rect">
            <a:avLst/>
          </a:prstGeom>
          <a:noFill/>
          <a:ln w="9525">
            <a:noFill/>
          </a:ln>
        </p:spPr>
      </p:pic>
      <p:sp>
        <p:nvSpPr>
          <p:cNvPr id="96259" name="矩形 41"/>
          <p:cNvSpPr>
            <a:spLocks noChangeArrowheads="1"/>
          </p:cNvSpPr>
          <p:nvPr/>
        </p:nvSpPr>
        <p:spPr bwMode="auto">
          <a:xfrm>
            <a:off x="1035050" y="2790825"/>
            <a:ext cx="3405188"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8) </a:t>
            </a:r>
            <a:r>
              <a:rPr lang="zh-CN" altLang="en-US" sz="2000" i="1" noProof="0" dirty="0" smtClean="0">
                <a:ln>
                  <a:noFill/>
                </a:ln>
                <a:effectLst/>
                <a:uLnTx/>
                <a:uFillTx/>
                <a:latin typeface="+mj-lt"/>
                <a:ea typeface="宋体" panose="02010600030101010101" pitchFamily="2" charset="-122"/>
                <a:sym typeface="+mn-ea"/>
              </a:rPr>
              <a:t>再现子乐汇</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altLang="zh-CN" sz="2000" noProof="0" dirty="0" smtClean="0">
                <a:ln>
                  <a:noFill/>
                </a:ln>
                <a:effectLst/>
                <a:uLnTx/>
                <a:uFillTx/>
                <a:sym typeface="+mn-ea"/>
              </a:rPr>
              <a:t>若算法生成的乐汇</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zh-CN" altLang="zh-CN" sz="2000" noProof="0" dirty="0" smtClean="0">
                <a:ln>
                  <a:noFill/>
                </a:ln>
                <a:effectLst/>
                <a:uLnTx/>
                <a:uFillTx/>
                <a:sym typeface="+mn-ea"/>
              </a:rPr>
              <a:t>包含某同类样板歌曲集中的某一乐汇</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en-US" altLang="zh-CN" sz="2000" noProof="0" smtClean="0">
                <a:ln>
                  <a:noFill/>
                </a:ln>
                <a:effectLst/>
                <a:uLnTx/>
                <a:uFillTx/>
                <a:latin typeface="+mj-lt"/>
                <a:sym typeface="+mn-ea"/>
              </a:rPr>
              <a:t> (</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en-US" altLang="zh-CN" sz="2000" noProof="0" smtClean="0">
                <a:ln>
                  <a:noFill/>
                </a:ln>
                <a:effectLst/>
                <a:uLnTx/>
                <a:uFillTx/>
                <a:latin typeface="+mj-lt"/>
                <a:sym typeface="+mn-ea"/>
              </a:rPr>
              <a:t>≠</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en-US" altLang="zh-CN" sz="2000" noProof="0" smtClean="0">
                <a:ln>
                  <a:noFill/>
                </a:ln>
                <a:effectLst/>
                <a:uLnTx/>
                <a:uFillTx/>
                <a:latin typeface="+mj-lt"/>
                <a:sym typeface="+mn-ea"/>
              </a:rPr>
              <a:t>)</a:t>
            </a:r>
            <a:r>
              <a:rPr lang="zh-CN" altLang="zh-CN" sz="2000" noProof="0" dirty="0" smtClean="0">
                <a:ln>
                  <a:noFill/>
                </a:ln>
                <a:effectLst/>
                <a:uLnTx/>
                <a:uFillTx/>
                <a:sym typeface="+mn-ea"/>
              </a:rPr>
              <a:t>，则称</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zh-CN" altLang="zh-CN" sz="2000" noProof="0" dirty="0" smtClean="0">
                <a:ln>
                  <a:noFill/>
                </a:ln>
                <a:effectLst/>
                <a:uLnTx/>
                <a:uFillTx/>
                <a:sym typeface="+mn-ea"/>
              </a:rPr>
              <a:t>存在再现子乐汇。</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pic>
        <p:nvPicPr>
          <p:cNvPr id="123909" name="图片 3"/>
          <p:cNvPicPr>
            <a:picLocks noChangeAspect="1"/>
          </p:cNvPicPr>
          <p:nvPr/>
        </p:nvPicPr>
        <p:blipFill>
          <a:blip r:embed="rId2"/>
          <a:stretch>
            <a:fillRect/>
          </a:stretch>
        </p:blipFill>
        <p:spPr>
          <a:xfrm>
            <a:off x="5146675" y="3194050"/>
            <a:ext cx="3633788" cy="384175"/>
          </a:xfrm>
          <a:prstGeom prst="rect">
            <a:avLst/>
          </a:prstGeom>
          <a:noFill/>
          <a:ln w="9525">
            <a:noFill/>
          </a:ln>
        </p:spPr>
      </p:pic>
      <p:sp>
        <p:nvSpPr>
          <p:cNvPr id="123910" name="圆角矩形标注 5"/>
          <p:cNvSpPr/>
          <p:nvPr/>
        </p:nvSpPr>
        <p:spPr>
          <a:xfrm>
            <a:off x="5715000" y="5010150"/>
            <a:ext cx="1309688" cy="649288"/>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23911" name="圆角矩形标注 6"/>
          <p:cNvSpPr/>
          <p:nvPr/>
        </p:nvSpPr>
        <p:spPr>
          <a:xfrm>
            <a:off x="5882005" y="3199130"/>
            <a:ext cx="1667510" cy="414020"/>
          </a:xfrm>
          <a:prstGeom prst="wedgeRoundRectCallout">
            <a:avLst>
              <a:gd name="adj1" fmla="val -20833"/>
              <a:gd name="adj2" fmla="val 62500"/>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cxnSp>
        <p:nvCxnSpPr>
          <p:cNvPr id="123913" name="直接箭头连接符 22"/>
          <p:cNvCxnSpPr/>
          <p:nvPr/>
        </p:nvCxnSpPr>
        <p:spPr>
          <a:xfrm>
            <a:off x="5364163" y="4725988"/>
            <a:ext cx="350837" cy="319087"/>
          </a:xfrm>
          <a:prstGeom prst="straightConnector1">
            <a:avLst/>
          </a:prstGeom>
          <a:ln w="28575" cap="flat" cmpd="sng">
            <a:solidFill>
              <a:srgbClr val="FF0000"/>
            </a:solidFill>
            <a:prstDash val="solid"/>
            <a:round/>
            <a:headEnd type="none" w="med" len="med"/>
            <a:tailEnd type="arrow" w="med" len="med"/>
          </a:ln>
        </p:spPr>
      </p:cxnSp>
      <p:sp>
        <p:nvSpPr>
          <p:cNvPr id="24" name="矩形 41"/>
          <p:cNvSpPr>
            <a:spLocks noChangeArrowheads="1"/>
          </p:cNvSpPr>
          <p:nvPr/>
        </p:nvSpPr>
        <p:spPr bwMode="auto">
          <a:xfrm>
            <a:off x="5129530" y="4498975"/>
            <a:ext cx="361315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400" b="0" i="0" u="none" strike="noStrike" kern="1200" cap="none" spc="0" normalizeH="0" baseline="-25000" noProof="0" dirty="0" smtClean="0">
                <a:ln>
                  <a:noFill/>
                </a:ln>
                <a:solidFill>
                  <a:srgbClr val="FF0000"/>
                </a:solidFill>
                <a:effectLst/>
                <a:uLnTx/>
                <a:uFillTx/>
                <a:latin typeface="+mj-lt"/>
                <a:ea typeface="+mn-ea"/>
                <a:cs typeface="+mn-cs"/>
                <a:sym typeface="+mn-ea"/>
              </a:rPr>
              <a:t>2</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lang="zh-CN" altLang="en-US" sz="1400" noProof="0" dirty="0" smtClean="0">
                <a:ln>
                  <a:noFill/>
                </a:ln>
                <a:effectLst/>
                <a:uLnTx/>
                <a:uFillTx/>
                <a:latin typeface="+mj-lt"/>
                <a:ea typeface="宋体" panose="02010600030101010101" pitchFamily="2" charset="-122"/>
                <a:sym typeface="+mn-ea"/>
              </a:rPr>
              <a:t>是</a:t>
            </a:r>
            <a:r>
              <a:rPr lang="zh-CN" altLang="zh-CN" sz="1400" noProof="0" dirty="0" smtClean="0">
                <a:ln>
                  <a:noFill/>
                </a:ln>
                <a:effectLst/>
                <a:uLnTx/>
                <a:uFillTx/>
                <a:sym typeface="+mn-ea"/>
              </a:rPr>
              <a:t>某同类样板歌曲集中的某一乐汇。</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23915" name="直接箭头连接符 22"/>
          <p:cNvCxnSpPr/>
          <p:nvPr/>
        </p:nvCxnSpPr>
        <p:spPr>
          <a:xfrm flipH="1">
            <a:off x="6093460" y="2762250"/>
            <a:ext cx="71438" cy="431800"/>
          </a:xfrm>
          <a:prstGeom prst="straightConnector1">
            <a:avLst/>
          </a:prstGeom>
          <a:ln w="28575" cap="flat" cmpd="sng">
            <a:solidFill>
              <a:srgbClr val="92D050"/>
            </a:solidFill>
            <a:prstDash val="solid"/>
            <a:round/>
            <a:headEnd type="none" w="med" len="med"/>
            <a:tailEnd type="arrow" w="med" len="med"/>
          </a:ln>
        </p:spPr>
      </p:cxnSp>
      <p:sp>
        <p:nvSpPr>
          <p:cNvPr id="4" name="矩形 41"/>
          <p:cNvSpPr>
            <a:spLocks noChangeArrowheads="1"/>
          </p:cNvSpPr>
          <p:nvPr/>
        </p:nvSpPr>
        <p:spPr bwMode="auto">
          <a:xfrm>
            <a:off x="5927090" y="3625850"/>
            <a:ext cx="88582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92D050"/>
                </a:solidFill>
                <a:effectLst/>
                <a:uLnTx/>
                <a:uFillTx/>
                <a:latin typeface="+mj-lt"/>
                <a:ea typeface="+mn-ea"/>
                <a:cs typeface="+mn-cs"/>
                <a:sym typeface="+mn-ea"/>
              </a:rPr>
              <a:t>MP</a:t>
            </a:r>
            <a:r>
              <a:rPr kumimoji="0" lang="en-US" altLang="zh-CN" sz="1400" b="0" i="1" u="none" strike="noStrike" kern="1200" cap="none" spc="0" normalizeH="0" baseline="-25000" noProof="0" dirty="0" smtClean="0">
                <a:ln>
                  <a:noFill/>
                </a:ln>
                <a:solidFill>
                  <a:srgbClr val="92D050"/>
                </a:solidFill>
                <a:effectLst/>
                <a:uLnTx/>
                <a:uFillTx/>
                <a:latin typeface="+mj-lt"/>
                <a:ea typeface="+mn-ea"/>
                <a:cs typeface="+mn-cs"/>
                <a:sym typeface="+mn-ea"/>
              </a:rPr>
              <a:t>A</a:t>
            </a: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5" name="矩形 41"/>
          <p:cNvSpPr>
            <a:spLocks noChangeArrowheads="1"/>
          </p:cNvSpPr>
          <p:nvPr/>
        </p:nvSpPr>
        <p:spPr bwMode="auto">
          <a:xfrm>
            <a:off x="5686425" y="5775325"/>
            <a:ext cx="88582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400" b="0" i="1" u="none" strike="noStrike" kern="1200" cap="none" spc="0" normalizeH="0" baseline="-25000" noProof="0" dirty="0" smtClean="0">
                <a:ln>
                  <a:noFill/>
                </a:ln>
                <a:solidFill>
                  <a:srgbClr val="FF0000"/>
                </a:solidFill>
                <a:effectLst/>
                <a:uLnTx/>
                <a:uFillTx/>
                <a:latin typeface="+mj-lt"/>
                <a:ea typeface="+mn-ea"/>
                <a:cs typeface="+mn-cs"/>
                <a:sym typeface="+mn-ea"/>
              </a:rPr>
              <a:t>a</a:t>
            </a:r>
            <a:r>
              <a:rPr kumimoji="0" lang="en-US" altLang="zh-CN" sz="1400" b="0" i="0" u="none" strike="noStrike" kern="1200" cap="none" spc="0" normalizeH="0" baseline="0" noProof="0" dirty="0" smtClean="0">
                <a:ln>
                  <a:noFill/>
                </a:ln>
                <a:solidFill>
                  <a:srgbClr val="FF0000"/>
                </a:solidFill>
                <a:effectLst/>
                <a:uLnTx/>
                <a:uFillTx/>
                <a:latin typeface="+mj-lt"/>
                <a:ea typeface="+mn-ea"/>
                <a:cs typeface="+mn-cs"/>
                <a:sym typeface="+mn-ea"/>
              </a:rPr>
              <a:t> </a:t>
            </a:r>
            <a:endParaRPr kumimoji="0" lang="en-US" altLang="zh-CN" sz="1400" b="0" i="0" u="none" strike="noStrike" kern="1200" cap="none" spc="0" normalizeH="0" baseline="0" noProof="0" dirty="0" smtClean="0">
              <a:ln>
                <a:noFill/>
              </a:ln>
              <a:solidFill>
                <a:srgbClr val="FF0000"/>
              </a:solidFill>
              <a:effectLst/>
              <a:uLnTx/>
              <a:uFillTx/>
              <a:latin typeface="+mj-lt"/>
              <a:ea typeface="+mn-ea"/>
              <a:cs typeface="+mn-cs"/>
              <a:sym typeface="+mn-ea"/>
            </a:endParaRPr>
          </a:p>
        </p:txBody>
      </p:sp>
      <p:sp>
        <p:nvSpPr>
          <p:cNvPr id="6" name="Rectangle 2"/>
          <p:cNvSpPr>
            <a:spLocks noGrp="1"/>
          </p:cNvSpPr>
          <p:nvPr/>
        </p:nvSpPr>
        <p:spPr>
          <a:xfrm>
            <a:off x="224790" y="640080"/>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5415" y="2112010"/>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 name="矩形 41"/>
          <p:cNvSpPr>
            <a:spLocks noChangeArrowheads="1"/>
          </p:cNvSpPr>
          <p:nvPr/>
        </p:nvSpPr>
        <p:spPr bwMode="auto">
          <a:xfrm>
            <a:off x="5303520" y="2506980"/>
            <a:ext cx="390588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a:t>
            </a:r>
            <a:r>
              <a:rPr kumimoji="0" lang="en-US" altLang="zh-CN" sz="1800" b="0" i="0" u="none" strike="noStrike" kern="1200" cap="none" spc="0" normalizeH="0" baseline="0" noProof="0" dirty="0" smtClean="0">
                <a:ln>
                  <a:noFill/>
                </a:ln>
                <a:solidFill>
                  <a:srgbClr val="92D050"/>
                </a:solidFill>
                <a:effectLst/>
                <a:uLnTx/>
                <a:uFillTx/>
                <a:latin typeface="+mj-lt"/>
                <a:ea typeface="+mn-ea"/>
                <a:cs typeface="+mn-cs"/>
                <a:sym typeface="+mn-ea"/>
              </a:rPr>
              <a:t> </a:t>
            </a:r>
            <a:r>
              <a:rPr lang="en-US" altLang="zh-CN" sz="1800" i="1" noProof="0" dirty="0" smtClean="0">
                <a:ln>
                  <a:noFill/>
                </a:ln>
                <a:solidFill>
                  <a:srgbClr val="92D050"/>
                </a:solidFill>
                <a:effectLst/>
                <a:uLnTx/>
                <a:uFillTx/>
                <a:latin typeface="+mj-lt"/>
                <a:sym typeface="+mn-ea"/>
              </a:rPr>
              <a:t>MP</a:t>
            </a:r>
            <a:r>
              <a:rPr lang="en-US" altLang="zh-CN" sz="1800" baseline="-25000" noProof="0" dirty="0" smtClean="0">
                <a:ln>
                  <a:noFill/>
                </a:ln>
                <a:solidFill>
                  <a:srgbClr val="92D050"/>
                </a:solidFill>
                <a:effectLst/>
                <a:uLnTx/>
                <a:uFillTx/>
                <a:latin typeface="+mj-lt"/>
                <a:sym typeface="+mn-ea"/>
              </a:rPr>
              <a:t>1</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是由算法生成的乐汇。</a:t>
            </a:r>
            <a:endPar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1040130" y="2795905"/>
            <a:ext cx="2922905"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9) </a:t>
            </a:r>
            <a:r>
              <a:rPr lang="zh-CN" altLang="en-US" sz="2000" i="1" noProof="0" dirty="0" smtClean="0">
                <a:ln>
                  <a:noFill/>
                </a:ln>
                <a:effectLst/>
                <a:uLnTx/>
                <a:uFillTx/>
                <a:latin typeface="+mj-lt"/>
                <a:ea typeface="宋体" panose="02010600030101010101" pitchFamily="2" charset="-122"/>
                <a:sym typeface="+mn-ea"/>
              </a:rPr>
              <a:t>再现父乐汇</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altLang="zh-CN" sz="2000" noProof="0" dirty="0" smtClean="0">
                <a:ln>
                  <a:noFill/>
                </a:ln>
                <a:effectLst/>
                <a:uLnTx/>
                <a:uFillTx/>
                <a:sym typeface="+mn-ea"/>
              </a:rPr>
              <a:t>若算法生成的乐汇</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zh-CN" altLang="zh-CN" sz="2000" noProof="0" dirty="0" smtClean="0">
                <a:ln>
                  <a:noFill/>
                </a:ln>
                <a:effectLst/>
                <a:uLnTx/>
                <a:uFillTx/>
                <a:sym typeface="+mn-ea"/>
              </a:rPr>
              <a:t>被与乐汇</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zh-CN" altLang="zh-CN" sz="2000" noProof="0" dirty="0" smtClean="0">
                <a:ln>
                  <a:noFill/>
                </a:ln>
                <a:effectLst/>
                <a:uLnTx/>
                <a:uFillTx/>
                <a:sym typeface="+mn-ea"/>
              </a:rPr>
              <a:t>同类样板歌曲集中的某一乐汇</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Y</a:t>
            </a:r>
            <a:r>
              <a:rPr lang="en-US" altLang="zh-CN" sz="2000" noProof="0" smtClean="0">
                <a:ln>
                  <a:noFill/>
                </a:ln>
                <a:effectLst/>
                <a:uLnTx/>
                <a:uFillTx/>
                <a:latin typeface="+mj-lt"/>
                <a:sym typeface="+mn-ea"/>
              </a:rPr>
              <a:t> </a:t>
            </a:r>
            <a:r>
              <a:rPr lang="zh-CN" altLang="en-US" sz="2000" noProof="0" smtClean="0">
                <a:ln>
                  <a:noFill/>
                </a:ln>
                <a:effectLst/>
                <a:uLnTx/>
                <a:uFillTx/>
                <a:latin typeface="+mj-lt"/>
                <a:ea typeface="宋体" panose="02010600030101010101" pitchFamily="2" charset="-122"/>
                <a:sym typeface="+mn-ea"/>
              </a:rPr>
              <a:t>的某一部分</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y</a:t>
            </a:r>
            <a:r>
              <a:rPr lang="zh-CN" altLang="en-US" sz="2000" noProof="0" smtClean="0">
                <a:ln>
                  <a:noFill/>
                </a:ln>
                <a:effectLst/>
                <a:uLnTx/>
                <a:uFillTx/>
                <a:latin typeface="+mj-lt"/>
                <a:ea typeface="宋体" panose="02010600030101010101" pitchFamily="2" charset="-122"/>
                <a:sym typeface="+mn-ea"/>
              </a:rPr>
              <a:t>所包含</a:t>
            </a:r>
            <a:r>
              <a:rPr lang="en-US" altLang="zh-CN" sz="2000" noProof="0" smtClean="0">
                <a:ln>
                  <a:noFill/>
                </a:ln>
                <a:effectLst/>
                <a:uLnTx/>
                <a:uFillTx/>
                <a:latin typeface="+mj-lt"/>
                <a:sym typeface="+mn-ea"/>
              </a:rPr>
              <a:t>(</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Y</a:t>
            </a:r>
            <a:r>
              <a:rPr lang="en-US" altLang="zh-CN" sz="2000" noProof="0" smtClean="0">
                <a:ln>
                  <a:noFill/>
                </a:ln>
                <a:effectLst/>
                <a:uLnTx/>
                <a:uFillTx/>
                <a:latin typeface="+mj-lt"/>
                <a:sym typeface="+mn-ea"/>
              </a:rPr>
              <a:t>≠</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en-US" altLang="zh-CN" sz="2000" noProof="0" smtClean="0">
                <a:ln>
                  <a:noFill/>
                </a:ln>
                <a:effectLst/>
                <a:uLnTx/>
                <a:uFillTx/>
                <a:latin typeface="+mj-lt"/>
                <a:sym typeface="+mn-ea"/>
              </a:rPr>
              <a:t>) </a:t>
            </a:r>
            <a:r>
              <a:rPr lang="zh-CN" altLang="zh-CN" sz="2000" noProof="0" dirty="0" smtClean="0">
                <a:ln>
                  <a:noFill/>
                </a:ln>
                <a:effectLst/>
                <a:uLnTx/>
                <a:uFillTx/>
                <a:sym typeface="+mn-ea"/>
              </a:rPr>
              <a:t>，则称</a:t>
            </a:r>
            <a:r>
              <a:rPr lang="en-US" altLang="zh-CN" sz="2000" i="1" noProof="0" smtClean="0">
                <a:ln>
                  <a:noFill/>
                </a:ln>
                <a:effectLst/>
                <a:uLnTx/>
                <a:uFillTx/>
                <a:latin typeface="+mj-lt"/>
                <a:sym typeface="+mn-ea"/>
              </a:rPr>
              <a:t>MP</a:t>
            </a:r>
            <a:r>
              <a:rPr lang="en-US" altLang="zh-CN" sz="2000" i="1" baseline="-25000" noProof="0" smtClean="0">
                <a:ln>
                  <a:noFill/>
                </a:ln>
                <a:effectLst/>
                <a:uLnTx/>
                <a:uFillTx/>
                <a:latin typeface="+mj-lt"/>
                <a:sym typeface="+mn-ea"/>
              </a:rPr>
              <a:t>A</a:t>
            </a:r>
            <a:r>
              <a:rPr lang="zh-CN" altLang="zh-CN" sz="2000" noProof="0" dirty="0" smtClean="0">
                <a:ln>
                  <a:noFill/>
                </a:ln>
                <a:effectLst/>
                <a:uLnTx/>
                <a:uFillTx/>
                <a:sym typeface="+mn-ea"/>
              </a:rPr>
              <a:t>存在再现父乐汇</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en-US" altLang="zh-CN" sz="2000" b="0" i="1" u="none" strike="noStrike" kern="1200" cap="none" spc="0" normalizeH="0" noProof="0" smtClean="0">
                <a:ln>
                  <a:noFill/>
                </a:ln>
                <a:solidFill>
                  <a:schemeClr val="tx1"/>
                </a:solidFill>
                <a:effectLst/>
                <a:uLnTx/>
                <a:uFillTx/>
                <a:latin typeface="+mj-lt"/>
                <a:ea typeface="+mn-ea"/>
                <a:cs typeface="+mn-cs"/>
              </a:rPr>
              <a:t>MP</a:t>
            </a:r>
            <a:r>
              <a:rPr kumimoji="0" lang="en-US" altLang="zh-CN" sz="2000" b="0" i="1" u="none" strike="noStrike" kern="1200" cap="none" spc="0" normalizeH="0" baseline="-25000" noProof="0" smtClean="0">
                <a:ln>
                  <a:noFill/>
                </a:ln>
                <a:solidFill>
                  <a:schemeClr val="tx1"/>
                </a:solidFill>
                <a:effectLst/>
                <a:uLnTx/>
                <a:uFillTx/>
                <a:latin typeface="+mj-lt"/>
                <a:ea typeface="+mn-ea"/>
                <a:cs typeface="+mn-cs"/>
              </a:rPr>
              <a:t>Y</a:t>
            </a:r>
            <a:r>
              <a:rPr kumimoji="0" lang="en-US" altLang="zh-CN" sz="2000" b="0" u="none" strike="noStrike" kern="1200" cap="none" spc="0" normalizeH="0" noProof="0" smtClean="0">
                <a:ln>
                  <a:noFill/>
                </a:ln>
                <a:solidFill>
                  <a:schemeClr val="tx1"/>
                </a:solidFill>
                <a:effectLst/>
                <a:uLnTx/>
                <a:uFillTx/>
                <a:latin typeface="+mj-lt"/>
                <a:ea typeface="+mn-ea"/>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grpSp>
        <p:nvGrpSpPr>
          <p:cNvPr id="125956" name="组合 12"/>
          <p:cNvGrpSpPr/>
          <p:nvPr/>
        </p:nvGrpSpPr>
        <p:grpSpPr>
          <a:xfrm>
            <a:off x="3962420" y="2163763"/>
            <a:ext cx="5232679" cy="1770380"/>
            <a:chOff x="6126" y="6798"/>
            <a:chExt cx="8242" cy="2788"/>
          </a:xfrm>
        </p:grpSpPr>
        <p:pic>
          <p:nvPicPr>
            <p:cNvPr id="125957" name="图片 4"/>
            <p:cNvPicPr>
              <a:picLocks noChangeAspect="1"/>
            </p:cNvPicPr>
            <p:nvPr/>
          </p:nvPicPr>
          <p:blipFill>
            <a:blip r:embed="rId1"/>
            <a:stretch>
              <a:fillRect/>
            </a:stretch>
          </p:blipFill>
          <p:spPr>
            <a:xfrm>
              <a:off x="7635" y="7692"/>
              <a:ext cx="6581" cy="725"/>
            </a:xfrm>
            <a:prstGeom prst="rect">
              <a:avLst/>
            </a:prstGeom>
            <a:noFill/>
            <a:ln w="9525">
              <a:noFill/>
            </a:ln>
          </p:spPr>
        </p:pic>
        <p:sp>
          <p:nvSpPr>
            <p:cNvPr id="125958" name="圆角矩形标注 5"/>
            <p:cNvSpPr/>
            <p:nvPr/>
          </p:nvSpPr>
          <p:spPr>
            <a:xfrm>
              <a:off x="8661" y="7616"/>
              <a:ext cx="4626" cy="1238"/>
            </a:xfrm>
            <a:prstGeom prst="wedgeRoundRectCallout">
              <a:avLst>
                <a:gd name="adj1" fmla="val -20833"/>
                <a:gd name="adj2" fmla="val 62500"/>
                <a:gd name="adj3" fmla="val 16667"/>
              </a:avLst>
            </a:prstGeom>
            <a:noFill/>
            <a:ln w="28575" cap="flat" cmpd="sng">
              <a:solidFill>
                <a:srgbClr val="FF000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25959" name="圆角矩形标注 7"/>
            <p:cNvSpPr/>
            <p:nvPr/>
          </p:nvSpPr>
          <p:spPr>
            <a:xfrm flipV="1">
              <a:off x="8833" y="7507"/>
              <a:ext cx="796" cy="1085"/>
            </a:xfrm>
            <a:prstGeom prst="wedgeRoundRectCallout">
              <a:avLst>
                <a:gd name="adj1" fmla="val -20833"/>
                <a:gd name="adj2" fmla="val 62500"/>
                <a:gd name="adj3" fmla="val 16667"/>
              </a:avLst>
            </a:prstGeom>
            <a:noFill/>
            <a:ln w="28575" cap="flat" cmpd="sng">
              <a:solidFill>
                <a:srgbClr val="00B0F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9" name="矩形 41"/>
            <p:cNvSpPr>
              <a:spLocks noChangeArrowheads="1"/>
            </p:cNvSpPr>
            <p:nvPr/>
          </p:nvSpPr>
          <p:spPr bwMode="auto">
            <a:xfrm>
              <a:off x="8662" y="6798"/>
              <a:ext cx="3025"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altLang="zh-CN" sz="1800" strike="noStrike" noProof="0" dirty="0" smtClean="0">
                  <a:ln>
                    <a:noFill/>
                  </a:ln>
                  <a:effectLst/>
                  <a:uLnTx/>
                  <a:uFillTx/>
                  <a:latin typeface="+mj-lt"/>
                  <a:ea typeface="+mn-ea"/>
                  <a:cs typeface="+mn-cs"/>
                  <a:sym typeface="+mn-ea"/>
                </a:rPr>
                <a:t>E</a:t>
              </a:r>
              <a:r>
                <a:rPr lang="zh-CN" altLang="en-US" sz="1800" strike="noStrike" noProof="0" dirty="0" smtClean="0">
                  <a:ln>
                    <a:noFill/>
                  </a:ln>
                  <a:effectLst/>
                  <a:uLnTx/>
                  <a:uFillTx/>
                  <a:latin typeface="+mj-lt"/>
                  <a:ea typeface="宋体" panose="02010600030101010101" pitchFamily="2" charset="-122"/>
                  <a:cs typeface="+mn-cs"/>
                  <a:sym typeface="+mn-ea"/>
                </a:rPr>
                <a:t>调的</a:t>
              </a:r>
              <a:r>
                <a:rPr lang="en-US" altLang="zh-CN" sz="1800" i="1" noProof="0" smtClean="0">
                  <a:ln>
                    <a:noFill/>
                  </a:ln>
                  <a:solidFill>
                    <a:srgbClr val="00B0F0"/>
                  </a:solidFill>
                  <a:effectLst/>
                  <a:uLnTx/>
                  <a:uFillTx/>
                  <a:latin typeface="+mj-lt"/>
                  <a:sym typeface="+mn-ea"/>
                </a:rPr>
                <a:t>MP</a:t>
              </a:r>
              <a:r>
                <a:rPr lang="en-US" altLang="zh-CN" sz="1800" i="1" baseline="-25000" noProof="0" smtClean="0">
                  <a:ln>
                    <a:noFill/>
                  </a:ln>
                  <a:solidFill>
                    <a:srgbClr val="00B0F0"/>
                  </a:solidFill>
                  <a:effectLst/>
                  <a:uLnTx/>
                  <a:uFillTx/>
                  <a:latin typeface="+mj-lt"/>
                  <a:sym typeface="+mn-ea"/>
                </a:rPr>
                <a:t>y</a:t>
              </a:r>
              <a:r>
                <a:rPr lang="zh-CN" altLang="en-US" sz="1800" strike="noStrike" noProof="0" dirty="0" smtClean="0">
                  <a:ln>
                    <a:noFill/>
                  </a:ln>
                  <a:effectLst/>
                  <a:uLnTx/>
                  <a:uFillTx/>
                  <a:latin typeface="+mj-lt"/>
                  <a:ea typeface="宋体" panose="02010600030101010101" pitchFamily="2" charset="-122"/>
                  <a:cs typeface="+mn-cs"/>
                  <a:sym typeface="+mn-ea"/>
                </a:rPr>
                <a:t>。</a:t>
              </a:r>
              <a:endParaRPr kumimoji="0" lang="zh-CN" altLang="en-US" sz="1800" b="0" i="0" u="none" strike="noStrike" kern="1200" cap="none" spc="0" normalizeH="0" baseline="0" noProof="0" dirty="0" smtClean="0">
                <a:ln>
                  <a:noFill/>
                </a:ln>
                <a:solidFill>
                  <a:srgbClr val="92D050"/>
                </a:solidFill>
                <a:effectLst/>
                <a:uLnTx/>
                <a:uFillTx/>
                <a:latin typeface="+mj-lt"/>
                <a:ea typeface="宋体" panose="02010600030101010101" pitchFamily="2" charset="-122"/>
                <a:cs typeface="+mn-cs"/>
                <a:sym typeface="+mn-ea"/>
              </a:endParaRPr>
            </a:p>
          </p:txBody>
        </p:sp>
        <p:sp>
          <p:nvSpPr>
            <p:cNvPr id="21" name="矩形 41"/>
            <p:cNvSpPr>
              <a:spLocks noChangeArrowheads="1"/>
            </p:cNvSpPr>
            <p:nvPr/>
          </p:nvSpPr>
          <p:spPr bwMode="auto">
            <a:xfrm>
              <a:off x="6126" y="9006"/>
              <a:ext cx="8242"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dirty="0" smtClean="0">
                  <a:ln>
                    <a:noFill/>
                  </a:ln>
                  <a:solidFill>
                    <a:srgbClr val="FF0000"/>
                  </a:solidFill>
                  <a:effectLst/>
                  <a:uLnTx/>
                  <a:uFillTx/>
                  <a:latin typeface="+mj-lt"/>
                  <a:ea typeface="+mn-ea"/>
                  <a:cs typeface="+mn-cs"/>
                  <a:sym typeface="+mn-ea"/>
                </a:rPr>
                <a:t>MP</a:t>
              </a:r>
              <a:r>
                <a:rPr kumimoji="0" lang="en-US" altLang="zh-CN" sz="1800" b="0" i="1" u="none" strike="noStrike" kern="1200" cap="none" spc="0" normalizeH="0" baseline="-25000" noProof="0" dirty="0" smtClean="0">
                  <a:ln>
                    <a:noFill/>
                  </a:ln>
                  <a:solidFill>
                    <a:srgbClr val="FF0000"/>
                  </a:solidFill>
                  <a:effectLst/>
                  <a:uLnTx/>
                  <a:uFillTx/>
                  <a:latin typeface="+mj-lt"/>
                  <a:ea typeface="+mn-ea"/>
                  <a:cs typeface="+mn-cs"/>
                  <a:sym typeface="+mn-ea"/>
                </a:rPr>
                <a:t>Y</a:t>
              </a:r>
              <a:r>
                <a:rPr kumimoji="0" lang="en-US" altLang="zh-CN" sz="18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a:t>
              </a:r>
              <a:r>
                <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E</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调且与</a:t>
              </a:r>
              <a:r>
                <a:rPr lang="en-US" altLang="zh-CN" sz="1800" i="1" noProof="0" dirty="0" smtClean="0">
                  <a:ln>
                    <a:noFill/>
                  </a:ln>
                  <a:solidFill>
                    <a:srgbClr val="92D050"/>
                  </a:solidFill>
                  <a:effectLst/>
                  <a:uLnTx/>
                  <a:uFillTx/>
                  <a:latin typeface="+mj-lt"/>
                  <a:sym typeface="+mn-ea"/>
                </a:rPr>
                <a:t>MP</a:t>
              </a:r>
              <a:r>
                <a:rPr lang="en-US" altLang="zh-CN" sz="1800" i="1" baseline="-25000" noProof="0" dirty="0" smtClean="0">
                  <a:ln>
                    <a:noFill/>
                  </a:ln>
                  <a:solidFill>
                    <a:srgbClr val="92D050"/>
                  </a:solidFill>
                  <a:effectLst/>
                  <a:uLnTx/>
                  <a:uFillTx/>
                  <a:latin typeface="+mj-lt"/>
                  <a:sym typeface="+mn-ea"/>
                </a:rPr>
                <a:t>A</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同类样板歌曲集的某一乐汇。</a:t>
              </a:r>
              <a:endPar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grpSp>
      <p:grpSp>
        <p:nvGrpSpPr>
          <p:cNvPr id="125962" name="组合 9"/>
          <p:cNvGrpSpPr/>
          <p:nvPr/>
        </p:nvGrpSpPr>
        <p:grpSpPr>
          <a:xfrm>
            <a:off x="4759325" y="4098925"/>
            <a:ext cx="4383088" cy="2332774"/>
            <a:chOff x="588" y="6999"/>
            <a:chExt cx="6902" cy="3676"/>
          </a:xfrm>
        </p:grpSpPr>
        <p:pic>
          <p:nvPicPr>
            <p:cNvPr id="125963" name="图片 5"/>
            <p:cNvPicPr>
              <a:picLocks noChangeAspect="1"/>
            </p:cNvPicPr>
            <p:nvPr/>
          </p:nvPicPr>
          <p:blipFill>
            <a:blip r:embed="rId2"/>
            <a:stretch>
              <a:fillRect/>
            </a:stretch>
          </p:blipFill>
          <p:spPr>
            <a:xfrm>
              <a:off x="588" y="8350"/>
              <a:ext cx="6404" cy="817"/>
            </a:xfrm>
            <a:prstGeom prst="rect">
              <a:avLst/>
            </a:prstGeom>
            <a:noFill/>
            <a:ln w="9525">
              <a:noFill/>
            </a:ln>
          </p:spPr>
        </p:pic>
        <p:sp>
          <p:nvSpPr>
            <p:cNvPr id="125964" name="圆角矩形标注 6"/>
            <p:cNvSpPr/>
            <p:nvPr/>
          </p:nvSpPr>
          <p:spPr>
            <a:xfrm flipV="1">
              <a:off x="1466" y="8133"/>
              <a:ext cx="904" cy="1117"/>
            </a:xfrm>
            <a:prstGeom prst="wedgeRoundRectCallout">
              <a:avLst>
                <a:gd name="adj1" fmla="val 118454"/>
                <a:gd name="adj2" fmla="val -85153"/>
                <a:gd name="adj3" fmla="val 16667"/>
              </a:avLst>
            </a:prstGeom>
            <a:noFill/>
            <a:ln w="28575" cap="flat" cmpd="sng">
              <a:solidFill>
                <a:srgbClr val="92D050"/>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cxnSp>
          <p:nvCxnSpPr>
            <p:cNvPr id="125965" name="直接箭头连接符 16"/>
            <p:cNvCxnSpPr/>
            <p:nvPr/>
          </p:nvCxnSpPr>
          <p:spPr>
            <a:xfrm>
              <a:off x="1441" y="7430"/>
              <a:ext cx="216" cy="637"/>
            </a:xfrm>
            <a:prstGeom prst="straightConnector1">
              <a:avLst/>
            </a:prstGeom>
            <a:ln w="28575" cap="flat" cmpd="sng">
              <a:solidFill>
                <a:srgbClr val="92D050"/>
              </a:solidFill>
              <a:prstDash val="solid"/>
              <a:round/>
              <a:headEnd type="none" w="med" len="med"/>
              <a:tailEnd type="arrow" w="med" len="med"/>
            </a:ln>
          </p:spPr>
        </p:cxnSp>
        <p:sp>
          <p:nvSpPr>
            <p:cNvPr id="20" name="矩形 41"/>
            <p:cNvSpPr>
              <a:spLocks noChangeArrowheads="1"/>
            </p:cNvSpPr>
            <p:nvPr/>
          </p:nvSpPr>
          <p:spPr bwMode="auto">
            <a:xfrm>
              <a:off x="1098" y="6999"/>
              <a:ext cx="6392"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rgbClr val="92D050"/>
                  </a:solidFill>
                  <a:effectLst/>
                  <a:uLnTx/>
                  <a:uFillTx/>
                  <a:latin typeface="+mj-lt"/>
                  <a:ea typeface="+mn-ea"/>
                  <a:cs typeface="+mn-cs"/>
                  <a:sym typeface="+mn-ea"/>
                </a:rPr>
                <a:t> </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由算法生成的</a:t>
              </a:r>
              <a:r>
                <a:rPr lang="en-US" altLang="zh-CN" sz="1800" i="1" noProof="0" dirty="0" smtClean="0">
                  <a:ln>
                    <a:noFill/>
                  </a:ln>
                  <a:solidFill>
                    <a:srgbClr val="92D050"/>
                  </a:solidFill>
                  <a:effectLst/>
                  <a:uLnTx/>
                  <a:uFillTx/>
                  <a:latin typeface="+mj-lt"/>
                  <a:sym typeface="+mn-ea"/>
                </a:rPr>
                <a:t>MP</a:t>
              </a:r>
              <a:r>
                <a:rPr lang="en-US" altLang="zh-CN" sz="1800" i="1" baseline="-25000" noProof="0" dirty="0" smtClean="0">
                  <a:ln>
                    <a:noFill/>
                  </a:ln>
                  <a:solidFill>
                    <a:srgbClr val="92D050"/>
                  </a:solidFill>
                  <a:effectLst/>
                  <a:uLnTx/>
                  <a:uFillTx/>
                  <a:latin typeface="+mj-lt"/>
                  <a:sym typeface="+mn-ea"/>
                </a:rPr>
                <a:t>A</a:t>
              </a:r>
              <a:r>
                <a:rPr lang="en-US" altLang="zh-CN" sz="1800" noProof="0" dirty="0" smtClean="0">
                  <a:ln>
                    <a:noFill/>
                  </a:ln>
                  <a:solidFill>
                    <a:srgbClr val="92D050"/>
                  </a:solidFill>
                  <a:effectLst/>
                  <a:uLnTx/>
                  <a:uFillTx/>
                  <a:latin typeface="+mj-lt"/>
                  <a:sym typeface="+mn-ea"/>
                </a:rPr>
                <a:t> (</a:t>
              </a:r>
              <a:r>
                <a:rPr lang="en-US" altLang="zh-CN" sz="1800" noProof="0" dirty="0" smtClean="0">
                  <a:ln>
                    <a:noFill/>
                  </a:ln>
                  <a:effectLst/>
                  <a:uLnTx/>
                  <a:uFillTx/>
                  <a:latin typeface="+mj-lt"/>
                  <a:ea typeface="宋体" panose="02010600030101010101" pitchFamily="2" charset="-122"/>
                  <a:sym typeface="+mn-ea"/>
                </a:rPr>
                <a:t>G</a:t>
              </a:r>
              <a:r>
                <a:rPr lang="zh-CN" altLang="en-US" sz="1800" noProof="0" dirty="0" smtClean="0">
                  <a:ln>
                    <a:noFill/>
                  </a:ln>
                  <a:effectLst/>
                  <a:uLnTx/>
                  <a:uFillTx/>
                  <a:latin typeface="+mj-lt"/>
                  <a:ea typeface="宋体" panose="02010600030101010101" pitchFamily="2" charset="-122"/>
                  <a:sym typeface="+mn-ea"/>
                </a:rPr>
                <a:t>调的</a:t>
              </a:r>
              <a:r>
                <a:rPr lang="en-US" altLang="zh-CN" sz="1800" i="1" noProof="0" smtClean="0">
                  <a:ln>
                    <a:noFill/>
                  </a:ln>
                  <a:solidFill>
                    <a:srgbClr val="00B0F0"/>
                  </a:solidFill>
                  <a:effectLst/>
                  <a:uLnTx/>
                  <a:uFillTx/>
                  <a:latin typeface="+mj-lt"/>
                  <a:sym typeface="+mn-ea"/>
                </a:rPr>
                <a:t>MP</a:t>
              </a:r>
              <a:r>
                <a:rPr lang="en-US" altLang="zh-CN" sz="1800" i="1" baseline="-25000" noProof="0" smtClean="0">
                  <a:ln>
                    <a:noFill/>
                  </a:ln>
                  <a:solidFill>
                    <a:srgbClr val="00B0F0"/>
                  </a:solidFill>
                  <a:effectLst/>
                  <a:uLnTx/>
                  <a:uFillTx/>
                  <a:latin typeface="+mj-lt"/>
                  <a:sym typeface="+mn-ea"/>
                </a:rPr>
                <a:t>y </a:t>
              </a:r>
              <a:r>
                <a:rPr lang="en-US" altLang="zh-CN" sz="1800" noProof="0" dirty="0" smtClean="0">
                  <a:ln>
                    <a:noFill/>
                  </a:ln>
                  <a:solidFill>
                    <a:srgbClr val="92D050"/>
                  </a:solidFill>
                  <a:effectLst/>
                  <a:uLnTx/>
                  <a:uFillTx/>
                  <a:latin typeface="+mj-lt"/>
                  <a:sym typeface="+mn-ea"/>
                </a:rPr>
                <a:t>)</a:t>
              </a:r>
              <a:endPar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8" name="矩形 41"/>
            <p:cNvSpPr>
              <a:spLocks noChangeArrowheads="1"/>
            </p:cNvSpPr>
            <p:nvPr/>
          </p:nvSpPr>
          <p:spPr bwMode="auto">
            <a:xfrm>
              <a:off x="692" y="9658"/>
              <a:ext cx="6300" cy="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假设乐汇</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sym typeface="+mn-ea"/>
                </a:rPr>
                <a:t> </a:t>
              </a:r>
              <a:r>
                <a:rPr lang="en-US" altLang="zh-CN" sz="1800" i="1" strike="noStrike" noProof="0" dirty="0" smtClean="0">
                  <a:ln>
                    <a:noFill/>
                  </a:ln>
                  <a:solidFill>
                    <a:srgbClr val="92D050"/>
                  </a:solidFill>
                  <a:effectLst/>
                  <a:uLnTx/>
                  <a:uFillTx/>
                  <a:latin typeface="+mj-lt"/>
                  <a:ea typeface="+mn-ea"/>
                  <a:cs typeface="+mn-cs"/>
                  <a:sym typeface="+mn-ea"/>
                </a:rPr>
                <a:t>MP</a:t>
              </a:r>
              <a:r>
                <a:rPr lang="en-US" altLang="zh-CN" sz="1800" i="1" strike="noStrike" baseline="-25000" noProof="0" dirty="0" smtClean="0">
                  <a:ln>
                    <a:noFill/>
                  </a:ln>
                  <a:solidFill>
                    <a:srgbClr val="92D050"/>
                  </a:solidFill>
                  <a:effectLst/>
                  <a:uLnTx/>
                  <a:uFillTx/>
                  <a:latin typeface="+mj-lt"/>
                  <a:ea typeface="+mn-ea"/>
                  <a:cs typeface="+mn-cs"/>
                  <a:sym typeface="+mn-ea"/>
                </a:rPr>
                <a:t>A</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sym typeface="+mn-ea"/>
                </a:rPr>
                <a:t>(</a:t>
              </a:r>
              <a:r>
                <a:rPr kumimoji="0" lang="en-US" altLang="zh-CN"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G</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调的</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sym typeface="+mn-ea"/>
                </a:rPr>
                <a:t> </a:t>
              </a:r>
              <a:r>
                <a:rPr lang="en-US" altLang="zh-CN" sz="1800" i="1" strike="noStrike" noProof="0" dirty="0" smtClean="0">
                  <a:ln>
                    <a:noFill/>
                  </a:ln>
                  <a:solidFill>
                    <a:srgbClr val="00B0F0"/>
                  </a:solidFill>
                  <a:effectLst/>
                  <a:uLnTx/>
                  <a:uFillTx/>
                  <a:latin typeface="+mj-lt"/>
                  <a:ea typeface="+mn-ea"/>
                  <a:cs typeface="+mn-cs"/>
                  <a:sym typeface="+mn-ea"/>
                </a:rPr>
                <a:t>MP</a:t>
              </a:r>
              <a:r>
                <a:rPr lang="en-US" altLang="zh-CN" sz="1800" i="1" strike="noStrike" baseline="-25000" noProof="0" dirty="0" smtClean="0">
                  <a:ln>
                    <a:noFill/>
                  </a:ln>
                  <a:solidFill>
                    <a:srgbClr val="00B0F0"/>
                  </a:solidFill>
                  <a:effectLst/>
                  <a:uLnTx/>
                  <a:uFillTx/>
                  <a:latin typeface="+mj-lt"/>
                  <a:ea typeface="+mn-ea"/>
                  <a:cs typeface="+mn-cs"/>
                  <a:sym typeface="+mn-ea"/>
                </a:rPr>
                <a:t>y</a:t>
              </a:r>
              <a:r>
                <a:rPr lang="en-US" altLang="zh-CN" sz="1800" strike="noStrike" noProof="0" dirty="0" smtClean="0">
                  <a:ln>
                    <a:noFill/>
                  </a:ln>
                  <a:solidFill>
                    <a:srgbClr val="92D050"/>
                  </a:solidFill>
                  <a:effectLst/>
                  <a:uLnTx/>
                  <a:uFillTx/>
                  <a:latin typeface="+mj-lt"/>
                  <a:ea typeface="+mn-ea"/>
                  <a:cs typeface="+mn-cs"/>
                  <a:sym typeface="+mn-ea"/>
                </a:rPr>
                <a:t> </a:t>
              </a:r>
              <a:r>
                <a:rPr lang="en-US" altLang="zh-CN" sz="1800" strike="noStrike" noProof="0" dirty="0" smtClean="0">
                  <a:ln>
                    <a:noFill/>
                  </a:ln>
                  <a:effectLst/>
                  <a:uLnTx/>
                  <a:uFillTx/>
                  <a:latin typeface="+mj-lt"/>
                  <a:ea typeface="+mn-ea"/>
                  <a:cs typeface="+mn-cs"/>
                  <a:sym typeface="+mn-ea"/>
                </a:rPr>
                <a:t> </a:t>
              </a:r>
              <a:r>
                <a:rPr kumimoji="0" lang="en-US" altLang="zh-CN" sz="1800" b="0" i="0" u="none" strike="noStrike" kern="1200" cap="none" spc="0" normalizeH="0" baseline="0" noProof="0" dirty="0" smtClean="0">
                  <a:ln>
                    <a:noFill/>
                  </a:ln>
                  <a:solidFill>
                    <a:schemeClr val="tx1"/>
                  </a:solidFill>
                  <a:effectLst/>
                  <a:uLnTx/>
                  <a:uFillTx/>
                  <a:latin typeface="+mj-lt"/>
                  <a:ea typeface="+mn-ea"/>
                  <a:cs typeface="+mn-cs"/>
                  <a:sym typeface="+mn-ea"/>
                </a:rPr>
                <a:t>) </a:t>
              </a:r>
              <a:r>
                <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rPr>
                <a:t>是由算法生成的。</a:t>
              </a:r>
              <a:endParaRPr kumimoji="0" lang="zh-CN" altLang="en-US" sz="18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grpSp>
      <p:sp>
        <p:nvSpPr>
          <p:cNvPr id="6" name="Rectangle 2"/>
          <p:cNvSpPr>
            <a:spLocks noGrp="1"/>
          </p:cNvSpPr>
          <p:nvPr/>
        </p:nvSpPr>
        <p:spPr>
          <a:xfrm>
            <a:off x="224790" y="640080"/>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5415" y="2112010"/>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1040130" y="2795905"/>
            <a:ext cx="7301865" cy="129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10) </a:t>
            </a:r>
            <a:r>
              <a:rPr kumimoji="0" lang="zh-CN" altLang="en-US" sz="2000" b="0" i="1"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rPr>
              <a:t>首现乐汇</a:t>
            </a:r>
            <a:r>
              <a:rPr kumimoji="0" lang="en-US" altLang="zh-CN" sz="2000" b="0" i="0" u="none" strike="noStrike" kern="1200" cap="none" spc="0" normalizeH="0" baseline="0" noProof="0" dirty="0" smtClean="0">
                <a:ln>
                  <a:noFill/>
                </a:ln>
                <a:solidFill>
                  <a:schemeClr val="tx1"/>
                </a:solidFill>
                <a:effectLst/>
                <a:uLnTx/>
                <a:uFillTx/>
                <a:latin typeface="+mj-lt"/>
                <a:ea typeface="+mn-ea"/>
                <a:cs typeface="+mn-cs"/>
              </a:rPr>
              <a:t>:</a:t>
            </a:r>
            <a:r>
              <a:rPr kumimoji="0" lang="en-US"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endPar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若出现在算法生成的歌曲中的某一乐汇既不存在再现乐汇，也不存在再现子乐汇与再现父乐汇，则称该乐汇为首现乐汇。</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sp>
        <p:nvSpPr>
          <p:cNvPr id="6" name="Rectangle 2"/>
          <p:cNvSpPr>
            <a:spLocks noGrp="1"/>
          </p:cNvSpPr>
          <p:nvPr/>
        </p:nvSpPr>
        <p:spPr>
          <a:xfrm>
            <a:off x="224790" y="640080"/>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5415" y="2112010"/>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3" name="Rectangle 2"/>
          <p:cNvSpPr>
            <a:spLocks noGrp="1"/>
          </p:cNvSpPr>
          <p:nvPr/>
        </p:nvSpPr>
        <p:spPr>
          <a:xfrm>
            <a:off x="216535"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4" name="Rectangle 3"/>
          <p:cNvSpPr txBox="1"/>
          <p:nvPr/>
        </p:nvSpPr>
        <p:spPr>
          <a:xfrm>
            <a:off x="13716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1040130" y="2795905"/>
            <a:ext cx="756412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于是</a:t>
            </a:r>
            <a:r>
              <a:rPr kumimoji="0" lang="zh-CN"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，在指定的表达情感、节拍、速度范围下，可以通过下面的公式</a:t>
            </a:r>
            <a:r>
              <a:rPr kumimoji="0" sz="2000" b="0" u="none" strike="noStrike" kern="1200" cap="none" spc="0" normalizeH="0" noProof="0" smtClean="0">
                <a:ln>
                  <a:noFill/>
                </a:ln>
                <a:solidFill>
                  <a:schemeClr val="tx1"/>
                </a:solidFill>
                <a:effectLst/>
                <a:uLnTx/>
                <a:uFillTx/>
                <a:latin typeface="+mj-lt"/>
                <a:ea typeface="+mn-ea"/>
                <a:cs typeface="+mn-cs"/>
              </a:rPr>
              <a:t> (1)~(4)</a:t>
            </a:r>
            <a:r>
              <a:rPr kumimoji="0" lang="zh-CN"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来统计由算法生成的旋律如下几个特性的概率</a:t>
            </a:r>
            <a:r>
              <a:rPr kumimoji="0" sz="2000" b="0" u="none" strike="noStrike" kern="1200" cap="none" spc="0" normalizeH="0" noProof="0" smtClean="0">
                <a:ln>
                  <a:noFill/>
                </a:ln>
                <a:solidFill>
                  <a:schemeClr val="tx1"/>
                </a:solidFill>
                <a:effectLst/>
                <a:uLnTx/>
                <a:uFillTx/>
                <a:latin typeface="+mj-lt"/>
                <a:ea typeface="+mn-ea"/>
                <a:cs typeface="+mn-cs"/>
              </a:rPr>
              <a:t>:</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endParaRPr>
          </a:p>
        </p:txBody>
      </p:sp>
      <p:graphicFrame>
        <p:nvGraphicFramePr>
          <p:cNvPr id="130052"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86" name="" r:id="rId1" imgW="254000" imgH="177165" progId="Equation.KSEE3">
                  <p:embed/>
                </p:oleObj>
              </mc:Choice>
              <mc:Fallback>
                <p:oleObj name="" r:id="rId1" imgW="254000" imgH="177165" progId="Equation.KSEE3">
                  <p:embed/>
                  <p:pic>
                    <p:nvPicPr>
                      <p:cNvPr id="0" name="图片 3085"/>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pic>
        <p:nvPicPr>
          <p:cNvPr id="130053" name="图片 2"/>
          <p:cNvPicPr>
            <a:picLocks noChangeAspect="1"/>
          </p:cNvPicPr>
          <p:nvPr/>
        </p:nvPicPr>
        <p:blipFill>
          <a:blip r:embed="rId3"/>
          <a:stretch>
            <a:fillRect/>
          </a:stretch>
        </p:blipFill>
        <p:spPr>
          <a:xfrm>
            <a:off x="375285" y="3625850"/>
            <a:ext cx="8579485" cy="2753360"/>
          </a:xfrm>
          <a:prstGeom prst="rect">
            <a:avLst/>
          </a:prstGeom>
          <a:noFill/>
          <a:ln w="9525">
            <a:noFill/>
          </a:ln>
        </p:spPr>
      </p:pic>
      <p:sp>
        <p:nvSpPr>
          <p:cNvPr id="3" name="Rectangle 2"/>
          <p:cNvSpPr>
            <a:spLocks noGrp="1"/>
          </p:cNvSpPr>
          <p:nvPr/>
        </p:nvSpPr>
        <p:spPr>
          <a:xfrm>
            <a:off x="216535"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4" name="Rectangle 3"/>
          <p:cNvSpPr txBox="1"/>
          <p:nvPr/>
        </p:nvSpPr>
        <p:spPr>
          <a:xfrm>
            <a:off x="13716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2100"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87" name="" r:id="rId1" imgW="254000" imgH="177165" progId="Equation.KSEE3">
                  <p:embed/>
                </p:oleObj>
              </mc:Choice>
              <mc:Fallback>
                <p:oleObj name="" r:id="rId1" imgW="254000" imgH="177165" progId="Equation.KSEE3">
                  <p:embed/>
                  <p:pic>
                    <p:nvPicPr>
                      <p:cNvPr id="0" name="图片 3086"/>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graphicFrame>
        <p:nvGraphicFramePr>
          <p:cNvPr id="132102" name="对象 3">
            <a:hlinkClick r:id="" action="ppaction://ole?verb="/>
          </p:cNvPr>
          <p:cNvGraphicFramePr>
            <a:graphicFrameLocks noChangeAspect="1"/>
          </p:cNvGraphicFramePr>
          <p:nvPr/>
        </p:nvGraphicFramePr>
        <p:xfrm>
          <a:off x="4425950" y="3302000"/>
          <a:ext cx="292100" cy="254000"/>
        </p:xfrm>
        <a:graphic>
          <a:graphicData uri="http://schemas.openxmlformats.org/presentationml/2006/ole">
            <mc:AlternateContent xmlns:mc="http://schemas.openxmlformats.org/markup-compatibility/2006">
              <mc:Choice xmlns:v="urn:schemas-microsoft-com:vml" Requires="v">
                <p:oleObj spid="_x0000_s3085" name="" r:id="rId3" imgW="292100" imgH="254000" progId="Equation.KSEE3">
                  <p:embed/>
                </p:oleObj>
              </mc:Choice>
              <mc:Fallback>
                <p:oleObj name="" r:id="rId3" imgW="292100" imgH="254000" progId="Equation.KSEE3">
                  <p:embed/>
                  <p:pic>
                    <p:nvPicPr>
                      <p:cNvPr id="0" name="图片 3084"/>
                      <p:cNvPicPr/>
                      <p:nvPr/>
                    </p:nvPicPr>
                    <p:blipFill>
                      <a:blip r:embed="rId4"/>
                      <a:stretch>
                        <a:fillRect/>
                      </a:stretch>
                    </p:blipFill>
                    <p:spPr>
                      <a:xfrm>
                        <a:off x="4425950" y="3302000"/>
                        <a:ext cx="292100" cy="254000"/>
                      </a:xfrm>
                      <a:prstGeom prst="rect">
                        <a:avLst/>
                      </a:prstGeom>
                      <a:noFill/>
                      <a:ln w="38100">
                        <a:noFill/>
                        <a:miter/>
                      </a:ln>
                    </p:spPr>
                  </p:pic>
                </p:oleObj>
              </mc:Fallback>
            </mc:AlternateContent>
          </a:graphicData>
        </a:graphic>
      </p:graphicFrame>
      <p:sp>
        <p:nvSpPr>
          <p:cNvPr id="3" name="Rectangle 2"/>
          <p:cNvSpPr>
            <a:spLocks noGrp="1"/>
          </p:cNvSpPr>
          <p:nvPr/>
        </p:nvSpPr>
        <p:spPr>
          <a:xfrm>
            <a:off x="216535"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4" name="Rectangle 3"/>
          <p:cNvSpPr txBox="1"/>
          <p:nvPr/>
        </p:nvSpPr>
        <p:spPr>
          <a:xfrm>
            <a:off x="13716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5"/>
          <a:stretch>
            <a:fillRect/>
          </a:stretch>
        </p:blipFill>
        <p:spPr>
          <a:xfrm>
            <a:off x="970280" y="2798445"/>
            <a:ext cx="6997065" cy="3754755"/>
          </a:xfrm>
          <a:prstGeom prst="rect">
            <a:avLst/>
          </a:prstGeom>
        </p:spPr>
      </p:pic>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681038" y="2795588"/>
            <a:ext cx="792321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4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sz="2400" b="0" u="none" strike="noStrike" cap="none" spc="0" normalizeH="0">
                <a:cs typeface="+mn-cs"/>
              </a:rPr>
              <a:t>在指定的表达情感、节拍及速度范围下，再现乐汇、再现乐汇节奏与再现乐汇音级序列(旋律线)的规范率越高，表示它们出现在收集到的同类样板歌曲中的频度就越高。这意味着这样乐汇的节奏或旋律线在同类样板歌曲中具有较高的出现率，它们较易于被听众接受。局部上具有良好的规范性，从而美感度较好。</a:t>
            </a:r>
            <a:endParaRPr kumimoji="0" sz="2400" b="0" u="none" strike="noStrike" cap="none" spc="0" normalizeH="0">
              <a:cs typeface="+mn-cs"/>
            </a:endParaRPr>
          </a:p>
        </p:txBody>
      </p:sp>
      <p:graphicFrame>
        <p:nvGraphicFramePr>
          <p:cNvPr id="140292"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93" name="" r:id="rId1" imgW="254000" imgH="177165" progId="Equation.KSEE3">
                  <p:embed/>
                </p:oleObj>
              </mc:Choice>
              <mc:Fallback>
                <p:oleObj name="" r:id="rId1" imgW="254000" imgH="177165" progId="Equation.KSEE3">
                  <p:embed/>
                  <p:pic>
                    <p:nvPicPr>
                      <p:cNvPr id="0" name="图片 3092"/>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3" name="Rectangle 2"/>
          <p:cNvSpPr>
            <a:spLocks noGrp="1"/>
          </p:cNvSpPr>
          <p:nvPr/>
        </p:nvSpPr>
        <p:spPr>
          <a:xfrm>
            <a:off x="216535"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4" name="Rectangle 3"/>
          <p:cNvSpPr txBox="1"/>
          <p:nvPr/>
        </p:nvSpPr>
        <p:spPr>
          <a:xfrm>
            <a:off x="13716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6" name="Rectangle 3"/>
          <p:cNvSpPr txBox="1"/>
          <p:nvPr/>
        </p:nvSpPr>
        <p:spPr>
          <a:xfrm>
            <a:off x="141605"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681038" y="2795588"/>
            <a:ext cx="7923213"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4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而</a:t>
            </a:r>
            <a:r>
              <a:rPr sz="2400">
                <a:sym typeface="+mn-ea"/>
              </a:rPr>
              <a:t>歌曲中乐汇的首现乐汇再现率体现出歌曲的创新性。于是，我们可以通过下面的式</a:t>
            </a:r>
            <a:r>
              <a:rPr lang="en-US" sz="2400">
                <a:latin typeface="Times New Roman" panose="02020603050405020304" pitchFamily="18" charset="0"/>
                <a:cs typeface="Times New Roman" panose="02020603050405020304" pitchFamily="18" charset="0"/>
                <a:sym typeface="+mn-ea"/>
              </a:rPr>
              <a:t>(2-5)</a:t>
            </a:r>
            <a:r>
              <a:rPr sz="2400">
                <a:sym typeface="+mn-ea"/>
              </a:rPr>
              <a:t>与式</a:t>
            </a:r>
            <a:r>
              <a:rPr lang="en-US" sz="2400">
                <a:latin typeface="Times New Roman" panose="02020603050405020304" pitchFamily="18" charset="0"/>
                <a:cs typeface="Times New Roman" panose="02020603050405020304" pitchFamily="18" charset="0"/>
                <a:sym typeface="+mn-ea"/>
              </a:rPr>
              <a:t>(2-6)</a:t>
            </a:r>
            <a:r>
              <a:rPr sz="2400">
                <a:sym typeface="+mn-ea"/>
              </a:rPr>
              <a:t>引入创新度与美感度来评价一首歌曲的质量优劣：</a:t>
            </a:r>
            <a:endParaRPr sz="2000">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GB" altLang="en-US" sz="16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GB" altLang="en-US" sz="16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graphicFrame>
        <p:nvGraphicFramePr>
          <p:cNvPr id="142340"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94" name="" r:id="rId1" imgW="254000" imgH="177165" progId="Equation.KSEE3">
                  <p:embed/>
                </p:oleObj>
              </mc:Choice>
              <mc:Fallback>
                <p:oleObj name="" r:id="rId1" imgW="254000" imgH="177165" progId="Equation.KSEE3">
                  <p:embed/>
                  <p:pic>
                    <p:nvPicPr>
                      <p:cNvPr id="0" name="图片 3093"/>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5" name="矩形 41"/>
          <p:cNvSpPr>
            <a:spLocks noChangeArrowheads="1"/>
          </p:cNvSpPr>
          <p:nvPr/>
        </p:nvSpPr>
        <p:spPr bwMode="auto">
          <a:xfrm>
            <a:off x="808038" y="5219700"/>
            <a:ext cx="7923213"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其中，公式</a:t>
            </a:r>
            <a:r>
              <a:rPr lang="en-US" sz="2400">
                <a:latin typeface="Times New Roman" panose="02020603050405020304" pitchFamily="18" charset="0"/>
                <a:cs typeface="Times New Roman" panose="02020603050405020304" pitchFamily="18" charset="0"/>
                <a:sym typeface="+mn-ea"/>
              </a:rPr>
              <a:t>(2-5)</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中的</a:t>
            </a:r>
            <a:r>
              <a:rPr kumimoji="0" sz="2400" b="0" u="none" strike="noStrike" kern="1200" cap="none" spc="0" normalizeH="0" noProof="0" smtClean="0">
                <a:ln>
                  <a:noFill/>
                </a:ln>
                <a:solidFill>
                  <a:schemeClr val="tx1"/>
                </a:solidFill>
                <a:effectLst/>
                <a:uLnTx/>
                <a:uFillTx/>
                <a:latin typeface="+mj-lt"/>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即</a:t>
            </a:r>
            <a:r>
              <a:rPr kumimoji="0" sz="2400" b="0" u="none" strike="noStrike" kern="1200" cap="none" spc="0" normalizeH="0" noProof="0" smtClean="0">
                <a:ln>
                  <a:noFill/>
                </a:ln>
                <a:solidFill>
                  <a:schemeClr val="tx1"/>
                </a:solidFill>
                <a:effectLst/>
                <a:uLnTx/>
                <a:uFillTx/>
                <a:latin typeface="+mj-lt"/>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歌曲的全部首现乐汇再现率之和</a:t>
            </a:r>
            <a:r>
              <a:rPr kumimoji="0" sz="2400" b="0" u="none" strike="noStrike" kern="1200" cap="none" spc="0" normalizeH="0" noProof="0" smtClean="0">
                <a:ln>
                  <a:noFill/>
                </a:ln>
                <a:solidFill>
                  <a:schemeClr val="tx1"/>
                </a:solidFill>
                <a:effectLst/>
                <a:uLnTx/>
                <a:uFillTx/>
                <a:latin typeface="+mj-lt"/>
                <a:ea typeface="+mn-ea"/>
                <a:cs typeface="+mn-cs"/>
              </a:rPr>
              <a:t>)</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被视为算法生成的歌曲的创新性。</a:t>
            </a:r>
            <a:r>
              <a:rPr kumimoji="0" sz="2400" b="0" u="none" strike="noStrike" kern="1200" cap="none" spc="0" normalizeH="0" noProof="0" smtClean="0">
                <a:ln>
                  <a:noFill/>
                </a:ln>
                <a:solidFill>
                  <a:schemeClr val="tx1"/>
                </a:solidFill>
                <a:effectLst/>
                <a:uLnTx/>
                <a:uFillTx/>
                <a:latin typeface="+mj-lt"/>
                <a:ea typeface="+mn-ea"/>
                <a:cs typeface="+mn-cs"/>
              </a:rPr>
              <a:t> </a:t>
            </a:r>
            <a:endParaRPr kumimoji="0" lang="zh-CN" altLang="en-GB" sz="24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sp>
        <p:nvSpPr>
          <p:cNvPr id="3"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6" name="Rectangle 3"/>
          <p:cNvSpPr txBox="1"/>
          <p:nvPr/>
        </p:nvSpPr>
        <p:spPr>
          <a:xfrm>
            <a:off x="141605"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1583690" y="4109085"/>
            <a:ext cx="6188075" cy="934085"/>
          </a:xfrm>
          <a:prstGeom prst="rect">
            <a:avLst/>
          </a:prstGeom>
        </p:spPr>
      </p:pic>
      <p:pic>
        <p:nvPicPr>
          <p:cNvPr id="7" name="图片 6"/>
          <p:cNvPicPr>
            <a:picLocks noChangeAspect="1"/>
          </p:cNvPicPr>
          <p:nvPr/>
        </p:nvPicPr>
        <p:blipFill>
          <a:blip r:embed="rId4"/>
          <a:stretch>
            <a:fillRect/>
          </a:stretch>
        </p:blipFill>
        <p:spPr>
          <a:xfrm>
            <a:off x="4355465" y="5219700"/>
            <a:ext cx="739140" cy="408305"/>
          </a:xfrm>
          <a:prstGeom prst="rect">
            <a:avLst/>
          </a:prstGeom>
        </p:spPr>
      </p:pic>
    </p:spTree>
  </p:cSld>
  <p:clrMapOvr>
    <a:masterClrMapping/>
  </p:clrMapOvr>
  <p:transition spd="med">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矩形 41"/>
          <p:cNvSpPr>
            <a:spLocks noChangeArrowheads="1"/>
          </p:cNvSpPr>
          <p:nvPr/>
        </p:nvSpPr>
        <p:spPr bwMode="auto">
          <a:xfrm>
            <a:off x="681038" y="2795588"/>
            <a:ext cx="792321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sz="2400" noProof="0" smtClean="0">
                <a:ln>
                  <a:noFill/>
                </a:ln>
                <a:effectLst/>
                <a:uLnTx/>
                <a:uFillTx/>
                <a:latin typeface="+mj-lt"/>
                <a:ea typeface="宋体" panose="02010600030101010101" pitchFamily="2" charset="-122"/>
                <a:sym typeface="+mn-ea"/>
              </a:rPr>
              <a:t>公式</a:t>
            </a:r>
            <a:r>
              <a:rPr lang="en-US" sz="2400">
                <a:latin typeface="Times New Roman" panose="02020603050405020304" pitchFamily="18" charset="0"/>
                <a:cs typeface="Times New Roman" panose="02020603050405020304" pitchFamily="18" charset="0"/>
                <a:sym typeface="+mn-ea"/>
              </a:rPr>
              <a:t>(2-6)</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中的系数</a:t>
            </a:r>
            <a:r>
              <a:rPr sz="2400" noProof="0" smtClean="0">
                <a:ln>
                  <a:noFill/>
                </a:ln>
                <a:effectLst/>
                <a:uLnTx/>
                <a:uFillTx/>
                <a:latin typeface="+mj-lt"/>
                <a:sym typeface="+mn-ea"/>
              </a:rPr>
              <a:t> </a:t>
            </a:r>
            <a:r>
              <a:rPr sz="2400" noProof="0" smtClean="0">
                <a:ln>
                  <a:noFill/>
                </a:ln>
                <a:effectLst/>
                <a:uLnTx/>
                <a:uFillTx/>
                <a:latin typeface="+mj-lt"/>
                <a:sym typeface="+mn-ea"/>
              </a:rPr>
              <a:t> </a:t>
            </a:r>
            <a:r>
              <a:rPr sz="2400" i="1" noProof="0" smtClean="0">
                <a:ln>
                  <a:noFill/>
                </a:ln>
                <a:effectLst/>
                <a:uLnTx/>
                <a:uFillTx/>
                <a:latin typeface="+mj-lt"/>
                <a:sym typeface="+mn-ea"/>
              </a:rPr>
              <a:t>µ</a:t>
            </a:r>
            <a:r>
              <a:rPr sz="2400" baseline="-25000" noProof="0" smtClean="0">
                <a:ln>
                  <a:noFill/>
                </a:ln>
                <a:effectLst/>
                <a:uLnTx/>
                <a:uFillTx/>
                <a:latin typeface="+mj-lt"/>
                <a:sym typeface="+mn-ea"/>
              </a:rPr>
              <a:t>1</a:t>
            </a:r>
            <a:r>
              <a:rPr sz="2400" noProof="0" smtClean="0">
                <a:ln>
                  <a:noFill/>
                </a:ln>
                <a:effectLst/>
                <a:uLnTx/>
                <a:uFillTx/>
                <a:latin typeface="+mj-lt"/>
                <a:sym typeface="+mn-ea"/>
              </a:rPr>
              <a:t> </a:t>
            </a:r>
            <a:r>
              <a:rPr lang="zh-CN" sz="2400" noProof="0" smtClean="0">
                <a:ln>
                  <a:noFill/>
                </a:ln>
                <a:effectLst/>
                <a:uLnTx/>
                <a:uFillTx/>
                <a:latin typeface="+mj-lt"/>
                <a:ea typeface="宋体" panose="02010600030101010101" pitchFamily="2" charset="-122"/>
                <a:sym typeface="+mn-ea"/>
              </a:rPr>
              <a:t>为估算</a:t>
            </a:r>
            <a:r>
              <a:rPr lang="zh-CN" sz="2400" noProof="0" smtClean="0">
                <a:ln>
                  <a:noFill/>
                </a:ln>
                <a:effectLst/>
                <a:uLnTx/>
                <a:uFillTx/>
                <a:latin typeface="+mj-lt"/>
                <a:ea typeface="宋体" panose="02010600030101010101" pitchFamily="2" charset="-122"/>
                <a:sym typeface="+mn-ea"/>
              </a:rPr>
              <a:t>算法生成的歌曲</a:t>
            </a:r>
            <a:r>
              <a:rPr lang="zh-CN" sz="2400" noProof="0" smtClean="0">
                <a:ln>
                  <a:noFill/>
                </a:ln>
                <a:effectLst/>
                <a:uLnTx/>
                <a:uFillTx/>
                <a:latin typeface="+mj-lt"/>
                <a:ea typeface="宋体" panose="02010600030101010101" pitchFamily="2" charset="-122"/>
                <a:sym typeface="+mn-ea"/>
              </a:rPr>
              <a:t>美感度之首项           的估算权值</a:t>
            </a:r>
            <a:r>
              <a:rPr lang="en-GB" altLang="en-US" sz="2400" noProof="0" dirty="0" smtClean="0">
                <a:ln>
                  <a:noFill/>
                </a:ln>
                <a:effectLst/>
                <a:uLnTx/>
                <a:uFillTx/>
                <a:latin typeface="+mj-lt"/>
                <a:ea typeface="楷体_GB2312" pitchFamily="49" charset="-122"/>
                <a:sym typeface="+mn-ea"/>
              </a:rPr>
              <a:t> </a:t>
            </a:r>
            <a:r>
              <a:rPr lang="en-GB" sz="2400" strike="noStrike" noProof="0" smtClean="0">
                <a:ln>
                  <a:noFill/>
                </a:ln>
                <a:effectLst/>
                <a:uLnTx/>
                <a:uFillTx/>
                <a:latin typeface="+mj-lt"/>
                <a:ea typeface="+mn-ea"/>
                <a:cs typeface="+mn-cs"/>
                <a:sym typeface="+mn-ea"/>
              </a:rPr>
              <a:t>;</a:t>
            </a:r>
            <a:r>
              <a:rPr lang="en-GB" altLang="en-US" sz="2400" strike="noStrike" noProof="0" dirty="0" smtClean="0">
                <a:ln>
                  <a:noFill/>
                </a:ln>
                <a:effectLst/>
                <a:uLnTx/>
                <a:uFillTx/>
                <a:latin typeface="+mj-lt"/>
                <a:ea typeface="楷体_GB2312" pitchFamily="49" charset="-122"/>
                <a:cs typeface="+mn-cs"/>
                <a:sym typeface="+mn-ea"/>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noProof="0" smtClean="0">
                <a:ln>
                  <a:noFill/>
                </a:ln>
                <a:solidFill>
                  <a:schemeClr val="tx1"/>
                </a:solidFill>
                <a:effectLst/>
                <a:uLnTx/>
                <a:uFillTx/>
                <a:latin typeface="+mj-lt"/>
                <a:ea typeface="+mn-ea"/>
                <a:cs typeface="+mn-cs"/>
              </a:rPr>
              <a:t>2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为</a:t>
            </a:r>
            <a:r>
              <a:rPr lang="zh-CN" sz="2400" noProof="0" smtClean="0">
                <a:ln>
                  <a:noFill/>
                </a:ln>
                <a:effectLst/>
                <a:uLnTx/>
                <a:uFillTx/>
                <a:latin typeface="+mj-lt"/>
                <a:ea typeface="宋体" panose="02010600030101010101" pitchFamily="2" charset="-122"/>
                <a:sym typeface="+mn-ea"/>
              </a:rPr>
              <a:t>歌曲美感度之次项</a:t>
            </a:r>
            <a:r>
              <a:rPr kumimoji="0" sz="2400" b="0" u="none" strike="noStrike" kern="1200" cap="none" spc="0" normalizeH="0" noProof="0" smtClean="0">
                <a:ln>
                  <a:noFill/>
                </a:ln>
                <a:solidFill>
                  <a:schemeClr val="tx1"/>
                </a:solidFill>
                <a:effectLst/>
                <a:uLnTx/>
                <a:uFillTx/>
                <a:latin typeface="+mj-lt"/>
                <a:ea typeface="+mn-ea"/>
                <a:cs typeface="+mn-cs"/>
              </a:rPr>
              <a:t>                 </a:t>
            </a:r>
            <a:r>
              <a:rPr lang="zh-CN" sz="2400" noProof="0" smtClean="0">
                <a:ln>
                  <a:noFill/>
                </a:ln>
                <a:effectLst/>
                <a:uLnTx/>
                <a:uFillTx/>
                <a:latin typeface="+mj-lt"/>
                <a:ea typeface="宋体" panose="02010600030101010101" pitchFamily="2" charset="-122"/>
                <a:sym typeface="+mn-ea"/>
              </a:rPr>
              <a:t>（</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即</a:t>
            </a:r>
            <a:r>
              <a:rPr kumimoji="0" sz="2400" b="0" u="none" strike="noStrike" kern="1200" cap="none" spc="0" normalizeH="0" noProof="0" smtClean="0">
                <a:ln>
                  <a:noFill/>
                </a:ln>
                <a:solidFill>
                  <a:schemeClr val="tx1"/>
                </a:solidFill>
                <a:effectLst/>
                <a:uLnTx/>
                <a:uFillTx/>
                <a:latin typeface="+mj-lt"/>
                <a:ea typeface="+mn-ea"/>
                <a:cs typeface="+mn-cs"/>
              </a:rPr>
              <a:t>, </a:t>
            </a:r>
            <a:r>
              <a:rPr lang="zh-CN" sz="2400" noProof="0" smtClean="0">
                <a:ln>
                  <a:noFill/>
                </a:ln>
                <a:effectLst/>
                <a:uLnTx/>
                <a:uFillTx/>
                <a:latin typeface="+mj-lt"/>
                <a:ea typeface="宋体" panose="02010600030101010101" pitchFamily="2" charset="-122"/>
                <a:sym typeface="+mn-ea"/>
              </a:rPr>
              <a:t>算法生成的歌曲的再现乐汇节奏规范率之和</a:t>
            </a:r>
            <a:r>
              <a:rPr kumimoji="0" sz="2400" b="0" u="none" strike="noStrike" kern="1200" cap="none" spc="0" normalizeH="0" noProof="0" smtClean="0">
                <a:ln>
                  <a:noFill/>
                </a:ln>
                <a:solidFill>
                  <a:schemeClr val="tx1"/>
                </a:solidFill>
                <a:effectLst/>
                <a:uLnTx/>
                <a:uFillTx/>
                <a:latin typeface="+mj-lt"/>
                <a:ea typeface="+mn-ea"/>
                <a:cs typeface="+mn-cs"/>
              </a:rPr>
              <a:t>)</a:t>
            </a:r>
            <a:r>
              <a:rPr lang="zh-CN" sz="2400" noProof="0" smtClean="0">
                <a:ln>
                  <a:noFill/>
                </a:ln>
                <a:effectLst/>
                <a:uLnTx/>
                <a:uFillTx/>
                <a:latin typeface="+mj-lt"/>
                <a:ea typeface="宋体" panose="02010600030101010101" pitchFamily="2" charset="-122"/>
                <a:sym typeface="+mn-ea"/>
              </a:rPr>
              <a:t>的估算权值</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noProof="0" smtClean="0">
                <a:ln>
                  <a:noFill/>
                </a:ln>
                <a:solidFill>
                  <a:schemeClr val="tx1"/>
                </a:solidFill>
                <a:effectLst/>
                <a:uLnTx/>
                <a:uFillTx/>
                <a:latin typeface="+mj-lt"/>
                <a:ea typeface="+mn-ea"/>
                <a:cs typeface="+mn-cs"/>
              </a:rPr>
              <a:t>3</a:t>
            </a:r>
            <a:r>
              <a:rPr lang="zh-CN" sz="2400" noProof="0" smtClean="0">
                <a:ln>
                  <a:noFill/>
                </a:ln>
                <a:effectLst/>
                <a:uLnTx/>
                <a:uFillTx/>
                <a:latin typeface="+mj-lt"/>
                <a:ea typeface="宋体" panose="02010600030101010101" pitchFamily="2" charset="-122"/>
                <a:sym typeface="+mn-ea"/>
              </a:rPr>
              <a:t>为</a:t>
            </a:r>
            <a:r>
              <a:rPr lang="zh-CN" sz="2400" noProof="0" smtClean="0">
                <a:ln>
                  <a:noFill/>
                </a:ln>
                <a:effectLst/>
                <a:uLnTx/>
                <a:uFillTx/>
                <a:latin typeface="+mj-lt"/>
                <a:ea typeface="宋体" panose="02010600030101010101" pitchFamily="2" charset="-122"/>
                <a:sym typeface="+mn-ea"/>
              </a:rPr>
              <a:t>歌曲美感度之第</a:t>
            </a:r>
            <a:r>
              <a:rPr lang="en-US" altLang="zh-CN" sz="2400" noProof="0" smtClean="0">
                <a:ln>
                  <a:noFill/>
                </a:ln>
                <a:effectLst/>
                <a:uLnTx/>
                <a:uFillTx/>
                <a:latin typeface="+mj-lt"/>
                <a:ea typeface="宋体" panose="02010600030101010101" pitchFamily="2" charset="-122"/>
                <a:sym typeface="+mn-ea"/>
              </a:rPr>
              <a:t>3</a:t>
            </a:r>
            <a:r>
              <a:rPr lang="zh-CN" sz="2400" noProof="0" smtClean="0">
                <a:ln>
                  <a:noFill/>
                </a:ln>
                <a:effectLst/>
                <a:uLnTx/>
                <a:uFillTx/>
                <a:latin typeface="+mj-lt"/>
                <a:ea typeface="宋体" panose="02010600030101010101" pitchFamily="2" charset="-122"/>
                <a:sym typeface="+mn-ea"/>
              </a:rPr>
              <a:t>项</a:t>
            </a:r>
            <a:r>
              <a:rPr kumimoji="0" sz="2400" b="0" u="none" strike="noStrike" kern="1200" cap="none" spc="0" normalizeH="0" noProof="0" smtClean="0">
                <a:ln>
                  <a:noFill/>
                </a:ln>
                <a:solidFill>
                  <a:schemeClr val="tx1"/>
                </a:solidFill>
                <a:effectLst/>
                <a:uLnTx/>
                <a:uFillTx/>
                <a:latin typeface="+mj-lt"/>
                <a:ea typeface="+mn-ea"/>
                <a:cs typeface="+mn-cs"/>
              </a:rPr>
              <a:t>              </a:t>
            </a:r>
            <a:r>
              <a:rPr lang="zh-CN" sz="2400" noProof="0" smtClean="0">
                <a:ln>
                  <a:noFill/>
                </a:ln>
                <a:effectLst/>
                <a:uLnTx/>
                <a:uFillTx/>
                <a:latin typeface="+mj-lt"/>
                <a:ea typeface="宋体" panose="02010600030101010101" pitchFamily="2" charset="-122"/>
                <a:sym typeface="+mn-ea"/>
              </a:rPr>
              <a:t>（</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即</a:t>
            </a:r>
            <a:r>
              <a:rPr kumimoji="0" sz="2400" b="0" u="none" strike="noStrike" kern="1200" cap="none" spc="0" normalizeH="0" noProof="0" smtClean="0">
                <a:ln>
                  <a:noFill/>
                </a:ln>
                <a:solidFill>
                  <a:schemeClr val="tx1"/>
                </a:solidFill>
                <a:effectLst/>
                <a:uLnTx/>
                <a:uFillTx/>
                <a:latin typeface="+mj-lt"/>
                <a:ea typeface="+mn-ea"/>
                <a:cs typeface="+mn-cs"/>
              </a:rPr>
              <a:t>, </a:t>
            </a:r>
            <a:r>
              <a:rPr lang="zh-CN" sz="2400" noProof="0" smtClean="0">
                <a:ln>
                  <a:noFill/>
                </a:ln>
                <a:effectLst/>
                <a:uLnTx/>
                <a:uFillTx/>
                <a:latin typeface="+mj-lt"/>
                <a:ea typeface="宋体" panose="02010600030101010101" pitchFamily="2" charset="-122"/>
                <a:sym typeface="+mn-ea"/>
              </a:rPr>
              <a:t>算法生成的歌曲的再现乐汇音级序列（旋律线）规范率之和）的估算权值</a:t>
            </a:r>
            <a:r>
              <a:rPr kumimoji="0" sz="2400" b="0" u="none" strike="noStrike" kern="1200" cap="none" spc="0" normalizeH="0" noProof="0" smtClean="0">
                <a:ln>
                  <a:noFill/>
                </a:ln>
                <a:solidFill>
                  <a:schemeClr val="tx1"/>
                </a:solidFill>
                <a:effectLst/>
                <a:uLnTx/>
                <a:uFillTx/>
                <a:latin typeface="+mj-lt"/>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以及</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noProof="0" smtClean="0">
                <a:ln>
                  <a:noFill/>
                </a:ln>
                <a:solidFill>
                  <a:schemeClr val="tx1"/>
                </a:solidFill>
                <a:effectLst/>
                <a:uLnTx/>
                <a:uFillTx/>
                <a:latin typeface="+mj-lt"/>
                <a:ea typeface="+mn-ea"/>
                <a:cs typeface="+mn-cs"/>
              </a:rPr>
              <a:t>4 </a:t>
            </a:r>
            <a:r>
              <a:rPr lang="zh-CN" sz="2400" noProof="0" smtClean="0">
                <a:ln>
                  <a:noFill/>
                </a:ln>
                <a:effectLst/>
                <a:uLnTx/>
                <a:uFillTx/>
                <a:latin typeface="+mj-lt"/>
                <a:ea typeface="宋体" panose="02010600030101010101" pitchFamily="2" charset="-122"/>
                <a:sym typeface="+mn-ea"/>
              </a:rPr>
              <a:t>为歌曲美感度之第</a:t>
            </a:r>
            <a:r>
              <a:rPr lang="en-US" altLang="zh-CN" sz="2400" noProof="0" smtClean="0">
                <a:ln>
                  <a:noFill/>
                </a:ln>
                <a:effectLst/>
                <a:uLnTx/>
                <a:uFillTx/>
                <a:latin typeface="+mj-lt"/>
                <a:ea typeface="宋体" panose="02010600030101010101" pitchFamily="2" charset="-122"/>
                <a:sym typeface="+mn-ea"/>
              </a:rPr>
              <a:t>4</a:t>
            </a:r>
            <a:r>
              <a:rPr lang="zh-CN" sz="2400" noProof="0" smtClean="0">
                <a:ln>
                  <a:noFill/>
                </a:ln>
                <a:effectLst/>
                <a:uLnTx/>
                <a:uFillTx/>
                <a:latin typeface="+mj-lt"/>
                <a:ea typeface="宋体" panose="02010600030101010101" pitchFamily="2" charset="-122"/>
                <a:sym typeface="+mn-ea"/>
              </a:rPr>
              <a:t>项</a:t>
            </a:r>
            <a:r>
              <a:rPr kumimoji="0" sz="2400" b="0" u="none" strike="noStrike" kern="1200" cap="none" spc="0" normalizeH="0" noProof="0" smtClean="0">
                <a:ln>
                  <a:noFill/>
                </a:ln>
                <a:solidFill>
                  <a:schemeClr val="tx1"/>
                </a:solidFill>
                <a:effectLst/>
                <a:uLnTx/>
                <a:uFillTx/>
                <a:latin typeface="+mj-lt"/>
                <a:ea typeface="+mn-ea"/>
                <a:cs typeface="+mn-cs"/>
              </a:rPr>
              <a:t>            </a:t>
            </a:r>
            <a:r>
              <a:rPr lang="zh-CN" sz="2400" noProof="0" smtClean="0">
                <a:ln>
                  <a:noFill/>
                </a:ln>
                <a:effectLst/>
                <a:uLnTx/>
                <a:uFillTx/>
                <a:latin typeface="+mj-lt"/>
                <a:ea typeface="宋体" panose="02010600030101010101" pitchFamily="2" charset="-122"/>
                <a:sym typeface="+mn-ea"/>
              </a:rPr>
              <a:t>（</a:t>
            </a:r>
            <a:r>
              <a:rPr lang="zh-CN" sz="2400" noProof="0" smtClean="0">
                <a:ln>
                  <a:noFill/>
                </a:ln>
                <a:effectLst/>
                <a:uLnTx/>
                <a:uFillTx/>
                <a:latin typeface="+mj-lt"/>
                <a:ea typeface="宋体" panose="02010600030101010101" pitchFamily="2" charset="-122"/>
                <a:sym typeface="+mn-ea"/>
              </a:rPr>
              <a:t>即</a:t>
            </a:r>
            <a:r>
              <a:rPr sz="2400" noProof="0" smtClean="0">
                <a:ln>
                  <a:noFill/>
                </a:ln>
                <a:effectLst/>
                <a:uLnTx/>
                <a:uFillTx/>
                <a:latin typeface="+mj-lt"/>
                <a:sym typeface="+mn-ea"/>
              </a:rPr>
              <a:t>, </a:t>
            </a:r>
            <a:r>
              <a:rPr lang="zh-CN" sz="2400" noProof="0" smtClean="0">
                <a:ln>
                  <a:noFill/>
                </a:ln>
                <a:effectLst/>
                <a:uLnTx/>
                <a:uFillTx/>
                <a:latin typeface="+mj-lt"/>
                <a:ea typeface="宋体" panose="02010600030101010101" pitchFamily="2" charset="-122"/>
                <a:sym typeface="+mn-ea"/>
              </a:rPr>
              <a:t>算法生成的歌曲的再现乐汇规范率之和</a:t>
            </a:r>
            <a:r>
              <a:rPr lang="zh-CN" sz="2400" noProof="0" smtClean="0">
                <a:ln>
                  <a:noFill/>
                </a:ln>
                <a:effectLst/>
                <a:uLnTx/>
                <a:uFillTx/>
                <a:latin typeface="+mj-lt"/>
                <a:ea typeface="宋体" panose="02010600030101010101" pitchFamily="2" charset="-122"/>
                <a:sym typeface="+mn-ea"/>
              </a:rPr>
              <a:t>）。</a:t>
            </a:r>
            <a:r>
              <a:rPr kumimoji="0" lang="en-GB" altLang="en-US" sz="24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endParaRPr kumimoji="0" lang="en-GB" altLang="en-US" sz="24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graphicFrame>
        <p:nvGraphicFramePr>
          <p:cNvPr id="146436"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97" name="" r:id="rId1" imgW="254000" imgH="177165" progId="Equation.KSEE3">
                  <p:embed/>
                </p:oleObj>
              </mc:Choice>
              <mc:Fallback>
                <p:oleObj name="" r:id="rId1" imgW="254000" imgH="177165" progId="Equation.KSEE3">
                  <p:embed/>
                  <p:pic>
                    <p:nvPicPr>
                      <p:cNvPr id="0" name="图片 3096"/>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pic>
        <p:nvPicPr>
          <p:cNvPr id="4" name="图片 3"/>
          <p:cNvPicPr>
            <a:picLocks noChangeAspect="1"/>
          </p:cNvPicPr>
          <p:nvPr/>
        </p:nvPicPr>
        <p:blipFill>
          <a:blip r:embed="rId3"/>
          <a:stretch>
            <a:fillRect/>
          </a:stretch>
        </p:blipFill>
        <p:spPr>
          <a:xfrm>
            <a:off x="1477645" y="5472430"/>
            <a:ext cx="6188075" cy="934085"/>
          </a:xfrm>
          <a:prstGeom prst="rect">
            <a:avLst/>
          </a:prstGeom>
        </p:spPr>
      </p:pic>
      <p:sp>
        <p:nvSpPr>
          <p:cNvPr id="3"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6" name="Rectangle 3"/>
          <p:cNvSpPr txBox="1"/>
          <p:nvPr/>
        </p:nvSpPr>
        <p:spPr>
          <a:xfrm>
            <a:off x="14605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7" name="图片 6"/>
          <p:cNvPicPr>
            <a:picLocks noChangeAspect="1"/>
          </p:cNvPicPr>
          <p:nvPr/>
        </p:nvPicPr>
        <p:blipFill>
          <a:blip r:embed="rId4"/>
          <a:stretch>
            <a:fillRect/>
          </a:stretch>
        </p:blipFill>
        <p:spPr>
          <a:xfrm>
            <a:off x="1477645" y="3215005"/>
            <a:ext cx="678180" cy="374650"/>
          </a:xfrm>
          <a:prstGeom prst="rect">
            <a:avLst/>
          </a:prstGeom>
        </p:spPr>
      </p:pic>
      <p:pic>
        <p:nvPicPr>
          <p:cNvPr id="5" name="图片 4"/>
          <p:cNvPicPr>
            <a:picLocks noChangeAspect="1"/>
          </p:cNvPicPr>
          <p:nvPr/>
        </p:nvPicPr>
        <p:blipFill>
          <a:blip r:embed="rId5"/>
          <a:stretch>
            <a:fillRect/>
          </a:stretch>
        </p:blipFill>
        <p:spPr>
          <a:xfrm>
            <a:off x="7272655" y="3215005"/>
            <a:ext cx="873760" cy="358775"/>
          </a:xfrm>
          <a:prstGeom prst="rect">
            <a:avLst/>
          </a:prstGeom>
        </p:spPr>
      </p:pic>
      <p:pic>
        <p:nvPicPr>
          <p:cNvPr id="8" name="图片 7"/>
          <p:cNvPicPr>
            <a:picLocks noChangeAspect="1"/>
          </p:cNvPicPr>
          <p:nvPr/>
        </p:nvPicPr>
        <p:blipFill>
          <a:blip r:embed="rId6"/>
          <a:stretch>
            <a:fillRect/>
          </a:stretch>
        </p:blipFill>
        <p:spPr>
          <a:xfrm>
            <a:off x="4940935" y="3902075"/>
            <a:ext cx="889000" cy="359410"/>
          </a:xfrm>
          <a:prstGeom prst="rect">
            <a:avLst/>
          </a:prstGeom>
        </p:spPr>
      </p:pic>
      <p:pic>
        <p:nvPicPr>
          <p:cNvPr id="9" name="图片 8"/>
          <p:cNvPicPr>
            <a:picLocks noChangeAspect="1"/>
          </p:cNvPicPr>
          <p:nvPr/>
        </p:nvPicPr>
        <p:blipFill>
          <a:blip r:embed="rId7"/>
          <a:stretch>
            <a:fillRect/>
          </a:stretch>
        </p:blipFill>
        <p:spPr>
          <a:xfrm>
            <a:off x="5412105" y="4692650"/>
            <a:ext cx="671195" cy="321945"/>
          </a:xfrm>
          <a:prstGeom prst="rect">
            <a:avLst/>
          </a:prstGeom>
        </p:spPr>
      </p:pic>
    </p:spTree>
  </p:cSld>
  <p:clrMapOvr>
    <a:masterClrMapping/>
  </p:clrMapOvr>
  <p:transition spd="med">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8483"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96" name="" r:id="rId1" imgW="254000" imgH="177165" progId="Equation.KSEE3">
                  <p:embed/>
                </p:oleObj>
              </mc:Choice>
              <mc:Fallback>
                <p:oleObj name="" r:id="rId1" imgW="254000" imgH="177165" progId="Equation.KSEE3">
                  <p:embed/>
                  <p:pic>
                    <p:nvPicPr>
                      <p:cNvPr id="0" name="图片 3095"/>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5" name="矩形 41"/>
          <p:cNvSpPr>
            <a:spLocks noChangeArrowheads="1"/>
          </p:cNvSpPr>
          <p:nvPr/>
        </p:nvSpPr>
        <p:spPr bwMode="auto">
          <a:xfrm>
            <a:off x="733425" y="2874963"/>
            <a:ext cx="7923213"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4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并规定</a:t>
            </a:r>
            <a:r>
              <a:rPr kumimoji="0" sz="2400" b="0" u="none" strike="noStrike" kern="1200" cap="none" spc="0" normalizeH="0" noProof="0" smtClean="0">
                <a:ln>
                  <a:noFill/>
                </a:ln>
                <a:solidFill>
                  <a:schemeClr val="tx1"/>
                </a:solidFill>
                <a:effectLst/>
                <a:uLnTx/>
                <a:uFillTx/>
                <a:latin typeface="+mj-lt"/>
                <a:ea typeface="+mn-ea"/>
                <a:cs typeface="+mn-cs"/>
              </a:rPr>
              <a:t> 0≤</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1</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2</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3</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4</a:t>
            </a:r>
            <a:r>
              <a:rPr kumimoji="0" sz="2400" b="0" u="none" strike="noStrike" kern="1200" cap="none" spc="0" normalizeH="0" noProof="0" smtClean="0">
                <a:ln>
                  <a:noFill/>
                </a:ln>
                <a:solidFill>
                  <a:schemeClr val="tx1"/>
                </a:solidFill>
                <a:effectLst/>
                <a:uLnTx/>
                <a:uFillTx/>
                <a:latin typeface="+mj-lt"/>
                <a:ea typeface="+mn-ea"/>
                <a:cs typeface="+mn-cs"/>
              </a:rPr>
              <a:t>≤1,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1</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2</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3</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4</a:t>
            </a:r>
            <a:r>
              <a:rPr kumimoji="0" sz="2400" b="0" u="none" strike="noStrike" kern="1200" cap="none" spc="0" normalizeH="0" noProof="0" smtClean="0">
                <a:ln>
                  <a:noFill/>
                </a:ln>
                <a:solidFill>
                  <a:schemeClr val="tx1"/>
                </a:solidFill>
                <a:effectLst/>
                <a:uLnTx/>
                <a:uFillTx/>
                <a:latin typeface="+mj-lt"/>
                <a:ea typeface="+mn-ea"/>
                <a:cs typeface="+mn-cs"/>
              </a:rPr>
              <a:t>=1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。我们期望选择恰当的</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1</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2</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3</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4</a:t>
            </a:r>
            <a:r>
              <a:rPr kumimoji="0" sz="2400" b="0" u="none" strike="noStrike" kern="1200" cap="none" spc="0" normalizeH="0" noProof="0" smtClean="0">
                <a:ln>
                  <a:noFill/>
                </a:ln>
                <a:solidFill>
                  <a:schemeClr val="tx1"/>
                </a:solidFill>
                <a:effectLst/>
                <a:uLnTx/>
                <a:uFillTx/>
                <a:latin typeface="+mj-lt"/>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值以使公式</a:t>
            </a:r>
            <a:r>
              <a:rPr lang="en-US" sz="2400">
                <a:latin typeface="Times New Roman" panose="02020603050405020304" pitchFamily="18" charset="0"/>
                <a:cs typeface="Times New Roman" panose="02020603050405020304" pitchFamily="18" charset="0"/>
                <a:sym typeface="+mn-ea"/>
              </a:rPr>
              <a:t>(2-6)</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中的美感度值与音乐家的主观评估值尽可能地保持一致。</a:t>
            </a:r>
            <a:endParaRPr kumimoji="0" lang="en-GB" altLang="en-US" sz="24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sp>
        <p:nvSpPr>
          <p:cNvPr id="3"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6" name="Rectangle 3"/>
          <p:cNvSpPr txBox="1"/>
          <p:nvPr/>
        </p:nvSpPr>
        <p:spPr>
          <a:xfrm>
            <a:off x="14605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1477645" y="4611370"/>
            <a:ext cx="6188075" cy="934085"/>
          </a:xfrm>
          <a:prstGeom prst="rect">
            <a:avLst/>
          </a:prstGeom>
        </p:spPr>
      </p:pic>
    </p:spTree>
  </p:cSld>
  <p:clrMapOvr>
    <a:masterClrMapping/>
  </p:clrMapOvr>
  <p:transition spd="med">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0531"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98" name="" r:id="rId1" imgW="254000" imgH="177165" progId="Equation.KSEE3">
                  <p:embed/>
                </p:oleObj>
              </mc:Choice>
              <mc:Fallback>
                <p:oleObj name="" r:id="rId1" imgW="254000" imgH="177165" progId="Equation.KSEE3">
                  <p:embed/>
                  <p:pic>
                    <p:nvPicPr>
                      <p:cNvPr id="0" name="图片 3097"/>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5" name="矩形 41"/>
          <p:cNvSpPr>
            <a:spLocks noChangeArrowheads="1"/>
          </p:cNvSpPr>
          <p:nvPr/>
        </p:nvSpPr>
        <p:spPr bwMode="auto">
          <a:xfrm>
            <a:off x="733425" y="2874963"/>
            <a:ext cx="7923213"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4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显然， 使用公式</a:t>
            </a:r>
            <a:r>
              <a:rPr lang="en-US" sz="2400">
                <a:latin typeface="Times New Roman" panose="02020603050405020304" pitchFamily="18" charset="0"/>
                <a:cs typeface="Times New Roman" panose="02020603050405020304" pitchFamily="18" charset="0"/>
                <a:sym typeface="+mn-ea"/>
              </a:rPr>
              <a:t>(2-5)</a:t>
            </a:r>
            <a:r>
              <a:rPr sz="2400">
                <a:sym typeface="+mn-ea"/>
              </a:rPr>
              <a:t>与</a:t>
            </a:r>
            <a:r>
              <a:rPr lang="en-US" sz="2400">
                <a:latin typeface="Times New Roman" panose="02020603050405020304" pitchFamily="18" charset="0"/>
                <a:cs typeface="Times New Roman" panose="02020603050405020304" pitchFamily="18" charset="0"/>
                <a:sym typeface="+mn-ea"/>
              </a:rPr>
              <a:t>(2-6)</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来评估算法生成的歌曲的创新度与美感度会与下面两个因素有关：</a:t>
            </a:r>
            <a:endParaRPr kumimoji="0" lang="en-GB" altLang="en-US" sz="24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sp>
        <p:nvSpPr>
          <p:cNvPr id="4" name="矩形 41"/>
          <p:cNvSpPr>
            <a:spLocks noChangeArrowheads="1"/>
          </p:cNvSpPr>
          <p:nvPr/>
        </p:nvSpPr>
        <p:spPr bwMode="auto">
          <a:xfrm>
            <a:off x="717550" y="3934143"/>
            <a:ext cx="792162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mj-lt"/>
                <a:ea typeface="+mn-ea"/>
                <a:cs typeface="+mj-lt"/>
              </a:rPr>
              <a:t> </a:t>
            </a:r>
            <a:r>
              <a:rPr kumimoji="0" lang="en-US" altLang="zh-CN" sz="2400" b="0" i="0" u="none" strike="noStrike" kern="1200" cap="none" spc="0" normalizeH="0" baseline="0" noProof="0" dirty="0" smtClean="0">
                <a:ln>
                  <a:noFill/>
                </a:ln>
                <a:solidFill>
                  <a:schemeClr val="tx1"/>
                </a:solidFill>
                <a:effectLst/>
                <a:uLnTx/>
                <a:uFillTx/>
                <a:latin typeface="+mj-lt"/>
                <a:ea typeface="+mn-ea"/>
                <a:cs typeface="+mj-lt"/>
              </a:rPr>
              <a:t>1</a:t>
            </a:r>
            <a:r>
              <a:rPr kumimoji="0" lang="zh-CN" altLang="en-US" sz="2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j-lt"/>
              </a:rPr>
              <a:t>）</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系统收集样板歌曲的多寡；</a:t>
            </a:r>
            <a:endPar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sz="2400" b="0" u="none" strike="noStrike" kern="1200" cap="none" spc="0" normalizeH="0" noProof="0" smtClean="0">
                <a:ln>
                  <a:noFill/>
                </a:ln>
                <a:solidFill>
                  <a:schemeClr val="tx1"/>
                </a:solidFill>
                <a:effectLst/>
                <a:uLnTx/>
                <a:uFillTx/>
                <a:latin typeface="+mj-lt"/>
                <a:ea typeface="+mn-ea"/>
                <a:cs typeface="+mn-cs"/>
              </a:rPr>
              <a:t>       2</a:t>
            </a:r>
            <a:r>
              <a:rPr kumimoji="0" lang="zh-CN" altLang="en-US"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a:t>
            </a:r>
            <a:r>
              <a:rPr lang="zh-CN" sz="2400" noProof="0" smtClean="0">
                <a:ln>
                  <a:noFill/>
                </a:ln>
                <a:effectLst/>
                <a:uLnTx/>
                <a:uFillTx/>
                <a:latin typeface="+mj-lt"/>
                <a:ea typeface="宋体" panose="02010600030101010101" pitchFamily="2" charset="-122"/>
                <a:sym typeface="+mn-ea"/>
              </a:rPr>
              <a:t>如何分派公式</a:t>
            </a:r>
            <a:r>
              <a:rPr lang="en-US" sz="2400">
                <a:latin typeface="Times New Roman" panose="02020603050405020304" pitchFamily="18" charset="0"/>
                <a:cs typeface="Times New Roman" panose="02020603050405020304" pitchFamily="18" charset="0"/>
                <a:sym typeface="+mn-ea"/>
              </a:rPr>
              <a:t>(2-6)</a:t>
            </a:r>
            <a:r>
              <a:rPr lang="zh-CN" altLang="en-US" sz="2400">
                <a:latin typeface="Times New Roman" panose="02020603050405020304" pitchFamily="18" charset="0"/>
                <a:ea typeface="宋体" panose="02010600030101010101" pitchFamily="2" charset="-122"/>
                <a:cs typeface="Times New Roman" panose="02020603050405020304" pitchFamily="18" charset="0"/>
                <a:sym typeface="+mn-ea"/>
              </a:rPr>
              <a:t>中各</a:t>
            </a:r>
            <a:r>
              <a:rPr lang="zh-CN" sz="2400" noProof="0" smtClean="0">
                <a:ln>
                  <a:noFill/>
                </a:ln>
                <a:effectLst/>
                <a:uLnTx/>
                <a:uFillTx/>
                <a:latin typeface="+mj-lt"/>
                <a:ea typeface="宋体" panose="02010600030101010101" pitchFamily="2" charset="-122"/>
                <a:sym typeface="+mn-ea"/>
              </a:rPr>
              <a:t>分项</a:t>
            </a:r>
            <a:r>
              <a:rPr lang="zh-CN" altLang="en-US" sz="2400" noProof="0" smtClean="0">
                <a:ln>
                  <a:noFill/>
                </a:ln>
                <a:effectLst/>
                <a:uLnTx/>
                <a:uFillTx/>
                <a:latin typeface="+mj-lt"/>
                <a:ea typeface="宋体" panose="02010600030101010101" pitchFamily="2" charset="-122"/>
                <a:sym typeface="+mn-ea"/>
              </a:rPr>
              <a:t>的权重系数</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1</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2</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3</a:t>
            </a:r>
            <a:r>
              <a:rPr kumimoji="0" sz="2400" b="0" u="none" strike="noStrike" kern="1200" cap="none" spc="0" normalizeH="0" noProof="0" smtClean="0">
                <a:ln>
                  <a:noFill/>
                </a:ln>
                <a:solidFill>
                  <a:schemeClr val="tx1"/>
                </a:solidFill>
                <a:effectLst/>
                <a:uLnTx/>
                <a:uFillTx/>
                <a:latin typeface="+mj-lt"/>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与</a:t>
            </a:r>
            <a:r>
              <a:rPr kumimoji="0" sz="2400" b="0" u="none" strike="noStrike" kern="1200" cap="none" spc="0" normalizeH="0" noProof="0" smtClean="0">
                <a:ln>
                  <a:noFill/>
                </a:ln>
                <a:solidFill>
                  <a:schemeClr val="tx1"/>
                </a:solidFill>
                <a:effectLst/>
                <a:uLnTx/>
                <a:uFillTx/>
                <a:latin typeface="+mj-lt"/>
                <a:ea typeface="+mn-ea"/>
                <a:cs typeface="+mn-cs"/>
              </a:rPr>
              <a:t> </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4</a:t>
            </a:r>
            <a:r>
              <a:rPr kumimoji="0" sz="2400" b="0" u="none" strike="noStrike" kern="1200" cap="none" spc="0" normalizeH="0" noProof="0" smtClean="0">
                <a:ln>
                  <a:noFill/>
                </a:ln>
                <a:solidFill>
                  <a:schemeClr val="tx1"/>
                </a:solidFill>
                <a:effectLst/>
                <a:uLnTx/>
                <a:uFillTx/>
                <a:latin typeface="+mj-lt"/>
                <a:ea typeface="+mn-ea"/>
                <a:cs typeface="+mn-cs"/>
              </a:rPr>
              <a:t> </a:t>
            </a:r>
            <a:r>
              <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rPr>
              <a:t>。</a:t>
            </a:r>
            <a:endParaRPr kumimoji="0" lang="zh-CN" sz="24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
        <p:nvSpPr>
          <p:cNvPr id="6"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605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8" name="图片 7"/>
          <p:cNvPicPr>
            <a:picLocks noChangeAspect="1"/>
          </p:cNvPicPr>
          <p:nvPr/>
        </p:nvPicPr>
        <p:blipFill>
          <a:blip r:embed="rId3"/>
          <a:stretch>
            <a:fillRect/>
          </a:stretch>
        </p:blipFill>
        <p:spPr>
          <a:xfrm>
            <a:off x="1687830" y="5347970"/>
            <a:ext cx="6188075" cy="934085"/>
          </a:xfrm>
          <a:prstGeom prst="rect">
            <a:avLst/>
          </a:prstGeom>
        </p:spPr>
      </p:pic>
    </p:spTree>
  </p:cSld>
  <p:clrMapOvr>
    <a:masterClrMapping/>
  </p:clrMapOvr>
  <p:transition spd="med">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4963"/>
            <a:ext cx="792321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sz="2400" b="0" u="none" strike="noStrike" kern="1200" cap="none" spc="0" normalizeH="0" noProof="0" smtClean="0">
                <a:ln>
                  <a:noFill/>
                </a:ln>
                <a:solidFill>
                  <a:schemeClr val="tx1"/>
                </a:solidFill>
                <a:effectLst/>
                <a:uLnTx/>
                <a:uFillTx/>
                <a:latin typeface="+mj-lt"/>
                <a:ea typeface="+mn-ea"/>
                <a:cs typeface="+mn-cs"/>
              </a:rPr>
              <a:t>系统收集样板歌曲的数目越多，则式(2-5)、式(2-6)的估算结果就越客观、越准确。而式(2-6)中分项估算权重系数</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1</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2</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3</a:t>
            </a:r>
            <a:r>
              <a:rPr kumimoji="0" sz="2400" b="0" u="none" strike="noStrike" kern="1200" cap="none" spc="0" normalizeH="0" noProof="0" smtClean="0">
                <a:ln>
                  <a:noFill/>
                </a:ln>
                <a:solidFill>
                  <a:schemeClr val="tx1"/>
                </a:solidFill>
                <a:effectLst/>
                <a:uLnTx/>
                <a:uFillTx/>
                <a:latin typeface="+mj-lt"/>
                <a:ea typeface="+mn-ea"/>
                <a:cs typeface="+mn-cs"/>
              </a:rPr>
              <a:t>与</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4</a:t>
            </a:r>
            <a:r>
              <a:rPr kumimoji="0" sz="2400" b="0" u="none" strike="noStrike" kern="1200" cap="none" spc="0" normalizeH="0" noProof="0" smtClean="0">
                <a:ln>
                  <a:noFill/>
                </a:ln>
                <a:solidFill>
                  <a:schemeClr val="tx1"/>
                </a:solidFill>
                <a:effectLst/>
                <a:uLnTx/>
                <a:uFillTx/>
                <a:latin typeface="+mj-lt"/>
                <a:ea typeface="+mn-ea"/>
                <a:cs typeface="+mn-cs"/>
              </a:rPr>
              <a:t>值的分派和听众对被评估歌曲整体美感度(或称整体印象)在心目中的评价与其各个分项(创新性、节奏规范性、旋律线规范性以及旋律规范性)在心目中的评价的占比有关。因此，如何确定</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1</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2</a:t>
            </a:r>
            <a:r>
              <a:rPr kumimoji="0" sz="2400" b="0" u="none" strike="noStrike" kern="1200" cap="none" spc="0" normalizeH="0" noProof="0" smtClean="0">
                <a:ln>
                  <a:noFill/>
                </a:ln>
                <a:solidFill>
                  <a:schemeClr val="tx1"/>
                </a:solidFill>
                <a:effectLst/>
                <a:uLnTx/>
                <a:uFillTx/>
                <a:latin typeface="+mj-lt"/>
                <a:ea typeface="+mn-ea"/>
                <a:cs typeface="+mn-cs"/>
              </a:rPr>
              <a:t>、</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3</a:t>
            </a:r>
            <a:r>
              <a:rPr kumimoji="0" sz="2400" b="0" u="none" strike="noStrike" kern="1200" cap="none" spc="0" normalizeH="0" noProof="0" smtClean="0">
                <a:ln>
                  <a:noFill/>
                </a:ln>
                <a:solidFill>
                  <a:schemeClr val="tx1"/>
                </a:solidFill>
                <a:effectLst/>
                <a:uLnTx/>
                <a:uFillTx/>
                <a:latin typeface="+mj-lt"/>
                <a:ea typeface="+mn-ea"/>
                <a:cs typeface="+mn-cs"/>
              </a:rPr>
              <a:t>与</a:t>
            </a:r>
            <a:r>
              <a:rPr kumimoji="0" sz="2400" b="0" i="1" u="none" strike="noStrike" kern="1200" cap="none" spc="0" normalizeH="0" noProof="0" smtClean="0">
                <a:ln>
                  <a:noFill/>
                </a:ln>
                <a:solidFill>
                  <a:schemeClr val="tx1"/>
                </a:solidFill>
                <a:effectLst/>
                <a:uLnTx/>
                <a:uFillTx/>
                <a:latin typeface="+mj-lt"/>
                <a:ea typeface="+mn-ea"/>
                <a:cs typeface="+mn-cs"/>
              </a:rPr>
              <a:t>µ</a:t>
            </a:r>
            <a:r>
              <a:rPr kumimoji="0" sz="2400" b="0" u="none" strike="noStrike" kern="1200" cap="none" spc="0" normalizeH="0" baseline="-25000" noProof="0" smtClean="0">
                <a:ln>
                  <a:noFill/>
                </a:ln>
                <a:solidFill>
                  <a:schemeClr val="tx1"/>
                </a:solidFill>
                <a:effectLst/>
                <a:uLnTx/>
                <a:uFillTx/>
                <a:latin typeface="+mj-lt"/>
                <a:ea typeface="+mn-ea"/>
                <a:cs typeface="+mn-cs"/>
              </a:rPr>
              <a:t>4</a:t>
            </a:r>
            <a:r>
              <a:rPr kumimoji="0" sz="2400" b="0" u="none" strike="noStrike" kern="1200" cap="none" spc="0" normalizeH="0" noProof="0" smtClean="0">
                <a:ln>
                  <a:noFill/>
                </a:ln>
                <a:solidFill>
                  <a:schemeClr val="tx1"/>
                </a:solidFill>
                <a:effectLst/>
                <a:uLnTx/>
                <a:uFillTx/>
                <a:latin typeface="+mj-lt"/>
                <a:ea typeface="+mn-ea"/>
                <a:cs typeface="+mn-cs"/>
              </a:rPr>
              <a:t>的值，还需考察听众主观评估模型与结果。</a:t>
            </a:r>
            <a:endParaRPr kumimoji="0" sz="2400" b="0" u="none" strike="noStrike" kern="1200" cap="none" spc="0" normalizeH="0" noProof="0" smtClean="0">
              <a:ln>
                <a:noFill/>
              </a:ln>
              <a:solidFill>
                <a:schemeClr val="tx1"/>
              </a:solidFill>
              <a:effectLst/>
              <a:uLnTx/>
              <a:uFillTx/>
              <a:latin typeface="+mj-lt"/>
              <a:ea typeface="+mn-ea"/>
              <a:cs typeface="+mn-cs"/>
            </a:endParaRPr>
          </a:p>
        </p:txBody>
      </p:sp>
      <p:graphicFrame>
        <p:nvGraphicFramePr>
          <p:cNvPr id="152580"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099" name="" r:id="rId1" imgW="254000" imgH="177165" progId="Equation.KSEE3">
                  <p:embed/>
                </p:oleObj>
              </mc:Choice>
              <mc:Fallback>
                <p:oleObj name="" r:id="rId1" imgW="254000" imgH="177165" progId="Equation.KSEE3">
                  <p:embed/>
                  <p:pic>
                    <p:nvPicPr>
                      <p:cNvPr id="0" name="图片 3098"/>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6"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7" name="Rectangle 3"/>
          <p:cNvSpPr txBox="1"/>
          <p:nvPr/>
        </p:nvSpPr>
        <p:spPr>
          <a:xfrm>
            <a:off x="146050" y="2107565"/>
            <a:ext cx="3585845" cy="541655"/>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客观估算模型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1687830" y="5563235"/>
            <a:ext cx="6188075" cy="934085"/>
          </a:xfrm>
          <a:prstGeom prst="rect">
            <a:avLst/>
          </a:prstGeom>
        </p:spPr>
      </p:pic>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3162300"/>
            <a:ext cx="7786370"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我们从收集的歌曲库中任选7首现有的歌曲。直接以每首歌曲歌词的诗歌形式作为创作目标</a:t>
            </a:r>
            <a:r>
              <a:rPr kumimoji="0" lang="zh-CN" altLang="zh-CN" sz="1800" b="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(歌曲)</a:t>
            </a: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的歌词并以相同的表达情感及节拍作为作曲程序的创作约束条件，以使算法生成同样歌词但新的旋律的另外</a:t>
            </a:r>
            <a:r>
              <a:rPr kumimoji="0" lang="en-US"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7</a:t>
            </a:r>
            <a:r>
              <a:rPr kumimoji="0" lang="zh-CN" altLang="en-US" sz="1800" b="0" i="0" u="none" strike="noStrike" kern="1200" cap="none" spc="0" normalizeH="0" baseline="0" noProof="0" dirty="0" smtClean="0">
                <a:ln>
                  <a:noFill/>
                </a:ln>
                <a:solidFill>
                  <a:schemeClr val="tx1"/>
                </a:solidFill>
                <a:effectLst/>
                <a:uLnTx/>
                <a:uFillTx/>
                <a:latin typeface="Chiller" panose="04020404031007020602" pitchFamily="82" charset="0"/>
                <a:ea typeface="宋体" panose="02010600030101010101" pitchFamily="2" charset="-122"/>
                <a:cs typeface="+mn-cs"/>
              </a:rPr>
              <a:t>首</a:t>
            </a: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歌曲。</a:t>
            </a:r>
            <a:r>
              <a:rPr kumimoji="0" sz="2000" b="0" u="none" strike="noStrike" kern="1200" cap="none" spc="0" normalizeH="0" noProof="0" smtClean="0">
                <a:ln>
                  <a:noFill/>
                </a:ln>
                <a:solidFill>
                  <a:schemeClr val="tx1"/>
                </a:solidFill>
                <a:effectLst/>
                <a:uLnTx/>
                <a:uFillTx/>
                <a:latin typeface="+mj-lt"/>
                <a:ea typeface="+mn-ea"/>
                <a:cs typeface="+mn-cs"/>
              </a:rPr>
              <a:t> </a:t>
            </a:r>
            <a:endParaRPr kumimoji="0" lang="en-US" sz="2000" b="0" u="none" strike="noStrike" kern="1200" cap="none" spc="0" normalizeH="0" noProof="0" smtClean="0">
              <a:ln>
                <a:noFill/>
              </a:ln>
              <a:solidFill>
                <a:schemeClr val="tx1"/>
              </a:solidFill>
              <a:effectLst/>
              <a:uLnTx/>
              <a:uFillTx/>
              <a:latin typeface="+mj-lt"/>
              <a:cs typeface="+mn-cs"/>
            </a:endParaRPr>
          </a:p>
        </p:txBody>
      </p:sp>
      <p:sp>
        <p:nvSpPr>
          <p:cNvPr id="154626"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GB" sz="2400" i="1" dirty="0">
                <a:solidFill>
                  <a:srgbClr val="FFC000"/>
                </a:solidFill>
                <a:latin typeface="Times New Roman" panose="02020603050405020304" pitchFamily="18" charset="0"/>
                <a:ea typeface="宋体" panose="02010600030101010101" pitchFamily="2" charset="-122"/>
              </a:rPr>
              <a:t>主观评估方法与客观评估模型实验的比较</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3" name="矩形 41"/>
          <p:cNvSpPr>
            <a:spLocks noChangeArrowheads="1"/>
          </p:cNvSpPr>
          <p:nvPr/>
        </p:nvSpPr>
        <p:spPr bwMode="auto">
          <a:xfrm>
            <a:off x="573088" y="2714625"/>
            <a:ext cx="4697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GB" sz="2000" b="0" i="1" u="none" strike="noStrike" kern="1200" cap="none" spc="0" normalizeH="0" noProof="0" smtClean="0">
                <a:ln>
                  <a:noFill/>
                </a:ln>
                <a:solidFill>
                  <a:schemeClr val="tx1"/>
                </a:solidFill>
                <a:effectLst/>
                <a:uLnTx/>
                <a:uFillTx/>
                <a:latin typeface="+mj-lt"/>
                <a:ea typeface="宋体" panose="02010600030101010101" pitchFamily="2" charset="-122"/>
                <a:cs typeface="+mn-cs"/>
              </a:rPr>
              <a:t>主观评估方法</a:t>
            </a:r>
            <a:endParaRPr kumimoji="0" lang="zh-CN" altLang="en-GB" sz="2000" b="0" i="1"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pic>
        <p:nvPicPr>
          <p:cNvPr id="154629" name="图片 40"/>
          <p:cNvPicPr>
            <a:picLocks noChangeAspect="1"/>
          </p:cNvPicPr>
          <p:nvPr/>
        </p:nvPicPr>
        <p:blipFill>
          <a:blip r:embed="rId1"/>
          <a:stretch>
            <a:fillRect/>
          </a:stretch>
        </p:blipFill>
        <p:spPr>
          <a:xfrm>
            <a:off x="1187450" y="4471988"/>
            <a:ext cx="776288" cy="466725"/>
          </a:xfrm>
          <a:prstGeom prst="rect">
            <a:avLst/>
          </a:prstGeom>
          <a:noFill/>
          <a:ln w="9525">
            <a:noFill/>
          </a:ln>
        </p:spPr>
      </p:pic>
      <p:pic>
        <p:nvPicPr>
          <p:cNvPr id="154630" name="图片 40"/>
          <p:cNvPicPr>
            <a:picLocks noChangeAspect="1"/>
          </p:cNvPicPr>
          <p:nvPr/>
        </p:nvPicPr>
        <p:blipFill>
          <a:blip r:embed="rId1"/>
          <a:stretch>
            <a:fillRect/>
          </a:stretch>
        </p:blipFill>
        <p:spPr>
          <a:xfrm>
            <a:off x="2397125" y="4498975"/>
            <a:ext cx="776288" cy="466725"/>
          </a:xfrm>
          <a:prstGeom prst="rect">
            <a:avLst/>
          </a:prstGeom>
          <a:noFill/>
          <a:ln w="9525">
            <a:noFill/>
          </a:ln>
        </p:spPr>
      </p:pic>
      <p:sp>
        <p:nvSpPr>
          <p:cNvPr id="20" name="矩形 41"/>
          <p:cNvSpPr>
            <a:spLocks noChangeArrowheads="1"/>
          </p:cNvSpPr>
          <p:nvPr/>
        </p:nvSpPr>
        <p:spPr bwMode="auto">
          <a:xfrm>
            <a:off x="2006600" y="4498975"/>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pic>
        <p:nvPicPr>
          <p:cNvPr id="154632" name="图片 40"/>
          <p:cNvPicPr>
            <a:picLocks noChangeAspect="1"/>
          </p:cNvPicPr>
          <p:nvPr/>
        </p:nvPicPr>
        <p:blipFill>
          <a:blip r:embed="rId1"/>
          <a:stretch>
            <a:fillRect/>
          </a:stretch>
        </p:blipFill>
        <p:spPr>
          <a:xfrm>
            <a:off x="5005388" y="4498975"/>
            <a:ext cx="776287" cy="466725"/>
          </a:xfrm>
          <a:prstGeom prst="rect">
            <a:avLst/>
          </a:prstGeom>
          <a:noFill/>
          <a:ln w="9525">
            <a:noFill/>
          </a:ln>
        </p:spPr>
      </p:pic>
      <p:pic>
        <p:nvPicPr>
          <p:cNvPr id="154633" name="图片 40"/>
          <p:cNvPicPr>
            <a:picLocks noChangeAspect="1"/>
          </p:cNvPicPr>
          <p:nvPr/>
        </p:nvPicPr>
        <p:blipFill>
          <a:blip r:embed="rId1"/>
          <a:stretch>
            <a:fillRect/>
          </a:stretch>
        </p:blipFill>
        <p:spPr>
          <a:xfrm>
            <a:off x="6330950" y="4498975"/>
            <a:ext cx="776288" cy="466725"/>
          </a:xfrm>
          <a:prstGeom prst="rect">
            <a:avLst/>
          </a:prstGeom>
          <a:noFill/>
          <a:ln w="9525">
            <a:noFill/>
          </a:ln>
        </p:spPr>
      </p:pic>
      <p:sp>
        <p:nvSpPr>
          <p:cNvPr id="7" name="矩形 41"/>
          <p:cNvSpPr>
            <a:spLocks noChangeArrowheads="1"/>
          </p:cNvSpPr>
          <p:nvPr/>
        </p:nvSpPr>
        <p:spPr bwMode="auto">
          <a:xfrm>
            <a:off x="5864225" y="4554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154635" name="加号 8"/>
          <p:cNvSpPr/>
          <p:nvPr/>
        </p:nvSpPr>
        <p:spPr>
          <a:xfrm>
            <a:off x="3825875" y="4359275"/>
            <a:ext cx="647700" cy="647700"/>
          </a:xfrm>
          <a:custGeom>
            <a:avLst/>
            <a:gdLst/>
            <a:ahLst/>
            <a:cxnLst>
              <a:cxn ang="0">
                <a:pos x="561847" y="324167"/>
              </a:cxn>
              <a:cxn ang="5400000">
                <a:pos x="323850" y="562398"/>
              </a:cxn>
              <a:cxn ang="10800000">
                <a:pos x="85852" y="324167"/>
              </a:cxn>
              <a:cxn ang="16200000">
                <a:pos x="323850" y="85936"/>
              </a:cxn>
            </a:cxnLst>
            <a:pathLst>
              <a:path w="647700" h="648335">
                <a:moveTo>
                  <a:pt x="85852" y="247997"/>
                </a:moveTo>
                <a:lnTo>
                  <a:pt x="247680" y="247997"/>
                </a:lnTo>
                <a:lnTo>
                  <a:pt x="247680" y="85936"/>
                </a:lnTo>
                <a:lnTo>
                  <a:pt x="400019" y="85936"/>
                </a:lnTo>
                <a:lnTo>
                  <a:pt x="400019" y="247997"/>
                </a:lnTo>
                <a:lnTo>
                  <a:pt x="561847" y="247997"/>
                </a:lnTo>
                <a:lnTo>
                  <a:pt x="561847" y="400337"/>
                </a:lnTo>
                <a:lnTo>
                  <a:pt x="400019" y="400337"/>
                </a:lnTo>
                <a:lnTo>
                  <a:pt x="400019" y="562398"/>
                </a:lnTo>
                <a:lnTo>
                  <a:pt x="247680" y="562398"/>
                </a:lnTo>
                <a:lnTo>
                  <a:pt x="247680" y="400337"/>
                </a:lnTo>
                <a:lnTo>
                  <a:pt x="85852" y="400337"/>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154636" name="椭圆形标注 10"/>
          <p:cNvSpPr/>
          <p:nvPr/>
        </p:nvSpPr>
        <p:spPr>
          <a:xfrm>
            <a:off x="949325" y="4232275"/>
            <a:ext cx="2646363" cy="1022350"/>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2" name="矩形 41"/>
          <p:cNvSpPr>
            <a:spLocks noChangeArrowheads="1"/>
          </p:cNvSpPr>
          <p:nvPr/>
        </p:nvSpPr>
        <p:spPr bwMode="auto">
          <a:xfrm>
            <a:off x="1076325" y="5299075"/>
            <a:ext cx="246634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sz="1600" b="0" u="none" strike="noStrike" kern="1200" cap="none" spc="0" normalizeH="0" noProof="0" smtClean="0">
                <a:ln>
                  <a:noFill/>
                </a:ln>
                <a:solidFill>
                  <a:schemeClr val="tx1"/>
                </a:solidFill>
                <a:effectLst/>
                <a:uLnTx/>
                <a:uFillTx/>
                <a:latin typeface="+mj-lt"/>
                <a:ea typeface="+mn-ea"/>
                <a:cs typeface="+mn-cs"/>
              </a:rPr>
              <a:t>7</a:t>
            </a:r>
            <a:r>
              <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首现有的样板歌曲旋律</a:t>
            </a:r>
            <a:r>
              <a:rPr kumimoji="0" lang="en-US" sz="1600" b="0" u="none" strike="noStrike" kern="1200" cap="none" spc="0" normalizeH="0" noProof="0" smtClean="0">
                <a:ln>
                  <a:noFill/>
                </a:ln>
                <a:solidFill>
                  <a:schemeClr val="tx1"/>
                </a:solidFill>
                <a:effectLst/>
                <a:uLnTx/>
                <a:uFillTx/>
                <a:latin typeface="+mj-lt"/>
                <a:ea typeface="+mn-ea"/>
                <a:cs typeface="+mn-cs"/>
              </a:rPr>
              <a:t> </a:t>
            </a:r>
            <a:endParaRPr kumimoji="0" lang="en-US" sz="1600" b="0" u="none" strike="noStrike" kern="1200" cap="none" spc="0" normalizeH="0" noProof="0" smtClean="0">
              <a:ln>
                <a:noFill/>
              </a:ln>
              <a:solidFill>
                <a:schemeClr val="tx1"/>
              </a:solidFill>
              <a:effectLst/>
              <a:uLnTx/>
              <a:uFillTx/>
              <a:latin typeface="+mj-lt"/>
              <a:cs typeface="+mn-cs"/>
            </a:endParaRPr>
          </a:p>
        </p:txBody>
      </p:sp>
      <p:sp>
        <p:nvSpPr>
          <p:cNvPr id="154638" name="椭圆形标注 12"/>
          <p:cNvSpPr/>
          <p:nvPr/>
        </p:nvSpPr>
        <p:spPr>
          <a:xfrm>
            <a:off x="4806950" y="4195763"/>
            <a:ext cx="2646363" cy="1023937"/>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4" name="矩形 41"/>
          <p:cNvSpPr>
            <a:spLocks noChangeArrowheads="1"/>
          </p:cNvSpPr>
          <p:nvPr/>
        </p:nvSpPr>
        <p:spPr bwMode="auto">
          <a:xfrm>
            <a:off x="4941253" y="5281613"/>
            <a:ext cx="354647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sz="1600" b="0" u="none" strike="noStrike" kern="1200" cap="none" spc="0" normalizeH="0" noProof="0" smtClean="0">
                <a:ln>
                  <a:noFill/>
                </a:ln>
                <a:solidFill>
                  <a:schemeClr val="tx1"/>
                </a:solidFill>
                <a:effectLst/>
                <a:uLnTx/>
                <a:uFillTx/>
                <a:latin typeface="+mj-lt"/>
                <a:ea typeface="+mn-ea"/>
                <a:cs typeface="+mn-cs"/>
              </a:rPr>
              <a:t>7</a:t>
            </a:r>
            <a:r>
              <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首算法生成的旋律</a:t>
            </a:r>
            <a:endPar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
        <p:nvSpPr>
          <p:cNvPr id="15" name="矩形 41"/>
          <p:cNvSpPr>
            <a:spLocks noChangeArrowheads="1"/>
          </p:cNvSpPr>
          <p:nvPr/>
        </p:nvSpPr>
        <p:spPr bwMode="auto">
          <a:xfrm>
            <a:off x="3000375" y="6197600"/>
            <a:ext cx="295592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全部</a:t>
            </a:r>
            <a:r>
              <a:rPr kumimoji="0" lang="en-US" altLang="zh-CN"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14</a:t>
            </a:r>
            <a:r>
              <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首待评估的旋律</a:t>
            </a:r>
            <a:endPar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
        <p:nvSpPr>
          <p:cNvPr id="154641" name="流程图: 合并 16"/>
          <p:cNvSpPr/>
          <p:nvPr/>
        </p:nvSpPr>
        <p:spPr>
          <a:xfrm>
            <a:off x="3051175" y="5635625"/>
            <a:ext cx="2165350" cy="576263"/>
          </a:xfrm>
          <a:prstGeom prst="flowChartMerge">
            <a:avLst/>
          </a:prstGeom>
          <a:solidFill>
            <a:schemeClr val="accent1"/>
          </a:solid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6"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3162300"/>
            <a:ext cx="78625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我们将这</a:t>
            </a:r>
            <a:r>
              <a:rPr kumimoji="0" lang="en-US" altLang="zh-CN"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14</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首歌曲</a:t>
            </a:r>
            <a:r>
              <a:rPr kumimoji="0" lang="en-US" sz="2000" b="0" u="none" strike="noStrike" kern="1200" cap="none" spc="0" normalizeH="0" noProof="0" smtClean="0">
                <a:ln>
                  <a:noFill/>
                </a:ln>
                <a:solidFill>
                  <a:schemeClr val="tx1"/>
                </a:solidFill>
                <a:effectLst/>
                <a:uLnTx/>
                <a:uFillTx/>
                <a:latin typeface="+mj-lt"/>
                <a:ea typeface="+mn-ea"/>
                <a:cs typeface="+mn-cs"/>
              </a:rPr>
              <a:t>旋律混在一起提交给21位有作曲经验的听众。</a:t>
            </a:r>
            <a:endParaRPr kumimoji="0" lang="en-US" sz="2000" b="0" u="none" strike="noStrike" kern="1200" cap="none" spc="0" normalizeH="0" noProof="0" smtClean="0">
              <a:ln>
                <a:noFill/>
              </a:ln>
              <a:solidFill>
                <a:schemeClr val="tx1"/>
              </a:solidFill>
              <a:effectLst/>
              <a:uLnTx/>
              <a:uFillTx/>
              <a:latin typeface="+mj-lt"/>
              <a:ea typeface="+mn-ea"/>
              <a:cs typeface="+mn-cs"/>
            </a:endParaRPr>
          </a:p>
        </p:txBody>
      </p:sp>
      <p:pic>
        <p:nvPicPr>
          <p:cNvPr id="156677" name="图片 40"/>
          <p:cNvPicPr>
            <a:picLocks noChangeAspect="1"/>
          </p:cNvPicPr>
          <p:nvPr/>
        </p:nvPicPr>
        <p:blipFill>
          <a:blip r:embed="rId1"/>
          <a:stretch>
            <a:fillRect/>
          </a:stretch>
        </p:blipFill>
        <p:spPr>
          <a:xfrm>
            <a:off x="1187450" y="4471988"/>
            <a:ext cx="776288" cy="466725"/>
          </a:xfrm>
          <a:prstGeom prst="rect">
            <a:avLst/>
          </a:prstGeom>
          <a:noFill/>
          <a:ln w="9525">
            <a:noFill/>
          </a:ln>
        </p:spPr>
      </p:pic>
      <p:pic>
        <p:nvPicPr>
          <p:cNvPr id="156678" name="图片 40"/>
          <p:cNvPicPr>
            <a:picLocks noChangeAspect="1"/>
          </p:cNvPicPr>
          <p:nvPr/>
        </p:nvPicPr>
        <p:blipFill>
          <a:blip r:embed="rId1"/>
          <a:stretch>
            <a:fillRect/>
          </a:stretch>
        </p:blipFill>
        <p:spPr>
          <a:xfrm>
            <a:off x="2397125" y="4498975"/>
            <a:ext cx="776288" cy="466725"/>
          </a:xfrm>
          <a:prstGeom prst="rect">
            <a:avLst/>
          </a:prstGeom>
          <a:noFill/>
          <a:ln w="9525">
            <a:noFill/>
          </a:ln>
        </p:spPr>
      </p:pic>
      <p:sp>
        <p:nvSpPr>
          <p:cNvPr id="20" name="矩形 41"/>
          <p:cNvSpPr>
            <a:spLocks noChangeArrowheads="1"/>
          </p:cNvSpPr>
          <p:nvPr/>
        </p:nvSpPr>
        <p:spPr bwMode="auto">
          <a:xfrm>
            <a:off x="2006600" y="4498975"/>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pic>
        <p:nvPicPr>
          <p:cNvPr id="156680" name="图片 40"/>
          <p:cNvPicPr>
            <a:picLocks noChangeAspect="1"/>
          </p:cNvPicPr>
          <p:nvPr/>
        </p:nvPicPr>
        <p:blipFill>
          <a:blip r:embed="rId1"/>
          <a:stretch>
            <a:fillRect/>
          </a:stretch>
        </p:blipFill>
        <p:spPr>
          <a:xfrm>
            <a:off x="5005388" y="4498975"/>
            <a:ext cx="776287" cy="466725"/>
          </a:xfrm>
          <a:prstGeom prst="rect">
            <a:avLst/>
          </a:prstGeom>
          <a:noFill/>
          <a:ln w="9525">
            <a:noFill/>
          </a:ln>
        </p:spPr>
      </p:pic>
      <p:pic>
        <p:nvPicPr>
          <p:cNvPr id="156681" name="图片 40"/>
          <p:cNvPicPr>
            <a:picLocks noChangeAspect="1"/>
          </p:cNvPicPr>
          <p:nvPr/>
        </p:nvPicPr>
        <p:blipFill>
          <a:blip r:embed="rId1"/>
          <a:stretch>
            <a:fillRect/>
          </a:stretch>
        </p:blipFill>
        <p:spPr>
          <a:xfrm>
            <a:off x="6330950" y="4498975"/>
            <a:ext cx="776288" cy="466725"/>
          </a:xfrm>
          <a:prstGeom prst="rect">
            <a:avLst/>
          </a:prstGeom>
          <a:noFill/>
          <a:ln w="9525">
            <a:noFill/>
          </a:ln>
        </p:spPr>
      </p:pic>
      <p:sp>
        <p:nvSpPr>
          <p:cNvPr id="7" name="矩形 41"/>
          <p:cNvSpPr>
            <a:spLocks noChangeArrowheads="1"/>
          </p:cNvSpPr>
          <p:nvPr/>
        </p:nvSpPr>
        <p:spPr bwMode="auto">
          <a:xfrm>
            <a:off x="5864225" y="4554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156683" name="加号 8"/>
          <p:cNvSpPr/>
          <p:nvPr/>
        </p:nvSpPr>
        <p:spPr>
          <a:xfrm>
            <a:off x="3825875" y="4359275"/>
            <a:ext cx="647700" cy="647700"/>
          </a:xfrm>
          <a:custGeom>
            <a:avLst/>
            <a:gdLst/>
            <a:ahLst/>
            <a:cxnLst>
              <a:cxn ang="0">
                <a:pos x="561847" y="324167"/>
              </a:cxn>
              <a:cxn ang="5400000">
                <a:pos x="323850" y="562398"/>
              </a:cxn>
              <a:cxn ang="10800000">
                <a:pos x="85852" y="324167"/>
              </a:cxn>
              <a:cxn ang="16200000">
                <a:pos x="323850" y="85936"/>
              </a:cxn>
            </a:cxnLst>
            <a:pathLst>
              <a:path w="647700" h="648335">
                <a:moveTo>
                  <a:pt x="85852" y="247997"/>
                </a:moveTo>
                <a:lnTo>
                  <a:pt x="247680" y="247997"/>
                </a:lnTo>
                <a:lnTo>
                  <a:pt x="247680" y="85936"/>
                </a:lnTo>
                <a:lnTo>
                  <a:pt x="400019" y="85936"/>
                </a:lnTo>
                <a:lnTo>
                  <a:pt x="400019" y="247997"/>
                </a:lnTo>
                <a:lnTo>
                  <a:pt x="561847" y="247997"/>
                </a:lnTo>
                <a:lnTo>
                  <a:pt x="561847" y="400337"/>
                </a:lnTo>
                <a:lnTo>
                  <a:pt x="400019" y="400337"/>
                </a:lnTo>
                <a:lnTo>
                  <a:pt x="400019" y="562398"/>
                </a:lnTo>
                <a:lnTo>
                  <a:pt x="247680" y="562398"/>
                </a:lnTo>
                <a:lnTo>
                  <a:pt x="247680" y="400337"/>
                </a:lnTo>
                <a:lnTo>
                  <a:pt x="85852" y="400337"/>
                </a:lnTo>
                <a:close/>
              </a:path>
            </a:pathLst>
          </a:custGeom>
          <a:solidFill>
            <a:schemeClr val="accent1"/>
          </a:solidFill>
          <a:ln w="9525" cap="flat" cmpd="sng">
            <a:solidFill>
              <a:schemeClr val="tx1"/>
            </a:solidFill>
            <a:prstDash val="solid"/>
            <a:round/>
            <a:headEnd type="none" w="med" len="med"/>
            <a:tailEnd type="none" w="med" len="med"/>
          </a:ln>
        </p:spPr>
        <p:txBody>
          <a:bodyPr/>
          <a:p>
            <a:endParaRPr lang="zh-CN" altLang="en-US"/>
          </a:p>
        </p:txBody>
      </p:sp>
      <p:sp>
        <p:nvSpPr>
          <p:cNvPr id="156684" name="椭圆形标注 10"/>
          <p:cNvSpPr/>
          <p:nvPr/>
        </p:nvSpPr>
        <p:spPr>
          <a:xfrm>
            <a:off x="949325" y="4232275"/>
            <a:ext cx="2646363" cy="1022350"/>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56686" name="椭圆形标注 12"/>
          <p:cNvSpPr/>
          <p:nvPr/>
        </p:nvSpPr>
        <p:spPr>
          <a:xfrm>
            <a:off x="4806950" y="4195763"/>
            <a:ext cx="2646363" cy="1023937"/>
          </a:xfrm>
          <a:prstGeom prst="wedgeEllipseCallout">
            <a:avLst>
              <a:gd name="adj1" fmla="val -20833"/>
              <a:gd name="adj2" fmla="val 62500"/>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5" name="矩形 41"/>
          <p:cNvSpPr>
            <a:spLocks noChangeArrowheads="1"/>
          </p:cNvSpPr>
          <p:nvPr/>
        </p:nvSpPr>
        <p:spPr bwMode="auto">
          <a:xfrm>
            <a:off x="1637030" y="6197600"/>
            <a:ext cx="500443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zh-CN" altLang="en-US" sz="1600" noProof="0" smtClean="0">
                <a:ln>
                  <a:noFill/>
                </a:ln>
                <a:effectLst/>
                <a:uLnTx/>
                <a:uFillTx/>
                <a:latin typeface="+mj-lt"/>
                <a:ea typeface="宋体" panose="02010600030101010101" pitchFamily="2" charset="-122"/>
                <a:sym typeface="+mn-ea"/>
              </a:rPr>
              <a:t>全部</a:t>
            </a:r>
            <a:r>
              <a:rPr lang="en-US" altLang="zh-CN" sz="1600" noProof="0" smtClean="0">
                <a:ln>
                  <a:noFill/>
                </a:ln>
                <a:effectLst/>
                <a:uLnTx/>
                <a:uFillTx/>
                <a:latin typeface="+mj-lt"/>
                <a:ea typeface="宋体" panose="02010600030101010101" pitchFamily="2" charset="-122"/>
                <a:sym typeface="+mn-ea"/>
              </a:rPr>
              <a:t>14</a:t>
            </a:r>
            <a:r>
              <a:rPr lang="zh-CN" altLang="en-US" sz="1600" noProof="0" smtClean="0">
                <a:ln>
                  <a:noFill/>
                </a:ln>
                <a:effectLst/>
                <a:uLnTx/>
                <a:uFillTx/>
                <a:latin typeface="+mj-lt"/>
                <a:ea typeface="宋体" panose="02010600030101010101" pitchFamily="2" charset="-122"/>
                <a:sym typeface="+mn-ea"/>
              </a:rPr>
              <a:t>首歌曲旋律提交给</a:t>
            </a:r>
            <a:r>
              <a:rPr lang="en-US" altLang="zh-CN" sz="1600" noProof="0" smtClean="0">
                <a:ln>
                  <a:noFill/>
                </a:ln>
                <a:effectLst/>
                <a:uLnTx/>
                <a:uFillTx/>
                <a:latin typeface="+mj-lt"/>
                <a:ea typeface="宋体" panose="02010600030101010101" pitchFamily="2" charset="-122"/>
                <a:sym typeface="+mn-ea"/>
              </a:rPr>
              <a:t>21</a:t>
            </a:r>
            <a:r>
              <a:rPr lang="zh-CN" altLang="en-US" sz="1600" noProof="0" smtClean="0">
                <a:ln>
                  <a:noFill/>
                </a:ln>
                <a:effectLst/>
                <a:uLnTx/>
                <a:uFillTx/>
                <a:latin typeface="+mj-lt"/>
                <a:ea typeface="宋体" panose="02010600030101010101" pitchFamily="2" charset="-122"/>
                <a:sym typeface="+mn-ea"/>
              </a:rPr>
              <a:t>位有作曲经验的听众评估</a:t>
            </a:r>
            <a:endPar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sz="1600" b="0" u="none" strike="noStrike" kern="1200" cap="none" spc="0" normalizeH="0" noProof="0" smtClean="0">
                <a:ln>
                  <a:noFill/>
                </a:ln>
                <a:solidFill>
                  <a:schemeClr val="tx1"/>
                </a:solidFill>
                <a:effectLst/>
                <a:uLnTx/>
                <a:uFillTx/>
                <a:latin typeface="+mj-lt"/>
                <a:ea typeface="+mn-ea"/>
                <a:cs typeface="+mn-cs"/>
              </a:rPr>
              <a:t> </a:t>
            </a:r>
            <a:endParaRPr kumimoji="0" lang="en-US" sz="1600" b="0" u="none" strike="noStrike" kern="1200" cap="none" spc="0" normalizeH="0" noProof="0" smtClean="0">
              <a:ln>
                <a:noFill/>
              </a:ln>
              <a:solidFill>
                <a:schemeClr val="tx1"/>
              </a:solidFill>
              <a:effectLst/>
              <a:uLnTx/>
              <a:uFillTx/>
              <a:latin typeface="+mj-lt"/>
              <a:cs typeface="+mn-cs"/>
            </a:endParaRPr>
          </a:p>
        </p:txBody>
      </p:sp>
      <p:sp>
        <p:nvSpPr>
          <p:cNvPr id="156689" name="流程图: 合并 16"/>
          <p:cNvSpPr/>
          <p:nvPr/>
        </p:nvSpPr>
        <p:spPr>
          <a:xfrm>
            <a:off x="3051175" y="5635625"/>
            <a:ext cx="2165350" cy="576263"/>
          </a:xfrm>
          <a:prstGeom prst="flowChartMerge">
            <a:avLst/>
          </a:prstGeom>
          <a:solidFill>
            <a:schemeClr val="accent1"/>
          </a:solid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pic>
        <p:nvPicPr>
          <p:cNvPr id="156690" name="图片 3"/>
          <p:cNvPicPr>
            <a:picLocks noChangeAspect="1"/>
          </p:cNvPicPr>
          <p:nvPr/>
        </p:nvPicPr>
        <p:blipFill>
          <a:blip r:embed="rId2"/>
          <a:stretch>
            <a:fillRect/>
          </a:stretch>
        </p:blipFill>
        <p:spPr>
          <a:xfrm>
            <a:off x="6462078" y="6211888"/>
            <a:ext cx="1441450" cy="333375"/>
          </a:xfrm>
          <a:prstGeom prst="rect">
            <a:avLst/>
          </a:prstGeom>
          <a:noFill/>
          <a:ln w="9525">
            <a:noFill/>
          </a:ln>
        </p:spPr>
      </p:pic>
      <p:sp>
        <p:nvSpPr>
          <p:cNvPr id="154626"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GB" sz="2400" i="1" dirty="0">
                <a:solidFill>
                  <a:srgbClr val="FFC000"/>
                </a:solidFill>
                <a:latin typeface="Times New Roman" panose="02020603050405020304" pitchFamily="18" charset="0"/>
                <a:ea typeface="宋体" panose="02010600030101010101" pitchFamily="2" charset="-122"/>
              </a:rPr>
              <a:t>主观评估方法与客观评估模型实验的比较</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4" name="矩形 41"/>
          <p:cNvSpPr>
            <a:spLocks noChangeArrowheads="1"/>
          </p:cNvSpPr>
          <p:nvPr/>
        </p:nvSpPr>
        <p:spPr bwMode="auto">
          <a:xfrm>
            <a:off x="573088" y="2714625"/>
            <a:ext cx="4697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GB" sz="2000" b="0" i="1" u="none" strike="noStrike" kern="1200" cap="none" spc="0" normalizeH="0" noProof="0" smtClean="0">
                <a:ln>
                  <a:noFill/>
                </a:ln>
                <a:solidFill>
                  <a:schemeClr val="tx1"/>
                </a:solidFill>
                <a:effectLst/>
                <a:uLnTx/>
                <a:uFillTx/>
                <a:latin typeface="+mj-lt"/>
                <a:ea typeface="宋体" panose="02010600030101010101" pitchFamily="2" charset="-122"/>
                <a:cs typeface="+mn-cs"/>
              </a:rPr>
              <a:t>主观评估方法</a:t>
            </a:r>
            <a:endParaRPr kumimoji="0" lang="zh-CN" altLang="en-GB" sz="2000" b="0" i="1"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
        <p:nvSpPr>
          <p:cNvPr id="6"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
        <p:nvSpPr>
          <p:cNvPr id="8" name="矩形 41"/>
          <p:cNvSpPr>
            <a:spLocks noChangeArrowheads="1"/>
          </p:cNvSpPr>
          <p:nvPr/>
        </p:nvSpPr>
        <p:spPr bwMode="auto">
          <a:xfrm>
            <a:off x="1076325" y="5299075"/>
            <a:ext cx="246634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sz="1600" b="0" u="none" strike="noStrike" kern="1200" cap="none" spc="0" normalizeH="0" noProof="0" smtClean="0">
                <a:ln>
                  <a:noFill/>
                </a:ln>
                <a:solidFill>
                  <a:schemeClr val="tx1"/>
                </a:solidFill>
                <a:effectLst/>
                <a:uLnTx/>
                <a:uFillTx/>
                <a:latin typeface="+mj-lt"/>
                <a:ea typeface="+mn-ea"/>
                <a:cs typeface="+mn-cs"/>
              </a:rPr>
              <a:t>7</a:t>
            </a:r>
            <a:r>
              <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首现有的样板歌曲旋律</a:t>
            </a:r>
            <a:r>
              <a:rPr kumimoji="0" lang="en-US" sz="1600" b="0" u="none" strike="noStrike" kern="1200" cap="none" spc="0" normalizeH="0" noProof="0" smtClean="0">
                <a:ln>
                  <a:noFill/>
                </a:ln>
                <a:solidFill>
                  <a:schemeClr val="tx1"/>
                </a:solidFill>
                <a:effectLst/>
                <a:uLnTx/>
                <a:uFillTx/>
                <a:latin typeface="+mj-lt"/>
                <a:ea typeface="+mn-ea"/>
                <a:cs typeface="+mn-cs"/>
              </a:rPr>
              <a:t> </a:t>
            </a:r>
            <a:endParaRPr kumimoji="0" lang="en-US" sz="1600" b="0" u="none" strike="noStrike" kern="1200" cap="none" spc="0" normalizeH="0" noProof="0" smtClean="0">
              <a:ln>
                <a:noFill/>
              </a:ln>
              <a:solidFill>
                <a:schemeClr val="tx1"/>
              </a:solidFill>
              <a:effectLst/>
              <a:uLnTx/>
              <a:uFillTx/>
              <a:latin typeface="+mj-lt"/>
              <a:cs typeface="+mn-cs"/>
            </a:endParaRPr>
          </a:p>
        </p:txBody>
      </p:sp>
      <p:sp>
        <p:nvSpPr>
          <p:cNvPr id="9" name="矩形 41"/>
          <p:cNvSpPr>
            <a:spLocks noChangeArrowheads="1"/>
          </p:cNvSpPr>
          <p:nvPr/>
        </p:nvSpPr>
        <p:spPr bwMode="auto">
          <a:xfrm>
            <a:off x="4941253" y="5281613"/>
            <a:ext cx="354647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sz="1600" b="0" u="none" strike="noStrike" kern="1200" cap="none" spc="0" normalizeH="0" noProof="0" smtClean="0">
                <a:ln>
                  <a:noFill/>
                </a:ln>
                <a:solidFill>
                  <a:schemeClr val="tx1"/>
                </a:solidFill>
                <a:effectLst/>
                <a:uLnTx/>
                <a:uFillTx/>
                <a:latin typeface="+mj-lt"/>
                <a:ea typeface="+mn-ea"/>
                <a:cs typeface="+mn-cs"/>
              </a:rPr>
              <a:t>7</a:t>
            </a:r>
            <a:r>
              <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首算法生成的旋律</a:t>
            </a:r>
            <a:endParaRPr kumimoji="0" lang="zh-CN" altLang="en-US" sz="16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Tree>
  </p:cSld>
  <p:clrMapOvr>
    <a:masterClrMapping/>
  </p:clrMapOvr>
  <p:transition spd="med">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3378200"/>
            <a:ext cx="357822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这</a:t>
            </a:r>
            <a:r>
              <a:rPr kumimoji="0" lang="en-US" altLang="zh-CN"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21</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位听众</a:t>
            </a:r>
            <a:r>
              <a:rPr kumimoji="0" lang="en-US" sz="2000" b="0" u="none" strike="noStrike" kern="1200" cap="none" spc="0" normalizeH="0" noProof="0" smtClean="0">
                <a:ln>
                  <a:noFill/>
                </a:ln>
                <a:solidFill>
                  <a:schemeClr val="tx1"/>
                </a:solidFill>
                <a:effectLst/>
                <a:uLnTx/>
                <a:uFillTx/>
                <a:latin typeface="+mj-lt"/>
                <a:ea typeface="+mn-ea"/>
                <a:cs typeface="+mn-cs"/>
              </a:rPr>
              <a:t>                      </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凭其主观经验给</a:t>
            </a:r>
            <a:r>
              <a:rPr kumimoji="0" lang="en-US" altLang="zh-CN"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21</a:t>
            </a:r>
            <a:r>
              <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rPr>
              <a:t>首歌曲旋律按如右所述的评估项按0～10(0为最差，10为最好)打分。</a:t>
            </a:r>
            <a:endParaRPr kumimoji="0" lang="zh-CN" altLang="en-US" sz="20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
        <p:nvSpPr>
          <p:cNvPr id="2" name="矩形 41"/>
          <p:cNvSpPr>
            <a:spLocks noChangeArrowheads="1"/>
          </p:cNvSpPr>
          <p:nvPr/>
        </p:nvSpPr>
        <p:spPr bwMode="auto">
          <a:xfrm>
            <a:off x="5522913" y="2814638"/>
            <a:ext cx="3382963"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1" u="none" strike="noStrike" kern="1200" cap="none" spc="0" normalizeH="0" noProof="0" smtClean="0">
                <a:ln>
                  <a:noFill/>
                </a:ln>
                <a:solidFill>
                  <a:srgbClr val="FF0000"/>
                </a:solidFill>
                <a:effectLst/>
                <a:uLnTx/>
                <a:uFillTx/>
                <a:latin typeface="+mj-lt"/>
                <a:ea typeface="宋体" panose="02010600030101010101" pitchFamily="2" charset="-122"/>
                <a:cs typeface="+mn-cs"/>
              </a:rPr>
              <a:t>独特性</a:t>
            </a:r>
            <a:r>
              <a:rPr kumimoji="0" sz="1800" b="0" u="none" strike="noStrike" kern="1200" cap="none" spc="0" normalizeH="0" noProof="0" smtClean="0">
                <a:ln>
                  <a:noFill/>
                </a:ln>
                <a:solidFill>
                  <a:schemeClr val="tx1"/>
                </a:solidFill>
                <a:effectLst/>
                <a:uLnTx/>
                <a:uFillTx/>
                <a:latin typeface="+mj-lt"/>
                <a:ea typeface="+mn-ea"/>
                <a:cs typeface="+mn-cs"/>
              </a:rPr>
              <a:t>: 评估人凭其主观经验，判定被评估歌曲不同于其他同类歌曲的独有特性;</a:t>
            </a:r>
            <a:endParaRPr kumimoji="0" sz="1800" b="0" u="none" strike="noStrike" kern="1200" cap="none" spc="0" normalizeH="0" noProof="0" smtClean="0">
              <a:ln>
                <a:noFill/>
              </a:ln>
              <a:solidFill>
                <a:schemeClr val="tx1"/>
              </a:solidFill>
              <a:effectLst/>
              <a:uLnTx/>
              <a:uFillTx/>
              <a:latin typeface="+mj-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1" u="none" strike="noStrike" kern="1200" cap="none" spc="0" normalizeH="0" noProof="0" smtClean="0">
                <a:ln>
                  <a:noFill/>
                </a:ln>
                <a:solidFill>
                  <a:srgbClr val="FF0000"/>
                </a:solidFill>
                <a:effectLst/>
                <a:uLnTx/>
                <a:uFillTx/>
                <a:latin typeface="+mj-lt"/>
                <a:ea typeface="宋体" panose="02010600030101010101" pitchFamily="2" charset="-122"/>
                <a:cs typeface="+mn-cs"/>
              </a:rPr>
              <a:t>流畅性</a:t>
            </a:r>
            <a:r>
              <a:rPr kumimoji="0" sz="1800" b="0" u="none" strike="noStrike" kern="1200" cap="none" spc="0" normalizeH="0" noProof="0" smtClean="0">
                <a:ln>
                  <a:noFill/>
                </a:ln>
                <a:solidFill>
                  <a:schemeClr val="tx1"/>
                </a:solidFill>
                <a:effectLst/>
                <a:uLnTx/>
                <a:uFillTx/>
                <a:latin typeface="+mj-lt"/>
                <a:ea typeface="+mn-ea"/>
                <a:cs typeface="+mn-cs"/>
              </a:rPr>
              <a:t>: 评估人凭其主观经验，判定被评估歌曲旋律的流畅度以及前后的一致性;</a:t>
            </a:r>
            <a:endParaRPr kumimoji="0" sz="1800" b="0" u="none" strike="noStrike" kern="1200" cap="none" spc="0" normalizeH="0" noProof="0" smtClean="0">
              <a:ln>
                <a:noFill/>
              </a:ln>
              <a:solidFill>
                <a:schemeClr val="tx1"/>
              </a:solidFill>
              <a:effectLst/>
              <a:uLnTx/>
              <a:uFillTx/>
              <a:latin typeface="+mj-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1" u="none" strike="noStrike" kern="1200" cap="none" spc="0" normalizeH="0" noProof="0" smtClean="0">
                <a:ln>
                  <a:noFill/>
                </a:ln>
                <a:solidFill>
                  <a:srgbClr val="FF0000"/>
                </a:solidFill>
                <a:effectLst/>
                <a:uLnTx/>
                <a:uFillTx/>
                <a:latin typeface="+mj-lt"/>
                <a:ea typeface="宋体" panose="02010600030101010101" pitchFamily="2" charset="-122"/>
                <a:cs typeface="+mn-cs"/>
              </a:rPr>
              <a:t>正确性</a:t>
            </a:r>
            <a:r>
              <a:rPr kumimoji="0" sz="1800" b="0" u="none" strike="noStrike" kern="1200" cap="none" spc="0" normalizeH="0" noProof="0" smtClean="0">
                <a:ln>
                  <a:noFill/>
                </a:ln>
                <a:solidFill>
                  <a:schemeClr val="tx1"/>
                </a:solidFill>
                <a:effectLst/>
                <a:uLnTx/>
                <a:uFillTx/>
                <a:latin typeface="+mj-lt"/>
                <a:ea typeface="+mn-ea"/>
                <a:cs typeface="+mn-cs"/>
              </a:rPr>
              <a:t>: 评估人凭其主观经验，判定被评估歌曲旋律是否能正确反映歌词的表达情感或意境;</a:t>
            </a:r>
            <a:endParaRPr kumimoji="0" sz="1800" b="0" u="none" strike="noStrike" kern="1200" cap="none" spc="0" normalizeH="0" noProof="0" smtClean="0">
              <a:ln>
                <a:noFill/>
              </a:ln>
              <a:solidFill>
                <a:schemeClr val="tx1"/>
              </a:solidFill>
              <a:effectLst/>
              <a:uLnTx/>
              <a:uFillTx/>
              <a:latin typeface="+mj-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sz="1800" b="1" i="1" u="none" strike="noStrike" kern="1200" cap="none" spc="0" normalizeH="0" noProof="0" smtClean="0">
                <a:ln>
                  <a:noFill/>
                </a:ln>
                <a:solidFill>
                  <a:srgbClr val="FF0000"/>
                </a:solidFill>
                <a:effectLst/>
                <a:uLnTx/>
                <a:uFillTx/>
                <a:latin typeface="+mj-lt"/>
                <a:ea typeface="宋体" panose="02010600030101010101" pitchFamily="2" charset="-122"/>
                <a:cs typeface="+mn-cs"/>
              </a:rPr>
              <a:t>整体印象</a:t>
            </a:r>
            <a:r>
              <a:rPr kumimoji="0" sz="1800" b="0" u="none" strike="noStrike" kern="1200" cap="none" spc="0" normalizeH="0" noProof="0" smtClean="0">
                <a:ln>
                  <a:noFill/>
                </a:ln>
                <a:solidFill>
                  <a:schemeClr val="tx1"/>
                </a:solidFill>
                <a:effectLst/>
                <a:uLnTx/>
                <a:uFillTx/>
                <a:latin typeface="+mj-lt"/>
                <a:ea typeface="+mn-ea"/>
                <a:cs typeface="+mn-cs"/>
              </a:rPr>
              <a:t>:评估人凭其主观经验，判定被评估歌曲旋律的整体美感性</a:t>
            </a:r>
            <a:r>
              <a:rPr kumimoji="0" lang="zh-CN" sz="1800" b="0" u="none" strike="noStrike" kern="1200" cap="none" spc="0" normalizeH="0" noProof="0" smtClean="0">
                <a:ln>
                  <a:noFill/>
                </a:ln>
                <a:solidFill>
                  <a:schemeClr val="tx1"/>
                </a:solidFill>
                <a:effectLst/>
                <a:uLnTx/>
                <a:uFillTx/>
                <a:latin typeface="+mj-lt"/>
                <a:ea typeface="宋体" panose="02010600030101010101" pitchFamily="2" charset="-122"/>
                <a:cs typeface="+mn-cs"/>
              </a:rPr>
              <a:t>。</a:t>
            </a:r>
            <a:endParaRPr kumimoji="0" lang="zh-CN" sz="1800" b="0"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pic>
        <p:nvPicPr>
          <p:cNvPr id="158725" name="图片 3"/>
          <p:cNvPicPr>
            <a:picLocks noChangeAspect="1"/>
          </p:cNvPicPr>
          <p:nvPr/>
        </p:nvPicPr>
        <p:blipFill>
          <a:blip r:embed="rId1"/>
          <a:stretch>
            <a:fillRect/>
          </a:stretch>
        </p:blipFill>
        <p:spPr>
          <a:xfrm>
            <a:off x="2717483" y="3413443"/>
            <a:ext cx="1441450" cy="333375"/>
          </a:xfrm>
          <a:prstGeom prst="rect">
            <a:avLst/>
          </a:prstGeom>
          <a:noFill/>
          <a:ln w="9525">
            <a:noFill/>
          </a:ln>
        </p:spPr>
      </p:pic>
      <p:sp>
        <p:nvSpPr>
          <p:cNvPr id="20" name="矩形 41"/>
          <p:cNvSpPr>
            <a:spLocks noChangeArrowheads="1"/>
          </p:cNvSpPr>
          <p:nvPr/>
        </p:nvSpPr>
        <p:spPr bwMode="auto">
          <a:xfrm>
            <a:off x="4733925" y="3638550"/>
            <a:ext cx="4445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5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5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pic>
        <p:nvPicPr>
          <p:cNvPr id="158728" name="图片 40"/>
          <p:cNvPicPr>
            <a:picLocks noChangeAspect="1"/>
          </p:cNvPicPr>
          <p:nvPr/>
        </p:nvPicPr>
        <p:blipFill>
          <a:blip r:embed="rId2"/>
          <a:stretch>
            <a:fillRect/>
          </a:stretch>
        </p:blipFill>
        <p:spPr>
          <a:xfrm>
            <a:off x="3016250" y="5986463"/>
            <a:ext cx="776288" cy="466725"/>
          </a:xfrm>
          <a:prstGeom prst="rect">
            <a:avLst/>
          </a:prstGeom>
          <a:noFill/>
          <a:ln w="9525">
            <a:noFill/>
          </a:ln>
        </p:spPr>
      </p:pic>
      <p:pic>
        <p:nvPicPr>
          <p:cNvPr id="158729" name="图片 40"/>
          <p:cNvPicPr>
            <a:picLocks noChangeAspect="1"/>
          </p:cNvPicPr>
          <p:nvPr/>
        </p:nvPicPr>
        <p:blipFill>
          <a:blip r:embed="rId2"/>
          <a:stretch>
            <a:fillRect/>
          </a:stretch>
        </p:blipFill>
        <p:spPr>
          <a:xfrm>
            <a:off x="4706938" y="5986463"/>
            <a:ext cx="776287" cy="466725"/>
          </a:xfrm>
          <a:prstGeom prst="rect">
            <a:avLst/>
          </a:prstGeom>
          <a:noFill/>
          <a:ln w="9525">
            <a:noFill/>
          </a:ln>
        </p:spPr>
      </p:pic>
      <p:sp>
        <p:nvSpPr>
          <p:cNvPr id="6" name="矩形 41"/>
          <p:cNvSpPr>
            <a:spLocks noChangeArrowheads="1"/>
          </p:cNvSpPr>
          <p:nvPr/>
        </p:nvSpPr>
        <p:spPr bwMode="auto">
          <a:xfrm>
            <a:off x="4159250" y="6076950"/>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58731" name="直接连接符 7"/>
          <p:cNvCxnSpPr/>
          <p:nvPr/>
        </p:nvCxnSpPr>
        <p:spPr>
          <a:xfrm flipV="1">
            <a:off x="5076825" y="2997200"/>
            <a:ext cx="503238" cy="863600"/>
          </a:xfrm>
          <a:prstGeom prst="line">
            <a:avLst/>
          </a:prstGeom>
          <a:ln w="19050" cap="flat" cmpd="sng">
            <a:solidFill>
              <a:srgbClr val="FF0000"/>
            </a:solidFill>
            <a:prstDash val="solid"/>
            <a:round/>
            <a:headEnd type="none" w="med" len="med"/>
            <a:tailEnd type="none" w="med" len="med"/>
          </a:ln>
        </p:spPr>
      </p:cxnSp>
      <p:cxnSp>
        <p:nvCxnSpPr>
          <p:cNvPr id="158732" name="直接连接符 6"/>
          <p:cNvCxnSpPr/>
          <p:nvPr/>
        </p:nvCxnSpPr>
        <p:spPr>
          <a:xfrm flipV="1">
            <a:off x="5148263" y="3860800"/>
            <a:ext cx="431800" cy="73025"/>
          </a:xfrm>
          <a:prstGeom prst="line">
            <a:avLst/>
          </a:prstGeom>
          <a:ln w="19050" cap="flat" cmpd="sng">
            <a:solidFill>
              <a:srgbClr val="FF0000"/>
            </a:solidFill>
            <a:prstDash val="solid"/>
            <a:round/>
            <a:headEnd type="none" w="med" len="med"/>
            <a:tailEnd type="none" w="med" len="med"/>
          </a:ln>
        </p:spPr>
      </p:cxnSp>
      <p:cxnSp>
        <p:nvCxnSpPr>
          <p:cNvPr id="158733" name="直接连接符 8"/>
          <p:cNvCxnSpPr/>
          <p:nvPr/>
        </p:nvCxnSpPr>
        <p:spPr>
          <a:xfrm>
            <a:off x="5148263" y="4005263"/>
            <a:ext cx="431800" cy="671512"/>
          </a:xfrm>
          <a:prstGeom prst="line">
            <a:avLst/>
          </a:prstGeom>
          <a:ln w="19050" cap="flat" cmpd="sng">
            <a:solidFill>
              <a:srgbClr val="FF0000"/>
            </a:solidFill>
            <a:prstDash val="solid"/>
            <a:round/>
            <a:headEnd type="none" w="med" len="med"/>
            <a:tailEnd type="none" w="med" len="med"/>
          </a:ln>
        </p:spPr>
      </p:cxnSp>
      <p:cxnSp>
        <p:nvCxnSpPr>
          <p:cNvPr id="158734" name="直接连接符 9"/>
          <p:cNvCxnSpPr/>
          <p:nvPr/>
        </p:nvCxnSpPr>
        <p:spPr>
          <a:xfrm>
            <a:off x="5003800" y="4149725"/>
            <a:ext cx="576263" cy="1368425"/>
          </a:xfrm>
          <a:prstGeom prst="line">
            <a:avLst/>
          </a:prstGeom>
          <a:ln w="19050" cap="flat" cmpd="sng">
            <a:solidFill>
              <a:srgbClr val="FF0000"/>
            </a:solidFill>
            <a:prstDash val="solid"/>
            <a:round/>
            <a:headEnd type="none" w="med" len="med"/>
            <a:tailEnd type="none" w="med" len="med"/>
          </a:ln>
        </p:spPr>
      </p:cxnSp>
      <p:cxnSp>
        <p:nvCxnSpPr>
          <p:cNvPr id="158735" name="直接连接符 10"/>
          <p:cNvCxnSpPr/>
          <p:nvPr/>
        </p:nvCxnSpPr>
        <p:spPr>
          <a:xfrm>
            <a:off x="4932363" y="4365625"/>
            <a:ext cx="287337" cy="1584325"/>
          </a:xfrm>
          <a:prstGeom prst="line">
            <a:avLst/>
          </a:prstGeom>
          <a:ln w="19050" cap="flat" cmpd="sng">
            <a:solidFill>
              <a:schemeClr val="tx1"/>
            </a:solidFill>
            <a:prstDash val="solid"/>
            <a:round/>
            <a:headEnd type="none" w="med" len="med"/>
            <a:tailEnd type="none" w="med" len="med"/>
          </a:ln>
        </p:spPr>
      </p:cxnSp>
      <p:cxnSp>
        <p:nvCxnSpPr>
          <p:cNvPr id="158736" name="直接连接符 11"/>
          <p:cNvCxnSpPr/>
          <p:nvPr/>
        </p:nvCxnSpPr>
        <p:spPr>
          <a:xfrm flipH="1">
            <a:off x="3543300" y="4365625"/>
            <a:ext cx="1389063" cy="1620838"/>
          </a:xfrm>
          <a:prstGeom prst="line">
            <a:avLst/>
          </a:prstGeom>
          <a:ln w="19050" cap="flat" cmpd="sng">
            <a:solidFill>
              <a:schemeClr val="tx1"/>
            </a:solidFill>
            <a:prstDash val="solid"/>
            <a:round/>
            <a:headEnd type="none" w="med" len="med"/>
            <a:tailEnd type="none" w="med" len="med"/>
          </a:ln>
        </p:spPr>
      </p:cxnSp>
      <p:cxnSp>
        <p:nvCxnSpPr>
          <p:cNvPr id="158737" name="直接连接符 12"/>
          <p:cNvCxnSpPr/>
          <p:nvPr/>
        </p:nvCxnSpPr>
        <p:spPr>
          <a:xfrm flipH="1">
            <a:off x="4344988" y="4365625"/>
            <a:ext cx="587375" cy="1668463"/>
          </a:xfrm>
          <a:prstGeom prst="line">
            <a:avLst/>
          </a:prstGeom>
          <a:ln w="19050" cap="flat" cmpd="sng">
            <a:solidFill>
              <a:schemeClr val="tx1"/>
            </a:solidFill>
            <a:prstDash val="solid"/>
            <a:round/>
            <a:headEnd type="none" w="med" len="med"/>
            <a:tailEnd type="none" w="med" len="med"/>
          </a:ln>
        </p:spPr>
      </p:cxnSp>
      <p:sp>
        <p:nvSpPr>
          <p:cNvPr id="158738" name="椭圆 13"/>
          <p:cNvSpPr/>
          <p:nvPr/>
        </p:nvSpPr>
        <p:spPr>
          <a:xfrm>
            <a:off x="4211638" y="3502025"/>
            <a:ext cx="144462" cy="90488"/>
          </a:xfrm>
          <a:prstGeom prst="ellipse">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58739" name="椭圆 14"/>
          <p:cNvSpPr/>
          <p:nvPr/>
        </p:nvSpPr>
        <p:spPr>
          <a:xfrm>
            <a:off x="4410075" y="3556000"/>
            <a:ext cx="258763" cy="153988"/>
          </a:xfrm>
          <a:prstGeom prst="ellipse">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58740" name="椭圆 15"/>
          <p:cNvSpPr/>
          <p:nvPr/>
        </p:nvSpPr>
        <p:spPr>
          <a:xfrm>
            <a:off x="4668838" y="3638550"/>
            <a:ext cx="341312" cy="198438"/>
          </a:xfrm>
          <a:prstGeom prst="ellipse">
            <a:avLst/>
          </a:prstGeom>
          <a:no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154626"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GB" sz="2400" i="1" dirty="0">
                <a:solidFill>
                  <a:srgbClr val="FFC000"/>
                </a:solidFill>
                <a:latin typeface="Times New Roman" panose="02020603050405020304" pitchFamily="18" charset="0"/>
                <a:ea typeface="宋体" panose="02010600030101010101" pitchFamily="2" charset="-122"/>
              </a:rPr>
              <a:t>主观评估方法与客观评估模型实验的比较</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7" name="矩形 41"/>
          <p:cNvSpPr>
            <a:spLocks noChangeArrowheads="1"/>
          </p:cNvSpPr>
          <p:nvPr/>
        </p:nvSpPr>
        <p:spPr bwMode="auto">
          <a:xfrm>
            <a:off x="573088" y="2714625"/>
            <a:ext cx="4697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en-GB" sz="2000" b="0" i="1" u="none" strike="noStrike" kern="1200" cap="none" spc="0" normalizeH="0" noProof="0" smtClean="0">
                <a:ln>
                  <a:noFill/>
                </a:ln>
                <a:solidFill>
                  <a:schemeClr val="tx1"/>
                </a:solidFill>
                <a:effectLst/>
                <a:uLnTx/>
                <a:uFillTx/>
                <a:latin typeface="+mj-lt"/>
                <a:ea typeface="宋体" panose="02010600030101010101" pitchFamily="2" charset="-122"/>
                <a:cs typeface="+mn-cs"/>
              </a:rPr>
              <a:t>主观评估方法</a:t>
            </a:r>
            <a:endParaRPr kumimoji="0" lang="zh-CN" altLang="en-GB" sz="2000" b="0" i="1" u="none" strike="noStrike" kern="1200" cap="none" spc="0" normalizeH="0" noProof="0" smtClean="0">
              <a:ln>
                <a:noFill/>
              </a:ln>
              <a:solidFill>
                <a:schemeClr val="tx1"/>
              </a:solidFill>
              <a:effectLst/>
              <a:uLnTx/>
              <a:uFillTx/>
              <a:latin typeface="+mj-lt"/>
              <a:ea typeface="宋体" panose="02010600030101010101" pitchFamily="2" charset="-122"/>
              <a:cs typeface="+mn-cs"/>
            </a:endParaRPr>
          </a:p>
        </p:txBody>
      </p:sp>
      <p:sp>
        <p:nvSpPr>
          <p:cNvPr id="8"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5280"/>
            <a:ext cx="771525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sz="2000" strike="noStrike" noProof="0" smtClean="0">
                <a:ln>
                  <a:noFill/>
                </a:ln>
                <a:effectLst/>
                <a:uLnTx/>
                <a:uFillTx/>
                <a:latin typeface="+mj-lt"/>
                <a:ea typeface="+mn-ea"/>
                <a:cs typeface="+mn-cs"/>
              </a:rPr>
              <a:t>令</a:t>
            </a:r>
            <a:r>
              <a:rPr sz="2000" i="1" strike="noStrike" noProof="0" smtClean="0">
                <a:ln>
                  <a:noFill/>
                </a:ln>
                <a:effectLst/>
                <a:uLnTx/>
                <a:uFillTx/>
                <a:latin typeface="+mj-lt"/>
                <a:ea typeface="+mn-ea"/>
                <a:cs typeface="+mn-cs"/>
              </a:rPr>
              <a:t>GenImpression</a:t>
            </a:r>
            <a:r>
              <a:rPr sz="2000" strike="noStrike" noProof="0" smtClean="0">
                <a:ln>
                  <a:noFill/>
                </a:ln>
                <a:effectLst/>
                <a:uLnTx/>
                <a:uFillTx/>
                <a:latin typeface="+mj-lt"/>
                <a:ea typeface="+mn-ea"/>
                <a:cs typeface="+mn-cs"/>
              </a:rPr>
              <a:t>(</a:t>
            </a:r>
            <a:r>
              <a:rPr sz="2000" i="1" strike="noStrike" noProof="0" smtClean="0">
                <a:ln>
                  <a:noFill/>
                </a:ln>
                <a:effectLst/>
                <a:uLnTx/>
                <a:uFillTx/>
                <a:latin typeface="+mj-lt"/>
                <a:ea typeface="+mn-ea"/>
                <a:cs typeface="+mn-cs"/>
              </a:rPr>
              <a:t>i</a:t>
            </a:r>
            <a:r>
              <a:rPr sz="2000" strike="noStrike" noProof="0" smtClean="0">
                <a:ln>
                  <a:noFill/>
                </a:ln>
                <a:effectLst/>
                <a:uLnTx/>
                <a:uFillTx/>
                <a:latin typeface="+mj-lt"/>
                <a:ea typeface="+mn-ea"/>
                <a:cs typeface="+mn-cs"/>
              </a:rPr>
              <a:t>, </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)为第i位评估人为第j首歌曲提供的整体印象评估分；</a:t>
            </a:r>
            <a:r>
              <a:rPr sz="2000" i="1" strike="noStrike" noProof="0" smtClean="0">
                <a:ln>
                  <a:noFill/>
                </a:ln>
                <a:effectLst/>
                <a:uLnTx/>
                <a:uFillTx/>
                <a:latin typeface="+mj-lt"/>
                <a:ea typeface="+mn-ea"/>
                <a:cs typeface="+mn-cs"/>
              </a:rPr>
              <a:t>Specificity</a:t>
            </a:r>
            <a:r>
              <a:rPr sz="2000" strike="noStrike" noProof="0" smtClean="0">
                <a:ln>
                  <a:noFill/>
                </a:ln>
                <a:effectLst/>
                <a:uLnTx/>
                <a:uFillTx/>
                <a:latin typeface="+mj-lt"/>
                <a:ea typeface="+mn-ea"/>
                <a:cs typeface="+mn-cs"/>
              </a:rPr>
              <a:t>(</a:t>
            </a:r>
            <a:r>
              <a:rPr sz="2000" i="1" strike="noStrike" noProof="0" smtClean="0">
                <a:ln>
                  <a:noFill/>
                </a:ln>
                <a:effectLst/>
                <a:uLnTx/>
                <a:uFillTx/>
                <a:latin typeface="+mj-lt"/>
                <a:ea typeface="+mn-ea"/>
                <a:cs typeface="+mn-cs"/>
              </a:rPr>
              <a:t>i</a:t>
            </a:r>
            <a:r>
              <a:rPr sz="2000" strike="noStrike" noProof="0" smtClean="0">
                <a:ln>
                  <a:noFill/>
                </a:ln>
                <a:effectLst/>
                <a:uLnTx/>
                <a:uFillTx/>
                <a:latin typeface="+mj-lt"/>
                <a:ea typeface="+mn-ea"/>
                <a:cs typeface="+mn-cs"/>
              </a:rPr>
              <a:t>, </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)为第</a:t>
            </a:r>
            <a:r>
              <a:rPr sz="2000" i="1" strike="noStrike" noProof="0" smtClean="0">
                <a:ln>
                  <a:noFill/>
                </a:ln>
                <a:effectLst/>
                <a:uLnTx/>
                <a:uFillTx/>
                <a:latin typeface="+mj-lt"/>
                <a:ea typeface="+mn-ea"/>
                <a:cs typeface="+mn-cs"/>
              </a:rPr>
              <a:t>i</a:t>
            </a:r>
            <a:r>
              <a:rPr sz="2000" strike="noStrike" noProof="0" smtClean="0">
                <a:ln>
                  <a:noFill/>
                </a:ln>
                <a:effectLst/>
                <a:uLnTx/>
                <a:uFillTx/>
                <a:latin typeface="+mj-lt"/>
                <a:ea typeface="+mn-ea"/>
                <a:cs typeface="+mn-cs"/>
              </a:rPr>
              <a:t>位评估人为第</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首歌曲提供的独特性评估分；</a:t>
            </a:r>
            <a:r>
              <a:rPr sz="2000" i="1" strike="noStrike" noProof="0" smtClean="0">
                <a:ln>
                  <a:noFill/>
                </a:ln>
                <a:effectLst/>
                <a:uLnTx/>
                <a:uFillTx/>
                <a:latin typeface="+mj-lt"/>
                <a:ea typeface="+mn-ea"/>
                <a:cs typeface="+mn-cs"/>
              </a:rPr>
              <a:t>Fluency</a:t>
            </a:r>
            <a:r>
              <a:rPr sz="2000" strike="noStrike" noProof="0" smtClean="0">
                <a:ln>
                  <a:noFill/>
                </a:ln>
                <a:effectLst/>
                <a:uLnTx/>
                <a:uFillTx/>
                <a:latin typeface="+mj-lt"/>
                <a:ea typeface="+mn-ea"/>
                <a:cs typeface="+mn-cs"/>
              </a:rPr>
              <a:t>(</a:t>
            </a:r>
            <a:r>
              <a:rPr sz="2000" i="1" strike="noStrike" noProof="0" smtClean="0">
                <a:ln>
                  <a:noFill/>
                </a:ln>
                <a:effectLst/>
                <a:uLnTx/>
                <a:uFillTx/>
                <a:latin typeface="+mj-lt"/>
                <a:ea typeface="+mn-ea"/>
                <a:cs typeface="+mn-cs"/>
              </a:rPr>
              <a:t>i</a:t>
            </a:r>
            <a:r>
              <a:rPr sz="2000" strike="noStrike" noProof="0" smtClean="0">
                <a:ln>
                  <a:noFill/>
                </a:ln>
                <a:effectLst/>
                <a:uLnTx/>
                <a:uFillTx/>
                <a:latin typeface="+mj-lt"/>
                <a:ea typeface="+mn-ea"/>
                <a:cs typeface="+mn-cs"/>
              </a:rPr>
              <a:t>, </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)为第i位评估人为第</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首歌曲提供的流畅性评估分；</a:t>
            </a:r>
            <a:r>
              <a:rPr sz="2000" i="1" strike="noStrike" noProof="0" smtClean="0">
                <a:ln>
                  <a:noFill/>
                </a:ln>
                <a:effectLst/>
                <a:uLnTx/>
                <a:uFillTx/>
                <a:latin typeface="+mj-lt"/>
                <a:ea typeface="+mn-ea"/>
                <a:cs typeface="+mn-cs"/>
              </a:rPr>
              <a:t>Correctness</a:t>
            </a:r>
            <a:r>
              <a:rPr sz="2000" strike="noStrike" noProof="0" smtClean="0">
                <a:ln>
                  <a:noFill/>
                </a:ln>
                <a:effectLst/>
                <a:uLnTx/>
                <a:uFillTx/>
                <a:latin typeface="+mj-lt"/>
                <a:ea typeface="+mn-ea"/>
                <a:cs typeface="+mn-cs"/>
              </a:rPr>
              <a:t>(</a:t>
            </a:r>
            <a:r>
              <a:rPr sz="2000" i="1" strike="noStrike" noProof="0" smtClean="0">
                <a:ln>
                  <a:noFill/>
                </a:ln>
                <a:effectLst/>
                <a:uLnTx/>
                <a:uFillTx/>
                <a:latin typeface="+mj-lt"/>
                <a:ea typeface="+mn-ea"/>
                <a:cs typeface="+mn-cs"/>
              </a:rPr>
              <a:t>i</a:t>
            </a:r>
            <a:r>
              <a:rPr sz="2000" strike="noStrike" noProof="0" smtClean="0">
                <a:ln>
                  <a:noFill/>
                </a:ln>
                <a:effectLst/>
                <a:uLnTx/>
                <a:uFillTx/>
                <a:latin typeface="+mj-lt"/>
                <a:ea typeface="+mn-ea"/>
                <a:cs typeface="+mn-cs"/>
              </a:rPr>
              <a:t>, </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)是第</a:t>
            </a:r>
            <a:r>
              <a:rPr sz="2000" i="1" strike="noStrike" noProof="0" smtClean="0">
                <a:ln>
                  <a:noFill/>
                </a:ln>
                <a:effectLst/>
                <a:uLnTx/>
                <a:uFillTx/>
                <a:latin typeface="+mj-lt"/>
                <a:ea typeface="+mn-ea"/>
                <a:cs typeface="+mn-cs"/>
              </a:rPr>
              <a:t>i</a:t>
            </a:r>
            <a:r>
              <a:rPr sz="2000" strike="noStrike" noProof="0" smtClean="0">
                <a:ln>
                  <a:noFill/>
                </a:ln>
                <a:effectLst/>
                <a:uLnTx/>
                <a:uFillTx/>
                <a:latin typeface="+mj-lt"/>
                <a:ea typeface="+mn-ea"/>
                <a:cs typeface="+mn-cs"/>
              </a:rPr>
              <a:t>位评估人为第</a:t>
            </a:r>
            <a:r>
              <a:rPr sz="2000" i="1" strike="noStrike" noProof="0" smtClean="0">
                <a:ln>
                  <a:noFill/>
                </a:ln>
                <a:effectLst/>
                <a:uLnTx/>
                <a:uFillTx/>
                <a:latin typeface="+mj-lt"/>
                <a:ea typeface="+mn-ea"/>
                <a:cs typeface="+mn-cs"/>
              </a:rPr>
              <a:t>j</a:t>
            </a:r>
            <a:r>
              <a:rPr sz="2000" strike="noStrike" noProof="0" smtClean="0">
                <a:ln>
                  <a:noFill/>
                </a:ln>
                <a:effectLst/>
                <a:uLnTx/>
                <a:uFillTx/>
                <a:latin typeface="+mj-lt"/>
                <a:ea typeface="+mn-ea"/>
                <a:cs typeface="+mn-cs"/>
              </a:rPr>
              <a:t>首歌曲提供的正确性评估分。</a:t>
            </a:r>
            <a:endParaRPr sz="2000" strike="noStrike" noProof="0" smtClean="0">
              <a:ln>
                <a:noFill/>
              </a:ln>
              <a:effectLst/>
              <a:uLnTx/>
              <a:uFillTx/>
              <a:latin typeface="+mj-lt"/>
              <a:ea typeface="+mn-ea"/>
              <a:cs typeface="+mn-cs"/>
            </a:endParaRPr>
          </a:p>
        </p:txBody>
      </p:sp>
      <p:sp>
        <p:nvSpPr>
          <p:cNvPr id="160770"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pic>
        <p:nvPicPr>
          <p:cNvPr id="160772" name="图片 3"/>
          <p:cNvPicPr>
            <a:picLocks noChangeAspect="1"/>
          </p:cNvPicPr>
          <p:nvPr/>
        </p:nvPicPr>
        <p:blipFill>
          <a:blip r:embed="rId1"/>
          <a:stretch>
            <a:fillRect/>
          </a:stretch>
        </p:blipFill>
        <p:spPr>
          <a:xfrm>
            <a:off x="1349375" y="4945063"/>
            <a:ext cx="2870200" cy="665162"/>
          </a:xfrm>
          <a:prstGeom prst="rect">
            <a:avLst/>
          </a:prstGeom>
          <a:noFill/>
          <a:ln w="9525">
            <a:noFill/>
          </a:ln>
        </p:spPr>
      </p:pic>
      <p:pic>
        <p:nvPicPr>
          <p:cNvPr id="160773" name="图片 40"/>
          <p:cNvPicPr>
            <a:picLocks noChangeAspect="1"/>
          </p:cNvPicPr>
          <p:nvPr/>
        </p:nvPicPr>
        <p:blipFill>
          <a:blip r:embed="rId2"/>
          <a:stretch>
            <a:fillRect/>
          </a:stretch>
        </p:blipFill>
        <p:spPr>
          <a:xfrm>
            <a:off x="4524375" y="4406900"/>
            <a:ext cx="776288" cy="466725"/>
          </a:xfrm>
          <a:prstGeom prst="rect">
            <a:avLst/>
          </a:prstGeom>
          <a:noFill/>
          <a:ln w="9525">
            <a:noFill/>
          </a:ln>
        </p:spPr>
      </p:pic>
      <p:pic>
        <p:nvPicPr>
          <p:cNvPr id="160774" name="图片 40"/>
          <p:cNvPicPr>
            <a:picLocks noChangeAspect="1"/>
          </p:cNvPicPr>
          <p:nvPr/>
        </p:nvPicPr>
        <p:blipFill>
          <a:blip r:embed="rId2"/>
          <a:stretch>
            <a:fillRect/>
          </a:stretch>
        </p:blipFill>
        <p:spPr>
          <a:xfrm>
            <a:off x="6213475" y="4406900"/>
            <a:ext cx="776288" cy="466725"/>
          </a:xfrm>
          <a:prstGeom prst="rect">
            <a:avLst/>
          </a:prstGeom>
          <a:noFill/>
          <a:ln w="9525">
            <a:noFill/>
          </a:ln>
        </p:spPr>
      </p:pic>
      <p:sp>
        <p:nvSpPr>
          <p:cNvPr id="6" name="矩形 41"/>
          <p:cNvSpPr>
            <a:spLocks noChangeArrowheads="1"/>
          </p:cNvSpPr>
          <p:nvPr/>
        </p:nvSpPr>
        <p:spPr bwMode="auto">
          <a:xfrm>
            <a:off x="5522913" y="4427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7" name="矩形 41"/>
          <p:cNvSpPr>
            <a:spLocks noChangeArrowheads="1"/>
          </p:cNvSpPr>
          <p:nvPr/>
        </p:nvSpPr>
        <p:spPr bwMode="auto">
          <a:xfrm>
            <a:off x="4638675" y="51276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i="1" strike="noStrike" noProof="0" smtClean="0">
                <a:ln>
                  <a:noFill/>
                </a:ln>
                <a:effectLst/>
                <a:uLnTx/>
                <a:uFillTx/>
                <a:latin typeface="+mj-lt"/>
                <a:ea typeface="+mn-ea"/>
                <a:cs typeface="+mn-cs"/>
                <a:sym typeface="+mn-ea"/>
              </a:rPr>
              <a:t>GenImpression</a:t>
            </a:r>
            <a:r>
              <a:rPr sz="2000" strike="noStrike" noProof="0" smtClean="0">
                <a:ln>
                  <a:noFill/>
                </a:ln>
                <a:effectLst/>
                <a:uLnTx/>
                <a:uFillTx/>
                <a:latin typeface="+mj-lt"/>
                <a:ea typeface="+mn-ea"/>
                <a:cs typeface="+mn-cs"/>
                <a:sym typeface="+mn-ea"/>
              </a:rPr>
              <a:t>(</a:t>
            </a:r>
            <a:r>
              <a:rPr sz="2000" i="1" strike="noStrike" noProof="0" smtClean="0">
                <a:ln>
                  <a:noFill/>
                </a:ln>
                <a:effectLst/>
                <a:uLnTx/>
                <a:uFillTx/>
                <a:latin typeface="+mj-lt"/>
                <a:ea typeface="+mn-ea"/>
                <a:cs typeface="+mn-cs"/>
                <a:sym typeface="+mn-ea"/>
              </a:rPr>
              <a:t>i</a:t>
            </a:r>
            <a:r>
              <a:rPr sz="2000" strike="noStrike" noProof="0" smtClean="0">
                <a:ln>
                  <a:noFill/>
                </a:ln>
                <a:effectLst/>
                <a:uLnTx/>
                <a:uFillTx/>
                <a:latin typeface="+mj-lt"/>
                <a:ea typeface="+mn-ea"/>
                <a:cs typeface="+mn-cs"/>
                <a:sym typeface="+mn-ea"/>
              </a:rPr>
              <a:t>, </a:t>
            </a:r>
            <a:r>
              <a:rPr sz="2000" i="1" strike="noStrike" noProof="0" smtClean="0">
                <a:ln>
                  <a:noFill/>
                </a:ln>
                <a:effectLst/>
                <a:uLnTx/>
                <a:uFillTx/>
                <a:latin typeface="+mj-lt"/>
                <a:ea typeface="+mn-ea"/>
                <a:cs typeface="+mn-cs"/>
                <a:sym typeface="+mn-ea"/>
              </a:rPr>
              <a:t>j</a:t>
            </a:r>
            <a:r>
              <a:rPr sz="2000" strike="noStrike" noProof="0" smtClean="0">
                <a:ln>
                  <a:noFill/>
                </a:ln>
                <a:effectLst/>
                <a:uLnTx/>
                <a:uFillTx/>
                <a:latin typeface="+mj-lt"/>
                <a:ea typeface="+mn-ea"/>
                <a:cs typeface="+mn-cs"/>
                <a:sym typeface="+mn-ea"/>
              </a:rPr>
              <a:t>)</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60777" name="直接连接符 7"/>
          <p:cNvCxnSpPr/>
          <p:nvPr/>
        </p:nvCxnSpPr>
        <p:spPr>
          <a:xfrm flipV="1">
            <a:off x="3995738" y="4683125"/>
            <a:ext cx="2217737" cy="474663"/>
          </a:xfrm>
          <a:prstGeom prst="line">
            <a:avLst/>
          </a:prstGeom>
          <a:ln w="19050" cap="flat" cmpd="sng">
            <a:solidFill>
              <a:srgbClr val="00B050"/>
            </a:solidFill>
            <a:prstDash val="solid"/>
            <a:round/>
            <a:headEnd type="none" w="med" len="med"/>
            <a:tailEnd type="none" w="med" len="med"/>
          </a:ln>
        </p:spPr>
      </p:cxnSp>
      <p:cxnSp>
        <p:nvCxnSpPr>
          <p:cNvPr id="160778" name="直接连接符 8"/>
          <p:cNvCxnSpPr/>
          <p:nvPr/>
        </p:nvCxnSpPr>
        <p:spPr>
          <a:xfrm flipV="1">
            <a:off x="3995738" y="4648200"/>
            <a:ext cx="509587" cy="509588"/>
          </a:xfrm>
          <a:prstGeom prst="line">
            <a:avLst/>
          </a:prstGeom>
          <a:ln w="19050" cap="flat" cmpd="sng">
            <a:solidFill>
              <a:srgbClr val="00B050"/>
            </a:solidFill>
            <a:prstDash val="solid"/>
            <a:round/>
            <a:headEnd type="none" w="med" len="med"/>
            <a:tailEnd type="none" w="med" len="med"/>
          </a:ln>
        </p:spPr>
      </p:cxnSp>
      <p:sp>
        <p:nvSpPr>
          <p:cNvPr id="10" name="矩形 41"/>
          <p:cNvSpPr>
            <a:spLocks noChangeArrowheads="1"/>
          </p:cNvSpPr>
          <p:nvPr/>
        </p:nvSpPr>
        <p:spPr bwMode="auto">
          <a:xfrm>
            <a:off x="4264025" y="4681538"/>
            <a:ext cx="4222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00B05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00B050"/>
              </a:solidFill>
              <a:effectLst/>
              <a:uLnTx/>
              <a:uFillTx/>
              <a:latin typeface="+mj-lt"/>
              <a:ea typeface="宋体" panose="02010600030101010101" pitchFamily="2" charset="-122"/>
              <a:cs typeface="+mn-cs"/>
              <a:sym typeface="+mn-ea"/>
            </a:endParaRPr>
          </a:p>
        </p:txBody>
      </p:sp>
      <p:cxnSp>
        <p:nvCxnSpPr>
          <p:cNvPr id="160780" name="直接连接符 10"/>
          <p:cNvCxnSpPr/>
          <p:nvPr/>
        </p:nvCxnSpPr>
        <p:spPr>
          <a:xfrm flipV="1">
            <a:off x="1619250" y="4610100"/>
            <a:ext cx="2886075" cy="476250"/>
          </a:xfrm>
          <a:prstGeom prst="line">
            <a:avLst/>
          </a:prstGeom>
          <a:ln w="19050" cap="flat" cmpd="sng">
            <a:solidFill>
              <a:srgbClr val="FF0000"/>
            </a:solidFill>
            <a:prstDash val="solid"/>
            <a:round/>
            <a:headEnd type="none" w="med" len="med"/>
            <a:tailEnd type="none" w="med" len="med"/>
          </a:ln>
        </p:spPr>
      </p:cxnSp>
      <p:cxnSp>
        <p:nvCxnSpPr>
          <p:cNvPr id="160781" name="直接连接符 11"/>
          <p:cNvCxnSpPr/>
          <p:nvPr/>
        </p:nvCxnSpPr>
        <p:spPr>
          <a:xfrm flipV="1">
            <a:off x="1619250" y="4648200"/>
            <a:ext cx="4543425" cy="438150"/>
          </a:xfrm>
          <a:prstGeom prst="line">
            <a:avLst/>
          </a:prstGeom>
          <a:ln w="19050" cap="flat" cmpd="sng">
            <a:solidFill>
              <a:srgbClr val="FF0000"/>
            </a:solidFill>
            <a:prstDash val="solid"/>
            <a:round/>
            <a:headEnd type="none" w="med" len="med"/>
            <a:tailEnd type="none" w="med" len="med"/>
          </a:ln>
        </p:spPr>
      </p:cxnSp>
      <p:sp>
        <p:nvSpPr>
          <p:cNvPr id="13" name="矩形 41"/>
          <p:cNvSpPr>
            <a:spLocks noChangeArrowheads="1"/>
          </p:cNvSpPr>
          <p:nvPr/>
        </p:nvSpPr>
        <p:spPr bwMode="auto">
          <a:xfrm>
            <a:off x="3889375" y="4521200"/>
            <a:ext cx="420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FF000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8"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4963"/>
            <a:ext cx="80073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sz="2000" b="0" i="0" u="none" strike="noStrike" cap="none" spc="0" normalizeH="0" baseline="0" noProof="0" smtClean="0">
                <a:ln>
                  <a:noFill/>
                </a:ln>
                <a:effectLst/>
                <a:uLnTx/>
                <a:uFillTx/>
                <a:latin typeface="Times New Roman" panose="02020603050405020304" pitchFamily="18" charset="0"/>
                <a:ea typeface="+mn-ea"/>
                <a:cs typeface="Times New Roman" panose="02020603050405020304" pitchFamily="18" charset="0"/>
              </a:rPr>
              <a:t>假设每位评估人对14首歌曲的整体印象评估分与其他3个分项都遵守相同的线性叠加关系。通过对14首歌曲的评估分值样点实施3元线性拟合，则可以获得21份如式(2-7)所示的3元线性关系：</a:t>
            </a:r>
            <a:endParaRPr kumimoji="0" sz="2000" b="0" i="0" u="none" strike="noStrike" cap="none" spc="0" normalizeH="0" baseline="0" noProof="0" smtClean="0">
              <a:ln>
                <a:noFill/>
              </a:ln>
              <a:effectLst/>
              <a:uLnTx/>
              <a:uFillTx/>
              <a:latin typeface="Times New Roman" panose="02020603050405020304" pitchFamily="18" charset="0"/>
              <a:ea typeface="+mn-ea"/>
              <a:cs typeface="Times New Roman" panose="02020603050405020304" pitchFamily="18" charset="0"/>
            </a:endParaRPr>
          </a:p>
        </p:txBody>
      </p:sp>
      <p:pic>
        <p:nvPicPr>
          <p:cNvPr id="162820" name="图片 2"/>
          <p:cNvPicPr>
            <a:picLocks noChangeAspect="1"/>
          </p:cNvPicPr>
          <p:nvPr/>
        </p:nvPicPr>
        <p:blipFill>
          <a:blip r:embed="rId1"/>
          <a:stretch>
            <a:fillRect/>
          </a:stretch>
        </p:blipFill>
        <p:spPr>
          <a:xfrm>
            <a:off x="757238" y="5837238"/>
            <a:ext cx="8005762" cy="604837"/>
          </a:xfrm>
          <a:prstGeom prst="rect">
            <a:avLst/>
          </a:prstGeom>
          <a:noFill/>
          <a:ln w="9525">
            <a:noFill/>
          </a:ln>
        </p:spPr>
      </p:pic>
      <p:pic>
        <p:nvPicPr>
          <p:cNvPr id="162821" name="图片 3"/>
          <p:cNvPicPr>
            <a:picLocks noChangeAspect="1"/>
          </p:cNvPicPr>
          <p:nvPr/>
        </p:nvPicPr>
        <p:blipFill>
          <a:blip r:embed="rId2"/>
          <a:stretch>
            <a:fillRect/>
          </a:stretch>
        </p:blipFill>
        <p:spPr>
          <a:xfrm>
            <a:off x="1349375" y="4945063"/>
            <a:ext cx="2870200" cy="665162"/>
          </a:xfrm>
          <a:prstGeom prst="rect">
            <a:avLst/>
          </a:prstGeom>
          <a:noFill/>
          <a:ln w="9525">
            <a:noFill/>
          </a:ln>
        </p:spPr>
      </p:pic>
      <p:pic>
        <p:nvPicPr>
          <p:cNvPr id="162822" name="图片 40"/>
          <p:cNvPicPr>
            <a:picLocks noChangeAspect="1"/>
          </p:cNvPicPr>
          <p:nvPr/>
        </p:nvPicPr>
        <p:blipFill>
          <a:blip r:embed="rId3"/>
          <a:stretch>
            <a:fillRect/>
          </a:stretch>
        </p:blipFill>
        <p:spPr>
          <a:xfrm>
            <a:off x="4524375" y="4406900"/>
            <a:ext cx="776288" cy="466725"/>
          </a:xfrm>
          <a:prstGeom prst="rect">
            <a:avLst/>
          </a:prstGeom>
          <a:noFill/>
          <a:ln w="9525">
            <a:noFill/>
          </a:ln>
        </p:spPr>
      </p:pic>
      <p:pic>
        <p:nvPicPr>
          <p:cNvPr id="162823" name="图片 40"/>
          <p:cNvPicPr>
            <a:picLocks noChangeAspect="1"/>
          </p:cNvPicPr>
          <p:nvPr/>
        </p:nvPicPr>
        <p:blipFill>
          <a:blip r:embed="rId3"/>
          <a:stretch>
            <a:fillRect/>
          </a:stretch>
        </p:blipFill>
        <p:spPr>
          <a:xfrm>
            <a:off x="6213475" y="4406900"/>
            <a:ext cx="776288" cy="466725"/>
          </a:xfrm>
          <a:prstGeom prst="rect">
            <a:avLst/>
          </a:prstGeom>
          <a:noFill/>
          <a:ln w="9525">
            <a:noFill/>
          </a:ln>
        </p:spPr>
      </p:pic>
      <p:sp>
        <p:nvSpPr>
          <p:cNvPr id="6" name="矩形 41"/>
          <p:cNvSpPr>
            <a:spLocks noChangeArrowheads="1"/>
          </p:cNvSpPr>
          <p:nvPr/>
        </p:nvSpPr>
        <p:spPr bwMode="auto">
          <a:xfrm>
            <a:off x="5522913" y="4427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7" name="矩形 41"/>
          <p:cNvSpPr>
            <a:spLocks noChangeArrowheads="1"/>
          </p:cNvSpPr>
          <p:nvPr/>
        </p:nvSpPr>
        <p:spPr bwMode="auto">
          <a:xfrm>
            <a:off x="4638675" y="51276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i="1" strike="noStrike" noProof="0" smtClean="0">
                <a:ln>
                  <a:noFill/>
                </a:ln>
                <a:effectLst/>
                <a:uLnTx/>
                <a:uFillTx/>
                <a:latin typeface="+mj-lt"/>
                <a:ea typeface="+mn-ea"/>
                <a:cs typeface="+mn-cs"/>
                <a:sym typeface="+mn-ea"/>
              </a:rPr>
              <a:t>GenImpression</a:t>
            </a:r>
            <a:r>
              <a:rPr sz="2000" strike="noStrike" noProof="0" smtClean="0">
                <a:ln>
                  <a:noFill/>
                </a:ln>
                <a:effectLst/>
                <a:uLnTx/>
                <a:uFillTx/>
                <a:latin typeface="+mj-lt"/>
                <a:ea typeface="+mn-ea"/>
                <a:cs typeface="+mn-cs"/>
                <a:sym typeface="+mn-ea"/>
              </a:rPr>
              <a:t>(</a:t>
            </a:r>
            <a:r>
              <a:rPr sz="2000" i="1" strike="noStrike" noProof="0" smtClean="0">
                <a:ln>
                  <a:noFill/>
                </a:ln>
                <a:effectLst/>
                <a:uLnTx/>
                <a:uFillTx/>
                <a:latin typeface="+mj-lt"/>
                <a:ea typeface="+mn-ea"/>
                <a:cs typeface="+mn-cs"/>
                <a:sym typeface="+mn-ea"/>
              </a:rPr>
              <a:t>i</a:t>
            </a:r>
            <a:r>
              <a:rPr sz="2000" strike="noStrike" noProof="0" smtClean="0">
                <a:ln>
                  <a:noFill/>
                </a:ln>
                <a:effectLst/>
                <a:uLnTx/>
                <a:uFillTx/>
                <a:latin typeface="+mj-lt"/>
                <a:ea typeface="+mn-ea"/>
                <a:cs typeface="+mn-cs"/>
                <a:sym typeface="+mn-ea"/>
              </a:rPr>
              <a:t>, </a:t>
            </a:r>
            <a:r>
              <a:rPr sz="2000" i="1" strike="noStrike" noProof="0" smtClean="0">
                <a:ln>
                  <a:noFill/>
                </a:ln>
                <a:effectLst/>
                <a:uLnTx/>
                <a:uFillTx/>
                <a:latin typeface="+mj-lt"/>
                <a:ea typeface="+mn-ea"/>
                <a:cs typeface="+mn-cs"/>
                <a:sym typeface="+mn-ea"/>
              </a:rPr>
              <a:t>j</a:t>
            </a:r>
            <a:r>
              <a:rPr sz="2000" strike="noStrike" noProof="0" smtClean="0">
                <a:ln>
                  <a:noFill/>
                </a:ln>
                <a:effectLst/>
                <a:uLnTx/>
                <a:uFillTx/>
                <a:latin typeface="+mj-lt"/>
                <a:ea typeface="+mn-ea"/>
                <a:cs typeface="+mn-cs"/>
                <a:sym typeface="+mn-ea"/>
              </a:rPr>
              <a:t>)</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62826" name="直接连接符 7"/>
          <p:cNvCxnSpPr/>
          <p:nvPr/>
        </p:nvCxnSpPr>
        <p:spPr>
          <a:xfrm flipV="1">
            <a:off x="3995738" y="4683125"/>
            <a:ext cx="2217737" cy="474663"/>
          </a:xfrm>
          <a:prstGeom prst="line">
            <a:avLst/>
          </a:prstGeom>
          <a:ln w="19050" cap="flat" cmpd="sng">
            <a:solidFill>
              <a:srgbClr val="00B050"/>
            </a:solidFill>
            <a:prstDash val="solid"/>
            <a:round/>
            <a:headEnd type="none" w="med" len="med"/>
            <a:tailEnd type="none" w="med" len="med"/>
          </a:ln>
        </p:spPr>
      </p:cxnSp>
      <p:cxnSp>
        <p:nvCxnSpPr>
          <p:cNvPr id="162827" name="直接连接符 8"/>
          <p:cNvCxnSpPr/>
          <p:nvPr/>
        </p:nvCxnSpPr>
        <p:spPr>
          <a:xfrm flipV="1">
            <a:off x="3995738" y="4648200"/>
            <a:ext cx="509587" cy="509588"/>
          </a:xfrm>
          <a:prstGeom prst="line">
            <a:avLst/>
          </a:prstGeom>
          <a:ln w="19050" cap="flat" cmpd="sng">
            <a:solidFill>
              <a:srgbClr val="00B050"/>
            </a:solidFill>
            <a:prstDash val="solid"/>
            <a:round/>
            <a:headEnd type="none" w="med" len="med"/>
            <a:tailEnd type="none" w="med" len="med"/>
          </a:ln>
        </p:spPr>
      </p:cxnSp>
      <p:sp>
        <p:nvSpPr>
          <p:cNvPr id="10" name="矩形 41"/>
          <p:cNvSpPr>
            <a:spLocks noChangeArrowheads="1"/>
          </p:cNvSpPr>
          <p:nvPr/>
        </p:nvSpPr>
        <p:spPr bwMode="auto">
          <a:xfrm>
            <a:off x="4264025" y="4681538"/>
            <a:ext cx="4222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00B05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00B050"/>
              </a:solidFill>
              <a:effectLst/>
              <a:uLnTx/>
              <a:uFillTx/>
              <a:latin typeface="+mj-lt"/>
              <a:ea typeface="宋体" panose="02010600030101010101" pitchFamily="2" charset="-122"/>
              <a:cs typeface="+mn-cs"/>
              <a:sym typeface="+mn-ea"/>
            </a:endParaRPr>
          </a:p>
        </p:txBody>
      </p:sp>
      <p:cxnSp>
        <p:nvCxnSpPr>
          <p:cNvPr id="162829" name="直接连接符 10"/>
          <p:cNvCxnSpPr/>
          <p:nvPr/>
        </p:nvCxnSpPr>
        <p:spPr>
          <a:xfrm flipV="1">
            <a:off x="1619250" y="4610100"/>
            <a:ext cx="2886075" cy="476250"/>
          </a:xfrm>
          <a:prstGeom prst="line">
            <a:avLst/>
          </a:prstGeom>
          <a:ln w="19050" cap="flat" cmpd="sng">
            <a:solidFill>
              <a:srgbClr val="FF0000"/>
            </a:solidFill>
            <a:prstDash val="solid"/>
            <a:round/>
            <a:headEnd type="none" w="med" len="med"/>
            <a:tailEnd type="none" w="med" len="med"/>
          </a:ln>
        </p:spPr>
      </p:cxnSp>
      <p:cxnSp>
        <p:nvCxnSpPr>
          <p:cNvPr id="162830" name="直接连接符 11"/>
          <p:cNvCxnSpPr/>
          <p:nvPr/>
        </p:nvCxnSpPr>
        <p:spPr>
          <a:xfrm flipV="1">
            <a:off x="1619250" y="4648200"/>
            <a:ext cx="4543425" cy="438150"/>
          </a:xfrm>
          <a:prstGeom prst="line">
            <a:avLst/>
          </a:prstGeom>
          <a:ln w="19050" cap="flat" cmpd="sng">
            <a:solidFill>
              <a:srgbClr val="FF0000"/>
            </a:solidFill>
            <a:prstDash val="solid"/>
            <a:round/>
            <a:headEnd type="none" w="med" len="med"/>
            <a:tailEnd type="none" w="med" len="med"/>
          </a:ln>
        </p:spPr>
      </p:cxnSp>
      <p:sp>
        <p:nvSpPr>
          <p:cNvPr id="13" name="矩形 41"/>
          <p:cNvSpPr>
            <a:spLocks noChangeArrowheads="1"/>
          </p:cNvSpPr>
          <p:nvPr/>
        </p:nvSpPr>
        <p:spPr bwMode="auto">
          <a:xfrm>
            <a:off x="3889375" y="4521200"/>
            <a:ext cx="420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FF000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160770"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8"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4"/>
          <a:stretch>
            <a:fillRect/>
          </a:stretch>
        </p:blipFill>
        <p:spPr>
          <a:xfrm>
            <a:off x="8195945" y="6191885"/>
            <a:ext cx="567055" cy="250190"/>
          </a:xfrm>
          <a:prstGeom prst="rect">
            <a:avLst/>
          </a:prstGeom>
        </p:spPr>
      </p:pic>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5280"/>
            <a:ext cx="8080375"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sz="1800" noProof="0" smtClean="0">
                <a:ln>
                  <a:noFill/>
                </a:ln>
                <a:effectLst/>
                <a:uLnTx/>
                <a:uFillTx/>
                <a:latin typeface="+mj-lt"/>
                <a:sym typeface="+mn-ea"/>
              </a:rPr>
              <a:t>其中，</a:t>
            </a:r>
            <a:r>
              <a:rPr sz="1800" i="1" noProof="0" smtClean="0">
                <a:ln>
                  <a:noFill/>
                </a:ln>
                <a:effectLst/>
                <a:uLnTx/>
                <a:uFillTx/>
                <a:latin typeface="+mj-lt"/>
                <a:sym typeface="+mn-ea"/>
              </a:rPr>
              <a:t>w</a:t>
            </a:r>
            <a:r>
              <a:rPr sz="1800" baseline="-25000" noProof="0" smtClean="0">
                <a:ln>
                  <a:noFill/>
                </a:ln>
                <a:effectLst/>
                <a:uLnTx/>
                <a:uFillTx/>
                <a:latin typeface="+mj-lt"/>
                <a:sym typeface="+mn-ea"/>
              </a:rPr>
              <a:t>1</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w</a:t>
            </a:r>
            <a:r>
              <a:rPr sz="1800" baseline="-25000" noProof="0" smtClean="0">
                <a:ln>
                  <a:noFill/>
                </a:ln>
                <a:effectLst/>
                <a:uLnTx/>
                <a:uFillTx/>
                <a:latin typeface="+mj-lt"/>
                <a:sym typeface="+mn-ea"/>
              </a:rPr>
              <a:t>2</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w</a:t>
            </a:r>
            <a:r>
              <a:rPr sz="1800" baseline="-25000" noProof="0" smtClean="0">
                <a:ln>
                  <a:noFill/>
                </a:ln>
                <a:effectLst/>
                <a:uLnTx/>
                <a:uFillTx/>
                <a:latin typeface="+mj-lt"/>
                <a:sym typeface="+mn-ea"/>
              </a:rPr>
              <a:t>3</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)为第</a:t>
            </a:r>
            <a:r>
              <a:rPr sz="1800" i="1" noProof="0" smtClean="0">
                <a:ln>
                  <a:noFill/>
                </a:ln>
                <a:effectLst/>
                <a:uLnTx/>
                <a:uFillTx/>
                <a:latin typeface="+mj-lt"/>
                <a:sym typeface="+mn-ea"/>
              </a:rPr>
              <a:t>i</a:t>
            </a:r>
            <a:r>
              <a:rPr sz="1800" noProof="0" smtClean="0">
                <a:ln>
                  <a:noFill/>
                </a:ln>
                <a:effectLst/>
                <a:uLnTx/>
                <a:uFillTx/>
                <a:latin typeface="+mj-lt"/>
                <a:sym typeface="+mn-ea"/>
              </a:rPr>
              <a:t>份式(2-7)的各分项拟合权重系数，且</a:t>
            </a:r>
            <a:r>
              <a:rPr sz="1800" i="1" noProof="0" smtClean="0">
                <a:ln>
                  <a:noFill/>
                </a:ln>
                <a:effectLst/>
                <a:uLnTx/>
                <a:uFillTx/>
                <a:latin typeface="+mj-lt"/>
                <a:sym typeface="+mn-ea"/>
              </a:rPr>
              <a:t>w</a:t>
            </a:r>
            <a:r>
              <a:rPr sz="1800" baseline="-25000" noProof="0" smtClean="0">
                <a:ln>
                  <a:noFill/>
                </a:ln>
                <a:effectLst/>
                <a:uLnTx/>
                <a:uFillTx/>
                <a:latin typeface="+mj-lt"/>
                <a:sym typeface="+mn-ea"/>
              </a:rPr>
              <a:t>1</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w</a:t>
            </a:r>
            <a:r>
              <a:rPr sz="1800" baseline="-25000" noProof="0" smtClean="0">
                <a:ln>
                  <a:noFill/>
                </a:ln>
                <a:effectLst/>
                <a:uLnTx/>
                <a:uFillTx/>
                <a:latin typeface="+mj-lt"/>
                <a:sym typeface="+mn-ea"/>
              </a:rPr>
              <a:t>2</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a:t>
            </a:r>
            <a:r>
              <a:rPr sz="1800" i="1" noProof="0" smtClean="0">
                <a:ln>
                  <a:noFill/>
                </a:ln>
                <a:effectLst/>
                <a:uLnTx/>
                <a:uFillTx/>
                <a:latin typeface="+mj-lt"/>
                <a:sym typeface="+mn-ea"/>
              </a:rPr>
              <a:t>w</a:t>
            </a:r>
            <a:r>
              <a:rPr sz="1800" baseline="-25000" noProof="0" smtClean="0">
                <a:ln>
                  <a:noFill/>
                </a:ln>
                <a:effectLst/>
                <a:uLnTx/>
                <a:uFillTx/>
                <a:latin typeface="+mj-lt"/>
                <a:sym typeface="+mn-ea"/>
              </a:rPr>
              <a:t>3</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)≈1；</a:t>
            </a:r>
            <a:endParaRPr kumimoji="0" sz="1800" b="0" i="0" u="none" strike="noStrike" cap="none" spc="0" normalizeH="0" baseline="0" noProof="0" smtClean="0">
              <a:ln>
                <a:noFill/>
              </a:ln>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lang="zh-CN" altLang="zh-CN" sz="1800" strike="noStrike" noProof="0" dirty="0" smtClean="0">
                <a:ln>
                  <a:noFill/>
                </a:ln>
                <a:effectLst/>
                <a:uLnTx/>
                <a:uFillTx/>
                <a:latin typeface="Chiller" panose="04020404031007020602" pitchFamily="82" charset="0"/>
                <a:ea typeface="+mn-ea"/>
                <a:cs typeface="+mn-cs"/>
                <a:sym typeface="+mn-ea"/>
              </a:rPr>
              <a:t> </a:t>
            </a:r>
            <a:endParaRPr sz="1800" strike="noStrike" noProof="0" smtClean="0">
              <a:ln>
                <a:noFill/>
              </a:ln>
              <a:effectLst/>
              <a:uLnTx/>
              <a:uFillTx/>
              <a:latin typeface="+mj-lt"/>
              <a:ea typeface="+mn-ea"/>
              <a:cs typeface="+mn-cs"/>
              <a:sym typeface="+mn-ea"/>
            </a:endParaRPr>
          </a:p>
        </p:txBody>
      </p:sp>
      <p:pic>
        <p:nvPicPr>
          <p:cNvPr id="164868" name="图片 2"/>
          <p:cNvPicPr>
            <a:picLocks noChangeAspect="1"/>
          </p:cNvPicPr>
          <p:nvPr/>
        </p:nvPicPr>
        <p:blipFill>
          <a:blip r:embed="rId1"/>
          <a:stretch>
            <a:fillRect/>
          </a:stretch>
        </p:blipFill>
        <p:spPr>
          <a:xfrm>
            <a:off x="757238" y="5837238"/>
            <a:ext cx="8005762" cy="604837"/>
          </a:xfrm>
          <a:prstGeom prst="rect">
            <a:avLst/>
          </a:prstGeom>
          <a:noFill/>
          <a:ln w="9525">
            <a:noFill/>
          </a:ln>
        </p:spPr>
      </p:pic>
      <p:pic>
        <p:nvPicPr>
          <p:cNvPr id="164869" name="图片 3"/>
          <p:cNvPicPr>
            <a:picLocks noChangeAspect="1"/>
          </p:cNvPicPr>
          <p:nvPr/>
        </p:nvPicPr>
        <p:blipFill>
          <a:blip r:embed="rId2"/>
          <a:stretch>
            <a:fillRect/>
          </a:stretch>
        </p:blipFill>
        <p:spPr>
          <a:xfrm>
            <a:off x="1349375" y="4945063"/>
            <a:ext cx="2870200" cy="665162"/>
          </a:xfrm>
          <a:prstGeom prst="rect">
            <a:avLst/>
          </a:prstGeom>
          <a:noFill/>
          <a:ln w="9525">
            <a:noFill/>
          </a:ln>
        </p:spPr>
      </p:pic>
      <p:pic>
        <p:nvPicPr>
          <p:cNvPr id="164870" name="图片 40"/>
          <p:cNvPicPr>
            <a:picLocks noChangeAspect="1"/>
          </p:cNvPicPr>
          <p:nvPr/>
        </p:nvPicPr>
        <p:blipFill>
          <a:blip r:embed="rId3"/>
          <a:stretch>
            <a:fillRect/>
          </a:stretch>
        </p:blipFill>
        <p:spPr>
          <a:xfrm>
            <a:off x="4524375" y="4406900"/>
            <a:ext cx="776288" cy="466725"/>
          </a:xfrm>
          <a:prstGeom prst="rect">
            <a:avLst/>
          </a:prstGeom>
          <a:noFill/>
          <a:ln w="9525">
            <a:noFill/>
          </a:ln>
        </p:spPr>
      </p:pic>
      <p:pic>
        <p:nvPicPr>
          <p:cNvPr id="164871" name="图片 40"/>
          <p:cNvPicPr>
            <a:picLocks noChangeAspect="1"/>
          </p:cNvPicPr>
          <p:nvPr/>
        </p:nvPicPr>
        <p:blipFill>
          <a:blip r:embed="rId3"/>
          <a:stretch>
            <a:fillRect/>
          </a:stretch>
        </p:blipFill>
        <p:spPr>
          <a:xfrm>
            <a:off x="6213475" y="4406900"/>
            <a:ext cx="776288" cy="466725"/>
          </a:xfrm>
          <a:prstGeom prst="rect">
            <a:avLst/>
          </a:prstGeom>
          <a:noFill/>
          <a:ln w="9525">
            <a:noFill/>
          </a:ln>
        </p:spPr>
      </p:pic>
      <p:sp>
        <p:nvSpPr>
          <p:cNvPr id="6" name="矩形 41"/>
          <p:cNvSpPr>
            <a:spLocks noChangeArrowheads="1"/>
          </p:cNvSpPr>
          <p:nvPr/>
        </p:nvSpPr>
        <p:spPr bwMode="auto">
          <a:xfrm>
            <a:off x="5522913" y="4427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7" name="矩形 41"/>
          <p:cNvSpPr>
            <a:spLocks noChangeArrowheads="1"/>
          </p:cNvSpPr>
          <p:nvPr/>
        </p:nvSpPr>
        <p:spPr bwMode="auto">
          <a:xfrm>
            <a:off x="4638675" y="51276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i="1" strike="noStrike" noProof="0" smtClean="0">
                <a:ln>
                  <a:noFill/>
                </a:ln>
                <a:effectLst/>
                <a:uLnTx/>
                <a:uFillTx/>
                <a:latin typeface="+mj-lt"/>
                <a:ea typeface="+mn-ea"/>
                <a:cs typeface="+mn-cs"/>
                <a:sym typeface="+mn-ea"/>
              </a:rPr>
              <a:t>GenImpression</a:t>
            </a:r>
            <a:r>
              <a:rPr sz="2000" strike="noStrike" noProof="0" smtClean="0">
                <a:ln>
                  <a:noFill/>
                </a:ln>
                <a:effectLst/>
                <a:uLnTx/>
                <a:uFillTx/>
                <a:latin typeface="+mj-lt"/>
                <a:ea typeface="+mn-ea"/>
                <a:cs typeface="+mn-cs"/>
                <a:sym typeface="+mn-ea"/>
              </a:rPr>
              <a:t>(</a:t>
            </a:r>
            <a:r>
              <a:rPr sz="2000" i="1" strike="noStrike" noProof="0" smtClean="0">
                <a:ln>
                  <a:noFill/>
                </a:ln>
                <a:effectLst/>
                <a:uLnTx/>
                <a:uFillTx/>
                <a:latin typeface="+mj-lt"/>
                <a:ea typeface="+mn-ea"/>
                <a:cs typeface="+mn-cs"/>
                <a:sym typeface="+mn-ea"/>
              </a:rPr>
              <a:t>i</a:t>
            </a:r>
            <a:r>
              <a:rPr sz="2000" strike="noStrike" noProof="0" smtClean="0">
                <a:ln>
                  <a:noFill/>
                </a:ln>
                <a:effectLst/>
                <a:uLnTx/>
                <a:uFillTx/>
                <a:latin typeface="+mj-lt"/>
                <a:ea typeface="+mn-ea"/>
                <a:cs typeface="+mn-cs"/>
                <a:sym typeface="+mn-ea"/>
              </a:rPr>
              <a:t>, </a:t>
            </a:r>
            <a:r>
              <a:rPr sz="2000" i="1" strike="noStrike" noProof="0" smtClean="0">
                <a:ln>
                  <a:noFill/>
                </a:ln>
                <a:effectLst/>
                <a:uLnTx/>
                <a:uFillTx/>
                <a:latin typeface="+mj-lt"/>
                <a:ea typeface="+mn-ea"/>
                <a:cs typeface="+mn-cs"/>
                <a:sym typeface="+mn-ea"/>
              </a:rPr>
              <a:t>j</a:t>
            </a:r>
            <a:r>
              <a:rPr sz="2000" strike="noStrike" noProof="0" smtClean="0">
                <a:ln>
                  <a:noFill/>
                </a:ln>
                <a:effectLst/>
                <a:uLnTx/>
                <a:uFillTx/>
                <a:latin typeface="+mj-lt"/>
                <a:ea typeface="+mn-ea"/>
                <a:cs typeface="+mn-cs"/>
                <a:sym typeface="+mn-ea"/>
              </a:rPr>
              <a:t>)</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64874" name="直接连接符 7"/>
          <p:cNvCxnSpPr/>
          <p:nvPr/>
        </p:nvCxnSpPr>
        <p:spPr>
          <a:xfrm flipV="1">
            <a:off x="3995738" y="4683125"/>
            <a:ext cx="2217737" cy="474663"/>
          </a:xfrm>
          <a:prstGeom prst="line">
            <a:avLst/>
          </a:prstGeom>
          <a:ln w="19050" cap="flat" cmpd="sng">
            <a:solidFill>
              <a:srgbClr val="00B050"/>
            </a:solidFill>
            <a:prstDash val="solid"/>
            <a:round/>
            <a:headEnd type="none" w="med" len="med"/>
            <a:tailEnd type="none" w="med" len="med"/>
          </a:ln>
        </p:spPr>
      </p:cxnSp>
      <p:cxnSp>
        <p:nvCxnSpPr>
          <p:cNvPr id="164875" name="直接连接符 8"/>
          <p:cNvCxnSpPr/>
          <p:nvPr/>
        </p:nvCxnSpPr>
        <p:spPr>
          <a:xfrm flipV="1">
            <a:off x="3995738" y="4648200"/>
            <a:ext cx="509587" cy="509588"/>
          </a:xfrm>
          <a:prstGeom prst="line">
            <a:avLst/>
          </a:prstGeom>
          <a:ln w="19050" cap="flat" cmpd="sng">
            <a:solidFill>
              <a:srgbClr val="00B050"/>
            </a:solidFill>
            <a:prstDash val="solid"/>
            <a:round/>
            <a:headEnd type="none" w="med" len="med"/>
            <a:tailEnd type="none" w="med" len="med"/>
          </a:ln>
        </p:spPr>
      </p:cxnSp>
      <p:sp>
        <p:nvSpPr>
          <p:cNvPr id="10" name="矩形 41"/>
          <p:cNvSpPr>
            <a:spLocks noChangeArrowheads="1"/>
          </p:cNvSpPr>
          <p:nvPr/>
        </p:nvSpPr>
        <p:spPr bwMode="auto">
          <a:xfrm>
            <a:off x="4264025" y="4681538"/>
            <a:ext cx="4222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00B05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00B050"/>
              </a:solidFill>
              <a:effectLst/>
              <a:uLnTx/>
              <a:uFillTx/>
              <a:latin typeface="+mj-lt"/>
              <a:ea typeface="宋体" panose="02010600030101010101" pitchFamily="2" charset="-122"/>
              <a:cs typeface="+mn-cs"/>
              <a:sym typeface="+mn-ea"/>
            </a:endParaRPr>
          </a:p>
        </p:txBody>
      </p:sp>
      <p:cxnSp>
        <p:nvCxnSpPr>
          <p:cNvPr id="164877" name="直接连接符 10"/>
          <p:cNvCxnSpPr/>
          <p:nvPr/>
        </p:nvCxnSpPr>
        <p:spPr>
          <a:xfrm flipV="1">
            <a:off x="1619250" y="4610100"/>
            <a:ext cx="2886075" cy="476250"/>
          </a:xfrm>
          <a:prstGeom prst="line">
            <a:avLst/>
          </a:prstGeom>
          <a:ln w="19050" cap="flat" cmpd="sng">
            <a:solidFill>
              <a:srgbClr val="FF0000"/>
            </a:solidFill>
            <a:prstDash val="solid"/>
            <a:round/>
            <a:headEnd type="none" w="med" len="med"/>
            <a:tailEnd type="none" w="med" len="med"/>
          </a:ln>
        </p:spPr>
      </p:cxnSp>
      <p:cxnSp>
        <p:nvCxnSpPr>
          <p:cNvPr id="164878" name="直接连接符 11"/>
          <p:cNvCxnSpPr/>
          <p:nvPr/>
        </p:nvCxnSpPr>
        <p:spPr>
          <a:xfrm flipV="1">
            <a:off x="1619250" y="4648200"/>
            <a:ext cx="4543425" cy="438150"/>
          </a:xfrm>
          <a:prstGeom prst="line">
            <a:avLst/>
          </a:prstGeom>
          <a:ln w="19050" cap="flat" cmpd="sng">
            <a:solidFill>
              <a:srgbClr val="FF0000"/>
            </a:solidFill>
            <a:prstDash val="solid"/>
            <a:round/>
            <a:headEnd type="none" w="med" len="med"/>
            <a:tailEnd type="none" w="med" len="med"/>
          </a:ln>
        </p:spPr>
      </p:cxnSp>
      <p:sp>
        <p:nvSpPr>
          <p:cNvPr id="13" name="矩形 41"/>
          <p:cNvSpPr>
            <a:spLocks noChangeArrowheads="1"/>
          </p:cNvSpPr>
          <p:nvPr/>
        </p:nvSpPr>
        <p:spPr bwMode="auto">
          <a:xfrm>
            <a:off x="3889375" y="4521200"/>
            <a:ext cx="420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FF000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160770"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8"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4"/>
          <a:stretch>
            <a:fillRect/>
          </a:stretch>
        </p:blipFill>
        <p:spPr>
          <a:xfrm>
            <a:off x="8195945" y="6191885"/>
            <a:ext cx="567055" cy="250190"/>
          </a:xfrm>
          <a:prstGeom prst="rect">
            <a:avLst/>
          </a:prstGeom>
        </p:spPr>
      </p:pic>
    </p:spTree>
  </p:cSld>
  <p:clrMapOvr>
    <a:masterClrMapping/>
  </p:clrMapOvr>
  <p:transition spd="med">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4963"/>
            <a:ext cx="800735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在</a:t>
            </a:r>
            <a:r>
              <a:rPr sz="1800" noProof="0" smtClean="0">
                <a:ln>
                  <a:noFill/>
                </a:ln>
                <a:effectLst/>
                <a:uLnTx/>
                <a:uFillTx/>
                <a:latin typeface="+mj-lt"/>
                <a:sym typeface="+mn-ea"/>
              </a:rPr>
              <a:t>式(2-7)</a:t>
            </a:r>
            <a:r>
              <a:rPr lang="zh-CN" sz="1800" noProof="0" smtClean="0">
                <a:ln>
                  <a:noFill/>
                </a:ln>
                <a:effectLst/>
                <a:uLnTx/>
                <a:uFillTx/>
                <a:latin typeface="+mj-lt"/>
                <a:ea typeface="宋体" panose="02010600030101010101" pitchFamily="2" charset="-122"/>
                <a:sym typeface="+mn-ea"/>
              </a:rPr>
              <a:t>中，</a:t>
            </a:r>
            <a:r>
              <a:rPr lang="zh-CN" altLang="zh-CN" sz="1800" noProof="0" dirty="0" smtClean="0">
                <a:ln>
                  <a:noFill/>
                </a:ln>
                <a:effectLst/>
                <a:uLnTx/>
                <a:uFillTx/>
                <a:sym typeface="+mn-ea"/>
              </a:rPr>
              <a:t> </a:t>
            </a:r>
            <a:r>
              <a:rPr sz="1800" i="1" noProof="0" smtClean="0">
                <a:ln>
                  <a:noFill/>
                </a:ln>
                <a:effectLst/>
                <a:uLnTx/>
                <a:uFillTx/>
                <a:latin typeface="+mj-lt"/>
                <a:sym typeface="+mn-ea"/>
              </a:rPr>
              <a:t>w</a:t>
            </a:r>
            <a:r>
              <a:rPr sz="1800" baseline="-25000" noProof="0" smtClean="0">
                <a:ln>
                  <a:noFill/>
                </a:ln>
                <a:effectLst/>
                <a:uLnTx/>
                <a:uFillTx/>
                <a:latin typeface="+mj-lt"/>
                <a:sym typeface="+mn-ea"/>
              </a:rPr>
              <a:t>1</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a:t>
            </a:r>
            <a:r>
              <a:rPr sz="1800" i="1" noProof="0" smtClean="0">
                <a:ln>
                  <a:noFill/>
                </a:ln>
                <a:effectLst/>
                <a:uLnTx/>
                <a:uFillTx/>
                <a:latin typeface="+mj-lt"/>
                <a:sym typeface="+mn-ea"/>
              </a:rPr>
              <a:t>Specificity</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j</a:t>
            </a:r>
            <a:r>
              <a:rPr sz="1800" noProof="0" smtClean="0">
                <a:ln>
                  <a:noFill/>
                </a:ln>
                <a:effectLst/>
                <a:uLnTx/>
                <a:uFillTx/>
                <a:latin typeface="+mj-lt"/>
                <a:sym typeface="+mn-ea"/>
              </a:rPr>
              <a:t>) + </a:t>
            </a:r>
            <a:r>
              <a:rPr sz="1800" i="1" noProof="0" smtClean="0">
                <a:ln>
                  <a:noFill/>
                </a:ln>
                <a:effectLst/>
                <a:uLnTx/>
                <a:uFillTx/>
                <a:latin typeface="+mj-lt"/>
                <a:sym typeface="+mn-ea"/>
              </a:rPr>
              <a:t>w</a:t>
            </a:r>
            <a:r>
              <a:rPr sz="1800" baseline="-25000" noProof="0" smtClean="0">
                <a:ln>
                  <a:noFill/>
                </a:ln>
                <a:effectLst/>
                <a:uLnTx/>
                <a:uFillTx/>
                <a:latin typeface="+mj-lt"/>
                <a:sym typeface="+mn-ea"/>
              </a:rPr>
              <a:t>2</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a:t>
            </a:r>
            <a:r>
              <a:rPr sz="1800" i="1" noProof="0" smtClean="0">
                <a:ln>
                  <a:noFill/>
                </a:ln>
                <a:effectLst/>
                <a:uLnTx/>
                <a:uFillTx/>
                <a:latin typeface="+mj-lt"/>
                <a:sym typeface="+mn-ea"/>
              </a:rPr>
              <a:t>Fluency</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a:t>
            </a:r>
            <a:r>
              <a:rPr sz="1800" i="1" noProof="0" smtClean="0">
                <a:ln>
                  <a:noFill/>
                </a:ln>
                <a:effectLst/>
                <a:uLnTx/>
                <a:uFillTx/>
                <a:latin typeface="+mj-lt"/>
                <a:sym typeface="+mn-ea"/>
              </a:rPr>
              <a:t> j</a:t>
            </a:r>
            <a:r>
              <a:rPr sz="1800" noProof="0" smtClean="0">
                <a:ln>
                  <a:noFill/>
                </a:ln>
                <a:effectLst/>
                <a:uLnTx/>
                <a:uFillTx/>
                <a:latin typeface="+mj-lt"/>
                <a:sym typeface="+mn-ea"/>
              </a:rPr>
              <a:t>) + </a:t>
            </a:r>
            <a:r>
              <a:rPr sz="1800" i="1" noProof="0" smtClean="0">
                <a:ln>
                  <a:noFill/>
                </a:ln>
                <a:effectLst/>
                <a:uLnTx/>
                <a:uFillTx/>
                <a:latin typeface="+mj-lt"/>
                <a:sym typeface="+mn-ea"/>
              </a:rPr>
              <a:t>w</a:t>
            </a:r>
            <a:r>
              <a:rPr sz="1800" baseline="-25000" noProof="0" smtClean="0">
                <a:ln>
                  <a:noFill/>
                </a:ln>
                <a:effectLst/>
                <a:uLnTx/>
                <a:uFillTx/>
                <a:latin typeface="+mj-lt"/>
                <a:sym typeface="+mn-ea"/>
              </a:rPr>
              <a:t>3</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a:t>
            </a:r>
            <a:r>
              <a:rPr sz="1800" i="1" noProof="0" smtClean="0">
                <a:ln>
                  <a:noFill/>
                </a:ln>
                <a:effectLst/>
                <a:uLnTx/>
                <a:uFillTx/>
                <a:latin typeface="+mj-lt"/>
                <a:sym typeface="+mn-ea"/>
              </a:rPr>
              <a:t>Correctness</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j</a:t>
            </a:r>
            <a:r>
              <a:rPr sz="1800" noProof="0" smtClean="0">
                <a:ln>
                  <a:noFill/>
                </a:ln>
                <a:effectLst/>
                <a:uLnTx/>
                <a:uFillTx/>
                <a:latin typeface="+mj-lt"/>
                <a:sym typeface="+mn-ea"/>
              </a:rPr>
              <a:t>)为整体印象评分的预测值；</a:t>
            </a:r>
            <a:r>
              <a:rPr sz="1800" i="1" noProof="0" smtClean="0">
                <a:ln>
                  <a:noFill/>
                </a:ln>
                <a:effectLst/>
                <a:uLnTx/>
                <a:uFillTx/>
                <a:latin typeface="+mj-lt"/>
                <a:sym typeface="+mn-ea"/>
              </a:rPr>
              <a:t>δ</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j</a:t>
            </a:r>
            <a:r>
              <a:rPr sz="1800" noProof="0" smtClean="0">
                <a:ln>
                  <a:noFill/>
                </a:ln>
                <a:effectLst/>
                <a:uLnTx/>
                <a:uFillTx/>
                <a:latin typeface="+mj-lt"/>
                <a:sym typeface="+mn-ea"/>
              </a:rPr>
              <a:t>)为拟合误差</a:t>
            </a:r>
            <a:r>
              <a:rPr lang="zh-CN" sz="1800" noProof="0" smtClean="0">
                <a:ln>
                  <a:noFill/>
                </a:ln>
                <a:effectLst/>
                <a:uLnTx/>
                <a:uFillTx/>
                <a:latin typeface="+mj-lt"/>
                <a:ea typeface="宋体" panose="02010600030101010101" pitchFamily="2" charset="-122"/>
                <a:sym typeface="+mn-ea"/>
              </a:rPr>
              <a:t>（</a:t>
            </a:r>
            <a:r>
              <a:rPr sz="1800" noProof="0" smtClean="0">
                <a:ln>
                  <a:noFill/>
                </a:ln>
                <a:effectLst/>
                <a:uLnTx/>
                <a:uFillTx/>
                <a:latin typeface="+mj-lt"/>
                <a:sym typeface="+mn-ea"/>
              </a:rPr>
              <a:t>即整体印象评分实际值</a:t>
            </a:r>
            <a:r>
              <a:rPr sz="1800" i="1" noProof="0" smtClean="0">
                <a:ln>
                  <a:noFill/>
                </a:ln>
                <a:effectLst/>
                <a:uLnTx/>
                <a:uFillTx/>
                <a:latin typeface="+mj-lt"/>
                <a:sym typeface="+mn-ea"/>
              </a:rPr>
              <a:t>GenImpression</a:t>
            </a:r>
            <a:r>
              <a:rPr sz="1800" noProof="0" smtClean="0">
                <a:ln>
                  <a:noFill/>
                </a:ln>
                <a:effectLst/>
                <a:uLnTx/>
                <a:uFillTx/>
                <a:latin typeface="+mj-lt"/>
                <a:sym typeface="+mn-ea"/>
              </a:rPr>
              <a:t>(</a:t>
            </a:r>
            <a:r>
              <a:rPr sz="1800" i="1" noProof="0" smtClean="0">
                <a:ln>
                  <a:noFill/>
                </a:ln>
                <a:effectLst/>
                <a:uLnTx/>
                <a:uFillTx/>
                <a:latin typeface="+mj-lt"/>
                <a:sym typeface="+mn-ea"/>
              </a:rPr>
              <a:t>i</a:t>
            </a:r>
            <a:r>
              <a:rPr sz="1800" noProof="0" smtClean="0">
                <a:ln>
                  <a:noFill/>
                </a:ln>
                <a:effectLst/>
                <a:uLnTx/>
                <a:uFillTx/>
                <a:latin typeface="+mj-lt"/>
                <a:sym typeface="+mn-ea"/>
              </a:rPr>
              <a:t>, </a:t>
            </a:r>
            <a:r>
              <a:rPr sz="1800" i="1" noProof="0" smtClean="0">
                <a:ln>
                  <a:noFill/>
                </a:ln>
                <a:effectLst/>
                <a:uLnTx/>
                <a:uFillTx/>
                <a:latin typeface="+mj-lt"/>
                <a:sym typeface="+mn-ea"/>
              </a:rPr>
              <a:t>j</a:t>
            </a:r>
            <a:r>
              <a:rPr sz="1800" noProof="0" smtClean="0">
                <a:ln>
                  <a:noFill/>
                </a:ln>
                <a:effectLst/>
                <a:uLnTx/>
                <a:uFillTx/>
                <a:latin typeface="+mj-lt"/>
                <a:sym typeface="+mn-ea"/>
              </a:rPr>
              <a:t>)与预测值之差</a:t>
            </a:r>
            <a:r>
              <a:rPr lang="zh-CN" sz="1800" noProof="0" smtClean="0">
                <a:ln>
                  <a:noFill/>
                </a:ln>
                <a:effectLst/>
                <a:uLnTx/>
                <a:uFillTx/>
                <a:latin typeface="+mj-lt"/>
                <a:ea typeface="宋体" panose="02010600030101010101" pitchFamily="2" charset="-122"/>
                <a:sym typeface="+mn-ea"/>
              </a:rPr>
              <a:t>）</a:t>
            </a:r>
            <a:r>
              <a:rPr sz="1800" noProof="0" smtClean="0">
                <a:ln>
                  <a:noFill/>
                </a:ln>
                <a:effectLst/>
                <a:uLnTx/>
                <a:uFillTx/>
                <a:latin typeface="+mj-lt"/>
                <a:sym typeface="+mn-ea"/>
              </a:rPr>
              <a:t>。</a:t>
            </a:r>
            <a:endParaRPr kumimoji="0" lang="en-US" sz="1800" b="0" u="none" strike="noStrike" kern="1200" cap="none" spc="0" normalizeH="0" noProof="0" smtClean="0">
              <a:ln>
                <a:noFill/>
              </a:ln>
              <a:solidFill>
                <a:schemeClr val="tx1"/>
              </a:solidFill>
              <a:effectLst/>
              <a:uLnTx/>
              <a:uFillTx/>
              <a:latin typeface="+mj-lt"/>
              <a:cs typeface="+mn-cs"/>
            </a:endParaRPr>
          </a:p>
        </p:txBody>
      </p:sp>
      <p:pic>
        <p:nvPicPr>
          <p:cNvPr id="166916" name="图片 2"/>
          <p:cNvPicPr>
            <a:picLocks noChangeAspect="1"/>
          </p:cNvPicPr>
          <p:nvPr/>
        </p:nvPicPr>
        <p:blipFill>
          <a:blip r:embed="rId1"/>
          <a:stretch>
            <a:fillRect/>
          </a:stretch>
        </p:blipFill>
        <p:spPr>
          <a:xfrm>
            <a:off x="757238" y="5837238"/>
            <a:ext cx="8005762" cy="604837"/>
          </a:xfrm>
          <a:prstGeom prst="rect">
            <a:avLst/>
          </a:prstGeom>
          <a:noFill/>
          <a:ln w="9525">
            <a:noFill/>
          </a:ln>
        </p:spPr>
      </p:pic>
      <p:pic>
        <p:nvPicPr>
          <p:cNvPr id="166917" name="图片 3"/>
          <p:cNvPicPr>
            <a:picLocks noChangeAspect="1"/>
          </p:cNvPicPr>
          <p:nvPr/>
        </p:nvPicPr>
        <p:blipFill>
          <a:blip r:embed="rId2"/>
          <a:stretch>
            <a:fillRect/>
          </a:stretch>
        </p:blipFill>
        <p:spPr>
          <a:xfrm>
            <a:off x="1349375" y="4945063"/>
            <a:ext cx="2870200" cy="665162"/>
          </a:xfrm>
          <a:prstGeom prst="rect">
            <a:avLst/>
          </a:prstGeom>
          <a:noFill/>
          <a:ln w="9525">
            <a:noFill/>
          </a:ln>
        </p:spPr>
      </p:pic>
      <p:pic>
        <p:nvPicPr>
          <p:cNvPr id="166918" name="图片 40"/>
          <p:cNvPicPr>
            <a:picLocks noChangeAspect="1"/>
          </p:cNvPicPr>
          <p:nvPr/>
        </p:nvPicPr>
        <p:blipFill>
          <a:blip r:embed="rId3"/>
          <a:stretch>
            <a:fillRect/>
          </a:stretch>
        </p:blipFill>
        <p:spPr>
          <a:xfrm>
            <a:off x="4524375" y="4406900"/>
            <a:ext cx="776288" cy="466725"/>
          </a:xfrm>
          <a:prstGeom prst="rect">
            <a:avLst/>
          </a:prstGeom>
          <a:noFill/>
          <a:ln w="9525">
            <a:noFill/>
          </a:ln>
        </p:spPr>
      </p:pic>
      <p:pic>
        <p:nvPicPr>
          <p:cNvPr id="166919" name="图片 40"/>
          <p:cNvPicPr>
            <a:picLocks noChangeAspect="1"/>
          </p:cNvPicPr>
          <p:nvPr/>
        </p:nvPicPr>
        <p:blipFill>
          <a:blip r:embed="rId3"/>
          <a:stretch>
            <a:fillRect/>
          </a:stretch>
        </p:blipFill>
        <p:spPr>
          <a:xfrm>
            <a:off x="6213475" y="4406900"/>
            <a:ext cx="776288" cy="466725"/>
          </a:xfrm>
          <a:prstGeom prst="rect">
            <a:avLst/>
          </a:prstGeom>
          <a:noFill/>
          <a:ln w="9525">
            <a:noFill/>
          </a:ln>
        </p:spPr>
      </p:pic>
      <p:sp>
        <p:nvSpPr>
          <p:cNvPr id="6" name="矩形 41"/>
          <p:cNvSpPr>
            <a:spLocks noChangeArrowheads="1"/>
          </p:cNvSpPr>
          <p:nvPr/>
        </p:nvSpPr>
        <p:spPr bwMode="auto">
          <a:xfrm>
            <a:off x="5522913" y="4427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7" name="矩形 41"/>
          <p:cNvSpPr>
            <a:spLocks noChangeArrowheads="1"/>
          </p:cNvSpPr>
          <p:nvPr/>
        </p:nvSpPr>
        <p:spPr bwMode="auto">
          <a:xfrm>
            <a:off x="4638675" y="51276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i="1" strike="noStrike" noProof="0" smtClean="0">
                <a:ln>
                  <a:noFill/>
                </a:ln>
                <a:effectLst/>
                <a:uLnTx/>
                <a:uFillTx/>
                <a:latin typeface="+mj-lt"/>
                <a:ea typeface="+mn-ea"/>
                <a:cs typeface="+mn-cs"/>
                <a:sym typeface="+mn-ea"/>
              </a:rPr>
              <a:t>GenImpression</a:t>
            </a:r>
            <a:r>
              <a:rPr sz="2000" strike="noStrike" noProof="0" smtClean="0">
                <a:ln>
                  <a:noFill/>
                </a:ln>
                <a:effectLst/>
                <a:uLnTx/>
                <a:uFillTx/>
                <a:latin typeface="+mj-lt"/>
                <a:ea typeface="+mn-ea"/>
                <a:cs typeface="+mn-cs"/>
                <a:sym typeface="+mn-ea"/>
              </a:rPr>
              <a:t>(</a:t>
            </a:r>
            <a:r>
              <a:rPr sz="2000" i="1" strike="noStrike" noProof="0" smtClean="0">
                <a:ln>
                  <a:noFill/>
                </a:ln>
                <a:effectLst/>
                <a:uLnTx/>
                <a:uFillTx/>
                <a:latin typeface="+mj-lt"/>
                <a:ea typeface="+mn-ea"/>
                <a:cs typeface="+mn-cs"/>
                <a:sym typeface="+mn-ea"/>
              </a:rPr>
              <a:t>i</a:t>
            </a:r>
            <a:r>
              <a:rPr sz="2000" strike="noStrike" noProof="0" smtClean="0">
                <a:ln>
                  <a:noFill/>
                </a:ln>
                <a:effectLst/>
                <a:uLnTx/>
                <a:uFillTx/>
                <a:latin typeface="+mj-lt"/>
                <a:ea typeface="+mn-ea"/>
                <a:cs typeface="+mn-cs"/>
                <a:sym typeface="+mn-ea"/>
              </a:rPr>
              <a:t>, </a:t>
            </a:r>
            <a:r>
              <a:rPr sz="2000" i="1" strike="noStrike" noProof="0" smtClean="0">
                <a:ln>
                  <a:noFill/>
                </a:ln>
                <a:effectLst/>
                <a:uLnTx/>
                <a:uFillTx/>
                <a:latin typeface="+mj-lt"/>
                <a:ea typeface="+mn-ea"/>
                <a:cs typeface="+mn-cs"/>
                <a:sym typeface="+mn-ea"/>
              </a:rPr>
              <a:t>j</a:t>
            </a:r>
            <a:r>
              <a:rPr sz="2000" strike="noStrike" noProof="0" smtClean="0">
                <a:ln>
                  <a:noFill/>
                </a:ln>
                <a:effectLst/>
                <a:uLnTx/>
                <a:uFillTx/>
                <a:latin typeface="+mj-lt"/>
                <a:ea typeface="+mn-ea"/>
                <a:cs typeface="+mn-cs"/>
                <a:sym typeface="+mn-ea"/>
              </a:rPr>
              <a:t>)</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66922" name="直接连接符 7"/>
          <p:cNvCxnSpPr/>
          <p:nvPr/>
        </p:nvCxnSpPr>
        <p:spPr>
          <a:xfrm flipV="1">
            <a:off x="3995738" y="4683125"/>
            <a:ext cx="2217737" cy="474663"/>
          </a:xfrm>
          <a:prstGeom prst="line">
            <a:avLst/>
          </a:prstGeom>
          <a:ln w="19050" cap="flat" cmpd="sng">
            <a:solidFill>
              <a:srgbClr val="00B050"/>
            </a:solidFill>
            <a:prstDash val="solid"/>
            <a:round/>
            <a:headEnd type="none" w="med" len="med"/>
            <a:tailEnd type="none" w="med" len="med"/>
          </a:ln>
        </p:spPr>
      </p:cxnSp>
      <p:cxnSp>
        <p:nvCxnSpPr>
          <p:cNvPr id="166923" name="直接连接符 8"/>
          <p:cNvCxnSpPr/>
          <p:nvPr/>
        </p:nvCxnSpPr>
        <p:spPr>
          <a:xfrm flipV="1">
            <a:off x="3995738" y="4648200"/>
            <a:ext cx="509587" cy="509588"/>
          </a:xfrm>
          <a:prstGeom prst="line">
            <a:avLst/>
          </a:prstGeom>
          <a:ln w="19050" cap="flat" cmpd="sng">
            <a:solidFill>
              <a:srgbClr val="00B050"/>
            </a:solidFill>
            <a:prstDash val="solid"/>
            <a:round/>
            <a:headEnd type="none" w="med" len="med"/>
            <a:tailEnd type="none" w="med" len="med"/>
          </a:ln>
        </p:spPr>
      </p:cxnSp>
      <p:sp>
        <p:nvSpPr>
          <p:cNvPr id="10" name="矩形 41"/>
          <p:cNvSpPr>
            <a:spLocks noChangeArrowheads="1"/>
          </p:cNvSpPr>
          <p:nvPr/>
        </p:nvSpPr>
        <p:spPr bwMode="auto">
          <a:xfrm>
            <a:off x="4264025" y="4681538"/>
            <a:ext cx="4222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00B05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00B050"/>
              </a:solidFill>
              <a:effectLst/>
              <a:uLnTx/>
              <a:uFillTx/>
              <a:latin typeface="+mj-lt"/>
              <a:ea typeface="宋体" panose="02010600030101010101" pitchFamily="2" charset="-122"/>
              <a:cs typeface="+mn-cs"/>
              <a:sym typeface="+mn-ea"/>
            </a:endParaRPr>
          </a:p>
        </p:txBody>
      </p:sp>
      <p:cxnSp>
        <p:nvCxnSpPr>
          <p:cNvPr id="166925" name="直接连接符 10"/>
          <p:cNvCxnSpPr/>
          <p:nvPr/>
        </p:nvCxnSpPr>
        <p:spPr>
          <a:xfrm flipV="1">
            <a:off x="1619250" y="4610100"/>
            <a:ext cx="2886075" cy="476250"/>
          </a:xfrm>
          <a:prstGeom prst="line">
            <a:avLst/>
          </a:prstGeom>
          <a:ln w="19050" cap="flat" cmpd="sng">
            <a:solidFill>
              <a:srgbClr val="FF0000"/>
            </a:solidFill>
            <a:prstDash val="solid"/>
            <a:round/>
            <a:headEnd type="none" w="med" len="med"/>
            <a:tailEnd type="none" w="med" len="med"/>
          </a:ln>
        </p:spPr>
      </p:cxnSp>
      <p:cxnSp>
        <p:nvCxnSpPr>
          <p:cNvPr id="166926" name="直接连接符 11"/>
          <p:cNvCxnSpPr/>
          <p:nvPr/>
        </p:nvCxnSpPr>
        <p:spPr>
          <a:xfrm flipV="1">
            <a:off x="1619250" y="4648200"/>
            <a:ext cx="4543425" cy="438150"/>
          </a:xfrm>
          <a:prstGeom prst="line">
            <a:avLst/>
          </a:prstGeom>
          <a:ln w="19050" cap="flat" cmpd="sng">
            <a:solidFill>
              <a:srgbClr val="FF0000"/>
            </a:solidFill>
            <a:prstDash val="solid"/>
            <a:round/>
            <a:headEnd type="none" w="med" len="med"/>
            <a:tailEnd type="none" w="med" len="med"/>
          </a:ln>
        </p:spPr>
      </p:cxnSp>
      <p:sp>
        <p:nvSpPr>
          <p:cNvPr id="13" name="矩形 41"/>
          <p:cNvSpPr>
            <a:spLocks noChangeArrowheads="1"/>
          </p:cNvSpPr>
          <p:nvPr/>
        </p:nvSpPr>
        <p:spPr bwMode="auto">
          <a:xfrm>
            <a:off x="3889375" y="4521200"/>
            <a:ext cx="420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FF000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160770" name="Rectangle 3"/>
          <p:cNvSpPr txBox="1"/>
          <p:nvPr/>
        </p:nvSpPr>
        <p:spPr>
          <a:xfrm>
            <a:off x="171450" y="211137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8" name="Rectangle 2"/>
          <p:cNvSpPr>
            <a:spLocks noGrp="1"/>
          </p:cNvSpPr>
          <p:nvPr/>
        </p:nvSpPr>
        <p:spPr>
          <a:xfrm>
            <a:off x="220980" y="63563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4"/>
          <a:stretch>
            <a:fillRect/>
          </a:stretch>
        </p:blipFill>
        <p:spPr>
          <a:xfrm>
            <a:off x="8195945" y="6191885"/>
            <a:ext cx="567055" cy="250190"/>
          </a:xfrm>
          <a:prstGeom prst="rect">
            <a:avLst/>
          </a:prstGeom>
        </p:spPr>
      </p:pic>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4963"/>
            <a:ext cx="80073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下面的</a:t>
            </a:r>
            <a:r>
              <a:rPr sz="2000" noProof="0" smtClean="0">
                <a:ln>
                  <a:noFill/>
                </a:ln>
                <a:effectLst/>
                <a:uLnTx/>
                <a:uFillTx/>
                <a:latin typeface="+mj-lt"/>
                <a:sym typeface="+mn-ea"/>
              </a:rPr>
              <a:t>式(2-7)的第</a:t>
            </a:r>
            <a:r>
              <a:rPr sz="2000" i="1" noProof="0" smtClean="0">
                <a:ln>
                  <a:noFill/>
                </a:ln>
                <a:effectLst/>
                <a:uLnTx/>
                <a:uFillTx/>
                <a:latin typeface="+mj-lt"/>
                <a:sym typeface="+mn-ea"/>
              </a:rPr>
              <a:t>i</a:t>
            </a:r>
            <a:r>
              <a:rPr sz="2000" noProof="0" smtClean="0">
                <a:ln>
                  <a:noFill/>
                </a:ln>
                <a:effectLst/>
                <a:uLnTx/>
                <a:uFillTx/>
                <a:latin typeface="+mj-lt"/>
                <a:sym typeface="+mn-ea"/>
              </a:rPr>
              <a:t>份代表第</a:t>
            </a:r>
            <a:r>
              <a:rPr sz="2000" i="1" noProof="0" smtClean="0">
                <a:ln>
                  <a:noFill/>
                </a:ln>
                <a:effectLst/>
                <a:uLnTx/>
                <a:uFillTx/>
                <a:latin typeface="+mj-lt"/>
                <a:sym typeface="+mn-ea"/>
              </a:rPr>
              <a:t>i</a:t>
            </a:r>
            <a:r>
              <a:rPr sz="2000" noProof="0" smtClean="0">
                <a:ln>
                  <a:noFill/>
                </a:ln>
                <a:effectLst/>
                <a:uLnTx/>
                <a:uFillTx/>
                <a:latin typeface="+mj-lt"/>
                <a:sym typeface="+mn-ea"/>
              </a:rPr>
              <a:t>位评估人的评估模型。可以看出21位评估人提供的21种评估模型各不相同。</a:t>
            </a:r>
            <a:endParaRPr sz="2000" noProof="0" smtClean="0">
              <a:ln>
                <a:noFill/>
              </a:ln>
              <a:effectLst/>
              <a:uLnTx/>
              <a:uFillTx/>
              <a:latin typeface="+mj-lt"/>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000" b="0" u="none" strike="noStrike" kern="1200" cap="none" spc="0" normalizeH="0" noProof="0" smtClean="0">
              <a:ln>
                <a:noFill/>
              </a:ln>
              <a:solidFill>
                <a:schemeClr val="tx1"/>
              </a:solidFill>
              <a:effectLst/>
              <a:uLnTx/>
              <a:uFillTx/>
              <a:latin typeface="+mj-lt"/>
              <a:cs typeface="+mn-cs"/>
            </a:endParaRPr>
          </a:p>
        </p:txBody>
      </p:sp>
      <p:pic>
        <p:nvPicPr>
          <p:cNvPr id="168964" name="图片 2"/>
          <p:cNvPicPr>
            <a:picLocks noChangeAspect="1"/>
          </p:cNvPicPr>
          <p:nvPr/>
        </p:nvPicPr>
        <p:blipFill>
          <a:blip r:embed="rId1"/>
          <a:stretch>
            <a:fillRect/>
          </a:stretch>
        </p:blipFill>
        <p:spPr>
          <a:xfrm>
            <a:off x="757238" y="5837238"/>
            <a:ext cx="8005762" cy="604837"/>
          </a:xfrm>
          <a:prstGeom prst="rect">
            <a:avLst/>
          </a:prstGeom>
          <a:noFill/>
          <a:ln w="9525">
            <a:noFill/>
          </a:ln>
        </p:spPr>
      </p:pic>
      <p:pic>
        <p:nvPicPr>
          <p:cNvPr id="168965" name="图片 3"/>
          <p:cNvPicPr>
            <a:picLocks noChangeAspect="1"/>
          </p:cNvPicPr>
          <p:nvPr/>
        </p:nvPicPr>
        <p:blipFill>
          <a:blip r:embed="rId2"/>
          <a:stretch>
            <a:fillRect/>
          </a:stretch>
        </p:blipFill>
        <p:spPr>
          <a:xfrm>
            <a:off x="1349375" y="4945063"/>
            <a:ext cx="2870200" cy="665162"/>
          </a:xfrm>
          <a:prstGeom prst="rect">
            <a:avLst/>
          </a:prstGeom>
          <a:noFill/>
          <a:ln w="9525">
            <a:noFill/>
          </a:ln>
        </p:spPr>
      </p:pic>
      <p:pic>
        <p:nvPicPr>
          <p:cNvPr id="168966" name="图片 40"/>
          <p:cNvPicPr>
            <a:picLocks noChangeAspect="1"/>
          </p:cNvPicPr>
          <p:nvPr/>
        </p:nvPicPr>
        <p:blipFill>
          <a:blip r:embed="rId3"/>
          <a:stretch>
            <a:fillRect/>
          </a:stretch>
        </p:blipFill>
        <p:spPr>
          <a:xfrm>
            <a:off x="4524375" y="4406900"/>
            <a:ext cx="776288" cy="466725"/>
          </a:xfrm>
          <a:prstGeom prst="rect">
            <a:avLst/>
          </a:prstGeom>
          <a:noFill/>
          <a:ln w="9525">
            <a:noFill/>
          </a:ln>
        </p:spPr>
      </p:pic>
      <p:pic>
        <p:nvPicPr>
          <p:cNvPr id="168967" name="图片 40"/>
          <p:cNvPicPr>
            <a:picLocks noChangeAspect="1"/>
          </p:cNvPicPr>
          <p:nvPr/>
        </p:nvPicPr>
        <p:blipFill>
          <a:blip r:embed="rId3"/>
          <a:stretch>
            <a:fillRect/>
          </a:stretch>
        </p:blipFill>
        <p:spPr>
          <a:xfrm>
            <a:off x="6213475" y="4406900"/>
            <a:ext cx="776288" cy="466725"/>
          </a:xfrm>
          <a:prstGeom prst="rect">
            <a:avLst/>
          </a:prstGeom>
          <a:noFill/>
          <a:ln w="9525">
            <a:noFill/>
          </a:ln>
        </p:spPr>
      </p:pic>
      <p:sp>
        <p:nvSpPr>
          <p:cNvPr id="6" name="矩形 41"/>
          <p:cNvSpPr>
            <a:spLocks noChangeArrowheads="1"/>
          </p:cNvSpPr>
          <p:nvPr/>
        </p:nvSpPr>
        <p:spPr bwMode="auto">
          <a:xfrm>
            <a:off x="5522913" y="4427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7" name="矩形 41"/>
          <p:cNvSpPr>
            <a:spLocks noChangeArrowheads="1"/>
          </p:cNvSpPr>
          <p:nvPr/>
        </p:nvSpPr>
        <p:spPr bwMode="auto">
          <a:xfrm>
            <a:off x="4638675" y="51276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i="1" strike="noStrike" noProof="0" smtClean="0">
                <a:ln>
                  <a:noFill/>
                </a:ln>
                <a:effectLst/>
                <a:uLnTx/>
                <a:uFillTx/>
                <a:latin typeface="+mj-lt"/>
                <a:ea typeface="+mn-ea"/>
                <a:cs typeface="+mn-cs"/>
                <a:sym typeface="+mn-ea"/>
              </a:rPr>
              <a:t>GenImpression</a:t>
            </a:r>
            <a:r>
              <a:rPr sz="2000" strike="noStrike" noProof="0" smtClean="0">
                <a:ln>
                  <a:noFill/>
                </a:ln>
                <a:effectLst/>
                <a:uLnTx/>
                <a:uFillTx/>
                <a:latin typeface="+mj-lt"/>
                <a:ea typeface="+mn-ea"/>
                <a:cs typeface="+mn-cs"/>
                <a:sym typeface="+mn-ea"/>
              </a:rPr>
              <a:t>(</a:t>
            </a:r>
            <a:r>
              <a:rPr sz="2000" i="1" strike="noStrike" noProof="0" smtClean="0">
                <a:ln>
                  <a:noFill/>
                </a:ln>
                <a:effectLst/>
                <a:uLnTx/>
                <a:uFillTx/>
                <a:latin typeface="+mj-lt"/>
                <a:ea typeface="+mn-ea"/>
                <a:cs typeface="+mn-cs"/>
                <a:sym typeface="+mn-ea"/>
              </a:rPr>
              <a:t>i</a:t>
            </a:r>
            <a:r>
              <a:rPr sz="2000" strike="noStrike" noProof="0" smtClean="0">
                <a:ln>
                  <a:noFill/>
                </a:ln>
                <a:effectLst/>
                <a:uLnTx/>
                <a:uFillTx/>
                <a:latin typeface="+mj-lt"/>
                <a:ea typeface="+mn-ea"/>
                <a:cs typeface="+mn-cs"/>
                <a:sym typeface="+mn-ea"/>
              </a:rPr>
              <a:t>, </a:t>
            </a:r>
            <a:r>
              <a:rPr sz="2000" i="1" strike="noStrike" noProof="0" smtClean="0">
                <a:ln>
                  <a:noFill/>
                </a:ln>
                <a:effectLst/>
                <a:uLnTx/>
                <a:uFillTx/>
                <a:latin typeface="+mj-lt"/>
                <a:ea typeface="+mn-ea"/>
                <a:cs typeface="+mn-cs"/>
                <a:sym typeface="+mn-ea"/>
              </a:rPr>
              <a:t>j</a:t>
            </a:r>
            <a:r>
              <a:rPr sz="2000" strike="noStrike" noProof="0" smtClean="0">
                <a:ln>
                  <a:noFill/>
                </a:ln>
                <a:effectLst/>
                <a:uLnTx/>
                <a:uFillTx/>
                <a:latin typeface="+mj-lt"/>
                <a:ea typeface="+mn-ea"/>
                <a:cs typeface="+mn-cs"/>
                <a:sym typeface="+mn-ea"/>
              </a:rPr>
              <a:t>)</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68970" name="直接连接符 7"/>
          <p:cNvCxnSpPr/>
          <p:nvPr/>
        </p:nvCxnSpPr>
        <p:spPr>
          <a:xfrm flipV="1">
            <a:off x="3995738" y="4683125"/>
            <a:ext cx="2217737" cy="474663"/>
          </a:xfrm>
          <a:prstGeom prst="line">
            <a:avLst/>
          </a:prstGeom>
          <a:ln w="19050" cap="flat" cmpd="sng">
            <a:solidFill>
              <a:srgbClr val="00B050"/>
            </a:solidFill>
            <a:prstDash val="solid"/>
            <a:round/>
            <a:headEnd type="none" w="med" len="med"/>
            <a:tailEnd type="none" w="med" len="med"/>
          </a:ln>
        </p:spPr>
      </p:cxnSp>
      <p:cxnSp>
        <p:nvCxnSpPr>
          <p:cNvPr id="168971" name="直接连接符 8"/>
          <p:cNvCxnSpPr/>
          <p:nvPr/>
        </p:nvCxnSpPr>
        <p:spPr>
          <a:xfrm flipV="1">
            <a:off x="3995738" y="4648200"/>
            <a:ext cx="509587" cy="509588"/>
          </a:xfrm>
          <a:prstGeom prst="line">
            <a:avLst/>
          </a:prstGeom>
          <a:ln w="19050" cap="flat" cmpd="sng">
            <a:solidFill>
              <a:srgbClr val="00B050"/>
            </a:solidFill>
            <a:prstDash val="solid"/>
            <a:round/>
            <a:headEnd type="none" w="med" len="med"/>
            <a:tailEnd type="none" w="med" len="med"/>
          </a:ln>
        </p:spPr>
      </p:cxnSp>
      <p:sp>
        <p:nvSpPr>
          <p:cNvPr id="10" name="矩形 41"/>
          <p:cNvSpPr>
            <a:spLocks noChangeArrowheads="1"/>
          </p:cNvSpPr>
          <p:nvPr/>
        </p:nvSpPr>
        <p:spPr bwMode="auto">
          <a:xfrm>
            <a:off x="4264025" y="4681538"/>
            <a:ext cx="4222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00B05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00B050"/>
              </a:solidFill>
              <a:effectLst/>
              <a:uLnTx/>
              <a:uFillTx/>
              <a:latin typeface="+mj-lt"/>
              <a:ea typeface="宋体" panose="02010600030101010101" pitchFamily="2" charset="-122"/>
              <a:cs typeface="+mn-cs"/>
              <a:sym typeface="+mn-ea"/>
            </a:endParaRPr>
          </a:p>
        </p:txBody>
      </p:sp>
      <p:cxnSp>
        <p:nvCxnSpPr>
          <p:cNvPr id="168973" name="直接连接符 10"/>
          <p:cNvCxnSpPr/>
          <p:nvPr/>
        </p:nvCxnSpPr>
        <p:spPr>
          <a:xfrm flipV="1">
            <a:off x="1619250" y="4610100"/>
            <a:ext cx="2886075" cy="476250"/>
          </a:xfrm>
          <a:prstGeom prst="line">
            <a:avLst/>
          </a:prstGeom>
          <a:ln w="19050" cap="flat" cmpd="sng">
            <a:solidFill>
              <a:srgbClr val="FF0000"/>
            </a:solidFill>
            <a:prstDash val="solid"/>
            <a:round/>
            <a:headEnd type="none" w="med" len="med"/>
            <a:tailEnd type="none" w="med" len="med"/>
          </a:ln>
        </p:spPr>
      </p:cxnSp>
      <p:cxnSp>
        <p:nvCxnSpPr>
          <p:cNvPr id="168974" name="直接连接符 11"/>
          <p:cNvCxnSpPr/>
          <p:nvPr/>
        </p:nvCxnSpPr>
        <p:spPr>
          <a:xfrm flipV="1">
            <a:off x="1619250" y="4648200"/>
            <a:ext cx="4543425" cy="438150"/>
          </a:xfrm>
          <a:prstGeom prst="line">
            <a:avLst/>
          </a:prstGeom>
          <a:ln w="19050" cap="flat" cmpd="sng">
            <a:solidFill>
              <a:srgbClr val="FF0000"/>
            </a:solidFill>
            <a:prstDash val="solid"/>
            <a:round/>
            <a:headEnd type="none" w="med" len="med"/>
            <a:tailEnd type="none" w="med" len="med"/>
          </a:ln>
        </p:spPr>
      </p:cxnSp>
      <p:sp>
        <p:nvSpPr>
          <p:cNvPr id="13" name="矩形 41"/>
          <p:cNvSpPr>
            <a:spLocks noChangeArrowheads="1"/>
          </p:cNvSpPr>
          <p:nvPr/>
        </p:nvSpPr>
        <p:spPr bwMode="auto">
          <a:xfrm>
            <a:off x="3889375" y="4521200"/>
            <a:ext cx="420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FF000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4"/>
          <a:stretch>
            <a:fillRect/>
          </a:stretch>
        </p:blipFill>
        <p:spPr>
          <a:xfrm>
            <a:off x="8195945" y="6191885"/>
            <a:ext cx="567055" cy="250190"/>
          </a:xfrm>
          <a:prstGeom prst="rect">
            <a:avLst/>
          </a:prstGeom>
        </p:spPr>
      </p:pic>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4963"/>
            <a:ext cx="80073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altLang="zh-CN" sz="1800" strike="noStrike" noProof="0" dirty="0" smtClean="0">
                <a:ln>
                  <a:noFill/>
                </a:ln>
                <a:effectLst/>
                <a:uLnTx/>
                <a:uFillTx/>
                <a:latin typeface="Chiller" panose="04020404031007020602" pitchFamily="82" charset="0"/>
                <a:ea typeface="+mn-ea"/>
                <a:cs typeface="+mn-cs"/>
                <a:sym typeface="+mn-ea"/>
              </a:rPr>
              <a:t>  </a:t>
            </a:r>
            <a:r>
              <a:rPr sz="2000" strike="noStrike" noProof="0" smtClean="0">
                <a:ln>
                  <a:noFill/>
                </a:ln>
                <a:effectLst/>
                <a:uLnTx/>
                <a:uFillTx/>
                <a:latin typeface="+mj-lt"/>
                <a:ea typeface="+mn-ea"/>
                <a:cs typeface="+mn-cs"/>
                <a:sym typeface="+mn-ea"/>
              </a:rPr>
              <a:t>为排除一些主观打分相差过大的评估数据，我们引入统计学的中位数(median)概念。即先计算出21位评估人提供的21种评分结果的中位数评分结果。在这样的中位数评分结果上按式(2-7)实施线性拟合。</a:t>
            </a:r>
            <a:endParaRPr sz="2000" strike="noStrike" noProof="0" smtClean="0">
              <a:ln>
                <a:noFill/>
              </a:ln>
              <a:effectLst/>
              <a:uLnTx/>
              <a:uFillTx/>
              <a:latin typeface="+mj-lt"/>
              <a:ea typeface="+mn-ea"/>
              <a:cs typeface="+mn-cs"/>
              <a:sym typeface="+mn-ea"/>
            </a:endParaRPr>
          </a:p>
        </p:txBody>
      </p:sp>
      <p:pic>
        <p:nvPicPr>
          <p:cNvPr id="171012" name="图片 2"/>
          <p:cNvPicPr>
            <a:picLocks noChangeAspect="1"/>
          </p:cNvPicPr>
          <p:nvPr/>
        </p:nvPicPr>
        <p:blipFill>
          <a:blip r:embed="rId1"/>
          <a:stretch>
            <a:fillRect/>
          </a:stretch>
        </p:blipFill>
        <p:spPr>
          <a:xfrm>
            <a:off x="757238" y="5837238"/>
            <a:ext cx="8005762" cy="604837"/>
          </a:xfrm>
          <a:prstGeom prst="rect">
            <a:avLst/>
          </a:prstGeom>
          <a:noFill/>
          <a:ln w="9525">
            <a:noFill/>
          </a:ln>
        </p:spPr>
      </p:pic>
      <p:pic>
        <p:nvPicPr>
          <p:cNvPr id="171013" name="图片 3"/>
          <p:cNvPicPr>
            <a:picLocks noChangeAspect="1"/>
          </p:cNvPicPr>
          <p:nvPr/>
        </p:nvPicPr>
        <p:blipFill>
          <a:blip r:embed="rId2"/>
          <a:stretch>
            <a:fillRect/>
          </a:stretch>
        </p:blipFill>
        <p:spPr>
          <a:xfrm>
            <a:off x="1349375" y="4945063"/>
            <a:ext cx="2870200" cy="665162"/>
          </a:xfrm>
          <a:prstGeom prst="rect">
            <a:avLst/>
          </a:prstGeom>
          <a:noFill/>
          <a:ln w="9525">
            <a:noFill/>
          </a:ln>
        </p:spPr>
      </p:pic>
      <p:pic>
        <p:nvPicPr>
          <p:cNvPr id="171014" name="图片 40"/>
          <p:cNvPicPr>
            <a:picLocks noChangeAspect="1"/>
          </p:cNvPicPr>
          <p:nvPr/>
        </p:nvPicPr>
        <p:blipFill>
          <a:blip r:embed="rId3"/>
          <a:stretch>
            <a:fillRect/>
          </a:stretch>
        </p:blipFill>
        <p:spPr>
          <a:xfrm>
            <a:off x="4524375" y="4406900"/>
            <a:ext cx="776288" cy="466725"/>
          </a:xfrm>
          <a:prstGeom prst="rect">
            <a:avLst/>
          </a:prstGeom>
          <a:noFill/>
          <a:ln w="9525">
            <a:noFill/>
          </a:ln>
        </p:spPr>
      </p:pic>
      <p:pic>
        <p:nvPicPr>
          <p:cNvPr id="171015" name="图片 40"/>
          <p:cNvPicPr>
            <a:picLocks noChangeAspect="1"/>
          </p:cNvPicPr>
          <p:nvPr/>
        </p:nvPicPr>
        <p:blipFill>
          <a:blip r:embed="rId3"/>
          <a:stretch>
            <a:fillRect/>
          </a:stretch>
        </p:blipFill>
        <p:spPr>
          <a:xfrm>
            <a:off x="6213475" y="4406900"/>
            <a:ext cx="776288" cy="466725"/>
          </a:xfrm>
          <a:prstGeom prst="rect">
            <a:avLst/>
          </a:prstGeom>
          <a:noFill/>
          <a:ln w="9525">
            <a:noFill/>
          </a:ln>
        </p:spPr>
      </p:pic>
      <p:sp>
        <p:nvSpPr>
          <p:cNvPr id="6" name="矩形 41"/>
          <p:cNvSpPr>
            <a:spLocks noChangeArrowheads="1"/>
          </p:cNvSpPr>
          <p:nvPr/>
        </p:nvSpPr>
        <p:spPr bwMode="auto">
          <a:xfrm>
            <a:off x="5522913" y="4427538"/>
            <a:ext cx="3571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400" b="0" i="0" u="none" strike="noStrike" kern="1200" cap="none" spc="0" normalizeH="0" baseline="0" noProof="0" dirty="0" smtClean="0">
                <a:ln>
                  <a:noFill/>
                </a:ln>
                <a:solidFill>
                  <a:schemeClr val="tx1"/>
                </a:solidFill>
                <a:effectLst/>
                <a:uLnTx/>
                <a:uFillTx/>
                <a:latin typeface="+mj-lt"/>
                <a:ea typeface="+mn-ea"/>
                <a:cs typeface="+mn-cs"/>
                <a:sym typeface="+mn-ea"/>
              </a:rPr>
              <a:t>...</a:t>
            </a:r>
            <a:endParaRPr kumimoji="0" lang="en-US" altLang="zh-CN" sz="14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sp>
        <p:nvSpPr>
          <p:cNvPr id="7" name="矩形 41"/>
          <p:cNvSpPr>
            <a:spLocks noChangeArrowheads="1"/>
          </p:cNvSpPr>
          <p:nvPr/>
        </p:nvSpPr>
        <p:spPr bwMode="auto">
          <a:xfrm>
            <a:off x="4638675" y="5127625"/>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i="1" strike="noStrike" noProof="0" smtClean="0">
                <a:ln>
                  <a:noFill/>
                </a:ln>
                <a:effectLst/>
                <a:uLnTx/>
                <a:uFillTx/>
                <a:latin typeface="+mj-lt"/>
                <a:ea typeface="+mn-ea"/>
                <a:cs typeface="+mn-cs"/>
                <a:sym typeface="+mn-ea"/>
              </a:rPr>
              <a:t>GenImpression</a:t>
            </a:r>
            <a:r>
              <a:rPr sz="2000" strike="noStrike" noProof="0" smtClean="0">
                <a:ln>
                  <a:noFill/>
                </a:ln>
                <a:effectLst/>
                <a:uLnTx/>
                <a:uFillTx/>
                <a:latin typeface="+mj-lt"/>
                <a:ea typeface="+mn-ea"/>
                <a:cs typeface="+mn-cs"/>
                <a:sym typeface="+mn-ea"/>
              </a:rPr>
              <a:t>(</a:t>
            </a:r>
            <a:r>
              <a:rPr sz="2000" i="1" strike="noStrike" noProof="0" smtClean="0">
                <a:ln>
                  <a:noFill/>
                </a:ln>
                <a:effectLst/>
                <a:uLnTx/>
                <a:uFillTx/>
                <a:latin typeface="+mj-lt"/>
                <a:ea typeface="+mn-ea"/>
                <a:cs typeface="+mn-cs"/>
                <a:sym typeface="+mn-ea"/>
              </a:rPr>
              <a:t>i</a:t>
            </a:r>
            <a:r>
              <a:rPr sz="2000" strike="noStrike" noProof="0" smtClean="0">
                <a:ln>
                  <a:noFill/>
                </a:ln>
                <a:effectLst/>
                <a:uLnTx/>
                <a:uFillTx/>
                <a:latin typeface="+mj-lt"/>
                <a:ea typeface="+mn-ea"/>
                <a:cs typeface="+mn-cs"/>
                <a:sym typeface="+mn-ea"/>
              </a:rPr>
              <a:t>, </a:t>
            </a:r>
            <a:r>
              <a:rPr sz="2000" i="1" strike="noStrike" noProof="0" smtClean="0">
                <a:ln>
                  <a:noFill/>
                </a:ln>
                <a:effectLst/>
                <a:uLnTx/>
                <a:uFillTx/>
                <a:latin typeface="+mj-lt"/>
                <a:ea typeface="+mn-ea"/>
                <a:cs typeface="+mn-cs"/>
                <a:sym typeface="+mn-ea"/>
              </a:rPr>
              <a:t>j</a:t>
            </a:r>
            <a:r>
              <a:rPr sz="2000" strike="noStrike" noProof="0" smtClean="0">
                <a:ln>
                  <a:noFill/>
                </a:ln>
                <a:effectLst/>
                <a:uLnTx/>
                <a:uFillTx/>
                <a:latin typeface="+mj-lt"/>
                <a:ea typeface="+mn-ea"/>
                <a:cs typeface="+mn-cs"/>
                <a:sym typeface="+mn-ea"/>
              </a:rPr>
              <a:t>)</a:t>
            </a:r>
            <a:endParaRPr kumimoji="0" lang="en-US" altLang="zh-CN" sz="2000" b="0" i="0" u="none" strike="noStrike" kern="1200" cap="none" spc="0" normalizeH="0" baseline="0" noProof="0" dirty="0" smtClean="0">
              <a:ln>
                <a:noFill/>
              </a:ln>
              <a:solidFill>
                <a:schemeClr val="tx1"/>
              </a:solidFill>
              <a:effectLst/>
              <a:uLnTx/>
              <a:uFillTx/>
              <a:latin typeface="+mj-lt"/>
              <a:ea typeface="宋体" panose="02010600030101010101" pitchFamily="2" charset="-122"/>
              <a:cs typeface="+mn-cs"/>
              <a:sym typeface="+mn-ea"/>
            </a:endParaRPr>
          </a:p>
        </p:txBody>
      </p:sp>
      <p:cxnSp>
        <p:nvCxnSpPr>
          <p:cNvPr id="171018" name="直接连接符 7"/>
          <p:cNvCxnSpPr/>
          <p:nvPr/>
        </p:nvCxnSpPr>
        <p:spPr>
          <a:xfrm flipV="1">
            <a:off x="3995738" y="4683125"/>
            <a:ext cx="2217737" cy="474663"/>
          </a:xfrm>
          <a:prstGeom prst="line">
            <a:avLst/>
          </a:prstGeom>
          <a:ln w="19050" cap="flat" cmpd="sng">
            <a:solidFill>
              <a:srgbClr val="00B050"/>
            </a:solidFill>
            <a:prstDash val="solid"/>
            <a:round/>
            <a:headEnd type="none" w="med" len="med"/>
            <a:tailEnd type="none" w="med" len="med"/>
          </a:ln>
        </p:spPr>
      </p:cxnSp>
      <p:cxnSp>
        <p:nvCxnSpPr>
          <p:cNvPr id="171019" name="直接连接符 8"/>
          <p:cNvCxnSpPr/>
          <p:nvPr/>
        </p:nvCxnSpPr>
        <p:spPr>
          <a:xfrm flipV="1">
            <a:off x="3995738" y="4648200"/>
            <a:ext cx="509587" cy="509588"/>
          </a:xfrm>
          <a:prstGeom prst="line">
            <a:avLst/>
          </a:prstGeom>
          <a:ln w="19050" cap="flat" cmpd="sng">
            <a:solidFill>
              <a:srgbClr val="00B050"/>
            </a:solidFill>
            <a:prstDash val="solid"/>
            <a:round/>
            <a:headEnd type="none" w="med" len="med"/>
            <a:tailEnd type="none" w="med" len="med"/>
          </a:ln>
        </p:spPr>
      </p:cxnSp>
      <p:sp>
        <p:nvSpPr>
          <p:cNvPr id="10" name="矩形 41"/>
          <p:cNvSpPr>
            <a:spLocks noChangeArrowheads="1"/>
          </p:cNvSpPr>
          <p:nvPr/>
        </p:nvSpPr>
        <p:spPr bwMode="auto">
          <a:xfrm>
            <a:off x="4264025" y="4681538"/>
            <a:ext cx="42227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00B05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00B050"/>
              </a:solidFill>
              <a:effectLst/>
              <a:uLnTx/>
              <a:uFillTx/>
              <a:latin typeface="+mj-lt"/>
              <a:ea typeface="宋体" panose="02010600030101010101" pitchFamily="2" charset="-122"/>
              <a:cs typeface="+mn-cs"/>
              <a:sym typeface="+mn-ea"/>
            </a:endParaRPr>
          </a:p>
        </p:txBody>
      </p:sp>
      <p:cxnSp>
        <p:nvCxnSpPr>
          <p:cNvPr id="171021" name="直接连接符 10"/>
          <p:cNvCxnSpPr/>
          <p:nvPr/>
        </p:nvCxnSpPr>
        <p:spPr>
          <a:xfrm flipV="1">
            <a:off x="1619250" y="4610100"/>
            <a:ext cx="2886075" cy="476250"/>
          </a:xfrm>
          <a:prstGeom prst="line">
            <a:avLst/>
          </a:prstGeom>
          <a:ln w="19050" cap="flat" cmpd="sng">
            <a:solidFill>
              <a:srgbClr val="FF0000"/>
            </a:solidFill>
            <a:prstDash val="solid"/>
            <a:round/>
            <a:headEnd type="none" w="med" len="med"/>
            <a:tailEnd type="none" w="med" len="med"/>
          </a:ln>
        </p:spPr>
      </p:cxnSp>
      <p:cxnSp>
        <p:nvCxnSpPr>
          <p:cNvPr id="171022" name="直接连接符 11"/>
          <p:cNvCxnSpPr/>
          <p:nvPr/>
        </p:nvCxnSpPr>
        <p:spPr>
          <a:xfrm flipV="1">
            <a:off x="1619250" y="4648200"/>
            <a:ext cx="4543425" cy="438150"/>
          </a:xfrm>
          <a:prstGeom prst="line">
            <a:avLst/>
          </a:prstGeom>
          <a:ln w="19050" cap="flat" cmpd="sng">
            <a:solidFill>
              <a:srgbClr val="FF0000"/>
            </a:solidFill>
            <a:prstDash val="solid"/>
            <a:round/>
            <a:headEnd type="none" w="med" len="med"/>
            <a:tailEnd type="none" w="med" len="med"/>
          </a:ln>
        </p:spPr>
      </p:cxnSp>
      <p:sp>
        <p:nvSpPr>
          <p:cNvPr id="13" name="矩形 41"/>
          <p:cNvSpPr>
            <a:spLocks noChangeArrowheads="1"/>
          </p:cNvSpPr>
          <p:nvPr/>
        </p:nvSpPr>
        <p:spPr bwMode="auto">
          <a:xfrm>
            <a:off x="3889375" y="4521200"/>
            <a:ext cx="420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US" sz="2000" i="1" strike="noStrike" noProof="0" smtClean="0">
                <a:ln>
                  <a:noFill/>
                </a:ln>
                <a:solidFill>
                  <a:srgbClr val="FF0000"/>
                </a:solidFill>
                <a:effectLst/>
                <a:uLnTx/>
                <a:uFillTx/>
                <a:latin typeface="+mj-lt"/>
                <a:ea typeface="+mn-ea"/>
                <a:cs typeface="+mn-cs"/>
                <a:sym typeface="+mn-ea"/>
              </a:rPr>
              <a:t>...</a:t>
            </a:r>
            <a:endParaRPr kumimoji="0" lang="en-US" sz="2000" b="0" i="1" u="none" strike="noStrike" kern="1200" cap="none" spc="0" normalizeH="0" baseline="0" noProof="0" dirty="0" smtClean="0">
              <a:ln>
                <a:noFill/>
              </a:ln>
              <a:solidFill>
                <a:srgbClr val="FF0000"/>
              </a:solidFill>
              <a:effectLst/>
              <a:uLnTx/>
              <a:uFillTx/>
              <a:latin typeface="+mj-lt"/>
              <a:ea typeface="宋体" panose="02010600030101010101" pitchFamily="2" charset="-122"/>
              <a:cs typeface="+mn-cs"/>
              <a:sym typeface="+mn-ea"/>
            </a:endParaRPr>
          </a:p>
        </p:txBody>
      </p:sp>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4"/>
          <a:stretch>
            <a:fillRect/>
          </a:stretch>
        </p:blipFill>
        <p:spPr>
          <a:xfrm>
            <a:off x="8195945" y="6191885"/>
            <a:ext cx="567055" cy="250190"/>
          </a:xfrm>
          <a:prstGeom prst="rect">
            <a:avLst/>
          </a:prstGeom>
        </p:spPr>
      </p:pic>
    </p:spTree>
  </p:cSld>
  <p:clrMapOvr>
    <a:masterClrMapping/>
  </p:clrMapOvr>
  <p:transition spd="med">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587625"/>
            <a:ext cx="80073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下</a:t>
            </a:r>
            <a:r>
              <a:rPr kumimoji="0" sz="2000" b="0" u="none" strike="noStrike" kern="1200" cap="none" spc="0" normalizeH="0" noProof="0" smtClean="0">
                <a:ln>
                  <a:noFill/>
                </a:ln>
                <a:solidFill>
                  <a:schemeClr val="tx1"/>
                </a:solidFill>
                <a:effectLst/>
                <a:uLnTx/>
                <a:uFillTx/>
                <a:latin typeface="+mj-lt"/>
                <a:ea typeface="+mn-ea"/>
                <a:cs typeface="+mn-cs"/>
              </a:rPr>
              <a:t>表展示了21位评估人提供的对14首参评歌曲的独特性、流畅性、正确性以及整体印象的评分的中位数结果、各分项拟合权重系数以及估算出的整体印象分的预测值、拟合误差以及误差百分比。</a:t>
            </a:r>
            <a:endParaRPr kumimoji="0" sz="2000" b="0" u="none" strike="noStrike" kern="1200" cap="none" spc="0" normalizeH="0" noProof="0" smtClean="0">
              <a:ln>
                <a:noFill/>
              </a:ln>
              <a:solidFill>
                <a:schemeClr val="tx1"/>
              </a:solidFill>
              <a:effectLst/>
              <a:uLnTx/>
              <a:uFillTx/>
              <a:latin typeface="+mj-lt"/>
              <a:ea typeface="+mn-ea"/>
              <a:cs typeface="+mn-cs"/>
            </a:endParaRPr>
          </a:p>
        </p:txBody>
      </p:sp>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994410" y="3602355"/>
            <a:ext cx="7165340" cy="3218180"/>
          </a:xfrm>
          <a:prstGeom prst="rect">
            <a:avLst/>
          </a:prstGeom>
        </p:spPr>
      </p:pic>
    </p:spTree>
  </p:cSld>
  <p:clrMapOvr>
    <a:masterClrMapping/>
  </p:clrMapOvr>
  <p:transition spd="med">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874963"/>
            <a:ext cx="80073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sz="2000" strike="noStrike" noProof="0" smtClean="0">
                <a:ln>
                  <a:noFill/>
                </a:ln>
                <a:effectLst/>
                <a:uLnTx/>
                <a:uFillTx/>
                <a:latin typeface="+mj-lt"/>
                <a:ea typeface="+mn-ea"/>
                <a:cs typeface="+mj-lt"/>
                <a:sym typeface="+mn-ea"/>
              </a:rPr>
              <a:t>在这样的中位数评分结果上按式(2-7)实施线性拟合。得到各分项拟合权重系数</a:t>
            </a:r>
            <a:r>
              <a:rPr sz="2000" i="1" strike="noStrike" noProof="0" smtClean="0">
                <a:ln>
                  <a:noFill/>
                </a:ln>
                <a:effectLst/>
                <a:uLnTx/>
                <a:uFillTx/>
                <a:latin typeface="+mj-lt"/>
                <a:ea typeface="+mn-ea"/>
                <a:cs typeface="+mj-lt"/>
                <a:sym typeface="+mn-ea"/>
              </a:rPr>
              <a:t>w</a:t>
            </a:r>
            <a:r>
              <a:rPr sz="2000" strike="noStrike" baseline="-25000" noProof="0" smtClean="0">
                <a:ln>
                  <a:noFill/>
                </a:ln>
                <a:effectLst/>
                <a:uLnTx/>
                <a:uFillTx/>
                <a:latin typeface="+mj-lt"/>
                <a:ea typeface="+mn-ea"/>
                <a:cs typeface="+mj-lt"/>
                <a:sym typeface="+mn-ea"/>
              </a:rPr>
              <a:t>1</a:t>
            </a:r>
            <a:r>
              <a:rPr sz="2000" strike="noStrike" noProof="0" smtClean="0">
                <a:ln>
                  <a:noFill/>
                </a:ln>
                <a:effectLst/>
                <a:uLnTx/>
                <a:uFillTx/>
                <a:latin typeface="+mj-lt"/>
                <a:ea typeface="+mn-ea"/>
                <a:cs typeface="+mj-lt"/>
                <a:sym typeface="+mn-ea"/>
              </a:rPr>
              <a:t>(</a:t>
            </a:r>
            <a:r>
              <a:rPr sz="2000" i="1" strike="noStrike" noProof="0" smtClean="0">
                <a:ln>
                  <a:noFill/>
                </a:ln>
                <a:effectLst/>
                <a:uLnTx/>
                <a:uFillTx/>
                <a:latin typeface="+mj-lt"/>
                <a:ea typeface="+mn-ea"/>
                <a:cs typeface="+mj-lt"/>
                <a:sym typeface="+mn-ea"/>
              </a:rPr>
              <a:t>i</a:t>
            </a:r>
            <a:r>
              <a:rPr sz="2000" i="1" strike="noStrike" baseline="-25000" noProof="0" smtClean="0">
                <a:ln>
                  <a:noFill/>
                </a:ln>
                <a:effectLst/>
                <a:uLnTx/>
                <a:uFillTx/>
                <a:latin typeface="+mj-lt"/>
                <a:ea typeface="+mn-ea"/>
                <a:cs typeface="+mj-lt"/>
                <a:sym typeface="+mn-ea"/>
              </a:rPr>
              <a:t>m</a:t>
            </a:r>
            <a:r>
              <a:rPr sz="2000" strike="noStrike" noProof="0" smtClean="0">
                <a:ln>
                  <a:noFill/>
                </a:ln>
                <a:effectLst/>
                <a:uLnTx/>
                <a:uFillTx/>
                <a:latin typeface="+mj-lt"/>
                <a:ea typeface="+mn-ea"/>
                <a:cs typeface="+mj-lt"/>
                <a:sym typeface="+mn-ea"/>
              </a:rPr>
              <a:t>)=0.277117，</a:t>
            </a:r>
            <a:r>
              <a:rPr sz="2000" i="1" strike="noStrike" noProof="0" smtClean="0">
                <a:ln>
                  <a:noFill/>
                </a:ln>
                <a:effectLst/>
                <a:uLnTx/>
                <a:uFillTx/>
                <a:latin typeface="+mj-lt"/>
                <a:ea typeface="+mn-ea"/>
                <a:cs typeface="+mj-lt"/>
                <a:sym typeface="+mn-ea"/>
              </a:rPr>
              <a:t>w</a:t>
            </a:r>
            <a:r>
              <a:rPr sz="2000" strike="noStrike" baseline="-25000" noProof="0" smtClean="0">
                <a:ln>
                  <a:noFill/>
                </a:ln>
                <a:effectLst/>
                <a:uLnTx/>
                <a:uFillTx/>
                <a:latin typeface="+mj-lt"/>
                <a:ea typeface="+mn-ea"/>
                <a:cs typeface="+mj-lt"/>
                <a:sym typeface="+mn-ea"/>
              </a:rPr>
              <a:t>2</a:t>
            </a:r>
            <a:r>
              <a:rPr sz="2000" strike="noStrike" noProof="0" smtClean="0">
                <a:ln>
                  <a:noFill/>
                </a:ln>
                <a:effectLst/>
                <a:uLnTx/>
                <a:uFillTx/>
                <a:latin typeface="+mj-lt"/>
                <a:ea typeface="+mn-ea"/>
                <a:cs typeface="+mj-lt"/>
                <a:sym typeface="+mn-ea"/>
              </a:rPr>
              <a:t>(</a:t>
            </a:r>
            <a:r>
              <a:rPr sz="2000" i="1" strike="noStrike" noProof="0" smtClean="0">
                <a:ln>
                  <a:noFill/>
                </a:ln>
                <a:effectLst/>
                <a:uLnTx/>
                <a:uFillTx/>
                <a:latin typeface="+mj-lt"/>
                <a:ea typeface="+mn-ea"/>
                <a:cs typeface="+mj-lt"/>
                <a:sym typeface="+mn-ea"/>
              </a:rPr>
              <a:t>i</a:t>
            </a:r>
            <a:r>
              <a:rPr sz="2000" i="1" strike="noStrike" baseline="-25000" noProof="0" smtClean="0">
                <a:ln>
                  <a:noFill/>
                </a:ln>
                <a:effectLst/>
                <a:uLnTx/>
                <a:uFillTx/>
                <a:latin typeface="+mj-lt"/>
                <a:ea typeface="+mn-ea"/>
                <a:cs typeface="+mj-lt"/>
                <a:sym typeface="+mn-ea"/>
              </a:rPr>
              <a:t>m</a:t>
            </a:r>
            <a:r>
              <a:rPr sz="2000" strike="noStrike" noProof="0" smtClean="0">
                <a:ln>
                  <a:noFill/>
                </a:ln>
                <a:effectLst/>
                <a:uLnTx/>
                <a:uFillTx/>
                <a:latin typeface="+mj-lt"/>
                <a:ea typeface="+mn-ea"/>
                <a:cs typeface="+mj-lt"/>
                <a:sym typeface="+mn-ea"/>
              </a:rPr>
              <a:t>)=0.325963，</a:t>
            </a:r>
            <a:r>
              <a:rPr sz="2000" i="1" strike="noStrike" noProof="0" smtClean="0">
                <a:ln>
                  <a:noFill/>
                </a:ln>
                <a:effectLst/>
                <a:uLnTx/>
                <a:uFillTx/>
                <a:latin typeface="+mj-lt"/>
                <a:ea typeface="+mn-ea"/>
                <a:cs typeface="+mj-lt"/>
                <a:sym typeface="+mn-ea"/>
              </a:rPr>
              <a:t>w</a:t>
            </a:r>
            <a:r>
              <a:rPr sz="2000" strike="noStrike" baseline="-25000" noProof="0" smtClean="0">
                <a:ln>
                  <a:noFill/>
                </a:ln>
                <a:effectLst/>
                <a:uLnTx/>
                <a:uFillTx/>
                <a:latin typeface="+mj-lt"/>
                <a:ea typeface="+mn-ea"/>
                <a:cs typeface="+mj-lt"/>
                <a:sym typeface="+mn-ea"/>
              </a:rPr>
              <a:t>3</a:t>
            </a:r>
            <a:r>
              <a:rPr sz="2000" strike="noStrike" noProof="0" smtClean="0">
                <a:ln>
                  <a:noFill/>
                </a:ln>
                <a:effectLst/>
                <a:uLnTx/>
                <a:uFillTx/>
                <a:latin typeface="+mj-lt"/>
                <a:ea typeface="+mn-ea"/>
                <a:cs typeface="+mj-lt"/>
                <a:sym typeface="+mn-ea"/>
              </a:rPr>
              <a:t>(</a:t>
            </a:r>
            <a:r>
              <a:rPr sz="2000" i="1" strike="noStrike" noProof="0" smtClean="0">
                <a:ln>
                  <a:noFill/>
                </a:ln>
                <a:effectLst/>
                <a:uLnTx/>
                <a:uFillTx/>
                <a:latin typeface="+mj-lt"/>
                <a:ea typeface="+mn-ea"/>
                <a:cs typeface="+mj-lt"/>
                <a:sym typeface="+mn-ea"/>
              </a:rPr>
              <a:t>i</a:t>
            </a:r>
            <a:r>
              <a:rPr sz="2000" i="1" strike="noStrike" baseline="-25000" noProof="0" smtClean="0">
                <a:ln>
                  <a:noFill/>
                </a:ln>
                <a:effectLst/>
                <a:uLnTx/>
                <a:uFillTx/>
                <a:latin typeface="+mj-lt"/>
                <a:ea typeface="+mn-ea"/>
                <a:cs typeface="+mj-lt"/>
                <a:sym typeface="+mn-ea"/>
              </a:rPr>
              <a:t>m</a:t>
            </a:r>
            <a:r>
              <a:rPr sz="2000" strike="noStrike" noProof="0" smtClean="0">
                <a:ln>
                  <a:noFill/>
                </a:ln>
                <a:effectLst/>
                <a:uLnTx/>
                <a:uFillTx/>
                <a:latin typeface="+mj-lt"/>
                <a:ea typeface="+mn-ea"/>
                <a:cs typeface="+mj-lt"/>
                <a:sym typeface="+mn-ea"/>
              </a:rPr>
              <a:t>)= 0.412432。</a:t>
            </a:r>
            <a:endParaRPr sz="2000" strike="noStrike" noProof="0" smtClean="0">
              <a:ln>
                <a:noFill/>
              </a:ln>
              <a:effectLst/>
              <a:uLnTx/>
              <a:uFillTx/>
              <a:latin typeface="+mj-lt"/>
              <a:ea typeface="+mn-ea"/>
              <a:cs typeface="+mj-lt"/>
              <a:sym typeface="+mn-ea"/>
            </a:endParaRPr>
          </a:p>
        </p:txBody>
      </p:sp>
      <p:pic>
        <p:nvPicPr>
          <p:cNvPr id="175108" name="图片 2"/>
          <p:cNvPicPr>
            <a:picLocks noChangeAspect="1"/>
          </p:cNvPicPr>
          <p:nvPr/>
        </p:nvPicPr>
        <p:blipFill>
          <a:blip r:embed="rId1"/>
          <a:stretch>
            <a:fillRect/>
          </a:stretch>
        </p:blipFill>
        <p:spPr>
          <a:xfrm>
            <a:off x="604838" y="3938588"/>
            <a:ext cx="8005762" cy="604837"/>
          </a:xfrm>
          <a:prstGeom prst="rect">
            <a:avLst/>
          </a:prstGeom>
          <a:noFill/>
          <a:ln w="9525">
            <a:noFill/>
          </a:ln>
        </p:spPr>
      </p:pic>
      <p:sp>
        <p:nvSpPr>
          <p:cNvPr id="14" name="矩形 41"/>
          <p:cNvSpPr>
            <a:spLocks noChangeArrowheads="1"/>
          </p:cNvSpPr>
          <p:nvPr/>
        </p:nvSpPr>
        <p:spPr bwMode="auto">
          <a:xfrm>
            <a:off x="644525" y="4867275"/>
            <a:ext cx="80073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zh-CN" altLang="zh-CN" sz="1800" strike="noStrike" noProof="0" dirty="0" smtClean="0">
                <a:ln>
                  <a:noFill/>
                </a:ln>
                <a:effectLst/>
                <a:uLnTx/>
                <a:uFillTx/>
                <a:latin typeface="Chiller" panose="04020404031007020602" pitchFamily="82" charset="0"/>
                <a:ea typeface="+mn-ea"/>
                <a:cs typeface="+mn-cs"/>
                <a:sym typeface="+mn-ea"/>
              </a:rPr>
              <a:t> </a:t>
            </a:r>
            <a:r>
              <a:rPr sz="2000" strike="noStrike" noProof="0" smtClean="0">
                <a:ln>
                  <a:noFill/>
                </a:ln>
                <a:effectLst/>
                <a:uLnTx/>
                <a:uFillTx/>
                <a:latin typeface="+mj-lt"/>
                <a:ea typeface="+mn-ea"/>
                <a:sym typeface="+mn-ea"/>
              </a:rPr>
              <a:t>对</a:t>
            </a:r>
            <a:r>
              <a:rPr sz="2000" noProof="0" smtClean="0">
                <a:ln>
                  <a:noFill/>
                </a:ln>
                <a:effectLst/>
                <a:uLnTx/>
                <a:uFillTx/>
                <a:latin typeface="+mj-lt"/>
                <a:cs typeface="+mj-lt"/>
                <a:sym typeface="+mn-ea"/>
              </a:rPr>
              <a:t>各分项拟合权重系数</a:t>
            </a:r>
            <a:r>
              <a:rPr sz="2000" i="1" noProof="0" smtClean="0">
                <a:ln>
                  <a:noFill/>
                </a:ln>
                <a:effectLst/>
                <a:uLnTx/>
                <a:uFillTx/>
                <a:latin typeface="+mj-lt"/>
                <a:cs typeface="+mj-lt"/>
                <a:sym typeface="+mn-ea"/>
              </a:rPr>
              <a:t>w</a:t>
            </a:r>
            <a:r>
              <a:rPr sz="2000" baseline="-25000" noProof="0" smtClean="0">
                <a:ln>
                  <a:noFill/>
                </a:ln>
                <a:effectLst/>
                <a:uLnTx/>
                <a:uFillTx/>
                <a:latin typeface="+mj-lt"/>
                <a:cs typeface="+mj-lt"/>
                <a:sym typeface="+mn-ea"/>
              </a:rPr>
              <a:t>1</a:t>
            </a:r>
            <a:r>
              <a:rPr sz="2000" noProof="0" smtClean="0">
                <a:ln>
                  <a:noFill/>
                </a:ln>
                <a:effectLst/>
                <a:uLnTx/>
                <a:uFillTx/>
                <a:latin typeface="+mj-lt"/>
                <a:cs typeface="+mj-lt"/>
                <a:sym typeface="+mn-ea"/>
              </a:rPr>
              <a:t>(</a:t>
            </a:r>
            <a:r>
              <a:rPr sz="2000" i="1" noProof="0" smtClean="0">
                <a:ln>
                  <a:noFill/>
                </a:ln>
                <a:effectLst/>
                <a:uLnTx/>
                <a:uFillTx/>
                <a:latin typeface="+mj-lt"/>
                <a:cs typeface="+mj-lt"/>
                <a:sym typeface="+mn-ea"/>
              </a:rPr>
              <a:t>i</a:t>
            </a:r>
            <a:r>
              <a:rPr sz="2000" i="1" baseline="-25000" noProof="0" smtClean="0">
                <a:ln>
                  <a:noFill/>
                </a:ln>
                <a:effectLst/>
                <a:uLnTx/>
                <a:uFillTx/>
                <a:latin typeface="+mj-lt"/>
                <a:cs typeface="+mj-lt"/>
                <a:sym typeface="+mn-ea"/>
              </a:rPr>
              <a:t>m</a:t>
            </a:r>
            <a:r>
              <a:rPr sz="2000" noProof="0" smtClean="0">
                <a:ln>
                  <a:noFill/>
                </a:ln>
                <a:effectLst/>
                <a:uLnTx/>
                <a:uFillTx/>
                <a:latin typeface="+mj-lt"/>
                <a:cs typeface="+mj-lt"/>
                <a:sym typeface="+mn-ea"/>
              </a:rPr>
              <a:t>)=0.277117，</a:t>
            </a:r>
            <a:r>
              <a:rPr sz="2000" i="1" noProof="0" smtClean="0">
                <a:ln>
                  <a:noFill/>
                </a:ln>
                <a:effectLst/>
                <a:uLnTx/>
                <a:uFillTx/>
                <a:latin typeface="+mj-lt"/>
                <a:cs typeface="+mj-lt"/>
                <a:sym typeface="+mn-ea"/>
              </a:rPr>
              <a:t>w</a:t>
            </a:r>
            <a:r>
              <a:rPr sz="2000" baseline="-25000" noProof="0" smtClean="0">
                <a:ln>
                  <a:noFill/>
                </a:ln>
                <a:effectLst/>
                <a:uLnTx/>
                <a:uFillTx/>
                <a:latin typeface="+mj-lt"/>
                <a:cs typeface="+mj-lt"/>
                <a:sym typeface="+mn-ea"/>
              </a:rPr>
              <a:t>2</a:t>
            </a:r>
            <a:r>
              <a:rPr sz="2000" noProof="0" smtClean="0">
                <a:ln>
                  <a:noFill/>
                </a:ln>
                <a:effectLst/>
                <a:uLnTx/>
                <a:uFillTx/>
                <a:latin typeface="+mj-lt"/>
                <a:cs typeface="+mj-lt"/>
                <a:sym typeface="+mn-ea"/>
              </a:rPr>
              <a:t>(</a:t>
            </a:r>
            <a:r>
              <a:rPr sz="2000" i="1" noProof="0" smtClean="0">
                <a:ln>
                  <a:noFill/>
                </a:ln>
                <a:effectLst/>
                <a:uLnTx/>
                <a:uFillTx/>
                <a:latin typeface="+mj-lt"/>
                <a:cs typeface="+mj-lt"/>
                <a:sym typeface="+mn-ea"/>
              </a:rPr>
              <a:t>i</a:t>
            </a:r>
            <a:r>
              <a:rPr sz="2000" i="1" baseline="-25000" noProof="0" smtClean="0">
                <a:ln>
                  <a:noFill/>
                </a:ln>
                <a:effectLst/>
                <a:uLnTx/>
                <a:uFillTx/>
                <a:latin typeface="+mj-lt"/>
                <a:cs typeface="+mj-lt"/>
                <a:sym typeface="+mn-ea"/>
              </a:rPr>
              <a:t>m</a:t>
            </a:r>
            <a:r>
              <a:rPr sz="2000" noProof="0" smtClean="0">
                <a:ln>
                  <a:noFill/>
                </a:ln>
                <a:effectLst/>
                <a:uLnTx/>
                <a:uFillTx/>
                <a:latin typeface="+mj-lt"/>
                <a:cs typeface="+mj-lt"/>
                <a:sym typeface="+mn-ea"/>
              </a:rPr>
              <a:t>)=0.325963，</a:t>
            </a:r>
            <a:r>
              <a:rPr sz="2000" i="1" noProof="0" smtClean="0">
                <a:ln>
                  <a:noFill/>
                </a:ln>
                <a:effectLst/>
                <a:uLnTx/>
                <a:uFillTx/>
                <a:latin typeface="+mj-lt"/>
                <a:cs typeface="+mj-lt"/>
                <a:sym typeface="+mn-ea"/>
              </a:rPr>
              <a:t>w</a:t>
            </a:r>
            <a:r>
              <a:rPr sz="2000" baseline="-25000" noProof="0" smtClean="0">
                <a:ln>
                  <a:noFill/>
                </a:ln>
                <a:effectLst/>
                <a:uLnTx/>
                <a:uFillTx/>
                <a:latin typeface="+mj-lt"/>
                <a:cs typeface="+mj-lt"/>
                <a:sym typeface="+mn-ea"/>
              </a:rPr>
              <a:t>3</a:t>
            </a:r>
            <a:r>
              <a:rPr sz="2000" noProof="0" smtClean="0">
                <a:ln>
                  <a:noFill/>
                </a:ln>
                <a:effectLst/>
                <a:uLnTx/>
                <a:uFillTx/>
                <a:latin typeface="+mj-lt"/>
                <a:cs typeface="+mj-lt"/>
                <a:sym typeface="+mn-ea"/>
              </a:rPr>
              <a:t>(</a:t>
            </a:r>
            <a:r>
              <a:rPr sz="2000" i="1" noProof="0" smtClean="0">
                <a:ln>
                  <a:noFill/>
                </a:ln>
                <a:effectLst/>
                <a:uLnTx/>
                <a:uFillTx/>
                <a:latin typeface="+mj-lt"/>
                <a:cs typeface="+mj-lt"/>
                <a:sym typeface="+mn-ea"/>
              </a:rPr>
              <a:t>i</a:t>
            </a:r>
            <a:r>
              <a:rPr sz="2000" i="1" baseline="-25000" noProof="0" smtClean="0">
                <a:ln>
                  <a:noFill/>
                </a:ln>
                <a:effectLst/>
                <a:uLnTx/>
                <a:uFillTx/>
                <a:latin typeface="+mj-lt"/>
                <a:cs typeface="+mj-lt"/>
                <a:sym typeface="+mn-ea"/>
              </a:rPr>
              <a:t>m</a:t>
            </a:r>
            <a:r>
              <a:rPr sz="2000" noProof="0" smtClean="0">
                <a:ln>
                  <a:noFill/>
                </a:ln>
                <a:effectLst/>
                <a:uLnTx/>
                <a:uFillTx/>
                <a:latin typeface="+mj-lt"/>
                <a:cs typeface="+mj-lt"/>
                <a:sym typeface="+mn-ea"/>
              </a:rPr>
              <a:t>)= 0.412432</a:t>
            </a:r>
            <a:r>
              <a:rPr sz="2000" strike="noStrike" noProof="0" smtClean="0">
                <a:ln>
                  <a:noFill/>
                </a:ln>
                <a:effectLst/>
                <a:uLnTx/>
                <a:uFillTx/>
                <a:latin typeface="+mj-lt"/>
                <a:ea typeface="+mn-ea"/>
                <a:sym typeface="+mn-ea"/>
              </a:rPr>
              <a:t>取小数点后4位并4舍5入后，得到下面的整体印象拟合公式：</a:t>
            </a:r>
            <a:endParaRPr sz="2000" strike="noStrike" noProof="0" smtClean="0">
              <a:ln>
                <a:noFill/>
              </a:ln>
              <a:effectLst/>
              <a:uLnTx/>
              <a:uFillTx/>
              <a:latin typeface="+mj-lt"/>
              <a:ea typeface="+mn-ea"/>
              <a:sym typeface="+mn-ea"/>
            </a:endParaRPr>
          </a:p>
        </p:txBody>
      </p:sp>
      <p:pic>
        <p:nvPicPr>
          <p:cNvPr id="175110" name="图片 14"/>
          <p:cNvPicPr>
            <a:picLocks noChangeAspect="1"/>
          </p:cNvPicPr>
          <p:nvPr/>
        </p:nvPicPr>
        <p:blipFill>
          <a:blip r:embed="rId2"/>
          <a:stretch>
            <a:fillRect/>
          </a:stretch>
        </p:blipFill>
        <p:spPr>
          <a:xfrm>
            <a:off x="574675" y="5725795"/>
            <a:ext cx="8220075" cy="548005"/>
          </a:xfrm>
          <a:prstGeom prst="rect">
            <a:avLst/>
          </a:prstGeom>
          <a:noFill/>
          <a:ln w="9525">
            <a:noFill/>
          </a:ln>
        </p:spPr>
      </p:pic>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7980680" y="4254500"/>
            <a:ext cx="567055" cy="250190"/>
          </a:xfrm>
          <a:prstGeom prst="rect">
            <a:avLst/>
          </a:prstGeom>
        </p:spPr>
      </p:pic>
      <p:pic>
        <p:nvPicPr>
          <p:cNvPr id="7" name="图片 6"/>
          <p:cNvPicPr>
            <a:picLocks noChangeAspect="1"/>
          </p:cNvPicPr>
          <p:nvPr/>
        </p:nvPicPr>
        <p:blipFill>
          <a:blip r:embed="rId4"/>
          <a:stretch>
            <a:fillRect/>
          </a:stretch>
        </p:blipFill>
        <p:spPr>
          <a:xfrm>
            <a:off x="8147685" y="6028690"/>
            <a:ext cx="504190" cy="245110"/>
          </a:xfrm>
          <a:prstGeom prst="rect">
            <a:avLst/>
          </a:prstGeom>
        </p:spPr>
      </p:pic>
    </p:spTree>
  </p:cSld>
  <p:clrMapOvr>
    <a:masterClrMapping/>
  </p:clrMapOvr>
  <p:transition spd="med">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733425" y="2587625"/>
            <a:ext cx="822960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kumimoji="0" lang="zh-CN" altLang="zh-CN" sz="20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下</a:t>
            </a:r>
            <a:r>
              <a:rPr kumimoji="0"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图为21位评估人对14首歌曲整体印象评分的中位数实际值与估算出的整体印象分的中位数预测值的图示结果。</a:t>
            </a:r>
            <a:endParaRPr kumimoji="0" sz="20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177156" name="图片 2"/>
          <p:cNvPicPr>
            <a:picLocks noChangeAspect="1"/>
          </p:cNvPicPr>
          <p:nvPr/>
        </p:nvPicPr>
        <p:blipFill>
          <a:blip r:embed="rId1"/>
          <a:stretch>
            <a:fillRect/>
          </a:stretch>
        </p:blipFill>
        <p:spPr>
          <a:xfrm>
            <a:off x="1004888" y="3533775"/>
            <a:ext cx="7412037" cy="2586038"/>
          </a:xfrm>
          <a:prstGeom prst="rect">
            <a:avLst/>
          </a:prstGeom>
          <a:noFill/>
          <a:ln w="9525">
            <a:noFill/>
          </a:ln>
        </p:spPr>
      </p:pic>
      <p:pic>
        <p:nvPicPr>
          <p:cNvPr id="177157" name="图片 5"/>
          <p:cNvPicPr>
            <a:picLocks noChangeAspect="1"/>
          </p:cNvPicPr>
          <p:nvPr/>
        </p:nvPicPr>
        <p:blipFill>
          <a:blip r:embed="rId2"/>
          <a:stretch>
            <a:fillRect/>
          </a:stretch>
        </p:blipFill>
        <p:spPr>
          <a:xfrm>
            <a:off x="574675" y="6227763"/>
            <a:ext cx="8220075" cy="547687"/>
          </a:xfrm>
          <a:prstGeom prst="rect">
            <a:avLst/>
          </a:prstGeom>
          <a:noFill/>
          <a:ln w="9525">
            <a:noFill/>
          </a:ln>
        </p:spPr>
      </p:pic>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7" name="图片 6"/>
          <p:cNvPicPr>
            <a:picLocks noChangeAspect="1"/>
          </p:cNvPicPr>
          <p:nvPr/>
        </p:nvPicPr>
        <p:blipFill>
          <a:blip r:embed="rId3"/>
          <a:stretch>
            <a:fillRect/>
          </a:stretch>
        </p:blipFill>
        <p:spPr>
          <a:xfrm>
            <a:off x="8147685" y="6530975"/>
            <a:ext cx="504190" cy="245110"/>
          </a:xfrm>
          <a:prstGeom prst="rect">
            <a:avLst/>
          </a:prstGeom>
        </p:spPr>
      </p:pic>
      <p:pic>
        <p:nvPicPr>
          <p:cNvPr id="6" name="图片 5"/>
          <p:cNvPicPr>
            <a:picLocks noChangeAspect="1"/>
          </p:cNvPicPr>
          <p:nvPr/>
        </p:nvPicPr>
        <p:blipFill>
          <a:blip r:embed="rId4"/>
          <a:stretch>
            <a:fillRect/>
          </a:stretch>
        </p:blipFill>
        <p:spPr>
          <a:xfrm>
            <a:off x="7675880" y="5248275"/>
            <a:ext cx="676275" cy="229870"/>
          </a:xfrm>
          <a:prstGeom prst="rect">
            <a:avLst/>
          </a:prstGeom>
        </p:spPr>
      </p:pic>
      <p:pic>
        <p:nvPicPr>
          <p:cNvPr id="8" name="图片 7"/>
          <p:cNvPicPr>
            <a:picLocks noChangeAspect="1"/>
          </p:cNvPicPr>
          <p:nvPr/>
        </p:nvPicPr>
        <p:blipFill>
          <a:blip r:embed="rId5"/>
          <a:stretch>
            <a:fillRect/>
          </a:stretch>
        </p:blipFill>
        <p:spPr>
          <a:xfrm>
            <a:off x="3478530" y="5805170"/>
            <a:ext cx="1330960" cy="314960"/>
          </a:xfrm>
          <a:prstGeom prst="rect">
            <a:avLst/>
          </a:prstGeom>
        </p:spPr>
      </p:pic>
      <p:pic>
        <p:nvPicPr>
          <p:cNvPr id="10" name="图片 9"/>
          <p:cNvPicPr>
            <a:picLocks noChangeAspect="1"/>
          </p:cNvPicPr>
          <p:nvPr/>
        </p:nvPicPr>
        <p:blipFill>
          <a:blip r:embed="rId6"/>
          <a:stretch>
            <a:fillRect/>
          </a:stretch>
        </p:blipFill>
        <p:spPr>
          <a:xfrm>
            <a:off x="5593080" y="5790565"/>
            <a:ext cx="1160145" cy="344170"/>
          </a:xfrm>
          <a:prstGeom prst="rect">
            <a:avLst/>
          </a:prstGeom>
        </p:spPr>
      </p:pic>
      <p:pic>
        <p:nvPicPr>
          <p:cNvPr id="11" name="图片 10"/>
          <p:cNvPicPr>
            <a:picLocks noChangeAspect="1"/>
          </p:cNvPicPr>
          <p:nvPr/>
        </p:nvPicPr>
        <p:blipFill>
          <a:blip r:embed="rId7"/>
          <a:stretch>
            <a:fillRect/>
          </a:stretch>
        </p:blipFill>
        <p:spPr>
          <a:xfrm>
            <a:off x="1106170" y="3607435"/>
            <a:ext cx="504190" cy="214630"/>
          </a:xfrm>
          <a:prstGeom prst="rect">
            <a:avLst/>
          </a:prstGeom>
        </p:spPr>
      </p:pic>
    </p:spTree>
  </p:cSld>
  <p:clrMapOvr>
    <a:masterClrMapping/>
  </p:clrMapOvr>
  <p:transition spd="med">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1"/>
          <p:cNvSpPr>
            <a:spLocks noChangeArrowheads="1"/>
          </p:cNvSpPr>
          <p:nvPr/>
        </p:nvSpPr>
        <p:spPr bwMode="auto">
          <a:xfrm>
            <a:off x="377825" y="3712210"/>
            <a:ext cx="2738755" cy="31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r>
              <a:rPr lang="en-GB" altLang="en-US" sz="2000" noProof="0" dirty="0" smtClean="0">
                <a:ln>
                  <a:noFill/>
                </a:ln>
                <a:effectLst/>
                <a:uLnTx/>
                <a:uFillTx/>
                <a:latin typeface="+mj-lt"/>
                <a:ea typeface="楷体_GB2312" pitchFamily="49" charset="-122"/>
                <a:sym typeface="+mn-ea"/>
              </a:rPr>
              <a:t>如果假定评估人对一段旋律的节奏审美认定</a:t>
            </a:r>
            <a:r>
              <a:rPr lang="zh-CN" altLang="en-GB" sz="2000" noProof="0" dirty="0" smtClean="0">
                <a:ln>
                  <a:noFill/>
                </a:ln>
                <a:effectLst/>
                <a:uLnTx/>
                <a:uFillTx/>
                <a:latin typeface="+mj-lt"/>
                <a:ea typeface="楷体_GB2312" pitchFamily="49" charset="-122"/>
                <a:sym typeface="+mn-ea"/>
              </a:rPr>
              <a:t>（即，         ）</a:t>
            </a:r>
            <a:r>
              <a:rPr lang="en-GB" altLang="en-US" sz="2000" noProof="0" dirty="0" smtClean="0">
                <a:ln>
                  <a:noFill/>
                </a:ln>
                <a:effectLst/>
                <a:uLnTx/>
                <a:uFillTx/>
                <a:latin typeface="+mj-lt"/>
                <a:ea typeface="楷体_GB2312" pitchFamily="49" charset="-122"/>
                <a:sym typeface="+mn-ea"/>
              </a:rPr>
              <a:t>与该段旋律的旋律线的审美认定</a:t>
            </a:r>
            <a:r>
              <a:rPr lang="zh-CN" altLang="en-GB" sz="2000" noProof="0" dirty="0" smtClean="0">
                <a:ln>
                  <a:noFill/>
                </a:ln>
                <a:effectLst/>
                <a:uLnTx/>
                <a:uFillTx/>
                <a:latin typeface="+mj-lt"/>
                <a:ea typeface="楷体_GB2312" pitchFamily="49" charset="-122"/>
                <a:sym typeface="+mn-ea"/>
              </a:rPr>
              <a:t>（ 即，</a:t>
            </a:r>
            <a:r>
              <a:rPr lang="zh-CN" altLang="en-GB" sz="2000" noProof="0" dirty="0" smtClean="0">
                <a:ln>
                  <a:noFill/>
                </a:ln>
                <a:effectLst/>
                <a:uLnTx/>
                <a:uFillTx/>
                <a:latin typeface="+mj-lt"/>
                <a:ea typeface="楷体_GB2312" pitchFamily="49" charset="-122"/>
                <a:sym typeface="+mn-ea"/>
              </a:rPr>
              <a:t>         ）</a:t>
            </a:r>
            <a:r>
              <a:rPr lang="en-GB" altLang="en-US" sz="2000" noProof="0" dirty="0" smtClean="0">
                <a:ln>
                  <a:noFill/>
                </a:ln>
                <a:effectLst/>
                <a:uLnTx/>
                <a:uFillTx/>
                <a:latin typeface="+mj-lt"/>
                <a:ea typeface="楷体_GB2312" pitchFamily="49" charset="-122"/>
                <a:sym typeface="+mn-ea"/>
              </a:rPr>
              <a:t>同等重要，则不妨假定再现乐汇节奏规范率与再现乐汇音级序列(旋律线)规范率对美感度的贡献权重相当，</a:t>
            </a:r>
            <a:endPar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sp>
        <p:nvSpPr>
          <p:cNvPr id="96259" name="矩形 41"/>
          <p:cNvSpPr>
            <a:spLocks noChangeArrowheads="1"/>
          </p:cNvSpPr>
          <p:nvPr/>
        </p:nvSpPr>
        <p:spPr bwMode="auto">
          <a:xfrm>
            <a:off x="394335" y="2508885"/>
            <a:ext cx="2651125" cy="129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1800" b="0" i="0" u="none" strike="noStrike" kern="1200" cap="none" spc="0" normalizeH="0" baseline="0" noProof="0" dirty="0" smtClean="0">
                <a:ln>
                  <a:noFill/>
                </a:ln>
                <a:solidFill>
                  <a:schemeClr val="tx1"/>
                </a:solidFill>
                <a:effectLst/>
                <a:uLnTx/>
                <a:uFillTx/>
                <a:latin typeface="Chiller" panose="04020404031007020602" pitchFamily="82" charset="0"/>
                <a:ea typeface="+mn-ea"/>
                <a:cs typeface="+mn-cs"/>
              </a:rPr>
              <a:t>        </a:t>
            </a:r>
            <a:endParaRPr kumimoji="0" lang="en-GB" altLang="en-US" sz="18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GB" altLang="en-US" sz="1800" b="0" i="0" u="none" strike="noStrike" kern="1200" cap="none" spc="0" normalizeH="0" baseline="0" noProof="0" dirty="0" smtClean="0">
                <a:ln>
                  <a:noFill/>
                </a:ln>
                <a:solidFill>
                  <a:schemeClr val="tx1"/>
                </a:solidFill>
                <a:effectLst/>
                <a:uLnTx/>
                <a:uFillTx/>
                <a:latin typeface="+mj-lt"/>
                <a:ea typeface="楷体_GB2312" pitchFamily="49" charset="-122"/>
                <a:cs typeface="+mn-cs"/>
              </a:rPr>
              <a:t>       </a:t>
            </a:r>
            <a:r>
              <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rPr>
              <a:t> 下面再回到客观估算模型，考察式(2-1)～式(2-6)。</a:t>
            </a:r>
            <a:endParaRPr kumimoji="0" lang="en-GB" altLang="en-US" sz="2000" b="0" i="0" u="none" strike="noStrike" kern="1200" cap="none" spc="0" normalizeH="0" baseline="0" noProof="0" dirty="0" smtClean="0">
              <a:ln>
                <a:noFill/>
              </a:ln>
              <a:solidFill>
                <a:schemeClr val="tx1"/>
              </a:solidFill>
              <a:effectLst/>
              <a:uLnTx/>
              <a:uFillTx/>
              <a:latin typeface="+mj-lt"/>
              <a:ea typeface="楷体_GB2312" pitchFamily="49" charset="-122"/>
              <a:cs typeface="+mn-cs"/>
            </a:endParaRPr>
          </a:p>
        </p:txBody>
      </p:sp>
      <p:graphicFrame>
        <p:nvGraphicFramePr>
          <p:cNvPr id="179203"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101" name="" r:id="rId1" imgW="254000" imgH="177165" progId="Equation.KSEE3">
                  <p:embed/>
                </p:oleObj>
              </mc:Choice>
              <mc:Fallback>
                <p:oleObj name="" r:id="rId1" imgW="254000" imgH="177165" progId="Equation.KSEE3">
                  <p:embed/>
                  <p:pic>
                    <p:nvPicPr>
                      <p:cNvPr id="0" name="图片 3100"/>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pic>
        <p:nvPicPr>
          <p:cNvPr id="179205" name="图片 1"/>
          <p:cNvPicPr>
            <a:picLocks noChangeAspect="1"/>
          </p:cNvPicPr>
          <p:nvPr/>
        </p:nvPicPr>
        <p:blipFill>
          <a:blip r:embed="rId3"/>
          <a:stretch>
            <a:fillRect/>
          </a:stretch>
        </p:blipFill>
        <p:spPr>
          <a:xfrm>
            <a:off x="1460500" y="4405630"/>
            <a:ext cx="644525" cy="185738"/>
          </a:xfrm>
          <a:prstGeom prst="rect">
            <a:avLst/>
          </a:prstGeom>
          <a:noFill/>
          <a:ln w="9525">
            <a:noFill/>
          </a:ln>
        </p:spPr>
      </p:pic>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2" name="图片 1"/>
          <p:cNvPicPr>
            <a:picLocks noChangeAspect="1"/>
          </p:cNvPicPr>
          <p:nvPr/>
        </p:nvPicPr>
        <p:blipFill>
          <a:blip r:embed="rId4"/>
          <a:stretch>
            <a:fillRect/>
          </a:stretch>
        </p:blipFill>
        <p:spPr>
          <a:xfrm>
            <a:off x="3005455" y="2653665"/>
            <a:ext cx="6013450" cy="3227070"/>
          </a:xfrm>
          <a:prstGeom prst="rect">
            <a:avLst/>
          </a:prstGeom>
        </p:spPr>
      </p:pic>
      <p:pic>
        <p:nvPicPr>
          <p:cNvPr id="4" name="图片 3"/>
          <p:cNvPicPr>
            <a:picLocks noChangeAspect="1"/>
          </p:cNvPicPr>
          <p:nvPr/>
        </p:nvPicPr>
        <p:blipFill>
          <a:blip r:embed="rId5"/>
          <a:stretch>
            <a:fillRect/>
          </a:stretch>
        </p:blipFill>
        <p:spPr>
          <a:xfrm>
            <a:off x="3005455" y="5880735"/>
            <a:ext cx="6014085" cy="907415"/>
          </a:xfrm>
          <a:prstGeom prst="rect">
            <a:avLst/>
          </a:prstGeom>
        </p:spPr>
      </p:pic>
      <p:pic>
        <p:nvPicPr>
          <p:cNvPr id="181255" name="图片 4"/>
          <p:cNvPicPr>
            <a:picLocks noChangeAspect="1"/>
          </p:cNvPicPr>
          <p:nvPr/>
        </p:nvPicPr>
        <p:blipFill>
          <a:blip r:embed="rId6"/>
          <a:stretch>
            <a:fillRect/>
          </a:stretch>
        </p:blipFill>
        <p:spPr>
          <a:xfrm>
            <a:off x="1719263" y="5008563"/>
            <a:ext cx="660400" cy="195262"/>
          </a:xfrm>
          <a:prstGeom prst="rect">
            <a:avLst/>
          </a:prstGeom>
          <a:noFill/>
          <a:ln w="9525">
            <a:noFill/>
          </a:ln>
        </p:spPr>
      </p:pic>
    </p:spTree>
  </p:cSld>
  <p:clrMapOvr>
    <a:masterClrMapping/>
  </p:clrMapOvr>
  <p:transition spd="med">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517525" y="6170930"/>
            <a:ext cx="2620010" cy="277495"/>
          </a:xfrm>
          <a:prstGeom prst="rect">
            <a:avLst/>
          </a:prstGeom>
        </p:spPr>
      </p:pic>
      <p:graphicFrame>
        <p:nvGraphicFramePr>
          <p:cNvPr id="179203"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101" name="" r:id="rId2" imgW="254000" imgH="177165" progId="Equation.KSEE3">
                  <p:embed/>
                </p:oleObj>
              </mc:Choice>
              <mc:Fallback>
                <p:oleObj name="" r:id="rId2" imgW="254000" imgH="177165" progId="Equation.KSEE3">
                  <p:embed/>
                  <p:pic>
                    <p:nvPicPr>
                      <p:cNvPr id="0" name="图片 3100"/>
                      <p:cNvPicPr/>
                      <p:nvPr/>
                    </p:nvPicPr>
                    <p:blipFill>
                      <a:blip r:embed="rId3"/>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2" name="图片 1"/>
          <p:cNvPicPr>
            <a:picLocks noChangeAspect="1"/>
          </p:cNvPicPr>
          <p:nvPr/>
        </p:nvPicPr>
        <p:blipFill>
          <a:blip r:embed="rId4"/>
          <a:stretch>
            <a:fillRect/>
          </a:stretch>
        </p:blipFill>
        <p:spPr>
          <a:xfrm>
            <a:off x="3005455" y="2653665"/>
            <a:ext cx="6013450" cy="3227070"/>
          </a:xfrm>
          <a:prstGeom prst="rect">
            <a:avLst/>
          </a:prstGeom>
        </p:spPr>
      </p:pic>
      <p:pic>
        <p:nvPicPr>
          <p:cNvPr id="4" name="图片 3"/>
          <p:cNvPicPr>
            <a:picLocks noChangeAspect="1"/>
          </p:cNvPicPr>
          <p:nvPr/>
        </p:nvPicPr>
        <p:blipFill>
          <a:blip r:embed="rId5"/>
          <a:stretch>
            <a:fillRect/>
          </a:stretch>
        </p:blipFill>
        <p:spPr>
          <a:xfrm>
            <a:off x="3005455" y="5880735"/>
            <a:ext cx="6014085" cy="907415"/>
          </a:xfrm>
          <a:prstGeom prst="rect">
            <a:avLst/>
          </a:prstGeom>
        </p:spPr>
      </p:pic>
      <p:sp>
        <p:nvSpPr>
          <p:cNvPr id="5" name="矩形 41"/>
          <p:cNvSpPr>
            <a:spLocks noChangeArrowheads="1"/>
          </p:cNvSpPr>
          <p:nvPr/>
        </p:nvSpPr>
        <p:spPr bwMode="auto">
          <a:xfrm>
            <a:off x="449580" y="2635885"/>
            <a:ext cx="2687955" cy="31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altLang="en-US" sz="2000" noProof="0" dirty="0" smtClean="0">
                <a:ln>
                  <a:noFill/>
                </a:ln>
                <a:effectLst/>
                <a:uLnTx/>
                <a:uFillTx/>
                <a:latin typeface="+mj-lt"/>
                <a:ea typeface="楷体_GB2312" pitchFamily="49" charset="-122"/>
                <a:sym typeface="+mn-ea"/>
              </a:rPr>
              <a:t>且再现乐汇规范率</a:t>
            </a:r>
            <a:r>
              <a:rPr lang="zh-CN" altLang="en-GB" sz="2000" noProof="0" dirty="0" smtClean="0">
                <a:ln>
                  <a:noFill/>
                </a:ln>
                <a:effectLst/>
                <a:uLnTx/>
                <a:uFillTx/>
                <a:latin typeface="+mj-lt"/>
                <a:ea typeface="楷体_GB2312" pitchFamily="49" charset="-122"/>
                <a:sym typeface="+mn-ea"/>
              </a:rPr>
              <a:t>（即，       ）</a:t>
            </a:r>
            <a:r>
              <a:rPr lang="en-GB" altLang="en-US" sz="2000" noProof="0" dirty="0" smtClean="0">
                <a:ln>
                  <a:noFill/>
                </a:ln>
                <a:effectLst/>
                <a:uLnTx/>
                <a:uFillTx/>
                <a:latin typeface="+mj-lt"/>
                <a:ea typeface="楷体_GB2312" pitchFamily="49" charset="-122"/>
                <a:sym typeface="+mn-ea"/>
              </a:rPr>
              <a:t>对美感度的贡献权重为前二者(乐汇的节奏与旋律线)对美感度的贡献权重之和(因为乐汇包含这个乐汇的节奏与旋律线)，则可令式(2-6)的分项估算权重系数间有关系</a:t>
            </a:r>
            <a:r>
              <a:rPr lang="zh-CN" altLang="en-GB" sz="2000" noProof="0" dirty="0" smtClean="0">
                <a:ln>
                  <a:noFill/>
                </a:ln>
                <a:effectLst/>
                <a:uLnTx/>
                <a:uFillTx/>
                <a:latin typeface="+mj-lt"/>
                <a:ea typeface="楷体_GB2312" pitchFamily="49" charset="-122"/>
                <a:sym typeface="+mn-ea"/>
              </a:rPr>
              <a:t>：</a:t>
            </a:r>
            <a:endParaRPr kumimoji="0" lang="zh-CN" altLang="en-GB" sz="2000" b="0" i="0" u="none" strike="noStrike" kern="1200" cap="none" spc="0" normalizeH="0" baseline="0" noProof="0" dirty="0" smtClean="0">
              <a:ln>
                <a:noFill/>
              </a:ln>
              <a:solidFill>
                <a:schemeClr val="tx1"/>
              </a:solidFill>
              <a:effectLst/>
              <a:uLnTx/>
              <a:uFillTx/>
              <a:latin typeface="+mj-lt"/>
              <a:ea typeface="楷体_GB2312" pitchFamily="49" charset="-122"/>
              <a:cs typeface="+mn-cs"/>
              <a:sym typeface="+mn-ea"/>
            </a:endParaRPr>
          </a:p>
        </p:txBody>
      </p:sp>
      <p:pic>
        <p:nvPicPr>
          <p:cNvPr id="181254" name="图片 3"/>
          <p:cNvPicPr>
            <a:picLocks noChangeAspect="1"/>
          </p:cNvPicPr>
          <p:nvPr/>
        </p:nvPicPr>
        <p:blipFill>
          <a:blip r:embed="rId6"/>
          <a:stretch>
            <a:fillRect/>
          </a:stretch>
        </p:blipFill>
        <p:spPr>
          <a:xfrm>
            <a:off x="969645" y="3011170"/>
            <a:ext cx="463550" cy="206375"/>
          </a:xfrm>
          <a:prstGeom prst="rect">
            <a:avLst/>
          </a:prstGeom>
          <a:noFill/>
          <a:ln w="9525">
            <a:noFill/>
          </a:ln>
        </p:spPr>
      </p:pic>
      <p:pic>
        <p:nvPicPr>
          <p:cNvPr id="7" name="图片 6"/>
          <p:cNvPicPr>
            <a:picLocks noChangeAspect="1"/>
          </p:cNvPicPr>
          <p:nvPr/>
        </p:nvPicPr>
        <p:blipFill>
          <a:blip r:embed="rId7"/>
          <a:stretch>
            <a:fillRect/>
          </a:stretch>
        </p:blipFill>
        <p:spPr>
          <a:xfrm>
            <a:off x="2525395" y="6197600"/>
            <a:ext cx="440055" cy="171450"/>
          </a:xfrm>
          <a:prstGeom prst="rect">
            <a:avLst/>
          </a:prstGeom>
        </p:spPr>
      </p:pic>
    </p:spTree>
  </p:cSld>
  <p:clrMapOvr>
    <a:masterClrMapping/>
  </p:clrMapOvr>
  <p:transition spd="med">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9203"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101" name="" r:id="rId1" imgW="254000" imgH="177165" progId="Equation.KSEE3">
                  <p:embed/>
                </p:oleObj>
              </mc:Choice>
              <mc:Fallback>
                <p:oleObj name="" r:id="rId1" imgW="254000" imgH="177165" progId="Equation.KSEE3">
                  <p:embed/>
                  <p:pic>
                    <p:nvPicPr>
                      <p:cNvPr id="0" name="图片 3100"/>
                      <p:cNvPicPr/>
                      <p:nvPr/>
                    </p:nvPicPr>
                    <p:blipFill>
                      <a:blip r:embed="rId2"/>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3" name="Rectangle 3"/>
          <p:cNvSpPr txBox="1"/>
          <p:nvPr/>
        </p:nvSpPr>
        <p:spPr>
          <a:xfrm>
            <a:off x="171450" y="212026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1765935" y="4196715"/>
            <a:ext cx="5488940" cy="828040"/>
          </a:xfrm>
          <a:prstGeom prst="rect">
            <a:avLst/>
          </a:prstGeom>
        </p:spPr>
      </p:pic>
      <p:sp>
        <p:nvSpPr>
          <p:cNvPr id="5" name="矩形 41"/>
          <p:cNvSpPr>
            <a:spLocks noChangeArrowheads="1"/>
          </p:cNvSpPr>
          <p:nvPr/>
        </p:nvSpPr>
        <p:spPr bwMode="auto">
          <a:xfrm>
            <a:off x="457200" y="2779395"/>
            <a:ext cx="847661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sz="2000" noProof="0" dirty="0" smtClean="0">
                <a:ln>
                  <a:noFill/>
                </a:ln>
                <a:effectLst/>
                <a:uLnTx/>
                <a:uFillTx/>
                <a:latin typeface="+mj-lt"/>
                <a:ea typeface="楷体_GB2312" pitchFamily="49" charset="-122"/>
                <a:sym typeface="+mn-ea"/>
              </a:rPr>
              <a:t>如果把：</a:t>
            </a:r>
            <a:endParaRPr sz="2000" noProof="0" dirty="0" smtClean="0">
              <a:ln>
                <a:noFill/>
              </a:ln>
              <a:effectLst/>
              <a:uLnTx/>
              <a:uFillTx/>
              <a:latin typeface="+mj-lt"/>
              <a:ea typeface="楷体_GB2312" pitchFamily="49"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sz="2000" noProof="0" dirty="0" smtClean="0">
                <a:ln>
                  <a:noFill/>
                </a:ln>
                <a:effectLst/>
                <a:uLnTx/>
                <a:uFillTx/>
                <a:latin typeface="+mj-lt"/>
                <a:ea typeface="楷体_GB2312" pitchFamily="49" charset="-122"/>
                <a:sym typeface="+mn-ea"/>
              </a:rPr>
              <a:t>     ①式(2-5)的</a:t>
            </a:r>
            <a:r>
              <a:rPr sz="2000" noProof="0" dirty="0" smtClean="0">
                <a:ln>
                  <a:noFill/>
                </a:ln>
                <a:solidFill>
                  <a:srgbClr val="FF0000"/>
                </a:solidFill>
                <a:effectLst/>
                <a:uLnTx/>
                <a:uFillTx/>
                <a:latin typeface="+mj-lt"/>
                <a:ea typeface="楷体_GB2312" pitchFamily="49" charset="-122"/>
                <a:sym typeface="+mn-ea"/>
              </a:rPr>
              <a:t>创新度</a:t>
            </a:r>
            <a:r>
              <a:rPr sz="2000" noProof="0" dirty="0" smtClean="0">
                <a:ln>
                  <a:noFill/>
                </a:ln>
                <a:effectLst/>
                <a:uLnTx/>
                <a:uFillTx/>
                <a:latin typeface="+mj-lt"/>
                <a:ea typeface="楷体_GB2312" pitchFamily="49" charset="-122"/>
                <a:sym typeface="+mn-ea"/>
              </a:rPr>
              <a:t>与式(2-7)的</a:t>
            </a:r>
            <a:r>
              <a:rPr sz="2000" i="1" noProof="0" dirty="0" smtClean="0">
                <a:ln>
                  <a:noFill/>
                </a:ln>
                <a:solidFill>
                  <a:srgbClr val="FF0000"/>
                </a:solidFill>
                <a:effectLst/>
                <a:uLnTx/>
                <a:uFillTx/>
                <a:latin typeface="+mj-lt"/>
                <a:ea typeface="楷体_GB2312" pitchFamily="49" charset="-122"/>
                <a:sym typeface="+mn-ea"/>
              </a:rPr>
              <a:t>Specificity</a:t>
            </a:r>
            <a:r>
              <a:rPr sz="2000" noProof="0" dirty="0" smtClean="0">
                <a:ln>
                  <a:noFill/>
                </a:ln>
                <a:solidFill>
                  <a:srgbClr val="FF0000"/>
                </a:solidFill>
                <a:effectLst/>
                <a:uLnTx/>
                <a:uFillTx/>
                <a:latin typeface="+mj-lt"/>
                <a:ea typeface="楷体_GB2312" pitchFamily="49" charset="-122"/>
                <a:sym typeface="+mn-ea"/>
              </a:rPr>
              <a:t>(</a:t>
            </a:r>
            <a:r>
              <a:rPr sz="2000" i="1" noProof="0" dirty="0" smtClean="0">
                <a:ln>
                  <a:noFill/>
                </a:ln>
                <a:solidFill>
                  <a:srgbClr val="FF0000"/>
                </a:solidFill>
                <a:effectLst/>
                <a:uLnTx/>
                <a:uFillTx/>
                <a:latin typeface="+mj-lt"/>
                <a:ea typeface="楷体_GB2312" pitchFamily="49" charset="-122"/>
                <a:sym typeface="+mn-ea"/>
              </a:rPr>
              <a:t>i</a:t>
            </a:r>
            <a:r>
              <a:rPr sz="2000" noProof="0" dirty="0" smtClean="0">
                <a:ln>
                  <a:noFill/>
                </a:ln>
                <a:solidFill>
                  <a:srgbClr val="FF0000"/>
                </a:solidFill>
                <a:effectLst/>
                <a:uLnTx/>
                <a:uFillTx/>
                <a:latin typeface="+mj-lt"/>
                <a:ea typeface="楷体_GB2312" pitchFamily="49" charset="-122"/>
                <a:sym typeface="+mn-ea"/>
              </a:rPr>
              <a:t>, </a:t>
            </a:r>
            <a:r>
              <a:rPr sz="2000" i="1" noProof="0" dirty="0" smtClean="0">
                <a:ln>
                  <a:noFill/>
                </a:ln>
                <a:solidFill>
                  <a:srgbClr val="FF0000"/>
                </a:solidFill>
                <a:effectLst/>
                <a:uLnTx/>
                <a:uFillTx/>
                <a:latin typeface="+mj-lt"/>
                <a:ea typeface="楷体_GB2312" pitchFamily="49" charset="-122"/>
                <a:sym typeface="+mn-ea"/>
              </a:rPr>
              <a:t>j</a:t>
            </a:r>
            <a:r>
              <a:rPr sz="2000" noProof="0" dirty="0" smtClean="0">
                <a:ln>
                  <a:noFill/>
                </a:ln>
                <a:solidFill>
                  <a:srgbClr val="FF0000"/>
                </a:solidFill>
                <a:effectLst/>
                <a:uLnTx/>
                <a:uFillTx/>
                <a:latin typeface="+mj-lt"/>
                <a:ea typeface="楷体_GB2312" pitchFamily="49" charset="-122"/>
                <a:sym typeface="+mn-ea"/>
              </a:rPr>
              <a:t>)</a:t>
            </a:r>
            <a:r>
              <a:rPr sz="2000" noProof="0" dirty="0" smtClean="0">
                <a:ln>
                  <a:noFill/>
                </a:ln>
                <a:effectLst/>
                <a:uLnTx/>
                <a:uFillTx/>
                <a:latin typeface="+mj-lt"/>
                <a:ea typeface="楷体_GB2312" pitchFamily="49" charset="-122"/>
                <a:sym typeface="+mn-ea"/>
              </a:rPr>
              <a:t>视为同类评估值；  </a:t>
            </a:r>
            <a:endParaRPr sz="2000" noProof="0" dirty="0" smtClean="0">
              <a:ln>
                <a:noFill/>
              </a:ln>
              <a:effectLst/>
              <a:uLnTx/>
              <a:uFillTx/>
              <a:latin typeface="+mj-lt"/>
              <a:ea typeface="楷体_GB2312" pitchFamily="49"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sz="2000" noProof="0" dirty="0" smtClean="0">
                <a:ln>
                  <a:noFill/>
                </a:ln>
                <a:effectLst/>
                <a:uLnTx/>
                <a:uFillTx/>
                <a:latin typeface="+mj-lt"/>
                <a:ea typeface="楷体_GB2312" pitchFamily="49" charset="-122"/>
                <a:sym typeface="+mn-ea"/>
              </a:rPr>
              <a:t>     ②式(2-6)的</a:t>
            </a:r>
            <a:r>
              <a:rPr sz="2000" noProof="0" dirty="0" smtClean="0">
                <a:ln>
                  <a:noFill/>
                </a:ln>
                <a:solidFill>
                  <a:srgbClr val="00B050"/>
                </a:solidFill>
                <a:effectLst/>
                <a:uLnTx/>
                <a:uFillTx/>
                <a:latin typeface="+mj-lt"/>
                <a:ea typeface="楷体_GB2312" pitchFamily="49" charset="-122"/>
                <a:sym typeface="+mn-ea"/>
              </a:rPr>
              <a:t>美感度</a:t>
            </a:r>
            <a:r>
              <a:rPr sz="2000" noProof="0" dirty="0" smtClean="0">
                <a:ln>
                  <a:noFill/>
                </a:ln>
                <a:effectLst/>
                <a:uLnTx/>
                <a:uFillTx/>
                <a:latin typeface="+mj-lt"/>
                <a:ea typeface="楷体_GB2312" pitchFamily="49" charset="-122"/>
                <a:sym typeface="+mn-ea"/>
              </a:rPr>
              <a:t>与式(2-7)的</a:t>
            </a:r>
            <a:r>
              <a:rPr sz="2000" i="1" noProof="0" dirty="0" smtClean="0">
                <a:ln>
                  <a:noFill/>
                </a:ln>
                <a:solidFill>
                  <a:srgbClr val="00B050"/>
                </a:solidFill>
                <a:effectLst/>
                <a:uLnTx/>
                <a:uFillTx/>
                <a:latin typeface="+mj-lt"/>
                <a:ea typeface="楷体_GB2312" pitchFamily="49" charset="-122"/>
                <a:sym typeface="+mn-ea"/>
              </a:rPr>
              <a:t>GenImpression</a:t>
            </a:r>
            <a:r>
              <a:rPr sz="2000" noProof="0" dirty="0" smtClean="0">
                <a:ln>
                  <a:noFill/>
                </a:ln>
                <a:solidFill>
                  <a:srgbClr val="00B050"/>
                </a:solidFill>
                <a:effectLst/>
                <a:uLnTx/>
                <a:uFillTx/>
                <a:latin typeface="+mj-lt"/>
                <a:ea typeface="楷体_GB2312" pitchFamily="49" charset="-122"/>
                <a:sym typeface="+mn-ea"/>
              </a:rPr>
              <a:t>(</a:t>
            </a:r>
            <a:r>
              <a:rPr sz="2000" i="1" noProof="0" dirty="0" smtClean="0">
                <a:ln>
                  <a:noFill/>
                </a:ln>
                <a:solidFill>
                  <a:srgbClr val="00B050"/>
                </a:solidFill>
                <a:effectLst/>
                <a:uLnTx/>
                <a:uFillTx/>
                <a:latin typeface="+mj-lt"/>
                <a:ea typeface="楷体_GB2312" pitchFamily="49" charset="-122"/>
                <a:sym typeface="+mn-ea"/>
              </a:rPr>
              <a:t>i</a:t>
            </a:r>
            <a:r>
              <a:rPr sz="2000" noProof="0" dirty="0" smtClean="0">
                <a:ln>
                  <a:noFill/>
                </a:ln>
                <a:solidFill>
                  <a:srgbClr val="00B050"/>
                </a:solidFill>
                <a:effectLst/>
                <a:uLnTx/>
                <a:uFillTx/>
                <a:latin typeface="+mj-lt"/>
                <a:ea typeface="楷体_GB2312" pitchFamily="49" charset="-122"/>
                <a:sym typeface="+mn-ea"/>
              </a:rPr>
              <a:t>, </a:t>
            </a:r>
            <a:r>
              <a:rPr sz="2000" i="1" noProof="0" dirty="0" smtClean="0">
                <a:ln>
                  <a:noFill/>
                </a:ln>
                <a:solidFill>
                  <a:srgbClr val="00B050"/>
                </a:solidFill>
                <a:effectLst/>
                <a:uLnTx/>
                <a:uFillTx/>
                <a:latin typeface="+mj-lt"/>
                <a:ea typeface="楷体_GB2312" pitchFamily="49" charset="-122"/>
                <a:sym typeface="+mn-ea"/>
              </a:rPr>
              <a:t>j</a:t>
            </a:r>
            <a:r>
              <a:rPr sz="2000" noProof="0" dirty="0" smtClean="0">
                <a:ln>
                  <a:noFill/>
                </a:ln>
                <a:solidFill>
                  <a:srgbClr val="00B050"/>
                </a:solidFill>
                <a:effectLst/>
                <a:uLnTx/>
                <a:uFillTx/>
                <a:latin typeface="+mj-lt"/>
                <a:ea typeface="楷体_GB2312" pitchFamily="49" charset="-122"/>
                <a:sym typeface="+mn-ea"/>
              </a:rPr>
              <a:t>)</a:t>
            </a:r>
            <a:r>
              <a:rPr sz="2000" noProof="0" dirty="0" smtClean="0">
                <a:ln>
                  <a:noFill/>
                </a:ln>
                <a:effectLst/>
                <a:uLnTx/>
                <a:uFillTx/>
                <a:latin typeface="+mj-lt"/>
                <a:ea typeface="楷体_GB2312" pitchFamily="49" charset="-122"/>
                <a:sym typeface="+mn-ea"/>
              </a:rPr>
              <a:t>视为同类评估值；</a:t>
            </a:r>
            <a:endParaRPr sz="2000" noProof="0" dirty="0" smtClean="0">
              <a:ln>
                <a:noFill/>
              </a:ln>
              <a:effectLst/>
              <a:uLnTx/>
              <a:uFillTx/>
              <a:latin typeface="+mj-lt"/>
              <a:ea typeface="楷体_GB2312" pitchFamily="49"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sz="2000" noProof="0" dirty="0" smtClean="0">
                <a:ln>
                  <a:noFill/>
                </a:ln>
                <a:effectLst/>
                <a:uLnTx/>
                <a:uFillTx/>
                <a:latin typeface="+mj-lt"/>
                <a:ea typeface="楷体_GB2312" pitchFamily="49" charset="-122"/>
                <a:sym typeface="+mn-ea"/>
              </a:rPr>
              <a:t>     </a:t>
            </a:r>
            <a:endParaRPr sz="2000" noProof="0" dirty="0" smtClean="0">
              <a:ln>
                <a:noFill/>
              </a:ln>
              <a:effectLst/>
              <a:uLnTx/>
              <a:uFillTx/>
              <a:latin typeface="+mj-lt"/>
              <a:ea typeface="楷体_GB2312" pitchFamily="49" charset="-122"/>
              <a:sym typeface="+mn-ea"/>
            </a:endParaRPr>
          </a:p>
        </p:txBody>
      </p:sp>
      <p:pic>
        <p:nvPicPr>
          <p:cNvPr id="175108" name="图片 2"/>
          <p:cNvPicPr>
            <a:picLocks noChangeAspect="1"/>
          </p:cNvPicPr>
          <p:nvPr/>
        </p:nvPicPr>
        <p:blipFill>
          <a:blip r:embed="rId4"/>
          <a:stretch>
            <a:fillRect/>
          </a:stretch>
        </p:blipFill>
        <p:spPr>
          <a:xfrm>
            <a:off x="573723" y="5339398"/>
            <a:ext cx="8005762" cy="604837"/>
          </a:xfrm>
          <a:prstGeom prst="rect">
            <a:avLst/>
          </a:prstGeom>
          <a:noFill/>
          <a:ln w="9525">
            <a:noFill/>
          </a:ln>
        </p:spPr>
      </p:pic>
      <p:pic>
        <p:nvPicPr>
          <p:cNvPr id="10" name="图片 9"/>
          <p:cNvPicPr>
            <a:picLocks noChangeAspect="1"/>
          </p:cNvPicPr>
          <p:nvPr/>
        </p:nvPicPr>
        <p:blipFill>
          <a:blip r:embed="rId5"/>
          <a:stretch>
            <a:fillRect/>
          </a:stretch>
        </p:blipFill>
        <p:spPr>
          <a:xfrm>
            <a:off x="7967980" y="5694045"/>
            <a:ext cx="567055" cy="250190"/>
          </a:xfrm>
          <a:prstGeom prst="rect">
            <a:avLst/>
          </a:prstGeom>
        </p:spPr>
      </p:pic>
      <p:sp>
        <p:nvSpPr>
          <p:cNvPr id="11" name="矩形 41"/>
          <p:cNvSpPr>
            <a:spLocks noChangeArrowheads="1"/>
          </p:cNvSpPr>
          <p:nvPr/>
        </p:nvSpPr>
        <p:spPr bwMode="auto">
          <a:xfrm>
            <a:off x="447040" y="4054475"/>
            <a:ext cx="858647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endParaRPr sz="2000" noProof="0" dirty="0" smtClean="0">
              <a:ln>
                <a:noFill/>
              </a:ln>
              <a:effectLst/>
              <a:uLnTx/>
              <a:uFillTx/>
              <a:latin typeface="+mj-lt"/>
              <a:ea typeface="楷体_GB2312" pitchFamily="49"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sz="2000" noProof="0" dirty="0" smtClean="0">
                <a:ln>
                  <a:noFill/>
                </a:ln>
                <a:effectLst/>
                <a:uLnTx/>
                <a:uFillTx/>
                <a:latin typeface="+mj-lt"/>
                <a:ea typeface="楷体_GB2312" pitchFamily="49" charset="-122"/>
                <a:sym typeface="+mn-ea"/>
              </a:rPr>
              <a:t>     </a:t>
            </a:r>
            <a:endParaRPr sz="2000" noProof="0" dirty="0" smtClean="0">
              <a:ln>
                <a:noFill/>
              </a:ln>
              <a:effectLst/>
              <a:uLnTx/>
              <a:uFillTx/>
              <a:latin typeface="+mj-lt"/>
              <a:ea typeface="楷体_GB2312" pitchFamily="49" charset="-122"/>
              <a:sym typeface="+mn-ea"/>
            </a:endParaRPr>
          </a:p>
        </p:txBody>
      </p:sp>
      <p:sp>
        <p:nvSpPr>
          <p:cNvPr id="187398" name="单圆角矩形 2"/>
          <p:cNvSpPr/>
          <p:nvPr/>
        </p:nvSpPr>
        <p:spPr>
          <a:xfrm>
            <a:off x="3404235" y="4196715"/>
            <a:ext cx="1490980" cy="321310"/>
          </a:xfrm>
          <a:custGeom>
            <a:avLst/>
            <a:gdLst/>
            <a:ahLst/>
            <a:cxnLst>
              <a:cxn ang="16200000">
                <a:pos x="907097" y="0"/>
              </a:cxn>
              <a:cxn ang="10800000">
                <a:pos x="0" y="137160"/>
              </a:cxn>
              <a:cxn ang="5400000">
                <a:pos x="907097" y="274320"/>
              </a:cxn>
              <a:cxn ang="0">
                <a:pos x="1814195" y="137160"/>
              </a:cxn>
            </a:cxnLst>
            <a:pathLst>
              <a:path w="1814195" h="274320">
                <a:moveTo>
                  <a:pt x="0" y="0"/>
                </a:moveTo>
                <a:lnTo>
                  <a:pt x="1768474" y="0"/>
                </a:lnTo>
                <a:cubicBezTo>
                  <a:pt x="1793724" y="0"/>
                  <a:pt x="1814194" y="20470"/>
                  <a:pt x="1814194" y="45720"/>
                </a:cubicBezTo>
                <a:lnTo>
                  <a:pt x="1814195" y="274320"/>
                </a:lnTo>
                <a:lnTo>
                  <a:pt x="0" y="27432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87400" name="单圆角矩形 6"/>
          <p:cNvSpPr/>
          <p:nvPr/>
        </p:nvSpPr>
        <p:spPr>
          <a:xfrm>
            <a:off x="2499360" y="4651375"/>
            <a:ext cx="810895" cy="302260"/>
          </a:xfrm>
          <a:custGeom>
            <a:avLst/>
            <a:gdLst/>
            <a:ahLst/>
            <a:cxnLst>
              <a:cxn ang="16200000">
                <a:pos x="452755" y="0"/>
              </a:cxn>
              <a:cxn ang="10800000">
                <a:pos x="0" y="137160"/>
              </a:cxn>
              <a:cxn ang="5400000">
                <a:pos x="452755" y="274320"/>
              </a:cxn>
              <a:cxn ang="0">
                <a:pos x="905510" y="137160"/>
              </a:cxn>
            </a:cxnLst>
            <a:pathLst>
              <a:path w="905510" h="274320">
                <a:moveTo>
                  <a:pt x="0" y="0"/>
                </a:moveTo>
                <a:lnTo>
                  <a:pt x="859789" y="0"/>
                </a:lnTo>
                <a:cubicBezTo>
                  <a:pt x="885039" y="0"/>
                  <a:pt x="905509" y="20470"/>
                  <a:pt x="905509" y="45720"/>
                </a:cubicBezTo>
                <a:lnTo>
                  <a:pt x="905510" y="274320"/>
                </a:lnTo>
                <a:lnTo>
                  <a:pt x="0" y="27432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2" name="单圆角矩形 2"/>
          <p:cNvSpPr/>
          <p:nvPr/>
        </p:nvSpPr>
        <p:spPr>
          <a:xfrm>
            <a:off x="2298065" y="5339715"/>
            <a:ext cx="1779270" cy="274320"/>
          </a:xfrm>
          <a:custGeom>
            <a:avLst/>
            <a:gdLst/>
            <a:ahLst/>
            <a:cxnLst>
              <a:cxn ang="16200000">
                <a:pos x="907097" y="0"/>
              </a:cxn>
              <a:cxn ang="10800000">
                <a:pos x="0" y="137160"/>
              </a:cxn>
              <a:cxn ang="5400000">
                <a:pos x="907097" y="274320"/>
              </a:cxn>
              <a:cxn ang="0">
                <a:pos x="1814195" y="137160"/>
              </a:cxn>
            </a:cxnLst>
            <a:pathLst>
              <a:path w="1814195" h="274320">
                <a:moveTo>
                  <a:pt x="0" y="0"/>
                </a:moveTo>
                <a:lnTo>
                  <a:pt x="1768474" y="0"/>
                </a:lnTo>
                <a:cubicBezTo>
                  <a:pt x="1793724" y="0"/>
                  <a:pt x="1814194" y="20470"/>
                  <a:pt x="1814194" y="45720"/>
                </a:cubicBezTo>
                <a:lnTo>
                  <a:pt x="1814195" y="274320"/>
                </a:lnTo>
                <a:lnTo>
                  <a:pt x="0" y="27432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87403" name="单圆角矩形 9"/>
          <p:cNvSpPr/>
          <p:nvPr/>
        </p:nvSpPr>
        <p:spPr>
          <a:xfrm>
            <a:off x="1807210" y="4651375"/>
            <a:ext cx="614363" cy="301625"/>
          </a:xfrm>
          <a:custGeom>
            <a:avLst/>
            <a:gdLst/>
            <a:ahLst/>
            <a:cxnLst>
              <a:cxn ang="16200000">
                <a:pos x="307340" y="0"/>
              </a:cxn>
              <a:cxn ang="10800000">
                <a:pos x="0" y="150495"/>
              </a:cxn>
              <a:cxn ang="5400000">
                <a:pos x="307340" y="300990"/>
              </a:cxn>
              <a:cxn ang="0">
                <a:pos x="614680" y="150495"/>
              </a:cxn>
            </a:cxnLst>
            <a:pathLst>
              <a:path w="614680" h="300990">
                <a:moveTo>
                  <a:pt x="0" y="0"/>
                </a:moveTo>
                <a:lnTo>
                  <a:pt x="564513" y="0"/>
                </a:lnTo>
                <a:cubicBezTo>
                  <a:pt x="592219" y="0"/>
                  <a:pt x="614679" y="22460"/>
                  <a:pt x="614679" y="50166"/>
                </a:cubicBezTo>
                <a:lnTo>
                  <a:pt x="614680" y="300990"/>
                </a:lnTo>
                <a:lnTo>
                  <a:pt x="0" y="300990"/>
                </a:lnTo>
                <a:close/>
              </a:path>
            </a:pathLst>
          </a:custGeom>
          <a:noFill/>
          <a:ln w="19050" cap="flat" cmpd="sng">
            <a:solidFill>
              <a:srgbClr val="00B050"/>
            </a:solidFill>
            <a:prstDash val="solid"/>
            <a:round/>
            <a:headEnd type="none" w="med" len="med"/>
            <a:tailEnd type="none" w="med" len="med"/>
          </a:ln>
        </p:spPr>
        <p:txBody>
          <a:bodyPr/>
          <a:p>
            <a:endParaRPr lang="zh-CN" altLang="en-US"/>
          </a:p>
        </p:txBody>
      </p:sp>
      <p:sp>
        <p:nvSpPr>
          <p:cNvPr id="187404" name="单圆角矩形 11"/>
          <p:cNvSpPr/>
          <p:nvPr/>
        </p:nvSpPr>
        <p:spPr>
          <a:xfrm>
            <a:off x="641350" y="5318125"/>
            <a:ext cx="1538605" cy="299720"/>
          </a:xfrm>
          <a:custGeom>
            <a:avLst/>
            <a:gdLst/>
            <a:ahLst/>
            <a:cxnLst>
              <a:cxn ang="16200000">
                <a:pos x="807720" y="0"/>
              </a:cxn>
              <a:cxn ang="10800000">
                <a:pos x="0" y="150495"/>
              </a:cxn>
              <a:cxn ang="5400000">
                <a:pos x="807720" y="300990"/>
              </a:cxn>
              <a:cxn ang="0">
                <a:pos x="1615440" y="150495"/>
              </a:cxn>
            </a:cxnLst>
            <a:pathLst>
              <a:path w="1615440" h="300990">
                <a:moveTo>
                  <a:pt x="0" y="0"/>
                </a:moveTo>
                <a:lnTo>
                  <a:pt x="1565273" y="0"/>
                </a:lnTo>
                <a:cubicBezTo>
                  <a:pt x="1592979" y="0"/>
                  <a:pt x="1615439" y="22460"/>
                  <a:pt x="1615439" y="50166"/>
                </a:cubicBezTo>
                <a:lnTo>
                  <a:pt x="1615440" y="300990"/>
                </a:lnTo>
                <a:lnTo>
                  <a:pt x="0" y="300990"/>
                </a:lnTo>
                <a:close/>
              </a:path>
            </a:pathLst>
          </a:custGeom>
          <a:noFill/>
          <a:ln w="19050" cap="flat" cmpd="sng">
            <a:solidFill>
              <a:srgbClr val="00B050"/>
            </a:solidFill>
            <a:prstDash val="solid"/>
            <a:round/>
            <a:headEnd type="none" w="med" len="med"/>
            <a:tailEnd type="none" w="med" len="med"/>
          </a:ln>
        </p:spPr>
        <p:txBody>
          <a:bodyPr/>
          <a:p>
            <a:endParaRPr lang="zh-CN" altLang="en-US"/>
          </a:p>
        </p:txBody>
      </p:sp>
    </p:spTree>
  </p:cSld>
  <p:clrMapOvr>
    <a:masterClrMapping/>
  </p:clrMapOvr>
  <p:transition spd="med">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矩形 41"/>
          <p:cNvSpPr>
            <a:spLocks noChangeArrowheads="1"/>
          </p:cNvSpPr>
          <p:nvPr/>
        </p:nvSpPr>
        <p:spPr bwMode="auto">
          <a:xfrm>
            <a:off x="278765" y="3736340"/>
            <a:ext cx="8586470"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endParaRPr sz="2000" noProof="0" dirty="0" smtClean="0">
              <a:ln>
                <a:noFill/>
              </a:ln>
              <a:effectLst/>
              <a:uLnTx/>
              <a:uFillTx/>
              <a:latin typeface="+mj-lt"/>
              <a:ea typeface="楷体_GB2312" pitchFamily="49"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sz="2000" noProof="0" dirty="0" smtClean="0">
                <a:ln>
                  <a:noFill/>
                </a:ln>
                <a:effectLst/>
                <a:uLnTx/>
                <a:uFillTx/>
                <a:latin typeface="+mj-lt"/>
                <a:ea typeface="楷体_GB2312" pitchFamily="49" charset="-122"/>
                <a:sym typeface="+mn-ea"/>
              </a:rPr>
              <a:t>     ③式(2-6)的                                           即</a:t>
            </a:r>
            <a:r>
              <a:rPr sz="2000" i="1" noProof="0" dirty="0" smtClean="0">
                <a:ln>
                  <a:noFill/>
                </a:ln>
                <a:effectLst/>
                <a:uLnTx/>
                <a:uFillTx/>
                <a:latin typeface="+mj-lt"/>
                <a:ea typeface="楷体_GB2312" pitchFamily="49" charset="-122"/>
                <a:sym typeface="+mn-ea"/>
              </a:rPr>
              <a:t>µ</a:t>
            </a:r>
            <a:r>
              <a:rPr sz="2000" baseline="-25000" noProof="0" dirty="0" smtClean="0">
                <a:ln>
                  <a:noFill/>
                </a:ln>
                <a:effectLst/>
                <a:uLnTx/>
                <a:uFillTx/>
                <a:latin typeface="+mj-lt"/>
                <a:ea typeface="楷体_GB2312" pitchFamily="49" charset="-122"/>
                <a:sym typeface="+mn-ea"/>
              </a:rPr>
              <a:t>2</a:t>
            </a:r>
            <a:r>
              <a:rPr sz="2000" noProof="0" dirty="0" smtClean="0">
                <a:ln>
                  <a:noFill/>
                </a:ln>
                <a:effectLst/>
                <a:uLnTx/>
                <a:uFillTx/>
                <a:latin typeface="+mj-lt"/>
                <a:ea typeface="楷体_GB2312" pitchFamily="49" charset="-122"/>
                <a:sym typeface="+mn-ea"/>
              </a:rPr>
              <a:t>×再现乐汇节奏规范率之和+</a:t>
            </a:r>
            <a:r>
              <a:rPr sz="2000" i="1" noProof="0" dirty="0" smtClean="0">
                <a:ln>
                  <a:noFill/>
                </a:ln>
                <a:effectLst/>
                <a:uLnTx/>
                <a:uFillTx/>
                <a:latin typeface="+mj-lt"/>
                <a:ea typeface="楷体_GB2312" pitchFamily="49" charset="-122"/>
                <a:sym typeface="+mn-ea"/>
              </a:rPr>
              <a:t>µ</a:t>
            </a:r>
            <a:r>
              <a:rPr sz="2000" baseline="-25000" noProof="0" dirty="0" smtClean="0">
                <a:ln>
                  <a:noFill/>
                </a:ln>
                <a:effectLst/>
                <a:uLnTx/>
                <a:uFillTx/>
                <a:latin typeface="+mj-lt"/>
                <a:ea typeface="楷体_GB2312" pitchFamily="49" charset="-122"/>
                <a:sym typeface="+mn-ea"/>
              </a:rPr>
              <a:t>3</a:t>
            </a:r>
            <a:r>
              <a:rPr sz="2000" noProof="0" dirty="0" smtClean="0">
                <a:ln>
                  <a:noFill/>
                </a:ln>
                <a:effectLst/>
                <a:uLnTx/>
                <a:uFillTx/>
                <a:latin typeface="+mj-lt"/>
                <a:ea typeface="楷体_GB2312" pitchFamily="49" charset="-122"/>
                <a:sym typeface="+mn-ea"/>
              </a:rPr>
              <a:t>×再现乐汇音级序列规范率之和+</a:t>
            </a:r>
            <a:r>
              <a:rPr sz="2000" i="1" noProof="0" dirty="0" smtClean="0">
                <a:ln>
                  <a:noFill/>
                </a:ln>
                <a:effectLst/>
                <a:uLnTx/>
                <a:uFillTx/>
                <a:latin typeface="+mj-lt"/>
                <a:ea typeface="楷体_GB2312" pitchFamily="49" charset="-122"/>
                <a:sym typeface="+mn-ea"/>
              </a:rPr>
              <a:t>µ</a:t>
            </a:r>
            <a:r>
              <a:rPr sz="2000" baseline="-25000" noProof="0" dirty="0" smtClean="0">
                <a:ln>
                  <a:noFill/>
                </a:ln>
                <a:effectLst/>
                <a:uLnTx/>
                <a:uFillTx/>
                <a:latin typeface="+mj-lt"/>
                <a:ea typeface="楷体_GB2312" pitchFamily="49" charset="-122"/>
                <a:sym typeface="+mn-ea"/>
              </a:rPr>
              <a:t>4</a:t>
            </a:r>
            <a:r>
              <a:rPr sz="2000" noProof="0" dirty="0" smtClean="0">
                <a:ln>
                  <a:noFill/>
                </a:ln>
                <a:effectLst/>
                <a:uLnTx/>
                <a:uFillTx/>
                <a:latin typeface="+mj-lt"/>
                <a:ea typeface="楷体_GB2312" pitchFamily="49" charset="-122"/>
                <a:sym typeface="+mn-ea"/>
              </a:rPr>
              <a:t>×再现乐汇规范率之和与式(2-7)的</a:t>
            </a:r>
            <a:r>
              <a:rPr sz="2000" i="1" noProof="0" dirty="0" smtClean="0">
                <a:ln>
                  <a:noFill/>
                </a:ln>
                <a:effectLst/>
                <a:uLnTx/>
                <a:uFillTx/>
                <a:latin typeface="+mj-lt"/>
                <a:ea typeface="楷体_GB2312" pitchFamily="49" charset="-122"/>
                <a:sym typeface="+mn-ea"/>
              </a:rPr>
              <a:t>w</a:t>
            </a:r>
            <a:r>
              <a:rPr sz="2000" baseline="-25000" noProof="0" dirty="0" smtClean="0">
                <a:ln>
                  <a:noFill/>
                </a:ln>
                <a:effectLst/>
                <a:uLnTx/>
                <a:uFillTx/>
                <a:latin typeface="+mj-lt"/>
                <a:ea typeface="楷体_GB2312" pitchFamily="49" charset="-122"/>
                <a:sym typeface="+mn-ea"/>
              </a:rPr>
              <a:t>2</a:t>
            </a:r>
            <a:r>
              <a:rPr sz="2000" noProof="0" dirty="0" smtClean="0">
                <a:ln>
                  <a:noFill/>
                </a:ln>
                <a:effectLst/>
                <a:uLnTx/>
                <a:uFillTx/>
                <a:latin typeface="+mj-lt"/>
                <a:ea typeface="楷体_GB2312" pitchFamily="49" charset="-122"/>
                <a:sym typeface="+mn-ea"/>
              </a:rPr>
              <a:t>(</a:t>
            </a:r>
            <a:r>
              <a:rPr sz="2000" i="1" noProof="0" dirty="0" smtClean="0">
                <a:ln>
                  <a:noFill/>
                </a:ln>
                <a:effectLst/>
                <a:uLnTx/>
                <a:uFillTx/>
                <a:latin typeface="+mj-lt"/>
                <a:ea typeface="楷体_GB2312" pitchFamily="49" charset="-122"/>
                <a:sym typeface="+mn-ea"/>
              </a:rPr>
              <a:t>i</a:t>
            </a:r>
            <a:r>
              <a:rPr sz="2000" noProof="0" dirty="0" smtClean="0">
                <a:ln>
                  <a:noFill/>
                </a:ln>
                <a:effectLst/>
                <a:uLnTx/>
                <a:uFillTx/>
                <a:latin typeface="+mj-lt"/>
                <a:ea typeface="楷体_GB2312" pitchFamily="49" charset="-122"/>
                <a:sym typeface="+mn-ea"/>
              </a:rPr>
              <a:t>)×</a:t>
            </a:r>
            <a:r>
              <a:rPr sz="2000" i="1" noProof="0" dirty="0" smtClean="0">
                <a:ln>
                  <a:noFill/>
                </a:ln>
                <a:effectLst/>
                <a:uLnTx/>
                <a:uFillTx/>
                <a:latin typeface="+mj-lt"/>
                <a:ea typeface="楷体_GB2312" pitchFamily="49" charset="-122"/>
                <a:sym typeface="+mn-ea"/>
              </a:rPr>
              <a:t>Fluency</a:t>
            </a:r>
            <a:r>
              <a:rPr sz="2000" noProof="0" dirty="0" smtClean="0">
                <a:ln>
                  <a:noFill/>
                </a:ln>
                <a:effectLst/>
                <a:uLnTx/>
                <a:uFillTx/>
                <a:latin typeface="+mj-lt"/>
                <a:ea typeface="楷体_GB2312" pitchFamily="49" charset="-122"/>
                <a:sym typeface="+mn-ea"/>
              </a:rPr>
              <a:t>(</a:t>
            </a:r>
            <a:r>
              <a:rPr sz="2000" i="1" noProof="0" dirty="0" smtClean="0">
                <a:ln>
                  <a:noFill/>
                </a:ln>
                <a:effectLst/>
                <a:uLnTx/>
                <a:uFillTx/>
                <a:latin typeface="+mj-lt"/>
                <a:ea typeface="楷体_GB2312" pitchFamily="49" charset="-122"/>
                <a:sym typeface="+mn-ea"/>
              </a:rPr>
              <a:t>i</a:t>
            </a:r>
            <a:r>
              <a:rPr sz="2000" noProof="0" dirty="0" smtClean="0">
                <a:ln>
                  <a:noFill/>
                </a:ln>
                <a:effectLst/>
                <a:uLnTx/>
                <a:uFillTx/>
                <a:latin typeface="+mj-lt"/>
                <a:ea typeface="楷体_GB2312" pitchFamily="49" charset="-122"/>
                <a:sym typeface="+mn-ea"/>
              </a:rPr>
              <a:t>, </a:t>
            </a:r>
            <a:r>
              <a:rPr sz="2000" i="1" noProof="0" dirty="0" smtClean="0">
                <a:ln>
                  <a:noFill/>
                </a:ln>
                <a:effectLst/>
                <a:uLnTx/>
                <a:uFillTx/>
                <a:latin typeface="+mj-lt"/>
                <a:ea typeface="楷体_GB2312" pitchFamily="49" charset="-122"/>
                <a:sym typeface="+mn-ea"/>
              </a:rPr>
              <a:t>j</a:t>
            </a:r>
            <a:r>
              <a:rPr sz="2000" noProof="0" dirty="0" smtClean="0">
                <a:ln>
                  <a:noFill/>
                </a:ln>
                <a:effectLst/>
                <a:uLnTx/>
                <a:uFillTx/>
                <a:latin typeface="+mj-lt"/>
                <a:ea typeface="楷体_GB2312" pitchFamily="49" charset="-122"/>
                <a:sym typeface="+mn-ea"/>
              </a:rPr>
              <a:t>)+</a:t>
            </a:r>
            <a:r>
              <a:rPr sz="2000" i="1" noProof="0" dirty="0" smtClean="0">
                <a:ln>
                  <a:noFill/>
                </a:ln>
                <a:effectLst/>
                <a:uLnTx/>
                <a:uFillTx/>
                <a:latin typeface="+mj-lt"/>
                <a:ea typeface="楷体_GB2312" pitchFamily="49" charset="-122"/>
                <a:sym typeface="+mn-ea"/>
              </a:rPr>
              <a:t>w</a:t>
            </a:r>
            <a:r>
              <a:rPr sz="2000" baseline="-25000" noProof="0" dirty="0" smtClean="0">
                <a:ln>
                  <a:noFill/>
                </a:ln>
                <a:effectLst/>
                <a:uLnTx/>
                <a:uFillTx/>
                <a:latin typeface="+mj-lt"/>
                <a:ea typeface="楷体_GB2312" pitchFamily="49" charset="-122"/>
                <a:sym typeface="+mn-ea"/>
              </a:rPr>
              <a:t>3</a:t>
            </a:r>
            <a:r>
              <a:rPr sz="2000" noProof="0" dirty="0" smtClean="0">
                <a:ln>
                  <a:noFill/>
                </a:ln>
                <a:effectLst/>
                <a:uLnTx/>
                <a:uFillTx/>
                <a:latin typeface="+mj-lt"/>
                <a:ea typeface="楷体_GB2312" pitchFamily="49" charset="-122"/>
                <a:sym typeface="+mn-ea"/>
              </a:rPr>
              <a:t>(</a:t>
            </a:r>
            <a:r>
              <a:rPr sz="2000" i="1" noProof="0" dirty="0" smtClean="0">
                <a:ln>
                  <a:noFill/>
                </a:ln>
                <a:effectLst/>
                <a:uLnTx/>
                <a:uFillTx/>
                <a:latin typeface="+mj-lt"/>
                <a:ea typeface="楷体_GB2312" pitchFamily="49" charset="-122"/>
                <a:sym typeface="+mn-ea"/>
              </a:rPr>
              <a:t>i</a:t>
            </a:r>
            <a:r>
              <a:rPr sz="2000" noProof="0" dirty="0" smtClean="0">
                <a:ln>
                  <a:noFill/>
                </a:ln>
                <a:effectLst/>
                <a:uLnTx/>
                <a:uFillTx/>
                <a:latin typeface="+mj-lt"/>
                <a:ea typeface="楷体_GB2312" pitchFamily="49" charset="-122"/>
                <a:sym typeface="+mn-ea"/>
              </a:rPr>
              <a:t>) ×</a:t>
            </a:r>
            <a:r>
              <a:rPr sz="2000" i="1" noProof="0" dirty="0" smtClean="0">
                <a:ln>
                  <a:noFill/>
                </a:ln>
                <a:effectLst/>
                <a:uLnTx/>
                <a:uFillTx/>
                <a:latin typeface="+mj-lt"/>
                <a:ea typeface="楷体_GB2312" pitchFamily="49" charset="-122"/>
                <a:sym typeface="+mn-ea"/>
              </a:rPr>
              <a:t>Correctness</a:t>
            </a:r>
            <a:r>
              <a:rPr sz="2000" noProof="0" dirty="0" smtClean="0">
                <a:ln>
                  <a:noFill/>
                </a:ln>
                <a:effectLst/>
                <a:uLnTx/>
                <a:uFillTx/>
                <a:latin typeface="+mj-lt"/>
                <a:ea typeface="楷体_GB2312" pitchFamily="49" charset="-122"/>
                <a:sym typeface="+mn-ea"/>
              </a:rPr>
              <a:t>(</a:t>
            </a:r>
            <a:r>
              <a:rPr sz="2000" i="1" noProof="0" dirty="0" smtClean="0">
                <a:ln>
                  <a:noFill/>
                </a:ln>
                <a:effectLst/>
                <a:uLnTx/>
                <a:uFillTx/>
                <a:latin typeface="+mj-lt"/>
                <a:ea typeface="楷体_GB2312" pitchFamily="49" charset="-122"/>
                <a:sym typeface="+mn-ea"/>
              </a:rPr>
              <a:t>i</a:t>
            </a:r>
            <a:r>
              <a:rPr sz="2000" noProof="0" dirty="0" smtClean="0">
                <a:ln>
                  <a:noFill/>
                </a:ln>
                <a:effectLst/>
                <a:uLnTx/>
                <a:uFillTx/>
                <a:latin typeface="+mj-lt"/>
                <a:ea typeface="楷体_GB2312" pitchFamily="49" charset="-122"/>
                <a:sym typeface="+mn-ea"/>
              </a:rPr>
              <a:t>, </a:t>
            </a:r>
            <a:r>
              <a:rPr sz="2000" i="1" noProof="0" dirty="0" smtClean="0">
                <a:ln>
                  <a:noFill/>
                </a:ln>
                <a:effectLst/>
                <a:uLnTx/>
                <a:uFillTx/>
                <a:latin typeface="+mj-lt"/>
                <a:ea typeface="楷体_GB2312" pitchFamily="49" charset="-122"/>
                <a:sym typeface="+mn-ea"/>
              </a:rPr>
              <a:t>j</a:t>
            </a:r>
            <a:r>
              <a:rPr sz="2000" noProof="0" dirty="0" smtClean="0">
                <a:ln>
                  <a:noFill/>
                </a:ln>
                <a:effectLst/>
                <a:uLnTx/>
                <a:uFillTx/>
                <a:latin typeface="+mj-lt"/>
                <a:ea typeface="楷体_GB2312" pitchFamily="49" charset="-122"/>
                <a:sym typeface="+mn-ea"/>
              </a:rPr>
              <a:t>)视为同类评估值，则可令客观估算模型的式(2-6)中的分项估算权重系数与代表主观评估模型的拟合式(2-7)的分项拟合权重系数有下面的关系：</a:t>
            </a:r>
            <a:endParaRPr sz="2000" noProof="0" dirty="0" smtClean="0">
              <a:ln>
                <a:noFill/>
              </a:ln>
              <a:effectLst/>
              <a:uLnTx/>
              <a:uFillTx/>
              <a:latin typeface="+mj-lt"/>
              <a:ea typeface="楷体_GB2312" pitchFamily="49" charset="-122"/>
              <a:sym typeface="+mn-ea"/>
            </a:endParaRPr>
          </a:p>
        </p:txBody>
      </p:sp>
      <p:pic>
        <p:nvPicPr>
          <p:cNvPr id="6" name="图片 2"/>
          <p:cNvPicPr>
            <a:picLocks noChangeAspect="1"/>
          </p:cNvPicPr>
          <p:nvPr/>
        </p:nvPicPr>
        <p:blipFill>
          <a:blip r:embed="rId1"/>
          <a:stretch>
            <a:fillRect/>
          </a:stretch>
        </p:blipFill>
        <p:spPr>
          <a:xfrm>
            <a:off x="582613" y="3408363"/>
            <a:ext cx="8005762" cy="604837"/>
          </a:xfrm>
          <a:prstGeom prst="rect">
            <a:avLst/>
          </a:prstGeom>
          <a:noFill/>
          <a:ln w="9525">
            <a:noFill/>
          </a:ln>
        </p:spPr>
      </p:pic>
      <p:graphicFrame>
        <p:nvGraphicFramePr>
          <p:cNvPr id="179203" name="对象 1">
            <a:hlinkClick r:id="" action="ppaction://ole?verb="/>
          </p:cNvPr>
          <p:cNvGraphicFramePr>
            <a:graphicFrameLocks noChangeAspect="1"/>
          </p:cNvGraphicFramePr>
          <p:nvPr/>
        </p:nvGraphicFramePr>
        <p:xfrm>
          <a:off x="4445000" y="3340100"/>
          <a:ext cx="254000" cy="177800"/>
        </p:xfrm>
        <a:graphic>
          <a:graphicData uri="http://schemas.openxmlformats.org/presentationml/2006/ole">
            <mc:AlternateContent xmlns:mc="http://schemas.openxmlformats.org/markup-compatibility/2006">
              <mc:Choice xmlns:v="urn:schemas-microsoft-com:vml" Requires="v">
                <p:oleObj spid="_x0000_s3101" name="" r:id="rId2" imgW="254000" imgH="177165" progId="Equation.KSEE3">
                  <p:embed/>
                </p:oleObj>
              </mc:Choice>
              <mc:Fallback>
                <p:oleObj name="" r:id="rId2" imgW="254000" imgH="177165" progId="Equation.KSEE3">
                  <p:embed/>
                  <p:pic>
                    <p:nvPicPr>
                      <p:cNvPr id="0" name="图片 3100"/>
                      <p:cNvPicPr/>
                      <p:nvPr/>
                    </p:nvPicPr>
                    <p:blipFill>
                      <a:blip r:embed="rId3"/>
                      <a:stretch>
                        <a:fillRect/>
                      </a:stretch>
                    </p:blipFill>
                    <p:spPr>
                      <a:xfrm>
                        <a:off x="4445000" y="3340100"/>
                        <a:ext cx="254000" cy="177800"/>
                      </a:xfrm>
                      <a:prstGeom prst="rect">
                        <a:avLst/>
                      </a:prstGeom>
                      <a:noFill/>
                      <a:ln w="38100">
                        <a:noFill/>
                        <a:miter/>
                      </a:ln>
                    </p:spPr>
                  </p:pic>
                </p:oleObj>
              </mc:Fallback>
            </mc:AlternateContent>
          </a:graphicData>
        </a:graphic>
      </p:graphicFrame>
      <p:sp>
        <p:nvSpPr>
          <p:cNvPr id="3" name="Rectangle 3"/>
          <p:cNvSpPr txBox="1"/>
          <p:nvPr/>
        </p:nvSpPr>
        <p:spPr>
          <a:xfrm>
            <a:off x="171450" y="209105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10" name="图片 9"/>
          <p:cNvPicPr>
            <a:picLocks noChangeAspect="1"/>
          </p:cNvPicPr>
          <p:nvPr/>
        </p:nvPicPr>
        <p:blipFill>
          <a:blip r:embed="rId4"/>
          <a:stretch>
            <a:fillRect/>
          </a:stretch>
        </p:blipFill>
        <p:spPr>
          <a:xfrm>
            <a:off x="7962265" y="3719830"/>
            <a:ext cx="567055" cy="250190"/>
          </a:xfrm>
          <a:prstGeom prst="rect">
            <a:avLst/>
          </a:prstGeom>
        </p:spPr>
      </p:pic>
      <p:pic>
        <p:nvPicPr>
          <p:cNvPr id="2" name="图片 1"/>
          <p:cNvPicPr>
            <a:picLocks noChangeAspect="1"/>
          </p:cNvPicPr>
          <p:nvPr/>
        </p:nvPicPr>
        <p:blipFill>
          <a:blip r:embed="rId5"/>
          <a:stretch>
            <a:fillRect/>
          </a:stretch>
        </p:blipFill>
        <p:spPr>
          <a:xfrm>
            <a:off x="1774825" y="2624455"/>
            <a:ext cx="5488940" cy="828040"/>
          </a:xfrm>
          <a:prstGeom prst="rect">
            <a:avLst/>
          </a:prstGeom>
        </p:spPr>
      </p:pic>
      <p:pic>
        <p:nvPicPr>
          <p:cNvPr id="7" name="图片 6"/>
          <p:cNvPicPr>
            <a:picLocks noChangeAspect="1"/>
          </p:cNvPicPr>
          <p:nvPr/>
        </p:nvPicPr>
        <p:blipFill>
          <a:blip r:embed="rId6"/>
          <a:stretch>
            <a:fillRect/>
          </a:stretch>
        </p:blipFill>
        <p:spPr>
          <a:xfrm>
            <a:off x="2863850" y="5638165"/>
            <a:ext cx="5908040" cy="1137920"/>
          </a:xfrm>
          <a:prstGeom prst="rect">
            <a:avLst/>
          </a:prstGeom>
        </p:spPr>
      </p:pic>
      <p:pic>
        <p:nvPicPr>
          <p:cNvPr id="8" name="图片 7"/>
          <p:cNvPicPr>
            <a:picLocks noChangeAspect="1"/>
          </p:cNvPicPr>
          <p:nvPr/>
        </p:nvPicPr>
        <p:blipFill>
          <a:blip r:embed="rId7"/>
          <a:stretch>
            <a:fillRect/>
          </a:stretch>
        </p:blipFill>
        <p:spPr>
          <a:xfrm>
            <a:off x="302260" y="6170930"/>
            <a:ext cx="2620010" cy="277495"/>
          </a:xfrm>
          <a:prstGeom prst="rect">
            <a:avLst/>
          </a:prstGeom>
        </p:spPr>
      </p:pic>
      <p:pic>
        <p:nvPicPr>
          <p:cNvPr id="12" name="图片 11"/>
          <p:cNvPicPr>
            <a:picLocks noChangeAspect="1"/>
          </p:cNvPicPr>
          <p:nvPr/>
        </p:nvPicPr>
        <p:blipFill>
          <a:blip r:embed="rId8"/>
          <a:stretch>
            <a:fillRect/>
          </a:stretch>
        </p:blipFill>
        <p:spPr>
          <a:xfrm>
            <a:off x="2310130" y="6197600"/>
            <a:ext cx="440055" cy="171450"/>
          </a:xfrm>
          <a:prstGeom prst="rect">
            <a:avLst/>
          </a:prstGeom>
        </p:spPr>
      </p:pic>
      <p:sp>
        <p:nvSpPr>
          <p:cNvPr id="187401" name="单圆角矩形 7"/>
          <p:cNvSpPr/>
          <p:nvPr/>
        </p:nvSpPr>
        <p:spPr>
          <a:xfrm>
            <a:off x="4216083" y="3431858"/>
            <a:ext cx="3708400" cy="301625"/>
          </a:xfrm>
          <a:custGeom>
            <a:avLst/>
            <a:gdLst/>
            <a:ahLst/>
            <a:cxnLst>
              <a:cxn ang="16200000">
                <a:pos x="1854200" y="0"/>
              </a:cxn>
              <a:cxn ang="10800000">
                <a:pos x="0" y="150495"/>
              </a:cxn>
              <a:cxn ang="5400000">
                <a:pos x="1854200" y="300990"/>
              </a:cxn>
              <a:cxn ang="0">
                <a:pos x="3708400" y="150495"/>
              </a:cxn>
            </a:cxnLst>
            <a:pathLst>
              <a:path w="3708400" h="300990">
                <a:moveTo>
                  <a:pt x="0" y="0"/>
                </a:moveTo>
                <a:lnTo>
                  <a:pt x="3658233" y="0"/>
                </a:lnTo>
                <a:cubicBezTo>
                  <a:pt x="3685939" y="0"/>
                  <a:pt x="3708399" y="22460"/>
                  <a:pt x="3708399" y="50166"/>
                </a:cubicBezTo>
                <a:lnTo>
                  <a:pt x="3708400" y="300990"/>
                </a:lnTo>
                <a:lnTo>
                  <a:pt x="0" y="300990"/>
                </a:lnTo>
                <a:close/>
              </a:path>
            </a:pathLst>
          </a:custGeom>
          <a:noFill/>
          <a:ln w="19050" cap="flat" cmpd="sng">
            <a:solidFill>
              <a:schemeClr val="bg1">
                <a:lumMod val="60000"/>
                <a:lumOff val="40000"/>
              </a:schemeClr>
            </a:solidFill>
            <a:prstDash val="solid"/>
            <a:round/>
            <a:headEnd type="none" w="med" len="med"/>
            <a:tailEnd type="none" w="med" len="med"/>
          </a:ln>
        </p:spPr>
        <p:txBody>
          <a:bodyPr/>
          <a:p>
            <a:endParaRPr lang="zh-CN" altLang="en-US"/>
          </a:p>
        </p:txBody>
      </p:sp>
      <p:sp>
        <p:nvSpPr>
          <p:cNvPr id="187402" name="单圆角矩形 8"/>
          <p:cNvSpPr/>
          <p:nvPr/>
        </p:nvSpPr>
        <p:spPr>
          <a:xfrm>
            <a:off x="3444240" y="3100070"/>
            <a:ext cx="3145790" cy="309245"/>
          </a:xfrm>
          <a:custGeom>
            <a:avLst/>
            <a:gdLst/>
            <a:ahLst/>
            <a:cxnLst>
              <a:cxn ang="16200000">
                <a:pos x="1854200" y="0"/>
              </a:cxn>
              <a:cxn ang="10800000">
                <a:pos x="0" y="150495"/>
              </a:cxn>
              <a:cxn ang="5400000">
                <a:pos x="1854200" y="300990"/>
              </a:cxn>
              <a:cxn ang="0">
                <a:pos x="3708400" y="150495"/>
              </a:cxn>
            </a:cxnLst>
            <a:pathLst>
              <a:path w="3708400" h="300990">
                <a:moveTo>
                  <a:pt x="0" y="0"/>
                </a:moveTo>
                <a:lnTo>
                  <a:pt x="3658233" y="0"/>
                </a:lnTo>
                <a:cubicBezTo>
                  <a:pt x="3685939" y="0"/>
                  <a:pt x="3708399" y="22460"/>
                  <a:pt x="3708399" y="50166"/>
                </a:cubicBezTo>
                <a:lnTo>
                  <a:pt x="3708400" y="300990"/>
                </a:lnTo>
                <a:lnTo>
                  <a:pt x="0" y="300990"/>
                </a:lnTo>
                <a:close/>
              </a:path>
            </a:pathLst>
          </a:custGeom>
          <a:noFill/>
          <a:ln w="19050" cap="flat" cmpd="sng">
            <a:solidFill>
              <a:schemeClr val="bg1">
                <a:lumMod val="60000"/>
                <a:lumOff val="40000"/>
              </a:schemeClr>
            </a:solidFill>
            <a:prstDash val="solid"/>
            <a:round/>
            <a:headEnd type="none" w="med" len="med"/>
            <a:tailEnd type="none" w="med" len="med"/>
          </a:ln>
        </p:spPr>
        <p:txBody>
          <a:bodyPr/>
          <a:p>
            <a:endParaRPr lang="zh-CN" altLang="en-US"/>
          </a:p>
        </p:txBody>
      </p:sp>
      <p:pic>
        <p:nvPicPr>
          <p:cNvPr id="14" name="图片 13"/>
          <p:cNvPicPr>
            <a:picLocks noChangeAspect="1"/>
          </p:cNvPicPr>
          <p:nvPr/>
        </p:nvPicPr>
        <p:blipFill>
          <a:blip r:embed="rId9"/>
          <a:stretch>
            <a:fillRect/>
          </a:stretch>
        </p:blipFill>
        <p:spPr>
          <a:xfrm>
            <a:off x="1997710" y="4124325"/>
            <a:ext cx="2649220" cy="268605"/>
          </a:xfrm>
          <a:prstGeom prst="rect">
            <a:avLst/>
          </a:prstGeom>
        </p:spPr>
      </p:pic>
      <p:sp>
        <p:nvSpPr>
          <p:cNvPr id="187398" name="单圆角矩形 2"/>
          <p:cNvSpPr/>
          <p:nvPr/>
        </p:nvSpPr>
        <p:spPr>
          <a:xfrm>
            <a:off x="3475990" y="2618105"/>
            <a:ext cx="1490980" cy="321310"/>
          </a:xfrm>
          <a:custGeom>
            <a:avLst/>
            <a:gdLst/>
            <a:ahLst/>
            <a:cxnLst>
              <a:cxn ang="16200000">
                <a:pos x="907097" y="0"/>
              </a:cxn>
              <a:cxn ang="10800000">
                <a:pos x="0" y="137160"/>
              </a:cxn>
              <a:cxn ang="5400000">
                <a:pos x="907097" y="274320"/>
              </a:cxn>
              <a:cxn ang="0">
                <a:pos x="1814195" y="137160"/>
              </a:cxn>
            </a:cxnLst>
            <a:pathLst>
              <a:path w="1814195" h="274320">
                <a:moveTo>
                  <a:pt x="0" y="0"/>
                </a:moveTo>
                <a:lnTo>
                  <a:pt x="1768474" y="0"/>
                </a:lnTo>
                <a:cubicBezTo>
                  <a:pt x="1793724" y="0"/>
                  <a:pt x="1814194" y="20470"/>
                  <a:pt x="1814194" y="45720"/>
                </a:cubicBezTo>
                <a:lnTo>
                  <a:pt x="1814195" y="274320"/>
                </a:lnTo>
                <a:lnTo>
                  <a:pt x="0" y="27432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87400" name="单圆角矩形 6"/>
          <p:cNvSpPr/>
          <p:nvPr/>
        </p:nvSpPr>
        <p:spPr>
          <a:xfrm>
            <a:off x="2597150" y="3100070"/>
            <a:ext cx="746125" cy="302260"/>
          </a:xfrm>
          <a:custGeom>
            <a:avLst/>
            <a:gdLst/>
            <a:ahLst/>
            <a:cxnLst>
              <a:cxn ang="16200000">
                <a:pos x="452755" y="0"/>
              </a:cxn>
              <a:cxn ang="10800000">
                <a:pos x="0" y="137160"/>
              </a:cxn>
              <a:cxn ang="5400000">
                <a:pos x="452755" y="274320"/>
              </a:cxn>
              <a:cxn ang="0">
                <a:pos x="905510" y="137160"/>
              </a:cxn>
            </a:cxnLst>
            <a:pathLst>
              <a:path w="905510" h="274320">
                <a:moveTo>
                  <a:pt x="0" y="0"/>
                </a:moveTo>
                <a:lnTo>
                  <a:pt x="859789" y="0"/>
                </a:lnTo>
                <a:cubicBezTo>
                  <a:pt x="885039" y="0"/>
                  <a:pt x="905509" y="20470"/>
                  <a:pt x="905509" y="45720"/>
                </a:cubicBezTo>
                <a:lnTo>
                  <a:pt x="905510" y="274320"/>
                </a:lnTo>
                <a:lnTo>
                  <a:pt x="0" y="27432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5" name="单圆角矩形 2"/>
          <p:cNvSpPr/>
          <p:nvPr/>
        </p:nvSpPr>
        <p:spPr>
          <a:xfrm>
            <a:off x="2310130" y="3445510"/>
            <a:ext cx="1714500" cy="274320"/>
          </a:xfrm>
          <a:custGeom>
            <a:avLst/>
            <a:gdLst/>
            <a:ahLst/>
            <a:cxnLst>
              <a:cxn ang="16200000">
                <a:pos x="907097" y="0"/>
              </a:cxn>
              <a:cxn ang="10800000">
                <a:pos x="0" y="137160"/>
              </a:cxn>
              <a:cxn ang="5400000">
                <a:pos x="907097" y="274320"/>
              </a:cxn>
              <a:cxn ang="0">
                <a:pos x="1814195" y="137160"/>
              </a:cxn>
            </a:cxnLst>
            <a:pathLst>
              <a:path w="1814195" h="274320">
                <a:moveTo>
                  <a:pt x="0" y="0"/>
                </a:moveTo>
                <a:lnTo>
                  <a:pt x="1768474" y="0"/>
                </a:lnTo>
                <a:cubicBezTo>
                  <a:pt x="1793724" y="0"/>
                  <a:pt x="1814194" y="20470"/>
                  <a:pt x="1814194" y="45720"/>
                </a:cubicBezTo>
                <a:lnTo>
                  <a:pt x="1814195" y="274320"/>
                </a:lnTo>
                <a:lnTo>
                  <a:pt x="0" y="274320"/>
                </a:lnTo>
                <a:close/>
              </a:path>
            </a:pathLst>
          </a:custGeom>
          <a:noFill/>
          <a:ln w="19050" cap="flat" cmpd="sng">
            <a:solidFill>
              <a:srgbClr val="FF0000"/>
            </a:solidFill>
            <a:prstDash val="solid"/>
            <a:round/>
            <a:headEnd type="none" w="med" len="med"/>
            <a:tailEnd type="none" w="med" len="med"/>
          </a:ln>
        </p:spPr>
        <p:txBody>
          <a:bodyPr/>
          <a:p>
            <a:endParaRPr lang="zh-CN" altLang="en-US"/>
          </a:p>
        </p:txBody>
      </p:sp>
      <p:sp>
        <p:nvSpPr>
          <p:cNvPr id="187403" name="单圆角矩形 9"/>
          <p:cNvSpPr/>
          <p:nvPr/>
        </p:nvSpPr>
        <p:spPr>
          <a:xfrm>
            <a:off x="1878965" y="3099435"/>
            <a:ext cx="614680" cy="274955"/>
          </a:xfrm>
          <a:custGeom>
            <a:avLst/>
            <a:gdLst/>
            <a:ahLst/>
            <a:cxnLst>
              <a:cxn ang="16200000">
                <a:pos x="307340" y="0"/>
              </a:cxn>
              <a:cxn ang="10800000">
                <a:pos x="0" y="150495"/>
              </a:cxn>
              <a:cxn ang="5400000">
                <a:pos x="307340" y="300990"/>
              </a:cxn>
              <a:cxn ang="0">
                <a:pos x="614680" y="150495"/>
              </a:cxn>
            </a:cxnLst>
            <a:pathLst>
              <a:path w="614680" h="300990">
                <a:moveTo>
                  <a:pt x="0" y="0"/>
                </a:moveTo>
                <a:lnTo>
                  <a:pt x="564513" y="0"/>
                </a:lnTo>
                <a:cubicBezTo>
                  <a:pt x="592219" y="0"/>
                  <a:pt x="614679" y="22460"/>
                  <a:pt x="614679" y="50166"/>
                </a:cubicBezTo>
                <a:lnTo>
                  <a:pt x="614680" y="300990"/>
                </a:lnTo>
                <a:lnTo>
                  <a:pt x="0" y="300990"/>
                </a:lnTo>
                <a:close/>
              </a:path>
            </a:pathLst>
          </a:custGeom>
          <a:noFill/>
          <a:ln w="19050" cap="flat" cmpd="sng">
            <a:solidFill>
              <a:srgbClr val="00B050"/>
            </a:solidFill>
            <a:prstDash val="solid"/>
            <a:round/>
            <a:headEnd type="none" w="med" len="med"/>
            <a:tailEnd type="none" w="med" len="med"/>
          </a:ln>
        </p:spPr>
        <p:txBody>
          <a:bodyPr/>
          <a:p>
            <a:endParaRPr lang="zh-CN" altLang="en-US"/>
          </a:p>
        </p:txBody>
      </p:sp>
      <p:sp>
        <p:nvSpPr>
          <p:cNvPr id="187404" name="单圆角矩形 11"/>
          <p:cNvSpPr/>
          <p:nvPr/>
        </p:nvSpPr>
        <p:spPr>
          <a:xfrm>
            <a:off x="641350" y="3452495"/>
            <a:ext cx="1564005" cy="266700"/>
          </a:xfrm>
          <a:custGeom>
            <a:avLst/>
            <a:gdLst/>
            <a:ahLst/>
            <a:cxnLst>
              <a:cxn ang="16200000">
                <a:pos x="807720" y="0"/>
              </a:cxn>
              <a:cxn ang="10800000">
                <a:pos x="0" y="150495"/>
              </a:cxn>
              <a:cxn ang="5400000">
                <a:pos x="807720" y="300990"/>
              </a:cxn>
              <a:cxn ang="0">
                <a:pos x="1615440" y="150495"/>
              </a:cxn>
            </a:cxnLst>
            <a:pathLst>
              <a:path w="1615440" h="300990">
                <a:moveTo>
                  <a:pt x="0" y="0"/>
                </a:moveTo>
                <a:lnTo>
                  <a:pt x="1565273" y="0"/>
                </a:lnTo>
                <a:cubicBezTo>
                  <a:pt x="1592979" y="0"/>
                  <a:pt x="1615439" y="22460"/>
                  <a:pt x="1615439" y="50166"/>
                </a:cubicBezTo>
                <a:lnTo>
                  <a:pt x="1615440" y="300990"/>
                </a:lnTo>
                <a:lnTo>
                  <a:pt x="0" y="300990"/>
                </a:lnTo>
                <a:close/>
              </a:path>
            </a:pathLst>
          </a:custGeom>
          <a:noFill/>
          <a:ln w="19050" cap="flat" cmpd="sng">
            <a:solidFill>
              <a:srgbClr val="00B050"/>
            </a:solidFill>
            <a:prstDash val="solid"/>
            <a:round/>
            <a:headEnd type="none" w="med" len="med"/>
            <a:tailEnd type="none" w="med" len="med"/>
          </a:ln>
        </p:spPr>
        <p:txBody>
          <a:bodyPr/>
          <a:p>
            <a:endParaRPr lang="zh-CN" altLang="en-US"/>
          </a:p>
        </p:txBody>
      </p:sp>
      <p:sp>
        <p:nvSpPr>
          <p:cNvPr id="189445" name="单圆角矩形 7"/>
          <p:cNvSpPr/>
          <p:nvPr/>
        </p:nvSpPr>
        <p:spPr>
          <a:xfrm>
            <a:off x="4888865" y="5890895"/>
            <a:ext cx="1858645" cy="201930"/>
          </a:xfrm>
          <a:custGeom>
            <a:avLst/>
            <a:gdLst/>
            <a:ahLst/>
            <a:cxnLst>
              <a:cxn ang="16200000">
                <a:pos x="1030605" y="0"/>
              </a:cxn>
              <a:cxn ang="10800000">
                <a:pos x="0" y="135890"/>
              </a:cxn>
              <a:cxn ang="5400000">
                <a:pos x="1030605" y="271780"/>
              </a:cxn>
              <a:cxn ang="0">
                <a:pos x="2061210" y="135890"/>
              </a:cxn>
            </a:cxnLst>
            <a:pathLst>
              <a:path w="2061210" h="271780">
                <a:moveTo>
                  <a:pt x="0" y="0"/>
                </a:moveTo>
                <a:lnTo>
                  <a:pt x="2015912" y="0"/>
                </a:lnTo>
                <a:cubicBezTo>
                  <a:pt x="2040929" y="0"/>
                  <a:pt x="2061209" y="20280"/>
                  <a:pt x="2061209" y="45297"/>
                </a:cubicBezTo>
                <a:lnTo>
                  <a:pt x="2061210" y="271780"/>
                </a:lnTo>
                <a:lnTo>
                  <a:pt x="0" y="271780"/>
                </a:lnTo>
                <a:close/>
              </a:path>
            </a:pathLst>
          </a:custGeom>
          <a:noFill/>
          <a:ln w="28575" cap="flat" cmpd="sng">
            <a:solidFill>
              <a:schemeClr val="bg1">
                <a:lumMod val="60000"/>
                <a:lumOff val="40000"/>
              </a:schemeClr>
            </a:solidFill>
            <a:prstDash val="solid"/>
            <a:round/>
            <a:headEnd type="none" w="med" len="med"/>
            <a:tailEnd type="none" w="med" len="med"/>
          </a:ln>
        </p:spPr>
        <p:txBody>
          <a:bodyPr/>
          <a:p>
            <a:endParaRPr lang="zh-CN" altLang="en-US"/>
          </a:p>
        </p:txBody>
      </p:sp>
      <p:sp>
        <p:nvSpPr>
          <p:cNvPr id="189446" name="单圆角矩形 8"/>
          <p:cNvSpPr/>
          <p:nvPr/>
        </p:nvSpPr>
        <p:spPr>
          <a:xfrm>
            <a:off x="5420995" y="5673725"/>
            <a:ext cx="791845" cy="162560"/>
          </a:xfrm>
          <a:custGeom>
            <a:avLst/>
            <a:gdLst/>
            <a:ahLst/>
            <a:cxnLst>
              <a:cxn ang="16200000">
                <a:pos x="507365" y="0"/>
              </a:cxn>
              <a:cxn ang="10800000">
                <a:pos x="0" y="118745"/>
              </a:cxn>
              <a:cxn ang="5400000">
                <a:pos x="507365" y="237490"/>
              </a:cxn>
              <a:cxn ang="0">
                <a:pos x="1014730" y="118745"/>
              </a:cxn>
            </a:cxnLst>
            <a:pathLst>
              <a:path w="1014730" h="237490">
                <a:moveTo>
                  <a:pt x="0" y="0"/>
                </a:moveTo>
                <a:lnTo>
                  <a:pt x="975147" y="0"/>
                </a:lnTo>
                <a:cubicBezTo>
                  <a:pt x="997008" y="0"/>
                  <a:pt x="1014729" y="17721"/>
                  <a:pt x="1014729" y="39582"/>
                </a:cubicBezTo>
                <a:lnTo>
                  <a:pt x="1014730" y="237490"/>
                </a:lnTo>
                <a:lnTo>
                  <a:pt x="0" y="237490"/>
                </a:lnTo>
                <a:close/>
              </a:path>
            </a:pathLst>
          </a:custGeom>
          <a:noFill/>
          <a:ln w="28575" cap="flat" cmpd="sng">
            <a:solidFill>
              <a:srgbClr val="FF0000"/>
            </a:solidFill>
            <a:prstDash val="solid"/>
            <a:round/>
            <a:headEnd type="none" w="med" len="med"/>
            <a:tailEnd type="none" w="med" len="med"/>
          </a:ln>
        </p:spPr>
        <p:txBody>
          <a:bodyPr/>
          <a:p>
            <a:endParaRPr lang="zh-CN" altLang="en-US"/>
          </a:p>
        </p:txBody>
      </p:sp>
    </p:spTree>
  </p:cSld>
  <p:clrMapOvr>
    <a:masterClrMapping/>
  </p:clrMapOvr>
  <p:transition spd="med">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41"/>
          <p:cNvSpPr>
            <a:spLocks noChangeArrowheads="1"/>
          </p:cNvSpPr>
          <p:nvPr/>
        </p:nvSpPr>
        <p:spPr bwMode="auto">
          <a:xfrm>
            <a:off x="618490" y="2931160"/>
            <a:ext cx="804164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US" sz="2000" noProof="0" smtClean="0">
                <a:ln>
                  <a:noFill/>
                </a:ln>
                <a:effectLst/>
                <a:uLnTx/>
                <a:uFillTx/>
                <a:latin typeface="+mj-lt"/>
                <a:sym typeface="+mn-ea"/>
              </a:rPr>
              <a:t>如前所述，在整体印象分拟合公式(2-7)中取中位数评分结果，则可获得代表主观评估模型的整体印象分拟合公式(2-8)。</a:t>
            </a:r>
            <a:endParaRPr lang="en-US" sz="2000" noProof="0" smtClean="0">
              <a:ln>
                <a:noFill/>
              </a:ln>
              <a:effectLst/>
              <a:uLnTx/>
              <a:uFillTx/>
              <a:latin typeface="+mj-lt"/>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endParaRPr lang="en-US" sz="2000" noProof="0" smtClean="0">
              <a:ln>
                <a:noFill/>
              </a:ln>
              <a:effectLst/>
              <a:uLnTx/>
              <a:uFillTx/>
              <a:latin typeface="+mj-lt"/>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endParaRPr lang="en-US" sz="2000" noProof="0" smtClean="0">
              <a:ln>
                <a:noFill/>
              </a:ln>
              <a:effectLst/>
              <a:uLnTx/>
              <a:uFillTx/>
              <a:latin typeface="+mj-lt"/>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GB" sz="2000" noProof="0" smtClean="0">
                <a:ln>
                  <a:noFill/>
                </a:ln>
                <a:effectLst/>
                <a:uLnTx/>
                <a:uFillTx/>
                <a:latin typeface="+mj-lt"/>
                <a:cs typeface="+mj-lt"/>
                <a:sym typeface="+mn-ea"/>
              </a:rPr>
              <a:t>          </a:t>
            </a:r>
            <a:endParaRPr kumimoji="0" lang="en-US" sz="2000" b="0" u="none" strike="noStrike" kern="1200" cap="none" spc="0" normalizeH="0" noProof="0" smtClean="0">
              <a:ln>
                <a:noFill/>
              </a:ln>
              <a:solidFill>
                <a:schemeClr val="tx1"/>
              </a:solidFill>
              <a:effectLst/>
              <a:uLnTx/>
              <a:uFillTx/>
              <a:latin typeface="+mj-lt"/>
              <a:cs typeface="+mn-cs"/>
            </a:endParaRPr>
          </a:p>
        </p:txBody>
      </p:sp>
      <p:sp>
        <p:nvSpPr>
          <p:cNvPr id="3" name="Rectangle 3"/>
          <p:cNvSpPr txBox="1"/>
          <p:nvPr/>
        </p:nvSpPr>
        <p:spPr>
          <a:xfrm>
            <a:off x="171450" y="209105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6" name="图片 2"/>
          <p:cNvPicPr>
            <a:picLocks noChangeAspect="1"/>
          </p:cNvPicPr>
          <p:nvPr/>
        </p:nvPicPr>
        <p:blipFill>
          <a:blip r:embed="rId1"/>
          <a:stretch>
            <a:fillRect/>
          </a:stretch>
        </p:blipFill>
        <p:spPr>
          <a:xfrm>
            <a:off x="502603" y="4762183"/>
            <a:ext cx="8005762" cy="604837"/>
          </a:xfrm>
          <a:prstGeom prst="rect">
            <a:avLst/>
          </a:prstGeom>
          <a:noFill/>
          <a:ln w="9525">
            <a:noFill/>
          </a:ln>
        </p:spPr>
      </p:pic>
      <p:pic>
        <p:nvPicPr>
          <p:cNvPr id="10" name="图片 9"/>
          <p:cNvPicPr>
            <a:picLocks noChangeAspect="1"/>
          </p:cNvPicPr>
          <p:nvPr/>
        </p:nvPicPr>
        <p:blipFill>
          <a:blip r:embed="rId2"/>
          <a:stretch>
            <a:fillRect/>
          </a:stretch>
        </p:blipFill>
        <p:spPr>
          <a:xfrm>
            <a:off x="7913370" y="5048250"/>
            <a:ext cx="567055" cy="250190"/>
          </a:xfrm>
          <a:prstGeom prst="rect">
            <a:avLst/>
          </a:prstGeom>
        </p:spPr>
      </p:pic>
      <p:pic>
        <p:nvPicPr>
          <p:cNvPr id="177157" name="图片 5"/>
          <p:cNvPicPr>
            <a:picLocks noChangeAspect="1"/>
          </p:cNvPicPr>
          <p:nvPr/>
        </p:nvPicPr>
        <p:blipFill>
          <a:blip r:embed="rId3"/>
          <a:stretch>
            <a:fillRect/>
          </a:stretch>
        </p:blipFill>
        <p:spPr>
          <a:xfrm>
            <a:off x="440055" y="5347018"/>
            <a:ext cx="8220075" cy="547687"/>
          </a:xfrm>
          <a:prstGeom prst="rect">
            <a:avLst/>
          </a:prstGeom>
          <a:noFill/>
          <a:ln w="9525">
            <a:noFill/>
          </a:ln>
        </p:spPr>
      </p:pic>
      <p:pic>
        <p:nvPicPr>
          <p:cNvPr id="4" name="图片 3"/>
          <p:cNvPicPr>
            <a:picLocks noChangeAspect="1"/>
          </p:cNvPicPr>
          <p:nvPr/>
        </p:nvPicPr>
        <p:blipFill>
          <a:blip r:embed="rId4"/>
          <a:stretch>
            <a:fillRect/>
          </a:stretch>
        </p:blipFill>
        <p:spPr>
          <a:xfrm>
            <a:off x="7913370" y="5624195"/>
            <a:ext cx="504190" cy="245110"/>
          </a:xfrm>
          <a:prstGeom prst="rect">
            <a:avLst/>
          </a:prstGeom>
        </p:spPr>
      </p:pic>
    </p:spTree>
  </p:cSld>
  <p:clrMapOvr>
    <a:masterClrMapping/>
  </p:clrMapOvr>
  <p:transition spd="med">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41"/>
          <p:cNvSpPr>
            <a:spLocks noChangeArrowheads="1"/>
          </p:cNvSpPr>
          <p:nvPr/>
        </p:nvSpPr>
        <p:spPr bwMode="auto">
          <a:xfrm>
            <a:off x="636588" y="4207193"/>
            <a:ext cx="80073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US" sz="2000" noProof="0" smtClean="0">
                <a:ln>
                  <a:noFill/>
                </a:ln>
                <a:effectLst/>
                <a:uLnTx/>
                <a:uFillTx/>
                <a:latin typeface="+mj-lt"/>
                <a:sym typeface="+mn-ea"/>
              </a:rPr>
              <a:t>将其代入式(2-6)得到我们最终选择的式(2-14)。我们把式(2-14)作为客观估算模型中旋律美感度的估算公式：</a:t>
            </a:r>
            <a:endParaRPr kumimoji="0" lang="en-US" sz="2000" b="0" u="none" strike="noStrike" kern="1200" cap="none" spc="0" normalizeH="0" noProof="0" smtClean="0">
              <a:ln>
                <a:noFill/>
              </a:ln>
              <a:solidFill>
                <a:schemeClr val="tx1"/>
              </a:solidFill>
              <a:effectLst/>
              <a:uLnTx/>
              <a:uFillTx/>
              <a:latin typeface="+mj-lt"/>
              <a:cs typeface="+mn-cs"/>
              <a:sym typeface="+mn-ea"/>
            </a:endParaRPr>
          </a:p>
        </p:txBody>
      </p:sp>
      <p:sp>
        <p:nvSpPr>
          <p:cNvPr id="3" name="Rectangle 3"/>
          <p:cNvSpPr txBox="1"/>
          <p:nvPr/>
        </p:nvSpPr>
        <p:spPr>
          <a:xfrm>
            <a:off x="171450" y="2091055"/>
            <a:ext cx="9177338" cy="533400"/>
          </a:xfrm>
          <a:prstGeom prst="rect">
            <a:avLst/>
          </a:prstGeom>
          <a:noFill/>
          <a:ln w="9525">
            <a:noFill/>
          </a:ln>
        </p:spPr>
        <p:txBody>
          <a:bodyPr anchor="t"/>
          <a:p>
            <a:pPr>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评估实验的结果比较与讨论</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机器音乐的质量评估</a:t>
            </a:r>
            <a:endParaRPr lang="zh-CN" altLang="en-US" dirty="0">
              <a:ea typeface="宋体" panose="02010600030101010101" pitchFamily="2" charset="-122"/>
            </a:endParaRPr>
          </a:p>
        </p:txBody>
      </p:sp>
      <p:pic>
        <p:nvPicPr>
          <p:cNvPr id="195588" name="图片 1"/>
          <p:cNvPicPr>
            <a:picLocks noChangeAspect="1"/>
          </p:cNvPicPr>
          <p:nvPr/>
        </p:nvPicPr>
        <p:blipFill>
          <a:blip r:embed="rId1"/>
          <a:stretch>
            <a:fillRect/>
          </a:stretch>
        </p:blipFill>
        <p:spPr>
          <a:xfrm>
            <a:off x="298450" y="6160770"/>
            <a:ext cx="8545195" cy="361315"/>
          </a:xfrm>
          <a:prstGeom prst="rect">
            <a:avLst/>
          </a:prstGeom>
          <a:noFill/>
          <a:ln w="9525">
            <a:noFill/>
          </a:ln>
        </p:spPr>
      </p:pic>
      <p:pic>
        <p:nvPicPr>
          <p:cNvPr id="5" name="图片 4"/>
          <p:cNvPicPr>
            <a:picLocks noChangeAspect="1"/>
          </p:cNvPicPr>
          <p:nvPr/>
        </p:nvPicPr>
        <p:blipFill>
          <a:blip r:embed="rId2"/>
          <a:stretch>
            <a:fillRect/>
          </a:stretch>
        </p:blipFill>
        <p:spPr>
          <a:xfrm>
            <a:off x="1395095" y="4909185"/>
            <a:ext cx="6103620" cy="345440"/>
          </a:xfrm>
          <a:prstGeom prst="rect">
            <a:avLst/>
          </a:prstGeom>
        </p:spPr>
      </p:pic>
      <p:pic>
        <p:nvPicPr>
          <p:cNvPr id="8" name="图片 7"/>
          <p:cNvPicPr>
            <a:picLocks noChangeAspect="1"/>
          </p:cNvPicPr>
          <p:nvPr/>
        </p:nvPicPr>
        <p:blipFill>
          <a:blip r:embed="rId3"/>
          <a:stretch>
            <a:fillRect/>
          </a:stretch>
        </p:blipFill>
        <p:spPr>
          <a:xfrm>
            <a:off x="323215" y="6211570"/>
            <a:ext cx="695960" cy="264160"/>
          </a:xfrm>
          <a:prstGeom prst="rect">
            <a:avLst/>
          </a:prstGeom>
        </p:spPr>
      </p:pic>
      <p:pic>
        <p:nvPicPr>
          <p:cNvPr id="11" name="图片 10"/>
          <p:cNvPicPr>
            <a:picLocks noChangeAspect="1"/>
          </p:cNvPicPr>
          <p:nvPr/>
        </p:nvPicPr>
        <p:blipFill>
          <a:blip r:embed="rId4"/>
          <a:stretch>
            <a:fillRect/>
          </a:stretch>
        </p:blipFill>
        <p:spPr>
          <a:xfrm>
            <a:off x="8148320" y="6157595"/>
            <a:ext cx="749935" cy="361950"/>
          </a:xfrm>
          <a:prstGeom prst="rect">
            <a:avLst/>
          </a:prstGeom>
        </p:spPr>
      </p:pic>
      <p:sp>
        <p:nvSpPr>
          <p:cNvPr id="195590" name="下箭头 2"/>
          <p:cNvSpPr/>
          <p:nvPr/>
        </p:nvSpPr>
        <p:spPr>
          <a:xfrm>
            <a:off x="4175125" y="5358448"/>
            <a:ext cx="793750" cy="695325"/>
          </a:xfrm>
          <a:prstGeom prst="downArrow">
            <a:avLst>
              <a:gd name="adj1" fmla="val 50000"/>
              <a:gd name="adj2" fmla="val 50000"/>
            </a:avLst>
          </a:prstGeom>
          <a:solidFill>
            <a:schemeClr val="accent1"/>
          </a:solidFill>
          <a:ln w="9525" cap="flat" cmpd="sng">
            <a:solidFill>
              <a:schemeClr val="tx1"/>
            </a:solidFill>
            <a:prstDash val="solid"/>
            <a:round/>
            <a:headEnd type="none" w="med" len="med"/>
            <a:tailEnd type="none" w="med" len="med"/>
          </a:ln>
        </p:spPr>
        <p:txBody>
          <a:bodyPr wrap="none" lIns="91440" tIns="45720" rIns="91440" bIns="45720" anchor="t"/>
          <a:p>
            <a:pPr>
              <a:buSzTx/>
            </a:pPr>
            <a:endParaRPr lang="en-US" altLang="zh-CN">
              <a:latin typeface="Chiller" panose="04020404031007020602" pitchFamily="82" charset="0"/>
            </a:endParaRPr>
          </a:p>
        </p:txBody>
      </p:sp>
      <p:sp>
        <p:nvSpPr>
          <p:cNvPr id="2" name="矩形 41"/>
          <p:cNvSpPr>
            <a:spLocks noChangeArrowheads="1"/>
          </p:cNvSpPr>
          <p:nvPr/>
        </p:nvSpPr>
        <p:spPr bwMode="auto">
          <a:xfrm>
            <a:off x="620078" y="2899093"/>
            <a:ext cx="80073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US" sz="2000" noProof="0" smtClean="0">
                <a:ln>
                  <a:noFill/>
                </a:ln>
                <a:effectLst/>
                <a:uLnTx/>
                <a:uFillTx/>
                <a:latin typeface="+mj-lt"/>
                <a:sym typeface="+mn-ea"/>
              </a:rPr>
              <a:t>将取值为</a:t>
            </a:r>
            <a:r>
              <a:rPr lang="en-US" sz="2000" i="1" noProof="0" smtClean="0">
                <a:ln>
                  <a:noFill/>
                </a:ln>
                <a:effectLst/>
                <a:uLnTx/>
                <a:uFillTx/>
                <a:latin typeface="+mj-lt"/>
                <a:sym typeface="+mn-ea"/>
              </a:rPr>
              <a:t>w</a:t>
            </a:r>
            <a:r>
              <a:rPr lang="en-US" sz="2000" baseline="-25000" noProof="0" smtClean="0">
                <a:ln>
                  <a:noFill/>
                </a:ln>
                <a:effectLst/>
                <a:uLnTx/>
                <a:uFillTx/>
                <a:latin typeface="+mj-lt"/>
                <a:sym typeface="+mn-ea"/>
              </a:rPr>
              <a:t>1</a:t>
            </a:r>
            <a:r>
              <a:rPr lang="en-US" sz="2000" noProof="0" smtClean="0">
                <a:ln>
                  <a:noFill/>
                </a:ln>
                <a:effectLst/>
                <a:uLnTx/>
                <a:uFillTx/>
                <a:latin typeface="+mj-lt"/>
                <a:sym typeface="+mn-ea"/>
              </a:rPr>
              <a:t>(</a:t>
            </a:r>
            <a:r>
              <a:rPr lang="en-US" sz="2000" i="1" noProof="0" smtClean="0">
                <a:ln>
                  <a:noFill/>
                </a:ln>
                <a:effectLst/>
                <a:uLnTx/>
                <a:uFillTx/>
                <a:latin typeface="+mj-lt"/>
                <a:sym typeface="+mn-ea"/>
              </a:rPr>
              <a:t>i</a:t>
            </a:r>
            <a:r>
              <a:rPr lang="en-US" sz="2000" i="1" baseline="-25000" noProof="0" smtClean="0">
                <a:ln>
                  <a:noFill/>
                </a:ln>
                <a:effectLst/>
                <a:uLnTx/>
                <a:uFillTx/>
                <a:latin typeface="+mj-lt"/>
                <a:sym typeface="+mn-ea"/>
              </a:rPr>
              <a:t>m</a:t>
            </a:r>
            <a:r>
              <a:rPr lang="en-US" sz="2000" noProof="0" smtClean="0">
                <a:ln>
                  <a:noFill/>
                </a:ln>
                <a:effectLst/>
                <a:uLnTx/>
                <a:uFillTx/>
                <a:latin typeface="+mj-lt"/>
                <a:sym typeface="+mn-ea"/>
              </a:rPr>
              <a:t>)=0.2771，</a:t>
            </a:r>
            <a:r>
              <a:rPr lang="en-US" sz="2000" i="1" noProof="0" smtClean="0">
                <a:ln>
                  <a:noFill/>
                </a:ln>
                <a:effectLst/>
                <a:uLnTx/>
                <a:uFillTx/>
                <a:latin typeface="+mj-lt"/>
                <a:sym typeface="+mn-ea"/>
              </a:rPr>
              <a:t>w</a:t>
            </a:r>
            <a:r>
              <a:rPr lang="en-US" sz="2000" baseline="-25000" noProof="0" smtClean="0">
                <a:ln>
                  <a:noFill/>
                </a:ln>
                <a:effectLst/>
                <a:uLnTx/>
                <a:uFillTx/>
                <a:latin typeface="+mj-lt"/>
                <a:sym typeface="+mn-ea"/>
              </a:rPr>
              <a:t>2</a:t>
            </a:r>
            <a:r>
              <a:rPr lang="en-US" sz="2000" noProof="0" smtClean="0">
                <a:ln>
                  <a:noFill/>
                </a:ln>
                <a:effectLst/>
                <a:uLnTx/>
                <a:uFillTx/>
                <a:latin typeface="+mj-lt"/>
                <a:sym typeface="+mn-ea"/>
              </a:rPr>
              <a:t>(</a:t>
            </a:r>
            <a:r>
              <a:rPr lang="en-US" sz="2000" i="1" noProof="0" smtClean="0">
                <a:ln>
                  <a:noFill/>
                </a:ln>
                <a:effectLst/>
                <a:uLnTx/>
                <a:uFillTx/>
                <a:latin typeface="+mj-lt"/>
                <a:sym typeface="+mn-ea"/>
              </a:rPr>
              <a:t>i</a:t>
            </a:r>
            <a:r>
              <a:rPr lang="en-US" sz="2000" i="1" baseline="-25000" noProof="0" smtClean="0">
                <a:ln>
                  <a:noFill/>
                </a:ln>
                <a:effectLst/>
                <a:uLnTx/>
                <a:uFillTx/>
                <a:latin typeface="+mj-lt"/>
                <a:sym typeface="+mn-ea"/>
              </a:rPr>
              <a:t>m</a:t>
            </a:r>
            <a:r>
              <a:rPr lang="en-US" sz="2000" noProof="0" smtClean="0">
                <a:ln>
                  <a:noFill/>
                </a:ln>
                <a:effectLst/>
                <a:uLnTx/>
                <a:uFillTx/>
                <a:latin typeface="+mj-lt"/>
                <a:sym typeface="+mn-ea"/>
              </a:rPr>
              <a:t>)=0.3260，</a:t>
            </a:r>
            <a:r>
              <a:rPr lang="en-US" sz="2000" i="1" noProof="0" smtClean="0">
                <a:ln>
                  <a:noFill/>
                </a:ln>
                <a:effectLst/>
                <a:uLnTx/>
                <a:uFillTx/>
                <a:latin typeface="+mj-lt"/>
                <a:sym typeface="+mn-ea"/>
              </a:rPr>
              <a:t>w</a:t>
            </a:r>
            <a:r>
              <a:rPr lang="en-US" sz="2000" baseline="-25000" noProof="0" smtClean="0">
                <a:ln>
                  <a:noFill/>
                </a:ln>
                <a:effectLst/>
                <a:uLnTx/>
                <a:uFillTx/>
                <a:latin typeface="+mj-lt"/>
                <a:sym typeface="+mn-ea"/>
              </a:rPr>
              <a:t>3</a:t>
            </a:r>
            <a:r>
              <a:rPr lang="en-US" sz="2000" noProof="0" smtClean="0">
                <a:ln>
                  <a:noFill/>
                </a:ln>
                <a:effectLst/>
                <a:uLnTx/>
                <a:uFillTx/>
                <a:latin typeface="+mj-lt"/>
                <a:sym typeface="+mn-ea"/>
              </a:rPr>
              <a:t>(</a:t>
            </a:r>
            <a:r>
              <a:rPr lang="en-US" sz="2000" i="1" noProof="0" smtClean="0">
                <a:ln>
                  <a:noFill/>
                </a:ln>
                <a:effectLst/>
                <a:uLnTx/>
                <a:uFillTx/>
                <a:latin typeface="+mj-lt"/>
                <a:sym typeface="+mn-ea"/>
              </a:rPr>
              <a:t>i</a:t>
            </a:r>
            <a:r>
              <a:rPr lang="en-US" sz="2000" i="1" baseline="-25000" noProof="0" smtClean="0">
                <a:ln>
                  <a:noFill/>
                </a:ln>
                <a:effectLst/>
                <a:uLnTx/>
                <a:uFillTx/>
                <a:latin typeface="+mj-lt"/>
                <a:sym typeface="+mn-ea"/>
              </a:rPr>
              <a:t>m</a:t>
            </a:r>
            <a:r>
              <a:rPr lang="en-US" sz="2000" noProof="0" smtClean="0">
                <a:ln>
                  <a:noFill/>
                </a:ln>
                <a:effectLst/>
                <a:uLnTx/>
                <a:uFillTx/>
                <a:latin typeface="+mj-lt"/>
                <a:sym typeface="+mn-ea"/>
              </a:rPr>
              <a:t>)=0.4124的3个分项权重系数代入式(2-10)、式(2-12)、式(2-13)，得到</a:t>
            </a:r>
            <a:r>
              <a:rPr lang="en-US" sz="2000" i="1" noProof="0" smtClean="0">
                <a:ln>
                  <a:noFill/>
                </a:ln>
                <a:effectLst/>
                <a:uLnTx/>
                <a:uFillTx/>
                <a:latin typeface="+mj-lt"/>
                <a:sym typeface="+mn-ea"/>
              </a:rPr>
              <a:t>µ</a:t>
            </a:r>
            <a:r>
              <a:rPr lang="en-US" sz="2000" baseline="-25000" noProof="0" smtClean="0">
                <a:ln>
                  <a:noFill/>
                </a:ln>
                <a:effectLst/>
                <a:uLnTx/>
                <a:uFillTx/>
                <a:latin typeface="+mj-lt"/>
                <a:sym typeface="+mn-ea"/>
              </a:rPr>
              <a:t>1</a:t>
            </a:r>
            <a:r>
              <a:rPr lang="en-US" sz="2000" noProof="0" smtClean="0">
                <a:ln>
                  <a:noFill/>
                </a:ln>
                <a:effectLst/>
                <a:uLnTx/>
                <a:uFillTx/>
                <a:latin typeface="+mj-lt"/>
                <a:sym typeface="+mn-ea"/>
              </a:rPr>
              <a:t>=0.2771，</a:t>
            </a:r>
            <a:r>
              <a:rPr lang="en-US" sz="2000" i="1" noProof="0" smtClean="0">
                <a:ln>
                  <a:noFill/>
                </a:ln>
                <a:effectLst/>
                <a:uLnTx/>
                <a:uFillTx/>
                <a:latin typeface="+mj-lt"/>
                <a:sym typeface="+mn-ea"/>
              </a:rPr>
              <a:t>µ</a:t>
            </a:r>
            <a:r>
              <a:rPr lang="en-US" sz="2000" baseline="-25000" noProof="0" smtClean="0">
                <a:ln>
                  <a:noFill/>
                </a:ln>
                <a:effectLst/>
                <a:uLnTx/>
                <a:uFillTx/>
                <a:latin typeface="+mj-lt"/>
                <a:sym typeface="+mn-ea"/>
              </a:rPr>
              <a:t>2</a:t>
            </a:r>
            <a:r>
              <a:rPr lang="en-US" sz="2000" noProof="0" smtClean="0">
                <a:ln>
                  <a:noFill/>
                </a:ln>
                <a:effectLst/>
                <a:uLnTx/>
                <a:uFillTx/>
                <a:latin typeface="+mj-lt"/>
                <a:sym typeface="+mn-ea"/>
              </a:rPr>
              <a:t>=</a:t>
            </a:r>
            <a:r>
              <a:rPr lang="en-US" sz="2000" i="1" noProof="0" smtClean="0">
                <a:ln>
                  <a:noFill/>
                </a:ln>
                <a:effectLst/>
                <a:uLnTx/>
                <a:uFillTx/>
                <a:latin typeface="+mj-lt"/>
                <a:sym typeface="+mn-ea"/>
              </a:rPr>
              <a:t>µ</a:t>
            </a:r>
            <a:r>
              <a:rPr lang="en-US" sz="2000" baseline="-25000" noProof="0" smtClean="0">
                <a:ln>
                  <a:noFill/>
                </a:ln>
                <a:effectLst/>
                <a:uLnTx/>
                <a:uFillTx/>
                <a:latin typeface="+mj-lt"/>
                <a:sym typeface="+mn-ea"/>
              </a:rPr>
              <a:t>3</a:t>
            </a:r>
            <a:r>
              <a:rPr lang="en-US" sz="2000" noProof="0" smtClean="0">
                <a:ln>
                  <a:noFill/>
                </a:ln>
                <a:effectLst/>
                <a:uLnTx/>
                <a:uFillTx/>
                <a:latin typeface="+mj-lt"/>
                <a:sym typeface="+mn-ea"/>
              </a:rPr>
              <a:t>=0.1807，</a:t>
            </a:r>
            <a:r>
              <a:rPr lang="en-US" sz="2000" i="1" noProof="0" smtClean="0">
                <a:ln>
                  <a:noFill/>
                </a:ln>
                <a:effectLst/>
                <a:uLnTx/>
                <a:uFillTx/>
                <a:latin typeface="+mj-lt"/>
                <a:sym typeface="+mn-ea"/>
              </a:rPr>
              <a:t>µ</a:t>
            </a:r>
            <a:r>
              <a:rPr lang="en-US" sz="2000" baseline="-25000" noProof="0" smtClean="0">
                <a:ln>
                  <a:noFill/>
                </a:ln>
                <a:effectLst/>
                <a:uLnTx/>
                <a:uFillTx/>
                <a:latin typeface="+mj-lt"/>
                <a:sym typeface="+mn-ea"/>
              </a:rPr>
              <a:t>4</a:t>
            </a:r>
            <a:r>
              <a:rPr lang="en-US" sz="2000" noProof="0" smtClean="0">
                <a:ln>
                  <a:noFill/>
                </a:ln>
                <a:effectLst/>
                <a:uLnTx/>
                <a:uFillTx/>
                <a:latin typeface="+mj-lt"/>
                <a:sym typeface="+mn-ea"/>
              </a:rPr>
              <a:t>=0.3614</a:t>
            </a:r>
            <a:r>
              <a:rPr lang="zh-CN" altLang="en-US" sz="2000" noProof="0" smtClean="0">
                <a:ln>
                  <a:noFill/>
                </a:ln>
                <a:effectLst/>
                <a:uLnTx/>
                <a:uFillTx/>
                <a:latin typeface="+mj-lt"/>
                <a:ea typeface="宋体" panose="02010600030101010101" pitchFamily="2" charset="-122"/>
                <a:sym typeface="+mn-ea"/>
              </a:rPr>
              <a:t>。</a:t>
            </a:r>
            <a:endParaRPr kumimoji="0" lang="en-US" sz="2000" b="0" u="none" strike="noStrike" kern="1200" cap="none" spc="0" normalizeH="0" noProof="0" smtClean="0">
              <a:ln>
                <a:noFill/>
              </a:ln>
              <a:solidFill>
                <a:schemeClr val="tx1"/>
              </a:solidFill>
              <a:effectLst/>
              <a:uLnTx/>
              <a:uFillTx/>
              <a:latin typeface="+mj-lt"/>
              <a:cs typeface="+mn-cs"/>
              <a:sym typeface="+mn-ea"/>
            </a:endParaRPr>
          </a:p>
        </p:txBody>
      </p:sp>
    </p:spTree>
  </p:cSld>
  <p:clrMapOvr>
    <a:masterClrMapping/>
  </p:clrMapOvr>
  <p:transition spd="med">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41"/>
          <p:cNvSpPr>
            <a:spLocks noChangeArrowheads="1"/>
          </p:cNvSpPr>
          <p:nvPr/>
        </p:nvSpPr>
        <p:spPr bwMode="auto">
          <a:xfrm>
            <a:off x="652463" y="2859088"/>
            <a:ext cx="80073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GB" sz="2400" strike="noStrike" noProof="0" smtClean="0">
                <a:ln>
                  <a:noFill/>
                </a:ln>
                <a:effectLst/>
                <a:uLnTx/>
                <a:uFillTx/>
                <a:latin typeface="+mj-lt"/>
                <a:ea typeface="+mn-ea"/>
                <a:cs typeface="+mj-lt"/>
                <a:sym typeface="+mn-ea"/>
              </a:rPr>
              <a:t>将一首歌曲的歌词书写成诗歌形式，借用诗歌中的诗句，将现有歌曲的旋律分句，以获得相对应的旋律片段，称为乐汇。进一步，再将几首现有歌曲中不同乐汇的旋律线与节奏互相对换以构成新的乐汇。通过复制一首现有歌曲的乐汇与乐汇间的逻辑关系并以新乐汇作为歌曲创作的基本材料，就可以为一首现有歌曲的歌词重新配置一段由新的乐汇组成的新旋律。</a:t>
            </a:r>
            <a:endParaRPr kumimoji="0" lang="en-US" sz="2400" b="0" u="none" strike="noStrike" kern="1200" cap="none" spc="0" normalizeH="0" noProof="0" smtClean="0">
              <a:ln>
                <a:noFill/>
              </a:ln>
              <a:solidFill>
                <a:schemeClr val="tx1"/>
              </a:solidFill>
              <a:effectLst/>
              <a:uLnTx/>
              <a:uFillTx/>
              <a:latin typeface="+mj-lt"/>
              <a:cs typeface="+mn-cs"/>
            </a:endParaRPr>
          </a:p>
        </p:txBody>
      </p:sp>
      <p:sp>
        <p:nvSpPr>
          <p:cNvPr id="9"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结论</a:t>
            </a:r>
            <a:endParaRPr lang="zh-CN" altLang="en-US" dirty="0">
              <a:ea typeface="宋体" panose="02010600030101010101" pitchFamily="2" charset="-122"/>
            </a:endParaRPr>
          </a:p>
        </p:txBody>
      </p:sp>
    </p:spTree>
  </p:cSld>
  <p:clrMapOvr>
    <a:masterClrMapping/>
  </p:clrMapOvr>
  <p:transition spd="med">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41"/>
          <p:cNvSpPr>
            <a:spLocks noChangeArrowheads="1"/>
          </p:cNvSpPr>
          <p:nvPr/>
        </p:nvSpPr>
        <p:spPr bwMode="auto">
          <a:xfrm>
            <a:off x="652780" y="2859405"/>
            <a:ext cx="8156575"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GB" sz="2400" strike="noStrike" noProof="0" smtClean="0">
                <a:ln>
                  <a:noFill/>
                </a:ln>
                <a:effectLst/>
                <a:uLnTx/>
                <a:uFillTx/>
                <a:latin typeface="+mj-lt"/>
                <a:ea typeface="+mn-ea"/>
                <a:cs typeface="+mj-lt"/>
                <a:sym typeface="+mn-ea"/>
              </a:rPr>
              <a:t> </a:t>
            </a:r>
            <a:r>
              <a:rPr sz="2400" strike="noStrike" noProof="0" smtClean="0">
                <a:ln>
                  <a:noFill/>
                </a:ln>
                <a:effectLst/>
                <a:uLnTx/>
                <a:uFillTx/>
                <a:latin typeface="+mj-lt"/>
                <a:ea typeface="+mn-ea"/>
                <a:cs typeface="+mj-lt"/>
                <a:sym typeface="+mn-ea"/>
              </a:rPr>
              <a:t>把收集到的歌曲按歌词表达的情感或意境、节拍以及其他相关信息(如体裁)进行分类，就可以通过歌曲分类的类别来明确创作目标。在分类的基础上建立歌曲创作质量的客观估算公式，从而规范音乐作品的评估标准以避免现有的音乐主观评估方法中因不同评估人不同的经验与喜好而导致在评估同一音乐作品时评估结果相距甚远的情况出现。</a:t>
            </a:r>
            <a:endParaRPr kumimoji="0" lang="en-US" sz="2400" b="0" u="none" strike="noStrike" kern="1200" cap="none" spc="0" normalizeH="0" noProof="0" smtClean="0">
              <a:ln>
                <a:noFill/>
              </a:ln>
              <a:solidFill>
                <a:schemeClr val="tx1"/>
              </a:solidFill>
              <a:effectLst/>
              <a:uLnTx/>
              <a:uFillTx/>
              <a:latin typeface="+mj-lt"/>
              <a:cs typeface="+mn-cs"/>
            </a:endParaRPr>
          </a:p>
        </p:txBody>
      </p:sp>
      <p:sp>
        <p:nvSpPr>
          <p:cNvPr id="3"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结论</a:t>
            </a:r>
            <a:endParaRPr lang="zh-CN" altLang="en-US" dirty="0">
              <a:ea typeface="宋体" panose="02010600030101010101" pitchFamily="2" charset="-122"/>
            </a:endParaRPr>
          </a:p>
        </p:txBody>
      </p:sp>
    </p:spTree>
  </p:cSld>
  <p:clrMapOvr>
    <a:masterClrMapping/>
  </p:clrMapOvr>
  <p:transition spd="med">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41"/>
          <p:cNvSpPr>
            <a:spLocks noChangeArrowheads="1"/>
          </p:cNvSpPr>
          <p:nvPr/>
        </p:nvSpPr>
        <p:spPr bwMode="auto">
          <a:xfrm>
            <a:off x="652463" y="2859088"/>
            <a:ext cx="8007350"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GB" sz="2400" strike="noStrike" noProof="0" smtClean="0">
                <a:ln>
                  <a:noFill/>
                </a:ln>
                <a:effectLst/>
                <a:uLnTx/>
                <a:uFillTx/>
                <a:latin typeface="+mj-lt"/>
                <a:ea typeface="+mn-ea"/>
                <a:cs typeface="+mj-lt"/>
                <a:sym typeface="+mn-ea"/>
              </a:rPr>
              <a:t>  客观估算模型的估算标准是统一的。它对一首歌曲的评估只有一种结果。但客观估算模型估算方法与评估标准也是人为制定的，它可能存在缺乏科学性的问题。</a:t>
            </a:r>
            <a:r>
              <a:rPr kumimoji="0" lang="en-US" sz="2400" b="0" u="none" strike="noStrike" kern="1200" cap="none" spc="0" normalizeH="0" noProof="0" smtClean="0">
                <a:ln>
                  <a:noFill/>
                </a:ln>
                <a:solidFill>
                  <a:schemeClr val="tx1"/>
                </a:solidFill>
                <a:effectLst/>
                <a:uLnTx/>
                <a:uFillTx/>
                <a:latin typeface="+mj-lt"/>
                <a:cs typeface="+mn-cs"/>
              </a:rPr>
              <a:t>然而，我们可以从不同人的主观评估结果中寻找共性。将这些共性作为建立和完善客观估算模型的一般性准则的依据。</a:t>
            </a:r>
            <a:endParaRPr kumimoji="0" lang="en-US" sz="2400" b="0" u="none" strike="noStrike" kern="1200" cap="none" spc="0" normalizeH="0" noProof="0" smtClean="0">
              <a:ln>
                <a:noFill/>
              </a:ln>
              <a:solidFill>
                <a:schemeClr val="tx1"/>
              </a:solidFill>
              <a:effectLst/>
              <a:uLnTx/>
              <a:uFillTx/>
              <a:latin typeface="+mj-lt"/>
              <a:cs typeface="+mn-cs"/>
            </a:endParaRPr>
          </a:p>
        </p:txBody>
      </p:sp>
      <p:sp>
        <p:nvSpPr>
          <p:cNvPr id="3"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结论</a:t>
            </a:r>
            <a:endParaRPr lang="zh-CN" altLang="en-US" dirty="0">
              <a:ea typeface="宋体" panose="02010600030101010101" pitchFamily="2" charset="-122"/>
            </a:endParaRPr>
          </a:p>
        </p:txBody>
      </p:sp>
    </p:spTree>
  </p:cSld>
  <p:clrMapOvr>
    <a:masterClrMapping/>
  </p:clrMapOvr>
  <p:transition spd="med">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41"/>
          <p:cNvSpPr>
            <a:spLocks noChangeArrowheads="1"/>
          </p:cNvSpPr>
          <p:nvPr/>
        </p:nvSpPr>
        <p:spPr bwMode="auto">
          <a:xfrm>
            <a:off x="652463" y="2859088"/>
            <a:ext cx="800735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GB" sz="2400" strike="noStrike" noProof="0" smtClean="0">
                <a:ln>
                  <a:noFill/>
                </a:ln>
                <a:effectLst/>
                <a:uLnTx/>
                <a:uFillTx/>
                <a:latin typeface="+mj-lt"/>
                <a:ea typeface="+mn-ea"/>
                <a:cs typeface="+mj-lt"/>
                <a:sym typeface="+mn-ea"/>
              </a:rPr>
              <a:t>通过引入乐汇的节奏规范率、音级序列规范率以及乐汇规范率这些概念来描述算法生成的旋律与代表某类创作风格或技术的现有歌曲在节奏、旋律线上的不同程度的一致性，并以此作为算法生成的旋律的美感度的组成部分。通过引入创新度来描述基于所提出的旋律构造法生成的与现有旋律不同的新旋律片段在整首旋律中所占的比例。</a:t>
            </a:r>
            <a:endParaRPr lang="en-GB" sz="2400" strike="noStrike" noProof="0" smtClean="0">
              <a:ln>
                <a:noFill/>
              </a:ln>
              <a:effectLst/>
              <a:uLnTx/>
              <a:uFillTx/>
              <a:latin typeface="+mj-lt"/>
              <a:ea typeface="+mn-ea"/>
              <a:cs typeface="+mj-lt"/>
              <a:sym typeface="+mn-ea"/>
            </a:endParaRPr>
          </a:p>
        </p:txBody>
      </p:sp>
      <p:sp>
        <p:nvSpPr>
          <p:cNvPr id="4"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结论</a:t>
            </a:r>
            <a:endParaRPr lang="zh-CN" altLang="en-US" dirty="0">
              <a:ea typeface="宋体" panose="02010600030101010101" pitchFamily="2" charset="-122"/>
            </a:endParaRPr>
          </a:p>
        </p:txBody>
      </p:sp>
    </p:spTree>
  </p:cSld>
  <p:clrMapOvr>
    <a:masterClrMapping/>
  </p:clrMapOvr>
  <p:transition spd="med">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矩形 41"/>
          <p:cNvSpPr>
            <a:spLocks noChangeArrowheads="1"/>
          </p:cNvSpPr>
          <p:nvPr/>
        </p:nvSpPr>
        <p:spPr bwMode="auto">
          <a:xfrm>
            <a:off x="652463" y="2859088"/>
            <a:ext cx="80073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GB" sz="2400" noProof="0" smtClean="0">
                <a:ln>
                  <a:noFill/>
                </a:ln>
                <a:effectLst/>
                <a:uLnTx/>
                <a:uFillTx/>
                <a:latin typeface="+mj-lt"/>
                <a:cs typeface="+mj-lt"/>
                <a:sym typeface="+mn-ea"/>
              </a:rPr>
              <a:t>创新度也作为算法生成的旋律的美感度的组成部分。基于规则或公式估算的客观评估模型与基于听众的主观评估法二者之间是相辅相成的辩证关系。</a:t>
            </a:r>
            <a:endParaRPr lang="en-GB" sz="2400" noProof="0" smtClean="0">
              <a:ln>
                <a:noFill/>
              </a:ln>
              <a:effectLst/>
              <a:uLnTx/>
              <a:uFillTx/>
              <a:latin typeface="+mj-lt"/>
              <a:cs typeface="+mj-lt"/>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endParaRPr kumimoji="0" lang="en-US" sz="1800" b="0" u="none" strike="noStrike" kern="1200" cap="none" spc="0" normalizeH="0" noProof="0" smtClean="0">
              <a:ln>
                <a:noFill/>
              </a:ln>
              <a:solidFill>
                <a:schemeClr val="tx1"/>
              </a:solidFill>
              <a:effectLst/>
              <a:uLnTx/>
              <a:uFillTx/>
              <a:latin typeface="+mj-lt"/>
              <a:cs typeface="+mn-cs"/>
            </a:endParaRPr>
          </a:p>
        </p:txBody>
      </p:sp>
      <p:sp>
        <p:nvSpPr>
          <p:cNvPr id="2" name="矩形 41"/>
          <p:cNvSpPr>
            <a:spLocks noChangeArrowheads="1"/>
          </p:cNvSpPr>
          <p:nvPr/>
        </p:nvSpPr>
        <p:spPr bwMode="auto">
          <a:xfrm>
            <a:off x="636588" y="4349750"/>
            <a:ext cx="800735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lang="en-GB" sz="1800" strike="noStrike" noProof="0" smtClean="0">
                <a:ln>
                  <a:noFill/>
                </a:ln>
                <a:effectLst/>
                <a:uLnTx/>
                <a:uFillTx/>
                <a:latin typeface="+mj-lt"/>
                <a:ea typeface="+mn-ea"/>
                <a:cs typeface="+mj-lt"/>
                <a:sym typeface="+mn-ea"/>
              </a:rPr>
              <a:t>           </a:t>
            </a:r>
            <a:r>
              <a:rPr lang="en-GB" sz="2400" strike="noStrike" noProof="0" smtClean="0">
                <a:ln>
                  <a:noFill/>
                </a:ln>
                <a:effectLst/>
                <a:uLnTx/>
                <a:uFillTx/>
                <a:latin typeface="+mj-lt"/>
                <a:ea typeface="+mn-ea"/>
                <a:cs typeface="+mj-lt"/>
                <a:sym typeface="+mn-ea"/>
              </a:rPr>
              <a:t> </a:t>
            </a:r>
            <a:r>
              <a:rPr sz="2400" strike="noStrike" noProof="0" smtClean="0">
                <a:ln>
                  <a:noFill/>
                </a:ln>
                <a:effectLst/>
                <a:uLnTx/>
                <a:uFillTx/>
                <a:latin typeface="+mj-lt"/>
                <a:ea typeface="+mn-ea"/>
                <a:cs typeface="+mj-lt"/>
                <a:sym typeface="+mn-ea"/>
              </a:rPr>
              <a:t>下一步的工作是进一步分析与分类不同音乐能力或背景的听众对机器音乐的接受态度并致力于研究能够生成被大多数音乐听众喜欢的音乐作曲程序</a:t>
            </a:r>
            <a:r>
              <a:rPr lang="zh-CN" sz="2400" strike="noStrike" noProof="0" smtClean="0">
                <a:ln>
                  <a:noFill/>
                </a:ln>
                <a:effectLst/>
                <a:uLnTx/>
                <a:uFillTx/>
                <a:latin typeface="+mj-lt"/>
                <a:ea typeface="宋体" panose="02010600030101010101" pitchFamily="2" charset="-122"/>
                <a:cs typeface="+mj-lt"/>
                <a:sym typeface="+mn-ea"/>
              </a:rPr>
              <a:t>。</a:t>
            </a:r>
            <a:endParaRPr lang="zh-CN" sz="2400" strike="noStrike" noProof="0" smtClean="0">
              <a:ln>
                <a:noFill/>
              </a:ln>
              <a:effectLst/>
              <a:uLnTx/>
              <a:uFillTx/>
              <a:latin typeface="+mj-lt"/>
              <a:ea typeface="宋体" panose="02010600030101010101" pitchFamily="2" charset="-122"/>
              <a:cs typeface="+mj-lt"/>
              <a:sym typeface="+mn-ea"/>
            </a:endParaRPr>
          </a:p>
        </p:txBody>
      </p:sp>
      <p:sp>
        <p:nvSpPr>
          <p:cNvPr id="4" name="Rectangle 2"/>
          <p:cNvSpPr>
            <a:spLocks noGrp="1"/>
          </p:cNvSpPr>
          <p:nvPr/>
        </p:nvSpPr>
        <p:spPr>
          <a:xfrm>
            <a:off x="220980" y="6445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dirty="0">
                <a:ea typeface="宋体" panose="02010600030101010101" pitchFamily="2" charset="-122"/>
              </a:rPr>
              <a:t>结论</a:t>
            </a:r>
            <a:endParaRPr lang="zh-CN" altLang="en-US" dirty="0">
              <a:ea typeface="宋体" panose="02010600030101010101" pitchFamily="2" charset="-122"/>
            </a:endParaRPr>
          </a:p>
        </p:txBody>
      </p:sp>
    </p:spTree>
  </p:cSld>
  <p:clrMapOvr>
    <a:masterClrMapping/>
  </p:clrMapOvr>
  <p:transition spd="med">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71" name="Rectangle 3"/>
          <p:cNvSpPr txBox="1"/>
          <p:nvPr/>
        </p:nvSpPr>
        <p:spPr>
          <a:xfrm>
            <a:off x="3362325" y="3889375"/>
            <a:ext cx="3450590" cy="631825"/>
          </a:xfrm>
          <a:prstGeom prst="rect">
            <a:avLst/>
          </a:prstGeom>
          <a:noFill/>
          <a:ln w="9525">
            <a:noFill/>
          </a:ln>
        </p:spPr>
        <p:txBody>
          <a:bodyPr/>
          <a:p>
            <a:pPr eaLnBrk="1" hangingPunct="1">
              <a:spcBef>
                <a:spcPct val="20000"/>
              </a:spcBef>
            </a:pPr>
            <a:r>
              <a:rPr lang="zh-CN" altLang="en-US" sz="2800" dirty="0">
                <a:latin typeface="Times New Roman" panose="02020603050405020304" pitchFamily="18" charset="0"/>
                <a:ea typeface="楷体_GB2312" pitchFamily="49" charset="-122"/>
              </a:rPr>
              <a:t>    </a:t>
            </a:r>
            <a:r>
              <a:rPr lang="en-US" altLang="zh-CN" sz="2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输出</a:t>
            </a:r>
            <a:r>
              <a:rPr lang="en-US" altLang="zh-CN" sz="1800" dirty="0">
                <a:latin typeface="Times New Roman" panose="02020603050405020304" pitchFamily="18" charset="0"/>
                <a:ea typeface="宋体" panose="02010600030101010101" pitchFamily="2" charset="-122"/>
              </a:rPr>
              <a:t>:</a:t>
            </a:r>
            <a:r>
              <a:rPr lang="zh-CN" sz="1800" dirty="0">
                <a:latin typeface="Times New Roman" panose="02020603050405020304" pitchFamily="18" charset="0"/>
                <a:ea typeface="宋体" panose="02010600030101010101" pitchFamily="2" charset="-122"/>
              </a:rPr>
              <a:t>旋律与钢琴伴奏</a:t>
            </a:r>
            <a:endParaRPr lang="zh-CN" sz="1800" dirty="0">
              <a:latin typeface="Times New Roman" panose="02020603050405020304" pitchFamily="18" charset="0"/>
              <a:ea typeface="宋体" panose="02010600030101010101" pitchFamily="2" charset="-122"/>
              <a:sym typeface="Wingdings" panose="05000000000000000000" pitchFamily="2" charset="2"/>
            </a:endParaRPr>
          </a:p>
        </p:txBody>
      </p:sp>
      <p:sp>
        <p:nvSpPr>
          <p:cNvPr id="216067" name="Rectangle 3"/>
          <p:cNvSpPr txBox="1"/>
          <p:nvPr/>
        </p:nvSpPr>
        <p:spPr>
          <a:xfrm>
            <a:off x="3343275" y="2841625"/>
            <a:ext cx="2864485" cy="468630"/>
          </a:xfrm>
          <a:prstGeom prst="rect">
            <a:avLst/>
          </a:prstGeom>
          <a:noFill/>
          <a:ln w="9525">
            <a:noFill/>
          </a:ln>
        </p:spPr>
        <p:txBody>
          <a:bodyPr/>
          <a:p>
            <a:pPr eaLnBrk="1" hangingPunct="1">
              <a:spcBef>
                <a:spcPct val="20000"/>
              </a:spcBef>
            </a:pPr>
            <a:r>
              <a:rPr lang="zh-CN" altLang="en-US" sz="2800" dirty="0">
                <a:latin typeface="Times New Roman" panose="02020603050405020304" pitchFamily="18" charset="0"/>
                <a:ea typeface="楷体_GB2312" pitchFamily="49" charset="-122"/>
              </a:rPr>
              <a:t>    </a:t>
            </a:r>
            <a:r>
              <a:rPr lang="en-US" altLang="zh-CN" sz="2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输入：单旋律</a:t>
            </a:r>
            <a:r>
              <a:rPr lang="en-US" altLang="zh-CN" sz="1800" dirty="0">
                <a:latin typeface="Times New Roman" panose="02020603050405020304" pitchFamily="18" charset="0"/>
                <a:ea typeface="宋体" panose="02010600030101010101" pitchFamily="2" charset="-122"/>
              </a:rPr>
              <a:t> </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
        <p:nvSpPr>
          <p:cNvPr id="216066" name="Rectangle 3"/>
          <p:cNvSpPr txBox="1"/>
          <p:nvPr/>
        </p:nvSpPr>
        <p:spPr>
          <a:xfrm>
            <a:off x="182563"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旋律自动配和声系统</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pic>
        <p:nvPicPr>
          <p:cNvPr id="216068" name="图片 1"/>
          <p:cNvPicPr>
            <a:picLocks noChangeAspect="1"/>
          </p:cNvPicPr>
          <p:nvPr/>
        </p:nvPicPr>
        <p:blipFill>
          <a:blip r:embed="rId1"/>
          <a:stretch>
            <a:fillRect/>
          </a:stretch>
        </p:blipFill>
        <p:spPr>
          <a:xfrm>
            <a:off x="3833813" y="4432300"/>
            <a:ext cx="4945062" cy="1852613"/>
          </a:xfrm>
          <a:prstGeom prst="rect">
            <a:avLst/>
          </a:prstGeom>
          <a:noFill/>
          <a:ln w="9525">
            <a:noFill/>
          </a:ln>
        </p:spPr>
      </p:pic>
      <p:sp>
        <p:nvSpPr>
          <p:cNvPr id="216069" name="Rectangle 3"/>
          <p:cNvSpPr txBox="1"/>
          <p:nvPr/>
        </p:nvSpPr>
        <p:spPr>
          <a:xfrm>
            <a:off x="457200" y="2927350"/>
            <a:ext cx="3394075" cy="7747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为一段已知的输入旋律配置伴奏从而生成以输入旋律为主旋律声部其他为伴奏声部的多声部音乐系统称为自动为旋律配和声(automatic harmonization)系统(简称旋律配和声系统)。</a:t>
            </a:r>
            <a:r>
              <a:rPr lang="en-US" altLang="zh-CN" sz="2000" dirty="0">
                <a:latin typeface="Times New Roman" panose="02020603050405020304" pitchFamily="18" charset="0"/>
                <a:ea typeface="楷体_GB2312" pitchFamily="49" charset="-122"/>
                <a:sym typeface="Wingdings" panose="05000000000000000000" pitchFamily="2" charset="2"/>
              </a:rPr>
              <a:t> </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16070" name="Rectangle 3"/>
          <p:cNvSpPr txBox="1"/>
          <p:nvPr/>
        </p:nvSpPr>
        <p:spPr>
          <a:xfrm>
            <a:off x="2746375" y="6381750"/>
            <a:ext cx="1822450" cy="393700"/>
          </a:xfrm>
          <a:prstGeom prst="rect">
            <a:avLst/>
          </a:prstGeom>
          <a:noFill/>
          <a:ln w="9525">
            <a:noFill/>
          </a:ln>
        </p:spPr>
        <p:txBody>
          <a:bodyPr/>
          <a:p>
            <a:pPr eaLnBrk="1" hangingPunct="1">
              <a:spcBef>
                <a:spcPct val="20000"/>
              </a:spcBef>
            </a:pPr>
            <a:r>
              <a:rPr lang="zh-CN" sz="1600" dirty="0">
                <a:solidFill>
                  <a:srgbClr val="FF0000"/>
                </a:solidFill>
                <a:latin typeface="Times New Roman" panose="02020603050405020304" pitchFamily="18" charset="0"/>
                <a:ea typeface="宋体" panose="02010600030101010101" pitchFamily="2" charset="-122"/>
              </a:rPr>
              <a:t>主旋律声部</a:t>
            </a:r>
            <a:endParaRPr lang="zh-CN" sz="1600" dirty="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p:txBody>
      </p:sp>
      <p:pic>
        <p:nvPicPr>
          <p:cNvPr id="216072" name="图片 14"/>
          <p:cNvPicPr>
            <a:picLocks noChangeAspect="1"/>
          </p:cNvPicPr>
          <p:nvPr/>
        </p:nvPicPr>
        <p:blipFill>
          <a:blip r:embed="rId2"/>
          <a:stretch>
            <a:fillRect/>
          </a:stretch>
        </p:blipFill>
        <p:spPr>
          <a:xfrm>
            <a:off x="3825875" y="3402013"/>
            <a:ext cx="4943475" cy="560387"/>
          </a:xfrm>
          <a:prstGeom prst="rect">
            <a:avLst/>
          </a:prstGeom>
          <a:noFill/>
          <a:ln w="9525">
            <a:noFill/>
          </a:ln>
        </p:spPr>
      </p:pic>
      <p:sp>
        <p:nvSpPr>
          <p:cNvPr id="216073" name="矩形 2"/>
          <p:cNvSpPr/>
          <p:nvPr/>
        </p:nvSpPr>
        <p:spPr>
          <a:xfrm>
            <a:off x="3849688" y="4432300"/>
            <a:ext cx="4945062" cy="515938"/>
          </a:xfrm>
          <a:prstGeom prst="rect">
            <a:avLst/>
          </a:prstGeom>
          <a:noFill/>
          <a:ln w="38100" cap="flat" cmpd="sng">
            <a:solidFill>
              <a:srgbClr val="FF000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16074" name="矩形 17"/>
          <p:cNvSpPr/>
          <p:nvPr/>
        </p:nvSpPr>
        <p:spPr>
          <a:xfrm>
            <a:off x="3849688" y="5100638"/>
            <a:ext cx="4945062" cy="11842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16075" name="Rectangle 3"/>
          <p:cNvSpPr txBox="1"/>
          <p:nvPr/>
        </p:nvSpPr>
        <p:spPr>
          <a:xfrm>
            <a:off x="5038725" y="6491605"/>
            <a:ext cx="1188085" cy="366395"/>
          </a:xfrm>
          <a:prstGeom prst="rect">
            <a:avLst/>
          </a:prstGeom>
          <a:noFill/>
          <a:ln w="9525">
            <a:noFill/>
          </a:ln>
        </p:spPr>
        <p:txBody>
          <a:bodyPr/>
          <a:p>
            <a:pPr eaLnBrk="1" hangingPunct="1">
              <a:spcBef>
                <a:spcPct val="20000"/>
              </a:spcBef>
            </a:pPr>
            <a:r>
              <a:rPr lang="zh-CN" sz="1600" dirty="0">
                <a:solidFill>
                  <a:srgbClr val="00B0F0"/>
                </a:solidFill>
                <a:latin typeface="Times New Roman" panose="02020603050405020304" pitchFamily="18" charset="0"/>
                <a:ea typeface="宋体" panose="02010600030101010101" pitchFamily="2" charset="-122"/>
              </a:rPr>
              <a:t>伴奏声部</a:t>
            </a:r>
            <a:endParaRPr lang="zh-CN" sz="1600" dirty="0">
              <a:solidFill>
                <a:srgbClr val="00B0F0"/>
              </a:solidFill>
              <a:latin typeface="Times New Roman" panose="02020603050405020304" pitchFamily="18" charset="0"/>
              <a:ea typeface="宋体" panose="02010600030101010101" pitchFamily="2" charset="-122"/>
              <a:sym typeface="Wingdings" panose="05000000000000000000" pitchFamily="2" charset="2"/>
            </a:endParaRPr>
          </a:p>
        </p:txBody>
      </p:sp>
      <p:cxnSp>
        <p:nvCxnSpPr>
          <p:cNvPr id="22" name="直接连接符 21"/>
          <p:cNvCxnSpPr>
            <a:stCxn id="216073" idx="1"/>
          </p:cNvCxnSpPr>
          <p:nvPr/>
        </p:nvCxnSpPr>
        <p:spPr>
          <a:xfrm flipH="1">
            <a:off x="3127375" y="4691063"/>
            <a:ext cx="723900" cy="17335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16073" idx="1"/>
          </p:cNvCxnSpPr>
          <p:nvPr/>
        </p:nvCxnSpPr>
        <p:spPr>
          <a:xfrm flipH="1">
            <a:off x="5795963" y="6284913"/>
            <a:ext cx="280988" cy="31273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pic>
        <p:nvPicPr>
          <p:cNvPr id="2" name="MachineMusic">
            <a:hlinkClick r:id="" action="ppaction://media"/>
          </p:cNvPr>
          <p:cNvPicPr>
            <a:picLocks noRot="1" noChangeAspect="1"/>
          </p:cNvPicPr>
          <p:nvPr>
            <a:wavAudioFile r:embed="rId3" name="MachineMusic.wav"/>
          </p:nvPr>
        </p:nvPicPr>
        <p:blipFill>
          <a:blip r:embed="rId4"/>
          <a:stretch>
            <a:fillRect/>
          </a:stretch>
        </p:blipFill>
        <p:spPr>
          <a:xfrm>
            <a:off x="6569710" y="4053205"/>
            <a:ext cx="304800" cy="304800"/>
          </a:xfrm>
          <a:prstGeom prst="rect">
            <a:avLst/>
          </a:prstGeom>
          <a:noFill/>
          <a:ln w="9525">
            <a:noFill/>
          </a:ln>
        </p:spPr>
      </p:pic>
      <p:pic>
        <p:nvPicPr>
          <p:cNvPr id="3" name="MelodyInput">
            <a:hlinkClick r:id="" action="ppaction://media"/>
          </p:cNvPr>
          <p:cNvPicPr>
            <a:picLocks noRot="1" noChangeAspect="1"/>
          </p:cNvPicPr>
          <p:nvPr>
            <a:wavAudioFile r:embed="rId5" name="MelodyInput.wav"/>
          </p:nvPr>
        </p:nvPicPr>
        <p:blipFill>
          <a:blip r:embed="rId4"/>
          <a:stretch>
            <a:fillRect/>
          </a:stretch>
        </p:blipFill>
        <p:spPr>
          <a:xfrm>
            <a:off x="5347653" y="3005138"/>
            <a:ext cx="304800" cy="304800"/>
          </a:xfrm>
          <a:prstGeom prst="rect">
            <a:avLst/>
          </a:prstGeom>
          <a:noFill/>
          <a:ln w="9525">
            <a:noFill/>
          </a:ln>
        </p:spPr>
      </p:pic>
      <p:sp>
        <p:nvSpPr>
          <p:cNvPr id="216080"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186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6800"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71" name="Rectangle 3"/>
          <p:cNvSpPr txBox="1"/>
          <p:nvPr/>
        </p:nvSpPr>
        <p:spPr>
          <a:xfrm>
            <a:off x="3362325" y="3889375"/>
            <a:ext cx="3450590" cy="631825"/>
          </a:xfrm>
          <a:prstGeom prst="rect">
            <a:avLst/>
          </a:prstGeom>
          <a:noFill/>
          <a:ln w="9525">
            <a:noFill/>
          </a:ln>
        </p:spPr>
        <p:txBody>
          <a:bodyPr/>
          <a:p>
            <a:pPr eaLnBrk="1" hangingPunct="1">
              <a:spcBef>
                <a:spcPct val="20000"/>
              </a:spcBef>
            </a:pPr>
            <a:r>
              <a:rPr lang="zh-CN" altLang="en-US" sz="2800" dirty="0">
                <a:latin typeface="Times New Roman" panose="02020603050405020304" pitchFamily="18" charset="0"/>
                <a:ea typeface="楷体_GB2312" pitchFamily="49" charset="-122"/>
              </a:rPr>
              <a:t>    </a:t>
            </a:r>
            <a:r>
              <a:rPr lang="en-US" altLang="zh-CN" sz="2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输出</a:t>
            </a:r>
            <a:r>
              <a:rPr lang="en-US" altLang="zh-CN" sz="1800" dirty="0">
                <a:latin typeface="Times New Roman" panose="02020603050405020304" pitchFamily="18" charset="0"/>
                <a:ea typeface="宋体" panose="02010600030101010101" pitchFamily="2" charset="-122"/>
              </a:rPr>
              <a:t>:</a:t>
            </a:r>
            <a:r>
              <a:rPr lang="zh-CN" sz="1800" dirty="0">
                <a:latin typeface="Times New Roman" panose="02020603050405020304" pitchFamily="18" charset="0"/>
                <a:ea typeface="宋体" panose="02010600030101010101" pitchFamily="2" charset="-122"/>
              </a:rPr>
              <a:t>旋律与钢琴伴奏</a:t>
            </a:r>
            <a:endParaRPr lang="zh-CN" sz="1800" dirty="0">
              <a:latin typeface="Times New Roman" panose="02020603050405020304" pitchFamily="18" charset="0"/>
              <a:ea typeface="宋体" panose="02010600030101010101" pitchFamily="2" charset="-122"/>
              <a:sym typeface="Wingdings" panose="05000000000000000000" pitchFamily="2" charset="2"/>
            </a:endParaRPr>
          </a:p>
        </p:txBody>
      </p:sp>
      <p:sp>
        <p:nvSpPr>
          <p:cNvPr id="216067" name="Rectangle 3"/>
          <p:cNvSpPr txBox="1"/>
          <p:nvPr/>
        </p:nvSpPr>
        <p:spPr>
          <a:xfrm>
            <a:off x="3343275" y="2841625"/>
            <a:ext cx="2864485" cy="468630"/>
          </a:xfrm>
          <a:prstGeom prst="rect">
            <a:avLst/>
          </a:prstGeom>
          <a:noFill/>
          <a:ln w="9525">
            <a:noFill/>
          </a:ln>
        </p:spPr>
        <p:txBody>
          <a:bodyPr/>
          <a:p>
            <a:pPr eaLnBrk="1" hangingPunct="1">
              <a:spcBef>
                <a:spcPct val="20000"/>
              </a:spcBef>
            </a:pPr>
            <a:r>
              <a:rPr lang="zh-CN" altLang="en-US" sz="2800" dirty="0">
                <a:latin typeface="Times New Roman" panose="02020603050405020304" pitchFamily="18" charset="0"/>
                <a:ea typeface="楷体_GB2312" pitchFamily="49" charset="-122"/>
              </a:rPr>
              <a:t>    </a:t>
            </a:r>
            <a:r>
              <a:rPr lang="en-US" altLang="zh-CN" sz="2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输入：单旋律</a:t>
            </a:r>
            <a:r>
              <a:rPr lang="en-US" altLang="zh-CN" sz="1800" dirty="0">
                <a:latin typeface="Times New Roman" panose="02020603050405020304" pitchFamily="18" charset="0"/>
                <a:ea typeface="宋体" panose="02010600030101010101" pitchFamily="2" charset="-122"/>
              </a:rPr>
              <a:t> </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
        <p:nvSpPr>
          <p:cNvPr id="216066" name="Rectangle 3"/>
          <p:cNvSpPr txBox="1"/>
          <p:nvPr/>
        </p:nvSpPr>
        <p:spPr>
          <a:xfrm>
            <a:off x="182563"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旋律自动配和声系统</a:t>
            </a:r>
            <a:r>
              <a:rPr lang="en-US" altLang="zh-CN" sz="2400" i="1" dirty="0">
                <a:solidFill>
                  <a:srgbClr val="FFC000"/>
                </a:solidFill>
                <a:latin typeface="Times New Roman" panose="02020603050405020304" pitchFamily="18" charset="0"/>
                <a:ea typeface="宋体" panose="02010600030101010101" pitchFamily="2" charset="-122"/>
              </a:rPr>
              <a:t> </a:t>
            </a:r>
            <a:endParaRPr lang="en-US" altLang="zh-CN" sz="2400" i="1" dirty="0">
              <a:solidFill>
                <a:srgbClr val="FFC000"/>
              </a:solidFill>
              <a:latin typeface="Times New Roman" panose="02020603050405020304" pitchFamily="18" charset="0"/>
              <a:ea typeface="宋体" panose="02010600030101010101" pitchFamily="2" charset="-122"/>
            </a:endParaRPr>
          </a:p>
        </p:txBody>
      </p:sp>
      <p:pic>
        <p:nvPicPr>
          <p:cNvPr id="216068" name="图片 1"/>
          <p:cNvPicPr>
            <a:picLocks noChangeAspect="1"/>
          </p:cNvPicPr>
          <p:nvPr/>
        </p:nvPicPr>
        <p:blipFill>
          <a:blip r:embed="rId1"/>
          <a:stretch>
            <a:fillRect/>
          </a:stretch>
        </p:blipFill>
        <p:spPr>
          <a:xfrm>
            <a:off x="3833813" y="4432300"/>
            <a:ext cx="4945062" cy="1852613"/>
          </a:xfrm>
          <a:prstGeom prst="rect">
            <a:avLst/>
          </a:prstGeom>
          <a:noFill/>
          <a:ln w="9525">
            <a:noFill/>
          </a:ln>
        </p:spPr>
      </p:pic>
      <p:sp>
        <p:nvSpPr>
          <p:cNvPr id="216069" name="Rectangle 3"/>
          <p:cNvSpPr txBox="1"/>
          <p:nvPr/>
        </p:nvSpPr>
        <p:spPr>
          <a:xfrm>
            <a:off x="457200" y="2927350"/>
            <a:ext cx="3394075" cy="7747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钢琴自动伴奏系统是一个</a:t>
            </a:r>
            <a:r>
              <a:rPr lang="en-US" altLang="zh-CN" sz="2400" dirty="0">
                <a:latin typeface="Times New Roman" panose="02020603050405020304" pitchFamily="18" charset="0"/>
                <a:ea typeface="楷体_GB2312" pitchFamily="49" charset="-122"/>
                <a:sym typeface="Wingdings" panose="05000000000000000000" pitchFamily="2" charset="2"/>
              </a:rPr>
              <a:t>为自动为旋律配和声</a:t>
            </a:r>
            <a:r>
              <a:rPr lang="zh-CN" altLang="en-US" sz="2400" dirty="0">
                <a:latin typeface="Times New Roman" panose="02020603050405020304" pitchFamily="18" charset="0"/>
                <a:ea typeface="楷体_GB2312" pitchFamily="49" charset="-122"/>
                <a:sym typeface="Wingdings" panose="05000000000000000000" pitchFamily="2" charset="2"/>
              </a:rPr>
              <a:t>系统。它可以为一段单旋律（或歌曲）自动配置钢琴伴奏。</a:t>
            </a:r>
            <a:r>
              <a:rPr lang="en-US" altLang="zh-CN" sz="2000" dirty="0">
                <a:latin typeface="Times New Roman" panose="02020603050405020304" pitchFamily="18" charset="0"/>
                <a:ea typeface="楷体_GB2312" pitchFamily="49" charset="-122"/>
                <a:sym typeface="Wingdings" panose="05000000000000000000" pitchFamily="2" charset="2"/>
              </a:rPr>
              <a:t> </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16070" name="Rectangle 3"/>
          <p:cNvSpPr txBox="1"/>
          <p:nvPr/>
        </p:nvSpPr>
        <p:spPr>
          <a:xfrm>
            <a:off x="2746375" y="6381750"/>
            <a:ext cx="1822450" cy="393700"/>
          </a:xfrm>
          <a:prstGeom prst="rect">
            <a:avLst/>
          </a:prstGeom>
          <a:noFill/>
          <a:ln w="9525">
            <a:noFill/>
          </a:ln>
        </p:spPr>
        <p:txBody>
          <a:bodyPr/>
          <a:p>
            <a:pPr eaLnBrk="1" hangingPunct="1">
              <a:spcBef>
                <a:spcPct val="20000"/>
              </a:spcBef>
            </a:pPr>
            <a:r>
              <a:rPr lang="zh-CN" sz="1600" dirty="0">
                <a:solidFill>
                  <a:srgbClr val="FF0000"/>
                </a:solidFill>
                <a:latin typeface="Times New Roman" panose="02020603050405020304" pitchFamily="18" charset="0"/>
                <a:ea typeface="宋体" panose="02010600030101010101" pitchFamily="2" charset="-122"/>
              </a:rPr>
              <a:t>主旋律声部</a:t>
            </a:r>
            <a:endParaRPr lang="zh-CN" sz="1600" dirty="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p:txBody>
      </p:sp>
      <p:pic>
        <p:nvPicPr>
          <p:cNvPr id="216072" name="图片 14"/>
          <p:cNvPicPr>
            <a:picLocks noChangeAspect="1"/>
          </p:cNvPicPr>
          <p:nvPr/>
        </p:nvPicPr>
        <p:blipFill>
          <a:blip r:embed="rId2"/>
          <a:stretch>
            <a:fillRect/>
          </a:stretch>
        </p:blipFill>
        <p:spPr>
          <a:xfrm>
            <a:off x="3825875" y="3402013"/>
            <a:ext cx="4943475" cy="560387"/>
          </a:xfrm>
          <a:prstGeom prst="rect">
            <a:avLst/>
          </a:prstGeom>
          <a:noFill/>
          <a:ln w="9525">
            <a:noFill/>
          </a:ln>
        </p:spPr>
      </p:pic>
      <p:sp>
        <p:nvSpPr>
          <p:cNvPr id="216073" name="矩形 2"/>
          <p:cNvSpPr/>
          <p:nvPr/>
        </p:nvSpPr>
        <p:spPr>
          <a:xfrm>
            <a:off x="3849688" y="4432300"/>
            <a:ext cx="4945062" cy="515938"/>
          </a:xfrm>
          <a:prstGeom prst="rect">
            <a:avLst/>
          </a:prstGeom>
          <a:noFill/>
          <a:ln w="38100" cap="flat" cmpd="sng">
            <a:solidFill>
              <a:srgbClr val="FF000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16074" name="矩形 17"/>
          <p:cNvSpPr/>
          <p:nvPr/>
        </p:nvSpPr>
        <p:spPr>
          <a:xfrm>
            <a:off x="3849688" y="5100638"/>
            <a:ext cx="4945062" cy="11842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16075" name="Rectangle 3"/>
          <p:cNvSpPr txBox="1"/>
          <p:nvPr/>
        </p:nvSpPr>
        <p:spPr>
          <a:xfrm>
            <a:off x="5038725" y="6491605"/>
            <a:ext cx="1188085" cy="366395"/>
          </a:xfrm>
          <a:prstGeom prst="rect">
            <a:avLst/>
          </a:prstGeom>
          <a:noFill/>
          <a:ln w="9525">
            <a:noFill/>
          </a:ln>
        </p:spPr>
        <p:txBody>
          <a:bodyPr/>
          <a:p>
            <a:pPr eaLnBrk="1" hangingPunct="1">
              <a:spcBef>
                <a:spcPct val="20000"/>
              </a:spcBef>
            </a:pPr>
            <a:r>
              <a:rPr lang="zh-CN" sz="1600" dirty="0">
                <a:solidFill>
                  <a:srgbClr val="00B0F0"/>
                </a:solidFill>
                <a:latin typeface="Times New Roman" panose="02020603050405020304" pitchFamily="18" charset="0"/>
                <a:ea typeface="宋体" panose="02010600030101010101" pitchFamily="2" charset="-122"/>
              </a:rPr>
              <a:t>伴奏声部</a:t>
            </a:r>
            <a:endParaRPr lang="zh-CN" sz="1600" dirty="0">
              <a:solidFill>
                <a:srgbClr val="00B0F0"/>
              </a:solidFill>
              <a:latin typeface="Times New Roman" panose="02020603050405020304" pitchFamily="18" charset="0"/>
              <a:ea typeface="宋体" panose="02010600030101010101" pitchFamily="2" charset="-122"/>
              <a:sym typeface="Wingdings" panose="05000000000000000000" pitchFamily="2" charset="2"/>
            </a:endParaRPr>
          </a:p>
        </p:txBody>
      </p:sp>
      <p:cxnSp>
        <p:nvCxnSpPr>
          <p:cNvPr id="22" name="直接连接符 21"/>
          <p:cNvCxnSpPr>
            <a:stCxn id="216073" idx="1"/>
          </p:cNvCxnSpPr>
          <p:nvPr/>
        </p:nvCxnSpPr>
        <p:spPr>
          <a:xfrm flipH="1">
            <a:off x="3127375" y="4691063"/>
            <a:ext cx="723900" cy="17335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16073" idx="1"/>
          </p:cNvCxnSpPr>
          <p:nvPr/>
        </p:nvCxnSpPr>
        <p:spPr>
          <a:xfrm flipH="1">
            <a:off x="5795963" y="6284913"/>
            <a:ext cx="280988" cy="31273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pic>
        <p:nvPicPr>
          <p:cNvPr id="2" name="MachineMusic">
            <a:hlinkClick r:id="" action="ppaction://media"/>
          </p:cNvPr>
          <p:cNvPicPr>
            <a:picLocks noRot="1" noChangeAspect="1"/>
          </p:cNvPicPr>
          <p:nvPr>
            <a:wavAudioFile r:embed="rId3" name="MachineMusic.wav"/>
          </p:nvPr>
        </p:nvPicPr>
        <p:blipFill>
          <a:blip r:embed="rId4"/>
          <a:stretch>
            <a:fillRect/>
          </a:stretch>
        </p:blipFill>
        <p:spPr>
          <a:xfrm>
            <a:off x="6569710" y="4053205"/>
            <a:ext cx="304800" cy="304800"/>
          </a:xfrm>
          <a:prstGeom prst="rect">
            <a:avLst/>
          </a:prstGeom>
          <a:noFill/>
          <a:ln w="9525">
            <a:noFill/>
          </a:ln>
        </p:spPr>
      </p:pic>
      <p:pic>
        <p:nvPicPr>
          <p:cNvPr id="3" name="MelodyInput">
            <a:hlinkClick r:id="" action="ppaction://media"/>
          </p:cNvPr>
          <p:cNvPicPr>
            <a:picLocks noRot="1" noChangeAspect="1"/>
          </p:cNvPicPr>
          <p:nvPr>
            <a:wavAudioFile r:embed="rId5" name="MelodyInput.wav"/>
          </p:nvPr>
        </p:nvPicPr>
        <p:blipFill>
          <a:blip r:embed="rId4"/>
          <a:stretch>
            <a:fillRect/>
          </a:stretch>
        </p:blipFill>
        <p:spPr>
          <a:xfrm>
            <a:off x="5347653" y="3005138"/>
            <a:ext cx="304800" cy="304800"/>
          </a:xfrm>
          <a:prstGeom prst="rect">
            <a:avLst/>
          </a:prstGeom>
          <a:noFill/>
          <a:ln w="9525">
            <a:noFill/>
          </a:ln>
        </p:spPr>
      </p:pic>
      <p:sp>
        <p:nvSpPr>
          <p:cNvPr id="216080"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186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6800"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0162" name="图片 2"/>
          <p:cNvPicPr>
            <a:picLocks noChangeAspect="1"/>
          </p:cNvPicPr>
          <p:nvPr/>
        </p:nvPicPr>
        <p:blipFill>
          <a:blip r:embed="rId1"/>
          <a:stretch>
            <a:fillRect/>
          </a:stretch>
        </p:blipFill>
        <p:spPr>
          <a:xfrm>
            <a:off x="2492375" y="354013"/>
            <a:ext cx="4086225" cy="6238875"/>
          </a:xfrm>
          <a:prstGeom prst="rect">
            <a:avLst/>
          </a:prstGeom>
          <a:noFill/>
          <a:ln w="9525">
            <a:noFill/>
          </a:ln>
        </p:spPr>
      </p:pic>
    </p:spTree>
  </p:cSld>
  <p:clrMapOvr>
    <a:masterClrMapping/>
  </p:clrMapOvr>
  <p:transition spd="med">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3"/>
          <p:cNvSpPr txBox="1"/>
          <p:nvPr/>
        </p:nvSpPr>
        <p:spPr>
          <a:xfrm>
            <a:off x="182563" y="2101850"/>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a:t>
            </a:r>
            <a:endParaRPr lang="zh-CN" altLang="en-US" sz="2400" i="1" dirty="0">
              <a:solidFill>
                <a:srgbClr val="FFC000"/>
              </a:solidFill>
              <a:latin typeface="Times New Roman" panose="02020603050405020304" pitchFamily="18" charset="0"/>
              <a:ea typeface="宋体" panose="02010600030101010101" pitchFamily="2" charset="-122"/>
            </a:endParaRPr>
          </a:p>
        </p:txBody>
      </p:sp>
      <p:pic>
        <p:nvPicPr>
          <p:cNvPr id="222211" name="图片 1"/>
          <p:cNvPicPr>
            <a:picLocks noChangeAspect="1"/>
          </p:cNvPicPr>
          <p:nvPr/>
        </p:nvPicPr>
        <p:blipFill>
          <a:blip r:embed="rId1"/>
          <a:stretch>
            <a:fillRect/>
          </a:stretch>
        </p:blipFill>
        <p:spPr>
          <a:xfrm>
            <a:off x="3875088" y="3163888"/>
            <a:ext cx="4945062" cy="1852612"/>
          </a:xfrm>
          <a:prstGeom prst="rect">
            <a:avLst/>
          </a:prstGeom>
          <a:noFill/>
          <a:ln w="9525">
            <a:noFill/>
          </a:ln>
        </p:spPr>
      </p:pic>
      <p:sp>
        <p:nvSpPr>
          <p:cNvPr id="222212" name="Rectangle 3"/>
          <p:cNvSpPr txBox="1"/>
          <p:nvPr/>
        </p:nvSpPr>
        <p:spPr>
          <a:xfrm>
            <a:off x="457200" y="2927350"/>
            <a:ext cx="3162935" cy="7747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在一个旋律与钢琴伴奏组成的多声部音乐中</a:t>
            </a: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钢琴伴奏音型是基本的伴奏单位。</a:t>
            </a:r>
            <a:endParaRPr lang="en-US" altLang="zh-CN" sz="2400" dirty="0">
              <a:latin typeface="Times New Roman" panose="02020603050405020304" pitchFamily="18" charset="0"/>
              <a:ea typeface="楷体_GB2312" pitchFamily="49" charset="-122"/>
              <a:sym typeface="Wingdings" panose="05000000000000000000" pitchFamily="2" charset="2"/>
            </a:endParaRPr>
          </a:p>
        </p:txBody>
      </p:sp>
      <p:sp>
        <p:nvSpPr>
          <p:cNvPr id="222213" name="Rectangle 3"/>
          <p:cNvSpPr txBox="1"/>
          <p:nvPr/>
        </p:nvSpPr>
        <p:spPr>
          <a:xfrm flipH="1">
            <a:off x="4437063" y="2711450"/>
            <a:ext cx="1720850" cy="376238"/>
          </a:xfrm>
          <a:prstGeom prst="rect">
            <a:avLst/>
          </a:prstGeom>
          <a:noFill/>
          <a:ln w="9525">
            <a:noFill/>
          </a:ln>
        </p:spPr>
        <p:txBody>
          <a:bodyPr/>
          <a:p>
            <a:pPr eaLnBrk="1" hangingPunct="1">
              <a:spcBef>
                <a:spcPct val="20000"/>
              </a:spcBef>
            </a:pPr>
            <a:r>
              <a:rPr lang="zh-CN" altLang="en-US" sz="1600" dirty="0">
                <a:solidFill>
                  <a:srgbClr val="FF0000"/>
                </a:solidFill>
                <a:latin typeface="Times New Roman" panose="02020603050405020304" pitchFamily="18" charset="0"/>
                <a:ea typeface="宋体" panose="02010600030101010101" pitchFamily="2" charset="-122"/>
              </a:rPr>
              <a:t>旋律</a:t>
            </a:r>
            <a:endParaRPr lang="zh-CN" altLang="en-US" sz="1600" dirty="0">
              <a:solidFill>
                <a:srgbClr val="FF000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222214" name="Rectangle 3"/>
          <p:cNvSpPr txBox="1"/>
          <p:nvPr/>
        </p:nvSpPr>
        <p:spPr>
          <a:xfrm>
            <a:off x="3620135" y="5318125"/>
            <a:ext cx="4646930" cy="558800"/>
          </a:xfrm>
          <a:prstGeom prst="rect">
            <a:avLst/>
          </a:prstGeom>
          <a:noFill/>
          <a:ln w="9525">
            <a:noFill/>
          </a:ln>
        </p:spPr>
        <p:txBody>
          <a:bodyPr/>
          <a:p>
            <a:pPr eaLnBrk="1" hangingPunct="1">
              <a:spcBef>
                <a:spcPct val="20000"/>
              </a:spcBef>
            </a:pPr>
            <a:r>
              <a:rPr lang="zh-CN" altLang="en-US" sz="2800" dirty="0">
                <a:latin typeface="Times New Roman" panose="02020603050405020304" pitchFamily="18" charset="0"/>
                <a:ea typeface="楷体_GB2312" pitchFamily="49" charset="-122"/>
              </a:rPr>
              <a:t>    </a:t>
            </a:r>
            <a:r>
              <a:rPr lang="en-US" altLang="zh-CN" sz="2800" dirty="0">
                <a:latin typeface="Times New Roman" panose="02020603050405020304" pitchFamily="18" charset="0"/>
                <a:ea typeface="宋体" panose="02010600030101010101" pitchFamily="2" charset="-122"/>
              </a:rPr>
              <a:t> </a:t>
            </a:r>
            <a:r>
              <a:rPr lang="zh-CN" sz="2000" dirty="0">
                <a:latin typeface="Times New Roman" panose="02020603050405020304" pitchFamily="18" charset="0"/>
                <a:ea typeface="楷体_GB2312" pitchFamily="49" charset="-122"/>
                <a:sym typeface="Wingdings" panose="05000000000000000000" pitchFamily="2" charset="2"/>
              </a:rPr>
              <a:t>旋律与钢琴伴奏组成的多声部音乐</a:t>
            </a:r>
            <a:endParaRPr lang="zh-CN" sz="2000" dirty="0">
              <a:latin typeface="Times New Roman" panose="02020603050405020304" pitchFamily="18" charset="0"/>
              <a:ea typeface="楷体_GB2312" pitchFamily="49" charset="-122"/>
              <a:sym typeface="Wingdings" panose="05000000000000000000" pitchFamily="2" charset="2"/>
            </a:endParaRPr>
          </a:p>
        </p:txBody>
      </p:sp>
      <p:sp>
        <p:nvSpPr>
          <p:cNvPr id="222215" name="矩形 17"/>
          <p:cNvSpPr/>
          <p:nvPr/>
        </p:nvSpPr>
        <p:spPr>
          <a:xfrm>
            <a:off x="4295775" y="3854450"/>
            <a:ext cx="812800" cy="11842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2216" name="Rectangle 3"/>
          <p:cNvSpPr txBox="1"/>
          <p:nvPr/>
        </p:nvSpPr>
        <p:spPr>
          <a:xfrm>
            <a:off x="1710690" y="5137150"/>
            <a:ext cx="1858645" cy="325755"/>
          </a:xfrm>
          <a:prstGeom prst="rect">
            <a:avLst/>
          </a:prstGeom>
          <a:noFill/>
          <a:ln w="9525">
            <a:noFill/>
          </a:ln>
        </p:spPr>
        <p:txBody>
          <a:bodyPr/>
          <a:p>
            <a:pPr eaLnBrk="1" hangingPunct="1">
              <a:spcBef>
                <a:spcPct val="20000"/>
              </a:spcBef>
            </a:pPr>
            <a:r>
              <a:rPr lang="zh-CN" altLang="en-US" sz="2000" dirty="0">
                <a:solidFill>
                  <a:srgbClr val="00B0F0"/>
                </a:solidFill>
                <a:latin typeface="Times New Roman" panose="02020603050405020304" pitchFamily="18" charset="0"/>
                <a:ea typeface="宋体" panose="02010600030101010101" pitchFamily="2" charset="-122"/>
              </a:rPr>
              <a:t>钢琴伴奏音型</a:t>
            </a:r>
            <a:endParaRPr lang="zh-CN" altLang="en-US" sz="2000" dirty="0">
              <a:solidFill>
                <a:srgbClr val="00B0F0"/>
              </a:solidFill>
              <a:latin typeface="Times New Roman" panose="02020603050405020304" pitchFamily="18" charset="0"/>
              <a:ea typeface="宋体" panose="02010600030101010101" pitchFamily="2" charset="-122"/>
              <a:sym typeface="Wingdings" panose="05000000000000000000" pitchFamily="2" charset="2"/>
            </a:endParaRPr>
          </a:p>
        </p:txBody>
      </p:sp>
      <p:cxnSp>
        <p:nvCxnSpPr>
          <p:cNvPr id="23" name="直接连接符 22"/>
          <p:cNvCxnSpPr/>
          <p:nvPr/>
        </p:nvCxnSpPr>
        <p:spPr>
          <a:xfrm flipH="1">
            <a:off x="3419475" y="5302250"/>
            <a:ext cx="4826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222219" name="矩形 17"/>
          <p:cNvSpPr/>
          <p:nvPr/>
        </p:nvSpPr>
        <p:spPr>
          <a:xfrm>
            <a:off x="5186363" y="3854450"/>
            <a:ext cx="1125537" cy="11842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2220" name="矩形 17"/>
          <p:cNvSpPr/>
          <p:nvPr/>
        </p:nvSpPr>
        <p:spPr>
          <a:xfrm>
            <a:off x="6451600" y="3854450"/>
            <a:ext cx="1027113" cy="11842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2221" name="矩形 17"/>
          <p:cNvSpPr/>
          <p:nvPr/>
        </p:nvSpPr>
        <p:spPr>
          <a:xfrm>
            <a:off x="7645400" y="3854450"/>
            <a:ext cx="1125538" cy="11842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cxnSp>
        <p:nvCxnSpPr>
          <p:cNvPr id="7" name="直接连接符 6"/>
          <p:cNvCxnSpPr/>
          <p:nvPr/>
        </p:nvCxnSpPr>
        <p:spPr>
          <a:xfrm>
            <a:off x="8191500" y="5048250"/>
            <a:ext cx="53975" cy="2540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988175" y="5048250"/>
            <a:ext cx="52388" cy="2540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807075" y="5038725"/>
            <a:ext cx="52388" cy="252413"/>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741863" y="5048250"/>
            <a:ext cx="52388" cy="2540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222226" name="矩形 2"/>
          <p:cNvSpPr/>
          <p:nvPr/>
        </p:nvSpPr>
        <p:spPr>
          <a:xfrm>
            <a:off x="3849688" y="3186113"/>
            <a:ext cx="4945062" cy="515937"/>
          </a:xfrm>
          <a:prstGeom prst="rect">
            <a:avLst/>
          </a:prstGeom>
          <a:noFill/>
          <a:ln w="38100" cap="flat" cmpd="sng">
            <a:solidFill>
              <a:srgbClr val="FF000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pic>
        <p:nvPicPr>
          <p:cNvPr id="15" name="MachineMusic">
            <a:hlinkClick r:id="" action="ppaction://media"/>
          </p:cNvPr>
          <p:cNvPicPr>
            <a:picLocks noRot="1" noChangeAspect="1"/>
          </p:cNvPicPr>
          <p:nvPr>
            <a:wavAudioFile r:embed="rId2" name="MachineMusic.wav"/>
          </p:nvPr>
        </p:nvPicPr>
        <p:blipFill>
          <a:blip r:embed="rId3"/>
          <a:stretch>
            <a:fillRect/>
          </a:stretch>
        </p:blipFill>
        <p:spPr>
          <a:xfrm>
            <a:off x="8156258" y="5495925"/>
            <a:ext cx="304800" cy="304800"/>
          </a:xfrm>
          <a:prstGeom prst="rect">
            <a:avLst/>
          </a:prstGeom>
          <a:noFill/>
          <a:ln w="9525">
            <a:noFill/>
          </a:ln>
        </p:spPr>
      </p:pic>
      <p:cxnSp>
        <p:nvCxnSpPr>
          <p:cNvPr id="2" name="直接连接符 1"/>
          <p:cNvCxnSpPr/>
          <p:nvPr/>
        </p:nvCxnSpPr>
        <p:spPr>
          <a:xfrm>
            <a:off x="4868863" y="2962275"/>
            <a:ext cx="52388" cy="254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6080"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1864" fill="hold"/>
                                        <p:tgtEl>
                                          <p:spTgt spid="15"/>
                                        </p:tgtEl>
                                      </p:cBhvr>
                                    </p:cmd>
                                  </p:childTnLst>
                                </p:cTn>
                              </p:par>
                            </p:childTnLst>
                          </p:cTn>
                        </p:par>
                      </p:childTnLst>
                    </p:cTn>
                  </p:par>
                </p:childTnLst>
              </p:cTn>
              <p:nextCondLst>
                <p:cond evt="onClick" delay="0">
                  <p:tgtEl>
                    <p:spTgt spid="15"/>
                  </p:tgtEl>
                </p:cond>
              </p:nextCondLst>
            </p:seq>
            <p:audio>
              <p:cMediaNode vol="80000">
                <p:cTn id="7" fill="hold" display="0">
                  <p:stCondLst>
                    <p:cond delay="indefinite"/>
                  </p:stCondLst>
                  <p:endCondLst>
                    <p:cond evt="onStopAudio" delay="0">
                      <p:tgtEl>
                        <p:sldTgt/>
                      </p:tgtEl>
                    </p:cond>
                  </p:endCondLst>
                </p:cTn>
                <p:tgtEl>
                  <p:spTgt spid="15"/>
                </p:tgtEl>
              </p:cMediaNode>
            </p:audio>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4258" name="图片 4"/>
          <p:cNvPicPr>
            <a:picLocks noChangeAspect="1"/>
          </p:cNvPicPr>
          <p:nvPr/>
        </p:nvPicPr>
        <p:blipFill>
          <a:blip r:embed="rId1"/>
          <a:stretch>
            <a:fillRect/>
          </a:stretch>
        </p:blipFill>
        <p:spPr>
          <a:xfrm>
            <a:off x="5214938" y="4060508"/>
            <a:ext cx="3487737" cy="1368425"/>
          </a:xfrm>
          <a:prstGeom prst="rect">
            <a:avLst/>
          </a:prstGeom>
          <a:noFill/>
          <a:ln w="9525">
            <a:noFill/>
          </a:ln>
        </p:spPr>
      </p:pic>
      <p:pic>
        <p:nvPicPr>
          <p:cNvPr id="224259" name="图片 3"/>
          <p:cNvPicPr>
            <a:picLocks noChangeAspect="1"/>
          </p:cNvPicPr>
          <p:nvPr/>
        </p:nvPicPr>
        <p:blipFill>
          <a:blip r:embed="rId2"/>
          <a:stretch>
            <a:fillRect/>
          </a:stretch>
        </p:blipFill>
        <p:spPr>
          <a:xfrm>
            <a:off x="2562225" y="4071620"/>
            <a:ext cx="2305050" cy="1346200"/>
          </a:xfrm>
          <a:prstGeom prst="rect">
            <a:avLst/>
          </a:prstGeom>
          <a:noFill/>
          <a:ln w="9525">
            <a:noFill/>
          </a:ln>
        </p:spPr>
      </p:pic>
      <p:pic>
        <p:nvPicPr>
          <p:cNvPr id="224260" name="图片 2"/>
          <p:cNvPicPr>
            <a:picLocks noChangeAspect="1"/>
          </p:cNvPicPr>
          <p:nvPr/>
        </p:nvPicPr>
        <p:blipFill>
          <a:blip r:embed="rId3"/>
          <a:stretch>
            <a:fillRect/>
          </a:stretch>
        </p:blipFill>
        <p:spPr>
          <a:xfrm>
            <a:off x="541338" y="4062095"/>
            <a:ext cx="1666875" cy="1341438"/>
          </a:xfrm>
          <a:prstGeom prst="rect">
            <a:avLst/>
          </a:prstGeom>
          <a:noFill/>
          <a:ln w="9525">
            <a:noFill/>
          </a:ln>
        </p:spPr>
      </p:pic>
      <p:sp>
        <p:nvSpPr>
          <p:cNvPr id="224262" name="Rectangle 3"/>
          <p:cNvSpPr txBox="1"/>
          <p:nvPr/>
        </p:nvSpPr>
        <p:spPr>
          <a:xfrm>
            <a:off x="457200" y="2927350"/>
            <a:ext cx="8206105" cy="501015"/>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钢琴伴奏音型的长度可以是</a:t>
            </a:r>
            <a:r>
              <a:rPr lang="en-US" altLang="zh-CN" sz="2400" dirty="0">
                <a:latin typeface="Times New Roman" panose="02020603050405020304" pitchFamily="18" charset="0"/>
                <a:ea typeface="楷体_GB2312" pitchFamily="49" charset="-122"/>
                <a:sym typeface="Wingdings" panose="05000000000000000000" pitchFamily="2" charset="2"/>
              </a:rPr>
              <a:t>1</a:t>
            </a:r>
            <a:r>
              <a:rPr lang="zh-CN" altLang="en-US" sz="2400" dirty="0">
                <a:latin typeface="Times New Roman" panose="02020603050405020304" pitchFamily="18" charset="0"/>
                <a:ea typeface="楷体_GB2312" pitchFamily="49" charset="-122"/>
                <a:sym typeface="Wingdings" panose="05000000000000000000" pitchFamily="2" charset="2"/>
              </a:rPr>
              <a:t>小节、</a:t>
            </a:r>
            <a:r>
              <a:rPr lang="en-US" altLang="zh-CN" sz="2400" dirty="0">
                <a:latin typeface="Times New Roman" panose="02020603050405020304" pitchFamily="18" charset="0"/>
                <a:ea typeface="楷体_GB2312" pitchFamily="49" charset="-122"/>
                <a:sym typeface="Wingdings" panose="05000000000000000000" pitchFamily="2" charset="2"/>
              </a:rPr>
              <a:t>2</a:t>
            </a:r>
            <a:r>
              <a:rPr lang="zh-CN" altLang="en-US" sz="2400" dirty="0">
                <a:latin typeface="Times New Roman" panose="02020603050405020304" pitchFamily="18" charset="0"/>
                <a:ea typeface="楷体_GB2312" pitchFamily="49" charset="-122"/>
                <a:sym typeface="Wingdings" panose="05000000000000000000" pitchFamily="2" charset="2"/>
              </a:rPr>
              <a:t>小节或</a:t>
            </a:r>
            <a:r>
              <a:rPr lang="en-US" altLang="zh-CN" sz="2400" dirty="0">
                <a:latin typeface="Times New Roman" panose="02020603050405020304" pitchFamily="18" charset="0"/>
                <a:ea typeface="楷体_GB2312" pitchFamily="49" charset="-122"/>
                <a:sym typeface="Wingdings" panose="05000000000000000000" pitchFamily="2" charset="2"/>
              </a:rPr>
              <a:t>3</a:t>
            </a:r>
            <a:r>
              <a:rPr lang="zh-CN" altLang="en-US" sz="2400" dirty="0">
                <a:latin typeface="Times New Roman" panose="02020603050405020304" pitchFamily="18" charset="0"/>
                <a:ea typeface="楷体_GB2312" pitchFamily="49" charset="-122"/>
                <a:sym typeface="Wingdings" panose="05000000000000000000" pitchFamily="2" charset="2"/>
              </a:rPr>
              <a:t>小节。</a:t>
            </a:r>
            <a:endParaRPr lang="zh-CN" altLang="en-US" sz="2000" dirty="0">
              <a:latin typeface="Times New Roman" panose="02020603050405020304" pitchFamily="18" charset="0"/>
              <a:ea typeface="楷体_GB2312" pitchFamily="49" charset="-122"/>
              <a:sym typeface="Wingdings" panose="05000000000000000000" pitchFamily="2" charset="2"/>
            </a:endParaRPr>
          </a:p>
        </p:txBody>
      </p:sp>
      <p:sp>
        <p:nvSpPr>
          <p:cNvPr id="224263" name="矩形 17"/>
          <p:cNvSpPr/>
          <p:nvPr/>
        </p:nvSpPr>
        <p:spPr>
          <a:xfrm>
            <a:off x="573088" y="4398645"/>
            <a:ext cx="1500187" cy="1131888"/>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4264" name="Rectangle 3"/>
          <p:cNvSpPr txBox="1"/>
          <p:nvPr/>
        </p:nvSpPr>
        <p:spPr>
          <a:xfrm>
            <a:off x="466725" y="5721350"/>
            <a:ext cx="1845945" cy="391795"/>
          </a:xfrm>
          <a:prstGeom prst="rect">
            <a:avLst/>
          </a:prstGeom>
          <a:noFill/>
          <a:ln w="9525">
            <a:noFill/>
          </a:ln>
        </p:spPr>
        <p:txBody>
          <a:bodyPr/>
          <a:p>
            <a:pPr eaLnBrk="1" hangingPunct="1">
              <a:spcBef>
                <a:spcPct val="20000"/>
              </a:spcBef>
            </a:pPr>
            <a:r>
              <a:rPr lang="zh-CN" altLang="en-US" sz="1400" dirty="0">
                <a:solidFill>
                  <a:srgbClr val="00B0F0"/>
                </a:solidFill>
                <a:latin typeface="Times New Roman" panose="02020603050405020304" pitchFamily="18" charset="0"/>
                <a:ea typeface="宋体" panose="02010600030101010101" pitchFamily="2" charset="-122"/>
              </a:rPr>
              <a:t>长度为</a:t>
            </a:r>
            <a:r>
              <a:rPr lang="en-US" altLang="zh-CN" sz="1400" dirty="0">
                <a:solidFill>
                  <a:srgbClr val="00B0F0"/>
                </a:solidFill>
                <a:latin typeface="Times New Roman" panose="02020603050405020304" pitchFamily="18" charset="0"/>
                <a:ea typeface="宋体" panose="02010600030101010101" pitchFamily="2" charset="-122"/>
              </a:rPr>
              <a:t>1</a:t>
            </a:r>
            <a:r>
              <a:rPr lang="zh-CN" altLang="en-US" sz="1400" dirty="0">
                <a:solidFill>
                  <a:srgbClr val="00B0F0"/>
                </a:solidFill>
                <a:latin typeface="Times New Roman" panose="02020603050405020304" pitchFamily="18" charset="0"/>
                <a:ea typeface="宋体" panose="02010600030101010101" pitchFamily="2" charset="-122"/>
              </a:rPr>
              <a:t>小节的钢琴伴奏音型</a:t>
            </a:r>
            <a:endParaRPr lang="zh-CN" altLang="en-US" sz="1400" dirty="0">
              <a:solidFill>
                <a:srgbClr val="00B0F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224266" name="矩形 17"/>
          <p:cNvSpPr/>
          <p:nvPr/>
        </p:nvSpPr>
        <p:spPr>
          <a:xfrm>
            <a:off x="2589213" y="4409758"/>
            <a:ext cx="2195512" cy="1109662"/>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4267" name="矩形 17"/>
          <p:cNvSpPr/>
          <p:nvPr/>
        </p:nvSpPr>
        <p:spPr>
          <a:xfrm>
            <a:off x="5273675" y="4411345"/>
            <a:ext cx="3389313" cy="11334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4268" name="Rectangle 3"/>
          <p:cNvSpPr txBox="1"/>
          <p:nvPr/>
        </p:nvSpPr>
        <p:spPr>
          <a:xfrm>
            <a:off x="2674938" y="5705158"/>
            <a:ext cx="2219325" cy="390525"/>
          </a:xfrm>
          <a:prstGeom prst="rect">
            <a:avLst/>
          </a:prstGeom>
          <a:noFill/>
          <a:ln w="9525">
            <a:noFill/>
          </a:ln>
        </p:spPr>
        <p:txBody>
          <a:bodyPr/>
          <a:p>
            <a:pPr eaLnBrk="1" hangingPunct="1">
              <a:spcBef>
                <a:spcPct val="20000"/>
              </a:spcBef>
            </a:pPr>
            <a:r>
              <a:rPr lang="zh-CN" altLang="en-US" sz="1400" dirty="0">
                <a:solidFill>
                  <a:srgbClr val="00B0F0"/>
                </a:solidFill>
                <a:latin typeface="Times New Roman" panose="02020603050405020304" pitchFamily="18" charset="0"/>
                <a:ea typeface="宋体" panose="02010600030101010101" pitchFamily="2" charset="-122"/>
                <a:sym typeface="+mn-ea"/>
              </a:rPr>
              <a:t>长度为</a:t>
            </a:r>
            <a:r>
              <a:rPr lang="en-US" altLang="zh-CN" sz="1400" dirty="0">
                <a:solidFill>
                  <a:srgbClr val="00B0F0"/>
                </a:solidFill>
                <a:latin typeface="Times New Roman" panose="02020603050405020304" pitchFamily="18" charset="0"/>
                <a:ea typeface="宋体" panose="02010600030101010101" pitchFamily="2" charset="-122"/>
                <a:sym typeface="+mn-ea"/>
              </a:rPr>
              <a:t>2</a:t>
            </a:r>
            <a:r>
              <a:rPr lang="zh-CN" altLang="en-US" sz="1400" dirty="0">
                <a:solidFill>
                  <a:srgbClr val="00B0F0"/>
                </a:solidFill>
                <a:latin typeface="Times New Roman" panose="02020603050405020304" pitchFamily="18" charset="0"/>
                <a:ea typeface="宋体" panose="02010600030101010101" pitchFamily="2" charset="-122"/>
                <a:sym typeface="+mn-ea"/>
              </a:rPr>
              <a:t>小节的钢琴伴奏音型</a:t>
            </a:r>
            <a:endParaRPr lang="en-US" altLang="zh-CN" sz="1400" dirty="0">
              <a:solidFill>
                <a:srgbClr val="00B0F0"/>
              </a:solidFill>
              <a:latin typeface="Times New Roman" panose="02020603050405020304" pitchFamily="18" charset="0"/>
              <a:ea typeface="宋体" panose="02010600030101010101" pitchFamily="2" charset="-122"/>
              <a:sym typeface="Wingdings" panose="05000000000000000000" pitchFamily="2" charset="2"/>
            </a:endParaRPr>
          </a:p>
        </p:txBody>
      </p:sp>
      <p:sp>
        <p:nvSpPr>
          <p:cNvPr id="224269" name="Rectangle 3"/>
          <p:cNvSpPr txBox="1"/>
          <p:nvPr/>
        </p:nvSpPr>
        <p:spPr>
          <a:xfrm>
            <a:off x="5241925" y="5760720"/>
            <a:ext cx="3390900" cy="387350"/>
          </a:xfrm>
          <a:prstGeom prst="rect">
            <a:avLst/>
          </a:prstGeom>
          <a:noFill/>
          <a:ln w="9525">
            <a:noFill/>
          </a:ln>
        </p:spPr>
        <p:txBody>
          <a:bodyPr/>
          <a:p>
            <a:pPr eaLnBrk="1" hangingPunct="1">
              <a:spcBef>
                <a:spcPct val="20000"/>
              </a:spcBef>
            </a:pPr>
            <a:r>
              <a:rPr lang="zh-CN" altLang="en-US" sz="1400" dirty="0">
                <a:solidFill>
                  <a:srgbClr val="00B0F0"/>
                </a:solidFill>
                <a:latin typeface="Times New Roman" panose="02020603050405020304" pitchFamily="18" charset="0"/>
                <a:ea typeface="宋体" panose="02010600030101010101" pitchFamily="2" charset="-122"/>
                <a:sym typeface="+mn-ea"/>
              </a:rPr>
              <a:t>长度为</a:t>
            </a:r>
            <a:r>
              <a:rPr lang="en-US" altLang="zh-CN" sz="1400" dirty="0">
                <a:solidFill>
                  <a:srgbClr val="00B0F0"/>
                </a:solidFill>
                <a:latin typeface="Times New Roman" panose="02020603050405020304" pitchFamily="18" charset="0"/>
                <a:ea typeface="宋体" panose="02010600030101010101" pitchFamily="2" charset="-122"/>
                <a:sym typeface="+mn-ea"/>
              </a:rPr>
              <a:t>3</a:t>
            </a:r>
            <a:r>
              <a:rPr lang="zh-CN" altLang="en-US" sz="1400" dirty="0">
                <a:solidFill>
                  <a:srgbClr val="00B0F0"/>
                </a:solidFill>
                <a:latin typeface="Times New Roman" panose="02020603050405020304" pitchFamily="18" charset="0"/>
                <a:ea typeface="宋体" panose="02010600030101010101" pitchFamily="2" charset="-122"/>
                <a:sym typeface="+mn-ea"/>
              </a:rPr>
              <a:t>小节的钢琴伴奏音型</a:t>
            </a:r>
            <a:endParaRPr lang="en-US" altLang="zh-CN" sz="1400" dirty="0">
              <a:solidFill>
                <a:srgbClr val="00B0F0"/>
              </a:solidFill>
              <a:latin typeface="Times New Roman" panose="02020603050405020304" pitchFamily="18" charset="0"/>
              <a:ea typeface="宋体" panose="02010600030101010101" pitchFamily="2" charset="-122"/>
              <a:sym typeface="Wingdings" panose="05000000000000000000" pitchFamily="2" charset="2"/>
            </a:endParaRPr>
          </a:p>
        </p:txBody>
      </p:sp>
      <p:cxnSp>
        <p:nvCxnSpPr>
          <p:cNvPr id="9" name="直接连接符 8"/>
          <p:cNvCxnSpPr/>
          <p:nvPr/>
        </p:nvCxnSpPr>
        <p:spPr>
          <a:xfrm>
            <a:off x="1347788" y="5519420"/>
            <a:ext cx="52388" cy="2540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621405" y="5519420"/>
            <a:ext cx="52388" cy="2540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019925" y="5544820"/>
            <a:ext cx="52388" cy="25400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222210" name="Rectangle 3"/>
          <p:cNvSpPr txBox="1"/>
          <p:nvPr/>
        </p:nvSpPr>
        <p:spPr>
          <a:xfrm>
            <a:off x="182563" y="2101850"/>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16080"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3"/>
          <p:cNvSpPr txBox="1"/>
          <p:nvPr/>
        </p:nvSpPr>
        <p:spPr>
          <a:xfrm>
            <a:off x="182563"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26307" name="Rectangle 3"/>
          <p:cNvSpPr txBox="1"/>
          <p:nvPr/>
        </p:nvSpPr>
        <p:spPr>
          <a:xfrm>
            <a:off x="457200" y="2927350"/>
            <a:ext cx="8313738" cy="7747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000" dirty="0">
                <a:latin typeface="Times New Roman" panose="02020603050405020304" pitchFamily="18" charset="0"/>
                <a:ea typeface="楷体_GB2312" pitchFamily="49" charset="-122"/>
                <a:sym typeface="Wingdings" panose="05000000000000000000" pitchFamily="2" charset="2"/>
              </a:rPr>
              <a:t>我们引入一个称为钢琴伴奏音型元结构（以后，简称元结构）的概念。它将用在我们研发的自动钢琴伴奏系统中。元结构是一个的长度为</a:t>
            </a:r>
            <a:r>
              <a:rPr lang="en-US" altLang="zh-CN" sz="2000" dirty="0">
                <a:latin typeface="Times New Roman" panose="02020603050405020304" pitchFamily="18" charset="0"/>
                <a:ea typeface="楷体_GB2312" pitchFamily="49" charset="-122"/>
                <a:sym typeface="Wingdings" panose="05000000000000000000" pitchFamily="2" charset="2"/>
              </a:rPr>
              <a:t>1</a:t>
            </a:r>
            <a:r>
              <a:rPr lang="zh-CN" altLang="en-US" sz="2000" dirty="0">
                <a:latin typeface="Times New Roman" panose="02020603050405020304" pitchFamily="18" charset="0"/>
                <a:ea typeface="楷体_GB2312" pitchFamily="49" charset="-122"/>
                <a:sym typeface="Wingdings" panose="05000000000000000000" pitchFamily="2" charset="2"/>
              </a:rPr>
              <a:t>小节、</a:t>
            </a:r>
            <a:r>
              <a:rPr lang="en-US" altLang="zh-CN" sz="2000" dirty="0">
                <a:latin typeface="Times New Roman" panose="02020603050405020304" pitchFamily="18" charset="0"/>
                <a:ea typeface="楷体_GB2312" pitchFamily="49" charset="-122"/>
                <a:sym typeface="Wingdings" panose="05000000000000000000" pitchFamily="2" charset="2"/>
              </a:rPr>
              <a:t>2</a:t>
            </a:r>
            <a:r>
              <a:rPr lang="zh-CN" altLang="en-US" sz="2000" dirty="0">
                <a:latin typeface="Times New Roman" panose="02020603050405020304" pitchFamily="18" charset="0"/>
                <a:ea typeface="楷体_GB2312" pitchFamily="49" charset="-122"/>
                <a:sym typeface="Wingdings" panose="05000000000000000000" pitchFamily="2" charset="2"/>
              </a:rPr>
              <a:t>小节或</a:t>
            </a:r>
            <a:r>
              <a:rPr lang="en-US" altLang="zh-CN" sz="2000" dirty="0">
                <a:latin typeface="Times New Roman" panose="02020603050405020304" pitchFamily="18" charset="0"/>
                <a:ea typeface="楷体_GB2312" pitchFamily="49" charset="-122"/>
                <a:sym typeface="Wingdings" panose="05000000000000000000" pitchFamily="2" charset="2"/>
              </a:rPr>
              <a:t>3</a:t>
            </a:r>
            <a:r>
              <a:rPr lang="zh-CN" altLang="en-US" sz="2000" dirty="0">
                <a:latin typeface="Times New Roman" panose="02020603050405020304" pitchFamily="18" charset="0"/>
                <a:ea typeface="楷体_GB2312" pitchFamily="49" charset="-122"/>
                <a:sym typeface="Wingdings" panose="05000000000000000000" pitchFamily="2" charset="2"/>
              </a:rPr>
              <a:t>小节的钢琴伴奏音型，且所有音符音高信息用与根音的音程取代。</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26309" name="Rectangle 3"/>
          <p:cNvSpPr txBox="1"/>
          <p:nvPr/>
        </p:nvSpPr>
        <p:spPr>
          <a:xfrm>
            <a:off x="1755775" y="6216650"/>
            <a:ext cx="5468620" cy="408305"/>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000" dirty="0">
                <a:latin typeface="Times New Roman" panose="02020603050405020304" pitchFamily="18" charset="0"/>
                <a:ea typeface="楷体_GB2312" pitchFamily="49" charset="-122"/>
                <a:sym typeface="Wingdings" panose="05000000000000000000" pitchFamily="2" charset="2"/>
              </a:rPr>
              <a:t>一个</a:t>
            </a:r>
            <a:r>
              <a:rPr lang="en-US" altLang="zh-CN" sz="2000" dirty="0">
                <a:latin typeface="Times New Roman" panose="02020603050405020304" pitchFamily="18" charset="0"/>
                <a:ea typeface="楷体_GB2312" pitchFamily="49" charset="-122"/>
                <a:sym typeface="Wingdings" panose="05000000000000000000" pitchFamily="2" charset="2"/>
              </a:rPr>
              <a:t>3</a:t>
            </a:r>
            <a:r>
              <a:rPr lang="zh-CN" altLang="en-US" sz="2000" dirty="0">
                <a:latin typeface="Times New Roman" panose="02020603050405020304" pitchFamily="18" charset="0"/>
                <a:ea typeface="楷体_GB2312" pitchFamily="49" charset="-122"/>
                <a:sym typeface="Wingdings" panose="05000000000000000000" pitchFamily="2" charset="2"/>
              </a:rPr>
              <a:t>小节</a:t>
            </a:r>
            <a:r>
              <a:rPr lang="zh-CN" altLang="en-US" sz="2000" dirty="0">
                <a:latin typeface="Times New Roman" panose="02020603050405020304" pitchFamily="18" charset="0"/>
                <a:ea typeface="楷体_GB2312" pitchFamily="49" charset="-122"/>
                <a:sym typeface="Wingdings" panose="05000000000000000000" pitchFamily="2" charset="2"/>
              </a:rPr>
              <a:t>长度的钢琴伴奏音型元结构</a:t>
            </a:r>
            <a:endParaRPr lang="zh-CN" altLang="en-US" sz="2000" dirty="0">
              <a:latin typeface="Times New Roman" panose="02020603050405020304" pitchFamily="18" charset="0"/>
              <a:ea typeface="楷体_GB2312" pitchFamily="49" charset="-122"/>
              <a:sym typeface="Wingdings" panose="05000000000000000000" pitchFamily="2" charset="2"/>
            </a:endParaRPr>
          </a:p>
        </p:txBody>
      </p:sp>
      <p:pic>
        <p:nvPicPr>
          <p:cNvPr id="226310" name="图片 1"/>
          <p:cNvPicPr>
            <a:picLocks noChangeAspect="1"/>
          </p:cNvPicPr>
          <p:nvPr/>
        </p:nvPicPr>
        <p:blipFill>
          <a:blip r:embed="rId1"/>
          <a:stretch>
            <a:fillRect/>
          </a:stretch>
        </p:blipFill>
        <p:spPr>
          <a:xfrm>
            <a:off x="1581150" y="4375150"/>
            <a:ext cx="5732463" cy="1778000"/>
          </a:xfrm>
          <a:prstGeom prst="rect">
            <a:avLst/>
          </a:prstGeom>
          <a:noFill/>
          <a:ln w="9525">
            <a:noFill/>
          </a:ln>
        </p:spPr>
      </p:pic>
      <p:sp>
        <p:nvSpPr>
          <p:cNvPr id="226311" name="矩形 17"/>
          <p:cNvSpPr/>
          <p:nvPr/>
        </p:nvSpPr>
        <p:spPr>
          <a:xfrm>
            <a:off x="2127250" y="4546600"/>
            <a:ext cx="5076825" cy="157162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16080" name="Rectangle 2"/>
          <p:cNvSpPr>
            <a:spLocks noGrp="1"/>
          </p:cNvSpPr>
          <p:nvPr>
            <p:ph type="title"/>
          </p:nvPr>
        </p:nvSpPr>
        <p:spPr>
          <a:xfrm>
            <a:off x="250825" y="631825"/>
            <a:ext cx="8712200" cy="1143000"/>
          </a:xfrm>
        </p:spPr>
        <p:txBody>
          <a:bodyPr vert="horz" wrap="square" lIns="91440" tIns="45720" rIns="91440" bIns="45720" anchor="ctr"/>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5" name="Rectangle 3"/>
          <p:cNvSpPr txBox="1"/>
          <p:nvPr/>
        </p:nvSpPr>
        <p:spPr>
          <a:xfrm>
            <a:off x="457200" y="2927350"/>
            <a:ext cx="8313738" cy="7747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一个钢琴伴奏音型元结构可以从一首现有的钢琴伴奏乐谱中的某个钢琴伴奏音型转换而来。</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pic>
        <p:nvPicPr>
          <p:cNvPr id="228357" name="Picture 4"/>
          <p:cNvPicPr>
            <a:picLocks noChangeAspect="1"/>
          </p:cNvPicPr>
          <p:nvPr/>
        </p:nvPicPr>
        <p:blipFill>
          <a:blip r:embed="rId1"/>
          <a:stretch>
            <a:fillRect/>
          </a:stretch>
        </p:blipFill>
        <p:spPr>
          <a:xfrm>
            <a:off x="547688" y="3765550"/>
            <a:ext cx="3692525" cy="1466850"/>
          </a:xfrm>
          <a:prstGeom prst="rect">
            <a:avLst/>
          </a:prstGeom>
          <a:noFill/>
          <a:ln w="9525">
            <a:noFill/>
          </a:ln>
        </p:spPr>
      </p:pic>
      <p:pic>
        <p:nvPicPr>
          <p:cNvPr id="228358" name="图片 1"/>
          <p:cNvPicPr>
            <a:picLocks noChangeAspect="1"/>
          </p:cNvPicPr>
          <p:nvPr/>
        </p:nvPicPr>
        <p:blipFill>
          <a:blip r:embed="rId2"/>
          <a:stretch>
            <a:fillRect/>
          </a:stretch>
        </p:blipFill>
        <p:spPr>
          <a:xfrm>
            <a:off x="4343400" y="5232400"/>
            <a:ext cx="4203700" cy="1303338"/>
          </a:xfrm>
          <a:prstGeom prst="rect">
            <a:avLst/>
          </a:prstGeom>
          <a:noFill/>
          <a:ln w="9525">
            <a:noFill/>
          </a:ln>
        </p:spPr>
      </p:pic>
      <p:sp>
        <p:nvSpPr>
          <p:cNvPr id="228359" name="矩形 17"/>
          <p:cNvSpPr/>
          <p:nvPr/>
        </p:nvSpPr>
        <p:spPr>
          <a:xfrm>
            <a:off x="547688" y="4187825"/>
            <a:ext cx="3727450" cy="1133475"/>
          </a:xfrm>
          <a:prstGeom prst="rect">
            <a:avLst/>
          </a:prstGeom>
          <a:noFill/>
          <a:ln w="38100" cap="flat" cmpd="sng">
            <a:solidFill>
              <a:srgbClr val="00B0F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28360" name="圆角右箭头 3"/>
          <p:cNvSpPr/>
          <p:nvPr/>
        </p:nvSpPr>
        <p:spPr>
          <a:xfrm flipV="1">
            <a:off x="1981200" y="5283200"/>
            <a:ext cx="2397125" cy="836613"/>
          </a:xfrm>
          <a:custGeom>
            <a:avLst/>
            <a:gdLst/>
            <a:ahLst/>
            <a:cxnLst>
              <a:cxn ang="0">
                <a:pos x="0" y="836613"/>
              </a:cxn>
              <a:cxn ang="0">
                <a:pos x="0" y="470595"/>
              </a:cxn>
              <a:cxn ang="0">
                <a:pos x="366253" y="104577"/>
              </a:cxn>
              <a:cxn ang="0">
                <a:pos x="2187837" y="104576"/>
              </a:cxn>
              <a:cxn ang="0">
                <a:pos x="2187837" y="0"/>
              </a:cxn>
              <a:cxn ang="0">
                <a:pos x="2397125" y="209153"/>
              </a:cxn>
              <a:cxn ang="0">
                <a:pos x="2187837" y="418307"/>
              </a:cxn>
              <a:cxn ang="0">
                <a:pos x="2187837" y="313729"/>
              </a:cxn>
              <a:cxn ang="0">
                <a:pos x="366253" y="313729"/>
              </a:cxn>
              <a:cxn ang="0">
                <a:pos x="209287" y="470594"/>
              </a:cxn>
              <a:cxn ang="0">
                <a:pos x="209287" y="836613"/>
              </a:cxn>
            </a:cxnLst>
            <a:pathLst>
              <a:path w="2396490" h="836930">
                <a:moveTo>
                  <a:pt x="0" y="836930"/>
                </a:moveTo>
                <a:lnTo>
                  <a:pt x="0" y="470773"/>
                </a:lnTo>
                <a:cubicBezTo>
                  <a:pt x="0" y="268551"/>
                  <a:pt x="163934" y="104617"/>
                  <a:pt x="366156" y="104617"/>
                </a:cubicBezTo>
                <a:lnTo>
                  <a:pt x="2187257" y="104616"/>
                </a:lnTo>
                <a:lnTo>
                  <a:pt x="2187257" y="0"/>
                </a:lnTo>
                <a:lnTo>
                  <a:pt x="2396490" y="209232"/>
                </a:lnTo>
                <a:lnTo>
                  <a:pt x="2187257" y="418465"/>
                </a:lnTo>
                <a:lnTo>
                  <a:pt x="2187257" y="313848"/>
                </a:lnTo>
                <a:lnTo>
                  <a:pt x="366156" y="313848"/>
                </a:lnTo>
                <a:cubicBezTo>
                  <a:pt x="279489" y="313848"/>
                  <a:pt x="209232" y="384105"/>
                  <a:pt x="209232" y="470772"/>
                </a:cubicBezTo>
                <a:lnTo>
                  <a:pt x="209232" y="836930"/>
                </a:lnTo>
                <a:lnTo>
                  <a:pt x="0" y="836930"/>
                </a:lnTo>
                <a:close/>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28361" name="Rectangle 3"/>
          <p:cNvSpPr txBox="1"/>
          <p:nvPr/>
        </p:nvSpPr>
        <p:spPr>
          <a:xfrm>
            <a:off x="5026025" y="6464300"/>
            <a:ext cx="2624455" cy="48133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一个钢琴伴奏音型元结构</a:t>
            </a:r>
            <a:r>
              <a:rPr lang="en-US" altLang="zh-CN" sz="2000" dirty="0">
                <a:latin typeface="Times New Roman" panose="02020603050405020304" pitchFamily="18" charset="0"/>
                <a:ea typeface="楷体_GB2312" pitchFamily="49" charset="-122"/>
                <a:sym typeface="Wingdings" panose="05000000000000000000" pitchFamily="2" charset="2"/>
              </a:rPr>
              <a:t> </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28362" name="Rectangle 3"/>
          <p:cNvSpPr txBox="1"/>
          <p:nvPr/>
        </p:nvSpPr>
        <p:spPr>
          <a:xfrm>
            <a:off x="5010150" y="4008438"/>
            <a:ext cx="3587750" cy="481012"/>
          </a:xfrm>
          <a:prstGeom prst="rect">
            <a:avLst/>
          </a:prstGeom>
          <a:noFill/>
          <a:ln w="9525">
            <a:noFill/>
          </a:ln>
        </p:spPr>
        <p:txBody>
          <a:bodyPr/>
          <a:p>
            <a:pPr eaLnBrk="1" hangingPunct="1">
              <a:spcBef>
                <a:spcPct val="20000"/>
              </a:spcBef>
            </a:pPr>
            <a:r>
              <a:rPr lang="zh-CN" altLang="en-US" sz="2000" dirty="0">
                <a:latin typeface="Times New Roman" panose="02020603050405020304" pitchFamily="18" charset="0"/>
                <a:ea typeface="楷体_GB2312" pitchFamily="49" charset="-122"/>
                <a:sym typeface="Wingdings" panose="05000000000000000000" pitchFamily="2" charset="2"/>
              </a:rPr>
              <a:t>现有钢琴伴奏乐谱中的一个钢琴伴奏音型</a:t>
            </a:r>
            <a:endParaRPr lang="zh-CN" altLang="en-US" sz="2000" dirty="0">
              <a:latin typeface="Times New Roman" panose="02020603050405020304" pitchFamily="18" charset="0"/>
              <a:ea typeface="楷体_GB2312" pitchFamily="49" charset="-122"/>
              <a:sym typeface="Wingdings" panose="05000000000000000000" pitchFamily="2" charset="2"/>
            </a:endParaRPr>
          </a:p>
        </p:txBody>
      </p:sp>
      <p:cxnSp>
        <p:nvCxnSpPr>
          <p:cNvPr id="228363" name="直接箭头连接符 2"/>
          <p:cNvCxnSpPr>
            <a:stCxn id="228362" idx="1"/>
          </p:cNvCxnSpPr>
          <p:nvPr/>
        </p:nvCxnSpPr>
        <p:spPr>
          <a:xfrm flipH="1">
            <a:off x="4283075" y="4248150"/>
            <a:ext cx="727075" cy="333375"/>
          </a:xfrm>
          <a:prstGeom prst="straightConnector1">
            <a:avLst/>
          </a:prstGeom>
          <a:ln w="28575" cap="flat" cmpd="sng">
            <a:solidFill>
              <a:srgbClr val="00B0F0"/>
            </a:solidFill>
            <a:prstDash val="solid"/>
            <a:headEnd type="none" w="med" len="med"/>
            <a:tailEnd type="arrow" w="med" len="med"/>
          </a:ln>
        </p:spPr>
      </p:cxnSp>
      <p:sp>
        <p:nvSpPr>
          <p:cNvPr id="228364" name="矩形 17"/>
          <p:cNvSpPr/>
          <p:nvPr/>
        </p:nvSpPr>
        <p:spPr>
          <a:xfrm>
            <a:off x="4406900" y="5346700"/>
            <a:ext cx="4098925" cy="117792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0402" name="图片 1"/>
          <p:cNvPicPr>
            <a:picLocks noChangeAspect="1"/>
          </p:cNvPicPr>
          <p:nvPr/>
        </p:nvPicPr>
        <p:blipFill>
          <a:blip r:embed="rId1"/>
          <a:stretch>
            <a:fillRect/>
          </a:stretch>
        </p:blipFill>
        <p:spPr>
          <a:xfrm>
            <a:off x="1485900" y="3757613"/>
            <a:ext cx="6540500" cy="2598737"/>
          </a:xfrm>
          <a:prstGeom prst="rect">
            <a:avLst/>
          </a:prstGeom>
          <a:noFill/>
          <a:ln w="9525">
            <a:noFill/>
          </a:ln>
        </p:spPr>
      </p:pic>
      <p:sp>
        <p:nvSpPr>
          <p:cNvPr id="230404" name="Rectangle 3"/>
          <p:cNvSpPr txBox="1"/>
          <p:nvPr/>
        </p:nvSpPr>
        <p:spPr>
          <a:xfrm>
            <a:off x="457200" y="2855913"/>
            <a:ext cx="8313738" cy="769937"/>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元结构中有二种类型变元，分别称为</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和弦根音变元</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与</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旋律变元。</a:t>
            </a:r>
            <a:r>
              <a:rPr lang="en-US" altLang="zh-CN" sz="2000" dirty="0">
                <a:latin typeface="Times New Roman" panose="02020603050405020304" pitchFamily="18" charset="0"/>
                <a:ea typeface="楷体_GB2312" pitchFamily="49" charset="-122"/>
                <a:sym typeface="Wingdings" panose="05000000000000000000" pitchFamily="2" charset="2"/>
              </a:rPr>
              <a:t> </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30406" name="Rectangle 3"/>
          <p:cNvSpPr txBox="1"/>
          <p:nvPr/>
        </p:nvSpPr>
        <p:spPr>
          <a:xfrm>
            <a:off x="2059940" y="6360160"/>
            <a:ext cx="4627245" cy="40767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zh-CN" altLang="en-US" sz="1800" dirty="0">
                <a:latin typeface="Times New Roman" panose="02020603050405020304" pitchFamily="18" charset="0"/>
                <a:ea typeface="楷体_GB2312" pitchFamily="49" charset="-122"/>
                <a:sym typeface="Wingdings" panose="05000000000000000000" pitchFamily="2" charset="2"/>
              </a:rPr>
              <a:t>一个三小节长的钢琴伴奏音型元结构</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
        <p:nvSpPr>
          <p:cNvPr id="230407" name="矩形 4"/>
          <p:cNvSpPr/>
          <p:nvPr/>
        </p:nvSpPr>
        <p:spPr>
          <a:xfrm>
            <a:off x="1524000" y="3860800"/>
            <a:ext cx="6221413" cy="504825"/>
          </a:xfrm>
          <a:prstGeom prst="rect">
            <a:avLst/>
          </a:prstGeom>
          <a:noFill/>
          <a:ln w="19050" cap="flat" cmpd="sng">
            <a:solidFill>
              <a:srgbClr val="C0000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0408" name="Rectangle 3"/>
          <p:cNvSpPr txBox="1"/>
          <p:nvPr/>
        </p:nvSpPr>
        <p:spPr>
          <a:xfrm>
            <a:off x="7742238" y="3408363"/>
            <a:ext cx="1465262" cy="346075"/>
          </a:xfrm>
          <a:prstGeom prst="rect">
            <a:avLst/>
          </a:prstGeom>
          <a:noFill/>
          <a:ln w="9525">
            <a:noFill/>
          </a:ln>
        </p:spPr>
        <p:txBody>
          <a:bodyPr/>
          <a:p>
            <a:pPr eaLnBrk="1" hangingPunct="1">
              <a:spcBef>
                <a:spcPct val="20000"/>
              </a:spcBef>
            </a:pPr>
            <a:r>
              <a:rPr lang="en-US" altLang="zh-CN" sz="1600" dirty="0">
                <a:solidFill>
                  <a:srgbClr val="C00000"/>
                </a:solidFill>
                <a:latin typeface="Times New Roman" panose="02020603050405020304" pitchFamily="18" charset="0"/>
                <a:ea typeface="楷体_GB2312" pitchFamily="49" charset="-122"/>
                <a:sym typeface="Wingdings" panose="05000000000000000000" pitchFamily="2" charset="2"/>
              </a:rPr>
              <a:t>melodic voice</a:t>
            </a:r>
            <a:endParaRPr lang="en-US" altLang="zh-CN" sz="1600" dirty="0">
              <a:solidFill>
                <a:srgbClr val="C00000"/>
              </a:solidFill>
              <a:latin typeface="Times New Roman" panose="02020603050405020304" pitchFamily="18" charset="0"/>
              <a:ea typeface="楷体_GB2312" pitchFamily="49" charset="-122"/>
              <a:sym typeface="Wingdings" panose="05000000000000000000" pitchFamily="2" charset="2"/>
            </a:endParaRPr>
          </a:p>
        </p:txBody>
      </p:sp>
      <p:cxnSp>
        <p:nvCxnSpPr>
          <p:cNvPr id="230409" name="直接连接符 6"/>
          <p:cNvCxnSpPr/>
          <p:nvPr/>
        </p:nvCxnSpPr>
        <p:spPr>
          <a:xfrm flipH="1">
            <a:off x="7740650" y="3663950"/>
            <a:ext cx="384175" cy="269875"/>
          </a:xfrm>
          <a:prstGeom prst="line">
            <a:avLst/>
          </a:prstGeom>
          <a:ln w="19050" cap="flat" cmpd="sng">
            <a:solidFill>
              <a:srgbClr val="FF0000"/>
            </a:solidFill>
            <a:prstDash val="solid"/>
            <a:headEnd type="none" w="med" len="med"/>
            <a:tailEnd type="none" w="med" len="med"/>
          </a:ln>
        </p:spPr>
      </p:cxnSp>
      <p:sp>
        <p:nvSpPr>
          <p:cNvPr id="230410" name="Rectangle 68"/>
          <p:cNvSpPr/>
          <p:nvPr/>
        </p:nvSpPr>
        <p:spPr>
          <a:xfrm>
            <a:off x="1963738" y="3816350"/>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0411" name="Rectangle 68"/>
          <p:cNvSpPr/>
          <p:nvPr/>
        </p:nvSpPr>
        <p:spPr>
          <a:xfrm>
            <a:off x="4027488" y="3798888"/>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cxnSp>
        <p:nvCxnSpPr>
          <p:cNvPr id="230412" name="直接连接符 11"/>
          <p:cNvCxnSpPr/>
          <p:nvPr/>
        </p:nvCxnSpPr>
        <p:spPr>
          <a:xfrm flipH="1">
            <a:off x="1187450" y="4437063"/>
            <a:ext cx="720725" cy="720725"/>
          </a:xfrm>
          <a:prstGeom prst="line">
            <a:avLst/>
          </a:prstGeom>
          <a:ln w="28575" cap="flat" cmpd="sng">
            <a:solidFill>
              <a:srgbClr val="FF0000"/>
            </a:solidFill>
            <a:prstDash val="solid"/>
            <a:headEnd type="none" w="med" len="med"/>
            <a:tailEnd type="none" w="med" len="med"/>
          </a:ln>
        </p:spPr>
      </p:cxnSp>
      <p:sp>
        <p:nvSpPr>
          <p:cNvPr id="230413" name="Rectangle 68"/>
          <p:cNvSpPr/>
          <p:nvPr/>
        </p:nvSpPr>
        <p:spPr>
          <a:xfrm>
            <a:off x="6019800" y="3783013"/>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0414" name="Rectangle 3"/>
          <p:cNvSpPr txBox="1"/>
          <p:nvPr/>
        </p:nvSpPr>
        <p:spPr>
          <a:xfrm>
            <a:off x="119063" y="4826000"/>
            <a:ext cx="1465262" cy="347663"/>
          </a:xfrm>
          <a:prstGeom prst="rect">
            <a:avLst/>
          </a:prstGeom>
          <a:noFill/>
          <a:ln w="9525">
            <a:noFill/>
          </a:ln>
        </p:spPr>
        <p:txBody>
          <a:bodyPr/>
          <a:p>
            <a:pPr eaLnBrk="1" hangingPunct="1"/>
            <a:r>
              <a:rPr lang="zh-CN" altLang="en-US" sz="1600" dirty="0">
                <a:latin typeface="Times New Roman" panose="02020603050405020304" pitchFamily="18" charset="0"/>
                <a:ea typeface="宋体" panose="02010600030101010101" pitchFamily="2" charset="-122"/>
              </a:rPr>
              <a:t>用于计算最优特征</a:t>
            </a:r>
            <a:r>
              <a:rPr lang="zh-CN" altLang="en-US" sz="1600" dirty="0">
                <a:solidFill>
                  <a:srgbClr val="FF0000"/>
                </a:solidFill>
                <a:latin typeface="Times New Roman" panose="02020603050405020304" pitchFamily="18" charset="0"/>
                <a:ea typeface="宋体" panose="02010600030101010101" pitchFamily="2" charset="-122"/>
              </a:rPr>
              <a:t>和弦</a:t>
            </a:r>
            <a:r>
              <a:rPr lang="zh-CN" altLang="en-US" sz="1600" dirty="0">
                <a:latin typeface="Times New Roman" panose="02020603050405020304" pitchFamily="18" charset="0"/>
                <a:ea typeface="宋体" panose="02010600030101010101" pitchFamily="2" charset="-122"/>
              </a:rPr>
              <a:t>的</a:t>
            </a:r>
            <a:r>
              <a:rPr lang="zh-CN" altLang="en-US" sz="1600" dirty="0">
                <a:solidFill>
                  <a:srgbClr val="FF0000"/>
                </a:solidFill>
                <a:latin typeface="Times New Roman" panose="02020603050405020304" pitchFamily="18" charset="0"/>
                <a:ea typeface="宋体" panose="02010600030101010101" pitchFamily="2" charset="-122"/>
              </a:rPr>
              <a:t>多声部音群</a:t>
            </a:r>
            <a:r>
              <a:rPr lang="en-US" altLang="zh-CN" sz="1600" dirty="0">
                <a:solidFill>
                  <a:srgbClr val="FF0000"/>
                </a:solidFill>
                <a:latin typeface="宋体" panose="02010600030101010101" pitchFamily="2" charset="-122"/>
                <a:ea typeface="宋体" panose="02010600030101010101" pitchFamily="2" charset="-122"/>
              </a:rPr>
              <a:t> </a:t>
            </a:r>
            <a:endParaRPr lang="en-US" altLang="zh-CN" sz="1600" b="1" dirty="0">
              <a:solidFill>
                <a:srgbClr val="FF0000"/>
              </a:solidFill>
              <a:latin typeface="宋体" panose="02010600030101010101" pitchFamily="2" charset="-122"/>
              <a:ea typeface="宋体" panose="02010600030101010101" pitchFamily="2" charset="-122"/>
            </a:endParaRPr>
          </a:p>
        </p:txBody>
      </p:sp>
      <p:cxnSp>
        <p:nvCxnSpPr>
          <p:cNvPr id="230415" name="直接连接符 14"/>
          <p:cNvCxnSpPr/>
          <p:nvPr/>
        </p:nvCxnSpPr>
        <p:spPr>
          <a:xfrm flipH="1">
            <a:off x="1187450" y="4725988"/>
            <a:ext cx="2736850" cy="431800"/>
          </a:xfrm>
          <a:prstGeom prst="line">
            <a:avLst/>
          </a:prstGeom>
          <a:ln w="28575" cap="flat" cmpd="sng">
            <a:solidFill>
              <a:srgbClr val="FF0000"/>
            </a:solidFill>
            <a:prstDash val="solid"/>
            <a:headEnd type="none" w="med" len="med"/>
            <a:tailEnd type="none" w="med" len="med"/>
          </a:ln>
        </p:spPr>
      </p:cxnSp>
      <p:cxnSp>
        <p:nvCxnSpPr>
          <p:cNvPr id="230416" name="直接连接符 15"/>
          <p:cNvCxnSpPr/>
          <p:nvPr/>
        </p:nvCxnSpPr>
        <p:spPr>
          <a:xfrm flipH="1">
            <a:off x="1187450" y="4797425"/>
            <a:ext cx="4824413" cy="360363"/>
          </a:xfrm>
          <a:prstGeom prst="line">
            <a:avLst/>
          </a:prstGeom>
          <a:ln w="28575" cap="flat" cmpd="sng">
            <a:solidFill>
              <a:srgbClr val="FF0000"/>
            </a:solidFill>
            <a:prstDash val="solid"/>
            <a:headEnd type="none" w="med" len="med"/>
            <a:tailEnd type="none" w="med" len="med"/>
          </a:ln>
        </p:spPr>
      </p:cxnSp>
      <p:sp>
        <p:nvSpPr>
          <p:cNvPr id="230417" name="矩形 17"/>
          <p:cNvSpPr/>
          <p:nvPr/>
        </p:nvSpPr>
        <p:spPr>
          <a:xfrm>
            <a:off x="1549400" y="4681538"/>
            <a:ext cx="6342063" cy="16065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2450" name="图片 1"/>
          <p:cNvPicPr>
            <a:picLocks noChangeAspect="1"/>
          </p:cNvPicPr>
          <p:nvPr/>
        </p:nvPicPr>
        <p:blipFill>
          <a:blip r:embed="rId1"/>
          <a:stretch>
            <a:fillRect/>
          </a:stretch>
        </p:blipFill>
        <p:spPr>
          <a:xfrm>
            <a:off x="1485900" y="3757613"/>
            <a:ext cx="6540500" cy="2598737"/>
          </a:xfrm>
          <a:prstGeom prst="rect">
            <a:avLst/>
          </a:prstGeom>
          <a:noFill/>
          <a:ln w="9525">
            <a:noFill/>
          </a:ln>
        </p:spPr>
      </p:pic>
      <p:sp>
        <p:nvSpPr>
          <p:cNvPr id="232452" name="Rectangle 3"/>
          <p:cNvSpPr txBox="1"/>
          <p:nvPr/>
        </p:nvSpPr>
        <p:spPr>
          <a:xfrm>
            <a:off x="457200" y="2497455"/>
            <a:ext cx="7897813" cy="769938"/>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和弦根音变元</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指出在一拍子或一小节范围内的由</a:t>
            </a:r>
            <a:r>
              <a:rPr lang="zh-CN" altLang="en-US" sz="2400" dirty="0">
                <a:solidFill>
                  <a:srgbClr val="00B050"/>
                </a:solidFill>
                <a:latin typeface="Times New Roman" panose="02020603050405020304" pitchFamily="18" charset="0"/>
                <a:ea typeface="楷体_GB2312" pitchFamily="49" charset="-122"/>
                <a:sym typeface="Wingdings" panose="05000000000000000000" pitchFamily="2" charset="2"/>
              </a:rPr>
              <a:t>未知旋律片段</a:t>
            </a:r>
            <a:r>
              <a:rPr lang="zh-CN" altLang="en-US" sz="2400" dirty="0">
                <a:latin typeface="Times New Roman" panose="02020603050405020304" pitchFamily="18" charset="0"/>
                <a:ea typeface="楷体_GB2312" pitchFamily="49" charset="-122"/>
                <a:sym typeface="Wingdings" panose="05000000000000000000" pitchFamily="2" charset="2"/>
              </a:rPr>
              <a:t>的</a:t>
            </a:r>
            <a:r>
              <a:rPr lang="zh-CN" altLang="en-US" sz="2400" dirty="0">
                <a:solidFill>
                  <a:srgbClr val="C00000"/>
                </a:solidFill>
                <a:latin typeface="Times New Roman" panose="02020603050405020304" pitchFamily="18" charset="0"/>
                <a:ea typeface="楷体_GB2312" pitchFamily="49" charset="-122"/>
                <a:sym typeface="Wingdings" panose="05000000000000000000" pitchFamily="2" charset="2"/>
              </a:rPr>
              <a:t>旋律声部</a:t>
            </a:r>
            <a:r>
              <a:rPr lang="zh-CN" altLang="en-US" sz="2400" dirty="0">
                <a:latin typeface="Times New Roman" panose="02020603050405020304" pitchFamily="18" charset="0"/>
                <a:ea typeface="楷体_GB2312" pitchFamily="49" charset="-122"/>
                <a:sym typeface="Wingdings" panose="05000000000000000000" pitchFamily="2" charset="2"/>
              </a:rPr>
              <a:t>与</a:t>
            </a:r>
            <a:r>
              <a:rPr lang="zh-CN" altLang="en-US" sz="2400" dirty="0">
                <a:solidFill>
                  <a:srgbClr val="00B0F0"/>
                </a:solidFill>
                <a:latin typeface="Times New Roman" panose="02020603050405020304" pitchFamily="18" charset="0"/>
                <a:ea typeface="楷体_GB2312" pitchFamily="49" charset="-122"/>
                <a:sym typeface="Wingdings" panose="05000000000000000000" pitchFamily="2" charset="2"/>
              </a:rPr>
              <a:t>钢琴伴奏声部</a:t>
            </a:r>
            <a:r>
              <a:rPr lang="zh-CN" altLang="en-US" sz="2400" dirty="0">
                <a:latin typeface="Times New Roman" panose="02020603050405020304" pitchFamily="18" charset="0"/>
                <a:ea typeface="楷体_GB2312" pitchFamily="49" charset="-122"/>
                <a:sym typeface="Wingdings" panose="05000000000000000000" pitchFamily="2" charset="2"/>
              </a:rPr>
              <a:t>的</a:t>
            </a:r>
            <a:r>
              <a:rPr lang="zh-CN" altLang="en-US" sz="2400" dirty="0">
                <a:solidFill>
                  <a:schemeClr val="tx1"/>
                </a:solidFill>
                <a:latin typeface="Times New Roman" panose="02020603050405020304" pitchFamily="18" charset="0"/>
                <a:ea typeface="楷体_GB2312" pitchFamily="49" charset="-122"/>
                <a:sym typeface="Wingdings" panose="05000000000000000000" pitchFamily="2" charset="2"/>
              </a:rPr>
              <a:t>元结构</a:t>
            </a:r>
            <a:r>
              <a:rPr lang="zh-CN" altLang="en-US" sz="2400" dirty="0">
                <a:latin typeface="Times New Roman" panose="02020603050405020304" pitchFamily="18" charset="0"/>
                <a:ea typeface="楷体_GB2312" pitchFamily="49" charset="-122"/>
                <a:sym typeface="Wingdings" panose="05000000000000000000" pitchFamily="2" charset="2"/>
              </a:rPr>
              <a:t>组成的待确定多声部音乐的和声状态变元</a:t>
            </a: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a:t>
            </a:r>
            <a:r>
              <a:rPr lang="en-US" altLang="zh-CN" sz="2400" dirty="0">
                <a:latin typeface="Times New Roman" panose="02020603050405020304" pitchFamily="18" charset="0"/>
                <a:ea typeface="楷体_GB2312" pitchFamily="49" charset="-122"/>
                <a:sym typeface="Wingdings" panose="05000000000000000000" pitchFamily="2" charset="2"/>
              </a:rPr>
              <a:t> </a:t>
            </a:r>
            <a:endParaRPr lang="en-US" altLang="zh-CN" sz="2400" dirty="0">
              <a:latin typeface="Times New Roman" panose="02020603050405020304" pitchFamily="18" charset="0"/>
              <a:ea typeface="楷体_GB2312" pitchFamily="49" charset="-122"/>
              <a:sym typeface="Wingdings" panose="05000000000000000000" pitchFamily="2" charset="2"/>
            </a:endParaRPr>
          </a:p>
        </p:txBody>
      </p:sp>
      <p:sp>
        <p:nvSpPr>
          <p:cNvPr id="232454" name="矩形 4"/>
          <p:cNvSpPr/>
          <p:nvPr/>
        </p:nvSpPr>
        <p:spPr>
          <a:xfrm>
            <a:off x="1524000" y="3860800"/>
            <a:ext cx="6221413" cy="504825"/>
          </a:xfrm>
          <a:prstGeom prst="rect">
            <a:avLst/>
          </a:prstGeom>
          <a:noFill/>
          <a:ln w="19050" cap="flat" cmpd="sng">
            <a:solidFill>
              <a:srgbClr val="C0000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2455" name="Rectangle 68"/>
          <p:cNvSpPr/>
          <p:nvPr/>
        </p:nvSpPr>
        <p:spPr>
          <a:xfrm>
            <a:off x="1963738" y="3816350"/>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2456" name="Rectangle 68"/>
          <p:cNvSpPr/>
          <p:nvPr/>
        </p:nvSpPr>
        <p:spPr>
          <a:xfrm>
            <a:off x="4027488" y="3798888"/>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cxnSp>
        <p:nvCxnSpPr>
          <p:cNvPr id="232457" name="直接连接符 11"/>
          <p:cNvCxnSpPr/>
          <p:nvPr/>
        </p:nvCxnSpPr>
        <p:spPr>
          <a:xfrm flipH="1">
            <a:off x="1043940" y="4437380"/>
            <a:ext cx="935990" cy="1440180"/>
          </a:xfrm>
          <a:prstGeom prst="line">
            <a:avLst/>
          </a:prstGeom>
          <a:ln w="28575" cap="flat" cmpd="sng">
            <a:solidFill>
              <a:srgbClr val="FF0000"/>
            </a:solidFill>
            <a:prstDash val="solid"/>
            <a:headEnd type="none" w="med" len="med"/>
            <a:tailEnd type="none" w="med" len="med"/>
          </a:ln>
        </p:spPr>
      </p:cxnSp>
      <p:sp>
        <p:nvSpPr>
          <p:cNvPr id="232458" name="Rectangle 68"/>
          <p:cNvSpPr/>
          <p:nvPr/>
        </p:nvSpPr>
        <p:spPr>
          <a:xfrm>
            <a:off x="6019800" y="3783013"/>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2459" name="Rectangle 3"/>
          <p:cNvSpPr txBox="1"/>
          <p:nvPr/>
        </p:nvSpPr>
        <p:spPr>
          <a:xfrm>
            <a:off x="119380" y="5256530"/>
            <a:ext cx="1464945" cy="828675"/>
          </a:xfrm>
          <a:prstGeom prst="rect">
            <a:avLst/>
          </a:prstGeom>
          <a:noFill/>
          <a:ln w="9525">
            <a:noFill/>
          </a:ln>
        </p:spPr>
        <p:txBody>
          <a:bodyPr/>
          <a:p>
            <a:pPr eaLnBrk="1" hangingPunct="1"/>
            <a:r>
              <a:rPr lang="zh-CN" altLang="en-US" sz="1600" dirty="0">
                <a:solidFill>
                  <a:schemeClr val="tx1"/>
                </a:solidFill>
                <a:latin typeface="Times New Roman" panose="02020603050405020304" pitchFamily="18" charset="0"/>
                <a:ea typeface="宋体" panose="02010600030101010101" pitchFamily="2" charset="-122"/>
              </a:rPr>
              <a:t>用于计算</a:t>
            </a:r>
            <a:r>
              <a:rPr lang="zh-CN" altLang="en-US" sz="1600" dirty="0">
                <a:solidFill>
                  <a:srgbClr val="FF0000"/>
                </a:solidFill>
                <a:latin typeface="Times New Roman" panose="02020603050405020304" pitchFamily="18" charset="0"/>
                <a:ea typeface="宋体" panose="02010600030101010101" pitchFamily="2" charset="-122"/>
              </a:rPr>
              <a:t>最优特征和弦</a:t>
            </a:r>
            <a:r>
              <a:rPr lang="zh-CN" altLang="en-US" sz="1600" dirty="0">
                <a:solidFill>
                  <a:schemeClr val="tx1"/>
                </a:solidFill>
                <a:latin typeface="Times New Roman" panose="02020603050405020304" pitchFamily="18" charset="0"/>
                <a:ea typeface="宋体" panose="02010600030101010101" pitchFamily="2" charset="-122"/>
              </a:rPr>
              <a:t>的</a:t>
            </a:r>
            <a:r>
              <a:rPr lang="zh-CN" altLang="en-US" sz="1600" dirty="0">
                <a:solidFill>
                  <a:srgbClr val="FF0000"/>
                </a:solidFill>
                <a:latin typeface="Times New Roman" panose="02020603050405020304" pitchFamily="18" charset="0"/>
                <a:ea typeface="宋体" panose="02010600030101010101" pitchFamily="2" charset="-122"/>
              </a:rPr>
              <a:t>多声部音群</a:t>
            </a:r>
            <a:endParaRPr lang="zh-CN" altLang="en-US" sz="1600" b="1" dirty="0">
              <a:solidFill>
                <a:srgbClr val="FF0000"/>
              </a:solidFill>
              <a:latin typeface="宋体" panose="02010600030101010101" pitchFamily="2" charset="-122"/>
              <a:ea typeface="楷体_GB2312" pitchFamily="49" charset="-122"/>
            </a:endParaRPr>
          </a:p>
        </p:txBody>
      </p:sp>
      <p:cxnSp>
        <p:nvCxnSpPr>
          <p:cNvPr id="232460" name="直接连接符 14"/>
          <p:cNvCxnSpPr/>
          <p:nvPr/>
        </p:nvCxnSpPr>
        <p:spPr>
          <a:xfrm flipH="1">
            <a:off x="1043940" y="4725035"/>
            <a:ext cx="3024505" cy="1152525"/>
          </a:xfrm>
          <a:prstGeom prst="line">
            <a:avLst/>
          </a:prstGeom>
          <a:ln w="28575" cap="flat" cmpd="sng">
            <a:solidFill>
              <a:srgbClr val="FF0000"/>
            </a:solidFill>
            <a:prstDash val="solid"/>
            <a:headEnd type="none" w="med" len="med"/>
            <a:tailEnd type="none" w="med" len="med"/>
          </a:ln>
        </p:spPr>
      </p:cxnSp>
      <p:cxnSp>
        <p:nvCxnSpPr>
          <p:cNvPr id="232461" name="直接连接符 15"/>
          <p:cNvCxnSpPr/>
          <p:nvPr/>
        </p:nvCxnSpPr>
        <p:spPr>
          <a:xfrm flipH="1">
            <a:off x="1043940" y="4797425"/>
            <a:ext cx="4968240" cy="1080135"/>
          </a:xfrm>
          <a:prstGeom prst="line">
            <a:avLst/>
          </a:prstGeom>
          <a:ln w="28575" cap="flat" cmpd="sng">
            <a:solidFill>
              <a:srgbClr val="FF0000"/>
            </a:solidFill>
            <a:prstDash val="solid"/>
            <a:headEnd type="none" w="med" len="med"/>
            <a:tailEnd type="none" w="med" len="med"/>
          </a:ln>
        </p:spPr>
      </p:cxnSp>
      <p:sp>
        <p:nvSpPr>
          <p:cNvPr id="232462" name="Rectangle 3"/>
          <p:cNvSpPr txBox="1"/>
          <p:nvPr/>
        </p:nvSpPr>
        <p:spPr>
          <a:xfrm>
            <a:off x="119063" y="4364038"/>
            <a:ext cx="1465262" cy="346075"/>
          </a:xfrm>
          <a:prstGeom prst="rect">
            <a:avLst/>
          </a:prstGeom>
          <a:noFill/>
          <a:ln w="9525">
            <a:noFill/>
          </a:ln>
        </p:spPr>
        <p:txBody>
          <a:bodyPr/>
          <a:p>
            <a:pPr eaLnBrk="1" hangingPunct="1">
              <a:spcBef>
                <a:spcPct val="20000"/>
              </a:spcBef>
            </a:pPr>
            <a:r>
              <a:rPr lang="zh-CN" altLang="en-US" sz="1600" b="1" dirty="0">
                <a:solidFill>
                  <a:srgbClr val="C00000"/>
                </a:solidFill>
                <a:latin typeface="Times New Roman" panose="02020603050405020304" pitchFamily="18" charset="0"/>
                <a:ea typeface="楷体_GB2312" pitchFamily="49" charset="-122"/>
                <a:sym typeface="Wingdings" panose="05000000000000000000" pitchFamily="2" charset="2"/>
              </a:rPr>
              <a:t>旋律声部</a:t>
            </a:r>
            <a:endParaRPr lang="zh-CN" altLang="en-US" sz="1600" b="1" dirty="0">
              <a:solidFill>
                <a:srgbClr val="C00000"/>
              </a:solidFill>
              <a:latin typeface="Times New Roman" panose="02020603050405020304" pitchFamily="18" charset="0"/>
              <a:ea typeface="楷体_GB2312" pitchFamily="49" charset="-122"/>
              <a:sym typeface="Wingdings" panose="05000000000000000000" pitchFamily="2" charset="2"/>
            </a:endParaRPr>
          </a:p>
        </p:txBody>
      </p:sp>
      <p:cxnSp>
        <p:nvCxnSpPr>
          <p:cNvPr id="232463" name="直接连接符 3"/>
          <p:cNvCxnSpPr/>
          <p:nvPr/>
        </p:nvCxnSpPr>
        <p:spPr>
          <a:xfrm flipH="1">
            <a:off x="1138238" y="4208463"/>
            <a:ext cx="385762" cy="268287"/>
          </a:xfrm>
          <a:prstGeom prst="line">
            <a:avLst/>
          </a:prstGeom>
          <a:ln w="28575" cap="flat" cmpd="sng">
            <a:solidFill>
              <a:srgbClr val="C00000"/>
            </a:solidFill>
            <a:prstDash val="solid"/>
            <a:headEnd type="none" w="med" len="med"/>
            <a:tailEnd type="none" w="med" len="med"/>
          </a:ln>
        </p:spPr>
      </p:cxnSp>
      <p:sp>
        <p:nvSpPr>
          <p:cNvPr id="232464" name="椭圆 7"/>
          <p:cNvSpPr/>
          <p:nvPr/>
        </p:nvSpPr>
        <p:spPr>
          <a:xfrm>
            <a:off x="2124075" y="3933825"/>
            <a:ext cx="5327650" cy="287338"/>
          </a:xfrm>
          <a:prstGeom prst="ellipse">
            <a:avLst/>
          </a:prstGeom>
          <a:noFill/>
          <a:ln w="28575" cap="flat" cmpd="sng">
            <a:solidFill>
              <a:srgbClr val="00B050"/>
            </a:solidFill>
            <a:prstDash val="soli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cxnSp>
        <p:nvCxnSpPr>
          <p:cNvPr id="232465" name="直接连接符 9"/>
          <p:cNvCxnSpPr>
            <a:endCxn id="232464" idx="1"/>
          </p:cNvCxnSpPr>
          <p:nvPr/>
        </p:nvCxnSpPr>
        <p:spPr>
          <a:xfrm>
            <a:off x="1485900" y="3176905"/>
            <a:ext cx="1418590" cy="798830"/>
          </a:xfrm>
          <a:prstGeom prst="line">
            <a:avLst/>
          </a:prstGeom>
          <a:ln w="28575" cap="flat" cmpd="sng">
            <a:solidFill>
              <a:srgbClr val="00B050"/>
            </a:solidFill>
            <a:prstDash val="solid"/>
            <a:headEnd type="none" w="med" len="med"/>
            <a:tailEnd type="none" w="med" len="med"/>
          </a:ln>
        </p:spPr>
      </p:cxnSp>
      <p:sp>
        <p:nvSpPr>
          <p:cNvPr id="232466" name="矩形 10"/>
          <p:cNvSpPr/>
          <p:nvPr/>
        </p:nvSpPr>
        <p:spPr>
          <a:xfrm>
            <a:off x="1870075" y="4640263"/>
            <a:ext cx="5934075" cy="588962"/>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2467" name="矩形 16"/>
          <p:cNvSpPr/>
          <p:nvPr/>
        </p:nvSpPr>
        <p:spPr>
          <a:xfrm>
            <a:off x="1963738" y="5502275"/>
            <a:ext cx="5935662" cy="596900"/>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cxnSp>
        <p:nvCxnSpPr>
          <p:cNvPr id="232468" name="直接连接符 17"/>
          <p:cNvCxnSpPr/>
          <p:nvPr/>
        </p:nvCxnSpPr>
        <p:spPr>
          <a:xfrm>
            <a:off x="5220335" y="3213100"/>
            <a:ext cx="1439545" cy="1440180"/>
          </a:xfrm>
          <a:prstGeom prst="line">
            <a:avLst/>
          </a:prstGeom>
          <a:ln w="28575" cap="flat" cmpd="sng">
            <a:solidFill>
              <a:srgbClr val="00B0F0"/>
            </a:solidFill>
            <a:prstDash val="solid"/>
            <a:headEnd type="none" w="med" len="med"/>
            <a:tailEnd type="none" w="med" len="med"/>
          </a:ln>
        </p:spPr>
      </p:cxnSp>
      <p:cxnSp>
        <p:nvCxnSpPr>
          <p:cNvPr id="232469" name="直接连接符 18"/>
          <p:cNvCxnSpPr/>
          <p:nvPr/>
        </p:nvCxnSpPr>
        <p:spPr>
          <a:xfrm>
            <a:off x="5220335" y="3213100"/>
            <a:ext cx="1223645" cy="2305050"/>
          </a:xfrm>
          <a:prstGeom prst="line">
            <a:avLst/>
          </a:prstGeom>
          <a:ln w="28575" cap="flat" cmpd="sng">
            <a:solidFill>
              <a:srgbClr val="00B0F0"/>
            </a:solidFill>
            <a:prstDash val="solid"/>
            <a:headEnd type="none" w="med" len="med"/>
            <a:tailEnd type="none" w="med" len="med"/>
          </a:ln>
        </p:spPr>
      </p:cxnSp>
      <p:sp>
        <p:nvSpPr>
          <p:cNvPr id="232470" name="Rectangle 3"/>
          <p:cNvSpPr txBox="1"/>
          <p:nvPr/>
        </p:nvSpPr>
        <p:spPr>
          <a:xfrm>
            <a:off x="505460" y="6289675"/>
            <a:ext cx="8255635" cy="40767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zh-CN" altLang="en-US" sz="1800" dirty="0">
                <a:latin typeface="Times New Roman" panose="02020603050405020304" pitchFamily="18" charset="0"/>
                <a:ea typeface="楷体_GB2312" pitchFamily="49" charset="-122"/>
                <a:sym typeface="Wingdings" panose="05000000000000000000" pitchFamily="2" charset="2"/>
              </a:rPr>
              <a:t>三小节长的含未知旋律片段与钢琴伴奏音型元结构的待确定的多声部音乐</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
        <p:nvSpPr>
          <p:cNvPr id="232471" name="矩形 17"/>
          <p:cNvSpPr/>
          <p:nvPr/>
        </p:nvSpPr>
        <p:spPr>
          <a:xfrm>
            <a:off x="1635125" y="4554538"/>
            <a:ext cx="6391275" cy="1735137"/>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9" name="Rectangle 3"/>
          <p:cNvSpPr txBox="1"/>
          <p:nvPr/>
        </p:nvSpPr>
        <p:spPr>
          <a:xfrm>
            <a:off x="487045" y="2509838"/>
            <a:ext cx="7961313" cy="852487"/>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000" dirty="0">
                <a:latin typeface="Times New Roman" panose="02020603050405020304" pitchFamily="18" charset="0"/>
                <a:ea typeface="楷体_GB2312" pitchFamily="49" charset="-122"/>
                <a:sym typeface="Wingdings" panose="05000000000000000000" pitchFamily="2" charset="2"/>
              </a:rPr>
              <a:t>元结构中每小节被赋予一个或多个</a:t>
            </a:r>
            <a:r>
              <a:rPr lang="en-US" altLang="zh-CN" sz="2000" dirty="0">
                <a:latin typeface="Times New Roman" panose="02020603050405020304" pitchFamily="18" charset="0"/>
                <a:ea typeface="楷体_GB2312" pitchFamily="49" charset="-122"/>
                <a:sym typeface="Wingdings" panose="05000000000000000000" pitchFamily="2" charset="2"/>
              </a:rPr>
              <a:t>“</a:t>
            </a:r>
            <a:r>
              <a:rPr lang="zh-CN" altLang="en-US" sz="2000" dirty="0">
                <a:latin typeface="Times New Roman" panose="02020603050405020304" pitchFamily="18" charset="0"/>
                <a:ea typeface="楷体_GB2312" pitchFamily="49" charset="-122"/>
                <a:sym typeface="Wingdings" panose="05000000000000000000" pitchFamily="2" charset="2"/>
              </a:rPr>
              <a:t>和弦根音变元</a:t>
            </a:r>
            <a:r>
              <a:rPr lang="en-US" altLang="zh-CN" sz="2000" dirty="0">
                <a:latin typeface="Times New Roman" panose="02020603050405020304" pitchFamily="18" charset="0"/>
                <a:ea typeface="楷体_GB2312" pitchFamily="49" charset="-122"/>
                <a:sym typeface="Wingdings" panose="05000000000000000000" pitchFamily="2" charset="2"/>
              </a:rPr>
              <a:t>”</a:t>
            </a:r>
            <a:r>
              <a:rPr lang="zh-CN" altLang="en-US" sz="2000" dirty="0">
                <a:latin typeface="Times New Roman" panose="02020603050405020304" pitchFamily="18" charset="0"/>
                <a:ea typeface="楷体_GB2312" pitchFamily="49" charset="-122"/>
                <a:sym typeface="Wingdings" panose="05000000000000000000" pitchFamily="2" charset="2"/>
              </a:rPr>
              <a:t>，以对应多声部音乐中一个可变范围内的和声（运动）的状态变化。</a:t>
            </a: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pic>
        <p:nvPicPr>
          <p:cNvPr id="234502" name="图片 2"/>
          <p:cNvPicPr>
            <a:picLocks noChangeAspect="1"/>
          </p:cNvPicPr>
          <p:nvPr>
            <p:custDataLst>
              <p:tags r:id="rId1"/>
            </p:custDataLst>
          </p:nvPr>
        </p:nvPicPr>
        <p:blipFill>
          <a:blip r:embed="rId2"/>
          <a:stretch>
            <a:fillRect/>
          </a:stretch>
        </p:blipFill>
        <p:spPr>
          <a:xfrm>
            <a:off x="4970145" y="4573905"/>
            <a:ext cx="4105910" cy="2000250"/>
          </a:xfrm>
          <a:prstGeom prst="rect">
            <a:avLst/>
          </a:prstGeom>
          <a:noFill/>
          <a:ln w="9525">
            <a:noFill/>
          </a:ln>
        </p:spPr>
      </p:pic>
      <p:sp>
        <p:nvSpPr>
          <p:cNvPr id="234503" name="Rectangle 3"/>
          <p:cNvSpPr txBox="1"/>
          <p:nvPr/>
        </p:nvSpPr>
        <p:spPr>
          <a:xfrm>
            <a:off x="2064068" y="5632450"/>
            <a:ext cx="1884362" cy="339725"/>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一段多声部音乐</a:t>
            </a: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34504" name="矩形 17"/>
          <p:cNvSpPr/>
          <p:nvPr/>
        </p:nvSpPr>
        <p:spPr>
          <a:xfrm>
            <a:off x="5124450" y="4816475"/>
            <a:ext cx="898525" cy="73977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05" name="矩形 17"/>
          <p:cNvSpPr/>
          <p:nvPr/>
        </p:nvSpPr>
        <p:spPr>
          <a:xfrm>
            <a:off x="6184900" y="4805363"/>
            <a:ext cx="898525" cy="836612"/>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06" name="矩形 17"/>
          <p:cNvSpPr/>
          <p:nvPr/>
        </p:nvSpPr>
        <p:spPr>
          <a:xfrm>
            <a:off x="7172325" y="4821238"/>
            <a:ext cx="898525" cy="820737"/>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07" name="矩形 17"/>
          <p:cNvSpPr/>
          <p:nvPr/>
        </p:nvSpPr>
        <p:spPr>
          <a:xfrm>
            <a:off x="8177213" y="4822825"/>
            <a:ext cx="898525" cy="8191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08" name="矩形 17"/>
          <p:cNvSpPr/>
          <p:nvPr/>
        </p:nvSpPr>
        <p:spPr>
          <a:xfrm>
            <a:off x="5180013" y="5953125"/>
            <a:ext cx="898525" cy="620713"/>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09" name="矩形 17"/>
          <p:cNvSpPr/>
          <p:nvPr/>
        </p:nvSpPr>
        <p:spPr>
          <a:xfrm>
            <a:off x="6169025" y="5937250"/>
            <a:ext cx="896938" cy="61912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10" name="矩形 17"/>
          <p:cNvSpPr/>
          <p:nvPr/>
        </p:nvSpPr>
        <p:spPr>
          <a:xfrm>
            <a:off x="7172325" y="5937250"/>
            <a:ext cx="898525" cy="61912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11" name="矩形 17"/>
          <p:cNvSpPr/>
          <p:nvPr/>
        </p:nvSpPr>
        <p:spPr>
          <a:xfrm>
            <a:off x="8170863" y="5919788"/>
            <a:ext cx="815975" cy="620712"/>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34512" name="矩形 11"/>
          <p:cNvSpPr/>
          <p:nvPr/>
        </p:nvSpPr>
        <p:spPr>
          <a:xfrm>
            <a:off x="5219700" y="4797425"/>
            <a:ext cx="360363"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3" name="矩形 12"/>
          <p:cNvSpPr/>
          <p:nvPr/>
        </p:nvSpPr>
        <p:spPr>
          <a:xfrm>
            <a:off x="5634038" y="4781550"/>
            <a:ext cx="360362" cy="719138"/>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4" name="矩形 13"/>
          <p:cNvSpPr/>
          <p:nvPr/>
        </p:nvSpPr>
        <p:spPr>
          <a:xfrm>
            <a:off x="6191250" y="4835525"/>
            <a:ext cx="360363"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5" name="矩形 14"/>
          <p:cNvSpPr/>
          <p:nvPr/>
        </p:nvSpPr>
        <p:spPr>
          <a:xfrm>
            <a:off x="6621463" y="4835525"/>
            <a:ext cx="360362"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6" name="矩形 15"/>
          <p:cNvSpPr/>
          <p:nvPr/>
        </p:nvSpPr>
        <p:spPr>
          <a:xfrm>
            <a:off x="7196138" y="4835525"/>
            <a:ext cx="360362"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7" name="矩形 16"/>
          <p:cNvSpPr/>
          <p:nvPr/>
        </p:nvSpPr>
        <p:spPr>
          <a:xfrm>
            <a:off x="7626350" y="4835525"/>
            <a:ext cx="360363"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8" name="矩形 17"/>
          <p:cNvSpPr/>
          <p:nvPr/>
        </p:nvSpPr>
        <p:spPr>
          <a:xfrm>
            <a:off x="8272463" y="4835525"/>
            <a:ext cx="649287"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19" name="矩形 18"/>
          <p:cNvSpPr/>
          <p:nvPr/>
        </p:nvSpPr>
        <p:spPr>
          <a:xfrm>
            <a:off x="6262688" y="5911850"/>
            <a:ext cx="360362"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20" name="矩形 19"/>
          <p:cNvSpPr/>
          <p:nvPr/>
        </p:nvSpPr>
        <p:spPr>
          <a:xfrm>
            <a:off x="6692900" y="5911850"/>
            <a:ext cx="360363"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21" name="矩形 20"/>
          <p:cNvSpPr/>
          <p:nvPr/>
        </p:nvSpPr>
        <p:spPr>
          <a:xfrm>
            <a:off x="7178675" y="5967413"/>
            <a:ext cx="892175"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22" name="矩形 21"/>
          <p:cNvSpPr/>
          <p:nvPr/>
        </p:nvSpPr>
        <p:spPr>
          <a:xfrm>
            <a:off x="8255000" y="5967413"/>
            <a:ext cx="650875" cy="720725"/>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23" name="矩形 22"/>
          <p:cNvSpPr/>
          <p:nvPr/>
        </p:nvSpPr>
        <p:spPr>
          <a:xfrm>
            <a:off x="5226050" y="5880100"/>
            <a:ext cx="796925" cy="719138"/>
          </a:xfrm>
          <a:prstGeom prst="rect">
            <a:avLst/>
          </a:prstGeom>
          <a:noFill/>
          <a:ln w="19050" cap="flat" cmpd="sng">
            <a:solidFill>
              <a:srgbClr val="0070C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4524" name="直角上箭头 25"/>
          <p:cNvSpPr/>
          <p:nvPr/>
        </p:nvSpPr>
        <p:spPr>
          <a:xfrm flipV="1">
            <a:off x="4884420" y="3857625"/>
            <a:ext cx="2280920" cy="723900"/>
          </a:xfrm>
          <a:custGeom>
            <a:avLst/>
            <a:gdLst/>
            <a:ahLst/>
            <a:cxnLst>
              <a:cxn ang="0">
                <a:pos x="0" y="704850"/>
              </a:cxn>
              <a:cxn ang="0">
                <a:pos x="1025687" y="704850"/>
              </a:cxn>
              <a:cxn ang="0">
                <a:pos x="1025687" y="234950"/>
              </a:cxn>
              <a:cxn ang="0">
                <a:pos x="908266" y="234950"/>
              </a:cxn>
              <a:cxn ang="0">
                <a:pos x="1143108" y="0"/>
              </a:cxn>
              <a:cxn ang="0">
                <a:pos x="1377950" y="234950"/>
              </a:cxn>
              <a:cxn ang="0">
                <a:pos x="1260529" y="234950"/>
              </a:cxn>
              <a:cxn ang="0">
                <a:pos x="1260529" y="939800"/>
              </a:cxn>
              <a:cxn ang="0">
                <a:pos x="0" y="939800"/>
              </a:cxn>
            </a:cxnLst>
            <a:pathLst>
              <a:path w="1378585" h="939800">
                <a:moveTo>
                  <a:pt x="0" y="704850"/>
                </a:moveTo>
                <a:lnTo>
                  <a:pt x="1026160" y="704850"/>
                </a:lnTo>
                <a:lnTo>
                  <a:pt x="1026160" y="234950"/>
                </a:lnTo>
                <a:lnTo>
                  <a:pt x="908685" y="234950"/>
                </a:lnTo>
                <a:lnTo>
                  <a:pt x="1143635" y="0"/>
                </a:lnTo>
                <a:lnTo>
                  <a:pt x="1378585" y="234950"/>
                </a:lnTo>
                <a:lnTo>
                  <a:pt x="1261110" y="234950"/>
                </a:lnTo>
                <a:lnTo>
                  <a:pt x="1261110" y="939800"/>
                </a:lnTo>
                <a:lnTo>
                  <a:pt x="0" y="939800"/>
                </a:lnTo>
                <a:lnTo>
                  <a:pt x="0" y="704850"/>
                </a:lnTo>
                <a:close/>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234526" name="Rectangle 3"/>
          <p:cNvSpPr txBox="1"/>
          <p:nvPr/>
        </p:nvSpPr>
        <p:spPr>
          <a:xfrm>
            <a:off x="7137400" y="4014470"/>
            <a:ext cx="1881505" cy="483870"/>
          </a:xfrm>
          <a:prstGeom prst="rect">
            <a:avLst/>
          </a:prstGeom>
          <a:noFill/>
          <a:ln w="9525">
            <a:noFill/>
          </a:ln>
        </p:spPr>
        <p:txBody>
          <a:bodyPr/>
          <a:p>
            <a:pPr eaLnBrk="1" hangingPunct="1">
              <a:spcBef>
                <a:spcPct val="20000"/>
              </a:spcBef>
            </a:pPr>
            <a:r>
              <a:rPr lang="zh-CN" altLang="en-US" sz="1600" dirty="0">
                <a:solidFill>
                  <a:srgbClr val="92D050"/>
                </a:solidFill>
                <a:latin typeface="Times New Roman" panose="02020603050405020304" pitchFamily="18" charset="0"/>
                <a:ea typeface="楷体_GB2312" pitchFamily="49" charset="-122"/>
                <a:sym typeface="Wingdings" panose="05000000000000000000" pitchFamily="2" charset="2"/>
              </a:rPr>
              <a:t>含</a:t>
            </a:r>
            <a:r>
              <a:rPr lang="en-US" altLang="zh-CN" sz="1600" dirty="0">
                <a:solidFill>
                  <a:srgbClr val="92D050"/>
                </a:solidFill>
                <a:latin typeface="Times New Roman" panose="02020603050405020304" pitchFamily="18" charset="0"/>
                <a:ea typeface="楷体_GB2312" pitchFamily="49" charset="-122"/>
                <a:sym typeface="Wingdings" panose="05000000000000000000" pitchFamily="2" charset="2"/>
              </a:rPr>
              <a:t>2</a:t>
            </a:r>
            <a:r>
              <a:rPr lang="zh-CN" altLang="en-US" sz="1600" dirty="0">
                <a:solidFill>
                  <a:srgbClr val="92D050"/>
                </a:solidFill>
                <a:latin typeface="Times New Roman" panose="02020603050405020304" pitchFamily="18" charset="0"/>
                <a:ea typeface="楷体_GB2312" pitchFamily="49" charset="-122"/>
                <a:sym typeface="Wingdings" panose="05000000000000000000" pitchFamily="2" charset="2"/>
              </a:rPr>
              <a:t>个和弦根音变元的元结构</a:t>
            </a: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cxnSp>
        <p:nvCxnSpPr>
          <p:cNvPr id="234527" name="直接箭头连接符 28"/>
          <p:cNvCxnSpPr/>
          <p:nvPr/>
        </p:nvCxnSpPr>
        <p:spPr>
          <a:xfrm flipH="1">
            <a:off x="6011863" y="4552950"/>
            <a:ext cx="1395412" cy="244475"/>
          </a:xfrm>
          <a:prstGeom prst="straightConnector1">
            <a:avLst/>
          </a:prstGeom>
          <a:ln w="28575" cap="flat" cmpd="sng">
            <a:solidFill>
              <a:srgbClr val="00B050"/>
            </a:solidFill>
            <a:prstDash val="solid"/>
            <a:headEnd type="none" w="med" len="med"/>
            <a:tailEnd type="arrow" w="med" len="med"/>
          </a:ln>
        </p:spPr>
      </p:cxnSp>
      <p:cxnSp>
        <p:nvCxnSpPr>
          <p:cNvPr id="234528" name="直接箭头连接符 29"/>
          <p:cNvCxnSpPr/>
          <p:nvPr/>
        </p:nvCxnSpPr>
        <p:spPr>
          <a:xfrm>
            <a:off x="7380288" y="4581525"/>
            <a:ext cx="26987" cy="223838"/>
          </a:xfrm>
          <a:prstGeom prst="straightConnector1">
            <a:avLst/>
          </a:prstGeom>
          <a:ln w="28575" cap="flat" cmpd="sng">
            <a:solidFill>
              <a:srgbClr val="00B050"/>
            </a:solidFill>
            <a:prstDash val="solid"/>
            <a:headEnd type="none" w="med" len="med"/>
            <a:tailEnd type="arrow" w="med" len="med"/>
          </a:ln>
        </p:spPr>
      </p:cxnSp>
      <p:cxnSp>
        <p:nvCxnSpPr>
          <p:cNvPr id="234529" name="直接箭头连接符 30"/>
          <p:cNvCxnSpPr/>
          <p:nvPr/>
        </p:nvCxnSpPr>
        <p:spPr>
          <a:xfrm flipH="1">
            <a:off x="7019925" y="4581525"/>
            <a:ext cx="360363" cy="215900"/>
          </a:xfrm>
          <a:prstGeom prst="straightConnector1">
            <a:avLst/>
          </a:prstGeom>
          <a:ln w="28575" cap="flat" cmpd="sng">
            <a:solidFill>
              <a:srgbClr val="00B050"/>
            </a:solidFill>
            <a:prstDash val="solid"/>
            <a:headEnd type="none" w="med" len="med"/>
            <a:tailEnd type="arrow" w="med" len="med"/>
          </a:ln>
        </p:spPr>
      </p:cxnSp>
      <p:cxnSp>
        <p:nvCxnSpPr>
          <p:cNvPr id="234530" name="直接箭头连接符 31"/>
          <p:cNvCxnSpPr/>
          <p:nvPr/>
        </p:nvCxnSpPr>
        <p:spPr>
          <a:xfrm flipH="1">
            <a:off x="6516688" y="4581525"/>
            <a:ext cx="863600" cy="1295400"/>
          </a:xfrm>
          <a:prstGeom prst="straightConnector1">
            <a:avLst/>
          </a:prstGeom>
          <a:ln w="28575" cap="flat" cmpd="sng">
            <a:solidFill>
              <a:srgbClr val="00B050"/>
            </a:solidFill>
            <a:prstDash val="solid"/>
            <a:headEnd type="none" w="med" len="med"/>
            <a:tailEnd type="arrow" w="med" len="med"/>
          </a:ln>
        </p:spPr>
      </p:cxnSp>
      <p:sp>
        <p:nvSpPr>
          <p:cNvPr id="234531" name="Rectangle 3"/>
          <p:cNvSpPr txBox="1"/>
          <p:nvPr/>
        </p:nvSpPr>
        <p:spPr>
          <a:xfrm>
            <a:off x="2743200" y="5935663"/>
            <a:ext cx="1882775" cy="482600"/>
          </a:xfrm>
          <a:prstGeom prst="rect">
            <a:avLst/>
          </a:prstGeom>
          <a:noFill/>
          <a:ln w="9525">
            <a:noFill/>
          </a:ln>
        </p:spPr>
        <p:txBody>
          <a:bodyPr/>
          <a:p>
            <a:pPr eaLnBrk="1" hangingPunct="1">
              <a:spcBef>
                <a:spcPct val="20000"/>
              </a:spcBef>
            </a:pPr>
            <a:r>
              <a:rPr lang="zh-CN" altLang="en-US" sz="1600" dirty="0">
                <a:solidFill>
                  <a:srgbClr val="92D050"/>
                </a:solidFill>
                <a:latin typeface="Times New Roman" panose="02020603050405020304" pitchFamily="18" charset="0"/>
                <a:ea typeface="楷体_GB2312" pitchFamily="49" charset="-122"/>
                <a:sym typeface="Wingdings" panose="05000000000000000000" pitchFamily="2" charset="2"/>
              </a:rPr>
              <a:t>仅含</a:t>
            </a:r>
            <a:r>
              <a:rPr lang="en-US" altLang="zh-CN" sz="1600" dirty="0">
                <a:solidFill>
                  <a:srgbClr val="92D050"/>
                </a:solidFill>
                <a:latin typeface="Times New Roman" panose="02020603050405020304" pitchFamily="18" charset="0"/>
                <a:ea typeface="楷体_GB2312" pitchFamily="49" charset="-122"/>
                <a:sym typeface="Wingdings" panose="05000000000000000000" pitchFamily="2" charset="2"/>
              </a:rPr>
              <a:t>1</a:t>
            </a:r>
            <a:r>
              <a:rPr lang="zh-CN" altLang="en-US" sz="1600" dirty="0">
                <a:solidFill>
                  <a:srgbClr val="92D050"/>
                </a:solidFill>
                <a:latin typeface="Times New Roman" panose="02020603050405020304" pitchFamily="18" charset="0"/>
                <a:ea typeface="楷体_GB2312" pitchFamily="49" charset="-122"/>
                <a:sym typeface="Wingdings" panose="05000000000000000000" pitchFamily="2" charset="2"/>
              </a:rPr>
              <a:t>个和弦根音变元的元结构</a:t>
            </a: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cxnSp>
        <p:nvCxnSpPr>
          <p:cNvPr id="234532" name="直接箭头连接符 33"/>
          <p:cNvCxnSpPr/>
          <p:nvPr/>
        </p:nvCxnSpPr>
        <p:spPr>
          <a:xfrm flipV="1">
            <a:off x="4356100" y="6237288"/>
            <a:ext cx="863600" cy="71437"/>
          </a:xfrm>
          <a:prstGeom prst="straightConnector1">
            <a:avLst/>
          </a:prstGeom>
          <a:ln w="28575" cap="flat" cmpd="sng">
            <a:solidFill>
              <a:srgbClr val="00B050"/>
            </a:solidFill>
            <a:prstDash val="solid"/>
            <a:headEnd type="none" w="med" len="med"/>
            <a:tailEnd type="arrow" w="med" len="med"/>
          </a:ln>
        </p:spPr>
      </p:cxnSp>
      <p:cxnSp>
        <p:nvCxnSpPr>
          <p:cNvPr id="234533" name="直接箭头连接符 34"/>
          <p:cNvCxnSpPr/>
          <p:nvPr/>
        </p:nvCxnSpPr>
        <p:spPr>
          <a:xfrm flipV="1">
            <a:off x="4356100" y="5589588"/>
            <a:ext cx="3887788" cy="719137"/>
          </a:xfrm>
          <a:prstGeom prst="straightConnector1">
            <a:avLst/>
          </a:prstGeom>
          <a:ln w="28575" cap="flat" cmpd="sng">
            <a:solidFill>
              <a:srgbClr val="00B050"/>
            </a:solidFill>
            <a:prstDash val="solid"/>
            <a:headEnd type="none" w="med" len="med"/>
            <a:tailEnd type="arrow" w="med" len="med"/>
          </a:ln>
        </p:spPr>
      </p:cxnSp>
      <p:cxnSp>
        <p:nvCxnSpPr>
          <p:cNvPr id="234534" name="直接箭头连接符 35"/>
          <p:cNvCxnSpPr/>
          <p:nvPr/>
        </p:nvCxnSpPr>
        <p:spPr>
          <a:xfrm>
            <a:off x="4427538" y="6308725"/>
            <a:ext cx="2808287" cy="0"/>
          </a:xfrm>
          <a:prstGeom prst="straightConnector1">
            <a:avLst/>
          </a:prstGeom>
          <a:ln w="28575" cap="flat" cmpd="sng">
            <a:solidFill>
              <a:srgbClr val="00B050"/>
            </a:solidFill>
            <a:prstDash val="solid"/>
            <a:headEnd type="none" w="med" len="med"/>
            <a:tailEnd type="arrow" w="med" len="med"/>
          </a:ln>
        </p:spPr>
      </p:cxnSp>
      <p:cxnSp>
        <p:nvCxnSpPr>
          <p:cNvPr id="234535" name="直接箭头连接符 36"/>
          <p:cNvCxnSpPr/>
          <p:nvPr/>
        </p:nvCxnSpPr>
        <p:spPr>
          <a:xfrm>
            <a:off x="4356100" y="6308725"/>
            <a:ext cx="3887788" cy="73025"/>
          </a:xfrm>
          <a:prstGeom prst="straightConnector1">
            <a:avLst/>
          </a:prstGeom>
          <a:ln w="28575" cap="flat" cmpd="sng">
            <a:solidFill>
              <a:srgbClr val="00B050"/>
            </a:solidFill>
            <a:prstDash val="solid"/>
            <a:headEnd type="none" w="med" len="med"/>
            <a:tailEnd type="arrow" w="med" len="med"/>
          </a:ln>
        </p:spPr>
      </p:cxnSp>
      <p:sp>
        <p:nvSpPr>
          <p:cNvPr id="234536" name="Rectangle 3"/>
          <p:cNvSpPr txBox="1"/>
          <p:nvPr/>
        </p:nvSpPr>
        <p:spPr>
          <a:xfrm>
            <a:off x="4587875" y="6548438"/>
            <a:ext cx="4984750" cy="339725"/>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从一个多声部音乐转换过来的钢琴伴奏音型元结构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矩形 6"/>
          <p:cNvSpPr/>
          <p:nvPr/>
        </p:nvSpPr>
        <p:spPr>
          <a:xfrm>
            <a:off x="4874260" y="3567430"/>
            <a:ext cx="2075815" cy="280670"/>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chemeClr val="tx2">
                    <a:lumMod val="40000"/>
                    <a:lumOff val="60000"/>
                  </a:schemeClr>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转换成钢琴伴奏音型元结构</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1294130" y="3330575"/>
            <a:ext cx="3590290" cy="2311400"/>
          </a:xfrm>
          <a:prstGeom prst="rect">
            <a:avLst/>
          </a:prstGeom>
        </p:spPr>
      </p:pic>
    </p:spTree>
  </p:cSld>
  <p:clrMapOvr>
    <a:masterClrMapping/>
  </p:clrMapOvr>
  <p:transition spd="med">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6546" name="图片 1"/>
          <p:cNvPicPr>
            <a:picLocks noChangeAspect="1"/>
          </p:cNvPicPr>
          <p:nvPr/>
        </p:nvPicPr>
        <p:blipFill>
          <a:blip r:embed="rId1"/>
          <a:stretch>
            <a:fillRect/>
          </a:stretch>
        </p:blipFill>
        <p:spPr>
          <a:xfrm>
            <a:off x="1485900" y="3757613"/>
            <a:ext cx="6540500" cy="2598737"/>
          </a:xfrm>
          <a:prstGeom prst="rect">
            <a:avLst/>
          </a:prstGeom>
          <a:noFill/>
          <a:ln w="9525">
            <a:noFill/>
          </a:ln>
        </p:spPr>
      </p:pic>
      <p:sp>
        <p:nvSpPr>
          <p:cNvPr id="236548" name="Rectangle 3"/>
          <p:cNvSpPr txBox="1"/>
          <p:nvPr/>
        </p:nvSpPr>
        <p:spPr>
          <a:xfrm>
            <a:off x="457200" y="2640965"/>
            <a:ext cx="8413750" cy="769938"/>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 </a:t>
            </a:r>
            <a:r>
              <a:rPr lang="zh-CN" altLang="en-US" sz="2000" dirty="0">
                <a:latin typeface="Times New Roman" panose="02020603050405020304" pitchFamily="18" charset="0"/>
                <a:ea typeface="楷体_GB2312" pitchFamily="49" charset="-122"/>
                <a:sym typeface="Wingdings" panose="05000000000000000000" pitchFamily="2" charset="2"/>
              </a:rPr>
              <a:t>元结构中每个音符的音高信息被音符调式音程所取代。这里的调式音程指的是该音符的音高与其所处位置的</a:t>
            </a:r>
            <a:r>
              <a:rPr lang="en-US" altLang="zh-CN" sz="2000" dirty="0">
                <a:latin typeface="Times New Roman" panose="02020603050405020304" pitchFamily="18" charset="0"/>
                <a:ea typeface="楷体_GB2312" pitchFamily="49" charset="-122"/>
                <a:sym typeface="Wingdings" panose="05000000000000000000" pitchFamily="2" charset="2"/>
              </a:rPr>
              <a:t>“</a:t>
            </a:r>
            <a:r>
              <a:rPr lang="zh-CN" altLang="en-US" sz="2000" dirty="0">
                <a:latin typeface="Times New Roman" panose="02020603050405020304" pitchFamily="18" charset="0"/>
                <a:ea typeface="楷体_GB2312" pitchFamily="49" charset="-122"/>
                <a:sym typeface="Wingdings" panose="05000000000000000000" pitchFamily="2" charset="2"/>
              </a:rPr>
              <a:t>和弦根音变元</a:t>
            </a:r>
            <a:r>
              <a:rPr lang="en-US" altLang="zh-CN" sz="2000" dirty="0">
                <a:latin typeface="Times New Roman" panose="02020603050405020304" pitchFamily="18" charset="0"/>
                <a:ea typeface="楷体_GB2312" pitchFamily="49" charset="-122"/>
                <a:sym typeface="Wingdings" panose="05000000000000000000" pitchFamily="2" charset="2"/>
              </a:rPr>
              <a:t>”</a:t>
            </a:r>
            <a:r>
              <a:rPr lang="zh-CN" altLang="en-US" sz="2000" dirty="0">
                <a:latin typeface="Times New Roman" panose="02020603050405020304" pitchFamily="18" charset="0"/>
                <a:ea typeface="楷体_GB2312" pitchFamily="49" charset="-122"/>
                <a:sym typeface="Wingdings" panose="05000000000000000000" pitchFamily="2" charset="2"/>
              </a:rPr>
              <a:t>音高的音程或与旋律声部中被模仿或被模进的旋律片段中相应音符的音程。</a:t>
            </a: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36550" name="矩形 4"/>
          <p:cNvSpPr/>
          <p:nvPr/>
        </p:nvSpPr>
        <p:spPr>
          <a:xfrm>
            <a:off x="1524000" y="3860800"/>
            <a:ext cx="6221413" cy="504825"/>
          </a:xfrm>
          <a:prstGeom prst="rect">
            <a:avLst/>
          </a:prstGeom>
          <a:noFill/>
          <a:ln w="19050" cap="flat" cmpd="sng">
            <a:solidFill>
              <a:srgbClr val="C0000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6551" name="Rectangle 68"/>
          <p:cNvSpPr/>
          <p:nvPr/>
        </p:nvSpPr>
        <p:spPr>
          <a:xfrm>
            <a:off x="1963738" y="3816350"/>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6552" name="Rectangle 68"/>
          <p:cNvSpPr/>
          <p:nvPr/>
        </p:nvSpPr>
        <p:spPr>
          <a:xfrm>
            <a:off x="4027488" y="3798888"/>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cxnSp>
        <p:nvCxnSpPr>
          <p:cNvPr id="236553" name="直接连接符 11"/>
          <p:cNvCxnSpPr/>
          <p:nvPr/>
        </p:nvCxnSpPr>
        <p:spPr>
          <a:xfrm flipH="1">
            <a:off x="1187450" y="4437063"/>
            <a:ext cx="792163" cy="720725"/>
          </a:xfrm>
          <a:prstGeom prst="line">
            <a:avLst/>
          </a:prstGeom>
          <a:ln w="28575" cap="flat" cmpd="sng">
            <a:solidFill>
              <a:srgbClr val="FF0000"/>
            </a:solidFill>
            <a:prstDash val="solid"/>
            <a:headEnd type="none" w="med" len="med"/>
            <a:tailEnd type="none" w="med" len="med"/>
          </a:ln>
        </p:spPr>
      </p:cxnSp>
      <p:sp>
        <p:nvSpPr>
          <p:cNvPr id="236554" name="Rectangle 68"/>
          <p:cNvSpPr/>
          <p:nvPr/>
        </p:nvSpPr>
        <p:spPr>
          <a:xfrm>
            <a:off x="6019800" y="3783013"/>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6555" name="Rectangle 3"/>
          <p:cNvSpPr txBox="1"/>
          <p:nvPr/>
        </p:nvSpPr>
        <p:spPr>
          <a:xfrm>
            <a:off x="119063" y="4826000"/>
            <a:ext cx="1465262" cy="347663"/>
          </a:xfrm>
          <a:prstGeom prst="rect">
            <a:avLst/>
          </a:prstGeom>
          <a:noFill/>
          <a:ln w="9525">
            <a:noFill/>
          </a:ln>
        </p:spPr>
        <p:txBody>
          <a:bodyPr/>
          <a:p>
            <a:pPr eaLnBrk="1" hangingPunct="1"/>
            <a:r>
              <a:rPr lang="zh-CN" altLang="en-US" sz="1600" dirty="0">
                <a:latin typeface="Times New Roman" panose="02020603050405020304" pitchFamily="18" charset="0"/>
                <a:ea typeface="宋体" panose="02010600030101010101" pitchFamily="2" charset="-122"/>
                <a:sym typeface="+mn-ea"/>
              </a:rPr>
              <a:t>用于计算</a:t>
            </a:r>
            <a:r>
              <a:rPr lang="zh-CN" altLang="en-US" sz="1600" dirty="0">
                <a:solidFill>
                  <a:srgbClr val="FF0000"/>
                </a:solidFill>
                <a:latin typeface="Times New Roman" panose="02020603050405020304" pitchFamily="18" charset="0"/>
                <a:ea typeface="宋体" panose="02010600030101010101" pitchFamily="2" charset="-122"/>
                <a:sym typeface="+mn-ea"/>
              </a:rPr>
              <a:t>最优特征和弦</a:t>
            </a:r>
            <a:r>
              <a:rPr lang="zh-CN" altLang="en-US" sz="1600" dirty="0">
                <a:latin typeface="Times New Roman" panose="02020603050405020304" pitchFamily="18" charset="0"/>
                <a:ea typeface="宋体" panose="02010600030101010101" pitchFamily="2" charset="-122"/>
                <a:sym typeface="+mn-ea"/>
              </a:rPr>
              <a:t>的</a:t>
            </a:r>
            <a:r>
              <a:rPr lang="zh-CN" altLang="en-US" sz="1600" dirty="0">
                <a:solidFill>
                  <a:srgbClr val="FF0000"/>
                </a:solidFill>
                <a:latin typeface="Times New Roman" panose="02020603050405020304" pitchFamily="18" charset="0"/>
                <a:ea typeface="宋体" panose="02010600030101010101" pitchFamily="2" charset="-122"/>
                <a:sym typeface="+mn-ea"/>
              </a:rPr>
              <a:t>多声部音群</a:t>
            </a:r>
            <a:endParaRPr lang="en-US" altLang="zh-CN" sz="1600" b="1" dirty="0">
              <a:solidFill>
                <a:srgbClr val="FF0000"/>
              </a:solidFill>
              <a:latin typeface="宋体" panose="02010600030101010101" pitchFamily="2" charset="-122"/>
              <a:ea typeface="楷体_GB2312" pitchFamily="49" charset="-122"/>
            </a:endParaRPr>
          </a:p>
        </p:txBody>
      </p:sp>
      <p:cxnSp>
        <p:nvCxnSpPr>
          <p:cNvPr id="236556" name="直接连接符 14"/>
          <p:cNvCxnSpPr/>
          <p:nvPr/>
        </p:nvCxnSpPr>
        <p:spPr>
          <a:xfrm flipH="1">
            <a:off x="1187450" y="4725988"/>
            <a:ext cx="2736850" cy="431800"/>
          </a:xfrm>
          <a:prstGeom prst="line">
            <a:avLst/>
          </a:prstGeom>
          <a:ln w="28575" cap="flat" cmpd="sng">
            <a:solidFill>
              <a:srgbClr val="FF0000"/>
            </a:solidFill>
            <a:prstDash val="solid"/>
            <a:headEnd type="none" w="med" len="med"/>
            <a:tailEnd type="none" w="med" len="med"/>
          </a:ln>
        </p:spPr>
      </p:cxnSp>
      <p:cxnSp>
        <p:nvCxnSpPr>
          <p:cNvPr id="236557" name="直接连接符 15"/>
          <p:cNvCxnSpPr/>
          <p:nvPr/>
        </p:nvCxnSpPr>
        <p:spPr>
          <a:xfrm flipH="1">
            <a:off x="1187450" y="4797425"/>
            <a:ext cx="4824413" cy="360363"/>
          </a:xfrm>
          <a:prstGeom prst="line">
            <a:avLst/>
          </a:prstGeom>
          <a:ln w="28575" cap="flat" cmpd="sng">
            <a:solidFill>
              <a:srgbClr val="FF0000"/>
            </a:solidFill>
            <a:prstDash val="solid"/>
            <a:headEnd type="none" w="med" len="med"/>
            <a:tailEnd type="none" w="med" len="med"/>
          </a:ln>
        </p:spPr>
      </p:cxnSp>
      <p:sp>
        <p:nvSpPr>
          <p:cNvPr id="236558" name="Rectangle 3"/>
          <p:cNvSpPr txBox="1"/>
          <p:nvPr/>
        </p:nvSpPr>
        <p:spPr>
          <a:xfrm>
            <a:off x="119063" y="4364038"/>
            <a:ext cx="1465262" cy="346075"/>
          </a:xfrm>
          <a:prstGeom prst="rect">
            <a:avLst/>
          </a:prstGeom>
          <a:noFill/>
          <a:ln w="9525">
            <a:noFill/>
          </a:ln>
        </p:spPr>
        <p:txBody>
          <a:bodyPr/>
          <a:p>
            <a:pPr eaLnBrk="1" hangingPunct="1">
              <a:spcBef>
                <a:spcPct val="20000"/>
              </a:spcBef>
            </a:pPr>
            <a:r>
              <a:rPr lang="zh-CN" altLang="en-US" sz="1600" dirty="0">
                <a:solidFill>
                  <a:srgbClr val="C00000"/>
                </a:solidFill>
                <a:latin typeface="Times New Roman" panose="02020603050405020304" pitchFamily="18" charset="0"/>
                <a:ea typeface="楷体_GB2312" pitchFamily="49" charset="-122"/>
                <a:sym typeface="Wingdings" panose="05000000000000000000" pitchFamily="2" charset="2"/>
              </a:rPr>
              <a:t>旋律声部</a:t>
            </a:r>
            <a:endParaRPr lang="zh-CN" altLang="en-US" sz="1600" dirty="0">
              <a:solidFill>
                <a:srgbClr val="C00000"/>
              </a:solidFill>
              <a:latin typeface="Times New Roman" panose="02020603050405020304" pitchFamily="18" charset="0"/>
              <a:ea typeface="楷体_GB2312" pitchFamily="49" charset="-122"/>
              <a:sym typeface="Wingdings" panose="05000000000000000000" pitchFamily="2" charset="2"/>
            </a:endParaRPr>
          </a:p>
        </p:txBody>
      </p:sp>
      <p:cxnSp>
        <p:nvCxnSpPr>
          <p:cNvPr id="236559" name="直接连接符 3"/>
          <p:cNvCxnSpPr/>
          <p:nvPr/>
        </p:nvCxnSpPr>
        <p:spPr>
          <a:xfrm flipH="1">
            <a:off x="1138238" y="4208463"/>
            <a:ext cx="385762" cy="268287"/>
          </a:xfrm>
          <a:prstGeom prst="line">
            <a:avLst/>
          </a:prstGeom>
          <a:ln w="28575" cap="flat" cmpd="sng">
            <a:solidFill>
              <a:srgbClr val="C00000"/>
            </a:solidFill>
            <a:prstDash val="solid"/>
            <a:headEnd type="none" w="med" len="med"/>
            <a:tailEnd type="none" w="med" len="med"/>
          </a:ln>
        </p:spPr>
      </p:cxnSp>
      <p:sp>
        <p:nvSpPr>
          <p:cNvPr id="236560" name="椭圆 7"/>
          <p:cNvSpPr/>
          <p:nvPr/>
        </p:nvSpPr>
        <p:spPr>
          <a:xfrm>
            <a:off x="2124075" y="3933825"/>
            <a:ext cx="5327650" cy="287338"/>
          </a:xfrm>
          <a:prstGeom prst="ellipse">
            <a:avLst/>
          </a:prstGeom>
          <a:noFill/>
          <a:ln w="28575" cap="flat" cmpd="sng">
            <a:solidFill>
              <a:srgbClr val="00B050"/>
            </a:solidFill>
            <a:prstDash val="soli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6561" name="矩形 10"/>
          <p:cNvSpPr/>
          <p:nvPr/>
        </p:nvSpPr>
        <p:spPr>
          <a:xfrm>
            <a:off x="1870075" y="4640263"/>
            <a:ext cx="5934075" cy="588962"/>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6562" name="矩形 16"/>
          <p:cNvSpPr/>
          <p:nvPr/>
        </p:nvSpPr>
        <p:spPr>
          <a:xfrm>
            <a:off x="1963738" y="5502275"/>
            <a:ext cx="5935662" cy="596900"/>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32470" name="Rectangle 3"/>
          <p:cNvSpPr txBox="1"/>
          <p:nvPr/>
        </p:nvSpPr>
        <p:spPr>
          <a:xfrm>
            <a:off x="505460" y="6289675"/>
            <a:ext cx="8255635" cy="40767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zh-CN" altLang="en-US" sz="1800" dirty="0">
                <a:latin typeface="Times New Roman" panose="02020603050405020304" pitchFamily="18" charset="0"/>
                <a:ea typeface="楷体_GB2312" pitchFamily="49" charset="-122"/>
                <a:sym typeface="Wingdings" panose="05000000000000000000" pitchFamily="2" charset="2"/>
              </a:rPr>
              <a:t>三小节长的含未知旋律片段与钢琴伴奏音型元结构的待确定的多声部音乐</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8594" name="图片 1"/>
          <p:cNvPicPr>
            <a:picLocks noChangeAspect="1"/>
          </p:cNvPicPr>
          <p:nvPr/>
        </p:nvPicPr>
        <p:blipFill>
          <a:blip r:embed="rId1"/>
          <a:stretch>
            <a:fillRect/>
          </a:stretch>
        </p:blipFill>
        <p:spPr>
          <a:xfrm>
            <a:off x="1485900" y="3757613"/>
            <a:ext cx="6540500" cy="2598737"/>
          </a:xfrm>
          <a:prstGeom prst="rect">
            <a:avLst/>
          </a:prstGeom>
          <a:noFill/>
          <a:ln w="9525">
            <a:noFill/>
          </a:ln>
        </p:spPr>
      </p:pic>
      <p:sp>
        <p:nvSpPr>
          <p:cNvPr id="238596" name="Rectangle 3"/>
          <p:cNvSpPr txBox="1"/>
          <p:nvPr/>
        </p:nvSpPr>
        <p:spPr>
          <a:xfrm>
            <a:off x="457200" y="2784475"/>
            <a:ext cx="8413750" cy="769938"/>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 </a:t>
            </a: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在元结构中，我们用一个</a:t>
            </a:r>
            <a:r>
              <a:rPr lang="en-US" altLang="zh-CN" sz="2400" dirty="0">
                <a:latin typeface="Times New Roman" panose="02020603050405020304" pitchFamily="18" charset="0"/>
                <a:ea typeface="楷体_GB2312" pitchFamily="49" charset="-122"/>
                <a:sym typeface="Wingdings" panose="05000000000000000000" pitchFamily="2" charset="2"/>
              </a:rPr>
              <a:t>“</a:t>
            </a:r>
            <a:r>
              <a:rPr lang="en-US" altLang="zh-CN" sz="2400" i="1" baseline="30000" dirty="0">
                <a:latin typeface="Times New Roman" panose="02020603050405020304" pitchFamily="18" charset="0"/>
                <a:ea typeface="楷体_GB2312" pitchFamily="49" charset="-122"/>
                <a:sym typeface="Wingdings" panose="05000000000000000000" pitchFamily="2" charset="2"/>
              </a:rPr>
              <a:t>r</a:t>
            </a:r>
            <a:r>
              <a:rPr lang="en-US" altLang="zh-CN" sz="2400" i="1" dirty="0">
                <a:latin typeface="Times New Roman" panose="02020603050405020304" pitchFamily="18" charset="0"/>
                <a:ea typeface="楷体_GB2312" pitchFamily="49" charset="-122"/>
                <a:sym typeface="Wingdings" panose="05000000000000000000" pitchFamily="2" charset="2"/>
              </a:rPr>
              <a:t>R</a:t>
            </a:r>
            <a:r>
              <a:rPr lang="zh-CN" altLang="en-US" sz="2400" dirty="0">
                <a:latin typeface="Times New Roman" panose="02020603050405020304" pitchFamily="18" charset="0"/>
                <a:ea typeface="楷体_GB2312" pitchFamily="49" charset="-122"/>
                <a:sym typeface="Wingdings" panose="05000000000000000000" pitchFamily="2" charset="2"/>
              </a:rPr>
              <a:t>级置换函数</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来描述一个音符调式音程。</a:t>
            </a:r>
            <a:r>
              <a:rPr lang="en-US" altLang="zh-CN" sz="2400" dirty="0">
                <a:latin typeface="Times New Roman" panose="02020603050405020304" pitchFamily="18" charset="0"/>
                <a:ea typeface="楷体_GB2312" pitchFamily="49" charset="-122"/>
                <a:sym typeface="Wingdings" panose="05000000000000000000" pitchFamily="2" charset="2"/>
              </a:rPr>
              <a:t> </a:t>
            </a:r>
            <a:endParaRPr lang="en-US" altLang="zh-CN" sz="2400" dirty="0">
              <a:latin typeface="Times New Roman" panose="02020603050405020304" pitchFamily="18" charset="0"/>
              <a:ea typeface="楷体_GB2312" pitchFamily="49" charset="-122"/>
              <a:sym typeface="Wingdings" panose="05000000000000000000" pitchFamily="2" charset="2"/>
            </a:endParaRPr>
          </a:p>
        </p:txBody>
      </p:sp>
      <p:sp>
        <p:nvSpPr>
          <p:cNvPr id="238598" name="矩形 4"/>
          <p:cNvSpPr/>
          <p:nvPr/>
        </p:nvSpPr>
        <p:spPr>
          <a:xfrm>
            <a:off x="1524000" y="3860800"/>
            <a:ext cx="6221413" cy="504825"/>
          </a:xfrm>
          <a:prstGeom prst="rect">
            <a:avLst/>
          </a:prstGeom>
          <a:noFill/>
          <a:ln w="19050" cap="flat" cmpd="sng">
            <a:solidFill>
              <a:srgbClr val="C0000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8599" name="Rectangle 68"/>
          <p:cNvSpPr/>
          <p:nvPr/>
        </p:nvSpPr>
        <p:spPr>
          <a:xfrm>
            <a:off x="1963738" y="3816350"/>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8600" name="Rectangle 68"/>
          <p:cNvSpPr/>
          <p:nvPr/>
        </p:nvSpPr>
        <p:spPr>
          <a:xfrm>
            <a:off x="4027488" y="3798888"/>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cxnSp>
        <p:nvCxnSpPr>
          <p:cNvPr id="238601" name="直接连接符 11"/>
          <p:cNvCxnSpPr/>
          <p:nvPr/>
        </p:nvCxnSpPr>
        <p:spPr>
          <a:xfrm flipH="1">
            <a:off x="1187450" y="4437063"/>
            <a:ext cx="792163" cy="720725"/>
          </a:xfrm>
          <a:prstGeom prst="line">
            <a:avLst/>
          </a:prstGeom>
          <a:ln w="28575" cap="flat" cmpd="sng">
            <a:solidFill>
              <a:srgbClr val="FF0000"/>
            </a:solidFill>
            <a:prstDash val="solid"/>
            <a:headEnd type="none" w="med" len="med"/>
            <a:tailEnd type="none" w="med" len="med"/>
          </a:ln>
        </p:spPr>
      </p:cxnSp>
      <p:sp>
        <p:nvSpPr>
          <p:cNvPr id="238602" name="Rectangle 68"/>
          <p:cNvSpPr/>
          <p:nvPr/>
        </p:nvSpPr>
        <p:spPr>
          <a:xfrm>
            <a:off x="6019800" y="3783013"/>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38603" name="Rectangle 3"/>
          <p:cNvSpPr txBox="1"/>
          <p:nvPr/>
        </p:nvSpPr>
        <p:spPr>
          <a:xfrm>
            <a:off x="119063" y="4826000"/>
            <a:ext cx="1465262" cy="347663"/>
          </a:xfrm>
          <a:prstGeom prst="rect">
            <a:avLst/>
          </a:prstGeom>
          <a:noFill/>
          <a:ln w="9525">
            <a:noFill/>
          </a:ln>
        </p:spPr>
        <p:txBody>
          <a:bodyPr/>
          <a:p>
            <a:pPr eaLnBrk="1" hangingPunct="1"/>
            <a:r>
              <a:rPr lang="zh-CN" altLang="en-US" sz="1600" dirty="0">
                <a:latin typeface="Times New Roman" panose="02020603050405020304" pitchFamily="18" charset="0"/>
                <a:ea typeface="宋体" panose="02010600030101010101" pitchFamily="2" charset="-122"/>
                <a:sym typeface="+mn-ea"/>
              </a:rPr>
              <a:t>用于计算</a:t>
            </a:r>
            <a:r>
              <a:rPr lang="zh-CN" altLang="en-US" sz="1600" dirty="0">
                <a:solidFill>
                  <a:srgbClr val="FF0000"/>
                </a:solidFill>
                <a:latin typeface="Times New Roman" panose="02020603050405020304" pitchFamily="18" charset="0"/>
                <a:ea typeface="宋体" panose="02010600030101010101" pitchFamily="2" charset="-122"/>
                <a:sym typeface="+mn-ea"/>
              </a:rPr>
              <a:t>最优特征和弦</a:t>
            </a:r>
            <a:r>
              <a:rPr lang="zh-CN" altLang="en-US" sz="1600" dirty="0">
                <a:latin typeface="Times New Roman" panose="02020603050405020304" pitchFamily="18" charset="0"/>
                <a:ea typeface="宋体" panose="02010600030101010101" pitchFamily="2" charset="-122"/>
                <a:sym typeface="+mn-ea"/>
              </a:rPr>
              <a:t>的</a:t>
            </a:r>
            <a:r>
              <a:rPr lang="zh-CN" altLang="en-US" sz="1600" dirty="0">
                <a:solidFill>
                  <a:srgbClr val="FF0000"/>
                </a:solidFill>
                <a:latin typeface="Times New Roman" panose="02020603050405020304" pitchFamily="18" charset="0"/>
                <a:ea typeface="宋体" panose="02010600030101010101" pitchFamily="2" charset="-122"/>
                <a:sym typeface="+mn-ea"/>
              </a:rPr>
              <a:t>多声部音群</a:t>
            </a:r>
            <a:endParaRPr lang="en-US" altLang="zh-CN" sz="1600" b="1" dirty="0">
              <a:solidFill>
                <a:srgbClr val="FF0000"/>
              </a:solidFill>
              <a:latin typeface="宋体" panose="02010600030101010101" pitchFamily="2" charset="-122"/>
              <a:ea typeface="楷体_GB2312" pitchFamily="49" charset="-122"/>
            </a:endParaRPr>
          </a:p>
        </p:txBody>
      </p:sp>
      <p:cxnSp>
        <p:nvCxnSpPr>
          <p:cNvPr id="238604" name="直接连接符 14"/>
          <p:cNvCxnSpPr/>
          <p:nvPr/>
        </p:nvCxnSpPr>
        <p:spPr>
          <a:xfrm flipH="1">
            <a:off x="1187450" y="4725988"/>
            <a:ext cx="2736850" cy="431800"/>
          </a:xfrm>
          <a:prstGeom prst="line">
            <a:avLst/>
          </a:prstGeom>
          <a:ln w="28575" cap="flat" cmpd="sng">
            <a:solidFill>
              <a:srgbClr val="FF0000"/>
            </a:solidFill>
            <a:prstDash val="solid"/>
            <a:headEnd type="none" w="med" len="med"/>
            <a:tailEnd type="none" w="med" len="med"/>
          </a:ln>
        </p:spPr>
      </p:cxnSp>
      <p:cxnSp>
        <p:nvCxnSpPr>
          <p:cNvPr id="238605" name="直接连接符 15"/>
          <p:cNvCxnSpPr/>
          <p:nvPr/>
        </p:nvCxnSpPr>
        <p:spPr>
          <a:xfrm flipH="1">
            <a:off x="1187450" y="4797425"/>
            <a:ext cx="4824413" cy="360363"/>
          </a:xfrm>
          <a:prstGeom prst="line">
            <a:avLst/>
          </a:prstGeom>
          <a:ln w="28575" cap="flat" cmpd="sng">
            <a:solidFill>
              <a:srgbClr val="FF0000"/>
            </a:solidFill>
            <a:prstDash val="solid"/>
            <a:headEnd type="none" w="med" len="med"/>
            <a:tailEnd type="none" w="med" len="med"/>
          </a:ln>
        </p:spPr>
      </p:cxnSp>
      <p:sp>
        <p:nvSpPr>
          <p:cNvPr id="238606" name="Rectangle 3"/>
          <p:cNvSpPr txBox="1"/>
          <p:nvPr/>
        </p:nvSpPr>
        <p:spPr>
          <a:xfrm>
            <a:off x="119063" y="4364038"/>
            <a:ext cx="1465262" cy="346075"/>
          </a:xfrm>
          <a:prstGeom prst="rect">
            <a:avLst/>
          </a:prstGeom>
          <a:noFill/>
          <a:ln w="9525">
            <a:noFill/>
          </a:ln>
        </p:spPr>
        <p:txBody>
          <a:bodyPr/>
          <a:p>
            <a:pPr eaLnBrk="1" hangingPunct="1">
              <a:spcBef>
                <a:spcPct val="20000"/>
              </a:spcBef>
            </a:pPr>
            <a:r>
              <a:rPr lang="zh-CN" altLang="en-US" sz="1600" dirty="0">
                <a:solidFill>
                  <a:srgbClr val="C00000"/>
                </a:solidFill>
                <a:latin typeface="Times New Roman" panose="02020603050405020304" pitchFamily="18" charset="0"/>
                <a:ea typeface="楷体_GB2312" pitchFamily="49" charset="-122"/>
                <a:sym typeface="Wingdings" panose="05000000000000000000" pitchFamily="2" charset="2"/>
              </a:rPr>
              <a:t>旋律声部</a:t>
            </a:r>
            <a:endParaRPr lang="zh-CN" altLang="en-US" sz="1600" dirty="0">
              <a:solidFill>
                <a:srgbClr val="C00000"/>
              </a:solidFill>
              <a:latin typeface="Times New Roman" panose="02020603050405020304" pitchFamily="18" charset="0"/>
              <a:ea typeface="楷体_GB2312" pitchFamily="49" charset="-122"/>
              <a:sym typeface="Wingdings" panose="05000000000000000000" pitchFamily="2" charset="2"/>
            </a:endParaRPr>
          </a:p>
        </p:txBody>
      </p:sp>
      <p:cxnSp>
        <p:nvCxnSpPr>
          <p:cNvPr id="238607" name="直接连接符 3"/>
          <p:cNvCxnSpPr/>
          <p:nvPr/>
        </p:nvCxnSpPr>
        <p:spPr>
          <a:xfrm flipH="1">
            <a:off x="1138238" y="4208463"/>
            <a:ext cx="385762" cy="268287"/>
          </a:xfrm>
          <a:prstGeom prst="line">
            <a:avLst/>
          </a:prstGeom>
          <a:ln w="28575" cap="flat" cmpd="sng">
            <a:solidFill>
              <a:srgbClr val="C00000"/>
            </a:solidFill>
            <a:prstDash val="solid"/>
            <a:headEnd type="none" w="med" len="med"/>
            <a:tailEnd type="none" w="med" len="med"/>
          </a:ln>
        </p:spPr>
      </p:cxnSp>
      <p:sp>
        <p:nvSpPr>
          <p:cNvPr id="238608" name="椭圆 7"/>
          <p:cNvSpPr/>
          <p:nvPr/>
        </p:nvSpPr>
        <p:spPr>
          <a:xfrm>
            <a:off x="2124075" y="3933825"/>
            <a:ext cx="5327650" cy="287338"/>
          </a:xfrm>
          <a:prstGeom prst="ellipse">
            <a:avLst/>
          </a:prstGeom>
          <a:noFill/>
          <a:ln w="28575" cap="flat" cmpd="sng">
            <a:solidFill>
              <a:srgbClr val="00B050"/>
            </a:solidFill>
            <a:prstDash val="soli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8609" name="矩形 10"/>
          <p:cNvSpPr/>
          <p:nvPr/>
        </p:nvSpPr>
        <p:spPr>
          <a:xfrm>
            <a:off x="1870075" y="4640263"/>
            <a:ext cx="5934075" cy="588962"/>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38610" name="矩形 16"/>
          <p:cNvSpPr/>
          <p:nvPr/>
        </p:nvSpPr>
        <p:spPr>
          <a:xfrm>
            <a:off x="1963738" y="5502275"/>
            <a:ext cx="5935662" cy="596900"/>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32470" name="Rectangle 3"/>
          <p:cNvSpPr txBox="1"/>
          <p:nvPr/>
        </p:nvSpPr>
        <p:spPr>
          <a:xfrm>
            <a:off x="505460" y="6289675"/>
            <a:ext cx="8255635" cy="40767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zh-CN" altLang="en-US" sz="1800" dirty="0">
                <a:latin typeface="Times New Roman" panose="02020603050405020304" pitchFamily="18" charset="0"/>
                <a:ea typeface="楷体_GB2312" pitchFamily="49" charset="-122"/>
                <a:sym typeface="Wingdings" panose="05000000000000000000" pitchFamily="2" charset="2"/>
              </a:rPr>
              <a:t>三小节长的含未知旋律片段与钢琴伴奏音型元结构的待确定的多声部音乐</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3" name="Rectangle 3"/>
          <p:cNvSpPr txBox="1"/>
          <p:nvPr/>
        </p:nvSpPr>
        <p:spPr>
          <a:xfrm>
            <a:off x="460375" y="2930525"/>
            <a:ext cx="3078163" cy="3211513"/>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一个带有</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旋律片段变元</a:t>
            </a:r>
            <a:r>
              <a:rPr lang="en-US" altLang="zh-CN" sz="2400" dirty="0">
                <a:latin typeface="Times New Roman" panose="02020603050405020304" pitchFamily="18" charset="0"/>
                <a:ea typeface="楷体_GB2312" pitchFamily="49" charset="-122"/>
                <a:sym typeface="Wingdings" panose="05000000000000000000" pitchFamily="2" charset="2"/>
              </a:rPr>
              <a:t>”</a:t>
            </a:r>
            <a:r>
              <a:rPr lang="zh-CN" altLang="en-US" sz="2400" dirty="0">
                <a:latin typeface="Times New Roman" panose="02020603050405020304" pitchFamily="18" charset="0"/>
                <a:ea typeface="楷体_GB2312" pitchFamily="49" charset="-122"/>
                <a:sym typeface="Wingdings" panose="05000000000000000000" pitchFamily="2" charset="2"/>
              </a:rPr>
              <a:t>的元结构可用来生成一个具有模仿或模进钢琴伴奏技术的音群结构。</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pic>
        <p:nvPicPr>
          <p:cNvPr id="240645" name="Picture 5"/>
          <p:cNvPicPr>
            <a:picLocks noChangeAspect="1"/>
          </p:cNvPicPr>
          <p:nvPr/>
        </p:nvPicPr>
        <p:blipFill>
          <a:blip r:embed="rId1"/>
          <a:stretch>
            <a:fillRect/>
          </a:stretch>
        </p:blipFill>
        <p:spPr>
          <a:xfrm>
            <a:off x="3940175" y="3124200"/>
            <a:ext cx="4657725" cy="2457450"/>
          </a:xfrm>
          <a:prstGeom prst="rect">
            <a:avLst/>
          </a:prstGeom>
          <a:noFill/>
          <a:ln w="9525">
            <a:noFill/>
          </a:ln>
        </p:spPr>
      </p:pic>
      <p:grpSp>
        <p:nvGrpSpPr>
          <p:cNvPr id="240646" name="Group 6"/>
          <p:cNvGrpSpPr/>
          <p:nvPr/>
        </p:nvGrpSpPr>
        <p:grpSpPr>
          <a:xfrm>
            <a:off x="6527800" y="4972050"/>
            <a:ext cx="1600200" cy="304800"/>
            <a:chOff x="1968" y="2496"/>
            <a:chExt cx="864" cy="240"/>
          </a:xfrm>
        </p:grpSpPr>
        <p:sp>
          <p:nvSpPr>
            <p:cNvPr id="240674" name="Line 7"/>
            <p:cNvSpPr/>
            <p:nvPr/>
          </p:nvSpPr>
          <p:spPr>
            <a:xfrm flipV="1">
              <a:off x="1968" y="2640"/>
              <a:ext cx="864" cy="96"/>
            </a:xfrm>
            <a:prstGeom prst="line">
              <a:avLst/>
            </a:prstGeom>
            <a:ln w="28575" cap="flat" cmpd="sng">
              <a:solidFill>
                <a:srgbClr val="FF0000"/>
              </a:solidFill>
              <a:prstDash val="solid"/>
              <a:headEnd type="none" w="med" len="med"/>
              <a:tailEnd type="none" w="med" len="med"/>
            </a:ln>
          </p:spPr>
        </p:sp>
        <p:sp>
          <p:nvSpPr>
            <p:cNvPr id="240675" name="Line 8"/>
            <p:cNvSpPr/>
            <p:nvPr/>
          </p:nvSpPr>
          <p:spPr>
            <a:xfrm flipV="1">
              <a:off x="1968" y="2592"/>
              <a:ext cx="0" cy="144"/>
            </a:xfrm>
            <a:prstGeom prst="line">
              <a:avLst/>
            </a:prstGeom>
            <a:ln w="28575" cap="flat" cmpd="sng">
              <a:solidFill>
                <a:srgbClr val="FF0000"/>
              </a:solidFill>
              <a:prstDash val="solid"/>
              <a:headEnd type="none" w="med" len="med"/>
              <a:tailEnd type="none" w="med" len="med"/>
            </a:ln>
          </p:spPr>
        </p:sp>
        <p:sp>
          <p:nvSpPr>
            <p:cNvPr id="240676" name="Line 9"/>
            <p:cNvSpPr/>
            <p:nvPr/>
          </p:nvSpPr>
          <p:spPr>
            <a:xfrm flipV="1">
              <a:off x="2832" y="2496"/>
              <a:ext cx="0" cy="144"/>
            </a:xfrm>
            <a:prstGeom prst="line">
              <a:avLst/>
            </a:prstGeom>
            <a:ln w="28575" cap="flat" cmpd="sng">
              <a:solidFill>
                <a:srgbClr val="FF0000"/>
              </a:solidFill>
              <a:prstDash val="solid"/>
              <a:headEnd type="none" w="med" len="med"/>
              <a:tailEnd type="none" w="med" len="med"/>
            </a:ln>
          </p:spPr>
        </p:sp>
        <p:sp>
          <p:nvSpPr>
            <p:cNvPr id="240677" name="Line 10"/>
            <p:cNvSpPr/>
            <p:nvPr/>
          </p:nvSpPr>
          <p:spPr>
            <a:xfrm flipV="1">
              <a:off x="1968" y="2496"/>
              <a:ext cx="864" cy="96"/>
            </a:xfrm>
            <a:prstGeom prst="line">
              <a:avLst/>
            </a:prstGeom>
            <a:ln w="28575" cap="flat" cmpd="sng">
              <a:solidFill>
                <a:srgbClr val="FF0000"/>
              </a:solidFill>
              <a:prstDash val="solid"/>
              <a:headEnd type="none" w="med" len="med"/>
              <a:tailEnd type="none" w="med" len="med"/>
            </a:ln>
          </p:spPr>
        </p:sp>
      </p:grpSp>
      <p:sp>
        <p:nvSpPr>
          <p:cNvPr id="240647" name="Line 11"/>
          <p:cNvSpPr/>
          <p:nvPr/>
        </p:nvSpPr>
        <p:spPr>
          <a:xfrm>
            <a:off x="4622800" y="3600450"/>
            <a:ext cx="2057400" cy="1447800"/>
          </a:xfrm>
          <a:prstGeom prst="line">
            <a:avLst/>
          </a:prstGeom>
          <a:ln w="9525" cap="flat" cmpd="sng">
            <a:solidFill>
              <a:srgbClr val="0000CC"/>
            </a:solidFill>
            <a:prstDash val="solid"/>
            <a:headEnd type="none" w="med" len="med"/>
            <a:tailEnd type="none" w="med" len="med"/>
          </a:ln>
        </p:spPr>
      </p:sp>
      <p:sp>
        <p:nvSpPr>
          <p:cNvPr id="240648" name="Line 12"/>
          <p:cNvSpPr/>
          <p:nvPr/>
        </p:nvSpPr>
        <p:spPr>
          <a:xfrm>
            <a:off x="4927600" y="3600450"/>
            <a:ext cx="2362200" cy="1447800"/>
          </a:xfrm>
          <a:prstGeom prst="line">
            <a:avLst/>
          </a:prstGeom>
          <a:ln w="9525" cap="flat" cmpd="sng">
            <a:solidFill>
              <a:srgbClr val="0000CC"/>
            </a:solidFill>
            <a:prstDash val="solid"/>
            <a:headEnd type="none" w="med" len="med"/>
            <a:tailEnd type="none" w="med" len="med"/>
          </a:ln>
        </p:spPr>
      </p:sp>
      <p:sp>
        <p:nvSpPr>
          <p:cNvPr id="240649" name="Line 13"/>
          <p:cNvSpPr/>
          <p:nvPr/>
        </p:nvSpPr>
        <p:spPr>
          <a:xfrm>
            <a:off x="5461000" y="3524250"/>
            <a:ext cx="2438400" cy="1524000"/>
          </a:xfrm>
          <a:prstGeom prst="line">
            <a:avLst/>
          </a:prstGeom>
          <a:ln w="9525" cap="flat" cmpd="sng">
            <a:solidFill>
              <a:srgbClr val="0000CC"/>
            </a:solidFill>
            <a:prstDash val="solid"/>
            <a:headEnd type="none" w="med" len="med"/>
            <a:tailEnd type="none" w="med" len="med"/>
          </a:ln>
        </p:spPr>
      </p:sp>
      <p:sp>
        <p:nvSpPr>
          <p:cNvPr id="240650" name="Rectangle 14"/>
          <p:cNvSpPr/>
          <p:nvPr/>
        </p:nvSpPr>
        <p:spPr>
          <a:xfrm>
            <a:off x="4470400" y="4133850"/>
            <a:ext cx="228600" cy="533400"/>
          </a:xfrm>
          <a:prstGeom prst="rect">
            <a:avLst/>
          </a:prstGeom>
          <a:noFill/>
          <a:ln w="9525" cap="flat" cmpd="sng">
            <a:solidFill>
              <a:srgbClr val="FF0000"/>
            </a:solidFill>
            <a:prstDash val="solid"/>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1" name="Rectangle 15"/>
          <p:cNvSpPr/>
          <p:nvPr/>
        </p:nvSpPr>
        <p:spPr>
          <a:xfrm>
            <a:off x="6604000" y="4210050"/>
            <a:ext cx="228600" cy="533400"/>
          </a:xfrm>
          <a:prstGeom prst="rect">
            <a:avLst/>
          </a:prstGeom>
          <a:noFill/>
          <a:ln w="9525" cap="flat" cmpd="sng">
            <a:solidFill>
              <a:srgbClr val="FF0000"/>
            </a:solidFill>
            <a:prstDash val="solid"/>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2" name="Rectangle 16"/>
          <p:cNvSpPr/>
          <p:nvPr/>
        </p:nvSpPr>
        <p:spPr>
          <a:xfrm>
            <a:off x="4470400" y="5048250"/>
            <a:ext cx="228600" cy="533400"/>
          </a:xfrm>
          <a:prstGeom prst="rect">
            <a:avLst/>
          </a:prstGeom>
          <a:noFill/>
          <a:ln w="9525" cap="flat" cmpd="sng">
            <a:solidFill>
              <a:srgbClr val="FF0000"/>
            </a:solidFill>
            <a:prstDash val="solid"/>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3" name="Oval 17"/>
          <p:cNvSpPr/>
          <p:nvPr/>
        </p:nvSpPr>
        <p:spPr>
          <a:xfrm>
            <a:off x="4394200" y="3981450"/>
            <a:ext cx="381000" cy="914400"/>
          </a:xfrm>
          <a:prstGeom prst="ellipse">
            <a:avLst/>
          </a:prstGeom>
          <a:noFill/>
          <a:ln w="9525" cap="flat" cmpd="sng">
            <a:solidFill>
              <a:srgbClr val="FF0000"/>
            </a:solidFill>
            <a:prstDash val="solid"/>
            <a:headEnd type="none" w="med" len="med"/>
            <a:tailEnd type="none" w="med" len="med"/>
          </a:ln>
        </p:spPr>
        <p:txBody>
          <a:bodyPr wrap="none"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4" name="Oval 18"/>
          <p:cNvSpPr/>
          <p:nvPr/>
        </p:nvSpPr>
        <p:spPr>
          <a:xfrm>
            <a:off x="6527800" y="4057650"/>
            <a:ext cx="381000" cy="914400"/>
          </a:xfrm>
          <a:prstGeom prst="ellipse">
            <a:avLst/>
          </a:prstGeom>
          <a:noFill/>
          <a:ln w="9525" cap="flat" cmpd="sng">
            <a:solidFill>
              <a:srgbClr val="FF0000"/>
            </a:solidFill>
            <a:prstDash val="solid"/>
            <a:headEnd type="none" w="med" len="med"/>
            <a:tailEnd type="none" w="med" len="med"/>
          </a:ln>
        </p:spPr>
        <p:txBody>
          <a:bodyPr wrap="none"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5" name="Oval 19"/>
          <p:cNvSpPr/>
          <p:nvPr/>
        </p:nvSpPr>
        <p:spPr>
          <a:xfrm>
            <a:off x="4394200" y="4895850"/>
            <a:ext cx="381000" cy="914400"/>
          </a:xfrm>
          <a:prstGeom prst="ellipse">
            <a:avLst/>
          </a:prstGeom>
          <a:noFill/>
          <a:ln w="9525" cap="flat" cmpd="sng">
            <a:solidFill>
              <a:srgbClr val="FF0000"/>
            </a:solidFill>
            <a:prstDash val="solid"/>
            <a:headEnd type="none" w="med" len="med"/>
            <a:tailEnd type="none" w="med" len="med"/>
          </a:ln>
        </p:spPr>
        <p:txBody>
          <a:bodyPr wrap="none"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6" name="Oval 20"/>
          <p:cNvSpPr/>
          <p:nvPr/>
        </p:nvSpPr>
        <p:spPr>
          <a:xfrm>
            <a:off x="6527800" y="5200650"/>
            <a:ext cx="381000" cy="685800"/>
          </a:xfrm>
          <a:prstGeom prst="ellipse">
            <a:avLst/>
          </a:prstGeom>
          <a:noFill/>
          <a:ln w="9525" cap="flat" cmpd="sng">
            <a:solidFill>
              <a:srgbClr val="FF0000"/>
            </a:solidFill>
            <a:prstDash val="solid"/>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7" name="Rectangle 21"/>
          <p:cNvSpPr/>
          <p:nvPr/>
        </p:nvSpPr>
        <p:spPr>
          <a:xfrm>
            <a:off x="6604000" y="5276850"/>
            <a:ext cx="228600" cy="381000"/>
          </a:xfrm>
          <a:prstGeom prst="rect">
            <a:avLst/>
          </a:prstGeom>
          <a:noFill/>
          <a:ln w="9525" cap="flat" cmpd="sng">
            <a:solidFill>
              <a:srgbClr val="FF0000"/>
            </a:solidFill>
            <a:prstDash val="solid"/>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8" name="Oval 22"/>
          <p:cNvSpPr/>
          <p:nvPr/>
        </p:nvSpPr>
        <p:spPr>
          <a:xfrm>
            <a:off x="6299200" y="4972050"/>
            <a:ext cx="2057400" cy="381000"/>
          </a:xfrm>
          <a:prstGeom prst="ellipse">
            <a:avLst/>
          </a:prstGeom>
          <a:noFill/>
          <a:ln w="9525" cap="flat" cmpd="sng">
            <a:solidFill>
              <a:srgbClr val="0000CC"/>
            </a:solidFill>
            <a:prstDash val="solid"/>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59" name="Rectangle 23"/>
          <p:cNvSpPr/>
          <p:nvPr/>
        </p:nvSpPr>
        <p:spPr>
          <a:xfrm>
            <a:off x="4241800" y="3219450"/>
            <a:ext cx="1905000" cy="2590800"/>
          </a:xfrm>
          <a:prstGeom prst="rect">
            <a:avLst/>
          </a:prstGeom>
          <a:noFill/>
          <a:ln w="12700"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60" name="Rectangle 24"/>
          <p:cNvSpPr/>
          <p:nvPr/>
        </p:nvSpPr>
        <p:spPr>
          <a:xfrm>
            <a:off x="6527800" y="3219450"/>
            <a:ext cx="1905000" cy="2590800"/>
          </a:xfrm>
          <a:prstGeom prst="rect">
            <a:avLst/>
          </a:prstGeom>
          <a:noFill/>
          <a:ln w="12700"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61" name="Rectangle 53"/>
          <p:cNvSpPr/>
          <p:nvPr/>
        </p:nvSpPr>
        <p:spPr>
          <a:xfrm>
            <a:off x="1300163" y="6082983"/>
            <a:ext cx="5494337" cy="645160"/>
          </a:xfrm>
          <a:prstGeom prst="rect">
            <a:avLst/>
          </a:prstGeom>
          <a:noFill/>
          <a:ln w="9525">
            <a:noFill/>
          </a:ln>
        </p:spPr>
        <p:txBody>
          <a:bodyPr anchor="ctr">
            <a:spAutoFit/>
          </a:bodyPr>
          <a:p>
            <a:pPr eaLnBrk="1" hangingPunct="1"/>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包含模仿以及（或）模进的声部片段</a:t>
            </a:r>
            <a:r>
              <a:rPr lang="en-US" altLang="zh-CN"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p:txBody>
      </p:sp>
      <p:grpSp>
        <p:nvGrpSpPr>
          <p:cNvPr id="240662" name="Group 47"/>
          <p:cNvGrpSpPr/>
          <p:nvPr/>
        </p:nvGrpSpPr>
        <p:grpSpPr>
          <a:xfrm>
            <a:off x="801688" y="6400800"/>
            <a:ext cx="533400" cy="457200"/>
            <a:chOff x="1968" y="2496"/>
            <a:chExt cx="864" cy="240"/>
          </a:xfrm>
        </p:grpSpPr>
        <p:sp>
          <p:nvSpPr>
            <p:cNvPr id="240670" name="Line 48"/>
            <p:cNvSpPr/>
            <p:nvPr/>
          </p:nvSpPr>
          <p:spPr>
            <a:xfrm flipV="1">
              <a:off x="1968" y="2640"/>
              <a:ext cx="864" cy="96"/>
            </a:xfrm>
            <a:prstGeom prst="line">
              <a:avLst/>
            </a:prstGeom>
            <a:ln w="28575" cap="flat" cmpd="sng">
              <a:solidFill>
                <a:srgbClr val="FF0000"/>
              </a:solidFill>
              <a:prstDash val="solid"/>
              <a:headEnd type="none" w="med" len="med"/>
              <a:tailEnd type="none" w="med" len="med"/>
            </a:ln>
          </p:spPr>
        </p:sp>
        <p:sp>
          <p:nvSpPr>
            <p:cNvPr id="240671" name="Line 49"/>
            <p:cNvSpPr/>
            <p:nvPr/>
          </p:nvSpPr>
          <p:spPr>
            <a:xfrm flipV="1">
              <a:off x="1968" y="2592"/>
              <a:ext cx="0" cy="144"/>
            </a:xfrm>
            <a:prstGeom prst="line">
              <a:avLst/>
            </a:prstGeom>
            <a:ln w="28575" cap="flat" cmpd="sng">
              <a:solidFill>
                <a:srgbClr val="FF0000"/>
              </a:solidFill>
              <a:prstDash val="solid"/>
              <a:headEnd type="none" w="med" len="med"/>
              <a:tailEnd type="none" w="med" len="med"/>
            </a:ln>
          </p:spPr>
        </p:sp>
        <p:sp>
          <p:nvSpPr>
            <p:cNvPr id="240672" name="Line 50"/>
            <p:cNvSpPr/>
            <p:nvPr/>
          </p:nvSpPr>
          <p:spPr>
            <a:xfrm flipV="1">
              <a:off x="2832" y="2496"/>
              <a:ext cx="0" cy="144"/>
            </a:xfrm>
            <a:prstGeom prst="line">
              <a:avLst/>
            </a:prstGeom>
            <a:ln w="28575" cap="flat" cmpd="sng">
              <a:solidFill>
                <a:srgbClr val="FF0000"/>
              </a:solidFill>
              <a:prstDash val="solid"/>
              <a:headEnd type="none" w="med" len="med"/>
              <a:tailEnd type="none" w="med" len="med"/>
            </a:ln>
          </p:spPr>
        </p:sp>
        <p:sp>
          <p:nvSpPr>
            <p:cNvPr id="240673" name="Line 51"/>
            <p:cNvSpPr/>
            <p:nvPr/>
          </p:nvSpPr>
          <p:spPr>
            <a:xfrm flipV="1">
              <a:off x="1968" y="2496"/>
              <a:ext cx="864" cy="96"/>
            </a:xfrm>
            <a:prstGeom prst="line">
              <a:avLst/>
            </a:prstGeom>
            <a:ln w="28575" cap="flat" cmpd="sng">
              <a:solidFill>
                <a:srgbClr val="FF0000"/>
              </a:solidFill>
              <a:prstDash val="solid"/>
              <a:headEnd type="none" w="med" len="med"/>
              <a:tailEnd type="none" w="med" len="med"/>
            </a:ln>
          </p:spPr>
        </p:sp>
      </p:grpSp>
      <p:sp>
        <p:nvSpPr>
          <p:cNvPr id="240663" name="Rectangle 72"/>
          <p:cNvSpPr/>
          <p:nvPr/>
        </p:nvSpPr>
        <p:spPr>
          <a:xfrm>
            <a:off x="801688" y="5948363"/>
            <a:ext cx="304800" cy="381000"/>
          </a:xfrm>
          <a:prstGeom prst="rect">
            <a:avLst/>
          </a:prstGeom>
          <a:noFill/>
          <a:ln w="12700"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64" name="Rectangle 75"/>
          <p:cNvSpPr/>
          <p:nvPr/>
        </p:nvSpPr>
        <p:spPr>
          <a:xfrm>
            <a:off x="1030288" y="5779771"/>
            <a:ext cx="7454900" cy="645160"/>
          </a:xfrm>
          <a:prstGeom prst="rect">
            <a:avLst/>
          </a:prstGeom>
          <a:noFill/>
          <a:ln w="9525">
            <a:noFill/>
          </a:ln>
        </p:spPr>
        <p:txBody>
          <a:bodyPr anchor="ctr">
            <a:spAutoFit/>
          </a:bodyPr>
          <a:p>
            <a:pPr eaLnBrk="1" hangingPunct="1"/>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用于计算最优特征和弦的音群</a:t>
            </a:r>
            <a:r>
              <a:rPr lang="en-US" altLang="zh-CN"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p:txBody>
      </p:sp>
      <p:sp>
        <p:nvSpPr>
          <p:cNvPr id="240665" name="Rectangle 41"/>
          <p:cNvSpPr/>
          <p:nvPr/>
        </p:nvSpPr>
        <p:spPr>
          <a:xfrm>
            <a:off x="806450" y="5462588"/>
            <a:ext cx="152400" cy="396875"/>
          </a:xfrm>
          <a:prstGeom prst="rect">
            <a:avLst/>
          </a:prstGeom>
          <a:noFill/>
          <a:ln w="9525" cap="flat" cmpd="sng">
            <a:solidFill>
              <a:srgbClr val="FF0000"/>
            </a:solidFill>
            <a:prstDash val="solid"/>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0666" name="Rectangle 43"/>
          <p:cNvSpPr/>
          <p:nvPr/>
        </p:nvSpPr>
        <p:spPr>
          <a:xfrm>
            <a:off x="882650" y="5308283"/>
            <a:ext cx="5257800" cy="645160"/>
          </a:xfrm>
          <a:prstGeom prst="rect">
            <a:avLst/>
          </a:prstGeom>
          <a:noFill/>
          <a:ln w="9525">
            <a:noFill/>
          </a:ln>
        </p:spPr>
        <p:txBody>
          <a:bodyPr anchor="ctr">
            <a:spAutoFit/>
          </a:bodyPr>
          <a:p>
            <a:pPr eaLnBrk="1" hangingPunct="1"/>
            <a:r>
              <a:rPr lang="en-US" altLang="zh-CN" sz="20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等音符时值的并发音群</a:t>
            </a:r>
            <a:r>
              <a:rPr lang="en-US" altLang="zh-CN"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p:txBody>
      </p:sp>
      <p:sp>
        <p:nvSpPr>
          <p:cNvPr id="240667" name="Rectangle 46"/>
          <p:cNvSpPr/>
          <p:nvPr/>
        </p:nvSpPr>
        <p:spPr>
          <a:xfrm>
            <a:off x="1831975" y="4991100"/>
            <a:ext cx="1803400" cy="368300"/>
          </a:xfrm>
          <a:prstGeom prst="rect">
            <a:avLst/>
          </a:prstGeom>
          <a:noFill/>
          <a:ln w="9525">
            <a:noFill/>
          </a:ln>
        </p:spPr>
        <p:txBody>
          <a:bodyPr anchor="ctr">
            <a:spAutoFit/>
          </a:bodyPr>
          <a:p>
            <a:pPr eaLnBrk="1" hangingPunct="1"/>
            <a:r>
              <a:rPr lang="en-US" altLang="zh-CN"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声部片段</a:t>
            </a:r>
            <a:endParaRPr lang="zh-CN" altLang="en-US" sz="1800" dirty="0">
              <a:latin typeface="Times New Roman" panose="02020603050405020304" pitchFamily="18" charset="0"/>
              <a:ea typeface="宋体" panose="02010600030101010101" pitchFamily="2" charset="-122"/>
            </a:endParaRPr>
          </a:p>
        </p:txBody>
      </p:sp>
      <p:sp>
        <p:nvSpPr>
          <p:cNvPr id="240668" name="椭圆 15"/>
          <p:cNvSpPr/>
          <p:nvPr/>
        </p:nvSpPr>
        <p:spPr>
          <a:xfrm>
            <a:off x="842963" y="5005388"/>
            <a:ext cx="144462" cy="360362"/>
          </a:xfrm>
          <a:prstGeom prst="ellipse">
            <a:avLst/>
          </a:prstGeom>
          <a:noFill/>
          <a:ln w="9525" cap="flat" cmpd="sng">
            <a:solidFill>
              <a:srgbClr val="FF0000"/>
            </a:solidFill>
            <a:prstDash val="soli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40669" name="椭圆 16"/>
          <p:cNvSpPr/>
          <p:nvPr/>
        </p:nvSpPr>
        <p:spPr>
          <a:xfrm>
            <a:off x="1187450" y="5086350"/>
            <a:ext cx="504825" cy="215900"/>
          </a:xfrm>
          <a:prstGeom prst="ellipse">
            <a:avLst/>
          </a:prstGeom>
          <a:noFill/>
          <a:ln w="9525" cap="flat" cmpd="sng">
            <a:solidFill>
              <a:srgbClr val="FF0000"/>
            </a:solidFill>
            <a:prstDash val="soli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2690" name="图片 1"/>
          <p:cNvPicPr>
            <a:picLocks noChangeAspect="1"/>
          </p:cNvPicPr>
          <p:nvPr/>
        </p:nvPicPr>
        <p:blipFill>
          <a:blip r:embed="rId1"/>
          <a:stretch>
            <a:fillRect/>
          </a:stretch>
        </p:blipFill>
        <p:spPr>
          <a:xfrm>
            <a:off x="1485900" y="3757613"/>
            <a:ext cx="6540500" cy="2598737"/>
          </a:xfrm>
          <a:prstGeom prst="rect">
            <a:avLst/>
          </a:prstGeom>
          <a:noFill/>
          <a:ln w="9525">
            <a:noFill/>
          </a:ln>
        </p:spPr>
      </p:pic>
      <p:sp>
        <p:nvSpPr>
          <p:cNvPr id="242692" name="Rectangle 3"/>
          <p:cNvSpPr txBox="1"/>
          <p:nvPr/>
        </p:nvSpPr>
        <p:spPr>
          <a:xfrm>
            <a:off x="457200" y="2856230"/>
            <a:ext cx="7940675" cy="769938"/>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 </a:t>
            </a:r>
            <a:r>
              <a:rPr lang="en-US" altLang="zh-CN" sz="2400" dirty="0">
                <a:latin typeface="Times New Roman" panose="02020603050405020304" pitchFamily="18" charset="0"/>
                <a:ea typeface="楷体_GB2312" pitchFamily="49" charset="-122"/>
                <a:sym typeface="Wingdings" panose="05000000000000000000" pitchFamily="2" charset="2"/>
              </a:rPr>
              <a:t>“根音变元”与“旋律片段变元”的值将通过输入的旋律片段及“音高描述字段”的值确定</a:t>
            </a:r>
            <a:r>
              <a:rPr lang="zh-CN" altLang="en-US" sz="2400" dirty="0">
                <a:latin typeface="Times New Roman" panose="02020603050405020304" pitchFamily="18" charset="0"/>
                <a:ea typeface="楷体_GB2312" pitchFamily="49" charset="-122"/>
                <a:sym typeface="Wingdings" panose="05000000000000000000" pitchFamily="2" charset="2"/>
              </a:rPr>
              <a:t>。</a:t>
            </a:r>
            <a:endParaRPr lang="en-US" altLang="zh-CN" sz="24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42694" name="矩形 4"/>
          <p:cNvSpPr/>
          <p:nvPr/>
        </p:nvSpPr>
        <p:spPr>
          <a:xfrm>
            <a:off x="1524000" y="3860800"/>
            <a:ext cx="6221413" cy="504825"/>
          </a:xfrm>
          <a:prstGeom prst="rect">
            <a:avLst/>
          </a:prstGeom>
          <a:noFill/>
          <a:ln w="19050" cap="flat" cmpd="sng">
            <a:solidFill>
              <a:srgbClr val="C0000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42695" name="Rectangle 68"/>
          <p:cNvSpPr/>
          <p:nvPr/>
        </p:nvSpPr>
        <p:spPr>
          <a:xfrm>
            <a:off x="4027488" y="3798888"/>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cxnSp>
        <p:nvCxnSpPr>
          <p:cNvPr id="242696" name="直接连接符 11"/>
          <p:cNvCxnSpPr/>
          <p:nvPr/>
        </p:nvCxnSpPr>
        <p:spPr>
          <a:xfrm flipH="1">
            <a:off x="1187450" y="4437063"/>
            <a:ext cx="792163" cy="720725"/>
          </a:xfrm>
          <a:prstGeom prst="line">
            <a:avLst/>
          </a:prstGeom>
          <a:ln w="28575" cap="flat" cmpd="sng">
            <a:solidFill>
              <a:srgbClr val="FF0000"/>
            </a:solidFill>
            <a:prstDash val="solid"/>
            <a:headEnd type="none" w="med" len="med"/>
            <a:tailEnd type="none" w="med" len="med"/>
          </a:ln>
        </p:spPr>
      </p:cxnSp>
      <p:sp>
        <p:nvSpPr>
          <p:cNvPr id="242697" name="Rectangle 68"/>
          <p:cNvSpPr/>
          <p:nvPr/>
        </p:nvSpPr>
        <p:spPr>
          <a:xfrm>
            <a:off x="6019800" y="3783013"/>
            <a:ext cx="1905000" cy="2590800"/>
          </a:xfrm>
          <a:prstGeom prst="rect">
            <a:avLst/>
          </a:prstGeom>
          <a:noFill/>
          <a:ln w="28575" cap="flat" cmpd="sng">
            <a:solidFill>
              <a:srgbClr val="FF0000"/>
            </a:solidFill>
            <a:prstDash val="dashDot"/>
            <a:miter/>
            <a:headEnd type="none" w="med" len="med"/>
            <a:tailEnd type="none" w="med" len="med"/>
          </a:ln>
        </p:spPr>
        <p:txBody>
          <a:bodyPr anchor="ctr">
            <a:spAutoFit/>
          </a:bodyPr>
          <a:p>
            <a:pPr eaLnBrk="1" hangingPunct="1">
              <a:lnSpc>
                <a:spcPct val="120000"/>
              </a:lnSpc>
            </a:pPr>
            <a:endParaRPr lang="zh-CN" altLang="en-US" dirty="0">
              <a:latin typeface="宋体" panose="02010600030101010101" pitchFamily="2" charset="-122"/>
              <a:ea typeface="宋体" panose="02010600030101010101" pitchFamily="2" charset="-122"/>
            </a:endParaRPr>
          </a:p>
        </p:txBody>
      </p:sp>
      <p:sp>
        <p:nvSpPr>
          <p:cNvPr id="242698" name="Rectangle 3"/>
          <p:cNvSpPr txBox="1"/>
          <p:nvPr/>
        </p:nvSpPr>
        <p:spPr>
          <a:xfrm>
            <a:off x="119063" y="4826000"/>
            <a:ext cx="1465262" cy="347663"/>
          </a:xfrm>
          <a:prstGeom prst="rect">
            <a:avLst/>
          </a:prstGeom>
          <a:noFill/>
          <a:ln w="9525">
            <a:noFill/>
          </a:ln>
        </p:spPr>
        <p:txBody>
          <a:bodyPr/>
          <a:p>
            <a:pPr eaLnBrk="1" hangingPunct="1"/>
            <a:r>
              <a:rPr lang="zh-CN" altLang="en-US" sz="1600" dirty="0">
                <a:latin typeface="Times New Roman" panose="02020603050405020304" pitchFamily="18" charset="0"/>
                <a:ea typeface="宋体" panose="02010600030101010101" pitchFamily="2" charset="-122"/>
                <a:sym typeface="+mn-ea"/>
              </a:rPr>
              <a:t>用于计算</a:t>
            </a:r>
            <a:r>
              <a:rPr lang="zh-CN" altLang="en-US" sz="1600" dirty="0">
                <a:solidFill>
                  <a:srgbClr val="FF0000"/>
                </a:solidFill>
                <a:latin typeface="Times New Roman" panose="02020603050405020304" pitchFamily="18" charset="0"/>
                <a:ea typeface="宋体" panose="02010600030101010101" pitchFamily="2" charset="-122"/>
                <a:sym typeface="+mn-ea"/>
              </a:rPr>
              <a:t>最优特征和弦</a:t>
            </a:r>
            <a:r>
              <a:rPr lang="zh-CN" altLang="en-US" sz="1600" dirty="0">
                <a:latin typeface="Times New Roman" panose="02020603050405020304" pitchFamily="18" charset="0"/>
                <a:ea typeface="宋体" panose="02010600030101010101" pitchFamily="2" charset="-122"/>
                <a:sym typeface="+mn-ea"/>
              </a:rPr>
              <a:t>的</a:t>
            </a:r>
            <a:r>
              <a:rPr lang="zh-CN" altLang="en-US" sz="1600" dirty="0">
                <a:solidFill>
                  <a:srgbClr val="FF0000"/>
                </a:solidFill>
                <a:latin typeface="Times New Roman" panose="02020603050405020304" pitchFamily="18" charset="0"/>
                <a:ea typeface="宋体" panose="02010600030101010101" pitchFamily="2" charset="-122"/>
                <a:sym typeface="+mn-ea"/>
              </a:rPr>
              <a:t>多声部音群</a:t>
            </a:r>
            <a:endParaRPr lang="en-US" altLang="zh-CN" sz="1600" b="1" dirty="0">
              <a:solidFill>
                <a:srgbClr val="FF0000"/>
              </a:solidFill>
              <a:latin typeface="宋体" panose="02010600030101010101" pitchFamily="2" charset="-122"/>
              <a:ea typeface="楷体_GB2312" pitchFamily="49" charset="-122"/>
            </a:endParaRPr>
          </a:p>
        </p:txBody>
      </p:sp>
      <p:cxnSp>
        <p:nvCxnSpPr>
          <p:cNvPr id="242699" name="直接连接符 14"/>
          <p:cNvCxnSpPr/>
          <p:nvPr/>
        </p:nvCxnSpPr>
        <p:spPr>
          <a:xfrm flipH="1">
            <a:off x="1187450" y="4725988"/>
            <a:ext cx="2736850" cy="431800"/>
          </a:xfrm>
          <a:prstGeom prst="line">
            <a:avLst/>
          </a:prstGeom>
          <a:ln w="28575" cap="flat" cmpd="sng">
            <a:solidFill>
              <a:srgbClr val="FF0000"/>
            </a:solidFill>
            <a:prstDash val="solid"/>
            <a:headEnd type="none" w="med" len="med"/>
            <a:tailEnd type="none" w="med" len="med"/>
          </a:ln>
        </p:spPr>
      </p:cxnSp>
      <p:cxnSp>
        <p:nvCxnSpPr>
          <p:cNvPr id="242700" name="直接连接符 15"/>
          <p:cNvCxnSpPr/>
          <p:nvPr/>
        </p:nvCxnSpPr>
        <p:spPr>
          <a:xfrm flipH="1">
            <a:off x="1187450" y="4797425"/>
            <a:ext cx="4824413" cy="360363"/>
          </a:xfrm>
          <a:prstGeom prst="line">
            <a:avLst/>
          </a:prstGeom>
          <a:ln w="28575" cap="flat" cmpd="sng">
            <a:solidFill>
              <a:srgbClr val="FF0000"/>
            </a:solidFill>
            <a:prstDash val="solid"/>
            <a:headEnd type="none" w="med" len="med"/>
            <a:tailEnd type="none" w="med" len="med"/>
          </a:ln>
        </p:spPr>
      </p:cxnSp>
      <p:sp>
        <p:nvSpPr>
          <p:cNvPr id="242701" name="Rectangle 3"/>
          <p:cNvSpPr txBox="1"/>
          <p:nvPr/>
        </p:nvSpPr>
        <p:spPr>
          <a:xfrm>
            <a:off x="119063" y="4364038"/>
            <a:ext cx="1465262" cy="346075"/>
          </a:xfrm>
          <a:prstGeom prst="rect">
            <a:avLst/>
          </a:prstGeom>
          <a:noFill/>
          <a:ln w="9525">
            <a:noFill/>
          </a:ln>
        </p:spPr>
        <p:txBody>
          <a:bodyPr/>
          <a:p>
            <a:pPr eaLnBrk="1" hangingPunct="1">
              <a:spcBef>
                <a:spcPct val="20000"/>
              </a:spcBef>
            </a:pPr>
            <a:r>
              <a:rPr lang="zh-CN" altLang="en-US" sz="1600" dirty="0">
                <a:solidFill>
                  <a:srgbClr val="C00000"/>
                </a:solidFill>
                <a:latin typeface="Times New Roman" panose="02020603050405020304" pitchFamily="18" charset="0"/>
                <a:ea typeface="楷体_GB2312" pitchFamily="49" charset="-122"/>
                <a:sym typeface="Wingdings" panose="05000000000000000000" pitchFamily="2" charset="2"/>
              </a:rPr>
              <a:t>旋律声部</a:t>
            </a:r>
            <a:endParaRPr lang="zh-CN" altLang="en-US" sz="1600" dirty="0">
              <a:solidFill>
                <a:srgbClr val="C00000"/>
              </a:solidFill>
              <a:latin typeface="Times New Roman" panose="02020603050405020304" pitchFamily="18" charset="0"/>
              <a:ea typeface="楷体_GB2312" pitchFamily="49" charset="-122"/>
              <a:sym typeface="Wingdings" panose="05000000000000000000" pitchFamily="2" charset="2"/>
            </a:endParaRPr>
          </a:p>
        </p:txBody>
      </p:sp>
      <p:cxnSp>
        <p:nvCxnSpPr>
          <p:cNvPr id="242702" name="直接连接符 3"/>
          <p:cNvCxnSpPr/>
          <p:nvPr/>
        </p:nvCxnSpPr>
        <p:spPr>
          <a:xfrm flipH="1">
            <a:off x="1138238" y="4208463"/>
            <a:ext cx="385762" cy="268287"/>
          </a:xfrm>
          <a:prstGeom prst="line">
            <a:avLst/>
          </a:prstGeom>
          <a:ln w="28575" cap="flat" cmpd="sng">
            <a:solidFill>
              <a:srgbClr val="C00000"/>
            </a:solidFill>
            <a:prstDash val="solid"/>
            <a:headEnd type="none" w="med" len="med"/>
            <a:tailEnd type="none" w="med" len="med"/>
          </a:ln>
        </p:spPr>
      </p:cxnSp>
      <p:sp>
        <p:nvSpPr>
          <p:cNvPr id="242703" name="椭圆 7"/>
          <p:cNvSpPr/>
          <p:nvPr/>
        </p:nvSpPr>
        <p:spPr>
          <a:xfrm>
            <a:off x="2124075" y="3933825"/>
            <a:ext cx="5327650" cy="287338"/>
          </a:xfrm>
          <a:prstGeom prst="ellipse">
            <a:avLst/>
          </a:prstGeom>
          <a:noFill/>
          <a:ln w="28575" cap="flat" cmpd="sng">
            <a:solidFill>
              <a:srgbClr val="00B050"/>
            </a:solidFill>
            <a:prstDash val="soli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42704" name="矩形 10"/>
          <p:cNvSpPr/>
          <p:nvPr/>
        </p:nvSpPr>
        <p:spPr>
          <a:xfrm>
            <a:off x="1870075" y="4640263"/>
            <a:ext cx="5934075" cy="588962"/>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42705" name="矩形 16"/>
          <p:cNvSpPr/>
          <p:nvPr/>
        </p:nvSpPr>
        <p:spPr>
          <a:xfrm>
            <a:off x="1963738" y="5502275"/>
            <a:ext cx="5935662" cy="596900"/>
          </a:xfrm>
          <a:prstGeom prst="rect">
            <a:avLst/>
          </a:prstGeom>
          <a:noFill/>
          <a:ln w="19050" cap="flat" cmpd="sng">
            <a:solidFill>
              <a:srgbClr val="00B0F0"/>
            </a:solidFill>
            <a:prstDash val="solid"/>
            <a:round/>
            <a:headEnd type="none" w="med" len="med"/>
            <a:tailEnd type="none" w="med" len="med"/>
          </a:ln>
        </p:spPr>
        <p:txBody>
          <a:bodyPr wrap="none"/>
          <a:p>
            <a:pPr eaLnBrk="1" hangingPunct="1"/>
            <a:endParaRPr lang="en-US" altLang="zh-CN" dirty="0">
              <a:latin typeface="Chiller" panose="04020404031007020602" pitchFamily="82" charset="0"/>
              <a:ea typeface="宋体" panose="02010600030101010101" pitchFamily="2" charset="-122"/>
            </a:endParaRPr>
          </a:p>
        </p:txBody>
      </p:sp>
      <p:sp>
        <p:nvSpPr>
          <p:cNvPr id="242706" name="Rectangle 3"/>
          <p:cNvSpPr txBox="1"/>
          <p:nvPr/>
        </p:nvSpPr>
        <p:spPr>
          <a:xfrm>
            <a:off x="1109663" y="6288088"/>
            <a:ext cx="7932737" cy="407987"/>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 meta-structure of piano accompaniment figure with 3 bars length</a:t>
            </a:r>
            <a:endParaRPr lang="en-US" altLang="zh-CN" sz="18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18700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4" name="Rectangle 2"/>
          <p:cNvSpPr>
            <a:spLocks noGrp="1"/>
          </p:cNvSpPr>
          <p:nvPr/>
        </p:nvSpPr>
        <p:spPr>
          <a:xfrm>
            <a:off x="25527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 name="Rectangle 3"/>
          <p:cNvSpPr txBox="1"/>
          <p:nvPr/>
        </p:nvSpPr>
        <p:spPr>
          <a:xfrm>
            <a:off x="20224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9" name="Rectangle 3"/>
          <p:cNvSpPr txBox="1"/>
          <p:nvPr/>
        </p:nvSpPr>
        <p:spPr>
          <a:xfrm>
            <a:off x="457200" y="2784475"/>
            <a:ext cx="7940675" cy="769938"/>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400" dirty="0">
                <a:latin typeface="Times New Roman" panose="02020603050405020304" pitchFamily="18" charset="0"/>
                <a:ea typeface="楷体_GB2312" pitchFamily="49" charset="-122"/>
                <a:sym typeface="Wingdings" panose="05000000000000000000" pitchFamily="2" charset="2"/>
              </a:rPr>
              <a:t>“音高描述字段”的值</a:t>
            </a:r>
            <a:r>
              <a:rPr lang="zh-CN" altLang="en-US" sz="2400" dirty="0">
                <a:latin typeface="Times New Roman" panose="02020603050405020304" pitchFamily="18" charset="0"/>
                <a:ea typeface="楷体_GB2312" pitchFamily="49" charset="-122"/>
                <a:sym typeface="Wingdings" panose="05000000000000000000" pitchFamily="2" charset="2"/>
              </a:rPr>
              <a:t>可以同过</a:t>
            </a:r>
            <a:r>
              <a:rPr lang="en-US" altLang="zh-CN" sz="2400" dirty="0">
                <a:latin typeface="Times New Roman" panose="02020603050405020304" pitchFamily="18" charset="0"/>
                <a:ea typeface="楷体_GB2312" pitchFamily="49" charset="-122"/>
                <a:sym typeface="Wingdings" panose="05000000000000000000" pitchFamily="2" charset="2"/>
              </a:rPr>
              <a:t>BNF</a:t>
            </a:r>
            <a:r>
              <a:rPr lang="zh-CN" altLang="en-US" sz="2400" dirty="0">
                <a:latin typeface="Times New Roman" panose="02020603050405020304" pitchFamily="18" charset="0"/>
                <a:ea typeface="楷体_GB2312" pitchFamily="49" charset="-122"/>
                <a:sym typeface="Wingdings" panose="05000000000000000000" pitchFamily="2" charset="2"/>
              </a:rPr>
              <a:t>范式描述如下</a:t>
            </a:r>
            <a:r>
              <a:rPr lang="en-US" altLang="zh-CN" sz="2400" dirty="0">
                <a:latin typeface="Times New Roman" panose="02020603050405020304" pitchFamily="18" charset="0"/>
                <a:ea typeface="楷体_GB2312" pitchFamily="49" charset="-122"/>
                <a:sym typeface="Wingdings" panose="05000000000000000000" pitchFamily="2" charset="2"/>
              </a:rPr>
              <a:t>:</a:t>
            </a:r>
            <a:endParaRPr lang="en-US" altLang="zh-CN" sz="24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202248"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钢琴伴奏音型元结构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6" name="Rectangle 3"/>
          <p:cNvSpPr txBox="1"/>
          <p:nvPr/>
        </p:nvSpPr>
        <p:spPr>
          <a:xfrm>
            <a:off x="368300" y="3486150"/>
            <a:ext cx="8724900" cy="769938"/>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Pitch Description::=&lt;Voice</a:t>
            </a:r>
            <a:r>
              <a:rPr lang="en-US" altLang="zh-CN" sz="1800" baseline="-25000" dirty="0">
                <a:latin typeface="Times New Roman" panose="02020603050405020304" pitchFamily="18" charset="0"/>
                <a:ea typeface="楷体_GB2312" pitchFamily="49" charset="-122"/>
                <a:sym typeface="Wingdings" panose="05000000000000000000" pitchFamily="2" charset="2"/>
              </a:rPr>
              <a:t>1</a:t>
            </a:r>
            <a:r>
              <a:rPr lang="en-US" altLang="zh-CN" sz="1800" dirty="0">
                <a:latin typeface="Times New Roman" panose="02020603050405020304" pitchFamily="18" charset="0"/>
                <a:ea typeface="楷体_GB2312" pitchFamily="49" charset="-122"/>
                <a:sym typeface="Wingdings" panose="05000000000000000000" pitchFamily="2" charset="2"/>
              </a:rPr>
              <a:t>&gt;| · · · |&lt;Voice</a:t>
            </a:r>
            <a:r>
              <a:rPr lang="en-US" altLang="zh-CN" sz="1800" i="1" baseline="-25000" dirty="0">
                <a:latin typeface="Times New Roman" panose="02020603050405020304" pitchFamily="18" charset="0"/>
                <a:ea typeface="楷体_GB2312" pitchFamily="49" charset="-122"/>
                <a:sym typeface="Wingdings" panose="05000000000000000000" pitchFamily="2" charset="2"/>
              </a:rPr>
              <a:t>N</a:t>
            </a:r>
            <a:r>
              <a:rPr lang="en-US" altLang="zh-CN" sz="1800" dirty="0">
                <a:latin typeface="Times New Roman" panose="02020603050405020304" pitchFamily="18" charset="0"/>
                <a:ea typeface="楷体_GB2312" pitchFamily="49" charset="-122"/>
                <a:sym typeface="Wingdings" panose="05000000000000000000" pitchFamily="2" charset="2"/>
              </a:rPr>
              <a:t>&gt; </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zh-CN" altLang="en-US" sz="1800" dirty="0">
                <a:latin typeface="Times New Roman" panose="02020603050405020304" pitchFamily="18" charset="0"/>
                <a:ea typeface="楷体_GB2312" pitchFamily="49" charset="-122"/>
                <a:sym typeface="Wingdings" panose="05000000000000000000" pitchFamily="2" charset="2"/>
              </a:rPr>
              <a:t>其中</a:t>
            </a:r>
            <a:r>
              <a:rPr lang="en-US" altLang="zh-CN" sz="1800" dirty="0">
                <a:latin typeface="Times New Roman" panose="02020603050405020304" pitchFamily="18" charset="0"/>
                <a:ea typeface="楷体_GB2312" pitchFamily="49" charset="-122"/>
                <a:sym typeface="Wingdings" panose="05000000000000000000" pitchFamily="2" charset="2"/>
              </a:rPr>
              <a:t>:</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&lt;Voice</a:t>
            </a:r>
            <a:r>
              <a:rPr lang="en-US" altLang="zh-CN" sz="1800" baseline="-25000" dirty="0">
                <a:latin typeface="Times New Roman" panose="02020603050405020304" pitchFamily="18" charset="0"/>
                <a:ea typeface="楷体_GB2312" pitchFamily="49" charset="-122"/>
                <a:sym typeface="Wingdings" panose="05000000000000000000" pitchFamily="2" charset="2"/>
              </a:rPr>
              <a:t>Voice No.</a:t>
            </a:r>
            <a:r>
              <a:rPr lang="en-US" altLang="zh-CN" sz="1800" dirty="0">
                <a:latin typeface="Times New Roman" panose="02020603050405020304" pitchFamily="18" charset="0"/>
                <a:ea typeface="楷体_GB2312" pitchFamily="49" charset="-122"/>
                <a:sym typeface="Wingdings" panose="05000000000000000000" pitchFamily="2" charset="2"/>
              </a:rPr>
              <a:t>&gt;::=V&lt;Voice No.&gt; :&lt;Voice piece&gt;; </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zh-CN" altLang="en-US" sz="1800" dirty="0">
                <a:latin typeface="Times New Roman" panose="02020603050405020304" pitchFamily="18" charset="0"/>
                <a:ea typeface="楷体_GB2312" pitchFamily="49" charset="-122"/>
                <a:sym typeface="Wingdings" panose="05000000000000000000" pitchFamily="2" charset="2"/>
              </a:rPr>
              <a:t>其中</a:t>
            </a:r>
            <a:r>
              <a:rPr lang="en-US" altLang="zh-CN" sz="1800" dirty="0">
                <a:latin typeface="Times New Roman" panose="02020603050405020304" pitchFamily="18" charset="0"/>
                <a:ea typeface="楷体_GB2312" pitchFamily="49" charset="-122"/>
                <a:sym typeface="Wingdings" panose="05000000000000000000" pitchFamily="2" charset="2"/>
              </a:rPr>
              <a:t>:</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&lt;Voice No.&gt;::=1|2|3|4|···|</a:t>
            </a:r>
            <a:r>
              <a:rPr lang="en-US" altLang="zh-CN" sz="1800" i="1" dirty="0">
                <a:latin typeface="Times New Roman" panose="02020603050405020304" pitchFamily="18" charset="0"/>
                <a:ea typeface="楷体_GB2312" pitchFamily="49" charset="-122"/>
                <a:sym typeface="Wingdings" panose="05000000000000000000" pitchFamily="2" charset="2"/>
              </a:rPr>
              <a:t>N</a:t>
            </a:r>
            <a:r>
              <a:rPr lang="en-US" altLang="zh-CN" sz="1800" dirty="0">
                <a:latin typeface="Times New Roman" panose="02020603050405020304" pitchFamily="18" charset="0"/>
                <a:ea typeface="楷体_GB2312" pitchFamily="49" charset="-122"/>
                <a:sym typeface="Wingdings" panose="05000000000000000000" pitchFamily="2" charset="2"/>
              </a:rPr>
              <a:t> </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&lt;Voice piece&gt;::=S1:&lt;No imitation/sequence part&gt;|S2:&lt;Imitation/sequence part&gt;</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zh-CN" altLang="en-US" sz="1800" dirty="0">
                <a:latin typeface="Times New Roman" panose="02020603050405020304" pitchFamily="18" charset="0"/>
                <a:ea typeface="楷体_GB2312" pitchFamily="49" charset="-122"/>
                <a:sym typeface="Wingdings" panose="05000000000000000000" pitchFamily="2" charset="2"/>
              </a:rPr>
              <a:t>其中</a:t>
            </a:r>
            <a:r>
              <a:rPr lang="en-US" altLang="zh-CN" sz="1800" dirty="0">
                <a:latin typeface="Times New Roman" panose="02020603050405020304" pitchFamily="18" charset="0"/>
                <a:ea typeface="楷体_GB2312" pitchFamily="49" charset="-122"/>
                <a:sym typeface="Wingdings" panose="05000000000000000000" pitchFamily="2" charset="2"/>
              </a:rPr>
              <a:t>:</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&lt;No imitation/sequence part&gt;::={Note value, Position{, R-step displacement name}</a:t>
            </a:r>
            <a:r>
              <a:rPr lang="en-US" altLang="zh-CN" sz="1800" baseline="30000" dirty="0">
                <a:latin typeface="Times New Roman" panose="02020603050405020304" pitchFamily="18" charset="0"/>
                <a:ea typeface="楷体_GB2312" pitchFamily="49" charset="-122"/>
                <a:sym typeface="Wingdings" panose="05000000000000000000" pitchFamily="2" charset="2"/>
              </a:rPr>
              <a:t>+</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1800" baseline="30000" dirty="0">
                <a:latin typeface="Times New Roman" panose="02020603050405020304" pitchFamily="18" charset="0"/>
                <a:ea typeface="楷体_GB2312" pitchFamily="49" charset="-122"/>
                <a:sym typeface="Wingdings" panose="05000000000000000000" pitchFamily="2" charset="2"/>
              </a:rPr>
              <a:t>+</a:t>
            </a:r>
            <a:r>
              <a:rPr lang="en-US" altLang="zh-CN" sz="1800" dirty="0">
                <a:latin typeface="Times New Roman" panose="02020603050405020304" pitchFamily="18" charset="0"/>
                <a:ea typeface="楷体_GB2312" pitchFamily="49" charset="-122"/>
                <a:sym typeface="Wingdings" panose="05000000000000000000" pitchFamily="2" charset="2"/>
              </a:rPr>
              <a:t> &lt;Imitation/sequence part&gt;::={Bar No., Ordinal number, Position{, R-step</a:t>
            </a:r>
            <a:endParaRPr lang="en-US" altLang="zh-CN" sz="18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displacement name}</a:t>
            </a:r>
            <a:r>
              <a:rPr lang="en-US" altLang="zh-CN" sz="1800" baseline="30000" dirty="0">
                <a:latin typeface="Times New Roman" panose="02020603050405020304" pitchFamily="18" charset="0"/>
                <a:ea typeface="楷体_GB2312" pitchFamily="49" charset="-122"/>
                <a:sym typeface="Wingdings" panose="05000000000000000000" pitchFamily="2" charset="2"/>
              </a:rPr>
              <a:t>+</a:t>
            </a:r>
            <a:r>
              <a:rPr lang="en-US" altLang="zh-CN" sz="1800" dirty="0">
                <a:latin typeface="Times New Roman" panose="02020603050405020304" pitchFamily="18" charset="0"/>
                <a:ea typeface="楷体_GB2312" pitchFamily="49" charset="-122"/>
                <a:sym typeface="Wingdings" panose="05000000000000000000" pitchFamily="2" charset="2"/>
              </a:rPr>
              <a:t>%}</a:t>
            </a:r>
            <a:r>
              <a:rPr lang="en-US" altLang="zh-CN" sz="1800" baseline="30000" dirty="0">
                <a:latin typeface="Times New Roman" panose="02020603050405020304" pitchFamily="18" charset="0"/>
                <a:ea typeface="楷体_GB2312" pitchFamily="49" charset="-122"/>
                <a:sym typeface="Wingdings" panose="05000000000000000000" pitchFamily="2" charset="2"/>
              </a:rPr>
              <a:t>+</a:t>
            </a:r>
            <a:r>
              <a:rPr lang="en-US" altLang="zh-CN" sz="1800" dirty="0">
                <a:latin typeface="Times New Roman" panose="02020603050405020304" pitchFamily="18" charset="0"/>
                <a:ea typeface="楷体_GB2312" pitchFamily="49" charset="-122"/>
                <a:sym typeface="Wingdings" panose="05000000000000000000" pitchFamily="2" charset="2"/>
              </a:rPr>
              <a:t>&lt;Note value&gt;</a:t>
            </a:r>
            <a:r>
              <a:rPr lang="en-US" altLang="zh-CN" sz="1600" dirty="0">
                <a:latin typeface="Times New Roman" panose="02020603050405020304" pitchFamily="18" charset="0"/>
                <a:ea typeface="楷体_GB2312" pitchFamily="49" charset="-122"/>
                <a:sym typeface="Wingdings" panose="05000000000000000000" pitchFamily="2" charset="2"/>
              </a:rPr>
              <a:t> </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3"/>
          <p:cNvSpPr txBox="1"/>
          <p:nvPr/>
        </p:nvSpPr>
        <p:spPr>
          <a:xfrm>
            <a:off x="182563" y="2100263"/>
            <a:ext cx="9170987"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46787" name="Rectangle 3"/>
          <p:cNvSpPr txBox="1"/>
          <p:nvPr/>
        </p:nvSpPr>
        <p:spPr>
          <a:xfrm>
            <a:off x="457200" y="2713038"/>
            <a:ext cx="3100388"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zh-CN" altLang="en-US" sz="2400" dirty="0">
                <a:latin typeface="Times New Roman" panose="02020603050405020304" pitchFamily="18" charset="0"/>
                <a:ea typeface="楷体_GB2312" pitchFamily="49" charset="-122"/>
                <a:sym typeface="Wingdings" panose="05000000000000000000" pitchFamily="2" charset="2"/>
              </a:rPr>
              <a:t>右图描述了我们研发的钢琴自动伴奏系统是如何为一输入旋律自动生成一个钢琴伴奏的。</a:t>
            </a:r>
            <a:r>
              <a:rPr lang="en-US" altLang="zh-CN" sz="2400" dirty="0">
                <a:latin typeface="Times New Roman" panose="02020603050405020304" pitchFamily="18" charset="0"/>
                <a:ea typeface="楷体_GB2312" pitchFamily="49" charset="-122"/>
                <a:sym typeface="Wingdings" panose="05000000000000000000" pitchFamily="2" charset="2"/>
              </a:rPr>
              <a:t>整个系统工作流程分成训练与旋律配和声两个阶段。</a:t>
            </a:r>
            <a:endParaRPr lang="en-US" altLang="zh-CN" sz="2400" dirty="0">
              <a:latin typeface="Times New Roman" panose="02020603050405020304" pitchFamily="18" charset="0"/>
              <a:ea typeface="楷体_GB2312" pitchFamily="49" charset="-122"/>
              <a:sym typeface="Wingdings" panose="05000000000000000000" pitchFamily="2" charset="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pic>
        <p:nvPicPr>
          <p:cNvPr id="3" name="图片 2"/>
          <p:cNvPicPr>
            <a:picLocks noChangeAspect="1"/>
          </p:cNvPicPr>
          <p:nvPr>
            <p:custDataLst>
              <p:tags r:id="rId1"/>
            </p:custDataLst>
          </p:nvPr>
        </p:nvPicPr>
        <p:blipFill>
          <a:blip r:embed="rId2"/>
          <a:stretch>
            <a:fillRect/>
          </a:stretch>
        </p:blipFill>
        <p:spPr>
          <a:xfrm>
            <a:off x="3604895" y="2278380"/>
            <a:ext cx="5163820" cy="4058920"/>
          </a:xfrm>
          <a:prstGeom prst="rect">
            <a:avLst/>
          </a:prstGeom>
        </p:spPr>
      </p:pic>
    </p:spTree>
  </p:cSld>
  <p:clrMapOvr>
    <a:masterClrMapping/>
  </p:clrMapOvr>
  <p:transition spd="med">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5" name="Rectangle 3"/>
          <p:cNvSpPr txBox="1"/>
          <p:nvPr/>
        </p:nvSpPr>
        <p:spPr>
          <a:xfrm>
            <a:off x="457200" y="3071813"/>
            <a:ext cx="3100388"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训练阶段又进一步分解成下面的3个子任务。      </a:t>
            </a: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子任务1(确定钢琴伴奏音型)：系统首先为选择的一个样板乐谱(由歌曲旋律与钢琴伴奏组成)估算调式音阶，然后确定这个样板乐谱相邻的1～3小节的整数小节的乐谱片段是否存在模仿或模进结构。</a:t>
            </a:r>
            <a:r>
              <a:rPr lang="en-US" altLang="zh-CN" sz="1800" dirty="0">
                <a:latin typeface="Times New Roman" panose="02020603050405020304" pitchFamily="18" charset="0"/>
                <a:ea typeface="楷体_GB2312" pitchFamily="49" charset="-122"/>
                <a:sym typeface="Wingdings" panose="05000000000000000000" pitchFamily="2" charset="2"/>
              </a:rPr>
              <a:t> </a:t>
            </a:r>
            <a:endParaRPr lang="en-US" altLang="zh-CN" sz="1800" dirty="0">
              <a:latin typeface="Times New Roman" panose="02020603050405020304" pitchFamily="18" charset="0"/>
              <a:ea typeface="楷体_GB2312" pitchFamily="49" charset="-122"/>
              <a:sym typeface="Wingdings" panose="05000000000000000000" pitchFamily="2" charset="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46786" name="Rectangle 3"/>
          <p:cNvSpPr txBox="1"/>
          <p:nvPr/>
        </p:nvSpPr>
        <p:spPr>
          <a:xfrm>
            <a:off x="182880" y="2100580"/>
            <a:ext cx="5021580"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zh-CN"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训练阶段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3"/>
          <p:cNvSpPr txBox="1"/>
          <p:nvPr/>
        </p:nvSpPr>
        <p:spPr>
          <a:xfrm>
            <a:off x="457200" y="3071813"/>
            <a:ext cx="3100388"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如果存在，则这个相邻的1～3小节的整数小节的钢琴伴奏部分(含左、右手钢琴伴奏声部)就被判定为一个钢琴伴奏音型。</a:t>
            </a:r>
            <a:r>
              <a:rPr lang="zh-CN" altLang="en-US" sz="2000" dirty="0">
                <a:latin typeface="Times New Roman" panose="02020603050405020304" pitchFamily="18" charset="0"/>
                <a:ea typeface="楷体_GB2312" pitchFamily="49" charset="-122"/>
                <a:sym typeface="Wingdings" panose="05000000000000000000" pitchFamily="2" charset="2"/>
              </a:rPr>
              <a:t>如果不存在则就认定当前这个小节的钢琴伴奏部分为一个</a:t>
            </a:r>
            <a:r>
              <a:rPr lang="en-US" altLang="zh-CN" sz="2000" dirty="0">
                <a:latin typeface="Times New Roman" panose="02020603050405020304" pitchFamily="18" charset="0"/>
                <a:ea typeface="楷体_GB2312" pitchFamily="49" charset="-122"/>
                <a:sym typeface="Wingdings" panose="05000000000000000000" pitchFamily="2" charset="2"/>
              </a:rPr>
              <a:t>钢琴伴奏音型。</a:t>
            </a:r>
            <a:r>
              <a:rPr lang="en-US" altLang="zh-CN" sz="1800" dirty="0">
                <a:latin typeface="Times New Roman" panose="02020603050405020304" pitchFamily="18" charset="0"/>
                <a:ea typeface="楷体_GB2312" pitchFamily="49" charset="-122"/>
                <a:sym typeface="Wingdings" panose="05000000000000000000" pitchFamily="2" charset="2"/>
              </a:rPr>
              <a:t> </a:t>
            </a:r>
            <a:endParaRPr lang="zh-CN" altLang="en-US" sz="1800" dirty="0">
              <a:latin typeface="Times New Roman" panose="02020603050405020304" pitchFamily="18" charset="0"/>
              <a:ea typeface="楷体_GB2312" pitchFamily="49" charset="-122"/>
              <a:sym typeface="Wingdings" panose="05000000000000000000" pitchFamily="2" charset="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3" name="图片 2"/>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5" name="Rectangle 3"/>
          <p:cNvSpPr txBox="1"/>
          <p:nvPr/>
        </p:nvSpPr>
        <p:spPr>
          <a:xfrm>
            <a:off x="182880" y="2100580"/>
            <a:ext cx="5021580"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zh-CN"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训练阶段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Rectangle 3"/>
          <p:cNvSpPr txBox="1"/>
          <p:nvPr/>
        </p:nvSpPr>
        <p:spPr>
          <a:xfrm>
            <a:off x="457200" y="3071813"/>
            <a:ext cx="3100388"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子任务2(钢琴伴奏音型元结构的转换)：将由子任务1所确定的钢琴伴奏音型转化为音型元结构。如果系统在此之前还未得到过相同的音型元结构，则系统将其视为一个新的音型元结构，添加到一个音型元结构库。</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7" name="图片 6"/>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8" name="Rectangle 3"/>
          <p:cNvSpPr txBox="1"/>
          <p:nvPr/>
        </p:nvSpPr>
        <p:spPr>
          <a:xfrm>
            <a:off x="182880" y="2100580"/>
            <a:ext cx="5021580"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zh-CN"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训练阶段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3"/>
          <p:cNvSpPr txBox="1"/>
          <p:nvPr/>
        </p:nvSpPr>
        <p:spPr>
          <a:xfrm>
            <a:off x="465455" y="3143885"/>
            <a:ext cx="3092450"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子任务3(训练所选择的样板谱例集合)：系统首先为收集的每首样板乐谱生成一个由乐谱中的多声部音群结构的最优特征和弦构成的最优特征和弦序进(chord progression)链</a:t>
            </a:r>
            <a:r>
              <a:rPr lang="zh-CN" altLang="en-US" sz="2000" dirty="0">
                <a:latin typeface="Times New Roman" panose="02020603050405020304" pitchFamily="18" charset="0"/>
                <a:ea typeface="楷体_GB2312" pitchFamily="49" charset="-122"/>
                <a:sym typeface="Wingdings" panose="05000000000000000000" pitchFamily="2" charset="2"/>
              </a:rPr>
              <a:t>和一个节奏对比链。</a:t>
            </a:r>
            <a:endParaRPr lang="zh-CN" altLang="en-US" sz="2000" dirty="0">
              <a:latin typeface="Times New Roman" panose="02020603050405020304" pitchFamily="18" charset="0"/>
              <a:ea typeface="楷体_GB2312" pitchFamily="49" charset="-122"/>
              <a:sym typeface="Wingdings" panose="05000000000000000000" pitchFamily="2" charset="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3" name="Rectangle 3"/>
          <p:cNvSpPr txBox="1"/>
          <p:nvPr/>
        </p:nvSpPr>
        <p:spPr>
          <a:xfrm>
            <a:off x="182880" y="2100580"/>
            <a:ext cx="5021580"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zh-CN"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训练阶段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3"/>
          <p:cNvSpPr txBox="1"/>
          <p:nvPr/>
        </p:nvSpPr>
        <p:spPr>
          <a:xfrm>
            <a:off x="457200" y="3143568"/>
            <a:ext cx="3100388"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其次，再计算所选择的样板乐谱集合的钢琴伴奏音型与被伴奏旋律片段的节奏对比关系；</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3" name="Rectangle 3"/>
          <p:cNvSpPr txBox="1"/>
          <p:nvPr/>
        </p:nvSpPr>
        <p:spPr>
          <a:xfrm>
            <a:off x="182880" y="2100580"/>
            <a:ext cx="5021580"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zh-CN"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训练阶段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Rectangle 3"/>
          <p:cNvSpPr txBox="1"/>
          <p:nvPr/>
        </p:nvSpPr>
        <p:spPr>
          <a:xfrm>
            <a:off x="457200" y="3143568"/>
            <a:ext cx="3100388"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再次，计算和弦序进与节奏对比</a:t>
            </a:r>
            <a:r>
              <a:rPr lang="zh-CN" altLang="en-US" sz="2000" dirty="0">
                <a:latin typeface="Times New Roman" panose="02020603050405020304" pitchFamily="18" charset="0"/>
                <a:ea typeface="楷体_GB2312" pitchFamily="49" charset="-122"/>
                <a:sym typeface="Wingdings" panose="05000000000000000000" pitchFamily="2" charset="2"/>
              </a:rPr>
              <a:t>序列的HMM参量值；最后，将这些参量值存入一个数据库。</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3" name="Rectangle 3"/>
          <p:cNvSpPr txBox="1"/>
          <p:nvPr/>
        </p:nvSpPr>
        <p:spPr>
          <a:xfrm>
            <a:off x="182880" y="2100580"/>
            <a:ext cx="5021580"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zh-CN"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训练阶段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3"/>
          <p:cNvSpPr txBox="1"/>
          <p:nvPr/>
        </p:nvSpPr>
        <p:spPr>
          <a:xfrm>
            <a:off x="385763" y="3143568"/>
            <a:ext cx="3197225"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在旋律配和声阶段的工作流程可分解为下面7</a:t>
            </a:r>
            <a:r>
              <a:rPr lang="zh-CN" altLang="en-US" sz="2000" dirty="0">
                <a:latin typeface="Times New Roman" panose="02020603050405020304" pitchFamily="18" charset="0"/>
                <a:ea typeface="楷体_GB2312" pitchFamily="49" charset="-122"/>
                <a:sym typeface="Wingdings" panose="05000000000000000000" pitchFamily="2" charset="2"/>
              </a:rPr>
              <a:t>个子任务，即</a:t>
            </a:r>
            <a:r>
              <a:rPr lang="en-US" altLang="zh-CN" sz="2000" dirty="0">
                <a:latin typeface="Times New Roman" panose="02020603050405020304" pitchFamily="18" charset="0"/>
                <a:ea typeface="楷体_GB2312" pitchFamily="49" charset="-122"/>
                <a:sym typeface="Wingdings" panose="05000000000000000000" pitchFamily="2" charset="2"/>
              </a:rPr>
              <a:t>子任务4～10。</a:t>
            </a: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        </a:t>
            </a: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        子任务4(输入旋律并确定其调式)：确定输入旋律的调式音阶</a:t>
            </a:r>
            <a:r>
              <a:rPr lang="zh-CN" altLang="en-US" sz="2000" dirty="0">
                <a:latin typeface="Times New Roman" panose="02020603050405020304" pitchFamily="18" charset="0"/>
                <a:ea typeface="楷体_GB2312" pitchFamily="49" charset="-122"/>
                <a:sym typeface="Wingdings" panose="05000000000000000000" pitchFamily="2" charset="2"/>
              </a:rPr>
              <a:t>。</a:t>
            </a:r>
            <a:endParaRPr lang="zh-CN" altLang="en-US" sz="20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0" name="Rectangle 3"/>
          <p:cNvSpPr txBox="1"/>
          <p:nvPr/>
        </p:nvSpPr>
        <p:spPr>
          <a:xfrm>
            <a:off x="385763" y="3143568"/>
            <a:ext cx="3330575"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子任务5(计算输入旋律的节奏)：确定由输入旋律每个音符的时值构成的时值序列。</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3"/>
          <p:cNvSpPr txBox="1"/>
          <p:nvPr/>
        </p:nvSpPr>
        <p:spPr>
          <a:xfrm>
            <a:off x="385763" y="3143568"/>
            <a:ext cx="3135312"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 子任务6(检索钢琴伴奏音型的元结构)：通过搜索当前收集的音型元结构数据库，先寻找与输入旋律中相邻1～3小节的旋律片段存在节奏对比以及模仿或模进关系的音型元结构。</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7266" name="图片 4"/>
          <p:cNvPicPr>
            <a:picLocks noChangeAspect="1"/>
          </p:cNvPicPr>
          <p:nvPr/>
        </p:nvPicPr>
        <p:blipFill>
          <a:blip r:embed="rId1"/>
          <a:stretch>
            <a:fillRect/>
          </a:stretch>
        </p:blipFill>
        <p:spPr>
          <a:xfrm>
            <a:off x="4630738" y="5230813"/>
            <a:ext cx="3487737" cy="1368425"/>
          </a:xfrm>
          <a:prstGeom prst="rect">
            <a:avLst/>
          </a:prstGeom>
          <a:noFill/>
          <a:ln w="9525">
            <a:noFill/>
          </a:ln>
        </p:spPr>
      </p:pic>
      <p:pic>
        <p:nvPicPr>
          <p:cNvPr id="267267" name="图片 3"/>
          <p:cNvPicPr>
            <a:picLocks noChangeAspect="1"/>
          </p:cNvPicPr>
          <p:nvPr/>
        </p:nvPicPr>
        <p:blipFill>
          <a:blip r:embed="rId2"/>
          <a:stretch>
            <a:fillRect/>
          </a:stretch>
        </p:blipFill>
        <p:spPr>
          <a:xfrm>
            <a:off x="6156325" y="2841625"/>
            <a:ext cx="2305050" cy="1346200"/>
          </a:xfrm>
          <a:prstGeom prst="rect">
            <a:avLst/>
          </a:prstGeom>
          <a:noFill/>
          <a:ln w="9525">
            <a:noFill/>
          </a:ln>
        </p:spPr>
      </p:pic>
      <p:pic>
        <p:nvPicPr>
          <p:cNvPr id="267268" name="图片 2"/>
          <p:cNvPicPr>
            <a:picLocks noChangeAspect="1"/>
          </p:cNvPicPr>
          <p:nvPr/>
        </p:nvPicPr>
        <p:blipFill>
          <a:blip r:embed="rId3"/>
          <a:stretch>
            <a:fillRect/>
          </a:stretch>
        </p:blipFill>
        <p:spPr>
          <a:xfrm>
            <a:off x="3825875" y="2844800"/>
            <a:ext cx="1666875" cy="1341438"/>
          </a:xfrm>
          <a:prstGeom prst="rect">
            <a:avLst/>
          </a:prstGeom>
          <a:noFill/>
          <a:ln w="9525">
            <a:noFill/>
          </a:ln>
        </p:spPr>
      </p:pic>
      <p:sp>
        <p:nvSpPr>
          <p:cNvPr id="267269" name="Rectangle 3"/>
          <p:cNvSpPr txBox="1"/>
          <p:nvPr/>
        </p:nvSpPr>
        <p:spPr>
          <a:xfrm>
            <a:off x="423863" y="3071813"/>
            <a:ext cx="3221037" cy="884237"/>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如果存在这样的音型元结构，则这相邻1～3小节的旋律片段就被认定为一个处理单元。然后，再将余下旋律片段的每个小节也作为一个处理单元。这样就可把输入旋律分解成一个处理单元链。</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67272" name="矩形 17"/>
          <p:cNvSpPr/>
          <p:nvPr/>
        </p:nvSpPr>
        <p:spPr>
          <a:xfrm>
            <a:off x="6399213" y="2844800"/>
            <a:ext cx="1906587" cy="38417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73" name="矩形 17"/>
          <p:cNvSpPr/>
          <p:nvPr/>
        </p:nvSpPr>
        <p:spPr>
          <a:xfrm>
            <a:off x="4197350" y="2903538"/>
            <a:ext cx="919163" cy="325437"/>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74" name="矩形 17"/>
          <p:cNvSpPr/>
          <p:nvPr/>
        </p:nvSpPr>
        <p:spPr>
          <a:xfrm>
            <a:off x="4810125" y="5178425"/>
            <a:ext cx="3206750" cy="33972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75" name="Rectangle 3"/>
          <p:cNvSpPr txBox="1"/>
          <p:nvPr/>
        </p:nvSpPr>
        <p:spPr>
          <a:xfrm>
            <a:off x="5227955" y="6543675"/>
            <a:ext cx="2618740" cy="40640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匹配</a:t>
            </a:r>
            <a:r>
              <a:rPr lang="en-US" altLang="zh-CN" sz="1600" dirty="0">
                <a:latin typeface="Times New Roman" panose="02020603050405020304" pitchFamily="18" charset="0"/>
                <a:ea typeface="楷体_GB2312" pitchFamily="49" charset="-122"/>
                <a:sym typeface="Wingdings" panose="05000000000000000000" pitchFamily="2" charset="2"/>
              </a:rPr>
              <a:t>3</a:t>
            </a:r>
            <a:r>
              <a:rPr lang="zh-CN" altLang="en-US" sz="1600" dirty="0">
                <a:latin typeface="Times New Roman" panose="02020603050405020304" pitchFamily="18" charset="0"/>
                <a:ea typeface="楷体_GB2312" pitchFamily="49" charset="-122"/>
                <a:sym typeface="Wingdings" panose="05000000000000000000" pitchFamily="2" charset="2"/>
              </a:rPr>
              <a:t>小节长度的元结构</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67276" name="Rectangle 3"/>
          <p:cNvSpPr txBox="1"/>
          <p:nvPr/>
        </p:nvSpPr>
        <p:spPr>
          <a:xfrm>
            <a:off x="3776028" y="4230688"/>
            <a:ext cx="1990725" cy="407987"/>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匹配</a:t>
            </a:r>
            <a:r>
              <a:rPr lang="en-US" altLang="zh-CN" sz="1600" dirty="0">
                <a:latin typeface="Times New Roman" panose="02020603050405020304" pitchFamily="18" charset="0"/>
                <a:ea typeface="楷体_GB2312" pitchFamily="49" charset="-122"/>
                <a:sym typeface="Wingdings" panose="05000000000000000000" pitchFamily="2" charset="2"/>
              </a:rPr>
              <a:t>1</a:t>
            </a:r>
            <a:r>
              <a:rPr lang="zh-CN" altLang="en-US" sz="1600" dirty="0">
                <a:latin typeface="Times New Roman" panose="02020603050405020304" pitchFamily="18" charset="0"/>
                <a:ea typeface="楷体_GB2312" pitchFamily="49" charset="-122"/>
                <a:sym typeface="Wingdings" panose="05000000000000000000" pitchFamily="2" charset="2"/>
              </a:rPr>
              <a:t>小节长度的元结构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sp>
        <p:nvSpPr>
          <p:cNvPr id="267277" name="Rectangle 3"/>
          <p:cNvSpPr txBox="1"/>
          <p:nvPr/>
        </p:nvSpPr>
        <p:spPr>
          <a:xfrm>
            <a:off x="6199505" y="4213225"/>
            <a:ext cx="2460625" cy="408305"/>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匹配</a:t>
            </a:r>
            <a:r>
              <a:rPr lang="en-US" altLang="zh-CN" sz="1600" dirty="0">
                <a:latin typeface="Times New Roman" panose="02020603050405020304" pitchFamily="18" charset="0"/>
                <a:ea typeface="楷体_GB2312" pitchFamily="49" charset="-122"/>
                <a:sym typeface="Wingdings" panose="05000000000000000000" pitchFamily="2" charset="2"/>
              </a:rPr>
              <a:t>2</a:t>
            </a:r>
            <a:r>
              <a:rPr lang="zh-CN" altLang="en-US" sz="1600" dirty="0">
                <a:latin typeface="Times New Roman" panose="02020603050405020304" pitchFamily="18" charset="0"/>
                <a:ea typeface="楷体_GB2312" pitchFamily="49" charset="-122"/>
                <a:sym typeface="Wingdings" panose="05000000000000000000" pitchFamily="2" charset="2"/>
              </a:rPr>
              <a:t>小节长度的元结构</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cxnSp>
        <p:nvCxnSpPr>
          <p:cNvPr id="267278" name="直接箭头连接符 10"/>
          <p:cNvCxnSpPr/>
          <p:nvPr/>
        </p:nvCxnSpPr>
        <p:spPr>
          <a:xfrm flipV="1">
            <a:off x="1835785" y="3141980"/>
            <a:ext cx="2304415" cy="1223010"/>
          </a:xfrm>
          <a:prstGeom prst="straightConnector1">
            <a:avLst/>
          </a:prstGeom>
          <a:ln w="28575" cap="flat" cmpd="sng">
            <a:solidFill>
              <a:srgbClr val="00B050"/>
            </a:solidFill>
            <a:prstDash val="solid"/>
            <a:headEnd type="none" w="med" len="med"/>
            <a:tailEnd type="arrow" w="med" len="med"/>
          </a:ln>
        </p:spPr>
      </p:cxnSp>
      <p:cxnSp>
        <p:nvCxnSpPr>
          <p:cNvPr id="267279" name="直接箭头连接符 11"/>
          <p:cNvCxnSpPr/>
          <p:nvPr/>
        </p:nvCxnSpPr>
        <p:spPr>
          <a:xfrm flipV="1">
            <a:off x="1764030" y="3213100"/>
            <a:ext cx="4608195" cy="1151890"/>
          </a:xfrm>
          <a:prstGeom prst="straightConnector1">
            <a:avLst/>
          </a:prstGeom>
          <a:ln w="28575" cap="flat" cmpd="sng">
            <a:solidFill>
              <a:srgbClr val="00B050"/>
            </a:solidFill>
            <a:prstDash val="solid"/>
            <a:headEnd type="none" w="med" len="med"/>
            <a:tailEnd type="arrow" w="med" len="med"/>
          </a:ln>
        </p:spPr>
      </p:cxnSp>
      <p:cxnSp>
        <p:nvCxnSpPr>
          <p:cNvPr id="267280" name="直接箭头连接符 12"/>
          <p:cNvCxnSpPr/>
          <p:nvPr/>
        </p:nvCxnSpPr>
        <p:spPr>
          <a:xfrm>
            <a:off x="1764030" y="4364990"/>
            <a:ext cx="3073400" cy="937260"/>
          </a:xfrm>
          <a:prstGeom prst="straightConnector1">
            <a:avLst/>
          </a:prstGeom>
          <a:ln w="28575" cap="flat" cmpd="sng">
            <a:solidFill>
              <a:srgbClr val="00B050"/>
            </a:solidFill>
            <a:prstDash val="solid"/>
            <a:headEnd type="none" w="med" len="med"/>
            <a:tailEnd type="arrow" w="med" len="med"/>
          </a:ln>
        </p:spPr>
      </p:cxnSp>
      <p:sp>
        <p:nvSpPr>
          <p:cNvPr id="267281" name="矩形 17"/>
          <p:cNvSpPr/>
          <p:nvPr/>
        </p:nvSpPr>
        <p:spPr>
          <a:xfrm>
            <a:off x="487363" y="5837238"/>
            <a:ext cx="920750" cy="3238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2" name="矩形 17"/>
          <p:cNvSpPr/>
          <p:nvPr/>
        </p:nvSpPr>
        <p:spPr>
          <a:xfrm>
            <a:off x="1536700" y="5837238"/>
            <a:ext cx="1425575" cy="3238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3" name="矩形 17"/>
          <p:cNvSpPr/>
          <p:nvPr/>
        </p:nvSpPr>
        <p:spPr>
          <a:xfrm>
            <a:off x="3467100" y="5829300"/>
            <a:ext cx="919163" cy="3238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4" name="Rectangle 3"/>
          <p:cNvSpPr txBox="1"/>
          <p:nvPr/>
        </p:nvSpPr>
        <p:spPr>
          <a:xfrm>
            <a:off x="1412875" y="6256338"/>
            <a:ext cx="2122488" cy="407987"/>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处理单元链</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sp>
        <p:nvSpPr>
          <p:cNvPr id="267285" name="Rectangle 3"/>
          <p:cNvSpPr txBox="1"/>
          <p:nvPr/>
        </p:nvSpPr>
        <p:spPr>
          <a:xfrm>
            <a:off x="3046413" y="5737225"/>
            <a:ext cx="452437" cy="407988"/>
          </a:xfrm>
          <a:prstGeom prst="rect">
            <a:avLst/>
          </a:prstGeom>
          <a:noFill/>
          <a:ln w="9525">
            <a:noFill/>
          </a:ln>
        </p:spPr>
        <p:txBody>
          <a:bodyPr/>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Tree>
  </p:cSld>
  <p:clrMapOvr>
    <a:masterClrMapping/>
  </p:clrMapOvr>
  <p:transition spd="med">
    <p:rand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7266" name="图片 4"/>
          <p:cNvPicPr>
            <a:picLocks noChangeAspect="1"/>
          </p:cNvPicPr>
          <p:nvPr/>
        </p:nvPicPr>
        <p:blipFill>
          <a:blip r:embed="rId1"/>
          <a:stretch>
            <a:fillRect/>
          </a:stretch>
        </p:blipFill>
        <p:spPr>
          <a:xfrm>
            <a:off x="4630738" y="5230813"/>
            <a:ext cx="3487737" cy="1368425"/>
          </a:xfrm>
          <a:prstGeom prst="rect">
            <a:avLst/>
          </a:prstGeom>
          <a:noFill/>
          <a:ln w="9525">
            <a:noFill/>
          </a:ln>
        </p:spPr>
      </p:pic>
      <p:pic>
        <p:nvPicPr>
          <p:cNvPr id="267267" name="图片 3"/>
          <p:cNvPicPr>
            <a:picLocks noChangeAspect="1"/>
          </p:cNvPicPr>
          <p:nvPr/>
        </p:nvPicPr>
        <p:blipFill>
          <a:blip r:embed="rId2"/>
          <a:stretch>
            <a:fillRect/>
          </a:stretch>
        </p:blipFill>
        <p:spPr>
          <a:xfrm>
            <a:off x="6156325" y="2841625"/>
            <a:ext cx="2305050" cy="1346200"/>
          </a:xfrm>
          <a:prstGeom prst="rect">
            <a:avLst/>
          </a:prstGeom>
          <a:noFill/>
          <a:ln w="9525">
            <a:noFill/>
          </a:ln>
        </p:spPr>
      </p:pic>
      <p:pic>
        <p:nvPicPr>
          <p:cNvPr id="267268" name="图片 2"/>
          <p:cNvPicPr>
            <a:picLocks noChangeAspect="1"/>
          </p:cNvPicPr>
          <p:nvPr/>
        </p:nvPicPr>
        <p:blipFill>
          <a:blip r:embed="rId3"/>
          <a:stretch>
            <a:fillRect/>
          </a:stretch>
        </p:blipFill>
        <p:spPr>
          <a:xfrm>
            <a:off x="3825875" y="2844800"/>
            <a:ext cx="1666875" cy="1341438"/>
          </a:xfrm>
          <a:prstGeom prst="rect">
            <a:avLst/>
          </a:prstGeom>
          <a:noFill/>
          <a:ln w="9525">
            <a:noFill/>
          </a:ln>
        </p:spPr>
      </p:pic>
      <p:sp>
        <p:nvSpPr>
          <p:cNvPr id="267269" name="Rectangle 3"/>
          <p:cNvSpPr txBox="1"/>
          <p:nvPr/>
        </p:nvSpPr>
        <p:spPr>
          <a:xfrm>
            <a:off x="423863" y="3071813"/>
            <a:ext cx="3221037" cy="884237"/>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同理，由子任务5生成的输入旋律的时值序列也因此被分割成一个节奏片段链。每个节奏片段对应一个处理单元。</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67272" name="矩形 17"/>
          <p:cNvSpPr/>
          <p:nvPr/>
        </p:nvSpPr>
        <p:spPr>
          <a:xfrm>
            <a:off x="6399213" y="2844800"/>
            <a:ext cx="1906587" cy="38417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73" name="矩形 17"/>
          <p:cNvSpPr/>
          <p:nvPr/>
        </p:nvSpPr>
        <p:spPr>
          <a:xfrm>
            <a:off x="4197350" y="2903538"/>
            <a:ext cx="919163" cy="325437"/>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74" name="矩形 17"/>
          <p:cNvSpPr/>
          <p:nvPr/>
        </p:nvSpPr>
        <p:spPr>
          <a:xfrm>
            <a:off x="4810125" y="5178425"/>
            <a:ext cx="3206750" cy="339725"/>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75" name="Rectangle 3"/>
          <p:cNvSpPr txBox="1"/>
          <p:nvPr/>
        </p:nvSpPr>
        <p:spPr>
          <a:xfrm>
            <a:off x="5227955" y="6543675"/>
            <a:ext cx="2618740" cy="40640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匹配</a:t>
            </a:r>
            <a:r>
              <a:rPr lang="en-US" altLang="zh-CN" sz="1600" dirty="0">
                <a:latin typeface="Times New Roman" panose="02020603050405020304" pitchFamily="18" charset="0"/>
                <a:ea typeface="楷体_GB2312" pitchFamily="49" charset="-122"/>
                <a:sym typeface="Wingdings" panose="05000000000000000000" pitchFamily="2" charset="2"/>
              </a:rPr>
              <a:t>3</a:t>
            </a:r>
            <a:r>
              <a:rPr lang="zh-CN" altLang="en-US" sz="1600" dirty="0">
                <a:latin typeface="Times New Roman" panose="02020603050405020304" pitchFamily="18" charset="0"/>
                <a:ea typeface="楷体_GB2312" pitchFamily="49" charset="-122"/>
                <a:sym typeface="Wingdings" panose="05000000000000000000" pitchFamily="2" charset="2"/>
              </a:rPr>
              <a:t>小节长度的元结构</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67276" name="Rectangle 3"/>
          <p:cNvSpPr txBox="1"/>
          <p:nvPr/>
        </p:nvSpPr>
        <p:spPr>
          <a:xfrm>
            <a:off x="3776028" y="4230688"/>
            <a:ext cx="1990725" cy="407987"/>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匹配</a:t>
            </a:r>
            <a:r>
              <a:rPr lang="en-US" altLang="zh-CN" sz="1600" dirty="0">
                <a:latin typeface="Times New Roman" panose="02020603050405020304" pitchFamily="18" charset="0"/>
                <a:ea typeface="楷体_GB2312" pitchFamily="49" charset="-122"/>
                <a:sym typeface="Wingdings" panose="05000000000000000000" pitchFamily="2" charset="2"/>
              </a:rPr>
              <a:t>1</a:t>
            </a:r>
            <a:r>
              <a:rPr lang="zh-CN" altLang="en-US" sz="1600" dirty="0">
                <a:latin typeface="Times New Roman" panose="02020603050405020304" pitchFamily="18" charset="0"/>
                <a:ea typeface="楷体_GB2312" pitchFamily="49" charset="-122"/>
                <a:sym typeface="Wingdings" panose="05000000000000000000" pitchFamily="2" charset="2"/>
              </a:rPr>
              <a:t>小节长度的元结构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sp>
        <p:nvSpPr>
          <p:cNvPr id="267277" name="Rectangle 3"/>
          <p:cNvSpPr txBox="1"/>
          <p:nvPr/>
        </p:nvSpPr>
        <p:spPr>
          <a:xfrm>
            <a:off x="6199505" y="4213225"/>
            <a:ext cx="2460625" cy="408305"/>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匹配</a:t>
            </a:r>
            <a:r>
              <a:rPr lang="en-US" altLang="zh-CN" sz="1600" dirty="0">
                <a:latin typeface="Times New Roman" panose="02020603050405020304" pitchFamily="18" charset="0"/>
                <a:ea typeface="楷体_GB2312" pitchFamily="49" charset="-122"/>
                <a:sym typeface="Wingdings" panose="05000000000000000000" pitchFamily="2" charset="2"/>
              </a:rPr>
              <a:t>2</a:t>
            </a:r>
            <a:r>
              <a:rPr lang="zh-CN" altLang="en-US" sz="1600" dirty="0">
                <a:latin typeface="Times New Roman" panose="02020603050405020304" pitchFamily="18" charset="0"/>
                <a:ea typeface="楷体_GB2312" pitchFamily="49" charset="-122"/>
                <a:sym typeface="Wingdings" panose="05000000000000000000" pitchFamily="2" charset="2"/>
              </a:rPr>
              <a:t>小节长度的元结构</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cxnSp>
        <p:nvCxnSpPr>
          <p:cNvPr id="267278" name="直接箭头连接符 10"/>
          <p:cNvCxnSpPr/>
          <p:nvPr/>
        </p:nvCxnSpPr>
        <p:spPr>
          <a:xfrm flipV="1">
            <a:off x="1548130" y="3168015"/>
            <a:ext cx="2587625" cy="2421255"/>
          </a:xfrm>
          <a:prstGeom prst="straightConnector1">
            <a:avLst/>
          </a:prstGeom>
          <a:ln w="28575" cap="flat" cmpd="sng">
            <a:solidFill>
              <a:srgbClr val="00B050"/>
            </a:solidFill>
            <a:prstDash val="solid"/>
            <a:headEnd type="none" w="med" len="med"/>
            <a:tailEnd type="arrow" w="med" len="med"/>
          </a:ln>
        </p:spPr>
      </p:cxnSp>
      <p:cxnSp>
        <p:nvCxnSpPr>
          <p:cNvPr id="267279" name="直接箭头连接符 11"/>
          <p:cNvCxnSpPr/>
          <p:nvPr/>
        </p:nvCxnSpPr>
        <p:spPr>
          <a:xfrm flipV="1">
            <a:off x="2844165" y="3213100"/>
            <a:ext cx="3528060" cy="2376170"/>
          </a:xfrm>
          <a:prstGeom prst="straightConnector1">
            <a:avLst/>
          </a:prstGeom>
          <a:ln w="28575" cap="flat" cmpd="sng">
            <a:solidFill>
              <a:srgbClr val="00B050"/>
            </a:solidFill>
            <a:prstDash val="solid"/>
            <a:headEnd type="none" w="med" len="med"/>
            <a:tailEnd type="arrow" w="med" len="med"/>
          </a:ln>
        </p:spPr>
      </p:cxnSp>
      <p:cxnSp>
        <p:nvCxnSpPr>
          <p:cNvPr id="267280" name="直接箭头连接符 12"/>
          <p:cNvCxnSpPr/>
          <p:nvPr/>
        </p:nvCxnSpPr>
        <p:spPr>
          <a:xfrm flipV="1">
            <a:off x="3564255" y="5302250"/>
            <a:ext cx="1273175" cy="287020"/>
          </a:xfrm>
          <a:prstGeom prst="straightConnector1">
            <a:avLst/>
          </a:prstGeom>
          <a:ln w="28575" cap="flat" cmpd="sng">
            <a:solidFill>
              <a:srgbClr val="00B050"/>
            </a:solidFill>
            <a:prstDash val="solid"/>
            <a:headEnd type="none" w="med" len="med"/>
            <a:tailEnd type="arrow" w="med" len="med"/>
          </a:ln>
        </p:spPr>
      </p:cxnSp>
      <p:sp>
        <p:nvSpPr>
          <p:cNvPr id="267281" name="矩形 17"/>
          <p:cNvSpPr/>
          <p:nvPr/>
        </p:nvSpPr>
        <p:spPr>
          <a:xfrm>
            <a:off x="487363" y="5837238"/>
            <a:ext cx="920750" cy="3238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2" name="矩形 17"/>
          <p:cNvSpPr/>
          <p:nvPr/>
        </p:nvSpPr>
        <p:spPr>
          <a:xfrm>
            <a:off x="1536700" y="5837238"/>
            <a:ext cx="1425575" cy="3238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3" name="矩形 17"/>
          <p:cNvSpPr/>
          <p:nvPr/>
        </p:nvSpPr>
        <p:spPr>
          <a:xfrm>
            <a:off x="3467100" y="5829300"/>
            <a:ext cx="919163" cy="32385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4" name="Rectangle 3"/>
          <p:cNvSpPr txBox="1"/>
          <p:nvPr/>
        </p:nvSpPr>
        <p:spPr>
          <a:xfrm>
            <a:off x="1412875" y="6256338"/>
            <a:ext cx="2122488" cy="407987"/>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处理单元链</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sp>
        <p:nvSpPr>
          <p:cNvPr id="267285" name="Rectangle 3"/>
          <p:cNvSpPr txBox="1"/>
          <p:nvPr/>
        </p:nvSpPr>
        <p:spPr>
          <a:xfrm>
            <a:off x="3055303" y="5744845"/>
            <a:ext cx="452437" cy="407988"/>
          </a:xfrm>
          <a:prstGeom prst="rect">
            <a:avLst/>
          </a:prstGeom>
          <a:noFill/>
          <a:ln w="9525">
            <a:noFill/>
          </a:ln>
        </p:spPr>
        <p:txBody>
          <a:bodyPr/>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 name="Rectangle 3"/>
          <p:cNvSpPr txBox="1"/>
          <p:nvPr/>
        </p:nvSpPr>
        <p:spPr>
          <a:xfrm>
            <a:off x="3182303" y="5369560"/>
            <a:ext cx="452437" cy="407988"/>
          </a:xfrm>
          <a:prstGeom prst="rect">
            <a:avLst/>
          </a:prstGeom>
          <a:noFill/>
          <a:ln w="9525">
            <a:noFill/>
          </a:ln>
        </p:spPr>
        <p:txBody>
          <a:bodyPr/>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2034223" y="5369560"/>
            <a:ext cx="452437" cy="407988"/>
          </a:xfrm>
          <a:prstGeom prst="rect">
            <a:avLst/>
          </a:prstGeom>
          <a:noFill/>
          <a:ln w="9525">
            <a:noFill/>
          </a:ln>
        </p:spPr>
        <p:txBody>
          <a:bodyPr/>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Rectangle 3"/>
          <p:cNvSpPr txBox="1"/>
          <p:nvPr/>
        </p:nvSpPr>
        <p:spPr>
          <a:xfrm>
            <a:off x="314325" y="3143568"/>
            <a:ext cx="3330575" cy="85090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最后，为每个节奏片段匹配一个音型元结构(即选择一个时值序列字段的值与相应输入旋律的节奏片段一致的音型元结构)。</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67281" name="矩形 17"/>
          <p:cNvSpPr/>
          <p:nvPr/>
        </p:nvSpPr>
        <p:spPr>
          <a:xfrm>
            <a:off x="487680" y="5893435"/>
            <a:ext cx="370205" cy="26797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2" name="矩形 17"/>
          <p:cNvSpPr/>
          <p:nvPr/>
        </p:nvSpPr>
        <p:spPr>
          <a:xfrm>
            <a:off x="1536700" y="5893435"/>
            <a:ext cx="573405" cy="26797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3" name="矩形 17"/>
          <p:cNvSpPr/>
          <p:nvPr/>
        </p:nvSpPr>
        <p:spPr>
          <a:xfrm>
            <a:off x="2893060" y="5885180"/>
            <a:ext cx="370205" cy="267970"/>
          </a:xfrm>
          <a:prstGeom prst="rect">
            <a:avLst/>
          </a:prstGeom>
          <a:noFill/>
          <a:ln w="38100" cap="flat" cmpd="sng">
            <a:solidFill>
              <a:srgbClr val="92D050"/>
            </a:solidFill>
            <a:prstDash val="solid"/>
            <a:round/>
            <a:headEnd type="none" w="med" len="med"/>
            <a:tailEnd type="none" w="med" len="med"/>
          </a:ln>
        </p:spPr>
        <p:txBody>
          <a:bodyPr wrap="none"/>
          <a:p>
            <a:pPr eaLnBrk="1" hangingPunct="1"/>
            <a:endParaRPr lang="zh-CN" altLang="en-US" dirty="0">
              <a:latin typeface="Chiller" panose="04020404031007020602" pitchFamily="82" charset="0"/>
              <a:ea typeface="宋体" panose="02010600030101010101" pitchFamily="2" charset="-122"/>
            </a:endParaRPr>
          </a:p>
        </p:txBody>
      </p:sp>
      <p:sp>
        <p:nvSpPr>
          <p:cNvPr id="267285" name="Rectangle 3"/>
          <p:cNvSpPr txBox="1"/>
          <p:nvPr/>
        </p:nvSpPr>
        <p:spPr>
          <a:xfrm>
            <a:off x="2409508" y="5816600"/>
            <a:ext cx="452437" cy="407988"/>
          </a:xfrm>
          <a:prstGeom prst="rect">
            <a:avLst/>
          </a:prstGeom>
          <a:noFill/>
          <a:ln w="9525">
            <a:noFill/>
          </a:ln>
        </p:spPr>
        <p:txBody>
          <a:bodyPr/>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8" name="Rectangle 3"/>
          <p:cNvSpPr txBox="1"/>
          <p:nvPr/>
        </p:nvSpPr>
        <p:spPr>
          <a:xfrm>
            <a:off x="1029653" y="5800090"/>
            <a:ext cx="452437" cy="407988"/>
          </a:xfrm>
          <a:prstGeom prst="rect">
            <a:avLst/>
          </a:prstGeom>
          <a:noFill/>
          <a:ln w="9525">
            <a:noFill/>
          </a:ln>
        </p:spPr>
        <p:txBody>
          <a:bodyPr/>
          <a:p>
            <a:pPr eaLnBrk="1" hangingPunct="1">
              <a:spcBef>
                <a:spcPct val="20000"/>
              </a:spcBef>
            </a:pPr>
            <a:r>
              <a:rPr lang="en-US" altLang="zh-CN" sz="1600" dirty="0">
                <a:latin typeface="Times New Roman" panose="02020603050405020304" pitchFamily="18" charset="0"/>
                <a:ea typeface="楷体_GB2312" pitchFamily="49" charset="-122"/>
                <a:sym typeface="Wingdings" panose="05000000000000000000" pitchFamily="2" charset="2"/>
              </a:rPr>
              <a:t>...</a:t>
            </a:r>
            <a:endParaRPr lang="en-US" altLang="zh-CN" sz="1600" dirty="0">
              <a:latin typeface="Times New Roman" panose="02020603050405020304" pitchFamily="18" charset="0"/>
              <a:ea typeface="楷体_GB2312" pitchFamily="49" charset="-122"/>
              <a:sym typeface="Wingdings" panose="05000000000000000000" pitchFamily="2" charset="2"/>
            </a:endParaRPr>
          </a:p>
        </p:txBody>
      </p:sp>
      <p:sp>
        <p:nvSpPr>
          <p:cNvPr id="267284" name="Rectangle 3"/>
          <p:cNvSpPr txBox="1"/>
          <p:nvPr/>
        </p:nvSpPr>
        <p:spPr>
          <a:xfrm>
            <a:off x="1412875" y="6256338"/>
            <a:ext cx="2122488" cy="407987"/>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处理单元链</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cxnSp>
        <p:nvCxnSpPr>
          <p:cNvPr id="267278" name="直接箭头连接符 10"/>
          <p:cNvCxnSpPr/>
          <p:nvPr/>
        </p:nvCxnSpPr>
        <p:spPr>
          <a:xfrm flipV="1">
            <a:off x="899795" y="4293235"/>
            <a:ext cx="4824730" cy="1584325"/>
          </a:xfrm>
          <a:prstGeom prst="straightConnector1">
            <a:avLst/>
          </a:prstGeom>
          <a:ln w="28575" cap="flat" cmpd="sng">
            <a:solidFill>
              <a:srgbClr val="00B050"/>
            </a:solidFill>
            <a:prstDash val="solid"/>
            <a:headEnd type="none" w="med" len="med"/>
            <a:tailEnd type="arrow" w="med" len="med"/>
          </a:ln>
        </p:spPr>
      </p:cxnSp>
      <p:cxnSp>
        <p:nvCxnSpPr>
          <p:cNvPr id="9" name="直接箭头连接符 10"/>
          <p:cNvCxnSpPr/>
          <p:nvPr/>
        </p:nvCxnSpPr>
        <p:spPr>
          <a:xfrm flipV="1">
            <a:off x="2110105" y="4364990"/>
            <a:ext cx="3757930" cy="1520190"/>
          </a:xfrm>
          <a:prstGeom prst="straightConnector1">
            <a:avLst/>
          </a:prstGeom>
          <a:ln w="28575" cap="flat" cmpd="sng">
            <a:solidFill>
              <a:srgbClr val="00B050"/>
            </a:solidFill>
            <a:prstDash val="solid"/>
            <a:headEnd type="none" w="med" len="med"/>
            <a:tailEnd type="arrow" w="med" len="med"/>
          </a:ln>
        </p:spPr>
      </p:cxnSp>
      <p:cxnSp>
        <p:nvCxnSpPr>
          <p:cNvPr id="10" name="直接箭头连接符 10"/>
          <p:cNvCxnSpPr/>
          <p:nvPr/>
        </p:nvCxnSpPr>
        <p:spPr>
          <a:xfrm flipV="1">
            <a:off x="3263265" y="4364990"/>
            <a:ext cx="2748915" cy="1512570"/>
          </a:xfrm>
          <a:prstGeom prst="straightConnector1">
            <a:avLst/>
          </a:prstGeom>
          <a:ln w="28575" cap="flat" cmpd="sng">
            <a:solidFill>
              <a:srgbClr val="00B050"/>
            </a:solidFill>
            <a:prstDash val="solid"/>
            <a:headEnd type="none" w="med" len="med"/>
            <a:tailEnd type="arrow" w="med" len="med"/>
          </a:ln>
        </p:spPr>
      </p:cxnSp>
    </p:spTree>
  </p:cSld>
  <p:clrMapOvr>
    <a:masterClrMapping/>
  </p:clrMapOvr>
  <p:transition spd="med">
    <p:rand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3"/>
          <p:cNvSpPr txBox="1"/>
          <p:nvPr/>
        </p:nvSpPr>
        <p:spPr>
          <a:xfrm>
            <a:off x="314325" y="3143568"/>
            <a:ext cx="3167063" cy="866775"/>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子任务7(生成钢琴伴奏音型的节奏序列)：由子任务3可知，一个(处理单元)节奏片段并非仅有一种音型元结构可作为伴奏候选。</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6"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6"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246790"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4" name="图片 3"/>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71362" name="Rectangle 3"/>
          <p:cNvSpPr txBox="1"/>
          <p:nvPr/>
        </p:nvSpPr>
        <p:spPr>
          <a:xfrm>
            <a:off x="314325" y="3013710"/>
            <a:ext cx="3167380" cy="853440"/>
          </a:xfrm>
          <a:prstGeom prst="rect">
            <a:avLst/>
          </a:prstGeom>
          <a:noFill/>
          <a:ln w="9525">
            <a:noFill/>
          </a:ln>
        </p:spPr>
        <p:txBody>
          <a:bodyPr/>
          <a:p>
            <a:pPr eaLnBrk="1" hangingPunct="1">
              <a:spcBef>
                <a:spcPct val="20000"/>
              </a:spcBef>
            </a:pPr>
            <a:r>
              <a:rPr lang="en-US" altLang="zh-CN" sz="24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为优化伴奏结果，依据训练阶段子任务3计算的节奏对比</a:t>
            </a:r>
            <a:r>
              <a:rPr lang="zh-CN" altLang="en-US" sz="2000" dirty="0">
                <a:latin typeface="Times New Roman" panose="02020603050405020304" pitchFamily="18" charset="0"/>
                <a:ea typeface="楷体_GB2312" pitchFamily="49" charset="-122"/>
                <a:sym typeface="Wingdings" panose="05000000000000000000" pitchFamily="2" charset="2"/>
              </a:rPr>
              <a:t>序列</a:t>
            </a:r>
            <a:r>
              <a:rPr lang="en-US" altLang="zh-CN" sz="2000" dirty="0">
                <a:latin typeface="Times New Roman" panose="02020603050405020304" pitchFamily="18" charset="0"/>
                <a:ea typeface="楷体_GB2312" pitchFamily="49" charset="-122"/>
                <a:sym typeface="Wingdings" panose="05000000000000000000" pitchFamily="2" charset="2"/>
              </a:rPr>
              <a:t>的HMM参量值，使用Viterbi算法从节奏片段所对应的音型元结构候选队列中选择一个最优音型元结构，以便为输入旋律的节奏片段链(HMM的观察序列)构造最恰当的音型元结构序列(隐含状态序列)。</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3"/>
          <p:cNvSpPr txBox="1"/>
          <p:nvPr/>
        </p:nvSpPr>
        <p:spPr>
          <a:xfrm>
            <a:off x="314325" y="3143568"/>
            <a:ext cx="3167063" cy="866775"/>
          </a:xfrm>
          <a:prstGeom prst="rect">
            <a:avLst/>
          </a:prstGeom>
          <a:noFill/>
          <a:ln w="9525">
            <a:noFill/>
          </a:ln>
        </p:spPr>
        <p:txBody>
          <a:bodyPr/>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子任务8(计算</a:t>
            </a:r>
            <a:r>
              <a:rPr lang="en-US" altLang="zh-CN" sz="2000" i="1" dirty="0">
                <a:latin typeface="Times New Roman" panose="02020603050405020304" pitchFamily="18" charset="0"/>
                <a:ea typeface="楷体_GB2312" pitchFamily="49" charset="-122"/>
                <a:sym typeface="Wingdings" panose="05000000000000000000" pitchFamily="2" charset="2"/>
              </a:rPr>
              <a:t>K</a:t>
            </a:r>
            <a:r>
              <a:rPr lang="en-US" altLang="zh-CN" sz="2000" dirty="0">
                <a:latin typeface="Times New Roman" panose="02020603050405020304" pitchFamily="18" charset="0"/>
                <a:ea typeface="楷体_GB2312" pitchFamily="49" charset="-122"/>
                <a:sym typeface="Wingdings" panose="05000000000000000000" pitchFamily="2" charset="2"/>
              </a:rPr>
              <a:t>声调式音阶特征单元)： </a:t>
            </a:r>
            <a:r>
              <a:rPr lang="zh-CN" altLang="en-US" sz="2000" dirty="0">
                <a:latin typeface="Times New Roman" panose="02020603050405020304" pitchFamily="18" charset="0"/>
                <a:ea typeface="楷体_GB2312" pitchFamily="49" charset="-122"/>
                <a:sym typeface="Wingdings" panose="05000000000000000000" pitchFamily="2" charset="2"/>
              </a:rPr>
              <a:t>依次为每个和声配置单元生成</a:t>
            </a:r>
            <a:r>
              <a:rPr lang="en-US" altLang="zh-CN" sz="2000" i="1" dirty="0">
                <a:latin typeface="Times New Roman" panose="02020603050405020304" pitchFamily="18" charset="0"/>
                <a:ea typeface="楷体_GB2312" pitchFamily="49" charset="-122"/>
                <a:sym typeface="Wingdings" panose="05000000000000000000" pitchFamily="2" charset="2"/>
              </a:rPr>
              <a:t>K</a:t>
            </a:r>
            <a:r>
              <a:rPr lang="en-US" altLang="zh-CN" sz="2000" dirty="0">
                <a:latin typeface="Times New Roman" panose="02020603050405020304" pitchFamily="18" charset="0"/>
                <a:ea typeface="楷体_GB2312" pitchFamily="49" charset="-122"/>
                <a:sym typeface="Wingdings" panose="05000000000000000000" pitchFamily="2" charset="2"/>
              </a:rPr>
              <a:t>声调式音阶特征单元</a:t>
            </a:r>
            <a:r>
              <a:rPr lang="zh-CN" altLang="en-US" sz="2000" dirty="0">
                <a:latin typeface="Times New Roman" panose="02020603050405020304" pitchFamily="18" charset="0"/>
                <a:ea typeface="楷体_GB2312" pitchFamily="49" charset="-122"/>
                <a:sym typeface="Wingdings" panose="05000000000000000000" pitchFamily="2" charset="2"/>
              </a:rPr>
              <a:t>，该和声配置单元可以是单拍子，也可是一个小节。其长度由子任务</a:t>
            </a:r>
            <a:r>
              <a:rPr lang="en-US" altLang="zh-CN" sz="2000" dirty="0">
                <a:latin typeface="Times New Roman" panose="02020603050405020304" pitchFamily="18" charset="0"/>
                <a:ea typeface="楷体_GB2312" pitchFamily="49" charset="-122"/>
                <a:sym typeface="Wingdings" panose="05000000000000000000" pitchFamily="2" charset="2"/>
              </a:rPr>
              <a:t>7</a:t>
            </a:r>
            <a:r>
              <a:rPr lang="zh-CN" altLang="en-US" sz="2000" dirty="0">
                <a:latin typeface="Times New Roman" panose="02020603050405020304" pitchFamily="18" charset="0"/>
                <a:ea typeface="楷体_GB2312" pitchFamily="49" charset="-122"/>
                <a:sym typeface="Wingdings" panose="05000000000000000000" pitchFamily="2" charset="2"/>
              </a:rPr>
              <a:t>选择的元结构中提供</a:t>
            </a:r>
            <a:r>
              <a:rPr lang="zh-CN" altLang="en-US" sz="2000" dirty="0">
                <a:latin typeface="Times New Roman" panose="02020603050405020304" pitchFamily="18" charset="0"/>
                <a:ea typeface="楷体_GB2312" pitchFamily="49" charset="-122"/>
                <a:sym typeface="Wingdings" panose="05000000000000000000" pitchFamily="2" charset="2"/>
              </a:rPr>
              <a:t>。</a:t>
            </a:r>
            <a:endParaRPr lang="zh-CN" altLang="en-US" sz="20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3"/>
          <p:cNvSpPr txBox="1"/>
          <p:nvPr/>
        </p:nvSpPr>
        <p:spPr>
          <a:xfrm>
            <a:off x="169863" y="3143568"/>
            <a:ext cx="3529012" cy="866775"/>
          </a:xfrm>
          <a:prstGeom prst="rect">
            <a:avLst/>
          </a:prstGeom>
          <a:noFill/>
          <a:ln w="9525">
            <a:noFill/>
          </a:ln>
        </p:spPr>
        <p:txBody>
          <a:bodyPr/>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9(生成调式和弦序列)：以子任务8为输入旋律生成的K声调式音阶特征单元序列为观察序列，依据训练阶段子任务3计算的和弦序进的HMM参量值，使用Viterbi算法为输入旋律生成最恰当的隐含状态序列，即调式和弦序列(包含涉及和弦配置位置的和弦分布序列)。</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Rectangle 3"/>
          <p:cNvSpPr txBox="1"/>
          <p:nvPr/>
        </p:nvSpPr>
        <p:spPr>
          <a:xfrm>
            <a:off x="169863" y="3143568"/>
            <a:ext cx="3565525" cy="866775"/>
          </a:xfrm>
          <a:prstGeom prst="rect">
            <a:avLst/>
          </a:prstGeom>
          <a:noFill/>
          <a:ln w="9525">
            <a:noFill/>
          </a:ln>
        </p:spPr>
        <p:txBody>
          <a:bodyPr/>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子任务10(生成钢琴伴奏)：为由子任务7选择的每个音型元结构计算钢琴伴奏音型。具体涉及音型元结构中音符音高、根音变元值及旋律片段变元值的确定。分如下两种情况。</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Tree>
  </p:cSld>
  <p:clrMapOvr>
    <a:masterClrMapping/>
  </p:clrMapOvr>
  <p:transition spd="med">
    <p:rand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79554" name="Rectangle 3"/>
          <p:cNvSpPr txBox="1"/>
          <p:nvPr/>
        </p:nvSpPr>
        <p:spPr>
          <a:xfrm>
            <a:off x="169863" y="2784793"/>
            <a:ext cx="3565525" cy="866775"/>
          </a:xfrm>
          <a:prstGeom prst="rect">
            <a:avLst/>
          </a:prstGeom>
          <a:noFill/>
          <a:ln w="9525">
            <a:noFill/>
          </a:ln>
        </p:spPr>
        <p:txBody>
          <a:bodyPr/>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(1)当音型元结构中的音符不处于某个模仿或模进结构中时，这个音符的音高(调式音级)可由包含该音符的时长为单拍子或单小节的多声部音群结构的特征和弦(这个特征和弦由子任务9所生成的调式和弦序列，按该音符所处的位置确定)的根音的音高以及音型元结构的Pitch Description字段中这个音符的</a:t>
            </a:r>
            <a:r>
              <a:rPr lang="en-US" altLang="zh-CN" sz="2000" i="1" baseline="30000" dirty="0">
                <a:latin typeface="Times New Roman" panose="02020603050405020304" pitchFamily="18" charset="0"/>
                <a:ea typeface="楷体_GB2312" pitchFamily="49" charset="-122"/>
                <a:sym typeface="Wingdings" panose="05000000000000000000" pitchFamily="2" charset="2"/>
              </a:rPr>
              <a:t>r</a:t>
            </a:r>
            <a:r>
              <a:rPr lang="en-US" altLang="zh-CN" sz="2000" i="1" dirty="0">
                <a:latin typeface="Times New Roman" panose="02020603050405020304" pitchFamily="18" charset="0"/>
                <a:ea typeface="楷体_GB2312" pitchFamily="49" charset="-122"/>
                <a:sym typeface="Wingdings" panose="05000000000000000000" pitchFamily="2" charset="2"/>
              </a:rPr>
              <a:t>R</a:t>
            </a:r>
            <a:r>
              <a:rPr lang="en-US" altLang="zh-CN" sz="2000" dirty="0">
                <a:latin typeface="Times New Roman" panose="02020603050405020304" pitchFamily="18" charset="0"/>
                <a:ea typeface="楷体_GB2312" pitchFamily="49" charset="-122"/>
                <a:sym typeface="Wingdings" panose="05000000000000000000" pitchFamily="2" charset="2"/>
              </a:rPr>
              <a:t>级置换函数名(描述该音符的音高与根音音高间的音程关系)共同确定。</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79554" name="Rectangle 3"/>
          <p:cNvSpPr txBox="1"/>
          <p:nvPr/>
        </p:nvSpPr>
        <p:spPr>
          <a:xfrm>
            <a:off x="169863" y="2784793"/>
            <a:ext cx="3565525" cy="866775"/>
          </a:xfrm>
          <a:prstGeom prst="rect">
            <a:avLst/>
          </a:prstGeom>
          <a:noFill/>
          <a:ln w="9525">
            <a:noFill/>
          </a:ln>
        </p:spPr>
        <p:txBody>
          <a:bodyPr/>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(2)当音型元结构中的音符处于某个模仿或模进结构中时，音型元结构存在旋律片段变元，该变元的值由被伴奏的旋律片段中的音符(音高与时值)与音型元结构的Pitch Description字段中相关的值，涉及音符相对位置、被模仿及模进的音符序号以及</a:t>
            </a:r>
            <a:r>
              <a:rPr lang="en-US" altLang="zh-CN" sz="2000" i="1" baseline="30000" dirty="0">
                <a:latin typeface="Times New Roman" panose="02020603050405020304" pitchFamily="18" charset="0"/>
                <a:ea typeface="楷体_GB2312" pitchFamily="49" charset="-122"/>
                <a:sym typeface="Wingdings" panose="05000000000000000000" pitchFamily="2" charset="2"/>
              </a:rPr>
              <a:t>r</a:t>
            </a:r>
            <a:r>
              <a:rPr lang="en-US" altLang="zh-CN" sz="2000" i="1" dirty="0">
                <a:latin typeface="Times New Roman" panose="02020603050405020304" pitchFamily="18" charset="0"/>
                <a:ea typeface="楷体_GB2312" pitchFamily="49" charset="-122"/>
                <a:sym typeface="Wingdings" panose="05000000000000000000" pitchFamily="2" charset="2"/>
              </a:rPr>
              <a:t>R</a:t>
            </a:r>
            <a:r>
              <a:rPr lang="en-US" altLang="zh-CN" sz="2000" dirty="0">
                <a:latin typeface="Times New Roman" panose="02020603050405020304" pitchFamily="18" charset="0"/>
                <a:ea typeface="楷体_GB2312" pitchFamily="49" charset="-122"/>
                <a:sym typeface="Wingdings" panose="05000000000000000000" pitchFamily="2" charset="2"/>
              </a:rPr>
              <a:t>级置换函数名(描述模仿及模进音符的音高与被伴奏旋律片段中相应音符音高间的音程关系)共同确定。</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79554" name="Rectangle 3"/>
          <p:cNvSpPr txBox="1"/>
          <p:nvPr/>
        </p:nvSpPr>
        <p:spPr>
          <a:xfrm>
            <a:off x="169863" y="3215323"/>
            <a:ext cx="3565525" cy="866775"/>
          </a:xfrm>
          <a:prstGeom prst="rect">
            <a:avLst/>
          </a:prstGeom>
          <a:noFill/>
          <a:ln w="9525">
            <a:noFill/>
          </a:ln>
        </p:spPr>
        <p:txBody>
          <a:bodyPr/>
          <a:p>
            <a:pPr eaLnBrk="1" hangingPunct="1">
              <a:spcBef>
                <a:spcPct val="20000"/>
              </a:spcBef>
            </a:pPr>
            <a:r>
              <a:rPr lang="en-US" altLang="zh-CN" sz="1800" dirty="0">
                <a:latin typeface="Times New Roman" panose="02020603050405020304" pitchFamily="18" charset="0"/>
                <a:ea typeface="楷体_GB2312" pitchFamily="49" charset="-122"/>
                <a:sym typeface="Wingdings" panose="05000000000000000000" pitchFamily="2" charset="2"/>
              </a:rPr>
              <a:t>         </a:t>
            </a:r>
            <a:r>
              <a:rPr lang="en-US" altLang="zh-CN" sz="2000" dirty="0">
                <a:latin typeface="Times New Roman" panose="02020603050405020304" pitchFamily="18" charset="0"/>
                <a:ea typeface="楷体_GB2312" pitchFamily="49" charset="-122"/>
                <a:sym typeface="Wingdings" panose="05000000000000000000" pitchFamily="2" charset="2"/>
              </a:rPr>
              <a:t>系统最终会生成一个由输入的旋律声部及钢琴左、右手声部组成的多声部音乐。它的创作风格直接复制于在训练阶段所选择的样板乐谱。</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3"/>
          <p:cNvSpPr txBox="1"/>
          <p:nvPr/>
        </p:nvSpPr>
        <p:spPr>
          <a:xfrm>
            <a:off x="182563" y="2100263"/>
            <a:ext cx="9002712" cy="533400"/>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宋体" panose="02010600030101010101" pitchFamily="2" charset="-122"/>
              </a:rPr>
              <a:t>        </a:t>
            </a:r>
            <a:r>
              <a:rPr lang="en-US" altLang="en-GB" sz="2400" i="1" dirty="0">
                <a:solidFill>
                  <a:srgbClr val="FFC000"/>
                </a:solidFill>
                <a:latin typeface="Times New Roman" panose="02020603050405020304" pitchFamily="18" charset="0"/>
                <a:ea typeface="宋体" panose="02010600030101010101" pitchFamily="2" charset="-122"/>
              </a:rPr>
              <a:t> </a:t>
            </a:r>
            <a:r>
              <a:rPr lang="zh-CN" altLang="en-US" sz="2400" i="1" dirty="0">
                <a:solidFill>
                  <a:srgbClr val="FFC000"/>
                </a:solidFill>
                <a:latin typeface="Times New Roman" panose="02020603050405020304" pitchFamily="18" charset="0"/>
                <a:ea typeface="宋体" panose="02010600030101010101" pitchFamily="2" charset="-122"/>
              </a:rPr>
              <a:t>系统体系结构</a:t>
            </a:r>
            <a:r>
              <a:rPr lang="en-US" altLang="en-GB" sz="2400" i="1" dirty="0">
                <a:solidFill>
                  <a:srgbClr val="FFC000"/>
                </a:solidFill>
                <a:latin typeface="Times New Roman" panose="02020603050405020304" pitchFamily="18" charset="0"/>
                <a:ea typeface="宋体" panose="02010600030101010101" pitchFamily="2" charset="-122"/>
              </a:rPr>
              <a:t>——</a:t>
            </a:r>
            <a:r>
              <a:rPr lang="zh-CN" altLang="en-US" sz="2400" i="1" dirty="0">
                <a:solidFill>
                  <a:srgbClr val="FFC000"/>
                </a:solidFill>
                <a:latin typeface="Times New Roman" panose="02020603050405020304" pitchFamily="18" charset="0"/>
                <a:ea typeface="宋体" panose="02010600030101010101" pitchFamily="2" charset="-122"/>
              </a:rPr>
              <a:t>旋律配和声阶段</a:t>
            </a:r>
            <a:endParaRPr lang="zh-CN" altLang="en-US" sz="2400" i="1" dirty="0">
              <a:solidFill>
                <a:srgbClr val="FFC000"/>
              </a:solidFill>
              <a:latin typeface="Times New Roman" panose="02020603050405020304" pitchFamily="18" charset="0"/>
              <a:ea typeface="宋体" panose="02010600030101010101" pitchFamily="2" charset="-122"/>
            </a:endParaRPr>
          </a:p>
        </p:txBody>
      </p:sp>
      <p:sp>
        <p:nvSpPr>
          <p:cNvPr id="5" name="Rectangle 2"/>
          <p:cNvSpPr>
            <a:spLocks noGrp="1"/>
          </p:cNvSpPr>
          <p:nvPr/>
        </p:nvSpPr>
        <p:spPr>
          <a:xfrm>
            <a:off x="270510" y="631825"/>
            <a:ext cx="8712200" cy="114300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a:lstStyle>
          <a:p>
            <a:pPr eaLnBrk="1" hangingPunct="1"/>
            <a:r>
              <a:rPr lang="zh-CN" altLang="en-US" sz="3600" dirty="0">
                <a:ea typeface="楷体_GB2312" pitchFamily="49" charset="-122"/>
              </a:rPr>
              <a:t>自动钢琴伴奏系统</a:t>
            </a:r>
            <a:endParaRPr lang="zh-CN" altLang="en-US" sz="3600" dirty="0">
              <a:ea typeface="楷体_GB2312" pitchFamily="49" charset="-122"/>
            </a:endParaRPr>
          </a:p>
        </p:txBody>
      </p:sp>
      <p:sp>
        <p:nvSpPr>
          <p:cNvPr id="7" name="Rectangle 3"/>
          <p:cNvSpPr txBox="1"/>
          <p:nvPr/>
        </p:nvSpPr>
        <p:spPr>
          <a:xfrm>
            <a:off x="4123690" y="6360795"/>
            <a:ext cx="4097020" cy="407670"/>
          </a:xfrm>
          <a:prstGeom prst="rect">
            <a:avLst/>
          </a:prstGeom>
          <a:noFill/>
          <a:ln w="9525">
            <a:noFill/>
          </a:ln>
        </p:spPr>
        <p:txBody>
          <a:bodyPr/>
          <a:p>
            <a:pPr eaLnBrk="1" hangingPunct="1">
              <a:spcBef>
                <a:spcPct val="20000"/>
              </a:spcBef>
            </a:pPr>
            <a:r>
              <a:rPr lang="zh-CN" altLang="en-US" sz="1600" dirty="0">
                <a:latin typeface="Times New Roman" panose="02020603050405020304" pitchFamily="18" charset="0"/>
                <a:ea typeface="楷体_GB2312" pitchFamily="49" charset="-122"/>
                <a:sym typeface="Wingdings" panose="05000000000000000000" pitchFamily="2" charset="2"/>
              </a:rPr>
              <a:t>为旋律自动配置钢琴伴奏系统的体系结构</a:t>
            </a:r>
            <a:endParaRPr lang="zh-CN" altLang="en-US" sz="1600" dirty="0">
              <a:latin typeface="Times New Roman" panose="02020603050405020304" pitchFamily="18" charset="0"/>
              <a:ea typeface="楷体_GB2312" pitchFamily="49" charset="-122"/>
              <a:sym typeface="Wingdings" panose="05000000000000000000" pitchFamily="2" charset="2"/>
            </a:endParaRPr>
          </a:p>
        </p:txBody>
      </p:sp>
      <p:pic>
        <p:nvPicPr>
          <p:cNvPr id="8" name="图片 7"/>
          <p:cNvPicPr>
            <a:picLocks noChangeAspect="1"/>
          </p:cNvPicPr>
          <p:nvPr>
            <p:custDataLst>
              <p:tags r:id="rId1"/>
            </p:custDataLst>
          </p:nvPr>
        </p:nvPicPr>
        <p:blipFill>
          <a:blip r:embed="rId2"/>
          <a:stretch>
            <a:fillRect/>
          </a:stretch>
        </p:blipFill>
        <p:spPr>
          <a:xfrm>
            <a:off x="3604895" y="2848610"/>
            <a:ext cx="5163820" cy="3488690"/>
          </a:xfrm>
          <a:prstGeom prst="rect">
            <a:avLst/>
          </a:prstGeom>
        </p:spPr>
      </p:pic>
      <p:sp>
        <p:nvSpPr>
          <p:cNvPr id="279554" name="Rectangle 3"/>
          <p:cNvSpPr txBox="1"/>
          <p:nvPr/>
        </p:nvSpPr>
        <p:spPr>
          <a:xfrm>
            <a:off x="169863" y="3215323"/>
            <a:ext cx="3565525" cy="866775"/>
          </a:xfrm>
          <a:prstGeom prst="rect">
            <a:avLst/>
          </a:prstGeom>
          <a:noFill/>
          <a:ln w="9525">
            <a:noFill/>
          </a:ln>
        </p:spPr>
        <p:txBody>
          <a:bodyPr/>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        这里的创作风格涉及如下三个方面内容。</a:t>
            </a: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(1)和声的序进策略。</a:t>
            </a: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(2)被伴奏旋律片段与所生成的钢琴伴奏音型的节奏对比关系。</a:t>
            </a:r>
            <a:endParaRPr lang="en-US" altLang="zh-CN" sz="2000" dirty="0">
              <a:latin typeface="Times New Roman" panose="02020603050405020304" pitchFamily="18" charset="0"/>
              <a:ea typeface="楷体_GB2312" pitchFamily="49" charset="-122"/>
              <a:sym typeface="Wingdings" panose="05000000000000000000" pitchFamily="2" charset="2"/>
            </a:endParaRPr>
          </a:p>
          <a:p>
            <a:pPr eaLnBrk="1" hangingPunct="1">
              <a:spcBef>
                <a:spcPct val="20000"/>
              </a:spcBef>
            </a:pPr>
            <a:r>
              <a:rPr lang="en-US" altLang="zh-CN" sz="2000" dirty="0">
                <a:latin typeface="Times New Roman" panose="02020603050405020304" pitchFamily="18" charset="0"/>
                <a:ea typeface="楷体_GB2312" pitchFamily="49" charset="-122"/>
                <a:sym typeface="Wingdings" panose="05000000000000000000" pitchFamily="2" charset="2"/>
              </a:rPr>
              <a:t>(3)多声部音乐中的模仿与模进技术的使用。</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spTree>
  </p:cSld>
  <p:clrMapOvr>
    <a:masterClrMapping/>
  </p:clrMapOvr>
  <p:transition spd="med">
    <p:random/>
  </p:transition>
</p:sld>
</file>

<file path=ppt/tags/tag1.xml><?xml version="1.0" encoding="utf-8"?>
<p:tagLst xmlns:p="http://schemas.openxmlformats.org/presentationml/2006/main">
  <p:tag name="KSO_WM_UNIT_PLACING_PICTURE_USER_VIEWPORT" val="{&quot;height&quot;:8243,&quot;width&quot;:10493}"/>
</p:tagLst>
</file>

<file path=ppt/tags/tag2.xml><?xml version="1.0" encoding="utf-8"?>
<p:tagLst xmlns:p="http://schemas.openxmlformats.org/presentationml/2006/main">
  <p:tag name="KSO_WM_UNIT_PLACING_PICTURE_USER_VIEWPORT" val="{&quot;height&quot;:10355,&quot;width&quot;:13175}"/>
</p:tagLst>
</file>

<file path=ppt/tags/tag3.xml><?xml version="1.0" encoding="utf-8"?>
<p:tagLst xmlns:p="http://schemas.openxmlformats.org/presentationml/2006/main">
  <p:tag name="KSO_WM_UNIT_PLACING_PICTURE_USER_VIEWPORT" val="{&quot;height&quot;:10355,&quot;width&quot;:13175}"/>
</p:tagLst>
</file>

<file path=ppt/tags/tag4.xml><?xml version="1.0" encoding="utf-8"?>
<p:tagLst xmlns:p="http://schemas.openxmlformats.org/presentationml/2006/main">
  <p:tag name="KSO_WM_UNIT_PLACING_PICTURE_USER_VIEWPORT" val="{&quot;height&quot;:10355,&quot;width&quot;:13175}"/>
</p:tagLst>
</file>

<file path=ppt/tags/tag5.xml><?xml version="1.0" encoding="utf-8"?>
<p:tagLst xmlns:p="http://schemas.openxmlformats.org/presentationml/2006/main">
  <p:tag name="KSO_WM_UNIT_PLACING_PICTURE_USER_VIEWPORT" val="{&quot;height&quot;:10355,&quot;width&quot;:13175}"/>
</p:tagLst>
</file>

<file path=ppt/tags/tag6.xml><?xml version="1.0" encoding="utf-8"?>
<p:tagLst xmlns:p="http://schemas.openxmlformats.org/presentationml/2006/main">
  <p:tag name="KSO_WM_UNIT_PLACING_PICTURE_USER_VIEWPORT" val="{&quot;height&quot;:10355,&quot;width&quot;:13175}"/>
</p:tagLst>
</file>

<file path=ppt/tags/tag7.xml><?xml version="1.0" encoding="utf-8"?>
<p:tagLst xmlns:p="http://schemas.openxmlformats.org/presentationml/2006/main">
  <p:tag name="KSO_WM_UNIT_PLACING_PICTURE_USER_VIEWPORT" val="{&quot;height&quot;:10355,&quot;width&quot;:13175}"/>
</p:tagLst>
</file>

<file path=ppt/tags/tag8.xml><?xml version="1.0" encoding="utf-8"?>
<p:tagLst xmlns:p="http://schemas.openxmlformats.org/presentationml/2006/main">
  <p:tag name="KSO_WM_UNIT_PLACING_PICTURE_USER_VIEWPORT" val="{&quot;height&quot;:10355,&quot;width&quot;:13175}"/>
</p:tagLst>
</file>

<file path=ppt/tags/tag9.xml><?xml version="1.0" encoding="utf-8"?>
<p:tagLst xmlns:p="http://schemas.openxmlformats.org/presentationml/2006/main">
  <p:tag name="KSO_WM_UNIT_PLACING_PICTURE_USER_VIEWPORT" val="{&quot;height&quot;:10355,&quot;width&quot;:13175}"/>
</p:tagLst>
</file>

<file path=ppt/tags/tag10.xml><?xml version="1.0" encoding="utf-8"?>
<p:tagLst xmlns:p="http://schemas.openxmlformats.org/presentationml/2006/main">
  <p:tag name="KSO_WM_UNIT_PLACING_PICTURE_USER_VIEWPORT" val="{&quot;height&quot;:10355,&quot;width&quot;:13175}"/>
</p:tagLst>
</file>

<file path=ppt/tags/tag11.xml><?xml version="1.0" encoding="utf-8"?>
<p:tagLst xmlns:p="http://schemas.openxmlformats.org/presentationml/2006/main">
  <p:tag name="KSO_WM_UNIT_PLACING_PICTURE_USER_VIEWPORT" val="{&quot;height&quot;:10355,&quot;width&quot;:13175}"/>
</p:tagLst>
</file>

<file path=ppt/tags/tag12.xml><?xml version="1.0" encoding="utf-8"?>
<p:tagLst xmlns:p="http://schemas.openxmlformats.org/presentationml/2006/main">
  <p:tag name="KSO_WM_UNIT_PLACING_PICTURE_USER_VIEWPORT" val="{&quot;height&quot;:10355,&quot;width&quot;:13175}"/>
</p:tagLst>
</file>

<file path=ppt/tags/tag13.xml><?xml version="1.0" encoding="utf-8"?>
<p:tagLst xmlns:p="http://schemas.openxmlformats.org/presentationml/2006/main">
  <p:tag name="KSO_WM_UNIT_PLACING_PICTURE_USER_VIEWPORT" val="{&quot;height&quot;:10355,&quot;width&quot;:13175}"/>
</p:tagLst>
</file>

<file path=ppt/tags/tag14.xml><?xml version="1.0" encoding="utf-8"?>
<p:tagLst xmlns:p="http://schemas.openxmlformats.org/presentationml/2006/main">
  <p:tag name="KSO_WM_UNIT_PLACING_PICTURE_USER_VIEWPORT" val="{&quot;height&quot;:10355,&quot;width&quot;:13175}"/>
</p:tagLst>
</file>

<file path=ppt/tags/tag15.xml><?xml version="1.0" encoding="utf-8"?>
<p:tagLst xmlns:p="http://schemas.openxmlformats.org/presentationml/2006/main">
  <p:tag name="KSO_WM_UNIT_PLACING_PICTURE_USER_VIEWPORT" val="{&quot;height&quot;:10355,&quot;width&quot;:13175}"/>
</p:tagLst>
</file>

<file path=ppt/tags/tag16.xml><?xml version="1.0" encoding="utf-8"?>
<p:tagLst xmlns:p="http://schemas.openxmlformats.org/presentationml/2006/main">
  <p:tag name="KSO_WM_UNIT_PLACING_PICTURE_USER_VIEWPORT" val="{&quot;height&quot;:10355,&quot;width&quot;:13175}"/>
</p:tagLst>
</file>

<file path=ppt/tags/tag17.xml><?xml version="1.0" encoding="utf-8"?>
<p:tagLst xmlns:p="http://schemas.openxmlformats.org/presentationml/2006/main">
  <p:tag name="KSO_WM_UNIT_PLACING_PICTURE_USER_VIEWPORT" val="{&quot;height&quot;:10355,&quot;width&quot;:13175}"/>
</p:tagLst>
</file>

<file path=ppt/tags/tag18.xml><?xml version="1.0" encoding="utf-8"?>
<p:tagLst xmlns:p="http://schemas.openxmlformats.org/presentationml/2006/main">
  <p:tag name="KSO_WM_UNIT_PLACING_PICTURE_USER_VIEWPORT" val="{&quot;height&quot;:10355,&quot;width&quot;:13175}"/>
</p:tagLst>
</file>

<file path=ppt/tags/tag19.xml><?xml version="1.0" encoding="utf-8"?>
<p:tagLst xmlns:p="http://schemas.openxmlformats.org/presentationml/2006/main">
  <p:tag name="KSO_WM_UNIT_PLACING_PICTURE_USER_VIEWPORT" val="{&quot;height&quot;:10355,&quot;width&quot;:13175}"/>
</p:tagLst>
</file>

<file path=ppt/tags/tag20.xml><?xml version="1.0" encoding="utf-8"?>
<p:tagLst xmlns:p="http://schemas.openxmlformats.org/presentationml/2006/main">
  <p:tag name="KSO_WM_UNIT_PLACING_PICTURE_USER_VIEWPORT" val="{&quot;height&quot;:10355,&quot;width&quot;:13175}"/>
</p:tagLst>
</file>

<file path=ppt/tags/tag21.xml><?xml version="1.0" encoding="utf-8"?>
<p:tagLst xmlns:p="http://schemas.openxmlformats.org/presentationml/2006/main">
  <p:tag name="KSO_WM_UNIT_PLACING_PICTURE_USER_VIEWPORT" val="{&quot;height&quot;:10355,&quot;width&quot;:13175}"/>
</p:tagLst>
</file>

<file path=ppt/theme/theme1.xml><?xml version="1.0" encoding="utf-8"?>
<a:theme xmlns:a="http://schemas.openxmlformats.org/drawingml/2006/main" name="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altLang="zh-CN" sz="3600" b="0" i="0" u="none" strike="noStrike" cap="none" normalizeH="0" baseline="0" smtClean="0">
            <a:ln>
              <a:noFill/>
            </a:ln>
            <a:solidFill>
              <a:schemeClr val="tx1"/>
            </a:solidFill>
            <a:effectLst/>
            <a:latin typeface="Chiller" panose="04020404031007020602" pitchFamily="82"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23841</Words>
  <Application>WPS 演示</Application>
  <PresentationFormat>全屏显示(4:3)</PresentationFormat>
  <Paragraphs>1921</Paragraphs>
  <Slides>128</Slides>
  <Notes>36</Notes>
  <HiddenSlides>0</HiddenSlides>
  <MMClips>5</MMClips>
  <ScaleCrop>false</ScaleCrop>
  <HeadingPairs>
    <vt:vector size="8" baseType="variant">
      <vt:variant>
        <vt:lpstr>已用的字体</vt:lpstr>
      </vt:variant>
      <vt:variant>
        <vt:i4>9</vt:i4>
      </vt:variant>
      <vt:variant>
        <vt:lpstr>主题</vt:lpstr>
      </vt:variant>
      <vt:variant>
        <vt:i4>10</vt:i4>
      </vt:variant>
      <vt:variant>
        <vt:lpstr>嵌入 OLE 服务器</vt:lpstr>
      </vt:variant>
      <vt:variant>
        <vt:i4>27</vt:i4>
      </vt:variant>
      <vt:variant>
        <vt:lpstr>幻灯片标题</vt:lpstr>
      </vt:variant>
      <vt:variant>
        <vt:i4>128</vt:i4>
      </vt:variant>
    </vt:vector>
  </HeadingPairs>
  <TitlesOfParts>
    <vt:vector size="174" baseType="lpstr">
      <vt:lpstr>Arial</vt:lpstr>
      <vt:lpstr>宋体</vt:lpstr>
      <vt:lpstr>Wingdings</vt:lpstr>
      <vt:lpstr>Chiller</vt:lpstr>
      <vt:lpstr>Times New Roman</vt:lpstr>
      <vt:lpstr>楷体_GB2312</vt:lpstr>
      <vt:lpstr>新宋体</vt:lpstr>
      <vt:lpstr>微软雅黑</vt:lpstr>
      <vt:lpstr>Arial Unicode MS</vt:lpstr>
      <vt:lpstr>Pulse</vt:lpstr>
      <vt:lpstr>1_Pulse</vt:lpstr>
      <vt:lpstr>2_Pulse</vt:lpstr>
      <vt:lpstr>3_Pulse</vt:lpstr>
      <vt:lpstr>4_Pulse</vt:lpstr>
      <vt:lpstr>5_Pulse</vt:lpstr>
      <vt:lpstr>6_Pulse</vt:lpstr>
      <vt:lpstr>7_Pulse</vt:lpstr>
      <vt:lpstr>8_Pulse</vt:lpstr>
      <vt:lpstr>10_Pulse</vt:lpstr>
      <vt:lpstr>Photoshop.Image.7</vt:lpstr>
      <vt:lpstr>Equation.KSEE3</vt:lpstr>
      <vt:lpstr>Equation.KSEE3</vt:lpstr>
      <vt:lpstr>Equation.KSEE3</vt:lpstr>
      <vt:lpstr>Equation.KSEE3</vt:lpstr>
      <vt:lpstr>Photoshop.Image.7</vt:lpstr>
      <vt:lpstr>Equation.KSEE3</vt:lpstr>
      <vt:lpstr>Equation.KSEE3</vt:lpstr>
      <vt:lpstr>Equation.KSEE3</vt:lpstr>
      <vt:lpstr>Equation.KSEE3</vt:lpstr>
      <vt:lpstr>Equation.KSEE3</vt:lpstr>
      <vt:lpstr>Photoshop.Image.7</vt:lpstr>
      <vt:lpstr>Equation.KSEE3</vt:lpstr>
      <vt:lpstr>Equation.KSEE3</vt:lpstr>
      <vt:lpstr>Equation.KSEE3</vt:lpstr>
      <vt:lpstr>Equation.KSEE3</vt:lpstr>
      <vt:lpstr>Equation.KSEE3</vt:lpstr>
      <vt:lpstr>Equation.KSEE3</vt:lpstr>
      <vt:lpstr>Equation.KSEE3</vt:lpstr>
      <vt:lpstr>Equation.KSEE3</vt:lpstr>
      <vt:lpstr>Photoshop.Image.7</vt:lpstr>
      <vt:lpstr>Photoshop.Image.7</vt:lpstr>
      <vt:lpstr>Photoshop.Image.7</vt:lpstr>
      <vt:lpstr>Equation.KSEE3</vt:lpstr>
      <vt:lpstr>Equation.KSEE3</vt:lpstr>
      <vt:lpstr>Equation.KSEE3</vt:lpstr>
      <vt:lpstr>Equation.KSEE3</vt:lpstr>
      <vt:lpstr>PowerPoint 演示文稿</vt:lpstr>
      <vt:lpstr>引言</vt:lpstr>
      <vt:lpstr>引言</vt:lpstr>
      <vt:lpstr>引言</vt:lpstr>
      <vt:lpstr>引言</vt:lpstr>
      <vt:lpstr>引言</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旋律自动生成模型 </vt:lpstr>
      <vt:lpstr>机器音乐的质量评估</vt:lpstr>
      <vt:lpstr>机器音乐的质量评估</vt:lpstr>
      <vt:lpstr>机器音乐的质量评估</vt:lpstr>
      <vt:lpstr>机器音乐的质量评估</vt:lpstr>
      <vt:lpstr>机器音乐的质量评估</vt:lpstr>
      <vt:lpstr>机器音乐的质量评估</vt:lpstr>
      <vt:lpstr>机器音乐的质量评估</vt:lpstr>
      <vt:lpstr>机器音乐的质量评估</vt:lpstr>
      <vt:lpstr>机器音乐的质量评估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自动钢琴伴奏系统</vt:lpstr>
      <vt:lpstr>自动钢琴伴奏系统</vt:lpstr>
      <vt:lpstr>PowerPoint 演示文稿</vt:lpstr>
      <vt:lpstr>自动钢琴伴奏系统</vt:lpstr>
      <vt:lpstr>自动钢琴伴奏系统</vt:lpstr>
      <vt:lpstr>自动钢琴伴奏系统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PowerPoint 演示文稿</vt:lpstr>
      <vt:lpstr>Automatic Piano Accompaniment System</vt:lpstr>
      <vt:lpstr>Automatic Piano Accompaniment System</vt:lpstr>
      <vt:lpstr>Automatic Piano Accompaniment System</vt:lpstr>
      <vt:lpstr>Automatic Piano Accompaniment System</vt:lpstr>
      <vt:lpstr>Automatic Piano Accompaniment System</vt:lpstr>
      <vt:lpstr>Automatic Piano Accompaniment System</vt:lpstr>
      <vt:lpstr>PowerPoint 演示文稿</vt:lpstr>
      <vt:lpstr>Automatic Piano Accompaniment System</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mirosoft</dc:creator>
  <cp:lastModifiedBy>孝孝</cp:lastModifiedBy>
  <cp:revision>386</cp:revision>
  <dcterms:created xsi:type="dcterms:W3CDTF">2018-05-12T07:30:00Z</dcterms:created>
  <dcterms:modified xsi:type="dcterms:W3CDTF">2021-02-20T12:14:53Z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