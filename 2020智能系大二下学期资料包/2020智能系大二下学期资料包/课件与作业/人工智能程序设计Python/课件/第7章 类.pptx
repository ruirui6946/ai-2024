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2"/>
    <p:sldId id="299" r:id="rId3"/>
    <p:sldId id="300" r:id="rId4"/>
    <p:sldId id="301" r:id="rId5"/>
    <p:sldId id="333" r:id="rId6"/>
    <p:sldId id="302" r:id="rId7"/>
    <p:sldId id="303" r:id="rId8"/>
    <p:sldId id="304" r:id="rId9"/>
    <p:sldId id="305" r:id="rId10"/>
    <p:sldId id="306" r:id="rId11"/>
    <p:sldId id="334" r:id="rId12"/>
    <p:sldId id="308" r:id="rId13"/>
    <p:sldId id="309" r:id="rId14"/>
    <p:sldId id="310" r:id="rId15"/>
    <p:sldId id="335" r:id="rId16"/>
    <p:sldId id="311" r:id="rId17"/>
    <p:sldId id="312" r:id="rId18"/>
    <p:sldId id="313" r:id="rId19"/>
    <p:sldId id="336" r:id="rId20"/>
    <p:sldId id="314" r:id="rId21"/>
    <p:sldId id="315" r:id="rId22"/>
    <p:sldId id="316" r:id="rId23"/>
    <p:sldId id="317" r:id="rId24"/>
    <p:sldId id="340" r:id="rId25"/>
    <p:sldId id="319" r:id="rId26"/>
    <p:sldId id="320" r:id="rId27"/>
    <p:sldId id="321" r:id="rId28"/>
    <p:sldId id="322" r:id="rId29"/>
    <p:sldId id="323" r:id="rId30"/>
    <p:sldId id="324" r:id="rId31"/>
    <p:sldId id="325" r:id="rId32"/>
    <p:sldId id="337" r:id="rId33"/>
    <p:sldId id="326" r:id="rId34"/>
    <p:sldId id="327" r:id="rId35"/>
    <p:sldId id="328" r:id="rId36"/>
    <p:sldId id="329" r:id="rId37"/>
    <p:sldId id="330" r:id="rId38"/>
    <p:sldId id="338" r:id="rId39"/>
    <p:sldId id="331" r:id="rId40"/>
    <p:sldId id="332" r:id="rId41"/>
    <p:sldId id="339" r:id="rId4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792" autoAdjust="0"/>
  </p:normalViewPr>
  <p:slideViewPr>
    <p:cSldViewPr snapToGrid="0">
      <p:cViewPr varScale="1">
        <p:scale>
          <a:sx n="89" d="100"/>
          <a:sy n="89" d="100"/>
        </p:scale>
        <p:origin x="7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A09C1C-F7C3-4564-8275-A89148BAC91A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2B9B0-8744-465F-A489-44D62F16EE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504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</a:t>
            </a:r>
            <a:r>
              <a:rPr lang="zh-CN" altLang="en-US" dirty="0" smtClean="0"/>
              <a:t>继承至</a:t>
            </a:r>
            <a:r>
              <a:rPr lang="en-US" altLang="zh-CN" dirty="0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继承</a:t>
            </a:r>
            <a:r>
              <a:rPr lang="en-US" altLang="zh-CN" dirty="0" smtClean="0"/>
              <a:t>A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方法都有</a:t>
            </a:r>
            <a:r>
              <a:rPr lang="en-US" altLang="zh-CN" dirty="0" smtClean="0"/>
              <a:t>show</a:t>
            </a:r>
            <a:r>
              <a:rPr lang="zh-CN" altLang="en-US" dirty="0" smtClean="0"/>
              <a:t>，按照顺序执行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</a:t>
            </a:r>
            <a:r>
              <a:rPr lang="en-US" altLang="zh-CN" dirty="0" smtClean="0"/>
              <a:t>show</a:t>
            </a:r>
          </a:p>
          <a:p>
            <a:r>
              <a:rPr lang="en-US" altLang="zh-CN" dirty="0" smtClean="0"/>
              <a:t>D</a:t>
            </a:r>
            <a:r>
              <a:rPr lang="zh-CN" altLang="en-US" dirty="0" smtClean="0"/>
              <a:t>继承至</a:t>
            </a:r>
            <a:r>
              <a:rPr lang="en-US" altLang="zh-CN" dirty="0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，</a:t>
            </a:r>
            <a:r>
              <a:rPr lang="en-US" altLang="zh-CN" dirty="0" smtClean="0"/>
              <a:t>B</a:t>
            </a:r>
            <a:r>
              <a:rPr lang="zh-CN" altLang="en-US" dirty="0" smtClean="0"/>
              <a:t>和</a:t>
            </a:r>
            <a:r>
              <a:rPr lang="en-US" altLang="zh-CN" dirty="0" smtClean="0"/>
              <a:t>C</a:t>
            </a:r>
            <a:r>
              <a:rPr lang="zh-CN" altLang="en-US" dirty="0" smtClean="0"/>
              <a:t>都有方法</a:t>
            </a:r>
            <a:r>
              <a:rPr lang="en-US" altLang="zh-CN" dirty="0" smtClean="0"/>
              <a:t>display</a:t>
            </a:r>
            <a:r>
              <a:rPr lang="zh-CN" altLang="en-US" dirty="0" smtClean="0"/>
              <a:t>，按照顺序执行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</a:t>
            </a:r>
            <a:r>
              <a:rPr lang="en-US" altLang="zh-CN" dirty="0" smtClean="0"/>
              <a:t>display</a:t>
            </a:r>
          </a:p>
          <a:p>
            <a:r>
              <a:rPr lang="zh-CN" altLang="en-US" dirty="0" smtClean="0"/>
              <a:t>只有</a:t>
            </a:r>
            <a:r>
              <a:rPr lang="en-US" altLang="zh-CN" dirty="0" smtClean="0"/>
              <a:t>C</a:t>
            </a:r>
            <a:r>
              <a:rPr lang="zh-CN" altLang="en-US" dirty="0" smtClean="0"/>
              <a:t>有</a:t>
            </a:r>
            <a:r>
              <a:rPr lang="en-US" altLang="zh-CN" dirty="0" smtClean="0"/>
              <a:t>say</a:t>
            </a:r>
            <a:r>
              <a:rPr lang="zh-CN" altLang="en-US" dirty="0" smtClean="0"/>
              <a:t>方法，因此执行</a:t>
            </a:r>
            <a:r>
              <a:rPr lang="en-US" altLang="zh-CN" dirty="0" smtClean="0"/>
              <a:t>C</a:t>
            </a:r>
            <a:r>
              <a:rPr lang="zh-CN" altLang="en-US" dirty="0" smtClean="0"/>
              <a:t>的</a:t>
            </a:r>
            <a:r>
              <a:rPr lang="en-US" altLang="zh-CN" dirty="0" smtClean="0"/>
              <a:t>say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02B9B0-8744-465F-A489-44D62F16EE6C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626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403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69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025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9633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350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72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121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235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927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26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82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75DA30-80FC-484E-B31F-1DD3BEE71F11}" type="datetimeFigureOut">
              <a:rPr lang="zh-CN" altLang="en-US" smtClean="0"/>
              <a:t>2021-4-14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D4B796-ADD0-4E7C-9FCF-0FFEBA7BFD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0694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67916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面向对象技术的基本</a:t>
            </a:r>
            <a:r>
              <a:rPr lang="zh-CN" altLang="en-US" dirty="0" smtClean="0">
                <a:solidFill>
                  <a:srgbClr val="FF0000"/>
                </a:solidFill>
              </a:rPr>
              <a:t>概念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2545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90600" y="1978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类的概念：是对一组具有相似特性的客观事物的抽象，是对事物的特性和功能的描述。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380"/>
          <a:stretch/>
        </p:blipFill>
        <p:spPr bwMode="auto">
          <a:xfrm>
            <a:off x="2617404" y="3042957"/>
            <a:ext cx="5976664" cy="240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010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面向对象技术的基本概念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90600" y="1978024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对象的概念：是类类型的变量，是类的实例。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方法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的概念：是指实现对象所具有的操作功能的代码。每个对象一般包含若干种方法，每个方法有方法名和对应的一组代码。方法体现了对象的一种行为能力。</a:t>
            </a: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消息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的概念：客观世界是由各种对象组成的，对象之间存在着联系，对象之间的联系是通过消息激活机制实现的。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消息的组成：发送对象、接受对象和消息的内容。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消息的实质：是调用对象的成员函数。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消息的特性：（消息的多态性）可以发送给不同的对象，得到的响应可能是不同的，这一点体现了类的多态性，多态性是OOP的主要特征之一。（消息的传递性）消息也可以沿着派生搜索树进行传递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endParaRPr lang="en-US" altLang="zh-CN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继承的概念：指的是一个子类可以从现有的父类中派生出来，子类除了继承父类的特性和功能以外，还可以增加新的特性和功能。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继承的作用：实现代码重用，节省程序开发的时间。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1109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FF0000"/>
                </a:solidFill>
              </a:rPr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01551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969659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类的定义格式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1207780" y="2264081"/>
            <a:ext cx="79200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class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类名(基类名)：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类的成员定义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show(self,p1,p2):  #定义实例方法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self.name=p1   #定义实例属性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print(self.name,p2) </a:t>
            </a:r>
          </a:p>
        </p:txBody>
      </p:sp>
    </p:spTree>
    <p:extLst>
      <p:ext uri="{BB962C8B-B14F-4D97-AF65-F5344CB8AC3E}">
        <p14:creationId xmlns:p14="http://schemas.microsoft.com/office/powerpoint/2010/main" val="3823648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类成员说明：</a:t>
            </a:r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7237" y="2319829"/>
            <a:ext cx="10464780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.类属性和函数成员。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2.类属性用于描述类的属性，在函数成员外进行定义；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3.函数成员用于描述类的功能，也称为方法，用于与外部程序进行通信；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.函数成员：包括类成员函数、实例成员函数和静态成员函数，它们的定义有一些差别。在函数成员中，可以定义变量、可以调用本类的其他函数成员、可以访问类属性和实例属性、可以定义循环选择等去完成相应的功能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5.成员的访问权限：类成员有公有访问权限和私有访问权限，公有访问权限的成员可以通过类名或类实例进行访问，私有访问权限的成员只能在类内部的函数成员中进行访问。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 .类对象：当定义了一个类后，系统自动产生一个全局的类对象。类对象支持两种操作：引用和实例化。引用操作就是通过类名去调用类中的属性和方法，实例化是指通过类的实例化对象去进行操作。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7.实例属性：是指在函数成员中定义的以self.前缀开始的变量。实例属性只能通过实例对象进行读取。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8.类属性：是指在类中的函数成员外定义的变量，是类的所有实例对象共享的。类属性可以通过类名读取，也可通过实例对象进行读取，但不建议通过实例对象进行访问。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9.默认基类：如果在定义类时没有指定基类，python3.*解释器就会自动假定这个类派生于object，该类就自动继承了object类中定义的许多公共的成员方法。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10. python与其他面向对象语言的差异：python中类的定义非常灵活，与C++、JAVA、 C#中类的定义差别很大，可以在类的外面，通过“类名.”增加类属性，通过“类实例名.”增加实例属性。</a:t>
            </a:r>
          </a:p>
        </p:txBody>
      </p:sp>
    </p:spTree>
    <p:extLst>
      <p:ext uri="{BB962C8B-B14F-4D97-AF65-F5344CB8AC3E}">
        <p14:creationId xmlns:p14="http://schemas.microsoft.com/office/powerpoint/2010/main" val="20479623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实例化对象的定义</a:t>
            </a:r>
          </a:p>
          <a:p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061196" y="2201259"/>
            <a:ext cx="991160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对象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名=类名(参数列表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对象创建后，可以使用”.”运算符，来访问其所属类的公有类属性、公有实例属性和公有函数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一般格式为：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对象名.类属性  （不建议这样操作）。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 实例属性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对象名.函数名(参数列表)</a:t>
            </a:r>
          </a:p>
        </p:txBody>
      </p:sp>
    </p:spTree>
    <p:extLst>
      <p:ext uri="{BB962C8B-B14F-4D97-AF65-F5344CB8AC3E}">
        <p14:creationId xmlns:p14="http://schemas.microsoft.com/office/powerpoint/2010/main" val="1953248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60973" y="1341320"/>
            <a:ext cx="7920000" cy="5255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类和对象应用举例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show(self,p1,p2):  #定义实例方法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self.name=p1   #定义实例属性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print(self.name,p2)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print(Person.count)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Person.m=90   #通过类名增加类属性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print(Person.m)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p1.n=100   #通过实例对象名增加实例属性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Person.count=200   #通过类名改变类属性的值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print(Person.count)</a:t>
            </a:r>
          </a:p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p1.show('huhu','testtest')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748" y="5050354"/>
            <a:ext cx="1800000" cy="154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155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类的定义和对象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838200" y="1690688"/>
            <a:ext cx="10515600" cy="4785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53993" y="1371031"/>
            <a:ext cx="7920000" cy="5105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私有成员访问的案例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People: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self,page,pname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定义私有实例属性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__age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，私有属性必须以两个下划线”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 _”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开始        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self.__age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=page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pname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show(self):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self.__age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可以在成员函数内部，访问私有属性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p1=People(25,'peter')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People.count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print(p1.name)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下面的语句会产生错误：“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AttributeError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'People' object has no attribute '__age'”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不能通过实例对象访问私有成员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#print(p1.__age)   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p1.show()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9768" y="5643311"/>
            <a:ext cx="1440000" cy="83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274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0125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构造函数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117037" y="2157730"/>
            <a:ext cx="101064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init__(self[,arg1,…]):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函数体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1）__init__( self[,arg1,…])方法是一种特殊的方法，是python中内置的方法，被称为类的构造函数或初始化方法。当创建这个类的实例时，系统会自动调用该方法，对实例属性进行初始化。self表示实例对象本身，arg1…通常用来初始化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2）通常在构造函数函数中，定义实例属性并对其进行初始化。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3）__init__( self[,arg1,…])方法可以重载，以实现实例对象的多种初始化方法。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4）如果用户没有显式定义__init__( self[,arg1,…])方法，则定义实例对象时，系统自动调用缺省的构造函数，不执行任何功能。</a:t>
            </a:r>
          </a:p>
        </p:txBody>
      </p:sp>
    </p:spTree>
    <p:extLst>
      <p:ext uri="{BB962C8B-B14F-4D97-AF65-F5344CB8AC3E}">
        <p14:creationId xmlns:p14="http://schemas.microsoft.com/office/powerpoint/2010/main" val="127483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析构函数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68176" y="2208240"/>
            <a:ext cx="997836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del__( self)：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函数体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说明：可在析构函数中完成一些程序的善后工作。如果用户没有显式定义析构函数，则系统自动调用缺省的析构函数</a:t>
            </a:r>
          </a:p>
        </p:txBody>
      </p:sp>
    </p:spTree>
    <p:extLst>
      <p:ext uri="{BB962C8B-B14F-4D97-AF65-F5344CB8AC3E}">
        <p14:creationId xmlns:p14="http://schemas.microsoft.com/office/powerpoint/2010/main" val="219942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构造函数和析构</a:t>
            </a:r>
            <a:r>
              <a:rPr lang="zh-CN" altLang="en-US" dirty="0" smtClean="0"/>
              <a:t>函数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1047237" y="1690688"/>
            <a:ext cx="792000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用构造函数解决Person对象的初始化问题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定义类属性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self,tuid,tname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print('{} is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coming'.format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(self.name))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display(self):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self.name,x.year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-z))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输出实例的姓名和年龄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__del__(self):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over'.format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(self.name))</a:t>
            </a:r>
          </a:p>
          <a:p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调用构造函数，初始化对象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   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p1.display()</a:t>
            </a:r>
          </a:p>
          <a:p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释放对象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027" y="5748337"/>
            <a:ext cx="2600325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69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1635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类属性和实例属性的概念区别：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9314" y="2236160"/>
            <a:ext cx="1018945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属性在类的函数成员外进行定义，类属性属于类，是类的所有实例共享的；实例属性通常在构造函数中进行定义并初始化，属于实例对象。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类属性和实例属性的访问差别：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1）在类的成员函数中：通过”类名.”的方式，访问类属性；通过”self.”的方式，访问实例属性。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2）在类的外部：通常通过”类名.”的方式，访问类属性，也可以通过”实例对象.”的方式，访问类属性，但不建议这样做；只能通过”实例对象.”的方式，访问实例属性。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3）无论是类属性还是实例属性，都可以在类外部，通过类名和实例对象增加。</a:t>
            </a:r>
          </a:p>
        </p:txBody>
      </p:sp>
    </p:spTree>
    <p:extLst>
      <p:ext uri="{BB962C8B-B14F-4D97-AF65-F5344CB8AC3E}">
        <p14:creationId xmlns:p14="http://schemas.microsoft.com/office/powerpoint/2010/main" val="27252569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38200" y="1690688"/>
            <a:ext cx="10200968" cy="5262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用类属性统计程序运行过程中有效的实例对象个数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datetime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#相当于类的全局变量，可以通过类名使用，每次增加一个对象，总人数加1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Person.count=Person.count+1 #每次增加一个对象，人数加1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coming'.format(self.name))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print('{}:{}'.format(self.name,x.year-z))   #输出实例的姓名和年龄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__del__(self):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Person.count=Person.count-1   #每次减少一个对象，人数减1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over. The remaining {} people'.format(self.name,Person.count))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@classmethod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reportcount(cls):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print('The total number is {} '.format(Person.count)) </a:t>
            </a:r>
          </a:p>
        </p:txBody>
      </p:sp>
    </p:spTree>
    <p:extLst>
      <p:ext uri="{BB962C8B-B14F-4D97-AF65-F5344CB8AC3E}">
        <p14:creationId xmlns:p14="http://schemas.microsoft.com/office/powerpoint/2010/main" val="2371276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类属性和实例属性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38200" y="1936145"/>
            <a:ext cx="79200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#调用构造函数，初始化对象p1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 = Person('320403198712121234', 'wangjunxia')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p1.display()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p2.display()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Person.reportcount()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p1.reportcount()        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p2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035" y="3255675"/>
            <a:ext cx="57912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012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39171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类方法的定义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类方法是类拥有的方法，需要用修饰器”@classmethod”来标识其为类方法。    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类方法的第一个参数通常用”cls”表示，表示类对象。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在类方法中：只能通过”类名.”的方式，访问类成员。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在类的外部：类方法可以通过类名和实例对象进行调用。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30253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实例方法的定义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类方法的第一个参数通常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用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self” 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表示，表示实例对象。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在实例方法中：既可以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self.”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的方式，访问实例成员，也可以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类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在类的外部：实例方法只能通过实例对象进行调用。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27355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静态方法的定义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静态方法需要用修饰器”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来标识其为类的静态方法。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静态方法不需要参数。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在静态方法中，只能通过”类名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.”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的方式，访问类成员。</a:t>
            </a: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在类的外部，静态方法可以通过类名和实例对象进行调用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255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0" y="1376178"/>
            <a:ext cx="7920000" cy="4810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类方法、实例方法和静态方法的案例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Test: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name='show'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__init__(self,x1):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self.x=x1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@classmethod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getname(cls):   #定义类方法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print('getname:',Test.name)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#print('getname:',self.x)  #不能在类方法中,访问实例成员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@staticmethod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display():      #定义静态方法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print('display:',Test.name)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# print('display:',self.x)   #在静态方法中，不能访问实例成员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say(self):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print('say:',self.x)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print('say:',Test.name)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591651" y="1840256"/>
            <a:ext cx="620776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t1=Test('hehe')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print('out:',Test.name)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print('out:',t1.name)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Test.getname()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t1.getname()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t1.say()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#print(Test.x)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print('out:',t1.x)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#print('out:',Test.x)  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t2=Test('hellohello')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print('out:',Test.name)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print('out:',t2.name)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#print(Test.x)   #在类的外部，不能通过类名访问实例属性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print('out:',t2.x)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#Test.say()   #在类的外部，不能通过类名访问实例成员函数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t2.say()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Test.display()</a:t>
            </a:r>
          </a:p>
          <a:p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t2.display()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92000" y="0"/>
            <a:ext cx="1800000" cy="32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0965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57212" y="1595914"/>
            <a:ext cx="7920000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类方法、实例方法和静态方法的案例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Foo(object):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X = 1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Y = 2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(*mixes):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sum(mixes) /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(mixes)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Foo.Y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class_method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cls.X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cls.Y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88669" y="1874521"/>
            <a:ext cx="5491162" cy="3342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class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Son(Foo):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X = 3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Y = 5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@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staticmethod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averag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(*mixes):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sum(mixes) / 3</a:t>
            </a:r>
          </a:p>
          <a:p>
            <a:pPr>
              <a:lnSpc>
                <a:spcPct val="120000"/>
              </a:lnSpc>
            </a:pP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 = Son()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p.static_method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</a:t>
            </a:r>
          </a:p>
          <a:p>
            <a:pPr>
              <a:lnSpc>
                <a:spcPct val="12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p.class_method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())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00" y="5551397"/>
            <a:ext cx="181927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216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54216" y="2151395"/>
            <a:ext cx="103610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类中，除了根据需要，可以自己定义方法外，在python中也内置了一些特殊用途的方法，如前面的构造函数__intit__(self[,arg1,…])，析构函数__del__(self)等，可以在自定义类中重写它们，使自定义对象也具有python标准类型的行为和功能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下表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列出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了部分常用的特殊方法。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8688542"/>
              </p:ext>
            </p:extLst>
          </p:nvPr>
        </p:nvGraphicFramePr>
        <p:xfrm>
          <a:off x="3305291" y="3395519"/>
          <a:ext cx="5411470" cy="33528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05735"/>
                <a:gridCol w="2705735"/>
              </a:tblGrid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特殊方法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1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__init__(self[,arg1,…])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构造函数</a:t>
                      </a:r>
                    </a:p>
                  </a:txBody>
                  <a:tcPr marL="68580" marR="68580" marT="0" marB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__del__(self)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析构函数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__call(self,*args)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表示可调用的实例</a:t>
                      </a:r>
                    </a:p>
                  </a:txBody>
                  <a:tcPr marL="68580" marR="68580" marT="0" marB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</a:t>
                      </a:r>
                      <a:r>
                        <a:rPr lang="en-US" sz="1000" kern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int</a:t>
                      </a:r>
                      <a:r>
                        <a:rPr lang="en-US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类型转换，表示将对象转换成整型</a:t>
                      </a:r>
                    </a:p>
                  </a:txBody>
                  <a:tcPr marL="68580" marR="68580" marT="0" marB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__complex__(self)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类型转换，表示将对象转换成复数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__float__(self)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类型转换，表示将对象转换成实数</a:t>
                      </a:r>
                    </a:p>
                  </a:txBody>
                  <a:tcPr marL="68580" marR="68580" marT="0" marB="0"/>
                </a:tc>
              </a:tr>
              <a:tr h="1524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__str__(self)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对象的可打印字符串表示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__repr__(self)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对象的可计算字符串表示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__add__(self, 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两个同类对象的加法操作，对应“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+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__sub__(self, 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两个同类对象的减法操作，对应“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-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__mul__(self,obj)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两个同类对象的乘法操作，对应“</a:t>
                      </a: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*</a:t>
                      </a: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”操作符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__len__(self)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获取对象序列属性中条目的数量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__getitem__(self,key)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获取对象序列属性中单个序列元素或切片元素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__setitem__(self, key,value)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设置对象序列属性中单个序列元素或切片元素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__delitem__(self, key)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删除对象序列属性中单个序列元素或切片元素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__iter__(self)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创建迭代器类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__lt__,__le__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两个同类对象的小于、小于等于比较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__gt__,__ge__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两个同类对象的大于、大于等于比较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__eq__,__ne__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两个同类对象的相等、不相等比较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__getattr__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对象的属性获取</a:t>
                      </a: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000" ker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__setattr__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kern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对象的属性设置</a:t>
                      </a: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7862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14614" y="1842135"/>
            <a:ext cx="7920000" cy="5015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按照自定义格式打印对象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Test: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pass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__str__(self):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'str:(Person:%s)'%(self.name)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__repr__(self):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'repr:(Person:%s)'%(self.name)   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t1=Test()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print(t1)   #自动调用类的缺省__str__(self)方法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p1=Person('320402196711111423','hualin')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print(p1)      #自动调用Person 类的__str__(self)方法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str1=str(p1)    #自动调用Person 类的__str__(self)方法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print(str1)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print(type(str1))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p2=Person('320402200012124561','testtest')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print(repr(p2))    #自动调用Person 类的__repr__(self)方法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356" y="5679982"/>
            <a:ext cx="4381500" cy="103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141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998375" y="1935010"/>
            <a:ext cx="7920000" cy="4554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0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演示Person的删除电话、更新电话和设置电话的操作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self,tname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 {}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self,key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return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self,key,value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self.telephone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[key]=value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key):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del 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self.elephone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[key]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hualin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self, 'office'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#'051985566009'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p1['office'] = '051985566009' 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p1['work'] = '13915016456'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p1['private'] = '15380089466'  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</a:p>
          <a:p>
            <a:pPr>
              <a:lnSpc>
                <a:spcPct val="100000"/>
              </a:lnSpc>
            </a:pP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(p1)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print(p1.name,'Number of contacts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(p1) 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key in p1.telephone.keys():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self,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下标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值传递给形参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print(key,p1[key])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p1['office']='0519811111111'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delitem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'work'</a:t>
            </a: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key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 p1.telephone['work']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key in p1.telephone.keys():</a:t>
            </a:r>
          </a:p>
          <a:p>
            <a:pPr>
              <a:lnSpc>
                <a:spcPct val="100000"/>
              </a:lnSpc>
            </a:pPr>
            <a:r>
              <a:rPr lang="en-US" altLang="zh-CN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print(key,p1[key])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915" y="5153304"/>
            <a:ext cx="29622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175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1395" y="1896110"/>
            <a:ext cx="7920000" cy="49618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通过重写__le__方法，实现两个人的年龄比较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None,tname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=None):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 and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self.name=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通过身份证计算出年龄</a:t>
            </a:r>
          </a:p>
          <a:p>
            <a:pPr>
              <a:lnSpc>
                <a:spcPct val="11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y=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z=(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x.year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__le__(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self,p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print('person age comparison')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&lt;=</a:t>
            </a:r>
            <a:r>
              <a:rPr lang="en-US" altLang="zh-CN" sz="16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p.age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return True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1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return False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954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75157" y="1914069"/>
            <a:ext cx="79200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__le__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if(p1&lt;=p2):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',p2.name,'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',p2.name,'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年长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#if(p1&lt;40):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上一行的语句会产生类型错误异常：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TypeError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unorderable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types: Person() &lt;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可以将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作为临时对象的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age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p3=Person()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p3.age=40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__le__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if(p1&lt;=p3):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younger than 40.')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older than 40.')  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或者写成下面的语句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if(p1.age&lt;40):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younger than 40.')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else:</a:t>
            </a:r>
          </a:p>
          <a:p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print(p1.name,'is older than 40.') 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157" y="5569997"/>
            <a:ext cx="2533650" cy="99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5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8375" y="1858278"/>
            <a:ext cx="7920000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利用__setattr__进行身份证18位的约束检验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init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self,tuid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None,tname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=None):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print('construction!')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 and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!=None):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print('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aaaaa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print('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bbbbb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self.name=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tname</a:t>
            </a: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通过身份证计算出年龄，必须保证在初始化实例时，身份证是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18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位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datetime.datetime.now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y=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[6:10]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z=(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int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)(y)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self.age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x.year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-z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getattr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=="special":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只允许实例对象添加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"special"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属性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return 'special'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通过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显式地引发属性错误异常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raise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AttributeError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endParaRPr lang="en-US" altLang="zh-CN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print(p1.special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rint(p1.tuid)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75" y="3971925"/>
            <a:ext cx="6524625" cy="2886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87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类的特殊方法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953188" y="2056264"/>
            <a:ext cx="1028562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zh-CN" sz="12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def</a:t>
            </a:r>
            <a:r>
              <a:rPr lang="en-US" altLang="zh-CN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__(self,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value):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=='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uid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'):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if(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len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(value)==18):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=value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赋值操作就会出现无限递归的调用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的情况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所以必须改成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#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self.attrname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print(' id 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iserror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!')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else: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self.__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dict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__[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]=value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p1=Person('320402196801291423','wangbei')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p2=Person('320402196511111423','huan')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系统自动调用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Person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类的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setattr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__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方法，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self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uid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attrname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形参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#'11111'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传递给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value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形参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p1.uid='11111'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print(p1.uid)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p2.uid='320402196522221423'</a:t>
            </a:r>
          </a:p>
          <a:p>
            <a:pPr>
              <a:lnSpc>
                <a:spcPct val="100000"/>
              </a:lnSpc>
            </a:pP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print(p2.uid)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468" y="2320315"/>
            <a:ext cx="1714500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5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类的继承性</a:t>
            </a:r>
          </a:p>
          <a:p>
            <a:r>
              <a:rPr lang="zh-CN" altLang="en-US" dirty="0"/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52202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42534" y="1921051"/>
            <a:ext cx="792000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用继承实现学生、工作人员和一般人员的定义和使用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import datetime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Person: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#相当于类的全局变量，可以通过类名使用，每次增加一个对象，总人数加1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count=0   #定义类属性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__init__(self,tuid,tname):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self.uid=tuid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self.name=tname    #定义实例属性并初始化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Person.count=Person.count+1 #每次增加一个对象，人数加1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coming'.format(self.name))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print('{}:{}'.format(self.name,x.year-z))   #输出实例的姓名和年龄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__del__(self):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Person.count=Person.count-1   #每次减少一个对象，人数减1       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 is over. The remaining {} people'.format(self.name,Person.count))</a:t>
            </a:r>
          </a:p>
        </p:txBody>
      </p:sp>
    </p:spTree>
    <p:extLst>
      <p:ext uri="{BB962C8B-B14F-4D97-AF65-F5344CB8AC3E}">
        <p14:creationId xmlns:p14="http://schemas.microsoft.com/office/powerpoint/2010/main" val="113925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117038" y="1921051"/>
            <a:ext cx="831985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#学生实例有身份、姓名、年级属性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Student(Person) 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__init__(self,pid, pname,pgrade):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Person.__init__(self,pid, pname)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#也可以按照下面的语句对从基类继承的实例属性初始化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#self.uid=pid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#self.name=pname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#但不建议这样做，应为基类中有个类属性，用于统计基类实例及其派生实例的个数的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self.sgrade=pgrade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x=datetime.datetime.now()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y=self.uid[6:10]   #访问从基类继承的uid实例属性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z=(int)(y)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#访问从基类继承的name实例属性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print('{}:{}:{}'.format(self.name,self.sgrade,x.year-z)) 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updategrade(self,pgrade):</a:t>
            </a:r>
          </a:p>
          <a:p>
            <a:pPr>
              <a:lnSpc>
                <a:spcPct val="10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self.sgrade = pgrade;</a:t>
            </a:r>
          </a:p>
        </p:txBody>
      </p:sp>
    </p:spTree>
    <p:extLst>
      <p:ext uri="{BB962C8B-B14F-4D97-AF65-F5344CB8AC3E}">
        <p14:creationId xmlns:p14="http://schemas.microsoft.com/office/powerpoint/2010/main" val="107169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单一继承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3276" y="1780540"/>
            <a:ext cx="10228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20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#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工作人员实例有身份、姓名、工资属性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Worker(Person):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__init__(self,pid, pname,pwage):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Person.__init__(self,pid, pname)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self.wage=pwage 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Person.display(self)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print('grade:',self.wage)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updateWage(self,pwage):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self.wage = pwage;       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p1=Person('320402200012301423','huan')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s1=Student('320402200010101423','ding','first grade')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w1=Worker('320402200011111423','chen',5600)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s1.updategrade('second  grade')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w1.display()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p1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s1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del w</a:t>
            </a:r>
            <a:r>
              <a:rPr lang="zh-CN" alt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en-US" altLang="zh-CN" sz="12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7131" y="3456630"/>
            <a:ext cx="3562350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724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多重继承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98375" y="1928030"/>
            <a:ext cx="7920000" cy="48310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多重继承案例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A: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__init__(self,pa):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self.a1=pa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showa(self):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print(self.a1)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B: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__init__(self,pb):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self.b1=pb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showb(self):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print(self.b1)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C(A,B):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__init__(self,pa,pb,pc):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A.__init__(self,pa)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B.__init__(self,pb)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self.c1=pc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showc(self):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A.showa(self)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B.showb(self)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print(self.c1)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varc=C('aaa','bbb','ccc')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varc.showc()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915" y="3559345"/>
            <a:ext cx="18432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994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类的继承性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多重继承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33275" y="2011792"/>
            <a:ext cx="7920000" cy="4399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【例】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多重继承中方法的搜索路径演示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A: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def show(self):  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print('aaaaaaa')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B(A):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print('bbbbdisplay')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C: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show(self):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print('cccccccc')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display(self):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print('ccccdisplay')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def say(self):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print('hello')      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class D(B,C):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pass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test=D()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test.show()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test.display()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test.say()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590" y="3671681"/>
            <a:ext cx="212625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15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主要内容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面向对象技术的基本</a:t>
            </a:r>
            <a:r>
              <a:rPr lang="zh-CN" altLang="en-US" dirty="0" smtClean="0"/>
              <a:t>概念</a:t>
            </a:r>
            <a:endParaRPr lang="en-US" altLang="zh-CN" dirty="0" smtClean="0"/>
          </a:p>
          <a:p>
            <a:r>
              <a:rPr lang="zh-CN" altLang="en-US" dirty="0"/>
              <a:t>类的定义和对象</a:t>
            </a:r>
          </a:p>
          <a:p>
            <a:r>
              <a:rPr lang="zh-CN" altLang="en-US" dirty="0"/>
              <a:t>构造函数和析构函数</a:t>
            </a:r>
          </a:p>
          <a:p>
            <a:r>
              <a:rPr lang="zh-CN" altLang="en-US" dirty="0"/>
              <a:t>类属性和实例属性</a:t>
            </a:r>
          </a:p>
          <a:p>
            <a:r>
              <a:rPr lang="zh-CN" altLang="en-US" dirty="0"/>
              <a:t>类的方法</a:t>
            </a:r>
          </a:p>
          <a:p>
            <a:r>
              <a:rPr lang="zh-CN" altLang="en-US" dirty="0"/>
              <a:t>类的继承性</a:t>
            </a:r>
          </a:p>
          <a:p>
            <a:r>
              <a:rPr lang="zh-CN" altLang="en-US" dirty="0">
                <a:solidFill>
                  <a:srgbClr val="FF0000"/>
                </a:solidFill>
              </a:rPr>
              <a:t>类的多态性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9136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类的多态性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r>
              <a:rPr lang="zh-CN" altLang="en-US" dirty="0"/>
              <a:t>类的三大特性是封装性、继承性和多态性。多态性指同一消息作用于不同的对象时，能够有不同的响应。</a:t>
            </a:r>
          </a:p>
          <a:p>
            <a:r>
              <a:rPr lang="en-US" altLang="zh-CN" dirty="0"/>
              <a:t>Python</a:t>
            </a:r>
            <a:r>
              <a:rPr lang="zh-CN" altLang="en-US" dirty="0"/>
              <a:t>中的多态与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 smtClean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中的多态不同。</a:t>
            </a:r>
            <a:r>
              <a:rPr lang="en-US" altLang="zh-CN" dirty="0"/>
              <a:t>C++</a:t>
            </a:r>
            <a:r>
              <a:rPr lang="zh-CN" altLang="en-US" dirty="0"/>
              <a:t>、</a:t>
            </a:r>
            <a:r>
              <a:rPr lang="en-US" altLang="zh-CN" dirty="0" smtClean="0"/>
              <a:t>JAVA</a:t>
            </a:r>
            <a:r>
              <a:rPr lang="zh-CN" altLang="en-US" dirty="0"/>
              <a:t>、</a:t>
            </a:r>
            <a:r>
              <a:rPr lang="en-US" altLang="zh-CN" dirty="0"/>
              <a:t>C#</a:t>
            </a:r>
            <a:r>
              <a:rPr lang="zh-CN" altLang="en-US" dirty="0"/>
              <a:t>中的多态分为静态多态和动态多态，所谓静态多态是指程序编译阶段，根据函数的参数个数、类型或顺序确定调用哪个同名方法，实现何种操作；而</a:t>
            </a:r>
            <a:r>
              <a:rPr lang="en-US" altLang="zh-CN" dirty="0"/>
              <a:t>Python</a:t>
            </a:r>
            <a:r>
              <a:rPr lang="zh-CN" altLang="en-US" dirty="0"/>
              <a:t>中的变量是没有类型的，</a:t>
            </a:r>
            <a:r>
              <a:rPr lang="zh-CN" altLang="en-US" dirty="0" smtClean="0"/>
              <a:t>而且</a:t>
            </a:r>
            <a:r>
              <a:rPr lang="en-US" altLang="zh-CN" dirty="0"/>
              <a:t>Python</a:t>
            </a:r>
            <a:r>
              <a:rPr lang="zh-CN" altLang="en-US" dirty="0" smtClean="0"/>
              <a:t>是</a:t>
            </a:r>
            <a:r>
              <a:rPr lang="zh-CN" altLang="en-US" dirty="0"/>
              <a:t>解释型语言，因此</a:t>
            </a:r>
            <a:r>
              <a:rPr lang="zh-CN" altLang="en-US" dirty="0" smtClean="0"/>
              <a:t>，</a:t>
            </a:r>
            <a:r>
              <a:rPr lang="en-US" altLang="zh-CN" dirty="0"/>
              <a:t> Python</a:t>
            </a:r>
            <a:r>
              <a:rPr lang="zh-CN" altLang="en-US" dirty="0" smtClean="0"/>
              <a:t>只有</a:t>
            </a:r>
            <a:r>
              <a:rPr lang="zh-CN" altLang="en-US" dirty="0"/>
              <a:t>在运行时，才能确定调用哪个同名方法，因此</a:t>
            </a:r>
            <a:r>
              <a:rPr lang="zh-CN" altLang="en-US" dirty="0" smtClean="0"/>
              <a:t>，</a:t>
            </a:r>
            <a:r>
              <a:rPr lang="en-US" altLang="zh-CN" dirty="0"/>
              <a:t> Python</a:t>
            </a:r>
            <a:r>
              <a:rPr lang="zh-CN" altLang="en-US" dirty="0" smtClean="0"/>
              <a:t>的</a:t>
            </a:r>
            <a:r>
              <a:rPr lang="zh-CN" altLang="en-US" dirty="0"/>
              <a:t>多态可以称为动态多态。</a:t>
            </a:r>
          </a:p>
          <a:p>
            <a:r>
              <a:rPr lang="zh-CN" altLang="en-US" dirty="0"/>
              <a:t>为了实现多态性，一般都需要在派生类中重写从基类继承的方法。</a:t>
            </a:r>
          </a:p>
        </p:txBody>
      </p:sp>
    </p:spTree>
    <p:extLst>
      <p:ext uri="{BB962C8B-B14F-4D97-AF65-F5344CB8AC3E}">
        <p14:creationId xmlns:p14="http://schemas.microsoft.com/office/powerpoint/2010/main" val="31794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类的多态性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90578"/>
            <a:ext cx="10515600" cy="4351338"/>
          </a:xfrm>
        </p:spPr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1068177" y="1837197"/>
            <a:ext cx="7920000" cy="2676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例如：我们在定义</a:t>
            </a:r>
            <a:r>
              <a:rPr lang="zh-CN" altLang="en-US" sz="16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了类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派生体系的基础上，再执行如下操作：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p1=Person('320402200012301423','huan')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s1=Student('320402200010101423','ding','first grade')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w1=Worker('320402200011111423','chen',5600)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p=[p1,s1,w1]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item in p: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item.display()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3262" y="3666247"/>
            <a:ext cx="2047875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2063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写一个类将整数转换成罗马数字。</a:t>
            </a:r>
          </a:p>
          <a:p>
            <a:r>
              <a:rPr lang="zh-CN" altLang="zh-CN" dirty="0"/>
              <a:t>写一个类实现</a:t>
            </a:r>
            <a:r>
              <a:rPr lang="en-US" altLang="zh-CN" dirty="0"/>
              <a:t>pow(x, n)</a:t>
            </a:r>
            <a:endParaRPr lang="zh-CN" altLang="zh-CN"/>
          </a:p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52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</TotalTime>
  <Words>5206</Words>
  <Application>Microsoft Office PowerPoint</Application>
  <PresentationFormat>宽屏</PresentationFormat>
  <Paragraphs>608</Paragraphs>
  <Slides>41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47" baseType="lpstr">
      <vt:lpstr>宋体</vt:lpstr>
      <vt:lpstr>微软雅黑</vt:lpstr>
      <vt:lpstr>Arial</vt:lpstr>
      <vt:lpstr>Calibri</vt:lpstr>
      <vt:lpstr>Calibri Light</vt:lpstr>
      <vt:lpstr>Office 主题</vt:lpstr>
      <vt:lpstr>类</vt:lpstr>
      <vt:lpstr>主要内容</vt:lpstr>
      <vt:lpstr>面向对象技术的基本概念</vt:lpstr>
      <vt:lpstr>面向对象技术的基本概念</vt:lpstr>
      <vt:lpstr>主要内容</vt:lpstr>
      <vt:lpstr>类的定义和对象</vt:lpstr>
      <vt:lpstr>类的定义和对象</vt:lpstr>
      <vt:lpstr>类的定义和对象</vt:lpstr>
      <vt:lpstr>类的定义和对象</vt:lpstr>
      <vt:lpstr>类的定义和对象</vt:lpstr>
      <vt:lpstr>主要内容</vt:lpstr>
      <vt:lpstr>构造函数和析构函数</vt:lpstr>
      <vt:lpstr>构造函数和析构函数</vt:lpstr>
      <vt:lpstr>构造函数和析构函数</vt:lpstr>
      <vt:lpstr>主要内容</vt:lpstr>
      <vt:lpstr>类属性和实例属性</vt:lpstr>
      <vt:lpstr>类属性和实例属性</vt:lpstr>
      <vt:lpstr>类属性和实例属性</vt:lpstr>
      <vt:lpstr>主要内容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类的方法</vt:lpstr>
      <vt:lpstr>主要内容</vt:lpstr>
      <vt:lpstr>类的继承性</vt:lpstr>
      <vt:lpstr>类的继承性</vt:lpstr>
      <vt:lpstr>类的继承性</vt:lpstr>
      <vt:lpstr>类的继承性</vt:lpstr>
      <vt:lpstr>类的继承性</vt:lpstr>
      <vt:lpstr>主要内容</vt:lpstr>
      <vt:lpstr>类的多态性</vt:lpstr>
      <vt:lpstr>类的多态性</vt:lpstr>
      <vt:lpstr>作业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类</dc:title>
  <dc:creator>cao dong lin</dc:creator>
  <cp:lastModifiedBy>dong lin cao</cp:lastModifiedBy>
  <cp:revision>49</cp:revision>
  <dcterms:created xsi:type="dcterms:W3CDTF">2020-06-21T21:50:44Z</dcterms:created>
  <dcterms:modified xsi:type="dcterms:W3CDTF">2021-04-14T02:57:29Z</dcterms:modified>
</cp:coreProperties>
</file>