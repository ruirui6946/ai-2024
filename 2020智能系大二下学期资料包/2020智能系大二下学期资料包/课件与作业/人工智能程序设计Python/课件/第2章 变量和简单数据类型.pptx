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0" r:id="rId9"/>
    <p:sldId id="274" r:id="rId10"/>
    <p:sldId id="269" r:id="rId11"/>
    <p:sldId id="270" r:id="rId12"/>
    <p:sldId id="271" r:id="rId13"/>
    <p:sldId id="272" r:id="rId14"/>
    <p:sldId id="273" r:id="rId15"/>
    <p:sldId id="261" r:id="rId16"/>
    <p:sldId id="267" r:id="rId17"/>
    <p:sldId id="268" r:id="rId18"/>
    <p:sldId id="275" r:id="rId19"/>
    <p:sldId id="278" r:id="rId20"/>
    <p:sldId id="276" r:id="rId21"/>
    <p:sldId id="277" r:id="rId22"/>
    <p:sldId id="262" r:id="rId23"/>
    <p:sldId id="280" r:id="rId24"/>
    <p:sldId id="281" r:id="rId25"/>
    <p:sldId id="282" r:id="rId26"/>
    <p:sldId id="283" r:id="rId27"/>
    <p:sldId id="279" r:id="rId28"/>
    <p:sldId id="263" r:id="rId29"/>
    <p:sldId id="28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5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07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8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49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78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840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346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852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66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873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34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3030D-9289-4D0A-8CB8-52C5CC43700C}" type="datetimeFigureOut">
              <a:rPr lang="zh-CN" altLang="en-US" smtClean="0"/>
              <a:t>2021-3-10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87E24-F978-4337-A960-900DCAC4B4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279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unoob.com/python/func-number-abs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变量和简单数据类型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27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变量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字符串</a:t>
            </a:r>
            <a:endParaRPr lang="en-US" altLang="zh-CN" dirty="0" smtClean="0"/>
          </a:p>
          <a:p>
            <a:r>
              <a:rPr lang="zh-CN" altLang="en-US" dirty="0" smtClean="0"/>
              <a:t>数字</a:t>
            </a:r>
            <a:endParaRPr lang="en-US" altLang="zh-CN" dirty="0" smtClean="0"/>
          </a:p>
          <a:p>
            <a:r>
              <a:rPr lang="zh-CN" altLang="en-US" dirty="0"/>
              <a:t>注释</a:t>
            </a:r>
          </a:p>
        </p:txBody>
      </p:sp>
    </p:spTree>
    <p:extLst>
      <p:ext uri="{BB962C8B-B14F-4D97-AF65-F5344CB8AC3E}">
        <p14:creationId xmlns:p14="http://schemas.microsoft.com/office/powerpoint/2010/main" val="363679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变量的命名和</a:t>
            </a:r>
            <a:r>
              <a:rPr lang="zh-CN" altLang="en-US" dirty="0" smtClean="0"/>
              <a:t>使用</a:t>
            </a:r>
            <a:endParaRPr lang="en-US" altLang="zh-CN" dirty="0" smtClean="0"/>
          </a:p>
          <a:p>
            <a:pPr lvl="1"/>
            <a:r>
              <a:rPr lang="zh-CN" altLang="en-US" dirty="0"/>
              <a:t>变量名只能包含字母、数字和下划线。变量名可以字母或下划线打头，但不能以数字打头，例如，可将变量命名为</a:t>
            </a:r>
            <a:r>
              <a:rPr lang="en-US" altLang="zh-CN" dirty="0"/>
              <a:t>message_1</a:t>
            </a:r>
            <a:r>
              <a:rPr lang="zh-CN" altLang="en-US" dirty="0"/>
              <a:t>，但不能将其命名为</a:t>
            </a:r>
            <a:r>
              <a:rPr lang="en-US" altLang="zh-CN" dirty="0"/>
              <a:t>1_message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变量名不能包含空格，但可使用下划线来分隔其中的单词。例如，变量名</a:t>
            </a:r>
            <a:r>
              <a:rPr lang="en-US" altLang="zh-CN" dirty="0" err="1"/>
              <a:t>greeting_message</a:t>
            </a:r>
            <a:r>
              <a:rPr lang="zh-CN" altLang="en-US" dirty="0"/>
              <a:t>可行，但变量名</a:t>
            </a:r>
            <a:r>
              <a:rPr lang="en-US" altLang="zh-CN" dirty="0"/>
              <a:t>greeting message</a:t>
            </a:r>
            <a:r>
              <a:rPr lang="zh-CN" altLang="en-US" dirty="0"/>
              <a:t>会引发错误。</a:t>
            </a:r>
          </a:p>
          <a:p>
            <a:pPr lvl="1"/>
            <a:r>
              <a:rPr lang="zh-CN" altLang="en-US" dirty="0"/>
              <a:t>不要将</a:t>
            </a:r>
            <a:r>
              <a:rPr lang="en-US" altLang="zh-CN" dirty="0"/>
              <a:t>Python</a:t>
            </a:r>
            <a:r>
              <a:rPr lang="zh-CN" altLang="en-US" dirty="0"/>
              <a:t>关键字和函数名用作变量名，即不要使用</a:t>
            </a:r>
            <a:r>
              <a:rPr lang="en-US" altLang="zh-CN" dirty="0"/>
              <a:t>Python</a:t>
            </a:r>
            <a:r>
              <a:rPr lang="zh-CN" altLang="en-US" dirty="0"/>
              <a:t>保留用于特殊用途的单词，如</a:t>
            </a:r>
            <a:r>
              <a:rPr lang="en-US" altLang="zh-CN" dirty="0"/>
              <a:t>print </a:t>
            </a:r>
            <a:r>
              <a:rPr lang="zh-CN" altLang="en-US" dirty="0" smtClean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变量名应既简短又具有描述性。例如，</a:t>
            </a:r>
            <a:r>
              <a:rPr lang="en-US" altLang="zh-CN" dirty="0"/>
              <a:t>name</a:t>
            </a:r>
            <a:r>
              <a:rPr lang="zh-CN" altLang="en-US" dirty="0"/>
              <a:t>比</a:t>
            </a:r>
            <a:r>
              <a:rPr lang="en-US" altLang="zh-CN" dirty="0"/>
              <a:t>n</a:t>
            </a:r>
            <a:r>
              <a:rPr lang="zh-CN" altLang="en-US" dirty="0"/>
              <a:t>好，</a:t>
            </a:r>
            <a:r>
              <a:rPr lang="en-US" altLang="zh-CN" dirty="0" err="1"/>
              <a:t>student_name</a:t>
            </a:r>
            <a:r>
              <a:rPr lang="zh-CN" altLang="en-US" dirty="0"/>
              <a:t>比</a:t>
            </a:r>
            <a:r>
              <a:rPr lang="en-US" altLang="zh-CN" dirty="0" err="1"/>
              <a:t>s_n</a:t>
            </a:r>
            <a:r>
              <a:rPr lang="zh-CN" altLang="en-US" dirty="0"/>
              <a:t>好，</a:t>
            </a:r>
            <a:r>
              <a:rPr lang="en-US" altLang="zh-CN" dirty="0" err="1"/>
              <a:t>name_length</a:t>
            </a:r>
            <a:r>
              <a:rPr lang="zh-CN" altLang="en-US" dirty="0"/>
              <a:t>比</a:t>
            </a:r>
            <a:r>
              <a:rPr lang="en-US" altLang="zh-CN" dirty="0" err="1"/>
              <a:t>length_of_persons_name</a:t>
            </a:r>
            <a:r>
              <a:rPr lang="zh-CN" altLang="en-US" dirty="0"/>
              <a:t>好。</a:t>
            </a:r>
          </a:p>
          <a:p>
            <a:pPr lvl="1"/>
            <a:r>
              <a:rPr lang="zh-CN" altLang="en-US" dirty="0"/>
              <a:t>慎用小写字母</a:t>
            </a:r>
            <a:r>
              <a:rPr lang="en-US" altLang="zh-CN" dirty="0"/>
              <a:t>l</a:t>
            </a:r>
            <a:r>
              <a:rPr lang="zh-CN" altLang="en-US" dirty="0"/>
              <a:t>和大写字母</a:t>
            </a:r>
            <a:r>
              <a:rPr lang="en-US" altLang="zh-CN" dirty="0"/>
              <a:t>O</a:t>
            </a:r>
            <a:r>
              <a:rPr lang="zh-CN" altLang="en-US" dirty="0"/>
              <a:t>，因为它们可能被人错看成数字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0671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NameError</a:t>
            </a:r>
            <a:r>
              <a:rPr lang="zh-CN" altLang="en-US" dirty="0" smtClean="0"/>
              <a:t>错误</a:t>
            </a:r>
            <a:endParaRPr lang="en-US" altLang="zh-CN" dirty="0"/>
          </a:p>
          <a:p>
            <a:pPr lvl="1"/>
            <a:r>
              <a:rPr lang="en-US" altLang="zh-CN" dirty="0" smtClean="0"/>
              <a:t>name '</a:t>
            </a:r>
            <a:r>
              <a:rPr lang="en-US" altLang="zh-CN" dirty="0" err="1" smtClean="0"/>
              <a:t>mesage</a:t>
            </a:r>
            <a:r>
              <a:rPr lang="en-US" altLang="zh-CN" dirty="0" smtClean="0"/>
              <a:t>' is not defined</a:t>
            </a:r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无法识别你提供的变量名。名称错误通常意味着两种情况：要么是使用变量前忘记了给它赋值，要么是输入变量名时拼写不正确。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67" y="3541302"/>
            <a:ext cx="583882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93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变量赋值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atinLnBrk="1"/>
            <a:r>
              <a:rPr lang="en-US" altLang="zh-CN" dirty="0"/>
              <a:t>Python </a:t>
            </a:r>
            <a:r>
              <a:rPr lang="zh-CN" altLang="en-US" dirty="0"/>
              <a:t>中的变量赋值不需要类型声明。</a:t>
            </a:r>
          </a:p>
          <a:p>
            <a:pPr latinLnBrk="1"/>
            <a:r>
              <a:rPr lang="zh-CN" altLang="en-US" dirty="0"/>
              <a:t>每个变量在内存中创建，都包括变量的标识，名称和数据这些信息。</a:t>
            </a:r>
          </a:p>
          <a:p>
            <a:pPr latinLnBrk="1"/>
            <a:r>
              <a:rPr lang="zh-CN" altLang="en-US" dirty="0"/>
              <a:t>每个变量在使用前都必须赋值，变量赋值以后该变量才会被创建。</a:t>
            </a:r>
          </a:p>
          <a:p>
            <a:pPr latinLnBrk="1"/>
            <a:r>
              <a:rPr lang="zh-CN" altLang="en-US" dirty="0"/>
              <a:t>等号 </a:t>
            </a:r>
            <a:r>
              <a:rPr lang="en-US" altLang="zh-CN" b="1" dirty="0"/>
              <a:t>=</a:t>
            </a:r>
            <a:r>
              <a:rPr lang="zh-CN" altLang="en-US" dirty="0"/>
              <a:t> 用来给变量赋值。</a:t>
            </a:r>
          </a:p>
          <a:p>
            <a:pPr latinLnBrk="1"/>
            <a:r>
              <a:rPr lang="zh-CN" altLang="en-US" dirty="0"/>
              <a:t>等号 </a:t>
            </a:r>
            <a:r>
              <a:rPr lang="en-US" altLang="zh-CN" b="1" dirty="0"/>
              <a:t>=</a:t>
            </a:r>
            <a:r>
              <a:rPr lang="zh-CN" altLang="en-US" dirty="0"/>
              <a:t> 运算符左边是一个变量名，等号 </a:t>
            </a:r>
            <a:r>
              <a:rPr lang="en-US" altLang="zh-CN" b="1" dirty="0"/>
              <a:t>=</a:t>
            </a:r>
            <a:r>
              <a:rPr lang="zh-CN" altLang="en-US" dirty="0"/>
              <a:t> 运算符右边是存储在变量中的值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atinLnBrk="1"/>
            <a:r>
              <a:rPr lang="en-US" altLang="zh-CN" dirty="0"/>
              <a:t>counter = 100 # </a:t>
            </a:r>
            <a:r>
              <a:rPr lang="zh-CN" altLang="en-US" dirty="0"/>
              <a:t>赋值整型变量 </a:t>
            </a:r>
            <a:endParaRPr lang="en-US" altLang="zh-CN" dirty="0" smtClean="0"/>
          </a:p>
          <a:p>
            <a:pPr latinLnBrk="1"/>
            <a:r>
              <a:rPr lang="en-US" altLang="zh-CN" dirty="0" smtClean="0"/>
              <a:t>miles </a:t>
            </a:r>
            <a:r>
              <a:rPr lang="en-US" altLang="zh-CN" dirty="0"/>
              <a:t>= 1000.0 # </a:t>
            </a:r>
            <a:r>
              <a:rPr lang="zh-CN" altLang="en-US" dirty="0"/>
              <a:t>浮点型 </a:t>
            </a:r>
            <a:endParaRPr lang="en-US" altLang="zh-CN" dirty="0" smtClean="0"/>
          </a:p>
          <a:p>
            <a:pPr latinLnBrk="1"/>
            <a:r>
              <a:rPr lang="en-US" altLang="zh-CN" dirty="0" smtClean="0"/>
              <a:t>name </a:t>
            </a:r>
            <a:r>
              <a:rPr lang="en-US" altLang="zh-CN" dirty="0"/>
              <a:t>= "John" # </a:t>
            </a:r>
            <a:r>
              <a:rPr lang="zh-CN" altLang="en-US" dirty="0"/>
              <a:t>字符串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7605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变量赋值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允许你同时为多个变量赋值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/>
              <a:t>a = b = c = </a:t>
            </a:r>
            <a:r>
              <a:rPr lang="en-US" altLang="zh-CN" dirty="0" smtClean="0"/>
              <a:t>1</a:t>
            </a:r>
          </a:p>
          <a:p>
            <a:pPr lvl="1"/>
            <a:r>
              <a:rPr lang="en-US" altLang="zh-CN" dirty="0"/>
              <a:t>a, b, c = 1, 2, "john"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9844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字符串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数字</a:t>
            </a:r>
            <a:endParaRPr lang="en-US" altLang="zh-CN" dirty="0" smtClean="0"/>
          </a:p>
          <a:p>
            <a:r>
              <a:rPr lang="zh-CN" altLang="en-US" dirty="0"/>
              <a:t>注释</a:t>
            </a:r>
          </a:p>
        </p:txBody>
      </p:sp>
    </p:spTree>
    <p:extLst>
      <p:ext uri="{BB962C8B-B14F-4D97-AF65-F5344CB8AC3E}">
        <p14:creationId xmlns:p14="http://schemas.microsoft.com/office/powerpoint/2010/main" val="148067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字符串 就是一系列字符。在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中，用引号括起的都是字符串，其中的引号可以是单引号，也可以是双引号。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"This is a string."</a:t>
            </a:r>
          </a:p>
          <a:p>
            <a:pPr lvl="1"/>
            <a:r>
              <a:rPr lang="en-US" altLang="zh-CN" dirty="0" smtClean="0"/>
              <a:t>'This is also a string.'</a:t>
            </a:r>
          </a:p>
          <a:p>
            <a:r>
              <a:rPr lang="zh-CN" altLang="en-US" dirty="0" smtClean="0"/>
              <a:t>错误字符串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'This</a:t>
            </a:r>
            <a:r>
              <a:rPr lang="en-US" altLang="zh-CN" dirty="0"/>
              <a:t>'</a:t>
            </a:r>
            <a:r>
              <a:rPr lang="en-US" altLang="zh-CN" dirty="0" smtClean="0"/>
              <a:t>s also a string. ' </a:t>
            </a:r>
            <a:r>
              <a:rPr lang="zh-CN" altLang="en-US" dirty="0" smtClean="0"/>
              <a:t>正确为</a:t>
            </a:r>
            <a:r>
              <a:rPr lang="en-US" altLang="zh-CN" dirty="0" smtClean="0"/>
              <a:t>'This\'s also a string.'</a:t>
            </a:r>
          </a:p>
          <a:p>
            <a:pPr lvl="1"/>
            <a:r>
              <a:rPr lang="en-US" altLang="zh-CN" dirty="0" smtClean="0"/>
              <a:t>Python</a:t>
            </a:r>
            <a:r>
              <a:rPr lang="zh-CN" altLang="en-US" dirty="0" smtClean="0"/>
              <a:t>将第一个单引号和撇号之间的内容视为一个字符串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676485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atinLnBrk="1"/>
            <a:r>
              <a:rPr lang="en-US" altLang="zh-CN" dirty="0"/>
              <a:t>Python </a:t>
            </a:r>
            <a:r>
              <a:rPr lang="zh-CN" altLang="en-US" dirty="0"/>
              <a:t>中三引号可以将复杂的字符串进行赋值。</a:t>
            </a:r>
          </a:p>
          <a:p>
            <a:pPr latinLnBrk="1"/>
            <a:r>
              <a:rPr lang="en-US" altLang="zh-CN" dirty="0"/>
              <a:t>Python </a:t>
            </a:r>
            <a:r>
              <a:rPr lang="zh-CN" altLang="en-US" dirty="0"/>
              <a:t>三引号允许一个字符串跨多行，字符串中可以包含换行符、制表符以及其他特殊字符。</a:t>
            </a:r>
          </a:p>
          <a:p>
            <a:pPr latinLnBrk="1"/>
            <a:r>
              <a:rPr lang="zh-CN" altLang="en-US" dirty="0"/>
              <a:t>三引号的语法是一对连续的单引号或者双引号（通常都是成对的用）。</a:t>
            </a:r>
          </a:p>
          <a:p>
            <a:pPr lvl="1"/>
            <a:r>
              <a:rPr lang="en-US" altLang="zh-CN" dirty="0" err="1"/>
              <a:t>errHTML</a:t>
            </a:r>
            <a:r>
              <a:rPr lang="en-US" altLang="zh-CN" dirty="0"/>
              <a:t> = '''</a:t>
            </a:r>
          </a:p>
          <a:p>
            <a:pPr marL="457200" lvl="1" indent="0">
              <a:buNone/>
            </a:pPr>
            <a:r>
              <a:rPr lang="en-US" altLang="zh-CN" dirty="0"/>
              <a:t>&lt;HTML&gt;&lt;HEAD&gt;&lt;TITLE&gt;</a:t>
            </a:r>
          </a:p>
          <a:p>
            <a:pPr marL="457200" lvl="1" indent="0">
              <a:buNone/>
            </a:pPr>
            <a:r>
              <a:rPr lang="en-US" altLang="zh-CN" dirty="0"/>
              <a:t>Friends CGI Demo&lt;/TITLE&gt;&lt;/HEAD&gt;</a:t>
            </a:r>
          </a:p>
          <a:p>
            <a:pPr marL="457200" lvl="1" indent="0">
              <a:buNone/>
            </a:pPr>
            <a:r>
              <a:rPr lang="en-US" altLang="zh-CN" dirty="0"/>
              <a:t>&lt;BODY&gt;&lt;H3&gt;ERROR&lt;/H3&gt;</a:t>
            </a:r>
          </a:p>
          <a:p>
            <a:pPr marL="457200" lvl="1" indent="0">
              <a:buNone/>
            </a:pPr>
            <a:r>
              <a:rPr lang="en-US" altLang="zh-CN" dirty="0"/>
              <a:t>&lt;B&gt;%s&lt;/B&gt;&lt;P&gt;</a:t>
            </a:r>
          </a:p>
          <a:p>
            <a:pPr marL="457200" lvl="1" indent="0">
              <a:buNone/>
            </a:pPr>
            <a:r>
              <a:rPr lang="en-US" altLang="zh-CN" dirty="0"/>
              <a:t>&lt;FORM&gt;&lt;INPUT TYPE=button VALUE=Back</a:t>
            </a:r>
          </a:p>
          <a:p>
            <a:pPr marL="457200" lvl="1" indent="0">
              <a:buNone/>
            </a:pPr>
            <a:r>
              <a:rPr lang="en-US" altLang="zh-CN" dirty="0"/>
              <a:t>ONCLICK="</a:t>
            </a:r>
            <a:r>
              <a:rPr lang="en-US" altLang="zh-CN" dirty="0" err="1"/>
              <a:t>window.history.back</a:t>
            </a:r>
            <a:r>
              <a:rPr lang="en-US" altLang="zh-CN" dirty="0"/>
              <a:t>()"&gt;&lt;/FORM&gt;</a:t>
            </a:r>
          </a:p>
          <a:p>
            <a:pPr marL="457200" lvl="1" indent="0">
              <a:buNone/>
            </a:pPr>
            <a:r>
              <a:rPr lang="en-US" altLang="zh-CN" dirty="0"/>
              <a:t>&lt;/BODY&gt;&lt;/HTML&gt;</a:t>
            </a:r>
          </a:p>
          <a:p>
            <a:pPr marL="457200" lvl="1" indent="0">
              <a:buNone/>
            </a:pPr>
            <a:r>
              <a:rPr lang="en-US" altLang="zh-CN" dirty="0"/>
              <a:t>'''</a:t>
            </a:r>
          </a:p>
          <a:p>
            <a:pPr lvl="1"/>
            <a:r>
              <a:rPr lang="en-US" altLang="zh-CN" dirty="0" err="1"/>
              <a:t>cursor.execute</a:t>
            </a:r>
            <a:r>
              <a:rPr lang="en-US" altLang="zh-CN" dirty="0"/>
              <a:t>('''</a:t>
            </a:r>
          </a:p>
          <a:p>
            <a:pPr marL="457200" lvl="1" indent="0">
              <a:buNone/>
            </a:pPr>
            <a:r>
              <a:rPr lang="en-US" altLang="zh-CN" dirty="0"/>
              <a:t>CREATE TABLE users (  </a:t>
            </a:r>
          </a:p>
          <a:p>
            <a:pPr marL="457200" lvl="1" indent="0">
              <a:buNone/>
            </a:pPr>
            <a:r>
              <a:rPr lang="en-US" altLang="zh-CN" dirty="0"/>
              <a:t>login VARCHAR(8), </a:t>
            </a:r>
          </a:p>
          <a:p>
            <a:pPr marL="457200" lvl="1" indent="0">
              <a:buNone/>
            </a:pPr>
            <a:r>
              <a:rPr lang="en-US" altLang="zh-CN" dirty="0" err="1"/>
              <a:t>uid</a:t>
            </a:r>
            <a:r>
              <a:rPr lang="en-US" altLang="zh-CN" dirty="0"/>
              <a:t> INTEGER,</a:t>
            </a:r>
          </a:p>
          <a:p>
            <a:pPr marL="457200" lvl="1" indent="0">
              <a:buNone/>
            </a:pPr>
            <a:r>
              <a:rPr lang="en-US" altLang="zh-CN" dirty="0" err="1"/>
              <a:t>prid</a:t>
            </a:r>
            <a:r>
              <a:rPr lang="en-US" altLang="zh-CN" dirty="0"/>
              <a:t> INTEGER)</a:t>
            </a:r>
          </a:p>
          <a:p>
            <a:pPr marL="457200" lvl="1" indent="0">
              <a:buNone/>
            </a:pPr>
            <a:r>
              <a:rPr lang="en-US" altLang="zh-CN" dirty="0"/>
              <a:t>''')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5349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069057"/>
              </p:ext>
            </p:extLst>
          </p:nvPr>
        </p:nvGraphicFramePr>
        <p:xfrm>
          <a:off x="1213016" y="1294382"/>
          <a:ext cx="8720022" cy="5622861"/>
        </p:xfrm>
        <a:graphic>
          <a:graphicData uri="http://schemas.openxmlformats.org/drawingml/2006/table">
            <a:tbl>
              <a:tblPr/>
              <a:tblGrid>
                <a:gridCol w="1921017"/>
                <a:gridCol w="6799005"/>
              </a:tblGrid>
              <a:tr h="177994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 dirty="0">
                          <a:solidFill>
                            <a:srgbClr val="FFFFFF"/>
                          </a:solidFill>
                          <a:effectLst/>
                        </a:rPr>
                        <a:t>转义字符</a:t>
                      </a:r>
                    </a:p>
                  </a:txBody>
                  <a:tcPr marL="8396" marR="8396" marT="8396" marB="8396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8396" marR="8396" marT="8396" marB="8396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\(</a:t>
                      </a:r>
                      <a:r>
                        <a:rPr lang="zh-CN" altLang="en-US" sz="1800">
                          <a:effectLst/>
                        </a:rPr>
                        <a:t>在行尾时</a:t>
                      </a:r>
                      <a:r>
                        <a:rPr lang="en-US" altLang="zh-CN" sz="1800">
                          <a:effectLst/>
                        </a:rPr>
                        <a:t>)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续行符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\\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反斜杠符号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\'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单引号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\"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双引号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\a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响铃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\b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退格</a:t>
                      </a:r>
                      <a:r>
                        <a:rPr lang="en-US" altLang="zh-CN" sz="1800">
                          <a:effectLst/>
                        </a:rPr>
                        <a:t>(</a:t>
                      </a:r>
                      <a:r>
                        <a:rPr lang="en-US" sz="1800">
                          <a:effectLst/>
                        </a:rPr>
                        <a:t>Backspace)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\e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转义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\000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空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\n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换行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\v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纵向制表符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\t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横向制表符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\r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回车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0383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\f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换页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22787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\oyy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八进制数，</a:t>
                      </a:r>
                      <a:r>
                        <a:rPr lang="en-US" altLang="zh-CN" sz="1800">
                          <a:effectLst/>
                        </a:rPr>
                        <a:t>y </a:t>
                      </a:r>
                      <a:r>
                        <a:rPr lang="zh-CN" altLang="en-US" sz="1800">
                          <a:effectLst/>
                        </a:rPr>
                        <a:t>代表 </a:t>
                      </a:r>
                      <a:r>
                        <a:rPr lang="en-US" altLang="zh-CN" sz="1800">
                          <a:effectLst/>
                        </a:rPr>
                        <a:t>0~7 </a:t>
                      </a:r>
                      <a:r>
                        <a:rPr lang="zh-CN" altLang="en-US" sz="1800">
                          <a:effectLst/>
                        </a:rPr>
                        <a:t>的字符，例如：</a:t>
                      </a:r>
                      <a:r>
                        <a:rPr lang="en-US" altLang="zh-CN" sz="1800">
                          <a:effectLst/>
                        </a:rPr>
                        <a:t>\012 </a:t>
                      </a:r>
                      <a:r>
                        <a:rPr lang="zh-CN" altLang="en-US" sz="1800">
                          <a:effectLst/>
                        </a:rPr>
                        <a:t>代表换行。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851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\xyy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十六进制数，以 </a:t>
                      </a:r>
                      <a:r>
                        <a:rPr lang="en-US" altLang="zh-CN" sz="1800">
                          <a:effectLst/>
                        </a:rPr>
                        <a:t>\x </a:t>
                      </a:r>
                      <a:r>
                        <a:rPr lang="zh-CN" altLang="en-US" sz="1800">
                          <a:effectLst/>
                        </a:rPr>
                        <a:t>开头，</a:t>
                      </a:r>
                      <a:r>
                        <a:rPr lang="en-US" altLang="zh-CN" sz="1800">
                          <a:effectLst/>
                        </a:rPr>
                        <a:t>yy</a:t>
                      </a:r>
                      <a:r>
                        <a:rPr lang="zh-CN" altLang="en-US" sz="1800">
                          <a:effectLst/>
                        </a:rPr>
                        <a:t>代表的字符，例如：</a:t>
                      </a:r>
                      <a:r>
                        <a:rPr lang="en-US" altLang="zh-CN" sz="1800">
                          <a:effectLst/>
                        </a:rPr>
                        <a:t>\x0a</a:t>
                      </a:r>
                      <a:r>
                        <a:rPr lang="zh-CN" altLang="en-US" sz="1800">
                          <a:effectLst/>
                        </a:rPr>
                        <a:t>代表换行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61585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\other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 dirty="0">
                          <a:effectLst/>
                        </a:rPr>
                        <a:t>其它的字符以普通格式输出</a:t>
                      </a:r>
                    </a:p>
                  </a:txBody>
                  <a:tcPr marL="13994" marR="13994" marT="19591" marB="1959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00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3931928"/>
              </p:ext>
            </p:extLst>
          </p:nvPr>
        </p:nvGraphicFramePr>
        <p:xfrm>
          <a:off x="130277" y="1376188"/>
          <a:ext cx="11931445" cy="5481812"/>
        </p:xfrm>
        <a:graphic>
          <a:graphicData uri="http://schemas.openxmlformats.org/drawingml/2006/table">
            <a:tbl>
              <a:tblPr/>
              <a:tblGrid>
                <a:gridCol w="903646"/>
                <a:gridCol w="8771297"/>
                <a:gridCol w="2256502"/>
              </a:tblGrid>
              <a:tr h="303396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 dirty="0">
                          <a:solidFill>
                            <a:srgbClr val="FFFFFF"/>
                          </a:solidFill>
                          <a:effectLst/>
                        </a:rPr>
                        <a:t>操作符</a:t>
                      </a:r>
                    </a:p>
                  </a:txBody>
                  <a:tcPr marL="6858" marR="6858" marT="6858" marB="685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6858" marR="6858" marT="6858" marB="685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 dirty="0" smtClean="0">
                          <a:solidFill>
                            <a:srgbClr val="FFFFFF"/>
                          </a:solidFill>
                          <a:effectLst/>
                        </a:rPr>
                        <a:t>实例</a:t>
                      </a:r>
                      <a:r>
                        <a:rPr lang="en-US" altLang="zh-CN" sz="1800" dirty="0" smtClean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US" altLang="zh-CN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="Hello"</a:t>
                      </a:r>
                      <a:r>
                        <a:rPr lang="zh-CN" alt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 =</a:t>
                      </a:r>
                      <a:r>
                        <a:rPr lang="zh-CN" alt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"Python"</a:t>
                      </a:r>
                      <a:r>
                        <a:rPr lang="en-US" altLang="zh-CN" sz="1800" dirty="0" smtClean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zh-CN" altLang="en-US" sz="18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58" marR="6858" marT="6858" marB="685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426996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+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字符串连接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+ 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b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en-US" sz="1800" dirty="0" err="1" smtClean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HelloPython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996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*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重复输出字符串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* </a:t>
                      </a: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Menlo"/>
                        </a:rPr>
                        <a:t>2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en-US" sz="1800" dirty="0" err="1" smtClean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HelloHello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53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[]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通过索引获取字符串中字符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00"/>
                          </a:solidFill>
                          <a:effectLst/>
                          <a:latin typeface="Menlo"/>
                        </a:rPr>
                        <a:t>[</a:t>
                      </a: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Menlo"/>
                        </a:rPr>
                        <a:t>1</a:t>
                      </a:r>
                      <a:r>
                        <a:rPr lang="en-US" sz="1800" dirty="0">
                          <a:solidFill>
                            <a:srgbClr val="808000"/>
                          </a:solidFill>
                          <a:effectLst/>
                          <a:latin typeface="Menlo"/>
                        </a:rPr>
                        <a:t>]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en-US" sz="1800" dirty="0" smtClean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e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3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[ : ]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截取字符串中的一部分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00"/>
                          </a:solidFill>
                          <a:effectLst/>
                          <a:latin typeface="Menlo"/>
                        </a:rPr>
                        <a:t>[</a:t>
                      </a: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Menlo"/>
                        </a:rPr>
                        <a:t>1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:</a:t>
                      </a:r>
                      <a:r>
                        <a:rPr lang="en-US" sz="1800" dirty="0">
                          <a:solidFill>
                            <a:srgbClr val="800000"/>
                          </a:solidFill>
                          <a:effectLst/>
                          <a:latin typeface="Menlo"/>
                        </a:rPr>
                        <a:t>4</a:t>
                      </a:r>
                      <a:r>
                        <a:rPr lang="en-US" sz="1800" dirty="0">
                          <a:solidFill>
                            <a:srgbClr val="808000"/>
                          </a:solidFill>
                          <a:effectLst/>
                          <a:latin typeface="Menlo"/>
                        </a:rPr>
                        <a:t>]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en-US" sz="1800" dirty="0" smtClean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ell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26996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in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成员运算符 </a:t>
                      </a:r>
                      <a:r>
                        <a:rPr lang="en-US" altLang="zh-CN" sz="1800">
                          <a:effectLst/>
                        </a:rPr>
                        <a:t>- </a:t>
                      </a:r>
                      <a:r>
                        <a:rPr lang="zh-CN" altLang="en-US" sz="1800">
                          <a:effectLst/>
                        </a:rPr>
                        <a:t>如果字符串中包含给定的字符返回 </a:t>
                      </a:r>
                      <a:r>
                        <a:rPr lang="en-US" altLang="zh-CN" sz="1800">
                          <a:effectLst/>
                        </a:rPr>
                        <a:t>True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"</a:t>
                      </a:r>
                      <a:r>
                        <a:rPr lang="en-US" sz="1800" dirty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H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"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in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True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996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not in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成员运算符 </a:t>
                      </a:r>
                      <a:r>
                        <a:rPr lang="en-US" altLang="zh-CN" sz="1800">
                          <a:effectLst/>
                        </a:rPr>
                        <a:t>- </a:t>
                      </a:r>
                      <a:r>
                        <a:rPr lang="zh-CN" altLang="en-US" sz="1800">
                          <a:effectLst/>
                        </a:rPr>
                        <a:t>如果字符串中不包含给定的字符返回 </a:t>
                      </a:r>
                      <a:r>
                        <a:rPr lang="en-US" altLang="zh-CN" sz="1800">
                          <a:effectLst/>
                        </a:rPr>
                        <a:t>True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"</a:t>
                      </a:r>
                      <a:r>
                        <a:rPr lang="en-US" sz="1800" dirty="0">
                          <a:solidFill>
                            <a:srgbClr val="AA1111"/>
                          </a:solidFill>
                          <a:effectLst/>
                          <a:latin typeface="Menlo"/>
                        </a:rPr>
                        <a:t>M</a:t>
                      </a:r>
                      <a:r>
                        <a:rPr lang="en-US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"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not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in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a</a:t>
                      </a:r>
                      <a:r>
                        <a:rPr lang="en-US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en-US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en-US" sz="1800" dirty="0" smtClean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True</a:t>
                      </a:r>
                      <a:endParaRPr lang="en-US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1064109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r/R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原始字符串 </a:t>
                      </a:r>
                      <a:r>
                        <a:rPr lang="en-US" altLang="zh-CN" sz="1800">
                          <a:effectLst/>
                        </a:rPr>
                        <a:t>- </a:t>
                      </a:r>
                      <a:r>
                        <a:rPr lang="zh-CN" altLang="en-US" sz="1800">
                          <a:effectLst/>
                        </a:rPr>
                        <a:t>原始字符串：所有的字符串都是直接按照字面的意思来使用，没有转义特殊或不能打印的字符。 原始字符串除在字符串的第一个引号前加上字母</a:t>
                      </a:r>
                      <a:r>
                        <a:rPr lang="en-US" altLang="zh-CN" sz="1800">
                          <a:effectLst/>
                        </a:rPr>
                        <a:t>"r"</a:t>
                      </a:r>
                      <a:r>
                        <a:rPr lang="zh-CN" altLang="en-US" sz="1800">
                          <a:effectLst/>
                        </a:rPr>
                        <a:t>（可以大小写）以外，与普通字符串有着几乎完全相同的语法。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 latinLnBrk="1"/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</a:t>
                      </a:r>
                      <a:r>
                        <a:rPr lang="pt-BR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print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(</a:t>
                      </a:r>
                      <a:r>
                        <a:rPr lang="pt-BR" sz="1800" dirty="0" smtClean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r</a:t>
                      </a:r>
                      <a:r>
                        <a:rPr lang="pt-BR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pt-BR" sz="1800" dirty="0">
                          <a:solidFill>
                            <a:srgbClr val="000080"/>
                          </a:solidFill>
                          <a:effectLst/>
                          <a:latin typeface="Menlo"/>
                        </a:rPr>
                        <a:t>\</a:t>
                      </a:r>
                      <a:r>
                        <a:rPr lang="pt-BR" sz="1800" dirty="0" smtClean="0">
                          <a:solidFill>
                            <a:srgbClr val="000080"/>
                          </a:solidFill>
                          <a:effectLst/>
                          <a:latin typeface="Menlo"/>
                        </a:rPr>
                        <a:t>n</a:t>
                      </a:r>
                      <a:r>
                        <a:rPr lang="pt-BR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')</a:t>
                      </a:r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</a:p>
                    <a:p>
                      <a:pPr fontAlgn="t" latinLnBrk="1"/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\</a:t>
                      </a:r>
                      <a:r>
                        <a:rPr lang="pt-BR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n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endParaRPr lang="pt-BR" sz="1800" dirty="0" smtClean="0">
                        <a:solidFill>
                          <a:srgbClr val="808080"/>
                        </a:solidFill>
                        <a:effectLst/>
                        <a:latin typeface="Menlo"/>
                      </a:endParaRPr>
                    </a:p>
                    <a:p>
                      <a:pPr fontAlgn="t" latinLnBrk="1"/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&gt;&gt;&gt; </a:t>
                      </a:r>
                      <a:r>
                        <a:rPr lang="pt-BR" sz="1800" dirty="0">
                          <a:solidFill>
                            <a:srgbClr val="008000"/>
                          </a:solidFill>
                          <a:effectLst/>
                          <a:latin typeface="Menlo"/>
                        </a:rPr>
                        <a:t>print</a:t>
                      </a:r>
                      <a:r>
                        <a:rPr lang="pt-BR" sz="1800" dirty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(</a:t>
                      </a:r>
                      <a:r>
                        <a:rPr lang="pt-BR" sz="1800" dirty="0" smtClean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R</a:t>
                      </a:r>
                      <a:r>
                        <a:rPr lang="pt-BR" sz="1800" dirty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</a:t>
                      </a:r>
                      <a:r>
                        <a:rPr lang="pt-BR" sz="1800" dirty="0">
                          <a:solidFill>
                            <a:srgbClr val="000080"/>
                          </a:solidFill>
                          <a:effectLst/>
                          <a:latin typeface="Menlo"/>
                        </a:rPr>
                        <a:t>\</a:t>
                      </a:r>
                      <a:r>
                        <a:rPr lang="pt-BR" sz="1800" dirty="0" smtClean="0">
                          <a:solidFill>
                            <a:srgbClr val="000080"/>
                          </a:solidFill>
                          <a:effectLst/>
                          <a:latin typeface="Menlo"/>
                        </a:rPr>
                        <a:t>n</a:t>
                      </a:r>
                      <a:r>
                        <a:rPr lang="pt-BR" sz="1800" dirty="0" smtClean="0">
                          <a:solidFill>
                            <a:srgbClr val="8B0000"/>
                          </a:solidFill>
                          <a:effectLst/>
                          <a:latin typeface="Menlo"/>
                        </a:rPr>
                        <a:t>')</a:t>
                      </a:r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 </a:t>
                      </a:r>
                    </a:p>
                    <a:p>
                      <a:pPr fontAlgn="t" latinLnBrk="1"/>
                      <a:r>
                        <a:rPr lang="pt-BR" sz="1800" dirty="0" smtClean="0">
                          <a:solidFill>
                            <a:srgbClr val="808080"/>
                          </a:solidFill>
                          <a:effectLst/>
                          <a:latin typeface="Menlo"/>
                        </a:rPr>
                        <a:t>\</a:t>
                      </a:r>
                      <a:r>
                        <a:rPr lang="pt-BR" sz="1800" dirty="0">
                          <a:solidFill>
                            <a:srgbClr val="0055AA"/>
                          </a:solidFill>
                          <a:effectLst/>
                          <a:latin typeface="Menlo"/>
                        </a:rPr>
                        <a:t>n</a:t>
                      </a:r>
                      <a:endParaRPr lang="pt-BR" sz="1800" dirty="0">
                        <a:effectLst/>
                        <a:latin typeface="Menlo"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533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%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格式字符串</a:t>
                      </a: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zh-CN" altLang="en-US" sz="1800" dirty="0">
                        <a:effectLst/>
                      </a:endParaRPr>
                    </a:p>
                  </a:txBody>
                  <a:tcPr marL="11429" marR="11429" marT="16001" marB="16001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690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/>
              <a:t>字符串格式化符号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725278"/>
              </p:ext>
            </p:extLst>
          </p:nvPr>
        </p:nvGraphicFramePr>
        <p:xfrm>
          <a:off x="1146809" y="2209631"/>
          <a:ext cx="6691958" cy="4648369"/>
        </p:xfrm>
        <a:graphic>
          <a:graphicData uri="http://schemas.openxmlformats.org/drawingml/2006/table">
            <a:tbl>
              <a:tblPr/>
              <a:tblGrid>
                <a:gridCol w="1736501"/>
                <a:gridCol w="4955457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>
                          <a:solidFill>
                            <a:srgbClr val="FFFFFF"/>
                          </a:solidFill>
                          <a:effectLst/>
                        </a:rPr>
                        <a:t> 符   号</a:t>
                      </a:r>
                    </a:p>
                  </a:txBody>
                  <a:tcPr marL="8019" marR="8019" marT="8019" marB="8019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4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8019" marR="8019" marT="8019" marB="8019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%c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格式化字符及其</a:t>
                      </a:r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ASCII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码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374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%s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格式化字符串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43736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%d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格式化整数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%u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格式化无符号整型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%o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格式化无符号八进制数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%x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格式化无符号十六进制数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%X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格式化无符号十六进制数（大写）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281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%f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格式化浮点数字，可指定小数点后的精度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%e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用科学计数法格式化浮点数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281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%E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作用同</a:t>
                      </a:r>
                      <a:r>
                        <a:rPr lang="en-US" altLang="zh-CN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%e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，用科学计数法格式化浮点数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191374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%g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%f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</a:t>
                      </a:r>
                      <a:r>
                        <a:rPr lang="en-US" altLang="zh-CN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%</a:t>
                      </a:r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的简写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1374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%G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%F 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 </a:t>
                      </a:r>
                      <a:r>
                        <a:rPr lang="en-US" altLang="zh-CN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%</a:t>
                      </a:r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 </a:t>
                      </a:r>
                      <a:r>
                        <a:rPr lang="zh-CN" alt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的简写</a:t>
                      </a:r>
                      <a:endParaRPr lang="zh-CN" alt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5327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     %p</a:t>
                      </a:r>
                      <a:endParaRPr lang="en-US" sz="140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用十六进制数格式化变量的地址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13364" marR="13364" marT="18710" marB="18710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185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格式化操作符辅助指令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594482"/>
              </p:ext>
            </p:extLst>
          </p:nvPr>
        </p:nvGraphicFramePr>
        <p:xfrm>
          <a:off x="1157665" y="2260703"/>
          <a:ext cx="8502528" cy="3646026"/>
        </p:xfrm>
        <a:graphic>
          <a:graphicData uri="http://schemas.openxmlformats.org/drawingml/2006/table">
            <a:tbl>
              <a:tblPr/>
              <a:tblGrid>
                <a:gridCol w="1120961"/>
                <a:gridCol w="7381567"/>
              </a:tblGrid>
              <a:tr h="270608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>
                          <a:solidFill>
                            <a:srgbClr val="FFFFFF"/>
                          </a:solidFill>
                          <a:effectLst/>
                        </a:rPr>
                        <a:t>符号</a:t>
                      </a:r>
                    </a:p>
                  </a:txBody>
                  <a:tcPr marL="8961" marR="8961" marT="8961" marB="8961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800">
                          <a:solidFill>
                            <a:srgbClr val="FFFFFF"/>
                          </a:solidFill>
                          <a:effectLst/>
                        </a:rPr>
                        <a:t>功能</a:t>
                      </a:r>
                    </a:p>
                  </a:txBody>
                  <a:tcPr marL="8961" marR="8961" marT="8961" marB="8961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57341"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*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定义宽度或者小数点精度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dirty="0">
                          <a:effectLst/>
                        </a:rPr>
                        <a:t>-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用做左对齐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734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+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在正数前面显示加号</a:t>
                      </a:r>
                      <a:r>
                        <a:rPr lang="en-US" altLang="zh-CN" sz="1800">
                          <a:effectLst/>
                        </a:rPr>
                        <a:t>( + )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341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&lt;sp&gt;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在正数前面显示空格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4674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#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在八进制数前面显示零</a:t>
                      </a:r>
                      <a:r>
                        <a:rPr lang="en-US" altLang="zh-CN" sz="1800">
                          <a:effectLst/>
                        </a:rPr>
                        <a:t>('0')</a:t>
                      </a:r>
                      <a:r>
                        <a:rPr lang="zh-CN" altLang="en-US" sz="1800">
                          <a:effectLst/>
                        </a:rPr>
                        <a:t>，在十六进制前面显示</a:t>
                      </a:r>
                      <a:r>
                        <a:rPr lang="en-US" altLang="zh-CN" sz="1800">
                          <a:effectLst/>
                        </a:rPr>
                        <a:t>'0x'</a:t>
                      </a:r>
                      <a:r>
                        <a:rPr lang="zh-CN" altLang="en-US" sz="1800">
                          <a:effectLst/>
                        </a:rPr>
                        <a:t>或者</a:t>
                      </a:r>
                      <a:r>
                        <a:rPr lang="en-US" altLang="zh-CN" sz="1800">
                          <a:effectLst/>
                        </a:rPr>
                        <a:t>'0X'(</a:t>
                      </a:r>
                      <a:r>
                        <a:rPr lang="zh-CN" altLang="en-US" sz="1800">
                          <a:effectLst/>
                        </a:rPr>
                        <a:t>取决于用的是</a:t>
                      </a:r>
                      <a:r>
                        <a:rPr lang="en-US" altLang="zh-CN" sz="1800">
                          <a:effectLst/>
                        </a:rPr>
                        <a:t>'x'</a:t>
                      </a:r>
                      <a:r>
                        <a:rPr lang="zh-CN" altLang="en-US" sz="1800">
                          <a:effectLst/>
                        </a:rPr>
                        <a:t>还是</a:t>
                      </a:r>
                      <a:r>
                        <a:rPr lang="en-US" altLang="zh-CN" sz="1800">
                          <a:effectLst/>
                        </a:rPr>
                        <a:t>'X')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0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显示的数字前面填充</a:t>
                      </a:r>
                      <a:r>
                        <a:rPr lang="en-US" altLang="zh-CN" sz="1800">
                          <a:effectLst/>
                        </a:rPr>
                        <a:t>'0'</a:t>
                      </a:r>
                      <a:r>
                        <a:rPr lang="zh-CN" altLang="en-US" sz="1800">
                          <a:effectLst/>
                        </a:rPr>
                        <a:t>而不是默认的空格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7341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%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>
                          <a:effectLst/>
                        </a:rPr>
                        <a:t>'%%'</a:t>
                      </a:r>
                      <a:r>
                        <a:rPr lang="zh-CN" altLang="en-US" sz="1800">
                          <a:effectLst/>
                        </a:rPr>
                        <a:t>输出一个单一的</a:t>
                      </a:r>
                      <a:r>
                        <a:rPr lang="en-US" altLang="zh-CN" sz="1800">
                          <a:effectLst/>
                        </a:rPr>
                        <a:t>'%'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(var)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800">
                          <a:effectLst/>
                        </a:rPr>
                        <a:t>映射变量</a:t>
                      </a:r>
                      <a:r>
                        <a:rPr lang="en-US" altLang="zh-CN" sz="1800">
                          <a:effectLst/>
                        </a:rPr>
                        <a:t>(</a:t>
                      </a:r>
                      <a:r>
                        <a:rPr lang="zh-CN" altLang="en-US" sz="1800">
                          <a:effectLst/>
                        </a:rPr>
                        <a:t>字典参数</a:t>
                      </a:r>
                      <a:r>
                        <a:rPr lang="en-US" altLang="zh-CN" sz="1800">
                          <a:effectLst/>
                        </a:rPr>
                        <a:t>)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85548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 err="1">
                          <a:effectLst/>
                        </a:rPr>
                        <a:t>m.n</a:t>
                      </a:r>
                      <a:r>
                        <a:rPr lang="en-US" sz="1800" dirty="0">
                          <a:effectLst/>
                        </a:rPr>
                        <a:t>.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800" dirty="0">
                          <a:effectLst/>
                        </a:rPr>
                        <a:t>m </a:t>
                      </a:r>
                      <a:r>
                        <a:rPr lang="zh-CN" altLang="en-US" sz="1800" dirty="0">
                          <a:effectLst/>
                        </a:rPr>
                        <a:t>是显示的最小总宽度</a:t>
                      </a:r>
                      <a:r>
                        <a:rPr lang="en-US" altLang="zh-CN" sz="1800" dirty="0">
                          <a:effectLst/>
                        </a:rPr>
                        <a:t>,n </a:t>
                      </a:r>
                      <a:r>
                        <a:rPr lang="zh-CN" altLang="en-US" sz="1800" dirty="0">
                          <a:effectLst/>
                        </a:rPr>
                        <a:t>是小数点后的位数</a:t>
                      </a:r>
                      <a:r>
                        <a:rPr lang="en-US" altLang="zh-CN" sz="1800" dirty="0">
                          <a:effectLst/>
                        </a:rPr>
                        <a:t>(</a:t>
                      </a:r>
                      <a:r>
                        <a:rPr lang="zh-CN" altLang="en-US" sz="1800" dirty="0">
                          <a:effectLst/>
                        </a:rPr>
                        <a:t>如果可用的话</a:t>
                      </a:r>
                      <a:r>
                        <a:rPr lang="en-US" altLang="zh-CN" sz="1800" dirty="0">
                          <a:effectLst/>
                        </a:rPr>
                        <a:t>)</a:t>
                      </a:r>
                    </a:p>
                  </a:txBody>
                  <a:tcPr marL="14935" marR="14935" marT="20909" marB="20909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354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848" y="1952932"/>
            <a:ext cx="9372600" cy="533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48" y="2726761"/>
            <a:ext cx="52863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1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修改字符串的大小写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title</a:t>
            </a:r>
            <a:r>
              <a:rPr lang="zh-CN" altLang="en-US" dirty="0" smtClean="0"/>
              <a:t>方法，以首字母大写的方式显示每个单词，即将每个单词的首字母都改为大写</a:t>
            </a:r>
            <a:endParaRPr lang="en-US" altLang="zh-CN" dirty="0" smtClean="0"/>
          </a:p>
          <a:p>
            <a:pPr lvl="2"/>
            <a:r>
              <a:rPr lang="en-US" altLang="zh-CN" dirty="0"/>
              <a:t>a='this is a test!'</a:t>
            </a:r>
          </a:p>
          <a:p>
            <a:pPr lvl="2"/>
            <a:r>
              <a:rPr lang="en-US" altLang="zh-CN" dirty="0"/>
              <a:t>print(</a:t>
            </a:r>
            <a:r>
              <a:rPr lang="en-US" altLang="zh-CN" dirty="0" err="1"/>
              <a:t>a.title</a:t>
            </a:r>
            <a:r>
              <a:rPr lang="en-US" altLang="zh-CN" dirty="0"/>
              <a:t>())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upper</a:t>
            </a:r>
            <a:r>
              <a:rPr lang="zh-CN" altLang="en-US" dirty="0" smtClean="0"/>
              <a:t>方法，字符串改为全部大写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lower</a:t>
            </a:r>
            <a:r>
              <a:rPr lang="zh-CN" altLang="en-US" dirty="0" smtClean="0"/>
              <a:t>方法，字符串改为全部小写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5258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拼接字符串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使用加号（</a:t>
            </a:r>
            <a:r>
              <a:rPr lang="en-US" altLang="zh-CN" dirty="0"/>
              <a:t>+ </a:t>
            </a:r>
            <a:r>
              <a:rPr lang="zh-CN" altLang="en-US" dirty="0"/>
              <a:t>）来合并字符串</a:t>
            </a:r>
            <a:endParaRPr lang="en-US" altLang="zh-CN" dirty="0"/>
          </a:p>
          <a:p>
            <a:pPr lvl="1"/>
            <a:r>
              <a:rPr lang="en-US" altLang="zh-CN" dirty="0"/>
              <a:t>var1 = 'Hello World!' </a:t>
            </a:r>
          </a:p>
          <a:p>
            <a:pPr lvl="1"/>
            <a:r>
              <a:rPr lang="en-US" altLang="zh-CN" dirty="0"/>
              <a:t>print ("</a:t>
            </a:r>
            <a:r>
              <a:rPr lang="zh-CN" altLang="en-US" dirty="0"/>
              <a:t>输出 </a:t>
            </a:r>
            <a:r>
              <a:rPr lang="en-US" altLang="zh-CN" dirty="0"/>
              <a:t>:- ", var1[:6] + 'python!')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3060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删除空白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能够找出字符串开头和末尾多余的空白。</a:t>
            </a:r>
            <a:endParaRPr lang="en-US" altLang="zh-CN" dirty="0"/>
          </a:p>
          <a:p>
            <a:pPr lvl="1"/>
            <a:r>
              <a:rPr lang="zh-CN" altLang="en-US" dirty="0"/>
              <a:t>要确保字符串末尾没有空白，可使用方法</a:t>
            </a:r>
            <a:r>
              <a:rPr lang="en-US" altLang="zh-CN" dirty="0" err="1"/>
              <a:t>rstrip</a:t>
            </a:r>
            <a:r>
              <a:rPr lang="en-US" altLang="zh-CN" dirty="0"/>
              <a:t>() 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en-US" altLang="zh-CN" dirty="0"/>
              <a:t>a='this is a test!     '</a:t>
            </a:r>
          </a:p>
          <a:p>
            <a:pPr lvl="2"/>
            <a:r>
              <a:rPr lang="en-US" altLang="zh-CN" dirty="0"/>
              <a:t>print(</a:t>
            </a:r>
            <a:r>
              <a:rPr lang="en-US" altLang="zh-CN" dirty="0" err="1"/>
              <a:t>a.rstrip</a:t>
            </a:r>
            <a:r>
              <a:rPr lang="en-US" altLang="zh-CN" dirty="0"/>
              <a:t>())</a:t>
            </a:r>
          </a:p>
          <a:p>
            <a:pPr lvl="1"/>
            <a:r>
              <a:rPr lang="zh-CN" altLang="en-US" dirty="0"/>
              <a:t>要确保字符串开头没有空白，可使用方法</a:t>
            </a:r>
            <a:r>
              <a:rPr lang="en-US" altLang="zh-CN" dirty="0" err="1"/>
              <a:t>lstrip</a:t>
            </a:r>
            <a:r>
              <a:rPr lang="en-US" altLang="zh-CN" dirty="0"/>
              <a:t>() 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0163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Unicode </a:t>
            </a:r>
            <a:r>
              <a:rPr lang="zh-CN" altLang="en-US" dirty="0"/>
              <a:t>字符串</a:t>
            </a:r>
          </a:p>
          <a:p>
            <a:pPr lvl="1"/>
            <a:r>
              <a:rPr lang="zh-CN" altLang="en-US" dirty="0"/>
              <a:t>引号前小写的</a:t>
            </a:r>
            <a:r>
              <a:rPr lang="en-US" altLang="zh-CN" dirty="0"/>
              <a:t>"u"</a:t>
            </a:r>
            <a:r>
              <a:rPr lang="zh-CN" altLang="en-US" dirty="0"/>
              <a:t>表示这里创建的是一个 </a:t>
            </a:r>
            <a:r>
              <a:rPr lang="en-US" altLang="zh-CN" dirty="0"/>
              <a:t>Unicode </a:t>
            </a:r>
            <a:r>
              <a:rPr lang="zh-CN" altLang="en-US" dirty="0"/>
              <a:t>字符串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dirty="0"/>
              <a:t>a=u'</a:t>
            </a:r>
            <a:r>
              <a:rPr lang="zh-CN" altLang="en-US" dirty="0"/>
              <a:t>中国 </a:t>
            </a:r>
            <a:r>
              <a:rPr lang="en-US" altLang="zh-CN" dirty="0"/>
              <a:t>'</a:t>
            </a:r>
          </a:p>
          <a:p>
            <a:pPr marL="457200" lvl="1" indent="0">
              <a:buNone/>
            </a:pPr>
            <a:r>
              <a:rPr lang="en-US" altLang="zh-CN" dirty="0"/>
              <a:t>b='</a:t>
            </a:r>
            <a:r>
              <a:rPr lang="zh-CN" altLang="en-US" dirty="0"/>
              <a:t>中国</a:t>
            </a:r>
            <a:r>
              <a:rPr lang="en-US" altLang="zh-CN" dirty="0"/>
              <a:t>'</a:t>
            </a:r>
          </a:p>
          <a:p>
            <a:pPr marL="457200" lvl="1" indent="0">
              <a:buNone/>
            </a:pPr>
            <a:r>
              <a:rPr lang="en-US" altLang="zh-CN" dirty="0"/>
              <a:t>for c in a:</a:t>
            </a:r>
          </a:p>
          <a:p>
            <a:pPr marL="457200" lvl="1" indent="0">
              <a:buNone/>
            </a:pPr>
            <a:r>
              <a:rPr lang="en-US" altLang="zh-CN" dirty="0"/>
              <a:t>    print('%#x'%</a:t>
            </a:r>
            <a:r>
              <a:rPr lang="en-US" altLang="zh-CN" dirty="0" err="1"/>
              <a:t>ord</a:t>
            </a:r>
            <a:r>
              <a:rPr lang="en-US" altLang="zh-CN" dirty="0"/>
              <a:t>(c),end="")</a:t>
            </a:r>
          </a:p>
          <a:p>
            <a:pPr marL="457200" lvl="1" indent="0">
              <a:buNone/>
            </a:pPr>
            <a:r>
              <a:rPr lang="en-US" altLang="zh-CN" dirty="0"/>
              <a:t>print()</a:t>
            </a:r>
          </a:p>
          <a:p>
            <a:pPr marL="457200" lvl="1" indent="0">
              <a:buNone/>
            </a:pPr>
            <a:r>
              <a:rPr lang="en-US" altLang="zh-CN" dirty="0"/>
              <a:t>for c in b:</a:t>
            </a:r>
          </a:p>
          <a:p>
            <a:pPr marL="457200" lvl="1" indent="0">
              <a:buNone/>
            </a:pPr>
            <a:r>
              <a:rPr lang="en-US" altLang="zh-CN" dirty="0"/>
              <a:t>    print('%#x'%</a:t>
            </a:r>
            <a:r>
              <a:rPr lang="en-US" altLang="zh-CN" dirty="0" err="1"/>
              <a:t>ord</a:t>
            </a:r>
            <a:r>
              <a:rPr lang="en-US" altLang="zh-CN" dirty="0"/>
              <a:t>(c),end</a:t>
            </a:r>
            <a:r>
              <a:rPr lang="en-US" altLang="zh-CN" dirty="0" smtClean="0"/>
              <a:t>="")</a:t>
            </a:r>
          </a:p>
          <a:p>
            <a:pPr marL="457200" lvl="1" indent="0">
              <a:buNone/>
            </a:pPr>
            <a:endParaRPr lang="en-US" altLang="zh-CN" dirty="0"/>
          </a:p>
          <a:p>
            <a:pPr lvl="1"/>
            <a:r>
              <a:rPr lang="en-US" altLang="zh-CN" dirty="0"/>
              <a:t>0x4e2d0x56fd0x20</a:t>
            </a:r>
          </a:p>
          <a:p>
            <a:pPr marL="457200" lvl="1" indent="0">
              <a:buNone/>
            </a:pPr>
            <a:r>
              <a:rPr lang="en-US" altLang="zh-CN" dirty="0"/>
              <a:t>0x4e2d0x56fd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4526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en-US" altLang="zh-CN" dirty="0" smtClean="0"/>
          </a:p>
          <a:p>
            <a:r>
              <a:rPr lang="zh-CN" altLang="en-US" dirty="0" smtClean="0"/>
              <a:t>字符串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数字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/>
              <a:t>注释</a:t>
            </a:r>
          </a:p>
        </p:txBody>
      </p:sp>
    </p:spTree>
    <p:extLst>
      <p:ext uri="{BB962C8B-B14F-4D97-AF65-F5344CB8AC3E}">
        <p14:creationId xmlns:p14="http://schemas.microsoft.com/office/powerpoint/2010/main" val="2020893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 </a:t>
            </a:r>
            <a:r>
              <a:rPr lang="zh-CN" altLang="en-US" dirty="0"/>
              <a:t>支持四种不同的数值类型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 latinLnBrk="1"/>
            <a:r>
              <a:rPr lang="zh-CN" altLang="en-US" b="1" dirty="0"/>
              <a:t>整型</a:t>
            </a:r>
            <a:r>
              <a:rPr lang="en-US" altLang="zh-CN" b="1" dirty="0"/>
              <a:t>(</a:t>
            </a:r>
            <a:r>
              <a:rPr lang="en-US" altLang="zh-CN" b="1" dirty="0" err="1"/>
              <a:t>Int</a:t>
            </a:r>
            <a:r>
              <a:rPr lang="en-US" altLang="zh-CN" b="1" dirty="0"/>
              <a:t>)</a:t>
            </a:r>
            <a:r>
              <a:rPr lang="en-US" altLang="zh-CN" dirty="0"/>
              <a:t> - </a:t>
            </a:r>
            <a:r>
              <a:rPr lang="zh-CN" altLang="en-US" dirty="0"/>
              <a:t>通常被称为是整型或整数，是正或负整数，不带小数点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 latinLnBrk="1"/>
            <a:r>
              <a:rPr lang="en-US" altLang="zh-CN" dirty="0"/>
              <a:t>10</a:t>
            </a:r>
            <a:endParaRPr lang="zh-CN" altLang="en-US" dirty="0"/>
          </a:p>
          <a:p>
            <a:pPr lvl="1" latinLnBrk="1"/>
            <a:r>
              <a:rPr lang="zh-CN" altLang="en-US" b="1" dirty="0"/>
              <a:t>长整型</a:t>
            </a:r>
            <a:r>
              <a:rPr lang="en-US" altLang="zh-CN" b="1" dirty="0"/>
              <a:t>(long integers)</a:t>
            </a:r>
            <a:r>
              <a:rPr lang="en-US" altLang="zh-CN" dirty="0"/>
              <a:t> - </a:t>
            </a:r>
            <a:r>
              <a:rPr lang="zh-CN" altLang="en-US" dirty="0"/>
              <a:t>无限大小的整数，整数最后是一个大写或小写的</a:t>
            </a:r>
            <a:r>
              <a:rPr lang="en-US" altLang="zh-CN" dirty="0"/>
              <a:t>L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 latinLnBrk="1"/>
            <a:r>
              <a:rPr lang="en-US" altLang="zh-CN" dirty="0"/>
              <a:t>51924361L</a:t>
            </a:r>
            <a:endParaRPr lang="zh-CN" altLang="en-US" dirty="0"/>
          </a:p>
          <a:p>
            <a:pPr lvl="1" latinLnBrk="1"/>
            <a:r>
              <a:rPr lang="zh-CN" altLang="en-US" b="1" dirty="0"/>
              <a:t>浮点型</a:t>
            </a:r>
            <a:r>
              <a:rPr lang="en-US" altLang="zh-CN" b="1" dirty="0"/>
              <a:t>(floating point real values)</a:t>
            </a:r>
            <a:r>
              <a:rPr lang="en-US" altLang="zh-CN" dirty="0"/>
              <a:t> - </a:t>
            </a:r>
            <a:r>
              <a:rPr lang="zh-CN" altLang="en-US" dirty="0"/>
              <a:t>浮点型由整数部分与小数部分组成，浮点型也可以使用科学计数法表示（</a:t>
            </a:r>
            <a:r>
              <a:rPr lang="en-US" altLang="zh-CN" dirty="0"/>
              <a:t>2.5e2 = 2.5 x 10</a:t>
            </a:r>
            <a:r>
              <a:rPr lang="en-US" altLang="zh-CN" baseline="30000" dirty="0"/>
              <a:t>2</a:t>
            </a:r>
            <a:r>
              <a:rPr lang="en-US" altLang="zh-CN" dirty="0"/>
              <a:t> = 250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 latinLnBrk="1"/>
            <a:r>
              <a:rPr lang="en-US" altLang="zh-CN" dirty="0"/>
              <a:t>15.20</a:t>
            </a:r>
            <a:endParaRPr lang="zh-CN" altLang="en-US" dirty="0"/>
          </a:p>
          <a:p>
            <a:pPr lvl="1" latinLnBrk="1"/>
            <a:r>
              <a:rPr lang="zh-CN" altLang="en-US" b="1" dirty="0"/>
              <a:t>复数</a:t>
            </a:r>
            <a:r>
              <a:rPr lang="en-US" altLang="zh-CN" b="1" dirty="0"/>
              <a:t>(complex numbers)</a:t>
            </a:r>
            <a:r>
              <a:rPr lang="en-US" altLang="zh-CN" dirty="0"/>
              <a:t> - </a:t>
            </a:r>
            <a:r>
              <a:rPr lang="zh-CN" altLang="en-US" dirty="0"/>
              <a:t>复数由实数部分和虚数部分构成，可以用</a:t>
            </a:r>
            <a:r>
              <a:rPr lang="en-US" altLang="zh-CN" dirty="0"/>
              <a:t>a + </a:t>
            </a:r>
            <a:r>
              <a:rPr lang="en-US" altLang="zh-CN" dirty="0" err="1"/>
              <a:t>bj</a:t>
            </a:r>
            <a:r>
              <a:rPr lang="en-US" altLang="zh-CN" dirty="0"/>
              <a:t>,</a:t>
            </a:r>
            <a:r>
              <a:rPr lang="zh-CN" altLang="en-US" dirty="0"/>
              <a:t>或者</a:t>
            </a:r>
            <a:r>
              <a:rPr lang="en-US" altLang="zh-CN" dirty="0"/>
              <a:t>complex(</a:t>
            </a:r>
            <a:r>
              <a:rPr lang="en-US" altLang="zh-CN" dirty="0" err="1"/>
              <a:t>a,b</a:t>
            </a:r>
            <a:r>
              <a:rPr lang="en-US" altLang="zh-CN" dirty="0"/>
              <a:t>)</a:t>
            </a:r>
            <a:r>
              <a:rPr lang="zh-CN" altLang="en-US" dirty="0"/>
              <a:t>表示， 复数的实部</a:t>
            </a:r>
            <a:r>
              <a:rPr lang="en-US" altLang="zh-CN" dirty="0"/>
              <a:t>a</a:t>
            </a:r>
            <a:r>
              <a:rPr lang="zh-CN" altLang="en-US" dirty="0"/>
              <a:t>和虚部</a:t>
            </a:r>
            <a:r>
              <a:rPr lang="en-US" altLang="zh-CN" dirty="0"/>
              <a:t>b</a:t>
            </a:r>
            <a:r>
              <a:rPr lang="zh-CN" altLang="en-US" dirty="0"/>
              <a:t>都是浮点型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 latinLnBrk="1"/>
            <a:r>
              <a:rPr lang="en-US" altLang="zh-CN" dirty="0" smtClean="0"/>
              <a:t>-.</a:t>
            </a:r>
            <a:r>
              <a:rPr lang="en-US" altLang="zh-CN" dirty="0"/>
              <a:t>6545+0J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435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类型</a:t>
            </a:r>
            <a:r>
              <a:rPr lang="zh-CN" altLang="en-US" dirty="0" smtClean="0"/>
              <a:t>转换</a:t>
            </a:r>
            <a:endParaRPr lang="en-US" altLang="zh-CN" dirty="0" smtClean="0"/>
          </a:p>
          <a:p>
            <a:pPr lvl="1"/>
            <a:r>
              <a:rPr lang="en-US" altLang="zh-CN" dirty="0" err="1"/>
              <a:t>int</a:t>
            </a:r>
            <a:r>
              <a:rPr lang="en-US" altLang="zh-CN" dirty="0"/>
              <a:t>(x [,base ])         </a:t>
            </a:r>
            <a:r>
              <a:rPr lang="zh-CN" altLang="en-US" dirty="0"/>
              <a:t>将</a:t>
            </a:r>
            <a:r>
              <a:rPr lang="en-US" altLang="zh-CN" dirty="0"/>
              <a:t>x</a:t>
            </a:r>
            <a:r>
              <a:rPr lang="zh-CN" altLang="en-US" dirty="0"/>
              <a:t>转换为一个整数  </a:t>
            </a:r>
          </a:p>
          <a:p>
            <a:pPr lvl="1"/>
            <a:r>
              <a:rPr lang="en-US" altLang="zh-CN" dirty="0"/>
              <a:t>long(x [,base ])        </a:t>
            </a:r>
            <a:r>
              <a:rPr lang="zh-CN" altLang="en-US" dirty="0"/>
              <a:t>将</a:t>
            </a:r>
            <a:r>
              <a:rPr lang="en-US" altLang="zh-CN" dirty="0"/>
              <a:t>x</a:t>
            </a:r>
            <a:r>
              <a:rPr lang="zh-CN" altLang="en-US" dirty="0"/>
              <a:t>转换为一个长整数  </a:t>
            </a:r>
          </a:p>
          <a:p>
            <a:pPr lvl="1"/>
            <a:r>
              <a:rPr lang="en-US" altLang="zh-CN" dirty="0"/>
              <a:t>float(x )               </a:t>
            </a:r>
            <a:r>
              <a:rPr lang="zh-CN" altLang="en-US" dirty="0"/>
              <a:t>将</a:t>
            </a:r>
            <a:r>
              <a:rPr lang="en-US" altLang="zh-CN" dirty="0"/>
              <a:t>x</a:t>
            </a:r>
            <a:r>
              <a:rPr lang="zh-CN" altLang="en-US" dirty="0"/>
              <a:t>转换到一个浮点数  </a:t>
            </a:r>
          </a:p>
          <a:p>
            <a:pPr lvl="1"/>
            <a:r>
              <a:rPr lang="en-US" altLang="zh-CN" dirty="0"/>
              <a:t>complex(real [,</a:t>
            </a:r>
            <a:r>
              <a:rPr lang="en-US" altLang="zh-CN" dirty="0" err="1"/>
              <a:t>imag</a:t>
            </a:r>
            <a:r>
              <a:rPr lang="en-US" altLang="zh-CN" dirty="0"/>
              <a:t> ])  </a:t>
            </a:r>
            <a:r>
              <a:rPr lang="zh-CN" altLang="en-US" dirty="0"/>
              <a:t>创建一个复数  </a:t>
            </a:r>
          </a:p>
          <a:p>
            <a:pPr lvl="1"/>
            <a:r>
              <a:rPr lang="en-US" altLang="zh-CN" dirty="0" err="1"/>
              <a:t>str</a:t>
            </a:r>
            <a:r>
              <a:rPr lang="en-US" altLang="zh-CN" dirty="0"/>
              <a:t>(x )                 </a:t>
            </a:r>
            <a:r>
              <a:rPr lang="zh-CN" altLang="en-US" dirty="0"/>
              <a:t>将对象 </a:t>
            </a:r>
            <a:r>
              <a:rPr lang="en-US" altLang="zh-CN" dirty="0"/>
              <a:t>x </a:t>
            </a:r>
            <a:r>
              <a:rPr lang="zh-CN" altLang="en-US" dirty="0"/>
              <a:t>转换为字符串  </a:t>
            </a:r>
          </a:p>
          <a:p>
            <a:pPr lvl="1"/>
            <a:r>
              <a:rPr lang="en-US" altLang="zh-CN" dirty="0" err="1"/>
              <a:t>repr</a:t>
            </a:r>
            <a:r>
              <a:rPr lang="en-US" altLang="zh-CN" dirty="0"/>
              <a:t>(x )                </a:t>
            </a:r>
            <a:r>
              <a:rPr lang="zh-CN" altLang="en-US" dirty="0"/>
              <a:t>将对象 </a:t>
            </a:r>
            <a:r>
              <a:rPr lang="en-US" altLang="zh-CN" dirty="0"/>
              <a:t>x </a:t>
            </a:r>
            <a:r>
              <a:rPr lang="zh-CN" altLang="en-US" dirty="0"/>
              <a:t>转换为表达式字符串  </a:t>
            </a:r>
          </a:p>
          <a:p>
            <a:pPr lvl="1"/>
            <a:r>
              <a:rPr lang="en-US" altLang="zh-CN" dirty="0" err="1"/>
              <a:t>eval</a:t>
            </a:r>
            <a:r>
              <a:rPr lang="en-US" altLang="zh-CN" dirty="0"/>
              <a:t>(</a:t>
            </a:r>
            <a:r>
              <a:rPr lang="en-US" altLang="zh-CN" dirty="0" err="1"/>
              <a:t>str</a:t>
            </a:r>
            <a:r>
              <a:rPr lang="en-US" altLang="zh-CN" dirty="0"/>
              <a:t> )              </a:t>
            </a:r>
            <a:r>
              <a:rPr lang="zh-CN" altLang="en-US" dirty="0"/>
              <a:t>用来计算在字符串中的有效</a:t>
            </a:r>
            <a:r>
              <a:rPr lang="en-US" altLang="zh-CN" dirty="0"/>
              <a:t>Python</a:t>
            </a:r>
            <a:r>
              <a:rPr lang="zh-CN" altLang="en-US" dirty="0"/>
              <a:t>表达式</a:t>
            </a:r>
            <a:r>
              <a:rPr lang="en-US" altLang="zh-CN" dirty="0"/>
              <a:t>,</a:t>
            </a:r>
            <a:r>
              <a:rPr lang="zh-CN" altLang="en-US" dirty="0"/>
              <a:t>并返回一个对象  </a:t>
            </a:r>
          </a:p>
          <a:p>
            <a:pPr lvl="1"/>
            <a:r>
              <a:rPr lang="en-US" altLang="zh-CN" dirty="0"/>
              <a:t>tuple(s )               </a:t>
            </a:r>
            <a:r>
              <a:rPr lang="zh-CN" altLang="en-US" dirty="0"/>
              <a:t>将序列 </a:t>
            </a:r>
            <a:r>
              <a:rPr lang="en-US" altLang="zh-CN" dirty="0"/>
              <a:t>s </a:t>
            </a:r>
            <a:r>
              <a:rPr lang="zh-CN" altLang="en-US" dirty="0"/>
              <a:t>转换为一个元组  </a:t>
            </a:r>
          </a:p>
          <a:p>
            <a:pPr lvl="1"/>
            <a:r>
              <a:rPr lang="en-US" altLang="zh-CN" dirty="0"/>
              <a:t>list(s )                </a:t>
            </a:r>
            <a:r>
              <a:rPr lang="zh-CN" altLang="en-US" dirty="0"/>
              <a:t>将序列 </a:t>
            </a:r>
            <a:r>
              <a:rPr lang="en-US" altLang="zh-CN" dirty="0"/>
              <a:t>s </a:t>
            </a:r>
            <a:r>
              <a:rPr lang="zh-CN" altLang="en-US" dirty="0"/>
              <a:t>转换为一个列表  </a:t>
            </a:r>
          </a:p>
          <a:p>
            <a:pPr lvl="1"/>
            <a:r>
              <a:rPr lang="en-US" altLang="zh-CN" dirty="0" err="1"/>
              <a:t>chr</a:t>
            </a:r>
            <a:r>
              <a:rPr lang="en-US" altLang="zh-CN" dirty="0"/>
              <a:t>(x )                 </a:t>
            </a:r>
            <a:r>
              <a:rPr lang="zh-CN" altLang="en-US" dirty="0"/>
              <a:t>将一个整数转换为一个字符  </a:t>
            </a:r>
          </a:p>
          <a:p>
            <a:pPr lvl="1"/>
            <a:r>
              <a:rPr lang="en-US" altLang="zh-CN" dirty="0" err="1"/>
              <a:t>unichr</a:t>
            </a:r>
            <a:r>
              <a:rPr lang="en-US" altLang="zh-CN" dirty="0"/>
              <a:t>(x )              </a:t>
            </a:r>
            <a:r>
              <a:rPr lang="zh-CN" altLang="en-US" dirty="0"/>
              <a:t>将一个整数转换为</a:t>
            </a:r>
            <a:r>
              <a:rPr lang="en-US" altLang="zh-CN" dirty="0"/>
              <a:t>Unicode</a:t>
            </a:r>
            <a:r>
              <a:rPr lang="zh-CN" altLang="en-US" dirty="0"/>
              <a:t>字符  </a:t>
            </a:r>
          </a:p>
          <a:p>
            <a:pPr lvl="1"/>
            <a:r>
              <a:rPr lang="en-US" altLang="zh-CN" dirty="0" err="1"/>
              <a:t>ord</a:t>
            </a:r>
            <a:r>
              <a:rPr lang="en-US" altLang="zh-CN" dirty="0"/>
              <a:t>(x )                 </a:t>
            </a:r>
            <a:r>
              <a:rPr lang="zh-CN" altLang="en-US" dirty="0"/>
              <a:t>将一个字符转换为它的整数值  </a:t>
            </a:r>
          </a:p>
          <a:p>
            <a:pPr lvl="1"/>
            <a:r>
              <a:rPr lang="en-US" altLang="zh-CN" dirty="0"/>
              <a:t>hex(x )                 </a:t>
            </a:r>
            <a:r>
              <a:rPr lang="zh-CN" altLang="en-US" dirty="0"/>
              <a:t>将一个整数转换为一个十六进制字符串  </a:t>
            </a:r>
          </a:p>
          <a:p>
            <a:pPr lvl="1"/>
            <a:r>
              <a:rPr lang="en-US" altLang="zh-CN" dirty="0" err="1"/>
              <a:t>oct</a:t>
            </a:r>
            <a:r>
              <a:rPr lang="en-US" altLang="zh-CN" dirty="0"/>
              <a:t>(x )                 </a:t>
            </a:r>
            <a:r>
              <a:rPr lang="zh-CN" altLang="en-US" dirty="0"/>
              <a:t>将一个整数转换为一个八进制字符串 </a:t>
            </a:r>
          </a:p>
        </p:txBody>
      </p:sp>
    </p:spTree>
    <p:extLst>
      <p:ext uri="{BB962C8B-B14F-4D97-AF65-F5344CB8AC3E}">
        <p14:creationId xmlns:p14="http://schemas.microsoft.com/office/powerpoint/2010/main" val="3222383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整数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行加（</a:t>
            </a:r>
            <a:r>
              <a:rPr lang="en-US" altLang="zh-CN" dirty="0" smtClean="0"/>
              <a:t>+ </a:t>
            </a:r>
            <a:r>
              <a:rPr lang="zh-CN" altLang="en-US" dirty="0" smtClean="0"/>
              <a:t>）减（</a:t>
            </a:r>
            <a:r>
              <a:rPr lang="en-US" altLang="zh-CN" dirty="0" smtClean="0"/>
              <a:t>- </a:t>
            </a:r>
            <a:r>
              <a:rPr lang="zh-CN" altLang="en-US" dirty="0" smtClean="0"/>
              <a:t>）乘（* ）除（</a:t>
            </a:r>
            <a:r>
              <a:rPr lang="en-US" altLang="zh-CN" dirty="0" smtClean="0"/>
              <a:t>/ </a:t>
            </a:r>
            <a:r>
              <a:rPr lang="zh-CN" altLang="en-US" dirty="0" smtClean="0"/>
              <a:t>）乘方（</a:t>
            </a:r>
            <a:r>
              <a:rPr lang="zh-CN" altLang="en-US" dirty="0"/>
              <a:t>**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整数除法，</a:t>
            </a:r>
            <a:r>
              <a:rPr lang="en-US" altLang="zh-CN" dirty="0" smtClean="0"/>
              <a:t>python2</a:t>
            </a:r>
            <a:r>
              <a:rPr lang="zh-CN" altLang="en-US" dirty="0" smtClean="0"/>
              <a:t>中</a:t>
            </a:r>
            <a:r>
              <a:rPr lang="en-US" altLang="zh-CN" dirty="0" smtClean="0"/>
              <a:t>3/2=1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python3</a:t>
            </a:r>
            <a:r>
              <a:rPr lang="zh-CN" altLang="en-US" dirty="0" smtClean="0"/>
              <a:t>中</a:t>
            </a:r>
            <a:r>
              <a:rPr lang="en-US" altLang="zh-CN" dirty="0" smtClean="0"/>
              <a:t>3/2=1.5</a:t>
            </a:r>
          </a:p>
          <a:p>
            <a:r>
              <a:rPr lang="zh-CN" altLang="en-US" dirty="0" smtClean="0"/>
              <a:t>浮点数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Python</a:t>
            </a:r>
            <a:r>
              <a:rPr lang="zh-CN" altLang="en-US" dirty="0" smtClean="0"/>
              <a:t>将带小数点的数字都称为浮点数</a:t>
            </a:r>
            <a:endParaRPr lang="en-US" altLang="zh-CN" dirty="0" smtClean="0"/>
          </a:p>
          <a:p>
            <a:r>
              <a:rPr lang="zh-CN" altLang="en-US" dirty="0" smtClean="0"/>
              <a:t>字符串不能和数字相加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"Happy " + age + "</a:t>
            </a:r>
            <a:r>
              <a:rPr lang="en-US" altLang="zh-CN" dirty="0" err="1" smtClean="0"/>
              <a:t>rd</a:t>
            </a:r>
            <a:r>
              <a:rPr lang="en-US" altLang="zh-CN" dirty="0" smtClean="0"/>
              <a:t> Birthday!“</a:t>
            </a:r>
          </a:p>
          <a:p>
            <a:pPr lvl="1"/>
            <a:r>
              <a:rPr lang="en-US" altLang="zh-CN" dirty="0"/>
              <a:t>"Happy " + </a:t>
            </a:r>
            <a:r>
              <a:rPr lang="en-US" altLang="zh-CN" dirty="0" err="1" smtClean="0"/>
              <a:t>str</a:t>
            </a:r>
            <a:r>
              <a:rPr lang="en-US" altLang="zh-CN" dirty="0" smtClean="0"/>
              <a:t>(age) </a:t>
            </a:r>
            <a:r>
              <a:rPr lang="en-US" altLang="zh-CN" dirty="0"/>
              <a:t>+ "</a:t>
            </a:r>
            <a:r>
              <a:rPr lang="en-US" altLang="zh-CN" dirty="0" err="1"/>
              <a:t>rd</a:t>
            </a:r>
            <a:r>
              <a:rPr lang="en-US" altLang="zh-CN" dirty="0"/>
              <a:t> Birthday!"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4038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altLang="zh-CN" dirty="0"/>
              <a:t>Python </a:t>
            </a:r>
            <a:r>
              <a:rPr lang="zh-CN" altLang="en-US" dirty="0"/>
              <a:t>中数学运算常用的函数基本都在 </a:t>
            </a:r>
            <a:r>
              <a:rPr lang="en-US" altLang="zh-CN" dirty="0"/>
              <a:t>math </a:t>
            </a:r>
            <a:r>
              <a:rPr lang="zh-CN" altLang="en-US" dirty="0"/>
              <a:t>模块、</a:t>
            </a:r>
            <a:r>
              <a:rPr lang="en-US" altLang="zh-CN" dirty="0" err="1"/>
              <a:t>cmath</a:t>
            </a:r>
            <a:r>
              <a:rPr lang="en-US" altLang="zh-CN" dirty="0"/>
              <a:t> </a:t>
            </a:r>
            <a:r>
              <a:rPr lang="zh-CN" altLang="en-US" dirty="0"/>
              <a:t>模块中。</a:t>
            </a:r>
          </a:p>
          <a:p>
            <a:pPr latinLnBrk="1"/>
            <a:r>
              <a:rPr lang="en-US" altLang="zh-CN" dirty="0"/>
              <a:t>Python math </a:t>
            </a:r>
            <a:r>
              <a:rPr lang="zh-CN" altLang="en-US" dirty="0"/>
              <a:t>模块提供了许多对浮点数的数学运算函数。</a:t>
            </a:r>
          </a:p>
          <a:p>
            <a:pPr latinLnBrk="1"/>
            <a:r>
              <a:rPr lang="en-US" altLang="zh-CN" dirty="0"/>
              <a:t>Python </a:t>
            </a:r>
            <a:r>
              <a:rPr lang="en-US" altLang="zh-CN" dirty="0" err="1"/>
              <a:t>cmath</a:t>
            </a:r>
            <a:r>
              <a:rPr lang="en-US" altLang="zh-CN" dirty="0"/>
              <a:t> </a:t>
            </a:r>
            <a:r>
              <a:rPr lang="zh-CN" altLang="en-US" dirty="0"/>
              <a:t>模块包含了一些用于复数运算的函数。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5166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035901"/>
              </p:ext>
            </p:extLst>
          </p:nvPr>
        </p:nvGraphicFramePr>
        <p:xfrm>
          <a:off x="1047135" y="1695154"/>
          <a:ext cx="8421329" cy="4827620"/>
        </p:xfrm>
        <a:graphic>
          <a:graphicData uri="http://schemas.openxmlformats.org/drawingml/2006/table">
            <a:tbl>
              <a:tblPr/>
              <a:tblGrid>
                <a:gridCol w="1784555"/>
                <a:gridCol w="6636774"/>
              </a:tblGrid>
              <a:tr h="9905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</a:p>
                  </a:txBody>
                  <a:tcPr marL="4672" marR="4672" marT="4672" marB="4672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>
                          <a:solidFill>
                            <a:srgbClr val="FFFFFF"/>
                          </a:solidFill>
                          <a:effectLst/>
                        </a:rPr>
                        <a:t>返回值 </a:t>
                      </a:r>
                      <a:r>
                        <a:rPr lang="en-US" altLang="zh-CN" sz="1600">
                          <a:solidFill>
                            <a:srgbClr val="FFFFFF"/>
                          </a:solidFill>
                          <a:effectLst/>
                        </a:rPr>
                        <a:t>( </a:t>
                      </a:r>
                      <a:r>
                        <a:rPr lang="zh-CN" altLang="en-US" sz="1600">
                          <a:solidFill>
                            <a:srgbClr val="FFFFFF"/>
                          </a:solidFill>
                          <a:effectLst/>
                        </a:rPr>
                        <a:t>描述 </a:t>
                      </a:r>
                      <a:r>
                        <a:rPr lang="en-US" altLang="zh-CN" sz="1600">
                          <a:solidFill>
                            <a:srgbClr val="FFFFFF"/>
                          </a:solidFill>
                          <a:effectLst/>
                        </a:rPr>
                        <a:t>)</a:t>
                      </a:r>
                    </a:p>
                  </a:txBody>
                  <a:tcPr marL="4672" marR="4672" marT="4672" marB="4672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0121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abs(x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返回数字的绝对值，如</a:t>
                      </a:r>
                      <a:r>
                        <a:rPr lang="en-US" altLang="zh-CN" sz="1600" dirty="0">
                          <a:effectLst/>
                        </a:rPr>
                        <a:t>abs(-10) </a:t>
                      </a:r>
                      <a:r>
                        <a:rPr lang="zh-CN" altLang="en-US" sz="1600" dirty="0">
                          <a:effectLst/>
                        </a:rPr>
                        <a:t>返回 </a:t>
                      </a:r>
                      <a:r>
                        <a:rPr lang="en-US" altLang="zh-CN" sz="1600" dirty="0">
                          <a:effectLst/>
                        </a:rPr>
                        <a:t>10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ceil(x)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返回数字的上入整数，如</a:t>
                      </a:r>
                      <a:r>
                        <a:rPr lang="en-US" altLang="zh-CN" sz="1600">
                          <a:effectLst/>
                        </a:rPr>
                        <a:t>math.ceil(4.1) </a:t>
                      </a:r>
                      <a:r>
                        <a:rPr lang="zh-CN" altLang="en-US" sz="1600">
                          <a:effectLst/>
                        </a:rPr>
                        <a:t>返回 </a:t>
                      </a:r>
                      <a:r>
                        <a:rPr lang="en-US" altLang="zh-CN" sz="1600">
                          <a:effectLst/>
                        </a:rPr>
                        <a:t>5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cmp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(x, y)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s-ES" sz="1600">
                          <a:effectLst/>
                        </a:rPr>
                        <a:t>如果 x &lt; y 返回 -1, 如果 x == y 返回 0, 如果 x &gt; y 返回 1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exp(x)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sz="1600" dirty="0">
                          <a:effectLst/>
                        </a:rPr>
                        <a:t>e</a:t>
                      </a:r>
                      <a:r>
                        <a:rPr lang="zh-CN" altLang="en-US" sz="1600" dirty="0">
                          <a:effectLst/>
                        </a:rPr>
                        <a:t>的</a:t>
                      </a:r>
                      <a:r>
                        <a:rPr lang="en-US" sz="1600" dirty="0">
                          <a:effectLst/>
                        </a:rPr>
                        <a:t>x</a:t>
                      </a:r>
                      <a:r>
                        <a:rPr lang="zh-CN" altLang="en-US" sz="1600" dirty="0">
                          <a:effectLst/>
                        </a:rPr>
                        <a:t>次幂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en-US" sz="1600" dirty="0">
                          <a:effectLst/>
                        </a:rPr>
                        <a:t>e</a:t>
                      </a:r>
                      <a:r>
                        <a:rPr lang="en-US" sz="1600" baseline="30000" dirty="0">
                          <a:effectLst/>
                        </a:rPr>
                        <a:t>x</a:t>
                      </a:r>
                      <a:r>
                        <a:rPr lang="en-US" sz="1600" dirty="0">
                          <a:effectLst/>
                        </a:rPr>
                        <a:t>),</a:t>
                      </a:r>
                      <a:r>
                        <a:rPr lang="zh-CN" altLang="en-US" sz="1600" dirty="0">
                          <a:effectLst/>
                        </a:rPr>
                        <a:t>如</a:t>
                      </a:r>
                      <a:r>
                        <a:rPr lang="en-US" sz="1600" dirty="0" err="1">
                          <a:effectLst/>
                        </a:rPr>
                        <a:t>math.exp</a:t>
                      </a:r>
                      <a:r>
                        <a:rPr lang="en-US" sz="1600" dirty="0">
                          <a:effectLst/>
                        </a:rPr>
                        <a:t>(1) </a:t>
                      </a:r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altLang="zh-CN" sz="1600" dirty="0">
                          <a:effectLst/>
                        </a:rPr>
                        <a:t>2.718281828459045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fabs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返回数字的绝对值，如</a:t>
                      </a:r>
                      <a:r>
                        <a:rPr lang="en-US" altLang="zh-CN" sz="1600">
                          <a:effectLst/>
                        </a:rPr>
                        <a:t>math.fabs(-10) </a:t>
                      </a:r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10.0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floor(x)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返回数字的下舍整数，如</a:t>
                      </a:r>
                      <a:r>
                        <a:rPr lang="en-US" sz="1600">
                          <a:effectLst/>
                        </a:rPr>
                        <a:t>math.floor(4.9)</a:t>
                      </a:r>
                      <a:r>
                        <a:rPr lang="zh-CN" altLang="en-US" sz="1600">
                          <a:effectLst/>
                        </a:rPr>
                        <a:t>返回 </a:t>
                      </a:r>
                      <a:r>
                        <a:rPr lang="en-US" altLang="zh-CN" sz="1600">
                          <a:effectLst/>
                        </a:rPr>
                        <a:t>4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log(x)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如</a:t>
                      </a:r>
                      <a:r>
                        <a:rPr lang="en-US" sz="1600">
                          <a:effectLst/>
                        </a:rPr>
                        <a:t>math.log(math.e)</a:t>
                      </a:r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1.0,</a:t>
                      </a:r>
                      <a:r>
                        <a:rPr lang="en-US" sz="1600">
                          <a:effectLst/>
                        </a:rPr>
                        <a:t>math.log(100,10)</a:t>
                      </a:r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2.0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log10(x)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返回以</a:t>
                      </a:r>
                      <a:r>
                        <a:rPr lang="en-US" altLang="zh-CN" sz="1600">
                          <a:effectLst/>
                        </a:rPr>
                        <a:t>10</a:t>
                      </a:r>
                      <a:r>
                        <a:rPr lang="zh-CN" altLang="en-US" sz="1600">
                          <a:effectLst/>
                        </a:rPr>
                        <a:t>为基数的</a:t>
                      </a:r>
                      <a:r>
                        <a:rPr lang="en-US" altLang="zh-CN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的对数，如</a:t>
                      </a:r>
                      <a:r>
                        <a:rPr lang="en-US" altLang="zh-CN" sz="1600">
                          <a:effectLst/>
                        </a:rPr>
                        <a:t>math.log10(100)</a:t>
                      </a:r>
                      <a:r>
                        <a:rPr lang="zh-CN" altLang="en-US" sz="1600">
                          <a:effectLst/>
                        </a:rPr>
                        <a:t>返回 </a:t>
                      </a:r>
                      <a:r>
                        <a:rPr lang="en-US" altLang="zh-CN" sz="1600">
                          <a:effectLst/>
                        </a:rPr>
                        <a:t>2.0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max(x1, x2,...)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返回给定参数的最大值，参数可以为序列。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92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min(x1, x2,...)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返回给定参数的最小值，参数可以为序列。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70331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modf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的整数部分与小数部分，两部分的数值符号与</a:t>
                      </a:r>
                      <a:r>
                        <a:rPr lang="en-US" altLang="zh-CN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相同，整数部分以浮点型表示。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509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pow(x, y)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</a:rPr>
                        <a:t>x**y </a:t>
                      </a:r>
                      <a:r>
                        <a:rPr lang="zh-CN" altLang="en-US" sz="1600">
                          <a:effectLst/>
                        </a:rPr>
                        <a:t>运算后的值。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round(x [,n])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返回浮点数</a:t>
                      </a:r>
                      <a:r>
                        <a:rPr lang="en-US" altLang="zh-CN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的四舍五入值，如给出</a:t>
                      </a:r>
                      <a:r>
                        <a:rPr lang="en-US" altLang="zh-CN" sz="1600">
                          <a:effectLst/>
                        </a:rPr>
                        <a:t>n</a:t>
                      </a:r>
                      <a:r>
                        <a:rPr lang="zh-CN" altLang="en-US" sz="1600">
                          <a:effectLst/>
                        </a:rPr>
                        <a:t>值，则代表舍入到小数点后的位数。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21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sqrt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返回数字</a:t>
                      </a:r>
                      <a:r>
                        <a:rPr lang="en-US" altLang="zh-CN" sz="1600" dirty="0">
                          <a:effectLst/>
                        </a:rPr>
                        <a:t>x</a:t>
                      </a:r>
                      <a:r>
                        <a:rPr lang="zh-CN" altLang="en-US" sz="1600" dirty="0">
                          <a:effectLst/>
                        </a:rPr>
                        <a:t>的平方根</a:t>
                      </a:r>
                    </a:p>
                  </a:txBody>
                  <a:tcPr marL="7787" marR="7787" marT="10902" marB="10902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67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3483793"/>
              </p:ext>
            </p:extLst>
          </p:nvPr>
        </p:nvGraphicFramePr>
        <p:xfrm>
          <a:off x="995514" y="1825625"/>
          <a:ext cx="8915402" cy="4437307"/>
        </p:xfrm>
        <a:graphic>
          <a:graphicData uri="http://schemas.openxmlformats.org/drawingml/2006/table">
            <a:tbl>
              <a:tblPr/>
              <a:tblGrid>
                <a:gridCol w="2743202"/>
                <a:gridCol w="6172200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</a:p>
                  </a:txBody>
                  <a:tcPr marL="8223" marR="8223" marT="8223" marB="8223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8223" marR="8223" marT="8223" marB="8223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985601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choice(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seq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从序列的元素中随机挑选一个元素，比如</a:t>
                      </a:r>
                      <a:r>
                        <a:rPr lang="en-US" altLang="zh-CN" sz="1600" dirty="0" err="1">
                          <a:effectLst/>
                        </a:rPr>
                        <a:t>random.choice</a:t>
                      </a:r>
                      <a:r>
                        <a:rPr lang="en-US" altLang="zh-CN" sz="1600" dirty="0">
                          <a:effectLst/>
                        </a:rPr>
                        <a:t>(range(10))</a:t>
                      </a:r>
                      <a:r>
                        <a:rPr lang="zh-CN" altLang="en-US" sz="1600" dirty="0">
                          <a:effectLst/>
                        </a:rPr>
                        <a:t>，从</a:t>
                      </a:r>
                      <a:r>
                        <a:rPr lang="en-US" altLang="zh-CN" sz="1600" dirty="0">
                          <a:effectLst/>
                        </a:rPr>
                        <a:t>0</a:t>
                      </a:r>
                      <a:r>
                        <a:rPr lang="zh-CN" altLang="en-US" sz="1600" dirty="0">
                          <a:effectLst/>
                        </a:rPr>
                        <a:t>到</a:t>
                      </a:r>
                      <a:r>
                        <a:rPr lang="en-US" altLang="zh-CN" sz="1600" dirty="0">
                          <a:effectLst/>
                        </a:rPr>
                        <a:t>9</a:t>
                      </a:r>
                      <a:r>
                        <a:rPr lang="zh-CN" altLang="en-US" sz="1600" dirty="0">
                          <a:effectLst/>
                        </a:rPr>
                        <a:t>中随机挑选一个整数。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7730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randrange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([start,] stop [,step])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从指定范围内，按指定基数递增的集合中获取一个随机数，基数默认值为 </a:t>
                      </a:r>
                      <a:r>
                        <a:rPr lang="en-US" altLang="zh-CN" sz="1600">
                          <a:effectLst/>
                        </a:rPr>
                        <a:t>1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11987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random()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随机生成下一个实数，它在</a:t>
                      </a:r>
                      <a:r>
                        <a:rPr lang="en-US" altLang="zh-CN" sz="1600">
                          <a:effectLst/>
                        </a:rPr>
                        <a:t>[0,1)</a:t>
                      </a:r>
                      <a:r>
                        <a:rPr lang="zh-CN" altLang="en-US" sz="1600">
                          <a:effectLst/>
                        </a:rPr>
                        <a:t>范围内。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85601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seed([x])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改变随机数生成器的种子</a:t>
                      </a:r>
                      <a:r>
                        <a:rPr lang="en-US" altLang="zh-CN" sz="1600">
                          <a:effectLst/>
                        </a:rPr>
                        <a:t>seed</a:t>
                      </a:r>
                      <a:r>
                        <a:rPr lang="zh-CN" altLang="en-US" sz="1600">
                          <a:effectLst/>
                        </a:rPr>
                        <a:t>。如果你不了解其原理，你不必特别去设定</a:t>
                      </a:r>
                      <a:r>
                        <a:rPr lang="en-US" altLang="zh-CN" sz="1600">
                          <a:effectLst/>
                        </a:rPr>
                        <a:t>seed</a:t>
                      </a:r>
                      <a:r>
                        <a:rPr lang="zh-CN" altLang="en-US" sz="1600">
                          <a:effectLst/>
                        </a:rPr>
                        <a:t>，</a:t>
                      </a:r>
                      <a:r>
                        <a:rPr lang="en-US" altLang="zh-CN" sz="1600">
                          <a:effectLst/>
                        </a:rPr>
                        <a:t>Python</a:t>
                      </a:r>
                      <a:r>
                        <a:rPr lang="zh-CN" altLang="en-US" sz="1600">
                          <a:effectLst/>
                        </a:rPr>
                        <a:t>会帮你选择</a:t>
                      </a:r>
                      <a:r>
                        <a:rPr lang="en-US" altLang="zh-CN" sz="1600">
                          <a:effectLst/>
                        </a:rPr>
                        <a:t>seed</a:t>
                      </a:r>
                      <a:r>
                        <a:rPr lang="zh-CN" altLang="en-US" sz="1600">
                          <a:effectLst/>
                        </a:rPr>
                        <a:t>。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54115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shuffle(</a:t>
                      </a:r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将序列的所有元素随机排序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987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uniform(x, y)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随机生成下一个实数，它在</a:t>
                      </a:r>
                      <a:r>
                        <a:rPr lang="en-US" altLang="zh-CN" sz="1600" dirty="0">
                          <a:effectLst/>
                        </a:rPr>
                        <a:t>[</a:t>
                      </a:r>
                      <a:r>
                        <a:rPr lang="en-US" altLang="zh-CN" sz="1600" dirty="0" err="1">
                          <a:effectLst/>
                        </a:rPr>
                        <a:t>x,y</a:t>
                      </a:r>
                      <a:r>
                        <a:rPr lang="en-US" altLang="zh-CN" sz="1600" dirty="0">
                          <a:effectLst/>
                        </a:rPr>
                        <a:t>]</a:t>
                      </a:r>
                      <a:r>
                        <a:rPr lang="zh-CN" altLang="en-US" sz="1600" dirty="0">
                          <a:effectLst/>
                        </a:rPr>
                        <a:t>范围内。</a:t>
                      </a:r>
                    </a:p>
                  </a:txBody>
                  <a:tcPr marL="13704" marR="13704" marT="19186" marB="19186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0217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036309"/>
              </p:ext>
            </p:extLst>
          </p:nvPr>
        </p:nvGraphicFramePr>
        <p:xfrm>
          <a:off x="1128250" y="1764836"/>
          <a:ext cx="6850626" cy="4484307"/>
        </p:xfrm>
        <a:graphic>
          <a:graphicData uri="http://schemas.openxmlformats.org/drawingml/2006/table">
            <a:tbl>
              <a:tblPr/>
              <a:tblGrid>
                <a:gridCol w="1887795"/>
                <a:gridCol w="4962831"/>
              </a:tblGrid>
              <a:tr h="195829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 dirty="0">
                          <a:solidFill>
                            <a:srgbClr val="FFFFFF"/>
                          </a:solidFill>
                          <a:effectLst/>
                        </a:rPr>
                        <a:t>函数</a:t>
                      </a:r>
                    </a:p>
                  </a:txBody>
                  <a:tcPr marL="9238" marR="9238" marT="9238" marB="923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 sz="16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9238" marR="9238" marT="9238" marB="923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acos(x)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的反余弦弧度值。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asin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的反正弦弧度值。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atan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</a:t>
                      </a:r>
                      <a:r>
                        <a:rPr lang="en-US" sz="1600" dirty="0">
                          <a:effectLst/>
                        </a:rPr>
                        <a:t>x</a:t>
                      </a:r>
                      <a:r>
                        <a:rPr lang="zh-CN" altLang="en-US" sz="1600" dirty="0">
                          <a:effectLst/>
                        </a:rPr>
                        <a:t>的反正切弧度值。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atan2(y, x)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返回给定的 </a:t>
                      </a:r>
                      <a:r>
                        <a:rPr lang="en-US" sz="1600" dirty="0">
                          <a:effectLst/>
                        </a:rPr>
                        <a:t>X </a:t>
                      </a:r>
                      <a:r>
                        <a:rPr lang="zh-CN" altLang="en-US" sz="1600" dirty="0">
                          <a:effectLst/>
                        </a:rPr>
                        <a:t>及 </a:t>
                      </a:r>
                      <a:r>
                        <a:rPr lang="en-US" sz="1600" dirty="0">
                          <a:effectLst/>
                        </a:rPr>
                        <a:t>Y </a:t>
                      </a:r>
                      <a:r>
                        <a:rPr lang="zh-CN" altLang="en-US" sz="1600" dirty="0">
                          <a:effectLst/>
                        </a:rPr>
                        <a:t>坐标值的反正切值。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cos(x)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的弧度的余弦值。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hypot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(x, y)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返回欧几里德范数 </a:t>
                      </a:r>
                      <a:r>
                        <a:rPr lang="en-US" sz="1600">
                          <a:effectLst/>
                        </a:rPr>
                        <a:t>sqrt(x*x + y*y)。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sin(x)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返回的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弧度的正弦值。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815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tan(x)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sz="1600">
                          <a:effectLst/>
                        </a:rPr>
                        <a:t>x</a:t>
                      </a:r>
                      <a:r>
                        <a:rPr lang="zh-CN" altLang="en-US" sz="1600">
                          <a:effectLst/>
                        </a:rPr>
                        <a:t>弧度的正切值。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752523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degrees(x)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>
                          <a:effectLst/>
                        </a:rPr>
                        <a:t>将弧度转换为角度</a:t>
                      </a:r>
                      <a:r>
                        <a:rPr lang="en-US" altLang="zh-CN" sz="1600">
                          <a:effectLst/>
                        </a:rPr>
                        <a:t>,</a:t>
                      </a:r>
                      <a:r>
                        <a:rPr lang="zh-CN" altLang="en-US" sz="1600">
                          <a:effectLst/>
                        </a:rPr>
                        <a:t>如</a:t>
                      </a:r>
                      <a:r>
                        <a:rPr lang="en-US" sz="1600">
                          <a:effectLst/>
                        </a:rPr>
                        <a:t>degrees(math.pi/2) ， </a:t>
                      </a:r>
                      <a:r>
                        <a:rPr lang="zh-CN" altLang="en-US" sz="1600">
                          <a:effectLst/>
                        </a:rPr>
                        <a:t>返回</a:t>
                      </a:r>
                      <a:r>
                        <a:rPr lang="en-US" altLang="zh-CN" sz="1600">
                          <a:effectLst/>
                        </a:rPr>
                        <a:t>90.0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0461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radians(x)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600" dirty="0">
                          <a:effectLst/>
                        </a:rPr>
                        <a:t>将角度转换为弧度</a:t>
                      </a:r>
                    </a:p>
                  </a:txBody>
                  <a:tcPr marL="15396" marR="15396" marT="21554" marB="21554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08402"/>
              </p:ext>
            </p:extLst>
          </p:nvPr>
        </p:nvGraphicFramePr>
        <p:xfrm>
          <a:off x="8096173" y="1764836"/>
          <a:ext cx="3919538" cy="1533528"/>
        </p:xfrm>
        <a:graphic>
          <a:graphicData uri="http://schemas.openxmlformats.org/drawingml/2006/table">
            <a:tbl>
              <a:tblPr/>
              <a:tblGrid>
                <a:gridCol w="974085"/>
                <a:gridCol w="2945453"/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</a:rPr>
                        <a:t>常量</a:t>
                      </a:r>
                    </a:p>
                  </a:txBody>
                  <a:tcPr marL="14288" marR="14288" marT="14288" marB="1428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zh-CN" altLang="en-US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14288" marR="14288" marT="14288" marB="14288">
                    <a:lnL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pi</a:t>
                      </a: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>
                          <a:effectLst/>
                        </a:rPr>
                        <a:t>数学常量 </a:t>
                      </a:r>
                      <a:r>
                        <a:rPr lang="en-US" altLang="zh-CN">
                          <a:effectLst/>
                        </a:rPr>
                        <a:t>pi</a:t>
                      </a:r>
                      <a:r>
                        <a:rPr lang="zh-CN" altLang="en-US">
                          <a:effectLst/>
                        </a:rPr>
                        <a:t>（圆周率，一般以</a:t>
                      </a:r>
                      <a:r>
                        <a:rPr lang="en-US" altLang="zh-CN">
                          <a:effectLst/>
                        </a:rPr>
                        <a:t>π</a:t>
                      </a:r>
                      <a:r>
                        <a:rPr lang="zh-CN" altLang="en-US">
                          <a:effectLst/>
                        </a:rPr>
                        <a:t>来表示）</a:t>
                      </a: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e</a:t>
                      </a: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dirty="0">
                          <a:effectLst/>
                        </a:rPr>
                        <a:t>数学常量 </a:t>
                      </a:r>
                      <a:r>
                        <a:rPr lang="en-US" altLang="zh-CN" dirty="0">
                          <a:effectLst/>
                        </a:rPr>
                        <a:t>e</a:t>
                      </a:r>
                      <a:r>
                        <a:rPr lang="zh-CN" altLang="en-US" dirty="0">
                          <a:effectLst/>
                        </a:rPr>
                        <a:t>，</a:t>
                      </a:r>
                      <a:r>
                        <a:rPr lang="en-US" altLang="zh-CN" dirty="0">
                          <a:effectLst/>
                        </a:rPr>
                        <a:t>e</a:t>
                      </a:r>
                      <a:r>
                        <a:rPr lang="zh-CN" altLang="en-US" dirty="0">
                          <a:effectLst/>
                        </a:rPr>
                        <a:t>即自然常数（自然常数）。</a:t>
                      </a:r>
                    </a:p>
                  </a:txBody>
                  <a:tcPr marL="23813" marR="23813" marT="33338" marB="33338">
                    <a:lnL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21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endParaRPr lang="en-US" altLang="zh-CN" dirty="0" smtClean="0"/>
          </a:p>
          <a:p>
            <a:r>
              <a:rPr lang="zh-CN" altLang="en-US" dirty="0" smtClean="0"/>
              <a:t>字符串</a:t>
            </a:r>
            <a:endParaRPr lang="en-US" altLang="zh-CN" dirty="0" smtClean="0"/>
          </a:p>
          <a:p>
            <a:r>
              <a:rPr lang="zh-CN" altLang="en-US" dirty="0" smtClean="0"/>
              <a:t>数字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注释</a:t>
            </a:r>
          </a:p>
        </p:txBody>
      </p:sp>
    </p:spTree>
    <p:extLst>
      <p:ext uri="{BB962C8B-B14F-4D97-AF65-F5344CB8AC3E}">
        <p14:creationId xmlns:p14="http://schemas.microsoft.com/office/powerpoint/2010/main" val="655561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单行注释：井号（</a:t>
            </a:r>
            <a:r>
              <a:rPr lang="en-US" altLang="zh-CN" dirty="0" smtClean="0"/>
              <a:t># 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多</a:t>
            </a:r>
            <a:r>
              <a:rPr lang="zh-CN" altLang="en-US" dirty="0" smtClean="0"/>
              <a:t>行注释：</a:t>
            </a:r>
            <a:r>
              <a:rPr lang="en-US" altLang="zh-CN" dirty="0" smtClean="0"/>
              <a:t>"""</a:t>
            </a:r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20" y="2813002"/>
            <a:ext cx="8418248" cy="404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3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写一个程序删除一个非空字符串的第</a:t>
            </a:r>
            <a:r>
              <a:rPr lang="en-US" altLang="zh-CN" dirty="0"/>
              <a:t>n</a:t>
            </a:r>
            <a:r>
              <a:rPr lang="zh-CN" altLang="zh-CN" dirty="0"/>
              <a:t>个字符。</a:t>
            </a:r>
          </a:p>
          <a:p>
            <a:r>
              <a:rPr lang="zh-CN" altLang="zh-CN" dirty="0"/>
              <a:t>写一个程序将一个字符串中的所有字符按照词典序排序</a:t>
            </a:r>
          </a:p>
          <a:p>
            <a:r>
              <a:rPr lang="zh-CN" altLang="zh-CN"/>
              <a:t>写一个程序输出操作系统的名称、平台和版本号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601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1940</Words>
  <Application>Microsoft Office PowerPoint</Application>
  <PresentationFormat>宽屏</PresentationFormat>
  <Paragraphs>348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Menlo</vt:lpstr>
      <vt:lpstr>宋体</vt:lpstr>
      <vt:lpstr>Arial</vt:lpstr>
      <vt:lpstr>Calibri</vt:lpstr>
      <vt:lpstr>Calibri Light</vt:lpstr>
      <vt:lpstr>Office 主题</vt:lpstr>
      <vt:lpstr>变量和简单数据类型</vt:lpstr>
      <vt:lpstr>主要内容</vt:lpstr>
      <vt:lpstr>变量</vt:lpstr>
      <vt:lpstr>变量</vt:lpstr>
      <vt:lpstr>变量赋值</vt:lpstr>
      <vt:lpstr>变量赋值</vt:lpstr>
      <vt:lpstr>主要内容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字符串</vt:lpstr>
      <vt:lpstr>主要内容</vt:lpstr>
      <vt:lpstr>数字</vt:lpstr>
      <vt:lpstr>数字</vt:lpstr>
      <vt:lpstr>数字</vt:lpstr>
      <vt:lpstr>数字</vt:lpstr>
      <vt:lpstr>数字</vt:lpstr>
      <vt:lpstr>数字</vt:lpstr>
      <vt:lpstr>数字</vt:lpstr>
      <vt:lpstr>主要内容</vt:lpstr>
      <vt:lpstr>注释</vt:lpstr>
      <vt:lpstr>作业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变量和简单数据类型</dc:title>
  <dc:creator>cao dong lin</dc:creator>
  <cp:lastModifiedBy>dong lin cao</cp:lastModifiedBy>
  <cp:revision>36</cp:revision>
  <dcterms:created xsi:type="dcterms:W3CDTF">2020-06-20T20:05:43Z</dcterms:created>
  <dcterms:modified xsi:type="dcterms:W3CDTF">2021-03-10T12:12:14Z</dcterms:modified>
</cp:coreProperties>
</file>