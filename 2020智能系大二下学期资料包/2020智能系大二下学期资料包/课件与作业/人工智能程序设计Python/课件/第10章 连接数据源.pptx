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400" r:id="rId1"/>
  </p:sldMasterIdLst>
  <p:notesMasterIdLst>
    <p:notesMasterId r:id="rId29"/>
  </p:notesMasterIdLst>
  <p:handoutMasterIdLst>
    <p:handoutMasterId r:id="rId30"/>
  </p:handoutMasterIdLst>
  <p:sldIdLst>
    <p:sldId id="1052" r:id="rId2"/>
    <p:sldId id="1053" r:id="rId3"/>
    <p:sldId id="1054" r:id="rId4"/>
    <p:sldId id="1055" r:id="rId5"/>
    <p:sldId id="1056" r:id="rId6"/>
    <p:sldId id="1057" r:id="rId7"/>
    <p:sldId id="1058" r:id="rId8"/>
    <p:sldId id="1059" r:id="rId9"/>
    <p:sldId id="1060" r:id="rId10"/>
    <p:sldId id="1061" r:id="rId11"/>
    <p:sldId id="1062" r:id="rId12"/>
    <p:sldId id="1063" r:id="rId13"/>
    <p:sldId id="1064" r:id="rId14"/>
    <p:sldId id="1065" r:id="rId15"/>
    <p:sldId id="1066" r:id="rId16"/>
    <p:sldId id="1067" r:id="rId17"/>
    <p:sldId id="1068" r:id="rId18"/>
    <p:sldId id="1069" r:id="rId19"/>
    <p:sldId id="1070" r:id="rId20"/>
    <p:sldId id="1071" r:id="rId21"/>
    <p:sldId id="1072" r:id="rId22"/>
    <p:sldId id="1073" r:id="rId23"/>
    <p:sldId id="1074" r:id="rId24"/>
    <p:sldId id="1075" r:id="rId25"/>
    <p:sldId id="1076" r:id="rId26"/>
    <p:sldId id="1077" r:id="rId27"/>
    <p:sldId id="1078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29" userDrawn="1">
          <p15:clr>
            <a:srgbClr val="A4A3A4"/>
          </p15:clr>
        </p15:guide>
        <p15:guide id="2" orient="horz" pos="1526" userDrawn="1">
          <p15:clr>
            <a:srgbClr val="A4A3A4"/>
          </p15:clr>
        </p15:guide>
        <p15:guide id="3" orient="horz" pos="744" userDrawn="1">
          <p15:clr>
            <a:srgbClr val="A4A3A4"/>
          </p15:clr>
        </p15:guide>
        <p15:guide id="4" pos="2545" userDrawn="1">
          <p15:clr>
            <a:srgbClr val="A4A3A4"/>
          </p15:clr>
        </p15:guide>
        <p15:guide id="5" pos="233" userDrawn="1">
          <p15:clr>
            <a:srgbClr val="A4A3A4"/>
          </p15:clr>
        </p15:guide>
        <p15:guide id="6" pos="7325" userDrawn="1">
          <p15:clr>
            <a:srgbClr val="A4A3A4"/>
          </p15:clr>
        </p15:guide>
        <p15:guide id="7" pos="17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6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an how" initials="ch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003399"/>
    <a:srgbClr val="000099"/>
    <a:srgbClr val="0033CC"/>
    <a:srgbClr val="3D89BC"/>
    <a:srgbClr val="008EC0"/>
    <a:srgbClr val="0099FF"/>
    <a:srgbClr val="33CCFF"/>
    <a:srgbClr val="E6E6E6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60" autoAdjust="0"/>
    <p:restoredTop sz="83406" autoAdjust="0"/>
  </p:normalViewPr>
  <p:slideViewPr>
    <p:cSldViewPr snapToGrid="0" showGuides="1">
      <p:cViewPr varScale="1">
        <p:scale>
          <a:sx n="83" d="100"/>
          <a:sy n="83" d="100"/>
        </p:scale>
        <p:origin x="1152" y="64"/>
      </p:cViewPr>
      <p:guideLst>
        <p:guide orient="horz" pos="4029"/>
        <p:guide orient="horz" pos="1526"/>
        <p:guide orient="horz" pos="744"/>
        <p:guide pos="2545"/>
        <p:guide pos="233"/>
        <p:guide pos="7325"/>
        <p:guide pos="17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7870"/>
    </p:cViewPr>
  </p:sorterViewPr>
  <p:notesViewPr>
    <p:cSldViewPr snapToGrid="0" showGuides="1">
      <p:cViewPr varScale="1">
        <p:scale>
          <a:sx n="76" d="100"/>
          <a:sy n="76" d="100"/>
        </p:scale>
        <p:origin x="3364" y="64"/>
      </p:cViewPr>
      <p:guideLst>
        <p:guide orient="horz" pos="2886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DE7DF6-C895-4E53-B71A-F20B4CC8237B}" type="datetimeFigureOut">
              <a:rPr lang="zh-CN" altLang="en-US" smtClean="0">
                <a:ea typeface="微软雅黑" panose="020B0503020204020204" pitchFamily="34" charset="-122"/>
              </a:rPr>
              <a:t>2021-6-1</a:t>
            </a:fld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44FD6-F94A-461E-99AC-D29D4ACC8083}" type="slidenum">
              <a:rPr lang="zh-CN" altLang="en-US" smtClean="0">
                <a:ea typeface="微软雅黑" panose="020B0503020204020204" pitchFamily="34" charset="-122"/>
              </a:rPr>
              <a:t>‹#›</a:t>
            </a:fld>
            <a:endParaRPr lang="zh-CN" altLang="en-US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2137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422EFC78-32FE-4758-B504-92B4D0B9F0AA}" type="datetimeFigureOut">
              <a:rPr lang="zh-CN" altLang="en-US" smtClean="0"/>
              <a:t>2021-6-1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84C1B800-BCBD-4262-B579-5F77D9EE25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78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姓名</a:t>
            </a:r>
            <a:r>
              <a:rPr lang="en-US" altLang="zh-CN" dirty="0" smtClean="0"/>
              <a:t>,</a:t>
            </a:r>
            <a:r>
              <a:rPr lang="zh-CN" altLang="en-US" dirty="0" smtClean="0"/>
              <a:t>课程</a:t>
            </a:r>
            <a:r>
              <a:rPr lang="en-US" altLang="zh-CN" dirty="0" smtClean="0"/>
              <a:t>,</a:t>
            </a:r>
            <a:r>
              <a:rPr lang="zh-CN" altLang="en-US" dirty="0" smtClean="0"/>
              <a:t>有效问卷数</a:t>
            </a:r>
            <a:r>
              <a:rPr lang="en-US" altLang="zh-CN" dirty="0" smtClean="0"/>
              <a:t>,</a:t>
            </a:r>
            <a:r>
              <a:rPr lang="zh-CN" altLang="en-US" dirty="0" smtClean="0"/>
              <a:t>参评总人数</a:t>
            </a:r>
            <a:r>
              <a:rPr lang="en-US" altLang="zh-CN" dirty="0" smtClean="0"/>
              <a:t>,</a:t>
            </a:r>
            <a:r>
              <a:rPr lang="zh-CN" altLang="en-US" dirty="0" smtClean="0"/>
              <a:t>总平均得分</a:t>
            </a:r>
          </a:p>
          <a:p>
            <a:r>
              <a:rPr lang="zh-CN" altLang="en-US" dirty="0" smtClean="0"/>
              <a:t>张三</a:t>
            </a:r>
            <a:r>
              <a:rPr lang="en-US" altLang="zh-CN" dirty="0" smtClean="0"/>
              <a:t>,C</a:t>
            </a:r>
            <a:r>
              <a:rPr lang="zh-CN" altLang="en-US" dirty="0" smtClean="0"/>
              <a:t>程序设计</a:t>
            </a:r>
            <a:r>
              <a:rPr lang="en-US" altLang="zh-CN" dirty="0" smtClean="0"/>
              <a:t>,95,100,80</a:t>
            </a:r>
          </a:p>
          <a:p>
            <a:r>
              <a:rPr lang="zh-CN" altLang="en-US" dirty="0" smtClean="0"/>
              <a:t>李四</a:t>
            </a:r>
            <a:r>
              <a:rPr lang="en-US" altLang="zh-CN" dirty="0" smtClean="0"/>
              <a:t>,python</a:t>
            </a:r>
            <a:r>
              <a:rPr lang="zh-CN" altLang="en-US" dirty="0" smtClean="0"/>
              <a:t>程序设计</a:t>
            </a:r>
            <a:r>
              <a:rPr lang="en-US" altLang="zh-CN" dirty="0" smtClean="0"/>
              <a:t>,90,100,90</a:t>
            </a:r>
          </a:p>
          <a:p>
            <a:r>
              <a:rPr lang="zh-CN" altLang="en-US" dirty="0" smtClean="0"/>
              <a:t>王五</a:t>
            </a:r>
            <a:r>
              <a:rPr lang="en-US" altLang="zh-CN" dirty="0" smtClean="0"/>
              <a:t>,</a:t>
            </a:r>
            <a:r>
              <a:rPr lang="zh-CN" altLang="en-US" dirty="0" smtClean="0"/>
              <a:t>人工智能</a:t>
            </a:r>
            <a:r>
              <a:rPr lang="en-US" altLang="zh-CN" dirty="0" smtClean="0"/>
              <a:t>,80,100,90</a:t>
            </a:r>
          </a:p>
          <a:p>
            <a:r>
              <a:rPr lang="zh-CN" altLang="en-US" dirty="0" smtClean="0"/>
              <a:t>赵六</a:t>
            </a:r>
            <a:r>
              <a:rPr lang="en-US" altLang="zh-CN" dirty="0" smtClean="0"/>
              <a:t>,</a:t>
            </a:r>
            <a:r>
              <a:rPr lang="zh-CN" altLang="en-US" dirty="0" smtClean="0"/>
              <a:t>机器学习</a:t>
            </a:r>
            <a:r>
              <a:rPr lang="en-US" altLang="zh-CN" dirty="0" smtClean="0"/>
              <a:t>,100,100,80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2465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902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6713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826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063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044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3976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7713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1830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3569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5565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8255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8336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1732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7842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8458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8685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C1B800-BCBD-4262-B579-5F77D9EE255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4529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E47F8-9015-4F74-900D-75EEB8A347F0}" type="datetimeFigureOut">
              <a:rPr lang="zh-CN" altLang="en-US" smtClean="0"/>
              <a:t>2021-6-1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068537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E47F8-9015-4F74-900D-75EEB8A347F0}" type="datetimeFigureOut">
              <a:rPr lang="zh-CN" altLang="en-US" smtClean="0"/>
              <a:t>2021-6-1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87352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0C97-7BB3-4135-9B80-431FBE47C477}" type="datetimeFigureOut">
              <a:rPr lang="zh-CN" altLang="en-US" smtClean="0"/>
              <a:t>2021-6-1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64B1-E8CF-4791-82A9-83FD898A3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42127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0C97-7BB3-4135-9B80-431FBE47C477}" type="datetimeFigureOut">
              <a:rPr lang="zh-CN" altLang="en-US" smtClean="0"/>
              <a:t>2021-6-1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64B1-E8CF-4791-82A9-83FD898A3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610183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0C97-7BB3-4135-9B80-431FBE47C477}" type="datetimeFigureOut">
              <a:rPr lang="zh-CN" altLang="en-US" smtClean="0"/>
              <a:t>2021-6-1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64B1-E8CF-4791-82A9-83FD898A3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99633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0C97-7BB3-4135-9B80-431FBE47C477}" type="datetimeFigureOut">
              <a:rPr lang="zh-CN" altLang="en-US" smtClean="0"/>
              <a:t>2021-6-1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64B1-E8CF-4791-82A9-83FD898A3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47756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0C97-7BB3-4135-9B80-431FBE47C477}" type="datetimeFigureOut">
              <a:rPr lang="zh-CN" altLang="en-US" smtClean="0"/>
              <a:t>2021-6-1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64B1-E8CF-4791-82A9-83FD898A3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965513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0C97-7BB3-4135-9B80-431FBE47C477}" type="datetimeFigureOut">
              <a:rPr lang="zh-CN" altLang="en-US" smtClean="0"/>
              <a:t>2021-6-1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64B1-E8CF-4791-82A9-83FD898A3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407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0C97-7BB3-4135-9B80-431FBE47C477}" type="datetimeFigureOut">
              <a:rPr lang="zh-CN" altLang="en-US" smtClean="0"/>
              <a:t>2021-6-1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64B1-E8CF-4791-82A9-83FD898A3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01072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0C97-7BB3-4135-9B80-431FBE47C477}" type="datetimeFigureOut">
              <a:rPr lang="zh-CN" altLang="en-US" smtClean="0"/>
              <a:t>2021-6-1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64B1-E8CF-4791-82A9-83FD898A3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27451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0C97-7BB3-4135-9B80-431FBE47C477}" type="datetimeFigureOut">
              <a:rPr lang="zh-CN" altLang="en-US" smtClean="0"/>
              <a:t>2021-6-1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064B1-E8CF-4791-82A9-83FD898A3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41364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40C97-7BB3-4135-9B80-431FBE47C477}" type="datetimeFigureOut">
              <a:rPr lang="zh-CN" altLang="en-US" smtClean="0"/>
              <a:t>2021-6-1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064B1-E8CF-4791-82A9-83FD898A342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274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01" r:id="rId1"/>
    <p:sldLayoutId id="2147484402" r:id="rId2"/>
    <p:sldLayoutId id="2147484403" r:id="rId3"/>
    <p:sldLayoutId id="2147484404" r:id="rId4"/>
    <p:sldLayoutId id="2147484405" r:id="rId5"/>
    <p:sldLayoutId id="2147484406" r:id="rId6"/>
    <p:sldLayoutId id="2147484407" r:id="rId7"/>
    <p:sldLayoutId id="2147484408" r:id="rId8"/>
    <p:sldLayoutId id="2147484409" r:id="rId9"/>
    <p:sldLayoutId id="2147484410" r:id="rId10"/>
    <p:sldLayoutId id="214748441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连接数据源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7500"/>
          </a:bodyPr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611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导入</a:t>
            </a:r>
            <a:r>
              <a:rPr lang="en-US" altLang="zh-CN" dirty="0">
                <a:solidFill>
                  <a:srgbClr val="FF0000"/>
                </a:solidFill>
              </a:rPr>
              <a:t>CSV</a:t>
            </a:r>
            <a:r>
              <a:rPr lang="zh-CN" altLang="en-US" dirty="0" smtClean="0">
                <a:solidFill>
                  <a:srgbClr val="FF0000"/>
                </a:solidFill>
              </a:rPr>
              <a:t>数据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/>
              <a:t>导入</a:t>
            </a:r>
            <a:r>
              <a:rPr lang="en-US" altLang="zh-CN" dirty="0"/>
              <a:t>Excel</a:t>
            </a:r>
            <a:r>
              <a:rPr lang="zh-CN" altLang="en-US" dirty="0"/>
              <a:t>数据</a:t>
            </a:r>
          </a:p>
          <a:p>
            <a:r>
              <a:rPr lang="zh-CN" altLang="en-US" dirty="0"/>
              <a:t>导入</a:t>
            </a:r>
            <a:r>
              <a:rPr lang="en-US" altLang="zh-CN" dirty="0"/>
              <a:t>JSON</a:t>
            </a:r>
            <a:r>
              <a:rPr lang="zh-CN" altLang="en-US" smtClean="0"/>
              <a:t>数据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93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/>
              <a:t>CSV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CSV</a:t>
            </a:r>
            <a:r>
              <a:rPr lang="zh-CN" altLang="en-US" dirty="0"/>
              <a:t>数据的格式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94149" y="2319434"/>
            <a:ext cx="101196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CSV（Comma-Separated Values）是一种通用的、相对简单的文本文件格式，被用户、商业和科学广泛应用。CSV文件由多条记录组成，每条记录都有相同的字段序列构成，字段之间通常用逗号、分号等分隔符将数据隔开。CSV文件可以采用记事本打开或Excel软件打开，默认用Excel软件打开。CSV通常用于在电子表格软件和纯文本之间交换数据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Excel文件转换为CSV文件的方法：另存为CSV（逗号分割）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文件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174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/>
              <a:t>CSV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读取</a:t>
            </a:r>
            <a:r>
              <a:rPr lang="en-US" altLang="zh-CN" dirty="0"/>
              <a:t>CSV</a:t>
            </a:r>
            <a:r>
              <a:rPr lang="zh-CN" altLang="en-US" dirty="0"/>
              <a:t>文件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44530" y="2321310"/>
            <a:ext cx="10126744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1.由于csv文件严格上是一个文本文件，所以可以采用普通文本文件的方式进行操作。 csv文件可以采用不同的编码格式进行存储。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2.python还提供了3种方式处理CSV文件：csv文件包，pandas包和Tensorflow包。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 import  csv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4.import  pandas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5.import Tensorflow</a:t>
            </a:r>
          </a:p>
        </p:txBody>
      </p:sp>
    </p:spTree>
    <p:extLst>
      <p:ext uri="{BB962C8B-B14F-4D97-AF65-F5344CB8AC3E}">
        <p14:creationId xmlns:p14="http://schemas.microsoft.com/office/powerpoint/2010/main" val="1220493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/>
              <a:t>CSV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读取</a:t>
            </a:r>
            <a:r>
              <a:rPr lang="en-US" altLang="zh-CN" dirty="0"/>
              <a:t>CSV</a:t>
            </a:r>
            <a:r>
              <a:rPr lang="zh-CN" altLang="en-US" dirty="0"/>
              <a:t>文件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41162" y="2251869"/>
            <a:ext cx="10165553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1.pandas（Python Data Analysis Library）是基于NumPy的一种工具，是python的一个数据分析包。pandas提供了大量能使我们快速便捷地处理数据的函数和方法，因此，它是使Python成为强大而高效的数据分析环境的重要因素之一。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2. pandas中主要有两种数据结构，分别是：Series和DataFrame。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3.Series：一种类似于一维数组的对象，是由一组数据(各种NumPy数据类型)以及一组与之相关的数据标签(即索引)组成；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4.DataFrame：类似于数据库表结构的数据结构，其含有行索引和列索引。</a:t>
            </a:r>
          </a:p>
        </p:txBody>
      </p:sp>
    </p:spTree>
    <p:extLst>
      <p:ext uri="{BB962C8B-B14F-4D97-AF65-F5344CB8AC3E}">
        <p14:creationId xmlns:p14="http://schemas.microsoft.com/office/powerpoint/2010/main" val="2993173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/>
              <a:t>CSV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读取</a:t>
            </a:r>
            <a:r>
              <a:rPr lang="en-US" altLang="zh-CN" dirty="0"/>
              <a:t>CSV</a:t>
            </a:r>
            <a:r>
              <a:rPr lang="zh-CN" altLang="en-US" dirty="0" smtClean="0"/>
              <a:t>文件</a:t>
            </a:r>
            <a:endParaRPr lang="en-US" altLang="zh-CN" dirty="0" smtClean="0"/>
          </a:p>
          <a:p>
            <a:pPr lvl="1"/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Pandas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包导入数据函数：返回的是</a:t>
            </a:r>
            <a:r>
              <a:rPr lang="en-US" altLang="zh-CN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dataframe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38112" y="2639800"/>
            <a:ext cx="792000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pandas.read_csv()：从CSV文件导入数据，默认数据编码格式为UTF-8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pandas.read_table()：从限定分隔符的文本文件导入数据，分隔符默认为’,’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pandas.read_excel()：从Excel文件导入数据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pandas.read_sql()：从SQL表/库导入数据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pandas.read_json()：从JSON格式的字符串导入数据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pandas.read_html()：解析URL、字符串或者HTML文件，抽取其中的tables表格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pandas.read_clipboard()：从你的粘贴板获取内容，并传给read_table()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pandas.DataFrame()：从字典对象导入数据，Key是列名，Value是数据</a:t>
            </a:r>
          </a:p>
        </p:txBody>
      </p:sp>
    </p:spTree>
    <p:extLst>
      <p:ext uri="{BB962C8B-B14F-4D97-AF65-F5344CB8AC3E}">
        <p14:creationId xmlns:p14="http://schemas.microsoft.com/office/powerpoint/2010/main" val="1579331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/>
              <a:t>CSV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读取</a:t>
            </a:r>
            <a:r>
              <a:rPr lang="en-US" altLang="zh-CN" dirty="0"/>
              <a:t>CSV</a:t>
            </a:r>
            <a:r>
              <a:rPr lang="zh-CN" altLang="en-US" dirty="0" smtClean="0"/>
              <a:t>文件</a:t>
            </a:r>
            <a:endParaRPr lang="en-US" altLang="zh-CN" dirty="0" smtClean="0"/>
          </a:p>
          <a:p>
            <a:pPr lvl="1"/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Pandas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包导出数据函数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455656" y="2660089"/>
            <a:ext cx="79200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df.to_csv()：导出数据到CSV文件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df.to_excel()：导出数据到Excel文件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df.to_sql()：导出数据到SQL表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df.to_json()：以Json格式导出数据到文本文件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254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/>
              <a:t>CSV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读取</a:t>
            </a:r>
            <a:r>
              <a:rPr lang="en-US" altLang="zh-CN" dirty="0"/>
              <a:t>CSV</a:t>
            </a:r>
            <a:r>
              <a:rPr lang="zh-CN" altLang="en-US" dirty="0" smtClean="0"/>
              <a:t>文件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38200" y="2103755"/>
            <a:ext cx="8640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45000"/>
            </a:pPr>
            <a:r>
              <a:rPr lang="zh-CN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 从</a:t>
            </a:r>
            <a:r>
              <a:rPr lang="en-US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CSV</a:t>
            </a:r>
            <a:r>
              <a:rPr lang="zh-CN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文件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中读取数据并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计算所有教师的总平均分</a:t>
            </a:r>
            <a:endParaRPr lang="zh-CN" altLang="zh-CN" sz="1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98166" y="2458085"/>
            <a:ext cx="79200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 csv</a:t>
            </a: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filein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open('d:\\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teacher.csv','r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csv.reader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(in)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把每一行数据转化成了一个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list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list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中每个元素是一个字符串</a:t>
            </a: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csv_read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csv.reader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filein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  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list1=list(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csv_read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将数据按照总评分排序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list1=sorted(list1, key=lambda s: (s[4]), reverse=True)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print(list1)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统计总人数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+1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count=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(list1)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存储总评分数据</a:t>
            </a: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zongpingjun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=[]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record in list1[1:]: 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第一项为字典名</a:t>
            </a: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zongpingjun.append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(float(record[4]))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zongpingjun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print('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所有教师的总平均分为：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',sum(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zongpingjun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)/(count-1))</a:t>
            </a:r>
          </a:p>
          <a:p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filein.close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240" y="4568677"/>
            <a:ext cx="7313760" cy="10096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160305" y="2334587"/>
            <a:ext cx="49557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姓名</a:t>
            </a:r>
            <a:r>
              <a:rPr lang="en-US" altLang="zh-CN" dirty="0"/>
              <a:t>,</a:t>
            </a:r>
            <a:r>
              <a:rPr lang="zh-CN" altLang="en-US" dirty="0"/>
              <a:t>课程</a:t>
            </a:r>
            <a:r>
              <a:rPr lang="en-US" altLang="zh-CN" dirty="0"/>
              <a:t>,</a:t>
            </a:r>
            <a:r>
              <a:rPr lang="zh-CN" altLang="en-US" dirty="0"/>
              <a:t>有效问卷数</a:t>
            </a:r>
            <a:r>
              <a:rPr lang="en-US" altLang="zh-CN" dirty="0"/>
              <a:t>,</a:t>
            </a:r>
            <a:r>
              <a:rPr lang="zh-CN" altLang="en-US" dirty="0"/>
              <a:t>参评总人数</a:t>
            </a:r>
            <a:r>
              <a:rPr lang="en-US" altLang="zh-CN" dirty="0"/>
              <a:t>,</a:t>
            </a:r>
            <a:r>
              <a:rPr lang="zh-CN" altLang="en-US" dirty="0"/>
              <a:t>总平均得分</a:t>
            </a:r>
          </a:p>
          <a:p>
            <a:r>
              <a:rPr lang="zh-CN" altLang="en-US" dirty="0"/>
              <a:t>张三</a:t>
            </a:r>
            <a:r>
              <a:rPr lang="en-US" altLang="zh-CN" dirty="0"/>
              <a:t>,C</a:t>
            </a:r>
            <a:r>
              <a:rPr lang="zh-CN" altLang="en-US" dirty="0"/>
              <a:t>程序设计</a:t>
            </a:r>
            <a:r>
              <a:rPr lang="en-US" altLang="zh-CN" dirty="0"/>
              <a:t>,95,100,80</a:t>
            </a:r>
          </a:p>
          <a:p>
            <a:r>
              <a:rPr lang="zh-CN" altLang="en-US" dirty="0"/>
              <a:t>李四</a:t>
            </a:r>
            <a:r>
              <a:rPr lang="en-US" altLang="zh-CN" dirty="0"/>
              <a:t>,python</a:t>
            </a:r>
            <a:r>
              <a:rPr lang="zh-CN" altLang="en-US" dirty="0"/>
              <a:t>程序设计</a:t>
            </a:r>
            <a:r>
              <a:rPr lang="en-US" altLang="zh-CN" dirty="0"/>
              <a:t>,90,100,90</a:t>
            </a:r>
          </a:p>
          <a:p>
            <a:r>
              <a:rPr lang="zh-CN" altLang="en-US" dirty="0"/>
              <a:t>王五</a:t>
            </a:r>
            <a:r>
              <a:rPr lang="en-US" altLang="zh-CN" dirty="0"/>
              <a:t>,</a:t>
            </a:r>
            <a:r>
              <a:rPr lang="zh-CN" altLang="en-US" dirty="0"/>
              <a:t>人工智能</a:t>
            </a:r>
            <a:r>
              <a:rPr lang="en-US" altLang="zh-CN" dirty="0"/>
              <a:t>,80,100,90</a:t>
            </a:r>
          </a:p>
          <a:p>
            <a:r>
              <a:rPr lang="zh-CN" altLang="en-US" dirty="0"/>
              <a:t>赵六</a:t>
            </a:r>
            <a:r>
              <a:rPr lang="en-US" altLang="zh-CN" dirty="0"/>
              <a:t>,</a:t>
            </a:r>
            <a:r>
              <a:rPr lang="zh-CN" altLang="en-US" dirty="0"/>
              <a:t>机器学习</a:t>
            </a:r>
            <a:r>
              <a:rPr lang="en-US" altLang="zh-CN" dirty="0"/>
              <a:t>,100,100,80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2656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/>
              <a:t>CSV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写</a:t>
            </a:r>
            <a:r>
              <a:rPr lang="en-US" altLang="zh-CN" dirty="0" smtClean="0"/>
              <a:t>CSV</a:t>
            </a:r>
            <a:r>
              <a:rPr lang="zh-CN" altLang="en-US" dirty="0" smtClean="0"/>
              <a:t>文件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908036" y="2151500"/>
            <a:ext cx="8640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45000"/>
            </a:pPr>
            <a:r>
              <a:rPr lang="zh-CN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利用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csv.writer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函数</a:t>
            </a:r>
            <a:r>
              <a:rPr lang="zh-CN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向</a:t>
            </a:r>
            <a:r>
              <a:rPr lang="en-US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CSV</a:t>
            </a:r>
            <a:r>
              <a:rPr lang="zh-CN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文件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中添加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条记录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001519" y="2472026"/>
            <a:ext cx="7920000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csv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pingjia1 = ['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旺旺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','python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语言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',90,98,95.66]    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定义新的评价记录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pingjia2 = ['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嗨嗨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','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数据库技术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',74,76,97.55]    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定义新的评价记录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#a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表示追加方式写入文件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fileout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open('d:\\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teacher.csv','a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 newline='')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#dialect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就是定义一下文件的类型，定义为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excel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类型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csv_write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csv.writer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fileout,dialect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='excel')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csv_write.writerow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(pingjia1)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csv_write.writerow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(pingjia2)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fileout.close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 ("write over")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982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/>
              <a:t>CSV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/>
              <a:t>写</a:t>
            </a:r>
            <a:r>
              <a:rPr lang="en-US" altLang="zh-CN" dirty="0" smtClean="0"/>
              <a:t>CSV</a:t>
            </a:r>
            <a:r>
              <a:rPr lang="zh-CN" altLang="en-US" dirty="0" smtClean="0"/>
              <a:t>文件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38200" y="2115482"/>
            <a:ext cx="79200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利用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pandas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读取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CSV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数据，并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计算所有教师的总平均分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94237" y="2656013"/>
            <a:ext cx="823531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pandas as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pd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#head=0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表示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CSV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文件第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行为列索引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#names=list('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abcde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表示给列设置列标题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若同时存在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head=0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，则表示在程序中可以用新标题代替原来的标题使用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pd.read_csv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('d:\\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teacher.csv',header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=0,names=list('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abcde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'),encoding='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gbk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  #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读取训练数据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len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['e'].mean())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642" y="1027906"/>
            <a:ext cx="488632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665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/>
              <a:t>CSV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/>
              <a:t>写</a:t>
            </a:r>
            <a:r>
              <a:rPr lang="en-US" altLang="zh-CN" dirty="0" smtClean="0"/>
              <a:t>CSV</a:t>
            </a:r>
            <a:r>
              <a:rPr lang="zh-CN" altLang="en-US" dirty="0" smtClean="0"/>
              <a:t>文件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38200" y="2207419"/>
            <a:ext cx="86400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利用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df.to_csv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函数</a:t>
            </a:r>
            <a:r>
              <a:rPr lang="zh-CN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向文件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中添加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条记录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98376" y="2527300"/>
            <a:ext cx="792000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pandas as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pd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pingjia1 = ['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xxx','C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语言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',90,98,95.66] 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定义新的评价记录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pingjia2 = ['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yyy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','JAVA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开发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',74,76,97.55] 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定义新的评价记录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pd.DataFrame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([pingjia1,pingjia2],columns=['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教师姓名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','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课程名称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','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有效问卷数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','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参评总人数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','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总平均得分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'])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#mode='a',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表示追加方式操作文件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#index=0,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表示不保存行索引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#header=0,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表示不保存列标题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df.to_csv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('d:\\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teacher.csv',mode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='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a',index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=0,header=0,encoding='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gbk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032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/>
              <a:t>CSV</a:t>
            </a:r>
            <a:r>
              <a:rPr lang="zh-CN" altLang="en-US" dirty="0" smtClean="0"/>
              <a:t>数据</a:t>
            </a:r>
            <a:endParaRPr lang="en-US" altLang="zh-CN" dirty="0" smtClean="0"/>
          </a:p>
          <a:p>
            <a:r>
              <a:rPr lang="zh-CN" altLang="en-US" dirty="0">
                <a:solidFill>
                  <a:srgbClr val="FF0000"/>
                </a:solidFill>
              </a:rPr>
              <a:t>导入</a:t>
            </a:r>
            <a:r>
              <a:rPr lang="en-US" altLang="zh-CN" dirty="0">
                <a:solidFill>
                  <a:srgbClr val="FF0000"/>
                </a:solidFill>
              </a:rPr>
              <a:t>Excel</a:t>
            </a:r>
            <a:r>
              <a:rPr lang="zh-CN" altLang="en-US" dirty="0">
                <a:solidFill>
                  <a:srgbClr val="FF0000"/>
                </a:solidFill>
              </a:rPr>
              <a:t>数据</a:t>
            </a:r>
          </a:p>
          <a:p>
            <a:r>
              <a:rPr lang="zh-CN" altLang="en-US" dirty="0"/>
              <a:t>导入</a:t>
            </a:r>
            <a:r>
              <a:rPr lang="en-US" altLang="zh-CN" dirty="0"/>
              <a:t>JSON</a:t>
            </a:r>
            <a:r>
              <a:rPr lang="zh-CN" altLang="en-US" dirty="0" smtClean="0"/>
              <a:t>数据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752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</a:t>
            </a:r>
            <a:r>
              <a:rPr lang="zh-CN" altLang="en-US" dirty="0" smtClean="0"/>
              <a:t>入</a:t>
            </a:r>
            <a:r>
              <a:rPr lang="en-US" altLang="zh-CN" dirty="0"/>
              <a:t>Excel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 smtClean="0"/>
              <a:t>读取</a:t>
            </a:r>
            <a:r>
              <a:rPr lang="en-US" altLang="zh-CN" dirty="0" smtClean="0"/>
              <a:t>Excel</a:t>
            </a:r>
            <a:r>
              <a:rPr lang="zh-CN" altLang="en-US" dirty="0" smtClean="0"/>
              <a:t>文件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82682" y="2156405"/>
            <a:ext cx="79200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利用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xlrd</a:t>
            </a:r>
            <a:r>
              <a:rPr lang="zh-CN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读取</a:t>
            </a:r>
            <a:r>
              <a:rPr lang="en-US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teacher.xls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文件的内容并显示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38200" y="2474905"/>
            <a:ext cx="7920000" cy="36137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xlrd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读取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excel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文件包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FILENAME = "d:\\teacher.xls"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workbook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xlrd.open_workbook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(FILENAME)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sheet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workbook.sheets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()[0]   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获取第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张表</a:t>
            </a: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RowNum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sheet.nrows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ColNum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sheet.ncols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 range(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RowNum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rowData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sheet.row_values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 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返回列表对象，每一项为该行每一列的内容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item in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rowData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        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遍历该行数据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item,end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=' ')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print('')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0" y="1870075"/>
            <a:ext cx="419100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829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</a:t>
            </a:r>
            <a:r>
              <a:rPr lang="zh-CN" altLang="en-US" dirty="0" smtClean="0"/>
              <a:t>入</a:t>
            </a:r>
            <a:r>
              <a:rPr lang="en-US" altLang="zh-CN" dirty="0"/>
              <a:t>Excel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写</a:t>
            </a:r>
            <a:r>
              <a:rPr lang="en-US" altLang="zh-CN" dirty="0" smtClean="0"/>
              <a:t>Excel</a:t>
            </a:r>
            <a:r>
              <a:rPr lang="zh-CN" altLang="en-US" dirty="0" smtClean="0"/>
              <a:t>文件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838199" y="2248801"/>
            <a:ext cx="104323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【例】计算</a:t>
            </a:r>
            <a:r>
              <a:rPr lang="en-US" altLang="zh-CN" sz="16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xls</a:t>
            </a: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文件</a:t>
            </a:r>
            <a:r>
              <a:rPr lang="zh-CN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的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总有效评教人数和总评教分</a:t>
            </a:r>
            <a:r>
              <a:rPr lang="zh-CN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，并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将数据</a:t>
            </a:r>
            <a:r>
              <a:rPr lang="zh-CN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写入</a:t>
            </a:r>
            <a:r>
              <a:rPr lang="en-US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result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文件中。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31117" y="2770531"/>
            <a:ext cx="7920000" cy="3711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xlrd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xlwt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FILENAME = "d:\\teacher.xls"</a:t>
            </a:r>
          </a:p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workbook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xlrd.open_workbook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(FILENAME)</a:t>
            </a:r>
          </a:p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sheet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workbook.sheets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()[0]   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获取第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张表</a:t>
            </a:r>
          </a:p>
          <a:p>
            <a:pPr>
              <a:lnSpc>
                <a:spcPct val="14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RowNum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sheet.nrows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sumyxrenshu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=0</a:t>
            </a:r>
          </a:p>
          <a:p>
            <a:pPr>
              <a:lnSpc>
                <a:spcPct val="14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sumzongfen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=0</a:t>
            </a:r>
          </a:p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in range(1,RowNum):</a:t>
            </a:r>
          </a:p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rowData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sheet.row_values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返回列表对象，每一项为该行每一列的内容</a:t>
            </a:r>
          </a:p>
          <a:p>
            <a:pPr>
              <a:lnSpc>
                <a:spcPct val="14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sumyxrenshu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sumyxrenshu+int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rowData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[2])</a:t>
            </a:r>
          </a:p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sumzongfen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sumzongfen+float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rowData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[4])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634456"/>
            <a:ext cx="419100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839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</a:t>
            </a:r>
            <a:r>
              <a:rPr lang="zh-CN" altLang="en-US" dirty="0" smtClean="0"/>
              <a:t>入</a:t>
            </a:r>
            <a:r>
              <a:rPr lang="en-US" altLang="zh-CN" dirty="0"/>
              <a:t>Excel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写</a:t>
            </a:r>
            <a:r>
              <a:rPr lang="en-US" altLang="zh-CN" dirty="0" smtClean="0"/>
              <a:t>Excel</a:t>
            </a:r>
            <a:r>
              <a:rPr lang="zh-CN" altLang="en-US" dirty="0" smtClean="0"/>
              <a:t>文件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31117" y="2770531"/>
            <a:ext cx="7920000" cy="3382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sumyxrenshu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,'  ',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sumzongfen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4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writeWorkbook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xlwt.Workbook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</a:p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添加一个新表，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name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Average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，允许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overwrite</a:t>
            </a:r>
          </a:p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table =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writeWorkbook.add_sheet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('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tongji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cell_overwrite_ok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True)</a:t>
            </a:r>
          </a:p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按照坐标写数据</a:t>
            </a:r>
          </a:p>
          <a:p>
            <a:pPr>
              <a:lnSpc>
                <a:spcPct val="14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table.write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(0,0,"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有效问卷总数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")</a:t>
            </a:r>
          </a:p>
          <a:p>
            <a:pPr>
              <a:lnSpc>
                <a:spcPct val="14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table.write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(0,1,"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评教总分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")</a:t>
            </a:r>
          </a:p>
          <a:p>
            <a:pPr>
              <a:lnSpc>
                <a:spcPct val="14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table.write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(1,0,sumyxrenshu)</a:t>
            </a:r>
          </a:p>
          <a:p>
            <a:pPr>
              <a:lnSpc>
                <a:spcPct val="14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table.write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(1,1,sumzongfen)</a:t>
            </a:r>
          </a:p>
          <a:p>
            <a:pPr>
              <a:lnSpc>
                <a:spcPct val="14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写入文件</a:t>
            </a:r>
          </a:p>
          <a:p>
            <a:pPr>
              <a:lnSpc>
                <a:spcPct val="14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writeWorkbook.save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(FILENAME + "_result.xls")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259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导入</a:t>
            </a:r>
            <a:r>
              <a:rPr lang="en-US" altLang="zh-CN" dirty="0"/>
              <a:t>CSV</a:t>
            </a:r>
            <a:r>
              <a:rPr lang="zh-CN" altLang="en-US" dirty="0" smtClean="0"/>
              <a:t>数据</a:t>
            </a:r>
            <a:endParaRPr lang="en-US" altLang="zh-CN" dirty="0" smtClean="0"/>
          </a:p>
          <a:p>
            <a:r>
              <a:rPr lang="zh-CN" altLang="en-US" dirty="0"/>
              <a:t>导入</a:t>
            </a:r>
            <a:r>
              <a:rPr lang="en-US" altLang="zh-CN" dirty="0"/>
              <a:t>Excel</a:t>
            </a:r>
            <a:r>
              <a:rPr lang="zh-CN" altLang="en-US" dirty="0"/>
              <a:t>数据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导入</a:t>
            </a:r>
            <a:r>
              <a:rPr lang="en-US" altLang="zh-CN" dirty="0">
                <a:solidFill>
                  <a:srgbClr val="FF0000"/>
                </a:solidFill>
              </a:rPr>
              <a:t>JSON</a:t>
            </a:r>
            <a:r>
              <a:rPr lang="zh-CN" altLang="en-US" dirty="0" smtClean="0">
                <a:solidFill>
                  <a:srgbClr val="FF0000"/>
                </a:solidFill>
              </a:rPr>
              <a:t>数据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0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</a:t>
            </a:r>
            <a:r>
              <a:rPr lang="zh-CN" altLang="en-US" dirty="0" smtClean="0"/>
              <a:t>入</a:t>
            </a:r>
            <a:r>
              <a:rPr lang="en-US" altLang="zh-CN" dirty="0" err="1" smtClean="0"/>
              <a:t>Json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JSON</a:t>
            </a:r>
            <a:r>
              <a:rPr lang="zh-CN" altLang="en-US" dirty="0"/>
              <a:t>数据的格式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51618" y="2289618"/>
            <a:ext cx="102330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JSON （javascript object notation标记）采用完全独立于编程语言的文本格式来存储和表示数据，JSON数据的一般描述方式类似于字典，有键值对构成。JSON数据多用于不同系统之间的数据传递，作为一种轻量级的数据交换格式，其简洁和清晰的层次结构使得JSON称为理想的数据交换语言，易于人阅读和编写，也易于机器解析和生成。</a:t>
            </a:r>
          </a:p>
        </p:txBody>
      </p:sp>
    </p:spTree>
    <p:extLst>
      <p:ext uri="{BB962C8B-B14F-4D97-AF65-F5344CB8AC3E}">
        <p14:creationId xmlns:p14="http://schemas.microsoft.com/office/powerpoint/2010/main" val="1218975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</a:t>
            </a:r>
            <a:r>
              <a:rPr lang="zh-CN" altLang="en-US" dirty="0" smtClean="0"/>
              <a:t>入</a:t>
            </a:r>
            <a:r>
              <a:rPr lang="en-US" altLang="zh-CN" dirty="0" err="1" smtClean="0"/>
              <a:t>Json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JSON</a:t>
            </a:r>
            <a:r>
              <a:rPr lang="zh-CN" altLang="en-US" dirty="0"/>
              <a:t>数据的格式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16177" y="2165247"/>
            <a:ext cx="79200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下面定义一个JSON字符串数组，并输出：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&gt;&gt;&gt; jsonarray='[{"word": "hello", "length": 56}, {"word": "great", "length": 67}]'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print(jsonarray)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[{"word": "hello", "length": 56}, {"word": "great", "length": 67}]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说明： jsonarray用于存储两个单词及其数量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016177" y="4103267"/>
            <a:ext cx="79200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下面定义一个JSON字符串对象，并输出：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jsonobj='{"word":"hello", "count":30}'  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&gt;&gt;&gt; print(jsonobj)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{"word":"hello", "count":30}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说明： jsonobj用于存储一个单词hello和该单词的词频30</a:t>
            </a:r>
          </a:p>
        </p:txBody>
      </p:sp>
    </p:spTree>
    <p:extLst>
      <p:ext uri="{BB962C8B-B14F-4D97-AF65-F5344CB8AC3E}">
        <p14:creationId xmlns:p14="http://schemas.microsoft.com/office/powerpoint/2010/main" val="11613375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</a:t>
            </a:r>
            <a:r>
              <a:rPr lang="zh-CN" altLang="en-US" dirty="0" smtClean="0"/>
              <a:t>入</a:t>
            </a:r>
            <a:r>
              <a:rPr lang="en-US" altLang="zh-CN" dirty="0" err="1" smtClean="0"/>
              <a:t>Json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解码</a:t>
            </a:r>
            <a:r>
              <a:rPr lang="en-US" altLang="zh-CN" dirty="0"/>
              <a:t>JSON</a:t>
            </a:r>
            <a:r>
              <a:rPr lang="zh-CN" altLang="en-US" dirty="0"/>
              <a:t>数据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8252" y="2360917"/>
            <a:ext cx="1022226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Python除了可以使用pandas操作Json数据外，也提供了JSON字符串的处理模块json ，在使用时，需要导入模块：import   json 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Json处理模块提供了2 个重要的函数，用于在python字典对象和JSON字符串之间进行转换。其中json.loads实现解码json字符串为python对象。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语法格式：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json.loads(s,encoding=None,cls=None,object_hook=None,parse_float=None, parse_int=None, parse_constant=None, object_pairs_hook=None, **kw)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encoding：默认是UTF-8，设置json数据的编码方式。</a:t>
            </a:r>
          </a:p>
        </p:txBody>
      </p:sp>
    </p:spTree>
    <p:extLst>
      <p:ext uri="{BB962C8B-B14F-4D97-AF65-F5344CB8AC3E}">
        <p14:creationId xmlns:p14="http://schemas.microsoft.com/office/powerpoint/2010/main" val="3979839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</a:t>
            </a:r>
            <a:r>
              <a:rPr lang="zh-CN" altLang="en-US" dirty="0" smtClean="0"/>
              <a:t>入</a:t>
            </a:r>
            <a:r>
              <a:rPr lang="en-US" altLang="zh-CN" dirty="0" err="1" smtClean="0"/>
              <a:t>Json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解码</a:t>
            </a:r>
            <a:r>
              <a:rPr lang="en-US" altLang="zh-CN" dirty="0"/>
              <a:t>JSON</a:t>
            </a:r>
            <a:r>
              <a:rPr lang="zh-CN" altLang="en-US" dirty="0"/>
              <a:t>数据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98955" y="2240521"/>
            <a:ext cx="79200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解析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JSON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字符串，并将单词和词频输出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09089" y="2790590"/>
            <a:ext cx="792000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json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print("json --&gt; python ")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jsonobj='{"word":"hello","count":30}' 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pythonObj = json.loads(jsonobj)  #pythonObj为字典对象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print(pythonObj)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print(pythonObj["word"])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print(pythonObj["count"])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189" y="4128852"/>
            <a:ext cx="3733800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695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</a:t>
            </a:r>
            <a:r>
              <a:rPr lang="zh-CN" altLang="en-US" dirty="0" smtClean="0"/>
              <a:t>入</a:t>
            </a:r>
            <a:r>
              <a:rPr lang="en-US" altLang="zh-CN" dirty="0" err="1" smtClean="0"/>
              <a:t>Json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编码</a:t>
            </a:r>
            <a:r>
              <a:rPr lang="en-US" altLang="zh-CN" dirty="0" smtClean="0"/>
              <a:t>JSON</a:t>
            </a:r>
            <a:r>
              <a:rPr lang="zh-CN" altLang="en-US" dirty="0"/>
              <a:t>数据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24028" y="2246083"/>
            <a:ext cx="10211804" cy="363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Python使用json.dump函数实现python对象到JSON字符串的编码。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语法格式：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json.dumps(obj, *, skipkeys=False, ensure_ascii=True, check_circular=True, allow_nan=True, cls=None, indent=None, separators=None, default=None, sort_keys=False, **kw)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重要参数说明：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Skipkeys：默认值是False，如果dict的keys内的数据不是python的基本类型(str,unicode,int,long,float,bool,None)，设置为False时，就会报TypeError的错误。此时设置成True，则会跳过这类key。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ensure_ascii：默认值True，如果dict内含有non-ASCII的字符，则会类似\uXXXX显示数据，设置成False后，就能正常显示。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separators：分隔符，实际上是(item_separator, dict_separator)的一个元组，默认的就是(‘,’,‘:’)；这表示dictionary内keys之间用“,”隔开，而KEY和value之间用“：”隔开。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sort_keys：将转换后的json字符串按keys的值进行排序，默认为False，不排序。</a:t>
            </a:r>
          </a:p>
        </p:txBody>
      </p:sp>
    </p:spTree>
    <p:extLst>
      <p:ext uri="{BB962C8B-B14F-4D97-AF65-F5344CB8AC3E}">
        <p14:creationId xmlns:p14="http://schemas.microsoft.com/office/powerpoint/2010/main" val="13753557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</a:t>
            </a:r>
            <a:r>
              <a:rPr lang="zh-CN" altLang="en-US" dirty="0" smtClean="0"/>
              <a:t>入</a:t>
            </a:r>
            <a:r>
              <a:rPr lang="en-US" altLang="zh-CN" dirty="0" err="1" smtClean="0"/>
              <a:t>Json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编码</a:t>
            </a:r>
            <a:r>
              <a:rPr lang="en-US" altLang="zh-CN" dirty="0" smtClean="0"/>
              <a:t>JSON</a:t>
            </a:r>
            <a:r>
              <a:rPr lang="zh-CN" altLang="en-US" dirty="0"/>
              <a:t>数据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38200" y="2320904"/>
            <a:ext cx="79200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将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字典解析成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json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数据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97954" y="2781566"/>
            <a:ext cx="575516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json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testPy = {'username':'王蓓', 'password': '123456'}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print("python --&gt; json ")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jsonObj = json.dumps(testPy, ensure_ascii = False,sort_keys=True)  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#jsonObj 为json对象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#jsonObj = json.dumps(testPy, ensure_ascii = False)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print(jsonObj)</a:t>
            </a:r>
          </a:p>
          <a:p>
            <a:pPr algn="l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print(type(jsonObj))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119" y="4705494"/>
            <a:ext cx="5019675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16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</a:t>
            </a:r>
            <a:r>
              <a:rPr lang="zh-CN" altLang="en-US" dirty="0" smtClean="0"/>
              <a:t>入</a:t>
            </a:r>
            <a:r>
              <a:rPr lang="en-US" altLang="zh-CN" dirty="0" err="1" smtClean="0"/>
              <a:t>Json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Python</a:t>
            </a:r>
            <a:r>
              <a:rPr lang="zh-CN" altLang="en-US" dirty="0" smtClean="0"/>
              <a:t>编码</a:t>
            </a:r>
            <a:r>
              <a:rPr lang="en-US" altLang="zh-CN" dirty="0" smtClean="0"/>
              <a:t>JSON</a:t>
            </a:r>
            <a:r>
              <a:rPr lang="zh-CN" altLang="en-US" dirty="0"/>
              <a:t>数据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17783" y="2448494"/>
            <a:ext cx="79200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将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pyhton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数组解析成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json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字符串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77369" y="3043806"/>
            <a:ext cx="79200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 json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pythonlist=[{'word': 'hello', 'length': 56}, {'word': 'great', 'length': 67}]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jsonstr=json.dumps(pythonlist)  #将字典列表解析成json字符串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print(jsonstr)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print(type(jsonstr))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743" y="4400801"/>
            <a:ext cx="7658100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820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</a:t>
            </a:r>
            <a:r>
              <a:rPr lang="zh-CN" altLang="en-US" dirty="0" smtClean="0"/>
              <a:t>入</a:t>
            </a:r>
            <a:r>
              <a:rPr lang="en-US" altLang="zh-CN" dirty="0" err="1" smtClean="0"/>
              <a:t>Json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处理</a:t>
            </a:r>
            <a:r>
              <a:rPr lang="en-US" altLang="zh-CN" dirty="0"/>
              <a:t>JSON</a:t>
            </a:r>
            <a:r>
              <a:rPr lang="zh-CN" altLang="en-US" dirty="0"/>
              <a:t>数据文件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63192" y="2136894"/>
            <a:ext cx="100166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JSON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数据文件是按照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JSON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数据格式存储数据的文本文件。通常将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JSON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数据文件的扩展名设为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json</a:t>
            </a:r>
            <a:r>
              <a:rPr lang="zh-CN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。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下图</a:t>
            </a:r>
            <a:r>
              <a:rPr lang="zh-CN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为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jsondata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文件中的内容。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JSON</a:t>
            </a:r>
            <a:r>
              <a:rPr lang="zh-CN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数据文件的处理与普通文本文件的处理类似。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" name="图片 9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8331" y="2967891"/>
            <a:ext cx="7200000" cy="25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633855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</a:t>
            </a:r>
            <a:r>
              <a:rPr lang="zh-CN" altLang="en-US" dirty="0" smtClean="0"/>
              <a:t>入</a:t>
            </a:r>
            <a:r>
              <a:rPr lang="en-US" altLang="zh-CN" dirty="0" err="1" smtClean="0"/>
              <a:t>Json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处理</a:t>
            </a:r>
            <a:r>
              <a:rPr lang="en-US" altLang="zh-CN" dirty="0"/>
              <a:t>JSON</a:t>
            </a:r>
            <a:r>
              <a:rPr lang="zh-CN" altLang="en-US" dirty="0"/>
              <a:t>数据文件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06043" y="2145061"/>
            <a:ext cx="79200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从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d:\ </a:t>
            </a:r>
            <a:r>
              <a:rPr lang="en-US" altLang="zh-CN" sz="16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jsondata.json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文件中读取数据并显示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26224" y="2605436"/>
            <a:ext cx="79200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json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with open("d:\\jsondata.json", "r") as f: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jsonstr=f.readline()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pythonObj = json.loads(jsonstr)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print(pythonObj)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j=len(pythonObj)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for i in range(0,j):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print(pythonObj[i]["word"],pythonObj[i]["count"])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print("jsondata.json"+"中共有"+str(j)+"行数据")</a:t>
            </a:r>
          </a:p>
        </p:txBody>
      </p:sp>
    </p:spTree>
    <p:extLst>
      <p:ext uri="{BB962C8B-B14F-4D97-AF65-F5344CB8AC3E}">
        <p14:creationId xmlns:p14="http://schemas.microsoft.com/office/powerpoint/2010/main" val="26335249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</a:t>
            </a:r>
            <a:r>
              <a:rPr lang="zh-CN" altLang="en-US" dirty="0" smtClean="0"/>
              <a:t>入</a:t>
            </a:r>
            <a:r>
              <a:rPr lang="en-US" altLang="zh-CN" dirty="0" err="1" smtClean="0"/>
              <a:t>Json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处理</a:t>
            </a:r>
            <a:r>
              <a:rPr lang="en-US" altLang="zh-CN" dirty="0"/>
              <a:t>JSON</a:t>
            </a:r>
            <a:r>
              <a:rPr lang="zh-CN" altLang="en-US" dirty="0"/>
              <a:t>数据文件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03606" y="2120652"/>
            <a:ext cx="79200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字典写入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JSON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数据文件的错误案例分析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072884" y="2625477"/>
            <a:ext cx="7920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dic1={'length': 56, 'word': 'hello'}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with open("test.json", "w") as f: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f.write(dic1)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print("test.json 写入完成！")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072884" y="4078055"/>
            <a:ext cx="7920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dic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={'length': 56, 'word': 'hello'}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dic1=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str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({'length': 56, 'word': 'hello'})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print(dic1)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with open("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test.json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", "w") as f: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   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f.write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(dic1)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    print("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test.json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写入完成！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")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6294" y="2648610"/>
            <a:ext cx="6309315" cy="88139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6294" y="4272460"/>
            <a:ext cx="4048125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54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</a:t>
            </a:r>
            <a:r>
              <a:rPr lang="zh-CN" altLang="en-US" dirty="0" smtClean="0"/>
              <a:t>入</a:t>
            </a:r>
            <a:r>
              <a:rPr lang="en-US" altLang="zh-CN" dirty="0" err="1" smtClean="0"/>
              <a:t>Json</a:t>
            </a:r>
            <a:r>
              <a:rPr lang="zh-CN" altLang="en-US" dirty="0" smtClean="0"/>
              <a:t>数据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处理</a:t>
            </a:r>
            <a:r>
              <a:rPr lang="en-US" altLang="zh-CN" dirty="0"/>
              <a:t>JSON</a:t>
            </a:r>
            <a:r>
              <a:rPr lang="zh-CN" altLang="en-US" dirty="0"/>
              <a:t>数据文件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A51C3-07DA-4422-AD05-191C8CE50C6D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13131" y="2313816"/>
            <a:ext cx="79200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字典写入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JSON</a:t>
            </a:r>
            <a:r>
              <a:rPr lang="zh-CN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数据文件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072884" y="2905289"/>
            <a:ext cx="792000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 json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pythonlist=[{'word': 'hello', 'length': 56}, {'word': 'great', 'length': 67}]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jsonstr=json.dumps(pythonlist)  #将字典列表解析成json字符串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with open("test.json", "w") as f: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f.write(jsonstr)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print("test.json 写入完成！")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554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265</TotalTime>
  <Words>2665</Words>
  <Application>Microsoft Office PowerPoint</Application>
  <PresentationFormat>宽屏</PresentationFormat>
  <Paragraphs>299</Paragraphs>
  <Slides>27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宋体</vt:lpstr>
      <vt:lpstr>微软雅黑</vt:lpstr>
      <vt:lpstr>Arial</vt:lpstr>
      <vt:lpstr>Calibri</vt:lpstr>
      <vt:lpstr>Calibri Light</vt:lpstr>
      <vt:lpstr>Office 主题</vt:lpstr>
      <vt:lpstr>连接数据源</vt:lpstr>
      <vt:lpstr>主要内容</vt:lpstr>
      <vt:lpstr>导入CSV数据</vt:lpstr>
      <vt:lpstr>导入CSV数据</vt:lpstr>
      <vt:lpstr>导入CSV数据</vt:lpstr>
      <vt:lpstr>导入CSV数据</vt:lpstr>
      <vt:lpstr>导入CSV数据</vt:lpstr>
      <vt:lpstr>导入CSV数据</vt:lpstr>
      <vt:lpstr>导入CSV数据</vt:lpstr>
      <vt:lpstr>导入CSV数据</vt:lpstr>
      <vt:lpstr>导入CSV数据</vt:lpstr>
      <vt:lpstr>主要内容</vt:lpstr>
      <vt:lpstr>导入Excel数据</vt:lpstr>
      <vt:lpstr>导入Excel数据</vt:lpstr>
      <vt:lpstr>导入Excel数据</vt:lpstr>
      <vt:lpstr>主要内容</vt:lpstr>
      <vt:lpstr>导入Json数据</vt:lpstr>
      <vt:lpstr>导入Json数据</vt:lpstr>
      <vt:lpstr>导入Json数据</vt:lpstr>
      <vt:lpstr>导入Json数据</vt:lpstr>
      <vt:lpstr>导入Json数据</vt:lpstr>
      <vt:lpstr>导入Json数据</vt:lpstr>
      <vt:lpstr>导入Json数据</vt:lpstr>
      <vt:lpstr>导入Json数据</vt:lpstr>
      <vt:lpstr>导入Json数据</vt:lpstr>
      <vt:lpstr>导入Json数据</vt:lpstr>
      <vt:lpstr>导入Json数据</vt:lpstr>
    </vt:vector>
  </TitlesOfParts>
  <Company>http://www.deepbbs.org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cstor</dc:creator>
  <cp:lastModifiedBy>dong lin cao</cp:lastModifiedBy>
  <cp:revision>726</cp:revision>
  <dcterms:created xsi:type="dcterms:W3CDTF">2015-11-23T03:31:00Z</dcterms:created>
  <dcterms:modified xsi:type="dcterms:W3CDTF">2021-06-01T09:06:23Z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2052-11.1.0.8888</vt:lpwstr>
  </property>
</Properties>
</file>