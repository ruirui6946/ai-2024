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76" r:id="rId3"/>
    <p:sldId id="313" r:id="rId4"/>
    <p:sldId id="317" r:id="rId5"/>
    <p:sldId id="319" r:id="rId6"/>
    <p:sldId id="314" r:id="rId7"/>
    <p:sldId id="318" r:id="rId8"/>
    <p:sldId id="320" r:id="rId9"/>
    <p:sldId id="321" r:id="rId10"/>
    <p:sldId id="322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xmlns="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6318" autoAdjust="0"/>
  </p:normalViewPr>
  <p:slideViewPr>
    <p:cSldViewPr snapToGrid="0">
      <p:cViewPr varScale="1">
        <p:scale>
          <a:sx n="85" d="100"/>
          <a:sy n="85" d="100"/>
        </p:scale>
        <p:origin x="-88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pPr/>
              <a:t>2020/5/14 Thursday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383923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383923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383923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83811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83811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83811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83811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83811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2020/5/14 Thursday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2020/5/14 Thursday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2020/5/14 Thursday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2020/5/14 Thursday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2020/5/14 Thursday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2020/5/14 Thursday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2020/5/14 Thursday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2020/5/14 Thursday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2020/5/14 Thursday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2020/5/14 Thursday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2020/5/14 Thursday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pPr/>
              <a:t>2020/5/14 Thursday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bytxl/article/details/4804719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aike.baidu.com/item/debug%E5%91%BD%E4%BB%A4/10080524?fr=aladdi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6%96%AD%E7%82%B9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xmlns="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xmlns="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xmlns="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 smtClean="0"/>
              <a:t>实验十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 smtClean="0">
                <a:solidFill>
                  <a:srgbClr val="292929"/>
                </a:solidFill>
                <a:cs typeface="+mn-ea"/>
                <a:sym typeface="+mn-lt"/>
              </a:rPr>
              <a:t>实验大作业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94724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xmlns="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大作业目的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304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对学生汇编语言程序实验课编程能力整体考查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考查学生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团队合作编程的效率和团队学习能力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有一定的挑战性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52103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xmlns="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作业要求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304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编写一个汇编程序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debug01.exe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能模拟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命令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u,d,r,g,p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分组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完成，一组最多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人，选一组长，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18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日前学习委员负责分组名单通过钉钉发给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老师（智能给林老师，网安给卢老师），没小组的没分数。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1007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xmlns="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作业评分办法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452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组长：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6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7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日前上传本组（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）实验报告 （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）程序源码 （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）组员（包括自己）完成的工作说明及评分（百分制）。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老师一组抽查一名组员对大作业实验内容进行讲解（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28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日课堂）。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老师会根据实验报告，抽查结果给出每组平均分，再根据组长评分，给出每个组员得分。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1007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xmlns="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0332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使用说明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4BD821F-347E-466B-A78A-EEBD4AFE8EE9}"/>
              </a:ext>
            </a:extLst>
          </p:cNvPr>
          <p:cNvSpPr txBox="1"/>
          <p:nvPr/>
        </p:nvSpPr>
        <p:spPr>
          <a:xfrm>
            <a:off x="1494264" y="1320965"/>
            <a:ext cx="9467385" cy="230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00B050"/>
                </a:solidFill>
              </a:rPr>
              <a:t>Debug</a:t>
            </a:r>
            <a:r>
              <a:rPr lang="zh-CN" altLang="en-US" sz="2400" dirty="0" smtClean="0">
                <a:solidFill>
                  <a:srgbClr val="00B050"/>
                </a:solidFill>
              </a:rPr>
              <a:t>的安装：</a:t>
            </a:r>
            <a:r>
              <a:rPr lang="en-US" altLang="zh-CN" sz="2400" dirty="0" smtClean="0">
                <a:hlinkClick r:id="rId3"/>
              </a:rPr>
              <a:t>https://blog.csdn.net/bytxl/article/details/48047193</a:t>
            </a:r>
            <a:endParaRPr lang="en-US" altLang="zh-CN" sz="2400" dirty="0" smtClean="0"/>
          </a:p>
          <a:p>
            <a:r>
              <a:rPr lang="en-US" altLang="zh-CN" sz="2400" dirty="0" smtClean="0">
                <a:solidFill>
                  <a:srgbClr val="00B050"/>
                </a:solidFill>
              </a:rPr>
              <a:t>Debug</a:t>
            </a:r>
            <a:r>
              <a:rPr lang="zh-CN" altLang="en-US" sz="2400" dirty="0" smtClean="0">
                <a:solidFill>
                  <a:srgbClr val="00B050"/>
                </a:solidFill>
              </a:rPr>
              <a:t>命令：</a:t>
            </a:r>
            <a:r>
              <a:rPr lang="en-US" altLang="zh-CN" sz="2400" dirty="0" smtClean="0">
                <a:hlinkClick r:id="rId4"/>
              </a:rPr>
              <a:t> https://baike.baidu.com/item/debug%E5%91%BD%E4%BB%A4/10080524?fr=aladdin</a:t>
            </a:r>
            <a:endParaRPr lang="en-US" altLang="zh-CN" sz="2400" dirty="0" smtClean="0"/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1007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xmlns="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具体要求和说明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34EF0C1B-D8FE-4118-AD8F-23F7973EEA4C}"/>
              </a:ext>
            </a:extLst>
          </p:cNvPr>
          <p:cNvSpPr txBox="1"/>
          <p:nvPr/>
        </p:nvSpPr>
        <p:spPr>
          <a:xfrm>
            <a:off x="1291113" y="927748"/>
            <a:ext cx="6447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u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命令，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debug01.exe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，驻留内存一段程序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不少于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6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条语句），能反汇编显示出来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0755B449-3C73-42AE-B5CC-E364AFAC2428}"/>
              </a:ext>
            </a:extLst>
          </p:cNvPr>
          <p:cNvSpPr/>
          <p:nvPr/>
        </p:nvSpPr>
        <p:spPr>
          <a:xfrm>
            <a:off x="5530540" y="868650"/>
            <a:ext cx="2487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.</a:t>
            </a:r>
            <a:endParaRPr lang="en-US" altLang="zh-CN" dirty="0">
              <a:solidFill>
                <a:schemeClr val="accent1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2959649E-E504-48F6-950F-04D698122284}"/>
              </a:ext>
            </a:extLst>
          </p:cNvPr>
          <p:cNvSpPr/>
          <p:nvPr/>
        </p:nvSpPr>
        <p:spPr>
          <a:xfrm>
            <a:off x="1212543" y="1521518"/>
            <a:ext cx="68832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00B050"/>
                </a:solidFill>
              </a:rPr>
              <a:t>从</a:t>
            </a:r>
            <a:r>
              <a:rPr lang="en-US" altLang="zh-CN" dirty="0" smtClean="0">
                <a:solidFill>
                  <a:srgbClr val="00B050"/>
                </a:solidFill>
              </a:rPr>
              <a:t>debug</a:t>
            </a:r>
            <a:r>
              <a:rPr lang="zh-CN" altLang="en-US" dirty="0" smtClean="0">
                <a:solidFill>
                  <a:srgbClr val="00B050"/>
                </a:solidFill>
              </a:rPr>
              <a:t>中学习反汇编机器码</a:t>
            </a:r>
            <a:r>
              <a:rPr lang="en-US" altLang="zh-CN" dirty="0" smtClean="0">
                <a:solidFill>
                  <a:srgbClr val="00B050"/>
                </a:solidFill>
              </a:rPr>
              <a:t>,</a:t>
            </a:r>
            <a:r>
              <a:rPr lang="zh-CN" altLang="en-US" dirty="0" smtClean="0">
                <a:solidFill>
                  <a:srgbClr val="00B050"/>
                </a:solidFill>
              </a:rPr>
              <a:t>也可查</a:t>
            </a:r>
            <a:r>
              <a:rPr lang="en-US" altLang="zh-CN" dirty="0" smtClean="0">
                <a:solidFill>
                  <a:srgbClr val="00B050"/>
                </a:solidFill>
              </a:rPr>
              <a:t>8088</a:t>
            </a:r>
            <a:r>
              <a:rPr lang="zh-CN" altLang="en-US" dirty="0" smtClean="0">
                <a:solidFill>
                  <a:srgbClr val="00B050"/>
                </a:solidFill>
              </a:rPr>
              <a:t>汇编机器码表（网络）</a:t>
            </a:r>
            <a:endParaRPr lang="en-US" altLang="zh-CN" dirty="0" smtClean="0">
              <a:solidFill>
                <a:srgbClr val="00B050"/>
              </a:solidFill>
            </a:endParaRPr>
          </a:p>
          <a:p>
            <a:r>
              <a:rPr lang="zh-CN" altLang="en-US" dirty="0" smtClean="0">
                <a:solidFill>
                  <a:srgbClr val="00B050"/>
                </a:solidFill>
              </a:rPr>
              <a:t>如：</a:t>
            </a:r>
            <a:r>
              <a:rPr lang="en-US" altLang="zh-CN" dirty="0" smtClean="0">
                <a:solidFill>
                  <a:srgbClr val="00B050"/>
                </a:solidFill>
              </a:rPr>
              <a:t>u073f:100</a:t>
            </a:r>
            <a:endParaRPr lang="en-US" altLang="zh-CN" dirty="0" smtClean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32210" y="2388045"/>
            <a:ext cx="6277195" cy="419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89480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xmlns="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具体要求和说明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34EF0C1B-D8FE-4118-AD8F-23F7973EEA4C}"/>
              </a:ext>
            </a:extLst>
          </p:cNvPr>
          <p:cNvSpPr txBox="1"/>
          <p:nvPr/>
        </p:nvSpPr>
        <p:spPr>
          <a:xfrm>
            <a:off x="1291113" y="927748"/>
            <a:ext cx="6447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命令，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任意地址以内存映象方式显示内存中的信息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0755B449-3C73-42AE-B5CC-E364AFAC2428}"/>
              </a:ext>
            </a:extLst>
          </p:cNvPr>
          <p:cNvSpPr/>
          <p:nvPr/>
        </p:nvSpPr>
        <p:spPr>
          <a:xfrm>
            <a:off x="5530540" y="868650"/>
            <a:ext cx="2487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.</a:t>
            </a:r>
            <a:endParaRPr lang="en-US" altLang="zh-CN" dirty="0">
              <a:solidFill>
                <a:schemeClr val="accent1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2959649E-E504-48F6-950F-04D698122284}"/>
              </a:ext>
            </a:extLst>
          </p:cNvPr>
          <p:cNvSpPr/>
          <p:nvPr/>
        </p:nvSpPr>
        <p:spPr>
          <a:xfrm>
            <a:off x="1212543" y="1521518"/>
            <a:ext cx="68832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00B050"/>
                </a:solidFill>
              </a:rPr>
              <a:t>如</a:t>
            </a:r>
            <a:r>
              <a:rPr lang="en-US" altLang="zh-CN" dirty="0" smtClean="0">
                <a:solidFill>
                  <a:srgbClr val="00B050"/>
                </a:solidFill>
              </a:rPr>
              <a:t>d073f:100</a:t>
            </a:r>
            <a:endParaRPr lang="en-US" altLang="zh-CN" dirty="0" smtClean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32210" y="2101308"/>
            <a:ext cx="62484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89480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xmlns="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具体要求和说明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34EF0C1B-D8FE-4118-AD8F-23F7973EEA4C}"/>
              </a:ext>
            </a:extLst>
          </p:cNvPr>
          <p:cNvSpPr txBox="1"/>
          <p:nvPr/>
        </p:nvSpPr>
        <p:spPr>
          <a:xfrm>
            <a:off x="1291113" y="927748"/>
            <a:ext cx="6447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命令，</a:t>
            </a:r>
            <a:r>
              <a:rPr lang="zh-CN" altLang="en-US" dirty="0" smtClean="0"/>
              <a:t>显示所有寄存器</a:t>
            </a:r>
            <a:r>
              <a:rPr lang="zh-CN" altLang="en-US" dirty="0" smtClean="0"/>
              <a:t>内容</a:t>
            </a:r>
            <a:r>
              <a:rPr lang="zh-CN" altLang="en-US" dirty="0" smtClean="0"/>
              <a:t>， 再加上字母标志位状态以及要执行的下一条指令。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0755B449-3C73-42AE-B5CC-E364AFAC2428}"/>
              </a:ext>
            </a:extLst>
          </p:cNvPr>
          <p:cNvSpPr/>
          <p:nvPr/>
        </p:nvSpPr>
        <p:spPr>
          <a:xfrm>
            <a:off x="5530540" y="868650"/>
            <a:ext cx="2487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.</a:t>
            </a:r>
            <a:endParaRPr lang="en-US" altLang="zh-CN" dirty="0">
              <a:solidFill>
                <a:schemeClr val="accent1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2959649E-E504-48F6-950F-04D698122284}"/>
              </a:ext>
            </a:extLst>
          </p:cNvPr>
          <p:cNvSpPr/>
          <p:nvPr/>
        </p:nvSpPr>
        <p:spPr>
          <a:xfrm>
            <a:off x="1212543" y="1521518"/>
            <a:ext cx="68832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00B050"/>
                </a:solidFill>
              </a:rPr>
              <a:t>如</a:t>
            </a:r>
            <a:r>
              <a:rPr lang="en-US" altLang="zh-CN" dirty="0" smtClean="0">
                <a:solidFill>
                  <a:srgbClr val="00B050"/>
                </a:solidFill>
              </a:rPr>
              <a:t>r</a:t>
            </a:r>
            <a:endParaRPr lang="en-US" altLang="zh-CN" dirty="0" smtClean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66024" y="2012098"/>
            <a:ext cx="62484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89480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xmlns="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具体要求和说明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34EF0C1B-D8FE-4118-AD8F-23F7973EEA4C}"/>
              </a:ext>
            </a:extLst>
          </p:cNvPr>
          <p:cNvSpPr txBox="1"/>
          <p:nvPr/>
        </p:nvSpPr>
        <p:spPr>
          <a:xfrm>
            <a:off x="1291113" y="927748"/>
            <a:ext cx="6447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g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命令，</a:t>
            </a:r>
            <a:r>
              <a:rPr lang="zh-CN" altLang="en-US" dirty="0" smtClean="0"/>
              <a:t>执行正在调试的程序，当达到</a:t>
            </a:r>
            <a:r>
              <a:rPr lang="zh-CN" altLang="en-US" dirty="0" smtClean="0">
                <a:hlinkClick r:id="rId3"/>
              </a:rPr>
              <a:t>断点</a:t>
            </a:r>
            <a:r>
              <a:rPr lang="zh-CN" altLang="en-US" dirty="0" smtClean="0"/>
              <a:t>时停止执行， 并且显示寄存器标志和下一条要执行的命令。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0755B449-3C73-42AE-B5CC-E364AFAC2428}"/>
              </a:ext>
            </a:extLst>
          </p:cNvPr>
          <p:cNvSpPr/>
          <p:nvPr/>
        </p:nvSpPr>
        <p:spPr>
          <a:xfrm>
            <a:off x="5530540" y="868650"/>
            <a:ext cx="2487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.</a:t>
            </a:r>
            <a:endParaRPr lang="en-US" altLang="zh-CN" dirty="0">
              <a:solidFill>
                <a:schemeClr val="accent1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2959649E-E504-48F6-950F-04D698122284}"/>
              </a:ext>
            </a:extLst>
          </p:cNvPr>
          <p:cNvSpPr/>
          <p:nvPr/>
        </p:nvSpPr>
        <p:spPr>
          <a:xfrm>
            <a:off x="1212543" y="1521518"/>
            <a:ext cx="68832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1</a:t>
            </a:r>
            <a:r>
              <a:rPr lang="zh-CN" altLang="en-US" dirty="0" smtClean="0">
                <a:solidFill>
                  <a:srgbClr val="00B050"/>
                </a:solidFill>
              </a:rPr>
              <a:t>、</a:t>
            </a:r>
            <a:r>
              <a:rPr lang="en-US" altLang="zh-CN" dirty="0" err="1" smtClean="0">
                <a:solidFill>
                  <a:srgbClr val="00B050"/>
                </a:solidFill>
              </a:rPr>
              <a:t>rcs</a:t>
            </a:r>
            <a:endParaRPr lang="en-US" altLang="zh-CN" dirty="0" smtClean="0">
              <a:solidFill>
                <a:srgbClr val="00B050"/>
              </a:solidFill>
            </a:endParaRPr>
          </a:p>
          <a:p>
            <a:r>
              <a:rPr lang="en-US" altLang="zh-CN" dirty="0" smtClean="0">
                <a:solidFill>
                  <a:srgbClr val="00B050"/>
                </a:solidFill>
              </a:rPr>
              <a:t>2</a:t>
            </a:r>
            <a:r>
              <a:rPr lang="zh-CN" altLang="en-US" dirty="0" smtClean="0">
                <a:solidFill>
                  <a:srgbClr val="00B050"/>
                </a:solidFill>
              </a:rPr>
              <a:t>、</a:t>
            </a:r>
            <a:r>
              <a:rPr lang="en-US" altLang="zh-CN" dirty="0" smtClean="0">
                <a:solidFill>
                  <a:srgbClr val="00B050"/>
                </a:solidFill>
              </a:rPr>
              <a:t>rip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3</a:t>
            </a:r>
            <a:r>
              <a:rPr lang="zh-CN" altLang="en-US" dirty="0" smtClean="0">
                <a:solidFill>
                  <a:srgbClr val="00B050"/>
                </a:solidFill>
              </a:rPr>
              <a:t>、</a:t>
            </a:r>
            <a:r>
              <a:rPr lang="en-US" altLang="zh-CN" dirty="0" smtClean="0">
                <a:solidFill>
                  <a:srgbClr val="00B050"/>
                </a:solidFill>
              </a:rPr>
              <a:t>g 0105</a:t>
            </a:r>
            <a:endParaRPr lang="en-US" altLang="zh-CN" dirty="0" smtClean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37624" y="2402391"/>
            <a:ext cx="62484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89480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xmlns="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具体要求和说明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34EF0C1B-D8FE-4118-AD8F-23F7973EEA4C}"/>
              </a:ext>
            </a:extLst>
          </p:cNvPr>
          <p:cNvSpPr txBox="1"/>
          <p:nvPr/>
        </p:nvSpPr>
        <p:spPr>
          <a:xfrm>
            <a:off x="1291113" y="927748"/>
            <a:ext cx="6447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命令，</a:t>
            </a:r>
            <a:r>
              <a:rPr lang="zh-CN" altLang="en-US" dirty="0" smtClean="0"/>
              <a:t>在执行一条子程序调用指令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0755B449-3C73-42AE-B5CC-E364AFAC2428}"/>
              </a:ext>
            </a:extLst>
          </p:cNvPr>
          <p:cNvSpPr/>
          <p:nvPr/>
        </p:nvSpPr>
        <p:spPr>
          <a:xfrm>
            <a:off x="5530540" y="868650"/>
            <a:ext cx="2487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.</a:t>
            </a:r>
            <a:endParaRPr lang="en-US" altLang="zh-CN" dirty="0">
              <a:solidFill>
                <a:schemeClr val="accent1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2959649E-E504-48F6-950F-04D698122284}"/>
              </a:ext>
            </a:extLst>
          </p:cNvPr>
          <p:cNvSpPr/>
          <p:nvPr/>
        </p:nvSpPr>
        <p:spPr>
          <a:xfrm>
            <a:off x="1212543" y="1387703"/>
            <a:ext cx="68832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1</a:t>
            </a:r>
            <a:r>
              <a:rPr lang="zh-CN" altLang="en-US" dirty="0" smtClean="0">
                <a:solidFill>
                  <a:srgbClr val="00B050"/>
                </a:solidFill>
              </a:rPr>
              <a:t>、</a:t>
            </a:r>
            <a:r>
              <a:rPr lang="en-US" altLang="zh-CN" dirty="0" err="1" smtClean="0">
                <a:solidFill>
                  <a:srgbClr val="00B050"/>
                </a:solidFill>
              </a:rPr>
              <a:t>rcs</a:t>
            </a:r>
            <a:endParaRPr lang="en-US" altLang="zh-CN" dirty="0" smtClean="0">
              <a:solidFill>
                <a:srgbClr val="00B050"/>
              </a:solidFill>
            </a:endParaRPr>
          </a:p>
          <a:p>
            <a:r>
              <a:rPr lang="en-US" altLang="zh-CN" dirty="0" smtClean="0">
                <a:solidFill>
                  <a:srgbClr val="00B050"/>
                </a:solidFill>
              </a:rPr>
              <a:t>2</a:t>
            </a:r>
            <a:r>
              <a:rPr lang="zh-CN" altLang="en-US" dirty="0" smtClean="0">
                <a:solidFill>
                  <a:srgbClr val="00B050"/>
                </a:solidFill>
              </a:rPr>
              <a:t>、</a:t>
            </a:r>
            <a:r>
              <a:rPr lang="en-US" altLang="zh-CN" dirty="0" smtClean="0">
                <a:solidFill>
                  <a:srgbClr val="00B050"/>
                </a:solidFill>
              </a:rPr>
              <a:t>rip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3</a:t>
            </a:r>
            <a:r>
              <a:rPr lang="zh-CN" altLang="en-US" dirty="0" smtClean="0">
                <a:solidFill>
                  <a:srgbClr val="00B050"/>
                </a:solidFill>
              </a:rPr>
              <a:t>、</a:t>
            </a:r>
            <a:r>
              <a:rPr lang="en-US" altLang="zh-CN" dirty="0" smtClean="0">
                <a:solidFill>
                  <a:srgbClr val="00B050"/>
                </a:solidFill>
              </a:rPr>
              <a:t>p</a:t>
            </a:r>
            <a:endParaRPr lang="en-US" altLang="zh-CN" dirty="0" smtClean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89770" y="2435844"/>
            <a:ext cx="62484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89480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13393</TotalTime>
  <Words>386</Words>
  <Application>Microsoft Office PowerPoint</Application>
  <PresentationFormat>自定义</PresentationFormat>
  <Paragraphs>51</Paragraphs>
  <Slides>10</Slides>
  <Notes>10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第一PPT，www.1ppt.com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Company>第一PPT，www.1ppt.com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Administrator</cp:lastModifiedBy>
  <cp:revision>190</cp:revision>
  <dcterms:created xsi:type="dcterms:W3CDTF">2019-06-11T09:29:47Z</dcterms:created>
  <dcterms:modified xsi:type="dcterms:W3CDTF">2020-05-14T08:34:36Z</dcterms:modified>
</cp:coreProperties>
</file>