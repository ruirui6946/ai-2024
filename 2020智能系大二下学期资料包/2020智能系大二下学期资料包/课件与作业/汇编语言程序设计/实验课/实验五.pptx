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302" r:id="rId3"/>
    <p:sldId id="307" r:id="rId4"/>
    <p:sldId id="300" r:id="rId5"/>
    <p:sldId id="309" r:id="rId6"/>
    <p:sldId id="276" r:id="rId7"/>
    <p:sldId id="310" r:id="rId8"/>
    <p:sldId id="298" r:id="rId9"/>
    <p:sldId id="312" r:id="rId10"/>
    <p:sldId id="313" r:id="rId11"/>
    <p:sldId id="314" r:id="rId12"/>
    <p:sldId id="297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96318" autoAdjust="0"/>
  </p:normalViewPr>
  <p:slideViewPr>
    <p:cSldViewPr snapToGrid="0">
      <p:cViewPr varScale="1">
        <p:scale>
          <a:sx n="157" d="100"/>
          <a:sy n="157" d="100"/>
        </p:scale>
        <p:origin x="702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0-04-02T06:25:18.74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DC8115FE-5DD3-4304-800A-006E8B99A6FA}" emma:medium="tactile" emma:mode="ink">
          <msink:context xmlns:msink="http://schemas.microsoft.com/ink/2010/main" type="inkDrawing" rotatedBoundingBox="14223,11904 14238,11904 14238,11919 14223,11919" shapeName="Other"/>
        </emma:interpretation>
      </emma:emma>
    </inkml:annotationXML>
    <inkml:trace contextRef="#ctx0" brushRef="#br0">0 0 0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88107" units="1/cm"/>
          <inkml:channelProperty channel="Y" name="resolution" value="42.85714" units="1/cm"/>
          <inkml:channelProperty channel="T" name="resolution" value="1" units="1/dev"/>
        </inkml:channelProperties>
      </inkml:inkSource>
      <inkml:timestamp xml:id="ts0" timeString="2020-04-02T06:25:18.29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EF6A731A-B332-49B2-BF44-278792F0C97E}" emma:medium="tactile" emma:mode="ink">
          <msink:context xmlns:msink="http://schemas.microsoft.com/ink/2010/main" type="inkDrawing" rotatedBoundingBox="13732,12005 13747,12005 13747,12020 13732,12020" shapeName="Other"/>
        </emma:interpretation>
      </emma:emma>
    </inkml:annotationXML>
    <inkml:trace contextRef="#ctx0" brushRef="#br0">0 0 0</inkml:trace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905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092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37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2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.png"/><Relationship Id="rId10" Type="http://schemas.openxmlformats.org/officeDocument/2006/relationships/image" Target="../media/image10.emf"/><Relationship Id="rId9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 smtClean="0"/>
              <a:t>实验五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1" y="4101335"/>
            <a:ext cx="4500777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 smtClean="0">
                <a:solidFill>
                  <a:srgbClr val="292929"/>
                </a:solidFill>
                <a:cs typeface="+mn-ea"/>
                <a:sym typeface="+mn-lt"/>
              </a:rPr>
              <a:t>分支和循环程序设计实验</a:t>
            </a:r>
            <a:r>
              <a:rPr lang="en-US" altLang="zh-CN" sz="2400" spc="225" dirty="0" smtClean="0">
                <a:solidFill>
                  <a:srgbClr val="292929"/>
                </a:solidFill>
                <a:cs typeface="+mn-ea"/>
                <a:sym typeface="+mn-lt"/>
              </a:rPr>
              <a:t>(2)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3231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2400" dirty="0"/>
              <a:t>给定</a:t>
            </a:r>
            <a:r>
              <a:rPr lang="en-US" altLang="zh-CN" sz="2400" dirty="0"/>
              <a:t>10</a:t>
            </a:r>
            <a:r>
              <a:rPr lang="zh-CN" altLang="en-US" sz="2400" dirty="0"/>
              <a:t>个学生成绩，编制汇编程序分别统计低于</a:t>
            </a:r>
            <a:r>
              <a:rPr lang="en-US" altLang="zh-CN" sz="2400" dirty="0"/>
              <a:t>60</a:t>
            </a:r>
            <a:r>
              <a:rPr lang="zh-CN" altLang="en-US" sz="2400" dirty="0"/>
              <a:t>分，</a:t>
            </a:r>
            <a:r>
              <a:rPr lang="en-US" altLang="zh-CN" sz="2400" dirty="0"/>
              <a:t>60~69</a:t>
            </a:r>
            <a:r>
              <a:rPr lang="zh-CN" altLang="en-US" sz="2400" dirty="0"/>
              <a:t>分，</a:t>
            </a:r>
            <a:r>
              <a:rPr lang="en-US" altLang="zh-CN" sz="2400" dirty="0"/>
              <a:t>70~79,80~89</a:t>
            </a:r>
            <a:r>
              <a:rPr lang="zh-CN" altLang="en-US" sz="2400" dirty="0"/>
              <a:t>，</a:t>
            </a:r>
            <a:r>
              <a:rPr lang="en-US" altLang="zh-CN" sz="2400" dirty="0"/>
              <a:t>90~100</a:t>
            </a:r>
            <a:r>
              <a:rPr lang="zh-CN" altLang="en-US" sz="2400" dirty="0"/>
              <a:t>分的人数，分别存到</a:t>
            </a:r>
            <a:r>
              <a:rPr lang="en-US" altLang="zh-CN" sz="2400" dirty="0"/>
              <a:t>s5</a:t>
            </a:r>
            <a:r>
              <a:rPr lang="zh-CN" altLang="en-US" sz="2400" dirty="0"/>
              <a:t>，</a:t>
            </a:r>
            <a:r>
              <a:rPr lang="en-US" altLang="zh-CN" sz="2400" dirty="0"/>
              <a:t>s6</a:t>
            </a:r>
            <a:r>
              <a:rPr lang="zh-CN" altLang="en-US" sz="2400" dirty="0"/>
              <a:t>，</a:t>
            </a:r>
            <a:r>
              <a:rPr lang="en-US" altLang="zh-CN" sz="2400" dirty="0"/>
              <a:t>s7,s8</a:t>
            </a:r>
            <a:r>
              <a:rPr lang="zh-CN" altLang="en-US" sz="2400" dirty="0"/>
              <a:t>，</a:t>
            </a:r>
            <a:r>
              <a:rPr lang="en-US" altLang="zh-CN" sz="2400" dirty="0"/>
              <a:t>s9</a:t>
            </a:r>
            <a:r>
              <a:rPr lang="zh-CN" altLang="en-US" sz="2400" dirty="0"/>
              <a:t>单元中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</a:t>
            </a:r>
          </a:p>
          <a:p>
            <a:pPr marL="457200" indent="-457200">
              <a:buAutoNum type="arabicPeriod"/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+mn-lt"/>
              </a:rPr>
              <a:t>	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2526D7-99D4-4C36-BFAF-2935CF20E675}"/>
              </a:ext>
            </a:extLst>
          </p:cNvPr>
          <p:cNvSpPr txBox="1"/>
          <p:nvPr/>
        </p:nvSpPr>
        <p:spPr>
          <a:xfrm>
            <a:off x="993505" y="27606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实验四评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讲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202" y="2216910"/>
            <a:ext cx="5772956" cy="458216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437" y="1974913"/>
            <a:ext cx="458152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5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51338" y="983088"/>
            <a:ext cx="963005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en-US" altLang="zh-CN" dirty="0"/>
              <a:t> </a:t>
            </a:r>
            <a:r>
              <a:rPr lang="zh-CN" altLang="en-US" dirty="0"/>
              <a:t>判断一元二次方程</a:t>
            </a:r>
            <a:r>
              <a:rPr lang="en-US" altLang="zh-CN" dirty="0"/>
              <a:t>AX</a:t>
            </a:r>
            <a:r>
              <a:rPr lang="en-US" altLang="zh-CN" baseline="30000" dirty="0"/>
              <a:t>2</a:t>
            </a:r>
            <a:r>
              <a:rPr lang="en-US" altLang="zh-CN" dirty="0"/>
              <a:t>+BX+C=0 </a:t>
            </a:r>
            <a:r>
              <a:rPr lang="zh-CN" altLang="en-US" dirty="0"/>
              <a:t>是否有实根，若有实根，将字节变量</a:t>
            </a:r>
            <a:r>
              <a:rPr lang="en-US" altLang="zh-CN" dirty="0"/>
              <a:t>tag</a:t>
            </a:r>
            <a:r>
              <a:rPr lang="zh-CN" altLang="en-US" dirty="0"/>
              <a:t>置</a:t>
            </a:r>
            <a:r>
              <a:rPr lang="en-US" altLang="zh-CN" dirty="0"/>
              <a:t>1</a:t>
            </a:r>
            <a:r>
              <a:rPr lang="zh-CN" altLang="en-US" dirty="0"/>
              <a:t>，否则置</a:t>
            </a:r>
            <a:r>
              <a:rPr lang="en-US" altLang="zh-CN" dirty="0"/>
              <a:t>0</a:t>
            </a:r>
            <a:r>
              <a:rPr lang="zh-CN" altLang="en-US" dirty="0"/>
              <a:t>。设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均为字节变量，其数值范围在</a:t>
            </a:r>
            <a:r>
              <a:rPr lang="en-US" altLang="zh-CN" dirty="0"/>
              <a:t>-128~127 </a:t>
            </a:r>
            <a:r>
              <a:rPr lang="zh-CN" altLang="en-US" dirty="0"/>
              <a:t>之间</a:t>
            </a:r>
            <a:endParaRPr lang="en-US" altLang="zh-CN" dirty="0"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墨迹 14"/>
              <p14:cNvContentPartPr/>
              <p14:nvPr/>
            </p14:nvContentPartPr>
            <p14:xfrm>
              <a:off x="5120568" y="4285632"/>
              <a:ext cx="360" cy="360"/>
            </p14:xfrm>
          </p:contentPart>
        </mc:Choice>
        <mc:Fallback xmlns="">
          <p:pic>
            <p:nvPicPr>
              <p:cNvPr id="15" name="墨迹 1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08688" y="4273752"/>
                <a:ext cx="241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墨迹 15"/>
              <p14:cNvContentPartPr/>
              <p14:nvPr/>
            </p14:nvContentPartPr>
            <p14:xfrm>
              <a:off x="4943808" y="4321992"/>
              <a:ext cx="360" cy="360"/>
            </p14:xfrm>
          </p:contentPart>
        </mc:Choice>
        <mc:Fallback xmlns="">
          <p:pic>
            <p:nvPicPr>
              <p:cNvPr id="16" name="墨迹 1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31928" y="4310112"/>
                <a:ext cx="24120" cy="2412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884" y="2389892"/>
            <a:ext cx="3610479" cy="379147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52844" y="2693054"/>
            <a:ext cx="6100200" cy="12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27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735514" y="419787"/>
            <a:ext cx="3459968" cy="5447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zh-CN" altLang="en-US" sz="2400" dirty="0">
                <a:sym typeface="+mn-lt"/>
              </a:rPr>
              <a:t>编写一个程序，判别键盘上输入的字符；若是</a:t>
            </a:r>
            <a:r>
              <a:rPr lang="en-US" altLang="zh-CN" sz="2400" dirty="0">
                <a:sym typeface="+mn-lt"/>
              </a:rPr>
              <a:t>1~9 </a:t>
            </a:r>
            <a:r>
              <a:rPr lang="zh-CN" altLang="en-US" sz="2400" dirty="0">
                <a:sym typeface="+mn-lt"/>
              </a:rPr>
              <a:t>字符，则显示之；若为</a:t>
            </a:r>
            <a:r>
              <a:rPr lang="en-US" altLang="zh-CN" sz="2400" dirty="0">
                <a:sym typeface="+mn-lt"/>
              </a:rPr>
              <a:t>A~Z</a:t>
            </a:r>
            <a:r>
              <a:rPr lang="zh-CN" altLang="en-US" sz="2400" dirty="0">
                <a:sym typeface="+mn-lt"/>
              </a:rPr>
              <a:t>字符，显示“</a:t>
            </a:r>
            <a:r>
              <a:rPr lang="en-US" altLang="zh-CN" sz="2400" dirty="0">
                <a:sym typeface="+mn-lt"/>
              </a:rPr>
              <a:t>C</a:t>
            </a:r>
            <a:r>
              <a:rPr lang="zh-CN" altLang="en-US" sz="2400" dirty="0">
                <a:sym typeface="+mn-lt"/>
              </a:rPr>
              <a:t>”，若为</a:t>
            </a:r>
            <a:r>
              <a:rPr lang="en-US" altLang="zh-CN" sz="2400" dirty="0">
                <a:sym typeface="+mn-lt"/>
              </a:rPr>
              <a:t>a-z </a:t>
            </a:r>
            <a:r>
              <a:rPr lang="zh-CN" altLang="en-US" sz="2400" dirty="0">
                <a:sym typeface="+mn-lt"/>
              </a:rPr>
              <a:t>字符，显示“</a:t>
            </a:r>
            <a:r>
              <a:rPr lang="en-US" altLang="zh-CN" sz="2400" dirty="0">
                <a:sym typeface="+mn-lt"/>
              </a:rPr>
              <a:t>C</a:t>
            </a:r>
            <a:r>
              <a:rPr lang="zh-CN" altLang="en-US" sz="2400" dirty="0">
                <a:sym typeface="+mn-lt"/>
              </a:rPr>
              <a:t>”，若是回车字符（</a:t>
            </a:r>
            <a:r>
              <a:rPr lang="en-US" altLang="zh-CN" sz="2400" dirty="0">
                <a:sym typeface="+mn-lt"/>
              </a:rPr>
              <a:t>0DH</a:t>
            </a:r>
            <a:r>
              <a:rPr lang="zh-CN" altLang="en-US" sz="2400" dirty="0">
                <a:sym typeface="+mn-lt"/>
              </a:rPr>
              <a:t>），则结束程序，若为其他按字符则显示“</a:t>
            </a:r>
            <a:r>
              <a:rPr lang="en-US" altLang="zh-CN" sz="2400" dirty="0">
                <a:sym typeface="+mn-lt"/>
              </a:rPr>
              <a:t>R</a:t>
            </a:r>
            <a:r>
              <a:rPr lang="zh-CN" altLang="en-US" sz="2400" dirty="0">
                <a:sym typeface="+mn-lt"/>
              </a:rPr>
              <a:t>”</a:t>
            </a:r>
            <a:endParaRPr lang="en-US" altLang="zh-CN" sz="2400" dirty="0">
              <a:sym typeface="+mn-lt"/>
            </a:endParaRPr>
          </a:p>
          <a:p>
            <a:r>
              <a:rPr lang="en-US" altLang="zh-CN" sz="2400" dirty="0">
                <a:sym typeface="+mn-lt"/>
              </a:rPr>
              <a:t>     </a:t>
            </a:r>
            <a:r>
              <a:rPr lang="zh-CN" altLang="en-US" sz="2400" dirty="0">
                <a:sym typeface="+mn-lt"/>
              </a:rPr>
              <a:t>键盘输入字符：利用</a:t>
            </a:r>
            <a:r>
              <a:rPr lang="en-US" altLang="zh-CN" sz="2400" dirty="0">
                <a:sym typeface="+mn-lt"/>
              </a:rPr>
              <a:t>DOS</a:t>
            </a:r>
            <a:r>
              <a:rPr lang="zh-CN" altLang="en-US" sz="2400" dirty="0">
                <a:sym typeface="+mn-lt"/>
              </a:rPr>
              <a:t>功能调用的</a:t>
            </a:r>
            <a:r>
              <a:rPr lang="en-US" altLang="zh-CN" sz="2400" dirty="0">
                <a:sym typeface="+mn-lt"/>
              </a:rPr>
              <a:t>07</a:t>
            </a:r>
            <a:r>
              <a:rPr lang="zh-CN" altLang="en-US" sz="2400" dirty="0">
                <a:sym typeface="+mn-lt"/>
              </a:rPr>
              <a:t>号功能</a:t>
            </a:r>
            <a:endParaRPr lang="en-US" altLang="zh-CN" sz="2400" dirty="0">
              <a:sym typeface="+mn-lt"/>
            </a:endParaRPr>
          </a:p>
          <a:p>
            <a:pPr marL="457200" indent="-457200">
              <a:lnSpc>
                <a:spcPct val="150000"/>
              </a:lnSpc>
              <a:buAutoNum type="arabicPeriod" startAt="3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389" y="0"/>
            <a:ext cx="6153150" cy="65627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6446" y="419787"/>
            <a:ext cx="1409897" cy="15051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5"/>
          <a:srcRect l="13497" r="14229"/>
          <a:stretch/>
        </p:blipFill>
        <p:spPr>
          <a:xfrm>
            <a:off x="10369297" y="2895959"/>
            <a:ext cx="1810512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4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65632" y="681335"/>
            <a:ext cx="809548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4. 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比较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缓冲区中两字符串是否相同，若相同则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返回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，不同返回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247" y="1406927"/>
            <a:ext cx="6144482" cy="423921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446" y="2225039"/>
            <a:ext cx="5250269" cy="239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501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1209453"/>
            <a:ext cx="10668288" cy="3785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熟悉掌握汇编语言程序设计方法，能灵活使用各种跳转指令，进一步掌握循环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、分支程序设计的方法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DOS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功能调用，包括字符的输入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输出，以及字符串的输出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熟悉使用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emul8086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Debug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调试功能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1178743"/>
            <a:ext cx="4105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无条件转移指令  </a:t>
            </a:r>
            <a:r>
              <a:rPr lang="en-US" altLang="zh-CN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JMP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4" y="1763518"/>
            <a:ext cx="111984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条件转移指令</a:t>
            </a:r>
            <a:endParaRPr lang="en-US" altLang="zh-CN" sz="32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1)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简单条件转移指令 （根据单个标志位的状态判断转移条件）</a:t>
            </a:r>
            <a:endParaRPr lang="en-US" altLang="zh-CN" sz="32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391" y="2857500"/>
            <a:ext cx="894397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3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1178743"/>
            <a:ext cx="49263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）无符号数条件转移指令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277" y="2046974"/>
            <a:ext cx="6657975" cy="206692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22421" y="4397355"/>
            <a:ext cx="53367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）带符号数条件转移号指令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485476" y="4974033"/>
            <a:ext cx="6534149" cy="1779495"/>
            <a:chOff x="2485476" y="4974033"/>
            <a:chExt cx="6534149" cy="177949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3"/>
            <a:srcRect b="82359"/>
            <a:stretch/>
          </p:blipFill>
          <p:spPr>
            <a:xfrm>
              <a:off x="2485476" y="4974033"/>
              <a:ext cx="6505575" cy="74771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3"/>
            <a:srcRect l="439" t="75380" r="-439" b="-1399"/>
            <a:stretch/>
          </p:blipFill>
          <p:spPr>
            <a:xfrm>
              <a:off x="2514050" y="5650706"/>
              <a:ext cx="6505575" cy="11028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125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193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2400" dirty="0" smtClean="0"/>
              <a:t>在</a:t>
            </a:r>
            <a:r>
              <a:rPr lang="en-US" altLang="zh-CN" sz="2400" dirty="0" smtClean="0"/>
              <a:t>AX</a:t>
            </a:r>
            <a:r>
              <a:rPr lang="zh-CN" altLang="en-US" sz="2400" dirty="0" smtClean="0"/>
              <a:t>寄存器中给定一个无符号数，屏幕中输出其十进制的数值</a:t>
            </a:r>
            <a:endParaRPr lang="en-US" altLang="zh-CN" sz="2400" dirty="0" smtClean="0"/>
          </a:p>
          <a:p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例如：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AX : 1234H  </a:t>
            </a: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       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输出：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4660</a:t>
            </a: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要求输出的数据首位非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，即不能输出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004660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这种形式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挑战：输出</a:t>
            </a:r>
            <a:r>
              <a:rPr lang="en-US" altLang="zh-CN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16</a:t>
            </a: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进制数？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4478467"/>
            <a:ext cx="9031054" cy="193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zh-CN" altLang="en-US" sz="2400" dirty="0" smtClean="0">
                <a:sym typeface="+mn-lt"/>
              </a:rPr>
              <a:t>编写一个程序，判别键盘上输入的字符；若是</a:t>
            </a:r>
            <a:r>
              <a:rPr lang="en-US" altLang="zh-CN" sz="2400" dirty="0" smtClean="0">
                <a:sym typeface="+mn-lt"/>
              </a:rPr>
              <a:t>1~9 </a:t>
            </a:r>
            <a:r>
              <a:rPr lang="zh-CN" altLang="en-US" sz="2400" dirty="0" smtClean="0">
                <a:sym typeface="+mn-lt"/>
              </a:rPr>
              <a:t>字符，则显示之；若为</a:t>
            </a:r>
            <a:r>
              <a:rPr lang="en-US" altLang="zh-CN" sz="2400" dirty="0" smtClean="0">
                <a:sym typeface="+mn-lt"/>
              </a:rPr>
              <a:t>A~Z</a:t>
            </a:r>
            <a:r>
              <a:rPr lang="zh-CN" altLang="en-US" sz="2400" dirty="0" smtClean="0">
                <a:sym typeface="+mn-lt"/>
              </a:rPr>
              <a:t>字符，显示“</a:t>
            </a:r>
            <a:r>
              <a:rPr lang="en-US" altLang="zh-CN" sz="2400" dirty="0" smtClean="0">
                <a:sym typeface="+mn-lt"/>
              </a:rPr>
              <a:t>C</a:t>
            </a:r>
            <a:r>
              <a:rPr lang="zh-CN" altLang="en-US" sz="2400" dirty="0" smtClean="0">
                <a:sym typeface="+mn-lt"/>
              </a:rPr>
              <a:t>”，若为</a:t>
            </a:r>
            <a:r>
              <a:rPr lang="en-US" altLang="zh-CN" sz="2400" dirty="0" smtClean="0">
                <a:sym typeface="+mn-lt"/>
              </a:rPr>
              <a:t>a-z </a:t>
            </a:r>
            <a:r>
              <a:rPr lang="zh-CN" altLang="en-US" sz="2400" dirty="0" smtClean="0">
                <a:sym typeface="+mn-lt"/>
              </a:rPr>
              <a:t>字符，显示“</a:t>
            </a:r>
            <a:r>
              <a:rPr lang="en-US" altLang="zh-CN" sz="2400" dirty="0" smtClean="0">
                <a:sym typeface="+mn-lt"/>
              </a:rPr>
              <a:t>C</a:t>
            </a:r>
            <a:r>
              <a:rPr lang="zh-CN" altLang="en-US" sz="2400" dirty="0" smtClean="0">
                <a:sym typeface="+mn-lt"/>
              </a:rPr>
              <a:t>”，若是回车字符（</a:t>
            </a:r>
            <a:r>
              <a:rPr lang="en-US" altLang="zh-CN" sz="2400" dirty="0" smtClean="0">
                <a:sym typeface="+mn-lt"/>
              </a:rPr>
              <a:t>0DH</a:t>
            </a:r>
            <a:r>
              <a:rPr lang="zh-CN" altLang="en-US" sz="2400" dirty="0" smtClean="0">
                <a:sym typeface="+mn-lt"/>
              </a:rPr>
              <a:t>），则结束程序，若为其他按字符则显示“</a:t>
            </a:r>
            <a:r>
              <a:rPr lang="en-US" altLang="zh-CN" sz="2400" dirty="0" smtClean="0">
                <a:sym typeface="+mn-lt"/>
              </a:rPr>
              <a:t>R</a:t>
            </a:r>
            <a:r>
              <a:rPr lang="zh-CN" altLang="en-US" sz="2400" dirty="0" smtClean="0">
                <a:sym typeface="+mn-lt"/>
              </a:rPr>
              <a:t>”</a:t>
            </a:r>
            <a:endParaRPr lang="en-US" altLang="zh-CN" sz="2400" dirty="0" smtClean="0">
              <a:sym typeface="+mn-lt"/>
            </a:endParaRPr>
          </a:p>
          <a:p>
            <a:r>
              <a:rPr lang="en-US" altLang="zh-CN" sz="2400" dirty="0">
                <a:sym typeface="+mn-lt"/>
              </a:rPr>
              <a:t> </a:t>
            </a:r>
            <a:r>
              <a:rPr lang="en-US" altLang="zh-CN" sz="2400" dirty="0" smtClean="0">
                <a:sym typeface="+mn-lt"/>
              </a:rPr>
              <a:t>    </a:t>
            </a:r>
            <a:r>
              <a:rPr lang="zh-CN" altLang="en-US" sz="2400" dirty="0" smtClean="0">
                <a:sym typeface="+mn-lt"/>
              </a:rPr>
              <a:t>键盘输入字符：利用</a:t>
            </a:r>
            <a:r>
              <a:rPr lang="en-US" altLang="zh-CN" sz="2400" dirty="0" smtClean="0">
                <a:sym typeface="+mn-lt"/>
              </a:rPr>
              <a:t>DOS</a:t>
            </a:r>
            <a:r>
              <a:rPr lang="zh-CN" altLang="en-US" sz="2400" dirty="0" smtClean="0">
                <a:sym typeface="+mn-lt"/>
              </a:rPr>
              <a:t>功能调用的</a:t>
            </a:r>
            <a:r>
              <a:rPr lang="en-US" altLang="zh-CN" sz="2400" dirty="0" smtClean="0">
                <a:sym typeface="+mn-lt"/>
              </a:rPr>
              <a:t>07</a:t>
            </a:r>
            <a:r>
              <a:rPr lang="zh-CN" altLang="en-US" sz="2400" dirty="0" smtClean="0">
                <a:sym typeface="+mn-lt"/>
              </a:rPr>
              <a:t>号功能</a:t>
            </a:r>
            <a:endParaRPr lang="en-US" altLang="zh-CN" sz="2400"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492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9" grpId="0" bldLvl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711130" y="711857"/>
            <a:ext cx="9031054" cy="304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altLang="zh-CN" sz="2400" dirty="0" smtClean="0"/>
              <a:t> </a:t>
            </a:r>
            <a:r>
              <a:rPr lang="zh-CN" altLang="en-US" sz="2400" dirty="0" smtClean="0"/>
              <a:t>编写一段程序，要求根据用户键入的月份数在终端上显示该月的英文缩写名</a:t>
            </a:r>
            <a:endParaRPr lang="en-US" altLang="zh-CN" sz="2400" dirty="0" smtClean="0"/>
          </a:p>
          <a:p>
            <a:r>
              <a:rPr lang="zh-CN" altLang="en-US" sz="2400" dirty="0" smtClean="0">
                <a:sym typeface="+mn-lt"/>
              </a:rPr>
              <a:t>     例如</a:t>
            </a:r>
            <a:endParaRPr lang="en-US" altLang="zh-CN" sz="2400" dirty="0" smtClean="0">
              <a:sym typeface="+mn-lt"/>
            </a:endParaRPr>
          </a:p>
          <a:p>
            <a:r>
              <a:rPr lang="en-US" altLang="zh-CN" sz="2400" dirty="0">
                <a:sym typeface="+mn-lt"/>
              </a:rPr>
              <a:t> </a:t>
            </a:r>
            <a:r>
              <a:rPr lang="en-US" altLang="zh-CN" sz="2400" dirty="0" smtClean="0">
                <a:sym typeface="+mn-lt"/>
              </a:rPr>
              <a:t>    input </a:t>
            </a:r>
            <a:r>
              <a:rPr lang="zh-CN" altLang="en-US" sz="2400" dirty="0" smtClean="0">
                <a:sym typeface="+mn-lt"/>
              </a:rPr>
              <a:t>： </a:t>
            </a:r>
            <a:r>
              <a:rPr lang="en-US" altLang="zh-CN" sz="2400" dirty="0" smtClean="0">
                <a:sym typeface="+mn-lt"/>
              </a:rPr>
              <a:t>8</a:t>
            </a:r>
          </a:p>
          <a:p>
            <a:r>
              <a:rPr lang="en-US" altLang="zh-CN" sz="2400" dirty="0">
                <a:sym typeface="+mn-lt"/>
              </a:rPr>
              <a:t> </a:t>
            </a:r>
            <a:r>
              <a:rPr lang="en-US" altLang="zh-CN" sz="2400" dirty="0" smtClean="0">
                <a:sym typeface="+mn-lt"/>
              </a:rPr>
              <a:t>    output</a:t>
            </a:r>
            <a:r>
              <a:rPr lang="zh-CN" altLang="en-US" sz="2400" dirty="0" smtClean="0">
                <a:sym typeface="+mn-lt"/>
              </a:rPr>
              <a:t>： </a:t>
            </a:r>
            <a:r>
              <a:rPr lang="en-US" altLang="zh-CN" sz="2400" dirty="0" smtClean="0">
                <a:sym typeface="+mn-lt"/>
              </a:rPr>
              <a:t>OCT</a:t>
            </a:r>
          </a:p>
          <a:p>
            <a:r>
              <a:rPr lang="en-US" altLang="zh-CN" sz="2400" dirty="0">
                <a:sym typeface="+mn-lt"/>
              </a:rPr>
              <a:t> </a:t>
            </a:r>
            <a:r>
              <a:rPr lang="en-US" altLang="zh-CN" sz="2400" dirty="0" smtClean="0">
                <a:sym typeface="+mn-lt"/>
              </a:rPr>
              <a:t>   input </a:t>
            </a:r>
            <a:r>
              <a:rPr lang="zh-CN" altLang="en-US" sz="2400" dirty="0" smtClean="0">
                <a:sym typeface="+mn-lt"/>
              </a:rPr>
              <a:t>：</a:t>
            </a:r>
            <a:r>
              <a:rPr lang="en-US" altLang="zh-CN" sz="2400" dirty="0" smtClean="0">
                <a:sym typeface="+mn-lt"/>
              </a:rPr>
              <a:t>12</a:t>
            </a:r>
          </a:p>
          <a:p>
            <a:r>
              <a:rPr lang="en-US" altLang="zh-CN" sz="2400" dirty="0">
                <a:sym typeface="+mn-lt"/>
              </a:rPr>
              <a:t> </a:t>
            </a:r>
            <a:r>
              <a:rPr lang="en-US" altLang="zh-CN" sz="2400" dirty="0" smtClean="0">
                <a:sym typeface="+mn-lt"/>
              </a:rPr>
              <a:t>   output</a:t>
            </a:r>
            <a:r>
              <a:rPr lang="zh-CN" altLang="en-US" sz="2400" dirty="0" smtClean="0">
                <a:sym typeface="+mn-lt"/>
              </a:rPr>
              <a:t>：</a:t>
            </a:r>
            <a:r>
              <a:rPr lang="en-US" altLang="zh-CN" sz="2400" dirty="0" smtClean="0">
                <a:sym typeface="+mn-lt"/>
              </a:rPr>
              <a:t>DEC</a:t>
            </a:r>
            <a:endParaRPr lang="en-US" altLang="zh-CN" sz="2400" dirty="0">
              <a:sym typeface="+mn-lt"/>
            </a:endParaRPr>
          </a:p>
          <a:p>
            <a:endParaRPr lang="en-US" altLang="zh-CN" sz="2400" dirty="0"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558730" y="3467249"/>
            <a:ext cx="9031054" cy="193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ym typeface="+mn-lt"/>
              </a:rPr>
              <a:t>提示</a:t>
            </a:r>
            <a:r>
              <a:rPr lang="en-US" altLang="zh-CN" sz="2400" dirty="0" smtClean="0">
                <a:sym typeface="+mn-lt"/>
              </a:rPr>
              <a:t>1</a:t>
            </a:r>
            <a:r>
              <a:rPr lang="zh-CN" altLang="en-US" sz="2400" dirty="0" smtClean="0">
                <a:sym typeface="+mn-lt"/>
              </a:rPr>
              <a:t>：利用</a:t>
            </a:r>
            <a:r>
              <a:rPr lang="en-US" altLang="zh-CN" sz="2400" dirty="0" err="1" smtClean="0">
                <a:sym typeface="+mn-lt"/>
              </a:rPr>
              <a:t>oa</a:t>
            </a:r>
            <a:r>
              <a:rPr lang="zh-CN" altLang="en-US" sz="2400" dirty="0" smtClean="0">
                <a:sym typeface="+mn-lt"/>
              </a:rPr>
              <a:t>号功能调用，从键盘缓冲区中读入一串字符</a:t>
            </a:r>
            <a:endParaRPr lang="en-US" altLang="zh-CN" sz="2400" dirty="0" smtClean="0">
              <a:sym typeface="+mn-lt"/>
            </a:endParaRPr>
          </a:p>
          <a:p>
            <a:r>
              <a:rPr lang="en-US" altLang="zh-CN" sz="2400" dirty="0">
                <a:sym typeface="+mn-lt"/>
              </a:rPr>
              <a:t> </a:t>
            </a:r>
            <a:r>
              <a:rPr lang="en-US" altLang="zh-CN" sz="2400" dirty="0" smtClean="0">
                <a:sym typeface="+mn-lt"/>
              </a:rPr>
              <a:t>         </a:t>
            </a:r>
            <a:r>
              <a:rPr lang="zh-CN" altLang="en-US" sz="2400" dirty="0" smtClean="0">
                <a:sym typeface="+mn-lt"/>
              </a:rPr>
              <a:t>仿照实验二示例</a:t>
            </a:r>
            <a:endParaRPr lang="en-US" altLang="zh-CN" sz="2400" dirty="0" smtClean="0">
              <a:sym typeface="+mn-lt"/>
            </a:endParaRPr>
          </a:p>
          <a:p>
            <a:r>
              <a:rPr lang="zh-CN" altLang="en-US" sz="2400" dirty="0" smtClean="0">
                <a:sym typeface="+mn-lt"/>
              </a:rPr>
              <a:t>提示</a:t>
            </a:r>
            <a:r>
              <a:rPr lang="en-US" altLang="zh-CN" sz="2400" dirty="0" smtClean="0">
                <a:sym typeface="+mn-lt"/>
              </a:rPr>
              <a:t>2</a:t>
            </a:r>
            <a:r>
              <a:rPr lang="zh-CN" altLang="en-US" sz="2400" dirty="0" smtClean="0">
                <a:sym typeface="+mn-lt"/>
              </a:rPr>
              <a:t>：建立一个月份表：</a:t>
            </a:r>
            <a:endParaRPr lang="en-US" altLang="zh-CN" sz="2400" dirty="0" smtClean="0">
              <a:sym typeface="+mn-lt"/>
            </a:endParaRPr>
          </a:p>
          <a:p>
            <a:r>
              <a:rPr lang="en-US" altLang="zh-CN" sz="2400" dirty="0">
                <a:sym typeface="+mn-lt"/>
              </a:rPr>
              <a:t> </a:t>
            </a:r>
            <a:r>
              <a:rPr lang="en-US" altLang="zh-CN" sz="2400" dirty="0" smtClean="0">
                <a:sym typeface="+mn-lt"/>
              </a:rPr>
              <a:t>         </a:t>
            </a:r>
            <a:r>
              <a:rPr lang="en-US" altLang="zh-CN" sz="2400" dirty="0" err="1" smtClean="0">
                <a:sym typeface="+mn-lt"/>
              </a:rPr>
              <a:t>montab</a:t>
            </a:r>
            <a:r>
              <a:rPr lang="en-US" altLang="zh-CN" sz="2400" dirty="0" smtClean="0">
                <a:sym typeface="+mn-lt"/>
              </a:rPr>
              <a:t>  </a:t>
            </a:r>
            <a:r>
              <a:rPr lang="en-US" altLang="zh-CN" sz="2400" dirty="0" err="1" smtClean="0">
                <a:sym typeface="+mn-lt"/>
              </a:rPr>
              <a:t>db</a:t>
            </a:r>
            <a:r>
              <a:rPr lang="en-US" altLang="zh-CN" sz="2400" dirty="0" smtClean="0">
                <a:sym typeface="+mn-lt"/>
              </a:rPr>
              <a:t> </a:t>
            </a:r>
            <a:r>
              <a:rPr lang="zh-CN" altLang="en-US" sz="2400" dirty="0" smtClean="0">
                <a:sym typeface="+mn-lt"/>
              </a:rPr>
              <a:t>‘</a:t>
            </a:r>
            <a:r>
              <a:rPr lang="en-US" altLang="zh-CN" sz="2400" dirty="0" smtClean="0">
                <a:sym typeface="+mn-lt"/>
              </a:rPr>
              <a:t>JAN’,’FEB’,…..,’DEC’</a:t>
            </a:r>
          </a:p>
          <a:p>
            <a:r>
              <a:rPr lang="en-US" altLang="zh-CN" sz="2400" dirty="0" smtClean="0">
                <a:sym typeface="+mn-lt"/>
              </a:rPr>
              <a:t>			</a:t>
            </a:r>
            <a:endParaRPr lang="en-US" altLang="zh-CN" sz="2400"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4996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  <p:bldP spid="5" grpId="0" bldLvl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686746" y="662371"/>
            <a:ext cx="9031054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zh-CN" altLang="en-US" sz="2400" dirty="0" smtClean="0">
                <a:sym typeface="+mn-lt"/>
              </a:rPr>
              <a:t>接受用户键入的一行字符串（个数不超过</a:t>
            </a:r>
            <a:r>
              <a:rPr lang="en-US" altLang="zh-CN" sz="2400" dirty="0" smtClean="0">
                <a:sym typeface="+mn-lt"/>
              </a:rPr>
              <a:t>80</a:t>
            </a:r>
            <a:r>
              <a:rPr lang="zh-CN" altLang="en-US" sz="2400" dirty="0" smtClean="0">
                <a:sym typeface="+mn-lt"/>
              </a:rPr>
              <a:t>个</a:t>
            </a:r>
            <a:r>
              <a:rPr lang="en-US" altLang="zh-CN" sz="2400" dirty="0" smtClean="0">
                <a:sym typeface="+mn-lt"/>
              </a:rPr>
              <a:t>,</a:t>
            </a:r>
            <a:r>
              <a:rPr lang="zh-CN" altLang="en-US" sz="2400" dirty="0" smtClean="0">
                <a:sym typeface="+mn-lt"/>
              </a:rPr>
              <a:t>用回车键结束），要求统计这一字符串中字母、数字、其他字符出现的次数，将结果存入以</a:t>
            </a:r>
            <a:r>
              <a:rPr lang="en-US" altLang="zh-CN" sz="2400" dirty="0" smtClean="0">
                <a:sym typeface="+mn-lt"/>
              </a:rPr>
              <a:t>letter</a:t>
            </a:r>
            <a:r>
              <a:rPr lang="zh-CN" altLang="en-US" sz="2400" dirty="0" smtClean="0">
                <a:sym typeface="+mn-lt"/>
              </a:rPr>
              <a:t>、</a:t>
            </a:r>
            <a:r>
              <a:rPr lang="en-US" altLang="zh-CN" sz="2400" dirty="0" smtClean="0">
                <a:sym typeface="+mn-lt"/>
              </a:rPr>
              <a:t>digit </a:t>
            </a:r>
            <a:r>
              <a:rPr lang="zh-CN" altLang="en-US" sz="2400" dirty="0" smtClean="0">
                <a:sym typeface="+mn-lt"/>
              </a:rPr>
              <a:t>和 </a:t>
            </a:r>
            <a:r>
              <a:rPr lang="en-US" altLang="zh-CN" sz="2400" dirty="0" smtClean="0">
                <a:sym typeface="+mn-lt"/>
              </a:rPr>
              <a:t>other</a:t>
            </a:r>
            <a:r>
              <a:rPr lang="zh-CN" altLang="en-US" sz="2400" dirty="0" smtClean="0">
                <a:sym typeface="+mn-lt"/>
              </a:rPr>
              <a:t>为名的存储单元中</a:t>
            </a:r>
            <a:endParaRPr lang="en-US" altLang="zh-CN" sz="2400" dirty="0" smtClean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9073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5692-B8B3-435C-A09C-6228FCA9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实验报告及作业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EE591-09B0-4AB8-A317-B725E1A7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给出</a:t>
            </a:r>
            <a:r>
              <a:rPr lang="zh-CN" altLang="en-US" dirty="0" smtClean="0"/>
              <a:t>实验内容</a:t>
            </a:r>
            <a:r>
              <a:rPr lang="en-US" altLang="zh-CN" dirty="0" smtClean="0"/>
              <a:t>1~3</a:t>
            </a:r>
            <a:r>
              <a:rPr lang="zh-CN" altLang="en-US" dirty="0" smtClean="0"/>
              <a:t>的程序代码、程序流程图、调试及运行结果截图</a:t>
            </a:r>
            <a:endParaRPr lang="en-US" altLang="zh-CN" dirty="0" smtClean="0"/>
          </a:p>
          <a:p>
            <a:pPr marL="514350" indent="-514350">
              <a:buAutoNum type="arabicPeriod"/>
            </a:pPr>
            <a:r>
              <a:rPr lang="zh-CN" altLang="en-US" smtClean="0"/>
              <a:t>实验</a:t>
            </a:r>
            <a:r>
              <a:rPr lang="zh-CN" altLang="en-US" dirty="0" smtClean="0"/>
              <a:t>总结（实验过程错误总结、知识点掌握情况）</a:t>
            </a:r>
            <a:endParaRPr lang="en-US" altLang="zh-CN" dirty="0" smtClean="0"/>
          </a:p>
          <a:p>
            <a:pPr marL="457200" lvl="1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62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562</Words>
  <Application>Microsoft Office PowerPoint</Application>
  <PresentationFormat>宽屏</PresentationFormat>
  <Paragraphs>54</Paragraphs>
  <Slides>12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方正粗谭黑简体</vt:lpstr>
      <vt:lpstr>宋体</vt:lpstr>
      <vt:lpstr>微软雅黑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实验报告及作业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guo feng</cp:lastModifiedBy>
  <cp:revision>140</cp:revision>
  <dcterms:created xsi:type="dcterms:W3CDTF">2019-06-11T09:29:47Z</dcterms:created>
  <dcterms:modified xsi:type="dcterms:W3CDTF">2020-04-09T07:03:19Z</dcterms:modified>
</cp:coreProperties>
</file>