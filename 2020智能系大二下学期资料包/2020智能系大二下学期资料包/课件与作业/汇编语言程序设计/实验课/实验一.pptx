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76" r:id="rId3"/>
    <p:sldId id="299" r:id="rId4"/>
    <p:sldId id="300" r:id="rId5"/>
    <p:sldId id="301" r:id="rId6"/>
    <p:sldId id="295" r:id="rId7"/>
    <p:sldId id="296" r:id="rId8"/>
    <p:sldId id="297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95" d="100"/>
          <a:sy n="95" d="100"/>
        </p:scale>
        <p:origin x="116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29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6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465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67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实验一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5999198" y="4101335"/>
            <a:ext cx="4721354" cy="154657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dirty="0"/>
              <a:t>汇编语言程序上机及调试</a:t>
            </a:r>
            <a:endParaRPr lang="en-US" altLang="zh-CN" sz="2400" dirty="0"/>
          </a:p>
          <a:p>
            <a:pPr algn="dist">
              <a:defRPr/>
            </a:pPr>
            <a:endParaRPr lang="en-US" altLang="zh-CN" sz="2400" dirty="0"/>
          </a:p>
          <a:p>
            <a:pPr algn="ctr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林颖</a:t>
            </a:r>
            <a:endParaRPr lang="en-US" altLang="zh-CN" sz="2400" spc="225" dirty="0">
              <a:solidFill>
                <a:srgbClr val="292929"/>
              </a:solidFill>
              <a:cs typeface="+mn-ea"/>
              <a:sym typeface="+mn-lt"/>
            </a:endParaRPr>
          </a:p>
          <a:p>
            <a:pPr algn="ctr">
              <a:defRPr/>
            </a:pPr>
            <a:r>
              <a:rPr lang="en-US" altLang="zh-CN" sz="2400" spc="225" dirty="0">
                <a:solidFill>
                  <a:srgbClr val="292929"/>
                </a:solidFill>
                <a:cs typeface="+mn-ea"/>
                <a:sym typeface="+mn-lt"/>
              </a:rPr>
              <a:t>linying@xmu.edu.cn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9031054" cy="404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学习、掌握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Emu8086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软件的使用方法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了解汇编语言的程序结构，能正确书写数据段、代码段等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Emu8086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功能，查看寄存器（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CS,IP,AX,DS..)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及数据段的内容变化，熟悉并了解程序调试方法，并认真观察、判断每条指令执行的结果是否正确。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对错误结果，能够做出相应的处理。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33612D3-B21C-4EB2-8013-A0F7E882D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887" y="112643"/>
            <a:ext cx="6190925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D7879C9-E6C7-4786-9C13-6627A333B4A8}"/>
              </a:ext>
            </a:extLst>
          </p:cNvPr>
          <p:cNvSpPr/>
          <p:nvPr/>
        </p:nvSpPr>
        <p:spPr>
          <a:xfrm>
            <a:off x="6347791" y="1186070"/>
            <a:ext cx="3412435" cy="12854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579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Emu8086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使用方法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7333AD4-10E3-4602-93A3-7B5D8052D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68" y="1672072"/>
            <a:ext cx="4991875" cy="464258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B498514-BE65-409B-AFA6-4CA4D7E92A7C}"/>
              </a:ext>
            </a:extLst>
          </p:cNvPr>
          <p:cNvSpPr/>
          <p:nvPr/>
        </p:nvSpPr>
        <p:spPr>
          <a:xfrm>
            <a:off x="6347790" y="2531164"/>
            <a:ext cx="4565375" cy="32467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D8B2AD-7E83-45AF-A43E-CDE74D9829BC}"/>
              </a:ext>
            </a:extLst>
          </p:cNvPr>
          <p:cNvSpPr/>
          <p:nvPr/>
        </p:nvSpPr>
        <p:spPr>
          <a:xfrm>
            <a:off x="6500190" y="2895601"/>
            <a:ext cx="3816627" cy="23058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AF2B9B-5C7E-4DE4-85E6-9DBBFE084A19}"/>
              </a:ext>
            </a:extLst>
          </p:cNvPr>
          <p:cNvSpPr txBox="1"/>
          <p:nvPr/>
        </p:nvSpPr>
        <p:spPr>
          <a:xfrm>
            <a:off x="168239" y="1035624"/>
            <a:ext cx="9031054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新建汇编程序（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asm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948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9" grpId="0" animBg="1"/>
      <p:bldP spid="11" grpId="0" animBg="1"/>
      <p:bldP spid="13" grpId="0" bldLvl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579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Emu8086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使用方法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AF2B9B-5C7E-4DE4-85E6-9DBBFE084A19}"/>
              </a:ext>
            </a:extLst>
          </p:cNvPr>
          <p:cNvSpPr txBox="1"/>
          <p:nvPr/>
        </p:nvSpPr>
        <p:spPr>
          <a:xfrm>
            <a:off x="465221" y="1241032"/>
            <a:ext cx="9031054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编译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11B179-C699-4364-BEA0-28A9441DB6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899"/>
          <a:stretch/>
        </p:blipFill>
        <p:spPr>
          <a:xfrm>
            <a:off x="1655441" y="951446"/>
            <a:ext cx="6190925" cy="563048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9D8B2AD-7E83-45AF-A43E-CDE74D9829BC}"/>
              </a:ext>
            </a:extLst>
          </p:cNvPr>
          <p:cNvSpPr/>
          <p:nvPr/>
        </p:nvSpPr>
        <p:spPr>
          <a:xfrm>
            <a:off x="4298348" y="1424951"/>
            <a:ext cx="549966" cy="3683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9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bldLvl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579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Emu8086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使用方法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AF2B9B-5C7E-4DE4-85E6-9DBBFE084A19}"/>
              </a:ext>
            </a:extLst>
          </p:cNvPr>
          <p:cNvSpPr txBox="1"/>
          <p:nvPr/>
        </p:nvSpPr>
        <p:spPr>
          <a:xfrm>
            <a:off x="465221" y="1241032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运行打开模拟器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</a:t>
            </a:r>
          </a:p>
          <a:p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2B5ACB6-4349-47BD-BB9A-047C5C6F0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078" y="276066"/>
            <a:ext cx="8578516" cy="6858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310104B-39E2-4934-9F7E-75A8E18B7669}"/>
              </a:ext>
            </a:extLst>
          </p:cNvPr>
          <p:cNvSpPr/>
          <p:nvPr/>
        </p:nvSpPr>
        <p:spPr>
          <a:xfrm>
            <a:off x="6471705" y="749090"/>
            <a:ext cx="549966" cy="3683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01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bldLvl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7" y="986715"/>
            <a:ext cx="10141633" cy="581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程序，利用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Emu8086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进行编译并使用单步（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）功能，观察寄存器的变化并记录，根据运行结果给出该程序实现的功能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编写一个汇编程序，在数据表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中存放数据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0F865H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，在数据表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中存放数据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360CH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，要求将两数分别取出相加，然后将计算结果存放到当前数据段，偏移地址为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2800H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的单元中。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仿照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编写一个汇编程序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,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输出一段自我介绍，要求</a:t>
            </a:r>
            <a:r>
              <a:rPr lang="zh-CN" altLang="en-US" sz="2400" dirty="0"/>
              <a:t>分三行输出姓名、学号、自我介绍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（选作）有如下指令序列</a:t>
            </a:r>
            <a:endParaRPr lang="en-US" altLang="zh-CN" sz="2400" dirty="0"/>
          </a:p>
          <a:p>
            <a:pPr lvl="1"/>
            <a:r>
              <a:rPr lang="en-US" altLang="zh-CN" sz="2400" dirty="0"/>
              <a:t>mov al</a:t>
            </a:r>
            <a:r>
              <a:rPr lang="zh-CN" altLang="en-US" sz="2400" dirty="0"/>
              <a:t>，</a:t>
            </a:r>
            <a:r>
              <a:rPr lang="en-US" altLang="zh-CN" sz="2400" dirty="0"/>
              <a:t>81h</a:t>
            </a:r>
          </a:p>
          <a:p>
            <a:pPr lvl="1"/>
            <a:r>
              <a:rPr lang="en-US" altLang="zh-CN" sz="2400" dirty="0"/>
              <a:t>add al</a:t>
            </a:r>
            <a:r>
              <a:rPr lang="zh-CN" altLang="en-US" sz="2400" dirty="0"/>
              <a:t>，</a:t>
            </a:r>
            <a:r>
              <a:rPr lang="en-US" altLang="zh-CN" sz="2400" dirty="0"/>
              <a:t>al</a:t>
            </a:r>
          </a:p>
          <a:p>
            <a:pPr lvl="1"/>
            <a:r>
              <a:rPr lang="en-US" altLang="zh-CN" sz="2400" dirty="0" err="1"/>
              <a:t>adc</a:t>
            </a:r>
            <a:r>
              <a:rPr lang="en-US" altLang="zh-CN" sz="2400" dirty="0"/>
              <a:t> al</a:t>
            </a:r>
            <a:r>
              <a:rPr lang="zh-CN" altLang="en-US" sz="2400" dirty="0"/>
              <a:t>，</a:t>
            </a:r>
            <a:r>
              <a:rPr lang="en-US" altLang="zh-CN" sz="2400" dirty="0"/>
              <a:t>al</a:t>
            </a:r>
          </a:p>
          <a:p>
            <a:pPr lvl="1"/>
            <a:r>
              <a:rPr lang="zh-CN" altLang="en-US" sz="2400" dirty="0"/>
              <a:t>将其编写在一个完整的汇编程序里，尝试利用</a:t>
            </a:r>
            <a:r>
              <a:rPr lang="en-US" altLang="zh-CN" sz="2400" dirty="0"/>
              <a:t>emu8086</a:t>
            </a:r>
            <a:r>
              <a:rPr lang="zh-CN" altLang="en-US" sz="2400" dirty="0"/>
              <a:t>的</a:t>
            </a:r>
            <a:r>
              <a:rPr lang="en-US" altLang="zh-CN" sz="2400" dirty="0"/>
              <a:t>debug</a:t>
            </a:r>
            <a:r>
              <a:rPr lang="zh-CN" altLang="en-US" sz="2400" dirty="0"/>
              <a:t>模拟器观察执行后</a:t>
            </a:r>
            <a:r>
              <a:rPr lang="en-US" altLang="zh-CN" sz="2400" dirty="0"/>
              <a:t>al</a:t>
            </a:r>
            <a:r>
              <a:rPr lang="zh-CN" altLang="en-US" sz="2400" dirty="0"/>
              <a:t>寄存器的值，以及</a:t>
            </a:r>
            <a:r>
              <a:rPr lang="en-US" altLang="zh-CN" sz="2400" dirty="0"/>
              <a:t>CF</a:t>
            </a:r>
            <a:r>
              <a:rPr lang="zh-CN" altLang="en-US" sz="2400" dirty="0"/>
              <a:t>、</a:t>
            </a:r>
            <a:r>
              <a:rPr lang="en-US" altLang="zh-CN" sz="2400" dirty="0"/>
              <a:t>ZF</a:t>
            </a:r>
            <a:r>
              <a:rPr lang="zh-CN" altLang="en-US" sz="2400" dirty="0"/>
              <a:t>、</a:t>
            </a:r>
            <a:r>
              <a:rPr lang="en-US" altLang="zh-CN" sz="2400" dirty="0"/>
              <a:t>OF</a:t>
            </a:r>
            <a:r>
              <a:rPr lang="zh-CN" altLang="en-US" sz="2400" dirty="0"/>
              <a:t>标志位的值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9568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1C3D62B-71C7-4C11-9E00-90CCDFB32A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977"/>
          <a:stretch/>
        </p:blipFill>
        <p:spPr>
          <a:xfrm>
            <a:off x="399446" y="520261"/>
            <a:ext cx="4834706" cy="56621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E6027F-170C-405D-85A2-1AF731976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560"/>
          <a:stretch/>
        </p:blipFill>
        <p:spPr>
          <a:xfrm>
            <a:off x="5840828" y="520260"/>
            <a:ext cx="5747838" cy="566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7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分析</a:t>
            </a:r>
            <a:r>
              <a:rPr lang="en-US" altLang="zh-CN" dirty="0"/>
              <a:t>sample.asm</a:t>
            </a:r>
            <a:r>
              <a:rPr lang="zh-CN" altLang="en-US" dirty="0"/>
              <a:t>程序，画出程序流程图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给出实验内容</a:t>
            </a:r>
            <a:r>
              <a:rPr lang="en-US" altLang="zh-CN" dirty="0"/>
              <a:t>2</a:t>
            </a:r>
            <a:r>
              <a:rPr lang="zh-CN" altLang="en-US" dirty="0"/>
              <a:t>的源程序代码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给出实验内容</a:t>
            </a:r>
            <a:r>
              <a:rPr lang="en-US" altLang="zh-CN" dirty="0"/>
              <a:t>3</a:t>
            </a:r>
            <a:r>
              <a:rPr lang="zh-CN" altLang="en-US" dirty="0"/>
              <a:t>的程序片段（关键部分的源码）和运行结果截图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汇编及调试时产生的错误，其原因及解决方法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思考</a:t>
            </a:r>
            <a:endParaRPr lang="en-US" altLang="zh-CN" dirty="0"/>
          </a:p>
          <a:p>
            <a:pPr lvl="1"/>
            <a:r>
              <a:rPr lang="zh-CN" altLang="en-US" dirty="0"/>
              <a:t>结合课本附录</a:t>
            </a:r>
            <a:r>
              <a:rPr lang="en-US" altLang="zh-CN" dirty="0"/>
              <a:t>4  </a:t>
            </a:r>
            <a:r>
              <a:rPr lang="en-US" altLang="zh-CN" dirty="0">
                <a:solidFill>
                  <a:srgbClr val="7030A0"/>
                </a:solidFill>
              </a:rPr>
              <a:t>Dos</a:t>
            </a:r>
            <a:r>
              <a:rPr lang="zh-CN" altLang="en-US" dirty="0">
                <a:solidFill>
                  <a:srgbClr val="7030A0"/>
                </a:solidFill>
              </a:rPr>
              <a:t>系统功能调用（</a:t>
            </a:r>
            <a:r>
              <a:rPr lang="en-US" altLang="zh-CN" dirty="0">
                <a:solidFill>
                  <a:srgbClr val="7030A0"/>
                </a:solidFill>
              </a:rPr>
              <a:t>INT 21H</a:t>
            </a:r>
            <a:r>
              <a:rPr lang="zh-CN" altLang="en-US" dirty="0">
                <a:solidFill>
                  <a:srgbClr val="7030A0"/>
                </a:solidFill>
              </a:rPr>
              <a:t>）</a:t>
            </a:r>
            <a:r>
              <a:rPr lang="zh-CN" altLang="en-US" dirty="0"/>
              <a:t>，说说</a:t>
            </a:r>
            <a:r>
              <a:rPr lang="en-US" altLang="zh-CN" dirty="0"/>
              <a:t>int 21h</a:t>
            </a:r>
            <a:r>
              <a:rPr lang="zh-CN" altLang="en-US" dirty="0"/>
              <a:t>指令的含义，并尝试输入、输出字符的终端调用方法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379</Words>
  <Application>Microsoft Office PowerPoint</Application>
  <PresentationFormat>宽屏</PresentationFormat>
  <Paragraphs>39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 ying</cp:lastModifiedBy>
  <cp:revision>86</cp:revision>
  <dcterms:created xsi:type="dcterms:W3CDTF">2019-06-11T09:29:47Z</dcterms:created>
  <dcterms:modified xsi:type="dcterms:W3CDTF">2020-03-12T08:25:21Z</dcterms:modified>
</cp:coreProperties>
</file>