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318" r:id="rId3"/>
    <p:sldId id="319" r:id="rId4"/>
    <p:sldId id="320" r:id="rId5"/>
    <p:sldId id="321" r:id="rId6"/>
    <p:sldId id="276" r:id="rId7"/>
    <p:sldId id="317" r:id="rId8"/>
    <p:sldId id="312" r:id="rId9"/>
    <p:sldId id="297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88" d="100"/>
          <a:sy n="88" d="100"/>
        </p:scale>
        <p:origin x="37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实验七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综合程序设计实验</a:t>
            </a:r>
            <a:r>
              <a:rPr lang="en-US" altLang="zh-CN" sz="2400" spc="225">
                <a:solidFill>
                  <a:srgbClr val="292929"/>
                </a:solidFill>
                <a:cs typeface="+mn-ea"/>
                <a:sym typeface="+mn-lt"/>
              </a:rPr>
              <a:t>2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954B03-477E-40C6-BCEB-C7B89BE56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646" y="847592"/>
            <a:ext cx="4877051" cy="516281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04BC9E9-C2D1-4147-9EF9-52263475CB4C}"/>
              </a:ext>
            </a:extLst>
          </p:cNvPr>
          <p:cNvSpPr/>
          <p:nvPr/>
        </p:nvSpPr>
        <p:spPr>
          <a:xfrm>
            <a:off x="674913" y="391664"/>
            <a:ext cx="8701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个正整数，要求编写汇编程序使其在内存中按照从小到大的顺序排序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9F0F3B-69E4-4196-8666-A9AE0E5A8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94" y="1492218"/>
            <a:ext cx="6385520" cy="14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3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DBF279-4324-4D3D-85A9-62278DAA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140" y="903514"/>
            <a:ext cx="5831687" cy="504619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6443B20-4F05-41B8-899A-E78F62F0FB8F}"/>
              </a:ext>
            </a:extLst>
          </p:cNvPr>
          <p:cNvSpPr/>
          <p:nvPr/>
        </p:nvSpPr>
        <p:spPr>
          <a:xfrm>
            <a:off x="824087" y="718848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给定一个正整数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，计算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114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2450764-8308-4025-9F81-5F6340052BA7}"/>
              </a:ext>
            </a:extLst>
          </p:cNvPr>
          <p:cNvSpPr/>
          <p:nvPr/>
        </p:nvSpPr>
        <p:spPr>
          <a:xfrm>
            <a:off x="587828" y="348297"/>
            <a:ext cx="9724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有一个首地址为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50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个字节数组，编制程序删除数组中所有为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的项，并将后续项向前压缩，最后将数组的剩余部分补上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MEM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12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15, 0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</a:t>
            </a: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程序执行后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MEM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里的数据变为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12,15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-100,…,0,0,0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DCA7CE-DF1C-471C-B645-D83D3E5D2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709" y="1779710"/>
            <a:ext cx="3848298" cy="403880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AC24F92-D716-4ADF-A0AB-59DE75542CD0}"/>
              </a:ext>
            </a:extLst>
          </p:cNvPr>
          <p:cNvSpPr txBox="1"/>
          <p:nvPr/>
        </p:nvSpPr>
        <p:spPr>
          <a:xfrm>
            <a:off x="6515100" y="188595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1F286-2A7A-4CEC-B486-76D9437AE4F8}"/>
              </a:ext>
            </a:extLst>
          </p:cNvPr>
          <p:cNvSpPr txBox="1"/>
          <p:nvPr/>
        </p:nvSpPr>
        <p:spPr>
          <a:xfrm>
            <a:off x="7404100" y="276860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6004D1-5D6D-4422-B0F1-011414C8386D}"/>
              </a:ext>
            </a:extLst>
          </p:cNvPr>
          <p:cNvSpPr txBox="1"/>
          <p:nvPr/>
        </p:nvSpPr>
        <p:spPr>
          <a:xfrm>
            <a:off x="8223250" y="27686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A9B8012-1BC7-40E8-8334-CB1EA977BE14}"/>
              </a:ext>
            </a:extLst>
          </p:cNvPr>
          <p:cNvCxnSpPr>
            <a:stCxn id="7" idx="0"/>
          </p:cNvCxnSpPr>
          <p:nvPr/>
        </p:nvCxnSpPr>
        <p:spPr>
          <a:xfrm flipV="1">
            <a:off x="7579789" y="2255282"/>
            <a:ext cx="0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CE9B6B4-6C02-403F-A295-FF3AEDE19B66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7651750" y="2255282"/>
            <a:ext cx="753601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0BD2E5D-C8C2-46B0-BA6C-F9EE9D5B0149}"/>
              </a:ext>
            </a:extLst>
          </p:cNvPr>
          <p:cNvSpPr txBox="1"/>
          <p:nvPr/>
        </p:nvSpPr>
        <p:spPr>
          <a:xfrm>
            <a:off x="6515100" y="3027919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45F6CC-9157-4CC4-9502-DC9C1F381EB2}"/>
              </a:ext>
            </a:extLst>
          </p:cNvPr>
          <p:cNvSpPr txBox="1"/>
          <p:nvPr/>
        </p:nvSpPr>
        <p:spPr>
          <a:xfrm>
            <a:off x="7404100" y="391056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C762CA-C5C8-4145-96C8-55A2B9CE149B}"/>
              </a:ext>
            </a:extLst>
          </p:cNvPr>
          <p:cNvSpPr txBox="1"/>
          <p:nvPr/>
        </p:nvSpPr>
        <p:spPr>
          <a:xfrm>
            <a:off x="8223250" y="39105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A7EB069-3BB4-4F1E-B48D-AA68E05176D5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7579789" y="3340100"/>
            <a:ext cx="332311" cy="570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80E8A54-96F2-4531-8E10-2B5527A85E5E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flipH="1" flipV="1">
            <a:off x="8056548" y="3397251"/>
            <a:ext cx="348803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055C53D-6115-4886-9728-E0C9F81EFABF}"/>
              </a:ext>
            </a:extLst>
          </p:cNvPr>
          <p:cNvSpPr txBox="1"/>
          <p:nvPr/>
        </p:nvSpPr>
        <p:spPr>
          <a:xfrm>
            <a:off x="6515100" y="4264106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      12   0  15  0  0 -100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835C6B-7999-4EC2-B31D-1A937A1E10F2}"/>
              </a:ext>
            </a:extLst>
          </p:cNvPr>
          <p:cNvSpPr txBox="1"/>
          <p:nvPr/>
        </p:nvSpPr>
        <p:spPr>
          <a:xfrm>
            <a:off x="7404100" y="51467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8C79DB-332F-4597-B752-16BD33593F7B}"/>
              </a:ext>
            </a:extLst>
          </p:cNvPr>
          <p:cNvSpPr txBox="1"/>
          <p:nvPr/>
        </p:nvSpPr>
        <p:spPr>
          <a:xfrm>
            <a:off x="8223250" y="514675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E98E65B-EC1A-4560-A818-812E48718CED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7579789" y="4633438"/>
            <a:ext cx="745061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BF41FED-A618-4951-B7FB-3C0A9F429159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flipH="1" flipV="1">
            <a:off x="8056548" y="4633438"/>
            <a:ext cx="348803" cy="51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6C054FB-6D0A-4E31-B61E-28293255C423}"/>
              </a:ext>
            </a:extLst>
          </p:cNvPr>
          <p:cNvSpPr txBox="1"/>
          <p:nvPr/>
        </p:nvSpPr>
        <p:spPr>
          <a:xfrm>
            <a:off x="6515100" y="5610306"/>
            <a:ext cx="3082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Mem      12   15  0  0  0 -100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44CDAB8-9DB6-4704-91A5-6E8D846F6293}"/>
              </a:ext>
            </a:extLst>
          </p:cNvPr>
          <p:cNvSpPr txBox="1"/>
          <p:nvPr/>
        </p:nvSpPr>
        <p:spPr>
          <a:xfrm>
            <a:off x="7404100" y="64929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si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9AD029-377C-4ED8-9068-6D0B3560E4C3}"/>
              </a:ext>
            </a:extLst>
          </p:cNvPr>
          <p:cNvSpPr txBox="1"/>
          <p:nvPr/>
        </p:nvSpPr>
        <p:spPr>
          <a:xfrm>
            <a:off x="8223250" y="649295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di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790192C-9111-449C-A957-BAE73E7EE2D3}"/>
              </a:ext>
            </a:extLst>
          </p:cNvPr>
          <p:cNvCxnSpPr>
            <a:cxnSpLocks/>
          </p:cNvCxnSpPr>
          <p:nvPr/>
        </p:nvCxnSpPr>
        <p:spPr>
          <a:xfrm flipV="1">
            <a:off x="7579789" y="5922488"/>
            <a:ext cx="1609782" cy="700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CA7F157-F627-4E3B-8960-CF64BD15F53E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8405351" y="5924550"/>
            <a:ext cx="0" cy="56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3FF7488-9713-49A7-8B62-6C3271315393}"/>
              </a:ext>
            </a:extLst>
          </p:cNvPr>
          <p:cNvSpPr txBox="1"/>
          <p:nvPr/>
        </p:nvSpPr>
        <p:spPr>
          <a:xfrm>
            <a:off x="7848798" y="53315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55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9DF5DE4-F0E9-47FC-9A15-D5C768BD2311}"/>
              </a:ext>
            </a:extLst>
          </p:cNvPr>
          <p:cNvSpPr/>
          <p:nvPr/>
        </p:nvSpPr>
        <p:spPr>
          <a:xfrm>
            <a:off x="6214836" y="1318554"/>
            <a:ext cx="1095828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7436CE-899B-4621-B556-5B1522ABC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8" y="613901"/>
            <a:ext cx="4330340" cy="563019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35D2F7F-90CC-4CBE-B4C0-80D88C0BD8BA}"/>
              </a:ext>
            </a:extLst>
          </p:cNvPr>
          <p:cNvSpPr/>
          <p:nvPr/>
        </p:nvSpPr>
        <p:spPr>
          <a:xfrm>
            <a:off x="5196114" y="52229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AutoNum type="arabicPeriod" startAt="4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编写汇编程序实现，从键盘接收一个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位的十六进制数，并在终端上显示与它等值的二进制数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6F1383-6027-4A08-A83B-0D412E885107}"/>
              </a:ext>
            </a:extLst>
          </p:cNvPr>
          <p:cNvSpPr txBox="1"/>
          <p:nvPr/>
        </p:nvSpPr>
        <p:spPr>
          <a:xfrm>
            <a:off x="5054676" y="1293541"/>
            <a:ext cx="5681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键盘输入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转为数值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循环左移，得到一个二进制位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转成字符‘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zh-CN" altLang="en-US" dirty="0">
                <a:sym typeface="Wingdings" panose="05000000000000000000" pitchFamily="2" charset="2"/>
              </a:rPr>
              <a:t>’或‘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’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整体输出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B5EB31-F5A7-4365-9A6F-B02B609BD21E}"/>
              </a:ext>
            </a:extLst>
          </p:cNvPr>
          <p:cNvSpPr txBox="1"/>
          <p:nvPr/>
        </p:nvSpPr>
        <p:spPr>
          <a:xfrm>
            <a:off x="5054676" y="2222500"/>
            <a:ext cx="3873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键盘输入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取每个字符做如下操作：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    </a:t>
            </a:r>
            <a:r>
              <a:rPr lang="zh-CN" altLang="en-US" dirty="0">
                <a:sym typeface="Wingdings" panose="05000000000000000000" pitchFamily="2" charset="2"/>
              </a:rPr>
              <a:t>转成对应字符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    </a:t>
            </a:r>
            <a:r>
              <a:rPr lang="zh-CN" altLang="en-US" dirty="0">
                <a:sym typeface="Wingdings" panose="05000000000000000000" pitchFamily="2" charset="2"/>
              </a:rPr>
              <a:t>二进制输出</a:t>
            </a:r>
            <a:endParaRPr lang="en-US" altLang="zh-CN" dirty="0">
              <a:sym typeface="Wingdings" panose="05000000000000000000" pitchFamily="2" charset="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A8A9CFF-8216-4939-BF88-C98D8E7D0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549" y="3206111"/>
            <a:ext cx="3276675" cy="32910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77EB339-2096-4E12-A97E-7A270ECF1A11}"/>
              </a:ext>
            </a:extLst>
          </p:cNvPr>
          <p:cNvSpPr txBox="1"/>
          <p:nvPr/>
        </p:nvSpPr>
        <p:spPr>
          <a:xfrm>
            <a:off x="8179779" y="2639715"/>
            <a:ext cx="41582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’A’</a:t>
            </a:r>
            <a:r>
              <a:rPr lang="zh-CN" altLang="en-US" dirty="0"/>
              <a:t>为例</a:t>
            </a:r>
            <a:endParaRPr lang="en-US" altLang="zh-CN" dirty="0"/>
          </a:p>
          <a:p>
            <a:r>
              <a:rPr lang="en-US" altLang="zh-CN" dirty="0"/>
              <a:t>al</a:t>
            </a:r>
            <a:r>
              <a:rPr lang="zh-CN" altLang="en-US" dirty="0"/>
              <a:t>：</a:t>
            </a:r>
            <a:r>
              <a:rPr lang="en-US" altLang="zh-CN" dirty="0"/>
              <a:t>41H</a:t>
            </a:r>
          </a:p>
          <a:p>
            <a:r>
              <a:rPr lang="en-US" altLang="zh-CN" dirty="0"/>
              <a:t>      11H</a:t>
            </a:r>
          </a:p>
          <a:p>
            <a:r>
              <a:rPr lang="en-US" altLang="zh-CN" dirty="0"/>
              <a:t>      0AH</a:t>
            </a:r>
          </a:p>
          <a:p>
            <a:r>
              <a:rPr lang="en-US" altLang="zh-CN" dirty="0"/>
              <a:t>     A0H</a:t>
            </a:r>
            <a:r>
              <a:rPr lang="zh-CN" altLang="en-US" dirty="0"/>
              <a:t>（</a:t>
            </a:r>
            <a:r>
              <a:rPr lang="en-US" altLang="zh-CN" dirty="0"/>
              <a:t>10100000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    01000001  </a:t>
            </a:r>
            <a:r>
              <a:rPr lang="zh-CN" altLang="en-US" dirty="0"/>
              <a:t>（左移一次，此时</a:t>
            </a:r>
            <a:r>
              <a:rPr lang="en-US" altLang="zh-CN" dirty="0"/>
              <a:t>CF=1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ah</a:t>
            </a:r>
            <a:r>
              <a:rPr lang="zh-CN" altLang="en-US" dirty="0"/>
              <a:t>：</a:t>
            </a:r>
            <a:r>
              <a:rPr lang="en-US" altLang="zh-CN" dirty="0"/>
              <a:t>31H   </a:t>
            </a:r>
            <a:r>
              <a:rPr lang="zh-CN" altLang="en-US" dirty="0"/>
              <a:t>，得到数值位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       </a:t>
            </a:r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035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19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继续掌握汇编语言程序设计及调试方法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初识子程序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60D92A6-933B-4A23-86C0-8B33D42E5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33" y="458082"/>
            <a:ext cx="2616334" cy="977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805A37-6BC1-49A1-BEB5-A0CDF0A8D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33" y="1756581"/>
            <a:ext cx="3276768" cy="38673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BFBD2C-E6D8-4170-8AC3-028E96D15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497" y="458082"/>
            <a:ext cx="1632034" cy="17145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99D47D-B693-40BC-9976-15BA633F3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497" y="2840230"/>
            <a:ext cx="1739989" cy="130816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E96B6E-52AD-43EB-BD36-99841B2E1030}"/>
              </a:ext>
            </a:extLst>
          </p:cNvPr>
          <p:cNvSpPr txBox="1"/>
          <p:nvPr/>
        </p:nvSpPr>
        <p:spPr>
          <a:xfrm>
            <a:off x="596900" y="88750"/>
            <a:ext cx="5173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Sample7_1  </a:t>
            </a:r>
            <a:r>
              <a:rPr lang="zh-CN" altLang="en-US" dirty="0"/>
              <a:t>阅读以下程序片段，写出其实现功能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0FB0E3-8930-4108-AC62-DA520234E4C2}"/>
              </a:ext>
            </a:extLst>
          </p:cNvPr>
          <p:cNvSpPr/>
          <p:nvPr/>
        </p:nvSpPr>
        <p:spPr>
          <a:xfrm>
            <a:off x="5440657" y="4945387"/>
            <a:ext cx="46858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/>
              <a:t>DX</a:t>
            </a:r>
            <a:r>
              <a:rPr lang="zh-CN" altLang="en-US" dirty="0"/>
              <a:t>寄存器的值以</a:t>
            </a:r>
            <a:r>
              <a:rPr lang="en-US" altLang="zh-CN" dirty="0"/>
              <a:t>16</a:t>
            </a:r>
            <a:r>
              <a:rPr lang="zh-CN" altLang="en-US" dirty="0"/>
              <a:t>进制数方式在终端输出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9CCE86-E418-4B66-86A5-621E7701F675}"/>
              </a:ext>
            </a:extLst>
          </p:cNvPr>
          <p:cNvSpPr/>
          <p:nvPr/>
        </p:nvSpPr>
        <p:spPr>
          <a:xfrm>
            <a:off x="5440657" y="550119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子程序</a:t>
            </a:r>
          </a:p>
        </p:txBody>
      </p:sp>
    </p:spTree>
    <p:extLst>
      <p:ext uri="{BB962C8B-B14F-4D97-AF65-F5344CB8AC3E}">
        <p14:creationId xmlns:p14="http://schemas.microsoft.com/office/powerpoint/2010/main" val="254751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452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阅读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sample7_1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的程序代码片段，并编程实现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重新完成实验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题、第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题（实验六已完成且结果正确的可以不做）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计算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+2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+…+8!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的值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要求： 计算结果保存到以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result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开始的内存地址中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尝试将结果以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进制方式输出到屏幕中（选作）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尝试用子程序方式解决（选作）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提示：需要解决溢出问题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 startAt="4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给出实验内容的程序代码、程序流程图、调试及运行结果截图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12237</TotalTime>
  <Words>439</Words>
  <Application>Microsoft Office PowerPoint</Application>
  <PresentationFormat>宽屏</PresentationFormat>
  <Paragraphs>59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167</cp:revision>
  <dcterms:created xsi:type="dcterms:W3CDTF">2019-06-11T09:29:47Z</dcterms:created>
  <dcterms:modified xsi:type="dcterms:W3CDTF">2020-04-23T07:44:34Z</dcterms:modified>
</cp:coreProperties>
</file>