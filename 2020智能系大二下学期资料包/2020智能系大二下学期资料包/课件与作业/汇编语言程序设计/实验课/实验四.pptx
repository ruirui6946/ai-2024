
<file path=[Content_Types].xml><?xml version="1.0" encoding="utf-8"?>
<Types xmlns="http://schemas.openxmlformats.org/package/2006/content-types">
  <Default Extension="png" ContentType="image/png"/>
  <Default Extension="jpeg" ContentType="image/jpeg"/>
  <Default Extension="emf" ContentType="image/x-emf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notesMasters/notesMaster1.xml" ContentType="application/vnd.openxmlformats-officedocument.presentationml.notesMaster+xml"/>
  <Override PartName="/ppt/tags/tag1.xml" ContentType="application/vnd.openxmlformats-officedocument.presentationml.tags+xml"/>
  <Override PartName="/ppt/commentAuthors.xml" ContentType="application/vnd.openxmlformats-officedocument.presentationml.commentAuthors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ink/ink1.xml" ContentType="application/inkml+xml"/>
  <Override PartName="/ppt/ink/ink2.xml" ContentType="application/inkml+xml"/>
  <Override PartName="/ppt/ink/ink3.xml" ContentType="application/inkml+xml"/>
  <Override PartName="/ppt/ink/ink4.xml" ContentType="application/inkml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notesMasterIdLst>
    <p:notesMasterId r:id="rId13"/>
  </p:notesMasterIdLst>
  <p:sldIdLst>
    <p:sldId id="259" r:id="rId2"/>
    <p:sldId id="302" r:id="rId3"/>
    <p:sldId id="308" r:id="rId4"/>
    <p:sldId id="307" r:id="rId5"/>
    <p:sldId id="300" r:id="rId6"/>
    <p:sldId id="309" r:id="rId7"/>
    <p:sldId id="276" r:id="rId8"/>
    <p:sldId id="310" r:id="rId9"/>
    <p:sldId id="298" r:id="rId10"/>
    <p:sldId id="312" r:id="rId11"/>
    <p:sldId id="297" r:id="rId12"/>
  </p:sldIdLst>
  <p:sldSz cx="12192000" cy="6858000"/>
  <p:notesSz cx="6858000" cy="9144000"/>
  <p:custDataLst>
    <p:tags r:id="rId14"/>
  </p:custDataLst>
  <p:defaultTextStyle>
    <a:defPPr>
      <a:defRPr lang="zh-CN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3840">
          <p15:clr>
            <a:srgbClr val="A4A3A4"/>
          </p15:clr>
        </p15:guide>
      </p15:sldGuideLst>
    </p:ext>
  </p:extLst>
</p:presentation>
</file>

<file path=ppt/commentAuthors.xml><?xml version="1.0" encoding="utf-8"?>
<p:cmAuthorLst xmlns:a="http://schemas.openxmlformats.org/drawingml/2006/main" xmlns:r="http://schemas.openxmlformats.org/officeDocument/2006/relationships" xmlns:p="http://schemas.openxmlformats.org/presentationml/2006/main">
  <p:cmAuthor id="1" name="guo feng" initials="gf" lastIdx="1" clrIdx="0">
    <p:extLst>
      <p:ext uri="{19B8F6BF-5375-455C-9EA6-DF929625EA0E}">
        <p15:presenceInfo xmlns:p15="http://schemas.microsoft.com/office/powerpoint/2012/main" userId="9ea4ce8b2d07d5d6" providerId="Windows Live"/>
      </p:ext>
    </p:extLst>
  </p:cmAuthor>
</p:cmAuthorLst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clrMru>
    <a:srgbClr val="262626"/>
    <a:srgbClr val="FFD966"/>
    <a:srgbClr val="7F7F7F"/>
    <a:srgbClr val="F8CE7C"/>
    <a:srgbClr val="D0B0A9"/>
    <a:srgbClr val="4C302A"/>
    <a:srgbClr val="B7A784"/>
    <a:srgbClr val="D2836E"/>
    <a:srgbClr val="B59666"/>
    <a:srgbClr val="4B3850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1912" autoAdjust="0"/>
    <p:restoredTop sz="96318" autoAdjust="0"/>
  </p:normalViewPr>
  <p:slideViewPr>
    <p:cSldViewPr snapToGrid="0">
      <p:cViewPr varScale="1">
        <p:scale>
          <a:sx n="71" d="100"/>
          <a:sy n="71" d="100"/>
        </p:scale>
        <p:origin x="60" y="222"/>
      </p:cViewPr>
      <p:guideLst>
        <p:guide orient="horz" pos="2160"/>
        <p:guide pos="3840"/>
      </p:guideLst>
    </p:cSldViewPr>
  </p:slideViewPr>
  <p:notesTextViewPr>
    <p:cViewPr>
      <p:scale>
        <a:sx n="1" d="1"/>
        <a:sy n="1" d="1"/>
      </p:scale>
      <p:origin x="0" y="0"/>
    </p:cViewPr>
  </p:notesTextViewPr>
  <p:sorterViewPr>
    <p:cViewPr>
      <p:scale>
        <a:sx n="139" d="100"/>
        <a:sy n="139" d="100"/>
      </p:scale>
      <p:origin x="0" y="0"/>
    </p:cViewPr>
  </p:sorter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notesMaster" Target="notesMasters/notesMaster1.xml"/><Relationship Id="rId18" Type="http://schemas.openxmlformats.org/officeDocument/2006/relationships/theme" Target="theme/theme1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viewProps" Target="viewProps.xml"/><Relationship Id="rId2" Type="http://schemas.openxmlformats.org/officeDocument/2006/relationships/slide" Target="slides/slide1.xml"/><Relationship Id="rId16" Type="http://schemas.openxmlformats.org/officeDocument/2006/relationships/presProps" Target="presProp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commentAuthors" Target="commentAuthors.xml"/><Relationship Id="rId10" Type="http://schemas.openxmlformats.org/officeDocument/2006/relationships/slide" Target="slides/slide9.xml"/><Relationship Id="rId19" Type="http://schemas.openxmlformats.org/officeDocument/2006/relationships/tableStyles" Target="tableStyles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tags" Target="tags/tag1.xml"/></Relationships>
</file>

<file path=ppt/ink/ink1.xml><?xml version="1.0" encoding="utf-8"?>
<inkml:ink xmlns:inkml="http://www.w3.org/2003/InkML">
  <inkml:definitions>
    <inkml:context xml:id="ctx0">
      <inkml:inkSource xml:id="inkSrc0">
        <inkml:traceFormat>
          <inkml:channel name="X" type="integer" max="2560" units="cm"/>
          <inkml:channel name="Y" type="integer" max="1440" units="cm"/>
          <inkml:channel name="T" type="integer" max="2.14748E9" units="dev"/>
        </inkml:traceFormat>
        <inkml:channelProperties>
          <inkml:channelProperty channel="X" name="resolution" value="42.88107" units="1/cm"/>
          <inkml:channelProperty channel="Y" name="resolution" value="42.85714" units="1/cm"/>
          <inkml:channelProperty channel="T" name="resolution" value="1" units="1/dev"/>
        </inkml:channelProperties>
      </inkml:inkSource>
      <inkml:timestamp xml:id="ts0" timeString="2020-04-02T06:24:48.488"/>
    </inkml:context>
    <inkml:brush xml:id="br0">
      <inkml:brushProperty name="width" value="0.05292" units="cm"/>
      <inkml:brushProperty name="height" value="0.05292" units="cm"/>
      <inkml:brushProperty name="color" value="#FF0000"/>
    </inkml:brush>
  </inkml:definitions>
  <inkml:traceGroup>
    <inkml:annotationXML>
      <emma:emma xmlns:emma="http://www.w3.org/2003/04/emma" version="1.0">
        <emma:interpretation id="{A3733962-B758-4D85-9EB6-5E78855F27FB}" emma:medium="tactile" emma:mode="ink">
          <msink:context xmlns:msink="http://schemas.microsoft.com/ink/2010/main" type="inkDrawing" rotatedBoundingBox="4961,11790 6516,11748 6534,12416 4980,12458" hotPoints="6286,11805 6282,12380 5060,12372 5064,11796" semanticType="enclosure" shapeName="Rectangle">
            <msink:destinationLink direction="with" ref="{001944DD-6443-4177-A397-D190CAC5F32A}"/>
          </msink:context>
        </emma:interpretation>
      </emma:emma>
    </inkml:annotationXML>
    <inkml:trace contextRef="#ctx0" brushRef="#br0">5067 12330 0,'13'0'16,"-13"-14"15,13 14 32,0 0-48,14 0-15,13 0 0,-27 0 0,0 0 16,40 0-16,40 14 16,-54-14-16,-25 13 0,-1-13 0,40 13 15,-40-13-15,13 0 0,-12 0 0,12 0 16,0 0-16,1 13 0,-14-13 0,14 13 16,12-13-1,-25 0-15,12 0 16,-13 0-16,27 0 15,39 14 1,-26-14 0,-26 0-16,12 0 15,-25 13-15,-1-13 16,0 0-16,0 0 0,0 0 16,14 0-16,13 0 31,13 0-16,-53 13 1,13-13 15,0 0-31,13 0 16,14 0 0,0 0-1,-27 0 16,0 0 16,1 0-31,-1-13-16,0-14 16,13 14-1,-12 13 16,-1-13-15,0 13-16,-13-13 16,0-14-1,27 14 1,-27 0 0,13 13-16,0-13 15,-13-1-15,13 14 16,-13-13-16,0 0 62,14 13-30,-14-13-1,13 13-16,-13-13-15,0-1 16,0 1-16,13 0 16,-13-14-1,0 1 1,0 13-16,0-1 31,0 1-15,0 0 15,0 0 0,0 0-15,0-1 0,0 1 15,0 0-16,0 0 64,0-1-64,0 1 32,0 0-47,-13 13 16,-14-27-1,14 1 1,13 13 0,-26 13-1,12 0-15,14-13 16,-13 13-1,0 0 1,0-14 0,13 1-16,-40 13 15,40-13-15,-13 13 0,0-13 16,-14-1 0,1-12-1,12 26 1,1-13-1,0 13 17,0 0-17,-1 0 1,1 0 15,0 0-15,0 0-1,0 0 17,-1 0-17,1 0 17,0 0-17,0 0 16,-1 0-15,1 0 0,0 0-1,0 0-15,-1 13 16,-12-13 15,-14 13-15,27-13-1,-13 0 1,12 13-16,1-13 16,0 0-16,0 0 15,0 0 1,13 14 0,-14-14-16,1 0 15,0 0 1,0 0-16,-1 13 15,-12-13 1,13 0 0,-1 0-1,-12 0 1,13 0 0,-14 0-1,14 0-15,0 0 0,0 0 16,-1 0-1,1 0 1,0 0-16,0 0 16,-1 0-16,1 0 15,-13 0 1,13 0 0,-1 0-16,1 0 15,0 0 1,0 0-1,-1 0 1,1 0 0,0 0-1,0 0 1,0 0-16,-1 0 16,1 0-16,0 0 15,0 0-15,-1 0 16,1 0-16,-13 0 15,12 0-15,1 0 16,0 0 0,0 0-1,0 0 1,-1 0 0,-25 0-1,12 0 1,1 13-1,12-13 1,1 0 0,13 13-1,0 1 1,-13-14-16,0 13 31,0 0-15,-1-13-1,14 13 1,-13 0 0,0 1-1,0 12 1,13-13 0,-14 14-1,14-1 1,0 1-1,-13-27 1,13 13 0,0 13-1,0-12 17,0-1-17,0 0-15,0 0 16,0 1-1,0-1 1,0 0 0,0 14-1,0-14 1,0 0 0,13 0-1,-13 14 1,0-1-1,0-13 1,14 1-16,-14-1 16,13-13 15,0 13 31,0-13-46,1 0-16,12 0 16,-13 0-16,27 13 15,39 0 1,-39 1 0,-14-1-1,-12-13 1,-1 0-1,0 0 17</inkml:trace>
  </inkml:traceGroup>
</inkml:ink>
</file>

<file path=ppt/ink/ink2.xml><?xml version="1.0" encoding="utf-8"?>
<inkml:ink xmlns:inkml="http://www.w3.org/2003/InkML">
  <inkml:definitions>
    <inkml:context xml:id="ctx0">
      <inkml:inkSource xml:id="inkSrc0">
        <inkml:traceFormat>
          <inkml:channel name="X" type="integer" max="2560" units="cm"/>
          <inkml:channel name="Y" type="integer" max="1440" units="cm"/>
          <inkml:channel name="T" type="integer" max="2.14748E9" units="dev"/>
        </inkml:traceFormat>
        <inkml:channelProperties>
          <inkml:channelProperty channel="X" name="resolution" value="42.88107" units="1/cm"/>
          <inkml:channelProperty channel="Y" name="resolution" value="42.85714" units="1/cm"/>
          <inkml:channelProperty channel="T" name="resolution" value="1" units="1/dev"/>
        </inkml:channelProperties>
      </inkml:inkSource>
      <inkml:timestamp xml:id="ts0" timeString="2020-04-02T06:24:50.433"/>
    </inkml:context>
    <inkml:brush xml:id="br0">
      <inkml:brushProperty name="width" value="0.05292" units="cm"/>
      <inkml:brushProperty name="height" value="0.05292" units="cm"/>
      <inkml:brushProperty name="color" value="#FF0000"/>
    </inkml:brush>
  </inkml:definitions>
  <inkml:traceGroup>
    <inkml:annotationXML>
      <emma:emma xmlns:emma="http://www.w3.org/2003/04/emma" version="1.0">
        <emma:interpretation id="{001944DD-6443-4177-A397-D190CAC5F32A}" emma:medium="tactile" emma:mode="ink">
          <msink:context xmlns:msink="http://schemas.microsoft.com/ink/2010/main" type="inkDrawing" rotatedBoundingBox="6768,12133 7553,11775 7667,12025 6881,12382" semanticType="callout" shapeName="Other">
            <msink:sourceLink direction="with" ref="{A3733962-B758-4D85-9EB6-5E78855F27FB}"/>
          </msink:context>
        </emma:interpretation>
      </emma:emma>
    </inkml:annotationXML>
    <inkml:trace contextRef="#ctx0" brushRef="#br0">6773 12144 0,'0'-13'16,"14"13"-1,-1 0 32,0 0-31,0 13-1,40 54 1,-13-41 0,0 27-1,-27-27 1,-13-12 15,13-14 47,0 0 63,0-14-125,-13 1-16,14 13 0,-1-13 15,0 13-15,14-27 0,-14 27 0,-13-13 0,40 0 16,-27 13-16,26-26 0,-25 12 0,52-39 15,-53 40 1,-13 0-16,26 13 0,-12-13 0,12-1 16,-13-12-16,1 26 0,-14-13 15,13 13-15,-13-13 0,13 13 16,0-14 0,1 14-1,-14-13-15,13 0 16,0 13-16,-13-13 0,26 13 15,-12-14 1,-1 14-16,27-26 16,-27 13-1,-13-1 1,13 14 0,14-13-1,-14 0 1</inkml:trace>
  </inkml:traceGroup>
</inkml:ink>
</file>

<file path=ppt/ink/ink3.xml><?xml version="1.0" encoding="utf-8"?>
<inkml:ink xmlns:inkml="http://www.w3.org/2003/InkML">
  <inkml:definitions>
    <inkml:context xml:id="ctx0">
      <inkml:inkSource xml:id="inkSrc0">
        <inkml:traceFormat>
          <inkml:channel name="X" type="integer" max="2560" units="cm"/>
          <inkml:channel name="Y" type="integer" max="1440" units="cm"/>
          <inkml:channel name="T" type="integer" max="2.14748E9" units="dev"/>
        </inkml:traceFormat>
        <inkml:channelProperties>
          <inkml:channelProperty channel="X" name="resolution" value="42.88107" units="1/cm"/>
          <inkml:channelProperty channel="Y" name="resolution" value="42.85714" units="1/cm"/>
          <inkml:channelProperty channel="T" name="resolution" value="1" units="1/dev"/>
        </inkml:channelProperties>
      </inkml:inkSource>
      <inkml:timestamp xml:id="ts0" timeString="2020-04-02T06:25:18.749"/>
    </inkml:context>
    <inkml:brush xml:id="br0">
      <inkml:brushProperty name="width" value="0.06667" units="cm"/>
      <inkml:brushProperty name="height" value="0.06667" units="cm"/>
      <inkml:brushProperty name="fitToCurve" value="1"/>
    </inkml:brush>
  </inkml:definitions>
  <inkml:traceGroup>
    <inkml:annotationXML>
      <emma:emma xmlns:emma="http://www.w3.org/2003/04/emma" version="1.0">
        <emma:interpretation id="{DC8115FE-5DD3-4304-800A-006E8B99A6FA}" emma:medium="tactile" emma:mode="ink">
          <msink:context xmlns:msink="http://schemas.microsoft.com/ink/2010/main" type="inkDrawing" rotatedBoundingBox="14223,11904 14238,11904 14238,11919 14223,11919" shapeName="Other">
            <msink:destinationLink direction="with" ref="{94807C33-8126-412F-8668-08C3721AA12A}"/>
          </msink:context>
        </emma:interpretation>
      </emma:emma>
    </inkml:annotationXML>
    <inkml:trace contextRef="#ctx0" brushRef="#br0">0 0 0</inkml:trace>
  </inkml:traceGroup>
</inkml:ink>
</file>

<file path=ppt/ink/ink4.xml><?xml version="1.0" encoding="utf-8"?>
<inkml:ink xmlns:inkml="http://www.w3.org/2003/InkML">
  <inkml:definitions>
    <inkml:context xml:id="ctx0">
      <inkml:inkSource xml:id="inkSrc0">
        <inkml:traceFormat>
          <inkml:channel name="X" type="integer" max="2560" units="cm"/>
          <inkml:channel name="Y" type="integer" max="1440" units="cm"/>
          <inkml:channel name="T" type="integer" max="2.14748E9" units="dev"/>
        </inkml:traceFormat>
        <inkml:channelProperties>
          <inkml:channelProperty channel="X" name="resolution" value="42.88107" units="1/cm"/>
          <inkml:channelProperty channel="Y" name="resolution" value="42.85714" units="1/cm"/>
          <inkml:channelProperty channel="T" name="resolution" value="1" units="1/dev"/>
        </inkml:channelProperties>
      </inkml:inkSource>
      <inkml:timestamp xml:id="ts0" timeString="2020-04-02T06:25:18.291"/>
    </inkml:context>
    <inkml:brush xml:id="br0">
      <inkml:brushProperty name="width" value="0.06667" units="cm"/>
      <inkml:brushProperty name="height" value="0.06667" units="cm"/>
      <inkml:brushProperty name="fitToCurve" value="1"/>
    </inkml:brush>
  </inkml:definitions>
  <inkml:traceGroup>
    <inkml:annotationXML>
      <emma:emma xmlns:emma="http://www.w3.org/2003/04/emma" version="1.0">
        <emma:interpretation id="{EF6A731A-B332-49B2-BF44-278792F0C97E}" emma:medium="tactile" emma:mode="ink">
          <msink:context xmlns:msink="http://schemas.microsoft.com/ink/2010/main" type="inkDrawing" rotatedBoundingBox="13732,12005 13747,12005 13747,12020 13732,12020" shapeName="Other"/>
        </emma:interpretation>
      </emma:emma>
    </inkml:annotationXML>
    <inkml:trace contextRef="#ctx0" brushRef="#br0">0 0 0</inkml:trace>
  </inkml:traceGroup>
</inkml:ink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页眉占位符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zh-CN" altLang="en-US"/>
          </a:p>
        </p:txBody>
      </p:sp>
      <p:sp>
        <p:nvSpPr>
          <p:cNvPr id="3" name="日期占位符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F4DFC243-3E68-4BFF-A505-ADDF9D7195A4}" type="datetimeFigureOut">
              <a:rPr lang="zh-CN" altLang="en-US" smtClean="0"/>
              <a:t>2020/4/2</a:t>
            </a:fld>
            <a:endParaRPr lang="zh-CN" altLang="en-US"/>
          </a:p>
        </p:txBody>
      </p:sp>
      <p:sp>
        <p:nvSpPr>
          <p:cNvPr id="4" name="幻灯片图像占位符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zh-CN" altLang="en-US"/>
          </a:p>
        </p:txBody>
      </p:sp>
      <p:sp>
        <p:nvSpPr>
          <p:cNvPr id="5" name="备注占位符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zh-CN" altLang="en-US"/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2567D84A-3049-44F6-8517-64F0971FDD2A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3510773550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2567D84A-3049-44F6-8517-64F0971FDD2A}" type="slidenum">
              <a:rPr lang="zh-CN" altLang="en-US" smtClean="0"/>
              <a:t>1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3209545673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2567D84A-3049-44F6-8517-64F0971FDD2A}" type="slidenum">
              <a:rPr lang="zh-CN" altLang="en-US" smtClean="0"/>
              <a:t>2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3810905202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2567D84A-3049-44F6-8517-64F0971FDD2A}" type="slidenum">
              <a:rPr lang="zh-CN" altLang="en-US" smtClean="0"/>
              <a:t>5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3361092767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2567D84A-3049-44F6-8517-64F0971FDD2A}" type="slidenum">
              <a:rPr lang="zh-CN" altLang="en-US" smtClean="0"/>
              <a:t>7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67611284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2567D84A-3049-44F6-8517-64F0971FDD2A}" type="slidenum">
              <a:rPr lang="zh-CN" altLang="en-US" smtClean="0"/>
              <a:t>10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2588637496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标题幻灯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8D5A646B-F117-4928-A8A2-1716300C34FB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副标题 2">
            <a:extLst>
              <a:ext uri="{FF2B5EF4-FFF2-40B4-BE49-F238E27FC236}">
                <a16:creationId xmlns:a16="http://schemas.microsoft.com/office/drawing/2014/main" id="{D5781FEE-C1F4-469A-9E36-8F4601D2ECEC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zh-CN" altLang="en-US"/>
              <a:t>单击此处编辑母版副标题样式</a:t>
            </a:r>
          </a:p>
        </p:txBody>
      </p:sp>
      <p:sp>
        <p:nvSpPr>
          <p:cNvPr id="4" name="日期占位符 3">
            <a:extLst>
              <a:ext uri="{FF2B5EF4-FFF2-40B4-BE49-F238E27FC236}">
                <a16:creationId xmlns:a16="http://schemas.microsoft.com/office/drawing/2014/main" id="{AC8552C6-A02E-47D7-A268-DC48634E353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7FFDAE1-EB67-42CF-B593-56AA292DA8C8}" type="datetimeFigureOut">
              <a:rPr lang="zh-CN" altLang="en-US" smtClean="0"/>
              <a:t>2020/4/2</a:t>
            </a:fld>
            <a:endParaRPr lang="zh-CN" altLang="en-US"/>
          </a:p>
        </p:txBody>
      </p:sp>
      <p:sp>
        <p:nvSpPr>
          <p:cNvPr id="5" name="页脚占位符 4">
            <a:extLst>
              <a:ext uri="{FF2B5EF4-FFF2-40B4-BE49-F238E27FC236}">
                <a16:creationId xmlns:a16="http://schemas.microsoft.com/office/drawing/2014/main" id="{2FA628B0-905E-46AF-9C51-C2B5AF8925A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>
            <a:extLst>
              <a:ext uri="{FF2B5EF4-FFF2-40B4-BE49-F238E27FC236}">
                <a16:creationId xmlns:a16="http://schemas.microsoft.com/office/drawing/2014/main" id="{C1B8A775-5E37-4409-A4E7-F0814E9F7A8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A1E6056-67A1-460C-8D55-8E0798092675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1623593532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标题和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6B29B327-6DC4-489C-A130-8CF667D3CDA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内容占位符 2">
            <a:extLst>
              <a:ext uri="{FF2B5EF4-FFF2-40B4-BE49-F238E27FC236}">
                <a16:creationId xmlns:a16="http://schemas.microsoft.com/office/drawing/2014/main" id="{686EB504-E0E5-46C5-B6D0-95B1660E27D6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</a:p>
        </p:txBody>
      </p:sp>
      <p:sp>
        <p:nvSpPr>
          <p:cNvPr id="4" name="日期占位符 3">
            <a:extLst>
              <a:ext uri="{FF2B5EF4-FFF2-40B4-BE49-F238E27FC236}">
                <a16:creationId xmlns:a16="http://schemas.microsoft.com/office/drawing/2014/main" id="{3030CF13-8903-4992-88F7-C55D7F4E7C4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7FFDAE1-EB67-42CF-B593-56AA292DA8C8}" type="datetimeFigureOut">
              <a:rPr lang="zh-CN" altLang="en-US" smtClean="0"/>
              <a:t>2020/4/2</a:t>
            </a:fld>
            <a:endParaRPr lang="zh-CN" altLang="en-US"/>
          </a:p>
        </p:txBody>
      </p:sp>
      <p:sp>
        <p:nvSpPr>
          <p:cNvPr id="5" name="页脚占位符 4">
            <a:extLst>
              <a:ext uri="{FF2B5EF4-FFF2-40B4-BE49-F238E27FC236}">
                <a16:creationId xmlns:a16="http://schemas.microsoft.com/office/drawing/2014/main" id="{3C41C592-991D-4A88-81B0-FA07E26D1C7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>
            <a:extLst>
              <a:ext uri="{FF2B5EF4-FFF2-40B4-BE49-F238E27FC236}">
                <a16:creationId xmlns:a16="http://schemas.microsoft.com/office/drawing/2014/main" id="{516A61AE-DFB6-4E40-B78C-76E64498C69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A1E6056-67A1-460C-8D55-8E0798092675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4192824453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节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11CEF327-DE46-4FD7-851C-CAD5A20AC88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文本占位符 2">
            <a:extLst>
              <a:ext uri="{FF2B5EF4-FFF2-40B4-BE49-F238E27FC236}">
                <a16:creationId xmlns:a16="http://schemas.microsoft.com/office/drawing/2014/main" id="{90308B61-6FAC-4108-97CC-3ACD182B9318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4" name="日期占位符 3">
            <a:extLst>
              <a:ext uri="{FF2B5EF4-FFF2-40B4-BE49-F238E27FC236}">
                <a16:creationId xmlns:a16="http://schemas.microsoft.com/office/drawing/2014/main" id="{0E0CB1DC-8355-42C5-AF00-8E36F02E523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7FFDAE1-EB67-42CF-B593-56AA292DA8C8}" type="datetimeFigureOut">
              <a:rPr lang="zh-CN" altLang="en-US" smtClean="0"/>
              <a:t>2020/4/2</a:t>
            </a:fld>
            <a:endParaRPr lang="zh-CN" altLang="en-US"/>
          </a:p>
        </p:txBody>
      </p:sp>
      <p:sp>
        <p:nvSpPr>
          <p:cNvPr id="5" name="页脚占位符 4">
            <a:extLst>
              <a:ext uri="{FF2B5EF4-FFF2-40B4-BE49-F238E27FC236}">
                <a16:creationId xmlns:a16="http://schemas.microsoft.com/office/drawing/2014/main" id="{9DA65AD0-D1B3-49A8-9F94-E603B5BA18E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>
            <a:extLst>
              <a:ext uri="{FF2B5EF4-FFF2-40B4-BE49-F238E27FC236}">
                <a16:creationId xmlns:a16="http://schemas.microsoft.com/office/drawing/2014/main" id="{1F33DBE1-743B-438D-92D3-E40E206ACF1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A1E6056-67A1-460C-8D55-8E0798092675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1117130441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两栏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矩形 8"/>
          <p:cNvSpPr/>
          <p:nvPr userDrawn="1"/>
        </p:nvSpPr>
        <p:spPr>
          <a:xfrm>
            <a:off x="8495710" y="3569750"/>
            <a:ext cx="775136" cy="230832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US" altLang="zh-CN" sz="100" dirty="0">
                <a:solidFill>
                  <a:prstClr val="white"/>
                </a:solidFill>
                <a:latin typeface="Calibri"/>
                <a:ea typeface="宋体"/>
              </a:rPr>
              <a:t>PPT</a:t>
            </a:r>
            <a:r>
              <a:rPr lang="zh-CN" altLang="en-US" sz="100" dirty="0">
                <a:solidFill>
                  <a:prstClr val="white"/>
                </a:solidFill>
                <a:latin typeface="Calibri"/>
                <a:ea typeface="宋体"/>
              </a:rPr>
              <a:t>模板下载：</a:t>
            </a:r>
            <a:r>
              <a:rPr lang="en-US" altLang="zh-CN" sz="100" dirty="0">
                <a:solidFill>
                  <a:prstClr val="white"/>
                </a:solidFill>
                <a:latin typeface="Calibri"/>
                <a:ea typeface="宋体"/>
              </a:rPr>
              <a:t>www.1ppt.com/moban/          </a:t>
            </a:r>
            <a:r>
              <a:rPr lang="zh-CN" altLang="en-US" sz="100" dirty="0">
                <a:solidFill>
                  <a:prstClr val="white"/>
                </a:solidFill>
                <a:latin typeface="Calibri"/>
                <a:ea typeface="宋体"/>
              </a:rPr>
              <a:t>行业</a:t>
            </a:r>
            <a:r>
              <a:rPr lang="en-US" altLang="zh-CN" sz="100" dirty="0">
                <a:solidFill>
                  <a:prstClr val="white"/>
                </a:solidFill>
                <a:latin typeface="Calibri"/>
                <a:ea typeface="宋体"/>
              </a:rPr>
              <a:t>PPT</a:t>
            </a:r>
            <a:r>
              <a:rPr lang="zh-CN" altLang="en-US" sz="100" dirty="0">
                <a:solidFill>
                  <a:prstClr val="white"/>
                </a:solidFill>
                <a:latin typeface="Calibri"/>
                <a:ea typeface="宋体"/>
              </a:rPr>
              <a:t>模板：</a:t>
            </a:r>
            <a:r>
              <a:rPr lang="en-US" altLang="zh-CN" sz="100" dirty="0">
                <a:solidFill>
                  <a:prstClr val="white"/>
                </a:solidFill>
                <a:latin typeface="Calibri"/>
                <a:ea typeface="宋体"/>
              </a:rPr>
              <a:t>www.1ppt.com/hangye/ </a:t>
            </a:r>
          </a:p>
          <a:p>
            <a:r>
              <a:rPr lang="zh-CN" altLang="en-US" sz="100" dirty="0">
                <a:solidFill>
                  <a:prstClr val="white"/>
                </a:solidFill>
                <a:latin typeface="Calibri"/>
                <a:ea typeface="宋体"/>
              </a:rPr>
              <a:t>节日</a:t>
            </a:r>
            <a:r>
              <a:rPr lang="en-US" altLang="zh-CN" sz="100" dirty="0">
                <a:solidFill>
                  <a:prstClr val="white"/>
                </a:solidFill>
                <a:latin typeface="Calibri"/>
                <a:ea typeface="宋体"/>
              </a:rPr>
              <a:t>PPT</a:t>
            </a:r>
            <a:r>
              <a:rPr lang="zh-CN" altLang="en-US" sz="100" dirty="0">
                <a:solidFill>
                  <a:prstClr val="white"/>
                </a:solidFill>
                <a:latin typeface="Calibri"/>
                <a:ea typeface="宋体"/>
              </a:rPr>
              <a:t>模板：</a:t>
            </a:r>
            <a:r>
              <a:rPr lang="en-US" altLang="zh-CN" sz="100" dirty="0">
                <a:solidFill>
                  <a:prstClr val="white"/>
                </a:solidFill>
                <a:latin typeface="Calibri"/>
                <a:ea typeface="宋体"/>
              </a:rPr>
              <a:t>www.1ppt.com/jieri/          PPT</a:t>
            </a:r>
            <a:r>
              <a:rPr lang="zh-CN" altLang="en-US" sz="100" dirty="0">
                <a:solidFill>
                  <a:prstClr val="white"/>
                </a:solidFill>
                <a:latin typeface="Calibri"/>
                <a:ea typeface="宋体"/>
              </a:rPr>
              <a:t>素材：</a:t>
            </a:r>
            <a:r>
              <a:rPr lang="en-US" altLang="zh-CN" sz="100" dirty="0">
                <a:solidFill>
                  <a:prstClr val="white"/>
                </a:solidFill>
                <a:latin typeface="Calibri"/>
                <a:ea typeface="宋体"/>
              </a:rPr>
              <a:t>www.1ppt.com/sucai/</a:t>
            </a:r>
          </a:p>
          <a:p>
            <a:r>
              <a:rPr lang="en-US" altLang="zh-CN" sz="100" dirty="0">
                <a:solidFill>
                  <a:prstClr val="white"/>
                </a:solidFill>
                <a:latin typeface="Calibri"/>
                <a:ea typeface="宋体"/>
              </a:rPr>
              <a:t>PPT</a:t>
            </a:r>
            <a:r>
              <a:rPr lang="zh-CN" altLang="en-US" sz="100" dirty="0">
                <a:solidFill>
                  <a:prstClr val="white"/>
                </a:solidFill>
                <a:latin typeface="Calibri"/>
                <a:ea typeface="宋体"/>
              </a:rPr>
              <a:t>背景图片：</a:t>
            </a:r>
            <a:r>
              <a:rPr lang="en-US" altLang="zh-CN" sz="100" dirty="0">
                <a:solidFill>
                  <a:prstClr val="white"/>
                </a:solidFill>
                <a:latin typeface="Calibri"/>
                <a:ea typeface="宋体"/>
              </a:rPr>
              <a:t>www.1ppt.com/beijing/        PPT</a:t>
            </a:r>
            <a:r>
              <a:rPr lang="zh-CN" altLang="en-US" sz="100" dirty="0">
                <a:solidFill>
                  <a:prstClr val="white"/>
                </a:solidFill>
                <a:latin typeface="Calibri"/>
                <a:ea typeface="宋体"/>
              </a:rPr>
              <a:t>图表：</a:t>
            </a:r>
            <a:r>
              <a:rPr lang="en-US" altLang="zh-CN" sz="100" dirty="0">
                <a:solidFill>
                  <a:prstClr val="white"/>
                </a:solidFill>
                <a:latin typeface="Calibri"/>
                <a:ea typeface="宋体"/>
              </a:rPr>
              <a:t>www.1ppt.com/tubiao/      </a:t>
            </a:r>
          </a:p>
          <a:p>
            <a:r>
              <a:rPr lang="zh-CN" altLang="en-US" sz="100" dirty="0">
                <a:solidFill>
                  <a:prstClr val="white"/>
                </a:solidFill>
                <a:latin typeface="Calibri"/>
                <a:ea typeface="宋体"/>
              </a:rPr>
              <a:t>精美</a:t>
            </a:r>
            <a:r>
              <a:rPr lang="en-US" altLang="zh-CN" sz="100" dirty="0">
                <a:solidFill>
                  <a:prstClr val="white"/>
                </a:solidFill>
                <a:latin typeface="Calibri"/>
                <a:ea typeface="宋体"/>
              </a:rPr>
              <a:t>PPT</a:t>
            </a:r>
            <a:r>
              <a:rPr lang="zh-CN" altLang="en-US" sz="100" dirty="0">
                <a:solidFill>
                  <a:prstClr val="white"/>
                </a:solidFill>
                <a:latin typeface="Calibri"/>
                <a:ea typeface="宋体"/>
              </a:rPr>
              <a:t>下载：</a:t>
            </a:r>
            <a:r>
              <a:rPr lang="en-US" altLang="zh-CN" sz="100" dirty="0">
                <a:solidFill>
                  <a:prstClr val="white"/>
                </a:solidFill>
                <a:latin typeface="Calibri"/>
                <a:ea typeface="宋体"/>
              </a:rPr>
              <a:t>www.1ppt.com/xiazai/         PPT</a:t>
            </a:r>
            <a:r>
              <a:rPr lang="zh-CN" altLang="en-US" sz="100" dirty="0">
                <a:solidFill>
                  <a:prstClr val="white"/>
                </a:solidFill>
                <a:latin typeface="Calibri"/>
                <a:ea typeface="宋体"/>
              </a:rPr>
              <a:t>教程： </a:t>
            </a:r>
            <a:r>
              <a:rPr lang="en-US" altLang="zh-CN" sz="100" dirty="0">
                <a:solidFill>
                  <a:prstClr val="white"/>
                </a:solidFill>
                <a:latin typeface="Calibri"/>
                <a:ea typeface="宋体"/>
              </a:rPr>
              <a:t>www.1ppt.com/powerpoint/      </a:t>
            </a:r>
          </a:p>
          <a:p>
            <a:r>
              <a:rPr lang="en-US" altLang="zh-CN" sz="100" dirty="0">
                <a:solidFill>
                  <a:prstClr val="white"/>
                </a:solidFill>
                <a:latin typeface="Calibri"/>
                <a:ea typeface="宋体"/>
              </a:rPr>
              <a:t>PPT</a:t>
            </a:r>
            <a:r>
              <a:rPr lang="zh-CN" altLang="en-US" sz="100" dirty="0">
                <a:solidFill>
                  <a:prstClr val="white"/>
                </a:solidFill>
                <a:latin typeface="Calibri"/>
                <a:ea typeface="宋体"/>
              </a:rPr>
              <a:t>课件：</a:t>
            </a:r>
            <a:r>
              <a:rPr lang="en-US" altLang="zh-CN" sz="100" dirty="0">
                <a:solidFill>
                  <a:prstClr val="white"/>
                </a:solidFill>
                <a:latin typeface="Calibri"/>
                <a:ea typeface="宋体"/>
              </a:rPr>
              <a:t>www.1ppt.com/kejian/             </a:t>
            </a:r>
            <a:r>
              <a:rPr lang="zh-CN" altLang="en-US" sz="100" dirty="0">
                <a:solidFill>
                  <a:prstClr val="white"/>
                </a:solidFill>
                <a:latin typeface="Calibri"/>
                <a:ea typeface="宋体"/>
              </a:rPr>
              <a:t>字体下载：</a:t>
            </a:r>
            <a:r>
              <a:rPr lang="en-US" altLang="zh-CN" sz="100" dirty="0">
                <a:solidFill>
                  <a:prstClr val="white"/>
                </a:solidFill>
                <a:latin typeface="Calibri"/>
                <a:ea typeface="宋体"/>
              </a:rPr>
              <a:t>www.1ppt.com/ziti/</a:t>
            </a:r>
          </a:p>
          <a:p>
            <a:r>
              <a:rPr lang="zh-CN" altLang="en-US" sz="100" dirty="0">
                <a:solidFill>
                  <a:prstClr val="white"/>
                </a:solidFill>
                <a:latin typeface="Calibri"/>
                <a:ea typeface="宋体"/>
              </a:rPr>
              <a:t>工作总结</a:t>
            </a:r>
            <a:r>
              <a:rPr lang="en-US" altLang="zh-CN" sz="100" dirty="0">
                <a:solidFill>
                  <a:prstClr val="white"/>
                </a:solidFill>
                <a:latin typeface="Calibri"/>
                <a:ea typeface="宋体"/>
              </a:rPr>
              <a:t>PPT</a:t>
            </a:r>
            <a:r>
              <a:rPr lang="zh-CN" altLang="en-US" sz="100" dirty="0">
                <a:solidFill>
                  <a:prstClr val="white"/>
                </a:solidFill>
                <a:latin typeface="Calibri"/>
                <a:ea typeface="宋体"/>
              </a:rPr>
              <a:t>：</a:t>
            </a:r>
            <a:r>
              <a:rPr lang="en-US" altLang="zh-CN" sz="100" dirty="0">
                <a:solidFill>
                  <a:prstClr val="white"/>
                </a:solidFill>
                <a:latin typeface="Calibri"/>
                <a:ea typeface="宋体"/>
              </a:rPr>
              <a:t>www.1ppt.com/xiazai/zongjie/ </a:t>
            </a:r>
            <a:r>
              <a:rPr lang="zh-CN" altLang="en-US" sz="100" dirty="0">
                <a:solidFill>
                  <a:prstClr val="white"/>
                </a:solidFill>
                <a:latin typeface="Calibri"/>
                <a:ea typeface="宋体"/>
              </a:rPr>
              <a:t>工作计划：</a:t>
            </a:r>
            <a:r>
              <a:rPr lang="en-US" altLang="zh-CN" sz="100" dirty="0">
                <a:solidFill>
                  <a:prstClr val="white"/>
                </a:solidFill>
                <a:latin typeface="Calibri"/>
                <a:ea typeface="宋体"/>
              </a:rPr>
              <a:t>www.1ppt.com/xiazai/jihua/</a:t>
            </a:r>
          </a:p>
          <a:p>
            <a:r>
              <a:rPr lang="zh-CN" altLang="en-US" sz="100" dirty="0">
                <a:solidFill>
                  <a:prstClr val="white"/>
                </a:solidFill>
                <a:latin typeface="Calibri"/>
                <a:ea typeface="宋体"/>
              </a:rPr>
              <a:t>商务</a:t>
            </a:r>
            <a:r>
              <a:rPr lang="en-US" altLang="zh-CN" sz="100" dirty="0">
                <a:solidFill>
                  <a:prstClr val="white"/>
                </a:solidFill>
                <a:latin typeface="Calibri"/>
                <a:ea typeface="宋体"/>
              </a:rPr>
              <a:t>PPT</a:t>
            </a:r>
            <a:r>
              <a:rPr lang="zh-CN" altLang="en-US" sz="100" dirty="0">
                <a:solidFill>
                  <a:prstClr val="white"/>
                </a:solidFill>
                <a:latin typeface="Calibri"/>
                <a:ea typeface="宋体"/>
              </a:rPr>
              <a:t>模板：</a:t>
            </a:r>
            <a:r>
              <a:rPr lang="en-US" altLang="zh-CN" sz="100" dirty="0">
                <a:solidFill>
                  <a:prstClr val="white"/>
                </a:solidFill>
                <a:latin typeface="Calibri"/>
                <a:ea typeface="宋体"/>
              </a:rPr>
              <a:t>www.1ppt.com/moban/shangwu/  </a:t>
            </a:r>
            <a:r>
              <a:rPr lang="zh-CN" altLang="en-US" sz="100" dirty="0">
                <a:solidFill>
                  <a:prstClr val="white"/>
                </a:solidFill>
                <a:latin typeface="Calibri"/>
                <a:ea typeface="宋体"/>
              </a:rPr>
              <a:t>个人简历</a:t>
            </a:r>
            <a:r>
              <a:rPr lang="en-US" altLang="zh-CN" sz="100" dirty="0">
                <a:solidFill>
                  <a:prstClr val="white"/>
                </a:solidFill>
                <a:latin typeface="Calibri"/>
                <a:ea typeface="宋体"/>
              </a:rPr>
              <a:t>PPT</a:t>
            </a:r>
            <a:r>
              <a:rPr lang="zh-CN" altLang="en-US" sz="100" dirty="0">
                <a:solidFill>
                  <a:prstClr val="white"/>
                </a:solidFill>
                <a:latin typeface="Calibri"/>
                <a:ea typeface="宋体"/>
              </a:rPr>
              <a:t>：</a:t>
            </a:r>
            <a:r>
              <a:rPr lang="en-US" altLang="zh-CN" sz="100" dirty="0">
                <a:solidFill>
                  <a:prstClr val="white"/>
                </a:solidFill>
                <a:latin typeface="Calibri"/>
                <a:ea typeface="宋体"/>
              </a:rPr>
              <a:t>www.1ppt.com/xiazai/jianli/  </a:t>
            </a:r>
          </a:p>
          <a:p>
            <a:r>
              <a:rPr lang="zh-CN" altLang="en-US" sz="100" dirty="0">
                <a:solidFill>
                  <a:prstClr val="white"/>
                </a:solidFill>
                <a:latin typeface="Calibri"/>
                <a:ea typeface="宋体"/>
              </a:rPr>
              <a:t>毕业答辩</a:t>
            </a:r>
            <a:r>
              <a:rPr lang="en-US" altLang="zh-CN" sz="100" dirty="0">
                <a:solidFill>
                  <a:prstClr val="white"/>
                </a:solidFill>
                <a:latin typeface="Calibri"/>
                <a:ea typeface="宋体"/>
              </a:rPr>
              <a:t>PPT</a:t>
            </a:r>
            <a:r>
              <a:rPr lang="zh-CN" altLang="en-US" sz="100" dirty="0">
                <a:solidFill>
                  <a:prstClr val="white"/>
                </a:solidFill>
                <a:latin typeface="Calibri"/>
                <a:ea typeface="宋体"/>
              </a:rPr>
              <a:t>：</a:t>
            </a:r>
            <a:r>
              <a:rPr lang="en-US" altLang="zh-CN" sz="100" dirty="0">
                <a:solidFill>
                  <a:prstClr val="white"/>
                </a:solidFill>
                <a:latin typeface="Calibri"/>
                <a:ea typeface="宋体"/>
              </a:rPr>
              <a:t>www.1ppt.com/xiazai/dabian/  </a:t>
            </a:r>
            <a:r>
              <a:rPr lang="zh-CN" altLang="en-US" sz="100" dirty="0">
                <a:solidFill>
                  <a:prstClr val="white"/>
                </a:solidFill>
                <a:latin typeface="Calibri"/>
                <a:ea typeface="宋体"/>
              </a:rPr>
              <a:t>工作汇报</a:t>
            </a:r>
            <a:r>
              <a:rPr lang="en-US" altLang="zh-CN" sz="100" dirty="0">
                <a:solidFill>
                  <a:prstClr val="white"/>
                </a:solidFill>
                <a:latin typeface="Calibri"/>
                <a:ea typeface="宋体"/>
              </a:rPr>
              <a:t>PPT</a:t>
            </a:r>
            <a:r>
              <a:rPr lang="zh-CN" altLang="en-US" sz="100" dirty="0">
                <a:solidFill>
                  <a:prstClr val="white"/>
                </a:solidFill>
                <a:latin typeface="Calibri"/>
                <a:ea typeface="宋体"/>
              </a:rPr>
              <a:t>：</a:t>
            </a:r>
            <a:r>
              <a:rPr lang="en-US" altLang="zh-CN" sz="100" dirty="0">
                <a:solidFill>
                  <a:prstClr val="white"/>
                </a:solidFill>
                <a:latin typeface="Calibri"/>
                <a:ea typeface="宋体"/>
              </a:rPr>
              <a:t>www.1ppt.com/xiazai/huibao/    </a:t>
            </a:r>
          </a:p>
          <a:p>
            <a:r>
              <a:rPr lang="en-US" altLang="zh-CN" sz="100" dirty="0">
                <a:solidFill>
                  <a:prstClr val="white"/>
                </a:solidFill>
                <a:latin typeface="Calibri"/>
                <a:ea typeface="宋体"/>
              </a:rPr>
              <a:t> </a:t>
            </a:r>
          </a:p>
        </p:txBody>
      </p:sp>
      <p:sp>
        <p:nvSpPr>
          <p:cNvPr id="2" name="标题 1">
            <a:extLst>
              <a:ext uri="{FF2B5EF4-FFF2-40B4-BE49-F238E27FC236}">
                <a16:creationId xmlns:a16="http://schemas.microsoft.com/office/drawing/2014/main" id="{26DA7060-857A-4930-832C-C09BFD4FCF3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内容占位符 2">
            <a:extLst>
              <a:ext uri="{FF2B5EF4-FFF2-40B4-BE49-F238E27FC236}">
                <a16:creationId xmlns:a16="http://schemas.microsoft.com/office/drawing/2014/main" id="{6F7FF8F7-2B15-4A01-A575-53845FA96B47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</a:p>
        </p:txBody>
      </p:sp>
      <p:sp>
        <p:nvSpPr>
          <p:cNvPr id="4" name="内容占位符 3">
            <a:extLst>
              <a:ext uri="{FF2B5EF4-FFF2-40B4-BE49-F238E27FC236}">
                <a16:creationId xmlns:a16="http://schemas.microsoft.com/office/drawing/2014/main" id="{B9701E7A-8C68-4E20-A803-855BD0F40B8F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</a:p>
        </p:txBody>
      </p:sp>
      <p:sp>
        <p:nvSpPr>
          <p:cNvPr id="5" name="日期占位符 4">
            <a:extLst>
              <a:ext uri="{FF2B5EF4-FFF2-40B4-BE49-F238E27FC236}">
                <a16:creationId xmlns:a16="http://schemas.microsoft.com/office/drawing/2014/main" id="{4C615B9C-5EC5-4D9B-B5D9-BB2972780CF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7FFDAE1-EB67-42CF-B593-56AA292DA8C8}" type="datetimeFigureOut">
              <a:rPr lang="zh-CN" altLang="en-US" smtClean="0"/>
              <a:t>2020/4/2</a:t>
            </a:fld>
            <a:endParaRPr lang="zh-CN" altLang="en-US"/>
          </a:p>
        </p:txBody>
      </p:sp>
      <p:sp>
        <p:nvSpPr>
          <p:cNvPr id="6" name="页脚占位符 5">
            <a:extLst>
              <a:ext uri="{FF2B5EF4-FFF2-40B4-BE49-F238E27FC236}">
                <a16:creationId xmlns:a16="http://schemas.microsoft.com/office/drawing/2014/main" id="{E22F8F48-9F51-4F97-9DA9-9E015ACE486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7" name="灯片编号占位符 6">
            <a:extLst>
              <a:ext uri="{FF2B5EF4-FFF2-40B4-BE49-F238E27FC236}">
                <a16:creationId xmlns:a16="http://schemas.microsoft.com/office/drawing/2014/main" id="{1BA7C295-EAAA-41B7-986C-D8AFF63FDDD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A1E6056-67A1-460C-8D55-8E0798092675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2907778901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比较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C10F4CDC-4DFE-4DB1-972E-CE28FCB9A10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文本占位符 2">
            <a:extLst>
              <a:ext uri="{FF2B5EF4-FFF2-40B4-BE49-F238E27FC236}">
                <a16:creationId xmlns:a16="http://schemas.microsoft.com/office/drawing/2014/main" id="{2E09ECFB-135A-4BF2-82FE-C099094248A9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4" name="内容占位符 3">
            <a:extLst>
              <a:ext uri="{FF2B5EF4-FFF2-40B4-BE49-F238E27FC236}">
                <a16:creationId xmlns:a16="http://schemas.microsoft.com/office/drawing/2014/main" id="{C4914377-BA6A-4199-BDEB-7EFD3B82FC7B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</a:p>
        </p:txBody>
      </p:sp>
      <p:sp>
        <p:nvSpPr>
          <p:cNvPr id="5" name="文本占位符 4">
            <a:extLst>
              <a:ext uri="{FF2B5EF4-FFF2-40B4-BE49-F238E27FC236}">
                <a16:creationId xmlns:a16="http://schemas.microsoft.com/office/drawing/2014/main" id="{4CA16539-559F-474B-992A-1331A0355B6B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6" name="内容占位符 5">
            <a:extLst>
              <a:ext uri="{FF2B5EF4-FFF2-40B4-BE49-F238E27FC236}">
                <a16:creationId xmlns:a16="http://schemas.microsoft.com/office/drawing/2014/main" id="{29C14912-C4A7-47EF-A8EC-B0F50FA65454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</a:p>
        </p:txBody>
      </p:sp>
      <p:sp>
        <p:nvSpPr>
          <p:cNvPr id="7" name="日期占位符 6">
            <a:extLst>
              <a:ext uri="{FF2B5EF4-FFF2-40B4-BE49-F238E27FC236}">
                <a16:creationId xmlns:a16="http://schemas.microsoft.com/office/drawing/2014/main" id="{571CC34F-E9B9-4EFD-A3C4-0BA19D4EA5A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7FFDAE1-EB67-42CF-B593-56AA292DA8C8}" type="datetimeFigureOut">
              <a:rPr lang="zh-CN" altLang="en-US" smtClean="0"/>
              <a:t>2020/4/2</a:t>
            </a:fld>
            <a:endParaRPr lang="zh-CN" altLang="en-US"/>
          </a:p>
        </p:txBody>
      </p:sp>
      <p:sp>
        <p:nvSpPr>
          <p:cNvPr id="8" name="页脚占位符 7">
            <a:extLst>
              <a:ext uri="{FF2B5EF4-FFF2-40B4-BE49-F238E27FC236}">
                <a16:creationId xmlns:a16="http://schemas.microsoft.com/office/drawing/2014/main" id="{A0306A62-EAF9-495D-B60F-8B898B61FEA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9" name="灯片编号占位符 8">
            <a:extLst>
              <a:ext uri="{FF2B5EF4-FFF2-40B4-BE49-F238E27FC236}">
                <a16:creationId xmlns:a16="http://schemas.microsoft.com/office/drawing/2014/main" id="{5351980E-AD6D-4890-B2E1-61420E5AAAF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A1E6056-67A1-460C-8D55-8E0798092675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2782407290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仅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72366452-93AB-427B-9625-F906CB897E8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日期占位符 2">
            <a:extLst>
              <a:ext uri="{FF2B5EF4-FFF2-40B4-BE49-F238E27FC236}">
                <a16:creationId xmlns:a16="http://schemas.microsoft.com/office/drawing/2014/main" id="{19FD17F3-7053-4148-800C-FB4B3C05E04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7FFDAE1-EB67-42CF-B593-56AA292DA8C8}" type="datetimeFigureOut">
              <a:rPr lang="zh-CN" altLang="en-US" smtClean="0"/>
              <a:t>2020/4/2</a:t>
            </a:fld>
            <a:endParaRPr lang="zh-CN" altLang="en-US"/>
          </a:p>
        </p:txBody>
      </p:sp>
      <p:sp>
        <p:nvSpPr>
          <p:cNvPr id="4" name="页脚占位符 3">
            <a:extLst>
              <a:ext uri="{FF2B5EF4-FFF2-40B4-BE49-F238E27FC236}">
                <a16:creationId xmlns:a16="http://schemas.microsoft.com/office/drawing/2014/main" id="{66709179-9F05-4ED9-898C-DD1E14C4EE1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5" name="灯片编号占位符 4">
            <a:extLst>
              <a:ext uri="{FF2B5EF4-FFF2-40B4-BE49-F238E27FC236}">
                <a16:creationId xmlns:a16="http://schemas.microsoft.com/office/drawing/2014/main" id="{89DE3C05-79FC-42A5-B9A2-AC8CCD3D26A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A1E6056-67A1-460C-8D55-8E0798092675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3046590728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空白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日期占位符 1">
            <a:extLst>
              <a:ext uri="{FF2B5EF4-FFF2-40B4-BE49-F238E27FC236}">
                <a16:creationId xmlns:a16="http://schemas.microsoft.com/office/drawing/2014/main" id="{03BF4A8C-F0F4-41A6-BF41-876FEF21AB8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7FFDAE1-EB67-42CF-B593-56AA292DA8C8}" type="datetimeFigureOut">
              <a:rPr lang="zh-CN" altLang="en-US" smtClean="0"/>
              <a:t>2020/4/2</a:t>
            </a:fld>
            <a:endParaRPr lang="zh-CN" altLang="en-US"/>
          </a:p>
        </p:txBody>
      </p:sp>
      <p:sp>
        <p:nvSpPr>
          <p:cNvPr id="3" name="页脚占位符 2">
            <a:extLst>
              <a:ext uri="{FF2B5EF4-FFF2-40B4-BE49-F238E27FC236}">
                <a16:creationId xmlns:a16="http://schemas.microsoft.com/office/drawing/2014/main" id="{5F4BE2DC-A408-49B2-A4F8-EE9769AFFE7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4" name="灯片编号占位符 3">
            <a:extLst>
              <a:ext uri="{FF2B5EF4-FFF2-40B4-BE49-F238E27FC236}">
                <a16:creationId xmlns:a16="http://schemas.microsoft.com/office/drawing/2014/main" id="{03A16DA8-302B-4AE1-AF88-B9CFFEEEBAB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A1E6056-67A1-460C-8D55-8E0798092675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673900251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内容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C8940FE9-4853-4B02-9ACB-5CAF188470B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内容占位符 2">
            <a:extLst>
              <a:ext uri="{FF2B5EF4-FFF2-40B4-BE49-F238E27FC236}">
                <a16:creationId xmlns:a16="http://schemas.microsoft.com/office/drawing/2014/main" id="{058361D0-290C-442A-8B44-B0642C42D6F6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</a:p>
        </p:txBody>
      </p:sp>
      <p:sp>
        <p:nvSpPr>
          <p:cNvPr id="4" name="文本占位符 3">
            <a:extLst>
              <a:ext uri="{FF2B5EF4-FFF2-40B4-BE49-F238E27FC236}">
                <a16:creationId xmlns:a16="http://schemas.microsoft.com/office/drawing/2014/main" id="{DAEF0013-B4AF-4C3C-AB98-C192E7C39111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5" name="日期占位符 4">
            <a:extLst>
              <a:ext uri="{FF2B5EF4-FFF2-40B4-BE49-F238E27FC236}">
                <a16:creationId xmlns:a16="http://schemas.microsoft.com/office/drawing/2014/main" id="{60A2650F-35B1-4222-8E3D-55C4DBD2B6F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7FFDAE1-EB67-42CF-B593-56AA292DA8C8}" type="datetimeFigureOut">
              <a:rPr lang="zh-CN" altLang="en-US" smtClean="0"/>
              <a:t>2020/4/2</a:t>
            </a:fld>
            <a:endParaRPr lang="zh-CN" altLang="en-US"/>
          </a:p>
        </p:txBody>
      </p:sp>
      <p:sp>
        <p:nvSpPr>
          <p:cNvPr id="6" name="页脚占位符 5">
            <a:extLst>
              <a:ext uri="{FF2B5EF4-FFF2-40B4-BE49-F238E27FC236}">
                <a16:creationId xmlns:a16="http://schemas.microsoft.com/office/drawing/2014/main" id="{D6E7498D-7297-4B92-A228-86A6C90602D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7" name="灯片编号占位符 6">
            <a:extLst>
              <a:ext uri="{FF2B5EF4-FFF2-40B4-BE49-F238E27FC236}">
                <a16:creationId xmlns:a16="http://schemas.microsoft.com/office/drawing/2014/main" id="{62A8D0AA-D078-408B-B714-3CE8EF0C9B6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A1E6056-67A1-460C-8D55-8E0798092675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450467501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图片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227FEBB0-8B3B-410D-A075-42A14BE6210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图片占位符 2">
            <a:extLst>
              <a:ext uri="{FF2B5EF4-FFF2-40B4-BE49-F238E27FC236}">
                <a16:creationId xmlns:a16="http://schemas.microsoft.com/office/drawing/2014/main" id="{8B37B9B3-435A-479F-8455-3BFE235CA01F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zh-CN" altLang="en-US"/>
          </a:p>
        </p:txBody>
      </p:sp>
      <p:sp>
        <p:nvSpPr>
          <p:cNvPr id="4" name="文本占位符 3">
            <a:extLst>
              <a:ext uri="{FF2B5EF4-FFF2-40B4-BE49-F238E27FC236}">
                <a16:creationId xmlns:a16="http://schemas.microsoft.com/office/drawing/2014/main" id="{2EB4E751-9289-4C4E-9418-EE2ED45DDF6B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5" name="日期占位符 4">
            <a:extLst>
              <a:ext uri="{FF2B5EF4-FFF2-40B4-BE49-F238E27FC236}">
                <a16:creationId xmlns:a16="http://schemas.microsoft.com/office/drawing/2014/main" id="{937B3CBA-A6F8-46D2-B8FE-0FCC383C945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7FFDAE1-EB67-42CF-B593-56AA292DA8C8}" type="datetimeFigureOut">
              <a:rPr lang="zh-CN" altLang="en-US" smtClean="0"/>
              <a:t>2020/4/2</a:t>
            </a:fld>
            <a:endParaRPr lang="zh-CN" altLang="en-US"/>
          </a:p>
        </p:txBody>
      </p:sp>
      <p:sp>
        <p:nvSpPr>
          <p:cNvPr id="6" name="页脚占位符 5">
            <a:extLst>
              <a:ext uri="{FF2B5EF4-FFF2-40B4-BE49-F238E27FC236}">
                <a16:creationId xmlns:a16="http://schemas.microsoft.com/office/drawing/2014/main" id="{7364EF54-A7CA-4392-9234-4DDE22D7195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7" name="灯片编号占位符 6">
            <a:extLst>
              <a:ext uri="{FF2B5EF4-FFF2-40B4-BE49-F238E27FC236}">
                <a16:creationId xmlns:a16="http://schemas.microsoft.com/office/drawing/2014/main" id="{43F75E53-F65D-44C7-939C-A76A1D47C7C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A1E6056-67A1-460C-8D55-8E0798092675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249711935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标题和竖排文字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47816F80-4702-44BD-867F-324A473EAB7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竖排文字占位符 2">
            <a:extLst>
              <a:ext uri="{FF2B5EF4-FFF2-40B4-BE49-F238E27FC236}">
                <a16:creationId xmlns:a16="http://schemas.microsoft.com/office/drawing/2014/main" id="{62F0CDC5-CE5D-4691-97FD-895FAEEA2B48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</a:p>
        </p:txBody>
      </p:sp>
      <p:sp>
        <p:nvSpPr>
          <p:cNvPr id="4" name="日期占位符 3">
            <a:extLst>
              <a:ext uri="{FF2B5EF4-FFF2-40B4-BE49-F238E27FC236}">
                <a16:creationId xmlns:a16="http://schemas.microsoft.com/office/drawing/2014/main" id="{AECE9BBA-8B26-464A-893C-B296D43FA6B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7FFDAE1-EB67-42CF-B593-56AA292DA8C8}" type="datetimeFigureOut">
              <a:rPr lang="zh-CN" altLang="en-US" smtClean="0"/>
              <a:t>2020/4/2</a:t>
            </a:fld>
            <a:endParaRPr lang="zh-CN" altLang="en-US"/>
          </a:p>
        </p:txBody>
      </p:sp>
      <p:sp>
        <p:nvSpPr>
          <p:cNvPr id="5" name="页脚占位符 4">
            <a:extLst>
              <a:ext uri="{FF2B5EF4-FFF2-40B4-BE49-F238E27FC236}">
                <a16:creationId xmlns:a16="http://schemas.microsoft.com/office/drawing/2014/main" id="{34601B33-B587-4FB0-85AB-DDC1F4A34BF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>
            <a:extLst>
              <a:ext uri="{FF2B5EF4-FFF2-40B4-BE49-F238E27FC236}">
                <a16:creationId xmlns:a16="http://schemas.microsoft.com/office/drawing/2014/main" id="{9610712C-C969-4C2A-8ABC-CCD2466F869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A1E6056-67A1-460C-8D55-8E0798092675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1960334169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竖排标题与文本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竖排标题 1">
            <a:extLst>
              <a:ext uri="{FF2B5EF4-FFF2-40B4-BE49-F238E27FC236}">
                <a16:creationId xmlns:a16="http://schemas.microsoft.com/office/drawing/2014/main" id="{65EEDC4F-CF6F-4F5A-B7D5-5DDA55C29556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竖排文字占位符 2">
            <a:extLst>
              <a:ext uri="{FF2B5EF4-FFF2-40B4-BE49-F238E27FC236}">
                <a16:creationId xmlns:a16="http://schemas.microsoft.com/office/drawing/2014/main" id="{1E88988E-73BA-47A0-9593-2824B50A4518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</a:p>
        </p:txBody>
      </p:sp>
      <p:sp>
        <p:nvSpPr>
          <p:cNvPr id="4" name="日期占位符 3">
            <a:extLst>
              <a:ext uri="{FF2B5EF4-FFF2-40B4-BE49-F238E27FC236}">
                <a16:creationId xmlns:a16="http://schemas.microsoft.com/office/drawing/2014/main" id="{72CE60E4-1A17-46B8-BD11-6895D1EA991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7FFDAE1-EB67-42CF-B593-56AA292DA8C8}" type="datetimeFigureOut">
              <a:rPr lang="zh-CN" altLang="en-US" smtClean="0"/>
              <a:t>2020/4/2</a:t>
            </a:fld>
            <a:endParaRPr lang="zh-CN" altLang="en-US"/>
          </a:p>
        </p:txBody>
      </p:sp>
      <p:sp>
        <p:nvSpPr>
          <p:cNvPr id="5" name="页脚占位符 4">
            <a:extLst>
              <a:ext uri="{FF2B5EF4-FFF2-40B4-BE49-F238E27FC236}">
                <a16:creationId xmlns:a16="http://schemas.microsoft.com/office/drawing/2014/main" id="{169CB261-00A7-4DFD-8566-0F34AD0B2FC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>
            <a:extLst>
              <a:ext uri="{FF2B5EF4-FFF2-40B4-BE49-F238E27FC236}">
                <a16:creationId xmlns:a16="http://schemas.microsoft.com/office/drawing/2014/main" id="{851146E0-61EB-40A0-AEB0-9AAA4858CF3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A1E6056-67A1-460C-8D55-8E0798092675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1183403801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image" Target="../media/image1.jpeg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blipFill dpi="0" rotWithShape="1">
          <a:blip r:embed="rId13" cstate="screen">
            <a:alphaModFix amt="65000"/>
            <a:lum/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占位符 1">
            <a:extLst>
              <a:ext uri="{FF2B5EF4-FFF2-40B4-BE49-F238E27FC236}">
                <a16:creationId xmlns:a16="http://schemas.microsoft.com/office/drawing/2014/main" id="{CF24FEF5-80E6-49C9-85D6-2BC47829815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文本占位符 2">
            <a:extLst>
              <a:ext uri="{FF2B5EF4-FFF2-40B4-BE49-F238E27FC236}">
                <a16:creationId xmlns:a16="http://schemas.microsoft.com/office/drawing/2014/main" id="{2EAF9174-E843-4ABD-B37E-7C4FA3D21281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</a:p>
        </p:txBody>
      </p:sp>
      <p:sp>
        <p:nvSpPr>
          <p:cNvPr id="4" name="日期占位符 3">
            <a:extLst>
              <a:ext uri="{FF2B5EF4-FFF2-40B4-BE49-F238E27FC236}">
                <a16:creationId xmlns:a16="http://schemas.microsoft.com/office/drawing/2014/main" id="{27DB30D1-E683-4A0D-B10E-812E5E4C6544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7FFDAE1-EB67-42CF-B593-56AA292DA8C8}" type="datetimeFigureOut">
              <a:rPr lang="zh-CN" altLang="en-US" smtClean="0"/>
              <a:t>2020/4/2</a:t>
            </a:fld>
            <a:endParaRPr lang="zh-CN" altLang="en-US"/>
          </a:p>
        </p:txBody>
      </p:sp>
      <p:sp>
        <p:nvSpPr>
          <p:cNvPr id="5" name="页脚占位符 4">
            <a:extLst>
              <a:ext uri="{FF2B5EF4-FFF2-40B4-BE49-F238E27FC236}">
                <a16:creationId xmlns:a16="http://schemas.microsoft.com/office/drawing/2014/main" id="{2E056DC2-E1F5-4995-85FF-140FC7BF9484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zh-CN" altLang="en-US"/>
          </a:p>
        </p:txBody>
      </p:sp>
      <p:sp>
        <p:nvSpPr>
          <p:cNvPr id="6" name="灯片编号占位符 5">
            <a:extLst>
              <a:ext uri="{FF2B5EF4-FFF2-40B4-BE49-F238E27FC236}">
                <a16:creationId xmlns:a16="http://schemas.microsoft.com/office/drawing/2014/main" id="{8ED04F22-1EEB-4F3C-8EF1-26E3E5B27B01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DA1E6056-67A1-460C-8D55-8E0798092675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3900243555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zh-CN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2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3.png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8" Type="http://schemas.openxmlformats.org/officeDocument/2006/relationships/image" Target="../media/image9.emf"/><Relationship Id="rId3" Type="http://schemas.openxmlformats.org/officeDocument/2006/relationships/customXml" Target="../ink/ink1.xml"/><Relationship Id="rId7" Type="http://schemas.openxmlformats.org/officeDocument/2006/relationships/customXml" Target="../ink/ink3.xml"/><Relationship Id="rId2" Type="http://schemas.openxmlformats.org/officeDocument/2006/relationships/image" Target="../media/image6.png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8.emf"/><Relationship Id="rId5" Type="http://schemas.openxmlformats.org/officeDocument/2006/relationships/customXml" Target="../ink/ink2.xml"/><Relationship Id="rId10" Type="http://schemas.openxmlformats.org/officeDocument/2006/relationships/image" Target="../media/image10.emf"/><Relationship Id="rId4" Type="http://schemas.openxmlformats.org/officeDocument/2006/relationships/image" Target="../media/image7.emf"/><Relationship Id="rId9" Type="http://schemas.openxmlformats.org/officeDocument/2006/relationships/customXml" Target="../ink/ink4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11.png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12.png"/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image" Target="../media/image13.png"/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15.png"/><Relationship Id="rId2" Type="http://schemas.openxmlformats.org/officeDocument/2006/relationships/image" Target="../media/image14.png"/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" name="矩形 15">
            <a:extLst>
              <a:ext uri="{FF2B5EF4-FFF2-40B4-BE49-F238E27FC236}">
                <a16:creationId xmlns:a16="http://schemas.microsoft.com/office/drawing/2014/main" id="{A00EFA96-0182-425D-BCA4-E63B2E97FADD}"/>
              </a:ext>
            </a:extLst>
          </p:cNvPr>
          <p:cNvSpPr/>
          <p:nvPr/>
        </p:nvSpPr>
        <p:spPr>
          <a:xfrm flipH="1">
            <a:off x="11469292" y="6256421"/>
            <a:ext cx="97066" cy="601579"/>
          </a:xfrm>
          <a:prstGeom prst="rect">
            <a:avLst/>
          </a:prstGeom>
          <a:solidFill>
            <a:schemeClr val="bg1">
              <a:lumMod val="8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cs typeface="+mn-ea"/>
              <a:sym typeface="+mn-lt"/>
            </a:endParaRPr>
          </a:p>
        </p:txBody>
      </p:sp>
      <p:sp>
        <p:nvSpPr>
          <p:cNvPr id="6" name="椭圆 5">
            <a:extLst>
              <a:ext uri="{FF2B5EF4-FFF2-40B4-BE49-F238E27FC236}">
                <a16:creationId xmlns:a16="http://schemas.microsoft.com/office/drawing/2014/main" id="{E1B4E00B-A59F-40B7-AE12-5CA474CE7727}"/>
              </a:ext>
            </a:extLst>
          </p:cNvPr>
          <p:cNvSpPr/>
          <p:nvPr/>
        </p:nvSpPr>
        <p:spPr>
          <a:xfrm>
            <a:off x="3006189" y="2318083"/>
            <a:ext cx="2221834" cy="2221834"/>
          </a:xfrm>
          <a:prstGeom prst="ellipse">
            <a:avLst/>
          </a:prstGeom>
          <a:solidFill>
            <a:schemeClr val="accent4">
              <a:lumMod val="60000"/>
              <a:lumOff val="4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cs typeface="+mn-ea"/>
              <a:sym typeface="+mn-lt"/>
            </a:endParaRPr>
          </a:p>
        </p:txBody>
      </p:sp>
      <p:sp>
        <p:nvSpPr>
          <p:cNvPr id="7" name="椭圆 6">
            <a:extLst>
              <a:ext uri="{FF2B5EF4-FFF2-40B4-BE49-F238E27FC236}">
                <a16:creationId xmlns:a16="http://schemas.microsoft.com/office/drawing/2014/main" id="{76422D18-37EE-4390-A0D0-947CB31C5CD6}"/>
              </a:ext>
            </a:extLst>
          </p:cNvPr>
          <p:cNvSpPr/>
          <p:nvPr/>
        </p:nvSpPr>
        <p:spPr>
          <a:xfrm>
            <a:off x="9228795" y="3200400"/>
            <a:ext cx="558015" cy="558015"/>
          </a:xfrm>
          <a:prstGeom prst="ellipse">
            <a:avLst/>
          </a:prstGeom>
          <a:solidFill>
            <a:schemeClr val="accent4">
              <a:lumMod val="20000"/>
              <a:lumOff val="8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cs typeface="+mn-ea"/>
              <a:sym typeface="+mn-lt"/>
            </a:endParaRPr>
          </a:p>
        </p:txBody>
      </p:sp>
      <p:sp>
        <p:nvSpPr>
          <p:cNvPr id="8" name="椭圆 7">
            <a:extLst>
              <a:ext uri="{FF2B5EF4-FFF2-40B4-BE49-F238E27FC236}">
                <a16:creationId xmlns:a16="http://schemas.microsoft.com/office/drawing/2014/main" id="{595759E0-70EB-4F31-9979-C48DF9140050}"/>
              </a:ext>
            </a:extLst>
          </p:cNvPr>
          <p:cNvSpPr/>
          <p:nvPr/>
        </p:nvSpPr>
        <p:spPr>
          <a:xfrm>
            <a:off x="2744906" y="1382479"/>
            <a:ext cx="4093043" cy="4093043"/>
          </a:xfrm>
          <a:prstGeom prst="ellipse">
            <a:avLst/>
          </a:prstGeom>
          <a:noFill/>
          <a:ln w="57150">
            <a:solidFill>
              <a:schemeClr val="bg1">
                <a:lumMod val="9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cs typeface="+mn-ea"/>
              <a:sym typeface="+mn-lt"/>
            </a:endParaRPr>
          </a:p>
        </p:txBody>
      </p:sp>
      <p:sp>
        <p:nvSpPr>
          <p:cNvPr id="11" name="矩形 10">
            <a:extLst>
              <a:ext uri="{FF2B5EF4-FFF2-40B4-BE49-F238E27FC236}">
                <a16:creationId xmlns:a16="http://schemas.microsoft.com/office/drawing/2014/main" id="{89E665AE-D1F7-4530-A01D-8118F2016433}"/>
              </a:ext>
            </a:extLst>
          </p:cNvPr>
          <p:cNvSpPr/>
          <p:nvPr/>
        </p:nvSpPr>
        <p:spPr>
          <a:xfrm>
            <a:off x="3269655" y="2823063"/>
            <a:ext cx="6166377" cy="1300356"/>
          </a:xfrm>
          <a:prstGeom prst="rect">
            <a:avLst/>
          </a:prstGeom>
        </p:spPr>
        <p:txBody>
          <a:bodyPr wrap="square" lIns="68580" tIns="34290" rIns="68580" bIns="34290">
            <a:spAutoFit/>
          </a:bodyPr>
          <a:lstStyle/>
          <a:p>
            <a:pPr>
              <a:defRPr/>
            </a:pPr>
            <a:r>
              <a:rPr lang="zh-CN" altLang="en-US" sz="8000" dirty="0" smtClean="0"/>
              <a:t>实验</a:t>
            </a:r>
            <a:r>
              <a:rPr lang="zh-CN" altLang="en-US" sz="8000" dirty="0"/>
              <a:t>四</a:t>
            </a:r>
            <a:endParaRPr sz="7500" spc="300" dirty="0">
              <a:solidFill>
                <a:srgbClr val="292929"/>
              </a:solidFill>
              <a:latin typeface="方正粗谭黑简体" panose="02000000000000000000" pitchFamily="2" charset="-122"/>
              <a:ea typeface="方正粗谭黑简体" panose="02000000000000000000" pitchFamily="2" charset="-122"/>
              <a:cs typeface="+mn-ea"/>
              <a:sym typeface="+mn-lt"/>
            </a:endParaRPr>
          </a:p>
        </p:txBody>
      </p:sp>
      <p:sp>
        <p:nvSpPr>
          <p:cNvPr id="13" name="矩形 12">
            <a:extLst>
              <a:ext uri="{FF2B5EF4-FFF2-40B4-BE49-F238E27FC236}">
                <a16:creationId xmlns:a16="http://schemas.microsoft.com/office/drawing/2014/main" id="{828238AC-3B1F-4281-98A3-D0FE900CC5AA}"/>
              </a:ext>
            </a:extLst>
          </p:cNvPr>
          <p:cNvSpPr/>
          <p:nvPr/>
        </p:nvSpPr>
        <p:spPr>
          <a:xfrm>
            <a:off x="6659591" y="4101335"/>
            <a:ext cx="4500777" cy="438582"/>
          </a:xfrm>
          <a:prstGeom prst="rect">
            <a:avLst/>
          </a:prstGeom>
        </p:spPr>
        <p:txBody>
          <a:bodyPr wrap="square" lIns="68580" tIns="34290" rIns="68580" bIns="34290">
            <a:spAutoFit/>
          </a:bodyPr>
          <a:lstStyle/>
          <a:p>
            <a:pPr algn="dist">
              <a:defRPr/>
            </a:pPr>
            <a:r>
              <a:rPr lang="zh-CN" altLang="en-US" sz="2400" spc="225" dirty="0" smtClean="0">
                <a:solidFill>
                  <a:srgbClr val="292929"/>
                </a:solidFill>
                <a:cs typeface="+mn-ea"/>
                <a:sym typeface="+mn-lt"/>
              </a:rPr>
              <a:t>分支和循环程序设计实验</a:t>
            </a:r>
            <a:r>
              <a:rPr lang="en-US" altLang="zh-CN" sz="2400" spc="225" dirty="0" smtClean="0">
                <a:solidFill>
                  <a:srgbClr val="292929"/>
                </a:solidFill>
                <a:cs typeface="+mn-ea"/>
                <a:sym typeface="+mn-lt"/>
              </a:rPr>
              <a:t>(1)</a:t>
            </a:r>
            <a:endParaRPr sz="2400" spc="225" dirty="0">
              <a:solidFill>
                <a:srgbClr val="292929"/>
              </a:solidFill>
              <a:cs typeface="+mn-ea"/>
              <a:sym typeface="+mn-lt"/>
            </a:endParaRPr>
          </a:p>
        </p:txBody>
      </p:sp>
    </p:spTree>
    <p:extLst>
      <p:ext uri="{BB962C8B-B14F-4D97-AF65-F5344CB8AC3E}">
        <p14:creationId xmlns:p14="http://schemas.microsoft.com/office/powerpoint/2010/main" val="1494724232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1500">
        <p:split orient="vert"/>
      </p:transition>
    </mc:Choice>
    <mc:Fallback xmlns="">
      <p:transition spd="slow">
        <p:split orient="vert"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50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3" presetID="42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5" dur="10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16" dur="10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7" dur="10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8" fill="hold">
                            <p:stCondLst>
                              <p:cond delay="1000"/>
                            </p:stCondLst>
                            <p:childTnLst>
                              <p:par>
                                <p:cTn id="19" presetID="22" presetClass="entr" presetSubtype="8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1" dur="50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2" fill="hold">
                            <p:stCondLst>
                              <p:cond delay="1500"/>
                            </p:stCondLst>
                            <p:childTnLst>
                              <p:par>
                                <p:cTn id="23" presetID="22" presetClass="entr" presetSubtype="8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5" dur="500"/>
                                        <p:tgtEl>
                                          <p:spTgt spid="1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6" fill="hold">
                      <p:stCondLst>
                        <p:cond delay="indefinite"/>
                      </p:stCondLst>
                      <p:childTnLst>
                        <p:par>
                          <p:cTn id="27" fill="hold">
                            <p:stCondLst>
                              <p:cond delay="0"/>
                            </p:stCondLst>
                            <p:childTnLst>
                              <p:par>
                                <p:cTn id="28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0" dur="500" fill="hold"/>
                                        <p:tgtEl>
                                          <p:spTgt spid="16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1" dur="500" fill="hold"/>
                                        <p:tgtEl>
                                          <p:spTgt spid="1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6" grpId="0" animBg="1"/>
      <p:bldP spid="6" grpId="0" animBg="1"/>
      <p:bldP spid="7" grpId="0" animBg="1"/>
      <p:bldP spid="8" grpId="0" animBg="1"/>
      <p:bldP spid="11" grpId="0"/>
      <p:bldP spid="13" grpId="0"/>
    </p:bldLst>
  </p:timing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椭圆 3">
            <a:extLst>
              <a:ext uri="{FF2B5EF4-FFF2-40B4-BE49-F238E27FC236}">
                <a16:creationId xmlns:a16="http://schemas.microsoft.com/office/drawing/2014/main" id="{816B405C-B524-437D-A020-C9F0875C6D2C}"/>
              </a:ext>
            </a:extLst>
          </p:cNvPr>
          <p:cNvSpPr/>
          <p:nvPr/>
        </p:nvSpPr>
        <p:spPr>
          <a:xfrm>
            <a:off x="465221" y="417094"/>
            <a:ext cx="386117" cy="386117"/>
          </a:xfrm>
          <a:prstGeom prst="ellipse">
            <a:avLst/>
          </a:prstGeom>
          <a:solidFill>
            <a:srgbClr val="292929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dirty="0">
              <a:cs typeface="+mn-ea"/>
              <a:sym typeface="+mn-lt"/>
            </a:endParaRPr>
          </a:p>
        </p:txBody>
      </p:sp>
      <p:sp>
        <p:nvSpPr>
          <p:cNvPr id="12" name="文本框 11">
            <a:extLst>
              <a:ext uri="{FF2B5EF4-FFF2-40B4-BE49-F238E27FC236}">
                <a16:creationId xmlns:a16="http://schemas.microsoft.com/office/drawing/2014/main" id="{84BD821F-347E-466B-A78A-EEBD4AFE8EE9}"/>
              </a:ext>
            </a:extLst>
          </p:cNvPr>
          <p:cNvSpPr txBox="1"/>
          <p:nvPr/>
        </p:nvSpPr>
        <p:spPr>
          <a:xfrm>
            <a:off x="851338" y="986715"/>
            <a:ext cx="9031054" cy="2862322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E84C53"/>
                </a:solidFill>
              </a14:hiddenFill>
            </a:ext>
          </a:extLst>
        </p:spPr>
        <p:txBody>
          <a:bodyPr wrap="square" rtlCol="0">
            <a:spAutoFit/>
          </a:bodyPr>
          <a:lstStyle/>
          <a:p>
            <a:pPr marL="457200" indent="-457200">
              <a:buAutoNum type="arabicPeriod"/>
            </a:pPr>
            <a:r>
              <a:rPr lang="zh-CN" altLang="en-US" sz="2400" dirty="0">
                <a:sym typeface="+mn-lt"/>
              </a:rPr>
              <a:t>不使用乘法</a:t>
            </a:r>
            <a:r>
              <a:rPr lang="zh-CN" altLang="en-US" sz="2400" dirty="0"/>
              <a:t>指令编写一个汇编程序用于计算：AX×21，假设乘积不超过</a:t>
            </a:r>
            <a:r>
              <a:rPr lang="en-US" altLang="zh-CN" sz="2400" dirty="0"/>
              <a:t>16</a:t>
            </a:r>
            <a:r>
              <a:rPr lang="zh-CN" altLang="en-US" sz="2400" dirty="0"/>
              <a:t>位。提示：21＝24＋22＋20</a:t>
            </a:r>
            <a:endParaRPr lang="en-US" altLang="zh-CN" sz="2400" dirty="0"/>
          </a:p>
          <a:p>
            <a:pPr marL="457200" indent="-457200">
              <a:buAutoNum type="arabicPeriod"/>
            </a:pPr>
            <a:endParaRPr lang="en-US" altLang="zh-CN" sz="2400" dirty="0"/>
          </a:p>
          <a:p>
            <a:pPr>
              <a:lnSpc>
                <a:spcPct val="150000"/>
              </a:lnSpc>
            </a:pPr>
            <a:r>
              <a:rPr lang="en-US" altLang="zh-CN" sz="2400" dirty="0">
                <a:sym typeface="+mn-lt"/>
              </a:rPr>
              <a:t>	</a:t>
            </a:r>
            <a:endParaRPr lang="en-US" altLang="zh-CN" sz="2400" dirty="0"/>
          </a:p>
          <a:p>
            <a:pPr>
              <a:lnSpc>
                <a:spcPct val="150000"/>
              </a:lnSpc>
            </a:pPr>
            <a:endParaRPr lang="zh-CN" altLang="en-US" sz="2400" dirty="0"/>
          </a:p>
          <a:p>
            <a:pPr>
              <a:lnSpc>
                <a:spcPct val="150000"/>
              </a:lnSpc>
            </a:pPr>
            <a:r>
              <a:rPr lang="en-US" altLang="zh-CN" sz="2400" dirty="0" smtClean="0">
                <a:solidFill>
                  <a:schemeClr val="tx1">
                    <a:lumMod val="75000"/>
                    <a:lumOff val="25000"/>
                  </a:schemeClr>
                </a:solidFill>
                <a:cs typeface="+mn-ea"/>
                <a:sym typeface="+mn-lt"/>
              </a:rPr>
              <a:t>    </a:t>
            </a:r>
            <a:r>
              <a:rPr lang="zh-CN" altLang="en-US" sz="2400" dirty="0" smtClean="0">
                <a:solidFill>
                  <a:schemeClr val="tx1">
                    <a:lumMod val="75000"/>
                    <a:lumOff val="25000"/>
                  </a:schemeClr>
                </a:solidFill>
                <a:cs typeface="+mn-ea"/>
                <a:sym typeface="+mn-lt"/>
              </a:rPr>
              <a:t> </a:t>
            </a:r>
            <a:endParaRPr lang="en-US" altLang="zh-CN" sz="2400" dirty="0">
              <a:solidFill>
                <a:schemeClr val="tx1">
                  <a:lumMod val="75000"/>
                  <a:lumOff val="25000"/>
                </a:schemeClr>
              </a:solidFill>
              <a:cs typeface="+mn-ea"/>
              <a:sym typeface="+mn-lt"/>
            </a:endParaRPr>
          </a:p>
        </p:txBody>
      </p:sp>
      <p:pic>
        <p:nvPicPr>
          <p:cNvPr id="6" name="图片 5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318831" y="1880044"/>
            <a:ext cx="2714625" cy="3609975"/>
          </a:xfrm>
          <a:prstGeom prst="rect">
            <a:avLst/>
          </a:prstGeom>
        </p:spPr>
      </p:pic>
      <p:pic>
        <p:nvPicPr>
          <p:cNvPr id="2" name="图片 1"/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500949" y="1880043"/>
            <a:ext cx="7048308" cy="2574725"/>
          </a:xfrm>
          <a:prstGeom prst="rect">
            <a:avLst/>
          </a:prstGeom>
        </p:spPr>
      </p:pic>
      <p:sp>
        <p:nvSpPr>
          <p:cNvPr id="8" name="文本框 7">
            <a:extLst>
              <a:ext uri="{FF2B5EF4-FFF2-40B4-BE49-F238E27FC236}">
                <a16:creationId xmlns:a16="http://schemas.microsoft.com/office/drawing/2014/main" id="{DF2526D7-99D4-4C36-BFAF-2935CF20E675}"/>
              </a:ext>
            </a:extLst>
          </p:cNvPr>
          <p:cNvSpPr txBox="1"/>
          <p:nvPr/>
        </p:nvSpPr>
        <p:spPr>
          <a:xfrm>
            <a:off x="993505" y="276066"/>
            <a:ext cx="2236510" cy="58477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zh-CN" altLang="en-US" sz="3200" dirty="0" smtClean="0">
                <a:solidFill>
                  <a:schemeClr val="tx1">
                    <a:lumMod val="75000"/>
                    <a:lumOff val="25000"/>
                  </a:schemeClr>
                </a:solidFill>
                <a:cs typeface="+mn-ea"/>
                <a:sym typeface="+mn-lt"/>
              </a:rPr>
              <a:t>实验三评讲</a:t>
            </a:r>
            <a:endParaRPr lang="zh-CN" altLang="en-US" sz="3200" dirty="0">
              <a:solidFill>
                <a:schemeClr val="tx1">
                  <a:lumMod val="75000"/>
                  <a:lumOff val="25000"/>
                </a:schemeClr>
              </a:solidFill>
              <a:cs typeface="+mn-ea"/>
              <a:sym typeface="+mn-lt"/>
            </a:endParaRPr>
          </a:p>
        </p:txBody>
      </p:sp>
    </p:spTree>
    <p:extLst>
      <p:ext uri="{BB962C8B-B14F-4D97-AF65-F5344CB8AC3E}">
        <p14:creationId xmlns:p14="http://schemas.microsoft.com/office/powerpoint/2010/main" val="535153638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1200">
        <p:dissolve/>
      </p:transition>
    </mc:Choice>
    <mc:Fallback xmlns="">
      <p:transition spd="slow">
        <p:dissolv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2" presetClass="entr" presetSubtype="4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500"/>
                                        <p:tgtEl>
                                          <p:spTgt spid="1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#ppt_h*1.125000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  <p:animEffect transition="in" filter="wipe(up)">
                                      <p:cBhvr>
                                        <p:cTn id="8" dur="500"/>
                                        <p:tgtEl>
                                          <p:spTgt spid="1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2" grpId="0" bldLvl="0"/>
    </p:bldLst>
  </p:timing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图片 3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023759" y="1309391"/>
            <a:ext cx="6144482" cy="4239217"/>
          </a:xfrm>
          <a:prstGeom prst="rect">
            <a:avLst/>
          </a:prstGeom>
        </p:spPr>
      </p:pic>
      <p:pic>
        <p:nvPicPr>
          <p:cNvPr id="5" name="图片 4"/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047574" y="1028365"/>
            <a:ext cx="6096851" cy="480127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068615515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矩形 3"/>
          <p:cNvSpPr/>
          <p:nvPr/>
        </p:nvSpPr>
        <p:spPr>
          <a:xfrm>
            <a:off x="851338" y="983088"/>
            <a:ext cx="9630050" cy="2169825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>
              <a:lnSpc>
                <a:spcPct val="150000"/>
              </a:lnSpc>
            </a:pPr>
            <a:r>
              <a:rPr lang="en-US" altLang="zh-CN" dirty="0">
                <a:solidFill>
                  <a:schemeClr val="tx1">
                    <a:lumMod val="75000"/>
                    <a:lumOff val="25000"/>
                  </a:schemeClr>
                </a:solidFill>
                <a:cs typeface="+mn-ea"/>
                <a:sym typeface="+mn-lt"/>
              </a:rPr>
              <a:t>2. </a:t>
            </a:r>
            <a:r>
              <a:rPr lang="zh-CN" altLang="en-US" dirty="0">
                <a:solidFill>
                  <a:schemeClr val="tx1">
                    <a:lumMod val="75000"/>
                    <a:lumOff val="25000"/>
                  </a:schemeClr>
                </a:solidFill>
                <a:cs typeface="+mn-ea"/>
                <a:sym typeface="+mn-lt"/>
              </a:rPr>
              <a:t>给定一个只含英文字符的字符串 如“</a:t>
            </a:r>
            <a:r>
              <a:rPr lang="en-US" altLang="zh-CN" dirty="0" err="1">
                <a:solidFill>
                  <a:schemeClr val="tx1">
                    <a:lumMod val="75000"/>
                    <a:lumOff val="25000"/>
                  </a:schemeClr>
                </a:solidFill>
                <a:cs typeface="+mn-ea"/>
                <a:sym typeface="+mn-lt"/>
              </a:rPr>
              <a:t>ABcdEfGabFZ</a:t>
            </a:r>
            <a:r>
              <a:rPr lang="zh-CN" altLang="en-US" dirty="0">
                <a:solidFill>
                  <a:schemeClr val="tx1">
                    <a:lumMod val="75000"/>
                    <a:lumOff val="25000"/>
                  </a:schemeClr>
                </a:solidFill>
                <a:cs typeface="+mn-ea"/>
                <a:sym typeface="+mn-lt"/>
              </a:rPr>
              <a:t>”，实现以下几个功能</a:t>
            </a:r>
            <a:endParaRPr lang="en-US" altLang="zh-CN" dirty="0">
              <a:solidFill>
                <a:schemeClr val="tx1">
                  <a:lumMod val="75000"/>
                  <a:lumOff val="25000"/>
                </a:schemeClr>
              </a:solidFill>
              <a:cs typeface="+mn-ea"/>
              <a:sym typeface="+mn-lt"/>
            </a:endParaRPr>
          </a:p>
          <a:p>
            <a:pPr>
              <a:lnSpc>
                <a:spcPct val="150000"/>
              </a:lnSpc>
            </a:pPr>
            <a:r>
              <a:rPr lang="en-US" altLang="zh-CN" dirty="0">
                <a:solidFill>
                  <a:schemeClr val="tx1">
                    <a:lumMod val="75000"/>
                    <a:lumOff val="25000"/>
                  </a:schemeClr>
                </a:solidFill>
                <a:cs typeface="+mn-ea"/>
                <a:sym typeface="+mn-lt"/>
              </a:rPr>
              <a:t>	1</a:t>
            </a:r>
            <a:r>
              <a:rPr lang="zh-CN" altLang="en-US" dirty="0">
                <a:solidFill>
                  <a:schemeClr val="tx1">
                    <a:lumMod val="75000"/>
                    <a:lumOff val="25000"/>
                  </a:schemeClr>
                </a:solidFill>
                <a:cs typeface="+mn-ea"/>
                <a:sym typeface="+mn-lt"/>
              </a:rPr>
              <a:t>）将字符串中的字母全部转为大写字母，存在以</a:t>
            </a:r>
            <a:r>
              <a:rPr lang="en-US" altLang="zh-CN" dirty="0">
                <a:solidFill>
                  <a:schemeClr val="tx1">
                    <a:lumMod val="75000"/>
                    <a:lumOff val="25000"/>
                  </a:schemeClr>
                </a:solidFill>
                <a:cs typeface="+mn-ea"/>
                <a:sym typeface="+mn-lt"/>
              </a:rPr>
              <a:t>string1</a:t>
            </a:r>
            <a:r>
              <a:rPr lang="zh-CN" altLang="en-US" dirty="0">
                <a:solidFill>
                  <a:schemeClr val="tx1">
                    <a:lumMod val="75000"/>
                    <a:lumOff val="25000"/>
                  </a:schemeClr>
                </a:solidFill>
                <a:cs typeface="+mn-ea"/>
                <a:sym typeface="+mn-lt"/>
              </a:rPr>
              <a:t>为首地址的</a:t>
            </a:r>
            <a:r>
              <a:rPr lang="zh-CN" altLang="en-US" dirty="0">
                <a:solidFill>
                  <a:schemeClr val="tx1">
                    <a:lumMod val="75000"/>
                    <a:lumOff val="25000"/>
                  </a:schemeClr>
                </a:solidFill>
                <a:cs typeface="+mn-ea"/>
              </a:rPr>
              <a:t>缓冲区中</a:t>
            </a:r>
            <a:endParaRPr lang="en-US" altLang="zh-CN" dirty="0">
              <a:solidFill>
                <a:schemeClr val="tx1">
                  <a:lumMod val="75000"/>
                  <a:lumOff val="25000"/>
                </a:schemeClr>
              </a:solidFill>
              <a:cs typeface="+mn-ea"/>
              <a:sym typeface="+mn-lt"/>
            </a:endParaRPr>
          </a:p>
          <a:p>
            <a:pPr>
              <a:lnSpc>
                <a:spcPct val="150000"/>
              </a:lnSpc>
            </a:pPr>
            <a:r>
              <a:rPr lang="en-US" altLang="zh-CN" dirty="0">
                <a:solidFill>
                  <a:schemeClr val="tx1">
                    <a:lumMod val="75000"/>
                    <a:lumOff val="25000"/>
                  </a:schemeClr>
                </a:solidFill>
                <a:cs typeface="+mn-ea"/>
                <a:sym typeface="+mn-lt"/>
              </a:rPr>
              <a:t>	2</a:t>
            </a:r>
            <a:r>
              <a:rPr lang="zh-CN" altLang="en-US" dirty="0">
                <a:solidFill>
                  <a:schemeClr val="tx1">
                    <a:lumMod val="75000"/>
                    <a:lumOff val="25000"/>
                  </a:schemeClr>
                </a:solidFill>
                <a:cs typeface="+mn-ea"/>
                <a:sym typeface="+mn-lt"/>
              </a:rPr>
              <a:t>）将字符串中的字母全部转为大写字母，存在以</a:t>
            </a:r>
            <a:r>
              <a:rPr lang="en-US" altLang="zh-CN" dirty="0">
                <a:solidFill>
                  <a:schemeClr val="tx1">
                    <a:lumMod val="75000"/>
                    <a:lumOff val="25000"/>
                  </a:schemeClr>
                </a:solidFill>
                <a:cs typeface="+mn-ea"/>
                <a:sym typeface="+mn-lt"/>
              </a:rPr>
              <a:t>string2</a:t>
            </a:r>
            <a:r>
              <a:rPr lang="zh-CN" altLang="en-US" dirty="0">
                <a:solidFill>
                  <a:schemeClr val="tx1">
                    <a:lumMod val="75000"/>
                    <a:lumOff val="25000"/>
                  </a:schemeClr>
                </a:solidFill>
                <a:cs typeface="+mn-ea"/>
                <a:sym typeface="+mn-lt"/>
              </a:rPr>
              <a:t>为首地址的</a:t>
            </a:r>
            <a:r>
              <a:rPr lang="zh-CN" altLang="en-US" dirty="0">
                <a:solidFill>
                  <a:schemeClr val="tx1">
                    <a:lumMod val="75000"/>
                    <a:lumOff val="25000"/>
                  </a:schemeClr>
                </a:solidFill>
                <a:cs typeface="+mn-ea"/>
              </a:rPr>
              <a:t>缓冲区中</a:t>
            </a:r>
            <a:endParaRPr lang="en-US" altLang="zh-CN" dirty="0">
              <a:solidFill>
                <a:schemeClr val="tx1">
                  <a:lumMod val="75000"/>
                  <a:lumOff val="25000"/>
                </a:schemeClr>
              </a:solidFill>
              <a:cs typeface="+mn-ea"/>
            </a:endParaRPr>
          </a:p>
          <a:p>
            <a:pPr>
              <a:lnSpc>
                <a:spcPct val="150000"/>
              </a:lnSpc>
            </a:pPr>
            <a:r>
              <a:rPr lang="en-US" altLang="zh-CN" dirty="0">
                <a:solidFill>
                  <a:schemeClr val="tx1">
                    <a:lumMod val="75000"/>
                    <a:lumOff val="25000"/>
                  </a:schemeClr>
                </a:solidFill>
                <a:cs typeface="+mn-ea"/>
                <a:sym typeface="+mn-lt"/>
              </a:rPr>
              <a:t>  	3</a:t>
            </a:r>
            <a:r>
              <a:rPr lang="zh-CN" altLang="en-US" dirty="0">
                <a:solidFill>
                  <a:schemeClr val="tx1">
                    <a:lumMod val="75000"/>
                    <a:lumOff val="25000"/>
                  </a:schemeClr>
                </a:solidFill>
                <a:cs typeface="+mn-ea"/>
                <a:sym typeface="+mn-lt"/>
              </a:rPr>
              <a:t>）选做：将大写转小写，小写转大写，存入以</a:t>
            </a:r>
            <a:r>
              <a:rPr lang="en-US" altLang="zh-CN" dirty="0">
                <a:solidFill>
                  <a:schemeClr val="tx1">
                    <a:lumMod val="75000"/>
                    <a:lumOff val="25000"/>
                  </a:schemeClr>
                </a:solidFill>
                <a:cs typeface="+mn-ea"/>
                <a:sym typeface="+mn-lt"/>
              </a:rPr>
              <a:t>string3</a:t>
            </a:r>
            <a:r>
              <a:rPr lang="zh-CN" altLang="en-US" dirty="0">
                <a:solidFill>
                  <a:schemeClr val="tx1">
                    <a:lumMod val="75000"/>
                    <a:lumOff val="25000"/>
                  </a:schemeClr>
                </a:solidFill>
                <a:cs typeface="+mn-ea"/>
                <a:sym typeface="+mn-lt"/>
              </a:rPr>
              <a:t>为首地址的</a:t>
            </a:r>
            <a:r>
              <a:rPr lang="zh-CN" altLang="en-US" dirty="0">
                <a:solidFill>
                  <a:schemeClr val="tx1">
                    <a:lumMod val="75000"/>
                    <a:lumOff val="25000"/>
                  </a:schemeClr>
                </a:solidFill>
                <a:cs typeface="+mn-ea"/>
              </a:rPr>
              <a:t>缓冲区中</a:t>
            </a:r>
            <a:endParaRPr lang="en-US" altLang="zh-CN" dirty="0">
              <a:solidFill>
                <a:schemeClr val="tx1">
                  <a:lumMod val="75000"/>
                  <a:lumOff val="25000"/>
                </a:schemeClr>
              </a:solidFill>
              <a:cs typeface="+mn-ea"/>
            </a:endParaRPr>
          </a:p>
          <a:p>
            <a:pPr>
              <a:lnSpc>
                <a:spcPct val="150000"/>
              </a:lnSpc>
            </a:pPr>
            <a:endParaRPr lang="en-US" altLang="zh-CN" dirty="0">
              <a:solidFill>
                <a:schemeClr val="tx1">
                  <a:lumMod val="75000"/>
                  <a:lumOff val="25000"/>
                </a:schemeClr>
              </a:solidFill>
              <a:cs typeface="+mn-ea"/>
            </a:endParaRPr>
          </a:p>
        </p:txBody>
      </p:sp>
      <p:sp>
        <p:nvSpPr>
          <p:cNvPr id="2" name="文本框 1"/>
          <p:cNvSpPr txBox="1"/>
          <p:nvPr/>
        </p:nvSpPr>
        <p:spPr>
          <a:xfrm>
            <a:off x="1493520" y="2829747"/>
            <a:ext cx="3913632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CN" dirty="0" smtClean="0"/>
              <a:t>or  al, 20H       (00</a:t>
            </a:r>
            <a:r>
              <a:rPr lang="en-US" altLang="zh-CN" dirty="0" smtClean="0">
                <a:solidFill>
                  <a:srgbClr val="FF0000"/>
                </a:solidFill>
              </a:rPr>
              <a:t>1</a:t>
            </a:r>
            <a:r>
              <a:rPr lang="en-US" altLang="zh-CN" dirty="0" smtClean="0"/>
              <a:t>00000)    +20H</a:t>
            </a:r>
          </a:p>
          <a:p>
            <a:r>
              <a:rPr lang="en-US" altLang="zh-CN" dirty="0" smtClean="0"/>
              <a:t>and  al, 0dfh    (11</a:t>
            </a:r>
            <a:r>
              <a:rPr lang="en-US" altLang="zh-CN" dirty="0" smtClean="0">
                <a:solidFill>
                  <a:srgbClr val="FF0000"/>
                </a:solidFill>
              </a:rPr>
              <a:t>0</a:t>
            </a:r>
            <a:r>
              <a:rPr lang="en-US" altLang="zh-CN" dirty="0" smtClean="0"/>
              <a:t>11111)	   -20H</a:t>
            </a:r>
          </a:p>
        </p:txBody>
      </p:sp>
      <p:pic>
        <p:nvPicPr>
          <p:cNvPr id="3" name="图片 2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95864" y="3599166"/>
            <a:ext cx="7339832" cy="1992374"/>
          </a:xfrm>
          <a:prstGeom prst="rect">
            <a:avLst/>
          </a:prstGeom>
        </p:spPr>
      </p:pic>
      <mc:AlternateContent xmlns:mc="http://schemas.openxmlformats.org/markup-compatibility/2006">
        <mc:Choice xmlns:p14="http://schemas.microsoft.com/office/powerpoint/2010/main" Requires="p14">
          <p:contentPart p14:bwMode="auto" r:id="rId3">
            <p14:nvContentPartPr>
              <p14:cNvPr id="10" name="墨迹 9"/>
              <p14:cNvContentPartPr/>
              <p14:nvPr/>
            </p14:nvContentPartPr>
            <p14:xfrm>
              <a:off x="1790640" y="4233960"/>
              <a:ext cx="557640" cy="238320"/>
            </p14:xfrm>
          </p:contentPart>
        </mc:Choice>
        <mc:Fallback>
          <p:pic>
            <p:nvPicPr>
              <p:cNvPr id="10" name="墨迹 9"/>
              <p:cNvPicPr/>
              <p:nvPr/>
            </p:nvPicPr>
            <p:blipFill>
              <a:blip r:embed="rId4"/>
              <a:stretch>
                <a:fillRect/>
              </a:stretch>
            </p:blipFill>
            <p:spPr>
              <a:xfrm>
                <a:off x="1781280" y="4224600"/>
                <a:ext cx="576360" cy="25704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>
        <mc:Choice xmlns:p14="http://schemas.microsoft.com/office/powerpoint/2010/main" Requires="p14">
          <p:contentPart p14:bwMode="auto" r:id="rId5">
            <p14:nvContentPartPr>
              <p14:cNvPr id="11" name="墨迹 10"/>
              <p14:cNvContentPartPr/>
              <p14:nvPr/>
            </p14:nvContentPartPr>
            <p14:xfrm>
              <a:off x="2438280" y="4281480"/>
              <a:ext cx="300600" cy="157680"/>
            </p14:xfrm>
          </p:contentPart>
        </mc:Choice>
        <mc:Fallback>
          <p:pic>
            <p:nvPicPr>
              <p:cNvPr id="11" name="墨迹 10"/>
              <p:cNvPicPr/>
              <p:nvPr/>
            </p:nvPicPr>
            <p:blipFill>
              <a:blip r:embed="rId6"/>
              <a:stretch>
                <a:fillRect/>
              </a:stretch>
            </p:blipFill>
            <p:spPr>
              <a:xfrm>
                <a:off x="2428920" y="4272120"/>
                <a:ext cx="319320" cy="17640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>
        <mc:Choice xmlns:p14="http://schemas.microsoft.com/office/powerpoint/2010/main" Requires="p14">
          <p:contentPart p14:bwMode="auto" r:id="rId7">
            <p14:nvContentPartPr>
              <p14:cNvPr id="15" name="墨迹 14"/>
              <p14:cNvContentPartPr/>
              <p14:nvPr/>
            </p14:nvContentPartPr>
            <p14:xfrm>
              <a:off x="5120568" y="4285632"/>
              <a:ext cx="360" cy="360"/>
            </p14:xfrm>
          </p:contentPart>
        </mc:Choice>
        <mc:Fallback>
          <p:pic>
            <p:nvPicPr>
              <p:cNvPr id="15" name="墨迹 14"/>
              <p:cNvPicPr/>
              <p:nvPr/>
            </p:nvPicPr>
            <p:blipFill>
              <a:blip r:embed="rId8"/>
              <a:stretch>
                <a:fillRect/>
              </a:stretch>
            </p:blipFill>
            <p:spPr>
              <a:xfrm>
                <a:off x="5108688" y="4273752"/>
                <a:ext cx="24120" cy="2412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>
        <mc:Choice xmlns:p14="http://schemas.microsoft.com/office/powerpoint/2010/main" Requires="p14">
          <p:contentPart p14:bwMode="auto" r:id="rId9">
            <p14:nvContentPartPr>
              <p14:cNvPr id="16" name="墨迹 15"/>
              <p14:cNvContentPartPr/>
              <p14:nvPr/>
            </p14:nvContentPartPr>
            <p14:xfrm>
              <a:off x="4943808" y="4321992"/>
              <a:ext cx="360" cy="360"/>
            </p14:xfrm>
          </p:contentPart>
        </mc:Choice>
        <mc:Fallback>
          <p:pic>
            <p:nvPicPr>
              <p:cNvPr id="16" name="墨迹 15"/>
              <p:cNvPicPr/>
              <p:nvPr/>
            </p:nvPicPr>
            <p:blipFill>
              <a:blip r:embed="rId10"/>
              <a:stretch>
                <a:fillRect/>
              </a:stretch>
            </p:blipFill>
            <p:spPr>
              <a:xfrm>
                <a:off x="4931928" y="4310112"/>
                <a:ext cx="24120" cy="24120"/>
              </a:xfrm>
              <a:prstGeom prst="rect">
                <a:avLst/>
              </a:prstGeom>
            </p:spPr>
          </p:pic>
        </mc:Fallback>
      </mc:AlternateContent>
    </p:spTree>
    <p:extLst>
      <p:ext uri="{BB962C8B-B14F-4D97-AF65-F5344CB8AC3E}">
        <p14:creationId xmlns:p14="http://schemas.microsoft.com/office/powerpoint/2010/main" val="957274317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文本框 11">
            <a:extLst>
              <a:ext uri="{FF2B5EF4-FFF2-40B4-BE49-F238E27FC236}">
                <a16:creationId xmlns:a16="http://schemas.microsoft.com/office/drawing/2014/main" id="{84BD821F-347E-466B-A78A-EEBD4AFE8EE9}"/>
              </a:ext>
            </a:extLst>
          </p:cNvPr>
          <p:cNvSpPr txBox="1"/>
          <p:nvPr/>
        </p:nvSpPr>
        <p:spPr>
          <a:xfrm>
            <a:off x="735514" y="419787"/>
            <a:ext cx="9031054" cy="1200329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E84C53"/>
                </a:solidFill>
              </a14:hiddenFill>
            </a:ext>
          </a:extLst>
        </p:spPr>
        <p:txBody>
          <a:bodyPr wrap="square" rtlCol="0">
            <a:spAutoFit/>
          </a:bodyPr>
          <a:lstStyle/>
          <a:p>
            <a:pPr marL="457200" indent="-457200">
              <a:lnSpc>
                <a:spcPct val="150000"/>
              </a:lnSpc>
              <a:buAutoNum type="arabicPeriod" startAt="3"/>
            </a:pPr>
            <a:r>
              <a:rPr lang="zh-CN" altLang="en-US" sz="2400" dirty="0" smtClean="0"/>
              <a:t>编写汇编程序，统计一串字符串中字符“</a:t>
            </a:r>
            <a:r>
              <a:rPr lang="en-US" altLang="zh-CN" sz="2400" dirty="0" smtClean="0"/>
              <a:t>A</a:t>
            </a:r>
            <a:r>
              <a:rPr lang="zh-CN" altLang="en-US" sz="2400" dirty="0" smtClean="0"/>
              <a:t>”出现的次数</a:t>
            </a:r>
            <a:endParaRPr lang="en-US" altLang="zh-CN" sz="2400" dirty="0" smtClean="0"/>
          </a:p>
          <a:p>
            <a:pPr marL="457200" indent="-457200">
              <a:lnSpc>
                <a:spcPct val="150000"/>
              </a:lnSpc>
              <a:buAutoNum type="arabicPeriod" startAt="3"/>
            </a:pPr>
            <a:endParaRPr lang="en-US" altLang="zh-CN" sz="2400" dirty="0">
              <a:solidFill>
                <a:schemeClr val="tx1">
                  <a:lumMod val="75000"/>
                  <a:lumOff val="25000"/>
                </a:schemeClr>
              </a:solidFill>
              <a:cs typeface="+mn-ea"/>
              <a:sym typeface="+mn-lt"/>
            </a:endParaRPr>
          </a:p>
        </p:txBody>
      </p:sp>
      <p:pic>
        <p:nvPicPr>
          <p:cNvPr id="2" name="图片 1"/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735513" y="1388198"/>
            <a:ext cx="7800129" cy="277536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958541216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1200">
        <p:dissolve/>
      </p:transition>
    </mc:Choice>
    <mc:Fallback xmlns="">
      <p:transition spd="slow">
        <p:dissolv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2" presetClass="entr" presetSubtype="4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500"/>
                                        <p:tgtEl>
                                          <p:spTgt spid="1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#ppt_h*1.125000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  <p:animEffect transition="in" filter="wipe(up)">
                                      <p:cBhvr>
                                        <p:cTn id="8" dur="500"/>
                                        <p:tgtEl>
                                          <p:spTgt spid="1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2" grpId="0" bldLvl="0"/>
    </p:bldLst>
  </p:timing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矩形 3"/>
          <p:cNvSpPr/>
          <p:nvPr/>
        </p:nvSpPr>
        <p:spPr>
          <a:xfrm>
            <a:off x="865632" y="681335"/>
            <a:ext cx="8095488" cy="507831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>
              <a:lnSpc>
                <a:spcPct val="150000"/>
              </a:lnSpc>
            </a:pPr>
            <a:r>
              <a:rPr lang="en-US" altLang="zh-CN" dirty="0" smtClean="0">
                <a:solidFill>
                  <a:schemeClr val="tx1">
                    <a:lumMod val="75000"/>
                    <a:lumOff val="25000"/>
                  </a:schemeClr>
                </a:solidFill>
                <a:cs typeface="+mn-ea"/>
                <a:sym typeface="+mn-lt"/>
              </a:rPr>
              <a:t>4. </a:t>
            </a:r>
            <a:r>
              <a:rPr lang="zh-CN" altLang="en-US" dirty="0" smtClean="0">
                <a:solidFill>
                  <a:schemeClr val="tx1">
                    <a:lumMod val="75000"/>
                    <a:lumOff val="25000"/>
                  </a:schemeClr>
                </a:solidFill>
                <a:cs typeface="+mn-ea"/>
                <a:sym typeface="+mn-lt"/>
              </a:rPr>
              <a:t>比较</a:t>
            </a:r>
            <a:r>
              <a:rPr lang="zh-CN" altLang="en-US" dirty="0">
                <a:solidFill>
                  <a:schemeClr val="tx1">
                    <a:lumMod val="75000"/>
                    <a:lumOff val="25000"/>
                  </a:schemeClr>
                </a:solidFill>
                <a:cs typeface="+mn-ea"/>
                <a:sym typeface="+mn-lt"/>
              </a:rPr>
              <a:t>缓冲区中两字符串是否相同，若相同则</a:t>
            </a:r>
            <a:r>
              <a:rPr lang="en-US" altLang="zh-CN" dirty="0">
                <a:solidFill>
                  <a:schemeClr val="tx1">
                    <a:lumMod val="75000"/>
                    <a:lumOff val="25000"/>
                  </a:schemeClr>
                </a:solidFill>
                <a:cs typeface="+mn-ea"/>
                <a:sym typeface="+mn-lt"/>
              </a:rPr>
              <a:t>AL</a:t>
            </a:r>
            <a:r>
              <a:rPr lang="zh-CN" altLang="en-US" dirty="0">
                <a:solidFill>
                  <a:schemeClr val="tx1">
                    <a:lumMod val="75000"/>
                    <a:lumOff val="25000"/>
                  </a:schemeClr>
                </a:solidFill>
                <a:cs typeface="+mn-ea"/>
                <a:sym typeface="+mn-lt"/>
              </a:rPr>
              <a:t>返回</a:t>
            </a:r>
            <a:r>
              <a:rPr lang="en-US" altLang="zh-CN" dirty="0">
                <a:solidFill>
                  <a:schemeClr val="tx1">
                    <a:lumMod val="75000"/>
                    <a:lumOff val="25000"/>
                  </a:schemeClr>
                </a:solidFill>
                <a:cs typeface="+mn-ea"/>
                <a:sym typeface="+mn-lt"/>
              </a:rPr>
              <a:t>0</a:t>
            </a:r>
            <a:r>
              <a:rPr lang="zh-CN" altLang="en-US" dirty="0">
                <a:solidFill>
                  <a:schemeClr val="tx1">
                    <a:lumMod val="75000"/>
                    <a:lumOff val="25000"/>
                  </a:schemeClr>
                </a:solidFill>
                <a:cs typeface="+mn-ea"/>
                <a:sym typeface="+mn-lt"/>
              </a:rPr>
              <a:t>，不同返回</a:t>
            </a:r>
            <a:r>
              <a:rPr lang="en-US" altLang="zh-CN" dirty="0">
                <a:solidFill>
                  <a:schemeClr val="tx1">
                    <a:lumMod val="75000"/>
                    <a:lumOff val="25000"/>
                  </a:schemeClr>
                </a:solidFill>
                <a:cs typeface="+mn-ea"/>
                <a:sym typeface="+mn-lt"/>
              </a:rPr>
              <a:t>1</a:t>
            </a:r>
          </a:p>
        </p:txBody>
      </p:sp>
      <p:pic>
        <p:nvPicPr>
          <p:cNvPr id="5" name="图片 4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213247" y="1406927"/>
            <a:ext cx="6144482" cy="4239217"/>
          </a:xfrm>
          <a:prstGeom prst="rect">
            <a:avLst/>
          </a:prstGeom>
        </p:spPr>
      </p:pic>
      <p:pic>
        <p:nvPicPr>
          <p:cNvPr id="7" name="图片 6"/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784446" y="2225039"/>
            <a:ext cx="5250269" cy="239990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241501750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椭圆 3">
            <a:extLst>
              <a:ext uri="{FF2B5EF4-FFF2-40B4-BE49-F238E27FC236}">
                <a16:creationId xmlns:a16="http://schemas.microsoft.com/office/drawing/2014/main" id="{816B405C-B524-437D-A020-C9F0875C6D2C}"/>
              </a:ext>
            </a:extLst>
          </p:cNvPr>
          <p:cNvSpPr/>
          <p:nvPr/>
        </p:nvSpPr>
        <p:spPr>
          <a:xfrm>
            <a:off x="465221" y="417094"/>
            <a:ext cx="386117" cy="386117"/>
          </a:xfrm>
          <a:prstGeom prst="ellipse">
            <a:avLst/>
          </a:prstGeom>
          <a:solidFill>
            <a:srgbClr val="292929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dirty="0">
              <a:cs typeface="+mn-ea"/>
              <a:sym typeface="+mn-lt"/>
            </a:endParaRPr>
          </a:p>
        </p:txBody>
      </p:sp>
      <p:sp>
        <p:nvSpPr>
          <p:cNvPr id="5" name="文本框 4">
            <a:extLst>
              <a:ext uri="{FF2B5EF4-FFF2-40B4-BE49-F238E27FC236}">
                <a16:creationId xmlns:a16="http://schemas.microsoft.com/office/drawing/2014/main" id="{27FD09E1-2F64-4D27-BE2A-B97B619CFA7C}"/>
              </a:ext>
            </a:extLst>
          </p:cNvPr>
          <p:cNvSpPr txBox="1"/>
          <p:nvPr/>
        </p:nvSpPr>
        <p:spPr>
          <a:xfrm>
            <a:off x="993505" y="276066"/>
            <a:ext cx="1826141" cy="58477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zh-CN" altLang="en-US" sz="3200" dirty="0">
                <a:solidFill>
                  <a:schemeClr val="tx1">
                    <a:lumMod val="75000"/>
                    <a:lumOff val="25000"/>
                  </a:schemeClr>
                </a:solidFill>
                <a:cs typeface="+mn-ea"/>
                <a:sym typeface="+mn-lt"/>
              </a:rPr>
              <a:t>目的要求</a:t>
            </a:r>
          </a:p>
        </p:txBody>
      </p:sp>
      <p:sp>
        <p:nvSpPr>
          <p:cNvPr id="12" name="文本框 11">
            <a:extLst>
              <a:ext uri="{FF2B5EF4-FFF2-40B4-BE49-F238E27FC236}">
                <a16:creationId xmlns:a16="http://schemas.microsoft.com/office/drawing/2014/main" id="{84BD821F-347E-466B-A78A-EEBD4AFE8EE9}"/>
              </a:ext>
            </a:extLst>
          </p:cNvPr>
          <p:cNvSpPr txBox="1"/>
          <p:nvPr/>
        </p:nvSpPr>
        <p:spPr>
          <a:xfrm>
            <a:off x="851338" y="1209453"/>
            <a:ext cx="10668288" cy="5262979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E84C53"/>
                </a:solidFill>
              </a14:hiddenFill>
            </a:ext>
          </a:extLst>
        </p:spPr>
        <p:txBody>
          <a:bodyPr wrap="square" rtlCol="0">
            <a:spAutoFit/>
          </a:bodyPr>
          <a:lstStyle/>
          <a:p>
            <a:pPr marL="457200" indent="-457200">
              <a:lnSpc>
                <a:spcPct val="200000"/>
              </a:lnSpc>
              <a:buAutoNum type="arabicPeriod"/>
            </a:pPr>
            <a:r>
              <a:rPr lang="zh-CN" altLang="en-US" sz="2400" dirty="0" smtClean="0">
                <a:solidFill>
                  <a:schemeClr val="tx1">
                    <a:lumMod val="75000"/>
                    <a:lumOff val="25000"/>
                  </a:schemeClr>
                </a:solidFill>
                <a:cs typeface="+mn-ea"/>
                <a:sym typeface="+mn-lt"/>
              </a:rPr>
              <a:t>熟悉汇编语言程序设计结构</a:t>
            </a:r>
            <a:endParaRPr lang="en-US" altLang="zh-CN" sz="2400" dirty="0">
              <a:solidFill>
                <a:schemeClr val="tx1">
                  <a:lumMod val="75000"/>
                  <a:lumOff val="25000"/>
                </a:schemeClr>
              </a:solidFill>
              <a:cs typeface="+mn-ea"/>
              <a:sym typeface="+mn-lt"/>
            </a:endParaRPr>
          </a:p>
          <a:p>
            <a:pPr marL="457200" indent="-457200">
              <a:lnSpc>
                <a:spcPct val="200000"/>
              </a:lnSpc>
              <a:buAutoNum type="arabicPeriod"/>
            </a:pPr>
            <a:r>
              <a:rPr lang="zh-CN" altLang="en-US" sz="2400" dirty="0" smtClean="0">
                <a:solidFill>
                  <a:schemeClr val="tx1">
                    <a:lumMod val="75000"/>
                    <a:lumOff val="25000"/>
                  </a:schemeClr>
                </a:solidFill>
                <a:cs typeface="+mn-ea"/>
                <a:sym typeface="+mn-lt"/>
              </a:rPr>
              <a:t>熟悉汇编语言分支程序基本指令的使用方法</a:t>
            </a:r>
            <a:endParaRPr lang="en-US" altLang="zh-CN" sz="2400" dirty="0" smtClean="0">
              <a:solidFill>
                <a:schemeClr val="tx1">
                  <a:lumMod val="75000"/>
                  <a:lumOff val="25000"/>
                </a:schemeClr>
              </a:solidFill>
              <a:cs typeface="+mn-ea"/>
              <a:sym typeface="+mn-lt"/>
            </a:endParaRPr>
          </a:p>
          <a:p>
            <a:pPr marL="457200" indent="-457200">
              <a:lnSpc>
                <a:spcPct val="200000"/>
              </a:lnSpc>
              <a:buAutoNum type="arabicPeriod"/>
            </a:pPr>
            <a:r>
              <a:rPr lang="zh-CN" altLang="en-US" sz="2400" dirty="0" smtClean="0">
                <a:solidFill>
                  <a:schemeClr val="tx1">
                    <a:lumMod val="75000"/>
                    <a:lumOff val="25000"/>
                  </a:schemeClr>
                </a:solidFill>
                <a:cs typeface="+mn-ea"/>
                <a:sym typeface="+mn-lt"/>
              </a:rPr>
              <a:t>掌握利用汇编语言的实现单分支，双分支，多分支的程序设计方法</a:t>
            </a:r>
            <a:endParaRPr lang="en-US" altLang="zh-CN" sz="2400" dirty="0" smtClean="0">
              <a:solidFill>
                <a:schemeClr val="tx1">
                  <a:lumMod val="75000"/>
                  <a:lumOff val="25000"/>
                </a:schemeClr>
              </a:solidFill>
              <a:cs typeface="+mn-ea"/>
              <a:sym typeface="+mn-lt"/>
            </a:endParaRPr>
          </a:p>
          <a:p>
            <a:pPr marL="457200" indent="-457200">
              <a:lnSpc>
                <a:spcPct val="200000"/>
              </a:lnSpc>
              <a:buAutoNum type="arabicPeriod"/>
            </a:pPr>
            <a:r>
              <a:rPr lang="zh-CN" altLang="en-US" sz="2400" dirty="0">
                <a:solidFill>
                  <a:schemeClr val="tx1">
                    <a:lumMod val="75000"/>
                    <a:lumOff val="25000"/>
                  </a:schemeClr>
                </a:solidFill>
                <a:cs typeface="+mn-ea"/>
                <a:sym typeface="+mn-lt"/>
              </a:rPr>
              <a:t>熟悉</a:t>
            </a:r>
            <a:r>
              <a:rPr lang="zh-CN" altLang="en-US" sz="2400" dirty="0" smtClean="0">
                <a:solidFill>
                  <a:schemeClr val="tx1">
                    <a:lumMod val="75000"/>
                    <a:lumOff val="25000"/>
                  </a:schemeClr>
                </a:solidFill>
                <a:cs typeface="+mn-ea"/>
                <a:sym typeface="+mn-lt"/>
              </a:rPr>
              <a:t>汇编语言循环基本</a:t>
            </a:r>
            <a:r>
              <a:rPr lang="zh-CN" altLang="en-US" sz="2400" dirty="0">
                <a:solidFill>
                  <a:schemeClr val="tx1">
                    <a:lumMod val="75000"/>
                    <a:lumOff val="25000"/>
                  </a:schemeClr>
                </a:solidFill>
                <a:cs typeface="+mn-ea"/>
                <a:sym typeface="+mn-lt"/>
              </a:rPr>
              <a:t>指令的使用方法</a:t>
            </a:r>
            <a:endParaRPr lang="en-US" altLang="zh-CN" sz="2400" dirty="0">
              <a:solidFill>
                <a:schemeClr val="tx1">
                  <a:lumMod val="75000"/>
                  <a:lumOff val="25000"/>
                </a:schemeClr>
              </a:solidFill>
              <a:cs typeface="+mn-ea"/>
              <a:sym typeface="+mn-lt"/>
            </a:endParaRPr>
          </a:p>
          <a:p>
            <a:pPr marL="457200" indent="-457200">
              <a:lnSpc>
                <a:spcPct val="200000"/>
              </a:lnSpc>
              <a:buAutoNum type="arabicPeriod"/>
            </a:pPr>
            <a:r>
              <a:rPr lang="zh-CN" altLang="en-US" sz="2400" dirty="0">
                <a:solidFill>
                  <a:schemeClr val="tx1">
                    <a:lumMod val="75000"/>
                    <a:lumOff val="25000"/>
                  </a:schemeClr>
                </a:solidFill>
                <a:cs typeface="+mn-ea"/>
                <a:sym typeface="+mn-lt"/>
              </a:rPr>
              <a:t>掌握利用汇编语言</a:t>
            </a:r>
            <a:r>
              <a:rPr lang="zh-CN" altLang="en-US" sz="2400" dirty="0" smtClean="0">
                <a:solidFill>
                  <a:schemeClr val="tx1">
                    <a:lumMod val="75000"/>
                    <a:lumOff val="25000"/>
                  </a:schemeClr>
                </a:solidFill>
                <a:cs typeface="+mn-ea"/>
                <a:sym typeface="+mn-lt"/>
              </a:rPr>
              <a:t>的循环指令</a:t>
            </a:r>
            <a:r>
              <a:rPr lang="zh-CN" altLang="en-US" sz="2400" dirty="0">
                <a:solidFill>
                  <a:schemeClr val="tx1">
                    <a:lumMod val="75000"/>
                    <a:lumOff val="25000"/>
                  </a:schemeClr>
                </a:solidFill>
                <a:cs typeface="+mn-ea"/>
                <a:sym typeface="+mn-lt"/>
              </a:rPr>
              <a:t>完成循环程序设计方法</a:t>
            </a:r>
            <a:endParaRPr lang="en-US" altLang="zh-CN" sz="2400" dirty="0">
              <a:solidFill>
                <a:schemeClr val="tx1">
                  <a:lumMod val="75000"/>
                  <a:lumOff val="25000"/>
                </a:schemeClr>
              </a:solidFill>
              <a:cs typeface="+mn-ea"/>
              <a:sym typeface="+mn-lt"/>
            </a:endParaRPr>
          </a:p>
          <a:p>
            <a:pPr marL="457200" indent="-457200">
              <a:lnSpc>
                <a:spcPct val="200000"/>
              </a:lnSpc>
              <a:buAutoNum type="arabicPeriod"/>
            </a:pPr>
            <a:endParaRPr lang="en-US" altLang="zh-CN" sz="2400" dirty="0" smtClean="0">
              <a:solidFill>
                <a:schemeClr val="tx1">
                  <a:lumMod val="75000"/>
                  <a:lumOff val="25000"/>
                </a:schemeClr>
              </a:solidFill>
              <a:cs typeface="+mn-ea"/>
              <a:sym typeface="+mn-lt"/>
            </a:endParaRPr>
          </a:p>
          <a:p>
            <a:pPr marL="457200" indent="-457200">
              <a:lnSpc>
                <a:spcPct val="200000"/>
              </a:lnSpc>
              <a:buAutoNum type="arabicPeriod"/>
            </a:pPr>
            <a:endParaRPr lang="en-US" altLang="zh-CN" sz="2400" dirty="0" smtClean="0">
              <a:solidFill>
                <a:schemeClr val="tx1">
                  <a:lumMod val="75000"/>
                  <a:lumOff val="25000"/>
                </a:schemeClr>
              </a:solidFill>
              <a:cs typeface="+mn-ea"/>
              <a:sym typeface="+mn-lt"/>
            </a:endParaRPr>
          </a:p>
        </p:txBody>
      </p:sp>
      <p:sp>
        <p:nvSpPr>
          <p:cNvPr id="15" name="椭圆 14">
            <a:extLst>
              <a:ext uri="{FF2B5EF4-FFF2-40B4-BE49-F238E27FC236}">
                <a16:creationId xmlns:a16="http://schemas.microsoft.com/office/drawing/2014/main" id="{A6363EFF-03BF-4FF2-BD00-75C605CA1585}"/>
              </a:ext>
            </a:extLst>
          </p:cNvPr>
          <p:cNvSpPr/>
          <p:nvPr/>
        </p:nvSpPr>
        <p:spPr>
          <a:xfrm>
            <a:off x="364406" y="302826"/>
            <a:ext cx="558015" cy="558015"/>
          </a:xfrm>
          <a:prstGeom prst="ellipse">
            <a:avLst/>
          </a:prstGeom>
          <a:solidFill>
            <a:schemeClr val="accent4">
              <a:lumMod val="20000"/>
              <a:lumOff val="8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cs typeface="+mn-ea"/>
              <a:sym typeface="+mn-lt"/>
            </a:endParaRPr>
          </a:p>
        </p:txBody>
      </p:sp>
    </p:spTree>
    <p:extLst>
      <p:ext uri="{BB962C8B-B14F-4D97-AF65-F5344CB8AC3E}">
        <p14:creationId xmlns:p14="http://schemas.microsoft.com/office/powerpoint/2010/main" val="2352103840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1200">
        <p:dissolve/>
      </p:transition>
    </mc:Choice>
    <mc:Fallback xmlns="">
      <p:transition spd="slow">
        <p:dissolv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2" presetClass="entr" presetSubtype="4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500"/>
                                        <p:tgtEl>
                                          <p:spTgt spid="1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#ppt_h*1.125000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  <p:animEffect transition="in" filter="wipe(up)">
                                      <p:cBhvr>
                                        <p:cTn id="8" dur="500"/>
                                        <p:tgtEl>
                                          <p:spTgt spid="1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9" presetID="42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1" dur="100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12" dur="1000" fill="hold"/>
                                        <p:tgtEl>
                                          <p:spTgt spid="1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3" dur="1000" fill="hold"/>
                                        <p:tgtEl>
                                          <p:spTgt spid="1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2" grpId="0" bldLvl="0"/>
      <p:bldP spid="15" grpId="0" animBg="1"/>
    </p:bldLst>
  </p:timing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文本框 3">
            <a:extLst>
              <a:ext uri="{FF2B5EF4-FFF2-40B4-BE49-F238E27FC236}">
                <a16:creationId xmlns:a16="http://schemas.microsoft.com/office/drawing/2014/main" id="{27FD09E1-2F64-4D27-BE2A-B97B619CFA7C}"/>
              </a:ext>
            </a:extLst>
          </p:cNvPr>
          <p:cNvSpPr txBox="1"/>
          <p:nvPr/>
        </p:nvSpPr>
        <p:spPr>
          <a:xfrm>
            <a:off x="993505" y="276066"/>
            <a:ext cx="1415772" cy="58477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zh-CN" altLang="en-US" sz="3200" dirty="0">
                <a:solidFill>
                  <a:schemeClr val="tx1">
                    <a:lumMod val="75000"/>
                    <a:lumOff val="25000"/>
                  </a:schemeClr>
                </a:solidFill>
                <a:cs typeface="+mn-ea"/>
                <a:sym typeface="+mn-lt"/>
              </a:rPr>
              <a:t>知识点</a:t>
            </a:r>
          </a:p>
        </p:txBody>
      </p:sp>
      <p:sp>
        <p:nvSpPr>
          <p:cNvPr id="5" name="椭圆 4">
            <a:extLst>
              <a:ext uri="{FF2B5EF4-FFF2-40B4-BE49-F238E27FC236}">
                <a16:creationId xmlns:a16="http://schemas.microsoft.com/office/drawing/2014/main" id="{A6363EFF-03BF-4FF2-BD00-75C605CA1585}"/>
              </a:ext>
            </a:extLst>
          </p:cNvPr>
          <p:cNvSpPr/>
          <p:nvPr/>
        </p:nvSpPr>
        <p:spPr>
          <a:xfrm>
            <a:off x="364406" y="302826"/>
            <a:ext cx="558015" cy="558015"/>
          </a:xfrm>
          <a:prstGeom prst="ellipse">
            <a:avLst/>
          </a:prstGeom>
          <a:solidFill>
            <a:schemeClr val="accent4">
              <a:lumMod val="20000"/>
              <a:lumOff val="8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cs typeface="+mn-ea"/>
              <a:sym typeface="+mn-lt"/>
            </a:endParaRPr>
          </a:p>
        </p:txBody>
      </p:sp>
      <p:sp>
        <p:nvSpPr>
          <p:cNvPr id="6" name="文本框 5">
            <a:extLst>
              <a:ext uri="{FF2B5EF4-FFF2-40B4-BE49-F238E27FC236}">
                <a16:creationId xmlns:a16="http://schemas.microsoft.com/office/drawing/2014/main" id="{27FD09E1-2F64-4D27-BE2A-B97B619CFA7C}"/>
              </a:ext>
            </a:extLst>
          </p:cNvPr>
          <p:cNvSpPr txBox="1"/>
          <p:nvPr/>
        </p:nvSpPr>
        <p:spPr>
          <a:xfrm>
            <a:off x="993505" y="1178743"/>
            <a:ext cx="4105611" cy="58477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zh-CN" altLang="en-US" sz="3200" dirty="0" smtClean="0">
                <a:solidFill>
                  <a:schemeClr val="tx1">
                    <a:lumMod val="75000"/>
                    <a:lumOff val="25000"/>
                  </a:schemeClr>
                </a:solidFill>
                <a:cs typeface="+mn-ea"/>
                <a:sym typeface="+mn-lt"/>
              </a:rPr>
              <a:t>无</a:t>
            </a:r>
            <a:r>
              <a:rPr lang="zh-CN" altLang="en-US" sz="3200" dirty="0" smtClean="0">
                <a:solidFill>
                  <a:schemeClr val="tx1">
                    <a:lumMod val="75000"/>
                    <a:lumOff val="25000"/>
                  </a:schemeClr>
                </a:solidFill>
                <a:cs typeface="+mn-ea"/>
                <a:sym typeface="+mn-lt"/>
              </a:rPr>
              <a:t>条件转移指令  </a:t>
            </a:r>
            <a:r>
              <a:rPr lang="en-US" altLang="zh-CN" sz="3200" dirty="0" smtClean="0">
                <a:solidFill>
                  <a:schemeClr val="tx1">
                    <a:lumMod val="75000"/>
                    <a:lumOff val="25000"/>
                  </a:schemeClr>
                </a:solidFill>
                <a:cs typeface="+mn-ea"/>
                <a:sym typeface="+mn-lt"/>
              </a:rPr>
              <a:t>JMP</a:t>
            </a:r>
            <a:endParaRPr lang="zh-CN" altLang="en-US" sz="3200" dirty="0">
              <a:solidFill>
                <a:schemeClr val="tx1">
                  <a:lumMod val="75000"/>
                  <a:lumOff val="25000"/>
                </a:schemeClr>
              </a:solidFill>
              <a:cs typeface="+mn-ea"/>
              <a:sym typeface="+mn-lt"/>
            </a:endParaRPr>
          </a:p>
        </p:txBody>
      </p:sp>
      <p:sp>
        <p:nvSpPr>
          <p:cNvPr id="7" name="文本框 6">
            <a:extLst>
              <a:ext uri="{FF2B5EF4-FFF2-40B4-BE49-F238E27FC236}">
                <a16:creationId xmlns:a16="http://schemas.microsoft.com/office/drawing/2014/main" id="{27FD09E1-2F64-4D27-BE2A-B97B619CFA7C}"/>
              </a:ext>
            </a:extLst>
          </p:cNvPr>
          <p:cNvSpPr txBox="1"/>
          <p:nvPr/>
        </p:nvSpPr>
        <p:spPr>
          <a:xfrm>
            <a:off x="993504" y="1763518"/>
            <a:ext cx="11198496" cy="156966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zh-CN" altLang="en-US" sz="3200" dirty="0" smtClean="0">
                <a:solidFill>
                  <a:schemeClr val="tx1">
                    <a:lumMod val="75000"/>
                    <a:lumOff val="25000"/>
                  </a:schemeClr>
                </a:solidFill>
                <a:cs typeface="+mn-ea"/>
                <a:sym typeface="+mn-lt"/>
              </a:rPr>
              <a:t>条件转移指令</a:t>
            </a:r>
            <a:endParaRPr lang="en-US" altLang="zh-CN" sz="3200" dirty="0" smtClean="0">
              <a:solidFill>
                <a:schemeClr val="tx1">
                  <a:lumMod val="75000"/>
                  <a:lumOff val="25000"/>
                </a:schemeClr>
              </a:solidFill>
              <a:cs typeface="+mn-ea"/>
              <a:sym typeface="+mn-lt"/>
            </a:endParaRPr>
          </a:p>
          <a:p>
            <a:r>
              <a:rPr lang="en-US" altLang="zh-CN" sz="3200" dirty="0" smtClean="0">
                <a:solidFill>
                  <a:schemeClr val="tx1">
                    <a:lumMod val="75000"/>
                    <a:lumOff val="25000"/>
                  </a:schemeClr>
                </a:solidFill>
                <a:cs typeface="+mn-ea"/>
                <a:sym typeface="+mn-lt"/>
              </a:rPr>
              <a:t>1)</a:t>
            </a:r>
            <a:r>
              <a:rPr lang="zh-CN" altLang="en-US" sz="3200" dirty="0" smtClean="0">
                <a:solidFill>
                  <a:schemeClr val="tx1">
                    <a:lumMod val="75000"/>
                    <a:lumOff val="25000"/>
                  </a:schemeClr>
                </a:solidFill>
                <a:cs typeface="+mn-ea"/>
                <a:sym typeface="+mn-lt"/>
              </a:rPr>
              <a:t>简单条件转移指令 （根据单个标志位的状态判断转移条件）</a:t>
            </a:r>
            <a:endParaRPr lang="en-US" altLang="zh-CN" sz="3200" dirty="0" smtClean="0">
              <a:solidFill>
                <a:schemeClr val="tx1">
                  <a:lumMod val="75000"/>
                  <a:lumOff val="25000"/>
                </a:schemeClr>
              </a:solidFill>
              <a:cs typeface="+mn-ea"/>
              <a:sym typeface="+mn-lt"/>
            </a:endParaRPr>
          </a:p>
          <a:p>
            <a:r>
              <a:rPr lang="zh-CN" altLang="en-US" sz="3200" dirty="0" smtClean="0">
                <a:solidFill>
                  <a:schemeClr val="tx1">
                    <a:lumMod val="75000"/>
                    <a:lumOff val="25000"/>
                  </a:schemeClr>
                </a:solidFill>
                <a:cs typeface="+mn-ea"/>
                <a:sym typeface="+mn-lt"/>
              </a:rPr>
              <a:t> </a:t>
            </a:r>
            <a:endParaRPr lang="zh-CN" altLang="en-US" sz="3200" dirty="0">
              <a:solidFill>
                <a:schemeClr val="tx1">
                  <a:lumMod val="75000"/>
                  <a:lumOff val="25000"/>
                </a:schemeClr>
              </a:solidFill>
              <a:cs typeface="+mn-ea"/>
              <a:sym typeface="+mn-lt"/>
            </a:endParaRPr>
          </a:p>
        </p:txBody>
      </p:sp>
      <p:pic>
        <p:nvPicPr>
          <p:cNvPr id="8" name="图片 7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701391" y="2857500"/>
            <a:ext cx="8943975" cy="40005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53734698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42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10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8" dur="10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9" dur="10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5" grpId="0" animBg="1"/>
    </p:bldLst>
  </p:timing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文本框 4">
            <a:extLst>
              <a:ext uri="{FF2B5EF4-FFF2-40B4-BE49-F238E27FC236}">
                <a16:creationId xmlns:a16="http://schemas.microsoft.com/office/drawing/2014/main" id="{27FD09E1-2F64-4D27-BE2A-B97B619CFA7C}"/>
              </a:ext>
            </a:extLst>
          </p:cNvPr>
          <p:cNvSpPr txBox="1"/>
          <p:nvPr/>
        </p:nvSpPr>
        <p:spPr>
          <a:xfrm>
            <a:off x="993505" y="276066"/>
            <a:ext cx="1415772" cy="58477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zh-CN" altLang="en-US" sz="3200" dirty="0">
                <a:solidFill>
                  <a:schemeClr val="tx1">
                    <a:lumMod val="75000"/>
                    <a:lumOff val="25000"/>
                  </a:schemeClr>
                </a:solidFill>
                <a:cs typeface="+mn-ea"/>
                <a:sym typeface="+mn-lt"/>
              </a:rPr>
              <a:t>知识点</a:t>
            </a:r>
          </a:p>
        </p:txBody>
      </p:sp>
      <p:sp>
        <p:nvSpPr>
          <p:cNvPr id="6" name="椭圆 5">
            <a:extLst>
              <a:ext uri="{FF2B5EF4-FFF2-40B4-BE49-F238E27FC236}">
                <a16:creationId xmlns:a16="http://schemas.microsoft.com/office/drawing/2014/main" id="{A6363EFF-03BF-4FF2-BD00-75C605CA1585}"/>
              </a:ext>
            </a:extLst>
          </p:cNvPr>
          <p:cNvSpPr/>
          <p:nvPr/>
        </p:nvSpPr>
        <p:spPr>
          <a:xfrm>
            <a:off x="364406" y="302826"/>
            <a:ext cx="558015" cy="558015"/>
          </a:xfrm>
          <a:prstGeom prst="ellipse">
            <a:avLst/>
          </a:prstGeom>
          <a:solidFill>
            <a:schemeClr val="accent4">
              <a:lumMod val="20000"/>
              <a:lumOff val="8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cs typeface="+mn-ea"/>
              <a:sym typeface="+mn-lt"/>
            </a:endParaRPr>
          </a:p>
        </p:txBody>
      </p:sp>
      <p:sp>
        <p:nvSpPr>
          <p:cNvPr id="8" name="文本框 7">
            <a:extLst>
              <a:ext uri="{FF2B5EF4-FFF2-40B4-BE49-F238E27FC236}">
                <a16:creationId xmlns:a16="http://schemas.microsoft.com/office/drawing/2014/main" id="{27FD09E1-2F64-4D27-BE2A-B97B619CFA7C}"/>
              </a:ext>
            </a:extLst>
          </p:cNvPr>
          <p:cNvSpPr txBox="1"/>
          <p:nvPr/>
        </p:nvSpPr>
        <p:spPr>
          <a:xfrm>
            <a:off x="993505" y="1178743"/>
            <a:ext cx="4926349" cy="58477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zh-CN" sz="3200" dirty="0" smtClean="0">
                <a:solidFill>
                  <a:schemeClr val="tx1">
                    <a:lumMod val="75000"/>
                    <a:lumOff val="25000"/>
                  </a:schemeClr>
                </a:solidFill>
                <a:cs typeface="+mn-ea"/>
                <a:sym typeface="+mn-lt"/>
              </a:rPr>
              <a:t>2</a:t>
            </a:r>
            <a:r>
              <a:rPr lang="zh-CN" altLang="en-US" sz="3200" dirty="0" smtClean="0">
                <a:solidFill>
                  <a:schemeClr val="tx1">
                    <a:lumMod val="75000"/>
                    <a:lumOff val="25000"/>
                  </a:schemeClr>
                </a:solidFill>
                <a:cs typeface="+mn-ea"/>
                <a:sym typeface="+mn-lt"/>
              </a:rPr>
              <a:t>）无符号数条件转移指令</a:t>
            </a:r>
            <a:endParaRPr lang="zh-CN" altLang="en-US" sz="3200" dirty="0">
              <a:solidFill>
                <a:schemeClr val="tx1">
                  <a:lumMod val="75000"/>
                  <a:lumOff val="25000"/>
                </a:schemeClr>
              </a:solidFill>
              <a:cs typeface="+mn-ea"/>
              <a:sym typeface="+mn-lt"/>
            </a:endParaRPr>
          </a:p>
        </p:txBody>
      </p:sp>
      <p:pic>
        <p:nvPicPr>
          <p:cNvPr id="2" name="图片 1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409277" y="2046974"/>
            <a:ext cx="6657975" cy="2066925"/>
          </a:xfrm>
          <a:prstGeom prst="rect">
            <a:avLst/>
          </a:prstGeom>
        </p:spPr>
      </p:pic>
      <p:sp>
        <p:nvSpPr>
          <p:cNvPr id="9" name="文本框 8">
            <a:extLst>
              <a:ext uri="{FF2B5EF4-FFF2-40B4-BE49-F238E27FC236}">
                <a16:creationId xmlns:a16="http://schemas.microsoft.com/office/drawing/2014/main" id="{27FD09E1-2F64-4D27-BE2A-B97B619CFA7C}"/>
              </a:ext>
            </a:extLst>
          </p:cNvPr>
          <p:cNvSpPr txBox="1"/>
          <p:nvPr/>
        </p:nvSpPr>
        <p:spPr>
          <a:xfrm>
            <a:off x="922421" y="4397355"/>
            <a:ext cx="5336717" cy="58477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zh-CN" sz="3200" dirty="0" smtClean="0">
                <a:solidFill>
                  <a:schemeClr val="tx1">
                    <a:lumMod val="75000"/>
                    <a:lumOff val="25000"/>
                  </a:schemeClr>
                </a:solidFill>
                <a:cs typeface="+mn-ea"/>
                <a:sym typeface="+mn-lt"/>
              </a:rPr>
              <a:t>3</a:t>
            </a:r>
            <a:r>
              <a:rPr lang="zh-CN" altLang="en-US" sz="3200" dirty="0" smtClean="0">
                <a:solidFill>
                  <a:schemeClr val="tx1">
                    <a:lumMod val="75000"/>
                    <a:lumOff val="25000"/>
                  </a:schemeClr>
                </a:solidFill>
                <a:cs typeface="+mn-ea"/>
                <a:sym typeface="+mn-lt"/>
              </a:rPr>
              <a:t>）带</a:t>
            </a:r>
            <a:r>
              <a:rPr lang="zh-CN" altLang="en-US" sz="3200" dirty="0" smtClean="0">
                <a:solidFill>
                  <a:schemeClr val="tx1">
                    <a:lumMod val="75000"/>
                    <a:lumOff val="25000"/>
                  </a:schemeClr>
                </a:solidFill>
                <a:cs typeface="+mn-ea"/>
                <a:sym typeface="+mn-lt"/>
              </a:rPr>
              <a:t>符号数条件转移号指令</a:t>
            </a:r>
            <a:endParaRPr lang="zh-CN" altLang="en-US" sz="3200" dirty="0">
              <a:solidFill>
                <a:schemeClr val="tx1">
                  <a:lumMod val="75000"/>
                  <a:lumOff val="25000"/>
                </a:schemeClr>
              </a:solidFill>
              <a:cs typeface="+mn-ea"/>
              <a:sym typeface="+mn-lt"/>
            </a:endParaRPr>
          </a:p>
        </p:txBody>
      </p:sp>
      <p:grpSp>
        <p:nvGrpSpPr>
          <p:cNvPr id="11" name="组合 10"/>
          <p:cNvGrpSpPr/>
          <p:nvPr/>
        </p:nvGrpSpPr>
        <p:grpSpPr>
          <a:xfrm>
            <a:off x="2485476" y="4974033"/>
            <a:ext cx="6534149" cy="1779495"/>
            <a:chOff x="2485476" y="4974033"/>
            <a:chExt cx="6534149" cy="1779495"/>
          </a:xfrm>
        </p:grpSpPr>
        <p:pic>
          <p:nvPicPr>
            <p:cNvPr id="4" name="图片 3"/>
            <p:cNvPicPr>
              <a:picLocks noChangeAspect="1"/>
            </p:cNvPicPr>
            <p:nvPr/>
          </p:nvPicPr>
          <p:blipFill rotWithShape="1">
            <a:blip r:embed="rId3"/>
            <a:srcRect b="82359"/>
            <a:stretch/>
          </p:blipFill>
          <p:spPr>
            <a:xfrm>
              <a:off x="2485476" y="4974033"/>
              <a:ext cx="6505575" cy="747713"/>
            </a:xfrm>
            <a:prstGeom prst="rect">
              <a:avLst/>
            </a:prstGeom>
          </p:spPr>
        </p:pic>
        <p:pic>
          <p:nvPicPr>
            <p:cNvPr id="10" name="图片 9"/>
            <p:cNvPicPr>
              <a:picLocks noChangeAspect="1"/>
            </p:cNvPicPr>
            <p:nvPr/>
          </p:nvPicPr>
          <p:blipFill rotWithShape="1">
            <a:blip r:embed="rId3"/>
            <a:srcRect l="439" t="75380" r="-439" b="-1399"/>
            <a:stretch/>
          </p:blipFill>
          <p:spPr>
            <a:xfrm>
              <a:off x="2514050" y="5650706"/>
              <a:ext cx="6505575" cy="1102822"/>
            </a:xfrm>
            <a:prstGeom prst="rect">
              <a:avLst/>
            </a:prstGeom>
          </p:spPr>
        </p:pic>
      </p:grpSp>
    </p:spTree>
    <p:extLst>
      <p:ext uri="{BB962C8B-B14F-4D97-AF65-F5344CB8AC3E}">
        <p14:creationId xmlns:p14="http://schemas.microsoft.com/office/powerpoint/2010/main" val="1991258702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42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10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8" dur="100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9" dur="100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6" grpId="0" animBg="1"/>
    </p:bldLst>
  </p:timing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椭圆 3">
            <a:extLst>
              <a:ext uri="{FF2B5EF4-FFF2-40B4-BE49-F238E27FC236}">
                <a16:creationId xmlns:a16="http://schemas.microsoft.com/office/drawing/2014/main" id="{816B405C-B524-437D-A020-C9F0875C6D2C}"/>
              </a:ext>
            </a:extLst>
          </p:cNvPr>
          <p:cNvSpPr/>
          <p:nvPr/>
        </p:nvSpPr>
        <p:spPr>
          <a:xfrm>
            <a:off x="465221" y="417094"/>
            <a:ext cx="386117" cy="386117"/>
          </a:xfrm>
          <a:prstGeom prst="ellipse">
            <a:avLst/>
          </a:prstGeom>
          <a:solidFill>
            <a:srgbClr val="292929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dirty="0">
              <a:cs typeface="+mn-ea"/>
              <a:sym typeface="+mn-lt"/>
            </a:endParaRPr>
          </a:p>
        </p:txBody>
      </p:sp>
      <p:sp>
        <p:nvSpPr>
          <p:cNvPr id="5" name="文本框 4">
            <a:extLst>
              <a:ext uri="{FF2B5EF4-FFF2-40B4-BE49-F238E27FC236}">
                <a16:creationId xmlns:a16="http://schemas.microsoft.com/office/drawing/2014/main" id="{27FD09E1-2F64-4D27-BE2A-B97B619CFA7C}"/>
              </a:ext>
            </a:extLst>
          </p:cNvPr>
          <p:cNvSpPr txBox="1"/>
          <p:nvPr/>
        </p:nvSpPr>
        <p:spPr>
          <a:xfrm>
            <a:off x="993505" y="276066"/>
            <a:ext cx="1826141" cy="58477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zh-CN" altLang="en-US" sz="3200" dirty="0">
                <a:solidFill>
                  <a:schemeClr val="tx1">
                    <a:lumMod val="75000"/>
                    <a:lumOff val="25000"/>
                  </a:schemeClr>
                </a:solidFill>
                <a:cs typeface="+mn-ea"/>
                <a:sym typeface="+mn-lt"/>
              </a:rPr>
              <a:t>实验内容</a:t>
            </a:r>
          </a:p>
        </p:txBody>
      </p:sp>
      <p:sp>
        <p:nvSpPr>
          <p:cNvPr id="12" name="文本框 11">
            <a:extLst>
              <a:ext uri="{FF2B5EF4-FFF2-40B4-BE49-F238E27FC236}">
                <a16:creationId xmlns:a16="http://schemas.microsoft.com/office/drawing/2014/main" id="{84BD821F-347E-466B-A78A-EEBD4AFE8EE9}"/>
              </a:ext>
            </a:extLst>
          </p:cNvPr>
          <p:cNvSpPr txBox="1"/>
          <p:nvPr/>
        </p:nvSpPr>
        <p:spPr>
          <a:xfrm>
            <a:off x="851338" y="986715"/>
            <a:ext cx="9031054" cy="156966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E84C53"/>
                </a:solidFill>
              </a14:hiddenFill>
            </a:ext>
          </a:extLst>
        </p:spPr>
        <p:txBody>
          <a:bodyPr wrap="square" rtlCol="0">
            <a:spAutoFit/>
          </a:bodyPr>
          <a:lstStyle/>
          <a:p>
            <a:pPr marL="457200" indent="-457200">
              <a:buAutoNum type="arabicPeriod"/>
            </a:pPr>
            <a:r>
              <a:rPr lang="zh-CN" altLang="en-US" sz="2400" dirty="0" smtClean="0"/>
              <a:t>给定</a:t>
            </a:r>
            <a:r>
              <a:rPr lang="en-US" altLang="zh-CN" sz="2400" dirty="0" smtClean="0"/>
              <a:t>10</a:t>
            </a:r>
            <a:r>
              <a:rPr lang="zh-CN" altLang="en-US" sz="2400" dirty="0" smtClean="0"/>
              <a:t>个学生成绩，编制汇编程序分别统计低于</a:t>
            </a:r>
            <a:r>
              <a:rPr lang="en-US" altLang="zh-CN" sz="2400" dirty="0" smtClean="0"/>
              <a:t>60</a:t>
            </a:r>
            <a:r>
              <a:rPr lang="zh-CN" altLang="en-US" sz="2400" dirty="0" smtClean="0"/>
              <a:t>分，</a:t>
            </a:r>
            <a:r>
              <a:rPr lang="en-US" altLang="zh-CN" sz="2400" dirty="0" smtClean="0"/>
              <a:t>60~69</a:t>
            </a:r>
            <a:r>
              <a:rPr lang="zh-CN" altLang="en-US" sz="2400" dirty="0" smtClean="0"/>
              <a:t>分，</a:t>
            </a:r>
            <a:r>
              <a:rPr lang="en-US" altLang="zh-CN" sz="2400" dirty="0" smtClean="0"/>
              <a:t>70~79,80~89</a:t>
            </a:r>
            <a:r>
              <a:rPr lang="zh-CN" altLang="en-US" sz="2400" dirty="0" smtClean="0"/>
              <a:t>，</a:t>
            </a:r>
            <a:r>
              <a:rPr lang="en-US" altLang="zh-CN" sz="2400" dirty="0" smtClean="0"/>
              <a:t>90~100</a:t>
            </a:r>
            <a:r>
              <a:rPr lang="zh-CN" altLang="en-US" sz="2400" dirty="0" smtClean="0"/>
              <a:t>分的人数，分别存到</a:t>
            </a:r>
            <a:r>
              <a:rPr lang="en-US" altLang="zh-CN" sz="2400" dirty="0" smtClean="0"/>
              <a:t>s5</a:t>
            </a:r>
            <a:r>
              <a:rPr lang="zh-CN" altLang="en-US" sz="2400" dirty="0" smtClean="0"/>
              <a:t>，</a:t>
            </a:r>
            <a:r>
              <a:rPr lang="en-US" altLang="zh-CN" sz="2400" dirty="0" smtClean="0"/>
              <a:t>s6</a:t>
            </a:r>
            <a:r>
              <a:rPr lang="zh-CN" altLang="en-US" sz="2400" dirty="0" smtClean="0"/>
              <a:t>，</a:t>
            </a:r>
            <a:r>
              <a:rPr lang="en-US" altLang="zh-CN" sz="2400" dirty="0" smtClean="0"/>
              <a:t>s7,s8</a:t>
            </a:r>
            <a:r>
              <a:rPr lang="zh-CN" altLang="en-US" sz="2400" dirty="0" smtClean="0"/>
              <a:t>，</a:t>
            </a:r>
            <a:r>
              <a:rPr lang="en-US" altLang="zh-CN" sz="2400" dirty="0" smtClean="0"/>
              <a:t>s9</a:t>
            </a:r>
            <a:r>
              <a:rPr lang="zh-CN" altLang="en-US" sz="2400" dirty="0" smtClean="0"/>
              <a:t>单元中</a:t>
            </a:r>
            <a:r>
              <a:rPr lang="en-US" altLang="zh-CN" sz="2400" dirty="0" smtClean="0">
                <a:solidFill>
                  <a:schemeClr val="tx1">
                    <a:lumMod val="75000"/>
                    <a:lumOff val="25000"/>
                  </a:schemeClr>
                </a:solidFill>
                <a:cs typeface="+mn-ea"/>
                <a:sym typeface="+mn-lt"/>
              </a:rPr>
              <a:t>   </a:t>
            </a:r>
            <a:r>
              <a:rPr lang="zh-CN" altLang="en-US" sz="2400" dirty="0" smtClean="0">
                <a:solidFill>
                  <a:schemeClr val="tx1">
                    <a:lumMod val="75000"/>
                    <a:lumOff val="25000"/>
                  </a:schemeClr>
                </a:solidFill>
                <a:cs typeface="+mn-ea"/>
                <a:sym typeface="+mn-lt"/>
              </a:rPr>
              <a:t> </a:t>
            </a:r>
            <a:r>
              <a:rPr lang="en-US" altLang="zh-CN" sz="2400" dirty="0">
                <a:solidFill>
                  <a:schemeClr val="tx1">
                    <a:lumMod val="75000"/>
                    <a:lumOff val="25000"/>
                  </a:schemeClr>
                </a:solidFill>
                <a:cs typeface="+mn-ea"/>
                <a:sym typeface="+mn-lt"/>
              </a:rPr>
              <a:t> </a:t>
            </a:r>
            <a:r>
              <a:rPr lang="en-US" altLang="zh-CN" sz="2400" dirty="0" smtClean="0">
                <a:solidFill>
                  <a:schemeClr val="tx1">
                    <a:lumMod val="75000"/>
                    <a:lumOff val="25000"/>
                  </a:schemeClr>
                </a:solidFill>
                <a:cs typeface="+mn-ea"/>
                <a:sym typeface="+mn-lt"/>
              </a:rPr>
              <a:t> </a:t>
            </a:r>
          </a:p>
          <a:p>
            <a:r>
              <a:rPr lang="zh-CN" altLang="en-US" sz="2400" dirty="0" smtClean="0">
                <a:solidFill>
                  <a:schemeClr val="tx1">
                    <a:lumMod val="75000"/>
                    <a:lumOff val="25000"/>
                  </a:schemeClr>
                </a:solidFill>
                <a:cs typeface="+mn-ea"/>
                <a:sym typeface="+mn-lt"/>
              </a:rPr>
              <a:t>     挑战：能否将成绩段及对应的人数在屏幕中输出</a:t>
            </a:r>
            <a:endParaRPr lang="en-US" altLang="zh-CN" sz="2400" dirty="0" smtClean="0">
              <a:solidFill>
                <a:schemeClr val="tx1">
                  <a:lumMod val="75000"/>
                  <a:lumOff val="25000"/>
                </a:schemeClr>
              </a:solidFill>
              <a:cs typeface="+mn-ea"/>
              <a:sym typeface="+mn-lt"/>
            </a:endParaRPr>
          </a:p>
        </p:txBody>
      </p:sp>
      <p:sp>
        <p:nvSpPr>
          <p:cNvPr id="6" name="文本框 5">
            <a:extLst>
              <a:ext uri="{FF2B5EF4-FFF2-40B4-BE49-F238E27FC236}">
                <a16:creationId xmlns:a16="http://schemas.microsoft.com/office/drawing/2014/main" id="{84BD821F-347E-466B-A78A-EEBD4AFE8EE9}"/>
              </a:ext>
            </a:extLst>
          </p:cNvPr>
          <p:cNvSpPr txBox="1"/>
          <p:nvPr/>
        </p:nvSpPr>
        <p:spPr>
          <a:xfrm>
            <a:off x="851338" y="2766209"/>
            <a:ext cx="9031054" cy="1200329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E84C53"/>
                </a:solidFill>
              </a14:hiddenFill>
            </a:ext>
          </a:extLst>
        </p:spPr>
        <p:txBody>
          <a:bodyPr wrap="square" rtlCol="0">
            <a:spAutoFit/>
          </a:bodyPr>
          <a:lstStyle/>
          <a:p>
            <a:pPr marL="457200" indent="-457200">
              <a:buFont typeface="+mj-lt"/>
              <a:buAutoNum type="arabicPeriod" startAt="2"/>
            </a:pPr>
            <a:r>
              <a:rPr lang="en-US" altLang="zh-CN" sz="2400" dirty="0" smtClean="0"/>
              <a:t> </a:t>
            </a:r>
            <a:r>
              <a:rPr lang="zh-CN" altLang="en-US" sz="2400" dirty="0"/>
              <a:t>判断一元二次方程</a:t>
            </a:r>
            <a:r>
              <a:rPr lang="en-US" altLang="zh-CN" sz="2400" dirty="0"/>
              <a:t>AX2+BX+C=0 </a:t>
            </a:r>
            <a:r>
              <a:rPr lang="zh-CN" altLang="en-US" sz="2400" dirty="0"/>
              <a:t>是否有实根，若有实根，将字节变量</a:t>
            </a:r>
            <a:r>
              <a:rPr lang="en-US" altLang="zh-CN" sz="2400" dirty="0"/>
              <a:t>tag</a:t>
            </a:r>
            <a:r>
              <a:rPr lang="zh-CN" altLang="en-US" sz="2400" dirty="0"/>
              <a:t>置</a:t>
            </a:r>
            <a:r>
              <a:rPr lang="en-US" altLang="zh-CN" sz="2400" dirty="0"/>
              <a:t>1</a:t>
            </a:r>
            <a:r>
              <a:rPr lang="zh-CN" altLang="en-US" sz="2400" dirty="0"/>
              <a:t>，否则置</a:t>
            </a:r>
            <a:r>
              <a:rPr lang="en-US" altLang="zh-CN" sz="2400" dirty="0"/>
              <a:t>0</a:t>
            </a:r>
            <a:r>
              <a:rPr lang="zh-CN" altLang="en-US" sz="2400" dirty="0"/>
              <a:t>。设</a:t>
            </a:r>
            <a:r>
              <a:rPr lang="en-US" altLang="zh-CN" sz="2400" dirty="0"/>
              <a:t>A</a:t>
            </a:r>
            <a:r>
              <a:rPr lang="zh-CN" altLang="en-US" sz="2400" dirty="0"/>
              <a:t>、</a:t>
            </a:r>
            <a:r>
              <a:rPr lang="en-US" altLang="zh-CN" sz="2400" dirty="0"/>
              <a:t>B</a:t>
            </a:r>
            <a:r>
              <a:rPr lang="zh-CN" altLang="en-US" sz="2400" dirty="0"/>
              <a:t>、</a:t>
            </a:r>
            <a:r>
              <a:rPr lang="en-US" altLang="zh-CN" sz="2400" dirty="0"/>
              <a:t>C</a:t>
            </a:r>
            <a:r>
              <a:rPr lang="zh-CN" altLang="en-US" sz="2400" dirty="0"/>
              <a:t>均为字节变量，其数值范围在</a:t>
            </a:r>
            <a:r>
              <a:rPr lang="en-US" altLang="zh-CN" sz="2400" dirty="0"/>
              <a:t>-128~127 </a:t>
            </a:r>
            <a:r>
              <a:rPr lang="zh-CN" altLang="en-US" sz="2400" dirty="0"/>
              <a:t>之间</a:t>
            </a:r>
            <a:endParaRPr lang="en-US" altLang="zh-CN" sz="2400" dirty="0">
              <a:sym typeface="+mn-lt"/>
            </a:endParaRPr>
          </a:p>
        </p:txBody>
      </p:sp>
      <p:sp>
        <p:nvSpPr>
          <p:cNvPr id="9" name="文本框 8">
            <a:extLst>
              <a:ext uri="{FF2B5EF4-FFF2-40B4-BE49-F238E27FC236}">
                <a16:creationId xmlns:a16="http://schemas.microsoft.com/office/drawing/2014/main" id="{84BD821F-347E-466B-A78A-EEBD4AFE8EE9}"/>
              </a:ext>
            </a:extLst>
          </p:cNvPr>
          <p:cNvSpPr txBox="1"/>
          <p:nvPr/>
        </p:nvSpPr>
        <p:spPr>
          <a:xfrm>
            <a:off x="851338" y="4478467"/>
            <a:ext cx="9031054" cy="1938992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E84C53"/>
                </a:solidFill>
              </a14:hiddenFill>
            </a:ext>
          </a:extLst>
        </p:spPr>
        <p:txBody>
          <a:bodyPr wrap="square" rtlCol="0">
            <a:spAutoFit/>
          </a:bodyPr>
          <a:lstStyle/>
          <a:p>
            <a:pPr marL="457200" indent="-457200">
              <a:buFont typeface="+mj-lt"/>
              <a:buAutoNum type="arabicPeriod" startAt="3"/>
            </a:pPr>
            <a:r>
              <a:rPr lang="zh-CN" altLang="en-US" sz="2400" dirty="0" smtClean="0">
                <a:sym typeface="+mn-lt"/>
              </a:rPr>
              <a:t>编写一个程序，判别键盘上输入的字符；若是</a:t>
            </a:r>
            <a:r>
              <a:rPr lang="en-US" altLang="zh-CN" sz="2400" dirty="0" smtClean="0">
                <a:sym typeface="+mn-lt"/>
              </a:rPr>
              <a:t>1~9 </a:t>
            </a:r>
            <a:r>
              <a:rPr lang="zh-CN" altLang="en-US" sz="2400" dirty="0" smtClean="0">
                <a:sym typeface="+mn-lt"/>
              </a:rPr>
              <a:t>字符，则显示之；若为</a:t>
            </a:r>
            <a:r>
              <a:rPr lang="en-US" altLang="zh-CN" sz="2400" dirty="0" smtClean="0">
                <a:sym typeface="+mn-lt"/>
              </a:rPr>
              <a:t>A~Z</a:t>
            </a:r>
            <a:r>
              <a:rPr lang="zh-CN" altLang="en-US" sz="2400" dirty="0" smtClean="0">
                <a:sym typeface="+mn-lt"/>
              </a:rPr>
              <a:t>字符，显示“</a:t>
            </a:r>
            <a:r>
              <a:rPr lang="en-US" altLang="zh-CN" sz="2400" dirty="0" smtClean="0">
                <a:sym typeface="+mn-lt"/>
              </a:rPr>
              <a:t>C</a:t>
            </a:r>
            <a:r>
              <a:rPr lang="zh-CN" altLang="en-US" sz="2400" dirty="0" smtClean="0">
                <a:sym typeface="+mn-lt"/>
              </a:rPr>
              <a:t>”，若为</a:t>
            </a:r>
            <a:r>
              <a:rPr lang="en-US" altLang="zh-CN" sz="2400" dirty="0" smtClean="0">
                <a:sym typeface="+mn-lt"/>
              </a:rPr>
              <a:t>a-z </a:t>
            </a:r>
            <a:r>
              <a:rPr lang="zh-CN" altLang="en-US" sz="2400" dirty="0" smtClean="0">
                <a:sym typeface="+mn-lt"/>
              </a:rPr>
              <a:t>字符，显示“</a:t>
            </a:r>
            <a:r>
              <a:rPr lang="en-US" altLang="zh-CN" sz="2400" dirty="0" smtClean="0">
                <a:sym typeface="+mn-lt"/>
              </a:rPr>
              <a:t>C</a:t>
            </a:r>
            <a:r>
              <a:rPr lang="zh-CN" altLang="en-US" sz="2400" dirty="0" smtClean="0">
                <a:sym typeface="+mn-lt"/>
              </a:rPr>
              <a:t>”，若是回车字符（</a:t>
            </a:r>
            <a:r>
              <a:rPr lang="en-US" altLang="zh-CN" sz="2400" dirty="0" smtClean="0">
                <a:sym typeface="+mn-lt"/>
              </a:rPr>
              <a:t>0DH</a:t>
            </a:r>
            <a:r>
              <a:rPr lang="zh-CN" altLang="en-US" sz="2400" dirty="0" smtClean="0">
                <a:sym typeface="+mn-lt"/>
              </a:rPr>
              <a:t>），则结束程序，若为其他按字符则显示“</a:t>
            </a:r>
            <a:r>
              <a:rPr lang="en-US" altLang="zh-CN" sz="2400" dirty="0" smtClean="0">
                <a:sym typeface="+mn-lt"/>
              </a:rPr>
              <a:t>R</a:t>
            </a:r>
            <a:r>
              <a:rPr lang="zh-CN" altLang="en-US" sz="2400" dirty="0" smtClean="0">
                <a:sym typeface="+mn-lt"/>
              </a:rPr>
              <a:t>”</a:t>
            </a:r>
            <a:endParaRPr lang="en-US" altLang="zh-CN" sz="2400" dirty="0" smtClean="0">
              <a:sym typeface="+mn-lt"/>
            </a:endParaRPr>
          </a:p>
          <a:p>
            <a:r>
              <a:rPr lang="en-US" altLang="zh-CN" sz="2400" dirty="0">
                <a:sym typeface="+mn-lt"/>
              </a:rPr>
              <a:t> </a:t>
            </a:r>
            <a:r>
              <a:rPr lang="en-US" altLang="zh-CN" sz="2400" dirty="0" smtClean="0">
                <a:sym typeface="+mn-lt"/>
              </a:rPr>
              <a:t>    </a:t>
            </a:r>
            <a:r>
              <a:rPr lang="zh-CN" altLang="en-US" sz="2400" dirty="0" smtClean="0">
                <a:sym typeface="+mn-lt"/>
              </a:rPr>
              <a:t>键盘输入字符：利用</a:t>
            </a:r>
            <a:r>
              <a:rPr lang="en-US" altLang="zh-CN" sz="2400" dirty="0" smtClean="0">
                <a:sym typeface="+mn-lt"/>
              </a:rPr>
              <a:t>DOS</a:t>
            </a:r>
            <a:r>
              <a:rPr lang="zh-CN" altLang="en-US" sz="2400" dirty="0" smtClean="0">
                <a:sym typeface="+mn-lt"/>
              </a:rPr>
              <a:t>功能调用的</a:t>
            </a:r>
            <a:r>
              <a:rPr lang="en-US" altLang="zh-CN" sz="2400" dirty="0" smtClean="0">
                <a:sym typeface="+mn-lt"/>
              </a:rPr>
              <a:t>07</a:t>
            </a:r>
            <a:r>
              <a:rPr lang="zh-CN" altLang="en-US" sz="2400" dirty="0" smtClean="0">
                <a:sym typeface="+mn-lt"/>
              </a:rPr>
              <a:t>号功能</a:t>
            </a:r>
            <a:endParaRPr lang="en-US" altLang="zh-CN" sz="2400" dirty="0">
              <a:sym typeface="+mn-lt"/>
            </a:endParaRPr>
          </a:p>
        </p:txBody>
      </p:sp>
    </p:spTree>
    <p:extLst>
      <p:ext uri="{BB962C8B-B14F-4D97-AF65-F5344CB8AC3E}">
        <p14:creationId xmlns:p14="http://schemas.microsoft.com/office/powerpoint/2010/main" val="3484920894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1200">
        <p:dissolve/>
      </p:transition>
    </mc:Choice>
    <mc:Fallback xmlns="">
      <p:transition spd="slow">
        <p:dissolv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2" presetClass="entr" presetSubtype="4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500"/>
                                        <p:tgtEl>
                                          <p:spTgt spid="1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#ppt_h*1.125000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  <p:animEffect transition="in" filter="wipe(up)">
                                      <p:cBhvr>
                                        <p:cTn id="8" dur="500"/>
                                        <p:tgtEl>
                                          <p:spTgt spid="1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9" fill="hold">
                            <p:stCondLst>
                              <p:cond delay="500"/>
                            </p:stCondLst>
                            <p:childTnLst>
                              <p:par>
                                <p:cTn id="10" presetID="12" presetClass="entr" presetSubtype="4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2" dur="500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#ppt_h*1.125000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  <p:animEffect transition="in" filter="wipe(up)">
                                      <p:cBhvr>
                                        <p:cTn id="13" dur="5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4" fill="hold">
                            <p:stCondLst>
                              <p:cond delay="1000"/>
                            </p:stCondLst>
                            <p:childTnLst>
                              <p:par>
                                <p:cTn id="15" presetID="12" presetClass="entr" presetSubtype="4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7" dur="500"/>
                                        <p:tgtEl>
                                          <p:spTgt spid="9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#ppt_h*1.125000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  <p:animEffect transition="in" filter="wipe(up)">
                                      <p:cBhvr>
                                        <p:cTn id="18" dur="50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2" grpId="0" bldLvl="0"/>
      <p:bldP spid="6" grpId="0" bldLvl="0"/>
      <p:bldP spid="9" grpId="0" bldLvl="0"/>
    </p:bldLst>
  </p:timing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8F235692-B8B3-435C-A09C-6228FCA9C15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dirty="0"/>
              <a:t>实验报告及作业</a:t>
            </a:r>
          </a:p>
        </p:txBody>
      </p:sp>
      <p:sp>
        <p:nvSpPr>
          <p:cNvPr id="3" name="内容占位符 2">
            <a:extLst>
              <a:ext uri="{FF2B5EF4-FFF2-40B4-BE49-F238E27FC236}">
                <a16:creationId xmlns:a16="http://schemas.microsoft.com/office/drawing/2014/main" id="{9B8EE591-09B0-4AB8-A317-B725E1A7D2FE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marL="514350" indent="-514350">
              <a:buAutoNum type="arabicPeriod"/>
            </a:pPr>
            <a:r>
              <a:rPr lang="zh-CN" altLang="en-US" dirty="0"/>
              <a:t>给出</a:t>
            </a:r>
            <a:r>
              <a:rPr lang="zh-CN" altLang="en-US" dirty="0" smtClean="0"/>
              <a:t>实验内容</a:t>
            </a:r>
            <a:r>
              <a:rPr lang="en-US" altLang="zh-CN" dirty="0" smtClean="0"/>
              <a:t>1~3</a:t>
            </a:r>
            <a:r>
              <a:rPr lang="zh-CN" altLang="en-US" dirty="0" smtClean="0"/>
              <a:t>的程序代码、程序流程图、调试及运行结果截图</a:t>
            </a:r>
            <a:endParaRPr lang="en-US" altLang="zh-CN" dirty="0" smtClean="0"/>
          </a:p>
          <a:p>
            <a:pPr marL="514350" indent="-514350">
              <a:buAutoNum type="arabicPeriod"/>
            </a:pPr>
            <a:r>
              <a:rPr lang="zh-CN" altLang="en-US" smtClean="0"/>
              <a:t>实验</a:t>
            </a:r>
            <a:r>
              <a:rPr lang="zh-CN" altLang="en-US" dirty="0" smtClean="0"/>
              <a:t>总结（实验过程错误总结、知识点掌握情况）</a:t>
            </a:r>
            <a:endParaRPr lang="en-US" altLang="zh-CN" dirty="0" smtClean="0"/>
          </a:p>
          <a:p>
            <a:pPr marL="457200" lvl="1" indent="0">
              <a:buNone/>
            </a:pPr>
            <a:endParaRPr lang="zh-CN" altLang="en-US" dirty="0"/>
          </a:p>
          <a:p>
            <a:pPr marL="0" indent="0">
              <a:buNone/>
            </a:pPr>
            <a:endParaRPr lang="en-US" altLang="zh-CN" dirty="0"/>
          </a:p>
          <a:p>
            <a:pPr lvl="1"/>
            <a:endParaRPr lang="zh-CN" altLang="en-US" dirty="0"/>
          </a:p>
        </p:txBody>
      </p:sp>
    </p:spTree>
    <p:extLst>
      <p:ext uri="{BB962C8B-B14F-4D97-AF65-F5344CB8AC3E}">
        <p14:creationId xmlns:p14="http://schemas.microsoft.com/office/powerpoint/2010/main" val="842622010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tags/tag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ISPRING_PRESENTATION_TITLE" val="述职"/>
</p:tagLst>
</file>

<file path=ppt/theme/theme1.xml><?xml version="1.0" encoding="utf-8"?>
<a:theme xmlns:a="http://schemas.openxmlformats.org/drawingml/2006/main" name="第一PPT，www.1ppt.com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mdh3yr22">
      <a:majorFont>
        <a:latin typeface="Arial" panose="020F0302020204030204"/>
        <a:ea typeface="微软雅黑"/>
        <a:cs typeface=""/>
      </a:majorFont>
      <a:minorFont>
        <a:latin typeface="Arial" panose="020F0502020204030204"/>
        <a:ea typeface="微软雅黑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主题​​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等线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等线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2075</TotalTime>
  <Words>409</Words>
  <Application>Microsoft Office PowerPoint</Application>
  <PresentationFormat>宽屏</PresentationFormat>
  <Paragraphs>45</Paragraphs>
  <Slides>11</Slides>
  <Notes>5</Notes>
  <HiddenSlides>0</HiddenSlides>
  <MMClips>0</MMClips>
  <ScaleCrop>false</ScaleCrop>
  <HeadingPairs>
    <vt:vector size="6" baseType="variant">
      <vt:variant>
        <vt:lpstr>已用的字体</vt:lpstr>
      </vt:variant>
      <vt:variant>
        <vt:i4>6</vt:i4>
      </vt:variant>
      <vt:variant>
        <vt:lpstr>主题</vt:lpstr>
      </vt:variant>
      <vt:variant>
        <vt:i4>1</vt:i4>
      </vt:variant>
      <vt:variant>
        <vt:lpstr>幻灯片标题</vt:lpstr>
      </vt:variant>
      <vt:variant>
        <vt:i4>11</vt:i4>
      </vt:variant>
    </vt:vector>
  </HeadingPairs>
  <TitlesOfParts>
    <vt:vector size="18" baseType="lpstr">
      <vt:lpstr>等线</vt:lpstr>
      <vt:lpstr>方正粗谭黑简体</vt:lpstr>
      <vt:lpstr>宋体</vt:lpstr>
      <vt:lpstr>微软雅黑</vt:lpstr>
      <vt:lpstr>Arial</vt:lpstr>
      <vt:lpstr>Calibri</vt:lpstr>
      <vt:lpstr>第一PPT，www.1ppt.com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实验报告及作业</vt:lpstr>
    </vt:vector>
  </TitlesOfParts>
  <Company>第一PPT，www.1ppt.com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简洁述职报告</dc:title>
  <dc:creator>第一PPT</dc:creator>
  <cp:keywords>www.1ppt.com</cp:keywords>
  <dc:description>www.1ppt.com</dc:description>
  <cp:lastModifiedBy>guo feng</cp:lastModifiedBy>
  <cp:revision>133</cp:revision>
  <dcterms:created xsi:type="dcterms:W3CDTF">2019-06-11T09:29:47Z</dcterms:created>
  <dcterms:modified xsi:type="dcterms:W3CDTF">2020-04-02T07:19:43Z</dcterms:modified>
</cp:coreProperties>
</file>