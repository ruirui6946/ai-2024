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72"/>
  </p:handoutMasterIdLst>
  <p:sldIdLst>
    <p:sldId id="460" r:id="rId2"/>
    <p:sldId id="461" r:id="rId3"/>
    <p:sldId id="371" r:id="rId4"/>
    <p:sldId id="462" r:id="rId5"/>
    <p:sldId id="373" r:id="rId6"/>
    <p:sldId id="467" r:id="rId7"/>
    <p:sldId id="464" r:id="rId8"/>
    <p:sldId id="374" r:id="rId9"/>
    <p:sldId id="465" r:id="rId10"/>
    <p:sldId id="466" r:id="rId11"/>
    <p:sldId id="468" r:id="rId12"/>
    <p:sldId id="377" r:id="rId13"/>
    <p:sldId id="469" r:id="rId14"/>
    <p:sldId id="470" r:id="rId15"/>
    <p:sldId id="474" r:id="rId16"/>
    <p:sldId id="471" r:id="rId17"/>
    <p:sldId id="472" r:id="rId18"/>
    <p:sldId id="473" r:id="rId19"/>
    <p:sldId id="476" r:id="rId20"/>
    <p:sldId id="477" r:id="rId21"/>
    <p:sldId id="379" r:id="rId22"/>
    <p:sldId id="479" r:id="rId23"/>
    <p:sldId id="481" r:id="rId24"/>
    <p:sldId id="380" r:id="rId25"/>
    <p:sldId id="382" r:id="rId26"/>
    <p:sldId id="383" r:id="rId27"/>
    <p:sldId id="483" r:id="rId28"/>
    <p:sldId id="485" r:id="rId29"/>
    <p:sldId id="384" r:id="rId30"/>
    <p:sldId id="387" r:id="rId31"/>
    <p:sldId id="486" r:id="rId32"/>
    <p:sldId id="388" r:id="rId33"/>
    <p:sldId id="487" r:id="rId34"/>
    <p:sldId id="488" r:id="rId35"/>
    <p:sldId id="489" r:id="rId36"/>
    <p:sldId id="392" r:id="rId37"/>
    <p:sldId id="393" r:id="rId38"/>
    <p:sldId id="490" r:id="rId39"/>
    <p:sldId id="491" r:id="rId40"/>
    <p:sldId id="492" r:id="rId41"/>
    <p:sldId id="494" r:id="rId42"/>
    <p:sldId id="493" r:id="rId43"/>
    <p:sldId id="397" r:id="rId44"/>
    <p:sldId id="495" r:id="rId45"/>
    <p:sldId id="496" r:id="rId46"/>
    <p:sldId id="497" r:id="rId47"/>
    <p:sldId id="498" r:id="rId48"/>
    <p:sldId id="499" r:id="rId49"/>
    <p:sldId id="500" r:id="rId50"/>
    <p:sldId id="501" r:id="rId51"/>
    <p:sldId id="502" r:id="rId52"/>
    <p:sldId id="503" r:id="rId53"/>
    <p:sldId id="504" r:id="rId54"/>
    <p:sldId id="505" r:id="rId55"/>
    <p:sldId id="506" r:id="rId56"/>
    <p:sldId id="401" r:id="rId57"/>
    <p:sldId id="507" r:id="rId58"/>
    <p:sldId id="508" r:id="rId59"/>
    <p:sldId id="509" r:id="rId60"/>
    <p:sldId id="511" r:id="rId61"/>
    <p:sldId id="512" r:id="rId62"/>
    <p:sldId id="513" r:id="rId63"/>
    <p:sldId id="514" r:id="rId64"/>
    <p:sldId id="515" r:id="rId65"/>
    <p:sldId id="516" r:id="rId66"/>
    <p:sldId id="517" r:id="rId67"/>
    <p:sldId id="518" r:id="rId68"/>
    <p:sldId id="519" r:id="rId69"/>
    <p:sldId id="520" r:id="rId70"/>
    <p:sldId id="522" r:id="rId7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99CC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26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1D7D43-942B-408C-8AAE-D031007436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841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693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6931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6931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6931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A05453E-878B-4E82-A47A-EE6CAD8338F3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69320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269321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22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23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24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25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26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27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28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29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0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1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2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3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4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5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6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7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8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39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0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1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2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3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4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5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6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7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8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9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50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51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9352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C57635-7D72-4E65-962B-EB4352F9E75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A97B1-DCCD-45C1-A0C1-A04A89BD78F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4CFFE-FD0D-4FF9-A50D-1EF18A2E5E4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C4B41-D428-46D4-A100-C31C675564A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87CDC3-937A-4A3E-A855-0976A77A0AF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58082-487F-465E-BD16-E12891B2D72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38920E-2F2D-4197-877E-453EC5BCC87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37E1B9-FA3D-4271-BC58-258A12A5C7D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3FACB0-B75E-4CCF-97DD-14A99119175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E5C8CF-5BF2-442B-BB29-8E01B661A6F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61A9037-12E4-454B-B949-54CF6CC4DE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B2F30417-0352-4294-9A9F-B6469A23857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5411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11313"/>
            <a:ext cx="8229600" cy="20907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854450"/>
            <a:ext cx="8229600" cy="20923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计算机学院信息安全系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2FDDF-32AB-483F-ABC1-C8D6975791F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EC381-FE9B-4B6F-99BA-7F73E85C6D20}" type="datetime1">
              <a:rPr lang="zh-CN" altLang="en-US"/>
              <a:pPr>
                <a:defRPr/>
              </a:pPr>
              <a:t>2018/4/11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B1D748CA-3D98-469B-A609-CFC0388D20D7}" type="datetime1">
              <a:rPr lang="zh-CN" altLang="en-US"/>
              <a:pPr/>
              <a:t>2018/4/11</a:t>
            </a:fld>
            <a:endParaRPr lang="zh-CN" altLang="en-US" sz="18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B6DBC9B-03FB-42E4-9DF6-DFDEBDF243E8}" type="slidenum">
              <a:rPr lang="zh-CN" altLang="en-US"/>
              <a:pPr/>
              <a:t>‹#›</a:t>
            </a:fld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zh-CN"/>
          </a:p>
        </p:txBody>
      </p:sp>
      <p:sp>
        <p:nvSpPr>
          <p:cNvPr id="26829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zh-CN"/>
          </a:p>
        </p:txBody>
      </p:sp>
      <p:sp>
        <p:nvSpPr>
          <p:cNvPr id="26829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201CBB8-323A-4BAD-BFBD-DFE4615F59AD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68296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268297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298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299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0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1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2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3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4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5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6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7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8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09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0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1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2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3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4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5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6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7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8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19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20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21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22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23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24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25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26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327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slide" Target="slide2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slide" Target="slide21.xml"/><Relationship Id="rId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slide" Target="slide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39.xml"/><Relationship Id="rId7" Type="http://schemas.openxmlformats.org/officeDocument/2006/relationships/slide" Target="slide51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6.xml"/><Relationship Id="rId5" Type="http://schemas.openxmlformats.org/officeDocument/2006/relationships/slide" Target="slide45.xml"/><Relationship Id="rId4" Type="http://schemas.openxmlformats.org/officeDocument/2006/relationships/slide" Target="slide4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slide" Target="slide32.xml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80X86</a:t>
            </a:r>
            <a:r>
              <a:rPr lang="zh-CN" altLang="en-US" dirty="0" smtClean="0"/>
              <a:t>指令系统和寻址方式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Wingdings" pitchFamily="2" charset="2"/>
              <a:buChar char="p"/>
            </a:pPr>
            <a:r>
              <a:rPr lang="zh-CN" altLang="en-US" dirty="0" smtClean="0">
                <a:hlinkClick r:id="rId2" action="ppaction://hlinksldjump"/>
              </a:rPr>
              <a:t>数据传送指令</a:t>
            </a:r>
            <a:endParaRPr lang="zh-CN" altLang="en-US" dirty="0" smtClean="0"/>
          </a:p>
          <a:p>
            <a:pPr algn="l">
              <a:buFont typeface="Wingdings" pitchFamily="2" charset="2"/>
              <a:buChar char="p"/>
            </a:pPr>
            <a:r>
              <a:rPr lang="zh-CN" altLang="en-US" dirty="0" smtClean="0">
                <a:hlinkClick r:id="rId3" action="ppaction://hlinksldjump"/>
              </a:rPr>
              <a:t>转换指令</a:t>
            </a:r>
            <a:endParaRPr lang="zh-CN" altLang="en-US" dirty="0" smtClean="0"/>
          </a:p>
          <a:p>
            <a:pPr algn="l">
              <a:buFont typeface="Wingdings" pitchFamily="2" charset="2"/>
              <a:buChar char="p"/>
            </a:pPr>
            <a:r>
              <a:rPr lang="zh-CN" altLang="en-US" dirty="0" smtClean="0">
                <a:hlinkClick r:id="rId4" action="ppaction://hlinksldjump"/>
              </a:rPr>
              <a:t>算术指令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09D770-2DBB-4001-A2E5-6A86118945FF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6471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4825" y="285728"/>
            <a:ext cx="8639175" cy="115411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汇编指令格式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64717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133600"/>
            <a:ext cx="8428038" cy="42783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  target: mov </a:t>
            </a:r>
            <a:r>
              <a:rPr lang="en-US" altLang="zh-CN" sz="2800" dirty="0" err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count,ebx</a:t>
            </a:r>
            <a:r>
              <a:rPr lang="en-US" altLang="zh-CN" sz="28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  ;EBX</a:t>
            </a:r>
            <a:r>
              <a:rPr lang="zh-CN" alt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送变量到</a:t>
            </a:r>
            <a:r>
              <a:rPr lang="en-US" altLang="zh-CN" sz="28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count</a:t>
            </a:r>
          </a:p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标号：指令在主存中的逻辑地址</a:t>
            </a:r>
          </a:p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指令助记符：指令的名称</a:t>
            </a:r>
          </a:p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操作数：表示参与指令操作的对象</a:t>
            </a:r>
          </a:p>
          <a:p>
            <a:pPr lvl="1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个数可以是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0/1/2/3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，多个操作数之间以逗号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(,)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隔开。</a:t>
            </a:r>
          </a:p>
          <a:p>
            <a:pPr lvl="1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存放操作结果的操作数叫做目的操作数，</a:t>
            </a:r>
            <a:r>
              <a:rPr lang="zh-CN" altLang="en-US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一般是指令中的第一个操作数</a:t>
            </a:r>
          </a:p>
          <a:p>
            <a:pPr lvl="1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参与操作的其他操作数叫做源操作数</a:t>
            </a:r>
          </a:p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注释：增加可读性。 </a:t>
            </a:r>
          </a:p>
        </p:txBody>
      </p:sp>
      <p:sp>
        <p:nvSpPr>
          <p:cNvPr id="647174" name="Text Box 4"/>
          <p:cNvSpPr txBox="1">
            <a:spLocks noChangeArrowheads="1"/>
          </p:cNvSpPr>
          <p:nvPr/>
        </p:nvSpPr>
        <p:spPr bwMode="auto">
          <a:xfrm>
            <a:off x="1308100" y="1490663"/>
            <a:ext cx="6872288" cy="547687"/>
          </a:xfrm>
          <a:prstGeom prst="rect">
            <a:avLst/>
          </a:prstGeom>
          <a:solidFill>
            <a:srgbClr val="CCECFF"/>
          </a:solidFill>
          <a:ln w="28575">
            <a:solidFill>
              <a:srgbClr val="996633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标号</a:t>
            </a:r>
            <a:r>
              <a:rPr kumimoji="1" lang="en-US" altLang="zh-CN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:  </a:t>
            </a:r>
            <a:r>
              <a:rPr kumimoji="1" lang="zh-CN" altLang="en-US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指令助记符  操作数列表	；注释</a:t>
            </a:r>
            <a:r>
              <a:rPr kumimoji="1"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2.2.1</a:t>
            </a:r>
            <a:r>
              <a:rPr lang="zh-CN" altLang="en-US" sz="3600"/>
              <a:t>数据传送指令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hlinkClick r:id="rId2" action="ppaction://hlinksldjump"/>
              </a:rPr>
              <a:t>MOV</a:t>
            </a:r>
            <a:r>
              <a:rPr lang="zh-CN" altLang="en-US" dirty="0">
                <a:hlinkClick r:id="rId2" action="ppaction://hlinksldjump"/>
              </a:rPr>
              <a:t>指令 </a:t>
            </a:r>
            <a:endParaRPr lang="zh-CN" altLang="en-US" dirty="0"/>
          </a:p>
          <a:p>
            <a:r>
              <a:rPr lang="en-US" altLang="zh-CN" dirty="0">
                <a:hlinkClick r:id="rId3" action="ppaction://hlinksldjump"/>
              </a:rPr>
              <a:t>XCHG</a:t>
            </a:r>
            <a:r>
              <a:rPr lang="zh-CN" altLang="en-US" dirty="0">
                <a:hlinkClick r:id="rId3" action="ppaction://hlinksldjump"/>
              </a:rPr>
              <a:t>指令 </a:t>
            </a:r>
            <a:endParaRPr lang="zh-CN" altLang="en-US" dirty="0"/>
          </a:p>
          <a:p>
            <a:r>
              <a:rPr lang="en-US" altLang="zh-CN" dirty="0">
                <a:hlinkClick r:id="rId3" action="ppaction://hlinksldjump"/>
              </a:rPr>
              <a:t>LDS</a:t>
            </a:r>
            <a:r>
              <a:rPr lang="zh-CN" altLang="en-US" dirty="0">
                <a:hlinkClick r:id="rId3" action="ppaction://hlinksldjump"/>
              </a:rPr>
              <a:t>、</a:t>
            </a:r>
            <a:r>
              <a:rPr lang="en-US" altLang="zh-CN" dirty="0">
                <a:hlinkClick r:id="rId3" action="ppaction://hlinksldjump"/>
              </a:rPr>
              <a:t>LES</a:t>
            </a:r>
            <a:r>
              <a:rPr lang="zh-CN" altLang="en-US" dirty="0">
                <a:hlinkClick r:id="rId3" action="ppaction://hlinksldjump"/>
              </a:rPr>
              <a:t>、</a:t>
            </a:r>
            <a:r>
              <a:rPr lang="en-US" altLang="zh-CN" dirty="0">
                <a:hlinkClick r:id="rId3" action="ppaction://hlinksldjump"/>
              </a:rPr>
              <a:t>LFS</a:t>
            </a:r>
            <a:r>
              <a:rPr lang="zh-CN" altLang="en-US" dirty="0">
                <a:hlinkClick r:id="rId3" action="ppaction://hlinksldjump"/>
              </a:rPr>
              <a:t>、</a:t>
            </a:r>
            <a:r>
              <a:rPr lang="en-US" altLang="zh-CN" dirty="0">
                <a:hlinkClick r:id="rId3" action="ppaction://hlinksldjump"/>
              </a:rPr>
              <a:t>LGS</a:t>
            </a:r>
            <a:r>
              <a:rPr lang="zh-CN" altLang="en-US" dirty="0">
                <a:hlinkClick r:id="rId3" action="ppaction://hlinksldjump"/>
              </a:rPr>
              <a:t>和</a:t>
            </a:r>
            <a:r>
              <a:rPr lang="en-US" altLang="zh-CN" dirty="0">
                <a:hlinkClick r:id="rId3" action="ppaction://hlinksldjump"/>
              </a:rPr>
              <a:t>LSS</a:t>
            </a:r>
            <a:r>
              <a:rPr lang="zh-CN" altLang="en-US" dirty="0">
                <a:hlinkClick r:id="rId3" action="ppaction://hlinksldjump"/>
              </a:rPr>
              <a:t>指令</a:t>
            </a:r>
            <a:endParaRPr lang="zh-CN" altLang="en-US" dirty="0"/>
          </a:p>
          <a:p>
            <a:r>
              <a:rPr lang="en-US" altLang="zh-CN" dirty="0">
                <a:hlinkClick r:id="rId4" action="ppaction://hlinksldjump"/>
              </a:rPr>
              <a:t>LEA</a:t>
            </a:r>
            <a:r>
              <a:rPr lang="zh-CN" altLang="en-US" dirty="0">
                <a:hlinkClick r:id="rId4" action="ppaction://hlinksldjump"/>
              </a:rPr>
              <a:t>指令</a:t>
            </a:r>
            <a:endParaRPr lang="zh-CN" altLang="en-US" dirty="0"/>
          </a:p>
          <a:p>
            <a:r>
              <a:rPr lang="en-US" altLang="zh-CN" dirty="0">
                <a:hlinkClick r:id="rId5" action="ppaction://hlinksldjump"/>
              </a:rPr>
              <a:t>PUSH</a:t>
            </a:r>
            <a:r>
              <a:rPr lang="zh-CN" altLang="en-US" dirty="0">
                <a:hlinkClick r:id="rId5" action="ppaction://hlinksldjump"/>
              </a:rPr>
              <a:t>和</a:t>
            </a:r>
            <a:r>
              <a:rPr lang="en-US" altLang="zh-CN" dirty="0">
                <a:hlinkClick r:id="rId5" action="ppaction://hlinksldjump"/>
              </a:rPr>
              <a:t>POP</a:t>
            </a:r>
            <a:r>
              <a:rPr lang="zh-CN" altLang="en-US" dirty="0">
                <a:hlinkClick r:id="rId5" action="ppaction://hlinksldjump"/>
              </a:rPr>
              <a:t>指令 </a:t>
            </a:r>
            <a:endParaRPr lang="zh-CN" altLang="en-US" dirty="0"/>
          </a:p>
          <a:p>
            <a:r>
              <a:rPr lang="en-US" altLang="zh-CN" dirty="0">
                <a:hlinkClick r:id="rId6" action="ppaction://hlinksldjump"/>
              </a:rPr>
              <a:t>LAHF</a:t>
            </a:r>
            <a:r>
              <a:rPr lang="zh-CN" altLang="en-US" dirty="0">
                <a:hlinkClick r:id="rId6" action="ppaction://hlinksldjump"/>
              </a:rPr>
              <a:t>和</a:t>
            </a:r>
            <a:r>
              <a:rPr lang="en-US" altLang="zh-CN" dirty="0">
                <a:hlinkClick r:id="rId6" action="ppaction://hlinksldjump"/>
              </a:rPr>
              <a:t>SAHF</a:t>
            </a:r>
            <a:r>
              <a:rPr lang="zh-CN" altLang="en-US" dirty="0">
                <a:hlinkClick r:id="rId6" action="ppaction://hlinksldjump"/>
              </a:rPr>
              <a:t>指令 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7667625" y="56610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Verdana" pitchFamily="34" charset="0"/>
                <a:hlinkClick r:id="rId7" action="ppaction://hlinksldjump"/>
              </a:rPr>
              <a:t>返回</a:t>
            </a:r>
            <a:endParaRPr lang="zh-CN" altLang="en-US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39CF4D-4852-4623-A30A-2B2B457B4A5D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1B9DC42-B06F-4E12-A397-AFA963D1EBE2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502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</a:p>
        </p:txBody>
      </p:sp>
      <p:sp>
        <p:nvSpPr>
          <p:cNvPr id="65024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指令是一个数据传送指令，其格式为：</a:t>
            </a:r>
          </a:p>
          <a:p>
            <a:endParaRPr lang="zh-CN" altLang="en-US" sz="2800" dirty="0"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endParaRPr lang="zh-CN" altLang="en-US" sz="2800" dirty="0"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指令的功能是从源操作数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src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向目的操作数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dst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拷贝数据。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在汇编指令中，普遍的方式：</a:t>
            </a:r>
            <a:r>
              <a:rPr lang="zh-CN" altLang="en-US" sz="2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左边的操作数都是目的操作数，右边的操作数都是源操作数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。 </a:t>
            </a:r>
          </a:p>
        </p:txBody>
      </p:sp>
      <p:sp>
        <p:nvSpPr>
          <p:cNvPr id="650246" name="Text Box 4"/>
          <p:cNvSpPr txBox="1">
            <a:spLocks noChangeArrowheads="1"/>
          </p:cNvSpPr>
          <p:nvPr/>
        </p:nvSpPr>
        <p:spPr bwMode="auto">
          <a:xfrm>
            <a:off x="808038" y="2351088"/>
            <a:ext cx="7254875" cy="547687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kumimoji="1"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dst</a:t>
            </a:r>
            <a:r>
              <a:rPr kumimoji="1"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, </a:t>
            </a:r>
            <a:r>
              <a:rPr kumimoji="1"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kumimoji="1"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	;</a:t>
            </a:r>
            <a:r>
              <a:rPr kumimoji="1"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dst</a:t>
            </a:r>
            <a:r>
              <a:rPr kumimoji="1"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= </a:t>
            </a:r>
            <a:r>
              <a:rPr kumimoji="1"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kumimoji="1"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zh-CN" altLang="en-US" dirty="0">
                <a:solidFill>
                  <a:srgbClr val="FF0000"/>
                </a:solidFill>
              </a:rPr>
              <a:t>指令</a:t>
            </a:r>
            <a:r>
              <a:rPr lang="zh-CN" altLang="en-US" dirty="0"/>
              <a:t> 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817688"/>
            <a:ext cx="8001000" cy="41544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1800" dirty="0"/>
              <a:t>MOV</a:t>
            </a:r>
            <a:r>
              <a:rPr lang="zh-CN" altLang="en-US" sz="1800" dirty="0"/>
              <a:t>（</a:t>
            </a:r>
            <a:r>
              <a:rPr lang="en-US" altLang="zh-CN" sz="1800" dirty="0"/>
              <a:t>move</a:t>
            </a:r>
            <a:r>
              <a:rPr lang="zh-CN" altLang="en-US" sz="1800" dirty="0"/>
              <a:t>）指令的一般格式是</a:t>
            </a:r>
            <a:endParaRPr lang="zh-CN" altLang="en-US" sz="1800" b="1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	DEST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SRC</a:t>
            </a:r>
            <a:endParaRPr lang="en-US" altLang="zh-CN" sz="18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		</a:t>
            </a:r>
            <a:r>
              <a:rPr lang="zh-CN" altLang="en-US" sz="1800" dirty="0"/>
              <a:t>其中</a:t>
            </a:r>
            <a:r>
              <a:rPr lang="en-US" altLang="zh-CN" sz="1800" dirty="0"/>
              <a:t>MOV</a:t>
            </a:r>
            <a:r>
              <a:rPr lang="zh-CN" altLang="en-US" sz="1800" dirty="0"/>
              <a:t>是操作码，</a:t>
            </a:r>
            <a:r>
              <a:rPr lang="en-US" altLang="zh-CN" sz="1800" dirty="0"/>
              <a:t>DEST</a:t>
            </a:r>
            <a:r>
              <a:rPr lang="zh-CN" altLang="en-US" sz="1800" dirty="0"/>
              <a:t>表示目的操作数，</a:t>
            </a:r>
            <a:r>
              <a:rPr lang="en-US" altLang="zh-CN" sz="1800" dirty="0"/>
              <a:t>SRC</a:t>
            </a:r>
            <a:r>
              <a:rPr lang="zh-CN" altLang="en-US" sz="1800" dirty="0"/>
              <a:t>表示源操作数。所做的工作就是从</a:t>
            </a:r>
            <a:r>
              <a:rPr lang="en-US" altLang="zh-CN" sz="1800" dirty="0"/>
              <a:t>SRC</a:t>
            </a:r>
            <a:r>
              <a:rPr lang="zh-CN" altLang="en-US" sz="1800" dirty="0"/>
              <a:t>拷贝数据到</a:t>
            </a:r>
            <a:r>
              <a:rPr lang="en-US" altLang="zh-CN" sz="1800" dirty="0"/>
              <a:t>DEST</a:t>
            </a:r>
            <a:r>
              <a:rPr lang="zh-CN" altLang="en-US" sz="1800" dirty="0"/>
              <a:t>。</a:t>
            </a:r>
            <a:r>
              <a:rPr lang="en-US" altLang="zh-CN" sz="1800" dirty="0"/>
              <a:t>MOV</a:t>
            </a:r>
            <a:r>
              <a:rPr lang="zh-CN" altLang="en-US" sz="1800" dirty="0"/>
              <a:t>指令具有以下</a:t>
            </a:r>
            <a:r>
              <a:rPr lang="en-US" altLang="zh-CN" sz="1800" dirty="0"/>
              <a:t>11</a:t>
            </a:r>
            <a:r>
              <a:rPr lang="zh-CN" altLang="en-US" sz="1800" dirty="0"/>
              <a:t>种指令格式：</a:t>
            </a:r>
            <a:endParaRPr lang="zh-CN" altLang="en-US" sz="1800" b="1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reg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reg</a:t>
            </a:r>
            <a:endParaRPr lang="en-US" altLang="zh-CN" sz="1800" b="1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mem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reg</a:t>
            </a:r>
            <a:endParaRPr lang="en-US" altLang="zh-CN" sz="1800" b="1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reg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mem</a:t>
            </a:r>
            <a:endParaRPr lang="en-US" altLang="zh-CN" sz="1800" b="1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mem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immediate_data</a:t>
            </a:r>
            <a:endParaRPr lang="en-US" altLang="zh-CN" sz="1800" b="1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reg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immediate_data</a:t>
            </a:r>
            <a:endParaRPr lang="en-US" altLang="zh-CN" sz="1800" b="1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eax</a:t>
            </a:r>
            <a:r>
              <a:rPr lang="en-US" altLang="zh-CN" sz="1800" b="1" dirty="0"/>
              <a:t>/ax/al, </a:t>
            </a:r>
            <a:r>
              <a:rPr lang="en-US" altLang="zh-CN" sz="1800" b="1" dirty="0" err="1"/>
              <a:t>mem</a:t>
            </a:r>
            <a:endParaRPr lang="en-US" altLang="zh-CN" sz="1800" b="1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mem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eax</a:t>
            </a:r>
            <a:r>
              <a:rPr lang="en-US" altLang="zh-CN" sz="1800" b="1" dirty="0"/>
              <a:t>/ax/al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segreg</a:t>
            </a:r>
            <a:r>
              <a:rPr lang="en-US" altLang="zh-CN" sz="1800" b="1" dirty="0"/>
              <a:t>, mem16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</a:t>
            </a:r>
            <a:r>
              <a:rPr lang="en-US" altLang="zh-CN" sz="1800" b="1" dirty="0" err="1"/>
              <a:t>segreg</a:t>
            </a:r>
            <a:r>
              <a:rPr lang="en-US" altLang="zh-CN" sz="1800" b="1" dirty="0"/>
              <a:t>, reg16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mem16, </a:t>
            </a:r>
            <a:r>
              <a:rPr lang="en-US" altLang="zh-CN" sz="1800" b="1" dirty="0" err="1"/>
              <a:t>segreg</a:t>
            </a:r>
            <a:r>
              <a:rPr lang="en-US" altLang="zh-CN" sz="1800" b="1" dirty="0"/>
              <a:t> 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/>
              <a:t>mov reg16, </a:t>
            </a:r>
            <a:r>
              <a:rPr lang="en-US" altLang="zh-CN" sz="1800" b="1" dirty="0" err="1"/>
              <a:t>segreg</a:t>
            </a:r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A2AC01-9BAD-49F1-A3D7-95B56A8C5332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44415D3-8EE5-4827-B6A1-725C00587C5F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5126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指令规则</a:t>
            </a:r>
          </a:p>
        </p:txBody>
      </p:sp>
      <p:sp>
        <p:nvSpPr>
          <p:cNvPr id="65126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11313"/>
            <a:ext cx="8229600" cy="46339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指令对操作数的使用是非常灵活的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两个操作数的尺寸必须一致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两个操作数不能同时为内存操作数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目的操作数不能是</a:t>
            </a:r>
            <a:r>
              <a:rPr lang="en-US" altLang="zh-CN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EIP</a:t>
            </a:r>
            <a:r>
              <a:rPr lang="zh-CN" altLang="en-US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IP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 smtClean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MOV CS,[SI]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；不允许使用的指令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立</a:t>
            </a:r>
            <a:r>
              <a:rPr lang="zh-CN" altLang="en-US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即数不能直接送至段寄存器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不允许在两个段寄存器之间直接传送</a:t>
            </a:r>
            <a:r>
              <a:rPr lang="zh-CN" altLang="en-US" sz="24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2400" dirty="0" smtClean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1270" name="Text Box 4"/>
          <p:cNvSpPr txBox="1">
            <a:spLocks noChangeArrowheads="1"/>
          </p:cNvSpPr>
          <p:nvPr/>
        </p:nvSpPr>
        <p:spPr bwMode="auto">
          <a:xfrm>
            <a:off x="1016000" y="4437112"/>
            <a:ext cx="6859588" cy="1766888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MOV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MOV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mem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MOV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mem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MOV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mem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imm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MOV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imm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2F38CD-C062-4895-BB13-20C94D9B8AC7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65229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指令规则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2291" name="内容占位符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内存间的移动</a:t>
            </a:r>
          </a:p>
          <a:p>
            <a:r>
              <a:rPr lang="zh-CN" altLang="en-US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单</a:t>
            </a:r>
            <a:r>
              <a:rPr lang="zh-CN" altLang="en-US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条</a:t>
            </a:r>
            <a:r>
              <a:rPr lang="en-US" altLang="zh-CN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指令不能用于将数据从一个内存位置直接移动到另外一个内存位置</a:t>
            </a: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作为一种替代方法，在送至目的操作数之前，可以先将源操作数移入一个寄存器中</a:t>
            </a: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2294" name="Text Box 4"/>
          <p:cNvSpPr txBox="1">
            <a:spLocks noChangeArrowheads="1"/>
          </p:cNvSpPr>
          <p:nvPr/>
        </p:nvSpPr>
        <p:spPr bwMode="auto">
          <a:xfrm>
            <a:off x="1000100" y="4214818"/>
            <a:ext cx="6859588" cy="2282825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.data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var1   WORD  ?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var2   WORD  ?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.code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MOV  ax, var1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MOV  var2, ax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指令规则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使用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ptr</a:t>
            </a:r>
            <a:r>
              <a:rPr lang="zh-CN" altLang="en-US" sz="2400" dirty="0" smtClean="0">
                <a:solidFill>
                  <a:srgbClr val="FF0000"/>
                </a:solidFill>
              </a:rPr>
              <a:t>伪指令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en-US" altLang="zh-CN" sz="2400" dirty="0" smtClean="0"/>
          </a:p>
          <a:p>
            <a:pPr>
              <a:lnSpc>
                <a:spcPct val="80000"/>
              </a:lnSpc>
            </a:pPr>
            <a:endParaRPr lang="en-US" altLang="zh-CN" sz="2400" dirty="0" smtClean="0"/>
          </a:p>
          <a:p>
            <a:pPr>
              <a:lnSpc>
                <a:spcPct val="80000"/>
              </a:lnSpc>
            </a:pPr>
            <a:endParaRPr lang="en-US" altLang="zh-CN" sz="2400" dirty="0" smtClean="0"/>
          </a:p>
          <a:p>
            <a:pPr>
              <a:lnSpc>
                <a:spcPct val="80000"/>
              </a:lnSpc>
            </a:pPr>
            <a:endParaRPr lang="en-US" altLang="zh-CN" sz="2400" dirty="0" smtClean="0"/>
          </a:p>
          <a:p>
            <a:pPr>
              <a:lnSpc>
                <a:spcPct val="80000"/>
              </a:lnSpc>
            </a:pPr>
            <a:endParaRPr lang="en-US" altLang="zh-CN" sz="2400" dirty="0" smtClean="0"/>
          </a:p>
          <a:p>
            <a:pPr>
              <a:lnSpc>
                <a:spcPct val="8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段寄存器作为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dst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85786" y="2143116"/>
            <a:ext cx="6357982" cy="1453731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Aft>
                <a:spcPts val="300"/>
              </a:spcAft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dirty="0" smtClean="0"/>
              <a:t>mov [</a:t>
            </a:r>
            <a:r>
              <a:rPr lang="en-US" altLang="zh-CN" sz="2400" dirty="0" err="1" smtClean="0"/>
              <a:t>ebx</a:t>
            </a:r>
            <a:r>
              <a:rPr lang="en-US" altLang="zh-CN" sz="2400" dirty="0" smtClean="0"/>
              <a:t>]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0                                  ×</a:t>
            </a:r>
            <a:endParaRPr lang="zh-CN" altLang="en-US" sz="2400" dirty="0" smtClean="0"/>
          </a:p>
          <a:p>
            <a:pPr lvl="1">
              <a:lnSpc>
                <a:spcPct val="80000"/>
              </a:lnSpc>
              <a:spcAft>
                <a:spcPts val="300"/>
              </a:spcAft>
              <a:buFont typeface="Wingdings" pitchFamily="2" charset="2"/>
              <a:buNone/>
            </a:pPr>
            <a:r>
              <a:rPr lang="en-US" altLang="zh-CN" sz="2400" dirty="0" smtClean="0"/>
              <a:t>mov byte </a:t>
            </a:r>
            <a:r>
              <a:rPr lang="en-US" altLang="zh-CN" sz="2400" dirty="0" err="1" smtClean="0"/>
              <a:t>ptr</a:t>
            </a:r>
            <a:r>
              <a:rPr lang="en-US" altLang="zh-CN" sz="2400" dirty="0" smtClean="0"/>
              <a:t> [</a:t>
            </a:r>
            <a:r>
              <a:rPr lang="en-US" altLang="zh-CN" sz="2400" dirty="0" err="1" smtClean="0"/>
              <a:t>ebx</a:t>
            </a:r>
            <a:r>
              <a:rPr lang="en-US" altLang="zh-CN" sz="2400" dirty="0" smtClean="0"/>
              <a:t>], 0</a:t>
            </a:r>
          </a:p>
          <a:p>
            <a:pPr lvl="1">
              <a:lnSpc>
                <a:spcPct val="80000"/>
              </a:lnSpc>
              <a:spcBef>
                <a:spcPts val="500"/>
              </a:spcBef>
              <a:spcAft>
                <a:spcPts val="300"/>
              </a:spcAft>
              <a:buFont typeface="Wingdings" pitchFamily="2" charset="2"/>
              <a:buNone/>
            </a:pPr>
            <a:r>
              <a:rPr lang="en-US" altLang="zh-CN" sz="2400" dirty="0" smtClean="0"/>
              <a:t>mov word </a:t>
            </a:r>
            <a:r>
              <a:rPr lang="en-US" altLang="zh-CN" sz="2400" dirty="0" err="1" smtClean="0"/>
              <a:t>ptr</a:t>
            </a:r>
            <a:r>
              <a:rPr lang="en-US" altLang="zh-CN" sz="2400" dirty="0" smtClean="0"/>
              <a:t> [</a:t>
            </a:r>
            <a:r>
              <a:rPr lang="en-US" altLang="zh-CN" sz="2400" dirty="0" err="1" smtClean="0"/>
              <a:t>ebx</a:t>
            </a:r>
            <a:r>
              <a:rPr lang="en-US" altLang="zh-CN" sz="2400" dirty="0" smtClean="0"/>
              <a:t>], 0</a:t>
            </a:r>
          </a:p>
          <a:p>
            <a:pPr lvl="1">
              <a:lnSpc>
                <a:spcPct val="80000"/>
              </a:lnSpc>
              <a:spcAft>
                <a:spcPts val="300"/>
              </a:spcAft>
              <a:buFont typeface="Wingdings" pitchFamily="2" charset="2"/>
              <a:buNone/>
            </a:pPr>
            <a:r>
              <a:rPr lang="en-US" altLang="zh-CN" sz="2400" dirty="0" smtClean="0"/>
              <a:t>mov </a:t>
            </a:r>
            <a:r>
              <a:rPr lang="en-US" altLang="zh-CN" sz="2400" dirty="0" err="1" smtClean="0"/>
              <a:t>dword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ptr</a:t>
            </a:r>
            <a:r>
              <a:rPr lang="en-US" altLang="zh-CN" sz="2400" dirty="0" smtClean="0"/>
              <a:t> [</a:t>
            </a:r>
            <a:r>
              <a:rPr lang="en-US" altLang="zh-CN" sz="2400" dirty="0" err="1" smtClean="0"/>
              <a:t>ebx</a:t>
            </a:r>
            <a:r>
              <a:rPr lang="en-US" altLang="zh-CN" sz="2400" dirty="0" smtClean="0"/>
              <a:t>], 0</a:t>
            </a:r>
            <a:endParaRPr lang="en-US" altLang="zh-CN" sz="24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57224" y="4357694"/>
            <a:ext cx="4071966" cy="683264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 smtClean="0"/>
              <a:t>mov ax, 40h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 smtClean="0"/>
              <a:t>mov </a:t>
            </a:r>
            <a:r>
              <a:rPr lang="en-US" altLang="zh-CN" sz="2400" dirty="0" err="1" smtClean="0"/>
              <a:t>es</a:t>
            </a:r>
            <a:r>
              <a:rPr lang="en-US" altLang="zh-CN" sz="2400" dirty="0" smtClean="0"/>
              <a:t>, ax</a:t>
            </a:r>
            <a:endParaRPr lang="en-US" altLang="zh-CN" sz="240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57224" y="5214950"/>
            <a:ext cx="8072462" cy="1274195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 smtClean="0"/>
              <a:t>mov AX, 1234H</a:t>
            </a:r>
            <a:r>
              <a:rPr lang="zh-CN" altLang="en-US" sz="2400" dirty="0" smtClean="0"/>
              <a:t>；把段选择子</a:t>
            </a:r>
            <a:r>
              <a:rPr lang="en-US" altLang="zh-CN" sz="2400" dirty="0" smtClean="0"/>
              <a:t>1234h</a:t>
            </a:r>
            <a:r>
              <a:rPr lang="zh-CN" altLang="en-US" sz="2400" dirty="0" smtClean="0"/>
              <a:t>先暂存到</a:t>
            </a:r>
            <a:r>
              <a:rPr lang="en-US" altLang="zh-CN" sz="2400" dirty="0" smtClean="0"/>
              <a:t>ax</a:t>
            </a:r>
            <a:r>
              <a:rPr lang="zh-CN" altLang="en-US" sz="2400" dirty="0" smtClean="0"/>
              <a:t>寄存器中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 smtClean="0"/>
              <a:t>mov FS, AX	</a:t>
            </a:r>
            <a:r>
              <a:rPr lang="zh-CN" altLang="en-US" sz="2400" dirty="0" smtClean="0"/>
              <a:t>；把段选择子装入</a:t>
            </a:r>
            <a:r>
              <a:rPr lang="en-US" altLang="zh-CN" sz="2400" dirty="0" smtClean="0"/>
              <a:t>FS</a:t>
            </a:r>
            <a:r>
              <a:rPr lang="zh-CN" altLang="en-US" sz="2400" dirty="0" smtClean="0"/>
              <a:t>段寄存器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 smtClean="0"/>
              <a:t>mov FS:[12345678H], BX	</a:t>
            </a:r>
            <a:r>
              <a:rPr lang="zh-CN" altLang="en-US" sz="2400" dirty="0" smtClean="0"/>
              <a:t>；把</a:t>
            </a:r>
            <a:r>
              <a:rPr lang="en-US" altLang="zh-CN" sz="2400" dirty="0" smtClean="0"/>
              <a:t>BX</a:t>
            </a:r>
            <a:r>
              <a:rPr lang="zh-CN" altLang="en-US" sz="2400" dirty="0" smtClean="0"/>
              <a:t>中的内容存放到</a:t>
            </a:r>
            <a:r>
              <a:rPr lang="en-US" altLang="zh-CN" sz="2400" dirty="0" smtClean="0"/>
              <a:t>FS</a:t>
            </a:r>
            <a:r>
              <a:rPr lang="zh-CN" altLang="en-US" sz="2400" dirty="0" smtClean="0"/>
              <a:t>段内</a:t>
            </a:r>
            <a:r>
              <a:rPr lang="en-US" altLang="zh-CN" sz="2400" dirty="0" smtClean="0"/>
              <a:t>12345678h</a:t>
            </a:r>
            <a:r>
              <a:rPr lang="zh-CN" altLang="en-US" sz="2400" dirty="0" smtClean="0"/>
              <a:t>单元中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MOVZX / MOVSX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331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611313"/>
            <a:ext cx="7615262" cy="43354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将源操作数的内容拷贝到目的操作数中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MOVZX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move with zero-extend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</a:t>
            </a:r>
            <a:br>
              <a:rPr lang="zh-CN" altLang="en-US" sz="2000" dirty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将该值零扩展至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位或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MOVSX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move with sign-extend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</a:t>
            </a:r>
            <a:br>
              <a:rPr lang="zh-CN" altLang="en-US" sz="2000" dirty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将该值符号扩展至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位或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目的操作数必须是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寄存器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2976" y="4071942"/>
            <a:ext cx="6500858" cy="1477328"/>
          </a:xfrm>
          <a:prstGeom prst="rect">
            <a:avLst/>
          </a:prstGeom>
          <a:solidFill>
            <a:srgbClr val="99CCFF"/>
          </a:solidFill>
        </p:spPr>
        <p:txBody>
          <a:bodyPr wrap="square">
            <a:spAutoFit/>
          </a:bodyPr>
          <a:lstStyle/>
          <a:p>
            <a:r>
              <a:rPr lang="en-US" altLang="zh-CN" dirty="0" smtClean="0"/>
              <a:t>MOV BL,80H</a:t>
            </a:r>
          </a:p>
          <a:p>
            <a:r>
              <a:rPr lang="en-US" altLang="zh-CN" dirty="0" smtClean="0"/>
              <a:t>MOVSX AX,BL</a:t>
            </a:r>
          </a:p>
          <a:p>
            <a:r>
              <a:rPr lang="zh-CN" altLang="en-US" dirty="0" smtClean="0"/>
              <a:t>运行完以上汇编语句之后，</a:t>
            </a:r>
            <a:r>
              <a:rPr lang="en-US" altLang="zh-CN" dirty="0" smtClean="0"/>
              <a:t>AX</a:t>
            </a:r>
            <a:r>
              <a:rPr lang="zh-CN" altLang="en-US" dirty="0" smtClean="0"/>
              <a:t>的值为</a:t>
            </a:r>
            <a:r>
              <a:rPr lang="en-US" altLang="zh-CN" dirty="0" smtClean="0"/>
              <a:t>FF80H</a:t>
            </a:r>
            <a:r>
              <a:rPr lang="zh-CN" altLang="en-US" dirty="0" smtClean="0"/>
              <a:t>。由于</a:t>
            </a:r>
            <a:r>
              <a:rPr lang="en-US" altLang="zh-CN" dirty="0" smtClean="0"/>
              <a:t>BL</a:t>
            </a:r>
            <a:r>
              <a:rPr lang="zh-CN" altLang="en-US" dirty="0" smtClean="0"/>
              <a:t>为</a:t>
            </a:r>
            <a:r>
              <a:rPr lang="en-US" altLang="zh-CN" dirty="0" smtClean="0"/>
              <a:t>80H</a:t>
            </a:r>
            <a:r>
              <a:rPr lang="zh-CN" altLang="en-US" dirty="0" smtClean="0"/>
              <a:t>，最高位也即符号位为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，在进行带符号扩展时，其扩展的高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位均为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，故赋值</a:t>
            </a:r>
            <a:r>
              <a:rPr lang="en-US" altLang="zh-CN" dirty="0" smtClean="0"/>
              <a:t>AX</a:t>
            </a:r>
            <a:r>
              <a:rPr lang="zh-CN" altLang="en-US" dirty="0" smtClean="0"/>
              <a:t>为</a:t>
            </a:r>
            <a:r>
              <a:rPr lang="en-US" altLang="zh-CN" dirty="0" smtClean="0"/>
              <a:t>FF80H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42976" y="5768471"/>
            <a:ext cx="6500858" cy="840230"/>
          </a:xfrm>
          <a:prstGeom prst="rect">
            <a:avLst/>
          </a:prstGeom>
          <a:solidFill>
            <a:srgbClr val="99CCFF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b="1" dirty="0" smtClean="0"/>
              <a:t>例</a:t>
            </a:r>
            <a:r>
              <a:rPr lang="en-US" altLang="zh-CN" b="1" dirty="0" smtClean="0"/>
              <a:t>2.2.4	</a:t>
            </a:r>
            <a:r>
              <a:rPr lang="en-US" altLang="zh-CN" b="1" dirty="0" err="1" smtClean="0"/>
              <a:t>movzx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eax</a:t>
            </a:r>
            <a:r>
              <a:rPr lang="en-US" altLang="zh-CN" b="1" dirty="0" smtClean="0"/>
              <a:t>, DATA</a:t>
            </a:r>
          </a:p>
          <a:p>
            <a:pPr>
              <a:lnSpc>
                <a:spcPct val="90000"/>
              </a:lnSpc>
            </a:pPr>
            <a:r>
              <a:rPr lang="zh-CN" altLang="en-US" b="1" dirty="0" smtClean="0"/>
              <a:t>把</a:t>
            </a:r>
            <a:r>
              <a:rPr lang="en-US" altLang="zh-CN" b="1" dirty="0" smtClean="0"/>
              <a:t>DATA</a:t>
            </a:r>
            <a:r>
              <a:rPr lang="zh-CN" altLang="en-US" b="1" dirty="0" smtClean="0"/>
              <a:t>单元的</a:t>
            </a:r>
            <a:r>
              <a:rPr lang="en-US" altLang="zh-CN" b="1" dirty="0" smtClean="0"/>
              <a:t>16</a:t>
            </a:r>
            <a:r>
              <a:rPr lang="zh-CN" altLang="en-US" b="1" dirty="0" smtClean="0"/>
              <a:t>位数零扩展成</a:t>
            </a:r>
            <a:r>
              <a:rPr lang="en-US" altLang="zh-CN" b="1" dirty="0" smtClean="0"/>
              <a:t>32</a:t>
            </a:r>
            <a:r>
              <a:rPr lang="zh-CN" altLang="en-US" b="1" dirty="0" smtClean="0"/>
              <a:t>位，并送</a:t>
            </a:r>
            <a:r>
              <a:rPr lang="en-US" altLang="zh-CN" b="1" dirty="0" smtClean="0"/>
              <a:t>EAX</a:t>
            </a:r>
            <a:r>
              <a:rPr lang="zh-CN" altLang="en-US" b="1" dirty="0" smtClean="0"/>
              <a:t>寄存器保存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 smtClean="0"/>
              <a:t>	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6D075B-E192-465F-9C20-16531F2A602D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9E760B5-0E5D-4390-9DF5-3FBB96334B01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543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XCHG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</a:p>
        </p:txBody>
      </p:sp>
      <p:sp>
        <p:nvSpPr>
          <p:cNvPr id="65434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交换两个操作数的内容</a:t>
            </a:r>
          </a:p>
          <a:p>
            <a:r>
              <a:rPr lang="zh-CN" altLang="en-US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操作数规则同</a:t>
            </a:r>
            <a:r>
              <a:rPr lang="en-US" altLang="zh-CN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</a:p>
          <a:p>
            <a:r>
              <a:rPr lang="zh-CN" altLang="en-US" u="sng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若要交换两个内存操作数，需要使用寄存器作为临时存储，将</a:t>
            </a:r>
            <a:r>
              <a:rPr lang="en-US" altLang="zh-CN" u="sng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u="sng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u="sng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XCHG</a:t>
            </a:r>
            <a:r>
              <a:rPr lang="zh-CN" altLang="en-US" u="sng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指令结合使用</a:t>
            </a:r>
          </a:p>
        </p:txBody>
      </p:sp>
      <p:sp>
        <p:nvSpPr>
          <p:cNvPr id="654342" name="Rectangle 4"/>
          <p:cNvSpPr>
            <a:spLocks noChangeArrowheads="1"/>
          </p:cNvSpPr>
          <p:nvPr/>
        </p:nvSpPr>
        <p:spPr bwMode="auto">
          <a:xfrm>
            <a:off x="5348288" y="1809750"/>
            <a:ext cx="2922587" cy="915988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xchg    reg, reg</a:t>
            </a:r>
          </a:p>
          <a:p>
            <a:pPr eaLnBrk="0" hangingPunct="0"/>
            <a: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xchg  </a:t>
            </a:r>
            <a:r>
              <a:rPr lang="zh-CN" altLang="en-US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reg, mem</a:t>
            </a:r>
          </a:p>
          <a:p>
            <a:pPr eaLnBrk="0" hangingPunct="0"/>
            <a: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xchg    mem, reg</a:t>
            </a:r>
          </a:p>
        </p:txBody>
      </p:sp>
      <p:sp>
        <p:nvSpPr>
          <p:cNvPr id="654343" name="Rectangle 5"/>
          <p:cNvSpPr>
            <a:spLocks noChangeArrowheads="1"/>
          </p:cNvSpPr>
          <p:nvPr/>
        </p:nvSpPr>
        <p:spPr bwMode="auto">
          <a:xfrm>
            <a:off x="969963" y="4511675"/>
            <a:ext cx="2922587" cy="1190625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8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xchg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ax,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endParaRPr lang="en-US" altLang="zh-CN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xchg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ah, al</a:t>
            </a:r>
          </a:p>
          <a:p>
            <a:pPr eaLnBrk="0" hangingPunct="0"/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xchg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var1,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endParaRPr lang="en-US" altLang="zh-CN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xchg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eax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ebx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654344" name="Rectangle 6"/>
          <p:cNvSpPr>
            <a:spLocks noChangeArrowheads="1"/>
          </p:cNvSpPr>
          <p:nvPr/>
        </p:nvSpPr>
        <p:spPr bwMode="auto">
          <a:xfrm>
            <a:off x="5319713" y="4511675"/>
            <a:ext cx="2922587" cy="1190625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    ax, var1</a:t>
            </a:r>
          </a:p>
          <a:p>
            <a:pPr eaLnBrk="0" hangingPunct="0"/>
            <a: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xchg  </a:t>
            </a:r>
            <a:r>
              <a:rPr lang="zh-CN" altLang="en-US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ax, var2</a:t>
            </a:r>
          </a:p>
          <a:p>
            <a:pPr eaLnBrk="0" hangingPunct="0"/>
            <a: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mov    var1, ax</a:t>
            </a:r>
            <a:br>
              <a:rPr lang="en-US" altLang="zh-CN"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endParaRPr lang="en-US" altLang="zh-CN" sz="18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84FC2-62F7-4274-B3DE-708EA2B2ECCB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5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3DC3CA9-66B7-4C2B-808E-8BCA332A82AE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地址传送指令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地址传送指令将存储器单元的逻辑地址送至指定的寄存器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有效地址传送指令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LEA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指针传送指令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LDS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LES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LFS/LGS/LSS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注意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不是获取存储器单元的内容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LDS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LES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LFS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LGS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LSS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1900" dirty="0"/>
              <a:t>指令</a:t>
            </a:r>
            <a:r>
              <a:rPr lang="en-US" altLang="zh-CN" sz="1900" dirty="0"/>
              <a:t>LDS</a:t>
            </a:r>
            <a:r>
              <a:rPr lang="zh-CN" altLang="en-US" sz="1900" dirty="0"/>
              <a:t>（</a:t>
            </a:r>
            <a:r>
              <a:rPr lang="en-US" altLang="zh-CN" sz="1900" dirty="0"/>
              <a:t>Load Pointer Using DS</a:t>
            </a:r>
            <a:r>
              <a:rPr lang="zh-CN" altLang="en-US" sz="1900" dirty="0"/>
              <a:t>）、</a:t>
            </a:r>
            <a:r>
              <a:rPr lang="en-US" altLang="zh-CN" sz="1900" dirty="0"/>
              <a:t>LES</a:t>
            </a:r>
            <a:r>
              <a:rPr lang="zh-CN" altLang="en-US" sz="1900" dirty="0"/>
              <a:t>（</a:t>
            </a:r>
            <a:r>
              <a:rPr lang="en-US" altLang="zh-CN" sz="1900" dirty="0"/>
              <a:t>Load Pointer Using ES</a:t>
            </a:r>
            <a:r>
              <a:rPr lang="zh-CN" altLang="en-US" sz="1900" dirty="0"/>
              <a:t>）、</a:t>
            </a:r>
            <a:r>
              <a:rPr lang="en-US" altLang="zh-CN" sz="1900" dirty="0"/>
              <a:t>LFS</a:t>
            </a:r>
            <a:r>
              <a:rPr lang="zh-CN" altLang="en-US" sz="1900" dirty="0"/>
              <a:t>（</a:t>
            </a:r>
            <a:r>
              <a:rPr lang="en-US" altLang="zh-CN" sz="1900" dirty="0"/>
              <a:t>Load Pointer Using FS</a:t>
            </a:r>
            <a:r>
              <a:rPr lang="zh-CN" altLang="en-US" sz="1900" dirty="0"/>
              <a:t>）、</a:t>
            </a:r>
            <a:r>
              <a:rPr lang="en-US" altLang="zh-CN" sz="1900" dirty="0"/>
              <a:t>LGS</a:t>
            </a:r>
            <a:r>
              <a:rPr lang="zh-CN" altLang="en-US" sz="1900" dirty="0"/>
              <a:t>（</a:t>
            </a:r>
            <a:r>
              <a:rPr lang="en-US" altLang="zh-CN" sz="1900" dirty="0"/>
              <a:t>Load Pointer Using GS</a:t>
            </a:r>
            <a:r>
              <a:rPr lang="zh-CN" altLang="en-US" sz="1900" dirty="0"/>
              <a:t>）和</a:t>
            </a:r>
            <a:r>
              <a:rPr lang="en-US" altLang="zh-CN" sz="1900" dirty="0"/>
              <a:t>LSS</a:t>
            </a:r>
            <a:r>
              <a:rPr lang="zh-CN" altLang="en-US" sz="1900" dirty="0"/>
              <a:t>（</a:t>
            </a:r>
            <a:r>
              <a:rPr lang="en-US" altLang="zh-CN" sz="1900" dirty="0"/>
              <a:t>Load Pointer Using SS</a:t>
            </a:r>
            <a:r>
              <a:rPr lang="zh-CN" altLang="en-US" sz="1900" dirty="0"/>
              <a:t>）都是</a:t>
            </a:r>
            <a:r>
              <a:rPr lang="zh-CN" altLang="en-US" sz="1900" dirty="0">
                <a:solidFill>
                  <a:srgbClr val="FF0000"/>
                </a:solidFill>
              </a:rPr>
              <a:t>把</a:t>
            </a:r>
            <a:r>
              <a:rPr lang="en-US" altLang="zh-CN" sz="1900" dirty="0">
                <a:solidFill>
                  <a:srgbClr val="FF0000"/>
                </a:solidFill>
              </a:rPr>
              <a:t>48</a:t>
            </a:r>
            <a:r>
              <a:rPr lang="zh-CN" altLang="en-US" sz="1900" dirty="0">
                <a:solidFill>
                  <a:srgbClr val="FF0000"/>
                </a:solidFill>
              </a:rPr>
              <a:t>位存储器数据传送到</a:t>
            </a:r>
            <a:r>
              <a:rPr lang="en-US" altLang="zh-CN" sz="1900" dirty="0">
                <a:solidFill>
                  <a:srgbClr val="FF0000"/>
                </a:solidFill>
              </a:rPr>
              <a:t>32</a:t>
            </a:r>
            <a:r>
              <a:rPr lang="zh-CN" altLang="en-US" sz="1900" dirty="0">
                <a:solidFill>
                  <a:srgbClr val="FF0000"/>
                </a:solidFill>
              </a:rPr>
              <a:t>位通用寄存器和段寄存器</a:t>
            </a:r>
            <a:r>
              <a:rPr lang="zh-CN" altLang="en-US" sz="1900" dirty="0"/>
              <a:t>。使用格式如下：</a:t>
            </a:r>
            <a:endParaRPr lang="zh-CN" altLang="en-US" sz="1900" b="1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900" b="1" dirty="0"/>
              <a:t>	</a:t>
            </a:r>
            <a:r>
              <a:rPr lang="en-US" altLang="zh-CN" sz="1900" b="1" dirty="0" err="1"/>
              <a:t>lds</a:t>
            </a:r>
            <a:r>
              <a:rPr lang="en-US" altLang="zh-CN" sz="1900" b="1" dirty="0"/>
              <a:t> reg32, mem48		</a:t>
            </a:r>
            <a:r>
              <a:rPr lang="zh-CN" altLang="en-US" sz="1900" dirty="0"/>
              <a:t>；装载数据到 </a:t>
            </a:r>
            <a:r>
              <a:rPr lang="en-US" altLang="zh-CN" sz="1900" b="1" dirty="0" err="1"/>
              <a:t>ds</a:t>
            </a:r>
            <a:r>
              <a:rPr lang="zh-CN" altLang="en-US" sz="1900" b="1" dirty="0"/>
              <a:t>：</a:t>
            </a:r>
            <a:r>
              <a:rPr lang="en-US" altLang="zh-CN" sz="1900" b="1" dirty="0"/>
              <a:t>reg32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900" b="1" dirty="0"/>
              <a:t>	les reg32, mem48		</a:t>
            </a:r>
            <a:r>
              <a:rPr lang="zh-CN" altLang="en-US" sz="1900" dirty="0"/>
              <a:t>；装载数据到 </a:t>
            </a:r>
            <a:r>
              <a:rPr lang="en-US" altLang="zh-CN" sz="1900" b="1" dirty="0" err="1"/>
              <a:t>es</a:t>
            </a:r>
            <a:r>
              <a:rPr lang="zh-CN" altLang="en-US" sz="1900" b="1" dirty="0"/>
              <a:t>：</a:t>
            </a:r>
            <a:r>
              <a:rPr lang="en-US" altLang="zh-CN" sz="1900" b="1" dirty="0"/>
              <a:t>reg32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900" b="1" dirty="0"/>
              <a:t>	</a:t>
            </a:r>
            <a:r>
              <a:rPr lang="en-US" altLang="zh-CN" sz="1900" b="1" dirty="0" err="1"/>
              <a:t>lfs</a:t>
            </a:r>
            <a:r>
              <a:rPr lang="en-US" altLang="zh-CN" sz="1900" b="1" dirty="0"/>
              <a:t> reg32, mem48		</a:t>
            </a:r>
            <a:r>
              <a:rPr lang="zh-CN" altLang="en-US" sz="1900" dirty="0"/>
              <a:t>；装载数据到 </a:t>
            </a:r>
            <a:r>
              <a:rPr lang="en-US" altLang="zh-CN" sz="1900" b="1" dirty="0" err="1"/>
              <a:t>fs</a:t>
            </a:r>
            <a:r>
              <a:rPr lang="zh-CN" altLang="en-US" sz="1900" b="1" dirty="0"/>
              <a:t>：</a:t>
            </a:r>
            <a:r>
              <a:rPr lang="en-US" altLang="zh-CN" sz="1900" b="1" dirty="0"/>
              <a:t>reg32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900" b="1" dirty="0"/>
              <a:t>	</a:t>
            </a:r>
            <a:r>
              <a:rPr lang="en-US" altLang="zh-CN" sz="1900" b="1" dirty="0" err="1"/>
              <a:t>lgs</a:t>
            </a:r>
            <a:r>
              <a:rPr lang="en-US" altLang="zh-CN" sz="1900" b="1" dirty="0"/>
              <a:t> reg32, mem48		</a:t>
            </a:r>
            <a:r>
              <a:rPr lang="zh-CN" altLang="en-US" sz="1900" dirty="0"/>
              <a:t>；装载数据到 </a:t>
            </a:r>
            <a:r>
              <a:rPr lang="en-US" altLang="zh-CN" sz="1900" b="1" dirty="0" err="1"/>
              <a:t>gs</a:t>
            </a:r>
            <a:r>
              <a:rPr lang="zh-CN" altLang="en-US" sz="1900" b="1" dirty="0"/>
              <a:t>：</a:t>
            </a:r>
            <a:r>
              <a:rPr lang="en-US" altLang="zh-CN" sz="1900" b="1" dirty="0"/>
              <a:t>reg32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900" b="1" dirty="0"/>
              <a:t>	</a:t>
            </a:r>
            <a:r>
              <a:rPr lang="en-US" altLang="zh-CN" sz="1900" b="1" dirty="0" err="1"/>
              <a:t>lss</a:t>
            </a:r>
            <a:r>
              <a:rPr lang="en-US" altLang="zh-CN" sz="1900" b="1" dirty="0"/>
              <a:t> reg32, mem48		</a:t>
            </a:r>
            <a:r>
              <a:rPr lang="zh-CN" altLang="en-US" sz="1900" dirty="0"/>
              <a:t>；装载数据到 </a:t>
            </a:r>
            <a:r>
              <a:rPr lang="en-US" altLang="zh-CN" sz="1900" b="1" dirty="0" err="1"/>
              <a:t>ss</a:t>
            </a:r>
            <a:r>
              <a:rPr lang="zh-CN" altLang="en-US" sz="1900" b="1" dirty="0"/>
              <a:t>：</a:t>
            </a:r>
            <a:r>
              <a:rPr lang="en-US" altLang="zh-CN" sz="1900" b="1" dirty="0"/>
              <a:t>reg32</a:t>
            </a:r>
          </a:p>
          <a:p>
            <a:pPr>
              <a:lnSpc>
                <a:spcPct val="80000"/>
              </a:lnSpc>
            </a:pPr>
            <a:r>
              <a:rPr lang="zh-CN" altLang="en-US" sz="1900" dirty="0"/>
              <a:t>例</a:t>
            </a:r>
            <a:r>
              <a:rPr lang="en-US" altLang="zh-CN" sz="1900" dirty="0"/>
              <a:t>2.1.5	</a:t>
            </a:r>
            <a:r>
              <a:rPr lang="en-US" altLang="zh-CN" sz="1900" dirty="0" err="1">
                <a:solidFill>
                  <a:srgbClr val="0070C0"/>
                </a:solidFill>
              </a:rPr>
              <a:t>lds</a:t>
            </a:r>
            <a:r>
              <a:rPr lang="en-US" altLang="zh-CN" sz="1900" dirty="0">
                <a:solidFill>
                  <a:srgbClr val="0070C0"/>
                </a:solidFill>
              </a:rPr>
              <a:t>	</a:t>
            </a:r>
            <a:r>
              <a:rPr lang="en-US" altLang="zh-CN" sz="1900" dirty="0" err="1">
                <a:solidFill>
                  <a:srgbClr val="0070C0"/>
                </a:solidFill>
              </a:rPr>
              <a:t>edi</a:t>
            </a:r>
            <a:r>
              <a:rPr lang="en-US" altLang="zh-CN" sz="1900" dirty="0">
                <a:solidFill>
                  <a:srgbClr val="0070C0"/>
                </a:solidFill>
              </a:rPr>
              <a:t>, mem48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900" dirty="0"/>
              <a:t>	</a:t>
            </a:r>
            <a:r>
              <a:rPr lang="en-US" altLang="zh-CN" sz="1900" dirty="0">
                <a:solidFill>
                  <a:srgbClr val="00B050"/>
                </a:solidFill>
              </a:rPr>
              <a:t>mem48</a:t>
            </a:r>
            <a:r>
              <a:rPr lang="zh-CN" altLang="en-US" sz="1900" dirty="0">
                <a:solidFill>
                  <a:srgbClr val="00B050"/>
                </a:solidFill>
              </a:rPr>
              <a:t>：</a:t>
            </a:r>
            <a:r>
              <a:rPr lang="en-US" altLang="zh-CN" sz="1900" dirty="0">
                <a:solidFill>
                  <a:srgbClr val="00B050"/>
                </a:solidFill>
              </a:rPr>
              <a:t>1234</a:t>
            </a:r>
            <a:r>
              <a:rPr lang="zh-CN" altLang="en-US" sz="1900" dirty="0">
                <a:solidFill>
                  <a:srgbClr val="00B050"/>
                </a:solidFill>
              </a:rPr>
              <a:t>：</a:t>
            </a:r>
            <a:r>
              <a:rPr lang="en-US" altLang="zh-CN" sz="1900" dirty="0">
                <a:solidFill>
                  <a:srgbClr val="00B050"/>
                </a:solidFill>
              </a:rPr>
              <a:t>87654321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900" dirty="0"/>
              <a:t>	</a:t>
            </a:r>
            <a:r>
              <a:rPr lang="zh-CN" altLang="en-US" sz="1900" dirty="0"/>
              <a:t>指令执行前：</a:t>
            </a:r>
            <a:r>
              <a:rPr lang="en-US" altLang="zh-CN" sz="1900" dirty="0" err="1"/>
              <a:t>edi</a:t>
            </a:r>
            <a:r>
              <a:rPr lang="zh-CN" altLang="en-US" sz="1900" dirty="0"/>
              <a:t>：</a:t>
            </a:r>
            <a:r>
              <a:rPr lang="en-US" altLang="zh-CN" sz="1900" dirty="0" err="1"/>
              <a:t>xxxxxxxx</a:t>
            </a:r>
            <a:r>
              <a:rPr lang="zh-CN" altLang="en-US" sz="1900" dirty="0"/>
              <a:t>，</a:t>
            </a:r>
            <a:r>
              <a:rPr lang="en-US" altLang="zh-CN" sz="1900" dirty="0"/>
              <a:t>DS</a:t>
            </a:r>
            <a:r>
              <a:rPr lang="zh-CN" altLang="en-US" sz="1900" dirty="0"/>
              <a:t>：</a:t>
            </a:r>
            <a:r>
              <a:rPr lang="en-US" altLang="zh-CN" sz="1900" dirty="0" err="1"/>
              <a:t>xxxx</a:t>
            </a:r>
            <a:endParaRPr lang="en-US" altLang="zh-CN" sz="19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900" dirty="0"/>
              <a:t>	</a:t>
            </a:r>
            <a:r>
              <a:rPr lang="zh-CN" altLang="en-US" sz="1900" dirty="0"/>
              <a:t>指令执行后：</a:t>
            </a:r>
            <a:r>
              <a:rPr lang="en-US" altLang="zh-CN" sz="1900" dirty="0" err="1"/>
              <a:t>edi</a:t>
            </a:r>
            <a:r>
              <a:rPr lang="zh-CN" altLang="en-US" sz="1900" dirty="0"/>
              <a:t>：</a:t>
            </a:r>
            <a:r>
              <a:rPr lang="en-US" altLang="zh-CN" sz="1900" dirty="0"/>
              <a:t>87654321</a:t>
            </a:r>
            <a:r>
              <a:rPr lang="zh-CN" altLang="en-US" sz="1900" dirty="0"/>
              <a:t>，</a:t>
            </a:r>
            <a:r>
              <a:rPr lang="en-US" altLang="zh-CN" sz="1900" dirty="0"/>
              <a:t>DS</a:t>
            </a:r>
            <a:r>
              <a:rPr lang="zh-CN" altLang="en-US" sz="1900" dirty="0"/>
              <a:t>：</a:t>
            </a:r>
            <a:r>
              <a:rPr lang="en-US" altLang="zh-CN" sz="1900" dirty="0"/>
              <a:t>1234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900" dirty="0"/>
              <a:t>	</a:t>
            </a:r>
            <a:r>
              <a:rPr lang="zh-CN" altLang="en-US" sz="1900" dirty="0"/>
              <a:t>注意，</a:t>
            </a:r>
            <a:r>
              <a:rPr lang="en-US" altLang="zh-CN" sz="1900" dirty="0">
                <a:solidFill>
                  <a:srgbClr val="C00000"/>
                </a:solidFill>
              </a:rPr>
              <a:t>CS</a:t>
            </a:r>
            <a:r>
              <a:rPr lang="zh-CN" altLang="en-US" sz="1900" dirty="0">
                <a:solidFill>
                  <a:srgbClr val="C00000"/>
                </a:solidFill>
              </a:rPr>
              <a:t>段寄存器不能通过这些指令加载</a:t>
            </a:r>
            <a:r>
              <a:rPr lang="zh-CN" altLang="en-US" sz="1900" dirty="0"/>
              <a:t>，</a:t>
            </a:r>
            <a:r>
              <a:rPr lang="en-US" altLang="zh-CN" sz="1900" dirty="0"/>
              <a:t>CS</a:t>
            </a:r>
            <a:r>
              <a:rPr lang="zh-CN" altLang="en-US" sz="1900" dirty="0"/>
              <a:t>段寄存器只能通过远程控制流转移指令（</a:t>
            </a:r>
            <a:r>
              <a:rPr lang="en-US" altLang="zh-CN" sz="1900" dirty="0"/>
              <a:t>CALL far label</a:t>
            </a:r>
            <a:r>
              <a:rPr lang="zh-CN" altLang="en-US" sz="1900" dirty="0"/>
              <a:t>、</a:t>
            </a:r>
            <a:r>
              <a:rPr lang="en-US" altLang="zh-CN" sz="1900" dirty="0"/>
              <a:t>JMP far label</a:t>
            </a:r>
            <a:r>
              <a:rPr lang="zh-CN" altLang="en-US" sz="1900" dirty="0"/>
              <a:t>、</a:t>
            </a:r>
            <a:r>
              <a:rPr lang="en-US" altLang="zh-CN" sz="1900" dirty="0"/>
              <a:t>INT</a:t>
            </a:r>
            <a:r>
              <a:rPr lang="zh-CN" altLang="en-US" sz="1900" dirty="0"/>
              <a:t>、</a:t>
            </a:r>
            <a:r>
              <a:rPr lang="en-US" altLang="zh-CN" sz="1900" dirty="0"/>
              <a:t>IRET</a:t>
            </a:r>
            <a:r>
              <a:rPr lang="zh-CN" altLang="en-US" sz="1900" dirty="0"/>
              <a:t>）加载。</a:t>
            </a:r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7667625" y="56610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Verdana" pitchFamily="34" charset="0"/>
                <a:hlinkClick r:id="rId2" action="ppaction://hlinksldjump"/>
              </a:rPr>
              <a:t>返回</a:t>
            </a:r>
            <a:endParaRPr lang="zh-CN" altLang="en-US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5211C5-D56A-4190-B47E-8EDE5607357E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EE9A218-DEAB-4CB3-9FDC-EFBD8C43BFF4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有效地址传送指令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LEA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将存储器操作数的有效地址传送至指定的寄存器中。</a:t>
            </a:r>
          </a:p>
          <a:p>
            <a:pPr lvl="1" algn="just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在实模式下，使用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16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位寄存器</a:t>
            </a:r>
          </a:p>
          <a:p>
            <a:pPr lvl="1" algn="just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在保护模式下，使用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位寄存器</a:t>
            </a: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该指令</a:t>
            </a:r>
            <a:r>
              <a:rPr lang="zh-CN" altLang="en-US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通常用来对指针或变址寄存器</a:t>
            </a:r>
            <a:r>
              <a:rPr lang="en-US" altLang="zh-CN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EBX</a:t>
            </a:r>
            <a:r>
              <a:rPr lang="zh-CN" altLang="en-US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EDI</a:t>
            </a:r>
            <a:r>
              <a:rPr lang="zh-CN" altLang="en-US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ESI</a:t>
            </a:r>
            <a:r>
              <a:rPr lang="zh-CN" altLang="en-US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等置初值之用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658436" name="Rectangle 4"/>
          <p:cNvSpPr>
            <a:spLocks noChangeArrowheads="1"/>
          </p:cNvSpPr>
          <p:nvPr/>
        </p:nvSpPr>
        <p:spPr bwMode="auto">
          <a:xfrm>
            <a:off x="1833563" y="4945063"/>
            <a:ext cx="2611437" cy="457200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LEA</a:t>
            </a:r>
            <a:r>
              <a:rPr lang="zh-CN" altLang="en-US" sz="24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4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Mem</a:t>
            </a:r>
            <a:r>
              <a:rPr lang="en-US" altLang="zh-CN"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72B5BD-8EB1-4407-9E50-BD3E579AD993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9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335C6D5-7E3B-4720-B17F-5B4A4BF53206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LEA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与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OFFSET</a:t>
            </a:r>
          </a:p>
        </p:txBody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70213"/>
            <a:ext cx="3983038" cy="2976562"/>
          </a:xfrm>
        </p:spPr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lea </a:t>
            </a:r>
          </a:p>
          <a:p>
            <a:pPr lvl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指令</a:t>
            </a:r>
          </a:p>
          <a:p>
            <a:pPr lvl="1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标号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变量、表达式</a:t>
            </a:r>
          </a:p>
        </p:txBody>
      </p:sp>
      <p:sp>
        <p:nvSpPr>
          <p:cNvPr id="659460" name="Rectangle 4"/>
          <p:cNvSpPr>
            <a:spLocks noChangeArrowheads="1"/>
          </p:cNvSpPr>
          <p:nvPr/>
        </p:nvSpPr>
        <p:spPr bwMode="auto">
          <a:xfrm>
            <a:off x="244475" y="1611313"/>
            <a:ext cx="3983038" cy="1190625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buffer db  100 dup(0)</a:t>
            </a:r>
          </a:p>
          <a:p>
            <a:pPr eaLnBrk="0" hangingPunct="0"/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把字节变量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buffer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EA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传送给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EBX</a:t>
            </a:r>
          </a:p>
          <a:p>
            <a:pPr eaLnBrk="0" hangingPunct="0"/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lea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ebx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buffer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　　　　    </a:t>
            </a:r>
            <a:r>
              <a:rPr lang="zh-CN" altLang="en-US" sz="18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√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　</a:t>
            </a:r>
          </a:p>
          <a:p>
            <a:pPr eaLnBrk="0" hangingPunct="0"/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sz="1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ebx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offset buffer     </a:t>
            </a:r>
            <a:r>
              <a:rPr lang="zh-CN" altLang="en-US" sz="18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√</a:t>
            </a:r>
            <a:endParaRPr lang="en-US" altLang="zh-CN" sz="1800" dirty="0">
              <a:solidFill>
                <a:srgbClr val="CC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9461" name="Rectangle 5"/>
          <p:cNvSpPr>
            <a:spLocks noChangeArrowheads="1"/>
          </p:cNvSpPr>
          <p:nvPr/>
        </p:nvSpPr>
        <p:spPr bwMode="auto">
          <a:xfrm>
            <a:off x="4440238" y="1611313"/>
            <a:ext cx="4246562" cy="1160462"/>
          </a:xfrm>
          <a:prstGeom prst="rect">
            <a:avLst/>
          </a:prstGeom>
          <a:solidFill>
            <a:srgbClr val="FFCC00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15000"/>
              </a:lnSpc>
              <a:spcBef>
                <a:spcPct val="50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buffer 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db  100 dup(0)</a:t>
            </a:r>
          </a:p>
          <a:p>
            <a:pPr eaLnBrk="0" hangingPunct="0">
              <a:lnSpc>
                <a:spcPct val="115000"/>
              </a:lnSpc>
              <a:spcBef>
                <a:spcPct val="5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lea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ebx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[buffer+50]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　　 </a:t>
            </a:r>
            <a:r>
              <a:rPr lang="zh-CN" altLang="en-US" sz="20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√</a:t>
            </a:r>
            <a:r>
              <a:rPr lang="zh-CN" altLang="en-US" sz="2000" dirty="0"/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　　　</a:t>
            </a:r>
            <a:r>
              <a:rPr lang="en-US" altLang="zh-CN" sz="2000" u="sng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u="sng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ebx</a:t>
            </a:r>
            <a:r>
              <a:rPr lang="en-US" altLang="zh-CN" sz="2000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offset</a:t>
            </a:r>
            <a:r>
              <a:rPr lang="en-US" altLang="zh-CN" sz="1800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[buffer+50]</a:t>
            </a:r>
            <a:r>
              <a:rPr lang="zh-CN" altLang="en-US" sz="1800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　；</a:t>
            </a:r>
            <a:r>
              <a:rPr lang="en-US" altLang="zh-CN" sz="1800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</a:t>
            </a:r>
          </a:p>
        </p:txBody>
      </p:sp>
      <p:sp>
        <p:nvSpPr>
          <p:cNvPr id="659462" name="Rectangle 6"/>
          <p:cNvSpPr>
            <a:spLocks noChangeArrowheads="1"/>
          </p:cNvSpPr>
          <p:nvPr/>
        </p:nvSpPr>
        <p:spPr bwMode="auto">
          <a:xfrm>
            <a:off x="4576763" y="2970213"/>
            <a:ext cx="3983037" cy="297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altLang="zh-CN"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offset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zh-CN" altLang="en-US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伪指令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zh-CN" altLang="en-US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标号、变量</a:t>
            </a:r>
          </a:p>
        </p:txBody>
      </p:sp>
      <p:sp>
        <p:nvSpPr>
          <p:cNvPr id="659463" name="Rectangle 7"/>
          <p:cNvSpPr>
            <a:spLocks noChangeArrowheads="1"/>
          </p:cNvSpPr>
          <p:nvPr/>
        </p:nvSpPr>
        <p:spPr bwMode="auto">
          <a:xfrm>
            <a:off x="244475" y="4999038"/>
            <a:ext cx="8636000" cy="942975"/>
          </a:xfrm>
          <a:prstGeom prst="rect">
            <a:avLst/>
          </a:prstGeom>
          <a:solidFill>
            <a:srgbClr val="FFCC99"/>
          </a:solidFill>
          <a:ln w="952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lnSpc>
                <a:spcPct val="115000"/>
              </a:lnSpc>
              <a:spcBef>
                <a:spcPct val="5000"/>
              </a:spcBef>
            </a:pP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一般来说，  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mov   reg, offset   xxx</a:t>
            </a: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  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比   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lea   reg</a:t>
            </a:r>
            <a:r>
              <a:rPr lang="zh-CN" altLang="en-US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的指令长度少一个字节，且快一个时钟， 但 </a:t>
            </a: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lea 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更灵活</a:t>
            </a:r>
            <a:r>
              <a:rPr lang="zh-CN" altLang="en-US" sz="24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5EE6F5-FC94-41BA-9470-46034FCD1336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11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8553DAA-E1C0-46D5-AF3F-982CD9E98053}" type="datetime1">
              <a:rPr lang="zh-CN" altLang="en-US"/>
              <a:pPr/>
              <a:t>2018/4/11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3363" y="311150"/>
            <a:ext cx="8662987" cy="6234113"/>
            <a:chOff x="147" y="196"/>
            <a:chExt cx="5457" cy="3927"/>
          </a:xfrm>
        </p:grpSpPr>
        <p:pic>
          <p:nvPicPr>
            <p:cNvPr id="661507" name="Picture 3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1508" name="Picture 4" descr="D2a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" y="196"/>
              <a:ext cx="5457" cy="862"/>
            </a:xfrm>
            <a:prstGeom prst="rect">
              <a:avLst/>
            </a:prstGeom>
            <a:noFill/>
          </p:spPr>
        </p:pic>
        <p:pic>
          <p:nvPicPr>
            <p:cNvPr id="661509" name="Picture 5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1510" name="Picture 6" descr="D2c"/>
            <p:cNvPicPr>
              <a:picLocks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</p:spPr>
        </p:pic>
        <p:sp>
          <p:nvSpPr>
            <p:cNvPr id="661511" name="Rectangle 7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1512" name="AutoShape 8"/>
          <p:cNvSpPr>
            <a:spLocks noGrp="1" noChangeArrowheads="1"/>
          </p:cNvSpPr>
          <p:nvPr>
            <p:ph type="title"/>
          </p:nvPr>
        </p:nvSpPr>
        <p:spPr>
          <a:xfrm>
            <a:off x="4759325" y="557213"/>
            <a:ext cx="4122738" cy="696912"/>
          </a:xfrm>
          <a:prstGeom prst="flowChartAlternateProcess">
            <a:avLst/>
          </a:prstGeo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6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综合实例</a:t>
            </a:r>
            <a:r>
              <a:rPr lang="zh-CN" altLang="en-US" sz="36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66151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696200" cy="4648200"/>
          </a:xfrm>
          <a:solidFill>
            <a:schemeClr val="bg1"/>
          </a:solidFill>
          <a:ln/>
        </p:spPr>
        <p:txBody>
          <a:bodyPr lIns="0" rIns="0"/>
          <a:lstStyle/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.386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.model flat, 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stdcall</a:t>
            </a:r>
            <a:endParaRPr lang="en-US" altLang="zh-CN" sz="24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.data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val1  WORD 1000h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val2  WORD 2000h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arrayB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BYTE  10h,20h,30h,40h,50h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arrayW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WORD  100h,200h,300h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arrayD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DWORD 10000h,20000h</a:t>
            </a:r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0C8E81-501F-48DC-B067-18DA9A726B4C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64D9258-3131-49D1-BC10-C352D6ABC4A1}" type="datetime1">
              <a:rPr lang="zh-CN" altLang="en-US"/>
              <a:pPr/>
              <a:t>2018/4/11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3363" y="311150"/>
            <a:ext cx="8662987" cy="6234113"/>
            <a:chOff x="147" y="196"/>
            <a:chExt cx="5457" cy="3927"/>
          </a:xfrm>
        </p:grpSpPr>
        <p:pic>
          <p:nvPicPr>
            <p:cNvPr id="662531" name="Picture 3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2532" name="Picture 4" descr="D2a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" y="196"/>
              <a:ext cx="5457" cy="862"/>
            </a:xfrm>
            <a:prstGeom prst="rect">
              <a:avLst/>
            </a:prstGeom>
            <a:noFill/>
          </p:spPr>
        </p:pic>
        <p:pic>
          <p:nvPicPr>
            <p:cNvPr id="662533" name="Picture 5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2534" name="Picture 6" descr="D2c"/>
            <p:cNvPicPr>
              <a:picLocks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</p:spPr>
        </p:pic>
        <p:sp>
          <p:nvSpPr>
            <p:cNvPr id="662535" name="Rectangle 7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253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696200" cy="4419600"/>
          </a:xfrm>
          <a:solidFill>
            <a:schemeClr val="bg1"/>
          </a:solidFill>
          <a:ln/>
        </p:spPr>
        <p:txBody>
          <a:bodyPr lIns="0" rIns="0"/>
          <a:lstStyle/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.code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start: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</a:t>
            </a:r>
            <a:r>
              <a:rPr lang="zh-CN" altLang="en-US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内存与内存之间的数据交换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 ax,val1		</a:t>
            </a:r>
            <a:r>
              <a:rPr lang="en-US" altLang="zh-CN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AX = 1000h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xchg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ax,val2		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AX = 2000h, val2 = 1000h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 val1,ax		</a:t>
            </a:r>
            <a:r>
              <a:rPr lang="en-US" altLang="zh-CN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val1 = 2000h</a:t>
            </a:r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CC51CE-44BB-4DE5-B1A0-FE4993DC518A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46770F1-C256-4539-8551-953AA23E6B71}" type="datetime1">
              <a:rPr lang="zh-CN" altLang="en-US"/>
              <a:pPr/>
              <a:t>2018/4/11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3363" y="311150"/>
            <a:ext cx="8662987" cy="6234113"/>
            <a:chOff x="147" y="196"/>
            <a:chExt cx="5457" cy="3927"/>
          </a:xfrm>
        </p:grpSpPr>
        <p:pic>
          <p:nvPicPr>
            <p:cNvPr id="663555" name="Picture 3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3556" name="Picture 4" descr="D2a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" y="196"/>
              <a:ext cx="5457" cy="862"/>
            </a:xfrm>
            <a:prstGeom prst="rect">
              <a:avLst/>
            </a:prstGeom>
            <a:noFill/>
          </p:spPr>
        </p:pic>
        <p:pic>
          <p:nvPicPr>
            <p:cNvPr id="663557" name="Picture 5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3558" name="Picture 6" descr="D2c"/>
            <p:cNvPicPr>
              <a:picLocks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</p:spPr>
        </p:pic>
        <p:sp>
          <p:nvSpPr>
            <p:cNvPr id="663559" name="Rectangle 7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35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696200" cy="4419600"/>
          </a:xfrm>
          <a:solidFill>
            <a:schemeClr val="bg1"/>
          </a:solidFill>
          <a:ln/>
        </p:spPr>
        <p:txBody>
          <a:bodyPr lIns="0" rIns="0"/>
          <a:lstStyle/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 </a:t>
            </a:r>
            <a:r>
              <a:rPr lang="zh-CN" altLang="en-US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字节数组访问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al,arrayB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	    </a:t>
            </a:r>
            <a:r>
              <a:rPr lang="en-US" altLang="zh-CN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AL = 10h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al,[arrayB+1]	       </a:t>
            </a:r>
            <a:r>
              <a:rPr lang="en-US" altLang="zh-CN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AL = 20h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al,[arrayB+2]	       </a:t>
            </a:r>
            <a:r>
              <a:rPr lang="en-US" altLang="zh-CN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AL = 30h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 </a:t>
            </a:r>
            <a:r>
              <a:rPr lang="zh-CN" altLang="en-US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字数组访问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ax,arrayW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	    </a:t>
            </a:r>
            <a:r>
              <a:rPr lang="en-US" altLang="zh-CN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AX = 100h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ax,[arrayW+2]	    </a:t>
            </a:r>
            <a:r>
              <a:rPr lang="en-US" altLang="zh-CN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AX = 200h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endParaRPr lang="zh-CN" altLang="en-US" sz="24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D2007D-2A1F-4917-9990-9B6BA4D0E4E6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A10C27C-F871-41A1-86A1-BBBBBBC270A1}" type="datetime1">
              <a:rPr lang="zh-CN" altLang="en-US"/>
              <a:pPr/>
              <a:t>2018/4/11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3363" y="311150"/>
            <a:ext cx="8662987" cy="6234113"/>
            <a:chOff x="147" y="196"/>
            <a:chExt cx="5457" cy="3927"/>
          </a:xfrm>
        </p:grpSpPr>
        <p:pic>
          <p:nvPicPr>
            <p:cNvPr id="664579" name="Picture 3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4580" name="Picture 4" descr="D2a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" y="196"/>
              <a:ext cx="5457" cy="862"/>
            </a:xfrm>
            <a:prstGeom prst="rect">
              <a:avLst/>
            </a:prstGeom>
            <a:noFill/>
          </p:spPr>
        </p:pic>
        <p:pic>
          <p:nvPicPr>
            <p:cNvPr id="664581" name="Picture 5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4582" name="Picture 6" descr="D2c"/>
            <p:cNvPicPr>
              <a:picLocks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</p:spPr>
        </p:pic>
        <p:sp>
          <p:nvSpPr>
            <p:cNvPr id="664583" name="Rectangle 7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458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696200" cy="4419600"/>
          </a:xfrm>
          <a:solidFill>
            <a:schemeClr val="bg1"/>
          </a:solidFill>
          <a:ln/>
        </p:spPr>
        <p:txBody>
          <a:bodyPr lIns="0" rIns="0"/>
          <a:lstStyle/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 </a:t>
            </a:r>
            <a:r>
              <a:rPr lang="zh-CN" altLang="en-US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双字数组访问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eax,arrayD		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EAX = 10000h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eax,[arrayD+4]	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EAX = 20000h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eax,[arrayD+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TYPE </a:t>
            </a: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arrayD]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                            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 EAX = 20000h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lea</a:t>
            </a: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ebx, [arrayD+4]   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</a:t>
            </a:r>
            <a:r>
              <a:rPr lang="zh-CN" altLang="en-US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相当于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ebx=arrayD+4</a:t>
            </a: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eax, [ebx]          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;EAX = 20000h</a:t>
            </a:r>
            <a:endParaRPr lang="en-US" altLang="zh-CN" sz="2400">
              <a:solidFill>
                <a:schemeClr val="tx2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marL="0" indent="390525" algn="just"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END start</a:t>
            </a:r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555625" y="304800"/>
            <a:ext cx="84201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9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Win32</a:t>
            </a:r>
            <a:r>
              <a:rPr lang="zh-CN" altLang="en-US" sz="39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环境下的堆栈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81000" y="1447800"/>
            <a:ext cx="8502650" cy="4648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C00000"/>
                </a:solidFill>
                <a:cs typeface="Times New Roman" charset="0"/>
              </a:rPr>
              <a:t>1.</a:t>
            </a:r>
            <a:r>
              <a:rPr lang="zh-CN" altLang="en-US" sz="3200" b="1" dirty="0">
                <a:solidFill>
                  <a:srgbClr val="C00000"/>
                </a:solidFill>
                <a:latin typeface="宋体" charset="-122"/>
              </a:rPr>
              <a:t>堆栈是什么</a:t>
            </a:r>
            <a:r>
              <a:rPr lang="en-US" altLang="zh-CN" sz="3200" b="1" dirty="0">
                <a:solidFill>
                  <a:srgbClr val="C00000"/>
                </a:solidFill>
                <a:cs typeface="Times New Roman" charset="0"/>
              </a:rPr>
              <a:t>?</a:t>
            </a:r>
          </a:p>
          <a:p>
            <a:pPr marL="342900" indent="-342900">
              <a:buFont typeface="Wingdings" pitchFamily="2" charset="2"/>
              <a:buNone/>
            </a:pPr>
            <a:endParaRPr lang="en-US" altLang="zh-CN" sz="3200" dirty="0">
              <a:solidFill>
                <a:srgbClr val="333333"/>
              </a:solidFill>
              <a:cs typeface="Times New Roman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堆栈就是一块连续的内存空间</a:t>
            </a:r>
          </a:p>
          <a:p>
            <a:pPr marL="342900" indent="-342900">
              <a:buFontTx/>
              <a:buChar char="•"/>
            </a:pPr>
            <a:endParaRPr lang="zh-CN" altLang="en-US" sz="2000" b="0" dirty="0">
              <a:solidFill>
                <a:srgbClr val="333333"/>
              </a:solidFill>
              <a:latin typeface="宋体" charset="-122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先入后出</a:t>
            </a:r>
          </a:p>
          <a:p>
            <a:pPr marL="342900" indent="-342900">
              <a:buFontTx/>
              <a:buChar char="•"/>
            </a:pPr>
            <a:endParaRPr lang="zh-CN" altLang="en-US" sz="2000" b="0" dirty="0">
              <a:solidFill>
                <a:srgbClr val="333333"/>
              </a:solidFill>
              <a:latin typeface="宋体" charset="-122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生长方向与内存的生长方向正好相反</a:t>
            </a:r>
            <a:r>
              <a:rPr lang="en-US" altLang="zh-CN" sz="2000" b="0" dirty="0">
                <a:solidFill>
                  <a:srgbClr val="333333"/>
                </a:solidFill>
                <a:latin typeface="宋体" charset="-122"/>
              </a:rPr>
              <a:t>, </a:t>
            </a:r>
            <a:r>
              <a:rPr lang="zh-CN" altLang="en-US" sz="2000" b="0" dirty="0">
                <a:solidFill>
                  <a:srgbClr val="FF0000"/>
                </a:solidFill>
                <a:latin typeface="宋体" charset="-122"/>
              </a:rPr>
              <a:t>从高地址向低地址生长</a:t>
            </a:r>
          </a:p>
          <a:p>
            <a:pPr marL="342900" indent="-342900">
              <a:buFontTx/>
              <a:buChar char="•"/>
            </a:pPr>
            <a:endParaRPr lang="zh-CN" altLang="en-US" sz="2000" b="0" dirty="0">
              <a:solidFill>
                <a:srgbClr val="333333"/>
              </a:solidFill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</a:rPr>
              <a:t>每一个线程有自己的堆栈</a:t>
            </a:r>
          </a:p>
          <a:p>
            <a:pPr marL="342900" indent="-342900">
              <a:buFont typeface="Wingdings" pitchFamily="2" charset="2"/>
              <a:buChar char="ü"/>
            </a:pPr>
            <a:endParaRPr lang="zh-CN" altLang="en-US" sz="2000" b="0" dirty="0">
              <a:solidFill>
                <a:srgbClr val="333333"/>
              </a:solidFill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提供一个暂时存放数据的区域</a:t>
            </a:r>
            <a:r>
              <a:rPr lang="zh-CN" altLang="en-US" sz="2000" b="0" dirty="0">
                <a:solidFill>
                  <a:srgbClr val="333333"/>
                </a:solidFill>
              </a:rPr>
              <a:t> </a:t>
            </a:r>
          </a:p>
          <a:p>
            <a:pPr marL="342900" indent="-342900">
              <a:buFont typeface="Wingdings" pitchFamily="2" charset="2"/>
              <a:buChar char="ü"/>
            </a:pPr>
            <a:endParaRPr lang="zh-CN" altLang="en-US" sz="2000" b="0" dirty="0">
              <a:solidFill>
                <a:srgbClr val="333333"/>
              </a:solidFill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使用</a:t>
            </a:r>
            <a:r>
              <a:rPr lang="en-US" altLang="zh-CN" sz="2000" b="0" dirty="0">
                <a:solidFill>
                  <a:srgbClr val="333333"/>
                </a:solidFill>
                <a:latin typeface="宋体" charset="-122"/>
              </a:rPr>
              <a:t>POP/PUSH</a:t>
            </a: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指令来对堆栈进行操作</a:t>
            </a:r>
            <a:r>
              <a:rPr lang="en-US" altLang="zh-CN" sz="2000" b="0" dirty="0">
                <a:solidFill>
                  <a:srgbClr val="333333"/>
                </a:solidFill>
                <a:latin typeface="宋体" charset="-122"/>
              </a:rPr>
              <a:t>,</a:t>
            </a: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使用</a:t>
            </a:r>
            <a:r>
              <a:rPr lang="en-US" altLang="zh-CN" sz="2000" b="0" dirty="0">
                <a:solidFill>
                  <a:srgbClr val="333333"/>
                </a:solidFill>
                <a:latin typeface="宋体" charset="-122"/>
              </a:rPr>
              <a:t>ESP</a:t>
            </a: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寄存器指向栈顶，</a:t>
            </a:r>
            <a:r>
              <a:rPr lang="en-US" altLang="zh-CN" sz="2000" b="0" dirty="0">
                <a:solidFill>
                  <a:srgbClr val="333333"/>
                </a:solidFill>
                <a:latin typeface="宋体" charset="-122"/>
              </a:rPr>
              <a:t>EBP</a:t>
            </a: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指向栈底</a:t>
            </a:r>
          </a:p>
          <a:p>
            <a:pPr marL="342900" indent="-342900"/>
            <a:endParaRPr lang="zh-CN" altLang="en-US" sz="3200" b="0" dirty="0">
              <a:solidFill>
                <a:srgbClr val="333333"/>
              </a:solidFill>
              <a:latin typeface="宋体" charset="-122"/>
            </a:endParaRPr>
          </a:p>
          <a:p>
            <a:pPr marL="342900" indent="-342900"/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555625" y="304800"/>
            <a:ext cx="84201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9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Win32</a:t>
            </a:r>
            <a:r>
              <a:rPr lang="zh-CN" altLang="en-US" sz="39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环境下的堆栈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381000" y="1447800"/>
            <a:ext cx="8502650" cy="4648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C00000"/>
                </a:solidFill>
                <a:cs typeface="Times New Roman" charset="0"/>
              </a:rPr>
              <a:t>2.</a:t>
            </a:r>
            <a:r>
              <a:rPr lang="zh-CN" altLang="en-US" sz="3200" b="1" dirty="0">
                <a:solidFill>
                  <a:srgbClr val="C00000"/>
                </a:solidFill>
                <a:latin typeface="宋体" charset="-122"/>
              </a:rPr>
              <a:t>堆栈里面放的都是什么信息</a:t>
            </a:r>
            <a:r>
              <a:rPr lang="en-US" altLang="zh-CN" sz="3200" b="1" dirty="0">
                <a:solidFill>
                  <a:srgbClr val="C00000"/>
                </a:solidFill>
              </a:rPr>
              <a:t>?</a:t>
            </a:r>
            <a:r>
              <a:rPr lang="en-US" altLang="zh-CN" sz="3200" b="1" dirty="0">
                <a:solidFill>
                  <a:srgbClr val="C00000"/>
                </a:solidFill>
                <a:cs typeface="Times New Roman" charset="0"/>
              </a:rPr>
              <a:t> </a:t>
            </a:r>
          </a:p>
          <a:p>
            <a:pPr marL="342900" indent="-342900">
              <a:buFont typeface="Wingdings" pitchFamily="2" charset="2"/>
              <a:buNone/>
            </a:pPr>
            <a:endParaRPr lang="en-US" altLang="zh-CN" sz="3200" dirty="0">
              <a:solidFill>
                <a:srgbClr val="333333"/>
              </a:solidFill>
              <a:cs typeface="Times New Roman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当前</a:t>
            </a:r>
            <a:r>
              <a:rPr lang="zh-CN" altLang="en-US" sz="2000" b="0" dirty="0">
                <a:latin typeface="宋体" charset="-122"/>
              </a:rPr>
              <a:t>正在执行</a:t>
            </a: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的函数的局部变量 </a:t>
            </a:r>
          </a:p>
          <a:p>
            <a:pPr marL="342900" indent="-342900">
              <a:buFontTx/>
              <a:buChar char="•"/>
            </a:pPr>
            <a:endParaRPr lang="zh-CN" altLang="en-US" sz="2000" b="0" dirty="0">
              <a:solidFill>
                <a:srgbClr val="333333"/>
              </a:solidFill>
              <a:latin typeface="宋体" charset="-122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函数返回地址</a:t>
            </a:r>
          </a:p>
          <a:p>
            <a:pPr marL="342900" indent="-342900">
              <a:buFontTx/>
              <a:buChar char="•"/>
            </a:pPr>
            <a:endParaRPr lang="zh-CN" altLang="en-US" sz="2000" b="0" dirty="0">
              <a:solidFill>
                <a:srgbClr val="333333"/>
              </a:solidFill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函数的参数 </a:t>
            </a:r>
          </a:p>
          <a:p>
            <a:pPr marL="342900" indent="-342900">
              <a:buFontTx/>
              <a:buChar char="•"/>
            </a:pPr>
            <a:endParaRPr lang="zh-CN" altLang="en-US" sz="2000" b="0" dirty="0">
              <a:solidFill>
                <a:srgbClr val="333333"/>
              </a:solidFill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altLang="zh-CN" sz="2000" b="0" dirty="0">
                <a:solidFill>
                  <a:srgbClr val="333333"/>
                </a:solidFill>
              </a:rPr>
              <a:t>EBP</a:t>
            </a:r>
            <a:r>
              <a:rPr lang="zh-CN" altLang="en-US" sz="2000" b="0" dirty="0">
                <a:solidFill>
                  <a:srgbClr val="333333"/>
                </a:solidFill>
              </a:rPr>
              <a:t>的值</a:t>
            </a:r>
          </a:p>
          <a:p>
            <a:pPr marL="342900" indent="-342900">
              <a:buFont typeface="Wingdings" pitchFamily="2" charset="2"/>
              <a:buChar char="ü"/>
            </a:pPr>
            <a:endParaRPr lang="zh-CN" altLang="en-US" sz="2000" b="0" dirty="0">
              <a:solidFill>
                <a:srgbClr val="333333"/>
              </a:solidFill>
              <a:latin typeface="宋体" charset="-122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一些通用寄存器</a:t>
            </a:r>
            <a:r>
              <a:rPr lang="en-US" altLang="zh-CN" sz="2000" b="0" dirty="0">
                <a:solidFill>
                  <a:srgbClr val="333333"/>
                </a:solidFill>
              </a:rPr>
              <a:t>(EDI,ESI…)</a:t>
            </a:r>
            <a:r>
              <a:rPr lang="zh-CN" altLang="en-US" sz="2000" b="0" dirty="0">
                <a:solidFill>
                  <a:srgbClr val="333333"/>
                </a:solidFill>
                <a:latin typeface="宋体" charset="-122"/>
              </a:rPr>
              <a:t>的值</a:t>
            </a:r>
            <a:endParaRPr lang="zh-CN" altLang="en-US" sz="3200" b="0" dirty="0">
              <a:solidFill>
                <a:srgbClr val="333333"/>
              </a:solidFill>
              <a:latin typeface="宋体" charset="-122"/>
            </a:endParaRPr>
          </a:p>
          <a:p>
            <a:pPr marL="342900" indent="-342900"/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令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714488"/>
            <a:ext cx="4114800" cy="2924183"/>
          </a:xfrm>
          <a:solidFill>
            <a:srgbClr val="99CCFF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 smtClean="0"/>
              <a:t>PUSH </a:t>
            </a:r>
            <a:r>
              <a:rPr lang="zh-CN" altLang="en-US" sz="2400" dirty="0" smtClean="0"/>
              <a:t>把数据压入堆栈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 smtClean="0"/>
              <a:t>16</a:t>
            </a:r>
            <a:r>
              <a:rPr lang="zh-CN" altLang="en-US" sz="2000" dirty="0" smtClean="0"/>
              <a:t>位操作数 </a:t>
            </a:r>
            <a:r>
              <a:rPr lang="en-US" altLang="zh-CN" sz="2000" b="1" dirty="0" smtClean="0"/>
              <a:t>push reg16</a:t>
            </a:r>
            <a:endParaRPr lang="en-US" altLang="zh-CN" sz="2000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 smtClean="0"/>
              <a:t>       </a:t>
            </a:r>
            <a:r>
              <a:rPr lang="zh-CN" altLang="en-US" sz="2000" b="1" dirty="0" smtClean="0"/>
              <a:t>如：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push ax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 smtClean="0"/>
              <a:t>       </a:t>
            </a:r>
            <a:r>
              <a:rPr lang="zh-CN" altLang="en-US" sz="2000" b="1" dirty="0" smtClean="0"/>
              <a:t>此时： </a:t>
            </a:r>
            <a:r>
              <a:rPr lang="en-US" altLang="zh-CN" sz="2000" b="1" dirty="0" err="1" smtClean="0"/>
              <a:t>esp</a:t>
            </a:r>
            <a:r>
              <a:rPr lang="en-US" altLang="zh-CN" sz="2000" b="1" dirty="0" smtClean="0"/>
              <a:t>=esp-2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 lvl="1">
              <a:lnSpc>
                <a:spcPct val="90000"/>
              </a:lnSpc>
            </a:pPr>
            <a:r>
              <a:rPr lang="en-US" altLang="zh-CN" sz="2000" dirty="0" smtClean="0"/>
              <a:t>32</a:t>
            </a:r>
            <a:r>
              <a:rPr lang="zh-CN" altLang="en-US" sz="2000" dirty="0" smtClean="0"/>
              <a:t>位操作数 </a:t>
            </a:r>
            <a:r>
              <a:rPr lang="en-US" altLang="zh-CN" sz="2000" b="1" dirty="0" smtClean="0"/>
              <a:t>push reg32 </a:t>
            </a:r>
            <a:endParaRPr lang="zh-CN" altLang="en-US" sz="2000" b="1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b="1" dirty="0" smtClean="0"/>
              <a:t>       如：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push </a:t>
            </a:r>
            <a:r>
              <a:rPr lang="en-US" altLang="zh-CN" sz="2000" b="1" dirty="0" err="1" smtClean="0">
                <a:solidFill>
                  <a:srgbClr val="00B050"/>
                </a:solidFill>
              </a:rPr>
              <a:t>eax</a:t>
            </a:r>
            <a:endParaRPr lang="en-US" altLang="zh-CN" sz="2000" b="1" dirty="0" smtClean="0">
              <a:solidFill>
                <a:srgbClr val="00B050"/>
              </a:solidFill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 smtClean="0">
                <a:solidFill>
                  <a:srgbClr val="00B050"/>
                </a:solidFill>
              </a:rPr>
              <a:t>       </a:t>
            </a:r>
            <a:r>
              <a:rPr lang="zh-CN" altLang="en-US" sz="2000" b="1" dirty="0" smtClean="0"/>
              <a:t>此时：</a:t>
            </a:r>
            <a:r>
              <a:rPr lang="en-US" altLang="zh-CN" sz="2000" b="1" dirty="0" err="1" smtClean="0"/>
              <a:t>esp</a:t>
            </a:r>
            <a:r>
              <a:rPr lang="en-US" altLang="zh-CN" sz="2000" b="1" dirty="0" smtClean="0"/>
              <a:t>=esp-4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 smtClean="0"/>
              <a:t>	</a:t>
            </a:r>
            <a:endParaRPr lang="zh-CN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00034" y="4786322"/>
            <a:ext cx="6763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注意，在使用</a:t>
            </a:r>
            <a:r>
              <a:rPr lang="en-US" altLang="zh-CN" b="1" dirty="0" smtClean="0">
                <a:solidFill>
                  <a:srgbClr val="C00000"/>
                </a:solidFill>
              </a:rPr>
              <a:t>Pop </a:t>
            </a:r>
            <a:r>
              <a:rPr lang="en-US" altLang="zh-CN" b="1" dirty="0" err="1" smtClean="0">
                <a:solidFill>
                  <a:srgbClr val="C00000"/>
                </a:solidFill>
              </a:rPr>
              <a:t>segreg</a:t>
            </a:r>
            <a:r>
              <a:rPr lang="zh-CN" altLang="en-US" b="1" dirty="0" smtClean="0">
                <a:solidFill>
                  <a:srgbClr val="C00000"/>
                </a:solidFill>
              </a:rPr>
              <a:t>指令时，段寄存器不能选择</a:t>
            </a:r>
            <a:r>
              <a:rPr lang="en-US" altLang="zh-CN" b="1" dirty="0" smtClean="0">
                <a:solidFill>
                  <a:srgbClr val="C00000"/>
                </a:solidFill>
              </a:rPr>
              <a:t>CS</a:t>
            </a:r>
            <a:r>
              <a:rPr lang="zh-CN" altLang="en-US" b="1" dirty="0" smtClean="0">
                <a:solidFill>
                  <a:srgbClr val="C00000"/>
                </a:solidFill>
              </a:rPr>
              <a:t>寄存器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43438" y="1714488"/>
            <a:ext cx="4114800" cy="2924183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altLang="zh-CN" sz="2400" b="1" dirty="0" smtClean="0"/>
              <a:t>POP</a:t>
            </a:r>
            <a:r>
              <a:rPr lang="zh-CN" altLang="en-US" sz="2400" dirty="0" smtClean="0"/>
              <a:t>把数据从堆栈中弹出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92150" marR="0" lvl="1" indent="-3476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16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位操作数 </a:t>
            </a:r>
            <a:r>
              <a:rPr lang="en-US" altLang="zh-CN" sz="2000" b="1" kern="0" dirty="0" smtClean="0">
                <a:latin typeface="+mn-lt"/>
                <a:ea typeface="+mn-ea"/>
              </a:rPr>
              <a:t>pop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reg16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692150" marR="0" lvl="1" indent="-3476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如：</a:t>
            </a:r>
            <a:r>
              <a:rPr lang="en-US" altLang="zh-CN" sz="2000" b="1" kern="0" dirty="0" smtClean="0">
                <a:solidFill>
                  <a:srgbClr val="00B050"/>
                </a:solidFill>
                <a:latin typeface="+mn-lt"/>
                <a:ea typeface="+mn-ea"/>
              </a:rPr>
              <a:t>pop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</a:rPr>
              <a:t> ax</a:t>
            </a:r>
          </a:p>
          <a:p>
            <a:pPr marL="692150" marR="0" lvl="1" indent="-3476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此时： 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esp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=esp+2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；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692150" marR="0" lvl="1" indent="-3476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32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位操作数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pop reg32 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692150" marR="0" lvl="1" indent="-3476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如：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</a:rPr>
              <a:t>pop 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</a:rPr>
              <a:t>eax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692150" marR="0" lvl="1" indent="-3476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</a:rPr>
              <a:t>     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此时：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esp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=esp+4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；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0C8E81-501F-48DC-B067-18DA9A726B4C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64D9258-3131-49D1-BC10-C352D6ABC4A1}" type="datetime1">
              <a:rPr lang="zh-CN" altLang="en-US"/>
              <a:pPr/>
              <a:t>2018/4/11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3363" y="311150"/>
            <a:ext cx="8662987" cy="6234113"/>
            <a:chOff x="147" y="196"/>
            <a:chExt cx="5457" cy="3927"/>
          </a:xfrm>
        </p:grpSpPr>
        <p:pic>
          <p:nvPicPr>
            <p:cNvPr id="662531" name="Picture 3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2532" name="Picture 4" descr="D2a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" y="196"/>
              <a:ext cx="5457" cy="862"/>
            </a:xfrm>
            <a:prstGeom prst="rect">
              <a:avLst/>
            </a:prstGeom>
            <a:noFill/>
          </p:spPr>
        </p:pic>
        <p:pic>
          <p:nvPicPr>
            <p:cNvPr id="662533" name="Picture 5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2534" name="Picture 6" descr="D2c"/>
            <p:cNvPicPr>
              <a:picLocks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</p:spPr>
        </p:pic>
        <p:sp>
          <p:nvSpPr>
            <p:cNvPr id="662535" name="Rectangle 7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253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85786" y="1357298"/>
            <a:ext cx="7696200" cy="4419600"/>
          </a:xfrm>
          <a:solidFill>
            <a:schemeClr val="bg1"/>
          </a:solidFill>
          <a:ln/>
        </p:spPr>
        <p:txBody>
          <a:bodyPr lIns="0" rIns="0"/>
          <a:lstStyle/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.code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push ddVal1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push ddVal2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push dwVal1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push dwVal2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0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0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 </a:t>
            </a:r>
          </a:p>
          <a:p>
            <a:pPr marL="0" indent="390525" algn="just">
              <a:buNone/>
              <a:tabLst>
                <a:tab pos="3341688" algn="l"/>
              </a:tabLst>
            </a:pPr>
            <a:endParaRPr lang="en-US" altLang="zh-CN" sz="20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6248" y="214290"/>
            <a:ext cx="2357454" cy="175432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.data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ddVal1 </a:t>
            </a:r>
            <a:r>
              <a:rPr lang="en-US" altLang="zh-CN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dd</a:t>
            </a: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1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ddVal2 </a:t>
            </a:r>
            <a:r>
              <a:rPr lang="en-US" altLang="zh-CN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dd</a:t>
            </a: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2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dwVal1 </a:t>
            </a:r>
            <a:r>
              <a:rPr lang="en-US" altLang="zh-CN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dw</a:t>
            </a: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3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dwVal2 </a:t>
            </a:r>
            <a:r>
              <a:rPr lang="en-US" altLang="zh-CN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dw</a:t>
            </a: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4</a:t>
            </a:r>
          </a:p>
          <a:p>
            <a:endParaRPr lang="zh-CN" alt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24287" y="2143116"/>
            <a:ext cx="5119713" cy="3800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4214810" y="3214686"/>
            <a:ext cx="1785950" cy="12144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0C8E81-501F-48DC-B067-18DA9A726B4C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64D9258-3131-49D1-BC10-C352D6ABC4A1}" type="datetime1">
              <a:rPr lang="zh-CN" altLang="en-US"/>
              <a:pPr/>
              <a:t>2018/4/11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3363" y="311150"/>
            <a:ext cx="8662987" cy="6234113"/>
            <a:chOff x="147" y="196"/>
            <a:chExt cx="5457" cy="3927"/>
          </a:xfrm>
        </p:grpSpPr>
        <p:pic>
          <p:nvPicPr>
            <p:cNvPr id="662531" name="Picture 3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2532" name="Picture 4" descr="D2a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" y="196"/>
              <a:ext cx="5457" cy="862"/>
            </a:xfrm>
            <a:prstGeom prst="rect">
              <a:avLst/>
            </a:prstGeom>
            <a:noFill/>
          </p:spPr>
        </p:pic>
        <p:pic>
          <p:nvPicPr>
            <p:cNvPr id="662533" name="Picture 5" descr="D2b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662534" name="Picture 6" descr="D2c"/>
            <p:cNvPicPr>
              <a:picLocks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</p:spPr>
        </p:pic>
        <p:sp>
          <p:nvSpPr>
            <p:cNvPr id="662535" name="Rectangle 7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253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696200" cy="4419600"/>
          </a:xfrm>
          <a:solidFill>
            <a:schemeClr val="bg1"/>
          </a:solidFill>
          <a:ln/>
        </p:spPr>
        <p:txBody>
          <a:bodyPr lIns="0" rIns="0"/>
          <a:lstStyle/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pop dwVal2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4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4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pop dwVal1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4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4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pop ddVal2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4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4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pop ddVal1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24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PrintHex</a:t>
            </a: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400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esp</a:t>
            </a: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;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</a:t>
            </a:r>
          </a:p>
          <a:p>
            <a:pPr marL="0" indent="390525" algn="just">
              <a:buNone/>
              <a:tabLst>
                <a:tab pos="3341688" algn="l"/>
              </a:tabLst>
            </a:pPr>
            <a:endParaRPr lang="en-US" altLang="zh-CN" sz="24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6248" y="214290"/>
            <a:ext cx="2357454" cy="175432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.data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ddVal1 </a:t>
            </a:r>
            <a:r>
              <a:rPr lang="en-US" altLang="zh-CN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dd</a:t>
            </a: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1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ddVal2 </a:t>
            </a:r>
            <a:r>
              <a:rPr lang="en-US" altLang="zh-CN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dd</a:t>
            </a: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2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dwVal1 </a:t>
            </a:r>
            <a:r>
              <a:rPr lang="en-US" altLang="zh-CN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dw</a:t>
            </a: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3</a:t>
            </a:r>
          </a:p>
          <a:p>
            <a:pPr marL="0" indent="390525" algn="just">
              <a:buNone/>
              <a:tabLst>
                <a:tab pos="3341688" algn="l"/>
              </a:tabLst>
            </a:pP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dwVal2 </a:t>
            </a:r>
            <a:r>
              <a:rPr lang="en-US" altLang="zh-CN" dirty="0" err="1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dw</a:t>
            </a:r>
            <a:r>
              <a:rPr lang="en-US" altLang="zh-CN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4</a:t>
            </a:r>
          </a:p>
          <a:p>
            <a:endParaRPr lang="zh-CN" alt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24287" y="2143116"/>
            <a:ext cx="5119713" cy="3800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4214810" y="4429132"/>
            <a:ext cx="1785950" cy="1000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673225"/>
            <a:ext cx="4143404" cy="5184775"/>
          </a:xfrm>
        </p:spPr>
        <p:txBody>
          <a:bodyPr/>
          <a:lstStyle/>
          <a:p>
            <a:pPr marL="571500" indent="-571500">
              <a:lnSpc>
                <a:spcPct val="80000"/>
              </a:lnSpc>
            </a:pPr>
            <a:r>
              <a:rPr lang="zh-CN" altLang="en-US" sz="2400" dirty="0" smtClean="0">
                <a:solidFill>
                  <a:srgbClr val="C00000"/>
                </a:solidFill>
              </a:rPr>
              <a:t>多</a:t>
            </a:r>
            <a:r>
              <a:rPr lang="zh-CN" altLang="en-US" sz="2400" dirty="0">
                <a:solidFill>
                  <a:srgbClr val="C00000"/>
                </a:solidFill>
              </a:rPr>
              <a:t>个</a:t>
            </a:r>
            <a:r>
              <a:rPr lang="en-US" altLang="zh-CN" sz="2400" dirty="0">
                <a:solidFill>
                  <a:srgbClr val="C00000"/>
                </a:solidFill>
              </a:rPr>
              <a:t>16</a:t>
            </a:r>
            <a:r>
              <a:rPr lang="zh-CN" altLang="en-US" sz="2400" dirty="0">
                <a:solidFill>
                  <a:srgbClr val="C00000"/>
                </a:solidFill>
              </a:rPr>
              <a:t>位寄存器</a:t>
            </a:r>
            <a:r>
              <a:rPr lang="zh-CN" altLang="en-US" sz="2400" dirty="0"/>
              <a:t>入栈和出栈</a:t>
            </a:r>
          </a:p>
          <a:p>
            <a:pPr marL="571500" indent="-571500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	</a:t>
            </a:r>
            <a:r>
              <a:rPr lang="en-US" altLang="zh-CN" sz="2400" dirty="0" err="1"/>
              <a:t>pusha</a:t>
            </a:r>
            <a:endParaRPr lang="en-US" altLang="zh-CN" sz="2400" dirty="0"/>
          </a:p>
          <a:p>
            <a:pPr marL="571500" indent="-57150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Popa</a:t>
            </a:r>
            <a:endParaRPr lang="en-US" altLang="zh-CN" sz="2400" dirty="0"/>
          </a:p>
          <a:p>
            <a:pPr marL="571500" indent="-571500">
              <a:lnSpc>
                <a:spcPct val="8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多个</a:t>
            </a:r>
            <a:r>
              <a:rPr lang="en-US" altLang="zh-CN" sz="2400" dirty="0">
                <a:solidFill>
                  <a:srgbClr val="C00000"/>
                </a:solidFill>
              </a:rPr>
              <a:t>32</a:t>
            </a:r>
            <a:r>
              <a:rPr lang="zh-CN" altLang="en-US" sz="2400" dirty="0">
                <a:solidFill>
                  <a:srgbClr val="C00000"/>
                </a:solidFill>
              </a:rPr>
              <a:t>位寄存器</a:t>
            </a:r>
            <a:r>
              <a:rPr lang="zh-CN" altLang="en-US" sz="2400" dirty="0"/>
              <a:t>入栈和出栈</a:t>
            </a:r>
          </a:p>
          <a:p>
            <a:pPr marL="571500" indent="-571500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	</a:t>
            </a:r>
            <a:r>
              <a:rPr lang="en-US" altLang="zh-CN" sz="2400" dirty="0" err="1"/>
              <a:t>pushad</a:t>
            </a:r>
            <a:endParaRPr lang="en-US" altLang="zh-CN" sz="2400" dirty="0"/>
          </a:p>
          <a:p>
            <a:pPr marL="571500" indent="-57150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Popad</a:t>
            </a:r>
            <a:endParaRPr lang="en-US" altLang="zh-CN" sz="2400" dirty="0"/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4643438" y="1785926"/>
            <a:ext cx="431958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p"/>
            </a:pPr>
            <a:r>
              <a:rPr lang="en-US" altLang="zh-CN" sz="2400" dirty="0">
                <a:solidFill>
                  <a:srgbClr val="C00000"/>
                </a:solidFill>
                <a:latin typeface="Verdana" pitchFamily="34" charset="0"/>
              </a:rPr>
              <a:t>16</a:t>
            </a:r>
            <a:r>
              <a:rPr lang="zh-CN" altLang="en-US" sz="2400" dirty="0">
                <a:solidFill>
                  <a:srgbClr val="C00000"/>
                </a:solidFill>
                <a:latin typeface="Verdana" pitchFamily="34" charset="0"/>
              </a:rPr>
              <a:t>位标志寄存器</a:t>
            </a:r>
            <a:r>
              <a:rPr lang="zh-CN" altLang="en-US" sz="2400" dirty="0">
                <a:latin typeface="Verdana" pitchFamily="34" charset="0"/>
              </a:rPr>
              <a:t>入栈和出栈</a:t>
            </a:r>
          </a:p>
          <a:p>
            <a:r>
              <a:rPr lang="zh-CN" altLang="en-US" sz="2400" dirty="0">
                <a:latin typeface="Verdana" pitchFamily="34" charset="0"/>
              </a:rPr>
              <a:t>	</a:t>
            </a:r>
            <a:r>
              <a:rPr lang="en-US" altLang="zh-CN" sz="2400" dirty="0" err="1">
                <a:latin typeface="Verdana" pitchFamily="34" charset="0"/>
              </a:rPr>
              <a:t>pushf</a:t>
            </a:r>
            <a:endParaRPr lang="en-US" altLang="zh-CN" sz="2400" dirty="0">
              <a:latin typeface="Verdana" pitchFamily="34" charset="0"/>
            </a:endParaRPr>
          </a:p>
          <a:p>
            <a:r>
              <a:rPr lang="en-US" altLang="zh-CN" sz="2400" dirty="0">
                <a:latin typeface="Verdana" pitchFamily="34" charset="0"/>
              </a:rPr>
              <a:t>	</a:t>
            </a:r>
            <a:r>
              <a:rPr lang="en-US" altLang="zh-CN" sz="2400" dirty="0" err="1">
                <a:latin typeface="Verdana" pitchFamily="34" charset="0"/>
              </a:rPr>
              <a:t>Popf</a:t>
            </a:r>
            <a:endParaRPr lang="en-US" altLang="zh-CN" sz="2400" dirty="0">
              <a:latin typeface="Verdana" pitchFamily="34" charset="0"/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p"/>
            </a:pPr>
            <a:r>
              <a:rPr lang="en-US" altLang="zh-CN" sz="2400" dirty="0">
                <a:solidFill>
                  <a:srgbClr val="C00000"/>
                </a:solidFill>
                <a:latin typeface="Verdana" pitchFamily="34" charset="0"/>
              </a:rPr>
              <a:t>32</a:t>
            </a:r>
            <a:r>
              <a:rPr lang="zh-CN" altLang="en-US" sz="2400" dirty="0">
                <a:solidFill>
                  <a:srgbClr val="C00000"/>
                </a:solidFill>
                <a:latin typeface="Verdana" pitchFamily="34" charset="0"/>
              </a:rPr>
              <a:t>位标志寄存器</a:t>
            </a:r>
            <a:r>
              <a:rPr lang="zh-CN" altLang="en-US" sz="2400" dirty="0">
                <a:latin typeface="Verdana" pitchFamily="34" charset="0"/>
              </a:rPr>
              <a:t>入栈和出栈</a:t>
            </a:r>
          </a:p>
          <a:p>
            <a:r>
              <a:rPr lang="zh-CN" altLang="en-US" sz="2400" dirty="0">
                <a:latin typeface="Verdana" pitchFamily="34" charset="0"/>
              </a:rPr>
              <a:t>	</a:t>
            </a:r>
            <a:r>
              <a:rPr lang="en-US" altLang="zh-CN" sz="2400" dirty="0" err="1">
                <a:latin typeface="Verdana" pitchFamily="34" charset="0"/>
              </a:rPr>
              <a:t>pushfd</a:t>
            </a:r>
            <a:endParaRPr lang="en-US" altLang="zh-CN" sz="2400" dirty="0">
              <a:latin typeface="Verdana" pitchFamily="34" charset="0"/>
            </a:endParaRPr>
          </a:p>
          <a:p>
            <a:r>
              <a:rPr lang="en-US" altLang="zh-CN" sz="2400" dirty="0">
                <a:latin typeface="Verdana" pitchFamily="34" charset="0"/>
              </a:rPr>
              <a:t>	</a:t>
            </a:r>
            <a:r>
              <a:rPr lang="en-US" altLang="zh-CN" sz="2400" dirty="0" err="1" smtClean="0">
                <a:latin typeface="Verdana" pitchFamily="34" charset="0"/>
              </a:rPr>
              <a:t>Popfd</a:t>
            </a:r>
            <a:endParaRPr lang="en-US" altLang="zh-CN" sz="2400" dirty="0">
              <a:latin typeface="Verdana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相关指令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2.2.2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转换指令 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hlinkClick r:id="rId3" action="ppaction://hlinksldjump"/>
              </a:rPr>
              <a:t>MOVZX</a:t>
            </a:r>
            <a:r>
              <a:rPr lang="zh-CN" altLang="en-US">
                <a:hlinkClick r:id="rId3" action="ppaction://hlinksldjump"/>
              </a:rPr>
              <a:t>、</a:t>
            </a:r>
            <a:r>
              <a:rPr lang="en-US" altLang="zh-CN">
                <a:hlinkClick r:id="rId3" action="ppaction://hlinksldjump"/>
              </a:rPr>
              <a:t>MOVSX</a:t>
            </a:r>
            <a:r>
              <a:rPr lang="zh-CN" altLang="en-US">
                <a:hlinkClick r:id="rId3" action="ppaction://hlinksldjump"/>
              </a:rPr>
              <a:t>、</a:t>
            </a:r>
            <a:r>
              <a:rPr lang="en-US" altLang="zh-CN">
                <a:hlinkClick r:id="rId3" action="ppaction://hlinksldjump"/>
              </a:rPr>
              <a:t>CBW</a:t>
            </a:r>
            <a:r>
              <a:rPr lang="zh-CN" altLang="en-US">
                <a:hlinkClick r:id="rId3" action="ppaction://hlinksldjump"/>
              </a:rPr>
              <a:t>、</a:t>
            </a:r>
            <a:r>
              <a:rPr lang="en-US" altLang="zh-CN">
                <a:hlinkClick r:id="rId3" action="ppaction://hlinksldjump"/>
              </a:rPr>
              <a:t>CWD</a:t>
            </a:r>
            <a:r>
              <a:rPr lang="zh-CN" altLang="en-US">
                <a:hlinkClick r:id="rId3" action="ppaction://hlinksldjump"/>
              </a:rPr>
              <a:t>、</a:t>
            </a:r>
            <a:r>
              <a:rPr lang="en-US" altLang="zh-CN">
                <a:hlinkClick r:id="rId3" action="ppaction://hlinksldjump"/>
              </a:rPr>
              <a:t>CWDE</a:t>
            </a:r>
            <a:r>
              <a:rPr lang="zh-CN" altLang="en-US">
                <a:hlinkClick r:id="rId3" action="ppaction://hlinksldjump"/>
              </a:rPr>
              <a:t>和</a:t>
            </a:r>
            <a:r>
              <a:rPr lang="en-US" altLang="zh-CN">
                <a:hlinkClick r:id="rId3" action="ppaction://hlinksldjump"/>
              </a:rPr>
              <a:t>CDQ</a:t>
            </a:r>
            <a:r>
              <a:rPr lang="zh-CN" altLang="en-US">
                <a:hlinkClick r:id="rId3" action="ppaction://hlinksldjump"/>
              </a:rPr>
              <a:t>指令</a:t>
            </a:r>
            <a:endParaRPr lang="zh-CN" altLang="en-US"/>
          </a:p>
          <a:p>
            <a:r>
              <a:rPr lang="en-US" altLang="zh-CN">
                <a:hlinkClick r:id="rId4" action="ppaction://hlinksldjump"/>
              </a:rPr>
              <a:t>XLAT</a:t>
            </a:r>
            <a:r>
              <a:rPr lang="zh-CN" altLang="en-US">
                <a:hlinkClick r:id="rId4" action="ppaction://hlinksldjump"/>
              </a:rPr>
              <a:t>指令 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CBW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CWD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CWDE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CDQ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</a:p>
        </p:txBody>
      </p:sp>
      <p:sp>
        <p:nvSpPr>
          <p:cNvPr id="6" name="矩形 5"/>
          <p:cNvSpPr/>
          <p:nvPr/>
        </p:nvSpPr>
        <p:spPr>
          <a:xfrm>
            <a:off x="428596" y="4357694"/>
            <a:ext cx="7572428" cy="707886"/>
          </a:xfrm>
          <a:prstGeom prst="rect">
            <a:avLst/>
          </a:prstGeom>
          <a:solidFill>
            <a:srgbClr val="99CCFF"/>
          </a:solidFill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CBW</a:t>
            </a:r>
            <a:r>
              <a:rPr lang="zh-CN" altLang="en-US" sz="2000" dirty="0" smtClean="0"/>
              <a:t>：将</a:t>
            </a:r>
            <a:r>
              <a:rPr lang="en-US" altLang="zh-CN" sz="2000" dirty="0" smtClean="0"/>
              <a:t>AL</a:t>
            </a:r>
            <a:r>
              <a:rPr lang="zh-CN" altLang="en-US" sz="2000" dirty="0" smtClean="0"/>
              <a:t>的最高有效位</a:t>
            </a:r>
            <a:r>
              <a:rPr lang="en-US" altLang="zh-CN" sz="2000" dirty="0" smtClean="0"/>
              <a:t>D7</a:t>
            </a:r>
            <a:r>
              <a:rPr lang="zh-CN" altLang="en-US" sz="2000" dirty="0" smtClean="0"/>
              <a:t>扩展至</a:t>
            </a:r>
            <a:r>
              <a:rPr lang="en-US" altLang="zh-CN" sz="2000" dirty="0" smtClean="0"/>
              <a:t>AH</a:t>
            </a:r>
            <a:r>
              <a:rPr lang="zh-CN" altLang="en-US" sz="2000" dirty="0" smtClean="0"/>
              <a:t>，即：如果</a:t>
            </a:r>
            <a:r>
              <a:rPr lang="en-US" altLang="zh-CN" sz="2000" dirty="0" smtClean="0"/>
              <a:t>AL</a:t>
            </a:r>
            <a:r>
              <a:rPr lang="zh-CN" altLang="en-US" sz="2000" dirty="0" smtClean="0"/>
              <a:t>的最高有效位是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，则</a:t>
            </a:r>
            <a:r>
              <a:rPr lang="en-US" altLang="zh-CN" sz="2000" dirty="0" smtClean="0"/>
              <a:t>AH = 00</a:t>
            </a:r>
            <a:r>
              <a:rPr lang="zh-CN" altLang="en-US" sz="2000" dirty="0" smtClean="0"/>
              <a:t>；</a:t>
            </a:r>
            <a:r>
              <a:rPr lang="en-US" altLang="zh-CN" sz="2000" dirty="0" smtClean="0"/>
              <a:t>AL</a:t>
            </a:r>
            <a:r>
              <a:rPr lang="zh-CN" altLang="en-US" sz="2000" dirty="0" smtClean="0"/>
              <a:t>的最高有效位为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，则</a:t>
            </a:r>
            <a:r>
              <a:rPr lang="en-US" altLang="zh-CN" sz="2000" dirty="0" smtClean="0"/>
              <a:t>AH = FFH</a:t>
            </a:r>
            <a:r>
              <a:rPr lang="zh-CN" altLang="en-US" sz="2000" dirty="0" smtClean="0"/>
              <a:t>。</a:t>
            </a:r>
            <a:r>
              <a:rPr lang="en-US" altLang="zh-CN" sz="2000" dirty="0" smtClean="0"/>
              <a:t>AL</a:t>
            </a:r>
            <a:r>
              <a:rPr lang="zh-CN" altLang="en-US" sz="2000" dirty="0" smtClean="0"/>
              <a:t>不变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28596" y="1785926"/>
            <a:ext cx="7429552" cy="1708160"/>
          </a:xfrm>
          <a:prstGeom prst="rect">
            <a:avLst/>
          </a:prstGeom>
          <a:solidFill>
            <a:srgbClr val="99CCFF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000" dirty="0" smtClean="0">
                <a:solidFill>
                  <a:srgbClr val="C00000"/>
                </a:solidFill>
              </a:rPr>
              <a:t>CBW(Convert Byte to Word):</a:t>
            </a:r>
            <a:r>
              <a:rPr lang="en-US" sz="2000" dirty="0" smtClean="0"/>
              <a:t>      </a:t>
            </a:r>
            <a:r>
              <a:rPr lang="zh-CN" altLang="en-US" sz="2000" dirty="0" smtClean="0"/>
              <a:t>将 </a:t>
            </a:r>
            <a:r>
              <a:rPr lang="en-US" sz="2000" dirty="0" smtClean="0"/>
              <a:t>AL </a:t>
            </a:r>
            <a:r>
              <a:rPr lang="zh-CN" altLang="en-US" sz="2000" dirty="0" smtClean="0"/>
              <a:t>扩展为 </a:t>
            </a:r>
            <a:r>
              <a:rPr lang="en-US" sz="2000" dirty="0" smtClean="0"/>
              <a:t>AX 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000" dirty="0" smtClean="0">
                <a:solidFill>
                  <a:srgbClr val="C00000"/>
                </a:solidFill>
              </a:rPr>
              <a:t>CWDE(Convert Word to Extended Double): </a:t>
            </a:r>
            <a:r>
              <a:rPr lang="zh-CN" altLang="en-US" sz="2000" dirty="0" smtClean="0"/>
              <a:t>将 </a:t>
            </a:r>
            <a:r>
              <a:rPr lang="en-US" sz="2000" dirty="0" smtClean="0"/>
              <a:t>AX </a:t>
            </a:r>
            <a:r>
              <a:rPr lang="zh-CN" altLang="en-US" sz="2000" dirty="0" smtClean="0"/>
              <a:t>扩展为 </a:t>
            </a:r>
            <a:r>
              <a:rPr lang="en-US" sz="2000" dirty="0" smtClean="0"/>
              <a:t>EAX 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000" dirty="0" smtClean="0">
                <a:solidFill>
                  <a:srgbClr val="C00000"/>
                </a:solidFill>
              </a:rPr>
              <a:t>CWD(Convert Word to </a:t>
            </a:r>
            <a:r>
              <a:rPr lang="en-US" sz="2000" dirty="0" err="1" smtClean="0">
                <a:solidFill>
                  <a:srgbClr val="C00000"/>
                </a:solidFill>
              </a:rPr>
              <a:t>Doubleword</a:t>
            </a:r>
            <a:r>
              <a:rPr lang="en-US" sz="2000" dirty="0" smtClean="0">
                <a:solidFill>
                  <a:srgbClr val="C00000"/>
                </a:solidFill>
              </a:rPr>
              <a:t>): </a:t>
            </a:r>
            <a:r>
              <a:rPr lang="en-US" sz="2000" dirty="0" smtClean="0"/>
              <a:t> </a:t>
            </a:r>
            <a:r>
              <a:rPr lang="zh-CN" altLang="en-US" sz="2000" dirty="0" smtClean="0"/>
              <a:t>将 </a:t>
            </a:r>
            <a:r>
              <a:rPr lang="en-US" sz="2000" dirty="0" smtClean="0"/>
              <a:t>AX </a:t>
            </a:r>
            <a:r>
              <a:rPr lang="zh-CN" altLang="en-US" sz="2000" dirty="0" smtClean="0"/>
              <a:t>扩展为 </a:t>
            </a:r>
            <a:r>
              <a:rPr lang="en-US" sz="2000" dirty="0" smtClean="0"/>
              <a:t>DX:AX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000" dirty="0" smtClean="0">
                <a:solidFill>
                  <a:srgbClr val="C00000"/>
                </a:solidFill>
              </a:rPr>
              <a:t>CDQ(Convert </a:t>
            </a:r>
            <a:r>
              <a:rPr lang="en-US" sz="2000" dirty="0" err="1" smtClean="0">
                <a:solidFill>
                  <a:srgbClr val="C00000"/>
                </a:solidFill>
              </a:rPr>
              <a:t>Doubleword</a:t>
            </a:r>
            <a:r>
              <a:rPr lang="en-US" sz="2000" dirty="0" smtClean="0">
                <a:solidFill>
                  <a:srgbClr val="C00000"/>
                </a:solidFill>
              </a:rPr>
              <a:t> to </a:t>
            </a:r>
            <a:r>
              <a:rPr lang="en-US" sz="2000" dirty="0" err="1" smtClean="0">
                <a:solidFill>
                  <a:srgbClr val="C00000"/>
                </a:solidFill>
              </a:rPr>
              <a:t>Quadword</a:t>
            </a:r>
            <a:r>
              <a:rPr lang="en-US" sz="2000" dirty="0" smtClean="0">
                <a:solidFill>
                  <a:srgbClr val="C00000"/>
                </a:solidFill>
              </a:rPr>
              <a:t>): </a:t>
            </a:r>
            <a:r>
              <a:rPr lang="zh-CN" altLang="en-US" sz="2000" dirty="0" smtClean="0"/>
              <a:t>将 </a:t>
            </a:r>
            <a:r>
              <a:rPr lang="en-US" sz="2000" dirty="0" smtClean="0"/>
              <a:t>EAX </a:t>
            </a:r>
            <a:r>
              <a:rPr lang="zh-CN" altLang="en-US" sz="2000" dirty="0" smtClean="0"/>
              <a:t>扩展为 </a:t>
            </a:r>
            <a:r>
              <a:rPr lang="en-US" altLang="zh-CN" sz="2000" dirty="0" smtClean="0"/>
              <a:t>64 </a:t>
            </a:r>
            <a:r>
              <a:rPr lang="zh-CN" altLang="en-US" sz="2000" dirty="0" smtClean="0"/>
              <a:t>位数 </a:t>
            </a:r>
            <a:r>
              <a:rPr lang="en-US" sz="2000" dirty="0" smtClean="0"/>
              <a:t>EDX:EAX ; </a:t>
            </a:r>
            <a:endParaRPr lang="zh-CN" alt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428596" y="3714752"/>
            <a:ext cx="6160661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用符号位填充多出的空间 </a:t>
            </a:r>
            <a:r>
              <a:rPr lang="en-US" altLang="zh-CN" dirty="0" smtClean="0"/>
              <a:t>;</a:t>
            </a:r>
            <a:r>
              <a:rPr lang="zh-CN" altLang="en-US" dirty="0" smtClean="0"/>
              <a:t> 对 </a:t>
            </a:r>
            <a:r>
              <a:rPr lang="en-US" altLang="zh-CN" dirty="0" smtClean="0"/>
              <a:t>EFLAGS </a:t>
            </a:r>
            <a:r>
              <a:rPr lang="zh-CN" altLang="en-US" dirty="0" smtClean="0"/>
              <a:t>无影响；</a:t>
            </a:r>
            <a:r>
              <a:rPr lang="en-US" altLang="zh-CN" dirty="0" smtClean="0"/>
              <a:t> </a:t>
            </a:r>
            <a:r>
              <a:rPr lang="zh-CN" altLang="en-US" dirty="0" smtClean="0"/>
              <a:t>无参数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mov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eax</a:t>
            </a:r>
            <a:r>
              <a:rPr lang="en-US" altLang="zh-CN" dirty="0" smtClean="0"/>
              <a:t>, 7FFFFFFFh</a:t>
            </a:r>
          </a:p>
          <a:p>
            <a:r>
              <a:rPr lang="en-US" altLang="zh-CN" dirty="0" smtClean="0"/>
              <a:t> </a:t>
            </a:r>
            <a:r>
              <a:rPr lang="en-US" altLang="zh-CN" dirty="0" err="1" smtClean="0"/>
              <a:t>cdq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err="1" smtClean="0"/>
              <a:t>PrintHex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edx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err="1" smtClean="0"/>
              <a:t>PrintHex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eax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err="1" smtClean="0"/>
              <a:t>mov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eax</a:t>
            </a:r>
            <a:r>
              <a:rPr lang="en-US" altLang="zh-CN" dirty="0" smtClean="0"/>
              <a:t>, 80000000h</a:t>
            </a:r>
          </a:p>
          <a:p>
            <a:r>
              <a:rPr lang="en-US" altLang="zh-CN" dirty="0" smtClean="0"/>
              <a:t> </a:t>
            </a:r>
            <a:r>
              <a:rPr lang="en-US" altLang="zh-CN" dirty="0" err="1" smtClean="0"/>
              <a:t>cdq</a:t>
            </a:r>
            <a:endParaRPr lang="en-US" altLang="zh-CN" dirty="0" smtClean="0"/>
          </a:p>
          <a:p>
            <a:r>
              <a:rPr lang="en-US" altLang="zh-CN" dirty="0" err="1" smtClean="0"/>
              <a:t>PrintHex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edx</a:t>
            </a:r>
            <a:r>
              <a:rPr lang="en-US" altLang="zh-CN" dirty="0" smtClean="0"/>
              <a:t> </a:t>
            </a:r>
          </a:p>
          <a:p>
            <a:r>
              <a:rPr lang="en-US" altLang="zh-CN" dirty="0" err="1" smtClean="0"/>
              <a:t>PrintHex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eax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   chp2_2.asm</a:t>
            </a:r>
            <a:endParaRPr lang="zh-CN" altLang="en-US" dirty="0"/>
          </a:p>
        </p:txBody>
      </p:sp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233364" y="311150"/>
            <a:ext cx="8662988" cy="6234113"/>
            <a:chOff x="147" y="196"/>
            <a:chExt cx="5457" cy="3927"/>
          </a:xfrm>
        </p:grpSpPr>
        <p:pic>
          <p:nvPicPr>
            <p:cNvPr id="14" name="Picture 4" descr="D2a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" y="196"/>
              <a:ext cx="5457" cy="862"/>
            </a:xfrm>
            <a:prstGeom prst="rect">
              <a:avLst/>
            </a:prstGeom>
            <a:noFill/>
          </p:spPr>
        </p:pic>
        <p:pic>
          <p:nvPicPr>
            <p:cNvPr id="13" name="Picture 3" descr="D2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15" name="Picture 5" descr="D2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16" name="Picture 6" descr="D2c"/>
            <p:cNvPicPr>
              <a:picLocks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</p:spPr>
        </p:pic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97986" name="Picture 2"/>
          <p:cNvPicPr>
            <a:picLocks noChangeAspect="1" noChangeArrowheads="1"/>
          </p:cNvPicPr>
          <p:nvPr/>
        </p:nvPicPr>
        <p:blipFill>
          <a:blip r:embed="rId5"/>
          <a:srcRect r="40068"/>
          <a:stretch>
            <a:fillRect/>
          </a:stretch>
        </p:blipFill>
        <p:spPr bwMode="auto">
          <a:xfrm>
            <a:off x="4929190" y="1428736"/>
            <a:ext cx="359639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矩形 20"/>
          <p:cNvSpPr/>
          <p:nvPr/>
        </p:nvSpPr>
        <p:spPr>
          <a:xfrm>
            <a:off x="5072066" y="3071810"/>
            <a:ext cx="3071834" cy="7143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  </a:t>
            </a:r>
            <a:r>
              <a:rPr lang="en-US" altLang="zh-CN" sz="2400" dirty="0" err="1" smtClean="0"/>
              <a:t>mov</a:t>
            </a:r>
            <a:r>
              <a:rPr lang="en-US" altLang="zh-CN" sz="2400" dirty="0" smtClean="0"/>
              <a:t> al, 68</a:t>
            </a:r>
          </a:p>
          <a:p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cbw</a:t>
            </a:r>
            <a:endParaRPr lang="en-US" altLang="zh-CN" sz="2400" dirty="0" smtClean="0"/>
          </a:p>
          <a:p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PrintHex</a:t>
            </a:r>
            <a:r>
              <a:rPr lang="en-US" altLang="zh-CN" sz="2400" dirty="0" smtClean="0"/>
              <a:t> ax ;0044</a:t>
            </a:r>
          </a:p>
          <a:p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PrintDec</a:t>
            </a:r>
            <a:r>
              <a:rPr lang="en-US" altLang="zh-CN" sz="2400" dirty="0" smtClean="0"/>
              <a:t> ax ;68</a:t>
            </a:r>
          </a:p>
          <a:p>
            <a:endParaRPr lang="en-US" altLang="zh-CN" sz="2400" dirty="0" smtClean="0"/>
          </a:p>
          <a:p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mov</a:t>
            </a:r>
            <a:r>
              <a:rPr lang="en-US" altLang="zh-CN" sz="2400" dirty="0" smtClean="0"/>
              <a:t> al, -68</a:t>
            </a:r>
          </a:p>
          <a:p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cbw</a:t>
            </a:r>
            <a:endParaRPr lang="en-US" altLang="zh-CN" sz="2400" dirty="0" smtClean="0"/>
          </a:p>
          <a:p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PrintHex</a:t>
            </a:r>
            <a:r>
              <a:rPr lang="en-US" altLang="zh-CN" sz="2400" dirty="0" smtClean="0"/>
              <a:t> ax ;FFBC</a:t>
            </a:r>
          </a:p>
          <a:p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PrintDec</a:t>
            </a:r>
            <a:r>
              <a:rPr lang="en-US" altLang="zh-CN" sz="2400" dirty="0" smtClean="0"/>
              <a:t> ax ;-68</a:t>
            </a:r>
            <a:endParaRPr lang="zh-CN" altLang="en-US" sz="2400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   chp2_3.asm</a:t>
            </a:r>
            <a:endParaRPr lang="zh-CN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9714" y="298451"/>
            <a:ext cx="8662988" cy="6246820"/>
            <a:chOff x="151" y="188"/>
            <a:chExt cx="5457" cy="3935"/>
          </a:xfrm>
        </p:grpSpPr>
        <p:pic>
          <p:nvPicPr>
            <p:cNvPr id="14" name="Picture 4" descr="D2a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51" y="188"/>
              <a:ext cx="5457" cy="862"/>
            </a:xfrm>
            <a:prstGeom prst="rect">
              <a:avLst/>
            </a:prstGeom>
            <a:noFill/>
          </p:spPr>
        </p:pic>
        <p:pic>
          <p:nvPicPr>
            <p:cNvPr id="13" name="Picture 3" descr="D2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15" name="Picture 5" descr="D2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</p:spPr>
        </p:pic>
        <p:pic>
          <p:nvPicPr>
            <p:cNvPr id="16" name="Picture 6" descr="D2c"/>
            <p:cNvPicPr>
              <a:picLocks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</p:spPr>
        </p:pic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9901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57686" y="1428736"/>
            <a:ext cx="4143404" cy="2726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4357686" y="4572008"/>
            <a:ext cx="4000527" cy="923330"/>
          </a:xfrm>
          <a:prstGeom prst="rect">
            <a:avLst/>
          </a:prstGeom>
          <a:noFill/>
          <a:ln cmpd="dbl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一个正数</a:t>
            </a:r>
            <a:r>
              <a:rPr lang="en-US" altLang="zh-CN" dirty="0" smtClean="0"/>
              <a:t>(</a:t>
            </a:r>
            <a:r>
              <a:rPr lang="zh-CN" altLang="en-US" dirty="0" smtClean="0"/>
              <a:t>无符号</a:t>
            </a:r>
            <a:r>
              <a:rPr lang="en-US" altLang="zh-CN" dirty="0" smtClean="0"/>
              <a:t>)</a:t>
            </a:r>
            <a:r>
              <a:rPr lang="zh-CN" altLang="en-US" dirty="0" smtClean="0"/>
              <a:t>或负数</a:t>
            </a:r>
            <a:r>
              <a:rPr lang="en-US" altLang="zh-CN" dirty="0" smtClean="0"/>
              <a:t>(</a:t>
            </a:r>
            <a:r>
              <a:rPr lang="zh-CN" altLang="en-US" dirty="0" smtClean="0"/>
              <a:t>有符号</a:t>
            </a:r>
            <a:r>
              <a:rPr lang="en-US" altLang="zh-CN" dirty="0" smtClean="0"/>
              <a:t>)</a:t>
            </a:r>
            <a:r>
              <a:rPr lang="zh-CN" altLang="en-US" dirty="0" smtClean="0"/>
              <a:t>在扩展储存空间时</a:t>
            </a:r>
            <a:r>
              <a:rPr lang="en-US" altLang="zh-CN" dirty="0" smtClean="0"/>
              <a:t>, </a:t>
            </a:r>
            <a:r>
              <a:rPr lang="zh-CN" altLang="en-US" dirty="0" smtClean="0"/>
              <a:t>使用这些指令可保证原值不变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XLAT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 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XLAT</a:t>
            </a:r>
            <a:r>
              <a:rPr lang="zh-CN" altLang="en-US" dirty="0"/>
              <a:t>（</a:t>
            </a:r>
            <a:r>
              <a:rPr lang="en-US" altLang="zh-CN" dirty="0"/>
              <a:t>translate</a:t>
            </a:r>
            <a:r>
              <a:rPr lang="zh-CN" altLang="en-US" dirty="0" smtClean="0"/>
              <a:t>）把</a:t>
            </a:r>
            <a:r>
              <a:rPr lang="en-US" altLang="zh-CN" dirty="0"/>
              <a:t>AL</a:t>
            </a:r>
            <a:r>
              <a:rPr lang="zh-CN" altLang="en-US" dirty="0"/>
              <a:t>寄存器中的值</a:t>
            </a:r>
            <a:r>
              <a:rPr lang="zh-CN" altLang="en-US" dirty="0" smtClean="0"/>
              <a:t>替换成一存储器单元的内容，存储器单元的</a:t>
            </a:r>
            <a:r>
              <a:rPr lang="zh-CN" altLang="en-US" dirty="0"/>
              <a:t>地址由</a:t>
            </a:r>
            <a:r>
              <a:rPr lang="en-US" altLang="zh-CN" dirty="0"/>
              <a:t>EBX+AL</a:t>
            </a:r>
            <a:r>
              <a:rPr lang="zh-CN" altLang="en-US" dirty="0"/>
              <a:t>指定</a:t>
            </a:r>
            <a:r>
              <a:rPr lang="zh-CN" altLang="en-US" dirty="0" smtClean="0"/>
              <a:t>。操作过程相当于</a:t>
            </a:r>
            <a:endParaRPr lang="zh-CN" altLang="en-US" dirty="0"/>
          </a:p>
          <a:p>
            <a:pPr>
              <a:buFont typeface="Wingdings" pitchFamily="2" charset="2"/>
              <a:buNone/>
            </a:pPr>
            <a:r>
              <a:rPr lang="zh-CN" altLang="en-US" dirty="0"/>
              <a:t>		</a:t>
            </a:r>
            <a:r>
              <a:rPr lang="en-US" altLang="zh-CN" b="1" dirty="0"/>
              <a:t>temp = </a:t>
            </a:r>
            <a:r>
              <a:rPr lang="en-US" altLang="zh-CN" b="1" dirty="0" err="1"/>
              <a:t>al+ebx</a:t>
            </a:r>
            <a:endParaRPr lang="en-US" altLang="zh-CN" b="1" dirty="0"/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		al = </a:t>
            </a:r>
            <a:r>
              <a:rPr lang="en-US" altLang="zh-CN" b="1" dirty="0" err="1"/>
              <a:t>ds</a:t>
            </a:r>
            <a:r>
              <a:rPr lang="en-US" altLang="zh-CN" b="1" dirty="0"/>
              <a:t>:[temp]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/>
              <a:t>		</a:t>
            </a:r>
            <a:endParaRPr lang="en-US" altLang="zh-CN" b="1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57224" y="4357694"/>
            <a:ext cx="4429156" cy="1785104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pt-BR" sz="2000" dirty="0" smtClean="0"/>
              <a:t>X DW 1122H,3344H,5566H,7788H</a:t>
            </a:r>
            <a:br>
              <a:rPr lang="pt-BR" sz="2000" dirty="0" smtClean="0"/>
            </a:br>
            <a:r>
              <a:rPr lang="pt-BR" sz="2000" dirty="0" smtClean="0"/>
              <a:t>LEA BX,X</a:t>
            </a:r>
            <a:br>
              <a:rPr lang="pt-BR" sz="2000" dirty="0" smtClean="0"/>
            </a:br>
            <a:r>
              <a:rPr lang="pt-BR" sz="2000" dirty="0" smtClean="0"/>
              <a:t>MOV AL,03H</a:t>
            </a:r>
            <a:br>
              <a:rPr lang="pt-BR" sz="2000" dirty="0" smtClean="0"/>
            </a:br>
            <a:r>
              <a:rPr lang="pt-BR" sz="2000" dirty="0" smtClean="0"/>
              <a:t>XLAT</a:t>
            </a:r>
            <a:br>
              <a:rPr lang="pt-BR" sz="2000" dirty="0" smtClean="0"/>
            </a:b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7224" y="6215082"/>
            <a:ext cx="214314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执行后：</a:t>
            </a:r>
            <a:r>
              <a:rPr lang="en-US" altLang="zh-CN" dirty="0" smtClean="0"/>
              <a:t>AL=33H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692150"/>
            <a:ext cx="3860800" cy="53276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例</a:t>
            </a:r>
            <a:r>
              <a:rPr lang="en-US" altLang="zh-CN" sz="2400" dirty="0"/>
              <a:t>2.2.5	</a:t>
            </a:r>
            <a:r>
              <a:rPr lang="zh-CN" altLang="en-US" sz="2400" dirty="0"/>
              <a:t>若（</a:t>
            </a:r>
            <a:r>
              <a:rPr lang="en-US" altLang="zh-CN" sz="2400" dirty="0"/>
              <a:t>EBX</a:t>
            </a:r>
            <a:r>
              <a:rPr lang="zh-CN" altLang="en-US" sz="2400" dirty="0"/>
              <a:t>）</a:t>
            </a:r>
            <a:r>
              <a:rPr lang="en-US" altLang="zh-CN" sz="2400" dirty="0"/>
              <a:t>=0100H</a:t>
            </a:r>
            <a:r>
              <a:rPr lang="zh-CN" altLang="en-US" sz="2400" dirty="0"/>
              <a:t>，（</a:t>
            </a:r>
            <a:r>
              <a:rPr lang="en-US" altLang="zh-CN" sz="2400" dirty="0"/>
              <a:t>AL</a:t>
            </a:r>
            <a:r>
              <a:rPr lang="zh-CN" altLang="en-US" sz="2400" dirty="0"/>
              <a:t>）</a:t>
            </a:r>
            <a:r>
              <a:rPr lang="en-US" altLang="zh-CN" sz="2400" dirty="0"/>
              <a:t>=5H</a:t>
            </a:r>
            <a:r>
              <a:rPr lang="zh-CN" altLang="en-US" sz="2400" dirty="0"/>
              <a:t>， </a:t>
            </a:r>
            <a:r>
              <a:rPr lang="en-US" altLang="zh-CN" sz="2400" dirty="0"/>
              <a:t>[EBX+AL]=0105H=03H</a:t>
            </a:r>
            <a:r>
              <a:rPr lang="zh-CN" altLang="en-US" sz="2400" dirty="0"/>
              <a:t>，该表格在内存中的存储情况如下图所示。指令</a:t>
            </a:r>
            <a:r>
              <a:rPr lang="en-US" altLang="zh-CN" sz="2400" dirty="0" err="1"/>
              <a:t>xlat</a:t>
            </a:r>
            <a:r>
              <a:rPr lang="zh-CN" altLang="en-US" sz="2400" dirty="0"/>
              <a:t>把</a:t>
            </a:r>
            <a:r>
              <a:rPr lang="en-US" altLang="zh-CN" sz="2400" dirty="0"/>
              <a:t>0110H</a:t>
            </a:r>
            <a:r>
              <a:rPr lang="zh-CN" altLang="en-US" sz="2400" dirty="0"/>
              <a:t>地址处的内容送</a:t>
            </a:r>
            <a:r>
              <a:rPr lang="en-US" altLang="zh-CN" sz="2400" dirty="0"/>
              <a:t>AL</a:t>
            </a:r>
            <a:r>
              <a:rPr lang="zh-CN" altLang="en-US" sz="2400" dirty="0"/>
              <a:t>寄存器，其中使用默认段超越前缀</a:t>
            </a:r>
            <a:r>
              <a:rPr lang="en-US" altLang="zh-CN" sz="2400" dirty="0"/>
              <a:t>DS</a:t>
            </a:r>
            <a:r>
              <a:rPr lang="zh-CN" altLang="en-US" sz="2400" dirty="0"/>
              <a:t>，该指令执行后（</a:t>
            </a:r>
            <a:r>
              <a:rPr lang="en-US" altLang="zh-CN" sz="2400" dirty="0"/>
              <a:t>AL</a:t>
            </a:r>
            <a:r>
              <a:rPr lang="zh-CN" altLang="en-US" sz="2400" dirty="0"/>
              <a:t>）</a:t>
            </a:r>
            <a:r>
              <a:rPr lang="en-US" altLang="zh-CN" sz="2400" dirty="0"/>
              <a:t>=03H</a:t>
            </a:r>
            <a:r>
              <a:rPr lang="zh-CN" altLang="en-US" sz="2400" dirty="0"/>
              <a:t>。由于</a:t>
            </a:r>
            <a:r>
              <a:rPr lang="en-US" altLang="zh-CN" sz="2400" dirty="0"/>
              <a:t>AL</a:t>
            </a:r>
            <a:r>
              <a:rPr lang="zh-CN" altLang="en-US" sz="2400" dirty="0"/>
              <a:t>寄存器只有</a:t>
            </a:r>
            <a:r>
              <a:rPr lang="en-US" altLang="zh-CN" sz="2400" dirty="0"/>
              <a:t>8</a:t>
            </a:r>
            <a:r>
              <a:rPr lang="zh-CN" altLang="en-US" sz="2400" dirty="0"/>
              <a:t>位，所以表格的长度不能超过</a:t>
            </a:r>
            <a:r>
              <a:rPr lang="en-US" altLang="zh-CN" sz="2400" dirty="0"/>
              <a:t>256</a:t>
            </a:r>
            <a:r>
              <a:rPr lang="zh-CN" altLang="en-US" sz="2400" dirty="0"/>
              <a:t>。</a:t>
            </a:r>
          </a:p>
        </p:txBody>
      </p:sp>
      <p:grpSp>
        <p:nvGrpSpPr>
          <p:cNvPr id="164868" name="Group 4"/>
          <p:cNvGrpSpPr>
            <a:grpSpLocks noChangeAspect="1"/>
          </p:cNvGrpSpPr>
          <p:nvPr/>
        </p:nvGrpSpPr>
        <p:grpSpPr bwMode="auto">
          <a:xfrm>
            <a:off x="3886200" y="765175"/>
            <a:ext cx="5257800" cy="5111750"/>
            <a:chOff x="2220" y="1595"/>
            <a:chExt cx="8280" cy="2653"/>
          </a:xfrm>
        </p:grpSpPr>
        <p:sp>
          <p:nvSpPr>
            <p:cNvPr id="164869" name="AutoShape 5"/>
            <p:cNvSpPr>
              <a:spLocks noChangeAspect="1" noChangeArrowheads="1"/>
            </p:cNvSpPr>
            <p:nvPr/>
          </p:nvSpPr>
          <p:spPr bwMode="auto">
            <a:xfrm>
              <a:off x="2220" y="1595"/>
              <a:ext cx="8280" cy="26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0" name="Text Box 6"/>
            <p:cNvSpPr txBox="1">
              <a:spLocks noChangeArrowheads="1"/>
            </p:cNvSpPr>
            <p:nvPr/>
          </p:nvSpPr>
          <p:spPr bwMode="auto">
            <a:xfrm>
              <a:off x="6000" y="1751"/>
              <a:ext cx="1260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83H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1" name="Text Box 7"/>
            <p:cNvSpPr txBox="1">
              <a:spLocks noChangeArrowheads="1"/>
            </p:cNvSpPr>
            <p:nvPr/>
          </p:nvSpPr>
          <p:spPr bwMode="auto">
            <a:xfrm>
              <a:off x="6000" y="2062"/>
              <a:ext cx="126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01H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2" name="Text Box 8"/>
            <p:cNvSpPr txBox="1">
              <a:spLocks noChangeArrowheads="1"/>
            </p:cNvSpPr>
            <p:nvPr/>
          </p:nvSpPr>
          <p:spPr bwMode="auto">
            <a:xfrm>
              <a:off x="6000" y="2375"/>
              <a:ext cx="126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13H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3" name="Text Box 9"/>
            <p:cNvSpPr txBox="1">
              <a:spLocks noChangeArrowheads="1"/>
            </p:cNvSpPr>
            <p:nvPr/>
          </p:nvSpPr>
          <p:spPr bwMode="auto">
            <a:xfrm>
              <a:off x="6000" y="2687"/>
              <a:ext cx="1260" cy="31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79H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4" name="Text Box 10"/>
            <p:cNvSpPr txBox="1">
              <a:spLocks noChangeArrowheads="1"/>
            </p:cNvSpPr>
            <p:nvPr/>
          </p:nvSpPr>
          <p:spPr bwMode="auto">
            <a:xfrm>
              <a:off x="6000" y="3000"/>
              <a:ext cx="1260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10H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5" name="Text Box 11"/>
            <p:cNvSpPr txBox="1">
              <a:spLocks noChangeArrowheads="1"/>
            </p:cNvSpPr>
            <p:nvPr/>
          </p:nvSpPr>
          <p:spPr bwMode="auto">
            <a:xfrm>
              <a:off x="6000" y="3311"/>
              <a:ext cx="1260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03H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6" name="Text Box 12"/>
            <p:cNvSpPr txBox="1">
              <a:spLocks noChangeArrowheads="1"/>
            </p:cNvSpPr>
            <p:nvPr/>
          </p:nvSpPr>
          <p:spPr bwMode="auto">
            <a:xfrm>
              <a:off x="6000" y="3623"/>
              <a:ext cx="1260" cy="31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00H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7" name="Text Box 13"/>
            <p:cNvSpPr txBox="1">
              <a:spLocks noChangeArrowheads="1"/>
            </p:cNvSpPr>
            <p:nvPr/>
          </p:nvSpPr>
          <p:spPr bwMode="auto">
            <a:xfrm>
              <a:off x="6000" y="3935"/>
              <a:ext cx="126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……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8" name="Text Box 14"/>
            <p:cNvSpPr txBox="1">
              <a:spLocks noChangeArrowheads="1"/>
            </p:cNvSpPr>
            <p:nvPr/>
          </p:nvSpPr>
          <p:spPr bwMode="auto">
            <a:xfrm>
              <a:off x="4200" y="1595"/>
              <a:ext cx="1259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EBX = 0100H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79" name="Line 15"/>
            <p:cNvSpPr>
              <a:spLocks noChangeShapeType="1"/>
            </p:cNvSpPr>
            <p:nvPr/>
          </p:nvSpPr>
          <p:spPr bwMode="auto">
            <a:xfrm>
              <a:off x="5460" y="1751"/>
              <a:ext cx="54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80" name="Text Box 16"/>
            <p:cNvSpPr txBox="1">
              <a:spLocks noChangeArrowheads="1"/>
            </p:cNvSpPr>
            <p:nvPr/>
          </p:nvSpPr>
          <p:spPr bwMode="auto">
            <a:xfrm>
              <a:off x="3660" y="3155"/>
              <a:ext cx="1799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400">
                  <a:latin typeface="Times New Roman" pitchFamily="18" charset="0"/>
                </a:rPr>
                <a:t>EBX + AL = 0105H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164881" name="Line 17"/>
            <p:cNvSpPr>
              <a:spLocks noChangeShapeType="1"/>
            </p:cNvSpPr>
            <p:nvPr/>
          </p:nvSpPr>
          <p:spPr bwMode="auto">
            <a:xfrm>
              <a:off x="5459" y="3311"/>
              <a:ext cx="54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58BDDAC-311C-496C-913E-9622DB623F0C}" type="slidenum">
              <a:rPr lang="zh-CN" altLang="en-US">
                <a:ea typeface="宋体" pitchFamily="2" charset="-122"/>
              </a:rPr>
              <a:pPr/>
              <a:t>31</a:t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29699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4D7EE23-52ED-4DC9-9194-3A74B745E93F}" type="datetime1">
              <a:rPr lang="zh-CN" altLang="en-US">
                <a:latin typeface="Arial" pitchFamily="34" charset="0"/>
                <a:ea typeface="宋体" pitchFamily="2" charset="-122"/>
              </a:rPr>
              <a:pPr/>
              <a:t>2018/4/11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算术运算指令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算术运算是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IA-32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指令系统中另外一种基本的操作，</a:t>
            </a:r>
            <a:r>
              <a:rPr lang="zh-CN" altLang="en-US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可以用来执行字节，字或双字的二进制加减乘除算术运算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eaLnBrk="1" hangingPunct="1"/>
            <a:r>
              <a:rPr lang="zh-CN" altLang="en-US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这类指令根据计算结果设置相应标志位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ADC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INC</a:t>
            </a:r>
          </a:p>
          <a:p>
            <a:pPr lvl="1"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SUB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SBB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DEC</a:t>
            </a:r>
          </a:p>
          <a:p>
            <a:pPr lvl="1"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MUL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IMUL</a:t>
            </a:r>
          </a:p>
          <a:p>
            <a:pPr lvl="1"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DIV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IDIV </a:t>
            </a:r>
          </a:p>
          <a:p>
            <a:pPr lvl="1"/>
            <a:r>
              <a:rPr lang="en-US" altLang="zh-CN" dirty="0" smtClean="0">
                <a:hlinkClick r:id="rId2" action="ppaction://hlinksldjump"/>
              </a:rPr>
              <a:t>CMP</a:t>
            </a:r>
            <a:r>
              <a:rPr lang="zh-CN" altLang="en-US" dirty="0" smtClean="0">
                <a:hlinkClick r:id="rId2" action="ppaction://hlinksldjump"/>
              </a:rPr>
              <a:t>指令 </a:t>
            </a:r>
            <a:endParaRPr lang="zh-CN" altLang="en-US" dirty="0" smtClean="0"/>
          </a:p>
          <a:p>
            <a:pPr lvl="1"/>
            <a:r>
              <a:rPr lang="en-US" altLang="zh-CN" dirty="0" smtClean="0">
                <a:hlinkClick r:id="rId3" action="ppaction://hlinksldjump"/>
              </a:rPr>
              <a:t>NEG</a:t>
            </a:r>
            <a:r>
              <a:rPr lang="zh-CN" altLang="en-US" dirty="0" smtClean="0">
                <a:hlinkClick r:id="rId3" action="ppaction://hlinksldjump"/>
              </a:rPr>
              <a:t>指令 </a:t>
            </a:r>
            <a:endParaRPr lang="zh-CN" altLang="en-US" dirty="0" smtClean="0"/>
          </a:p>
          <a:p>
            <a:pPr lvl="1" eaLnBrk="1" hangingPunct="1"/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2.2.3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算术指令 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hlinkClick r:id="rId2" action="ppaction://hlinksldjump"/>
              </a:rPr>
              <a:t>加法指令 </a:t>
            </a:r>
            <a:endParaRPr lang="zh-CN" altLang="en-US" dirty="0"/>
          </a:p>
          <a:p>
            <a:r>
              <a:rPr lang="zh-CN" altLang="en-US" dirty="0">
                <a:hlinkClick r:id="rId3" action="ppaction://hlinksldjump"/>
              </a:rPr>
              <a:t>减法指令</a:t>
            </a:r>
            <a:endParaRPr lang="zh-CN" altLang="en-US" dirty="0"/>
          </a:p>
          <a:p>
            <a:r>
              <a:rPr lang="en-US" altLang="zh-CN" dirty="0">
                <a:hlinkClick r:id="rId4" action="ppaction://hlinksldjump"/>
              </a:rPr>
              <a:t>CMP</a:t>
            </a:r>
            <a:r>
              <a:rPr lang="zh-CN" altLang="en-US" dirty="0">
                <a:hlinkClick r:id="rId4" action="ppaction://hlinksldjump"/>
              </a:rPr>
              <a:t>指令 </a:t>
            </a:r>
            <a:endParaRPr lang="zh-CN" altLang="en-US" dirty="0"/>
          </a:p>
          <a:p>
            <a:r>
              <a:rPr lang="en-US" altLang="zh-CN" dirty="0">
                <a:hlinkClick r:id="rId5" action="ppaction://hlinksldjump"/>
              </a:rPr>
              <a:t>NEG</a:t>
            </a:r>
            <a:r>
              <a:rPr lang="zh-CN" altLang="en-US" dirty="0">
                <a:hlinkClick r:id="rId5" action="ppaction://hlinksldjump"/>
              </a:rPr>
              <a:t>指令 </a:t>
            </a:r>
            <a:endParaRPr lang="zh-CN" altLang="en-US" dirty="0"/>
          </a:p>
          <a:p>
            <a:r>
              <a:rPr lang="zh-CN" altLang="en-US" dirty="0">
                <a:hlinkClick r:id="rId6" action="ppaction://hlinksldjump"/>
              </a:rPr>
              <a:t>乘法指令 </a:t>
            </a:r>
            <a:endParaRPr lang="zh-CN" altLang="en-US" dirty="0"/>
          </a:p>
          <a:p>
            <a:r>
              <a:rPr lang="zh-CN" altLang="en-US" dirty="0">
                <a:hlinkClick r:id="rId7" action="ppaction://hlinksldjump"/>
              </a:rPr>
              <a:t>除法指令 </a:t>
            </a:r>
            <a:endParaRPr lang="zh-CN" altLang="en-US" dirty="0"/>
          </a:p>
        </p:txBody>
      </p:sp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7667625" y="56610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Verdana" pitchFamily="34" charset="0"/>
                <a:hlinkClick r:id="rId8" action="ppaction://hlinksldjump"/>
              </a:rPr>
              <a:t>返回</a:t>
            </a:r>
            <a:endParaRPr lang="zh-CN" altLang="en-US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0C4F7F4-5B84-4989-B09C-5B8ACE482DA1}" type="slidenum">
              <a:rPr lang="zh-CN" altLang="en-US">
                <a:ea typeface="宋体" pitchFamily="2" charset="-122"/>
              </a:rPr>
              <a:pPr/>
              <a:t>33</a:t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31747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82A5F3FF-AF9C-4195-8A4E-D3035CA319DA}" type="datetime1">
              <a:rPr lang="zh-CN" altLang="en-US">
                <a:latin typeface="Arial" pitchFamily="34" charset="0"/>
                <a:ea typeface="宋体" pitchFamily="2" charset="-122"/>
              </a:rPr>
              <a:pPr/>
              <a:t>2018/4/11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加法指令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执行双字，字或字节的加法运算。 </a:t>
            </a:r>
          </a:p>
          <a:p>
            <a:pPr eaLnBrk="1" hangingPunct="1"/>
            <a:r>
              <a:rPr lang="zh-CN" altLang="en-US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指令将目的操作数加上源操作数，结果送到目的操作数</a:t>
            </a:r>
            <a:endParaRPr lang="en-US" altLang="zh-CN" dirty="0" smtClean="0">
              <a:solidFill>
                <a:srgbClr val="CC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：无符号算术运算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DST+SRC</a:t>
            </a:r>
            <a:endParaRPr lang="zh-CN" altLang="en-US" dirty="0" smtClean="0">
              <a:latin typeface="微软雅黑" pitchFamily="34" charset="-122"/>
              <a:ea typeface="微软雅黑" pitchFamily="34" charset="-122"/>
            </a:endParaRPr>
          </a:p>
          <a:p>
            <a:pPr lvl="1"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ADC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：带进位算术运算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DST+SRC+CF</a:t>
            </a:r>
            <a:endParaRPr lang="zh-CN" altLang="en-US" dirty="0" smtClean="0">
              <a:latin typeface="微软雅黑" pitchFamily="34" charset="-122"/>
              <a:ea typeface="微软雅黑" pitchFamily="34" charset="-122"/>
            </a:endParaRPr>
          </a:p>
          <a:p>
            <a:pPr lvl="1" eaLnBrk="1" hangingPunct="1"/>
            <a:endParaRPr lang="zh-CN" altLang="en-US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750" name="Rectangle 4"/>
          <p:cNvSpPr>
            <a:spLocks noChangeArrowheads="1"/>
          </p:cNvSpPr>
          <p:nvPr/>
        </p:nvSpPr>
        <p:spPr bwMode="auto">
          <a:xfrm>
            <a:off x="571472" y="5357826"/>
            <a:ext cx="8229600" cy="895350"/>
          </a:xfrm>
          <a:prstGeom prst="rect">
            <a:avLst/>
          </a:prstGeom>
          <a:solidFill>
            <a:srgbClr val="99CC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sz="2400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ADD </a:t>
            </a:r>
            <a:r>
              <a:rPr lang="en-US" altLang="zh-CN" sz="2400" dirty="0" err="1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reg,imm</a:t>
            </a:r>
            <a:r>
              <a:rPr lang="en-US" altLang="zh-CN" sz="2400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400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mem</a:t>
            </a:r>
            <a:r>
              <a:rPr lang="zh-CN" altLang="en-US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reg←reg</a:t>
            </a:r>
            <a:r>
              <a:rPr lang="zh-CN" altLang="en-US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imm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mem</a:t>
            </a:r>
            <a:endParaRPr lang="en-US" altLang="zh-CN" sz="24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400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ADD </a:t>
            </a:r>
            <a:r>
              <a:rPr lang="en-US" altLang="zh-CN" sz="2400" dirty="0" err="1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mem,imm</a:t>
            </a:r>
            <a:r>
              <a:rPr lang="en-US" altLang="zh-CN" sz="2400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4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mem←mem</a:t>
            </a:r>
            <a:r>
              <a:rPr lang="zh-CN" altLang="en-US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imm</a:t>
            </a:r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endParaRPr lang="zh-CN" altLang="en-US" sz="24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7422" y="4286256"/>
            <a:ext cx="607223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要加的整数长于微处理器每次能加的位元数，就要分开来加，高位字节的结果取决于低位字节相加时有没有进位</a:t>
            </a:r>
            <a:endParaRPr lang="zh-CN" altLang="en-US" sz="2000" dirty="0"/>
          </a:p>
        </p:txBody>
      </p:sp>
      <p:sp>
        <p:nvSpPr>
          <p:cNvPr id="12" name="圆角右箭头 11"/>
          <p:cNvSpPr/>
          <p:nvPr/>
        </p:nvSpPr>
        <p:spPr>
          <a:xfrm rot="10800000" flipH="1">
            <a:off x="1857356" y="4214818"/>
            <a:ext cx="428628" cy="64294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4E75CF7-F469-4F23-A41C-12FB4952F1F7}" type="slidenum">
              <a:rPr lang="zh-CN" altLang="en-US">
                <a:ea typeface="宋体" pitchFamily="2" charset="-122"/>
              </a:rPr>
              <a:pPr/>
              <a:t>34</a:t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32771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6371D10B-BD09-410A-93C0-DC433E848C49}" type="datetime1">
              <a:rPr lang="zh-CN" altLang="en-US">
                <a:latin typeface="Arial" pitchFamily="34" charset="0"/>
                <a:ea typeface="宋体" pitchFamily="2" charset="-122"/>
              </a:rPr>
              <a:pPr/>
              <a:t>2018/4/11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96200" cy="4876800"/>
          </a:xfrm>
          <a:solidFill>
            <a:schemeClr val="bg1"/>
          </a:solidFill>
        </p:spPr>
        <p:txBody>
          <a:bodyPr lIns="0" rIns="0"/>
          <a:lstStyle/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.data 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var1 dword 10000h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var2 dword 2000h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endParaRPr lang="en-US" altLang="zh-CN" sz="2400" smtClean="0">
              <a:solidFill>
                <a:schemeClr val="tx2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.code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start: 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al,0fbh	   </a:t>
            </a:r>
            <a:r>
              <a:rPr lang="en-US" altLang="zh-CN" sz="24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;al=0fbh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add al,07h		</a:t>
            </a:r>
            <a:r>
              <a:rPr lang="en-US" altLang="zh-CN" sz="24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;al=02h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eax, var1		</a:t>
            </a:r>
            <a:r>
              <a:rPr lang="en-US" altLang="zh-CN" sz="24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;eax=10000h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add eax, var2		</a:t>
            </a:r>
            <a:r>
              <a:rPr lang="en-US" altLang="zh-CN" sz="24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;eax=12000h</a:t>
            </a:r>
          </a:p>
          <a:p>
            <a:pPr marL="0" indent="390525" algn="just" eaLnBrk="1" hangingPunct="1">
              <a:lnSpc>
                <a:spcPct val="90000"/>
              </a:lnSpc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ret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3363" y="311150"/>
            <a:ext cx="8662987" cy="6234113"/>
            <a:chOff x="147" y="196"/>
            <a:chExt cx="5457" cy="3927"/>
          </a:xfrm>
        </p:grpSpPr>
        <p:pic>
          <p:nvPicPr>
            <p:cNvPr id="32775" name="Picture 4" descr="D2b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6" y="790"/>
              <a:ext cx="325" cy="2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6" name="Picture 5" descr="D2a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010001"/>
                </a:clrFrom>
                <a:clrTo>
                  <a:srgbClr val="0100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" y="196"/>
              <a:ext cx="5457" cy="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7" name="Picture 6" descr="D2b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000100"/>
                </a:clrFrom>
                <a:clrTo>
                  <a:srgbClr val="0001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270" y="1047"/>
              <a:ext cx="325" cy="2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8" name="Picture 7" descr="D2c"/>
            <p:cNvPicPr>
              <a:picLocks noChangeArrowheads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" y="3727"/>
              <a:ext cx="5411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79" name="Rectangle 8"/>
            <p:cNvSpPr>
              <a:spLocks noChangeArrowheads="1"/>
            </p:cNvSpPr>
            <p:nvPr/>
          </p:nvSpPr>
          <p:spPr bwMode="auto">
            <a:xfrm>
              <a:off x="3294" y="3696"/>
              <a:ext cx="2064" cy="2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74" name="AutoShape 9"/>
          <p:cNvSpPr>
            <a:spLocks noGrp="1" noChangeArrowheads="1"/>
          </p:cNvSpPr>
          <p:nvPr>
            <p:ph type="title"/>
          </p:nvPr>
        </p:nvSpPr>
        <p:spPr>
          <a:xfrm>
            <a:off x="4759325" y="484188"/>
            <a:ext cx="4122738" cy="741362"/>
          </a:xfrm>
          <a:prstGeom prst="flowChartAlternateProcess">
            <a:avLst/>
          </a:prstGeo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4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加法指令</a:t>
            </a:r>
            <a:r>
              <a:rPr lang="zh-CN" altLang="en-US" sz="4000" smtClean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</p:cSld>
  <p:clrMapOvr>
    <a:masterClrMapping/>
  </p:clrMapOvr>
  <p:transition spd="med" advClick="0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0CC1FAD-5172-40AF-9BE0-02BA82EF14B0}" type="slidenum">
              <a:rPr lang="zh-CN" altLang="en-US">
                <a:ea typeface="宋体" pitchFamily="2" charset="-122"/>
              </a:rPr>
              <a:pPr/>
              <a:t>35</a:t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33795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BF03631E-8EC4-4ED2-88DC-DB407097973B}" type="datetime1">
              <a:rPr lang="zh-CN" altLang="en-US">
                <a:latin typeface="Arial" pitchFamily="34" charset="0"/>
                <a:ea typeface="宋体" pitchFamily="2" charset="-122"/>
              </a:rPr>
              <a:pPr/>
              <a:t>2018/4/11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增量指令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INC</a:t>
            </a:r>
            <a:r>
              <a:rPr lang="zh-CN" altLang="en-US" sz="36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6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increment</a:t>
            </a:r>
            <a:r>
              <a:rPr lang="zh-CN" altLang="en-US" sz="36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1313"/>
            <a:ext cx="8229600" cy="1747837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INC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指令对操作数加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（增量）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zh-CN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INC</a:t>
            </a:r>
            <a:r>
              <a:rPr lang="zh-CN" altLang="en-US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指令不影响</a:t>
            </a:r>
            <a:r>
              <a:rPr lang="en-US" altLang="zh-CN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进位标志，按定义设置其他状态标志</a:t>
            </a:r>
          </a:p>
        </p:txBody>
      </p:sp>
      <p:sp>
        <p:nvSpPr>
          <p:cNvPr id="669700" name="AutoShape 4"/>
          <p:cNvSpPr>
            <a:spLocks noChangeArrowheads="1"/>
          </p:cNvSpPr>
          <p:nvPr/>
        </p:nvSpPr>
        <p:spPr bwMode="auto">
          <a:xfrm>
            <a:off x="1066800" y="3359150"/>
            <a:ext cx="5197475" cy="1066800"/>
          </a:xfrm>
          <a:prstGeom prst="flowChartAlternateProcess">
            <a:avLst/>
          </a:prstGeom>
          <a:solidFill>
            <a:srgbClr val="99CCFF"/>
          </a:solidFill>
          <a:ln w="12700" cap="sq">
            <a:noFill/>
            <a:miter lim="800000"/>
            <a:headEnd type="none" w="sm" len="sm"/>
            <a:tailEnd type="none" w="sm" len="sm"/>
          </a:ln>
          <a:effectLst>
            <a:prstShdw prst="shdw13" dist="53882" dir="13500000">
              <a:srgbClr val="808080"/>
            </a:prstShdw>
          </a:effectLst>
        </p:spPr>
        <p:txBody>
          <a:bodyPr/>
          <a:lstStyle/>
          <a:p>
            <a:pPr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INC reg/mem</a:t>
            </a:r>
          </a:p>
          <a:p>
            <a:pPr>
              <a:lnSpc>
                <a:spcPct val="6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reg/mem←reg/mem</a:t>
            </a:r>
            <a:r>
              <a:rPr lang="zh-CN" altLang="en-US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669701" name="Rectangle 5"/>
          <p:cNvSpPr>
            <a:spLocks noChangeArrowheads="1"/>
          </p:cNvSpPr>
          <p:nvPr/>
        </p:nvSpPr>
        <p:spPr bwMode="auto">
          <a:xfrm>
            <a:off x="4419600" y="4924425"/>
            <a:ext cx="3962400" cy="1219200"/>
          </a:xfrm>
          <a:prstGeom prst="rect">
            <a:avLst/>
          </a:prstGeom>
          <a:solidFill>
            <a:schemeClr val="bg1"/>
          </a:solidFill>
          <a:ln w="28575">
            <a:solidFill>
              <a:srgbClr val="FF3300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indent="100013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2471738" algn="l"/>
              </a:tabLst>
            </a:pPr>
            <a:r>
              <a:rPr lang="en-US" altLang="zh-CN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inc </a:t>
            </a:r>
            <a:r>
              <a:rPr lang="en-US" altLang="zh-CN" sz="28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ebx</a:t>
            </a:r>
            <a:endParaRPr lang="en-US" altLang="zh-CN" sz="28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indent="100013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2471738" algn="l"/>
              </a:tabLst>
            </a:pPr>
            <a:r>
              <a:rPr lang="en-US" altLang="zh-CN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inc byte </a:t>
            </a:r>
            <a:r>
              <a:rPr lang="en-US" altLang="zh-CN" sz="28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ptr</a:t>
            </a:r>
            <a:r>
              <a:rPr lang="en-US" altLang="zh-CN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[</a:t>
            </a:r>
            <a:r>
              <a:rPr lang="en-US" altLang="zh-CN" sz="28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ebx</a:t>
            </a:r>
            <a:r>
              <a:rPr lang="en-US" altLang="zh-CN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]</a:t>
            </a:r>
            <a:r>
              <a:rPr lang="en-US" altLang="zh-CN" sz="28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6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0" grpId="0" animBg="1" autoUpdateAnimBg="0"/>
      <p:bldP spid="669701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AAA</a:t>
            </a:r>
            <a:r>
              <a:rPr lang="zh-CN" altLang="en-US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DAA</a:t>
            </a:r>
            <a:r>
              <a:rPr lang="zh-CN" altLang="en-US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p"/>
            </a:pPr>
            <a:r>
              <a:rPr lang="en-US" altLang="zh-CN" dirty="0"/>
              <a:t>80x86</a:t>
            </a:r>
            <a:r>
              <a:rPr lang="zh-CN" altLang="en-US" dirty="0"/>
              <a:t>提供两条指令用于支持</a:t>
            </a:r>
            <a:r>
              <a:rPr lang="en-US" altLang="zh-CN" dirty="0"/>
              <a:t>BCD</a:t>
            </a:r>
            <a:r>
              <a:rPr lang="zh-CN" altLang="en-US" dirty="0"/>
              <a:t>算术运算指令： </a:t>
            </a:r>
            <a:r>
              <a:rPr lang="en-US" altLang="zh-CN" dirty="0"/>
              <a:t>AAA</a:t>
            </a:r>
            <a:r>
              <a:rPr lang="zh-CN" altLang="en-US" dirty="0"/>
              <a:t>指令是</a:t>
            </a:r>
            <a:r>
              <a:rPr lang="en-US" altLang="zh-CN" dirty="0"/>
              <a:t>ASCII</a:t>
            </a:r>
            <a:r>
              <a:rPr lang="zh-CN" altLang="en-US" dirty="0"/>
              <a:t>加法调整指令，</a:t>
            </a:r>
            <a:r>
              <a:rPr lang="en-US" altLang="zh-CN" dirty="0"/>
              <a:t>DAA</a:t>
            </a:r>
            <a:r>
              <a:rPr lang="zh-CN" altLang="en-US" dirty="0"/>
              <a:t>指令是十进制加法调整指令。</a:t>
            </a:r>
            <a:r>
              <a:rPr lang="en-US" altLang="zh-CN" dirty="0"/>
              <a:t>BCD</a:t>
            </a:r>
            <a:r>
              <a:rPr lang="zh-CN" altLang="en-US" dirty="0"/>
              <a:t>码是十进制数（</a:t>
            </a:r>
            <a:r>
              <a:rPr lang="en-US" altLang="zh-CN" dirty="0"/>
              <a:t>0-9</a:t>
            </a:r>
            <a:r>
              <a:rPr lang="zh-CN" altLang="en-US" dirty="0"/>
              <a:t>）的</a:t>
            </a:r>
            <a:r>
              <a:rPr lang="en-US" altLang="zh-CN" dirty="0"/>
              <a:t>4</a:t>
            </a:r>
            <a:r>
              <a:rPr lang="zh-CN" altLang="en-US" dirty="0"/>
              <a:t>位二进制码表示；非压缩</a:t>
            </a:r>
            <a:r>
              <a:rPr lang="en-US" altLang="zh-CN" dirty="0"/>
              <a:t>BCD</a:t>
            </a:r>
            <a:r>
              <a:rPr lang="zh-CN" altLang="en-US" dirty="0"/>
              <a:t>码（</a:t>
            </a:r>
            <a:r>
              <a:rPr lang="en-US" altLang="zh-CN" dirty="0"/>
              <a:t>ASCII</a:t>
            </a:r>
            <a:r>
              <a:rPr lang="zh-CN" altLang="en-US" dirty="0"/>
              <a:t>码的数值表示）是用一个字节表示一个十进制数，其中高</a:t>
            </a:r>
            <a:r>
              <a:rPr lang="en-US" altLang="zh-CN" dirty="0"/>
              <a:t>4</a:t>
            </a:r>
            <a:r>
              <a:rPr lang="zh-CN" altLang="en-US" dirty="0"/>
              <a:t>位为</a:t>
            </a:r>
            <a:r>
              <a:rPr lang="en-US" altLang="zh-CN" dirty="0"/>
              <a:t>0</a:t>
            </a:r>
            <a:r>
              <a:rPr lang="zh-CN" altLang="en-US" dirty="0"/>
              <a:t>，低</a:t>
            </a:r>
            <a:r>
              <a:rPr lang="en-US" altLang="zh-CN" dirty="0"/>
              <a:t>4</a:t>
            </a:r>
            <a:r>
              <a:rPr lang="zh-CN" altLang="en-US" dirty="0"/>
              <a:t>位为</a:t>
            </a:r>
            <a:r>
              <a:rPr lang="en-US" altLang="zh-CN" dirty="0"/>
              <a:t>BCD</a:t>
            </a:r>
            <a:r>
              <a:rPr lang="zh-CN" altLang="en-US" dirty="0"/>
              <a:t>码。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692150"/>
            <a:ext cx="8001000" cy="53276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100" dirty="0"/>
              <a:t>例 假设</a:t>
            </a:r>
            <a:r>
              <a:rPr lang="en-US" altLang="zh-CN" sz="2100" dirty="0"/>
              <a:t>AX</a:t>
            </a:r>
            <a:r>
              <a:rPr lang="zh-CN" altLang="en-US" sz="2100" dirty="0"/>
              <a:t>和</a:t>
            </a:r>
            <a:r>
              <a:rPr lang="en-US" altLang="zh-CN" sz="2100" dirty="0"/>
              <a:t>BX</a:t>
            </a:r>
            <a:r>
              <a:rPr lang="zh-CN" altLang="en-US" sz="2100" dirty="0"/>
              <a:t>寄存器中均存有一个压缩</a:t>
            </a:r>
            <a:r>
              <a:rPr lang="en-US" altLang="zh-CN" sz="2100" dirty="0"/>
              <a:t>BCD</a:t>
            </a:r>
            <a:r>
              <a:rPr lang="zh-CN" altLang="en-US" sz="2100" dirty="0"/>
              <a:t>码表示的</a:t>
            </a:r>
            <a:r>
              <a:rPr lang="en-US" altLang="zh-CN" sz="2100" dirty="0"/>
              <a:t>4</a:t>
            </a:r>
            <a:r>
              <a:rPr lang="zh-CN" altLang="en-US" sz="2100" dirty="0"/>
              <a:t>位数，如（</a:t>
            </a:r>
            <a:r>
              <a:rPr lang="en-US" altLang="zh-CN" sz="2100" dirty="0"/>
              <a:t>AX</a:t>
            </a:r>
            <a:r>
              <a:rPr lang="zh-CN" altLang="en-US" sz="2100" dirty="0"/>
              <a:t>）</a:t>
            </a:r>
            <a:r>
              <a:rPr lang="en-US" altLang="zh-CN" sz="2100" dirty="0"/>
              <a:t>=3486H</a:t>
            </a:r>
            <a:r>
              <a:rPr lang="zh-CN" altLang="en-US" sz="2100" dirty="0"/>
              <a:t>，（</a:t>
            </a:r>
            <a:r>
              <a:rPr lang="en-US" altLang="zh-CN" sz="2100" dirty="0"/>
              <a:t>BX</a:t>
            </a:r>
            <a:r>
              <a:rPr lang="zh-CN" altLang="en-US" sz="2100" dirty="0"/>
              <a:t>）</a:t>
            </a:r>
            <a:r>
              <a:rPr lang="en-US" altLang="zh-CN" sz="2100" dirty="0"/>
              <a:t>=3769H</a:t>
            </a:r>
            <a:r>
              <a:rPr lang="zh-CN" altLang="en-US" sz="2100" dirty="0"/>
              <a:t>，则下例代码完成</a:t>
            </a:r>
            <a:r>
              <a:rPr lang="en-US" altLang="zh-CN" sz="2100" dirty="0"/>
              <a:t>AX</a:t>
            </a:r>
            <a:r>
              <a:rPr lang="zh-CN" altLang="en-US" sz="2100" dirty="0"/>
              <a:t>和</a:t>
            </a:r>
            <a:r>
              <a:rPr lang="en-US" altLang="zh-CN" sz="2100" dirty="0"/>
              <a:t>BX</a:t>
            </a:r>
            <a:r>
              <a:rPr lang="zh-CN" altLang="en-US" sz="2100" dirty="0"/>
              <a:t>中的</a:t>
            </a:r>
            <a:r>
              <a:rPr lang="en-US" altLang="zh-CN" sz="2100" dirty="0"/>
              <a:t>BCD</a:t>
            </a:r>
            <a:r>
              <a:rPr lang="zh-CN" altLang="en-US" sz="2100" dirty="0"/>
              <a:t>数相加，加法的结果为</a:t>
            </a:r>
            <a:r>
              <a:rPr lang="en-US" altLang="zh-CN" sz="2100" dirty="0"/>
              <a:t>7255H</a:t>
            </a:r>
            <a:r>
              <a:rPr lang="zh-CN" altLang="en-US" sz="2100" dirty="0"/>
              <a:t>，保存到</a:t>
            </a:r>
            <a:r>
              <a:rPr lang="en-US" altLang="zh-CN" sz="2100" dirty="0"/>
              <a:t>DX</a:t>
            </a:r>
            <a:r>
              <a:rPr lang="zh-CN" altLang="en-US" sz="2100" dirty="0"/>
              <a:t>寄存器中。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100" dirty="0"/>
              <a:t>				</a:t>
            </a:r>
            <a:r>
              <a:rPr lang="en-US" altLang="zh-CN" sz="2100" b="1" dirty="0">
                <a:solidFill>
                  <a:srgbClr val="00B050"/>
                </a:solidFill>
              </a:rPr>
              <a:t>mov ax,3486h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B050"/>
                </a:solidFill>
              </a:rPr>
              <a:t>				mov bx,3769h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B050"/>
                </a:solidFill>
              </a:rPr>
              <a:t>				add </a:t>
            </a:r>
            <a:r>
              <a:rPr lang="en-US" altLang="zh-CN" sz="2100" b="1" dirty="0" err="1">
                <a:solidFill>
                  <a:srgbClr val="00B050"/>
                </a:solidFill>
              </a:rPr>
              <a:t>al,bl</a:t>
            </a:r>
            <a:endParaRPr lang="en-US" altLang="zh-CN" sz="2100" b="1" dirty="0">
              <a:solidFill>
                <a:srgbClr val="00B05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B050"/>
                </a:solidFill>
              </a:rPr>
              <a:t>				</a:t>
            </a:r>
            <a:r>
              <a:rPr lang="en-US" altLang="zh-CN" sz="2100" b="1" dirty="0" err="1">
                <a:solidFill>
                  <a:srgbClr val="00B050"/>
                </a:solidFill>
              </a:rPr>
              <a:t>daa</a:t>
            </a:r>
            <a:r>
              <a:rPr lang="en-US" altLang="zh-CN" sz="2100" b="1" dirty="0"/>
              <a:t>					</a:t>
            </a:r>
            <a:r>
              <a:rPr lang="zh-CN" altLang="en-US" sz="2100" dirty="0"/>
              <a:t>；执行前（</a:t>
            </a:r>
            <a:r>
              <a:rPr lang="en-US" altLang="zh-CN" sz="2100" dirty="0"/>
              <a:t>al</a:t>
            </a:r>
            <a:r>
              <a:rPr lang="zh-CN" altLang="en-US" sz="2100" dirty="0"/>
              <a:t>）</a:t>
            </a:r>
            <a:r>
              <a:rPr lang="en-US" altLang="zh-CN" sz="2100" dirty="0"/>
              <a:t>=0EFH</a:t>
            </a:r>
            <a:r>
              <a:rPr lang="zh-CN" altLang="en-US" sz="2100" dirty="0"/>
              <a:t>，执行后（</a:t>
            </a:r>
            <a:r>
              <a:rPr lang="en-US" altLang="zh-CN" sz="2100" dirty="0"/>
              <a:t>al</a:t>
            </a:r>
            <a:r>
              <a:rPr lang="zh-CN" altLang="en-US" sz="2100" dirty="0"/>
              <a:t>）</a:t>
            </a:r>
            <a:r>
              <a:rPr lang="en-US" altLang="zh-CN" sz="2100" dirty="0"/>
              <a:t>=55H</a:t>
            </a:r>
            <a:endParaRPr lang="en-US" altLang="zh-CN" sz="21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100" b="1" dirty="0"/>
              <a:t>				</a:t>
            </a:r>
            <a:r>
              <a:rPr lang="en-US" altLang="zh-CN" sz="2100" b="1" dirty="0">
                <a:solidFill>
                  <a:srgbClr val="00B050"/>
                </a:solidFill>
              </a:rPr>
              <a:t>mov </a:t>
            </a:r>
            <a:r>
              <a:rPr lang="en-US" altLang="zh-CN" sz="2100" b="1" dirty="0" err="1">
                <a:solidFill>
                  <a:srgbClr val="00B050"/>
                </a:solidFill>
              </a:rPr>
              <a:t>dl,al</a:t>
            </a:r>
            <a:endParaRPr lang="en-US" altLang="zh-CN" sz="2100" b="1" dirty="0">
              <a:solidFill>
                <a:srgbClr val="00B05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B050"/>
                </a:solidFill>
              </a:rPr>
              <a:t>				mov </a:t>
            </a:r>
            <a:r>
              <a:rPr lang="en-US" altLang="zh-CN" sz="2100" b="1" dirty="0" err="1">
                <a:solidFill>
                  <a:srgbClr val="00B050"/>
                </a:solidFill>
              </a:rPr>
              <a:t>al,ah</a:t>
            </a:r>
            <a:endParaRPr lang="en-US" altLang="zh-CN" sz="2100" b="1" dirty="0">
              <a:solidFill>
                <a:srgbClr val="00B05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B050"/>
                </a:solidFill>
              </a:rPr>
              <a:t>				</a:t>
            </a:r>
            <a:r>
              <a:rPr lang="en-US" altLang="zh-CN" sz="2100" b="1" dirty="0" err="1">
                <a:solidFill>
                  <a:srgbClr val="00B050"/>
                </a:solidFill>
              </a:rPr>
              <a:t>adc</a:t>
            </a:r>
            <a:r>
              <a:rPr lang="en-US" altLang="zh-CN" sz="2100" b="1" dirty="0">
                <a:solidFill>
                  <a:srgbClr val="00B050"/>
                </a:solidFill>
              </a:rPr>
              <a:t> </a:t>
            </a:r>
            <a:r>
              <a:rPr lang="en-US" altLang="zh-CN" sz="2100" b="1" dirty="0" err="1">
                <a:solidFill>
                  <a:srgbClr val="00B050"/>
                </a:solidFill>
              </a:rPr>
              <a:t>al,bh</a:t>
            </a:r>
            <a:endParaRPr lang="en-US" altLang="zh-CN" sz="2100" b="1" dirty="0">
              <a:solidFill>
                <a:srgbClr val="00B05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B050"/>
                </a:solidFill>
              </a:rPr>
              <a:t>				</a:t>
            </a:r>
            <a:r>
              <a:rPr lang="en-US" altLang="zh-CN" sz="2100" b="1" dirty="0" err="1">
                <a:solidFill>
                  <a:srgbClr val="00B050"/>
                </a:solidFill>
              </a:rPr>
              <a:t>daa</a:t>
            </a:r>
            <a:r>
              <a:rPr lang="en-US" altLang="zh-CN" sz="2100" b="1" dirty="0"/>
              <a:t>					</a:t>
            </a:r>
            <a:r>
              <a:rPr lang="zh-CN" altLang="en-US" sz="2100" dirty="0"/>
              <a:t>；执行前（</a:t>
            </a:r>
            <a:r>
              <a:rPr lang="en-US" altLang="zh-CN" sz="2100" dirty="0"/>
              <a:t>al</a:t>
            </a:r>
            <a:r>
              <a:rPr lang="zh-CN" altLang="en-US" sz="2100" dirty="0"/>
              <a:t>）</a:t>
            </a:r>
            <a:r>
              <a:rPr lang="en-US" altLang="zh-CN" sz="2100" dirty="0"/>
              <a:t>=6CH</a:t>
            </a:r>
            <a:r>
              <a:rPr lang="zh-CN" altLang="en-US" sz="2100" dirty="0"/>
              <a:t>，执行后（</a:t>
            </a:r>
            <a:r>
              <a:rPr lang="en-US" altLang="zh-CN" sz="2100" dirty="0"/>
              <a:t>al</a:t>
            </a:r>
            <a:r>
              <a:rPr lang="zh-CN" altLang="en-US" sz="2100" dirty="0"/>
              <a:t>）</a:t>
            </a:r>
            <a:r>
              <a:rPr lang="en-US" altLang="zh-CN" sz="2100" dirty="0"/>
              <a:t>=72H</a:t>
            </a:r>
            <a:endParaRPr lang="en-US" altLang="zh-CN" sz="21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100" b="1" dirty="0"/>
              <a:t>				mov </a:t>
            </a:r>
            <a:r>
              <a:rPr lang="en-US" altLang="zh-CN" sz="2100" b="1" dirty="0" err="1"/>
              <a:t>dh,al</a:t>
            </a:r>
            <a:endParaRPr lang="en-US" altLang="zh-CN" sz="2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421AA17-A98E-4FC0-809E-67098F426CDC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34819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4026E556-CE77-41DC-BDA3-39C8A930DA88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减法指令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11313"/>
            <a:ext cx="7391400" cy="1905000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SUB</a:t>
            </a:r>
            <a:r>
              <a:rPr lang="zh-CN" altLang="en-US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指令将目的操作数减去源操作数，结果送到目的操作数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SUB</a:t>
            </a:r>
            <a:r>
              <a:rPr lang="zh-CN" altLang="en-US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指令按照定义相应设置状态标志</a:t>
            </a:r>
          </a:p>
        </p:txBody>
      </p:sp>
      <p:sp>
        <p:nvSpPr>
          <p:cNvPr id="670724" name="AutoShape 4"/>
          <p:cNvSpPr>
            <a:spLocks noChangeArrowheads="1"/>
          </p:cNvSpPr>
          <p:nvPr/>
        </p:nvSpPr>
        <p:spPr bwMode="auto">
          <a:xfrm>
            <a:off x="1143000" y="3657600"/>
            <a:ext cx="7162800" cy="2286000"/>
          </a:xfrm>
          <a:prstGeom prst="flowChartAlternateProcess">
            <a:avLst/>
          </a:prstGeom>
          <a:solidFill>
            <a:srgbClr val="99CCFF"/>
          </a:solidFill>
          <a:ln w="12700" cap="sq">
            <a:noFill/>
            <a:miter lim="800000"/>
            <a:headEnd type="none" w="sm" len="sm"/>
            <a:tailEnd type="none" w="sm" len="sm"/>
          </a:ln>
          <a:effectLst>
            <a:prstShdw prst="shdw13" dist="53882" dir="13500000">
              <a:srgbClr val="808080"/>
            </a:prstShdw>
          </a:effectLst>
        </p:spPr>
        <p:txBody>
          <a:bodyPr/>
          <a:lstStyle/>
          <a:p>
            <a:pPr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SUB reg,imm/reg/mem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reg←reg</a:t>
            </a:r>
            <a:r>
              <a:rPr lang="zh-CN" altLang="en-US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－</a:t>
            </a:r>
            <a:r>
              <a:rPr lang="en-US" altLang="zh-CN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imm/reg/mem</a:t>
            </a:r>
          </a:p>
          <a:p>
            <a:pPr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SUB mem,imm/reg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mem←mem</a:t>
            </a:r>
            <a:r>
              <a:rPr lang="zh-CN" altLang="en-US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－</a:t>
            </a:r>
            <a:r>
              <a:rPr lang="en-US" altLang="zh-CN" sz="28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imm/reg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7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24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34E891A-B821-4232-A920-71D5F76443B2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35843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D23C3C4-1F90-490B-A966-4BEB5B0107F3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减量指令</a:t>
            </a: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DEC</a:t>
            </a:r>
            <a:r>
              <a:rPr lang="zh-CN" altLang="en-US" sz="3600" b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600" b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decrement</a:t>
            </a:r>
            <a:r>
              <a:rPr lang="zh-CN" altLang="en-US" sz="3600" b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1313"/>
            <a:ext cx="8229600" cy="1747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DEC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指令对操作数减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（减量）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DEC</a:t>
            </a:r>
            <a:r>
              <a:rPr lang="zh-CN" altLang="en-US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指令不影响进位</a:t>
            </a:r>
            <a:r>
              <a:rPr lang="en-US" altLang="zh-CN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标志，按定义设置其他状态标志</a:t>
            </a:r>
          </a:p>
        </p:txBody>
      </p:sp>
      <p:sp>
        <p:nvSpPr>
          <p:cNvPr id="671748" name="AutoShape 4"/>
          <p:cNvSpPr>
            <a:spLocks noChangeArrowheads="1"/>
          </p:cNvSpPr>
          <p:nvPr/>
        </p:nvSpPr>
        <p:spPr bwMode="auto">
          <a:xfrm>
            <a:off x="457200" y="3141663"/>
            <a:ext cx="4279900" cy="1066800"/>
          </a:xfrm>
          <a:prstGeom prst="flowChartAlternateProcess">
            <a:avLst/>
          </a:prstGeom>
          <a:solidFill>
            <a:srgbClr val="99CCFF"/>
          </a:solidFill>
          <a:ln w="12700" cap="sq">
            <a:noFill/>
            <a:miter lim="800000"/>
            <a:headEnd type="none" w="sm" len="sm"/>
            <a:tailEnd type="none" w="sm" len="sm"/>
          </a:ln>
          <a:effectLst>
            <a:prstShdw prst="shdw13" dist="53882" dir="13500000">
              <a:srgbClr val="808080"/>
            </a:prstShdw>
          </a:effectLst>
        </p:spPr>
        <p:txBody>
          <a:bodyPr/>
          <a:lstStyle/>
          <a:p>
            <a:pPr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40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DEC reg/mem</a:t>
            </a:r>
          </a:p>
          <a:p>
            <a:pPr>
              <a:lnSpc>
                <a:spcPct val="6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reg/mem←reg/mem</a:t>
            </a:r>
            <a:r>
              <a:rPr lang="zh-CN" altLang="en-US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－</a:t>
            </a:r>
            <a:r>
              <a:rPr lang="en-US" altLang="zh-CN" sz="24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671749" name="Rectangle 5"/>
          <p:cNvSpPr>
            <a:spLocks noChangeArrowheads="1"/>
          </p:cNvSpPr>
          <p:nvPr/>
        </p:nvSpPr>
        <p:spPr bwMode="auto">
          <a:xfrm>
            <a:off x="4868863" y="3141663"/>
            <a:ext cx="3429000" cy="1066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3300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indent="100013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2471738" algn="l"/>
              </a:tabLst>
            </a:pPr>
            <a:r>
              <a:rPr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dec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ecx</a:t>
            </a:r>
            <a:endParaRPr lang="en-US" altLang="zh-CN" sz="2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100013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2471738" algn="l"/>
              </a:tabLst>
            </a:pPr>
            <a:r>
              <a:rPr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dec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word </a:t>
            </a:r>
            <a:r>
              <a:rPr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ptr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[</a:t>
            </a:r>
            <a:r>
              <a:rPr lang="en-US" altLang="zh-CN" sz="28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esi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]</a:t>
            </a:r>
          </a:p>
        </p:txBody>
      </p:sp>
      <p:sp>
        <p:nvSpPr>
          <p:cNvPr id="671750" name="AutoShape 6"/>
          <p:cNvSpPr>
            <a:spLocks noChangeArrowheads="1"/>
          </p:cNvSpPr>
          <p:nvPr/>
        </p:nvSpPr>
        <p:spPr bwMode="auto">
          <a:xfrm>
            <a:off x="769938" y="4440238"/>
            <a:ext cx="7696200" cy="13716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/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kumimoji="1" lang="zh-CN" altLang="en-US" sz="32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32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INC</a:t>
            </a:r>
            <a:r>
              <a:rPr kumimoji="1" lang="zh-CN" altLang="en-US" sz="32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指令和</a:t>
            </a:r>
            <a:r>
              <a:rPr kumimoji="1" lang="en-US" altLang="zh-CN" sz="32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DEC</a:t>
            </a:r>
            <a:r>
              <a:rPr kumimoji="1" lang="zh-CN" altLang="en-US" sz="320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指令都是单操作数指令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kumimoji="1" lang="zh-CN" altLang="en-US" sz="32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 主要用于对计数器和地址指针的调整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7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 animBg="1" autoUpdateAnimBg="0"/>
      <p:bldP spid="671749" grpId="0" animBg="1" autoUpdateAnimBg="0"/>
      <p:bldP spid="671750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AAS</a:t>
            </a:r>
            <a:r>
              <a:rPr lang="zh-CN" altLang="en-US" dirty="0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DAS</a:t>
            </a:r>
            <a:endParaRPr lang="zh-CN" altLang="en-US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类似于</a:t>
            </a:r>
            <a:r>
              <a:rPr lang="en-US" altLang="zh-CN" dirty="0" smtClean="0"/>
              <a:t>AAD</a:t>
            </a:r>
            <a:r>
              <a:rPr lang="zh-CN" altLang="en-US" dirty="0" smtClean="0"/>
              <a:t>与</a:t>
            </a:r>
            <a:r>
              <a:rPr lang="en-US" altLang="zh-CN" dirty="0" smtClean="0"/>
              <a:t>DAA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08AFC84-C103-4DF8-9C6E-07D160BF0BF5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36867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CE611802-9E81-4044-AB40-4CB0A1E3201B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求补指令</a:t>
            </a: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NEG</a:t>
            </a:r>
            <a:r>
              <a:rPr lang="zh-CN" altLang="en-US" sz="3600" b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600" b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negative</a:t>
            </a:r>
            <a:r>
              <a:rPr lang="zh-CN" altLang="en-US" sz="3600" b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1313"/>
            <a:ext cx="8229600" cy="2657475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NEG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指令对操作数执行求补运算：</a:t>
            </a:r>
            <a:r>
              <a:rPr lang="zh-CN" altLang="en-US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用零减去操作数，然后结果返回操作数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求补运算也可以表达成：</a:t>
            </a:r>
            <a:r>
              <a:rPr lang="zh-CN" altLang="en-US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将操作数按位取反后加</a:t>
            </a:r>
            <a:r>
              <a:rPr lang="en-US" altLang="zh-CN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zh-CN" u="sng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NEG</a:t>
            </a:r>
            <a:r>
              <a:rPr lang="zh-CN" altLang="en-US" u="sng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指令对标志的影响与用零作减法的</a:t>
            </a:r>
            <a:r>
              <a:rPr lang="en-US" altLang="zh-CN" u="sng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SUB</a:t>
            </a:r>
            <a:r>
              <a:rPr lang="zh-CN" altLang="en-US" u="sng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指令一样</a:t>
            </a:r>
          </a:p>
        </p:txBody>
      </p:sp>
      <p:sp>
        <p:nvSpPr>
          <p:cNvPr id="672772" name="AutoShape 4"/>
          <p:cNvSpPr>
            <a:spLocks noChangeArrowheads="1"/>
          </p:cNvSpPr>
          <p:nvPr/>
        </p:nvSpPr>
        <p:spPr bwMode="auto">
          <a:xfrm>
            <a:off x="785786" y="4929198"/>
            <a:ext cx="4957762" cy="1066800"/>
          </a:xfrm>
          <a:prstGeom prst="flowChartAlternateProcess">
            <a:avLst/>
          </a:prstGeom>
          <a:solidFill>
            <a:srgbClr val="99CCFF"/>
          </a:solidFill>
          <a:ln w="12700" cap="sq">
            <a:noFill/>
            <a:miter lim="800000"/>
            <a:headEnd type="none" w="sm" len="sm"/>
            <a:tailEnd type="none" w="sm" len="sm"/>
          </a:ln>
          <a:effectLst>
            <a:prstShdw prst="shdw13" dist="53882" dir="13500000">
              <a:srgbClr val="808080"/>
            </a:prstShdw>
          </a:effectLst>
        </p:spPr>
        <p:txBody>
          <a:bodyPr/>
          <a:lstStyle/>
          <a:p>
            <a:pPr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NEG </a:t>
            </a:r>
            <a:r>
              <a:rPr lang="en-US" altLang="zh-CN" sz="2800" dirty="0" err="1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800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800" dirty="0" err="1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mem</a:t>
            </a:r>
            <a:endParaRPr lang="en-US" altLang="zh-CN" sz="2800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8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/mem←0</a:t>
            </a:r>
            <a:r>
              <a:rPr lang="zh-CN" altLang="en-US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－</a:t>
            </a:r>
            <a:r>
              <a:rPr lang="en-US" altLang="zh-CN" sz="28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8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800" dirty="0" err="1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mem</a:t>
            </a:r>
            <a:endParaRPr lang="en-US" altLang="zh-CN" sz="28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57950" y="4857760"/>
            <a:ext cx="2214578" cy="107721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 smtClean="0"/>
              <a:t>;</a:t>
            </a:r>
            <a:r>
              <a:rPr lang="zh-CN" altLang="en-US" sz="2000" b="1" dirty="0" smtClean="0"/>
              <a:t>实现</a:t>
            </a:r>
            <a:r>
              <a:rPr lang="en-US" altLang="zh-CN" sz="2000" b="1" dirty="0" smtClean="0"/>
              <a:t>J = -K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 err="1" smtClean="0"/>
              <a:t>mov</a:t>
            </a:r>
            <a:r>
              <a:rPr lang="en-US" altLang="zh-CN" sz="2000" b="1" dirty="0" smtClean="0"/>
              <a:t> ax, K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 err="1" smtClean="0"/>
              <a:t>neg</a:t>
            </a:r>
            <a:r>
              <a:rPr lang="en-US" altLang="zh-CN" sz="2000" b="1" dirty="0" smtClean="0"/>
              <a:t> ax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 err="1" smtClean="0"/>
              <a:t>mov</a:t>
            </a:r>
            <a:r>
              <a:rPr lang="en-US" altLang="zh-CN" sz="2000" b="1" dirty="0" smtClean="0"/>
              <a:t> J, ax</a:t>
            </a:r>
            <a:endParaRPr lang="en-US" altLang="zh-CN" sz="2000" b="1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7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2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116EE9F-F5FA-4A0F-87B1-717E314CD441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37891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E53D256F-9469-48F5-96BB-3DBEF32DFDBB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49288"/>
            <a:ext cx="8229600" cy="96202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比较指令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sz="36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6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compare</a:t>
            </a:r>
            <a:r>
              <a:rPr lang="zh-CN" altLang="en-US" sz="36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1313"/>
            <a:ext cx="8229600" cy="2097087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altLang="zh-CN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sz="28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指令将目的操作数减去源操作数，</a:t>
            </a:r>
            <a:r>
              <a:rPr lang="zh-CN" altLang="en-US" sz="2800" u="sng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按照定义相应设置状态标志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指令执行的功能与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SUB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指令相似，</a:t>
            </a:r>
            <a:r>
              <a:rPr lang="zh-CN" altLang="en-US" sz="2800" u="sng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但结果不回送目的操作数</a:t>
            </a:r>
          </a:p>
        </p:txBody>
      </p:sp>
      <p:sp>
        <p:nvSpPr>
          <p:cNvPr id="673796" name="AutoShape 4"/>
          <p:cNvSpPr>
            <a:spLocks noChangeArrowheads="1"/>
          </p:cNvSpPr>
          <p:nvPr/>
        </p:nvSpPr>
        <p:spPr bwMode="auto">
          <a:xfrm>
            <a:off x="990600" y="3965575"/>
            <a:ext cx="7162800" cy="2286000"/>
          </a:xfrm>
          <a:prstGeom prst="flowChartAlternateProcess">
            <a:avLst/>
          </a:prstGeom>
          <a:solidFill>
            <a:srgbClr val="99CCFF"/>
          </a:solidFill>
          <a:ln w="12700" cap="sq">
            <a:noFill/>
            <a:miter lim="800000"/>
            <a:headEnd type="none" w="sm" len="sm"/>
            <a:tailEnd type="none" w="sm" len="sm"/>
          </a:ln>
          <a:effectLst>
            <a:prstShdw prst="shdw13" dist="53882" dir="13500000">
              <a:srgbClr val="808080"/>
            </a:prstShdw>
          </a:effectLst>
        </p:spPr>
        <p:txBody>
          <a:bodyPr/>
          <a:lstStyle/>
          <a:p>
            <a:pPr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CMP reg, imm/reg/mem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8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8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zh-CN" altLang="en-US" sz="28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－</a:t>
            </a:r>
            <a:r>
              <a:rPr lang="en-US" altLang="zh-CN" sz="28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imm/reg/mem</a:t>
            </a:r>
          </a:p>
          <a:p>
            <a:pPr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CMP mem, imm/reg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8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8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mem</a:t>
            </a:r>
            <a:r>
              <a:rPr lang="zh-CN" altLang="en-US" sz="28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－</a:t>
            </a:r>
            <a:r>
              <a:rPr lang="en-US" altLang="zh-CN" sz="28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imm/reg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6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指令对标志位的影响 </a:t>
            </a:r>
          </a:p>
        </p:txBody>
      </p:sp>
      <p:graphicFrame>
        <p:nvGraphicFramePr>
          <p:cNvPr id="17510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39750" y="1887538"/>
          <a:ext cx="7993063" cy="378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25" name="位图图像" r:id="rId3" imgW="6087325" imgH="1638529" progId="PBrush">
                  <p:embed/>
                </p:oleObj>
              </mc:Choice>
              <mc:Fallback>
                <p:oleObj name="位图图像" r:id="rId3" imgW="6087325" imgH="1638529" progId="PBrush">
                  <p:embed/>
                  <p:pic>
                    <p:nvPicPr>
                      <p:cNvPr id="0" name="Picture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887538"/>
                        <a:ext cx="7993063" cy="378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1" name="Rectangle 7"/>
          <p:cNvSpPr>
            <a:spLocks noChangeArrowheads="1"/>
          </p:cNvSpPr>
          <p:nvPr/>
        </p:nvSpPr>
        <p:spPr bwMode="auto">
          <a:xfrm>
            <a:off x="7667625" y="56610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Verdana" pitchFamily="34" charset="0"/>
                <a:hlinkClick r:id="rId5" action="ppaction://hlinksldjump"/>
              </a:rPr>
              <a:t>返回</a:t>
            </a:r>
            <a:endParaRPr lang="zh-CN" altLang="en-US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1E2BEC0-1B94-4F36-AA1A-2063AE1CFB19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38915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5BCD783A-CFE4-4553-9F81-522D69DF349A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算术运算影响的标志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1313"/>
            <a:ext cx="8229600" cy="4789487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零标志和符号标志</a:t>
            </a:r>
          </a:p>
          <a:p>
            <a:pPr lvl="1"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目标操作数被赋以零值时，零标志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ZF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置１</a:t>
            </a:r>
          </a:p>
          <a:p>
            <a:pPr lvl="1"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算术运算结果为负时，符号标志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SF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置１</a:t>
            </a:r>
          </a:p>
          <a:p>
            <a:pPr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进位标志（</a:t>
            </a:r>
            <a:r>
              <a:rPr lang="zh-CN" altLang="en-US" u="sng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无符号算术运算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lvl="1"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无符号算术运算结果对目的操作数而言无法容纳时，进位标志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置１</a:t>
            </a:r>
          </a:p>
          <a:p>
            <a:pPr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溢出标志（</a:t>
            </a:r>
            <a:r>
              <a:rPr lang="zh-CN" altLang="en-US" u="sng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有符号算术运算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lvl="1" eaLnBrk="1" hangingPunct="1"/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当算术运算产生的有符号的结果无法容纳于目的操作数时，溢出标志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OF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置１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B14D387-385F-4AAD-8C43-5499A7DFF890}" type="slidenum">
              <a:rPr lang="zh-CN" altLang="en-US"/>
              <a:pPr/>
              <a:t>45</a:t>
            </a:fld>
            <a:endParaRPr lang="en-US" altLang="zh-CN"/>
          </a:p>
        </p:txBody>
      </p:sp>
      <p:sp>
        <p:nvSpPr>
          <p:cNvPr id="39939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539D32E0-18A6-478C-BE27-C79198123273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进位与溢出标志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99745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加法：</a:t>
            </a:r>
          </a:p>
          <a:p>
            <a:pPr lvl="1" eaLnBrk="1" hangingPunct="1"/>
            <a:r>
              <a:rPr kumimoji="1" lang="zh-CN" altLang="en-US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和的最高有效位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有 </a:t>
            </a:r>
            <a:r>
              <a:rPr kumimoji="1" lang="zh-CN" altLang="en-US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向高位的进位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CF=1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；其他，</a:t>
            </a:r>
            <a:r>
              <a:rPr kumimoji="1"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CF=0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lvl="1" eaLnBrk="1" hangingPunct="1"/>
            <a:r>
              <a:rPr kumimoji="1" lang="zh-CN" altLang="en-US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两个操作数符号相同，而结果符号与之相反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OF=1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；其他，</a:t>
            </a:r>
            <a:r>
              <a:rPr kumimoji="1"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OF=0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eaLnBrk="1" hangingPunct="1"/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减法：</a:t>
            </a:r>
          </a:p>
          <a:p>
            <a:pPr lvl="1" eaLnBrk="1" hangingPunct="1"/>
            <a:r>
              <a:rPr kumimoji="1" lang="zh-CN" altLang="en-US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被减数的最高有效位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有 </a:t>
            </a:r>
            <a:r>
              <a:rPr kumimoji="1" lang="zh-CN" altLang="en-US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向高位的借位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CF=1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；其他，</a:t>
            </a:r>
            <a:r>
              <a:rPr kumimoji="1"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CF=0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lvl="1" eaLnBrk="1" hangingPunct="1"/>
            <a:r>
              <a:rPr kumimoji="1" lang="zh-CN" altLang="en-US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两个操作数符号相反，而结果的符号与减数相同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OF=1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；其他，</a:t>
            </a:r>
            <a:r>
              <a:rPr kumimoji="1" lang="en-US" altLang="zh-CN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OF=0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2CE3052-38E8-43D0-9EA0-021DCDABD845}" type="slidenum">
              <a:rPr lang="zh-CN" altLang="en-US"/>
              <a:pPr/>
              <a:t>46</a:t>
            </a:fld>
            <a:endParaRPr lang="en-US" altLang="zh-CN"/>
          </a:p>
        </p:txBody>
      </p:sp>
      <p:sp>
        <p:nvSpPr>
          <p:cNvPr id="40963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012CE46F-DD0E-4178-A78E-BE9387AC7EB5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2463"/>
            <a:ext cx="8229600" cy="741362"/>
          </a:xfrm>
        </p:spPr>
        <p:txBody>
          <a:bodyPr/>
          <a:lstStyle/>
          <a:p>
            <a:pPr eaLnBrk="1" hangingPunct="1"/>
            <a:r>
              <a:rPr kumimoji="1" lang="zh-CN" altLang="en-US" sz="40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例：双精度数的加法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7025"/>
            <a:ext cx="8686800" cy="45529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zh-CN" altLang="en-US" sz="2800" b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(DX) = 0002H    (AX) = 0F365H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(BX) = 0005H    (CX) =   8100H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kumimoji="1"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指令序列  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onotype Sorts" pitchFamily="2" charset="2"/>
              </a:rPr>
              <a:t>  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ADD  AX, CX    ; 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onotype Sorts" pitchFamily="2" charset="2"/>
              </a:rPr>
              <a:t>(1) </a:t>
            </a:r>
            <a:endParaRPr kumimoji="1"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ADC  DX, BX     ; (2)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kumimoji="1"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Monotype Sorts" pitchFamily="2" charset="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onotype Sorts" pitchFamily="2" charset="2"/>
              </a:rPr>
              <a:t>        (1) 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(AX) = 7465H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CF=1    OF=1    SF=0    ZF=0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(2) 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(DX) = 0008H                              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CF=0    OF=0    SF=0    ZF=0</a:t>
            </a:r>
            <a:endParaRPr lang="zh-CN" altLang="en-US" sz="28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EF936B2-B7C7-4FD1-A157-796BF2CD49EA}" type="slidenum">
              <a:rPr lang="zh-CN" altLang="en-US"/>
              <a:pPr/>
              <a:t>47</a:t>
            </a:fld>
            <a:endParaRPr lang="en-US" altLang="zh-CN"/>
          </a:p>
        </p:txBody>
      </p:sp>
      <p:sp>
        <p:nvSpPr>
          <p:cNvPr id="41987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87436C2-0CE5-4ED1-94CC-EFC5987EA044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2463"/>
            <a:ext cx="8229600" cy="741362"/>
          </a:xfrm>
        </p:spPr>
        <p:txBody>
          <a:bodyPr/>
          <a:lstStyle/>
          <a:p>
            <a:pPr eaLnBrk="1" hangingPunct="1"/>
            <a:r>
              <a:rPr kumimoji="1" lang="zh-CN" altLang="en-US" sz="40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例：双精度数的减法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7025"/>
            <a:ext cx="8229600" cy="49339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zh-CN" altLang="en-US" sz="2800" b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(DX) = </a:t>
            </a:r>
            <a: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  <a:t>1234H </a:t>
            </a: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(AX) =</a:t>
            </a:r>
            <a: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  <a:t>4AE0H </a:t>
            </a:r>
            <a:endParaRPr kumimoji="1" lang="en-US" altLang="zh-CN" sz="280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(BX) = </a:t>
            </a:r>
            <a: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  <a:t>9090H </a:t>
            </a:r>
            <a:endParaRPr kumimoji="1" lang="en-US" altLang="zh-CN" sz="280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kumimoji="1" lang="en-US" altLang="zh-CN" sz="280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kumimoji="1" lang="zh-CN" altLang="en-US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指令序列  </a:t>
            </a: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SUB  DX, AX    ; </a:t>
            </a: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onotype Sorts" pitchFamily="2" charset="2"/>
              </a:rPr>
              <a:t>(1) </a:t>
            </a:r>
            <a:endParaRPr kumimoji="1" lang="en-US" altLang="zh-CN" sz="280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SBB  BX, AX    ; (2) </a:t>
            </a:r>
            <a:endParaRPr kumimoji="1" lang="en-US" altLang="zh-CN" sz="280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Monotype Sorts" pitchFamily="2" charset="2"/>
            </a:endParaRP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onotype Sorts" pitchFamily="2" charset="2"/>
              </a:rPr>
              <a:t>        (1) </a:t>
            </a:r>
            <a:r>
              <a:rPr kumimoji="1" lang="zh-CN" altLang="en-US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(DX) = </a:t>
            </a:r>
            <a: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  <a:t>C754H </a:t>
            </a: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</a:t>
            </a:r>
            <a: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  <a:t>SF=1  ZF=0  CF=1  OF=0</a:t>
            </a:r>
            <a:b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</a:b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(2) </a:t>
            </a:r>
            <a:r>
              <a:rPr kumimoji="1" lang="zh-CN" altLang="en-US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执行后，</a:t>
            </a: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(BX) = </a:t>
            </a:r>
            <a: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  <a:t>45AFH </a:t>
            </a: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      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kumimoji="1"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</a:t>
            </a:r>
            <a: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  <a:t>SF=0  ZF=0  CF=0  OF=1</a:t>
            </a:r>
            <a:br>
              <a:rPr kumimoji="1" lang="en-US" altLang="zh-CN" sz="2800" smtClean="0">
                <a:latin typeface="微软雅黑" pitchFamily="34" charset="-122"/>
                <a:ea typeface="微软雅黑" pitchFamily="34" charset="-122"/>
              </a:rPr>
            </a:br>
            <a:endParaRPr kumimoji="1" lang="zh-CN" altLang="en-US" sz="280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E9BF70B-898B-410A-B368-508CA61A619E}" type="slidenum">
              <a:rPr lang="zh-CN" altLang="en-US"/>
              <a:pPr/>
              <a:t>48</a:t>
            </a:fld>
            <a:endParaRPr lang="en-US" altLang="zh-CN"/>
          </a:p>
        </p:txBody>
      </p:sp>
      <p:sp>
        <p:nvSpPr>
          <p:cNvPr id="43011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CC772441-5D85-4F79-A3EF-134D5F4F2684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43012" name="Text Box 6"/>
          <p:cNvSpPr txBox="1">
            <a:spLocks noChangeArrowheads="1"/>
          </p:cNvSpPr>
          <p:nvPr/>
        </p:nvSpPr>
        <p:spPr bwMode="auto">
          <a:xfrm>
            <a:off x="638175" y="739775"/>
            <a:ext cx="8243888" cy="1354138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115000"/>
              </a:lnSpc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y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z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均为双精度数，分别存放在地址为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X, X+2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algn="just" eaLnBrk="0" hangingPunct="0">
              <a:lnSpc>
                <a:spcPct val="115000"/>
              </a:lnSpc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Y, Y+2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Z, Z+2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的存储单元中，用指令序列实现</a:t>
            </a:r>
          </a:p>
          <a:p>
            <a:pPr algn="just" eaLnBrk="0" hangingPunct="0">
              <a:lnSpc>
                <a:spcPct val="115000"/>
              </a:lnSpc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w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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x + y + 24 - z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，并用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W, W+2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单元存放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w</a:t>
            </a:r>
          </a:p>
        </p:txBody>
      </p:sp>
      <p:sp>
        <p:nvSpPr>
          <p:cNvPr id="675848" name="Rectangle 8"/>
          <p:cNvSpPr>
            <a:spLocks noChangeArrowheads="1"/>
          </p:cNvSpPr>
          <p:nvPr/>
        </p:nvSpPr>
        <p:spPr bwMode="auto">
          <a:xfrm>
            <a:off x="973138" y="2093913"/>
            <a:ext cx="6573837" cy="44577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位寄存器：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AX,  X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DX,  X+2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ADD  AX,  Y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ADC  DX,  Y+2      ;  </a:t>
            </a:r>
            <a:r>
              <a:rPr kumimoji="1" lang="en-US" altLang="zh-CN" sz="2000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x+y</a:t>
            </a:r>
            <a:endParaRPr kumimoji="1" lang="en-US" altLang="zh-CN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ADD  AX,  24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ADC  DX,  0        ;  x+y+24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SUB  AX,  Z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SBB  DX,  Z+2      ;  x+y+24-z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W,   AX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W+2, DX       ;  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结果存入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W, W+2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单元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E2FB299-26D0-4771-9D8B-C96976830F89}" type="slidenum">
              <a:rPr lang="zh-CN" altLang="en-US"/>
              <a:pPr/>
              <a:t>49</a:t>
            </a:fld>
            <a:endParaRPr lang="en-US" altLang="zh-CN"/>
          </a:p>
        </p:txBody>
      </p:sp>
      <p:sp>
        <p:nvSpPr>
          <p:cNvPr id="44035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319774F6-2F8A-4301-AB13-209026EB4935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81988" name="Rectangle 4"/>
          <p:cNvSpPr>
            <a:spLocks noChangeArrowheads="1"/>
          </p:cNvSpPr>
          <p:nvPr/>
        </p:nvSpPr>
        <p:spPr bwMode="auto">
          <a:xfrm>
            <a:off x="973138" y="1179513"/>
            <a:ext cx="6573837" cy="2473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32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位寄存器：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EAX,  X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ADD  EAX,  Y      ;  </a:t>
            </a:r>
            <a:r>
              <a:rPr kumimoji="1" lang="en-US" altLang="zh-CN" sz="2000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x+y</a:t>
            </a:r>
            <a:endParaRPr kumimoji="1" lang="en-US" altLang="zh-CN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ADD  EAX,  24     ;  x+y+24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SUB  EAX,  Z      ;  x+y+24-z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W,   EAX     ;  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结果存入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W, W+2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单元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66F98C5-5546-4C41-939E-133EA143B010}" type="slidenum">
              <a:rPr lang="zh-CN" altLang="en-US"/>
              <a:pPr/>
              <a:t>50</a:t>
            </a:fld>
            <a:endParaRPr lang="en-US" altLang="zh-CN"/>
          </a:p>
        </p:txBody>
      </p:sp>
      <p:sp>
        <p:nvSpPr>
          <p:cNvPr id="45059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E9F0693F-5194-43E7-AB9E-0BDDEB59C7F4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乘法指令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1313"/>
            <a:ext cx="8229600" cy="4789487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计算机的乘法指令分为无符号乘法指令和有符号乘法指令，它们的唯一区别就在于：数据的最高位是作为“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数值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”参与运算，还是作为“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符号位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”参与运算。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无符号数乘法指令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MUL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有符号数乘法指令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IMUL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指令的功能是把显式操作数和隐含操作数相乘，并把乘积存入相应的寄存器中。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C8B787D-1AB2-459B-BA2A-706368EDDAE4}" type="slidenum">
              <a:rPr lang="zh-CN" altLang="en-US"/>
              <a:pPr/>
              <a:t>51</a:t>
            </a:fld>
            <a:endParaRPr lang="en-US" altLang="zh-CN"/>
          </a:p>
        </p:txBody>
      </p:sp>
      <p:sp>
        <p:nvSpPr>
          <p:cNvPr id="46083" name="日期占位符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4742C32C-7FB6-47CF-8E03-A6B41302814D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MUL / IMUL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01763"/>
            <a:ext cx="8474075" cy="2617787"/>
          </a:xfrm>
        </p:spPr>
        <p:txBody>
          <a:bodyPr/>
          <a:lstStyle/>
          <a:p>
            <a:pPr eaLnBrk="1" hangingPunct="1"/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指令的格式：</a:t>
            </a:r>
            <a:r>
              <a:rPr lang="en-US" altLang="zh-CN" sz="2400" smtClean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MUL/IMUL  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Reg/Mem</a:t>
            </a:r>
          </a:p>
          <a:p>
            <a:pPr eaLnBrk="1" hangingPunct="1"/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影响的标志位：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OF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40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其他标志位随机</a:t>
            </a:r>
          </a:p>
          <a:p>
            <a:pPr lvl="1" eaLnBrk="1" hangingPunct="1"/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MUL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若乘积的高半部分（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EDX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）为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，则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OF=CF=0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en-US" sz="2400" u="sng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  <a:r>
              <a:rPr lang="en-US" altLang="zh-CN" sz="2400" u="sng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OF=CF=1</a:t>
            </a:r>
            <a:r>
              <a:rPr lang="zh-CN" altLang="en-US" sz="2400" u="sng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，说明数值有效</a:t>
            </a:r>
            <a:endParaRPr lang="en-US" altLang="zh-CN" sz="24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eaLnBrk="1" hangingPunct="1"/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IMUL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若乘积的高半部分是低半部分的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符号扩展</a:t>
            </a:r>
            <a:r>
              <a:rPr lang="zh-CN" altLang="en-US" sz="240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，则</a:t>
            </a:r>
            <a:r>
              <a:rPr lang="en-US" altLang="zh-CN" sz="240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OF=CF=0</a:t>
            </a:r>
            <a:r>
              <a:rPr lang="zh-CN" altLang="en-US" sz="240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en-US" sz="2400" u="sng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否则均为</a:t>
            </a:r>
            <a:r>
              <a:rPr lang="en-US" altLang="zh-CN" sz="2400" u="sng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u="sng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，说明数值有效</a:t>
            </a:r>
          </a:p>
        </p:txBody>
      </p:sp>
      <p:graphicFrame>
        <p:nvGraphicFramePr>
          <p:cNvPr id="686084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4019550"/>
          <a:ext cx="8229600" cy="2117725"/>
        </p:xfrm>
        <a:graphic>
          <a:graphicData uri="http://schemas.openxmlformats.org/drawingml/2006/table">
            <a:tbl>
              <a:tblPr/>
              <a:tblGrid>
                <a:gridCol w="154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乘数位数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隐含的被乘数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乘积的存放位置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举例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 BL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DX-AX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 BX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32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EDX-EAX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ECX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744D7E5-C3F7-4F0A-8E76-204ACD19AEA2}" type="slidenum">
              <a:rPr lang="zh-CN" altLang="en-US"/>
              <a:pPr/>
              <a:t>52</a:t>
            </a:fld>
            <a:endParaRPr lang="en-US" altLang="zh-CN"/>
          </a:p>
        </p:txBody>
      </p:sp>
      <p:sp>
        <p:nvSpPr>
          <p:cNvPr id="47107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BCF5969-6CE5-4E78-B8E7-FDC5229F0D06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609600" y="2900363"/>
            <a:ext cx="7796213" cy="35321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(AX) = 16A5H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(BX) = 0611H</a:t>
            </a:r>
          </a:p>
          <a:p>
            <a:pPr eaLnBrk="0" hangingPunct="0"/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</a:p>
          <a:p>
            <a:pPr eaLnBrk="0" hangingPunct="0"/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(1)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IMUL  BL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;  (AX)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  (AL) * (BL)</a:t>
            </a:r>
          </a:p>
          <a:p>
            <a:r>
              <a:rPr kumimoji="1" lang="en-US" altLang="zh-CN" sz="2000" b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;  A5*11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 </a:t>
            </a:r>
            <a:r>
              <a:rPr kumimoji="1"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5B*11=060B  F9F5</a:t>
            </a:r>
            <a:endParaRPr kumimoji="1" lang="en-US" altLang="zh-CN" sz="2000" b="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   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;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(AX) = 0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F9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F5H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CF=OF=1</a:t>
            </a:r>
          </a:p>
          <a:p>
            <a:pPr eaLnBrk="0" hangingPunct="0"/>
            <a:endParaRPr kumimoji="1" lang="en-US" altLang="zh-CN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(2)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MUL  BX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;  (DX, AX)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  (AX) * (BX)</a:t>
            </a:r>
          </a:p>
          <a:p>
            <a:r>
              <a:rPr kumimoji="1" lang="en-US" altLang="zh-CN" sz="2000" b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;  16A5*0611=0089 5EF5</a:t>
            </a:r>
            <a:endParaRPr kumimoji="1" lang="en-US" altLang="zh-CN" sz="2000" b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     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;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(DX)=0089H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(AX)=5EF5H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</a:p>
          <a:p>
            <a:pPr eaLnBrk="0" hangingPunct="0"/>
            <a:r>
              <a:rPr kumimoji="1"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         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CF=OF=1</a:t>
            </a:r>
            <a:endParaRPr kumimoji="1"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109" name="Text Box 6"/>
          <p:cNvSpPr txBox="1">
            <a:spLocks noChangeArrowheads="1"/>
          </p:cNvSpPr>
          <p:nvPr/>
        </p:nvSpPr>
        <p:spPr bwMode="auto">
          <a:xfrm>
            <a:off x="3683000" y="1768475"/>
            <a:ext cx="5133975" cy="730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00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乘积的高一半是低一半的符号扩展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11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</a:p>
        </p:txBody>
      </p:sp>
      <p:sp>
        <p:nvSpPr>
          <p:cNvPr id="47110" name="Text Box 7"/>
          <p:cNvSpPr txBox="1">
            <a:spLocks noChangeArrowheads="1"/>
          </p:cNvSpPr>
          <p:nvPr/>
        </p:nvSpPr>
        <p:spPr bwMode="auto">
          <a:xfrm>
            <a:off x="609600" y="1847850"/>
            <a:ext cx="29400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IMUL</a:t>
            </a:r>
            <a:r>
              <a:rPr kumimoji="1" lang="zh-CN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: CF,OF =</a:t>
            </a:r>
            <a:endParaRPr kumimoji="1" lang="en-US" altLang="zh-CN" sz="2200" b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111" name="Text Box 8"/>
          <p:cNvSpPr txBox="1">
            <a:spLocks noChangeArrowheads="1"/>
          </p:cNvSpPr>
          <p:nvPr/>
        </p:nvSpPr>
        <p:spPr bwMode="auto">
          <a:xfrm>
            <a:off x="3681413" y="915988"/>
            <a:ext cx="3178175" cy="730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00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乘积的高一半为零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11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</a:p>
        </p:txBody>
      </p:sp>
      <p:sp>
        <p:nvSpPr>
          <p:cNvPr id="47112" name="Text Box 9"/>
          <p:cNvSpPr txBox="1">
            <a:spLocks noChangeArrowheads="1"/>
          </p:cNvSpPr>
          <p:nvPr/>
        </p:nvSpPr>
        <p:spPr bwMode="auto">
          <a:xfrm>
            <a:off x="938213" y="1068388"/>
            <a:ext cx="2665412" cy="4270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MUL</a:t>
            </a:r>
            <a:r>
              <a:rPr kumimoji="1" lang="zh-CN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: CF,OF =</a:t>
            </a:r>
            <a:endParaRPr kumimoji="1" lang="en-US" altLang="zh-CN" sz="2200" b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113" name="Text Box 11"/>
          <p:cNvSpPr txBox="1">
            <a:spLocks noChangeArrowheads="1"/>
          </p:cNvSpPr>
          <p:nvPr/>
        </p:nvSpPr>
        <p:spPr bwMode="auto">
          <a:xfrm>
            <a:off x="3683000" y="1768475"/>
            <a:ext cx="5133975" cy="730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00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乘积的高一半是低一半的符号扩展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11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</a:p>
        </p:txBody>
      </p:sp>
      <p:sp>
        <p:nvSpPr>
          <p:cNvPr id="47114" name="Text Box 12"/>
          <p:cNvSpPr txBox="1">
            <a:spLocks noChangeArrowheads="1"/>
          </p:cNvSpPr>
          <p:nvPr/>
        </p:nvSpPr>
        <p:spPr bwMode="auto">
          <a:xfrm>
            <a:off x="3681413" y="915988"/>
            <a:ext cx="3178175" cy="730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00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乘积的高一半为零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11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</a:p>
        </p:txBody>
      </p:sp>
      <p:sp>
        <p:nvSpPr>
          <p:cNvPr id="47115" name="Text Box 13"/>
          <p:cNvSpPr txBox="1">
            <a:spLocks noChangeArrowheads="1"/>
          </p:cNvSpPr>
          <p:nvPr/>
        </p:nvSpPr>
        <p:spPr bwMode="auto">
          <a:xfrm>
            <a:off x="3681413" y="915988"/>
            <a:ext cx="3178175" cy="730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00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乘积的高一半为零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11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</a:p>
        </p:txBody>
      </p:sp>
      <p:sp>
        <p:nvSpPr>
          <p:cNvPr id="47116" name="Text Box 14"/>
          <p:cNvSpPr txBox="1">
            <a:spLocks noChangeArrowheads="1"/>
          </p:cNvSpPr>
          <p:nvPr/>
        </p:nvSpPr>
        <p:spPr bwMode="auto">
          <a:xfrm>
            <a:off x="3683000" y="1768475"/>
            <a:ext cx="5146675" cy="742950"/>
          </a:xfrm>
          <a:prstGeom prst="rect">
            <a:avLst/>
          </a:prstGeom>
          <a:solidFill>
            <a:schemeClr val="folHlink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00     </a:t>
            </a:r>
            <a:r>
              <a:rPr kumimoji="1" lang="zh-CN" altLang="en-US" sz="2200" u="sng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乘积的高一半是低一半的符号扩展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11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</a:p>
        </p:txBody>
      </p:sp>
      <p:sp>
        <p:nvSpPr>
          <p:cNvPr id="47117" name="Text Box 15"/>
          <p:cNvSpPr txBox="1">
            <a:spLocks noChangeArrowheads="1"/>
          </p:cNvSpPr>
          <p:nvPr/>
        </p:nvSpPr>
        <p:spPr bwMode="auto">
          <a:xfrm>
            <a:off x="3681413" y="915988"/>
            <a:ext cx="3190875" cy="742950"/>
          </a:xfrm>
          <a:prstGeom prst="rect">
            <a:avLst/>
          </a:prstGeom>
          <a:solidFill>
            <a:schemeClr val="folHlink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00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乘积的高一半为零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11     </a:t>
            </a:r>
            <a:r>
              <a:rPr kumimoji="1" lang="zh-CN" altLang="en-US" sz="22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363E19-170C-4C7F-94D7-C55C07F458AE}" type="slidenum">
              <a:rPr lang="zh-CN" altLang="en-US"/>
              <a:pPr/>
              <a:t>53</a:t>
            </a:fld>
            <a:endParaRPr lang="en-US" altLang="zh-CN"/>
          </a:p>
        </p:txBody>
      </p:sp>
      <p:sp>
        <p:nvSpPr>
          <p:cNvPr id="48131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0AC655E1-0AE7-45B6-9EC6-878B6A05D2D9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位无符号数乘法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28750"/>
            <a:ext cx="8229600" cy="5126038"/>
          </a:xfrm>
          <a:solidFill>
            <a:srgbClr val="99CCFF"/>
          </a:solidFill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.386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.MODEL FLAT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.data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x word 0FFFEh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y word 001Eh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result dword ?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.code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start: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mov ax,x			;ax</a:t>
            </a: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←x,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	mul y			;</a:t>
            </a: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乘法：</a:t>
            </a: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ax*y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	mov word ptr result , ax	;</a:t>
            </a: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存放乘积的低字部分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	mov word ptr result+2,dx	;</a:t>
            </a: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存放乘积的高字部分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	ret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end start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CEF2E2D-72C4-4CF0-A8E2-6C478EC6EA2A}" type="slidenum">
              <a:rPr lang="zh-CN" altLang="en-US"/>
              <a:pPr/>
              <a:t>54</a:t>
            </a:fld>
            <a:endParaRPr lang="en-US" altLang="zh-CN"/>
          </a:p>
        </p:txBody>
      </p:sp>
      <p:sp>
        <p:nvSpPr>
          <p:cNvPr id="49155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275E8F49-2839-432A-BBC9-0A63BD33B1A3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68338"/>
            <a:ext cx="8229600" cy="1154112"/>
          </a:xfrm>
        </p:spPr>
        <p:txBody>
          <a:bodyPr/>
          <a:lstStyle/>
          <a:p>
            <a:pPr eaLnBrk="1" hangingPunct="1"/>
            <a:r>
              <a:rPr lang="zh-CN" altLang="en-US" sz="3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3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32</a:t>
            </a:r>
            <a:r>
              <a:rPr lang="zh-CN" altLang="en-US" sz="3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位有符号乘法指令</a:t>
            </a:r>
            <a:br>
              <a:rPr lang="zh-CN" altLang="en-US" sz="3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3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en-US" altLang="zh-CN" sz="3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3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位有符号数的乘法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33588"/>
            <a:ext cx="8229600" cy="4335462"/>
          </a:xfrm>
          <a:solidFill>
            <a:srgbClr val="99CCFF"/>
          </a:solidFill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.data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 word –100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y word –200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result dword ?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.code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movsx eax, x		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；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eax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  <a:sym typeface="Wingdings" pitchFamily="2" charset="2"/>
              </a:rPr>
              <a:t>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x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movsx ebx, y              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； 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ebx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  <a:sym typeface="Wingdings" pitchFamily="2" charset="2"/>
              </a:rPr>
              <a:t>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y</a:t>
            </a:r>
            <a:endParaRPr lang="zh-CN" altLang="en-US" sz="2800" smtClean="0"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imul ebx 			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；乘法：</a:t>
            </a: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eax*ebx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mov result , eax		;  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存放乘积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7C04EF9-F6FF-490A-87C5-2420094C0C23}" type="slidenum">
              <a:rPr lang="zh-CN" altLang="en-US"/>
              <a:pPr/>
              <a:t>55</a:t>
            </a:fld>
            <a:endParaRPr lang="en-US" altLang="zh-CN"/>
          </a:p>
        </p:txBody>
      </p:sp>
      <p:sp>
        <p:nvSpPr>
          <p:cNvPr id="50179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0CD8B383-5EC7-49E8-B049-FA7C75450576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IMUL</a:t>
            </a:r>
            <a:r>
              <a:rPr lang="zh-CN" altLang="en-US" sz="4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的其他格式（二或三操作数）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01763"/>
            <a:ext cx="8229600" cy="45450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IMUL </a:t>
            </a:r>
            <a:r>
              <a:rPr kumimoji="1" lang="en-US" altLang="zh-CN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r16</a:t>
            </a: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kumimoji="1" lang="en-US" altLang="zh-CN" sz="28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r16/m16/i8/i16</a:t>
            </a: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b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kumimoji="1" lang="en-US" altLang="zh-CN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r>
              <a:rPr kumimoji="1" lang="zh-CN" altLang="en-US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有符号字乘：</a:t>
            </a:r>
            <a:r>
              <a:rPr kumimoji="1" lang="en-US" altLang="zh-CN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r16←</a:t>
            </a:r>
            <a:r>
              <a:rPr kumimoji="1" lang="en-US" altLang="zh-CN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r16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×</a:t>
            </a:r>
            <a:r>
              <a:rPr kumimoji="1" lang="en-US" altLang="zh-CN" sz="28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r16/m16/i8/i16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IMUL </a:t>
            </a:r>
            <a:r>
              <a:rPr kumimoji="1" lang="en-US" altLang="zh-CN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r32</a:t>
            </a: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kumimoji="1" lang="en-US" altLang="zh-CN" sz="28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r32/m32/i8/i16/i32</a:t>
            </a: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kumimoji="1" lang="en-US" altLang="zh-CN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r>
              <a:rPr kumimoji="1" lang="zh-CN" altLang="en-US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有符号双字乘：</a:t>
            </a:r>
            <a:r>
              <a:rPr kumimoji="1" lang="en-US" altLang="zh-CN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r32←</a:t>
            </a:r>
            <a:r>
              <a:rPr kumimoji="1" lang="en-US" altLang="zh-CN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r32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×</a:t>
            </a:r>
            <a:r>
              <a:rPr kumimoji="1" lang="en-US" altLang="zh-CN" sz="28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r32/m32/i32/i16/i8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IMUL </a:t>
            </a:r>
            <a:r>
              <a:rPr kumimoji="1" lang="en-US" altLang="zh-CN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r16,</a:t>
            </a:r>
            <a:r>
              <a:rPr kumimoji="1" lang="en-US" altLang="zh-CN" sz="28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r16/m16</a:t>
            </a: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kumimoji="1" lang="en-US" altLang="zh-CN" sz="2800" dirty="0" smtClean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i8/i16</a:t>
            </a: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kumimoji="1" lang="en-US" altLang="zh-CN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r>
              <a:rPr kumimoji="1" lang="zh-CN" altLang="en-US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有符号字乘：</a:t>
            </a:r>
            <a:r>
              <a:rPr kumimoji="1" lang="en-US" altLang="zh-CN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r16</a:t>
            </a:r>
            <a:r>
              <a:rPr kumimoji="1" lang="en-US" altLang="zh-CN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←</a:t>
            </a:r>
            <a:r>
              <a:rPr kumimoji="1" lang="en-US" altLang="zh-CN" sz="28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r16/m16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×</a:t>
            </a:r>
            <a:r>
              <a:rPr kumimoji="1" lang="en-US" altLang="zh-CN" sz="2800" dirty="0" smtClean="0">
                <a:solidFill>
                  <a:srgbClr val="CCCC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en-US" altLang="zh-CN" sz="2800" dirty="0" smtClean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i8/i16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IMUL </a:t>
            </a:r>
            <a:r>
              <a:rPr kumimoji="1" lang="en-US" altLang="zh-CN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r32,</a:t>
            </a:r>
            <a:r>
              <a:rPr kumimoji="1" lang="en-US" altLang="zh-CN" sz="28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r32/m32</a:t>
            </a:r>
            <a: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,i8/i32</a:t>
            </a:r>
            <a:br>
              <a:rPr kumimoji="1" lang="en-US" altLang="zh-CN" sz="2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kumimoji="1" lang="en-US" altLang="zh-CN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r>
              <a:rPr kumimoji="1" lang="zh-CN" altLang="en-US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有符号双字乘：</a:t>
            </a:r>
            <a:r>
              <a:rPr kumimoji="1" lang="en-US" altLang="zh-CN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r32</a:t>
            </a:r>
            <a:r>
              <a:rPr kumimoji="1" lang="en-US" altLang="zh-CN" sz="2800" dirty="0" smtClean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←</a:t>
            </a:r>
            <a:r>
              <a:rPr kumimoji="1" lang="en-US" altLang="zh-CN" sz="28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r32/m32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×</a:t>
            </a:r>
            <a:r>
              <a:rPr kumimoji="1" lang="en-US" altLang="zh-CN" sz="2800" dirty="0" smtClean="0">
                <a:solidFill>
                  <a:srgbClr val="CCCC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en-US" altLang="zh-CN" sz="2800" dirty="0" smtClean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i8/i32</a:t>
            </a:r>
            <a:endParaRPr kumimoji="1" lang="zh-CN" altLang="en-US" sz="2800" dirty="0" smtClean="0">
              <a:solidFill>
                <a:srgbClr val="8000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9156" name="Text Box 4"/>
          <p:cNvSpPr txBox="1">
            <a:spLocks noChangeArrowheads="1"/>
          </p:cNvSpPr>
          <p:nvPr/>
        </p:nvSpPr>
        <p:spPr bwMode="auto">
          <a:xfrm>
            <a:off x="798513" y="5276850"/>
            <a:ext cx="7416800" cy="974725"/>
          </a:xfrm>
          <a:prstGeom prst="rect">
            <a:avLst/>
          </a:prstGeom>
          <a:solidFill>
            <a:srgbClr val="99CCFF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imul  eax</a:t>
            </a:r>
            <a:r>
              <a:rPr kumimoji="1" lang="zh-CN" altLang="en-US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，</a:t>
            </a:r>
            <a:r>
              <a:rPr kumimoji="1" lang="en-US" altLang="zh-CN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ebx </a:t>
            </a:r>
            <a:r>
              <a:rPr kumimoji="1" lang="zh-CN" altLang="en-US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； </a:t>
            </a:r>
            <a:r>
              <a:rPr kumimoji="1" lang="en-US" altLang="zh-CN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eax = ebx*eax</a:t>
            </a:r>
            <a:r>
              <a:rPr kumimoji="1" lang="en-US" altLang="zh-CN" sz="2800" b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endParaRPr kumimoji="1" lang="zh-CN" altLang="en-US" sz="2800" b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algn="ctr"/>
            <a:r>
              <a:rPr kumimoji="1" lang="en-US" altLang="zh-CN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imul  eax</a:t>
            </a:r>
            <a:r>
              <a:rPr kumimoji="1" lang="zh-CN" altLang="en-US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，</a:t>
            </a:r>
            <a:r>
              <a:rPr kumimoji="1" lang="en-US" altLang="zh-CN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ebx</a:t>
            </a:r>
            <a:r>
              <a:rPr kumimoji="1" lang="zh-CN" altLang="en-US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，</a:t>
            </a:r>
            <a:r>
              <a:rPr kumimoji="1" lang="en-US" altLang="zh-CN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2 </a:t>
            </a:r>
            <a:r>
              <a:rPr kumimoji="1" lang="zh-CN" altLang="en-US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；</a:t>
            </a:r>
            <a:r>
              <a:rPr kumimoji="1" lang="en-US" altLang="zh-CN"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eax = ebx*2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9156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226" name="Object 2"/>
          <p:cNvGraphicFramePr>
            <a:graphicFrameLocks noGrp="1" noChangeAspect="1"/>
          </p:cNvGraphicFramePr>
          <p:nvPr>
            <p:ph type="title"/>
          </p:nvPr>
        </p:nvGraphicFramePr>
        <p:xfrm>
          <a:off x="755650" y="3068638"/>
          <a:ext cx="7561263" cy="280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43" name="位图图像" r:id="rId3" imgW="6039693" imgH="1628571" progId="PBrush">
                  <p:embed/>
                </p:oleObj>
              </mc:Choice>
              <mc:Fallback>
                <p:oleObj name="位图图像" r:id="rId3" imgW="6039693" imgH="1628571" progId="PBrush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068638"/>
                        <a:ext cx="7561263" cy="280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692150"/>
            <a:ext cx="8001000" cy="5327650"/>
          </a:xfrm>
        </p:spPr>
        <p:txBody>
          <a:bodyPr/>
          <a:lstStyle/>
          <a:p>
            <a:r>
              <a:rPr lang="zh-CN" altLang="en-US"/>
              <a:t>如果</a:t>
            </a:r>
            <a:r>
              <a:rPr lang="en-US" altLang="zh-CN"/>
              <a:t>8</a:t>
            </a:r>
            <a:r>
              <a:rPr lang="zh-CN" altLang="en-US"/>
              <a:t>位、</a:t>
            </a:r>
            <a:r>
              <a:rPr lang="en-US" altLang="zh-CN"/>
              <a:t>16</a:t>
            </a:r>
            <a:r>
              <a:rPr lang="zh-CN" altLang="en-US"/>
              <a:t>位、</a:t>
            </a:r>
            <a:r>
              <a:rPr lang="en-US" altLang="zh-CN"/>
              <a:t>32</a:t>
            </a:r>
            <a:r>
              <a:rPr lang="zh-CN" altLang="en-US"/>
              <a:t>位乘法的结果超过</a:t>
            </a:r>
            <a:r>
              <a:rPr lang="en-US" altLang="zh-CN"/>
              <a:t>8</a:t>
            </a:r>
            <a:r>
              <a:rPr lang="zh-CN" altLang="en-US"/>
              <a:t>位、</a:t>
            </a:r>
            <a:r>
              <a:rPr lang="en-US" altLang="zh-CN"/>
              <a:t>16</a:t>
            </a:r>
            <a:r>
              <a:rPr lang="zh-CN" altLang="en-US"/>
              <a:t>位、</a:t>
            </a:r>
            <a:r>
              <a:rPr lang="en-US" altLang="zh-CN"/>
              <a:t>32</a:t>
            </a:r>
            <a:r>
              <a:rPr lang="zh-CN" altLang="en-US"/>
              <a:t>位数能表示的数值范围，则</a:t>
            </a:r>
            <a:r>
              <a:rPr lang="en-US" altLang="zh-CN"/>
              <a:t>MUL</a:t>
            </a:r>
            <a:r>
              <a:rPr lang="zh-CN" altLang="en-US"/>
              <a:t>和</a:t>
            </a:r>
            <a:r>
              <a:rPr lang="en-US" altLang="zh-CN"/>
              <a:t>IMUL</a:t>
            </a:r>
            <a:r>
              <a:rPr lang="zh-CN" altLang="en-US"/>
              <a:t>指令会置位</a:t>
            </a:r>
            <a:r>
              <a:rPr lang="en-US" altLang="zh-CN"/>
              <a:t>CF</a:t>
            </a:r>
            <a:r>
              <a:rPr lang="zh-CN" altLang="en-US"/>
              <a:t>和</a:t>
            </a:r>
            <a:r>
              <a:rPr lang="en-US" altLang="zh-CN"/>
              <a:t>OF</a:t>
            </a:r>
            <a:r>
              <a:rPr lang="zh-CN" altLang="en-US"/>
              <a:t>标志位。在</a:t>
            </a:r>
            <a:r>
              <a:rPr lang="en-US" altLang="zh-CN"/>
              <a:t>MUL</a:t>
            </a:r>
            <a:r>
              <a:rPr lang="zh-CN" altLang="en-US"/>
              <a:t>指令或</a:t>
            </a:r>
            <a:r>
              <a:rPr lang="en-US" altLang="zh-CN"/>
              <a:t>IMUL</a:t>
            </a:r>
            <a:r>
              <a:rPr lang="zh-CN" altLang="en-US"/>
              <a:t>指令执行后，</a:t>
            </a:r>
            <a:r>
              <a:rPr lang="en-US" altLang="zh-CN"/>
              <a:t>AF</a:t>
            </a:r>
            <a:r>
              <a:rPr lang="zh-CN" altLang="en-US"/>
              <a:t>、</a:t>
            </a:r>
            <a:r>
              <a:rPr lang="en-US" altLang="zh-CN"/>
              <a:t>PF</a:t>
            </a:r>
            <a:r>
              <a:rPr lang="zh-CN" altLang="en-US"/>
              <a:t>、</a:t>
            </a:r>
            <a:r>
              <a:rPr lang="en-US" altLang="zh-CN"/>
              <a:t>SF</a:t>
            </a:r>
            <a:r>
              <a:rPr lang="zh-CN" altLang="en-US"/>
              <a:t>和</a:t>
            </a:r>
            <a:r>
              <a:rPr lang="en-US" altLang="zh-CN"/>
              <a:t>ZF</a:t>
            </a:r>
            <a:r>
              <a:rPr lang="zh-CN" altLang="en-US"/>
              <a:t>标志位的值是无效的。如下表：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0C14FB6-87F0-4922-8569-D73D5DF31DD4}" type="slidenum">
              <a:rPr lang="zh-CN" altLang="en-US"/>
              <a:pPr/>
              <a:t>57</a:t>
            </a:fld>
            <a:endParaRPr lang="en-US" altLang="zh-CN"/>
          </a:p>
        </p:txBody>
      </p:sp>
      <p:sp>
        <p:nvSpPr>
          <p:cNvPr id="51203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6A8C5347-F3F7-4776-9656-B36D1EBE31CD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除法指令</a:t>
            </a: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除法指令的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被除数是隐含操作数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，除数在指令中显式地写出来。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会根据除数是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位、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位，还是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，来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自动选用被除数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DX-AX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，还是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EDX-EAX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除法指令功能是用隐含操作数除以显式操作数，得到商和余数。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810F8EA-2866-4F3B-A63C-935491819E0A}" type="slidenum">
              <a:rPr lang="zh-CN" altLang="en-US"/>
              <a:pPr/>
              <a:t>58</a:t>
            </a:fld>
            <a:endParaRPr lang="en-US" altLang="zh-CN"/>
          </a:p>
        </p:txBody>
      </p:sp>
      <p:sp>
        <p:nvSpPr>
          <p:cNvPr id="52227" name="日期占位符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77F24713-680C-4BDA-AA65-90D4F69B71A4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428604"/>
            <a:ext cx="8229600" cy="1154113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DIV / IDIV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7950"/>
            <a:ext cx="8229600" cy="2324100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指令格式：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DIV/IDIV  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</a:rPr>
              <a:t>Imm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（对标志位无定义）</a:t>
            </a:r>
          </a:p>
          <a:p>
            <a:pPr eaLnBrk="1" hangingPunct="1"/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IDIV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时，须将被除数符号扩展到高半部</a:t>
            </a:r>
          </a:p>
          <a:p>
            <a:pPr lvl="1" eaLnBrk="1" hangingPunct="1"/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CBW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：将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中的符号位扩展到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寄存器中</a:t>
            </a:r>
          </a:p>
          <a:p>
            <a:pPr lvl="1" eaLnBrk="1" hangingPunct="1"/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CWD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：将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中的符号位扩展到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寄存器中</a:t>
            </a:r>
          </a:p>
          <a:p>
            <a:pPr lvl="1" eaLnBrk="1" hangingPunct="1"/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CDQ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：将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EAX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中的符号位扩展到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EDX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寄存器中</a:t>
            </a:r>
          </a:p>
        </p:txBody>
      </p:sp>
      <p:graphicFrame>
        <p:nvGraphicFramePr>
          <p:cNvPr id="691204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3903663"/>
          <a:ext cx="8229600" cy="1828800"/>
        </p:xfrm>
        <a:graphic>
          <a:graphicData uri="http://schemas.openxmlformats.org/drawingml/2006/table">
            <a:tbl>
              <a:tblPr/>
              <a:tblGrid>
                <a:gridCol w="1646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除数位数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微软雅黑" pitchFamily="34" charset="-122"/>
                          <a:ea typeface="微软雅黑" pitchFamily="34" charset="-122"/>
                        </a:rPr>
                        <a:t>隐含的被除数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商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余数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举例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DIV  BH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itchFamily="34" charset="-122"/>
                          <a:ea typeface="微软雅黑" pitchFamily="34" charset="-122"/>
                        </a:rPr>
                        <a:t>DX-AX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DIV  BX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32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微软雅黑" pitchFamily="34" charset="-122"/>
                          <a:ea typeface="微软雅黑" pitchFamily="34" charset="-122"/>
                        </a:rPr>
                        <a:t>EDX-EAX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EDX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DIV  ECX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62" name="Text Box 36"/>
          <p:cNvSpPr txBox="1">
            <a:spLocks noChangeArrowheads="1"/>
          </p:cNvSpPr>
          <p:nvPr/>
        </p:nvSpPr>
        <p:spPr bwMode="auto">
          <a:xfrm>
            <a:off x="785813" y="5935663"/>
            <a:ext cx="7148512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u="sng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注：除法指令不考虑标志位定义。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C764587-B179-4740-B45B-865ADC4B9081}" type="slidenum">
              <a:rPr lang="zh-CN" altLang="en-US"/>
              <a:pPr/>
              <a:t>59</a:t>
            </a:fld>
            <a:endParaRPr lang="en-US" altLang="zh-CN"/>
          </a:p>
        </p:txBody>
      </p:sp>
      <p:sp>
        <p:nvSpPr>
          <p:cNvPr id="53251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7D2E50BD-612E-4794-9B8F-C5664F15D66F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70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8863"/>
            <a:ext cx="8229600" cy="5283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(AX) = 0400H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(BL) = 0B4H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kumimoji="1" lang="en-US" altLang="zh-CN" sz="24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(AX)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为无符号数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1024D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，带符号数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+1024D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(BL)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为无符号数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180D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，带符号数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-76D(4CH)</a:t>
            </a:r>
            <a:endParaRPr lang="zh-CN" altLang="en-US" sz="24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(1)  DIV  BL             (AH) = 7CH =124D;  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余数</a:t>
            </a:r>
            <a:endParaRPr kumimoji="1" lang="zh-CN" altLang="en-US" sz="24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en-US" altLang="zh-CN" sz="2400" b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     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(AL) = 05H = 5D   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；商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(2)  IDIV  BL            (AH) = 24H = 36D 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；余数</a:t>
            </a:r>
            <a:endParaRPr kumimoji="1" lang="zh-CN" altLang="en-US" sz="24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en-US" altLang="zh-CN" sz="2400" b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                  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(AL)= 0F3H = -13D 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；商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如：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(AX) = -1024D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(BL) = 76D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(AX) = -1024D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(BL) = -76D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(AH) = 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？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(AL) = 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注：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kumimoji="1" lang="zh-CN" altLang="en-US" sz="28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800" u="sng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乘法和除法带符号数去补运算（两次：初始 </a:t>
            </a:r>
            <a:r>
              <a:rPr kumimoji="1" lang="en-US" altLang="zh-CN" sz="2800" u="sng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/ </a:t>
            </a:r>
            <a:r>
              <a:rPr kumimoji="1" lang="zh-CN" altLang="en-US" sz="2800" u="sng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结束）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D583211-C194-4751-9402-8666CB7FD6DC}" type="slidenum">
              <a:rPr lang="zh-CN" altLang="en-US"/>
              <a:pPr/>
              <a:t>60</a:t>
            </a:fld>
            <a:endParaRPr lang="en-US" altLang="zh-CN"/>
          </a:p>
        </p:txBody>
      </p:sp>
      <p:sp>
        <p:nvSpPr>
          <p:cNvPr id="55299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AFEBD90E-0032-476E-9100-B6CAA1F055FA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除法溢出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1313"/>
            <a:ext cx="8229600" cy="483235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当除数为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，或商太大超出目的操作数所能表示的范围时，</a:t>
            </a:r>
            <a:r>
              <a:rPr lang="zh-CN" altLang="en-US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导致除法溢出，</a:t>
            </a:r>
            <a:r>
              <a:rPr lang="en-US" altLang="zh-CN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自动触发一个中断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DIV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指令，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除数为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，或者在字节除时商超过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位，或者在字除时商超过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位，或者在双字除时商超过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位，则发生除法溢出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 eaLnBrk="1" hangingPunct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IDIV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指令，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除数为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，或者在字节除时商不在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-128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127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范围内，或者在字除时商不在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-32768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32767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范围内，或者在双字除时商不在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-2</a:t>
            </a:r>
            <a:r>
              <a:rPr lang="en-US" altLang="zh-CN" baseline="30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baseline="30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－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范围内，则发生除法溢出。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497A730-3849-42CC-AB05-22C961864CFB}" type="slidenum">
              <a:rPr lang="zh-CN" altLang="en-US"/>
              <a:pPr/>
              <a:t>61</a:t>
            </a:fld>
            <a:endParaRPr lang="en-US" altLang="zh-CN"/>
          </a:p>
        </p:txBody>
      </p:sp>
      <p:sp>
        <p:nvSpPr>
          <p:cNvPr id="56323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0CC620A-6F30-447E-BC8C-022EDD74486C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除法溢出</a:t>
            </a:r>
          </a:p>
        </p:txBody>
      </p:sp>
      <p:sp>
        <p:nvSpPr>
          <p:cNvPr id="56325" name="Rectangle 3"/>
          <p:cNvSpPr>
            <a:spLocks noChangeArrowheads="1"/>
          </p:cNvSpPr>
          <p:nvPr/>
        </p:nvSpPr>
        <p:spPr bwMode="auto">
          <a:xfrm>
            <a:off x="838200" y="1735138"/>
            <a:ext cx="7543800" cy="18192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ax, 20000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bl,10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div bl             ;20000÷10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2000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       ;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商在</a:t>
            </a: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中放不下，产生溢出</a:t>
            </a:r>
          </a:p>
        </p:txBody>
      </p:sp>
      <p:sp>
        <p:nvSpPr>
          <p:cNvPr id="56326" name="Rectangle 4"/>
          <p:cNvSpPr>
            <a:spLocks noChangeArrowheads="1"/>
          </p:cNvSpPr>
          <p:nvPr/>
        </p:nvSpPr>
        <p:spPr bwMode="auto">
          <a:xfrm>
            <a:off x="838200" y="3695700"/>
            <a:ext cx="7543800" cy="20351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dx, 0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ax, 20000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bx,10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div bx            ;20000÷10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2000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       ;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商在</a:t>
            </a: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中可以放下，不产生溢出 </a:t>
            </a:r>
          </a:p>
        </p:txBody>
      </p:sp>
      <p:sp>
        <p:nvSpPr>
          <p:cNvPr id="694277" name="Rectangle 5"/>
          <p:cNvSpPr>
            <a:spLocks noChangeArrowheads="1"/>
          </p:cNvSpPr>
          <p:nvPr/>
        </p:nvSpPr>
        <p:spPr bwMode="auto">
          <a:xfrm>
            <a:off x="3894138" y="3446463"/>
            <a:ext cx="3270250" cy="495300"/>
          </a:xfrm>
          <a:prstGeom prst="rect">
            <a:avLst/>
          </a:prstGeom>
          <a:solidFill>
            <a:schemeClr val="bg1">
              <a:alpha val="89803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解决：增大除数的位数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3640026-91B1-4624-9938-20D01E9128B3}" type="slidenum">
              <a:rPr lang="zh-CN" altLang="en-US"/>
              <a:pPr/>
              <a:t>62</a:t>
            </a:fld>
            <a:endParaRPr lang="en-US" altLang="zh-CN"/>
          </a:p>
        </p:txBody>
      </p:sp>
      <p:sp>
        <p:nvSpPr>
          <p:cNvPr id="57347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8A42BF11-4EEB-4FCD-8CDA-DB665B225C81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除法溢出</a:t>
            </a:r>
          </a:p>
        </p:txBody>
      </p:sp>
      <p:sp>
        <p:nvSpPr>
          <p:cNvPr id="57349" name="Rectangle 3"/>
          <p:cNvSpPr>
            <a:spLocks noChangeArrowheads="1"/>
          </p:cNvSpPr>
          <p:nvPr/>
        </p:nvSpPr>
        <p:spPr bwMode="auto">
          <a:xfrm>
            <a:off x="838200" y="1735138"/>
            <a:ext cx="7543800" cy="1376362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ax, 20000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bl, 0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div bl             ;20000÷0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endParaRPr lang="en-US" altLang="zh-CN" sz="2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       </a:t>
            </a:r>
            <a:endParaRPr lang="zh-CN" altLang="en-US" sz="2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350" name="Rectangle 4"/>
          <p:cNvSpPr>
            <a:spLocks noChangeArrowheads="1"/>
          </p:cNvSpPr>
          <p:nvPr/>
        </p:nvSpPr>
        <p:spPr bwMode="auto">
          <a:xfrm>
            <a:off x="838200" y="3243263"/>
            <a:ext cx="7543800" cy="27971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ax, 20000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bl, x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cmp bl, 0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je  Zero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div  bl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Zero: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695301" name="Rectangle 5"/>
          <p:cNvSpPr>
            <a:spLocks noChangeArrowheads="1"/>
          </p:cNvSpPr>
          <p:nvPr/>
        </p:nvSpPr>
        <p:spPr bwMode="auto">
          <a:xfrm>
            <a:off x="4170363" y="3014663"/>
            <a:ext cx="3679825" cy="495300"/>
          </a:xfrm>
          <a:prstGeom prst="rect">
            <a:avLst/>
          </a:prstGeom>
          <a:solidFill>
            <a:schemeClr val="bg1">
              <a:alpha val="89803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解决：测试除数是否为</a:t>
            </a:r>
            <a:r>
              <a:rPr lang="en-US" altLang="zh-CN" sz="240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30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4698188-6960-4962-A4B6-E49BAF23224F}" type="slidenum">
              <a:rPr lang="zh-CN" altLang="en-US"/>
              <a:pPr/>
              <a:t>63</a:t>
            </a:fld>
            <a:endParaRPr lang="en-US" altLang="zh-CN"/>
          </a:p>
        </p:txBody>
      </p:sp>
      <p:sp>
        <p:nvSpPr>
          <p:cNvPr id="58371" name="日期占位符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4C99F9D5-F6DD-4F4B-91D4-20283CD6AF87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乘法溢出？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MUL/IMUL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是否会产生溢出？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96324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3854450"/>
          <a:ext cx="8229600" cy="2109788"/>
        </p:xfrm>
        <a:graphic>
          <a:graphicData uri="http://schemas.openxmlformats.org/drawingml/2006/table">
            <a:tbl>
              <a:tblPr/>
              <a:tblGrid>
                <a:gridCol w="154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乘数位数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微软雅黑" pitchFamily="34" charset="-122"/>
                          <a:ea typeface="微软雅黑" pitchFamily="34" charset="-122"/>
                        </a:rPr>
                        <a:t>隐含的被乘数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乘积的存放位置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举例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微软雅黑" pitchFamily="34" charset="-122"/>
                          <a:ea typeface="微软雅黑" pitchFamily="34" charset="-122"/>
                        </a:rPr>
                        <a:t>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 BL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DX-AX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 BX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32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微软雅黑" pitchFamily="34" charset="-122"/>
                          <a:ea typeface="微软雅黑" pitchFamily="34" charset="-122"/>
                        </a:rPr>
                        <a:t>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EDX-EAX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 ECX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96351" name="Rectangle 31"/>
          <p:cNvSpPr>
            <a:spLocks noChangeArrowheads="1"/>
          </p:cNvSpPr>
          <p:nvPr/>
        </p:nvSpPr>
        <p:spPr bwMode="auto">
          <a:xfrm>
            <a:off x="968375" y="2346325"/>
            <a:ext cx="6972300" cy="984250"/>
          </a:xfrm>
          <a:prstGeom prst="rect">
            <a:avLst/>
          </a:prstGeom>
          <a:solidFill>
            <a:schemeClr val="bg1">
              <a:alpha val="89803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不会，因为存放乘积的寄存器的大小</a:t>
            </a:r>
          </a:p>
          <a:p>
            <a:pPr algn="ctr"/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是乘数和被乘数的</a:t>
            </a:r>
            <a:r>
              <a:rPr lang="en-US" altLang="zh-CN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9938"/>
            <a:ext cx="8229600" cy="652462"/>
          </a:xfrm>
        </p:spPr>
        <p:txBody>
          <a:bodyPr/>
          <a:lstStyle/>
          <a:p>
            <a:pPr eaLnBrk="1" hangingPunct="1"/>
            <a:r>
              <a:rPr lang="zh-CN" altLang="en-US" sz="320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kumimoji="1" lang="en-US" altLang="zh-CN" sz="32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x , y , z , v </a:t>
            </a:r>
            <a:r>
              <a:rPr kumimoji="1" lang="zh-CN" altLang="en-US" sz="32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均为</a:t>
            </a:r>
            <a:r>
              <a:rPr kumimoji="1" lang="en-US" altLang="zh-CN" sz="32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1" lang="zh-CN" altLang="en-US" sz="32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位带符号数，计算</a:t>
            </a:r>
            <a:br>
              <a:rPr kumimoji="1" lang="zh-CN" altLang="en-US" sz="32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kumimoji="1" lang="zh-CN" altLang="en-US" sz="32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kumimoji="1" lang="en-US" altLang="zh-CN" sz="32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( v - ( x*y + z – 540 )  )  / x</a:t>
            </a:r>
            <a:endParaRPr kumimoji="1" lang="zh-CN" altLang="en-US" sz="320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1313"/>
            <a:ext cx="8229600" cy="48323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 AX, X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IMUL  Y          ;  x*y →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DX,AX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 CX, AX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 BX, DX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 AX, Z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kumimoji="1" lang="en-US" altLang="zh-CN" sz="20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CWD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Z →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ADD   CX, AX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ADC   BX, DX     ;  x*</a:t>
            </a:r>
            <a:r>
              <a:rPr kumimoji="1" lang="en-US" altLang="zh-CN" sz="2000" dirty="0" err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y+z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→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SUB   CX, 540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SBB   BX, 0      ;  x*y+z-540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MOV   AX, V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kumimoji="1" lang="en-US" altLang="zh-CN" sz="2000" dirty="0" smtClean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CWD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V →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SUB   AX, CX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SBB   DX, BX     ;  v-(x*y+z-540)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IDIV  X          ;  (v-(x*y+z-540))/x→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				          余数→（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kumimoji="1"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20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4A1D4A-B5CA-4D5F-A15F-0EC8E2263955}" type="slidenum">
              <a:rPr lang="zh-CN" altLang="en-US"/>
              <a:pPr/>
              <a:t>65</a:t>
            </a:fld>
            <a:endParaRPr lang="en-US" altLang="zh-CN"/>
          </a:p>
        </p:txBody>
      </p:sp>
      <p:sp>
        <p:nvSpPr>
          <p:cNvPr id="60419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191B2CED-0840-4C39-AD43-8B8C9BB0D69E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例：算术表达式</a:t>
            </a:r>
          </a:p>
        </p:txBody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位无符号整数</a:t>
            </a:r>
          </a:p>
          <a:p>
            <a:pPr lvl="1" eaLnBrk="1" hangingPunct="1"/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var4 = (var1 + var2) * var3</a:t>
            </a:r>
          </a:p>
          <a:p>
            <a:pPr lvl="1" eaLnBrk="1" hangingPunct="1"/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var4 = var1 * 5 / (var2 – 3)</a:t>
            </a:r>
          </a:p>
          <a:p>
            <a:pPr eaLnBrk="1" hangingPunct="1"/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位有符号整数</a:t>
            </a:r>
          </a:p>
          <a:p>
            <a:pPr lvl="1" eaLnBrk="1" hangingPunct="1"/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var4 = var1 * -5 / (-var2 % var3)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2FC1819-9B2B-46DF-9AB3-D8A2E77155BD}" type="slidenum">
              <a:rPr lang="zh-CN" altLang="en-US"/>
              <a:pPr/>
              <a:t>66</a:t>
            </a:fld>
            <a:endParaRPr lang="en-US" altLang="zh-CN"/>
          </a:p>
        </p:txBody>
      </p:sp>
      <p:sp>
        <p:nvSpPr>
          <p:cNvPr id="61443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24FAC36-7A9F-458A-B1F8-3E7A1D4ADD10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var4 = (var1 + var2) * var3</a:t>
            </a:r>
            <a:endParaRPr lang="zh-CN" altLang="en-US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445" name="Rectangle 3"/>
          <p:cNvSpPr>
            <a:spLocks noChangeArrowheads="1"/>
          </p:cNvSpPr>
          <p:nvPr/>
        </p:nvSpPr>
        <p:spPr bwMode="auto">
          <a:xfrm>
            <a:off x="838200" y="1611313"/>
            <a:ext cx="7543800" cy="4830762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var1  dd  100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var2  dd    25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var3  dd     8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var4  dd   ?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eax, var1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add  eax, var2	;var1 + var2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mul  var3             	;(var1+var2)*var3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jc     tooBig	;</a:t>
            </a:r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高一半是否为零；</a:t>
            </a: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CF=1</a:t>
            </a:r>
            <a:r>
              <a:rPr lang="zh-CN" altLang="en-US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则转移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var4, eax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jmp  Next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tooBig :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indent="390525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Next: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87E1CDE-9F67-43C5-B749-97C77C79E377}" type="slidenum">
              <a:rPr lang="zh-CN" altLang="en-US"/>
              <a:pPr/>
              <a:t>67</a:t>
            </a:fld>
            <a:endParaRPr lang="en-US" altLang="zh-CN"/>
          </a:p>
        </p:txBody>
      </p:sp>
      <p:sp>
        <p:nvSpPr>
          <p:cNvPr id="62467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87D299BC-0A60-4742-8C84-A2F921E24D67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2463"/>
            <a:ext cx="8229600" cy="95885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var4 = var1 * 5 / (var2 – 3)</a:t>
            </a:r>
            <a:endParaRPr lang="zh-CN" altLang="en-US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469" name="Rectangle 3"/>
          <p:cNvSpPr>
            <a:spLocks noChangeArrowheads="1"/>
          </p:cNvSpPr>
          <p:nvPr/>
        </p:nvSpPr>
        <p:spPr bwMode="auto">
          <a:xfrm>
            <a:off x="838200" y="1735138"/>
            <a:ext cx="7543800" cy="422275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var1  dd  100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var2  dd    25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var3  dd     8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var4  dd   ?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eax, var1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ebx, 5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mul ebx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ebx, var2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sub  ebx, 3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div   ebx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 var4, eax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6E3F377-A681-40B9-B06A-2A7818805C3A}" type="slidenum">
              <a:rPr lang="zh-CN" altLang="en-US"/>
              <a:pPr/>
              <a:t>68</a:t>
            </a:fld>
            <a:endParaRPr lang="en-US" altLang="zh-CN"/>
          </a:p>
        </p:txBody>
      </p:sp>
      <p:sp>
        <p:nvSpPr>
          <p:cNvPr id="63491" name="日期占位符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DBCF0C2-76B5-46AB-84DD-3B520D36A52C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457200"/>
            <a:ext cx="8686800" cy="1154113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var4 = var1*-5 / (-var2 % var3)</a:t>
            </a:r>
            <a:endParaRPr lang="zh-CN" altLang="en-US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493" name="Rectangle 3"/>
          <p:cNvSpPr>
            <a:spLocks noChangeArrowheads="1"/>
          </p:cNvSpPr>
          <p:nvPr/>
        </p:nvSpPr>
        <p:spPr bwMode="auto">
          <a:xfrm>
            <a:off x="838200" y="1611313"/>
            <a:ext cx="7091386" cy="46894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var1 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100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var2 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25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var3 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8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var4 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?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eax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var2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neg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eax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cdq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idiv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var3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ebx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edx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eax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-5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imul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var1</a:t>
            </a: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idiv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ebx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90525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tabLst>
                <a:tab pos="3341688" algn="l"/>
              </a:tabLst>
            </a:pP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var4, 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eax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F66B03C-3325-401F-A388-0A6D07316B76}" type="slidenum">
              <a:rPr lang="zh-CN" altLang="en-US"/>
              <a:pPr/>
              <a:t>69</a:t>
            </a:fld>
            <a:endParaRPr lang="en-US" altLang="zh-CN"/>
          </a:p>
        </p:txBody>
      </p:sp>
      <p:sp>
        <p:nvSpPr>
          <p:cNvPr id="64515" name="日期占位符 6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422C4A0C-1FCC-4AF1-85F0-242CCFD94CAB}" type="datetime1">
              <a:rPr lang="zh-CN" altLang="en-US"/>
              <a:pPr/>
              <a:t>2018/4/11</a:t>
            </a:fld>
            <a:endParaRPr lang="en-US" altLang="zh-CN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小结：</a:t>
            </a: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MUL/IMUL-DIV/IDIV</a:t>
            </a: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zh-CN" altLang="en-US" sz="2800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01444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4214813"/>
          <a:ext cx="8229600" cy="1920875"/>
        </p:xfrm>
        <a:graphic>
          <a:graphicData uri="http://schemas.openxmlformats.org/drawingml/2006/table">
            <a:tbl>
              <a:tblPr/>
              <a:tblGrid>
                <a:gridCol w="1646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1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除数位数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隐含的被除数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商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余数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举例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DIV  BH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DX-AX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DIV  BX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32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EDX-EAX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EDX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DIV  ECX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01476" name="Group 36"/>
          <p:cNvGraphicFramePr>
            <a:graphicFrameLocks noGrp="1"/>
          </p:cNvGraphicFramePr>
          <p:nvPr>
            <p:ph sz="half" idx="4294967295"/>
          </p:nvPr>
        </p:nvGraphicFramePr>
        <p:xfrm>
          <a:off x="457200" y="1654175"/>
          <a:ext cx="8229600" cy="2105025"/>
        </p:xfrm>
        <a:graphic>
          <a:graphicData uri="http://schemas.openxmlformats.org/drawingml/2006/table">
            <a:tbl>
              <a:tblPr/>
              <a:tblGrid>
                <a:gridCol w="154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乘数位数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隐含的被乘数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乘积的存放位置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举例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 BL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DX-AX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 BX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32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EDX-EAX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MUL  ECX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r>
              <a:rPr lang="zh-CN"/>
              <a:t>作业</a:t>
            </a:r>
          </a:p>
        </p:txBody>
      </p:sp>
      <p:sp>
        <p:nvSpPr>
          <p:cNvPr id="50179" name="内容占位符 2"/>
          <p:cNvSpPr>
            <a:spLocks noGrp="1" noChangeArrowheads="1"/>
          </p:cNvSpPr>
          <p:nvPr>
            <p:ph idx="4294967295"/>
          </p:nvPr>
        </p:nvSpPr>
        <p:spPr bwMode="auto">
          <a:xfrm>
            <a:off x="457200" y="1500174"/>
            <a:ext cx="8229600" cy="4411662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zh-CN" altLang="en-US" sz="2600" dirty="0"/>
              <a:t>第三章</a:t>
            </a:r>
            <a:endParaRPr lang="en-US" sz="2600" dirty="0"/>
          </a:p>
          <a:p>
            <a:pPr lvl="1"/>
            <a:r>
              <a:rPr lang="en-US" altLang="zh-CN" sz="2200" smtClean="0">
                <a:solidFill>
                  <a:srgbClr val="FF0000"/>
                </a:solidFill>
              </a:rPr>
              <a:t>1-6,</a:t>
            </a:r>
            <a:r>
              <a:rPr lang="en-US" altLang="zh-CN" sz="2200" smtClean="0">
                <a:solidFill>
                  <a:schemeClr val="tx2"/>
                </a:solidFill>
              </a:rPr>
              <a:t>9,10,13,15,17,19.20?</a:t>
            </a:r>
            <a:endParaRPr lang="zh-CN" altLang="en-US" sz="22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Network 10">
    <a:dk1>
      <a:srgbClr val="000000"/>
    </a:dk1>
    <a:lt1>
      <a:srgbClr val="FFFFFF"/>
    </a:lt1>
    <a:dk2>
      <a:srgbClr val="330066"/>
    </a:dk2>
    <a:lt2>
      <a:srgbClr val="808080"/>
    </a:lt2>
    <a:accent1>
      <a:srgbClr val="CCCC00"/>
    </a:accent1>
    <a:accent2>
      <a:srgbClr val="669999"/>
    </a:accent2>
    <a:accent3>
      <a:srgbClr val="FFFFFF"/>
    </a:accent3>
    <a:accent4>
      <a:srgbClr val="000000"/>
    </a:accent4>
    <a:accent5>
      <a:srgbClr val="E2E2AA"/>
    </a:accent5>
    <a:accent6>
      <a:srgbClr val="5C8A8A"/>
    </a:accent6>
    <a:hlink>
      <a:srgbClr val="7E9CE8"/>
    </a:hlink>
    <a:folHlink>
      <a:srgbClr val="D8D8EC"/>
    </a:folHlink>
  </a:clrScheme>
</a:themeOverride>
</file>

<file path=ppt/theme/themeOverride2.xml><?xml version="1.0" encoding="utf-8"?>
<a:themeOverride xmlns:a="http://schemas.openxmlformats.org/drawingml/2006/main">
  <a:clrScheme name="Network 10">
    <a:dk1>
      <a:srgbClr val="000000"/>
    </a:dk1>
    <a:lt1>
      <a:srgbClr val="FFFFFF"/>
    </a:lt1>
    <a:dk2>
      <a:srgbClr val="330066"/>
    </a:dk2>
    <a:lt2>
      <a:srgbClr val="808080"/>
    </a:lt2>
    <a:accent1>
      <a:srgbClr val="CCCC00"/>
    </a:accent1>
    <a:accent2>
      <a:srgbClr val="669999"/>
    </a:accent2>
    <a:accent3>
      <a:srgbClr val="FFFFFF"/>
    </a:accent3>
    <a:accent4>
      <a:srgbClr val="000000"/>
    </a:accent4>
    <a:accent5>
      <a:srgbClr val="E2E2AA"/>
    </a:accent5>
    <a:accent6>
      <a:srgbClr val="5C8A8A"/>
    </a:accent6>
    <a:hlink>
      <a:srgbClr val="7E9CE8"/>
    </a:hlink>
    <a:folHlink>
      <a:srgbClr val="D8D8EC"/>
    </a:folHlink>
  </a:clrScheme>
</a:themeOverride>
</file>

<file path=ppt/theme/themeOverride3.xml><?xml version="1.0" encoding="utf-8"?>
<a:themeOverride xmlns:a="http://schemas.openxmlformats.org/drawingml/2006/main">
  <a:clrScheme name="Network 10">
    <a:dk1>
      <a:srgbClr val="000000"/>
    </a:dk1>
    <a:lt1>
      <a:srgbClr val="FFFFFF"/>
    </a:lt1>
    <a:dk2>
      <a:srgbClr val="330066"/>
    </a:dk2>
    <a:lt2>
      <a:srgbClr val="808080"/>
    </a:lt2>
    <a:accent1>
      <a:srgbClr val="CCCC00"/>
    </a:accent1>
    <a:accent2>
      <a:srgbClr val="669999"/>
    </a:accent2>
    <a:accent3>
      <a:srgbClr val="FFFFFF"/>
    </a:accent3>
    <a:accent4>
      <a:srgbClr val="000000"/>
    </a:accent4>
    <a:accent5>
      <a:srgbClr val="E2E2AA"/>
    </a:accent5>
    <a:accent6>
      <a:srgbClr val="5C8A8A"/>
    </a:accent6>
    <a:hlink>
      <a:srgbClr val="7E9CE8"/>
    </a:hlink>
    <a:folHlink>
      <a:srgbClr val="D8D8EC"/>
    </a:folHlink>
  </a:clrScheme>
</a:themeOverride>
</file>

<file path=ppt/theme/themeOverride4.xml><?xml version="1.0" encoding="utf-8"?>
<a:themeOverride xmlns:a="http://schemas.openxmlformats.org/drawingml/2006/main">
  <a:clrScheme name="Network 10">
    <a:dk1>
      <a:srgbClr val="000000"/>
    </a:dk1>
    <a:lt1>
      <a:srgbClr val="FFFFFF"/>
    </a:lt1>
    <a:dk2>
      <a:srgbClr val="330066"/>
    </a:dk2>
    <a:lt2>
      <a:srgbClr val="808080"/>
    </a:lt2>
    <a:accent1>
      <a:srgbClr val="CCCC00"/>
    </a:accent1>
    <a:accent2>
      <a:srgbClr val="669999"/>
    </a:accent2>
    <a:accent3>
      <a:srgbClr val="FFFFFF"/>
    </a:accent3>
    <a:accent4>
      <a:srgbClr val="000000"/>
    </a:accent4>
    <a:accent5>
      <a:srgbClr val="E2E2AA"/>
    </a:accent5>
    <a:accent6>
      <a:srgbClr val="5C8A8A"/>
    </a:accent6>
    <a:hlink>
      <a:srgbClr val="7E9CE8"/>
    </a:hlink>
    <a:folHlink>
      <a:srgbClr val="D8D8E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5189</TotalTime>
  <Words>3907</Words>
  <Application>Microsoft Office PowerPoint</Application>
  <PresentationFormat>全屏显示(4:3)</PresentationFormat>
  <Paragraphs>831</Paragraphs>
  <Slides>70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1" baseType="lpstr">
      <vt:lpstr>Monotype Sorts</vt:lpstr>
      <vt:lpstr>宋体</vt:lpstr>
      <vt:lpstr>微软雅黑</vt:lpstr>
      <vt:lpstr>Arial</vt:lpstr>
      <vt:lpstr>Courier New</vt:lpstr>
      <vt:lpstr>Symbol</vt:lpstr>
      <vt:lpstr>Times New Roman</vt:lpstr>
      <vt:lpstr>Verdana</vt:lpstr>
      <vt:lpstr>Wingdings</vt:lpstr>
      <vt:lpstr>Network</vt:lpstr>
      <vt:lpstr>位图图像</vt:lpstr>
      <vt:lpstr>80X86指令系统和寻址方式</vt:lpstr>
      <vt:lpstr>汇编指令格式 </vt:lpstr>
      <vt:lpstr>2.2.1数据传送指令</vt:lpstr>
      <vt:lpstr>MOV指令</vt:lpstr>
      <vt:lpstr>MOV指令 </vt:lpstr>
      <vt:lpstr>MOV指令规则</vt:lpstr>
      <vt:lpstr>MOV指令规则</vt:lpstr>
      <vt:lpstr>MOV指令规则</vt:lpstr>
      <vt:lpstr>MOVZX / MOVSX</vt:lpstr>
      <vt:lpstr>XCHG指令</vt:lpstr>
      <vt:lpstr>地址传送指令</vt:lpstr>
      <vt:lpstr>LDS、LES、LFS、LGS和LSS指令</vt:lpstr>
      <vt:lpstr>有效地址传送指令LEA</vt:lpstr>
      <vt:lpstr>LEA 与 OFFSET</vt:lpstr>
      <vt:lpstr>综合实例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PUSH和POP指令</vt:lpstr>
      <vt:lpstr>PowerPoint 演示文稿</vt:lpstr>
      <vt:lpstr>PowerPoint 演示文稿</vt:lpstr>
      <vt:lpstr>PUSH和POP相关指令</vt:lpstr>
      <vt:lpstr>2.2.2转换指令 </vt:lpstr>
      <vt:lpstr>CBW、CWD、CWDE和CDQ指令</vt:lpstr>
      <vt:lpstr>     chp2_2.asm</vt:lpstr>
      <vt:lpstr>     chp2_3.asm</vt:lpstr>
      <vt:lpstr> XLAT指令 </vt:lpstr>
      <vt:lpstr>PowerPoint 演示文稿</vt:lpstr>
      <vt:lpstr>算术运算指令 </vt:lpstr>
      <vt:lpstr>2.2.3算术指令 </vt:lpstr>
      <vt:lpstr>加法指令 </vt:lpstr>
      <vt:lpstr>加法指令 </vt:lpstr>
      <vt:lpstr>增量指令INC（increment）</vt:lpstr>
      <vt:lpstr>AAA和DAA指令</vt:lpstr>
      <vt:lpstr>PowerPoint 演示文稿</vt:lpstr>
      <vt:lpstr>减法指令 </vt:lpstr>
      <vt:lpstr>减量指令DEC（decrement）</vt:lpstr>
      <vt:lpstr>AAS和DAS</vt:lpstr>
      <vt:lpstr>求补指令NEG（negative）</vt:lpstr>
      <vt:lpstr>比较指令CMP（compare）</vt:lpstr>
      <vt:lpstr>CMP指令对标志位的影响 </vt:lpstr>
      <vt:lpstr>算术运算影响的标志</vt:lpstr>
      <vt:lpstr>进位与溢出标志</vt:lpstr>
      <vt:lpstr>例：双精度数的加法</vt:lpstr>
      <vt:lpstr>例：双精度数的减法</vt:lpstr>
      <vt:lpstr>PowerPoint 演示文稿</vt:lpstr>
      <vt:lpstr>PowerPoint 演示文稿</vt:lpstr>
      <vt:lpstr>乘法指令</vt:lpstr>
      <vt:lpstr>MUL / IMUL</vt:lpstr>
      <vt:lpstr>PowerPoint 演示文稿</vt:lpstr>
      <vt:lpstr>例：16位无符号数乘法</vt:lpstr>
      <vt:lpstr>用32位有符号乘法指令 实现16位有符号数的乘法</vt:lpstr>
      <vt:lpstr>IMUL的其他格式（二或三操作数）</vt:lpstr>
      <vt:lpstr>PowerPoint 演示文稿</vt:lpstr>
      <vt:lpstr>除法指令</vt:lpstr>
      <vt:lpstr>DIV / IDIV指令</vt:lpstr>
      <vt:lpstr>PowerPoint 演示文稿</vt:lpstr>
      <vt:lpstr>除法溢出</vt:lpstr>
      <vt:lpstr>除法溢出</vt:lpstr>
      <vt:lpstr>除法溢出</vt:lpstr>
      <vt:lpstr>乘法溢出？</vt:lpstr>
      <vt:lpstr>例：x , y , z , v 均为16位带符号数，计算       ( v - ( x*y + z – 540 )  )  / x</vt:lpstr>
      <vt:lpstr>例：算术表达式</vt:lpstr>
      <vt:lpstr>var4 = (var1 + var2) * var3</vt:lpstr>
      <vt:lpstr>var4 = var1 * 5 / (var2 – 3)</vt:lpstr>
      <vt:lpstr>var4 = var1*-5 / (-var2 % var3)</vt:lpstr>
      <vt:lpstr>小结：MUL/IMUL-DIV/IDIV</vt:lpstr>
      <vt:lpstr>作业</vt:lpstr>
    </vt:vector>
  </TitlesOfParts>
  <Company>Lab528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zhangjinmao</dc:creator>
  <cp:lastModifiedBy>feng guo</cp:lastModifiedBy>
  <cp:revision>260</cp:revision>
  <dcterms:created xsi:type="dcterms:W3CDTF">2004-08-22T07:27:02Z</dcterms:created>
  <dcterms:modified xsi:type="dcterms:W3CDTF">2018-04-11T03:19:46Z</dcterms:modified>
</cp:coreProperties>
</file>