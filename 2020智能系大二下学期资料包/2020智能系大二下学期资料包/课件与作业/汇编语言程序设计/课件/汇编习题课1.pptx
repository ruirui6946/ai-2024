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72" r:id="rId2"/>
    <p:sldId id="296" r:id="rId3"/>
    <p:sldId id="300" r:id="rId4"/>
    <p:sldId id="301" r:id="rId5"/>
    <p:sldId id="297" r:id="rId6"/>
    <p:sldId id="298" r:id="rId7"/>
    <p:sldId id="299" r:id="rId8"/>
    <p:sldId id="273" r:id="rId9"/>
    <p:sldId id="274" r:id="rId10"/>
    <p:sldId id="275" r:id="rId11"/>
    <p:sldId id="279" r:id="rId12"/>
    <p:sldId id="280" r:id="rId13"/>
    <p:sldId id="302" r:id="rId14"/>
    <p:sldId id="281" r:id="rId15"/>
    <p:sldId id="282" r:id="rId16"/>
    <p:sldId id="283" r:id="rId17"/>
    <p:sldId id="284" r:id="rId18"/>
    <p:sldId id="285" r:id="rId19"/>
    <p:sldId id="307" r:id="rId20"/>
    <p:sldId id="308" r:id="rId21"/>
    <p:sldId id="288" r:id="rId22"/>
    <p:sldId id="289" r:id="rId23"/>
    <p:sldId id="290" r:id="rId24"/>
    <p:sldId id="291" r:id="rId25"/>
    <p:sldId id="292"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93" r:id="rId42"/>
    <p:sldId id="294" r:id="rId43"/>
    <p:sldId id="295" r:id="rId44"/>
    <p:sldId id="306" r:id="rId45"/>
    <p:sldId id="303"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687" autoAdjust="0"/>
  </p:normalViewPr>
  <p:slideViewPr>
    <p:cSldViewPr snapToGrid="0">
      <p:cViewPr varScale="1">
        <p:scale>
          <a:sx n="85" d="100"/>
          <a:sy n="85" d="100"/>
        </p:scale>
        <p:origin x="1452" y="90"/>
      </p:cViewPr>
      <p:guideLst/>
    </p:cSldViewPr>
  </p:slideViewPr>
  <p:notesTextViewPr>
    <p:cViewPr>
      <p:scale>
        <a:sx n="1" d="1"/>
        <a:sy n="1" d="1"/>
      </p:scale>
      <p:origin x="0" y="0"/>
    </p:cViewPr>
  </p:notesTextViewPr>
  <p:notesViewPr>
    <p:cSldViewPr snapToGrid="0">
      <p:cViewPr varScale="1">
        <p:scale>
          <a:sx n="84" d="100"/>
          <a:sy n="84" d="100"/>
        </p:scale>
        <p:origin x="382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55F8D6-7655-4E00-AA25-F4417E0AFBC5}" type="datetimeFigureOut">
              <a:rPr lang="zh-CN" altLang="en-US" smtClean="0"/>
              <a:t>2019/4/15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0A84BE-19AA-4F26-8F12-D216EBBC77FB}" type="slidenum">
              <a:rPr lang="zh-CN" altLang="en-US" smtClean="0"/>
              <a:t>‹#›</a:t>
            </a:fld>
            <a:endParaRPr lang="zh-CN" altLang="en-US"/>
          </a:p>
        </p:txBody>
      </p:sp>
    </p:spTree>
    <p:extLst>
      <p:ext uri="{BB962C8B-B14F-4D97-AF65-F5344CB8AC3E}">
        <p14:creationId xmlns:p14="http://schemas.microsoft.com/office/powerpoint/2010/main" val="160891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F1536-8A34-48C7-AEE5-5A9E5539AB00}" type="datetimeFigureOut">
              <a:rPr lang="zh-CN" altLang="en-US" smtClean="0"/>
              <a:t>2019/4/15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DECDBE-382C-47DE-9F5A-3BF353147B64}" type="slidenum">
              <a:rPr lang="zh-CN" altLang="en-US" smtClean="0"/>
              <a:t>‹#›</a:t>
            </a:fld>
            <a:endParaRPr lang="zh-CN" altLang="en-US"/>
          </a:p>
        </p:txBody>
      </p:sp>
    </p:spTree>
    <p:extLst>
      <p:ext uri="{BB962C8B-B14F-4D97-AF65-F5344CB8AC3E}">
        <p14:creationId xmlns:p14="http://schemas.microsoft.com/office/powerpoint/2010/main" val="2818768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a:t>
            </a:fld>
            <a:endParaRPr lang="zh-CN" altLang="en-US"/>
          </a:p>
        </p:txBody>
      </p:sp>
    </p:spTree>
    <p:extLst>
      <p:ext uri="{BB962C8B-B14F-4D97-AF65-F5344CB8AC3E}">
        <p14:creationId xmlns:p14="http://schemas.microsoft.com/office/powerpoint/2010/main" val="4195318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5</a:t>
            </a:fld>
            <a:endParaRPr lang="zh-CN" altLang="en-US"/>
          </a:p>
        </p:txBody>
      </p:sp>
    </p:spTree>
    <p:extLst>
      <p:ext uri="{BB962C8B-B14F-4D97-AF65-F5344CB8AC3E}">
        <p14:creationId xmlns:p14="http://schemas.microsoft.com/office/powerpoint/2010/main" val="3862668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6</a:t>
            </a:fld>
            <a:endParaRPr lang="zh-CN" altLang="en-US"/>
          </a:p>
        </p:txBody>
      </p:sp>
    </p:spTree>
    <p:extLst>
      <p:ext uri="{BB962C8B-B14F-4D97-AF65-F5344CB8AC3E}">
        <p14:creationId xmlns:p14="http://schemas.microsoft.com/office/powerpoint/2010/main" val="1561100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8</a:t>
            </a:fld>
            <a:endParaRPr lang="zh-CN" altLang="en-US"/>
          </a:p>
        </p:txBody>
      </p:sp>
    </p:spTree>
    <p:extLst>
      <p:ext uri="{BB962C8B-B14F-4D97-AF65-F5344CB8AC3E}">
        <p14:creationId xmlns:p14="http://schemas.microsoft.com/office/powerpoint/2010/main" val="389460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9</a:t>
            </a:fld>
            <a:endParaRPr lang="zh-CN" altLang="en-US"/>
          </a:p>
        </p:txBody>
      </p:sp>
    </p:spTree>
    <p:extLst>
      <p:ext uri="{BB962C8B-B14F-4D97-AF65-F5344CB8AC3E}">
        <p14:creationId xmlns:p14="http://schemas.microsoft.com/office/powerpoint/2010/main" val="3642059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10</a:t>
            </a:fld>
            <a:endParaRPr lang="zh-CN" altLang="en-US"/>
          </a:p>
        </p:txBody>
      </p:sp>
    </p:spTree>
    <p:extLst>
      <p:ext uri="{BB962C8B-B14F-4D97-AF65-F5344CB8AC3E}">
        <p14:creationId xmlns:p14="http://schemas.microsoft.com/office/powerpoint/2010/main" val="2857662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12</a:t>
            </a:fld>
            <a:endParaRPr lang="zh-CN" altLang="en-US"/>
          </a:p>
        </p:txBody>
      </p:sp>
    </p:spTree>
    <p:extLst>
      <p:ext uri="{BB962C8B-B14F-4D97-AF65-F5344CB8AC3E}">
        <p14:creationId xmlns:p14="http://schemas.microsoft.com/office/powerpoint/2010/main" val="138995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14</a:t>
            </a:fld>
            <a:endParaRPr lang="zh-CN" altLang="en-US"/>
          </a:p>
        </p:txBody>
      </p:sp>
    </p:spTree>
    <p:extLst>
      <p:ext uri="{BB962C8B-B14F-4D97-AF65-F5344CB8AC3E}">
        <p14:creationId xmlns:p14="http://schemas.microsoft.com/office/powerpoint/2010/main" val="3538735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16</a:t>
            </a:fld>
            <a:endParaRPr lang="zh-CN" altLang="en-US"/>
          </a:p>
        </p:txBody>
      </p:sp>
    </p:spTree>
    <p:extLst>
      <p:ext uri="{BB962C8B-B14F-4D97-AF65-F5344CB8AC3E}">
        <p14:creationId xmlns:p14="http://schemas.microsoft.com/office/powerpoint/2010/main" val="481069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17</a:t>
            </a:fld>
            <a:endParaRPr lang="zh-CN" altLang="en-US"/>
          </a:p>
        </p:txBody>
      </p:sp>
    </p:spTree>
    <p:extLst>
      <p:ext uri="{BB962C8B-B14F-4D97-AF65-F5344CB8AC3E}">
        <p14:creationId xmlns:p14="http://schemas.microsoft.com/office/powerpoint/2010/main" val="12603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18</a:t>
            </a:fld>
            <a:endParaRPr lang="zh-CN" altLang="en-US"/>
          </a:p>
        </p:txBody>
      </p:sp>
    </p:spTree>
    <p:extLst>
      <p:ext uri="{BB962C8B-B14F-4D97-AF65-F5344CB8AC3E}">
        <p14:creationId xmlns:p14="http://schemas.microsoft.com/office/powerpoint/2010/main" val="773057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6BDECDBE-382C-47DE-9F5A-3BF353147B64}" type="slidenum">
              <a:rPr lang="zh-CN" altLang="en-US" smtClean="0"/>
              <a:t>19</a:t>
            </a:fld>
            <a:endParaRPr lang="zh-CN" altLang="en-US"/>
          </a:p>
        </p:txBody>
      </p:sp>
    </p:spTree>
    <p:extLst>
      <p:ext uri="{BB962C8B-B14F-4D97-AF65-F5344CB8AC3E}">
        <p14:creationId xmlns:p14="http://schemas.microsoft.com/office/powerpoint/2010/main" val="2406448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BDECDBE-382C-47DE-9F5A-3BF353147B64}" type="slidenum">
              <a:rPr lang="zh-CN" altLang="en-US" smtClean="0"/>
              <a:t>21</a:t>
            </a:fld>
            <a:endParaRPr lang="zh-CN" altLang="en-US"/>
          </a:p>
        </p:txBody>
      </p:sp>
    </p:spTree>
    <p:extLst>
      <p:ext uri="{BB962C8B-B14F-4D97-AF65-F5344CB8AC3E}">
        <p14:creationId xmlns:p14="http://schemas.microsoft.com/office/powerpoint/2010/main" val="439725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arenBoth"/>
            </a:pPr>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22</a:t>
            </a:fld>
            <a:endParaRPr lang="zh-CN" altLang="en-US"/>
          </a:p>
        </p:txBody>
      </p:sp>
    </p:spTree>
    <p:extLst>
      <p:ext uri="{BB962C8B-B14F-4D97-AF65-F5344CB8AC3E}">
        <p14:creationId xmlns:p14="http://schemas.microsoft.com/office/powerpoint/2010/main" val="1671475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24</a:t>
            </a:fld>
            <a:endParaRPr lang="zh-CN" altLang="en-US"/>
          </a:p>
        </p:txBody>
      </p:sp>
    </p:spTree>
    <p:extLst>
      <p:ext uri="{BB962C8B-B14F-4D97-AF65-F5344CB8AC3E}">
        <p14:creationId xmlns:p14="http://schemas.microsoft.com/office/powerpoint/2010/main" val="2765697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25</a:t>
            </a:fld>
            <a:endParaRPr lang="zh-CN" altLang="en-US"/>
          </a:p>
        </p:txBody>
      </p:sp>
    </p:spTree>
    <p:extLst>
      <p:ext uri="{BB962C8B-B14F-4D97-AF65-F5344CB8AC3E}">
        <p14:creationId xmlns:p14="http://schemas.microsoft.com/office/powerpoint/2010/main" val="2266075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26</a:t>
            </a:fld>
            <a:endParaRPr lang="zh-CN" altLang="en-US"/>
          </a:p>
        </p:txBody>
      </p:sp>
    </p:spTree>
    <p:extLst>
      <p:ext uri="{BB962C8B-B14F-4D97-AF65-F5344CB8AC3E}">
        <p14:creationId xmlns:p14="http://schemas.microsoft.com/office/powerpoint/2010/main" val="3774129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28</a:t>
            </a:fld>
            <a:endParaRPr lang="zh-CN" altLang="en-US"/>
          </a:p>
        </p:txBody>
      </p:sp>
    </p:spTree>
    <p:extLst>
      <p:ext uri="{BB962C8B-B14F-4D97-AF65-F5344CB8AC3E}">
        <p14:creationId xmlns:p14="http://schemas.microsoft.com/office/powerpoint/2010/main" val="2654507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29</a:t>
            </a:fld>
            <a:endParaRPr lang="zh-CN" altLang="en-US"/>
          </a:p>
        </p:txBody>
      </p:sp>
    </p:spTree>
    <p:extLst>
      <p:ext uri="{BB962C8B-B14F-4D97-AF65-F5344CB8AC3E}">
        <p14:creationId xmlns:p14="http://schemas.microsoft.com/office/powerpoint/2010/main" val="504918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6BDECDBE-382C-47DE-9F5A-3BF353147B64}" type="slidenum">
              <a:rPr lang="zh-CN" altLang="en-US" smtClean="0"/>
              <a:t>30</a:t>
            </a:fld>
            <a:endParaRPr lang="zh-CN" altLang="en-US"/>
          </a:p>
        </p:txBody>
      </p:sp>
    </p:spTree>
    <p:extLst>
      <p:ext uri="{BB962C8B-B14F-4D97-AF65-F5344CB8AC3E}">
        <p14:creationId xmlns:p14="http://schemas.microsoft.com/office/powerpoint/2010/main" val="2872689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6BDECDBE-382C-47DE-9F5A-3BF353147B64}" type="slidenum">
              <a:rPr lang="zh-CN" altLang="en-US" smtClean="0"/>
              <a:t>31</a:t>
            </a:fld>
            <a:endParaRPr lang="zh-CN" altLang="en-US"/>
          </a:p>
        </p:txBody>
      </p:sp>
    </p:spTree>
    <p:extLst>
      <p:ext uri="{BB962C8B-B14F-4D97-AF65-F5344CB8AC3E}">
        <p14:creationId xmlns:p14="http://schemas.microsoft.com/office/powerpoint/2010/main" val="1875518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sym typeface="Wingdings" panose="05000000000000000000" pitchFamily="2" charset="2"/>
            </a:endParaRPr>
          </a:p>
        </p:txBody>
      </p:sp>
      <p:sp>
        <p:nvSpPr>
          <p:cNvPr id="4" name="灯片编号占位符 3"/>
          <p:cNvSpPr>
            <a:spLocks noGrp="1"/>
          </p:cNvSpPr>
          <p:nvPr>
            <p:ph type="sldNum" sz="quarter" idx="10"/>
          </p:nvPr>
        </p:nvSpPr>
        <p:spPr/>
        <p:txBody>
          <a:bodyPr/>
          <a:lstStyle/>
          <a:p>
            <a:fld id="{6BDECDBE-382C-47DE-9F5A-3BF353147B64}" type="slidenum">
              <a:rPr lang="zh-CN" altLang="en-US" smtClean="0"/>
              <a:t>32</a:t>
            </a:fld>
            <a:endParaRPr lang="zh-CN" altLang="en-US"/>
          </a:p>
        </p:txBody>
      </p:sp>
    </p:spTree>
    <p:extLst>
      <p:ext uri="{BB962C8B-B14F-4D97-AF65-F5344CB8AC3E}">
        <p14:creationId xmlns:p14="http://schemas.microsoft.com/office/powerpoint/2010/main" val="1473535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33</a:t>
            </a:fld>
            <a:endParaRPr lang="zh-CN" altLang="en-US"/>
          </a:p>
        </p:txBody>
      </p:sp>
    </p:spTree>
    <p:extLst>
      <p:ext uri="{BB962C8B-B14F-4D97-AF65-F5344CB8AC3E}">
        <p14:creationId xmlns:p14="http://schemas.microsoft.com/office/powerpoint/2010/main" val="628317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34</a:t>
            </a:fld>
            <a:endParaRPr lang="zh-CN" altLang="en-US"/>
          </a:p>
        </p:txBody>
      </p:sp>
    </p:spTree>
    <p:extLst>
      <p:ext uri="{BB962C8B-B14F-4D97-AF65-F5344CB8AC3E}">
        <p14:creationId xmlns:p14="http://schemas.microsoft.com/office/powerpoint/2010/main" val="987240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35</a:t>
            </a:fld>
            <a:endParaRPr lang="zh-CN" altLang="en-US"/>
          </a:p>
        </p:txBody>
      </p:sp>
    </p:spTree>
    <p:extLst>
      <p:ext uri="{BB962C8B-B14F-4D97-AF65-F5344CB8AC3E}">
        <p14:creationId xmlns:p14="http://schemas.microsoft.com/office/powerpoint/2010/main" val="33877743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C79DDC-778A-4A3C-ADA5-17237B8678C3}" type="slidenum">
              <a:rPr lang="zh-CN" altLang="en-US" smtClean="0"/>
              <a:t>38</a:t>
            </a:fld>
            <a:endParaRPr lang="zh-CN" altLang="en-US"/>
          </a:p>
        </p:txBody>
      </p:sp>
    </p:spTree>
    <p:extLst>
      <p:ext uri="{BB962C8B-B14F-4D97-AF65-F5344CB8AC3E}">
        <p14:creationId xmlns:p14="http://schemas.microsoft.com/office/powerpoint/2010/main" val="1057957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40</a:t>
            </a:fld>
            <a:endParaRPr lang="zh-CN" altLang="en-US"/>
          </a:p>
        </p:txBody>
      </p:sp>
    </p:spTree>
    <p:extLst>
      <p:ext uri="{BB962C8B-B14F-4D97-AF65-F5344CB8AC3E}">
        <p14:creationId xmlns:p14="http://schemas.microsoft.com/office/powerpoint/2010/main" val="2573358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41</a:t>
            </a:fld>
            <a:endParaRPr lang="zh-CN" altLang="en-US"/>
          </a:p>
        </p:txBody>
      </p:sp>
    </p:spTree>
    <p:extLst>
      <p:ext uri="{BB962C8B-B14F-4D97-AF65-F5344CB8AC3E}">
        <p14:creationId xmlns:p14="http://schemas.microsoft.com/office/powerpoint/2010/main" val="2180044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43</a:t>
            </a:fld>
            <a:endParaRPr lang="zh-CN" altLang="en-US"/>
          </a:p>
        </p:txBody>
      </p:sp>
    </p:spTree>
    <p:extLst>
      <p:ext uri="{BB962C8B-B14F-4D97-AF65-F5344CB8AC3E}">
        <p14:creationId xmlns:p14="http://schemas.microsoft.com/office/powerpoint/2010/main" val="28227467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DECDBE-382C-47DE-9F5A-3BF353147B64}" type="slidenum">
              <a:rPr lang="zh-CN" altLang="en-US" smtClean="0"/>
              <a:t>44</a:t>
            </a:fld>
            <a:endParaRPr lang="zh-CN" altLang="en-US"/>
          </a:p>
        </p:txBody>
      </p:sp>
    </p:spTree>
    <p:extLst>
      <p:ext uri="{BB962C8B-B14F-4D97-AF65-F5344CB8AC3E}">
        <p14:creationId xmlns:p14="http://schemas.microsoft.com/office/powerpoint/2010/main" val="2532131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6440451-C313-4EE6-A900-6EC4E1DB9C31}" type="datetime1">
              <a:rPr lang="zh-CN" altLang="en-US" smtClean="0"/>
              <a:t>2019/4/15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1557676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25670E-3B40-41A8-B99F-FA5A0910458A}" type="datetime1">
              <a:rPr lang="zh-CN" altLang="en-US" smtClean="0"/>
              <a:t>2019/4/15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endParaRPr lang="zh-CN" altLang="en-US" dirty="0"/>
          </a:p>
        </p:txBody>
      </p:sp>
    </p:spTree>
    <p:extLst>
      <p:ext uri="{BB962C8B-B14F-4D97-AF65-F5344CB8AC3E}">
        <p14:creationId xmlns:p14="http://schemas.microsoft.com/office/powerpoint/2010/main" val="4166741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A71A97E9-E8EF-4437-8AAB-5D12F06877FB}" type="datetime1">
              <a:rPr lang="zh-CN" altLang="en-US" smtClean="0"/>
              <a:t>2019/4/15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505157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B4E1759-8613-4857-86E4-54417C1A4AE2}" type="datetime1">
              <a:rPr lang="zh-CN" altLang="en-US" smtClean="0"/>
              <a:t>2019/4/15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211508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BF0B028-9F05-4049-9B80-4C50B30F2FD9}" type="datetime1">
              <a:rPr lang="zh-CN" altLang="en-US" smtClean="0"/>
              <a:t>2019/4/15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808374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47D5EAE-6576-47F6-AB2E-FD3E9EE7EE67}" type="datetime1">
              <a:rPr lang="zh-CN" altLang="en-US" smtClean="0"/>
              <a:t>2019/4/15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2097399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E88F06-1388-4EFB-9155-DD569B9F0E10}" type="datetime1">
              <a:rPr lang="zh-CN" altLang="en-US" smtClean="0"/>
              <a:t>2019/4/15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179553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FB4F040-FBCD-4C66-8BAB-2D51D1537EDD}" type="datetime1">
              <a:rPr lang="zh-CN" altLang="en-US" smtClean="0"/>
              <a:t>2019/4/15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3202603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6F2846B0-314F-4D41-9B17-5DF9BA316906}" type="datetime1">
              <a:rPr lang="zh-CN" altLang="en-US" smtClean="0"/>
              <a:t>2019/4/15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2384696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418F73-6581-4DD3-ACB3-534FE6792D0D}" type="datetime1">
              <a:rPr lang="zh-CN" altLang="en-US" smtClean="0"/>
              <a:t>2019/4/15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3616667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9276C7B-75F7-4469-92C6-3ED369BF2D1B}" type="datetime1">
              <a:rPr lang="zh-CN" altLang="en-US" smtClean="0"/>
              <a:t>2019/4/15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F8DB9A4-0D8C-4CD3-AD47-BCC7A2EDD934}" type="slidenum">
              <a:rPr lang="zh-CN" altLang="en-US" smtClean="0"/>
              <a:t>‹#›</a:t>
            </a:fld>
            <a:endParaRPr lang="zh-CN" altLang="en-US"/>
          </a:p>
        </p:txBody>
      </p:sp>
    </p:spTree>
    <p:extLst>
      <p:ext uri="{BB962C8B-B14F-4D97-AF65-F5344CB8AC3E}">
        <p14:creationId xmlns:p14="http://schemas.microsoft.com/office/powerpoint/2010/main" val="3018265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61A-6B79-429B-9AFC-B2A41D29DA8C}" type="datetime1">
              <a:rPr lang="zh-CN" altLang="en-US" smtClean="0"/>
              <a:t>2019/4/15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8DB9A4-0D8C-4CD3-AD47-BCC7A2EDD934}" type="slidenum">
              <a:rPr lang="zh-CN" altLang="en-US" smtClean="0"/>
              <a:t>‹#›</a:t>
            </a:fld>
            <a:endParaRPr lang="zh-CN" altLang="en-US" dirty="0"/>
          </a:p>
        </p:txBody>
      </p:sp>
    </p:spTree>
    <p:extLst>
      <p:ext uri="{BB962C8B-B14F-4D97-AF65-F5344CB8AC3E}">
        <p14:creationId xmlns:p14="http://schemas.microsoft.com/office/powerpoint/2010/main" val="1635695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988AE5F-95A3-4D19-AEFE-BC5293F83B9C}"/>
              </a:ext>
            </a:extLst>
          </p:cNvPr>
          <p:cNvSpPr txBox="1"/>
          <p:nvPr/>
        </p:nvSpPr>
        <p:spPr>
          <a:xfrm>
            <a:off x="3264875" y="2051322"/>
            <a:ext cx="5662246" cy="1494576"/>
          </a:xfrm>
          <a:prstGeom prst="rect">
            <a:avLst/>
          </a:prstGeom>
          <a:noFill/>
        </p:spPr>
        <p:txBody>
          <a:bodyPr wrap="square" rtlCol="0">
            <a:spAutoFit/>
          </a:bodyPr>
          <a:lstStyle/>
          <a:p>
            <a:pPr algn="ctr">
              <a:lnSpc>
                <a:spcPct val="150000"/>
              </a:lnSpc>
            </a:pPr>
            <a:r>
              <a:rPr lang="zh-CN" altLang="en-US" sz="3200" dirty="0">
                <a:latin typeface="黑体" panose="02010609060101010101" pitchFamily="49" charset="-122"/>
                <a:ea typeface="黑体" panose="02010609060101010101" pitchFamily="49" charset="-122"/>
              </a:rPr>
              <a:t>汇编语言程序设计</a:t>
            </a:r>
            <a:endParaRPr lang="en-US" altLang="zh-CN" sz="3200" dirty="0">
              <a:latin typeface="黑体" panose="02010609060101010101" pitchFamily="49" charset="-122"/>
              <a:ea typeface="黑体" panose="02010609060101010101" pitchFamily="49" charset="-122"/>
            </a:endParaRPr>
          </a:p>
          <a:p>
            <a:pPr algn="ctr">
              <a:lnSpc>
                <a:spcPct val="150000"/>
              </a:lnSpc>
            </a:pPr>
            <a:r>
              <a:rPr lang="zh-CN" altLang="en-US" sz="3200" dirty="0">
                <a:latin typeface="黑体" panose="02010609060101010101" pitchFamily="49" charset="-122"/>
                <a:ea typeface="黑体" panose="02010609060101010101" pitchFamily="49" charset="-122"/>
              </a:rPr>
              <a:t>习题</a:t>
            </a:r>
            <a:r>
              <a:rPr lang="zh-CN" altLang="en-US" sz="3200" dirty="0" smtClean="0">
                <a:latin typeface="黑体" panose="02010609060101010101" pitchFamily="49" charset="-122"/>
                <a:ea typeface="黑体" panose="02010609060101010101" pitchFamily="49" charset="-122"/>
              </a:rPr>
              <a:t>课（一）</a:t>
            </a:r>
            <a:endParaRPr lang="zh-CN" altLang="en-US" sz="3200"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68D151E3-56FB-459F-9151-9E52B4493D6C}"/>
              </a:ext>
            </a:extLst>
          </p:cNvPr>
          <p:cNvSpPr txBox="1"/>
          <p:nvPr/>
        </p:nvSpPr>
        <p:spPr>
          <a:xfrm>
            <a:off x="5135086" y="4420538"/>
            <a:ext cx="1921825" cy="400110"/>
          </a:xfrm>
          <a:prstGeom prst="rect">
            <a:avLst/>
          </a:prstGeom>
          <a:noFill/>
        </p:spPr>
        <p:txBody>
          <a:bodyPr wrap="square" rtlCol="0">
            <a:spAutoFit/>
          </a:bodyPr>
          <a:lstStyle/>
          <a:p>
            <a:pPr algn="ctr"/>
            <a:r>
              <a:rPr lang="en-US" altLang="zh-CN" sz="2000" dirty="0" smtClean="0">
                <a:latin typeface="黑体" panose="02010609060101010101" pitchFamily="49" charset="-122"/>
                <a:ea typeface="黑体" panose="02010609060101010101" pitchFamily="49" charset="-122"/>
              </a:rPr>
              <a:t>2018.04.15</a:t>
            </a:r>
            <a:endParaRPr lang="zh-CN" altLang="en-US" sz="2000" dirty="0">
              <a:latin typeface="黑体" panose="02010609060101010101" pitchFamily="49" charset="-122"/>
              <a:ea typeface="黑体" panose="02010609060101010101" pitchFamily="49" charset="-122"/>
            </a:endParaRPr>
          </a:p>
        </p:txBody>
      </p:sp>
      <p:cxnSp>
        <p:nvCxnSpPr>
          <p:cNvPr id="5" name="直接连接符 4">
            <a:extLst>
              <a:ext uri="{FF2B5EF4-FFF2-40B4-BE49-F238E27FC236}">
                <a16:creationId xmlns:a16="http://schemas.microsoft.com/office/drawing/2014/main" id="{9ABF9FCD-023E-4057-AD90-200E335E1A8B}"/>
              </a:ext>
            </a:extLst>
          </p:cNvPr>
          <p:cNvCxnSpPr>
            <a:cxnSpLocks/>
          </p:cNvCxnSpPr>
          <p:nvPr/>
        </p:nvCxnSpPr>
        <p:spPr>
          <a:xfrm>
            <a:off x="3165230" y="3912576"/>
            <a:ext cx="5861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361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pitchFamily="34" charset="-122"/>
                <a:ea typeface="微软雅黑" panose="020B0503020204020204" pitchFamily="34" charset="-122"/>
              </a:rPr>
              <a:t>Overview</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进</a:t>
            </a:r>
            <a:r>
              <a:rPr lang="zh-CN" altLang="en-US" dirty="0" smtClean="0">
                <a:latin typeface="微软雅黑" panose="020B0503020204020204" pitchFamily="34" charset="-122"/>
                <a:ea typeface="微软雅黑" panose="020B0503020204020204" pitchFamily="34" charset="-122"/>
              </a:rPr>
              <a:t>制与数的机器表示</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进制</a:t>
            </a:r>
            <a:r>
              <a:rPr lang="zh-CN" altLang="en-US" dirty="0" smtClean="0">
                <a:latin typeface="微软雅黑" panose="020B0503020204020204" pitchFamily="34" charset="-122"/>
                <a:ea typeface="微软雅黑" panose="020B0503020204020204" pitchFamily="34" charset="-122"/>
              </a:rPr>
              <a:t>转换</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进</a:t>
            </a:r>
            <a:r>
              <a:rPr lang="zh-CN" altLang="en-US" dirty="0" smtClean="0">
                <a:latin typeface="微软雅黑" panose="020B0503020204020204" pitchFamily="34" charset="-122"/>
                <a:ea typeface="微软雅黑" panose="020B0503020204020204" pitchFamily="34" charset="-122"/>
              </a:rPr>
              <a:t>制运算</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补码</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逻辑运算</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80x86</a:t>
            </a:r>
            <a:r>
              <a:rPr lang="zh-CN" altLang="en-US" dirty="0" smtClean="0">
                <a:latin typeface="微软雅黑" panose="020B0503020204020204" pitchFamily="34" charset="-122"/>
                <a:ea typeface="微软雅黑" panose="020B0503020204020204" pitchFamily="34" charset="-122"/>
              </a:rPr>
              <a:t>计算机体系</a:t>
            </a:r>
            <a:endParaRPr lang="en-US" altLang="zh-CN" dirty="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CPU</a:t>
            </a:r>
          </a:p>
          <a:p>
            <a:pPr lvl="1"/>
            <a:r>
              <a:rPr lang="zh-CN" altLang="en-US" dirty="0" smtClean="0">
                <a:latin typeface="微软雅黑" panose="020B0503020204020204" pitchFamily="34" charset="-122"/>
                <a:ea typeface="微软雅黑" panose="020B0503020204020204" pitchFamily="34" charset="-122"/>
              </a:rPr>
              <a:t>寄存器组</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实模式和保护模式</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寻址和指令</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906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pitchFamily="34" charset="-122"/>
                <a:ea typeface="微软雅黑" panose="020B0503020204020204" pitchFamily="34" charset="-122"/>
              </a:rPr>
              <a:t>Overview</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dirty="0">
                <a:latin typeface="微软雅黑" panose="020B0503020204020204" pitchFamily="34" charset="-122"/>
                <a:ea typeface="微软雅黑" panose="020B0503020204020204" pitchFamily="34" charset="-122"/>
              </a:rPr>
              <a:t>进</a:t>
            </a:r>
            <a:r>
              <a:rPr lang="zh-CN" altLang="en-US" dirty="0" smtClean="0">
                <a:latin typeface="微软雅黑" panose="020B0503020204020204" pitchFamily="34" charset="-122"/>
                <a:ea typeface="微软雅黑" panose="020B0503020204020204" pitchFamily="34" charset="-122"/>
              </a:rPr>
              <a:t>制与数的机器表示</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进制</a:t>
            </a:r>
            <a:r>
              <a:rPr lang="zh-CN" altLang="en-US" dirty="0" smtClean="0">
                <a:latin typeface="微软雅黑" panose="020B0503020204020204" pitchFamily="34" charset="-122"/>
                <a:ea typeface="微软雅黑" panose="020B0503020204020204" pitchFamily="34" charset="-122"/>
              </a:rPr>
              <a:t>转换</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进</a:t>
            </a:r>
            <a:r>
              <a:rPr lang="zh-CN" altLang="en-US" dirty="0" smtClean="0">
                <a:latin typeface="微软雅黑" panose="020B0503020204020204" pitchFamily="34" charset="-122"/>
                <a:ea typeface="微软雅黑" panose="020B0503020204020204" pitchFamily="34" charset="-122"/>
              </a:rPr>
              <a:t>制运算</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补码</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逻辑运算</a:t>
            </a:r>
            <a:endParaRPr lang="en-US" altLang="zh-CN" dirty="0" smtClean="0">
              <a:latin typeface="微软雅黑" panose="020B0503020204020204" pitchFamily="34" charset="-122"/>
              <a:ea typeface="微软雅黑" panose="020B0503020204020204" pitchFamily="34" charset="-122"/>
            </a:endParaRPr>
          </a:p>
          <a:p>
            <a:r>
              <a:rPr lang="en-US" altLang="zh-CN" dirty="0" smtClean="0">
                <a:solidFill>
                  <a:schemeClr val="bg1">
                    <a:lumMod val="75000"/>
                  </a:schemeClr>
                </a:solidFill>
                <a:latin typeface="微软雅黑" panose="020B0503020204020204" pitchFamily="34" charset="-122"/>
                <a:ea typeface="微软雅黑" panose="020B0503020204020204" pitchFamily="34" charset="-122"/>
              </a:rPr>
              <a:t>80x86</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计算机体系</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en-US" altLang="zh-CN" dirty="0" smtClean="0">
                <a:solidFill>
                  <a:schemeClr val="bg1">
                    <a:lumMod val="75000"/>
                  </a:schemeClr>
                </a:solidFill>
                <a:latin typeface="微软雅黑" panose="020B0503020204020204" pitchFamily="34" charset="-122"/>
                <a:ea typeface="微软雅黑" panose="020B0503020204020204" pitchFamily="34" charset="-122"/>
              </a:rPr>
              <a:t>CPU</a:t>
            </a: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寄存器组</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实模式和保护模式</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寻址和指令</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7547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pitchFamily="34" charset="-122"/>
                <a:ea typeface="微软雅黑" panose="020B0503020204020204" pitchFamily="34" charset="-122"/>
              </a:rPr>
              <a:t>Overview</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rPr>
              <a:t>进</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制与数的机器表示</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进制</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转换</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进</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制运算</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补码</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逻辑运算</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80x86</a:t>
            </a:r>
            <a:r>
              <a:rPr lang="zh-CN" altLang="en-US" dirty="0" smtClean="0">
                <a:latin typeface="微软雅黑" panose="020B0503020204020204" pitchFamily="34" charset="-122"/>
                <a:ea typeface="微软雅黑" panose="020B0503020204020204" pitchFamily="34" charset="-122"/>
              </a:rPr>
              <a:t>计算机体系</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CPU</a:t>
            </a:r>
          </a:p>
          <a:p>
            <a:pPr lvl="1"/>
            <a:r>
              <a:rPr lang="zh-CN" altLang="en-US" dirty="0" smtClean="0">
                <a:latin typeface="微软雅黑" panose="020B0503020204020204" pitchFamily="34" charset="-122"/>
                <a:ea typeface="微软雅黑" panose="020B0503020204020204" pitchFamily="34" charset="-122"/>
              </a:rPr>
              <a:t>寄存器组</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实模式和保护模式</a:t>
            </a:r>
            <a:endParaRPr lang="en-US" altLang="zh-CN" dirty="0" smtClean="0">
              <a:latin typeface="微软雅黑" panose="020B0503020204020204" pitchFamily="34" charset="-122"/>
              <a:ea typeface="微软雅黑" panose="020B0503020204020204" pitchFamily="34" charset="-122"/>
            </a:endParaRPr>
          </a:p>
          <a:p>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寻址和指令</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2857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B9DB27E-AF05-4FB4-9AD6-C0BDB5C8F836}"/>
              </a:ext>
            </a:extLst>
          </p:cNvPr>
          <p:cNvSpPr/>
          <p:nvPr/>
        </p:nvSpPr>
        <p:spPr>
          <a:xfrm>
            <a:off x="921429" y="393562"/>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5" name="文本框 4">
            <a:extLst>
              <a:ext uri="{FF2B5EF4-FFF2-40B4-BE49-F238E27FC236}">
                <a16:creationId xmlns:a16="http://schemas.microsoft.com/office/drawing/2014/main" id="{BF84EC43-1DD1-4E27-9B71-BF71066FE916}"/>
              </a:ext>
            </a:extLst>
          </p:cNvPr>
          <p:cNvSpPr txBox="1"/>
          <p:nvPr/>
        </p:nvSpPr>
        <p:spPr>
          <a:xfrm>
            <a:off x="2282766" y="393562"/>
            <a:ext cx="4994031" cy="1200329"/>
          </a:xfrm>
          <a:prstGeom prst="rect">
            <a:avLst/>
          </a:prstGeom>
          <a:noFill/>
        </p:spPr>
        <p:txBody>
          <a:bodyPr wrap="square" rtlCol="0">
            <a:spAutoFit/>
          </a:bodyPr>
          <a:lstStyle/>
          <a:p>
            <a:r>
              <a:rPr lang="zh-CN" altLang="en-US" sz="2400" dirty="0"/>
              <a:t>数据寄存器：</a:t>
            </a:r>
            <a:r>
              <a:rPr lang="en-US" altLang="zh-CN" sz="2400" dirty="0"/>
              <a:t>AX, BX, CX, DX</a:t>
            </a:r>
          </a:p>
          <a:p>
            <a:r>
              <a:rPr lang="zh-CN" altLang="en-US" sz="2400" dirty="0"/>
              <a:t>变址寄存器：</a:t>
            </a:r>
            <a:r>
              <a:rPr lang="en-US" altLang="zh-CN" sz="2400" dirty="0"/>
              <a:t>SI, DI</a:t>
            </a:r>
          </a:p>
          <a:p>
            <a:r>
              <a:rPr lang="zh-CN" altLang="en-US" sz="2400" dirty="0"/>
              <a:t>指针寄存器：</a:t>
            </a:r>
            <a:r>
              <a:rPr lang="en-US" altLang="zh-CN" sz="2400" dirty="0"/>
              <a:t>BP, SP</a:t>
            </a:r>
          </a:p>
        </p:txBody>
      </p:sp>
      <p:sp>
        <p:nvSpPr>
          <p:cNvPr id="6" name="矩形 5">
            <a:extLst>
              <a:ext uri="{FF2B5EF4-FFF2-40B4-BE49-F238E27FC236}">
                <a16:creationId xmlns:a16="http://schemas.microsoft.com/office/drawing/2014/main" id="{B6215DC5-E8CA-4DED-B454-8F4DE6F8B3A4}"/>
              </a:ext>
            </a:extLst>
          </p:cNvPr>
          <p:cNvSpPr/>
          <p:nvPr/>
        </p:nvSpPr>
        <p:spPr>
          <a:xfrm>
            <a:off x="6513913" y="421460"/>
            <a:ext cx="5070827" cy="1200329"/>
          </a:xfrm>
          <a:prstGeom prst="rect">
            <a:avLst/>
          </a:prstGeom>
        </p:spPr>
        <p:txBody>
          <a:bodyPr wrap="square">
            <a:spAutoFit/>
          </a:bodyPr>
          <a:lstStyle/>
          <a:p>
            <a:r>
              <a:rPr lang="zh-CN" altLang="en-US" sz="2400" dirty="0"/>
              <a:t>段寄存器：</a:t>
            </a:r>
            <a:r>
              <a:rPr lang="en-US" altLang="zh-CN" sz="2400" dirty="0"/>
              <a:t>CS, DS, ES, SS</a:t>
            </a:r>
          </a:p>
          <a:p>
            <a:r>
              <a:rPr lang="zh-CN" altLang="en-US" sz="2400" dirty="0"/>
              <a:t>指令指针寄存器：</a:t>
            </a:r>
            <a:r>
              <a:rPr lang="en-US" altLang="zh-CN" sz="2400" dirty="0"/>
              <a:t>IP</a:t>
            </a:r>
          </a:p>
          <a:p>
            <a:r>
              <a:rPr lang="zh-CN" altLang="en-US" sz="2400" dirty="0"/>
              <a:t>标志寄存器：</a:t>
            </a:r>
            <a:r>
              <a:rPr lang="en-US" altLang="zh-CN" sz="2400" dirty="0"/>
              <a:t>CF, PF, AF, ZF, SF, OF</a:t>
            </a:r>
            <a:endParaRPr lang="zh-CN" altLang="en-US" sz="2400" dirty="0"/>
          </a:p>
        </p:txBody>
      </p:sp>
      <p:sp>
        <p:nvSpPr>
          <p:cNvPr id="7" name="文本框 6">
            <a:extLst>
              <a:ext uri="{FF2B5EF4-FFF2-40B4-BE49-F238E27FC236}">
                <a16:creationId xmlns:a16="http://schemas.microsoft.com/office/drawing/2014/main" id="{7D09E3A3-9863-4EC2-AF26-7265F24F3CDC}"/>
              </a:ext>
            </a:extLst>
          </p:cNvPr>
          <p:cNvSpPr txBox="1"/>
          <p:nvPr/>
        </p:nvSpPr>
        <p:spPr>
          <a:xfrm>
            <a:off x="545123" y="2044516"/>
            <a:ext cx="11280531" cy="4247317"/>
          </a:xfrm>
          <a:prstGeom prst="rect">
            <a:avLst/>
          </a:prstGeom>
          <a:noFill/>
        </p:spPr>
        <p:txBody>
          <a:bodyPr wrap="square" rtlCol="0">
            <a:spAutoFit/>
          </a:bodyPr>
          <a:lstStyle/>
          <a:p>
            <a:pPr>
              <a:lnSpc>
                <a:spcPct val="150000"/>
              </a:lnSpc>
            </a:pPr>
            <a:r>
              <a:rPr lang="zh-CN" altLang="en-US" b="1" dirty="0">
                <a:solidFill>
                  <a:srgbClr val="FF0000"/>
                </a:solidFill>
              </a:rPr>
              <a:t>数据寄存器：</a:t>
            </a:r>
            <a:endParaRPr lang="en-US" altLang="zh-CN" b="1" dirty="0">
              <a:solidFill>
                <a:srgbClr val="FF0000"/>
              </a:solidFill>
            </a:endParaRPr>
          </a:p>
          <a:p>
            <a:pPr marL="285750" indent="-285750">
              <a:lnSpc>
                <a:spcPct val="150000"/>
              </a:lnSpc>
              <a:buFont typeface="Wingdings" panose="05000000000000000000" pitchFamily="2" charset="2"/>
              <a:buChar char="Ø"/>
            </a:pPr>
            <a:r>
              <a:rPr lang="en-US" altLang="zh-CN" dirty="0"/>
              <a:t>AX</a:t>
            </a:r>
            <a:r>
              <a:rPr lang="zh-CN" altLang="en-US" dirty="0" smtClean="0"/>
              <a:t>和</a:t>
            </a:r>
            <a:r>
              <a:rPr lang="en-US" altLang="zh-CN" dirty="0"/>
              <a:t>AL</a:t>
            </a:r>
            <a:r>
              <a:rPr lang="zh-CN" altLang="en-US" dirty="0" smtClean="0"/>
              <a:t>通常</a:t>
            </a:r>
            <a:r>
              <a:rPr lang="zh-CN" altLang="en-US" dirty="0"/>
              <a:t>称为累加器，用累加器进行的操作可能需要更少时间，累加器可用于乘、除、输入</a:t>
            </a:r>
            <a:r>
              <a:rPr lang="en-US" altLang="zh-CN" dirty="0"/>
              <a:t>/</a:t>
            </a:r>
            <a:r>
              <a:rPr lang="zh-CN" altLang="en-US" dirty="0"/>
              <a:t>输出等操作。</a:t>
            </a:r>
          </a:p>
          <a:p>
            <a:pPr marL="285750" indent="-285750">
              <a:lnSpc>
                <a:spcPct val="150000"/>
              </a:lnSpc>
              <a:buFont typeface="Wingdings" panose="05000000000000000000" pitchFamily="2" charset="2"/>
              <a:buChar char="Ø"/>
            </a:pPr>
            <a:r>
              <a:rPr lang="en-US" altLang="zh-CN" dirty="0"/>
              <a:t>BX</a:t>
            </a:r>
            <a:r>
              <a:rPr lang="zh-CN" altLang="en-US" dirty="0"/>
              <a:t>称为基地址寄存器，它可作为存储器指针来使用。</a:t>
            </a:r>
          </a:p>
          <a:p>
            <a:pPr marL="285750" indent="-285750">
              <a:lnSpc>
                <a:spcPct val="150000"/>
              </a:lnSpc>
              <a:buFont typeface="Wingdings" panose="05000000000000000000" pitchFamily="2" charset="2"/>
              <a:buChar char="Ø"/>
            </a:pPr>
            <a:r>
              <a:rPr lang="en-US" altLang="zh-CN" dirty="0"/>
              <a:t>CX</a:t>
            </a:r>
            <a:r>
              <a:rPr lang="zh-CN" altLang="en-US" dirty="0"/>
              <a:t>称为计数寄存器，在循环和字符串操作时，要用它来控制循环次数；在位操作中，当移多位时，要</a:t>
            </a:r>
            <a:r>
              <a:rPr lang="zh-CN" altLang="en-US" dirty="0" smtClean="0"/>
              <a:t>用</a:t>
            </a:r>
            <a:r>
              <a:rPr lang="en-US" altLang="zh-CN" dirty="0"/>
              <a:t>CL</a:t>
            </a:r>
            <a:r>
              <a:rPr lang="zh-CN" altLang="en-US" dirty="0" smtClean="0"/>
              <a:t>来</a:t>
            </a:r>
            <a:r>
              <a:rPr lang="zh-CN" altLang="en-US" dirty="0"/>
              <a:t>指明位移的位数。</a:t>
            </a:r>
          </a:p>
          <a:p>
            <a:pPr marL="285750" indent="-285750">
              <a:lnSpc>
                <a:spcPct val="150000"/>
              </a:lnSpc>
              <a:buFont typeface="Wingdings" panose="05000000000000000000" pitchFamily="2" charset="2"/>
              <a:buChar char="Ø"/>
            </a:pPr>
            <a:r>
              <a:rPr lang="en-US" altLang="zh-CN" dirty="0"/>
              <a:t>DX</a:t>
            </a:r>
            <a:r>
              <a:rPr lang="zh-CN" altLang="en-US" dirty="0"/>
              <a:t>称为数据寄存器，在进行乘、除运算时，它可以为默认的操作数参与运算，也可用于存放</a:t>
            </a:r>
            <a:r>
              <a:rPr lang="en-US" altLang="zh-CN" dirty="0"/>
              <a:t>I/O</a:t>
            </a:r>
            <a:r>
              <a:rPr lang="zh-CN" altLang="en-US" dirty="0"/>
              <a:t>的端口地址。</a:t>
            </a:r>
            <a:endParaRPr lang="en-US" altLang="zh-CN" dirty="0"/>
          </a:p>
          <a:p>
            <a:pPr>
              <a:lnSpc>
                <a:spcPct val="150000"/>
              </a:lnSpc>
            </a:pPr>
            <a:endParaRPr lang="zh-CN" altLang="en-US" dirty="0"/>
          </a:p>
          <a:p>
            <a:pPr>
              <a:lnSpc>
                <a:spcPct val="150000"/>
              </a:lnSpc>
            </a:pPr>
            <a:r>
              <a:rPr lang="zh-CN" altLang="en-US" dirty="0"/>
              <a:t>在</a:t>
            </a:r>
            <a:r>
              <a:rPr lang="en-US" altLang="zh-CN" dirty="0"/>
              <a:t>16</a:t>
            </a:r>
            <a:r>
              <a:rPr lang="zh-CN" altLang="en-US" dirty="0"/>
              <a:t>位</a:t>
            </a:r>
            <a:r>
              <a:rPr lang="en-US" altLang="zh-CN" dirty="0"/>
              <a:t>CPU</a:t>
            </a:r>
            <a:r>
              <a:rPr lang="zh-CN" altLang="en-US" dirty="0"/>
              <a:t>中，</a:t>
            </a:r>
            <a:r>
              <a:rPr lang="en-US" altLang="zh-CN" dirty="0"/>
              <a:t>AX</a:t>
            </a:r>
            <a:r>
              <a:rPr lang="zh-CN" altLang="en-US" dirty="0"/>
              <a:t>、</a:t>
            </a:r>
            <a:r>
              <a:rPr lang="en-US" altLang="zh-CN" dirty="0"/>
              <a:t>CX</a:t>
            </a:r>
            <a:r>
              <a:rPr lang="zh-CN" altLang="en-US" dirty="0"/>
              <a:t>和</a:t>
            </a:r>
            <a:r>
              <a:rPr lang="en-US" altLang="zh-CN" dirty="0"/>
              <a:t>DX</a:t>
            </a:r>
            <a:r>
              <a:rPr lang="zh-CN" altLang="en-US" dirty="0"/>
              <a:t>不能作为基址和变址寄存器来存放存储单元的地址，但在</a:t>
            </a:r>
            <a:r>
              <a:rPr lang="en-US" altLang="zh-CN" dirty="0"/>
              <a:t>32</a:t>
            </a:r>
            <a:r>
              <a:rPr lang="zh-CN" altLang="en-US" dirty="0"/>
              <a:t>位</a:t>
            </a:r>
            <a:r>
              <a:rPr lang="en-US" altLang="zh-CN" dirty="0"/>
              <a:t>CPU</a:t>
            </a:r>
            <a:r>
              <a:rPr lang="zh-CN" altLang="en-US" dirty="0"/>
              <a:t>中，其</a:t>
            </a:r>
            <a:r>
              <a:rPr lang="en-US" altLang="zh-CN" dirty="0"/>
              <a:t>32</a:t>
            </a:r>
            <a:r>
              <a:rPr lang="zh-CN" altLang="en-US" dirty="0"/>
              <a:t>位寄存器</a:t>
            </a:r>
            <a:r>
              <a:rPr lang="en-US" altLang="zh-CN" dirty="0"/>
              <a:t>EAX</a:t>
            </a:r>
            <a:r>
              <a:rPr lang="zh-CN" altLang="en-US" dirty="0"/>
              <a:t>、</a:t>
            </a:r>
            <a:r>
              <a:rPr lang="en-US" altLang="zh-CN" dirty="0"/>
              <a:t>EBX</a:t>
            </a:r>
            <a:r>
              <a:rPr lang="zh-CN" altLang="en-US" dirty="0"/>
              <a:t>、</a:t>
            </a:r>
            <a:r>
              <a:rPr lang="en-US" altLang="zh-CN" dirty="0"/>
              <a:t>ECX</a:t>
            </a:r>
            <a:r>
              <a:rPr lang="zh-CN" altLang="en-US" dirty="0"/>
              <a:t>和</a:t>
            </a:r>
            <a:r>
              <a:rPr lang="en-US" altLang="zh-CN" dirty="0"/>
              <a:t>EDX</a:t>
            </a:r>
            <a:r>
              <a:rPr lang="zh-CN" altLang="en-US" dirty="0"/>
              <a:t>不仅可传送数据、暂存数据、保存算术逻辑运算结果，而且也可作为指针寄存器，所以，这些</a:t>
            </a:r>
            <a:r>
              <a:rPr lang="en-US" altLang="zh-CN" dirty="0"/>
              <a:t>32</a:t>
            </a:r>
            <a:r>
              <a:rPr lang="zh-CN" altLang="en-US" dirty="0"/>
              <a:t>位寄存器更具有通用性。</a:t>
            </a:r>
          </a:p>
        </p:txBody>
      </p:sp>
    </p:spTree>
    <p:extLst>
      <p:ext uri="{BB962C8B-B14F-4D97-AF65-F5344CB8AC3E}">
        <p14:creationId xmlns:p14="http://schemas.microsoft.com/office/powerpoint/2010/main" val="342623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96F7E78-FB43-4D64-92A6-884C642BBB72}"/>
              </a:ext>
            </a:extLst>
          </p:cNvPr>
          <p:cNvSpPr/>
          <p:nvPr/>
        </p:nvSpPr>
        <p:spPr>
          <a:xfrm>
            <a:off x="795703" y="360100"/>
            <a:ext cx="10410459" cy="2585323"/>
          </a:xfrm>
          <a:prstGeom prst="rect">
            <a:avLst/>
          </a:prstGeom>
        </p:spPr>
        <p:txBody>
          <a:bodyPr wrap="square">
            <a:spAutoFit/>
          </a:bodyPr>
          <a:lstStyle/>
          <a:p>
            <a:pPr algn="just">
              <a:lnSpc>
                <a:spcPct val="150000"/>
              </a:lnSpc>
            </a:pPr>
            <a:r>
              <a:rPr lang="zh-CN" altLang="en-US" b="1" dirty="0">
                <a:solidFill>
                  <a:srgbClr val="FF0000"/>
                </a:solidFill>
              </a:rPr>
              <a:t>变址寄存器：</a:t>
            </a:r>
            <a:endParaRPr lang="en-US" altLang="zh-CN" b="1" dirty="0">
              <a:solidFill>
                <a:srgbClr val="FF0000"/>
              </a:solidFill>
            </a:endParaRPr>
          </a:p>
          <a:p>
            <a:pPr algn="just">
              <a:lnSpc>
                <a:spcPct val="150000"/>
              </a:lnSpc>
            </a:pPr>
            <a:r>
              <a:rPr lang="en-US" altLang="zh-CN" dirty="0"/>
              <a:t>ESI</a:t>
            </a:r>
            <a:r>
              <a:rPr lang="zh-CN" altLang="en-US" dirty="0"/>
              <a:t>、</a:t>
            </a:r>
            <a:r>
              <a:rPr lang="en-US" altLang="zh-CN" dirty="0"/>
              <a:t>EDI</a:t>
            </a:r>
            <a:r>
              <a:rPr lang="zh-CN" altLang="en-US" dirty="0"/>
              <a:t>、</a:t>
            </a:r>
            <a:r>
              <a:rPr lang="en-US" altLang="zh-CN" dirty="0"/>
              <a:t>SI</a:t>
            </a:r>
            <a:r>
              <a:rPr lang="zh-CN" altLang="en-US" dirty="0"/>
              <a:t>和</a:t>
            </a:r>
            <a:r>
              <a:rPr lang="en-US" altLang="zh-CN" dirty="0"/>
              <a:t>DI</a:t>
            </a:r>
            <a:r>
              <a:rPr lang="zh-CN" altLang="en-US" dirty="0"/>
              <a:t>称为变址寄存器，它们主要用于存放</a:t>
            </a:r>
            <a:r>
              <a:rPr lang="zh-CN" altLang="en-US" b="1" dirty="0"/>
              <a:t>存储单元在段内的偏移量</a:t>
            </a:r>
            <a:r>
              <a:rPr lang="zh-CN" altLang="en-US" dirty="0"/>
              <a:t>，用它们可实现多种</a:t>
            </a:r>
            <a:r>
              <a:rPr lang="zh-CN" altLang="en-US" dirty="0" smtClean="0"/>
              <a:t>存储器操作数</a:t>
            </a:r>
            <a:r>
              <a:rPr lang="zh-CN" altLang="en-US" dirty="0"/>
              <a:t>的寻址方式，为以不同的地址形式访问存储单元提供</a:t>
            </a:r>
            <a:r>
              <a:rPr lang="zh-CN" altLang="en-US" dirty="0" smtClean="0"/>
              <a:t>方便；</a:t>
            </a:r>
            <a:endParaRPr lang="zh-CN" altLang="en-US" dirty="0"/>
          </a:p>
          <a:p>
            <a:pPr algn="just">
              <a:lnSpc>
                <a:spcPct val="150000"/>
              </a:lnSpc>
            </a:pPr>
            <a:r>
              <a:rPr lang="zh-CN" altLang="en-US" dirty="0"/>
              <a:t>变址寄存器不可分割成</a:t>
            </a:r>
            <a:r>
              <a:rPr lang="en-US" altLang="zh-CN" dirty="0"/>
              <a:t>8</a:t>
            </a:r>
            <a:r>
              <a:rPr lang="zh-CN" altLang="en-US" dirty="0"/>
              <a:t>位寄存器，作为通用寄存器，</a:t>
            </a:r>
            <a:r>
              <a:rPr lang="zh-CN" altLang="en-US" b="1" dirty="0"/>
              <a:t>也可存储算术逻辑运算的操作数和运算</a:t>
            </a:r>
            <a:r>
              <a:rPr lang="zh-CN" altLang="en-US" b="1" dirty="0" smtClean="0"/>
              <a:t>结果</a:t>
            </a:r>
            <a:r>
              <a:rPr lang="zh-CN" altLang="en-US" dirty="0"/>
              <a:t>；</a:t>
            </a:r>
          </a:p>
          <a:p>
            <a:pPr algn="just">
              <a:lnSpc>
                <a:spcPct val="150000"/>
              </a:lnSpc>
            </a:pPr>
            <a:r>
              <a:rPr lang="zh-CN" altLang="en-US" dirty="0"/>
              <a:t>它们可作一般的存储器指针使用，在字符串操作指令的执行过程中，对它们有特定的要求，而且还具有特殊的功能。</a:t>
            </a:r>
          </a:p>
        </p:txBody>
      </p:sp>
      <p:sp>
        <p:nvSpPr>
          <p:cNvPr id="5" name="矩形 4">
            <a:extLst>
              <a:ext uri="{FF2B5EF4-FFF2-40B4-BE49-F238E27FC236}">
                <a16:creationId xmlns:a16="http://schemas.microsoft.com/office/drawing/2014/main" id="{7FC5708C-C95B-4CA7-915B-4108E72DA9A1}"/>
              </a:ext>
            </a:extLst>
          </p:cNvPr>
          <p:cNvSpPr/>
          <p:nvPr/>
        </p:nvSpPr>
        <p:spPr>
          <a:xfrm>
            <a:off x="795703" y="3547870"/>
            <a:ext cx="10600593" cy="3000821"/>
          </a:xfrm>
          <a:prstGeom prst="rect">
            <a:avLst/>
          </a:prstGeom>
        </p:spPr>
        <p:txBody>
          <a:bodyPr wrap="square">
            <a:spAutoFit/>
          </a:bodyPr>
          <a:lstStyle/>
          <a:p>
            <a:pPr algn="just">
              <a:lnSpc>
                <a:spcPct val="150000"/>
              </a:lnSpc>
            </a:pPr>
            <a:r>
              <a:rPr lang="zh-CN" altLang="en-US" b="1" dirty="0">
                <a:solidFill>
                  <a:srgbClr val="FF0000"/>
                </a:solidFill>
              </a:rPr>
              <a:t>指针寄存器：</a:t>
            </a:r>
            <a:endParaRPr lang="en-US" altLang="zh-CN" b="1" dirty="0">
              <a:solidFill>
                <a:srgbClr val="FF0000"/>
              </a:solidFill>
            </a:endParaRPr>
          </a:p>
          <a:p>
            <a:pPr algn="just">
              <a:lnSpc>
                <a:spcPct val="150000"/>
              </a:lnSpc>
            </a:pPr>
            <a:r>
              <a:rPr lang="en-US" altLang="zh-CN" dirty="0"/>
              <a:t>EBP</a:t>
            </a:r>
            <a:r>
              <a:rPr lang="zh-CN" altLang="en-US" dirty="0"/>
              <a:t>、</a:t>
            </a:r>
            <a:r>
              <a:rPr lang="en-US" altLang="zh-CN" dirty="0"/>
              <a:t>ESP</a:t>
            </a:r>
            <a:r>
              <a:rPr lang="zh-CN" altLang="en-US" dirty="0"/>
              <a:t>、</a:t>
            </a:r>
            <a:r>
              <a:rPr lang="en-US" altLang="zh-CN" dirty="0"/>
              <a:t>BP</a:t>
            </a:r>
            <a:r>
              <a:rPr lang="zh-CN" altLang="en-US" dirty="0"/>
              <a:t>和</a:t>
            </a:r>
            <a:r>
              <a:rPr lang="en-US" altLang="zh-CN" dirty="0"/>
              <a:t>SP</a:t>
            </a:r>
            <a:r>
              <a:rPr lang="zh-CN" altLang="en-US" dirty="0"/>
              <a:t>称为指针寄存器，主要用于存放</a:t>
            </a:r>
            <a:r>
              <a:rPr lang="zh-CN" altLang="en-US" b="1" dirty="0"/>
              <a:t>堆栈内存储单元的偏移量</a:t>
            </a:r>
            <a:r>
              <a:rPr lang="zh-CN" altLang="en-US" dirty="0"/>
              <a:t>，用它们可实现多种存储器</a:t>
            </a:r>
          </a:p>
          <a:p>
            <a:pPr algn="just">
              <a:lnSpc>
                <a:spcPct val="150000"/>
              </a:lnSpc>
            </a:pPr>
            <a:r>
              <a:rPr lang="zh-CN" altLang="en-US" dirty="0"/>
              <a:t>操作数的寻址方式，为以不同的地址形式访问存储单元提供</a:t>
            </a:r>
            <a:r>
              <a:rPr lang="zh-CN" altLang="en-US" dirty="0" smtClean="0"/>
              <a:t>方便；</a:t>
            </a:r>
            <a:endParaRPr lang="zh-CN" altLang="en-US" dirty="0"/>
          </a:p>
          <a:p>
            <a:pPr algn="just">
              <a:lnSpc>
                <a:spcPct val="150000"/>
              </a:lnSpc>
            </a:pPr>
            <a:r>
              <a:rPr lang="zh-CN" altLang="en-US" dirty="0"/>
              <a:t>指针寄存器不可分割成</a:t>
            </a:r>
            <a:r>
              <a:rPr lang="en-US" altLang="zh-CN" dirty="0"/>
              <a:t>8</a:t>
            </a:r>
            <a:r>
              <a:rPr lang="zh-CN" altLang="en-US" dirty="0"/>
              <a:t>位寄存器，作为通用寄存器，</a:t>
            </a:r>
            <a:r>
              <a:rPr lang="zh-CN" altLang="en-US" b="1" dirty="0"/>
              <a:t>也可存储算术逻辑运算的操作数和运算</a:t>
            </a:r>
            <a:r>
              <a:rPr lang="zh-CN" altLang="en-US" b="1" dirty="0" smtClean="0"/>
              <a:t>结果</a:t>
            </a:r>
            <a:r>
              <a:rPr lang="zh-CN" altLang="en-US" dirty="0"/>
              <a:t>；</a:t>
            </a:r>
          </a:p>
          <a:p>
            <a:pPr algn="just">
              <a:lnSpc>
                <a:spcPct val="150000"/>
              </a:lnSpc>
            </a:pPr>
            <a:r>
              <a:rPr lang="zh-CN" altLang="en-US" dirty="0"/>
              <a:t>它们主要用于访问堆栈内的存储单元，并且规定</a:t>
            </a:r>
            <a:r>
              <a:rPr lang="zh-CN" altLang="en-US" dirty="0" smtClean="0"/>
              <a:t>：</a:t>
            </a:r>
            <a:endParaRPr lang="zh-CN" altLang="en-US" dirty="0"/>
          </a:p>
          <a:p>
            <a:pPr algn="just">
              <a:lnSpc>
                <a:spcPct val="150000"/>
              </a:lnSpc>
            </a:pPr>
            <a:r>
              <a:rPr lang="en-US" altLang="zh-CN" dirty="0"/>
              <a:t>BP</a:t>
            </a:r>
            <a:r>
              <a:rPr lang="zh-CN" altLang="en-US" dirty="0"/>
              <a:t>为基指针寄存器</a:t>
            </a:r>
            <a:r>
              <a:rPr lang="zh-CN" altLang="en-US" dirty="0" smtClean="0"/>
              <a:t>，用它可直接存取堆栈中的数据；</a:t>
            </a:r>
            <a:endParaRPr lang="zh-CN" altLang="en-US" dirty="0"/>
          </a:p>
          <a:p>
            <a:pPr algn="just">
              <a:lnSpc>
                <a:spcPct val="150000"/>
              </a:lnSpc>
            </a:pPr>
            <a:r>
              <a:rPr lang="en-US" altLang="zh-CN" dirty="0"/>
              <a:t>SP</a:t>
            </a:r>
            <a:r>
              <a:rPr lang="zh-CN" altLang="en-US" dirty="0"/>
              <a:t>为堆栈指针寄存器，用它只可访问</a:t>
            </a:r>
            <a:r>
              <a:rPr lang="zh-CN" altLang="en-US" b="1" dirty="0"/>
              <a:t>栈顶</a:t>
            </a:r>
            <a:r>
              <a:rPr lang="zh-CN" altLang="en-US" dirty="0"/>
              <a:t>。</a:t>
            </a:r>
          </a:p>
        </p:txBody>
      </p:sp>
    </p:spTree>
    <p:extLst>
      <p:ext uri="{BB962C8B-B14F-4D97-AF65-F5344CB8AC3E}">
        <p14:creationId xmlns:p14="http://schemas.microsoft.com/office/powerpoint/2010/main" val="3758025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5D814BE-31D1-4162-BCFA-E81AFD1D64A7}"/>
              </a:ext>
            </a:extLst>
          </p:cNvPr>
          <p:cNvSpPr/>
          <p:nvPr/>
        </p:nvSpPr>
        <p:spPr>
          <a:xfrm>
            <a:off x="1036028" y="463707"/>
            <a:ext cx="10119946" cy="3000821"/>
          </a:xfrm>
          <a:prstGeom prst="rect">
            <a:avLst/>
          </a:prstGeom>
        </p:spPr>
        <p:txBody>
          <a:bodyPr wrap="square">
            <a:spAutoFit/>
          </a:bodyPr>
          <a:lstStyle/>
          <a:p>
            <a:pPr algn="just">
              <a:lnSpc>
                <a:spcPct val="150000"/>
              </a:lnSpc>
            </a:pPr>
            <a:r>
              <a:rPr lang="zh-CN" altLang="en-US" b="1" dirty="0">
                <a:solidFill>
                  <a:srgbClr val="FF0000"/>
                </a:solidFill>
              </a:rPr>
              <a:t>段寄存器：</a:t>
            </a:r>
            <a:endParaRPr lang="en-US" altLang="zh-CN" b="1" dirty="0">
              <a:solidFill>
                <a:srgbClr val="FF0000"/>
              </a:solidFill>
            </a:endParaRPr>
          </a:p>
          <a:p>
            <a:pPr algn="just">
              <a:lnSpc>
                <a:spcPct val="150000"/>
              </a:lnSpc>
            </a:pPr>
            <a:r>
              <a:rPr lang="zh-CN" altLang="en-US" dirty="0"/>
              <a:t>段寄存器是根据内存分段的管理模式而设置的。内存单元的</a:t>
            </a:r>
            <a:r>
              <a:rPr lang="zh-CN" altLang="en-US" b="1" u="sng" dirty="0"/>
              <a:t>物理地址</a:t>
            </a:r>
            <a:r>
              <a:rPr lang="zh-CN" altLang="en-US" dirty="0"/>
              <a:t>由</a:t>
            </a:r>
            <a:r>
              <a:rPr lang="zh-CN" altLang="en-US" b="1" dirty="0"/>
              <a:t>段寄存器的值和一个偏移量组合而成</a:t>
            </a:r>
            <a:r>
              <a:rPr lang="zh-CN" altLang="en-US" dirty="0"/>
              <a:t>的，这样可用两个较少位数的值组合成一个可访问较大物理空间的内存地址。</a:t>
            </a:r>
            <a:endParaRPr lang="en-US" altLang="zh-CN" dirty="0"/>
          </a:p>
          <a:p>
            <a:pPr>
              <a:lnSpc>
                <a:spcPct val="150000"/>
              </a:lnSpc>
            </a:pPr>
            <a:r>
              <a:rPr lang="en-US" altLang="zh-CN" dirty="0"/>
              <a:t>CS</a:t>
            </a:r>
            <a:r>
              <a:rPr lang="zh-CN" altLang="en-US" dirty="0"/>
              <a:t>：代码段寄存器    </a:t>
            </a:r>
            <a:r>
              <a:rPr lang="en-US" altLang="zh-CN" dirty="0"/>
              <a:t>ES</a:t>
            </a:r>
            <a:r>
              <a:rPr lang="zh-CN" altLang="en-US" dirty="0"/>
              <a:t>：附加段寄存器</a:t>
            </a:r>
          </a:p>
          <a:p>
            <a:pPr>
              <a:lnSpc>
                <a:spcPct val="150000"/>
              </a:lnSpc>
            </a:pPr>
            <a:r>
              <a:rPr lang="en-US" altLang="zh-CN" dirty="0"/>
              <a:t>DS</a:t>
            </a:r>
            <a:r>
              <a:rPr lang="zh-CN" altLang="en-US" dirty="0"/>
              <a:t>：数据段寄存器    </a:t>
            </a:r>
            <a:r>
              <a:rPr lang="en-US" altLang="zh-CN" dirty="0"/>
              <a:t>SS</a:t>
            </a:r>
            <a:r>
              <a:rPr lang="zh-CN" altLang="en-US" dirty="0"/>
              <a:t>：堆栈段寄存器</a:t>
            </a:r>
            <a:endParaRPr lang="en-US" altLang="zh-CN" dirty="0"/>
          </a:p>
          <a:p>
            <a:pPr>
              <a:lnSpc>
                <a:spcPct val="150000"/>
              </a:lnSpc>
            </a:pPr>
            <a:r>
              <a:rPr lang="zh-CN" altLang="en-US" b="1" dirty="0"/>
              <a:t>内存地址为“段地址：偏移地址”的形式</a:t>
            </a:r>
            <a:r>
              <a:rPr lang="zh-CN" altLang="en-US" dirty="0"/>
              <a:t>，为访问某内存段内的数据，必须使用该段寄存器和存储单元的偏移地址。</a:t>
            </a:r>
          </a:p>
        </p:txBody>
      </p:sp>
      <p:sp>
        <p:nvSpPr>
          <p:cNvPr id="5" name="矩形 4">
            <a:extLst>
              <a:ext uri="{FF2B5EF4-FFF2-40B4-BE49-F238E27FC236}">
                <a16:creationId xmlns:a16="http://schemas.microsoft.com/office/drawing/2014/main" id="{EF0CDDC9-C787-49F3-96D9-C9E82E388D81}"/>
              </a:ext>
            </a:extLst>
          </p:cNvPr>
          <p:cNvSpPr/>
          <p:nvPr/>
        </p:nvSpPr>
        <p:spPr>
          <a:xfrm>
            <a:off x="1036028" y="3506201"/>
            <a:ext cx="5997817" cy="2169825"/>
          </a:xfrm>
          <a:prstGeom prst="rect">
            <a:avLst/>
          </a:prstGeom>
        </p:spPr>
        <p:txBody>
          <a:bodyPr wrap="square">
            <a:spAutoFit/>
          </a:bodyPr>
          <a:lstStyle/>
          <a:p>
            <a:pPr algn="just">
              <a:lnSpc>
                <a:spcPct val="150000"/>
              </a:lnSpc>
            </a:pPr>
            <a:r>
              <a:rPr lang="zh-CN" altLang="en-US" b="1" dirty="0">
                <a:solidFill>
                  <a:srgbClr val="FF0000"/>
                </a:solidFill>
              </a:rPr>
              <a:t>指令指针寄存器：</a:t>
            </a:r>
            <a:endParaRPr lang="en-US" altLang="zh-CN" b="1" dirty="0">
              <a:solidFill>
                <a:srgbClr val="FF0000"/>
              </a:solidFill>
            </a:endParaRPr>
          </a:p>
          <a:p>
            <a:pPr algn="just">
              <a:lnSpc>
                <a:spcPct val="150000"/>
              </a:lnSpc>
            </a:pPr>
            <a:r>
              <a:rPr lang="zh-CN" altLang="en-US" dirty="0"/>
              <a:t>指令指针</a:t>
            </a:r>
            <a:r>
              <a:rPr lang="en-US" altLang="zh-CN" dirty="0"/>
              <a:t>EIP</a:t>
            </a:r>
            <a:r>
              <a:rPr lang="zh-CN" altLang="en-US" dirty="0"/>
              <a:t>、</a:t>
            </a:r>
            <a:r>
              <a:rPr lang="en-US" altLang="zh-CN" b="1" u="sng" dirty="0"/>
              <a:t>IP</a:t>
            </a:r>
            <a:r>
              <a:rPr lang="zh-CN" altLang="en-US" dirty="0"/>
              <a:t>是存放</a:t>
            </a:r>
            <a:r>
              <a:rPr lang="zh-CN" altLang="en-US" b="1" dirty="0"/>
              <a:t>下次将要执行的指令在代码段的偏移地址</a:t>
            </a:r>
            <a:r>
              <a:rPr lang="zh-CN" altLang="en-US" dirty="0"/>
              <a:t>，在具有预取指令功能的系统中，下次要执行的指令通常已被预取到指令队列中，除非发生转移情况，所以，在理解它们的功能时不考虑存在指令队列的情况。</a:t>
            </a:r>
          </a:p>
        </p:txBody>
      </p:sp>
      <p:sp>
        <p:nvSpPr>
          <p:cNvPr id="6" name="矩形 5">
            <a:extLst>
              <a:ext uri="{FF2B5EF4-FFF2-40B4-BE49-F238E27FC236}">
                <a16:creationId xmlns:a16="http://schemas.microsoft.com/office/drawing/2014/main" id="{1F6970B1-64F1-434B-BA56-CD37C6D46EA3}"/>
              </a:ext>
            </a:extLst>
          </p:cNvPr>
          <p:cNvSpPr/>
          <p:nvPr/>
        </p:nvSpPr>
        <p:spPr>
          <a:xfrm>
            <a:off x="7739278" y="3533466"/>
            <a:ext cx="4191989" cy="2169825"/>
          </a:xfrm>
          <a:prstGeom prst="rect">
            <a:avLst/>
          </a:prstGeom>
        </p:spPr>
        <p:txBody>
          <a:bodyPr wrap="square">
            <a:spAutoFit/>
          </a:bodyPr>
          <a:lstStyle/>
          <a:p>
            <a:pPr algn="just">
              <a:lnSpc>
                <a:spcPct val="150000"/>
              </a:lnSpc>
            </a:pPr>
            <a:r>
              <a:rPr lang="zh-CN" altLang="en-US" b="1" dirty="0">
                <a:solidFill>
                  <a:srgbClr val="FF0000"/>
                </a:solidFill>
                <a:latin typeface="PingFang SC"/>
              </a:rPr>
              <a:t>标志寄存器：</a:t>
            </a:r>
            <a:endParaRPr lang="en-US" altLang="zh-CN" b="1" dirty="0">
              <a:solidFill>
                <a:srgbClr val="FF0000"/>
              </a:solidFill>
              <a:latin typeface="PingFang SC"/>
            </a:endParaRPr>
          </a:p>
          <a:p>
            <a:pPr algn="just">
              <a:lnSpc>
                <a:spcPct val="150000"/>
              </a:lnSpc>
            </a:pPr>
            <a:r>
              <a:rPr lang="en-US" altLang="zh-CN" b="1" dirty="0" smtClean="0"/>
              <a:t>CF </a:t>
            </a:r>
            <a:r>
              <a:rPr lang="zh-CN" altLang="en-US" dirty="0" smtClean="0"/>
              <a:t>进位标志位            </a:t>
            </a:r>
            <a:r>
              <a:rPr lang="en-US" altLang="zh-CN" dirty="0" smtClean="0"/>
              <a:t>SF </a:t>
            </a:r>
            <a:r>
              <a:rPr lang="zh-CN" altLang="en-US" dirty="0" smtClean="0"/>
              <a:t>符号标志位</a:t>
            </a:r>
            <a:endParaRPr lang="en-US" altLang="zh-CN" dirty="0"/>
          </a:p>
          <a:p>
            <a:pPr algn="just">
              <a:lnSpc>
                <a:spcPct val="150000"/>
              </a:lnSpc>
            </a:pPr>
            <a:r>
              <a:rPr lang="en-US" altLang="zh-CN" dirty="0" smtClean="0"/>
              <a:t>PF </a:t>
            </a:r>
            <a:r>
              <a:rPr lang="zh-CN" altLang="en-US" dirty="0" smtClean="0"/>
              <a:t>奇偶</a:t>
            </a:r>
            <a:r>
              <a:rPr lang="zh-CN" altLang="en-US" dirty="0"/>
              <a:t>标志</a:t>
            </a:r>
            <a:r>
              <a:rPr lang="zh-CN" altLang="en-US" dirty="0" smtClean="0"/>
              <a:t>位            </a:t>
            </a:r>
            <a:r>
              <a:rPr lang="en-US" altLang="zh-CN" b="1" dirty="0" smtClean="0"/>
              <a:t>OF</a:t>
            </a:r>
            <a:r>
              <a:rPr lang="en-US" altLang="zh-CN" dirty="0" smtClean="0"/>
              <a:t> </a:t>
            </a:r>
            <a:r>
              <a:rPr lang="zh-CN" altLang="en-US" dirty="0" smtClean="0"/>
              <a:t>溢出标志位</a:t>
            </a:r>
            <a:endParaRPr lang="en-US" altLang="zh-CN" dirty="0"/>
          </a:p>
          <a:p>
            <a:pPr algn="just">
              <a:lnSpc>
                <a:spcPct val="150000"/>
              </a:lnSpc>
            </a:pPr>
            <a:r>
              <a:rPr lang="en-US" altLang="zh-CN" dirty="0" smtClean="0"/>
              <a:t>AF </a:t>
            </a:r>
            <a:r>
              <a:rPr lang="zh-CN" altLang="en-US" dirty="0" smtClean="0"/>
              <a:t>辅助进位标志位</a:t>
            </a:r>
            <a:endParaRPr lang="en-US" altLang="zh-CN" dirty="0" smtClean="0"/>
          </a:p>
          <a:p>
            <a:pPr algn="just">
              <a:lnSpc>
                <a:spcPct val="150000"/>
              </a:lnSpc>
            </a:pPr>
            <a:r>
              <a:rPr lang="en-US" altLang="zh-CN" dirty="0" smtClean="0"/>
              <a:t>ZF </a:t>
            </a:r>
            <a:r>
              <a:rPr lang="zh-CN" altLang="en-US" dirty="0" smtClean="0"/>
              <a:t>零标志位</a:t>
            </a:r>
            <a:endParaRPr lang="en-US" altLang="zh-CN" dirty="0" smtClean="0"/>
          </a:p>
        </p:txBody>
      </p:sp>
    </p:spTree>
    <p:extLst>
      <p:ext uri="{BB962C8B-B14F-4D97-AF65-F5344CB8AC3E}">
        <p14:creationId xmlns:p14="http://schemas.microsoft.com/office/powerpoint/2010/main" val="3967399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305226" y="745832"/>
            <a:ext cx="9092533" cy="805243"/>
          </a:xfrm>
          <a:prstGeom prst="rect">
            <a:avLst/>
          </a:prstGeom>
        </p:spPr>
      </p:pic>
      <p:pic>
        <p:nvPicPr>
          <p:cNvPr id="5" name="图片 4"/>
          <p:cNvPicPr>
            <a:picLocks noChangeAspect="1"/>
          </p:cNvPicPr>
          <p:nvPr/>
        </p:nvPicPr>
        <p:blipFill>
          <a:blip r:embed="rId4"/>
          <a:stretch>
            <a:fillRect/>
          </a:stretch>
        </p:blipFill>
        <p:spPr>
          <a:xfrm>
            <a:off x="8283525" y="2132087"/>
            <a:ext cx="3114233" cy="3630087"/>
          </a:xfrm>
          <a:prstGeom prst="rect">
            <a:avLst/>
          </a:prstGeom>
        </p:spPr>
      </p:pic>
      <p:sp>
        <p:nvSpPr>
          <p:cNvPr id="2" name="矩形 1"/>
          <p:cNvSpPr/>
          <p:nvPr/>
        </p:nvSpPr>
        <p:spPr>
          <a:xfrm>
            <a:off x="900332" y="745832"/>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2.2</a:t>
            </a:r>
            <a:endParaRPr lang="zh-CN" altLang="en-US" sz="2000" b="1" dirty="0">
              <a:solidFill>
                <a:srgbClr val="0070C0"/>
              </a:solidFill>
            </a:endParaRPr>
          </a:p>
        </p:txBody>
      </p:sp>
      <p:sp>
        <p:nvSpPr>
          <p:cNvPr id="9" name="矩形 8"/>
          <p:cNvSpPr/>
          <p:nvPr/>
        </p:nvSpPr>
        <p:spPr>
          <a:xfrm>
            <a:off x="900332" y="2144991"/>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10" name="文本框 9"/>
          <p:cNvSpPr txBox="1"/>
          <p:nvPr/>
        </p:nvSpPr>
        <p:spPr>
          <a:xfrm>
            <a:off x="2546250" y="2144991"/>
            <a:ext cx="4493528" cy="1200329"/>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位        </a:t>
            </a:r>
            <a:r>
              <a:rPr lang="zh-CN" altLang="en-US" sz="2400" dirty="0" smtClean="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位        </a:t>
            </a:r>
            <a:r>
              <a:rPr lang="en-US" altLang="zh-CN" sz="2400" dirty="0">
                <a:latin typeface="微软雅黑" panose="020B0503020204020204" pitchFamily="34" charset="-122"/>
                <a:ea typeface="微软雅黑" panose="020B0503020204020204" pitchFamily="34" charset="-122"/>
              </a:rPr>
              <a:t>32</a:t>
            </a:r>
            <a:r>
              <a:rPr lang="zh-CN" altLang="en-US" sz="2400" dirty="0">
                <a:latin typeface="微软雅黑" panose="020B0503020204020204" pitchFamily="34" charset="-122"/>
                <a:ea typeface="微软雅黑" panose="020B0503020204020204" pitchFamily="34" charset="-122"/>
              </a:rPr>
              <a:t>位</a:t>
            </a:r>
            <a:endParaRPr lang="en-US" altLang="zh-CN" sz="2400" dirty="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字节</a:t>
            </a:r>
            <a:r>
              <a:rPr lang="en-US" altLang="zh-CN" sz="2400" dirty="0" smtClean="0">
                <a:latin typeface="微软雅黑" panose="020B0503020204020204" pitchFamily="34" charset="-122"/>
                <a:ea typeface="微软雅黑" panose="020B0503020204020204" pitchFamily="34" charset="-122"/>
              </a:rPr>
              <a:t>byte</a:t>
            </a:r>
            <a:r>
              <a:rPr lang="zh-CN" altLang="en-US" sz="2400" dirty="0" smtClean="0">
                <a:latin typeface="微软雅黑" panose="020B0503020204020204" pitchFamily="34" charset="-122"/>
                <a:ea typeface="微软雅黑" panose="020B0503020204020204" pitchFamily="34" charset="-122"/>
              </a:rPr>
              <a:t>   字</a:t>
            </a:r>
            <a:r>
              <a:rPr lang="en-US" altLang="zh-CN" sz="2400" dirty="0">
                <a:latin typeface="微软雅黑" panose="020B0503020204020204" pitchFamily="34" charset="-122"/>
                <a:ea typeface="微软雅黑" panose="020B0503020204020204" pitchFamily="34" charset="-122"/>
              </a:rPr>
              <a:t>W</a:t>
            </a:r>
            <a:r>
              <a:rPr lang="zh-CN" altLang="en-US" sz="2400" dirty="0" smtClean="0">
                <a:latin typeface="微软雅黑" panose="020B0503020204020204" pitchFamily="34" charset="-122"/>
                <a:ea typeface="微软雅黑" panose="020B0503020204020204" pitchFamily="34" charset="-122"/>
              </a:rPr>
              <a:t>        双字</a:t>
            </a:r>
            <a:r>
              <a:rPr lang="en-US" altLang="zh-CN" sz="2400" dirty="0" smtClean="0">
                <a:latin typeface="微软雅黑" panose="020B0503020204020204" pitchFamily="34" charset="-122"/>
                <a:ea typeface="微软雅黑" panose="020B0503020204020204" pitchFamily="34" charset="-122"/>
              </a:rPr>
              <a:t>DW</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AL           </a:t>
            </a:r>
            <a:r>
              <a:rPr lang="en-US" altLang="zh-CN" sz="2400" dirty="0" smtClean="0">
                <a:latin typeface="微软雅黑" panose="020B0503020204020204" pitchFamily="34" charset="-122"/>
                <a:ea typeface="微软雅黑" panose="020B0503020204020204" pitchFamily="34" charset="-122"/>
              </a:rPr>
              <a:t>  AX          EAX</a:t>
            </a:r>
            <a:endParaRPr lang="en-US" altLang="zh-CN" sz="24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2110154" y="3796538"/>
            <a:ext cx="547233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内存单元   </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位（一个字节）</a:t>
            </a:r>
          </a:p>
        </p:txBody>
      </p:sp>
      <p:sp>
        <p:nvSpPr>
          <p:cNvPr id="12" name="文本框 11"/>
          <p:cNvSpPr txBox="1"/>
          <p:nvPr/>
        </p:nvSpPr>
        <p:spPr>
          <a:xfrm>
            <a:off x="2110154" y="4368149"/>
            <a:ext cx="5737275" cy="1569660"/>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一个字要用两个地址连续的单元来存放</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低字节存放在低地址中</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高字节存放在高地址中</a:t>
            </a:r>
          </a:p>
        </p:txBody>
      </p:sp>
      <p:sp>
        <p:nvSpPr>
          <p:cNvPr id="13" name="矩形 12"/>
          <p:cNvSpPr/>
          <p:nvPr/>
        </p:nvSpPr>
        <p:spPr>
          <a:xfrm>
            <a:off x="7952159" y="2144990"/>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2268181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A232628-A8E0-4400-90B7-6EF7D44B69FD}"/>
              </a:ext>
            </a:extLst>
          </p:cNvPr>
          <p:cNvSpPr/>
          <p:nvPr/>
        </p:nvSpPr>
        <p:spPr>
          <a:xfrm>
            <a:off x="662940" y="98322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2.3</a:t>
            </a:r>
            <a:endParaRPr lang="zh-CN" altLang="en-US" sz="2000" b="1" dirty="0">
              <a:solidFill>
                <a:srgbClr val="0070C0"/>
              </a:solidFill>
            </a:endParaRPr>
          </a:p>
        </p:txBody>
      </p:sp>
      <p:pic>
        <p:nvPicPr>
          <p:cNvPr id="5" name="图片 4">
            <a:extLst>
              <a:ext uri="{FF2B5EF4-FFF2-40B4-BE49-F238E27FC236}">
                <a16:creationId xmlns:a16="http://schemas.microsoft.com/office/drawing/2014/main" id="{9B759D44-16F7-4407-942D-902BF29D5624}"/>
              </a:ext>
            </a:extLst>
          </p:cNvPr>
          <p:cNvPicPr>
            <a:picLocks noChangeAspect="1"/>
          </p:cNvPicPr>
          <p:nvPr/>
        </p:nvPicPr>
        <p:blipFill>
          <a:blip r:embed="rId3"/>
          <a:stretch>
            <a:fillRect/>
          </a:stretch>
        </p:blipFill>
        <p:spPr>
          <a:xfrm>
            <a:off x="791308" y="1736018"/>
            <a:ext cx="8271590" cy="685802"/>
          </a:xfrm>
          <a:prstGeom prst="rect">
            <a:avLst/>
          </a:prstGeom>
        </p:spPr>
      </p:pic>
      <p:pic>
        <p:nvPicPr>
          <p:cNvPr id="6" name="图片 5">
            <a:extLst>
              <a:ext uri="{FF2B5EF4-FFF2-40B4-BE49-F238E27FC236}">
                <a16:creationId xmlns:a16="http://schemas.microsoft.com/office/drawing/2014/main" id="{38FDA713-34A8-4C01-B459-098C972F3CB3}"/>
              </a:ext>
            </a:extLst>
          </p:cNvPr>
          <p:cNvPicPr>
            <a:picLocks noChangeAspect="1"/>
          </p:cNvPicPr>
          <p:nvPr/>
        </p:nvPicPr>
        <p:blipFill>
          <a:blip r:embed="rId4"/>
          <a:stretch>
            <a:fillRect/>
          </a:stretch>
        </p:blipFill>
        <p:spPr>
          <a:xfrm>
            <a:off x="791308" y="4652408"/>
            <a:ext cx="8503194" cy="774425"/>
          </a:xfrm>
          <a:prstGeom prst="rect">
            <a:avLst/>
          </a:prstGeom>
        </p:spPr>
      </p:pic>
      <p:sp>
        <p:nvSpPr>
          <p:cNvPr id="8" name="矩形 7">
            <a:extLst>
              <a:ext uri="{FF2B5EF4-FFF2-40B4-BE49-F238E27FC236}">
                <a16:creationId xmlns:a16="http://schemas.microsoft.com/office/drawing/2014/main" id="{B439F88E-BA94-4C13-82D8-560609889B87}"/>
              </a:ext>
            </a:extLst>
          </p:cNvPr>
          <p:cNvSpPr/>
          <p:nvPr/>
        </p:nvSpPr>
        <p:spPr>
          <a:xfrm>
            <a:off x="662940" y="3865741"/>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9" name="图片 8">
            <a:extLst>
              <a:ext uri="{FF2B5EF4-FFF2-40B4-BE49-F238E27FC236}">
                <a16:creationId xmlns:a16="http://schemas.microsoft.com/office/drawing/2014/main" id="{14B5754D-0DB1-4B3D-8C4C-0388E5867ABC}"/>
              </a:ext>
            </a:extLst>
          </p:cNvPr>
          <p:cNvPicPr>
            <a:picLocks noChangeAspect="1"/>
          </p:cNvPicPr>
          <p:nvPr/>
        </p:nvPicPr>
        <p:blipFill>
          <a:blip r:embed="rId5"/>
          <a:stretch>
            <a:fillRect/>
          </a:stretch>
        </p:blipFill>
        <p:spPr>
          <a:xfrm>
            <a:off x="8859188" y="2169478"/>
            <a:ext cx="2401236" cy="2388326"/>
          </a:xfrm>
          <a:prstGeom prst="rect">
            <a:avLst/>
          </a:prstGeom>
        </p:spPr>
      </p:pic>
    </p:spTree>
    <p:extLst>
      <p:ext uri="{BB962C8B-B14F-4D97-AF65-F5344CB8AC3E}">
        <p14:creationId xmlns:p14="http://schemas.microsoft.com/office/powerpoint/2010/main" val="2005839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451101" y="745832"/>
            <a:ext cx="8995902" cy="773479"/>
          </a:xfrm>
          <a:prstGeom prst="rect">
            <a:avLst/>
          </a:prstGeom>
        </p:spPr>
      </p:pic>
      <p:pic>
        <p:nvPicPr>
          <p:cNvPr id="5" name="图片 4"/>
          <p:cNvPicPr>
            <a:picLocks noChangeAspect="1"/>
          </p:cNvPicPr>
          <p:nvPr/>
        </p:nvPicPr>
        <p:blipFill>
          <a:blip r:embed="rId4"/>
          <a:stretch>
            <a:fillRect/>
          </a:stretch>
        </p:blipFill>
        <p:spPr>
          <a:xfrm>
            <a:off x="2451101" y="3544150"/>
            <a:ext cx="8980814" cy="830902"/>
          </a:xfrm>
          <a:prstGeom prst="rect">
            <a:avLst/>
          </a:prstGeom>
        </p:spPr>
      </p:pic>
      <p:sp>
        <p:nvSpPr>
          <p:cNvPr id="6" name="矩形 5"/>
          <p:cNvSpPr/>
          <p:nvPr/>
        </p:nvSpPr>
        <p:spPr>
          <a:xfrm>
            <a:off x="900332" y="745832"/>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2.4</a:t>
            </a:r>
            <a:endParaRPr lang="zh-CN" altLang="en-US" sz="2000" b="1" dirty="0">
              <a:solidFill>
                <a:srgbClr val="0070C0"/>
              </a:solidFill>
            </a:endParaRPr>
          </a:p>
        </p:txBody>
      </p:sp>
      <p:sp>
        <p:nvSpPr>
          <p:cNvPr id="7" name="矩形 6"/>
          <p:cNvSpPr/>
          <p:nvPr/>
        </p:nvSpPr>
        <p:spPr>
          <a:xfrm>
            <a:off x="900332" y="2144991"/>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8" name="文本框 7"/>
          <p:cNvSpPr txBox="1"/>
          <p:nvPr/>
        </p:nvSpPr>
        <p:spPr>
          <a:xfrm>
            <a:off x="2447774" y="2144991"/>
            <a:ext cx="5880295"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物理地址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段地址</a:t>
            </a:r>
            <a:r>
              <a:rPr lang="en-US" altLang="zh-CN" sz="2400" dirty="0" smtClean="0">
                <a:latin typeface="微软雅黑" panose="020B0503020204020204" pitchFamily="34" charset="-122"/>
                <a:ea typeface="微软雅黑" panose="020B0503020204020204" pitchFamily="34" charset="-122"/>
              </a:rPr>
              <a:t>*10H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偏移地址</a:t>
            </a:r>
          </a:p>
        </p:txBody>
      </p:sp>
      <p:sp>
        <p:nvSpPr>
          <p:cNvPr id="9" name="矩形 8"/>
          <p:cNvSpPr/>
          <p:nvPr/>
        </p:nvSpPr>
        <p:spPr>
          <a:xfrm>
            <a:off x="900332" y="3544150"/>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3372144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srcRect b="1826"/>
          <a:stretch/>
        </p:blipFill>
        <p:spPr>
          <a:xfrm>
            <a:off x="2036581" y="817143"/>
            <a:ext cx="3319600" cy="2752322"/>
          </a:xfrm>
          <a:prstGeom prst="rect">
            <a:avLst/>
          </a:prstGeom>
        </p:spPr>
      </p:pic>
      <p:sp>
        <p:nvSpPr>
          <p:cNvPr id="5" name="矩形 4"/>
          <p:cNvSpPr/>
          <p:nvPr/>
        </p:nvSpPr>
        <p:spPr>
          <a:xfrm>
            <a:off x="675244" y="821445"/>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2.7</a:t>
            </a:r>
            <a:endParaRPr lang="zh-CN" altLang="en-US" sz="2000" b="1" dirty="0">
              <a:solidFill>
                <a:srgbClr val="0070C0"/>
              </a:solidFill>
            </a:endParaRPr>
          </a:p>
        </p:txBody>
      </p:sp>
      <p:sp>
        <p:nvSpPr>
          <p:cNvPr id="6" name="矩形 5"/>
          <p:cNvSpPr/>
          <p:nvPr/>
        </p:nvSpPr>
        <p:spPr>
          <a:xfrm>
            <a:off x="6133509" y="817143"/>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7" name="图片 6"/>
          <p:cNvPicPr>
            <a:picLocks noChangeAspect="1"/>
          </p:cNvPicPr>
          <p:nvPr/>
        </p:nvPicPr>
        <p:blipFill>
          <a:blip r:embed="rId3"/>
          <a:stretch>
            <a:fillRect/>
          </a:stretch>
        </p:blipFill>
        <p:spPr>
          <a:xfrm>
            <a:off x="7573836" y="1101687"/>
            <a:ext cx="3850656" cy="2518984"/>
          </a:xfrm>
          <a:prstGeom prst="rect">
            <a:avLst/>
          </a:prstGeom>
        </p:spPr>
      </p:pic>
      <p:pic>
        <p:nvPicPr>
          <p:cNvPr id="12" name="图片 11"/>
          <p:cNvPicPr>
            <a:picLocks noChangeAspect="1"/>
          </p:cNvPicPr>
          <p:nvPr/>
        </p:nvPicPr>
        <p:blipFill>
          <a:blip r:embed="rId4"/>
          <a:stretch>
            <a:fillRect/>
          </a:stretch>
        </p:blipFill>
        <p:spPr>
          <a:xfrm>
            <a:off x="2089145" y="4459705"/>
            <a:ext cx="4522665" cy="391234"/>
          </a:xfrm>
          <a:prstGeom prst="rect">
            <a:avLst/>
          </a:prstGeom>
        </p:spPr>
      </p:pic>
      <p:sp>
        <p:nvSpPr>
          <p:cNvPr id="13" name="矩形 12"/>
          <p:cNvSpPr/>
          <p:nvPr/>
        </p:nvSpPr>
        <p:spPr>
          <a:xfrm>
            <a:off x="675244" y="441750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2.8</a:t>
            </a:r>
            <a:endParaRPr lang="zh-CN" altLang="en-US" sz="2000" b="1" dirty="0">
              <a:solidFill>
                <a:srgbClr val="0070C0"/>
              </a:solidFill>
            </a:endParaRPr>
          </a:p>
        </p:txBody>
      </p:sp>
      <p:pic>
        <p:nvPicPr>
          <p:cNvPr id="14" name="图片 13"/>
          <p:cNvPicPr>
            <a:picLocks noChangeAspect="1"/>
          </p:cNvPicPr>
          <p:nvPr/>
        </p:nvPicPr>
        <p:blipFill>
          <a:blip r:embed="rId5"/>
          <a:stretch>
            <a:fillRect/>
          </a:stretch>
        </p:blipFill>
        <p:spPr>
          <a:xfrm>
            <a:off x="2075077" y="5310553"/>
            <a:ext cx="9699576" cy="352712"/>
          </a:xfrm>
          <a:prstGeom prst="rect">
            <a:avLst/>
          </a:prstGeom>
        </p:spPr>
      </p:pic>
      <p:sp>
        <p:nvSpPr>
          <p:cNvPr id="15" name="矩形 14"/>
          <p:cNvSpPr/>
          <p:nvPr/>
        </p:nvSpPr>
        <p:spPr>
          <a:xfrm>
            <a:off x="675244" y="5234684"/>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1472413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500900" y="966953"/>
            <a:ext cx="9443764" cy="5483681"/>
            <a:chOff x="2738857" y="2881381"/>
            <a:chExt cx="6866667" cy="3987246"/>
          </a:xfrm>
        </p:grpSpPr>
        <p:pic>
          <p:nvPicPr>
            <p:cNvPr id="7" name="图片 6"/>
            <p:cNvPicPr>
              <a:picLocks noChangeAspect="1"/>
            </p:cNvPicPr>
            <p:nvPr/>
          </p:nvPicPr>
          <p:blipFill>
            <a:blip r:embed="rId3"/>
            <a:stretch>
              <a:fillRect/>
            </a:stretch>
          </p:blipFill>
          <p:spPr>
            <a:xfrm>
              <a:off x="2738857" y="2881381"/>
              <a:ext cx="6714286" cy="1095238"/>
            </a:xfrm>
            <a:prstGeom prst="rect">
              <a:avLst/>
            </a:prstGeom>
          </p:spPr>
        </p:pic>
        <p:pic>
          <p:nvPicPr>
            <p:cNvPr id="8" name="图片 7"/>
            <p:cNvPicPr>
              <a:picLocks noChangeAspect="1"/>
            </p:cNvPicPr>
            <p:nvPr/>
          </p:nvPicPr>
          <p:blipFill>
            <a:blip r:embed="rId4"/>
            <a:stretch>
              <a:fillRect/>
            </a:stretch>
          </p:blipFill>
          <p:spPr>
            <a:xfrm>
              <a:off x="2738857" y="3887675"/>
              <a:ext cx="6866667" cy="2980952"/>
            </a:xfrm>
            <a:prstGeom prst="rect">
              <a:avLst/>
            </a:prstGeom>
          </p:spPr>
        </p:pic>
      </p:grpSp>
      <p:sp>
        <p:nvSpPr>
          <p:cNvPr id="10" name="矩形 9"/>
          <p:cNvSpPr/>
          <p:nvPr/>
        </p:nvSpPr>
        <p:spPr>
          <a:xfrm>
            <a:off x="1500900" y="33787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2.9</a:t>
            </a:r>
            <a:endParaRPr lang="zh-CN" altLang="en-US" sz="2000" b="1" dirty="0">
              <a:solidFill>
                <a:srgbClr val="0070C0"/>
              </a:solidFill>
            </a:endParaRPr>
          </a:p>
        </p:txBody>
      </p:sp>
    </p:spTree>
    <p:extLst>
      <p:ext uri="{BB962C8B-B14F-4D97-AF65-F5344CB8AC3E}">
        <p14:creationId xmlns:p14="http://schemas.microsoft.com/office/powerpoint/2010/main" val="266821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pitchFamily="34" charset="-122"/>
                <a:ea typeface="微软雅黑" panose="020B0503020204020204" pitchFamily="34" charset="-122"/>
              </a:rPr>
              <a:t>Overview</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rPr>
              <a:t>进</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制与数的机器表示</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进制</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转换</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进</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制运算</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补码</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a:solidFill>
                  <a:schemeClr val="bg1">
                    <a:lumMod val="75000"/>
                  </a:schemeClr>
                </a:solidFill>
                <a:latin typeface="微软雅黑" panose="020B0503020204020204" pitchFamily="34" charset="-122"/>
                <a:ea typeface="微软雅黑" panose="020B0503020204020204" pitchFamily="34" charset="-122"/>
              </a:rPr>
              <a:t>逻辑运算</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r>
              <a:rPr lang="en-US" altLang="zh-CN" dirty="0" smtClean="0">
                <a:solidFill>
                  <a:schemeClr val="bg1">
                    <a:lumMod val="75000"/>
                  </a:schemeClr>
                </a:solidFill>
                <a:latin typeface="微软雅黑" panose="020B0503020204020204" pitchFamily="34" charset="-122"/>
                <a:ea typeface="微软雅黑" panose="020B0503020204020204" pitchFamily="34" charset="-122"/>
              </a:rPr>
              <a:t>80x86</a:t>
            </a:r>
            <a:r>
              <a:rPr lang="zh-CN" altLang="en-US" dirty="0" smtClean="0">
                <a:solidFill>
                  <a:schemeClr val="bg1">
                    <a:lumMod val="75000"/>
                  </a:schemeClr>
                </a:solidFill>
                <a:latin typeface="微软雅黑" panose="020B0503020204020204" pitchFamily="34" charset="-122"/>
                <a:ea typeface="微软雅黑" panose="020B0503020204020204" pitchFamily="34" charset="-122"/>
              </a:rPr>
              <a:t>计算机体系</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en-US" altLang="zh-CN" dirty="0" smtClean="0">
                <a:solidFill>
                  <a:schemeClr val="bg1">
                    <a:lumMod val="75000"/>
                  </a:schemeClr>
                </a:solidFill>
                <a:latin typeface="微软雅黑" panose="020B0503020204020204" pitchFamily="34" charset="-122"/>
                <a:ea typeface="微软雅黑" panose="020B0503020204020204" pitchFamily="34" charset="-122"/>
              </a:rPr>
              <a:t>CPU</a:t>
            </a: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寄存器组</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pPr lvl="1"/>
            <a:r>
              <a:rPr lang="zh-CN" altLang="en-US" dirty="0" smtClean="0">
                <a:solidFill>
                  <a:schemeClr val="bg1">
                    <a:lumMod val="75000"/>
                  </a:schemeClr>
                </a:solidFill>
                <a:latin typeface="微软雅黑" panose="020B0503020204020204" pitchFamily="34" charset="-122"/>
                <a:ea typeface="微软雅黑" panose="020B0503020204020204" pitchFamily="34" charset="-122"/>
              </a:rPr>
              <a:t>实模式和保护模式</a:t>
            </a:r>
            <a:endParaRPr lang="en-US" altLang="zh-CN" dirty="0" smtClean="0">
              <a:solidFill>
                <a:schemeClr val="bg1">
                  <a:lumMod val="75000"/>
                </a:schemeClr>
              </a:solidFill>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寻址和指令</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0021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8973" y="527206"/>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5" name="文本框 4"/>
          <p:cNvSpPr txBox="1"/>
          <p:nvPr/>
        </p:nvSpPr>
        <p:spPr>
          <a:xfrm>
            <a:off x="2293035" y="527206"/>
            <a:ext cx="8595360" cy="2862322"/>
          </a:xfrm>
          <a:prstGeom prst="rect">
            <a:avLst/>
          </a:prstGeom>
          <a:noFill/>
        </p:spPr>
        <p:txBody>
          <a:bodyPr wrap="square" rtlCol="0">
            <a:spAutoFit/>
          </a:bodyPr>
          <a:lstStyle/>
          <a:p>
            <a:pPr marL="342900" indent="-342900">
              <a:buAutoNum type="arabicPeriod"/>
            </a:pPr>
            <a:r>
              <a:rPr lang="zh-CN" altLang="en-US" sz="2000" dirty="0"/>
              <a:t>立即寻址方式：  </a:t>
            </a:r>
            <a:r>
              <a:rPr lang="en-US" altLang="zh-CN" sz="2000" dirty="0"/>
              <a:t>MOV AL</a:t>
            </a:r>
            <a:r>
              <a:rPr lang="en-US" altLang="zh-CN" sz="2000" dirty="0" smtClean="0"/>
              <a:t>, 06H</a:t>
            </a:r>
            <a:endParaRPr lang="en-US" altLang="zh-CN" sz="2000" dirty="0"/>
          </a:p>
          <a:p>
            <a:pPr marL="342900" indent="-342900">
              <a:buAutoNum type="arabicPeriod"/>
            </a:pPr>
            <a:r>
              <a:rPr lang="zh-CN" altLang="en-US" sz="2000" dirty="0"/>
              <a:t>寄存器寻址方式： </a:t>
            </a:r>
            <a:r>
              <a:rPr lang="en-US" altLang="zh-CN" sz="2000" dirty="0"/>
              <a:t>MOV </a:t>
            </a:r>
            <a:r>
              <a:rPr lang="en-US" altLang="zh-CN" sz="2000" dirty="0" smtClean="0"/>
              <a:t>BX, AX</a:t>
            </a:r>
            <a:endParaRPr lang="en-US" altLang="zh-CN" sz="2000" dirty="0"/>
          </a:p>
          <a:p>
            <a:r>
              <a:rPr lang="en-US" altLang="zh-CN" sz="2000" dirty="0"/>
              <a:t>3.  </a:t>
            </a:r>
            <a:r>
              <a:rPr lang="zh-CN" altLang="en-US" sz="2000" dirty="0"/>
              <a:t>直接寻址方式： </a:t>
            </a:r>
            <a:r>
              <a:rPr lang="en-US" altLang="zh-CN" sz="2000" dirty="0"/>
              <a:t>MOV AL</a:t>
            </a:r>
            <a:r>
              <a:rPr lang="en-US" altLang="zh-CN" sz="2000" dirty="0" smtClean="0"/>
              <a:t>, [</a:t>
            </a:r>
            <a:r>
              <a:rPr lang="en-US" altLang="zh-CN" sz="2000" dirty="0"/>
              <a:t>78H]</a:t>
            </a:r>
            <a:r>
              <a:rPr lang="zh-CN" altLang="en-US" sz="2000" dirty="0"/>
              <a:t>（默认使用</a:t>
            </a:r>
            <a:r>
              <a:rPr lang="en-US" altLang="zh-CN" sz="2000" dirty="0"/>
              <a:t>DS</a:t>
            </a:r>
            <a:r>
              <a:rPr lang="zh-CN" altLang="en-US" sz="2000" dirty="0"/>
              <a:t>） </a:t>
            </a:r>
            <a:r>
              <a:rPr lang="en-US" altLang="zh-CN" sz="2000" dirty="0" smtClean="0"/>
              <a:t>MOV </a:t>
            </a:r>
            <a:r>
              <a:rPr lang="en-US" altLang="zh-CN" sz="2000" dirty="0"/>
              <a:t>ES:[1000H], AX</a:t>
            </a:r>
          </a:p>
          <a:p>
            <a:pPr marL="342900" indent="-342900">
              <a:buAutoNum type="arabicPeriod" startAt="4"/>
            </a:pPr>
            <a:r>
              <a:rPr lang="zh-CN" altLang="en-US" sz="2000" dirty="0"/>
              <a:t>寄存器间接寻址方式：</a:t>
            </a:r>
            <a:r>
              <a:rPr lang="en-US" altLang="zh-CN" sz="2000" dirty="0"/>
              <a:t>MOV BX, </a:t>
            </a:r>
            <a:r>
              <a:rPr lang="en-US" altLang="zh-CN" sz="2000" dirty="0" smtClean="0"/>
              <a:t> [</a:t>
            </a:r>
            <a:r>
              <a:rPr lang="en-US" altLang="zh-CN" sz="2000" dirty="0"/>
              <a:t>DI]</a:t>
            </a:r>
          </a:p>
          <a:p>
            <a:pPr marL="342900" indent="-342900">
              <a:buAutoNum type="arabicPeriod" startAt="4"/>
            </a:pPr>
            <a:r>
              <a:rPr lang="zh-CN" altLang="en-US" sz="2000" dirty="0"/>
              <a:t>寄存器相对寻址方式： </a:t>
            </a:r>
            <a:r>
              <a:rPr lang="en-US" altLang="zh-CN" sz="2000" dirty="0"/>
              <a:t>MOV BX</a:t>
            </a:r>
            <a:r>
              <a:rPr lang="en-US" altLang="zh-CN" sz="2000" dirty="0" smtClean="0"/>
              <a:t>, [</a:t>
            </a:r>
            <a:r>
              <a:rPr lang="en-US" altLang="zh-CN" sz="2000" dirty="0"/>
              <a:t>SI + 100H]</a:t>
            </a:r>
          </a:p>
          <a:p>
            <a:pPr marL="342900" indent="-342900">
              <a:buAutoNum type="arabicPeriod" startAt="4"/>
            </a:pPr>
            <a:r>
              <a:rPr lang="zh-CN" altLang="en-US" sz="2000" dirty="0"/>
              <a:t>基址变址寻址方式： </a:t>
            </a:r>
            <a:r>
              <a:rPr lang="en-US" altLang="zh-CN" sz="2000" dirty="0"/>
              <a:t>MOV </a:t>
            </a:r>
            <a:r>
              <a:rPr lang="en-US" altLang="zh-CN" sz="2000" dirty="0" smtClean="0"/>
              <a:t>BX, [</a:t>
            </a:r>
            <a:r>
              <a:rPr lang="en-US" altLang="zh-CN" sz="2000" dirty="0"/>
              <a:t>BX+SI]</a:t>
            </a:r>
          </a:p>
          <a:p>
            <a:pPr marL="342900" indent="-342900">
              <a:buAutoNum type="arabicPeriod" startAt="4"/>
            </a:pPr>
            <a:r>
              <a:rPr lang="zh-CN" altLang="en-US" sz="2000" dirty="0"/>
              <a:t>相对基址变址寻址方式： </a:t>
            </a:r>
            <a:r>
              <a:rPr lang="en-US" altLang="zh-CN" sz="2000" dirty="0"/>
              <a:t>MOV AX</a:t>
            </a:r>
            <a:r>
              <a:rPr lang="en-US" altLang="zh-CN" sz="2000" dirty="0" smtClean="0"/>
              <a:t>, [</a:t>
            </a:r>
            <a:r>
              <a:rPr lang="en-US" altLang="zh-CN" sz="2000" dirty="0"/>
              <a:t>BX+SI+100H</a:t>
            </a:r>
            <a:r>
              <a:rPr lang="en-US" altLang="zh-CN" sz="2000" dirty="0" smtClean="0"/>
              <a:t>]</a:t>
            </a:r>
          </a:p>
          <a:p>
            <a:pPr marL="342900" indent="-342900">
              <a:buAutoNum type="arabicPeriod" startAt="4"/>
            </a:pPr>
            <a:endParaRPr lang="en-US" altLang="zh-CN" sz="2000" dirty="0"/>
          </a:p>
          <a:p>
            <a:r>
              <a:rPr lang="zh-CN" altLang="en-US" sz="2000" dirty="0" smtClean="0"/>
              <a:t>有效地址（</a:t>
            </a:r>
            <a:r>
              <a:rPr lang="en-US" altLang="zh-CN" sz="2000" dirty="0" smtClean="0"/>
              <a:t>EA</a:t>
            </a:r>
            <a:r>
              <a:rPr lang="zh-CN" altLang="en-US" sz="2000" dirty="0" smtClean="0"/>
              <a:t>）</a:t>
            </a:r>
            <a:r>
              <a:rPr lang="en-US" altLang="zh-CN" sz="2000" dirty="0" smtClean="0"/>
              <a:t>= </a:t>
            </a:r>
            <a:r>
              <a:rPr lang="zh-CN" altLang="en-US" sz="2000" dirty="0" smtClean="0"/>
              <a:t>基址 </a:t>
            </a:r>
            <a:r>
              <a:rPr lang="en-US" altLang="zh-CN" sz="2000" dirty="0" smtClean="0"/>
              <a:t>+ </a:t>
            </a:r>
            <a:r>
              <a:rPr lang="zh-CN" altLang="en-US" sz="2000" dirty="0" smtClean="0"/>
              <a:t>（变址 </a:t>
            </a:r>
            <a:r>
              <a:rPr lang="en-US" altLang="zh-CN" sz="2000" dirty="0" smtClean="0"/>
              <a:t>* </a:t>
            </a:r>
            <a:r>
              <a:rPr lang="zh-CN" altLang="en-US" sz="2000" dirty="0" smtClean="0"/>
              <a:t>比例因子）</a:t>
            </a:r>
            <a:r>
              <a:rPr lang="en-US" altLang="zh-CN" sz="2000" dirty="0" smtClean="0"/>
              <a:t>+ </a:t>
            </a:r>
            <a:r>
              <a:rPr lang="zh-CN" altLang="en-US" sz="2000" dirty="0" smtClean="0"/>
              <a:t>位移量</a:t>
            </a:r>
            <a:endParaRPr lang="en-US" altLang="zh-CN" sz="2000" dirty="0" smtClean="0"/>
          </a:p>
        </p:txBody>
      </p:sp>
      <p:pic>
        <p:nvPicPr>
          <p:cNvPr id="6" name="图片 5"/>
          <p:cNvPicPr>
            <a:picLocks noChangeAspect="1"/>
          </p:cNvPicPr>
          <p:nvPr/>
        </p:nvPicPr>
        <p:blipFill>
          <a:blip r:embed="rId3"/>
          <a:stretch>
            <a:fillRect/>
          </a:stretch>
        </p:blipFill>
        <p:spPr>
          <a:xfrm>
            <a:off x="7132323" y="3770258"/>
            <a:ext cx="3756072" cy="1467605"/>
          </a:xfrm>
          <a:prstGeom prst="rect">
            <a:avLst/>
          </a:prstGeom>
        </p:spPr>
      </p:pic>
      <p:sp>
        <p:nvSpPr>
          <p:cNvPr id="7" name="矩形 6"/>
          <p:cNvSpPr/>
          <p:nvPr/>
        </p:nvSpPr>
        <p:spPr>
          <a:xfrm>
            <a:off x="1350496" y="5491983"/>
            <a:ext cx="9720781" cy="923330"/>
          </a:xfrm>
          <a:prstGeom prst="rect">
            <a:avLst/>
          </a:prstGeom>
        </p:spPr>
        <p:txBody>
          <a:bodyPr wrap="square">
            <a:spAutoFit/>
          </a:bodyPr>
          <a:lstStyle/>
          <a:p>
            <a:r>
              <a:rPr lang="zh-CN" altLang="en-US" dirty="0">
                <a:solidFill>
                  <a:srgbClr val="000000"/>
                </a:solidFill>
                <a:latin typeface="Verdana" panose="020B0604030504040204" pitchFamily="34" charset="0"/>
              </a:rPr>
              <a:t>　地址使用 </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括起来，</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中的结果就是数据在内存中的偏移地址，</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可以使用两组寄存器 </a:t>
            </a:r>
            <a:r>
              <a:rPr lang="en-US" altLang="zh-CN" b="1" dirty="0">
                <a:solidFill>
                  <a:srgbClr val="000000"/>
                </a:solidFill>
                <a:latin typeface="Verdana" panose="020B0604030504040204" pitchFamily="34" charset="0"/>
              </a:rPr>
              <a:t>(BX/BP</a:t>
            </a:r>
            <a:r>
              <a:rPr lang="zh-CN" altLang="en-US" dirty="0">
                <a:solidFill>
                  <a:srgbClr val="000000"/>
                </a:solidFill>
                <a:latin typeface="Verdana" panose="020B0604030504040204" pitchFamily="34" charset="0"/>
              </a:rPr>
              <a:t> 和 </a:t>
            </a:r>
            <a:r>
              <a:rPr lang="en-US" altLang="zh-CN" b="1" dirty="0">
                <a:solidFill>
                  <a:srgbClr val="000000"/>
                </a:solidFill>
                <a:latin typeface="Verdana" panose="020B0604030504040204" pitchFamily="34" charset="0"/>
              </a:rPr>
              <a:t>SI/DI</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和 </a:t>
            </a:r>
            <a:r>
              <a:rPr lang="zh-CN" altLang="en-US" b="1" dirty="0">
                <a:solidFill>
                  <a:srgbClr val="000000"/>
                </a:solidFill>
                <a:latin typeface="Verdana" panose="020B0604030504040204" pitchFamily="34" charset="0"/>
              </a:rPr>
              <a:t>立即数</a:t>
            </a:r>
            <a:r>
              <a:rPr lang="zh-CN" altLang="en-US" dirty="0">
                <a:solidFill>
                  <a:srgbClr val="000000"/>
                </a:solidFill>
                <a:latin typeface="Verdana" panose="020B0604030504040204" pitchFamily="34" charset="0"/>
              </a:rPr>
              <a:t>的任意组合，同组寄存器不能同时出现，段寄存器如果不指定则如果出现了</a:t>
            </a:r>
            <a:r>
              <a:rPr lang="en-US" altLang="zh-CN" dirty="0">
                <a:solidFill>
                  <a:srgbClr val="000000"/>
                </a:solidFill>
                <a:latin typeface="Verdana" panose="020B0604030504040204" pitchFamily="34" charset="0"/>
              </a:rPr>
              <a:t>BP</a:t>
            </a:r>
            <a:r>
              <a:rPr lang="zh-CN" altLang="en-US" dirty="0">
                <a:solidFill>
                  <a:srgbClr val="000000"/>
                </a:solidFill>
                <a:latin typeface="Verdana" panose="020B0604030504040204" pitchFamily="34" charset="0"/>
              </a:rPr>
              <a:t>寄存器就默认使用</a:t>
            </a:r>
            <a:r>
              <a:rPr lang="en-US" altLang="zh-CN" b="1" dirty="0">
                <a:solidFill>
                  <a:srgbClr val="000000"/>
                </a:solidFill>
                <a:latin typeface="Verdana" panose="020B0604030504040204" pitchFamily="34" charset="0"/>
              </a:rPr>
              <a:t>SS</a:t>
            </a:r>
            <a:r>
              <a:rPr lang="zh-CN" altLang="en-US" dirty="0">
                <a:solidFill>
                  <a:srgbClr val="000000"/>
                </a:solidFill>
                <a:latin typeface="Verdana" panose="020B0604030504040204" pitchFamily="34" charset="0"/>
              </a:rPr>
              <a:t>段寄存器否则默认使用</a:t>
            </a:r>
            <a:r>
              <a:rPr lang="en-US" altLang="zh-CN" b="1" dirty="0">
                <a:solidFill>
                  <a:srgbClr val="000000"/>
                </a:solidFill>
                <a:latin typeface="Verdana" panose="020B0604030504040204" pitchFamily="34" charset="0"/>
              </a:rPr>
              <a:t>DS</a:t>
            </a:r>
            <a:r>
              <a:rPr lang="zh-CN" altLang="en-US" dirty="0">
                <a:solidFill>
                  <a:srgbClr val="000000"/>
                </a:solidFill>
                <a:latin typeface="Verdana" panose="020B0604030504040204" pitchFamily="34" charset="0"/>
              </a:rPr>
              <a:t>寄存器</a:t>
            </a:r>
            <a:endParaRPr lang="zh-CN" altLang="en-US" dirty="0"/>
          </a:p>
        </p:txBody>
      </p:sp>
      <p:pic>
        <p:nvPicPr>
          <p:cNvPr id="8" name="图片 7"/>
          <p:cNvPicPr>
            <a:picLocks noChangeAspect="1"/>
          </p:cNvPicPr>
          <p:nvPr/>
        </p:nvPicPr>
        <p:blipFill>
          <a:blip r:embed="rId4"/>
          <a:stretch>
            <a:fillRect/>
          </a:stretch>
        </p:blipFill>
        <p:spPr>
          <a:xfrm>
            <a:off x="2002434" y="3903535"/>
            <a:ext cx="4588281" cy="1201050"/>
          </a:xfrm>
          <a:prstGeom prst="rect">
            <a:avLst/>
          </a:prstGeom>
        </p:spPr>
      </p:pic>
    </p:spTree>
    <p:extLst>
      <p:ext uri="{BB962C8B-B14F-4D97-AF65-F5344CB8AC3E}">
        <p14:creationId xmlns:p14="http://schemas.microsoft.com/office/powerpoint/2010/main" val="3338091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249721" y="745831"/>
            <a:ext cx="9382266" cy="2588211"/>
          </a:xfrm>
          <a:prstGeom prst="rect">
            <a:avLst/>
          </a:prstGeom>
        </p:spPr>
      </p:pic>
      <p:sp>
        <p:nvSpPr>
          <p:cNvPr id="5" name="矩形 4"/>
          <p:cNvSpPr/>
          <p:nvPr/>
        </p:nvSpPr>
        <p:spPr>
          <a:xfrm>
            <a:off x="633044" y="745832"/>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a:t>
            </a:r>
            <a:endParaRPr lang="zh-CN" altLang="en-US" sz="2000" b="1" dirty="0">
              <a:solidFill>
                <a:srgbClr val="0070C0"/>
              </a:solidFill>
            </a:endParaRPr>
          </a:p>
        </p:txBody>
      </p:sp>
      <p:pic>
        <p:nvPicPr>
          <p:cNvPr id="6" name="图片 5"/>
          <p:cNvPicPr>
            <a:picLocks noChangeAspect="1"/>
          </p:cNvPicPr>
          <p:nvPr/>
        </p:nvPicPr>
        <p:blipFill>
          <a:blip r:embed="rId3"/>
          <a:stretch>
            <a:fillRect/>
          </a:stretch>
        </p:blipFill>
        <p:spPr>
          <a:xfrm>
            <a:off x="2249721" y="4095242"/>
            <a:ext cx="8859068" cy="2162449"/>
          </a:xfrm>
          <a:prstGeom prst="rect">
            <a:avLst/>
          </a:prstGeom>
        </p:spPr>
      </p:pic>
      <p:sp>
        <p:nvSpPr>
          <p:cNvPr id="7" name="矩形 6"/>
          <p:cNvSpPr/>
          <p:nvPr/>
        </p:nvSpPr>
        <p:spPr>
          <a:xfrm>
            <a:off x="633044" y="3971064"/>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3561773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371571" y="942780"/>
            <a:ext cx="9138205" cy="2517412"/>
          </a:xfrm>
          <a:prstGeom prst="rect">
            <a:avLst/>
          </a:prstGeom>
        </p:spPr>
      </p:pic>
      <p:sp>
        <p:nvSpPr>
          <p:cNvPr id="5" name="矩形 4"/>
          <p:cNvSpPr/>
          <p:nvPr/>
        </p:nvSpPr>
        <p:spPr>
          <a:xfrm>
            <a:off x="829993" y="94278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a:t>
            </a:r>
            <a:endParaRPr lang="zh-CN" altLang="en-US" sz="2000" b="1" dirty="0">
              <a:solidFill>
                <a:srgbClr val="0070C0"/>
              </a:solidFill>
            </a:endParaRPr>
          </a:p>
        </p:txBody>
      </p:sp>
      <p:sp>
        <p:nvSpPr>
          <p:cNvPr id="6" name="矩形 5"/>
          <p:cNvSpPr/>
          <p:nvPr/>
        </p:nvSpPr>
        <p:spPr>
          <a:xfrm>
            <a:off x="829993" y="3720574"/>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7" name="文本框 6"/>
          <p:cNvSpPr txBox="1"/>
          <p:nvPr/>
        </p:nvSpPr>
        <p:spPr>
          <a:xfrm>
            <a:off x="2371570" y="3720574"/>
            <a:ext cx="7518017" cy="787523"/>
          </a:xfrm>
          <a:prstGeom prst="rect">
            <a:avLst/>
          </a:prstGeom>
          <a:noFill/>
        </p:spPr>
        <p:txBody>
          <a:bodyPr wrap="square" rtlCol="0">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ADD A, B    </a:t>
            </a:r>
            <a:r>
              <a:rPr lang="zh-CN" altLang="en-US" sz="1600" dirty="0">
                <a:latin typeface="微软雅黑" panose="020B0503020204020204" pitchFamily="34" charset="-122"/>
                <a:ea typeface="微软雅黑" panose="020B0503020204020204" pitchFamily="34" charset="-122"/>
              </a:rPr>
              <a:t>等同于  </a:t>
            </a:r>
            <a:r>
              <a:rPr lang="en-US" altLang="zh-CN" sz="1600" dirty="0">
                <a:latin typeface="微软雅黑" panose="020B0503020204020204" pitchFamily="34" charset="-122"/>
                <a:ea typeface="微软雅黑" panose="020B0503020204020204" pitchFamily="34" charset="-122"/>
              </a:rPr>
              <a:t>A = A+B     </a:t>
            </a:r>
            <a:r>
              <a:rPr lang="zh-CN" altLang="en-US" sz="1600" dirty="0">
                <a:latin typeface="微软雅黑" panose="020B0503020204020204" pitchFamily="34" charset="-122"/>
                <a:ea typeface="微软雅黑" panose="020B0503020204020204" pitchFamily="34" charset="-122"/>
              </a:rPr>
              <a:t>不允许两个都是存储器操作数</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在进行</a:t>
            </a:r>
            <a:r>
              <a:rPr lang="en-US" altLang="zh-CN" sz="1600" dirty="0">
                <a:latin typeface="微软雅黑" panose="020B0503020204020204" pitchFamily="34" charset="-122"/>
                <a:ea typeface="微软雅黑" panose="020B0503020204020204" pitchFamily="34" charset="-122"/>
              </a:rPr>
              <a:t>16</a:t>
            </a:r>
            <a:r>
              <a:rPr lang="zh-CN" altLang="en-US" sz="1600" dirty="0">
                <a:latin typeface="微软雅黑" panose="020B0503020204020204" pitchFamily="34" charset="-122"/>
                <a:ea typeface="微软雅黑" panose="020B0503020204020204" pitchFamily="34" charset="-122"/>
              </a:rPr>
              <a:t>位立即数传送，比较时，需要加上</a:t>
            </a:r>
            <a:r>
              <a:rPr lang="en-US" altLang="zh-CN" sz="1600" dirty="0">
                <a:latin typeface="微软雅黑" panose="020B0503020204020204" pitchFamily="34" charset="-122"/>
                <a:ea typeface="微软雅黑" panose="020B0503020204020204" pitchFamily="34" charset="-122"/>
              </a:rPr>
              <a:t>WORD PTR  </a:t>
            </a:r>
            <a:endParaRPr lang="zh-CN" altLang="en-US" sz="1600" dirty="0">
              <a:latin typeface="微软雅黑" panose="020B0503020204020204" pitchFamily="34" charset="-122"/>
              <a:ea typeface="微软雅黑" panose="020B0503020204020204" pitchFamily="34" charset="-122"/>
            </a:endParaRPr>
          </a:p>
        </p:txBody>
      </p:sp>
      <p:sp>
        <p:nvSpPr>
          <p:cNvPr id="8" name="矩形 7"/>
          <p:cNvSpPr/>
          <p:nvPr/>
        </p:nvSpPr>
        <p:spPr>
          <a:xfrm>
            <a:off x="829994" y="4829199"/>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9" name="图片 8"/>
          <p:cNvPicPr>
            <a:picLocks noChangeAspect="1"/>
          </p:cNvPicPr>
          <p:nvPr/>
        </p:nvPicPr>
        <p:blipFill>
          <a:blip r:embed="rId4"/>
          <a:stretch>
            <a:fillRect/>
          </a:stretch>
        </p:blipFill>
        <p:spPr>
          <a:xfrm>
            <a:off x="2371569" y="4829199"/>
            <a:ext cx="4193323" cy="1444997"/>
          </a:xfrm>
          <a:prstGeom prst="rect">
            <a:avLst/>
          </a:prstGeom>
        </p:spPr>
      </p:pic>
    </p:spTree>
    <p:extLst>
      <p:ext uri="{BB962C8B-B14F-4D97-AF65-F5344CB8AC3E}">
        <p14:creationId xmlns:p14="http://schemas.microsoft.com/office/powerpoint/2010/main" val="2215154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186996" y="1134184"/>
            <a:ext cx="9856145" cy="1544721"/>
            <a:chOff x="2662666" y="3005190"/>
            <a:chExt cx="6866667" cy="1076190"/>
          </a:xfrm>
        </p:grpSpPr>
        <p:pic>
          <p:nvPicPr>
            <p:cNvPr id="4" name="图片 3"/>
            <p:cNvPicPr>
              <a:picLocks noChangeAspect="1"/>
            </p:cNvPicPr>
            <p:nvPr/>
          </p:nvPicPr>
          <p:blipFill>
            <a:blip r:embed="rId3"/>
            <a:stretch>
              <a:fillRect/>
            </a:stretch>
          </p:blipFill>
          <p:spPr>
            <a:xfrm>
              <a:off x="2662666" y="3005190"/>
              <a:ext cx="6866667" cy="847619"/>
            </a:xfrm>
            <a:prstGeom prst="rect">
              <a:avLst/>
            </a:prstGeom>
          </p:spPr>
        </p:pic>
        <p:pic>
          <p:nvPicPr>
            <p:cNvPr id="5" name="图片 4"/>
            <p:cNvPicPr>
              <a:picLocks noChangeAspect="1"/>
            </p:cNvPicPr>
            <p:nvPr/>
          </p:nvPicPr>
          <p:blipFill>
            <a:blip r:embed="rId4"/>
            <a:stretch>
              <a:fillRect/>
            </a:stretch>
          </p:blipFill>
          <p:spPr>
            <a:xfrm>
              <a:off x="2662666" y="3852809"/>
              <a:ext cx="1342857" cy="228571"/>
            </a:xfrm>
            <a:prstGeom prst="rect">
              <a:avLst/>
            </a:prstGeom>
          </p:spPr>
        </p:pic>
      </p:grpSp>
      <p:sp>
        <p:nvSpPr>
          <p:cNvPr id="7" name="矩形 6"/>
          <p:cNvSpPr/>
          <p:nvPr/>
        </p:nvSpPr>
        <p:spPr>
          <a:xfrm>
            <a:off x="1186996" y="495679"/>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a:t>
            </a:r>
            <a:endParaRPr lang="zh-CN" altLang="en-US" sz="2000" b="1" dirty="0">
              <a:solidFill>
                <a:srgbClr val="0070C0"/>
              </a:solidFill>
            </a:endParaRPr>
          </a:p>
        </p:txBody>
      </p:sp>
      <p:pic>
        <p:nvPicPr>
          <p:cNvPr id="8" name="图片 7"/>
          <p:cNvPicPr>
            <a:picLocks noChangeAspect="1"/>
          </p:cNvPicPr>
          <p:nvPr/>
        </p:nvPicPr>
        <p:blipFill>
          <a:blip r:embed="rId5"/>
          <a:stretch>
            <a:fillRect/>
          </a:stretch>
        </p:blipFill>
        <p:spPr>
          <a:xfrm>
            <a:off x="1186996" y="3808169"/>
            <a:ext cx="8604120" cy="2499361"/>
          </a:xfrm>
          <a:prstGeom prst="rect">
            <a:avLst/>
          </a:prstGeom>
        </p:spPr>
      </p:pic>
      <p:sp>
        <p:nvSpPr>
          <p:cNvPr id="9" name="矩形 8"/>
          <p:cNvSpPr/>
          <p:nvPr/>
        </p:nvSpPr>
        <p:spPr>
          <a:xfrm>
            <a:off x="1186996" y="3096718"/>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
        <p:nvSpPr>
          <p:cNvPr id="3" name="矩形 2">
            <a:extLst>
              <a:ext uri="{FF2B5EF4-FFF2-40B4-BE49-F238E27FC236}">
                <a16:creationId xmlns:a16="http://schemas.microsoft.com/office/drawing/2014/main" id="{8A219C31-5DED-44E9-925E-95D406BCCD76}"/>
              </a:ext>
            </a:extLst>
          </p:cNvPr>
          <p:cNvSpPr/>
          <p:nvPr/>
        </p:nvSpPr>
        <p:spPr>
          <a:xfrm>
            <a:off x="6910754" y="4642338"/>
            <a:ext cx="3024554" cy="8176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8876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875851" y="1093728"/>
            <a:ext cx="10537947" cy="946087"/>
          </a:xfrm>
          <a:prstGeom prst="rect">
            <a:avLst/>
          </a:prstGeom>
        </p:spPr>
      </p:pic>
      <p:sp>
        <p:nvSpPr>
          <p:cNvPr id="5" name="矩形 4"/>
          <p:cNvSpPr/>
          <p:nvPr/>
        </p:nvSpPr>
        <p:spPr>
          <a:xfrm>
            <a:off x="596153" y="453476"/>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3.4</a:t>
            </a:r>
            <a:endParaRPr lang="zh-CN" altLang="en-US" sz="2000" b="1" dirty="0">
              <a:solidFill>
                <a:srgbClr val="0070C0"/>
              </a:solidFill>
            </a:endParaRPr>
          </a:p>
        </p:txBody>
      </p:sp>
      <p:pic>
        <p:nvPicPr>
          <p:cNvPr id="6" name="图片 5"/>
          <p:cNvPicPr>
            <a:picLocks noChangeAspect="1"/>
          </p:cNvPicPr>
          <p:nvPr/>
        </p:nvPicPr>
        <p:blipFill>
          <a:blip r:embed="rId4"/>
          <a:stretch>
            <a:fillRect/>
          </a:stretch>
        </p:blipFill>
        <p:spPr>
          <a:xfrm>
            <a:off x="875851" y="2138289"/>
            <a:ext cx="3089142" cy="1941342"/>
          </a:xfrm>
          <a:prstGeom prst="rect">
            <a:avLst/>
          </a:prstGeom>
        </p:spPr>
      </p:pic>
      <p:sp>
        <p:nvSpPr>
          <p:cNvPr id="7" name="矩形 6"/>
          <p:cNvSpPr/>
          <p:nvPr/>
        </p:nvSpPr>
        <p:spPr>
          <a:xfrm>
            <a:off x="596153" y="4459465"/>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8" name="图片 7"/>
          <p:cNvPicPr>
            <a:picLocks noChangeAspect="1"/>
          </p:cNvPicPr>
          <p:nvPr/>
        </p:nvPicPr>
        <p:blipFill>
          <a:blip r:embed="rId5"/>
          <a:stretch>
            <a:fillRect/>
          </a:stretch>
        </p:blipFill>
        <p:spPr>
          <a:xfrm>
            <a:off x="1976382" y="4459465"/>
            <a:ext cx="1981193" cy="2194554"/>
          </a:xfrm>
          <a:prstGeom prst="rect">
            <a:avLst/>
          </a:prstGeom>
        </p:spPr>
      </p:pic>
      <p:grpSp>
        <p:nvGrpSpPr>
          <p:cNvPr id="26" name="组合 25"/>
          <p:cNvGrpSpPr/>
          <p:nvPr/>
        </p:nvGrpSpPr>
        <p:grpSpPr>
          <a:xfrm>
            <a:off x="7607862" y="2039815"/>
            <a:ext cx="3055449" cy="4566520"/>
            <a:chOff x="6538717" y="2096086"/>
            <a:chExt cx="3055449" cy="4566520"/>
          </a:xfrm>
        </p:grpSpPr>
        <p:sp>
          <p:nvSpPr>
            <p:cNvPr id="9" name="矩形 8"/>
            <p:cNvSpPr/>
            <p:nvPr/>
          </p:nvSpPr>
          <p:spPr>
            <a:xfrm>
              <a:off x="7666892" y="3108960"/>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56H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7666892" y="3615397"/>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78H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7666892" y="4121834"/>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a:t>
              </a:r>
              <a:endParaRPr lang="zh-CN" altLang="en-US" sz="2000" b="1" dirty="0">
                <a:solidFill>
                  <a:schemeClr val="tx1"/>
                </a:solidFill>
              </a:endParaRPr>
            </a:p>
          </p:txBody>
        </p:sp>
        <p:sp>
          <p:nvSpPr>
            <p:cNvPr id="12" name="矩形 11"/>
            <p:cNvSpPr/>
            <p:nvPr/>
          </p:nvSpPr>
          <p:spPr>
            <a:xfrm>
              <a:off x="7666892" y="4628271"/>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2AH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7666892" y="5641145"/>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B7H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7666892" y="5134708"/>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4CH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7666892" y="2602523"/>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34H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7666892" y="2096086"/>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12H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7666892" y="6147582"/>
              <a:ext cx="1927274" cy="5064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65H</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6538717" y="2135182"/>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20100H</a:t>
              </a:r>
              <a:endParaRPr lang="zh-CN" altLang="en-US" sz="20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6550437" y="2639275"/>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20101H</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6550437" y="3156643"/>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20102H</a:t>
              </a:r>
              <a:endParaRPr lang="zh-CN" altLang="en-US" sz="20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6562157" y="3660736"/>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20103H</a:t>
              </a:r>
              <a:endParaRPr lang="zh-CN" altLang="en-US" sz="20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6538717" y="4736942"/>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21200H</a:t>
              </a:r>
              <a:endParaRPr lang="zh-CN" altLang="en-US" sz="2000"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6550437" y="5241035"/>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21201H</a:t>
              </a:r>
              <a:endParaRPr lang="zh-CN" altLang="en-US" sz="2000"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6550437" y="5758403"/>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21202H</a:t>
              </a:r>
              <a:endParaRPr lang="zh-CN" altLang="en-US" sz="2000"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6562157" y="6262496"/>
              <a:ext cx="118444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21203H</a:t>
              </a:r>
              <a:endParaRPr lang="zh-CN" altLang="en-US" sz="20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601258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19710" y="1488895"/>
            <a:ext cx="10472559" cy="1620065"/>
          </a:xfrm>
          <a:prstGeom prst="rect">
            <a:avLst/>
          </a:prstGeom>
        </p:spPr>
      </p:pic>
      <p:sp>
        <p:nvSpPr>
          <p:cNvPr id="5" name="矩形 4"/>
          <p:cNvSpPr/>
          <p:nvPr/>
        </p:nvSpPr>
        <p:spPr>
          <a:xfrm>
            <a:off x="919710" y="8614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3.5</a:t>
            </a:r>
            <a:endParaRPr lang="zh-CN" altLang="en-US" sz="2000" b="1" dirty="0">
              <a:solidFill>
                <a:srgbClr val="0070C0"/>
              </a:solidFill>
            </a:endParaRPr>
          </a:p>
        </p:txBody>
      </p:sp>
      <p:pic>
        <p:nvPicPr>
          <p:cNvPr id="6" name="图片 5"/>
          <p:cNvPicPr>
            <a:picLocks noChangeAspect="1"/>
          </p:cNvPicPr>
          <p:nvPr/>
        </p:nvPicPr>
        <p:blipFill>
          <a:blip r:embed="rId4"/>
          <a:stretch>
            <a:fillRect/>
          </a:stretch>
        </p:blipFill>
        <p:spPr>
          <a:xfrm>
            <a:off x="919709" y="4407199"/>
            <a:ext cx="10472559" cy="1379986"/>
          </a:xfrm>
          <a:prstGeom prst="rect">
            <a:avLst/>
          </a:prstGeom>
        </p:spPr>
      </p:pic>
      <p:sp>
        <p:nvSpPr>
          <p:cNvPr id="7" name="矩形 6"/>
          <p:cNvSpPr/>
          <p:nvPr/>
        </p:nvSpPr>
        <p:spPr>
          <a:xfrm>
            <a:off x="919710" y="3715995"/>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3287213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B431A22-5C29-4FBF-886E-2476A13F787C}"/>
              </a:ext>
            </a:extLst>
          </p:cNvPr>
          <p:cNvSpPr>
            <a:spLocks noChangeArrowheads="1"/>
          </p:cNvSpPr>
          <p:nvPr/>
        </p:nvSpPr>
        <p:spPr bwMode="auto">
          <a:xfrm>
            <a:off x="1570806" y="1295726"/>
            <a:ext cx="9050388" cy="42341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0" i="0" u="none" strike="noStrike" cap="none" normalizeH="0" baseline="0" dirty="0">
                <a:ln>
                  <a:noFill/>
                </a:ln>
                <a:solidFill>
                  <a:srgbClr val="333333"/>
                </a:solidFill>
                <a:effectLst/>
                <a:latin typeface="Arial Unicode MS" panose="020B0604020202020204" pitchFamily="34" charset="-122"/>
                <a:ea typeface="PingFang SC"/>
              </a:rPr>
              <a:t>JMP NEAR PTR START</a:t>
            </a:r>
          </a:p>
          <a:p>
            <a:pPr marL="0" marR="0" lvl="0" indent="0" algn="l" defTabSz="914400" rtl="0" eaLnBrk="0" fontAlgn="base" latinLnBrk="0" hangingPunct="0">
              <a:lnSpc>
                <a:spcPct val="150000"/>
              </a:lnSpc>
              <a:spcBef>
                <a:spcPct val="0"/>
              </a:spcBef>
              <a:spcAft>
                <a:spcPct val="0"/>
              </a:spcAft>
              <a:buClrTx/>
              <a:buSzTx/>
              <a:buFontTx/>
              <a:buNone/>
              <a:tabLst/>
            </a:pPr>
            <a:r>
              <a:rPr lang="en-US" altLang="zh-CN" sz="2000" dirty="0">
                <a:solidFill>
                  <a:srgbClr val="333333"/>
                </a:solidFill>
                <a:latin typeface="Arial Unicode MS" panose="020B0604020202020204" pitchFamily="34" charset="-122"/>
                <a:ea typeface="PingFang SC"/>
              </a:rPr>
              <a:t>        </a:t>
            </a:r>
            <a:r>
              <a:rPr kumimoji="0" lang="zh-CN" altLang="zh-CN" sz="2000" b="0" i="0" u="none" strike="noStrike" cap="none" normalizeH="0" baseline="0" dirty="0">
                <a:ln>
                  <a:noFill/>
                </a:ln>
                <a:solidFill>
                  <a:srgbClr val="333333"/>
                </a:solidFill>
                <a:effectLst/>
                <a:latin typeface="Arial Unicode MS" panose="020B0604020202020204" pitchFamily="34" charset="-122"/>
                <a:ea typeface="PingFang SC"/>
              </a:rPr>
              <a:t>在某些版本的编译器中，如果遇到向前跳转，那么对与JMP这条指令来讲，机器不知道是短跳转（-128~+127）还是近跳转（-32768~+32767）,所以都会产生EBxx90这个机器码，</a:t>
            </a:r>
            <a:r>
              <a:rPr kumimoji="0" lang="zh-CN" altLang="zh-CN" sz="2000" b="0" i="0" u="none" strike="noStrike" cap="none" normalizeH="0" baseline="0" dirty="0">
                <a:ln>
                  <a:noFill/>
                </a:ln>
                <a:solidFill>
                  <a:srgbClr val="FF0000"/>
                </a:solidFill>
                <a:effectLst/>
                <a:latin typeface="Arial Unicode MS" panose="020B0604020202020204" pitchFamily="34" charset="-122"/>
                <a:ea typeface="PingFang SC"/>
              </a:rPr>
              <a:t>EB是JMP的机器码，xx代表D16的偏移值，90是NOP的机器码</a:t>
            </a:r>
            <a:r>
              <a:rPr kumimoji="0" lang="zh-CN" altLang="zh-CN" sz="2000" b="0" i="0" u="none" strike="noStrike" cap="none" normalizeH="0" baseline="0" dirty="0">
                <a:ln>
                  <a:noFill/>
                </a:ln>
                <a:solidFill>
                  <a:srgbClr val="333333"/>
                </a:solidFill>
                <a:effectLst/>
                <a:latin typeface="Arial Unicode MS" panose="020B0604020202020204" pitchFamily="34" charset="-122"/>
                <a:ea typeface="PingFang SC"/>
              </a:rPr>
              <a:t>。这样的话，就会有三个字节。</a:t>
            </a:r>
            <a:br>
              <a:rPr kumimoji="0" lang="zh-CN" altLang="zh-CN" sz="2000" b="0" i="0" u="none" strike="noStrike" cap="none" normalizeH="0" baseline="0" dirty="0">
                <a:ln>
                  <a:noFill/>
                </a:ln>
                <a:solidFill>
                  <a:srgbClr val="333333"/>
                </a:solidFill>
                <a:effectLst/>
                <a:latin typeface="Arial Unicode MS" panose="020B0604020202020204" pitchFamily="34" charset="-122"/>
                <a:ea typeface="PingFang SC"/>
              </a:rPr>
            </a:br>
            <a:r>
              <a:rPr kumimoji="0" lang="en-US" altLang="zh-CN" sz="2000" b="0" i="0" u="none" strike="noStrike" cap="none" normalizeH="0" baseline="0" dirty="0">
                <a:ln>
                  <a:noFill/>
                </a:ln>
                <a:solidFill>
                  <a:srgbClr val="333333"/>
                </a:solidFill>
                <a:effectLst/>
                <a:latin typeface="Arial Unicode MS" panose="020B0604020202020204" pitchFamily="34" charset="-122"/>
                <a:ea typeface="PingFang SC"/>
              </a:rPr>
              <a:t>       </a:t>
            </a:r>
            <a:r>
              <a:rPr kumimoji="0" lang="zh-CN" altLang="zh-CN" sz="2000" b="0" i="0" u="none" strike="noStrike" cap="none" normalizeH="0" baseline="0" dirty="0">
                <a:ln>
                  <a:noFill/>
                </a:ln>
                <a:solidFill>
                  <a:srgbClr val="333333"/>
                </a:solidFill>
                <a:effectLst/>
                <a:latin typeface="Arial Unicode MS" panose="020B0604020202020204" pitchFamily="34" charset="-122"/>
                <a:ea typeface="PingFang SC"/>
              </a:rPr>
              <a:t>我们知道IP始终是指向下一条指令地址的，那么当JMP NEAR PTR START时，此时的IP应该是指向JMP指令的下一条指令，也就是JMP+3，至于那个D16是START标号三个属性中的偏移属性而已。这样的话，IP就跳转以近跳转的方式跳到START去</a:t>
            </a:r>
            <a:r>
              <a:rPr kumimoji="0" lang="zh-CN" altLang="zh-CN" sz="2000" b="0" i="0" u="none" strike="noStrike" cap="none" normalizeH="0" baseline="0" dirty="0">
                <a:ln>
                  <a:noFill/>
                </a:ln>
                <a:effectLst/>
                <a:latin typeface="Arial Unicode MS" panose="020B0604020202020204" pitchFamily="34" charset="-122"/>
                <a:ea typeface="PingFang SC"/>
              </a:rPr>
              <a:t>执行程序</a:t>
            </a:r>
            <a:r>
              <a:rPr kumimoji="0" lang="zh-CN" altLang="zh-CN" sz="2000" b="0" i="0" u="none" strike="noStrike" cap="none" normalizeH="0" baseline="0" dirty="0">
                <a:ln>
                  <a:noFill/>
                </a:ln>
                <a:solidFill>
                  <a:srgbClr val="333333"/>
                </a:solidFill>
                <a:effectLst/>
                <a:latin typeface="Arial Unicode MS" panose="020B0604020202020204" pitchFamily="34" charset="-122"/>
                <a:ea typeface="PingFang SC"/>
              </a:rPr>
              <a:t>。</a:t>
            </a:r>
            <a:r>
              <a:rPr kumimoji="0" lang="zh-CN" altLang="zh-CN" sz="20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5" name="矩形 4">
            <a:extLst>
              <a:ext uri="{FF2B5EF4-FFF2-40B4-BE49-F238E27FC236}">
                <a16:creationId xmlns:a16="http://schemas.microsoft.com/office/drawing/2014/main" id="{A0953A05-A9EB-4C36-B45C-27C7609EC317}"/>
              </a:ext>
            </a:extLst>
          </p:cNvPr>
          <p:cNvSpPr/>
          <p:nvPr/>
        </p:nvSpPr>
        <p:spPr>
          <a:xfrm>
            <a:off x="965895" y="775147"/>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Tree>
    <p:extLst>
      <p:ext uri="{BB962C8B-B14F-4D97-AF65-F5344CB8AC3E}">
        <p14:creationId xmlns:p14="http://schemas.microsoft.com/office/powerpoint/2010/main" val="5919906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490825" y="999796"/>
            <a:ext cx="11193578" cy="1025950"/>
          </a:xfrm>
          <a:prstGeom prst="rect">
            <a:avLst/>
          </a:prstGeom>
        </p:spPr>
      </p:pic>
      <p:sp>
        <p:nvSpPr>
          <p:cNvPr id="5" name="矩形 4"/>
          <p:cNvSpPr/>
          <p:nvPr/>
        </p:nvSpPr>
        <p:spPr>
          <a:xfrm>
            <a:off x="638356" y="42534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3.6</a:t>
            </a:r>
            <a:endParaRPr lang="zh-CN" altLang="en-US" sz="2000" b="1" dirty="0">
              <a:solidFill>
                <a:srgbClr val="0070C0"/>
              </a:solidFill>
            </a:endParaRPr>
          </a:p>
        </p:txBody>
      </p:sp>
      <p:pic>
        <p:nvPicPr>
          <p:cNvPr id="6" name="图片 5"/>
          <p:cNvPicPr>
            <a:picLocks noChangeAspect="1"/>
          </p:cNvPicPr>
          <p:nvPr/>
        </p:nvPicPr>
        <p:blipFill>
          <a:blip r:embed="rId4"/>
          <a:stretch>
            <a:fillRect/>
          </a:stretch>
        </p:blipFill>
        <p:spPr>
          <a:xfrm>
            <a:off x="726526" y="3555766"/>
            <a:ext cx="2650426" cy="1244675"/>
          </a:xfrm>
          <a:prstGeom prst="rect">
            <a:avLst/>
          </a:prstGeom>
        </p:spPr>
      </p:pic>
      <p:pic>
        <p:nvPicPr>
          <p:cNvPr id="7" name="图片 6"/>
          <p:cNvPicPr>
            <a:picLocks noChangeAspect="1"/>
          </p:cNvPicPr>
          <p:nvPr/>
        </p:nvPicPr>
        <p:blipFill>
          <a:blip r:embed="rId5"/>
          <a:stretch>
            <a:fillRect/>
          </a:stretch>
        </p:blipFill>
        <p:spPr>
          <a:xfrm>
            <a:off x="3837145" y="3555766"/>
            <a:ext cx="2850285" cy="1121423"/>
          </a:xfrm>
          <a:prstGeom prst="rect">
            <a:avLst/>
          </a:prstGeom>
        </p:spPr>
      </p:pic>
      <p:sp>
        <p:nvSpPr>
          <p:cNvPr id="8" name="矩形 7"/>
          <p:cNvSpPr/>
          <p:nvPr/>
        </p:nvSpPr>
        <p:spPr>
          <a:xfrm>
            <a:off x="638356" y="2815662"/>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
        <p:nvSpPr>
          <p:cNvPr id="9" name="文本框 8"/>
          <p:cNvSpPr txBox="1"/>
          <p:nvPr/>
        </p:nvSpPr>
        <p:spPr>
          <a:xfrm>
            <a:off x="3334309" y="3777993"/>
            <a:ext cx="36576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或</a:t>
            </a:r>
          </a:p>
        </p:txBody>
      </p:sp>
      <p:pic>
        <p:nvPicPr>
          <p:cNvPr id="2" name="图片 1">
            <a:extLst>
              <a:ext uri="{FF2B5EF4-FFF2-40B4-BE49-F238E27FC236}">
                <a16:creationId xmlns:a16="http://schemas.microsoft.com/office/drawing/2014/main" id="{7DF51315-FA92-49D9-AD68-7E2A6D8223AC}"/>
              </a:ext>
            </a:extLst>
          </p:cNvPr>
          <p:cNvPicPr>
            <a:picLocks noChangeAspect="1"/>
          </p:cNvPicPr>
          <p:nvPr/>
        </p:nvPicPr>
        <p:blipFill rotWithShape="1">
          <a:blip r:embed="rId6"/>
          <a:srcRect l="47199"/>
          <a:stretch/>
        </p:blipFill>
        <p:spPr>
          <a:xfrm>
            <a:off x="9200444" y="2815662"/>
            <a:ext cx="1596510" cy="2974510"/>
          </a:xfrm>
          <a:prstGeom prst="rect">
            <a:avLst/>
          </a:prstGeom>
        </p:spPr>
      </p:pic>
      <p:sp>
        <p:nvSpPr>
          <p:cNvPr id="3" name="矩形 2">
            <a:extLst>
              <a:ext uri="{FF2B5EF4-FFF2-40B4-BE49-F238E27FC236}">
                <a16:creationId xmlns:a16="http://schemas.microsoft.com/office/drawing/2014/main" id="{C4C2DA57-E204-4F8B-ABE4-09E1BF708B70}"/>
              </a:ext>
            </a:extLst>
          </p:cNvPr>
          <p:cNvSpPr/>
          <p:nvPr/>
        </p:nvSpPr>
        <p:spPr>
          <a:xfrm>
            <a:off x="3837145" y="3494139"/>
            <a:ext cx="2924140" cy="12446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7DF51315-FA92-49D9-AD68-7E2A6D8223AC}"/>
              </a:ext>
            </a:extLst>
          </p:cNvPr>
          <p:cNvPicPr>
            <a:picLocks noChangeAspect="1"/>
          </p:cNvPicPr>
          <p:nvPr/>
        </p:nvPicPr>
        <p:blipFill rotWithShape="1">
          <a:blip r:embed="rId6"/>
          <a:srcRect l="747" t="1139" r="51750" b="42935"/>
          <a:stretch/>
        </p:blipFill>
        <p:spPr>
          <a:xfrm>
            <a:off x="7764200" y="2946234"/>
            <a:ext cx="1436326" cy="1663518"/>
          </a:xfrm>
          <a:prstGeom prst="rect">
            <a:avLst/>
          </a:prstGeom>
        </p:spPr>
      </p:pic>
      <p:pic>
        <p:nvPicPr>
          <p:cNvPr id="11" name="图片 10">
            <a:extLst>
              <a:ext uri="{FF2B5EF4-FFF2-40B4-BE49-F238E27FC236}">
                <a16:creationId xmlns:a16="http://schemas.microsoft.com/office/drawing/2014/main" id="{7DF51315-FA92-49D9-AD68-7E2A6D8223AC}"/>
              </a:ext>
            </a:extLst>
          </p:cNvPr>
          <p:cNvPicPr>
            <a:picLocks noChangeAspect="1"/>
          </p:cNvPicPr>
          <p:nvPr/>
        </p:nvPicPr>
        <p:blipFill rotWithShape="1">
          <a:blip r:embed="rId6"/>
          <a:srcRect t="57695" r="52497"/>
          <a:stretch/>
        </p:blipFill>
        <p:spPr>
          <a:xfrm>
            <a:off x="7744179" y="4800441"/>
            <a:ext cx="1436326" cy="1258365"/>
          </a:xfrm>
          <a:prstGeom prst="rect">
            <a:avLst/>
          </a:prstGeom>
        </p:spPr>
      </p:pic>
    </p:spTree>
    <p:extLst>
      <p:ext uri="{BB962C8B-B14F-4D97-AF65-F5344CB8AC3E}">
        <p14:creationId xmlns:p14="http://schemas.microsoft.com/office/powerpoint/2010/main" val="2300869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8356" y="42534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3.9</a:t>
            </a:r>
            <a:endParaRPr lang="zh-CN" altLang="en-US" sz="2000" b="1" dirty="0">
              <a:solidFill>
                <a:srgbClr val="0070C0"/>
              </a:solidFill>
            </a:endParaRPr>
          </a:p>
        </p:txBody>
      </p:sp>
      <p:pic>
        <p:nvPicPr>
          <p:cNvPr id="5" name="图片 4"/>
          <p:cNvPicPr>
            <a:picLocks noChangeAspect="1"/>
          </p:cNvPicPr>
          <p:nvPr/>
        </p:nvPicPr>
        <p:blipFill>
          <a:blip r:embed="rId3"/>
          <a:stretch>
            <a:fillRect/>
          </a:stretch>
        </p:blipFill>
        <p:spPr>
          <a:xfrm>
            <a:off x="1524620" y="1019366"/>
            <a:ext cx="9038049" cy="1464883"/>
          </a:xfrm>
          <a:prstGeom prst="rect">
            <a:avLst/>
          </a:prstGeom>
        </p:spPr>
      </p:pic>
      <p:pic>
        <p:nvPicPr>
          <p:cNvPr id="6" name="图片 5"/>
          <p:cNvPicPr>
            <a:picLocks noChangeAspect="1"/>
          </p:cNvPicPr>
          <p:nvPr/>
        </p:nvPicPr>
        <p:blipFill>
          <a:blip r:embed="rId4"/>
          <a:stretch>
            <a:fillRect/>
          </a:stretch>
        </p:blipFill>
        <p:spPr>
          <a:xfrm>
            <a:off x="2431125" y="2992918"/>
            <a:ext cx="3612519" cy="1219226"/>
          </a:xfrm>
          <a:prstGeom prst="rect">
            <a:avLst/>
          </a:prstGeom>
        </p:spPr>
      </p:pic>
      <p:sp>
        <p:nvSpPr>
          <p:cNvPr id="7" name="矩形 6"/>
          <p:cNvSpPr/>
          <p:nvPr/>
        </p:nvSpPr>
        <p:spPr>
          <a:xfrm>
            <a:off x="638356" y="3062173"/>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4041376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8356" y="42534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3.10</a:t>
            </a:r>
            <a:endParaRPr lang="zh-CN" altLang="en-US" sz="2000" b="1" dirty="0">
              <a:solidFill>
                <a:srgbClr val="0070C0"/>
              </a:solidFill>
            </a:endParaRPr>
          </a:p>
        </p:txBody>
      </p:sp>
      <p:grpSp>
        <p:nvGrpSpPr>
          <p:cNvPr id="7" name="组合 6"/>
          <p:cNvGrpSpPr/>
          <p:nvPr/>
        </p:nvGrpSpPr>
        <p:grpSpPr>
          <a:xfrm>
            <a:off x="974325" y="1035930"/>
            <a:ext cx="10346191" cy="1403696"/>
            <a:chOff x="974325" y="1035930"/>
            <a:chExt cx="10346191" cy="1403696"/>
          </a:xfrm>
        </p:grpSpPr>
        <p:pic>
          <p:nvPicPr>
            <p:cNvPr id="5" name="图片 4"/>
            <p:cNvPicPr>
              <a:picLocks noChangeAspect="1"/>
            </p:cNvPicPr>
            <p:nvPr/>
          </p:nvPicPr>
          <p:blipFill>
            <a:blip r:embed="rId2"/>
            <a:stretch>
              <a:fillRect/>
            </a:stretch>
          </p:blipFill>
          <p:spPr>
            <a:xfrm>
              <a:off x="974325" y="1035930"/>
              <a:ext cx="10346191" cy="1228968"/>
            </a:xfrm>
            <a:prstGeom prst="rect">
              <a:avLst/>
            </a:prstGeom>
          </p:spPr>
        </p:pic>
        <p:sp>
          <p:nvSpPr>
            <p:cNvPr id="6" name="矩形 5"/>
            <p:cNvSpPr/>
            <p:nvPr/>
          </p:nvSpPr>
          <p:spPr>
            <a:xfrm>
              <a:off x="9692640" y="1322363"/>
              <a:ext cx="1627876" cy="11172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a:blip r:embed="rId3"/>
          <a:stretch>
            <a:fillRect/>
          </a:stretch>
        </p:blipFill>
        <p:spPr>
          <a:xfrm>
            <a:off x="974325" y="3769765"/>
            <a:ext cx="8477009" cy="696104"/>
          </a:xfrm>
          <a:prstGeom prst="rect">
            <a:avLst/>
          </a:prstGeom>
        </p:spPr>
      </p:pic>
      <p:sp>
        <p:nvSpPr>
          <p:cNvPr id="9" name="矩形 8"/>
          <p:cNvSpPr/>
          <p:nvPr/>
        </p:nvSpPr>
        <p:spPr>
          <a:xfrm>
            <a:off x="638356" y="3062173"/>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Tree>
    <p:extLst>
      <p:ext uri="{BB962C8B-B14F-4D97-AF65-F5344CB8AC3E}">
        <p14:creationId xmlns:p14="http://schemas.microsoft.com/office/powerpoint/2010/main" val="3115201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8356" y="42534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3.13</a:t>
            </a:r>
            <a:endParaRPr lang="zh-CN" altLang="en-US" sz="2000" b="1" dirty="0">
              <a:solidFill>
                <a:srgbClr val="0070C0"/>
              </a:solidFill>
            </a:endParaRPr>
          </a:p>
        </p:txBody>
      </p:sp>
      <p:pic>
        <p:nvPicPr>
          <p:cNvPr id="5" name="图片 4"/>
          <p:cNvPicPr>
            <a:picLocks noChangeAspect="1"/>
          </p:cNvPicPr>
          <p:nvPr/>
        </p:nvPicPr>
        <p:blipFill>
          <a:blip r:embed="rId3"/>
          <a:stretch>
            <a:fillRect/>
          </a:stretch>
        </p:blipFill>
        <p:spPr>
          <a:xfrm>
            <a:off x="993154" y="1027934"/>
            <a:ext cx="10463853" cy="969679"/>
          </a:xfrm>
          <a:prstGeom prst="rect">
            <a:avLst/>
          </a:prstGeom>
        </p:spPr>
      </p:pic>
      <p:pic>
        <p:nvPicPr>
          <p:cNvPr id="6" name="图片 5"/>
          <p:cNvPicPr>
            <a:picLocks noChangeAspect="1"/>
          </p:cNvPicPr>
          <p:nvPr/>
        </p:nvPicPr>
        <p:blipFill rotWithShape="1">
          <a:blip r:embed="rId4"/>
          <a:srcRect b="2355"/>
          <a:stretch/>
        </p:blipFill>
        <p:spPr>
          <a:xfrm>
            <a:off x="2165275" y="4257795"/>
            <a:ext cx="4798234" cy="2117495"/>
          </a:xfrm>
          <a:prstGeom prst="rect">
            <a:avLst/>
          </a:prstGeom>
        </p:spPr>
      </p:pic>
      <p:sp>
        <p:nvSpPr>
          <p:cNvPr id="7" name="矩形 6"/>
          <p:cNvSpPr/>
          <p:nvPr/>
        </p:nvSpPr>
        <p:spPr>
          <a:xfrm>
            <a:off x="638356" y="4257795"/>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
        <p:nvSpPr>
          <p:cNvPr id="8" name="矩形 7">
            <a:extLst>
              <a:ext uri="{FF2B5EF4-FFF2-40B4-BE49-F238E27FC236}">
                <a16:creationId xmlns:a16="http://schemas.microsoft.com/office/drawing/2014/main" id="{3CEF5FCD-079B-4A3F-B2AD-22C81D8B103A}"/>
              </a:ext>
            </a:extLst>
          </p:cNvPr>
          <p:cNvSpPr/>
          <p:nvPr/>
        </p:nvSpPr>
        <p:spPr>
          <a:xfrm>
            <a:off x="638356" y="2164345"/>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2" name="矩形 1">
            <a:extLst>
              <a:ext uri="{FF2B5EF4-FFF2-40B4-BE49-F238E27FC236}">
                <a16:creationId xmlns:a16="http://schemas.microsoft.com/office/drawing/2014/main" id="{D208CA11-85D2-48DC-83D0-E57293237ED3}"/>
              </a:ext>
            </a:extLst>
          </p:cNvPr>
          <p:cNvSpPr/>
          <p:nvPr/>
        </p:nvSpPr>
        <p:spPr>
          <a:xfrm>
            <a:off x="2007012" y="2148990"/>
            <a:ext cx="9106466" cy="1754326"/>
          </a:xfrm>
          <a:prstGeom prst="rect">
            <a:avLst/>
          </a:prstGeom>
        </p:spPr>
        <p:txBody>
          <a:bodyPr wrap="square">
            <a:spAutoFit/>
          </a:bodyPr>
          <a:lstStyle/>
          <a:p>
            <a:pPr marL="285750" indent="-285750">
              <a:buFont typeface="Wingdings" panose="05000000000000000000" pitchFamily="2" charset="2"/>
              <a:buChar char="Ø"/>
            </a:pPr>
            <a:r>
              <a:rPr lang="zh-CN" altLang="en-US" dirty="0">
                <a:solidFill>
                  <a:srgbClr val="000000"/>
                </a:solidFill>
                <a:latin typeface="Verdana" panose="020B0604030504040204" pitchFamily="34" charset="0"/>
              </a:rPr>
              <a:t>堆栈区是一个特殊的存储区，末单元为栈底，数据从栈底开始存放，最后存放的数据单元为栈顶。当堆栈去为空时，栈顶和栈底重合。</a:t>
            </a:r>
            <a:endParaRPr lang="en-US" altLang="zh-CN" dirty="0">
              <a:solidFill>
                <a:srgbClr val="000000"/>
              </a:solidFill>
              <a:latin typeface="Verdana" panose="020B0604030504040204" pitchFamily="34" charset="0"/>
            </a:endParaRPr>
          </a:p>
          <a:p>
            <a:pPr marL="285750" indent="-285750">
              <a:buFont typeface="Wingdings" panose="05000000000000000000" pitchFamily="2" charset="2"/>
              <a:buChar char="Ø"/>
            </a:pPr>
            <a:r>
              <a:rPr lang="zh-CN" altLang="en-US" dirty="0"/>
              <a:t>数据在在堆栈去存放时，必须以字存入，每存入一个字，后存入的数据依次放入栈的低地址单元中。</a:t>
            </a:r>
            <a:endParaRPr lang="en-US" altLang="zh-CN" dirty="0"/>
          </a:p>
          <a:p>
            <a:pPr marL="285750" indent="-285750">
              <a:buFont typeface="Wingdings" panose="05000000000000000000" pitchFamily="2" charset="2"/>
              <a:buChar char="Ø"/>
            </a:pPr>
            <a:r>
              <a:rPr lang="zh-CN" altLang="en-US" dirty="0"/>
              <a:t>栈指针</a:t>
            </a:r>
            <a:r>
              <a:rPr lang="en-US" altLang="zh-CN" dirty="0"/>
              <a:t>SP</a:t>
            </a:r>
            <a:r>
              <a:rPr lang="zh-CN" altLang="en-US" dirty="0"/>
              <a:t>每次减</a:t>
            </a:r>
            <a:r>
              <a:rPr lang="en-US" altLang="zh-CN" dirty="0"/>
              <a:t>2</a:t>
            </a:r>
            <a:r>
              <a:rPr lang="zh-CN" altLang="en-US" dirty="0"/>
              <a:t>，由栈指针</a:t>
            </a:r>
            <a:r>
              <a:rPr lang="en-US" altLang="zh-CN" dirty="0"/>
              <a:t>SP</a:t>
            </a:r>
            <a:r>
              <a:rPr lang="zh-CN" altLang="en-US" dirty="0"/>
              <a:t>指出当前栈顶的位置，数据存取时采用后进先出</a:t>
            </a:r>
            <a:endParaRPr lang="en-US" altLang="zh-CN" dirty="0"/>
          </a:p>
          <a:p>
            <a:pPr marL="285750" indent="-285750">
              <a:buFont typeface="Wingdings" panose="05000000000000000000" pitchFamily="2" charset="2"/>
              <a:buChar char="Ø"/>
            </a:pPr>
            <a:r>
              <a:rPr lang="zh-CN" altLang="en-US" dirty="0"/>
              <a:t>用</a:t>
            </a:r>
            <a:r>
              <a:rPr lang="en-US" altLang="zh-CN" dirty="0"/>
              <a:t>SS</a:t>
            </a:r>
            <a:r>
              <a:rPr lang="zh-CN" altLang="en-US" dirty="0"/>
              <a:t>表示栈的段地址，用</a:t>
            </a:r>
            <a:r>
              <a:rPr lang="en-US" altLang="zh-CN" dirty="0"/>
              <a:t>SP</a:t>
            </a:r>
            <a:r>
              <a:rPr lang="zh-CN" altLang="en-US" dirty="0"/>
              <a:t>表示偏移地址。</a:t>
            </a:r>
          </a:p>
        </p:txBody>
      </p:sp>
    </p:spTree>
    <p:extLst>
      <p:ext uri="{BB962C8B-B14F-4D97-AF65-F5344CB8AC3E}">
        <p14:creationId xmlns:p14="http://schemas.microsoft.com/office/powerpoint/2010/main" val="3168665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8356" y="42534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3.15</a:t>
            </a:r>
            <a:endParaRPr lang="zh-CN" altLang="en-US" sz="2000" b="1" dirty="0">
              <a:solidFill>
                <a:srgbClr val="0070C0"/>
              </a:solidFill>
            </a:endParaRPr>
          </a:p>
        </p:txBody>
      </p:sp>
      <p:pic>
        <p:nvPicPr>
          <p:cNvPr id="7" name="图片 6"/>
          <p:cNvPicPr>
            <a:picLocks noChangeAspect="1"/>
          </p:cNvPicPr>
          <p:nvPr/>
        </p:nvPicPr>
        <p:blipFill>
          <a:blip r:embed="rId3"/>
          <a:stretch>
            <a:fillRect/>
          </a:stretch>
        </p:blipFill>
        <p:spPr>
          <a:xfrm>
            <a:off x="871309" y="1206269"/>
            <a:ext cx="10665110" cy="960156"/>
          </a:xfrm>
          <a:prstGeom prst="rect">
            <a:avLst/>
          </a:prstGeom>
        </p:spPr>
      </p:pic>
      <p:pic>
        <p:nvPicPr>
          <p:cNvPr id="8" name="图片 7"/>
          <p:cNvPicPr>
            <a:picLocks noChangeAspect="1"/>
          </p:cNvPicPr>
          <p:nvPr/>
        </p:nvPicPr>
        <p:blipFill>
          <a:blip r:embed="rId4"/>
          <a:stretch>
            <a:fillRect/>
          </a:stretch>
        </p:blipFill>
        <p:spPr>
          <a:xfrm>
            <a:off x="2118584" y="5041706"/>
            <a:ext cx="5692105" cy="1431066"/>
          </a:xfrm>
          <a:prstGeom prst="rect">
            <a:avLst/>
          </a:prstGeom>
        </p:spPr>
      </p:pic>
      <p:sp>
        <p:nvSpPr>
          <p:cNvPr id="9" name="矩形 8"/>
          <p:cNvSpPr/>
          <p:nvPr/>
        </p:nvSpPr>
        <p:spPr>
          <a:xfrm>
            <a:off x="638356" y="4953684"/>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sp>
        <p:nvSpPr>
          <p:cNvPr id="6" name="矩形 5">
            <a:extLst>
              <a:ext uri="{FF2B5EF4-FFF2-40B4-BE49-F238E27FC236}">
                <a16:creationId xmlns:a16="http://schemas.microsoft.com/office/drawing/2014/main" id="{3DB46F10-FF3A-476B-8FF2-BEFE0A7C013D}"/>
              </a:ext>
            </a:extLst>
          </p:cNvPr>
          <p:cNvSpPr/>
          <p:nvPr/>
        </p:nvSpPr>
        <p:spPr>
          <a:xfrm>
            <a:off x="638356" y="2492676"/>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3" name="矩形 2">
            <a:extLst>
              <a:ext uri="{FF2B5EF4-FFF2-40B4-BE49-F238E27FC236}">
                <a16:creationId xmlns:a16="http://schemas.microsoft.com/office/drawing/2014/main" id="{A2FF3423-B330-4996-8DF8-6379AD26534B}"/>
              </a:ext>
            </a:extLst>
          </p:cNvPr>
          <p:cNvSpPr/>
          <p:nvPr/>
        </p:nvSpPr>
        <p:spPr>
          <a:xfrm>
            <a:off x="2144960" y="2365183"/>
            <a:ext cx="8792671" cy="2169825"/>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t>符号标志</a:t>
            </a:r>
            <a:r>
              <a:rPr lang="en-US" altLang="zh-CN" dirty="0"/>
              <a:t>SF</a:t>
            </a:r>
            <a:r>
              <a:rPr lang="zh-CN" altLang="en-US" dirty="0"/>
              <a:t>：用来反映运算结果的符号位，它与运算结果的最高位相同，</a:t>
            </a:r>
            <a:r>
              <a:rPr lang="zh-CN" altLang="en-US" b="1" dirty="0"/>
              <a:t>正数为</a:t>
            </a:r>
            <a:r>
              <a:rPr lang="en-US" altLang="zh-CN" b="1" dirty="0"/>
              <a:t>0</a:t>
            </a:r>
            <a:r>
              <a:rPr lang="zh-CN" altLang="en-US" b="1" dirty="0"/>
              <a:t>，负数为</a:t>
            </a:r>
            <a:r>
              <a:rPr lang="en-US" altLang="zh-CN" b="1" dirty="0"/>
              <a:t>1</a:t>
            </a:r>
          </a:p>
          <a:p>
            <a:pPr marL="285750" indent="-285750">
              <a:lnSpc>
                <a:spcPct val="150000"/>
              </a:lnSpc>
              <a:buFont typeface="Wingdings" panose="05000000000000000000" pitchFamily="2" charset="2"/>
              <a:buChar char="Ø"/>
            </a:pPr>
            <a:r>
              <a:rPr lang="zh-CN" altLang="en-US" dirty="0"/>
              <a:t>零标志</a:t>
            </a:r>
            <a:r>
              <a:rPr lang="en-US" altLang="zh-CN" dirty="0"/>
              <a:t>ZF</a:t>
            </a:r>
            <a:r>
              <a:rPr lang="zh-CN" altLang="en-US" dirty="0"/>
              <a:t>：用来反映运算结果是否为</a:t>
            </a:r>
            <a:r>
              <a:rPr lang="en-US" altLang="zh-CN" dirty="0"/>
              <a:t>0</a:t>
            </a:r>
            <a:r>
              <a:rPr lang="zh-CN" altLang="en-US" dirty="0"/>
              <a:t>。</a:t>
            </a:r>
            <a:r>
              <a:rPr lang="zh-CN" altLang="en-US" b="1" dirty="0"/>
              <a:t>运算结果为</a:t>
            </a:r>
            <a:r>
              <a:rPr lang="en-US" altLang="zh-CN" b="1" dirty="0"/>
              <a:t>0</a:t>
            </a:r>
            <a:r>
              <a:rPr lang="zh-CN" altLang="en-US" b="1" dirty="0"/>
              <a:t>，则其值为</a:t>
            </a:r>
            <a:r>
              <a:rPr lang="en-US" altLang="zh-CN" b="1" dirty="0"/>
              <a:t>1</a:t>
            </a:r>
            <a:r>
              <a:rPr lang="zh-CN" altLang="en-US" b="1" dirty="0"/>
              <a:t>，否则其值为</a:t>
            </a:r>
            <a:r>
              <a:rPr lang="en-US" altLang="zh-CN" b="1" dirty="0"/>
              <a:t>0</a:t>
            </a:r>
          </a:p>
          <a:p>
            <a:pPr marL="285750" indent="-285750">
              <a:lnSpc>
                <a:spcPct val="150000"/>
              </a:lnSpc>
              <a:buFont typeface="Wingdings" panose="05000000000000000000" pitchFamily="2" charset="2"/>
              <a:buChar char="Ø"/>
            </a:pPr>
            <a:r>
              <a:rPr lang="zh-CN" altLang="en-US" dirty="0"/>
              <a:t>进位标志</a:t>
            </a:r>
            <a:r>
              <a:rPr lang="en-US" altLang="zh-CN" dirty="0"/>
              <a:t>CF</a:t>
            </a:r>
            <a:r>
              <a:rPr lang="zh-CN" altLang="en-US" dirty="0"/>
              <a:t>：</a:t>
            </a:r>
            <a:r>
              <a:rPr lang="zh-CN" altLang="en-US" b="1" dirty="0"/>
              <a:t>进位或借位其值为</a:t>
            </a:r>
            <a:r>
              <a:rPr lang="en-US" altLang="zh-CN" b="1" dirty="0"/>
              <a:t>1</a:t>
            </a:r>
            <a:r>
              <a:rPr lang="zh-CN" altLang="en-US" b="1" dirty="0"/>
              <a:t>，否则其值为</a:t>
            </a:r>
            <a:r>
              <a:rPr lang="en-US" altLang="zh-CN" b="1" dirty="0"/>
              <a:t>0</a:t>
            </a:r>
          </a:p>
          <a:p>
            <a:pPr marL="285750" indent="-285750">
              <a:lnSpc>
                <a:spcPct val="150000"/>
              </a:lnSpc>
              <a:buFont typeface="Wingdings" panose="05000000000000000000" pitchFamily="2" charset="2"/>
              <a:buChar char="Ø"/>
            </a:pPr>
            <a:r>
              <a:rPr lang="zh-CN" altLang="en-US" dirty="0"/>
              <a:t>溢出标志</a:t>
            </a:r>
            <a:r>
              <a:rPr lang="en-US" altLang="zh-CN" dirty="0"/>
              <a:t>OF</a:t>
            </a:r>
            <a:r>
              <a:rPr lang="zh-CN" altLang="en-US" dirty="0"/>
              <a:t>：用于反映有符号数加减运算所得结果是否溢出，</a:t>
            </a:r>
            <a:r>
              <a:rPr lang="zh-CN" altLang="en-US" b="1" dirty="0"/>
              <a:t>溢出为</a:t>
            </a:r>
            <a:r>
              <a:rPr lang="en-US" altLang="zh-CN" b="1" dirty="0"/>
              <a:t>1</a:t>
            </a:r>
            <a:r>
              <a:rPr lang="zh-CN" altLang="en-US" b="1" dirty="0"/>
              <a:t>，否则为</a:t>
            </a:r>
            <a:r>
              <a:rPr lang="en-US" altLang="zh-CN" b="1" dirty="0"/>
              <a:t>0</a:t>
            </a:r>
            <a:endParaRPr lang="zh-CN" altLang="en-US" b="1" dirty="0"/>
          </a:p>
        </p:txBody>
      </p:sp>
      <p:sp>
        <p:nvSpPr>
          <p:cNvPr id="5" name="Rectangle 1">
            <a:extLst>
              <a:ext uri="{FF2B5EF4-FFF2-40B4-BE49-F238E27FC236}">
                <a16:creationId xmlns:a16="http://schemas.microsoft.com/office/drawing/2014/main" id="{A3BEFD8E-975A-43E7-97FF-DB74EA66E9D6}"/>
              </a:ext>
            </a:extLst>
          </p:cNvPr>
          <p:cNvSpPr>
            <a:spLocks noChangeArrowheads="1"/>
          </p:cNvSpPr>
          <p:nvPr/>
        </p:nvSpPr>
        <p:spPr bwMode="auto">
          <a:xfrm>
            <a:off x="8308730" y="4691575"/>
            <a:ext cx="3112478" cy="18517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加法：</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正加正，得到负，就是溢出。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负加负，得到正，也是溢出。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减法：</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正减负，得到负，就是溢出。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负减正，得到正，也是溢出。</a:t>
            </a:r>
            <a:r>
              <a:rPr kumimoji="0" lang="zh-CN" altLang="zh-CN" sz="1600" b="0" i="0" u="none" strike="noStrike" cap="none" normalizeH="0" baseline="0" dirty="0">
                <a:ln>
                  <a:noFill/>
                </a:ln>
                <a:solidFill>
                  <a:schemeClr val="tx1"/>
                </a:solidFill>
                <a:effectLst/>
              </a:rPr>
              <a:t> </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5928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29994" y="579960"/>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3" name="文本框 2">
            <a:extLst>
              <a:ext uri="{FF2B5EF4-FFF2-40B4-BE49-F238E27FC236}">
                <a16:creationId xmlns:a16="http://schemas.microsoft.com/office/drawing/2014/main" id="{6940AB3E-1838-42F0-96C5-A4D05D053C30}"/>
              </a:ext>
            </a:extLst>
          </p:cNvPr>
          <p:cNvSpPr txBox="1"/>
          <p:nvPr/>
        </p:nvSpPr>
        <p:spPr>
          <a:xfrm>
            <a:off x="829994" y="1265760"/>
            <a:ext cx="1394460" cy="369332"/>
          </a:xfrm>
          <a:prstGeom prst="rect">
            <a:avLst/>
          </a:prstGeom>
          <a:noFill/>
        </p:spPr>
        <p:txBody>
          <a:bodyPr wrap="square" rtlCol="0">
            <a:spAutoFit/>
          </a:bodyPr>
          <a:lstStyle/>
          <a:p>
            <a:r>
              <a:rPr lang="en-US" altLang="zh-CN" dirty="0"/>
              <a:t>ADD </a:t>
            </a:r>
            <a:r>
              <a:rPr lang="zh-CN" altLang="en-US" dirty="0"/>
              <a:t>加法</a:t>
            </a:r>
            <a:r>
              <a:rPr lang="en-US" altLang="zh-CN" dirty="0"/>
              <a:t> </a:t>
            </a:r>
            <a:endParaRPr lang="zh-CN" altLang="en-US" dirty="0"/>
          </a:p>
        </p:txBody>
      </p:sp>
      <p:pic>
        <p:nvPicPr>
          <p:cNvPr id="4" name="图片 3">
            <a:extLst>
              <a:ext uri="{FF2B5EF4-FFF2-40B4-BE49-F238E27FC236}">
                <a16:creationId xmlns:a16="http://schemas.microsoft.com/office/drawing/2014/main" id="{004A9644-2C1D-4856-9ED4-BF2D5B4CEF5F}"/>
              </a:ext>
            </a:extLst>
          </p:cNvPr>
          <p:cNvPicPr>
            <a:picLocks noChangeAspect="1"/>
          </p:cNvPicPr>
          <p:nvPr/>
        </p:nvPicPr>
        <p:blipFill>
          <a:blip r:embed="rId3"/>
          <a:stretch>
            <a:fillRect/>
          </a:stretch>
        </p:blipFill>
        <p:spPr>
          <a:xfrm>
            <a:off x="4407292" y="1265760"/>
            <a:ext cx="6611815" cy="668869"/>
          </a:xfrm>
          <a:prstGeom prst="rect">
            <a:avLst/>
          </a:prstGeom>
        </p:spPr>
      </p:pic>
      <p:sp>
        <p:nvSpPr>
          <p:cNvPr id="8" name="文本框 7">
            <a:extLst>
              <a:ext uri="{FF2B5EF4-FFF2-40B4-BE49-F238E27FC236}">
                <a16:creationId xmlns:a16="http://schemas.microsoft.com/office/drawing/2014/main" id="{56AB9277-DB01-4AA4-A599-47DDA960F066}"/>
              </a:ext>
            </a:extLst>
          </p:cNvPr>
          <p:cNvSpPr txBox="1"/>
          <p:nvPr/>
        </p:nvSpPr>
        <p:spPr>
          <a:xfrm>
            <a:off x="829994" y="1978286"/>
            <a:ext cx="1684606" cy="369332"/>
          </a:xfrm>
          <a:prstGeom prst="rect">
            <a:avLst/>
          </a:prstGeom>
          <a:noFill/>
        </p:spPr>
        <p:txBody>
          <a:bodyPr wrap="square" rtlCol="0">
            <a:spAutoFit/>
          </a:bodyPr>
          <a:lstStyle/>
          <a:p>
            <a:r>
              <a:rPr lang="en-US" altLang="zh-CN" dirty="0"/>
              <a:t>ADC </a:t>
            </a:r>
            <a:r>
              <a:rPr lang="zh-CN" altLang="en-US" dirty="0"/>
              <a:t>带进位加</a:t>
            </a:r>
            <a:r>
              <a:rPr lang="en-US" altLang="zh-CN" dirty="0"/>
              <a:t> </a:t>
            </a:r>
            <a:endParaRPr lang="zh-CN" altLang="en-US" dirty="0"/>
          </a:p>
        </p:txBody>
      </p:sp>
      <p:pic>
        <p:nvPicPr>
          <p:cNvPr id="10" name="图片 9">
            <a:extLst>
              <a:ext uri="{FF2B5EF4-FFF2-40B4-BE49-F238E27FC236}">
                <a16:creationId xmlns:a16="http://schemas.microsoft.com/office/drawing/2014/main" id="{8A1FA339-E5E4-4C46-8056-35F756BB57CC}"/>
              </a:ext>
            </a:extLst>
          </p:cNvPr>
          <p:cNvPicPr>
            <a:picLocks noChangeAspect="1"/>
          </p:cNvPicPr>
          <p:nvPr/>
        </p:nvPicPr>
        <p:blipFill>
          <a:blip r:embed="rId3"/>
          <a:stretch>
            <a:fillRect/>
          </a:stretch>
        </p:blipFill>
        <p:spPr>
          <a:xfrm>
            <a:off x="4407291" y="2031084"/>
            <a:ext cx="6611815" cy="668869"/>
          </a:xfrm>
          <a:prstGeom prst="rect">
            <a:avLst/>
          </a:prstGeom>
        </p:spPr>
      </p:pic>
      <p:sp>
        <p:nvSpPr>
          <p:cNvPr id="7" name="矩形 6">
            <a:extLst>
              <a:ext uri="{FF2B5EF4-FFF2-40B4-BE49-F238E27FC236}">
                <a16:creationId xmlns:a16="http://schemas.microsoft.com/office/drawing/2014/main" id="{3192523A-A5F5-4603-BC6A-0753F12CAED7}"/>
              </a:ext>
            </a:extLst>
          </p:cNvPr>
          <p:cNvSpPr/>
          <p:nvPr/>
        </p:nvSpPr>
        <p:spPr>
          <a:xfrm>
            <a:off x="2470639" y="1265760"/>
            <a:ext cx="1232773" cy="369332"/>
          </a:xfrm>
          <a:prstGeom prst="rect">
            <a:avLst/>
          </a:prstGeom>
        </p:spPr>
        <p:txBody>
          <a:bodyPr wrap="none">
            <a:spAutoFit/>
          </a:bodyPr>
          <a:lstStyle/>
          <a:p>
            <a:r>
              <a:rPr lang="en-US" altLang="zh-CN" dirty="0">
                <a:latin typeface="微软雅黑" pitchFamily="34" charset="-122"/>
                <a:ea typeface="微软雅黑" pitchFamily="34" charset="-122"/>
              </a:rPr>
              <a:t>DST+SRC</a:t>
            </a:r>
            <a:endParaRPr lang="zh-CN" altLang="en-US" dirty="0"/>
          </a:p>
        </p:txBody>
      </p:sp>
      <p:sp>
        <p:nvSpPr>
          <p:cNvPr id="14" name="矩形 13">
            <a:extLst>
              <a:ext uri="{FF2B5EF4-FFF2-40B4-BE49-F238E27FC236}">
                <a16:creationId xmlns:a16="http://schemas.microsoft.com/office/drawing/2014/main" id="{304221D3-986B-48AE-B751-8FB729C411C4}"/>
              </a:ext>
            </a:extLst>
          </p:cNvPr>
          <p:cNvSpPr/>
          <p:nvPr/>
        </p:nvSpPr>
        <p:spPr>
          <a:xfrm>
            <a:off x="2470638" y="1996186"/>
            <a:ext cx="1681614" cy="369332"/>
          </a:xfrm>
          <a:prstGeom prst="rect">
            <a:avLst/>
          </a:prstGeom>
        </p:spPr>
        <p:txBody>
          <a:bodyPr wrap="none">
            <a:spAutoFit/>
          </a:bodyPr>
          <a:lstStyle/>
          <a:p>
            <a:r>
              <a:rPr lang="en-US" altLang="zh-CN" dirty="0">
                <a:latin typeface="微软雅黑" pitchFamily="34" charset="-122"/>
                <a:ea typeface="微软雅黑" pitchFamily="34" charset="-122"/>
              </a:rPr>
              <a:t>DST+SRC+CF</a:t>
            </a:r>
            <a:endParaRPr lang="zh-CN" altLang="en-US" dirty="0"/>
          </a:p>
        </p:txBody>
      </p:sp>
      <p:sp>
        <p:nvSpPr>
          <p:cNvPr id="15" name="文本框 14">
            <a:extLst>
              <a:ext uri="{FF2B5EF4-FFF2-40B4-BE49-F238E27FC236}">
                <a16:creationId xmlns:a16="http://schemas.microsoft.com/office/drawing/2014/main" id="{CF16CBEF-68C3-4C1E-BAF8-532C833D855E}"/>
              </a:ext>
            </a:extLst>
          </p:cNvPr>
          <p:cNvSpPr txBox="1"/>
          <p:nvPr/>
        </p:nvSpPr>
        <p:spPr>
          <a:xfrm>
            <a:off x="829993" y="3823613"/>
            <a:ext cx="1394460" cy="369332"/>
          </a:xfrm>
          <a:prstGeom prst="rect">
            <a:avLst/>
          </a:prstGeom>
          <a:noFill/>
        </p:spPr>
        <p:txBody>
          <a:bodyPr wrap="square" rtlCol="0">
            <a:spAutoFit/>
          </a:bodyPr>
          <a:lstStyle/>
          <a:p>
            <a:r>
              <a:rPr lang="en-US" altLang="zh-CN" dirty="0"/>
              <a:t>SUB  </a:t>
            </a:r>
            <a:r>
              <a:rPr lang="zh-CN" altLang="en-US" dirty="0"/>
              <a:t>减法</a:t>
            </a:r>
            <a:r>
              <a:rPr lang="en-US" altLang="zh-CN" dirty="0"/>
              <a:t> </a:t>
            </a:r>
            <a:endParaRPr lang="zh-CN" altLang="en-US" dirty="0"/>
          </a:p>
        </p:txBody>
      </p:sp>
      <p:pic>
        <p:nvPicPr>
          <p:cNvPr id="16" name="图片 15">
            <a:extLst>
              <a:ext uri="{FF2B5EF4-FFF2-40B4-BE49-F238E27FC236}">
                <a16:creationId xmlns:a16="http://schemas.microsoft.com/office/drawing/2014/main" id="{43560A08-BC5E-4B45-9973-3F6070660231}"/>
              </a:ext>
            </a:extLst>
          </p:cNvPr>
          <p:cNvPicPr>
            <a:picLocks noChangeAspect="1"/>
          </p:cNvPicPr>
          <p:nvPr/>
        </p:nvPicPr>
        <p:blipFill>
          <a:blip r:embed="rId3"/>
          <a:stretch>
            <a:fillRect/>
          </a:stretch>
        </p:blipFill>
        <p:spPr>
          <a:xfrm>
            <a:off x="4407291" y="3823613"/>
            <a:ext cx="6611815" cy="668869"/>
          </a:xfrm>
          <a:prstGeom prst="rect">
            <a:avLst/>
          </a:prstGeom>
        </p:spPr>
      </p:pic>
      <p:sp>
        <p:nvSpPr>
          <p:cNvPr id="17" name="文本框 16">
            <a:extLst>
              <a:ext uri="{FF2B5EF4-FFF2-40B4-BE49-F238E27FC236}">
                <a16:creationId xmlns:a16="http://schemas.microsoft.com/office/drawing/2014/main" id="{BE0FC245-4EE2-4A22-8209-788DE7B3E4D9}"/>
              </a:ext>
            </a:extLst>
          </p:cNvPr>
          <p:cNvSpPr txBox="1"/>
          <p:nvPr/>
        </p:nvSpPr>
        <p:spPr>
          <a:xfrm>
            <a:off x="829993" y="4536139"/>
            <a:ext cx="1684606" cy="369332"/>
          </a:xfrm>
          <a:prstGeom prst="rect">
            <a:avLst/>
          </a:prstGeom>
          <a:noFill/>
        </p:spPr>
        <p:txBody>
          <a:bodyPr wrap="square" rtlCol="0">
            <a:spAutoFit/>
          </a:bodyPr>
          <a:lstStyle/>
          <a:p>
            <a:r>
              <a:rPr lang="en-US" altLang="zh-CN" dirty="0"/>
              <a:t>SBB  </a:t>
            </a:r>
            <a:r>
              <a:rPr lang="zh-CN" altLang="en-US" dirty="0"/>
              <a:t>带进位减</a:t>
            </a:r>
          </a:p>
        </p:txBody>
      </p:sp>
      <p:pic>
        <p:nvPicPr>
          <p:cNvPr id="18" name="图片 17">
            <a:extLst>
              <a:ext uri="{FF2B5EF4-FFF2-40B4-BE49-F238E27FC236}">
                <a16:creationId xmlns:a16="http://schemas.microsoft.com/office/drawing/2014/main" id="{11006012-4B45-486A-AA69-73EAA09F699C}"/>
              </a:ext>
            </a:extLst>
          </p:cNvPr>
          <p:cNvPicPr>
            <a:picLocks noChangeAspect="1"/>
          </p:cNvPicPr>
          <p:nvPr/>
        </p:nvPicPr>
        <p:blipFill>
          <a:blip r:embed="rId3"/>
          <a:stretch>
            <a:fillRect/>
          </a:stretch>
        </p:blipFill>
        <p:spPr>
          <a:xfrm>
            <a:off x="4407290" y="4588937"/>
            <a:ext cx="6611815" cy="668869"/>
          </a:xfrm>
          <a:prstGeom prst="rect">
            <a:avLst/>
          </a:prstGeom>
        </p:spPr>
      </p:pic>
      <p:sp>
        <p:nvSpPr>
          <p:cNvPr id="19" name="矩形 18">
            <a:extLst>
              <a:ext uri="{FF2B5EF4-FFF2-40B4-BE49-F238E27FC236}">
                <a16:creationId xmlns:a16="http://schemas.microsoft.com/office/drawing/2014/main" id="{811C6F11-8688-4805-87EB-70E1F8FB470B}"/>
              </a:ext>
            </a:extLst>
          </p:cNvPr>
          <p:cNvSpPr/>
          <p:nvPr/>
        </p:nvSpPr>
        <p:spPr>
          <a:xfrm>
            <a:off x="2470638" y="3823613"/>
            <a:ext cx="1160639" cy="369332"/>
          </a:xfrm>
          <a:prstGeom prst="rect">
            <a:avLst/>
          </a:prstGeom>
        </p:spPr>
        <p:txBody>
          <a:bodyPr wrap="none">
            <a:spAutoFit/>
          </a:bodyPr>
          <a:lstStyle/>
          <a:p>
            <a:r>
              <a:rPr lang="en-US" altLang="zh-CN" dirty="0">
                <a:latin typeface="微软雅黑" pitchFamily="34" charset="-122"/>
                <a:ea typeface="微软雅黑" pitchFamily="34" charset="-122"/>
              </a:rPr>
              <a:t>DST-SRC</a:t>
            </a:r>
            <a:endParaRPr lang="zh-CN" altLang="en-US" dirty="0"/>
          </a:p>
        </p:txBody>
      </p:sp>
      <p:sp>
        <p:nvSpPr>
          <p:cNvPr id="20" name="矩形 19">
            <a:extLst>
              <a:ext uri="{FF2B5EF4-FFF2-40B4-BE49-F238E27FC236}">
                <a16:creationId xmlns:a16="http://schemas.microsoft.com/office/drawing/2014/main" id="{C57E974B-71C5-46FD-9B80-DDCAAA4528B9}"/>
              </a:ext>
            </a:extLst>
          </p:cNvPr>
          <p:cNvSpPr/>
          <p:nvPr/>
        </p:nvSpPr>
        <p:spPr>
          <a:xfrm>
            <a:off x="2470637" y="4554039"/>
            <a:ext cx="1537344" cy="369332"/>
          </a:xfrm>
          <a:prstGeom prst="rect">
            <a:avLst/>
          </a:prstGeom>
        </p:spPr>
        <p:txBody>
          <a:bodyPr wrap="none">
            <a:spAutoFit/>
          </a:bodyPr>
          <a:lstStyle/>
          <a:p>
            <a:r>
              <a:rPr lang="en-US" altLang="zh-CN" dirty="0">
                <a:latin typeface="微软雅黑" pitchFamily="34" charset="-122"/>
                <a:ea typeface="微软雅黑" pitchFamily="34" charset="-122"/>
              </a:rPr>
              <a:t>DST-SRC-CF</a:t>
            </a:r>
            <a:endParaRPr lang="zh-CN" altLang="en-US" dirty="0"/>
          </a:p>
        </p:txBody>
      </p:sp>
      <p:sp>
        <p:nvSpPr>
          <p:cNvPr id="12" name="文本框 11">
            <a:extLst>
              <a:ext uri="{FF2B5EF4-FFF2-40B4-BE49-F238E27FC236}">
                <a16:creationId xmlns:a16="http://schemas.microsoft.com/office/drawing/2014/main" id="{6FA2E273-36BE-49F2-8BB7-E63B6AA3CD66}"/>
              </a:ext>
            </a:extLst>
          </p:cNvPr>
          <p:cNvSpPr txBox="1"/>
          <p:nvPr/>
        </p:nvSpPr>
        <p:spPr>
          <a:xfrm>
            <a:off x="829992" y="6301752"/>
            <a:ext cx="7100669" cy="338554"/>
          </a:xfrm>
          <a:prstGeom prst="rect">
            <a:avLst/>
          </a:prstGeom>
          <a:noFill/>
        </p:spPr>
        <p:txBody>
          <a:bodyPr wrap="square" rtlCol="0">
            <a:spAutoFit/>
          </a:bodyPr>
          <a:lstStyle/>
          <a:p>
            <a:r>
              <a:rPr lang="zh-CN" altLang="en-US" sz="1600" dirty="0"/>
              <a:t>注意：操作数尺寸必须一致；加减法的两个操作数不能同时为存储器操作数</a:t>
            </a:r>
          </a:p>
        </p:txBody>
      </p:sp>
      <p:sp>
        <p:nvSpPr>
          <p:cNvPr id="21" name="矩形 20">
            <a:extLst>
              <a:ext uri="{FF2B5EF4-FFF2-40B4-BE49-F238E27FC236}">
                <a16:creationId xmlns:a16="http://schemas.microsoft.com/office/drawing/2014/main" id="{AEEFA313-4182-4C99-BAAE-3387A1193EBC}"/>
              </a:ext>
            </a:extLst>
          </p:cNvPr>
          <p:cNvSpPr/>
          <p:nvPr/>
        </p:nvSpPr>
        <p:spPr>
          <a:xfrm>
            <a:off x="2488221" y="2823007"/>
            <a:ext cx="9094107" cy="701731"/>
          </a:xfrm>
          <a:prstGeom prst="rect">
            <a:avLst/>
          </a:prstGeom>
        </p:spPr>
        <p:txBody>
          <a:bodyPr wrap="square">
            <a:spAutoFit/>
          </a:bodyPr>
          <a:lstStyle/>
          <a:p>
            <a:pPr eaLnBrk="0" hangingPunct="0">
              <a:lnSpc>
                <a:spcPct val="110000"/>
              </a:lnSpc>
            </a:pPr>
            <a:r>
              <a:rPr lang="en-US" altLang="zh-CN" dirty="0">
                <a:latin typeface="微软雅黑" pitchFamily="34" charset="-122"/>
                <a:ea typeface="微软雅黑" pitchFamily="34" charset="-122"/>
              </a:rPr>
              <a:t>ADD/ADC  </a:t>
            </a:r>
            <a:r>
              <a:rPr lang="en-US" altLang="zh-CN" dirty="0" err="1">
                <a:latin typeface="微软雅黑" pitchFamily="34" charset="-122"/>
                <a:ea typeface="微软雅黑" pitchFamily="34" charset="-122"/>
              </a:rPr>
              <a:t>reg</a:t>
            </a:r>
            <a:r>
              <a:rPr lang="en-US" altLang="zh-CN"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imm</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reg</a:t>
            </a:r>
            <a:r>
              <a:rPr lang="en-US" altLang="zh-CN" dirty="0" smtClean="0">
                <a:latin typeface="微软雅黑" pitchFamily="34" charset="-122"/>
                <a:ea typeface="微软雅黑" pitchFamily="34" charset="-122"/>
              </a:rPr>
              <a:t>/mem  </a:t>
            </a:r>
            <a:r>
              <a:rPr lang="zh-CN" altLang="en-US"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reg</a:t>
            </a:r>
            <a:r>
              <a:rPr lang="en-US" altLang="zh-CN" dirty="0" smtClean="0">
                <a:latin typeface="微软雅黑" pitchFamily="34" charset="-122"/>
                <a:ea typeface="微软雅黑" pitchFamily="34" charset="-122"/>
              </a:rPr>
              <a:t> ← </a:t>
            </a:r>
            <a:r>
              <a:rPr lang="en-US" altLang="zh-CN" dirty="0" err="1" smtClean="0">
                <a:latin typeface="微软雅黑" pitchFamily="34" charset="-122"/>
                <a:ea typeface="微软雅黑" pitchFamily="34" charset="-122"/>
              </a:rPr>
              <a:t>reg</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imm</a:t>
            </a:r>
            <a:r>
              <a:rPr lang="en-US" altLang="zh-CN" dirty="0">
                <a:latin typeface="微软雅黑" pitchFamily="34" charset="-122"/>
                <a:ea typeface="微软雅黑" pitchFamily="34" charset="-122"/>
              </a:rPr>
              <a:t>/reg/mem</a:t>
            </a:r>
          </a:p>
          <a:p>
            <a:pPr eaLnBrk="0" hangingPunct="0">
              <a:lnSpc>
                <a:spcPct val="110000"/>
              </a:lnSpc>
            </a:pPr>
            <a:r>
              <a:rPr lang="en-US" altLang="zh-CN" dirty="0">
                <a:latin typeface="微软雅黑" pitchFamily="34" charset="-122"/>
                <a:ea typeface="微软雅黑" pitchFamily="34" charset="-122"/>
              </a:rPr>
              <a:t>ADD/ADC  mem</a:t>
            </a:r>
            <a:r>
              <a:rPr lang="en-US" altLang="zh-CN"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imm</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reg</a:t>
            </a:r>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mem ← mem</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imm</a:t>
            </a:r>
            <a:r>
              <a:rPr lang="en-US" altLang="zh-CN" dirty="0">
                <a:latin typeface="微软雅黑" pitchFamily="34" charset="-122"/>
                <a:ea typeface="微软雅黑" pitchFamily="34" charset="-122"/>
              </a:rPr>
              <a:t>/reg</a:t>
            </a:r>
            <a:endParaRPr lang="zh-CN" altLang="en-US" dirty="0">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513201C4-A11B-428E-8096-04C967D2B6E2}"/>
              </a:ext>
            </a:extLst>
          </p:cNvPr>
          <p:cNvSpPr/>
          <p:nvPr/>
        </p:nvSpPr>
        <p:spPr>
          <a:xfrm>
            <a:off x="2505807" y="5361592"/>
            <a:ext cx="7971234" cy="784830"/>
          </a:xfrm>
          <a:prstGeom prst="rect">
            <a:avLst/>
          </a:prstGeom>
        </p:spPr>
        <p:txBody>
          <a:bodyPr wrap="square">
            <a:spAutoFit/>
          </a:bodyPr>
          <a:lstStyle/>
          <a:p>
            <a:pPr>
              <a:spcBef>
                <a:spcPct val="50000"/>
              </a:spcBef>
              <a:tabLst>
                <a:tab pos="2289175" algn="l"/>
              </a:tabLst>
            </a:pPr>
            <a:r>
              <a:rPr lang="en-US" altLang="zh-CN" dirty="0">
                <a:latin typeface="微软雅黑" pitchFamily="34" charset="-122"/>
                <a:ea typeface="微软雅黑" pitchFamily="34" charset="-122"/>
              </a:rPr>
              <a:t>SUB/SBB  </a:t>
            </a:r>
            <a:r>
              <a:rPr lang="en-US" altLang="zh-CN" dirty="0" err="1">
                <a:latin typeface="微软雅黑" pitchFamily="34" charset="-122"/>
                <a:ea typeface="微软雅黑" pitchFamily="34" charset="-122"/>
              </a:rPr>
              <a:t>reg</a:t>
            </a:r>
            <a:r>
              <a:rPr lang="en-US" altLang="zh-CN"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imm</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reg</a:t>
            </a:r>
            <a:r>
              <a:rPr lang="en-US" altLang="zh-CN" dirty="0" smtClean="0">
                <a:latin typeface="微软雅黑" pitchFamily="34" charset="-122"/>
                <a:ea typeface="微软雅黑" pitchFamily="34" charset="-122"/>
              </a:rPr>
              <a:t>/mem  </a:t>
            </a:r>
            <a:r>
              <a:rPr lang="zh-CN" altLang="en-US" dirty="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reg</a:t>
            </a:r>
            <a:r>
              <a:rPr lang="en-US" altLang="zh-CN" dirty="0" smtClean="0">
                <a:latin typeface="微软雅黑" pitchFamily="34" charset="-122"/>
                <a:ea typeface="微软雅黑" pitchFamily="34" charset="-122"/>
              </a:rPr>
              <a:t> ← </a:t>
            </a:r>
            <a:r>
              <a:rPr lang="en-US" altLang="zh-CN" dirty="0" err="1" smtClean="0">
                <a:latin typeface="微软雅黑" pitchFamily="34" charset="-122"/>
                <a:ea typeface="微软雅黑" pitchFamily="34" charset="-122"/>
              </a:rPr>
              <a:t>reg</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imm</a:t>
            </a:r>
            <a:r>
              <a:rPr lang="en-US" altLang="zh-CN" dirty="0">
                <a:latin typeface="微软雅黑" pitchFamily="34" charset="-122"/>
                <a:ea typeface="微软雅黑" pitchFamily="34" charset="-122"/>
              </a:rPr>
              <a:t>/reg/mem</a:t>
            </a:r>
          </a:p>
          <a:p>
            <a:pPr>
              <a:spcBef>
                <a:spcPct val="50000"/>
              </a:spcBef>
              <a:tabLst>
                <a:tab pos="2289175" algn="l"/>
              </a:tabLst>
            </a:pPr>
            <a:r>
              <a:rPr lang="en-US" altLang="zh-CN" dirty="0">
                <a:latin typeface="微软雅黑" pitchFamily="34" charset="-122"/>
                <a:ea typeface="微软雅黑" pitchFamily="34" charset="-122"/>
              </a:rPr>
              <a:t>SUB/SBB  mem</a:t>
            </a:r>
            <a:r>
              <a:rPr lang="en-US" altLang="zh-CN"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imm</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reg</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  </a:t>
            </a:r>
            <a:r>
              <a:rPr lang="en-US" altLang="zh-CN" dirty="0" smtClean="0">
                <a:latin typeface="微软雅黑" pitchFamily="34" charset="-122"/>
                <a:ea typeface="微软雅黑" pitchFamily="34" charset="-122"/>
              </a:rPr>
              <a:t>mem ← mem</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imm</a:t>
            </a:r>
            <a:r>
              <a:rPr lang="en-US" altLang="zh-CN" dirty="0">
                <a:latin typeface="微软雅黑" pitchFamily="34" charset="-122"/>
                <a:ea typeface="微软雅黑" pitchFamily="34" charset="-122"/>
              </a:rPr>
              <a:t>/reg</a:t>
            </a:r>
          </a:p>
        </p:txBody>
      </p:sp>
    </p:spTree>
    <p:extLst>
      <p:ext uri="{BB962C8B-B14F-4D97-AF65-F5344CB8AC3E}">
        <p14:creationId xmlns:p14="http://schemas.microsoft.com/office/powerpoint/2010/main" val="3643533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66224" y="507594"/>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3" name="文本框 2">
            <a:extLst>
              <a:ext uri="{FF2B5EF4-FFF2-40B4-BE49-F238E27FC236}">
                <a16:creationId xmlns:a16="http://schemas.microsoft.com/office/drawing/2014/main" id="{6940AB3E-1838-42F0-96C5-A4D05D053C30}"/>
              </a:ext>
            </a:extLst>
          </p:cNvPr>
          <p:cNvSpPr txBox="1"/>
          <p:nvPr/>
        </p:nvSpPr>
        <p:spPr>
          <a:xfrm>
            <a:off x="829993" y="1212684"/>
            <a:ext cx="2651761" cy="369332"/>
          </a:xfrm>
          <a:prstGeom prst="rect">
            <a:avLst/>
          </a:prstGeom>
          <a:noFill/>
        </p:spPr>
        <p:txBody>
          <a:bodyPr wrap="square" rtlCol="0">
            <a:spAutoFit/>
          </a:bodyPr>
          <a:lstStyle/>
          <a:p>
            <a:r>
              <a:rPr lang="en-US" altLang="zh-CN" b="1" dirty="0"/>
              <a:t>MUL   </a:t>
            </a:r>
            <a:r>
              <a:rPr lang="zh-CN" altLang="en-US" b="1" dirty="0"/>
              <a:t>无符号整数乘法</a:t>
            </a:r>
            <a:r>
              <a:rPr lang="en-US" altLang="zh-CN" b="1" dirty="0"/>
              <a:t> </a:t>
            </a:r>
            <a:endParaRPr lang="zh-CN" altLang="en-US" b="1" dirty="0"/>
          </a:p>
        </p:txBody>
      </p:sp>
      <p:sp>
        <p:nvSpPr>
          <p:cNvPr id="8" name="文本框 7">
            <a:extLst>
              <a:ext uri="{FF2B5EF4-FFF2-40B4-BE49-F238E27FC236}">
                <a16:creationId xmlns:a16="http://schemas.microsoft.com/office/drawing/2014/main" id="{56AB9277-DB01-4AA4-A599-47DDA960F066}"/>
              </a:ext>
            </a:extLst>
          </p:cNvPr>
          <p:cNvSpPr txBox="1"/>
          <p:nvPr/>
        </p:nvSpPr>
        <p:spPr>
          <a:xfrm>
            <a:off x="3579202" y="1212684"/>
            <a:ext cx="3493627" cy="369332"/>
          </a:xfrm>
          <a:prstGeom prst="rect">
            <a:avLst/>
          </a:prstGeom>
          <a:noFill/>
        </p:spPr>
        <p:txBody>
          <a:bodyPr wrap="square" rtlCol="0">
            <a:spAutoFit/>
          </a:bodyPr>
          <a:lstStyle/>
          <a:p>
            <a:r>
              <a:rPr lang="en-US" altLang="zh-CN" b="1" dirty="0" smtClean="0"/>
              <a:t>&amp;       IMUL  </a:t>
            </a:r>
            <a:r>
              <a:rPr lang="zh-CN" altLang="en-US" b="1" dirty="0"/>
              <a:t>有符号整数乘法</a:t>
            </a:r>
          </a:p>
        </p:txBody>
      </p:sp>
      <p:sp>
        <p:nvSpPr>
          <p:cNvPr id="15" name="文本框 14">
            <a:extLst>
              <a:ext uri="{FF2B5EF4-FFF2-40B4-BE49-F238E27FC236}">
                <a16:creationId xmlns:a16="http://schemas.microsoft.com/office/drawing/2014/main" id="{CF16CBEF-68C3-4C1E-BAF8-532C833D855E}"/>
              </a:ext>
            </a:extLst>
          </p:cNvPr>
          <p:cNvSpPr txBox="1"/>
          <p:nvPr/>
        </p:nvSpPr>
        <p:spPr>
          <a:xfrm>
            <a:off x="829993" y="3860151"/>
            <a:ext cx="2519874" cy="369332"/>
          </a:xfrm>
          <a:prstGeom prst="rect">
            <a:avLst/>
          </a:prstGeom>
          <a:noFill/>
        </p:spPr>
        <p:txBody>
          <a:bodyPr wrap="square" rtlCol="0">
            <a:spAutoFit/>
          </a:bodyPr>
          <a:lstStyle/>
          <a:p>
            <a:r>
              <a:rPr lang="en-US" altLang="zh-CN" b="1" dirty="0"/>
              <a:t>DIV     </a:t>
            </a:r>
            <a:r>
              <a:rPr lang="zh-CN" altLang="en-US" b="1" dirty="0"/>
              <a:t>无符号整数除法</a:t>
            </a:r>
            <a:r>
              <a:rPr lang="en-US" altLang="zh-CN" b="1" dirty="0"/>
              <a:t> </a:t>
            </a:r>
            <a:endParaRPr lang="zh-CN" altLang="en-US" b="1" dirty="0"/>
          </a:p>
        </p:txBody>
      </p:sp>
      <p:sp>
        <p:nvSpPr>
          <p:cNvPr id="17" name="文本框 16">
            <a:extLst>
              <a:ext uri="{FF2B5EF4-FFF2-40B4-BE49-F238E27FC236}">
                <a16:creationId xmlns:a16="http://schemas.microsoft.com/office/drawing/2014/main" id="{BE0FC245-4EE2-4A22-8209-788DE7B3E4D9}"/>
              </a:ext>
            </a:extLst>
          </p:cNvPr>
          <p:cNvSpPr txBox="1"/>
          <p:nvPr/>
        </p:nvSpPr>
        <p:spPr>
          <a:xfrm>
            <a:off x="3579202" y="3855075"/>
            <a:ext cx="5432595" cy="369332"/>
          </a:xfrm>
          <a:prstGeom prst="rect">
            <a:avLst/>
          </a:prstGeom>
          <a:noFill/>
        </p:spPr>
        <p:txBody>
          <a:bodyPr wrap="square" rtlCol="0">
            <a:spAutoFit/>
          </a:bodyPr>
          <a:lstStyle/>
          <a:p>
            <a:r>
              <a:rPr lang="en-US" altLang="zh-CN" b="1" dirty="0" smtClean="0"/>
              <a:t>&amp;      IDIV    </a:t>
            </a:r>
            <a:r>
              <a:rPr lang="zh-CN" altLang="en-US" b="1" dirty="0"/>
              <a:t>有符号整数除法</a:t>
            </a:r>
          </a:p>
        </p:txBody>
      </p:sp>
      <p:sp>
        <p:nvSpPr>
          <p:cNvPr id="11" name="矩形 10">
            <a:extLst>
              <a:ext uri="{FF2B5EF4-FFF2-40B4-BE49-F238E27FC236}">
                <a16:creationId xmlns:a16="http://schemas.microsoft.com/office/drawing/2014/main" id="{B49EE17E-B6A6-4D16-9B07-4044CC6D869F}"/>
              </a:ext>
            </a:extLst>
          </p:cNvPr>
          <p:cNvSpPr/>
          <p:nvPr/>
        </p:nvSpPr>
        <p:spPr>
          <a:xfrm>
            <a:off x="855071" y="1849048"/>
            <a:ext cx="10844842" cy="1631216"/>
          </a:xfrm>
          <a:prstGeom prst="rect">
            <a:avLst/>
          </a:prstGeom>
        </p:spPr>
        <p:txBody>
          <a:bodyPr wrap="square">
            <a:spAutoFit/>
          </a:bodyPr>
          <a:lstStyle/>
          <a:p>
            <a:pPr marL="342900" indent="-342900">
              <a:buFont typeface="Arial" panose="020B0604020202020204" pitchFamily="34" charset="0"/>
              <a:buChar char="•"/>
            </a:pPr>
            <a:r>
              <a:rPr lang="zh-CN" altLang="en-US" sz="2000" dirty="0"/>
              <a:t>执行</a:t>
            </a:r>
            <a:r>
              <a:rPr lang="en-US" altLang="zh-CN" sz="2000" dirty="0"/>
              <a:t>8</a:t>
            </a:r>
            <a:r>
              <a:rPr lang="zh-CN" altLang="en-US" sz="2000" dirty="0"/>
              <a:t>位</a:t>
            </a:r>
            <a:r>
              <a:rPr lang="en-US" altLang="zh-CN" sz="2000" dirty="0"/>
              <a:t>/16</a:t>
            </a:r>
            <a:r>
              <a:rPr lang="zh-CN" altLang="en-US" sz="2000" dirty="0"/>
              <a:t>位</a:t>
            </a:r>
            <a:r>
              <a:rPr lang="en-US" altLang="zh-CN" sz="2000" dirty="0"/>
              <a:t>/32</a:t>
            </a:r>
            <a:r>
              <a:rPr lang="zh-CN" altLang="en-US" sz="2000" dirty="0"/>
              <a:t>位的有符号整数乘法</a:t>
            </a:r>
            <a:r>
              <a:rPr lang="zh-CN" altLang="en-US" sz="2000" dirty="0" smtClean="0"/>
              <a:t>操作</a:t>
            </a:r>
            <a:r>
              <a:rPr lang="en-US" altLang="zh-CN" sz="2000" dirty="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乘数是</a:t>
            </a:r>
            <a:r>
              <a:rPr lang="en-US" altLang="zh-CN" sz="2000" dirty="0"/>
              <a:t>8</a:t>
            </a:r>
            <a:r>
              <a:rPr lang="zh-CN" altLang="en-US" sz="2000" dirty="0"/>
              <a:t>位的，被乘数是</a:t>
            </a:r>
            <a:r>
              <a:rPr lang="en-US" altLang="zh-CN" sz="2000" dirty="0"/>
              <a:t>AL</a:t>
            </a:r>
            <a:r>
              <a:rPr lang="zh-CN" altLang="en-US" sz="2000" dirty="0"/>
              <a:t>，积在</a:t>
            </a:r>
            <a:r>
              <a:rPr lang="en-US" altLang="zh-CN" sz="2000" dirty="0"/>
              <a:t>AX</a:t>
            </a:r>
            <a:r>
              <a:rPr lang="zh-CN" altLang="en-US" sz="2000" dirty="0"/>
              <a:t>中</a:t>
            </a:r>
            <a:r>
              <a:rPr lang="zh-CN" altLang="en-US" sz="2000" dirty="0" smtClean="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乘数是</a:t>
            </a:r>
            <a:r>
              <a:rPr lang="en-US" altLang="zh-CN" sz="2000" dirty="0"/>
              <a:t>16</a:t>
            </a:r>
            <a:r>
              <a:rPr lang="zh-CN" altLang="en-US" sz="2000" dirty="0"/>
              <a:t>位的，被乘数是</a:t>
            </a:r>
            <a:r>
              <a:rPr lang="en-US" altLang="zh-CN" sz="2000" dirty="0"/>
              <a:t>AX</a:t>
            </a:r>
            <a:r>
              <a:rPr lang="zh-CN" altLang="en-US" sz="2000" dirty="0"/>
              <a:t>，积在</a:t>
            </a:r>
            <a:r>
              <a:rPr lang="en-US" altLang="zh-CN" sz="2000" dirty="0"/>
              <a:t>DX:AX</a:t>
            </a:r>
            <a:r>
              <a:rPr lang="zh-CN" altLang="en-US" sz="2000" dirty="0"/>
              <a:t>中</a:t>
            </a:r>
            <a:r>
              <a:rPr lang="zh-CN" altLang="en-US" sz="2000" dirty="0" smtClean="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乘数是</a:t>
            </a:r>
            <a:r>
              <a:rPr lang="en-US" altLang="zh-CN" sz="2000" dirty="0"/>
              <a:t>32</a:t>
            </a:r>
            <a:r>
              <a:rPr lang="zh-CN" altLang="en-US" sz="2000" dirty="0"/>
              <a:t>位的，被乘数是</a:t>
            </a:r>
            <a:r>
              <a:rPr lang="en-US" altLang="zh-CN" sz="2000" dirty="0"/>
              <a:t>EAX</a:t>
            </a:r>
            <a:r>
              <a:rPr lang="zh-CN" altLang="en-US" sz="2000" dirty="0"/>
              <a:t>，积在</a:t>
            </a:r>
            <a:r>
              <a:rPr lang="en-US" altLang="zh-CN" sz="2000" dirty="0"/>
              <a:t>EDX:EAX</a:t>
            </a:r>
            <a:r>
              <a:rPr lang="zh-CN" altLang="en-US" sz="2000" dirty="0" smtClean="0"/>
              <a:t>中</a:t>
            </a:r>
            <a:r>
              <a:rPr lang="en-US" altLang="zh-CN" sz="2000" dirty="0"/>
              <a:t>;</a:t>
            </a:r>
            <a:endParaRPr lang="en-US" altLang="zh-CN" sz="2000" dirty="0" smtClean="0"/>
          </a:p>
          <a:p>
            <a:pPr marL="342900" indent="-342900">
              <a:buFont typeface="Arial" panose="020B0604020202020204" pitchFamily="34" charset="0"/>
              <a:buChar char="•"/>
            </a:pPr>
            <a:r>
              <a:rPr lang="zh-CN" altLang="en-US" sz="2000" dirty="0" smtClean="0"/>
              <a:t>如果</a:t>
            </a:r>
            <a:r>
              <a:rPr lang="en-US" altLang="zh-CN" sz="2000" dirty="0"/>
              <a:t>16</a:t>
            </a:r>
            <a:r>
              <a:rPr lang="zh-CN" altLang="en-US" sz="2000" dirty="0"/>
              <a:t>位的积扩展到</a:t>
            </a:r>
            <a:r>
              <a:rPr lang="en-US" altLang="zh-CN" sz="2000" dirty="0"/>
              <a:t>AH</a:t>
            </a:r>
            <a:r>
              <a:rPr lang="zh-CN" altLang="en-US" sz="2000" dirty="0"/>
              <a:t>，</a:t>
            </a:r>
            <a:r>
              <a:rPr lang="en-US" altLang="zh-CN" sz="2000" dirty="0"/>
              <a:t>32</a:t>
            </a:r>
            <a:r>
              <a:rPr lang="zh-CN" altLang="en-US" sz="2000" dirty="0"/>
              <a:t>位的积扩展到</a:t>
            </a:r>
            <a:r>
              <a:rPr lang="en-US" altLang="zh-CN" sz="2000" dirty="0"/>
              <a:t>DX</a:t>
            </a:r>
            <a:r>
              <a:rPr lang="zh-CN" altLang="en-US" sz="2000" dirty="0"/>
              <a:t>，或者</a:t>
            </a:r>
            <a:r>
              <a:rPr lang="en-US" altLang="zh-CN" sz="2000" dirty="0"/>
              <a:t>64</a:t>
            </a:r>
            <a:r>
              <a:rPr lang="zh-CN" altLang="en-US" sz="2000" dirty="0"/>
              <a:t>位的积扩展到</a:t>
            </a:r>
            <a:r>
              <a:rPr lang="en-US" altLang="zh-CN" sz="2000" dirty="0"/>
              <a:t>EDX</a:t>
            </a:r>
            <a:r>
              <a:rPr lang="zh-CN" altLang="en-US" sz="2000" dirty="0"/>
              <a:t>中，</a:t>
            </a:r>
            <a:r>
              <a:rPr lang="zh-CN" altLang="en-US" sz="2000" dirty="0" smtClean="0"/>
              <a:t>则</a:t>
            </a:r>
            <a:r>
              <a:rPr lang="en-US" altLang="zh-CN" sz="2000" dirty="0" smtClean="0"/>
              <a:t>CF</a:t>
            </a:r>
            <a:r>
              <a:rPr lang="zh-CN" altLang="en-US" sz="2000" dirty="0" smtClean="0"/>
              <a:t>和</a:t>
            </a:r>
            <a:r>
              <a:rPr lang="en-US" altLang="zh-CN" sz="2000" dirty="0" smtClean="0"/>
              <a:t>OF</a:t>
            </a:r>
            <a:r>
              <a:rPr lang="zh-CN" altLang="en-US" sz="2000" dirty="0" smtClean="0"/>
              <a:t>置位</a:t>
            </a:r>
            <a:r>
              <a:rPr lang="zh-CN" altLang="en-US" sz="2000" dirty="0"/>
              <a:t>。</a:t>
            </a:r>
          </a:p>
        </p:txBody>
      </p:sp>
      <p:sp>
        <p:nvSpPr>
          <p:cNvPr id="13" name="矩形 12">
            <a:extLst>
              <a:ext uri="{FF2B5EF4-FFF2-40B4-BE49-F238E27FC236}">
                <a16:creationId xmlns:a16="http://schemas.microsoft.com/office/drawing/2014/main" id="{3E59B12C-EF88-4BB9-A4D3-04E9D77A554D}"/>
              </a:ext>
            </a:extLst>
          </p:cNvPr>
          <p:cNvSpPr/>
          <p:nvPr/>
        </p:nvSpPr>
        <p:spPr>
          <a:xfrm>
            <a:off x="855071" y="4497973"/>
            <a:ext cx="10488012" cy="1631216"/>
          </a:xfrm>
          <a:prstGeom prst="rect">
            <a:avLst/>
          </a:prstGeom>
        </p:spPr>
        <p:txBody>
          <a:bodyPr wrap="square">
            <a:spAutoFit/>
          </a:bodyPr>
          <a:lstStyle/>
          <a:p>
            <a:pPr marL="342900" indent="-342900">
              <a:buFont typeface="Arial" panose="020B0604020202020204" pitchFamily="34" charset="0"/>
              <a:buChar char="•"/>
            </a:pPr>
            <a:r>
              <a:rPr lang="zh-CN" altLang="en-US" sz="2000" dirty="0"/>
              <a:t>执行</a:t>
            </a:r>
            <a:r>
              <a:rPr lang="en-US" altLang="zh-CN" sz="2000" dirty="0"/>
              <a:t>8</a:t>
            </a:r>
            <a:r>
              <a:rPr lang="zh-CN" altLang="en-US" sz="2000" dirty="0"/>
              <a:t>位</a:t>
            </a:r>
            <a:r>
              <a:rPr lang="en-US" altLang="zh-CN" sz="2000" dirty="0"/>
              <a:t>/16</a:t>
            </a:r>
            <a:r>
              <a:rPr lang="zh-CN" altLang="en-US" sz="2000" dirty="0"/>
              <a:t>位</a:t>
            </a:r>
            <a:r>
              <a:rPr lang="en-US" altLang="zh-CN" sz="2000" dirty="0"/>
              <a:t>/32</a:t>
            </a:r>
            <a:r>
              <a:rPr lang="zh-CN" altLang="en-US" sz="2000" dirty="0"/>
              <a:t>位的有符号整数除法</a:t>
            </a:r>
            <a:r>
              <a:rPr lang="zh-CN" altLang="en-US" sz="2000" dirty="0" smtClean="0"/>
              <a:t>操作</a:t>
            </a:r>
            <a:r>
              <a:rPr lang="en-US" altLang="zh-CN" sz="2000" dirty="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除数是</a:t>
            </a:r>
            <a:r>
              <a:rPr lang="en-US" altLang="zh-CN" sz="2000" dirty="0"/>
              <a:t>8</a:t>
            </a:r>
            <a:r>
              <a:rPr lang="zh-CN" altLang="en-US" sz="2000" dirty="0"/>
              <a:t>位的，被除数是</a:t>
            </a:r>
            <a:r>
              <a:rPr lang="en-US" altLang="zh-CN" sz="2000" dirty="0"/>
              <a:t>AX</a:t>
            </a:r>
            <a:r>
              <a:rPr lang="zh-CN" altLang="en-US" sz="2000" dirty="0"/>
              <a:t>，商在</a:t>
            </a:r>
            <a:r>
              <a:rPr lang="en-US" altLang="zh-CN" sz="2000" dirty="0"/>
              <a:t>AL</a:t>
            </a:r>
            <a:r>
              <a:rPr lang="zh-CN" altLang="en-US" sz="2000" dirty="0"/>
              <a:t>中，余数在</a:t>
            </a:r>
            <a:r>
              <a:rPr lang="en-US" altLang="zh-CN" sz="2000" dirty="0"/>
              <a:t>AH</a:t>
            </a:r>
            <a:r>
              <a:rPr lang="zh-CN" altLang="en-US" sz="2000" dirty="0"/>
              <a:t>中</a:t>
            </a:r>
            <a:r>
              <a:rPr lang="zh-CN" altLang="en-US" sz="2000" dirty="0" smtClean="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除数是</a:t>
            </a:r>
            <a:r>
              <a:rPr lang="en-US" altLang="zh-CN" sz="2000" dirty="0"/>
              <a:t>16</a:t>
            </a:r>
            <a:r>
              <a:rPr lang="zh-CN" altLang="en-US" sz="2000" dirty="0"/>
              <a:t>位的，被除数是</a:t>
            </a:r>
            <a:r>
              <a:rPr lang="en-US" altLang="zh-CN" sz="2000" dirty="0"/>
              <a:t>DX:AX</a:t>
            </a:r>
            <a:r>
              <a:rPr lang="zh-CN" altLang="en-US" sz="2000" dirty="0"/>
              <a:t>，商在</a:t>
            </a:r>
            <a:r>
              <a:rPr lang="en-US" altLang="zh-CN" sz="2000" dirty="0"/>
              <a:t>AX</a:t>
            </a:r>
            <a:r>
              <a:rPr lang="zh-CN" altLang="en-US" sz="2000" dirty="0"/>
              <a:t>中，余数在</a:t>
            </a:r>
            <a:r>
              <a:rPr lang="en-US" altLang="zh-CN" sz="2000" dirty="0"/>
              <a:t>DX</a:t>
            </a:r>
            <a:r>
              <a:rPr lang="zh-CN" altLang="en-US" sz="2000" dirty="0"/>
              <a:t>中</a:t>
            </a:r>
            <a:r>
              <a:rPr lang="zh-CN" altLang="en-US" sz="2000" dirty="0" smtClean="0"/>
              <a:t>；</a:t>
            </a:r>
            <a:endParaRPr lang="en-US" altLang="zh-CN" sz="2000" dirty="0" smtClean="0"/>
          </a:p>
          <a:p>
            <a:pPr marL="342900" indent="-342900">
              <a:buFont typeface="Arial" panose="020B0604020202020204" pitchFamily="34" charset="0"/>
              <a:buChar char="•"/>
            </a:pPr>
            <a:r>
              <a:rPr lang="zh-CN" altLang="en-US" sz="2000" dirty="0" smtClean="0"/>
              <a:t>如果</a:t>
            </a:r>
            <a:r>
              <a:rPr lang="zh-CN" altLang="en-US" sz="2000" dirty="0"/>
              <a:t>除数是</a:t>
            </a:r>
            <a:r>
              <a:rPr lang="en-US" altLang="zh-CN" sz="2000" dirty="0"/>
              <a:t>32</a:t>
            </a:r>
            <a:r>
              <a:rPr lang="zh-CN" altLang="en-US" sz="2000" dirty="0"/>
              <a:t>位的，被除数是</a:t>
            </a:r>
            <a:r>
              <a:rPr lang="en-US" altLang="zh-CN" sz="2000" dirty="0"/>
              <a:t>EDX:EAX</a:t>
            </a:r>
            <a:r>
              <a:rPr lang="zh-CN" altLang="en-US" sz="2000" dirty="0"/>
              <a:t>，商在</a:t>
            </a:r>
            <a:r>
              <a:rPr lang="en-US" altLang="zh-CN" sz="2000" dirty="0"/>
              <a:t>EAX</a:t>
            </a:r>
            <a:r>
              <a:rPr lang="zh-CN" altLang="en-US" sz="2000" dirty="0"/>
              <a:t>中，余数在</a:t>
            </a:r>
            <a:r>
              <a:rPr lang="en-US" altLang="zh-CN" sz="2000" dirty="0"/>
              <a:t>EDX</a:t>
            </a:r>
            <a:r>
              <a:rPr lang="zh-CN" altLang="en-US" sz="2000" dirty="0" smtClean="0"/>
              <a:t>中</a:t>
            </a:r>
            <a:r>
              <a:rPr lang="en-US" altLang="zh-CN" sz="2000" dirty="0"/>
              <a:t>;</a:t>
            </a:r>
            <a:endParaRPr lang="en-US" altLang="zh-CN" sz="2000" dirty="0" smtClean="0"/>
          </a:p>
          <a:p>
            <a:pPr marL="342900" indent="-342900">
              <a:buFont typeface="Arial" panose="020B0604020202020204" pitchFamily="34" charset="0"/>
              <a:buChar char="•"/>
            </a:pPr>
            <a:r>
              <a:rPr lang="zh-CN" altLang="en-US" sz="2000" dirty="0" smtClean="0">
                <a:solidFill>
                  <a:srgbClr val="FF0000"/>
                </a:solidFill>
              </a:rPr>
              <a:t>通常</a:t>
            </a:r>
            <a:r>
              <a:rPr lang="zh-CN" altLang="en-US" sz="2000" dirty="0">
                <a:solidFill>
                  <a:srgbClr val="FF0000"/>
                </a:solidFill>
              </a:rPr>
              <a:t>在执行</a:t>
            </a:r>
            <a:r>
              <a:rPr lang="en-US" altLang="zh-CN" sz="2000" dirty="0">
                <a:solidFill>
                  <a:srgbClr val="FF0000"/>
                </a:solidFill>
              </a:rPr>
              <a:t>DIV</a:t>
            </a:r>
            <a:r>
              <a:rPr lang="zh-CN" altLang="en-US" sz="2000" dirty="0">
                <a:solidFill>
                  <a:srgbClr val="FF0000"/>
                </a:solidFill>
              </a:rPr>
              <a:t>指令之前要使用</a:t>
            </a:r>
            <a:r>
              <a:rPr lang="en-US" altLang="zh-CN" sz="2000" dirty="0">
                <a:solidFill>
                  <a:srgbClr val="FF0000"/>
                </a:solidFill>
              </a:rPr>
              <a:t>CBW</a:t>
            </a:r>
            <a:r>
              <a:rPr lang="zh-CN" altLang="en-US" sz="2000" dirty="0">
                <a:solidFill>
                  <a:srgbClr val="FF0000"/>
                </a:solidFill>
              </a:rPr>
              <a:t>或</a:t>
            </a:r>
            <a:r>
              <a:rPr lang="en-US" altLang="zh-CN" sz="2000" dirty="0">
                <a:solidFill>
                  <a:srgbClr val="FF0000"/>
                </a:solidFill>
              </a:rPr>
              <a:t>CWD</a:t>
            </a:r>
            <a:r>
              <a:rPr lang="zh-CN" altLang="en-US" sz="2000" dirty="0">
                <a:solidFill>
                  <a:srgbClr val="FF0000"/>
                </a:solidFill>
              </a:rPr>
              <a:t>对除数进行符号扩展</a:t>
            </a:r>
            <a:r>
              <a:rPr lang="zh-CN" altLang="en-US" sz="2000" dirty="0"/>
              <a:t>。</a:t>
            </a:r>
          </a:p>
        </p:txBody>
      </p:sp>
    </p:spTree>
    <p:extLst>
      <p:ext uri="{BB962C8B-B14F-4D97-AF65-F5344CB8AC3E}">
        <p14:creationId xmlns:p14="http://schemas.microsoft.com/office/powerpoint/2010/main" val="264786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745832"/>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3.17</a:t>
            </a:r>
            <a:endParaRPr lang="zh-CN" altLang="en-US" sz="2000" b="1" dirty="0">
              <a:solidFill>
                <a:srgbClr val="0070C0"/>
              </a:solidFill>
            </a:endParaRPr>
          </a:p>
        </p:txBody>
      </p:sp>
      <p:sp>
        <p:nvSpPr>
          <p:cNvPr id="13" name="矩形 12"/>
          <p:cNvSpPr/>
          <p:nvPr/>
        </p:nvSpPr>
        <p:spPr>
          <a:xfrm>
            <a:off x="900332" y="2224117"/>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6" name="图片 5">
            <a:extLst>
              <a:ext uri="{FF2B5EF4-FFF2-40B4-BE49-F238E27FC236}">
                <a16:creationId xmlns:a16="http://schemas.microsoft.com/office/drawing/2014/main" id="{272C9833-B1C7-4999-9CCC-ACF03408C553}"/>
              </a:ext>
            </a:extLst>
          </p:cNvPr>
          <p:cNvPicPr>
            <a:picLocks noChangeAspect="1"/>
          </p:cNvPicPr>
          <p:nvPr/>
        </p:nvPicPr>
        <p:blipFill>
          <a:blip r:embed="rId3"/>
          <a:stretch>
            <a:fillRect/>
          </a:stretch>
        </p:blipFill>
        <p:spPr>
          <a:xfrm>
            <a:off x="2424199" y="763532"/>
            <a:ext cx="8794785" cy="870517"/>
          </a:xfrm>
          <a:prstGeom prst="rect">
            <a:avLst/>
          </a:prstGeom>
        </p:spPr>
      </p:pic>
      <p:pic>
        <p:nvPicPr>
          <p:cNvPr id="7" name="图片 6">
            <a:extLst>
              <a:ext uri="{FF2B5EF4-FFF2-40B4-BE49-F238E27FC236}">
                <a16:creationId xmlns:a16="http://schemas.microsoft.com/office/drawing/2014/main" id="{7F213DE2-7610-496E-A0C5-A83D6F7F600E}"/>
              </a:ext>
            </a:extLst>
          </p:cNvPr>
          <p:cNvPicPr>
            <a:picLocks noChangeAspect="1"/>
          </p:cNvPicPr>
          <p:nvPr/>
        </p:nvPicPr>
        <p:blipFill>
          <a:blip r:embed="rId4"/>
          <a:stretch>
            <a:fillRect/>
          </a:stretch>
        </p:blipFill>
        <p:spPr>
          <a:xfrm>
            <a:off x="2380238" y="2224117"/>
            <a:ext cx="1997168" cy="3247096"/>
          </a:xfrm>
          <a:prstGeom prst="rect">
            <a:avLst/>
          </a:prstGeom>
        </p:spPr>
      </p:pic>
      <p:pic>
        <p:nvPicPr>
          <p:cNvPr id="8" name="图片 7">
            <a:extLst>
              <a:ext uri="{FF2B5EF4-FFF2-40B4-BE49-F238E27FC236}">
                <a16:creationId xmlns:a16="http://schemas.microsoft.com/office/drawing/2014/main" id="{95D23C73-D312-4154-8582-9181957A275A}"/>
              </a:ext>
            </a:extLst>
          </p:cNvPr>
          <p:cNvPicPr>
            <a:picLocks noChangeAspect="1"/>
          </p:cNvPicPr>
          <p:nvPr/>
        </p:nvPicPr>
        <p:blipFill>
          <a:blip r:embed="rId5"/>
          <a:stretch>
            <a:fillRect/>
          </a:stretch>
        </p:blipFill>
        <p:spPr>
          <a:xfrm>
            <a:off x="5132228" y="2250493"/>
            <a:ext cx="3211671" cy="3247095"/>
          </a:xfrm>
          <a:prstGeom prst="rect">
            <a:avLst/>
          </a:prstGeom>
        </p:spPr>
      </p:pic>
      <p:sp>
        <p:nvSpPr>
          <p:cNvPr id="14" name="矩形 13">
            <a:extLst>
              <a:ext uri="{FF2B5EF4-FFF2-40B4-BE49-F238E27FC236}">
                <a16:creationId xmlns:a16="http://schemas.microsoft.com/office/drawing/2014/main" id="{9347292A-184E-4F96-89F0-117435785A50}"/>
              </a:ext>
            </a:extLst>
          </p:cNvPr>
          <p:cNvSpPr/>
          <p:nvPr/>
        </p:nvSpPr>
        <p:spPr>
          <a:xfrm>
            <a:off x="3675185" y="4167554"/>
            <a:ext cx="149469" cy="1758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X</a:t>
            </a:r>
            <a:endParaRPr lang="zh-CN" altLang="en-US" b="1" dirty="0">
              <a:solidFill>
                <a:schemeClr val="tx1"/>
              </a:solidFill>
            </a:endParaRPr>
          </a:p>
        </p:txBody>
      </p:sp>
      <p:sp>
        <p:nvSpPr>
          <p:cNvPr id="15" name="矩形 14">
            <a:extLst>
              <a:ext uri="{FF2B5EF4-FFF2-40B4-BE49-F238E27FC236}">
                <a16:creationId xmlns:a16="http://schemas.microsoft.com/office/drawing/2014/main" id="{D7EA820D-86C6-4DF4-8FF7-005706E7645A}"/>
              </a:ext>
            </a:extLst>
          </p:cNvPr>
          <p:cNvSpPr/>
          <p:nvPr/>
        </p:nvSpPr>
        <p:spPr>
          <a:xfrm>
            <a:off x="8572500" y="745832"/>
            <a:ext cx="1837592" cy="3142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CB30867F-3E5E-4B49-AE30-D5523C0AB729}"/>
              </a:ext>
            </a:extLst>
          </p:cNvPr>
          <p:cNvSpPr/>
          <p:nvPr/>
        </p:nvSpPr>
        <p:spPr>
          <a:xfrm>
            <a:off x="5451231" y="2668770"/>
            <a:ext cx="993531" cy="487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031D89BE-D5F5-47CD-8DB0-39A2C430B910}"/>
              </a:ext>
            </a:extLst>
          </p:cNvPr>
          <p:cNvSpPr/>
          <p:nvPr/>
        </p:nvSpPr>
        <p:spPr>
          <a:xfrm>
            <a:off x="5451231" y="4079631"/>
            <a:ext cx="1424354" cy="9319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027DA698-91E8-4E34-AE05-BFCBCA4E8D4C}"/>
              </a:ext>
            </a:extLst>
          </p:cNvPr>
          <p:cNvSpPr txBox="1"/>
          <p:nvPr/>
        </p:nvSpPr>
        <p:spPr>
          <a:xfrm>
            <a:off x="5372101" y="5571248"/>
            <a:ext cx="6305779" cy="584775"/>
          </a:xfrm>
          <a:prstGeom prst="rect">
            <a:avLst/>
          </a:prstGeom>
          <a:noFill/>
        </p:spPr>
        <p:txBody>
          <a:bodyPr wrap="square" rtlCol="0">
            <a:spAutoFit/>
          </a:bodyPr>
          <a:lstStyle/>
          <a:p>
            <a:r>
              <a:rPr lang="en-US" altLang="zh-CN" sz="1600" dirty="0"/>
              <a:t>SHL </a:t>
            </a:r>
            <a:r>
              <a:rPr lang="zh-CN" altLang="en-US" sz="1600" dirty="0"/>
              <a:t>逻辑左移指令，</a:t>
            </a:r>
            <a:r>
              <a:rPr lang="zh-CN" altLang="en-US" sz="1600" b="1" dirty="0"/>
              <a:t>操作数的最高位移入进位标志位</a:t>
            </a:r>
            <a:r>
              <a:rPr lang="en-US" altLang="zh-CN" sz="1600" b="1" dirty="0"/>
              <a:t>CF</a:t>
            </a:r>
            <a:r>
              <a:rPr lang="zh-CN" altLang="en-US" sz="1600" dirty="0"/>
              <a:t>，最低位补零</a:t>
            </a:r>
            <a:endParaRPr lang="en-US" altLang="zh-CN" sz="1600" dirty="0"/>
          </a:p>
          <a:p>
            <a:r>
              <a:rPr lang="en-US" altLang="zh-CN" sz="1600" dirty="0"/>
              <a:t>RCL </a:t>
            </a:r>
            <a:r>
              <a:rPr lang="zh-CN" altLang="en-US" sz="1600" dirty="0"/>
              <a:t>带进位的循环左移，</a:t>
            </a:r>
            <a:r>
              <a:rPr lang="zh-CN" altLang="en-US" sz="1600" b="1" dirty="0"/>
              <a:t>将</a:t>
            </a:r>
            <a:r>
              <a:rPr lang="en-US" altLang="zh-CN" sz="1600" b="1" dirty="0"/>
              <a:t>CF</a:t>
            </a:r>
            <a:r>
              <a:rPr lang="zh-CN" altLang="en-US" sz="1600" b="1" dirty="0"/>
              <a:t>中的数据</a:t>
            </a:r>
            <a:r>
              <a:rPr lang="zh-CN" altLang="en-US" sz="1600" b="1" dirty="0" smtClean="0"/>
              <a:t>移回到</a:t>
            </a:r>
            <a:r>
              <a:rPr lang="zh-CN" altLang="en-US" sz="1600" b="1" dirty="0"/>
              <a:t>最低位</a:t>
            </a:r>
          </a:p>
        </p:txBody>
      </p:sp>
      <p:cxnSp>
        <p:nvCxnSpPr>
          <p:cNvPr id="4" name="直接箭头连接符 3">
            <a:extLst>
              <a:ext uri="{FF2B5EF4-FFF2-40B4-BE49-F238E27FC236}">
                <a16:creationId xmlns:a16="http://schemas.microsoft.com/office/drawing/2014/main" id="{3038A3CC-A3F6-44EC-9A0E-31A22E9DF377}"/>
              </a:ext>
            </a:extLst>
          </p:cNvPr>
          <p:cNvCxnSpPr/>
          <p:nvPr/>
        </p:nvCxnSpPr>
        <p:spPr>
          <a:xfrm>
            <a:off x="6638192" y="2778369"/>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199F7AAB-92C1-4144-BADF-792FE824B5DE}"/>
              </a:ext>
            </a:extLst>
          </p:cNvPr>
          <p:cNvSpPr txBox="1"/>
          <p:nvPr/>
        </p:nvSpPr>
        <p:spPr>
          <a:xfrm>
            <a:off x="7209692" y="2595110"/>
            <a:ext cx="870439" cy="338554"/>
          </a:xfrm>
          <a:prstGeom prst="rect">
            <a:avLst/>
          </a:prstGeom>
          <a:noFill/>
        </p:spPr>
        <p:txBody>
          <a:bodyPr wrap="square" rtlCol="0">
            <a:spAutoFit/>
          </a:bodyPr>
          <a:lstStyle/>
          <a:p>
            <a:r>
              <a:rPr lang="en-US" altLang="zh-CN" sz="1600" dirty="0"/>
              <a:t>DX:AX</a:t>
            </a:r>
            <a:endParaRPr lang="zh-CN" altLang="en-US" sz="1600" dirty="0"/>
          </a:p>
        </p:txBody>
      </p:sp>
    </p:spTree>
    <p:extLst>
      <p:ext uri="{BB962C8B-B14F-4D97-AF65-F5344CB8AC3E}">
        <p14:creationId xmlns:p14="http://schemas.microsoft.com/office/powerpoint/2010/main" val="3850078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8302" y="464478"/>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3.19</a:t>
            </a:r>
            <a:endParaRPr lang="zh-CN" altLang="en-US" sz="2000" b="1" dirty="0">
              <a:solidFill>
                <a:srgbClr val="0070C0"/>
              </a:solidFill>
            </a:endParaRPr>
          </a:p>
        </p:txBody>
      </p:sp>
      <p:sp>
        <p:nvSpPr>
          <p:cNvPr id="13" name="矩形 12"/>
          <p:cNvSpPr/>
          <p:nvPr/>
        </p:nvSpPr>
        <p:spPr>
          <a:xfrm>
            <a:off x="478302" y="1143903"/>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a:extLst>
              <a:ext uri="{FF2B5EF4-FFF2-40B4-BE49-F238E27FC236}">
                <a16:creationId xmlns:a16="http://schemas.microsoft.com/office/drawing/2014/main" id="{BA9E24B4-A53B-46FF-A6A9-DD62AC2567C8}"/>
              </a:ext>
            </a:extLst>
          </p:cNvPr>
          <p:cNvPicPr>
            <a:picLocks noChangeAspect="1"/>
          </p:cNvPicPr>
          <p:nvPr/>
        </p:nvPicPr>
        <p:blipFill>
          <a:blip r:embed="rId3"/>
          <a:stretch>
            <a:fillRect/>
          </a:stretch>
        </p:blipFill>
        <p:spPr>
          <a:xfrm>
            <a:off x="1857388" y="556630"/>
            <a:ext cx="7206401" cy="304496"/>
          </a:xfrm>
          <a:prstGeom prst="rect">
            <a:avLst/>
          </a:prstGeom>
        </p:spPr>
      </p:pic>
      <p:pic>
        <p:nvPicPr>
          <p:cNvPr id="9" name="图片 8">
            <a:extLst>
              <a:ext uri="{FF2B5EF4-FFF2-40B4-BE49-F238E27FC236}">
                <a16:creationId xmlns:a16="http://schemas.microsoft.com/office/drawing/2014/main" id="{939FE217-919E-4588-88AD-DD526026213E}"/>
              </a:ext>
            </a:extLst>
          </p:cNvPr>
          <p:cNvPicPr>
            <a:picLocks noChangeAspect="1"/>
          </p:cNvPicPr>
          <p:nvPr/>
        </p:nvPicPr>
        <p:blipFill>
          <a:blip r:embed="rId4"/>
          <a:stretch>
            <a:fillRect/>
          </a:stretch>
        </p:blipFill>
        <p:spPr>
          <a:xfrm>
            <a:off x="1945284" y="1143903"/>
            <a:ext cx="6548086" cy="3168786"/>
          </a:xfrm>
          <a:prstGeom prst="rect">
            <a:avLst/>
          </a:prstGeom>
        </p:spPr>
      </p:pic>
      <p:sp>
        <p:nvSpPr>
          <p:cNvPr id="11" name="矩形 10">
            <a:extLst>
              <a:ext uri="{FF2B5EF4-FFF2-40B4-BE49-F238E27FC236}">
                <a16:creationId xmlns:a16="http://schemas.microsoft.com/office/drawing/2014/main" id="{00E4DE0D-DC4F-4869-BD13-5DB8CC54B1BC}"/>
              </a:ext>
            </a:extLst>
          </p:cNvPr>
          <p:cNvSpPr/>
          <p:nvPr/>
        </p:nvSpPr>
        <p:spPr>
          <a:xfrm>
            <a:off x="478302" y="4420813"/>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10" name="文本框 9">
            <a:extLst>
              <a:ext uri="{FF2B5EF4-FFF2-40B4-BE49-F238E27FC236}">
                <a16:creationId xmlns:a16="http://schemas.microsoft.com/office/drawing/2014/main" id="{E74C4219-C251-4A04-858E-1E7C9F55BA0A}"/>
              </a:ext>
            </a:extLst>
          </p:cNvPr>
          <p:cNvSpPr txBox="1"/>
          <p:nvPr/>
        </p:nvSpPr>
        <p:spPr>
          <a:xfrm>
            <a:off x="1895822" y="4444168"/>
            <a:ext cx="10105677" cy="2031325"/>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通用数据传送指令（</a:t>
            </a:r>
            <a:r>
              <a:rPr lang="en-US" altLang="zh-CN" dirty="0"/>
              <a:t>MOV</a:t>
            </a:r>
            <a:r>
              <a:rPr lang="zh-CN" altLang="en-US" dirty="0"/>
              <a:t>、</a:t>
            </a:r>
            <a:r>
              <a:rPr lang="en-US" altLang="zh-CN" dirty="0"/>
              <a:t>PUSH</a:t>
            </a:r>
            <a:r>
              <a:rPr lang="zh-CN" altLang="en-US" dirty="0"/>
              <a:t>、</a:t>
            </a:r>
            <a:r>
              <a:rPr lang="en-US" altLang="zh-CN" dirty="0"/>
              <a:t>POP</a:t>
            </a:r>
            <a:r>
              <a:rPr lang="zh-CN" altLang="en-US" dirty="0"/>
              <a:t>、</a:t>
            </a:r>
            <a:r>
              <a:rPr lang="en-US" altLang="zh-CN" dirty="0"/>
              <a:t>XCHG</a:t>
            </a:r>
            <a:r>
              <a:rPr lang="zh-CN" altLang="en-US" dirty="0"/>
              <a:t>）</a:t>
            </a:r>
            <a:r>
              <a:rPr lang="en-US" altLang="zh-CN" dirty="0"/>
              <a:t> </a:t>
            </a:r>
            <a:r>
              <a:rPr lang="zh-CN" altLang="en-US" dirty="0"/>
              <a:t>都不影响标志位</a:t>
            </a:r>
            <a:endParaRPr lang="en-US" altLang="zh-CN" dirty="0"/>
          </a:p>
          <a:p>
            <a:pPr marL="285750" indent="-285750">
              <a:buFont typeface="Wingdings" panose="05000000000000000000" pitchFamily="2" charset="2"/>
              <a:buChar char="Ø"/>
            </a:pPr>
            <a:r>
              <a:rPr lang="zh-CN" altLang="en-US" dirty="0"/>
              <a:t>逻辑指令（</a:t>
            </a:r>
            <a:r>
              <a:rPr lang="en-US" altLang="zh-CN" dirty="0"/>
              <a:t>AND</a:t>
            </a:r>
            <a:r>
              <a:rPr lang="zh-CN" altLang="en-US" dirty="0"/>
              <a:t>、</a:t>
            </a:r>
            <a:r>
              <a:rPr lang="en-US" altLang="zh-CN" dirty="0"/>
              <a:t>OR</a:t>
            </a:r>
            <a:r>
              <a:rPr lang="zh-CN" altLang="en-US" dirty="0"/>
              <a:t>、</a:t>
            </a:r>
            <a:r>
              <a:rPr lang="en-US" altLang="zh-CN" dirty="0"/>
              <a:t>XOR</a:t>
            </a:r>
            <a:r>
              <a:rPr lang="zh-CN" altLang="en-US" dirty="0"/>
              <a:t>、</a:t>
            </a:r>
            <a:r>
              <a:rPr lang="en-US" altLang="zh-CN" dirty="0"/>
              <a:t>TEST</a:t>
            </a:r>
            <a:r>
              <a:rPr lang="zh-CN" altLang="en-US" dirty="0"/>
              <a:t>）对</a:t>
            </a:r>
            <a:r>
              <a:rPr lang="en-US" altLang="zh-CN" dirty="0"/>
              <a:t>DF</a:t>
            </a:r>
            <a:r>
              <a:rPr lang="zh-CN" altLang="en-US" dirty="0"/>
              <a:t>、</a:t>
            </a:r>
            <a:r>
              <a:rPr lang="en-US" altLang="zh-CN" dirty="0"/>
              <a:t>AF</a:t>
            </a:r>
            <a:r>
              <a:rPr lang="zh-CN" altLang="en-US" dirty="0"/>
              <a:t>没有影响，</a:t>
            </a:r>
            <a:r>
              <a:rPr lang="en-US" altLang="zh-CN" dirty="0"/>
              <a:t>OF</a:t>
            </a:r>
            <a:r>
              <a:rPr lang="zh-CN" altLang="en-US" dirty="0"/>
              <a:t>、</a:t>
            </a:r>
            <a:r>
              <a:rPr lang="en-US" altLang="zh-CN" dirty="0"/>
              <a:t>CF</a:t>
            </a:r>
            <a:r>
              <a:rPr lang="zh-CN" altLang="en-US" dirty="0"/>
              <a:t>始终为</a:t>
            </a:r>
            <a:r>
              <a:rPr lang="en-US" altLang="zh-CN" dirty="0"/>
              <a:t>0</a:t>
            </a:r>
            <a:r>
              <a:rPr lang="zh-CN" altLang="en-US" dirty="0"/>
              <a:t>，</a:t>
            </a:r>
            <a:r>
              <a:rPr lang="en-US" altLang="zh-CN" dirty="0"/>
              <a:t>SF</a:t>
            </a:r>
            <a:r>
              <a:rPr lang="zh-CN" altLang="en-US" dirty="0"/>
              <a:t>、</a:t>
            </a:r>
            <a:r>
              <a:rPr lang="en-US" altLang="zh-CN" dirty="0"/>
              <a:t>ZF</a:t>
            </a:r>
            <a:r>
              <a:rPr lang="zh-CN" altLang="en-US" dirty="0"/>
              <a:t>、</a:t>
            </a:r>
            <a:r>
              <a:rPr lang="en-US" altLang="zh-CN" dirty="0"/>
              <a:t>PF</a:t>
            </a:r>
            <a:r>
              <a:rPr lang="zh-CN" altLang="en-US" dirty="0"/>
              <a:t>受影响</a:t>
            </a:r>
            <a:endParaRPr lang="en-US" altLang="zh-CN" dirty="0"/>
          </a:p>
          <a:p>
            <a:r>
              <a:rPr lang="en-US" altLang="zh-CN" dirty="0"/>
              <a:t>     NOT </a:t>
            </a:r>
            <a:r>
              <a:rPr lang="zh-CN" altLang="en-US" dirty="0"/>
              <a:t>不影响标志位</a:t>
            </a:r>
            <a:endParaRPr lang="en-US" altLang="zh-CN" dirty="0"/>
          </a:p>
          <a:p>
            <a:pPr marL="285750" indent="-285750">
              <a:buFont typeface="Wingdings" panose="05000000000000000000" pitchFamily="2" charset="2"/>
              <a:buChar char="Ø"/>
            </a:pPr>
            <a:r>
              <a:rPr lang="en-US" altLang="zh-CN" dirty="0"/>
              <a:t>INC/DEC </a:t>
            </a:r>
            <a:r>
              <a:rPr lang="zh-CN" altLang="en-US" dirty="0"/>
              <a:t>指令不影响</a:t>
            </a:r>
            <a:r>
              <a:rPr lang="en-US" altLang="zh-CN" dirty="0"/>
              <a:t>CF</a:t>
            </a:r>
            <a:r>
              <a:rPr lang="zh-CN" altLang="en-US" dirty="0"/>
              <a:t>进位标志，按定义设置其他状态标志</a:t>
            </a:r>
            <a:endParaRPr lang="en-US" altLang="zh-CN" dirty="0"/>
          </a:p>
          <a:p>
            <a:pPr marL="285750" indent="-285750">
              <a:buFont typeface="Wingdings" panose="05000000000000000000" pitchFamily="2" charset="2"/>
              <a:buChar char="Ø"/>
            </a:pPr>
            <a:r>
              <a:rPr lang="zh-CN" altLang="en-US" dirty="0"/>
              <a:t>移位指令（</a:t>
            </a:r>
            <a:r>
              <a:rPr lang="en-US" altLang="zh-CN" dirty="0"/>
              <a:t>SAL</a:t>
            </a:r>
            <a:r>
              <a:rPr lang="zh-CN" altLang="en-US" dirty="0"/>
              <a:t>、</a:t>
            </a:r>
            <a:r>
              <a:rPr lang="en-US" altLang="zh-CN" dirty="0"/>
              <a:t>SHL</a:t>
            </a:r>
            <a:r>
              <a:rPr lang="zh-CN" altLang="en-US" dirty="0"/>
              <a:t>、</a:t>
            </a:r>
            <a:r>
              <a:rPr lang="en-US" altLang="zh-CN" dirty="0"/>
              <a:t>SAR</a:t>
            </a:r>
            <a:r>
              <a:rPr lang="zh-CN" altLang="en-US" dirty="0"/>
              <a:t>、</a:t>
            </a:r>
            <a:r>
              <a:rPr lang="en-US" altLang="zh-CN" dirty="0"/>
              <a:t>SHR</a:t>
            </a:r>
            <a:r>
              <a:rPr lang="zh-CN" altLang="en-US" dirty="0"/>
              <a:t>）对</a:t>
            </a:r>
            <a:r>
              <a:rPr lang="en-US" altLang="zh-CN" dirty="0"/>
              <a:t>DF</a:t>
            </a:r>
            <a:r>
              <a:rPr lang="zh-CN" altLang="en-US" dirty="0"/>
              <a:t>、</a:t>
            </a:r>
            <a:r>
              <a:rPr lang="en-US" altLang="zh-CN" dirty="0"/>
              <a:t>AF</a:t>
            </a:r>
            <a:r>
              <a:rPr lang="zh-CN" altLang="en-US" dirty="0"/>
              <a:t>没有影响，其他有影响</a:t>
            </a:r>
            <a:endParaRPr lang="en-US" altLang="zh-CN" dirty="0"/>
          </a:p>
          <a:p>
            <a:pPr marL="285750" indent="-285750">
              <a:buFont typeface="Wingdings" panose="05000000000000000000" pitchFamily="2" charset="2"/>
              <a:buChar char="Ø"/>
            </a:pPr>
            <a:r>
              <a:rPr lang="zh-CN" altLang="en-US" dirty="0"/>
              <a:t>循环指令（</a:t>
            </a:r>
            <a:r>
              <a:rPr lang="en-US" altLang="zh-CN" dirty="0"/>
              <a:t>ROL</a:t>
            </a:r>
            <a:r>
              <a:rPr lang="zh-CN" altLang="en-US" dirty="0"/>
              <a:t>、</a:t>
            </a:r>
            <a:r>
              <a:rPr lang="en-US" altLang="zh-CN" dirty="0"/>
              <a:t>ROR</a:t>
            </a:r>
            <a:r>
              <a:rPr lang="zh-CN" altLang="en-US" dirty="0"/>
              <a:t>、</a:t>
            </a:r>
            <a:r>
              <a:rPr lang="en-US" altLang="zh-CN" dirty="0"/>
              <a:t>RCL</a:t>
            </a:r>
            <a:r>
              <a:rPr lang="zh-CN" altLang="en-US" dirty="0"/>
              <a:t>、</a:t>
            </a:r>
            <a:r>
              <a:rPr lang="en-US" altLang="zh-CN" dirty="0"/>
              <a:t>RCR</a:t>
            </a:r>
            <a:r>
              <a:rPr lang="zh-CN" altLang="en-US" dirty="0"/>
              <a:t>）只有</a:t>
            </a:r>
            <a:r>
              <a:rPr lang="en-US" altLang="zh-CN" dirty="0"/>
              <a:t>CF</a:t>
            </a:r>
            <a:r>
              <a:rPr lang="zh-CN" altLang="en-US" dirty="0"/>
              <a:t>和</a:t>
            </a:r>
            <a:r>
              <a:rPr lang="en-US" altLang="zh-CN" dirty="0"/>
              <a:t>OF</a:t>
            </a:r>
            <a:r>
              <a:rPr lang="zh-CN" altLang="en-US" dirty="0"/>
              <a:t> 受影响</a:t>
            </a:r>
            <a:endParaRPr lang="en-US" altLang="zh-CN" dirty="0"/>
          </a:p>
          <a:p>
            <a:pPr marL="285750" indent="-285750">
              <a:buFont typeface="Wingdings" panose="05000000000000000000" pitchFamily="2" charset="2"/>
              <a:buChar char="Ø"/>
            </a:pPr>
            <a:r>
              <a:rPr lang="zh-CN" altLang="en-US" dirty="0"/>
              <a:t>求补指令</a:t>
            </a:r>
            <a:r>
              <a:rPr lang="en-US" altLang="zh-CN" dirty="0"/>
              <a:t>NEG </a:t>
            </a:r>
            <a:r>
              <a:rPr lang="zh-CN" altLang="en-US" dirty="0"/>
              <a:t>对标志的影响与用零作减法的</a:t>
            </a:r>
            <a:r>
              <a:rPr lang="en-US" altLang="zh-CN" dirty="0"/>
              <a:t>SUB</a:t>
            </a:r>
            <a:r>
              <a:rPr lang="zh-CN" altLang="en-US" dirty="0"/>
              <a:t>指令一样</a:t>
            </a:r>
          </a:p>
        </p:txBody>
      </p:sp>
    </p:spTree>
    <p:extLst>
      <p:ext uri="{BB962C8B-B14F-4D97-AF65-F5344CB8AC3E}">
        <p14:creationId xmlns:p14="http://schemas.microsoft.com/office/powerpoint/2010/main" val="2197248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411721"/>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3.20</a:t>
            </a:r>
            <a:endParaRPr lang="zh-CN" altLang="en-US" sz="2000" b="1" dirty="0">
              <a:solidFill>
                <a:srgbClr val="0070C0"/>
              </a:solidFill>
            </a:endParaRPr>
          </a:p>
        </p:txBody>
      </p:sp>
      <p:sp>
        <p:nvSpPr>
          <p:cNvPr id="13" name="矩形 12"/>
          <p:cNvSpPr/>
          <p:nvPr/>
        </p:nvSpPr>
        <p:spPr>
          <a:xfrm>
            <a:off x="900332" y="4071739"/>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4" name="图片 3">
            <a:extLst>
              <a:ext uri="{FF2B5EF4-FFF2-40B4-BE49-F238E27FC236}">
                <a16:creationId xmlns:a16="http://schemas.microsoft.com/office/drawing/2014/main" id="{AD5FEB96-4C5B-4E8D-91CF-1B386B03A289}"/>
              </a:ext>
            </a:extLst>
          </p:cNvPr>
          <p:cNvPicPr>
            <a:picLocks noChangeAspect="1"/>
          </p:cNvPicPr>
          <p:nvPr/>
        </p:nvPicPr>
        <p:blipFill>
          <a:blip r:embed="rId3"/>
          <a:stretch>
            <a:fillRect/>
          </a:stretch>
        </p:blipFill>
        <p:spPr>
          <a:xfrm>
            <a:off x="2379047" y="401791"/>
            <a:ext cx="6175868" cy="3418603"/>
          </a:xfrm>
          <a:prstGeom prst="rect">
            <a:avLst/>
          </a:prstGeom>
        </p:spPr>
      </p:pic>
      <p:pic>
        <p:nvPicPr>
          <p:cNvPr id="5" name="图片 4">
            <a:extLst>
              <a:ext uri="{FF2B5EF4-FFF2-40B4-BE49-F238E27FC236}">
                <a16:creationId xmlns:a16="http://schemas.microsoft.com/office/drawing/2014/main" id="{9787819A-D7FA-4DEF-95F3-19E20E69399E}"/>
              </a:ext>
            </a:extLst>
          </p:cNvPr>
          <p:cNvPicPr>
            <a:picLocks noChangeAspect="1"/>
          </p:cNvPicPr>
          <p:nvPr/>
        </p:nvPicPr>
        <p:blipFill>
          <a:blip r:embed="rId4"/>
          <a:stretch>
            <a:fillRect/>
          </a:stretch>
        </p:blipFill>
        <p:spPr>
          <a:xfrm>
            <a:off x="2379046" y="4071738"/>
            <a:ext cx="5665915" cy="2529631"/>
          </a:xfrm>
          <a:prstGeom prst="rect">
            <a:avLst/>
          </a:prstGeom>
        </p:spPr>
      </p:pic>
      <p:sp>
        <p:nvSpPr>
          <p:cNvPr id="6" name="文本框 5">
            <a:extLst>
              <a:ext uri="{FF2B5EF4-FFF2-40B4-BE49-F238E27FC236}">
                <a16:creationId xmlns:a16="http://schemas.microsoft.com/office/drawing/2014/main" id="{497EE991-ACC7-43B9-82FF-6AF4BAA28D30}"/>
              </a:ext>
            </a:extLst>
          </p:cNvPr>
          <p:cNvSpPr txBox="1"/>
          <p:nvPr/>
        </p:nvSpPr>
        <p:spPr>
          <a:xfrm>
            <a:off x="7537352" y="4055051"/>
            <a:ext cx="3525715" cy="646331"/>
          </a:xfrm>
          <a:prstGeom prst="rect">
            <a:avLst/>
          </a:prstGeom>
          <a:noFill/>
        </p:spPr>
        <p:txBody>
          <a:bodyPr wrap="square" rtlCol="0">
            <a:spAutoFit/>
          </a:bodyPr>
          <a:lstStyle/>
          <a:p>
            <a:r>
              <a:rPr lang="en-US" altLang="zh-CN" dirty="0"/>
              <a:t>STC  </a:t>
            </a:r>
            <a:r>
              <a:rPr lang="zh-CN" altLang="en-US" dirty="0"/>
              <a:t>置进位标志指令，</a:t>
            </a:r>
            <a:r>
              <a:rPr lang="en-US" altLang="zh-CN" dirty="0"/>
              <a:t>CF=1</a:t>
            </a:r>
          </a:p>
          <a:p>
            <a:r>
              <a:rPr lang="en-US" altLang="zh-CN" dirty="0"/>
              <a:t>CLC  </a:t>
            </a:r>
            <a:r>
              <a:rPr lang="zh-CN" altLang="en-US" dirty="0"/>
              <a:t>清</a:t>
            </a:r>
            <a:r>
              <a:rPr lang="zh-CN" altLang="en-US" dirty="0" smtClean="0"/>
              <a:t>进位标志</a:t>
            </a:r>
            <a:r>
              <a:rPr lang="zh-CN" altLang="en-US" dirty="0"/>
              <a:t>指令，</a:t>
            </a:r>
            <a:r>
              <a:rPr lang="en-US" altLang="zh-CN" dirty="0"/>
              <a:t>CF=0</a:t>
            </a:r>
            <a:endParaRPr lang="zh-CN" altLang="en-US" dirty="0"/>
          </a:p>
        </p:txBody>
      </p:sp>
      <p:sp>
        <p:nvSpPr>
          <p:cNvPr id="10" name="矩形 9">
            <a:extLst>
              <a:ext uri="{FF2B5EF4-FFF2-40B4-BE49-F238E27FC236}">
                <a16:creationId xmlns:a16="http://schemas.microsoft.com/office/drawing/2014/main" id="{80EF2647-DD74-4355-A7C7-EED3CE45269E}"/>
              </a:ext>
            </a:extLst>
          </p:cNvPr>
          <p:cNvSpPr/>
          <p:nvPr/>
        </p:nvSpPr>
        <p:spPr>
          <a:xfrm>
            <a:off x="6096000" y="4071739"/>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7" name="文本框 6">
            <a:extLst>
              <a:ext uri="{FF2B5EF4-FFF2-40B4-BE49-F238E27FC236}">
                <a16:creationId xmlns:a16="http://schemas.microsoft.com/office/drawing/2014/main" id="{7129E7B1-1FB0-4D61-B28B-A63FADA218AA}"/>
              </a:ext>
            </a:extLst>
          </p:cNvPr>
          <p:cNvSpPr txBox="1"/>
          <p:nvPr/>
        </p:nvSpPr>
        <p:spPr>
          <a:xfrm>
            <a:off x="7893006" y="6271543"/>
            <a:ext cx="3839895" cy="369332"/>
          </a:xfrm>
          <a:prstGeom prst="rect">
            <a:avLst/>
          </a:prstGeom>
          <a:noFill/>
        </p:spPr>
        <p:txBody>
          <a:bodyPr wrap="square" rtlCol="0">
            <a:spAutoFit/>
          </a:bodyPr>
          <a:lstStyle/>
          <a:p>
            <a:r>
              <a:rPr lang="zh-CN" altLang="en-US" dirty="0"/>
              <a:t>（</a:t>
            </a:r>
            <a:r>
              <a:rPr lang="en-US" altLang="zh-CN" dirty="0"/>
              <a:t>BX</a:t>
            </a:r>
            <a:r>
              <a:rPr lang="zh-CN" altLang="en-US" dirty="0"/>
              <a:t>）</a:t>
            </a:r>
            <a:r>
              <a:rPr lang="en-US" altLang="zh-CN" dirty="0"/>
              <a:t>=0148H+0237H+1=0380H</a:t>
            </a:r>
            <a:endParaRPr lang="zh-CN" altLang="en-US" dirty="0"/>
          </a:p>
        </p:txBody>
      </p:sp>
      <p:sp>
        <p:nvSpPr>
          <p:cNvPr id="3" name="矩形 2">
            <a:extLst>
              <a:ext uri="{FF2B5EF4-FFF2-40B4-BE49-F238E27FC236}">
                <a16:creationId xmlns:a16="http://schemas.microsoft.com/office/drawing/2014/main" id="{A31C5E7F-0A60-4611-8B20-A656B7521251}"/>
              </a:ext>
            </a:extLst>
          </p:cNvPr>
          <p:cNvSpPr/>
          <p:nvPr/>
        </p:nvSpPr>
        <p:spPr>
          <a:xfrm>
            <a:off x="4387362" y="1644162"/>
            <a:ext cx="501161" cy="2198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FDBBFC7-C32A-4AAA-8C5E-5AAC9170DCD6}"/>
              </a:ext>
            </a:extLst>
          </p:cNvPr>
          <p:cNvSpPr/>
          <p:nvPr/>
        </p:nvSpPr>
        <p:spPr>
          <a:xfrm>
            <a:off x="4387362" y="1863969"/>
            <a:ext cx="685800" cy="2198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22091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827368" y="1686652"/>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grpSp>
        <p:nvGrpSpPr>
          <p:cNvPr id="7" name="组合 6">
            <a:extLst>
              <a:ext uri="{FF2B5EF4-FFF2-40B4-BE49-F238E27FC236}">
                <a16:creationId xmlns:a16="http://schemas.microsoft.com/office/drawing/2014/main" id="{50D719AF-5D87-4F0B-97C5-257C4FB38DC7}"/>
              </a:ext>
            </a:extLst>
          </p:cNvPr>
          <p:cNvGrpSpPr/>
          <p:nvPr/>
        </p:nvGrpSpPr>
        <p:grpSpPr>
          <a:xfrm>
            <a:off x="2382417" y="1682396"/>
            <a:ext cx="2460637" cy="2827275"/>
            <a:chOff x="2392717" y="530606"/>
            <a:chExt cx="2149976" cy="2470325"/>
          </a:xfrm>
        </p:grpSpPr>
        <p:pic>
          <p:nvPicPr>
            <p:cNvPr id="3" name="图片 2">
              <a:extLst>
                <a:ext uri="{FF2B5EF4-FFF2-40B4-BE49-F238E27FC236}">
                  <a16:creationId xmlns:a16="http://schemas.microsoft.com/office/drawing/2014/main" id="{C9E55692-4D02-47FD-9A71-5E422B3E68FF}"/>
                </a:ext>
              </a:extLst>
            </p:cNvPr>
            <p:cNvPicPr>
              <a:picLocks noChangeAspect="1"/>
            </p:cNvPicPr>
            <p:nvPr/>
          </p:nvPicPr>
          <p:blipFill>
            <a:blip r:embed="rId3"/>
            <a:stretch>
              <a:fillRect/>
            </a:stretch>
          </p:blipFill>
          <p:spPr>
            <a:xfrm>
              <a:off x="2392717" y="530606"/>
              <a:ext cx="1761905" cy="238095"/>
            </a:xfrm>
            <a:prstGeom prst="rect">
              <a:avLst/>
            </a:prstGeom>
          </p:spPr>
        </p:pic>
        <p:pic>
          <p:nvPicPr>
            <p:cNvPr id="6" name="图片 5">
              <a:extLst>
                <a:ext uri="{FF2B5EF4-FFF2-40B4-BE49-F238E27FC236}">
                  <a16:creationId xmlns:a16="http://schemas.microsoft.com/office/drawing/2014/main" id="{53B1CEF6-86C8-4A2E-BADE-A2C0875FCCF7}"/>
                </a:ext>
              </a:extLst>
            </p:cNvPr>
            <p:cNvPicPr>
              <a:picLocks noChangeAspect="1"/>
            </p:cNvPicPr>
            <p:nvPr/>
          </p:nvPicPr>
          <p:blipFill>
            <a:blip r:embed="rId4"/>
            <a:stretch>
              <a:fillRect/>
            </a:stretch>
          </p:blipFill>
          <p:spPr>
            <a:xfrm>
              <a:off x="2637931" y="724741"/>
              <a:ext cx="1904762" cy="2276190"/>
            </a:xfrm>
            <a:prstGeom prst="rect">
              <a:avLst/>
            </a:prstGeom>
          </p:spPr>
        </p:pic>
      </p:grpSp>
      <p:pic>
        <p:nvPicPr>
          <p:cNvPr id="8" name="图片 7">
            <a:extLst>
              <a:ext uri="{FF2B5EF4-FFF2-40B4-BE49-F238E27FC236}">
                <a16:creationId xmlns:a16="http://schemas.microsoft.com/office/drawing/2014/main" id="{BF606299-9492-4C0F-929F-CF6F0EEAC4E8}"/>
              </a:ext>
            </a:extLst>
          </p:cNvPr>
          <p:cNvPicPr>
            <a:picLocks noChangeAspect="1"/>
          </p:cNvPicPr>
          <p:nvPr/>
        </p:nvPicPr>
        <p:blipFill>
          <a:blip r:embed="rId5"/>
          <a:stretch>
            <a:fillRect/>
          </a:stretch>
        </p:blipFill>
        <p:spPr>
          <a:xfrm>
            <a:off x="5953958" y="1682396"/>
            <a:ext cx="2650642" cy="4771156"/>
          </a:xfrm>
          <a:prstGeom prst="rect">
            <a:avLst/>
          </a:prstGeom>
        </p:spPr>
      </p:pic>
      <p:pic>
        <p:nvPicPr>
          <p:cNvPr id="9" name="图片 8">
            <a:extLst>
              <a:ext uri="{FF2B5EF4-FFF2-40B4-BE49-F238E27FC236}">
                <a16:creationId xmlns:a16="http://schemas.microsoft.com/office/drawing/2014/main" id="{DA06CE65-7B3B-4B1D-9A27-FEB40ACD4C3B}"/>
              </a:ext>
            </a:extLst>
          </p:cNvPr>
          <p:cNvPicPr>
            <a:picLocks noChangeAspect="1"/>
          </p:cNvPicPr>
          <p:nvPr/>
        </p:nvPicPr>
        <p:blipFill>
          <a:blip r:embed="rId6"/>
          <a:stretch>
            <a:fillRect/>
          </a:stretch>
        </p:blipFill>
        <p:spPr>
          <a:xfrm>
            <a:off x="2426377" y="5050047"/>
            <a:ext cx="2179991" cy="1286195"/>
          </a:xfrm>
          <a:prstGeom prst="rect">
            <a:avLst/>
          </a:prstGeom>
        </p:spPr>
      </p:pic>
      <p:pic>
        <p:nvPicPr>
          <p:cNvPr id="11" name="图片 10">
            <a:extLst>
              <a:ext uri="{FF2B5EF4-FFF2-40B4-BE49-F238E27FC236}">
                <a16:creationId xmlns:a16="http://schemas.microsoft.com/office/drawing/2014/main" id="{4B846FD8-DE93-4663-B729-D58F4C0B4877}"/>
              </a:ext>
            </a:extLst>
          </p:cNvPr>
          <p:cNvPicPr>
            <a:picLocks noChangeAspect="1"/>
          </p:cNvPicPr>
          <p:nvPr/>
        </p:nvPicPr>
        <p:blipFill rotWithShape="1">
          <a:blip r:embed="rId7"/>
          <a:srcRect t="73377"/>
          <a:stretch/>
        </p:blipFill>
        <p:spPr>
          <a:xfrm>
            <a:off x="2382417" y="444811"/>
            <a:ext cx="6175868" cy="910140"/>
          </a:xfrm>
          <a:prstGeom prst="rect">
            <a:avLst/>
          </a:prstGeom>
        </p:spPr>
      </p:pic>
      <p:sp>
        <p:nvSpPr>
          <p:cNvPr id="12" name="矩形 11">
            <a:extLst>
              <a:ext uri="{FF2B5EF4-FFF2-40B4-BE49-F238E27FC236}">
                <a16:creationId xmlns:a16="http://schemas.microsoft.com/office/drawing/2014/main" id="{E298D533-2D32-4CA8-A4F2-68301E3B7898}"/>
              </a:ext>
            </a:extLst>
          </p:cNvPr>
          <p:cNvSpPr/>
          <p:nvPr/>
        </p:nvSpPr>
        <p:spPr>
          <a:xfrm>
            <a:off x="827368" y="46402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3.20</a:t>
            </a:r>
            <a:endParaRPr lang="zh-CN" altLang="en-US" sz="2000" b="1" dirty="0">
              <a:solidFill>
                <a:srgbClr val="0070C0"/>
              </a:solidFill>
            </a:endParaRPr>
          </a:p>
        </p:txBody>
      </p:sp>
      <p:sp>
        <p:nvSpPr>
          <p:cNvPr id="2" name="矩形 1">
            <a:extLst>
              <a:ext uri="{FF2B5EF4-FFF2-40B4-BE49-F238E27FC236}">
                <a16:creationId xmlns:a16="http://schemas.microsoft.com/office/drawing/2014/main" id="{06599E9A-3CBC-42B8-8930-18A32EBB832F}"/>
              </a:ext>
            </a:extLst>
          </p:cNvPr>
          <p:cNvSpPr/>
          <p:nvPr/>
        </p:nvSpPr>
        <p:spPr>
          <a:xfrm>
            <a:off x="6286500" y="2795954"/>
            <a:ext cx="1978269" cy="17137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E490F163-F664-4D5D-AB3D-3EF8AF4491B3}"/>
              </a:ext>
            </a:extLst>
          </p:cNvPr>
          <p:cNvSpPr/>
          <p:nvPr/>
        </p:nvSpPr>
        <p:spPr>
          <a:xfrm>
            <a:off x="6286500" y="4509671"/>
            <a:ext cx="1978269" cy="19438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5527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8303"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3.23</a:t>
            </a:r>
            <a:endParaRPr lang="zh-CN" altLang="en-US" sz="2000" b="1" dirty="0">
              <a:solidFill>
                <a:srgbClr val="0070C0"/>
              </a:solidFill>
            </a:endParaRPr>
          </a:p>
        </p:txBody>
      </p:sp>
      <p:sp>
        <p:nvSpPr>
          <p:cNvPr id="13" name="矩形 12"/>
          <p:cNvSpPr/>
          <p:nvPr/>
        </p:nvSpPr>
        <p:spPr>
          <a:xfrm>
            <a:off x="478303" y="1697816"/>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a:extLst>
              <a:ext uri="{FF2B5EF4-FFF2-40B4-BE49-F238E27FC236}">
                <a16:creationId xmlns:a16="http://schemas.microsoft.com/office/drawing/2014/main" id="{3B1B5D7C-1D2B-4D75-9294-B0C29982AFB9}"/>
              </a:ext>
            </a:extLst>
          </p:cNvPr>
          <p:cNvPicPr>
            <a:picLocks noChangeAspect="1"/>
          </p:cNvPicPr>
          <p:nvPr/>
        </p:nvPicPr>
        <p:blipFill>
          <a:blip r:embed="rId3"/>
          <a:stretch>
            <a:fillRect/>
          </a:stretch>
        </p:blipFill>
        <p:spPr>
          <a:xfrm>
            <a:off x="1831041" y="747030"/>
            <a:ext cx="8502815" cy="321795"/>
          </a:xfrm>
          <a:prstGeom prst="rect">
            <a:avLst/>
          </a:prstGeom>
        </p:spPr>
      </p:pic>
      <p:pic>
        <p:nvPicPr>
          <p:cNvPr id="6" name="图片 5">
            <a:extLst>
              <a:ext uri="{FF2B5EF4-FFF2-40B4-BE49-F238E27FC236}">
                <a16:creationId xmlns:a16="http://schemas.microsoft.com/office/drawing/2014/main" id="{4649B034-6118-43D2-932C-1E4A6D00E335}"/>
              </a:ext>
            </a:extLst>
          </p:cNvPr>
          <p:cNvPicPr>
            <a:picLocks noChangeAspect="1"/>
          </p:cNvPicPr>
          <p:nvPr/>
        </p:nvPicPr>
        <p:blipFill>
          <a:blip r:embed="rId4"/>
          <a:stretch>
            <a:fillRect/>
          </a:stretch>
        </p:blipFill>
        <p:spPr>
          <a:xfrm>
            <a:off x="1831041" y="1697816"/>
            <a:ext cx="8693863" cy="1616884"/>
          </a:xfrm>
          <a:prstGeom prst="rect">
            <a:avLst/>
          </a:prstGeom>
        </p:spPr>
      </p:pic>
      <p:sp>
        <p:nvSpPr>
          <p:cNvPr id="7" name="矩形 6">
            <a:extLst>
              <a:ext uri="{FF2B5EF4-FFF2-40B4-BE49-F238E27FC236}">
                <a16:creationId xmlns:a16="http://schemas.microsoft.com/office/drawing/2014/main" id="{EC93E0CB-D8BB-46FC-9F1B-1D3E7092CD74}"/>
              </a:ext>
            </a:extLst>
          </p:cNvPr>
          <p:cNvSpPr/>
          <p:nvPr/>
        </p:nvSpPr>
        <p:spPr>
          <a:xfrm>
            <a:off x="478303" y="3685306"/>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8" name="文本框 7">
            <a:extLst>
              <a:ext uri="{FF2B5EF4-FFF2-40B4-BE49-F238E27FC236}">
                <a16:creationId xmlns:a16="http://schemas.microsoft.com/office/drawing/2014/main" id="{A2BB1664-EC94-45C1-8633-B25EAFADE241}"/>
              </a:ext>
            </a:extLst>
          </p:cNvPr>
          <p:cNvSpPr txBox="1"/>
          <p:nvPr/>
        </p:nvSpPr>
        <p:spPr>
          <a:xfrm>
            <a:off x="1787081" y="3677843"/>
            <a:ext cx="10105677" cy="646331"/>
          </a:xfrm>
          <a:prstGeom prst="rect">
            <a:avLst/>
          </a:prstGeom>
          <a:noFill/>
        </p:spPr>
        <p:txBody>
          <a:bodyPr wrap="square" rtlCol="0">
            <a:spAutoFit/>
          </a:bodyPr>
          <a:lstStyle/>
          <a:p>
            <a:r>
              <a:rPr lang="zh-CN" altLang="en-US" dirty="0"/>
              <a:t>逻辑指令（</a:t>
            </a:r>
            <a:r>
              <a:rPr lang="en-US" altLang="zh-CN" dirty="0"/>
              <a:t>AND</a:t>
            </a:r>
            <a:r>
              <a:rPr lang="zh-CN" altLang="en-US" dirty="0"/>
              <a:t>、</a:t>
            </a:r>
            <a:r>
              <a:rPr lang="en-US" altLang="zh-CN" dirty="0"/>
              <a:t>OR</a:t>
            </a:r>
            <a:r>
              <a:rPr lang="zh-CN" altLang="en-US" dirty="0"/>
              <a:t>、</a:t>
            </a:r>
            <a:r>
              <a:rPr lang="en-US" altLang="zh-CN" dirty="0"/>
              <a:t>XOR</a:t>
            </a:r>
            <a:r>
              <a:rPr lang="zh-CN" altLang="en-US" dirty="0"/>
              <a:t>、</a:t>
            </a:r>
            <a:r>
              <a:rPr lang="en-US" altLang="zh-CN" dirty="0"/>
              <a:t>TEST</a:t>
            </a:r>
            <a:r>
              <a:rPr lang="zh-CN" altLang="en-US" dirty="0"/>
              <a:t>）对</a:t>
            </a:r>
            <a:r>
              <a:rPr lang="en-US" altLang="zh-CN" dirty="0"/>
              <a:t>DF</a:t>
            </a:r>
            <a:r>
              <a:rPr lang="zh-CN" altLang="en-US" dirty="0"/>
              <a:t>、</a:t>
            </a:r>
            <a:r>
              <a:rPr lang="en-US" altLang="zh-CN" dirty="0"/>
              <a:t>AF</a:t>
            </a:r>
            <a:r>
              <a:rPr lang="zh-CN" altLang="en-US" dirty="0"/>
              <a:t>没有影响，</a:t>
            </a:r>
            <a:r>
              <a:rPr lang="en-US" altLang="zh-CN" dirty="0"/>
              <a:t>OF</a:t>
            </a:r>
            <a:r>
              <a:rPr lang="zh-CN" altLang="en-US" dirty="0"/>
              <a:t>、</a:t>
            </a:r>
            <a:r>
              <a:rPr lang="en-US" altLang="zh-CN" dirty="0"/>
              <a:t>CF</a:t>
            </a:r>
            <a:r>
              <a:rPr lang="zh-CN" altLang="en-US" dirty="0"/>
              <a:t>始终为</a:t>
            </a:r>
            <a:r>
              <a:rPr lang="en-US" altLang="zh-CN" dirty="0"/>
              <a:t>0</a:t>
            </a:r>
            <a:r>
              <a:rPr lang="zh-CN" altLang="en-US" dirty="0"/>
              <a:t>，</a:t>
            </a:r>
            <a:r>
              <a:rPr lang="en-US" altLang="zh-CN" dirty="0"/>
              <a:t>SF</a:t>
            </a:r>
            <a:r>
              <a:rPr lang="zh-CN" altLang="en-US" dirty="0"/>
              <a:t>、</a:t>
            </a:r>
            <a:r>
              <a:rPr lang="en-US" altLang="zh-CN" dirty="0"/>
              <a:t>ZF</a:t>
            </a:r>
            <a:r>
              <a:rPr lang="zh-CN" altLang="en-US" dirty="0"/>
              <a:t>、</a:t>
            </a:r>
            <a:r>
              <a:rPr lang="en-US" altLang="zh-CN" dirty="0"/>
              <a:t>PF</a:t>
            </a:r>
            <a:r>
              <a:rPr lang="zh-CN" altLang="en-US" dirty="0"/>
              <a:t>受影响</a:t>
            </a:r>
            <a:endParaRPr lang="en-US" altLang="zh-CN" dirty="0"/>
          </a:p>
          <a:p>
            <a:r>
              <a:rPr lang="en-US" altLang="zh-CN" dirty="0"/>
              <a:t>NOT </a:t>
            </a:r>
            <a:r>
              <a:rPr lang="zh-CN" altLang="en-US" dirty="0"/>
              <a:t>不影响标志位</a:t>
            </a:r>
            <a:endParaRPr lang="en-US" altLang="zh-CN" dirty="0"/>
          </a:p>
        </p:txBody>
      </p:sp>
    </p:spTree>
    <p:extLst>
      <p:ext uri="{BB962C8B-B14F-4D97-AF65-F5344CB8AC3E}">
        <p14:creationId xmlns:p14="http://schemas.microsoft.com/office/powerpoint/2010/main" val="2327306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3.24</a:t>
            </a:r>
            <a:endParaRPr lang="zh-CN" altLang="en-US" sz="2000" b="1" dirty="0">
              <a:solidFill>
                <a:srgbClr val="0070C0"/>
              </a:solidFill>
            </a:endParaRPr>
          </a:p>
        </p:txBody>
      </p:sp>
      <p:sp>
        <p:nvSpPr>
          <p:cNvPr id="13" name="矩形 12"/>
          <p:cNvSpPr/>
          <p:nvPr/>
        </p:nvSpPr>
        <p:spPr>
          <a:xfrm>
            <a:off x="900332" y="1697816"/>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4" name="图片 3">
            <a:extLst>
              <a:ext uri="{FF2B5EF4-FFF2-40B4-BE49-F238E27FC236}">
                <a16:creationId xmlns:a16="http://schemas.microsoft.com/office/drawing/2014/main" id="{CD69A7A0-B49E-4F2D-B4AF-6BEE19BFA1C0}"/>
              </a:ext>
            </a:extLst>
          </p:cNvPr>
          <p:cNvPicPr>
            <a:picLocks noChangeAspect="1"/>
          </p:cNvPicPr>
          <p:nvPr/>
        </p:nvPicPr>
        <p:blipFill>
          <a:blip r:embed="rId3"/>
          <a:stretch>
            <a:fillRect/>
          </a:stretch>
        </p:blipFill>
        <p:spPr>
          <a:xfrm>
            <a:off x="2314614" y="659340"/>
            <a:ext cx="6002510" cy="756222"/>
          </a:xfrm>
          <a:prstGeom prst="rect">
            <a:avLst/>
          </a:prstGeom>
        </p:spPr>
      </p:pic>
      <p:pic>
        <p:nvPicPr>
          <p:cNvPr id="5" name="图片 4">
            <a:extLst>
              <a:ext uri="{FF2B5EF4-FFF2-40B4-BE49-F238E27FC236}">
                <a16:creationId xmlns:a16="http://schemas.microsoft.com/office/drawing/2014/main" id="{CD2AB20F-9EB2-4AC4-B0F3-75C51BE26A4E}"/>
              </a:ext>
            </a:extLst>
          </p:cNvPr>
          <p:cNvPicPr>
            <a:picLocks noChangeAspect="1"/>
          </p:cNvPicPr>
          <p:nvPr/>
        </p:nvPicPr>
        <p:blipFill>
          <a:blip r:embed="rId4"/>
          <a:stretch>
            <a:fillRect/>
          </a:stretch>
        </p:blipFill>
        <p:spPr>
          <a:xfrm>
            <a:off x="2314613" y="1782412"/>
            <a:ext cx="1474871" cy="356004"/>
          </a:xfrm>
          <a:prstGeom prst="rect">
            <a:avLst/>
          </a:prstGeom>
        </p:spPr>
      </p:pic>
      <p:grpSp>
        <p:nvGrpSpPr>
          <p:cNvPr id="14" name="组合 13">
            <a:extLst>
              <a:ext uri="{FF2B5EF4-FFF2-40B4-BE49-F238E27FC236}">
                <a16:creationId xmlns:a16="http://schemas.microsoft.com/office/drawing/2014/main" id="{35747BF3-1D73-4679-80A0-D00F43C728C0}"/>
              </a:ext>
            </a:extLst>
          </p:cNvPr>
          <p:cNvGrpSpPr/>
          <p:nvPr/>
        </p:nvGrpSpPr>
        <p:grpSpPr>
          <a:xfrm>
            <a:off x="2314613" y="2135888"/>
            <a:ext cx="6894398" cy="510055"/>
            <a:chOff x="2314613" y="2135888"/>
            <a:chExt cx="6894398" cy="510055"/>
          </a:xfrm>
        </p:grpSpPr>
        <p:sp>
          <p:nvSpPr>
            <p:cNvPr id="3" name="文本框 2">
              <a:extLst>
                <a:ext uri="{FF2B5EF4-FFF2-40B4-BE49-F238E27FC236}">
                  <a16:creationId xmlns:a16="http://schemas.microsoft.com/office/drawing/2014/main" id="{C70FB668-E4D4-48D5-9484-13D4A4CDF679}"/>
                </a:ext>
              </a:extLst>
            </p:cNvPr>
            <p:cNvSpPr txBox="1"/>
            <p:nvPr/>
          </p:nvSpPr>
          <p:spPr>
            <a:xfrm>
              <a:off x="2314613" y="2276611"/>
              <a:ext cx="2890433" cy="369332"/>
            </a:xfrm>
            <a:prstGeom prst="rect">
              <a:avLst/>
            </a:prstGeom>
            <a:noFill/>
          </p:spPr>
          <p:txBody>
            <a:bodyPr wrap="square" rtlCol="0">
              <a:spAutoFit/>
            </a:bodyPr>
            <a:lstStyle/>
            <a:p>
              <a:r>
                <a:rPr lang="en-US" altLang="zh-CN" dirty="0"/>
                <a:t>(BX)=0110 1101 0001 0110</a:t>
              </a:r>
              <a:endParaRPr lang="zh-CN" altLang="en-US" dirty="0"/>
            </a:p>
          </p:txBody>
        </p:sp>
        <p:cxnSp>
          <p:nvCxnSpPr>
            <p:cNvPr id="9" name="直接箭头连接符 8">
              <a:extLst>
                <a:ext uri="{FF2B5EF4-FFF2-40B4-BE49-F238E27FC236}">
                  <a16:creationId xmlns:a16="http://schemas.microsoft.com/office/drawing/2014/main" id="{D2734229-A67A-4544-9701-1D7963A6BB55}"/>
                </a:ext>
              </a:extLst>
            </p:cNvPr>
            <p:cNvCxnSpPr>
              <a:cxnSpLocks/>
            </p:cNvCxnSpPr>
            <p:nvPr/>
          </p:nvCxnSpPr>
          <p:spPr>
            <a:xfrm>
              <a:off x="5336931" y="2443665"/>
              <a:ext cx="75906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258EE119-30E6-44BF-965D-6D3C45212F79}"/>
                </a:ext>
              </a:extLst>
            </p:cNvPr>
            <p:cNvSpPr txBox="1"/>
            <p:nvPr/>
          </p:nvSpPr>
          <p:spPr>
            <a:xfrm>
              <a:off x="6318578" y="2276611"/>
              <a:ext cx="2890433" cy="369332"/>
            </a:xfrm>
            <a:prstGeom prst="rect">
              <a:avLst/>
            </a:prstGeom>
            <a:noFill/>
          </p:spPr>
          <p:txBody>
            <a:bodyPr wrap="square" rtlCol="0">
              <a:spAutoFit/>
            </a:bodyPr>
            <a:lstStyle/>
            <a:p>
              <a:r>
                <a:rPr lang="en-US" altLang="zh-CN" dirty="0"/>
                <a:t>(BX)=0000 0000 1101 1010</a:t>
              </a:r>
              <a:endParaRPr lang="zh-CN" altLang="en-US" dirty="0"/>
            </a:p>
          </p:txBody>
        </p:sp>
        <p:sp>
          <p:nvSpPr>
            <p:cNvPr id="12" name="文本框 11">
              <a:extLst>
                <a:ext uri="{FF2B5EF4-FFF2-40B4-BE49-F238E27FC236}">
                  <a16:creationId xmlns:a16="http://schemas.microsoft.com/office/drawing/2014/main" id="{9FE743CD-76A1-4AB1-9090-F53F0F0431BA}"/>
                </a:ext>
              </a:extLst>
            </p:cNvPr>
            <p:cNvSpPr txBox="1"/>
            <p:nvPr/>
          </p:nvSpPr>
          <p:spPr>
            <a:xfrm>
              <a:off x="5424035" y="2135888"/>
              <a:ext cx="584859" cy="307777"/>
            </a:xfrm>
            <a:prstGeom prst="rect">
              <a:avLst/>
            </a:prstGeom>
            <a:noFill/>
          </p:spPr>
          <p:txBody>
            <a:bodyPr wrap="square" rtlCol="0">
              <a:spAutoFit/>
            </a:bodyPr>
            <a:lstStyle/>
            <a:p>
              <a:r>
                <a:rPr lang="en-US" altLang="zh-CN" sz="1400" dirty="0"/>
                <a:t>SHR</a:t>
              </a:r>
              <a:endParaRPr lang="zh-CN" altLang="en-US" sz="1400" dirty="0"/>
            </a:p>
          </p:txBody>
        </p:sp>
      </p:grpSp>
      <p:sp>
        <p:nvSpPr>
          <p:cNvPr id="16" name="矩形 15">
            <a:extLst>
              <a:ext uri="{FF2B5EF4-FFF2-40B4-BE49-F238E27FC236}">
                <a16:creationId xmlns:a16="http://schemas.microsoft.com/office/drawing/2014/main" id="{1D129DA8-CDE9-4F12-A4C2-F89E7FC5BFDD}"/>
              </a:ext>
            </a:extLst>
          </p:cNvPr>
          <p:cNvSpPr/>
          <p:nvPr/>
        </p:nvSpPr>
        <p:spPr>
          <a:xfrm>
            <a:off x="900332" y="2890976"/>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17" name="矩形 16">
            <a:extLst>
              <a:ext uri="{FF2B5EF4-FFF2-40B4-BE49-F238E27FC236}">
                <a16:creationId xmlns:a16="http://schemas.microsoft.com/office/drawing/2014/main" id="{88326A7A-D079-4901-B455-01B88843770B}"/>
              </a:ext>
            </a:extLst>
          </p:cNvPr>
          <p:cNvSpPr/>
          <p:nvPr/>
        </p:nvSpPr>
        <p:spPr>
          <a:xfrm>
            <a:off x="2314613" y="2890976"/>
            <a:ext cx="5314623" cy="1477328"/>
          </a:xfrm>
          <a:prstGeom prst="rect">
            <a:avLst/>
          </a:prstGeom>
        </p:spPr>
        <p:txBody>
          <a:bodyPr wrap="square">
            <a:spAutoFit/>
          </a:bodyPr>
          <a:lstStyle/>
          <a:p>
            <a:r>
              <a:rPr lang="en-US" altLang="zh-CN" dirty="0"/>
              <a:t>SHL:  </a:t>
            </a:r>
            <a:r>
              <a:rPr lang="zh-CN" altLang="en-US" dirty="0"/>
              <a:t>逻辑左移    每位左移</a:t>
            </a:r>
            <a:r>
              <a:rPr lang="en-US" altLang="zh-CN" dirty="0"/>
              <a:t>, </a:t>
            </a:r>
            <a:r>
              <a:rPr lang="zh-CN" altLang="en-US" dirty="0"/>
              <a:t>低位补 </a:t>
            </a:r>
            <a:r>
              <a:rPr lang="en-US" altLang="zh-CN" dirty="0"/>
              <a:t>0, </a:t>
            </a:r>
            <a:r>
              <a:rPr lang="zh-CN" altLang="en-US" dirty="0"/>
              <a:t>高位进 </a:t>
            </a:r>
            <a:r>
              <a:rPr lang="en-US" altLang="zh-CN" dirty="0"/>
              <a:t>CF </a:t>
            </a:r>
          </a:p>
          <a:p>
            <a:r>
              <a:rPr lang="en-US" altLang="zh-CN" dirty="0"/>
              <a:t>SHR:  </a:t>
            </a:r>
            <a:r>
              <a:rPr lang="zh-CN" altLang="en-US" dirty="0"/>
              <a:t>逻辑右移    每位右移</a:t>
            </a:r>
            <a:r>
              <a:rPr lang="en-US" altLang="zh-CN" dirty="0"/>
              <a:t>, </a:t>
            </a:r>
            <a:r>
              <a:rPr lang="zh-CN" altLang="en-US" dirty="0"/>
              <a:t>低位进 </a:t>
            </a:r>
            <a:r>
              <a:rPr lang="en-US" altLang="zh-CN" dirty="0"/>
              <a:t>CF, </a:t>
            </a:r>
            <a:r>
              <a:rPr lang="zh-CN" altLang="en-US" dirty="0"/>
              <a:t>高位补 </a:t>
            </a:r>
            <a:r>
              <a:rPr lang="en-US" altLang="zh-CN" dirty="0"/>
              <a:t>0 </a:t>
            </a:r>
          </a:p>
          <a:p>
            <a:r>
              <a:rPr lang="en-US" altLang="zh-CN" dirty="0"/>
              <a:t>SAL:</a:t>
            </a:r>
            <a:r>
              <a:rPr lang="zh-CN" altLang="en-US" dirty="0"/>
              <a:t>  算术左移    每位左移</a:t>
            </a:r>
            <a:r>
              <a:rPr lang="en-US" altLang="zh-CN" dirty="0"/>
              <a:t>, </a:t>
            </a:r>
            <a:r>
              <a:rPr lang="zh-CN" altLang="en-US" dirty="0"/>
              <a:t>低位补 </a:t>
            </a:r>
            <a:r>
              <a:rPr lang="en-US" altLang="zh-CN" dirty="0"/>
              <a:t>0, </a:t>
            </a:r>
            <a:r>
              <a:rPr lang="zh-CN" altLang="en-US" dirty="0"/>
              <a:t>高位进 </a:t>
            </a:r>
            <a:r>
              <a:rPr lang="en-US" altLang="zh-CN" dirty="0"/>
              <a:t>CF</a:t>
            </a:r>
          </a:p>
          <a:p>
            <a:r>
              <a:rPr lang="en-US" altLang="zh-CN" dirty="0"/>
              <a:t>SAR:  </a:t>
            </a:r>
            <a:r>
              <a:rPr lang="zh-CN" altLang="en-US" dirty="0"/>
              <a:t>算术右移    每位右移</a:t>
            </a:r>
            <a:r>
              <a:rPr lang="en-US" altLang="zh-CN" dirty="0"/>
              <a:t>, </a:t>
            </a:r>
            <a:r>
              <a:rPr lang="zh-CN" altLang="en-US" dirty="0"/>
              <a:t>低位进 </a:t>
            </a:r>
            <a:r>
              <a:rPr lang="en-US" altLang="zh-CN" dirty="0"/>
              <a:t>CF, </a:t>
            </a:r>
            <a:r>
              <a:rPr lang="zh-CN" altLang="en-US" dirty="0"/>
              <a:t>高位不变 </a:t>
            </a:r>
            <a:endParaRPr lang="en-US" altLang="zh-CN" dirty="0"/>
          </a:p>
          <a:p>
            <a:r>
              <a:rPr lang="zh-CN" altLang="en-US" dirty="0"/>
              <a:t>它们的结果影响 </a:t>
            </a:r>
            <a:r>
              <a:rPr lang="en-US" altLang="zh-CN" dirty="0"/>
              <a:t>OF</a:t>
            </a:r>
            <a:r>
              <a:rPr lang="zh-CN" altLang="en-US" dirty="0"/>
              <a:t>、</a:t>
            </a:r>
            <a:r>
              <a:rPr lang="en-US" altLang="zh-CN" dirty="0"/>
              <a:t>SF</a:t>
            </a:r>
            <a:r>
              <a:rPr lang="zh-CN" altLang="en-US" dirty="0"/>
              <a:t>、</a:t>
            </a:r>
            <a:r>
              <a:rPr lang="en-US" altLang="zh-CN" dirty="0"/>
              <a:t>ZF</a:t>
            </a:r>
            <a:r>
              <a:rPr lang="zh-CN" altLang="en-US" dirty="0"/>
              <a:t>、</a:t>
            </a:r>
            <a:r>
              <a:rPr lang="en-US" altLang="zh-CN" dirty="0"/>
              <a:t>PF</a:t>
            </a:r>
            <a:r>
              <a:rPr lang="zh-CN" altLang="en-US" dirty="0"/>
              <a:t>、</a:t>
            </a:r>
            <a:r>
              <a:rPr lang="en-US" altLang="zh-CN" dirty="0"/>
              <a:t>CF</a:t>
            </a:r>
            <a:endParaRPr lang="zh-CN" altLang="en-US" dirty="0"/>
          </a:p>
        </p:txBody>
      </p:sp>
      <p:sp>
        <p:nvSpPr>
          <p:cNvPr id="18" name="矩形 17">
            <a:extLst>
              <a:ext uri="{FF2B5EF4-FFF2-40B4-BE49-F238E27FC236}">
                <a16:creationId xmlns:a16="http://schemas.microsoft.com/office/drawing/2014/main" id="{02E394D5-F0F3-4C5E-AA03-615062812CB0}"/>
              </a:ext>
            </a:extLst>
          </p:cNvPr>
          <p:cNvSpPr/>
          <p:nvPr/>
        </p:nvSpPr>
        <p:spPr>
          <a:xfrm>
            <a:off x="2314613" y="4557921"/>
            <a:ext cx="6894398" cy="1477328"/>
          </a:xfrm>
          <a:prstGeom prst="rect">
            <a:avLst/>
          </a:prstGeom>
        </p:spPr>
        <p:txBody>
          <a:bodyPr wrap="square">
            <a:spAutoFit/>
          </a:bodyPr>
          <a:lstStyle/>
          <a:p>
            <a:r>
              <a:rPr lang="en-US" altLang="zh-CN" dirty="0"/>
              <a:t>ROL: </a:t>
            </a:r>
            <a:r>
              <a:rPr lang="zh-CN" altLang="en-US" dirty="0"/>
              <a:t>循环左移    循环左移</a:t>
            </a:r>
            <a:r>
              <a:rPr lang="en-US" altLang="zh-CN" dirty="0"/>
              <a:t>, </a:t>
            </a:r>
            <a:r>
              <a:rPr lang="zh-CN" altLang="en-US" dirty="0"/>
              <a:t>高位到低位并送 </a:t>
            </a:r>
            <a:r>
              <a:rPr lang="en-US" altLang="zh-CN" dirty="0"/>
              <a:t>CF</a:t>
            </a:r>
            <a:r>
              <a:rPr lang="zh-CN" altLang="en-US" dirty="0"/>
              <a:t> </a:t>
            </a:r>
            <a:endParaRPr lang="en-US" altLang="zh-CN" dirty="0"/>
          </a:p>
          <a:p>
            <a:r>
              <a:rPr lang="en-US" altLang="zh-CN" dirty="0"/>
              <a:t>ROR: </a:t>
            </a:r>
            <a:r>
              <a:rPr lang="zh-CN" altLang="en-US" dirty="0"/>
              <a:t>循环右移    循环右移</a:t>
            </a:r>
            <a:r>
              <a:rPr lang="en-US" altLang="zh-CN" dirty="0"/>
              <a:t>, </a:t>
            </a:r>
            <a:r>
              <a:rPr lang="zh-CN" altLang="en-US" dirty="0"/>
              <a:t>低位到高位并送 </a:t>
            </a:r>
            <a:r>
              <a:rPr lang="en-US" altLang="zh-CN" dirty="0"/>
              <a:t>CF </a:t>
            </a:r>
          </a:p>
          <a:p>
            <a:r>
              <a:rPr lang="en-US" altLang="zh-CN" dirty="0"/>
              <a:t>RCL: </a:t>
            </a:r>
            <a:r>
              <a:rPr lang="zh-CN" altLang="en-US" dirty="0"/>
              <a:t>带进位循环左移   循环左移</a:t>
            </a:r>
            <a:r>
              <a:rPr lang="en-US" altLang="zh-CN" dirty="0"/>
              <a:t>, </a:t>
            </a:r>
            <a:r>
              <a:rPr lang="zh-CN" altLang="en-US" dirty="0"/>
              <a:t>进位值</a:t>
            </a:r>
            <a:r>
              <a:rPr lang="en-US" altLang="zh-CN" dirty="0"/>
              <a:t>(</a:t>
            </a:r>
            <a:r>
              <a:rPr lang="zh-CN" altLang="en-US" dirty="0"/>
              <a:t>原</a:t>
            </a:r>
            <a:r>
              <a:rPr lang="en-US" altLang="zh-CN" dirty="0"/>
              <a:t>CF)</a:t>
            </a:r>
            <a:r>
              <a:rPr lang="zh-CN" altLang="en-US" dirty="0"/>
              <a:t>到低位</a:t>
            </a:r>
            <a:r>
              <a:rPr lang="en-US" altLang="zh-CN" dirty="0"/>
              <a:t>, </a:t>
            </a:r>
            <a:r>
              <a:rPr lang="zh-CN" altLang="en-US" dirty="0"/>
              <a:t>高位进 </a:t>
            </a:r>
            <a:r>
              <a:rPr lang="en-US" altLang="zh-CN" dirty="0"/>
              <a:t>CF </a:t>
            </a:r>
          </a:p>
          <a:p>
            <a:r>
              <a:rPr lang="en-US" altLang="zh-CN" dirty="0"/>
              <a:t>RCR: </a:t>
            </a:r>
            <a:r>
              <a:rPr lang="zh-CN" altLang="en-US" dirty="0"/>
              <a:t>带进位循环右移   循环右移</a:t>
            </a:r>
            <a:r>
              <a:rPr lang="en-US" altLang="zh-CN" dirty="0"/>
              <a:t>, </a:t>
            </a:r>
            <a:r>
              <a:rPr lang="zh-CN" altLang="en-US" dirty="0"/>
              <a:t>进位值</a:t>
            </a:r>
            <a:r>
              <a:rPr lang="en-US" altLang="zh-CN" dirty="0"/>
              <a:t>(</a:t>
            </a:r>
            <a:r>
              <a:rPr lang="zh-CN" altLang="en-US" dirty="0"/>
              <a:t>原</a:t>
            </a:r>
            <a:r>
              <a:rPr lang="en-US" altLang="zh-CN" dirty="0"/>
              <a:t>CF)</a:t>
            </a:r>
            <a:r>
              <a:rPr lang="zh-CN" altLang="en-US" dirty="0"/>
              <a:t>到高位</a:t>
            </a:r>
            <a:r>
              <a:rPr lang="en-US" altLang="zh-CN" dirty="0"/>
              <a:t>, </a:t>
            </a:r>
            <a:r>
              <a:rPr lang="zh-CN" altLang="en-US" dirty="0"/>
              <a:t>低位进 </a:t>
            </a:r>
            <a:r>
              <a:rPr lang="en-US" altLang="zh-CN" dirty="0"/>
              <a:t>CF </a:t>
            </a:r>
          </a:p>
          <a:p>
            <a:r>
              <a:rPr lang="zh-CN" altLang="en-US" dirty="0"/>
              <a:t>它们的结果影响 </a:t>
            </a:r>
            <a:r>
              <a:rPr lang="en-US" altLang="zh-CN" dirty="0"/>
              <a:t>OF</a:t>
            </a:r>
            <a:r>
              <a:rPr lang="zh-CN" altLang="en-US" dirty="0"/>
              <a:t>、</a:t>
            </a:r>
            <a:r>
              <a:rPr lang="en-US" altLang="zh-CN" dirty="0"/>
              <a:t>CF</a:t>
            </a:r>
            <a:endParaRPr lang="zh-CN" altLang="en-US" dirty="0"/>
          </a:p>
        </p:txBody>
      </p:sp>
      <p:sp>
        <p:nvSpPr>
          <p:cNvPr id="6" name="矩形 5">
            <a:extLst>
              <a:ext uri="{FF2B5EF4-FFF2-40B4-BE49-F238E27FC236}">
                <a16:creationId xmlns:a16="http://schemas.microsoft.com/office/drawing/2014/main" id="{4187874F-590F-4E28-AC6A-6A7CF2AA19E3}"/>
              </a:ext>
            </a:extLst>
          </p:cNvPr>
          <p:cNvSpPr/>
          <p:nvPr/>
        </p:nvSpPr>
        <p:spPr>
          <a:xfrm>
            <a:off x="6251330" y="3217984"/>
            <a:ext cx="967154" cy="2890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E7A85FF-7DDC-475E-BF60-B895C7EEB10D}"/>
              </a:ext>
            </a:extLst>
          </p:cNvPr>
          <p:cNvSpPr/>
          <p:nvPr/>
        </p:nvSpPr>
        <p:spPr>
          <a:xfrm>
            <a:off x="6245470" y="3766037"/>
            <a:ext cx="967154" cy="2890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5027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3.25</a:t>
            </a:r>
            <a:endParaRPr lang="zh-CN" altLang="en-US" sz="2000" b="1" dirty="0">
              <a:solidFill>
                <a:srgbClr val="0070C0"/>
              </a:solidFill>
            </a:endParaRPr>
          </a:p>
        </p:txBody>
      </p:sp>
      <p:sp>
        <p:nvSpPr>
          <p:cNvPr id="13" name="矩形 12"/>
          <p:cNvSpPr/>
          <p:nvPr/>
        </p:nvSpPr>
        <p:spPr>
          <a:xfrm>
            <a:off x="900332" y="1697816"/>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a:extLst>
              <a:ext uri="{FF2B5EF4-FFF2-40B4-BE49-F238E27FC236}">
                <a16:creationId xmlns:a16="http://schemas.microsoft.com/office/drawing/2014/main" id="{31966838-70B9-44C6-9D9B-1EC1FA06E351}"/>
              </a:ext>
            </a:extLst>
          </p:cNvPr>
          <p:cNvPicPr>
            <a:picLocks noChangeAspect="1"/>
          </p:cNvPicPr>
          <p:nvPr/>
        </p:nvPicPr>
        <p:blipFill>
          <a:blip r:embed="rId3"/>
          <a:stretch>
            <a:fillRect/>
          </a:stretch>
        </p:blipFill>
        <p:spPr>
          <a:xfrm>
            <a:off x="2314613" y="659340"/>
            <a:ext cx="9182920" cy="615545"/>
          </a:xfrm>
          <a:prstGeom prst="rect">
            <a:avLst/>
          </a:prstGeom>
        </p:spPr>
      </p:pic>
      <p:pic>
        <p:nvPicPr>
          <p:cNvPr id="6" name="图片 5">
            <a:extLst>
              <a:ext uri="{FF2B5EF4-FFF2-40B4-BE49-F238E27FC236}">
                <a16:creationId xmlns:a16="http://schemas.microsoft.com/office/drawing/2014/main" id="{93C4A667-1071-403C-82EF-C0C0E4ADD1C5}"/>
              </a:ext>
            </a:extLst>
          </p:cNvPr>
          <p:cNvPicPr>
            <a:picLocks noChangeAspect="1"/>
          </p:cNvPicPr>
          <p:nvPr/>
        </p:nvPicPr>
        <p:blipFill>
          <a:blip r:embed="rId4"/>
          <a:stretch>
            <a:fillRect/>
          </a:stretch>
        </p:blipFill>
        <p:spPr>
          <a:xfrm>
            <a:off x="2314614" y="1697816"/>
            <a:ext cx="4517010" cy="2045662"/>
          </a:xfrm>
          <a:prstGeom prst="rect">
            <a:avLst/>
          </a:prstGeom>
        </p:spPr>
      </p:pic>
      <p:sp>
        <p:nvSpPr>
          <p:cNvPr id="4" name="文本框 3">
            <a:extLst>
              <a:ext uri="{FF2B5EF4-FFF2-40B4-BE49-F238E27FC236}">
                <a16:creationId xmlns:a16="http://schemas.microsoft.com/office/drawing/2014/main" id="{5A45EB56-5933-4C58-A4D6-428BD3A07BAD}"/>
              </a:ext>
            </a:extLst>
          </p:cNvPr>
          <p:cNvSpPr txBox="1"/>
          <p:nvPr/>
        </p:nvSpPr>
        <p:spPr>
          <a:xfrm>
            <a:off x="7036084" y="1894931"/>
            <a:ext cx="3426691" cy="954107"/>
          </a:xfrm>
          <a:prstGeom prst="rect">
            <a:avLst/>
          </a:prstGeom>
          <a:noFill/>
        </p:spPr>
        <p:txBody>
          <a:bodyPr wrap="square" rtlCol="0">
            <a:spAutoFit/>
          </a:bodyPr>
          <a:lstStyle/>
          <a:p>
            <a:r>
              <a:rPr lang="zh-CN" altLang="en-US" sz="1400" dirty="0"/>
              <a:t>负数在计算机中的二进制表示方法是补码</a:t>
            </a:r>
            <a:endParaRPr lang="en-US" altLang="zh-CN" sz="1400" dirty="0"/>
          </a:p>
          <a:p>
            <a:endParaRPr lang="en-US" altLang="zh-CN" sz="1400" dirty="0"/>
          </a:p>
          <a:p>
            <a:r>
              <a:rPr lang="en-US" altLang="zh-CN" sz="1400" dirty="0"/>
              <a:t>53    00110101</a:t>
            </a:r>
          </a:p>
          <a:p>
            <a:r>
              <a:rPr lang="en-US" altLang="zh-CN" sz="1400" dirty="0"/>
              <a:t>-49  11001111</a:t>
            </a:r>
            <a:endParaRPr lang="zh-CN" altLang="en-US" sz="1400" dirty="0"/>
          </a:p>
        </p:txBody>
      </p:sp>
      <p:sp>
        <p:nvSpPr>
          <p:cNvPr id="5" name="矩形 4">
            <a:extLst>
              <a:ext uri="{FF2B5EF4-FFF2-40B4-BE49-F238E27FC236}">
                <a16:creationId xmlns:a16="http://schemas.microsoft.com/office/drawing/2014/main" id="{378C83E7-6852-4038-AC52-5DE0E6D6EF55}"/>
              </a:ext>
            </a:extLst>
          </p:cNvPr>
          <p:cNvSpPr/>
          <p:nvPr/>
        </p:nvSpPr>
        <p:spPr>
          <a:xfrm>
            <a:off x="2340989" y="4510458"/>
            <a:ext cx="6096000" cy="881139"/>
          </a:xfrm>
          <a:prstGeom prst="rect">
            <a:avLst/>
          </a:prstGeom>
        </p:spPr>
        <p:txBody>
          <a:bodyPr>
            <a:spAutoFit/>
          </a:bodyPr>
          <a:lstStyle/>
          <a:p>
            <a:pPr>
              <a:lnSpc>
                <a:spcPct val="150000"/>
              </a:lnSpc>
            </a:pPr>
            <a:r>
              <a:rPr lang="en-US" altLang="zh-CN" dirty="0"/>
              <a:t>SAL:</a:t>
            </a:r>
            <a:r>
              <a:rPr lang="zh-CN" altLang="en-US" dirty="0"/>
              <a:t>  算术左移    每位左移</a:t>
            </a:r>
            <a:r>
              <a:rPr lang="en-US" altLang="zh-CN" dirty="0"/>
              <a:t>, </a:t>
            </a:r>
            <a:r>
              <a:rPr lang="zh-CN" altLang="en-US" dirty="0"/>
              <a:t>低位补 </a:t>
            </a:r>
            <a:r>
              <a:rPr lang="en-US" altLang="zh-CN" dirty="0"/>
              <a:t>0, </a:t>
            </a:r>
            <a:r>
              <a:rPr lang="zh-CN" altLang="en-US" dirty="0"/>
              <a:t>高位进 </a:t>
            </a:r>
            <a:r>
              <a:rPr lang="en-US" altLang="zh-CN" dirty="0"/>
              <a:t>CF</a:t>
            </a:r>
          </a:p>
          <a:p>
            <a:pPr>
              <a:lnSpc>
                <a:spcPct val="150000"/>
              </a:lnSpc>
            </a:pPr>
            <a:r>
              <a:rPr lang="en-US" altLang="zh-CN" dirty="0"/>
              <a:t>SAR:  </a:t>
            </a:r>
            <a:r>
              <a:rPr lang="zh-CN" altLang="en-US" dirty="0"/>
              <a:t>算术右移    每位右移</a:t>
            </a:r>
            <a:r>
              <a:rPr lang="en-US" altLang="zh-CN" dirty="0"/>
              <a:t>, </a:t>
            </a:r>
            <a:r>
              <a:rPr lang="zh-CN" altLang="en-US" dirty="0"/>
              <a:t>低位进 </a:t>
            </a:r>
            <a:r>
              <a:rPr lang="en-US" altLang="zh-CN" dirty="0"/>
              <a:t>CF, </a:t>
            </a:r>
            <a:r>
              <a:rPr lang="zh-CN" altLang="en-US" dirty="0"/>
              <a:t>高位不变 </a:t>
            </a:r>
            <a:endParaRPr lang="en-US" altLang="zh-CN" dirty="0"/>
          </a:p>
        </p:txBody>
      </p:sp>
      <p:sp>
        <p:nvSpPr>
          <p:cNvPr id="8" name="矩形 7">
            <a:extLst>
              <a:ext uri="{FF2B5EF4-FFF2-40B4-BE49-F238E27FC236}">
                <a16:creationId xmlns:a16="http://schemas.microsoft.com/office/drawing/2014/main" id="{1AD402C8-E204-4012-A233-A4946E40810F}"/>
              </a:ext>
            </a:extLst>
          </p:cNvPr>
          <p:cNvSpPr/>
          <p:nvPr/>
        </p:nvSpPr>
        <p:spPr>
          <a:xfrm>
            <a:off x="900332" y="4188893"/>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7" name="文本框 6">
            <a:extLst>
              <a:ext uri="{FF2B5EF4-FFF2-40B4-BE49-F238E27FC236}">
                <a16:creationId xmlns:a16="http://schemas.microsoft.com/office/drawing/2014/main" id="{2B9F8269-EE75-40CD-A555-776760D13E2F}"/>
              </a:ext>
            </a:extLst>
          </p:cNvPr>
          <p:cNvSpPr txBox="1"/>
          <p:nvPr/>
        </p:nvSpPr>
        <p:spPr>
          <a:xfrm>
            <a:off x="2314613" y="4188893"/>
            <a:ext cx="8561472" cy="369332"/>
          </a:xfrm>
          <a:prstGeom prst="rect">
            <a:avLst/>
          </a:prstGeom>
          <a:noFill/>
        </p:spPr>
        <p:txBody>
          <a:bodyPr wrap="square" rtlCol="0">
            <a:spAutoFit/>
          </a:bodyPr>
          <a:lstStyle/>
          <a:p>
            <a:r>
              <a:rPr lang="zh-CN" altLang="en-US" dirty="0"/>
              <a:t>有符号数的乘除法可以用</a:t>
            </a:r>
            <a:r>
              <a:rPr lang="en-US" altLang="zh-CN" dirty="0"/>
              <a:t>SAL</a:t>
            </a:r>
            <a:r>
              <a:rPr lang="zh-CN" altLang="en-US" dirty="0"/>
              <a:t>（算术左移）和</a:t>
            </a:r>
            <a:r>
              <a:rPr lang="en-US" altLang="zh-CN" dirty="0"/>
              <a:t>SAR</a:t>
            </a:r>
            <a:r>
              <a:rPr lang="zh-CN" altLang="en-US" dirty="0"/>
              <a:t>（算术右移）来表示</a:t>
            </a:r>
          </a:p>
        </p:txBody>
      </p:sp>
    </p:spTree>
    <p:extLst>
      <p:ext uri="{BB962C8B-B14F-4D97-AF65-F5344CB8AC3E}">
        <p14:creationId xmlns:p14="http://schemas.microsoft.com/office/powerpoint/2010/main" val="3789868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7751" y="668576"/>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3.30</a:t>
            </a:r>
            <a:endParaRPr lang="zh-CN" altLang="en-US" sz="2000" b="1" dirty="0">
              <a:solidFill>
                <a:srgbClr val="0070C0"/>
              </a:solidFill>
            </a:endParaRPr>
          </a:p>
        </p:txBody>
      </p:sp>
      <p:sp>
        <p:nvSpPr>
          <p:cNvPr id="13" name="矩形 12"/>
          <p:cNvSpPr/>
          <p:nvPr/>
        </p:nvSpPr>
        <p:spPr>
          <a:xfrm>
            <a:off x="447751" y="1457672"/>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4" name="图片 3">
            <a:extLst>
              <a:ext uri="{FF2B5EF4-FFF2-40B4-BE49-F238E27FC236}">
                <a16:creationId xmlns:a16="http://schemas.microsoft.com/office/drawing/2014/main" id="{0F622503-F2E6-4E78-B14A-05A3BF7741ED}"/>
              </a:ext>
            </a:extLst>
          </p:cNvPr>
          <p:cNvPicPr>
            <a:picLocks noChangeAspect="1"/>
          </p:cNvPicPr>
          <p:nvPr/>
        </p:nvPicPr>
        <p:blipFill rotWithShape="1">
          <a:blip r:embed="rId3"/>
          <a:srcRect b="7084"/>
          <a:stretch/>
        </p:blipFill>
        <p:spPr>
          <a:xfrm>
            <a:off x="1952384" y="668576"/>
            <a:ext cx="6371008" cy="615545"/>
          </a:xfrm>
          <a:prstGeom prst="rect">
            <a:avLst/>
          </a:prstGeom>
        </p:spPr>
      </p:pic>
      <p:pic>
        <p:nvPicPr>
          <p:cNvPr id="5" name="图片 4">
            <a:extLst>
              <a:ext uri="{FF2B5EF4-FFF2-40B4-BE49-F238E27FC236}">
                <a16:creationId xmlns:a16="http://schemas.microsoft.com/office/drawing/2014/main" id="{796E2A1E-4D20-475B-A820-1D492AD7B708}"/>
              </a:ext>
            </a:extLst>
          </p:cNvPr>
          <p:cNvPicPr>
            <a:picLocks noChangeAspect="1"/>
          </p:cNvPicPr>
          <p:nvPr/>
        </p:nvPicPr>
        <p:blipFill>
          <a:blip r:embed="rId4"/>
          <a:stretch>
            <a:fillRect/>
          </a:stretch>
        </p:blipFill>
        <p:spPr>
          <a:xfrm>
            <a:off x="1880568" y="1457672"/>
            <a:ext cx="5046004" cy="2663169"/>
          </a:xfrm>
          <a:prstGeom prst="rect">
            <a:avLst/>
          </a:prstGeom>
        </p:spPr>
      </p:pic>
      <p:sp>
        <p:nvSpPr>
          <p:cNvPr id="3" name="文本框 2">
            <a:extLst>
              <a:ext uri="{FF2B5EF4-FFF2-40B4-BE49-F238E27FC236}">
                <a16:creationId xmlns:a16="http://schemas.microsoft.com/office/drawing/2014/main" id="{D23590B5-EA5D-45EB-A636-E88138AE9983}"/>
              </a:ext>
            </a:extLst>
          </p:cNvPr>
          <p:cNvSpPr txBox="1"/>
          <p:nvPr/>
        </p:nvSpPr>
        <p:spPr>
          <a:xfrm>
            <a:off x="7567291" y="1363279"/>
            <a:ext cx="2494785" cy="738664"/>
          </a:xfrm>
          <a:prstGeom prst="rect">
            <a:avLst/>
          </a:prstGeom>
          <a:noFill/>
        </p:spPr>
        <p:txBody>
          <a:bodyPr wrap="square" rtlCol="0">
            <a:spAutoFit/>
          </a:bodyPr>
          <a:lstStyle/>
          <a:p>
            <a:r>
              <a:rPr lang="en-US" altLang="zh-CN" sz="1400" dirty="0"/>
              <a:t>SEG        </a:t>
            </a:r>
            <a:r>
              <a:rPr lang="zh-CN" altLang="en-US" sz="1400" dirty="0"/>
              <a:t>取段地址</a:t>
            </a:r>
            <a:endParaRPr lang="en-US" altLang="zh-CN" sz="1400" dirty="0"/>
          </a:p>
          <a:p>
            <a:r>
              <a:rPr lang="en-US" altLang="zh-CN" sz="1400" dirty="0"/>
              <a:t>OFFSET  </a:t>
            </a:r>
            <a:r>
              <a:rPr lang="zh-CN" altLang="en-US" sz="1400" dirty="0"/>
              <a:t>取偏移地址</a:t>
            </a:r>
            <a:endParaRPr lang="en-US" altLang="zh-CN" sz="1400" dirty="0"/>
          </a:p>
          <a:p>
            <a:r>
              <a:rPr lang="en-US" altLang="zh-CN" sz="1400" dirty="0"/>
              <a:t>LEA        </a:t>
            </a:r>
            <a:r>
              <a:rPr lang="zh-CN" altLang="en-US" sz="1400" dirty="0" smtClean="0"/>
              <a:t>取</a:t>
            </a:r>
            <a:r>
              <a:rPr lang="zh-CN" altLang="en-US" sz="1400" dirty="0"/>
              <a:t>有效</a:t>
            </a:r>
            <a:r>
              <a:rPr lang="zh-CN" altLang="en-US" sz="1400" dirty="0" smtClean="0"/>
              <a:t>地址</a:t>
            </a:r>
            <a:endParaRPr lang="zh-CN" altLang="en-US" sz="1400" dirty="0"/>
          </a:p>
        </p:txBody>
      </p:sp>
      <p:sp>
        <p:nvSpPr>
          <p:cNvPr id="7" name="矩形 6">
            <a:extLst>
              <a:ext uri="{FF2B5EF4-FFF2-40B4-BE49-F238E27FC236}">
                <a16:creationId xmlns:a16="http://schemas.microsoft.com/office/drawing/2014/main" id="{9573E020-E252-45E7-AB1C-155F2729431B}"/>
              </a:ext>
            </a:extLst>
          </p:cNvPr>
          <p:cNvSpPr/>
          <p:nvPr/>
        </p:nvSpPr>
        <p:spPr>
          <a:xfrm>
            <a:off x="447751" y="4221018"/>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6" name="文本框 5">
            <a:extLst>
              <a:ext uri="{FF2B5EF4-FFF2-40B4-BE49-F238E27FC236}">
                <a16:creationId xmlns:a16="http://schemas.microsoft.com/office/drawing/2014/main" id="{B5BDD600-BCAA-4C8D-8AB0-B46484BBCB59}"/>
              </a:ext>
            </a:extLst>
          </p:cNvPr>
          <p:cNvSpPr txBox="1"/>
          <p:nvPr/>
        </p:nvSpPr>
        <p:spPr>
          <a:xfrm>
            <a:off x="1880568" y="4222753"/>
            <a:ext cx="3568887" cy="2031325"/>
          </a:xfrm>
          <a:prstGeom prst="rect">
            <a:avLst/>
          </a:prstGeom>
          <a:noFill/>
        </p:spPr>
        <p:txBody>
          <a:bodyPr wrap="square" rtlCol="0">
            <a:spAutoFit/>
          </a:bodyPr>
          <a:lstStyle/>
          <a:p>
            <a:r>
              <a:rPr lang="zh-CN" altLang="en-US" dirty="0"/>
              <a:t>串传送指令  </a:t>
            </a:r>
            <a:r>
              <a:rPr lang="en-US" altLang="zh-CN" dirty="0"/>
              <a:t>MOVS</a:t>
            </a:r>
          </a:p>
          <a:p>
            <a:r>
              <a:rPr lang="zh-CN" altLang="en-US" dirty="0"/>
              <a:t>串存储指令</a:t>
            </a:r>
            <a:r>
              <a:rPr lang="en-US" altLang="zh-CN" dirty="0"/>
              <a:t>  STOS</a:t>
            </a:r>
          </a:p>
          <a:p>
            <a:r>
              <a:rPr lang="zh-CN" altLang="en-US" dirty="0"/>
              <a:t>串读取指令</a:t>
            </a:r>
            <a:r>
              <a:rPr lang="en-US" altLang="zh-CN" dirty="0"/>
              <a:t>  LODS</a:t>
            </a:r>
          </a:p>
          <a:p>
            <a:r>
              <a:rPr lang="zh-CN" altLang="en-US" dirty="0"/>
              <a:t>串比较指令</a:t>
            </a:r>
            <a:r>
              <a:rPr lang="en-US" altLang="zh-CN" dirty="0"/>
              <a:t>  CMPS</a:t>
            </a:r>
          </a:p>
          <a:p>
            <a:r>
              <a:rPr lang="zh-CN" altLang="en-US" dirty="0"/>
              <a:t>串扫描指令</a:t>
            </a:r>
            <a:r>
              <a:rPr lang="en-US" altLang="zh-CN" dirty="0"/>
              <a:t>  SCAS</a:t>
            </a:r>
          </a:p>
          <a:p>
            <a:r>
              <a:rPr lang="en-US" altLang="zh-CN" dirty="0"/>
              <a:t>CLD        DF=0</a:t>
            </a:r>
            <a:r>
              <a:rPr lang="zh-CN" altLang="en-US" dirty="0"/>
              <a:t>    </a:t>
            </a:r>
            <a:r>
              <a:rPr lang="en-US" altLang="zh-CN" dirty="0" err="1"/>
              <a:t>si</a:t>
            </a:r>
            <a:r>
              <a:rPr lang="zh-CN" altLang="en-US" dirty="0"/>
              <a:t>、</a:t>
            </a:r>
            <a:r>
              <a:rPr lang="en-US" altLang="zh-CN" dirty="0"/>
              <a:t>di</a:t>
            </a:r>
            <a:r>
              <a:rPr lang="zh-CN" altLang="en-US" dirty="0"/>
              <a:t>向前移动</a:t>
            </a:r>
            <a:endParaRPr lang="en-US" altLang="zh-CN" dirty="0"/>
          </a:p>
          <a:p>
            <a:r>
              <a:rPr lang="en-US" altLang="zh-CN" dirty="0"/>
              <a:t>STD        DF=1</a:t>
            </a:r>
            <a:r>
              <a:rPr lang="zh-CN" altLang="en-US" dirty="0"/>
              <a:t>    </a:t>
            </a:r>
            <a:r>
              <a:rPr lang="en-US" altLang="zh-CN" dirty="0" err="1"/>
              <a:t>si</a:t>
            </a:r>
            <a:r>
              <a:rPr lang="zh-CN" altLang="en-US" dirty="0"/>
              <a:t>、</a:t>
            </a:r>
            <a:r>
              <a:rPr lang="en-US" altLang="zh-CN" dirty="0"/>
              <a:t>di</a:t>
            </a:r>
            <a:r>
              <a:rPr lang="zh-CN" altLang="en-US" dirty="0"/>
              <a:t>向后移动</a:t>
            </a:r>
            <a:endParaRPr lang="en-US" altLang="zh-CN" dirty="0"/>
          </a:p>
        </p:txBody>
      </p:sp>
      <p:sp>
        <p:nvSpPr>
          <p:cNvPr id="8" name="矩形 7">
            <a:extLst>
              <a:ext uri="{FF2B5EF4-FFF2-40B4-BE49-F238E27FC236}">
                <a16:creationId xmlns:a16="http://schemas.microsoft.com/office/drawing/2014/main" id="{418519D6-08AF-4112-8E54-E2ADBFD9F432}"/>
              </a:ext>
            </a:extLst>
          </p:cNvPr>
          <p:cNvSpPr/>
          <p:nvPr/>
        </p:nvSpPr>
        <p:spPr>
          <a:xfrm>
            <a:off x="5345723" y="4120841"/>
            <a:ext cx="6691018" cy="1200329"/>
          </a:xfrm>
          <a:prstGeom prst="rect">
            <a:avLst/>
          </a:prstGeom>
        </p:spPr>
        <p:txBody>
          <a:bodyPr wrap="square">
            <a:spAutoFit/>
          </a:bodyPr>
          <a:lstStyle/>
          <a:p>
            <a:r>
              <a:rPr lang="zh-CN" altLang="en-US" dirty="0"/>
              <a:t>重复前缀指令：每次执行一次指令，</a:t>
            </a:r>
            <a:r>
              <a:rPr lang="en-US" altLang="zh-CN" dirty="0"/>
              <a:t>CX</a:t>
            </a:r>
            <a:r>
              <a:rPr lang="zh-CN" altLang="en-US" dirty="0"/>
              <a:t>减</a:t>
            </a:r>
            <a:r>
              <a:rPr lang="en-US" altLang="zh-CN" dirty="0"/>
              <a:t>1</a:t>
            </a:r>
          </a:p>
          <a:p>
            <a:r>
              <a:rPr lang="en-US" altLang="zh-CN" dirty="0"/>
              <a:t>REP   </a:t>
            </a:r>
            <a:r>
              <a:rPr lang="zh-CN" altLang="en-US" dirty="0"/>
              <a:t>直到</a:t>
            </a:r>
            <a:r>
              <a:rPr lang="en-US" altLang="zh-CN" dirty="0"/>
              <a:t>CX=0</a:t>
            </a:r>
            <a:r>
              <a:rPr lang="zh-CN" altLang="en-US" dirty="0"/>
              <a:t>，重复执行结束</a:t>
            </a:r>
            <a:endParaRPr lang="en-US" altLang="zh-CN" dirty="0"/>
          </a:p>
          <a:p>
            <a:r>
              <a:rPr lang="en-US" altLang="zh-CN" dirty="0"/>
              <a:t>REPZ  </a:t>
            </a:r>
            <a:r>
              <a:rPr lang="zh-CN" altLang="en-US" dirty="0"/>
              <a:t>判断</a:t>
            </a:r>
            <a:r>
              <a:rPr lang="en-US" altLang="zh-CN" dirty="0"/>
              <a:t>ZF</a:t>
            </a:r>
            <a:r>
              <a:rPr lang="zh-CN" altLang="en-US" dirty="0"/>
              <a:t>标志是否为</a:t>
            </a:r>
            <a:r>
              <a:rPr lang="en-US" altLang="zh-CN" dirty="0"/>
              <a:t>0</a:t>
            </a:r>
            <a:r>
              <a:rPr lang="zh-CN" altLang="en-US" dirty="0"/>
              <a:t>，只要</a:t>
            </a:r>
            <a:r>
              <a:rPr lang="en-US" altLang="zh-CN" dirty="0"/>
              <a:t>CX=0</a:t>
            </a:r>
            <a:r>
              <a:rPr lang="zh-CN" altLang="en-US" dirty="0"/>
              <a:t>或</a:t>
            </a:r>
            <a:r>
              <a:rPr lang="en-US" altLang="zh-CN" dirty="0"/>
              <a:t>ZF=0</a:t>
            </a:r>
            <a:r>
              <a:rPr lang="zh-CN" altLang="en-US" dirty="0"/>
              <a:t>，则重复执行结束</a:t>
            </a:r>
            <a:endParaRPr lang="en-US" altLang="zh-CN" dirty="0"/>
          </a:p>
          <a:p>
            <a:r>
              <a:rPr lang="en-US" altLang="zh-CN" dirty="0"/>
              <a:t>REPNZ </a:t>
            </a:r>
            <a:r>
              <a:rPr lang="zh-CN" altLang="en-US" dirty="0"/>
              <a:t>判断</a:t>
            </a:r>
            <a:r>
              <a:rPr lang="en-US" altLang="zh-CN" dirty="0"/>
              <a:t>ZF</a:t>
            </a:r>
            <a:r>
              <a:rPr lang="zh-CN" altLang="en-US" dirty="0"/>
              <a:t>标志是否为</a:t>
            </a:r>
            <a:r>
              <a:rPr lang="en-US" altLang="zh-CN" dirty="0"/>
              <a:t>1</a:t>
            </a:r>
            <a:r>
              <a:rPr lang="zh-CN" altLang="en-US" dirty="0"/>
              <a:t>，只要</a:t>
            </a:r>
            <a:r>
              <a:rPr lang="en-US" altLang="zh-CN" dirty="0"/>
              <a:t>CX=0</a:t>
            </a:r>
            <a:r>
              <a:rPr lang="zh-CN" altLang="en-US" dirty="0"/>
              <a:t>或</a:t>
            </a:r>
            <a:r>
              <a:rPr lang="en-US" altLang="zh-CN" dirty="0"/>
              <a:t>ZF=1</a:t>
            </a:r>
            <a:r>
              <a:rPr lang="zh-CN" altLang="en-US" dirty="0"/>
              <a:t>，则重复执行结束</a:t>
            </a:r>
            <a:endParaRPr lang="en-US" altLang="zh-CN" dirty="0"/>
          </a:p>
        </p:txBody>
      </p:sp>
      <p:sp>
        <p:nvSpPr>
          <p:cNvPr id="9" name="矩形 8">
            <a:extLst>
              <a:ext uri="{FF2B5EF4-FFF2-40B4-BE49-F238E27FC236}">
                <a16:creationId xmlns:a16="http://schemas.microsoft.com/office/drawing/2014/main" id="{59C9A503-E0C1-4595-8CBC-3ED3F20EBEC6}"/>
              </a:ext>
            </a:extLst>
          </p:cNvPr>
          <p:cNvSpPr/>
          <p:nvPr/>
        </p:nvSpPr>
        <p:spPr>
          <a:xfrm>
            <a:off x="7567291" y="2307019"/>
            <a:ext cx="4317032" cy="1169551"/>
          </a:xfrm>
          <a:prstGeom prst="rect">
            <a:avLst/>
          </a:prstGeom>
        </p:spPr>
        <p:txBody>
          <a:bodyPr wrap="square">
            <a:spAutoFit/>
          </a:bodyPr>
          <a:lstStyle/>
          <a:p>
            <a:r>
              <a:rPr lang="en-US" altLang="zh-CN" sz="1400" dirty="0">
                <a:latin typeface="黑体" panose="02010609060101010101" pitchFamily="49" charset="-122"/>
                <a:ea typeface="黑体" panose="02010609060101010101" pitchFamily="49" charset="-122"/>
              </a:rPr>
              <a:t>SCASB         ;</a:t>
            </a:r>
            <a:r>
              <a:rPr lang="zh-CN" altLang="en-US" sz="1400" dirty="0">
                <a:latin typeface="黑体" panose="02010609060101010101" pitchFamily="49" charset="-122"/>
                <a:ea typeface="黑体" panose="02010609060101010101" pitchFamily="49" charset="-122"/>
              </a:rPr>
              <a:t>字节串扫描：</a:t>
            </a:r>
            <a:r>
              <a:rPr lang="en-US" altLang="zh-CN" sz="1400" dirty="0">
                <a:latin typeface="黑体" panose="02010609060101010101" pitchFamily="49" charset="-122"/>
                <a:ea typeface="黑体" panose="02010609060101010101" pitchFamily="49" charset="-122"/>
              </a:rPr>
              <a:t>AL-ES:[DI],DI←DI+/-1</a:t>
            </a:r>
            <a:r>
              <a:rPr lang="en-US" altLang="zh-CN" sz="1400" dirty="0"/>
              <a:t/>
            </a:r>
            <a:br>
              <a:rPr lang="en-US" altLang="zh-CN" sz="1400" dirty="0"/>
            </a:br>
            <a:r>
              <a:rPr lang="en-US" altLang="zh-CN" sz="1400" dirty="0">
                <a:latin typeface="黑体" panose="02010609060101010101" pitchFamily="49" charset="-122"/>
                <a:ea typeface="黑体" panose="02010609060101010101" pitchFamily="49" charset="-122"/>
              </a:rPr>
              <a:t>SCASW         ;</a:t>
            </a:r>
            <a:r>
              <a:rPr lang="zh-CN" altLang="en-US" sz="1400" dirty="0">
                <a:latin typeface="黑体" panose="02010609060101010101" pitchFamily="49" charset="-122"/>
                <a:ea typeface="黑体" panose="02010609060101010101" pitchFamily="49" charset="-122"/>
              </a:rPr>
              <a:t>字串扫描：</a:t>
            </a:r>
            <a:r>
              <a:rPr lang="en-US" altLang="zh-CN" sz="1400" dirty="0">
                <a:latin typeface="黑体" panose="02010609060101010101" pitchFamily="49" charset="-122"/>
                <a:ea typeface="黑体" panose="02010609060101010101" pitchFamily="49" charset="-122"/>
              </a:rPr>
              <a:t>AX-ES:[DI],DI←DI+/-2</a:t>
            </a:r>
          </a:p>
          <a:p>
            <a:r>
              <a:rPr lang="zh-CN" altLang="en-US" sz="1400" dirty="0"/>
              <a:t>串扫描指令</a:t>
            </a:r>
            <a:r>
              <a:rPr lang="en-US" altLang="zh-CN" sz="1400" dirty="0"/>
              <a:t>SCAS</a:t>
            </a:r>
            <a:r>
              <a:rPr lang="zh-CN" altLang="en-US" sz="1400" dirty="0"/>
              <a:t>将附加段中的字节或字内容与</a:t>
            </a:r>
            <a:r>
              <a:rPr lang="en-US" altLang="zh-CN" sz="1400" dirty="0"/>
              <a:t>AL/AX</a:t>
            </a:r>
            <a:r>
              <a:rPr lang="zh-CN" altLang="en-US" sz="1400" dirty="0"/>
              <a:t>寄存器内容进行比较，根据比较的结果设置标志，每次比较后修改</a:t>
            </a:r>
            <a:r>
              <a:rPr lang="en-US" altLang="zh-CN" sz="1400" dirty="0"/>
              <a:t>DI</a:t>
            </a:r>
            <a:r>
              <a:rPr lang="zh-CN" altLang="en-US" sz="1400" dirty="0"/>
              <a:t>寄存器的值，使之指向下一个元素。</a:t>
            </a:r>
          </a:p>
        </p:txBody>
      </p:sp>
      <p:sp>
        <p:nvSpPr>
          <p:cNvPr id="10" name="矩形 9">
            <a:extLst>
              <a:ext uri="{FF2B5EF4-FFF2-40B4-BE49-F238E27FC236}">
                <a16:creationId xmlns:a16="http://schemas.microsoft.com/office/drawing/2014/main" id="{EEB4C604-0C94-417F-9395-5B21DD2ECF71}"/>
              </a:ext>
            </a:extLst>
          </p:cNvPr>
          <p:cNvSpPr/>
          <p:nvPr/>
        </p:nvSpPr>
        <p:spPr>
          <a:xfrm>
            <a:off x="3666392" y="668576"/>
            <a:ext cx="1679331" cy="3249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9B27C01-5EC2-4359-8153-5520F926E944}"/>
              </a:ext>
            </a:extLst>
          </p:cNvPr>
          <p:cNvSpPr/>
          <p:nvPr/>
        </p:nvSpPr>
        <p:spPr>
          <a:xfrm>
            <a:off x="2127738" y="3261946"/>
            <a:ext cx="1125416" cy="2322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7064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3.32</a:t>
            </a:r>
            <a:endParaRPr lang="zh-CN" altLang="en-US" sz="2000" b="1" dirty="0">
              <a:solidFill>
                <a:srgbClr val="0070C0"/>
              </a:solidFill>
            </a:endParaRPr>
          </a:p>
        </p:txBody>
      </p:sp>
      <p:sp>
        <p:nvSpPr>
          <p:cNvPr id="13" name="矩形 12"/>
          <p:cNvSpPr/>
          <p:nvPr/>
        </p:nvSpPr>
        <p:spPr>
          <a:xfrm>
            <a:off x="900332" y="1697816"/>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a:extLst>
              <a:ext uri="{FF2B5EF4-FFF2-40B4-BE49-F238E27FC236}">
                <a16:creationId xmlns:a16="http://schemas.microsoft.com/office/drawing/2014/main" id="{FFFE835A-6685-45B7-A5EF-FAABC133195E}"/>
              </a:ext>
            </a:extLst>
          </p:cNvPr>
          <p:cNvPicPr>
            <a:picLocks noChangeAspect="1"/>
          </p:cNvPicPr>
          <p:nvPr/>
        </p:nvPicPr>
        <p:blipFill>
          <a:blip r:embed="rId2"/>
          <a:stretch>
            <a:fillRect/>
          </a:stretch>
        </p:blipFill>
        <p:spPr>
          <a:xfrm>
            <a:off x="2431871" y="662061"/>
            <a:ext cx="8790888" cy="556232"/>
          </a:xfrm>
          <a:prstGeom prst="rect">
            <a:avLst/>
          </a:prstGeom>
        </p:spPr>
      </p:pic>
      <p:grpSp>
        <p:nvGrpSpPr>
          <p:cNvPr id="8" name="组合 7">
            <a:extLst>
              <a:ext uri="{FF2B5EF4-FFF2-40B4-BE49-F238E27FC236}">
                <a16:creationId xmlns:a16="http://schemas.microsoft.com/office/drawing/2014/main" id="{20B1EF95-94B9-478D-BABB-CA4DCCEE4585}"/>
              </a:ext>
            </a:extLst>
          </p:cNvPr>
          <p:cNvGrpSpPr/>
          <p:nvPr/>
        </p:nvGrpSpPr>
        <p:grpSpPr>
          <a:xfrm>
            <a:off x="2145322" y="1697816"/>
            <a:ext cx="2839915" cy="2786269"/>
            <a:chOff x="2297837" y="1697816"/>
            <a:chExt cx="2212493" cy="2149500"/>
          </a:xfrm>
        </p:grpSpPr>
        <p:pic>
          <p:nvPicPr>
            <p:cNvPr id="6" name="图片 5">
              <a:extLst>
                <a:ext uri="{FF2B5EF4-FFF2-40B4-BE49-F238E27FC236}">
                  <a16:creationId xmlns:a16="http://schemas.microsoft.com/office/drawing/2014/main" id="{197F0520-34A6-4B8B-A56B-9CDC80548D45}"/>
                </a:ext>
              </a:extLst>
            </p:cNvPr>
            <p:cNvPicPr>
              <a:picLocks noChangeAspect="1"/>
            </p:cNvPicPr>
            <p:nvPr/>
          </p:nvPicPr>
          <p:blipFill>
            <a:blip r:embed="rId3"/>
            <a:stretch>
              <a:fillRect/>
            </a:stretch>
          </p:blipFill>
          <p:spPr>
            <a:xfrm>
              <a:off x="2529378" y="1697816"/>
              <a:ext cx="1980952" cy="1371429"/>
            </a:xfrm>
            <a:prstGeom prst="rect">
              <a:avLst/>
            </a:prstGeom>
          </p:spPr>
        </p:pic>
        <p:pic>
          <p:nvPicPr>
            <p:cNvPr id="7" name="图片 6">
              <a:extLst>
                <a:ext uri="{FF2B5EF4-FFF2-40B4-BE49-F238E27FC236}">
                  <a16:creationId xmlns:a16="http://schemas.microsoft.com/office/drawing/2014/main" id="{767BC1F7-EF75-459C-8DA2-0AF378821965}"/>
                </a:ext>
              </a:extLst>
            </p:cNvPr>
            <p:cNvPicPr>
              <a:picLocks noChangeAspect="1"/>
            </p:cNvPicPr>
            <p:nvPr/>
          </p:nvPicPr>
          <p:blipFill>
            <a:blip r:embed="rId4"/>
            <a:stretch>
              <a:fillRect/>
            </a:stretch>
          </p:blipFill>
          <p:spPr>
            <a:xfrm>
              <a:off x="2297837" y="3028268"/>
              <a:ext cx="1828571" cy="819048"/>
            </a:xfrm>
            <a:prstGeom prst="rect">
              <a:avLst/>
            </a:prstGeom>
          </p:spPr>
        </p:pic>
      </p:grpSp>
      <p:sp>
        <p:nvSpPr>
          <p:cNvPr id="9" name="矩形 8">
            <a:extLst>
              <a:ext uri="{FF2B5EF4-FFF2-40B4-BE49-F238E27FC236}">
                <a16:creationId xmlns:a16="http://schemas.microsoft.com/office/drawing/2014/main" id="{792965C5-728B-4CB1-AC6E-87306833FE9C}"/>
              </a:ext>
            </a:extLst>
          </p:cNvPr>
          <p:cNvSpPr/>
          <p:nvPr/>
        </p:nvSpPr>
        <p:spPr>
          <a:xfrm>
            <a:off x="900332" y="4845348"/>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4" name="矩形 3">
            <a:extLst>
              <a:ext uri="{FF2B5EF4-FFF2-40B4-BE49-F238E27FC236}">
                <a16:creationId xmlns:a16="http://schemas.microsoft.com/office/drawing/2014/main" id="{E3C7E13C-4275-410B-A27C-1BCF9442FB86}"/>
              </a:ext>
            </a:extLst>
          </p:cNvPr>
          <p:cNvSpPr/>
          <p:nvPr/>
        </p:nvSpPr>
        <p:spPr>
          <a:xfrm>
            <a:off x="2267033" y="4780693"/>
            <a:ext cx="8687294" cy="1569660"/>
          </a:xfrm>
          <a:prstGeom prst="rect">
            <a:avLst/>
          </a:prstGeom>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CMPSB       </a:t>
            </a:r>
            <a:r>
              <a:rPr lang="en-US" altLang="zh-CN" sz="1600" dirty="0" smtClean="0">
                <a:latin typeface="微软雅黑" panose="020B0503020204020204" pitchFamily="34" charset="-122"/>
                <a:ea typeface="微软雅黑" panose="020B0503020204020204" pitchFamily="34" charset="-122"/>
              </a:rPr>
              <a:t> ; </a:t>
            </a:r>
            <a:r>
              <a:rPr lang="zh-CN" altLang="en-US" sz="1600" b="1" dirty="0" smtClean="0">
                <a:latin typeface="微软雅黑" panose="020B0503020204020204" pitchFamily="34" charset="-122"/>
                <a:ea typeface="微软雅黑" panose="020B0503020204020204" pitchFamily="34" charset="-122"/>
              </a:rPr>
              <a:t>字节</a:t>
            </a:r>
            <a:r>
              <a:rPr lang="zh-CN" altLang="en-US" sz="1600" dirty="0">
                <a:latin typeface="微软雅黑" panose="020B0503020204020204" pitchFamily="34" charset="-122"/>
                <a:ea typeface="微软雅黑" panose="020B0503020204020204" pitchFamily="34" charset="-122"/>
              </a:rPr>
              <a:t>串比较：</a:t>
            </a:r>
            <a:r>
              <a:rPr lang="en-US" altLang="zh-CN" sz="1600" dirty="0">
                <a:latin typeface="微软雅黑" panose="020B0503020204020204" pitchFamily="34" charset="-122"/>
                <a:ea typeface="微软雅黑" panose="020B0503020204020204" pitchFamily="34" charset="-122"/>
              </a:rPr>
              <a:t>DS:[SI]-ES:[DI</a:t>
            </a:r>
            <a:r>
              <a:rPr lang="en-US" altLang="zh-CN" sz="1600" dirty="0" smtClean="0">
                <a:latin typeface="微软雅黑" panose="020B0503020204020204" pitchFamily="34" charset="-122"/>
                <a:ea typeface="微软雅黑" panose="020B0503020204020204" pitchFamily="34" charset="-122"/>
              </a:rPr>
              <a:t>],   SI</a:t>
            </a:r>
            <a:r>
              <a:rPr lang="en-US" altLang="zh-CN" sz="1600" dirty="0">
                <a:latin typeface="微软雅黑" panose="020B0503020204020204" pitchFamily="34" charset="-122"/>
                <a:ea typeface="微软雅黑" panose="020B0503020204020204" pitchFamily="34" charset="-122"/>
              </a:rPr>
              <a:t>←SI+/-1,DI←DI+/-1</a:t>
            </a:r>
            <a:br>
              <a:rPr lang="en-US" altLang="zh-CN" sz="1600" dirty="0">
                <a:latin typeface="微软雅黑" panose="020B0503020204020204" pitchFamily="34" charset="-122"/>
                <a:ea typeface="微软雅黑" panose="020B0503020204020204" pitchFamily="34" charset="-122"/>
              </a:rPr>
            </a:br>
            <a:r>
              <a:rPr lang="en-US" altLang="zh-CN" sz="1600" dirty="0">
                <a:latin typeface="微软雅黑" panose="020B0503020204020204" pitchFamily="34" charset="-122"/>
                <a:ea typeface="微软雅黑" panose="020B0503020204020204" pitchFamily="34" charset="-122"/>
              </a:rPr>
              <a:t>CMPSW       </a:t>
            </a:r>
            <a:r>
              <a:rPr lang="en-US" altLang="zh-CN" sz="1600"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字</a:t>
            </a:r>
            <a:r>
              <a:rPr lang="zh-CN" altLang="en-US" sz="1600" dirty="0">
                <a:latin typeface="微软雅黑" panose="020B0503020204020204" pitchFamily="34" charset="-122"/>
                <a:ea typeface="微软雅黑" panose="020B0503020204020204" pitchFamily="34" charset="-122"/>
              </a:rPr>
              <a:t>串</a:t>
            </a:r>
            <a:r>
              <a:rPr lang="zh-CN" altLang="en-US" sz="1600" dirty="0" smtClean="0">
                <a:latin typeface="微软雅黑" panose="020B0503020204020204" pitchFamily="34" charset="-122"/>
                <a:ea typeface="微软雅黑" panose="020B0503020204020204" pitchFamily="34" charset="-122"/>
              </a:rPr>
              <a:t>比较   ：</a:t>
            </a:r>
            <a:r>
              <a:rPr lang="en-US" altLang="zh-CN" sz="1600" dirty="0">
                <a:latin typeface="微软雅黑" panose="020B0503020204020204" pitchFamily="34" charset="-122"/>
                <a:ea typeface="微软雅黑" panose="020B0503020204020204" pitchFamily="34" charset="-122"/>
              </a:rPr>
              <a:t>DS:[SI]-ES:[DI</a:t>
            </a:r>
            <a:r>
              <a:rPr lang="en-US" altLang="zh-CN" sz="1600" dirty="0" smtClean="0">
                <a:latin typeface="微软雅黑" panose="020B0503020204020204" pitchFamily="34" charset="-122"/>
                <a:ea typeface="微软雅黑" panose="020B0503020204020204" pitchFamily="34" charset="-122"/>
              </a:rPr>
              <a:t>],   SI</a:t>
            </a:r>
            <a:r>
              <a:rPr lang="en-US" altLang="zh-CN" sz="1600" dirty="0">
                <a:latin typeface="微软雅黑" panose="020B0503020204020204" pitchFamily="34" charset="-122"/>
                <a:ea typeface="微软雅黑" panose="020B0503020204020204" pitchFamily="34" charset="-122"/>
              </a:rPr>
              <a:t>←SI+/-2,DI←DI+/-2</a:t>
            </a:r>
            <a:br>
              <a:rPr lang="en-US" altLang="zh-CN" sz="1600" dirty="0">
                <a:latin typeface="微软雅黑" panose="020B0503020204020204" pitchFamily="34" charset="-122"/>
                <a:ea typeface="微软雅黑" panose="020B0503020204020204" pitchFamily="34" charset="-122"/>
              </a:rPr>
            </a:br>
            <a:r>
              <a:rPr lang="zh-CN" altLang="en-US" sz="1600" dirty="0">
                <a:latin typeface="微软雅黑" panose="020B0503020204020204" pitchFamily="34" charset="-122"/>
                <a:ea typeface="微软雅黑" panose="020B0503020204020204" pitchFamily="34" charset="-122"/>
              </a:rPr>
              <a:t>串</a:t>
            </a:r>
            <a:r>
              <a:rPr lang="zh-CN" altLang="en-US" sz="1600" dirty="0" smtClean="0">
                <a:latin typeface="微软雅黑" panose="020B0503020204020204" pitchFamily="34" charset="-122"/>
                <a:ea typeface="微软雅黑" panose="020B0503020204020204" pitchFamily="34" charset="-122"/>
              </a:rPr>
              <a:t>比较</a:t>
            </a:r>
            <a:r>
              <a:rPr lang="zh-CN" altLang="en-US" sz="1600" dirty="0">
                <a:latin typeface="微软雅黑" panose="020B0503020204020204" pitchFamily="34" charset="-122"/>
                <a:ea typeface="微软雅黑" panose="020B0503020204020204" pitchFamily="34" charset="-122"/>
              </a:rPr>
              <a:t>指令的功能是比较源串与目的串是否相同，并</a:t>
            </a:r>
            <a:r>
              <a:rPr lang="zh-CN" altLang="en-US" sz="1600" b="1" dirty="0">
                <a:latin typeface="微软雅黑" panose="020B0503020204020204" pitchFamily="34" charset="-122"/>
                <a:ea typeface="微软雅黑" panose="020B0503020204020204" pitchFamily="34" charset="-122"/>
              </a:rPr>
              <a:t>根据其减法结果设置标志位</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指令</a:t>
            </a:r>
            <a:r>
              <a:rPr lang="zh-CN" altLang="en-US" sz="1600" dirty="0">
                <a:latin typeface="微软雅黑" panose="020B0503020204020204" pitchFamily="34" charset="-122"/>
                <a:ea typeface="微软雅黑" panose="020B0503020204020204" pitchFamily="34" charset="-122"/>
              </a:rPr>
              <a:t>在每次比较后修改</a:t>
            </a:r>
            <a:r>
              <a:rPr lang="en-US" altLang="zh-CN" sz="1600" dirty="0">
                <a:latin typeface="微软雅黑" panose="020B0503020204020204" pitchFamily="34" charset="-122"/>
                <a:ea typeface="微软雅黑" panose="020B0503020204020204" pitchFamily="34" charset="-122"/>
              </a:rPr>
              <a:t>SI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DI</a:t>
            </a:r>
            <a:r>
              <a:rPr lang="zh-CN" altLang="en-US" sz="1600" dirty="0">
                <a:latin typeface="微软雅黑" panose="020B0503020204020204" pitchFamily="34" charset="-122"/>
                <a:ea typeface="微软雅黑" panose="020B0503020204020204" pitchFamily="34" charset="-122"/>
              </a:rPr>
              <a:t>寄存器的值，使之指向下一个元素。</a:t>
            </a:r>
            <a:endParaRPr lang="zh-CN" altLang="en-US" dirty="0"/>
          </a:p>
        </p:txBody>
      </p:sp>
    </p:spTree>
    <p:extLst>
      <p:ext uri="{BB962C8B-B14F-4D97-AF65-F5344CB8AC3E}">
        <p14:creationId xmlns:p14="http://schemas.microsoft.com/office/powerpoint/2010/main" val="1772823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FFF0621-E6FD-4AB0-A7E6-020522D83652}"/>
              </a:ext>
            </a:extLst>
          </p:cNvPr>
          <p:cNvSpPr/>
          <p:nvPr/>
        </p:nvSpPr>
        <p:spPr>
          <a:xfrm>
            <a:off x="1029639" y="522730"/>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7" name="矩形 3">
            <a:extLst>
              <a:ext uri="{FF2B5EF4-FFF2-40B4-BE49-F238E27FC236}">
                <a16:creationId xmlns:a16="http://schemas.microsoft.com/office/drawing/2014/main" id="{42C8FACD-5BB1-4AAF-888A-DCCC97CC2F37}"/>
              </a:ext>
            </a:extLst>
          </p:cNvPr>
          <p:cNvSpPr>
            <a:spLocks noChangeArrowheads="1"/>
          </p:cNvSpPr>
          <p:nvPr/>
        </p:nvSpPr>
        <p:spPr bwMode="auto">
          <a:xfrm>
            <a:off x="2479673" y="522730"/>
            <a:ext cx="5929313" cy="1631950"/>
          </a:xfrm>
          <a:prstGeom prst="rect">
            <a:avLst/>
          </a:prstGeom>
          <a:noFill/>
          <a:ln w="9525">
            <a:solidFill>
              <a:srgbClr val="820AFE"/>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dirty="0">
                <a:solidFill>
                  <a:srgbClr val="C00000"/>
                </a:solidFill>
              </a:rPr>
              <a:t>JE</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等于则跳转</a:t>
            </a:r>
            <a:r>
              <a:rPr lang="en-US" altLang="zh-CN" sz="2000" b="1" dirty="0">
                <a:solidFill>
                  <a:srgbClr val="00B050"/>
                </a:solidFill>
              </a:rPr>
              <a:t>	</a:t>
            </a:r>
            <a:r>
              <a:rPr lang="en-US" altLang="zh-CN" sz="2000" dirty="0">
                <a:solidFill>
                  <a:srgbClr val="000000"/>
                </a:solidFill>
              </a:rPr>
              <a:t>	</a:t>
            </a:r>
            <a:r>
              <a:rPr lang="en-US" altLang="zh-CN" sz="2000" b="1" dirty="0">
                <a:solidFill>
                  <a:srgbClr val="C00000"/>
                </a:solidFill>
              </a:rPr>
              <a:t>JNE</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不等于则跳转</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JZ</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为 </a:t>
            </a:r>
            <a:r>
              <a:rPr lang="en-US" altLang="zh-CN" sz="2000" dirty="0">
                <a:solidFill>
                  <a:srgbClr val="00B050"/>
                </a:solidFill>
              </a:rPr>
              <a:t>0 </a:t>
            </a:r>
            <a:r>
              <a:rPr lang="zh-CN" altLang="en-US" sz="2000" dirty="0">
                <a:solidFill>
                  <a:srgbClr val="00B050"/>
                </a:solidFill>
              </a:rPr>
              <a:t>则跳转</a:t>
            </a:r>
            <a:r>
              <a:rPr lang="en-US" altLang="zh-CN" sz="2000" dirty="0">
                <a:solidFill>
                  <a:srgbClr val="00B050"/>
                </a:solidFill>
              </a:rPr>
              <a:t>	</a:t>
            </a:r>
            <a:r>
              <a:rPr lang="zh-CN" altLang="en-US" sz="2000" dirty="0">
                <a:solidFill>
                  <a:srgbClr val="00B050"/>
                </a:solidFill>
              </a:rPr>
              <a:t> </a:t>
            </a:r>
            <a:r>
              <a:rPr lang="en-US" altLang="zh-CN" sz="2000" b="1" dirty="0">
                <a:solidFill>
                  <a:srgbClr val="C00000"/>
                </a:solidFill>
              </a:rPr>
              <a:t>	JNZ</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不为 </a:t>
            </a:r>
            <a:r>
              <a:rPr lang="en-US" altLang="zh-CN" sz="2000" dirty="0">
                <a:solidFill>
                  <a:srgbClr val="00B050"/>
                </a:solidFill>
              </a:rPr>
              <a:t>0 </a:t>
            </a:r>
            <a:r>
              <a:rPr lang="zh-CN" altLang="en-US" sz="2000" dirty="0">
                <a:solidFill>
                  <a:srgbClr val="00B050"/>
                </a:solidFill>
              </a:rPr>
              <a:t>则跳转</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JS</a:t>
            </a:r>
            <a:r>
              <a:rPr lang="zh-CN" altLang="en-US" sz="2000" dirty="0">
                <a:solidFill>
                  <a:srgbClr val="00B050"/>
                </a:solidFill>
              </a:rPr>
              <a:t> </a:t>
            </a:r>
            <a:r>
              <a:rPr lang="en-US" altLang="zh-CN" sz="2000" dirty="0">
                <a:solidFill>
                  <a:srgbClr val="00B050"/>
                </a:solidFill>
              </a:rPr>
              <a:t>;</a:t>
            </a:r>
            <a:r>
              <a:rPr lang="zh-CN" altLang="en-US" sz="2000" dirty="0">
                <a:solidFill>
                  <a:srgbClr val="00B050"/>
                </a:solidFill>
              </a:rPr>
              <a:t>为负则跳转 </a:t>
            </a:r>
            <a:r>
              <a:rPr lang="en-US" altLang="zh-CN" sz="2000" dirty="0">
                <a:solidFill>
                  <a:srgbClr val="000000"/>
                </a:solidFill>
              </a:rPr>
              <a:t>		</a:t>
            </a:r>
            <a:r>
              <a:rPr lang="en-US" altLang="zh-CN" sz="2000" b="1" dirty="0">
                <a:solidFill>
                  <a:srgbClr val="C00000"/>
                </a:solidFill>
              </a:rPr>
              <a:t>JNS</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不为负则跳转</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JC</a:t>
            </a:r>
            <a:r>
              <a:rPr lang="zh-CN" altLang="en-US" sz="2000" dirty="0">
                <a:solidFill>
                  <a:srgbClr val="00B050"/>
                </a:solidFill>
              </a:rPr>
              <a:t> </a:t>
            </a:r>
            <a:r>
              <a:rPr lang="en-US" altLang="zh-CN" sz="2000" dirty="0">
                <a:solidFill>
                  <a:srgbClr val="00B050"/>
                </a:solidFill>
              </a:rPr>
              <a:t>;</a:t>
            </a:r>
            <a:r>
              <a:rPr lang="zh-CN" altLang="en-US" sz="2000" dirty="0">
                <a:solidFill>
                  <a:srgbClr val="00B050"/>
                </a:solidFill>
              </a:rPr>
              <a:t>进位则跳转</a:t>
            </a:r>
            <a:r>
              <a:rPr lang="en-US" altLang="zh-CN" sz="2000" dirty="0">
                <a:solidFill>
                  <a:srgbClr val="00B050"/>
                </a:solidFill>
              </a:rPr>
              <a:t>	</a:t>
            </a:r>
            <a:r>
              <a:rPr lang="zh-CN" altLang="en-US" sz="2000" dirty="0">
                <a:solidFill>
                  <a:srgbClr val="00B050"/>
                </a:solidFill>
              </a:rPr>
              <a:t> </a:t>
            </a:r>
            <a:r>
              <a:rPr lang="en-US" altLang="zh-CN" sz="2000" dirty="0">
                <a:solidFill>
                  <a:srgbClr val="000000"/>
                </a:solidFill>
              </a:rPr>
              <a:t>	</a:t>
            </a:r>
            <a:r>
              <a:rPr lang="en-US" altLang="zh-CN" sz="2000" b="1" dirty="0">
                <a:solidFill>
                  <a:srgbClr val="C00000"/>
                </a:solidFill>
              </a:rPr>
              <a:t>JNC</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不进位则跳转</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JO</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溢出则跳转</a:t>
            </a:r>
            <a:r>
              <a:rPr lang="en-US" altLang="zh-CN" sz="2000" dirty="0">
                <a:solidFill>
                  <a:srgbClr val="00B050"/>
                </a:solidFill>
              </a:rPr>
              <a:t>	</a:t>
            </a:r>
            <a:r>
              <a:rPr lang="zh-CN" altLang="en-US" sz="2000" dirty="0">
                <a:solidFill>
                  <a:srgbClr val="00B050"/>
                </a:solidFill>
              </a:rPr>
              <a:t> </a:t>
            </a:r>
            <a:r>
              <a:rPr lang="en-US" altLang="zh-CN" sz="2000" dirty="0">
                <a:solidFill>
                  <a:srgbClr val="000000"/>
                </a:solidFill>
              </a:rPr>
              <a:t>	</a:t>
            </a:r>
            <a:r>
              <a:rPr lang="en-US" altLang="zh-CN" sz="2000" b="1" dirty="0">
                <a:solidFill>
                  <a:srgbClr val="C00000"/>
                </a:solidFill>
              </a:rPr>
              <a:t>JNO</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不溢出则跳转  </a:t>
            </a:r>
            <a:endParaRPr lang="zh-CN" altLang="en-US" sz="1800" dirty="0"/>
          </a:p>
        </p:txBody>
      </p:sp>
      <p:sp>
        <p:nvSpPr>
          <p:cNvPr id="8" name="矩形 6">
            <a:extLst>
              <a:ext uri="{FF2B5EF4-FFF2-40B4-BE49-F238E27FC236}">
                <a16:creationId xmlns:a16="http://schemas.microsoft.com/office/drawing/2014/main" id="{2B1C7AD2-BFDB-470D-9289-D7BFFA8D793A}"/>
              </a:ext>
            </a:extLst>
          </p:cNvPr>
          <p:cNvSpPr>
            <a:spLocks noChangeArrowheads="1"/>
          </p:cNvSpPr>
          <p:nvPr/>
        </p:nvSpPr>
        <p:spPr bwMode="auto">
          <a:xfrm>
            <a:off x="2479673" y="2345622"/>
            <a:ext cx="8143875" cy="40011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dirty="0">
                <a:solidFill>
                  <a:srgbClr val="C00000"/>
                </a:solidFill>
              </a:rPr>
              <a:t>JP</a:t>
            </a:r>
            <a:r>
              <a:rPr lang="zh-CN" altLang="en-US" sz="2000" b="1" dirty="0">
                <a:solidFill>
                  <a:srgbClr val="C00000"/>
                </a:solidFill>
              </a:rPr>
              <a:t> </a:t>
            </a:r>
            <a:r>
              <a:rPr lang="en-US" altLang="zh-CN" sz="2000" b="1" dirty="0">
                <a:solidFill>
                  <a:srgbClr val="C00000"/>
                </a:solidFill>
              </a:rPr>
              <a:t>/JPE;</a:t>
            </a:r>
            <a:r>
              <a:rPr lang="zh-CN" altLang="en-US" sz="2000" dirty="0">
                <a:solidFill>
                  <a:srgbClr val="00B050"/>
                </a:solidFill>
              </a:rPr>
              <a:t>奇偶位置位则跳转 </a:t>
            </a:r>
            <a:r>
              <a:rPr lang="en-US" altLang="zh-CN" sz="2000" dirty="0">
                <a:solidFill>
                  <a:srgbClr val="00B050"/>
                </a:solidFill>
              </a:rPr>
              <a:t>	</a:t>
            </a:r>
            <a:r>
              <a:rPr lang="en-US" altLang="zh-CN" sz="2000" b="1" dirty="0">
                <a:solidFill>
                  <a:srgbClr val="C00000"/>
                </a:solidFill>
              </a:rPr>
              <a:t>JNP</a:t>
            </a:r>
            <a:r>
              <a:rPr lang="zh-CN" altLang="en-US" sz="2000" b="1" dirty="0">
                <a:solidFill>
                  <a:srgbClr val="C00000"/>
                </a:solidFill>
              </a:rPr>
              <a:t> </a:t>
            </a:r>
            <a:r>
              <a:rPr lang="en-US" altLang="zh-CN" sz="2000" b="1" dirty="0">
                <a:solidFill>
                  <a:srgbClr val="C00000"/>
                </a:solidFill>
              </a:rPr>
              <a:t>/JP0;</a:t>
            </a:r>
            <a:r>
              <a:rPr lang="zh-CN" altLang="en-US" sz="2000" dirty="0">
                <a:solidFill>
                  <a:srgbClr val="00B050"/>
                </a:solidFill>
              </a:rPr>
              <a:t>奇偶位清除则跳转</a:t>
            </a:r>
          </a:p>
        </p:txBody>
      </p:sp>
      <p:sp>
        <p:nvSpPr>
          <p:cNvPr id="9" name="矩形 7">
            <a:extLst>
              <a:ext uri="{FF2B5EF4-FFF2-40B4-BE49-F238E27FC236}">
                <a16:creationId xmlns:a16="http://schemas.microsoft.com/office/drawing/2014/main" id="{2825D8CF-B46C-4B83-B6D7-8F4B6B50AC83}"/>
              </a:ext>
            </a:extLst>
          </p:cNvPr>
          <p:cNvSpPr>
            <a:spLocks noChangeArrowheads="1"/>
          </p:cNvSpPr>
          <p:nvPr/>
        </p:nvSpPr>
        <p:spPr bwMode="auto">
          <a:xfrm>
            <a:off x="2479673" y="2968364"/>
            <a:ext cx="8143875" cy="708025"/>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a:solidFill>
                  <a:srgbClr val="C00000"/>
                </a:solidFill>
              </a:rPr>
              <a:t>JA</a:t>
            </a:r>
            <a:r>
              <a:rPr lang="zh-CN" altLang="en-US" sz="2000">
                <a:solidFill>
                  <a:srgbClr val="C00000"/>
                </a:solidFill>
              </a:rPr>
              <a:t> </a:t>
            </a:r>
            <a:r>
              <a:rPr lang="en-US" altLang="zh-CN" sz="2000">
                <a:solidFill>
                  <a:srgbClr val="00B050"/>
                </a:solidFill>
              </a:rPr>
              <a:t>;</a:t>
            </a:r>
            <a:r>
              <a:rPr lang="zh-CN" altLang="en-US" sz="2000">
                <a:solidFill>
                  <a:srgbClr val="00B050"/>
                </a:solidFill>
              </a:rPr>
              <a:t>无符号大于则跳转 </a:t>
            </a:r>
            <a:r>
              <a:rPr lang="en-US" altLang="zh-CN" sz="2000">
                <a:solidFill>
                  <a:srgbClr val="000000"/>
                </a:solidFill>
              </a:rPr>
              <a:t>		</a:t>
            </a:r>
            <a:r>
              <a:rPr lang="en-US" altLang="zh-CN" sz="2000" b="1">
                <a:solidFill>
                  <a:srgbClr val="C00000"/>
                </a:solidFill>
              </a:rPr>
              <a:t>JNA</a:t>
            </a:r>
            <a:r>
              <a:rPr lang="zh-CN" altLang="en-US" sz="2000">
                <a:solidFill>
                  <a:srgbClr val="000000"/>
                </a:solidFill>
              </a:rPr>
              <a:t> </a:t>
            </a:r>
            <a:r>
              <a:rPr lang="en-US" altLang="zh-CN" sz="2000">
                <a:solidFill>
                  <a:srgbClr val="00B050"/>
                </a:solidFill>
              </a:rPr>
              <a:t>;</a:t>
            </a:r>
            <a:r>
              <a:rPr lang="zh-CN" altLang="en-US" sz="2000">
                <a:solidFill>
                  <a:srgbClr val="00B050"/>
                </a:solidFill>
              </a:rPr>
              <a:t>无符号不大于则跳转 </a:t>
            </a:r>
            <a:endParaRPr lang="en-US" altLang="zh-CN" sz="2000">
              <a:solidFill>
                <a:srgbClr val="00B050"/>
              </a:solidFill>
            </a:endParaRPr>
          </a:p>
          <a:p>
            <a:pPr eaLnBrk="1" hangingPunct="1">
              <a:spcBef>
                <a:spcPct val="0"/>
              </a:spcBef>
              <a:buClrTx/>
              <a:buSzTx/>
              <a:buFont typeface="Arial" panose="020B0604020202020204" pitchFamily="34" charset="0"/>
              <a:buNone/>
            </a:pPr>
            <a:r>
              <a:rPr lang="en-US" altLang="zh-CN" sz="2000" b="1">
                <a:solidFill>
                  <a:srgbClr val="C00000"/>
                </a:solidFill>
              </a:rPr>
              <a:t>JAE</a:t>
            </a:r>
            <a:r>
              <a:rPr lang="zh-CN" altLang="en-US" sz="2000">
                <a:solidFill>
                  <a:srgbClr val="000000"/>
                </a:solidFill>
              </a:rPr>
              <a:t> </a:t>
            </a:r>
            <a:r>
              <a:rPr lang="en-US" altLang="zh-CN" sz="2000">
                <a:solidFill>
                  <a:srgbClr val="00B050"/>
                </a:solidFill>
              </a:rPr>
              <a:t>;</a:t>
            </a:r>
            <a:r>
              <a:rPr lang="zh-CN" altLang="en-US" sz="2000">
                <a:solidFill>
                  <a:srgbClr val="00B050"/>
                </a:solidFill>
              </a:rPr>
              <a:t>无符号大于等于则跳转 </a:t>
            </a:r>
            <a:r>
              <a:rPr lang="en-US" altLang="zh-CN" sz="2000">
                <a:solidFill>
                  <a:srgbClr val="000000"/>
                </a:solidFill>
              </a:rPr>
              <a:t>	</a:t>
            </a:r>
            <a:r>
              <a:rPr lang="en-US" altLang="zh-CN" sz="2000" b="1">
                <a:solidFill>
                  <a:srgbClr val="C00000"/>
                </a:solidFill>
              </a:rPr>
              <a:t>JNAE</a:t>
            </a:r>
            <a:r>
              <a:rPr lang="zh-CN" altLang="en-US" sz="2000">
                <a:solidFill>
                  <a:srgbClr val="000000"/>
                </a:solidFill>
              </a:rPr>
              <a:t> </a:t>
            </a:r>
            <a:r>
              <a:rPr lang="en-US" altLang="zh-CN" sz="2000">
                <a:solidFill>
                  <a:srgbClr val="00B050"/>
                </a:solidFill>
              </a:rPr>
              <a:t>;</a:t>
            </a:r>
            <a:r>
              <a:rPr lang="zh-CN" altLang="en-US" sz="2000">
                <a:solidFill>
                  <a:srgbClr val="00B050"/>
                </a:solidFill>
              </a:rPr>
              <a:t>无符号不大于等于则跳转</a:t>
            </a:r>
            <a:endParaRPr lang="zh-CN" altLang="en-US" sz="1800"/>
          </a:p>
        </p:txBody>
      </p:sp>
      <p:sp>
        <p:nvSpPr>
          <p:cNvPr id="10" name="矩形 8">
            <a:extLst>
              <a:ext uri="{FF2B5EF4-FFF2-40B4-BE49-F238E27FC236}">
                <a16:creationId xmlns:a16="http://schemas.microsoft.com/office/drawing/2014/main" id="{E844BF13-D422-4A9D-8EDA-16B35CFE8497}"/>
              </a:ext>
            </a:extLst>
          </p:cNvPr>
          <p:cNvSpPr>
            <a:spLocks noChangeArrowheads="1"/>
          </p:cNvSpPr>
          <p:nvPr/>
        </p:nvSpPr>
        <p:spPr bwMode="auto">
          <a:xfrm>
            <a:off x="2479673" y="3867331"/>
            <a:ext cx="8143875" cy="708025"/>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dirty="0">
                <a:solidFill>
                  <a:srgbClr val="C00000"/>
                </a:solidFill>
              </a:rPr>
              <a:t>JG</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有符号大于则跳转</a:t>
            </a:r>
            <a:r>
              <a:rPr lang="zh-CN" altLang="en-US" sz="2000" dirty="0">
                <a:solidFill>
                  <a:srgbClr val="000000"/>
                </a:solidFill>
              </a:rPr>
              <a:t> </a:t>
            </a:r>
            <a:r>
              <a:rPr lang="en-US" altLang="zh-CN" sz="2000" dirty="0">
                <a:solidFill>
                  <a:srgbClr val="000000"/>
                </a:solidFill>
              </a:rPr>
              <a:t>		</a:t>
            </a:r>
            <a:r>
              <a:rPr lang="en-US" altLang="zh-CN" sz="2000" b="1" dirty="0">
                <a:solidFill>
                  <a:srgbClr val="C00000"/>
                </a:solidFill>
              </a:rPr>
              <a:t>JNG</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有符号不大于则跳转 </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JGE</a:t>
            </a:r>
            <a:r>
              <a:rPr lang="zh-CN" altLang="en-US" sz="2000" dirty="0">
                <a:solidFill>
                  <a:srgbClr val="000000"/>
                </a:solidFill>
              </a:rPr>
              <a:t> </a:t>
            </a:r>
            <a:r>
              <a:rPr lang="en-US" altLang="zh-CN" sz="2000" dirty="0">
                <a:solidFill>
                  <a:srgbClr val="00B050"/>
                </a:solidFill>
              </a:rPr>
              <a:t>;</a:t>
            </a:r>
            <a:r>
              <a:rPr lang="zh-CN" altLang="en-US" sz="2000" dirty="0">
                <a:solidFill>
                  <a:srgbClr val="00B050"/>
                </a:solidFill>
              </a:rPr>
              <a:t>有符号大于等于则跳转 </a:t>
            </a:r>
            <a:r>
              <a:rPr lang="en-US" altLang="zh-CN" sz="2000" dirty="0">
                <a:solidFill>
                  <a:srgbClr val="000000"/>
                </a:solidFill>
              </a:rPr>
              <a:t>	</a:t>
            </a:r>
            <a:r>
              <a:rPr lang="en-US" altLang="zh-CN" sz="2000" b="1" dirty="0">
                <a:solidFill>
                  <a:srgbClr val="C00000"/>
                </a:solidFill>
              </a:rPr>
              <a:t>JNGE</a:t>
            </a:r>
            <a:r>
              <a:rPr lang="zh-CN" altLang="en-US" sz="2000" b="1" dirty="0">
                <a:solidFill>
                  <a:srgbClr val="C00000"/>
                </a:solidFill>
              </a:rPr>
              <a:t> </a:t>
            </a:r>
            <a:r>
              <a:rPr lang="en-US" altLang="zh-CN" sz="2000" dirty="0">
                <a:solidFill>
                  <a:srgbClr val="00B050"/>
                </a:solidFill>
              </a:rPr>
              <a:t>;</a:t>
            </a:r>
            <a:r>
              <a:rPr lang="zh-CN" altLang="en-US" sz="2000" dirty="0">
                <a:solidFill>
                  <a:srgbClr val="00B050"/>
                </a:solidFill>
              </a:rPr>
              <a:t>有符号不大于等于则跳转 </a:t>
            </a:r>
            <a:endParaRPr lang="zh-CN" altLang="en-US" sz="1800" dirty="0"/>
          </a:p>
        </p:txBody>
      </p:sp>
      <p:sp>
        <p:nvSpPr>
          <p:cNvPr id="11" name="矩形 9">
            <a:extLst>
              <a:ext uri="{FF2B5EF4-FFF2-40B4-BE49-F238E27FC236}">
                <a16:creationId xmlns:a16="http://schemas.microsoft.com/office/drawing/2014/main" id="{26F01845-9A52-4481-AFBA-38E8E9CC0F2C}"/>
              </a:ext>
            </a:extLst>
          </p:cNvPr>
          <p:cNvSpPr>
            <a:spLocks noChangeArrowheads="1"/>
          </p:cNvSpPr>
          <p:nvPr/>
        </p:nvSpPr>
        <p:spPr bwMode="auto">
          <a:xfrm>
            <a:off x="2479673" y="4766298"/>
            <a:ext cx="8358188" cy="708025"/>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a:solidFill>
                  <a:srgbClr val="C00000"/>
                </a:solidFill>
              </a:rPr>
              <a:t>JB</a:t>
            </a:r>
            <a:r>
              <a:rPr lang="zh-CN" altLang="en-US" sz="1800">
                <a:solidFill>
                  <a:srgbClr val="000000"/>
                </a:solidFill>
              </a:rPr>
              <a:t> </a:t>
            </a:r>
            <a:r>
              <a:rPr lang="en-US" altLang="zh-CN" sz="2000">
                <a:solidFill>
                  <a:srgbClr val="00B050"/>
                </a:solidFill>
              </a:rPr>
              <a:t>;</a:t>
            </a:r>
            <a:r>
              <a:rPr lang="zh-CN" altLang="en-US" sz="2000">
                <a:solidFill>
                  <a:srgbClr val="00B050"/>
                </a:solidFill>
              </a:rPr>
              <a:t>无符号小于则跳转 </a:t>
            </a:r>
            <a:r>
              <a:rPr lang="en-US" altLang="zh-CN" sz="1800">
                <a:solidFill>
                  <a:srgbClr val="000000"/>
                </a:solidFill>
              </a:rPr>
              <a:t>		</a:t>
            </a:r>
            <a:r>
              <a:rPr lang="en-US" altLang="zh-CN" sz="2000" b="1">
                <a:solidFill>
                  <a:srgbClr val="C00000"/>
                </a:solidFill>
              </a:rPr>
              <a:t>JNB</a:t>
            </a:r>
            <a:r>
              <a:rPr lang="zh-CN" altLang="en-US" sz="2000" b="1">
                <a:solidFill>
                  <a:srgbClr val="C00000"/>
                </a:solidFill>
              </a:rPr>
              <a:t> </a:t>
            </a:r>
            <a:r>
              <a:rPr lang="en-US" altLang="zh-CN" sz="2000">
                <a:solidFill>
                  <a:srgbClr val="00B050"/>
                </a:solidFill>
              </a:rPr>
              <a:t>;</a:t>
            </a:r>
            <a:r>
              <a:rPr lang="zh-CN" altLang="en-US" sz="2000">
                <a:solidFill>
                  <a:srgbClr val="00B050"/>
                </a:solidFill>
              </a:rPr>
              <a:t>无符号不小于则跳转</a:t>
            </a:r>
            <a:endParaRPr lang="en-US" altLang="zh-CN" sz="2000">
              <a:solidFill>
                <a:srgbClr val="00B050"/>
              </a:solidFill>
            </a:endParaRPr>
          </a:p>
          <a:p>
            <a:pPr eaLnBrk="1" hangingPunct="1">
              <a:spcBef>
                <a:spcPct val="0"/>
              </a:spcBef>
              <a:buClrTx/>
              <a:buSzTx/>
              <a:buFont typeface="Arial" panose="020B0604020202020204" pitchFamily="34" charset="0"/>
              <a:buNone/>
            </a:pPr>
            <a:r>
              <a:rPr lang="en-US" altLang="zh-CN" sz="2000" b="1">
                <a:solidFill>
                  <a:srgbClr val="C00000"/>
                </a:solidFill>
              </a:rPr>
              <a:t>JBE</a:t>
            </a:r>
            <a:r>
              <a:rPr lang="zh-CN" altLang="en-US" sz="1800">
                <a:solidFill>
                  <a:srgbClr val="000000"/>
                </a:solidFill>
              </a:rPr>
              <a:t> </a:t>
            </a:r>
            <a:r>
              <a:rPr lang="en-US" altLang="zh-CN" sz="2000">
                <a:solidFill>
                  <a:srgbClr val="00B050"/>
                </a:solidFill>
              </a:rPr>
              <a:t>;</a:t>
            </a:r>
            <a:r>
              <a:rPr lang="zh-CN" altLang="en-US" sz="2000">
                <a:solidFill>
                  <a:srgbClr val="00B050"/>
                </a:solidFill>
              </a:rPr>
              <a:t>无符号小于等于则跳转 </a:t>
            </a:r>
            <a:r>
              <a:rPr lang="en-US" altLang="zh-CN" sz="1800">
                <a:solidFill>
                  <a:srgbClr val="000000"/>
                </a:solidFill>
              </a:rPr>
              <a:t>	</a:t>
            </a:r>
            <a:r>
              <a:rPr lang="en-US" altLang="zh-CN" sz="2000" b="1">
                <a:solidFill>
                  <a:srgbClr val="C00000"/>
                </a:solidFill>
              </a:rPr>
              <a:t>JNBE</a:t>
            </a:r>
            <a:r>
              <a:rPr lang="zh-CN" altLang="en-US" sz="1800">
                <a:solidFill>
                  <a:srgbClr val="000000"/>
                </a:solidFill>
              </a:rPr>
              <a:t> </a:t>
            </a:r>
            <a:r>
              <a:rPr lang="en-US" altLang="zh-CN" sz="2000">
                <a:solidFill>
                  <a:srgbClr val="00B050"/>
                </a:solidFill>
              </a:rPr>
              <a:t>;</a:t>
            </a:r>
            <a:r>
              <a:rPr lang="zh-CN" altLang="en-US" sz="2000">
                <a:solidFill>
                  <a:srgbClr val="00B050"/>
                </a:solidFill>
              </a:rPr>
              <a:t>无符号不小于等于则跳转 </a:t>
            </a:r>
            <a:endParaRPr lang="zh-CN" altLang="en-US" sz="1800"/>
          </a:p>
        </p:txBody>
      </p:sp>
      <p:sp>
        <p:nvSpPr>
          <p:cNvPr id="12" name="矩形 10">
            <a:extLst>
              <a:ext uri="{FF2B5EF4-FFF2-40B4-BE49-F238E27FC236}">
                <a16:creationId xmlns:a16="http://schemas.microsoft.com/office/drawing/2014/main" id="{4F384D7F-506E-4300-98C3-3E90D19A4BD9}"/>
              </a:ext>
            </a:extLst>
          </p:cNvPr>
          <p:cNvSpPr>
            <a:spLocks noChangeArrowheads="1"/>
          </p:cNvSpPr>
          <p:nvPr/>
        </p:nvSpPr>
        <p:spPr bwMode="auto">
          <a:xfrm>
            <a:off x="2479673" y="5665265"/>
            <a:ext cx="8358188" cy="7080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2000" b="1" dirty="0">
                <a:solidFill>
                  <a:srgbClr val="C00000"/>
                </a:solidFill>
              </a:rPr>
              <a:t>JL</a:t>
            </a:r>
            <a:r>
              <a:rPr lang="zh-CN" altLang="en-US" sz="1800" dirty="0">
                <a:solidFill>
                  <a:srgbClr val="000000"/>
                </a:solidFill>
              </a:rPr>
              <a:t> </a:t>
            </a:r>
            <a:r>
              <a:rPr lang="en-US" altLang="zh-CN" sz="2000" dirty="0">
                <a:solidFill>
                  <a:srgbClr val="00B050"/>
                </a:solidFill>
              </a:rPr>
              <a:t>;</a:t>
            </a:r>
            <a:r>
              <a:rPr lang="zh-CN" altLang="en-US" sz="2000" dirty="0">
                <a:solidFill>
                  <a:srgbClr val="00B050"/>
                </a:solidFill>
              </a:rPr>
              <a:t>有符号小于则跳转 </a:t>
            </a:r>
            <a:r>
              <a:rPr lang="en-US" altLang="zh-CN" sz="1800" dirty="0">
                <a:solidFill>
                  <a:srgbClr val="000000"/>
                </a:solidFill>
              </a:rPr>
              <a:t>		</a:t>
            </a:r>
            <a:r>
              <a:rPr lang="en-US" altLang="zh-CN" sz="2000" b="1" dirty="0">
                <a:solidFill>
                  <a:srgbClr val="C00000"/>
                </a:solidFill>
              </a:rPr>
              <a:t>JNL</a:t>
            </a:r>
            <a:r>
              <a:rPr lang="zh-CN" altLang="en-US" sz="2000" dirty="0">
                <a:solidFill>
                  <a:srgbClr val="00B050"/>
                </a:solidFill>
              </a:rPr>
              <a:t> </a:t>
            </a:r>
            <a:r>
              <a:rPr lang="en-US" altLang="zh-CN" sz="2000" dirty="0">
                <a:solidFill>
                  <a:srgbClr val="00B050"/>
                </a:solidFill>
              </a:rPr>
              <a:t>;</a:t>
            </a:r>
            <a:r>
              <a:rPr lang="zh-CN" altLang="en-US" sz="2000" dirty="0">
                <a:solidFill>
                  <a:srgbClr val="00B050"/>
                </a:solidFill>
              </a:rPr>
              <a:t>有符号不小于则跳转</a:t>
            </a:r>
            <a:endParaRPr lang="en-US" altLang="zh-CN" sz="2000" dirty="0">
              <a:solidFill>
                <a:srgbClr val="00B050"/>
              </a:solidFill>
            </a:endParaRPr>
          </a:p>
          <a:p>
            <a:pPr eaLnBrk="1" hangingPunct="1">
              <a:spcBef>
                <a:spcPct val="0"/>
              </a:spcBef>
              <a:buClrTx/>
              <a:buSzTx/>
              <a:buFont typeface="Arial" panose="020B0604020202020204" pitchFamily="34" charset="0"/>
              <a:buNone/>
            </a:pPr>
            <a:r>
              <a:rPr lang="en-US" altLang="zh-CN" sz="2000" b="1" dirty="0">
                <a:solidFill>
                  <a:srgbClr val="C00000"/>
                </a:solidFill>
              </a:rPr>
              <a:t>JLE</a:t>
            </a:r>
            <a:r>
              <a:rPr lang="zh-CN" altLang="en-US" sz="2000" dirty="0">
                <a:solidFill>
                  <a:srgbClr val="00B050"/>
                </a:solidFill>
              </a:rPr>
              <a:t> </a:t>
            </a:r>
            <a:r>
              <a:rPr lang="en-US" altLang="zh-CN" sz="2000" dirty="0">
                <a:solidFill>
                  <a:srgbClr val="00B050"/>
                </a:solidFill>
              </a:rPr>
              <a:t>;</a:t>
            </a:r>
            <a:r>
              <a:rPr lang="zh-CN" altLang="en-US" sz="2000" dirty="0">
                <a:solidFill>
                  <a:srgbClr val="00B050"/>
                </a:solidFill>
              </a:rPr>
              <a:t>有符号小于等于则跳转 </a:t>
            </a:r>
            <a:r>
              <a:rPr lang="en-US" altLang="zh-CN" sz="1800" dirty="0">
                <a:solidFill>
                  <a:srgbClr val="000000"/>
                </a:solidFill>
              </a:rPr>
              <a:t>	</a:t>
            </a:r>
            <a:r>
              <a:rPr lang="en-US" altLang="zh-CN" sz="2000" b="1" dirty="0">
                <a:solidFill>
                  <a:srgbClr val="C00000"/>
                </a:solidFill>
              </a:rPr>
              <a:t>JNLE</a:t>
            </a:r>
            <a:r>
              <a:rPr lang="zh-CN" altLang="en-US" sz="1800" dirty="0">
                <a:solidFill>
                  <a:srgbClr val="000000"/>
                </a:solidFill>
              </a:rPr>
              <a:t> </a:t>
            </a:r>
            <a:r>
              <a:rPr lang="en-US" altLang="zh-CN" sz="2000" dirty="0">
                <a:solidFill>
                  <a:srgbClr val="00B050"/>
                </a:solidFill>
              </a:rPr>
              <a:t>;</a:t>
            </a:r>
            <a:r>
              <a:rPr lang="zh-CN" altLang="en-US" sz="2000" dirty="0">
                <a:solidFill>
                  <a:srgbClr val="00B050"/>
                </a:solidFill>
              </a:rPr>
              <a:t>有符号不小于等于则跳转 </a:t>
            </a:r>
            <a:endParaRPr lang="zh-CN" altLang="en-US" sz="1800" dirty="0"/>
          </a:p>
        </p:txBody>
      </p:sp>
    </p:spTree>
    <p:extLst>
      <p:ext uri="{BB962C8B-B14F-4D97-AF65-F5344CB8AC3E}">
        <p14:creationId xmlns:p14="http://schemas.microsoft.com/office/powerpoint/2010/main" val="787707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3.34</a:t>
            </a:r>
            <a:endParaRPr lang="zh-CN" altLang="en-US" sz="2000" b="1" dirty="0">
              <a:solidFill>
                <a:srgbClr val="0070C0"/>
              </a:solidFill>
            </a:endParaRPr>
          </a:p>
        </p:txBody>
      </p:sp>
      <p:sp>
        <p:nvSpPr>
          <p:cNvPr id="13" name="矩形 12"/>
          <p:cNvSpPr/>
          <p:nvPr/>
        </p:nvSpPr>
        <p:spPr>
          <a:xfrm>
            <a:off x="900332" y="4300340"/>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4" name="图片 3">
            <a:extLst>
              <a:ext uri="{FF2B5EF4-FFF2-40B4-BE49-F238E27FC236}">
                <a16:creationId xmlns:a16="http://schemas.microsoft.com/office/drawing/2014/main" id="{0FF5ACF8-4A41-4E5A-BFC4-76F0542F6047}"/>
              </a:ext>
            </a:extLst>
          </p:cNvPr>
          <p:cNvPicPr>
            <a:picLocks noChangeAspect="1"/>
          </p:cNvPicPr>
          <p:nvPr/>
        </p:nvPicPr>
        <p:blipFill>
          <a:blip r:embed="rId3"/>
          <a:stretch>
            <a:fillRect/>
          </a:stretch>
        </p:blipFill>
        <p:spPr>
          <a:xfrm>
            <a:off x="2442524" y="619391"/>
            <a:ext cx="4538568" cy="3364253"/>
          </a:xfrm>
          <a:prstGeom prst="rect">
            <a:avLst/>
          </a:prstGeom>
        </p:spPr>
      </p:pic>
      <p:pic>
        <p:nvPicPr>
          <p:cNvPr id="5" name="图片 4">
            <a:extLst>
              <a:ext uri="{FF2B5EF4-FFF2-40B4-BE49-F238E27FC236}">
                <a16:creationId xmlns:a16="http://schemas.microsoft.com/office/drawing/2014/main" id="{FEFDA2FC-96DF-4B3B-A27C-8356B5A6DD31}"/>
              </a:ext>
            </a:extLst>
          </p:cNvPr>
          <p:cNvPicPr>
            <a:picLocks noChangeAspect="1"/>
          </p:cNvPicPr>
          <p:nvPr/>
        </p:nvPicPr>
        <p:blipFill>
          <a:blip r:embed="rId4"/>
          <a:stretch>
            <a:fillRect/>
          </a:stretch>
        </p:blipFill>
        <p:spPr>
          <a:xfrm>
            <a:off x="2394091" y="4300340"/>
            <a:ext cx="5514664" cy="1309153"/>
          </a:xfrm>
          <a:prstGeom prst="rect">
            <a:avLst/>
          </a:prstGeom>
        </p:spPr>
      </p:pic>
      <p:sp>
        <p:nvSpPr>
          <p:cNvPr id="3" name="矩形 2">
            <a:extLst>
              <a:ext uri="{FF2B5EF4-FFF2-40B4-BE49-F238E27FC236}">
                <a16:creationId xmlns:a16="http://schemas.microsoft.com/office/drawing/2014/main" id="{B69C8058-A9D1-468B-A6C5-AC130B2DC0B6}"/>
              </a:ext>
            </a:extLst>
          </p:cNvPr>
          <p:cNvSpPr/>
          <p:nvPr/>
        </p:nvSpPr>
        <p:spPr>
          <a:xfrm>
            <a:off x="8307606" y="1095201"/>
            <a:ext cx="2601994" cy="646331"/>
          </a:xfrm>
          <a:prstGeom prst="rect">
            <a:avLst/>
          </a:prstGeom>
        </p:spPr>
        <p:txBody>
          <a:bodyPr wrap="none">
            <a:spAutoFit/>
          </a:bodyPr>
          <a:lstStyle/>
          <a:p>
            <a:r>
              <a:rPr lang="en-US" altLang="zh-CN" b="1" dirty="0"/>
              <a:t>JNO</a:t>
            </a:r>
            <a:r>
              <a:rPr lang="zh-CN" altLang="en-US" b="1" dirty="0"/>
              <a:t>  </a:t>
            </a:r>
            <a:r>
              <a:rPr lang="en-US" altLang="zh-CN" dirty="0"/>
              <a:t>;</a:t>
            </a:r>
            <a:r>
              <a:rPr lang="zh-CN" altLang="en-US" dirty="0"/>
              <a:t>不溢出则跳转  </a:t>
            </a:r>
            <a:r>
              <a:rPr lang="en-US" altLang="zh-CN" dirty="0"/>
              <a:t>OF</a:t>
            </a:r>
          </a:p>
          <a:p>
            <a:r>
              <a:rPr lang="en-US" altLang="zh-CN" b="1" dirty="0"/>
              <a:t>JNC</a:t>
            </a:r>
            <a:r>
              <a:rPr lang="zh-CN" altLang="en-US" dirty="0"/>
              <a:t>   </a:t>
            </a:r>
            <a:r>
              <a:rPr lang="en-US" altLang="zh-CN" dirty="0"/>
              <a:t>;</a:t>
            </a:r>
            <a:r>
              <a:rPr lang="zh-CN" altLang="en-US" dirty="0"/>
              <a:t>不进位则跳转  </a:t>
            </a:r>
            <a:r>
              <a:rPr lang="en-US" altLang="zh-CN" dirty="0"/>
              <a:t>CF</a:t>
            </a:r>
            <a:endParaRPr lang="zh-CN" altLang="en-US" dirty="0"/>
          </a:p>
        </p:txBody>
      </p:sp>
      <p:sp>
        <p:nvSpPr>
          <p:cNvPr id="7" name="Rectangle 1">
            <a:extLst>
              <a:ext uri="{FF2B5EF4-FFF2-40B4-BE49-F238E27FC236}">
                <a16:creationId xmlns:a16="http://schemas.microsoft.com/office/drawing/2014/main" id="{43C83A65-EA67-4F73-ABFA-DF27C4CC8BBF}"/>
              </a:ext>
            </a:extLst>
          </p:cNvPr>
          <p:cNvSpPr>
            <a:spLocks noChangeArrowheads="1"/>
          </p:cNvSpPr>
          <p:nvPr/>
        </p:nvSpPr>
        <p:spPr bwMode="auto">
          <a:xfrm>
            <a:off x="8391857" y="1856011"/>
            <a:ext cx="3112478" cy="18517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加法：</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正加正，得到负，就是溢出。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负加负，得到正，也是溢出。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减法：</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正减负，得到负，就是溢出。</a:t>
            </a:r>
            <a:b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br>
            <a:r>
              <a:rPr kumimoji="0" lang="zh-CN" altLang="zh-CN" sz="1600" b="0" i="0" u="none" strike="noStrike" cap="none" normalizeH="0" baseline="0" dirty="0">
                <a:ln>
                  <a:noFill/>
                </a:ln>
                <a:solidFill>
                  <a:srgbClr val="333333"/>
                </a:solidFill>
                <a:effectLst/>
                <a:latin typeface="Arial Unicode MS" panose="020B0604020202020204" pitchFamily="34" charset="-122"/>
                <a:ea typeface="PingFang SC"/>
              </a:rPr>
              <a:t>负减正，得到正，也是溢出。</a:t>
            </a:r>
            <a:r>
              <a:rPr kumimoji="0" lang="zh-CN" altLang="zh-CN" sz="1600" b="0" i="0" u="none" strike="noStrike" cap="none" normalizeH="0" baseline="0" dirty="0">
                <a:ln>
                  <a:noFill/>
                </a:ln>
                <a:solidFill>
                  <a:schemeClr val="tx1"/>
                </a:solidFill>
                <a:effectLst/>
              </a:rPr>
              <a:t> </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96338E6B-F3D8-4639-BDE2-4D1D473F6A98}"/>
              </a:ext>
            </a:extLst>
          </p:cNvPr>
          <p:cNvSpPr txBox="1"/>
          <p:nvPr/>
        </p:nvSpPr>
        <p:spPr>
          <a:xfrm>
            <a:off x="4711808" y="2679338"/>
            <a:ext cx="879231" cy="1092607"/>
          </a:xfrm>
          <a:prstGeom prst="rect">
            <a:avLst/>
          </a:prstGeom>
          <a:noFill/>
        </p:spPr>
        <p:txBody>
          <a:bodyPr wrap="square" rtlCol="0">
            <a:spAutoFit/>
          </a:bodyPr>
          <a:lstStyle/>
          <a:p>
            <a:r>
              <a:rPr lang="en-US" altLang="zh-CN" sz="1300" dirty="0"/>
              <a:t>9557H</a:t>
            </a:r>
          </a:p>
          <a:p>
            <a:r>
              <a:rPr lang="en-US" altLang="zh-CN" sz="1300" dirty="0"/>
              <a:t>F830H</a:t>
            </a:r>
          </a:p>
          <a:p>
            <a:r>
              <a:rPr lang="en-US" altLang="zh-CN" sz="1300" dirty="0"/>
              <a:t>A355H</a:t>
            </a:r>
          </a:p>
          <a:p>
            <a:r>
              <a:rPr lang="en-US" altLang="zh-CN" sz="1300" dirty="0"/>
              <a:t>16FF3H</a:t>
            </a:r>
          </a:p>
          <a:p>
            <a:r>
              <a:rPr lang="en-US" altLang="zh-CN" sz="1300" dirty="0"/>
              <a:t>14A1FH</a:t>
            </a:r>
            <a:endParaRPr lang="zh-CN" altLang="en-US" sz="1300" dirty="0"/>
          </a:p>
        </p:txBody>
      </p:sp>
      <p:sp>
        <p:nvSpPr>
          <p:cNvPr id="8" name="文本框 7">
            <a:extLst>
              <a:ext uri="{FF2B5EF4-FFF2-40B4-BE49-F238E27FC236}">
                <a16:creationId xmlns:a16="http://schemas.microsoft.com/office/drawing/2014/main" id="{70AC6F96-28A7-4B84-BB1B-16BFD2D900F6}"/>
              </a:ext>
            </a:extLst>
          </p:cNvPr>
          <p:cNvSpPr txBox="1"/>
          <p:nvPr/>
        </p:nvSpPr>
        <p:spPr>
          <a:xfrm>
            <a:off x="5617417" y="3279502"/>
            <a:ext cx="994400" cy="492443"/>
          </a:xfrm>
          <a:prstGeom prst="rect">
            <a:avLst/>
          </a:prstGeom>
          <a:noFill/>
        </p:spPr>
        <p:txBody>
          <a:bodyPr wrap="square" rtlCol="0">
            <a:spAutoFit/>
          </a:bodyPr>
          <a:lstStyle/>
          <a:p>
            <a:r>
              <a:rPr lang="en-US" altLang="zh-CN" sz="1300" dirty="0"/>
              <a:t>D023H</a:t>
            </a:r>
          </a:p>
          <a:p>
            <a:r>
              <a:rPr lang="en-US" altLang="zh-CN" sz="1300" dirty="0"/>
              <a:t>94B7H</a:t>
            </a:r>
            <a:endParaRPr lang="zh-CN" altLang="en-US" sz="1300" dirty="0"/>
          </a:p>
        </p:txBody>
      </p:sp>
    </p:spTree>
    <p:extLst>
      <p:ext uri="{BB962C8B-B14F-4D97-AF65-F5344CB8AC3E}">
        <p14:creationId xmlns:p14="http://schemas.microsoft.com/office/powerpoint/2010/main" val="2083461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383226"/>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3.35</a:t>
            </a:r>
            <a:endParaRPr lang="zh-CN" altLang="en-US" sz="2000" b="1" dirty="0">
              <a:solidFill>
                <a:srgbClr val="0070C0"/>
              </a:solidFill>
            </a:endParaRPr>
          </a:p>
        </p:txBody>
      </p:sp>
      <p:sp>
        <p:nvSpPr>
          <p:cNvPr id="13" name="矩形 12"/>
          <p:cNvSpPr/>
          <p:nvPr/>
        </p:nvSpPr>
        <p:spPr>
          <a:xfrm>
            <a:off x="900332" y="3104674"/>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a:extLst>
              <a:ext uri="{FF2B5EF4-FFF2-40B4-BE49-F238E27FC236}">
                <a16:creationId xmlns:a16="http://schemas.microsoft.com/office/drawing/2014/main" id="{AAD251B4-43B1-4F97-8440-9487D67CF2DB}"/>
              </a:ext>
            </a:extLst>
          </p:cNvPr>
          <p:cNvPicPr>
            <a:picLocks noChangeAspect="1"/>
          </p:cNvPicPr>
          <p:nvPr/>
        </p:nvPicPr>
        <p:blipFill>
          <a:blip r:embed="rId2"/>
          <a:stretch>
            <a:fillRect/>
          </a:stretch>
        </p:blipFill>
        <p:spPr>
          <a:xfrm>
            <a:off x="2442523" y="383226"/>
            <a:ext cx="7758345" cy="2611398"/>
          </a:xfrm>
          <a:prstGeom prst="rect">
            <a:avLst/>
          </a:prstGeom>
        </p:spPr>
      </p:pic>
      <p:pic>
        <p:nvPicPr>
          <p:cNvPr id="6" name="图片 5">
            <a:extLst>
              <a:ext uri="{FF2B5EF4-FFF2-40B4-BE49-F238E27FC236}">
                <a16:creationId xmlns:a16="http://schemas.microsoft.com/office/drawing/2014/main" id="{318CE30B-56AB-45F5-A878-9872D94DA0EC}"/>
              </a:ext>
            </a:extLst>
          </p:cNvPr>
          <p:cNvPicPr>
            <a:picLocks noChangeAspect="1"/>
          </p:cNvPicPr>
          <p:nvPr/>
        </p:nvPicPr>
        <p:blipFill>
          <a:blip r:embed="rId3"/>
          <a:stretch>
            <a:fillRect/>
          </a:stretch>
        </p:blipFill>
        <p:spPr>
          <a:xfrm>
            <a:off x="2442523" y="3104674"/>
            <a:ext cx="2727454" cy="1924615"/>
          </a:xfrm>
          <a:prstGeom prst="rect">
            <a:avLst/>
          </a:prstGeom>
        </p:spPr>
      </p:pic>
      <p:sp>
        <p:nvSpPr>
          <p:cNvPr id="7" name="矩形 9">
            <a:extLst>
              <a:ext uri="{FF2B5EF4-FFF2-40B4-BE49-F238E27FC236}">
                <a16:creationId xmlns:a16="http://schemas.microsoft.com/office/drawing/2014/main" id="{76A37A62-D981-4A5B-A35A-80AA3B9F9B70}"/>
              </a:ext>
            </a:extLst>
          </p:cNvPr>
          <p:cNvSpPr>
            <a:spLocks noChangeArrowheads="1"/>
          </p:cNvSpPr>
          <p:nvPr/>
        </p:nvSpPr>
        <p:spPr bwMode="auto">
          <a:xfrm>
            <a:off x="2442523" y="5139339"/>
            <a:ext cx="8358188" cy="646331"/>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1800" b="1" dirty="0"/>
              <a:t>JB</a:t>
            </a:r>
            <a:r>
              <a:rPr lang="zh-CN" altLang="en-US" sz="1800" dirty="0"/>
              <a:t> </a:t>
            </a:r>
            <a:r>
              <a:rPr lang="en-US" altLang="zh-CN" sz="1800" dirty="0"/>
              <a:t>;</a:t>
            </a:r>
            <a:r>
              <a:rPr lang="zh-CN" altLang="en-US" sz="1800" dirty="0"/>
              <a:t>无符号小于则跳转 </a:t>
            </a:r>
            <a:r>
              <a:rPr lang="en-US" altLang="zh-CN" sz="1800" dirty="0"/>
              <a:t>		</a:t>
            </a:r>
            <a:r>
              <a:rPr lang="en-US" altLang="zh-CN" sz="1800" b="1" dirty="0"/>
              <a:t>JNB</a:t>
            </a:r>
            <a:r>
              <a:rPr lang="zh-CN" altLang="en-US" sz="1800" b="1" dirty="0"/>
              <a:t> </a:t>
            </a:r>
            <a:r>
              <a:rPr lang="en-US" altLang="zh-CN" sz="1800" dirty="0"/>
              <a:t>;</a:t>
            </a:r>
            <a:r>
              <a:rPr lang="zh-CN" altLang="en-US" sz="1800" dirty="0"/>
              <a:t>无符号不小于则跳转</a:t>
            </a:r>
            <a:endParaRPr lang="en-US" altLang="zh-CN" sz="1800" dirty="0"/>
          </a:p>
          <a:p>
            <a:pPr eaLnBrk="1" hangingPunct="1">
              <a:spcBef>
                <a:spcPct val="0"/>
              </a:spcBef>
              <a:buClrTx/>
              <a:buSzTx/>
              <a:buFont typeface="Arial" panose="020B0604020202020204" pitchFamily="34" charset="0"/>
              <a:buNone/>
            </a:pPr>
            <a:r>
              <a:rPr lang="en-US" altLang="zh-CN" sz="1800" b="1" dirty="0"/>
              <a:t>JBE</a:t>
            </a:r>
            <a:r>
              <a:rPr lang="zh-CN" altLang="en-US" sz="1800" dirty="0"/>
              <a:t> </a:t>
            </a:r>
            <a:r>
              <a:rPr lang="en-US" altLang="zh-CN" sz="1800" dirty="0"/>
              <a:t>;</a:t>
            </a:r>
            <a:r>
              <a:rPr lang="zh-CN" altLang="en-US" sz="1800" dirty="0"/>
              <a:t>无符号小于等于则跳转 </a:t>
            </a:r>
            <a:r>
              <a:rPr lang="en-US" altLang="zh-CN" sz="1800" dirty="0"/>
              <a:t>	</a:t>
            </a:r>
            <a:r>
              <a:rPr lang="en-US" altLang="zh-CN" sz="1800" b="1" dirty="0"/>
              <a:t>JNBE</a:t>
            </a:r>
            <a:r>
              <a:rPr lang="zh-CN" altLang="en-US" sz="1800" dirty="0"/>
              <a:t> </a:t>
            </a:r>
            <a:r>
              <a:rPr lang="en-US" altLang="zh-CN" sz="1800" dirty="0"/>
              <a:t>;</a:t>
            </a:r>
            <a:r>
              <a:rPr lang="zh-CN" altLang="en-US" sz="1800" dirty="0"/>
              <a:t>无符号不小于等于则跳转 </a:t>
            </a:r>
          </a:p>
        </p:txBody>
      </p:sp>
      <p:sp>
        <p:nvSpPr>
          <p:cNvPr id="8" name="矩形 10">
            <a:extLst>
              <a:ext uri="{FF2B5EF4-FFF2-40B4-BE49-F238E27FC236}">
                <a16:creationId xmlns:a16="http://schemas.microsoft.com/office/drawing/2014/main" id="{B317442E-2B8C-4159-A635-A4920D3531AD}"/>
              </a:ext>
            </a:extLst>
          </p:cNvPr>
          <p:cNvSpPr>
            <a:spLocks noChangeArrowheads="1"/>
          </p:cNvSpPr>
          <p:nvPr/>
        </p:nvSpPr>
        <p:spPr bwMode="auto">
          <a:xfrm>
            <a:off x="2442523" y="5982888"/>
            <a:ext cx="8358188"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spcBef>
                <a:spcPct val="0"/>
              </a:spcBef>
              <a:buClrTx/>
              <a:buSzTx/>
              <a:buFont typeface="Arial" panose="020B0604020202020204" pitchFamily="34" charset="0"/>
              <a:buNone/>
            </a:pPr>
            <a:r>
              <a:rPr lang="en-US" altLang="zh-CN" sz="1800" b="1" dirty="0"/>
              <a:t>JL</a:t>
            </a:r>
            <a:r>
              <a:rPr lang="zh-CN" altLang="en-US" sz="1800" dirty="0"/>
              <a:t> </a:t>
            </a:r>
            <a:r>
              <a:rPr lang="en-US" altLang="zh-CN" sz="1800" dirty="0"/>
              <a:t>;</a:t>
            </a:r>
            <a:r>
              <a:rPr lang="zh-CN" altLang="en-US" sz="1800" dirty="0"/>
              <a:t>有符号小于则跳转 </a:t>
            </a:r>
            <a:r>
              <a:rPr lang="en-US" altLang="zh-CN" sz="1800" dirty="0"/>
              <a:t>		</a:t>
            </a:r>
            <a:r>
              <a:rPr lang="en-US" altLang="zh-CN" sz="1800" b="1" dirty="0"/>
              <a:t>JNL</a:t>
            </a:r>
            <a:r>
              <a:rPr lang="zh-CN" altLang="en-US" sz="1800" dirty="0"/>
              <a:t> </a:t>
            </a:r>
            <a:r>
              <a:rPr lang="en-US" altLang="zh-CN" sz="1800" dirty="0"/>
              <a:t>;</a:t>
            </a:r>
            <a:r>
              <a:rPr lang="zh-CN" altLang="en-US" sz="1800" dirty="0"/>
              <a:t>有符号不小于则跳转</a:t>
            </a:r>
            <a:endParaRPr lang="en-US" altLang="zh-CN" sz="1800" dirty="0"/>
          </a:p>
          <a:p>
            <a:pPr eaLnBrk="1" hangingPunct="1">
              <a:spcBef>
                <a:spcPct val="0"/>
              </a:spcBef>
              <a:buClrTx/>
              <a:buSzTx/>
              <a:buFont typeface="Arial" panose="020B0604020202020204" pitchFamily="34" charset="0"/>
              <a:buNone/>
            </a:pPr>
            <a:r>
              <a:rPr lang="en-US" altLang="zh-CN" sz="1800" b="1" dirty="0"/>
              <a:t>JLE</a:t>
            </a:r>
            <a:r>
              <a:rPr lang="zh-CN" altLang="en-US" sz="1800" dirty="0"/>
              <a:t> </a:t>
            </a:r>
            <a:r>
              <a:rPr lang="en-US" altLang="zh-CN" sz="1800" dirty="0"/>
              <a:t>;</a:t>
            </a:r>
            <a:r>
              <a:rPr lang="zh-CN" altLang="en-US" sz="1800" dirty="0"/>
              <a:t>有符号小于等于则跳转 </a:t>
            </a:r>
            <a:r>
              <a:rPr lang="en-US" altLang="zh-CN" sz="1800" dirty="0"/>
              <a:t>	</a:t>
            </a:r>
            <a:r>
              <a:rPr lang="en-US" altLang="zh-CN" sz="1800" b="1" dirty="0"/>
              <a:t>JNLE</a:t>
            </a:r>
            <a:r>
              <a:rPr lang="zh-CN" altLang="en-US" sz="1800" dirty="0"/>
              <a:t> </a:t>
            </a:r>
            <a:r>
              <a:rPr lang="en-US" altLang="zh-CN" sz="1800" dirty="0"/>
              <a:t>;</a:t>
            </a:r>
            <a:r>
              <a:rPr lang="zh-CN" altLang="en-US" sz="1800" dirty="0"/>
              <a:t>有符号不小于等于则跳转 </a:t>
            </a:r>
          </a:p>
        </p:txBody>
      </p:sp>
      <p:sp>
        <p:nvSpPr>
          <p:cNvPr id="9" name="矩形 8">
            <a:extLst>
              <a:ext uri="{FF2B5EF4-FFF2-40B4-BE49-F238E27FC236}">
                <a16:creationId xmlns:a16="http://schemas.microsoft.com/office/drawing/2014/main" id="{FA60A517-AA34-482F-A4B4-EDE1D447643D}"/>
              </a:ext>
            </a:extLst>
          </p:cNvPr>
          <p:cNvSpPr/>
          <p:nvPr/>
        </p:nvSpPr>
        <p:spPr>
          <a:xfrm>
            <a:off x="900332" y="5139339"/>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Tree>
    <p:extLst>
      <p:ext uri="{BB962C8B-B14F-4D97-AF65-F5344CB8AC3E}">
        <p14:creationId xmlns:p14="http://schemas.microsoft.com/office/powerpoint/2010/main" val="774794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a:solidFill>
                  <a:srgbClr val="0070C0"/>
                </a:solidFill>
              </a:rPr>
              <a:t>3.36</a:t>
            </a:r>
            <a:endParaRPr lang="zh-CN" altLang="en-US" sz="2000" b="1" dirty="0">
              <a:solidFill>
                <a:srgbClr val="0070C0"/>
              </a:solidFill>
            </a:endParaRPr>
          </a:p>
        </p:txBody>
      </p:sp>
      <p:sp>
        <p:nvSpPr>
          <p:cNvPr id="13" name="矩形 12"/>
          <p:cNvSpPr/>
          <p:nvPr/>
        </p:nvSpPr>
        <p:spPr>
          <a:xfrm>
            <a:off x="900332" y="4194833"/>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4" name="图片 3">
            <a:extLst>
              <a:ext uri="{FF2B5EF4-FFF2-40B4-BE49-F238E27FC236}">
                <a16:creationId xmlns:a16="http://schemas.microsoft.com/office/drawing/2014/main" id="{9C62105E-88BE-4323-9420-6D8005461D28}"/>
              </a:ext>
            </a:extLst>
          </p:cNvPr>
          <p:cNvPicPr>
            <a:picLocks noChangeAspect="1"/>
          </p:cNvPicPr>
          <p:nvPr/>
        </p:nvPicPr>
        <p:blipFill>
          <a:blip r:embed="rId3"/>
          <a:stretch>
            <a:fillRect/>
          </a:stretch>
        </p:blipFill>
        <p:spPr>
          <a:xfrm>
            <a:off x="2362997" y="659340"/>
            <a:ext cx="7920192" cy="3341160"/>
          </a:xfrm>
          <a:prstGeom prst="rect">
            <a:avLst/>
          </a:prstGeom>
        </p:spPr>
      </p:pic>
      <p:pic>
        <p:nvPicPr>
          <p:cNvPr id="5" name="图片 4">
            <a:extLst>
              <a:ext uri="{FF2B5EF4-FFF2-40B4-BE49-F238E27FC236}">
                <a16:creationId xmlns:a16="http://schemas.microsoft.com/office/drawing/2014/main" id="{62AD99FA-B878-4EA5-ADAC-69BA164610D2}"/>
              </a:ext>
            </a:extLst>
          </p:cNvPr>
          <p:cNvPicPr>
            <a:picLocks noChangeAspect="1"/>
          </p:cNvPicPr>
          <p:nvPr/>
        </p:nvPicPr>
        <p:blipFill>
          <a:blip r:embed="rId4"/>
          <a:stretch>
            <a:fillRect/>
          </a:stretch>
        </p:blipFill>
        <p:spPr>
          <a:xfrm>
            <a:off x="2362997" y="4284192"/>
            <a:ext cx="6824965" cy="329650"/>
          </a:xfrm>
          <a:prstGeom prst="rect">
            <a:avLst/>
          </a:prstGeom>
        </p:spPr>
      </p:pic>
      <p:sp>
        <p:nvSpPr>
          <p:cNvPr id="3" name="矩形 2">
            <a:extLst>
              <a:ext uri="{FF2B5EF4-FFF2-40B4-BE49-F238E27FC236}">
                <a16:creationId xmlns:a16="http://schemas.microsoft.com/office/drawing/2014/main" id="{44408C9F-8A5B-4157-A9A1-3782D9442EFB}"/>
              </a:ext>
            </a:extLst>
          </p:cNvPr>
          <p:cNvSpPr/>
          <p:nvPr/>
        </p:nvSpPr>
        <p:spPr>
          <a:xfrm>
            <a:off x="2407832" y="5328327"/>
            <a:ext cx="2185214" cy="338554"/>
          </a:xfrm>
          <a:prstGeom prst="rect">
            <a:avLst/>
          </a:prstGeom>
        </p:spPr>
        <p:txBody>
          <a:bodyPr wrap="none">
            <a:spAutoFit/>
          </a:bodyPr>
          <a:lstStyle/>
          <a:p>
            <a:r>
              <a:rPr lang="en-US" altLang="zh-CN" sz="1600" dirty="0">
                <a:latin typeface="微软雅黑" panose="020B0503020204020204" pitchFamily="34" charset="-122"/>
                <a:ea typeface="微软雅黑" panose="020B0503020204020204" pitchFamily="34" charset="-122"/>
              </a:rPr>
              <a:t>JL</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有符号小于则跳转 </a:t>
            </a:r>
          </a:p>
        </p:txBody>
      </p:sp>
      <p:sp>
        <p:nvSpPr>
          <p:cNvPr id="6" name="矩形 5">
            <a:extLst>
              <a:ext uri="{FF2B5EF4-FFF2-40B4-BE49-F238E27FC236}">
                <a16:creationId xmlns:a16="http://schemas.microsoft.com/office/drawing/2014/main" id="{FF97E44D-45C1-4582-9AC7-06824BC570C7}"/>
              </a:ext>
            </a:extLst>
          </p:cNvPr>
          <p:cNvSpPr/>
          <p:nvPr/>
        </p:nvSpPr>
        <p:spPr>
          <a:xfrm>
            <a:off x="2380581" y="5697659"/>
            <a:ext cx="2231701" cy="338554"/>
          </a:xfrm>
          <a:prstGeom prst="rect">
            <a:avLst/>
          </a:prstGeom>
        </p:spPr>
        <p:txBody>
          <a:bodyPr wrap="none">
            <a:spAutoFit/>
          </a:bodyPr>
          <a:lstStyle/>
          <a:p>
            <a:r>
              <a:rPr lang="en-US" altLang="zh-CN" sz="1600" dirty="0">
                <a:latin typeface="微软雅黑" panose="020B0503020204020204" pitchFamily="34" charset="-122"/>
                <a:ea typeface="微软雅黑" panose="020B0503020204020204" pitchFamily="34" charset="-122"/>
              </a:rPr>
              <a:t>JG</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有符号大于则跳转 </a:t>
            </a:r>
          </a:p>
        </p:txBody>
      </p:sp>
      <p:sp>
        <p:nvSpPr>
          <p:cNvPr id="8" name="矩形 7">
            <a:extLst>
              <a:ext uri="{FF2B5EF4-FFF2-40B4-BE49-F238E27FC236}">
                <a16:creationId xmlns:a16="http://schemas.microsoft.com/office/drawing/2014/main" id="{5852BCEC-1D69-42EB-816A-FE86872D30AA}"/>
              </a:ext>
            </a:extLst>
          </p:cNvPr>
          <p:cNvSpPr/>
          <p:nvPr/>
        </p:nvSpPr>
        <p:spPr>
          <a:xfrm>
            <a:off x="900332" y="4981073"/>
            <a:ext cx="1209822" cy="43586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知识点</a:t>
            </a:r>
          </a:p>
        </p:txBody>
      </p:sp>
      <p:sp>
        <p:nvSpPr>
          <p:cNvPr id="7" name="文本框 6">
            <a:extLst>
              <a:ext uri="{FF2B5EF4-FFF2-40B4-BE49-F238E27FC236}">
                <a16:creationId xmlns:a16="http://schemas.microsoft.com/office/drawing/2014/main" id="{970AA735-E30B-499F-B037-045F19FC1178}"/>
              </a:ext>
            </a:extLst>
          </p:cNvPr>
          <p:cNvSpPr txBox="1"/>
          <p:nvPr/>
        </p:nvSpPr>
        <p:spPr>
          <a:xfrm>
            <a:off x="2390248" y="4981073"/>
            <a:ext cx="5830560"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CMP: </a:t>
            </a:r>
            <a:r>
              <a:rPr lang="zh-CN" altLang="en-US" sz="1600" dirty="0">
                <a:latin typeface="微软雅黑" panose="020B0503020204020204" pitchFamily="34" charset="-122"/>
                <a:ea typeface="微软雅黑" panose="020B0503020204020204" pitchFamily="34" charset="-122"/>
              </a:rPr>
              <a:t>计算 操作对象</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操作对象</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，但是不保存结果</a:t>
            </a:r>
          </a:p>
        </p:txBody>
      </p:sp>
      <p:sp>
        <p:nvSpPr>
          <p:cNvPr id="9" name="矩形 8">
            <a:extLst>
              <a:ext uri="{FF2B5EF4-FFF2-40B4-BE49-F238E27FC236}">
                <a16:creationId xmlns:a16="http://schemas.microsoft.com/office/drawing/2014/main" id="{91D265B7-E8CE-4093-BC7C-751A047D5D8E}"/>
              </a:ext>
            </a:extLst>
          </p:cNvPr>
          <p:cNvSpPr/>
          <p:nvPr/>
        </p:nvSpPr>
        <p:spPr>
          <a:xfrm>
            <a:off x="2945423" y="1160585"/>
            <a:ext cx="1441939" cy="8440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75426FF-CBE8-4781-9742-138326B65A0B}"/>
              </a:ext>
            </a:extLst>
          </p:cNvPr>
          <p:cNvSpPr txBox="1"/>
          <p:nvPr/>
        </p:nvSpPr>
        <p:spPr>
          <a:xfrm>
            <a:off x="4677508" y="1292469"/>
            <a:ext cx="949569" cy="369332"/>
          </a:xfrm>
          <a:prstGeom prst="rect">
            <a:avLst/>
          </a:prstGeom>
          <a:noFill/>
        </p:spPr>
        <p:txBody>
          <a:bodyPr wrap="square" rtlCol="0">
            <a:spAutoFit/>
          </a:bodyPr>
          <a:lstStyle/>
          <a:p>
            <a:r>
              <a:rPr lang="en-US" altLang="zh-CN" dirty="0">
                <a:solidFill>
                  <a:srgbClr val="FF0000"/>
                </a:solidFill>
              </a:rPr>
              <a:t>P*2</a:t>
            </a:r>
            <a:endParaRPr lang="zh-CN" altLang="en-US" dirty="0">
              <a:solidFill>
                <a:srgbClr val="FF0000"/>
              </a:solidFill>
            </a:endParaRPr>
          </a:p>
        </p:txBody>
      </p:sp>
      <p:sp>
        <p:nvSpPr>
          <p:cNvPr id="12" name="矩形 11">
            <a:extLst>
              <a:ext uri="{FF2B5EF4-FFF2-40B4-BE49-F238E27FC236}">
                <a16:creationId xmlns:a16="http://schemas.microsoft.com/office/drawing/2014/main" id="{FF97E44D-45C1-4582-9AC7-06824BC570C7}"/>
              </a:ext>
            </a:extLst>
          </p:cNvPr>
          <p:cNvSpPr/>
          <p:nvPr/>
        </p:nvSpPr>
        <p:spPr>
          <a:xfrm>
            <a:off x="2390248" y="6064890"/>
            <a:ext cx="2730235" cy="338554"/>
          </a:xfrm>
          <a:prstGeom prst="rect">
            <a:avLst/>
          </a:prstGeom>
        </p:spPr>
        <p:txBody>
          <a:bodyPr wrap="none">
            <a:spAutoFit/>
          </a:bodyPr>
          <a:lstStyle/>
          <a:p>
            <a:r>
              <a:rPr lang="en-US" altLang="zh-CN" sz="1600" dirty="0" smtClean="0">
                <a:latin typeface="微软雅黑" panose="020B0503020204020204" pitchFamily="34" charset="-122"/>
                <a:ea typeface="微软雅黑" panose="020B0503020204020204" pitchFamily="34" charset="-122"/>
              </a:rPr>
              <a:t>JBE</a:t>
            </a:r>
            <a:r>
              <a:rPr lang="zh-CN" altLang="en-US" sz="1600" dirty="0" smtClean="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无</a:t>
            </a:r>
            <a:r>
              <a:rPr lang="zh-CN" altLang="en-US" sz="1600" dirty="0" smtClean="0">
                <a:latin typeface="微软雅黑" panose="020B0503020204020204" pitchFamily="34" charset="-122"/>
                <a:ea typeface="微软雅黑" panose="020B0503020204020204" pitchFamily="34" charset="-122"/>
              </a:rPr>
              <a:t>符号小于等于则</a:t>
            </a:r>
            <a:r>
              <a:rPr lang="zh-CN" altLang="en-US" sz="1600" dirty="0">
                <a:latin typeface="微软雅黑" panose="020B0503020204020204" pitchFamily="34" charset="-122"/>
                <a:ea typeface="微软雅黑" panose="020B0503020204020204" pitchFamily="34" charset="-122"/>
              </a:rPr>
              <a:t>跳转 </a:t>
            </a:r>
          </a:p>
        </p:txBody>
      </p:sp>
    </p:spTree>
    <p:extLst>
      <p:ext uri="{BB962C8B-B14F-4D97-AF65-F5344CB8AC3E}">
        <p14:creationId xmlns:p14="http://schemas.microsoft.com/office/powerpoint/2010/main" val="891479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smtClean="0">
                <a:solidFill>
                  <a:srgbClr val="0070C0"/>
                </a:solidFill>
              </a:rPr>
              <a:t>3.38</a:t>
            </a:r>
            <a:endParaRPr lang="zh-CN" altLang="en-US" sz="2000" b="1" dirty="0">
              <a:solidFill>
                <a:srgbClr val="0070C0"/>
              </a:solidFill>
            </a:endParaRPr>
          </a:p>
        </p:txBody>
      </p:sp>
      <p:sp>
        <p:nvSpPr>
          <p:cNvPr id="13" name="矩形 12"/>
          <p:cNvSpPr/>
          <p:nvPr/>
        </p:nvSpPr>
        <p:spPr>
          <a:xfrm>
            <a:off x="900332" y="4358729"/>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11" name="图片 10"/>
          <p:cNvPicPr>
            <a:picLocks noChangeAspect="1"/>
          </p:cNvPicPr>
          <p:nvPr/>
        </p:nvPicPr>
        <p:blipFill>
          <a:blip r:embed="rId3"/>
          <a:stretch>
            <a:fillRect/>
          </a:stretch>
        </p:blipFill>
        <p:spPr>
          <a:xfrm>
            <a:off x="900332" y="1479867"/>
            <a:ext cx="5257586" cy="2126362"/>
          </a:xfrm>
          <a:prstGeom prst="rect">
            <a:avLst/>
          </a:prstGeom>
        </p:spPr>
      </p:pic>
      <p:sp>
        <p:nvSpPr>
          <p:cNvPr id="12" name="矩形 11"/>
          <p:cNvSpPr/>
          <p:nvPr/>
        </p:nvSpPr>
        <p:spPr>
          <a:xfrm>
            <a:off x="6157918" y="404001"/>
            <a:ext cx="6096000" cy="4278094"/>
          </a:xfrm>
          <a:prstGeom prst="rect">
            <a:avLst/>
          </a:prstGeom>
        </p:spPr>
        <p:txBody>
          <a:bodyPr>
            <a:spAutoFit/>
          </a:bodyPr>
          <a:lstStyle/>
          <a:p>
            <a:r>
              <a:rPr lang="en-US" altLang="zh-CN" sz="1600" kern="0" dirty="0">
                <a:latin typeface="宋体" panose="02010600030101010101" pitchFamily="2" charset="-122"/>
                <a:cs typeface="宋体" panose="02010600030101010101" pitchFamily="2" charset="-122"/>
              </a:rPr>
              <a:t>TITLE EXLOOP.COM</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CODESG SEGMENT</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ASSUME CS:CODESG, DS: CODSEG, SS: CODSEG</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ORG 100H</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BEGIN: MOV AX, 01</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MOV BX, 02</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MOV DX, 03</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MOV CX, 04</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L20: </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INC AX</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ADD BX, AX</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SHR DX, 1</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 )</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RET</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CODESG ENDS</a:t>
            </a:r>
            <a:br>
              <a:rPr lang="en-US" altLang="zh-CN" sz="1600" kern="0" dirty="0">
                <a:latin typeface="宋体" panose="02010600030101010101" pitchFamily="2" charset="-122"/>
                <a:cs typeface="宋体" panose="02010600030101010101" pitchFamily="2" charset="-122"/>
              </a:rPr>
            </a:br>
            <a:r>
              <a:rPr lang="en-US" altLang="zh-CN" sz="1600" kern="0" dirty="0">
                <a:latin typeface="宋体" panose="02010600030101010101" pitchFamily="2" charset="-122"/>
                <a:cs typeface="宋体" panose="02010600030101010101" pitchFamily="2" charset="-122"/>
              </a:rPr>
              <a:t>END BEGIN</a:t>
            </a:r>
            <a:br>
              <a:rPr lang="en-US" altLang="zh-CN" sz="1600" kern="0" dirty="0">
                <a:latin typeface="宋体" panose="02010600030101010101" pitchFamily="2" charset="-122"/>
                <a:cs typeface="宋体" panose="02010600030101010101" pitchFamily="2" charset="-122"/>
              </a:rPr>
            </a:br>
            <a:endParaRPr lang="zh-CN" altLang="en-US" sz="1600" dirty="0"/>
          </a:p>
        </p:txBody>
      </p:sp>
      <p:pic>
        <p:nvPicPr>
          <p:cNvPr id="14" name="图片 13"/>
          <p:cNvPicPr>
            <a:picLocks noChangeAspect="1"/>
          </p:cNvPicPr>
          <p:nvPr/>
        </p:nvPicPr>
        <p:blipFill>
          <a:blip r:embed="rId4"/>
          <a:stretch>
            <a:fillRect/>
          </a:stretch>
        </p:blipFill>
        <p:spPr>
          <a:xfrm>
            <a:off x="2362997" y="4794590"/>
            <a:ext cx="6333333" cy="1123810"/>
          </a:xfrm>
          <a:prstGeom prst="rect">
            <a:avLst/>
          </a:prstGeom>
        </p:spPr>
      </p:pic>
    </p:spTree>
    <p:extLst>
      <p:ext uri="{BB962C8B-B14F-4D97-AF65-F5344CB8AC3E}">
        <p14:creationId xmlns:p14="http://schemas.microsoft.com/office/powerpoint/2010/main" val="1866168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smtClean="0">
                <a:solidFill>
                  <a:srgbClr val="0070C0"/>
                </a:solidFill>
              </a:rPr>
              <a:t>3.40</a:t>
            </a:r>
            <a:endParaRPr lang="zh-CN" altLang="en-US" sz="2000" b="1" dirty="0">
              <a:solidFill>
                <a:srgbClr val="0070C0"/>
              </a:solidFill>
            </a:endParaRPr>
          </a:p>
        </p:txBody>
      </p:sp>
      <p:sp>
        <p:nvSpPr>
          <p:cNvPr id="13" name="矩形 12"/>
          <p:cNvSpPr/>
          <p:nvPr/>
        </p:nvSpPr>
        <p:spPr>
          <a:xfrm>
            <a:off x="900332" y="4358729"/>
            <a:ext cx="1209822" cy="435861"/>
          </a:xfrm>
          <a:prstGeom prst="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6"/>
                </a:solidFill>
              </a:rPr>
              <a:t>参考答案</a:t>
            </a:r>
          </a:p>
        </p:txBody>
      </p:sp>
      <p:pic>
        <p:nvPicPr>
          <p:cNvPr id="3" name="图片 2"/>
          <p:cNvPicPr>
            <a:picLocks noChangeAspect="1"/>
          </p:cNvPicPr>
          <p:nvPr/>
        </p:nvPicPr>
        <p:blipFill>
          <a:blip r:embed="rId2"/>
          <a:stretch>
            <a:fillRect/>
          </a:stretch>
        </p:blipFill>
        <p:spPr>
          <a:xfrm>
            <a:off x="1201311" y="1325442"/>
            <a:ext cx="9961905" cy="1895238"/>
          </a:xfrm>
          <a:prstGeom prst="rect">
            <a:avLst/>
          </a:prstGeom>
        </p:spPr>
      </p:pic>
      <p:pic>
        <p:nvPicPr>
          <p:cNvPr id="4" name="图片 3"/>
          <p:cNvPicPr>
            <a:picLocks noChangeAspect="1"/>
          </p:cNvPicPr>
          <p:nvPr/>
        </p:nvPicPr>
        <p:blipFill>
          <a:blip r:embed="rId3"/>
          <a:stretch>
            <a:fillRect/>
          </a:stretch>
        </p:blipFill>
        <p:spPr>
          <a:xfrm>
            <a:off x="2476662" y="4358729"/>
            <a:ext cx="8342857" cy="1171429"/>
          </a:xfrm>
          <a:prstGeom prst="rect">
            <a:avLst/>
          </a:prstGeom>
        </p:spPr>
      </p:pic>
    </p:spTree>
    <p:extLst>
      <p:ext uri="{BB962C8B-B14F-4D97-AF65-F5344CB8AC3E}">
        <p14:creationId xmlns:p14="http://schemas.microsoft.com/office/powerpoint/2010/main" val="1087503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smtClean="0">
                <a:solidFill>
                  <a:srgbClr val="0070C0"/>
                </a:solidFill>
              </a:rPr>
              <a:t>3.42</a:t>
            </a:r>
            <a:endParaRPr lang="zh-CN" altLang="en-US" sz="2000" b="1" dirty="0">
              <a:solidFill>
                <a:srgbClr val="0070C0"/>
              </a:solidFill>
            </a:endParaRPr>
          </a:p>
        </p:txBody>
      </p:sp>
      <p:pic>
        <p:nvPicPr>
          <p:cNvPr id="5" name="图片 4"/>
          <p:cNvPicPr>
            <a:picLocks noChangeAspect="1"/>
          </p:cNvPicPr>
          <p:nvPr/>
        </p:nvPicPr>
        <p:blipFill>
          <a:blip r:embed="rId3"/>
          <a:stretch>
            <a:fillRect/>
          </a:stretch>
        </p:blipFill>
        <p:spPr>
          <a:xfrm>
            <a:off x="1356892" y="1365060"/>
            <a:ext cx="7666667" cy="2723809"/>
          </a:xfrm>
          <a:prstGeom prst="rect">
            <a:avLst/>
          </a:prstGeom>
        </p:spPr>
      </p:pic>
      <p:sp>
        <p:nvSpPr>
          <p:cNvPr id="7" name="矩形 6"/>
          <p:cNvSpPr/>
          <p:nvPr/>
        </p:nvSpPr>
        <p:spPr>
          <a:xfrm>
            <a:off x="900332" y="4463589"/>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习题</a:t>
            </a:r>
            <a:r>
              <a:rPr lang="en-US" altLang="zh-CN" sz="2000" b="1" dirty="0" smtClean="0">
                <a:solidFill>
                  <a:srgbClr val="0070C0"/>
                </a:solidFill>
              </a:rPr>
              <a:t>3.50</a:t>
            </a:r>
            <a:endParaRPr lang="zh-CN" altLang="en-US" sz="2000" b="1" dirty="0">
              <a:solidFill>
                <a:srgbClr val="0070C0"/>
              </a:solidFill>
            </a:endParaRPr>
          </a:p>
        </p:txBody>
      </p:sp>
      <p:pic>
        <p:nvPicPr>
          <p:cNvPr id="8" name="图片 7"/>
          <p:cNvPicPr>
            <a:picLocks noChangeAspect="1"/>
          </p:cNvPicPr>
          <p:nvPr/>
        </p:nvPicPr>
        <p:blipFill>
          <a:blip r:embed="rId4"/>
          <a:stretch>
            <a:fillRect/>
          </a:stretch>
        </p:blipFill>
        <p:spPr>
          <a:xfrm>
            <a:off x="1194625" y="5223700"/>
            <a:ext cx="9371428" cy="723810"/>
          </a:xfrm>
          <a:prstGeom prst="rect">
            <a:avLst/>
          </a:prstGeom>
        </p:spPr>
      </p:pic>
      <p:pic>
        <p:nvPicPr>
          <p:cNvPr id="10" name="图片 9"/>
          <p:cNvPicPr>
            <a:picLocks noChangeAspect="1"/>
          </p:cNvPicPr>
          <p:nvPr/>
        </p:nvPicPr>
        <p:blipFill>
          <a:blip r:embed="rId5"/>
          <a:stretch>
            <a:fillRect/>
          </a:stretch>
        </p:blipFill>
        <p:spPr>
          <a:xfrm>
            <a:off x="1621484" y="6034281"/>
            <a:ext cx="6152381" cy="333333"/>
          </a:xfrm>
          <a:prstGeom prst="rect">
            <a:avLst/>
          </a:prstGeom>
        </p:spPr>
      </p:pic>
    </p:spTree>
    <p:extLst>
      <p:ext uri="{BB962C8B-B14F-4D97-AF65-F5344CB8AC3E}">
        <p14:creationId xmlns:p14="http://schemas.microsoft.com/office/powerpoint/2010/main" val="696336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00332" y="659340"/>
            <a:ext cx="1209822" cy="435861"/>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70C0"/>
                </a:solidFill>
              </a:rPr>
              <a:t>习题</a:t>
            </a:r>
            <a:r>
              <a:rPr lang="en-US" altLang="zh-CN" sz="2000" b="1" dirty="0" smtClean="0">
                <a:solidFill>
                  <a:srgbClr val="0070C0"/>
                </a:solidFill>
              </a:rPr>
              <a:t>5.3</a:t>
            </a:r>
            <a:endParaRPr lang="zh-CN" altLang="en-US" sz="2000" b="1" dirty="0">
              <a:solidFill>
                <a:srgbClr val="0070C0"/>
              </a:solidFill>
            </a:endParaRPr>
          </a:p>
        </p:txBody>
      </p:sp>
      <p:pic>
        <p:nvPicPr>
          <p:cNvPr id="3" name="图片 2"/>
          <p:cNvPicPr>
            <a:picLocks noChangeAspect="1"/>
          </p:cNvPicPr>
          <p:nvPr/>
        </p:nvPicPr>
        <p:blipFill>
          <a:blip r:embed="rId3"/>
          <a:stretch>
            <a:fillRect/>
          </a:stretch>
        </p:blipFill>
        <p:spPr>
          <a:xfrm>
            <a:off x="2295089" y="659340"/>
            <a:ext cx="7783860" cy="838095"/>
          </a:xfrm>
          <a:prstGeom prst="rect">
            <a:avLst/>
          </a:prstGeom>
        </p:spPr>
      </p:pic>
      <p:sp>
        <p:nvSpPr>
          <p:cNvPr id="4" name="矩形 3"/>
          <p:cNvSpPr/>
          <p:nvPr/>
        </p:nvSpPr>
        <p:spPr>
          <a:xfrm>
            <a:off x="1003443" y="1976963"/>
            <a:ext cx="3630202" cy="2959272"/>
          </a:xfrm>
          <a:prstGeom prst="rect">
            <a:avLst/>
          </a:prstGeom>
        </p:spPr>
        <p:txBody>
          <a:bodyPr wrap="square">
            <a:spAutoFit/>
          </a:bodyPr>
          <a:lstStyle/>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DSEG SEGMENT</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STORE DB 4 DUP (?)</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DSEG ENDS</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BEGIN: MOV CL, 4 </a:t>
            </a:r>
            <a:r>
              <a:rPr lang="zh-CN" altLang="zh-CN" kern="0" dirty="0">
                <a:latin typeface="Calibri" panose="020F0502020204030204" pitchFamily="34" charset="0"/>
                <a:ea typeface="宋体" panose="02010600030101010101" pitchFamily="2" charset="-122"/>
                <a:cs typeface="宋体" panose="02010600030101010101" pitchFamily="2" charset="-122"/>
              </a:rPr>
              <a:t>；右移四次</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MOV CH, 4 </a:t>
            </a:r>
            <a:r>
              <a:rPr lang="zh-CN" altLang="zh-CN" kern="0" dirty="0">
                <a:latin typeface="Calibri" panose="020F0502020204030204" pitchFamily="34" charset="0"/>
                <a:ea typeface="宋体" panose="02010600030101010101" pitchFamily="2" charset="-122"/>
                <a:cs typeface="宋体" panose="02010600030101010101" pitchFamily="2" charset="-122"/>
              </a:rPr>
              <a:t>；循环四次</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LEA BX, STORE</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a:latin typeface="宋体" panose="02010600030101010101" pitchFamily="2" charset="-122"/>
                <a:ea typeface="宋体" panose="02010600030101010101" pitchFamily="2" charset="-122"/>
                <a:cs typeface="宋体" panose="02010600030101010101" pitchFamily="2" charset="-122"/>
              </a:rPr>
              <a:t>A10: MOV DX, AX</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AND </a:t>
            </a:r>
            <a:r>
              <a:rPr lang="en-US" altLang="zh-CN" kern="0" dirty="0">
                <a:latin typeface="宋体" panose="02010600030101010101" pitchFamily="2" charset="-122"/>
                <a:ea typeface="宋体" panose="02010600030101010101" pitchFamily="2" charset="-122"/>
                <a:cs typeface="宋体" panose="02010600030101010101" pitchFamily="2" charset="-122"/>
              </a:rPr>
              <a:t>DX, 0FH </a:t>
            </a:r>
            <a:r>
              <a:rPr lang="zh-CN" altLang="zh-CN" kern="0" dirty="0">
                <a:latin typeface="Calibri" panose="020F0502020204030204" pitchFamily="34" charset="0"/>
                <a:ea typeface="宋体" panose="02010600030101010101" pitchFamily="2" charset="-122"/>
                <a:cs typeface="宋体" panose="02010600030101010101" pitchFamily="2" charset="-122"/>
              </a:rPr>
              <a:t>；取</a:t>
            </a:r>
            <a:r>
              <a:rPr lang="en-US" altLang="zh-CN" kern="0" dirty="0">
                <a:latin typeface="Calibri" panose="020F0502020204030204" pitchFamily="34" charset="0"/>
                <a:ea typeface="宋体" panose="02010600030101010101" pitchFamily="2" charset="-122"/>
                <a:cs typeface="宋体" panose="02010600030101010101" pitchFamily="2" charset="-122"/>
              </a:rPr>
              <a:t>AX</a:t>
            </a:r>
            <a:r>
              <a:rPr lang="zh-CN" altLang="zh-CN" kern="0" dirty="0">
                <a:latin typeface="Calibri" panose="020F0502020204030204" pitchFamily="34" charset="0"/>
                <a:ea typeface="宋体" panose="02010600030101010101" pitchFamily="2" charset="-122"/>
                <a:cs typeface="宋体" panose="02010600030101010101" pitchFamily="2" charset="-122"/>
              </a:rPr>
              <a:t>的低四</a:t>
            </a:r>
            <a:r>
              <a:rPr lang="zh-CN" altLang="zh-CN" kern="0" dirty="0" smtClean="0">
                <a:latin typeface="Calibri" panose="020F0502020204030204" pitchFamily="34" charset="0"/>
                <a:ea typeface="宋体" panose="02010600030101010101" pitchFamily="2" charset="-122"/>
                <a:cs typeface="宋体" panose="02010600030101010101" pitchFamily="2" charset="-122"/>
              </a:rPr>
              <a:t>位</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矩形 5"/>
          <p:cNvSpPr/>
          <p:nvPr/>
        </p:nvSpPr>
        <p:spPr>
          <a:xfrm>
            <a:off x="5678184" y="1976963"/>
            <a:ext cx="6096000" cy="3277820"/>
          </a:xfrm>
          <a:prstGeom prst="rect">
            <a:avLst/>
          </a:prstGeom>
        </p:spPr>
        <p:txBody>
          <a:bodyPr>
            <a:spAutoFit/>
          </a:bodyPr>
          <a:lstStyle/>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MOV [BX], DL </a:t>
            </a:r>
            <a:r>
              <a:rPr lang="zh-CN" altLang="zh-CN" kern="0" dirty="0" smtClean="0">
                <a:latin typeface="Calibri" panose="020F0502020204030204" pitchFamily="34" charset="0"/>
                <a:ea typeface="宋体" panose="02010600030101010101" pitchFamily="2" charset="-122"/>
                <a:cs typeface="宋体" panose="02010600030101010101" pitchFamily="2" charset="-122"/>
              </a:rPr>
              <a:t>；低四位存入</a:t>
            </a:r>
            <a:r>
              <a:rPr lang="en-US" altLang="zh-CN" kern="0" dirty="0" smtClean="0">
                <a:latin typeface="Calibri" panose="020F0502020204030204" pitchFamily="34" charset="0"/>
                <a:ea typeface="宋体" panose="02010600030101010101" pitchFamily="2" charset="-122"/>
                <a:cs typeface="宋体" panose="02010600030101010101" pitchFamily="2" charset="-122"/>
              </a:rPr>
              <a:t>STORE</a:t>
            </a:r>
            <a:r>
              <a:rPr lang="zh-CN" altLang="zh-CN" kern="0" dirty="0" smtClean="0">
                <a:latin typeface="Calibri" panose="020F0502020204030204" pitchFamily="34" charset="0"/>
                <a:ea typeface="宋体" panose="02010600030101010101" pitchFamily="2" charset="-122"/>
                <a:cs typeface="宋体" panose="02010600030101010101" pitchFamily="2" charset="-122"/>
              </a:rPr>
              <a:t>中</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INC BX</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SHR AX, CL </a:t>
            </a:r>
            <a:r>
              <a:rPr lang="zh-CN" altLang="zh-CN" kern="0" dirty="0" smtClean="0">
                <a:latin typeface="Calibri" panose="020F0502020204030204" pitchFamily="34" charset="0"/>
                <a:ea typeface="宋体" panose="02010600030101010101" pitchFamily="2" charset="-122"/>
                <a:cs typeface="宋体" panose="02010600030101010101" pitchFamily="2" charset="-122"/>
              </a:rPr>
              <a:t>；右移四次</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DEC CH</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JNZ A10 </a:t>
            </a:r>
            <a:r>
              <a:rPr lang="zh-CN" altLang="zh-CN" kern="0" dirty="0" smtClean="0">
                <a:latin typeface="Calibri" panose="020F0502020204030204" pitchFamily="34" charset="0"/>
                <a:ea typeface="宋体" panose="02010600030101010101" pitchFamily="2" charset="-122"/>
                <a:cs typeface="宋体" panose="02010600030101010101" pitchFamily="2" charset="-122"/>
              </a:rPr>
              <a:t>；循环四次？</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B10: MOV DL, STORE </a:t>
            </a:r>
            <a:r>
              <a:rPr lang="zh-CN" altLang="zh-CN" kern="0" dirty="0" smtClean="0">
                <a:latin typeface="Calibri" panose="020F0502020204030204" pitchFamily="34" charset="0"/>
                <a:ea typeface="宋体" panose="02010600030101010101" pitchFamily="2" charset="-122"/>
                <a:cs typeface="宋体" panose="02010600030101010101" pitchFamily="2" charset="-122"/>
              </a:rPr>
              <a:t>；四组数分别放在</a:t>
            </a:r>
            <a:r>
              <a:rPr lang="en-US" altLang="zh-CN" kern="0" dirty="0" smtClean="0">
                <a:latin typeface="Calibri" panose="020F0502020204030204" pitchFamily="34" charset="0"/>
                <a:ea typeface="宋体" panose="02010600030101010101" pitchFamily="2" charset="-122"/>
                <a:cs typeface="宋体" panose="02010600030101010101" pitchFamily="2" charset="-122"/>
              </a:rPr>
              <a:t>AL</a:t>
            </a:r>
            <a:r>
              <a:rPr lang="zh-CN" altLang="zh-CN" kern="0" dirty="0" smtClean="0">
                <a:latin typeface="Calibri" panose="020F0502020204030204" pitchFamily="34" charset="0"/>
                <a:ea typeface="宋体" panose="02010600030101010101" pitchFamily="2" charset="-122"/>
                <a:cs typeface="宋体" panose="02010600030101010101" pitchFamily="2" charset="-122"/>
              </a:rPr>
              <a:t>、</a:t>
            </a:r>
            <a:r>
              <a:rPr lang="en-US" altLang="zh-CN" kern="0" dirty="0" smtClean="0">
                <a:latin typeface="Calibri" panose="020F0502020204030204" pitchFamily="34" charset="0"/>
                <a:ea typeface="宋体" panose="02010600030101010101" pitchFamily="2" charset="-122"/>
                <a:cs typeface="宋体" panose="02010600030101010101" pitchFamily="2" charset="-122"/>
              </a:rPr>
              <a:t>BL</a:t>
            </a:r>
            <a:r>
              <a:rPr lang="zh-CN" altLang="zh-CN" kern="0" dirty="0" smtClean="0">
                <a:latin typeface="Calibri" panose="020F0502020204030204" pitchFamily="34" charset="0"/>
                <a:ea typeface="宋体" panose="02010600030101010101" pitchFamily="2" charset="-122"/>
                <a:cs typeface="宋体" panose="02010600030101010101" pitchFamily="2" charset="-122"/>
              </a:rPr>
              <a:t>、</a:t>
            </a:r>
            <a:r>
              <a:rPr lang="en-US" altLang="zh-CN" kern="0" dirty="0" smtClean="0">
                <a:latin typeface="Calibri" panose="020F0502020204030204" pitchFamily="34" charset="0"/>
                <a:ea typeface="宋体" panose="02010600030101010101" pitchFamily="2" charset="-122"/>
                <a:cs typeface="宋体" panose="02010600030101010101" pitchFamily="2" charset="-122"/>
              </a:rPr>
              <a:t>CL</a:t>
            </a:r>
            <a:r>
              <a:rPr lang="zh-CN" altLang="zh-CN" kern="0" dirty="0" smtClean="0">
                <a:latin typeface="Calibri" panose="020F0502020204030204" pitchFamily="34" charset="0"/>
                <a:ea typeface="宋体" panose="02010600030101010101" pitchFamily="2" charset="-122"/>
                <a:cs typeface="宋体" panose="02010600030101010101" pitchFamily="2" charset="-122"/>
              </a:rPr>
              <a:t>和</a:t>
            </a:r>
            <a:r>
              <a:rPr lang="en-US" altLang="zh-CN" kern="0" dirty="0" smtClean="0">
                <a:latin typeface="Calibri" panose="020F0502020204030204" pitchFamily="34" charset="0"/>
                <a:ea typeface="宋体" panose="02010600030101010101" pitchFamily="2" charset="-122"/>
                <a:cs typeface="宋体" panose="02010600030101010101" pitchFamily="2" charset="-122"/>
              </a:rPr>
              <a:t>DL</a:t>
            </a:r>
            <a:r>
              <a:rPr lang="zh-CN" altLang="zh-CN" kern="0" dirty="0" smtClean="0">
                <a:latin typeface="Calibri" panose="020F0502020204030204" pitchFamily="34" charset="0"/>
                <a:ea typeface="宋体" panose="02010600030101010101" pitchFamily="2" charset="-122"/>
                <a:cs typeface="宋体" panose="02010600030101010101" pitchFamily="2" charset="-122"/>
              </a:rPr>
              <a:t>中</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     MOV CL, STORE+1</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     MOV BL, STORE+2</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     MOV AL, STORE+3</a:t>
            </a:r>
            <a:endParaRPr lang="zh-CN" altLang="zh-CN" sz="1600" kern="100" dirty="0" smtClean="0">
              <a:effectLst/>
              <a:latin typeface="Calibri" panose="020F0502020204030204" pitchFamily="34" charset="0"/>
              <a:ea typeface="宋体" panose="02010600030101010101" pitchFamily="2" charset="-122"/>
              <a:cs typeface="Times New Roman" panose="02020603050405020304" pitchFamily="18" charset="0"/>
            </a:endParaRPr>
          </a:p>
          <a:p>
            <a:pPr>
              <a:lnSpc>
                <a:spcPct val="115000"/>
              </a:lnSpc>
            </a:pPr>
            <a:r>
              <a:rPr lang="en-US" altLang="zh-CN" kern="0" dirty="0" smtClean="0">
                <a:latin typeface="宋体" panose="02010600030101010101" pitchFamily="2" charset="-122"/>
                <a:ea typeface="宋体" panose="02010600030101010101" pitchFamily="2" charset="-122"/>
                <a:cs typeface="宋体" panose="02010600030101010101" pitchFamily="2" charset="-122"/>
              </a:rPr>
              <a:t>STOP: RET</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335179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3116" y="2667650"/>
            <a:ext cx="10515600" cy="1325563"/>
          </a:xfrm>
        </p:spPr>
        <p:txBody>
          <a:bodyPr/>
          <a:lstStyle/>
          <a:p>
            <a:pPr algn="ctr"/>
            <a:r>
              <a:rPr lang="en-US" altLang="zh-CN" dirty="0" smtClean="0">
                <a:latin typeface="微软雅黑" panose="020B0503020204020204" pitchFamily="34" charset="-122"/>
                <a:ea typeface="微软雅黑" panose="020B0503020204020204" pitchFamily="34" charset="-122"/>
              </a:rPr>
              <a:t>The end</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158107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1504</TotalTime>
  <Words>2428</Words>
  <Application>Microsoft Office PowerPoint</Application>
  <PresentationFormat>宽屏</PresentationFormat>
  <Paragraphs>380</Paragraphs>
  <Slides>45</Slides>
  <Notes>30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45</vt:i4>
      </vt:variant>
    </vt:vector>
  </HeadingPairs>
  <TitlesOfParts>
    <vt:vector size="58" baseType="lpstr">
      <vt:lpstr>Arial Unicode MS</vt:lpstr>
      <vt:lpstr>PingFang SC</vt:lpstr>
      <vt:lpstr>等线</vt:lpstr>
      <vt:lpstr>等线 Light</vt:lpstr>
      <vt:lpstr>黑体</vt:lpstr>
      <vt:lpstr>宋体</vt:lpstr>
      <vt:lpstr>微软雅黑</vt:lpstr>
      <vt:lpstr>Arial</vt:lpstr>
      <vt:lpstr>Calibri</vt:lpstr>
      <vt:lpstr>Times New Roman</vt:lpstr>
      <vt:lpstr>Verdana</vt:lpstr>
      <vt:lpstr>Wingdings</vt:lpstr>
      <vt:lpstr>Office 主题​​</vt:lpstr>
      <vt:lpstr>PowerPoint 演示文稿</vt:lpstr>
      <vt:lpstr>Overview</vt:lpstr>
      <vt:lpstr>Overview</vt:lpstr>
      <vt:lpstr>Overview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Overview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顾 千笙</dc:creator>
  <cp:lastModifiedBy>顾 千笙</cp:lastModifiedBy>
  <cp:revision>50</cp:revision>
  <dcterms:created xsi:type="dcterms:W3CDTF">2019-04-14T04:38:01Z</dcterms:created>
  <dcterms:modified xsi:type="dcterms:W3CDTF">2019-04-15T14:11:58Z</dcterms:modified>
</cp:coreProperties>
</file>