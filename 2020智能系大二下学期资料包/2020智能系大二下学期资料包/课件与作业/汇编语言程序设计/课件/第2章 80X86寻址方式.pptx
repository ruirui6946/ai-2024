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1" r:id="rId45"/>
    <p:sldId id="300" r:id="rId46"/>
    <p:sldId id="302" r:id="rId4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54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305062-244A-4E9D-9025-4B6B81751A84}" type="datetimeFigureOut">
              <a:rPr lang="zh-CN" altLang="en-US" smtClean="0"/>
              <a:pPr/>
              <a:t>2019/2/25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1454606-EEAB-4ECA-9FF5-E3E0C40E1C44}" type="slidenum">
              <a:rPr lang="zh-CN" altLang="en-US" smtClean="0"/>
              <a:pPr/>
              <a:t>‹#›</a:t>
            </a:fld>
            <a:endParaRPr lang="zh-CN" altLang="en-US"/>
          </a:p>
        </p:txBody>
      </p:sp>
    </p:spTree>
    <p:extLst>
      <p:ext uri="{BB962C8B-B14F-4D97-AF65-F5344CB8AC3E}">
        <p14:creationId xmlns:p14="http://schemas.microsoft.com/office/powerpoint/2010/main" val="590241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D1454606-EEAB-4ECA-9FF5-E3E0C40E1C44}" type="slidenum">
              <a:rPr lang="zh-CN" altLang="en-US" smtClean="0"/>
              <a:pPr/>
              <a:t>8</a:t>
            </a:fld>
            <a:endParaRPr lang="zh-CN" altLang="en-US"/>
          </a:p>
        </p:txBody>
      </p:sp>
    </p:spTree>
    <p:extLst>
      <p:ext uri="{BB962C8B-B14F-4D97-AF65-F5344CB8AC3E}">
        <p14:creationId xmlns:p14="http://schemas.microsoft.com/office/powerpoint/2010/main" val="1220171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smtClean="0"/>
              <a:t>=</a:t>
            </a:r>
            <a:endParaRPr lang="zh-CN" altLang="en-US" dirty="0"/>
          </a:p>
        </p:txBody>
      </p:sp>
      <p:sp>
        <p:nvSpPr>
          <p:cNvPr id="4" name="灯片编号占位符 3"/>
          <p:cNvSpPr>
            <a:spLocks noGrp="1"/>
          </p:cNvSpPr>
          <p:nvPr>
            <p:ph type="sldNum" sz="quarter" idx="10"/>
          </p:nvPr>
        </p:nvSpPr>
        <p:spPr/>
        <p:txBody>
          <a:bodyPr/>
          <a:lstStyle/>
          <a:p>
            <a:fld id="{D1454606-EEAB-4ECA-9FF5-E3E0C40E1C44}" type="slidenum">
              <a:rPr lang="zh-CN" altLang="en-US" smtClean="0"/>
              <a:pPr/>
              <a:t>32</a:t>
            </a:fld>
            <a:endParaRPr lang="zh-CN" altLang="en-US"/>
          </a:p>
        </p:txBody>
      </p:sp>
    </p:spTree>
    <p:extLst>
      <p:ext uri="{BB962C8B-B14F-4D97-AF65-F5344CB8AC3E}">
        <p14:creationId xmlns:p14="http://schemas.microsoft.com/office/powerpoint/2010/main" val="2489133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69314" name="Line 2"/>
          <p:cNvSpPr>
            <a:spLocks noChangeShapeType="1"/>
          </p:cNvSpPr>
          <p:nvPr/>
        </p:nvSpPr>
        <p:spPr bwMode="auto">
          <a:xfrm>
            <a:off x="7315200" y="1066800"/>
            <a:ext cx="0" cy="4495800"/>
          </a:xfrm>
          <a:prstGeom prst="line">
            <a:avLst/>
          </a:prstGeom>
          <a:noFill/>
          <a:ln w="9525">
            <a:solidFill>
              <a:schemeClr val="tx1"/>
            </a:solidFill>
            <a:round/>
            <a:headEnd/>
            <a:tailEnd/>
          </a:ln>
          <a:effectLst/>
        </p:spPr>
        <p:txBody>
          <a:bodyPr/>
          <a:lstStyle/>
          <a:p>
            <a:endParaRPr lang="zh-CN" altLang="en-US"/>
          </a:p>
        </p:txBody>
      </p:sp>
      <p:sp>
        <p:nvSpPr>
          <p:cNvPr id="269315" name="Rectangle 3"/>
          <p:cNvSpPr>
            <a:spLocks noGrp="1" noChangeArrowheads="1"/>
          </p:cNvSpPr>
          <p:nvPr>
            <p:ph type="ctrTitle"/>
          </p:nvPr>
        </p:nvSpPr>
        <p:spPr>
          <a:xfrm>
            <a:off x="315913" y="466725"/>
            <a:ext cx="6781800" cy="2133600"/>
          </a:xfrm>
        </p:spPr>
        <p:txBody>
          <a:bodyPr/>
          <a:lstStyle>
            <a:lvl1pPr algn="r">
              <a:defRPr sz="4800"/>
            </a:lvl1pPr>
          </a:lstStyle>
          <a:p>
            <a:r>
              <a:rPr lang="zh-CN" altLang="en-US" smtClean="0"/>
              <a:t>单击此处编辑母版标题样式</a:t>
            </a:r>
            <a:endParaRPr lang="zh-CN" altLang="en-US"/>
          </a:p>
        </p:txBody>
      </p:sp>
      <p:sp>
        <p:nvSpPr>
          <p:cNvPr id="269316"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r>
              <a:rPr lang="zh-CN" altLang="en-US" smtClean="0"/>
              <a:t>单击此处编辑母版副标题样式</a:t>
            </a:r>
            <a:endParaRPr lang="zh-CN" altLang="en-US"/>
          </a:p>
        </p:txBody>
      </p:sp>
      <p:sp>
        <p:nvSpPr>
          <p:cNvPr id="269317" name="Rectangle 5"/>
          <p:cNvSpPr>
            <a:spLocks noGrp="1" noChangeArrowheads="1"/>
          </p:cNvSpPr>
          <p:nvPr>
            <p:ph type="dt" sz="half" idx="2"/>
          </p:nvPr>
        </p:nvSpPr>
        <p:spPr/>
        <p:txBody>
          <a:bodyPr/>
          <a:lstStyle>
            <a:lvl1pPr>
              <a:defRPr/>
            </a:lvl1pPr>
          </a:lstStyle>
          <a:p>
            <a:fld id="{78324A5E-0EC8-4917-83C4-3D5EF830E31B}" type="datetimeFigureOut">
              <a:rPr lang="zh-CN" altLang="en-US" smtClean="0"/>
              <a:pPr/>
              <a:t>2019/2/25</a:t>
            </a:fld>
            <a:endParaRPr lang="zh-CN" altLang="en-US"/>
          </a:p>
        </p:txBody>
      </p:sp>
      <p:sp>
        <p:nvSpPr>
          <p:cNvPr id="269318" name="Rectangle 6"/>
          <p:cNvSpPr>
            <a:spLocks noGrp="1" noChangeArrowheads="1"/>
          </p:cNvSpPr>
          <p:nvPr>
            <p:ph type="ftr" sz="quarter" idx="3"/>
          </p:nvPr>
        </p:nvSpPr>
        <p:spPr/>
        <p:txBody>
          <a:bodyPr/>
          <a:lstStyle>
            <a:lvl1pPr>
              <a:defRPr/>
            </a:lvl1pPr>
          </a:lstStyle>
          <a:p>
            <a:endParaRPr lang="zh-CN" altLang="en-US"/>
          </a:p>
        </p:txBody>
      </p:sp>
      <p:sp>
        <p:nvSpPr>
          <p:cNvPr id="269319" name="Rectangle 7"/>
          <p:cNvSpPr>
            <a:spLocks noGrp="1" noChangeArrowheads="1"/>
          </p:cNvSpPr>
          <p:nvPr>
            <p:ph type="sldNum" sz="quarter" idx="4"/>
          </p:nvPr>
        </p:nvSpPr>
        <p:spPr/>
        <p:txBody>
          <a:bodyPr/>
          <a:lstStyle>
            <a:lvl1pPr>
              <a:defRPr/>
            </a:lvl1pPr>
          </a:lstStyle>
          <a:p>
            <a:fld id="{7BD1B4E0-A8FA-4CE9-9889-7CFAA58055F5}" type="slidenum">
              <a:rPr lang="zh-CN" altLang="en-US" smtClean="0"/>
              <a:pPr/>
              <a:t>‹#›</a:t>
            </a:fld>
            <a:endParaRPr lang="zh-CN" altLang="en-US"/>
          </a:p>
        </p:txBody>
      </p:sp>
      <p:grpSp>
        <p:nvGrpSpPr>
          <p:cNvPr id="2" name="Group 8"/>
          <p:cNvGrpSpPr>
            <a:grpSpLocks/>
          </p:cNvGrpSpPr>
          <p:nvPr/>
        </p:nvGrpSpPr>
        <p:grpSpPr bwMode="auto">
          <a:xfrm>
            <a:off x="7493000" y="2992438"/>
            <a:ext cx="1338263" cy="2189162"/>
            <a:chOff x="4704" y="1885"/>
            <a:chExt cx="843" cy="1379"/>
          </a:xfrm>
        </p:grpSpPr>
        <p:sp>
          <p:nvSpPr>
            <p:cNvPr id="269321" name="Oval 9"/>
            <p:cNvSpPr>
              <a:spLocks noChangeArrowheads="1"/>
            </p:cNvSpPr>
            <p:nvPr/>
          </p:nvSpPr>
          <p:spPr bwMode="auto">
            <a:xfrm>
              <a:off x="4704" y="1885"/>
              <a:ext cx="127" cy="127"/>
            </a:xfrm>
            <a:prstGeom prst="ellipse">
              <a:avLst/>
            </a:prstGeom>
            <a:solidFill>
              <a:schemeClr val="tx2"/>
            </a:solidFill>
            <a:ln w="9525">
              <a:noFill/>
              <a:round/>
              <a:headEnd/>
              <a:tailEnd/>
            </a:ln>
            <a:effectLst/>
          </p:spPr>
          <p:txBody>
            <a:bodyPr wrap="none" anchor="ctr"/>
            <a:lstStyle/>
            <a:p>
              <a:endParaRPr lang="zh-CN" altLang="en-US"/>
            </a:p>
          </p:txBody>
        </p:sp>
        <p:sp>
          <p:nvSpPr>
            <p:cNvPr id="269322" name="Oval 10"/>
            <p:cNvSpPr>
              <a:spLocks noChangeArrowheads="1"/>
            </p:cNvSpPr>
            <p:nvPr/>
          </p:nvSpPr>
          <p:spPr bwMode="auto">
            <a:xfrm>
              <a:off x="4883" y="1885"/>
              <a:ext cx="127" cy="127"/>
            </a:xfrm>
            <a:prstGeom prst="ellipse">
              <a:avLst/>
            </a:prstGeom>
            <a:solidFill>
              <a:schemeClr val="tx2"/>
            </a:solidFill>
            <a:ln w="9525">
              <a:noFill/>
              <a:round/>
              <a:headEnd/>
              <a:tailEnd/>
            </a:ln>
            <a:effectLst/>
          </p:spPr>
          <p:txBody>
            <a:bodyPr wrap="none" anchor="ctr"/>
            <a:lstStyle/>
            <a:p>
              <a:endParaRPr lang="zh-CN" altLang="en-US"/>
            </a:p>
          </p:txBody>
        </p:sp>
        <p:sp>
          <p:nvSpPr>
            <p:cNvPr id="269323" name="Oval 11"/>
            <p:cNvSpPr>
              <a:spLocks noChangeArrowheads="1"/>
            </p:cNvSpPr>
            <p:nvPr/>
          </p:nvSpPr>
          <p:spPr bwMode="auto">
            <a:xfrm>
              <a:off x="5062" y="1885"/>
              <a:ext cx="127" cy="127"/>
            </a:xfrm>
            <a:prstGeom prst="ellipse">
              <a:avLst/>
            </a:prstGeom>
            <a:solidFill>
              <a:schemeClr val="tx2"/>
            </a:solidFill>
            <a:ln w="9525">
              <a:noFill/>
              <a:round/>
              <a:headEnd/>
              <a:tailEnd/>
            </a:ln>
            <a:effectLst/>
          </p:spPr>
          <p:txBody>
            <a:bodyPr wrap="none" anchor="ctr"/>
            <a:lstStyle/>
            <a:p>
              <a:endParaRPr lang="zh-CN" altLang="en-US"/>
            </a:p>
          </p:txBody>
        </p:sp>
        <p:sp>
          <p:nvSpPr>
            <p:cNvPr id="269324" name="Oval 12"/>
            <p:cNvSpPr>
              <a:spLocks noChangeArrowheads="1"/>
            </p:cNvSpPr>
            <p:nvPr/>
          </p:nvSpPr>
          <p:spPr bwMode="auto">
            <a:xfrm>
              <a:off x="4704" y="2064"/>
              <a:ext cx="127" cy="127"/>
            </a:xfrm>
            <a:prstGeom prst="ellipse">
              <a:avLst/>
            </a:prstGeom>
            <a:solidFill>
              <a:schemeClr val="tx2"/>
            </a:solidFill>
            <a:ln w="9525">
              <a:noFill/>
              <a:round/>
              <a:headEnd/>
              <a:tailEnd/>
            </a:ln>
            <a:effectLst/>
          </p:spPr>
          <p:txBody>
            <a:bodyPr wrap="none" anchor="ctr"/>
            <a:lstStyle/>
            <a:p>
              <a:endParaRPr lang="zh-CN" altLang="en-US"/>
            </a:p>
          </p:txBody>
        </p:sp>
        <p:sp>
          <p:nvSpPr>
            <p:cNvPr id="269325" name="Oval 13"/>
            <p:cNvSpPr>
              <a:spLocks noChangeArrowheads="1"/>
            </p:cNvSpPr>
            <p:nvPr/>
          </p:nvSpPr>
          <p:spPr bwMode="auto">
            <a:xfrm>
              <a:off x="4883" y="2064"/>
              <a:ext cx="127" cy="127"/>
            </a:xfrm>
            <a:prstGeom prst="ellipse">
              <a:avLst/>
            </a:prstGeom>
            <a:solidFill>
              <a:schemeClr val="tx2"/>
            </a:solidFill>
            <a:ln w="9525">
              <a:noFill/>
              <a:round/>
              <a:headEnd/>
              <a:tailEnd/>
            </a:ln>
            <a:effectLst/>
          </p:spPr>
          <p:txBody>
            <a:bodyPr wrap="none" anchor="ctr"/>
            <a:lstStyle/>
            <a:p>
              <a:endParaRPr lang="zh-CN" altLang="en-US"/>
            </a:p>
          </p:txBody>
        </p:sp>
        <p:sp>
          <p:nvSpPr>
            <p:cNvPr id="269326" name="Oval 14"/>
            <p:cNvSpPr>
              <a:spLocks noChangeArrowheads="1"/>
            </p:cNvSpPr>
            <p:nvPr/>
          </p:nvSpPr>
          <p:spPr bwMode="auto">
            <a:xfrm>
              <a:off x="5062" y="2064"/>
              <a:ext cx="127" cy="127"/>
            </a:xfrm>
            <a:prstGeom prst="ellipse">
              <a:avLst/>
            </a:prstGeom>
            <a:solidFill>
              <a:schemeClr val="tx2"/>
            </a:solidFill>
            <a:ln w="9525">
              <a:noFill/>
              <a:round/>
              <a:headEnd/>
              <a:tailEnd/>
            </a:ln>
            <a:effectLst/>
          </p:spPr>
          <p:txBody>
            <a:bodyPr wrap="none" anchor="ctr"/>
            <a:lstStyle/>
            <a:p>
              <a:endParaRPr lang="zh-CN" altLang="en-US"/>
            </a:p>
          </p:txBody>
        </p:sp>
        <p:sp>
          <p:nvSpPr>
            <p:cNvPr id="269327" name="Oval 15"/>
            <p:cNvSpPr>
              <a:spLocks noChangeArrowheads="1"/>
            </p:cNvSpPr>
            <p:nvPr/>
          </p:nvSpPr>
          <p:spPr bwMode="auto">
            <a:xfrm>
              <a:off x="5241" y="2064"/>
              <a:ext cx="127" cy="127"/>
            </a:xfrm>
            <a:prstGeom prst="ellipse">
              <a:avLst/>
            </a:prstGeom>
            <a:solidFill>
              <a:schemeClr val="accent2"/>
            </a:solidFill>
            <a:ln w="9525">
              <a:noFill/>
              <a:round/>
              <a:headEnd/>
              <a:tailEnd/>
            </a:ln>
            <a:effectLst/>
          </p:spPr>
          <p:txBody>
            <a:bodyPr wrap="none" anchor="ctr"/>
            <a:lstStyle/>
            <a:p>
              <a:endParaRPr lang="zh-CN" altLang="en-US"/>
            </a:p>
          </p:txBody>
        </p:sp>
        <p:sp>
          <p:nvSpPr>
            <p:cNvPr id="269328" name="Oval 16"/>
            <p:cNvSpPr>
              <a:spLocks noChangeArrowheads="1"/>
            </p:cNvSpPr>
            <p:nvPr/>
          </p:nvSpPr>
          <p:spPr bwMode="auto">
            <a:xfrm>
              <a:off x="4704" y="2243"/>
              <a:ext cx="127" cy="127"/>
            </a:xfrm>
            <a:prstGeom prst="ellipse">
              <a:avLst/>
            </a:prstGeom>
            <a:solidFill>
              <a:schemeClr val="tx2"/>
            </a:solidFill>
            <a:ln w="9525">
              <a:noFill/>
              <a:round/>
              <a:headEnd/>
              <a:tailEnd/>
            </a:ln>
            <a:effectLst/>
          </p:spPr>
          <p:txBody>
            <a:bodyPr wrap="none" anchor="ctr"/>
            <a:lstStyle/>
            <a:p>
              <a:endParaRPr lang="zh-CN" altLang="en-US"/>
            </a:p>
          </p:txBody>
        </p:sp>
        <p:sp>
          <p:nvSpPr>
            <p:cNvPr id="269329" name="Oval 17"/>
            <p:cNvSpPr>
              <a:spLocks noChangeArrowheads="1"/>
            </p:cNvSpPr>
            <p:nvPr/>
          </p:nvSpPr>
          <p:spPr bwMode="auto">
            <a:xfrm>
              <a:off x="4883" y="2243"/>
              <a:ext cx="127" cy="127"/>
            </a:xfrm>
            <a:prstGeom prst="ellipse">
              <a:avLst/>
            </a:prstGeom>
            <a:solidFill>
              <a:schemeClr val="tx2"/>
            </a:solidFill>
            <a:ln w="9525">
              <a:noFill/>
              <a:round/>
              <a:headEnd/>
              <a:tailEnd/>
            </a:ln>
            <a:effectLst/>
          </p:spPr>
          <p:txBody>
            <a:bodyPr wrap="none" anchor="ctr"/>
            <a:lstStyle/>
            <a:p>
              <a:endParaRPr lang="zh-CN" altLang="en-US"/>
            </a:p>
          </p:txBody>
        </p:sp>
        <p:sp>
          <p:nvSpPr>
            <p:cNvPr id="269330" name="Oval 18"/>
            <p:cNvSpPr>
              <a:spLocks noChangeArrowheads="1"/>
            </p:cNvSpPr>
            <p:nvPr/>
          </p:nvSpPr>
          <p:spPr bwMode="auto">
            <a:xfrm>
              <a:off x="5062" y="2243"/>
              <a:ext cx="127" cy="127"/>
            </a:xfrm>
            <a:prstGeom prst="ellipse">
              <a:avLst/>
            </a:prstGeom>
            <a:solidFill>
              <a:schemeClr val="accent2"/>
            </a:solidFill>
            <a:ln w="9525">
              <a:noFill/>
              <a:round/>
              <a:headEnd/>
              <a:tailEnd/>
            </a:ln>
            <a:effectLst/>
          </p:spPr>
          <p:txBody>
            <a:bodyPr wrap="none" anchor="ctr"/>
            <a:lstStyle/>
            <a:p>
              <a:endParaRPr lang="zh-CN" altLang="en-US"/>
            </a:p>
          </p:txBody>
        </p:sp>
        <p:sp>
          <p:nvSpPr>
            <p:cNvPr id="269331" name="Oval 19"/>
            <p:cNvSpPr>
              <a:spLocks noChangeArrowheads="1"/>
            </p:cNvSpPr>
            <p:nvPr/>
          </p:nvSpPr>
          <p:spPr bwMode="auto">
            <a:xfrm>
              <a:off x="5241" y="2243"/>
              <a:ext cx="127" cy="127"/>
            </a:xfrm>
            <a:prstGeom prst="ellipse">
              <a:avLst/>
            </a:prstGeom>
            <a:solidFill>
              <a:schemeClr val="accent2"/>
            </a:solidFill>
            <a:ln w="9525">
              <a:noFill/>
              <a:round/>
              <a:headEnd/>
              <a:tailEnd/>
            </a:ln>
            <a:effectLst/>
          </p:spPr>
          <p:txBody>
            <a:bodyPr wrap="none" anchor="ctr"/>
            <a:lstStyle/>
            <a:p>
              <a:endParaRPr lang="zh-CN" altLang="en-US"/>
            </a:p>
          </p:txBody>
        </p:sp>
        <p:sp>
          <p:nvSpPr>
            <p:cNvPr id="269332" name="Oval 20"/>
            <p:cNvSpPr>
              <a:spLocks noChangeArrowheads="1"/>
            </p:cNvSpPr>
            <p:nvPr/>
          </p:nvSpPr>
          <p:spPr bwMode="auto">
            <a:xfrm>
              <a:off x="5420" y="2243"/>
              <a:ext cx="127" cy="127"/>
            </a:xfrm>
            <a:prstGeom prst="ellipse">
              <a:avLst/>
            </a:prstGeom>
            <a:solidFill>
              <a:schemeClr val="accent1"/>
            </a:solidFill>
            <a:ln w="9525">
              <a:noFill/>
              <a:round/>
              <a:headEnd/>
              <a:tailEnd/>
            </a:ln>
            <a:effectLst/>
          </p:spPr>
          <p:txBody>
            <a:bodyPr wrap="none" anchor="ctr"/>
            <a:lstStyle/>
            <a:p>
              <a:endParaRPr lang="zh-CN" altLang="en-US"/>
            </a:p>
          </p:txBody>
        </p:sp>
        <p:sp>
          <p:nvSpPr>
            <p:cNvPr id="269333" name="Oval 21"/>
            <p:cNvSpPr>
              <a:spLocks noChangeArrowheads="1"/>
            </p:cNvSpPr>
            <p:nvPr/>
          </p:nvSpPr>
          <p:spPr bwMode="auto">
            <a:xfrm>
              <a:off x="4704" y="2421"/>
              <a:ext cx="127" cy="128"/>
            </a:xfrm>
            <a:prstGeom prst="ellipse">
              <a:avLst/>
            </a:prstGeom>
            <a:solidFill>
              <a:schemeClr val="tx2"/>
            </a:solidFill>
            <a:ln w="9525">
              <a:noFill/>
              <a:round/>
              <a:headEnd/>
              <a:tailEnd/>
            </a:ln>
            <a:effectLst/>
          </p:spPr>
          <p:txBody>
            <a:bodyPr wrap="none" anchor="ctr"/>
            <a:lstStyle/>
            <a:p>
              <a:endParaRPr lang="zh-CN" altLang="en-US"/>
            </a:p>
          </p:txBody>
        </p:sp>
        <p:sp>
          <p:nvSpPr>
            <p:cNvPr id="269334" name="Oval 22"/>
            <p:cNvSpPr>
              <a:spLocks noChangeArrowheads="1"/>
            </p:cNvSpPr>
            <p:nvPr/>
          </p:nvSpPr>
          <p:spPr bwMode="auto">
            <a:xfrm>
              <a:off x="4883" y="2421"/>
              <a:ext cx="127" cy="128"/>
            </a:xfrm>
            <a:prstGeom prst="ellipse">
              <a:avLst/>
            </a:prstGeom>
            <a:solidFill>
              <a:schemeClr val="accent2"/>
            </a:solidFill>
            <a:ln w="9525">
              <a:noFill/>
              <a:round/>
              <a:headEnd/>
              <a:tailEnd/>
            </a:ln>
            <a:effectLst/>
          </p:spPr>
          <p:txBody>
            <a:bodyPr wrap="none" anchor="ctr"/>
            <a:lstStyle/>
            <a:p>
              <a:endParaRPr lang="zh-CN" altLang="en-US"/>
            </a:p>
          </p:txBody>
        </p:sp>
        <p:sp>
          <p:nvSpPr>
            <p:cNvPr id="269335" name="Oval 23"/>
            <p:cNvSpPr>
              <a:spLocks noChangeArrowheads="1"/>
            </p:cNvSpPr>
            <p:nvPr/>
          </p:nvSpPr>
          <p:spPr bwMode="auto">
            <a:xfrm>
              <a:off x="5062" y="2421"/>
              <a:ext cx="127" cy="128"/>
            </a:xfrm>
            <a:prstGeom prst="ellipse">
              <a:avLst/>
            </a:prstGeom>
            <a:solidFill>
              <a:schemeClr val="accent2"/>
            </a:solidFill>
            <a:ln w="9525">
              <a:noFill/>
              <a:round/>
              <a:headEnd/>
              <a:tailEnd/>
            </a:ln>
            <a:effectLst/>
          </p:spPr>
          <p:txBody>
            <a:bodyPr wrap="none" anchor="ctr"/>
            <a:lstStyle/>
            <a:p>
              <a:endParaRPr lang="zh-CN" altLang="en-US"/>
            </a:p>
          </p:txBody>
        </p:sp>
        <p:sp>
          <p:nvSpPr>
            <p:cNvPr id="269336" name="Oval 24"/>
            <p:cNvSpPr>
              <a:spLocks noChangeArrowheads="1"/>
            </p:cNvSpPr>
            <p:nvPr/>
          </p:nvSpPr>
          <p:spPr bwMode="auto">
            <a:xfrm>
              <a:off x="5241" y="2421"/>
              <a:ext cx="127" cy="128"/>
            </a:xfrm>
            <a:prstGeom prst="ellipse">
              <a:avLst/>
            </a:prstGeom>
            <a:solidFill>
              <a:schemeClr val="accent1"/>
            </a:solidFill>
            <a:ln w="9525">
              <a:noFill/>
              <a:round/>
              <a:headEnd/>
              <a:tailEnd/>
            </a:ln>
            <a:effectLst/>
          </p:spPr>
          <p:txBody>
            <a:bodyPr wrap="none" anchor="ctr"/>
            <a:lstStyle/>
            <a:p>
              <a:endParaRPr lang="zh-CN" altLang="en-US"/>
            </a:p>
          </p:txBody>
        </p:sp>
        <p:sp>
          <p:nvSpPr>
            <p:cNvPr id="269337" name="Oval 25"/>
            <p:cNvSpPr>
              <a:spLocks noChangeArrowheads="1"/>
            </p:cNvSpPr>
            <p:nvPr/>
          </p:nvSpPr>
          <p:spPr bwMode="auto">
            <a:xfrm>
              <a:off x="4704" y="2600"/>
              <a:ext cx="127" cy="128"/>
            </a:xfrm>
            <a:prstGeom prst="ellipse">
              <a:avLst/>
            </a:prstGeom>
            <a:solidFill>
              <a:schemeClr val="accent2"/>
            </a:solidFill>
            <a:ln w="9525">
              <a:noFill/>
              <a:round/>
              <a:headEnd/>
              <a:tailEnd/>
            </a:ln>
            <a:effectLst/>
          </p:spPr>
          <p:txBody>
            <a:bodyPr wrap="none" anchor="ctr"/>
            <a:lstStyle/>
            <a:p>
              <a:endParaRPr lang="zh-CN" altLang="en-US"/>
            </a:p>
          </p:txBody>
        </p:sp>
        <p:sp>
          <p:nvSpPr>
            <p:cNvPr id="269338" name="Oval 26"/>
            <p:cNvSpPr>
              <a:spLocks noChangeArrowheads="1"/>
            </p:cNvSpPr>
            <p:nvPr/>
          </p:nvSpPr>
          <p:spPr bwMode="auto">
            <a:xfrm>
              <a:off x="4883" y="2600"/>
              <a:ext cx="127" cy="128"/>
            </a:xfrm>
            <a:prstGeom prst="ellipse">
              <a:avLst/>
            </a:prstGeom>
            <a:solidFill>
              <a:schemeClr val="accent2"/>
            </a:solidFill>
            <a:ln w="9525">
              <a:noFill/>
              <a:round/>
              <a:headEnd/>
              <a:tailEnd/>
            </a:ln>
            <a:effectLst/>
          </p:spPr>
          <p:txBody>
            <a:bodyPr wrap="none" anchor="ctr"/>
            <a:lstStyle/>
            <a:p>
              <a:endParaRPr lang="zh-CN" altLang="en-US"/>
            </a:p>
          </p:txBody>
        </p:sp>
        <p:sp>
          <p:nvSpPr>
            <p:cNvPr id="269339" name="Oval 27"/>
            <p:cNvSpPr>
              <a:spLocks noChangeArrowheads="1"/>
            </p:cNvSpPr>
            <p:nvPr/>
          </p:nvSpPr>
          <p:spPr bwMode="auto">
            <a:xfrm>
              <a:off x="5062" y="2600"/>
              <a:ext cx="127" cy="128"/>
            </a:xfrm>
            <a:prstGeom prst="ellipse">
              <a:avLst/>
            </a:prstGeom>
            <a:solidFill>
              <a:schemeClr val="accent1"/>
            </a:solidFill>
            <a:ln w="9525">
              <a:noFill/>
              <a:round/>
              <a:headEnd/>
              <a:tailEnd/>
            </a:ln>
            <a:effectLst/>
          </p:spPr>
          <p:txBody>
            <a:bodyPr wrap="none" anchor="ctr"/>
            <a:lstStyle/>
            <a:p>
              <a:endParaRPr lang="zh-CN" altLang="en-US"/>
            </a:p>
          </p:txBody>
        </p:sp>
        <p:sp>
          <p:nvSpPr>
            <p:cNvPr id="269340" name="Oval 28"/>
            <p:cNvSpPr>
              <a:spLocks noChangeArrowheads="1"/>
            </p:cNvSpPr>
            <p:nvPr/>
          </p:nvSpPr>
          <p:spPr bwMode="auto">
            <a:xfrm>
              <a:off x="5241" y="2600"/>
              <a:ext cx="127" cy="128"/>
            </a:xfrm>
            <a:prstGeom prst="ellipse">
              <a:avLst/>
            </a:prstGeom>
            <a:solidFill>
              <a:schemeClr val="accent1"/>
            </a:solidFill>
            <a:ln w="9525">
              <a:noFill/>
              <a:round/>
              <a:headEnd/>
              <a:tailEnd/>
            </a:ln>
            <a:effectLst/>
          </p:spPr>
          <p:txBody>
            <a:bodyPr wrap="none" anchor="ctr"/>
            <a:lstStyle/>
            <a:p>
              <a:endParaRPr lang="zh-CN" altLang="en-US"/>
            </a:p>
          </p:txBody>
        </p:sp>
        <p:sp>
          <p:nvSpPr>
            <p:cNvPr id="269341" name="Oval 29"/>
            <p:cNvSpPr>
              <a:spLocks noChangeArrowheads="1"/>
            </p:cNvSpPr>
            <p:nvPr/>
          </p:nvSpPr>
          <p:spPr bwMode="auto">
            <a:xfrm>
              <a:off x="5420" y="2600"/>
              <a:ext cx="127" cy="128"/>
            </a:xfrm>
            <a:prstGeom prst="ellipse">
              <a:avLst/>
            </a:prstGeom>
            <a:solidFill>
              <a:schemeClr val="folHlink"/>
            </a:solidFill>
            <a:ln w="9525">
              <a:noFill/>
              <a:round/>
              <a:headEnd/>
              <a:tailEnd/>
            </a:ln>
            <a:effectLst/>
          </p:spPr>
          <p:txBody>
            <a:bodyPr wrap="none" anchor="ctr"/>
            <a:lstStyle/>
            <a:p>
              <a:endParaRPr lang="zh-CN" altLang="en-US"/>
            </a:p>
          </p:txBody>
        </p:sp>
        <p:sp>
          <p:nvSpPr>
            <p:cNvPr id="269342" name="Oval 30"/>
            <p:cNvSpPr>
              <a:spLocks noChangeArrowheads="1"/>
            </p:cNvSpPr>
            <p:nvPr/>
          </p:nvSpPr>
          <p:spPr bwMode="auto">
            <a:xfrm>
              <a:off x="4704" y="2779"/>
              <a:ext cx="127" cy="127"/>
            </a:xfrm>
            <a:prstGeom prst="ellipse">
              <a:avLst/>
            </a:prstGeom>
            <a:solidFill>
              <a:schemeClr val="accent2"/>
            </a:solidFill>
            <a:ln w="9525">
              <a:noFill/>
              <a:round/>
              <a:headEnd/>
              <a:tailEnd/>
            </a:ln>
            <a:effectLst/>
          </p:spPr>
          <p:txBody>
            <a:bodyPr wrap="none" anchor="ctr"/>
            <a:lstStyle/>
            <a:p>
              <a:endParaRPr lang="zh-CN" altLang="en-US"/>
            </a:p>
          </p:txBody>
        </p:sp>
        <p:sp>
          <p:nvSpPr>
            <p:cNvPr id="269343" name="Oval 31"/>
            <p:cNvSpPr>
              <a:spLocks noChangeArrowheads="1"/>
            </p:cNvSpPr>
            <p:nvPr/>
          </p:nvSpPr>
          <p:spPr bwMode="auto">
            <a:xfrm>
              <a:off x="4883" y="2779"/>
              <a:ext cx="127" cy="127"/>
            </a:xfrm>
            <a:prstGeom prst="ellipse">
              <a:avLst/>
            </a:prstGeom>
            <a:solidFill>
              <a:schemeClr val="accent1"/>
            </a:solidFill>
            <a:ln w="9525">
              <a:noFill/>
              <a:round/>
              <a:headEnd/>
              <a:tailEnd/>
            </a:ln>
            <a:effectLst/>
          </p:spPr>
          <p:txBody>
            <a:bodyPr wrap="none" anchor="ctr"/>
            <a:lstStyle/>
            <a:p>
              <a:endParaRPr lang="zh-CN" altLang="en-US"/>
            </a:p>
          </p:txBody>
        </p:sp>
        <p:sp>
          <p:nvSpPr>
            <p:cNvPr id="269344" name="Oval 32"/>
            <p:cNvSpPr>
              <a:spLocks noChangeArrowheads="1"/>
            </p:cNvSpPr>
            <p:nvPr/>
          </p:nvSpPr>
          <p:spPr bwMode="auto">
            <a:xfrm>
              <a:off x="5062" y="2779"/>
              <a:ext cx="127" cy="127"/>
            </a:xfrm>
            <a:prstGeom prst="ellipse">
              <a:avLst/>
            </a:prstGeom>
            <a:solidFill>
              <a:schemeClr val="accent1"/>
            </a:solidFill>
            <a:ln w="9525">
              <a:noFill/>
              <a:round/>
              <a:headEnd/>
              <a:tailEnd/>
            </a:ln>
            <a:effectLst/>
          </p:spPr>
          <p:txBody>
            <a:bodyPr wrap="none" anchor="ctr"/>
            <a:lstStyle/>
            <a:p>
              <a:endParaRPr lang="zh-CN" altLang="en-US"/>
            </a:p>
          </p:txBody>
        </p:sp>
        <p:sp>
          <p:nvSpPr>
            <p:cNvPr id="269345" name="Oval 33"/>
            <p:cNvSpPr>
              <a:spLocks noChangeArrowheads="1"/>
            </p:cNvSpPr>
            <p:nvPr/>
          </p:nvSpPr>
          <p:spPr bwMode="auto">
            <a:xfrm>
              <a:off x="5241" y="2779"/>
              <a:ext cx="127" cy="127"/>
            </a:xfrm>
            <a:prstGeom prst="ellipse">
              <a:avLst/>
            </a:prstGeom>
            <a:solidFill>
              <a:schemeClr val="folHlink"/>
            </a:solidFill>
            <a:ln w="9525">
              <a:noFill/>
              <a:round/>
              <a:headEnd/>
              <a:tailEnd/>
            </a:ln>
            <a:effectLst/>
          </p:spPr>
          <p:txBody>
            <a:bodyPr wrap="none" anchor="ctr"/>
            <a:lstStyle/>
            <a:p>
              <a:endParaRPr lang="zh-CN" altLang="en-US"/>
            </a:p>
          </p:txBody>
        </p:sp>
        <p:sp>
          <p:nvSpPr>
            <p:cNvPr id="269346" name="Oval 34"/>
            <p:cNvSpPr>
              <a:spLocks noChangeArrowheads="1"/>
            </p:cNvSpPr>
            <p:nvPr/>
          </p:nvSpPr>
          <p:spPr bwMode="auto">
            <a:xfrm>
              <a:off x="4704" y="2958"/>
              <a:ext cx="127" cy="127"/>
            </a:xfrm>
            <a:prstGeom prst="ellipse">
              <a:avLst/>
            </a:prstGeom>
            <a:solidFill>
              <a:schemeClr val="accent1"/>
            </a:solidFill>
            <a:ln w="9525">
              <a:noFill/>
              <a:round/>
              <a:headEnd/>
              <a:tailEnd/>
            </a:ln>
            <a:effectLst/>
          </p:spPr>
          <p:txBody>
            <a:bodyPr wrap="none" anchor="ctr"/>
            <a:lstStyle/>
            <a:p>
              <a:endParaRPr lang="zh-CN" altLang="en-US"/>
            </a:p>
          </p:txBody>
        </p:sp>
        <p:sp>
          <p:nvSpPr>
            <p:cNvPr id="269347" name="Oval 35"/>
            <p:cNvSpPr>
              <a:spLocks noChangeArrowheads="1"/>
            </p:cNvSpPr>
            <p:nvPr/>
          </p:nvSpPr>
          <p:spPr bwMode="auto">
            <a:xfrm>
              <a:off x="4883" y="2958"/>
              <a:ext cx="127" cy="127"/>
            </a:xfrm>
            <a:prstGeom prst="ellipse">
              <a:avLst/>
            </a:prstGeom>
            <a:solidFill>
              <a:schemeClr val="accent1"/>
            </a:solidFill>
            <a:ln w="9525">
              <a:noFill/>
              <a:round/>
              <a:headEnd/>
              <a:tailEnd/>
            </a:ln>
            <a:effectLst/>
          </p:spPr>
          <p:txBody>
            <a:bodyPr wrap="none" anchor="ctr"/>
            <a:lstStyle/>
            <a:p>
              <a:endParaRPr lang="zh-CN" altLang="en-US"/>
            </a:p>
          </p:txBody>
        </p:sp>
        <p:sp>
          <p:nvSpPr>
            <p:cNvPr id="269348" name="Oval 36"/>
            <p:cNvSpPr>
              <a:spLocks noChangeArrowheads="1"/>
            </p:cNvSpPr>
            <p:nvPr/>
          </p:nvSpPr>
          <p:spPr bwMode="auto">
            <a:xfrm>
              <a:off x="5062" y="2958"/>
              <a:ext cx="127" cy="127"/>
            </a:xfrm>
            <a:prstGeom prst="ellipse">
              <a:avLst/>
            </a:prstGeom>
            <a:solidFill>
              <a:schemeClr val="folHlink"/>
            </a:solidFill>
            <a:ln w="9525">
              <a:noFill/>
              <a:round/>
              <a:headEnd/>
              <a:tailEnd/>
            </a:ln>
            <a:effectLst/>
          </p:spPr>
          <p:txBody>
            <a:bodyPr wrap="none" anchor="ctr"/>
            <a:lstStyle/>
            <a:p>
              <a:endParaRPr lang="zh-CN" altLang="en-US"/>
            </a:p>
          </p:txBody>
        </p:sp>
        <p:sp>
          <p:nvSpPr>
            <p:cNvPr id="269349" name="Oval 37"/>
            <p:cNvSpPr>
              <a:spLocks noChangeArrowheads="1"/>
            </p:cNvSpPr>
            <p:nvPr/>
          </p:nvSpPr>
          <p:spPr bwMode="auto">
            <a:xfrm>
              <a:off x="5241" y="2958"/>
              <a:ext cx="127" cy="127"/>
            </a:xfrm>
            <a:prstGeom prst="ellipse">
              <a:avLst/>
            </a:prstGeom>
            <a:solidFill>
              <a:schemeClr val="folHlink"/>
            </a:solidFill>
            <a:ln w="9525">
              <a:noFill/>
              <a:round/>
              <a:headEnd/>
              <a:tailEnd/>
            </a:ln>
            <a:effectLst/>
          </p:spPr>
          <p:txBody>
            <a:bodyPr wrap="none" anchor="ctr"/>
            <a:lstStyle/>
            <a:p>
              <a:endParaRPr lang="zh-CN" altLang="en-US"/>
            </a:p>
          </p:txBody>
        </p:sp>
        <p:sp>
          <p:nvSpPr>
            <p:cNvPr id="269350" name="Oval 38"/>
            <p:cNvSpPr>
              <a:spLocks noChangeArrowheads="1"/>
            </p:cNvSpPr>
            <p:nvPr/>
          </p:nvSpPr>
          <p:spPr bwMode="auto">
            <a:xfrm>
              <a:off x="4883" y="3137"/>
              <a:ext cx="127" cy="127"/>
            </a:xfrm>
            <a:prstGeom prst="ellipse">
              <a:avLst/>
            </a:prstGeom>
            <a:solidFill>
              <a:schemeClr val="folHlink"/>
            </a:solidFill>
            <a:ln w="9525">
              <a:noFill/>
              <a:round/>
              <a:headEnd/>
              <a:tailEnd/>
            </a:ln>
            <a:effectLst/>
          </p:spPr>
          <p:txBody>
            <a:bodyPr wrap="none" anchor="ctr"/>
            <a:lstStyle/>
            <a:p>
              <a:endParaRPr lang="zh-CN" altLang="en-US"/>
            </a:p>
          </p:txBody>
        </p:sp>
        <p:sp>
          <p:nvSpPr>
            <p:cNvPr id="269351" name="Oval 39"/>
            <p:cNvSpPr>
              <a:spLocks noChangeArrowheads="1"/>
            </p:cNvSpPr>
            <p:nvPr/>
          </p:nvSpPr>
          <p:spPr bwMode="auto">
            <a:xfrm>
              <a:off x="5241" y="3137"/>
              <a:ext cx="127" cy="127"/>
            </a:xfrm>
            <a:prstGeom prst="ellipse">
              <a:avLst/>
            </a:prstGeom>
            <a:solidFill>
              <a:schemeClr val="folHlink"/>
            </a:solidFill>
            <a:ln w="9525">
              <a:noFill/>
              <a:round/>
              <a:headEnd/>
              <a:tailEnd/>
            </a:ln>
            <a:effectLst/>
          </p:spPr>
          <p:txBody>
            <a:bodyPr wrap="none" anchor="ctr"/>
            <a:lstStyle/>
            <a:p>
              <a:endParaRPr lang="zh-CN" altLang="en-US"/>
            </a:p>
          </p:txBody>
        </p:sp>
      </p:grpSp>
      <p:sp>
        <p:nvSpPr>
          <p:cNvPr id="269352" name="Line 40"/>
          <p:cNvSpPr>
            <a:spLocks noChangeShapeType="1"/>
          </p:cNvSpPr>
          <p:nvPr/>
        </p:nvSpPr>
        <p:spPr bwMode="auto">
          <a:xfrm>
            <a:off x="304800" y="2819400"/>
            <a:ext cx="8229600" cy="0"/>
          </a:xfrm>
          <a:prstGeom prst="line">
            <a:avLst/>
          </a:prstGeom>
          <a:noFill/>
          <a:ln w="6350">
            <a:solidFill>
              <a:schemeClr val="tx1"/>
            </a:solidFill>
            <a:round/>
            <a:headEnd/>
            <a:tailEnd/>
          </a:ln>
          <a:effectLst/>
        </p:spPr>
        <p:txBody>
          <a:bodyPr/>
          <a:lstStyle/>
          <a:p>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8324A5E-0EC8-4917-83C4-3D5EF830E31B}" type="datetimeFigureOut">
              <a:rPr lang="zh-CN" altLang="en-US" smtClean="0"/>
              <a:pPr/>
              <a:t>2019/2/25</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7BD1B4E0-A8FA-4CE9-9889-7CFAA58055F5}"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78324A5E-0EC8-4917-83C4-3D5EF830E31B}" type="datetimeFigureOut">
              <a:rPr lang="zh-CN" altLang="en-US" smtClean="0"/>
              <a:pPr/>
              <a:t>2019/2/25</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7BD1B4E0-A8FA-4CE9-9889-7CFAA58055F5}"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78324A5E-0EC8-4917-83C4-3D5EF830E31B}" type="datetimeFigureOut">
              <a:rPr lang="zh-CN" altLang="en-US" smtClean="0"/>
              <a:pPr/>
              <a:t>2019/2/25</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7BD1B4E0-A8FA-4CE9-9889-7CFAA58055F5}"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78324A5E-0EC8-4917-83C4-3D5EF830E31B}" type="datetimeFigureOut">
              <a:rPr lang="zh-CN" altLang="en-US" smtClean="0"/>
              <a:pPr/>
              <a:t>2019/2/25</a:t>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7BD1B4E0-A8FA-4CE9-9889-7CFAA58055F5}"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78324A5E-0EC8-4917-83C4-3D5EF830E31B}" type="datetimeFigureOut">
              <a:rPr lang="zh-CN" altLang="en-US" smtClean="0"/>
              <a:pPr/>
              <a:t>2019/2/25</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7BD1B4E0-A8FA-4CE9-9889-7CFAA58055F5}"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78324A5E-0EC8-4917-83C4-3D5EF830E31B}" type="datetimeFigureOut">
              <a:rPr lang="zh-CN" altLang="en-US" smtClean="0"/>
              <a:pPr/>
              <a:t>2019/2/25</a:t>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7BD1B4E0-A8FA-4CE9-9889-7CFAA58055F5}"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78324A5E-0EC8-4917-83C4-3D5EF830E31B}" type="datetimeFigureOut">
              <a:rPr lang="zh-CN" altLang="en-US" smtClean="0"/>
              <a:pPr/>
              <a:t>2019/2/25</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7BD1B4E0-A8FA-4CE9-9889-7CFAA58055F5}"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78324A5E-0EC8-4917-83C4-3D5EF830E31B}" type="datetimeFigureOut">
              <a:rPr lang="zh-CN" altLang="en-US" smtClean="0"/>
              <a:pPr/>
              <a:t>2019/2/25</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7BD1B4E0-A8FA-4CE9-9889-7CFAA58055F5}"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8324A5E-0EC8-4917-83C4-3D5EF830E31B}" type="datetimeFigureOut">
              <a:rPr lang="zh-CN" altLang="en-US" smtClean="0"/>
              <a:pPr/>
              <a:t>2019/2/25</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7BD1B4E0-A8FA-4CE9-9889-7CFAA58055F5}"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8324A5E-0EC8-4917-83C4-3D5EF830E31B}" type="datetimeFigureOut">
              <a:rPr lang="zh-CN" altLang="en-US" smtClean="0"/>
              <a:pPr/>
              <a:t>2019/2/25</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7BD1B4E0-A8FA-4CE9-9889-7CFAA58055F5}"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719263"/>
            <a:ext cx="4038600" cy="44116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6248400"/>
            <a:ext cx="2133600" cy="457200"/>
          </a:xfrm>
        </p:spPr>
        <p:txBody>
          <a:bodyPr/>
          <a:lstStyle>
            <a:lvl1pPr>
              <a:defRPr/>
            </a:lvl1pPr>
          </a:lstStyle>
          <a:p>
            <a:fld id="{78324A5E-0EC8-4917-83C4-3D5EF830E31B}" type="datetimeFigureOut">
              <a:rPr lang="zh-CN" altLang="en-US" smtClean="0"/>
              <a:pPr/>
              <a:t>2019/2/25</a:t>
            </a:fld>
            <a:endParaRPr lang="zh-CN" altLang="en-US"/>
          </a:p>
        </p:txBody>
      </p:sp>
      <p:sp>
        <p:nvSpPr>
          <p:cNvPr id="6" name="页脚占位符 5"/>
          <p:cNvSpPr>
            <a:spLocks noGrp="1"/>
          </p:cNvSpPr>
          <p:nvPr>
            <p:ph type="ftr" sz="quarter" idx="11"/>
          </p:nvPr>
        </p:nvSpPr>
        <p:spPr>
          <a:xfrm>
            <a:off x="3124200" y="6248400"/>
            <a:ext cx="2895600" cy="457200"/>
          </a:xfrm>
        </p:spPr>
        <p:txBody>
          <a:bodyPr/>
          <a:lstStyle>
            <a:lvl1pPr>
              <a:defRPr/>
            </a:lvl1pPr>
          </a:lstStyle>
          <a:p>
            <a:endParaRPr lang="zh-CN" altLang="en-US"/>
          </a:p>
        </p:txBody>
      </p:sp>
      <p:sp>
        <p:nvSpPr>
          <p:cNvPr id="7" name="灯片编号占位符 6"/>
          <p:cNvSpPr>
            <a:spLocks noGrp="1"/>
          </p:cNvSpPr>
          <p:nvPr>
            <p:ph type="sldNum" sz="quarter" idx="12"/>
          </p:nvPr>
        </p:nvSpPr>
        <p:spPr>
          <a:xfrm>
            <a:off x="6553200" y="6248400"/>
            <a:ext cx="2133600" cy="457200"/>
          </a:xfrm>
        </p:spPr>
        <p:txBody>
          <a:bodyPr/>
          <a:lstStyle>
            <a:lvl1pPr>
              <a:defRPr/>
            </a:lvl1pPr>
          </a:lstStyle>
          <a:p>
            <a:fld id="{7BD1B4E0-A8FA-4CE9-9889-7CFAA58055F5}" type="slidenum">
              <a:rPr lang="zh-CN" altLang="en-US" smtClean="0"/>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719263"/>
            <a:ext cx="4038600" cy="44116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719263"/>
            <a:ext cx="4038600" cy="212883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4000500"/>
            <a:ext cx="4038600" cy="21304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日期占位符 5"/>
          <p:cNvSpPr>
            <a:spLocks noGrp="1"/>
          </p:cNvSpPr>
          <p:nvPr>
            <p:ph type="dt" sz="half" idx="10"/>
          </p:nvPr>
        </p:nvSpPr>
        <p:spPr>
          <a:xfrm>
            <a:off x="457200" y="6248400"/>
            <a:ext cx="2133600" cy="457200"/>
          </a:xfrm>
        </p:spPr>
        <p:txBody>
          <a:bodyPr/>
          <a:lstStyle>
            <a:lvl1pPr>
              <a:defRPr/>
            </a:lvl1pPr>
          </a:lstStyle>
          <a:p>
            <a:fld id="{78324A5E-0EC8-4917-83C4-3D5EF830E31B}" type="datetimeFigureOut">
              <a:rPr lang="zh-CN" altLang="en-US" smtClean="0"/>
              <a:pPr/>
              <a:t>2019/2/25</a:t>
            </a:fld>
            <a:endParaRPr lang="zh-CN" altLang="en-US"/>
          </a:p>
        </p:txBody>
      </p:sp>
      <p:sp>
        <p:nvSpPr>
          <p:cNvPr id="7" name="页脚占位符 6"/>
          <p:cNvSpPr>
            <a:spLocks noGrp="1"/>
          </p:cNvSpPr>
          <p:nvPr>
            <p:ph type="ftr" sz="quarter" idx="11"/>
          </p:nvPr>
        </p:nvSpPr>
        <p:spPr>
          <a:xfrm>
            <a:off x="3124200" y="6248400"/>
            <a:ext cx="2895600" cy="457200"/>
          </a:xfrm>
        </p:spPr>
        <p:txBody>
          <a:bodyPr/>
          <a:lstStyle>
            <a:lvl1pPr>
              <a:defRPr/>
            </a:lvl1pPr>
          </a:lstStyle>
          <a:p>
            <a:endParaRPr lang="zh-CN" altLang="en-US"/>
          </a:p>
        </p:txBody>
      </p:sp>
      <p:sp>
        <p:nvSpPr>
          <p:cNvPr id="8" name="灯片编号占位符 7"/>
          <p:cNvSpPr>
            <a:spLocks noGrp="1"/>
          </p:cNvSpPr>
          <p:nvPr>
            <p:ph type="sldNum" sz="quarter" idx="12"/>
          </p:nvPr>
        </p:nvSpPr>
        <p:spPr>
          <a:xfrm>
            <a:off x="6553200" y="6248400"/>
            <a:ext cx="2133600" cy="457200"/>
          </a:xfrm>
        </p:spPr>
        <p:txBody>
          <a:bodyPr/>
          <a:lstStyle>
            <a:lvl1pPr>
              <a:defRPr/>
            </a:lvl1pPr>
          </a:lstStyle>
          <a:p>
            <a:fld id="{7BD1B4E0-A8FA-4CE9-9889-7CFAA58055F5}"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8290" name="Line 2"/>
          <p:cNvSpPr>
            <a:spLocks noChangeShapeType="1"/>
          </p:cNvSpPr>
          <p:nvPr/>
        </p:nvSpPr>
        <p:spPr bwMode="auto">
          <a:xfrm>
            <a:off x="7962900" y="152400"/>
            <a:ext cx="0" cy="1524000"/>
          </a:xfrm>
          <a:prstGeom prst="line">
            <a:avLst/>
          </a:prstGeom>
          <a:noFill/>
          <a:ln w="9525">
            <a:solidFill>
              <a:schemeClr val="tx1"/>
            </a:solidFill>
            <a:round/>
            <a:headEnd/>
            <a:tailEnd/>
          </a:ln>
          <a:effectLst/>
        </p:spPr>
        <p:txBody>
          <a:bodyPr/>
          <a:lstStyle/>
          <a:p>
            <a:endParaRPr lang="zh-CN" altLang="en-US"/>
          </a:p>
        </p:txBody>
      </p:sp>
      <p:sp>
        <p:nvSpPr>
          <p:cNvPr id="268291" name="Rectangle 3"/>
          <p:cNvSpPr>
            <a:spLocks noGrp="1" noChangeArrowheads="1"/>
          </p:cNvSpPr>
          <p:nvPr>
            <p:ph type="title"/>
          </p:nvPr>
        </p:nvSpPr>
        <p:spPr bwMode="auto">
          <a:xfrm>
            <a:off x="457200" y="122238"/>
            <a:ext cx="7543800" cy="12954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268292" name="Rectangle 4"/>
          <p:cNvSpPr>
            <a:spLocks noGrp="1" noChangeArrowheads="1"/>
          </p:cNvSpPr>
          <p:nvPr>
            <p:ph type="body" idx="1"/>
          </p:nvPr>
        </p:nvSpPr>
        <p:spPr bwMode="auto">
          <a:xfrm>
            <a:off x="457200" y="1719263"/>
            <a:ext cx="8229600" cy="44116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68293"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vl1pPr>
          </a:lstStyle>
          <a:p>
            <a:fld id="{78324A5E-0EC8-4917-83C4-3D5EF830E31B}" type="datetimeFigureOut">
              <a:rPr lang="zh-CN" altLang="en-US" smtClean="0"/>
              <a:pPr/>
              <a:t>2019/2/25</a:t>
            </a:fld>
            <a:endParaRPr lang="zh-CN" altLang="en-US"/>
          </a:p>
        </p:txBody>
      </p:sp>
      <p:sp>
        <p:nvSpPr>
          <p:cNvPr id="268294"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vl1pPr>
          </a:lstStyle>
          <a:p>
            <a:endParaRPr lang="zh-CN" altLang="en-US"/>
          </a:p>
        </p:txBody>
      </p:sp>
      <p:sp>
        <p:nvSpPr>
          <p:cNvPr id="268295"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fld id="{7BD1B4E0-A8FA-4CE9-9889-7CFAA58055F5}" type="slidenum">
              <a:rPr lang="zh-CN" altLang="en-US" smtClean="0"/>
              <a:pPr/>
              <a:t>‹#›</a:t>
            </a:fld>
            <a:endParaRPr lang="zh-CN" altLang="en-US"/>
          </a:p>
        </p:txBody>
      </p:sp>
      <p:grpSp>
        <p:nvGrpSpPr>
          <p:cNvPr id="2" name="Group 8"/>
          <p:cNvGrpSpPr>
            <a:grpSpLocks/>
          </p:cNvGrpSpPr>
          <p:nvPr/>
        </p:nvGrpSpPr>
        <p:grpSpPr bwMode="auto">
          <a:xfrm>
            <a:off x="8153400" y="152400"/>
            <a:ext cx="792163" cy="1295400"/>
            <a:chOff x="5136" y="960"/>
            <a:chExt cx="528" cy="864"/>
          </a:xfrm>
        </p:grpSpPr>
        <p:sp>
          <p:nvSpPr>
            <p:cNvPr id="268297" name="Oval 9"/>
            <p:cNvSpPr>
              <a:spLocks noChangeArrowheads="1"/>
            </p:cNvSpPr>
            <p:nvPr/>
          </p:nvSpPr>
          <p:spPr bwMode="auto">
            <a:xfrm>
              <a:off x="5136" y="960"/>
              <a:ext cx="80" cy="80"/>
            </a:xfrm>
            <a:prstGeom prst="ellipse">
              <a:avLst/>
            </a:prstGeom>
            <a:solidFill>
              <a:schemeClr val="tx2"/>
            </a:solidFill>
            <a:ln w="9525">
              <a:noFill/>
              <a:round/>
              <a:headEnd/>
              <a:tailEnd/>
            </a:ln>
            <a:effectLst/>
          </p:spPr>
          <p:txBody>
            <a:bodyPr wrap="none" anchor="ctr"/>
            <a:lstStyle/>
            <a:p>
              <a:endParaRPr lang="zh-CN" altLang="en-US"/>
            </a:p>
          </p:txBody>
        </p:sp>
        <p:sp>
          <p:nvSpPr>
            <p:cNvPr id="268298" name="Oval 10"/>
            <p:cNvSpPr>
              <a:spLocks noChangeArrowheads="1"/>
            </p:cNvSpPr>
            <p:nvPr/>
          </p:nvSpPr>
          <p:spPr bwMode="auto">
            <a:xfrm>
              <a:off x="5248" y="960"/>
              <a:ext cx="80" cy="80"/>
            </a:xfrm>
            <a:prstGeom prst="ellipse">
              <a:avLst/>
            </a:prstGeom>
            <a:solidFill>
              <a:schemeClr val="tx2"/>
            </a:solidFill>
            <a:ln w="9525">
              <a:noFill/>
              <a:round/>
              <a:headEnd/>
              <a:tailEnd/>
            </a:ln>
            <a:effectLst/>
          </p:spPr>
          <p:txBody>
            <a:bodyPr wrap="none" anchor="ctr"/>
            <a:lstStyle/>
            <a:p>
              <a:endParaRPr lang="zh-CN" altLang="en-US"/>
            </a:p>
          </p:txBody>
        </p:sp>
        <p:sp>
          <p:nvSpPr>
            <p:cNvPr id="268299" name="Oval 11"/>
            <p:cNvSpPr>
              <a:spLocks noChangeArrowheads="1"/>
            </p:cNvSpPr>
            <p:nvPr/>
          </p:nvSpPr>
          <p:spPr bwMode="auto">
            <a:xfrm>
              <a:off x="5360" y="960"/>
              <a:ext cx="80" cy="80"/>
            </a:xfrm>
            <a:prstGeom prst="ellipse">
              <a:avLst/>
            </a:prstGeom>
            <a:solidFill>
              <a:schemeClr val="tx2"/>
            </a:solidFill>
            <a:ln w="9525">
              <a:noFill/>
              <a:round/>
              <a:headEnd/>
              <a:tailEnd/>
            </a:ln>
            <a:effectLst/>
          </p:spPr>
          <p:txBody>
            <a:bodyPr wrap="none" anchor="ctr"/>
            <a:lstStyle/>
            <a:p>
              <a:endParaRPr lang="zh-CN" altLang="en-US"/>
            </a:p>
          </p:txBody>
        </p:sp>
        <p:sp>
          <p:nvSpPr>
            <p:cNvPr id="268300" name="Oval 12"/>
            <p:cNvSpPr>
              <a:spLocks noChangeArrowheads="1"/>
            </p:cNvSpPr>
            <p:nvPr/>
          </p:nvSpPr>
          <p:spPr bwMode="auto">
            <a:xfrm>
              <a:off x="5136" y="1072"/>
              <a:ext cx="80" cy="80"/>
            </a:xfrm>
            <a:prstGeom prst="ellipse">
              <a:avLst/>
            </a:prstGeom>
            <a:solidFill>
              <a:schemeClr val="tx2"/>
            </a:solidFill>
            <a:ln w="9525">
              <a:noFill/>
              <a:round/>
              <a:headEnd/>
              <a:tailEnd/>
            </a:ln>
            <a:effectLst/>
          </p:spPr>
          <p:txBody>
            <a:bodyPr wrap="none" anchor="ctr"/>
            <a:lstStyle/>
            <a:p>
              <a:endParaRPr lang="zh-CN" altLang="en-US"/>
            </a:p>
          </p:txBody>
        </p:sp>
        <p:sp>
          <p:nvSpPr>
            <p:cNvPr id="268301" name="Oval 13"/>
            <p:cNvSpPr>
              <a:spLocks noChangeArrowheads="1"/>
            </p:cNvSpPr>
            <p:nvPr/>
          </p:nvSpPr>
          <p:spPr bwMode="auto">
            <a:xfrm>
              <a:off x="5248" y="1072"/>
              <a:ext cx="80" cy="80"/>
            </a:xfrm>
            <a:prstGeom prst="ellipse">
              <a:avLst/>
            </a:prstGeom>
            <a:solidFill>
              <a:schemeClr val="tx2"/>
            </a:solidFill>
            <a:ln w="9525">
              <a:noFill/>
              <a:round/>
              <a:headEnd/>
              <a:tailEnd/>
            </a:ln>
            <a:effectLst/>
          </p:spPr>
          <p:txBody>
            <a:bodyPr wrap="none" anchor="ctr"/>
            <a:lstStyle/>
            <a:p>
              <a:endParaRPr lang="zh-CN" altLang="en-US"/>
            </a:p>
          </p:txBody>
        </p:sp>
        <p:sp>
          <p:nvSpPr>
            <p:cNvPr id="268302" name="Oval 14"/>
            <p:cNvSpPr>
              <a:spLocks noChangeArrowheads="1"/>
            </p:cNvSpPr>
            <p:nvPr/>
          </p:nvSpPr>
          <p:spPr bwMode="auto">
            <a:xfrm>
              <a:off x="5360" y="1072"/>
              <a:ext cx="80" cy="80"/>
            </a:xfrm>
            <a:prstGeom prst="ellipse">
              <a:avLst/>
            </a:prstGeom>
            <a:solidFill>
              <a:schemeClr val="tx2"/>
            </a:solidFill>
            <a:ln w="9525">
              <a:noFill/>
              <a:round/>
              <a:headEnd/>
              <a:tailEnd/>
            </a:ln>
            <a:effectLst/>
          </p:spPr>
          <p:txBody>
            <a:bodyPr wrap="none" anchor="ctr"/>
            <a:lstStyle/>
            <a:p>
              <a:endParaRPr lang="zh-CN" altLang="en-US"/>
            </a:p>
          </p:txBody>
        </p:sp>
        <p:sp>
          <p:nvSpPr>
            <p:cNvPr id="268303" name="Oval 15"/>
            <p:cNvSpPr>
              <a:spLocks noChangeArrowheads="1"/>
            </p:cNvSpPr>
            <p:nvPr/>
          </p:nvSpPr>
          <p:spPr bwMode="auto">
            <a:xfrm>
              <a:off x="5472" y="1072"/>
              <a:ext cx="80" cy="80"/>
            </a:xfrm>
            <a:prstGeom prst="ellipse">
              <a:avLst/>
            </a:prstGeom>
            <a:solidFill>
              <a:schemeClr val="accent2"/>
            </a:solidFill>
            <a:ln w="9525">
              <a:noFill/>
              <a:round/>
              <a:headEnd/>
              <a:tailEnd/>
            </a:ln>
            <a:effectLst/>
          </p:spPr>
          <p:txBody>
            <a:bodyPr wrap="none" anchor="ctr"/>
            <a:lstStyle/>
            <a:p>
              <a:endParaRPr lang="zh-CN" altLang="en-US"/>
            </a:p>
          </p:txBody>
        </p:sp>
        <p:sp>
          <p:nvSpPr>
            <p:cNvPr id="268304" name="Oval 16"/>
            <p:cNvSpPr>
              <a:spLocks noChangeArrowheads="1"/>
            </p:cNvSpPr>
            <p:nvPr/>
          </p:nvSpPr>
          <p:spPr bwMode="auto">
            <a:xfrm>
              <a:off x="5136" y="1184"/>
              <a:ext cx="80" cy="80"/>
            </a:xfrm>
            <a:prstGeom prst="ellipse">
              <a:avLst/>
            </a:prstGeom>
            <a:solidFill>
              <a:schemeClr val="tx2"/>
            </a:solidFill>
            <a:ln w="9525">
              <a:noFill/>
              <a:round/>
              <a:headEnd/>
              <a:tailEnd/>
            </a:ln>
            <a:effectLst/>
          </p:spPr>
          <p:txBody>
            <a:bodyPr wrap="none" anchor="ctr"/>
            <a:lstStyle/>
            <a:p>
              <a:endParaRPr lang="zh-CN" altLang="en-US"/>
            </a:p>
          </p:txBody>
        </p:sp>
        <p:sp>
          <p:nvSpPr>
            <p:cNvPr id="268305" name="Oval 17"/>
            <p:cNvSpPr>
              <a:spLocks noChangeArrowheads="1"/>
            </p:cNvSpPr>
            <p:nvPr/>
          </p:nvSpPr>
          <p:spPr bwMode="auto">
            <a:xfrm>
              <a:off x="5248" y="1184"/>
              <a:ext cx="80" cy="80"/>
            </a:xfrm>
            <a:prstGeom prst="ellipse">
              <a:avLst/>
            </a:prstGeom>
            <a:solidFill>
              <a:schemeClr val="tx2"/>
            </a:solidFill>
            <a:ln w="9525">
              <a:noFill/>
              <a:round/>
              <a:headEnd/>
              <a:tailEnd/>
            </a:ln>
            <a:effectLst/>
          </p:spPr>
          <p:txBody>
            <a:bodyPr wrap="none" anchor="ctr"/>
            <a:lstStyle/>
            <a:p>
              <a:endParaRPr lang="zh-CN" altLang="en-US"/>
            </a:p>
          </p:txBody>
        </p:sp>
        <p:sp>
          <p:nvSpPr>
            <p:cNvPr id="268306" name="Oval 18"/>
            <p:cNvSpPr>
              <a:spLocks noChangeArrowheads="1"/>
            </p:cNvSpPr>
            <p:nvPr/>
          </p:nvSpPr>
          <p:spPr bwMode="auto">
            <a:xfrm>
              <a:off x="5360" y="1184"/>
              <a:ext cx="80" cy="80"/>
            </a:xfrm>
            <a:prstGeom prst="ellipse">
              <a:avLst/>
            </a:prstGeom>
            <a:solidFill>
              <a:schemeClr val="accent2"/>
            </a:solidFill>
            <a:ln w="9525">
              <a:noFill/>
              <a:round/>
              <a:headEnd/>
              <a:tailEnd/>
            </a:ln>
            <a:effectLst/>
          </p:spPr>
          <p:txBody>
            <a:bodyPr wrap="none" anchor="ctr"/>
            <a:lstStyle/>
            <a:p>
              <a:endParaRPr lang="zh-CN" altLang="en-US"/>
            </a:p>
          </p:txBody>
        </p:sp>
        <p:sp>
          <p:nvSpPr>
            <p:cNvPr id="268307" name="Oval 19"/>
            <p:cNvSpPr>
              <a:spLocks noChangeArrowheads="1"/>
            </p:cNvSpPr>
            <p:nvPr/>
          </p:nvSpPr>
          <p:spPr bwMode="auto">
            <a:xfrm>
              <a:off x="5472" y="1184"/>
              <a:ext cx="80" cy="80"/>
            </a:xfrm>
            <a:prstGeom prst="ellipse">
              <a:avLst/>
            </a:prstGeom>
            <a:solidFill>
              <a:schemeClr val="accent2"/>
            </a:solidFill>
            <a:ln w="9525">
              <a:noFill/>
              <a:round/>
              <a:headEnd/>
              <a:tailEnd/>
            </a:ln>
            <a:effectLst/>
          </p:spPr>
          <p:txBody>
            <a:bodyPr wrap="none" anchor="ctr"/>
            <a:lstStyle/>
            <a:p>
              <a:endParaRPr lang="zh-CN" altLang="en-US"/>
            </a:p>
          </p:txBody>
        </p:sp>
        <p:sp>
          <p:nvSpPr>
            <p:cNvPr id="268308" name="Oval 20"/>
            <p:cNvSpPr>
              <a:spLocks noChangeArrowheads="1"/>
            </p:cNvSpPr>
            <p:nvPr/>
          </p:nvSpPr>
          <p:spPr bwMode="auto">
            <a:xfrm>
              <a:off x="5584" y="1184"/>
              <a:ext cx="80" cy="80"/>
            </a:xfrm>
            <a:prstGeom prst="ellipse">
              <a:avLst/>
            </a:prstGeom>
            <a:solidFill>
              <a:schemeClr val="accent1"/>
            </a:solidFill>
            <a:ln w="9525">
              <a:noFill/>
              <a:round/>
              <a:headEnd/>
              <a:tailEnd/>
            </a:ln>
            <a:effectLst/>
          </p:spPr>
          <p:txBody>
            <a:bodyPr wrap="none" anchor="ctr"/>
            <a:lstStyle/>
            <a:p>
              <a:endParaRPr lang="zh-CN" altLang="en-US"/>
            </a:p>
          </p:txBody>
        </p:sp>
        <p:sp>
          <p:nvSpPr>
            <p:cNvPr id="268309" name="Oval 21"/>
            <p:cNvSpPr>
              <a:spLocks noChangeArrowheads="1"/>
            </p:cNvSpPr>
            <p:nvPr/>
          </p:nvSpPr>
          <p:spPr bwMode="auto">
            <a:xfrm>
              <a:off x="5136" y="1296"/>
              <a:ext cx="80" cy="80"/>
            </a:xfrm>
            <a:prstGeom prst="ellipse">
              <a:avLst/>
            </a:prstGeom>
            <a:solidFill>
              <a:schemeClr val="tx2"/>
            </a:solidFill>
            <a:ln w="9525">
              <a:noFill/>
              <a:round/>
              <a:headEnd/>
              <a:tailEnd/>
            </a:ln>
            <a:effectLst/>
          </p:spPr>
          <p:txBody>
            <a:bodyPr wrap="none" anchor="ctr"/>
            <a:lstStyle/>
            <a:p>
              <a:endParaRPr lang="zh-CN" altLang="en-US"/>
            </a:p>
          </p:txBody>
        </p:sp>
        <p:sp>
          <p:nvSpPr>
            <p:cNvPr id="268310" name="Oval 22"/>
            <p:cNvSpPr>
              <a:spLocks noChangeArrowheads="1"/>
            </p:cNvSpPr>
            <p:nvPr/>
          </p:nvSpPr>
          <p:spPr bwMode="auto">
            <a:xfrm>
              <a:off x="5248" y="1296"/>
              <a:ext cx="80" cy="80"/>
            </a:xfrm>
            <a:prstGeom prst="ellipse">
              <a:avLst/>
            </a:prstGeom>
            <a:solidFill>
              <a:schemeClr val="accent2"/>
            </a:solidFill>
            <a:ln w="9525">
              <a:noFill/>
              <a:round/>
              <a:headEnd/>
              <a:tailEnd/>
            </a:ln>
            <a:effectLst/>
          </p:spPr>
          <p:txBody>
            <a:bodyPr wrap="none" anchor="ctr"/>
            <a:lstStyle/>
            <a:p>
              <a:endParaRPr lang="zh-CN" altLang="en-US"/>
            </a:p>
          </p:txBody>
        </p:sp>
        <p:sp>
          <p:nvSpPr>
            <p:cNvPr id="268311" name="Oval 23"/>
            <p:cNvSpPr>
              <a:spLocks noChangeArrowheads="1"/>
            </p:cNvSpPr>
            <p:nvPr/>
          </p:nvSpPr>
          <p:spPr bwMode="auto">
            <a:xfrm>
              <a:off x="5360" y="1296"/>
              <a:ext cx="80" cy="80"/>
            </a:xfrm>
            <a:prstGeom prst="ellipse">
              <a:avLst/>
            </a:prstGeom>
            <a:solidFill>
              <a:schemeClr val="accent2"/>
            </a:solidFill>
            <a:ln w="9525">
              <a:noFill/>
              <a:round/>
              <a:headEnd/>
              <a:tailEnd/>
            </a:ln>
            <a:effectLst/>
          </p:spPr>
          <p:txBody>
            <a:bodyPr wrap="none" anchor="ctr"/>
            <a:lstStyle/>
            <a:p>
              <a:endParaRPr lang="zh-CN" altLang="en-US"/>
            </a:p>
          </p:txBody>
        </p:sp>
        <p:sp>
          <p:nvSpPr>
            <p:cNvPr id="268312" name="Oval 24"/>
            <p:cNvSpPr>
              <a:spLocks noChangeArrowheads="1"/>
            </p:cNvSpPr>
            <p:nvPr/>
          </p:nvSpPr>
          <p:spPr bwMode="auto">
            <a:xfrm>
              <a:off x="5472" y="1296"/>
              <a:ext cx="80" cy="80"/>
            </a:xfrm>
            <a:prstGeom prst="ellipse">
              <a:avLst/>
            </a:prstGeom>
            <a:solidFill>
              <a:schemeClr val="accent1"/>
            </a:solidFill>
            <a:ln w="9525">
              <a:noFill/>
              <a:round/>
              <a:headEnd/>
              <a:tailEnd/>
            </a:ln>
            <a:effectLst/>
          </p:spPr>
          <p:txBody>
            <a:bodyPr wrap="none" anchor="ctr"/>
            <a:lstStyle/>
            <a:p>
              <a:endParaRPr lang="zh-CN" altLang="en-US"/>
            </a:p>
          </p:txBody>
        </p:sp>
        <p:sp>
          <p:nvSpPr>
            <p:cNvPr id="268313" name="Oval 25"/>
            <p:cNvSpPr>
              <a:spLocks noChangeArrowheads="1"/>
            </p:cNvSpPr>
            <p:nvPr/>
          </p:nvSpPr>
          <p:spPr bwMode="auto">
            <a:xfrm>
              <a:off x="5136" y="1408"/>
              <a:ext cx="80" cy="80"/>
            </a:xfrm>
            <a:prstGeom prst="ellipse">
              <a:avLst/>
            </a:prstGeom>
            <a:solidFill>
              <a:schemeClr val="accent2"/>
            </a:solidFill>
            <a:ln w="9525">
              <a:noFill/>
              <a:round/>
              <a:headEnd/>
              <a:tailEnd/>
            </a:ln>
            <a:effectLst/>
          </p:spPr>
          <p:txBody>
            <a:bodyPr wrap="none" anchor="ctr"/>
            <a:lstStyle/>
            <a:p>
              <a:endParaRPr lang="zh-CN" altLang="en-US"/>
            </a:p>
          </p:txBody>
        </p:sp>
        <p:sp>
          <p:nvSpPr>
            <p:cNvPr id="268314" name="Oval 26"/>
            <p:cNvSpPr>
              <a:spLocks noChangeArrowheads="1"/>
            </p:cNvSpPr>
            <p:nvPr/>
          </p:nvSpPr>
          <p:spPr bwMode="auto">
            <a:xfrm>
              <a:off x="5248" y="1408"/>
              <a:ext cx="80" cy="80"/>
            </a:xfrm>
            <a:prstGeom prst="ellipse">
              <a:avLst/>
            </a:prstGeom>
            <a:solidFill>
              <a:schemeClr val="accent2"/>
            </a:solidFill>
            <a:ln w="9525">
              <a:noFill/>
              <a:round/>
              <a:headEnd/>
              <a:tailEnd/>
            </a:ln>
            <a:effectLst/>
          </p:spPr>
          <p:txBody>
            <a:bodyPr wrap="none" anchor="ctr"/>
            <a:lstStyle/>
            <a:p>
              <a:endParaRPr lang="zh-CN" altLang="en-US"/>
            </a:p>
          </p:txBody>
        </p:sp>
        <p:sp>
          <p:nvSpPr>
            <p:cNvPr id="268315" name="Oval 27"/>
            <p:cNvSpPr>
              <a:spLocks noChangeArrowheads="1"/>
            </p:cNvSpPr>
            <p:nvPr/>
          </p:nvSpPr>
          <p:spPr bwMode="auto">
            <a:xfrm>
              <a:off x="5360" y="1408"/>
              <a:ext cx="80" cy="80"/>
            </a:xfrm>
            <a:prstGeom prst="ellipse">
              <a:avLst/>
            </a:prstGeom>
            <a:solidFill>
              <a:schemeClr val="accent1"/>
            </a:solidFill>
            <a:ln w="9525">
              <a:noFill/>
              <a:round/>
              <a:headEnd/>
              <a:tailEnd/>
            </a:ln>
            <a:effectLst/>
          </p:spPr>
          <p:txBody>
            <a:bodyPr wrap="none" anchor="ctr"/>
            <a:lstStyle/>
            <a:p>
              <a:endParaRPr lang="zh-CN" altLang="en-US"/>
            </a:p>
          </p:txBody>
        </p:sp>
        <p:sp>
          <p:nvSpPr>
            <p:cNvPr id="268316" name="Oval 28"/>
            <p:cNvSpPr>
              <a:spLocks noChangeArrowheads="1"/>
            </p:cNvSpPr>
            <p:nvPr/>
          </p:nvSpPr>
          <p:spPr bwMode="auto">
            <a:xfrm>
              <a:off x="5472" y="1408"/>
              <a:ext cx="80" cy="80"/>
            </a:xfrm>
            <a:prstGeom prst="ellipse">
              <a:avLst/>
            </a:prstGeom>
            <a:solidFill>
              <a:schemeClr val="accent1"/>
            </a:solidFill>
            <a:ln w="9525">
              <a:noFill/>
              <a:round/>
              <a:headEnd/>
              <a:tailEnd/>
            </a:ln>
            <a:effectLst/>
          </p:spPr>
          <p:txBody>
            <a:bodyPr wrap="none" anchor="ctr"/>
            <a:lstStyle/>
            <a:p>
              <a:endParaRPr lang="zh-CN" altLang="en-US"/>
            </a:p>
          </p:txBody>
        </p:sp>
        <p:sp>
          <p:nvSpPr>
            <p:cNvPr id="268317" name="Oval 29"/>
            <p:cNvSpPr>
              <a:spLocks noChangeArrowheads="1"/>
            </p:cNvSpPr>
            <p:nvPr/>
          </p:nvSpPr>
          <p:spPr bwMode="auto">
            <a:xfrm>
              <a:off x="5584" y="1408"/>
              <a:ext cx="80" cy="80"/>
            </a:xfrm>
            <a:prstGeom prst="ellipse">
              <a:avLst/>
            </a:prstGeom>
            <a:solidFill>
              <a:schemeClr val="folHlink"/>
            </a:solidFill>
            <a:ln w="9525">
              <a:noFill/>
              <a:round/>
              <a:headEnd/>
              <a:tailEnd/>
            </a:ln>
            <a:effectLst/>
          </p:spPr>
          <p:txBody>
            <a:bodyPr wrap="none" anchor="ctr"/>
            <a:lstStyle/>
            <a:p>
              <a:endParaRPr lang="zh-CN" altLang="en-US"/>
            </a:p>
          </p:txBody>
        </p:sp>
        <p:sp>
          <p:nvSpPr>
            <p:cNvPr id="268318" name="Oval 30"/>
            <p:cNvSpPr>
              <a:spLocks noChangeArrowheads="1"/>
            </p:cNvSpPr>
            <p:nvPr/>
          </p:nvSpPr>
          <p:spPr bwMode="auto">
            <a:xfrm>
              <a:off x="5136" y="1520"/>
              <a:ext cx="80" cy="80"/>
            </a:xfrm>
            <a:prstGeom prst="ellipse">
              <a:avLst/>
            </a:prstGeom>
            <a:solidFill>
              <a:schemeClr val="accent2"/>
            </a:solidFill>
            <a:ln w="9525">
              <a:noFill/>
              <a:round/>
              <a:headEnd/>
              <a:tailEnd/>
            </a:ln>
            <a:effectLst/>
          </p:spPr>
          <p:txBody>
            <a:bodyPr wrap="none" anchor="ctr"/>
            <a:lstStyle/>
            <a:p>
              <a:endParaRPr lang="zh-CN" altLang="en-US"/>
            </a:p>
          </p:txBody>
        </p:sp>
        <p:sp>
          <p:nvSpPr>
            <p:cNvPr id="268319" name="Oval 31"/>
            <p:cNvSpPr>
              <a:spLocks noChangeArrowheads="1"/>
            </p:cNvSpPr>
            <p:nvPr/>
          </p:nvSpPr>
          <p:spPr bwMode="auto">
            <a:xfrm>
              <a:off x="5248" y="1520"/>
              <a:ext cx="80" cy="80"/>
            </a:xfrm>
            <a:prstGeom prst="ellipse">
              <a:avLst/>
            </a:prstGeom>
            <a:solidFill>
              <a:schemeClr val="accent1"/>
            </a:solidFill>
            <a:ln w="9525">
              <a:noFill/>
              <a:round/>
              <a:headEnd/>
              <a:tailEnd/>
            </a:ln>
            <a:effectLst/>
          </p:spPr>
          <p:txBody>
            <a:bodyPr wrap="none" anchor="ctr"/>
            <a:lstStyle/>
            <a:p>
              <a:endParaRPr lang="zh-CN" altLang="en-US"/>
            </a:p>
          </p:txBody>
        </p:sp>
        <p:sp>
          <p:nvSpPr>
            <p:cNvPr id="268320" name="Oval 32"/>
            <p:cNvSpPr>
              <a:spLocks noChangeArrowheads="1"/>
            </p:cNvSpPr>
            <p:nvPr/>
          </p:nvSpPr>
          <p:spPr bwMode="auto">
            <a:xfrm>
              <a:off x="5360" y="1520"/>
              <a:ext cx="80" cy="80"/>
            </a:xfrm>
            <a:prstGeom prst="ellipse">
              <a:avLst/>
            </a:prstGeom>
            <a:solidFill>
              <a:schemeClr val="accent1"/>
            </a:solidFill>
            <a:ln w="9525">
              <a:noFill/>
              <a:round/>
              <a:headEnd/>
              <a:tailEnd/>
            </a:ln>
            <a:effectLst/>
          </p:spPr>
          <p:txBody>
            <a:bodyPr wrap="none" anchor="ctr"/>
            <a:lstStyle/>
            <a:p>
              <a:endParaRPr lang="zh-CN" altLang="en-US"/>
            </a:p>
          </p:txBody>
        </p:sp>
        <p:sp>
          <p:nvSpPr>
            <p:cNvPr id="268321" name="Oval 33"/>
            <p:cNvSpPr>
              <a:spLocks noChangeArrowheads="1"/>
            </p:cNvSpPr>
            <p:nvPr/>
          </p:nvSpPr>
          <p:spPr bwMode="auto">
            <a:xfrm>
              <a:off x="5472" y="1520"/>
              <a:ext cx="80" cy="80"/>
            </a:xfrm>
            <a:prstGeom prst="ellipse">
              <a:avLst/>
            </a:prstGeom>
            <a:solidFill>
              <a:schemeClr val="folHlink"/>
            </a:solidFill>
            <a:ln w="9525">
              <a:noFill/>
              <a:round/>
              <a:headEnd/>
              <a:tailEnd/>
            </a:ln>
            <a:effectLst/>
          </p:spPr>
          <p:txBody>
            <a:bodyPr wrap="none" anchor="ctr"/>
            <a:lstStyle/>
            <a:p>
              <a:endParaRPr lang="zh-CN" altLang="en-US"/>
            </a:p>
          </p:txBody>
        </p:sp>
        <p:sp>
          <p:nvSpPr>
            <p:cNvPr id="268322" name="Oval 34"/>
            <p:cNvSpPr>
              <a:spLocks noChangeArrowheads="1"/>
            </p:cNvSpPr>
            <p:nvPr/>
          </p:nvSpPr>
          <p:spPr bwMode="auto">
            <a:xfrm>
              <a:off x="5136" y="1632"/>
              <a:ext cx="80" cy="80"/>
            </a:xfrm>
            <a:prstGeom prst="ellipse">
              <a:avLst/>
            </a:prstGeom>
            <a:solidFill>
              <a:schemeClr val="accent1"/>
            </a:solidFill>
            <a:ln w="9525">
              <a:noFill/>
              <a:round/>
              <a:headEnd/>
              <a:tailEnd/>
            </a:ln>
            <a:effectLst/>
          </p:spPr>
          <p:txBody>
            <a:bodyPr wrap="none" anchor="ctr"/>
            <a:lstStyle/>
            <a:p>
              <a:endParaRPr lang="zh-CN" altLang="en-US"/>
            </a:p>
          </p:txBody>
        </p:sp>
        <p:sp>
          <p:nvSpPr>
            <p:cNvPr id="268323" name="Oval 35"/>
            <p:cNvSpPr>
              <a:spLocks noChangeArrowheads="1"/>
            </p:cNvSpPr>
            <p:nvPr/>
          </p:nvSpPr>
          <p:spPr bwMode="auto">
            <a:xfrm>
              <a:off x="5248" y="1632"/>
              <a:ext cx="80" cy="80"/>
            </a:xfrm>
            <a:prstGeom prst="ellipse">
              <a:avLst/>
            </a:prstGeom>
            <a:solidFill>
              <a:schemeClr val="accent1"/>
            </a:solidFill>
            <a:ln w="9525">
              <a:noFill/>
              <a:round/>
              <a:headEnd/>
              <a:tailEnd/>
            </a:ln>
            <a:effectLst/>
          </p:spPr>
          <p:txBody>
            <a:bodyPr wrap="none" anchor="ctr"/>
            <a:lstStyle/>
            <a:p>
              <a:endParaRPr lang="zh-CN" altLang="en-US"/>
            </a:p>
          </p:txBody>
        </p:sp>
        <p:sp>
          <p:nvSpPr>
            <p:cNvPr id="268324" name="Oval 36"/>
            <p:cNvSpPr>
              <a:spLocks noChangeArrowheads="1"/>
            </p:cNvSpPr>
            <p:nvPr/>
          </p:nvSpPr>
          <p:spPr bwMode="auto">
            <a:xfrm>
              <a:off x="5360" y="1632"/>
              <a:ext cx="80" cy="80"/>
            </a:xfrm>
            <a:prstGeom prst="ellipse">
              <a:avLst/>
            </a:prstGeom>
            <a:solidFill>
              <a:schemeClr val="folHlink"/>
            </a:solidFill>
            <a:ln w="9525">
              <a:noFill/>
              <a:round/>
              <a:headEnd/>
              <a:tailEnd/>
            </a:ln>
            <a:effectLst/>
          </p:spPr>
          <p:txBody>
            <a:bodyPr wrap="none" anchor="ctr"/>
            <a:lstStyle/>
            <a:p>
              <a:endParaRPr lang="zh-CN" altLang="en-US"/>
            </a:p>
          </p:txBody>
        </p:sp>
        <p:sp>
          <p:nvSpPr>
            <p:cNvPr id="268325" name="Oval 37"/>
            <p:cNvSpPr>
              <a:spLocks noChangeArrowheads="1"/>
            </p:cNvSpPr>
            <p:nvPr/>
          </p:nvSpPr>
          <p:spPr bwMode="auto">
            <a:xfrm>
              <a:off x="5472" y="1632"/>
              <a:ext cx="80" cy="80"/>
            </a:xfrm>
            <a:prstGeom prst="ellipse">
              <a:avLst/>
            </a:prstGeom>
            <a:solidFill>
              <a:schemeClr val="folHlink"/>
            </a:solidFill>
            <a:ln w="9525">
              <a:noFill/>
              <a:round/>
              <a:headEnd/>
              <a:tailEnd/>
            </a:ln>
            <a:effectLst/>
          </p:spPr>
          <p:txBody>
            <a:bodyPr wrap="none" anchor="ctr"/>
            <a:lstStyle/>
            <a:p>
              <a:endParaRPr lang="zh-CN" altLang="en-US"/>
            </a:p>
          </p:txBody>
        </p:sp>
        <p:sp>
          <p:nvSpPr>
            <p:cNvPr id="268326" name="Oval 38"/>
            <p:cNvSpPr>
              <a:spLocks noChangeArrowheads="1"/>
            </p:cNvSpPr>
            <p:nvPr/>
          </p:nvSpPr>
          <p:spPr bwMode="auto">
            <a:xfrm>
              <a:off x="5248" y="1744"/>
              <a:ext cx="80" cy="80"/>
            </a:xfrm>
            <a:prstGeom prst="ellipse">
              <a:avLst/>
            </a:prstGeom>
            <a:solidFill>
              <a:schemeClr val="folHlink"/>
            </a:solidFill>
            <a:ln w="9525">
              <a:noFill/>
              <a:round/>
              <a:headEnd/>
              <a:tailEnd/>
            </a:ln>
            <a:effectLst/>
          </p:spPr>
          <p:txBody>
            <a:bodyPr wrap="none" anchor="ctr"/>
            <a:lstStyle/>
            <a:p>
              <a:endParaRPr lang="zh-CN" altLang="en-US"/>
            </a:p>
          </p:txBody>
        </p:sp>
        <p:sp>
          <p:nvSpPr>
            <p:cNvPr id="268327" name="Oval 39"/>
            <p:cNvSpPr>
              <a:spLocks noChangeArrowheads="1"/>
            </p:cNvSpPr>
            <p:nvPr/>
          </p:nvSpPr>
          <p:spPr bwMode="auto">
            <a:xfrm>
              <a:off x="5472" y="1744"/>
              <a:ext cx="80" cy="80"/>
            </a:xfrm>
            <a:prstGeom prst="ellipse">
              <a:avLst/>
            </a:prstGeom>
            <a:solidFill>
              <a:schemeClr val="folHlink"/>
            </a:solidFill>
            <a:ln w="9525">
              <a:noFill/>
              <a:round/>
              <a:headEnd/>
              <a:tailEnd/>
            </a:ln>
            <a:effectLst/>
          </p:spPr>
          <p:txBody>
            <a:bodyPr wrap="none" anchor="ctr"/>
            <a:lstStyle/>
            <a:p>
              <a:endParaRPr lang="zh-CN" alt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timing>
    <p:tnLst>
      <p:par>
        <p:cTn id="1" dur="indefinite" restart="never" nodeType="tmRoot"/>
      </p:par>
    </p:tnLst>
  </p:timing>
  <p:txStyles>
    <p:titleStyle>
      <a:lvl1pPr algn="l" rtl="0" eaLnBrk="1" fontAlgn="base" hangingPunct="1">
        <a:spcBef>
          <a:spcPct val="0"/>
        </a:spcBef>
        <a:spcAft>
          <a:spcPct val="0"/>
        </a:spcAft>
        <a:defRPr sz="3900" b="1">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Arial" charset="0"/>
          <a:ea typeface="宋体" pitchFamily="2" charset="-122"/>
        </a:defRPr>
      </a:lvl2pPr>
      <a:lvl3pPr algn="l" rtl="0" eaLnBrk="1" fontAlgn="base" hangingPunct="1">
        <a:spcBef>
          <a:spcPct val="0"/>
        </a:spcBef>
        <a:spcAft>
          <a:spcPct val="0"/>
        </a:spcAft>
        <a:defRPr sz="3900" b="1">
          <a:solidFill>
            <a:schemeClr val="tx2"/>
          </a:solidFill>
          <a:latin typeface="Arial" charset="0"/>
          <a:ea typeface="宋体" pitchFamily="2" charset="-122"/>
        </a:defRPr>
      </a:lvl3pPr>
      <a:lvl4pPr algn="l" rtl="0" eaLnBrk="1" fontAlgn="base" hangingPunct="1">
        <a:spcBef>
          <a:spcPct val="0"/>
        </a:spcBef>
        <a:spcAft>
          <a:spcPct val="0"/>
        </a:spcAft>
        <a:defRPr sz="3900" b="1">
          <a:solidFill>
            <a:schemeClr val="tx2"/>
          </a:solidFill>
          <a:latin typeface="Arial" charset="0"/>
          <a:ea typeface="宋体" pitchFamily="2" charset="-122"/>
        </a:defRPr>
      </a:lvl4pPr>
      <a:lvl5pPr algn="l" rtl="0" eaLnBrk="1" fontAlgn="base" hangingPunct="1">
        <a:spcBef>
          <a:spcPct val="0"/>
        </a:spcBef>
        <a:spcAft>
          <a:spcPct val="0"/>
        </a:spcAft>
        <a:defRPr sz="3900" b="1">
          <a:solidFill>
            <a:schemeClr val="tx2"/>
          </a:solidFill>
          <a:latin typeface="Arial" charset="0"/>
          <a:ea typeface="宋体" pitchFamily="2" charset="-122"/>
        </a:defRPr>
      </a:lvl5pPr>
      <a:lvl6pPr marL="457200" algn="l" rtl="0" eaLnBrk="1" fontAlgn="base" hangingPunct="1">
        <a:spcBef>
          <a:spcPct val="0"/>
        </a:spcBef>
        <a:spcAft>
          <a:spcPct val="0"/>
        </a:spcAft>
        <a:defRPr sz="3900" b="1">
          <a:solidFill>
            <a:schemeClr val="tx2"/>
          </a:solidFill>
          <a:latin typeface="Arial" charset="0"/>
          <a:ea typeface="宋体" pitchFamily="2" charset="-122"/>
        </a:defRPr>
      </a:lvl6pPr>
      <a:lvl7pPr marL="914400" algn="l" rtl="0" eaLnBrk="1" fontAlgn="base" hangingPunct="1">
        <a:spcBef>
          <a:spcPct val="0"/>
        </a:spcBef>
        <a:spcAft>
          <a:spcPct val="0"/>
        </a:spcAft>
        <a:defRPr sz="3900" b="1">
          <a:solidFill>
            <a:schemeClr val="tx2"/>
          </a:solidFill>
          <a:latin typeface="Arial" charset="0"/>
          <a:ea typeface="宋体" pitchFamily="2" charset="-122"/>
        </a:defRPr>
      </a:lvl7pPr>
      <a:lvl8pPr marL="1371600" algn="l" rtl="0" eaLnBrk="1" fontAlgn="base" hangingPunct="1">
        <a:spcBef>
          <a:spcPct val="0"/>
        </a:spcBef>
        <a:spcAft>
          <a:spcPct val="0"/>
        </a:spcAft>
        <a:defRPr sz="3900" b="1">
          <a:solidFill>
            <a:schemeClr val="tx2"/>
          </a:solidFill>
          <a:latin typeface="Arial" charset="0"/>
          <a:ea typeface="宋体" pitchFamily="2" charset="-122"/>
        </a:defRPr>
      </a:lvl8pPr>
      <a:lvl9pPr marL="1828800" algn="l" rtl="0" eaLnBrk="1" fontAlgn="base" hangingPunct="1">
        <a:spcBef>
          <a:spcPct val="0"/>
        </a:spcBef>
        <a:spcAft>
          <a:spcPct val="0"/>
        </a:spcAft>
        <a:defRPr sz="3900" b="1">
          <a:solidFill>
            <a:schemeClr val="tx2"/>
          </a:solidFill>
          <a:latin typeface="Arial" charset="0"/>
          <a:ea typeface="宋体" pitchFamily="2" charset="-122"/>
        </a:defRPr>
      </a:lvl9pPr>
    </p:titleStyle>
    <p:bodyStyle>
      <a:lvl1pPr marL="342900" indent="-342900" algn="l" rtl="0" eaLnBrk="1" fontAlgn="base" hangingPunct="1">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1" fontAlgn="base" hangingPunct="1">
        <a:spcBef>
          <a:spcPct val="20000"/>
        </a:spcBef>
        <a:spcAft>
          <a:spcPct val="0"/>
        </a:spcAft>
        <a:buClr>
          <a:schemeClr val="accent2"/>
        </a:buClr>
        <a:buSzPct val="70000"/>
        <a:buFont typeface="Wingdings" pitchFamily="2" charset="2"/>
        <a:buChar char="l"/>
        <a:defRPr sz="2600">
          <a:solidFill>
            <a:schemeClr val="tx1"/>
          </a:solidFill>
          <a:latin typeface="+mn-lt"/>
          <a:ea typeface="+mn-ea"/>
        </a:defRPr>
      </a:lvl2pPr>
      <a:lvl3pPr marL="987425" indent="-293688" algn="l" rtl="0" eaLnBrk="1" fontAlgn="base" hangingPunct="1">
        <a:spcBef>
          <a:spcPct val="20000"/>
        </a:spcBef>
        <a:spcAft>
          <a:spcPct val="0"/>
        </a:spcAft>
        <a:buClr>
          <a:schemeClr val="accent1"/>
        </a:buClr>
        <a:buSzPct val="70000"/>
        <a:buFont typeface="Wingdings" pitchFamily="2" charset="2"/>
        <a:buChar char="l"/>
        <a:defRPr sz="2300">
          <a:solidFill>
            <a:schemeClr val="tx1"/>
          </a:solidFill>
          <a:latin typeface="+mn-lt"/>
          <a:ea typeface="+mn-ea"/>
        </a:defRPr>
      </a:lvl3pPr>
      <a:lvl4pPr marL="1281113" indent="-292100" algn="l" rtl="0" eaLnBrk="1" fontAlgn="base" hangingPunct="1">
        <a:spcBef>
          <a:spcPct val="20000"/>
        </a:spcBef>
        <a:spcAft>
          <a:spcPct val="0"/>
        </a:spcAft>
        <a:buClr>
          <a:schemeClr val="tx2"/>
        </a:buClr>
        <a:buSzPct val="75000"/>
        <a:buFont typeface="Wingdings" pitchFamily="2" charset="2"/>
        <a:buChar char="§"/>
        <a:defRPr sz="2000">
          <a:solidFill>
            <a:schemeClr val="tx1"/>
          </a:solidFill>
          <a:latin typeface="+mn-lt"/>
          <a:ea typeface="+mn-ea"/>
        </a:defRPr>
      </a:lvl4pPr>
      <a:lvl5pPr marL="15986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5pPr>
      <a:lvl6pPr marL="20558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6pPr>
      <a:lvl7pPr marL="25130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7pPr>
      <a:lvl8pPr marL="29702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8pPr>
      <a:lvl9pPr marL="34274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3.xml"/><Relationship Id="rId1" Type="http://schemas.openxmlformats.org/officeDocument/2006/relationships/slideLayout" Target="../slideLayouts/slideLayout2.xml"/><Relationship Id="rId4" Type="http://schemas.openxmlformats.org/officeDocument/2006/relationships/slide" Target="slide1.xml"/></Relationships>
</file>

<file path=ppt/slides/_rels/slide3.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5.xml"/><Relationship Id="rId7" Type="http://schemas.openxmlformats.org/officeDocument/2006/relationships/slide" Target="slide9.xml"/><Relationship Id="rId12" Type="http://schemas.openxmlformats.org/officeDocument/2006/relationships/slide" Target="slide2.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slide" Target="slide8.xml"/><Relationship Id="rId11" Type="http://schemas.openxmlformats.org/officeDocument/2006/relationships/slide" Target="slide13.xml"/><Relationship Id="rId5" Type="http://schemas.openxmlformats.org/officeDocument/2006/relationships/slide" Target="slide7.xml"/><Relationship Id="rId10" Type="http://schemas.openxmlformats.org/officeDocument/2006/relationships/slide" Target="slide12.xml"/><Relationship Id="rId4" Type="http://schemas.openxmlformats.org/officeDocument/2006/relationships/slide" Target="slide6.xml"/><Relationship Id="rId9" Type="http://schemas.openxmlformats.org/officeDocument/2006/relationships/slide" Target="slide11.xml"/></Relationships>
</file>

<file path=ppt/slides/_rels/slide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 Target="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slide" Target="slide15.xml"/><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slide" Target="slide18.xml"/><Relationship Id="rId4" Type="http://schemas.openxmlformats.org/officeDocument/2006/relationships/slide" Target="slide17.xml"/></Relationships>
</file>

<file path=ppt/slides/_rels/slide41.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4213" y="765175"/>
            <a:ext cx="7772400" cy="1371600"/>
          </a:xfrm>
        </p:spPr>
        <p:txBody>
          <a:bodyPr/>
          <a:lstStyle/>
          <a:p>
            <a:r>
              <a:rPr lang="zh-CN" altLang="en-US" sz="4000"/>
              <a:t>第二章   </a:t>
            </a:r>
            <a:r>
              <a:rPr lang="en-US" altLang="zh-CN" sz="4000"/>
              <a:t>80X86</a:t>
            </a:r>
            <a:r>
              <a:rPr lang="zh-CN" altLang="en-US" sz="4000"/>
              <a:t>的指令系统和寻址方式</a:t>
            </a:r>
          </a:p>
        </p:txBody>
      </p:sp>
      <p:sp>
        <p:nvSpPr>
          <p:cNvPr id="2052" name="Rectangle 4"/>
          <p:cNvSpPr>
            <a:spLocks noGrp="1" noChangeArrowheads="1"/>
          </p:cNvSpPr>
          <p:nvPr>
            <p:ph type="subTitle" idx="1"/>
          </p:nvPr>
        </p:nvSpPr>
        <p:spPr/>
        <p:txBody>
          <a:bodyPr/>
          <a:lstStyle/>
          <a:p>
            <a:r>
              <a:rPr lang="zh-CN" altLang="en-US" dirty="0"/>
              <a:t>寻</a:t>
            </a:r>
            <a:r>
              <a:rPr lang="zh-CN" altLang="en-US" dirty="0" smtClean="0"/>
              <a:t>址方式</a:t>
            </a:r>
            <a:endParaRPr lang="zh-CN" altLang="zh-C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r>
              <a:rPr lang="en-US" altLang="zh-CN"/>
              <a:t>2.1</a:t>
            </a:r>
            <a:r>
              <a:rPr lang="zh-CN" altLang="en-US"/>
              <a:t>指令寻址方式</a:t>
            </a:r>
          </a:p>
        </p:txBody>
      </p:sp>
      <p:sp>
        <p:nvSpPr>
          <p:cNvPr id="130051" name="Rectangle 3"/>
          <p:cNvSpPr>
            <a:spLocks noGrp="1" noChangeArrowheads="1"/>
          </p:cNvSpPr>
          <p:nvPr>
            <p:ph idx="1"/>
          </p:nvPr>
        </p:nvSpPr>
        <p:spPr/>
        <p:txBody>
          <a:bodyPr/>
          <a:lstStyle/>
          <a:p>
            <a:pPr>
              <a:buFont typeface="Wingdings" pitchFamily="2" charset="2"/>
              <a:buChar char="p"/>
            </a:pPr>
            <a:r>
              <a:rPr lang="zh-CN" altLang="en-US">
                <a:hlinkClick r:id="rId2" action="ppaction://hlinksldjump"/>
              </a:rPr>
              <a:t>与数据相关的寻址方式</a:t>
            </a:r>
            <a:endParaRPr lang="zh-CN" altLang="en-US"/>
          </a:p>
          <a:p>
            <a:pPr>
              <a:buFont typeface="Wingdings" pitchFamily="2" charset="2"/>
              <a:buChar char="p"/>
            </a:pPr>
            <a:r>
              <a:rPr lang="zh-CN" altLang="en-US">
                <a:hlinkClick r:id="rId3" action="ppaction://hlinksldjump"/>
              </a:rPr>
              <a:t>与转移地址相关的寻址方式</a:t>
            </a:r>
            <a:endParaRPr lang="zh-CN" altLang="en-US"/>
          </a:p>
        </p:txBody>
      </p:sp>
      <p:sp>
        <p:nvSpPr>
          <p:cNvPr id="130052" name="Rectangle 4"/>
          <p:cNvSpPr>
            <a:spLocks noChangeArrowheads="1"/>
          </p:cNvSpPr>
          <p:nvPr/>
        </p:nvSpPr>
        <p:spPr bwMode="auto">
          <a:xfrm>
            <a:off x="7667625" y="5661025"/>
            <a:ext cx="641350" cy="366713"/>
          </a:xfrm>
          <a:prstGeom prst="rect">
            <a:avLst/>
          </a:prstGeom>
          <a:noFill/>
          <a:ln w="9525">
            <a:noFill/>
            <a:miter lim="800000"/>
            <a:headEnd/>
            <a:tailEnd/>
          </a:ln>
          <a:effectLst/>
        </p:spPr>
        <p:txBody>
          <a:bodyPr wrap="none">
            <a:spAutoFit/>
          </a:bodyPr>
          <a:lstStyle/>
          <a:p>
            <a:r>
              <a:rPr lang="zh-CN" altLang="en-US">
                <a:latin typeface="Verdana" pitchFamily="34" charset="0"/>
                <a:hlinkClick r:id="rId4" action="ppaction://hlinksldjump"/>
              </a:rPr>
              <a:t>返回</a:t>
            </a:r>
            <a:endParaRPr lang="zh-CN" altLang="en-US">
              <a:latin typeface="Verdana"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r>
              <a:rPr lang="en-US" altLang="zh-CN"/>
              <a:t>2.1.1</a:t>
            </a:r>
            <a:r>
              <a:rPr lang="zh-CN" altLang="en-US"/>
              <a:t>与数据相关的寻址方式</a:t>
            </a:r>
          </a:p>
        </p:txBody>
      </p:sp>
      <p:sp>
        <p:nvSpPr>
          <p:cNvPr id="131075" name="Rectangle 3"/>
          <p:cNvSpPr>
            <a:spLocks noGrp="1" noChangeArrowheads="1"/>
          </p:cNvSpPr>
          <p:nvPr>
            <p:ph idx="1"/>
          </p:nvPr>
        </p:nvSpPr>
        <p:spPr/>
        <p:txBody>
          <a:bodyPr/>
          <a:lstStyle/>
          <a:p>
            <a:pPr>
              <a:lnSpc>
                <a:spcPct val="90000"/>
              </a:lnSpc>
            </a:pPr>
            <a:r>
              <a:rPr lang="zh-CN" altLang="en-US" sz="2700" dirty="0">
                <a:solidFill>
                  <a:srgbClr val="FF6600"/>
                </a:solidFill>
                <a:hlinkClick r:id="rId2" action="ppaction://hlinksldjump"/>
              </a:rPr>
              <a:t>立即数寻址</a:t>
            </a:r>
            <a:endParaRPr lang="zh-CN" altLang="en-US" sz="2700" dirty="0">
              <a:solidFill>
                <a:srgbClr val="FF6600"/>
              </a:solidFill>
            </a:endParaRPr>
          </a:p>
          <a:p>
            <a:pPr>
              <a:lnSpc>
                <a:spcPct val="90000"/>
              </a:lnSpc>
            </a:pPr>
            <a:r>
              <a:rPr lang="zh-CN" altLang="en-US" sz="2600" dirty="0">
                <a:solidFill>
                  <a:srgbClr val="FF6600"/>
                </a:solidFill>
                <a:hlinkClick r:id="rId3" action="ppaction://hlinksldjump"/>
              </a:rPr>
              <a:t>寄存器寻址方式</a:t>
            </a:r>
            <a:endParaRPr lang="zh-CN" altLang="en-US" sz="2600" dirty="0">
              <a:solidFill>
                <a:srgbClr val="FF6600"/>
              </a:solidFill>
            </a:endParaRPr>
          </a:p>
          <a:p>
            <a:pPr>
              <a:lnSpc>
                <a:spcPct val="90000"/>
              </a:lnSpc>
            </a:pPr>
            <a:r>
              <a:rPr lang="zh-CN" altLang="en-US" sz="2600" dirty="0">
                <a:solidFill>
                  <a:srgbClr val="FF6600"/>
                </a:solidFill>
                <a:hlinkClick r:id="rId4" action="ppaction://hlinksldjump"/>
              </a:rPr>
              <a:t>直接寻址</a:t>
            </a:r>
            <a:endParaRPr lang="zh-CN" altLang="en-US" sz="2600" dirty="0">
              <a:solidFill>
                <a:srgbClr val="FF6600"/>
              </a:solidFill>
            </a:endParaRPr>
          </a:p>
          <a:p>
            <a:pPr>
              <a:lnSpc>
                <a:spcPct val="90000"/>
              </a:lnSpc>
            </a:pPr>
            <a:r>
              <a:rPr lang="zh-CN" altLang="en-US" sz="2600" dirty="0">
                <a:solidFill>
                  <a:srgbClr val="FF6600"/>
                </a:solidFill>
                <a:hlinkClick r:id="rId5" action="ppaction://hlinksldjump"/>
              </a:rPr>
              <a:t>寄存器间接寻址方式</a:t>
            </a:r>
            <a:endParaRPr lang="zh-CN" altLang="en-US" sz="2600" dirty="0">
              <a:solidFill>
                <a:srgbClr val="FF6600"/>
              </a:solidFill>
            </a:endParaRPr>
          </a:p>
          <a:p>
            <a:pPr>
              <a:lnSpc>
                <a:spcPct val="90000"/>
              </a:lnSpc>
            </a:pPr>
            <a:r>
              <a:rPr lang="zh-CN" altLang="en-US" sz="2600" dirty="0">
                <a:solidFill>
                  <a:srgbClr val="FF6600"/>
                </a:solidFill>
                <a:hlinkClick r:id="rId6" action="ppaction://hlinksldjump"/>
              </a:rPr>
              <a:t>寄存器相对寻址方式</a:t>
            </a:r>
            <a:endParaRPr lang="zh-CN" altLang="en-US" sz="2600" dirty="0">
              <a:solidFill>
                <a:srgbClr val="FF6600"/>
              </a:solidFill>
            </a:endParaRPr>
          </a:p>
          <a:p>
            <a:pPr>
              <a:lnSpc>
                <a:spcPct val="90000"/>
              </a:lnSpc>
            </a:pPr>
            <a:r>
              <a:rPr lang="zh-CN" altLang="en-US" sz="2600" dirty="0">
                <a:solidFill>
                  <a:srgbClr val="FF6600"/>
                </a:solidFill>
                <a:hlinkClick r:id="rId7" action="ppaction://hlinksldjump"/>
              </a:rPr>
              <a:t>基址变址寻址</a:t>
            </a:r>
            <a:endParaRPr lang="zh-CN" altLang="en-US" sz="2600" dirty="0">
              <a:solidFill>
                <a:srgbClr val="FF6600"/>
              </a:solidFill>
            </a:endParaRPr>
          </a:p>
          <a:p>
            <a:pPr>
              <a:lnSpc>
                <a:spcPct val="90000"/>
              </a:lnSpc>
            </a:pPr>
            <a:r>
              <a:rPr lang="zh-CN" altLang="en-US" sz="2600" dirty="0">
                <a:solidFill>
                  <a:srgbClr val="FF6600"/>
                </a:solidFill>
                <a:hlinkClick r:id="rId8" action="ppaction://hlinksldjump"/>
              </a:rPr>
              <a:t>相对基址变址寻址方式</a:t>
            </a:r>
            <a:endParaRPr lang="zh-CN" altLang="en-US" sz="2600" dirty="0">
              <a:solidFill>
                <a:srgbClr val="FF6600"/>
              </a:solidFill>
            </a:endParaRPr>
          </a:p>
          <a:p>
            <a:pPr>
              <a:lnSpc>
                <a:spcPct val="90000"/>
              </a:lnSpc>
            </a:pPr>
            <a:r>
              <a:rPr lang="zh-CN" altLang="en-US" sz="2600" dirty="0">
                <a:solidFill>
                  <a:srgbClr val="FF6600"/>
                </a:solidFill>
                <a:hlinkClick r:id="rId9" action="ppaction://hlinksldjump"/>
              </a:rPr>
              <a:t>比例变址寻址方式</a:t>
            </a:r>
            <a:endParaRPr lang="zh-CN" altLang="en-US" sz="2600" dirty="0">
              <a:solidFill>
                <a:srgbClr val="FF6600"/>
              </a:solidFill>
            </a:endParaRPr>
          </a:p>
          <a:p>
            <a:pPr>
              <a:lnSpc>
                <a:spcPct val="90000"/>
              </a:lnSpc>
            </a:pPr>
            <a:r>
              <a:rPr lang="zh-CN" altLang="en-US" sz="2600" dirty="0">
                <a:solidFill>
                  <a:srgbClr val="FF6600"/>
                </a:solidFill>
                <a:hlinkClick r:id="rId10" action="ppaction://hlinksldjump"/>
              </a:rPr>
              <a:t>基址比例变址寻址方式</a:t>
            </a:r>
            <a:endParaRPr lang="zh-CN" altLang="en-US" sz="2600" dirty="0">
              <a:solidFill>
                <a:srgbClr val="FF6600"/>
              </a:solidFill>
            </a:endParaRPr>
          </a:p>
          <a:p>
            <a:pPr>
              <a:lnSpc>
                <a:spcPct val="90000"/>
              </a:lnSpc>
            </a:pPr>
            <a:r>
              <a:rPr lang="zh-CN" altLang="en-US" sz="2600" dirty="0">
                <a:solidFill>
                  <a:srgbClr val="FF6600"/>
                </a:solidFill>
                <a:hlinkClick r:id="rId11" action="ppaction://hlinksldjump"/>
              </a:rPr>
              <a:t>相对基址比例变址寻址方式</a:t>
            </a:r>
            <a:endParaRPr lang="zh-CN" altLang="en-US" sz="2700" dirty="0">
              <a:solidFill>
                <a:srgbClr val="FF6600"/>
              </a:solidFill>
            </a:endParaRPr>
          </a:p>
          <a:p>
            <a:pPr>
              <a:lnSpc>
                <a:spcPct val="90000"/>
              </a:lnSpc>
            </a:pPr>
            <a:endParaRPr lang="en-US" altLang="zh-CN" sz="2700" dirty="0">
              <a:solidFill>
                <a:srgbClr val="FF6600"/>
              </a:solidFill>
            </a:endParaRPr>
          </a:p>
        </p:txBody>
      </p:sp>
      <p:sp>
        <p:nvSpPr>
          <p:cNvPr id="131076" name="Rectangle 4"/>
          <p:cNvSpPr>
            <a:spLocks noChangeArrowheads="1"/>
          </p:cNvSpPr>
          <p:nvPr/>
        </p:nvSpPr>
        <p:spPr bwMode="auto">
          <a:xfrm>
            <a:off x="7667625" y="5661025"/>
            <a:ext cx="641350" cy="366713"/>
          </a:xfrm>
          <a:prstGeom prst="rect">
            <a:avLst/>
          </a:prstGeom>
          <a:noFill/>
          <a:ln w="9525">
            <a:noFill/>
            <a:miter lim="800000"/>
            <a:headEnd/>
            <a:tailEnd/>
          </a:ln>
          <a:effectLst/>
        </p:spPr>
        <p:txBody>
          <a:bodyPr wrap="none">
            <a:spAutoFit/>
          </a:bodyPr>
          <a:lstStyle/>
          <a:p>
            <a:r>
              <a:rPr lang="zh-CN" altLang="en-US">
                <a:latin typeface="Verdana" pitchFamily="34" charset="0"/>
                <a:hlinkClick r:id="rId12" action="ppaction://hlinksldjump"/>
              </a:rPr>
              <a:t>返回</a:t>
            </a:r>
            <a:endParaRPr lang="zh-CN" altLang="en-US">
              <a:latin typeface="Verdana"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r>
              <a:rPr lang="en-US" altLang="zh-CN" sz="4000"/>
              <a:t>1</a:t>
            </a:r>
            <a:r>
              <a:rPr lang="zh-CN" altLang="en-US" sz="4000"/>
              <a:t>、立即数寻址</a:t>
            </a:r>
          </a:p>
        </p:txBody>
      </p:sp>
      <p:sp>
        <p:nvSpPr>
          <p:cNvPr id="132099" name="Rectangle 3"/>
          <p:cNvSpPr>
            <a:spLocks noGrp="1" noChangeArrowheads="1"/>
          </p:cNvSpPr>
          <p:nvPr>
            <p:ph idx="1"/>
          </p:nvPr>
        </p:nvSpPr>
        <p:spPr>
          <a:xfrm>
            <a:off x="468313" y="1484313"/>
            <a:ext cx="8229600" cy="4411662"/>
          </a:xfrm>
        </p:spPr>
        <p:txBody>
          <a:bodyPr/>
          <a:lstStyle/>
          <a:p>
            <a:r>
              <a:rPr kumimoji="1" lang="zh-CN" altLang="en-US" sz="3500" b="1" dirty="0">
                <a:solidFill>
                  <a:srgbClr val="009900"/>
                </a:solidFill>
                <a:latin typeface="微软雅黑" pitchFamily="34" charset="-122"/>
                <a:ea typeface="微软雅黑" pitchFamily="34" charset="-122"/>
              </a:rPr>
              <a:t>操作数在指令中给出</a:t>
            </a:r>
          </a:p>
          <a:p>
            <a:pPr>
              <a:spcBef>
                <a:spcPct val="35000"/>
              </a:spcBef>
              <a:buFont typeface="Wingdings" pitchFamily="2" charset="2"/>
              <a:buNone/>
            </a:pPr>
            <a:r>
              <a:rPr kumimoji="1" lang="zh-CN" altLang="en-US" sz="2500" b="1" dirty="0">
                <a:solidFill>
                  <a:srgbClr val="000000"/>
                </a:solidFill>
                <a:latin typeface="微软雅黑" pitchFamily="34" charset="-122"/>
                <a:ea typeface="微软雅黑" pitchFamily="34" charset="-122"/>
              </a:rPr>
              <a:t>指令格式： </a:t>
            </a:r>
            <a:r>
              <a:rPr kumimoji="1" lang="en-US" altLang="zh-CN" sz="2500" b="1" dirty="0">
                <a:solidFill>
                  <a:srgbClr val="000000"/>
                </a:solidFill>
                <a:latin typeface="微软雅黑" pitchFamily="34" charset="-122"/>
                <a:ea typeface="微软雅黑" pitchFamily="34" charset="-122"/>
              </a:rPr>
              <a:t>MOV  AL, 5</a:t>
            </a:r>
          </a:p>
          <a:p>
            <a:pPr>
              <a:spcBef>
                <a:spcPct val="35000"/>
              </a:spcBef>
              <a:buFont typeface="Wingdings" pitchFamily="2" charset="2"/>
              <a:buNone/>
            </a:pPr>
            <a:r>
              <a:rPr kumimoji="1" lang="en-US" altLang="zh-CN" sz="2500" b="1" dirty="0">
                <a:solidFill>
                  <a:srgbClr val="000000"/>
                </a:solidFill>
                <a:latin typeface="微软雅黑" pitchFamily="34" charset="-122"/>
                <a:ea typeface="微软雅黑" pitchFamily="34" charset="-122"/>
              </a:rPr>
              <a:t>           MOV  AX, 1234H</a:t>
            </a:r>
          </a:p>
          <a:p>
            <a:pPr>
              <a:buFont typeface="Wingdings" pitchFamily="2" charset="2"/>
              <a:buNone/>
            </a:pPr>
            <a:r>
              <a:rPr kumimoji="1" lang="en-US" altLang="zh-CN" sz="2500" b="1" dirty="0">
                <a:solidFill>
                  <a:srgbClr val="000000"/>
                </a:solidFill>
                <a:latin typeface="微软雅黑" pitchFamily="34" charset="-122"/>
                <a:ea typeface="微软雅黑" pitchFamily="34" charset="-122"/>
              </a:rPr>
              <a:t>           MOV  AL, ‘A’</a:t>
            </a:r>
          </a:p>
          <a:p>
            <a:pPr>
              <a:lnSpc>
                <a:spcPct val="120000"/>
              </a:lnSpc>
            </a:pPr>
            <a:r>
              <a:rPr kumimoji="1" lang="zh-CN" altLang="zh-CN" sz="2500" b="1" dirty="0">
                <a:solidFill>
                  <a:srgbClr val="FF0000"/>
                </a:solidFill>
                <a:latin typeface="微软雅黑" pitchFamily="34" charset="-122"/>
                <a:ea typeface="微软雅黑" pitchFamily="34" charset="-122"/>
                <a:sym typeface="Monotype Sorts" pitchFamily="2" charset="2"/>
              </a:rPr>
              <a:t>只能用于</a:t>
            </a:r>
            <a:r>
              <a:rPr kumimoji="1" lang="zh-CN" altLang="en-US" sz="2500" b="1" dirty="0">
                <a:solidFill>
                  <a:srgbClr val="FF0000"/>
                </a:solidFill>
                <a:latin typeface="微软雅黑" pitchFamily="34" charset="-122"/>
                <a:ea typeface="微软雅黑" pitchFamily="34" charset="-122"/>
                <a:sym typeface="Monotype Sorts" pitchFamily="2" charset="2"/>
              </a:rPr>
              <a:t> </a:t>
            </a:r>
            <a:r>
              <a:rPr kumimoji="1" lang="en-US" altLang="zh-CN" sz="2500" b="1" dirty="0">
                <a:solidFill>
                  <a:srgbClr val="FF0000"/>
                </a:solidFill>
                <a:latin typeface="微软雅黑" pitchFamily="34" charset="-122"/>
                <a:ea typeface="微软雅黑" pitchFamily="34" charset="-122"/>
                <a:sym typeface="Monotype Sorts" pitchFamily="2" charset="2"/>
              </a:rPr>
              <a:t>SRC </a:t>
            </a:r>
            <a:r>
              <a:rPr kumimoji="1" lang="zh-CN" altLang="zh-CN" sz="2500" b="1" dirty="0">
                <a:solidFill>
                  <a:srgbClr val="FF0000"/>
                </a:solidFill>
                <a:latin typeface="微软雅黑" pitchFamily="34" charset="-122"/>
                <a:ea typeface="微软雅黑" pitchFamily="34" charset="-122"/>
                <a:sym typeface="Monotype Sorts" pitchFamily="2" charset="2"/>
              </a:rPr>
              <a:t>字段</a:t>
            </a:r>
            <a:r>
              <a:rPr kumimoji="1" lang="zh-CN" altLang="en-US" sz="2500" b="1" dirty="0">
                <a:solidFill>
                  <a:srgbClr val="000000"/>
                </a:solidFill>
                <a:latin typeface="微软雅黑" pitchFamily="34" charset="-122"/>
                <a:ea typeface="微软雅黑" pitchFamily="34" charset="-122"/>
                <a:sym typeface="Monotype Sorts" pitchFamily="2" charset="2"/>
              </a:rPr>
              <a:t>           </a:t>
            </a:r>
            <a:r>
              <a:rPr kumimoji="1" lang="en-US" altLang="zh-CN" sz="2500" b="1" dirty="0">
                <a:solidFill>
                  <a:srgbClr val="000000"/>
                </a:solidFill>
                <a:latin typeface="微软雅黑" pitchFamily="34" charset="-122"/>
                <a:ea typeface="微软雅黑" pitchFamily="34" charset="-122"/>
                <a:sym typeface="Monotype Sorts" pitchFamily="2" charset="2"/>
              </a:rPr>
              <a:t>MOV  40H, AL</a:t>
            </a:r>
            <a:r>
              <a:rPr kumimoji="1" lang="en-US" altLang="zh-CN" sz="2500" b="1" dirty="0">
                <a:solidFill>
                  <a:srgbClr val="000000"/>
                </a:solidFill>
                <a:latin typeface="微软雅黑" pitchFamily="34" charset="-122"/>
                <a:ea typeface="微软雅黑" pitchFamily="34" charset="-122"/>
              </a:rPr>
              <a:t> </a:t>
            </a:r>
            <a:r>
              <a:rPr kumimoji="1" lang="zh-CN" altLang="zh-CN" sz="2500" b="1" dirty="0">
                <a:solidFill>
                  <a:srgbClr val="000000"/>
                </a:solidFill>
                <a:latin typeface="微软雅黑" pitchFamily="34" charset="-122"/>
                <a:ea typeface="微软雅黑" pitchFamily="34" charset="-122"/>
                <a:sym typeface="Symbol" pitchFamily="18" charset="2"/>
              </a:rPr>
              <a:t></a:t>
            </a:r>
            <a:endParaRPr kumimoji="1" lang="zh-CN" altLang="zh-CN" sz="2500" b="1" dirty="0">
              <a:solidFill>
                <a:srgbClr val="000000"/>
              </a:solidFill>
              <a:latin typeface="微软雅黑" pitchFamily="34" charset="-122"/>
              <a:ea typeface="微软雅黑" pitchFamily="34" charset="-122"/>
              <a:sym typeface="Monotype Sorts" pitchFamily="2" charset="2"/>
            </a:endParaRPr>
          </a:p>
          <a:p>
            <a:pPr>
              <a:lnSpc>
                <a:spcPct val="120000"/>
              </a:lnSpc>
            </a:pPr>
            <a:r>
              <a:rPr kumimoji="1" lang="en-US" altLang="zh-CN" sz="2500" b="1" dirty="0">
                <a:solidFill>
                  <a:srgbClr val="FF0000"/>
                </a:solidFill>
                <a:latin typeface="微软雅黑" pitchFamily="34" charset="-122"/>
                <a:ea typeface="微软雅黑" pitchFamily="34" charset="-122"/>
              </a:rPr>
              <a:t>SRC </a:t>
            </a:r>
            <a:r>
              <a:rPr kumimoji="1" lang="zh-CN" altLang="zh-CN" sz="2500" b="1" dirty="0">
                <a:solidFill>
                  <a:srgbClr val="FF0000"/>
                </a:solidFill>
                <a:latin typeface="微软雅黑" pitchFamily="34" charset="-122"/>
                <a:ea typeface="微软雅黑" pitchFamily="34" charset="-122"/>
              </a:rPr>
              <a:t>和 </a:t>
            </a:r>
            <a:r>
              <a:rPr kumimoji="1" lang="en-US" altLang="zh-CN" sz="2500" b="1" dirty="0">
                <a:solidFill>
                  <a:srgbClr val="FF0000"/>
                </a:solidFill>
                <a:latin typeface="微软雅黑" pitchFamily="34" charset="-122"/>
                <a:ea typeface="微软雅黑" pitchFamily="34" charset="-122"/>
              </a:rPr>
              <a:t>DST </a:t>
            </a:r>
            <a:r>
              <a:rPr kumimoji="1" lang="zh-CN" altLang="zh-CN" sz="2500" b="1" dirty="0">
                <a:solidFill>
                  <a:srgbClr val="FF0000"/>
                </a:solidFill>
                <a:latin typeface="微软雅黑" pitchFamily="34" charset="-122"/>
                <a:ea typeface="微软雅黑" pitchFamily="34" charset="-122"/>
              </a:rPr>
              <a:t>的字长一致</a:t>
            </a:r>
            <a:r>
              <a:rPr kumimoji="1" lang="zh-CN" altLang="zh-CN" sz="2500" b="1" dirty="0">
                <a:solidFill>
                  <a:srgbClr val="000000"/>
                </a:solidFill>
                <a:latin typeface="微软雅黑" pitchFamily="34" charset="-122"/>
                <a:ea typeface="微软雅黑" pitchFamily="34" charset="-122"/>
              </a:rPr>
              <a:t> </a:t>
            </a:r>
            <a:r>
              <a:rPr kumimoji="1" lang="zh-CN" altLang="en-US" sz="2500" b="1" dirty="0">
                <a:solidFill>
                  <a:srgbClr val="000000"/>
                </a:solidFill>
                <a:latin typeface="微软雅黑" pitchFamily="34" charset="-122"/>
                <a:ea typeface="微软雅黑" pitchFamily="34" charset="-122"/>
              </a:rPr>
              <a:t>   </a:t>
            </a:r>
            <a:r>
              <a:rPr kumimoji="1" lang="en-US" altLang="zh-CN" sz="2500" b="1" dirty="0">
                <a:solidFill>
                  <a:srgbClr val="000000"/>
                </a:solidFill>
                <a:latin typeface="微软雅黑" pitchFamily="34" charset="-122"/>
                <a:ea typeface="微软雅黑" pitchFamily="34" charset="-122"/>
              </a:rPr>
              <a:t>MOV  AH, 3064H</a:t>
            </a:r>
            <a:r>
              <a:rPr kumimoji="1" lang="en-US" altLang="zh-CN" sz="2500" dirty="0">
                <a:solidFill>
                  <a:srgbClr val="000000"/>
                </a:solidFill>
                <a:latin typeface="微软雅黑" pitchFamily="34" charset="-122"/>
                <a:ea typeface="微软雅黑" pitchFamily="34" charset="-122"/>
              </a:rPr>
              <a:t>  </a:t>
            </a:r>
            <a:r>
              <a:rPr kumimoji="1" lang="zh-CN" altLang="zh-CN" sz="2500" dirty="0">
                <a:solidFill>
                  <a:srgbClr val="000000"/>
                </a:solidFill>
                <a:latin typeface="微软雅黑" pitchFamily="34" charset="-122"/>
                <a:ea typeface="微软雅黑" pitchFamily="34" charset="-122"/>
                <a:sym typeface="Symbol" pitchFamily="18" charset="2"/>
              </a:rPr>
              <a:t></a:t>
            </a:r>
            <a:endParaRPr kumimoji="1" lang="en-US" altLang="zh-CN" sz="2500" dirty="0">
              <a:latin typeface="微软雅黑" pitchFamily="34" charset="-122"/>
              <a:ea typeface="微软雅黑" pitchFamily="34" charset="-122"/>
            </a:endParaRPr>
          </a:p>
          <a:p>
            <a:pPr lvl="1">
              <a:buFont typeface="Wingdings" pitchFamily="2" charset="2"/>
              <a:buNone/>
            </a:pPr>
            <a:endParaRPr lang="en-US" altLang="zh-CN" sz="2200" dirty="0"/>
          </a:p>
        </p:txBody>
      </p:sp>
      <p:grpSp>
        <p:nvGrpSpPr>
          <p:cNvPr id="2" name="Group 4"/>
          <p:cNvGrpSpPr>
            <a:grpSpLocks noChangeAspect="1"/>
          </p:cNvGrpSpPr>
          <p:nvPr/>
        </p:nvGrpSpPr>
        <p:grpSpPr bwMode="auto">
          <a:xfrm>
            <a:off x="539750" y="4724400"/>
            <a:ext cx="7705725" cy="1927225"/>
            <a:chOff x="2220" y="11659"/>
            <a:chExt cx="7740" cy="2808"/>
          </a:xfrm>
        </p:grpSpPr>
        <p:sp>
          <p:nvSpPr>
            <p:cNvPr id="132101" name="AutoShape 5"/>
            <p:cNvSpPr>
              <a:spLocks noChangeAspect="1" noChangeArrowheads="1"/>
            </p:cNvSpPr>
            <p:nvPr/>
          </p:nvSpPr>
          <p:spPr bwMode="auto">
            <a:xfrm>
              <a:off x="2220" y="11659"/>
              <a:ext cx="7740" cy="2808"/>
            </a:xfrm>
            <a:prstGeom prst="rect">
              <a:avLst/>
            </a:prstGeom>
            <a:noFill/>
            <a:ln w="9525">
              <a:noFill/>
              <a:miter lim="800000"/>
              <a:headEnd/>
              <a:tailEnd/>
            </a:ln>
          </p:spPr>
          <p:txBody>
            <a:bodyPr/>
            <a:lstStyle/>
            <a:p>
              <a:endParaRPr lang="zh-CN" altLang="en-US"/>
            </a:p>
          </p:txBody>
        </p:sp>
        <p:sp>
          <p:nvSpPr>
            <p:cNvPr id="132102" name="Rectangle 6"/>
            <p:cNvSpPr>
              <a:spLocks noChangeArrowheads="1"/>
            </p:cNvSpPr>
            <p:nvPr/>
          </p:nvSpPr>
          <p:spPr bwMode="auto">
            <a:xfrm>
              <a:off x="6900" y="12595"/>
              <a:ext cx="1080" cy="312"/>
            </a:xfrm>
            <a:prstGeom prst="rect">
              <a:avLst/>
            </a:prstGeom>
            <a:noFill/>
            <a:ln w="9525">
              <a:solidFill>
                <a:srgbClr val="000000"/>
              </a:solidFill>
              <a:miter lim="800000"/>
              <a:headEnd/>
              <a:tailEnd/>
            </a:ln>
          </p:spPr>
          <p:txBody>
            <a:bodyPr lIns="0" tIns="0" rIns="0" bIns="0"/>
            <a:lstStyle/>
            <a:p>
              <a:pPr algn="ctr"/>
              <a:r>
                <a:rPr lang="zh-CN" altLang="en-US" sz="1200">
                  <a:latin typeface="Times New Roman" pitchFamily="18" charset="0"/>
                </a:rPr>
                <a:t>操作码</a:t>
              </a:r>
              <a:endParaRPr lang="zh-CN" altLang="en-US" sz="1200">
                <a:latin typeface="Verdana" pitchFamily="34" charset="0"/>
              </a:endParaRPr>
            </a:p>
          </p:txBody>
        </p:sp>
        <p:sp>
          <p:nvSpPr>
            <p:cNvPr id="132103" name="Rectangle 7"/>
            <p:cNvSpPr>
              <a:spLocks noChangeArrowheads="1"/>
            </p:cNvSpPr>
            <p:nvPr/>
          </p:nvSpPr>
          <p:spPr bwMode="auto">
            <a:xfrm>
              <a:off x="6900" y="12907"/>
              <a:ext cx="1080" cy="312"/>
            </a:xfrm>
            <a:prstGeom prst="rect">
              <a:avLst/>
            </a:prstGeom>
            <a:noFill/>
            <a:ln w="9525">
              <a:solidFill>
                <a:srgbClr val="000000"/>
              </a:solidFill>
              <a:miter lim="800000"/>
              <a:headEnd/>
              <a:tailEnd/>
            </a:ln>
          </p:spPr>
          <p:txBody>
            <a:bodyPr lIns="0" tIns="0" rIns="0" bIns="0"/>
            <a:lstStyle/>
            <a:p>
              <a:pPr algn="ctr"/>
              <a:r>
                <a:rPr lang="en-US" altLang="zh-CN" sz="1200">
                  <a:latin typeface="Times New Roman" pitchFamily="18" charset="0"/>
                </a:rPr>
                <a:t>34</a:t>
              </a:r>
              <a:endParaRPr lang="en-US" altLang="zh-CN" sz="1200">
                <a:latin typeface="Verdana" pitchFamily="34" charset="0"/>
              </a:endParaRPr>
            </a:p>
          </p:txBody>
        </p:sp>
        <p:sp>
          <p:nvSpPr>
            <p:cNvPr id="132104" name="Line 8"/>
            <p:cNvSpPr>
              <a:spLocks noChangeShapeType="1"/>
            </p:cNvSpPr>
            <p:nvPr/>
          </p:nvSpPr>
          <p:spPr bwMode="auto">
            <a:xfrm>
              <a:off x="6900" y="11971"/>
              <a:ext cx="1" cy="1872"/>
            </a:xfrm>
            <a:prstGeom prst="line">
              <a:avLst/>
            </a:prstGeom>
            <a:noFill/>
            <a:ln w="9525">
              <a:solidFill>
                <a:srgbClr val="000000"/>
              </a:solidFill>
              <a:round/>
              <a:headEnd/>
              <a:tailEnd/>
            </a:ln>
          </p:spPr>
          <p:txBody>
            <a:bodyPr/>
            <a:lstStyle/>
            <a:p>
              <a:endParaRPr lang="zh-CN" altLang="en-US"/>
            </a:p>
          </p:txBody>
        </p:sp>
        <p:sp>
          <p:nvSpPr>
            <p:cNvPr id="132105" name="Line 9"/>
            <p:cNvSpPr>
              <a:spLocks noChangeShapeType="1"/>
            </p:cNvSpPr>
            <p:nvPr/>
          </p:nvSpPr>
          <p:spPr bwMode="auto">
            <a:xfrm>
              <a:off x="7980" y="11971"/>
              <a:ext cx="1" cy="1872"/>
            </a:xfrm>
            <a:prstGeom prst="line">
              <a:avLst/>
            </a:prstGeom>
            <a:noFill/>
            <a:ln w="9525">
              <a:solidFill>
                <a:srgbClr val="000000"/>
              </a:solidFill>
              <a:round/>
              <a:headEnd/>
              <a:tailEnd/>
            </a:ln>
          </p:spPr>
          <p:txBody>
            <a:bodyPr/>
            <a:lstStyle/>
            <a:p>
              <a:endParaRPr lang="zh-CN" altLang="en-US"/>
            </a:p>
          </p:txBody>
        </p:sp>
        <p:grpSp>
          <p:nvGrpSpPr>
            <p:cNvPr id="3" name="Group 10"/>
            <p:cNvGrpSpPr>
              <a:grpSpLocks/>
            </p:cNvGrpSpPr>
            <p:nvPr/>
          </p:nvGrpSpPr>
          <p:grpSpPr bwMode="auto">
            <a:xfrm>
              <a:off x="4200" y="12595"/>
              <a:ext cx="1080" cy="312"/>
              <a:chOff x="4200" y="12595"/>
              <a:chExt cx="1080" cy="312"/>
            </a:xfrm>
          </p:grpSpPr>
          <p:sp>
            <p:nvSpPr>
              <p:cNvPr id="132107" name="Rectangle 11"/>
              <p:cNvSpPr>
                <a:spLocks noChangeArrowheads="1"/>
              </p:cNvSpPr>
              <p:nvPr/>
            </p:nvSpPr>
            <p:spPr bwMode="auto">
              <a:xfrm>
                <a:off x="4200" y="12595"/>
                <a:ext cx="1080" cy="312"/>
              </a:xfrm>
              <a:prstGeom prst="rect">
                <a:avLst/>
              </a:prstGeom>
              <a:noFill/>
              <a:ln w="9525">
                <a:solidFill>
                  <a:srgbClr val="000000"/>
                </a:solidFill>
                <a:miter lim="800000"/>
                <a:headEnd/>
                <a:tailEnd/>
              </a:ln>
            </p:spPr>
            <p:txBody>
              <a:bodyPr lIns="0" tIns="0" rIns="0" bIns="0"/>
              <a:lstStyle/>
              <a:p>
                <a:pPr algn="ctr"/>
                <a:r>
                  <a:rPr lang="en-US" altLang="zh-CN" sz="1200">
                    <a:latin typeface="Times New Roman" pitchFamily="18" charset="0"/>
                  </a:rPr>
                  <a:t>12   34</a:t>
                </a:r>
                <a:endParaRPr lang="en-US" altLang="zh-CN" sz="1200">
                  <a:latin typeface="Verdana" pitchFamily="34" charset="0"/>
                </a:endParaRPr>
              </a:p>
            </p:txBody>
          </p:sp>
          <p:sp>
            <p:nvSpPr>
              <p:cNvPr id="132108" name="Line 12"/>
              <p:cNvSpPr>
                <a:spLocks noChangeShapeType="1"/>
              </p:cNvSpPr>
              <p:nvPr/>
            </p:nvSpPr>
            <p:spPr bwMode="auto">
              <a:xfrm>
                <a:off x="4740" y="12595"/>
                <a:ext cx="1" cy="312"/>
              </a:xfrm>
              <a:prstGeom prst="line">
                <a:avLst/>
              </a:prstGeom>
              <a:noFill/>
              <a:ln w="19050">
                <a:solidFill>
                  <a:srgbClr val="000000"/>
                </a:solidFill>
                <a:prstDash val="sysDot"/>
                <a:round/>
                <a:headEnd/>
                <a:tailEnd/>
              </a:ln>
            </p:spPr>
            <p:txBody>
              <a:bodyPr/>
              <a:lstStyle/>
              <a:p>
                <a:endParaRPr lang="zh-CN" altLang="en-US"/>
              </a:p>
            </p:txBody>
          </p:sp>
        </p:grpSp>
        <p:sp>
          <p:nvSpPr>
            <p:cNvPr id="132109" name="Line 13"/>
            <p:cNvSpPr>
              <a:spLocks noChangeShapeType="1"/>
            </p:cNvSpPr>
            <p:nvPr/>
          </p:nvSpPr>
          <p:spPr bwMode="auto">
            <a:xfrm>
              <a:off x="4485" y="12907"/>
              <a:ext cx="2" cy="468"/>
            </a:xfrm>
            <a:prstGeom prst="line">
              <a:avLst/>
            </a:prstGeom>
            <a:noFill/>
            <a:ln w="9525">
              <a:solidFill>
                <a:srgbClr val="000000"/>
              </a:solidFill>
              <a:round/>
              <a:headEnd type="triangle" w="med" len="med"/>
              <a:tailEnd/>
            </a:ln>
          </p:spPr>
          <p:txBody>
            <a:bodyPr/>
            <a:lstStyle/>
            <a:p>
              <a:endParaRPr lang="zh-CN" altLang="en-US"/>
            </a:p>
          </p:txBody>
        </p:sp>
        <p:sp>
          <p:nvSpPr>
            <p:cNvPr id="132110" name="Line 14"/>
            <p:cNvSpPr>
              <a:spLocks noChangeShapeType="1"/>
            </p:cNvSpPr>
            <p:nvPr/>
          </p:nvSpPr>
          <p:spPr bwMode="auto">
            <a:xfrm>
              <a:off x="4500" y="13375"/>
              <a:ext cx="2520" cy="1"/>
            </a:xfrm>
            <a:prstGeom prst="line">
              <a:avLst/>
            </a:prstGeom>
            <a:noFill/>
            <a:ln w="9525">
              <a:solidFill>
                <a:srgbClr val="000000"/>
              </a:solidFill>
              <a:round/>
              <a:headEnd/>
              <a:tailEnd type="oval" w="med" len="med"/>
            </a:ln>
            <a:effectLst/>
          </p:spPr>
          <p:txBody>
            <a:bodyPr lIns="0" tIns="0" rIns="0" bIns="0"/>
            <a:lstStyle/>
            <a:p>
              <a:endParaRPr lang="zh-CN" altLang="en-US"/>
            </a:p>
          </p:txBody>
        </p:sp>
        <p:sp>
          <p:nvSpPr>
            <p:cNvPr id="132111" name="Line 15"/>
            <p:cNvSpPr>
              <a:spLocks noChangeShapeType="1"/>
            </p:cNvSpPr>
            <p:nvPr/>
          </p:nvSpPr>
          <p:spPr bwMode="auto">
            <a:xfrm flipH="1">
              <a:off x="5025" y="13063"/>
              <a:ext cx="1980" cy="1"/>
            </a:xfrm>
            <a:prstGeom prst="line">
              <a:avLst/>
            </a:prstGeom>
            <a:noFill/>
            <a:ln w="9525">
              <a:solidFill>
                <a:srgbClr val="000000"/>
              </a:solidFill>
              <a:round/>
              <a:headEnd type="oval" w="med" len="med"/>
              <a:tailEnd/>
            </a:ln>
          </p:spPr>
          <p:txBody>
            <a:bodyPr/>
            <a:lstStyle/>
            <a:p>
              <a:endParaRPr lang="zh-CN" altLang="en-US"/>
            </a:p>
          </p:txBody>
        </p:sp>
        <p:sp>
          <p:nvSpPr>
            <p:cNvPr id="132112" name="Line 16"/>
            <p:cNvSpPr>
              <a:spLocks noChangeShapeType="1"/>
            </p:cNvSpPr>
            <p:nvPr/>
          </p:nvSpPr>
          <p:spPr bwMode="auto">
            <a:xfrm flipV="1">
              <a:off x="5025" y="12907"/>
              <a:ext cx="1" cy="156"/>
            </a:xfrm>
            <a:prstGeom prst="line">
              <a:avLst/>
            </a:prstGeom>
            <a:noFill/>
            <a:ln w="9525">
              <a:solidFill>
                <a:srgbClr val="000000"/>
              </a:solidFill>
              <a:round/>
              <a:headEnd/>
              <a:tailEnd type="triangle" w="med" len="med"/>
            </a:ln>
          </p:spPr>
          <p:txBody>
            <a:bodyPr/>
            <a:lstStyle/>
            <a:p>
              <a:endParaRPr lang="zh-CN" altLang="en-US"/>
            </a:p>
          </p:txBody>
        </p:sp>
        <p:sp>
          <p:nvSpPr>
            <p:cNvPr id="132113" name="Rectangle 17"/>
            <p:cNvSpPr>
              <a:spLocks noChangeArrowheads="1"/>
            </p:cNvSpPr>
            <p:nvPr/>
          </p:nvSpPr>
          <p:spPr bwMode="auto">
            <a:xfrm>
              <a:off x="6900" y="13219"/>
              <a:ext cx="1080" cy="312"/>
            </a:xfrm>
            <a:prstGeom prst="rect">
              <a:avLst/>
            </a:prstGeom>
            <a:noFill/>
            <a:ln w="9525">
              <a:solidFill>
                <a:srgbClr val="000000"/>
              </a:solidFill>
              <a:miter lim="800000"/>
              <a:headEnd/>
              <a:tailEnd/>
            </a:ln>
          </p:spPr>
          <p:txBody>
            <a:bodyPr lIns="0" tIns="0" rIns="0" bIns="0"/>
            <a:lstStyle/>
            <a:p>
              <a:pPr algn="ctr"/>
              <a:r>
                <a:rPr lang="en-US" altLang="zh-CN" sz="1200">
                  <a:latin typeface="Times New Roman" pitchFamily="18" charset="0"/>
                </a:rPr>
                <a:t>12</a:t>
              </a:r>
              <a:endParaRPr lang="en-US" altLang="zh-CN" sz="1200">
                <a:latin typeface="Verdana" pitchFamily="34" charset="0"/>
              </a:endParaRPr>
            </a:p>
          </p:txBody>
        </p:sp>
        <p:sp>
          <p:nvSpPr>
            <p:cNvPr id="132114" name="Rectangle 18"/>
            <p:cNvSpPr>
              <a:spLocks noChangeArrowheads="1"/>
            </p:cNvSpPr>
            <p:nvPr/>
          </p:nvSpPr>
          <p:spPr bwMode="auto">
            <a:xfrm>
              <a:off x="4200" y="12283"/>
              <a:ext cx="1080" cy="312"/>
            </a:xfrm>
            <a:prstGeom prst="rect">
              <a:avLst/>
            </a:prstGeom>
            <a:noFill/>
            <a:ln w="9525">
              <a:noFill/>
              <a:miter lim="800000"/>
              <a:headEnd/>
              <a:tailEnd/>
            </a:ln>
          </p:spPr>
          <p:txBody>
            <a:bodyPr lIns="0" tIns="0" rIns="0" bIns="0"/>
            <a:lstStyle/>
            <a:p>
              <a:pPr algn="ctr"/>
              <a:r>
                <a:rPr lang="en-US" altLang="zh-CN" sz="1200">
                  <a:latin typeface="Times New Roman" pitchFamily="18" charset="0"/>
                </a:rPr>
                <a:t>AX</a:t>
              </a:r>
              <a:endParaRPr lang="en-US" altLang="zh-CN" sz="1200">
                <a:latin typeface="Verdana" pitchFamily="34" charset="0"/>
              </a:endParaRPr>
            </a:p>
          </p:txBody>
        </p:sp>
        <p:sp>
          <p:nvSpPr>
            <p:cNvPr id="132115" name="Rectangle 19"/>
            <p:cNvSpPr>
              <a:spLocks noChangeArrowheads="1"/>
            </p:cNvSpPr>
            <p:nvPr/>
          </p:nvSpPr>
          <p:spPr bwMode="auto">
            <a:xfrm>
              <a:off x="6900" y="12283"/>
              <a:ext cx="1080" cy="312"/>
            </a:xfrm>
            <a:prstGeom prst="rect">
              <a:avLst/>
            </a:prstGeom>
            <a:noFill/>
            <a:ln w="9525">
              <a:solidFill>
                <a:srgbClr val="000000"/>
              </a:solidFill>
              <a:miter lim="800000"/>
              <a:headEnd/>
              <a:tailEnd/>
            </a:ln>
          </p:spPr>
          <p:txBody>
            <a:bodyPr lIns="0" tIns="0" rIns="0" bIns="0"/>
            <a:lstStyle/>
            <a:p>
              <a:pPr algn="ctr"/>
              <a:r>
                <a:rPr lang="en-US" altLang="zh-CN" sz="1200">
                  <a:latin typeface="Times New Roman" pitchFamily="18" charset="0"/>
                </a:rPr>
                <a:t>…</a:t>
              </a:r>
              <a:endParaRPr lang="en-US" altLang="zh-CN" sz="1200">
                <a:latin typeface="Verdana" pitchFamily="34" charset="0"/>
              </a:endParaRPr>
            </a:p>
          </p:txBody>
        </p:sp>
        <p:sp>
          <p:nvSpPr>
            <p:cNvPr id="132116" name="AutoShape 20"/>
            <p:cNvSpPr>
              <a:spLocks/>
            </p:cNvSpPr>
            <p:nvPr/>
          </p:nvSpPr>
          <p:spPr bwMode="auto">
            <a:xfrm>
              <a:off x="7980" y="12595"/>
              <a:ext cx="360" cy="936"/>
            </a:xfrm>
            <a:prstGeom prst="rightBrace">
              <a:avLst>
                <a:gd name="adj1" fmla="val 21667"/>
                <a:gd name="adj2" fmla="val 50000"/>
              </a:avLst>
            </a:prstGeom>
            <a:noFill/>
            <a:ln w="9525">
              <a:solidFill>
                <a:srgbClr val="000000"/>
              </a:solidFill>
              <a:round/>
              <a:headEnd/>
              <a:tailEnd/>
            </a:ln>
          </p:spPr>
          <p:txBody>
            <a:bodyPr/>
            <a:lstStyle/>
            <a:p>
              <a:endParaRPr lang="zh-CN" altLang="en-US"/>
            </a:p>
          </p:txBody>
        </p:sp>
        <p:sp>
          <p:nvSpPr>
            <p:cNvPr id="132117" name="Rectangle 21"/>
            <p:cNvSpPr>
              <a:spLocks noChangeArrowheads="1"/>
            </p:cNvSpPr>
            <p:nvPr/>
          </p:nvSpPr>
          <p:spPr bwMode="auto">
            <a:xfrm>
              <a:off x="8340" y="12907"/>
              <a:ext cx="1080" cy="312"/>
            </a:xfrm>
            <a:prstGeom prst="rect">
              <a:avLst/>
            </a:prstGeom>
            <a:noFill/>
            <a:ln w="9525">
              <a:noFill/>
              <a:miter lim="800000"/>
              <a:headEnd/>
              <a:tailEnd/>
            </a:ln>
          </p:spPr>
          <p:txBody>
            <a:bodyPr lIns="0" tIns="0" rIns="0" bIns="0"/>
            <a:lstStyle/>
            <a:p>
              <a:pPr algn="ctr"/>
              <a:r>
                <a:rPr lang="zh-CN" altLang="en-US" sz="1200">
                  <a:latin typeface="Times New Roman" pitchFamily="18" charset="0"/>
                </a:rPr>
                <a:t>指令编码</a:t>
              </a:r>
              <a:endParaRPr lang="zh-CN" altLang="en-US" sz="1200">
                <a:latin typeface="Verdana" pitchFamily="34" charset="0"/>
              </a:endParaRPr>
            </a:p>
          </p:txBody>
        </p:sp>
        <p:sp>
          <p:nvSpPr>
            <p:cNvPr id="132118" name="Rectangle 22"/>
            <p:cNvSpPr>
              <a:spLocks noChangeArrowheads="1"/>
            </p:cNvSpPr>
            <p:nvPr/>
          </p:nvSpPr>
          <p:spPr bwMode="auto">
            <a:xfrm>
              <a:off x="2940" y="14155"/>
              <a:ext cx="6300" cy="312"/>
            </a:xfrm>
            <a:prstGeom prst="rect">
              <a:avLst/>
            </a:prstGeom>
            <a:noFill/>
            <a:ln w="9525">
              <a:noFill/>
              <a:miter lim="800000"/>
              <a:headEnd/>
              <a:tailEnd/>
            </a:ln>
          </p:spPr>
          <p:txBody>
            <a:bodyPr lIns="0" tIns="0" rIns="0" bIns="0"/>
            <a:lstStyle/>
            <a:p>
              <a:pPr lvl="1" algn="ctr"/>
              <a:r>
                <a:rPr lang="zh-CN" altLang="en-US" sz="1400" dirty="0">
                  <a:latin typeface="Times New Roman" pitchFamily="18" charset="0"/>
                </a:rPr>
                <a:t>图</a:t>
              </a:r>
              <a:r>
                <a:rPr lang="en-US" altLang="zh-CN" sz="1400" dirty="0">
                  <a:latin typeface="Times New Roman" pitchFamily="18" charset="0"/>
                </a:rPr>
                <a:t>2-3   MOV AX</a:t>
              </a:r>
              <a:r>
                <a:rPr lang="zh-CN" altLang="en-US" sz="1400" dirty="0">
                  <a:latin typeface="Times New Roman" pitchFamily="18" charset="0"/>
                </a:rPr>
                <a:t>，</a:t>
              </a:r>
              <a:r>
                <a:rPr lang="en-US" altLang="zh-CN" sz="1400" dirty="0">
                  <a:latin typeface="Times New Roman" pitchFamily="18" charset="0"/>
                </a:rPr>
                <a:t>1234H</a:t>
              </a:r>
              <a:r>
                <a:rPr lang="zh-CN" altLang="en-US" sz="1400" dirty="0">
                  <a:latin typeface="Times New Roman" pitchFamily="18" charset="0"/>
                </a:rPr>
                <a:t>的执行情况</a:t>
              </a:r>
            </a:p>
            <a:p>
              <a:endParaRPr lang="en-US" altLang="zh-CN" sz="1400" dirty="0">
                <a:latin typeface="Verdana" pitchFamily="34" charset="0"/>
              </a:endParaRPr>
            </a:p>
          </p:txBody>
        </p:sp>
      </p:grpSp>
      <p:sp>
        <p:nvSpPr>
          <p:cNvPr id="132119" name="Rectangle 23"/>
          <p:cNvSpPr>
            <a:spLocks noChangeArrowheads="1"/>
          </p:cNvSpPr>
          <p:nvPr/>
        </p:nvSpPr>
        <p:spPr bwMode="auto">
          <a:xfrm>
            <a:off x="7667625" y="5661025"/>
            <a:ext cx="641350" cy="366713"/>
          </a:xfrm>
          <a:prstGeom prst="rect">
            <a:avLst/>
          </a:prstGeom>
          <a:noFill/>
          <a:ln w="9525">
            <a:noFill/>
            <a:miter lim="800000"/>
            <a:headEnd/>
            <a:tailEnd/>
          </a:ln>
          <a:effectLst/>
        </p:spPr>
        <p:txBody>
          <a:bodyPr wrap="none">
            <a:spAutoFit/>
          </a:bodyPr>
          <a:lstStyle/>
          <a:p>
            <a:r>
              <a:rPr lang="zh-CN" altLang="en-US">
                <a:latin typeface="Verdana" pitchFamily="34" charset="0"/>
                <a:hlinkClick r:id="rId2" action="ppaction://hlinksldjump"/>
              </a:rPr>
              <a:t>返回</a:t>
            </a:r>
            <a:endParaRPr lang="zh-CN" altLang="en-US">
              <a:latin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idx="4294967295"/>
          </p:nvPr>
        </p:nvSpPr>
        <p:spPr>
          <a:xfrm>
            <a:off x="0" y="274638"/>
            <a:ext cx="8229600" cy="1143000"/>
          </a:xfrm>
        </p:spPr>
        <p:txBody>
          <a:bodyPr anchor="ctr"/>
          <a:lstStyle/>
          <a:p>
            <a:r>
              <a:rPr lang="en-US" altLang="zh-CN"/>
              <a:t>2</a:t>
            </a:r>
            <a:r>
              <a:rPr lang="zh-CN" altLang="en-US"/>
              <a:t>、寄存器寻址</a:t>
            </a:r>
          </a:p>
        </p:txBody>
      </p:sp>
      <p:sp>
        <p:nvSpPr>
          <p:cNvPr id="271363" name="Rectangle 3"/>
          <p:cNvSpPr>
            <a:spLocks noGrp="1" noChangeArrowheads="1"/>
          </p:cNvSpPr>
          <p:nvPr>
            <p:ph type="body" idx="4294967295"/>
          </p:nvPr>
        </p:nvSpPr>
        <p:spPr>
          <a:xfrm>
            <a:off x="0" y="1420813"/>
            <a:ext cx="8153400" cy="5148262"/>
          </a:xfrm>
        </p:spPr>
        <p:txBody>
          <a:bodyPr/>
          <a:lstStyle/>
          <a:p>
            <a:pPr>
              <a:lnSpc>
                <a:spcPct val="110000"/>
              </a:lnSpc>
              <a:spcBef>
                <a:spcPct val="30000"/>
              </a:spcBef>
            </a:pPr>
            <a:r>
              <a:rPr lang="zh-CN" altLang="en-US" b="1" dirty="0">
                <a:solidFill>
                  <a:srgbClr val="006600"/>
                </a:solidFill>
                <a:latin typeface="微软雅黑" pitchFamily="34" charset="-122"/>
                <a:ea typeface="微软雅黑" pitchFamily="34" charset="-122"/>
              </a:rPr>
              <a:t>操作数存放在</a:t>
            </a:r>
            <a:r>
              <a:rPr lang="en-US" altLang="zh-CN" b="1" dirty="0">
                <a:solidFill>
                  <a:srgbClr val="006600"/>
                </a:solidFill>
                <a:latin typeface="微软雅黑" pitchFamily="34" charset="-122"/>
                <a:ea typeface="微软雅黑" pitchFamily="34" charset="-122"/>
                <a:cs typeface="Courier New" pitchFamily="49" charset="0"/>
              </a:rPr>
              <a:t>CPU</a:t>
            </a:r>
            <a:r>
              <a:rPr lang="zh-CN" altLang="en-US" b="1" dirty="0">
                <a:solidFill>
                  <a:srgbClr val="006600"/>
                </a:solidFill>
                <a:latin typeface="微软雅黑" pitchFamily="34" charset="-122"/>
                <a:ea typeface="微软雅黑" pitchFamily="34" charset="-122"/>
              </a:rPr>
              <a:t>的内部寄存器</a:t>
            </a:r>
            <a:r>
              <a:rPr lang="en-US" altLang="zh-CN" b="1" dirty="0" err="1">
                <a:solidFill>
                  <a:srgbClr val="006600"/>
                </a:solidFill>
                <a:latin typeface="微软雅黑" pitchFamily="34" charset="-122"/>
                <a:ea typeface="微软雅黑" pitchFamily="34" charset="-122"/>
              </a:rPr>
              <a:t>reg</a:t>
            </a:r>
            <a:r>
              <a:rPr lang="zh-CN" altLang="en-US" b="1" dirty="0">
                <a:solidFill>
                  <a:srgbClr val="006600"/>
                </a:solidFill>
                <a:latin typeface="微软雅黑" pitchFamily="34" charset="-122"/>
                <a:ea typeface="微软雅黑" pitchFamily="34" charset="-122"/>
              </a:rPr>
              <a:t>中</a:t>
            </a:r>
            <a:r>
              <a:rPr lang="en-US" altLang="zh-CN" b="1" dirty="0">
                <a:latin typeface="微软雅黑" pitchFamily="34" charset="-122"/>
                <a:ea typeface="微软雅黑" pitchFamily="34" charset="-122"/>
              </a:rPr>
              <a:t>:</a:t>
            </a:r>
          </a:p>
          <a:p>
            <a:pPr lvl="1">
              <a:lnSpc>
                <a:spcPct val="110000"/>
              </a:lnSpc>
              <a:spcBef>
                <a:spcPct val="30000"/>
              </a:spcBef>
            </a:pPr>
            <a:r>
              <a:rPr lang="en-US" altLang="zh-CN" sz="2200" dirty="0">
                <a:latin typeface="微软雅黑" pitchFamily="34" charset="-122"/>
                <a:ea typeface="微软雅黑" pitchFamily="34" charset="-122"/>
              </a:rPr>
              <a:t>8</a:t>
            </a:r>
            <a:r>
              <a:rPr lang="zh-CN" altLang="en-US" sz="2200" dirty="0">
                <a:latin typeface="微软雅黑" pitchFamily="34" charset="-122"/>
                <a:ea typeface="微软雅黑" pitchFamily="34" charset="-122"/>
              </a:rPr>
              <a:t>位寄存器</a:t>
            </a:r>
            <a:r>
              <a:rPr lang="en-US" altLang="zh-CN" sz="2200" dirty="0">
                <a:latin typeface="微软雅黑" pitchFamily="34" charset="-122"/>
                <a:ea typeface="微软雅黑" pitchFamily="34" charset="-122"/>
              </a:rPr>
              <a:t>r8</a:t>
            </a:r>
            <a:r>
              <a:rPr lang="zh-CN" altLang="en-US" sz="2200" dirty="0">
                <a:latin typeface="微软雅黑" pitchFamily="34" charset="-122"/>
                <a:ea typeface="微软雅黑" pitchFamily="34" charset="-122"/>
              </a:rPr>
              <a:t>：</a:t>
            </a:r>
            <a:r>
              <a:rPr lang="en-US" altLang="zh-CN" sz="2200" dirty="0">
                <a:latin typeface="微软雅黑" pitchFamily="34" charset="-122"/>
                <a:ea typeface="微软雅黑" pitchFamily="34" charset="-122"/>
              </a:rPr>
              <a:t>AH/AL/BH/BL/CH/CL/DH/DL</a:t>
            </a:r>
          </a:p>
          <a:p>
            <a:pPr lvl="1">
              <a:lnSpc>
                <a:spcPct val="110000"/>
              </a:lnSpc>
              <a:spcBef>
                <a:spcPct val="30000"/>
              </a:spcBef>
            </a:pPr>
            <a:r>
              <a:rPr lang="en-US" altLang="zh-CN" sz="2200" dirty="0">
                <a:latin typeface="微软雅黑" pitchFamily="34" charset="-122"/>
                <a:ea typeface="微软雅黑" pitchFamily="34" charset="-122"/>
              </a:rPr>
              <a:t>16</a:t>
            </a:r>
            <a:r>
              <a:rPr lang="zh-CN" altLang="en-US" sz="2200" dirty="0">
                <a:latin typeface="微软雅黑" pitchFamily="34" charset="-122"/>
                <a:ea typeface="微软雅黑" pitchFamily="34" charset="-122"/>
              </a:rPr>
              <a:t>位寄存器</a:t>
            </a:r>
            <a:r>
              <a:rPr lang="en-US" altLang="zh-CN" sz="2200" dirty="0">
                <a:latin typeface="微软雅黑" pitchFamily="34" charset="-122"/>
                <a:ea typeface="微软雅黑" pitchFamily="34" charset="-122"/>
              </a:rPr>
              <a:t>r16</a:t>
            </a:r>
            <a:r>
              <a:rPr lang="zh-CN" altLang="en-US" sz="2200" dirty="0">
                <a:latin typeface="微软雅黑" pitchFamily="34" charset="-122"/>
                <a:ea typeface="微软雅黑" pitchFamily="34" charset="-122"/>
              </a:rPr>
              <a:t>：</a:t>
            </a:r>
            <a:r>
              <a:rPr lang="en-US" altLang="zh-CN" sz="2200" dirty="0">
                <a:latin typeface="微软雅黑" pitchFamily="34" charset="-122"/>
                <a:ea typeface="微软雅黑" pitchFamily="34" charset="-122"/>
              </a:rPr>
              <a:t>AX/BX/CX/DX/SI/DI/BP/SP</a:t>
            </a:r>
          </a:p>
          <a:p>
            <a:pPr lvl="1">
              <a:lnSpc>
                <a:spcPct val="110000"/>
              </a:lnSpc>
              <a:spcBef>
                <a:spcPct val="30000"/>
              </a:spcBef>
            </a:pPr>
            <a:r>
              <a:rPr lang="en-US" altLang="zh-CN" sz="2200" dirty="0">
                <a:latin typeface="微软雅黑" pitchFamily="34" charset="-122"/>
                <a:ea typeface="微软雅黑" pitchFamily="34" charset="-122"/>
              </a:rPr>
              <a:t>32</a:t>
            </a:r>
            <a:r>
              <a:rPr lang="zh-CN" altLang="en-US" sz="2200" dirty="0">
                <a:latin typeface="微软雅黑" pitchFamily="34" charset="-122"/>
                <a:ea typeface="微软雅黑" pitchFamily="34" charset="-122"/>
              </a:rPr>
              <a:t>位寄存器</a:t>
            </a:r>
            <a:r>
              <a:rPr lang="en-US" altLang="zh-CN" sz="2200" dirty="0">
                <a:latin typeface="微软雅黑" pitchFamily="34" charset="-122"/>
                <a:ea typeface="微软雅黑" pitchFamily="34" charset="-122"/>
              </a:rPr>
              <a:t>r32:</a:t>
            </a:r>
            <a:br>
              <a:rPr lang="en-US" altLang="zh-CN" sz="2200" dirty="0">
                <a:latin typeface="微软雅黑" pitchFamily="34" charset="-122"/>
                <a:ea typeface="微软雅黑" pitchFamily="34" charset="-122"/>
              </a:rPr>
            </a:br>
            <a:r>
              <a:rPr lang="en-US" altLang="zh-CN" sz="2200" dirty="0">
                <a:latin typeface="微软雅黑" pitchFamily="34" charset="-122"/>
                <a:ea typeface="微软雅黑" pitchFamily="34" charset="-122"/>
              </a:rPr>
              <a:t>EAX/EBX/ECX/EDX/ESI/EDI/ESP/EBP</a:t>
            </a:r>
          </a:p>
          <a:p>
            <a:pPr lvl="1">
              <a:lnSpc>
                <a:spcPct val="110000"/>
              </a:lnSpc>
              <a:spcBef>
                <a:spcPct val="30000"/>
              </a:spcBef>
            </a:pPr>
            <a:r>
              <a:rPr lang="en-US" altLang="zh-CN" sz="2200" dirty="0">
                <a:latin typeface="微软雅黑" pitchFamily="34" charset="-122"/>
                <a:ea typeface="微软雅黑" pitchFamily="34" charset="-122"/>
              </a:rPr>
              <a:t>4</a:t>
            </a:r>
            <a:r>
              <a:rPr lang="zh-CN" altLang="en-US" sz="2200" dirty="0">
                <a:latin typeface="微软雅黑" pitchFamily="34" charset="-122"/>
                <a:ea typeface="微软雅黑" pitchFamily="34" charset="-122"/>
              </a:rPr>
              <a:t>个段寄存器</a:t>
            </a:r>
            <a:r>
              <a:rPr lang="en-US" altLang="zh-CN" sz="2200" dirty="0" err="1">
                <a:latin typeface="微软雅黑" pitchFamily="34" charset="-122"/>
                <a:ea typeface="微软雅黑" pitchFamily="34" charset="-122"/>
              </a:rPr>
              <a:t>seg</a:t>
            </a:r>
            <a:r>
              <a:rPr lang="zh-CN" altLang="en-US" sz="2200" dirty="0">
                <a:latin typeface="微软雅黑" pitchFamily="34" charset="-122"/>
                <a:ea typeface="微软雅黑" pitchFamily="34" charset="-122"/>
              </a:rPr>
              <a:t>中：</a:t>
            </a:r>
            <a:r>
              <a:rPr lang="en-US" altLang="zh-CN" sz="2200" dirty="0">
                <a:latin typeface="微软雅黑" pitchFamily="34" charset="-122"/>
                <a:ea typeface="微软雅黑" pitchFamily="34" charset="-122"/>
              </a:rPr>
              <a:t>CS/DS/SS/ES </a:t>
            </a:r>
          </a:p>
          <a:p>
            <a:r>
              <a:rPr lang="zh-CN" altLang="en-US" sz="2600" dirty="0">
                <a:latin typeface="微软雅黑" pitchFamily="34" charset="-122"/>
                <a:ea typeface="微软雅黑" pitchFamily="34" charset="-122"/>
              </a:rPr>
              <a:t>指令格式：</a:t>
            </a:r>
            <a:r>
              <a:rPr kumimoji="1" lang="en-US" altLang="zh-CN" sz="2100" dirty="0">
                <a:solidFill>
                  <a:srgbClr val="000000"/>
                </a:solidFill>
                <a:latin typeface="微软雅黑" pitchFamily="34" charset="-122"/>
                <a:ea typeface="微软雅黑" pitchFamily="34" charset="-122"/>
              </a:rPr>
              <a:t>MOV  AX, BX</a:t>
            </a:r>
          </a:p>
          <a:p>
            <a:pPr>
              <a:buFont typeface="Wingdings" pitchFamily="2" charset="2"/>
              <a:buNone/>
            </a:pPr>
            <a:r>
              <a:rPr kumimoji="1" lang="en-US" altLang="zh-CN" sz="2100" dirty="0">
                <a:solidFill>
                  <a:srgbClr val="000000"/>
                </a:solidFill>
                <a:latin typeface="微软雅黑" pitchFamily="34" charset="-122"/>
                <a:ea typeface="微软雅黑" pitchFamily="34" charset="-122"/>
              </a:rPr>
              <a:t>                         MOV  AL, BH</a:t>
            </a:r>
          </a:p>
          <a:p>
            <a:pPr>
              <a:buFont typeface="Wingdings" pitchFamily="2" charset="2"/>
              <a:buNone/>
            </a:pPr>
            <a:r>
              <a:rPr kumimoji="1" lang="en-US" altLang="zh-CN" sz="2100" dirty="0">
                <a:solidFill>
                  <a:srgbClr val="000000"/>
                </a:solidFill>
                <a:latin typeface="微软雅黑" pitchFamily="34" charset="-122"/>
                <a:ea typeface="微软雅黑" pitchFamily="34" charset="-122"/>
              </a:rPr>
              <a:t>                         MOV  AX, 3064H</a:t>
            </a:r>
          </a:p>
          <a:p>
            <a:pPr>
              <a:spcBef>
                <a:spcPct val="50000"/>
              </a:spcBef>
              <a:buClrTx/>
              <a:buSzTx/>
              <a:buFontTx/>
              <a:buNone/>
            </a:pPr>
            <a:r>
              <a:rPr kumimoji="1" lang="en-US" altLang="zh-CN" sz="2100" dirty="0">
                <a:solidFill>
                  <a:srgbClr val="000000"/>
                </a:solidFill>
                <a:latin typeface="微软雅黑" pitchFamily="34" charset="-122"/>
                <a:ea typeface="微软雅黑" pitchFamily="34" charset="-122"/>
              </a:rPr>
              <a:t>   </a:t>
            </a:r>
            <a:r>
              <a:rPr kumimoji="1" lang="en-US" altLang="zh-CN" sz="2100" b="1" dirty="0">
                <a:solidFill>
                  <a:srgbClr val="FF0000"/>
                </a:solidFill>
                <a:latin typeface="微软雅黑" pitchFamily="34" charset="-122"/>
                <a:ea typeface="微软雅黑" pitchFamily="34" charset="-122"/>
              </a:rPr>
              <a:t>SRC </a:t>
            </a:r>
            <a:r>
              <a:rPr kumimoji="1" lang="zh-CN" altLang="zh-CN" sz="2100" b="1" dirty="0">
                <a:solidFill>
                  <a:srgbClr val="FF0000"/>
                </a:solidFill>
                <a:latin typeface="微软雅黑" pitchFamily="34" charset="-122"/>
                <a:ea typeface="微软雅黑" pitchFamily="34" charset="-122"/>
              </a:rPr>
              <a:t>和 </a:t>
            </a:r>
            <a:r>
              <a:rPr kumimoji="1" lang="en-US" altLang="zh-CN" sz="2100" b="1" dirty="0">
                <a:solidFill>
                  <a:srgbClr val="FF0000"/>
                </a:solidFill>
                <a:latin typeface="微软雅黑" pitchFamily="34" charset="-122"/>
                <a:ea typeface="微软雅黑" pitchFamily="34" charset="-122"/>
              </a:rPr>
              <a:t>DST </a:t>
            </a:r>
            <a:r>
              <a:rPr kumimoji="1" lang="zh-CN" altLang="zh-CN" sz="2100" b="1" dirty="0">
                <a:solidFill>
                  <a:srgbClr val="FF0000"/>
                </a:solidFill>
                <a:latin typeface="微软雅黑" pitchFamily="34" charset="-122"/>
                <a:ea typeface="微软雅黑" pitchFamily="34" charset="-122"/>
              </a:rPr>
              <a:t>的字长一致</a:t>
            </a:r>
            <a:r>
              <a:rPr kumimoji="1" lang="zh-CN" altLang="zh-CN" sz="2100" dirty="0">
                <a:solidFill>
                  <a:srgbClr val="000000"/>
                </a:solidFill>
                <a:latin typeface="微软雅黑" pitchFamily="34" charset="-122"/>
                <a:ea typeface="微软雅黑" pitchFamily="34" charset="-122"/>
              </a:rPr>
              <a:t> </a:t>
            </a:r>
            <a:r>
              <a:rPr kumimoji="1" lang="zh-CN" altLang="en-US" sz="2100" dirty="0">
                <a:solidFill>
                  <a:srgbClr val="000000"/>
                </a:solidFill>
                <a:latin typeface="微软雅黑" pitchFamily="34" charset="-122"/>
                <a:ea typeface="微软雅黑" pitchFamily="34" charset="-122"/>
              </a:rPr>
              <a:t>           </a:t>
            </a:r>
            <a:r>
              <a:rPr kumimoji="1" lang="en-US" altLang="zh-CN" sz="2100" dirty="0">
                <a:solidFill>
                  <a:srgbClr val="000000"/>
                </a:solidFill>
                <a:latin typeface="微软雅黑" pitchFamily="34" charset="-122"/>
                <a:ea typeface="微软雅黑" pitchFamily="34" charset="-122"/>
              </a:rPr>
              <a:t>MOV  AH, BX    </a:t>
            </a:r>
            <a:r>
              <a:rPr kumimoji="1" lang="zh-CN" altLang="zh-CN" sz="2100" dirty="0">
                <a:solidFill>
                  <a:srgbClr val="000000"/>
                </a:solidFill>
                <a:latin typeface="微软雅黑" pitchFamily="34" charset="-122"/>
                <a:ea typeface="微软雅黑" pitchFamily="34" charset="-122"/>
                <a:sym typeface="Symbol" pitchFamily="18" charset="2"/>
              </a:rPr>
              <a:t></a:t>
            </a:r>
            <a:endParaRPr lang="en-US" altLang="zh-CN" sz="2100"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r>
              <a:rPr lang="en-US" altLang="zh-CN"/>
              <a:t>3</a:t>
            </a:r>
            <a:r>
              <a:rPr lang="zh-CN" altLang="en-US"/>
              <a:t>、直接寻址 </a:t>
            </a:r>
          </a:p>
        </p:txBody>
      </p:sp>
      <p:sp>
        <p:nvSpPr>
          <p:cNvPr id="134147" name="Rectangle 3"/>
          <p:cNvSpPr>
            <a:spLocks noGrp="1" noChangeArrowheads="1"/>
          </p:cNvSpPr>
          <p:nvPr>
            <p:ph idx="1"/>
          </p:nvPr>
        </p:nvSpPr>
        <p:spPr>
          <a:xfrm>
            <a:off x="395288" y="1484313"/>
            <a:ext cx="8229600" cy="4411662"/>
          </a:xfrm>
        </p:spPr>
        <p:txBody>
          <a:bodyPr/>
          <a:lstStyle/>
          <a:p>
            <a:r>
              <a:rPr kumimoji="1" lang="zh-CN" altLang="en-US" sz="3500" b="1" dirty="0">
                <a:solidFill>
                  <a:srgbClr val="009900"/>
                </a:solidFill>
                <a:latin typeface="微软雅黑" pitchFamily="34" charset="-122"/>
                <a:ea typeface="微软雅黑" pitchFamily="34" charset="-122"/>
              </a:rPr>
              <a:t>直接提供源操作数的偏移地址</a:t>
            </a:r>
          </a:p>
          <a:p>
            <a:r>
              <a:rPr lang="zh-CN" altLang="en-US" sz="2800" dirty="0"/>
              <a:t>例</a:t>
            </a:r>
            <a:r>
              <a:rPr lang="en-US" altLang="zh-CN" sz="2800" dirty="0"/>
              <a:t>2-3	MOV AX</a:t>
            </a:r>
            <a:r>
              <a:rPr lang="zh-CN" altLang="en-US" sz="2800" dirty="0"/>
              <a:t>，</a:t>
            </a:r>
            <a:r>
              <a:rPr lang="en-US" altLang="zh-CN" sz="2800" dirty="0"/>
              <a:t>DS:[00404000h]</a:t>
            </a:r>
          </a:p>
          <a:p>
            <a:pPr lvl="1">
              <a:buFont typeface="Wingdings" pitchFamily="2" charset="2"/>
              <a:buNone/>
            </a:pPr>
            <a:r>
              <a:rPr lang="zh-CN" altLang="en-US" sz="2800" dirty="0"/>
              <a:t>执行后：（</a:t>
            </a:r>
            <a:r>
              <a:rPr lang="en-US" altLang="zh-CN" sz="2800" dirty="0"/>
              <a:t>AX</a:t>
            </a:r>
            <a:r>
              <a:rPr lang="zh-CN" altLang="en-US" sz="2800" dirty="0"/>
              <a:t>）</a:t>
            </a:r>
            <a:r>
              <a:rPr lang="en-US" altLang="zh-CN" sz="2800" dirty="0"/>
              <a:t>=0FF20H</a:t>
            </a:r>
            <a:r>
              <a:rPr lang="zh-CN" altLang="en-US" sz="2800" dirty="0"/>
              <a:t>。</a:t>
            </a:r>
          </a:p>
        </p:txBody>
      </p:sp>
      <p:sp>
        <p:nvSpPr>
          <p:cNvPr id="134181" name="Rectangle 37"/>
          <p:cNvSpPr>
            <a:spLocks noChangeArrowheads="1"/>
          </p:cNvSpPr>
          <p:nvPr/>
        </p:nvSpPr>
        <p:spPr bwMode="auto">
          <a:xfrm>
            <a:off x="7667625" y="5661025"/>
            <a:ext cx="641350" cy="366713"/>
          </a:xfrm>
          <a:prstGeom prst="rect">
            <a:avLst/>
          </a:prstGeom>
          <a:noFill/>
          <a:ln w="9525">
            <a:noFill/>
            <a:miter lim="800000"/>
            <a:headEnd/>
            <a:tailEnd/>
          </a:ln>
          <a:effectLst/>
        </p:spPr>
        <p:txBody>
          <a:bodyPr wrap="none">
            <a:spAutoFit/>
          </a:bodyPr>
          <a:lstStyle/>
          <a:p>
            <a:r>
              <a:rPr lang="zh-CN" altLang="en-US">
                <a:latin typeface="Verdana" pitchFamily="34" charset="0"/>
                <a:hlinkClick r:id="rId2" action="ppaction://hlinksldjump"/>
              </a:rPr>
              <a:t>返回</a:t>
            </a:r>
            <a:endParaRPr lang="zh-CN" altLang="en-US">
              <a:latin typeface="Verdana" pitchFamily="34" charset="0"/>
            </a:endParaRPr>
          </a:p>
        </p:txBody>
      </p:sp>
      <p:grpSp>
        <p:nvGrpSpPr>
          <p:cNvPr id="2" name="Group 38"/>
          <p:cNvGrpSpPr>
            <a:grpSpLocks noChangeAspect="1"/>
          </p:cNvGrpSpPr>
          <p:nvPr/>
        </p:nvGrpSpPr>
        <p:grpSpPr bwMode="auto">
          <a:xfrm>
            <a:off x="1042988" y="3068638"/>
            <a:ext cx="5834062" cy="3551237"/>
            <a:chOff x="3840" y="9868"/>
            <a:chExt cx="5835" cy="4911"/>
          </a:xfrm>
        </p:grpSpPr>
        <p:sp>
          <p:nvSpPr>
            <p:cNvPr id="134183" name="AutoShape 39"/>
            <p:cNvSpPr>
              <a:spLocks noChangeAspect="1" noChangeArrowheads="1"/>
            </p:cNvSpPr>
            <p:nvPr/>
          </p:nvSpPr>
          <p:spPr bwMode="auto">
            <a:xfrm>
              <a:off x="3840" y="9868"/>
              <a:ext cx="5835" cy="4911"/>
            </a:xfrm>
            <a:prstGeom prst="rect">
              <a:avLst/>
            </a:prstGeom>
            <a:noFill/>
            <a:ln w="9525">
              <a:noFill/>
              <a:miter lim="800000"/>
              <a:headEnd/>
              <a:tailEnd/>
            </a:ln>
          </p:spPr>
          <p:txBody>
            <a:bodyPr/>
            <a:lstStyle/>
            <a:p>
              <a:endParaRPr lang="zh-CN" altLang="en-US"/>
            </a:p>
          </p:txBody>
        </p:sp>
        <p:sp>
          <p:nvSpPr>
            <p:cNvPr id="134184" name="Rectangle 40"/>
            <p:cNvSpPr>
              <a:spLocks noChangeArrowheads="1"/>
            </p:cNvSpPr>
            <p:nvPr/>
          </p:nvSpPr>
          <p:spPr bwMode="auto">
            <a:xfrm>
              <a:off x="4380" y="14467"/>
              <a:ext cx="4680" cy="312"/>
            </a:xfrm>
            <a:prstGeom prst="rect">
              <a:avLst/>
            </a:prstGeom>
            <a:noFill/>
            <a:ln w="9525">
              <a:noFill/>
              <a:miter lim="800000"/>
              <a:headEnd/>
              <a:tailEnd/>
            </a:ln>
          </p:spPr>
          <p:txBody>
            <a:bodyPr lIns="0" tIns="0" rIns="0" bIns="0"/>
            <a:lstStyle/>
            <a:p>
              <a:pPr algn="ctr"/>
              <a:r>
                <a:rPr lang="en-US" altLang="zh-CN" sz="1400">
                  <a:latin typeface="Times New Roman" pitchFamily="18" charset="0"/>
                </a:rPr>
                <a:t>   </a:t>
              </a:r>
              <a:r>
                <a:rPr lang="zh-CN" altLang="en-US" sz="1400">
                  <a:latin typeface="Times New Roman" pitchFamily="18" charset="0"/>
                </a:rPr>
                <a:t>图</a:t>
              </a:r>
              <a:r>
                <a:rPr lang="en-US" altLang="zh-CN" sz="1400">
                  <a:latin typeface="Times New Roman" pitchFamily="18" charset="0"/>
                </a:rPr>
                <a:t>2</a:t>
              </a:r>
              <a:r>
                <a:rPr lang="zh-CN" altLang="en-US" sz="1400">
                  <a:latin typeface="Times New Roman" pitchFamily="18" charset="0"/>
                </a:rPr>
                <a:t>－</a:t>
              </a:r>
              <a:r>
                <a:rPr lang="en-US" altLang="zh-CN" sz="1400">
                  <a:latin typeface="Times New Roman" pitchFamily="18" charset="0"/>
                </a:rPr>
                <a:t>4	MOV AX</a:t>
              </a:r>
              <a:r>
                <a:rPr lang="zh-CN" altLang="en-US" sz="1400">
                  <a:latin typeface="Times New Roman" pitchFamily="18" charset="0"/>
                </a:rPr>
                <a:t>，</a:t>
              </a:r>
              <a:r>
                <a:rPr lang="en-US" altLang="zh-CN" sz="1400">
                  <a:latin typeface="Times New Roman" pitchFamily="18" charset="0"/>
                </a:rPr>
                <a:t>DS</a:t>
              </a:r>
              <a:r>
                <a:rPr lang="zh-CN" altLang="en-US" sz="1400">
                  <a:latin typeface="Times New Roman" pitchFamily="18" charset="0"/>
                </a:rPr>
                <a:t>：</a:t>
              </a:r>
              <a:r>
                <a:rPr lang="en-US" altLang="zh-CN" sz="1400">
                  <a:latin typeface="Times New Roman" pitchFamily="18" charset="0"/>
                </a:rPr>
                <a:t>[00404000H]</a:t>
              </a:r>
              <a:r>
                <a:rPr lang="zh-CN" altLang="en-US" sz="1400">
                  <a:latin typeface="Times New Roman" pitchFamily="18" charset="0"/>
                </a:rPr>
                <a:t>的执行情况</a:t>
              </a:r>
              <a:endParaRPr lang="zh-CN" altLang="en-US" sz="1400">
                <a:latin typeface="Verdana" pitchFamily="34" charset="0"/>
              </a:endParaRPr>
            </a:p>
          </p:txBody>
        </p:sp>
        <p:sp>
          <p:nvSpPr>
            <p:cNvPr id="134185" name="Line 41"/>
            <p:cNvSpPr>
              <a:spLocks noChangeShapeType="1"/>
            </p:cNvSpPr>
            <p:nvPr/>
          </p:nvSpPr>
          <p:spPr bwMode="auto">
            <a:xfrm>
              <a:off x="6900" y="10060"/>
              <a:ext cx="1" cy="2223"/>
            </a:xfrm>
            <a:prstGeom prst="line">
              <a:avLst/>
            </a:prstGeom>
            <a:noFill/>
            <a:ln w="9525">
              <a:solidFill>
                <a:srgbClr val="000000"/>
              </a:solidFill>
              <a:round/>
              <a:headEnd/>
              <a:tailEnd/>
            </a:ln>
          </p:spPr>
          <p:txBody>
            <a:bodyPr/>
            <a:lstStyle/>
            <a:p>
              <a:endParaRPr lang="zh-CN" altLang="en-US"/>
            </a:p>
          </p:txBody>
        </p:sp>
        <p:sp>
          <p:nvSpPr>
            <p:cNvPr id="134186" name="Line 42"/>
            <p:cNvSpPr>
              <a:spLocks noChangeShapeType="1"/>
            </p:cNvSpPr>
            <p:nvPr/>
          </p:nvSpPr>
          <p:spPr bwMode="auto">
            <a:xfrm>
              <a:off x="7982" y="10060"/>
              <a:ext cx="1" cy="2223"/>
            </a:xfrm>
            <a:prstGeom prst="line">
              <a:avLst/>
            </a:prstGeom>
            <a:noFill/>
            <a:ln w="9525">
              <a:solidFill>
                <a:srgbClr val="000000"/>
              </a:solidFill>
              <a:round/>
              <a:headEnd/>
              <a:tailEnd/>
            </a:ln>
          </p:spPr>
          <p:txBody>
            <a:bodyPr/>
            <a:lstStyle/>
            <a:p>
              <a:endParaRPr lang="zh-CN" altLang="en-US"/>
            </a:p>
          </p:txBody>
        </p:sp>
        <p:sp>
          <p:nvSpPr>
            <p:cNvPr id="134187" name="Rectangle 43"/>
            <p:cNvSpPr>
              <a:spLocks noChangeArrowheads="1"/>
            </p:cNvSpPr>
            <p:nvPr/>
          </p:nvSpPr>
          <p:spPr bwMode="auto">
            <a:xfrm>
              <a:off x="6900" y="12439"/>
              <a:ext cx="1080" cy="312"/>
            </a:xfrm>
            <a:prstGeom prst="rect">
              <a:avLst/>
            </a:prstGeom>
            <a:noFill/>
            <a:ln w="9525">
              <a:solidFill>
                <a:srgbClr val="000000"/>
              </a:solidFill>
              <a:miter lim="800000"/>
              <a:headEnd/>
              <a:tailEnd/>
            </a:ln>
          </p:spPr>
          <p:txBody>
            <a:bodyPr lIns="0" tIns="0" rIns="0" bIns="0"/>
            <a:lstStyle/>
            <a:p>
              <a:pPr algn="ctr"/>
              <a:r>
                <a:rPr lang="en-US" altLang="zh-CN" sz="1000">
                  <a:latin typeface="Times New Roman" pitchFamily="18" charset="0"/>
                </a:rPr>
                <a:t>20</a:t>
              </a:r>
            </a:p>
            <a:p>
              <a:endParaRPr lang="en-US" altLang="zh-CN">
                <a:latin typeface="Verdana" pitchFamily="34" charset="0"/>
              </a:endParaRPr>
            </a:p>
          </p:txBody>
        </p:sp>
        <p:sp>
          <p:nvSpPr>
            <p:cNvPr id="134188" name="Rectangle 44"/>
            <p:cNvSpPr>
              <a:spLocks noChangeArrowheads="1"/>
            </p:cNvSpPr>
            <p:nvPr/>
          </p:nvSpPr>
          <p:spPr bwMode="auto">
            <a:xfrm>
              <a:off x="6900" y="12751"/>
              <a:ext cx="1080" cy="312"/>
            </a:xfrm>
            <a:prstGeom prst="rect">
              <a:avLst/>
            </a:prstGeom>
            <a:noFill/>
            <a:ln w="9525">
              <a:solidFill>
                <a:srgbClr val="000000"/>
              </a:solidFill>
              <a:miter lim="800000"/>
              <a:headEnd/>
              <a:tailEnd/>
            </a:ln>
          </p:spPr>
          <p:txBody>
            <a:bodyPr lIns="0" tIns="0" rIns="0" bIns="0"/>
            <a:lstStyle/>
            <a:p>
              <a:pPr algn="ctr"/>
              <a:r>
                <a:rPr lang="en-US" altLang="zh-CN" sz="1000">
                  <a:latin typeface="Times New Roman" pitchFamily="18" charset="0"/>
                </a:rPr>
                <a:t>FF</a:t>
              </a:r>
            </a:p>
            <a:p>
              <a:endParaRPr lang="en-US" altLang="zh-CN">
                <a:latin typeface="Verdana" pitchFamily="34" charset="0"/>
              </a:endParaRPr>
            </a:p>
          </p:txBody>
        </p:sp>
        <p:sp>
          <p:nvSpPr>
            <p:cNvPr id="134189" name="Rectangle 45"/>
            <p:cNvSpPr>
              <a:spLocks noChangeArrowheads="1"/>
            </p:cNvSpPr>
            <p:nvPr/>
          </p:nvSpPr>
          <p:spPr bwMode="auto">
            <a:xfrm>
              <a:off x="6900" y="13063"/>
              <a:ext cx="1080" cy="312"/>
            </a:xfrm>
            <a:prstGeom prst="rect">
              <a:avLst/>
            </a:prstGeom>
            <a:noFill/>
            <a:ln w="9525">
              <a:solidFill>
                <a:srgbClr val="000000"/>
              </a:solidFill>
              <a:miter lim="800000"/>
              <a:headEnd/>
              <a:tailEnd/>
            </a:ln>
          </p:spPr>
          <p:txBody>
            <a:bodyPr lIns="0" tIns="0" rIns="0" bIns="0"/>
            <a:lstStyle/>
            <a:p>
              <a:pPr algn="ctr"/>
              <a:r>
                <a:rPr lang="en-US" altLang="zh-CN" sz="1000">
                  <a:latin typeface="Times New Roman" pitchFamily="18" charset="0"/>
                </a:rPr>
                <a:t>00</a:t>
              </a:r>
              <a:endParaRPr lang="en-US" altLang="zh-CN">
                <a:latin typeface="Verdana" pitchFamily="34" charset="0"/>
              </a:endParaRPr>
            </a:p>
          </p:txBody>
        </p:sp>
        <p:sp>
          <p:nvSpPr>
            <p:cNvPr id="134190" name="Rectangle 46"/>
            <p:cNvSpPr>
              <a:spLocks noChangeArrowheads="1"/>
            </p:cNvSpPr>
            <p:nvPr/>
          </p:nvSpPr>
          <p:spPr bwMode="auto">
            <a:xfrm>
              <a:off x="6900" y="13375"/>
              <a:ext cx="1080" cy="312"/>
            </a:xfrm>
            <a:prstGeom prst="rect">
              <a:avLst/>
            </a:prstGeom>
            <a:noFill/>
            <a:ln w="9525">
              <a:solidFill>
                <a:srgbClr val="000000"/>
              </a:solidFill>
              <a:miter lim="800000"/>
              <a:headEnd/>
              <a:tailEnd/>
            </a:ln>
          </p:spPr>
          <p:txBody>
            <a:bodyPr lIns="0" tIns="0" rIns="0" bIns="0"/>
            <a:lstStyle/>
            <a:p>
              <a:pPr algn="ctr"/>
              <a:r>
                <a:rPr lang="en-US" altLang="zh-CN" sz="1000">
                  <a:latin typeface="Times New Roman" pitchFamily="18" charset="0"/>
                </a:rPr>
                <a:t>00</a:t>
              </a:r>
            </a:p>
            <a:p>
              <a:endParaRPr lang="en-US" altLang="zh-CN">
                <a:latin typeface="Verdana" pitchFamily="34" charset="0"/>
              </a:endParaRPr>
            </a:p>
          </p:txBody>
        </p:sp>
        <p:sp>
          <p:nvSpPr>
            <p:cNvPr id="134191" name="Line 47"/>
            <p:cNvSpPr>
              <a:spLocks noChangeShapeType="1"/>
            </p:cNvSpPr>
            <p:nvPr/>
          </p:nvSpPr>
          <p:spPr bwMode="auto">
            <a:xfrm>
              <a:off x="6900" y="12202"/>
              <a:ext cx="1" cy="2109"/>
            </a:xfrm>
            <a:prstGeom prst="line">
              <a:avLst/>
            </a:prstGeom>
            <a:noFill/>
            <a:ln w="9525">
              <a:solidFill>
                <a:srgbClr val="000000"/>
              </a:solidFill>
              <a:round/>
              <a:headEnd/>
              <a:tailEnd/>
            </a:ln>
          </p:spPr>
          <p:txBody>
            <a:bodyPr/>
            <a:lstStyle/>
            <a:p>
              <a:endParaRPr lang="zh-CN" altLang="en-US"/>
            </a:p>
          </p:txBody>
        </p:sp>
        <p:sp>
          <p:nvSpPr>
            <p:cNvPr id="134192" name="Line 48"/>
            <p:cNvSpPr>
              <a:spLocks noChangeShapeType="1"/>
            </p:cNvSpPr>
            <p:nvPr/>
          </p:nvSpPr>
          <p:spPr bwMode="auto">
            <a:xfrm>
              <a:off x="7980" y="12223"/>
              <a:ext cx="1" cy="2088"/>
            </a:xfrm>
            <a:prstGeom prst="line">
              <a:avLst/>
            </a:prstGeom>
            <a:noFill/>
            <a:ln w="9525">
              <a:solidFill>
                <a:srgbClr val="000000"/>
              </a:solidFill>
              <a:round/>
              <a:headEnd/>
              <a:tailEnd/>
            </a:ln>
          </p:spPr>
          <p:txBody>
            <a:bodyPr/>
            <a:lstStyle/>
            <a:p>
              <a:endParaRPr lang="zh-CN" altLang="en-US"/>
            </a:p>
          </p:txBody>
        </p:sp>
        <p:grpSp>
          <p:nvGrpSpPr>
            <p:cNvPr id="3" name="Group 49"/>
            <p:cNvGrpSpPr>
              <a:grpSpLocks/>
            </p:cNvGrpSpPr>
            <p:nvPr/>
          </p:nvGrpSpPr>
          <p:grpSpPr bwMode="auto">
            <a:xfrm>
              <a:off x="4200" y="12127"/>
              <a:ext cx="1080" cy="312"/>
              <a:chOff x="4200" y="12595"/>
              <a:chExt cx="1080" cy="312"/>
            </a:xfrm>
          </p:grpSpPr>
          <p:sp>
            <p:nvSpPr>
              <p:cNvPr id="134194" name="Rectangle 50"/>
              <p:cNvSpPr>
                <a:spLocks noChangeArrowheads="1"/>
              </p:cNvSpPr>
              <p:nvPr/>
            </p:nvSpPr>
            <p:spPr bwMode="auto">
              <a:xfrm>
                <a:off x="4200" y="12595"/>
                <a:ext cx="1080" cy="312"/>
              </a:xfrm>
              <a:prstGeom prst="rect">
                <a:avLst/>
              </a:prstGeom>
              <a:solidFill>
                <a:schemeClr val="accent1"/>
              </a:solidFill>
              <a:ln w="9525">
                <a:solidFill>
                  <a:srgbClr val="000000"/>
                </a:solidFill>
                <a:miter lim="800000"/>
                <a:headEnd/>
                <a:tailEnd/>
              </a:ln>
            </p:spPr>
            <p:txBody>
              <a:bodyPr lIns="0" tIns="0" rIns="0" bIns="0"/>
              <a:lstStyle/>
              <a:p>
                <a:pPr algn="ctr"/>
                <a:r>
                  <a:rPr lang="en-US" altLang="zh-CN" sz="1400">
                    <a:latin typeface="Times New Roman" pitchFamily="18" charset="0"/>
                  </a:rPr>
                  <a:t>FF   20</a:t>
                </a:r>
                <a:endParaRPr lang="en-US" altLang="zh-CN" sz="1400">
                  <a:latin typeface="Verdana" pitchFamily="34" charset="0"/>
                </a:endParaRPr>
              </a:p>
            </p:txBody>
          </p:sp>
          <p:sp>
            <p:nvSpPr>
              <p:cNvPr id="134195" name="Line 51"/>
              <p:cNvSpPr>
                <a:spLocks noChangeShapeType="1"/>
              </p:cNvSpPr>
              <p:nvPr/>
            </p:nvSpPr>
            <p:spPr bwMode="auto">
              <a:xfrm>
                <a:off x="4740" y="12595"/>
                <a:ext cx="1" cy="312"/>
              </a:xfrm>
              <a:prstGeom prst="line">
                <a:avLst/>
              </a:prstGeom>
              <a:noFill/>
              <a:ln w="19050">
                <a:solidFill>
                  <a:srgbClr val="000000"/>
                </a:solidFill>
                <a:prstDash val="sysDot"/>
                <a:round/>
                <a:headEnd/>
                <a:tailEnd/>
              </a:ln>
            </p:spPr>
            <p:txBody>
              <a:bodyPr/>
              <a:lstStyle/>
              <a:p>
                <a:endParaRPr lang="zh-CN" altLang="en-US"/>
              </a:p>
            </p:txBody>
          </p:sp>
        </p:grpSp>
        <p:sp>
          <p:nvSpPr>
            <p:cNvPr id="134196" name="Line 52"/>
            <p:cNvSpPr>
              <a:spLocks noChangeShapeType="1"/>
            </p:cNvSpPr>
            <p:nvPr/>
          </p:nvSpPr>
          <p:spPr bwMode="auto">
            <a:xfrm>
              <a:off x="4485" y="12439"/>
              <a:ext cx="2" cy="468"/>
            </a:xfrm>
            <a:prstGeom prst="line">
              <a:avLst/>
            </a:prstGeom>
            <a:noFill/>
            <a:ln w="9525">
              <a:solidFill>
                <a:srgbClr val="000000"/>
              </a:solidFill>
              <a:round/>
              <a:headEnd type="triangle" w="med" len="med"/>
              <a:tailEnd/>
            </a:ln>
          </p:spPr>
          <p:txBody>
            <a:bodyPr/>
            <a:lstStyle/>
            <a:p>
              <a:endParaRPr lang="zh-CN" altLang="en-US"/>
            </a:p>
          </p:txBody>
        </p:sp>
        <p:sp>
          <p:nvSpPr>
            <p:cNvPr id="134197" name="Line 53"/>
            <p:cNvSpPr>
              <a:spLocks noChangeShapeType="1"/>
            </p:cNvSpPr>
            <p:nvPr/>
          </p:nvSpPr>
          <p:spPr bwMode="auto">
            <a:xfrm>
              <a:off x="4500" y="12907"/>
              <a:ext cx="2520" cy="1"/>
            </a:xfrm>
            <a:prstGeom prst="line">
              <a:avLst/>
            </a:prstGeom>
            <a:noFill/>
            <a:ln w="9525">
              <a:solidFill>
                <a:srgbClr val="000000"/>
              </a:solidFill>
              <a:round/>
              <a:headEnd/>
              <a:tailEnd type="oval" w="med" len="med"/>
            </a:ln>
            <a:effectLst/>
          </p:spPr>
          <p:txBody>
            <a:bodyPr lIns="0" tIns="0" rIns="0" bIns="0"/>
            <a:lstStyle/>
            <a:p>
              <a:endParaRPr lang="zh-CN" altLang="en-US"/>
            </a:p>
          </p:txBody>
        </p:sp>
        <p:sp>
          <p:nvSpPr>
            <p:cNvPr id="134198" name="Line 54"/>
            <p:cNvSpPr>
              <a:spLocks noChangeShapeType="1"/>
            </p:cNvSpPr>
            <p:nvPr/>
          </p:nvSpPr>
          <p:spPr bwMode="auto">
            <a:xfrm flipH="1">
              <a:off x="5025" y="12595"/>
              <a:ext cx="1980" cy="1"/>
            </a:xfrm>
            <a:prstGeom prst="line">
              <a:avLst/>
            </a:prstGeom>
            <a:noFill/>
            <a:ln w="9525">
              <a:solidFill>
                <a:srgbClr val="000000"/>
              </a:solidFill>
              <a:round/>
              <a:headEnd type="oval" w="med" len="med"/>
              <a:tailEnd/>
            </a:ln>
          </p:spPr>
          <p:txBody>
            <a:bodyPr/>
            <a:lstStyle/>
            <a:p>
              <a:endParaRPr lang="zh-CN" altLang="en-US"/>
            </a:p>
          </p:txBody>
        </p:sp>
        <p:sp>
          <p:nvSpPr>
            <p:cNvPr id="134199" name="Line 55"/>
            <p:cNvSpPr>
              <a:spLocks noChangeShapeType="1"/>
            </p:cNvSpPr>
            <p:nvPr/>
          </p:nvSpPr>
          <p:spPr bwMode="auto">
            <a:xfrm flipV="1">
              <a:off x="5025" y="12439"/>
              <a:ext cx="1" cy="156"/>
            </a:xfrm>
            <a:prstGeom prst="line">
              <a:avLst/>
            </a:prstGeom>
            <a:noFill/>
            <a:ln w="9525">
              <a:solidFill>
                <a:srgbClr val="000000"/>
              </a:solidFill>
              <a:round/>
              <a:headEnd/>
              <a:tailEnd type="triangle" w="med" len="med"/>
            </a:ln>
          </p:spPr>
          <p:txBody>
            <a:bodyPr/>
            <a:lstStyle/>
            <a:p>
              <a:endParaRPr lang="zh-CN" altLang="en-US"/>
            </a:p>
          </p:txBody>
        </p:sp>
        <p:sp>
          <p:nvSpPr>
            <p:cNvPr id="134200" name="Rectangle 56"/>
            <p:cNvSpPr>
              <a:spLocks noChangeArrowheads="1"/>
            </p:cNvSpPr>
            <p:nvPr/>
          </p:nvSpPr>
          <p:spPr bwMode="auto">
            <a:xfrm>
              <a:off x="6900" y="13687"/>
              <a:ext cx="1080" cy="312"/>
            </a:xfrm>
            <a:prstGeom prst="rect">
              <a:avLst/>
            </a:prstGeom>
            <a:noFill/>
            <a:ln w="9525">
              <a:solidFill>
                <a:srgbClr val="000000"/>
              </a:solidFill>
              <a:miter lim="800000"/>
              <a:headEnd/>
              <a:tailEnd/>
            </a:ln>
          </p:spPr>
          <p:txBody>
            <a:bodyPr vert="eaVert" lIns="0" tIns="0" rIns="0" bIns="0"/>
            <a:lstStyle/>
            <a:p>
              <a:pPr algn="ctr"/>
              <a:endParaRPr lang="en-US" altLang="zh-CN" sz="1000">
                <a:latin typeface="Times New Roman" pitchFamily="18" charset="0"/>
              </a:endParaRPr>
            </a:p>
            <a:p>
              <a:pPr algn="ctr"/>
              <a:r>
                <a:rPr lang="en-US" altLang="zh-CN" sz="1000">
                  <a:latin typeface="Times New Roman" pitchFamily="18" charset="0"/>
                </a:rPr>
                <a:t>…</a:t>
              </a:r>
            </a:p>
            <a:p>
              <a:pPr algn="ctr"/>
              <a:endParaRPr lang="en-US" altLang="zh-CN" sz="1000">
                <a:latin typeface="Times New Roman" pitchFamily="18" charset="0"/>
              </a:endParaRPr>
            </a:p>
            <a:p>
              <a:pPr algn="ctr"/>
              <a:endParaRPr lang="en-US" altLang="zh-CN" sz="1000">
                <a:latin typeface="Times New Roman" pitchFamily="18" charset="0"/>
              </a:endParaRPr>
            </a:p>
            <a:p>
              <a:endParaRPr lang="en-US" altLang="zh-CN">
                <a:latin typeface="Verdana" pitchFamily="34" charset="0"/>
              </a:endParaRPr>
            </a:p>
          </p:txBody>
        </p:sp>
        <p:sp>
          <p:nvSpPr>
            <p:cNvPr id="134201" name="Rectangle 57"/>
            <p:cNvSpPr>
              <a:spLocks noChangeArrowheads="1"/>
            </p:cNvSpPr>
            <p:nvPr/>
          </p:nvSpPr>
          <p:spPr bwMode="auto">
            <a:xfrm>
              <a:off x="4200" y="11659"/>
              <a:ext cx="1080" cy="312"/>
            </a:xfrm>
            <a:prstGeom prst="rect">
              <a:avLst/>
            </a:prstGeom>
            <a:noFill/>
            <a:ln w="9525">
              <a:noFill/>
              <a:miter lim="800000"/>
              <a:headEnd/>
              <a:tailEnd/>
            </a:ln>
          </p:spPr>
          <p:txBody>
            <a:bodyPr lIns="0" tIns="0" rIns="0" bIns="0"/>
            <a:lstStyle/>
            <a:p>
              <a:pPr algn="ctr"/>
              <a:r>
                <a:rPr lang="en-US" altLang="zh-CN" sz="1400">
                  <a:latin typeface="Times New Roman" pitchFamily="18" charset="0"/>
                </a:rPr>
                <a:t>AX</a:t>
              </a:r>
              <a:endParaRPr lang="en-US" altLang="zh-CN" sz="1400">
                <a:latin typeface="Verdana" pitchFamily="34" charset="0"/>
              </a:endParaRPr>
            </a:p>
          </p:txBody>
        </p:sp>
        <p:sp>
          <p:nvSpPr>
            <p:cNvPr id="134202" name="Rectangle 58"/>
            <p:cNvSpPr>
              <a:spLocks noChangeArrowheads="1"/>
            </p:cNvSpPr>
            <p:nvPr/>
          </p:nvSpPr>
          <p:spPr bwMode="auto">
            <a:xfrm>
              <a:off x="6000" y="13219"/>
              <a:ext cx="900" cy="312"/>
            </a:xfrm>
            <a:prstGeom prst="rect">
              <a:avLst/>
            </a:prstGeom>
            <a:noFill/>
            <a:ln w="9525">
              <a:noFill/>
              <a:miter lim="800000"/>
              <a:headEnd/>
              <a:tailEnd/>
            </a:ln>
          </p:spPr>
          <p:txBody>
            <a:bodyPr lIns="0" tIns="0" rIns="0" bIns="0"/>
            <a:lstStyle/>
            <a:p>
              <a:pPr algn="r"/>
              <a:r>
                <a:rPr lang="en-US" altLang="zh-CN" sz="1400">
                  <a:latin typeface="Times New Roman" pitchFamily="18" charset="0"/>
                </a:rPr>
                <a:t>404003h</a:t>
              </a:r>
              <a:r>
                <a:rPr lang="zh-CN" altLang="en-US" sz="1400">
                  <a:latin typeface="Times New Roman" pitchFamily="18" charset="0"/>
                </a:rPr>
                <a:t>：</a:t>
              </a:r>
              <a:endParaRPr lang="zh-CN" altLang="en-US" sz="1400">
                <a:latin typeface="Verdana" pitchFamily="34" charset="0"/>
              </a:endParaRPr>
            </a:p>
          </p:txBody>
        </p:sp>
        <p:sp>
          <p:nvSpPr>
            <p:cNvPr id="134203" name="Rectangle 59"/>
            <p:cNvSpPr>
              <a:spLocks noChangeArrowheads="1"/>
            </p:cNvSpPr>
            <p:nvPr/>
          </p:nvSpPr>
          <p:spPr bwMode="auto">
            <a:xfrm>
              <a:off x="6000" y="12283"/>
              <a:ext cx="900" cy="312"/>
            </a:xfrm>
            <a:prstGeom prst="rect">
              <a:avLst/>
            </a:prstGeom>
            <a:noFill/>
            <a:ln w="9525">
              <a:noFill/>
              <a:miter lim="800000"/>
              <a:headEnd/>
              <a:tailEnd/>
            </a:ln>
          </p:spPr>
          <p:txBody>
            <a:bodyPr lIns="0" tIns="0" rIns="0" bIns="0"/>
            <a:lstStyle/>
            <a:p>
              <a:pPr algn="r"/>
              <a:r>
                <a:rPr lang="en-US" altLang="zh-CN" sz="1400">
                  <a:latin typeface="Times New Roman" pitchFamily="18" charset="0"/>
                </a:rPr>
                <a:t>404000h</a:t>
              </a:r>
              <a:r>
                <a:rPr lang="zh-CN" altLang="en-US" sz="1400">
                  <a:latin typeface="Times New Roman" pitchFamily="18" charset="0"/>
                </a:rPr>
                <a:t>：</a:t>
              </a:r>
              <a:endParaRPr lang="zh-CN" altLang="en-US" sz="1400">
                <a:latin typeface="Verdana" pitchFamily="34" charset="0"/>
              </a:endParaRPr>
            </a:p>
          </p:txBody>
        </p:sp>
        <p:grpSp>
          <p:nvGrpSpPr>
            <p:cNvPr id="4" name="Group 60"/>
            <p:cNvGrpSpPr>
              <a:grpSpLocks/>
            </p:cNvGrpSpPr>
            <p:nvPr/>
          </p:nvGrpSpPr>
          <p:grpSpPr bwMode="auto">
            <a:xfrm>
              <a:off x="6795" y="12064"/>
              <a:ext cx="2880" cy="936"/>
              <a:chOff x="6810" y="11548"/>
              <a:chExt cx="2880" cy="936"/>
            </a:xfrm>
          </p:grpSpPr>
          <p:sp>
            <p:nvSpPr>
              <p:cNvPr id="134205" name="Text Box 61"/>
              <p:cNvSpPr txBox="1">
                <a:spLocks noChangeArrowheads="1"/>
              </p:cNvSpPr>
              <p:nvPr/>
            </p:nvSpPr>
            <p:spPr bwMode="auto">
              <a:xfrm>
                <a:off x="6810" y="11548"/>
                <a:ext cx="2880" cy="936"/>
              </a:xfrm>
              <a:prstGeom prst="rect">
                <a:avLst/>
              </a:prstGeom>
              <a:noFill/>
              <a:ln w="9525">
                <a:noFill/>
                <a:miter lim="800000"/>
                <a:headEnd/>
                <a:tailEnd/>
              </a:ln>
            </p:spPr>
            <p:txBody>
              <a:bodyPr lIns="0" tIns="0" rIns="0" bIns="0"/>
              <a:lstStyle/>
              <a:p>
                <a:pPr algn="just"/>
                <a:r>
                  <a:rPr lang="en-US" altLang="zh-CN" sz="1000">
                    <a:latin typeface="Times New Roman" pitchFamily="18" charset="0"/>
                  </a:rPr>
                  <a:t> </a:t>
                </a:r>
                <a:r>
                  <a:rPr lang="zh-CN" altLang="en-US" sz="1000">
                    <a:latin typeface="Times New Roman" pitchFamily="18" charset="0"/>
                  </a:rPr>
                  <a:t>～                              ～</a:t>
                </a:r>
                <a:endParaRPr lang="zh-CN" altLang="en-US">
                  <a:latin typeface="Verdana" pitchFamily="34" charset="0"/>
                </a:endParaRPr>
              </a:p>
            </p:txBody>
          </p:sp>
          <p:sp>
            <p:nvSpPr>
              <p:cNvPr id="134206" name="Text Box 62"/>
              <p:cNvSpPr txBox="1">
                <a:spLocks noChangeArrowheads="1"/>
              </p:cNvSpPr>
              <p:nvPr/>
            </p:nvSpPr>
            <p:spPr bwMode="auto">
              <a:xfrm>
                <a:off x="6810" y="11602"/>
                <a:ext cx="1800" cy="258"/>
              </a:xfrm>
              <a:prstGeom prst="rect">
                <a:avLst/>
              </a:prstGeom>
              <a:noFill/>
              <a:ln w="9525">
                <a:noFill/>
                <a:miter lim="800000"/>
                <a:headEnd/>
                <a:tailEnd/>
              </a:ln>
            </p:spPr>
            <p:txBody>
              <a:bodyPr lIns="0" tIns="0" rIns="0" bIns="0"/>
              <a:lstStyle/>
              <a:p>
                <a:pPr algn="just"/>
                <a:r>
                  <a:rPr lang="en-US" altLang="zh-CN" sz="1000">
                    <a:latin typeface="Times New Roman" pitchFamily="18" charset="0"/>
                  </a:rPr>
                  <a:t> </a:t>
                </a:r>
                <a:r>
                  <a:rPr lang="zh-CN" altLang="en-US" sz="1000">
                    <a:latin typeface="Times New Roman" pitchFamily="18" charset="0"/>
                  </a:rPr>
                  <a:t>～		     ～					</a:t>
                </a:r>
                <a:endParaRPr lang="zh-CN" altLang="en-US">
                  <a:latin typeface="Verdana" pitchFamily="34" charset="0"/>
                </a:endParaRPr>
              </a:p>
            </p:txBody>
          </p:sp>
        </p:grpSp>
        <p:sp>
          <p:nvSpPr>
            <p:cNvPr id="134207" name="AutoShape 63"/>
            <p:cNvSpPr>
              <a:spLocks/>
            </p:cNvSpPr>
            <p:nvPr/>
          </p:nvSpPr>
          <p:spPr bwMode="auto">
            <a:xfrm>
              <a:off x="7980" y="12439"/>
              <a:ext cx="360" cy="1560"/>
            </a:xfrm>
            <a:prstGeom prst="rightBrace">
              <a:avLst>
                <a:gd name="adj1" fmla="val 36111"/>
                <a:gd name="adj2" fmla="val 50000"/>
              </a:avLst>
            </a:prstGeom>
            <a:noFill/>
            <a:ln w="9525">
              <a:solidFill>
                <a:srgbClr val="000000"/>
              </a:solidFill>
              <a:round/>
              <a:headEnd/>
              <a:tailEnd/>
            </a:ln>
          </p:spPr>
          <p:txBody>
            <a:bodyPr/>
            <a:lstStyle/>
            <a:p>
              <a:endParaRPr lang="zh-CN" altLang="en-US"/>
            </a:p>
          </p:txBody>
        </p:sp>
        <p:sp>
          <p:nvSpPr>
            <p:cNvPr id="134208" name="Rectangle 64"/>
            <p:cNvSpPr>
              <a:spLocks noChangeArrowheads="1"/>
            </p:cNvSpPr>
            <p:nvPr/>
          </p:nvSpPr>
          <p:spPr bwMode="auto">
            <a:xfrm>
              <a:off x="8340" y="13063"/>
              <a:ext cx="900" cy="312"/>
            </a:xfrm>
            <a:prstGeom prst="rect">
              <a:avLst/>
            </a:prstGeom>
            <a:noFill/>
            <a:ln w="9525">
              <a:noFill/>
              <a:miter lim="800000"/>
              <a:headEnd/>
              <a:tailEnd/>
            </a:ln>
          </p:spPr>
          <p:txBody>
            <a:bodyPr lIns="0" tIns="0" rIns="0" bIns="0"/>
            <a:lstStyle/>
            <a:p>
              <a:pPr algn="ctr"/>
              <a:r>
                <a:rPr lang="zh-CN" altLang="en-US" sz="1400">
                  <a:latin typeface="Times New Roman" pitchFamily="18" charset="0"/>
                </a:rPr>
                <a:t>数据段</a:t>
              </a:r>
              <a:endParaRPr lang="zh-CN" altLang="en-US" sz="1400">
                <a:latin typeface="Verdana" pitchFamily="34" charset="0"/>
              </a:endParaRPr>
            </a:p>
          </p:txBody>
        </p:sp>
        <p:sp>
          <p:nvSpPr>
            <p:cNvPr id="134209" name="Rectangle 65"/>
            <p:cNvSpPr>
              <a:spLocks noChangeArrowheads="1"/>
            </p:cNvSpPr>
            <p:nvPr/>
          </p:nvSpPr>
          <p:spPr bwMode="auto">
            <a:xfrm>
              <a:off x="6901" y="9868"/>
              <a:ext cx="1080" cy="312"/>
            </a:xfrm>
            <a:prstGeom prst="rect">
              <a:avLst/>
            </a:prstGeom>
            <a:noFill/>
            <a:ln w="9525">
              <a:noFill/>
              <a:miter lim="800000"/>
              <a:headEnd/>
              <a:tailEnd/>
            </a:ln>
          </p:spPr>
          <p:txBody>
            <a:bodyPr lIns="0" tIns="0" rIns="0" bIns="0"/>
            <a:lstStyle/>
            <a:p>
              <a:pPr algn="ctr"/>
              <a:r>
                <a:rPr lang="zh-CN" altLang="en-US" sz="1400">
                  <a:latin typeface="Times New Roman" pitchFamily="18" charset="0"/>
                </a:rPr>
                <a:t>存储器</a:t>
              </a:r>
              <a:endParaRPr lang="zh-CN" altLang="en-US" sz="1400">
                <a:latin typeface="Verdana" pitchFamily="34" charset="0"/>
              </a:endParaRPr>
            </a:p>
          </p:txBody>
        </p:sp>
        <p:sp>
          <p:nvSpPr>
            <p:cNvPr id="134210" name="Rectangle 66"/>
            <p:cNvSpPr>
              <a:spLocks noChangeArrowheads="1"/>
            </p:cNvSpPr>
            <p:nvPr/>
          </p:nvSpPr>
          <p:spPr bwMode="auto">
            <a:xfrm>
              <a:off x="6898" y="10225"/>
              <a:ext cx="1080" cy="313"/>
            </a:xfrm>
            <a:prstGeom prst="rect">
              <a:avLst/>
            </a:prstGeom>
            <a:noFill/>
            <a:ln w="9525">
              <a:solidFill>
                <a:srgbClr val="000000"/>
              </a:solidFill>
              <a:miter lim="800000"/>
              <a:headEnd/>
              <a:tailEnd/>
            </a:ln>
          </p:spPr>
          <p:txBody>
            <a:bodyPr lIns="0" tIns="0" rIns="0" bIns="0"/>
            <a:lstStyle/>
            <a:p>
              <a:pPr algn="ctr"/>
              <a:r>
                <a:rPr lang="en-US" altLang="zh-CN" sz="1400">
                  <a:latin typeface="Times New Roman" pitchFamily="18" charset="0"/>
                </a:rPr>
                <a:t>66</a:t>
              </a:r>
              <a:endParaRPr lang="en-US" altLang="zh-CN" sz="1400">
                <a:latin typeface="Verdana" pitchFamily="34" charset="0"/>
              </a:endParaRPr>
            </a:p>
          </p:txBody>
        </p:sp>
        <p:sp>
          <p:nvSpPr>
            <p:cNvPr id="134211" name="Rectangle 67"/>
            <p:cNvSpPr>
              <a:spLocks noChangeArrowheads="1"/>
            </p:cNvSpPr>
            <p:nvPr/>
          </p:nvSpPr>
          <p:spPr bwMode="auto">
            <a:xfrm>
              <a:off x="6900" y="10536"/>
              <a:ext cx="1080" cy="312"/>
            </a:xfrm>
            <a:prstGeom prst="rect">
              <a:avLst/>
            </a:prstGeom>
            <a:noFill/>
            <a:ln w="9525">
              <a:solidFill>
                <a:srgbClr val="000000"/>
              </a:solidFill>
              <a:miter lim="800000"/>
              <a:headEnd/>
              <a:tailEnd/>
            </a:ln>
          </p:spPr>
          <p:txBody>
            <a:bodyPr lIns="0" tIns="0" rIns="0" bIns="0"/>
            <a:lstStyle/>
            <a:p>
              <a:pPr algn="ctr"/>
              <a:r>
                <a:rPr lang="en-US" altLang="zh-CN" sz="1400">
                  <a:latin typeface="Times New Roman" pitchFamily="18" charset="0"/>
                </a:rPr>
                <a:t>A1</a:t>
              </a:r>
              <a:endParaRPr lang="en-US" altLang="zh-CN" sz="1400">
                <a:latin typeface="Verdana" pitchFamily="34" charset="0"/>
              </a:endParaRPr>
            </a:p>
          </p:txBody>
        </p:sp>
        <p:sp>
          <p:nvSpPr>
            <p:cNvPr id="134212" name="AutoShape 68"/>
            <p:cNvSpPr>
              <a:spLocks/>
            </p:cNvSpPr>
            <p:nvPr/>
          </p:nvSpPr>
          <p:spPr bwMode="auto">
            <a:xfrm>
              <a:off x="7980" y="10228"/>
              <a:ext cx="360" cy="1872"/>
            </a:xfrm>
            <a:prstGeom prst="rightBrace">
              <a:avLst>
                <a:gd name="adj1" fmla="val 43333"/>
                <a:gd name="adj2" fmla="val 50000"/>
              </a:avLst>
            </a:prstGeom>
            <a:noFill/>
            <a:ln w="9525">
              <a:solidFill>
                <a:srgbClr val="000000"/>
              </a:solidFill>
              <a:round/>
              <a:headEnd/>
              <a:tailEnd/>
            </a:ln>
          </p:spPr>
          <p:txBody>
            <a:bodyPr/>
            <a:lstStyle/>
            <a:p>
              <a:endParaRPr lang="zh-CN" altLang="en-US"/>
            </a:p>
          </p:txBody>
        </p:sp>
        <p:sp>
          <p:nvSpPr>
            <p:cNvPr id="134213" name="Rectangle 69"/>
            <p:cNvSpPr>
              <a:spLocks noChangeArrowheads="1"/>
            </p:cNvSpPr>
            <p:nvPr/>
          </p:nvSpPr>
          <p:spPr bwMode="auto">
            <a:xfrm>
              <a:off x="8334" y="11008"/>
              <a:ext cx="900" cy="312"/>
            </a:xfrm>
            <a:prstGeom prst="rect">
              <a:avLst/>
            </a:prstGeom>
            <a:noFill/>
            <a:ln w="9525">
              <a:noFill/>
              <a:miter lim="800000"/>
              <a:headEnd/>
              <a:tailEnd/>
            </a:ln>
          </p:spPr>
          <p:txBody>
            <a:bodyPr lIns="0" tIns="0" rIns="0" bIns="0"/>
            <a:lstStyle/>
            <a:p>
              <a:pPr algn="ctr"/>
              <a:r>
                <a:rPr lang="zh-CN" altLang="en-US" sz="1400">
                  <a:latin typeface="Times New Roman" pitchFamily="18" charset="0"/>
                </a:rPr>
                <a:t>代码段</a:t>
              </a:r>
              <a:endParaRPr lang="zh-CN" altLang="en-US" sz="1400">
                <a:latin typeface="Verdana" pitchFamily="34" charset="0"/>
              </a:endParaRPr>
            </a:p>
          </p:txBody>
        </p:sp>
        <p:sp>
          <p:nvSpPr>
            <p:cNvPr id="134214" name="Rectangle 70"/>
            <p:cNvSpPr>
              <a:spLocks noChangeArrowheads="1"/>
            </p:cNvSpPr>
            <p:nvPr/>
          </p:nvSpPr>
          <p:spPr bwMode="auto">
            <a:xfrm>
              <a:off x="6900" y="11164"/>
              <a:ext cx="1080" cy="313"/>
            </a:xfrm>
            <a:prstGeom prst="rect">
              <a:avLst/>
            </a:prstGeom>
            <a:noFill/>
            <a:ln w="9525">
              <a:solidFill>
                <a:srgbClr val="000000"/>
              </a:solidFill>
              <a:miter lim="800000"/>
              <a:headEnd/>
              <a:tailEnd/>
            </a:ln>
          </p:spPr>
          <p:txBody>
            <a:bodyPr lIns="0" tIns="0" rIns="0" bIns="0"/>
            <a:lstStyle/>
            <a:p>
              <a:pPr algn="ctr"/>
              <a:r>
                <a:rPr lang="en-US" altLang="zh-CN" sz="1400">
                  <a:latin typeface="Times New Roman" pitchFamily="18" charset="0"/>
                </a:rPr>
                <a:t>40</a:t>
              </a:r>
              <a:endParaRPr lang="en-US" altLang="zh-CN" sz="1400">
                <a:latin typeface="Verdana" pitchFamily="34" charset="0"/>
              </a:endParaRPr>
            </a:p>
          </p:txBody>
        </p:sp>
        <p:sp>
          <p:nvSpPr>
            <p:cNvPr id="134215" name="Rectangle 71"/>
            <p:cNvSpPr>
              <a:spLocks noChangeArrowheads="1"/>
            </p:cNvSpPr>
            <p:nvPr/>
          </p:nvSpPr>
          <p:spPr bwMode="auto">
            <a:xfrm>
              <a:off x="6901" y="11477"/>
              <a:ext cx="1080" cy="313"/>
            </a:xfrm>
            <a:prstGeom prst="rect">
              <a:avLst/>
            </a:prstGeom>
            <a:noFill/>
            <a:ln w="9525">
              <a:solidFill>
                <a:srgbClr val="000000"/>
              </a:solidFill>
              <a:miter lim="800000"/>
              <a:headEnd/>
              <a:tailEnd/>
            </a:ln>
          </p:spPr>
          <p:txBody>
            <a:bodyPr lIns="0" tIns="0" rIns="0" bIns="0"/>
            <a:lstStyle/>
            <a:p>
              <a:pPr algn="ctr"/>
              <a:r>
                <a:rPr lang="en-US" altLang="zh-CN" sz="1400">
                  <a:latin typeface="Times New Roman" pitchFamily="18" charset="0"/>
                </a:rPr>
                <a:t>40</a:t>
              </a:r>
              <a:endParaRPr lang="en-US" altLang="zh-CN" sz="1400">
                <a:latin typeface="Verdana" pitchFamily="34" charset="0"/>
              </a:endParaRPr>
            </a:p>
          </p:txBody>
        </p:sp>
        <p:sp>
          <p:nvSpPr>
            <p:cNvPr id="134216" name="Rectangle 72"/>
            <p:cNvSpPr>
              <a:spLocks noChangeArrowheads="1"/>
            </p:cNvSpPr>
            <p:nvPr/>
          </p:nvSpPr>
          <p:spPr bwMode="auto">
            <a:xfrm>
              <a:off x="6900" y="11787"/>
              <a:ext cx="1080" cy="313"/>
            </a:xfrm>
            <a:prstGeom prst="rect">
              <a:avLst/>
            </a:prstGeom>
            <a:noFill/>
            <a:ln w="9525">
              <a:solidFill>
                <a:srgbClr val="000000"/>
              </a:solidFill>
              <a:miter lim="800000"/>
              <a:headEnd/>
              <a:tailEnd/>
            </a:ln>
          </p:spPr>
          <p:txBody>
            <a:bodyPr lIns="0" tIns="0" rIns="0" bIns="0"/>
            <a:lstStyle/>
            <a:p>
              <a:pPr algn="ctr"/>
              <a:r>
                <a:rPr lang="en-US" altLang="zh-CN" sz="1400">
                  <a:latin typeface="Times New Roman" pitchFamily="18" charset="0"/>
                </a:rPr>
                <a:t>00</a:t>
              </a:r>
              <a:endParaRPr lang="en-US" altLang="zh-CN" sz="1400">
                <a:latin typeface="Verdana" pitchFamily="34" charset="0"/>
              </a:endParaRPr>
            </a:p>
          </p:txBody>
        </p:sp>
        <p:sp>
          <p:nvSpPr>
            <p:cNvPr id="134217" name="Rectangle 73"/>
            <p:cNvSpPr>
              <a:spLocks noChangeArrowheads="1"/>
            </p:cNvSpPr>
            <p:nvPr/>
          </p:nvSpPr>
          <p:spPr bwMode="auto">
            <a:xfrm>
              <a:off x="6900" y="10848"/>
              <a:ext cx="1080" cy="313"/>
            </a:xfrm>
            <a:prstGeom prst="rect">
              <a:avLst/>
            </a:prstGeom>
            <a:noFill/>
            <a:ln w="9525">
              <a:solidFill>
                <a:srgbClr val="000000"/>
              </a:solidFill>
              <a:miter lim="800000"/>
              <a:headEnd/>
              <a:tailEnd/>
            </a:ln>
          </p:spPr>
          <p:txBody>
            <a:bodyPr lIns="0" tIns="0" rIns="0" bIns="0"/>
            <a:lstStyle/>
            <a:p>
              <a:pPr algn="ctr"/>
              <a:r>
                <a:rPr lang="en-US" altLang="zh-CN" sz="1400">
                  <a:latin typeface="Times New Roman" pitchFamily="18" charset="0"/>
                </a:rPr>
                <a:t>00</a:t>
              </a:r>
              <a:endParaRPr lang="en-US" altLang="zh-CN" sz="1400">
                <a:latin typeface="Verdana" pitchFamily="34" charset="0"/>
              </a:endParaRP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ChangeArrowheads="1"/>
          </p:cNvSpPr>
          <p:nvPr>
            <p:ph type="title"/>
          </p:nvPr>
        </p:nvSpPr>
        <p:spPr>
          <a:xfrm>
            <a:off x="457200" y="398463"/>
            <a:ext cx="7543800" cy="711200"/>
          </a:xfrm>
        </p:spPr>
        <p:txBody>
          <a:bodyPr/>
          <a:lstStyle/>
          <a:p>
            <a:r>
              <a:rPr kumimoji="1" lang="zh-CN" altLang="en-US" sz="3500">
                <a:solidFill>
                  <a:srgbClr val="FF0000"/>
                </a:solidFill>
                <a:latin typeface="微软雅黑" pitchFamily="34" charset="-122"/>
                <a:ea typeface="微软雅黑" pitchFamily="34" charset="-122"/>
              </a:rPr>
              <a:t>直接寻址方式</a:t>
            </a:r>
          </a:p>
        </p:txBody>
      </p:sp>
      <p:sp>
        <p:nvSpPr>
          <p:cNvPr id="273411" name="Rectangle 3"/>
          <p:cNvSpPr>
            <a:spLocks noGrp="1" noChangeArrowheads="1"/>
          </p:cNvSpPr>
          <p:nvPr>
            <p:ph idx="1"/>
          </p:nvPr>
        </p:nvSpPr>
        <p:spPr>
          <a:xfrm>
            <a:off x="457200" y="1611313"/>
            <a:ext cx="8229600" cy="4845050"/>
          </a:xfrm>
        </p:spPr>
        <p:txBody>
          <a:bodyPr/>
          <a:lstStyle/>
          <a:p>
            <a:pPr>
              <a:lnSpc>
                <a:spcPct val="115000"/>
              </a:lnSpc>
              <a:buFont typeface="Wingdings" pitchFamily="2" charset="2"/>
              <a:buNone/>
            </a:pPr>
            <a:r>
              <a:rPr kumimoji="1" lang="zh-CN" altLang="en-US" sz="2000" b="1" dirty="0">
                <a:solidFill>
                  <a:srgbClr val="000000"/>
                </a:solidFill>
                <a:latin typeface="微软雅黑" pitchFamily="34" charset="-122"/>
                <a:ea typeface="微软雅黑" pitchFamily="34" charset="-122"/>
              </a:rPr>
              <a:t>例：</a:t>
            </a:r>
            <a:r>
              <a:rPr kumimoji="1" lang="en-US" altLang="zh-CN" sz="2000" b="1" dirty="0">
                <a:solidFill>
                  <a:srgbClr val="000000"/>
                </a:solidFill>
                <a:latin typeface="微软雅黑" pitchFamily="34" charset="-122"/>
                <a:ea typeface="微软雅黑" pitchFamily="34" charset="-122"/>
              </a:rPr>
              <a:t>MOV    AX, [ 2000H ]</a:t>
            </a:r>
          </a:p>
          <a:p>
            <a:pPr>
              <a:lnSpc>
                <a:spcPct val="115000"/>
              </a:lnSpc>
              <a:buFont typeface="Wingdings" pitchFamily="2" charset="2"/>
              <a:buNone/>
            </a:pPr>
            <a:r>
              <a:rPr kumimoji="1" lang="en-US" altLang="zh-CN" sz="2000" b="1" dirty="0">
                <a:solidFill>
                  <a:srgbClr val="000000"/>
                </a:solidFill>
                <a:latin typeface="微软雅黑" pitchFamily="34" charset="-122"/>
                <a:ea typeface="微软雅黑" pitchFamily="34" charset="-122"/>
              </a:rPr>
              <a:t>       EA=2000H, </a:t>
            </a:r>
            <a:r>
              <a:rPr kumimoji="1" lang="zh-CN" altLang="zh-CN" sz="2000" b="1" dirty="0">
                <a:solidFill>
                  <a:srgbClr val="000000"/>
                </a:solidFill>
                <a:latin typeface="微软雅黑" pitchFamily="34" charset="-122"/>
                <a:ea typeface="微软雅黑" pitchFamily="34" charset="-122"/>
              </a:rPr>
              <a:t>假设</a:t>
            </a:r>
            <a:r>
              <a:rPr kumimoji="1" lang="en-US" altLang="zh-CN" sz="2000" b="1" dirty="0">
                <a:solidFill>
                  <a:srgbClr val="000000"/>
                </a:solidFill>
                <a:latin typeface="微软雅黑" pitchFamily="34" charset="-122"/>
                <a:ea typeface="微软雅黑" pitchFamily="34" charset="-122"/>
              </a:rPr>
              <a:t>(DS)=3000H, </a:t>
            </a:r>
            <a:r>
              <a:rPr kumimoji="1" lang="zh-CN" altLang="en-US" sz="2000" b="1" dirty="0">
                <a:solidFill>
                  <a:srgbClr val="000000"/>
                </a:solidFill>
                <a:latin typeface="微软雅黑" pitchFamily="34" charset="-122"/>
                <a:ea typeface="微软雅黑" pitchFamily="34" charset="-122"/>
              </a:rPr>
              <a:t>那么</a:t>
            </a:r>
            <a:r>
              <a:rPr kumimoji="1" lang="en-US" altLang="zh-CN" sz="2000" b="1" dirty="0">
                <a:solidFill>
                  <a:srgbClr val="000000"/>
                </a:solidFill>
                <a:latin typeface="微软雅黑" pitchFamily="34" charset="-122"/>
                <a:ea typeface="微软雅黑" pitchFamily="34" charset="-122"/>
              </a:rPr>
              <a:t>EA=32000H</a:t>
            </a:r>
          </a:p>
          <a:p>
            <a:endParaRPr lang="en-US" altLang="zh-CN" sz="2000" b="1" dirty="0">
              <a:latin typeface="微软雅黑" pitchFamily="34" charset="-122"/>
              <a:ea typeface="微软雅黑" pitchFamily="34" charset="-122"/>
            </a:endParaRPr>
          </a:p>
        </p:txBody>
      </p:sp>
      <p:grpSp>
        <p:nvGrpSpPr>
          <p:cNvPr id="2" name="Group 4"/>
          <p:cNvGrpSpPr>
            <a:grpSpLocks/>
          </p:cNvGrpSpPr>
          <p:nvPr/>
        </p:nvGrpSpPr>
        <p:grpSpPr bwMode="auto">
          <a:xfrm>
            <a:off x="1619250" y="2565400"/>
            <a:ext cx="5105400" cy="1801813"/>
            <a:chOff x="1008" y="1675"/>
            <a:chExt cx="3216" cy="1135"/>
          </a:xfrm>
        </p:grpSpPr>
        <p:sp>
          <p:nvSpPr>
            <p:cNvPr id="273413" name="Line 5"/>
            <p:cNvSpPr>
              <a:spLocks noChangeShapeType="1"/>
            </p:cNvSpPr>
            <p:nvPr/>
          </p:nvSpPr>
          <p:spPr bwMode="auto">
            <a:xfrm>
              <a:off x="3360" y="1844"/>
              <a:ext cx="0" cy="842"/>
            </a:xfrm>
            <a:prstGeom prst="line">
              <a:avLst/>
            </a:prstGeom>
            <a:noFill/>
            <a:ln w="12700" cap="sq">
              <a:solidFill>
                <a:schemeClr val="bg2"/>
              </a:solidFill>
              <a:round/>
              <a:headEnd type="none" w="sm" len="sm"/>
              <a:tailEnd type="none" w="sm" len="sm"/>
            </a:ln>
            <a:effectLst/>
          </p:spPr>
          <p:txBody>
            <a:bodyPr wrap="none" anchor="ctr">
              <a:spAutoFit/>
            </a:bodyPr>
            <a:lstStyle/>
            <a:p>
              <a:endParaRPr lang="zh-CN" altLang="en-US"/>
            </a:p>
          </p:txBody>
        </p:sp>
        <p:sp>
          <p:nvSpPr>
            <p:cNvPr id="273414" name="Line 6"/>
            <p:cNvSpPr>
              <a:spLocks noChangeShapeType="1"/>
            </p:cNvSpPr>
            <p:nvPr/>
          </p:nvSpPr>
          <p:spPr bwMode="auto">
            <a:xfrm>
              <a:off x="3936" y="1844"/>
              <a:ext cx="0" cy="842"/>
            </a:xfrm>
            <a:prstGeom prst="line">
              <a:avLst/>
            </a:prstGeom>
            <a:noFill/>
            <a:ln w="12700" cap="sq">
              <a:solidFill>
                <a:schemeClr val="bg2"/>
              </a:solidFill>
              <a:round/>
              <a:headEnd type="none" w="sm" len="sm"/>
              <a:tailEnd type="none" w="sm" len="sm"/>
            </a:ln>
            <a:effectLst/>
          </p:spPr>
          <p:txBody>
            <a:bodyPr wrap="none" anchor="ctr">
              <a:spAutoFit/>
            </a:bodyPr>
            <a:lstStyle/>
            <a:p>
              <a:endParaRPr lang="zh-CN" altLang="en-US"/>
            </a:p>
          </p:txBody>
        </p:sp>
        <p:sp>
          <p:nvSpPr>
            <p:cNvPr id="273415" name="Line 7"/>
            <p:cNvSpPr>
              <a:spLocks noChangeShapeType="1"/>
            </p:cNvSpPr>
            <p:nvPr/>
          </p:nvSpPr>
          <p:spPr bwMode="auto">
            <a:xfrm>
              <a:off x="3360" y="2012"/>
              <a:ext cx="576" cy="0"/>
            </a:xfrm>
            <a:prstGeom prst="line">
              <a:avLst/>
            </a:prstGeom>
            <a:noFill/>
            <a:ln w="12700" cap="sq">
              <a:solidFill>
                <a:schemeClr val="bg2"/>
              </a:solidFill>
              <a:round/>
              <a:headEnd type="none" w="sm" len="sm"/>
              <a:tailEnd type="none" w="sm" len="sm"/>
            </a:ln>
            <a:effectLst/>
          </p:spPr>
          <p:txBody>
            <a:bodyPr wrap="none" anchor="ctr">
              <a:spAutoFit/>
            </a:bodyPr>
            <a:lstStyle/>
            <a:p>
              <a:endParaRPr lang="zh-CN" altLang="en-US"/>
            </a:p>
          </p:txBody>
        </p:sp>
        <p:sp>
          <p:nvSpPr>
            <p:cNvPr id="273416" name="Line 8"/>
            <p:cNvSpPr>
              <a:spLocks noChangeShapeType="1"/>
            </p:cNvSpPr>
            <p:nvPr/>
          </p:nvSpPr>
          <p:spPr bwMode="auto">
            <a:xfrm>
              <a:off x="3360" y="2223"/>
              <a:ext cx="576" cy="0"/>
            </a:xfrm>
            <a:prstGeom prst="line">
              <a:avLst/>
            </a:prstGeom>
            <a:noFill/>
            <a:ln w="12700" cap="sq">
              <a:solidFill>
                <a:schemeClr val="bg2"/>
              </a:solidFill>
              <a:round/>
              <a:headEnd type="none" w="sm" len="sm"/>
              <a:tailEnd type="none" w="sm" len="sm"/>
            </a:ln>
            <a:effectLst/>
          </p:spPr>
          <p:txBody>
            <a:bodyPr wrap="none" anchor="ctr">
              <a:spAutoFit/>
            </a:bodyPr>
            <a:lstStyle/>
            <a:p>
              <a:endParaRPr lang="zh-CN" altLang="en-US"/>
            </a:p>
          </p:txBody>
        </p:sp>
        <p:sp>
          <p:nvSpPr>
            <p:cNvPr id="273417" name="Line 9"/>
            <p:cNvSpPr>
              <a:spLocks noChangeShapeType="1"/>
            </p:cNvSpPr>
            <p:nvPr/>
          </p:nvSpPr>
          <p:spPr bwMode="auto">
            <a:xfrm>
              <a:off x="3360" y="2433"/>
              <a:ext cx="576" cy="0"/>
            </a:xfrm>
            <a:prstGeom prst="line">
              <a:avLst/>
            </a:prstGeom>
            <a:noFill/>
            <a:ln w="12700" cap="sq">
              <a:solidFill>
                <a:schemeClr val="bg2"/>
              </a:solidFill>
              <a:round/>
              <a:headEnd type="none" w="sm" len="sm"/>
              <a:tailEnd type="none" w="sm" len="sm"/>
            </a:ln>
            <a:effectLst/>
          </p:spPr>
          <p:txBody>
            <a:bodyPr wrap="none" anchor="ctr">
              <a:spAutoFit/>
            </a:bodyPr>
            <a:lstStyle/>
            <a:p>
              <a:endParaRPr lang="zh-CN" altLang="en-US"/>
            </a:p>
          </p:txBody>
        </p:sp>
        <p:sp>
          <p:nvSpPr>
            <p:cNvPr id="273418" name="Text Box 10"/>
            <p:cNvSpPr txBox="1">
              <a:spLocks noChangeArrowheads="1"/>
            </p:cNvSpPr>
            <p:nvPr/>
          </p:nvSpPr>
          <p:spPr bwMode="auto">
            <a:xfrm>
              <a:off x="3504" y="2012"/>
              <a:ext cx="276" cy="250"/>
            </a:xfrm>
            <a:prstGeom prst="rect">
              <a:avLst/>
            </a:prstGeom>
            <a:noFill/>
            <a:ln w="12700" cap="sq">
              <a:noFill/>
              <a:miter lim="800000"/>
              <a:headEnd type="none" w="sm" len="sm"/>
              <a:tailEnd type="none" w="sm" len="sm"/>
            </a:ln>
            <a:effectLst/>
          </p:spPr>
          <p:txBody>
            <a:bodyPr wrap="none">
              <a:spAutoFit/>
            </a:bodyPr>
            <a:lstStyle/>
            <a:p>
              <a:pPr>
                <a:spcBef>
                  <a:spcPct val="50000"/>
                </a:spcBef>
              </a:pPr>
              <a:r>
                <a:rPr kumimoji="1" lang="en-US" altLang="zh-CN" sz="2000" b="1">
                  <a:solidFill>
                    <a:srgbClr val="000000"/>
                  </a:solidFill>
                  <a:latin typeface="微软雅黑" pitchFamily="34" charset="-122"/>
                  <a:ea typeface="微软雅黑" pitchFamily="34" charset="-122"/>
                </a:rPr>
                <a:t>50</a:t>
              </a:r>
              <a:endParaRPr kumimoji="1" lang="en-US" altLang="zh-CN" sz="2000">
                <a:solidFill>
                  <a:srgbClr val="000000"/>
                </a:solidFill>
                <a:latin typeface="微软雅黑" pitchFamily="34" charset="-122"/>
                <a:ea typeface="微软雅黑" pitchFamily="34" charset="-122"/>
              </a:endParaRPr>
            </a:p>
          </p:txBody>
        </p:sp>
        <p:sp>
          <p:nvSpPr>
            <p:cNvPr id="273419" name="Text Box 11"/>
            <p:cNvSpPr txBox="1">
              <a:spLocks noChangeArrowheads="1"/>
            </p:cNvSpPr>
            <p:nvPr/>
          </p:nvSpPr>
          <p:spPr bwMode="auto">
            <a:xfrm>
              <a:off x="3504" y="2223"/>
              <a:ext cx="276" cy="250"/>
            </a:xfrm>
            <a:prstGeom prst="rect">
              <a:avLst/>
            </a:prstGeom>
            <a:noFill/>
            <a:ln w="12700" cap="sq">
              <a:noFill/>
              <a:miter lim="800000"/>
              <a:headEnd type="none" w="sm" len="sm"/>
              <a:tailEnd type="none" w="sm" len="sm"/>
            </a:ln>
            <a:effectLst/>
          </p:spPr>
          <p:txBody>
            <a:bodyPr wrap="none">
              <a:spAutoFit/>
            </a:bodyPr>
            <a:lstStyle/>
            <a:p>
              <a:pPr>
                <a:spcBef>
                  <a:spcPct val="50000"/>
                </a:spcBef>
              </a:pPr>
              <a:r>
                <a:rPr kumimoji="1" lang="en-US" altLang="zh-CN" sz="2000" b="1">
                  <a:solidFill>
                    <a:srgbClr val="000000"/>
                  </a:solidFill>
                  <a:latin typeface="微软雅黑" pitchFamily="34" charset="-122"/>
                  <a:ea typeface="微软雅黑" pitchFamily="34" charset="-122"/>
                </a:rPr>
                <a:t>30</a:t>
              </a:r>
              <a:endParaRPr kumimoji="1" lang="en-US" altLang="zh-CN" sz="2000">
                <a:solidFill>
                  <a:srgbClr val="000000"/>
                </a:solidFill>
                <a:latin typeface="微软雅黑" pitchFamily="34" charset="-122"/>
                <a:ea typeface="微软雅黑" pitchFamily="34" charset="-122"/>
              </a:endParaRPr>
            </a:p>
          </p:txBody>
        </p:sp>
        <p:sp>
          <p:nvSpPr>
            <p:cNvPr id="273420" name="Text Box 12"/>
            <p:cNvSpPr txBox="1">
              <a:spLocks noChangeArrowheads="1"/>
            </p:cNvSpPr>
            <p:nvPr/>
          </p:nvSpPr>
          <p:spPr bwMode="auto">
            <a:xfrm>
              <a:off x="2688" y="1928"/>
              <a:ext cx="756" cy="442"/>
            </a:xfrm>
            <a:prstGeom prst="rect">
              <a:avLst/>
            </a:prstGeom>
            <a:noFill/>
            <a:ln w="12700" cap="sq">
              <a:noFill/>
              <a:miter lim="800000"/>
              <a:headEnd type="none" w="sm" len="sm"/>
              <a:tailEnd type="none" w="sm" len="sm"/>
            </a:ln>
            <a:effectLst/>
          </p:spPr>
          <p:txBody>
            <a:bodyPr>
              <a:spAutoFit/>
            </a:bodyPr>
            <a:lstStyle/>
            <a:p>
              <a:pPr>
                <a:spcBef>
                  <a:spcPct val="50000"/>
                </a:spcBef>
              </a:pPr>
              <a:r>
                <a:rPr kumimoji="1" lang="en-US" altLang="zh-CN" sz="2000">
                  <a:solidFill>
                    <a:srgbClr val="000000"/>
                  </a:solidFill>
                  <a:latin typeface="微软雅黑" pitchFamily="34" charset="-122"/>
                  <a:ea typeface="微软雅黑" pitchFamily="34" charset="-122"/>
                </a:rPr>
                <a:t>   </a:t>
              </a:r>
              <a:r>
                <a:rPr kumimoji="1" lang="en-US" altLang="zh-CN" sz="2000" b="1">
                  <a:solidFill>
                    <a:srgbClr val="000000"/>
                  </a:solidFill>
                  <a:latin typeface="微软雅黑" pitchFamily="34" charset="-122"/>
                  <a:ea typeface="微软雅黑" pitchFamily="34" charset="-122"/>
                </a:rPr>
                <a:t> 32000</a:t>
              </a:r>
              <a:endParaRPr kumimoji="1" lang="en-US" altLang="zh-CN" sz="2000">
                <a:solidFill>
                  <a:srgbClr val="000000"/>
                </a:solidFill>
                <a:latin typeface="微软雅黑" pitchFamily="34" charset="-122"/>
                <a:ea typeface="微软雅黑" pitchFamily="34" charset="-122"/>
              </a:endParaRPr>
            </a:p>
          </p:txBody>
        </p:sp>
        <p:sp>
          <p:nvSpPr>
            <p:cNvPr id="273421" name="Rectangle 13"/>
            <p:cNvSpPr>
              <a:spLocks noChangeArrowheads="1"/>
            </p:cNvSpPr>
            <p:nvPr/>
          </p:nvSpPr>
          <p:spPr bwMode="auto">
            <a:xfrm>
              <a:off x="1296" y="1844"/>
              <a:ext cx="624" cy="210"/>
            </a:xfrm>
            <a:prstGeom prst="rect">
              <a:avLst/>
            </a:prstGeom>
            <a:solidFill>
              <a:schemeClr val="accent1"/>
            </a:solidFill>
            <a:ln w="12700" cap="sq">
              <a:solidFill>
                <a:schemeClr val="bg2"/>
              </a:solidFill>
              <a:miter lim="800000"/>
              <a:headEnd type="none" w="sm" len="sm"/>
              <a:tailEnd type="none" w="sm" len="sm"/>
            </a:ln>
            <a:effectLst/>
          </p:spPr>
          <p:txBody>
            <a:bodyPr wrap="none" anchor="ctr">
              <a:spAutoFit/>
            </a:bodyPr>
            <a:lstStyle/>
            <a:p>
              <a:endParaRPr lang="zh-CN" altLang="en-US"/>
            </a:p>
          </p:txBody>
        </p:sp>
        <p:sp>
          <p:nvSpPr>
            <p:cNvPr id="273422" name="Rectangle 14"/>
            <p:cNvSpPr>
              <a:spLocks noChangeArrowheads="1"/>
            </p:cNvSpPr>
            <p:nvPr/>
          </p:nvSpPr>
          <p:spPr bwMode="auto">
            <a:xfrm>
              <a:off x="1920" y="1844"/>
              <a:ext cx="624" cy="210"/>
            </a:xfrm>
            <a:prstGeom prst="rect">
              <a:avLst/>
            </a:prstGeom>
            <a:solidFill>
              <a:schemeClr val="accent1"/>
            </a:solidFill>
            <a:ln w="12700" cap="sq">
              <a:solidFill>
                <a:schemeClr val="bg2"/>
              </a:solidFill>
              <a:miter lim="800000"/>
              <a:headEnd type="none" w="sm" len="sm"/>
              <a:tailEnd type="none" w="sm" len="sm"/>
            </a:ln>
            <a:effectLst/>
          </p:spPr>
          <p:txBody>
            <a:bodyPr wrap="none" anchor="ctr">
              <a:spAutoFit/>
            </a:bodyPr>
            <a:lstStyle/>
            <a:p>
              <a:endParaRPr lang="zh-CN" altLang="en-US"/>
            </a:p>
          </p:txBody>
        </p:sp>
        <p:sp>
          <p:nvSpPr>
            <p:cNvPr id="273423" name="Line 15"/>
            <p:cNvSpPr>
              <a:spLocks noChangeShapeType="1"/>
            </p:cNvSpPr>
            <p:nvPr/>
          </p:nvSpPr>
          <p:spPr bwMode="auto">
            <a:xfrm flipH="1">
              <a:off x="2256" y="2138"/>
              <a:ext cx="1200" cy="0"/>
            </a:xfrm>
            <a:prstGeom prst="line">
              <a:avLst/>
            </a:prstGeom>
            <a:noFill/>
            <a:ln w="12700" cap="sq">
              <a:solidFill>
                <a:schemeClr val="bg2"/>
              </a:solidFill>
              <a:round/>
              <a:headEnd type="none" w="sm" len="sm"/>
              <a:tailEnd type="none" w="sm" len="sm"/>
            </a:ln>
            <a:effectLst/>
          </p:spPr>
          <p:txBody>
            <a:bodyPr wrap="none" anchor="ctr">
              <a:spAutoFit/>
            </a:bodyPr>
            <a:lstStyle/>
            <a:p>
              <a:endParaRPr lang="zh-CN" altLang="en-US"/>
            </a:p>
          </p:txBody>
        </p:sp>
        <p:sp>
          <p:nvSpPr>
            <p:cNvPr id="273424" name="Line 16"/>
            <p:cNvSpPr>
              <a:spLocks noChangeShapeType="1"/>
            </p:cNvSpPr>
            <p:nvPr/>
          </p:nvSpPr>
          <p:spPr bwMode="auto">
            <a:xfrm flipH="1">
              <a:off x="1632" y="2349"/>
              <a:ext cx="1824" cy="0"/>
            </a:xfrm>
            <a:prstGeom prst="line">
              <a:avLst/>
            </a:prstGeom>
            <a:noFill/>
            <a:ln w="12700" cap="sq">
              <a:solidFill>
                <a:schemeClr val="bg2"/>
              </a:solidFill>
              <a:round/>
              <a:headEnd type="none" w="sm" len="sm"/>
              <a:tailEnd type="none" w="sm" len="sm"/>
            </a:ln>
            <a:effectLst/>
          </p:spPr>
          <p:txBody>
            <a:bodyPr wrap="none" anchor="ctr">
              <a:spAutoFit/>
            </a:bodyPr>
            <a:lstStyle/>
            <a:p>
              <a:endParaRPr lang="zh-CN" altLang="en-US"/>
            </a:p>
          </p:txBody>
        </p:sp>
        <p:sp>
          <p:nvSpPr>
            <p:cNvPr id="273425" name="Line 17"/>
            <p:cNvSpPr>
              <a:spLocks noChangeShapeType="1"/>
            </p:cNvSpPr>
            <p:nvPr/>
          </p:nvSpPr>
          <p:spPr bwMode="auto">
            <a:xfrm flipV="1">
              <a:off x="1632" y="2054"/>
              <a:ext cx="0" cy="295"/>
            </a:xfrm>
            <a:prstGeom prst="line">
              <a:avLst/>
            </a:prstGeom>
            <a:noFill/>
            <a:ln w="12700" cap="sq">
              <a:solidFill>
                <a:schemeClr val="bg2"/>
              </a:solidFill>
              <a:round/>
              <a:headEnd type="none" w="sm" len="sm"/>
              <a:tailEnd type="triangle" w="sm" len="sm"/>
            </a:ln>
            <a:effectLst/>
          </p:spPr>
          <p:txBody>
            <a:bodyPr wrap="none" anchor="ctr">
              <a:spAutoFit/>
            </a:bodyPr>
            <a:lstStyle/>
            <a:p>
              <a:endParaRPr lang="zh-CN" altLang="en-US"/>
            </a:p>
          </p:txBody>
        </p:sp>
        <p:sp>
          <p:nvSpPr>
            <p:cNvPr id="273426" name="Line 18"/>
            <p:cNvSpPr>
              <a:spLocks noChangeShapeType="1"/>
            </p:cNvSpPr>
            <p:nvPr/>
          </p:nvSpPr>
          <p:spPr bwMode="auto">
            <a:xfrm flipV="1">
              <a:off x="2256" y="2054"/>
              <a:ext cx="0" cy="84"/>
            </a:xfrm>
            <a:prstGeom prst="line">
              <a:avLst/>
            </a:prstGeom>
            <a:noFill/>
            <a:ln w="12700" cap="sq">
              <a:solidFill>
                <a:schemeClr val="bg2"/>
              </a:solidFill>
              <a:round/>
              <a:headEnd type="none" w="sm" len="sm"/>
              <a:tailEnd type="triangle" w="sm" len="sm"/>
            </a:ln>
            <a:effectLst/>
          </p:spPr>
          <p:txBody>
            <a:bodyPr wrap="none" anchor="ctr">
              <a:spAutoFit/>
            </a:bodyPr>
            <a:lstStyle/>
            <a:p>
              <a:endParaRPr lang="zh-CN" altLang="en-US"/>
            </a:p>
          </p:txBody>
        </p:sp>
        <p:sp>
          <p:nvSpPr>
            <p:cNvPr id="273427" name="Text Box 19"/>
            <p:cNvSpPr txBox="1">
              <a:spLocks noChangeArrowheads="1"/>
            </p:cNvSpPr>
            <p:nvPr/>
          </p:nvSpPr>
          <p:spPr bwMode="auto">
            <a:xfrm>
              <a:off x="1488" y="1675"/>
              <a:ext cx="1140" cy="212"/>
            </a:xfrm>
            <a:prstGeom prst="rect">
              <a:avLst/>
            </a:prstGeom>
            <a:noFill/>
            <a:ln w="12700" cap="sq">
              <a:noFill/>
              <a:miter lim="800000"/>
              <a:headEnd type="none" w="sm" len="sm"/>
              <a:tailEnd type="none" w="sm" len="sm"/>
            </a:ln>
            <a:effectLst/>
          </p:spPr>
          <p:txBody>
            <a:bodyPr wrap="none">
              <a:spAutoFit/>
            </a:bodyPr>
            <a:lstStyle/>
            <a:p>
              <a:pPr>
                <a:spcBef>
                  <a:spcPct val="50000"/>
                </a:spcBef>
              </a:pPr>
              <a:r>
                <a:rPr kumimoji="1" lang="en-US" altLang="zh-CN" sz="1600" b="1">
                  <a:solidFill>
                    <a:srgbClr val="000000"/>
                  </a:solidFill>
                  <a:latin typeface="微软雅黑" pitchFamily="34" charset="-122"/>
                  <a:ea typeface="微软雅黑" pitchFamily="34" charset="-122"/>
                </a:rPr>
                <a:t>AH            AL</a:t>
              </a:r>
              <a:endParaRPr kumimoji="1" lang="en-US" altLang="zh-CN">
                <a:solidFill>
                  <a:srgbClr val="000000"/>
                </a:solidFill>
                <a:latin typeface="微软雅黑" pitchFamily="34" charset="-122"/>
                <a:ea typeface="微软雅黑" pitchFamily="34" charset="-122"/>
              </a:endParaRPr>
            </a:p>
          </p:txBody>
        </p:sp>
        <p:sp>
          <p:nvSpPr>
            <p:cNvPr id="273428" name="Text Box 20"/>
            <p:cNvSpPr txBox="1">
              <a:spLocks noChangeArrowheads="1"/>
            </p:cNvSpPr>
            <p:nvPr/>
          </p:nvSpPr>
          <p:spPr bwMode="auto">
            <a:xfrm>
              <a:off x="1488" y="1844"/>
              <a:ext cx="276" cy="250"/>
            </a:xfrm>
            <a:prstGeom prst="rect">
              <a:avLst/>
            </a:prstGeom>
            <a:noFill/>
            <a:ln w="12700" cap="sq">
              <a:noFill/>
              <a:miter lim="800000"/>
              <a:headEnd type="none" w="sm" len="sm"/>
              <a:tailEnd type="none" w="sm" len="sm"/>
            </a:ln>
            <a:effectLst/>
          </p:spPr>
          <p:txBody>
            <a:bodyPr wrap="none">
              <a:spAutoFit/>
            </a:bodyPr>
            <a:lstStyle/>
            <a:p>
              <a:pPr>
                <a:spcBef>
                  <a:spcPct val="50000"/>
                </a:spcBef>
              </a:pPr>
              <a:r>
                <a:rPr kumimoji="1" lang="en-US" altLang="zh-CN" sz="2000" b="1">
                  <a:solidFill>
                    <a:srgbClr val="000000"/>
                  </a:solidFill>
                  <a:latin typeface="微软雅黑" pitchFamily="34" charset="-122"/>
                  <a:ea typeface="微软雅黑" pitchFamily="34" charset="-122"/>
                </a:rPr>
                <a:t>30</a:t>
              </a:r>
              <a:endParaRPr kumimoji="1" lang="en-US" altLang="zh-CN" sz="2000">
                <a:solidFill>
                  <a:srgbClr val="000000"/>
                </a:solidFill>
                <a:latin typeface="微软雅黑" pitchFamily="34" charset="-122"/>
                <a:ea typeface="微软雅黑" pitchFamily="34" charset="-122"/>
              </a:endParaRPr>
            </a:p>
          </p:txBody>
        </p:sp>
        <p:sp>
          <p:nvSpPr>
            <p:cNvPr id="273429" name="Text Box 21"/>
            <p:cNvSpPr txBox="1">
              <a:spLocks noChangeArrowheads="1"/>
            </p:cNvSpPr>
            <p:nvPr/>
          </p:nvSpPr>
          <p:spPr bwMode="auto">
            <a:xfrm>
              <a:off x="2112" y="1844"/>
              <a:ext cx="276" cy="250"/>
            </a:xfrm>
            <a:prstGeom prst="rect">
              <a:avLst/>
            </a:prstGeom>
            <a:noFill/>
            <a:ln w="12700" cap="sq">
              <a:noFill/>
              <a:miter lim="800000"/>
              <a:headEnd type="none" w="sm" len="sm"/>
              <a:tailEnd type="none" w="sm" len="sm"/>
            </a:ln>
            <a:effectLst/>
          </p:spPr>
          <p:txBody>
            <a:bodyPr wrap="none">
              <a:spAutoFit/>
            </a:bodyPr>
            <a:lstStyle/>
            <a:p>
              <a:pPr>
                <a:spcBef>
                  <a:spcPct val="50000"/>
                </a:spcBef>
              </a:pPr>
              <a:r>
                <a:rPr kumimoji="1" lang="en-US" altLang="zh-CN" sz="2000" b="1">
                  <a:solidFill>
                    <a:srgbClr val="000000"/>
                  </a:solidFill>
                  <a:latin typeface="微软雅黑" pitchFamily="34" charset="-122"/>
                  <a:ea typeface="微软雅黑" pitchFamily="34" charset="-122"/>
                </a:rPr>
                <a:t>50</a:t>
              </a:r>
              <a:endParaRPr kumimoji="1" lang="en-US" altLang="zh-CN" sz="2000">
                <a:solidFill>
                  <a:srgbClr val="000000"/>
                </a:solidFill>
                <a:latin typeface="微软雅黑" pitchFamily="34" charset="-122"/>
                <a:ea typeface="微软雅黑" pitchFamily="34" charset="-122"/>
              </a:endParaRPr>
            </a:p>
          </p:txBody>
        </p:sp>
        <p:sp>
          <p:nvSpPr>
            <p:cNvPr id="273430" name="Text Box 22"/>
            <p:cNvSpPr txBox="1">
              <a:spLocks noChangeArrowheads="1"/>
            </p:cNvSpPr>
            <p:nvPr/>
          </p:nvSpPr>
          <p:spPr bwMode="auto">
            <a:xfrm>
              <a:off x="1440" y="2560"/>
              <a:ext cx="1076" cy="250"/>
            </a:xfrm>
            <a:prstGeom prst="rect">
              <a:avLst/>
            </a:prstGeom>
            <a:noFill/>
            <a:ln w="12700" cap="sq">
              <a:noFill/>
              <a:miter lim="800000"/>
              <a:headEnd type="none" w="sm" len="sm"/>
              <a:tailEnd type="none" w="sm" len="sm"/>
            </a:ln>
            <a:effectLst/>
          </p:spPr>
          <p:txBody>
            <a:bodyPr wrap="none">
              <a:spAutoFit/>
            </a:bodyPr>
            <a:lstStyle/>
            <a:p>
              <a:pPr>
                <a:spcBef>
                  <a:spcPct val="50000"/>
                </a:spcBef>
              </a:pPr>
              <a:r>
                <a:rPr kumimoji="1" lang="en-US" altLang="zh-CN" sz="2000" b="1">
                  <a:solidFill>
                    <a:srgbClr val="000000"/>
                  </a:solidFill>
                  <a:latin typeface="微软雅黑" pitchFamily="34" charset="-122"/>
                  <a:ea typeface="微软雅黑" pitchFamily="34" charset="-122"/>
                </a:rPr>
                <a:t>(AX) = 3050H</a:t>
              </a:r>
              <a:endParaRPr kumimoji="1" lang="en-US" altLang="zh-CN" sz="2000">
                <a:solidFill>
                  <a:srgbClr val="000000"/>
                </a:solidFill>
                <a:latin typeface="微软雅黑" pitchFamily="34" charset="-122"/>
                <a:ea typeface="微软雅黑" pitchFamily="34" charset="-122"/>
              </a:endParaRPr>
            </a:p>
          </p:txBody>
        </p:sp>
        <p:sp>
          <p:nvSpPr>
            <p:cNvPr id="273431" name="Rectangle 23"/>
            <p:cNvSpPr>
              <a:spLocks noChangeArrowheads="1"/>
            </p:cNvSpPr>
            <p:nvPr/>
          </p:nvSpPr>
          <p:spPr bwMode="auto">
            <a:xfrm>
              <a:off x="1008" y="1675"/>
              <a:ext cx="3216" cy="1104"/>
            </a:xfrm>
            <a:prstGeom prst="rect">
              <a:avLst/>
            </a:prstGeom>
            <a:noFill/>
            <a:ln w="6350">
              <a:solidFill>
                <a:schemeClr val="bg2"/>
              </a:solidFill>
              <a:prstDash val="dash"/>
              <a:miter lim="800000"/>
              <a:headEnd type="none" w="sm" len="sm"/>
              <a:tailEnd type="none" w="sm" len="sm"/>
            </a:ln>
            <a:effectLst/>
          </p:spPr>
          <p:txBody>
            <a:bodyPr anchor="ctr">
              <a:spAutoFit/>
            </a:bodyPr>
            <a:lstStyle/>
            <a:p>
              <a:endParaRPr lang="zh-CN" altLang="en-US"/>
            </a:p>
          </p:txBody>
        </p:sp>
      </p:grpSp>
      <p:sp>
        <p:nvSpPr>
          <p:cNvPr id="273432" name="Text Box 24"/>
          <p:cNvSpPr txBox="1">
            <a:spLocks noChangeArrowheads="1"/>
          </p:cNvSpPr>
          <p:nvPr/>
        </p:nvSpPr>
        <p:spPr bwMode="auto">
          <a:xfrm>
            <a:off x="1042988" y="4508500"/>
            <a:ext cx="7623175" cy="396875"/>
          </a:xfrm>
          <a:prstGeom prst="rect">
            <a:avLst/>
          </a:prstGeom>
          <a:noFill/>
          <a:ln w="12700" cap="sq">
            <a:noFill/>
            <a:miter lim="800000"/>
            <a:headEnd type="none" w="sm" len="sm"/>
            <a:tailEnd type="none" w="sm" len="sm"/>
          </a:ln>
          <a:effectLst/>
        </p:spPr>
        <p:txBody>
          <a:bodyPr>
            <a:spAutoFit/>
          </a:bodyPr>
          <a:lstStyle/>
          <a:p>
            <a:r>
              <a:rPr kumimoji="1" lang="zh-CN" altLang="en-US" sz="2000" b="1">
                <a:solidFill>
                  <a:srgbClr val="FF0000"/>
                </a:solidFill>
                <a:latin typeface="微软雅黑" pitchFamily="34" charset="-122"/>
                <a:ea typeface="微软雅黑" pitchFamily="34" charset="-122"/>
                <a:sym typeface="Monotype Sorts" pitchFamily="2" charset="2"/>
              </a:rPr>
              <a:t>隐含的段为数据段 </a:t>
            </a:r>
            <a:r>
              <a:rPr kumimoji="1" lang="en-US" altLang="zh-CN" sz="2000" b="1">
                <a:solidFill>
                  <a:srgbClr val="FF0000"/>
                </a:solidFill>
                <a:latin typeface="微软雅黑" pitchFamily="34" charset="-122"/>
                <a:ea typeface="微软雅黑" pitchFamily="34" charset="-122"/>
                <a:sym typeface="Monotype Sorts" pitchFamily="2" charset="2"/>
              </a:rPr>
              <a:t>DS</a:t>
            </a:r>
            <a:endParaRPr kumimoji="1" lang="en-US" altLang="zh-CN" sz="2000" b="1">
              <a:solidFill>
                <a:srgbClr val="FF0000"/>
              </a:solidFill>
              <a:latin typeface="微软雅黑" pitchFamily="34" charset="-122"/>
              <a:ea typeface="微软雅黑" pitchFamily="34" charset="-122"/>
              <a:sym typeface="Symbol" pitchFamily="18" charset="2"/>
            </a:endParaRPr>
          </a:p>
        </p:txBody>
      </p:sp>
      <p:sp>
        <p:nvSpPr>
          <p:cNvPr id="273433" name="Rectangle 25"/>
          <p:cNvSpPr>
            <a:spLocks noChangeArrowheads="1"/>
          </p:cNvSpPr>
          <p:nvPr/>
        </p:nvSpPr>
        <p:spPr bwMode="auto">
          <a:xfrm>
            <a:off x="971550" y="5013325"/>
            <a:ext cx="6551613" cy="396875"/>
          </a:xfrm>
          <a:prstGeom prst="rect">
            <a:avLst/>
          </a:prstGeom>
          <a:noFill/>
          <a:ln w="9525">
            <a:noFill/>
            <a:miter lim="800000"/>
            <a:headEnd/>
            <a:tailEnd/>
          </a:ln>
          <a:effectLst/>
        </p:spPr>
        <p:txBody>
          <a:bodyPr>
            <a:spAutoFit/>
          </a:bodyPr>
          <a:lstStyle/>
          <a:p>
            <a:pPr>
              <a:spcBef>
                <a:spcPct val="20000"/>
              </a:spcBef>
              <a:buClr>
                <a:schemeClr val="tx2"/>
              </a:buClr>
              <a:buSzPct val="70000"/>
              <a:buFont typeface="Wingdings" pitchFamily="2" charset="2"/>
              <a:buChar char="l"/>
            </a:pPr>
            <a:r>
              <a:rPr kumimoji="1" lang="zh-CN" altLang="zh-CN" sz="2000" b="1" dirty="0">
                <a:solidFill>
                  <a:srgbClr val="FF0000"/>
                </a:solidFill>
                <a:latin typeface="微软雅黑" pitchFamily="34" charset="-122"/>
                <a:ea typeface="微软雅黑" pitchFamily="34" charset="-122"/>
                <a:sym typeface="Monotype Sorts" pitchFamily="2" charset="2"/>
              </a:rPr>
              <a:t>可使用段跨越前缀</a:t>
            </a:r>
            <a:r>
              <a:rPr kumimoji="1" lang="zh-CN" altLang="zh-CN" sz="2000" b="1" dirty="0">
                <a:solidFill>
                  <a:srgbClr val="000000"/>
                </a:solidFill>
                <a:latin typeface="微软雅黑" pitchFamily="34" charset="-122"/>
                <a:ea typeface="微软雅黑" pitchFamily="34" charset="-122"/>
              </a:rPr>
              <a:t>           </a:t>
            </a:r>
            <a:r>
              <a:rPr kumimoji="1" lang="en-US" altLang="zh-CN" sz="2000" b="1" dirty="0">
                <a:solidFill>
                  <a:srgbClr val="000000"/>
                </a:solidFill>
                <a:latin typeface="微软雅黑" pitchFamily="34" charset="-122"/>
                <a:ea typeface="微软雅黑" pitchFamily="34" charset="-122"/>
              </a:rPr>
              <a:t>MOV  AX, ES: [2000H]</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标题 1"/>
          <p:cNvSpPr>
            <a:spLocks noGrp="1"/>
          </p:cNvSpPr>
          <p:nvPr>
            <p:ph type="title" idx="4294967295"/>
          </p:nvPr>
        </p:nvSpPr>
        <p:spPr>
          <a:xfrm>
            <a:off x="0" y="274638"/>
            <a:ext cx="8229600" cy="1143000"/>
          </a:xfrm>
        </p:spPr>
        <p:txBody>
          <a:bodyPr anchor="ctr"/>
          <a:lstStyle/>
          <a:p>
            <a:r>
              <a:rPr lang="en-US" altLang="zh-CN"/>
              <a:t>4</a:t>
            </a:r>
            <a:r>
              <a:rPr lang="zh-CN" altLang="en-US"/>
              <a:t>、寄存器间接寻址方式</a:t>
            </a:r>
          </a:p>
        </p:txBody>
      </p:sp>
      <p:sp>
        <p:nvSpPr>
          <p:cNvPr id="274435" name="内容占位符 2"/>
          <p:cNvSpPr>
            <a:spLocks noGrp="1"/>
          </p:cNvSpPr>
          <p:nvPr>
            <p:ph idx="4294967295"/>
          </p:nvPr>
        </p:nvSpPr>
        <p:spPr>
          <a:xfrm>
            <a:off x="0" y="1412875"/>
            <a:ext cx="8229600" cy="3425825"/>
          </a:xfrm>
        </p:spPr>
        <p:txBody>
          <a:bodyPr/>
          <a:lstStyle/>
          <a:p>
            <a:pPr>
              <a:lnSpc>
                <a:spcPct val="110000"/>
              </a:lnSpc>
            </a:pPr>
            <a:r>
              <a:rPr lang="zh-CN" altLang="en-US">
                <a:solidFill>
                  <a:srgbClr val="009900"/>
                </a:solidFill>
                <a:latin typeface="微软雅黑" pitchFamily="34" charset="-122"/>
                <a:ea typeface="微软雅黑" pitchFamily="34" charset="-122"/>
              </a:rPr>
              <a:t>操作数的有效地址存放在寄存器中</a:t>
            </a:r>
          </a:p>
          <a:p>
            <a:pPr lvl="1">
              <a:lnSpc>
                <a:spcPct val="110000"/>
              </a:lnSpc>
            </a:pPr>
            <a:r>
              <a:rPr lang="zh-CN" altLang="en-US" u="sng">
                <a:solidFill>
                  <a:srgbClr val="009900"/>
                </a:solidFill>
                <a:effectLst>
                  <a:outerShdw blurRad="38100" dist="38100" dir="2700000" algn="tl">
                    <a:srgbClr val="C0C0C0"/>
                  </a:outerShdw>
                </a:effectLst>
                <a:latin typeface="微软雅黑" pitchFamily="34" charset="-122"/>
                <a:ea typeface="微软雅黑" pitchFamily="34" charset="-122"/>
              </a:rPr>
              <a:t>方括号括起来的寄存器</a:t>
            </a:r>
            <a:r>
              <a:rPr lang="zh-CN" altLang="en-US">
                <a:latin typeface="微软雅黑" pitchFamily="34" charset="-122"/>
                <a:ea typeface="微软雅黑" pitchFamily="34" charset="-122"/>
              </a:rPr>
              <a:t>，如</a:t>
            </a:r>
            <a:r>
              <a:rPr lang="en-US" altLang="zh-CN">
                <a:latin typeface="微软雅黑" pitchFamily="34" charset="-122"/>
                <a:ea typeface="微软雅黑" pitchFamily="34" charset="-122"/>
              </a:rPr>
              <a:t>[BX]</a:t>
            </a:r>
            <a:r>
              <a:rPr lang="zh-CN" altLang="en-US">
                <a:latin typeface="微软雅黑" pitchFamily="34" charset="-122"/>
                <a:ea typeface="微软雅黑" pitchFamily="34" charset="-122"/>
              </a:rPr>
              <a:t>，</a:t>
            </a:r>
            <a:r>
              <a:rPr lang="en-US" altLang="zh-CN">
                <a:latin typeface="微软雅黑" pitchFamily="34" charset="-122"/>
                <a:ea typeface="微软雅黑" pitchFamily="34" charset="-122"/>
              </a:rPr>
              <a:t>SS:[EBX]</a:t>
            </a:r>
          </a:p>
          <a:p>
            <a:pPr lvl="2">
              <a:lnSpc>
                <a:spcPct val="110000"/>
              </a:lnSpc>
            </a:pPr>
            <a:r>
              <a:rPr lang="zh-CN" altLang="en-US">
                <a:latin typeface="微软雅黑" pitchFamily="34" charset="-122"/>
                <a:ea typeface="微软雅黑" pitchFamily="34" charset="-122"/>
              </a:rPr>
              <a:t>保护模式：</a:t>
            </a:r>
            <a:r>
              <a:rPr lang="en-US" altLang="zh-CN">
                <a:latin typeface="微软雅黑" pitchFamily="34" charset="-122"/>
                <a:ea typeface="微软雅黑" pitchFamily="34" charset="-122"/>
              </a:rPr>
              <a:t>32</a:t>
            </a:r>
            <a:r>
              <a:rPr lang="zh-CN" altLang="en-US">
                <a:latin typeface="微软雅黑" pitchFamily="34" charset="-122"/>
                <a:ea typeface="微软雅黑" pitchFamily="34" charset="-122"/>
              </a:rPr>
              <a:t>位通用寄存器</a:t>
            </a:r>
          </a:p>
          <a:p>
            <a:pPr lvl="2">
              <a:lnSpc>
                <a:spcPct val="110000"/>
              </a:lnSpc>
            </a:pPr>
            <a:r>
              <a:rPr lang="zh-CN" altLang="en-US">
                <a:latin typeface="微软雅黑" pitchFamily="34" charset="-122"/>
                <a:ea typeface="微软雅黑" pitchFamily="34" charset="-122"/>
              </a:rPr>
              <a:t>实地址：</a:t>
            </a:r>
            <a:r>
              <a:rPr lang="en-US" altLang="zh-CN">
                <a:latin typeface="微软雅黑" pitchFamily="34" charset="-122"/>
                <a:ea typeface="微软雅黑" pitchFamily="34" charset="-122"/>
              </a:rPr>
              <a:t>16</a:t>
            </a:r>
            <a:r>
              <a:rPr lang="zh-CN" altLang="en-US">
                <a:latin typeface="微软雅黑" pitchFamily="34" charset="-122"/>
                <a:ea typeface="微软雅黑" pitchFamily="34" charset="-122"/>
              </a:rPr>
              <a:t>位，</a:t>
            </a:r>
            <a:r>
              <a:rPr lang="en-US" altLang="zh-CN">
                <a:solidFill>
                  <a:srgbClr val="FF0000"/>
                </a:solidFill>
                <a:latin typeface="微软雅黑" pitchFamily="34" charset="-122"/>
                <a:ea typeface="微软雅黑" pitchFamily="34" charset="-122"/>
              </a:rPr>
              <a:t>SI</a:t>
            </a:r>
            <a:r>
              <a:rPr lang="zh-CN" altLang="en-US">
                <a:solidFill>
                  <a:srgbClr val="FF0000"/>
                </a:solidFill>
                <a:latin typeface="微软雅黑" pitchFamily="34" charset="-122"/>
                <a:ea typeface="微软雅黑" pitchFamily="34" charset="-122"/>
              </a:rPr>
              <a:t>，</a:t>
            </a:r>
            <a:r>
              <a:rPr lang="en-US" altLang="zh-CN">
                <a:solidFill>
                  <a:srgbClr val="FF0000"/>
                </a:solidFill>
                <a:latin typeface="微软雅黑" pitchFamily="34" charset="-122"/>
                <a:ea typeface="微软雅黑" pitchFamily="34" charset="-122"/>
              </a:rPr>
              <a:t>DI</a:t>
            </a:r>
            <a:r>
              <a:rPr lang="zh-CN" altLang="en-US">
                <a:solidFill>
                  <a:srgbClr val="FF0000"/>
                </a:solidFill>
                <a:latin typeface="微软雅黑" pitchFamily="34" charset="-122"/>
                <a:ea typeface="微软雅黑" pitchFamily="34" charset="-122"/>
              </a:rPr>
              <a:t>，</a:t>
            </a:r>
            <a:r>
              <a:rPr lang="en-US" altLang="zh-CN">
                <a:solidFill>
                  <a:srgbClr val="FF0000"/>
                </a:solidFill>
                <a:latin typeface="微软雅黑" pitchFamily="34" charset="-122"/>
                <a:ea typeface="微软雅黑" pitchFamily="34" charset="-122"/>
              </a:rPr>
              <a:t>BX</a:t>
            </a:r>
            <a:r>
              <a:rPr lang="zh-CN" altLang="en-US">
                <a:solidFill>
                  <a:srgbClr val="FF0000"/>
                </a:solidFill>
                <a:latin typeface="微软雅黑" pitchFamily="34" charset="-122"/>
                <a:ea typeface="微软雅黑" pitchFamily="34" charset="-122"/>
              </a:rPr>
              <a:t>，</a:t>
            </a:r>
            <a:r>
              <a:rPr lang="en-US" altLang="zh-CN">
                <a:solidFill>
                  <a:srgbClr val="FF0000"/>
                </a:solidFill>
                <a:latin typeface="微软雅黑" pitchFamily="34" charset="-122"/>
                <a:ea typeface="微软雅黑" pitchFamily="34" charset="-122"/>
              </a:rPr>
              <a:t>BP</a:t>
            </a:r>
          </a:p>
          <a:p>
            <a:pPr lvl="1">
              <a:lnSpc>
                <a:spcPct val="110000"/>
              </a:lnSpc>
            </a:pPr>
            <a:r>
              <a:rPr lang="zh-CN" altLang="en-US" u="sng">
                <a:solidFill>
                  <a:srgbClr val="009900"/>
                </a:solidFill>
                <a:effectLst>
                  <a:outerShdw blurRad="38100" dist="38100" dir="2700000" algn="tl">
                    <a:srgbClr val="C0C0C0"/>
                  </a:outerShdw>
                </a:effectLst>
                <a:latin typeface="微软雅黑" pitchFamily="34" charset="-122"/>
                <a:ea typeface="微软雅黑" pitchFamily="34" charset="-122"/>
              </a:rPr>
              <a:t>寄存器里存放着数据的偏移地址</a:t>
            </a:r>
          </a:p>
          <a:p>
            <a:pPr lvl="1">
              <a:lnSpc>
                <a:spcPct val="110000"/>
              </a:lnSpc>
            </a:pPr>
            <a:r>
              <a:rPr lang="zh-CN" altLang="en-US" u="sng">
                <a:solidFill>
                  <a:srgbClr val="FF0000"/>
                </a:solidFill>
                <a:effectLst>
                  <a:outerShdw blurRad="38100" dist="38100" dir="2700000" algn="tl">
                    <a:srgbClr val="C0C0C0"/>
                  </a:outerShdw>
                </a:effectLst>
                <a:latin typeface="微软雅黑" pitchFamily="34" charset="-122"/>
                <a:ea typeface="微软雅黑" pitchFamily="34" charset="-122"/>
              </a:rPr>
              <a:t>用作间接操作数的寄存器使用时应先初始化</a:t>
            </a:r>
          </a:p>
          <a:p>
            <a:endParaRPr lang="en-US" altLang="zh-CN">
              <a:latin typeface="微软雅黑" pitchFamily="34" charset="-122"/>
              <a:ea typeface="微软雅黑" pitchFamily="34" charset="-122"/>
            </a:endParaRPr>
          </a:p>
        </p:txBody>
      </p:sp>
      <p:sp>
        <p:nvSpPr>
          <p:cNvPr id="274436" name="Text Box 4"/>
          <p:cNvSpPr txBox="1">
            <a:spLocks noChangeArrowheads="1"/>
          </p:cNvSpPr>
          <p:nvPr/>
        </p:nvSpPr>
        <p:spPr bwMode="auto">
          <a:xfrm>
            <a:off x="844550" y="4713288"/>
            <a:ext cx="7578725" cy="1776412"/>
          </a:xfrm>
          <a:prstGeom prst="rect">
            <a:avLst/>
          </a:prstGeom>
          <a:solidFill>
            <a:srgbClr val="99CCFF"/>
          </a:solidFill>
          <a:ln w="9525" algn="ctr">
            <a:solidFill>
              <a:schemeClr val="tx1"/>
            </a:solidFill>
            <a:miter lim="800000"/>
            <a:headEnd/>
            <a:tailEnd/>
          </a:ln>
        </p:spPr>
        <p:txBody>
          <a:bodyPr>
            <a:spAutoFit/>
          </a:bodyPr>
          <a:lstStyle/>
          <a:p>
            <a:pPr eaLnBrk="0" hangingPunct="0">
              <a:lnSpc>
                <a:spcPct val="110000"/>
              </a:lnSpc>
            </a:pPr>
            <a:r>
              <a:rPr lang="en-US" altLang="zh-CN" sz="2000" b="1" dirty="0">
                <a:latin typeface="微软雅黑" pitchFamily="34" charset="-122"/>
                <a:ea typeface="微软雅黑" pitchFamily="34" charset="-122"/>
              </a:rPr>
              <a:t>    .data</a:t>
            </a:r>
          </a:p>
          <a:p>
            <a:pPr eaLnBrk="0" hangingPunct="0">
              <a:lnSpc>
                <a:spcPct val="110000"/>
              </a:lnSpc>
            </a:pPr>
            <a:r>
              <a:rPr lang="en-US" altLang="zh-CN" sz="2000" b="1" dirty="0">
                <a:latin typeface="微软雅黑" pitchFamily="34" charset="-122"/>
                <a:ea typeface="微软雅黑" pitchFamily="34" charset="-122"/>
              </a:rPr>
              <a:t>      var1   BYTE  10h, 20h, 30h</a:t>
            </a:r>
          </a:p>
          <a:p>
            <a:pPr eaLnBrk="0" hangingPunct="0">
              <a:lnSpc>
                <a:spcPct val="110000"/>
              </a:lnSpc>
            </a:pPr>
            <a:r>
              <a:rPr lang="en-US" altLang="zh-CN" sz="2000" b="1" dirty="0">
                <a:latin typeface="微软雅黑" pitchFamily="34" charset="-122"/>
                <a:ea typeface="微软雅黑" pitchFamily="34" charset="-122"/>
              </a:rPr>
              <a:t>    .code</a:t>
            </a:r>
          </a:p>
          <a:p>
            <a:pPr eaLnBrk="0" hangingPunct="0">
              <a:lnSpc>
                <a:spcPct val="110000"/>
              </a:lnSpc>
            </a:pPr>
            <a:r>
              <a:rPr lang="en-US" altLang="zh-CN" sz="2000" b="1" dirty="0">
                <a:latin typeface="微软雅黑" pitchFamily="34" charset="-122"/>
                <a:ea typeface="微软雅黑" pitchFamily="34" charset="-122"/>
              </a:rPr>
              <a:t>      MOV   </a:t>
            </a:r>
            <a:r>
              <a:rPr lang="en-US" altLang="zh-CN" sz="2000" b="1" dirty="0" err="1">
                <a:latin typeface="微软雅黑" pitchFamily="34" charset="-122"/>
                <a:ea typeface="微软雅黑" pitchFamily="34" charset="-122"/>
              </a:rPr>
              <a:t>esi</a:t>
            </a:r>
            <a:r>
              <a:rPr lang="en-US" altLang="zh-CN" sz="2000" b="1" dirty="0">
                <a:latin typeface="微软雅黑" pitchFamily="34" charset="-122"/>
                <a:ea typeface="微软雅黑" pitchFamily="34" charset="-122"/>
              </a:rPr>
              <a:t>, offset var1</a:t>
            </a:r>
          </a:p>
          <a:p>
            <a:pPr eaLnBrk="0" hangingPunct="0">
              <a:lnSpc>
                <a:spcPct val="110000"/>
              </a:lnSpc>
            </a:pPr>
            <a:r>
              <a:rPr lang="en-US" altLang="zh-CN" sz="2000" b="1" dirty="0">
                <a:latin typeface="微软雅黑" pitchFamily="34" charset="-122"/>
                <a:ea typeface="微软雅黑" pitchFamily="34" charset="-122"/>
              </a:rPr>
              <a:t>      MOV   al, [</a:t>
            </a:r>
            <a:r>
              <a:rPr lang="en-US" altLang="zh-CN" sz="2000" b="1" dirty="0" err="1">
                <a:latin typeface="微软雅黑" pitchFamily="34" charset="-122"/>
                <a:ea typeface="微软雅黑" pitchFamily="34" charset="-122"/>
              </a:rPr>
              <a:t>esi</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lstStyle/>
          <a:p>
            <a:r>
              <a:rPr kumimoji="1" lang="zh-CN" altLang="en-US" sz="3500">
                <a:solidFill>
                  <a:srgbClr val="FF0000"/>
                </a:solidFill>
                <a:latin typeface="微软雅黑" pitchFamily="34" charset="-122"/>
                <a:ea typeface="微软雅黑" pitchFamily="34" charset="-122"/>
              </a:rPr>
              <a:t>寄存器间接寻址方式</a:t>
            </a:r>
            <a:r>
              <a:rPr lang="zh-CN" altLang="en-US"/>
              <a:t> </a:t>
            </a:r>
          </a:p>
        </p:txBody>
      </p:sp>
      <p:sp>
        <p:nvSpPr>
          <p:cNvPr id="135171" name="Rectangle 3"/>
          <p:cNvSpPr>
            <a:spLocks noGrp="1" noChangeArrowheads="1"/>
          </p:cNvSpPr>
          <p:nvPr>
            <p:ph idx="1"/>
          </p:nvPr>
        </p:nvSpPr>
        <p:spPr>
          <a:xfrm>
            <a:off x="250825" y="1484313"/>
            <a:ext cx="5111750" cy="5040312"/>
          </a:xfrm>
        </p:spPr>
        <p:txBody>
          <a:bodyPr/>
          <a:lstStyle/>
          <a:p>
            <a:r>
              <a:rPr lang="zh-CN" altLang="en-US" dirty="0" smtClean="0"/>
              <a:t>例，</a:t>
            </a:r>
            <a:r>
              <a:rPr lang="zh-CN" altLang="en-US" dirty="0"/>
              <a:t>指令执行前：</a:t>
            </a:r>
          </a:p>
          <a:p>
            <a:pPr lvl="1"/>
            <a:r>
              <a:rPr lang="zh-CN" altLang="en-US" dirty="0"/>
              <a:t>（</a:t>
            </a:r>
            <a:r>
              <a:rPr lang="en-US" altLang="zh-CN" dirty="0"/>
              <a:t>ESI</a:t>
            </a:r>
            <a:r>
              <a:rPr lang="zh-CN" altLang="en-US" dirty="0"/>
              <a:t>）</a:t>
            </a:r>
            <a:r>
              <a:rPr lang="en-US" altLang="zh-CN" dirty="0"/>
              <a:t>=1002H</a:t>
            </a:r>
            <a:r>
              <a:rPr lang="zh-CN" altLang="en-US" dirty="0"/>
              <a:t>，</a:t>
            </a:r>
          </a:p>
          <a:p>
            <a:pPr lvl="1"/>
            <a:r>
              <a:rPr lang="zh-CN" altLang="en-US" dirty="0"/>
              <a:t>（</a:t>
            </a:r>
            <a:r>
              <a:rPr lang="en-US" altLang="zh-CN" dirty="0"/>
              <a:t>EBX</a:t>
            </a:r>
            <a:r>
              <a:rPr lang="zh-CN" altLang="en-US" dirty="0"/>
              <a:t>）</a:t>
            </a:r>
            <a:r>
              <a:rPr lang="en-US" altLang="zh-CN" dirty="0"/>
              <a:t>=4000H</a:t>
            </a:r>
            <a:r>
              <a:rPr lang="zh-CN" altLang="en-US" dirty="0"/>
              <a:t>，</a:t>
            </a:r>
          </a:p>
          <a:p>
            <a:pPr lvl="1"/>
            <a:r>
              <a:rPr lang="zh-CN" altLang="en-US" dirty="0"/>
              <a:t>（</a:t>
            </a:r>
            <a:r>
              <a:rPr lang="en-US" altLang="zh-CN" dirty="0"/>
              <a:t>ECX</a:t>
            </a:r>
            <a:r>
              <a:rPr lang="zh-CN" altLang="en-US" dirty="0"/>
              <a:t>）</a:t>
            </a:r>
            <a:r>
              <a:rPr lang="en-US" altLang="zh-CN" dirty="0"/>
              <a:t>=1000H</a:t>
            </a:r>
            <a:r>
              <a:rPr lang="zh-CN" altLang="en-US" dirty="0"/>
              <a:t>。</a:t>
            </a:r>
          </a:p>
          <a:p>
            <a:r>
              <a:rPr lang="en-US" altLang="zh-CN" dirty="0"/>
              <a:t>MOV AX</a:t>
            </a:r>
            <a:r>
              <a:rPr lang="zh-CN" altLang="en-US" dirty="0"/>
              <a:t>，</a:t>
            </a:r>
            <a:r>
              <a:rPr lang="en-US" altLang="zh-CN" dirty="0"/>
              <a:t>[ESI]</a:t>
            </a:r>
            <a:r>
              <a:rPr lang="en-US" altLang="zh-CN" sz="3400" dirty="0"/>
              <a:t> 	</a:t>
            </a:r>
          </a:p>
          <a:p>
            <a:pPr lvl="1">
              <a:buFont typeface="Wingdings" pitchFamily="2" charset="2"/>
              <a:buNone/>
            </a:pPr>
            <a:r>
              <a:rPr lang="en-US" altLang="zh-CN" sz="3000" dirty="0"/>
              <a:t>MOV AX</a:t>
            </a:r>
            <a:r>
              <a:rPr lang="zh-CN" altLang="en-US" sz="3000" dirty="0"/>
              <a:t>，</a:t>
            </a:r>
            <a:r>
              <a:rPr lang="en-US" altLang="zh-CN" sz="3000" dirty="0"/>
              <a:t>ES</a:t>
            </a:r>
            <a:r>
              <a:rPr lang="zh-CN" altLang="en-US" sz="3000" dirty="0"/>
              <a:t>：</a:t>
            </a:r>
            <a:r>
              <a:rPr lang="en-US" altLang="zh-CN" sz="3000" dirty="0"/>
              <a:t>[EBX]</a:t>
            </a:r>
          </a:p>
          <a:p>
            <a:pPr lvl="1">
              <a:buFont typeface="Wingdings" pitchFamily="2" charset="2"/>
              <a:buNone/>
            </a:pPr>
            <a:endParaRPr lang="en-US" altLang="zh-CN" sz="3000" dirty="0"/>
          </a:p>
          <a:p>
            <a:pPr lvl="1">
              <a:buFont typeface="Wingdings" pitchFamily="2" charset="2"/>
              <a:buNone/>
            </a:pPr>
            <a:r>
              <a:rPr lang="en-US" altLang="zh-CN" sz="3000" dirty="0"/>
              <a:t>MOV 	EAX</a:t>
            </a:r>
            <a:r>
              <a:rPr lang="zh-CN" altLang="en-US" sz="3000" dirty="0"/>
              <a:t>，</a:t>
            </a:r>
            <a:r>
              <a:rPr lang="en-US" altLang="zh-CN" sz="3000" dirty="0"/>
              <a:t>[ECX]</a:t>
            </a:r>
          </a:p>
        </p:txBody>
      </p:sp>
      <p:sp>
        <p:nvSpPr>
          <p:cNvPr id="135173" name="AutoShape 5"/>
          <p:cNvSpPr>
            <a:spLocks noChangeAspect="1" noChangeArrowheads="1"/>
          </p:cNvSpPr>
          <p:nvPr/>
        </p:nvSpPr>
        <p:spPr bwMode="auto">
          <a:xfrm>
            <a:off x="4229100" y="1484313"/>
            <a:ext cx="4914900" cy="3368675"/>
          </a:xfrm>
          <a:prstGeom prst="rect">
            <a:avLst/>
          </a:prstGeom>
          <a:noFill/>
          <a:ln w="9525">
            <a:noFill/>
            <a:miter lim="800000"/>
            <a:headEnd/>
            <a:tailEnd/>
          </a:ln>
        </p:spPr>
        <p:txBody>
          <a:bodyPr/>
          <a:lstStyle/>
          <a:p>
            <a:endParaRPr lang="zh-CN" altLang="en-US"/>
          </a:p>
        </p:txBody>
      </p:sp>
      <p:sp>
        <p:nvSpPr>
          <p:cNvPr id="135188" name="Rectangle 20"/>
          <p:cNvSpPr>
            <a:spLocks noChangeArrowheads="1"/>
          </p:cNvSpPr>
          <p:nvPr/>
        </p:nvSpPr>
        <p:spPr bwMode="auto">
          <a:xfrm>
            <a:off x="8532813" y="3419475"/>
            <a:ext cx="611187" cy="233363"/>
          </a:xfrm>
          <a:prstGeom prst="rect">
            <a:avLst/>
          </a:prstGeom>
          <a:noFill/>
          <a:ln w="9525">
            <a:noFill/>
            <a:miter lim="800000"/>
            <a:headEnd/>
            <a:tailEnd/>
          </a:ln>
        </p:spPr>
        <p:txBody>
          <a:bodyPr lIns="0" tIns="0" rIns="0" bIns="0"/>
          <a:lstStyle/>
          <a:p>
            <a:pPr algn="ctr"/>
            <a:r>
              <a:rPr lang="zh-CN" altLang="en-US" sz="1400">
                <a:latin typeface="Times New Roman" pitchFamily="18" charset="0"/>
              </a:rPr>
              <a:t>数据</a:t>
            </a:r>
            <a:endParaRPr lang="zh-CN" altLang="en-US" sz="1400">
              <a:latin typeface="Verdana" pitchFamily="34" charset="0"/>
            </a:endParaRPr>
          </a:p>
        </p:txBody>
      </p:sp>
      <p:grpSp>
        <p:nvGrpSpPr>
          <p:cNvPr id="2" name="Group 52"/>
          <p:cNvGrpSpPr>
            <a:grpSpLocks/>
          </p:cNvGrpSpPr>
          <p:nvPr/>
        </p:nvGrpSpPr>
        <p:grpSpPr bwMode="auto">
          <a:xfrm>
            <a:off x="4787900" y="1773238"/>
            <a:ext cx="4051300" cy="3762375"/>
            <a:chOff x="3016" y="1117"/>
            <a:chExt cx="2552" cy="2370"/>
          </a:xfrm>
        </p:grpSpPr>
        <p:sp>
          <p:nvSpPr>
            <p:cNvPr id="135174" name="Rectangle 6"/>
            <p:cNvSpPr>
              <a:spLocks noChangeArrowheads="1"/>
            </p:cNvSpPr>
            <p:nvPr/>
          </p:nvSpPr>
          <p:spPr bwMode="auto">
            <a:xfrm>
              <a:off x="4374" y="2301"/>
              <a:ext cx="462" cy="149"/>
            </a:xfrm>
            <a:prstGeom prst="rect">
              <a:avLst/>
            </a:prstGeom>
            <a:noFill/>
            <a:ln w="9525">
              <a:solidFill>
                <a:srgbClr val="000000"/>
              </a:solidFill>
              <a:miter lim="800000"/>
              <a:headEnd/>
              <a:tailEnd/>
            </a:ln>
          </p:spPr>
          <p:txBody>
            <a:bodyPr lIns="0" tIns="0" rIns="0" bIns="0"/>
            <a:lstStyle/>
            <a:p>
              <a:pPr algn="ctr"/>
              <a:r>
                <a:rPr lang="en-US" altLang="zh-CN" sz="1400">
                  <a:latin typeface="Times New Roman" pitchFamily="18" charset="0"/>
                </a:rPr>
                <a:t>FF</a:t>
              </a:r>
              <a:endParaRPr lang="en-US" altLang="zh-CN" sz="1400">
                <a:latin typeface="Verdana" pitchFamily="34" charset="0"/>
              </a:endParaRPr>
            </a:p>
          </p:txBody>
        </p:sp>
        <p:sp>
          <p:nvSpPr>
            <p:cNvPr id="135175" name="Rectangle 7"/>
            <p:cNvSpPr>
              <a:spLocks noChangeArrowheads="1"/>
            </p:cNvSpPr>
            <p:nvPr/>
          </p:nvSpPr>
          <p:spPr bwMode="auto">
            <a:xfrm>
              <a:off x="4374" y="2784"/>
              <a:ext cx="462" cy="149"/>
            </a:xfrm>
            <a:prstGeom prst="rect">
              <a:avLst/>
            </a:prstGeom>
            <a:noFill/>
            <a:ln w="9525">
              <a:solidFill>
                <a:srgbClr val="000000"/>
              </a:solidFill>
              <a:miter lim="800000"/>
              <a:headEnd/>
              <a:tailEnd/>
            </a:ln>
          </p:spPr>
          <p:txBody>
            <a:bodyPr lIns="0" tIns="0" rIns="0" bIns="0"/>
            <a:lstStyle/>
            <a:p>
              <a:pPr algn="ctr"/>
              <a:r>
                <a:rPr lang="en-US" altLang="zh-CN" sz="1000">
                  <a:latin typeface="宋体" pitchFamily="2" charset="-122"/>
                </a:rPr>
                <a:t>┇</a:t>
              </a:r>
              <a:endParaRPr lang="en-US" altLang="zh-CN" sz="1000">
                <a:latin typeface="Times New Roman" pitchFamily="18" charset="0"/>
              </a:endParaRPr>
            </a:p>
            <a:p>
              <a:endParaRPr lang="en-US" altLang="zh-CN">
                <a:latin typeface="Verdana" pitchFamily="34" charset="0"/>
              </a:endParaRPr>
            </a:p>
          </p:txBody>
        </p:sp>
        <p:sp>
          <p:nvSpPr>
            <p:cNvPr id="135176" name="Rectangle 8"/>
            <p:cNvSpPr>
              <a:spLocks noChangeArrowheads="1"/>
            </p:cNvSpPr>
            <p:nvPr/>
          </p:nvSpPr>
          <p:spPr bwMode="auto">
            <a:xfrm>
              <a:off x="4374" y="2933"/>
              <a:ext cx="462" cy="148"/>
            </a:xfrm>
            <a:prstGeom prst="rect">
              <a:avLst/>
            </a:prstGeom>
            <a:noFill/>
            <a:ln w="9525">
              <a:solidFill>
                <a:srgbClr val="000000"/>
              </a:solidFill>
              <a:miter lim="800000"/>
              <a:headEnd/>
              <a:tailEnd/>
            </a:ln>
          </p:spPr>
          <p:txBody>
            <a:bodyPr lIns="0" tIns="0" rIns="0" bIns="0"/>
            <a:lstStyle/>
            <a:p>
              <a:pPr algn="ctr"/>
              <a:r>
                <a:rPr lang="en-US" altLang="zh-CN" sz="1000">
                  <a:latin typeface="Times New Roman" pitchFamily="18" charset="0"/>
                </a:rPr>
                <a:t>20</a:t>
              </a:r>
              <a:endParaRPr lang="en-US" altLang="zh-CN">
                <a:latin typeface="Verdana" pitchFamily="34" charset="0"/>
              </a:endParaRPr>
            </a:p>
          </p:txBody>
        </p:sp>
        <p:sp>
          <p:nvSpPr>
            <p:cNvPr id="135177" name="Line 9"/>
            <p:cNvSpPr>
              <a:spLocks noChangeShapeType="1"/>
            </p:cNvSpPr>
            <p:nvPr/>
          </p:nvSpPr>
          <p:spPr bwMode="auto">
            <a:xfrm>
              <a:off x="4374" y="1117"/>
              <a:ext cx="0" cy="1555"/>
            </a:xfrm>
            <a:prstGeom prst="line">
              <a:avLst/>
            </a:prstGeom>
            <a:noFill/>
            <a:ln w="9525">
              <a:solidFill>
                <a:srgbClr val="000000"/>
              </a:solidFill>
              <a:round/>
              <a:headEnd/>
              <a:tailEnd/>
            </a:ln>
          </p:spPr>
          <p:txBody>
            <a:bodyPr/>
            <a:lstStyle/>
            <a:p>
              <a:endParaRPr lang="zh-CN" altLang="en-US"/>
            </a:p>
          </p:txBody>
        </p:sp>
        <p:sp>
          <p:nvSpPr>
            <p:cNvPr id="135178" name="Line 10"/>
            <p:cNvSpPr>
              <a:spLocks noChangeShapeType="1"/>
            </p:cNvSpPr>
            <p:nvPr/>
          </p:nvSpPr>
          <p:spPr bwMode="auto">
            <a:xfrm>
              <a:off x="4836" y="1117"/>
              <a:ext cx="0" cy="1555"/>
            </a:xfrm>
            <a:prstGeom prst="line">
              <a:avLst/>
            </a:prstGeom>
            <a:noFill/>
            <a:ln w="9525">
              <a:solidFill>
                <a:srgbClr val="000000"/>
              </a:solidFill>
              <a:round/>
              <a:headEnd/>
              <a:tailEnd/>
            </a:ln>
          </p:spPr>
          <p:txBody>
            <a:bodyPr/>
            <a:lstStyle/>
            <a:p>
              <a:endParaRPr lang="zh-CN" altLang="en-US"/>
            </a:p>
          </p:txBody>
        </p:sp>
        <p:sp>
          <p:nvSpPr>
            <p:cNvPr id="135179" name="Line 11"/>
            <p:cNvSpPr>
              <a:spLocks noChangeShapeType="1"/>
            </p:cNvSpPr>
            <p:nvPr/>
          </p:nvSpPr>
          <p:spPr bwMode="auto">
            <a:xfrm>
              <a:off x="3341" y="2933"/>
              <a:ext cx="1" cy="222"/>
            </a:xfrm>
            <a:prstGeom prst="line">
              <a:avLst/>
            </a:prstGeom>
            <a:noFill/>
            <a:ln w="9525">
              <a:solidFill>
                <a:srgbClr val="000000"/>
              </a:solidFill>
              <a:round/>
              <a:headEnd type="triangle" w="med" len="med"/>
              <a:tailEnd/>
            </a:ln>
          </p:spPr>
          <p:txBody>
            <a:bodyPr/>
            <a:lstStyle/>
            <a:p>
              <a:endParaRPr lang="zh-CN" altLang="en-US"/>
            </a:p>
          </p:txBody>
        </p:sp>
        <p:sp>
          <p:nvSpPr>
            <p:cNvPr id="135180" name="Line 12"/>
            <p:cNvSpPr>
              <a:spLocks noChangeShapeType="1"/>
            </p:cNvSpPr>
            <p:nvPr/>
          </p:nvSpPr>
          <p:spPr bwMode="auto">
            <a:xfrm>
              <a:off x="3347" y="3155"/>
              <a:ext cx="1078" cy="1"/>
            </a:xfrm>
            <a:prstGeom prst="line">
              <a:avLst/>
            </a:prstGeom>
            <a:noFill/>
            <a:ln w="9525">
              <a:solidFill>
                <a:srgbClr val="000000"/>
              </a:solidFill>
              <a:round/>
              <a:headEnd/>
              <a:tailEnd type="oval" w="med" len="med"/>
            </a:ln>
            <a:effectLst/>
          </p:spPr>
          <p:txBody>
            <a:bodyPr lIns="0" tIns="0" rIns="0" bIns="0"/>
            <a:lstStyle/>
            <a:p>
              <a:endParaRPr lang="zh-CN" altLang="en-US"/>
            </a:p>
          </p:txBody>
        </p:sp>
        <p:sp>
          <p:nvSpPr>
            <p:cNvPr id="135181" name="Line 13"/>
            <p:cNvSpPr>
              <a:spLocks noChangeShapeType="1"/>
            </p:cNvSpPr>
            <p:nvPr/>
          </p:nvSpPr>
          <p:spPr bwMode="auto">
            <a:xfrm flipH="1">
              <a:off x="3572" y="3008"/>
              <a:ext cx="847" cy="0"/>
            </a:xfrm>
            <a:prstGeom prst="line">
              <a:avLst/>
            </a:prstGeom>
            <a:noFill/>
            <a:ln w="9525">
              <a:solidFill>
                <a:srgbClr val="000000"/>
              </a:solidFill>
              <a:round/>
              <a:headEnd type="oval" w="med" len="med"/>
              <a:tailEnd/>
            </a:ln>
          </p:spPr>
          <p:txBody>
            <a:bodyPr/>
            <a:lstStyle/>
            <a:p>
              <a:endParaRPr lang="zh-CN" altLang="en-US"/>
            </a:p>
          </p:txBody>
        </p:sp>
        <p:sp>
          <p:nvSpPr>
            <p:cNvPr id="135182" name="Line 14"/>
            <p:cNvSpPr>
              <a:spLocks noChangeShapeType="1"/>
            </p:cNvSpPr>
            <p:nvPr/>
          </p:nvSpPr>
          <p:spPr bwMode="auto">
            <a:xfrm flipV="1">
              <a:off x="3572" y="2933"/>
              <a:ext cx="0" cy="75"/>
            </a:xfrm>
            <a:prstGeom prst="line">
              <a:avLst/>
            </a:prstGeom>
            <a:noFill/>
            <a:ln w="9525">
              <a:solidFill>
                <a:srgbClr val="000000"/>
              </a:solidFill>
              <a:round/>
              <a:headEnd/>
              <a:tailEnd type="triangle" w="med" len="med"/>
            </a:ln>
          </p:spPr>
          <p:txBody>
            <a:bodyPr/>
            <a:lstStyle/>
            <a:p>
              <a:endParaRPr lang="zh-CN" altLang="en-US"/>
            </a:p>
          </p:txBody>
        </p:sp>
        <p:sp>
          <p:nvSpPr>
            <p:cNvPr id="135183" name="Rectangle 15"/>
            <p:cNvSpPr>
              <a:spLocks noChangeArrowheads="1"/>
            </p:cNvSpPr>
            <p:nvPr/>
          </p:nvSpPr>
          <p:spPr bwMode="auto">
            <a:xfrm>
              <a:off x="4374" y="3081"/>
              <a:ext cx="462" cy="148"/>
            </a:xfrm>
            <a:prstGeom prst="rect">
              <a:avLst/>
            </a:prstGeom>
            <a:noFill/>
            <a:ln w="9525">
              <a:solidFill>
                <a:srgbClr val="000000"/>
              </a:solidFill>
              <a:miter lim="800000"/>
              <a:headEnd/>
              <a:tailEnd/>
            </a:ln>
          </p:spPr>
          <p:txBody>
            <a:bodyPr lIns="0" tIns="0" rIns="0" bIns="0"/>
            <a:lstStyle/>
            <a:p>
              <a:pPr algn="ctr"/>
              <a:r>
                <a:rPr lang="en-US" altLang="zh-CN" sz="1000">
                  <a:latin typeface="Times New Roman" pitchFamily="18" charset="0"/>
                </a:rPr>
                <a:t>FF</a:t>
              </a:r>
              <a:endParaRPr lang="en-US" altLang="zh-CN">
                <a:latin typeface="Verdana" pitchFamily="34" charset="0"/>
              </a:endParaRPr>
            </a:p>
          </p:txBody>
        </p:sp>
        <p:sp>
          <p:nvSpPr>
            <p:cNvPr id="135184" name="Rectangle 16"/>
            <p:cNvSpPr>
              <a:spLocks noChangeArrowheads="1"/>
            </p:cNvSpPr>
            <p:nvPr/>
          </p:nvSpPr>
          <p:spPr bwMode="auto">
            <a:xfrm>
              <a:off x="3989" y="2859"/>
              <a:ext cx="385" cy="149"/>
            </a:xfrm>
            <a:prstGeom prst="rect">
              <a:avLst/>
            </a:prstGeom>
            <a:noFill/>
            <a:ln w="9525">
              <a:noFill/>
              <a:miter lim="800000"/>
              <a:headEnd/>
              <a:tailEnd/>
            </a:ln>
          </p:spPr>
          <p:txBody>
            <a:bodyPr lIns="0" tIns="0" rIns="0" bIns="0"/>
            <a:lstStyle/>
            <a:p>
              <a:pPr algn="just"/>
              <a:r>
                <a:rPr lang="en-US" altLang="zh-CN" sz="1400">
                  <a:latin typeface="Times New Roman" pitchFamily="18" charset="0"/>
                </a:rPr>
                <a:t>4000h</a:t>
              </a:r>
              <a:endParaRPr lang="en-US" altLang="zh-CN" sz="1400">
                <a:latin typeface="Verdana" pitchFamily="34" charset="0"/>
              </a:endParaRPr>
            </a:p>
          </p:txBody>
        </p:sp>
        <p:sp>
          <p:nvSpPr>
            <p:cNvPr id="135185" name="Rectangle 17"/>
            <p:cNvSpPr>
              <a:spLocks noChangeArrowheads="1"/>
            </p:cNvSpPr>
            <p:nvPr/>
          </p:nvSpPr>
          <p:spPr bwMode="auto">
            <a:xfrm>
              <a:off x="3065" y="3339"/>
              <a:ext cx="2233" cy="148"/>
            </a:xfrm>
            <a:prstGeom prst="rect">
              <a:avLst/>
            </a:prstGeom>
            <a:noFill/>
            <a:ln w="9525">
              <a:noFill/>
              <a:miter lim="800000"/>
              <a:headEnd/>
              <a:tailEnd/>
            </a:ln>
          </p:spPr>
          <p:txBody>
            <a:bodyPr lIns="0" tIns="0" rIns="0" bIns="0"/>
            <a:lstStyle/>
            <a:p>
              <a:pPr algn="ctr"/>
              <a:r>
                <a:rPr lang="zh-CN" altLang="en-US" sz="1400" dirty="0">
                  <a:latin typeface="Times New Roman" pitchFamily="18" charset="0"/>
                </a:rPr>
                <a:t>图</a:t>
              </a:r>
              <a:r>
                <a:rPr lang="en-US" altLang="zh-CN" sz="1400" dirty="0">
                  <a:latin typeface="Times New Roman" pitchFamily="18" charset="0"/>
                </a:rPr>
                <a:t>2.1.3	MOV AX</a:t>
              </a:r>
              <a:r>
                <a:rPr lang="zh-CN" altLang="en-US" sz="1400" dirty="0">
                  <a:latin typeface="Times New Roman" pitchFamily="18" charset="0"/>
                </a:rPr>
                <a:t>，</a:t>
              </a:r>
              <a:r>
                <a:rPr lang="en-US" altLang="zh-CN" sz="1400" dirty="0">
                  <a:latin typeface="Times New Roman" pitchFamily="18" charset="0"/>
                </a:rPr>
                <a:t>ES</a:t>
              </a:r>
              <a:r>
                <a:rPr lang="zh-CN" altLang="en-US" sz="1400" dirty="0">
                  <a:latin typeface="Times New Roman" pitchFamily="18" charset="0"/>
                </a:rPr>
                <a:t>：</a:t>
              </a:r>
              <a:r>
                <a:rPr lang="en-US" altLang="zh-CN" sz="1400" dirty="0">
                  <a:latin typeface="Times New Roman" pitchFamily="18" charset="0"/>
                </a:rPr>
                <a:t>[BX]</a:t>
              </a:r>
              <a:r>
                <a:rPr lang="zh-CN" altLang="en-US" sz="1400" dirty="0">
                  <a:latin typeface="Times New Roman" pitchFamily="18" charset="0"/>
                </a:rPr>
                <a:t>的执行情况</a:t>
              </a:r>
              <a:endParaRPr lang="zh-CN" altLang="en-US" sz="1400" dirty="0">
                <a:latin typeface="Verdana" pitchFamily="34" charset="0"/>
              </a:endParaRPr>
            </a:p>
          </p:txBody>
        </p:sp>
        <p:sp>
          <p:nvSpPr>
            <p:cNvPr id="135187" name="AutoShape 19"/>
            <p:cNvSpPr>
              <a:spLocks/>
            </p:cNvSpPr>
            <p:nvPr/>
          </p:nvSpPr>
          <p:spPr bwMode="auto">
            <a:xfrm>
              <a:off x="5183" y="1265"/>
              <a:ext cx="231" cy="1954"/>
            </a:xfrm>
            <a:prstGeom prst="rightBrace">
              <a:avLst>
                <a:gd name="adj1" fmla="val 70491"/>
                <a:gd name="adj2" fmla="val 50000"/>
              </a:avLst>
            </a:prstGeom>
            <a:noFill/>
            <a:ln w="9525">
              <a:solidFill>
                <a:srgbClr val="000000"/>
              </a:solidFill>
              <a:round/>
              <a:headEnd/>
              <a:tailEnd/>
            </a:ln>
          </p:spPr>
          <p:txBody>
            <a:bodyPr/>
            <a:lstStyle/>
            <a:p>
              <a:endParaRPr lang="zh-CN" altLang="en-US"/>
            </a:p>
          </p:txBody>
        </p:sp>
        <p:sp>
          <p:nvSpPr>
            <p:cNvPr id="135189" name="Rectangle 21"/>
            <p:cNvSpPr>
              <a:spLocks noChangeArrowheads="1"/>
            </p:cNvSpPr>
            <p:nvPr/>
          </p:nvSpPr>
          <p:spPr bwMode="auto">
            <a:xfrm>
              <a:off x="4374" y="2450"/>
              <a:ext cx="462" cy="148"/>
            </a:xfrm>
            <a:prstGeom prst="rect">
              <a:avLst/>
            </a:prstGeom>
            <a:noFill/>
            <a:ln w="9525">
              <a:solidFill>
                <a:srgbClr val="000000"/>
              </a:solidFill>
              <a:miter lim="800000"/>
              <a:headEnd/>
              <a:tailEnd/>
            </a:ln>
          </p:spPr>
          <p:txBody>
            <a:bodyPr lIns="0" tIns="0" rIns="0" bIns="0"/>
            <a:lstStyle/>
            <a:p>
              <a:pPr algn="ctr"/>
              <a:r>
                <a:rPr lang="en-US" altLang="zh-CN" sz="1400">
                  <a:latin typeface="Times New Roman" pitchFamily="18" charset="0"/>
                </a:rPr>
                <a:t>0F</a:t>
              </a:r>
              <a:endParaRPr lang="en-US" altLang="zh-CN" sz="1400">
                <a:latin typeface="Verdana" pitchFamily="34" charset="0"/>
              </a:endParaRPr>
            </a:p>
          </p:txBody>
        </p:sp>
        <p:sp>
          <p:nvSpPr>
            <p:cNvPr id="135190" name="Rectangle 22"/>
            <p:cNvSpPr>
              <a:spLocks noChangeArrowheads="1"/>
            </p:cNvSpPr>
            <p:nvPr/>
          </p:nvSpPr>
          <p:spPr bwMode="auto">
            <a:xfrm>
              <a:off x="3764" y="1346"/>
              <a:ext cx="610" cy="141"/>
            </a:xfrm>
            <a:prstGeom prst="rect">
              <a:avLst/>
            </a:prstGeom>
            <a:noFill/>
            <a:ln w="9525">
              <a:noFill/>
              <a:miter lim="800000"/>
              <a:headEnd/>
              <a:tailEnd/>
            </a:ln>
          </p:spPr>
          <p:txBody>
            <a:bodyPr lIns="0" tIns="0" rIns="0" bIns="0"/>
            <a:lstStyle/>
            <a:p>
              <a:pPr algn="r"/>
              <a:r>
                <a:rPr lang="en-US" altLang="zh-CN" sz="1400">
                  <a:latin typeface="Times New Roman" pitchFamily="18" charset="0"/>
                </a:rPr>
                <a:t>1000h</a:t>
              </a:r>
              <a:endParaRPr lang="en-US" altLang="zh-CN" sz="1400">
                <a:latin typeface="Verdana" pitchFamily="34" charset="0"/>
              </a:endParaRPr>
            </a:p>
          </p:txBody>
        </p:sp>
        <p:sp>
          <p:nvSpPr>
            <p:cNvPr id="135191" name="Rectangle 23"/>
            <p:cNvSpPr>
              <a:spLocks noChangeArrowheads="1"/>
            </p:cNvSpPr>
            <p:nvPr/>
          </p:nvSpPr>
          <p:spPr bwMode="auto">
            <a:xfrm>
              <a:off x="3989" y="2711"/>
              <a:ext cx="385" cy="148"/>
            </a:xfrm>
            <a:prstGeom prst="rect">
              <a:avLst/>
            </a:prstGeom>
            <a:noFill/>
            <a:ln w="9525">
              <a:noFill/>
              <a:miter lim="800000"/>
              <a:headEnd/>
              <a:tailEnd/>
            </a:ln>
          </p:spPr>
          <p:txBody>
            <a:bodyPr lIns="0" tIns="0" rIns="0" bIns="0"/>
            <a:lstStyle/>
            <a:p>
              <a:pPr algn="just"/>
              <a:r>
                <a:rPr lang="en-US" altLang="zh-CN" sz="1400">
                  <a:latin typeface="Times New Roman" pitchFamily="18" charset="0"/>
                </a:rPr>
                <a:t>0h</a:t>
              </a:r>
              <a:endParaRPr lang="en-US" altLang="zh-CN" sz="1400">
                <a:latin typeface="Verdana" pitchFamily="34" charset="0"/>
              </a:endParaRPr>
            </a:p>
          </p:txBody>
        </p:sp>
        <p:sp>
          <p:nvSpPr>
            <p:cNvPr id="135192" name="Rectangle 24"/>
            <p:cNvSpPr>
              <a:spLocks noChangeArrowheads="1"/>
            </p:cNvSpPr>
            <p:nvPr/>
          </p:nvSpPr>
          <p:spPr bwMode="auto">
            <a:xfrm>
              <a:off x="4374" y="1858"/>
              <a:ext cx="462" cy="148"/>
            </a:xfrm>
            <a:prstGeom prst="rect">
              <a:avLst/>
            </a:prstGeom>
            <a:noFill/>
            <a:ln w="9525">
              <a:solidFill>
                <a:srgbClr val="000000"/>
              </a:solidFill>
              <a:miter lim="800000"/>
              <a:headEnd/>
              <a:tailEnd/>
            </a:ln>
          </p:spPr>
          <p:txBody>
            <a:bodyPr lIns="0" tIns="0" rIns="0" bIns="0"/>
            <a:lstStyle/>
            <a:p>
              <a:pPr algn="ctr"/>
              <a:r>
                <a:rPr lang="en-US" altLang="zh-CN" sz="1400" dirty="0">
                  <a:latin typeface="Times New Roman" pitchFamily="18" charset="0"/>
                </a:rPr>
                <a:t>FF</a:t>
              </a:r>
              <a:endParaRPr lang="en-US" altLang="zh-CN" sz="1400" dirty="0">
                <a:latin typeface="Verdana" pitchFamily="34" charset="0"/>
              </a:endParaRPr>
            </a:p>
          </p:txBody>
        </p:sp>
        <p:sp>
          <p:nvSpPr>
            <p:cNvPr id="135193" name="Rectangle 25"/>
            <p:cNvSpPr>
              <a:spLocks noChangeArrowheads="1"/>
            </p:cNvSpPr>
            <p:nvPr/>
          </p:nvSpPr>
          <p:spPr bwMode="auto">
            <a:xfrm>
              <a:off x="4374" y="1117"/>
              <a:ext cx="462" cy="148"/>
            </a:xfrm>
            <a:prstGeom prst="rect">
              <a:avLst/>
            </a:prstGeom>
            <a:noFill/>
            <a:ln w="9525">
              <a:noFill/>
              <a:miter lim="800000"/>
              <a:headEnd/>
              <a:tailEnd/>
            </a:ln>
          </p:spPr>
          <p:txBody>
            <a:bodyPr lIns="0" tIns="0" rIns="0" bIns="0"/>
            <a:lstStyle/>
            <a:p>
              <a:pPr algn="ctr"/>
              <a:r>
                <a:rPr lang="zh-CN" altLang="en-US" sz="1400">
                  <a:latin typeface="Times New Roman" pitchFamily="18" charset="0"/>
                </a:rPr>
                <a:t>存储器</a:t>
              </a:r>
              <a:endParaRPr lang="zh-CN" altLang="en-US" sz="1400">
                <a:latin typeface="Verdana" pitchFamily="34" charset="0"/>
              </a:endParaRPr>
            </a:p>
          </p:txBody>
        </p:sp>
        <p:sp>
          <p:nvSpPr>
            <p:cNvPr id="135194" name="Rectangle 26"/>
            <p:cNvSpPr>
              <a:spLocks noChangeArrowheads="1"/>
            </p:cNvSpPr>
            <p:nvPr/>
          </p:nvSpPr>
          <p:spPr bwMode="auto">
            <a:xfrm>
              <a:off x="4374" y="2006"/>
              <a:ext cx="462" cy="148"/>
            </a:xfrm>
            <a:prstGeom prst="rect">
              <a:avLst/>
            </a:prstGeom>
            <a:noFill/>
            <a:ln w="9525">
              <a:solidFill>
                <a:srgbClr val="000000"/>
              </a:solidFill>
              <a:miter lim="800000"/>
              <a:headEnd/>
              <a:tailEnd/>
            </a:ln>
          </p:spPr>
          <p:txBody>
            <a:bodyPr lIns="0" tIns="0" rIns="0" bIns="0"/>
            <a:lstStyle/>
            <a:p>
              <a:pPr algn="ctr"/>
              <a:r>
                <a:rPr lang="en-US" altLang="zh-CN" sz="1400">
                  <a:latin typeface="Times New Roman" pitchFamily="18" charset="0"/>
                </a:rPr>
                <a:t>00</a:t>
              </a:r>
              <a:endParaRPr lang="en-US" altLang="zh-CN" sz="1400">
                <a:latin typeface="Verdana" pitchFamily="34" charset="0"/>
              </a:endParaRPr>
            </a:p>
          </p:txBody>
        </p:sp>
        <p:sp>
          <p:nvSpPr>
            <p:cNvPr id="135195" name="Rectangle 27"/>
            <p:cNvSpPr>
              <a:spLocks noChangeArrowheads="1"/>
            </p:cNvSpPr>
            <p:nvPr/>
          </p:nvSpPr>
          <p:spPr bwMode="auto">
            <a:xfrm>
              <a:off x="4374" y="2154"/>
              <a:ext cx="462" cy="147"/>
            </a:xfrm>
            <a:prstGeom prst="rect">
              <a:avLst/>
            </a:prstGeom>
            <a:noFill/>
            <a:ln w="9525">
              <a:solidFill>
                <a:srgbClr val="000000"/>
              </a:solidFill>
              <a:miter lim="800000"/>
              <a:headEnd/>
              <a:tailEnd/>
            </a:ln>
          </p:spPr>
          <p:txBody>
            <a:bodyPr lIns="0" tIns="0" rIns="0" bIns="0"/>
            <a:lstStyle/>
            <a:p>
              <a:pPr algn="ctr"/>
              <a:r>
                <a:rPr lang="en-US" altLang="zh-CN" sz="1400">
                  <a:latin typeface="Times New Roman" pitchFamily="18" charset="0"/>
                </a:rPr>
                <a:t>10</a:t>
              </a:r>
              <a:endParaRPr lang="en-US" altLang="zh-CN" sz="1400">
                <a:latin typeface="Verdana" pitchFamily="34" charset="0"/>
              </a:endParaRPr>
            </a:p>
          </p:txBody>
        </p:sp>
        <p:grpSp>
          <p:nvGrpSpPr>
            <p:cNvPr id="3" name="Group 28"/>
            <p:cNvGrpSpPr>
              <a:grpSpLocks/>
            </p:cNvGrpSpPr>
            <p:nvPr/>
          </p:nvGrpSpPr>
          <p:grpSpPr bwMode="auto">
            <a:xfrm>
              <a:off x="4336" y="2598"/>
              <a:ext cx="1232" cy="445"/>
              <a:chOff x="6810" y="11548"/>
              <a:chExt cx="2880" cy="936"/>
            </a:xfrm>
          </p:grpSpPr>
          <p:sp>
            <p:nvSpPr>
              <p:cNvPr id="135197" name="Text Box 29"/>
              <p:cNvSpPr txBox="1">
                <a:spLocks noChangeArrowheads="1"/>
              </p:cNvSpPr>
              <p:nvPr/>
            </p:nvSpPr>
            <p:spPr bwMode="auto">
              <a:xfrm>
                <a:off x="6810" y="11548"/>
                <a:ext cx="2880" cy="936"/>
              </a:xfrm>
              <a:prstGeom prst="rect">
                <a:avLst/>
              </a:prstGeom>
              <a:noFill/>
              <a:ln w="9525">
                <a:noFill/>
                <a:miter lim="800000"/>
                <a:headEnd/>
                <a:tailEnd/>
              </a:ln>
            </p:spPr>
            <p:txBody>
              <a:bodyPr lIns="0" tIns="0" rIns="0" bIns="0"/>
              <a:lstStyle/>
              <a:p>
                <a:pPr algn="just"/>
                <a:r>
                  <a:rPr lang="zh-CN" altLang="en-US" sz="1000">
                    <a:latin typeface="Times New Roman" pitchFamily="18" charset="0"/>
                  </a:rPr>
                  <a:t>～		  ～</a:t>
                </a:r>
                <a:endParaRPr lang="zh-CN" altLang="en-US">
                  <a:latin typeface="Verdana" pitchFamily="34" charset="0"/>
                </a:endParaRPr>
              </a:p>
            </p:txBody>
          </p:sp>
          <p:sp>
            <p:nvSpPr>
              <p:cNvPr id="135198" name="Text Box 30"/>
              <p:cNvSpPr txBox="1">
                <a:spLocks noChangeArrowheads="1"/>
              </p:cNvSpPr>
              <p:nvPr/>
            </p:nvSpPr>
            <p:spPr bwMode="auto">
              <a:xfrm>
                <a:off x="6810" y="11602"/>
                <a:ext cx="1800" cy="258"/>
              </a:xfrm>
              <a:prstGeom prst="rect">
                <a:avLst/>
              </a:prstGeom>
              <a:noFill/>
              <a:ln w="9525">
                <a:noFill/>
                <a:miter lim="800000"/>
                <a:headEnd/>
                <a:tailEnd/>
              </a:ln>
            </p:spPr>
            <p:txBody>
              <a:bodyPr lIns="0" tIns="0" rIns="0" bIns="0"/>
              <a:lstStyle/>
              <a:p>
                <a:pPr algn="just"/>
                <a:r>
                  <a:rPr lang="zh-CN" altLang="en-US" sz="1400">
                    <a:latin typeface="Times New Roman" pitchFamily="18" charset="0"/>
                  </a:rPr>
                  <a:t>～		  ～					</a:t>
                </a:r>
                <a:endParaRPr lang="zh-CN" altLang="en-US" sz="1400">
                  <a:latin typeface="Verdana" pitchFamily="34" charset="0"/>
                </a:endParaRPr>
              </a:p>
            </p:txBody>
          </p:sp>
        </p:grpSp>
        <p:sp>
          <p:nvSpPr>
            <p:cNvPr id="135199" name="Line 31"/>
            <p:cNvSpPr>
              <a:spLocks noChangeShapeType="1"/>
            </p:cNvSpPr>
            <p:nvPr/>
          </p:nvSpPr>
          <p:spPr bwMode="auto">
            <a:xfrm flipV="1">
              <a:off x="4374" y="2711"/>
              <a:ext cx="0" cy="624"/>
            </a:xfrm>
            <a:prstGeom prst="line">
              <a:avLst/>
            </a:prstGeom>
            <a:noFill/>
            <a:ln w="9525">
              <a:solidFill>
                <a:srgbClr val="000000"/>
              </a:solidFill>
              <a:round/>
              <a:headEnd/>
              <a:tailEnd/>
            </a:ln>
          </p:spPr>
          <p:txBody>
            <a:bodyPr/>
            <a:lstStyle/>
            <a:p>
              <a:endParaRPr lang="zh-CN" altLang="en-US"/>
            </a:p>
          </p:txBody>
        </p:sp>
        <p:sp>
          <p:nvSpPr>
            <p:cNvPr id="135200" name="Line 32"/>
            <p:cNvSpPr>
              <a:spLocks noChangeShapeType="1"/>
            </p:cNvSpPr>
            <p:nvPr/>
          </p:nvSpPr>
          <p:spPr bwMode="auto">
            <a:xfrm flipV="1">
              <a:off x="4836" y="2711"/>
              <a:ext cx="0" cy="624"/>
            </a:xfrm>
            <a:prstGeom prst="line">
              <a:avLst/>
            </a:prstGeom>
            <a:noFill/>
            <a:ln w="9525">
              <a:solidFill>
                <a:srgbClr val="000000"/>
              </a:solidFill>
              <a:round/>
              <a:headEnd/>
              <a:tailEnd/>
            </a:ln>
          </p:spPr>
          <p:txBody>
            <a:bodyPr/>
            <a:lstStyle/>
            <a:p>
              <a:endParaRPr lang="zh-CN" altLang="en-US"/>
            </a:p>
          </p:txBody>
        </p:sp>
        <p:sp>
          <p:nvSpPr>
            <p:cNvPr id="135201" name="AutoShape 33"/>
            <p:cNvSpPr>
              <a:spLocks/>
            </p:cNvSpPr>
            <p:nvPr/>
          </p:nvSpPr>
          <p:spPr bwMode="auto">
            <a:xfrm>
              <a:off x="4836" y="1265"/>
              <a:ext cx="77" cy="1333"/>
            </a:xfrm>
            <a:prstGeom prst="rightBrace">
              <a:avLst>
                <a:gd name="adj1" fmla="val 144264"/>
                <a:gd name="adj2" fmla="val 50000"/>
              </a:avLst>
            </a:prstGeom>
            <a:noFill/>
            <a:ln w="9525">
              <a:solidFill>
                <a:srgbClr val="000000"/>
              </a:solidFill>
              <a:round/>
              <a:headEnd/>
              <a:tailEnd/>
            </a:ln>
          </p:spPr>
          <p:txBody>
            <a:bodyPr/>
            <a:lstStyle/>
            <a:p>
              <a:endParaRPr lang="zh-CN" altLang="en-US"/>
            </a:p>
          </p:txBody>
        </p:sp>
        <p:sp>
          <p:nvSpPr>
            <p:cNvPr id="135202" name="AutoShape 34"/>
            <p:cNvSpPr>
              <a:spLocks/>
            </p:cNvSpPr>
            <p:nvPr/>
          </p:nvSpPr>
          <p:spPr bwMode="auto">
            <a:xfrm>
              <a:off x="4836" y="2784"/>
              <a:ext cx="77" cy="445"/>
            </a:xfrm>
            <a:prstGeom prst="rightBrace">
              <a:avLst>
                <a:gd name="adj1" fmla="val 48160"/>
                <a:gd name="adj2" fmla="val 50000"/>
              </a:avLst>
            </a:prstGeom>
            <a:noFill/>
            <a:ln w="9525">
              <a:solidFill>
                <a:srgbClr val="000000"/>
              </a:solidFill>
              <a:round/>
              <a:headEnd/>
              <a:tailEnd/>
            </a:ln>
          </p:spPr>
          <p:txBody>
            <a:bodyPr/>
            <a:lstStyle/>
            <a:p>
              <a:endParaRPr lang="zh-CN" altLang="en-US"/>
            </a:p>
          </p:txBody>
        </p:sp>
        <p:sp>
          <p:nvSpPr>
            <p:cNvPr id="135203" name="Rectangle 35"/>
            <p:cNvSpPr>
              <a:spLocks noChangeArrowheads="1"/>
            </p:cNvSpPr>
            <p:nvPr/>
          </p:nvSpPr>
          <p:spPr bwMode="auto">
            <a:xfrm>
              <a:off x="4875" y="1858"/>
              <a:ext cx="462" cy="148"/>
            </a:xfrm>
            <a:prstGeom prst="rect">
              <a:avLst/>
            </a:prstGeom>
            <a:noFill/>
            <a:ln w="9525">
              <a:noFill/>
              <a:miter lim="800000"/>
              <a:headEnd/>
              <a:tailEnd/>
            </a:ln>
          </p:spPr>
          <p:txBody>
            <a:bodyPr lIns="0" tIns="0" rIns="0" bIns="0"/>
            <a:lstStyle/>
            <a:p>
              <a:pPr algn="ctr"/>
              <a:r>
                <a:rPr lang="en-US" altLang="zh-CN" sz="1400">
                  <a:latin typeface="Times New Roman" pitchFamily="18" charset="0"/>
                </a:rPr>
                <a:t>DS</a:t>
              </a:r>
              <a:r>
                <a:rPr lang="zh-CN" altLang="en-US" sz="1400">
                  <a:latin typeface="Times New Roman" pitchFamily="18" charset="0"/>
                </a:rPr>
                <a:t>数据段</a:t>
              </a:r>
              <a:endParaRPr lang="zh-CN" altLang="en-US" sz="1400">
                <a:latin typeface="Verdana" pitchFamily="34" charset="0"/>
              </a:endParaRPr>
            </a:p>
          </p:txBody>
        </p:sp>
        <p:sp>
          <p:nvSpPr>
            <p:cNvPr id="135204" name="Rectangle 36"/>
            <p:cNvSpPr>
              <a:spLocks noChangeArrowheads="1"/>
            </p:cNvSpPr>
            <p:nvPr/>
          </p:nvSpPr>
          <p:spPr bwMode="auto">
            <a:xfrm>
              <a:off x="4868" y="2933"/>
              <a:ext cx="462" cy="148"/>
            </a:xfrm>
            <a:prstGeom prst="rect">
              <a:avLst/>
            </a:prstGeom>
            <a:noFill/>
            <a:ln w="9525">
              <a:noFill/>
              <a:miter lim="800000"/>
              <a:headEnd/>
              <a:tailEnd/>
            </a:ln>
          </p:spPr>
          <p:txBody>
            <a:bodyPr lIns="0" tIns="0" rIns="0" bIns="0"/>
            <a:lstStyle/>
            <a:p>
              <a:pPr algn="ctr"/>
              <a:r>
                <a:rPr lang="en-US" altLang="zh-CN" sz="1400">
                  <a:latin typeface="Times New Roman" pitchFamily="18" charset="0"/>
                </a:rPr>
                <a:t>ES</a:t>
              </a:r>
              <a:r>
                <a:rPr lang="zh-CN" altLang="en-US" sz="1400">
                  <a:latin typeface="Times New Roman" pitchFamily="18" charset="0"/>
                </a:rPr>
                <a:t>附加段</a:t>
              </a:r>
              <a:endParaRPr lang="zh-CN" altLang="en-US" sz="1400">
                <a:latin typeface="Verdana" pitchFamily="34" charset="0"/>
              </a:endParaRPr>
            </a:p>
          </p:txBody>
        </p:sp>
        <p:sp>
          <p:nvSpPr>
            <p:cNvPr id="135205" name="Rectangle 37"/>
            <p:cNvSpPr>
              <a:spLocks noChangeArrowheads="1"/>
            </p:cNvSpPr>
            <p:nvPr/>
          </p:nvSpPr>
          <p:spPr bwMode="auto">
            <a:xfrm>
              <a:off x="4374" y="1413"/>
              <a:ext cx="462" cy="148"/>
            </a:xfrm>
            <a:prstGeom prst="rect">
              <a:avLst/>
            </a:prstGeom>
            <a:noFill/>
            <a:ln w="9525">
              <a:solidFill>
                <a:srgbClr val="000000"/>
              </a:solidFill>
              <a:miter lim="800000"/>
              <a:headEnd/>
              <a:tailEnd/>
            </a:ln>
          </p:spPr>
          <p:txBody>
            <a:bodyPr lIns="0" tIns="0" rIns="0" bIns="0"/>
            <a:lstStyle/>
            <a:p>
              <a:pPr algn="ctr"/>
              <a:r>
                <a:rPr lang="en-US" altLang="zh-CN" sz="1400">
                  <a:latin typeface="Times New Roman" pitchFamily="18" charset="0"/>
                </a:rPr>
                <a:t>25</a:t>
              </a:r>
              <a:endParaRPr lang="en-US" altLang="zh-CN" sz="1400">
                <a:latin typeface="Verdana" pitchFamily="34" charset="0"/>
              </a:endParaRPr>
            </a:p>
          </p:txBody>
        </p:sp>
        <p:sp>
          <p:nvSpPr>
            <p:cNvPr id="135206" name="Rectangle 38"/>
            <p:cNvSpPr>
              <a:spLocks noChangeArrowheads="1"/>
            </p:cNvSpPr>
            <p:nvPr/>
          </p:nvSpPr>
          <p:spPr bwMode="auto">
            <a:xfrm>
              <a:off x="4374" y="1561"/>
              <a:ext cx="462" cy="148"/>
            </a:xfrm>
            <a:prstGeom prst="rect">
              <a:avLst/>
            </a:prstGeom>
            <a:noFill/>
            <a:ln w="9525">
              <a:solidFill>
                <a:srgbClr val="000000"/>
              </a:solidFill>
              <a:miter lim="800000"/>
              <a:headEnd/>
              <a:tailEnd/>
            </a:ln>
          </p:spPr>
          <p:txBody>
            <a:bodyPr lIns="0" tIns="0" rIns="0" bIns="0"/>
            <a:lstStyle/>
            <a:p>
              <a:pPr algn="ctr"/>
              <a:r>
                <a:rPr lang="en-US" altLang="zh-CN" sz="1000">
                  <a:latin typeface="Times New Roman" pitchFamily="18" charset="0"/>
                </a:rPr>
                <a:t>F0</a:t>
              </a:r>
              <a:endParaRPr lang="en-US" altLang="zh-CN">
                <a:latin typeface="Verdana" pitchFamily="34" charset="0"/>
              </a:endParaRPr>
            </a:p>
          </p:txBody>
        </p:sp>
        <p:sp>
          <p:nvSpPr>
            <p:cNvPr id="135207" name="Rectangle 39"/>
            <p:cNvSpPr>
              <a:spLocks noChangeArrowheads="1"/>
            </p:cNvSpPr>
            <p:nvPr/>
          </p:nvSpPr>
          <p:spPr bwMode="auto">
            <a:xfrm>
              <a:off x="4374" y="1709"/>
              <a:ext cx="462" cy="149"/>
            </a:xfrm>
            <a:prstGeom prst="rect">
              <a:avLst/>
            </a:prstGeom>
            <a:noFill/>
            <a:ln w="9525">
              <a:solidFill>
                <a:srgbClr val="000000"/>
              </a:solidFill>
              <a:miter lim="800000"/>
              <a:headEnd/>
              <a:tailEnd/>
            </a:ln>
          </p:spPr>
          <p:txBody>
            <a:bodyPr lIns="0" tIns="0" rIns="0" bIns="0"/>
            <a:lstStyle/>
            <a:p>
              <a:pPr algn="ctr"/>
              <a:r>
                <a:rPr lang="en-US" altLang="zh-CN" sz="1400" dirty="0">
                  <a:latin typeface="Times New Roman" pitchFamily="18" charset="0"/>
                </a:rPr>
                <a:t>30</a:t>
              </a:r>
              <a:endParaRPr lang="en-US" altLang="zh-CN" sz="1400" dirty="0">
                <a:latin typeface="Verdana" pitchFamily="34" charset="0"/>
              </a:endParaRPr>
            </a:p>
          </p:txBody>
        </p:sp>
        <p:sp>
          <p:nvSpPr>
            <p:cNvPr id="135208" name="Rectangle 40"/>
            <p:cNvSpPr>
              <a:spLocks noChangeArrowheads="1"/>
            </p:cNvSpPr>
            <p:nvPr/>
          </p:nvSpPr>
          <p:spPr bwMode="auto">
            <a:xfrm>
              <a:off x="4374" y="1265"/>
              <a:ext cx="462" cy="148"/>
            </a:xfrm>
            <a:prstGeom prst="rect">
              <a:avLst/>
            </a:prstGeom>
            <a:noFill/>
            <a:ln w="9525">
              <a:solidFill>
                <a:srgbClr val="000000"/>
              </a:solidFill>
              <a:miter lim="800000"/>
              <a:headEnd/>
              <a:tailEnd/>
            </a:ln>
          </p:spPr>
          <p:txBody>
            <a:bodyPr lIns="0" tIns="0" rIns="0" bIns="0"/>
            <a:lstStyle/>
            <a:p>
              <a:pPr algn="ctr"/>
              <a:r>
                <a:rPr lang="en-US" altLang="zh-CN" sz="1400">
                  <a:latin typeface="宋体" pitchFamily="2" charset="-122"/>
                </a:rPr>
                <a:t>┇</a:t>
              </a:r>
              <a:endParaRPr lang="en-US" altLang="zh-CN" sz="1400">
                <a:latin typeface="Verdana" pitchFamily="34" charset="0"/>
              </a:endParaRPr>
            </a:p>
          </p:txBody>
        </p:sp>
        <p:sp>
          <p:nvSpPr>
            <p:cNvPr id="135209" name="Rectangle 41"/>
            <p:cNvSpPr>
              <a:spLocks noChangeArrowheads="1"/>
            </p:cNvSpPr>
            <p:nvPr/>
          </p:nvSpPr>
          <p:spPr bwMode="auto">
            <a:xfrm>
              <a:off x="3016" y="2750"/>
              <a:ext cx="704" cy="183"/>
            </a:xfrm>
            <a:prstGeom prst="rect">
              <a:avLst/>
            </a:prstGeom>
            <a:noFill/>
            <a:ln w="9525">
              <a:solidFill>
                <a:srgbClr val="000000"/>
              </a:solidFill>
              <a:miter lim="800000"/>
              <a:headEnd/>
              <a:tailEnd/>
            </a:ln>
          </p:spPr>
          <p:txBody>
            <a:bodyPr lIns="0" tIns="0" rIns="0" bIns="0"/>
            <a:lstStyle/>
            <a:p>
              <a:pPr algn="just"/>
              <a:r>
                <a:rPr lang="en-US" altLang="zh-CN" sz="1400">
                  <a:latin typeface="Times New Roman" pitchFamily="18" charset="0"/>
                </a:rPr>
                <a:t>EAX/AX/AL</a:t>
              </a:r>
              <a:endParaRPr lang="en-US" altLang="zh-CN" sz="1400">
                <a:latin typeface="Verdana" pitchFamily="34" charset="0"/>
              </a:endParaRPr>
            </a:p>
          </p:txBody>
        </p:sp>
      </p:grpSp>
      <p:sp>
        <p:nvSpPr>
          <p:cNvPr id="135214" name="Text Box 46"/>
          <p:cNvSpPr txBox="1">
            <a:spLocks noChangeArrowheads="1"/>
          </p:cNvSpPr>
          <p:nvPr/>
        </p:nvSpPr>
        <p:spPr bwMode="auto">
          <a:xfrm>
            <a:off x="3851275" y="3573463"/>
            <a:ext cx="1800225" cy="406400"/>
          </a:xfrm>
          <a:prstGeom prst="rect">
            <a:avLst/>
          </a:prstGeom>
          <a:solidFill>
            <a:srgbClr val="33CCCC"/>
          </a:solidFill>
          <a:ln w="9525">
            <a:solidFill>
              <a:schemeClr val="tx1"/>
            </a:solidFill>
            <a:miter lim="800000"/>
            <a:headEnd/>
            <a:tailEnd/>
          </a:ln>
          <a:effectLst/>
        </p:spPr>
        <p:txBody>
          <a:bodyPr>
            <a:spAutoFit/>
          </a:bodyPr>
          <a:lstStyle/>
          <a:p>
            <a:pPr>
              <a:spcBef>
                <a:spcPct val="50000"/>
              </a:spcBef>
            </a:pPr>
            <a:r>
              <a:rPr lang="en-US" altLang="zh-CN" sz="2000"/>
              <a:t>(AX)=0FF30H</a:t>
            </a:r>
          </a:p>
        </p:txBody>
      </p:sp>
      <p:sp>
        <p:nvSpPr>
          <p:cNvPr id="135218" name="Text Box 50"/>
          <p:cNvSpPr txBox="1">
            <a:spLocks noChangeArrowheads="1"/>
          </p:cNvSpPr>
          <p:nvPr/>
        </p:nvSpPr>
        <p:spPr bwMode="auto">
          <a:xfrm>
            <a:off x="2268538" y="4724400"/>
            <a:ext cx="1800225" cy="406400"/>
          </a:xfrm>
          <a:prstGeom prst="rect">
            <a:avLst/>
          </a:prstGeom>
          <a:solidFill>
            <a:srgbClr val="33CCCC"/>
          </a:solidFill>
          <a:ln w="9525">
            <a:solidFill>
              <a:schemeClr val="tx1"/>
            </a:solidFill>
            <a:miter lim="800000"/>
            <a:headEnd/>
            <a:tailEnd/>
          </a:ln>
          <a:effectLst/>
        </p:spPr>
        <p:txBody>
          <a:bodyPr>
            <a:spAutoFit/>
          </a:bodyPr>
          <a:lstStyle/>
          <a:p>
            <a:pPr>
              <a:spcBef>
                <a:spcPct val="50000"/>
              </a:spcBef>
            </a:pPr>
            <a:r>
              <a:rPr lang="en-US" altLang="zh-CN" sz="2000"/>
              <a:t>(AX)=0FF20H</a:t>
            </a:r>
          </a:p>
        </p:txBody>
      </p:sp>
      <p:sp>
        <p:nvSpPr>
          <p:cNvPr id="135219" name="Text Box 51"/>
          <p:cNvSpPr txBox="1">
            <a:spLocks noChangeArrowheads="1"/>
          </p:cNvSpPr>
          <p:nvPr/>
        </p:nvSpPr>
        <p:spPr bwMode="auto">
          <a:xfrm>
            <a:off x="2051050" y="5949950"/>
            <a:ext cx="3167063" cy="376238"/>
          </a:xfrm>
          <a:prstGeom prst="rect">
            <a:avLst/>
          </a:prstGeom>
          <a:solidFill>
            <a:srgbClr val="33CCCC"/>
          </a:solidFill>
          <a:ln w="9525">
            <a:solidFill>
              <a:schemeClr val="tx1"/>
            </a:solidFill>
            <a:miter lim="800000"/>
            <a:headEnd/>
            <a:tailEnd/>
          </a:ln>
          <a:effectLst/>
        </p:spPr>
        <p:txBody>
          <a:bodyPr>
            <a:spAutoFit/>
          </a:bodyPr>
          <a:lstStyle/>
          <a:p>
            <a:pPr lvl="1">
              <a:lnSpc>
                <a:spcPct val="90000"/>
              </a:lnSpc>
              <a:spcBef>
                <a:spcPct val="20000"/>
              </a:spcBef>
              <a:buClr>
                <a:schemeClr val="accent2"/>
              </a:buClr>
              <a:buSzPct val="70000"/>
              <a:buFont typeface="Wingdings" pitchFamily="2" charset="2"/>
              <a:buNone/>
            </a:pPr>
            <a:r>
              <a:rPr lang="en-US" altLang="zh-CN" sz="2000"/>
              <a:t>(EAX)</a:t>
            </a:r>
            <a:r>
              <a:rPr lang="zh-CN" altLang="en-US" sz="2000"/>
              <a:t>＝</a:t>
            </a:r>
            <a:r>
              <a:rPr lang="en-US" altLang="zh-CN" sz="2000"/>
              <a:t>0FF30F025H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5214"/>
                                        </p:tgtEl>
                                        <p:attrNameLst>
                                          <p:attrName>style.visibility</p:attrName>
                                        </p:attrNameLst>
                                      </p:cBhvr>
                                      <p:to>
                                        <p:strVal val="visible"/>
                                      </p:to>
                                    </p:set>
                                    <p:animEffect transition="in" filter="box(in)">
                                      <p:cBhvr>
                                        <p:cTn id="7" dur="500"/>
                                        <p:tgtEl>
                                          <p:spTgt spid="13521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5218"/>
                                        </p:tgtEl>
                                        <p:attrNameLst>
                                          <p:attrName>style.visibility</p:attrName>
                                        </p:attrNameLst>
                                      </p:cBhvr>
                                      <p:to>
                                        <p:strVal val="visible"/>
                                      </p:to>
                                    </p:set>
                                    <p:animEffect transition="in" filter="blinds(horizontal)">
                                      <p:cBhvr>
                                        <p:cTn id="12" dur="500"/>
                                        <p:tgtEl>
                                          <p:spTgt spid="13521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5219"/>
                                        </p:tgtEl>
                                        <p:attrNameLst>
                                          <p:attrName>style.visibility</p:attrName>
                                        </p:attrNameLst>
                                      </p:cBhvr>
                                      <p:to>
                                        <p:strVal val="visible"/>
                                      </p:to>
                                    </p:set>
                                    <p:animEffect transition="in" filter="blinds(horizontal)">
                                      <p:cBhvr>
                                        <p:cTn id="17" dur="500"/>
                                        <p:tgtEl>
                                          <p:spTgt spid="135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214" grpId="0" animBg="1"/>
      <p:bldP spid="135218" grpId="0" animBg="1"/>
      <p:bldP spid="13521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标题 1"/>
          <p:cNvSpPr>
            <a:spLocks noGrp="1"/>
          </p:cNvSpPr>
          <p:nvPr>
            <p:ph type="title" idx="4294967295"/>
          </p:nvPr>
        </p:nvSpPr>
        <p:spPr>
          <a:xfrm>
            <a:off x="0" y="274638"/>
            <a:ext cx="8229600" cy="1143000"/>
          </a:xfrm>
        </p:spPr>
        <p:txBody>
          <a:bodyPr anchor="ctr"/>
          <a:lstStyle/>
          <a:p>
            <a:r>
              <a:rPr lang="zh-CN" altLang="en-US">
                <a:solidFill>
                  <a:srgbClr val="FF0000"/>
                </a:solidFill>
                <a:latin typeface="微软雅黑" pitchFamily="34" charset="-122"/>
                <a:ea typeface="微软雅黑" pitchFamily="34" charset="-122"/>
              </a:rPr>
              <a:t>尺寸问题</a:t>
            </a:r>
          </a:p>
        </p:txBody>
      </p:sp>
      <p:sp>
        <p:nvSpPr>
          <p:cNvPr id="275459" name="内容占位符 2"/>
          <p:cNvSpPr>
            <a:spLocks noGrp="1"/>
          </p:cNvSpPr>
          <p:nvPr>
            <p:ph idx="4294967295"/>
          </p:nvPr>
        </p:nvSpPr>
        <p:spPr>
          <a:xfrm>
            <a:off x="0" y="1600200"/>
            <a:ext cx="8229600" cy="4525963"/>
          </a:xfrm>
        </p:spPr>
        <p:txBody>
          <a:bodyPr/>
          <a:lstStyle/>
          <a:p>
            <a:r>
              <a:rPr lang="en-US" altLang="zh-CN">
                <a:latin typeface="微软雅黑" pitchFamily="34" charset="-122"/>
                <a:ea typeface="微软雅黑" pitchFamily="34" charset="-122"/>
              </a:rPr>
              <a:t>PTR</a:t>
            </a:r>
            <a:r>
              <a:rPr lang="zh-CN" altLang="en-US">
                <a:latin typeface="微软雅黑" pitchFamily="34" charset="-122"/>
                <a:ea typeface="微软雅黑" pitchFamily="34" charset="-122"/>
              </a:rPr>
              <a:t>：与间接操作数的联合使用</a:t>
            </a:r>
          </a:p>
          <a:p>
            <a:endParaRPr lang="zh-CN" altLang="en-US">
              <a:latin typeface="微软雅黑" pitchFamily="34" charset="-122"/>
              <a:ea typeface="微软雅黑" pitchFamily="34" charset="-122"/>
            </a:endParaRPr>
          </a:p>
          <a:p>
            <a:endParaRPr lang="zh-CN" altLang="en-US">
              <a:latin typeface="微软雅黑" pitchFamily="34" charset="-122"/>
              <a:ea typeface="微软雅黑" pitchFamily="34" charset="-122"/>
            </a:endParaRPr>
          </a:p>
          <a:p>
            <a:endParaRPr lang="zh-CN" altLang="en-US">
              <a:latin typeface="微软雅黑" pitchFamily="34" charset="-122"/>
              <a:ea typeface="微软雅黑" pitchFamily="34" charset="-122"/>
            </a:endParaRPr>
          </a:p>
          <a:p>
            <a:r>
              <a:rPr lang="en-US" altLang="zh-CN" u="sng">
                <a:solidFill>
                  <a:srgbClr val="FF0000"/>
                </a:solidFill>
                <a:effectLst>
                  <a:outerShdw blurRad="38100" dist="38100" dir="2700000" algn="tl">
                    <a:srgbClr val="C0C0C0"/>
                  </a:outerShdw>
                </a:effectLst>
                <a:latin typeface="微软雅黑" pitchFamily="34" charset="-122"/>
                <a:ea typeface="微软雅黑" pitchFamily="34" charset="-122"/>
              </a:rPr>
              <a:t>PTR</a:t>
            </a:r>
            <a:r>
              <a:rPr lang="zh-CN" altLang="en-US" u="sng">
                <a:solidFill>
                  <a:srgbClr val="FF0000"/>
                </a:solidFill>
                <a:effectLst>
                  <a:outerShdw blurRad="38100" dist="38100" dir="2700000" algn="tl">
                    <a:srgbClr val="C0C0C0"/>
                  </a:outerShdw>
                </a:effectLst>
                <a:latin typeface="微软雅黑" pitchFamily="34" charset="-122"/>
                <a:ea typeface="微软雅黑" pitchFamily="34" charset="-122"/>
              </a:rPr>
              <a:t>操作符指明操作数的大小</a:t>
            </a:r>
          </a:p>
        </p:txBody>
      </p:sp>
      <p:sp>
        <p:nvSpPr>
          <p:cNvPr id="275460" name="Text Box 4"/>
          <p:cNvSpPr txBox="1">
            <a:spLocks noChangeArrowheads="1"/>
          </p:cNvSpPr>
          <p:nvPr/>
        </p:nvSpPr>
        <p:spPr bwMode="auto">
          <a:xfrm>
            <a:off x="893763" y="2217738"/>
            <a:ext cx="6859587" cy="1625600"/>
          </a:xfrm>
          <a:prstGeom prst="rect">
            <a:avLst/>
          </a:prstGeom>
          <a:solidFill>
            <a:srgbClr val="99CCFF"/>
          </a:solidFill>
          <a:ln w="9525" algn="ctr">
            <a:solidFill>
              <a:schemeClr val="tx1"/>
            </a:solidFill>
            <a:miter lim="800000"/>
            <a:headEnd/>
            <a:tailEnd/>
          </a:ln>
        </p:spPr>
        <p:txBody>
          <a:bodyPr>
            <a:spAutoFit/>
          </a:bodyPr>
          <a:lstStyle/>
          <a:p>
            <a:pPr eaLnBrk="0" hangingPunct="0"/>
            <a:r>
              <a:rPr lang="en-US" altLang="zh-CN" sz="2000" b="1" dirty="0">
                <a:latin typeface="微软雅黑" pitchFamily="34" charset="-122"/>
                <a:ea typeface="微软雅黑" pitchFamily="34" charset="-122"/>
              </a:rPr>
              <a:t>    .data</a:t>
            </a:r>
          </a:p>
          <a:p>
            <a:pPr eaLnBrk="0" hangingPunct="0"/>
            <a:r>
              <a:rPr lang="en-US" altLang="zh-CN" sz="2000" b="1" dirty="0">
                <a:latin typeface="微软雅黑" pitchFamily="34" charset="-122"/>
                <a:ea typeface="微软雅黑" pitchFamily="34" charset="-122"/>
              </a:rPr>
              <a:t>    var1   BYTE  10h, 20h, 30h</a:t>
            </a:r>
          </a:p>
          <a:p>
            <a:pPr eaLnBrk="0" hangingPunct="0"/>
            <a:r>
              <a:rPr lang="en-US" altLang="zh-CN" sz="2000" b="1" dirty="0">
                <a:latin typeface="微软雅黑" pitchFamily="34" charset="-122"/>
                <a:ea typeface="微软雅黑" pitchFamily="34" charset="-122"/>
              </a:rPr>
              <a:t>    .code</a:t>
            </a:r>
          </a:p>
          <a:p>
            <a:pPr eaLnBrk="0" hangingPunct="0"/>
            <a:r>
              <a:rPr lang="en-US" altLang="zh-CN" sz="2000" b="1" dirty="0">
                <a:latin typeface="微软雅黑" pitchFamily="34" charset="-122"/>
                <a:ea typeface="微软雅黑" pitchFamily="34" charset="-122"/>
              </a:rPr>
              <a:t>    MOV   </a:t>
            </a:r>
            <a:r>
              <a:rPr lang="en-US" altLang="zh-CN" sz="2000" b="1" dirty="0" err="1">
                <a:latin typeface="微软雅黑" pitchFamily="34" charset="-122"/>
                <a:ea typeface="微软雅黑" pitchFamily="34" charset="-122"/>
              </a:rPr>
              <a:t>esi</a:t>
            </a:r>
            <a:r>
              <a:rPr lang="en-US" altLang="zh-CN" sz="2000" b="1" dirty="0">
                <a:latin typeface="微软雅黑" pitchFamily="34" charset="-122"/>
                <a:ea typeface="微软雅黑" pitchFamily="34" charset="-122"/>
              </a:rPr>
              <a:t>, offset var1</a:t>
            </a:r>
          </a:p>
          <a:p>
            <a:pPr eaLnBrk="0" hangingPunct="0"/>
            <a:r>
              <a:rPr lang="en-US" altLang="zh-CN" sz="2000" b="1" dirty="0">
                <a:latin typeface="微软雅黑" pitchFamily="34" charset="-122"/>
                <a:ea typeface="微软雅黑" pitchFamily="34" charset="-122"/>
              </a:rPr>
              <a:t>    INC     [</a:t>
            </a:r>
            <a:r>
              <a:rPr lang="en-US" altLang="zh-CN" sz="2000" b="1" dirty="0" err="1">
                <a:latin typeface="微软雅黑" pitchFamily="34" charset="-122"/>
                <a:ea typeface="微软雅黑" pitchFamily="34" charset="-122"/>
              </a:rPr>
              <a:t>esi</a:t>
            </a:r>
            <a:r>
              <a:rPr lang="en-US" altLang="zh-CN" sz="2000" b="1" dirty="0">
                <a:latin typeface="微软雅黑" pitchFamily="34" charset="-122"/>
                <a:ea typeface="微软雅黑" pitchFamily="34" charset="-122"/>
              </a:rPr>
              <a:t>]       </a:t>
            </a:r>
            <a:r>
              <a:rPr lang="en-US" altLang="zh-CN" sz="2000" b="1" dirty="0">
                <a:solidFill>
                  <a:srgbClr val="FF0000"/>
                </a:solidFill>
                <a:latin typeface="微软雅黑" pitchFamily="34" charset="-122"/>
                <a:ea typeface="微软雅黑" pitchFamily="34" charset="-122"/>
              </a:rPr>
              <a:t>; ×, operand must have size</a:t>
            </a:r>
          </a:p>
        </p:txBody>
      </p:sp>
      <p:sp>
        <p:nvSpPr>
          <p:cNvPr id="275461" name="Text Box 4"/>
          <p:cNvSpPr txBox="1">
            <a:spLocks noChangeArrowheads="1"/>
          </p:cNvSpPr>
          <p:nvPr/>
        </p:nvSpPr>
        <p:spPr bwMode="auto">
          <a:xfrm>
            <a:off x="893763" y="4613275"/>
            <a:ext cx="6859587" cy="1625600"/>
          </a:xfrm>
          <a:prstGeom prst="rect">
            <a:avLst/>
          </a:prstGeom>
          <a:solidFill>
            <a:srgbClr val="99CCFF"/>
          </a:solidFill>
          <a:ln w="9525" algn="ctr">
            <a:solidFill>
              <a:schemeClr val="tx1"/>
            </a:solidFill>
            <a:miter lim="800000"/>
            <a:headEnd/>
            <a:tailEnd/>
          </a:ln>
        </p:spPr>
        <p:txBody>
          <a:bodyPr>
            <a:spAutoFit/>
          </a:bodyPr>
          <a:lstStyle/>
          <a:p>
            <a:pPr eaLnBrk="0" hangingPunct="0"/>
            <a:r>
              <a:rPr lang="en-US" altLang="zh-CN" sz="2000" b="1" dirty="0">
                <a:latin typeface="微软雅黑" pitchFamily="34" charset="-122"/>
                <a:ea typeface="微软雅黑" pitchFamily="34" charset="-122"/>
              </a:rPr>
              <a:t>    .data</a:t>
            </a:r>
          </a:p>
          <a:p>
            <a:pPr eaLnBrk="0" hangingPunct="0"/>
            <a:r>
              <a:rPr lang="en-US" altLang="zh-CN" sz="2000" b="1" dirty="0">
                <a:latin typeface="微软雅黑" pitchFamily="34" charset="-122"/>
                <a:ea typeface="微软雅黑" pitchFamily="34" charset="-122"/>
              </a:rPr>
              <a:t>    var1   BYTE  10h, 20h, 30h</a:t>
            </a:r>
          </a:p>
          <a:p>
            <a:pPr eaLnBrk="0" hangingPunct="0"/>
            <a:r>
              <a:rPr lang="en-US" altLang="zh-CN" sz="2000" b="1" dirty="0">
                <a:latin typeface="微软雅黑" pitchFamily="34" charset="-122"/>
                <a:ea typeface="微软雅黑" pitchFamily="34" charset="-122"/>
              </a:rPr>
              <a:t>    .code</a:t>
            </a:r>
          </a:p>
          <a:p>
            <a:pPr eaLnBrk="0" hangingPunct="0"/>
            <a:r>
              <a:rPr lang="en-US" altLang="zh-CN" sz="2000" b="1" dirty="0">
                <a:latin typeface="微软雅黑" pitchFamily="34" charset="-122"/>
                <a:ea typeface="微软雅黑" pitchFamily="34" charset="-122"/>
              </a:rPr>
              <a:t>    MOV   </a:t>
            </a:r>
            <a:r>
              <a:rPr lang="en-US" altLang="zh-CN" sz="2000" b="1" dirty="0" err="1">
                <a:latin typeface="微软雅黑" pitchFamily="34" charset="-122"/>
                <a:ea typeface="微软雅黑" pitchFamily="34" charset="-122"/>
              </a:rPr>
              <a:t>esi</a:t>
            </a:r>
            <a:r>
              <a:rPr lang="en-US" altLang="zh-CN" sz="2000" b="1" dirty="0">
                <a:latin typeface="微软雅黑" pitchFamily="34" charset="-122"/>
                <a:ea typeface="微软雅黑" pitchFamily="34" charset="-122"/>
              </a:rPr>
              <a:t>, offset var1</a:t>
            </a:r>
          </a:p>
          <a:p>
            <a:pPr eaLnBrk="0" hangingPunct="0"/>
            <a:r>
              <a:rPr lang="en-US" altLang="zh-CN" sz="2000" b="1" dirty="0">
                <a:latin typeface="微软雅黑" pitchFamily="34" charset="-122"/>
                <a:ea typeface="微软雅黑" pitchFamily="34" charset="-122"/>
              </a:rPr>
              <a:t>    INC     </a:t>
            </a:r>
            <a:r>
              <a:rPr lang="en-US" altLang="zh-CN" sz="2000" b="1" dirty="0">
                <a:solidFill>
                  <a:srgbClr val="FF0000"/>
                </a:solidFill>
                <a:latin typeface="微软雅黑" pitchFamily="34" charset="-122"/>
                <a:ea typeface="微软雅黑" pitchFamily="34" charset="-122"/>
              </a:rPr>
              <a:t>BYTE PTR </a:t>
            </a:r>
            <a:r>
              <a:rPr lang="en-US" altLang="zh-CN" sz="2000" b="1" dirty="0">
                <a:latin typeface="微软雅黑" pitchFamily="34" charset="-122"/>
                <a:ea typeface="微软雅黑" pitchFamily="34" charset="-122"/>
              </a:rPr>
              <a:t>[</a:t>
            </a:r>
            <a:r>
              <a:rPr lang="en-US" altLang="zh-CN" sz="2000" b="1" dirty="0" err="1">
                <a:latin typeface="微软雅黑" pitchFamily="34" charset="-122"/>
                <a:ea typeface="微软雅黑" pitchFamily="34" charset="-122"/>
              </a:rPr>
              <a:t>esi</a:t>
            </a:r>
            <a:r>
              <a:rPr lang="en-US" altLang="zh-CN" sz="2000" b="1" dirty="0">
                <a:latin typeface="微软雅黑" pitchFamily="34" charset="-122"/>
                <a:ea typeface="微软雅黑" pitchFamily="34" charset="-122"/>
              </a:rPr>
              <a:t>]</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标题 1"/>
          <p:cNvSpPr>
            <a:spLocks noGrp="1"/>
          </p:cNvSpPr>
          <p:nvPr>
            <p:ph type="title" idx="4294967295"/>
          </p:nvPr>
        </p:nvSpPr>
        <p:spPr>
          <a:xfrm>
            <a:off x="0" y="274638"/>
            <a:ext cx="8229600" cy="1143000"/>
          </a:xfrm>
        </p:spPr>
        <p:txBody>
          <a:bodyPr anchor="ctr"/>
          <a:lstStyle/>
          <a:p>
            <a:r>
              <a:rPr lang="zh-CN" altLang="en-US" dirty="0">
                <a:solidFill>
                  <a:srgbClr val="FF0000"/>
                </a:solidFill>
                <a:latin typeface="微软雅黑" pitchFamily="34" charset="-122"/>
                <a:ea typeface="微软雅黑" pitchFamily="34" charset="-122"/>
              </a:rPr>
              <a:t>数组求和</a:t>
            </a:r>
          </a:p>
        </p:txBody>
      </p:sp>
      <p:sp>
        <p:nvSpPr>
          <p:cNvPr id="276483" name="Rectangle 2"/>
          <p:cNvSpPr>
            <a:spLocks noGrp="1" noChangeArrowheads="1"/>
          </p:cNvSpPr>
          <p:nvPr>
            <p:ph idx="4294967295"/>
          </p:nvPr>
        </p:nvSpPr>
        <p:spPr>
          <a:xfrm>
            <a:off x="0" y="1611313"/>
            <a:ext cx="8229600" cy="4479925"/>
          </a:xfrm>
          <a:solidFill>
            <a:srgbClr val="99CCFF"/>
          </a:solidFill>
          <a:ln/>
        </p:spPr>
        <p:txBody>
          <a:bodyPr>
            <a:spAutoFit/>
          </a:bodyPr>
          <a:lstStyle/>
          <a:p>
            <a:pPr>
              <a:lnSpc>
                <a:spcPct val="90000"/>
              </a:lnSpc>
              <a:buFont typeface="Wingdings" pitchFamily="2" charset="2"/>
              <a:buNone/>
            </a:pPr>
            <a:r>
              <a:rPr lang="en-US" altLang="zh-CN" sz="1300" b="1" dirty="0">
                <a:latin typeface="微软雅黑" pitchFamily="34" charset="-122"/>
                <a:ea typeface="微软雅黑" pitchFamily="34" charset="-122"/>
              </a:rPr>
              <a:t>.</a:t>
            </a:r>
            <a:r>
              <a:rPr lang="en-US" altLang="zh-CN" sz="1900" b="1" dirty="0">
                <a:latin typeface="微软雅黑" pitchFamily="34" charset="-122"/>
                <a:ea typeface="微软雅黑" pitchFamily="34" charset="-122"/>
              </a:rPr>
              <a:t>386</a:t>
            </a:r>
          </a:p>
          <a:p>
            <a:pPr>
              <a:lnSpc>
                <a:spcPct val="90000"/>
              </a:lnSpc>
              <a:buFont typeface="Wingdings" pitchFamily="2" charset="2"/>
              <a:buNone/>
            </a:pPr>
            <a:r>
              <a:rPr lang="en-US" altLang="zh-CN" sz="1900" b="1" dirty="0">
                <a:latin typeface="微软雅黑" pitchFamily="34" charset="-122"/>
                <a:ea typeface="微软雅黑" pitchFamily="34" charset="-122"/>
              </a:rPr>
              <a:t>.model flat, </a:t>
            </a:r>
            <a:r>
              <a:rPr lang="en-US" altLang="zh-CN" sz="1900" b="1" dirty="0" err="1">
                <a:latin typeface="微软雅黑" pitchFamily="34" charset="-122"/>
                <a:ea typeface="微软雅黑" pitchFamily="34" charset="-122"/>
              </a:rPr>
              <a:t>stdcall</a:t>
            </a:r>
            <a:r>
              <a:rPr lang="en-US" altLang="zh-CN" sz="1900" b="1" dirty="0">
                <a:latin typeface="微软雅黑" pitchFamily="34" charset="-122"/>
                <a:ea typeface="微软雅黑" pitchFamily="34" charset="-122"/>
              </a:rPr>
              <a:t>		</a:t>
            </a:r>
          </a:p>
          <a:p>
            <a:pPr>
              <a:lnSpc>
                <a:spcPct val="90000"/>
              </a:lnSpc>
              <a:buFont typeface="Wingdings" pitchFamily="2" charset="2"/>
              <a:buNone/>
            </a:pPr>
            <a:r>
              <a:rPr lang="en-US" altLang="zh-CN" sz="1900" b="1" dirty="0">
                <a:latin typeface="微软雅黑" pitchFamily="34" charset="-122"/>
                <a:ea typeface="微软雅黑" pitchFamily="34" charset="-122"/>
              </a:rPr>
              <a:t>.data</a:t>
            </a:r>
          </a:p>
          <a:p>
            <a:pPr>
              <a:lnSpc>
                <a:spcPct val="90000"/>
              </a:lnSpc>
              <a:buFont typeface="Wingdings" pitchFamily="2" charset="2"/>
              <a:buNone/>
            </a:pPr>
            <a:r>
              <a:rPr lang="en-US" altLang="zh-CN" sz="1900" b="1" dirty="0">
                <a:latin typeface="微软雅黑" pitchFamily="34" charset="-122"/>
                <a:ea typeface="微软雅黑" pitchFamily="34" charset="-122"/>
              </a:rPr>
              <a:t>W1 	WORD	  1234h, 5678h,  4321h, 8765h	</a:t>
            </a:r>
          </a:p>
          <a:p>
            <a:pPr>
              <a:lnSpc>
                <a:spcPct val="90000"/>
              </a:lnSpc>
              <a:buFont typeface="Wingdings" pitchFamily="2" charset="2"/>
              <a:buNone/>
            </a:pPr>
            <a:r>
              <a:rPr lang="en-US" altLang="zh-CN" sz="1900" b="1" dirty="0">
                <a:latin typeface="微软雅黑" pitchFamily="34" charset="-122"/>
                <a:ea typeface="微软雅黑" pitchFamily="34" charset="-122"/>
              </a:rPr>
              <a:t>.code</a:t>
            </a:r>
          </a:p>
          <a:p>
            <a:pPr>
              <a:lnSpc>
                <a:spcPct val="90000"/>
              </a:lnSpc>
              <a:buFont typeface="Wingdings" pitchFamily="2" charset="2"/>
              <a:buNone/>
            </a:pPr>
            <a:r>
              <a:rPr lang="en-US" altLang="zh-CN" sz="1900" b="1" dirty="0">
                <a:latin typeface="微软雅黑" pitchFamily="34" charset="-122"/>
                <a:ea typeface="微软雅黑" pitchFamily="34" charset="-122"/>
              </a:rPr>
              <a:t>	mov  </a:t>
            </a:r>
            <a:r>
              <a:rPr lang="en-US" altLang="zh-CN" sz="1900" b="1" dirty="0" err="1">
                <a:latin typeface="微软雅黑" pitchFamily="34" charset="-122"/>
                <a:ea typeface="微软雅黑" pitchFamily="34" charset="-122"/>
              </a:rPr>
              <a:t>esi</a:t>
            </a:r>
            <a:r>
              <a:rPr lang="en-US" altLang="zh-CN" sz="1900" b="1" dirty="0">
                <a:latin typeface="微软雅黑" pitchFamily="34" charset="-122"/>
                <a:ea typeface="微软雅黑" pitchFamily="34" charset="-122"/>
              </a:rPr>
              <a:t>, offset W1</a:t>
            </a:r>
          </a:p>
          <a:p>
            <a:pPr>
              <a:lnSpc>
                <a:spcPct val="90000"/>
              </a:lnSpc>
              <a:buFont typeface="Wingdings" pitchFamily="2" charset="2"/>
              <a:buNone/>
            </a:pPr>
            <a:r>
              <a:rPr lang="en-US" altLang="zh-CN" sz="1900" b="1" dirty="0">
                <a:latin typeface="微软雅黑" pitchFamily="34" charset="-122"/>
                <a:ea typeface="微软雅黑" pitchFamily="34" charset="-122"/>
              </a:rPr>
              <a:t>	mov  ax, [</a:t>
            </a:r>
            <a:r>
              <a:rPr lang="en-US" altLang="zh-CN" sz="1900" b="1" dirty="0" err="1">
                <a:latin typeface="微软雅黑" pitchFamily="34" charset="-122"/>
                <a:ea typeface="微软雅黑" pitchFamily="34" charset="-122"/>
              </a:rPr>
              <a:t>esi</a:t>
            </a:r>
            <a:r>
              <a:rPr lang="en-US" altLang="zh-CN" sz="1900" b="1" dirty="0">
                <a:latin typeface="微软雅黑" pitchFamily="34" charset="-122"/>
                <a:ea typeface="微软雅黑" pitchFamily="34" charset="-122"/>
              </a:rPr>
              <a:t>]		; 1234h</a:t>
            </a:r>
          </a:p>
          <a:p>
            <a:pPr>
              <a:lnSpc>
                <a:spcPct val="90000"/>
              </a:lnSpc>
              <a:buFont typeface="Wingdings" pitchFamily="2" charset="2"/>
              <a:buNone/>
            </a:pPr>
            <a:r>
              <a:rPr lang="en-US" altLang="zh-CN" sz="1900" b="1" dirty="0">
                <a:latin typeface="微软雅黑" pitchFamily="34" charset="-122"/>
                <a:ea typeface="微软雅黑" pitchFamily="34" charset="-122"/>
              </a:rPr>
              <a:t>	add   </a:t>
            </a:r>
            <a:r>
              <a:rPr lang="en-US" altLang="zh-CN" sz="1900" b="1" dirty="0" err="1">
                <a:latin typeface="微软雅黑" pitchFamily="34" charset="-122"/>
                <a:ea typeface="微软雅黑" pitchFamily="34" charset="-122"/>
              </a:rPr>
              <a:t>esi</a:t>
            </a:r>
            <a:r>
              <a:rPr lang="en-US" altLang="zh-CN" sz="1900" b="1" dirty="0">
                <a:latin typeface="微软雅黑" pitchFamily="34" charset="-122"/>
                <a:ea typeface="微软雅黑" pitchFamily="34" charset="-122"/>
              </a:rPr>
              <a:t>, 2</a:t>
            </a:r>
          </a:p>
          <a:p>
            <a:pPr>
              <a:lnSpc>
                <a:spcPct val="90000"/>
              </a:lnSpc>
              <a:buFont typeface="Wingdings" pitchFamily="2" charset="2"/>
              <a:buNone/>
            </a:pPr>
            <a:r>
              <a:rPr lang="en-US" altLang="zh-CN" sz="1900" b="1" dirty="0">
                <a:latin typeface="微软雅黑" pitchFamily="34" charset="-122"/>
                <a:ea typeface="微软雅黑" pitchFamily="34" charset="-122"/>
              </a:rPr>
              <a:t>     add   ax, [</a:t>
            </a:r>
            <a:r>
              <a:rPr lang="en-US" altLang="zh-CN" sz="1900" b="1" dirty="0" err="1">
                <a:latin typeface="微软雅黑" pitchFamily="34" charset="-122"/>
                <a:ea typeface="微软雅黑" pitchFamily="34" charset="-122"/>
              </a:rPr>
              <a:t>esi</a:t>
            </a:r>
            <a:r>
              <a:rPr lang="en-US" altLang="zh-CN" sz="1900" b="1" dirty="0">
                <a:latin typeface="微软雅黑" pitchFamily="34" charset="-122"/>
                <a:ea typeface="微软雅黑" pitchFamily="34" charset="-122"/>
              </a:rPr>
              <a:t>]		; 1234h + 5678h</a:t>
            </a:r>
          </a:p>
          <a:p>
            <a:pPr>
              <a:lnSpc>
                <a:spcPct val="90000"/>
              </a:lnSpc>
              <a:buFont typeface="Wingdings" pitchFamily="2" charset="2"/>
              <a:buNone/>
            </a:pPr>
            <a:r>
              <a:rPr lang="en-US" altLang="zh-CN" sz="1900" b="1" dirty="0">
                <a:latin typeface="微软雅黑" pitchFamily="34" charset="-122"/>
                <a:ea typeface="微软雅黑" pitchFamily="34" charset="-122"/>
              </a:rPr>
              <a:t>	add   </a:t>
            </a:r>
            <a:r>
              <a:rPr lang="en-US" altLang="zh-CN" sz="1900" b="1" dirty="0" err="1">
                <a:latin typeface="微软雅黑" pitchFamily="34" charset="-122"/>
                <a:ea typeface="微软雅黑" pitchFamily="34" charset="-122"/>
              </a:rPr>
              <a:t>esi</a:t>
            </a:r>
            <a:r>
              <a:rPr lang="en-US" altLang="zh-CN" sz="1900" b="1" dirty="0">
                <a:latin typeface="微软雅黑" pitchFamily="34" charset="-122"/>
                <a:ea typeface="微软雅黑" pitchFamily="34" charset="-122"/>
              </a:rPr>
              <a:t>, 2</a:t>
            </a:r>
          </a:p>
          <a:p>
            <a:pPr>
              <a:lnSpc>
                <a:spcPct val="90000"/>
              </a:lnSpc>
              <a:buFont typeface="Wingdings" pitchFamily="2" charset="2"/>
              <a:buNone/>
            </a:pPr>
            <a:r>
              <a:rPr lang="en-US" altLang="zh-CN" sz="1900" b="1" dirty="0">
                <a:latin typeface="微软雅黑" pitchFamily="34" charset="-122"/>
                <a:ea typeface="微软雅黑" pitchFamily="34" charset="-122"/>
              </a:rPr>
              <a:t>     add   ax, [</a:t>
            </a:r>
            <a:r>
              <a:rPr lang="en-US" altLang="zh-CN" sz="1900" b="1" dirty="0" err="1">
                <a:latin typeface="微软雅黑" pitchFamily="34" charset="-122"/>
                <a:ea typeface="微软雅黑" pitchFamily="34" charset="-122"/>
              </a:rPr>
              <a:t>esi</a:t>
            </a:r>
            <a:r>
              <a:rPr lang="en-US" altLang="zh-CN" sz="1900" b="1" dirty="0">
                <a:latin typeface="微软雅黑" pitchFamily="34" charset="-122"/>
                <a:ea typeface="微软雅黑" pitchFamily="34" charset="-122"/>
              </a:rPr>
              <a:t>]		; 1234h + 5678h + 4321h</a:t>
            </a:r>
          </a:p>
          <a:p>
            <a:pPr>
              <a:lnSpc>
                <a:spcPct val="90000"/>
              </a:lnSpc>
              <a:buFont typeface="Wingdings" pitchFamily="2" charset="2"/>
              <a:buNone/>
            </a:pPr>
            <a:r>
              <a:rPr lang="en-US" altLang="zh-CN" sz="1900" b="1" dirty="0">
                <a:latin typeface="微软雅黑" pitchFamily="34" charset="-122"/>
                <a:ea typeface="微软雅黑" pitchFamily="34" charset="-122"/>
              </a:rPr>
              <a:t>	add   </a:t>
            </a:r>
            <a:r>
              <a:rPr lang="en-US" altLang="zh-CN" sz="1900" b="1" dirty="0" err="1">
                <a:latin typeface="微软雅黑" pitchFamily="34" charset="-122"/>
                <a:ea typeface="微软雅黑" pitchFamily="34" charset="-122"/>
              </a:rPr>
              <a:t>esi</a:t>
            </a:r>
            <a:r>
              <a:rPr lang="en-US" altLang="zh-CN" sz="1900" b="1" dirty="0">
                <a:latin typeface="微软雅黑" pitchFamily="34" charset="-122"/>
                <a:ea typeface="微软雅黑" pitchFamily="34" charset="-122"/>
              </a:rPr>
              <a:t>, 2</a:t>
            </a:r>
          </a:p>
          <a:p>
            <a:pPr>
              <a:lnSpc>
                <a:spcPct val="90000"/>
              </a:lnSpc>
              <a:buFont typeface="Wingdings" pitchFamily="2" charset="2"/>
              <a:buNone/>
            </a:pPr>
            <a:r>
              <a:rPr lang="en-US" altLang="zh-CN" sz="1900" b="1" dirty="0">
                <a:latin typeface="微软雅黑" pitchFamily="34" charset="-122"/>
                <a:ea typeface="微软雅黑" pitchFamily="34" charset="-122"/>
              </a:rPr>
              <a:t>     add   ax, [</a:t>
            </a:r>
            <a:r>
              <a:rPr lang="en-US" altLang="zh-CN" sz="1900" b="1" dirty="0" err="1">
                <a:latin typeface="微软雅黑" pitchFamily="34" charset="-122"/>
                <a:ea typeface="微软雅黑" pitchFamily="34" charset="-122"/>
              </a:rPr>
              <a:t>esi</a:t>
            </a:r>
            <a:r>
              <a:rPr lang="en-US" altLang="zh-CN" sz="1900" b="1" dirty="0">
                <a:latin typeface="微软雅黑" pitchFamily="34" charset="-122"/>
                <a:ea typeface="微软雅黑" pitchFamily="34" charset="-122"/>
              </a:rPr>
              <a:t>]		; 1234h + 5678h + 4321h + 8765h</a:t>
            </a:r>
          </a:p>
          <a:p>
            <a:pPr>
              <a:lnSpc>
                <a:spcPct val="90000"/>
              </a:lnSpc>
              <a:buFont typeface="Wingdings" pitchFamily="2" charset="2"/>
              <a:buNone/>
            </a:pPr>
            <a:endParaRPr lang="en-US" altLang="zh-CN" sz="1900" b="1" dirty="0">
              <a:latin typeface="微软雅黑" pitchFamily="34" charset="-122"/>
              <a:ea typeface="微软雅黑" pitchFamily="34" charset="-122"/>
            </a:endParaRPr>
          </a:p>
        </p:txBody>
      </p:sp>
      <p:sp>
        <p:nvSpPr>
          <p:cNvPr id="276484" name="Rectangle 4"/>
          <p:cNvSpPr>
            <a:spLocks noChangeArrowheads="1"/>
          </p:cNvSpPr>
          <p:nvPr/>
        </p:nvSpPr>
        <p:spPr bwMode="auto">
          <a:xfrm>
            <a:off x="7956550" y="6308725"/>
            <a:ext cx="641350" cy="366713"/>
          </a:xfrm>
          <a:prstGeom prst="rect">
            <a:avLst/>
          </a:prstGeom>
          <a:noFill/>
          <a:ln w="9525">
            <a:noFill/>
            <a:miter lim="800000"/>
            <a:headEnd/>
            <a:tailEnd/>
          </a:ln>
          <a:effectLst/>
        </p:spPr>
        <p:txBody>
          <a:bodyPr wrap="none">
            <a:spAutoFit/>
          </a:bodyPr>
          <a:lstStyle/>
          <a:p>
            <a:r>
              <a:rPr lang="zh-CN" altLang="en-US">
                <a:latin typeface="Verdana" pitchFamily="34" charset="0"/>
                <a:hlinkClick r:id="rId2" action="ppaction://hlinksldjump"/>
              </a:rPr>
              <a:t>返回</a:t>
            </a:r>
            <a:endParaRPr lang="zh-CN" altLang="en-US">
              <a:latin typeface="Verdana" pitchFamily="34" charset="0"/>
            </a:endParaRPr>
          </a:p>
        </p:txBody>
      </p:sp>
      <p:pic>
        <p:nvPicPr>
          <p:cNvPr id="36865" name="Picture 1" descr="C:\Users\Administrator\AppData\Roaming\Tencent\Users\23420114\QQ\WinTemp\RichOle\_J$J_2W7I8_Y6RQ5380J}{O.jpg"/>
          <p:cNvPicPr>
            <a:picLocks noChangeAspect="1" noChangeArrowheads="1"/>
          </p:cNvPicPr>
          <p:nvPr/>
        </p:nvPicPr>
        <p:blipFill>
          <a:blip r:embed="rId3"/>
          <a:srcRect/>
          <a:stretch>
            <a:fillRect/>
          </a:stretch>
        </p:blipFill>
        <p:spPr bwMode="auto">
          <a:xfrm>
            <a:off x="4357686" y="-1"/>
            <a:ext cx="4786314" cy="251791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6865"/>
                                        </p:tgtEl>
                                        <p:attrNameLst>
                                          <p:attrName>style.visibility</p:attrName>
                                        </p:attrNameLst>
                                      </p:cBhvr>
                                      <p:to>
                                        <p:strVal val="visible"/>
                                      </p:to>
                                    </p:set>
                                    <p:animEffect transition="in" filter="wipe(down)">
                                      <p:cBhvr>
                                        <p:cTn id="7" dur="500"/>
                                        <p:tgtEl>
                                          <p:spTgt spid="368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ChangeArrowheads="1"/>
          </p:cNvSpPr>
          <p:nvPr>
            <p:ph type="title" idx="4294967295"/>
          </p:nvPr>
        </p:nvSpPr>
        <p:spPr>
          <a:xfrm>
            <a:off x="747713" y="677863"/>
            <a:ext cx="8396287" cy="644525"/>
          </a:xfrm>
        </p:spPr>
        <p:txBody>
          <a:bodyPr anchor="ctr"/>
          <a:lstStyle/>
          <a:p>
            <a:r>
              <a:rPr lang="zh-CN" altLang="en-US" sz="3000">
                <a:solidFill>
                  <a:srgbClr val="FF0000"/>
                </a:solidFill>
                <a:latin typeface="微软雅黑" pitchFamily="34" charset="-122"/>
                <a:ea typeface="微软雅黑" pitchFamily="34" charset="-122"/>
              </a:rPr>
              <a:t>例：寄存器间接寻址方式</a:t>
            </a:r>
            <a:r>
              <a:rPr lang="zh-CN" altLang="en-US" sz="3000">
                <a:latin typeface="微软雅黑" pitchFamily="34" charset="-122"/>
                <a:ea typeface="微软雅黑" pitchFamily="34" charset="-122"/>
              </a:rPr>
              <a:t> </a:t>
            </a:r>
          </a:p>
        </p:txBody>
      </p:sp>
      <p:sp>
        <p:nvSpPr>
          <p:cNvPr id="277507" name="AutoShape 3"/>
          <p:cNvSpPr>
            <a:spLocks noChangeArrowheads="1"/>
          </p:cNvSpPr>
          <p:nvPr/>
        </p:nvSpPr>
        <p:spPr bwMode="auto">
          <a:xfrm>
            <a:off x="609600" y="1350963"/>
            <a:ext cx="8229600" cy="5130800"/>
          </a:xfrm>
          <a:prstGeom prst="flowChartAlternateProcess">
            <a:avLst/>
          </a:prstGeom>
          <a:solidFill>
            <a:srgbClr val="ECD8C4"/>
          </a:solidFill>
          <a:ln w="57150" cmpd="thinThick">
            <a:solidFill>
              <a:schemeClr val="tx2"/>
            </a:solidFill>
            <a:miter lim="800000"/>
            <a:headEnd/>
            <a:tailEnd/>
          </a:ln>
        </p:spPr>
        <p:txBody>
          <a:bodyPr wrap="none" anchor="ctr"/>
          <a:lstStyle/>
          <a:p>
            <a:r>
              <a:rPr kumimoji="1" lang="en-US" altLang="zh-CN" sz="2400" b="1" dirty="0">
                <a:latin typeface="微软雅黑" pitchFamily="34" charset="-122"/>
                <a:ea typeface="微软雅黑" pitchFamily="34" charset="-122"/>
              </a:rPr>
              <a:t>   .386</a:t>
            </a:r>
          </a:p>
          <a:p>
            <a:r>
              <a:rPr kumimoji="1" lang="en-US" altLang="zh-CN" sz="2400" b="1" dirty="0">
                <a:latin typeface="微软雅黑" pitchFamily="34" charset="-122"/>
                <a:ea typeface="微软雅黑" pitchFamily="34" charset="-122"/>
              </a:rPr>
              <a:t>   .model flat, </a:t>
            </a:r>
            <a:r>
              <a:rPr kumimoji="1" lang="en-US" altLang="zh-CN" sz="2400" b="1" dirty="0" err="1">
                <a:latin typeface="微软雅黑" pitchFamily="34" charset="-122"/>
                <a:ea typeface="微软雅黑" pitchFamily="34" charset="-122"/>
              </a:rPr>
              <a:t>stdcall</a:t>
            </a:r>
            <a:endParaRPr kumimoji="1" lang="en-US" altLang="zh-CN" sz="2400" b="1" dirty="0">
              <a:latin typeface="微软雅黑" pitchFamily="34" charset="-122"/>
              <a:ea typeface="微软雅黑" pitchFamily="34" charset="-122"/>
            </a:endParaRPr>
          </a:p>
          <a:p>
            <a:r>
              <a:rPr kumimoji="1" lang="en-US" altLang="zh-CN" sz="2400" b="1" dirty="0">
                <a:latin typeface="微软雅黑" pitchFamily="34" charset="-122"/>
                <a:ea typeface="微软雅黑" pitchFamily="34" charset="-122"/>
              </a:rPr>
              <a:t>   .data</a:t>
            </a:r>
          </a:p>
          <a:p>
            <a:r>
              <a:rPr kumimoji="1" lang="en-US" altLang="zh-CN" sz="2400" b="1" dirty="0">
                <a:latin typeface="微软雅黑" pitchFamily="34" charset="-122"/>
                <a:ea typeface="微软雅黑" pitchFamily="34" charset="-122"/>
              </a:rPr>
              <a:t>    </a:t>
            </a:r>
            <a:r>
              <a:rPr kumimoji="1" lang="en-US" altLang="zh-CN" sz="2400" b="1" dirty="0" err="1">
                <a:latin typeface="微软雅黑" pitchFamily="34" charset="-122"/>
                <a:ea typeface="微软雅黑" pitchFamily="34" charset="-122"/>
              </a:rPr>
              <a:t>d_var</a:t>
            </a:r>
            <a:r>
              <a:rPr kumimoji="1" lang="en-US" altLang="zh-CN" sz="2400" b="1" dirty="0">
                <a:latin typeface="微软雅黑" pitchFamily="34" charset="-122"/>
                <a:ea typeface="微软雅黑" pitchFamily="34" charset="-122"/>
              </a:rPr>
              <a:t> </a:t>
            </a:r>
            <a:r>
              <a:rPr kumimoji="1" lang="en-US" altLang="zh-CN" sz="2400" b="1" dirty="0" err="1">
                <a:latin typeface="微软雅黑" pitchFamily="34" charset="-122"/>
                <a:ea typeface="微软雅黑" pitchFamily="34" charset="-122"/>
              </a:rPr>
              <a:t>dword</a:t>
            </a:r>
            <a:r>
              <a:rPr kumimoji="1" lang="en-US" altLang="zh-CN" sz="2400" b="1" dirty="0">
                <a:latin typeface="微软雅黑" pitchFamily="34" charset="-122"/>
                <a:ea typeface="微软雅黑" pitchFamily="34" charset="-122"/>
              </a:rPr>
              <a:t> 12345678h</a:t>
            </a:r>
          </a:p>
          <a:p>
            <a:r>
              <a:rPr kumimoji="1" lang="en-US" altLang="zh-CN" sz="2400" b="1" dirty="0">
                <a:latin typeface="微软雅黑" pitchFamily="34" charset="-122"/>
                <a:ea typeface="微软雅黑" pitchFamily="34" charset="-122"/>
              </a:rPr>
              <a:t>   .code</a:t>
            </a:r>
          </a:p>
          <a:p>
            <a:r>
              <a:rPr kumimoji="1" lang="en-US" altLang="zh-CN" sz="2400" b="1" dirty="0">
                <a:latin typeface="微软雅黑" pitchFamily="34" charset="-122"/>
                <a:ea typeface="微软雅黑" pitchFamily="34" charset="-122"/>
              </a:rPr>
              <a:t>	start:		</a:t>
            </a:r>
          </a:p>
          <a:p>
            <a:r>
              <a:rPr kumimoji="1" lang="en-US" altLang="zh-CN" sz="2400" b="1" dirty="0">
                <a:latin typeface="微软雅黑" pitchFamily="34" charset="-122"/>
                <a:ea typeface="微软雅黑" pitchFamily="34" charset="-122"/>
              </a:rPr>
              <a:t>      mov </a:t>
            </a:r>
            <a:r>
              <a:rPr kumimoji="1" lang="en-US" altLang="zh-CN" sz="2400" b="1" dirty="0" err="1">
                <a:latin typeface="微软雅黑" pitchFamily="34" charset="-122"/>
                <a:ea typeface="微软雅黑" pitchFamily="34" charset="-122"/>
              </a:rPr>
              <a:t>esi</a:t>
            </a:r>
            <a:r>
              <a:rPr kumimoji="1" lang="en-US" altLang="zh-CN" sz="2400" b="1" dirty="0">
                <a:latin typeface="微软雅黑" pitchFamily="34" charset="-122"/>
                <a:ea typeface="微软雅黑" pitchFamily="34" charset="-122"/>
              </a:rPr>
              <a:t>, offset </a:t>
            </a:r>
            <a:r>
              <a:rPr kumimoji="1" lang="en-US" altLang="zh-CN" sz="2400" b="1" dirty="0" err="1">
                <a:latin typeface="微软雅黑" pitchFamily="34" charset="-122"/>
                <a:ea typeface="微软雅黑" pitchFamily="34" charset="-122"/>
              </a:rPr>
              <a:t>d_var</a:t>
            </a:r>
            <a:endParaRPr kumimoji="1" lang="en-US" altLang="zh-CN" sz="2400" b="1" dirty="0">
              <a:latin typeface="微软雅黑" pitchFamily="34" charset="-122"/>
              <a:ea typeface="微软雅黑" pitchFamily="34" charset="-122"/>
            </a:endParaRPr>
          </a:p>
          <a:p>
            <a:r>
              <a:rPr kumimoji="1" lang="en-US" altLang="zh-CN" sz="2400" b="1" dirty="0">
                <a:latin typeface="微软雅黑" pitchFamily="34" charset="-122"/>
                <a:ea typeface="微软雅黑" pitchFamily="34" charset="-122"/>
              </a:rPr>
              <a:t>      mov </a:t>
            </a:r>
            <a:r>
              <a:rPr kumimoji="1" lang="en-US" altLang="zh-CN" sz="2400" b="1" dirty="0" err="1">
                <a:latin typeface="微软雅黑" pitchFamily="34" charset="-122"/>
                <a:ea typeface="微软雅黑" pitchFamily="34" charset="-122"/>
              </a:rPr>
              <a:t>eax</a:t>
            </a:r>
            <a:r>
              <a:rPr kumimoji="1" lang="en-US" altLang="zh-CN" sz="2400" b="1" dirty="0">
                <a:latin typeface="微软雅黑" pitchFamily="34" charset="-122"/>
                <a:ea typeface="微软雅黑" pitchFamily="34" charset="-122"/>
              </a:rPr>
              <a:t>, [</a:t>
            </a:r>
            <a:r>
              <a:rPr kumimoji="1" lang="en-US" altLang="zh-CN" sz="2400" b="1" dirty="0" err="1">
                <a:latin typeface="微软雅黑" pitchFamily="34" charset="-122"/>
                <a:ea typeface="微软雅黑" pitchFamily="34" charset="-122"/>
              </a:rPr>
              <a:t>esi</a:t>
            </a:r>
            <a:r>
              <a:rPr kumimoji="1" lang="en-US" altLang="zh-CN" sz="2400" b="1" dirty="0">
                <a:latin typeface="微软雅黑" pitchFamily="34" charset="-122"/>
                <a:ea typeface="微软雅黑" pitchFamily="34" charset="-122"/>
              </a:rPr>
              <a:t>]</a:t>
            </a:r>
          </a:p>
          <a:p>
            <a:r>
              <a:rPr kumimoji="1" lang="en-US" altLang="zh-CN" sz="2400" b="1" dirty="0">
                <a:latin typeface="微软雅黑" pitchFamily="34" charset="-122"/>
                <a:ea typeface="微软雅黑" pitchFamily="34" charset="-122"/>
              </a:rPr>
              <a:t>      mov </a:t>
            </a:r>
            <a:r>
              <a:rPr kumimoji="1" lang="en-US" altLang="zh-CN" sz="2400" b="1" dirty="0" err="1">
                <a:latin typeface="微软雅黑" pitchFamily="34" charset="-122"/>
                <a:ea typeface="微软雅黑" pitchFamily="34" charset="-122"/>
              </a:rPr>
              <a:t>eax</a:t>
            </a:r>
            <a:r>
              <a:rPr kumimoji="1" lang="en-US" altLang="zh-CN" sz="2400" b="1" dirty="0">
                <a:latin typeface="微软雅黑" pitchFamily="34" charset="-122"/>
                <a:ea typeface="微软雅黑" pitchFamily="34" charset="-122"/>
              </a:rPr>
              <a:t>, </a:t>
            </a:r>
            <a:r>
              <a:rPr kumimoji="1" lang="en-US" altLang="zh-CN" sz="2400" b="1" dirty="0" err="1">
                <a:latin typeface="微软雅黑" pitchFamily="34" charset="-122"/>
                <a:ea typeface="微软雅黑" pitchFamily="34" charset="-122"/>
              </a:rPr>
              <a:t>esi</a:t>
            </a:r>
            <a:endParaRPr kumimoji="1" lang="en-US" altLang="zh-CN" sz="2400" b="1" dirty="0">
              <a:latin typeface="微软雅黑" pitchFamily="34" charset="-122"/>
              <a:ea typeface="微软雅黑" pitchFamily="34" charset="-122"/>
            </a:endParaRPr>
          </a:p>
          <a:p>
            <a:r>
              <a:rPr kumimoji="1" lang="en-US" altLang="zh-CN" sz="2400" b="1" dirty="0">
                <a:latin typeface="微软雅黑" pitchFamily="34" charset="-122"/>
                <a:ea typeface="微软雅黑" pitchFamily="34" charset="-122"/>
              </a:rPr>
              <a:t>      mov </a:t>
            </a:r>
            <a:r>
              <a:rPr kumimoji="1" lang="en-US" altLang="zh-CN" sz="2400" b="1" dirty="0" err="1">
                <a:latin typeface="微软雅黑" pitchFamily="34" charset="-122"/>
                <a:ea typeface="微软雅黑" pitchFamily="34" charset="-122"/>
              </a:rPr>
              <a:t>eax</a:t>
            </a:r>
            <a:r>
              <a:rPr kumimoji="1" lang="en-US" altLang="zh-CN" sz="2400" b="1" dirty="0">
                <a:latin typeface="微软雅黑" pitchFamily="34" charset="-122"/>
                <a:ea typeface="微软雅黑" pitchFamily="34" charset="-122"/>
              </a:rPr>
              <a:t>, offset </a:t>
            </a:r>
            <a:r>
              <a:rPr kumimoji="1" lang="en-US" altLang="zh-CN" sz="2400" b="1" dirty="0" err="1">
                <a:latin typeface="微软雅黑" pitchFamily="34" charset="-122"/>
                <a:ea typeface="微软雅黑" pitchFamily="34" charset="-122"/>
              </a:rPr>
              <a:t>c_var</a:t>
            </a:r>
            <a:endParaRPr kumimoji="1" lang="en-US" altLang="zh-CN" sz="2400" b="1" dirty="0">
              <a:latin typeface="微软雅黑" pitchFamily="34" charset="-122"/>
              <a:ea typeface="微软雅黑" pitchFamily="34" charset="-122"/>
            </a:endParaRPr>
          </a:p>
          <a:p>
            <a:r>
              <a:rPr kumimoji="1" lang="en-US" altLang="zh-CN" sz="2400" b="1" dirty="0">
                <a:latin typeface="微软雅黑" pitchFamily="34" charset="-122"/>
                <a:ea typeface="微软雅黑" pitchFamily="34" charset="-122"/>
              </a:rPr>
              <a:t>      mov </a:t>
            </a:r>
            <a:r>
              <a:rPr kumimoji="1" lang="en-US" altLang="zh-CN" sz="2400" b="1" dirty="0" err="1">
                <a:latin typeface="微软雅黑" pitchFamily="34" charset="-122"/>
                <a:ea typeface="微软雅黑" pitchFamily="34" charset="-122"/>
              </a:rPr>
              <a:t>eax,cs</a:t>
            </a:r>
            <a:r>
              <a:rPr kumimoji="1" lang="en-US" altLang="zh-CN" sz="2400" b="1" dirty="0">
                <a:latin typeface="微软雅黑" pitchFamily="34" charset="-122"/>
                <a:ea typeface="微软雅黑" pitchFamily="34" charset="-122"/>
              </a:rPr>
              <a:t>:[</a:t>
            </a:r>
            <a:r>
              <a:rPr kumimoji="1" lang="en-US" altLang="zh-CN" sz="2400" b="1" dirty="0" err="1">
                <a:latin typeface="微软雅黑" pitchFamily="34" charset="-122"/>
                <a:ea typeface="微软雅黑" pitchFamily="34" charset="-122"/>
              </a:rPr>
              <a:t>eax</a:t>
            </a:r>
            <a:r>
              <a:rPr kumimoji="1" lang="en-US" altLang="zh-CN" sz="2400" b="1" dirty="0">
                <a:latin typeface="微软雅黑" pitchFamily="34" charset="-122"/>
                <a:ea typeface="微软雅黑" pitchFamily="34" charset="-122"/>
              </a:rPr>
              <a:t>]</a:t>
            </a:r>
          </a:p>
          <a:p>
            <a:r>
              <a:rPr kumimoji="1" lang="en-US" altLang="zh-CN" sz="2400" b="1" dirty="0">
                <a:latin typeface="微软雅黑" pitchFamily="34" charset="-122"/>
                <a:ea typeface="微软雅黑" pitchFamily="34" charset="-122"/>
              </a:rPr>
              <a:t>      ret	;</a:t>
            </a:r>
            <a:r>
              <a:rPr kumimoji="1" lang="zh-CN" altLang="en-US" sz="2400" b="1" dirty="0">
                <a:latin typeface="微软雅黑" pitchFamily="34" charset="-122"/>
                <a:ea typeface="微软雅黑" pitchFamily="34" charset="-122"/>
              </a:rPr>
              <a:t>返回操作系统</a:t>
            </a:r>
          </a:p>
          <a:p>
            <a:r>
              <a:rPr kumimoji="1" lang="zh-CN" altLang="en-US" sz="2400" b="1" dirty="0">
                <a:latin typeface="微软雅黑" pitchFamily="34" charset="-122"/>
                <a:ea typeface="微软雅黑" pitchFamily="34" charset="-122"/>
              </a:rPr>
              <a:t>      </a:t>
            </a:r>
            <a:r>
              <a:rPr kumimoji="1" lang="en-US" altLang="zh-CN" sz="2400" b="1" dirty="0" err="1">
                <a:latin typeface="微软雅黑" pitchFamily="34" charset="-122"/>
                <a:ea typeface="微软雅黑" pitchFamily="34" charset="-122"/>
              </a:rPr>
              <a:t>c_var</a:t>
            </a:r>
            <a:r>
              <a:rPr kumimoji="1" lang="en-US" altLang="zh-CN" sz="2400" b="1" dirty="0">
                <a:latin typeface="微软雅黑" pitchFamily="34" charset="-122"/>
                <a:ea typeface="微软雅黑" pitchFamily="34" charset="-122"/>
              </a:rPr>
              <a:t> </a:t>
            </a:r>
            <a:r>
              <a:rPr kumimoji="1" lang="en-US" altLang="zh-CN" sz="2400" b="1" dirty="0" err="1">
                <a:latin typeface="微软雅黑" pitchFamily="34" charset="-122"/>
                <a:ea typeface="微软雅黑" pitchFamily="34" charset="-122"/>
              </a:rPr>
              <a:t>dword</a:t>
            </a:r>
            <a:r>
              <a:rPr kumimoji="1" lang="en-US" altLang="zh-CN" sz="2400" b="1" dirty="0">
                <a:latin typeface="微软雅黑" pitchFamily="34" charset="-122"/>
                <a:ea typeface="微软雅黑" pitchFamily="34" charset="-122"/>
              </a:rPr>
              <a:t> 87654321h</a:t>
            </a:r>
          </a:p>
          <a:p>
            <a:r>
              <a:rPr kumimoji="1" lang="en-US" altLang="zh-CN" sz="2400" b="1" dirty="0">
                <a:latin typeface="微软雅黑" pitchFamily="34" charset="-122"/>
                <a:ea typeface="微软雅黑" pitchFamily="34" charset="-122"/>
              </a:rPr>
              <a:t>     end start	;</a:t>
            </a:r>
            <a:r>
              <a:rPr kumimoji="1" lang="zh-CN" altLang="en-US" sz="2400" b="1" dirty="0">
                <a:latin typeface="微软雅黑" pitchFamily="34" charset="-122"/>
                <a:ea typeface="微软雅黑" pitchFamily="34" charset="-122"/>
              </a:rPr>
              <a:t>汇编结束</a:t>
            </a:r>
            <a:r>
              <a:rPr kumimoji="1" lang="zh-CN" altLang="en-US" sz="2800" b="1" dirty="0">
                <a:latin typeface="微软雅黑" pitchFamily="34" charset="-122"/>
                <a:ea typeface="微软雅黑" pitchFamily="34" charset="-122"/>
              </a:rPr>
              <a:t>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idx="4294967295"/>
          </p:nvPr>
        </p:nvSpPr>
        <p:spPr>
          <a:xfrm>
            <a:off x="0" y="274638"/>
            <a:ext cx="8229600" cy="1143000"/>
          </a:xfrm>
        </p:spPr>
        <p:txBody>
          <a:bodyPr anchor="ctr"/>
          <a:lstStyle/>
          <a:p>
            <a:r>
              <a:rPr lang="zh-CN" altLang="en-US">
                <a:solidFill>
                  <a:srgbClr val="FF0000"/>
                </a:solidFill>
                <a:latin typeface="微软雅黑" pitchFamily="34" charset="-122"/>
                <a:ea typeface="微软雅黑" pitchFamily="34" charset="-122"/>
              </a:rPr>
              <a:t>例：运行结果</a:t>
            </a:r>
            <a:r>
              <a:rPr lang="en-US" altLang="zh-CN">
                <a:solidFill>
                  <a:srgbClr val="FF0000"/>
                </a:solidFill>
                <a:latin typeface="微软雅黑" pitchFamily="34" charset="-122"/>
                <a:ea typeface="微软雅黑" pitchFamily="34" charset="-122"/>
              </a:rPr>
              <a:t>(1)</a:t>
            </a:r>
          </a:p>
        </p:txBody>
      </p:sp>
      <p:grpSp>
        <p:nvGrpSpPr>
          <p:cNvPr id="2" name="Group 3"/>
          <p:cNvGrpSpPr>
            <a:grpSpLocks/>
          </p:cNvGrpSpPr>
          <p:nvPr/>
        </p:nvGrpSpPr>
        <p:grpSpPr bwMode="auto">
          <a:xfrm>
            <a:off x="779463" y="1600200"/>
            <a:ext cx="6992937" cy="4419600"/>
            <a:chOff x="491" y="1008"/>
            <a:chExt cx="4405" cy="2784"/>
          </a:xfrm>
        </p:grpSpPr>
        <p:sp>
          <p:nvSpPr>
            <p:cNvPr id="1093635" name="Text Box 3"/>
            <p:cNvSpPr txBox="1">
              <a:spLocks noChangeArrowheads="1"/>
            </p:cNvSpPr>
            <p:nvPr/>
          </p:nvSpPr>
          <p:spPr bwMode="auto">
            <a:xfrm>
              <a:off x="576" y="1008"/>
              <a:ext cx="2449" cy="327"/>
            </a:xfrm>
            <a:prstGeom prst="rect">
              <a:avLst/>
            </a:prstGeom>
            <a:noFill/>
            <a:ln w="28575">
              <a:noFill/>
              <a:miter lim="800000"/>
              <a:headEnd/>
              <a:tailEnd/>
            </a:ln>
          </p:spPr>
          <p:txBody>
            <a:bodyPr wrap="none">
              <a:spAutoFit/>
            </a:bodyPr>
            <a:lstStyle/>
            <a:p>
              <a:pPr algn="ctr"/>
              <a:r>
                <a:rPr kumimoji="1" lang="en-US" altLang="zh-CN" sz="2800" b="1" dirty="0">
                  <a:solidFill>
                    <a:srgbClr val="000099"/>
                  </a:solidFill>
                  <a:latin typeface="微软雅黑" pitchFamily="34" charset="-122"/>
                  <a:ea typeface="微软雅黑" pitchFamily="34" charset="-122"/>
                </a:rPr>
                <a:t>mov </a:t>
              </a:r>
              <a:r>
                <a:rPr kumimoji="1" lang="en-US" altLang="zh-CN" sz="2800" b="1" dirty="0" err="1">
                  <a:solidFill>
                    <a:srgbClr val="000099"/>
                  </a:solidFill>
                  <a:latin typeface="微软雅黑" pitchFamily="34" charset="-122"/>
                  <a:ea typeface="微软雅黑" pitchFamily="34" charset="-122"/>
                </a:rPr>
                <a:t>esi</a:t>
              </a:r>
              <a:r>
                <a:rPr kumimoji="1" lang="en-US" altLang="zh-CN" sz="2800" b="1" dirty="0">
                  <a:solidFill>
                    <a:srgbClr val="000099"/>
                  </a:solidFill>
                  <a:latin typeface="微软雅黑" pitchFamily="34" charset="-122"/>
                  <a:ea typeface="微软雅黑" pitchFamily="34" charset="-122"/>
                </a:rPr>
                <a:t>, offset </a:t>
              </a:r>
              <a:r>
                <a:rPr kumimoji="1" lang="en-US" altLang="zh-CN" sz="2800" b="1" dirty="0" err="1">
                  <a:solidFill>
                    <a:srgbClr val="000099"/>
                  </a:solidFill>
                  <a:latin typeface="微软雅黑" pitchFamily="34" charset="-122"/>
                  <a:ea typeface="微软雅黑" pitchFamily="34" charset="-122"/>
                </a:rPr>
                <a:t>d_var</a:t>
              </a:r>
              <a:endParaRPr kumimoji="1" lang="en-US" altLang="zh-CN" sz="2800" b="1" dirty="0">
                <a:solidFill>
                  <a:srgbClr val="000099"/>
                </a:solidFill>
                <a:latin typeface="微软雅黑" pitchFamily="34" charset="-122"/>
                <a:ea typeface="微软雅黑" pitchFamily="34" charset="-122"/>
              </a:endParaRPr>
            </a:p>
          </p:txBody>
        </p:sp>
        <p:grpSp>
          <p:nvGrpSpPr>
            <p:cNvPr id="3" name="Group 4"/>
            <p:cNvGrpSpPr>
              <a:grpSpLocks/>
            </p:cNvGrpSpPr>
            <p:nvPr/>
          </p:nvGrpSpPr>
          <p:grpSpPr bwMode="auto">
            <a:xfrm>
              <a:off x="3760" y="1374"/>
              <a:ext cx="1078" cy="594"/>
              <a:chOff x="3808" y="960"/>
              <a:chExt cx="1078" cy="594"/>
            </a:xfrm>
          </p:grpSpPr>
          <p:sp>
            <p:nvSpPr>
              <p:cNvPr id="278534" name="Text Box 5"/>
              <p:cNvSpPr txBox="1">
                <a:spLocks noChangeArrowheads="1"/>
              </p:cNvSpPr>
              <p:nvPr/>
            </p:nvSpPr>
            <p:spPr bwMode="auto">
              <a:xfrm>
                <a:off x="4197" y="960"/>
                <a:ext cx="406" cy="288"/>
              </a:xfrm>
              <a:prstGeom prst="rect">
                <a:avLst/>
              </a:prstGeom>
              <a:noFill/>
              <a:ln w="28575">
                <a:noFill/>
                <a:miter lim="800000"/>
                <a:headEnd/>
                <a:tailEnd/>
              </a:ln>
            </p:spPr>
            <p:txBody>
              <a:bodyPr wrap="none">
                <a:spAutoFit/>
              </a:bodyPr>
              <a:lstStyle/>
              <a:p>
                <a:pPr algn="ctr"/>
                <a:r>
                  <a:rPr kumimoji="1" lang="en-US" altLang="zh-CN" sz="2400" b="1">
                    <a:latin typeface="微软雅黑" pitchFamily="34" charset="-122"/>
                    <a:ea typeface="微软雅黑" pitchFamily="34" charset="-122"/>
                  </a:rPr>
                  <a:t>ESI</a:t>
                </a:r>
              </a:p>
            </p:txBody>
          </p:sp>
          <p:sp>
            <p:nvSpPr>
              <p:cNvPr id="278535" name="Rectangle 6"/>
              <p:cNvSpPr>
                <a:spLocks noChangeArrowheads="1"/>
              </p:cNvSpPr>
              <p:nvPr/>
            </p:nvSpPr>
            <p:spPr bwMode="auto">
              <a:xfrm>
                <a:off x="3808" y="1248"/>
                <a:ext cx="1078" cy="306"/>
              </a:xfrm>
              <a:prstGeom prst="rect">
                <a:avLst/>
              </a:prstGeom>
              <a:solidFill>
                <a:srgbClr val="ECD8C4"/>
              </a:solidFill>
              <a:ln w="28575">
                <a:solidFill>
                  <a:srgbClr val="005A42"/>
                </a:solidFill>
                <a:miter lim="800000"/>
                <a:headEnd/>
                <a:tailEnd/>
              </a:ln>
            </p:spPr>
            <p:txBody>
              <a:bodyPr wrap="none">
                <a:spAutoFit/>
              </a:bodyPr>
              <a:lstStyle/>
              <a:p>
                <a:pPr algn="ctr"/>
                <a:r>
                  <a:rPr kumimoji="1" lang="en-US" altLang="zh-CN" sz="2400" b="1">
                    <a:latin typeface="微软雅黑" pitchFamily="34" charset="-122"/>
                    <a:ea typeface="微软雅黑" pitchFamily="34" charset="-122"/>
                  </a:rPr>
                  <a:t>00404000</a:t>
                </a:r>
              </a:p>
            </p:txBody>
          </p:sp>
        </p:grpSp>
        <p:sp>
          <p:nvSpPr>
            <p:cNvPr id="1093639" name="Rectangle 7"/>
            <p:cNvSpPr>
              <a:spLocks noChangeArrowheads="1"/>
            </p:cNvSpPr>
            <p:nvPr/>
          </p:nvSpPr>
          <p:spPr bwMode="auto">
            <a:xfrm>
              <a:off x="491" y="1344"/>
              <a:ext cx="1681" cy="327"/>
            </a:xfrm>
            <a:prstGeom prst="rect">
              <a:avLst/>
            </a:prstGeom>
            <a:noFill/>
            <a:ln w="28575">
              <a:noFill/>
              <a:miter lim="800000"/>
              <a:headEnd/>
              <a:tailEnd/>
            </a:ln>
          </p:spPr>
          <p:txBody>
            <a:bodyPr wrap="none">
              <a:spAutoFit/>
            </a:bodyPr>
            <a:lstStyle/>
            <a:p>
              <a:pPr algn="ctr"/>
              <a:r>
                <a:rPr kumimoji="1" lang="en-US" altLang="zh-CN" sz="2800" b="1" dirty="0">
                  <a:latin typeface="微软雅黑" pitchFamily="34" charset="-122"/>
                  <a:ea typeface="微软雅黑" pitchFamily="34" charset="-122"/>
                </a:rPr>
                <a:t>mov </a:t>
              </a:r>
              <a:r>
                <a:rPr kumimoji="1" lang="en-US" altLang="zh-CN" sz="2800" b="1" dirty="0" err="1">
                  <a:latin typeface="微软雅黑" pitchFamily="34" charset="-122"/>
                  <a:ea typeface="微软雅黑" pitchFamily="34" charset="-122"/>
                </a:rPr>
                <a:t>eax</a:t>
              </a:r>
              <a:r>
                <a:rPr kumimoji="1" lang="en-US" altLang="zh-CN" sz="2800" b="1" dirty="0">
                  <a:latin typeface="微软雅黑" pitchFamily="34" charset="-122"/>
                  <a:ea typeface="微软雅黑" pitchFamily="34" charset="-122"/>
                </a:rPr>
                <a:t>, [</a:t>
              </a:r>
              <a:r>
                <a:rPr kumimoji="1" lang="en-US" altLang="zh-CN" sz="2800" b="1" dirty="0" err="1">
                  <a:latin typeface="微软雅黑" pitchFamily="34" charset="-122"/>
                  <a:ea typeface="微软雅黑" pitchFamily="34" charset="-122"/>
                </a:rPr>
                <a:t>esi</a:t>
              </a:r>
              <a:r>
                <a:rPr kumimoji="1" lang="en-US" altLang="zh-CN" sz="2800" b="1" dirty="0">
                  <a:latin typeface="微软雅黑" pitchFamily="34" charset="-122"/>
                  <a:ea typeface="微软雅黑" pitchFamily="34" charset="-122"/>
                </a:rPr>
                <a:t>]</a:t>
              </a:r>
            </a:p>
          </p:txBody>
        </p:sp>
        <p:sp>
          <p:nvSpPr>
            <p:cNvPr id="1093640" name="Line 8"/>
            <p:cNvSpPr>
              <a:spLocks noChangeShapeType="1"/>
            </p:cNvSpPr>
            <p:nvPr/>
          </p:nvSpPr>
          <p:spPr bwMode="auto">
            <a:xfrm>
              <a:off x="4320" y="1968"/>
              <a:ext cx="0" cy="240"/>
            </a:xfrm>
            <a:prstGeom prst="line">
              <a:avLst/>
            </a:prstGeom>
            <a:noFill/>
            <a:ln w="57150">
              <a:solidFill>
                <a:srgbClr val="005A42"/>
              </a:solidFill>
              <a:round/>
              <a:headEnd/>
              <a:tailEnd type="triangle" w="med" len="med"/>
            </a:ln>
          </p:spPr>
          <p:txBody>
            <a:bodyPr wrap="none"/>
            <a:lstStyle/>
            <a:p>
              <a:endParaRPr lang="zh-CN" altLang="en-US"/>
            </a:p>
          </p:txBody>
        </p:sp>
        <p:grpSp>
          <p:nvGrpSpPr>
            <p:cNvPr id="4" name="Group 9"/>
            <p:cNvGrpSpPr>
              <a:grpSpLocks/>
            </p:cNvGrpSpPr>
            <p:nvPr/>
          </p:nvGrpSpPr>
          <p:grpSpPr bwMode="auto">
            <a:xfrm>
              <a:off x="3351" y="2208"/>
              <a:ext cx="1545" cy="1584"/>
              <a:chOff x="3351" y="1920"/>
              <a:chExt cx="1545" cy="1584"/>
            </a:xfrm>
          </p:grpSpPr>
          <p:sp>
            <p:nvSpPr>
              <p:cNvPr id="278539" name="Rectangle 10"/>
              <p:cNvSpPr>
                <a:spLocks noChangeArrowheads="1"/>
              </p:cNvSpPr>
              <p:nvPr/>
            </p:nvSpPr>
            <p:spPr bwMode="auto">
              <a:xfrm>
                <a:off x="3792" y="2892"/>
                <a:ext cx="1104" cy="324"/>
              </a:xfrm>
              <a:prstGeom prst="rect">
                <a:avLst/>
              </a:prstGeom>
              <a:noFill/>
              <a:ln w="28575">
                <a:noFill/>
                <a:miter lim="800000"/>
                <a:headEnd/>
                <a:tailEnd/>
              </a:ln>
            </p:spPr>
            <p:txBody>
              <a:bodyPr/>
              <a:lstStyle/>
              <a:p>
                <a:pPr>
                  <a:spcBef>
                    <a:spcPct val="20000"/>
                  </a:spcBef>
                  <a:buClr>
                    <a:schemeClr val="bg2"/>
                  </a:buClr>
                  <a:buSzPct val="75000"/>
                  <a:buFont typeface="Wingdings" pitchFamily="2" charset="2"/>
                  <a:buNone/>
                </a:pPr>
                <a:r>
                  <a:rPr lang="en-US" altLang="zh-CN" sz="2000" b="1">
                    <a:latin typeface="微软雅黑" pitchFamily="34" charset="-122"/>
                    <a:ea typeface="微软雅黑" pitchFamily="34" charset="-122"/>
                  </a:rPr>
                  <a:t>00404003</a:t>
                </a:r>
              </a:p>
            </p:txBody>
          </p:sp>
          <p:sp>
            <p:nvSpPr>
              <p:cNvPr id="278540" name="Rectangle 11"/>
              <p:cNvSpPr>
                <a:spLocks noChangeArrowheads="1"/>
              </p:cNvSpPr>
              <p:nvPr/>
            </p:nvSpPr>
            <p:spPr bwMode="auto">
              <a:xfrm>
                <a:off x="3792" y="2568"/>
                <a:ext cx="1104" cy="324"/>
              </a:xfrm>
              <a:prstGeom prst="rect">
                <a:avLst/>
              </a:prstGeom>
              <a:noFill/>
              <a:ln w="28575">
                <a:noFill/>
                <a:miter lim="800000"/>
                <a:headEnd/>
                <a:tailEnd/>
              </a:ln>
            </p:spPr>
            <p:txBody>
              <a:bodyPr/>
              <a:lstStyle/>
              <a:p>
                <a:pPr>
                  <a:spcBef>
                    <a:spcPct val="20000"/>
                  </a:spcBef>
                  <a:buClr>
                    <a:schemeClr val="bg2"/>
                  </a:buClr>
                  <a:buSzPct val="75000"/>
                  <a:buFont typeface="Wingdings" pitchFamily="2" charset="2"/>
                  <a:buNone/>
                </a:pPr>
                <a:r>
                  <a:rPr lang="en-US" altLang="zh-CN" sz="2000" b="1">
                    <a:latin typeface="微软雅黑" pitchFamily="34" charset="-122"/>
                    <a:ea typeface="微软雅黑" pitchFamily="34" charset="-122"/>
                  </a:rPr>
                  <a:t>00404002</a:t>
                </a:r>
              </a:p>
            </p:txBody>
          </p:sp>
          <p:sp>
            <p:nvSpPr>
              <p:cNvPr id="278541" name="Rectangle 12"/>
              <p:cNvSpPr>
                <a:spLocks noChangeArrowheads="1"/>
              </p:cNvSpPr>
              <p:nvPr/>
            </p:nvSpPr>
            <p:spPr bwMode="auto">
              <a:xfrm>
                <a:off x="3792" y="2244"/>
                <a:ext cx="1104" cy="324"/>
              </a:xfrm>
              <a:prstGeom prst="rect">
                <a:avLst/>
              </a:prstGeom>
              <a:noFill/>
              <a:ln w="28575">
                <a:noFill/>
                <a:miter lim="800000"/>
                <a:headEnd/>
                <a:tailEnd/>
              </a:ln>
            </p:spPr>
            <p:txBody>
              <a:bodyPr/>
              <a:lstStyle/>
              <a:p>
                <a:pPr>
                  <a:spcBef>
                    <a:spcPct val="20000"/>
                  </a:spcBef>
                  <a:buClr>
                    <a:schemeClr val="bg2"/>
                  </a:buClr>
                  <a:buSzPct val="75000"/>
                  <a:buFont typeface="Wingdings" pitchFamily="2" charset="2"/>
                  <a:buNone/>
                </a:pPr>
                <a:r>
                  <a:rPr lang="en-US" altLang="zh-CN" sz="2000" b="1">
                    <a:latin typeface="微软雅黑" pitchFamily="34" charset="-122"/>
                    <a:ea typeface="微软雅黑" pitchFamily="34" charset="-122"/>
                  </a:rPr>
                  <a:t>00404001</a:t>
                </a:r>
              </a:p>
            </p:txBody>
          </p:sp>
          <p:sp>
            <p:nvSpPr>
              <p:cNvPr id="278542" name="Rectangle 13"/>
              <p:cNvSpPr>
                <a:spLocks noChangeArrowheads="1"/>
              </p:cNvSpPr>
              <p:nvPr/>
            </p:nvSpPr>
            <p:spPr bwMode="auto">
              <a:xfrm>
                <a:off x="3792" y="1920"/>
                <a:ext cx="1104" cy="324"/>
              </a:xfrm>
              <a:prstGeom prst="rect">
                <a:avLst/>
              </a:prstGeom>
              <a:noFill/>
              <a:ln w="28575">
                <a:noFill/>
                <a:miter lim="800000"/>
                <a:headEnd/>
                <a:tailEnd/>
              </a:ln>
            </p:spPr>
            <p:txBody>
              <a:bodyPr/>
              <a:lstStyle/>
              <a:p>
                <a:pPr>
                  <a:spcBef>
                    <a:spcPct val="20000"/>
                  </a:spcBef>
                  <a:buClr>
                    <a:schemeClr val="bg2"/>
                  </a:buClr>
                  <a:buSzPct val="75000"/>
                  <a:buFont typeface="Wingdings" pitchFamily="2" charset="2"/>
                  <a:buNone/>
                </a:pPr>
                <a:r>
                  <a:rPr lang="en-US" altLang="zh-CN" sz="2000" b="1">
                    <a:latin typeface="微软雅黑" pitchFamily="34" charset="-122"/>
                    <a:ea typeface="微软雅黑" pitchFamily="34" charset="-122"/>
                  </a:rPr>
                  <a:t>00404000</a:t>
                </a:r>
              </a:p>
            </p:txBody>
          </p:sp>
          <p:sp>
            <p:nvSpPr>
              <p:cNvPr id="278543" name="Line 14"/>
              <p:cNvSpPr>
                <a:spLocks noChangeShapeType="1"/>
              </p:cNvSpPr>
              <p:nvPr/>
            </p:nvSpPr>
            <p:spPr bwMode="auto">
              <a:xfrm>
                <a:off x="3792" y="1920"/>
                <a:ext cx="1104" cy="0"/>
              </a:xfrm>
              <a:prstGeom prst="line">
                <a:avLst/>
              </a:prstGeom>
              <a:noFill/>
              <a:ln w="28575" cap="sq">
                <a:solidFill>
                  <a:schemeClr val="tx1"/>
                </a:solidFill>
                <a:round/>
                <a:headEnd/>
                <a:tailEnd/>
              </a:ln>
            </p:spPr>
            <p:txBody>
              <a:bodyPr wrap="none"/>
              <a:lstStyle/>
              <a:p>
                <a:endParaRPr lang="zh-CN" altLang="en-US"/>
              </a:p>
            </p:txBody>
          </p:sp>
          <p:sp>
            <p:nvSpPr>
              <p:cNvPr id="278544" name="Line 15"/>
              <p:cNvSpPr>
                <a:spLocks noChangeShapeType="1"/>
              </p:cNvSpPr>
              <p:nvPr/>
            </p:nvSpPr>
            <p:spPr bwMode="auto">
              <a:xfrm>
                <a:off x="3792" y="2244"/>
                <a:ext cx="1104" cy="0"/>
              </a:xfrm>
              <a:prstGeom prst="line">
                <a:avLst/>
              </a:prstGeom>
              <a:noFill/>
              <a:ln w="12700">
                <a:solidFill>
                  <a:schemeClr val="tx1"/>
                </a:solidFill>
                <a:round/>
                <a:headEnd/>
                <a:tailEnd/>
              </a:ln>
            </p:spPr>
            <p:txBody>
              <a:bodyPr wrap="none"/>
              <a:lstStyle/>
              <a:p>
                <a:endParaRPr lang="zh-CN" altLang="en-US"/>
              </a:p>
            </p:txBody>
          </p:sp>
          <p:sp>
            <p:nvSpPr>
              <p:cNvPr id="278545" name="Line 16"/>
              <p:cNvSpPr>
                <a:spLocks noChangeShapeType="1"/>
              </p:cNvSpPr>
              <p:nvPr/>
            </p:nvSpPr>
            <p:spPr bwMode="auto">
              <a:xfrm>
                <a:off x="3792" y="2568"/>
                <a:ext cx="1104" cy="0"/>
              </a:xfrm>
              <a:prstGeom prst="line">
                <a:avLst/>
              </a:prstGeom>
              <a:noFill/>
              <a:ln w="12700">
                <a:solidFill>
                  <a:schemeClr val="tx1"/>
                </a:solidFill>
                <a:round/>
                <a:headEnd/>
                <a:tailEnd/>
              </a:ln>
            </p:spPr>
            <p:txBody>
              <a:bodyPr wrap="none"/>
              <a:lstStyle/>
              <a:p>
                <a:endParaRPr lang="zh-CN" altLang="en-US"/>
              </a:p>
            </p:txBody>
          </p:sp>
          <p:sp>
            <p:nvSpPr>
              <p:cNvPr id="278546" name="Line 17"/>
              <p:cNvSpPr>
                <a:spLocks noChangeShapeType="1"/>
              </p:cNvSpPr>
              <p:nvPr/>
            </p:nvSpPr>
            <p:spPr bwMode="auto">
              <a:xfrm>
                <a:off x="3792" y="2892"/>
                <a:ext cx="1104" cy="0"/>
              </a:xfrm>
              <a:prstGeom prst="line">
                <a:avLst/>
              </a:prstGeom>
              <a:noFill/>
              <a:ln w="12700">
                <a:solidFill>
                  <a:schemeClr val="tx1"/>
                </a:solidFill>
                <a:round/>
                <a:headEnd/>
                <a:tailEnd/>
              </a:ln>
            </p:spPr>
            <p:txBody>
              <a:bodyPr wrap="none"/>
              <a:lstStyle/>
              <a:p>
                <a:endParaRPr lang="zh-CN" altLang="en-US"/>
              </a:p>
            </p:txBody>
          </p:sp>
          <p:sp>
            <p:nvSpPr>
              <p:cNvPr id="278547" name="Line 18"/>
              <p:cNvSpPr>
                <a:spLocks noChangeShapeType="1"/>
              </p:cNvSpPr>
              <p:nvPr/>
            </p:nvSpPr>
            <p:spPr bwMode="auto">
              <a:xfrm>
                <a:off x="3792" y="3216"/>
                <a:ext cx="1104" cy="0"/>
              </a:xfrm>
              <a:prstGeom prst="line">
                <a:avLst/>
              </a:prstGeom>
              <a:noFill/>
              <a:ln w="28575" cap="sq">
                <a:solidFill>
                  <a:schemeClr val="tx1"/>
                </a:solidFill>
                <a:round/>
                <a:headEnd/>
                <a:tailEnd/>
              </a:ln>
            </p:spPr>
            <p:txBody>
              <a:bodyPr wrap="none"/>
              <a:lstStyle/>
              <a:p>
                <a:endParaRPr lang="zh-CN" altLang="en-US"/>
              </a:p>
            </p:txBody>
          </p:sp>
          <p:sp>
            <p:nvSpPr>
              <p:cNvPr id="278548" name="Line 19"/>
              <p:cNvSpPr>
                <a:spLocks noChangeShapeType="1"/>
              </p:cNvSpPr>
              <p:nvPr/>
            </p:nvSpPr>
            <p:spPr bwMode="auto">
              <a:xfrm>
                <a:off x="3792" y="1920"/>
                <a:ext cx="0" cy="1296"/>
              </a:xfrm>
              <a:prstGeom prst="line">
                <a:avLst/>
              </a:prstGeom>
              <a:noFill/>
              <a:ln w="28575" cap="sq">
                <a:solidFill>
                  <a:schemeClr val="tx1"/>
                </a:solidFill>
                <a:round/>
                <a:headEnd/>
                <a:tailEnd/>
              </a:ln>
            </p:spPr>
            <p:txBody>
              <a:bodyPr wrap="none"/>
              <a:lstStyle/>
              <a:p>
                <a:endParaRPr lang="zh-CN" altLang="en-US"/>
              </a:p>
            </p:txBody>
          </p:sp>
          <p:sp>
            <p:nvSpPr>
              <p:cNvPr id="278549" name="Line 20"/>
              <p:cNvSpPr>
                <a:spLocks noChangeShapeType="1"/>
              </p:cNvSpPr>
              <p:nvPr/>
            </p:nvSpPr>
            <p:spPr bwMode="auto">
              <a:xfrm>
                <a:off x="4896" y="1920"/>
                <a:ext cx="0" cy="1296"/>
              </a:xfrm>
              <a:prstGeom prst="line">
                <a:avLst/>
              </a:prstGeom>
              <a:noFill/>
              <a:ln w="28575" cap="sq">
                <a:solidFill>
                  <a:schemeClr val="tx1"/>
                </a:solidFill>
                <a:round/>
                <a:headEnd/>
                <a:tailEnd/>
              </a:ln>
            </p:spPr>
            <p:txBody>
              <a:bodyPr wrap="none"/>
              <a:lstStyle/>
              <a:p>
                <a:endParaRPr lang="zh-CN" altLang="en-US"/>
              </a:p>
            </p:txBody>
          </p:sp>
          <p:sp>
            <p:nvSpPr>
              <p:cNvPr id="278550" name="Rectangle 21"/>
              <p:cNvSpPr>
                <a:spLocks noChangeArrowheads="1"/>
              </p:cNvSpPr>
              <p:nvPr/>
            </p:nvSpPr>
            <p:spPr bwMode="auto">
              <a:xfrm>
                <a:off x="3408" y="2892"/>
                <a:ext cx="384" cy="324"/>
              </a:xfrm>
              <a:prstGeom prst="rect">
                <a:avLst/>
              </a:prstGeom>
              <a:noFill/>
              <a:ln w="28575">
                <a:noFill/>
                <a:miter lim="800000"/>
                <a:headEnd/>
                <a:tailEnd/>
              </a:ln>
            </p:spPr>
            <p:txBody>
              <a:bodyPr/>
              <a:lstStyle/>
              <a:p>
                <a:pPr>
                  <a:spcBef>
                    <a:spcPct val="20000"/>
                  </a:spcBef>
                  <a:buClr>
                    <a:schemeClr val="bg2"/>
                  </a:buClr>
                  <a:buSzPct val="75000"/>
                  <a:buFont typeface="Wingdings" pitchFamily="2" charset="2"/>
                  <a:buNone/>
                </a:pPr>
                <a:r>
                  <a:rPr lang="en-US" altLang="zh-CN" sz="2000" b="1">
                    <a:latin typeface="微软雅黑" pitchFamily="34" charset="-122"/>
                    <a:ea typeface="微软雅黑" pitchFamily="34" charset="-122"/>
                  </a:rPr>
                  <a:t>12</a:t>
                </a:r>
              </a:p>
            </p:txBody>
          </p:sp>
          <p:sp>
            <p:nvSpPr>
              <p:cNvPr id="278551" name="Rectangle 22"/>
              <p:cNvSpPr>
                <a:spLocks noChangeArrowheads="1"/>
              </p:cNvSpPr>
              <p:nvPr/>
            </p:nvSpPr>
            <p:spPr bwMode="auto">
              <a:xfrm>
                <a:off x="3408" y="2568"/>
                <a:ext cx="384" cy="324"/>
              </a:xfrm>
              <a:prstGeom prst="rect">
                <a:avLst/>
              </a:prstGeom>
              <a:noFill/>
              <a:ln w="28575">
                <a:noFill/>
                <a:miter lim="800000"/>
                <a:headEnd/>
                <a:tailEnd/>
              </a:ln>
            </p:spPr>
            <p:txBody>
              <a:bodyPr/>
              <a:lstStyle/>
              <a:p>
                <a:pPr>
                  <a:spcBef>
                    <a:spcPct val="20000"/>
                  </a:spcBef>
                  <a:buClr>
                    <a:schemeClr val="bg2"/>
                  </a:buClr>
                  <a:buSzPct val="75000"/>
                  <a:buFont typeface="Wingdings" pitchFamily="2" charset="2"/>
                  <a:buNone/>
                </a:pPr>
                <a:r>
                  <a:rPr lang="en-US" altLang="zh-CN" sz="2000" b="1">
                    <a:latin typeface="微软雅黑" pitchFamily="34" charset="-122"/>
                    <a:ea typeface="微软雅黑" pitchFamily="34" charset="-122"/>
                  </a:rPr>
                  <a:t>34</a:t>
                </a:r>
              </a:p>
            </p:txBody>
          </p:sp>
          <p:sp>
            <p:nvSpPr>
              <p:cNvPr id="278552" name="Rectangle 23"/>
              <p:cNvSpPr>
                <a:spLocks noChangeArrowheads="1"/>
              </p:cNvSpPr>
              <p:nvPr/>
            </p:nvSpPr>
            <p:spPr bwMode="auto">
              <a:xfrm>
                <a:off x="3408" y="2244"/>
                <a:ext cx="384" cy="324"/>
              </a:xfrm>
              <a:prstGeom prst="rect">
                <a:avLst/>
              </a:prstGeom>
              <a:noFill/>
              <a:ln w="28575">
                <a:noFill/>
                <a:miter lim="800000"/>
                <a:headEnd/>
                <a:tailEnd/>
              </a:ln>
            </p:spPr>
            <p:txBody>
              <a:bodyPr/>
              <a:lstStyle/>
              <a:p>
                <a:pPr>
                  <a:spcBef>
                    <a:spcPct val="20000"/>
                  </a:spcBef>
                  <a:buClr>
                    <a:schemeClr val="bg2"/>
                  </a:buClr>
                  <a:buSzPct val="75000"/>
                  <a:buFont typeface="Wingdings" pitchFamily="2" charset="2"/>
                  <a:buNone/>
                </a:pPr>
                <a:r>
                  <a:rPr lang="en-US" altLang="zh-CN" sz="2000" b="1">
                    <a:latin typeface="微软雅黑" pitchFamily="34" charset="-122"/>
                    <a:ea typeface="微软雅黑" pitchFamily="34" charset="-122"/>
                  </a:rPr>
                  <a:t>56</a:t>
                </a:r>
              </a:p>
            </p:txBody>
          </p:sp>
          <p:sp>
            <p:nvSpPr>
              <p:cNvPr id="278553" name="Rectangle 24"/>
              <p:cNvSpPr>
                <a:spLocks noChangeArrowheads="1"/>
              </p:cNvSpPr>
              <p:nvPr/>
            </p:nvSpPr>
            <p:spPr bwMode="auto">
              <a:xfrm>
                <a:off x="3408" y="1920"/>
                <a:ext cx="384" cy="324"/>
              </a:xfrm>
              <a:prstGeom prst="rect">
                <a:avLst/>
              </a:prstGeom>
              <a:noFill/>
              <a:ln w="28575">
                <a:noFill/>
                <a:miter lim="800000"/>
                <a:headEnd/>
                <a:tailEnd/>
              </a:ln>
            </p:spPr>
            <p:txBody>
              <a:bodyPr/>
              <a:lstStyle/>
              <a:p>
                <a:pPr>
                  <a:spcBef>
                    <a:spcPct val="20000"/>
                  </a:spcBef>
                  <a:buClr>
                    <a:schemeClr val="bg2"/>
                  </a:buClr>
                  <a:buSzPct val="75000"/>
                  <a:buFont typeface="Wingdings" pitchFamily="2" charset="2"/>
                  <a:buNone/>
                </a:pPr>
                <a:r>
                  <a:rPr lang="en-US" altLang="zh-CN" sz="2000" b="1">
                    <a:latin typeface="微软雅黑" pitchFamily="34" charset="-122"/>
                    <a:ea typeface="微软雅黑" pitchFamily="34" charset="-122"/>
                  </a:rPr>
                  <a:t>78</a:t>
                </a:r>
              </a:p>
            </p:txBody>
          </p:sp>
          <p:sp>
            <p:nvSpPr>
              <p:cNvPr id="278554" name="Line 25"/>
              <p:cNvSpPr>
                <a:spLocks noChangeShapeType="1"/>
              </p:cNvSpPr>
              <p:nvPr/>
            </p:nvSpPr>
            <p:spPr bwMode="auto">
              <a:xfrm>
                <a:off x="3408" y="1920"/>
                <a:ext cx="384" cy="0"/>
              </a:xfrm>
              <a:prstGeom prst="line">
                <a:avLst/>
              </a:prstGeom>
              <a:noFill/>
              <a:ln w="28575" cap="sq">
                <a:solidFill>
                  <a:schemeClr val="tx1"/>
                </a:solidFill>
                <a:round/>
                <a:headEnd/>
                <a:tailEnd/>
              </a:ln>
            </p:spPr>
            <p:txBody>
              <a:bodyPr wrap="none"/>
              <a:lstStyle/>
              <a:p>
                <a:endParaRPr lang="zh-CN" altLang="en-US"/>
              </a:p>
            </p:txBody>
          </p:sp>
          <p:sp>
            <p:nvSpPr>
              <p:cNvPr id="278555" name="Line 26"/>
              <p:cNvSpPr>
                <a:spLocks noChangeShapeType="1"/>
              </p:cNvSpPr>
              <p:nvPr/>
            </p:nvSpPr>
            <p:spPr bwMode="auto">
              <a:xfrm>
                <a:off x="3408" y="2244"/>
                <a:ext cx="384" cy="0"/>
              </a:xfrm>
              <a:prstGeom prst="line">
                <a:avLst/>
              </a:prstGeom>
              <a:noFill/>
              <a:ln w="12700">
                <a:solidFill>
                  <a:schemeClr val="tx1"/>
                </a:solidFill>
                <a:round/>
                <a:headEnd/>
                <a:tailEnd/>
              </a:ln>
            </p:spPr>
            <p:txBody>
              <a:bodyPr wrap="none"/>
              <a:lstStyle/>
              <a:p>
                <a:endParaRPr lang="zh-CN" altLang="en-US"/>
              </a:p>
            </p:txBody>
          </p:sp>
          <p:sp>
            <p:nvSpPr>
              <p:cNvPr id="278556" name="Line 27"/>
              <p:cNvSpPr>
                <a:spLocks noChangeShapeType="1"/>
              </p:cNvSpPr>
              <p:nvPr/>
            </p:nvSpPr>
            <p:spPr bwMode="auto">
              <a:xfrm>
                <a:off x="3408" y="2568"/>
                <a:ext cx="384" cy="0"/>
              </a:xfrm>
              <a:prstGeom prst="line">
                <a:avLst/>
              </a:prstGeom>
              <a:noFill/>
              <a:ln w="12700">
                <a:solidFill>
                  <a:schemeClr val="tx1"/>
                </a:solidFill>
                <a:round/>
                <a:headEnd/>
                <a:tailEnd/>
              </a:ln>
            </p:spPr>
            <p:txBody>
              <a:bodyPr wrap="none"/>
              <a:lstStyle/>
              <a:p>
                <a:endParaRPr lang="zh-CN" altLang="en-US"/>
              </a:p>
            </p:txBody>
          </p:sp>
          <p:sp>
            <p:nvSpPr>
              <p:cNvPr id="278557" name="Line 28"/>
              <p:cNvSpPr>
                <a:spLocks noChangeShapeType="1"/>
              </p:cNvSpPr>
              <p:nvPr/>
            </p:nvSpPr>
            <p:spPr bwMode="auto">
              <a:xfrm>
                <a:off x="3408" y="2892"/>
                <a:ext cx="384" cy="0"/>
              </a:xfrm>
              <a:prstGeom prst="line">
                <a:avLst/>
              </a:prstGeom>
              <a:noFill/>
              <a:ln w="12700">
                <a:solidFill>
                  <a:schemeClr val="tx1"/>
                </a:solidFill>
                <a:round/>
                <a:headEnd/>
                <a:tailEnd/>
              </a:ln>
            </p:spPr>
            <p:txBody>
              <a:bodyPr wrap="none"/>
              <a:lstStyle/>
              <a:p>
                <a:endParaRPr lang="zh-CN" altLang="en-US"/>
              </a:p>
            </p:txBody>
          </p:sp>
          <p:sp>
            <p:nvSpPr>
              <p:cNvPr id="278558" name="Line 29"/>
              <p:cNvSpPr>
                <a:spLocks noChangeShapeType="1"/>
              </p:cNvSpPr>
              <p:nvPr/>
            </p:nvSpPr>
            <p:spPr bwMode="auto">
              <a:xfrm>
                <a:off x="3408" y="3216"/>
                <a:ext cx="384" cy="0"/>
              </a:xfrm>
              <a:prstGeom prst="line">
                <a:avLst/>
              </a:prstGeom>
              <a:noFill/>
              <a:ln w="28575" cap="sq">
                <a:solidFill>
                  <a:schemeClr val="tx1"/>
                </a:solidFill>
                <a:round/>
                <a:headEnd/>
                <a:tailEnd/>
              </a:ln>
            </p:spPr>
            <p:txBody>
              <a:bodyPr wrap="none"/>
              <a:lstStyle/>
              <a:p>
                <a:endParaRPr lang="zh-CN" altLang="en-US"/>
              </a:p>
            </p:txBody>
          </p:sp>
          <p:sp>
            <p:nvSpPr>
              <p:cNvPr id="278559" name="Line 30"/>
              <p:cNvSpPr>
                <a:spLocks noChangeShapeType="1"/>
              </p:cNvSpPr>
              <p:nvPr/>
            </p:nvSpPr>
            <p:spPr bwMode="auto">
              <a:xfrm>
                <a:off x="3408" y="1920"/>
                <a:ext cx="0" cy="1296"/>
              </a:xfrm>
              <a:prstGeom prst="line">
                <a:avLst/>
              </a:prstGeom>
              <a:noFill/>
              <a:ln w="28575" cap="sq">
                <a:solidFill>
                  <a:schemeClr val="tx1"/>
                </a:solidFill>
                <a:round/>
                <a:headEnd/>
                <a:tailEnd/>
              </a:ln>
            </p:spPr>
            <p:txBody>
              <a:bodyPr wrap="none"/>
              <a:lstStyle/>
              <a:p>
                <a:endParaRPr lang="zh-CN" altLang="en-US"/>
              </a:p>
            </p:txBody>
          </p:sp>
          <p:sp>
            <p:nvSpPr>
              <p:cNvPr id="278560" name="Line 31"/>
              <p:cNvSpPr>
                <a:spLocks noChangeShapeType="1"/>
              </p:cNvSpPr>
              <p:nvPr/>
            </p:nvSpPr>
            <p:spPr bwMode="auto">
              <a:xfrm>
                <a:off x="3792" y="1920"/>
                <a:ext cx="0" cy="1296"/>
              </a:xfrm>
              <a:prstGeom prst="line">
                <a:avLst/>
              </a:prstGeom>
              <a:noFill/>
              <a:ln w="28575" cap="sq">
                <a:solidFill>
                  <a:schemeClr val="tx1"/>
                </a:solidFill>
                <a:round/>
                <a:headEnd/>
                <a:tailEnd/>
              </a:ln>
            </p:spPr>
            <p:txBody>
              <a:bodyPr wrap="none"/>
              <a:lstStyle/>
              <a:p>
                <a:endParaRPr lang="zh-CN" altLang="en-US"/>
              </a:p>
            </p:txBody>
          </p:sp>
          <p:sp>
            <p:nvSpPr>
              <p:cNvPr id="278561" name="Text Box 32"/>
              <p:cNvSpPr txBox="1">
                <a:spLocks noChangeArrowheads="1"/>
              </p:cNvSpPr>
              <p:nvPr/>
            </p:nvSpPr>
            <p:spPr bwMode="auto">
              <a:xfrm>
                <a:off x="4176" y="3216"/>
                <a:ext cx="502" cy="288"/>
              </a:xfrm>
              <a:prstGeom prst="rect">
                <a:avLst/>
              </a:prstGeom>
              <a:noFill/>
              <a:ln w="28575">
                <a:noFill/>
                <a:miter lim="800000"/>
                <a:headEnd/>
                <a:tailEnd/>
              </a:ln>
            </p:spPr>
            <p:txBody>
              <a:bodyPr wrap="none">
                <a:spAutoFit/>
              </a:bodyPr>
              <a:lstStyle/>
              <a:p>
                <a:pPr algn="ctr"/>
                <a:r>
                  <a:rPr kumimoji="1" lang="zh-CN" altLang="en-US" sz="2400" b="1">
                    <a:latin typeface="微软雅黑" pitchFamily="34" charset="-122"/>
                    <a:ea typeface="微软雅黑" pitchFamily="34" charset="-122"/>
                  </a:rPr>
                  <a:t>地址</a:t>
                </a:r>
              </a:p>
            </p:txBody>
          </p:sp>
          <p:sp>
            <p:nvSpPr>
              <p:cNvPr id="278562" name="Text Box 33"/>
              <p:cNvSpPr txBox="1">
                <a:spLocks noChangeArrowheads="1"/>
              </p:cNvSpPr>
              <p:nvPr/>
            </p:nvSpPr>
            <p:spPr bwMode="auto">
              <a:xfrm>
                <a:off x="3351" y="3216"/>
                <a:ext cx="502" cy="288"/>
              </a:xfrm>
              <a:prstGeom prst="rect">
                <a:avLst/>
              </a:prstGeom>
              <a:noFill/>
              <a:ln w="28575">
                <a:noFill/>
                <a:miter lim="800000"/>
                <a:headEnd/>
                <a:tailEnd/>
              </a:ln>
            </p:spPr>
            <p:txBody>
              <a:bodyPr wrap="none">
                <a:spAutoFit/>
              </a:bodyPr>
              <a:lstStyle/>
              <a:p>
                <a:pPr algn="ctr"/>
                <a:r>
                  <a:rPr kumimoji="1" lang="zh-CN" altLang="en-US" sz="2400" b="1">
                    <a:latin typeface="微软雅黑" pitchFamily="34" charset="-122"/>
                    <a:ea typeface="微软雅黑" pitchFamily="34" charset="-122"/>
                  </a:rPr>
                  <a:t>内容</a:t>
                </a:r>
              </a:p>
            </p:txBody>
          </p:sp>
        </p:grpSp>
        <p:grpSp>
          <p:nvGrpSpPr>
            <p:cNvPr id="5" name="Group 34"/>
            <p:cNvGrpSpPr>
              <a:grpSpLocks/>
            </p:cNvGrpSpPr>
            <p:nvPr/>
          </p:nvGrpSpPr>
          <p:grpSpPr bwMode="auto">
            <a:xfrm>
              <a:off x="3408" y="2208"/>
              <a:ext cx="384" cy="1296"/>
              <a:chOff x="2016" y="2448"/>
              <a:chExt cx="384" cy="1296"/>
            </a:xfrm>
          </p:grpSpPr>
          <p:sp>
            <p:nvSpPr>
              <p:cNvPr id="278564" name="Rectangle 35"/>
              <p:cNvSpPr>
                <a:spLocks noChangeArrowheads="1"/>
              </p:cNvSpPr>
              <p:nvPr/>
            </p:nvSpPr>
            <p:spPr bwMode="auto">
              <a:xfrm>
                <a:off x="2016" y="3420"/>
                <a:ext cx="384" cy="324"/>
              </a:xfrm>
              <a:prstGeom prst="rect">
                <a:avLst/>
              </a:prstGeom>
              <a:noFill/>
              <a:ln w="28575">
                <a:solidFill>
                  <a:schemeClr val="hlink"/>
                </a:solidFill>
                <a:miter lim="800000"/>
                <a:headEnd/>
                <a:tailEnd/>
              </a:ln>
            </p:spPr>
            <p:txBody>
              <a:bodyPr/>
              <a:lstStyle/>
              <a:p>
                <a:pPr>
                  <a:spcBef>
                    <a:spcPct val="20000"/>
                  </a:spcBef>
                  <a:buClr>
                    <a:schemeClr val="bg2"/>
                  </a:buClr>
                  <a:buSzPct val="75000"/>
                  <a:buFont typeface="Wingdings" pitchFamily="2" charset="2"/>
                  <a:buNone/>
                </a:pPr>
                <a:r>
                  <a:rPr lang="en-US" altLang="zh-CN" sz="2000" b="1">
                    <a:solidFill>
                      <a:srgbClr val="FF0000"/>
                    </a:solidFill>
                    <a:effectLst>
                      <a:outerShdw blurRad="38100" dist="38100" dir="2700000" algn="tl">
                        <a:srgbClr val="C0C0C0"/>
                      </a:outerShdw>
                    </a:effectLst>
                    <a:latin typeface="微软雅黑" pitchFamily="34" charset="-122"/>
                    <a:ea typeface="微软雅黑" pitchFamily="34" charset="-122"/>
                  </a:rPr>
                  <a:t>12</a:t>
                </a:r>
              </a:p>
            </p:txBody>
          </p:sp>
          <p:sp>
            <p:nvSpPr>
              <p:cNvPr id="278565" name="Rectangle 36"/>
              <p:cNvSpPr>
                <a:spLocks noChangeArrowheads="1"/>
              </p:cNvSpPr>
              <p:nvPr/>
            </p:nvSpPr>
            <p:spPr bwMode="auto">
              <a:xfrm>
                <a:off x="2016" y="3096"/>
                <a:ext cx="384" cy="324"/>
              </a:xfrm>
              <a:prstGeom prst="rect">
                <a:avLst/>
              </a:prstGeom>
              <a:noFill/>
              <a:ln w="28575">
                <a:solidFill>
                  <a:schemeClr val="hlink"/>
                </a:solidFill>
                <a:miter lim="800000"/>
                <a:headEnd/>
                <a:tailEnd/>
              </a:ln>
            </p:spPr>
            <p:txBody>
              <a:bodyPr/>
              <a:lstStyle/>
              <a:p>
                <a:pPr>
                  <a:spcBef>
                    <a:spcPct val="20000"/>
                  </a:spcBef>
                  <a:buClr>
                    <a:schemeClr val="bg2"/>
                  </a:buClr>
                  <a:buSzPct val="75000"/>
                  <a:buFont typeface="Wingdings" pitchFamily="2" charset="2"/>
                  <a:buNone/>
                </a:pPr>
                <a:r>
                  <a:rPr lang="en-US" altLang="zh-CN" sz="2000" b="1">
                    <a:solidFill>
                      <a:srgbClr val="FF0000"/>
                    </a:solidFill>
                    <a:effectLst>
                      <a:outerShdw blurRad="38100" dist="38100" dir="2700000" algn="tl">
                        <a:srgbClr val="C0C0C0"/>
                      </a:outerShdw>
                    </a:effectLst>
                    <a:latin typeface="微软雅黑" pitchFamily="34" charset="-122"/>
                    <a:ea typeface="微软雅黑" pitchFamily="34" charset="-122"/>
                  </a:rPr>
                  <a:t>34</a:t>
                </a:r>
              </a:p>
            </p:txBody>
          </p:sp>
          <p:sp>
            <p:nvSpPr>
              <p:cNvPr id="278566" name="Rectangle 37"/>
              <p:cNvSpPr>
                <a:spLocks noChangeArrowheads="1"/>
              </p:cNvSpPr>
              <p:nvPr/>
            </p:nvSpPr>
            <p:spPr bwMode="auto">
              <a:xfrm>
                <a:off x="2016" y="2772"/>
                <a:ext cx="384" cy="324"/>
              </a:xfrm>
              <a:prstGeom prst="rect">
                <a:avLst/>
              </a:prstGeom>
              <a:noFill/>
              <a:ln w="28575">
                <a:solidFill>
                  <a:schemeClr val="hlink"/>
                </a:solidFill>
                <a:miter lim="800000"/>
                <a:headEnd/>
                <a:tailEnd/>
              </a:ln>
            </p:spPr>
            <p:txBody>
              <a:bodyPr/>
              <a:lstStyle/>
              <a:p>
                <a:pPr>
                  <a:spcBef>
                    <a:spcPct val="20000"/>
                  </a:spcBef>
                  <a:buClr>
                    <a:schemeClr val="bg2"/>
                  </a:buClr>
                  <a:buSzPct val="75000"/>
                  <a:buFont typeface="Wingdings" pitchFamily="2" charset="2"/>
                  <a:buNone/>
                </a:pPr>
                <a:r>
                  <a:rPr lang="en-US" altLang="zh-CN" sz="2000" b="1">
                    <a:solidFill>
                      <a:srgbClr val="FF0000"/>
                    </a:solidFill>
                    <a:effectLst>
                      <a:outerShdw blurRad="38100" dist="38100" dir="2700000" algn="tl">
                        <a:srgbClr val="C0C0C0"/>
                      </a:outerShdw>
                    </a:effectLst>
                    <a:latin typeface="微软雅黑" pitchFamily="34" charset="-122"/>
                    <a:ea typeface="微软雅黑" pitchFamily="34" charset="-122"/>
                  </a:rPr>
                  <a:t>56</a:t>
                </a:r>
              </a:p>
            </p:txBody>
          </p:sp>
          <p:sp>
            <p:nvSpPr>
              <p:cNvPr id="278567" name="Rectangle 38"/>
              <p:cNvSpPr>
                <a:spLocks noChangeArrowheads="1"/>
              </p:cNvSpPr>
              <p:nvPr/>
            </p:nvSpPr>
            <p:spPr bwMode="auto">
              <a:xfrm>
                <a:off x="2016" y="2448"/>
                <a:ext cx="384" cy="324"/>
              </a:xfrm>
              <a:prstGeom prst="rect">
                <a:avLst/>
              </a:prstGeom>
              <a:noFill/>
              <a:ln w="28575">
                <a:solidFill>
                  <a:schemeClr val="hlink"/>
                </a:solidFill>
                <a:miter lim="800000"/>
                <a:headEnd/>
                <a:tailEnd/>
              </a:ln>
            </p:spPr>
            <p:txBody>
              <a:bodyPr/>
              <a:lstStyle/>
              <a:p>
                <a:pPr>
                  <a:spcBef>
                    <a:spcPct val="20000"/>
                  </a:spcBef>
                  <a:buClr>
                    <a:schemeClr val="bg2"/>
                  </a:buClr>
                  <a:buSzPct val="75000"/>
                  <a:buFont typeface="Wingdings" pitchFamily="2" charset="2"/>
                  <a:buNone/>
                </a:pPr>
                <a:r>
                  <a:rPr lang="en-US" altLang="zh-CN" sz="2000" b="1">
                    <a:solidFill>
                      <a:srgbClr val="FF0000"/>
                    </a:solidFill>
                    <a:effectLst>
                      <a:outerShdw blurRad="38100" dist="38100" dir="2700000" algn="tl">
                        <a:srgbClr val="C0C0C0"/>
                      </a:outerShdw>
                    </a:effectLst>
                    <a:latin typeface="微软雅黑" pitchFamily="34" charset="-122"/>
                    <a:ea typeface="微软雅黑" pitchFamily="34" charset="-122"/>
                  </a:rPr>
                  <a:t>78</a:t>
                </a:r>
              </a:p>
            </p:txBody>
          </p:sp>
          <p:sp>
            <p:nvSpPr>
              <p:cNvPr id="278568" name="Line 39"/>
              <p:cNvSpPr>
                <a:spLocks noChangeShapeType="1"/>
              </p:cNvSpPr>
              <p:nvPr/>
            </p:nvSpPr>
            <p:spPr bwMode="auto">
              <a:xfrm>
                <a:off x="2016" y="2448"/>
                <a:ext cx="384" cy="0"/>
              </a:xfrm>
              <a:prstGeom prst="line">
                <a:avLst/>
              </a:prstGeom>
              <a:noFill/>
              <a:ln w="28575" cap="sq">
                <a:solidFill>
                  <a:schemeClr val="hlink"/>
                </a:solidFill>
                <a:round/>
                <a:headEnd/>
                <a:tailEnd/>
              </a:ln>
            </p:spPr>
            <p:txBody>
              <a:bodyPr wrap="none"/>
              <a:lstStyle/>
              <a:p>
                <a:endParaRPr lang="zh-CN" altLang="en-US"/>
              </a:p>
            </p:txBody>
          </p:sp>
          <p:sp>
            <p:nvSpPr>
              <p:cNvPr id="278569" name="Line 40"/>
              <p:cNvSpPr>
                <a:spLocks noChangeShapeType="1"/>
              </p:cNvSpPr>
              <p:nvPr/>
            </p:nvSpPr>
            <p:spPr bwMode="auto">
              <a:xfrm>
                <a:off x="2016" y="2772"/>
                <a:ext cx="384" cy="0"/>
              </a:xfrm>
              <a:prstGeom prst="line">
                <a:avLst/>
              </a:prstGeom>
              <a:noFill/>
              <a:ln w="12700">
                <a:solidFill>
                  <a:schemeClr val="hlink"/>
                </a:solidFill>
                <a:round/>
                <a:headEnd/>
                <a:tailEnd/>
              </a:ln>
            </p:spPr>
            <p:txBody>
              <a:bodyPr wrap="none"/>
              <a:lstStyle/>
              <a:p>
                <a:endParaRPr lang="zh-CN" altLang="en-US"/>
              </a:p>
            </p:txBody>
          </p:sp>
          <p:sp>
            <p:nvSpPr>
              <p:cNvPr id="278570" name="Line 41"/>
              <p:cNvSpPr>
                <a:spLocks noChangeShapeType="1"/>
              </p:cNvSpPr>
              <p:nvPr/>
            </p:nvSpPr>
            <p:spPr bwMode="auto">
              <a:xfrm>
                <a:off x="2016" y="3096"/>
                <a:ext cx="384" cy="0"/>
              </a:xfrm>
              <a:prstGeom prst="line">
                <a:avLst/>
              </a:prstGeom>
              <a:noFill/>
              <a:ln w="12700">
                <a:solidFill>
                  <a:schemeClr val="hlink"/>
                </a:solidFill>
                <a:round/>
                <a:headEnd/>
                <a:tailEnd/>
              </a:ln>
            </p:spPr>
            <p:txBody>
              <a:bodyPr wrap="none"/>
              <a:lstStyle/>
              <a:p>
                <a:endParaRPr lang="zh-CN" altLang="en-US"/>
              </a:p>
            </p:txBody>
          </p:sp>
          <p:sp>
            <p:nvSpPr>
              <p:cNvPr id="278571" name="Line 42"/>
              <p:cNvSpPr>
                <a:spLocks noChangeShapeType="1"/>
              </p:cNvSpPr>
              <p:nvPr/>
            </p:nvSpPr>
            <p:spPr bwMode="auto">
              <a:xfrm>
                <a:off x="2016" y="3420"/>
                <a:ext cx="384" cy="0"/>
              </a:xfrm>
              <a:prstGeom prst="line">
                <a:avLst/>
              </a:prstGeom>
              <a:noFill/>
              <a:ln w="12700">
                <a:solidFill>
                  <a:schemeClr val="hlink"/>
                </a:solidFill>
                <a:round/>
                <a:headEnd/>
                <a:tailEnd/>
              </a:ln>
            </p:spPr>
            <p:txBody>
              <a:bodyPr wrap="none"/>
              <a:lstStyle/>
              <a:p>
                <a:endParaRPr lang="zh-CN" altLang="en-US"/>
              </a:p>
            </p:txBody>
          </p:sp>
          <p:sp>
            <p:nvSpPr>
              <p:cNvPr id="278572" name="Line 43"/>
              <p:cNvSpPr>
                <a:spLocks noChangeShapeType="1"/>
              </p:cNvSpPr>
              <p:nvPr/>
            </p:nvSpPr>
            <p:spPr bwMode="auto">
              <a:xfrm>
                <a:off x="2016" y="3744"/>
                <a:ext cx="384" cy="0"/>
              </a:xfrm>
              <a:prstGeom prst="line">
                <a:avLst/>
              </a:prstGeom>
              <a:noFill/>
              <a:ln w="28575" cap="sq">
                <a:solidFill>
                  <a:schemeClr val="hlink"/>
                </a:solidFill>
                <a:round/>
                <a:headEnd/>
                <a:tailEnd/>
              </a:ln>
            </p:spPr>
            <p:txBody>
              <a:bodyPr wrap="none"/>
              <a:lstStyle/>
              <a:p>
                <a:endParaRPr lang="zh-CN" altLang="en-US"/>
              </a:p>
            </p:txBody>
          </p:sp>
          <p:sp>
            <p:nvSpPr>
              <p:cNvPr id="278573" name="Line 44"/>
              <p:cNvSpPr>
                <a:spLocks noChangeShapeType="1"/>
              </p:cNvSpPr>
              <p:nvPr/>
            </p:nvSpPr>
            <p:spPr bwMode="auto">
              <a:xfrm>
                <a:off x="2016" y="2448"/>
                <a:ext cx="0" cy="1296"/>
              </a:xfrm>
              <a:prstGeom prst="line">
                <a:avLst/>
              </a:prstGeom>
              <a:noFill/>
              <a:ln w="28575" cap="sq">
                <a:solidFill>
                  <a:schemeClr val="hlink"/>
                </a:solidFill>
                <a:round/>
                <a:headEnd/>
                <a:tailEnd/>
              </a:ln>
            </p:spPr>
            <p:txBody>
              <a:bodyPr wrap="none"/>
              <a:lstStyle/>
              <a:p>
                <a:endParaRPr lang="zh-CN" altLang="en-US"/>
              </a:p>
            </p:txBody>
          </p:sp>
          <p:sp>
            <p:nvSpPr>
              <p:cNvPr id="278574" name="Line 45"/>
              <p:cNvSpPr>
                <a:spLocks noChangeShapeType="1"/>
              </p:cNvSpPr>
              <p:nvPr/>
            </p:nvSpPr>
            <p:spPr bwMode="auto">
              <a:xfrm>
                <a:off x="2400" y="2448"/>
                <a:ext cx="0" cy="1296"/>
              </a:xfrm>
              <a:prstGeom prst="line">
                <a:avLst/>
              </a:prstGeom>
              <a:noFill/>
              <a:ln w="28575" cap="sq">
                <a:solidFill>
                  <a:schemeClr val="hlink"/>
                </a:solidFill>
                <a:round/>
                <a:headEnd/>
                <a:tailEnd/>
              </a:ln>
            </p:spPr>
            <p:txBody>
              <a:bodyPr wrap="none"/>
              <a:lstStyle/>
              <a:p>
                <a:endParaRPr lang="zh-CN" altLang="en-US"/>
              </a:p>
            </p:txBody>
          </p:sp>
        </p:grpSp>
        <p:grpSp>
          <p:nvGrpSpPr>
            <p:cNvPr id="6" name="Group 46"/>
            <p:cNvGrpSpPr>
              <a:grpSpLocks/>
            </p:cNvGrpSpPr>
            <p:nvPr/>
          </p:nvGrpSpPr>
          <p:grpSpPr bwMode="auto">
            <a:xfrm>
              <a:off x="620" y="2208"/>
              <a:ext cx="1828" cy="384"/>
              <a:chOff x="620" y="1920"/>
              <a:chExt cx="1828" cy="384"/>
            </a:xfrm>
          </p:grpSpPr>
          <p:sp>
            <p:nvSpPr>
              <p:cNvPr id="278576" name="Text Box 47"/>
              <p:cNvSpPr txBox="1">
                <a:spLocks noChangeArrowheads="1"/>
              </p:cNvSpPr>
              <p:nvPr/>
            </p:nvSpPr>
            <p:spPr bwMode="auto">
              <a:xfrm>
                <a:off x="620" y="1968"/>
                <a:ext cx="504" cy="288"/>
              </a:xfrm>
              <a:prstGeom prst="rect">
                <a:avLst/>
              </a:prstGeom>
              <a:noFill/>
              <a:ln w="28575">
                <a:noFill/>
                <a:miter lim="800000"/>
                <a:headEnd/>
                <a:tailEnd/>
              </a:ln>
            </p:spPr>
            <p:txBody>
              <a:bodyPr wrap="none">
                <a:spAutoFit/>
              </a:bodyPr>
              <a:lstStyle/>
              <a:p>
                <a:pPr algn="ctr"/>
                <a:r>
                  <a:rPr kumimoji="1" lang="en-US" altLang="zh-CN" sz="2400" b="1">
                    <a:latin typeface="微软雅黑" pitchFamily="34" charset="-122"/>
                    <a:ea typeface="微软雅黑" pitchFamily="34" charset="-122"/>
                  </a:rPr>
                  <a:t>EAX</a:t>
                </a:r>
              </a:p>
            </p:txBody>
          </p:sp>
          <p:grpSp>
            <p:nvGrpSpPr>
              <p:cNvPr id="7" name="Group 48"/>
              <p:cNvGrpSpPr>
                <a:grpSpLocks/>
              </p:cNvGrpSpPr>
              <p:nvPr/>
            </p:nvGrpSpPr>
            <p:grpSpPr bwMode="auto">
              <a:xfrm rot="5400000">
                <a:off x="1608" y="1464"/>
                <a:ext cx="384" cy="1296"/>
                <a:chOff x="2016" y="2448"/>
                <a:chExt cx="384" cy="1296"/>
              </a:xfrm>
            </p:grpSpPr>
            <p:sp>
              <p:nvSpPr>
                <p:cNvPr id="278578" name="Rectangle 49"/>
                <p:cNvSpPr>
                  <a:spLocks noChangeArrowheads="1"/>
                </p:cNvSpPr>
                <p:nvPr/>
              </p:nvSpPr>
              <p:spPr bwMode="auto">
                <a:xfrm>
                  <a:off x="2016" y="3420"/>
                  <a:ext cx="384" cy="324"/>
                </a:xfrm>
                <a:prstGeom prst="rect">
                  <a:avLst/>
                </a:prstGeom>
                <a:solidFill>
                  <a:srgbClr val="ECD8C4"/>
                </a:solidFill>
                <a:ln w="28575">
                  <a:solidFill>
                    <a:srgbClr val="005A42"/>
                  </a:solidFill>
                  <a:miter lim="800000"/>
                  <a:headEnd/>
                  <a:tailEnd/>
                </a:ln>
              </p:spPr>
              <p:txBody>
                <a:bodyPr rot="10800000" vert="eaVert"/>
                <a:lstStyle/>
                <a:p>
                  <a:pPr>
                    <a:spcBef>
                      <a:spcPct val="20000"/>
                    </a:spcBef>
                    <a:buClr>
                      <a:schemeClr val="bg2"/>
                    </a:buClr>
                    <a:buSzPct val="75000"/>
                    <a:buFont typeface="Wingdings" pitchFamily="2" charset="2"/>
                    <a:buNone/>
                  </a:pPr>
                  <a:endParaRPr lang="zh-CN" altLang="zh-CN" sz="2000" b="1">
                    <a:solidFill>
                      <a:schemeClr val="hlink"/>
                    </a:solidFill>
                    <a:latin typeface="微软雅黑" pitchFamily="34" charset="-122"/>
                    <a:ea typeface="微软雅黑" pitchFamily="34" charset="-122"/>
                  </a:endParaRPr>
                </a:p>
              </p:txBody>
            </p:sp>
            <p:sp>
              <p:nvSpPr>
                <p:cNvPr id="278579" name="Rectangle 50"/>
                <p:cNvSpPr>
                  <a:spLocks noChangeArrowheads="1"/>
                </p:cNvSpPr>
                <p:nvPr/>
              </p:nvSpPr>
              <p:spPr bwMode="auto">
                <a:xfrm>
                  <a:off x="2016" y="3096"/>
                  <a:ext cx="384" cy="324"/>
                </a:xfrm>
                <a:prstGeom prst="rect">
                  <a:avLst/>
                </a:prstGeom>
                <a:solidFill>
                  <a:srgbClr val="ECD8C4"/>
                </a:solidFill>
                <a:ln w="28575">
                  <a:solidFill>
                    <a:srgbClr val="005A42"/>
                  </a:solidFill>
                  <a:miter lim="800000"/>
                  <a:headEnd/>
                  <a:tailEnd/>
                </a:ln>
              </p:spPr>
              <p:txBody>
                <a:bodyPr rot="10800000" vert="eaVert"/>
                <a:lstStyle/>
                <a:p>
                  <a:pPr>
                    <a:spcBef>
                      <a:spcPct val="20000"/>
                    </a:spcBef>
                    <a:buClr>
                      <a:schemeClr val="bg2"/>
                    </a:buClr>
                    <a:buSzPct val="75000"/>
                    <a:buFont typeface="Wingdings" pitchFamily="2" charset="2"/>
                    <a:buNone/>
                  </a:pPr>
                  <a:endParaRPr lang="zh-CN" altLang="zh-CN" sz="2000" b="1">
                    <a:solidFill>
                      <a:schemeClr val="hlink"/>
                    </a:solidFill>
                    <a:latin typeface="微软雅黑" pitchFamily="34" charset="-122"/>
                    <a:ea typeface="微软雅黑" pitchFamily="34" charset="-122"/>
                  </a:endParaRPr>
                </a:p>
              </p:txBody>
            </p:sp>
            <p:sp>
              <p:nvSpPr>
                <p:cNvPr id="278580" name="Rectangle 51"/>
                <p:cNvSpPr>
                  <a:spLocks noChangeArrowheads="1"/>
                </p:cNvSpPr>
                <p:nvPr/>
              </p:nvSpPr>
              <p:spPr bwMode="auto">
                <a:xfrm>
                  <a:off x="2016" y="2772"/>
                  <a:ext cx="384" cy="324"/>
                </a:xfrm>
                <a:prstGeom prst="rect">
                  <a:avLst/>
                </a:prstGeom>
                <a:solidFill>
                  <a:srgbClr val="ECD8C4"/>
                </a:solidFill>
                <a:ln w="28575">
                  <a:solidFill>
                    <a:srgbClr val="005A42"/>
                  </a:solidFill>
                  <a:miter lim="800000"/>
                  <a:headEnd/>
                  <a:tailEnd/>
                </a:ln>
              </p:spPr>
              <p:txBody>
                <a:bodyPr rot="10800000" vert="eaVert"/>
                <a:lstStyle/>
                <a:p>
                  <a:pPr>
                    <a:spcBef>
                      <a:spcPct val="20000"/>
                    </a:spcBef>
                    <a:buClr>
                      <a:schemeClr val="bg2"/>
                    </a:buClr>
                    <a:buSzPct val="75000"/>
                    <a:buFont typeface="Wingdings" pitchFamily="2" charset="2"/>
                    <a:buNone/>
                  </a:pPr>
                  <a:endParaRPr lang="zh-CN" altLang="zh-CN" sz="2000" b="1">
                    <a:solidFill>
                      <a:schemeClr val="hlink"/>
                    </a:solidFill>
                    <a:latin typeface="微软雅黑" pitchFamily="34" charset="-122"/>
                    <a:ea typeface="微软雅黑" pitchFamily="34" charset="-122"/>
                  </a:endParaRPr>
                </a:p>
              </p:txBody>
            </p:sp>
            <p:sp>
              <p:nvSpPr>
                <p:cNvPr id="278581" name="Rectangle 52"/>
                <p:cNvSpPr>
                  <a:spLocks noChangeArrowheads="1"/>
                </p:cNvSpPr>
                <p:nvPr/>
              </p:nvSpPr>
              <p:spPr bwMode="auto">
                <a:xfrm>
                  <a:off x="2016" y="2448"/>
                  <a:ext cx="384" cy="324"/>
                </a:xfrm>
                <a:prstGeom prst="rect">
                  <a:avLst/>
                </a:prstGeom>
                <a:solidFill>
                  <a:srgbClr val="ECD8C4"/>
                </a:solidFill>
                <a:ln w="28575">
                  <a:solidFill>
                    <a:srgbClr val="005A42"/>
                  </a:solidFill>
                  <a:miter lim="800000"/>
                  <a:headEnd/>
                  <a:tailEnd/>
                </a:ln>
              </p:spPr>
              <p:txBody>
                <a:bodyPr rot="10800000" vert="eaVert"/>
                <a:lstStyle/>
                <a:p>
                  <a:pPr>
                    <a:spcBef>
                      <a:spcPct val="20000"/>
                    </a:spcBef>
                    <a:buClr>
                      <a:schemeClr val="bg2"/>
                    </a:buClr>
                    <a:buSzPct val="75000"/>
                    <a:buFont typeface="Wingdings" pitchFamily="2" charset="2"/>
                    <a:buNone/>
                  </a:pPr>
                  <a:endParaRPr lang="zh-CN" altLang="zh-CN" sz="2000" b="1">
                    <a:solidFill>
                      <a:schemeClr val="hlink"/>
                    </a:solidFill>
                    <a:latin typeface="微软雅黑" pitchFamily="34" charset="-122"/>
                    <a:ea typeface="微软雅黑" pitchFamily="34" charset="-122"/>
                  </a:endParaRPr>
                </a:p>
              </p:txBody>
            </p:sp>
            <p:sp>
              <p:nvSpPr>
                <p:cNvPr id="278582" name="Line 53"/>
                <p:cNvSpPr>
                  <a:spLocks noChangeShapeType="1"/>
                </p:cNvSpPr>
                <p:nvPr/>
              </p:nvSpPr>
              <p:spPr bwMode="auto">
                <a:xfrm>
                  <a:off x="2016" y="2448"/>
                  <a:ext cx="384" cy="0"/>
                </a:xfrm>
                <a:prstGeom prst="line">
                  <a:avLst/>
                </a:prstGeom>
                <a:noFill/>
                <a:ln w="28575" cap="sq">
                  <a:solidFill>
                    <a:srgbClr val="005A42"/>
                  </a:solidFill>
                  <a:round/>
                  <a:headEnd/>
                  <a:tailEnd/>
                </a:ln>
              </p:spPr>
              <p:txBody>
                <a:bodyPr wrap="none"/>
                <a:lstStyle/>
                <a:p>
                  <a:endParaRPr lang="zh-CN" altLang="en-US"/>
                </a:p>
              </p:txBody>
            </p:sp>
            <p:sp>
              <p:nvSpPr>
                <p:cNvPr id="278583" name="Line 54"/>
                <p:cNvSpPr>
                  <a:spLocks noChangeShapeType="1"/>
                </p:cNvSpPr>
                <p:nvPr/>
              </p:nvSpPr>
              <p:spPr bwMode="auto">
                <a:xfrm>
                  <a:off x="2016" y="2772"/>
                  <a:ext cx="384" cy="0"/>
                </a:xfrm>
                <a:prstGeom prst="line">
                  <a:avLst/>
                </a:prstGeom>
                <a:noFill/>
                <a:ln w="12700">
                  <a:solidFill>
                    <a:srgbClr val="005A42"/>
                  </a:solidFill>
                  <a:round/>
                  <a:headEnd/>
                  <a:tailEnd/>
                </a:ln>
              </p:spPr>
              <p:txBody>
                <a:bodyPr wrap="none"/>
                <a:lstStyle/>
                <a:p>
                  <a:endParaRPr lang="zh-CN" altLang="en-US"/>
                </a:p>
              </p:txBody>
            </p:sp>
            <p:sp>
              <p:nvSpPr>
                <p:cNvPr id="278584" name="Line 55"/>
                <p:cNvSpPr>
                  <a:spLocks noChangeShapeType="1"/>
                </p:cNvSpPr>
                <p:nvPr/>
              </p:nvSpPr>
              <p:spPr bwMode="auto">
                <a:xfrm>
                  <a:off x="2016" y="3096"/>
                  <a:ext cx="384" cy="0"/>
                </a:xfrm>
                <a:prstGeom prst="line">
                  <a:avLst/>
                </a:prstGeom>
                <a:noFill/>
                <a:ln w="12700">
                  <a:solidFill>
                    <a:srgbClr val="005A42"/>
                  </a:solidFill>
                  <a:round/>
                  <a:headEnd/>
                  <a:tailEnd/>
                </a:ln>
              </p:spPr>
              <p:txBody>
                <a:bodyPr wrap="none"/>
                <a:lstStyle/>
                <a:p>
                  <a:endParaRPr lang="zh-CN" altLang="en-US"/>
                </a:p>
              </p:txBody>
            </p:sp>
            <p:sp>
              <p:nvSpPr>
                <p:cNvPr id="278585" name="Line 56"/>
                <p:cNvSpPr>
                  <a:spLocks noChangeShapeType="1"/>
                </p:cNvSpPr>
                <p:nvPr/>
              </p:nvSpPr>
              <p:spPr bwMode="auto">
                <a:xfrm>
                  <a:off x="2016" y="3420"/>
                  <a:ext cx="384" cy="0"/>
                </a:xfrm>
                <a:prstGeom prst="line">
                  <a:avLst/>
                </a:prstGeom>
                <a:noFill/>
                <a:ln w="12700">
                  <a:solidFill>
                    <a:srgbClr val="005A42"/>
                  </a:solidFill>
                  <a:round/>
                  <a:headEnd/>
                  <a:tailEnd/>
                </a:ln>
              </p:spPr>
              <p:txBody>
                <a:bodyPr wrap="none"/>
                <a:lstStyle/>
                <a:p>
                  <a:endParaRPr lang="zh-CN" altLang="en-US"/>
                </a:p>
              </p:txBody>
            </p:sp>
            <p:sp>
              <p:nvSpPr>
                <p:cNvPr id="278586" name="Line 57"/>
                <p:cNvSpPr>
                  <a:spLocks noChangeShapeType="1"/>
                </p:cNvSpPr>
                <p:nvPr/>
              </p:nvSpPr>
              <p:spPr bwMode="auto">
                <a:xfrm>
                  <a:off x="2016" y="3744"/>
                  <a:ext cx="384" cy="0"/>
                </a:xfrm>
                <a:prstGeom prst="line">
                  <a:avLst/>
                </a:prstGeom>
                <a:noFill/>
                <a:ln w="28575" cap="sq">
                  <a:solidFill>
                    <a:srgbClr val="005A42"/>
                  </a:solidFill>
                  <a:round/>
                  <a:headEnd/>
                  <a:tailEnd/>
                </a:ln>
              </p:spPr>
              <p:txBody>
                <a:bodyPr wrap="none"/>
                <a:lstStyle/>
                <a:p>
                  <a:endParaRPr lang="zh-CN" altLang="en-US"/>
                </a:p>
              </p:txBody>
            </p:sp>
            <p:sp>
              <p:nvSpPr>
                <p:cNvPr id="278587" name="Line 58"/>
                <p:cNvSpPr>
                  <a:spLocks noChangeShapeType="1"/>
                </p:cNvSpPr>
                <p:nvPr/>
              </p:nvSpPr>
              <p:spPr bwMode="auto">
                <a:xfrm>
                  <a:off x="2016" y="2448"/>
                  <a:ext cx="0" cy="1296"/>
                </a:xfrm>
                <a:prstGeom prst="line">
                  <a:avLst/>
                </a:prstGeom>
                <a:noFill/>
                <a:ln w="28575" cap="sq">
                  <a:solidFill>
                    <a:srgbClr val="005A42"/>
                  </a:solidFill>
                  <a:round/>
                  <a:headEnd/>
                  <a:tailEnd/>
                </a:ln>
              </p:spPr>
              <p:txBody>
                <a:bodyPr wrap="none"/>
                <a:lstStyle/>
                <a:p>
                  <a:endParaRPr lang="zh-CN" altLang="en-US"/>
                </a:p>
              </p:txBody>
            </p:sp>
            <p:sp>
              <p:nvSpPr>
                <p:cNvPr id="278588" name="Line 59"/>
                <p:cNvSpPr>
                  <a:spLocks noChangeShapeType="1"/>
                </p:cNvSpPr>
                <p:nvPr/>
              </p:nvSpPr>
              <p:spPr bwMode="auto">
                <a:xfrm>
                  <a:off x="2400" y="2448"/>
                  <a:ext cx="0" cy="1296"/>
                </a:xfrm>
                <a:prstGeom prst="line">
                  <a:avLst/>
                </a:prstGeom>
                <a:noFill/>
                <a:ln w="28575" cap="sq">
                  <a:solidFill>
                    <a:srgbClr val="005A42"/>
                  </a:solidFill>
                  <a:round/>
                  <a:headEnd/>
                  <a:tailEnd/>
                </a:ln>
              </p:spPr>
              <p:txBody>
                <a:bodyPr wrap="none"/>
                <a:lstStyle/>
                <a:p>
                  <a:endParaRPr lang="zh-CN" altLang="en-US"/>
                </a:p>
              </p:txBody>
            </p:sp>
          </p:grpSp>
        </p:grpSp>
        <p:grpSp>
          <p:nvGrpSpPr>
            <p:cNvPr id="8" name="Group 60"/>
            <p:cNvGrpSpPr>
              <a:grpSpLocks/>
            </p:cNvGrpSpPr>
            <p:nvPr/>
          </p:nvGrpSpPr>
          <p:grpSpPr bwMode="auto">
            <a:xfrm>
              <a:off x="1296" y="2400"/>
              <a:ext cx="2112" cy="912"/>
              <a:chOff x="1296" y="2112"/>
              <a:chExt cx="2112" cy="912"/>
            </a:xfrm>
          </p:grpSpPr>
          <p:sp>
            <p:nvSpPr>
              <p:cNvPr id="278590" name="Line 61"/>
              <p:cNvSpPr>
                <a:spLocks noChangeShapeType="1"/>
              </p:cNvSpPr>
              <p:nvPr/>
            </p:nvSpPr>
            <p:spPr bwMode="auto">
              <a:xfrm flipH="1">
                <a:off x="2448" y="2112"/>
                <a:ext cx="960" cy="0"/>
              </a:xfrm>
              <a:prstGeom prst="line">
                <a:avLst/>
              </a:prstGeom>
              <a:noFill/>
              <a:ln w="28575">
                <a:solidFill>
                  <a:srgbClr val="005A42"/>
                </a:solidFill>
                <a:round/>
                <a:headEnd/>
                <a:tailEnd type="triangle" w="med" len="med"/>
              </a:ln>
            </p:spPr>
            <p:txBody>
              <a:bodyPr wrap="none"/>
              <a:lstStyle/>
              <a:p>
                <a:endParaRPr lang="zh-CN" altLang="en-US"/>
              </a:p>
            </p:txBody>
          </p:sp>
          <p:grpSp>
            <p:nvGrpSpPr>
              <p:cNvPr id="9" name="Group 62"/>
              <p:cNvGrpSpPr>
                <a:grpSpLocks/>
              </p:cNvGrpSpPr>
              <p:nvPr/>
            </p:nvGrpSpPr>
            <p:grpSpPr bwMode="auto">
              <a:xfrm>
                <a:off x="2016" y="2304"/>
                <a:ext cx="1392" cy="192"/>
                <a:chOff x="2016" y="2304"/>
                <a:chExt cx="1392" cy="192"/>
              </a:xfrm>
            </p:grpSpPr>
            <p:sp>
              <p:nvSpPr>
                <p:cNvPr id="278592" name="Line 63"/>
                <p:cNvSpPr>
                  <a:spLocks noChangeShapeType="1"/>
                </p:cNvSpPr>
                <p:nvPr/>
              </p:nvSpPr>
              <p:spPr bwMode="auto">
                <a:xfrm flipH="1">
                  <a:off x="2016" y="2496"/>
                  <a:ext cx="1392" cy="0"/>
                </a:xfrm>
                <a:prstGeom prst="line">
                  <a:avLst/>
                </a:prstGeom>
                <a:noFill/>
                <a:ln w="28575">
                  <a:solidFill>
                    <a:srgbClr val="005A42"/>
                  </a:solidFill>
                  <a:round/>
                  <a:headEnd/>
                  <a:tailEnd/>
                </a:ln>
              </p:spPr>
              <p:txBody>
                <a:bodyPr wrap="none"/>
                <a:lstStyle/>
                <a:p>
                  <a:endParaRPr lang="zh-CN" altLang="en-US"/>
                </a:p>
              </p:txBody>
            </p:sp>
            <p:sp>
              <p:nvSpPr>
                <p:cNvPr id="278593" name="Line 64"/>
                <p:cNvSpPr>
                  <a:spLocks noChangeShapeType="1"/>
                </p:cNvSpPr>
                <p:nvPr/>
              </p:nvSpPr>
              <p:spPr bwMode="auto">
                <a:xfrm flipV="1">
                  <a:off x="2016" y="2304"/>
                  <a:ext cx="0" cy="192"/>
                </a:xfrm>
                <a:prstGeom prst="line">
                  <a:avLst/>
                </a:prstGeom>
                <a:noFill/>
                <a:ln w="28575">
                  <a:solidFill>
                    <a:srgbClr val="005A42"/>
                  </a:solidFill>
                  <a:round/>
                  <a:headEnd/>
                  <a:tailEnd type="triangle" w="med" len="med"/>
                </a:ln>
              </p:spPr>
              <p:txBody>
                <a:bodyPr wrap="none"/>
                <a:lstStyle/>
                <a:p>
                  <a:endParaRPr lang="zh-CN" altLang="en-US"/>
                </a:p>
              </p:txBody>
            </p:sp>
          </p:grpSp>
          <p:grpSp>
            <p:nvGrpSpPr>
              <p:cNvPr id="10" name="Group 65"/>
              <p:cNvGrpSpPr>
                <a:grpSpLocks/>
              </p:cNvGrpSpPr>
              <p:nvPr/>
            </p:nvGrpSpPr>
            <p:grpSpPr bwMode="auto">
              <a:xfrm>
                <a:off x="1632" y="2304"/>
                <a:ext cx="1776" cy="432"/>
                <a:chOff x="2016" y="2304"/>
                <a:chExt cx="1392" cy="192"/>
              </a:xfrm>
            </p:grpSpPr>
            <p:sp>
              <p:nvSpPr>
                <p:cNvPr id="278595" name="Line 66"/>
                <p:cNvSpPr>
                  <a:spLocks noChangeShapeType="1"/>
                </p:cNvSpPr>
                <p:nvPr/>
              </p:nvSpPr>
              <p:spPr bwMode="auto">
                <a:xfrm flipH="1">
                  <a:off x="2016" y="2496"/>
                  <a:ext cx="1392" cy="0"/>
                </a:xfrm>
                <a:prstGeom prst="line">
                  <a:avLst/>
                </a:prstGeom>
                <a:noFill/>
                <a:ln w="28575">
                  <a:solidFill>
                    <a:srgbClr val="005A42"/>
                  </a:solidFill>
                  <a:round/>
                  <a:headEnd/>
                  <a:tailEnd/>
                </a:ln>
              </p:spPr>
              <p:txBody>
                <a:bodyPr wrap="none"/>
                <a:lstStyle/>
                <a:p>
                  <a:endParaRPr lang="zh-CN" altLang="en-US"/>
                </a:p>
              </p:txBody>
            </p:sp>
            <p:sp>
              <p:nvSpPr>
                <p:cNvPr id="278596" name="Line 67"/>
                <p:cNvSpPr>
                  <a:spLocks noChangeShapeType="1"/>
                </p:cNvSpPr>
                <p:nvPr/>
              </p:nvSpPr>
              <p:spPr bwMode="auto">
                <a:xfrm flipV="1">
                  <a:off x="2016" y="2304"/>
                  <a:ext cx="0" cy="192"/>
                </a:xfrm>
                <a:prstGeom prst="line">
                  <a:avLst/>
                </a:prstGeom>
                <a:noFill/>
                <a:ln w="28575">
                  <a:solidFill>
                    <a:srgbClr val="005A42"/>
                  </a:solidFill>
                  <a:round/>
                  <a:headEnd/>
                  <a:tailEnd type="triangle" w="med" len="med"/>
                </a:ln>
              </p:spPr>
              <p:txBody>
                <a:bodyPr wrap="none"/>
                <a:lstStyle/>
                <a:p>
                  <a:endParaRPr lang="zh-CN" altLang="en-US"/>
                </a:p>
              </p:txBody>
            </p:sp>
          </p:grpSp>
          <p:grpSp>
            <p:nvGrpSpPr>
              <p:cNvPr id="11" name="Group 68"/>
              <p:cNvGrpSpPr>
                <a:grpSpLocks/>
              </p:cNvGrpSpPr>
              <p:nvPr/>
            </p:nvGrpSpPr>
            <p:grpSpPr bwMode="auto">
              <a:xfrm>
                <a:off x="1296" y="2304"/>
                <a:ext cx="2112" cy="720"/>
                <a:chOff x="2016" y="2304"/>
                <a:chExt cx="1392" cy="192"/>
              </a:xfrm>
            </p:grpSpPr>
            <p:sp>
              <p:nvSpPr>
                <p:cNvPr id="278598" name="Line 69"/>
                <p:cNvSpPr>
                  <a:spLocks noChangeShapeType="1"/>
                </p:cNvSpPr>
                <p:nvPr/>
              </p:nvSpPr>
              <p:spPr bwMode="auto">
                <a:xfrm flipH="1">
                  <a:off x="2016" y="2496"/>
                  <a:ext cx="1392" cy="0"/>
                </a:xfrm>
                <a:prstGeom prst="line">
                  <a:avLst/>
                </a:prstGeom>
                <a:noFill/>
                <a:ln w="28575">
                  <a:solidFill>
                    <a:srgbClr val="005A42"/>
                  </a:solidFill>
                  <a:round/>
                  <a:headEnd/>
                  <a:tailEnd/>
                </a:ln>
              </p:spPr>
              <p:txBody>
                <a:bodyPr wrap="none"/>
                <a:lstStyle/>
                <a:p>
                  <a:endParaRPr lang="zh-CN" altLang="en-US"/>
                </a:p>
              </p:txBody>
            </p:sp>
            <p:sp>
              <p:nvSpPr>
                <p:cNvPr id="278599" name="Line 70"/>
                <p:cNvSpPr>
                  <a:spLocks noChangeShapeType="1"/>
                </p:cNvSpPr>
                <p:nvPr/>
              </p:nvSpPr>
              <p:spPr bwMode="auto">
                <a:xfrm flipV="1">
                  <a:off x="2016" y="2304"/>
                  <a:ext cx="0" cy="192"/>
                </a:xfrm>
                <a:prstGeom prst="line">
                  <a:avLst/>
                </a:prstGeom>
                <a:noFill/>
                <a:ln w="28575">
                  <a:solidFill>
                    <a:srgbClr val="005A42"/>
                  </a:solidFill>
                  <a:round/>
                  <a:headEnd/>
                  <a:tailEnd type="triangle" w="med" len="med"/>
                </a:ln>
              </p:spPr>
              <p:txBody>
                <a:bodyPr wrap="none"/>
                <a:lstStyle/>
                <a:p>
                  <a:endParaRPr lang="zh-CN" altLang="en-US"/>
                </a:p>
              </p:txBody>
            </p:sp>
          </p:grpSp>
        </p:grpSp>
        <p:sp>
          <p:nvSpPr>
            <p:cNvPr id="1093703" name="Text Box 71"/>
            <p:cNvSpPr txBox="1">
              <a:spLocks noChangeArrowheads="1"/>
            </p:cNvSpPr>
            <p:nvPr/>
          </p:nvSpPr>
          <p:spPr bwMode="auto">
            <a:xfrm>
              <a:off x="1156" y="2256"/>
              <a:ext cx="352" cy="288"/>
            </a:xfrm>
            <a:prstGeom prst="rect">
              <a:avLst/>
            </a:prstGeom>
            <a:noFill/>
            <a:ln w="28575">
              <a:noFill/>
              <a:miter lim="800000"/>
              <a:headEnd/>
              <a:tailEnd/>
            </a:ln>
          </p:spPr>
          <p:txBody>
            <a:bodyPr wrap="none">
              <a:spAutoFit/>
            </a:bodyPr>
            <a:lstStyle/>
            <a:p>
              <a:pPr algn="ctr"/>
              <a:r>
                <a:rPr kumimoji="1" lang="en-US" altLang="zh-CN" sz="2400" b="1">
                  <a:latin typeface="微软雅黑" pitchFamily="34" charset="-122"/>
                  <a:ea typeface="微软雅黑" pitchFamily="34" charset="-122"/>
                </a:rPr>
                <a:t>12</a:t>
              </a:r>
            </a:p>
          </p:txBody>
        </p:sp>
        <p:sp>
          <p:nvSpPr>
            <p:cNvPr id="1093704" name="Text Box 72"/>
            <p:cNvSpPr txBox="1">
              <a:spLocks noChangeArrowheads="1"/>
            </p:cNvSpPr>
            <p:nvPr/>
          </p:nvSpPr>
          <p:spPr bwMode="auto">
            <a:xfrm>
              <a:off x="1440" y="2256"/>
              <a:ext cx="360" cy="288"/>
            </a:xfrm>
            <a:prstGeom prst="rect">
              <a:avLst/>
            </a:prstGeom>
            <a:noFill/>
            <a:ln w="28575">
              <a:noFill/>
              <a:miter lim="800000"/>
              <a:headEnd/>
              <a:tailEnd/>
            </a:ln>
          </p:spPr>
          <p:txBody>
            <a:bodyPr>
              <a:spAutoFit/>
            </a:bodyPr>
            <a:lstStyle/>
            <a:p>
              <a:pPr algn="ctr"/>
              <a:r>
                <a:rPr kumimoji="1" lang="en-US" altLang="zh-CN" sz="2400" b="1">
                  <a:latin typeface="微软雅黑" pitchFamily="34" charset="-122"/>
                  <a:ea typeface="微软雅黑" pitchFamily="34" charset="-122"/>
                </a:rPr>
                <a:t>34</a:t>
              </a:r>
            </a:p>
          </p:txBody>
        </p:sp>
        <p:sp>
          <p:nvSpPr>
            <p:cNvPr id="1093705" name="Text Box 73"/>
            <p:cNvSpPr txBox="1">
              <a:spLocks noChangeArrowheads="1"/>
            </p:cNvSpPr>
            <p:nvPr/>
          </p:nvSpPr>
          <p:spPr bwMode="auto">
            <a:xfrm>
              <a:off x="1780" y="2256"/>
              <a:ext cx="352" cy="288"/>
            </a:xfrm>
            <a:prstGeom prst="rect">
              <a:avLst/>
            </a:prstGeom>
            <a:noFill/>
            <a:ln w="28575">
              <a:noFill/>
              <a:miter lim="800000"/>
              <a:headEnd/>
              <a:tailEnd/>
            </a:ln>
          </p:spPr>
          <p:txBody>
            <a:bodyPr wrap="none">
              <a:spAutoFit/>
            </a:bodyPr>
            <a:lstStyle/>
            <a:p>
              <a:pPr algn="ctr"/>
              <a:r>
                <a:rPr kumimoji="1" lang="en-US" altLang="zh-CN" sz="2400" b="1">
                  <a:latin typeface="微软雅黑" pitchFamily="34" charset="-122"/>
                  <a:ea typeface="微软雅黑" pitchFamily="34" charset="-122"/>
                </a:rPr>
                <a:t>56</a:t>
              </a:r>
            </a:p>
          </p:txBody>
        </p:sp>
        <p:sp>
          <p:nvSpPr>
            <p:cNvPr id="1093706" name="Text Box 74"/>
            <p:cNvSpPr txBox="1">
              <a:spLocks noChangeArrowheads="1"/>
            </p:cNvSpPr>
            <p:nvPr/>
          </p:nvSpPr>
          <p:spPr bwMode="auto">
            <a:xfrm>
              <a:off x="2116" y="2256"/>
              <a:ext cx="352" cy="288"/>
            </a:xfrm>
            <a:prstGeom prst="rect">
              <a:avLst/>
            </a:prstGeom>
            <a:noFill/>
            <a:ln w="28575">
              <a:noFill/>
              <a:miter lim="800000"/>
              <a:headEnd/>
              <a:tailEnd/>
            </a:ln>
          </p:spPr>
          <p:txBody>
            <a:bodyPr wrap="none">
              <a:spAutoFit/>
            </a:bodyPr>
            <a:lstStyle/>
            <a:p>
              <a:pPr algn="ctr"/>
              <a:r>
                <a:rPr kumimoji="1" lang="en-US" altLang="zh-CN" sz="2400" b="1">
                  <a:latin typeface="微软雅黑" pitchFamily="34" charset="-122"/>
                  <a:ea typeface="微软雅黑" pitchFamily="34" charset="-122"/>
                </a:rPr>
                <a:t>78</a:t>
              </a: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idx="4294967295"/>
          </p:nvPr>
        </p:nvSpPr>
        <p:spPr>
          <a:xfrm>
            <a:off x="0" y="274638"/>
            <a:ext cx="8229600" cy="1143000"/>
          </a:xfrm>
        </p:spPr>
        <p:txBody>
          <a:bodyPr anchor="ctr"/>
          <a:lstStyle/>
          <a:p>
            <a:r>
              <a:rPr lang="zh-CN" altLang="en-US">
                <a:solidFill>
                  <a:srgbClr val="FF0000"/>
                </a:solidFill>
                <a:latin typeface="微软雅黑" pitchFamily="34" charset="-122"/>
                <a:ea typeface="微软雅黑" pitchFamily="34" charset="-122"/>
              </a:rPr>
              <a:t>例：运行结果</a:t>
            </a:r>
            <a:r>
              <a:rPr lang="en-US" altLang="zh-CN">
                <a:solidFill>
                  <a:srgbClr val="FF0000"/>
                </a:solidFill>
                <a:latin typeface="微软雅黑" pitchFamily="34" charset="-122"/>
                <a:ea typeface="微软雅黑" pitchFamily="34" charset="-122"/>
              </a:rPr>
              <a:t>(2)</a:t>
            </a:r>
          </a:p>
        </p:txBody>
      </p:sp>
      <p:grpSp>
        <p:nvGrpSpPr>
          <p:cNvPr id="2" name="Group 3"/>
          <p:cNvGrpSpPr>
            <a:grpSpLocks/>
          </p:cNvGrpSpPr>
          <p:nvPr/>
        </p:nvGrpSpPr>
        <p:grpSpPr bwMode="auto">
          <a:xfrm>
            <a:off x="781050" y="1504950"/>
            <a:ext cx="7005638" cy="4572000"/>
            <a:chOff x="492" y="948"/>
            <a:chExt cx="4413" cy="2880"/>
          </a:xfrm>
        </p:grpSpPr>
        <p:sp>
          <p:nvSpPr>
            <p:cNvPr id="1094659" name="Text Box 3"/>
            <p:cNvSpPr txBox="1">
              <a:spLocks noChangeArrowheads="1"/>
            </p:cNvSpPr>
            <p:nvPr/>
          </p:nvSpPr>
          <p:spPr bwMode="auto">
            <a:xfrm>
              <a:off x="599" y="1392"/>
              <a:ext cx="2499" cy="327"/>
            </a:xfrm>
            <a:prstGeom prst="rect">
              <a:avLst/>
            </a:prstGeom>
            <a:noFill/>
            <a:ln w="28575">
              <a:noFill/>
              <a:miter lim="800000"/>
              <a:headEnd/>
              <a:tailEnd/>
            </a:ln>
          </p:spPr>
          <p:txBody>
            <a:bodyPr wrap="none">
              <a:spAutoFit/>
            </a:bodyPr>
            <a:lstStyle/>
            <a:p>
              <a:pPr algn="ctr"/>
              <a:r>
                <a:rPr kumimoji="1" lang="en-US" altLang="zh-CN" sz="2800" b="1" dirty="0">
                  <a:solidFill>
                    <a:srgbClr val="FF0000"/>
                  </a:solidFill>
                  <a:latin typeface="微软雅黑" pitchFamily="34" charset="-122"/>
                  <a:ea typeface="微软雅黑" pitchFamily="34" charset="-122"/>
                </a:rPr>
                <a:t>mov </a:t>
              </a:r>
              <a:r>
                <a:rPr kumimoji="1" lang="en-US" altLang="zh-CN" sz="2800" b="1" dirty="0" err="1">
                  <a:solidFill>
                    <a:srgbClr val="FF0000"/>
                  </a:solidFill>
                  <a:latin typeface="微软雅黑" pitchFamily="34" charset="-122"/>
                  <a:ea typeface="微软雅黑" pitchFamily="34" charset="-122"/>
                </a:rPr>
                <a:t>eax</a:t>
              </a:r>
              <a:r>
                <a:rPr kumimoji="1" lang="en-US" altLang="zh-CN" sz="2800" b="1" dirty="0">
                  <a:solidFill>
                    <a:srgbClr val="FF0000"/>
                  </a:solidFill>
                  <a:latin typeface="微软雅黑" pitchFamily="34" charset="-122"/>
                  <a:ea typeface="微软雅黑" pitchFamily="34" charset="-122"/>
                </a:rPr>
                <a:t>, offset </a:t>
              </a:r>
              <a:r>
                <a:rPr kumimoji="1" lang="en-US" altLang="zh-CN" sz="2800" b="1" dirty="0" err="1">
                  <a:solidFill>
                    <a:srgbClr val="FF0000"/>
                  </a:solidFill>
                  <a:latin typeface="微软雅黑" pitchFamily="34" charset="-122"/>
                  <a:ea typeface="微软雅黑" pitchFamily="34" charset="-122"/>
                </a:rPr>
                <a:t>c_var</a:t>
              </a:r>
              <a:endParaRPr kumimoji="1" lang="en-US" altLang="zh-CN" sz="2800" b="1" dirty="0">
                <a:solidFill>
                  <a:srgbClr val="FF0000"/>
                </a:solidFill>
                <a:latin typeface="微软雅黑" pitchFamily="34" charset="-122"/>
                <a:ea typeface="微软雅黑" pitchFamily="34" charset="-122"/>
              </a:endParaRPr>
            </a:p>
          </p:txBody>
        </p:sp>
        <p:grpSp>
          <p:nvGrpSpPr>
            <p:cNvPr id="3" name="Group 4"/>
            <p:cNvGrpSpPr>
              <a:grpSpLocks/>
            </p:cNvGrpSpPr>
            <p:nvPr/>
          </p:nvGrpSpPr>
          <p:grpSpPr bwMode="auto">
            <a:xfrm>
              <a:off x="3769" y="1410"/>
              <a:ext cx="1078" cy="594"/>
              <a:chOff x="3808" y="960"/>
              <a:chExt cx="1078" cy="594"/>
            </a:xfrm>
          </p:grpSpPr>
          <p:sp>
            <p:nvSpPr>
              <p:cNvPr id="279558" name="Text Box 5"/>
              <p:cNvSpPr txBox="1">
                <a:spLocks noChangeArrowheads="1"/>
              </p:cNvSpPr>
              <p:nvPr/>
            </p:nvSpPr>
            <p:spPr bwMode="auto">
              <a:xfrm>
                <a:off x="4149" y="960"/>
                <a:ext cx="504" cy="288"/>
              </a:xfrm>
              <a:prstGeom prst="rect">
                <a:avLst/>
              </a:prstGeom>
              <a:noFill/>
              <a:ln w="28575">
                <a:noFill/>
                <a:miter lim="800000"/>
                <a:headEnd/>
                <a:tailEnd/>
              </a:ln>
            </p:spPr>
            <p:txBody>
              <a:bodyPr wrap="none">
                <a:spAutoFit/>
              </a:bodyPr>
              <a:lstStyle/>
              <a:p>
                <a:pPr algn="ctr"/>
                <a:r>
                  <a:rPr kumimoji="1" lang="en-US" altLang="zh-CN" sz="2400" b="1">
                    <a:latin typeface="微软雅黑" pitchFamily="34" charset="-122"/>
                    <a:ea typeface="微软雅黑" pitchFamily="34" charset="-122"/>
                  </a:rPr>
                  <a:t>EAX</a:t>
                </a:r>
              </a:p>
            </p:txBody>
          </p:sp>
          <p:sp>
            <p:nvSpPr>
              <p:cNvPr id="279559" name="Rectangle 6"/>
              <p:cNvSpPr>
                <a:spLocks noChangeArrowheads="1"/>
              </p:cNvSpPr>
              <p:nvPr/>
            </p:nvSpPr>
            <p:spPr bwMode="auto">
              <a:xfrm>
                <a:off x="3808" y="1248"/>
                <a:ext cx="1078" cy="306"/>
              </a:xfrm>
              <a:prstGeom prst="rect">
                <a:avLst/>
              </a:prstGeom>
              <a:solidFill>
                <a:srgbClr val="ECD8C4"/>
              </a:solidFill>
              <a:ln w="28575">
                <a:solidFill>
                  <a:srgbClr val="005A42"/>
                </a:solidFill>
                <a:miter lim="800000"/>
                <a:headEnd/>
                <a:tailEnd/>
              </a:ln>
            </p:spPr>
            <p:txBody>
              <a:bodyPr wrap="none">
                <a:spAutoFit/>
              </a:bodyPr>
              <a:lstStyle/>
              <a:p>
                <a:pPr algn="ctr"/>
                <a:r>
                  <a:rPr kumimoji="1" lang="en-US" altLang="zh-CN" sz="2400" b="1">
                    <a:latin typeface="微软雅黑" pitchFamily="34" charset="-122"/>
                    <a:ea typeface="微软雅黑" pitchFamily="34" charset="-122"/>
                  </a:rPr>
                  <a:t>00401022</a:t>
                </a:r>
              </a:p>
            </p:txBody>
          </p:sp>
        </p:grpSp>
        <p:sp>
          <p:nvSpPr>
            <p:cNvPr id="1094663" name="Rectangle 7"/>
            <p:cNvSpPr>
              <a:spLocks noChangeArrowheads="1"/>
            </p:cNvSpPr>
            <p:nvPr/>
          </p:nvSpPr>
          <p:spPr bwMode="auto">
            <a:xfrm>
              <a:off x="601" y="1776"/>
              <a:ext cx="2055" cy="327"/>
            </a:xfrm>
            <a:prstGeom prst="rect">
              <a:avLst/>
            </a:prstGeom>
            <a:noFill/>
            <a:ln w="28575">
              <a:noFill/>
              <a:miter lim="800000"/>
              <a:headEnd/>
              <a:tailEnd/>
            </a:ln>
          </p:spPr>
          <p:txBody>
            <a:bodyPr wrap="none">
              <a:spAutoFit/>
            </a:bodyPr>
            <a:lstStyle/>
            <a:p>
              <a:pPr algn="ctr"/>
              <a:r>
                <a:rPr kumimoji="1" lang="en-US" altLang="zh-CN" sz="2800" b="1" dirty="0">
                  <a:latin typeface="微软雅黑" pitchFamily="34" charset="-122"/>
                  <a:ea typeface="微软雅黑" pitchFamily="34" charset="-122"/>
                </a:rPr>
                <a:t>mov </a:t>
              </a:r>
              <a:r>
                <a:rPr kumimoji="1" lang="en-US" altLang="zh-CN" sz="2800" b="1" dirty="0" err="1">
                  <a:latin typeface="微软雅黑" pitchFamily="34" charset="-122"/>
                  <a:ea typeface="微软雅黑" pitchFamily="34" charset="-122"/>
                </a:rPr>
                <a:t>eax</a:t>
              </a:r>
              <a:r>
                <a:rPr kumimoji="1" lang="en-US" altLang="zh-CN" sz="2800" b="1" dirty="0">
                  <a:latin typeface="微软雅黑" pitchFamily="34" charset="-122"/>
                  <a:ea typeface="微软雅黑" pitchFamily="34" charset="-122"/>
                </a:rPr>
                <a:t>, </a:t>
              </a:r>
              <a:r>
                <a:rPr kumimoji="1" lang="en-US" altLang="zh-CN" sz="2800" b="1" dirty="0" err="1">
                  <a:latin typeface="微软雅黑" pitchFamily="34" charset="-122"/>
                  <a:ea typeface="微软雅黑" pitchFamily="34" charset="-122"/>
                </a:rPr>
                <a:t>cs</a:t>
              </a:r>
              <a:r>
                <a:rPr kumimoji="1" lang="en-US" altLang="zh-CN" sz="2800" b="1" dirty="0">
                  <a:latin typeface="微软雅黑" pitchFamily="34" charset="-122"/>
                  <a:ea typeface="微软雅黑" pitchFamily="34" charset="-122"/>
                </a:rPr>
                <a:t>:[</a:t>
              </a:r>
              <a:r>
                <a:rPr kumimoji="1" lang="en-US" altLang="zh-CN" sz="2800" b="1" dirty="0" err="1">
                  <a:latin typeface="微软雅黑" pitchFamily="34" charset="-122"/>
                  <a:ea typeface="微软雅黑" pitchFamily="34" charset="-122"/>
                </a:rPr>
                <a:t>eax</a:t>
              </a:r>
              <a:r>
                <a:rPr kumimoji="1" lang="en-US" altLang="zh-CN" sz="2800" b="1" dirty="0">
                  <a:latin typeface="微软雅黑" pitchFamily="34" charset="-122"/>
                  <a:ea typeface="微软雅黑" pitchFamily="34" charset="-122"/>
                </a:rPr>
                <a:t>]</a:t>
              </a:r>
            </a:p>
          </p:txBody>
        </p:sp>
        <p:sp>
          <p:nvSpPr>
            <p:cNvPr id="1094664" name="Line 8"/>
            <p:cNvSpPr>
              <a:spLocks noChangeShapeType="1"/>
            </p:cNvSpPr>
            <p:nvPr/>
          </p:nvSpPr>
          <p:spPr bwMode="auto">
            <a:xfrm>
              <a:off x="4329" y="2004"/>
              <a:ext cx="0" cy="240"/>
            </a:xfrm>
            <a:prstGeom prst="line">
              <a:avLst/>
            </a:prstGeom>
            <a:noFill/>
            <a:ln w="57150">
              <a:solidFill>
                <a:srgbClr val="005A42"/>
              </a:solidFill>
              <a:round/>
              <a:headEnd/>
              <a:tailEnd type="triangle" w="med" len="med"/>
            </a:ln>
          </p:spPr>
          <p:txBody>
            <a:bodyPr wrap="none"/>
            <a:lstStyle/>
            <a:p>
              <a:endParaRPr lang="zh-CN" altLang="en-US"/>
            </a:p>
          </p:txBody>
        </p:sp>
        <p:grpSp>
          <p:nvGrpSpPr>
            <p:cNvPr id="4" name="Group 9"/>
            <p:cNvGrpSpPr>
              <a:grpSpLocks/>
            </p:cNvGrpSpPr>
            <p:nvPr/>
          </p:nvGrpSpPr>
          <p:grpSpPr bwMode="auto">
            <a:xfrm>
              <a:off x="3360" y="2244"/>
              <a:ext cx="1545" cy="1584"/>
              <a:chOff x="3351" y="1920"/>
              <a:chExt cx="1545" cy="1584"/>
            </a:xfrm>
          </p:grpSpPr>
          <p:sp>
            <p:nvSpPr>
              <p:cNvPr id="279563" name="Rectangle 10"/>
              <p:cNvSpPr>
                <a:spLocks noChangeArrowheads="1"/>
              </p:cNvSpPr>
              <p:nvPr/>
            </p:nvSpPr>
            <p:spPr bwMode="auto">
              <a:xfrm>
                <a:off x="3792" y="2892"/>
                <a:ext cx="1104" cy="324"/>
              </a:xfrm>
              <a:prstGeom prst="rect">
                <a:avLst/>
              </a:prstGeom>
              <a:noFill/>
              <a:ln w="28575">
                <a:noFill/>
                <a:miter lim="800000"/>
                <a:headEnd/>
                <a:tailEnd/>
              </a:ln>
            </p:spPr>
            <p:txBody>
              <a:bodyPr/>
              <a:lstStyle/>
              <a:p>
                <a:pPr>
                  <a:spcBef>
                    <a:spcPct val="20000"/>
                  </a:spcBef>
                  <a:buClr>
                    <a:schemeClr val="bg2"/>
                  </a:buClr>
                  <a:buSzPct val="75000"/>
                  <a:buFont typeface="Wingdings" pitchFamily="2" charset="2"/>
                  <a:buNone/>
                </a:pPr>
                <a:r>
                  <a:rPr lang="en-US" altLang="zh-CN" sz="2000" b="1">
                    <a:latin typeface="微软雅黑" pitchFamily="34" charset="-122"/>
                    <a:ea typeface="微软雅黑" pitchFamily="34" charset="-122"/>
                  </a:rPr>
                  <a:t>00401025</a:t>
                </a:r>
              </a:p>
            </p:txBody>
          </p:sp>
          <p:sp>
            <p:nvSpPr>
              <p:cNvPr id="279564" name="Rectangle 11"/>
              <p:cNvSpPr>
                <a:spLocks noChangeArrowheads="1"/>
              </p:cNvSpPr>
              <p:nvPr/>
            </p:nvSpPr>
            <p:spPr bwMode="auto">
              <a:xfrm>
                <a:off x="3792" y="2568"/>
                <a:ext cx="1104" cy="324"/>
              </a:xfrm>
              <a:prstGeom prst="rect">
                <a:avLst/>
              </a:prstGeom>
              <a:noFill/>
              <a:ln w="28575">
                <a:noFill/>
                <a:miter lim="800000"/>
                <a:headEnd/>
                <a:tailEnd/>
              </a:ln>
            </p:spPr>
            <p:txBody>
              <a:bodyPr/>
              <a:lstStyle/>
              <a:p>
                <a:pPr>
                  <a:spcBef>
                    <a:spcPct val="20000"/>
                  </a:spcBef>
                  <a:buClr>
                    <a:schemeClr val="bg2"/>
                  </a:buClr>
                  <a:buSzPct val="75000"/>
                  <a:buFont typeface="Wingdings" pitchFamily="2" charset="2"/>
                  <a:buNone/>
                </a:pPr>
                <a:r>
                  <a:rPr lang="en-US" altLang="zh-CN" sz="2000" b="1">
                    <a:latin typeface="微软雅黑" pitchFamily="34" charset="-122"/>
                    <a:ea typeface="微软雅黑" pitchFamily="34" charset="-122"/>
                  </a:rPr>
                  <a:t>00401024</a:t>
                </a:r>
              </a:p>
            </p:txBody>
          </p:sp>
          <p:sp>
            <p:nvSpPr>
              <p:cNvPr id="279565" name="Rectangle 12"/>
              <p:cNvSpPr>
                <a:spLocks noChangeArrowheads="1"/>
              </p:cNvSpPr>
              <p:nvPr/>
            </p:nvSpPr>
            <p:spPr bwMode="auto">
              <a:xfrm>
                <a:off x="3792" y="2244"/>
                <a:ext cx="1104" cy="324"/>
              </a:xfrm>
              <a:prstGeom prst="rect">
                <a:avLst/>
              </a:prstGeom>
              <a:noFill/>
              <a:ln w="28575">
                <a:noFill/>
                <a:miter lim="800000"/>
                <a:headEnd/>
                <a:tailEnd/>
              </a:ln>
            </p:spPr>
            <p:txBody>
              <a:bodyPr/>
              <a:lstStyle/>
              <a:p>
                <a:pPr>
                  <a:spcBef>
                    <a:spcPct val="20000"/>
                  </a:spcBef>
                  <a:buClr>
                    <a:schemeClr val="bg2"/>
                  </a:buClr>
                  <a:buSzPct val="75000"/>
                  <a:buFont typeface="Wingdings" pitchFamily="2" charset="2"/>
                  <a:buNone/>
                </a:pPr>
                <a:r>
                  <a:rPr lang="en-US" altLang="zh-CN" sz="2000" b="1">
                    <a:latin typeface="微软雅黑" pitchFamily="34" charset="-122"/>
                    <a:ea typeface="微软雅黑" pitchFamily="34" charset="-122"/>
                  </a:rPr>
                  <a:t>00401023</a:t>
                </a:r>
              </a:p>
            </p:txBody>
          </p:sp>
          <p:sp>
            <p:nvSpPr>
              <p:cNvPr id="279566" name="Rectangle 13"/>
              <p:cNvSpPr>
                <a:spLocks noChangeArrowheads="1"/>
              </p:cNvSpPr>
              <p:nvPr/>
            </p:nvSpPr>
            <p:spPr bwMode="auto">
              <a:xfrm>
                <a:off x="3792" y="1920"/>
                <a:ext cx="1104" cy="324"/>
              </a:xfrm>
              <a:prstGeom prst="rect">
                <a:avLst/>
              </a:prstGeom>
              <a:noFill/>
              <a:ln w="28575">
                <a:noFill/>
                <a:miter lim="800000"/>
                <a:headEnd/>
                <a:tailEnd/>
              </a:ln>
            </p:spPr>
            <p:txBody>
              <a:bodyPr/>
              <a:lstStyle/>
              <a:p>
                <a:pPr>
                  <a:spcBef>
                    <a:spcPct val="20000"/>
                  </a:spcBef>
                  <a:buClr>
                    <a:schemeClr val="bg2"/>
                  </a:buClr>
                  <a:buSzPct val="75000"/>
                  <a:buFont typeface="Wingdings" pitchFamily="2" charset="2"/>
                  <a:buNone/>
                </a:pPr>
                <a:r>
                  <a:rPr lang="en-US" altLang="zh-CN" sz="2000" b="1">
                    <a:latin typeface="微软雅黑" pitchFamily="34" charset="-122"/>
                    <a:ea typeface="微软雅黑" pitchFamily="34" charset="-122"/>
                  </a:rPr>
                  <a:t>00401022</a:t>
                </a:r>
              </a:p>
            </p:txBody>
          </p:sp>
          <p:sp>
            <p:nvSpPr>
              <p:cNvPr id="279567" name="Line 14"/>
              <p:cNvSpPr>
                <a:spLocks noChangeShapeType="1"/>
              </p:cNvSpPr>
              <p:nvPr/>
            </p:nvSpPr>
            <p:spPr bwMode="auto">
              <a:xfrm>
                <a:off x="3792" y="1920"/>
                <a:ext cx="1104" cy="0"/>
              </a:xfrm>
              <a:prstGeom prst="line">
                <a:avLst/>
              </a:prstGeom>
              <a:noFill/>
              <a:ln w="28575" cap="sq">
                <a:solidFill>
                  <a:schemeClr val="tx1"/>
                </a:solidFill>
                <a:round/>
                <a:headEnd/>
                <a:tailEnd/>
              </a:ln>
            </p:spPr>
            <p:txBody>
              <a:bodyPr wrap="none"/>
              <a:lstStyle/>
              <a:p>
                <a:endParaRPr lang="zh-CN" altLang="en-US"/>
              </a:p>
            </p:txBody>
          </p:sp>
          <p:sp>
            <p:nvSpPr>
              <p:cNvPr id="279568" name="Line 15"/>
              <p:cNvSpPr>
                <a:spLocks noChangeShapeType="1"/>
              </p:cNvSpPr>
              <p:nvPr/>
            </p:nvSpPr>
            <p:spPr bwMode="auto">
              <a:xfrm>
                <a:off x="3792" y="2244"/>
                <a:ext cx="1104" cy="0"/>
              </a:xfrm>
              <a:prstGeom prst="line">
                <a:avLst/>
              </a:prstGeom>
              <a:noFill/>
              <a:ln w="12700">
                <a:solidFill>
                  <a:schemeClr val="tx1"/>
                </a:solidFill>
                <a:round/>
                <a:headEnd/>
                <a:tailEnd/>
              </a:ln>
            </p:spPr>
            <p:txBody>
              <a:bodyPr wrap="none"/>
              <a:lstStyle/>
              <a:p>
                <a:endParaRPr lang="zh-CN" altLang="en-US"/>
              </a:p>
            </p:txBody>
          </p:sp>
          <p:sp>
            <p:nvSpPr>
              <p:cNvPr id="279569" name="Line 16"/>
              <p:cNvSpPr>
                <a:spLocks noChangeShapeType="1"/>
              </p:cNvSpPr>
              <p:nvPr/>
            </p:nvSpPr>
            <p:spPr bwMode="auto">
              <a:xfrm>
                <a:off x="3792" y="2568"/>
                <a:ext cx="1104" cy="0"/>
              </a:xfrm>
              <a:prstGeom prst="line">
                <a:avLst/>
              </a:prstGeom>
              <a:noFill/>
              <a:ln w="12700">
                <a:solidFill>
                  <a:schemeClr val="tx1"/>
                </a:solidFill>
                <a:round/>
                <a:headEnd/>
                <a:tailEnd/>
              </a:ln>
            </p:spPr>
            <p:txBody>
              <a:bodyPr wrap="none"/>
              <a:lstStyle/>
              <a:p>
                <a:endParaRPr lang="zh-CN" altLang="en-US"/>
              </a:p>
            </p:txBody>
          </p:sp>
          <p:sp>
            <p:nvSpPr>
              <p:cNvPr id="279570" name="Line 17"/>
              <p:cNvSpPr>
                <a:spLocks noChangeShapeType="1"/>
              </p:cNvSpPr>
              <p:nvPr/>
            </p:nvSpPr>
            <p:spPr bwMode="auto">
              <a:xfrm>
                <a:off x="3792" y="2892"/>
                <a:ext cx="1104" cy="0"/>
              </a:xfrm>
              <a:prstGeom prst="line">
                <a:avLst/>
              </a:prstGeom>
              <a:noFill/>
              <a:ln w="12700">
                <a:solidFill>
                  <a:schemeClr val="tx1"/>
                </a:solidFill>
                <a:round/>
                <a:headEnd/>
                <a:tailEnd/>
              </a:ln>
            </p:spPr>
            <p:txBody>
              <a:bodyPr wrap="none"/>
              <a:lstStyle/>
              <a:p>
                <a:endParaRPr lang="zh-CN" altLang="en-US"/>
              </a:p>
            </p:txBody>
          </p:sp>
          <p:sp>
            <p:nvSpPr>
              <p:cNvPr id="279571" name="Line 18"/>
              <p:cNvSpPr>
                <a:spLocks noChangeShapeType="1"/>
              </p:cNvSpPr>
              <p:nvPr/>
            </p:nvSpPr>
            <p:spPr bwMode="auto">
              <a:xfrm>
                <a:off x="3792" y="3216"/>
                <a:ext cx="1104" cy="0"/>
              </a:xfrm>
              <a:prstGeom prst="line">
                <a:avLst/>
              </a:prstGeom>
              <a:noFill/>
              <a:ln w="28575" cap="sq">
                <a:solidFill>
                  <a:schemeClr val="tx1"/>
                </a:solidFill>
                <a:round/>
                <a:headEnd/>
                <a:tailEnd/>
              </a:ln>
            </p:spPr>
            <p:txBody>
              <a:bodyPr wrap="none"/>
              <a:lstStyle/>
              <a:p>
                <a:endParaRPr lang="zh-CN" altLang="en-US"/>
              </a:p>
            </p:txBody>
          </p:sp>
          <p:sp>
            <p:nvSpPr>
              <p:cNvPr id="279572" name="Line 19"/>
              <p:cNvSpPr>
                <a:spLocks noChangeShapeType="1"/>
              </p:cNvSpPr>
              <p:nvPr/>
            </p:nvSpPr>
            <p:spPr bwMode="auto">
              <a:xfrm>
                <a:off x="3792" y="1920"/>
                <a:ext cx="0" cy="1296"/>
              </a:xfrm>
              <a:prstGeom prst="line">
                <a:avLst/>
              </a:prstGeom>
              <a:noFill/>
              <a:ln w="28575" cap="sq">
                <a:solidFill>
                  <a:schemeClr val="tx1"/>
                </a:solidFill>
                <a:round/>
                <a:headEnd/>
                <a:tailEnd/>
              </a:ln>
            </p:spPr>
            <p:txBody>
              <a:bodyPr wrap="none"/>
              <a:lstStyle/>
              <a:p>
                <a:endParaRPr lang="zh-CN" altLang="en-US"/>
              </a:p>
            </p:txBody>
          </p:sp>
          <p:sp>
            <p:nvSpPr>
              <p:cNvPr id="279573" name="Line 20"/>
              <p:cNvSpPr>
                <a:spLocks noChangeShapeType="1"/>
              </p:cNvSpPr>
              <p:nvPr/>
            </p:nvSpPr>
            <p:spPr bwMode="auto">
              <a:xfrm>
                <a:off x="4896" y="1920"/>
                <a:ext cx="0" cy="1296"/>
              </a:xfrm>
              <a:prstGeom prst="line">
                <a:avLst/>
              </a:prstGeom>
              <a:noFill/>
              <a:ln w="28575" cap="sq">
                <a:solidFill>
                  <a:schemeClr val="tx1"/>
                </a:solidFill>
                <a:round/>
                <a:headEnd/>
                <a:tailEnd/>
              </a:ln>
            </p:spPr>
            <p:txBody>
              <a:bodyPr wrap="none"/>
              <a:lstStyle/>
              <a:p>
                <a:endParaRPr lang="zh-CN" altLang="en-US"/>
              </a:p>
            </p:txBody>
          </p:sp>
          <p:sp>
            <p:nvSpPr>
              <p:cNvPr id="279574" name="Rectangle 21"/>
              <p:cNvSpPr>
                <a:spLocks noChangeArrowheads="1"/>
              </p:cNvSpPr>
              <p:nvPr/>
            </p:nvSpPr>
            <p:spPr bwMode="auto">
              <a:xfrm>
                <a:off x="3408" y="2892"/>
                <a:ext cx="384" cy="324"/>
              </a:xfrm>
              <a:prstGeom prst="rect">
                <a:avLst/>
              </a:prstGeom>
              <a:noFill/>
              <a:ln w="28575">
                <a:noFill/>
                <a:miter lim="800000"/>
                <a:headEnd/>
                <a:tailEnd/>
              </a:ln>
            </p:spPr>
            <p:txBody>
              <a:bodyPr/>
              <a:lstStyle/>
              <a:p>
                <a:pPr>
                  <a:spcBef>
                    <a:spcPct val="20000"/>
                  </a:spcBef>
                  <a:buClr>
                    <a:schemeClr val="bg2"/>
                  </a:buClr>
                  <a:buSzPct val="75000"/>
                  <a:buFont typeface="Wingdings" pitchFamily="2" charset="2"/>
                  <a:buNone/>
                </a:pPr>
                <a:r>
                  <a:rPr lang="en-US" altLang="zh-CN" sz="2000" b="1">
                    <a:latin typeface="微软雅黑" pitchFamily="34" charset="-122"/>
                    <a:ea typeface="微软雅黑" pitchFamily="34" charset="-122"/>
                  </a:rPr>
                  <a:t>87</a:t>
                </a:r>
              </a:p>
            </p:txBody>
          </p:sp>
          <p:sp>
            <p:nvSpPr>
              <p:cNvPr id="279575" name="Rectangle 22"/>
              <p:cNvSpPr>
                <a:spLocks noChangeArrowheads="1"/>
              </p:cNvSpPr>
              <p:nvPr/>
            </p:nvSpPr>
            <p:spPr bwMode="auto">
              <a:xfrm>
                <a:off x="3408" y="2568"/>
                <a:ext cx="384" cy="324"/>
              </a:xfrm>
              <a:prstGeom prst="rect">
                <a:avLst/>
              </a:prstGeom>
              <a:noFill/>
              <a:ln w="28575">
                <a:noFill/>
                <a:miter lim="800000"/>
                <a:headEnd/>
                <a:tailEnd/>
              </a:ln>
            </p:spPr>
            <p:txBody>
              <a:bodyPr/>
              <a:lstStyle/>
              <a:p>
                <a:pPr>
                  <a:spcBef>
                    <a:spcPct val="20000"/>
                  </a:spcBef>
                  <a:buClr>
                    <a:schemeClr val="bg2"/>
                  </a:buClr>
                  <a:buSzPct val="75000"/>
                  <a:buFont typeface="Wingdings" pitchFamily="2" charset="2"/>
                  <a:buNone/>
                </a:pPr>
                <a:r>
                  <a:rPr lang="en-US" altLang="zh-CN" sz="2000" b="1">
                    <a:latin typeface="微软雅黑" pitchFamily="34" charset="-122"/>
                    <a:ea typeface="微软雅黑" pitchFamily="34" charset="-122"/>
                  </a:rPr>
                  <a:t>65</a:t>
                </a:r>
              </a:p>
            </p:txBody>
          </p:sp>
          <p:sp>
            <p:nvSpPr>
              <p:cNvPr id="279576" name="Rectangle 23"/>
              <p:cNvSpPr>
                <a:spLocks noChangeArrowheads="1"/>
              </p:cNvSpPr>
              <p:nvPr/>
            </p:nvSpPr>
            <p:spPr bwMode="auto">
              <a:xfrm>
                <a:off x="3408" y="2244"/>
                <a:ext cx="384" cy="324"/>
              </a:xfrm>
              <a:prstGeom prst="rect">
                <a:avLst/>
              </a:prstGeom>
              <a:noFill/>
              <a:ln w="28575">
                <a:noFill/>
                <a:miter lim="800000"/>
                <a:headEnd/>
                <a:tailEnd/>
              </a:ln>
            </p:spPr>
            <p:txBody>
              <a:bodyPr/>
              <a:lstStyle/>
              <a:p>
                <a:pPr>
                  <a:spcBef>
                    <a:spcPct val="20000"/>
                  </a:spcBef>
                  <a:buClr>
                    <a:schemeClr val="bg2"/>
                  </a:buClr>
                  <a:buSzPct val="75000"/>
                  <a:buFont typeface="Wingdings" pitchFamily="2" charset="2"/>
                  <a:buNone/>
                </a:pPr>
                <a:r>
                  <a:rPr lang="en-US" altLang="zh-CN" sz="2000" b="1">
                    <a:latin typeface="微软雅黑" pitchFamily="34" charset="-122"/>
                    <a:ea typeface="微软雅黑" pitchFamily="34" charset="-122"/>
                  </a:rPr>
                  <a:t>43</a:t>
                </a:r>
              </a:p>
            </p:txBody>
          </p:sp>
          <p:sp>
            <p:nvSpPr>
              <p:cNvPr id="279577" name="Rectangle 24"/>
              <p:cNvSpPr>
                <a:spLocks noChangeArrowheads="1"/>
              </p:cNvSpPr>
              <p:nvPr/>
            </p:nvSpPr>
            <p:spPr bwMode="auto">
              <a:xfrm>
                <a:off x="3408" y="1920"/>
                <a:ext cx="384" cy="324"/>
              </a:xfrm>
              <a:prstGeom prst="rect">
                <a:avLst/>
              </a:prstGeom>
              <a:noFill/>
              <a:ln w="28575">
                <a:noFill/>
                <a:miter lim="800000"/>
                <a:headEnd/>
                <a:tailEnd/>
              </a:ln>
            </p:spPr>
            <p:txBody>
              <a:bodyPr/>
              <a:lstStyle/>
              <a:p>
                <a:pPr>
                  <a:spcBef>
                    <a:spcPct val="20000"/>
                  </a:spcBef>
                  <a:buClr>
                    <a:schemeClr val="bg2"/>
                  </a:buClr>
                  <a:buSzPct val="75000"/>
                  <a:buFont typeface="Wingdings" pitchFamily="2" charset="2"/>
                  <a:buNone/>
                </a:pPr>
                <a:r>
                  <a:rPr lang="en-US" altLang="zh-CN" sz="2000" b="1">
                    <a:latin typeface="微软雅黑" pitchFamily="34" charset="-122"/>
                    <a:ea typeface="微软雅黑" pitchFamily="34" charset="-122"/>
                  </a:rPr>
                  <a:t>21</a:t>
                </a:r>
              </a:p>
            </p:txBody>
          </p:sp>
          <p:sp>
            <p:nvSpPr>
              <p:cNvPr id="279578" name="Line 25"/>
              <p:cNvSpPr>
                <a:spLocks noChangeShapeType="1"/>
              </p:cNvSpPr>
              <p:nvPr/>
            </p:nvSpPr>
            <p:spPr bwMode="auto">
              <a:xfrm>
                <a:off x="3408" y="1920"/>
                <a:ext cx="384" cy="0"/>
              </a:xfrm>
              <a:prstGeom prst="line">
                <a:avLst/>
              </a:prstGeom>
              <a:noFill/>
              <a:ln w="28575" cap="sq">
                <a:solidFill>
                  <a:schemeClr val="tx1"/>
                </a:solidFill>
                <a:round/>
                <a:headEnd/>
                <a:tailEnd/>
              </a:ln>
            </p:spPr>
            <p:txBody>
              <a:bodyPr wrap="none"/>
              <a:lstStyle/>
              <a:p>
                <a:endParaRPr lang="zh-CN" altLang="en-US"/>
              </a:p>
            </p:txBody>
          </p:sp>
          <p:sp>
            <p:nvSpPr>
              <p:cNvPr id="279579" name="Line 26"/>
              <p:cNvSpPr>
                <a:spLocks noChangeShapeType="1"/>
              </p:cNvSpPr>
              <p:nvPr/>
            </p:nvSpPr>
            <p:spPr bwMode="auto">
              <a:xfrm>
                <a:off x="3408" y="2244"/>
                <a:ext cx="384" cy="0"/>
              </a:xfrm>
              <a:prstGeom prst="line">
                <a:avLst/>
              </a:prstGeom>
              <a:noFill/>
              <a:ln w="12700">
                <a:solidFill>
                  <a:schemeClr val="tx1"/>
                </a:solidFill>
                <a:round/>
                <a:headEnd/>
                <a:tailEnd/>
              </a:ln>
            </p:spPr>
            <p:txBody>
              <a:bodyPr wrap="none"/>
              <a:lstStyle/>
              <a:p>
                <a:endParaRPr lang="zh-CN" altLang="en-US"/>
              </a:p>
            </p:txBody>
          </p:sp>
          <p:sp>
            <p:nvSpPr>
              <p:cNvPr id="279580" name="Line 27"/>
              <p:cNvSpPr>
                <a:spLocks noChangeShapeType="1"/>
              </p:cNvSpPr>
              <p:nvPr/>
            </p:nvSpPr>
            <p:spPr bwMode="auto">
              <a:xfrm>
                <a:off x="3408" y="2568"/>
                <a:ext cx="384" cy="0"/>
              </a:xfrm>
              <a:prstGeom prst="line">
                <a:avLst/>
              </a:prstGeom>
              <a:noFill/>
              <a:ln w="12700">
                <a:solidFill>
                  <a:schemeClr val="tx1"/>
                </a:solidFill>
                <a:round/>
                <a:headEnd/>
                <a:tailEnd/>
              </a:ln>
            </p:spPr>
            <p:txBody>
              <a:bodyPr wrap="none"/>
              <a:lstStyle/>
              <a:p>
                <a:endParaRPr lang="zh-CN" altLang="en-US"/>
              </a:p>
            </p:txBody>
          </p:sp>
          <p:sp>
            <p:nvSpPr>
              <p:cNvPr id="279581" name="Line 28"/>
              <p:cNvSpPr>
                <a:spLocks noChangeShapeType="1"/>
              </p:cNvSpPr>
              <p:nvPr/>
            </p:nvSpPr>
            <p:spPr bwMode="auto">
              <a:xfrm>
                <a:off x="3408" y="2892"/>
                <a:ext cx="384" cy="0"/>
              </a:xfrm>
              <a:prstGeom prst="line">
                <a:avLst/>
              </a:prstGeom>
              <a:noFill/>
              <a:ln w="12700">
                <a:solidFill>
                  <a:schemeClr val="tx1"/>
                </a:solidFill>
                <a:round/>
                <a:headEnd/>
                <a:tailEnd/>
              </a:ln>
            </p:spPr>
            <p:txBody>
              <a:bodyPr wrap="none"/>
              <a:lstStyle/>
              <a:p>
                <a:endParaRPr lang="zh-CN" altLang="en-US"/>
              </a:p>
            </p:txBody>
          </p:sp>
          <p:sp>
            <p:nvSpPr>
              <p:cNvPr id="279582" name="Line 29"/>
              <p:cNvSpPr>
                <a:spLocks noChangeShapeType="1"/>
              </p:cNvSpPr>
              <p:nvPr/>
            </p:nvSpPr>
            <p:spPr bwMode="auto">
              <a:xfrm>
                <a:off x="3408" y="3216"/>
                <a:ext cx="384" cy="0"/>
              </a:xfrm>
              <a:prstGeom prst="line">
                <a:avLst/>
              </a:prstGeom>
              <a:noFill/>
              <a:ln w="28575" cap="sq">
                <a:solidFill>
                  <a:schemeClr val="tx1"/>
                </a:solidFill>
                <a:round/>
                <a:headEnd/>
                <a:tailEnd/>
              </a:ln>
            </p:spPr>
            <p:txBody>
              <a:bodyPr wrap="none"/>
              <a:lstStyle/>
              <a:p>
                <a:endParaRPr lang="zh-CN" altLang="en-US"/>
              </a:p>
            </p:txBody>
          </p:sp>
          <p:sp>
            <p:nvSpPr>
              <p:cNvPr id="279583" name="Line 30"/>
              <p:cNvSpPr>
                <a:spLocks noChangeShapeType="1"/>
              </p:cNvSpPr>
              <p:nvPr/>
            </p:nvSpPr>
            <p:spPr bwMode="auto">
              <a:xfrm>
                <a:off x="3408" y="1920"/>
                <a:ext cx="0" cy="1296"/>
              </a:xfrm>
              <a:prstGeom prst="line">
                <a:avLst/>
              </a:prstGeom>
              <a:noFill/>
              <a:ln w="28575" cap="sq">
                <a:solidFill>
                  <a:schemeClr val="tx1"/>
                </a:solidFill>
                <a:round/>
                <a:headEnd/>
                <a:tailEnd/>
              </a:ln>
            </p:spPr>
            <p:txBody>
              <a:bodyPr wrap="none"/>
              <a:lstStyle/>
              <a:p>
                <a:endParaRPr lang="zh-CN" altLang="en-US"/>
              </a:p>
            </p:txBody>
          </p:sp>
          <p:sp>
            <p:nvSpPr>
              <p:cNvPr id="279584" name="Line 31"/>
              <p:cNvSpPr>
                <a:spLocks noChangeShapeType="1"/>
              </p:cNvSpPr>
              <p:nvPr/>
            </p:nvSpPr>
            <p:spPr bwMode="auto">
              <a:xfrm>
                <a:off x="3792" y="1920"/>
                <a:ext cx="0" cy="1296"/>
              </a:xfrm>
              <a:prstGeom prst="line">
                <a:avLst/>
              </a:prstGeom>
              <a:noFill/>
              <a:ln w="28575" cap="sq">
                <a:solidFill>
                  <a:schemeClr val="tx1"/>
                </a:solidFill>
                <a:round/>
                <a:headEnd/>
                <a:tailEnd/>
              </a:ln>
            </p:spPr>
            <p:txBody>
              <a:bodyPr wrap="none"/>
              <a:lstStyle/>
              <a:p>
                <a:endParaRPr lang="zh-CN" altLang="en-US"/>
              </a:p>
            </p:txBody>
          </p:sp>
          <p:sp>
            <p:nvSpPr>
              <p:cNvPr id="279585" name="Text Box 32"/>
              <p:cNvSpPr txBox="1">
                <a:spLocks noChangeArrowheads="1"/>
              </p:cNvSpPr>
              <p:nvPr/>
            </p:nvSpPr>
            <p:spPr bwMode="auto">
              <a:xfrm>
                <a:off x="4176" y="3216"/>
                <a:ext cx="502" cy="288"/>
              </a:xfrm>
              <a:prstGeom prst="rect">
                <a:avLst/>
              </a:prstGeom>
              <a:noFill/>
              <a:ln w="28575">
                <a:noFill/>
                <a:miter lim="800000"/>
                <a:headEnd/>
                <a:tailEnd/>
              </a:ln>
            </p:spPr>
            <p:txBody>
              <a:bodyPr wrap="none">
                <a:spAutoFit/>
              </a:bodyPr>
              <a:lstStyle/>
              <a:p>
                <a:pPr algn="ctr"/>
                <a:r>
                  <a:rPr kumimoji="1" lang="zh-CN" altLang="en-US" sz="2400" b="1">
                    <a:latin typeface="微软雅黑" pitchFamily="34" charset="-122"/>
                    <a:ea typeface="微软雅黑" pitchFamily="34" charset="-122"/>
                  </a:rPr>
                  <a:t>地址</a:t>
                </a:r>
              </a:p>
            </p:txBody>
          </p:sp>
          <p:sp>
            <p:nvSpPr>
              <p:cNvPr id="279586" name="Text Box 33"/>
              <p:cNvSpPr txBox="1">
                <a:spLocks noChangeArrowheads="1"/>
              </p:cNvSpPr>
              <p:nvPr/>
            </p:nvSpPr>
            <p:spPr bwMode="auto">
              <a:xfrm>
                <a:off x="3351" y="3216"/>
                <a:ext cx="502" cy="288"/>
              </a:xfrm>
              <a:prstGeom prst="rect">
                <a:avLst/>
              </a:prstGeom>
              <a:noFill/>
              <a:ln w="28575">
                <a:noFill/>
                <a:miter lim="800000"/>
                <a:headEnd/>
                <a:tailEnd/>
              </a:ln>
            </p:spPr>
            <p:txBody>
              <a:bodyPr wrap="none">
                <a:spAutoFit/>
              </a:bodyPr>
              <a:lstStyle/>
              <a:p>
                <a:pPr algn="ctr"/>
                <a:r>
                  <a:rPr kumimoji="1" lang="zh-CN" altLang="en-US" sz="2400" b="1">
                    <a:latin typeface="微软雅黑" pitchFamily="34" charset="-122"/>
                    <a:ea typeface="微软雅黑" pitchFamily="34" charset="-122"/>
                  </a:rPr>
                  <a:t>内容</a:t>
                </a:r>
              </a:p>
            </p:txBody>
          </p:sp>
        </p:grpSp>
        <p:grpSp>
          <p:nvGrpSpPr>
            <p:cNvPr id="5" name="Group 34"/>
            <p:cNvGrpSpPr>
              <a:grpSpLocks/>
            </p:cNvGrpSpPr>
            <p:nvPr/>
          </p:nvGrpSpPr>
          <p:grpSpPr bwMode="auto">
            <a:xfrm>
              <a:off x="3417" y="2244"/>
              <a:ext cx="384" cy="1296"/>
              <a:chOff x="2016" y="2448"/>
              <a:chExt cx="384" cy="1296"/>
            </a:xfrm>
          </p:grpSpPr>
          <p:sp>
            <p:nvSpPr>
              <p:cNvPr id="279588" name="Rectangle 35"/>
              <p:cNvSpPr>
                <a:spLocks noChangeArrowheads="1"/>
              </p:cNvSpPr>
              <p:nvPr/>
            </p:nvSpPr>
            <p:spPr bwMode="auto">
              <a:xfrm>
                <a:off x="2016" y="3420"/>
                <a:ext cx="384" cy="324"/>
              </a:xfrm>
              <a:prstGeom prst="rect">
                <a:avLst/>
              </a:prstGeom>
              <a:noFill/>
              <a:ln w="28575">
                <a:solidFill>
                  <a:schemeClr val="hlink"/>
                </a:solidFill>
                <a:miter lim="800000"/>
                <a:headEnd/>
                <a:tailEnd/>
              </a:ln>
            </p:spPr>
            <p:txBody>
              <a:bodyPr/>
              <a:lstStyle/>
              <a:p>
                <a:pPr>
                  <a:spcBef>
                    <a:spcPct val="20000"/>
                  </a:spcBef>
                  <a:buClr>
                    <a:schemeClr val="bg2"/>
                  </a:buClr>
                  <a:buSzPct val="75000"/>
                  <a:buFont typeface="Wingdings" pitchFamily="2" charset="2"/>
                  <a:buNone/>
                </a:pPr>
                <a:r>
                  <a:rPr lang="en-US" altLang="zh-CN" sz="2000" b="1">
                    <a:solidFill>
                      <a:srgbClr val="FF0000"/>
                    </a:solidFill>
                    <a:effectLst>
                      <a:outerShdw blurRad="38100" dist="38100" dir="2700000" algn="tl">
                        <a:srgbClr val="C0C0C0"/>
                      </a:outerShdw>
                    </a:effectLst>
                    <a:latin typeface="微软雅黑" pitchFamily="34" charset="-122"/>
                    <a:ea typeface="微软雅黑" pitchFamily="34" charset="-122"/>
                  </a:rPr>
                  <a:t>87</a:t>
                </a:r>
              </a:p>
            </p:txBody>
          </p:sp>
          <p:sp>
            <p:nvSpPr>
              <p:cNvPr id="279589" name="Rectangle 36"/>
              <p:cNvSpPr>
                <a:spLocks noChangeArrowheads="1"/>
              </p:cNvSpPr>
              <p:nvPr/>
            </p:nvSpPr>
            <p:spPr bwMode="auto">
              <a:xfrm>
                <a:off x="2016" y="3096"/>
                <a:ext cx="384" cy="324"/>
              </a:xfrm>
              <a:prstGeom prst="rect">
                <a:avLst/>
              </a:prstGeom>
              <a:noFill/>
              <a:ln w="28575">
                <a:solidFill>
                  <a:schemeClr val="hlink"/>
                </a:solidFill>
                <a:miter lim="800000"/>
                <a:headEnd/>
                <a:tailEnd/>
              </a:ln>
            </p:spPr>
            <p:txBody>
              <a:bodyPr/>
              <a:lstStyle/>
              <a:p>
                <a:pPr>
                  <a:spcBef>
                    <a:spcPct val="20000"/>
                  </a:spcBef>
                  <a:buClr>
                    <a:schemeClr val="bg2"/>
                  </a:buClr>
                  <a:buSzPct val="75000"/>
                  <a:buFont typeface="Wingdings" pitchFamily="2" charset="2"/>
                  <a:buNone/>
                </a:pPr>
                <a:r>
                  <a:rPr lang="en-US" altLang="zh-CN" sz="2000" b="1">
                    <a:solidFill>
                      <a:srgbClr val="FF0000"/>
                    </a:solidFill>
                    <a:effectLst>
                      <a:outerShdw blurRad="38100" dist="38100" dir="2700000" algn="tl">
                        <a:srgbClr val="C0C0C0"/>
                      </a:outerShdw>
                    </a:effectLst>
                    <a:latin typeface="微软雅黑" pitchFamily="34" charset="-122"/>
                    <a:ea typeface="微软雅黑" pitchFamily="34" charset="-122"/>
                  </a:rPr>
                  <a:t>65</a:t>
                </a:r>
              </a:p>
            </p:txBody>
          </p:sp>
          <p:sp>
            <p:nvSpPr>
              <p:cNvPr id="279590" name="Rectangle 37"/>
              <p:cNvSpPr>
                <a:spLocks noChangeArrowheads="1"/>
              </p:cNvSpPr>
              <p:nvPr/>
            </p:nvSpPr>
            <p:spPr bwMode="auto">
              <a:xfrm>
                <a:off x="2016" y="2772"/>
                <a:ext cx="384" cy="324"/>
              </a:xfrm>
              <a:prstGeom prst="rect">
                <a:avLst/>
              </a:prstGeom>
              <a:noFill/>
              <a:ln w="28575">
                <a:solidFill>
                  <a:schemeClr val="hlink"/>
                </a:solidFill>
                <a:miter lim="800000"/>
                <a:headEnd/>
                <a:tailEnd/>
              </a:ln>
            </p:spPr>
            <p:txBody>
              <a:bodyPr/>
              <a:lstStyle/>
              <a:p>
                <a:pPr>
                  <a:spcBef>
                    <a:spcPct val="20000"/>
                  </a:spcBef>
                  <a:buClr>
                    <a:schemeClr val="bg2"/>
                  </a:buClr>
                  <a:buSzPct val="75000"/>
                  <a:buFont typeface="Wingdings" pitchFamily="2" charset="2"/>
                  <a:buNone/>
                </a:pPr>
                <a:r>
                  <a:rPr lang="en-US" altLang="zh-CN" sz="2000" b="1">
                    <a:solidFill>
                      <a:srgbClr val="FF0000"/>
                    </a:solidFill>
                    <a:effectLst>
                      <a:outerShdw blurRad="38100" dist="38100" dir="2700000" algn="tl">
                        <a:srgbClr val="C0C0C0"/>
                      </a:outerShdw>
                    </a:effectLst>
                    <a:latin typeface="微软雅黑" pitchFamily="34" charset="-122"/>
                    <a:ea typeface="微软雅黑" pitchFamily="34" charset="-122"/>
                  </a:rPr>
                  <a:t>43</a:t>
                </a:r>
              </a:p>
            </p:txBody>
          </p:sp>
          <p:sp>
            <p:nvSpPr>
              <p:cNvPr id="279591" name="Rectangle 38"/>
              <p:cNvSpPr>
                <a:spLocks noChangeArrowheads="1"/>
              </p:cNvSpPr>
              <p:nvPr/>
            </p:nvSpPr>
            <p:spPr bwMode="auto">
              <a:xfrm>
                <a:off x="2016" y="2448"/>
                <a:ext cx="384" cy="324"/>
              </a:xfrm>
              <a:prstGeom prst="rect">
                <a:avLst/>
              </a:prstGeom>
              <a:noFill/>
              <a:ln w="28575">
                <a:solidFill>
                  <a:schemeClr val="hlink"/>
                </a:solidFill>
                <a:miter lim="800000"/>
                <a:headEnd/>
                <a:tailEnd/>
              </a:ln>
            </p:spPr>
            <p:txBody>
              <a:bodyPr/>
              <a:lstStyle/>
              <a:p>
                <a:pPr>
                  <a:spcBef>
                    <a:spcPct val="20000"/>
                  </a:spcBef>
                  <a:buClr>
                    <a:schemeClr val="bg2"/>
                  </a:buClr>
                  <a:buSzPct val="75000"/>
                  <a:buFont typeface="Wingdings" pitchFamily="2" charset="2"/>
                  <a:buNone/>
                </a:pPr>
                <a:r>
                  <a:rPr lang="en-US" altLang="zh-CN" sz="2000" b="1">
                    <a:solidFill>
                      <a:srgbClr val="FF0000"/>
                    </a:solidFill>
                    <a:effectLst>
                      <a:outerShdw blurRad="38100" dist="38100" dir="2700000" algn="tl">
                        <a:srgbClr val="C0C0C0"/>
                      </a:outerShdw>
                    </a:effectLst>
                    <a:latin typeface="微软雅黑" pitchFamily="34" charset="-122"/>
                    <a:ea typeface="微软雅黑" pitchFamily="34" charset="-122"/>
                  </a:rPr>
                  <a:t>21</a:t>
                </a:r>
              </a:p>
            </p:txBody>
          </p:sp>
          <p:sp>
            <p:nvSpPr>
              <p:cNvPr id="279592" name="Line 39"/>
              <p:cNvSpPr>
                <a:spLocks noChangeShapeType="1"/>
              </p:cNvSpPr>
              <p:nvPr/>
            </p:nvSpPr>
            <p:spPr bwMode="auto">
              <a:xfrm>
                <a:off x="2016" y="2448"/>
                <a:ext cx="384" cy="0"/>
              </a:xfrm>
              <a:prstGeom prst="line">
                <a:avLst/>
              </a:prstGeom>
              <a:noFill/>
              <a:ln w="28575" cap="sq">
                <a:solidFill>
                  <a:schemeClr val="hlink"/>
                </a:solidFill>
                <a:round/>
                <a:headEnd/>
                <a:tailEnd/>
              </a:ln>
            </p:spPr>
            <p:txBody>
              <a:bodyPr wrap="none"/>
              <a:lstStyle/>
              <a:p>
                <a:endParaRPr lang="zh-CN" altLang="en-US"/>
              </a:p>
            </p:txBody>
          </p:sp>
          <p:sp>
            <p:nvSpPr>
              <p:cNvPr id="279593" name="Line 40"/>
              <p:cNvSpPr>
                <a:spLocks noChangeShapeType="1"/>
              </p:cNvSpPr>
              <p:nvPr/>
            </p:nvSpPr>
            <p:spPr bwMode="auto">
              <a:xfrm>
                <a:off x="2016" y="2772"/>
                <a:ext cx="384" cy="0"/>
              </a:xfrm>
              <a:prstGeom prst="line">
                <a:avLst/>
              </a:prstGeom>
              <a:noFill/>
              <a:ln w="12700">
                <a:solidFill>
                  <a:schemeClr val="hlink"/>
                </a:solidFill>
                <a:round/>
                <a:headEnd/>
                <a:tailEnd/>
              </a:ln>
            </p:spPr>
            <p:txBody>
              <a:bodyPr wrap="none"/>
              <a:lstStyle/>
              <a:p>
                <a:endParaRPr lang="zh-CN" altLang="en-US"/>
              </a:p>
            </p:txBody>
          </p:sp>
          <p:sp>
            <p:nvSpPr>
              <p:cNvPr id="279594" name="Line 41"/>
              <p:cNvSpPr>
                <a:spLocks noChangeShapeType="1"/>
              </p:cNvSpPr>
              <p:nvPr/>
            </p:nvSpPr>
            <p:spPr bwMode="auto">
              <a:xfrm>
                <a:off x="2016" y="3096"/>
                <a:ext cx="384" cy="0"/>
              </a:xfrm>
              <a:prstGeom prst="line">
                <a:avLst/>
              </a:prstGeom>
              <a:noFill/>
              <a:ln w="12700">
                <a:solidFill>
                  <a:schemeClr val="hlink"/>
                </a:solidFill>
                <a:round/>
                <a:headEnd/>
                <a:tailEnd/>
              </a:ln>
            </p:spPr>
            <p:txBody>
              <a:bodyPr wrap="none"/>
              <a:lstStyle/>
              <a:p>
                <a:endParaRPr lang="zh-CN" altLang="en-US"/>
              </a:p>
            </p:txBody>
          </p:sp>
          <p:sp>
            <p:nvSpPr>
              <p:cNvPr id="279595" name="Line 42"/>
              <p:cNvSpPr>
                <a:spLocks noChangeShapeType="1"/>
              </p:cNvSpPr>
              <p:nvPr/>
            </p:nvSpPr>
            <p:spPr bwMode="auto">
              <a:xfrm>
                <a:off x="2016" y="3420"/>
                <a:ext cx="384" cy="0"/>
              </a:xfrm>
              <a:prstGeom prst="line">
                <a:avLst/>
              </a:prstGeom>
              <a:noFill/>
              <a:ln w="12700">
                <a:solidFill>
                  <a:schemeClr val="hlink"/>
                </a:solidFill>
                <a:round/>
                <a:headEnd/>
                <a:tailEnd/>
              </a:ln>
            </p:spPr>
            <p:txBody>
              <a:bodyPr wrap="none"/>
              <a:lstStyle/>
              <a:p>
                <a:endParaRPr lang="zh-CN" altLang="en-US"/>
              </a:p>
            </p:txBody>
          </p:sp>
          <p:sp>
            <p:nvSpPr>
              <p:cNvPr id="279596" name="Line 43"/>
              <p:cNvSpPr>
                <a:spLocks noChangeShapeType="1"/>
              </p:cNvSpPr>
              <p:nvPr/>
            </p:nvSpPr>
            <p:spPr bwMode="auto">
              <a:xfrm>
                <a:off x="2016" y="3744"/>
                <a:ext cx="384" cy="0"/>
              </a:xfrm>
              <a:prstGeom prst="line">
                <a:avLst/>
              </a:prstGeom>
              <a:noFill/>
              <a:ln w="28575" cap="sq">
                <a:solidFill>
                  <a:schemeClr val="hlink"/>
                </a:solidFill>
                <a:round/>
                <a:headEnd/>
                <a:tailEnd/>
              </a:ln>
            </p:spPr>
            <p:txBody>
              <a:bodyPr wrap="none"/>
              <a:lstStyle/>
              <a:p>
                <a:endParaRPr lang="zh-CN" altLang="en-US"/>
              </a:p>
            </p:txBody>
          </p:sp>
          <p:sp>
            <p:nvSpPr>
              <p:cNvPr id="279597" name="Line 44"/>
              <p:cNvSpPr>
                <a:spLocks noChangeShapeType="1"/>
              </p:cNvSpPr>
              <p:nvPr/>
            </p:nvSpPr>
            <p:spPr bwMode="auto">
              <a:xfrm>
                <a:off x="2016" y="2448"/>
                <a:ext cx="0" cy="1296"/>
              </a:xfrm>
              <a:prstGeom prst="line">
                <a:avLst/>
              </a:prstGeom>
              <a:noFill/>
              <a:ln w="28575" cap="sq">
                <a:solidFill>
                  <a:schemeClr val="hlink"/>
                </a:solidFill>
                <a:round/>
                <a:headEnd/>
                <a:tailEnd/>
              </a:ln>
            </p:spPr>
            <p:txBody>
              <a:bodyPr wrap="none"/>
              <a:lstStyle/>
              <a:p>
                <a:endParaRPr lang="zh-CN" altLang="en-US"/>
              </a:p>
            </p:txBody>
          </p:sp>
          <p:sp>
            <p:nvSpPr>
              <p:cNvPr id="279598" name="Line 45"/>
              <p:cNvSpPr>
                <a:spLocks noChangeShapeType="1"/>
              </p:cNvSpPr>
              <p:nvPr/>
            </p:nvSpPr>
            <p:spPr bwMode="auto">
              <a:xfrm>
                <a:off x="2400" y="2448"/>
                <a:ext cx="0" cy="1296"/>
              </a:xfrm>
              <a:prstGeom prst="line">
                <a:avLst/>
              </a:prstGeom>
              <a:noFill/>
              <a:ln w="28575" cap="sq">
                <a:solidFill>
                  <a:schemeClr val="hlink"/>
                </a:solidFill>
                <a:round/>
                <a:headEnd/>
                <a:tailEnd/>
              </a:ln>
            </p:spPr>
            <p:txBody>
              <a:bodyPr wrap="none"/>
              <a:lstStyle/>
              <a:p>
                <a:endParaRPr lang="zh-CN" altLang="en-US"/>
              </a:p>
            </p:txBody>
          </p:sp>
        </p:grpSp>
        <p:grpSp>
          <p:nvGrpSpPr>
            <p:cNvPr id="6" name="Group 46"/>
            <p:cNvGrpSpPr>
              <a:grpSpLocks/>
            </p:cNvGrpSpPr>
            <p:nvPr/>
          </p:nvGrpSpPr>
          <p:grpSpPr bwMode="auto">
            <a:xfrm>
              <a:off x="620" y="2208"/>
              <a:ext cx="1828" cy="384"/>
              <a:chOff x="620" y="1920"/>
              <a:chExt cx="1828" cy="384"/>
            </a:xfrm>
          </p:grpSpPr>
          <p:sp>
            <p:nvSpPr>
              <p:cNvPr id="279600" name="Text Box 47"/>
              <p:cNvSpPr txBox="1">
                <a:spLocks noChangeArrowheads="1"/>
              </p:cNvSpPr>
              <p:nvPr/>
            </p:nvSpPr>
            <p:spPr bwMode="auto">
              <a:xfrm>
                <a:off x="620" y="1968"/>
                <a:ext cx="504" cy="288"/>
              </a:xfrm>
              <a:prstGeom prst="rect">
                <a:avLst/>
              </a:prstGeom>
              <a:noFill/>
              <a:ln w="28575">
                <a:noFill/>
                <a:miter lim="800000"/>
                <a:headEnd/>
                <a:tailEnd/>
              </a:ln>
            </p:spPr>
            <p:txBody>
              <a:bodyPr wrap="none">
                <a:spAutoFit/>
              </a:bodyPr>
              <a:lstStyle/>
              <a:p>
                <a:pPr algn="ctr"/>
                <a:r>
                  <a:rPr kumimoji="1" lang="en-US" altLang="zh-CN" sz="2400" b="1">
                    <a:latin typeface="微软雅黑" pitchFamily="34" charset="-122"/>
                    <a:ea typeface="微软雅黑" pitchFamily="34" charset="-122"/>
                  </a:rPr>
                  <a:t>EAX</a:t>
                </a:r>
              </a:p>
            </p:txBody>
          </p:sp>
          <p:grpSp>
            <p:nvGrpSpPr>
              <p:cNvPr id="7" name="Group 48"/>
              <p:cNvGrpSpPr>
                <a:grpSpLocks/>
              </p:cNvGrpSpPr>
              <p:nvPr/>
            </p:nvGrpSpPr>
            <p:grpSpPr bwMode="auto">
              <a:xfrm rot="5400000">
                <a:off x="1608" y="1464"/>
                <a:ext cx="384" cy="1296"/>
                <a:chOff x="2016" y="2448"/>
                <a:chExt cx="384" cy="1296"/>
              </a:xfrm>
            </p:grpSpPr>
            <p:sp>
              <p:nvSpPr>
                <p:cNvPr id="279602" name="Rectangle 49"/>
                <p:cNvSpPr>
                  <a:spLocks noChangeArrowheads="1"/>
                </p:cNvSpPr>
                <p:nvPr/>
              </p:nvSpPr>
              <p:spPr bwMode="auto">
                <a:xfrm>
                  <a:off x="2016" y="3420"/>
                  <a:ext cx="384" cy="324"/>
                </a:xfrm>
                <a:prstGeom prst="rect">
                  <a:avLst/>
                </a:prstGeom>
                <a:solidFill>
                  <a:srgbClr val="ECD8C4"/>
                </a:solidFill>
                <a:ln w="28575">
                  <a:solidFill>
                    <a:srgbClr val="005A42"/>
                  </a:solidFill>
                  <a:miter lim="800000"/>
                  <a:headEnd/>
                  <a:tailEnd/>
                </a:ln>
              </p:spPr>
              <p:txBody>
                <a:bodyPr rot="10800000" vert="eaVert"/>
                <a:lstStyle/>
                <a:p>
                  <a:pPr>
                    <a:spcBef>
                      <a:spcPct val="20000"/>
                    </a:spcBef>
                    <a:buClr>
                      <a:schemeClr val="bg2"/>
                    </a:buClr>
                    <a:buSzPct val="75000"/>
                    <a:buFont typeface="Wingdings" pitchFamily="2" charset="2"/>
                    <a:buNone/>
                  </a:pPr>
                  <a:endParaRPr lang="zh-CN" altLang="zh-CN" sz="2000" b="1">
                    <a:solidFill>
                      <a:schemeClr val="hlink"/>
                    </a:solidFill>
                    <a:latin typeface="微软雅黑" pitchFamily="34" charset="-122"/>
                    <a:ea typeface="微软雅黑" pitchFamily="34" charset="-122"/>
                  </a:endParaRPr>
                </a:p>
              </p:txBody>
            </p:sp>
            <p:sp>
              <p:nvSpPr>
                <p:cNvPr id="279603" name="Rectangle 50"/>
                <p:cNvSpPr>
                  <a:spLocks noChangeArrowheads="1"/>
                </p:cNvSpPr>
                <p:nvPr/>
              </p:nvSpPr>
              <p:spPr bwMode="auto">
                <a:xfrm>
                  <a:off x="2016" y="3096"/>
                  <a:ext cx="384" cy="324"/>
                </a:xfrm>
                <a:prstGeom prst="rect">
                  <a:avLst/>
                </a:prstGeom>
                <a:solidFill>
                  <a:srgbClr val="ECD8C4"/>
                </a:solidFill>
                <a:ln w="28575">
                  <a:solidFill>
                    <a:srgbClr val="005A42"/>
                  </a:solidFill>
                  <a:miter lim="800000"/>
                  <a:headEnd/>
                  <a:tailEnd/>
                </a:ln>
              </p:spPr>
              <p:txBody>
                <a:bodyPr rot="10800000" vert="eaVert"/>
                <a:lstStyle/>
                <a:p>
                  <a:pPr>
                    <a:spcBef>
                      <a:spcPct val="20000"/>
                    </a:spcBef>
                    <a:buClr>
                      <a:schemeClr val="bg2"/>
                    </a:buClr>
                    <a:buSzPct val="75000"/>
                    <a:buFont typeface="Wingdings" pitchFamily="2" charset="2"/>
                    <a:buNone/>
                  </a:pPr>
                  <a:endParaRPr lang="zh-CN" altLang="zh-CN" sz="2000" b="1">
                    <a:solidFill>
                      <a:schemeClr val="hlink"/>
                    </a:solidFill>
                    <a:latin typeface="微软雅黑" pitchFamily="34" charset="-122"/>
                    <a:ea typeface="微软雅黑" pitchFamily="34" charset="-122"/>
                  </a:endParaRPr>
                </a:p>
              </p:txBody>
            </p:sp>
            <p:sp>
              <p:nvSpPr>
                <p:cNvPr id="279604" name="Rectangle 51"/>
                <p:cNvSpPr>
                  <a:spLocks noChangeArrowheads="1"/>
                </p:cNvSpPr>
                <p:nvPr/>
              </p:nvSpPr>
              <p:spPr bwMode="auto">
                <a:xfrm>
                  <a:off x="2016" y="2772"/>
                  <a:ext cx="384" cy="324"/>
                </a:xfrm>
                <a:prstGeom prst="rect">
                  <a:avLst/>
                </a:prstGeom>
                <a:solidFill>
                  <a:srgbClr val="ECD8C4"/>
                </a:solidFill>
                <a:ln w="28575">
                  <a:solidFill>
                    <a:srgbClr val="005A42"/>
                  </a:solidFill>
                  <a:miter lim="800000"/>
                  <a:headEnd/>
                  <a:tailEnd/>
                </a:ln>
              </p:spPr>
              <p:txBody>
                <a:bodyPr rot="10800000" vert="eaVert"/>
                <a:lstStyle/>
                <a:p>
                  <a:pPr>
                    <a:spcBef>
                      <a:spcPct val="20000"/>
                    </a:spcBef>
                    <a:buClr>
                      <a:schemeClr val="bg2"/>
                    </a:buClr>
                    <a:buSzPct val="75000"/>
                    <a:buFont typeface="Wingdings" pitchFamily="2" charset="2"/>
                    <a:buNone/>
                  </a:pPr>
                  <a:endParaRPr lang="zh-CN" altLang="zh-CN" sz="2000" b="1">
                    <a:solidFill>
                      <a:schemeClr val="hlink"/>
                    </a:solidFill>
                    <a:latin typeface="微软雅黑" pitchFamily="34" charset="-122"/>
                    <a:ea typeface="微软雅黑" pitchFamily="34" charset="-122"/>
                  </a:endParaRPr>
                </a:p>
              </p:txBody>
            </p:sp>
            <p:sp>
              <p:nvSpPr>
                <p:cNvPr id="279605" name="Rectangle 52"/>
                <p:cNvSpPr>
                  <a:spLocks noChangeArrowheads="1"/>
                </p:cNvSpPr>
                <p:nvPr/>
              </p:nvSpPr>
              <p:spPr bwMode="auto">
                <a:xfrm>
                  <a:off x="2016" y="2448"/>
                  <a:ext cx="384" cy="324"/>
                </a:xfrm>
                <a:prstGeom prst="rect">
                  <a:avLst/>
                </a:prstGeom>
                <a:solidFill>
                  <a:srgbClr val="ECD8C4"/>
                </a:solidFill>
                <a:ln w="28575">
                  <a:solidFill>
                    <a:srgbClr val="005A42"/>
                  </a:solidFill>
                  <a:miter lim="800000"/>
                  <a:headEnd/>
                  <a:tailEnd/>
                </a:ln>
              </p:spPr>
              <p:txBody>
                <a:bodyPr rot="10800000" vert="eaVert"/>
                <a:lstStyle/>
                <a:p>
                  <a:pPr>
                    <a:spcBef>
                      <a:spcPct val="20000"/>
                    </a:spcBef>
                    <a:buClr>
                      <a:schemeClr val="bg2"/>
                    </a:buClr>
                    <a:buSzPct val="75000"/>
                    <a:buFont typeface="Wingdings" pitchFamily="2" charset="2"/>
                    <a:buNone/>
                  </a:pPr>
                  <a:endParaRPr lang="zh-CN" altLang="zh-CN" sz="2000" b="1">
                    <a:solidFill>
                      <a:schemeClr val="hlink"/>
                    </a:solidFill>
                    <a:latin typeface="微软雅黑" pitchFamily="34" charset="-122"/>
                    <a:ea typeface="微软雅黑" pitchFamily="34" charset="-122"/>
                  </a:endParaRPr>
                </a:p>
              </p:txBody>
            </p:sp>
            <p:sp>
              <p:nvSpPr>
                <p:cNvPr id="279606" name="Line 53"/>
                <p:cNvSpPr>
                  <a:spLocks noChangeShapeType="1"/>
                </p:cNvSpPr>
                <p:nvPr/>
              </p:nvSpPr>
              <p:spPr bwMode="auto">
                <a:xfrm>
                  <a:off x="2016" y="2448"/>
                  <a:ext cx="384" cy="0"/>
                </a:xfrm>
                <a:prstGeom prst="line">
                  <a:avLst/>
                </a:prstGeom>
                <a:noFill/>
                <a:ln w="28575" cap="sq">
                  <a:solidFill>
                    <a:srgbClr val="005A42"/>
                  </a:solidFill>
                  <a:round/>
                  <a:headEnd/>
                  <a:tailEnd/>
                </a:ln>
              </p:spPr>
              <p:txBody>
                <a:bodyPr wrap="none"/>
                <a:lstStyle/>
                <a:p>
                  <a:endParaRPr lang="zh-CN" altLang="en-US"/>
                </a:p>
              </p:txBody>
            </p:sp>
            <p:sp>
              <p:nvSpPr>
                <p:cNvPr id="279607" name="Line 54"/>
                <p:cNvSpPr>
                  <a:spLocks noChangeShapeType="1"/>
                </p:cNvSpPr>
                <p:nvPr/>
              </p:nvSpPr>
              <p:spPr bwMode="auto">
                <a:xfrm>
                  <a:off x="2016" y="2772"/>
                  <a:ext cx="384" cy="0"/>
                </a:xfrm>
                <a:prstGeom prst="line">
                  <a:avLst/>
                </a:prstGeom>
                <a:noFill/>
                <a:ln w="12700">
                  <a:solidFill>
                    <a:srgbClr val="005A42"/>
                  </a:solidFill>
                  <a:round/>
                  <a:headEnd/>
                  <a:tailEnd/>
                </a:ln>
              </p:spPr>
              <p:txBody>
                <a:bodyPr wrap="none"/>
                <a:lstStyle/>
                <a:p>
                  <a:endParaRPr lang="zh-CN" altLang="en-US"/>
                </a:p>
              </p:txBody>
            </p:sp>
            <p:sp>
              <p:nvSpPr>
                <p:cNvPr id="279608" name="Line 55"/>
                <p:cNvSpPr>
                  <a:spLocks noChangeShapeType="1"/>
                </p:cNvSpPr>
                <p:nvPr/>
              </p:nvSpPr>
              <p:spPr bwMode="auto">
                <a:xfrm>
                  <a:off x="2016" y="3096"/>
                  <a:ext cx="384" cy="0"/>
                </a:xfrm>
                <a:prstGeom prst="line">
                  <a:avLst/>
                </a:prstGeom>
                <a:noFill/>
                <a:ln w="12700">
                  <a:solidFill>
                    <a:srgbClr val="005A42"/>
                  </a:solidFill>
                  <a:round/>
                  <a:headEnd/>
                  <a:tailEnd/>
                </a:ln>
              </p:spPr>
              <p:txBody>
                <a:bodyPr wrap="none"/>
                <a:lstStyle/>
                <a:p>
                  <a:endParaRPr lang="zh-CN" altLang="en-US"/>
                </a:p>
              </p:txBody>
            </p:sp>
            <p:sp>
              <p:nvSpPr>
                <p:cNvPr id="279609" name="Line 56"/>
                <p:cNvSpPr>
                  <a:spLocks noChangeShapeType="1"/>
                </p:cNvSpPr>
                <p:nvPr/>
              </p:nvSpPr>
              <p:spPr bwMode="auto">
                <a:xfrm>
                  <a:off x="2016" y="3420"/>
                  <a:ext cx="384" cy="0"/>
                </a:xfrm>
                <a:prstGeom prst="line">
                  <a:avLst/>
                </a:prstGeom>
                <a:noFill/>
                <a:ln w="12700">
                  <a:solidFill>
                    <a:srgbClr val="005A42"/>
                  </a:solidFill>
                  <a:round/>
                  <a:headEnd/>
                  <a:tailEnd/>
                </a:ln>
              </p:spPr>
              <p:txBody>
                <a:bodyPr wrap="none"/>
                <a:lstStyle/>
                <a:p>
                  <a:endParaRPr lang="zh-CN" altLang="en-US"/>
                </a:p>
              </p:txBody>
            </p:sp>
            <p:sp>
              <p:nvSpPr>
                <p:cNvPr id="279610" name="Line 57"/>
                <p:cNvSpPr>
                  <a:spLocks noChangeShapeType="1"/>
                </p:cNvSpPr>
                <p:nvPr/>
              </p:nvSpPr>
              <p:spPr bwMode="auto">
                <a:xfrm>
                  <a:off x="2016" y="3744"/>
                  <a:ext cx="384" cy="0"/>
                </a:xfrm>
                <a:prstGeom prst="line">
                  <a:avLst/>
                </a:prstGeom>
                <a:noFill/>
                <a:ln w="28575" cap="sq">
                  <a:solidFill>
                    <a:srgbClr val="005A42"/>
                  </a:solidFill>
                  <a:round/>
                  <a:headEnd/>
                  <a:tailEnd/>
                </a:ln>
              </p:spPr>
              <p:txBody>
                <a:bodyPr wrap="none"/>
                <a:lstStyle/>
                <a:p>
                  <a:endParaRPr lang="zh-CN" altLang="en-US"/>
                </a:p>
              </p:txBody>
            </p:sp>
            <p:sp>
              <p:nvSpPr>
                <p:cNvPr id="279611" name="Line 58"/>
                <p:cNvSpPr>
                  <a:spLocks noChangeShapeType="1"/>
                </p:cNvSpPr>
                <p:nvPr/>
              </p:nvSpPr>
              <p:spPr bwMode="auto">
                <a:xfrm>
                  <a:off x="2016" y="2448"/>
                  <a:ext cx="0" cy="1296"/>
                </a:xfrm>
                <a:prstGeom prst="line">
                  <a:avLst/>
                </a:prstGeom>
                <a:noFill/>
                <a:ln w="28575" cap="sq">
                  <a:solidFill>
                    <a:srgbClr val="005A42"/>
                  </a:solidFill>
                  <a:round/>
                  <a:headEnd/>
                  <a:tailEnd/>
                </a:ln>
              </p:spPr>
              <p:txBody>
                <a:bodyPr wrap="none"/>
                <a:lstStyle/>
                <a:p>
                  <a:endParaRPr lang="zh-CN" altLang="en-US"/>
                </a:p>
              </p:txBody>
            </p:sp>
            <p:sp>
              <p:nvSpPr>
                <p:cNvPr id="279612" name="Line 59"/>
                <p:cNvSpPr>
                  <a:spLocks noChangeShapeType="1"/>
                </p:cNvSpPr>
                <p:nvPr/>
              </p:nvSpPr>
              <p:spPr bwMode="auto">
                <a:xfrm>
                  <a:off x="2400" y="2448"/>
                  <a:ext cx="0" cy="1296"/>
                </a:xfrm>
                <a:prstGeom prst="line">
                  <a:avLst/>
                </a:prstGeom>
                <a:noFill/>
                <a:ln w="28575" cap="sq">
                  <a:solidFill>
                    <a:srgbClr val="005A42"/>
                  </a:solidFill>
                  <a:round/>
                  <a:headEnd/>
                  <a:tailEnd/>
                </a:ln>
              </p:spPr>
              <p:txBody>
                <a:bodyPr wrap="none"/>
                <a:lstStyle/>
                <a:p>
                  <a:endParaRPr lang="zh-CN" altLang="en-US"/>
                </a:p>
              </p:txBody>
            </p:sp>
          </p:grpSp>
        </p:grpSp>
        <p:grpSp>
          <p:nvGrpSpPr>
            <p:cNvPr id="8" name="Group 60"/>
            <p:cNvGrpSpPr>
              <a:grpSpLocks/>
            </p:cNvGrpSpPr>
            <p:nvPr/>
          </p:nvGrpSpPr>
          <p:grpSpPr bwMode="auto">
            <a:xfrm>
              <a:off x="1305" y="2436"/>
              <a:ext cx="2112" cy="912"/>
              <a:chOff x="1296" y="2112"/>
              <a:chExt cx="2112" cy="912"/>
            </a:xfrm>
          </p:grpSpPr>
          <p:sp>
            <p:nvSpPr>
              <p:cNvPr id="279614" name="Line 61"/>
              <p:cNvSpPr>
                <a:spLocks noChangeShapeType="1"/>
              </p:cNvSpPr>
              <p:nvPr/>
            </p:nvSpPr>
            <p:spPr bwMode="auto">
              <a:xfrm flipH="1">
                <a:off x="2448" y="2112"/>
                <a:ext cx="960" cy="0"/>
              </a:xfrm>
              <a:prstGeom prst="line">
                <a:avLst/>
              </a:prstGeom>
              <a:noFill/>
              <a:ln w="28575">
                <a:solidFill>
                  <a:srgbClr val="005A42"/>
                </a:solidFill>
                <a:round/>
                <a:headEnd/>
                <a:tailEnd type="triangle" w="med" len="med"/>
              </a:ln>
            </p:spPr>
            <p:txBody>
              <a:bodyPr wrap="none"/>
              <a:lstStyle/>
              <a:p>
                <a:endParaRPr lang="zh-CN" altLang="en-US"/>
              </a:p>
            </p:txBody>
          </p:sp>
          <p:grpSp>
            <p:nvGrpSpPr>
              <p:cNvPr id="9" name="Group 62"/>
              <p:cNvGrpSpPr>
                <a:grpSpLocks/>
              </p:cNvGrpSpPr>
              <p:nvPr/>
            </p:nvGrpSpPr>
            <p:grpSpPr bwMode="auto">
              <a:xfrm>
                <a:off x="2016" y="2304"/>
                <a:ext cx="1392" cy="192"/>
                <a:chOff x="2016" y="2304"/>
                <a:chExt cx="1392" cy="192"/>
              </a:xfrm>
            </p:grpSpPr>
            <p:sp>
              <p:nvSpPr>
                <p:cNvPr id="279616" name="Line 63"/>
                <p:cNvSpPr>
                  <a:spLocks noChangeShapeType="1"/>
                </p:cNvSpPr>
                <p:nvPr/>
              </p:nvSpPr>
              <p:spPr bwMode="auto">
                <a:xfrm flipH="1">
                  <a:off x="2016" y="2496"/>
                  <a:ext cx="1392" cy="0"/>
                </a:xfrm>
                <a:prstGeom prst="line">
                  <a:avLst/>
                </a:prstGeom>
                <a:noFill/>
                <a:ln w="28575">
                  <a:solidFill>
                    <a:srgbClr val="005A42"/>
                  </a:solidFill>
                  <a:round/>
                  <a:headEnd/>
                  <a:tailEnd/>
                </a:ln>
              </p:spPr>
              <p:txBody>
                <a:bodyPr wrap="none"/>
                <a:lstStyle/>
                <a:p>
                  <a:endParaRPr lang="zh-CN" altLang="en-US"/>
                </a:p>
              </p:txBody>
            </p:sp>
            <p:sp>
              <p:nvSpPr>
                <p:cNvPr id="279617" name="Line 64"/>
                <p:cNvSpPr>
                  <a:spLocks noChangeShapeType="1"/>
                </p:cNvSpPr>
                <p:nvPr/>
              </p:nvSpPr>
              <p:spPr bwMode="auto">
                <a:xfrm flipV="1">
                  <a:off x="2016" y="2304"/>
                  <a:ext cx="0" cy="192"/>
                </a:xfrm>
                <a:prstGeom prst="line">
                  <a:avLst/>
                </a:prstGeom>
                <a:noFill/>
                <a:ln w="28575">
                  <a:solidFill>
                    <a:srgbClr val="005A42"/>
                  </a:solidFill>
                  <a:round/>
                  <a:headEnd/>
                  <a:tailEnd type="triangle" w="med" len="med"/>
                </a:ln>
              </p:spPr>
              <p:txBody>
                <a:bodyPr wrap="none"/>
                <a:lstStyle/>
                <a:p>
                  <a:endParaRPr lang="zh-CN" altLang="en-US"/>
                </a:p>
              </p:txBody>
            </p:sp>
          </p:grpSp>
          <p:grpSp>
            <p:nvGrpSpPr>
              <p:cNvPr id="10" name="Group 65"/>
              <p:cNvGrpSpPr>
                <a:grpSpLocks/>
              </p:cNvGrpSpPr>
              <p:nvPr/>
            </p:nvGrpSpPr>
            <p:grpSpPr bwMode="auto">
              <a:xfrm>
                <a:off x="1632" y="2304"/>
                <a:ext cx="1776" cy="432"/>
                <a:chOff x="2016" y="2304"/>
                <a:chExt cx="1392" cy="192"/>
              </a:xfrm>
            </p:grpSpPr>
            <p:sp>
              <p:nvSpPr>
                <p:cNvPr id="279619" name="Line 66"/>
                <p:cNvSpPr>
                  <a:spLocks noChangeShapeType="1"/>
                </p:cNvSpPr>
                <p:nvPr/>
              </p:nvSpPr>
              <p:spPr bwMode="auto">
                <a:xfrm flipH="1">
                  <a:off x="2016" y="2496"/>
                  <a:ext cx="1392" cy="0"/>
                </a:xfrm>
                <a:prstGeom prst="line">
                  <a:avLst/>
                </a:prstGeom>
                <a:noFill/>
                <a:ln w="28575">
                  <a:solidFill>
                    <a:srgbClr val="005A42"/>
                  </a:solidFill>
                  <a:round/>
                  <a:headEnd/>
                  <a:tailEnd/>
                </a:ln>
              </p:spPr>
              <p:txBody>
                <a:bodyPr wrap="none"/>
                <a:lstStyle/>
                <a:p>
                  <a:endParaRPr lang="zh-CN" altLang="en-US"/>
                </a:p>
              </p:txBody>
            </p:sp>
            <p:sp>
              <p:nvSpPr>
                <p:cNvPr id="279620" name="Line 67"/>
                <p:cNvSpPr>
                  <a:spLocks noChangeShapeType="1"/>
                </p:cNvSpPr>
                <p:nvPr/>
              </p:nvSpPr>
              <p:spPr bwMode="auto">
                <a:xfrm flipV="1">
                  <a:off x="2016" y="2304"/>
                  <a:ext cx="0" cy="192"/>
                </a:xfrm>
                <a:prstGeom prst="line">
                  <a:avLst/>
                </a:prstGeom>
                <a:noFill/>
                <a:ln w="28575">
                  <a:solidFill>
                    <a:srgbClr val="005A42"/>
                  </a:solidFill>
                  <a:round/>
                  <a:headEnd/>
                  <a:tailEnd type="triangle" w="med" len="med"/>
                </a:ln>
              </p:spPr>
              <p:txBody>
                <a:bodyPr wrap="none"/>
                <a:lstStyle/>
                <a:p>
                  <a:endParaRPr lang="zh-CN" altLang="en-US"/>
                </a:p>
              </p:txBody>
            </p:sp>
          </p:grpSp>
          <p:grpSp>
            <p:nvGrpSpPr>
              <p:cNvPr id="11" name="Group 68"/>
              <p:cNvGrpSpPr>
                <a:grpSpLocks/>
              </p:cNvGrpSpPr>
              <p:nvPr/>
            </p:nvGrpSpPr>
            <p:grpSpPr bwMode="auto">
              <a:xfrm>
                <a:off x="1296" y="2304"/>
                <a:ext cx="2112" cy="720"/>
                <a:chOff x="2016" y="2304"/>
                <a:chExt cx="1392" cy="192"/>
              </a:xfrm>
            </p:grpSpPr>
            <p:sp>
              <p:nvSpPr>
                <p:cNvPr id="279622" name="Line 69"/>
                <p:cNvSpPr>
                  <a:spLocks noChangeShapeType="1"/>
                </p:cNvSpPr>
                <p:nvPr/>
              </p:nvSpPr>
              <p:spPr bwMode="auto">
                <a:xfrm flipH="1">
                  <a:off x="2016" y="2496"/>
                  <a:ext cx="1392" cy="0"/>
                </a:xfrm>
                <a:prstGeom prst="line">
                  <a:avLst/>
                </a:prstGeom>
                <a:noFill/>
                <a:ln w="28575">
                  <a:solidFill>
                    <a:srgbClr val="005A42"/>
                  </a:solidFill>
                  <a:round/>
                  <a:headEnd/>
                  <a:tailEnd/>
                </a:ln>
              </p:spPr>
              <p:txBody>
                <a:bodyPr wrap="none"/>
                <a:lstStyle/>
                <a:p>
                  <a:endParaRPr lang="zh-CN" altLang="en-US"/>
                </a:p>
              </p:txBody>
            </p:sp>
            <p:sp>
              <p:nvSpPr>
                <p:cNvPr id="279623" name="Line 70"/>
                <p:cNvSpPr>
                  <a:spLocks noChangeShapeType="1"/>
                </p:cNvSpPr>
                <p:nvPr/>
              </p:nvSpPr>
              <p:spPr bwMode="auto">
                <a:xfrm flipV="1">
                  <a:off x="2016" y="2304"/>
                  <a:ext cx="0" cy="192"/>
                </a:xfrm>
                <a:prstGeom prst="line">
                  <a:avLst/>
                </a:prstGeom>
                <a:noFill/>
                <a:ln w="28575">
                  <a:solidFill>
                    <a:srgbClr val="005A42"/>
                  </a:solidFill>
                  <a:round/>
                  <a:headEnd/>
                  <a:tailEnd type="triangle" w="med" len="med"/>
                </a:ln>
              </p:spPr>
              <p:txBody>
                <a:bodyPr wrap="none"/>
                <a:lstStyle/>
                <a:p>
                  <a:endParaRPr lang="zh-CN" altLang="en-US"/>
                </a:p>
              </p:txBody>
            </p:sp>
          </p:grpSp>
        </p:grpSp>
        <p:sp>
          <p:nvSpPr>
            <p:cNvPr id="1094727" name="Text Box 71"/>
            <p:cNvSpPr txBox="1">
              <a:spLocks noChangeArrowheads="1"/>
            </p:cNvSpPr>
            <p:nvPr/>
          </p:nvSpPr>
          <p:spPr bwMode="auto">
            <a:xfrm>
              <a:off x="1165" y="2292"/>
              <a:ext cx="352" cy="288"/>
            </a:xfrm>
            <a:prstGeom prst="rect">
              <a:avLst/>
            </a:prstGeom>
            <a:noFill/>
            <a:ln w="28575">
              <a:noFill/>
              <a:miter lim="800000"/>
              <a:headEnd/>
              <a:tailEnd/>
            </a:ln>
          </p:spPr>
          <p:txBody>
            <a:bodyPr wrap="none">
              <a:spAutoFit/>
            </a:bodyPr>
            <a:lstStyle/>
            <a:p>
              <a:pPr algn="ctr"/>
              <a:r>
                <a:rPr kumimoji="1" lang="en-US" altLang="zh-CN" sz="2400" b="1">
                  <a:latin typeface="微软雅黑" pitchFamily="34" charset="-122"/>
                  <a:ea typeface="微软雅黑" pitchFamily="34" charset="-122"/>
                </a:rPr>
                <a:t>87</a:t>
              </a:r>
            </a:p>
          </p:txBody>
        </p:sp>
        <p:sp>
          <p:nvSpPr>
            <p:cNvPr id="1094728" name="Text Box 72"/>
            <p:cNvSpPr txBox="1">
              <a:spLocks noChangeArrowheads="1"/>
            </p:cNvSpPr>
            <p:nvPr/>
          </p:nvSpPr>
          <p:spPr bwMode="auto">
            <a:xfrm>
              <a:off x="1449" y="2292"/>
              <a:ext cx="360" cy="288"/>
            </a:xfrm>
            <a:prstGeom prst="rect">
              <a:avLst/>
            </a:prstGeom>
            <a:noFill/>
            <a:ln w="28575">
              <a:noFill/>
              <a:miter lim="800000"/>
              <a:headEnd/>
              <a:tailEnd/>
            </a:ln>
          </p:spPr>
          <p:txBody>
            <a:bodyPr>
              <a:spAutoFit/>
            </a:bodyPr>
            <a:lstStyle/>
            <a:p>
              <a:pPr algn="ctr"/>
              <a:r>
                <a:rPr kumimoji="1" lang="en-US" altLang="zh-CN" sz="2400" b="1">
                  <a:latin typeface="微软雅黑" pitchFamily="34" charset="-122"/>
                  <a:ea typeface="微软雅黑" pitchFamily="34" charset="-122"/>
                </a:rPr>
                <a:t>65</a:t>
              </a:r>
            </a:p>
          </p:txBody>
        </p:sp>
        <p:sp>
          <p:nvSpPr>
            <p:cNvPr id="1094729" name="Text Box 73"/>
            <p:cNvSpPr txBox="1">
              <a:spLocks noChangeArrowheads="1"/>
            </p:cNvSpPr>
            <p:nvPr/>
          </p:nvSpPr>
          <p:spPr bwMode="auto">
            <a:xfrm>
              <a:off x="1789" y="2292"/>
              <a:ext cx="352" cy="288"/>
            </a:xfrm>
            <a:prstGeom prst="rect">
              <a:avLst/>
            </a:prstGeom>
            <a:noFill/>
            <a:ln w="28575">
              <a:noFill/>
              <a:miter lim="800000"/>
              <a:headEnd/>
              <a:tailEnd/>
            </a:ln>
          </p:spPr>
          <p:txBody>
            <a:bodyPr wrap="none">
              <a:spAutoFit/>
            </a:bodyPr>
            <a:lstStyle/>
            <a:p>
              <a:pPr algn="ctr"/>
              <a:r>
                <a:rPr kumimoji="1" lang="en-US" altLang="zh-CN" sz="2400" b="1">
                  <a:latin typeface="微软雅黑" pitchFamily="34" charset="-122"/>
                  <a:ea typeface="微软雅黑" pitchFamily="34" charset="-122"/>
                </a:rPr>
                <a:t>43</a:t>
              </a:r>
            </a:p>
          </p:txBody>
        </p:sp>
        <p:sp>
          <p:nvSpPr>
            <p:cNvPr id="1094730" name="Text Box 74"/>
            <p:cNvSpPr txBox="1">
              <a:spLocks noChangeArrowheads="1"/>
            </p:cNvSpPr>
            <p:nvPr/>
          </p:nvSpPr>
          <p:spPr bwMode="auto">
            <a:xfrm>
              <a:off x="2125" y="2292"/>
              <a:ext cx="352" cy="288"/>
            </a:xfrm>
            <a:prstGeom prst="rect">
              <a:avLst/>
            </a:prstGeom>
            <a:noFill/>
            <a:ln w="28575">
              <a:noFill/>
              <a:miter lim="800000"/>
              <a:headEnd/>
              <a:tailEnd/>
            </a:ln>
          </p:spPr>
          <p:txBody>
            <a:bodyPr wrap="none">
              <a:spAutoFit/>
            </a:bodyPr>
            <a:lstStyle/>
            <a:p>
              <a:pPr algn="ctr"/>
              <a:r>
                <a:rPr kumimoji="1" lang="en-US" altLang="zh-CN" sz="2400" b="1">
                  <a:latin typeface="微软雅黑" pitchFamily="34" charset="-122"/>
                  <a:ea typeface="微软雅黑" pitchFamily="34" charset="-122"/>
                </a:rPr>
                <a:t>21</a:t>
              </a:r>
            </a:p>
          </p:txBody>
        </p:sp>
        <p:sp>
          <p:nvSpPr>
            <p:cNvPr id="279628" name="Rectangle 75"/>
            <p:cNvSpPr>
              <a:spLocks noChangeArrowheads="1"/>
            </p:cNvSpPr>
            <p:nvPr/>
          </p:nvSpPr>
          <p:spPr bwMode="auto">
            <a:xfrm>
              <a:off x="492" y="960"/>
              <a:ext cx="1507" cy="327"/>
            </a:xfrm>
            <a:prstGeom prst="rect">
              <a:avLst/>
            </a:prstGeom>
            <a:noFill/>
            <a:ln w="28575">
              <a:noFill/>
              <a:miter lim="800000"/>
              <a:headEnd/>
              <a:tailEnd/>
            </a:ln>
          </p:spPr>
          <p:txBody>
            <a:bodyPr wrap="none">
              <a:spAutoFit/>
            </a:bodyPr>
            <a:lstStyle/>
            <a:p>
              <a:pPr algn="ctr"/>
              <a:r>
                <a:rPr kumimoji="1" lang="en-US" altLang="zh-CN" sz="2800" b="1" dirty="0">
                  <a:latin typeface="微软雅黑" pitchFamily="34" charset="-122"/>
                  <a:ea typeface="微软雅黑" pitchFamily="34" charset="-122"/>
                </a:rPr>
                <a:t>mov </a:t>
              </a:r>
              <a:r>
                <a:rPr kumimoji="1" lang="en-US" altLang="zh-CN" sz="2800" b="1" dirty="0" err="1">
                  <a:latin typeface="微软雅黑" pitchFamily="34" charset="-122"/>
                  <a:ea typeface="微软雅黑" pitchFamily="34" charset="-122"/>
                </a:rPr>
                <a:t>eax</a:t>
              </a:r>
              <a:r>
                <a:rPr kumimoji="1" lang="en-US" altLang="zh-CN" sz="2800" b="1" dirty="0">
                  <a:latin typeface="微软雅黑" pitchFamily="34" charset="-122"/>
                  <a:ea typeface="微软雅黑" pitchFamily="34" charset="-122"/>
                </a:rPr>
                <a:t>, </a:t>
              </a:r>
              <a:r>
                <a:rPr kumimoji="1" lang="en-US" altLang="zh-CN" sz="2800" b="1" dirty="0" err="1">
                  <a:latin typeface="微软雅黑" pitchFamily="34" charset="-122"/>
                  <a:ea typeface="微软雅黑" pitchFamily="34" charset="-122"/>
                </a:rPr>
                <a:t>esi</a:t>
              </a:r>
              <a:endParaRPr kumimoji="1" lang="en-US" altLang="zh-CN" sz="2800" b="1" dirty="0">
                <a:latin typeface="微软雅黑" pitchFamily="34" charset="-122"/>
                <a:ea typeface="微软雅黑" pitchFamily="34" charset="-122"/>
              </a:endParaRPr>
            </a:p>
          </p:txBody>
        </p:sp>
        <p:grpSp>
          <p:nvGrpSpPr>
            <p:cNvPr id="12" name="Group 76"/>
            <p:cNvGrpSpPr>
              <a:grpSpLocks/>
            </p:cNvGrpSpPr>
            <p:nvPr/>
          </p:nvGrpSpPr>
          <p:grpSpPr bwMode="auto">
            <a:xfrm>
              <a:off x="2549" y="948"/>
              <a:ext cx="1828" cy="384"/>
              <a:chOff x="620" y="1920"/>
              <a:chExt cx="1828" cy="384"/>
            </a:xfrm>
          </p:grpSpPr>
          <p:sp>
            <p:nvSpPr>
              <p:cNvPr id="279630" name="Text Box 77"/>
              <p:cNvSpPr txBox="1">
                <a:spLocks noChangeArrowheads="1"/>
              </p:cNvSpPr>
              <p:nvPr/>
            </p:nvSpPr>
            <p:spPr bwMode="auto">
              <a:xfrm>
                <a:off x="620" y="1968"/>
                <a:ext cx="504" cy="288"/>
              </a:xfrm>
              <a:prstGeom prst="rect">
                <a:avLst/>
              </a:prstGeom>
              <a:noFill/>
              <a:ln w="28575">
                <a:noFill/>
                <a:miter lim="800000"/>
                <a:headEnd/>
                <a:tailEnd/>
              </a:ln>
            </p:spPr>
            <p:txBody>
              <a:bodyPr wrap="none">
                <a:spAutoFit/>
              </a:bodyPr>
              <a:lstStyle/>
              <a:p>
                <a:pPr algn="ctr"/>
                <a:r>
                  <a:rPr kumimoji="1" lang="en-US" altLang="zh-CN" sz="2400" b="1">
                    <a:latin typeface="微软雅黑" pitchFamily="34" charset="-122"/>
                    <a:ea typeface="微软雅黑" pitchFamily="34" charset="-122"/>
                  </a:rPr>
                  <a:t>EAX</a:t>
                </a:r>
              </a:p>
            </p:txBody>
          </p:sp>
          <p:grpSp>
            <p:nvGrpSpPr>
              <p:cNvPr id="13" name="Group 78"/>
              <p:cNvGrpSpPr>
                <a:grpSpLocks/>
              </p:cNvGrpSpPr>
              <p:nvPr/>
            </p:nvGrpSpPr>
            <p:grpSpPr bwMode="auto">
              <a:xfrm rot="5400000">
                <a:off x="1608" y="1464"/>
                <a:ext cx="384" cy="1296"/>
                <a:chOff x="2016" y="2448"/>
                <a:chExt cx="384" cy="1296"/>
              </a:xfrm>
            </p:grpSpPr>
            <p:sp>
              <p:nvSpPr>
                <p:cNvPr id="279632" name="Rectangle 79"/>
                <p:cNvSpPr>
                  <a:spLocks noChangeArrowheads="1"/>
                </p:cNvSpPr>
                <p:nvPr/>
              </p:nvSpPr>
              <p:spPr bwMode="auto">
                <a:xfrm>
                  <a:off x="2016" y="3420"/>
                  <a:ext cx="384" cy="324"/>
                </a:xfrm>
                <a:prstGeom prst="rect">
                  <a:avLst/>
                </a:prstGeom>
                <a:solidFill>
                  <a:srgbClr val="ECD8C4"/>
                </a:solidFill>
                <a:ln w="28575">
                  <a:solidFill>
                    <a:srgbClr val="005A42"/>
                  </a:solidFill>
                  <a:miter lim="800000"/>
                  <a:headEnd/>
                  <a:tailEnd/>
                </a:ln>
              </p:spPr>
              <p:txBody>
                <a:bodyPr rot="10800000" vert="eaVert"/>
                <a:lstStyle/>
                <a:p>
                  <a:pPr>
                    <a:spcBef>
                      <a:spcPct val="20000"/>
                    </a:spcBef>
                    <a:buClr>
                      <a:schemeClr val="bg2"/>
                    </a:buClr>
                    <a:buSzPct val="75000"/>
                    <a:buFont typeface="Wingdings" pitchFamily="2" charset="2"/>
                    <a:buNone/>
                  </a:pPr>
                  <a:r>
                    <a:rPr lang="en-US" altLang="zh-CN" sz="2000" b="1">
                      <a:latin typeface="微软雅黑" pitchFamily="34" charset="-122"/>
                      <a:ea typeface="微软雅黑" pitchFamily="34" charset="-122"/>
                    </a:rPr>
                    <a:t>00</a:t>
                  </a:r>
                </a:p>
              </p:txBody>
            </p:sp>
            <p:sp>
              <p:nvSpPr>
                <p:cNvPr id="279633" name="Rectangle 80"/>
                <p:cNvSpPr>
                  <a:spLocks noChangeArrowheads="1"/>
                </p:cNvSpPr>
                <p:nvPr/>
              </p:nvSpPr>
              <p:spPr bwMode="auto">
                <a:xfrm>
                  <a:off x="2016" y="3096"/>
                  <a:ext cx="384" cy="324"/>
                </a:xfrm>
                <a:prstGeom prst="rect">
                  <a:avLst/>
                </a:prstGeom>
                <a:solidFill>
                  <a:srgbClr val="ECD8C4"/>
                </a:solidFill>
                <a:ln w="28575">
                  <a:solidFill>
                    <a:srgbClr val="005A42"/>
                  </a:solidFill>
                  <a:miter lim="800000"/>
                  <a:headEnd/>
                  <a:tailEnd/>
                </a:ln>
              </p:spPr>
              <p:txBody>
                <a:bodyPr rot="10800000" vert="eaVert"/>
                <a:lstStyle/>
                <a:p>
                  <a:pPr>
                    <a:spcBef>
                      <a:spcPct val="20000"/>
                    </a:spcBef>
                    <a:buClr>
                      <a:schemeClr val="bg2"/>
                    </a:buClr>
                    <a:buSzPct val="75000"/>
                    <a:buFont typeface="Wingdings" pitchFamily="2" charset="2"/>
                    <a:buNone/>
                  </a:pPr>
                  <a:r>
                    <a:rPr lang="en-US" altLang="zh-CN" sz="2000" b="1">
                      <a:latin typeface="微软雅黑" pitchFamily="34" charset="-122"/>
                      <a:ea typeface="微软雅黑" pitchFamily="34" charset="-122"/>
                    </a:rPr>
                    <a:t>40</a:t>
                  </a:r>
                </a:p>
              </p:txBody>
            </p:sp>
            <p:sp>
              <p:nvSpPr>
                <p:cNvPr id="279634" name="Rectangle 81"/>
                <p:cNvSpPr>
                  <a:spLocks noChangeArrowheads="1"/>
                </p:cNvSpPr>
                <p:nvPr/>
              </p:nvSpPr>
              <p:spPr bwMode="auto">
                <a:xfrm>
                  <a:off x="2016" y="2772"/>
                  <a:ext cx="384" cy="324"/>
                </a:xfrm>
                <a:prstGeom prst="rect">
                  <a:avLst/>
                </a:prstGeom>
                <a:solidFill>
                  <a:srgbClr val="ECD8C4"/>
                </a:solidFill>
                <a:ln w="28575">
                  <a:solidFill>
                    <a:srgbClr val="005A42"/>
                  </a:solidFill>
                  <a:miter lim="800000"/>
                  <a:headEnd/>
                  <a:tailEnd/>
                </a:ln>
              </p:spPr>
              <p:txBody>
                <a:bodyPr rot="10800000" vert="eaVert"/>
                <a:lstStyle/>
                <a:p>
                  <a:pPr>
                    <a:spcBef>
                      <a:spcPct val="20000"/>
                    </a:spcBef>
                    <a:buClr>
                      <a:schemeClr val="bg2"/>
                    </a:buClr>
                    <a:buSzPct val="75000"/>
                    <a:buFont typeface="Wingdings" pitchFamily="2" charset="2"/>
                    <a:buNone/>
                  </a:pPr>
                  <a:r>
                    <a:rPr lang="en-US" altLang="zh-CN" sz="2000" b="1">
                      <a:latin typeface="微软雅黑" pitchFamily="34" charset="-122"/>
                      <a:ea typeface="微软雅黑" pitchFamily="34" charset="-122"/>
                    </a:rPr>
                    <a:t>40</a:t>
                  </a:r>
                </a:p>
              </p:txBody>
            </p:sp>
            <p:sp>
              <p:nvSpPr>
                <p:cNvPr id="279635" name="Rectangle 82"/>
                <p:cNvSpPr>
                  <a:spLocks noChangeArrowheads="1"/>
                </p:cNvSpPr>
                <p:nvPr/>
              </p:nvSpPr>
              <p:spPr bwMode="auto">
                <a:xfrm>
                  <a:off x="2016" y="2448"/>
                  <a:ext cx="384" cy="324"/>
                </a:xfrm>
                <a:prstGeom prst="rect">
                  <a:avLst/>
                </a:prstGeom>
                <a:solidFill>
                  <a:srgbClr val="ECD8C4"/>
                </a:solidFill>
                <a:ln w="28575">
                  <a:solidFill>
                    <a:srgbClr val="005A42"/>
                  </a:solidFill>
                  <a:miter lim="800000"/>
                  <a:headEnd/>
                  <a:tailEnd/>
                </a:ln>
              </p:spPr>
              <p:txBody>
                <a:bodyPr rot="10800000" vert="eaVert"/>
                <a:lstStyle/>
                <a:p>
                  <a:pPr>
                    <a:spcBef>
                      <a:spcPct val="20000"/>
                    </a:spcBef>
                    <a:buClr>
                      <a:schemeClr val="bg2"/>
                    </a:buClr>
                    <a:buSzPct val="75000"/>
                    <a:buFont typeface="Wingdings" pitchFamily="2" charset="2"/>
                    <a:buNone/>
                  </a:pPr>
                  <a:r>
                    <a:rPr lang="en-US" altLang="zh-CN" sz="2000" b="1">
                      <a:latin typeface="微软雅黑" pitchFamily="34" charset="-122"/>
                      <a:ea typeface="微软雅黑" pitchFamily="34" charset="-122"/>
                    </a:rPr>
                    <a:t>00</a:t>
                  </a:r>
                </a:p>
              </p:txBody>
            </p:sp>
            <p:sp>
              <p:nvSpPr>
                <p:cNvPr id="279636" name="Line 83"/>
                <p:cNvSpPr>
                  <a:spLocks noChangeShapeType="1"/>
                </p:cNvSpPr>
                <p:nvPr/>
              </p:nvSpPr>
              <p:spPr bwMode="auto">
                <a:xfrm>
                  <a:off x="2016" y="2448"/>
                  <a:ext cx="384" cy="0"/>
                </a:xfrm>
                <a:prstGeom prst="line">
                  <a:avLst/>
                </a:prstGeom>
                <a:noFill/>
                <a:ln w="28575" cap="sq">
                  <a:solidFill>
                    <a:srgbClr val="005A42"/>
                  </a:solidFill>
                  <a:round/>
                  <a:headEnd/>
                  <a:tailEnd/>
                </a:ln>
              </p:spPr>
              <p:txBody>
                <a:bodyPr wrap="none"/>
                <a:lstStyle/>
                <a:p>
                  <a:endParaRPr lang="zh-CN" altLang="en-US"/>
                </a:p>
              </p:txBody>
            </p:sp>
            <p:sp>
              <p:nvSpPr>
                <p:cNvPr id="279637" name="Line 84"/>
                <p:cNvSpPr>
                  <a:spLocks noChangeShapeType="1"/>
                </p:cNvSpPr>
                <p:nvPr/>
              </p:nvSpPr>
              <p:spPr bwMode="auto">
                <a:xfrm>
                  <a:off x="2016" y="2772"/>
                  <a:ext cx="384" cy="0"/>
                </a:xfrm>
                <a:prstGeom prst="line">
                  <a:avLst/>
                </a:prstGeom>
                <a:noFill/>
                <a:ln w="12700">
                  <a:solidFill>
                    <a:srgbClr val="005A42"/>
                  </a:solidFill>
                  <a:round/>
                  <a:headEnd/>
                  <a:tailEnd/>
                </a:ln>
              </p:spPr>
              <p:txBody>
                <a:bodyPr wrap="none"/>
                <a:lstStyle/>
                <a:p>
                  <a:endParaRPr lang="zh-CN" altLang="en-US"/>
                </a:p>
              </p:txBody>
            </p:sp>
            <p:sp>
              <p:nvSpPr>
                <p:cNvPr id="279638" name="Line 85"/>
                <p:cNvSpPr>
                  <a:spLocks noChangeShapeType="1"/>
                </p:cNvSpPr>
                <p:nvPr/>
              </p:nvSpPr>
              <p:spPr bwMode="auto">
                <a:xfrm>
                  <a:off x="2016" y="3096"/>
                  <a:ext cx="384" cy="0"/>
                </a:xfrm>
                <a:prstGeom prst="line">
                  <a:avLst/>
                </a:prstGeom>
                <a:noFill/>
                <a:ln w="12700">
                  <a:solidFill>
                    <a:srgbClr val="005A42"/>
                  </a:solidFill>
                  <a:round/>
                  <a:headEnd/>
                  <a:tailEnd/>
                </a:ln>
              </p:spPr>
              <p:txBody>
                <a:bodyPr wrap="none"/>
                <a:lstStyle/>
                <a:p>
                  <a:endParaRPr lang="zh-CN" altLang="en-US"/>
                </a:p>
              </p:txBody>
            </p:sp>
            <p:sp>
              <p:nvSpPr>
                <p:cNvPr id="279639" name="Line 86"/>
                <p:cNvSpPr>
                  <a:spLocks noChangeShapeType="1"/>
                </p:cNvSpPr>
                <p:nvPr/>
              </p:nvSpPr>
              <p:spPr bwMode="auto">
                <a:xfrm>
                  <a:off x="2016" y="3420"/>
                  <a:ext cx="384" cy="0"/>
                </a:xfrm>
                <a:prstGeom prst="line">
                  <a:avLst/>
                </a:prstGeom>
                <a:noFill/>
                <a:ln w="12700">
                  <a:solidFill>
                    <a:srgbClr val="005A42"/>
                  </a:solidFill>
                  <a:round/>
                  <a:headEnd/>
                  <a:tailEnd/>
                </a:ln>
              </p:spPr>
              <p:txBody>
                <a:bodyPr wrap="none"/>
                <a:lstStyle/>
                <a:p>
                  <a:endParaRPr lang="zh-CN" altLang="en-US"/>
                </a:p>
              </p:txBody>
            </p:sp>
            <p:sp>
              <p:nvSpPr>
                <p:cNvPr id="279640" name="Line 87"/>
                <p:cNvSpPr>
                  <a:spLocks noChangeShapeType="1"/>
                </p:cNvSpPr>
                <p:nvPr/>
              </p:nvSpPr>
              <p:spPr bwMode="auto">
                <a:xfrm>
                  <a:off x="2016" y="3744"/>
                  <a:ext cx="384" cy="0"/>
                </a:xfrm>
                <a:prstGeom prst="line">
                  <a:avLst/>
                </a:prstGeom>
                <a:noFill/>
                <a:ln w="28575" cap="sq">
                  <a:solidFill>
                    <a:srgbClr val="005A42"/>
                  </a:solidFill>
                  <a:round/>
                  <a:headEnd/>
                  <a:tailEnd/>
                </a:ln>
              </p:spPr>
              <p:txBody>
                <a:bodyPr wrap="none"/>
                <a:lstStyle/>
                <a:p>
                  <a:endParaRPr lang="zh-CN" altLang="en-US"/>
                </a:p>
              </p:txBody>
            </p:sp>
            <p:sp>
              <p:nvSpPr>
                <p:cNvPr id="279641" name="Line 88"/>
                <p:cNvSpPr>
                  <a:spLocks noChangeShapeType="1"/>
                </p:cNvSpPr>
                <p:nvPr/>
              </p:nvSpPr>
              <p:spPr bwMode="auto">
                <a:xfrm>
                  <a:off x="2016" y="2448"/>
                  <a:ext cx="0" cy="1296"/>
                </a:xfrm>
                <a:prstGeom prst="line">
                  <a:avLst/>
                </a:prstGeom>
                <a:noFill/>
                <a:ln w="28575" cap="sq">
                  <a:solidFill>
                    <a:srgbClr val="005A42"/>
                  </a:solidFill>
                  <a:round/>
                  <a:headEnd/>
                  <a:tailEnd/>
                </a:ln>
              </p:spPr>
              <p:txBody>
                <a:bodyPr wrap="none"/>
                <a:lstStyle/>
                <a:p>
                  <a:endParaRPr lang="zh-CN" altLang="en-US"/>
                </a:p>
              </p:txBody>
            </p:sp>
            <p:sp>
              <p:nvSpPr>
                <p:cNvPr id="279642" name="Line 89"/>
                <p:cNvSpPr>
                  <a:spLocks noChangeShapeType="1"/>
                </p:cNvSpPr>
                <p:nvPr/>
              </p:nvSpPr>
              <p:spPr bwMode="auto">
                <a:xfrm>
                  <a:off x="2400" y="2448"/>
                  <a:ext cx="0" cy="1296"/>
                </a:xfrm>
                <a:prstGeom prst="line">
                  <a:avLst/>
                </a:prstGeom>
                <a:noFill/>
                <a:ln w="28575" cap="sq">
                  <a:solidFill>
                    <a:srgbClr val="005A42"/>
                  </a:solidFill>
                  <a:round/>
                  <a:headEnd/>
                  <a:tailEnd/>
                </a:ln>
              </p:spPr>
              <p:txBody>
                <a:bodyPr wrap="none"/>
                <a:lstStyle/>
                <a:p>
                  <a:endParaRPr lang="zh-CN" altLang="en-US"/>
                </a:p>
              </p:txBody>
            </p:sp>
          </p:grpSp>
        </p:gr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9" name="Rectangle 3"/>
          <p:cNvSpPr>
            <a:spLocks noGrp="1" noChangeArrowheads="1"/>
          </p:cNvSpPr>
          <p:nvPr>
            <p:ph type="body" idx="4294967295"/>
          </p:nvPr>
        </p:nvSpPr>
        <p:spPr>
          <a:xfrm>
            <a:off x="571472" y="1500174"/>
            <a:ext cx="7772400" cy="4621212"/>
          </a:xfrm>
        </p:spPr>
        <p:txBody>
          <a:bodyPr/>
          <a:lstStyle/>
          <a:p>
            <a:pPr>
              <a:lnSpc>
                <a:spcPct val="110000"/>
              </a:lnSpc>
            </a:pPr>
            <a:r>
              <a:rPr lang="zh-CN" altLang="en-US" dirty="0">
                <a:latin typeface="微软雅黑" pitchFamily="34" charset="-122"/>
                <a:ea typeface="微软雅黑" pitchFamily="34" charset="-122"/>
              </a:rPr>
              <a:t>采用寄存器间接寻址的操作数的有效地址是</a:t>
            </a:r>
            <a:r>
              <a:rPr lang="zh-CN" altLang="en-US" u="sng" dirty="0">
                <a:solidFill>
                  <a:srgbClr val="009900"/>
                </a:solidFill>
                <a:effectLst>
                  <a:outerShdw blurRad="38100" dist="38100" dir="2700000" algn="tl">
                    <a:srgbClr val="C0C0C0"/>
                  </a:outerShdw>
                </a:effectLst>
                <a:latin typeface="微软雅黑" pitchFamily="34" charset="-122"/>
                <a:ea typeface="微软雅黑" pitchFamily="34" charset="-122"/>
              </a:rPr>
              <a:t>寄存器内容与有符号</a:t>
            </a:r>
            <a:r>
              <a:rPr lang="en-US" altLang="zh-CN" u="sng" dirty="0">
                <a:solidFill>
                  <a:srgbClr val="009900"/>
                </a:solidFill>
                <a:effectLst>
                  <a:outerShdw blurRad="38100" dist="38100" dir="2700000" algn="tl">
                    <a:srgbClr val="C0C0C0"/>
                  </a:outerShdw>
                </a:effectLst>
                <a:latin typeface="微软雅黑" pitchFamily="34" charset="-122"/>
                <a:ea typeface="微软雅黑" pitchFamily="34" charset="-122"/>
                <a:cs typeface="Courier New" pitchFamily="49" charset="0"/>
              </a:rPr>
              <a:t>8</a:t>
            </a:r>
            <a:r>
              <a:rPr lang="zh-CN" altLang="en-US" u="sng" dirty="0">
                <a:solidFill>
                  <a:srgbClr val="009900"/>
                </a:solidFill>
                <a:effectLst>
                  <a:outerShdw blurRad="38100" dist="38100" dir="2700000" algn="tl">
                    <a:srgbClr val="C0C0C0"/>
                  </a:outerShdw>
                </a:effectLst>
                <a:latin typeface="微软雅黑" pitchFamily="34" charset="-122"/>
                <a:ea typeface="微软雅黑" pitchFamily="34" charset="-122"/>
              </a:rPr>
              <a:t>位，</a:t>
            </a:r>
            <a:r>
              <a:rPr lang="en-US" altLang="zh-CN" u="sng" dirty="0">
                <a:solidFill>
                  <a:srgbClr val="009900"/>
                </a:solidFill>
                <a:effectLst>
                  <a:outerShdw blurRad="38100" dist="38100" dir="2700000" algn="tl">
                    <a:srgbClr val="C0C0C0"/>
                  </a:outerShdw>
                </a:effectLst>
                <a:latin typeface="微软雅黑" pitchFamily="34" charset="-122"/>
                <a:ea typeface="微软雅黑" pitchFamily="34" charset="-122"/>
              </a:rPr>
              <a:t>16</a:t>
            </a:r>
            <a:r>
              <a:rPr lang="zh-CN" altLang="en-US" u="sng" dirty="0">
                <a:solidFill>
                  <a:srgbClr val="009900"/>
                </a:solidFill>
                <a:effectLst>
                  <a:outerShdw blurRad="38100" dist="38100" dir="2700000" algn="tl">
                    <a:srgbClr val="C0C0C0"/>
                  </a:outerShdw>
                </a:effectLst>
                <a:latin typeface="微软雅黑" pitchFamily="34" charset="-122"/>
                <a:ea typeface="微软雅黑" pitchFamily="34" charset="-122"/>
              </a:rPr>
              <a:t>位或</a:t>
            </a:r>
            <a:r>
              <a:rPr lang="en-US" altLang="zh-CN" u="sng" dirty="0">
                <a:solidFill>
                  <a:srgbClr val="009900"/>
                </a:solidFill>
                <a:effectLst>
                  <a:outerShdw blurRad="38100" dist="38100" dir="2700000" algn="tl">
                    <a:srgbClr val="C0C0C0"/>
                  </a:outerShdw>
                </a:effectLst>
                <a:latin typeface="微软雅黑" pitchFamily="34" charset="-122"/>
                <a:ea typeface="微软雅黑" pitchFamily="34" charset="-122"/>
              </a:rPr>
              <a:t>32</a:t>
            </a:r>
            <a:r>
              <a:rPr lang="zh-CN" altLang="en-US" u="sng" dirty="0">
                <a:solidFill>
                  <a:srgbClr val="009900"/>
                </a:solidFill>
                <a:effectLst>
                  <a:outerShdw blurRad="38100" dist="38100" dir="2700000" algn="tl">
                    <a:srgbClr val="C0C0C0"/>
                  </a:outerShdw>
                </a:effectLst>
                <a:latin typeface="微软雅黑" pitchFamily="34" charset="-122"/>
                <a:ea typeface="微软雅黑" pitchFamily="34" charset="-122"/>
              </a:rPr>
              <a:t>位位移量之和</a:t>
            </a:r>
          </a:p>
          <a:p>
            <a:pPr>
              <a:lnSpc>
                <a:spcPct val="110000"/>
              </a:lnSpc>
            </a:pPr>
            <a:r>
              <a:rPr lang="zh-CN" altLang="en-US" dirty="0">
                <a:latin typeface="微软雅黑" pitchFamily="34" charset="-122"/>
                <a:ea typeface="微软雅黑" pitchFamily="34" charset="-122"/>
              </a:rPr>
              <a:t>操作数的有效地址的计算公式是：</a:t>
            </a:r>
          </a:p>
          <a:p>
            <a:pPr>
              <a:lnSpc>
                <a:spcPct val="110000"/>
              </a:lnSpc>
            </a:pPr>
            <a:endParaRPr lang="zh-CN" altLang="en-US" dirty="0">
              <a:latin typeface="微软雅黑" pitchFamily="34" charset="-122"/>
              <a:ea typeface="微软雅黑" pitchFamily="34" charset="-122"/>
            </a:endParaRPr>
          </a:p>
          <a:p>
            <a:pPr>
              <a:lnSpc>
                <a:spcPct val="110000"/>
              </a:lnSpc>
              <a:buFont typeface="Wingdings" pitchFamily="2" charset="2"/>
              <a:buNone/>
            </a:pPr>
            <a:endParaRPr lang="zh-CN" altLang="en-US" dirty="0">
              <a:latin typeface="微软雅黑" pitchFamily="34" charset="-122"/>
              <a:ea typeface="微软雅黑" pitchFamily="34" charset="-122"/>
            </a:endParaRPr>
          </a:p>
          <a:p>
            <a:pPr>
              <a:lnSpc>
                <a:spcPct val="110000"/>
              </a:lnSpc>
            </a:pPr>
            <a:r>
              <a:rPr lang="zh-CN" altLang="en-US" dirty="0">
                <a:latin typeface="微软雅黑" pitchFamily="34" charset="-122"/>
                <a:ea typeface="微软雅黑" pitchFamily="34" charset="-122"/>
              </a:rPr>
              <a:t>位移量可以是正数，也可以是负数 </a:t>
            </a:r>
          </a:p>
        </p:txBody>
      </p:sp>
      <p:sp>
        <p:nvSpPr>
          <p:cNvPr id="280580" name="Text Box 4"/>
          <p:cNvSpPr txBox="1">
            <a:spLocks noChangeArrowheads="1"/>
          </p:cNvSpPr>
          <p:nvPr/>
        </p:nvSpPr>
        <p:spPr bwMode="auto">
          <a:xfrm>
            <a:off x="782638" y="4094163"/>
            <a:ext cx="7891462" cy="669925"/>
          </a:xfrm>
          <a:prstGeom prst="rect">
            <a:avLst/>
          </a:prstGeom>
          <a:solidFill>
            <a:srgbClr val="ECD8C4"/>
          </a:solidFill>
          <a:ln w="28575">
            <a:solidFill>
              <a:schemeClr val="hlink"/>
            </a:solidFill>
            <a:miter lim="800000"/>
            <a:headEnd/>
            <a:tailEnd/>
          </a:ln>
        </p:spPr>
        <p:txBody>
          <a:bodyPr wrap="none">
            <a:spAutoFit/>
          </a:bodyPr>
          <a:lstStyle/>
          <a:p>
            <a:pPr algn="ctr">
              <a:spcBef>
                <a:spcPct val="20000"/>
              </a:spcBef>
              <a:buClr>
                <a:schemeClr val="folHlink"/>
              </a:buClr>
              <a:buFont typeface="Wingdings" pitchFamily="2" charset="2"/>
              <a:buNone/>
            </a:pPr>
            <a:r>
              <a:rPr kumimoji="1" lang="zh-CN" altLang="en-US" sz="3600" b="1">
                <a:latin typeface="微软雅黑" pitchFamily="34" charset="-122"/>
                <a:ea typeface="微软雅黑" pitchFamily="34" charset="-122"/>
              </a:rPr>
              <a:t>有效地址＝寄存器</a:t>
            </a:r>
            <a:r>
              <a:rPr kumimoji="1" lang="en-US" altLang="zh-CN" sz="3600" b="1">
                <a:latin typeface="微软雅黑" pitchFamily="34" charset="-122"/>
                <a:ea typeface="微软雅黑" pitchFamily="34" charset="-122"/>
                <a:cs typeface="Courier New" pitchFamily="49" charset="0"/>
              </a:rPr>
              <a:t>+8/16/32</a:t>
            </a:r>
            <a:r>
              <a:rPr kumimoji="1" lang="zh-CN" altLang="en-US" sz="3600" b="1">
                <a:latin typeface="微软雅黑" pitchFamily="34" charset="-122"/>
                <a:ea typeface="微软雅黑" pitchFamily="34" charset="-122"/>
              </a:rPr>
              <a:t>位位移量</a:t>
            </a:r>
            <a:endParaRPr kumimoji="1" lang="zh-CN" altLang="en-US" sz="2400" b="1">
              <a:latin typeface="微软雅黑" pitchFamily="34" charset="-122"/>
              <a:ea typeface="微软雅黑" pitchFamily="34" charset="-122"/>
            </a:endParaRPr>
          </a:p>
        </p:txBody>
      </p:sp>
      <p:sp>
        <p:nvSpPr>
          <p:cNvPr id="280582" name="Rectangle 6"/>
          <p:cNvSpPr>
            <a:spLocks noChangeArrowheads="1"/>
          </p:cNvSpPr>
          <p:nvPr/>
        </p:nvSpPr>
        <p:spPr bwMode="auto">
          <a:xfrm>
            <a:off x="457200" y="122238"/>
            <a:ext cx="7543800" cy="1295400"/>
          </a:xfrm>
          <a:prstGeom prst="rect">
            <a:avLst/>
          </a:prstGeom>
          <a:noFill/>
          <a:ln w="9525">
            <a:noFill/>
            <a:miter lim="800000"/>
            <a:headEnd/>
            <a:tailEnd/>
          </a:ln>
          <a:effectLst/>
        </p:spPr>
        <p:txBody>
          <a:bodyPr anchor="b"/>
          <a:lstStyle/>
          <a:p>
            <a:r>
              <a:rPr lang="en-US" altLang="zh-CN" sz="3900" b="1">
                <a:solidFill>
                  <a:schemeClr val="tx2"/>
                </a:solidFill>
              </a:rPr>
              <a:t>5</a:t>
            </a:r>
            <a:r>
              <a:rPr lang="zh-CN" altLang="en-US" sz="3900" b="1">
                <a:solidFill>
                  <a:schemeClr val="tx2"/>
                </a:solidFill>
              </a:rPr>
              <a:t>、寄存器相对寻址方式 </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idx="4294967295"/>
          </p:nvPr>
        </p:nvSpPr>
        <p:spPr>
          <a:xfrm>
            <a:off x="747713" y="549275"/>
            <a:ext cx="8396287" cy="974725"/>
          </a:xfrm>
        </p:spPr>
        <p:txBody>
          <a:bodyPr anchor="ctr"/>
          <a:lstStyle/>
          <a:p>
            <a:r>
              <a:rPr lang="zh-CN" altLang="en-US" dirty="0">
                <a:solidFill>
                  <a:srgbClr val="FF0000"/>
                </a:solidFill>
                <a:latin typeface="微软雅黑" pitchFamily="34" charset="-122"/>
                <a:ea typeface="微软雅黑" pitchFamily="34" charset="-122"/>
              </a:rPr>
              <a:t>例：寄存器相对寻址方式</a:t>
            </a:r>
            <a:r>
              <a:rPr lang="zh-CN" altLang="en-US" dirty="0">
                <a:latin typeface="微软雅黑" pitchFamily="34" charset="-122"/>
                <a:ea typeface="微软雅黑" pitchFamily="34" charset="-122"/>
              </a:rPr>
              <a:t> </a:t>
            </a:r>
          </a:p>
        </p:txBody>
      </p:sp>
      <p:sp>
        <p:nvSpPr>
          <p:cNvPr id="281603" name="AutoShape 3"/>
          <p:cNvSpPr>
            <a:spLocks noChangeArrowheads="1"/>
          </p:cNvSpPr>
          <p:nvPr/>
        </p:nvSpPr>
        <p:spPr bwMode="auto">
          <a:xfrm>
            <a:off x="609600" y="1524000"/>
            <a:ext cx="7924800" cy="4953000"/>
          </a:xfrm>
          <a:prstGeom prst="flowChartAlternateProcess">
            <a:avLst/>
          </a:prstGeom>
          <a:solidFill>
            <a:srgbClr val="ECD8C4"/>
          </a:solidFill>
          <a:ln w="57150" cmpd="thinThick">
            <a:solidFill>
              <a:schemeClr val="tx2"/>
            </a:solidFill>
            <a:miter lim="800000"/>
            <a:headEnd/>
            <a:tailEnd/>
          </a:ln>
        </p:spPr>
        <p:txBody>
          <a:bodyPr wrap="none" anchor="ctr"/>
          <a:lstStyle/>
          <a:p>
            <a:pPr>
              <a:lnSpc>
                <a:spcPct val="110000"/>
              </a:lnSpc>
            </a:pPr>
            <a:r>
              <a:rPr kumimoji="1" lang="en-US" altLang="zh-CN" sz="2000" b="1" dirty="0">
                <a:latin typeface="微软雅黑" pitchFamily="34" charset="-122"/>
                <a:ea typeface="微软雅黑" pitchFamily="34" charset="-122"/>
              </a:rPr>
              <a:t>.386</a:t>
            </a:r>
          </a:p>
          <a:p>
            <a:pPr>
              <a:lnSpc>
                <a:spcPct val="110000"/>
              </a:lnSpc>
            </a:pPr>
            <a:r>
              <a:rPr kumimoji="1" lang="en-US" altLang="zh-CN" sz="2000" b="1" dirty="0">
                <a:latin typeface="微软雅黑" pitchFamily="34" charset="-122"/>
                <a:ea typeface="微软雅黑" pitchFamily="34" charset="-122"/>
              </a:rPr>
              <a:t>.model flat, </a:t>
            </a:r>
            <a:r>
              <a:rPr kumimoji="1" lang="en-US" altLang="zh-CN" sz="2000" b="1" dirty="0" err="1">
                <a:latin typeface="微软雅黑" pitchFamily="34" charset="-122"/>
                <a:ea typeface="微软雅黑" pitchFamily="34" charset="-122"/>
              </a:rPr>
              <a:t>stdcall</a:t>
            </a:r>
            <a:endParaRPr kumimoji="1" lang="en-US" altLang="zh-CN" sz="2000" b="1" dirty="0">
              <a:latin typeface="微软雅黑" pitchFamily="34" charset="-122"/>
              <a:ea typeface="微软雅黑" pitchFamily="34" charset="-122"/>
            </a:endParaRPr>
          </a:p>
          <a:p>
            <a:pPr>
              <a:lnSpc>
                <a:spcPct val="110000"/>
              </a:lnSpc>
            </a:pPr>
            <a:r>
              <a:rPr kumimoji="1" lang="en-US" altLang="zh-CN" sz="2000" b="1" dirty="0">
                <a:latin typeface="微软雅黑" pitchFamily="34" charset="-122"/>
                <a:ea typeface="微软雅黑" pitchFamily="34" charset="-122"/>
              </a:rPr>
              <a:t>.data</a:t>
            </a:r>
          </a:p>
          <a:p>
            <a:pPr>
              <a:lnSpc>
                <a:spcPct val="110000"/>
              </a:lnSpc>
            </a:pPr>
            <a:r>
              <a:rPr kumimoji="1" lang="en-US" altLang="zh-CN" sz="2000" b="1" dirty="0">
                <a:latin typeface="微软雅黑" pitchFamily="34" charset="-122"/>
                <a:ea typeface="微软雅黑" pitchFamily="34" charset="-122"/>
              </a:rPr>
              <a:t>    array byte 1,2,3,4,5,6,7</a:t>
            </a:r>
          </a:p>
          <a:p>
            <a:pPr>
              <a:lnSpc>
                <a:spcPct val="110000"/>
              </a:lnSpc>
            </a:pPr>
            <a:r>
              <a:rPr kumimoji="1" lang="en-US" altLang="zh-CN" sz="2000" b="1" dirty="0">
                <a:latin typeface="微软雅黑" pitchFamily="34" charset="-122"/>
                <a:ea typeface="微软雅黑" pitchFamily="34" charset="-122"/>
              </a:rPr>
              <a:t>    array_end equ $-1</a:t>
            </a:r>
          </a:p>
          <a:p>
            <a:pPr>
              <a:lnSpc>
                <a:spcPct val="110000"/>
              </a:lnSpc>
            </a:pPr>
            <a:r>
              <a:rPr kumimoji="1" lang="en-US" altLang="zh-CN" sz="2000" b="1" dirty="0">
                <a:latin typeface="微软雅黑" pitchFamily="34" charset="-122"/>
                <a:ea typeface="微软雅黑" pitchFamily="34" charset="-122"/>
              </a:rPr>
              <a:t>.code</a:t>
            </a:r>
          </a:p>
          <a:p>
            <a:pPr>
              <a:lnSpc>
                <a:spcPct val="110000"/>
              </a:lnSpc>
            </a:pPr>
            <a:r>
              <a:rPr kumimoji="1" lang="en-US" altLang="zh-CN" sz="2000" b="1" dirty="0">
                <a:latin typeface="微软雅黑" pitchFamily="34" charset="-122"/>
                <a:ea typeface="微软雅黑" pitchFamily="34" charset="-122"/>
              </a:rPr>
              <a:t>     start:		</a:t>
            </a:r>
          </a:p>
          <a:p>
            <a:pPr>
              <a:lnSpc>
                <a:spcPct val="110000"/>
              </a:lnSpc>
            </a:pPr>
            <a:r>
              <a:rPr kumimoji="1" lang="en-US" altLang="zh-CN" sz="2000" b="1" dirty="0">
                <a:latin typeface="微软雅黑" pitchFamily="34" charset="-122"/>
                <a:ea typeface="微软雅黑" pitchFamily="34" charset="-122"/>
              </a:rPr>
              <a:t>     mov </a:t>
            </a:r>
            <a:r>
              <a:rPr kumimoji="1" lang="en-US" altLang="zh-CN" sz="2000" b="1" dirty="0" err="1">
                <a:latin typeface="微软雅黑" pitchFamily="34" charset="-122"/>
                <a:ea typeface="微软雅黑" pitchFamily="34" charset="-122"/>
              </a:rPr>
              <a:t>esi</a:t>
            </a:r>
            <a:r>
              <a:rPr kumimoji="1" lang="en-US" altLang="zh-CN" sz="2000" b="1" dirty="0">
                <a:latin typeface="微软雅黑" pitchFamily="34" charset="-122"/>
                <a:ea typeface="微软雅黑" pitchFamily="34" charset="-122"/>
              </a:rPr>
              <a:t>, offset array</a:t>
            </a:r>
          </a:p>
          <a:p>
            <a:pPr>
              <a:lnSpc>
                <a:spcPct val="110000"/>
              </a:lnSpc>
            </a:pPr>
            <a:r>
              <a:rPr kumimoji="1" lang="en-US" altLang="zh-CN" sz="2000" b="1" dirty="0">
                <a:latin typeface="微软雅黑" pitchFamily="34" charset="-122"/>
                <a:ea typeface="微软雅黑" pitchFamily="34" charset="-122"/>
              </a:rPr>
              <a:t>     mov al, [</a:t>
            </a:r>
            <a:r>
              <a:rPr kumimoji="1" lang="en-US" altLang="zh-CN" sz="2000" b="1" dirty="0" err="1">
                <a:latin typeface="微软雅黑" pitchFamily="34" charset="-122"/>
                <a:ea typeface="微软雅黑" pitchFamily="34" charset="-122"/>
              </a:rPr>
              <a:t>esi</a:t>
            </a:r>
            <a:r>
              <a:rPr kumimoji="1" lang="en-US" altLang="zh-CN" sz="2000" b="1" dirty="0">
                <a:latin typeface="微软雅黑" pitchFamily="34" charset="-122"/>
                <a:ea typeface="微软雅黑" pitchFamily="34" charset="-122"/>
              </a:rPr>
              <a:t>]</a:t>
            </a:r>
          </a:p>
          <a:p>
            <a:pPr>
              <a:lnSpc>
                <a:spcPct val="110000"/>
              </a:lnSpc>
            </a:pPr>
            <a:r>
              <a:rPr kumimoji="1" lang="en-US" altLang="zh-CN" sz="2000" b="1" dirty="0">
                <a:latin typeface="微软雅黑" pitchFamily="34" charset="-122"/>
                <a:ea typeface="微软雅黑" pitchFamily="34" charset="-122"/>
              </a:rPr>
              <a:t>     mov al, [esi+4]</a:t>
            </a:r>
          </a:p>
          <a:p>
            <a:pPr>
              <a:lnSpc>
                <a:spcPct val="110000"/>
              </a:lnSpc>
            </a:pPr>
            <a:r>
              <a:rPr kumimoji="1" lang="en-US" altLang="zh-CN" sz="2000" b="1" dirty="0">
                <a:latin typeface="微软雅黑" pitchFamily="34" charset="-122"/>
                <a:ea typeface="微软雅黑" pitchFamily="34" charset="-122"/>
              </a:rPr>
              <a:t>     mov </a:t>
            </a:r>
            <a:r>
              <a:rPr kumimoji="1" lang="en-US" altLang="zh-CN" sz="2000" b="1" dirty="0" err="1">
                <a:latin typeface="微软雅黑" pitchFamily="34" charset="-122"/>
                <a:ea typeface="微软雅黑" pitchFamily="34" charset="-122"/>
              </a:rPr>
              <a:t>esi</a:t>
            </a:r>
            <a:r>
              <a:rPr kumimoji="1" lang="en-US" altLang="zh-CN" sz="2000" b="1" dirty="0">
                <a:latin typeface="微软雅黑" pitchFamily="34" charset="-122"/>
                <a:ea typeface="微软雅黑" pitchFamily="34" charset="-122"/>
              </a:rPr>
              <a:t>, array_end</a:t>
            </a:r>
          </a:p>
          <a:p>
            <a:pPr>
              <a:lnSpc>
                <a:spcPct val="110000"/>
              </a:lnSpc>
            </a:pPr>
            <a:r>
              <a:rPr kumimoji="1" lang="en-US" altLang="zh-CN" sz="2000" b="1" dirty="0">
                <a:latin typeface="微软雅黑" pitchFamily="34" charset="-122"/>
                <a:ea typeface="微软雅黑" pitchFamily="34" charset="-122"/>
              </a:rPr>
              <a:t>     mov al, [esi-4] </a:t>
            </a:r>
          </a:p>
          <a:p>
            <a:pPr>
              <a:lnSpc>
                <a:spcPct val="110000"/>
              </a:lnSpc>
            </a:pPr>
            <a:r>
              <a:rPr kumimoji="1" lang="en-US" altLang="zh-CN" sz="2000" b="1" dirty="0">
                <a:latin typeface="微软雅黑" pitchFamily="34" charset="-122"/>
                <a:ea typeface="微软雅黑" pitchFamily="34" charset="-122"/>
              </a:rPr>
              <a:t>     ret	;</a:t>
            </a:r>
            <a:r>
              <a:rPr kumimoji="1" lang="zh-CN" altLang="en-US" sz="2000" b="1" dirty="0">
                <a:latin typeface="微软雅黑" pitchFamily="34" charset="-122"/>
                <a:ea typeface="微软雅黑" pitchFamily="34" charset="-122"/>
              </a:rPr>
              <a:t>返回操作系统</a:t>
            </a:r>
          </a:p>
          <a:p>
            <a:pPr>
              <a:lnSpc>
                <a:spcPct val="110000"/>
              </a:lnSpc>
            </a:pPr>
            <a:r>
              <a:rPr kumimoji="1" lang="zh-CN" altLang="en-US" sz="2000" b="1" dirty="0">
                <a:latin typeface="微软雅黑" pitchFamily="34" charset="-122"/>
                <a:ea typeface="微软雅黑" pitchFamily="34" charset="-122"/>
              </a:rPr>
              <a:t>   </a:t>
            </a:r>
            <a:r>
              <a:rPr kumimoji="1" lang="en-US" altLang="zh-CN" sz="2000" b="1" dirty="0">
                <a:latin typeface="微软雅黑" pitchFamily="34" charset="-122"/>
                <a:ea typeface="微软雅黑" pitchFamily="34" charset="-122"/>
              </a:rPr>
              <a:t>end start	;</a:t>
            </a:r>
            <a:r>
              <a:rPr kumimoji="1" lang="zh-CN" altLang="en-US" sz="2000" b="1" dirty="0">
                <a:latin typeface="微软雅黑" pitchFamily="34" charset="-122"/>
                <a:ea typeface="微软雅黑" pitchFamily="34" charset="-122"/>
              </a:rPr>
              <a:t>汇编结束</a:t>
            </a:r>
            <a:r>
              <a:rPr kumimoji="1" lang="zh-CN" altLang="en-US" b="1" dirty="0">
                <a:latin typeface="微软雅黑" pitchFamily="34" charset="-122"/>
                <a:ea typeface="微软雅黑" pitchFamily="34" charset="-122"/>
              </a:rPr>
              <a:t>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灯片编号占位符 4"/>
          <p:cNvSpPr txBox="1">
            <a:spLocks noGrp="1"/>
          </p:cNvSpPr>
          <p:nvPr/>
        </p:nvSpPr>
        <p:spPr bwMode="auto">
          <a:xfrm>
            <a:off x="6553200" y="6248400"/>
            <a:ext cx="2133600" cy="457200"/>
          </a:xfrm>
          <a:prstGeom prst="rect">
            <a:avLst/>
          </a:prstGeom>
          <a:noFill/>
          <a:ln w="9525">
            <a:noFill/>
            <a:miter lim="800000"/>
            <a:headEnd/>
            <a:tailEnd/>
          </a:ln>
        </p:spPr>
        <p:txBody>
          <a:bodyPr anchor="b"/>
          <a:lstStyle/>
          <a:p>
            <a:pPr algn="r"/>
            <a:fld id="{2DBA5AA0-5999-4F9B-A086-538F5537C98A}" type="slidenum">
              <a:rPr lang="en-US" altLang="zh-CN" sz="1200">
                <a:latin typeface="微软雅黑" pitchFamily="34" charset="-122"/>
                <a:ea typeface="微软雅黑" pitchFamily="34" charset="-122"/>
              </a:rPr>
              <a:pPr algn="r"/>
              <a:t>17</a:t>
            </a:fld>
            <a:endParaRPr lang="en-US" altLang="zh-CN" sz="1200">
              <a:latin typeface="微软雅黑" pitchFamily="34" charset="-122"/>
              <a:ea typeface="微软雅黑" pitchFamily="34" charset="-122"/>
            </a:endParaRPr>
          </a:p>
        </p:txBody>
      </p:sp>
      <p:sp>
        <p:nvSpPr>
          <p:cNvPr id="282627" name="日期占位符 5"/>
          <p:cNvSpPr txBox="1">
            <a:spLocks noGrp="1"/>
          </p:cNvSpPr>
          <p:nvPr/>
        </p:nvSpPr>
        <p:spPr bwMode="auto">
          <a:xfrm>
            <a:off x="893763" y="6245225"/>
            <a:ext cx="1697037" cy="476250"/>
          </a:xfrm>
          <a:prstGeom prst="rect">
            <a:avLst/>
          </a:prstGeom>
          <a:noFill/>
          <a:ln w="9525">
            <a:noFill/>
            <a:miter lim="800000"/>
            <a:headEnd/>
            <a:tailEnd/>
          </a:ln>
        </p:spPr>
        <p:txBody>
          <a:bodyPr anchor="b"/>
          <a:lstStyle/>
          <a:p>
            <a:fld id="{0FA528C3-EDE3-4F32-B3FE-9F927C2956C9}" type="datetime1">
              <a:rPr lang="zh-CN" altLang="en-US" sz="1200">
                <a:latin typeface="微软雅黑" pitchFamily="34" charset="-122"/>
                <a:ea typeface="微软雅黑" pitchFamily="34" charset="-122"/>
              </a:rPr>
              <a:pPr/>
              <a:t>2019/2/25</a:t>
            </a:fld>
            <a:endParaRPr lang="en-US" altLang="zh-CN" sz="1200">
              <a:latin typeface="微软雅黑" pitchFamily="34" charset="-122"/>
              <a:ea typeface="微软雅黑" pitchFamily="34" charset="-122"/>
            </a:endParaRPr>
          </a:p>
        </p:txBody>
      </p:sp>
      <p:sp>
        <p:nvSpPr>
          <p:cNvPr id="282628" name="Rectangle 2"/>
          <p:cNvSpPr>
            <a:spLocks noGrp="1" noChangeArrowheads="1"/>
          </p:cNvSpPr>
          <p:nvPr>
            <p:ph type="title" idx="4294967295"/>
          </p:nvPr>
        </p:nvSpPr>
        <p:spPr>
          <a:xfrm>
            <a:off x="0" y="576263"/>
            <a:ext cx="8118475" cy="569912"/>
          </a:xfrm>
        </p:spPr>
        <p:txBody>
          <a:bodyPr anchor="ctr">
            <a:normAutofit fontScale="90000"/>
          </a:bodyPr>
          <a:lstStyle/>
          <a:p>
            <a:r>
              <a:rPr lang="zh-CN" altLang="en-US" sz="3500" dirty="0">
                <a:solidFill>
                  <a:srgbClr val="FF0000"/>
                </a:solidFill>
                <a:latin typeface="微软雅黑" pitchFamily="34" charset="-122"/>
                <a:ea typeface="微软雅黑" pitchFamily="34" charset="-122"/>
              </a:rPr>
              <a:t>例：</a:t>
            </a:r>
            <a:r>
              <a:rPr lang="en-US" altLang="zh-CN" sz="3500" dirty="0">
                <a:solidFill>
                  <a:srgbClr val="FF0000"/>
                </a:solidFill>
                <a:latin typeface="微软雅黑" pitchFamily="34" charset="-122"/>
                <a:ea typeface="微软雅黑" pitchFamily="34" charset="-122"/>
              </a:rPr>
              <a:t>mov </a:t>
            </a:r>
            <a:r>
              <a:rPr lang="en-US" altLang="zh-CN" sz="3500" dirty="0" err="1">
                <a:solidFill>
                  <a:srgbClr val="FF0000"/>
                </a:solidFill>
                <a:latin typeface="微软雅黑" pitchFamily="34" charset="-122"/>
                <a:ea typeface="微软雅黑" pitchFamily="34" charset="-122"/>
              </a:rPr>
              <a:t>esi</a:t>
            </a:r>
            <a:r>
              <a:rPr lang="en-US" altLang="zh-CN" sz="3500" dirty="0">
                <a:solidFill>
                  <a:srgbClr val="FF0000"/>
                </a:solidFill>
                <a:latin typeface="微软雅黑" pitchFamily="34" charset="-122"/>
                <a:ea typeface="微软雅黑" pitchFamily="34" charset="-122"/>
              </a:rPr>
              <a:t>, offset array</a:t>
            </a:r>
          </a:p>
        </p:txBody>
      </p:sp>
      <p:pic>
        <p:nvPicPr>
          <p:cNvPr id="282629" name="Picture 3" descr="2007-07-05_19-49-59"/>
          <p:cNvPicPr>
            <a:picLocks noChangeAspect="1" noChangeArrowheads="1"/>
          </p:cNvPicPr>
          <p:nvPr/>
        </p:nvPicPr>
        <p:blipFill>
          <a:blip r:embed="rId2" cstate="print"/>
          <a:srcRect/>
          <a:stretch>
            <a:fillRect/>
          </a:stretch>
        </p:blipFill>
        <p:spPr bwMode="auto">
          <a:xfrm>
            <a:off x="0" y="1295400"/>
            <a:ext cx="9144000" cy="5562600"/>
          </a:xfrm>
          <a:prstGeom prst="rect">
            <a:avLst/>
          </a:prstGeom>
          <a:noFill/>
          <a:ln w="9525">
            <a:noFill/>
            <a:miter lim="800000"/>
            <a:headEnd/>
            <a:tailEnd/>
          </a:ln>
        </p:spPr>
      </p:pic>
      <p:sp>
        <p:nvSpPr>
          <p:cNvPr id="282630" name="Rectangle 4"/>
          <p:cNvSpPr>
            <a:spLocks noChangeArrowheads="1"/>
          </p:cNvSpPr>
          <p:nvPr/>
        </p:nvSpPr>
        <p:spPr bwMode="auto">
          <a:xfrm>
            <a:off x="0" y="5791200"/>
            <a:ext cx="22860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282631" name="Rectangle 5"/>
          <p:cNvSpPr>
            <a:spLocks noChangeArrowheads="1"/>
          </p:cNvSpPr>
          <p:nvPr/>
        </p:nvSpPr>
        <p:spPr bwMode="auto">
          <a:xfrm>
            <a:off x="2438400" y="2209800"/>
            <a:ext cx="22860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098758" name="Line 6"/>
          <p:cNvSpPr>
            <a:spLocks noChangeShapeType="1"/>
          </p:cNvSpPr>
          <p:nvPr/>
        </p:nvSpPr>
        <p:spPr bwMode="auto">
          <a:xfrm flipH="1">
            <a:off x="1981200" y="2743200"/>
            <a:ext cx="2438400" cy="3048000"/>
          </a:xfrm>
          <a:prstGeom prst="line">
            <a:avLst/>
          </a:prstGeom>
          <a:noFill/>
          <a:ln w="57150">
            <a:solidFill>
              <a:srgbClr val="005A42"/>
            </a:solidFill>
            <a:round/>
            <a:headEnd type="triangle" w="med" len="med"/>
            <a:tailEnd type="triangle" w="med" len="med"/>
          </a:ln>
        </p:spPr>
        <p:txBody>
          <a:bodyPr wrap="none"/>
          <a:lstStyle/>
          <a:p>
            <a:endParaRPr lang="zh-CN" altLang="en-US"/>
          </a:p>
        </p:txBody>
      </p:sp>
      <p:sp>
        <p:nvSpPr>
          <p:cNvPr id="1098759" name="Line 7"/>
          <p:cNvSpPr>
            <a:spLocks noChangeShapeType="1"/>
          </p:cNvSpPr>
          <p:nvPr/>
        </p:nvSpPr>
        <p:spPr bwMode="auto">
          <a:xfrm flipV="1">
            <a:off x="2209800" y="3733800"/>
            <a:ext cx="3657600" cy="2057400"/>
          </a:xfrm>
          <a:prstGeom prst="line">
            <a:avLst/>
          </a:prstGeom>
          <a:noFill/>
          <a:ln w="57150">
            <a:solidFill>
              <a:srgbClr val="005A42"/>
            </a:solidFill>
            <a:round/>
            <a:headEnd/>
            <a:tailEnd type="triangle" w="med" len="med"/>
          </a:ln>
        </p:spPr>
        <p:txBody>
          <a:bodyPr wrap="none"/>
          <a:lstStyle/>
          <a:p>
            <a:endParaRPr lang="zh-CN" altLang="en-US"/>
          </a:p>
        </p:txBody>
      </p:sp>
      <p:sp>
        <p:nvSpPr>
          <p:cNvPr id="1098760" name="Rectangle 8"/>
          <p:cNvSpPr>
            <a:spLocks noChangeArrowheads="1"/>
          </p:cNvSpPr>
          <p:nvPr/>
        </p:nvSpPr>
        <p:spPr bwMode="auto">
          <a:xfrm>
            <a:off x="5943600" y="3429000"/>
            <a:ext cx="26670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098761" name="AutoShape 9"/>
          <p:cNvSpPr>
            <a:spLocks noChangeArrowheads="1"/>
          </p:cNvSpPr>
          <p:nvPr/>
        </p:nvSpPr>
        <p:spPr bwMode="auto">
          <a:xfrm>
            <a:off x="4343400" y="914400"/>
            <a:ext cx="2133600" cy="1066800"/>
          </a:xfrm>
          <a:prstGeom prst="wedgeEllipseCallout">
            <a:avLst>
              <a:gd name="adj1" fmla="val -40255"/>
              <a:gd name="adj2" fmla="val 75444"/>
            </a:avLst>
          </a:prstGeom>
          <a:solidFill>
            <a:srgbClr val="ECD8C4"/>
          </a:solidFill>
          <a:ln w="38100">
            <a:solidFill>
              <a:srgbClr val="005A42"/>
            </a:solidFill>
            <a:miter lim="800000"/>
            <a:headEnd/>
            <a:tailEnd/>
          </a:ln>
        </p:spPr>
        <p:txBody>
          <a:bodyPr/>
          <a:lstStyle/>
          <a:p>
            <a:pPr algn="ctr"/>
            <a:r>
              <a:rPr kumimoji="1" lang="zh-CN" altLang="en-US" sz="2800" b="1">
                <a:solidFill>
                  <a:srgbClr val="000099"/>
                </a:solidFill>
                <a:latin typeface="微软雅黑" pitchFamily="34" charset="-122"/>
                <a:ea typeface="微软雅黑" pitchFamily="34" charset="-122"/>
              </a:rPr>
              <a:t>直接</a:t>
            </a:r>
          </a:p>
          <a:p>
            <a:pPr algn="ctr"/>
            <a:r>
              <a:rPr kumimoji="1" lang="zh-CN" altLang="en-US" sz="2800" b="1">
                <a:solidFill>
                  <a:srgbClr val="000099"/>
                </a:solidFill>
                <a:latin typeface="微软雅黑" pitchFamily="34" charset="-122"/>
                <a:ea typeface="微软雅黑" pitchFamily="34" charset="-122"/>
              </a:rPr>
              <a:t>寻址</a:t>
            </a:r>
          </a:p>
        </p:txBody>
      </p:sp>
      <p:sp>
        <p:nvSpPr>
          <p:cNvPr id="1098762" name="AutoShape 10"/>
          <p:cNvSpPr>
            <a:spLocks noChangeArrowheads="1"/>
          </p:cNvSpPr>
          <p:nvPr/>
        </p:nvSpPr>
        <p:spPr bwMode="auto">
          <a:xfrm>
            <a:off x="762000" y="4038600"/>
            <a:ext cx="2133600" cy="1066800"/>
          </a:xfrm>
          <a:prstGeom prst="wedgeEllipseCallout">
            <a:avLst>
              <a:gd name="adj1" fmla="val -35343"/>
              <a:gd name="adj2" fmla="val 112204"/>
            </a:avLst>
          </a:prstGeom>
          <a:solidFill>
            <a:srgbClr val="ECD8C4"/>
          </a:solidFill>
          <a:ln w="38100">
            <a:solidFill>
              <a:srgbClr val="005A42"/>
            </a:solidFill>
            <a:miter lim="800000"/>
            <a:headEnd/>
            <a:tailEnd/>
          </a:ln>
        </p:spPr>
        <p:txBody>
          <a:bodyPr/>
          <a:lstStyle/>
          <a:p>
            <a:pPr algn="ctr"/>
            <a:r>
              <a:rPr kumimoji="1" lang="en-US" altLang="zh-CN" sz="2800" b="1">
                <a:solidFill>
                  <a:srgbClr val="000099"/>
                </a:solidFill>
                <a:latin typeface="微软雅黑" pitchFamily="34" charset="-122"/>
                <a:ea typeface="微软雅黑" pitchFamily="34" charset="-122"/>
              </a:rPr>
              <a:t>array</a:t>
            </a:r>
            <a:r>
              <a:rPr kumimoji="1" lang="zh-CN" altLang="en-US" sz="2800" b="1">
                <a:solidFill>
                  <a:srgbClr val="000099"/>
                </a:solidFill>
                <a:latin typeface="微软雅黑" pitchFamily="34" charset="-122"/>
                <a:ea typeface="微软雅黑" pitchFamily="34" charset="-122"/>
              </a:rPr>
              <a:t>的地址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987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098762"/>
                                        </p:tgtEl>
                                        <p:attrNameLst>
                                          <p:attrName>style.visibility</p:attrName>
                                        </p:attrNameLst>
                                      </p:cBhvr>
                                      <p:to>
                                        <p:strVal val="visible"/>
                                      </p:to>
                                    </p:set>
                                    <p:animEffect transition="in" filter="blinds(horizontal)">
                                      <p:cBhvr>
                                        <p:cTn id="11" dur="500"/>
                                        <p:tgtEl>
                                          <p:spTgt spid="1098762"/>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42" fill="hold" grpId="0" nodeType="clickEffect">
                                  <p:stCondLst>
                                    <p:cond delay="0"/>
                                  </p:stCondLst>
                                  <p:childTnLst>
                                    <p:set>
                                      <p:cBhvr>
                                        <p:cTn id="15" dur="1" fill="hold">
                                          <p:stCondLst>
                                            <p:cond delay="0"/>
                                          </p:stCondLst>
                                        </p:cTn>
                                        <p:tgtEl>
                                          <p:spTgt spid="1098758"/>
                                        </p:tgtEl>
                                        <p:attrNameLst>
                                          <p:attrName>style.visibility</p:attrName>
                                        </p:attrNameLst>
                                      </p:cBhvr>
                                      <p:to>
                                        <p:strVal val="visible"/>
                                      </p:to>
                                    </p:set>
                                    <p:animEffect transition="in" filter="barn(outHorizontal)">
                                      <p:cBhvr>
                                        <p:cTn id="16" dur="500"/>
                                        <p:tgtEl>
                                          <p:spTgt spid="109875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098759"/>
                                        </p:tgtEl>
                                        <p:attrNameLst>
                                          <p:attrName>style.visibility</p:attrName>
                                        </p:attrNameLst>
                                      </p:cBhvr>
                                      <p:to>
                                        <p:strVal val="visible"/>
                                      </p:to>
                                    </p:set>
                                    <p:animEffect transition="in" filter="wipe(left)">
                                      <p:cBhvr>
                                        <p:cTn id="21" dur="500"/>
                                        <p:tgtEl>
                                          <p:spTgt spid="1098759"/>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098760"/>
                                        </p:tgtEl>
                                        <p:attrNameLst>
                                          <p:attrName>style.visibility</p:attrName>
                                        </p:attrNameLst>
                                      </p:cBhvr>
                                      <p:to>
                                        <p:strVal val="visible"/>
                                      </p:to>
                                    </p:set>
                                    <p:animEffect transition="in" filter="wipe(left)">
                                      <p:cBhvr>
                                        <p:cTn id="25" dur="500"/>
                                        <p:tgtEl>
                                          <p:spTgt spid="10987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8758" grpId="0" animBg="1"/>
      <p:bldP spid="1098759" grpId="0" animBg="1"/>
      <p:bldP spid="1098760" grpId="0" animBg="1"/>
      <p:bldP spid="1098761" grpId="0" animBg="1" autoUpdateAnimBg="0"/>
      <p:bldP spid="1098762"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灯片编号占位符 4"/>
          <p:cNvSpPr txBox="1">
            <a:spLocks noGrp="1"/>
          </p:cNvSpPr>
          <p:nvPr/>
        </p:nvSpPr>
        <p:spPr bwMode="auto">
          <a:xfrm>
            <a:off x="6553200" y="6248400"/>
            <a:ext cx="2133600" cy="457200"/>
          </a:xfrm>
          <a:prstGeom prst="rect">
            <a:avLst/>
          </a:prstGeom>
          <a:noFill/>
          <a:ln w="9525">
            <a:noFill/>
            <a:miter lim="800000"/>
            <a:headEnd/>
            <a:tailEnd/>
          </a:ln>
        </p:spPr>
        <p:txBody>
          <a:bodyPr anchor="b"/>
          <a:lstStyle/>
          <a:p>
            <a:pPr algn="r"/>
            <a:fld id="{50688B9E-4EBC-4F66-8539-7BC62C9D3460}" type="slidenum">
              <a:rPr lang="en-US" altLang="zh-CN" sz="1200">
                <a:latin typeface="微软雅黑" pitchFamily="34" charset="-122"/>
                <a:ea typeface="微软雅黑" pitchFamily="34" charset="-122"/>
              </a:rPr>
              <a:pPr algn="r"/>
              <a:t>18</a:t>
            </a:fld>
            <a:endParaRPr lang="en-US" altLang="zh-CN" sz="1200">
              <a:latin typeface="微软雅黑" pitchFamily="34" charset="-122"/>
              <a:ea typeface="微软雅黑" pitchFamily="34" charset="-122"/>
            </a:endParaRPr>
          </a:p>
        </p:txBody>
      </p:sp>
      <p:sp>
        <p:nvSpPr>
          <p:cNvPr id="283651" name="日期占位符 5"/>
          <p:cNvSpPr txBox="1">
            <a:spLocks noGrp="1"/>
          </p:cNvSpPr>
          <p:nvPr/>
        </p:nvSpPr>
        <p:spPr bwMode="auto">
          <a:xfrm>
            <a:off x="893763" y="6245225"/>
            <a:ext cx="1697037" cy="476250"/>
          </a:xfrm>
          <a:prstGeom prst="rect">
            <a:avLst/>
          </a:prstGeom>
          <a:noFill/>
          <a:ln w="9525">
            <a:noFill/>
            <a:miter lim="800000"/>
            <a:headEnd/>
            <a:tailEnd/>
          </a:ln>
        </p:spPr>
        <p:txBody>
          <a:bodyPr anchor="b"/>
          <a:lstStyle/>
          <a:p>
            <a:fld id="{D3B17620-75F5-4BF3-AC6A-CA6EDB75365B}" type="datetime1">
              <a:rPr lang="zh-CN" altLang="en-US" sz="1200">
                <a:latin typeface="微软雅黑" pitchFamily="34" charset="-122"/>
                <a:ea typeface="微软雅黑" pitchFamily="34" charset="-122"/>
              </a:rPr>
              <a:pPr/>
              <a:t>2019/2/25</a:t>
            </a:fld>
            <a:endParaRPr lang="en-US" altLang="zh-CN" sz="1200">
              <a:latin typeface="微软雅黑" pitchFamily="34" charset="-122"/>
              <a:ea typeface="微软雅黑" pitchFamily="34" charset="-122"/>
            </a:endParaRPr>
          </a:p>
        </p:txBody>
      </p:sp>
      <p:pic>
        <p:nvPicPr>
          <p:cNvPr id="283652" name="Picture 2" descr="2007-07-05_19-50-58"/>
          <p:cNvPicPr>
            <a:picLocks noChangeAspect="1" noChangeArrowheads="1"/>
          </p:cNvPicPr>
          <p:nvPr/>
        </p:nvPicPr>
        <p:blipFill>
          <a:blip r:embed="rId2" cstate="print"/>
          <a:srcRect/>
          <a:stretch>
            <a:fillRect/>
          </a:stretch>
        </p:blipFill>
        <p:spPr bwMode="auto">
          <a:xfrm>
            <a:off x="0" y="1295400"/>
            <a:ext cx="9144000" cy="5562600"/>
          </a:xfrm>
          <a:prstGeom prst="rect">
            <a:avLst/>
          </a:prstGeom>
          <a:noFill/>
          <a:ln w="9525">
            <a:noFill/>
            <a:miter lim="800000"/>
            <a:headEnd/>
            <a:tailEnd/>
          </a:ln>
        </p:spPr>
      </p:pic>
      <p:sp>
        <p:nvSpPr>
          <p:cNvPr id="283653" name="Rectangle 3"/>
          <p:cNvSpPr>
            <a:spLocks noGrp="1" noChangeArrowheads="1"/>
          </p:cNvSpPr>
          <p:nvPr>
            <p:ph type="title" idx="4294967295"/>
          </p:nvPr>
        </p:nvSpPr>
        <p:spPr>
          <a:xfrm>
            <a:off x="0" y="642938"/>
            <a:ext cx="6040438" cy="652462"/>
          </a:xfrm>
        </p:spPr>
        <p:txBody>
          <a:bodyPr anchor="ctr"/>
          <a:lstStyle/>
          <a:p>
            <a:r>
              <a:rPr lang="zh-CN" altLang="en-US" sz="3500" dirty="0">
                <a:solidFill>
                  <a:srgbClr val="FF0000"/>
                </a:solidFill>
                <a:latin typeface="微软雅黑" pitchFamily="34" charset="-122"/>
                <a:ea typeface="微软雅黑" pitchFamily="34" charset="-122"/>
              </a:rPr>
              <a:t>例：</a:t>
            </a:r>
            <a:r>
              <a:rPr lang="en-US" altLang="zh-CN" sz="3500" dirty="0">
                <a:solidFill>
                  <a:srgbClr val="FF0000"/>
                </a:solidFill>
                <a:latin typeface="微软雅黑" pitchFamily="34" charset="-122"/>
                <a:ea typeface="微软雅黑" pitchFamily="34" charset="-122"/>
              </a:rPr>
              <a:t>mov al, [</a:t>
            </a:r>
            <a:r>
              <a:rPr lang="en-US" altLang="zh-CN" sz="3500" dirty="0" err="1">
                <a:solidFill>
                  <a:srgbClr val="FF0000"/>
                </a:solidFill>
                <a:latin typeface="微软雅黑" pitchFamily="34" charset="-122"/>
                <a:ea typeface="微软雅黑" pitchFamily="34" charset="-122"/>
              </a:rPr>
              <a:t>esi</a:t>
            </a:r>
            <a:r>
              <a:rPr lang="en-US" altLang="zh-CN" sz="3500" dirty="0">
                <a:solidFill>
                  <a:srgbClr val="FF0000"/>
                </a:solidFill>
                <a:latin typeface="微软雅黑" pitchFamily="34" charset="-122"/>
                <a:ea typeface="微软雅黑" pitchFamily="34" charset="-122"/>
              </a:rPr>
              <a:t>]</a:t>
            </a:r>
          </a:p>
        </p:txBody>
      </p:sp>
      <p:sp>
        <p:nvSpPr>
          <p:cNvPr id="283654" name="Rectangle 4"/>
          <p:cNvSpPr>
            <a:spLocks noChangeArrowheads="1"/>
          </p:cNvSpPr>
          <p:nvPr/>
        </p:nvSpPr>
        <p:spPr bwMode="auto">
          <a:xfrm>
            <a:off x="0" y="5791200"/>
            <a:ext cx="22098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283655" name="Rectangle 5"/>
          <p:cNvSpPr>
            <a:spLocks noChangeArrowheads="1"/>
          </p:cNvSpPr>
          <p:nvPr/>
        </p:nvSpPr>
        <p:spPr bwMode="auto">
          <a:xfrm>
            <a:off x="1981200" y="2743200"/>
            <a:ext cx="9906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099782" name="Line 6"/>
          <p:cNvSpPr>
            <a:spLocks noChangeShapeType="1"/>
          </p:cNvSpPr>
          <p:nvPr/>
        </p:nvSpPr>
        <p:spPr bwMode="auto">
          <a:xfrm flipV="1">
            <a:off x="2743200" y="2133600"/>
            <a:ext cx="5410200" cy="3810000"/>
          </a:xfrm>
          <a:prstGeom prst="line">
            <a:avLst/>
          </a:prstGeom>
          <a:noFill/>
          <a:ln w="57150">
            <a:solidFill>
              <a:srgbClr val="005A42"/>
            </a:solidFill>
            <a:round/>
            <a:headEnd/>
            <a:tailEnd type="triangle" w="med" len="med"/>
          </a:ln>
        </p:spPr>
        <p:txBody>
          <a:bodyPr wrap="none"/>
          <a:lstStyle/>
          <a:p>
            <a:endParaRPr lang="zh-CN" altLang="en-US"/>
          </a:p>
        </p:txBody>
      </p:sp>
      <p:sp>
        <p:nvSpPr>
          <p:cNvPr id="1099783" name="Rectangle 7"/>
          <p:cNvSpPr>
            <a:spLocks noChangeArrowheads="1"/>
          </p:cNvSpPr>
          <p:nvPr/>
        </p:nvSpPr>
        <p:spPr bwMode="auto">
          <a:xfrm>
            <a:off x="8001000" y="1676400"/>
            <a:ext cx="533400" cy="533400"/>
          </a:xfrm>
          <a:prstGeom prst="rect">
            <a:avLst/>
          </a:prstGeom>
          <a:noFill/>
          <a:ln w="28575">
            <a:solidFill>
              <a:srgbClr val="005A42"/>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099784" name="AutoShape 8"/>
          <p:cNvSpPr>
            <a:spLocks noChangeArrowheads="1"/>
          </p:cNvSpPr>
          <p:nvPr/>
        </p:nvSpPr>
        <p:spPr bwMode="auto">
          <a:xfrm>
            <a:off x="2514600" y="1447800"/>
            <a:ext cx="2819400" cy="1066800"/>
          </a:xfrm>
          <a:prstGeom prst="wedgeEllipseCallout">
            <a:avLst>
              <a:gd name="adj1" fmla="val -42625"/>
              <a:gd name="adj2" fmla="val 75444"/>
            </a:avLst>
          </a:prstGeom>
          <a:solidFill>
            <a:srgbClr val="ECD8C4"/>
          </a:solidFill>
          <a:ln w="38100">
            <a:solidFill>
              <a:srgbClr val="005A42"/>
            </a:solidFill>
            <a:miter lim="800000"/>
            <a:headEnd/>
            <a:tailEnd/>
          </a:ln>
        </p:spPr>
        <p:txBody>
          <a:bodyPr/>
          <a:lstStyle/>
          <a:p>
            <a:pPr algn="ctr"/>
            <a:r>
              <a:rPr kumimoji="1" lang="zh-CN" altLang="en-US" sz="2800" b="1">
                <a:solidFill>
                  <a:srgbClr val="000099"/>
                </a:solidFill>
                <a:latin typeface="微软雅黑" pitchFamily="34" charset="-122"/>
                <a:ea typeface="微软雅黑" pitchFamily="34" charset="-122"/>
              </a:rPr>
              <a:t>寄存器间接寻址</a:t>
            </a:r>
          </a:p>
        </p:txBody>
      </p:sp>
      <p:sp>
        <p:nvSpPr>
          <p:cNvPr id="1099785" name="AutoShape 9"/>
          <p:cNvSpPr>
            <a:spLocks noChangeArrowheads="1"/>
          </p:cNvSpPr>
          <p:nvPr/>
        </p:nvSpPr>
        <p:spPr bwMode="auto">
          <a:xfrm>
            <a:off x="304800" y="4267200"/>
            <a:ext cx="3962400" cy="838200"/>
          </a:xfrm>
          <a:prstGeom prst="wedgeEllipseCallout">
            <a:avLst>
              <a:gd name="adj1" fmla="val -22875"/>
              <a:gd name="adj2" fmla="val 129167"/>
            </a:avLst>
          </a:prstGeom>
          <a:solidFill>
            <a:srgbClr val="ECD8C4"/>
          </a:solidFill>
          <a:ln w="38100">
            <a:solidFill>
              <a:srgbClr val="005A42"/>
            </a:solidFill>
            <a:miter lim="800000"/>
            <a:headEnd/>
            <a:tailEnd/>
          </a:ln>
        </p:spPr>
        <p:txBody>
          <a:bodyPr/>
          <a:lstStyle/>
          <a:p>
            <a:pPr algn="ctr"/>
            <a:r>
              <a:rPr kumimoji="1" lang="en-US" altLang="zh-CN" sz="2800" b="1">
                <a:solidFill>
                  <a:srgbClr val="000099"/>
                </a:solidFill>
                <a:latin typeface="微软雅黑" pitchFamily="34" charset="-122"/>
                <a:ea typeface="微软雅黑" pitchFamily="34" charset="-122"/>
              </a:rPr>
              <a:t>esi=00404000</a:t>
            </a:r>
          </a:p>
        </p:txBody>
      </p:sp>
      <p:sp>
        <p:nvSpPr>
          <p:cNvPr id="1099786" name="Rectangle 10"/>
          <p:cNvSpPr>
            <a:spLocks noChangeArrowheads="1"/>
          </p:cNvSpPr>
          <p:nvPr/>
        </p:nvSpPr>
        <p:spPr bwMode="auto">
          <a:xfrm>
            <a:off x="2209800" y="5791200"/>
            <a:ext cx="609600" cy="533400"/>
          </a:xfrm>
          <a:prstGeom prst="rect">
            <a:avLst/>
          </a:prstGeom>
          <a:noFill/>
          <a:ln w="28575">
            <a:solidFill>
              <a:srgbClr val="000066"/>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099787" name="AutoShape 11"/>
          <p:cNvSpPr>
            <a:spLocks noChangeArrowheads="1"/>
          </p:cNvSpPr>
          <p:nvPr/>
        </p:nvSpPr>
        <p:spPr bwMode="auto">
          <a:xfrm>
            <a:off x="3276600" y="4800600"/>
            <a:ext cx="4648200" cy="1143000"/>
          </a:xfrm>
          <a:prstGeom prst="wedgeEllipseCallout">
            <a:avLst>
              <a:gd name="adj1" fmla="val -59940"/>
              <a:gd name="adj2" fmla="val 62222"/>
            </a:avLst>
          </a:prstGeom>
          <a:solidFill>
            <a:srgbClr val="ECD8C4"/>
          </a:solidFill>
          <a:ln w="38100">
            <a:solidFill>
              <a:srgbClr val="005A42"/>
            </a:solidFill>
            <a:miter lim="800000"/>
            <a:headEnd/>
            <a:tailEnd/>
          </a:ln>
        </p:spPr>
        <p:txBody>
          <a:bodyPr/>
          <a:lstStyle/>
          <a:p>
            <a:pPr algn="ctr"/>
            <a:r>
              <a:rPr kumimoji="1" lang="zh-CN" altLang="en-US" sz="2800" b="1">
                <a:solidFill>
                  <a:srgbClr val="000099"/>
                </a:solidFill>
                <a:latin typeface="微软雅黑" pitchFamily="34" charset="-122"/>
                <a:ea typeface="微软雅黑" pitchFamily="34" charset="-122"/>
              </a:rPr>
              <a:t>地址</a:t>
            </a:r>
            <a:r>
              <a:rPr kumimoji="1" lang="en-US" altLang="zh-CN" sz="2800" b="1">
                <a:solidFill>
                  <a:srgbClr val="000099"/>
                </a:solidFill>
                <a:latin typeface="微软雅黑" pitchFamily="34" charset="-122"/>
                <a:ea typeface="微软雅黑" pitchFamily="34" charset="-122"/>
              </a:rPr>
              <a:t>00404000</a:t>
            </a:r>
            <a:r>
              <a:rPr kumimoji="1" lang="zh-CN" altLang="en-US" sz="2800" b="1">
                <a:solidFill>
                  <a:srgbClr val="000099"/>
                </a:solidFill>
                <a:latin typeface="微软雅黑" pitchFamily="34" charset="-122"/>
                <a:ea typeface="微软雅黑" pitchFamily="34" charset="-122"/>
              </a:rPr>
              <a:t>的内容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997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099785"/>
                                        </p:tgtEl>
                                        <p:attrNameLst>
                                          <p:attrName>style.visibility</p:attrName>
                                        </p:attrNameLst>
                                      </p:cBhvr>
                                      <p:to>
                                        <p:strVal val="visible"/>
                                      </p:to>
                                    </p:set>
                                    <p:animEffect transition="in" filter="blinds(horizontal)">
                                      <p:cBhvr>
                                        <p:cTn id="11" dur="500"/>
                                        <p:tgtEl>
                                          <p:spTgt spid="109978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099786"/>
                                        </p:tgtEl>
                                        <p:attrNameLst>
                                          <p:attrName>style.visibility</p:attrName>
                                        </p:attrNameLst>
                                      </p:cBhvr>
                                      <p:to>
                                        <p:strVal val="visible"/>
                                      </p:to>
                                    </p:set>
                                    <p:animEffect transition="in" filter="wipe(up)">
                                      <p:cBhvr>
                                        <p:cTn id="16" dur="500"/>
                                        <p:tgtEl>
                                          <p:spTgt spid="1099786"/>
                                        </p:tgtEl>
                                      </p:cBhvr>
                                    </p:animEffect>
                                  </p:childTnLst>
                                </p:cTn>
                              </p:par>
                            </p:childTnLst>
                          </p:cTn>
                        </p:par>
                        <p:par>
                          <p:cTn id="17" fill="hold">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1099787"/>
                                        </p:tgtEl>
                                        <p:attrNameLst>
                                          <p:attrName>style.visibility</p:attrName>
                                        </p:attrNameLst>
                                      </p:cBhvr>
                                      <p:to>
                                        <p:strVal val="visible"/>
                                      </p:to>
                                    </p:set>
                                    <p:animEffect transition="in" filter="blinds(horizontal)">
                                      <p:cBhvr>
                                        <p:cTn id="20" dur="500"/>
                                        <p:tgtEl>
                                          <p:spTgt spid="109978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99782"/>
                                        </p:tgtEl>
                                        <p:attrNameLst>
                                          <p:attrName>style.visibility</p:attrName>
                                        </p:attrNameLst>
                                      </p:cBhvr>
                                      <p:to>
                                        <p:strVal val="visible"/>
                                      </p:to>
                                    </p:set>
                                    <p:animEffect transition="in" filter="wipe(left)">
                                      <p:cBhvr>
                                        <p:cTn id="25" dur="500"/>
                                        <p:tgtEl>
                                          <p:spTgt spid="1099782"/>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1099783"/>
                                        </p:tgtEl>
                                        <p:attrNameLst>
                                          <p:attrName>style.visibility</p:attrName>
                                        </p:attrNameLst>
                                      </p:cBhvr>
                                      <p:to>
                                        <p:strVal val="visible"/>
                                      </p:to>
                                    </p:set>
                                    <p:animEffect transition="in" filter="wipe(left)">
                                      <p:cBhvr>
                                        <p:cTn id="29" dur="500"/>
                                        <p:tgtEl>
                                          <p:spTgt spid="10997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9782" grpId="0" animBg="1"/>
      <p:bldP spid="1099783" grpId="0" animBg="1"/>
      <p:bldP spid="1099784" grpId="0" animBg="1" autoUpdateAnimBg="0"/>
      <p:bldP spid="1099785" grpId="0" animBg="1" autoUpdateAnimBg="0"/>
      <p:bldP spid="1099786" grpId="0" animBg="1"/>
      <p:bldP spid="1099787"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灯片编号占位符 4"/>
          <p:cNvSpPr txBox="1">
            <a:spLocks noGrp="1"/>
          </p:cNvSpPr>
          <p:nvPr/>
        </p:nvSpPr>
        <p:spPr bwMode="auto">
          <a:xfrm>
            <a:off x="6553200" y="6248400"/>
            <a:ext cx="2133600" cy="457200"/>
          </a:xfrm>
          <a:prstGeom prst="rect">
            <a:avLst/>
          </a:prstGeom>
          <a:noFill/>
          <a:ln w="9525">
            <a:noFill/>
            <a:miter lim="800000"/>
            <a:headEnd/>
            <a:tailEnd/>
          </a:ln>
        </p:spPr>
        <p:txBody>
          <a:bodyPr anchor="b"/>
          <a:lstStyle/>
          <a:p>
            <a:pPr algn="r"/>
            <a:fld id="{D52FE955-F542-4C19-BA8B-8DB635476D35}" type="slidenum">
              <a:rPr lang="en-US" altLang="zh-CN" sz="1200">
                <a:latin typeface="微软雅黑" pitchFamily="34" charset="-122"/>
                <a:ea typeface="微软雅黑" pitchFamily="34" charset="-122"/>
              </a:rPr>
              <a:pPr algn="r"/>
              <a:t>19</a:t>
            </a:fld>
            <a:endParaRPr lang="en-US" altLang="zh-CN" sz="1200">
              <a:latin typeface="微软雅黑" pitchFamily="34" charset="-122"/>
              <a:ea typeface="微软雅黑" pitchFamily="34" charset="-122"/>
            </a:endParaRPr>
          </a:p>
        </p:txBody>
      </p:sp>
      <p:sp>
        <p:nvSpPr>
          <p:cNvPr id="284675" name="日期占位符 5"/>
          <p:cNvSpPr txBox="1">
            <a:spLocks noGrp="1"/>
          </p:cNvSpPr>
          <p:nvPr/>
        </p:nvSpPr>
        <p:spPr bwMode="auto">
          <a:xfrm>
            <a:off x="893763" y="6245225"/>
            <a:ext cx="1697037" cy="476250"/>
          </a:xfrm>
          <a:prstGeom prst="rect">
            <a:avLst/>
          </a:prstGeom>
          <a:noFill/>
          <a:ln w="9525">
            <a:noFill/>
            <a:miter lim="800000"/>
            <a:headEnd/>
            <a:tailEnd/>
          </a:ln>
        </p:spPr>
        <p:txBody>
          <a:bodyPr anchor="b"/>
          <a:lstStyle/>
          <a:p>
            <a:fld id="{4E12CA87-C6E1-4702-895E-1CF31A151D3D}" type="datetime1">
              <a:rPr lang="zh-CN" altLang="en-US" sz="1200">
                <a:latin typeface="微软雅黑" pitchFamily="34" charset="-122"/>
                <a:ea typeface="微软雅黑" pitchFamily="34" charset="-122"/>
              </a:rPr>
              <a:pPr/>
              <a:t>2019/2/25</a:t>
            </a:fld>
            <a:endParaRPr lang="en-US" altLang="zh-CN" sz="1200">
              <a:latin typeface="微软雅黑" pitchFamily="34" charset="-122"/>
              <a:ea typeface="微软雅黑" pitchFamily="34" charset="-122"/>
            </a:endParaRPr>
          </a:p>
        </p:txBody>
      </p:sp>
      <p:pic>
        <p:nvPicPr>
          <p:cNvPr id="284676" name="Picture 2" descr="2007-07-05_19-51-34"/>
          <p:cNvPicPr>
            <a:picLocks noChangeAspect="1" noChangeArrowheads="1"/>
          </p:cNvPicPr>
          <p:nvPr/>
        </p:nvPicPr>
        <p:blipFill>
          <a:blip r:embed="rId2" cstate="print"/>
          <a:srcRect/>
          <a:stretch>
            <a:fillRect/>
          </a:stretch>
        </p:blipFill>
        <p:spPr bwMode="auto">
          <a:xfrm>
            <a:off x="0" y="1295400"/>
            <a:ext cx="9144000" cy="5562600"/>
          </a:xfrm>
          <a:prstGeom prst="rect">
            <a:avLst/>
          </a:prstGeom>
          <a:noFill/>
          <a:ln w="9525">
            <a:noFill/>
            <a:miter lim="800000"/>
            <a:headEnd/>
            <a:tailEnd/>
          </a:ln>
        </p:spPr>
      </p:pic>
      <p:sp>
        <p:nvSpPr>
          <p:cNvPr id="284677" name="Rectangle 3"/>
          <p:cNvSpPr>
            <a:spLocks noGrp="1" noChangeArrowheads="1"/>
          </p:cNvSpPr>
          <p:nvPr>
            <p:ph type="title" idx="4294967295"/>
          </p:nvPr>
        </p:nvSpPr>
        <p:spPr>
          <a:xfrm>
            <a:off x="0" y="674688"/>
            <a:ext cx="7848600" cy="620712"/>
          </a:xfrm>
        </p:spPr>
        <p:txBody>
          <a:bodyPr anchor="ctr">
            <a:normAutofit fontScale="90000"/>
          </a:bodyPr>
          <a:lstStyle/>
          <a:p>
            <a:r>
              <a:rPr lang="zh-CN" altLang="en-US" sz="3500" dirty="0">
                <a:solidFill>
                  <a:srgbClr val="FF0000"/>
                </a:solidFill>
                <a:latin typeface="微软雅黑" pitchFamily="34" charset="-122"/>
                <a:ea typeface="微软雅黑" pitchFamily="34" charset="-122"/>
              </a:rPr>
              <a:t>例：</a:t>
            </a:r>
            <a:r>
              <a:rPr lang="en-US" altLang="zh-CN" sz="3500" dirty="0">
                <a:solidFill>
                  <a:srgbClr val="FF0000"/>
                </a:solidFill>
                <a:latin typeface="微软雅黑" pitchFamily="34" charset="-122"/>
                <a:ea typeface="微软雅黑" pitchFamily="34" charset="-122"/>
              </a:rPr>
              <a:t>mov al, [esi+4]</a:t>
            </a:r>
          </a:p>
        </p:txBody>
      </p:sp>
      <p:sp>
        <p:nvSpPr>
          <p:cNvPr id="284678" name="Rectangle 4"/>
          <p:cNvSpPr>
            <a:spLocks noChangeArrowheads="1"/>
          </p:cNvSpPr>
          <p:nvPr/>
        </p:nvSpPr>
        <p:spPr bwMode="auto">
          <a:xfrm>
            <a:off x="0" y="5638800"/>
            <a:ext cx="22098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284679" name="Rectangle 5"/>
          <p:cNvSpPr>
            <a:spLocks noChangeArrowheads="1"/>
          </p:cNvSpPr>
          <p:nvPr/>
        </p:nvSpPr>
        <p:spPr bwMode="auto">
          <a:xfrm>
            <a:off x="1981200" y="3200400"/>
            <a:ext cx="14478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00806" name="Line 6"/>
          <p:cNvSpPr>
            <a:spLocks noChangeShapeType="1"/>
          </p:cNvSpPr>
          <p:nvPr/>
        </p:nvSpPr>
        <p:spPr bwMode="auto">
          <a:xfrm flipV="1">
            <a:off x="4724400" y="2133600"/>
            <a:ext cx="3429000" cy="3581400"/>
          </a:xfrm>
          <a:prstGeom prst="line">
            <a:avLst/>
          </a:prstGeom>
          <a:noFill/>
          <a:ln w="57150">
            <a:solidFill>
              <a:srgbClr val="005A42"/>
            </a:solidFill>
            <a:round/>
            <a:headEnd/>
            <a:tailEnd type="triangle" w="med" len="med"/>
          </a:ln>
        </p:spPr>
        <p:txBody>
          <a:bodyPr wrap="none"/>
          <a:lstStyle/>
          <a:p>
            <a:endParaRPr lang="zh-CN" altLang="en-US"/>
          </a:p>
        </p:txBody>
      </p:sp>
      <p:sp>
        <p:nvSpPr>
          <p:cNvPr id="1100807" name="Rectangle 7"/>
          <p:cNvSpPr>
            <a:spLocks noChangeArrowheads="1"/>
          </p:cNvSpPr>
          <p:nvPr/>
        </p:nvSpPr>
        <p:spPr bwMode="auto">
          <a:xfrm>
            <a:off x="8001000" y="1676400"/>
            <a:ext cx="533400" cy="533400"/>
          </a:xfrm>
          <a:prstGeom prst="rect">
            <a:avLst/>
          </a:prstGeom>
          <a:noFill/>
          <a:ln w="28575">
            <a:solidFill>
              <a:srgbClr val="005A42"/>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00808" name="AutoShape 8"/>
          <p:cNvSpPr>
            <a:spLocks noChangeArrowheads="1"/>
          </p:cNvSpPr>
          <p:nvPr/>
        </p:nvSpPr>
        <p:spPr bwMode="auto">
          <a:xfrm>
            <a:off x="1143000" y="1295400"/>
            <a:ext cx="5486400" cy="1371600"/>
          </a:xfrm>
          <a:prstGeom prst="wedgeEllipseCallout">
            <a:avLst>
              <a:gd name="adj1" fmla="val -10329"/>
              <a:gd name="adj2" fmla="val 97222"/>
            </a:avLst>
          </a:prstGeom>
          <a:solidFill>
            <a:srgbClr val="ECD8C4"/>
          </a:solidFill>
          <a:ln w="38100">
            <a:solidFill>
              <a:srgbClr val="005A42"/>
            </a:solidFill>
            <a:miter lim="800000"/>
            <a:headEnd/>
            <a:tailEnd/>
          </a:ln>
        </p:spPr>
        <p:txBody>
          <a:bodyPr/>
          <a:lstStyle/>
          <a:p>
            <a:r>
              <a:rPr kumimoji="1" lang="zh-CN" altLang="en-US" sz="2800" b="1">
                <a:solidFill>
                  <a:srgbClr val="000099"/>
                </a:solidFill>
                <a:latin typeface="微软雅黑" pitchFamily="34" charset="-122"/>
                <a:ea typeface="微软雅黑" pitchFamily="34" charset="-122"/>
              </a:rPr>
              <a:t>寄存器相对寻址</a:t>
            </a:r>
            <a:r>
              <a:rPr kumimoji="1" lang="en-US" altLang="zh-CN" sz="2800" b="1">
                <a:solidFill>
                  <a:srgbClr val="000099"/>
                </a:solidFill>
                <a:latin typeface="微软雅黑" pitchFamily="34" charset="-122"/>
                <a:ea typeface="微软雅黑" pitchFamily="34" charset="-122"/>
              </a:rPr>
              <a:t>esi+4=00404004</a:t>
            </a:r>
          </a:p>
        </p:txBody>
      </p:sp>
      <p:sp>
        <p:nvSpPr>
          <p:cNvPr id="1100809" name="AutoShape 9"/>
          <p:cNvSpPr>
            <a:spLocks noChangeArrowheads="1"/>
          </p:cNvSpPr>
          <p:nvPr/>
        </p:nvSpPr>
        <p:spPr bwMode="auto">
          <a:xfrm>
            <a:off x="304800" y="4267200"/>
            <a:ext cx="3962400" cy="838200"/>
          </a:xfrm>
          <a:prstGeom prst="wedgeEllipseCallout">
            <a:avLst>
              <a:gd name="adj1" fmla="val -22875"/>
              <a:gd name="adj2" fmla="val 129167"/>
            </a:avLst>
          </a:prstGeom>
          <a:solidFill>
            <a:srgbClr val="ECD8C4"/>
          </a:solidFill>
          <a:ln w="38100">
            <a:solidFill>
              <a:srgbClr val="005A42"/>
            </a:solidFill>
            <a:miter lim="800000"/>
            <a:headEnd/>
            <a:tailEnd/>
          </a:ln>
        </p:spPr>
        <p:txBody>
          <a:bodyPr/>
          <a:lstStyle/>
          <a:p>
            <a:pPr algn="ctr"/>
            <a:r>
              <a:rPr kumimoji="1" lang="en-US" altLang="zh-CN" sz="2800" b="1">
                <a:solidFill>
                  <a:srgbClr val="000099"/>
                </a:solidFill>
                <a:latin typeface="微软雅黑" pitchFamily="34" charset="-122"/>
                <a:ea typeface="微软雅黑" pitchFamily="34" charset="-122"/>
              </a:rPr>
              <a:t>esi=00404000</a:t>
            </a:r>
          </a:p>
        </p:txBody>
      </p:sp>
      <p:sp>
        <p:nvSpPr>
          <p:cNvPr id="1100810" name="Rectangle 10"/>
          <p:cNvSpPr>
            <a:spLocks noChangeArrowheads="1"/>
          </p:cNvSpPr>
          <p:nvPr/>
        </p:nvSpPr>
        <p:spPr bwMode="auto">
          <a:xfrm>
            <a:off x="4419600" y="5638800"/>
            <a:ext cx="609600" cy="533400"/>
          </a:xfrm>
          <a:prstGeom prst="rect">
            <a:avLst/>
          </a:prstGeom>
          <a:noFill/>
          <a:ln w="28575">
            <a:solidFill>
              <a:srgbClr val="000066"/>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00811" name="AutoShape 11"/>
          <p:cNvSpPr>
            <a:spLocks noChangeArrowheads="1"/>
          </p:cNvSpPr>
          <p:nvPr/>
        </p:nvSpPr>
        <p:spPr bwMode="auto">
          <a:xfrm>
            <a:off x="4419600" y="4419600"/>
            <a:ext cx="4724400" cy="838200"/>
          </a:xfrm>
          <a:prstGeom prst="wedgeEllipseCallout">
            <a:avLst>
              <a:gd name="adj1" fmla="val -37398"/>
              <a:gd name="adj2" fmla="val 104926"/>
            </a:avLst>
          </a:prstGeom>
          <a:solidFill>
            <a:srgbClr val="ECD8C4"/>
          </a:solidFill>
          <a:ln w="38100">
            <a:solidFill>
              <a:srgbClr val="005A42"/>
            </a:solidFill>
            <a:miter lim="800000"/>
            <a:headEnd/>
            <a:tailEnd/>
          </a:ln>
        </p:spPr>
        <p:txBody>
          <a:bodyPr/>
          <a:lstStyle/>
          <a:p>
            <a:r>
              <a:rPr kumimoji="1" lang="en-US" altLang="zh-CN" sz="2800" b="1">
                <a:solidFill>
                  <a:srgbClr val="000099"/>
                </a:solidFill>
                <a:latin typeface="微软雅黑" pitchFamily="34" charset="-122"/>
                <a:ea typeface="微软雅黑" pitchFamily="34" charset="-122"/>
              </a:rPr>
              <a:t>[00404004]=05h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008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100809"/>
                                        </p:tgtEl>
                                        <p:attrNameLst>
                                          <p:attrName>style.visibility</p:attrName>
                                        </p:attrNameLst>
                                      </p:cBhvr>
                                      <p:to>
                                        <p:strVal val="visible"/>
                                      </p:to>
                                    </p:set>
                                    <p:animEffect transition="in" filter="blinds(horizontal)">
                                      <p:cBhvr>
                                        <p:cTn id="11" dur="500"/>
                                        <p:tgtEl>
                                          <p:spTgt spid="110080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100810"/>
                                        </p:tgtEl>
                                        <p:attrNameLst>
                                          <p:attrName>style.visibility</p:attrName>
                                        </p:attrNameLst>
                                      </p:cBhvr>
                                      <p:to>
                                        <p:strVal val="visible"/>
                                      </p:to>
                                    </p:set>
                                    <p:animEffect transition="in" filter="wipe(up)">
                                      <p:cBhvr>
                                        <p:cTn id="16" dur="500"/>
                                        <p:tgtEl>
                                          <p:spTgt spid="1100810"/>
                                        </p:tgtEl>
                                      </p:cBhvr>
                                    </p:animEffect>
                                  </p:childTnLst>
                                </p:cTn>
                              </p:par>
                            </p:childTnLst>
                          </p:cTn>
                        </p:par>
                        <p:par>
                          <p:cTn id="17" fill="hold">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1100811"/>
                                        </p:tgtEl>
                                        <p:attrNameLst>
                                          <p:attrName>style.visibility</p:attrName>
                                        </p:attrNameLst>
                                      </p:cBhvr>
                                      <p:to>
                                        <p:strVal val="visible"/>
                                      </p:to>
                                    </p:set>
                                    <p:animEffect transition="in" filter="blinds(horizontal)">
                                      <p:cBhvr>
                                        <p:cTn id="20" dur="500"/>
                                        <p:tgtEl>
                                          <p:spTgt spid="110081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00806"/>
                                        </p:tgtEl>
                                        <p:attrNameLst>
                                          <p:attrName>style.visibility</p:attrName>
                                        </p:attrNameLst>
                                      </p:cBhvr>
                                      <p:to>
                                        <p:strVal val="visible"/>
                                      </p:to>
                                    </p:set>
                                    <p:animEffect transition="in" filter="wipe(left)">
                                      <p:cBhvr>
                                        <p:cTn id="25" dur="500"/>
                                        <p:tgtEl>
                                          <p:spTgt spid="1100806"/>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1100807"/>
                                        </p:tgtEl>
                                        <p:attrNameLst>
                                          <p:attrName>style.visibility</p:attrName>
                                        </p:attrNameLst>
                                      </p:cBhvr>
                                      <p:to>
                                        <p:strVal val="visible"/>
                                      </p:to>
                                    </p:set>
                                    <p:animEffect transition="in" filter="wipe(left)">
                                      <p:cBhvr>
                                        <p:cTn id="29" dur="500"/>
                                        <p:tgtEl>
                                          <p:spTgt spid="1100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806" grpId="0" animBg="1"/>
      <p:bldP spid="1100807" grpId="0" animBg="1"/>
      <p:bldP spid="1100808" grpId="0" animBg="1" autoUpdateAnimBg="0"/>
      <p:bldP spid="1100809" grpId="0" animBg="1" autoUpdateAnimBg="0"/>
      <p:bldP spid="1100810" grpId="0" animBg="1"/>
      <p:bldP spid="1100811"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灯片编号占位符 4"/>
          <p:cNvSpPr txBox="1">
            <a:spLocks noGrp="1"/>
          </p:cNvSpPr>
          <p:nvPr/>
        </p:nvSpPr>
        <p:spPr bwMode="auto">
          <a:xfrm>
            <a:off x="6553200" y="6248400"/>
            <a:ext cx="2133600" cy="457200"/>
          </a:xfrm>
          <a:prstGeom prst="rect">
            <a:avLst/>
          </a:prstGeom>
          <a:noFill/>
          <a:ln w="9525">
            <a:noFill/>
            <a:miter lim="800000"/>
            <a:headEnd/>
            <a:tailEnd/>
          </a:ln>
        </p:spPr>
        <p:txBody>
          <a:bodyPr anchor="b"/>
          <a:lstStyle/>
          <a:p>
            <a:pPr algn="r"/>
            <a:fld id="{4C140530-282D-45EB-8744-9771B6267ABB}" type="slidenum">
              <a:rPr lang="en-US" altLang="zh-CN" sz="1200">
                <a:latin typeface="微软雅黑" pitchFamily="34" charset="-122"/>
                <a:ea typeface="微软雅黑" pitchFamily="34" charset="-122"/>
              </a:rPr>
              <a:pPr algn="r"/>
              <a:t>20</a:t>
            </a:fld>
            <a:endParaRPr lang="en-US" altLang="zh-CN" sz="1200">
              <a:latin typeface="微软雅黑" pitchFamily="34" charset="-122"/>
              <a:ea typeface="微软雅黑" pitchFamily="34" charset="-122"/>
            </a:endParaRPr>
          </a:p>
        </p:txBody>
      </p:sp>
      <p:sp>
        <p:nvSpPr>
          <p:cNvPr id="285699" name="日期占位符 5"/>
          <p:cNvSpPr txBox="1">
            <a:spLocks noGrp="1"/>
          </p:cNvSpPr>
          <p:nvPr/>
        </p:nvSpPr>
        <p:spPr bwMode="auto">
          <a:xfrm>
            <a:off x="893763" y="6245225"/>
            <a:ext cx="1697037" cy="476250"/>
          </a:xfrm>
          <a:prstGeom prst="rect">
            <a:avLst/>
          </a:prstGeom>
          <a:noFill/>
          <a:ln w="9525">
            <a:noFill/>
            <a:miter lim="800000"/>
            <a:headEnd/>
            <a:tailEnd/>
          </a:ln>
        </p:spPr>
        <p:txBody>
          <a:bodyPr anchor="b"/>
          <a:lstStyle/>
          <a:p>
            <a:fld id="{B395049C-CAA1-4CA6-A708-01099194E3CF}" type="datetime1">
              <a:rPr lang="zh-CN" altLang="en-US" sz="1200">
                <a:latin typeface="微软雅黑" pitchFamily="34" charset="-122"/>
                <a:ea typeface="微软雅黑" pitchFamily="34" charset="-122"/>
              </a:rPr>
              <a:pPr/>
              <a:t>2019/2/25</a:t>
            </a:fld>
            <a:endParaRPr lang="en-US" altLang="zh-CN" sz="1200">
              <a:latin typeface="微软雅黑" pitchFamily="34" charset="-122"/>
              <a:ea typeface="微软雅黑" pitchFamily="34" charset="-122"/>
            </a:endParaRPr>
          </a:p>
        </p:txBody>
      </p:sp>
      <p:pic>
        <p:nvPicPr>
          <p:cNvPr id="285700" name="Picture 2" descr="2007-07-05_20-27-43"/>
          <p:cNvPicPr>
            <a:picLocks noChangeAspect="1" noChangeArrowheads="1"/>
          </p:cNvPicPr>
          <p:nvPr/>
        </p:nvPicPr>
        <p:blipFill>
          <a:blip r:embed="rId2" cstate="print"/>
          <a:srcRect/>
          <a:stretch>
            <a:fillRect/>
          </a:stretch>
        </p:blipFill>
        <p:spPr bwMode="auto">
          <a:xfrm>
            <a:off x="0" y="1295400"/>
            <a:ext cx="9144000" cy="5562600"/>
          </a:xfrm>
          <a:prstGeom prst="rect">
            <a:avLst/>
          </a:prstGeom>
          <a:noFill/>
          <a:ln w="9525">
            <a:noFill/>
            <a:miter lim="800000"/>
            <a:headEnd/>
            <a:tailEnd/>
          </a:ln>
        </p:spPr>
      </p:pic>
      <p:sp>
        <p:nvSpPr>
          <p:cNvPr id="285701" name="Rectangle 3"/>
          <p:cNvSpPr>
            <a:spLocks noGrp="1" noChangeArrowheads="1"/>
          </p:cNvSpPr>
          <p:nvPr>
            <p:ph type="title" idx="4294967295"/>
          </p:nvPr>
        </p:nvSpPr>
        <p:spPr>
          <a:xfrm>
            <a:off x="0" y="477838"/>
            <a:ext cx="8077200" cy="817562"/>
          </a:xfrm>
        </p:spPr>
        <p:txBody>
          <a:bodyPr anchor="ctr"/>
          <a:lstStyle/>
          <a:p>
            <a:r>
              <a:rPr lang="zh-CN" altLang="en-US" dirty="0">
                <a:solidFill>
                  <a:srgbClr val="FF0000"/>
                </a:solidFill>
                <a:latin typeface="微软雅黑" pitchFamily="34" charset="-122"/>
                <a:ea typeface="微软雅黑" pitchFamily="34" charset="-122"/>
              </a:rPr>
              <a:t>例：</a:t>
            </a:r>
            <a:r>
              <a:rPr lang="en-US" altLang="zh-CN" dirty="0">
                <a:solidFill>
                  <a:srgbClr val="FF0000"/>
                </a:solidFill>
                <a:latin typeface="微软雅黑" pitchFamily="34" charset="-122"/>
                <a:ea typeface="微软雅黑" pitchFamily="34" charset="-122"/>
              </a:rPr>
              <a:t>mov </a:t>
            </a:r>
            <a:r>
              <a:rPr lang="en-US" altLang="zh-CN" dirty="0" err="1">
                <a:solidFill>
                  <a:srgbClr val="FF0000"/>
                </a:solidFill>
                <a:latin typeface="微软雅黑" pitchFamily="34" charset="-122"/>
                <a:ea typeface="微软雅黑" pitchFamily="34" charset="-122"/>
              </a:rPr>
              <a:t>esi</a:t>
            </a:r>
            <a:r>
              <a:rPr lang="en-US" altLang="zh-CN" dirty="0">
                <a:solidFill>
                  <a:srgbClr val="FF0000"/>
                </a:solidFill>
                <a:latin typeface="微软雅黑" pitchFamily="34" charset="-122"/>
                <a:ea typeface="微软雅黑" pitchFamily="34" charset="-122"/>
              </a:rPr>
              <a:t>, array_end</a:t>
            </a:r>
          </a:p>
        </p:txBody>
      </p:sp>
      <p:sp>
        <p:nvSpPr>
          <p:cNvPr id="285702" name="Rectangle 4"/>
          <p:cNvSpPr>
            <a:spLocks noChangeArrowheads="1"/>
          </p:cNvSpPr>
          <p:nvPr/>
        </p:nvSpPr>
        <p:spPr bwMode="auto">
          <a:xfrm>
            <a:off x="2057400" y="2971800"/>
            <a:ext cx="17526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01829" name="Rectangle 5"/>
          <p:cNvSpPr>
            <a:spLocks noChangeArrowheads="1"/>
          </p:cNvSpPr>
          <p:nvPr/>
        </p:nvSpPr>
        <p:spPr bwMode="auto">
          <a:xfrm>
            <a:off x="5181600" y="3505200"/>
            <a:ext cx="3048000" cy="533400"/>
          </a:xfrm>
          <a:prstGeom prst="rect">
            <a:avLst/>
          </a:prstGeom>
          <a:noFill/>
          <a:ln w="28575">
            <a:solidFill>
              <a:srgbClr val="005A42"/>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01830" name="AutoShape 6"/>
          <p:cNvSpPr>
            <a:spLocks noChangeArrowheads="1"/>
          </p:cNvSpPr>
          <p:nvPr/>
        </p:nvSpPr>
        <p:spPr bwMode="auto">
          <a:xfrm>
            <a:off x="609600" y="1524000"/>
            <a:ext cx="3124200" cy="762000"/>
          </a:xfrm>
          <a:prstGeom prst="wedgeEllipseCallout">
            <a:avLst>
              <a:gd name="adj1" fmla="val 9856"/>
              <a:gd name="adj2" fmla="val 135000"/>
            </a:avLst>
          </a:prstGeom>
          <a:solidFill>
            <a:srgbClr val="ECD8C4"/>
          </a:solidFill>
          <a:ln w="38100">
            <a:solidFill>
              <a:srgbClr val="005A42"/>
            </a:solidFill>
            <a:miter lim="800000"/>
            <a:headEnd/>
            <a:tailEnd/>
          </a:ln>
        </p:spPr>
        <p:txBody>
          <a:bodyPr/>
          <a:lstStyle/>
          <a:p>
            <a:r>
              <a:rPr kumimoji="1" lang="en-US" altLang="zh-CN" sz="2800" b="1">
                <a:solidFill>
                  <a:srgbClr val="000099"/>
                </a:solidFill>
                <a:latin typeface="微软雅黑" pitchFamily="34" charset="-122"/>
                <a:ea typeface="微软雅黑" pitchFamily="34" charset="-122"/>
              </a:rPr>
              <a:t>   </a:t>
            </a:r>
            <a:r>
              <a:rPr kumimoji="1" lang="zh-CN" altLang="en-US" sz="2800" b="1">
                <a:solidFill>
                  <a:srgbClr val="000099"/>
                </a:solidFill>
                <a:latin typeface="微软雅黑" pitchFamily="34" charset="-122"/>
                <a:ea typeface="微软雅黑" pitchFamily="34" charset="-122"/>
              </a:rPr>
              <a:t>直接寻址</a:t>
            </a:r>
          </a:p>
        </p:txBody>
      </p:sp>
      <p:sp>
        <p:nvSpPr>
          <p:cNvPr id="1101831" name="Text Box 7"/>
          <p:cNvSpPr txBox="1">
            <a:spLocks noChangeArrowheads="1"/>
          </p:cNvSpPr>
          <p:nvPr/>
        </p:nvSpPr>
        <p:spPr bwMode="auto">
          <a:xfrm>
            <a:off x="290513" y="3910013"/>
            <a:ext cx="4489450" cy="1857375"/>
          </a:xfrm>
          <a:prstGeom prst="rect">
            <a:avLst/>
          </a:prstGeom>
          <a:solidFill>
            <a:srgbClr val="ECD8C4"/>
          </a:solidFill>
          <a:ln w="57150">
            <a:solidFill>
              <a:schemeClr val="hlink"/>
            </a:solidFill>
            <a:miter lim="800000"/>
            <a:headEnd/>
            <a:tailEnd/>
          </a:ln>
        </p:spPr>
        <p:txBody>
          <a:bodyPr wrap="none">
            <a:spAutoFit/>
          </a:bodyPr>
          <a:lstStyle/>
          <a:p>
            <a:r>
              <a:rPr kumimoji="1" lang="en-US" altLang="zh-CN" sz="2800" b="1" dirty="0">
                <a:solidFill>
                  <a:srgbClr val="000099"/>
                </a:solidFill>
                <a:latin typeface="微软雅黑" pitchFamily="34" charset="-122"/>
                <a:ea typeface="微软雅黑" pitchFamily="34" charset="-122"/>
              </a:rPr>
              <a:t>array_end equ $-1</a:t>
            </a:r>
          </a:p>
          <a:p>
            <a:r>
              <a:rPr kumimoji="1" lang="en-US" altLang="zh-CN" sz="2800" b="1" dirty="0">
                <a:solidFill>
                  <a:srgbClr val="000099"/>
                </a:solidFill>
                <a:latin typeface="微软雅黑" pitchFamily="34" charset="-122"/>
                <a:ea typeface="微软雅黑" pitchFamily="34" charset="-122"/>
              </a:rPr>
              <a:t>;$=00404007</a:t>
            </a:r>
          </a:p>
          <a:p>
            <a:r>
              <a:rPr kumimoji="1" lang="en-US" altLang="zh-CN" sz="2800" b="1" dirty="0">
                <a:solidFill>
                  <a:srgbClr val="000099"/>
                </a:solidFill>
                <a:latin typeface="微软雅黑" pitchFamily="34" charset="-122"/>
                <a:ea typeface="微软雅黑" pitchFamily="34" charset="-122"/>
              </a:rPr>
              <a:t>;array_end=00404007-1</a:t>
            </a:r>
          </a:p>
          <a:p>
            <a:r>
              <a:rPr kumimoji="1" lang="en-US" altLang="zh-CN" sz="2800" b="1" dirty="0">
                <a:solidFill>
                  <a:srgbClr val="000099"/>
                </a:solidFill>
                <a:latin typeface="微软雅黑" pitchFamily="34" charset="-122"/>
                <a:ea typeface="微软雅黑" pitchFamily="34" charset="-122"/>
              </a:rPr>
              <a:t>                   =00404006</a:t>
            </a:r>
          </a:p>
        </p:txBody>
      </p:sp>
      <p:sp>
        <p:nvSpPr>
          <p:cNvPr id="1101832" name="Line 8"/>
          <p:cNvSpPr>
            <a:spLocks noChangeShapeType="1"/>
          </p:cNvSpPr>
          <p:nvPr/>
        </p:nvSpPr>
        <p:spPr bwMode="auto">
          <a:xfrm flipV="1">
            <a:off x="4648200" y="4038600"/>
            <a:ext cx="1828800" cy="1447800"/>
          </a:xfrm>
          <a:prstGeom prst="line">
            <a:avLst/>
          </a:prstGeom>
          <a:noFill/>
          <a:ln w="57150">
            <a:solidFill>
              <a:srgbClr val="005A42"/>
            </a:solidFill>
            <a:round/>
            <a:headEnd/>
            <a:tailEnd type="triangle" w="med" len="med"/>
          </a:ln>
        </p:spPr>
        <p:txBody>
          <a:bodyPr wrap="none"/>
          <a:lstStyle/>
          <a:p>
            <a:endParaRPr lang="zh-CN" altLang="en-US"/>
          </a:p>
        </p:txBody>
      </p:sp>
      <p:sp>
        <p:nvSpPr>
          <p:cNvPr id="1101833" name="Rectangle 9"/>
          <p:cNvSpPr>
            <a:spLocks noChangeArrowheads="1"/>
          </p:cNvSpPr>
          <p:nvPr/>
        </p:nvSpPr>
        <p:spPr bwMode="auto">
          <a:xfrm>
            <a:off x="2667000" y="5257800"/>
            <a:ext cx="1905000" cy="4572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018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1101831"/>
                                        </p:tgtEl>
                                        <p:attrNameLst>
                                          <p:attrName>style.visibility</p:attrName>
                                        </p:attrNameLst>
                                      </p:cBhvr>
                                      <p:to>
                                        <p:strVal val="visible"/>
                                      </p:to>
                                    </p:set>
                                    <p:animEffect transition="in" filter="wipe(up)">
                                      <p:cBhvr>
                                        <p:cTn id="11" dur="500"/>
                                        <p:tgtEl>
                                          <p:spTgt spid="1101831"/>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1101833"/>
                                        </p:tgtEl>
                                        <p:attrNameLst>
                                          <p:attrName>style.visibility</p:attrName>
                                        </p:attrNameLst>
                                      </p:cBhvr>
                                      <p:to>
                                        <p:strVal val="visible"/>
                                      </p:to>
                                    </p:set>
                                    <p:animEffect transition="in" filter="wipe(left)">
                                      <p:cBhvr>
                                        <p:cTn id="15" dur="500"/>
                                        <p:tgtEl>
                                          <p:spTgt spid="1101833"/>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1101832"/>
                                        </p:tgtEl>
                                        <p:attrNameLst>
                                          <p:attrName>style.visibility</p:attrName>
                                        </p:attrNameLst>
                                      </p:cBhvr>
                                      <p:to>
                                        <p:strVal val="visible"/>
                                      </p:to>
                                    </p:set>
                                    <p:animEffect transition="in" filter="wipe(left)">
                                      <p:cBhvr>
                                        <p:cTn id="19" dur="500"/>
                                        <p:tgtEl>
                                          <p:spTgt spid="1101832"/>
                                        </p:tgtEl>
                                      </p:cBhvr>
                                    </p:animEffect>
                                  </p:childTnLst>
                                </p:cTn>
                              </p:par>
                            </p:childTnLst>
                          </p:cTn>
                        </p:par>
                        <p:par>
                          <p:cTn id="20" fill="hold">
                            <p:stCondLst>
                              <p:cond delay="1500"/>
                            </p:stCondLst>
                            <p:childTnLst>
                              <p:par>
                                <p:cTn id="21" presetID="22" presetClass="entr" presetSubtype="8" fill="hold" grpId="0" nodeType="afterEffect">
                                  <p:stCondLst>
                                    <p:cond delay="0"/>
                                  </p:stCondLst>
                                  <p:childTnLst>
                                    <p:set>
                                      <p:cBhvr>
                                        <p:cTn id="22" dur="1" fill="hold">
                                          <p:stCondLst>
                                            <p:cond delay="0"/>
                                          </p:stCondLst>
                                        </p:cTn>
                                        <p:tgtEl>
                                          <p:spTgt spid="1101829"/>
                                        </p:tgtEl>
                                        <p:attrNameLst>
                                          <p:attrName>style.visibility</p:attrName>
                                        </p:attrNameLst>
                                      </p:cBhvr>
                                      <p:to>
                                        <p:strVal val="visible"/>
                                      </p:to>
                                    </p:set>
                                    <p:animEffect transition="in" filter="wipe(left)">
                                      <p:cBhvr>
                                        <p:cTn id="23" dur="500"/>
                                        <p:tgtEl>
                                          <p:spTgt spid="11018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1829" grpId="0" animBg="1"/>
      <p:bldP spid="1101830" grpId="0" animBg="1" autoUpdateAnimBg="0"/>
      <p:bldP spid="1101831" grpId="0" animBg="1" autoUpdateAnimBg="0"/>
      <p:bldP spid="1101832" grpId="0" animBg="1"/>
      <p:bldP spid="110183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灯片编号占位符 4"/>
          <p:cNvSpPr txBox="1">
            <a:spLocks noGrp="1"/>
          </p:cNvSpPr>
          <p:nvPr/>
        </p:nvSpPr>
        <p:spPr bwMode="auto">
          <a:xfrm>
            <a:off x="6553200" y="6248400"/>
            <a:ext cx="2133600" cy="457200"/>
          </a:xfrm>
          <a:prstGeom prst="rect">
            <a:avLst/>
          </a:prstGeom>
          <a:noFill/>
          <a:ln w="9525">
            <a:noFill/>
            <a:miter lim="800000"/>
            <a:headEnd/>
            <a:tailEnd/>
          </a:ln>
        </p:spPr>
        <p:txBody>
          <a:bodyPr anchor="b"/>
          <a:lstStyle/>
          <a:p>
            <a:pPr algn="r"/>
            <a:fld id="{DDA31134-9FF5-4FF8-BA21-5C030043BC49}" type="slidenum">
              <a:rPr lang="en-US" altLang="zh-CN" sz="1200">
                <a:latin typeface="微软雅黑" pitchFamily="34" charset="-122"/>
                <a:ea typeface="微软雅黑" pitchFamily="34" charset="-122"/>
              </a:rPr>
              <a:pPr algn="r"/>
              <a:t>21</a:t>
            </a:fld>
            <a:endParaRPr lang="en-US" altLang="zh-CN" sz="1200">
              <a:latin typeface="微软雅黑" pitchFamily="34" charset="-122"/>
              <a:ea typeface="微软雅黑" pitchFamily="34" charset="-122"/>
            </a:endParaRPr>
          </a:p>
        </p:txBody>
      </p:sp>
      <p:sp>
        <p:nvSpPr>
          <p:cNvPr id="286723" name="日期占位符 5"/>
          <p:cNvSpPr txBox="1">
            <a:spLocks noGrp="1"/>
          </p:cNvSpPr>
          <p:nvPr/>
        </p:nvSpPr>
        <p:spPr bwMode="auto">
          <a:xfrm>
            <a:off x="893763" y="6245225"/>
            <a:ext cx="1697037" cy="476250"/>
          </a:xfrm>
          <a:prstGeom prst="rect">
            <a:avLst/>
          </a:prstGeom>
          <a:noFill/>
          <a:ln w="9525">
            <a:noFill/>
            <a:miter lim="800000"/>
            <a:headEnd/>
            <a:tailEnd/>
          </a:ln>
        </p:spPr>
        <p:txBody>
          <a:bodyPr anchor="b"/>
          <a:lstStyle/>
          <a:p>
            <a:fld id="{7FC173EA-A100-40E0-A5E5-94BF0B3BC171}" type="datetime1">
              <a:rPr lang="zh-CN" altLang="en-US" sz="1200">
                <a:latin typeface="微软雅黑" pitchFamily="34" charset="-122"/>
                <a:ea typeface="微软雅黑" pitchFamily="34" charset="-122"/>
              </a:rPr>
              <a:pPr/>
              <a:t>2019/2/25</a:t>
            </a:fld>
            <a:endParaRPr lang="en-US" altLang="zh-CN" sz="1200">
              <a:latin typeface="微软雅黑" pitchFamily="34" charset="-122"/>
              <a:ea typeface="微软雅黑" pitchFamily="34" charset="-122"/>
            </a:endParaRPr>
          </a:p>
        </p:txBody>
      </p:sp>
      <p:pic>
        <p:nvPicPr>
          <p:cNvPr id="286724" name="Picture 2" descr="2007-07-05_19-52-51"/>
          <p:cNvPicPr>
            <a:picLocks noChangeAspect="1" noChangeArrowheads="1"/>
          </p:cNvPicPr>
          <p:nvPr/>
        </p:nvPicPr>
        <p:blipFill>
          <a:blip r:embed="rId2" cstate="print"/>
          <a:srcRect/>
          <a:stretch>
            <a:fillRect/>
          </a:stretch>
        </p:blipFill>
        <p:spPr bwMode="auto">
          <a:xfrm>
            <a:off x="0" y="1295400"/>
            <a:ext cx="9144000" cy="5562600"/>
          </a:xfrm>
          <a:prstGeom prst="rect">
            <a:avLst/>
          </a:prstGeom>
          <a:noFill/>
          <a:ln w="9525">
            <a:noFill/>
            <a:miter lim="800000"/>
            <a:headEnd/>
            <a:tailEnd/>
          </a:ln>
        </p:spPr>
      </p:pic>
      <p:sp>
        <p:nvSpPr>
          <p:cNvPr id="286725" name="Rectangle 3"/>
          <p:cNvSpPr>
            <a:spLocks noGrp="1" noChangeArrowheads="1"/>
          </p:cNvSpPr>
          <p:nvPr>
            <p:ph type="title" idx="4294967295"/>
          </p:nvPr>
        </p:nvSpPr>
        <p:spPr>
          <a:xfrm>
            <a:off x="0" y="561975"/>
            <a:ext cx="8555038" cy="588963"/>
          </a:xfrm>
        </p:spPr>
        <p:txBody>
          <a:bodyPr anchor="ctr">
            <a:normAutofit fontScale="90000"/>
          </a:bodyPr>
          <a:lstStyle/>
          <a:p>
            <a:r>
              <a:rPr lang="zh-CN" altLang="en-US" sz="3500" dirty="0">
                <a:solidFill>
                  <a:srgbClr val="FF0000"/>
                </a:solidFill>
                <a:latin typeface="微软雅黑" pitchFamily="34" charset="-122"/>
                <a:ea typeface="微软雅黑" pitchFamily="34" charset="-122"/>
              </a:rPr>
              <a:t>例：</a:t>
            </a:r>
            <a:r>
              <a:rPr lang="en-US" altLang="zh-CN" sz="3500" dirty="0">
                <a:solidFill>
                  <a:srgbClr val="FF0000"/>
                </a:solidFill>
                <a:latin typeface="微软雅黑" pitchFamily="34" charset="-122"/>
                <a:ea typeface="微软雅黑" pitchFamily="34" charset="-122"/>
              </a:rPr>
              <a:t>mov al,[esi-4]</a:t>
            </a:r>
          </a:p>
        </p:txBody>
      </p:sp>
      <p:sp>
        <p:nvSpPr>
          <p:cNvPr id="1102852" name="Rectangle 4"/>
          <p:cNvSpPr>
            <a:spLocks noChangeArrowheads="1"/>
          </p:cNvSpPr>
          <p:nvPr/>
        </p:nvSpPr>
        <p:spPr bwMode="auto">
          <a:xfrm>
            <a:off x="1905000" y="1676400"/>
            <a:ext cx="12954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02853" name="Rectangle 5"/>
          <p:cNvSpPr>
            <a:spLocks noChangeArrowheads="1"/>
          </p:cNvSpPr>
          <p:nvPr/>
        </p:nvSpPr>
        <p:spPr bwMode="auto">
          <a:xfrm>
            <a:off x="8077200" y="1676400"/>
            <a:ext cx="457200" cy="533400"/>
          </a:xfrm>
          <a:prstGeom prst="rect">
            <a:avLst/>
          </a:prstGeom>
          <a:noFill/>
          <a:ln w="28575">
            <a:solidFill>
              <a:srgbClr val="005A42"/>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02854" name="Line 6"/>
          <p:cNvSpPr>
            <a:spLocks noChangeShapeType="1"/>
          </p:cNvSpPr>
          <p:nvPr/>
        </p:nvSpPr>
        <p:spPr bwMode="auto">
          <a:xfrm flipV="1">
            <a:off x="3733800" y="2057400"/>
            <a:ext cx="4343400" cy="3657600"/>
          </a:xfrm>
          <a:prstGeom prst="line">
            <a:avLst/>
          </a:prstGeom>
          <a:noFill/>
          <a:ln w="57150">
            <a:solidFill>
              <a:srgbClr val="005A42"/>
            </a:solidFill>
            <a:round/>
            <a:headEnd/>
            <a:tailEnd type="triangle" w="med" len="med"/>
          </a:ln>
        </p:spPr>
        <p:txBody>
          <a:bodyPr wrap="none"/>
          <a:lstStyle/>
          <a:p>
            <a:endParaRPr lang="zh-CN" altLang="en-US"/>
          </a:p>
        </p:txBody>
      </p:sp>
      <p:sp>
        <p:nvSpPr>
          <p:cNvPr id="1102855" name="Rectangle 7"/>
          <p:cNvSpPr>
            <a:spLocks noChangeArrowheads="1"/>
          </p:cNvSpPr>
          <p:nvPr/>
        </p:nvSpPr>
        <p:spPr bwMode="auto">
          <a:xfrm>
            <a:off x="3352800" y="5715000"/>
            <a:ext cx="533400" cy="4572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02856" name="AutoShape 8"/>
          <p:cNvSpPr>
            <a:spLocks noChangeArrowheads="1"/>
          </p:cNvSpPr>
          <p:nvPr/>
        </p:nvSpPr>
        <p:spPr bwMode="auto">
          <a:xfrm>
            <a:off x="0" y="2743200"/>
            <a:ext cx="5486400" cy="1371600"/>
          </a:xfrm>
          <a:prstGeom prst="wedgeEllipseCallout">
            <a:avLst>
              <a:gd name="adj1" fmla="val -3875"/>
              <a:gd name="adj2" fmla="val -86574"/>
            </a:avLst>
          </a:prstGeom>
          <a:solidFill>
            <a:srgbClr val="ECD8C4"/>
          </a:solidFill>
          <a:ln w="38100">
            <a:solidFill>
              <a:srgbClr val="005A42"/>
            </a:solidFill>
            <a:miter lim="800000"/>
            <a:headEnd/>
            <a:tailEnd/>
          </a:ln>
        </p:spPr>
        <p:txBody>
          <a:bodyPr/>
          <a:lstStyle/>
          <a:p>
            <a:r>
              <a:rPr kumimoji="1" lang="zh-CN" altLang="en-US" sz="2800" b="1">
                <a:solidFill>
                  <a:srgbClr val="000099"/>
                </a:solidFill>
                <a:latin typeface="微软雅黑" pitchFamily="34" charset="-122"/>
                <a:ea typeface="微软雅黑" pitchFamily="34" charset="-122"/>
              </a:rPr>
              <a:t>寄存器相对寻址</a:t>
            </a:r>
          </a:p>
          <a:p>
            <a:r>
              <a:rPr kumimoji="1" lang="en-US" altLang="zh-CN" sz="2800" b="1">
                <a:solidFill>
                  <a:srgbClr val="000099"/>
                </a:solidFill>
                <a:latin typeface="微软雅黑" pitchFamily="34" charset="-122"/>
                <a:ea typeface="微软雅黑" pitchFamily="34" charset="-122"/>
              </a:rPr>
              <a:t>esi-4=00404002</a:t>
            </a:r>
          </a:p>
        </p:txBody>
      </p:sp>
      <p:sp>
        <p:nvSpPr>
          <p:cNvPr id="1102857" name="AutoShape 9"/>
          <p:cNvSpPr>
            <a:spLocks noChangeArrowheads="1"/>
          </p:cNvSpPr>
          <p:nvPr/>
        </p:nvSpPr>
        <p:spPr bwMode="auto">
          <a:xfrm>
            <a:off x="228600" y="4495800"/>
            <a:ext cx="4724400" cy="762000"/>
          </a:xfrm>
          <a:prstGeom prst="wedgeEllipseCallout">
            <a:avLst>
              <a:gd name="adj1" fmla="val 20028"/>
              <a:gd name="adj2" fmla="val 105625"/>
            </a:avLst>
          </a:prstGeom>
          <a:solidFill>
            <a:srgbClr val="ECD8C4"/>
          </a:solidFill>
          <a:ln w="38100">
            <a:solidFill>
              <a:srgbClr val="005A42"/>
            </a:solidFill>
            <a:miter lim="800000"/>
            <a:headEnd/>
            <a:tailEnd/>
          </a:ln>
        </p:spPr>
        <p:txBody>
          <a:bodyPr/>
          <a:lstStyle/>
          <a:p>
            <a:r>
              <a:rPr kumimoji="1" lang="en-US" altLang="zh-CN" sz="2800" b="1">
                <a:solidFill>
                  <a:srgbClr val="000099"/>
                </a:solidFill>
                <a:latin typeface="微软雅黑" pitchFamily="34" charset="-122"/>
                <a:ea typeface="微软雅黑" pitchFamily="34" charset="-122"/>
              </a:rPr>
              <a:t>[00404002]=03h</a:t>
            </a:r>
          </a:p>
        </p:txBody>
      </p:sp>
      <p:sp>
        <p:nvSpPr>
          <p:cNvPr id="1102858" name="Rectangle 10"/>
          <p:cNvSpPr>
            <a:spLocks noChangeArrowheads="1"/>
          </p:cNvSpPr>
          <p:nvPr/>
        </p:nvSpPr>
        <p:spPr bwMode="auto">
          <a:xfrm>
            <a:off x="5486400" y="5715000"/>
            <a:ext cx="6096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02859" name="AutoShape 11"/>
          <p:cNvSpPr>
            <a:spLocks noChangeArrowheads="1"/>
          </p:cNvSpPr>
          <p:nvPr/>
        </p:nvSpPr>
        <p:spPr bwMode="auto">
          <a:xfrm>
            <a:off x="4800600" y="4267200"/>
            <a:ext cx="3962400" cy="838200"/>
          </a:xfrm>
          <a:prstGeom prst="wedgeEllipseCallout">
            <a:avLst>
              <a:gd name="adj1" fmla="val -20074"/>
              <a:gd name="adj2" fmla="val 123296"/>
            </a:avLst>
          </a:prstGeom>
          <a:solidFill>
            <a:srgbClr val="ECD8C4"/>
          </a:solidFill>
          <a:ln w="38100">
            <a:solidFill>
              <a:srgbClr val="005A42"/>
            </a:solidFill>
            <a:miter lim="800000"/>
            <a:headEnd/>
            <a:tailEnd/>
          </a:ln>
        </p:spPr>
        <p:txBody>
          <a:bodyPr/>
          <a:lstStyle/>
          <a:p>
            <a:pPr algn="ctr"/>
            <a:r>
              <a:rPr kumimoji="1" lang="en-US" altLang="zh-CN" sz="2800" b="1">
                <a:solidFill>
                  <a:srgbClr val="000099"/>
                </a:solidFill>
                <a:latin typeface="微软雅黑" pitchFamily="34" charset="-122"/>
                <a:ea typeface="微软雅黑" pitchFamily="34" charset="-122"/>
              </a:rPr>
              <a:t>esi=00404006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02858"/>
                                        </p:tgtEl>
                                        <p:attrNameLst>
                                          <p:attrName>style.visibility</p:attrName>
                                        </p:attrNameLst>
                                      </p:cBhvr>
                                      <p:to>
                                        <p:strVal val="visible"/>
                                      </p:to>
                                    </p:set>
                                    <p:anim calcmode="lin" valueType="num">
                                      <p:cBhvr additive="base">
                                        <p:cTn id="7" dur="500" fill="hold"/>
                                        <p:tgtEl>
                                          <p:spTgt spid="1102858"/>
                                        </p:tgtEl>
                                        <p:attrNameLst>
                                          <p:attrName>ppt_x</p:attrName>
                                        </p:attrNameLst>
                                      </p:cBhvr>
                                      <p:tavLst>
                                        <p:tav tm="0">
                                          <p:val>
                                            <p:strVal val="0-#ppt_w/2"/>
                                          </p:val>
                                        </p:tav>
                                        <p:tav tm="100000">
                                          <p:val>
                                            <p:strVal val="#ppt_x"/>
                                          </p:val>
                                        </p:tav>
                                      </p:tavLst>
                                    </p:anim>
                                    <p:anim calcmode="lin" valueType="num">
                                      <p:cBhvr additive="base">
                                        <p:cTn id="8" dur="500" fill="hold"/>
                                        <p:tgtEl>
                                          <p:spTgt spid="110285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3" presetClass="entr" presetSubtype="10" fill="hold" grpId="0" nodeType="afterEffect">
                                  <p:stCondLst>
                                    <p:cond delay="0"/>
                                  </p:stCondLst>
                                  <p:childTnLst>
                                    <p:set>
                                      <p:cBhvr>
                                        <p:cTn id="11" dur="1" fill="hold">
                                          <p:stCondLst>
                                            <p:cond delay="0"/>
                                          </p:stCondLst>
                                        </p:cTn>
                                        <p:tgtEl>
                                          <p:spTgt spid="1102859"/>
                                        </p:tgtEl>
                                        <p:attrNameLst>
                                          <p:attrName>style.visibility</p:attrName>
                                        </p:attrNameLst>
                                      </p:cBhvr>
                                      <p:to>
                                        <p:strVal val="visible"/>
                                      </p:to>
                                    </p:set>
                                    <p:animEffect transition="in" filter="blinds(horizontal)">
                                      <p:cBhvr>
                                        <p:cTn id="12" dur="500"/>
                                        <p:tgtEl>
                                          <p:spTgt spid="110285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102852"/>
                                        </p:tgtEl>
                                        <p:attrNameLst>
                                          <p:attrName>style.visibility</p:attrName>
                                        </p:attrNameLst>
                                      </p:cBhvr>
                                      <p:to>
                                        <p:strVal val="visible"/>
                                      </p:to>
                                    </p:set>
                                    <p:anim calcmode="lin" valueType="num">
                                      <p:cBhvr additive="base">
                                        <p:cTn id="17" dur="500" fill="hold"/>
                                        <p:tgtEl>
                                          <p:spTgt spid="1102852"/>
                                        </p:tgtEl>
                                        <p:attrNameLst>
                                          <p:attrName>ppt_x</p:attrName>
                                        </p:attrNameLst>
                                      </p:cBhvr>
                                      <p:tavLst>
                                        <p:tav tm="0">
                                          <p:val>
                                            <p:strVal val="0-#ppt_w/2"/>
                                          </p:val>
                                        </p:tav>
                                        <p:tav tm="100000">
                                          <p:val>
                                            <p:strVal val="#ppt_x"/>
                                          </p:val>
                                        </p:tav>
                                      </p:tavLst>
                                    </p:anim>
                                    <p:anim calcmode="lin" valueType="num">
                                      <p:cBhvr additive="base">
                                        <p:cTn id="18" dur="500" fill="hold"/>
                                        <p:tgtEl>
                                          <p:spTgt spid="1102852"/>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499"/>
                                          </p:stCondLst>
                                        </p:cTn>
                                        <p:tgtEl>
                                          <p:spTgt spid="1102856"/>
                                        </p:tgtEl>
                                        <p:attrNameLst>
                                          <p:attrName>style.visibility</p:attrName>
                                        </p:attrNameLst>
                                      </p:cBhvr>
                                      <p:to>
                                        <p:strVal val="visible"/>
                                      </p:to>
                                    </p:se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1102855"/>
                                        </p:tgtEl>
                                        <p:attrNameLst>
                                          <p:attrName>style.visibility</p:attrName>
                                        </p:attrNameLst>
                                      </p:cBhvr>
                                      <p:to>
                                        <p:strVal val="visible"/>
                                      </p:to>
                                    </p:set>
                                    <p:animEffect transition="in" filter="wipe(left)">
                                      <p:cBhvr>
                                        <p:cTn id="25" dur="500"/>
                                        <p:tgtEl>
                                          <p:spTgt spid="1102855"/>
                                        </p:tgtEl>
                                      </p:cBhvr>
                                    </p:animEffect>
                                  </p:childTnLst>
                                </p:cTn>
                              </p:par>
                            </p:childTnLst>
                          </p:cTn>
                        </p:par>
                        <p:par>
                          <p:cTn id="26" fill="hold">
                            <p:stCondLst>
                              <p:cond delay="1500"/>
                            </p:stCondLst>
                            <p:childTnLst>
                              <p:par>
                                <p:cTn id="27" presetID="3" presetClass="entr" presetSubtype="10" fill="hold" grpId="0" nodeType="afterEffect">
                                  <p:stCondLst>
                                    <p:cond delay="0"/>
                                  </p:stCondLst>
                                  <p:childTnLst>
                                    <p:set>
                                      <p:cBhvr>
                                        <p:cTn id="28" dur="1" fill="hold">
                                          <p:stCondLst>
                                            <p:cond delay="0"/>
                                          </p:stCondLst>
                                        </p:cTn>
                                        <p:tgtEl>
                                          <p:spTgt spid="1102857"/>
                                        </p:tgtEl>
                                        <p:attrNameLst>
                                          <p:attrName>style.visibility</p:attrName>
                                        </p:attrNameLst>
                                      </p:cBhvr>
                                      <p:to>
                                        <p:strVal val="visible"/>
                                      </p:to>
                                    </p:set>
                                    <p:animEffect transition="in" filter="blinds(horizontal)">
                                      <p:cBhvr>
                                        <p:cTn id="29" dur="500"/>
                                        <p:tgtEl>
                                          <p:spTgt spid="110285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102854"/>
                                        </p:tgtEl>
                                        <p:attrNameLst>
                                          <p:attrName>style.visibility</p:attrName>
                                        </p:attrNameLst>
                                      </p:cBhvr>
                                      <p:to>
                                        <p:strVal val="visible"/>
                                      </p:to>
                                    </p:set>
                                    <p:animEffect transition="in" filter="wipe(left)">
                                      <p:cBhvr>
                                        <p:cTn id="34" dur="500"/>
                                        <p:tgtEl>
                                          <p:spTgt spid="1102854"/>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1102853"/>
                                        </p:tgtEl>
                                        <p:attrNameLst>
                                          <p:attrName>style.visibility</p:attrName>
                                        </p:attrNameLst>
                                      </p:cBhvr>
                                      <p:to>
                                        <p:strVal val="visible"/>
                                      </p:to>
                                    </p:set>
                                    <p:animEffect transition="in" filter="wipe(left)">
                                      <p:cBhvr>
                                        <p:cTn id="38" dur="500"/>
                                        <p:tgtEl>
                                          <p:spTgt spid="1102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2852" grpId="0" animBg="1"/>
      <p:bldP spid="1102853" grpId="0" animBg="1"/>
      <p:bldP spid="1102854" grpId="0" animBg="1"/>
      <p:bldP spid="1102855" grpId="0" animBg="1"/>
      <p:bldP spid="1102856" grpId="0" animBg="1" autoUpdateAnimBg="0"/>
      <p:bldP spid="1102857" grpId="0" animBg="1" autoUpdateAnimBg="0"/>
      <p:bldP spid="1102858" grpId="0" animBg="1"/>
      <p:bldP spid="1102859"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r>
              <a:rPr lang="en-US" altLang="zh-CN"/>
              <a:t>6</a:t>
            </a:r>
            <a:r>
              <a:rPr lang="zh-CN" altLang="en-US"/>
              <a:t>、基址变址寻址 </a:t>
            </a:r>
          </a:p>
        </p:txBody>
      </p:sp>
      <p:sp>
        <p:nvSpPr>
          <p:cNvPr id="137219" name="Rectangle 3"/>
          <p:cNvSpPr>
            <a:spLocks noGrp="1" noChangeArrowheads="1"/>
          </p:cNvSpPr>
          <p:nvPr>
            <p:ph idx="1"/>
          </p:nvPr>
        </p:nvSpPr>
        <p:spPr/>
        <p:txBody>
          <a:bodyPr/>
          <a:lstStyle/>
          <a:p>
            <a:r>
              <a:rPr lang="zh-CN" altLang="en-US" dirty="0"/>
              <a:t>在该寻址方式下，有效地址</a:t>
            </a:r>
            <a:r>
              <a:rPr lang="en-US" altLang="zh-CN" dirty="0"/>
              <a:t>EA</a:t>
            </a:r>
            <a:r>
              <a:rPr lang="zh-CN" altLang="en-US" dirty="0"/>
              <a:t>等于基址寄存器</a:t>
            </a:r>
            <a:r>
              <a:rPr lang="en-US" altLang="zh-CN" dirty="0"/>
              <a:t>BR</a:t>
            </a:r>
            <a:r>
              <a:rPr lang="zh-CN" altLang="en-US" dirty="0"/>
              <a:t>的内容与变址寄存器</a:t>
            </a:r>
            <a:r>
              <a:rPr lang="en-US" altLang="zh-CN" dirty="0"/>
              <a:t>IR</a:t>
            </a:r>
            <a:r>
              <a:rPr lang="zh-CN" altLang="en-US" dirty="0"/>
              <a:t>的和</a:t>
            </a:r>
          </a:p>
          <a:p>
            <a:endParaRPr lang="zh-CN" altLang="en-US" dirty="0"/>
          </a:p>
          <a:p>
            <a:endParaRPr lang="zh-CN" altLang="en-US" dirty="0"/>
          </a:p>
          <a:p>
            <a:r>
              <a:rPr lang="zh-CN" altLang="en-US" dirty="0"/>
              <a:t>例 </a:t>
            </a:r>
            <a:r>
              <a:rPr lang="en-US" altLang="zh-CN" dirty="0"/>
              <a:t>	MOV 	AX</a:t>
            </a:r>
            <a:r>
              <a:rPr lang="zh-CN" altLang="en-US" dirty="0"/>
              <a:t>，</a:t>
            </a:r>
            <a:r>
              <a:rPr lang="en-US" altLang="zh-CN" dirty="0"/>
              <a:t>[EBX][ESI]</a:t>
            </a:r>
          </a:p>
          <a:p>
            <a:pPr>
              <a:buFont typeface="Wingdings" pitchFamily="2" charset="2"/>
              <a:buNone/>
            </a:pPr>
            <a:r>
              <a:rPr lang="en-US" altLang="zh-CN" dirty="0"/>
              <a:t>	</a:t>
            </a:r>
            <a:r>
              <a:rPr lang="zh-CN" altLang="en-US" dirty="0"/>
              <a:t>（或则写为</a:t>
            </a:r>
            <a:r>
              <a:rPr lang="en-US" altLang="zh-CN" dirty="0"/>
              <a:t>MOV AX</a:t>
            </a:r>
            <a:r>
              <a:rPr lang="zh-CN" altLang="en-US" dirty="0"/>
              <a:t>，</a:t>
            </a:r>
            <a:r>
              <a:rPr lang="en-US" altLang="zh-CN" dirty="0"/>
              <a:t>[EBX+ESI]</a:t>
            </a:r>
            <a:r>
              <a:rPr lang="zh-CN" altLang="en-US" dirty="0" smtClean="0"/>
              <a:t>）</a:t>
            </a:r>
            <a:endParaRPr lang="en-US" altLang="zh-CN" dirty="0" smtClean="0"/>
          </a:p>
          <a:p>
            <a:r>
              <a:rPr lang="zh-CN" altLang="en-US" dirty="0" smtClean="0"/>
              <a:t>任意</a:t>
            </a:r>
            <a:r>
              <a:rPr lang="en-US" altLang="zh-CN" dirty="0" smtClean="0"/>
              <a:t>32</a:t>
            </a:r>
            <a:r>
              <a:rPr lang="zh-CN" altLang="en-US" dirty="0" smtClean="0"/>
              <a:t>位通用寄存器都能作为基址寄存器</a:t>
            </a:r>
            <a:endParaRPr lang="en-US" altLang="zh-CN" dirty="0" smtClean="0"/>
          </a:p>
          <a:p>
            <a:r>
              <a:rPr lang="zh-CN" altLang="en-US" dirty="0" smtClean="0">
                <a:solidFill>
                  <a:srgbClr val="FF0000"/>
                </a:solidFill>
              </a:rPr>
              <a:t>除</a:t>
            </a:r>
            <a:r>
              <a:rPr lang="en-US" altLang="zh-CN" dirty="0" smtClean="0">
                <a:solidFill>
                  <a:srgbClr val="FF0000"/>
                </a:solidFill>
              </a:rPr>
              <a:t>ESP</a:t>
            </a:r>
            <a:r>
              <a:rPr lang="zh-CN" altLang="en-US" dirty="0" smtClean="0">
                <a:solidFill>
                  <a:srgbClr val="FF0000"/>
                </a:solidFill>
              </a:rPr>
              <a:t>以外</a:t>
            </a:r>
            <a:r>
              <a:rPr lang="zh-CN" altLang="en-US" dirty="0" smtClean="0"/>
              <a:t>，任意</a:t>
            </a:r>
            <a:r>
              <a:rPr lang="en-US" altLang="zh-CN" dirty="0" smtClean="0"/>
              <a:t>32</a:t>
            </a:r>
            <a:r>
              <a:rPr lang="zh-CN" altLang="en-US" dirty="0" smtClean="0"/>
              <a:t>位通用寄存器都能作为变址寄存器</a:t>
            </a:r>
            <a:endParaRPr lang="zh-CN" altLang="en-US" dirty="0"/>
          </a:p>
        </p:txBody>
      </p:sp>
      <p:sp>
        <p:nvSpPr>
          <p:cNvPr id="137221" name="Text Box 4"/>
          <p:cNvSpPr txBox="1">
            <a:spLocks noChangeArrowheads="1"/>
          </p:cNvSpPr>
          <p:nvPr/>
        </p:nvSpPr>
        <p:spPr bwMode="auto">
          <a:xfrm>
            <a:off x="912813" y="2924175"/>
            <a:ext cx="7527925" cy="669925"/>
          </a:xfrm>
          <a:prstGeom prst="rect">
            <a:avLst/>
          </a:prstGeom>
          <a:solidFill>
            <a:srgbClr val="ECD8C4"/>
          </a:solidFill>
          <a:ln w="28575">
            <a:solidFill>
              <a:schemeClr val="hlink"/>
            </a:solidFill>
            <a:miter lim="800000"/>
            <a:headEnd/>
            <a:tailEnd/>
          </a:ln>
        </p:spPr>
        <p:txBody>
          <a:bodyPr wrap="none">
            <a:spAutoFit/>
          </a:bodyPr>
          <a:lstStyle/>
          <a:p>
            <a:pPr algn="ctr">
              <a:spcBef>
                <a:spcPct val="20000"/>
              </a:spcBef>
              <a:buClr>
                <a:schemeClr val="folHlink"/>
              </a:buClr>
              <a:buFont typeface="Wingdings" pitchFamily="2" charset="2"/>
              <a:buNone/>
            </a:pPr>
            <a:r>
              <a:rPr kumimoji="1" lang="zh-CN" altLang="en-US" sz="3600" b="1">
                <a:latin typeface="微软雅黑" pitchFamily="34" charset="-122"/>
                <a:ea typeface="微软雅黑" pitchFamily="34" charset="-122"/>
              </a:rPr>
              <a:t>有效地址＝基址寄存器</a:t>
            </a:r>
            <a:r>
              <a:rPr kumimoji="1" lang="en-US" altLang="zh-CN" sz="3600" b="1">
                <a:latin typeface="微软雅黑" pitchFamily="34" charset="-122"/>
                <a:ea typeface="微软雅黑" pitchFamily="34" charset="-122"/>
              </a:rPr>
              <a:t>+</a:t>
            </a:r>
            <a:r>
              <a:rPr kumimoji="1" lang="zh-CN" altLang="en-US" sz="3600" b="1">
                <a:latin typeface="微软雅黑" pitchFamily="34" charset="-122"/>
                <a:ea typeface="微软雅黑" pitchFamily="34" charset="-122"/>
              </a:rPr>
              <a:t>变址寄存器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ChangeArrowheads="1"/>
          </p:cNvSpPr>
          <p:nvPr>
            <p:ph type="title" idx="4294967295"/>
          </p:nvPr>
        </p:nvSpPr>
        <p:spPr>
          <a:xfrm>
            <a:off x="692150" y="561975"/>
            <a:ext cx="8451850" cy="665163"/>
          </a:xfrm>
        </p:spPr>
        <p:txBody>
          <a:bodyPr anchor="ctr"/>
          <a:lstStyle/>
          <a:p>
            <a:r>
              <a:rPr lang="zh-CN" altLang="en-US" sz="3500">
                <a:solidFill>
                  <a:srgbClr val="FF0000"/>
                </a:solidFill>
                <a:latin typeface="微软雅黑" pitchFamily="34" charset="-122"/>
                <a:ea typeface="微软雅黑" pitchFamily="34" charset="-122"/>
              </a:rPr>
              <a:t>例：基址变址寻址方式</a:t>
            </a:r>
            <a:endParaRPr lang="zh-CN" altLang="en-US" sz="3500">
              <a:latin typeface="微软雅黑" pitchFamily="34" charset="-122"/>
              <a:ea typeface="微软雅黑" pitchFamily="34" charset="-122"/>
            </a:endParaRPr>
          </a:p>
        </p:txBody>
      </p:sp>
      <p:sp>
        <p:nvSpPr>
          <p:cNvPr id="287747" name="AutoShape 3"/>
          <p:cNvSpPr>
            <a:spLocks noChangeArrowheads="1"/>
          </p:cNvSpPr>
          <p:nvPr/>
        </p:nvSpPr>
        <p:spPr bwMode="auto">
          <a:xfrm>
            <a:off x="609600" y="1227138"/>
            <a:ext cx="7924800" cy="5249862"/>
          </a:xfrm>
          <a:prstGeom prst="flowChartAlternateProcess">
            <a:avLst/>
          </a:prstGeom>
          <a:solidFill>
            <a:srgbClr val="ECD8C4"/>
          </a:solidFill>
          <a:ln w="57150" cmpd="thinThick">
            <a:solidFill>
              <a:schemeClr val="tx2"/>
            </a:solidFill>
            <a:miter lim="800000"/>
            <a:headEnd/>
            <a:tailEnd/>
          </a:ln>
        </p:spPr>
        <p:txBody>
          <a:bodyPr wrap="none" anchor="ctr"/>
          <a:lstStyle/>
          <a:p>
            <a:pPr>
              <a:lnSpc>
                <a:spcPct val="110000"/>
              </a:lnSpc>
            </a:pPr>
            <a:r>
              <a:rPr kumimoji="1" lang="en-US" altLang="zh-CN" b="1" dirty="0">
                <a:latin typeface="微软雅黑" pitchFamily="34" charset="-122"/>
                <a:ea typeface="微软雅黑" pitchFamily="34" charset="-122"/>
              </a:rPr>
              <a:t> .386</a:t>
            </a:r>
          </a:p>
          <a:p>
            <a:pPr>
              <a:lnSpc>
                <a:spcPct val="110000"/>
              </a:lnSpc>
            </a:pPr>
            <a:r>
              <a:rPr kumimoji="1" lang="en-US" altLang="zh-CN" b="1" dirty="0">
                <a:latin typeface="微软雅黑" pitchFamily="34" charset="-122"/>
                <a:ea typeface="微软雅黑" pitchFamily="34" charset="-122"/>
              </a:rPr>
              <a:t>.model flat, </a:t>
            </a:r>
            <a:r>
              <a:rPr kumimoji="1" lang="en-US" altLang="zh-CN" b="1" dirty="0" err="1">
                <a:latin typeface="微软雅黑" pitchFamily="34" charset="-122"/>
                <a:ea typeface="微软雅黑" pitchFamily="34" charset="-122"/>
              </a:rPr>
              <a:t>stdcall</a:t>
            </a:r>
            <a:endParaRPr kumimoji="1" lang="en-US" altLang="zh-CN" b="1" dirty="0">
              <a:latin typeface="微软雅黑" pitchFamily="34" charset="-122"/>
              <a:ea typeface="微软雅黑" pitchFamily="34" charset="-122"/>
            </a:endParaRPr>
          </a:p>
          <a:p>
            <a:pPr>
              <a:lnSpc>
                <a:spcPct val="110000"/>
              </a:lnSpc>
            </a:pPr>
            <a:r>
              <a:rPr kumimoji="1" lang="en-US" altLang="zh-CN" b="1" dirty="0">
                <a:latin typeface="微软雅黑" pitchFamily="34" charset="-122"/>
                <a:ea typeface="微软雅黑" pitchFamily="34" charset="-122"/>
              </a:rPr>
              <a:t>.data</a:t>
            </a:r>
          </a:p>
          <a:p>
            <a:pPr>
              <a:lnSpc>
                <a:spcPct val="110000"/>
              </a:lnSpc>
            </a:pPr>
            <a:r>
              <a:rPr kumimoji="1" lang="en-US" altLang="zh-CN" b="1" dirty="0">
                <a:latin typeface="微软雅黑" pitchFamily="34" charset="-122"/>
                <a:ea typeface="微软雅黑" pitchFamily="34" charset="-122"/>
              </a:rPr>
              <a:t>   array1 byte 1,2,3,4,5,6,7</a:t>
            </a:r>
          </a:p>
          <a:p>
            <a:pPr>
              <a:lnSpc>
                <a:spcPct val="110000"/>
              </a:lnSpc>
            </a:pPr>
            <a:r>
              <a:rPr kumimoji="1" lang="en-US" altLang="zh-CN" b="1" dirty="0">
                <a:latin typeface="微软雅黑" pitchFamily="34" charset="-122"/>
                <a:ea typeface="微软雅黑" pitchFamily="34" charset="-122"/>
              </a:rPr>
              <a:t>   array2 byte 8,9,10,11,12,13,14</a:t>
            </a:r>
          </a:p>
          <a:p>
            <a:pPr>
              <a:lnSpc>
                <a:spcPct val="110000"/>
              </a:lnSpc>
            </a:pPr>
            <a:r>
              <a:rPr kumimoji="1" lang="en-US" altLang="zh-CN" b="1" dirty="0">
                <a:latin typeface="微软雅黑" pitchFamily="34" charset="-122"/>
                <a:ea typeface="微软雅黑" pitchFamily="34" charset="-122"/>
              </a:rPr>
              <a:t>   array_end equ $-1 </a:t>
            </a:r>
          </a:p>
          <a:p>
            <a:pPr>
              <a:lnSpc>
                <a:spcPct val="110000"/>
              </a:lnSpc>
            </a:pPr>
            <a:r>
              <a:rPr kumimoji="1" lang="en-US" altLang="zh-CN" b="1" dirty="0">
                <a:latin typeface="微软雅黑" pitchFamily="34" charset="-122"/>
                <a:ea typeface="微软雅黑" pitchFamily="34" charset="-122"/>
              </a:rPr>
              <a:t>.code</a:t>
            </a:r>
          </a:p>
          <a:p>
            <a:pPr>
              <a:lnSpc>
                <a:spcPct val="110000"/>
              </a:lnSpc>
            </a:pPr>
            <a:r>
              <a:rPr kumimoji="1" lang="en-US" altLang="zh-CN" b="1" dirty="0">
                <a:latin typeface="微软雅黑" pitchFamily="34" charset="-122"/>
                <a:ea typeface="微软雅黑" pitchFamily="34" charset="-122"/>
              </a:rPr>
              <a:t>	start:		</a:t>
            </a:r>
          </a:p>
          <a:p>
            <a:pPr>
              <a:lnSpc>
                <a:spcPct val="110000"/>
              </a:lnSpc>
            </a:pPr>
            <a:r>
              <a:rPr kumimoji="1" lang="en-US" altLang="zh-CN" b="1" dirty="0">
                <a:latin typeface="微软雅黑" pitchFamily="34" charset="-122"/>
                <a:ea typeface="微软雅黑" pitchFamily="34" charset="-122"/>
              </a:rPr>
              <a:t> 	mov </a:t>
            </a:r>
            <a:r>
              <a:rPr kumimoji="1" lang="en-US" altLang="zh-CN" b="1" dirty="0" err="1">
                <a:latin typeface="微软雅黑" pitchFamily="34" charset="-122"/>
                <a:ea typeface="微软雅黑" pitchFamily="34" charset="-122"/>
              </a:rPr>
              <a:t>ebx</a:t>
            </a:r>
            <a:r>
              <a:rPr kumimoji="1" lang="en-US" altLang="zh-CN" b="1" dirty="0">
                <a:latin typeface="微软雅黑" pitchFamily="34" charset="-122"/>
                <a:ea typeface="微软雅黑" pitchFamily="34" charset="-122"/>
              </a:rPr>
              <a:t>, offset array1</a:t>
            </a:r>
          </a:p>
          <a:p>
            <a:pPr>
              <a:lnSpc>
                <a:spcPct val="110000"/>
              </a:lnSpc>
            </a:pPr>
            <a:r>
              <a:rPr kumimoji="1" lang="en-US" altLang="zh-CN" b="1" dirty="0">
                <a:latin typeface="微软雅黑" pitchFamily="34" charset="-122"/>
                <a:ea typeface="微软雅黑" pitchFamily="34" charset="-122"/>
              </a:rPr>
              <a:t>             </a:t>
            </a:r>
            <a:r>
              <a:rPr kumimoji="1" lang="en-US" altLang="zh-CN" b="1" dirty="0" err="1">
                <a:latin typeface="微软雅黑" pitchFamily="34" charset="-122"/>
                <a:ea typeface="微软雅黑" pitchFamily="34" charset="-122"/>
              </a:rPr>
              <a:t>mov</a:t>
            </a:r>
            <a:r>
              <a:rPr kumimoji="1" lang="en-US" altLang="zh-CN" b="1" dirty="0">
                <a:latin typeface="微软雅黑" pitchFamily="34" charset="-122"/>
                <a:ea typeface="微软雅黑" pitchFamily="34" charset="-122"/>
              </a:rPr>
              <a:t> esi,1</a:t>
            </a:r>
          </a:p>
          <a:p>
            <a:pPr>
              <a:lnSpc>
                <a:spcPct val="110000"/>
              </a:lnSpc>
            </a:pPr>
            <a:r>
              <a:rPr kumimoji="1" lang="en-US" altLang="zh-CN" b="1" dirty="0">
                <a:latin typeface="微软雅黑" pitchFamily="34" charset="-122"/>
                <a:ea typeface="微软雅黑" pitchFamily="34" charset="-122"/>
              </a:rPr>
              <a:t>             mov al, [</a:t>
            </a:r>
            <a:r>
              <a:rPr kumimoji="1" lang="en-US" altLang="zh-CN" b="1" dirty="0" err="1">
                <a:latin typeface="微软雅黑" pitchFamily="34" charset="-122"/>
                <a:ea typeface="微软雅黑" pitchFamily="34" charset="-122"/>
              </a:rPr>
              <a:t>ebx+esi</a:t>
            </a:r>
            <a:r>
              <a:rPr kumimoji="1" lang="en-US" altLang="zh-CN" b="1" dirty="0">
                <a:latin typeface="微软雅黑" pitchFamily="34" charset="-122"/>
                <a:ea typeface="微软雅黑" pitchFamily="34" charset="-122"/>
              </a:rPr>
              <a:t>]   </a:t>
            </a:r>
            <a:r>
              <a:rPr kumimoji="1" lang="zh-CN" altLang="en-US" b="1" dirty="0">
                <a:latin typeface="微软雅黑" pitchFamily="34" charset="-122"/>
                <a:ea typeface="微软雅黑" pitchFamily="34" charset="-122"/>
              </a:rPr>
              <a:t>；也可以写成 </a:t>
            </a:r>
            <a:r>
              <a:rPr kumimoji="1" lang="en-US" altLang="zh-CN" b="1" dirty="0" err="1">
                <a:latin typeface="微软雅黑" pitchFamily="34" charset="-122"/>
                <a:ea typeface="微软雅黑" pitchFamily="34" charset="-122"/>
              </a:rPr>
              <a:t>mov</a:t>
            </a:r>
            <a:r>
              <a:rPr kumimoji="1" lang="en-US" altLang="zh-CN" b="1" dirty="0">
                <a:latin typeface="微软雅黑" pitchFamily="34" charset="-122"/>
                <a:ea typeface="微软雅黑" pitchFamily="34" charset="-122"/>
              </a:rPr>
              <a:t> al, [</a:t>
            </a:r>
            <a:r>
              <a:rPr kumimoji="1" lang="en-US" altLang="zh-CN" b="1" dirty="0" err="1">
                <a:latin typeface="微软雅黑" pitchFamily="34" charset="-122"/>
                <a:ea typeface="微软雅黑" pitchFamily="34" charset="-122"/>
              </a:rPr>
              <a:t>ebx</a:t>
            </a:r>
            <a:r>
              <a:rPr kumimoji="1" lang="en-US" altLang="zh-CN" b="1" dirty="0">
                <a:latin typeface="微软雅黑" pitchFamily="34" charset="-122"/>
                <a:ea typeface="微软雅黑" pitchFamily="34" charset="-122"/>
              </a:rPr>
              <a:t>][</a:t>
            </a:r>
            <a:r>
              <a:rPr kumimoji="1" lang="en-US" altLang="zh-CN" b="1" dirty="0" err="1">
                <a:latin typeface="微软雅黑" pitchFamily="34" charset="-122"/>
                <a:ea typeface="微软雅黑" pitchFamily="34" charset="-122"/>
              </a:rPr>
              <a:t>esi</a:t>
            </a:r>
            <a:r>
              <a:rPr kumimoji="1" lang="en-US" altLang="zh-CN" b="1" dirty="0">
                <a:latin typeface="微软雅黑" pitchFamily="34" charset="-122"/>
                <a:ea typeface="微软雅黑" pitchFamily="34" charset="-122"/>
              </a:rPr>
              <a:t>]</a:t>
            </a:r>
          </a:p>
          <a:p>
            <a:pPr>
              <a:lnSpc>
                <a:spcPct val="110000"/>
              </a:lnSpc>
            </a:pPr>
            <a:r>
              <a:rPr kumimoji="1" lang="en-US" altLang="zh-CN" b="1" dirty="0">
                <a:latin typeface="微软雅黑" pitchFamily="34" charset="-122"/>
                <a:ea typeface="微软雅黑" pitchFamily="34" charset="-122"/>
              </a:rPr>
              <a:t>             </a:t>
            </a:r>
            <a:r>
              <a:rPr kumimoji="1" lang="en-US" altLang="zh-CN" b="1" dirty="0" err="1">
                <a:latin typeface="微软雅黑" pitchFamily="34" charset="-122"/>
                <a:ea typeface="微软雅黑" pitchFamily="34" charset="-122"/>
              </a:rPr>
              <a:t>mov</a:t>
            </a:r>
            <a:r>
              <a:rPr kumimoji="1" lang="en-US" altLang="zh-CN" b="1" dirty="0">
                <a:latin typeface="微软雅黑" pitchFamily="34" charset="-122"/>
                <a:ea typeface="微软雅黑" pitchFamily="34" charset="-122"/>
              </a:rPr>
              <a:t> </a:t>
            </a:r>
            <a:r>
              <a:rPr kumimoji="1" lang="en-US" altLang="zh-CN" b="1" dirty="0" err="1">
                <a:latin typeface="微软雅黑" pitchFamily="34" charset="-122"/>
                <a:ea typeface="微软雅黑" pitchFamily="34" charset="-122"/>
              </a:rPr>
              <a:t>ebx</a:t>
            </a:r>
            <a:r>
              <a:rPr kumimoji="1" lang="en-US" altLang="zh-CN" b="1" dirty="0">
                <a:latin typeface="微软雅黑" pitchFamily="34" charset="-122"/>
                <a:ea typeface="微软雅黑" pitchFamily="34" charset="-122"/>
              </a:rPr>
              <a:t>, offset array2</a:t>
            </a:r>
          </a:p>
          <a:p>
            <a:pPr>
              <a:lnSpc>
                <a:spcPct val="110000"/>
              </a:lnSpc>
            </a:pPr>
            <a:r>
              <a:rPr kumimoji="1" lang="en-US" altLang="zh-CN" b="1" dirty="0">
                <a:latin typeface="微软雅黑" pitchFamily="34" charset="-122"/>
                <a:ea typeface="微软雅黑" pitchFamily="34" charset="-122"/>
              </a:rPr>
              <a:t>             mov al, [</a:t>
            </a:r>
            <a:r>
              <a:rPr kumimoji="1" lang="en-US" altLang="zh-CN" b="1" dirty="0" err="1">
                <a:latin typeface="微软雅黑" pitchFamily="34" charset="-122"/>
                <a:ea typeface="微软雅黑" pitchFamily="34" charset="-122"/>
              </a:rPr>
              <a:t>ebx+esi</a:t>
            </a:r>
            <a:r>
              <a:rPr kumimoji="1" lang="en-US" altLang="zh-CN" b="1" dirty="0">
                <a:latin typeface="微软雅黑" pitchFamily="34" charset="-122"/>
                <a:ea typeface="微软雅黑" pitchFamily="34" charset="-122"/>
              </a:rPr>
              <a:t>]</a:t>
            </a:r>
          </a:p>
          <a:p>
            <a:pPr>
              <a:lnSpc>
                <a:spcPct val="110000"/>
              </a:lnSpc>
            </a:pPr>
            <a:r>
              <a:rPr kumimoji="1" lang="en-US" altLang="zh-CN" b="1" dirty="0">
                <a:latin typeface="微软雅黑" pitchFamily="34" charset="-122"/>
                <a:ea typeface="微软雅黑" pitchFamily="34" charset="-122"/>
              </a:rPr>
              <a:t>   	ret	;</a:t>
            </a:r>
            <a:r>
              <a:rPr kumimoji="1" lang="zh-CN" altLang="en-US" b="1" dirty="0">
                <a:latin typeface="微软雅黑" pitchFamily="34" charset="-122"/>
                <a:ea typeface="微软雅黑" pitchFamily="34" charset="-122"/>
              </a:rPr>
              <a:t>返回操作系统</a:t>
            </a:r>
          </a:p>
          <a:p>
            <a:pPr>
              <a:lnSpc>
                <a:spcPct val="110000"/>
              </a:lnSpc>
            </a:pPr>
            <a:r>
              <a:rPr kumimoji="1" lang="zh-CN" altLang="en-US" b="1" dirty="0">
                <a:latin typeface="微软雅黑" pitchFamily="34" charset="-122"/>
                <a:ea typeface="微软雅黑" pitchFamily="34" charset="-122"/>
              </a:rPr>
              <a:t>	</a:t>
            </a:r>
            <a:r>
              <a:rPr kumimoji="1" lang="en-US" altLang="zh-CN" b="1" dirty="0">
                <a:latin typeface="微软雅黑" pitchFamily="34" charset="-122"/>
                <a:ea typeface="微软雅黑" pitchFamily="34" charset="-122"/>
              </a:rPr>
              <a:t>end start	;</a:t>
            </a:r>
            <a:r>
              <a:rPr kumimoji="1" lang="zh-CN" altLang="en-US" b="1" dirty="0">
                <a:latin typeface="微软雅黑" pitchFamily="34" charset="-122"/>
                <a:ea typeface="微软雅黑" pitchFamily="34" charset="-122"/>
              </a:rPr>
              <a:t>汇编结束</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灯片编号占位符 4"/>
          <p:cNvSpPr txBox="1">
            <a:spLocks noGrp="1"/>
          </p:cNvSpPr>
          <p:nvPr/>
        </p:nvSpPr>
        <p:spPr bwMode="auto">
          <a:xfrm>
            <a:off x="6553200" y="6248400"/>
            <a:ext cx="2133600" cy="457200"/>
          </a:xfrm>
          <a:prstGeom prst="rect">
            <a:avLst/>
          </a:prstGeom>
          <a:noFill/>
          <a:ln w="9525">
            <a:noFill/>
            <a:miter lim="800000"/>
            <a:headEnd/>
            <a:tailEnd/>
          </a:ln>
        </p:spPr>
        <p:txBody>
          <a:bodyPr anchor="b"/>
          <a:lstStyle/>
          <a:p>
            <a:pPr algn="r"/>
            <a:fld id="{B6FD51B2-E057-4796-8E7B-65186CF49439}" type="slidenum">
              <a:rPr lang="en-US" altLang="zh-CN" sz="1200">
                <a:latin typeface="微软雅黑" pitchFamily="34" charset="-122"/>
                <a:ea typeface="微软雅黑" pitchFamily="34" charset="-122"/>
              </a:rPr>
              <a:pPr algn="r"/>
              <a:t>24</a:t>
            </a:fld>
            <a:endParaRPr lang="en-US" altLang="zh-CN" sz="1200">
              <a:latin typeface="微软雅黑" pitchFamily="34" charset="-122"/>
              <a:ea typeface="微软雅黑" pitchFamily="34" charset="-122"/>
            </a:endParaRPr>
          </a:p>
        </p:txBody>
      </p:sp>
      <p:sp>
        <p:nvSpPr>
          <p:cNvPr id="288771" name="日期占位符 5"/>
          <p:cNvSpPr txBox="1">
            <a:spLocks noGrp="1"/>
          </p:cNvSpPr>
          <p:nvPr/>
        </p:nvSpPr>
        <p:spPr bwMode="auto">
          <a:xfrm>
            <a:off x="893763" y="6245225"/>
            <a:ext cx="1697037" cy="476250"/>
          </a:xfrm>
          <a:prstGeom prst="rect">
            <a:avLst/>
          </a:prstGeom>
          <a:noFill/>
          <a:ln w="9525">
            <a:noFill/>
            <a:miter lim="800000"/>
            <a:headEnd/>
            <a:tailEnd/>
          </a:ln>
        </p:spPr>
        <p:txBody>
          <a:bodyPr anchor="b"/>
          <a:lstStyle/>
          <a:p>
            <a:fld id="{6E17383A-37B2-45EF-AC60-77FDD198FCEC}" type="datetime1">
              <a:rPr lang="zh-CN" altLang="en-US" sz="1200">
                <a:latin typeface="微软雅黑" pitchFamily="34" charset="-122"/>
                <a:ea typeface="微软雅黑" pitchFamily="34" charset="-122"/>
              </a:rPr>
              <a:pPr/>
              <a:t>2019/2/25</a:t>
            </a:fld>
            <a:endParaRPr lang="en-US" altLang="zh-CN" sz="1200">
              <a:latin typeface="微软雅黑" pitchFamily="34" charset="-122"/>
              <a:ea typeface="微软雅黑" pitchFamily="34" charset="-122"/>
            </a:endParaRPr>
          </a:p>
        </p:txBody>
      </p:sp>
      <p:sp>
        <p:nvSpPr>
          <p:cNvPr id="288772" name="Rectangle 2"/>
          <p:cNvSpPr>
            <a:spLocks noGrp="1" noChangeArrowheads="1"/>
          </p:cNvSpPr>
          <p:nvPr>
            <p:ph type="title" idx="4294967295"/>
          </p:nvPr>
        </p:nvSpPr>
        <p:spPr>
          <a:xfrm>
            <a:off x="838200" y="619125"/>
            <a:ext cx="8305800" cy="608013"/>
          </a:xfrm>
        </p:spPr>
        <p:txBody>
          <a:bodyPr anchor="ctr">
            <a:normAutofit fontScale="90000"/>
          </a:bodyPr>
          <a:lstStyle/>
          <a:p>
            <a:r>
              <a:rPr lang="zh-CN" altLang="en-US" sz="3500" dirty="0">
                <a:solidFill>
                  <a:srgbClr val="FF0000"/>
                </a:solidFill>
                <a:latin typeface="微软雅黑" pitchFamily="34" charset="-122"/>
                <a:ea typeface="微软雅黑" pitchFamily="34" charset="-122"/>
              </a:rPr>
              <a:t>例：</a:t>
            </a:r>
            <a:r>
              <a:rPr lang="en-US" altLang="zh-CN" sz="3500" dirty="0">
                <a:solidFill>
                  <a:srgbClr val="FF0000"/>
                </a:solidFill>
                <a:latin typeface="微软雅黑" pitchFamily="34" charset="-122"/>
                <a:ea typeface="微软雅黑" pitchFamily="34" charset="-122"/>
              </a:rPr>
              <a:t>mov </a:t>
            </a:r>
            <a:r>
              <a:rPr lang="en-US" altLang="zh-CN" sz="3500" dirty="0" err="1">
                <a:solidFill>
                  <a:srgbClr val="FF0000"/>
                </a:solidFill>
                <a:latin typeface="微软雅黑" pitchFamily="34" charset="-122"/>
                <a:ea typeface="微软雅黑" pitchFamily="34" charset="-122"/>
              </a:rPr>
              <a:t>ebx</a:t>
            </a:r>
            <a:r>
              <a:rPr lang="en-US" altLang="zh-CN" sz="3500" dirty="0">
                <a:solidFill>
                  <a:srgbClr val="FF0000"/>
                </a:solidFill>
                <a:latin typeface="微软雅黑" pitchFamily="34" charset="-122"/>
                <a:ea typeface="微软雅黑" pitchFamily="34" charset="-122"/>
              </a:rPr>
              <a:t>, offset array1</a:t>
            </a:r>
          </a:p>
        </p:txBody>
      </p:sp>
      <p:pic>
        <p:nvPicPr>
          <p:cNvPr id="288773" name="Picture 3" descr="2007-07-05_20-51-01"/>
          <p:cNvPicPr>
            <a:picLocks noChangeAspect="1" noChangeArrowheads="1"/>
          </p:cNvPicPr>
          <p:nvPr/>
        </p:nvPicPr>
        <p:blipFill>
          <a:blip r:embed="rId2" cstate="print"/>
          <a:srcRect/>
          <a:stretch>
            <a:fillRect/>
          </a:stretch>
        </p:blipFill>
        <p:spPr bwMode="auto">
          <a:xfrm>
            <a:off x="0" y="1323975"/>
            <a:ext cx="9144000" cy="5534025"/>
          </a:xfrm>
          <a:prstGeom prst="rect">
            <a:avLst/>
          </a:prstGeom>
          <a:noFill/>
          <a:ln w="9525">
            <a:noFill/>
            <a:miter lim="800000"/>
            <a:headEnd/>
            <a:tailEnd/>
          </a:ln>
        </p:spPr>
      </p:pic>
      <p:sp>
        <p:nvSpPr>
          <p:cNvPr id="288774" name="Rectangle 4"/>
          <p:cNvSpPr>
            <a:spLocks noChangeArrowheads="1"/>
          </p:cNvSpPr>
          <p:nvPr/>
        </p:nvSpPr>
        <p:spPr bwMode="auto">
          <a:xfrm>
            <a:off x="2286000" y="1676400"/>
            <a:ext cx="22860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06949" name="Line 5"/>
          <p:cNvSpPr>
            <a:spLocks noChangeShapeType="1"/>
          </p:cNvSpPr>
          <p:nvPr/>
        </p:nvSpPr>
        <p:spPr bwMode="auto">
          <a:xfrm flipH="1">
            <a:off x="1981200" y="2209800"/>
            <a:ext cx="1752600" cy="3581400"/>
          </a:xfrm>
          <a:prstGeom prst="line">
            <a:avLst/>
          </a:prstGeom>
          <a:noFill/>
          <a:ln w="57150">
            <a:solidFill>
              <a:srgbClr val="005A42"/>
            </a:solidFill>
            <a:round/>
            <a:headEnd type="triangle" w="med" len="med"/>
            <a:tailEnd type="triangle" w="med" len="med"/>
          </a:ln>
        </p:spPr>
        <p:txBody>
          <a:bodyPr wrap="none"/>
          <a:lstStyle/>
          <a:p>
            <a:endParaRPr lang="zh-CN" altLang="en-US"/>
          </a:p>
        </p:txBody>
      </p:sp>
      <p:sp>
        <p:nvSpPr>
          <p:cNvPr id="1106950" name="Line 6"/>
          <p:cNvSpPr>
            <a:spLocks noChangeShapeType="1"/>
          </p:cNvSpPr>
          <p:nvPr/>
        </p:nvSpPr>
        <p:spPr bwMode="auto">
          <a:xfrm flipV="1">
            <a:off x="2057400" y="2743200"/>
            <a:ext cx="3886200" cy="3048000"/>
          </a:xfrm>
          <a:prstGeom prst="line">
            <a:avLst/>
          </a:prstGeom>
          <a:noFill/>
          <a:ln w="57150">
            <a:solidFill>
              <a:srgbClr val="005A42"/>
            </a:solidFill>
            <a:round/>
            <a:headEnd/>
            <a:tailEnd type="triangle" w="med" len="med"/>
          </a:ln>
        </p:spPr>
        <p:txBody>
          <a:bodyPr wrap="none"/>
          <a:lstStyle/>
          <a:p>
            <a:endParaRPr lang="zh-CN" altLang="en-US"/>
          </a:p>
        </p:txBody>
      </p:sp>
      <p:sp>
        <p:nvSpPr>
          <p:cNvPr id="1106951" name="Rectangle 7"/>
          <p:cNvSpPr>
            <a:spLocks noChangeArrowheads="1"/>
          </p:cNvSpPr>
          <p:nvPr/>
        </p:nvSpPr>
        <p:spPr bwMode="auto">
          <a:xfrm>
            <a:off x="5715000" y="2209800"/>
            <a:ext cx="30480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06952" name="AutoShape 8"/>
          <p:cNvSpPr>
            <a:spLocks noChangeArrowheads="1"/>
          </p:cNvSpPr>
          <p:nvPr/>
        </p:nvSpPr>
        <p:spPr bwMode="auto">
          <a:xfrm>
            <a:off x="304800" y="2209800"/>
            <a:ext cx="2133600" cy="1066800"/>
          </a:xfrm>
          <a:prstGeom prst="wedgeEllipseCallout">
            <a:avLst>
              <a:gd name="adj1" fmla="val 70981"/>
              <a:gd name="adj2" fmla="val -51787"/>
            </a:avLst>
          </a:prstGeom>
          <a:solidFill>
            <a:srgbClr val="ECD8C4"/>
          </a:solidFill>
          <a:ln w="38100">
            <a:solidFill>
              <a:srgbClr val="005A42"/>
            </a:solidFill>
            <a:miter lim="800000"/>
            <a:headEnd/>
            <a:tailEnd/>
          </a:ln>
        </p:spPr>
        <p:txBody>
          <a:bodyPr/>
          <a:lstStyle/>
          <a:p>
            <a:pPr algn="ctr"/>
            <a:r>
              <a:rPr kumimoji="1" lang="zh-CN" altLang="en-US" sz="2800" b="1">
                <a:solidFill>
                  <a:srgbClr val="000099"/>
                </a:solidFill>
                <a:latin typeface="微软雅黑" pitchFamily="34" charset="-122"/>
                <a:ea typeface="微软雅黑" pitchFamily="34" charset="-122"/>
              </a:rPr>
              <a:t>直接寻址</a:t>
            </a:r>
          </a:p>
        </p:txBody>
      </p:sp>
      <p:sp>
        <p:nvSpPr>
          <p:cNvPr id="1106953" name="AutoShape 9"/>
          <p:cNvSpPr>
            <a:spLocks noChangeArrowheads="1"/>
          </p:cNvSpPr>
          <p:nvPr/>
        </p:nvSpPr>
        <p:spPr bwMode="auto">
          <a:xfrm>
            <a:off x="457200" y="3810000"/>
            <a:ext cx="2133600" cy="1143000"/>
          </a:xfrm>
          <a:prstGeom prst="wedgeEllipseCallout">
            <a:avLst>
              <a:gd name="adj1" fmla="val -28421"/>
              <a:gd name="adj2" fmla="val 102500"/>
            </a:avLst>
          </a:prstGeom>
          <a:solidFill>
            <a:srgbClr val="ECD8C4"/>
          </a:solidFill>
          <a:ln w="38100">
            <a:solidFill>
              <a:srgbClr val="005A42"/>
            </a:solidFill>
            <a:miter lim="800000"/>
            <a:headEnd/>
            <a:tailEnd/>
          </a:ln>
        </p:spPr>
        <p:txBody>
          <a:bodyPr/>
          <a:lstStyle/>
          <a:p>
            <a:pPr algn="ctr"/>
            <a:r>
              <a:rPr kumimoji="1" lang="en-US" altLang="zh-CN" sz="2800" b="1">
                <a:solidFill>
                  <a:srgbClr val="000099"/>
                </a:solidFill>
                <a:latin typeface="微软雅黑" pitchFamily="34" charset="-122"/>
                <a:ea typeface="微软雅黑" pitchFamily="34" charset="-122"/>
              </a:rPr>
              <a:t>array1</a:t>
            </a:r>
            <a:r>
              <a:rPr kumimoji="1" lang="zh-CN" altLang="en-US" sz="2800" b="1">
                <a:solidFill>
                  <a:srgbClr val="000099"/>
                </a:solidFill>
                <a:latin typeface="微软雅黑" pitchFamily="34" charset="-122"/>
                <a:ea typeface="微软雅黑" pitchFamily="34" charset="-122"/>
              </a:rPr>
              <a:t>的地址</a:t>
            </a:r>
          </a:p>
        </p:txBody>
      </p:sp>
      <p:sp>
        <p:nvSpPr>
          <p:cNvPr id="288780" name="Rectangle 10"/>
          <p:cNvSpPr>
            <a:spLocks noChangeArrowheads="1"/>
          </p:cNvSpPr>
          <p:nvPr/>
        </p:nvSpPr>
        <p:spPr bwMode="auto">
          <a:xfrm>
            <a:off x="0" y="5562600"/>
            <a:ext cx="20574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069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106953"/>
                                        </p:tgtEl>
                                        <p:attrNameLst>
                                          <p:attrName>style.visibility</p:attrName>
                                        </p:attrNameLst>
                                      </p:cBhvr>
                                      <p:to>
                                        <p:strVal val="visible"/>
                                      </p:to>
                                    </p:set>
                                    <p:animEffect transition="in" filter="blinds(horizontal)">
                                      <p:cBhvr>
                                        <p:cTn id="11" dur="500"/>
                                        <p:tgtEl>
                                          <p:spTgt spid="1106953"/>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42" fill="hold" grpId="0" nodeType="clickEffect">
                                  <p:stCondLst>
                                    <p:cond delay="0"/>
                                  </p:stCondLst>
                                  <p:childTnLst>
                                    <p:set>
                                      <p:cBhvr>
                                        <p:cTn id="15" dur="1" fill="hold">
                                          <p:stCondLst>
                                            <p:cond delay="0"/>
                                          </p:stCondLst>
                                        </p:cTn>
                                        <p:tgtEl>
                                          <p:spTgt spid="1106949"/>
                                        </p:tgtEl>
                                        <p:attrNameLst>
                                          <p:attrName>style.visibility</p:attrName>
                                        </p:attrNameLst>
                                      </p:cBhvr>
                                      <p:to>
                                        <p:strVal val="visible"/>
                                      </p:to>
                                    </p:set>
                                    <p:animEffect transition="in" filter="barn(outHorizontal)">
                                      <p:cBhvr>
                                        <p:cTn id="16" dur="500"/>
                                        <p:tgtEl>
                                          <p:spTgt spid="110694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106950"/>
                                        </p:tgtEl>
                                        <p:attrNameLst>
                                          <p:attrName>style.visibility</p:attrName>
                                        </p:attrNameLst>
                                      </p:cBhvr>
                                      <p:to>
                                        <p:strVal val="visible"/>
                                      </p:to>
                                    </p:set>
                                    <p:animEffect transition="in" filter="wipe(left)">
                                      <p:cBhvr>
                                        <p:cTn id="21" dur="500"/>
                                        <p:tgtEl>
                                          <p:spTgt spid="1106950"/>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106951"/>
                                        </p:tgtEl>
                                        <p:attrNameLst>
                                          <p:attrName>style.visibility</p:attrName>
                                        </p:attrNameLst>
                                      </p:cBhvr>
                                      <p:to>
                                        <p:strVal val="visible"/>
                                      </p:to>
                                    </p:set>
                                    <p:animEffect transition="in" filter="wipe(left)">
                                      <p:cBhvr>
                                        <p:cTn id="25" dur="500"/>
                                        <p:tgtEl>
                                          <p:spTgt spid="11069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949" grpId="0" animBg="1"/>
      <p:bldP spid="1106950" grpId="0" animBg="1"/>
      <p:bldP spid="1106951" grpId="0" animBg="1"/>
      <p:bldP spid="1106952" grpId="0" animBg="1" autoUpdateAnimBg="0"/>
      <p:bldP spid="1106953"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灯片编号占位符 4"/>
          <p:cNvSpPr txBox="1">
            <a:spLocks noGrp="1"/>
          </p:cNvSpPr>
          <p:nvPr/>
        </p:nvSpPr>
        <p:spPr bwMode="auto">
          <a:xfrm>
            <a:off x="6553200" y="6248400"/>
            <a:ext cx="2133600" cy="457200"/>
          </a:xfrm>
          <a:prstGeom prst="rect">
            <a:avLst/>
          </a:prstGeom>
          <a:noFill/>
          <a:ln w="9525">
            <a:noFill/>
            <a:miter lim="800000"/>
            <a:headEnd/>
            <a:tailEnd/>
          </a:ln>
        </p:spPr>
        <p:txBody>
          <a:bodyPr anchor="b"/>
          <a:lstStyle/>
          <a:p>
            <a:pPr algn="r"/>
            <a:fld id="{FE4E6479-997B-42D1-A532-D7D4FB220971}" type="slidenum">
              <a:rPr lang="en-US" altLang="zh-CN" sz="1200">
                <a:latin typeface="微软雅黑" pitchFamily="34" charset="-122"/>
                <a:ea typeface="微软雅黑" pitchFamily="34" charset="-122"/>
              </a:rPr>
              <a:pPr algn="r"/>
              <a:t>25</a:t>
            </a:fld>
            <a:endParaRPr lang="en-US" altLang="zh-CN" sz="1200">
              <a:latin typeface="微软雅黑" pitchFamily="34" charset="-122"/>
              <a:ea typeface="微软雅黑" pitchFamily="34" charset="-122"/>
            </a:endParaRPr>
          </a:p>
        </p:txBody>
      </p:sp>
      <p:sp>
        <p:nvSpPr>
          <p:cNvPr id="289795" name="日期占位符 5"/>
          <p:cNvSpPr txBox="1">
            <a:spLocks noGrp="1"/>
          </p:cNvSpPr>
          <p:nvPr/>
        </p:nvSpPr>
        <p:spPr bwMode="auto">
          <a:xfrm>
            <a:off x="893763" y="6245225"/>
            <a:ext cx="1697037" cy="476250"/>
          </a:xfrm>
          <a:prstGeom prst="rect">
            <a:avLst/>
          </a:prstGeom>
          <a:noFill/>
          <a:ln w="9525">
            <a:noFill/>
            <a:miter lim="800000"/>
            <a:headEnd/>
            <a:tailEnd/>
          </a:ln>
        </p:spPr>
        <p:txBody>
          <a:bodyPr anchor="b"/>
          <a:lstStyle/>
          <a:p>
            <a:fld id="{4ABB6DE0-7C84-4B45-B5C2-447D4E115E23}" type="datetime1">
              <a:rPr lang="zh-CN" altLang="en-US" sz="1200">
                <a:latin typeface="微软雅黑" pitchFamily="34" charset="-122"/>
                <a:ea typeface="微软雅黑" pitchFamily="34" charset="-122"/>
              </a:rPr>
              <a:pPr/>
              <a:t>2019/2/25</a:t>
            </a:fld>
            <a:endParaRPr lang="en-US" altLang="zh-CN" sz="1200">
              <a:latin typeface="微软雅黑" pitchFamily="34" charset="-122"/>
              <a:ea typeface="微软雅黑" pitchFamily="34" charset="-122"/>
            </a:endParaRPr>
          </a:p>
        </p:txBody>
      </p:sp>
      <p:sp>
        <p:nvSpPr>
          <p:cNvPr id="289796" name="Rectangle 2"/>
          <p:cNvSpPr>
            <a:spLocks noGrp="1" noChangeArrowheads="1"/>
          </p:cNvSpPr>
          <p:nvPr>
            <p:ph type="title" idx="4294967295"/>
          </p:nvPr>
        </p:nvSpPr>
        <p:spPr>
          <a:xfrm>
            <a:off x="0" y="255588"/>
            <a:ext cx="7543800" cy="808037"/>
          </a:xfrm>
        </p:spPr>
        <p:txBody>
          <a:bodyPr anchor="ctr"/>
          <a:lstStyle/>
          <a:p>
            <a:r>
              <a:rPr lang="zh-CN" altLang="en-US" sz="3500" dirty="0">
                <a:solidFill>
                  <a:srgbClr val="FF0000"/>
                </a:solidFill>
                <a:latin typeface="微软雅黑" pitchFamily="34" charset="-122"/>
                <a:ea typeface="微软雅黑" pitchFamily="34" charset="-122"/>
              </a:rPr>
              <a:t>例： </a:t>
            </a:r>
            <a:r>
              <a:rPr lang="en-US" altLang="zh-CN" sz="3500" dirty="0">
                <a:solidFill>
                  <a:srgbClr val="FF0000"/>
                </a:solidFill>
                <a:latin typeface="微软雅黑" pitchFamily="34" charset="-122"/>
                <a:ea typeface="微软雅黑" pitchFamily="34" charset="-122"/>
              </a:rPr>
              <a:t>mov esi,1</a:t>
            </a:r>
          </a:p>
        </p:txBody>
      </p:sp>
      <p:pic>
        <p:nvPicPr>
          <p:cNvPr id="289797" name="Picture 3" descr="2007-07-05_20-51-33"/>
          <p:cNvPicPr>
            <a:picLocks noChangeAspect="1" noChangeArrowheads="1"/>
          </p:cNvPicPr>
          <p:nvPr/>
        </p:nvPicPr>
        <p:blipFill>
          <a:blip r:embed="rId2" cstate="print"/>
          <a:srcRect/>
          <a:stretch>
            <a:fillRect/>
          </a:stretch>
        </p:blipFill>
        <p:spPr bwMode="auto">
          <a:xfrm>
            <a:off x="0" y="1295400"/>
            <a:ext cx="9144000" cy="5562600"/>
          </a:xfrm>
          <a:prstGeom prst="rect">
            <a:avLst/>
          </a:prstGeom>
          <a:noFill/>
          <a:ln w="9525">
            <a:noFill/>
            <a:miter lim="800000"/>
            <a:headEnd/>
            <a:tailEnd/>
          </a:ln>
        </p:spPr>
      </p:pic>
      <p:sp>
        <p:nvSpPr>
          <p:cNvPr id="1107972" name="Rectangle 4"/>
          <p:cNvSpPr>
            <a:spLocks noChangeArrowheads="1"/>
          </p:cNvSpPr>
          <p:nvPr/>
        </p:nvSpPr>
        <p:spPr bwMode="auto">
          <a:xfrm>
            <a:off x="685800" y="2209800"/>
            <a:ext cx="2133600" cy="3810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07973" name="Line 5"/>
          <p:cNvSpPr>
            <a:spLocks noChangeShapeType="1"/>
          </p:cNvSpPr>
          <p:nvPr/>
        </p:nvSpPr>
        <p:spPr bwMode="auto">
          <a:xfrm>
            <a:off x="2819400" y="2438400"/>
            <a:ext cx="3886200" cy="1219200"/>
          </a:xfrm>
          <a:prstGeom prst="line">
            <a:avLst/>
          </a:prstGeom>
          <a:noFill/>
          <a:ln w="57150">
            <a:solidFill>
              <a:srgbClr val="005A42"/>
            </a:solidFill>
            <a:round/>
            <a:headEnd/>
            <a:tailEnd type="triangle" w="med" len="med"/>
          </a:ln>
        </p:spPr>
        <p:txBody>
          <a:bodyPr wrap="none"/>
          <a:lstStyle/>
          <a:p>
            <a:endParaRPr lang="zh-CN" altLang="en-US"/>
          </a:p>
        </p:txBody>
      </p:sp>
      <p:sp>
        <p:nvSpPr>
          <p:cNvPr id="1107974" name="Rectangle 6"/>
          <p:cNvSpPr>
            <a:spLocks noChangeArrowheads="1"/>
          </p:cNvSpPr>
          <p:nvPr/>
        </p:nvSpPr>
        <p:spPr bwMode="auto">
          <a:xfrm>
            <a:off x="6705600" y="3505200"/>
            <a:ext cx="1752600" cy="457200"/>
          </a:xfrm>
          <a:prstGeom prst="rect">
            <a:avLst/>
          </a:prstGeom>
          <a:noFill/>
          <a:ln w="28575">
            <a:solidFill>
              <a:srgbClr val="000099"/>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07972"/>
                                        </p:tgtEl>
                                        <p:attrNameLst>
                                          <p:attrName>style.visibility</p:attrName>
                                        </p:attrNameLst>
                                      </p:cBhvr>
                                      <p:to>
                                        <p:strVal val="visible"/>
                                      </p:to>
                                    </p:set>
                                    <p:animEffect transition="in" filter="wipe(left)">
                                      <p:cBhvr>
                                        <p:cTn id="7" dur="500"/>
                                        <p:tgtEl>
                                          <p:spTgt spid="110797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07973"/>
                                        </p:tgtEl>
                                        <p:attrNameLst>
                                          <p:attrName>style.visibility</p:attrName>
                                        </p:attrNameLst>
                                      </p:cBhvr>
                                      <p:to>
                                        <p:strVal val="visible"/>
                                      </p:to>
                                    </p:set>
                                    <p:animEffect transition="in" filter="wipe(left)">
                                      <p:cBhvr>
                                        <p:cTn id="11" dur="500"/>
                                        <p:tgtEl>
                                          <p:spTgt spid="1107973"/>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107974"/>
                                        </p:tgtEl>
                                        <p:attrNameLst>
                                          <p:attrName>style.visibility</p:attrName>
                                        </p:attrNameLst>
                                      </p:cBhvr>
                                      <p:to>
                                        <p:strVal val="visible"/>
                                      </p:to>
                                    </p:set>
                                    <p:animEffect transition="in" filter="wipe(left)">
                                      <p:cBhvr>
                                        <p:cTn id="15" dur="500"/>
                                        <p:tgtEl>
                                          <p:spTgt spid="11079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7972" grpId="0" animBg="1"/>
      <p:bldP spid="1107973" grpId="0" animBg="1"/>
      <p:bldP spid="110797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灯片编号占位符 4"/>
          <p:cNvSpPr txBox="1">
            <a:spLocks noGrp="1"/>
          </p:cNvSpPr>
          <p:nvPr/>
        </p:nvSpPr>
        <p:spPr bwMode="auto">
          <a:xfrm>
            <a:off x="6553200" y="6248400"/>
            <a:ext cx="2133600" cy="457200"/>
          </a:xfrm>
          <a:prstGeom prst="rect">
            <a:avLst/>
          </a:prstGeom>
          <a:noFill/>
          <a:ln w="9525">
            <a:noFill/>
            <a:miter lim="800000"/>
            <a:headEnd/>
            <a:tailEnd/>
          </a:ln>
        </p:spPr>
        <p:txBody>
          <a:bodyPr anchor="b"/>
          <a:lstStyle/>
          <a:p>
            <a:pPr algn="r"/>
            <a:fld id="{287BC9CF-577D-4BA6-999B-3CD564A28830}" type="slidenum">
              <a:rPr lang="en-US" altLang="zh-CN" sz="1200">
                <a:latin typeface="微软雅黑" pitchFamily="34" charset="-122"/>
                <a:ea typeface="微软雅黑" pitchFamily="34" charset="-122"/>
              </a:rPr>
              <a:pPr algn="r"/>
              <a:t>26</a:t>
            </a:fld>
            <a:endParaRPr lang="en-US" altLang="zh-CN" sz="1200">
              <a:latin typeface="微软雅黑" pitchFamily="34" charset="-122"/>
              <a:ea typeface="微软雅黑" pitchFamily="34" charset="-122"/>
            </a:endParaRPr>
          </a:p>
        </p:txBody>
      </p:sp>
      <p:sp>
        <p:nvSpPr>
          <p:cNvPr id="290819" name="日期占位符 5"/>
          <p:cNvSpPr txBox="1">
            <a:spLocks noGrp="1"/>
          </p:cNvSpPr>
          <p:nvPr/>
        </p:nvSpPr>
        <p:spPr bwMode="auto">
          <a:xfrm>
            <a:off x="893763" y="6245225"/>
            <a:ext cx="1697037" cy="476250"/>
          </a:xfrm>
          <a:prstGeom prst="rect">
            <a:avLst/>
          </a:prstGeom>
          <a:noFill/>
          <a:ln w="9525">
            <a:noFill/>
            <a:miter lim="800000"/>
            <a:headEnd/>
            <a:tailEnd/>
          </a:ln>
        </p:spPr>
        <p:txBody>
          <a:bodyPr anchor="b"/>
          <a:lstStyle/>
          <a:p>
            <a:fld id="{45578C01-D57D-4F04-AFF1-1B884A6FE0E5}" type="datetime1">
              <a:rPr lang="zh-CN" altLang="en-US" sz="1200">
                <a:latin typeface="微软雅黑" pitchFamily="34" charset="-122"/>
                <a:ea typeface="微软雅黑" pitchFamily="34" charset="-122"/>
              </a:rPr>
              <a:pPr/>
              <a:t>2019/2/25</a:t>
            </a:fld>
            <a:endParaRPr lang="en-US" altLang="zh-CN" sz="1200">
              <a:latin typeface="微软雅黑" pitchFamily="34" charset="-122"/>
              <a:ea typeface="微软雅黑" pitchFamily="34" charset="-122"/>
            </a:endParaRPr>
          </a:p>
        </p:txBody>
      </p:sp>
      <p:sp>
        <p:nvSpPr>
          <p:cNvPr id="290820" name="Rectangle 2"/>
          <p:cNvSpPr>
            <a:spLocks noGrp="1" noChangeArrowheads="1"/>
          </p:cNvSpPr>
          <p:nvPr>
            <p:ph type="title" idx="4294967295"/>
          </p:nvPr>
        </p:nvSpPr>
        <p:spPr>
          <a:xfrm>
            <a:off x="0" y="379413"/>
            <a:ext cx="7543800" cy="769937"/>
          </a:xfrm>
        </p:spPr>
        <p:txBody>
          <a:bodyPr anchor="ctr"/>
          <a:lstStyle/>
          <a:p>
            <a:r>
              <a:rPr lang="zh-CN" altLang="en-US" sz="3500" dirty="0">
                <a:solidFill>
                  <a:srgbClr val="FF0000"/>
                </a:solidFill>
                <a:latin typeface="微软雅黑" pitchFamily="34" charset="-122"/>
                <a:ea typeface="微软雅黑" pitchFamily="34" charset="-122"/>
              </a:rPr>
              <a:t>例： </a:t>
            </a:r>
            <a:r>
              <a:rPr lang="en-US" altLang="zh-CN" sz="3500" dirty="0">
                <a:solidFill>
                  <a:srgbClr val="FF0000"/>
                </a:solidFill>
                <a:latin typeface="微软雅黑" pitchFamily="34" charset="-122"/>
                <a:ea typeface="微软雅黑" pitchFamily="34" charset="-122"/>
              </a:rPr>
              <a:t>mov al, [</a:t>
            </a:r>
            <a:r>
              <a:rPr lang="en-US" altLang="zh-CN" sz="3500" dirty="0" err="1">
                <a:solidFill>
                  <a:srgbClr val="FF0000"/>
                </a:solidFill>
                <a:latin typeface="微软雅黑" pitchFamily="34" charset="-122"/>
                <a:ea typeface="微软雅黑" pitchFamily="34" charset="-122"/>
              </a:rPr>
              <a:t>ebx+esi</a:t>
            </a:r>
            <a:r>
              <a:rPr lang="en-US" altLang="zh-CN" sz="3500" dirty="0">
                <a:solidFill>
                  <a:srgbClr val="FF0000"/>
                </a:solidFill>
                <a:latin typeface="微软雅黑" pitchFamily="34" charset="-122"/>
                <a:ea typeface="微软雅黑" pitchFamily="34" charset="-122"/>
              </a:rPr>
              <a:t>]</a:t>
            </a:r>
          </a:p>
        </p:txBody>
      </p:sp>
      <p:pic>
        <p:nvPicPr>
          <p:cNvPr id="290821" name="Picture 3" descr="2007-07-05_20-52-41"/>
          <p:cNvPicPr>
            <a:picLocks noChangeAspect="1" noChangeArrowheads="1"/>
          </p:cNvPicPr>
          <p:nvPr/>
        </p:nvPicPr>
        <p:blipFill>
          <a:blip r:embed="rId2" cstate="print"/>
          <a:srcRect/>
          <a:stretch>
            <a:fillRect/>
          </a:stretch>
        </p:blipFill>
        <p:spPr bwMode="auto">
          <a:xfrm>
            <a:off x="0" y="1371600"/>
            <a:ext cx="9144000" cy="5486400"/>
          </a:xfrm>
          <a:prstGeom prst="rect">
            <a:avLst/>
          </a:prstGeom>
          <a:noFill/>
          <a:ln w="9525">
            <a:noFill/>
            <a:miter lim="800000"/>
            <a:headEnd/>
            <a:tailEnd/>
          </a:ln>
        </p:spPr>
      </p:pic>
      <p:sp>
        <p:nvSpPr>
          <p:cNvPr id="290822" name="Rectangle 4"/>
          <p:cNvSpPr>
            <a:spLocks noChangeArrowheads="1"/>
          </p:cNvSpPr>
          <p:nvPr/>
        </p:nvSpPr>
        <p:spPr bwMode="auto">
          <a:xfrm>
            <a:off x="1981200" y="2590800"/>
            <a:ext cx="16764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08997" name="Line 5"/>
          <p:cNvSpPr>
            <a:spLocks noChangeShapeType="1"/>
          </p:cNvSpPr>
          <p:nvPr/>
        </p:nvSpPr>
        <p:spPr bwMode="auto">
          <a:xfrm flipV="1">
            <a:off x="2895600" y="2209800"/>
            <a:ext cx="5105400" cy="3429000"/>
          </a:xfrm>
          <a:prstGeom prst="line">
            <a:avLst/>
          </a:prstGeom>
          <a:noFill/>
          <a:ln w="57150">
            <a:solidFill>
              <a:srgbClr val="005A42"/>
            </a:solidFill>
            <a:round/>
            <a:headEnd/>
            <a:tailEnd type="triangle" w="med" len="med"/>
          </a:ln>
        </p:spPr>
        <p:txBody>
          <a:bodyPr wrap="none"/>
          <a:lstStyle/>
          <a:p>
            <a:endParaRPr lang="zh-CN" altLang="en-US"/>
          </a:p>
        </p:txBody>
      </p:sp>
      <p:sp>
        <p:nvSpPr>
          <p:cNvPr id="1108998" name="Rectangle 6"/>
          <p:cNvSpPr>
            <a:spLocks noChangeArrowheads="1"/>
          </p:cNvSpPr>
          <p:nvPr/>
        </p:nvSpPr>
        <p:spPr bwMode="auto">
          <a:xfrm>
            <a:off x="8001000" y="1828800"/>
            <a:ext cx="533400" cy="533400"/>
          </a:xfrm>
          <a:prstGeom prst="rect">
            <a:avLst/>
          </a:prstGeom>
          <a:noFill/>
          <a:ln w="28575">
            <a:solidFill>
              <a:srgbClr val="005A42"/>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08999" name="AutoShape 7"/>
          <p:cNvSpPr>
            <a:spLocks noChangeArrowheads="1"/>
          </p:cNvSpPr>
          <p:nvPr/>
        </p:nvSpPr>
        <p:spPr bwMode="auto">
          <a:xfrm>
            <a:off x="1143000" y="685800"/>
            <a:ext cx="5486400" cy="1371600"/>
          </a:xfrm>
          <a:prstGeom prst="wedgeEllipseCallout">
            <a:avLst>
              <a:gd name="adj1" fmla="val -10329"/>
              <a:gd name="adj2" fmla="val 97222"/>
            </a:avLst>
          </a:prstGeom>
          <a:solidFill>
            <a:srgbClr val="ECD8C4"/>
          </a:solidFill>
          <a:ln w="38100">
            <a:solidFill>
              <a:srgbClr val="005A42"/>
            </a:solidFill>
            <a:miter lim="800000"/>
            <a:headEnd/>
            <a:tailEnd/>
          </a:ln>
        </p:spPr>
        <p:txBody>
          <a:bodyPr/>
          <a:lstStyle/>
          <a:p>
            <a:r>
              <a:rPr kumimoji="1" lang="zh-CN" altLang="en-US" sz="2800" b="1">
                <a:solidFill>
                  <a:srgbClr val="000099"/>
                </a:solidFill>
                <a:latin typeface="微软雅黑" pitchFamily="34" charset="-122"/>
                <a:ea typeface="微软雅黑" pitchFamily="34" charset="-122"/>
              </a:rPr>
              <a:t>基址变址寻址</a:t>
            </a:r>
            <a:r>
              <a:rPr kumimoji="1" lang="en-US" altLang="zh-CN" sz="2800" b="1">
                <a:solidFill>
                  <a:srgbClr val="000099"/>
                </a:solidFill>
                <a:latin typeface="微软雅黑" pitchFamily="34" charset="-122"/>
                <a:ea typeface="微软雅黑" pitchFamily="34" charset="-122"/>
              </a:rPr>
              <a:t>esi+ebx=00404001</a:t>
            </a:r>
          </a:p>
        </p:txBody>
      </p:sp>
      <p:sp>
        <p:nvSpPr>
          <p:cNvPr id="1109000" name="AutoShape 8"/>
          <p:cNvSpPr>
            <a:spLocks noChangeArrowheads="1"/>
          </p:cNvSpPr>
          <p:nvPr/>
        </p:nvSpPr>
        <p:spPr bwMode="auto">
          <a:xfrm>
            <a:off x="304800" y="3810000"/>
            <a:ext cx="4724400" cy="838200"/>
          </a:xfrm>
          <a:prstGeom prst="wedgeEllipseCallout">
            <a:avLst>
              <a:gd name="adj1" fmla="val 2250"/>
              <a:gd name="adj2" fmla="val 164773"/>
            </a:avLst>
          </a:prstGeom>
          <a:solidFill>
            <a:srgbClr val="ECD8C4"/>
          </a:solidFill>
          <a:ln w="38100">
            <a:solidFill>
              <a:srgbClr val="005A42"/>
            </a:solidFill>
            <a:miter lim="800000"/>
            <a:headEnd/>
            <a:tailEnd/>
          </a:ln>
        </p:spPr>
        <p:txBody>
          <a:bodyPr/>
          <a:lstStyle/>
          <a:p>
            <a:r>
              <a:rPr kumimoji="1" lang="en-US" altLang="zh-CN" sz="2800" b="1">
                <a:solidFill>
                  <a:srgbClr val="000099"/>
                </a:solidFill>
                <a:latin typeface="微软雅黑" pitchFamily="34" charset="-122"/>
                <a:ea typeface="微软雅黑" pitchFamily="34" charset="-122"/>
              </a:rPr>
              <a:t>[00404001]=02h</a:t>
            </a:r>
          </a:p>
        </p:txBody>
      </p:sp>
      <p:sp>
        <p:nvSpPr>
          <p:cNvPr id="1109001" name="Rectangle 9"/>
          <p:cNvSpPr>
            <a:spLocks noChangeArrowheads="1"/>
          </p:cNvSpPr>
          <p:nvPr/>
        </p:nvSpPr>
        <p:spPr bwMode="auto">
          <a:xfrm>
            <a:off x="2514600" y="5638800"/>
            <a:ext cx="533400" cy="3810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08999"/>
                                        </p:tgtEl>
                                        <p:attrNameLst>
                                          <p:attrName>style.visibility</p:attrName>
                                        </p:attrNameLst>
                                      </p:cBhvr>
                                      <p:to>
                                        <p:strVal val="visible"/>
                                      </p:to>
                                    </p:set>
                                  </p:childTnLst>
                                </p:cTn>
                              </p:par>
                            </p:childTnLst>
                          </p:cTn>
                        </p:par>
                        <p:par>
                          <p:cTn id="7" fill="hold">
                            <p:stCondLst>
                              <p:cond delay="500"/>
                            </p:stCondLst>
                            <p:childTnLst>
                              <p:par>
                                <p:cTn id="8" presetID="22" presetClass="entr" presetSubtype="1" fill="hold" grpId="0" nodeType="afterEffect">
                                  <p:stCondLst>
                                    <p:cond delay="0"/>
                                  </p:stCondLst>
                                  <p:childTnLst>
                                    <p:set>
                                      <p:cBhvr>
                                        <p:cTn id="9" dur="1" fill="hold">
                                          <p:stCondLst>
                                            <p:cond delay="0"/>
                                          </p:stCondLst>
                                        </p:cTn>
                                        <p:tgtEl>
                                          <p:spTgt spid="1109001"/>
                                        </p:tgtEl>
                                        <p:attrNameLst>
                                          <p:attrName>style.visibility</p:attrName>
                                        </p:attrNameLst>
                                      </p:cBhvr>
                                      <p:to>
                                        <p:strVal val="visible"/>
                                      </p:to>
                                    </p:set>
                                    <p:animEffect transition="in" filter="wipe(up)">
                                      <p:cBhvr>
                                        <p:cTn id="10" dur="500"/>
                                        <p:tgtEl>
                                          <p:spTgt spid="1109001"/>
                                        </p:tgtEl>
                                      </p:cBhvr>
                                    </p:animEffect>
                                  </p:childTnLst>
                                </p:cTn>
                              </p:par>
                            </p:childTnLst>
                          </p:cTn>
                        </p:par>
                        <p:par>
                          <p:cTn id="11" fill="hold">
                            <p:stCondLst>
                              <p:cond delay="1000"/>
                            </p:stCondLst>
                            <p:childTnLst>
                              <p:par>
                                <p:cTn id="12" presetID="3" presetClass="entr" presetSubtype="10" fill="hold" grpId="0" nodeType="afterEffect">
                                  <p:stCondLst>
                                    <p:cond delay="0"/>
                                  </p:stCondLst>
                                  <p:childTnLst>
                                    <p:set>
                                      <p:cBhvr>
                                        <p:cTn id="13" dur="1" fill="hold">
                                          <p:stCondLst>
                                            <p:cond delay="0"/>
                                          </p:stCondLst>
                                        </p:cTn>
                                        <p:tgtEl>
                                          <p:spTgt spid="1109000"/>
                                        </p:tgtEl>
                                        <p:attrNameLst>
                                          <p:attrName>style.visibility</p:attrName>
                                        </p:attrNameLst>
                                      </p:cBhvr>
                                      <p:to>
                                        <p:strVal val="visible"/>
                                      </p:to>
                                    </p:set>
                                    <p:animEffect transition="in" filter="blinds(horizontal)">
                                      <p:cBhvr>
                                        <p:cTn id="14" dur="500"/>
                                        <p:tgtEl>
                                          <p:spTgt spid="110900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108997"/>
                                        </p:tgtEl>
                                        <p:attrNameLst>
                                          <p:attrName>style.visibility</p:attrName>
                                        </p:attrNameLst>
                                      </p:cBhvr>
                                      <p:to>
                                        <p:strVal val="visible"/>
                                      </p:to>
                                    </p:set>
                                    <p:animEffect transition="in" filter="wipe(left)">
                                      <p:cBhvr>
                                        <p:cTn id="19" dur="500"/>
                                        <p:tgtEl>
                                          <p:spTgt spid="1108997"/>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1108998"/>
                                        </p:tgtEl>
                                        <p:attrNameLst>
                                          <p:attrName>style.visibility</p:attrName>
                                        </p:attrNameLst>
                                      </p:cBhvr>
                                      <p:to>
                                        <p:strVal val="visible"/>
                                      </p:to>
                                    </p:set>
                                    <p:animEffect transition="in" filter="wipe(left)">
                                      <p:cBhvr>
                                        <p:cTn id="23" dur="500"/>
                                        <p:tgtEl>
                                          <p:spTgt spid="1108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8997" grpId="0" animBg="1"/>
      <p:bldP spid="1108998" grpId="0" animBg="1"/>
      <p:bldP spid="1108999" grpId="0" animBg="1" autoUpdateAnimBg="0"/>
      <p:bldP spid="1109000" grpId="0" animBg="1" autoUpdateAnimBg="0"/>
      <p:bldP spid="110900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灯片编号占位符 4"/>
          <p:cNvSpPr txBox="1">
            <a:spLocks noGrp="1"/>
          </p:cNvSpPr>
          <p:nvPr/>
        </p:nvSpPr>
        <p:spPr bwMode="auto">
          <a:xfrm>
            <a:off x="6553200" y="6248400"/>
            <a:ext cx="2133600" cy="457200"/>
          </a:xfrm>
          <a:prstGeom prst="rect">
            <a:avLst/>
          </a:prstGeom>
          <a:noFill/>
          <a:ln w="9525">
            <a:noFill/>
            <a:miter lim="800000"/>
            <a:headEnd/>
            <a:tailEnd/>
          </a:ln>
        </p:spPr>
        <p:txBody>
          <a:bodyPr anchor="b"/>
          <a:lstStyle/>
          <a:p>
            <a:pPr algn="r"/>
            <a:fld id="{267E2EB6-C7C8-4220-BF6F-6C4F8866D02E}" type="slidenum">
              <a:rPr lang="en-US" altLang="zh-CN" sz="1200">
                <a:latin typeface="微软雅黑" pitchFamily="34" charset="-122"/>
                <a:ea typeface="微软雅黑" pitchFamily="34" charset="-122"/>
              </a:rPr>
              <a:pPr algn="r"/>
              <a:t>27</a:t>
            </a:fld>
            <a:endParaRPr lang="en-US" altLang="zh-CN" sz="1200">
              <a:latin typeface="微软雅黑" pitchFamily="34" charset="-122"/>
              <a:ea typeface="微软雅黑" pitchFamily="34" charset="-122"/>
            </a:endParaRPr>
          </a:p>
        </p:txBody>
      </p:sp>
      <p:sp>
        <p:nvSpPr>
          <p:cNvPr id="291843" name="日期占位符 5"/>
          <p:cNvSpPr txBox="1">
            <a:spLocks noGrp="1"/>
          </p:cNvSpPr>
          <p:nvPr/>
        </p:nvSpPr>
        <p:spPr bwMode="auto">
          <a:xfrm>
            <a:off x="893763" y="6245225"/>
            <a:ext cx="1697037" cy="476250"/>
          </a:xfrm>
          <a:prstGeom prst="rect">
            <a:avLst/>
          </a:prstGeom>
          <a:noFill/>
          <a:ln w="9525">
            <a:noFill/>
            <a:miter lim="800000"/>
            <a:headEnd/>
            <a:tailEnd/>
          </a:ln>
        </p:spPr>
        <p:txBody>
          <a:bodyPr anchor="b"/>
          <a:lstStyle/>
          <a:p>
            <a:fld id="{D55ADA11-BC2C-4766-B374-F4E16828470C}" type="datetime1">
              <a:rPr lang="zh-CN" altLang="en-US" sz="1200">
                <a:latin typeface="微软雅黑" pitchFamily="34" charset="-122"/>
                <a:ea typeface="微软雅黑" pitchFamily="34" charset="-122"/>
              </a:rPr>
              <a:pPr/>
              <a:t>2019/2/25</a:t>
            </a:fld>
            <a:endParaRPr lang="en-US" altLang="zh-CN" sz="1200">
              <a:latin typeface="微软雅黑" pitchFamily="34" charset="-122"/>
              <a:ea typeface="微软雅黑" pitchFamily="34" charset="-122"/>
            </a:endParaRPr>
          </a:p>
        </p:txBody>
      </p:sp>
      <p:sp>
        <p:nvSpPr>
          <p:cNvPr id="291844" name="Rectangle 2"/>
          <p:cNvSpPr>
            <a:spLocks noGrp="1" noChangeArrowheads="1"/>
          </p:cNvSpPr>
          <p:nvPr>
            <p:ph type="title" idx="4294967295"/>
          </p:nvPr>
        </p:nvSpPr>
        <p:spPr>
          <a:xfrm>
            <a:off x="0" y="320675"/>
            <a:ext cx="7194550" cy="665163"/>
          </a:xfrm>
        </p:spPr>
        <p:txBody>
          <a:bodyPr anchor="ctr"/>
          <a:lstStyle/>
          <a:p>
            <a:r>
              <a:rPr lang="zh-CN" altLang="en-US" sz="3500" dirty="0">
                <a:solidFill>
                  <a:srgbClr val="FF0000"/>
                </a:solidFill>
                <a:latin typeface="微软雅黑" pitchFamily="34" charset="-122"/>
                <a:ea typeface="微软雅黑" pitchFamily="34" charset="-122"/>
              </a:rPr>
              <a:t>例：</a:t>
            </a:r>
            <a:r>
              <a:rPr lang="en-US" altLang="zh-CN" sz="3500" dirty="0">
                <a:solidFill>
                  <a:srgbClr val="FF0000"/>
                </a:solidFill>
                <a:latin typeface="微软雅黑" pitchFamily="34" charset="-122"/>
                <a:ea typeface="微软雅黑" pitchFamily="34" charset="-122"/>
              </a:rPr>
              <a:t>mov </a:t>
            </a:r>
            <a:r>
              <a:rPr lang="en-US" altLang="zh-CN" sz="3500" dirty="0" err="1">
                <a:solidFill>
                  <a:srgbClr val="FF0000"/>
                </a:solidFill>
                <a:latin typeface="微软雅黑" pitchFamily="34" charset="-122"/>
                <a:ea typeface="微软雅黑" pitchFamily="34" charset="-122"/>
              </a:rPr>
              <a:t>ebx</a:t>
            </a:r>
            <a:r>
              <a:rPr lang="en-US" altLang="zh-CN" sz="3500" dirty="0">
                <a:solidFill>
                  <a:srgbClr val="FF0000"/>
                </a:solidFill>
                <a:latin typeface="微软雅黑" pitchFamily="34" charset="-122"/>
                <a:ea typeface="微软雅黑" pitchFamily="34" charset="-122"/>
              </a:rPr>
              <a:t>, offset array2</a:t>
            </a:r>
          </a:p>
        </p:txBody>
      </p:sp>
      <p:pic>
        <p:nvPicPr>
          <p:cNvPr id="291845" name="Picture 3" descr="2007-07-05_20-51-01"/>
          <p:cNvPicPr>
            <a:picLocks noChangeAspect="1" noChangeArrowheads="1"/>
          </p:cNvPicPr>
          <p:nvPr/>
        </p:nvPicPr>
        <p:blipFill>
          <a:blip r:embed="rId2" cstate="print"/>
          <a:srcRect/>
          <a:stretch>
            <a:fillRect/>
          </a:stretch>
        </p:blipFill>
        <p:spPr bwMode="auto">
          <a:xfrm>
            <a:off x="228600" y="1447800"/>
            <a:ext cx="8664575" cy="4708525"/>
          </a:xfrm>
          <a:prstGeom prst="rect">
            <a:avLst/>
          </a:prstGeom>
          <a:noFill/>
          <a:ln w="9525">
            <a:noFill/>
            <a:miter lim="800000"/>
            <a:headEnd/>
            <a:tailEnd/>
          </a:ln>
        </p:spPr>
      </p:pic>
      <p:pic>
        <p:nvPicPr>
          <p:cNvPr id="291846" name="Picture 4" descr="2007-07-05_20-53-15"/>
          <p:cNvPicPr>
            <a:picLocks noChangeAspect="1" noChangeArrowheads="1"/>
          </p:cNvPicPr>
          <p:nvPr/>
        </p:nvPicPr>
        <p:blipFill>
          <a:blip r:embed="rId3" cstate="print"/>
          <a:srcRect/>
          <a:stretch>
            <a:fillRect/>
          </a:stretch>
        </p:blipFill>
        <p:spPr bwMode="auto">
          <a:xfrm>
            <a:off x="0" y="1284288"/>
            <a:ext cx="9144000" cy="5573712"/>
          </a:xfrm>
          <a:prstGeom prst="rect">
            <a:avLst/>
          </a:prstGeom>
          <a:noFill/>
          <a:ln w="9525">
            <a:noFill/>
            <a:miter lim="800000"/>
            <a:headEnd/>
            <a:tailEnd/>
          </a:ln>
        </p:spPr>
      </p:pic>
      <p:sp>
        <p:nvSpPr>
          <p:cNvPr id="291847" name="Rectangle 5"/>
          <p:cNvSpPr>
            <a:spLocks noChangeArrowheads="1"/>
          </p:cNvSpPr>
          <p:nvPr/>
        </p:nvSpPr>
        <p:spPr bwMode="auto">
          <a:xfrm>
            <a:off x="2286000" y="2895600"/>
            <a:ext cx="22860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10022" name="Line 6"/>
          <p:cNvSpPr>
            <a:spLocks noChangeShapeType="1"/>
          </p:cNvSpPr>
          <p:nvPr/>
        </p:nvSpPr>
        <p:spPr bwMode="auto">
          <a:xfrm flipH="1">
            <a:off x="1828800" y="3429000"/>
            <a:ext cx="1752600" cy="2971800"/>
          </a:xfrm>
          <a:prstGeom prst="line">
            <a:avLst/>
          </a:prstGeom>
          <a:noFill/>
          <a:ln w="57150">
            <a:solidFill>
              <a:srgbClr val="005A42"/>
            </a:solidFill>
            <a:round/>
            <a:headEnd type="triangle" w="med" len="med"/>
            <a:tailEnd type="triangle" w="med" len="med"/>
          </a:ln>
        </p:spPr>
        <p:txBody>
          <a:bodyPr wrap="none"/>
          <a:lstStyle/>
          <a:p>
            <a:endParaRPr lang="zh-CN" altLang="en-US"/>
          </a:p>
        </p:txBody>
      </p:sp>
      <p:sp>
        <p:nvSpPr>
          <p:cNvPr id="1110023" name="Line 7"/>
          <p:cNvSpPr>
            <a:spLocks noChangeShapeType="1"/>
          </p:cNvSpPr>
          <p:nvPr/>
        </p:nvSpPr>
        <p:spPr bwMode="auto">
          <a:xfrm flipV="1">
            <a:off x="2057400" y="2743200"/>
            <a:ext cx="3886200" cy="3733800"/>
          </a:xfrm>
          <a:prstGeom prst="line">
            <a:avLst/>
          </a:prstGeom>
          <a:noFill/>
          <a:ln w="57150">
            <a:solidFill>
              <a:srgbClr val="005A42"/>
            </a:solidFill>
            <a:round/>
            <a:headEnd/>
            <a:tailEnd type="triangle" w="med" len="med"/>
          </a:ln>
        </p:spPr>
        <p:txBody>
          <a:bodyPr wrap="none"/>
          <a:lstStyle/>
          <a:p>
            <a:endParaRPr lang="zh-CN" altLang="en-US"/>
          </a:p>
        </p:txBody>
      </p:sp>
      <p:sp>
        <p:nvSpPr>
          <p:cNvPr id="1110024" name="Rectangle 8"/>
          <p:cNvSpPr>
            <a:spLocks noChangeArrowheads="1"/>
          </p:cNvSpPr>
          <p:nvPr/>
        </p:nvSpPr>
        <p:spPr bwMode="auto">
          <a:xfrm>
            <a:off x="5715000" y="2209800"/>
            <a:ext cx="30480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10025" name="AutoShape 9"/>
          <p:cNvSpPr>
            <a:spLocks noChangeArrowheads="1"/>
          </p:cNvSpPr>
          <p:nvPr/>
        </p:nvSpPr>
        <p:spPr bwMode="auto">
          <a:xfrm>
            <a:off x="1143000" y="1617663"/>
            <a:ext cx="2133600" cy="1049337"/>
          </a:xfrm>
          <a:prstGeom prst="wedgeEllipseCallout">
            <a:avLst>
              <a:gd name="adj1" fmla="val 69644"/>
              <a:gd name="adj2" fmla="val 71634"/>
            </a:avLst>
          </a:prstGeom>
          <a:solidFill>
            <a:srgbClr val="ECD8C4"/>
          </a:solidFill>
          <a:ln w="38100">
            <a:solidFill>
              <a:srgbClr val="005A42"/>
            </a:solidFill>
            <a:miter lim="800000"/>
            <a:headEnd/>
            <a:tailEnd/>
          </a:ln>
        </p:spPr>
        <p:txBody>
          <a:bodyPr/>
          <a:lstStyle/>
          <a:p>
            <a:pPr algn="ctr"/>
            <a:r>
              <a:rPr kumimoji="1" lang="zh-CN" altLang="en-US" sz="2800" b="1">
                <a:solidFill>
                  <a:srgbClr val="000099"/>
                </a:solidFill>
                <a:latin typeface="微软雅黑" pitchFamily="34" charset="-122"/>
                <a:ea typeface="微软雅黑" pitchFamily="34" charset="-122"/>
              </a:rPr>
              <a:t>直接</a:t>
            </a:r>
          </a:p>
          <a:p>
            <a:pPr algn="ctr"/>
            <a:r>
              <a:rPr kumimoji="1" lang="zh-CN" altLang="en-US" sz="2800" b="1">
                <a:solidFill>
                  <a:srgbClr val="000099"/>
                </a:solidFill>
                <a:latin typeface="微软雅黑" pitchFamily="34" charset="-122"/>
                <a:ea typeface="微软雅黑" pitchFamily="34" charset="-122"/>
              </a:rPr>
              <a:t>寻址</a:t>
            </a:r>
          </a:p>
        </p:txBody>
      </p:sp>
      <p:sp>
        <p:nvSpPr>
          <p:cNvPr id="1110026" name="AutoShape 10"/>
          <p:cNvSpPr>
            <a:spLocks noChangeArrowheads="1"/>
          </p:cNvSpPr>
          <p:nvPr/>
        </p:nvSpPr>
        <p:spPr bwMode="auto">
          <a:xfrm>
            <a:off x="457200" y="3810000"/>
            <a:ext cx="2133600" cy="1143000"/>
          </a:xfrm>
          <a:prstGeom prst="wedgeEllipseCallout">
            <a:avLst>
              <a:gd name="adj1" fmla="val -22171"/>
              <a:gd name="adj2" fmla="val 166944"/>
            </a:avLst>
          </a:prstGeom>
          <a:solidFill>
            <a:srgbClr val="ECD8C4"/>
          </a:solidFill>
          <a:ln w="38100">
            <a:solidFill>
              <a:srgbClr val="005A42"/>
            </a:solidFill>
            <a:miter lim="800000"/>
            <a:headEnd/>
            <a:tailEnd/>
          </a:ln>
        </p:spPr>
        <p:txBody>
          <a:bodyPr/>
          <a:lstStyle/>
          <a:p>
            <a:pPr algn="ctr"/>
            <a:r>
              <a:rPr kumimoji="1" lang="en-US" altLang="zh-CN" sz="2800" b="1">
                <a:solidFill>
                  <a:srgbClr val="000099"/>
                </a:solidFill>
                <a:latin typeface="微软雅黑" pitchFamily="34" charset="-122"/>
                <a:ea typeface="微软雅黑" pitchFamily="34" charset="-122"/>
              </a:rPr>
              <a:t>array2</a:t>
            </a:r>
            <a:r>
              <a:rPr kumimoji="1" lang="zh-CN" altLang="en-US" sz="2800" b="1">
                <a:solidFill>
                  <a:srgbClr val="000099"/>
                </a:solidFill>
                <a:latin typeface="微软雅黑" pitchFamily="34" charset="-122"/>
                <a:ea typeface="微软雅黑" pitchFamily="34" charset="-122"/>
              </a:rPr>
              <a:t>的地址</a:t>
            </a:r>
          </a:p>
        </p:txBody>
      </p:sp>
      <p:sp>
        <p:nvSpPr>
          <p:cNvPr id="291853" name="Rectangle 11"/>
          <p:cNvSpPr>
            <a:spLocks noChangeArrowheads="1"/>
          </p:cNvSpPr>
          <p:nvPr/>
        </p:nvSpPr>
        <p:spPr bwMode="auto">
          <a:xfrm>
            <a:off x="0" y="6324600"/>
            <a:ext cx="20574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100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110026"/>
                                        </p:tgtEl>
                                        <p:attrNameLst>
                                          <p:attrName>style.visibility</p:attrName>
                                        </p:attrNameLst>
                                      </p:cBhvr>
                                      <p:to>
                                        <p:strVal val="visible"/>
                                      </p:to>
                                    </p:set>
                                    <p:animEffect transition="in" filter="blinds(horizontal)">
                                      <p:cBhvr>
                                        <p:cTn id="11" dur="500"/>
                                        <p:tgtEl>
                                          <p:spTgt spid="1110026"/>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42" fill="hold" grpId="0" nodeType="clickEffect">
                                  <p:stCondLst>
                                    <p:cond delay="0"/>
                                  </p:stCondLst>
                                  <p:childTnLst>
                                    <p:set>
                                      <p:cBhvr>
                                        <p:cTn id="15" dur="1" fill="hold">
                                          <p:stCondLst>
                                            <p:cond delay="0"/>
                                          </p:stCondLst>
                                        </p:cTn>
                                        <p:tgtEl>
                                          <p:spTgt spid="1110022"/>
                                        </p:tgtEl>
                                        <p:attrNameLst>
                                          <p:attrName>style.visibility</p:attrName>
                                        </p:attrNameLst>
                                      </p:cBhvr>
                                      <p:to>
                                        <p:strVal val="visible"/>
                                      </p:to>
                                    </p:set>
                                    <p:animEffect transition="in" filter="barn(outHorizontal)">
                                      <p:cBhvr>
                                        <p:cTn id="16" dur="500"/>
                                        <p:tgtEl>
                                          <p:spTgt spid="111002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110023"/>
                                        </p:tgtEl>
                                        <p:attrNameLst>
                                          <p:attrName>style.visibility</p:attrName>
                                        </p:attrNameLst>
                                      </p:cBhvr>
                                      <p:to>
                                        <p:strVal val="visible"/>
                                      </p:to>
                                    </p:set>
                                    <p:animEffect transition="in" filter="wipe(left)">
                                      <p:cBhvr>
                                        <p:cTn id="21" dur="500"/>
                                        <p:tgtEl>
                                          <p:spTgt spid="1110023"/>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110024"/>
                                        </p:tgtEl>
                                        <p:attrNameLst>
                                          <p:attrName>style.visibility</p:attrName>
                                        </p:attrNameLst>
                                      </p:cBhvr>
                                      <p:to>
                                        <p:strVal val="visible"/>
                                      </p:to>
                                    </p:set>
                                    <p:animEffect transition="in" filter="wipe(left)">
                                      <p:cBhvr>
                                        <p:cTn id="25" dur="500"/>
                                        <p:tgtEl>
                                          <p:spTgt spid="1110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0022" grpId="0" animBg="1"/>
      <p:bldP spid="1110023" grpId="0" animBg="1"/>
      <p:bldP spid="1110024" grpId="0" animBg="1"/>
      <p:bldP spid="1110025" grpId="0" animBg="1" autoUpdateAnimBg="0"/>
      <p:bldP spid="1110026" grpId="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灯片编号占位符 4"/>
          <p:cNvSpPr txBox="1">
            <a:spLocks noGrp="1"/>
          </p:cNvSpPr>
          <p:nvPr/>
        </p:nvSpPr>
        <p:spPr bwMode="auto">
          <a:xfrm>
            <a:off x="6553200" y="6248400"/>
            <a:ext cx="2133600" cy="457200"/>
          </a:xfrm>
          <a:prstGeom prst="rect">
            <a:avLst/>
          </a:prstGeom>
          <a:noFill/>
          <a:ln w="9525">
            <a:noFill/>
            <a:miter lim="800000"/>
            <a:headEnd/>
            <a:tailEnd/>
          </a:ln>
        </p:spPr>
        <p:txBody>
          <a:bodyPr anchor="b"/>
          <a:lstStyle/>
          <a:p>
            <a:pPr algn="r"/>
            <a:fld id="{BCAC7855-2B8C-4029-8BF0-A9AF5F7AA4BA}" type="slidenum">
              <a:rPr lang="en-US" altLang="zh-CN" sz="1200">
                <a:latin typeface="微软雅黑" pitchFamily="34" charset="-122"/>
                <a:ea typeface="微软雅黑" pitchFamily="34" charset="-122"/>
              </a:rPr>
              <a:pPr algn="r"/>
              <a:t>28</a:t>
            </a:fld>
            <a:endParaRPr lang="en-US" altLang="zh-CN" sz="1200">
              <a:latin typeface="微软雅黑" pitchFamily="34" charset="-122"/>
              <a:ea typeface="微软雅黑" pitchFamily="34" charset="-122"/>
            </a:endParaRPr>
          </a:p>
        </p:txBody>
      </p:sp>
      <p:sp>
        <p:nvSpPr>
          <p:cNvPr id="292867" name="日期占位符 5"/>
          <p:cNvSpPr txBox="1">
            <a:spLocks noGrp="1"/>
          </p:cNvSpPr>
          <p:nvPr/>
        </p:nvSpPr>
        <p:spPr bwMode="auto">
          <a:xfrm>
            <a:off x="893763" y="6245225"/>
            <a:ext cx="1697037" cy="476250"/>
          </a:xfrm>
          <a:prstGeom prst="rect">
            <a:avLst/>
          </a:prstGeom>
          <a:noFill/>
          <a:ln w="9525">
            <a:noFill/>
            <a:miter lim="800000"/>
            <a:headEnd/>
            <a:tailEnd/>
          </a:ln>
        </p:spPr>
        <p:txBody>
          <a:bodyPr anchor="b"/>
          <a:lstStyle/>
          <a:p>
            <a:fld id="{B039573D-F4F7-4B4A-B294-6A947F83F626}" type="datetime1">
              <a:rPr lang="zh-CN" altLang="en-US" sz="1200">
                <a:latin typeface="微软雅黑" pitchFamily="34" charset="-122"/>
                <a:ea typeface="微软雅黑" pitchFamily="34" charset="-122"/>
              </a:rPr>
              <a:pPr/>
              <a:t>2019/2/25</a:t>
            </a:fld>
            <a:endParaRPr lang="en-US" altLang="zh-CN" sz="1200">
              <a:latin typeface="微软雅黑" pitchFamily="34" charset="-122"/>
              <a:ea typeface="微软雅黑" pitchFamily="34" charset="-122"/>
            </a:endParaRPr>
          </a:p>
        </p:txBody>
      </p:sp>
      <p:sp>
        <p:nvSpPr>
          <p:cNvPr id="292868" name="Rectangle 2"/>
          <p:cNvSpPr>
            <a:spLocks noGrp="1" noChangeArrowheads="1"/>
          </p:cNvSpPr>
          <p:nvPr>
            <p:ph type="title" idx="4294967295"/>
          </p:nvPr>
        </p:nvSpPr>
        <p:spPr>
          <a:xfrm>
            <a:off x="0" y="336550"/>
            <a:ext cx="7543800" cy="812800"/>
          </a:xfrm>
        </p:spPr>
        <p:txBody>
          <a:bodyPr anchor="ctr"/>
          <a:lstStyle/>
          <a:p>
            <a:r>
              <a:rPr lang="zh-CN" altLang="en-US" dirty="0">
                <a:solidFill>
                  <a:srgbClr val="FF0000"/>
                </a:solidFill>
                <a:latin typeface="微软雅黑" pitchFamily="34" charset="-122"/>
                <a:ea typeface="微软雅黑" pitchFamily="34" charset="-122"/>
              </a:rPr>
              <a:t>例： </a:t>
            </a:r>
            <a:r>
              <a:rPr lang="en-US" altLang="zh-CN" sz="3000" dirty="0">
                <a:solidFill>
                  <a:srgbClr val="FF0000"/>
                </a:solidFill>
                <a:latin typeface="微软雅黑" pitchFamily="34" charset="-122"/>
                <a:ea typeface="微软雅黑" pitchFamily="34" charset="-122"/>
              </a:rPr>
              <a:t>mov al, [</a:t>
            </a:r>
            <a:r>
              <a:rPr lang="en-US" altLang="zh-CN" sz="3000" dirty="0" err="1">
                <a:solidFill>
                  <a:srgbClr val="FF0000"/>
                </a:solidFill>
                <a:latin typeface="微软雅黑" pitchFamily="34" charset="-122"/>
                <a:ea typeface="微软雅黑" pitchFamily="34" charset="-122"/>
              </a:rPr>
              <a:t>ebx+esi</a:t>
            </a:r>
            <a:r>
              <a:rPr lang="en-US" altLang="zh-CN" sz="3000" dirty="0">
                <a:solidFill>
                  <a:srgbClr val="FF0000"/>
                </a:solidFill>
                <a:latin typeface="微软雅黑" pitchFamily="34" charset="-122"/>
                <a:ea typeface="微软雅黑" pitchFamily="34" charset="-122"/>
              </a:rPr>
              <a:t>]</a:t>
            </a:r>
            <a:endParaRPr lang="en-US" altLang="zh-CN" dirty="0">
              <a:solidFill>
                <a:srgbClr val="FF0000"/>
              </a:solidFill>
              <a:latin typeface="微软雅黑" pitchFamily="34" charset="-122"/>
              <a:ea typeface="微软雅黑" pitchFamily="34" charset="-122"/>
            </a:endParaRPr>
          </a:p>
        </p:txBody>
      </p:sp>
      <p:pic>
        <p:nvPicPr>
          <p:cNvPr id="292869" name="Picture 3" descr="2007-07-05_20-53-44"/>
          <p:cNvPicPr>
            <a:picLocks noChangeAspect="1" noChangeArrowheads="1"/>
          </p:cNvPicPr>
          <p:nvPr/>
        </p:nvPicPr>
        <p:blipFill>
          <a:blip r:embed="rId2" cstate="print"/>
          <a:srcRect/>
          <a:stretch>
            <a:fillRect/>
          </a:stretch>
        </p:blipFill>
        <p:spPr bwMode="auto">
          <a:xfrm>
            <a:off x="0" y="1295400"/>
            <a:ext cx="9144000" cy="5562600"/>
          </a:xfrm>
          <a:prstGeom prst="rect">
            <a:avLst/>
          </a:prstGeom>
          <a:noFill/>
          <a:ln w="9525">
            <a:noFill/>
            <a:miter lim="800000"/>
            <a:headEnd/>
            <a:tailEnd/>
          </a:ln>
        </p:spPr>
      </p:pic>
      <p:sp>
        <p:nvSpPr>
          <p:cNvPr id="292870" name="Rectangle 4"/>
          <p:cNvSpPr>
            <a:spLocks noChangeArrowheads="1"/>
          </p:cNvSpPr>
          <p:nvPr/>
        </p:nvSpPr>
        <p:spPr bwMode="auto">
          <a:xfrm>
            <a:off x="1981200" y="3429000"/>
            <a:ext cx="16764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11045" name="Line 5"/>
          <p:cNvSpPr>
            <a:spLocks noChangeShapeType="1"/>
          </p:cNvSpPr>
          <p:nvPr/>
        </p:nvSpPr>
        <p:spPr bwMode="auto">
          <a:xfrm flipV="1">
            <a:off x="2895600" y="2286000"/>
            <a:ext cx="5105400" cy="4191000"/>
          </a:xfrm>
          <a:prstGeom prst="line">
            <a:avLst/>
          </a:prstGeom>
          <a:noFill/>
          <a:ln w="57150">
            <a:solidFill>
              <a:srgbClr val="005A42"/>
            </a:solidFill>
            <a:round/>
            <a:headEnd/>
            <a:tailEnd type="triangle" w="med" len="med"/>
          </a:ln>
        </p:spPr>
        <p:txBody>
          <a:bodyPr wrap="none"/>
          <a:lstStyle/>
          <a:p>
            <a:endParaRPr lang="zh-CN" altLang="en-US"/>
          </a:p>
        </p:txBody>
      </p:sp>
      <p:sp>
        <p:nvSpPr>
          <p:cNvPr id="1111046" name="Rectangle 6"/>
          <p:cNvSpPr>
            <a:spLocks noChangeArrowheads="1"/>
          </p:cNvSpPr>
          <p:nvPr/>
        </p:nvSpPr>
        <p:spPr bwMode="auto">
          <a:xfrm>
            <a:off x="8001000" y="1752600"/>
            <a:ext cx="533400" cy="533400"/>
          </a:xfrm>
          <a:prstGeom prst="rect">
            <a:avLst/>
          </a:prstGeom>
          <a:noFill/>
          <a:ln w="28575">
            <a:solidFill>
              <a:srgbClr val="005A42"/>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11047" name="AutoShape 7"/>
          <p:cNvSpPr>
            <a:spLocks noChangeArrowheads="1"/>
          </p:cNvSpPr>
          <p:nvPr/>
        </p:nvSpPr>
        <p:spPr bwMode="auto">
          <a:xfrm>
            <a:off x="0" y="1371600"/>
            <a:ext cx="5486400" cy="1371600"/>
          </a:xfrm>
          <a:prstGeom prst="wedgeEllipseCallout">
            <a:avLst>
              <a:gd name="adj1" fmla="val -10329"/>
              <a:gd name="adj2" fmla="val 97222"/>
            </a:avLst>
          </a:prstGeom>
          <a:solidFill>
            <a:srgbClr val="ECD8C4"/>
          </a:solidFill>
          <a:ln w="38100">
            <a:solidFill>
              <a:srgbClr val="005A42"/>
            </a:solidFill>
            <a:miter lim="800000"/>
            <a:headEnd/>
            <a:tailEnd/>
          </a:ln>
        </p:spPr>
        <p:txBody>
          <a:bodyPr/>
          <a:lstStyle/>
          <a:p>
            <a:r>
              <a:rPr kumimoji="1" lang="zh-CN" altLang="en-US" sz="2800" b="1">
                <a:solidFill>
                  <a:srgbClr val="000099"/>
                </a:solidFill>
                <a:latin typeface="微软雅黑" pitchFamily="34" charset="-122"/>
                <a:ea typeface="微软雅黑" pitchFamily="34" charset="-122"/>
              </a:rPr>
              <a:t>基址变址寻址</a:t>
            </a:r>
            <a:r>
              <a:rPr kumimoji="1" lang="en-US" altLang="zh-CN" sz="2800" b="1">
                <a:solidFill>
                  <a:srgbClr val="000099"/>
                </a:solidFill>
                <a:latin typeface="微软雅黑" pitchFamily="34" charset="-122"/>
                <a:ea typeface="微软雅黑" pitchFamily="34" charset="-122"/>
              </a:rPr>
              <a:t>esi+ebx=00404008</a:t>
            </a:r>
          </a:p>
        </p:txBody>
      </p:sp>
      <p:sp>
        <p:nvSpPr>
          <p:cNvPr id="1111048" name="AutoShape 8"/>
          <p:cNvSpPr>
            <a:spLocks noChangeArrowheads="1"/>
          </p:cNvSpPr>
          <p:nvPr/>
        </p:nvSpPr>
        <p:spPr bwMode="auto">
          <a:xfrm>
            <a:off x="304800" y="4648200"/>
            <a:ext cx="4724400" cy="838200"/>
          </a:xfrm>
          <a:prstGeom prst="wedgeEllipseCallout">
            <a:avLst>
              <a:gd name="adj1" fmla="val 2250"/>
              <a:gd name="adj2" fmla="val 164773"/>
            </a:avLst>
          </a:prstGeom>
          <a:solidFill>
            <a:srgbClr val="ECD8C4"/>
          </a:solidFill>
          <a:ln w="38100">
            <a:solidFill>
              <a:srgbClr val="005A42"/>
            </a:solidFill>
            <a:miter lim="800000"/>
            <a:headEnd/>
            <a:tailEnd/>
          </a:ln>
        </p:spPr>
        <p:txBody>
          <a:bodyPr/>
          <a:lstStyle/>
          <a:p>
            <a:r>
              <a:rPr kumimoji="1" lang="en-US" altLang="zh-CN" sz="2800" b="1">
                <a:solidFill>
                  <a:srgbClr val="000099"/>
                </a:solidFill>
                <a:latin typeface="微软雅黑" pitchFamily="34" charset="-122"/>
                <a:ea typeface="微软雅黑" pitchFamily="34" charset="-122"/>
              </a:rPr>
              <a:t>[00404008]=09h</a:t>
            </a:r>
          </a:p>
        </p:txBody>
      </p:sp>
      <p:sp>
        <p:nvSpPr>
          <p:cNvPr id="1111049" name="Rectangle 9"/>
          <p:cNvSpPr>
            <a:spLocks noChangeArrowheads="1"/>
          </p:cNvSpPr>
          <p:nvPr/>
        </p:nvSpPr>
        <p:spPr bwMode="auto">
          <a:xfrm>
            <a:off x="2514600" y="6477000"/>
            <a:ext cx="533400" cy="3810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11047"/>
                                        </p:tgtEl>
                                        <p:attrNameLst>
                                          <p:attrName>style.visibility</p:attrName>
                                        </p:attrNameLst>
                                      </p:cBhvr>
                                      <p:to>
                                        <p:strVal val="visible"/>
                                      </p:to>
                                    </p:set>
                                  </p:childTnLst>
                                </p:cTn>
                              </p:par>
                            </p:childTnLst>
                          </p:cTn>
                        </p:par>
                        <p:par>
                          <p:cTn id="7" fill="hold">
                            <p:stCondLst>
                              <p:cond delay="500"/>
                            </p:stCondLst>
                            <p:childTnLst>
                              <p:par>
                                <p:cTn id="8" presetID="22" presetClass="entr" presetSubtype="1" fill="hold" grpId="0" nodeType="afterEffect">
                                  <p:stCondLst>
                                    <p:cond delay="0"/>
                                  </p:stCondLst>
                                  <p:childTnLst>
                                    <p:set>
                                      <p:cBhvr>
                                        <p:cTn id="9" dur="1" fill="hold">
                                          <p:stCondLst>
                                            <p:cond delay="0"/>
                                          </p:stCondLst>
                                        </p:cTn>
                                        <p:tgtEl>
                                          <p:spTgt spid="1111049"/>
                                        </p:tgtEl>
                                        <p:attrNameLst>
                                          <p:attrName>style.visibility</p:attrName>
                                        </p:attrNameLst>
                                      </p:cBhvr>
                                      <p:to>
                                        <p:strVal val="visible"/>
                                      </p:to>
                                    </p:set>
                                    <p:animEffect transition="in" filter="wipe(up)">
                                      <p:cBhvr>
                                        <p:cTn id="10" dur="500"/>
                                        <p:tgtEl>
                                          <p:spTgt spid="1111049"/>
                                        </p:tgtEl>
                                      </p:cBhvr>
                                    </p:animEffect>
                                  </p:childTnLst>
                                </p:cTn>
                              </p:par>
                            </p:childTnLst>
                          </p:cTn>
                        </p:par>
                        <p:par>
                          <p:cTn id="11" fill="hold">
                            <p:stCondLst>
                              <p:cond delay="1000"/>
                            </p:stCondLst>
                            <p:childTnLst>
                              <p:par>
                                <p:cTn id="12" presetID="3" presetClass="entr" presetSubtype="10" fill="hold" grpId="0" nodeType="afterEffect">
                                  <p:stCondLst>
                                    <p:cond delay="0"/>
                                  </p:stCondLst>
                                  <p:childTnLst>
                                    <p:set>
                                      <p:cBhvr>
                                        <p:cTn id="13" dur="1" fill="hold">
                                          <p:stCondLst>
                                            <p:cond delay="0"/>
                                          </p:stCondLst>
                                        </p:cTn>
                                        <p:tgtEl>
                                          <p:spTgt spid="1111048"/>
                                        </p:tgtEl>
                                        <p:attrNameLst>
                                          <p:attrName>style.visibility</p:attrName>
                                        </p:attrNameLst>
                                      </p:cBhvr>
                                      <p:to>
                                        <p:strVal val="visible"/>
                                      </p:to>
                                    </p:set>
                                    <p:animEffect transition="in" filter="blinds(horizontal)">
                                      <p:cBhvr>
                                        <p:cTn id="14" dur="500"/>
                                        <p:tgtEl>
                                          <p:spTgt spid="111104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111045"/>
                                        </p:tgtEl>
                                        <p:attrNameLst>
                                          <p:attrName>style.visibility</p:attrName>
                                        </p:attrNameLst>
                                      </p:cBhvr>
                                      <p:to>
                                        <p:strVal val="visible"/>
                                      </p:to>
                                    </p:set>
                                    <p:animEffect transition="in" filter="wipe(left)">
                                      <p:cBhvr>
                                        <p:cTn id="19" dur="500"/>
                                        <p:tgtEl>
                                          <p:spTgt spid="1111045"/>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1111046"/>
                                        </p:tgtEl>
                                        <p:attrNameLst>
                                          <p:attrName>style.visibility</p:attrName>
                                        </p:attrNameLst>
                                      </p:cBhvr>
                                      <p:to>
                                        <p:strVal val="visible"/>
                                      </p:to>
                                    </p:set>
                                    <p:animEffect transition="in" filter="wipe(left)">
                                      <p:cBhvr>
                                        <p:cTn id="23" dur="500"/>
                                        <p:tgtEl>
                                          <p:spTgt spid="11110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1045" grpId="0" animBg="1"/>
      <p:bldP spid="1111046" grpId="0" animBg="1"/>
      <p:bldP spid="1111047" grpId="0" animBg="1" autoUpdateAnimBg="0"/>
      <p:bldP spid="1111048" grpId="0" animBg="1" autoUpdateAnimBg="0"/>
      <p:bldP spid="111104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r>
              <a:rPr lang="en-US" altLang="zh-CN"/>
              <a:t>7</a:t>
            </a:r>
            <a:r>
              <a:rPr lang="zh-CN" altLang="en-US"/>
              <a:t>、相对基址变址寻址方式 </a:t>
            </a:r>
          </a:p>
        </p:txBody>
      </p:sp>
      <p:sp>
        <p:nvSpPr>
          <p:cNvPr id="138243" name="Rectangle 3"/>
          <p:cNvSpPr>
            <a:spLocks noGrp="1" noChangeArrowheads="1"/>
          </p:cNvSpPr>
          <p:nvPr>
            <p:ph idx="1"/>
          </p:nvPr>
        </p:nvSpPr>
        <p:spPr/>
        <p:txBody>
          <a:bodyPr/>
          <a:lstStyle/>
          <a:p>
            <a:r>
              <a:rPr lang="zh-CN" altLang="en-US" dirty="0"/>
              <a:t>在该寻址方式下，有效地址</a:t>
            </a:r>
            <a:r>
              <a:rPr lang="en-US" altLang="zh-CN" dirty="0"/>
              <a:t>EA</a:t>
            </a:r>
            <a:r>
              <a:rPr lang="zh-CN" altLang="en-US" dirty="0"/>
              <a:t>等于基址寄存器</a:t>
            </a:r>
            <a:r>
              <a:rPr lang="en-US" altLang="zh-CN" dirty="0"/>
              <a:t>BR</a:t>
            </a:r>
            <a:r>
              <a:rPr lang="zh-CN" altLang="en-US" dirty="0"/>
              <a:t>的值加变址寄存器</a:t>
            </a:r>
            <a:r>
              <a:rPr lang="en-US" altLang="zh-CN" dirty="0"/>
              <a:t>IR</a:t>
            </a:r>
            <a:r>
              <a:rPr lang="zh-CN" altLang="en-US" dirty="0"/>
              <a:t>的值加位移量</a:t>
            </a:r>
            <a:r>
              <a:rPr lang="en-US" altLang="zh-CN" dirty="0"/>
              <a:t>X</a:t>
            </a:r>
            <a:r>
              <a:rPr lang="zh-CN" altLang="en-US" dirty="0"/>
              <a:t>的和</a:t>
            </a:r>
          </a:p>
          <a:p>
            <a:endParaRPr lang="zh-CN" altLang="en-US" dirty="0"/>
          </a:p>
          <a:p>
            <a:endParaRPr lang="zh-CN" altLang="en-US" dirty="0"/>
          </a:p>
          <a:p>
            <a:r>
              <a:rPr lang="zh-CN" altLang="en-US" dirty="0"/>
              <a:t>例 </a:t>
            </a:r>
            <a:r>
              <a:rPr lang="en-US" altLang="zh-CN" dirty="0"/>
              <a:t>2.1.7	MOV	AX</a:t>
            </a:r>
            <a:r>
              <a:rPr lang="zh-CN" altLang="en-US" dirty="0"/>
              <a:t>，</a:t>
            </a:r>
            <a:r>
              <a:rPr lang="en-US" altLang="zh-CN" dirty="0" err="1"/>
              <a:t>Disp</a:t>
            </a:r>
            <a:r>
              <a:rPr lang="en-US" altLang="zh-CN" dirty="0"/>
              <a:t>[EBX][EDI]</a:t>
            </a:r>
          </a:p>
          <a:p>
            <a:pPr>
              <a:buFont typeface="Wingdings" pitchFamily="2" charset="2"/>
              <a:buNone/>
            </a:pPr>
            <a:r>
              <a:rPr lang="en-US" altLang="zh-CN" dirty="0"/>
              <a:t>   </a:t>
            </a:r>
            <a:r>
              <a:rPr lang="zh-CN" altLang="en-US" dirty="0"/>
              <a:t>（或写为</a:t>
            </a:r>
            <a:r>
              <a:rPr lang="en-US" altLang="zh-CN" dirty="0"/>
              <a:t>MOV AX</a:t>
            </a:r>
            <a:r>
              <a:rPr lang="zh-CN" altLang="en-US" dirty="0"/>
              <a:t>，</a:t>
            </a:r>
            <a:r>
              <a:rPr lang="en-US" altLang="zh-CN" dirty="0" err="1"/>
              <a:t>Disp</a:t>
            </a:r>
            <a:r>
              <a:rPr lang="en-US" altLang="zh-CN" dirty="0"/>
              <a:t>[EBX+EDI]</a:t>
            </a:r>
            <a:r>
              <a:rPr lang="zh-CN" altLang="en-US" dirty="0"/>
              <a:t>和</a:t>
            </a:r>
            <a:r>
              <a:rPr lang="en-US" altLang="zh-CN" dirty="0"/>
              <a:t>MOV AX</a:t>
            </a:r>
            <a:r>
              <a:rPr lang="zh-CN" altLang="en-US" dirty="0"/>
              <a:t>，</a:t>
            </a:r>
            <a:r>
              <a:rPr lang="en-US" altLang="zh-CN" dirty="0"/>
              <a:t>[</a:t>
            </a:r>
            <a:r>
              <a:rPr lang="en-US" altLang="zh-CN" dirty="0" err="1"/>
              <a:t>Disp+EBX+EDI</a:t>
            </a:r>
            <a:r>
              <a:rPr lang="en-US" altLang="zh-CN" dirty="0"/>
              <a:t>]</a:t>
            </a:r>
            <a:r>
              <a:rPr lang="zh-CN" altLang="en-US" dirty="0" smtClean="0"/>
              <a:t>）</a:t>
            </a:r>
            <a:endParaRPr lang="en-US" altLang="zh-CN" dirty="0" smtClean="0"/>
          </a:p>
          <a:p>
            <a:pPr>
              <a:buFont typeface="Wingdings" pitchFamily="2" charset="2"/>
              <a:buNone/>
            </a:pPr>
            <a:r>
              <a:rPr lang="zh-CN" altLang="en-US" dirty="0" smtClean="0">
                <a:solidFill>
                  <a:srgbClr val="FF0000"/>
                </a:solidFill>
              </a:rPr>
              <a:t>通常用于二维数组的寻址</a:t>
            </a:r>
            <a:endParaRPr lang="zh-CN" altLang="en-US" dirty="0">
              <a:solidFill>
                <a:srgbClr val="FF0000"/>
              </a:solidFill>
            </a:endParaRPr>
          </a:p>
        </p:txBody>
      </p:sp>
      <p:sp>
        <p:nvSpPr>
          <p:cNvPr id="138245" name="Text Box 4"/>
          <p:cNvSpPr txBox="1">
            <a:spLocks noChangeArrowheads="1"/>
          </p:cNvSpPr>
          <p:nvPr/>
        </p:nvSpPr>
        <p:spPr bwMode="auto">
          <a:xfrm>
            <a:off x="539750" y="3141663"/>
            <a:ext cx="8382000" cy="485775"/>
          </a:xfrm>
          <a:prstGeom prst="rect">
            <a:avLst/>
          </a:prstGeom>
          <a:solidFill>
            <a:srgbClr val="ECD8C4"/>
          </a:solidFill>
          <a:ln w="28575">
            <a:solidFill>
              <a:schemeClr val="hlink"/>
            </a:solidFill>
            <a:miter lim="800000"/>
            <a:headEnd/>
            <a:tailEnd/>
          </a:ln>
        </p:spPr>
        <p:txBody>
          <a:bodyPr>
            <a:spAutoFit/>
          </a:bodyPr>
          <a:lstStyle/>
          <a:p>
            <a:pPr>
              <a:spcBef>
                <a:spcPct val="20000"/>
              </a:spcBef>
              <a:buClr>
                <a:schemeClr val="folHlink"/>
              </a:buClr>
              <a:buFont typeface="Wingdings" pitchFamily="2" charset="2"/>
              <a:buNone/>
            </a:pPr>
            <a:r>
              <a:rPr kumimoji="1" lang="zh-CN" altLang="en-US" sz="2400" b="1">
                <a:latin typeface="微软雅黑" pitchFamily="34" charset="-122"/>
                <a:ea typeface="微软雅黑" pitchFamily="34" charset="-122"/>
              </a:rPr>
              <a:t>有效地址＝基址寄存器</a:t>
            </a:r>
            <a:r>
              <a:rPr kumimoji="1" lang="en-US" altLang="zh-CN" sz="2400" b="1">
                <a:latin typeface="微软雅黑" pitchFamily="34" charset="-122"/>
                <a:ea typeface="微软雅黑" pitchFamily="34" charset="-122"/>
              </a:rPr>
              <a:t>+</a:t>
            </a:r>
            <a:r>
              <a:rPr kumimoji="1" lang="zh-CN" altLang="en-US" sz="2400" b="1">
                <a:latin typeface="微软雅黑" pitchFamily="34" charset="-122"/>
                <a:ea typeface="微软雅黑" pitchFamily="34" charset="-122"/>
              </a:rPr>
              <a:t>变址寄存器</a:t>
            </a:r>
            <a:r>
              <a:rPr kumimoji="1" lang="en-US" altLang="zh-CN" sz="2400" b="1">
                <a:latin typeface="微软雅黑" pitchFamily="34" charset="-122"/>
                <a:ea typeface="微软雅黑" pitchFamily="34" charset="-122"/>
              </a:rPr>
              <a:t>+8/16/32</a:t>
            </a:r>
            <a:r>
              <a:rPr kumimoji="1" lang="zh-CN" altLang="en-US" sz="2400" b="1">
                <a:latin typeface="微软雅黑" pitchFamily="34" charset="-122"/>
                <a:ea typeface="微软雅黑" pitchFamily="34" charset="-122"/>
              </a:rPr>
              <a:t>位位移量 </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Grp="1" noChangeArrowheads="1"/>
          </p:cNvSpPr>
          <p:nvPr>
            <p:ph type="title" idx="4294967295"/>
          </p:nvPr>
        </p:nvSpPr>
        <p:spPr>
          <a:xfrm>
            <a:off x="682625" y="677863"/>
            <a:ext cx="8461375" cy="846137"/>
          </a:xfrm>
        </p:spPr>
        <p:txBody>
          <a:bodyPr anchor="ctr"/>
          <a:lstStyle/>
          <a:p>
            <a:r>
              <a:rPr lang="zh-CN" altLang="en-US" dirty="0">
                <a:solidFill>
                  <a:srgbClr val="FF0000"/>
                </a:solidFill>
                <a:latin typeface="微软雅黑" pitchFamily="34" charset="-122"/>
                <a:ea typeface="微软雅黑" pitchFamily="34" charset="-122"/>
              </a:rPr>
              <a:t>例：相对基址变址寻址</a:t>
            </a:r>
            <a:r>
              <a:rPr lang="zh-CN" altLang="en-US" dirty="0">
                <a:latin typeface="微软雅黑" pitchFamily="34" charset="-122"/>
                <a:ea typeface="微软雅黑" pitchFamily="34" charset="-122"/>
              </a:rPr>
              <a:t> </a:t>
            </a:r>
          </a:p>
        </p:txBody>
      </p:sp>
      <p:sp>
        <p:nvSpPr>
          <p:cNvPr id="293891" name="AutoShape 3"/>
          <p:cNvSpPr>
            <a:spLocks noChangeArrowheads="1"/>
          </p:cNvSpPr>
          <p:nvPr/>
        </p:nvSpPr>
        <p:spPr bwMode="auto">
          <a:xfrm>
            <a:off x="609600" y="1524000"/>
            <a:ext cx="7924800" cy="4953000"/>
          </a:xfrm>
          <a:prstGeom prst="flowChartAlternateProcess">
            <a:avLst/>
          </a:prstGeom>
          <a:solidFill>
            <a:srgbClr val="ECD8C4"/>
          </a:solidFill>
          <a:ln w="57150" cmpd="thinThick">
            <a:solidFill>
              <a:schemeClr val="tx2"/>
            </a:solidFill>
            <a:miter lim="800000"/>
            <a:headEnd/>
            <a:tailEnd/>
          </a:ln>
        </p:spPr>
        <p:txBody>
          <a:bodyPr wrap="none" anchor="ctr"/>
          <a:lstStyle/>
          <a:p>
            <a:r>
              <a:rPr kumimoji="1" lang="en-US" altLang="zh-CN" sz="2000" b="1" dirty="0">
                <a:latin typeface="微软雅黑" pitchFamily="34" charset="-122"/>
                <a:ea typeface="微软雅黑" pitchFamily="34" charset="-122"/>
              </a:rPr>
              <a:t>.386</a:t>
            </a:r>
          </a:p>
          <a:p>
            <a:r>
              <a:rPr kumimoji="1" lang="en-US" altLang="zh-CN" sz="2000" b="1" dirty="0">
                <a:latin typeface="微软雅黑" pitchFamily="34" charset="-122"/>
                <a:ea typeface="微软雅黑" pitchFamily="34" charset="-122"/>
              </a:rPr>
              <a:t>.model flat, </a:t>
            </a:r>
            <a:r>
              <a:rPr kumimoji="1" lang="en-US" altLang="zh-CN" sz="2000" b="1" dirty="0" err="1">
                <a:latin typeface="微软雅黑" pitchFamily="34" charset="-122"/>
                <a:ea typeface="微软雅黑" pitchFamily="34" charset="-122"/>
              </a:rPr>
              <a:t>stdcall</a:t>
            </a:r>
            <a:endParaRPr kumimoji="1" lang="en-US" altLang="zh-CN" sz="2000" b="1" dirty="0">
              <a:latin typeface="微软雅黑" pitchFamily="34" charset="-122"/>
              <a:ea typeface="微软雅黑" pitchFamily="34" charset="-122"/>
            </a:endParaRPr>
          </a:p>
          <a:p>
            <a:r>
              <a:rPr kumimoji="1" lang="en-US" altLang="zh-CN" sz="2000" b="1" dirty="0">
                <a:latin typeface="微软雅黑" pitchFamily="34" charset="-122"/>
                <a:ea typeface="微软雅黑" pitchFamily="34" charset="-122"/>
              </a:rPr>
              <a:t>.data</a:t>
            </a:r>
          </a:p>
          <a:p>
            <a:r>
              <a:rPr kumimoji="1" lang="en-US" altLang="zh-CN" sz="2000" b="1" dirty="0">
                <a:latin typeface="微软雅黑" pitchFamily="34" charset="-122"/>
                <a:ea typeface="微软雅黑" pitchFamily="34" charset="-122"/>
              </a:rPr>
              <a:t> array byte 1,2,3,4,5,6,7</a:t>
            </a:r>
          </a:p>
          <a:p>
            <a:r>
              <a:rPr kumimoji="1" lang="en-US" altLang="zh-CN" sz="2000" b="1" dirty="0">
                <a:latin typeface="微软雅黑" pitchFamily="34" charset="-122"/>
                <a:ea typeface="微软雅黑" pitchFamily="34" charset="-122"/>
              </a:rPr>
              <a:t>          byte 8,9,10,11,12,13,14</a:t>
            </a:r>
          </a:p>
          <a:p>
            <a:r>
              <a:rPr kumimoji="1" lang="en-US" altLang="zh-CN" sz="2000" b="1" dirty="0">
                <a:latin typeface="微软雅黑" pitchFamily="34" charset="-122"/>
                <a:ea typeface="微软雅黑" pitchFamily="34" charset="-122"/>
              </a:rPr>
              <a:t>          byte  15,16,17,18,19,20,21</a:t>
            </a:r>
          </a:p>
          <a:p>
            <a:r>
              <a:rPr kumimoji="1" lang="en-US" altLang="zh-CN" sz="2000" b="1" dirty="0">
                <a:latin typeface="微软雅黑" pitchFamily="34" charset="-122"/>
                <a:ea typeface="微软雅黑" pitchFamily="34" charset="-122"/>
              </a:rPr>
              <a:t> </a:t>
            </a:r>
            <a:r>
              <a:rPr kumimoji="1" lang="en-US" altLang="zh-CN" sz="2000" b="1" dirty="0" err="1">
                <a:latin typeface="微软雅黑" pitchFamily="34" charset="-122"/>
                <a:ea typeface="微软雅黑" pitchFamily="34" charset="-122"/>
              </a:rPr>
              <a:t>numcols</a:t>
            </a:r>
            <a:r>
              <a:rPr kumimoji="1" lang="en-US" altLang="zh-CN" sz="2000" b="1" dirty="0">
                <a:latin typeface="微软雅黑" pitchFamily="34" charset="-122"/>
                <a:ea typeface="微软雅黑" pitchFamily="34" charset="-122"/>
              </a:rPr>
              <a:t> equ 7 </a:t>
            </a:r>
          </a:p>
          <a:p>
            <a:r>
              <a:rPr kumimoji="1" lang="en-US" altLang="zh-CN" sz="2000" b="1" dirty="0">
                <a:latin typeface="微软雅黑" pitchFamily="34" charset="-122"/>
                <a:ea typeface="微软雅黑" pitchFamily="34" charset="-122"/>
              </a:rPr>
              <a:t> n equ 2</a:t>
            </a:r>
          </a:p>
          <a:p>
            <a:r>
              <a:rPr kumimoji="1" lang="en-US" altLang="zh-CN" sz="2000" b="1" dirty="0">
                <a:latin typeface="微软雅黑" pitchFamily="34" charset="-122"/>
                <a:ea typeface="微软雅黑" pitchFamily="34" charset="-122"/>
              </a:rPr>
              <a:t>.code</a:t>
            </a:r>
          </a:p>
          <a:p>
            <a:r>
              <a:rPr kumimoji="1" lang="en-US" altLang="zh-CN" sz="2000" b="1" dirty="0">
                <a:latin typeface="微软雅黑" pitchFamily="34" charset="-122"/>
                <a:ea typeface="微软雅黑" pitchFamily="34" charset="-122"/>
              </a:rPr>
              <a:t>	start:		</a:t>
            </a:r>
          </a:p>
          <a:p>
            <a:r>
              <a:rPr kumimoji="1" lang="en-US" altLang="zh-CN" sz="2000" b="1" dirty="0">
                <a:latin typeface="微软雅黑" pitchFamily="34" charset="-122"/>
                <a:ea typeface="微软雅黑" pitchFamily="34" charset="-122"/>
              </a:rPr>
              <a:t> 	mov </a:t>
            </a:r>
            <a:r>
              <a:rPr kumimoji="1" lang="en-US" altLang="zh-CN" sz="2000" b="1" dirty="0" err="1">
                <a:latin typeface="微软雅黑" pitchFamily="34" charset="-122"/>
                <a:ea typeface="微软雅黑" pitchFamily="34" charset="-122"/>
              </a:rPr>
              <a:t>ebx</a:t>
            </a:r>
            <a:r>
              <a:rPr kumimoji="1" lang="en-US" altLang="zh-CN" sz="2000" b="1" dirty="0">
                <a:latin typeface="微软雅黑" pitchFamily="34" charset="-122"/>
                <a:ea typeface="微软雅黑" pitchFamily="34" charset="-122"/>
              </a:rPr>
              <a:t>, </a:t>
            </a:r>
            <a:r>
              <a:rPr kumimoji="1" lang="en-US" altLang="zh-CN" sz="2000" b="1" dirty="0" err="1">
                <a:latin typeface="微软雅黑" pitchFamily="34" charset="-122"/>
                <a:ea typeface="微软雅黑" pitchFamily="34" charset="-122"/>
              </a:rPr>
              <a:t>numcols</a:t>
            </a:r>
            <a:endParaRPr kumimoji="1" lang="en-US" altLang="zh-CN" sz="2000" b="1" dirty="0">
              <a:latin typeface="微软雅黑" pitchFamily="34" charset="-122"/>
              <a:ea typeface="微软雅黑" pitchFamily="34" charset="-122"/>
            </a:endParaRPr>
          </a:p>
          <a:p>
            <a:r>
              <a:rPr kumimoji="1" lang="en-US" altLang="zh-CN" sz="2000" b="1" dirty="0">
                <a:latin typeface="微软雅黑" pitchFamily="34" charset="-122"/>
                <a:ea typeface="微软雅黑" pitchFamily="34" charset="-122"/>
              </a:rPr>
              <a:t>            mov esi,1</a:t>
            </a:r>
          </a:p>
          <a:p>
            <a:r>
              <a:rPr kumimoji="1" lang="en-US" altLang="zh-CN" sz="2000" b="1" dirty="0">
                <a:latin typeface="微软雅黑" pitchFamily="34" charset="-122"/>
                <a:ea typeface="微软雅黑" pitchFamily="34" charset="-122"/>
              </a:rPr>
              <a:t>   	mov al, array[</a:t>
            </a:r>
            <a:r>
              <a:rPr kumimoji="1" lang="en-US" altLang="zh-CN" sz="2000" b="1" dirty="0" err="1">
                <a:latin typeface="微软雅黑" pitchFamily="34" charset="-122"/>
                <a:ea typeface="微软雅黑" pitchFamily="34" charset="-122"/>
              </a:rPr>
              <a:t>ebx</a:t>
            </a:r>
            <a:r>
              <a:rPr kumimoji="1" lang="en-US" altLang="zh-CN" sz="2000" b="1" dirty="0">
                <a:latin typeface="微软雅黑" pitchFamily="34" charset="-122"/>
                <a:ea typeface="微软雅黑" pitchFamily="34" charset="-122"/>
              </a:rPr>
              <a:t>][</a:t>
            </a:r>
            <a:r>
              <a:rPr kumimoji="1" lang="en-US" altLang="zh-CN" sz="2000" b="1" dirty="0" err="1">
                <a:latin typeface="微软雅黑" pitchFamily="34" charset="-122"/>
                <a:ea typeface="微软雅黑" pitchFamily="34" charset="-122"/>
              </a:rPr>
              <a:t>esi</a:t>
            </a:r>
            <a:r>
              <a:rPr kumimoji="1" lang="en-US" altLang="zh-CN" sz="2000" b="1" dirty="0">
                <a:latin typeface="微软雅黑" pitchFamily="34" charset="-122"/>
                <a:ea typeface="微软雅黑" pitchFamily="34" charset="-122"/>
              </a:rPr>
              <a:t>]</a:t>
            </a:r>
          </a:p>
          <a:p>
            <a:r>
              <a:rPr kumimoji="1" lang="en-US" altLang="zh-CN" sz="2000" b="1" dirty="0">
                <a:latin typeface="微软雅黑" pitchFamily="34" charset="-122"/>
                <a:ea typeface="微软雅黑" pitchFamily="34" charset="-122"/>
              </a:rPr>
              <a:t>   	ret	;</a:t>
            </a:r>
            <a:r>
              <a:rPr kumimoji="1" lang="zh-CN" altLang="en-US" sz="2000" b="1" dirty="0">
                <a:latin typeface="微软雅黑" pitchFamily="34" charset="-122"/>
                <a:ea typeface="微软雅黑" pitchFamily="34" charset="-122"/>
              </a:rPr>
              <a:t>返回操作系统</a:t>
            </a:r>
          </a:p>
          <a:p>
            <a:r>
              <a:rPr kumimoji="1" lang="zh-CN" altLang="en-US" sz="2000" b="1" dirty="0">
                <a:latin typeface="微软雅黑" pitchFamily="34" charset="-122"/>
                <a:ea typeface="微软雅黑" pitchFamily="34" charset="-122"/>
              </a:rPr>
              <a:t>	</a:t>
            </a:r>
            <a:r>
              <a:rPr kumimoji="1" lang="en-US" altLang="zh-CN" sz="2000" b="1" dirty="0">
                <a:latin typeface="微软雅黑" pitchFamily="34" charset="-122"/>
                <a:ea typeface="微软雅黑" pitchFamily="34" charset="-122"/>
              </a:rPr>
              <a:t>end start	;</a:t>
            </a:r>
            <a:r>
              <a:rPr kumimoji="1" lang="zh-CN" altLang="en-US" sz="2000" b="1" dirty="0">
                <a:latin typeface="微软雅黑" pitchFamily="34" charset="-122"/>
                <a:ea typeface="微软雅黑" pitchFamily="34" charset="-122"/>
              </a:rPr>
              <a:t>汇编结束</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Grp="1" noChangeArrowheads="1"/>
          </p:cNvSpPr>
          <p:nvPr>
            <p:ph type="title" idx="4294967295"/>
          </p:nvPr>
        </p:nvSpPr>
        <p:spPr>
          <a:xfrm>
            <a:off x="0" y="274638"/>
            <a:ext cx="8229600" cy="1143000"/>
          </a:xfrm>
        </p:spPr>
        <p:txBody>
          <a:bodyPr anchor="ctr"/>
          <a:lstStyle/>
          <a:p>
            <a:r>
              <a:rPr lang="zh-CN" altLang="en-US" sz="2600" dirty="0">
                <a:solidFill>
                  <a:srgbClr val="FF0000"/>
                </a:solidFill>
                <a:latin typeface="微软雅黑" pitchFamily="34" charset="-122"/>
                <a:ea typeface="微软雅黑" pitchFamily="34" charset="-122"/>
              </a:rPr>
              <a:t>例：</a:t>
            </a:r>
            <a:r>
              <a:rPr lang="en-US" altLang="zh-CN" sz="2600" dirty="0">
                <a:solidFill>
                  <a:srgbClr val="FF0000"/>
                </a:solidFill>
                <a:latin typeface="微软雅黑" pitchFamily="34" charset="-122"/>
                <a:ea typeface="微软雅黑" pitchFamily="34" charset="-122"/>
              </a:rPr>
              <a:t>mov </a:t>
            </a:r>
            <a:r>
              <a:rPr lang="en-US" altLang="zh-CN" sz="2600" dirty="0" err="1">
                <a:solidFill>
                  <a:srgbClr val="FF0000"/>
                </a:solidFill>
                <a:latin typeface="微软雅黑" pitchFamily="34" charset="-122"/>
                <a:ea typeface="微软雅黑" pitchFamily="34" charset="-122"/>
              </a:rPr>
              <a:t>ebx</a:t>
            </a:r>
            <a:r>
              <a:rPr lang="en-US" altLang="zh-CN" sz="2600" dirty="0">
                <a:solidFill>
                  <a:srgbClr val="FF0000"/>
                </a:solidFill>
                <a:latin typeface="微软雅黑" pitchFamily="34" charset="-122"/>
                <a:ea typeface="微软雅黑" pitchFamily="34" charset="-122"/>
              </a:rPr>
              <a:t>, </a:t>
            </a:r>
            <a:r>
              <a:rPr lang="en-US" altLang="zh-CN" sz="2600" dirty="0" err="1">
                <a:solidFill>
                  <a:srgbClr val="FF0000"/>
                </a:solidFill>
                <a:latin typeface="微软雅黑" pitchFamily="34" charset="-122"/>
                <a:ea typeface="微软雅黑" pitchFamily="34" charset="-122"/>
              </a:rPr>
              <a:t>numcols</a:t>
            </a:r>
            <a:endParaRPr lang="en-US" altLang="zh-CN" sz="2600" dirty="0">
              <a:solidFill>
                <a:srgbClr val="FF0000"/>
              </a:solidFill>
              <a:latin typeface="微软雅黑" pitchFamily="34" charset="-122"/>
              <a:ea typeface="微软雅黑" pitchFamily="34" charset="-122"/>
            </a:endParaRPr>
          </a:p>
        </p:txBody>
      </p:sp>
      <p:grpSp>
        <p:nvGrpSpPr>
          <p:cNvPr id="4" name="Group 3"/>
          <p:cNvGrpSpPr>
            <a:grpSpLocks/>
          </p:cNvGrpSpPr>
          <p:nvPr/>
        </p:nvGrpSpPr>
        <p:grpSpPr bwMode="auto">
          <a:xfrm>
            <a:off x="382588" y="1447800"/>
            <a:ext cx="8618537" cy="4968875"/>
            <a:chOff x="241" y="912"/>
            <a:chExt cx="5429" cy="3130"/>
          </a:xfrm>
        </p:grpSpPr>
        <p:pic>
          <p:nvPicPr>
            <p:cNvPr id="294916" name="Picture 3" descr="2007-07-05_21-17-40"/>
            <p:cNvPicPr>
              <a:picLocks noChangeAspect="1" noChangeArrowheads="1"/>
            </p:cNvPicPr>
            <p:nvPr/>
          </p:nvPicPr>
          <p:blipFill>
            <a:blip r:embed="rId2" cstate="print"/>
            <a:srcRect/>
            <a:stretch>
              <a:fillRect/>
            </a:stretch>
          </p:blipFill>
          <p:spPr bwMode="auto">
            <a:xfrm>
              <a:off x="241" y="912"/>
              <a:ext cx="5429" cy="2081"/>
            </a:xfrm>
            <a:prstGeom prst="rect">
              <a:avLst/>
            </a:prstGeom>
            <a:noFill/>
            <a:ln w="9525">
              <a:noFill/>
              <a:miter lim="800000"/>
              <a:headEnd/>
              <a:tailEnd/>
            </a:ln>
          </p:spPr>
        </p:pic>
        <p:sp>
          <p:nvSpPr>
            <p:cNvPr id="1115140" name="Rectangle 4"/>
            <p:cNvSpPr>
              <a:spLocks noChangeArrowheads="1"/>
            </p:cNvSpPr>
            <p:nvPr/>
          </p:nvSpPr>
          <p:spPr bwMode="auto">
            <a:xfrm>
              <a:off x="444" y="1878"/>
              <a:ext cx="2064" cy="24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15141" name="Line 5"/>
            <p:cNvSpPr>
              <a:spLocks noChangeShapeType="1"/>
            </p:cNvSpPr>
            <p:nvPr/>
          </p:nvSpPr>
          <p:spPr bwMode="auto">
            <a:xfrm flipV="1">
              <a:off x="2604" y="1584"/>
              <a:ext cx="1056" cy="480"/>
            </a:xfrm>
            <a:prstGeom prst="line">
              <a:avLst/>
            </a:prstGeom>
            <a:noFill/>
            <a:ln w="57150">
              <a:solidFill>
                <a:srgbClr val="005A42"/>
              </a:solidFill>
              <a:round/>
              <a:headEnd/>
              <a:tailEnd type="triangle" w="med" len="med"/>
            </a:ln>
          </p:spPr>
          <p:txBody>
            <a:bodyPr wrap="none"/>
            <a:lstStyle/>
            <a:p>
              <a:endParaRPr lang="zh-CN" altLang="en-US"/>
            </a:p>
          </p:txBody>
        </p:sp>
        <p:sp>
          <p:nvSpPr>
            <p:cNvPr id="1115142" name="Rectangle 6"/>
            <p:cNvSpPr>
              <a:spLocks noChangeArrowheads="1"/>
            </p:cNvSpPr>
            <p:nvPr/>
          </p:nvSpPr>
          <p:spPr bwMode="auto">
            <a:xfrm>
              <a:off x="3660" y="1344"/>
              <a:ext cx="1776" cy="24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294920" name="Rectangle 8"/>
            <p:cNvSpPr>
              <a:spLocks noChangeArrowheads="1"/>
            </p:cNvSpPr>
            <p:nvPr/>
          </p:nvSpPr>
          <p:spPr bwMode="auto">
            <a:xfrm>
              <a:off x="709" y="3185"/>
              <a:ext cx="1255" cy="327"/>
            </a:xfrm>
            <a:prstGeom prst="rect">
              <a:avLst/>
            </a:prstGeom>
            <a:noFill/>
            <a:ln w="9525" algn="ctr">
              <a:noFill/>
              <a:miter lim="800000"/>
              <a:headEnd/>
              <a:tailEnd/>
            </a:ln>
            <a:effectLst/>
          </p:spPr>
          <p:txBody>
            <a:bodyPr wrap="none">
              <a:spAutoFit/>
            </a:bodyPr>
            <a:lstStyle/>
            <a:p>
              <a:r>
                <a:rPr lang="en-US" altLang="zh-CN" sz="2800" b="1" dirty="0">
                  <a:solidFill>
                    <a:srgbClr val="FF0000"/>
                  </a:solidFill>
                  <a:latin typeface="微软雅黑" pitchFamily="34" charset="-122"/>
                  <a:ea typeface="微软雅黑" pitchFamily="34" charset="-122"/>
                </a:rPr>
                <a:t>mov </a:t>
              </a:r>
              <a:r>
                <a:rPr lang="en-US" altLang="zh-CN" sz="2800" b="1" dirty="0" err="1">
                  <a:solidFill>
                    <a:srgbClr val="FF0000"/>
                  </a:solidFill>
                  <a:latin typeface="微软雅黑" pitchFamily="34" charset="-122"/>
                  <a:ea typeface="微软雅黑" pitchFamily="34" charset="-122"/>
                </a:rPr>
                <a:t>esi</a:t>
              </a:r>
              <a:r>
                <a:rPr lang="en-US" altLang="zh-CN" sz="2800" b="1" dirty="0">
                  <a:solidFill>
                    <a:srgbClr val="FF0000"/>
                  </a:solidFill>
                  <a:latin typeface="微软雅黑" pitchFamily="34" charset="-122"/>
                  <a:ea typeface="微软雅黑" pitchFamily="34" charset="-122"/>
                </a:rPr>
                <a:t>, 1</a:t>
              </a:r>
            </a:p>
          </p:txBody>
        </p:sp>
        <p:pic>
          <p:nvPicPr>
            <p:cNvPr id="294921" name="Picture 3" descr="2007-07-05_21-18-50"/>
            <p:cNvPicPr>
              <a:picLocks noChangeAspect="1" noChangeArrowheads="1"/>
            </p:cNvPicPr>
            <p:nvPr/>
          </p:nvPicPr>
          <p:blipFill>
            <a:blip r:embed="rId3" cstate="print"/>
            <a:srcRect/>
            <a:stretch>
              <a:fillRect/>
            </a:stretch>
          </p:blipFill>
          <p:spPr bwMode="auto">
            <a:xfrm>
              <a:off x="241" y="3509"/>
              <a:ext cx="5422" cy="533"/>
            </a:xfrm>
            <a:prstGeom prst="rect">
              <a:avLst/>
            </a:prstGeom>
            <a:noFill/>
            <a:ln w="9525">
              <a:noFill/>
              <a:miter lim="800000"/>
              <a:headEnd/>
              <a:tailEnd/>
            </a:ln>
          </p:spPr>
        </p:pic>
        <p:sp>
          <p:nvSpPr>
            <p:cNvPr id="2" name="Rectangle 4"/>
            <p:cNvSpPr>
              <a:spLocks noChangeArrowheads="1"/>
            </p:cNvSpPr>
            <p:nvPr/>
          </p:nvSpPr>
          <p:spPr bwMode="auto">
            <a:xfrm>
              <a:off x="486" y="3549"/>
              <a:ext cx="2064" cy="24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3" name="Line 5"/>
            <p:cNvSpPr>
              <a:spLocks noChangeShapeType="1"/>
            </p:cNvSpPr>
            <p:nvPr/>
          </p:nvSpPr>
          <p:spPr bwMode="auto">
            <a:xfrm flipV="1">
              <a:off x="2604" y="3662"/>
              <a:ext cx="1056" cy="0"/>
            </a:xfrm>
            <a:prstGeom prst="line">
              <a:avLst/>
            </a:prstGeom>
            <a:noFill/>
            <a:ln w="57150">
              <a:solidFill>
                <a:srgbClr val="005A42"/>
              </a:solidFill>
              <a:round/>
              <a:headEnd/>
              <a:tailEnd type="triangle" w="med" len="med"/>
            </a:ln>
          </p:spPr>
          <p:txBody>
            <a:bodyPr wrap="none"/>
            <a:lstStyle/>
            <a:p>
              <a:endParaRPr lang="zh-CN" altLang="en-US"/>
            </a:p>
          </p:txBody>
        </p:sp>
      </p:gr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Grp="1" noChangeArrowheads="1"/>
          </p:cNvSpPr>
          <p:nvPr>
            <p:ph type="title" idx="4294967295"/>
          </p:nvPr>
        </p:nvSpPr>
        <p:spPr>
          <a:xfrm>
            <a:off x="700088" y="449263"/>
            <a:ext cx="8443912" cy="846137"/>
          </a:xfrm>
        </p:spPr>
        <p:txBody>
          <a:bodyPr anchor="ctr"/>
          <a:lstStyle/>
          <a:p>
            <a:r>
              <a:rPr lang="zh-CN" altLang="en-US" dirty="0">
                <a:solidFill>
                  <a:srgbClr val="FF0000"/>
                </a:solidFill>
                <a:latin typeface="微软雅黑" pitchFamily="34" charset="-122"/>
                <a:ea typeface="微软雅黑" pitchFamily="34" charset="-122"/>
              </a:rPr>
              <a:t>例：</a:t>
            </a:r>
            <a:r>
              <a:rPr lang="en-US" altLang="zh-CN" sz="3000" dirty="0">
                <a:solidFill>
                  <a:srgbClr val="FF0000"/>
                </a:solidFill>
                <a:latin typeface="微软雅黑" pitchFamily="34" charset="-122"/>
                <a:ea typeface="微软雅黑" pitchFamily="34" charset="-122"/>
              </a:rPr>
              <a:t>mov al, array[</a:t>
            </a:r>
            <a:r>
              <a:rPr lang="en-US" altLang="zh-CN" sz="3000" dirty="0" err="1">
                <a:solidFill>
                  <a:srgbClr val="FF0000"/>
                </a:solidFill>
                <a:latin typeface="微软雅黑" pitchFamily="34" charset="-122"/>
                <a:ea typeface="微软雅黑" pitchFamily="34" charset="-122"/>
              </a:rPr>
              <a:t>ebx</a:t>
            </a:r>
            <a:r>
              <a:rPr lang="en-US" altLang="zh-CN" sz="3000" dirty="0">
                <a:solidFill>
                  <a:srgbClr val="FF0000"/>
                </a:solidFill>
                <a:latin typeface="微软雅黑" pitchFamily="34" charset="-122"/>
                <a:ea typeface="微软雅黑" pitchFamily="34" charset="-122"/>
              </a:rPr>
              <a:t>][</a:t>
            </a:r>
            <a:r>
              <a:rPr lang="en-US" altLang="zh-CN" sz="3000" dirty="0" err="1">
                <a:solidFill>
                  <a:srgbClr val="FF0000"/>
                </a:solidFill>
                <a:latin typeface="微软雅黑" pitchFamily="34" charset="-122"/>
                <a:ea typeface="微软雅黑" pitchFamily="34" charset="-122"/>
              </a:rPr>
              <a:t>esi</a:t>
            </a:r>
            <a:r>
              <a:rPr lang="en-US" altLang="zh-CN" sz="3000" dirty="0">
                <a:solidFill>
                  <a:srgbClr val="FF0000"/>
                </a:solidFill>
                <a:latin typeface="微软雅黑" pitchFamily="34" charset="-122"/>
                <a:ea typeface="微软雅黑" pitchFamily="34" charset="-122"/>
              </a:rPr>
              <a:t>]</a:t>
            </a:r>
          </a:p>
        </p:txBody>
      </p:sp>
      <p:pic>
        <p:nvPicPr>
          <p:cNvPr id="295939" name="Picture 3" descr="2007-07-05_21-19-35"/>
          <p:cNvPicPr>
            <a:picLocks noChangeAspect="1" noChangeArrowheads="1"/>
          </p:cNvPicPr>
          <p:nvPr/>
        </p:nvPicPr>
        <p:blipFill>
          <a:blip r:embed="rId3" cstate="print"/>
          <a:srcRect/>
          <a:stretch>
            <a:fillRect/>
          </a:stretch>
        </p:blipFill>
        <p:spPr bwMode="auto">
          <a:xfrm>
            <a:off x="0" y="1295400"/>
            <a:ext cx="9144000" cy="5029200"/>
          </a:xfrm>
          <a:prstGeom prst="rect">
            <a:avLst/>
          </a:prstGeom>
          <a:noFill/>
          <a:ln w="9525">
            <a:noFill/>
            <a:miter lim="800000"/>
            <a:headEnd/>
            <a:tailEnd/>
          </a:ln>
        </p:spPr>
      </p:pic>
      <p:sp>
        <p:nvSpPr>
          <p:cNvPr id="295940" name="Rectangle 4"/>
          <p:cNvSpPr>
            <a:spLocks noChangeArrowheads="1"/>
          </p:cNvSpPr>
          <p:nvPr/>
        </p:nvSpPr>
        <p:spPr bwMode="auto">
          <a:xfrm>
            <a:off x="1981200" y="3810000"/>
            <a:ext cx="25146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17189" name="Line 5"/>
          <p:cNvSpPr>
            <a:spLocks noChangeShapeType="1"/>
          </p:cNvSpPr>
          <p:nvPr/>
        </p:nvSpPr>
        <p:spPr bwMode="auto">
          <a:xfrm flipV="1">
            <a:off x="6324600" y="2209800"/>
            <a:ext cx="1676400" cy="3200400"/>
          </a:xfrm>
          <a:prstGeom prst="line">
            <a:avLst/>
          </a:prstGeom>
          <a:noFill/>
          <a:ln w="57150">
            <a:solidFill>
              <a:srgbClr val="005A42"/>
            </a:solidFill>
            <a:round/>
            <a:headEnd/>
            <a:tailEnd type="triangle" w="med" len="med"/>
          </a:ln>
        </p:spPr>
        <p:txBody>
          <a:bodyPr wrap="none"/>
          <a:lstStyle/>
          <a:p>
            <a:endParaRPr lang="zh-CN" altLang="en-US"/>
          </a:p>
        </p:txBody>
      </p:sp>
      <p:sp>
        <p:nvSpPr>
          <p:cNvPr id="1117190" name="Rectangle 6"/>
          <p:cNvSpPr>
            <a:spLocks noChangeArrowheads="1"/>
          </p:cNvSpPr>
          <p:nvPr/>
        </p:nvSpPr>
        <p:spPr bwMode="auto">
          <a:xfrm>
            <a:off x="8001000" y="1752600"/>
            <a:ext cx="533400" cy="533400"/>
          </a:xfrm>
          <a:prstGeom prst="rect">
            <a:avLst/>
          </a:prstGeom>
          <a:noFill/>
          <a:ln w="28575">
            <a:solidFill>
              <a:srgbClr val="005A42"/>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17191" name="AutoShape 7"/>
          <p:cNvSpPr>
            <a:spLocks noChangeArrowheads="1"/>
          </p:cNvSpPr>
          <p:nvPr/>
        </p:nvSpPr>
        <p:spPr bwMode="auto">
          <a:xfrm>
            <a:off x="1295400" y="1676400"/>
            <a:ext cx="4267200" cy="1752600"/>
          </a:xfrm>
          <a:prstGeom prst="wedgeEllipseCallout">
            <a:avLst>
              <a:gd name="adj1" fmla="val -745"/>
              <a:gd name="adj2" fmla="val 71829"/>
            </a:avLst>
          </a:prstGeom>
          <a:solidFill>
            <a:srgbClr val="ECD8C4"/>
          </a:solidFill>
          <a:ln w="38100">
            <a:solidFill>
              <a:srgbClr val="005A42"/>
            </a:solidFill>
            <a:miter lim="800000"/>
            <a:headEnd/>
            <a:tailEnd/>
          </a:ln>
        </p:spPr>
        <p:txBody>
          <a:bodyPr/>
          <a:lstStyle/>
          <a:p>
            <a:r>
              <a:rPr kumimoji="1" lang="zh-CN" altLang="en-US" sz="2800" b="1">
                <a:solidFill>
                  <a:srgbClr val="000099"/>
                </a:solidFill>
                <a:latin typeface="微软雅黑" pitchFamily="34" charset="-122"/>
                <a:ea typeface="微软雅黑" pitchFamily="34" charset="-122"/>
              </a:rPr>
              <a:t>基址变址寻址</a:t>
            </a:r>
          </a:p>
          <a:p>
            <a:r>
              <a:rPr kumimoji="1" lang="en-US" altLang="zh-CN" sz="2800" b="1">
                <a:solidFill>
                  <a:srgbClr val="000099"/>
                </a:solidFill>
                <a:latin typeface="微软雅黑" pitchFamily="34" charset="-122"/>
                <a:ea typeface="微软雅黑" pitchFamily="34" charset="-122"/>
              </a:rPr>
              <a:t>00404000+7+1</a:t>
            </a:r>
          </a:p>
          <a:p>
            <a:r>
              <a:rPr kumimoji="1" lang="en-US" altLang="zh-CN" sz="2800" b="1">
                <a:solidFill>
                  <a:srgbClr val="000099"/>
                </a:solidFill>
                <a:latin typeface="微软雅黑" pitchFamily="34" charset="-122"/>
                <a:ea typeface="微软雅黑" pitchFamily="34" charset="-122"/>
              </a:rPr>
              <a:t>=00404008</a:t>
            </a:r>
          </a:p>
        </p:txBody>
      </p:sp>
      <p:sp>
        <p:nvSpPr>
          <p:cNvPr id="1117192" name="AutoShape 8"/>
          <p:cNvSpPr>
            <a:spLocks noChangeArrowheads="1"/>
          </p:cNvSpPr>
          <p:nvPr/>
        </p:nvSpPr>
        <p:spPr bwMode="auto">
          <a:xfrm>
            <a:off x="1219200" y="5943600"/>
            <a:ext cx="4724400" cy="914400"/>
          </a:xfrm>
          <a:prstGeom prst="wedgeEllipseCallout">
            <a:avLst>
              <a:gd name="adj1" fmla="val 47782"/>
              <a:gd name="adj2" fmla="val -67361"/>
            </a:avLst>
          </a:prstGeom>
          <a:solidFill>
            <a:srgbClr val="ECD8C4"/>
          </a:solidFill>
          <a:ln w="38100">
            <a:solidFill>
              <a:srgbClr val="005A42"/>
            </a:solidFill>
            <a:miter lim="800000"/>
            <a:headEnd/>
            <a:tailEnd/>
          </a:ln>
        </p:spPr>
        <p:txBody>
          <a:bodyPr/>
          <a:lstStyle/>
          <a:p>
            <a:r>
              <a:rPr kumimoji="1" lang="en-US" altLang="zh-CN" sz="2800" b="1">
                <a:solidFill>
                  <a:srgbClr val="000099"/>
                </a:solidFill>
                <a:latin typeface="微软雅黑" pitchFamily="34" charset="-122"/>
                <a:ea typeface="微软雅黑" pitchFamily="34" charset="-122"/>
              </a:rPr>
              <a:t>[00404008]=09h</a:t>
            </a:r>
          </a:p>
        </p:txBody>
      </p:sp>
      <p:sp>
        <p:nvSpPr>
          <p:cNvPr id="1117193" name="Rectangle 9"/>
          <p:cNvSpPr>
            <a:spLocks noChangeArrowheads="1"/>
          </p:cNvSpPr>
          <p:nvPr/>
        </p:nvSpPr>
        <p:spPr bwMode="auto">
          <a:xfrm>
            <a:off x="0" y="5486400"/>
            <a:ext cx="19812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17194" name="AutoShape 10"/>
          <p:cNvSpPr>
            <a:spLocks noChangeArrowheads="1"/>
          </p:cNvSpPr>
          <p:nvPr/>
        </p:nvSpPr>
        <p:spPr bwMode="auto">
          <a:xfrm>
            <a:off x="228600" y="4495800"/>
            <a:ext cx="3352800" cy="685800"/>
          </a:xfrm>
          <a:prstGeom prst="wedgeEllipseCallout">
            <a:avLst>
              <a:gd name="adj1" fmla="val 759"/>
              <a:gd name="adj2" fmla="val 98611"/>
            </a:avLst>
          </a:prstGeom>
          <a:solidFill>
            <a:srgbClr val="ECD8C4"/>
          </a:solidFill>
          <a:ln w="38100">
            <a:solidFill>
              <a:srgbClr val="005A42"/>
            </a:solidFill>
            <a:miter lim="800000"/>
            <a:headEnd/>
            <a:tailEnd/>
          </a:ln>
        </p:spPr>
        <p:txBody>
          <a:bodyPr/>
          <a:lstStyle/>
          <a:p>
            <a:r>
              <a:rPr kumimoji="1" lang="en-US" altLang="zh-CN" sz="2800" b="1">
                <a:solidFill>
                  <a:srgbClr val="000099"/>
                </a:solidFill>
                <a:latin typeface="微软雅黑" pitchFamily="34" charset="-122"/>
                <a:ea typeface="微软雅黑" pitchFamily="34" charset="-122"/>
              </a:rPr>
              <a:t>array</a:t>
            </a:r>
            <a:r>
              <a:rPr kumimoji="1" lang="zh-CN" altLang="en-US" sz="2800" b="1">
                <a:solidFill>
                  <a:srgbClr val="000099"/>
                </a:solidFill>
                <a:latin typeface="微软雅黑" pitchFamily="34" charset="-122"/>
                <a:ea typeface="微软雅黑" pitchFamily="34" charset="-122"/>
              </a:rPr>
              <a:t>的地址</a:t>
            </a:r>
          </a:p>
        </p:txBody>
      </p:sp>
      <p:sp>
        <p:nvSpPr>
          <p:cNvPr id="1117195" name="Rectangle 11"/>
          <p:cNvSpPr>
            <a:spLocks noChangeArrowheads="1"/>
          </p:cNvSpPr>
          <p:nvPr/>
        </p:nvSpPr>
        <p:spPr bwMode="auto">
          <a:xfrm>
            <a:off x="5867400" y="5410200"/>
            <a:ext cx="5334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17193"/>
                                        </p:tgtEl>
                                        <p:attrNameLst>
                                          <p:attrName>style.visibility</p:attrName>
                                        </p:attrNameLst>
                                      </p:cBhvr>
                                      <p:to>
                                        <p:strVal val="visible"/>
                                      </p:to>
                                    </p:set>
                                    <p:anim calcmode="lin" valueType="num">
                                      <p:cBhvr additive="base">
                                        <p:cTn id="7" dur="500" fill="hold"/>
                                        <p:tgtEl>
                                          <p:spTgt spid="1117193"/>
                                        </p:tgtEl>
                                        <p:attrNameLst>
                                          <p:attrName>ppt_x</p:attrName>
                                        </p:attrNameLst>
                                      </p:cBhvr>
                                      <p:tavLst>
                                        <p:tav tm="0">
                                          <p:val>
                                            <p:strVal val="0-#ppt_w/2"/>
                                          </p:val>
                                        </p:tav>
                                        <p:tav tm="100000">
                                          <p:val>
                                            <p:strVal val="#ppt_x"/>
                                          </p:val>
                                        </p:tav>
                                      </p:tavLst>
                                    </p:anim>
                                    <p:anim calcmode="lin" valueType="num">
                                      <p:cBhvr additive="base">
                                        <p:cTn id="8" dur="500" fill="hold"/>
                                        <p:tgtEl>
                                          <p:spTgt spid="111719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3" presetClass="entr" presetSubtype="10" fill="hold" grpId="0" nodeType="afterEffect">
                                  <p:stCondLst>
                                    <p:cond delay="0"/>
                                  </p:stCondLst>
                                  <p:childTnLst>
                                    <p:set>
                                      <p:cBhvr>
                                        <p:cTn id="11" dur="1" fill="hold">
                                          <p:stCondLst>
                                            <p:cond delay="0"/>
                                          </p:stCondLst>
                                        </p:cTn>
                                        <p:tgtEl>
                                          <p:spTgt spid="1117194"/>
                                        </p:tgtEl>
                                        <p:attrNameLst>
                                          <p:attrName>style.visibility</p:attrName>
                                        </p:attrNameLst>
                                      </p:cBhvr>
                                      <p:to>
                                        <p:strVal val="visible"/>
                                      </p:to>
                                    </p:set>
                                    <p:animEffect transition="in" filter="blinds(horizontal)">
                                      <p:cBhvr>
                                        <p:cTn id="12" dur="500"/>
                                        <p:tgtEl>
                                          <p:spTgt spid="111719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11719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117195"/>
                                        </p:tgtEl>
                                        <p:attrNameLst>
                                          <p:attrName>style.visibility</p:attrName>
                                        </p:attrNameLst>
                                      </p:cBhvr>
                                      <p:to>
                                        <p:strVal val="visible"/>
                                      </p:to>
                                    </p:set>
                                    <p:anim calcmode="lin" valueType="num">
                                      <p:cBhvr additive="base">
                                        <p:cTn id="21" dur="500" fill="hold"/>
                                        <p:tgtEl>
                                          <p:spTgt spid="1117195"/>
                                        </p:tgtEl>
                                        <p:attrNameLst>
                                          <p:attrName>ppt_x</p:attrName>
                                        </p:attrNameLst>
                                      </p:cBhvr>
                                      <p:tavLst>
                                        <p:tav tm="0">
                                          <p:val>
                                            <p:strVal val="0-#ppt_w/2"/>
                                          </p:val>
                                        </p:tav>
                                        <p:tav tm="100000">
                                          <p:val>
                                            <p:strVal val="#ppt_x"/>
                                          </p:val>
                                        </p:tav>
                                      </p:tavLst>
                                    </p:anim>
                                    <p:anim calcmode="lin" valueType="num">
                                      <p:cBhvr additive="base">
                                        <p:cTn id="22" dur="500" fill="hold"/>
                                        <p:tgtEl>
                                          <p:spTgt spid="1117195"/>
                                        </p:tgtEl>
                                        <p:attrNameLst>
                                          <p:attrName>ppt_y</p:attrName>
                                        </p:attrNameLst>
                                      </p:cBhvr>
                                      <p:tavLst>
                                        <p:tav tm="0">
                                          <p:val>
                                            <p:strVal val="#ppt_y"/>
                                          </p:val>
                                        </p:tav>
                                        <p:tav tm="100000">
                                          <p:val>
                                            <p:strVal val="#ppt_y"/>
                                          </p:val>
                                        </p:tav>
                                      </p:tavLst>
                                    </p:anim>
                                  </p:childTnLst>
                                </p:cTn>
                              </p:par>
                            </p:childTnLst>
                          </p:cTn>
                        </p:par>
                        <p:par>
                          <p:cTn id="23" fill="hold">
                            <p:stCondLst>
                              <p:cond delay="500"/>
                            </p:stCondLst>
                            <p:childTnLst>
                              <p:par>
                                <p:cTn id="24" presetID="3" presetClass="entr" presetSubtype="10" fill="hold" grpId="0" nodeType="afterEffect">
                                  <p:stCondLst>
                                    <p:cond delay="0"/>
                                  </p:stCondLst>
                                  <p:childTnLst>
                                    <p:set>
                                      <p:cBhvr>
                                        <p:cTn id="25" dur="1" fill="hold">
                                          <p:stCondLst>
                                            <p:cond delay="0"/>
                                          </p:stCondLst>
                                        </p:cTn>
                                        <p:tgtEl>
                                          <p:spTgt spid="1117192"/>
                                        </p:tgtEl>
                                        <p:attrNameLst>
                                          <p:attrName>style.visibility</p:attrName>
                                        </p:attrNameLst>
                                      </p:cBhvr>
                                      <p:to>
                                        <p:strVal val="visible"/>
                                      </p:to>
                                    </p:set>
                                    <p:animEffect transition="in" filter="blinds(horizontal)">
                                      <p:cBhvr>
                                        <p:cTn id="26" dur="500"/>
                                        <p:tgtEl>
                                          <p:spTgt spid="111719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117189"/>
                                        </p:tgtEl>
                                        <p:attrNameLst>
                                          <p:attrName>style.visibility</p:attrName>
                                        </p:attrNameLst>
                                      </p:cBhvr>
                                      <p:to>
                                        <p:strVal val="visible"/>
                                      </p:to>
                                    </p:set>
                                    <p:animEffect transition="in" filter="wipe(left)">
                                      <p:cBhvr>
                                        <p:cTn id="31" dur="500"/>
                                        <p:tgtEl>
                                          <p:spTgt spid="1117189"/>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1117190"/>
                                        </p:tgtEl>
                                        <p:attrNameLst>
                                          <p:attrName>style.visibility</p:attrName>
                                        </p:attrNameLst>
                                      </p:cBhvr>
                                      <p:to>
                                        <p:strVal val="visible"/>
                                      </p:to>
                                    </p:set>
                                    <p:animEffect transition="in" filter="wipe(left)">
                                      <p:cBhvr>
                                        <p:cTn id="35" dur="500"/>
                                        <p:tgtEl>
                                          <p:spTgt spid="1117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7189" grpId="0" animBg="1"/>
      <p:bldP spid="1117190" grpId="0" animBg="1"/>
      <p:bldP spid="1117191" grpId="0" animBg="1" autoUpdateAnimBg="0"/>
      <p:bldP spid="1117192" grpId="0" animBg="1" autoUpdateAnimBg="0"/>
      <p:bldP spid="1117193" grpId="0" animBg="1"/>
      <p:bldP spid="1117194" grpId="0" animBg="1" autoUpdateAnimBg="0"/>
      <p:bldP spid="111719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title" idx="4294967295"/>
          </p:nvPr>
        </p:nvSpPr>
        <p:spPr>
          <a:xfrm>
            <a:off x="0" y="274638"/>
            <a:ext cx="8229600" cy="1143000"/>
          </a:xfrm>
        </p:spPr>
        <p:txBody>
          <a:bodyPr anchor="ctr"/>
          <a:lstStyle/>
          <a:p>
            <a:r>
              <a:rPr lang="en-US" altLang="zh-CN" dirty="0"/>
              <a:t>8</a:t>
            </a:r>
            <a:r>
              <a:rPr lang="zh-CN" altLang="en-US" dirty="0"/>
              <a:t>、比例变址寻址方式</a:t>
            </a:r>
          </a:p>
        </p:txBody>
      </p:sp>
      <p:sp>
        <p:nvSpPr>
          <p:cNvPr id="296963" name="Rectangle 3"/>
          <p:cNvSpPr>
            <a:spLocks noGrp="1" noChangeArrowheads="1"/>
          </p:cNvSpPr>
          <p:nvPr>
            <p:ph type="body" idx="4294967295"/>
          </p:nvPr>
        </p:nvSpPr>
        <p:spPr>
          <a:xfrm>
            <a:off x="762000" y="1600200"/>
            <a:ext cx="8382000" cy="5114948"/>
          </a:xfrm>
        </p:spPr>
        <p:txBody>
          <a:bodyPr/>
          <a:lstStyle/>
          <a:p>
            <a:pPr>
              <a:lnSpc>
                <a:spcPct val="110000"/>
              </a:lnSpc>
            </a:pPr>
            <a:r>
              <a:rPr lang="zh-CN" altLang="en-US" sz="2600" dirty="0">
                <a:latin typeface="微软雅黑" pitchFamily="34" charset="-122"/>
                <a:ea typeface="微软雅黑" pitchFamily="34" charset="-122"/>
              </a:rPr>
              <a:t>仅用于</a:t>
            </a:r>
            <a:r>
              <a:rPr lang="en-US" altLang="zh-CN" sz="2600" dirty="0">
                <a:latin typeface="微软雅黑" pitchFamily="34" charset="-122"/>
                <a:ea typeface="微软雅黑" pitchFamily="34" charset="-122"/>
              </a:rPr>
              <a:t>32</a:t>
            </a:r>
            <a:r>
              <a:rPr lang="zh-CN" altLang="en-US" sz="2600" dirty="0">
                <a:latin typeface="微软雅黑" pitchFamily="34" charset="-122"/>
                <a:ea typeface="微软雅黑" pitchFamily="34" charset="-122"/>
              </a:rPr>
              <a:t>位应用程序</a:t>
            </a:r>
          </a:p>
          <a:p>
            <a:pPr>
              <a:lnSpc>
                <a:spcPct val="110000"/>
              </a:lnSpc>
            </a:pPr>
            <a:r>
              <a:rPr lang="zh-CN" altLang="en-US" sz="2600" dirty="0">
                <a:latin typeface="微软雅黑" pitchFamily="34" charset="-122"/>
                <a:ea typeface="微软雅黑" pitchFamily="34" charset="-122"/>
              </a:rPr>
              <a:t>操作数的有效地址是由</a:t>
            </a:r>
            <a:r>
              <a:rPr lang="zh-CN" altLang="en-US" sz="2600" u="sng" dirty="0">
                <a:solidFill>
                  <a:srgbClr val="009900"/>
                </a:solidFill>
                <a:effectLst>
                  <a:outerShdw blurRad="38100" dist="38100" dir="2700000" algn="tl">
                    <a:srgbClr val="C0C0C0"/>
                  </a:outerShdw>
                </a:effectLst>
                <a:latin typeface="微软雅黑" pitchFamily="34" charset="-122"/>
                <a:ea typeface="微软雅黑" pitchFamily="34" charset="-122"/>
              </a:rPr>
              <a:t>变址寄存器的内容乘以比例因子再加上位移量和基址寄存器的内容构成</a:t>
            </a:r>
          </a:p>
          <a:p>
            <a:pPr>
              <a:lnSpc>
                <a:spcPct val="110000"/>
              </a:lnSpc>
            </a:pPr>
            <a:r>
              <a:rPr lang="zh-CN" altLang="en-US" sz="2600" dirty="0">
                <a:latin typeface="微软雅黑" pitchFamily="34" charset="-122"/>
                <a:ea typeface="微软雅黑" pitchFamily="34" charset="-122"/>
              </a:rPr>
              <a:t>计算公式为：</a:t>
            </a:r>
          </a:p>
          <a:p>
            <a:pPr>
              <a:lnSpc>
                <a:spcPct val="110000"/>
              </a:lnSpc>
            </a:pPr>
            <a:endParaRPr lang="zh-CN" altLang="en-US" sz="2600" dirty="0">
              <a:latin typeface="微软雅黑" pitchFamily="34" charset="-122"/>
              <a:ea typeface="微软雅黑" pitchFamily="34" charset="-122"/>
            </a:endParaRPr>
          </a:p>
          <a:p>
            <a:pPr>
              <a:lnSpc>
                <a:spcPct val="110000"/>
              </a:lnSpc>
            </a:pPr>
            <a:endParaRPr lang="zh-CN" altLang="en-US" sz="2600" dirty="0">
              <a:latin typeface="微软雅黑" pitchFamily="34" charset="-122"/>
              <a:ea typeface="微软雅黑" pitchFamily="34" charset="-122"/>
            </a:endParaRPr>
          </a:p>
          <a:p>
            <a:pPr>
              <a:lnSpc>
                <a:spcPct val="110000"/>
              </a:lnSpc>
            </a:pPr>
            <a:r>
              <a:rPr lang="zh-CN" altLang="en-US" sz="2600" dirty="0">
                <a:latin typeface="微软雅黑" pitchFamily="34" charset="-122"/>
                <a:ea typeface="微软雅黑" pitchFamily="34" charset="-122"/>
              </a:rPr>
              <a:t>比例因子寻址方式中可以没有基址寄存器和</a:t>
            </a:r>
            <a:r>
              <a:rPr lang="zh-CN" altLang="en-US" sz="2600" dirty="0">
                <a:solidFill>
                  <a:srgbClr val="000000"/>
                </a:solidFill>
                <a:latin typeface="微软雅黑" pitchFamily="34" charset="-122"/>
                <a:ea typeface="微软雅黑" pitchFamily="34" charset="-122"/>
              </a:rPr>
              <a:t>位移量，比例数只能是</a:t>
            </a:r>
            <a:r>
              <a:rPr lang="en-US" altLang="zh-CN" sz="2600" dirty="0">
                <a:solidFill>
                  <a:srgbClr val="000000"/>
                </a:solidFill>
                <a:latin typeface="微软雅黑" pitchFamily="34" charset="-122"/>
                <a:ea typeface="微软雅黑" pitchFamily="34" charset="-122"/>
                <a:cs typeface="Courier New" pitchFamily="49" charset="0"/>
              </a:rPr>
              <a:t>1</a:t>
            </a:r>
            <a:r>
              <a:rPr lang="zh-CN" altLang="en-US" sz="2600" dirty="0">
                <a:solidFill>
                  <a:srgbClr val="000000"/>
                </a:solidFill>
                <a:latin typeface="微软雅黑" pitchFamily="34" charset="-122"/>
                <a:ea typeface="微软雅黑" pitchFamily="34" charset="-122"/>
              </a:rPr>
              <a:t>，</a:t>
            </a:r>
            <a:r>
              <a:rPr lang="en-US" altLang="zh-CN" sz="2600" dirty="0">
                <a:solidFill>
                  <a:srgbClr val="000000"/>
                </a:solidFill>
                <a:latin typeface="微软雅黑" pitchFamily="34" charset="-122"/>
                <a:ea typeface="微软雅黑" pitchFamily="34" charset="-122"/>
              </a:rPr>
              <a:t>2</a:t>
            </a:r>
            <a:r>
              <a:rPr lang="zh-CN" altLang="en-US" sz="2600" dirty="0">
                <a:solidFill>
                  <a:srgbClr val="000000"/>
                </a:solidFill>
                <a:latin typeface="微软雅黑" pitchFamily="34" charset="-122"/>
                <a:ea typeface="微软雅黑" pitchFamily="34" charset="-122"/>
              </a:rPr>
              <a:t>，</a:t>
            </a:r>
            <a:r>
              <a:rPr lang="en-US" altLang="zh-CN" sz="2600" dirty="0">
                <a:solidFill>
                  <a:srgbClr val="000000"/>
                </a:solidFill>
                <a:latin typeface="微软雅黑" pitchFamily="34" charset="-122"/>
                <a:ea typeface="微软雅黑" pitchFamily="34" charset="-122"/>
              </a:rPr>
              <a:t>4</a:t>
            </a:r>
            <a:r>
              <a:rPr lang="zh-CN" altLang="en-US" sz="2600" dirty="0">
                <a:solidFill>
                  <a:srgbClr val="000000"/>
                </a:solidFill>
                <a:latin typeface="微软雅黑" pitchFamily="34" charset="-122"/>
                <a:ea typeface="微软雅黑" pitchFamily="34" charset="-122"/>
              </a:rPr>
              <a:t>，</a:t>
            </a:r>
            <a:r>
              <a:rPr lang="en-US" altLang="zh-CN" sz="2600" dirty="0">
                <a:solidFill>
                  <a:srgbClr val="000000"/>
                </a:solidFill>
                <a:latin typeface="微软雅黑" pitchFamily="34" charset="-122"/>
                <a:ea typeface="微软雅黑" pitchFamily="34" charset="-122"/>
              </a:rPr>
              <a:t>8</a:t>
            </a:r>
            <a:r>
              <a:rPr lang="zh-CN" altLang="en-US" sz="2600" dirty="0">
                <a:solidFill>
                  <a:srgbClr val="000000"/>
                </a:solidFill>
                <a:latin typeface="微软雅黑" pitchFamily="34" charset="-122"/>
                <a:ea typeface="微软雅黑" pitchFamily="34" charset="-122"/>
              </a:rPr>
              <a:t>这四种取值</a:t>
            </a:r>
            <a:r>
              <a:rPr lang="zh-CN" altLang="en-US" sz="2600" dirty="0" smtClean="0">
                <a:solidFill>
                  <a:srgbClr val="000000"/>
                </a:solidFill>
                <a:latin typeface="微软雅黑" pitchFamily="34" charset="-122"/>
                <a:ea typeface="微软雅黑" pitchFamily="34" charset="-122"/>
              </a:rPr>
              <a:t>之一</a:t>
            </a:r>
            <a:endParaRPr lang="en-US" altLang="zh-CN" sz="2600" dirty="0" smtClean="0">
              <a:solidFill>
                <a:srgbClr val="000000"/>
              </a:solidFill>
              <a:latin typeface="微软雅黑" pitchFamily="34" charset="-122"/>
              <a:ea typeface="微软雅黑" pitchFamily="34" charset="-122"/>
            </a:endParaRPr>
          </a:p>
          <a:p>
            <a:pPr>
              <a:lnSpc>
                <a:spcPct val="110000"/>
              </a:lnSpc>
            </a:pPr>
            <a:endParaRPr lang="en-US" altLang="zh-CN" sz="2600" dirty="0" smtClean="0">
              <a:solidFill>
                <a:srgbClr val="000000"/>
              </a:solidFill>
              <a:latin typeface="微软雅黑" pitchFamily="34" charset="-122"/>
              <a:ea typeface="微软雅黑" pitchFamily="34" charset="-122"/>
            </a:endParaRPr>
          </a:p>
          <a:p>
            <a:pPr>
              <a:lnSpc>
                <a:spcPct val="110000"/>
              </a:lnSpc>
            </a:pPr>
            <a:r>
              <a:rPr lang="en-US" altLang="zh-CN" sz="2600" dirty="0" smtClean="0">
                <a:latin typeface="微软雅黑" pitchFamily="34" charset="-122"/>
                <a:ea typeface="微软雅黑" pitchFamily="34" charset="-122"/>
              </a:rPr>
              <a:t>MOV EAX, </a:t>
            </a:r>
            <a:r>
              <a:rPr lang="en-US" altLang="zh-CN" sz="2600" dirty="0" err="1" smtClean="0">
                <a:latin typeface="微软雅黑" pitchFamily="34" charset="-122"/>
                <a:ea typeface="微软雅黑" pitchFamily="34" charset="-122"/>
              </a:rPr>
              <a:t>Adrs</a:t>
            </a:r>
            <a:r>
              <a:rPr lang="en-US" altLang="zh-CN" sz="2600" dirty="0" smtClean="0">
                <a:latin typeface="微软雅黑" pitchFamily="34" charset="-122"/>
                <a:ea typeface="微软雅黑" pitchFamily="34" charset="-122"/>
              </a:rPr>
              <a:t>[ESI*4]</a:t>
            </a:r>
            <a:endParaRPr lang="zh-CN" altLang="en-US" sz="2600" dirty="0">
              <a:latin typeface="微软雅黑" pitchFamily="34" charset="-122"/>
              <a:ea typeface="微软雅黑" pitchFamily="34" charset="-122"/>
            </a:endParaRPr>
          </a:p>
        </p:txBody>
      </p:sp>
      <p:sp>
        <p:nvSpPr>
          <p:cNvPr id="296964" name="Text Box 4"/>
          <p:cNvSpPr txBox="1">
            <a:spLocks noChangeArrowheads="1"/>
          </p:cNvSpPr>
          <p:nvPr/>
        </p:nvSpPr>
        <p:spPr bwMode="auto">
          <a:xfrm>
            <a:off x="539750" y="3789363"/>
            <a:ext cx="8382000" cy="485775"/>
          </a:xfrm>
          <a:prstGeom prst="rect">
            <a:avLst/>
          </a:prstGeom>
          <a:solidFill>
            <a:srgbClr val="ECD8C4"/>
          </a:solidFill>
          <a:ln w="28575">
            <a:solidFill>
              <a:schemeClr val="hlink"/>
            </a:solidFill>
            <a:miter lim="800000"/>
            <a:headEnd/>
            <a:tailEnd/>
          </a:ln>
        </p:spPr>
        <p:txBody>
          <a:bodyPr>
            <a:spAutoFit/>
          </a:bodyPr>
          <a:lstStyle/>
          <a:p>
            <a:pPr>
              <a:spcBef>
                <a:spcPct val="20000"/>
              </a:spcBef>
              <a:buClr>
                <a:schemeClr val="folHlink"/>
              </a:buClr>
              <a:buFont typeface="Wingdings" pitchFamily="2" charset="2"/>
              <a:buNone/>
            </a:pPr>
            <a:r>
              <a:rPr kumimoji="1" lang="en-US" altLang="zh-CN" sz="2400" b="1">
                <a:latin typeface="微软雅黑" pitchFamily="34" charset="-122"/>
                <a:ea typeface="微软雅黑" pitchFamily="34" charset="-122"/>
                <a:cs typeface="Times New Roman" pitchFamily="18" charset="0"/>
              </a:rPr>
              <a:t> </a:t>
            </a:r>
            <a:r>
              <a:rPr kumimoji="1" lang="zh-CN" altLang="en-US" sz="2400" b="1">
                <a:solidFill>
                  <a:srgbClr val="000000"/>
                </a:solidFill>
                <a:latin typeface="微软雅黑" pitchFamily="34" charset="-122"/>
                <a:ea typeface="微软雅黑" pitchFamily="34" charset="-122"/>
                <a:cs typeface="Times New Roman" pitchFamily="18" charset="0"/>
              </a:rPr>
              <a:t>有效地址</a:t>
            </a:r>
            <a:r>
              <a:rPr kumimoji="1" lang="en-US" altLang="zh-CN" sz="2400" b="1">
                <a:solidFill>
                  <a:srgbClr val="000000"/>
                </a:solidFill>
                <a:latin typeface="微软雅黑" pitchFamily="34" charset="-122"/>
                <a:ea typeface="微软雅黑" pitchFamily="34" charset="-122"/>
                <a:cs typeface="Times New Roman" pitchFamily="18" charset="0"/>
              </a:rPr>
              <a:t>=</a:t>
            </a:r>
            <a:r>
              <a:rPr kumimoji="1" lang="zh-CN" altLang="en-US" sz="2400" b="1">
                <a:solidFill>
                  <a:srgbClr val="000000"/>
                </a:solidFill>
                <a:latin typeface="微软雅黑" pitchFamily="34" charset="-122"/>
                <a:ea typeface="微软雅黑" pitchFamily="34" charset="-122"/>
                <a:cs typeface="Times New Roman" pitchFamily="18" charset="0"/>
              </a:rPr>
              <a:t>基址寄存器</a:t>
            </a:r>
            <a:r>
              <a:rPr kumimoji="1" lang="en-US" altLang="zh-CN" sz="2400" b="1">
                <a:solidFill>
                  <a:srgbClr val="000000"/>
                </a:solidFill>
                <a:latin typeface="微软雅黑" pitchFamily="34" charset="-122"/>
                <a:ea typeface="微软雅黑" pitchFamily="34" charset="-122"/>
                <a:cs typeface="Times New Roman" pitchFamily="18" charset="0"/>
              </a:rPr>
              <a:t>+(</a:t>
            </a:r>
            <a:r>
              <a:rPr kumimoji="1" lang="zh-CN" altLang="en-US" sz="2400" b="1">
                <a:solidFill>
                  <a:srgbClr val="000000"/>
                </a:solidFill>
                <a:latin typeface="微软雅黑" pitchFamily="34" charset="-122"/>
                <a:ea typeface="微软雅黑" pitchFamily="34" charset="-122"/>
                <a:cs typeface="Times New Roman" pitchFamily="18" charset="0"/>
              </a:rPr>
              <a:t>变址寄存器</a:t>
            </a:r>
            <a:r>
              <a:rPr kumimoji="1" lang="en-US" altLang="zh-CN" sz="2400" b="1">
                <a:solidFill>
                  <a:srgbClr val="000000"/>
                </a:solidFill>
                <a:latin typeface="微软雅黑" pitchFamily="34" charset="-122"/>
                <a:ea typeface="微软雅黑" pitchFamily="34" charset="-122"/>
                <a:cs typeface="Times New Roman" pitchFamily="18" charset="0"/>
              </a:rPr>
              <a:t>)×</a:t>
            </a:r>
            <a:r>
              <a:rPr kumimoji="1" lang="zh-CN" altLang="en-US" sz="2400" b="1">
                <a:solidFill>
                  <a:srgbClr val="000000"/>
                </a:solidFill>
                <a:latin typeface="微软雅黑" pitchFamily="34" charset="-122"/>
                <a:ea typeface="微软雅黑" pitchFamily="34" charset="-122"/>
                <a:cs typeface="Times New Roman" pitchFamily="18" charset="0"/>
              </a:rPr>
              <a:t>比例因子</a:t>
            </a:r>
            <a:r>
              <a:rPr kumimoji="1" lang="en-US" altLang="zh-CN" sz="2400" b="1">
                <a:solidFill>
                  <a:srgbClr val="000000"/>
                </a:solidFill>
                <a:latin typeface="微软雅黑" pitchFamily="34" charset="-122"/>
                <a:ea typeface="微软雅黑" pitchFamily="34" charset="-122"/>
                <a:cs typeface="Times New Roman" pitchFamily="18" charset="0"/>
              </a:rPr>
              <a:t>+</a:t>
            </a:r>
            <a:r>
              <a:rPr kumimoji="1" lang="zh-CN" altLang="en-US" sz="2400" b="1">
                <a:solidFill>
                  <a:srgbClr val="000000"/>
                </a:solidFill>
                <a:latin typeface="微软雅黑" pitchFamily="34" charset="-122"/>
                <a:ea typeface="微软雅黑" pitchFamily="34" charset="-122"/>
                <a:cs typeface="Times New Roman" pitchFamily="18" charset="0"/>
              </a:rPr>
              <a:t>位移量</a:t>
            </a:r>
            <a:r>
              <a:rPr kumimoji="1" lang="zh-CN" altLang="en-US" sz="2400" b="1">
                <a:latin typeface="微软雅黑" pitchFamily="34" charset="-122"/>
                <a:ea typeface="微软雅黑" pitchFamily="34" charset="-122"/>
                <a:cs typeface="Times New Roman" pitchFamily="18" charset="0"/>
              </a:rPr>
              <a:t> </a:t>
            </a:r>
          </a:p>
        </p:txBody>
      </p:sp>
      <p:sp>
        <p:nvSpPr>
          <p:cNvPr id="296965" name="Text Box 4"/>
          <p:cNvSpPr txBox="1">
            <a:spLocks noChangeArrowheads="1"/>
          </p:cNvSpPr>
          <p:nvPr/>
        </p:nvSpPr>
        <p:spPr bwMode="auto">
          <a:xfrm>
            <a:off x="642910" y="5643578"/>
            <a:ext cx="6461142" cy="461665"/>
          </a:xfrm>
          <a:prstGeom prst="rect">
            <a:avLst/>
          </a:prstGeom>
          <a:solidFill>
            <a:srgbClr val="ECD8C4"/>
          </a:solidFill>
          <a:ln w="28575">
            <a:solidFill>
              <a:schemeClr val="hlink"/>
            </a:solidFill>
            <a:miter lim="800000"/>
            <a:headEnd/>
            <a:tailEnd/>
          </a:ln>
        </p:spPr>
        <p:txBody>
          <a:bodyPr wrap="square">
            <a:spAutoFit/>
          </a:bodyPr>
          <a:lstStyle/>
          <a:p>
            <a:pPr>
              <a:spcBef>
                <a:spcPct val="20000"/>
              </a:spcBef>
              <a:buClr>
                <a:schemeClr val="folHlink"/>
              </a:buClr>
              <a:buFont typeface="Wingdings" pitchFamily="2" charset="2"/>
              <a:buNone/>
            </a:pPr>
            <a:r>
              <a:rPr kumimoji="1" lang="en-US" altLang="zh-CN" sz="2400" b="1" dirty="0">
                <a:latin typeface="微软雅黑" pitchFamily="34" charset="-122"/>
                <a:ea typeface="微软雅黑" pitchFamily="34" charset="-122"/>
                <a:cs typeface="Times New Roman" pitchFamily="18" charset="0"/>
              </a:rPr>
              <a:t> </a:t>
            </a:r>
            <a:r>
              <a:rPr kumimoji="1" lang="zh-CN" altLang="en-US" sz="2400" b="1" dirty="0">
                <a:solidFill>
                  <a:srgbClr val="000000"/>
                </a:solidFill>
                <a:latin typeface="微软雅黑" pitchFamily="34" charset="-122"/>
                <a:ea typeface="微软雅黑" pitchFamily="34" charset="-122"/>
                <a:cs typeface="Times New Roman" pitchFamily="18" charset="0"/>
              </a:rPr>
              <a:t>有效地址</a:t>
            </a:r>
            <a:r>
              <a:rPr kumimoji="1" lang="en-US" altLang="zh-CN" sz="2400" b="1" dirty="0">
                <a:solidFill>
                  <a:srgbClr val="000000"/>
                </a:solidFill>
                <a:latin typeface="微软雅黑" pitchFamily="34" charset="-122"/>
                <a:ea typeface="微软雅黑" pitchFamily="34" charset="-122"/>
                <a:cs typeface="Times New Roman" pitchFamily="18" charset="0"/>
              </a:rPr>
              <a:t>=(</a:t>
            </a:r>
            <a:r>
              <a:rPr kumimoji="1" lang="zh-CN" altLang="en-US" sz="2400" b="1" dirty="0">
                <a:solidFill>
                  <a:srgbClr val="000000"/>
                </a:solidFill>
                <a:latin typeface="微软雅黑" pitchFamily="34" charset="-122"/>
                <a:ea typeface="微软雅黑" pitchFamily="34" charset="-122"/>
                <a:cs typeface="Times New Roman" pitchFamily="18" charset="0"/>
              </a:rPr>
              <a:t>变址寄存器</a:t>
            </a:r>
            <a:r>
              <a:rPr kumimoji="1" lang="en-US" altLang="zh-CN" sz="2400" b="1" dirty="0">
                <a:solidFill>
                  <a:srgbClr val="000000"/>
                </a:solidFill>
                <a:latin typeface="微软雅黑" pitchFamily="34" charset="-122"/>
                <a:ea typeface="微软雅黑" pitchFamily="34" charset="-122"/>
                <a:cs typeface="Times New Roman" pitchFamily="18" charset="0"/>
              </a:rPr>
              <a:t>)×</a:t>
            </a:r>
            <a:r>
              <a:rPr kumimoji="1" lang="zh-CN" altLang="en-US" sz="2400" b="1" dirty="0" smtClean="0">
                <a:solidFill>
                  <a:srgbClr val="000000"/>
                </a:solidFill>
                <a:latin typeface="微软雅黑" pitchFamily="34" charset="-122"/>
                <a:ea typeface="微软雅黑" pitchFamily="34" charset="-122"/>
                <a:cs typeface="Times New Roman" pitchFamily="18" charset="0"/>
              </a:rPr>
              <a:t>比例因子</a:t>
            </a:r>
            <a:r>
              <a:rPr kumimoji="1" lang="en-US" altLang="zh-CN" sz="2400" b="1" dirty="0" smtClean="0">
                <a:solidFill>
                  <a:srgbClr val="000000"/>
                </a:solidFill>
                <a:latin typeface="微软雅黑" pitchFamily="34" charset="-122"/>
                <a:ea typeface="微软雅黑" pitchFamily="34" charset="-122"/>
                <a:cs typeface="Times New Roman" pitchFamily="18" charset="0"/>
              </a:rPr>
              <a:t>+</a:t>
            </a:r>
            <a:r>
              <a:rPr kumimoji="1" lang="zh-CN" altLang="en-US" sz="2400" b="1" dirty="0" smtClean="0">
                <a:solidFill>
                  <a:srgbClr val="000000"/>
                </a:solidFill>
                <a:latin typeface="微软雅黑" pitchFamily="34" charset="-122"/>
                <a:ea typeface="微软雅黑" pitchFamily="34" charset="-122"/>
                <a:cs typeface="Times New Roman" pitchFamily="18" charset="0"/>
              </a:rPr>
              <a:t>位移量</a:t>
            </a:r>
            <a:endParaRPr kumimoji="1" lang="zh-CN" altLang="en-US" sz="2400" b="1" dirty="0">
              <a:latin typeface="微软雅黑" pitchFamily="34" charset="-122"/>
              <a:ea typeface="微软雅黑" pitchFamily="34" charset="-122"/>
              <a:cs typeface="Times New Roman" pitchFamily="18"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r>
              <a:rPr lang="en-US" altLang="zh-CN"/>
              <a:t>9</a:t>
            </a:r>
            <a:r>
              <a:rPr lang="zh-CN" altLang="en-US"/>
              <a:t>、基址比例变址寻址方式 </a:t>
            </a:r>
          </a:p>
        </p:txBody>
      </p:sp>
      <p:sp>
        <p:nvSpPr>
          <p:cNvPr id="140291" name="Rectangle 3"/>
          <p:cNvSpPr>
            <a:spLocks noGrp="1" noChangeArrowheads="1"/>
          </p:cNvSpPr>
          <p:nvPr>
            <p:ph idx="1"/>
          </p:nvPr>
        </p:nvSpPr>
        <p:spPr/>
        <p:txBody>
          <a:bodyPr/>
          <a:lstStyle/>
          <a:p>
            <a:endParaRPr lang="en-US" altLang="zh-CN" dirty="0"/>
          </a:p>
          <a:p>
            <a:endParaRPr lang="en-US" altLang="zh-CN" dirty="0"/>
          </a:p>
          <a:p>
            <a:endParaRPr lang="en-US" altLang="zh-CN" dirty="0"/>
          </a:p>
          <a:p>
            <a:r>
              <a:rPr lang="zh-CN" altLang="en-US" dirty="0"/>
              <a:t>如</a:t>
            </a:r>
            <a:r>
              <a:rPr lang="en-US" altLang="zh-CN" dirty="0"/>
              <a:t>MOV 	ECX</a:t>
            </a:r>
            <a:r>
              <a:rPr lang="zh-CN" altLang="en-US" dirty="0"/>
              <a:t>， </a:t>
            </a:r>
            <a:r>
              <a:rPr lang="en-US" altLang="zh-CN" dirty="0"/>
              <a:t>[EBP] [ESI*4]</a:t>
            </a:r>
            <a:r>
              <a:rPr lang="zh-CN" altLang="en-US" dirty="0"/>
              <a:t>。 </a:t>
            </a:r>
          </a:p>
        </p:txBody>
      </p:sp>
      <p:sp>
        <p:nvSpPr>
          <p:cNvPr id="140292" name="Rectangle 4"/>
          <p:cNvSpPr>
            <a:spLocks noChangeArrowheads="1"/>
          </p:cNvSpPr>
          <p:nvPr/>
        </p:nvSpPr>
        <p:spPr bwMode="auto">
          <a:xfrm>
            <a:off x="7667625" y="5661025"/>
            <a:ext cx="641350" cy="366713"/>
          </a:xfrm>
          <a:prstGeom prst="rect">
            <a:avLst/>
          </a:prstGeom>
          <a:noFill/>
          <a:ln w="9525">
            <a:noFill/>
            <a:miter lim="800000"/>
            <a:headEnd/>
            <a:tailEnd/>
          </a:ln>
          <a:effectLst/>
        </p:spPr>
        <p:txBody>
          <a:bodyPr wrap="none">
            <a:spAutoFit/>
          </a:bodyPr>
          <a:lstStyle/>
          <a:p>
            <a:r>
              <a:rPr lang="zh-CN" altLang="en-US">
                <a:latin typeface="Verdana" pitchFamily="34" charset="0"/>
                <a:hlinkClick r:id="rId2" action="ppaction://hlinksldjump"/>
              </a:rPr>
              <a:t>返回</a:t>
            </a:r>
            <a:endParaRPr lang="zh-CN" altLang="en-US">
              <a:latin typeface="Verdana" pitchFamily="34" charset="0"/>
            </a:endParaRPr>
          </a:p>
        </p:txBody>
      </p:sp>
      <p:sp>
        <p:nvSpPr>
          <p:cNvPr id="140293" name="Text Box 4"/>
          <p:cNvSpPr txBox="1">
            <a:spLocks noChangeArrowheads="1"/>
          </p:cNvSpPr>
          <p:nvPr/>
        </p:nvSpPr>
        <p:spPr bwMode="auto">
          <a:xfrm>
            <a:off x="395288" y="2133600"/>
            <a:ext cx="8382000" cy="485775"/>
          </a:xfrm>
          <a:prstGeom prst="rect">
            <a:avLst/>
          </a:prstGeom>
          <a:solidFill>
            <a:srgbClr val="ECD8C4"/>
          </a:solidFill>
          <a:ln w="28575">
            <a:solidFill>
              <a:schemeClr val="hlink"/>
            </a:solidFill>
            <a:miter lim="800000"/>
            <a:headEnd/>
            <a:tailEnd/>
          </a:ln>
        </p:spPr>
        <p:txBody>
          <a:bodyPr>
            <a:spAutoFit/>
          </a:bodyPr>
          <a:lstStyle/>
          <a:p>
            <a:pPr>
              <a:spcBef>
                <a:spcPct val="20000"/>
              </a:spcBef>
              <a:buClr>
                <a:schemeClr val="folHlink"/>
              </a:buClr>
              <a:buFont typeface="Wingdings" pitchFamily="2" charset="2"/>
              <a:buNone/>
            </a:pPr>
            <a:r>
              <a:rPr kumimoji="1" lang="en-US" altLang="zh-CN" sz="2400" b="1">
                <a:latin typeface="微软雅黑" pitchFamily="34" charset="-122"/>
                <a:ea typeface="微软雅黑" pitchFamily="34" charset="-122"/>
                <a:cs typeface="Times New Roman" pitchFamily="18" charset="0"/>
              </a:rPr>
              <a:t> </a:t>
            </a:r>
            <a:r>
              <a:rPr kumimoji="1" lang="zh-CN" altLang="en-US" sz="2400" b="1">
                <a:solidFill>
                  <a:srgbClr val="000000"/>
                </a:solidFill>
                <a:latin typeface="微软雅黑" pitchFamily="34" charset="-122"/>
                <a:ea typeface="微软雅黑" pitchFamily="34" charset="-122"/>
                <a:cs typeface="Times New Roman" pitchFamily="18" charset="0"/>
              </a:rPr>
              <a:t>有效地址</a:t>
            </a:r>
            <a:r>
              <a:rPr kumimoji="1" lang="en-US" altLang="zh-CN" sz="2400" b="1">
                <a:solidFill>
                  <a:srgbClr val="000000"/>
                </a:solidFill>
                <a:latin typeface="微软雅黑" pitchFamily="34" charset="-122"/>
                <a:ea typeface="微软雅黑" pitchFamily="34" charset="-122"/>
                <a:cs typeface="Times New Roman" pitchFamily="18" charset="0"/>
              </a:rPr>
              <a:t>=</a:t>
            </a:r>
            <a:r>
              <a:rPr kumimoji="1" lang="zh-CN" altLang="en-US" sz="2400" b="1">
                <a:solidFill>
                  <a:srgbClr val="000000"/>
                </a:solidFill>
                <a:latin typeface="微软雅黑" pitchFamily="34" charset="-122"/>
                <a:ea typeface="微软雅黑" pitchFamily="34" charset="-122"/>
                <a:cs typeface="Times New Roman" pitchFamily="18" charset="0"/>
              </a:rPr>
              <a:t>基址寄存器</a:t>
            </a:r>
            <a:r>
              <a:rPr kumimoji="1" lang="en-US" altLang="zh-CN" sz="2400" b="1">
                <a:solidFill>
                  <a:srgbClr val="000000"/>
                </a:solidFill>
                <a:latin typeface="微软雅黑" pitchFamily="34" charset="-122"/>
                <a:ea typeface="微软雅黑" pitchFamily="34" charset="-122"/>
                <a:cs typeface="Times New Roman" pitchFamily="18" charset="0"/>
              </a:rPr>
              <a:t>+(</a:t>
            </a:r>
            <a:r>
              <a:rPr kumimoji="1" lang="zh-CN" altLang="en-US" sz="2400" b="1">
                <a:solidFill>
                  <a:srgbClr val="000000"/>
                </a:solidFill>
                <a:latin typeface="微软雅黑" pitchFamily="34" charset="-122"/>
                <a:ea typeface="微软雅黑" pitchFamily="34" charset="-122"/>
                <a:cs typeface="Times New Roman" pitchFamily="18" charset="0"/>
              </a:rPr>
              <a:t>变址寄存器</a:t>
            </a:r>
            <a:r>
              <a:rPr kumimoji="1" lang="en-US" altLang="zh-CN" sz="2400" b="1">
                <a:solidFill>
                  <a:srgbClr val="000000"/>
                </a:solidFill>
                <a:latin typeface="微软雅黑" pitchFamily="34" charset="-122"/>
                <a:ea typeface="微软雅黑" pitchFamily="34" charset="-122"/>
                <a:cs typeface="Times New Roman" pitchFamily="18" charset="0"/>
              </a:rPr>
              <a:t>)×</a:t>
            </a:r>
            <a:r>
              <a:rPr kumimoji="1" lang="zh-CN" altLang="en-US" sz="2400" b="1">
                <a:solidFill>
                  <a:srgbClr val="000000"/>
                </a:solidFill>
                <a:latin typeface="微软雅黑" pitchFamily="34" charset="-122"/>
                <a:ea typeface="微软雅黑" pitchFamily="34" charset="-122"/>
                <a:cs typeface="Times New Roman" pitchFamily="18" charset="0"/>
              </a:rPr>
              <a:t>比例因子</a:t>
            </a:r>
            <a:endParaRPr kumimoji="1" lang="zh-CN" altLang="en-US" sz="2400" b="1">
              <a:latin typeface="微软雅黑" pitchFamily="34" charset="-122"/>
              <a:ea typeface="微软雅黑" pitchFamily="34" charset="-122"/>
              <a:cs typeface="Times New Roman" pitchFamily="18"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r>
              <a:rPr lang="en-US" altLang="zh-CN" dirty="0"/>
              <a:t>10</a:t>
            </a:r>
            <a:r>
              <a:rPr lang="zh-CN" altLang="en-US" dirty="0"/>
              <a:t>、相对基址比例变址寻址方式 </a:t>
            </a:r>
          </a:p>
        </p:txBody>
      </p:sp>
      <p:sp>
        <p:nvSpPr>
          <p:cNvPr id="141315" name="Rectangle 3"/>
          <p:cNvSpPr>
            <a:spLocks noGrp="1" noChangeArrowheads="1"/>
          </p:cNvSpPr>
          <p:nvPr>
            <p:ph idx="1"/>
          </p:nvPr>
        </p:nvSpPr>
        <p:spPr/>
        <p:txBody>
          <a:bodyPr/>
          <a:lstStyle/>
          <a:p>
            <a:endParaRPr lang="en-US" altLang="zh-CN" dirty="0"/>
          </a:p>
          <a:p>
            <a:endParaRPr lang="en-US" altLang="zh-CN" dirty="0"/>
          </a:p>
          <a:p>
            <a:endParaRPr lang="en-US" altLang="zh-CN" dirty="0"/>
          </a:p>
          <a:p>
            <a:r>
              <a:rPr lang="zh-CN" altLang="en-US" dirty="0"/>
              <a:t>如</a:t>
            </a:r>
            <a:r>
              <a:rPr lang="en-US" altLang="zh-CN" dirty="0"/>
              <a:t>MOV	AL</a:t>
            </a:r>
            <a:r>
              <a:rPr lang="zh-CN" altLang="en-US" dirty="0"/>
              <a:t>，</a:t>
            </a:r>
            <a:r>
              <a:rPr lang="en-US" altLang="zh-CN" dirty="0"/>
              <a:t>00404000h [EBX] [ESI*2</a:t>
            </a:r>
            <a:r>
              <a:rPr lang="en-US" altLang="zh-CN" dirty="0" smtClean="0"/>
              <a:t>]</a:t>
            </a:r>
          </a:p>
          <a:p>
            <a:r>
              <a:rPr lang="en-US" altLang="zh-CN" dirty="0" smtClean="0"/>
              <a:t>MOV [EAX+2*EDI+15H], DX</a:t>
            </a:r>
            <a:endParaRPr lang="zh-CN" altLang="en-US" dirty="0"/>
          </a:p>
        </p:txBody>
      </p:sp>
      <p:sp>
        <p:nvSpPr>
          <p:cNvPr id="141316" name="Rectangle 4"/>
          <p:cNvSpPr>
            <a:spLocks noChangeArrowheads="1"/>
          </p:cNvSpPr>
          <p:nvPr/>
        </p:nvSpPr>
        <p:spPr bwMode="auto">
          <a:xfrm>
            <a:off x="7667625" y="5661025"/>
            <a:ext cx="641350" cy="366713"/>
          </a:xfrm>
          <a:prstGeom prst="rect">
            <a:avLst/>
          </a:prstGeom>
          <a:noFill/>
          <a:ln w="9525">
            <a:noFill/>
            <a:miter lim="800000"/>
            <a:headEnd/>
            <a:tailEnd/>
          </a:ln>
          <a:effectLst/>
        </p:spPr>
        <p:txBody>
          <a:bodyPr wrap="none">
            <a:spAutoFit/>
          </a:bodyPr>
          <a:lstStyle/>
          <a:p>
            <a:r>
              <a:rPr lang="zh-CN" altLang="en-US">
                <a:latin typeface="Verdana" pitchFamily="34" charset="0"/>
                <a:hlinkClick r:id="rId2" action="ppaction://hlinksldjump"/>
              </a:rPr>
              <a:t>返回</a:t>
            </a:r>
            <a:endParaRPr lang="zh-CN" altLang="en-US">
              <a:latin typeface="Verdana" pitchFamily="34" charset="0"/>
            </a:endParaRPr>
          </a:p>
        </p:txBody>
      </p:sp>
      <p:sp>
        <p:nvSpPr>
          <p:cNvPr id="141317" name="Text Box 4"/>
          <p:cNvSpPr txBox="1">
            <a:spLocks noChangeArrowheads="1"/>
          </p:cNvSpPr>
          <p:nvPr/>
        </p:nvSpPr>
        <p:spPr bwMode="auto">
          <a:xfrm>
            <a:off x="395288" y="2133600"/>
            <a:ext cx="8382000" cy="485775"/>
          </a:xfrm>
          <a:prstGeom prst="rect">
            <a:avLst/>
          </a:prstGeom>
          <a:solidFill>
            <a:srgbClr val="ECD8C4"/>
          </a:solidFill>
          <a:ln w="28575">
            <a:solidFill>
              <a:schemeClr val="hlink"/>
            </a:solidFill>
            <a:miter lim="800000"/>
            <a:headEnd/>
            <a:tailEnd/>
          </a:ln>
        </p:spPr>
        <p:txBody>
          <a:bodyPr>
            <a:spAutoFit/>
          </a:bodyPr>
          <a:lstStyle/>
          <a:p>
            <a:pPr>
              <a:spcBef>
                <a:spcPct val="20000"/>
              </a:spcBef>
              <a:buClr>
                <a:schemeClr val="folHlink"/>
              </a:buClr>
              <a:buFont typeface="Wingdings" pitchFamily="2" charset="2"/>
              <a:buNone/>
            </a:pPr>
            <a:r>
              <a:rPr kumimoji="1" lang="en-US" altLang="zh-CN" sz="2400" b="1">
                <a:latin typeface="微软雅黑" pitchFamily="34" charset="-122"/>
                <a:ea typeface="微软雅黑" pitchFamily="34" charset="-122"/>
                <a:cs typeface="Times New Roman" pitchFamily="18" charset="0"/>
              </a:rPr>
              <a:t> </a:t>
            </a:r>
            <a:r>
              <a:rPr kumimoji="1" lang="zh-CN" altLang="en-US" sz="2400" b="1">
                <a:solidFill>
                  <a:srgbClr val="000000"/>
                </a:solidFill>
                <a:latin typeface="微软雅黑" pitchFamily="34" charset="-122"/>
                <a:ea typeface="微软雅黑" pitchFamily="34" charset="-122"/>
                <a:cs typeface="Times New Roman" pitchFamily="18" charset="0"/>
              </a:rPr>
              <a:t>有效地址</a:t>
            </a:r>
            <a:r>
              <a:rPr kumimoji="1" lang="en-US" altLang="zh-CN" sz="2400" b="1">
                <a:solidFill>
                  <a:srgbClr val="000000"/>
                </a:solidFill>
                <a:latin typeface="微软雅黑" pitchFamily="34" charset="-122"/>
                <a:ea typeface="微软雅黑" pitchFamily="34" charset="-122"/>
                <a:cs typeface="Times New Roman" pitchFamily="18" charset="0"/>
              </a:rPr>
              <a:t>=</a:t>
            </a:r>
            <a:r>
              <a:rPr kumimoji="1" lang="zh-CN" altLang="en-US" sz="2400" b="1">
                <a:solidFill>
                  <a:srgbClr val="000000"/>
                </a:solidFill>
                <a:latin typeface="微软雅黑" pitchFamily="34" charset="-122"/>
                <a:ea typeface="微软雅黑" pitchFamily="34" charset="-122"/>
                <a:cs typeface="Times New Roman" pitchFamily="18" charset="0"/>
              </a:rPr>
              <a:t>基址寄存器</a:t>
            </a:r>
            <a:r>
              <a:rPr kumimoji="1" lang="en-US" altLang="zh-CN" sz="2400" b="1">
                <a:solidFill>
                  <a:srgbClr val="000000"/>
                </a:solidFill>
                <a:latin typeface="微软雅黑" pitchFamily="34" charset="-122"/>
                <a:ea typeface="微软雅黑" pitchFamily="34" charset="-122"/>
                <a:cs typeface="Times New Roman" pitchFamily="18" charset="0"/>
              </a:rPr>
              <a:t>+(</a:t>
            </a:r>
            <a:r>
              <a:rPr kumimoji="1" lang="zh-CN" altLang="en-US" sz="2400" b="1">
                <a:solidFill>
                  <a:srgbClr val="000000"/>
                </a:solidFill>
                <a:latin typeface="微软雅黑" pitchFamily="34" charset="-122"/>
                <a:ea typeface="微软雅黑" pitchFamily="34" charset="-122"/>
                <a:cs typeface="Times New Roman" pitchFamily="18" charset="0"/>
              </a:rPr>
              <a:t>变址寄存器</a:t>
            </a:r>
            <a:r>
              <a:rPr kumimoji="1" lang="en-US" altLang="zh-CN" sz="2400" b="1">
                <a:solidFill>
                  <a:srgbClr val="000000"/>
                </a:solidFill>
                <a:latin typeface="微软雅黑" pitchFamily="34" charset="-122"/>
                <a:ea typeface="微软雅黑" pitchFamily="34" charset="-122"/>
                <a:cs typeface="Times New Roman" pitchFamily="18" charset="0"/>
              </a:rPr>
              <a:t>)×</a:t>
            </a:r>
            <a:r>
              <a:rPr kumimoji="1" lang="zh-CN" altLang="en-US" sz="2400" b="1">
                <a:solidFill>
                  <a:srgbClr val="000000"/>
                </a:solidFill>
                <a:latin typeface="微软雅黑" pitchFamily="34" charset="-122"/>
                <a:ea typeface="微软雅黑" pitchFamily="34" charset="-122"/>
                <a:cs typeface="Times New Roman" pitchFamily="18" charset="0"/>
              </a:rPr>
              <a:t>比例因子</a:t>
            </a:r>
            <a:r>
              <a:rPr kumimoji="1" lang="en-US" altLang="zh-CN" sz="2400" b="1">
                <a:solidFill>
                  <a:srgbClr val="000000"/>
                </a:solidFill>
                <a:latin typeface="微软雅黑" pitchFamily="34" charset="-122"/>
                <a:ea typeface="微软雅黑" pitchFamily="34" charset="-122"/>
                <a:cs typeface="Times New Roman" pitchFamily="18" charset="0"/>
              </a:rPr>
              <a:t>+</a:t>
            </a:r>
            <a:r>
              <a:rPr kumimoji="1" lang="zh-CN" altLang="en-US" sz="2400" b="1">
                <a:solidFill>
                  <a:srgbClr val="000000"/>
                </a:solidFill>
                <a:latin typeface="微软雅黑" pitchFamily="34" charset="-122"/>
                <a:ea typeface="微软雅黑" pitchFamily="34" charset="-122"/>
                <a:cs typeface="Times New Roman" pitchFamily="18" charset="0"/>
              </a:rPr>
              <a:t>位移量</a:t>
            </a:r>
            <a:r>
              <a:rPr kumimoji="1" lang="zh-CN" altLang="en-US" sz="2400" b="1">
                <a:latin typeface="微软雅黑" pitchFamily="34" charset="-122"/>
                <a:ea typeface="微软雅黑" pitchFamily="34" charset="-122"/>
                <a:cs typeface="Times New Roman" pitchFamily="18" charset="0"/>
              </a:rPr>
              <a:t> </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ChangeArrowheads="1"/>
          </p:cNvSpPr>
          <p:nvPr>
            <p:ph type="title" idx="4294967295"/>
          </p:nvPr>
        </p:nvSpPr>
        <p:spPr>
          <a:xfrm>
            <a:off x="682625" y="677863"/>
            <a:ext cx="8461375" cy="846137"/>
          </a:xfrm>
        </p:spPr>
        <p:txBody>
          <a:bodyPr anchor="ctr"/>
          <a:lstStyle/>
          <a:p>
            <a:r>
              <a:rPr lang="zh-CN" altLang="en-US">
                <a:solidFill>
                  <a:srgbClr val="FF0000"/>
                </a:solidFill>
                <a:latin typeface="微软雅黑" pitchFamily="34" charset="-122"/>
                <a:ea typeface="微软雅黑" pitchFamily="34" charset="-122"/>
              </a:rPr>
              <a:t>例：比例因子寻址方式</a:t>
            </a:r>
          </a:p>
        </p:txBody>
      </p:sp>
      <p:sp>
        <p:nvSpPr>
          <p:cNvPr id="297987" name="AutoShape 3"/>
          <p:cNvSpPr>
            <a:spLocks noChangeArrowheads="1"/>
          </p:cNvSpPr>
          <p:nvPr/>
        </p:nvSpPr>
        <p:spPr bwMode="auto">
          <a:xfrm>
            <a:off x="609600" y="1524000"/>
            <a:ext cx="7924800" cy="4953000"/>
          </a:xfrm>
          <a:prstGeom prst="flowChartAlternateProcess">
            <a:avLst/>
          </a:prstGeom>
          <a:solidFill>
            <a:srgbClr val="ECD8C4"/>
          </a:solidFill>
          <a:ln w="57150" cmpd="thinThick">
            <a:solidFill>
              <a:schemeClr val="tx2"/>
            </a:solidFill>
            <a:miter lim="800000"/>
            <a:headEnd/>
            <a:tailEnd/>
          </a:ln>
        </p:spPr>
        <p:txBody>
          <a:bodyPr wrap="none" anchor="ctr"/>
          <a:lstStyle/>
          <a:p>
            <a:r>
              <a:rPr kumimoji="1" lang="en-US" altLang="zh-CN" sz="2000" b="1" dirty="0">
                <a:latin typeface="微软雅黑" pitchFamily="34" charset="-122"/>
                <a:ea typeface="微软雅黑" pitchFamily="34" charset="-122"/>
              </a:rPr>
              <a:t> .386</a:t>
            </a:r>
          </a:p>
          <a:p>
            <a:r>
              <a:rPr kumimoji="1" lang="en-US" altLang="zh-CN" sz="2000" b="1" dirty="0">
                <a:latin typeface="微软雅黑" pitchFamily="34" charset="-122"/>
                <a:ea typeface="微软雅黑" pitchFamily="34" charset="-122"/>
              </a:rPr>
              <a:t>.model flat, </a:t>
            </a:r>
            <a:r>
              <a:rPr kumimoji="1" lang="en-US" altLang="zh-CN" sz="2000" b="1" dirty="0" err="1">
                <a:latin typeface="微软雅黑" pitchFamily="34" charset="-122"/>
                <a:ea typeface="微软雅黑" pitchFamily="34" charset="-122"/>
              </a:rPr>
              <a:t>stdcall</a:t>
            </a:r>
            <a:endParaRPr kumimoji="1" lang="en-US" altLang="zh-CN" sz="2000" b="1" dirty="0">
              <a:latin typeface="微软雅黑" pitchFamily="34" charset="-122"/>
              <a:ea typeface="微软雅黑" pitchFamily="34" charset="-122"/>
            </a:endParaRPr>
          </a:p>
          <a:p>
            <a:r>
              <a:rPr kumimoji="1" lang="en-US" altLang="zh-CN" sz="2000" b="1" dirty="0">
                <a:latin typeface="微软雅黑" pitchFamily="34" charset="-122"/>
                <a:ea typeface="微软雅黑" pitchFamily="34" charset="-122"/>
              </a:rPr>
              <a:t>.data</a:t>
            </a:r>
          </a:p>
          <a:p>
            <a:r>
              <a:rPr kumimoji="1" lang="en-US" altLang="zh-CN" sz="2000" b="1" dirty="0">
                <a:latin typeface="微软雅黑" pitchFamily="34" charset="-122"/>
                <a:ea typeface="微软雅黑" pitchFamily="34" charset="-122"/>
              </a:rPr>
              <a:t> array word 1,2,3,4,5,6,7</a:t>
            </a:r>
          </a:p>
          <a:p>
            <a:r>
              <a:rPr kumimoji="1" lang="en-US" altLang="zh-CN" sz="2000" b="1" dirty="0">
                <a:latin typeface="微软雅黑" pitchFamily="34" charset="-122"/>
                <a:ea typeface="微软雅黑" pitchFamily="34" charset="-122"/>
              </a:rPr>
              <a:t>          word 8,9,10,11,12,13,14</a:t>
            </a:r>
          </a:p>
          <a:p>
            <a:r>
              <a:rPr kumimoji="1" lang="en-US" altLang="zh-CN" sz="2000" b="1" dirty="0">
                <a:latin typeface="微软雅黑" pitchFamily="34" charset="-122"/>
                <a:ea typeface="微软雅黑" pitchFamily="34" charset="-122"/>
              </a:rPr>
              <a:t>          word  15,16,17,18,19,20,21</a:t>
            </a:r>
          </a:p>
          <a:p>
            <a:r>
              <a:rPr kumimoji="1" lang="en-US" altLang="zh-CN" sz="2000" b="1" dirty="0">
                <a:latin typeface="微软雅黑" pitchFamily="34" charset="-122"/>
                <a:ea typeface="微软雅黑" pitchFamily="34" charset="-122"/>
              </a:rPr>
              <a:t> row equ 7</a:t>
            </a:r>
            <a:r>
              <a:rPr kumimoji="1" lang="zh-CN" altLang="en-US" sz="2000" b="1" dirty="0">
                <a:latin typeface="微软雅黑" pitchFamily="34" charset="-122"/>
                <a:ea typeface="微软雅黑" pitchFamily="34" charset="-122"/>
              </a:rPr>
              <a:t>＊</a:t>
            </a:r>
            <a:r>
              <a:rPr kumimoji="1" lang="en-US" altLang="zh-CN" sz="2000" b="1" dirty="0">
                <a:latin typeface="微软雅黑" pitchFamily="34" charset="-122"/>
                <a:ea typeface="微软雅黑" pitchFamily="34" charset="-122"/>
              </a:rPr>
              <a:t>2</a:t>
            </a:r>
          </a:p>
          <a:p>
            <a:r>
              <a:rPr kumimoji="1" lang="en-US" altLang="zh-CN" sz="2000" b="1" dirty="0">
                <a:latin typeface="微软雅黑" pitchFamily="34" charset="-122"/>
                <a:ea typeface="微软雅黑" pitchFamily="34" charset="-122"/>
              </a:rPr>
              <a:t> n equ 2</a:t>
            </a:r>
          </a:p>
          <a:p>
            <a:r>
              <a:rPr kumimoji="1" lang="en-US" altLang="zh-CN" sz="2000" b="1" dirty="0">
                <a:latin typeface="微软雅黑" pitchFamily="34" charset="-122"/>
                <a:ea typeface="微软雅黑" pitchFamily="34" charset="-122"/>
              </a:rPr>
              <a:t>.code</a:t>
            </a:r>
          </a:p>
          <a:p>
            <a:r>
              <a:rPr kumimoji="1" lang="en-US" altLang="zh-CN" sz="2000" b="1" dirty="0">
                <a:latin typeface="微软雅黑" pitchFamily="34" charset="-122"/>
                <a:ea typeface="微软雅黑" pitchFamily="34" charset="-122"/>
              </a:rPr>
              <a:t>	start:		</a:t>
            </a:r>
          </a:p>
          <a:p>
            <a:r>
              <a:rPr kumimoji="1" lang="en-US" altLang="zh-CN" sz="2000" b="1" dirty="0">
                <a:latin typeface="微软雅黑" pitchFamily="34" charset="-122"/>
                <a:ea typeface="微软雅黑" pitchFamily="34" charset="-122"/>
              </a:rPr>
              <a:t> 	mov </a:t>
            </a:r>
            <a:r>
              <a:rPr kumimoji="1" lang="en-US" altLang="zh-CN" sz="2000" b="1" dirty="0" err="1">
                <a:latin typeface="微软雅黑" pitchFamily="34" charset="-122"/>
                <a:ea typeface="微软雅黑" pitchFamily="34" charset="-122"/>
              </a:rPr>
              <a:t>ebx</a:t>
            </a:r>
            <a:r>
              <a:rPr kumimoji="1" lang="en-US" altLang="zh-CN" sz="2000" b="1" dirty="0">
                <a:latin typeface="微软雅黑" pitchFamily="34" charset="-122"/>
                <a:ea typeface="微软雅黑" pitchFamily="34" charset="-122"/>
              </a:rPr>
              <a:t>, row</a:t>
            </a:r>
          </a:p>
          <a:p>
            <a:r>
              <a:rPr kumimoji="1" lang="en-US" altLang="zh-CN" sz="2000" b="1" dirty="0">
                <a:latin typeface="微软雅黑" pitchFamily="34" charset="-122"/>
                <a:ea typeface="微软雅黑" pitchFamily="34" charset="-122"/>
              </a:rPr>
              <a:t>  	mov esi,1</a:t>
            </a:r>
          </a:p>
          <a:p>
            <a:r>
              <a:rPr kumimoji="1" lang="en-US" altLang="zh-CN" sz="2000" b="1" dirty="0">
                <a:latin typeface="微软雅黑" pitchFamily="34" charset="-122"/>
                <a:ea typeface="微软雅黑" pitchFamily="34" charset="-122"/>
              </a:rPr>
              <a:t>   	mov ax, array[</a:t>
            </a:r>
            <a:r>
              <a:rPr kumimoji="1" lang="en-US" altLang="zh-CN" sz="2000" b="1" dirty="0" err="1">
                <a:latin typeface="微软雅黑" pitchFamily="34" charset="-122"/>
                <a:ea typeface="微软雅黑" pitchFamily="34" charset="-122"/>
              </a:rPr>
              <a:t>ebx</a:t>
            </a:r>
            <a:r>
              <a:rPr kumimoji="1" lang="en-US" altLang="zh-CN" sz="2000" b="1" dirty="0">
                <a:latin typeface="微软雅黑" pitchFamily="34" charset="-122"/>
                <a:ea typeface="微软雅黑" pitchFamily="34" charset="-122"/>
              </a:rPr>
              <a:t>][</a:t>
            </a:r>
            <a:r>
              <a:rPr kumimoji="1" lang="en-US" altLang="zh-CN" sz="2000" b="1" dirty="0" err="1">
                <a:latin typeface="微软雅黑" pitchFamily="34" charset="-122"/>
                <a:ea typeface="微软雅黑" pitchFamily="34" charset="-122"/>
              </a:rPr>
              <a:t>esi</a:t>
            </a:r>
            <a:r>
              <a:rPr kumimoji="1" lang="en-US" altLang="zh-CN" sz="2000" b="1" dirty="0">
                <a:latin typeface="微软雅黑" pitchFamily="34" charset="-122"/>
                <a:ea typeface="微软雅黑" pitchFamily="34" charset="-122"/>
              </a:rPr>
              <a:t>*2]</a:t>
            </a:r>
          </a:p>
          <a:p>
            <a:r>
              <a:rPr kumimoji="1" lang="en-US" altLang="zh-CN" sz="2000" b="1" dirty="0">
                <a:latin typeface="微软雅黑" pitchFamily="34" charset="-122"/>
                <a:ea typeface="微软雅黑" pitchFamily="34" charset="-122"/>
              </a:rPr>
              <a:t>             </a:t>
            </a:r>
            <a:r>
              <a:rPr kumimoji="1" lang="zh-CN" altLang="en-US" sz="2000" b="1" dirty="0">
                <a:latin typeface="微软雅黑" pitchFamily="34" charset="-122"/>
                <a:ea typeface="微软雅黑" pitchFamily="34" charset="-122"/>
              </a:rPr>
              <a:t>；也可以写成</a:t>
            </a:r>
            <a:r>
              <a:rPr kumimoji="1" lang="en-US" altLang="zh-CN" sz="2000" b="1" dirty="0">
                <a:latin typeface="微软雅黑" pitchFamily="34" charset="-122"/>
                <a:ea typeface="微软雅黑" pitchFamily="34" charset="-122"/>
              </a:rPr>
              <a:t>mov ax, [</a:t>
            </a:r>
            <a:r>
              <a:rPr kumimoji="1" lang="en-US" altLang="zh-CN" sz="2000" b="1" dirty="0" err="1">
                <a:latin typeface="微软雅黑" pitchFamily="34" charset="-122"/>
                <a:ea typeface="微软雅黑" pitchFamily="34" charset="-122"/>
              </a:rPr>
              <a:t>array+ebx+esi</a:t>
            </a:r>
            <a:r>
              <a:rPr kumimoji="1" lang="en-US" altLang="zh-CN" sz="2000" b="1" dirty="0">
                <a:latin typeface="微软雅黑" pitchFamily="34" charset="-122"/>
                <a:ea typeface="微软雅黑" pitchFamily="34" charset="-122"/>
              </a:rPr>
              <a:t>*2]</a:t>
            </a:r>
          </a:p>
          <a:p>
            <a:r>
              <a:rPr kumimoji="1" lang="en-US" altLang="zh-CN" sz="2000" b="1" dirty="0">
                <a:latin typeface="微软雅黑" pitchFamily="34" charset="-122"/>
                <a:ea typeface="微软雅黑" pitchFamily="34" charset="-122"/>
              </a:rPr>
              <a:t>   	ret	;</a:t>
            </a:r>
            <a:r>
              <a:rPr kumimoji="1" lang="zh-CN" altLang="en-US" sz="2000" b="1" dirty="0">
                <a:latin typeface="微软雅黑" pitchFamily="34" charset="-122"/>
                <a:ea typeface="微软雅黑" pitchFamily="34" charset="-122"/>
              </a:rPr>
              <a:t>返回操作系统</a:t>
            </a:r>
          </a:p>
          <a:p>
            <a:r>
              <a:rPr kumimoji="1" lang="zh-CN" altLang="en-US" sz="2000" b="1" dirty="0">
                <a:latin typeface="微软雅黑" pitchFamily="34" charset="-122"/>
                <a:ea typeface="微软雅黑" pitchFamily="34" charset="-122"/>
              </a:rPr>
              <a:t>	</a:t>
            </a:r>
            <a:r>
              <a:rPr kumimoji="1" lang="en-US" altLang="zh-CN" sz="2000" b="1" dirty="0">
                <a:latin typeface="微软雅黑" pitchFamily="34" charset="-122"/>
                <a:ea typeface="微软雅黑" pitchFamily="34" charset="-122"/>
              </a:rPr>
              <a:t>end start	;</a:t>
            </a:r>
            <a:r>
              <a:rPr kumimoji="1" lang="zh-CN" altLang="en-US" sz="2000" b="1" dirty="0">
                <a:latin typeface="微软雅黑" pitchFamily="34" charset="-122"/>
                <a:ea typeface="微软雅黑" pitchFamily="34" charset="-122"/>
              </a:rPr>
              <a:t>汇编结束 </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idx="4294967295"/>
          </p:nvPr>
        </p:nvSpPr>
        <p:spPr>
          <a:xfrm>
            <a:off x="0" y="274638"/>
            <a:ext cx="8229600" cy="1143000"/>
          </a:xfrm>
        </p:spPr>
        <p:txBody>
          <a:bodyPr anchor="ctr"/>
          <a:lstStyle/>
          <a:p>
            <a:r>
              <a:rPr lang="zh-CN" altLang="en-US" dirty="0">
                <a:solidFill>
                  <a:srgbClr val="FF0000"/>
                </a:solidFill>
                <a:latin typeface="微软雅黑" pitchFamily="34" charset="-122"/>
                <a:ea typeface="微软雅黑" pitchFamily="34" charset="-122"/>
              </a:rPr>
              <a:t>例：</a:t>
            </a:r>
            <a:r>
              <a:rPr lang="en-US" altLang="zh-CN" sz="3000" dirty="0">
                <a:solidFill>
                  <a:srgbClr val="FF0000"/>
                </a:solidFill>
                <a:latin typeface="微软雅黑" pitchFamily="34" charset="-122"/>
                <a:ea typeface="微软雅黑" pitchFamily="34" charset="-122"/>
              </a:rPr>
              <a:t>mov </a:t>
            </a:r>
            <a:r>
              <a:rPr lang="en-US" altLang="zh-CN" sz="3000" dirty="0" err="1">
                <a:solidFill>
                  <a:srgbClr val="FF0000"/>
                </a:solidFill>
                <a:latin typeface="微软雅黑" pitchFamily="34" charset="-122"/>
                <a:ea typeface="微软雅黑" pitchFamily="34" charset="-122"/>
              </a:rPr>
              <a:t>ebx</a:t>
            </a:r>
            <a:r>
              <a:rPr lang="en-US" altLang="zh-CN" sz="3000" dirty="0">
                <a:solidFill>
                  <a:srgbClr val="FF0000"/>
                </a:solidFill>
                <a:latin typeface="微软雅黑" pitchFamily="34" charset="-122"/>
                <a:ea typeface="微软雅黑" pitchFamily="34" charset="-122"/>
              </a:rPr>
              <a:t>, row</a:t>
            </a:r>
            <a:endParaRPr lang="en-US" altLang="zh-CN" dirty="0">
              <a:solidFill>
                <a:srgbClr val="FF0000"/>
              </a:solidFill>
              <a:latin typeface="微软雅黑" pitchFamily="34" charset="-122"/>
              <a:ea typeface="微软雅黑" pitchFamily="34" charset="-122"/>
            </a:endParaRPr>
          </a:p>
        </p:txBody>
      </p:sp>
      <p:pic>
        <p:nvPicPr>
          <p:cNvPr id="299011" name="Picture 3" descr="2007-07-05_21-40-27"/>
          <p:cNvPicPr>
            <a:picLocks noChangeAspect="1" noChangeArrowheads="1"/>
          </p:cNvPicPr>
          <p:nvPr/>
        </p:nvPicPr>
        <p:blipFill>
          <a:blip r:embed="rId2" cstate="print"/>
          <a:srcRect/>
          <a:stretch>
            <a:fillRect/>
          </a:stretch>
        </p:blipFill>
        <p:spPr bwMode="auto">
          <a:xfrm>
            <a:off x="239713" y="1874838"/>
            <a:ext cx="8664575" cy="3108325"/>
          </a:xfrm>
          <a:prstGeom prst="rect">
            <a:avLst/>
          </a:prstGeom>
          <a:noFill/>
          <a:ln w="9525">
            <a:noFill/>
            <a:miter lim="800000"/>
            <a:headEnd/>
            <a:tailEnd/>
          </a:ln>
        </p:spPr>
      </p:pic>
      <p:sp>
        <p:nvSpPr>
          <p:cNvPr id="1121284" name="Rectangle 4"/>
          <p:cNvSpPr>
            <a:spLocks noChangeArrowheads="1"/>
          </p:cNvSpPr>
          <p:nvPr/>
        </p:nvSpPr>
        <p:spPr bwMode="auto">
          <a:xfrm>
            <a:off x="609600" y="3733800"/>
            <a:ext cx="3276600" cy="3810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21285" name="Line 5"/>
          <p:cNvSpPr>
            <a:spLocks noChangeShapeType="1"/>
          </p:cNvSpPr>
          <p:nvPr/>
        </p:nvSpPr>
        <p:spPr bwMode="auto">
          <a:xfrm flipV="1">
            <a:off x="3886200" y="2971800"/>
            <a:ext cx="1676400" cy="990600"/>
          </a:xfrm>
          <a:prstGeom prst="line">
            <a:avLst/>
          </a:prstGeom>
          <a:noFill/>
          <a:ln w="57150">
            <a:solidFill>
              <a:srgbClr val="005A42"/>
            </a:solidFill>
            <a:round/>
            <a:headEnd/>
            <a:tailEnd type="triangle" w="med" len="med"/>
          </a:ln>
        </p:spPr>
        <p:txBody>
          <a:bodyPr wrap="none"/>
          <a:lstStyle/>
          <a:p>
            <a:endParaRPr lang="zh-CN" altLang="en-US"/>
          </a:p>
        </p:txBody>
      </p:sp>
      <p:sp>
        <p:nvSpPr>
          <p:cNvPr id="1121286" name="Rectangle 6"/>
          <p:cNvSpPr>
            <a:spLocks noChangeArrowheads="1"/>
          </p:cNvSpPr>
          <p:nvPr/>
        </p:nvSpPr>
        <p:spPr bwMode="auto">
          <a:xfrm>
            <a:off x="5562600" y="2590800"/>
            <a:ext cx="2819400" cy="3810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21284"/>
                                        </p:tgtEl>
                                        <p:attrNameLst>
                                          <p:attrName>style.visibility</p:attrName>
                                        </p:attrNameLst>
                                      </p:cBhvr>
                                      <p:to>
                                        <p:strVal val="visible"/>
                                      </p:to>
                                    </p:set>
                                  </p:childTnLst>
                                </p:cTn>
                              </p:par>
                            </p:childTnLst>
                          </p:cTn>
                        </p:par>
                        <p:par>
                          <p:cTn id="7" fill="hold">
                            <p:stCondLst>
                              <p:cond delay="500"/>
                            </p:stCondLst>
                            <p:childTnLst>
                              <p:par>
                                <p:cTn id="8" presetID="22" presetClass="entr" presetSubtype="8" fill="hold" grpId="0" nodeType="afterEffect">
                                  <p:stCondLst>
                                    <p:cond delay="0"/>
                                  </p:stCondLst>
                                  <p:childTnLst>
                                    <p:set>
                                      <p:cBhvr>
                                        <p:cTn id="9" dur="1" fill="hold">
                                          <p:stCondLst>
                                            <p:cond delay="0"/>
                                          </p:stCondLst>
                                        </p:cTn>
                                        <p:tgtEl>
                                          <p:spTgt spid="1121285"/>
                                        </p:tgtEl>
                                        <p:attrNameLst>
                                          <p:attrName>style.visibility</p:attrName>
                                        </p:attrNameLst>
                                      </p:cBhvr>
                                      <p:to>
                                        <p:strVal val="visible"/>
                                      </p:to>
                                    </p:set>
                                    <p:animEffect transition="in" filter="wipe(left)">
                                      <p:cBhvr>
                                        <p:cTn id="10" dur="500"/>
                                        <p:tgtEl>
                                          <p:spTgt spid="1121285"/>
                                        </p:tgtEl>
                                      </p:cBhvr>
                                    </p:animEffect>
                                  </p:childTnLst>
                                </p:cTn>
                              </p:par>
                            </p:childTnLst>
                          </p:cTn>
                        </p:par>
                        <p:par>
                          <p:cTn id="11" fill="hold">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1121286"/>
                                        </p:tgtEl>
                                        <p:attrNameLst>
                                          <p:attrName>style.visibility</p:attrName>
                                        </p:attrNameLst>
                                      </p:cBhvr>
                                      <p:to>
                                        <p:strVal val="visible"/>
                                      </p:to>
                                    </p:set>
                                    <p:animEffect transition="in" filter="wipe(left)">
                                      <p:cBhvr>
                                        <p:cTn id="14" dur="500"/>
                                        <p:tgtEl>
                                          <p:spTgt spid="11212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1284" grpId="0" animBg="1"/>
      <p:bldP spid="1121285" grpId="0" animBg="1"/>
      <p:bldP spid="112128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idx="4294967295"/>
          </p:nvPr>
        </p:nvSpPr>
        <p:spPr>
          <a:xfrm>
            <a:off x="0" y="274638"/>
            <a:ext cx="8229600" cy="1143000"/>
          </a:xfrm>
        </p:spPr>
        <p:txBody>
          <a:bodyPr anchor="ctr"/>
          <a:lstStyle/>
          <a:p>
            <a:r>
              <a:rPr lang="zh-CN" altLang="en-US" dirty="0">
                <a:solidFill>
                  <a:srgbClr val="FF0000"/>
                </a:solidFill>
                <a:latin typeface="微软雅黑" pitchFamily="34" charset="-122"/>
                <a:ea typeface="微软雅黑" pitchFamily="34" charset="-122"/>
              </a:rPr>
              <a:t>例： </a:t>
            </a:r>
            <a:r>
              <a:rPr lang="en-US" altLang="zh-CN" sz="3000" dirty="0">
                <a:solidFill>
                  <a:srgbClr val="FF0000"/>
                </a:solidFill>
                <a:latin typeface="微软雅黑" pitchFamily="34" charset="-122"/>
                <a:ea typeface="微软雅黑" pitchFamily="34" charset="-122"/>
              </a:rPr>
              <a:t>mov esi,1</a:t>
            </a:r>
            <a:endParaRPr lang="en-US" altLang="zh-CN" dirty="0">
              <a:solidFill>
                <a:srgbClr val="FF0000"/>
              </a:solidFill>
              <a:latin typeface="微软雅黑" pitchFamily="34" charset="-122"/>
              <a:ea typeface="微软雅黑" pitchFamily="34" charset="-122"/>
            </a:endParaRPr>
          </a:p>
        </p:txBody>
      </p:sp>
      <p:pic>
        <p:nvPicPr>
          <p:cNvPr id="300035" name="Picture 3" descr="2007-07-05_21-41-05"/>
          <p:cNvPicPr>
            <a:picLocks noChangeAspect="1" noChangeArrowheads="1"/>
          </p:cNvPicPr>
          <p:nvPr/>
        </p:nvPicPr>
        <p:blipFill>
          <a:blip r:embed="rId2" cstate="print"/>
          <a:srcRect/>
          <a:stretch>
            <a:fillRect/>
          </a:stretch>
        </p:blipFill>
        <p:spPr bwMode="auto">
          <a:xfrm>
            <a:off x="228600" y="2133600"/>
            <a:ext cx="8651875" cy="2617788"/>
          </a:xfrm>
          <a:prstGeom prst="rect">
            <a:avLst/>
          </a:prstGeom>
          <a:noFill/>
          <a:ln w="9525">
            <a:noFill/>
            <a:miter lim="800000"/>
            <a:headEnd/>
            <a:tailEnd/>
          </a:ln>
        </p:spPr>
      </p:pic>
      <p:sp>
        <p:nvSpPr>
          <p:cNvPr id="1122308" name="Rectangle 4"/>
          <p:cNvSpPr>
            <a:spLocks noChangeArrowheads="1"/>
          </p:cNvSpPr>
          <p:nvPr/>
        </p:nvSpPr>
        <p:spPr bwMode="auto">
          <a:xfrm>
            <a:off x="533400" y="2438400"/>
            <a:ext cx="3276600" cy="3810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22309" name="Line 5"/>
          <p:cNvSpPr>
            <a:spLocks noChangeShapeType="1"/>
          </p:cNvSpPr>
          <p:nvPr/>
        </p:nvSpPr>
        <p:spPr bwMode="auto">
          <a:xfrm>
            <a:off x="3810000" y="2667000"/>
            <a:ext cx="1600200" cy="1371600"/>
          </a:xfrm>
          <a:prstGeom prst="line">
            <a:avLst/>
          </a:prstGeom>
          <a:noFill/>
          <a:ln w="57150">
            <a:solidFill>
              <a:srgbClr val="005A42"/>
            </a:solidFill>
            <a:round/>
            <a:headEnd/>
            <a:tailEnd type="triangle" w="med" len="med"/>
          </a:ln>
        </p:spPr>
        <p:txBody>
          <a:bodyPr wrap="none"/>
          <a:lstStyle/>
          <a:p>
            <a:endParaRPr lang="zh-CN" altLang="en-US"/>
          </a:p>
        </p:txBody>
      </p:sp>
      <p:sp>
        <p:nvSpPr>
          <p:cNvPr id="1122310" name="Rectangle 6"/>
          <p:cNvSpPr>
            <a:spLocks noChangeArrowheads="1"/>
          </p:cNvSpPr>
          <p:nvPr/>
        </p:nvSpPr>
        <p:spPr bwMode="auto">
          <a:xfrm>
            <a:off x="5410200" y="3962400"/>
            <a:ext cx="2819400" cy="4572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22308"/>
                                        </p:tgtEl>
                                        <p:attrNameLst>
                                          <p:attrName>style.visibility</p:attrName>
                                        </p:attrNameLst>
                                      </p:cBhvr>
                                      <p:to>
                                        <p:strVal val="visible"/>
                                      </p:to>
                                    </p:set>
                                  </p:childTnLst>
                                </p:cTn>
                              </p:par>
                            </p:childTnLst>
                          </p:cTn>
                        </p:par>
                        <p:par>
                          <p:cTn id="7" fill="hold">
                            <p:stCondLst>
                              <p:cond delay="500"/>
                            </p:stCondLst>
                            <p:childTnLst>
                              <p:par>
                                <p:cTn id="8" presetID="22" presetClass="entr" presetSubtype="8" fill="hold" grpId="0" nodeType="afterEffect">
                                  <p:stCondLst>
                                    <p:cond delay="0"/>
                                  </p:stCondLst>
                                  <p:childTnLst>
                                    <p:set>
                                      <p:cBhvr>
                                        <p:cTn id="9" dur="1" fill="hold">
                                          <p:stCondLst>
                                            <p:cond delay="0"/>
                                          </p:stCondLst>
                                        </p:cTn>
                                        <p:tgtEl>
                                          <p:spTgt spid="1122309"/>
                                        </p:tgtEl>
                                        <p:attrNameLst>
                                          <p:attrName>style.visibility</p:attrName>
                                        </p:attrNameLst>
                                      </p:cBhvr>
                                      <p:to>
                                        <p:strVal val="visible"/>
                                      </p:to>
                                    </p:set>
                                    <p:animEffect transition="in" filter="wipe(left)">
                                      <p:cBhvr>
                                        <p:cTn id="10" dur="500"/>
                                        <p:tgtEl>
                                          <p:spTgt spid="1122309"/>
                                        </p:tgtEl>
                                      </p:cBhvr>
                                    </p:animEffect>
                                  </p:childTnLst>
                                </p:cTn>
                              </p:par>
                            </p:childTnLst>
                          </p:cTn>
                        </p:par>
                        <p:par>
                          <p:cTn id="11" fill="hold">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1122310"/>
                                        </p:tgtEl>
                                        <p:attrNameLst>
                                          <p:attrName>style.visibility</p:attrName>
                                        </p:attrNameLst>
                                      </p:cBhvr>
                                      <p:to>
                                        <p:strVal val="visible"/>
                                      </p:to>
                                    </p:set>
                                    <p:animEffect transition="in" filter="wipe(left)">
                                      <p:cBhvr>
                                        <p:cTn id="14" dur="500"/>
                                        <p:tgtEl>
                                          <p:spTgt spid="1122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2308" grpId="0" animBg="1"/>
      <p:bldP spid="1122309" grpId="0" animBg="1"/>
      <p:bldP spid="112231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p:cNvSpPr>
            <a:spLocks noGrp="1" noChangeArrowheads="1"/>
          </p:cNvSpPr>
          <p:nvPr>
            <p:ph type="title" idx="4294967295"/>
          </p:nvPr>
        </p:nvSpPr>
        <p:spPr>
          <a:xfrm>
            <a:off x="0" y="274638"/>
            <a:ext cx="8229600" cy="1143000"/>
          </a:xfrm>
        </p:spPr>
        <p:txBody>
          <a:bodyPr anchor="ctr"/>
          <a:lstStyle/>
          <a:p>
            <a:r>
              <a:rPr lang="en-US" altLang="zh-CN" sz="3000" dirty="0">
                <a:solidFill>
                  <a:srgbClr val="FF0000"/>
                </a:solidFill>
                <a:latin typeface="微软雅黑" pitchFamily="34" charset="-122"/>
                <a:ea typeface="微软雅黑" pitchFamily="34" charset="-122"/>
              </a:rPr>
              <a:t>mov ax, array[</a:t>
            </a:r>
            <a:r>
              <a:rPr lang="en-US" altLang="zh-CN" sz="3000" dirty="0" err="1">
                <a:solidFill>
                  <a:srgbClr val="FF0000"/>
                </a:solidFill>
                <a:latin typeface="微软雅黑" pitchFamily="34" charset="-122"/>
                <a:ea typeface="微软雅黑" pitchFamily="34" charset="-122"/>
              </a:rPr>
              <a:t>ebx</a:t>
            </a:r>
            <a:r>
              <a:rPr lang="en-US" altLang="zh-CN" sz="3000" dirty="0">
                <a:solidFill>
                  <a:srgbClr val="FF0000"/>
                </a:solidFill>
                <a:latin typeface="微软雅黑" pitchFamily="34" charset="-122"/>
                <a:ea typeface="微软雅黑" pitchFamily="34" charset="-122"/>
              </a:rPr>
              <a:t>][</a:t>
            </a:r>
            <a:r>
              <a:rPr lang="en-US" altLang="zh-CN" sz="3000" dirty="0" err="1">
                <a:solidFill>
                  <a:srgbClr val="FF0000"/>
                </a:solidFill>
                <a:latin typeface="微软雅黑" pitchFamily="34" charset="-122"/>
                <a:ea typeface="微软雅黑" pitchFamily="34" charset="-122"/>
              </a:rPr>
              <a:t>esi</a:t>
            </a:r>
            <a:r>
              <a:rPr lang="en-US" altLang="zh-CN" sz="3000" dirty="0">
                <a:solidFill>
                  <a:srgbClr val="FF0000"/>
                </a:solidFill>
                <a:latin typeface="微软雅黑" pitchFamily="34" charset="-122"/>
                <a:ea typeface="微软雅黑" pitchFamily="34" charset="-122"/>
              </a:rPr>
              <a:t>*2]</a:t>
            </a:r>
            <a:endParaRPr lang="en-US" altLang="zh-CN" dirty="0">
              <a:solidFill>
                <a:srgbClr val="FF0000"/>
              </a:solidFill>
              <a:latin typeface="微软雅黑" pitchFamily="34" charset="-122"/>
              <a:ea typeface="微软雅黑" pitchFamily="34" charset="-122"/>
            </a:endParaRPr>
          </a:p>
        </p:txBody>
      </p:sp>
      <p:pic>
        <p:nvPicPr>
          <p:cNvPr id="301059" name="Picture 3" descr="2007-07-05_21-43-06"/>
          <p:cNvPicPr>
            <a:picLocks noChangeAspect="1" noChangeArrowheads="1"/>
          </p:cNvPicPr>
          <p:nvPr/>
        </p:nvPicPr>
        <p:blipFill>
          <a:blip r:embed="rId2" cstate="print"/>
          <a:srcRect/>
          <a:stretch>
            <a:fillRect/>
          </a:stretch>
        </p:blipFill>
        <p:spPr bwMode="auto">
          <a:xfrm>
            <a:off x="381000" y="1600200"/>
            <a:ext cx="8382000" cy="4538663"/>
          </a:xfrm>
          <a:prstGeom prst="rect">
            <a:avLst/>
          </a:prstGeom>
          <a:noFill/>
          <a:ln w="9525">
            <a:noFill/>
            <a:miter lim="800000"/>
            <a:headEnd/>
            <a:tailEnd/>
          </a:ln>
        </p:spPr>
      </p:pic>
      <p:sp>
        <p:nvSpPr>
          <p:cNvPr id="301060" name="Rectangle 4"/>
          <p:cNvSpPr>
            <a:spLocks noChangeArrowheads="1"/>
          </p:cNvSpPr>
          <p:nvPr/>
        </p:nvSpPr>
        <p:spPr bwMode="auto">
          <a:xfrm>
            <a:off x="1981200" y="3581400"/>
            <a:ext cx="25146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23333" name="Line 5"/>
          <p:cNvSpPr>
            <a:spLocks noChangeShapeType="1"/>
          </p:cNvSpPr>
          <p:nvPr/>
        </p:nvSpPr>
        <p:spPr bwMode="auto">
          <a:xfrm flipV="1">
            <a:off x="2438400" y="2514600"/>
            <a:ext cx="5181600" cy="3200400"/>
          </a:xfrm>
          <a:prstGeom prst="line">
            <a:avLst/>
          </a:prstGeom>
          <a:noFill/>
          <a:ln w="57150">
            <a:solidFill>
              <a:srgbClr val="005A42"/>
            </a:solidFill>
            <a:round/>
            <a:headEnd/>
            <a:tailEnd type="triangle" w="med" len="med"/>
          </a:ln>
        </p:spPr>
        <p:txBody>
          <a:bodyPr wrap="none"/>
          <a:lstStyle/>
          <a:p>
            <a:endParaRPr lang="zh-CN" altLang="en-US"/>
          </a:p>
        </p:txBody>
      </p:sp>
      <p:sp>
        <p:nvSpPr>
          <p:cNvPr id="1123334" name="Rectangle 6"/>
          <p:cNvSpPr>
            <a:spLocks noChangeArrowheads="1"/>
          </p:cNvSpPr>
          <p:nvPr/>
        </p:nvSpPr>
        <p:spPr bwMode="auto">
          <a:xfrm>
            <a:off x="7543800" y="1981200"/>
            <a:ext cx="533400" cy="533400"/>
          </a:xfrm>
          <a:prstGeom prst="rect">
            <a:avLst/>
          </a:prstGeom>
          <a:noFill/>
          <a:ln w="28575">
            <a:solidFill>
              <a:srgbClr val="005A42"/>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23335" name="AutoShape 7"/>
          <p:cNvSpPr>
            <a:spLocks noChangeArrowheads="1"/>
          </p:cNvSpPr>
          <p:nvPr/>
        </p:nvSpPr>
        <p:spPr bwMode="auto">
          <a:xfrm>
            <a:off x="228600" y="1447800"/>
            <a:ext cx="5334000" cy="1752600"/>
          </a:xfrm>
          <a:prstGeom prst="wedgeEllipseCallout">
            <a:avLst>
              <a:gd name="adj1" fmla="val 9403"/>
              <a:gd name="adj2" fmla="val 71829"/>
            </a:avLst>
          </a:prstGeom>
          <a:solidFill>
            <a:srgbClr val="ECD8C4"/>
          </a:solidFill>
          <a:ln w="38100">
            <a:solidFill>
              <a:srgbClr val="005A42"/>
            </a:solidFill>
            <a:miter lim="800000"/>
            <a:headEnd/>
            <a:tailEnd/>
          </a:ln>
        </p:spPr>
        <p:txBody>
          <a:bodyPr/>
          <a:lstStyle/>
          <a:p>
            <a:r>
              <a:rPr kumimoji="1" lang="zh-CN" altLang="en-US" sz="2800" b="1">
                <a:solidFill>
                  <a:srgbClr val="000099"/>
                </a:solidFill>
                <a:latin typeface="微软雅黑" pitchFamily="34" charset="-122"/>
                <a:ea typeface="微软雅黑" pitchFamily="34" charset="-122"/>
              </a:rPr>
              <a:t>比例因子寻址</a:t>
            </a:r>
          </a:p>
          <a:p>
            <a:r>
              <a:rPr kumimoji="1" lang="en-US" altLang="zh-CN" sz="2800" b="1">
                <a:solidFill>
                  <a:srgbClr val="000099"/>
                </a:solidFill>
                <a:latin typeface="微软雅黑" pitchFamily="34" charset="-122"/>
                <a:ea typeface="微软雅黑" pitchFamily="34" charset="-122"/>
              </a:rPr>
              <a:t>00404000+14+1*2</a:t>
            </a:r>
          </a:p>
          <a:p>
            <a:r>
              <a:rPr kumimoji="1" lang="en-US" altLang="zh-CN" sz="2800" b="1">
                <a:solidFill>
                  <a:srgbClr val="000099"/>
                </a:solidFill>
                <a:latin typeface="微软雅黑" pitchFamily="34" charset="-122"/>
                <a:ea typeface="微软雅黑" pitchFamily="34" charset="-122"/>
              </a:rPr>
              <a:t>=00404010</a:t>
            </a:r>
          </a:p>
        </p:txBody>
      </p:sp>
      <p:sp>
        <p:nvSpPr>
          <p:cNvPr id="1123336" name="AutoShape 8"/>
          <p:cNvSpPr>
            <a:spLocks noChangeArrowheads="1"/>
          </p:cNvSpPr>
          <p:nvPr/>
        </p:nvSpPr>
        <p:spPr bwMode="auto">
          <a:xfrm>
            <a:off x="2819400" y="5715000"/>
            <a:ext cx="4724400" cy="914400"/>
          </a:xfrm>
          <a:prstGeom prst="wedgeEllipseCallout">
            <a:avLst>
              <a:gd name="adj1" fmla="val -57630"/>
              <a:gd name="adj2" fmla="val -24824"/>
            </a:avLst>
          </a:prstGeom>
          <a:solidFill>
            <a:srgbClr val="ECD8C4"/>
          </a:solidFill>
          <a:ln w="38100">
            <a:solidFill>
              <a:srgbClr val="005A42"/>
            </a:solidFill>
            <a:miter lim="800000"/>
            <a:headEnd/>
            <a:tailEnd/>
          </a:ln>
        </p:spPr>
        <p:txBody>
          <a:bodyPr/>
          <a:lstStyle/>
          <a:p>
            <a:r>
              <a:rPr kumimoji="1" lang="en-US" altLang="zh-CN" sz="2800" b="1">
                <a:solidFill>
                  <a:srgbClr val="000099"/>
                </a:solidFill>
                <a:latin typeface="微软雅黑" pitchFamily="34" charset="-122"/>
                <a:ea typeface="微软雅黑" pitchFamily="34" charset="-122"/>
              </a:rPr>
              <a:t>[00404010]=09h</a:t>
            </a:r>
          </a:p>
        </p:txBody>
      </p:sp>
      <p:sp>
        <p:nvSpPr>
          <p:cNvPr id="1123337" name="Rectangle 9"/>
          <p:cNvSpPr>
            <a:spLocks noChangeArrowheads="1"/>
          </p:cNvSpPr>
          <p:nvPr/>
        </p:nvSpPr>
        <p:spPr bwMode="auto">
          <a:xfrm>
            <a:off x="304800" y="5257800"/>
            <a:ext cx="17526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
        <p:nvSpPr>
          <p:cNvPr id="1123338" name="AutoShape 10"/>
          <p:cNvSpPr>
            <a:spLocks noChangeArrowheads="1"/>
          </p:cNvSpPr>
          <p:nvPr/>
        </p:nvSpPr>
        <p:spPr bwMode="auto">
          <a:xfrm>
            <a:off x="228600" y="4267200"/>
            <a:ext cx="3352800" cy="685800"/>
          </a:xfrm>
          <a:prstGeom prst="wedgeEllipseCallout">
            <a:avLst>
              <a:gd name="adj1" fmla="val 759"/>
              <a:gd name="adj2" fmla="val 98611"/>
            </a:avLst>
          </a:prstGeom>
          <a:solidFill>
            <a:srgbClr val="ECD8C4"/>
          </a:solidFill>
          <a:ln w="38100">
            <a:solidFill>
              <a:srgbClr val="005A42"/>
            </a:solidFill>
            <a:miter lim="800000"/>
            <a:headEnd/>
            <a:tailEnd/>
          </a:ln>
        </p:spPr>
        <p:txBody>
          <a:bodyPr/>
          <a:lstStyle/>
          <a:p>
            <a:r>
              <a:rPr kumimoji="1" lang="en-US" altLang="zh-CN" sz="2800" b="1">
                <a:solidFill>
                  <a:srgbClr val="000099"/>
                </a:solidFill>
                <a:latin typeface="微软雅黑" pitchFamily="34" charset="-122"/>
                <a:ea typeface="微软雅黑" pitchFamily="34" charset="-122"/>
              </a:rPr>
              <a:t>array</a:t>
            </a:r>
            <a:r>
              <a:rPr kumimoji="1" lang="zh-CN" altLang="en-US" sz="2800" b="1">
                <a:solidFill>
                  <a:srgbClr val="000099"/>
                </a:solidFill>
                <a:latin typeface="微软雅黑" pitchFamily="34" charset="-122"/>
                <a:ea typeface="微软雅黑" pitchFamily="34" charset="-122"/>
              </a:rPr>
              <a:t>的地址</a:t>
            </a:r>
          </a:p>
        </p:txBody>
      </p:sp>
      <p:sp>
        <p:nvSpPr>
          <p:cNvPr id="1123339" name="Rectangle 11"/>
          <p:cNvSpPr>
            <a:spLocks noChangeArrowheads="1"/>
          </p:cNvSpPr>
          <p:nvPr/>
        </p:nvSpPr>
        <p:spPr bwMode="auto">
          <a:xfrm>
            <a:off x="1981200" y="5715000"/>
            <a:ext cx="533400" cy="533400"/>
          </a:xfrm>
          <a:prstGeom prst="rect">
            <a:avLst/>
          </a:prstGeom>
          <a:noFill/>
          <a:ln w="28575">
            <a:solidFill>
              <a:schemeClr val="hlink"/>
            </a:solidFill>
            <a:miter lim="800000"/>
            <a:headEnd/>
            <a:tailEnd/>
          </a:ln>
        </p:spPr>
        <p:txBody>
          <a:bodyPr wrap="none" anchor="ctr"/>
          <a:lstStyle/>
          <a:p>
            <a:pPr algn="ctr" eaLnBrk="0" hangingPunct="0"/>
            <a:endParaRPr lang="zh-CN" altLang="zh-CN">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3337"/>
                                        </p:tgtEl>
                                        <p:attrNameLst>
                                          <p:attrName>style.visibility</p:attrName>
                                        </p:attrNameLst>
                                      </p:cBhvr>
                                      <p:to>
                                        <p:strVal val="visible"/>
                                      </p:to>
                                    </p:set>
                                    <p:anim calcmode="lin" valueType="num">
                                      <p:cBhvr additive="base">
                                        <p:cTn id="7" dur="500" fill="hold"/>
                                        <p:tgtEl>
                                          <p:spTgt spid="1123337"/>
                                        </p:tgtEl>
                                        <p:attrNameLst>
                                          <p:attrName>ppt_x</p:attrName>
                                        </p:attrNameLst>
                                      </p:cBhvr>
                                      <p:tavLst>
                                        <p:tav tm="0">
                                          <p:val>
                                            <p:strVal val="0-#ppt_w/2"/>
                                          </p:val>
                                        </p:tav>
                                        <p:tav tm="100000">
                                          <p:val>
                                            <p:strVal val="#ppt_x"/>
                                          </p:val>
                                        </p:tav>
                                      </p:tavLst>
                                    </p:anim>
                                    <p:anim calcmode="lin" valueType="num">
                                      <p:cBhvr additive="base">
                                        <p:cTn id="8" dur="500" fill="hold"/>
                                        <p:tgtEl>
                                          <p:spTgt spid="112333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3" presetClass="entr" presetSubtype="10" fill="hold" grpId="0" nodeType="afterEffect">
                                  <p:stCondLst>
                                    <p:cond delay="0"/>
                                  </p:stCondLst>
                                  <p:childTnLst>
                                    <p:set>
                                      <p:cBhvr>
                                        <p:cTn id="11" dur="1" fill="hold">
                                          <p:stCondLst>
                                            <p:cond delay="0"/>
                                          </p:stCondLst>
                                        </p:cTn>
                                        <p:tgtEl>
                                          <p:spTgt spid="1123338"/>
                                        </p:tgtEl>
                                        <p:attrNameLst>
                                          <p:attrName>style.visibility</p:attrName>
                                        </p:attrNameLst>
                                      </p:cBhvr>
                                      <p:to>
                                        <p:strVal val="visible"/>
                                      </p:to>
                                    </p:set>
                                    <p:animEffect transition="in" filter="blinds(horizontal)">
                                      <p:cBhvr>
                                        <p:cTn id="12" dur="500"/>
                                        <p:tgtEl>
                                          <p:spTgt spid="112333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12333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123339"/>
                                        </p:tgtEl>
                                        <p:attrNameLst>
                                          <p:attrName>style.visibility</p:attrName>
                                        </p:attrNameLst>
                                      </p:cBhvr>
                                      <p:to>
                                        <p:strVal val="visible"/>
                                      </p:to>
                                    </p:set>
                                    <p:anim calcmode="lin" valueType="num">
                                      <p:cBhvr additive="base">
                                        <p:cTn id="21" dur="500" fill="hold"/>
                                        <p:tgtEl>
                                          <p:spTgt spid="1123339"/>
                                        </p:tgtEl>
                                        <p:attrNameLst>
                                          <p:attrName>ppt_x</p:attrName>
                                        </p:attrNameLst>
                                      </p:cBhvr>
                                      <p:tavLst>
                                        <p:tav tm="0">
                                          <p:val>
                                            <p:strVal val="0-#ppt_w/2"/>
                                          </p:val>
                                        </p:tav>
                                        <p:tav tm="100000">
                                          <p:val>
                                            <p:strVal val="#ppt_x"/>
                                          </p:val>
                                        </p:tav>
                                      </p:tavLst>
                                    </p:anim>
                                    <p:anim calcmode="lin" valueType="num">
                                      <p:cBhvr additive="base">
                                        <p:cTn id="22" dur="500" fill="hold"/>
                                        <p:tgtEl>
                                          <p:spTgt spid="1123339"/>
                                        </p:tgtEl>
                                        <p:attrNameLst>
                                          <p:attrName>ppt_y</p:attrName>
                                        </p:attrNameLst>
                                      </p:cBhvr>
                                      <p:tavLst>
                                        <p:tav tm="0">
                                          <p:val>
                                            <p:strVal val="#ppt_y"/>
                                          </p:val>
                                        </p:tav>
                                        <p:tav tm="100000">
                                          <p:val>
                                            <p:strVal val="#ppt_y"/>
                                          </p:val>
                                        </p:tav>
                                      </p:tavLst>
                                    </p:anim>
                                  </p:childTnLst>
                                </p:cTn>
                              </p:par>
                            </p:childTnLst>
                          </p:cTn>
                        </p:par>
                        <p:par>
                          <p:cTn id="23" fill="hold">
                            <p:stCondLst>
                              <p:cond delay="500"/>
                            </p:stCondLst>
                            <p:childTnLst>
                              <p:par>
                                <p:cTn id="24" presetID="3" presetClass="entr" presetSubtype="10" fill="hold" grpId="0" nodeType="afterEffect">
                                  <p:stCondLst>
                                    <p:cond delay="0"/>
                                  </p:stCondLst>
                                  <p:childTnLst>
                                    <p:set>
                                      <p:cBhvr>
                                        <p:cTn id="25" dur="1" fill="hold">
                                          <p:stCondLst>
                                            <p:cond delay="0"/>
                                          </p:stCondLst>
                                        </p:cTn>
                                        <p:tgtEl>
                                          <p:spTgt spid="1123336"/>
                                        </p:tgtEl>
                                        <p:attrNameLst>
                                          <p:attrName>style.visibility</p:attrName>
                                        </p:attrNameLst>
                                      </p:cBhvr>
                                      <p:to>
                                        <p:strVal val="visible"/>
                                      </p:to>
                                    </p:set>
                                    <p:animEffect transition="in" filter="blinds(horizontal)">
                                      <p:cBhvr>
                                        <p:cTn id="26" dur="500"/>
                                        <p:tgtEl>
                                          <p:spTgt spid="112333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123333"/>
                                        </p:tgtEl>
                                        <p:attrNameLst>
                                          <p:attrName>style.visibility</p:attrName>
                                        </p:attrNameLst>
                                      </p:cBhvr>
                                      <p:to>
                                        <p:strVal val="visible"/>
                                      </p:to>
                                    </p:set>
                                    <p:animEffect transition="in" filter="wipe(left)">
                                      <p:cBhvr>
                                        <p:cTn id="31" dur="500"/>
                                        <p:tgtEl>
                                          <p:spTgt spid="1123333"/>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1123334"/>
                                        </p:tgtEl>
                                        <p:attrNameLst>
                                          <p:attrName>style.visibility</p:attrName>
                                        </p:attrNameLst>
                                      </p:cBhvr>
                                      <p:to>
                                        <p:strVal val="visible"/>
                                      </p:to>
                                    </p:set>
                                    <p:animEffect transition="in" filter="wipe(left)">
                                      <p:cBhvr>
                                        <p:cTn id="35" dur="500"/>
                                        <p:tgtEl>
                                          <p:spTgt spid="1123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3333" grpId="0" animBg="1"/>
      <p:bldP spid="1123334" grpId="0" animBg="1"/>
      <p:bldP spid="1123335" grpId="0" animBg="1" autoUpdateAnimBg="0"/>
      <p:bldP spid="1123336" grpId="0" animBg="1" autoUpdateAnimBg="0"/>
      <p:bldP spid="1123337" grpId="0" animBg="1"/>
      <p:bldP spid="1123338" grpId="0" animBg="1" autoUpdateAnimBg="0"/>
      <p:bldP spid="112333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US" altLang="zh-CN" b="0"/>
              <a:t>2.1.2</a:t>
            </a:r>
            <a:r>
              <a:rPr lang="zh-CN" altLang="en-US" b="0"/>
              <a:t>与转移地址相关的寻址方式</a:t>
            </a:r>
          </a:p>
        </p:txBody>
      </p:sp>
      <p:sp>
        <p:nvSpPr>
          <p:cNvPr id="142339" name="Rectangle 3"/>
          <p:cNvSpPr>
            <a:spLocks noGrp="1" noChangeArrowheads="1"/>
          </p:cNvSpPr>
          <p:nvPr>
            <p:ph idx="1"/>
          </p:nvPr>
        </p:nvSpPr>
        <p:spPr/>
        <p:txBody>
          <a:bodyPr/>
          <a:lstStyle/>
          <a:p>
            <a:pPr>
              <a:lnSpc>
                <a:spcPct val="90000"/>
              </a:lnSpc>
            </a:pPr>
            <a:r>
              <a:rPr lang="zh-CN" altLang="en-US">
                <a:solidFill>
                  <a:srgbClr val="000000"/>
                </a:solidFill>
                <a:latin typeface="微软雅黑" pitchFamily="34" charset="-122"/>
                <a:ea typeface="微软雅黑" pitchFamily="34" charset="-122"/>
              </a:rPr>
              <a:t>汇编程序的执行顺序是由代码段寄存器</a:t>
            </a:r>
            <a:r>
              <a:rPr lang="en-US" altLang="zh-CN">
                <a:solidFill>
                  <a:srgbClr val="000000"/>
                </a:solidFill>
                <a:latin typeface="微软雅黑" pitchFamily="34" charset="-122"/>
                <a:ea typeface="微软雅黑" pitchFamily="34" charset="-122"/>
                <a:cs typeface="Courier New" pitchFamily="49" charset="0"/>
              </a:rPr>
              <a:t>CS</a:t>
            </a:r>
            <a:r>
              <a:rPr lang="zh-CN" altLang="en-US">
                <a:solidFill>
                  <a:srgbClr val="000000"/>
                </a:solidFill>
                <a:latin typeface="微软雅黑" pitchFamily="34" charset="-122"/>
                <a:ea typeface="微软雅黑" pitchFamily="34" charset="-122"/>
              </a:rPr>
              <a:t>和指令指针</a:t>
            </a:r>
            <a:r>
              <a:rPr lang="en-US" altLang="zh-CN">
                <a:solidFill>
                  <a:srgbClr val="000000"/>
                </a:solidFill>
                <a:latin typeface="微软雅黑" pitchFamily="34" charset="-122"/>
                <a:ea typeface="微软雅黑" pitchFamily="34" charset="-122"/>
              </a:rPr>
              <a:t>EIP</a:t>
            </a:r>
            <a:r>
              <a:rPr lang="zh-CN" altLang="en-US">
                <a:solidFill>
                  <a:srgbClr val="000000"/>
                </a:solidFill>
                <a:latin typeface="微软雅黑" pitchFamily="34" charset="-122"/>
                <a:ea typeface="微软雅黑" pitchFamily="34" charset="-122"/>
              </a:rPr>
              <a:t>的内容决定的。</a:t>
            </a:r>
            <a:r>
              <a:rPr lang="zh-CN" altLang="en-US">
                <a:latin typeface="微软雅黑" pitchFamily="34" charset="-122"/>
                <a:ea typeface="微软雅黑" pitchFamily="34" charset="-122"/>
              </a:rPr>
              <a:t> </a:t>
            </a:r>
          </a:p>
          <a:p>
            <a:pPr>
              <a:lnSpc>
                <a:spcPct val="90000"/>
              </a:lnSpc>
            </a:pPr>
            <a:r>
              <a:rPr lang="zh-CN" altLang="en-US">
                <a:solidFill>
                  <a:srgbClr val="000000"/>
                </a:solidFill>
                <a:latin typeface="微软雅黑" pitchFamily="34" charset="-122"/>
                <a:ea typeface="微软雅黑" pitchFamily="34" charset="-122"/>
              </a:rPr>
              <a:t>程序转移指令：通过改变</a:t>
            </a:r>
            <a:r>
              <a:rPr lang="en-US" altLang="zh-CN">
                <a:solidFill>
                  <a:srgbClr val="000000"/>
                </a:solidFill>
                <a:latin typeface="微软雅黑" pitchFamily="34" charset="-122"/>
                <a:ea typeface="微软雅黑" pitchFamily="34" charset="-122"/>
              </a:rPr>
              <a:t>EIP</a:t>
            </a:r>
            <a:r>
              <a:rPr lang="zh-CN" altLang="en-US">
                <a:solidFill>
                  <a:srgbClr val="000000"/>
                </a:solidFill>
                <a:latin typeface="微软雅黑" pitchFamily="34" charset="-122"/>
                <a:ea typeface="微软雅黑" pitchFamily="34" charset="-122"/>
              </a:rPr>
              <a:t>和</a:t>
            </a:r>
            <a:r>
              <a:rPr lang="en-US" altLang="zh-CN">
                <a:solidFill>
                  <a:srgbClr val="000000"/>
                </a:solidFill>
                <a:latin typeface="微软雅黑" pitchFamily="34" charset="-122"/>
                <a:ea typeface="微软雅黑" pitchFamily="34" charset="-122"/>
              </a:rPr>
              <a:t>CS</a:t>
            </a:r>
            <a:r>
              <a:rPr lang="zh-CN" altLang="en-US">
                <a:solidFill>
                  <a:srgbClr val="000000"/>
                </a:solidFill>
                <a:latin typeface="微软雅黑" pitchFamily="34" charset="-122"/>
                <a:ea typeface="微软雅黑" pitchFamily="34" charset="-122"/>
              </a:rPr>
              <a:t>的内容，就可以改变程序的正常执行顺序。</a:t>
            </a:r>
            <a:endParaRPr lang="zh-CN" altLang="en-US" sz="3600"/>
          </a:p>
          <a:p>
            <a:pPr>
              <a:lnSpc>
                <a:spcPct val="90000"/>
              </a:lnSpc>
              <a:buFont typeface="Wingdings" pitchFamily="2" charset="2"/>
              <a:buChar char="p"/>
            </a:pPr>
            <a:r>
              <a:rPr lang="zh-CN" altLang="en-US" sz="3600">
                <a:hlinkClick r:id="rId2" action="ppaction://hlinksldjump"/>
              </a:rPr>
              <a:t>段内直接寻址</a:t>
            </a:r>
            <a:endParaRPr lang="zh-CN" altLang="en-US" sz="3600"/>
          </a:p>
          <a:p>
            <a:pPr>
              <a:lnSpc>
                <a:spcPct val="90000"/>
              </a:lnSpc>
              <a:buFont typeface="Wingdings" pitchFamily="2" charset="2"/>
              <a:buChar char="p"/>
            </a:pPr>
            <a:r>
              <a:rPr lang="zh-CN" altLang="en-US" sz="3600">
                <a:hlinkClick r:id="rId3" action="ppaction://hlinksldjump"/>
              </a:rPr>
              <a:t>段内间接寻址</a:t>
            </a:r>
            <a:endParaRPr lang="zh-CN" altLang="en-US" sz="3600"/>
          </a:p>
          <a:p>
            <a:pPr>
              <a:lnSpc>
                <a:spcPct val="90000"/>
              </a:lnSpc>
              <a:buFont typeface="Wingdings" pitchFamily="2" charset="2"/>
              <a:buChar char="p"/>
            </a:pPr>
            <a:r>
              <a:rPr lang="zh-CN" altLang="en-US" sz="3600">
                <a:hlinkClick r:id="rId4" action="ppaction://hlinksldjump"/>
              </a:rPr>
              <a:t>段间直接寻址</a:t>
            </a:r>
            <a:endParaRPr lang="zh-CN" altLang="en-US" sz="3600"/>
          </a:p>
          <a:p>
            <a:pPr>
              <a:lnSpc>
                <a:spcPct val="90000"/>
              </a:lnSpc>
              <a:buFont typeface="Wingdings" pitchFamily="2" charset="2"/>
              <a:buChar char="p"/>
            </a:pPr>
            <a:r>
              <a:rPr lang="zh-CN" altLang="en-US" sz="3600">
                <a:hlinkClick r:id="rId5" action="ppaction://hlinksldjump"/>
              </a:rPr>
              <a:t>段间间接寻址</a:t>
            </a:r>
            <a:endParaRPr lang="zh-CN" altLang="en-US" sz="3600"/>
          </a:p>
          <a:p>
            <a:pPr>
              <a:lnSpc>
                <a:spcPct val="90000"/>
              </a:lnSpc>
            </a:pPr>
            <a:endParaRPr lang="en-US" altLang="zh-CN" sz="3600"/>
          </a:p>
        </p:txBody>
      </p:sp>
      <p:sp>
        <p:nvSpPr>
          <p:cNvPr id="142340" name="Rectangle 4"/>
          <p:cNvSpPr>
            <a:spLocks noChangeArrowheads="1"/>
          </p:cNvSpPr>
          <p:nvPr/>
        </p:nvSpPr>
        <p:spPr bwMode="auto">
          <a:xfrm>
            <a:off x="7667625" y="5661025"/>
            <a:ext cx="641350" cy="366713"/>
          </a:xfrm>
          <a:prstGeom prst="rect">
            <a:avLst/>
          </a:prstGeom>
          <a:noFill/>
          <a:ln w="9525">
            <a:noFill/>
            <a:miter lim="800000"/>
            <a:headEnd/>
            <a:tailEnd/>
          </a:ln>
          <a:effectLst/>
        </p:spPr>
        <p:txBody>
          <a:bodyPr wrap="none">
            <a:spAutoFit/>
          </a:bodyPr>
          <a:lstStyle/>
          <a:p>
            <a:r>
              <a:rPr lang="zh-CN" altLang="en-US">
                <a:latin typeface="Verdana" pitchFamily="34" charset="0"/>
                <a:hlinkClick r:id="rId6" action="ppaction://hlinksldjump"/>
              </a:rPr>
              <a:t>返回</a:t>
            </a:r>
            <a:endParaRPr lang="zh-CN" altLang="en-US">
              <a:latin typeface="Verdana" pitchFamily="34"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r>
              <a:rPr lang="en-US" altLang="zh-CN"/>
              <a:t>1</a:t>
            </a:r>
            <a:r>
              <a:rPr lang="zh-CN" altLang="en-US"/>
              <a:t>、</a:t>
            </a:r>
            <a:r>
              <a:rPr lang="zh-CN" altLang="en-US" sz="4400"/>
              <a:t>段内直接寻址</a:t>
            </a:r>
          </a:p>
        </p:txBody>
      </p:sp>
      <p:sp>
        <p:nvSpPr>
          <p:cNvPr id="143363" name="Rectangle 3"/>
          <p:cNvSpPr>
            <a:spLocks noGrp="1" noChangeArrowheads="1"/>
          </p:cNvSpPr>
          <p:nvPr>
            <p:ph idx="1"/>
          </p:nvPr>
        </p:nvSpPr>
        <p:spPr/>
        <p:txBody>
          <a:bodyPr/>
          <a:lstStyle/>
          <a:p>
            <a:r>
              <a:rPr lang="zh-CN" altLang="en-US"/>
              <a:t>这种方式的一般格式为：</a:t>
            </a:r>
            <a:r>
              <a:rPr lang="en-US" altLang="zh-CN"/>
              <a:t>JMP	Lable </a:t>
            </a:r>
          </a:p>
          <a:p>
            <a:r>
              <a:rPr lang="zh-CN" altLang="en-US"/>
              <a:t>例：</a:t>
            </a:r>
          </a:p>
          <a:p>
            <a:pPr lvl="1">
              <a:buFont typeface="Wingdings" pitchFamily="2" charset="2"/>
              <a:buNone/>
            </a:pPr>
            <a:r>
              <a:rPr lang="en-US" altLang="zh-CN"/>
              <a:t>JMP near-label	</a:t>
            </a:r>
            <a:r>
              <a:rPr lang="zh-CN" altLang="en-US"/>
              <a:t>；</a:t>
            </a:r>
            <a:r>
              <a:rPr lang="en-US" altLang="zh-CN"/>
              <a:t>near-label</a:t>
            </a:r>
            <a:r>
              <a:rPr lang="zh-CN" altLang="en-US"/>
              <a:t>位于后面</a:t>
            </a:r>
            <a:r>
              <a:rPr lang="en-US" altLang="zh-CN"/>
              <a:t>33</a:t>
            </a:r>
            <a:r>
              <a:rPr lang="zh-CN" altLang="en-US"/>
              <a:t>字节处</a:t>
            </a:r>
          </a:p>
          <a:p>
            <a:pPr lvl="1">
              <a:buFont typeface="Wingdings" pitchFamily="2" charset="2"/>
              <a:buNone/>
            </a:pPr>
            <a:r>
              <a:rPr lang="zh-CN" altLang="en-US"/>
              <a:t>执行前：	</a:t>
            </a:r>
            <a:r>
              <a:rPr lang="en-US" altLang="zh-CN"/>
              <a:t>EIP</a:t>
            </a:r>
            <a:r>
              <a:rPr lang="zh-CN" altLang="en-US"/>
              <a:t>：</a:t>
            </a:r>
            <a:r>
              <a:rPr lang="en-US" altLang="zh-CN"/>
              <a:t>00404100	</a:t>
            </a:r>
          </a:p>
          <a:p>
            <a:pPr lvl="1">
              <a:buFont typeface="Wingdings" pitchFamily="2" charset="2"/>
              <a:buNone/>
            </a:pPr>
            <a:r>
              <a:rPr lang="zh-CN" altLang="en-US"/>
              <a:t>执行后：	</a:t>
            </a:r>
            <a:r>
              <a:rPr lang="en-US" altLang="zh-CN"/>
              <a:t>EIP</a:t>
            </a:r>
            <a:r>
              <a:rPr lang="zh-CN" altLang="en-US"/>
              <a:t>：</a:t>
            </a:r>
            <a:r>
              <a:rPr lang="en-US" altLang="zh-CN"/>
              <a:t>00404133	</a:t>
            </a:r>
          </a:p>
        </p:txBody>
      </p:sp>
      <p:sp>
        <p:nvSpPr>
          <p:cNvPr id="143364" name="Rectangle 4"/>
          <p:cNvSpPr>
            <a:spLocks noChangeArrowheads="1"/>
          </p:cNvSpPr>
          <p:nvPr/>
        </p:nvSpPr>
        <p:spPr bwMode="auto">
          <a:xfrm>
            <a:off x="7667625" y="5661025"/>
            <a:ext cx="641350" cy="366713"/>
          </a:xfrm>
          <a:prstGeom prst="rect">
            <a:avLst/>
          </a:prstGeom>
          <a:noFill/>
          <a:ln w="9525">
            <a:noFill/>
            <a:miter lim="800000"/>
            <a:headEnd/>
            <a:tailEnd/>
          </a:ln>
          <a:effectLst/>
        </p:spPr>
        <p:txBody>
          <a:bodyPr wrap="none">
            <a:spAutoFit/>
          </a:bodyPr>
          <a:lstStyle/>
          <a:p>
            <a:r>
              <a:rPr lang="zh-CN" altLang="en-US">
                <a:latin typeface="Verdana" pitchFamily="34" charset="0"/>
                <a:hlinkClick r:id="rId2" action="ppaction://hlinksldjump"/>
              </a:rPr>
              <a:t>返回</a:t>
            </a:r>
            <a:endParaRPr lang="zh-CN" altLang="en-US">
              <a:latin typeface="Verdana" pitchFamily="34"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r>
              <a:rPr lang="en-US" altLang="zh-CN"/>
              <a:t>2</a:t>
            </a:r>
            <a:r>
              <a:rPr lang="zh-CN" altLang="en-US"/>
              <a:t>、</a:t>
            </a:r>
            <a:r>
              <a:rPr lang="zh-CN" altLang="en-US" sz="4400"/>
              <a:t>段内间接寻址</a:t>
            </a:r>
          </a:p>
        </p:txBody>
      </p:sp>
      <p:sp>
        <p:nvSpPr>
          <p:cNvPr id="144387" name="Rectangle 3"/>
          <p:cNvSpPr>
            <a:spLocks noGrp="1" noChangeArrowheads="1"/>
          </p:cNvSpPr>
          <p:nvPr>
            <p:ph idx="1"/>
          </p:nvPr>
        </p:nvSpPr>
        <p:spPr/>
        <p:txBody>
          <a:bodyPr/>
          <a:lstStyle/>
          <a:p>
            <a:r>
              <a:rPr lang="zh-CN" altLang="en-US" sz="2600" dirty="0"/>
              <a:t>这种方式的一般格式为：</a:t>
            </a:r>
            <a:r>
              <a:rPr lang="en-US" altLang="zh-CN" sz="2600" dirty="0"/>
              <a:t>JMP	R</a:t>
            </a:r>
          </a:p>
          <a:p>
            <a:pPr>
              <a:buFont typeface="Wingdings" pitchFamily="2" charset="2"/>
              <a:buNone/>
            </a:pPr>
            <a:r>
              <a:rPr lang="en-US" altLang="zh-CN" sz="2600" dirty="0"/>
              <a:t>    </a:t>
            </a:r>
            <a:r>
              <a:rPr lang="zh-CN" altLang="en-US" sz="2600" dirty="0"/>
              <a:t>或	</a:t>
            </a:r>
            <a:r>
              <a:rPr lang="en-US" altLang="zh-CN" sz="2600" dirty="0"/>
              <a:t>JMP		[ADDR]</a:t>
            </a:r>
          </a:p>
          <a:p>
            <a:r>
              <a:rPr lang="zh-CN" altLang="en-US" sz="2200" dirty="0"/>
              <a:t>例</a:t>
            </a:r>
            <a:r>
              <a:rPr lang="en-US" altLang="zh-CN" sz="2200" dirty="0"/>
              <a:t>2.1.8	</a:t>
            </a:r>
            <a:r>
              <a:rPr lang="zh-CN" altLang="en-US" sz="2200" dirty="0"/>
              <a:t>假设（</a:t>
            </a:r>
            <a:r>
              <a:rPr lang="en-US" altLang="zh-CN" sz="2200" dirty="0"/>
              <a:t>EBX</a:t>
            </a:r>
            <a:r>
              <a:rPr lang="zh-CN" altLang="en-US" sz="2200" dirty="0"/>
              <a:t>）</a:t>
            </a:r>
            <a:r>
              <a:rPr lang="en-US" altLang="zh-CN" sz="2200" dirty="0"/>
              <a:t>=2010H</a:t>
            </a:r>
            <a:r>
              <a:rPr lang="zh-CN" altLang="en-US" sz="2200" dirty="0"/>
              <a:t>，（</a:t>
            </a:r>
            <a:r>
              <a:rPr lang="en-US" altLang="zh-CN" sz="2200" dirty="0"/>
              <a:t>2010H</a:t>
            </a:r>
            <a:r>
              <a:rPr lang="zh-CN" altLang="en-US" sz="2200" dirty="0"/>
              <a:t>）</a:t>
            </a:r>
            <a:r>
              <a:rPr lang="en-US" altLang="zh-CN" sz="2200" dirty="0"/>
              <a:t>=30F0H</a:t>
            </a:r>
            <a:r>
              <a:rPr lang="zh-CN" altLang="en-US" sz="2200" dirty="0"/>
              <a:t>，则</a:t>
            </a:r>
          </a:p>
          <a:p>
            <a:pPr lvl="1">
              <a:buFont typeface="Wingdings" pitchFamily="2" charset="2"/>
              <a:buNone/>
            </a:pPr>
            <a:r>
              <a:rPr lang="zh-CN" altLang="en-US" sz="2200" dirty="0"/>
              <a:t>	</a:t>
            </a:r>
            <a:r>
              <a:rPr lang="en-US" altLang="zh-CN" sz="2200" dirty="0"/>
              <a:t>JMP EBX				</a:t>
            </a:r>
            <a:r>
              <a:rPr lang="zh-CN" altLang="en-US" sz="2200" dirty="0"/>
              <a:t>；</a:t>
            </a:r>
            <a:r>
              <a:rPr lang="en-US" altLang="zh-CN" sz="2200" dirty="0"/>
              <a:t>BX</a:t>
            </a:r>
            <a:r>
              <a:rPr lang="zh-CN" altLang="en-US" sz="2200" dirty="0"/>
              <a:t>寄存器的值送</a:t>
            </a:r>
            <a:r>
              <a:rPr lang="en-US" altLang="zh-CN" sz="2200" dirty="0"/>
              <a:t>EIP</a:t>
            </a:r>
            <a:r>
              <a:rPr lang="zh-CN" altLang="en-US" sz="2200" dirty="0"/>
              <a:t>寄存器，（</a:t>
            </a:r>
            <a:r>
              <a:rPr lang="en-US" altLang="zh-CN" sz="2200" dirty="0"/>
              <a:t>EIP</a:t>
            </a:r>
            <a:r>
              <a:rPr lang="zh-CN" altLang="en-US" sz="2200" dirty="0"/>
              <a:t>）</a:t>
            </a:r>
            <a:r>
              <a:rPr lang="en-US" altLang="zh-CN" sz="2200" dirty="0"/>
              <a:t>=2010H</a:t>
            </a:r>
          </a:p>
          <a:p>
            <a:pPr lvl="1">
              <a:buFont typeface="Wingdings" pitchFamily="2" charset="2"/>
              <a:buNone/>
            </a:pPr>
            <a:r>
              <a:rPr lang="en-US" altLang="zh-CN" sz="2200" dirty="0"/>
              <a:t>JMP DWORD PTR [EBX]	</a:t>
            </a:r>
            <a:r>
              <a:rPr lang="zh-CN" altLang="en-US" sz="2200" dirty="0"/>
              <a:t>；从</a:t>
            </a:r>
            <a:r>
              <a:rPr lang="en-US" altLang="zh-CN" sz="2200" dirty="0"/>
              <a:t>EBX</a:t>
            </a:r>
            <a:r>
              <a:rPr lang="zh-CN" altLang="en-US" sz="2200" dirty="0"/>
              <a:t>寄存器指向的存储器单元拷贝数据到</a:t>
            </a:r>
            <a:r>
              <a:rPr lang="en-US" altLang="zh-CN" sz="2200" dirty="0"/>
              <a:t>EIP</a:t>
            </a:r>
          </a:p>
          <a:p>
            <a:pPr lvl="1">
              <a:buFont typeface="Wingdings" pitchFamily="2" charset="2"/>
              <a:buNone/>
            </a:pPr>
            <a:r>
              <a:rPr lang="zh-CN" altLang="en-US" sz="2200" dirty="0"/>
              <a:t>；（</a:t>
            </a:r>
            <a:r>
              <a:rPr lang="en-US" altLang="zh-CN" sz="2200" dirty="0"/>
              <a:t>EIP</a:t>
            </a:r>
            <a:r>
              <a:rPr lang="zh-CN" altLang="en-US" sz="2200" dirty="0"/>
              <a:t>）</a:t>
            </a:r>
            <a:r>
              <a:rPr lang="en-US" altLang="zh-CN" sz="2200" dirty="0"/>
              <a:t>=30F0H</a:t>
            </a:r>
            <a:r>
              <a:rPr lang="zh-CN" altLang="en-US" sz="2200" dirty="0"/>
              <a:t>。其中</a:t>
            </a:r>
            <a:r>
              <a:rPr lang="en-US" altLang="zh-CN" sz="2200" dirty="0"/>
              <a:t>DWORD PTR</a:t>
            </a:r>
            <a:r>
              <a:rPr lang="zh-CN" altLang="en-US" sz="2200" dirty="0"/>
              <a:t>为伪操作符，</a:t>
            </a:r>
          </a:p>
          <a:p>
            <a:pPr lvl="1">
              <a:buFont typeface="Wingdings" pitchFamily="2" charset="2"/>
              <a:buNone/>
            </a:pPr>
            <a:r>
              <a:rPr lang="zh-CN" altLang="en-US" sz="2200" dirty="0"/>
              <a:t>；用于告之汇编器指出其后的寻址方式所取得的转向</a:t>
            </a:r>
          </a:p>
          <a:p>
            <a:pPr lvl="1">
              <a:buFont typeface="Wingdings" pitchFamily="2" charset="2"/>
              <a:buNone/>
            </a:pPr>
            <a:r>
              <a:rPr lang="zh-CN" altLang="en-US" sz="2200" dirty="0"/>
              <a:t>；地址大小是一个双字。</a:t>
            </a:r>
          </a:p>
        </p:txBody>
      </p:sp>
      <p:sp>
        <p:nvSpPr>
          <p:cNvPr id="144388" name="Rectangle 4"/>
          <p:cNvSpPr>
            <a:spLocks noChangeArrowheads="1"/>
          </p:cNvSpPr>
          <p:nvPr/>
        </p:nvSpPr>
        <p:spPr bwMode="auto">
          <a:xfrm>
            <a:off x="7667625" y="5661025"/>
            <a:ext cx="641350" cy="366713"/>
          </a:xfrm>
          <a:prstGeom prst="rect">
            <a:avLst/>
          </a:prstGeom>
          <a:noFill/>
          <a:ln w="9525">
            <a:noFill/>
            <a:miter lim="800000"/>
            <a:headEnd/>
            <a:tailEnd/>
          </a:ln>
          <a:effectLst/>
        </p:spPr>
        <p:txBody>
          <a:bodyPr wrap="none">
            <a:spAutoFit/>
          </a:bodyPr>
          <a:lstStyle/>
          <a:p>
            <a:r>
              <a:rPr lang="zh-CN" altLang="en-US">
                <a:latin typeface="Verdana" pitchFamily="34" charset="0"/>
                <a:hlinkClick r:id="rId2" action="ppaction://hlinksldjump"/>
              </a:rPr>
              <a:t>返回</a:t>
            </a:r>
            <a:endParaRPr lang="zh-CN" altLang="en-US">
              <a:latin typeface="Verdana" pitchFamily="34"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r>
              <a:rPr lang="en-US" altLang="zh-CN" dirty="0"/>
              <a:t>3</a:t>
            </a:r>
            <a:r>
              <a:rPr lang="zh-CN" altLang="en-US" dirty="0"/>
              <a:t>、</a:t>
            </a:r>
            <a:r>
              <a:rPr lang="zh-CN" altLang="en-US" sz="4400" dirty="0"/>
              <a:t>段间直接寻址</a:t>
            </a:r>
          </a:p>
        </p:txBody>
      </p:sp>
      <p:sp>
        <p:nvSpPr>
          <p:cNvPr id="145411" name="Rectangle 3"/>
          <p:cNvSpPr>
            <a:spLocks noGrp="1" noChangeArrowheads="1"/>
          </p:cNvSpPr>
          <p:nvPr>
            <p:ph idx="1"/>
          </p:nvPr>
        </p:nvSpPr>
        <p:spPr/>
        <p:txBody>
          <a:bodyPr>
            <a:normAutofit/>
          </a:bodyPr>
          <a:lstStyle/>
          <a:p>
            <a:r>
              <a:rPr lang="zh-CN" altLang="en-US" dirty="0"/>
              <a:t>这种方式的一般格式为：</a:t>
            </a:r>
            <a:r>
              <a:rPr lang="en-US" altLang="zh-CN" dirty="0"/>
              <a:t>JMP	FAR PTR </a:t>
            </a:r>
            <a:r>
              <a:rPr lang="en-US" altLang="zh-CN" dirty="0" err="1"/>
              <a:t>Lable</a:t>
            </a:r>
            <a:endParaRPr lang="en-US" altLang="zh-CN" dirty="0"/>
          </a:p>
          <a:p>
            <a:r>
              <a:rPr lang="zh-CN" altLang="en-US" dirty="0"/>
              <a:t>例如</a:t>
            </a:r>
          </a:p>
          <a:p>
            <a:pPr lvl="1">
              <a:buFont typeface="Wingdings" pitchFamily="2" charset="2"/>
              <a:buNone/>
            </a:pPr>
            <a:r>
              <a:rPr lang="en-US" altLang="zh-CN" dirty="0"/>
              <a:t>CALL FAR label	; </a:t>
            </a:r>
            <a:r>
              <a:rPr lang="en-US" altLang="zh-CN" dirty="0" err="1"/>
              <a:t>lable</a:t>
            </a:r>
            <a:r>
              <a:rPr lang="en-US" altLang="zh-CN" dirty="0"/>
              <a:t>=0768:00401000</a:t>
            </a:r>
          </a:p>
          <a:p>
            <a:pPr lvl="1">
              <a:buFont typeface="Wingdings" pitchFamily="2" charset="2"/>
              <a:buNone/>
            </a:pPr>
            <a:r>
              <a:rPr lang="zh-CN" altLang="en-US" dirty="0"/>
              <a:t>执行前： </a:t>
            </a:r>
            <a:r>
              <a:rPr lang="en-US" altLang="zh-CN" dirty="0"/>
              <a:t>EIP: 00400000	ESP:00000100</a:t>
            </a:r>
          </a:p>
          <a:p>
            <a:pPr lvl="1">
              <a:buFont typeface="Wingdings" pitchFamily="2" charset="2"/>
              <a:buNone/>
            </a:pPr>
            <a:r>
              <a:rPr lang="en-US" altLang="zh-CN" dirty="0"/>
              <a:t>    </a:t>
            </a:r>
            <a:r>
              <a:rPr lang="en-US" altLang="zh-CN" dirty="0" smtClean="0"/>
              <a:t>CS:5028</a:t>
            </a:r>
            <a:endParaRPr lang="en-US" altLang="zh-CN" dirty="0"/>
          </a:p>
          <a:p>
            <a:pPr lvl="1">
              <a:buFont typeface="Wingdings" pitchFamily="2" charset="2"/>
              <a:buNone/>
            </a:pPr>
            <a:r>
              <a:rPr lang="zh-CN" altLang="en-US" dirty="0"/>
              <a:t>执行后： </a:t>
            </a:r>
            <a:r>
              <a:rPr lang="en-US" altLang="zh-CN" dirty="0"/>
              <a:t>EIP: 00401000	ESP:000000F8	CS:0768</a:t>
            </a:r>
          </a:p>
          <a:p>
            <a:pPr lvl="1">
              <a:buFont typeface="Wingdings" pitchFamily="2" charset="2"/>
              <a:buNone/>
            </a:pPr>
            <a:r>
              <a:rPr lang="en-US" altLang="zh-CN" dirty="0"/>
              <a:t>	[ESP+4]:XXXX5028	[ESP]:00400000</a:t>
            </a:r>
          </a:p>
        </p:txBody>
      </p:sp>
      <p:sp>
        <p:nvSpPr>
          <p:cNvPr id="145412" name="Rectangle 4"/>
          <p:cNvSpPr>
            <a:spLocks noChangeArrowheads="1"/>
          </p:cNvSpPr>
          <p:nvPr/>
        </p:nvSpPr>
        <p:spPr bwMode="auto">
          <a:xfrm>
            <a:off x="7667625" y="5661025"/>
            <a:ext cx="641350" cy="366713"/>
          </a:xfrm>
          <a:prstGeom prst="rect">
            <a:avLst/>
          </a:prstGeom>
          <a:noFill/>
          <a:ln w="9525">
            <a:noFill/>
            <a:miter lim="800000"/>
            <a:headEnd/>
            <a:tailEnd/>
          </a:ln>
          <a:effectLst/>
        </p:spPr>
        <p:txBody>
          <a:bodyPr wrap="none">
            <a:spAutoFit/>
          </a:bodyPr>
          <a:lstStyle/>
          <a:p>
            <a:r>
              <a:rPr lang="zh-CN" altLang="en-US">
                <a:latin typeface="Verdana" pitchFamily="34" charset="0"/>
                <a:hlinkClick r:id="rId2" action="ppaction://hlinksldjump"/>
              </a:rPr>
              <a:t>返回</a:t>
            </a:r>
            <a:endParaRPr lang="zh-CN" altLang="en-US">
              <a:latin typeface="Verdana" pitchFamily="34"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7143768" y="-571528"/>
          <a:ext cx="1214446" cy="5855038"/>
        </p:xfrm>
        <a:graphic>
          <a:graphicData uri="http://schemas.openxmlformats.org/drawingml/2006/table">
            <a:tbl>
              <a:tblPr bandRow="1">
                <a:tableStyleId>{073A0DAA-6AF3-43AB-8588-CEC1D06C72B9}</a:tableStyleId>
              </a:tblPr>
              <a:tblGrid>
                <a:gridCol w="1214446">
                  <a:extLst>
                    <a:ext uri="{9D8B030D-6E8A-4147-A177-3AD203B41FA5}">
                      <a16:colId xmlns:a16="http://schemas.microsoft.com/office/drawing/2014/main" val="20000"/>
                    </a:ext>
                  </a:extLst>
                </a:gridCol>
              </a:tblGrid>
              <a:tr h="182880">
                <a:tc>
                  <a:txBody>
                    <a:bodyPr/>
                    <a:lstStyle/>
                    <a:p>
                      <a:endParaRPr lang="zh-CN" altLang="en-US" dirty="0"/>
                    </a:p>
                  </a:txBody>
                  <a:tcPr/>
                </a:tc>
                <a:extLst>
                  <a:ext uri="{0D108BD9-81ED-4DB2-BD59-A6C34878D82A}">
                    <a16:rowId xmlns:a16="http://schemas.microsoft.com/office/drawing/2014/main" val="10000"/>
                  </a:ext>
                </a:extLst>
              </a:tr>
              <a:tr h="182880">
                <a:tc>
                  <a:txBody>
                    <a:bodyPr/>
                    <a:lstStyle/>
                    <a:p>
                      <a:endParaRPr lang="zh-CN" altLang="en-US" dirty="0"/>
                    </a:p>
                  </a:txBody>
                  <a:tcPr/>
                </a:tc>
                <a:extLst>
                  <a:ext uri="{0D108BD9-81ED-4DB2-BD59-A6C34878D82A}">
                    <a16:rowId xmlns:a16="http://schemas.microsoft.com/office/drawing/2014/main" val="10001"/>
                  </a:ext>
                </a:extLst>
              </a:tr>
              <a:tr h="182880">
                <a:tc>
                  <a:txBody>
                    <a:bodyPr/>
                    <a:lstStyle/>
                    <a:p>
                      <a:endParaRPr lang="zh-CN" altLang="en-US" dirty="0"/>
                    </a:p>
                  </a:txBody>
                  <a:tcPr/>
                </a:tc>
                <a:extLst>
                  <a:ext uri="{0D108BD9-81ED-4DB2-BD59-A6C34878D82A}">
                    <a16:rowId xmlns:a16="http://schemas.microsoft.com/office/drawing/2014/main" val="10002"/>
                  </a:ext>
                </a:extLst>
              </a:tr>
              <a:tr h="182880">
                <a:tc>
                  <a:txBody>
                    <a:bodyPr/>
                    <a:lstStyle/>
                    <a:p>
                      <a:endParaRPr lang="zh-CN" altLang="en-US" dirty="0"/>
                    </a:p>
                  </a:txBody>
                  <a:tcPr/>
                </a:tc>
                <a:extLst>
                  <a:ext uri="{0D108BD9-81ED-4DB2-BD59-A6C34878D82A}">
                    <a16:rowId xmlns:a16="http://schemas.microsoft.com/office/drawing/2014/main" val="10003"/>
                  </a:ext>
                </a:extLst>
              </a:tr>
              <a:tr h="239828">
                <a:tc>
                  <a:txBody>
                    <a:bodyPr/>
                    <a:lstStyle/>
                    <a:p>
                      <a:endParaRPr lang="zh-CN" altLang="en-US" dirty="0"/>
                    </a:p>
                  </a:txBody>
                  <a:tcPr/>
                </a:tc>
                <a:extLst>
                  <a:ext uri="{0D108BD9-81ED-4DB2-BD59-A6C34878D82A}">
                    <a16:rowId xmlns:a16="http://schemas.microsoft.com/office/drawing/2014/main" val="10004"/>
                  </a:ext>
                </a:extLst>
              </a:tr>
              <a:tr h="239828">
                <a:tc>
                  <a:txBody>
                    <a:bodyPr/>
                    <a:lstStyle/>
                    <a:p>
                      <a:endParaRPr lang="zh-CN" altLang="en-US" dirty="0"/>
                    </a:p>
                  </a:txBody>
                  <a:tcPr/>
                </a:tc>
                <a:extLst>
                  <a:ext uri="{0D108BD9-81ED-4DB2-BD59-A6C34878D82A}">
                    <a16:rowId xmlns:a16="http://schemas.microsoft.com/office/drawing/2014/main" val="10005"/>
                  </a:ext>
                </a:extLst>
              </a:tr>
              <a:tr h="239828">
                <a:tc>
                  <a:txBody>
                    <a:bodyPr/>
                    <a:lstStyle/>
                    <a:p>
                      <a:endParaRPr lang="zh-CN" altLang="en-US" dirty="0"/>
                    </a:p>
                  </a:txBody>
                  <a:tcPr/>
                </a:tc>
                <a:extLst>
                  <a:ext uri="{0D108BD9-81ED-4DB2-BD59-A6C34878D82A}">
                    <a16:rowId xmlns:a16="http://schemas.microsoft.com/office/drawing/2014/main" val="10006"/>
                  </a:ext>
                </a:extLst>
              </a:tr>
              <a:tr h="368638">
                <a:tc>
                  <a:txBody>
                    <a:bodyPr/>
                    <a:lstStyle/>
                    <a:p>
                      <a:endParaRPr lang="zh-CN" altLang="en-US" dirty="0"/>
                    </a:p>
                  </a:txBody>
                  <a:tcPr/>
                </a:tc>
                <a:extLst>
                  <a:ext uri="{0D108BD9-81ED-4DB2-BD59-A6C34878D82A}">
                    <a16:rowId xmlns:a16="http://schemas.microsoft.com/office/drawing/2014/main" val="10007"/>
                  </a:ext>
                </a:extLst>
              </a:tr>
              <a:tr h="239828">
                <a:tc>
                  <a:txBody>
                    <a:bodyPr/>
                    <a:lstStyle/>
                    <a:p>
                      <a:endParaRPr lang="zh-CN" altLang="en-US" dirty="0"/>
                    </a:p>
                  </a:txBody>
                  <a:tcPr/>
                </a:tc>
                <a:extLst>
                  <a:ext uri="{0D108BD9-81ED-4DB2-BD59-A6C34878D82A}">
                    <a16:rowId xmlns:a16="http://schemas.microsoft.com/office/drawing/2014/main" val="10008"/>
                  </a:ext>
                </a:extLst>
              </a:tr>
              <a:tr h="239828">
                <a:tc>
                  <a:txBody>
                    <a:bodyPr/>
                    <a:lstStyle/>
                    <a:p>
                      <a:endParaRPr lang="zh-CN" altLang="en-US" dirty="0"/>
                    </a:p>
                  </a:txBody>
                  <a:tcPr/>
                </a:tc>
                <a:extLst>
                  <a:ext uri="{0D108BD9-81ED-4DB2-BD59-A6C34878D82A}">
                    <a16:rowId xmlns:a16="http://schemas.microsoft.com/office/drawing/2014/main" val="10009"/>
                  </a:ext>
                </a:extLst>
              </a:tr>
              <a:tr h="239828">
                <a:tc>
                  <a:txBody>
                    <a:bodyPr/>
                    <a:lstStyle/>
                    <a:p>
                      <a:endParaRPr lang="zh-CN" altLang="en-US" dirty="0"/>
                    </a:p>
                  </a:txBody>
                  <a:tcPr/>
                </a:tc>
                <a:extLst>
                  <a:ext uri="{0D108BD9-81ED-4DB2-BD59-A6C34878D82A}">
                    <a16:rowId xmlns:a16="http://schemas.microsoft.com/office/drawing/2014/main" val="10010"/>
                  </a:ext>
                </a:extLst>
              </a:tr>
              <a:tr h="239828">
                <a:tc>
                  <a:txBody>
                    <a:bodyPr/>
                    <a:lstStyle/>
                    <a:p>
                      <a:endParaRPr lang="zh-CN" altLang="en-US" dirty="0"/>
                    </a:p>
                  </a:txBody>
                  <a:tcPr/>
                </a:tc>
                <a:extLst>
                  <a:ext uri="{0D108BD9-81ED-4DB2-BD59-A6C34878D82A}">
                    <a16:rowId xmlns:a16="http://schemas.microsoft.com/office/drawing/2014/main" val="10011"/>
                  </a:ext>
                </a:extLst>
              </a:tr>
              <a:tr h="239828">
                <a:tc>
                  <a:txBody>
                    <a:bodyPr/>
                    <a:lstStyle/>
                    <a:p>
                      <a:r>
                        <a:rPr lang="en-US" altLang="zh-CN" dirty="0" smtClean="0"/>
                        <a:t>××</a:t>
                      </a:r>
                      <a:endParaRPr lang="zh-CN" altLang="en-US" dirty="0"/>
                    </a:p>
                  </a:txBody>
                  <a:tcPr/>
                </a:tc>
                <a:extLst>
                  <a:ext uri="{0D108BD9-81ED-4DB2-BD59-A6C34878D82A}">
                    <a16:rowId xmlns:a16="http://schemas.microsoft.com/office/drawing/2014/main" val="10012"/>
                  </a:ext>
                </a:extLst>
              </a:tr>
              <a:tr h="239828">
                <a:tc>
                  <a:txBody>
                    <a:bodyPr/>
                    <a:lstStyle/>
                    <a:p>
                      <a:r>
                        <a:rPr lang="en-US" altLang="zh-CN" dirty="0" smtClean="0"/>
                        <a:t>××</a:t>
                      </a:r>
                      <a:endParaRPr lang="zh-CN" altLang="en-US" dirty="0"/>
                    </a:p>
                  </a:txBody>
                  <a:tcPr/>
                </a:tc>
                <a:extLst>
                  <a:ext uri="{0D108BD9-81ED-4DB2-BD59-A6C34878D82A}">
                    <a16:rowId xmlns:a16="http://schemas.microsoft.com/office/drawing/2014/main" val="10013"/>
                  </a:ext>
                </a:extLst>
              </a:tr>
              <a:tr h="23982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a:t>
                      </a:r>
                      <a:endParaRPr lang="zh-CN" altLang="en-US" dirty="0"/>
                    </a:p>
                  </a:txBody>
                  <a:tcPr/>
                </a:tc>
                <a:extLst>
                  <a:ext uri="{0D108BD9-81ED-4DB2-BD59-A6C34878D82A}">
                    <a16:rowId xmlns:a16="http://schemas.microsoft.com/office/drawing/2014/main" val="10014"/>
                  </a:ext>
                </a:extLst>
              </a:tr>
              <a:tr h="23982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a:t>
                      </a:r>
                      <a:endParaRPr lang="zh-CN" altLang="en-US" dirty="0"/>
                    </a:p>
                  </a:txBody>
                  <a:tcPr/>
                </a:tc>
                <a:extLst>
                  <a:ext uri="{0D108BD9-81ED-4DB2-BD59-A6C34878D82A}">
                    <a16:rowId xmlns:a16="http://schemas.microsoft.com/office/drawing/2014/main" val="10015"/>
                  </a:ext>
                </a:extLst>
              </a:tr>
            </a:tbl>
          </a:graphicData>
        </a:graphic>
      </p:graphicFrame>
      <p:sp>
        <p:nvSpPr>
          <p:cNvPr id="5" name="TextBox 4"/>
          <p:cNvSpPr txBox="1"/>
          <p:nvPr/>
        </p:nvSpPr>
        <p:spPr>
          <a:xfrm>
            <a:off x="8358214" y="1500174"/>
            <a:ext cx="571504" cy="1200329"/>
          </a:xfrm>
          <a:prstGeom prst="rect">
            <a:avLst/>
          </a:prstGeom>
          <a:noFill/>
        </p:spPr>
        <p:txBody>
          <a:bodyPr wrap="square" rtlCol="0">
            <a:spAutoFit/>
          </a:bodyPr>
          <a:lstStyle/>
          <a:p>
            <a:r>
              <a:rPr lang="zh-CN" altLang="en-US" dirty="0" smtClean="0"/>
              <a:t>堆栈段</a:t>
            </a:r>
            <a:r>
              <a:rPr lang="en-US" altLang="zh-CN" dirty="0" smtClean="0"/>
              <a:t>SS</a:t>
            </a:r>
            <a:endParaRPr lang="zh-CN" altLang="en-US" dirty="0"/>
          </a:p>
        </p:txBody>
      </p:sp>
      <p:sp>
        <p:nvSpPr>
          <p:cNvPr id="6" name="TextBox 5"/>
          <p:cNvSpPr txBox="1"/>
          <p:nvPr/>
        </p:nvSpPr>
        <p:spPr>
          <a:xfrm>
            <a:off x="3286116" y="3857628"/>
            <a:ext cx="642942" cy="369332"/>
          </a:xfrm>
          <a:prstGeom prst="rect">
            <a:avLst/>
          </a:prstGeom>
          <a:noFill/>
        </p:spPr>
        <p:txBody>
          <a:bodyPr wrap="square" rtlCol="0">
            <a:spAutoFit/>
          </a:bodyPr>
          <a:lstStyle/>
          <a:p>
            <a:r>
              <a:rPr lang="en-US" altLang="zh-CN" dirty="0" smtClean="0"/>
              <a:t>ESP</a:t>
            </a:r>
            <a:endParaRPr lang="zh-CN" altLang="en-US" dirty="0"/>
          </a:p>
        </p:txBody>
      </p:sp>
      <p:sp>
        <p:nvSpPr>
          <p:cNvPr id="7" name="TextBox 6"/>
          <p:cNvSpPr txBox="1"/>
          <p:nvPr/>
        </p:nvSpPr>
        <p:spPr>
          <a:xfrm>
            <a:off x="5857884" y="3857628"/>
            <a:ext cx="1285884" cy="369332"/>
          </a:xfrm>
          <a:prstGeom prst="rect">
            <a:avLst/>
          </a:prstGeom>
          <a:noFill/>
        </p:spPr>
        <p:txBody>
          <a:bodyPr wrap="square" rtlCol="0">
            <a:spAutoFit/>
          </a:bodyPr>
          <a:lstStyle/>
          <a:p>
            <a:r>
              <a:rPr lang="en-US" altLang="zh-CN" dirty="0" smtClean="0"/>
              <a:t>00000100</a:t>
            </a:r>
            <a:endParaRPr lang="zh-CN" altLang="en-US" dirty="0"/>
          </a:p>
        </p:txBody>
      </p:sp>
      <p:sp>
        <p:nvSpPr>
          <p:cNvPr id="8" name="TextBox 7"/>
          <p:cNvSpPr txBox="1"/>
          <p:nvPr/>
        </p:nvSpPr>
        <p:spPr>
          <a:xfrm>
            <a:off x="5857884" y="4214818"/>
            <a:ext cx="1285884" cy="369332"/>
          </a:xfrm>
          <a:prstGeom prst="rect">
            <a:avLst/>
          </a:prstGeom>
          <a:noFill/>
        </p:spPr>
        <p:txBody>
          <a:bodyPr wrap="square" rtlCol="0">
            <a:spAutoFit/>
          </a:bodyPr>
          <a:lstStyle/>
          <a:p>
            <a:r>
              <a:rPr lang="en-US" altLang="zh-CN" dirty="0" smtClean="0"/>
              <a:t>00000101</a:t>
            </a:r>
            <a:endParaRPr lang="zh-CN" altLang="en-US" dirty="0"/>
          </a:p>
        </p:txBody>
      </p:sp>
      <p:sp>
        <p:nvSpPr>
          <p:cNvPr id="9" name="TextBox 8"/>
          <p:cNvSpPr txBox="1"/>
          <p:nvPr/>
        </p:nvSpPr>
        <p:spPr>
          <a:xfrm>
            <a:off x="5857884" y="3500438"/>
            <a:ext cx="1285884" cy="369332"/>
          </a:xfrm>
          <a:prstGeom prst="rect">
            <a:avLst/>
          </a:prstGeom>
          <a:noFill/>
        </p:spPr>
        <p:txBody>
          <a:bodyPr wrap="square" rtlCol="0">
            <a:spAutoFit/>
          </a:bodyPr>
          <a:lstStyle/>
          <a:p>
            <a:r>
              <a:rPr lang="en-US" altLang="zh-CN" dirty="0" smtClean="0"/>
              <a:t>000000FF</a:t>
            </a:r>
            <a:endParaRPr lang="zh-CN" altLang="en-US" dirty="0"/>
          </a:p>
        </p:txBody>
      </p:sp>
      <p:sp>
        <p:nvSpPr>
          <p:cNvPr id="11" name="TextBox 10"/>
          <p:cNvSpPr txBox="1"/>
          <p:nvPr/>
        </p:nvSpPr>
        <p:spPr>
          <a:xfrm>
            <a:off x="5857884" y="4572008"/>
            <a:ext cx="1285884" cy="369332"/>
          </a:xfrm>
          <a:prstGeom prst="rect">
            <a:avLst/>
          </a:prstGeom>
          <a:noFill/>
        </p:spPr>
        <p:txBody>
          <a:bodyPr wrap="square" rtlCol="0">
            <a:spAutoFit/>
          </a:bodyPr>
          <a:lstStyle/>
          <a:p>
            <a:r>
              <a:rPr lang="en-US" altLang="zh-CN" dirty="0" smtClean="0"/>
              <a:t>00000102</a:t>
            </a:r>
            <a:endParaRPr lang="zh-CN" altLang="en-US" dirty="0"/>
          </a:p>
        </p:txBody>
      </p:sp>
      <p:sp>
        <p:nvSpPr>
          <p:cNvPr id="12" name="TextBox 11"/>
          <p:cNvSpPr txBox="1"/>
          <p:nvPr/>
        </p:nvSpPr>
        <p:spPr>
          <a:xfrm>
            <a:off x="5929322" y="4929198"/>
            <a:ext cx="1285884" cy="369332"/>
          </a:xfrm>
          <a:prstGeom prst="rect">
            <a:avLst/>
          </a:prstGeom>
          <a:noFill/>
        </p:spPr>
        <p:txBody>
          <a:bodyPr wrap="square" rtlCol="0">
            <a:spAutoFit/>
          </a:bodyPr>
          <a:lstStyle/>
          <a:p>
            <a:r>
              <a:rPr lang="en-US" altLang="zh-CN" dirty="0" smtClean="0"/>
              <a:t>00000103</a:t>
            </a:r>
            <a:endParaRPr lang="zh-CN" altLang="en-US" dirty="0"/>
          </a:p>
        </p:txBody>
      </p:sp>
      <p:sp>
        <p:nvSpPr>
          <p:cNvPr id="13" name="TextBox 12"/>
          <p:cNvSpPr txBox="1"/>
          <p:nvPr/>
        </p:nvSpPr>
        <p:spPr>
          <a:xfrm>
            <a:off x="5857884" y="3143248"/>
            <a:ext cx="1285884" cy="369332"/>
          </a:xfrm>
          <a:prstGeom prst="rect">
            <a:avLst/>
          </a:prstGeom>
          <a:noFill/>
        </p:spPr>
        <p:txBody>
          <a:bodyPr wrap="square" rtlCol="0">
            <a:spAutoFit/>
          </a:bodyPr>
          <a:lstStyle/>
          <a:p>
            <a:r>
              <a:rPr lang="en-US" altLang="zh-CN" dirty="0" smtClean="0"/>
              <a:t>000000FE</a:t>
            </a:r>
            <a:endParaRPr lang="zh-CN" altLang="en-US" dirty="0"/>
          </a:p>
        </p:txBody>
      </p:sp>
      <p:sp>
        <p:nvSpPr>
          <p:cNvPr id="14" name="TextBox 13"/>
          <p:cNvSpPr txBox="1"/>
          <p:nvPr/>
        </p:nvSpPr>
        <p:spPr>
          <a:xfrm>
            <a:off x="5786446" y="1928802"/>
            <a:ext cx="1285884" cy="369332"/>
          </a:xfrm>
          <a:prstGeom prst="rect">
            <a:avLst/>
          </a:prstGeom>
          <a:noFill/>
        </p:spPr>
        <p:txBody>
          <a:bodyPr wrap="square" rtlCol="0">
            <a:spAutoFit/>
          </a:bodyPr>
          <a:lstStyle/>
          <a:p>
            <a:r>
              <a:rPr lang="en-US" altLang="zh-CN" dirty="0" smtClean="0"/>
              <a:t>000000FB</a:t>
            </a:r>
            <a:endParaRPr lang="zh-CN" altLang="en-US" dirty="0"/>
          </a:p>
        </p:txBody>
      </p:sp>
      <p:sp>
        <p:nvSpPr>
          <p:cNvPr id="15" name="TextBox 14"/>
          <p:cNvSpPr txBox="1"/>
          <p:nvPr/>
        </p:nvSpPr>
        <p:spPr>
          <a:xfrm>
            <a:off x="5857884" y="2357430"/>
            <a:ext cx="1285884" cy="369332"/>
          </a:xfrm>
          <a:prstGeom prst="rect">
            <a:avLst/>
          </a:prstGeom>
          <a:noFill/>
        </p:spPr>
        <p:txBody>
          <a:bodyPr wrap="square" rtlCol="0">
            <a:spAutoFit/>
          </a:bodyPr>
          <a:lstStyle/>
          <a:p>
            <a:r>
              <a:rPr lang="en-US" altLang="zh-CN" dirty="0" smtClean="0"/>
              <a:t>000000FC</a:t>
            </a:r>
            <a:endParaRPr lang="zh-CN" altLang="en-US" dirty="0"/>
          </a:p>
        </p:txBody>
      </p:sp>
      <p:sp>
        <p:nvSpPr>
          <p:cNvPr id="16" name="TextBox 15"/>
          <p:cNvSpPr txBox="1"/>
          <p:nvPr/>
        </p:nvSpPr>
        <p:spPr>
          <a:xfrm>
            <a:off x="5857884" y="2714620"/>
            <a:ext cx="1285884" cy="369332"/>
          </a:xfrm>
          <a:prstGeom prst="rect">
            <a:avLst/>
          </a:prstGeom>
          <a:noFill/>
        </p:spPr>
        <p:txBody>
          <a:bodyPr wrap="square" rtlCol="0">
            <a:spAutoFit/>
          </a:bodyPr>
          <a:lstStyle/>
          <a:p>
            <a:r>
              <a:rPr lang="en-US" altLang="zh-CN" dirty="0" smtClean="0"/>
              <a:t>000000FD</a:t>
            </a:r>
            <a:endParaRPr lang="zh-CN" altLang="en-US" dirty="0"/>
          </a:p>
        </p:txBody>
      </p:sp>
      <p:sp>
        <p:nvSpPr>
          <p:cNvPr id="18" name="TextBox 17"/>
          <p:cNvSpPr txBox="1"/>
          <p:nvPr/>
        </p:nvSpPr>
        <p:spPr>
          <a:xfrm>
            <a:off x="5715008" y="857232"/>
            <a:ext cx="1285884" cy="369332"/>
          </a:xfrm>
          <a:prstGeom prst="rect">
            <a:avLst/>
          </a:prstGeom>
          <a:noFill/>
        </p:spPr>
        <p:txBody>
          <a:bodyPr wrap="square" rtlCol="0">
            <a:spAutoFit/>
          </a:bodyPr>
          <a:lstStyle/>
          <a:p>
            <a:r>
              <a:rPr lang="en-US" altLang="zh-CN" dirty="0" smtClean="0"/>
              <a:t>000000F8</a:t>
            </a:r>
            <a:endParaRPr lang="zh-CN" altLang="en-US" dirty="0"/>
          </a:p>
        </p:txBody>
      </p:sp>
      <p:sp>
        <p:nvSpPr>
          <p:cNvPr id="19" name="TextBox 18"/>
          <p:cNvSpPr txBox="1"/>
          <p:nvPr/>
        </p:nvSpPr>
        <p:spPr>
          <a:xfrm>
            <a:off x="5715008" y="1214422"/>
            <a:ext cx="1285884" cy="369332"/>
          </a:xfrm>
          <a:prstGeom prst="rect">
            <a:avLst/>
          </a:prstGeom>
          <a:noFill/>
        </p:spPr>
        <p:txBody>
          <a:bodyPr wrap="square" rtlCol="0">
            <a:spAutoFit/>
          </a:bodyPr>
          <a:lstStyle/>
          <a:p>
            <a:r>
              <a:rPr lang="en-US" altLang="zh-CN" dirty="0" smtClean="0"/>
              <a:t>000000F9</a:t>
            </a:r>
            <a:endParaRPr lang="zh-CN" altLang="en-US" dirty="0"/>
          </a:p>
        </p:txBody>
      </p:sp>
      <p:sp>
        <p:nvSpPr>
          <p:cNvPr id="20" name="TextBox 19"/>
          <p:cNvSpPr txBox="1"/>
          <p:nvPr/>
        </p:nvSpPr>
        <p:spPr>
          <a:xfrm>
            <a:off x="5786446" y="1643050"/>
            <a:ext cx="1285884" cy="369332"/>
          </a:xfrm>
          <a:prstGeom prst="rect">
            <a:avLst/>
          </a:prstGeom>
          <a:noFill/>
        </p:spPr>
        <p:txBody>
          <a:bodyPr wrap="square" rtlCol="0">
            <a:spAutoFit/>
          </a:bodyPr>
          <a:lstStyle/>
          <a:p>
            <a:r>
              <a:rPr lang="en-US" altLang="zh-CN" dirty="0" smtClean="0"/>
              <a:t>000000FA</a:t>
            </a:r>
            <a:endParaRPr lang="zh-CN" altLang="en-US" dirty="0"/>
          </a:p>
        </p:txBody>
      </p:sp>
      <p:sp>
        <p:nvSpPr>
          <p:cNvPr id="22" name="矩形 21"/>
          <p:cNvSpPr/>
          <p:nvPr/>
        </p:nvSpPr>
        <p:spPr>
          <a:xfrm>
            <a:off x="7143768" y="2357430"/>
            <a:ext cx="1214446" cy="150019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3" name="表格 22"/>
          <p:cNvGraphicFramePr>
            <a:graphicFrameLocks noGrp="1"/>
          </p:cNvGraphicFramePr>
          <p:nvPr/>
        </p:nvGraphicFramePr>
        <p:xfrm>
          <a:off x="7143768" y="2357430"/>
          <a:ext cx="1214446" cy="1463040"/>
        </p:xfrm>
        <a:graphic>
          <a:graphicData uri="http://schemas.openxmlformats.org/drawingml/2006/table">
            <a:tbl>
              <a:tblPr bandRow="1">
                <a:tableStyleId>{073A0DAA-6AF3-43AB-8588-CEC1D06C72B9}</a:tableStyleId>
              </a:tblPr>
              <a:tblGrid>
                <a:gridCol w="1214446">
                  <a:extLst>
                    <a:ext uri="{9D8B030D-6E8A-4147-A177-3AD203B41FA5}">
                      <a16:colId xmlns:a16="http://schemas.microsoft.com/office/drawing/2014/main" val="20000"/>
                    </a:ext>
                  </a:extLst>
                </a:gridCol>
              </a:tblGrid>
              <a:tr h="347901">
                <a:tc>
                  <a:txBody>
                    <a:bodyPr/>
                    <a:lstStyle/>
                    <a:p>
                      <a:r>
                        <a:rPr lang="en-US" altLang="zh-CN" dirty="0" smtClean="0"/>
                        <a:t>28</a:t>
                      </a:r>
                      <a:endParaRPr lang="zh-CN" altLang="en-US" dirty="0"/>
                    </a:p>
                  </a:txBody>
                  <a:tcPr/>
                </a:tc>
                <a:extLst>
                  <a:ext uri="{0D108BD9-81ED-4DB2-BD59-A6C34878D82A}">
                    <a16:rowId xmlns:a16="http://schemas.microsoft.com/office/drawing/2014/main" val="10000"/>
                  </a:ext>
                </a:extLst>
              </a:tr>
              <a:tr h="347901">
                <a:tc>
                  <a:txBody>
                    <a:bodyPr/>
                    <a:lstStyle/>
                    <a:p>
                      <a:r>
                        <a:rPr lang="en-US" altLang="zh-CN" dirty="0" smtClean="0"/>
                        <a:t>50</a:t>
                      </a:r>
                      <a:endParaRPr lang="zh-CN" altLang="en-US" dirty="0"/>
                    </a:p>
                  </a:txBody>
                  <a:tcPr/>
                </a:tc>
                <a:extLst>
                  <a:ext uri="{0D108BD9-81ED-4DB2-BD59-A6C34878D82A}">
                    <a16:rowId xmlns:a16="http://schemas.microsoft.com/office/drawing/2014/main" val="10001"/>
                  </a:ext>
                </a:extLst>
              </a:tr>
              <a:tr h="347901">
                <a:tc>
                  <a:txBody>
                    <a:bodyPr/>
                    <a:lstStyle/>
                    <a:p>
                      <a:r>
                        <a:rPr lang="en-US" altLang="zh-CN" dirty="0" smtClean="0"/>
                        <a:t>××</a:t>
                      </a:r>
                      <a:endParaRPr lang="zh-CN" altLang="en-US" dirty="0"/>
                    </a:p>
                  </a:txBody>
                  <a:tcPr/>
                </a:tc>
                <a:extLst>
                  <a:ext uri="{0D108BD9-81ED-4DB2-BD59-A6C34878D82A}">
                    <a16:rowId xmlns:a16="http://schemas.microsoft.com/office/drawing/2014/main" val="10002"/>
                  </a:ext>
                </a:extLst>
              </a:tr>
              <a:tr h="347901">
                <a:tc>
                  <a:txBody>
                    <a:bodyPr/>
                    <a:lstStyle/>
                    <a:p>
                      <a:r>
                        <a:rPr lang="en-US" altLang="zh-CN" dirty="0" smtClean="0"/>
                        <a:t>××</a:t>
                      </a:r>
                      <a:endParaRPr lang="zh-CN" altLang="en-US" dirty="0"/>
                    </a:p>
                  </a:txBody>
                  <a:tcPr/>
                </a:tc>
                <a:extLst>
                  <a:ext uri="{0D108BD9-81ED-4DB2-BD59-A6C34878D82A}">
                    <a16:rowId xmlns:a16="http://schemas.microsoft.com/office/drawing/2014/main" val="10003"/>
                  </a:ext>
                </a:extLst>
              </a:tr>
            </a:tbl>
          </a:graphicData>
        </a:graphic>
      </p:graphicFrame>
      <p:cxnSp>
        <p:nvCxnSpPr>
          <p:cNvPr id="25" name="直接箭头连接符 24"/>
          <p:cNvCxnSpPr>
            <a:stCxn id="6" idx="3"/>
            <a:endCxn id="7" idx="1"/>
          </p:cNvCxnSpPr>
          <p:nvPr/>
        </p:nvCxnSpPr>
        <p:spPr>
          <a:xfrm>
            <a:off x="3929058" y="4042294"/>
            <a:ext cx="1928826" cy="1588"/>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grpSp>
        <p:nvGrpSpPr>
          <p:cNvPr id="34" name="组合 33"/>
          <p:cNvGrpSpPr/>
          <p:nvPr/>
        </p:nvGrpSpPr>
        <p:grpSpPr>
          <a:xfrm>
            <a:off x="0" y="2428868"/>
            <a:ext cx="5929322" cy="923330"/>
            <a:chOff x="0" y="3571876"/>
            <a:chExt cx="5929322" cy="923330"/>
          </a:xfrm>
        </p:grpSpPr>
        <p:sp>
          <p:nvSpPr>
            <p:cNvPr id="26" name="TextBox 25"/>
            <p:cNvSpPr txBox="1"/>
            <p:nvPr/>
          </p:nvSpPr>
          <p:spPr>
            <a:xfrm>
              <a:off x="0" y="3571876"/>
              <a:ext cx="4000528" cy="923330"/>
            </a:xfrm>
            <a:prstGeom prst="rect">
              <a:avLst/>
            </a:prstGeom>
            <a:noFill/>
          </p:spPr>
          <p:txBody>
            <a:bodyPr wrap="square" rtlCol="0">
              <a:spAutoFit/>
            </a:bodyPr>
            <a:lstStyle/>
            <a:p>
              <a:r>
                <a:rPr lang="en-US" altLang="zh-CN" dirty="0" smtClean="0"/>
                <a:t>PUSH</a:t>
              </a:r>
              <a:r>
                <a:rPr lang="zh-CN" altLang="en-US" dirty="0" smtClean="0"/>
                <a:t> </a:t>
              </a:r>
              <a:endParaRPr lang="en-US" altLang="zh-CN" dirty="0" smtClean="0"/>
            </a:p>
            <a:p>
              <a:r>
                <a:rPr lang="en-US" altLang="zh-CN" dirty="0" smtClean="0"/>
                <a:t>ESP=ESP-4</a:t>
              </a:r>
              <a:r>
                <a:rPr lang="zh-CN" altLang="en-US" dirty="0" smtClean="0"/>
                <a:t>  放入跳转前</a:t>
              </a:r>
              <a:r>
                <a:rPr lang="en-US" altLang="zh-CN" dirty="0" smtClean="0"/>
                <a:t>CS</a:t>
              </a:r>
              <a:r>
                <a:rPr lang="zh-CN" altLang="en-US" dirty="0" smtClean="0"/>
                <a:t>段选择子</a:t>
              </a:r>
              <a:endParaRPr lang="en-US" altLang="zh-CN" dirty="0" smtClean="0"/>
            </a:p>
            <a:p>
              <a:endParaRPr lang="zh-CN" altLang="en-US" dirty="0"/>
            </a:p>
          </p:txBody>
        </p:sp>
        <p:cxnSp>
          <p:nvCxnSpPr>
            <p:cNvPr id="27" name="直接箭头连接符 26"/>
            <p:cNvCxnSpPr/>
            <p:nvPr/>
          </p:nvCxnSpPr>
          <p:spPr>
            <a:xfrm>
              <a:off x="4000496" y="3714752"/>
              <a:ext cx="1928826" cy="1588"/>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grpSp>
      <p:grpSp>
        <p:nvGrpSpPr>
          <p:cNvPr id="35" name="组合 34"/>
          <p:cNvGrpSpPr/>
          <p:nvPr/>
        </p:nvGrpSpPr>
        <p:grpSpPr>
          <a:xfrm>
            <a:off x="0" y="785794"/>
            <a:ext cx="5786446" cy="923330"/>
            <a:chOff x="0" y="1928802"/>
            <a:chExt cx="5786446" cy="923330"/>
          </a:xfrm>
        </p:grpSpPr>
        <p:sp>
          <p:nvSpPr>
            <p:cNvPr id="28" name="TextBox 27"/>
            <p:cNvSpPr txBox="1"/>
            <p:nvPr/>
          </p:nvSpPr>
          <p:spPr>
            <a:xfrm>
              <a:off x="0" y="1928802"/>
              <a:ext cx="4000528" cy="923330"/>
            </a:xfrm>
            <a:prstGeom prst="rect">
              <a:avLst/>
            </a:prstGeom>
            <a:noFill/>
          </p:spPr>
          <p:txBody>
            <a:bodyPr wrap="square" rtlCol="0">
              <a:spAutoFit/>
            </a:bodyPr>
            <a:lstStyle/>
            <a:p>
              <a:r>
                <a:rPr lang="en-US" altLang="zh-CN" dirty="0" smtClean="0"/>
                <a:t>PUSH</a:t>
              </a:r>
              <a:r>
                <a:rPr lang="zh-CN" altLang="en-US" dirty="0" smtClean="0"/>
                <a:t> </a:t>
              </a:r>
              <a:endParaRPr lang="en-US" altLang="zh-CN" dirty="0" smtClean="0"/>
            </a:p>
            <a:p>
              <a:r>
                <a:rPr lang="en-US" altLang="zh-CN" dirty="0" smtClean="0"/>
                <a:t>ESP=ESP-4</a:t>
              </a:r>
              <a:r>
                <a:rPr lang="zh-CN" altLang="en-US" dirty="0" smtClean="0"/>
                <a:t>  放入跳转前</a:t>
              </a:r>
              <a:r>
                <a:rPr lang="en-US" altLang="zh-CN" dirty="0" smtClean="0"/>
                <a:t>EIP</a:t>
              </a:r>
            </a:p>
            <a:p>
              <a:endParaRPr lang="zh-CN" altLang="en-US" dirty="0"/>
            </a:p>
          </p:txBody>
        </p:sp>
        <p:cxnSp>
          <p:nvCxnSpPr>
            <p:cNvPr id="29" name="直接箭头连接符 28"/>
            <p:cNvCxnSpPr/>
            <p:nvPr/>
          </p:nvCxnSpPr>
          <p:spPr>
            <a:xfrm>
              <a:off x="3857620" y="2214554"/>
              <a:ext cx="1928826" cy="1588"/>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grpSp>
      <p:graphicFrame>
        <p:nvGraphicFramePr>
          <p:cNvPr id="30" name="表格 29"/>
          <p:cNvGraphicFramePr>
            <a:graphicFrameLocks noGrp="1"/>
          </p:cNvGraphicFramePr>
          <p:nvPr/>
        </p:nvGraphicFramePr>
        <p:xfrm>
          <a:off x="7143768" y="928670"/>
          <a:ext cx="1214446" cy="1463040"/>
        </p:xfrm>
        <a:graphic>
          <a:graphicData uri="http://schemas.openxmlformats.org/drawingml/2006/table">
            <a:tbl>
              <a:tblPr bandRow="1">
                <a:tableStyleId>{073A0DAA-6AF3-43AB-8588-CEC1D06C72B9}</a:tableStyleId>
              </a:tblPr>
              <a:tblGrid>
                <a:gridCol w="1214446">
                  <a:extLst>
                    <a:ext uri="{9D8B030D-6E8A-4147-A177-3AD203B41FA5}">
                      <a16:colId xmlns:a16="http://schemas.microsoft.com/office/drawing/2014/main" val="20000"/>
                    </a:ext>
                  </a:extLst>
                </a:gridCol>
              </a:tblGrid>
              <a:tr h="239828">
                <a:tc>
                  <a:txBody>
                    <a:bodyPr/>
                    <a:lstStyle/>
                    <a:p>
                      <a:r>
                        <a:rPr lang="en-US" altLang="zh-CN" dirty="0" smtClean="0"/>
                        <a:t>00</a:t>
                      </a:r>
                      <a:endParaRPr lang="zh-CN" altLang="en-US" dirty="0"/>
                    </a:p>
                  </a:txBody>
                  <a:tcPr/>
                </a:tc>
                <a:extLst>
                  <a:ext uri="{0D108BD9-81ED-4DB2-BD59-A6C34878D82A}">
                    <a16:rowId xmlns:a16="http://schemas.microsoft.com/office/drawing/2014/main" val="10000"/>
                  </a:ext>
                </a:extLst>
              </a:tr>
              <a:tr h="239828">
                <a:tc>
                  <a:txBody>
                    <a:bodyPr/>
                    <a:lstStyle/>
                    <a:p>
                      <a:r>
                        <a:rPr lang="en-US" altLang="zh-CN" dirty="0" smtClean="0"/>
                        <a:t>10</a:t>
                      </a:r>
                      <a:endParaRPr lang="zh-CN" altLang="en-US" dirty="0"/>
                    </a:p>
                  </a:txBody>
                  <a:tcPr/>
                </a:tc>
                <a:extLst>
                  <a:ext uri="{0D108BD9-81ED-4DB2-BD59-A6C34878D82A}">
                    <a16:rowId xmlns:a16="http://schemas.microsoft.com/office/drawing/2014/main" val="10001"/>
                  </a:ext>
                </a:extLst>
              </a:tr>
              <a:tr h="239828">
                <a:tc>
                  <a:txBody>
                    <a:bodyPr/>
                    <a:lstStyle/>
                    <a:p>
                      <a:r>
                        <a:rPr lang="en-US" altLang="zh-CN" dirty="0" smtClean="0"/>
                        <a:t>40</a:t>
                      </a:r>
                      <a:endParaRPr lang="zh-CN" altLang="en-US" dirty="0"/>
                    </a:p>
                  </a:txBody>
                  <a:tcPr/>
                </a:tc>
                <a:extLst>
                  <a:ext uri="{0D108BD9-81ED-4DB2-BD59-A6C34878D82A}">
                    <a16:rowId xmlns:a16="http://schemas.microsoft.com/office/drawing/2014/main" val="10002"/>
                  </a:ext>
                </a:extLst>
              </a:tr>
              <a:tr h="239828">
                <a:tc>
                  <a:txBody>
                    <a:bodyPr/>
                    <a:lstStyle/>
                    <a:p>
                      <a:r>
                        <a:rPr lang="en-US" altLang="zh-CN" dirty="0" smtClean="0"/>
                        <a:t>00</a:t>
                      </a:r>
                      <a:endParaRPr lang="zh-CN" altLang="en-US" dirty="0"/>
                    </a:p>
                  </a:txBody>
                  <a:tcPr/>
                </a:tc>
                <a:extLst>
                  <a:ext uri="{0D108BD9-81ED-4DB2-BD59-A6C34878D82A}">
                    <a16:rowId xmlns:a16="http://schemas.microsoft.com/office/drawing/2014/main" val="10003"/>
                  </a:ext>
                </a:extLst>
              </a:tr>
            </a:tbl>
          </a:graphicData>
        </a:graphic>
      </p:graphicFrame>
      <p:sp>
        <p:nvSpPr>
          <p:cNvPr id="33" name="矩形 32"/>
          <p:cNvSpPr/>
          <p:nvPr/>
        </p:nvSpPr>
        <p:spPr>
          <a:xfrm>
            <a:off x="7143768" y="857232"/>
            <a:ext cx="1214446" cy="1500198"/>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214282" y="4572008"/>
            <a:ext cx="5000660" cy="646331"/>
          </a:xfrm>
          <a:prstGeom prst="rect">
            <a:avLst/>
          </a:prstGeom>
          <a:solidFill>
            <a:schemeClr val="accent6">
              <a:lumMod val="60000"/>
              <a:lumOff val="40000"/>
            </a:schemeClr>
          </a:solidFill>
        </p:spPr>
        <p:txBody>
          <a:bodyPr wrap="square">
            <a:spAutoFit/>
          </a:bodyPr>
          <a:lstStyle/>
          <a:p>
            <a:pPr lvl="1">
              <a:buFont typeface="Wingdings" pitchFamily="2" charset="2"/>
              <a:buNone/>
            </a:pPr>
            <a:r>
              <a:rPr lang="en-US" altLang="zh-CN" dirty="0" smtClean="0"/>
              <a:t>CALL FAR label	; </a:t>
            </a:r>
            <a:r>
              <a:rPr lang="en-US" altLang="zh-CN" dirty="0" err="1" smtClean="0"/>
              <a:t>lable</a:t>
            </a:r>
            <a:r>
              <a:rPr lang="en-US" altLang="zh-CN" dirty="0" smtClean="0"/>
              <a:t>=0768:00401000</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linds(horizontal)">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 calcmode="lin" valueType="num">
                                      <p:cBhvr additive="base">
                                        <p:cTn id="12" dur="500" fill="hold"/>
                                        <p:tgtEl>
                                          <p:spTgt spid="34"/>
                                        </p:tgtEl>
                                        <p:attrNameLst>
                                          <p:attrName>ppt_x</p:attrName>
                                        </p:attrNameLst>
                                      </p:cBhvr>
                                      <p:tavLst>
                                        <p:tav tm="0">
                                          <p:val>
                                            <p:strVal val="#ppt_x"/>
                                          </p:val>
                                        </p:tav>
                                        <p:tav tm="100000">
                                          <p:val>
                                            <p:strVal val="#ppt_x"/>
                                          </p:val>
                                        </p:tav>
                                      </p:tavLst>
                                    </p:anim>
                                    <p:anim calcmode="lin" valueType="num">
                                      <p:cBhvr additive="base">
                                        <p:cTn id="13"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wipe(down)">
                                      <p:cBhvr>
                                        <p:cTn id="18" dur="500"/>
                                        <p:tgtEl>
                                          <p:spTgt spid="22"/>
                                        </p:tgtEl>
                                      </p:cBhvr>
                                    </p:animEffect>
                                  </p:childTnLst>
                                </p:cTn>
                              </p:par>
                              <p:par>
                                <p:cTn id="19" presetID="22" presetClass="entr" presetSubtype="4"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wipe(down)">
                                      <p:cBhvr>
                                        <p:cTn id="21" dur="50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5"/>
                                        </p:tgtEl>
                                        <p:attrNameLst>
                                          <p:attrName>style.visibility</p:attrName>
                                        </p:attrNameLst>
                                      </p:cBhvr>
                                      <p:to>
                                        <p:strVal val="visible"/>
                                      </p:to>
                                    </p:set>
                                    <p:anim calcmode="lin" valueType="num">
                                      <p:cBhvr additive="base">
                                        <p:cTn id="26" dur="500" fill="hold"/>
                                        <p:tgtEl>
                                          <p:spTgt spid="35"/>
                                        </p:tgtEl>
                                        <p:attrNameLst>
                                          <p:attrName>ppt_x</p:attrName>
                                        </p:attrNameLst>
                                      </p:cBhvr>
                                      <p:tavLst>
                                        <p:tav tm="0">
                                          <p:val>
                                            <p:strVal val="#ppt_x"/>
                                          </p:val>
                                        </p:tav>
                                        <p:tav tm="100000">
                                          <p:val>
                                            <p:strVal val="#ppt_x"/>
                                          </p:val>
                                        </p:tav>
                                      </p:tavLst>
                                    </p:anim>
                                    <p:anim calcmode="lin" valueType="num">
                                      <p:cBhvr additive="base">
                                        <p:cTn id="27"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fill="hold"/>
                                        <p:tgtEl>
                                          <p:spTgt spid="30"/>
                                        </p:tgtEl>
                                        <p:attrNameLst>
                                          <p:attrName>ppt_x</p:attrName>
                                        </p:attrNameLst>
                                      </p:cBhvr>
                                      <p:tavLst>
                                        <p:tav tm="0">
                                          <p:val>
                                            <p:strVal val="#ppt_x"/>
                                          </p:val>
                                        </p:tav>
                                        <p:tav tm="100000">
                                          <p:val>
                                            <p:strVal val="#ppt_x"/>
                                          </p:val>
                                        </p:tav>
                                      </p:tavLst>
                                    </p:anim>
                                    <p:anim calcmode="lin" valueType="num">
                                      <p:cBhvr additive="base">
                                        <p:cTn id="33" dur="500" fill="hold"/>
                                        <p:tgtEl>
                                          <p:spTgt spid="30"/>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33"/>
                                        </p:tgtEl>
                                        <p:attrNameLst>
                                          <p:attrName>style.visibility</p:attrName>
                                        </p:attrNameLst>
                                      </p:cBhvr>
                                      <p:to>
                                        <p:strVal val="visible"/>
                                      </p:to>
                                    </p:set>
                                    <p:anim calcmode="lin" valueType="num">
                                      <p:cBhvr additive="base">
                                        <p:cTn id="36" dur="500" fill="hold"/>
                                        <p:tgtEl>
                                          <p:spTgt spid="33"/>
                                        </p:tgtEl>
                                        <p:attrNameLst>
                                          <p:attrName>ppt_x</p:attrName>
                                        </p:attrNameLst>
                                      </p:cBhvr>
                                      <p:tavLst>
                                        <p:tav tm="0">
                                          <p:val>
                                            <p:strVal val="#ppt_x"/>
                                          </p:val>
                                        </p:tav>
                                        <p:tav tm="100000">
                                          <p:val>
                                            <p:strVal val="#ppt_x"/>
                                          </p:val>
                                        </p:tav>
                                      </p:tavLst>
                                    </p:anim>
                                    <p:anim calcmode="lin" valueType="num">
                                      <p:cBhvr additive="base">
                                        <p:cTn id="37"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33" grpId="0" animBg="1"/>
      <p:bldP spid="3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r>
              <a:rPr lang="en-US" altLang="zh-CN"/>
              <a:t>4</a:t>
            </a:r>
            <a:r>
              <a:rPr lang="zh-CN" altLang="en-US"/>
              <a:t>、</a:t>
            </a:r>
            <a:r>
              <a:rPr lang="zh-CN" altLang="en-US" sz="4400"/>
              <a:t>段间间接寻址</a:t>
            </a:r>
          </a:p>
        </p:txBody>
      </p:sp>
      <p:sp>
        <p:nvSpPr>
          <p:cNvPr id="146435" name="Rectangle 3"/>
          <p:cNvSpPr>
            <a:spLocks noGrp="1" noChangeArrowheads="1"/>
          </p:cNvSpPr>
          <p:nvPr>
            <p:ph idx="1"/>
          </p:nvPr>
        </p:nvSpPr>
        <p:spPr/>
        <p:txBody>
          <a:bodyPr/>
          <a:lstStyle/>
          <a:p>
            <a:r>
              <a:rPr lang="zh-CN" altLang="en-US"/>
              <a:t>这种方式的一般格式为：</a:t>
            </a:r>
            <a:r>
              <a:rPr lang="en-US" altLang="zh-CN"/>
              <a:t>JMP	FWORD PTR [ADDR]</a:t>
            </a:r>
          </a:p>
          <a:p>
            <a:r>
              <a:rPr lang="zh-CN" altLang="en-US"/>
              <a:t>例如：</a:t>
            </a:r>
            <a:r>
              <a:rPr lang="en-US" altLang="zh-CN"/>
              <a:t>JMP 	FWORD  PTR  [EBX]</a:t>
            </a:r>
            <a:r>
              <a:rPr lang="zh-CN" altLang="en-US"/>
              <a:t>。 </a:t>
            </a:r>
          </a:p>
        </p:txBody>
      </p:sp>
      <p:sp>
        <p:nvSpPr>
          <p:cNvPr id="146436" name="Rectangle 4"/>
          <p:cNvSpPr>
            <a:spLocks noChangeArrowheads="1"/>
          </p:cNvSpPr>
          <p:nvPr/>
        </p:nvSpPr>
        <p:spPr bwMode="auto">
          <a:xfrm>
            <a:off x="7667625" y="5661025"/>
            <a:ext cx="641350" cy="366713"/>
          </a:xfrm>
          <a:prstGeom prst="rect">
            <a:avLst/>
          </a:prstGeom>
          <a:noFill/>
          <a:ln w="9525">
            <a:noFill/>
            <a:miter lim="800000"/>
            <a:headEnd/>
            <a:tailEnd/>
          </a:ln>
          <a:effectLst/>
        </p:spPr>
        <p:txBody>
          <a:bodyPr wrap="none">
            <a:spAutoFit/>
          </a:bodyPr>
          <a:lstStyle/>
          <a:p>
            <a:r>
              <a:rPr lang="zh-CN" altLang="en-US">
                <a:latin typeface="Verdana" pitchFamily="34" charset="0"/>
                <a:hlinkClick r:id="rId2" action="ppaction://hlinksldjump"/>
              </a:rPr>
              <a:t>返回</a:t>
            </a:r>
            <a:endParaRPr lang="zh-CN" altLang="en-US">
              <a:latin typeface="Verdana" pitchFamily="34"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作业</a:t>
            </a:r>
            <a:endParaRPr lang="zh-CN" altLang="en-US" dirty="0"/>
          </a:p>
        </p:txBody>
      </p:sp>
      <p:sp>
        <p:nvSpPr>
          <p:cNvPr id="3" name="内容占位符 2"/>
          <p:cNvSpPr>
            <a:spLocks noGrp="1"/>
          </p:cNvSpPr>
          <p:nvPr>
            <p:ph idx="1"/>
          </p:nvPr>
        </p:nvSpPr>
        <p:spPr/>
        <p:txBody>
          <a:bodyPr/>
          <a:lstStyle/>
          <a:p>
            <a:r>
              <a:rPr lang="zh-CN" altLang="en-US" dirty="0" smtClean="0"/>
              <a:t>习题二（沈美明 第二版）</a:t>
            </a:r>
            <a:endParaRPr lang="en-US" altLang="zh-CN" dirty="0" smtClean="0"/>
          </a:p>
          <a:p>
            <a:pPr lvl="1"/>
            <a:r>
              <a:rPr lang="zh-CN" altLang="en-US" dirty="0" smtClean="0"/>
              <a:t>提交纸版作业：</a:t>
            </a:r>
            <a:r>
              <a:rPr lang="en-US" altLang="zh-CN" dirty="0" smtClean="0">
                <a:solidFill>
                  <a:srgbClr val="FF0000"/>
                </a:solidFill>
              </a:rPr>
              <a:t>2</a:t>
            </a:r>
            <a:r>
              <a:rPr lang="zh-CN" altLang="en-US" dirty="0" smtClean="0">
                <a:solidFill>
                  <a:srgbClr val="FF0000"/>
                </a:solidFill>
              </a:rPr>
              <a:t>、</a:t>
            </a:r>
            <a:r>
              <a:rPr lang="en-US" altLang="zh-CN" dirty="0" smtClean="0">
                <a:solidFill>
                  <a:srgbClr val="FF0000"/>
                </a:solidFill>
              </a:rPr>
              <a:t>3</a:t>
            </a:r>
            <a:r>
              <a:rPr lang="zh-CN" altLang="en-US" dirty="0" smtClean="0">
                <a:solidFill>
                  <a:srgbClr val="FF0000"/>
                </a:solidFill>
              </a:rPr>
              <a:t>、</a:t>
            </a:r>
            <a:r>
              <a:rPr lang="en-US" altLang="zh-CN" dirty="0" smtClean="0">
                <a:solidFill>
                  <a:srgbClr val="FF0000"/>
                </a:solidFill>
              </a:rPr>
              <a:t>4</a:t>
            </a:r>
            <a:r>
              <a:rPr lang="zh-CN" altLang="en-US" dirty="0" smtClean="0">
                <a:solidFill>
                  <a:srgbClr val="FF0000"/>
                </a:solidFill>
              </a:rPr>
              <a:t>、</a:t>
            </a:r>
            <a:r>
              <a:rPr lang="en-US" altLang="zh-CN" dirty="0" smtClean="0">
                <a:solidFill>
                  <a:srgbClr val="FF0000"/>
                </a:solidFill>
              </a:rPr>
              <a:t>5</a:t>
            </a:r>
            <a:r>
              <a:rPr lang="zh-CN" altLang="en-US" dirty="0" smtClean="0"/>
              <a:t>、</a:t>
            </a:r>
            <a:r>
              <a:rPr lang="en-US" altLang="zh-CN" dirty="0" smtClean="0"/>
              <a:t>8</a:t>
            </a:r>
            <a:r>
              <a:rPr lang="zh-CN" altLang="en-US" dirty="0" smtClean="0"/>
              <a:t>、</a:t>
            </a:r>
            <a:r>
              <a:rPr lang="en-US" altLang="zh-CN" dirty="0" smtClean="0"/>
              <a:t>9</a:t>
            </a:r>
            <a:endParaRPr lang="zh-CN"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第2章 80X86的指令系统和寻址方式</Template>
  <TotalTime>477</TotalTime>
  <Words>1363</Words>
  <Application>Microsoft Office PowerPoint</Application>
  <PresentationFormat>全屏显示(4:3)</PresentationFormat>
  <Paragraphs>493</Paragraphs>
  <Slides>46</Slides>
  <Notes>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46</vt:i4>
      </vt:variant>
    </vt:vector>
  </HeadingPairs>
  <TitlesOfParts>
    <vt:vector size="57" baseType="lpstr">
      <vt:lpstr>Monotype Sorts</vt:lpstr>
      <vt:lpstr>宋体</vt:lpstr>
      <vt:lpstr>微软雅黑</vt:lpstr>
      <vt:lpstr>Arial</vt:lpstr>
      <vt:lpstr>Calibri</vt:lpstr>
      <vt:lpstr>Courier New</vt:lpstr>
      <vt:lpstr>Symbol</vt:lpstr>
      <vt:lpstr>Times New Roman</vt:lpstr>
      <vt:lpstr>Verdana</vt:lpstr>
      <vt:lpstr>Wingdings</vt:lpstr>
      <vt:lpstr>Network</vt:lpstr>
      <vt:lpstr>第二章   80X86的指令系统和寻址方式</vt:lpstr>
      <vt:lpstr>2.1指令寻址方式</vt:lpstr>
      <vt:lpstr>2.1.1与数据相关的寻址方式</vt:lpstr>
      <vt:lpstr>1、立即数寻址</vt:lpstr>
      <vt:lpstr>2、寄存器寻址</vt:lpstr>
      <vt:lpstr>3、直接寻址 </vt:lpstr>
      <vt:lpstr>直接寻址方式</vt:lpstr>
      <vt:lpstr>4、寄存器间接寻址方式</vt:lpstr>
      <vt:lpstr>寄存器间接寻址方式 </vt:lpstr>
      <vt:lpstr>尺寸问题</vt:lpstr>
      <vt:lpstr>数组求和</vt:lpstr>
      <vt:lpstr>例：寄存器间接寻址方式 </vt:lpstr>
      <vt:lpstr>例：运行结果(1)</vt:lpstr>
      <vt:lpstr>例：运行结果(2)</vt:lpstr>
      <vt:lpstr>PowerPoint 演示文稿</vt:lpstr>
      <vt:lpstr>例：寄存器相对寻址方式 </vt:lpstr>
      <vt:lpstr>例：mov esi, offset array</vt:lpstr>
      <vt:lpstr>例：mov al, [esi]</vt:lpstr>
      <vt:lpstr>例：mov al, [esi+4]</vt:lpstr>
      <vt:lpstr>例：mov esi, array_end</vt:lpstr>
      <vt:lpstr>例：mov al,[esi-4]</vt:lpstr>
      <vt:lpstr>6、基址变址寻址 </vt:lpstr>
      <vt:lpstr>例：基址变址寻址方式</vt:lpstr>
      <vt:lpstr>例：mov ebx, offset array1</vt:lpstr>
      <vt:lpstr>例： mov esi,1</vt:lpstr>
      <vt:lpstr>例： mov al, [ebx+esi]</vt:lpstr>
      <vt:lpstr>例：mov ebx, offset array2</vt:lpstr>
      <vt:lpstr>例： mov al, [ebx+esi]</vt:lpstr>
      <vt:lpstr>7、相对基址变址寻址方式 </vt:lpstr>
      <vt:lpstr>例：相对基址变址寻址 </vt:lpstr>
      <vt:lpstr>例：mov ebx, numcols</vt:lpstr>
      <vt:lpstr>例：mov al, array[ebx][esi]</vt:lpstr>
      <vt:lpstr>8、比例变址寻址方式</vt:lpstr>
      <vt:lpstr>9、基址比例变址寻址方式 </vt:lpstr>
      <vt:lpstr>10、相对基址比例变址寻址方式 </vt:lpstr>
      <vt:lpstr>例：比例因子寻址方式</vt:lpstr>
      <vt:lpstr>例：mov ebx, row</vt:lpstr>
      <vt:lpstr>例： mov esi,1</vt:lpstr>
      <vt:lpstr>mov ax, array[ebx][esi*2]</vt:lpstr>
      <vt:lpstr>2.1.2与转移地址相关的寻址方式</vt:lpstr>
      <vt:lpstr>1、段内直接寻址</vt:lpstr>
      <vt:lpstr>2、段内间接寻址</vt:lpstr>
      <vt:lpstr>3、段间直接寻址</vt:lpstr>
      <vt:lpstr>PowerPoint 演示文稿</vt:lpstr>
      <vt:lpstr>4、段间间接寻址</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80X86的指令系统和寻址方式</dc:title>
  <dc:creator>Administrator</dc:creator>
  <cp:lastModifiedBy>guo feng</cp:lastModifiedBy>
  <cp:revision>42</cp:revision>
  <dcterms:created xsi:type="dcterms:W3CDTF">2013-02-26T07:55:51Z</dcterms:created>
  <dcterms:modified xsi:type="dcterms:W3CDTF">2019-02-25T08:00:37Z</dcterms:modified>
</cp:coreProperties>
</file>