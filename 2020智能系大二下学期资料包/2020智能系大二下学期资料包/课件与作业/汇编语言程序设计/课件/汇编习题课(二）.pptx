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8.54546" units="1/cm"/>
          <inkml:channelProperty channel="Y" name="resolution" value="78.68852" units="1/cm"/>
          <inkml:channelProperty channel="T" name="resolution" value="1" units="1/dev"/>
        </inkml:channelProperties>
      </inkml:inkSource>
      <inkml:timestamp xml:id="ts0" timeString="2019-05-26T14:48:58.7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3794 11116 0,'47'0'93,"0"0"-77,0 0 0,-15 0-16,15 0 15,47 0 32,-47 0-31,-16 0-16,48 0 15,-1 0 1,16 0 0,16 0-1,62 0 1,-93 0 0,15 0-1,31 0 1,110 0 15,-78 0-15,-31 0-1,-1 0 1,16 16 0,0-16-1,-78 0 1,-47 0-1,-1 0 1,48 0 15,31 0-15,94 0 0,48 0-1,-17 0 1,48 0 15,-158 0-15,-30 0-1,-32 0-15,0 0 16,-16 0 0,1 0-1,-1 0 1,16 0-1,125 15 1,-30-15 0,124 47 15,-15-15-15,376-1-1,-439-15 1,-62-16 15,-79 15-15,-32-15-16,1 0 31,15 0 0,1 0-31,-1 0 16,48 0-16,77 0 15,32 0 1,16 16 0,-110-16-1,0 0 1,-78 0 0,0 0-1,15 0 32,32 0-31,15 0-1,1 0 1,15 0 0,-47 0-16,15-16 15,-46 16 1,0 0 15,15 0 0,1 0-15,15-15-16,78 15 16,-47 0-1,173 0 1,-63 0 15,-15 0-15,-110 0-1,-32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8.54546" units="1/cm"/>
          <inkml:channelProperty channel="Y" name="resolution" value="78.68852" units="1/cm"/>
          <inkml:channelProperty channel="T" name="resolution" value="1" units="1/dev"/>
        </inkml:channelProperties>
      </inkml:inkSource>
      <inkml:timestamp xml:id="ts0" timeString="2019-05-26T16:08:09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3512 5675 0,'31'-15'63,"32"-1"-63,16 16 15,344-31 32,-298 15-31,-93 16 0,-17 0 15,142 0 16,-110 0-47,94 0 15,94 0 1,-62 0 0,15 0-1,-94 0 1,79 0-1,-111 0 1,142 0 0,-16 0-1,-62 0 1,-32 0 0,0 0-1,31 0 1,1 0-1,-32 0 1,31 0 0,63 0-1,1 0 1,14 0 0,-77 0-1,172 0 1,-141 0 15,-1 0-15,48 0-1,-16 0 1,-78 0 0,-63 0-1,-16 0 1,48 0-1,109 0 1,-47 0 0,0 0-1,79 0 1,-16 16 0,172-16-1,-172 0 1,-110 0-1,-32 0 17,142 0-17,-110 0 1,63 0 0,-16 0-1,-62 0 1,-1 0-1,220 0 1,-79 0 0,1 0-1,-48 0 1,-93 0 0,15 0-1,16 0 1,15 0 15,-62 0-15,0 0 15,-1 0-15,111 0-1,234 0 1,1 0-1,-204 0 1,-141 0 0,46 0-1</inkml:trace>
  <inkml:trace contextRef="#ctx0" brushRef="#br0" timeOffset="3240.606">3747 11132 0,'126'0'109,"62"0"-109,282 0 16,1 0-1,250 0 1,-533 0 0,94 0-1,-141 0 1,-94 0-1,-31 0 79,0 0-94,15 0 16,126-16-1,125 0 1,32 16 0,203 0-1,-266 0 1,63 0 0,-64 0-1,-124 0 1,-79 0-1,-16 0 17,-15 0-17,0 0-15,31 0 32,78 0-17,63 0 1,0 0-1,157 0 1,-188 0 0,31 0-1,0 0 1,1 0 0,-95 0-16,31 0 15,-62 0 1,-16 0-1,15 0 48,-14 0-47,14 0-16,17-15 15,109-32 1,-78 31-1,-16 0 1,0 1 0,-63 15-1,0 0 1,-15 0 0,0-16-1,15 16 1,16-16-1,110 1 17,-79 15-17,48 0 1,15 0 0,16 0-1,-142-16 1,1 16-1,0 0 32,15 0-47,110 0 16,0 0 0,-15 0-1,15 0 1,-94 0-1,-16 0 1,-15 0 15,0 0 63,31 0-16,-32 0-78,48 0 16</inkml:trace>
  <inkml:trace contextRef="#ctx0" brushRef="#br0" timeOffset="13845.207">10113 12919 0,'78'-16'360,"111"-31"-345,-80 32 1,17 15-16,30 0 0,1-32 16,-31 32-16,15 0 15,-78 0 1,125 0 15,-126 0 110,-15-15-126,32 15-15,172 0 32,31 0-17,-188 0-15,94 0 16,79 15 0,31 17-1,15 15 1,110-16-1,-266-31 1,16 0 0,-32 16-1,63-16 1,-110 0 0,-79 0-1,17 0 1,-1 0-1,1 0 17,15 0-17,141 0 17,-110 0-17,-15 0-15,125 0 16,-94 0-1,204 0 1,-110 0 0,-141 0-1,-31 0 48,-1 0-48,17 0-15,31 0 16,15 0 15,79 0-15,-79 0-16,79 0 16,-32 0-1,-109 0 1,0 0-1,-1 0 32,1 0-47,0 0 16,31-1662 0,-16 3324-1,63-1662 1,-15-1662-1,187 3324 1,-140-1662 15,-95 0-31,-15 0 16</inkml:trace>
  <inkml:trace contextRef="#ctx0" brushRef="#br0" timeOffset="19185.058">9815 14816 0,'63'-47'110,"-16"47"-95,47 0-15,16 0 16,15 0-1,283 0 1,-173-15 15,-141 15-15,-47 0-16,0 0 16,0 0-1,47 0 1,47 0-1,142 0 1,-33 0 0,64 0-1,94 0 1,125 0 0,-424 0-1,33 0 1,-48 0-1,31 0 1,110 0 15,0 0-15,-62 0 0,-48 0-1,111 0 1,46 0-1,-47 0 1,-16 0 0,-77 0-1,-48 0 1,-79 0 0,48 0-1,-16 0 1,157 0-1,-63 0 1,94 0 0,-125 0 15,109 0-15,-15 0-1,-172 0 1,-17 0-1,1 0 1,15 0 0,16-16 15,-15-1646-15,250 3324-1,47-1662 1,-125 0-1,-110-1662 1,-63 3324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8.54546" units="1/cm"/>
          <inkml:channelProperty channel="Y" name="resolution" value="78.68852" units="1/cm"/>
          <inkml:channelProperty channel="T" name="resolution" value="1" units="1/dev"/>
        </inkml:channelProperties>
      </inkml:inkSource>
      <inkml:timestamp xml:id="ts0" timeString="2019-05-26T16:11:11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11132 11022 0,'31'0'141,"64"0"-141,-33 0 0,440 78 47,-314-62-32,-157 0 1,-15-16 125,31 0-141,0 0 15,0-16 1,0 0-1,-15 16 1,-17-15-16,1 15 16,0 0 31,62-16-32,-62 0-15,15-15 16,-15 15-1,-16-15 17,15 0-17,-15 15 1,0-15 0,0-1-1,0-15 1,0 16-1,0-1 1,0 17-16,0-1 16,-31-47-1,15 48 1,16-1 0,-15 0-1,-1 1 1,16-17-1,-31 17 1,31-17 15,-47-15-15,-16-16 0,0 16-1,-31-31 1,63 62-1,15-15 1,-15 15 0,-16 1-1,31-1 1,-15 16 0,15 0-1,-15 0 1,-1-16-1,1 1 32,-16 15-31,0-16 0,31 16-1,1 0 1,-1 0 15,0 0-15,-15 0-1,-1 0 32,1 0-31,15 0-1,-31 0 1,16 0 0,15 0 15,1 0-15,-1 0-1,-47 0 1,1 0-1,15 0 1,15 0 0,16 0-1,1 16 17,-1-16-17,0 0 32,16 15-47,-31 1 31,0-16-15,-1 31 0,-15-15-1,16 15 16,-16-15-15,-16 15 0,32 16-1,15-15 1,-15-1 0,15-15-1,0-16 1,1 31-1,-17 1 1,17 30 15,-17-30-15,17-1 0,-1 0-1,16 16 1,-16-15-1,16-17 1,0 1 0,0 15-1,0 1 1,0-17 15,0 1-15,0 0 15,0 0-15,0-1-1,0 1 1,16-16 0,109 31-1,-93-15 1,-1 0-16,-15-16 15,0 0 95,-1 0-110,1 0 31,0 0-15,-1 0-1,1 0 1,0 0 0,15 0-1,16 0-15,16 0 16,-1 0-1,-46 0 1,0 0 31,-1 0-31,1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78.54546" units="1/cm"/>
          <inkml:channelProperty channel="Y" name="resolution" value="78.68852" units="1/cm"/>
          <inkml:channelProperty channel="T" name="resolution" value="1" units="1/dev"/>
        </inkml:channelProperties>
      </inkml:inkSource>
      <inkml:timestamp xml:id="ts0" timeString="2019-05-26T16:12:26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9893 8905 0,'-15'32'78,"-1"15"-78,0 0 0,-31 141 31,-31 110 1,78-251-1,0 63 31,0-1-46,16-46 0,-1-16-1,1-31-15,15 31 16,32 47 0,31 31-1,16-15 1,78 31-1,-78-47 1,-63-62 0,16 15-1,46 31 17,111 32-17,-32-48 1,47 17-1,-62-16 1,125 15 0,329 94-1,-471-156 1,174 31 0,-173-15-1,140 15 1,-93 0-1,-78-32 1,15-15 0,47 0-1,-63 0 1,-31 0 15,110 0-15,-78 0-1,-48 0 1,-47 0 0,17 0-1,155-47 17,-124 47-32,62-15 15,31-1 1,-78 16-1,-47-16 1,-31 16 0,15-31 31,1 15-47,78-31 31,-48-16-31,95-15 15,-63 15 1,-15 1 0,-48-1-1,0-31 1,1 15 0,-1 1-1,-31-32 1,31 16-1,-31-16 1,0 32 0,0 31-1,0-63 17,0-47-17,0 110 1,-31-47-1,31 63 1,-16 0 0,-46-48-1,-1 1 1,-16 15 0,17 0-1,-17 1 1,48 46-1,0 0 1,31 1 0,-16 15-1,-47-47 17,-109-63-17,-16 31 1,31 1-1,-141 0 1,47-16 0,94 15-1,-15 32 1,-1 0 0,126 47-1,32 0 1,-1 0 15,-31 0-15,-16 0-1,-188-16 1,48-31 15,-48 32-15,125 15-16,-46-16 15,46 0 1,32 16 0,63 0-1,-16 0 1,31 0 0,-15 0-1,-48 0 1,-15 0-1,-47 0 1,63 0 0,46 0-1,17 0 63,-32 0-62,15 0-16,-15 0 16,-31 16-1,-32 0 1,-203 15 0,-17-15-1,80 31 1,46-32-1,188-15 1,-15 0 93,-1 0-109,-46 32 16,-32-1 0,32-1677-1,-95 3355 1,1-1678 0,125-31-16,-16 16 15,63 0 1</inkml:trace>
  <inkml:trace contextRef="#ctx0" brushRef="#br0" timeOffset="13276.703">10097 12653 0,'16'0'78,"78"0"-63,63 0-15,486 0 32,-392 0-17,-63 0 17,-63 0-17,-46 0-15,-64 0 16,1 0 15,15 0-15,16 0-1,16-16 1,-16 0 0,-47 1-1,31-1 1,16 0-1,-15 0 1,-1 1 0,-31-1-1,0 0 17,16 16-17,-1-15 1,1-1 15,-16-15-15,16-1-1,-16 17 1,0-1 0,16 0 15,-16 1-31,0-17 31,0 1-15,0 0-1,0-16 1,0 15 0,0-31-1,0 16 1,-32 16-1,32 15 1,0 1 15,0-1 1,0 0-17,-16 1 1,16-1-1,-15 0 17,-1-15-1,-78-16-15,-94-16-1,62 1 1,-30 14-1,77 33 1,32-1 0,32 0-1,-17 16 1,17 0 0,-1 0-1,-31 0 1,-94 0-1,47 0 1,-32 0 0,16 0-1,48 0 17,30 0-32,17 16 31,-1-16 16,0 0-47,-15 16 31,15-1-15,-15-15-16,31 16 15,-47-16 1,0 16-1,16 0 1,-17-1 0,17 1-1,15 0 32,16-1-31,-15 1 15,-32 47-15,31-32-1,-15-1630 1,31 3276 0,-16-1661-16,0 15 15,1 32 16,15 0-15,-16 15 0,0-46-1,16-1 17,0-15-17,-15-1 1,15 17-1,0-1 1,0-15 0,0-1-1,0 1 1,0 0 15,0-1-15,0 1-1,0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8AA3E-55DB-4A16-8F7F-0F12686C0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0D6499-D7AA-4E45-9661-A283CC933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DDC64-5733-4C28-AB8D-B89D8A86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447BC-219C-4107-9E4E-ED91C863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65138-F99C-48B1-BEEB-E641BB64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2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3F9BE-E70D-4BC3-99E1-457EBF56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86CDA-94D3-4BEB-B4CF-CDF582F9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1A1C54-4467-4395-93FF-E6589B05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E094E-CDA9-47C2-B854-C0C18FC2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94BCC-EDEB-408F-A6B7-24AF1D83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57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8B5EF-5AD0-4402-BB50-7D39BC4F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DCD8C-BC69-4608-942C-48A67D9C3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2D4B83-4305-4C45-BF68-81F8EC35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4945F-5CCC-4082-83E1-0CAA5C18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10809-D0D8-449E-8A8C-5FB256B9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27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64D3D-82F5-490F-9BAB-B4FB15B7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EB6D2-D36E-4D2D-8774-56C18D8F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2C1659-6B62-490D-86BE-F5D479EB0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D8816-EEB9-4518-962F-B6BC462D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1BED6-97F5-4783-8CBB-DF915C7C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8FF38A-EFA9-4A4C-957E-434FE76D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8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AECCB-272E-49DF-B4D5-1AB5E7FB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8A890-7987-4784-8CC5-6A10CDF5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AC7CD-5144-473A-BAD8-8DB811119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12592F-3EC9-4A7B-BB42-A68C57C15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CBB473-32B8-4544-8B8B-4F7DDF51D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3C3C76-F56E-41D5-A0EA-FAEECDDC1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FC6CE4-BB8A-4378-9EED-965951F9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8F3E5E-798C-441C-AED6-BDC60C1B0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32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2034C-18E1-4A80-94E7-7560E854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DB44B4-19C1-41FE-A6E5-F4BFF0A1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B37AF8-EE24-4C50-8DAE-2468CFDE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746EF3-EAE3-4FED-87EF-356185B6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7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8C81D4-2CDB-4264-83E2-9E5C3D9E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8CDE82-0EB1-4855-B754-5587662D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DF51D-12D5-448D-9B0D-B065AEC9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A1057-5A91-4B3A-AB9E-C336B0B3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850DC-4215-44AC-8DD3-52A3EAD0A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B78ACD-E732-44AB-B279-4CC6CB5AB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F7926D-D4ED-4864-A726-6A0B5EA7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A56CE1-C980-46C5-BA19-5100CC128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E91472-9326-4EE7-8441-9CEA3872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6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1AE93-650C-4FDC-8D5B-DDE7C25A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CA7170-D711-4283-AA60-0F8A32A7B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36CDB3-21A8-469C-958E-35B4939F7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CD4E7C-1A40-40EB-9B9C-A23609DB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D9A3C-25AE-4F1B-AAEC-97665B3F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CDD962-D823-4DC7-8214-F6D94F5D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33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48C42-8451-42A8-97F4-6DDB88E3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93B865-1A72-4FF7-A14A-E9CA8D501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157E9-7335-47CD-9F70-3844A8EC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2F244F-6F44-481F-A7EF-D521F1D8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FE4C5-7572-4D68-95E6-ABA5DFBB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1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8D11B9-8FED-4878-B5C0-31287160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094F4D-C7F2-49A3-B26C-73F45980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90E97B-4310-44DD-A013-34B62F9E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7E64B1-87A9-4083-80D2-BBFC3AE3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3DB95-13A5-4306-B637-A273E608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5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8F6554-F21F-426C-8BB5-76E83AC2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190E65-E029-4A06-AC40-923E38150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8A6B2A-49E6-46A6-AFF5-0C37547E3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22057-CFAF-4E2A-BAE8-C15B02212112}" type="datetimeFigureOut">
              <a:rPr lang="zh-CN" altLang="en-US" smtClean="0"/>
              <a:t>2019/5/25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15A9B-ED0A-4A8A-9F29-93E991C6C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55E79-E16E-407B-88D0-2356B0FB1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D0222-E523-44A9-A65E-AE3FE230C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15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FFD00-D3BF-4965-BCB7-FCDE09815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汇编习题课</a:t>
            </a:r>
            <a:r>
              <a:rPr lang="en-US" altLang="zh-CN" dirty="0"/>
              <a:t>(</a:t>
            </a:r>
            <a:r>
              <a:rPr lang="zh-CN" altLang="en-US" dirty="0"/>
              <a:t>二）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BC626A-0AB6-4C07-9592-8CC822BD2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林颖</a:t>
            </a:r>
            <a:endParaRPr lang="en-US" altLang="zh-CN" dirty="0"/>
          </a:p>
          <a:p>
            <a:r>
              <a:rPr lang="en-US" altLang="zh-CN" dirty="0"/>
              <a:t>linying@xmu.edu.cn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67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EB58B29-4237-4D10-8E0A-A9B2587B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19" y="395287"/>
            <a:ext cx="9183894" cy="782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FC0624-99C8-47B2-842F-B423181A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331" y="1432633"/>
            <a:ext cx="6538236" cy="4175211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D3109F8-FEEE-4325-BCAF-CBD37A4A047D}"/>
              </a:ext>
            </a:extLst>
          </p:cNvPr>
          <p:cNvCxnSpPr/>
          <p:nvPr/>
        </p:nvCxnSpPr>
        <p:spPr>
          <a:xfrm>
            <a:off x="2643188" y="2793206"/>
            <a:ext cx="126444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37D04D-7C1B-429E-9365-95301CA56718}"/>
              </a:ext>
            </a:extLst>
          </p:cNvPr>
          <p:cNvCxnSpPr/>
          <p:nvPr/>
        </p:nvCxnSpPr>
        <p:spPr>
          <a:xfrm>
            <a:off x="2643187" y="2809874"/>
            <a:ext cx="126444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0E953DC-48B3-4FE1-B01F-3E919452B361}"/>
              </a:ext>
            </a:extLst>
          </p:cNvPr>
          <p:cNvSpPr txBox="1"/>
          <p:nvPr/>
        </p:nvSpPr>
        <p:spPr>
          <a:xfrm>
            <a:off x="6215062" y="2455156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AND DL 0FH</a:t>
            </a:r>
            <a:endParaRPr lang="zh-CN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5157EBE-83E4-4C10-ACEF-94BE5E975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36107"/>
              </p:ext>
            </p:extLst>
          </p:nvPr>
        </p:nvGraphicFramePr>
        <p:xfrm>
          <a:off x="7765255" y="1432633"/>
          <a:ext cx="42005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131">
                  <a:extLst>
                    <a:ext uri="{9D8B030D-6E8A-4147-A177-3AD203B41FA5}">
                      <a16:colId xmlns:a16="http://schemas.microsoft.com/office/drawing/2014/main" val="3072434876"/>
                    </a:ext>
                  </a:extLst>
                </a:gridCol>
                <a:gridCol w="1050131">
                  <a:extLst>
                    <a:ext uri="{9D8B030D-6E8A-4147-A177-3AD203B41FA5}">
                      <a16:colId xmlns:a16="http://schemas.microsoft.com/office/drawing/2014/main" val="4219760021"/>
                    </a:ext>
                  </a:extLst>
                </a:gridCol>
                <a:gridCol w="1050131">
                  <a:extLst>
                    <a:ext uri="{9D8B030D-6E8A-4147-A177-3AD203B41FA5}">
                      <a16:colId xmlns:a16="http://schemas.microsoft.com/office/drawing/2014/main" val="1225217903"/>
                    </a:ext>
                  </a:extLst>
                </a:gridCol>
                <a:gridCol w="1050131">
                  <a:extLst>
                    <a:ext uri="{9D8B030D-6E8A-4147-A177-3AD203B41FA5}">
                      <a16:colId xmlns:a16="http://schemas.microsoft.com/office/drawing/2014/main" val="267531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269659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BBD86E28-F552-4C66-B865-E49AA8C0AFEF}"/>
              </a:ext>
            </a:extLst>
          </p:cNvPr>
          <p:cNvSpPr txBox="1"/>
          <p:nvPr/>
        </p:nvSpPr>
        <p:spPr>
          <a:xfrm>
            <a:off x="9929842" y="2500314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低八位中，高</a:t>
            </a:r>
            <a:r>
              <a:rPr lang="en-US" altLang="zh-CN" dirty="0"/>
              <a:t>4</a:t>
            </a:r>
            <a:r>
              <a:rPr lang="zh-CN" altLang="en-US" dirty="0"/>
              <a:t>为置零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18F8090-8EDF-408E-AA72-F00E0800B225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1121835" y="1771651"/>
            <a:ext cx="132470" cy="728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F25B1F6-90E6-4523-B587-35772A3FCCA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9944509" y="1916468"/>
            <a:ext cx="1177326" cy="58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8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A88F4C-A2F1-488E-8757-6A35269AE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0" y="446847"/>
            <a:ext cx="5056267" cy="21463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275D97-E5AC-4876-BC4A-EF40EE4D4737}"/>
              </a:ext>
            </a:extLst>
          </p:cNvPr>
          <p:cNvSpPr txBox="1"/>
          <p:nvPr/>
        </p:nvSpPr>
        <p:spPr>
          <a:xfrm>
            <a:off x="1714500" y="2200276"/>
            <a:ext cx="2121694" cy="6072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163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D5AF8A-68D2-477E-8235-646C738EA2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98" b="66585" l="10000" r="90000"/>
                    </a14:imgEffect>
                  </a14:imgLayer>
                </a14:imgProps>
              </a:ext>
            </a:extLst>
          </a:blip>
          <a:srcRect b="26017"/>
          <a:stretch/>
        </p:blipFill>
        <p:spPr>
          <a:xfrm>
            <a:off x="571215" y="676251"/>
            <a:ext cx="7962749" cy="9953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BA0386-0E42-4D59-8FC4-99BC07EB56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511"/>
          <a:stretch/>
        </p:blipFill>
        <p:spPr>
          <a:xfrm>
            <a:off x="926164" y="676250"/>
            <a:ext cx="10576368" cy="1331143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C97237-EED7-41A0-9688-868D5E5DA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591214"/>
              </p:ext>
            </p:extLst>
          </p:nvPr>
        </p:nvGraphicFramePr>
        <p:xfrm>
          <a:off x="926164" y="2377016"/>
          <a:ext cx="26457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486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855225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0F0A0H:00AEH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57H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0F0A0H:00BOH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77883B7-E336-47C7-B2CC-CCEDC1131685}"/>
              </a:ext>
            </a:extLst>
          </p:cNvPr>
          <p:cNvSpPr txBox="1"/>
          <p:nvPr/>
        </p:nvSpPr>
        <p:spPr>
          <a:xfrm>
            <a:off x="1807369" y="5243513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 8057H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42CC75-2D3C-43B9-8CF1-B0C120B2355F}"/>
              </a:ext>
            </a:extLst>
          </p:cNvPr>
          <p:cNvSpPr txBox="1"/>
          <p:nvPr/>
        </p:nvSpPr>
        <p:spPr>
          <a:xfrm>
            <a:off x="395288" y="386668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endParaRPr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956457C-193A-422E-9AC1-F5FACE1D1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115718"/>
              </p:ext>
            </p:extLst>
          </p:nvPr>
        </p:nvGraphicFramePr>
        <p:xfrm>
          <a:off x="4633627" y="2377016"/>
          <a:ext cx="26457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486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855225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0F0A0H:00ACH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9BH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F7H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0F0A0H:00AEH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57H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0F0A0H:00BOH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2B33400-8CBA-41FB-AF49-0D9C311B19CE}"/>
              </a:ext>
            </a:extLst>
          </p:cNvPr>
          <p:cNvSpPr txBox="1"/>
          <p:nvPr/>
        </p:nvSpPr>
        <p:spPr>
          <a:xfrm>
            <a:off x="5514832" y="524351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 0F79BH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B4FFA4-F7F0-4FC6-BAAF-CDF840787819}"/>
              </a:ext>
            </a:extLst>
          </p:cNvPr>
          <p:cNvSpPr txBox="1"/>
          <p:nvPr/>
        </p:nvSpPr>
        <p:spPr>
          <a:xfrm>
            <a:off x="4043614" y="314516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endParaRPr lang="zh-CN" altLang="en-US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7539C25-D645-4006-84E5-85ABC4D87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398531"/>
              </p:ext>
            </p:extLst>
          </p:nvPr>
        </p:nvGraphicFramePr>
        <p:xfrm>
          <a:off x="8243623" y="2365104"/>
          <a:ext cx="26457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486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855225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0F0A0H:00ACH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9BH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F7H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0F0A0H:00AEH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57H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0F0A0H:00BOH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492D9C5-EE95-4795-9B31-2EA11517EC71}"/>
              </a:ext>
            </a:extLst>
          </p:cNvPr>
          <p:cNvSpPr txBox="1"/>
          <p:nvPr/>
        </p:nvSpPr>
        <p:spPr>
          <a:xfrm>
            <a:off x="9124828" y="523160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POP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FAA1D1-9359-4D97-ADB1-958A1D868FD7}"/>
              </a:ext>
            </a:extLst>
          </p:cNvPr>
          <p:cNvSpPr txBox="1"/>
          <p:nvPr/>
        </p:nvSpPr>
        <p:spPr>
          <a:xfrm>
            <a:off x="7538972" y="386145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096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5ADA5BC-301F-4B8E-8879-D87363C0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09" y="299093"/>
            <a:ext cx="4060921" cy="63775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36E4EBF-689F-4DE9-86F4-DA75D91D2B46}"/>
              </a:ext>
            </a:extLst>
          </p:cNvPr>
          <p:cNvSpPr txBox="1"/>
          <p:nvPr/>
        </p:nvSpPr>
        <p:spPr>
          <a:xfrm>
            <a:off x="4708153" y="667134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SS</a:t>
            </a:r>
            <a:r>
              <a:rPr lang="zh-CN" altLang="en-US" dirty="0"/>
              <a:t>：</a:t>
            </a:r>
            <a:r>
              <a:rPr lang="en-US" altLang="zh-CN" dirty="0"/>
              <a:t>01000H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BC992D-30E0-43B5-9484-DF6CB2A113A4}"/>
              </a:ext>
            </a:extLst>
          </p:cNvPr>
          <p:cNvSpPr txBox="1"/>
          <p:nvPr/>
        </p:nvSpPr>
        <p:spPr>
          <a:xfrm>
            <a:off x="4479130" y="2723630"/>
            <a:ext cx="1430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SP</a:t>
            </a:r>
            <a:r>
              <a:rPr lang="zh-CN" altLang="en-US" sz="2000" dirty="0"/>
              <a:t>：</a:t>
            </a:r>
            <a:r>
              <a:rPr lang="en-US" altLang="zh-CN" sz="2000" dirty="0"/>
              <a:t>0190H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B72874-DAD9-44BA-87ED-B0761B5CEBAD}"/>
              </a:ext>
            </a:extLst>
          </p:cNvPr>
          <p:cNvSpPr txBox="1"/>
          <p:nvPr/>
        </p:nvSpPr>
        <p:spPr>
          <a:xfrm>
            <a:off x="1337603" y="2677831"/>
            <a:ext cx="2192178" cy="4817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C77FB61-0B41-443A-B031-A031E6B9340D}"/>
              </a:ext>
            </a:extLst>
          </p:cNvPr>
          <p:cNvCxnSpPr>
            <a:cxnSpLocks/>
          </p:cNvCxnSpPr>
          <p:nvPr/>
        </p:nvCxnSpPr>
        <p:spPr>
          <a:xfrm flipV="1">
            <a:off x="3854245" y="2900516"/>
            <a:ext cx="712763" cy="7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BA4EC6B-F990-4E39-B253-A1C70C4FC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29708"/>
              </p:ext>
            </p:extLst>
          </p:nvPr>
        </p:nvGraphicFramePr>
        <p:xfrm>
          <a:off x="6061368" y="383295"/>
          <a:ext cx="261538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99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052082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0100H:018EH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(DS)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0100H:0190H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5A5AF2C-8ADA-4422-98F2-9C931480DDA2}"/>
              </a:ext>
            </a:extLst>
          </p:cNvPr>
          <p:cNvSpPr txBox="1"/>
          <p:nvPr/>
        </p:nvSpPr>
        <p:spPr>
          <a:xfrm>
            <a:off x="7325174" y="404950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E14ECF-D2F8-4A27-A7C8-976BB3E800CA}"/>
              </a:ext>
            </a:extLst>
          </p:cNvPr>
          <p:cNvSpPr txBox="1"/>
          <p:nvPr/>
        </p:nvSpPr>
        <p:spPr>
          <a:xfrm>
            <a:off x="7259993" y="3244334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DS</a:t>
            </a:r>
            <a:endParaRPr lang="zh-CN" altLang="en-US" dirty="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CB90204-7D17-4529-B54C-0C58A93A7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826777"/>
              </p:ext>
            </p:extLst>
          </p:nvPr>
        </p:nvGraphicFramePr>
        <p:xfrm>
          <a:off x="8951296" y="412710"/>
          <a:ext cx="261538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99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052082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:018CH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0100H:018EH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(DS)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0100H:0190H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B9B3F15-6B40-4386-9FB3-3AC564F77098}"/>
              </a:ext>
            </a:extLst>
          </p:cNvPr>
          <p:cNvSpPr txBox="1"/>
          <p:nvPr/>
        </p:nvSpPr>
        <p:spPr>
          <a:xfrm>
            <a:off x="10258986" y="3244334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AX</a:t>
            </a:r>
            <a:endParaRPr lang="zh-CN" altLang="en-US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0429C96-FD89-4CF2-A8FC-33D0964B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98442"/>
              </p:ext>
            </p:extLst>
          </p:nvPr>
        </p:nvGraphicFramePr>
        <p:xfrm>
          <a:off x="4601639" y="3661368"/>
          <a:ext cx="279221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001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23218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:018AH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(T_ADDR)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:018CH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0100H:018EH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(DS)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0100H:0190H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A4CF3818-01DF-4448-AFB8-C53BA55244F5}"/>
              </a:ext>
            </a:extLst>
          </p:cNvPr>
          <p:cNvSpPr txBox="1"/>
          <p:nvPr/>
        </p:nvSpPr>
        <p:spPr>
          <a:xfrm>
            <a:off x="5909329" y="6492992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T_ADDR</a:t>
            </a:r>
            <a:endParaRPr lang="zh-CN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14F3C6C-7706-4398-AE4B-57B9F949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40573"/>
              </p:ext>
            </p:extLst>
          </p:nvPr>
        </p:nvGraphicFramePr>
        <p:xfrm>
          <a:off x="7690836" y="3657044"/>
          <a:ext cx="279221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001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23218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:0186H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(FLAGS)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:0188H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(AX)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:018AH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(T_ADDR)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:018CH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0100H:018EH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(DS)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0100H:0190H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68DD2A43-77B6-4E35-A092-D6BBA1965B8E}"/>
              </a:ext>
            </a:extLst>
          </p:cNvPr>
          <p:cNvSpPr txBox="1"/>
          <p:nvPr/>
        </p:nvSpPr>
        <p:spPr>
          <a:xfrm>
            <a:off x="8998526" y="6488668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T_ADDR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6B4B44-80D8-428F-87C7-D4305B9CA243}"/>
              </a:ext>
            </a:extLst>
          </p:cNvPr>
          <p:cNvSpPr txBox="1"/>
          <p:nvPr/>
        </p:nvSpPr>
        <p:spPr>
          <a:xfrm>
            <a:off x="5567683" y="2435036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60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049E4E-F2B2-401C-A11D-29A5191A9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68" y="417966"/>
            <a:ext cx="10871995" cy="5455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914CFBF-BEA4-44FD-A97E-E5C74D33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85" y="1038088"/>
            <a:ext cx="3459668" cy="19189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746CD6-73BA-47CD-BC0A-EA4A3F9BD5B8}"/>
              </a:ext>
            </a:extLst>
          </p:cNvPr>
          <p:cNvSpPr txBox="1"/>
          <p:nvPr/>
        </p:nvSpPr>
        <p:spPr>
          <a:xfrm>
            <a:off x="5275543" y="2069407"/>
            <a:ext cx="1430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SP</a:t>
            </a:r>
            <a:r>
              <a:rPr lang="zh-CN" altLang="en-US" sz="2000" dirty="0"/>
              <a:t>：</a:t>
            </a:r>
            <a:r>
              <a:rPr lang="en-US" altLang="zh-CN" sz="2000" dirty="0"/>
              <a:t>0040H</a:t>
            </a:r>
            <a:endParaRPr lang="zh-CN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D8B6F8E-2CC4-4088-A772-747C8AD31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884940"/>
              </p:ext>
            </p:extLst>
          </p:nvPr>
        </p:nvGraphicFramePr>
        <p:xfrm>
          <a:off x="1103146" y="3224032"/>
          <a:ext cx="206284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796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003EH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933DDC9-814E-4D28-94CF-968139E3E9F4}"/>
              </a:ext>
            </a:extLst>
          </p:cNvPr>
          <p:cNvSpPr txBox="1"/>
          <p:nvPr/>
        </p:nvSpPr>
        <p:spPr>
          <a:xfrm>
            <a:off x="4412918" y="603843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 AX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260A8B8-FBE6-4040-8756-6D86F9E5E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08438"/>
              </p:ext>
            </p:extLst>
          </p:nvPr>
        </p:nvGraphicFramePr>
        <p:xfrm>
          <a:off x="3636632" y="3224032"/>
          <a:ext cx="206284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796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003CH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34068A7-1363-4D2F-B9F1-343D76F9BA06}"/>
              </a:ext>
            </a:extLst>
          </p:cNvPr>
          <p:cNvSpPr txBox="1"/>
          <p:nvPr/>
        </p:nvSpPr>
        <p:spPr>
          <a:xfrm>
            <a:off x="2097421" y="622310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 DS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DCAC7A-3FC5-4B57-8A46-517B748881E0}"/>
              </a:ext>
            </a:extLst>
          </p:cNvPr>
          <p:cNvSpPr txBox="1"/>
          <p:nvPr/>
        </p:nvSpPr>
        <p:spPr>
          <a:xfrm>
            <a:off x="6938646" y="603843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  AX</a:t>
            </a:r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977E352-2017-4F76-A06B-7C7163C20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66951"/>
              </p:ext>
            </p:extLst>
          </p:nvPr>
        </p:nvGraphicFramePr>
        <p:xfrm>
          <a:off x="6164826" y="3224032"/>
          <a:ext cx="20603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30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:0038H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:003AH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003CH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5FC71736-9363-4E7F-A8C0-E09152AE7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159" y="1182085"/>
            <a:ext cx="5357133" cy="16496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3785568-4DD4-4C09-811C-68CF4C3BD4E1}"/>
              </a:ext>
            </a:extLst>
          </p:cNvPr>
          <p:cNvSpPr txBox="1"/>
          <p:nvPr/>
        </p:nvSpPr>
        <p:spPr>
          <a:xfrm>
            <a:off x="9344888" y="605230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CALL  B10</a:t>
            </a:r>
            <a:endParaRPr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5E96421-485E-4796-BE3C-A502C4E44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711420"/>
              </p:ext>
            </p:extLst>
          </p:nvPr>
        </p:nvGraphicFramePr>
        <p:xfrm>
          <a:off x="8571068" y="3237903"/>
          <a:ext cx="20603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30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:0038H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003AH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:003CH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64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49CBBD-C127-4F98-8F84-0FEDF243C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43" y="343066"/>
            <a:ext cx="3797495" cy="15113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9DD169-5464-4207-8A64-794519264984}"/>
              </a:ext>
            </a:extLst>
          </p:cNvPr>
          <p:cNvSpPr txBox="1"/>
          <p:nvPr/>
        </p:nvSpPr>
        <p:spPr>
          <a:xfrm>
            <a:off x="466358" y="5118242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CALL  C10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E27F86D-3F76-4707-8C97-159BCD3F5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25684"/>
              </p:ext>
            </p:extLst>
          </p:nvPr>
        </p:nvGraphicFramePr>
        <p:xfrm>
          <a:off x="252248" y="2407677"/>
          <a:ext cx="20603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30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:0038H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:003AH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:003CH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E713552-1DBE-458B-A822-AF85FE05D735}"/>
              </a:ext>
            </a:extLst>
          </p:cNvPr>
          <p:cNvSpPr txBox="1"/>
          <p:nvPr/>
        </p:nvSpPr>
        <p:spPr>
          <a:xfrm>
            <a:off x="2909671" y="511824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RET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A7CDB9B-4F49-4D34-B27F-6008A9BC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08244"/>
              </p:ext>
            </p:extLst>
          </p:nvPr>
        </p:nvGraphicFramePr>
        <p:xfrm>
          <a:off x="2695561" y="2407677"/>
          <a:ext cx="20603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30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:0038H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:003AH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:003CH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5A16CB4-873A-4608-BFD1-8B2B2C7DE2EE}"/>
              </a:ext>
            </a:extLst>
          </p:cNvPr>
          <p:cNvSpPr txBox="1"/>
          <p:nvPr/>
        </p:nvSpPr>
        <p:spPr>
          <a:xfrm>
            <a:off x="5152768" y="516248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RET</a:t>
            </a:r>
            <a:endParaRPr lang="zh-CN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0FB8619-70C3-4C3A-8DA3-10DC22CB1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85948"/>
              </p:ext>
            </p:extLst>
          </p:nvPr>
        </p:nvGraphicFramePr>
        <p:xfrm>
          <a:off x="4938658" y="2451923"/>
          <a:ext cx="207338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343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:0038H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:003AH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003CH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:003EH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F2FC6E2-2125-4914-A841-B341B88AD752}"/>
              </a:ext>
            </a:extLst>
          </p:cNvPr>
          <p:cNvSpPr txBox="1"/>
          <p:nvPr/>
        </p:nvSpPr>
        <p:spPr>
          <a:xfrm>
            <a:off x="8516683" y="516248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RET</a:t>
            </a: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E178AA7-0593-4F05-A803-306034E29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496980"/>
              </p:ext>
            </p:extLst>
          </p:nvPr>
        </p:nvGraphicFramePr>
        <p:xfrm>
          <a:off x="7416785" y="2337538"/>
          <a:ext cx="207338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343">
                  <a:extLst>
                    <a:ext uri="{9D8B030D-6E8A-4147-A177-3AD203B41FA5}">
                      <a16:colId xmlns:a16="http://schemas.microsoft.com/office/drawing/2014/main" val="860426106"/>
                    </a:ext>
                  </a:extLst>
                </a:gridCol>
                <a:gridCol w="1111046">
                  <a:extLst>
                    <a:ext uri="{9D8B030D-6E8A-4147-A177-3AD203B41FA5}">
                      <a16:colId xmlns:a16="http://schemas.microsoft.com/office/drawing/2014/main" val="427931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h: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34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:0038H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000B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5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:003AH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2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:003CH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:003EH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DS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1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:0040H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5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46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7DDA4C2-E786-44A8-8EFC-A722869EFE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50"/>
          <a:stretch/>
        </p:blipFill>
        <p:spPr>
          <a:xfrm>
            <a:off x="349311" y="707921"/>
            <a:ext cx="10681922" cy="12683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EBEE043-B52A-45CD-B9D9-8E0958B0F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55" y="2133302"/>
            <a:ext cx="7823099" cy="29598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8C8BF8-1E96-481A-AF35-9BECA2DE4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99" y="1897626"/>
            <a:ext cx="8927130" cy="48173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B5C290-92F3-4489-87DE-967FB648118A}"/>
              </a:ext>
            </a:extLst>
          </p:cNvPr>
          <p:cNvSpPr txBox="1"/>
          <p:nvPr/>
        </p:nvSpPr>
        <p:spPr>
          <a:xfrm>
            <a:off x="1416542" y="2954368"/>
            <a:ext cx="4001033" cy="27825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841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065425-C1F1-4328-AAEC-B3BE00B4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66" y="550677"/>
            <a:ext cx="11316898" cy="26841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B1B33C5-BEEC-407F-87C2-B09E1F14DC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7" b="30686"/>
          <a:stretch/>
        </p:blipFill>
        <p:spPr>
          <a:xfrm>
            <a:off x="1043091" y="3234813"/>
            <a:ext cx="11148909" cy="21296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97C8EAC-B829-4395-93CD-A4B2FD39FDAC}"/>
              </a:ext>
            </a:extLst>
          </p:cNvPr>
          <p:cNvSpPr txBox="1"/>
          <p:nvPr/>
        </p:nvSpPr>
        <p:spPr>
          <a:xfrm>
            <a:off x="2530383" y="5557520"/>
            <a:ext cx="6115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MAINPROC:     PUBLIC   QTY,VALUE,PRICE </a:t>
            </a:r>
            <a:endParaRPr lang="zh-CN" altLang="en-US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CC747E-CFDB-42ED-BFBB-CB393D2B64DF}"/>
              </a:ext>
            </a:extLst>
          </p:cNvPr>
          <p:cNvSpPr txBox="1"/>
          <p:nvPr/>
        </p:nvSpPr>
        <p:spPr>
          <a:xfrm>
            <a:off x="2530382" y="6135840"/>
            <a:ext cx="7226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EXTRN:     QTY:BYTE, VALUE:WORD,PRICE:WORD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6728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E5234D-90A9-4BEE-BD28-43CDFDCF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7" y="140452"/>
            <a:ext cx="9309669" cy="26613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BE8FB4-9AFE-4CEA-A7E6-7EEDDF3AA7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96"/>
          <a:stretch/>
        </p:blipFill>
        <p:spPr>
          <a:xfrm>
            <a:off x="1035571" y="2955790"/>
            <a:ext cx="5924029" cy="33823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D88D9F9-704D-4AF8-9843-E44AB027E1D0}"/>
                  </a:ext>
                </a:extLst>
              </p14:cNvPr>
              <p14:cNvContentPartPr/>
              <p14:nvPr/>
            </p14:nvContentPartPr>
            <p14:xfrm>
              <a:off x="1365840" y="4001760"/>
              <a:ext cx="2890440" cy="680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D88D9F9-704D-4AF8-9843-E44AB027E1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6480" y="3992400"/>
                <a:ext cx="2909160" cy="867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6C210B0-2BD4-4EF1-B254-D2966EFD4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554" y="6219107"/>
            <a:ext cx="6579948" cy="70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3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502E5-67DC-4528-9F34-A3327D61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9" y="596591"/>
            <a:ext cx="10515600" cy="54502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同一代码段中：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C_SEG</a:t>
            </a:r>
          </a:p>
          <a:p>
            <a:pPr marL="0" indent="0">
              <a:buNone/>
            </a:pPr>
            <a:r>
              <a:rPr lang="en-US" altLang="zh-CN" dirty="0"/>
              <a:t>	MAIN PROC FAR</a:t>
            </a:r>
          </a:p>
          <a:p>
            <a:pPr marL="0" indent="0">
              <a:buNone/>
            </a:pPr>
            <a:r>
              <a:rPr lang="en-US" altLang="zh-CN" dirty="0"/>
              <a:t>	ASSUME CS:C_SEG,DS:D_SEG, ES:E_SEG</a:t>
            </a:r>
          </a:p>
          <a:p>
            <a:pPr marL="0" indent="0">
              <a:buNone/>
            </a:pPr>
            <a:r>
              <a:rPr lang="en-US" altLang="zh-CN" dirty="0"/>
              <a:t>          ……</a:t>
            </a:r>
          </a:p>
          <a:p>
            <a:pPr marL="0" indent="0">
              <a:buNone/>
            </a:pPr>
            <a:r>
              <a:rPr lang="en-US" altLang="zh-CN" dirty="0"/>
              <a:t>          CALL COMPUTE</a:t>
            </a:r>
          </a:p>
          <a:p>
            <a:pPr marL="0" indent="0">
              <a:buNone/>
            </a:pPr>
            <a:r>
              <a:rPr lang="en-US" altLang="zh-CN" dirty="0"/>
              <a:t>          RET</a:t>
            </a:r>
          </a:p>
          <a:p>
            <a:pPr marL="0" indent="0">
              <a:buNone/>
            </a:pPr>
            <a:r>
              <a:rPr lang="en-US" altLang="zh-CN" dirty="0"/>
              <a:t>         MAIN ENDP</a:t>
            </a:r>
          </a:p>
          <a:p>
            <a:pPr marL="0" indent="0">
              <a:buNone/>
            </a:pPr>
            <a:r>
              <a:rPr lang="en-US" altLang="zh-CN" dirty="0"/>
              <a:t>         </a:t>
            </a:r>
            <a:r>
              <a:rPr lang="en-US" altLang="zh-CN" dirty="0">
                <a:solidFill>
                  <a:srgbClr val="C00000"/>
                </a:solidFill>
              </a:rPr>
              <a:t>COMPUTE RROC NEAR</a:t>
            </a:r>
          </a:p>
          <a:p>
            <a:pPr marL="0" indent="0">
              <a:buNone/>
            </a:pPr>
            <a:r>
              <a:rPr lang="en-US" altLang="zh-CN" dirty="0"/>
              <a:t>              ……</a:t>
            </a:r>
          </a:p>
          <a:p>
            <a:pPr marL="0" indent="0">
              <a:buNone/>
            </a:pPr>
            <a:r>
              <a:rPr lang="en-US" altLang="zh-CN" dirty="0"/>
              <a:t>         RET</a:t>
            </a:r>
          </a:p>
          <a:p>
            <a:pPr marL="0" indent="0">
              <a:buNone/>
            </a:pPr>
            <a:r>
              <a:rPr lang="en-US" altLang="zh-CN" dirty="0"/>
              <a:t>         COMPUTE ENDP</a:t>
            </a:r>
          </a:p>
          <a:p>
            <a:pPr marL="0" indent="0">
              <a:buNone/>
            </a:pPr>
            <a:r>
              <a:rPr lang="en-US" altLang="zh-CN" dirty="0"/>
              <a:t>C_SET ENDS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8872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D377CE7-F62C-4BC6-9251-9E23433869DD}"/>
              </a:ext>
            </a:extLst>
          </p:cNvPr>
          <p:cNvSpPr txBox="1">
            <a:spLocks/>
          </p:cNvSpPr>
          <p:nvPr/>
        </p:nvSpPr>
        <p:spPr>
          <a:xfrm>
            <a:off x="432619" y="596591"/>
            <a:ext cx="10655710" cy="59910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同一模块不同代码段中：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C_SEG SEGMENT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MAIN PROC FAR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ASSUME CS:C_SEG,DS:D_SEG, ES:E_SEG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 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C00000"/>
                </a:solidFill>
              </a:rPr>
              <a:t>          CALL PAR PTR COMPUTE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 RET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MAIN ENDP</a:t>
            </a:r>
          </a:p>
          <a:p>
            <a:pPr marL="0" indent="0">
              <a:buNone/>
            </a:pPr>
            <a:r>
              <a:rPr lang="en-US" altLang="zh-CN" dirty="0"/>
              <a:t>C_SEG ENDS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CODESEG SEGMENT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         ASSUME CS:CODESEG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</a:t>
            </a:r>
            <a:r>
              <a:rPr lang="en-US" altLang="zh-CN" dirty="0">
                <a:solidFill>
                  <a:srgbClr val="C00000"/>
                </a:solidFill>
              </a:rPr>
              <a:t>COMPUTE RROC FAR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     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        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RET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        COMPUTE ENDP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CODESEG ENDS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48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5E12316-92A0-4007-8D46-238F7D15EA2F}"/>
              </a:ext>
            </a:extLst>
          </p:cNvPr>
          <p:cNvSpPr txBox="1">
            <a:spLocks/>
          </p:cNvSpPr>
          <p:nvPr/>
        </p:nvSpPr>
        <p:spPr>
          <a:xfrm>
            <a:off x="0" y="433489"/>
            <a:ext cx="6931742" cy="5991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200" dirty="0"/>
              <a:t>不同模块中：</a:t>
            </a:r>
            <a:endParaRPr lang="en-US" altLang="zh-CN" sz="2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200" dirty="0"/>
              <a:t>主程序头部加入：</a:t>
            </a:r>
            <a:endParaRPr lang="en-US" altLang="zh-CN" sz="2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EXTRN COMPUTE:FAR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PUBLIC COUNT,X,Y,R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200" dirty="0"/>
              <a:t>数据段，附加段定义</a:t>
            </a:r>
            <a:endParaRPr lang="en-US" altLang="zh-CN" sz="2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C_SEG SEGMENT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	MAIN PROC FAR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	ASSUME CS:C_SEG,DS:D_SEG, ES:E_SEG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          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C00000"/>
                </a:solidFill>
              </a:rPr>
              <a:t>          CALL PAR PTR COMPUTE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          RET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         MAIN ENDP</a:t>
            </a:r>
          </a:p>
          <a:p>
            <a:pPr marL="0" indent="0">
              <a:buNone/>
            </a:pPr>
            <a:r>
              <a:rPr lang="en-US" altLang="zh-CN" sz="2200" dirty="0"/>
              <a:t>C_SEG ENDS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0F9AFB-F46D-48E8-A245-3259F091A6CA}"/>
              </a:ext>
            </a:extLst>
          </p:cNvPr>
          <p:cNvSpPr/>
          <p:nvPr/>
        </p:nvSpPr>
        <p:spPr>
          <a:xfrm>
            <a:off x="5394960" y="535089"/>
            <a:ext cx="77825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子程序文件：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EXTRN  COUNT:WORD, X:WORD,Y:WORD,R:WORD</a:t>
            </a:r>
          </a:p>
          <a:p>
            <a:r>
              <a:rPr lang="en-US" altLang="zh-CN" sz="2400" dirty="0">
                <a:solidFill>
                  <a:srgbClr val="C00000"/>
                </a:solidFill>
              </a:rPr>
              <a:t>PUBLIC COMPUTE</a:t>
            </a:r>
          </a:p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CODESEG SEGMENT</a:t>
            </a:r>
          </a:p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          ASSUME CS:CODESEG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rgbClr val="C00000"/>
                </a:solidFill>
              </a:rPr>
              <a:t>COMPUTE RROC FAR</a:t>
            </a:r>
          </a:p>
          <a:p>
            <a:r>
              <a:rPr lang="en-US" altLang="zh-CN" sz="2400" dirty="0"/>
              <a:t>              ……</a:t>
            </a:r>
          </a:p>
          <a:p>
            <a:r>
              <a:rPr lang="en-US" altLang="zh-CN" sz="2400" dirty="0"/>
              <a:t>        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RET</a:t>
            </a:r>
          </a:p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         COMPUTE ENDP</a:t>
            </a:r>
          </a:p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CODESEG ENDS</a:t>
            </a:r>
          </a:p>
        </p:txBody>
      </p:sp>
    </p:spTree>
    <p:extLst>
      <p:ext uri="{BB962C8B-B14F-4D97-AF65-F5344CB8AC3E}">
        <p14:creationId xmlns:p14="http://schemas.microsoft.com/office/powerpoint/2010/main" val="243724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2F33B4-28C0-467F-B60C-B6B145D51C82}"/>
              </a:ext>
            </a:extLst>
          </p:cNvPr>
          <p:cNvSpPr txBox="1">
            <a:spLocks/>
          </p:cNvSpPr>
          <p:nvPr/>
        </p:nvSpPr>
        <p:spPr>
          <a:xfrm>
            <a:off x="0" y="433489"/>
            <a:ext cx="6931742" cy="5991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COMPUTE </a:t>
            </a:r>
            <a:r>
              <a:rPr lang="zh-CN" altLang="en-US" sz="3200" dirty="0"/>
              <a:t>核心代码：</a:t>
            </a:r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MOV CX,COUNT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MOV BX,0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REPEAT: MOV AX,X[BX]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ADD AX,Y[BX]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SUB AX,3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MOV ES:R[BX],AX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	     RET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dirty="0"/>
              <a:t>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637D9F-D851-412A-9225-9A845856A451}"/>
              </a:ext>
            </a:extLst>
          </p:cNvPr>
          <p:cNvSpPr txBox="1">
            <a:spLocks/>
          </p:cNvSpPr>
          <p:nvPr/>
        </p:nvSpPr>
        <p:spPr>
          <a:xfrm>
            <a:off x="5147187" y="556392"/>
            <a:ext cx="6931742" cy="5991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COMPUTE </a:t>
            </a:r>
            <a:r>
              <a:rPr lang="zh-CN" altLang="en-US" sz="3200" dirty="0"/>
              <a:t>核心代码：</a:t>
            </a:r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MOV CX,COUNT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MOV BX,0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REPEAT: MOV AX,X[BX]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ADD AX,Y[BX]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SUB AX,3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MOV ES:R[BX],AX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ADD BX,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LOOP REPEAT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       RET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2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7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B1FB00-FFC3-4B5D-BA0A-2C715DB39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4" y="738228"/>
            <a:ext cx="11416892" cy="854598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A796374-7470-42CD-A6EF-BA39DF17970D}"/>
              </a:ext>
            </a:extLst>
          </p:cNvPr>
          <p:cNvSpPr txBox="1">
            <a:spLocks/>
          </p:cNvSpPr>
          <p:nvPr/>
        </p:nvSpPr>
        <p:spPr>
          <a:xfrm>
            <a:off x="1022555" y="1780509"/>
            <a:ext cx="9517626" cy="5991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CLRB MACRO N,CFIL  ;N:</a:t>
            </a:r>
            <a:r>
              <a:rPr lang="zh-CN" altLang="en-US" sz="2400" dirty="0"/>
              <a:t>长度，</a:t>
            </a:r>
            <a:r>
              <a:rPr lang="en-US" altLang="zh-CN" sz="2400" dirty="0"/>
              <a:t>CFIL:</a:t>
            </a:r>
            <a:r>
              <a:rPr lang="zh-CN" altLang="en-US" sz="2400" dirty="0"/>
              <a:t>字符首地址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       MOV CX,N</a:t>
            </a:r>
          </a:p>
          <a:p>
            <a:pPr marL="0" indent="0">
              <a:buNone/>
            </a:pPr>
            <a:r>
              <a:rPr lang="en-US" altLang="zh-CN" sz="2400" dirty="0"/>
              <a:t>           </a:t>
            </a:r>
            <a:r>
              <a:rPr lang="en-US" altLang="zh-CN" sz="2400" dirty="0">
                <a:solidFill>
                  <a:srgbClr val="C00000"/>
                </a:solidFill>
              </a:rPr>
              <a:t>CLD;</a:t>
            </a:r>
            <a:r>
              <a:rPr lang="zh-CN" altLang="en-US" sz="2400" dirty="0"/>
              <a:t>清除方向标志，</a:t>
            </a:r>
            <a:r>
              <a:rPr lang="en-US" altLang="zh-CN" sz="2400" dirty="0" err="1"/>
              <a:t>cld</a:t>
            </a:r>
            <a:r>
              <a:rPr lang="zh-CN" altLang="en-US" sz="2400" dirty="0"/>
              <a:t>即告诉程序</a:t>
            </a:r>
            <a:r>
              <a:rPr lang="en-US" altLang="zh-CN" sz="2400" dirty="0" err="1"/>
              <a:t>si</a:t>
            </a:r>
            <a:r>
              <a:rPr lang="zh-CN" altLang="en-US" sz="2400" dirty="0"/>
              <a:t>，</a:t>
            </a:r>
            <a:r>
              <a:rPr lang="en-US" altLang="zh-CN" sz="2400" dirty="0"/>
              <a:t>di</a:t>
            </a:r>
            <a:r>
              <a:rPr lang="zh-CN" altLang="en-US" sz="2400" dirty="0"/>
              <a:t>向前移动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MOV AL,’ ‘  ; MOV AL, 32</a:t>
            </a:r>
            <a:r>
              <a:rPr lang="zh-CN" altLang="en-US" sz="2400" dirty="0"/>
              <a:t>；</a:t>
            </a:r>
            <a:r>
              <a:rPr lang="en-US" altLang="zh-CN" sz="2400" dirty="0"/>
              <a:t>MOV AL,20H</a:t>
            </a:r>
          </a:p>
          <a:p>
            <a:pPr marL="0" indent="0">
              <a:buNone/>
            </a:pPr>
            <a:r>
              <a:rPr lang="en-US" altLang="zh-CN" sz="2400" dirty="0"/>
              <a:t>          LEA DI,CFIL</a:t>
            </a:r>
          </a:p>
          <a:p>
            <a:pPr marL="0" indent="0">
              <a:buNone/>
            </a:pPr>
            <a:r>
              <a:rPr lang="en-US" altLang="zh-CN" sz="2400" dirty="0"/>
              <a:t>           REP STOSB</a:t>
            </a:r>
          </a:p>
          <a:p>
            <a:pPr marL="0" indent="0">
              <a:buNone/>
            </a:pPr>
            <a:r>
              <a:rPr lang="en-US" altLang="zh-CN" sz="2400" dirty="0"/>
              <a:t>         ENDM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00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D4FB43-6C35-418D-A188-85A3E770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63" y="767832"/>
            <a:ext cx="11196084" cy="608684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7116A8B-F012-4693-B4A9-59023322B878}"/>
              </a:ext>
            </a:extLst>
          </p:cNvPr>
          <p:cNvSpPr txBox="1">
            <a:spLocks/>
          </p:cNvSpPr>
          <p:nvPr/>
        </p:nvSpPr>
        <p:spPr>
          <a:xfrm>
            <a:off x="1022555" y="1780509"/>
            <a:ext cx="9517626" cy="59910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1)</a:t>
            </a:r>
            <a:r>
              <a:rPr lang="zh-CN" altLang="en-US" sz="2400" dirty="0"/>
              <a:t>有效，易错点：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Local   </a:t>
            </a:r>
            <a:r>
              <a:rPr lang="zh-CN" altLang="en-US" sz="2400" dirty="0"/>
              <a:t>定义的内部标签在宏展开时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JGE </a:t>
            </a:r>
            <a:r>
              <a:rPr lang="en-US" altLang="zh-CN" sz="2400" dirty="0">
                <a:solidFill>
                  <a:srgbClr val="C00000"/>
                </a:solidFill>
              </a:rPr>
              <a:t>??0000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第二次展开时标签变为 </a:t>
            </a:r>
            <a:r>
              <a:rPr lang="en-US" altLang="zh-CN" sz="2400" dirty="0"/>
              <a:t>??0001</a:t>
            </a:r>
            <a:r>
              <a:rPr lang="zh-CN" altLang="en-US" sz="2400" dirty="0"/>
              <a:t>，以此类推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）有效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宏调用时实参多余形参，多余的没实际意义，例如本例中的</a:t>
            </a:r>
            <a:r>
              <a:rPr lang="en-US" altLang="zh-CN" sz="2400" dirty="0"/>
              <a:t>CX</a:t>
            </a:r>
            <a:r>
              <a:rPr lang="zh-CN" altLang="en-US" sz="2400" dirty="0"/>
              <a:t>； 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     若行参个数多余实参，则多出的形参为空，根据实际情况展开是否有效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）无效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展开时 出现  </a:t>
            </a:r>
            <a:r>
              <a:rPr lang="en-US" altLang="zh-CN" sz="2400" dirty="0"/>
              <a:t>MOV 240H,AX   </a:t>
            </a:r>
            <a:r>
              <a:rPr lang="zh-CN" altLang="en-US" sz="2400" dirty="0"/>
              <a:t>语法出错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）有效，但无实际意义，将</a:t>
            </a:r>
            <a:r>
              <a:rPr lang="en-US" altLang="zh-CN" sz="2400" dirty="0"/>
              <a:t>AX</a:t>
            </a:r>
            <a:r>
              <a:rPr lang="zh-CN" altLang="en-US" sz="2400" dirty="0"/>
              <a:t>置零，简单问题复杂化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/>
              <a:t>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58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58BC883-E201-46B1-BA2D-4FBB252F0D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711"/>
          <a:stretch/>
        </p:blipFill>
        <p:spPr>
          <a:xfrm>
            <a:off x="498988" y="438351"/>
            <a:ext cx="5764160" cy="32094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5F92E1-E632-4707-A3D0-38662C5828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98" t="61413"/>
          <a:stretch/>
        </p:blipFill>
        <p:spPr>
          <a:xfrm>
            <a:off x="5751035" y="1091380"/>
            <a:ext cx="5386036" cy="31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47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8480E1-DB6E-4716-8EAC-7B8DFF9F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5" y="477188"/>
            <a:ext cx="9163161" cy="54811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6A7EE5D-D460-48C5-8AA1-3715BF5538D6}"/>
                  </a:ext>
                </a:extLst>
              </p14:cNvPr>
              <p14:cNvContentPartPr/>
              <p14:nvPr/>
            </p14:nvContentPartPr>
            <p14:xfrm>
              <a:off x="1264320" y="2014920"/>
              <a:ext cx="5198760" cy="3319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6A7EE5D-D460-48C5-8AA1-3715BF5538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960" y="2005560"/>
                <a:ext cx="5217480" cy="33379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FEFAE42-FEC0-47E8-80E4-2A8375CBF613}"/>
              </a:ext>
            </a:extLst>
          </p:cNvPr>
          <p:cNvSpPr txBox="1"/>
          <p:nvPr/>
        </p:nvSpPr>
        <p:spPr>
          <a:xfrm>
            <a:off x="5676499" y="2756103"/>
            <a:ext cx="602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若利用调转语句，注意用</a:t>
            </a:r>
            <a:r>
              <a:rPr lang="en-US" altLang="zh-CN" sz="2400" dirty="0"/>
              <a:t>local</a:t>
            </a:r>
            <a:r>
              <a:rPr lang="zh-CN" altLang="en-US" sz="2400" dirty="0"/>
              <a:t>定义内部标签</a:t>
            </a:r>
          </a:p>
        </p:txBody>
      </p:sp>
    </p:spTree>
    <p:extLst>
      <p:ext uri="{BB962C8B-B14F-4D97-AF65-F5344CB8AC3E}">
        <p14:creationId xmlns:p14="http://schemas.microsoft.com/office/powerpoint/2010/main" val="4286706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7B88A1-25E0-4BBE-A7FF-514DAD6E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4" y="805673"/>
            <a:ext cx="10207898" cy="408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40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196EF7-76B2-4341-83AE-1718880F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06" y="923966"/>
            <a:ext cx="7131767" cy="38938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1BF374C-A6A3-4026-9858-16841BAC50A4}"/>
                  </a:ext>
                </a:extLst>
              </p14:cNvPr>
              <p14:cNvContentPartPr/>
              <p14:nvPr/>
            </p14:nvContentPartPr>
            <p14:xfrm>
              <a:off x="3826800" y="3651840"/>
              <a:ext cx="666360" cy="3560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1BF374C-A6A3-4026-9858-16841BAC50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7440" y="3642480"/>
                <a:ext cx="685080" cy="37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0026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5C0421-695F-4D09-BEAF-DF3D5BC50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35" y="697196"/>
            <a:ext cx="10273761" cy="49760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0A01BD3-23AC-4109-B8D8-6B9E00AD9D2D}"/>
                  </a:ext>
                </a:extLst>
              </p14:cNvPr>
              <p14:cNvContentPartPr/>
              <p14:nvPr/>
            </p14:nvContentPartPr>
            <p14:xfrm>
              <a:off x="3499560" y="2579400"/>
              <a:ext cx="2297520" cy="19760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0A01BD3-23AC-4109-B8D8-6B9E00AD9D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0200" y="2570040"/>
                <a:ext cx="2316240" cy="199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8955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4812AA-B453-408B-B514-2C85ADB8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0" y="450729"/>
            <a:ext cx="9353596" cy="112243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753823E-6FC8-4668-95EC-E87B72DB2B89}"/>
              </a:ext>
            </a:extLst>
          </p:cNvPr>
          <p:cNvSpPr txBox="1"/>
          <p:nvPr/>
        </p:nvSpPr>
        <p:spPr>
          <a:xfrm>
            <a:off x="934065" y="1809136"/>
            <a:ext cx="4385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双字数组（</a:t>
            </a:r>
            <a:r>
              <a:rPr lang="en-US" altLang="zh-CN" sz="2400" dirty="0"/>
              <a:t>4</a:t>
            </a:r>
            <a:r>
              <a:rPr lang="zh-CN" altLang="en-US" sz="2400" dirty="0"/>
              <a:t>字节），</a:t>
            </a:r>
            <a:r>
              <a:rPr lang="en-US" altLang="zh-CN" sz="2400" dirty="0"/>
              <a:t>32</a:t>
            </a:r>
            <a:r>
              <a:rPr lang="zh-CN" altLang="en-US" sz="2400" dirty="0"/>
              <a:t>位寻址方式时是可以用 </a:t>
            </a:r>
            <a:r>
              <a:rPr lang="en-US" altLang="zh-CN" sz="2400" dirty="0" err="1"/>
              <a:t>eax</a:t>
            </a:r>
            <a:r>
              <a:rPr lang="zh-CN" altLang="en-US" sz="2400" dirty="0"/>
              <a:t>，偏移可以用</a:t>
            </a:r>
            <a:r>
              <a:rPr lang="en-US" altLang="zh-CN" sz="2400" dirty="0" err="1"/>
              <a:t>esi</a:t>
            </a:r>
            <a:r>
              <a:rPr lang="en-US" altLang="zh-CN" sz="2400" dirty="0"/>
              <a:t> </a:t>
            </a:r>
            <a:r>
              <a:rPr lang="zh-CN" altLang="en-US" sz="2400" dirty="0"/>
              <a:t>或</a:t>
            </a:r>
            <a:r>
              <a:rPr lang="en-US" altLang="zh-CN" sz="2400" dirty="0" err="1"/>
              <a:t>ebx</a:t>
            </a:r>
            <a:r>
              <a:rPr lang="zh-CN" altLang="en-US" sz="2400" dirty="0"/>
              <a:t>寄存器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CFF7C7-036B-4A3E-82AF-A5CA79BA66AA}"/>
              </a:ext>
            </a:extLst>
          </p:cNvPr>
          <p:cNvSpPr txBox="1"/>
          <p:nvPr/>
        </p:nvSpPr>
        <p:spPr>
          <a:xfrm>
            <a:off x="7580670" y="1823885"/>
            <a:ext cx="3335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双字数组（</a:t>
            </a:r>
            <a:r>
              <a:rPr lang="en-US" altLang="zh-CN" sz="2400" dirty="0"/>
              <a:t>4</a:t>
            </a:r>
            <a:r>
              <a:rPr lang="zh-CN" altLang="en-US" sz="2400" dirty="0"/>
              <a:t>字节），</a:t>
            </a:r>
            <a:r>
              <a:rPr lang="en-US" altLang="zh-CN" sz="2400" dirty="0"/>
              <a:t>16</a:t>
            </a:r>
            <a:r>
              <a:rPr lang="zh-CN" altLang="en-US" sz="2400" dirty="0"/>
              <a:t>位寻址方式时如何处理？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9DD31D-E74E-492B-BB84-B91F093F1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22040"/>
            <a:ext cx="5757428" cy="18792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D81B6D-15C6-43F4-87C6-D3F983247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049" y="5122144"/>
            <a:ext cx="2457450" cy="16478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6A0EDAD-54C0-44E0-85A2-6DAE56761897}"/>
              </a:ext>
            </a:extLst>
          </p:cNvPr>
          <p:cNvSpPr txBox="1"/>
          <p:nvPr/>
        </p:nvSpPr>
        <p:spPr>
          <a:xfrm>
            <a:off x="7216877" y="3429000"/>
            <a:ext cx="46506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          Mov  </a:t>
            </a:r>
            <a:r>
              <a:rPr lang="en-US" altLang="zh-CN" sz="2400" dirty="0" err="1"/>
              <a:t>si</a:t>
            </a:r>
            <a:r>
              <a:rPr lang="en-US" altLang="zh-CN" sz="2400" dirty="0"/>
              <a:t>, 0</a:t>
            </a:r>
          </a:p>
          <a:p>
            <a:r>
              <a:rPr lang="en-US" altLang="zh-CN" sz="2400" dirty="0"/>
              <a:t>               Mov </a:t>
            </a:r>
            <a:r>
              <a:rPr lang="en-US" altLang="zh-CN" sz="2400" dirty="0" err="1"/>
              <a:t>cx,count</a:t>
            </a:r>
            <a:endParaRPr lang="en-US" altLang="zh-CN" sz="2400" dirty="0"/>
          </a:p>
          <a:p>
            <a:r>
              <a:rPr lang="en-US" altLang="zh-CN" sz="2400" dirty="0"/>
              <a:t>Addition: mov ax, array[</a:t>
            </a:r>
            <a:r>
              <a:rPr lang="en-US" altLang="zh-CN" sz="2400" dirty="0" err="1"/>
              <a:t>si</a:t>
            </a:r>
            <a:r>
              <a:rPr lang="en-US" altLang="zh-CN" sz="2400" dirty="0"/>
              <a:t>]</a:t>
            </a:r>
          </a:p>
          <a:p>
            <a:r>
              <a:rPr lang="en-US" altLang="zh-CN" sz="2400" dirty="0"/>
              <a:t>               add result, ax</a:t>
            </a:r>
          </a:p>
          <a:p>
            <a:r>
              <a:rPr lang="en-US" altLang="zh-CN" sz="2400" dirty="0"/>
              <a:t>               mov ax, array[si+2]</a:t>
            </a:r>
          </a:p>
          <a:p>
            <a:r>
              <a:rPr lang="en-US" altLang="zh-CN" sz="2400" dirty="0"/>
              <a:t>               </a:t>
            </a:r>
            <a:r>
              <a:rPr lang="en-US" altLang="zh-CN" sz="2400" dirty="0" err="1"/>
              <a:t>adc</a:t>
            </a:r>
            <a:r>
              <a:rPr lang="en-US" altLang="zh-CN" sz="2400" dirty="0"/>
              <a:t> result+2, ax</a:t>
            </a:r>
          </a:p>
          <a:p>
            <a:r>
              <a:rPr lang="en-US" altLang="zh-CN" sz="2400" dirty="0"/>
              <a:t>               </a:t>
            </a:r>
            <a:r>
              <a:rPr lang="en-US" altLang="zh-CN" sz="2400" dirty="0" err="1"/>
              <a:t>adc</a:t>
            </a:r>
            <a:r>
              <a:rPr lang="en-US" altLang="zh-CN" sz="2400" dirty="0"/>
              <a:t> result+4,0</a:t>
            </a:r>
          </a:p>
          <a:p>
            <a:r>
              <a:rPr lang="en-US" altLang="zh-CN" sz="2400" dirty="0"/>
              <a:t>               add si,4</a:t>
            </a:r>
          </a:p>
          <a:p>
            <a:r>
              <a:rPr lang="en-US" altLang="zh-CN" sz="2400" dirty="0"/>
              <a:t>               </a:t>
            </a:r>
            <a:r>
              <a:rPr lang="en-US" altLang="zh-CN" sz="2400"/>
              <a:t>loop addition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34846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808</Words>
  <Application>Microsoft Office PowerPoint</Application>
  <PresentationFormat>宽屏</PresentationFormat>
  <Paragraphs>268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汇编习题课(二）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汇编习题课(二）</dc:title>
  <dc:creator>guo feng</dc:creator>
  <cp:lastModifiedBy>guo feng</cp:lastModifiedBy>
  <cp:revision>56</cp:revision>
  <dcterms:created xsi:type="dcterms:W3CDTF">2019-05-25T06:30:34Z</dcterms:created>
  <dcterms:modified xsi:type="dcterms:W3CDTF">2019-05-26T16:21:53Z</dcterms:modified>
</cp:coreProperties>
</file>