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302" r:id="rId3"/>
    <p:sldId id="276" r:id="rId4"/>
    <p:sldId id="310" r:id="rId5"/>
    <p:sldId id="298" r:id="rId6"/>
    <p:sldId id="312" r:id="rId7"/>
    <p:sldId id="313" r:id="rId8"/>
    <p:sldId id="297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95" d="100"/>
          <a:sy n="95" d="100"/>
        </p:scale>
        <p:origin x="116" y="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0905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112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637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/>
              <a:t>实验八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1" y="4101335"/>
            <a:ext cx="4500777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>
                <a:solidFill>
                  <a:srgbClr val="292929"/>
                </a:solidFill>
                <a:cs typeface="+mn-ea"/>
                <a:sym typeface="+mn-lt"/>
              </a:rPr>
              <a:t>分支和循环程序设计实验</a:t>
            </a:r>
            <a:r>
              <a:rPr lang="en-US" altLang="zh-CN" sz="2400" spc="225" dirty="0">
                <a:solidFill>
                  <a:srgbClr val="292929"/>
                </a:solidFill>
                <a:cs typeface="+mn-ea"/>
                <a:sym typeface="+mn-lt"/>
              </a:rPr>
              <a:t>(1)</a:t>
            </a:r>
            <a:endParaRPr sz="2400" spc="225" dirty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F2526D7-99D4-4C36-BFAF-2935CF20E675}"/>
              </a:ext>
            </a:extLst>
          </p:cNvPr>
          <p:cNvSpPr txBox="1"/>
          <p:nvPr/>
        </p:nvSpPr>
        <p:spPr>
          <a:xfrm>
            <a:off x="993505" y="27606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实验七评讲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4C75E9B-20A9-4431-A3AF-462BBE553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805" y="860841"/>
            <a:ext cx="4572235" cy="189239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99673DF-B7B3-48AE-85AE-F23B47C99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806" y="2753238"/>
            <a:ext cx="2085060" cy="365428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5D101B4-A750-4F6F-9488-B1DD38F0B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1054" y="417094"/>
            <a:ext cx="2552831" cy="299735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D1FD1FB-3838-4CB0-BAF7-3B7E9DBD66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8207" y="3443553"/>
            <a:ext cx="2495678" cy="117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5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目的要求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1209453"/>
            <a:ext cx="10668288" cy="526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熟悉汇编语言程序设计结构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熟悉汇编语言分支程序基本指令的使用方法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掌握利用汇编语言的实现单分支，双分支，多分支的程序设计方法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熟悉汇编语言循环基本指令的使用方法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掌握利用汇编语言的循环指令完成循环程序设计方法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52103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1178743"/>
            <a:ext cx="41056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无条件转移指令  </a:t>
            </a:r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JMP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4" y="1763518"/>
            <a:ext cx="111984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条件转移指令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1)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简单条件转移指令 （根据单个标志位的状态判断转移条件）</a:t>
            </a:r>
            <a:endParaRPr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391" y="2857500"/>
            <a:ext cx="894397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4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1178743"/>
            <a:ext cx="49263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2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）无符号数条件转移指令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277" y="2046974"/>
            <a:ext cx="6657975" cy="206692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22421" y="4397355"/>
            <a:ext cx="53367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3</a:t>
            </a: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）带符号数条件转移号指令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2485476" y="4974033"/>
            <a:ext cx="6534149" cy="1779495"/>
            <a:chOff x="2485476" y="4974033"/>
            <a:chExt cx="6534149" cy="1779495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3"/>
            <a:srcRect b="82359"/>
            <a:stretch/>
          </p:blipFill>
          <p:spPr>
            <a:xfrm>
              <a:off x="2485476" y="4974033"/>
              <a:ext cx="6505575" cy="74771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/>
            <a:srcRect l="439" t="75380" r="-439" b="-1399"/>
            <a:stretch/>
          </p:blipFill>
          <p:spPr>
            <a:xfrm>
              <a:off x="2514050" y="5650706"/>
              <a:ext cx="6505575" cy="11028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9125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实验内容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986715"/>
            <a:ext cx="9031054" cy="156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400" dirty="0"/>
              <a:t>给定</a:t>
            </a:r>
            <a:r>
              <a:rPr lang="en-US" altLang="zh-CN" sz="2400" dirty="0"/>
              <a:t>10</a:t>
            </a:r>
            <a:r>
              <a:rPr lang="zh-CN" altLang="en-US" sz="2400" dirty="0"/>
              <a:t>个学生成绩，编制汇编程序分别统计低于</a:t>
            </a:r>
            <a:r>
              <a:rPr lang="en-US" altLang="zh-CN" sz="2400" dirty="0"/>
              <a:t>60</a:t>
            </a:r>
            <a:r>
              <a:rPr lang="zh-CN" altLang="en-US" sz="2400" dirty="0"/>
              <a:t>分，</a:t>
            </a:r>
            <a:r>
              <a:rPr lang="en-US" altLang="zh-CN" sz="2400" dirty="0"/>
              <a:t>60~69</a:t>
            </a:r>
            <a:r>
              <a:rPr lang="zh-CN" altLang="en-US" sz="2400" dirty="0"/>
              <a:t>分，</a:t>
            </a:r>
            <a:r>
              <a:rPr lang="en-US" altLang="zh-CN" sz="2400" dirty="0"/>
              <a:t>70~79,80~89</a:t>
            </a:r>
            <a:r>
              <a:rPr lang="zh-CN" altLang="en-US" sz="2400" dirty="0"/>
              <a:t>，</a:t>
            </a:r>
            <a:r>
              <a:rPr lang="en-US" altLang="zh-CN" sz="2400" dirty="0"/>
              <a:t>90~100</a:t>
            </a:r>
            <a:r>
              <a:rPr lang="zh-CN" altLang="en-US" sz="2400" dirty="0"/>
              <a:t>分的人数，分别存到</a:t>
            </a:r>
            <a:r>
              <a:rPr lang="en-US" altLang="zh-CN" sz="2400" dirty="0"/>
              <a:t>s5</a:t>
            </a:r>
            <a:r>
              <a:rPr lang="zh-CN" altLang="en-US" sz="2400" dirty="0"/>
              <a:t>，</a:t>
            </a:r>
            <a:r>
              <a:rPr lang="en-US" altLang="zh-CN" sz="2400" dirty="0"/>
              <a:t>s6</a:t>
            </a:r>
            <a:r>
              <a:rPr lang="zh-CN" altLang="en-US" sz="2400" dirty="0"/>
              <a:t>，</a:t>
            </a:r>
            <a:r>
              <a:rPr lang="en-US" altLang="zh-CN" sz="2400" dirty="0"/>
              <a:t>s7,s8</a:t>
            </a:r>
            <a:r>
              <a:rPr lang="zh-CN" altLang="en-US" sz="2400" dirty="0"/>
              <a:t>，</a:t>
            </a:r>
            <a:r>
              <a:rPr lang="en-US" altLang="zh-CN" sz="2400" dirty="0"/>
              <a:t>s9</a:t>
            </a:r>
            <a:r>
              <a:rPr lang="zh-CN" altLang="en-US" sz="2400" dirty="0"/>
              <a:t>单元中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</a:t>
            </a:r>
          </a:p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 挑战：能否将成绩段及对应的人数在屏幕中输出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2766209"/>
            <a:ext cx="9031054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altLang="zh-CN" sz="2400" dirty="0"/>
              <a:t> </a:t>
            </a:r>
            <a:r>
              <a:rPr lang="zh-CN" altLang="en-US" sz="2400" dirty="0"/>
              <a:t>判断一元二次方程</a:t>
            </a:r>
            <a:r>
              <a:rPr lang="en-US" altLang="zh-CN" sz="2400" dirty="0"/>
              <a:t>AX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+BX+C=0 </a:t>
            </a:r>
            <a:r>
              <a:rPr lang="zh-CN" altLang="en-US" sz="2400" dirty="0"/>
              <a:t>是否有实根，若有实根，将字节变量</a:t>
            </a:r>
            <a:r>
              <a:rPr lang="en-US" altLang="zh-CN" sz="2400" dirty="0"/>
              <a:t>tag</a:t>
            </a:r>
            <a:r>
              <a:rPr lang="zh-CN" altLang="en-US" sz="2400" dirty="0"/>
              <a:t>置</a:t>
            </a:r>
            <a:r>
              <a:rPr lang="en-US" altLang="zh-CN" sz="2400" dirty="0"/>
              <a:t>1</a:t>
            </a:r>
            <a:r>
              <a:rPr lang="zh-CN" altLang="en-US" sz="2400" dirty="0"/>
              <a:t>，否则置</a:t>
            </a:r>
            <a:r>
              <a:rPr lang="en-US" altLang="zh-CN" sz="2400" dirty="0"/>
              <a:t>0</a:t>
            </a:r>
            <a:r>
              <a:rPr lang="zh-CN" altLang="en-US" sz="2400" dirty="0"/>
              <a:t>。设</a:t>
            </a:r>
            <a:r>
              <a:rPr lang="en-US" altLang="zh-CN" sz="2400" dirty="0"/>
              <a:t>A</a:t>
            </a:r>
            <a:r>
              <a:rPr lang="zh-CN" altLang="en-US" sz="2400" dirty="0"/>
              <a:t>、</a:t>
            </a:r>
            <a:r>
              <a:rPr lang="en-US" altLang="zh-CN" sz="2400" dirty="0"/>
              <a:t>B</a:t>
            </a:r>
            <a:r>
              <a:rPr lang="zh-CN" altLang="en-US" sz="2400" dirty="0"/>
              <a:t>、</a:t>
            </a:r>
            <a:r>
              <a:rPr lang="en-US" altLang="zh-CN" sz="2400" dirty="0"/>
              <a:t>C</a:t>
            </a:r>
            <a:r>
              <a:rPr lang="zh-CN" altLang="en-US" sz="2400" dirty="0"/>
              <a:t>均为字节变量，其数值范围在</a:t>
            </a:r>
            <a:r>
              <a:rPr lang="en-US" altLang="zh-CN" sz="2400" dirty="0"/>
              <a:t>-128~127 </a:t>
            </a:r>
            <a:r>
              <a:rPr lang="zh-CN" altLang="en-US" sz="2400" dirty="0"/>
              <a:t>之间</a:t>
            </a:r>
            <a:endParaRPr lang="en-US" altLang="zh-CN" sz="2400" dirty="0"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4478467"/>
            <a:ext cx="9031054" cy="193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zh-CN" altLang="en-US" sz="2400" dirty="0">
                <a:sym typeface="+mn-lt"/>
              </a:rPr>
              <a:t>编写一个程序，判别键盘上输入的字符；若是</a:t>
            </a:r>
            <a:r>
              <a:rPr lang="en-US" altLang="zh-CN" sz="2400" dirty="0">
                <a:sym typeface="+mn-lt"/>
              </a:rPr>
              <a:t>1~9 </a:t>
            </a:r>
            <a:r>
              <a:rPr lang="zh-CN" altLang="en-US" sz="2400" dirty="0">
                <a:sym typeface="+mn-lt"/>
              </a:rPr>
              <a:t>字符，则显示之；若为</a:t>
            </a:r>
            <a:r>
              <a:rPr lang="en-US" altLang="zh-CN" sz="2400" dirty="0">
                <a:sym typeface="+mn-lt"/>
              </a:rPr>
              <a:t>A~Z</a:t>
            </a:r>
            <a:r>
              <a:rPr lang="zh-CN" altLang="en-US" sz="2400" dirty="0">
                <a:sym typeface="+mn-lt"/>
              </a:rPr>
              <a:t>字符，显示“</a:t>
            </a:r>
            <a:r>
              <a:rPr lang="en-US" altLang="zh-CN" sz="2400" dirty="0">
                <a:sym typeface="+mn-lt"/>
              </a:rPr>
              <a:t>c</a:t>
            </a:r>
            <a:r>
              <a:rPr lang="zh-CN" altLang="en-US" sz="2400" dirty="0">
                <a:sym typeface="+mn-lt"/>
              </a:rPr>
              <a:t>”，若为</a:t>
            </a:r>
            <a:r>
              <a:rPr lang="en-US" altLang="zh-CN" sz="2400" dirty="0">
                <a:sym typeface="+mn-lt"/>
              </a:rPr>
              <a:t>a-z </a:t>
            </a:r>
            <a:r>
              <a:rPr lang="zh-CN" altLang="en-US" sz="2400" dirty="0">
                <a:sym typeface="+mn-lt"/>
              </a:rPr>
              <a:t>字符，显示“</a:t>
            </a:r>
            <a:r>
              <a:rPr lang="en-US" altLang="zh-CN" sz="2400" dirty="0">
                <a:sym typeface="+mn-lt"/>
              </a:rPr>
              <a:t>C</a:t>
            </a:r>
            <a:r>
              <a:rPr lang="zh-CN" altLang="en-US" sz="2400" dirty="0">
                <a:sym typeface="+mn-lt"/>
              </a:rPr>
              <a:t>”，若是回车字符（</a:t>
            </a:r>
            <a:r>
              <a:rPr lang="en-US" altLang="zh-CN" sz="2400" dirty="0">
                <a:sym typeface="+mn-lt"/>
              </a:rPr>
              <a:t>0DH</a:t>
            </a:r>
            <a:r>
              <a:rPr lang="zh-CN" altLang="en-US" sz="2400" dirty="0">
                <a:sym typeface="+mn-lt"/>
              </a:rPr>
              <a:t>），则结束程序，若为其他按字符则显示“</a:t>
            </a:r>
            <a:r>
              <a:rPr lang="en-US" altLang="zh-CN" sz="2400" dirty="0">
                <a:sym typeface="+mn-lt"/>
              </a:rPr>
              <a:t>R</a:t>
            </a:r>
            <a:r>
              <a:rPr lang="zh-CN" altLang="en-US" sz="2400" dirty="0">
                <a:sym typeface="+mn-lt"/>
              </a:rPr>
              <a:t>”</a:t>
            </a:r>
            <a:endParaRPr lang="en-US" altLang="zh-CN" sz="2400" dirty="0">
              <a:sym typeface="+mn-lt"/>
            </a:endParaRPr>
          </a:p>
          <a:p>
            <a:r>
              <a:rPr lang="en-US" altLang="zh-CN" sz="2400" dirty="0">
                <a:sym typeface="+mn-lt"/>
              </a:rPr>
              <a:t>     </a:t>
            </a:r>
            <a:r>
              <a:rPr lang="zh-CN" altLang="en-US" sz="2400" dirty="0">
                <a:sym typeface="+mn-lt"/>
              </a:rPr>
              <a:t>键盘输入字符：利用</a:t>
            </a:r>
            <a:r>
              <a:rPr lang="en-US" altLang="zh-CN" sz="2400" dirty="0">
                <a:sym typeface="+mn-lt"/>
              </a:rPr>
              <a:t>DOS</a:t>
            </a:r>
            <a:r>
              <a:rPr lang="zh-CN" altLang="en-US" sz="2400" dirty="0">
                <a:sym typeface="+mn-lt"/>
              </a:rPr>
              <a:t>功能调用的</a:t>
            </a:r>
            <a:r>
              <a:rPr lang="en-US" altLang="zh-CN" sz="2400" dirty="0">
                <a:sym typeface="+mn-lt"/>
              </a:rPr>
              <a:t>07</a:t>
            </a:r>
            <a:r>
              <a:rPr lang="zh-CN" altLang="en-US" sz="2400" dirty="0">
                <a:sym typeface="+mn-lt"/>
              </a:rPr>
              <a:t>号功能</a:t>
            </a:r>
            <a:endParaRPr lang="en-US" altLang="zh-CN" sz="2400" dirty="0"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492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  <p:bldP spid="6" grpId="0" bldLvl="0"/>
      <p:bldP spid="9" grpId="0" bldLvl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45C3014-0499-4B15-AC17-C2DDA3920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45" y="484598"/>
            <a:ext cx="3791145" cy="21908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4D155CC-B385-46AA-8064-15521770D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85" y="2981646"/>
            <a:ext cx="3841947" cy="205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784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35692-B8B3-435C-A09C-6228FCA9C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实验报告及作业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8EE591-09B0-4AB8-A317-B725E1A7D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zh-CN" altLang="en-US" dirty="0"/>
              <a:t>给出实验内容</a:t>
            </a:r>
            <a:r>
              <a:rPr lang="en-US" altLang="zh-CN" dirty="0"/>
              <a:t>1~3</a:t>
            </a:r>
            <a:r>
              <a:rPr lang="zh-CN" altLang="en-US" dirty="0"/>
              <a:t>的程序代码、程序流程图、调试及运行结果截图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/>
              <a:t>实验</a:t>
            </a:r>
            <a:r>
              <a:rPr lang="zh-CN" altLang="en-US" dirty="0"/>
              <a:t>总结（实验过程错误总结、知识点掌握情况）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6220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2086</TotalTime>
  <Words>318</Words>
  <Application>Microsoft Office PowerPoint</Application>
  <PresentationFormat>宽屏</PresentationFormat>
  <Paragraphs>31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方正粗谭黑简体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实验报告及作业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 ying</cp:lastModifiedBy>
  <cp:revision>136</cp:revision>
  <dcterms:created xsi:type="dcterms:W3CDTF">2019-06-11T09:29:47Z</dcterms:created>
  <dcterms:modified xsi:type="dcterms:W3CDTF">2021-04-21T07:28:16Z</dcterms:modified>
</cp:coreProperties>
</file>