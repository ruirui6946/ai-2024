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304" r:id="rId3"/>
    <p:sldId id="308" r:id="rId4"/>
    <p:sldId id="295" r:id="rId5"/>
    <p:sldId id="303" r:id="rId6"/>
    <p:sldId id="309" r:id="rId7"/>
    <p:sldId id="306" r:id="rId8"/>
    <p:sldId id="276" r:id="rId9"/>
    <p:sldId id="298" r:id="rId10"/>
    <p:sldId id="310" r:id="rId11"/>
    <p:sldId id="302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70" d="100"/>
          <a:sy n="70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9T15:16:38.485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53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/>
              <a:t>实验五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>
                <a:solidFill>
                  <a:srgbClr val="292929"/>
                </a:solidFill>
                <a:cs typeface="+mn-ea"/>
                <a:sym typeface="+mn-lt"/>
              </a:rPr>
              <a:t>算数运算</a:t>
            </a:r>
            <a:r>
              <a:rPr lang="en-US" altLang="zh-CN" sz="2400" spc="225">
                <a:solidFill>
                  <a:srgbClr val="292929"/>
                </a:solidFill>
                <a:cs typeface="+mn-ea"/>
                <a:sym typeface="+mn-lt"/>
              </a:rPr>
              <a:t>&amp;</a:t>
            </a:r>
            <a:r>
              <a:rPr lang="zh-CN" altLang="en-US" sz="2400" spc="225">
                <a:solidFill>
                  <a:srgbClr val="292929"/>
                </a:solidFill>
                <a:cs typeface="+mn-ea"/>
                <a:sym typeface="+mn-lt"/>
              </a:rPr>
              <a:t>逻辑指令实验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39EA8D8-525F-4775-BAE5-4FD2E050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933102"/>
            <a:ext cx="5868288" cy="55748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实验二评析</a:t>
            </a:r>
          </a:p>
        </p:txBody>
      </p:sp>
    </p:spTree>
    <p:extLst>
      <p:ext uri="{BB962C8B-B14F-4D97-AF65-F5344CB8AC3E}">
        <p14:creationId xmlns:p14="http://schemas.microsoft.com/office/powerpoint/2010/main" val="4739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05" y="1762927"/>
            <a:ext cx="3714286" cy="3685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181" y="3841496"/>
            <a:ext cx="6108226" cy="1774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555" y="1242174"/>
            <a:ext cx="4375698" cy="24490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2AA081-864C-497B-B9F7-1C47155E9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03" y="1762927"/>
            <a:ext cx="4375698" cy="43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29772"/>
          <a:stretch/>
        </p:blipFill>
        <p:spPr>
          <a:xfrm>
            <a:off x="993505" y="1743234"/>
            <a:ext cx="4142857" cy="392604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48512" y="3502513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48512" y="4054367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79" y="5840039"/>
            <a:ext cx="5438095" cy="5047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113" y="4161045"/>
            <a:ext cx="4952381" cy="2609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636" y="86366"/>
            <a:ext cx="3714286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7" grpId="0" animBg="1"/>
      <p:bldP spid="7" grpId="1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647" y="372965"/>
            <a:ext cx="5536295" cy="61120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b="29772"/>
          <a:stretch/>
        </p:blipFill>
        <p:spPr>
          <a:xfrm>
            <a:off x="465221" y="1939443"/>
            <a:ext cx="4608402" cy="4367227"/>
          </a:xfrm>
          <a:prstGeom prst="rect">
            <a:avLst/>
          </a:prstGeom>
        </p:spPr>
      </p:pic>
      <p:sp>
        <p:nvSpPr>
          <p:cNvPr id="10" name="云形 9"/>
          <p:cNvSpPr/>
          <p:nvPr/>
        </p:nvSpPr>
        <p:spPr>
          <a:xfrm>
            <a:off x="9659501" y="1325573"/>
            <a:ext cx="2338163" cy="13378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思考：</a:t>
            </a:r>
            <a:r>
              <a:rPr lang="en-US" altLang="zh-CN" sz="1400" dirty="0"/>
              <a:t>je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jmp</a:t>
            </a:r>
            <a:r>
              <a:rPr lang="zh-CN" altLang="en-US" sz="1400" dirty="0"/>
              <a:t>分别有什么作用，区别在哪里？</a:t>
            </a:r>
          </a:p>
        </p:txBody>
      </p:sp>
    </p:spTree>
    <p:extLst>
      <p:ext uri="{BB962C8B-B14F-4D97-AF65-F5344CB8AC3E}">
        <p14:creationId xmlns:p14="http://schemas.microsoft.com/office/powerpoint/2010/main" val="23461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14E45D-E9FF-4F57-ADDD-9BCCB38F8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58" y="342374"/>
            <a:ext cx="3054507" cy="5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8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20" y="275768"/>
            <a:ext cx="5929679" cy="642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1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441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继续掌握汇编算数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掌握汇编语言逻辑指令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熟悉无符号数和有符号数乘法和除法指令的使用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掌握无符号位扩展指令的使用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了解汇编语言字符串处理基本流程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熟悉汇编语言字符串处理基本指令的使用方法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159306" y="860841"/>
            <a:ext cx="10668288" cy="56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算数指令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lvl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MUL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IMUL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DIV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IDIV</a:t>
            </a: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格式为：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MUL SRC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字节操作数：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(AX) &lt;--(AL)*(SRC)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字操作数：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(DX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AX) &lt;--(AX)*(SRC)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双字操作数：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(EDX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EAX) &lt;--(EAX)*(SRC)</a:t>
            </a: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IMUL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带符号数乘法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lvl="1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lvl="1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格式为：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DIV SRC</a:t>
            </a: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字节操作数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,16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为被除数在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AX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中，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位除数为源操作数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(AL) &lt;--(AX)/(SRC)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的商；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(AH) &lt;--(AX)/(SRC)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的余数；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字操作数，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32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位被除数在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DX,AX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中，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16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位除数在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SRC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(AX) &lt;--(DX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AX)/(SRC)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的商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(DX) &lt;--(DX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AX)/(SRC)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Wingdings" panose="05000000000000000000" pitchFamily="2" charset="2"/>
              </a:rPr>
              <a:t>的余数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Wingdings" panose="05000000000000000000" pitchFamily="2" charset="2"/>
            </a:endParaRPr>
          </a:p>
          <a:p>
            <a:pPr lvl="1"/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17DC89A-3D5A-4187-9712-5DF54C363A8B}"/>
              </a:ext>
            </a:extLst>
          </p:cNvPr>
          <p:cNvSpPr txBox="1"/>
          <p:nvPr/>
        </p:nvSpPr>
        <p:spPr>
          <a:xfrm>
            <a:off x="1285875" y="1091305"/>
            <a:ext cx="6094878" cy="2120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逻辑指令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1)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逻辑运算指令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AND OR NOT XOR TEST 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2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）移位指令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分清算术、逻辑、循环等几种不同类型的移位指令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FF4D5D-DCC9-479F-856E-B227F57BDF57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E37BFFA-6ED0-4DC8-84B1-985C561B256D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2A15C0-2426-4988-B35A-135635980935}"/>
              </a:ext>
            </a:extLst>
          </p:cNvPr>
          <p:cNvSpPr txBox="1"/>
          <p:nvPr/>
        </p:nvSpPr>
        <p:spPr>
          <a:xfrm>
            <a:off x="2213723" y="3442221"/>
            <a:ext cx="6094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shl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逻辑左移    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sal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算术左移（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=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shl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</a:p>
          <a:p>
            <a:pPr algn="l"/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shr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逻辑右移   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sar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算术右移（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=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shr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</a:p>
          <a:p>
            <a:pPr algn="l"/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rol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循环左移   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ror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循环右移</a:t>
            </a:r>
          </a:p>
        </p:txBody>
      </p:sp>
    </p:spTree>
    <p:extLst>
      <p:ext uri="{BB962C8B-B14F-4D97-AF65-F5344CB8AC3E}">
        <p14:creationId xmlns:p14="http://schemas.microsoft.com/office/powerpoint/2010/main" val="398436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648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ym typeface="+mn-lt"/>
              </a:rPr>
              <a:t>计算（</a:t>
            </a:r>
            <a:r>
              <a:rPr lang="en-US" altLang="zh-CN" sz="2400" dirty="0">
                <a:sym typeface="+mn-lt"/>
              </a:rPr>
              <a:t>V-</a:t>
            </a:r>
            <a:r>
              <a:rPr lang="zh-CN" altLang="en-US" sz="2400" dirty="0">
                <a:sym typeface="+mn-lt"/>
              </a:rPr>
              <a:t>（</a:t>
            </a:r>
            <a:r>
              <a:rPr lang="en-US" altLang="zh-CN" sz="2400" dirty="0">
                <a:sym typeface="+mn-lt"/>
              </a:rPr>
              <a:t>X*Y+Z-540))/X</a:t>
            </a:r>
            <a:r>
              <a:rPr lang="zh-CN" altLang="en-US" sz="2400" dirty="0">
                <a:sym typeface="+mn-lt"/>
              </a:rPr>
              <a:t>，其中</a:t>
            </a:r>
            <a:r>
              <a:rPr lang="en-US" altLang="zh-CN" sz="2400" dirty="0">
                <a:sym typeface="+mn-lt"/>
              </a:rPr>
              <a:t>X</a:t>
            </a:r>
            <a:r>
              <a:rPr lang="zh-CN" altLang="en-US" sz="2400" dirty="0">
                <a:sym typeface="+mn-lt"/>
              </a:rPr>
              <a:t>、</a:t>
            </a:r>
            <a:r>
              <a:rPr lang="en-US" altLang="zh-CN" sz="2400" dirty="0">
                <a:sym typeface="+mn-lt"/>
              </a:rPr>
              <a:t>Y</a:t>
            </a:r>
            <a:r>
              <a:rPr lang="zh-CN" altLang="en-US" sz="2400" dirty="0">
                <a:sym typeface="+mn-lt"/>
              </a:rPr>
              <a:t>、</a:t>
            </a:r>
            <a:r>
              <a:rPr lang="en-US" altLang="zh-CN" sz="2400" dirty="0">
                <a:sym typeface="+mn-lt"/>
              </a:rPr>
              <a:t>Z</a:t>
            </a:r>
            <a:r>
              <a:rPr lang="zh-CN" altLang="en-US" sz="2400" dirty="0">
                <a:sym typeface="+mn-lt"/>
              </a:rPr>
              <a:t>、</a:t>
            </a:r>
            <a:r>
              <a:rPr lang="en-US" altLang="zh-CN" sz="2400" dirty="0">
                <a:sym typeface="+mn-lt"/>
              </a:rPr>
              <a:t>V</a:t>
            </a:r>
            <a:r>
              <a:rPr lang="zh-CN" altLang="en-US" sz="2400" dirty="0">
                <a:sym typeface="+mn-lt"/>
              </a:rPr>
              <a:t>均为</a:t>
            </a:r>
            <a:r>
              <a:rPr lang="en-US" altLang="zh-CN" sz="2400" dirty="0">
                <a:sym typeface="+mn-lt"/>
              </a:rPr>
              <a:t>16</a:t>
            </a:r>
            <a:r>
              <a:rPr lang="zh-CN" altLang="en-US" sz="2400" dirty="0">
                <a:sym typeface="+mn-lt"/>
              </a:rPr>
              <a:t>位带符号数，假设初始数据分别装入</a:t>
            </a:r>
            <a:r>
              <a:rPr lang="en-US" altLang="zh-CN" sz="2400" dirty="0">
                <a:sym typeface="+mn-lt"/>
              </a:rPr>
              <a:t>X</a:t>
            </a:r>
            <a:r>
              <a:rPr lang="zh-CN" altLang="en-US" sz="2400" dirty="0">
                <a:sym typeface="+mn-lt"/>
              </a:rPr>
              <a:t>，</a:t>
            </a:r>
            <a:r>
              <a:rPr lang="en-US" altLang="zh-CN" sz="2400" dirty="0">
                <a:sym typeface="+mn-lt"/>
              </a:rPr>
              <a:t>Y</a:t>
            </a:r>
            <a:r>
              <a:rPr lang="zh-CN" altLang="en-US" sz="2400" dirty="0">
                <a:sym typeface="+mn-lt"/>
              </a:rPr>
              <a:t>，</a:t>
            </a:r>
            <a:r>
              <a:rPr lang="en-US" altLang="zh-CN" sz="2400" dirty="0">
                <a:sym typeface="+mn-lt"/>
              </a:rPr>
              <a:t>Z</a:t>
            </a:r>
            <a:r>
              <a:rPr lang="zh-CN" altLang="en-US" sz="2400" dirty="0">
                <a:sym typeface="+mn-lt"/>
              </a:rPr>
              <a:t>，</a:t>
            </a:r>
            <a:r>
              <a:rPr lang="en-US" altLang="zh-CN" sz="2400" dirty="0">
                <a:sym typeface="+mn-lt"/>
              </a:rPr>
              <a:t>V</a:t>
            </a:r>
            <a:r>
              <a:rPr lang="zh-CN" altLang="en-US" sz="2400" dirty="0">
                <a:sym typeface="+mn-lt"/>
              </a:rPr>
              <a:t>单元，要求将计算的结果放入以</a:t>
            </a:r>
            <a:r>
              <a:rPr lang="en-US" altLang="zh-CN" sz="2400" dirty="0" err="1">
                <a:sym typeface="+mn-lt"/>
              </a:rPr>
              <a:t>ans</a:t>
            </a:r>
            <a:r>
              <a:rPr lang="zh-CN" altLang="en-US" sz="2400" dirty="0">
                <a:sym typeface="+mn-lt"/>
              </a:rPr>
              <a:t>为首地址的缓冲器区中</a:t>
            </a:r>
          </a:p>
          <a:p>
            <a:endParaRPr lang="en-US" altLang="zh-CN" sz="2400" dirty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2. </a:t>
            </a:r>
            <a:r>
              <a:rPr lang="zh-CN" altLang="en-US" sz="2400" dirty="0">
                <a:sym typeface="+mn-lt"/>
              </a:rPr>
              <a:t>不使用乘法</a:t>
            </a:r>
            <a:r>
              <a:rPr lang="zh-CN" altLang="en-US" sz="2400" dirty="0"/>
              <a:t>指令编写一个汇编程序用于计算：AX×21，假设乘积不超过</a:t>
            </a:r>
            <a:r>
              <a:rPr lang="en-US" altLang="zh-CN" sz="2400" dirty="0"/>
              <a:t>16</a:t>
            </a:r>
            <a:r>
              <a:rPr lang="zh-CN" altLang="en-US" sz="2400" dirty="0"/>
              <a:t>位。提示：21＝2</a:t>
            </a:r>
            <a:r>
              <a:rPr lang="zh-CN" altLang="en-US" sz="2400" baseline="30000" dirty="0"/>
              <a:t>4</a:t>
            </a:r>
            <a:r>
              <a:rPr lang="zh-CN" altLang="en-US" sz="2400" dirty="0"/>
              <a:t>＋2</a:t>
            </a:r>
            <a:r>
              <a:rPr lang="zh-CN" altLang="en-US" sz="2400" baseline="30000" dirty="0"/>
              <a:t>2</a:t>
            </a:r>
            <a:r>
              <a:rPr lang="zh-CN" altLang="en-US" sz="2400" dirty="0"/>
              <a:t>＋2</a:t>
            </a:r>
            <a:r>
              <a:rPr lang="zh-CN" altLang="en-US" sz="2400" baseline="30000" dirty="0"/>
              <a:t>0</a:t>
            </a:r>
            <a:endParaRPr lang="en-US" altLang="zh-CN" sz="2400" baseline="300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利用移位指令，左移或右移</a:t>
            </a:r>
            <a:r>
              <a:rPr lang="en-US" altLang="zh-CN" sz="2400" dirty="0">
                <a:sym typeface="+mn-lt"/>
              </a:rPr>
              <a:t>n</a:t>
            </a:r>
            <a:r>
              <a:rPr lang="zh-CN" altLang="en-US" sz="2400" dirty="0">
                <a:sym typeface="+mn-lt"/>
              </a:rPr>
              <a:t>位可以放大或缩小</a:t>
            </a:r>
            <a:r>
              <a:rPr lang="zh-CN" altLang="en-US" sz="2400" dirty="0"/>
              <a:t>2</a:t>
            </a:r>
            <a:r>
              <a:rPr lang="en-US" altLang="zh-CN" sz="2400" baseline="30000" dirty="0"/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算术移位 </a:t>
            </a:r>
            <a:r>
              <a:rPr lang="en-US" altLang="zh-CN" sz="2400" dirty="0">
                <a:sym typeface="+mn-lt"/>
              </a:rPr>
              <a:t>or </a:t>
            </a:r>
            <a:r>
              <a:rPr lang="zh-CN" altLang="en-US" sz="2400" dirty="0">
                <a:sym typeface="+mn-lt"/>
              </a:rPr>
              <a:t>逻辑移位？</a:t>
            </a: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例如数据 </a:t>
            </a:r>
            <a:r>
              <a:rPr lang="en-US" altLang="zh-CN" sz="2400" dirty="0">
                <a:sym typeface="+mn-lt"/>
              </a:rPr>
              <a:t>AX=00011100,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          SHL AX</a:t>
            </a:r>
            <a:r>
              <a:rPr lang="zh-CN" altLang="en-US" sz="2400" dirty="0">
                <a:sym typeface="+mn-lt"/>
              </a:rPr>
              <a:t>，</a:t>
            </a:r>
            <a:r>
              <a:rPr lang="en-US" altLang="zh-CN" sz="2400" dirty="0">
                <a:sym typeface="+mn-lt"/>
              </a:rPr>
              <a:t>3   </a:t>
            </a:r>
            <a:r>
              <a:rPr lang="zh-CN" altLang="en-US" sz="2400" dirty="0">
                <a:sym typeface="+mn-lt"/>
              </a:rPr>
              <a:t>则</a:t>
            </a:r>
            <a:r>
              <a:rPr lang="en-US" altLang="zh-CN" sz="2400" dirty="0">
                <a:sym typeface="+mn-lt"/>
              </a:rPr>
              <a:t>AX=11100000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432</Words>
  <Application>Microsoft Office PowerPoint</Application>
  <PresentationFormat>宽屏</PresentationFormat>
  <Paragraphs>64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-apple-system</vt:lpstr>
      <vt:lpstr>方正粗谭黑简体</vt:lpstr>
      <vt:lpstr>等线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Kim Jisso</cp:lastModifiedBy>
  <cp:revision>127</cp:revision>
  <dcterms:created xsi:type="dcterms:W3CDTF">2019-06-11T09:29:47Z</dcterms:created>
  <dcterms:modified xsi:type="dcterms:W3CDTF">2021-03-31T08:37:16Z</dcterms:modified>
</cp:coreProperties>
</file>