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76" r:id="rId3"/>
    <p:sldId id="313" r:id="rId4"/>
    <p:sldId id="314" r:id="rId5"/>
    <p:sldId id="316" r:id="rId6"/>
    <p:sldId id="312" r:id="rId7"/>
    <p:sldId id="317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92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11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257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实验十三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子程序设计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93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293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熟悉汇编语言程序子程序设计方法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了解汇编语言程序设计参数传递方法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100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EF0C1B-D8FE-4118-AD8F-23F7973EEA4C}"/>
              </a:ext>
            </a:extLst>
          </p:cNvPr>
          <p:cNvSpPr txBox="1"/>
          <p:nvPr/>
        </p:nvSpPr>
        <p:spPr>
          <a:xfrm>
            <a:off x="1068089" y="860841"/>
            <a:ext cx="413528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1.</a:t>
            </a:r>
            <a:r>
              <a:rPr lang="zh-CN" altLang="en-US" dirty="0">
                <a:solidFill>
                  <a:srgbClr val="00B050"/>
                </a:solidFill>
              </a:rPr>
              <a:t>子程序定义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proc [near/far]</a:t>
            </a: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      </a:t>
            </a:r>
            <a:r>
              <a:rPr lang="zh-CN" altLang="en-US" dirty="0"/>
              <a:t>过程体</a:t>
            </a:r>
            <a:endParaRPr lang="en-US" altLang="zh-CN" dirty="0"/>
          </a:p>
          <a:p>
            <a:r>
              <a:rPr lang="en-US" altLang="zh-CN" dirty="0"/>
              <a:t>       </a:t>
            </a:r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endp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调用程序和过程在统一个代码段，用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near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属性，不在一个代码段用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far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属性，默认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near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C24557-3CBB-438B-8B29-9422510817AC}"/>
              </a:ext>
            </a:extLst>
          </p:cNvPr>
          <p:cNvSpPr/>
          <p:nvPr/>
        </p:nvSpPr>
        <p:spPr>
          <a:xfrm>
            <a:off x="1118890" y="4045236"/>
            <a:ext cx="245451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2.</a:t>
            </a:r>
            <a:r>
              <a:rPr lang="zh-CN" altLang="en-US" dirty="0">
                <a:solidFill>
                  <a:srgbClr val="00B050"/>
                </a:solidFill>
              </a:rPr>
              <a:t>子程序的调用与返回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调用：</a:t>
            </a:r>
            <a:r>
              <a:rPr lang="en-US" altLang="zh-CN" dirty="0">
                <a:solidFill>
                  <a:schemeClr val="accent1"/>
                </a:solidFill>
              </a:rPr>
              <a:t>CALL</a:t>
            </a:r>
          </a:p>
          <a:p>
            <a:r>
              <a:rPr lang="zh-CN" altLang="en-US" dirty="0">
                <a:solidFill>
                  <a:srgbClr val="00B050"/>
                </a:solidFill>
              </a:rPr>
              <a:t>返回：</a:t>
            </a:r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55B449-3C73-42AE-B5CC-E364AFAC2428}"/>
              </a:ext>
            </a:extLst>
          </p:cNvPr>
          <p:cNvSpPr/>
          <p:nvPr/>
        </p:nvSpPr>
        <p:spPr>
          <a:xfrm>
            <a:off x="5530540" y="868650"/>
            <a:ext cx="2916183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3.</a:t>
            </a:r>
            <a:r>
              <a:rPr lang="zh-CN" altLang="en-US" dirty="0">
                <a:solidFill>
                  <a:srgbClr val="00B050"/>
                </a:solidFill>
              </a:rPr>
              <a:t>子程序的现场保护与恢复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过程名 </a:t>
            </a:r>
            <a:r>
              <a:rPr lang="en-US" altLang="zh-CN" dirty="0">
                <a:solidFill>
                  <a:schemeClr val="accent1"/>
                </a:solidFill>
              </a:rPr>
              <a:t>PROC NEAR</a:t>
            </a: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PUSH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AX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PUSH BX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PUSH CX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…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CX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BX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POP AX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RET</a:t>
            </a:r>
          </a:p>
          <a:p>
            <a:r>
              <a:rPr lang="zh-CN" altLang="en-US" dirty="0">
                <a:solidFill>
                  <a:schemeClr val="accent1"/>
                </a:solidFill>
              </a:rPr>
              <a:t>过程名 </a:t>
            </a:r>
            <a:r>
              <a:rPr lang="en-US" altLang="zh-CN" dirty="0">
                <a:solidFill>
                  <a:schemeClr val="accent1"/>
                </a:solidFill>
              </a:rPr>
              <a:t>ENDP</a:t>
            </a: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59649E-E504-48F6-950F-04D698122284}"/>
              </a:ext>
            </a:extLst>
          </p:cNvPr>
          <p:cNvSpPr/>
          <p:nvPr/>
        </p:nvSpPr>
        <p:spPr>
          <a:xfrm>
            <a:off x="5282736" y="4342779"/>
            <a:ext cx="6737742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4.</a:t>
            </a:r>
            <a:r>
              <a:rPr lang="zh-CN" altLang="en-US" dirty="0">
                <a:solidFill>
                  <a:srgbClr val="00B050"/>
                </a:solidFill>
              </a:rPr>
              <a:t>子程序的说明部分：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1</a:t>
            </a:r>
            <a:r>
              <a:rPr lang="zh-CN" altLang="en-US" dirty="0">
                <a:solidFill>
                  <a:srgbClr val="00B050"/>
                </a:solidFill>
              </a:rPr>
              <a:t>）子程序的功能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2</a:t>
            </a:r>
            <a:r>
              <a:rPr lang="zh-CN" altLang="en-US" dirty="0">
                <a:solidFill>
                  <a:srgbClr val="00B050"/>
                </a:solidFill>
              </a:rPr>
              <a:t>）子程序的入口参数：说明子程序运行所需参数及存放位置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3</a:t>
            </a:r>
            <a:r>
              <a:rPr lang="zh-CN" altLang="en-US" dirty="0">
                <a:solidFill>
                  <a:srgbClr val="00B050"/>
                </a:solidFill>
              </a:rPr>
              <a:t>）子程序的出口参数：说明子程序运行结果的参数及存放位置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4</a:t>
            </a:r>
            <a:r>
              <a:rPr lang="zh-CN" altLang="en-US" dirty="0">
                <a:solidFill>
                  <a:srgbClr val="00B050"/>
                </a:solidFill>
              </a:rPr>
              <a:t>）子程序所占用的寄存器和存储单元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5</a:t>
            </a:r>
            <a:r>
              <a:rPr lang="zh-CN" altLang="en-US" dirty="0">
                <a:solidFill>
                  <a:srgbClr val="00B050"/>
                </a:solidFill>
              </a:rPr>
              <a:t>）子程序调用示例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48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4EF0C1B-D8FE-4118-AD8F-23F7973EEA4C}"/>
              </a:ext>
            </a:extLst>
          </p:cNvPr>
          <p:cNvSpPr txBox="1"/>
          <p:nvPr/>
        </p:nvSpPr>
        <p:spPr>
          <a:xfrm>
            <a:off x="1068089" y="860841"/>
            <a:ext cx="92805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5.</a:t>
            </a:r>
            <a:r>
              <a:rPr lang="zh-CN" altLang="en-US" dirty="0">
                <a:solidFill>
                  <a:srgbClr val="00B050"/>
                </a:solidFill>
              </a:rPr>
              <a:t>子程序的参数传递方法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1</a:t>
            </a:r>
            <a:r>
              <a:rPr lang="zh-CN" altLang="en-US" dirty="0">
                <a:solidFill>
                  <a:srgbClr val="00B050"/>
                </a:solidFill>
              </a:rPr>
              <a:t>）寄存器传递参数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）存储器单元（变量）传递参数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    </a:t>
            </a:r>
            <a:r>
              <a:rPr lang="zh-CN" altLang="en-US" dirty="0">
                <a:solidFill>
                  <a:srgbClr val="00B050"/>
                </a:solidFill>
              </a:rPr>
              <a:t>在主程序调用子程序前，将入口参数存放到约定的存储单元中；子程序运行时到约定的存储单元中读取参数；子程序执行结束后将结果也放在约定存储单元中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en-US" altLang="zh-CN" dirty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）用堆栈传递参数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246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637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完成以下题目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2~1000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范围内的一个十进制数，并判断这个数是否为素数，要求分模块编写子程序实现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INPUT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子程序：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功能：实现从键盘输入一个十进制数，并存储在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AX/BX/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某内存单元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….</a:t>
            </a:r>
          </a:p>
          <a:p>
            <a:r>
              <a:rPr lang="zh-CN" altLang="en-US" sz="2400" dirty="0">
                <a:solidFill>
                  <a:srgbClr val="00B050"/>
                </a:solidFill>
              </a:rPr>
              <a:t>   入口参数：无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zh-CN" altLang="en-US" sz="2400" dirty="0">
                <a:solidFill>
                  <a:srgbClr val="00B050"/>
                </a:solidFill>
                <a:sym typeface="+mn-lt"/>
              </a:rPr>
              <a:t>   出口参数：</a:t>
            </a:r>
            <a:r>
              <a:rPr lang="en-US" altLang="zh-CN" sz="2400" dirty="0">
                <a:solidFill>
                  <a:srgbClr val="00B050"/>
                </a:solidFill>
                <a:sym typeface="+mn-lt"/>
              </a:rPr>
              <a:t>AX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ISPrime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子程序：</a:t>
            </a:r>
            <a:b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判断***寄存器或内存地址***中存储的数据是否为素数，并将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FLAG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所指向地址置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或者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rgbClr val="00B050"/>
                </a:solidFill>
              </a:rPr>
              <a:t>入口参数：</a:t>
            </a:r>
            <a:r>
              <a:rPr lang="en-US" altLang="zh-CN" sz="2400" dirty="0">
                <a:solidFill>
                  <a:srgbClr val="00B050"/>
                </a:solidFill>
              </a:rPr>
              <a:t>AX</a:t>
            </a:r>
            <a:r>
              <a:rPr lang="zh-CN" altLang="en-US" sz="2400" dirty="0">
                <a:solidFill>
                  <a:srgbClr val="00B050"/>
                </a:solidFill>
              </a:rPr>
              <a:t>（或某个内存地址，或约定的某个寄存器）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en-US" altLang="zh-CN" sz="2400" dirty="0">
                <a:solidFill>
                  <a:srgbClr val="00B050"/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rgbClr val="00B050"/>
                </a:solidFill>
                <a:cs typeface="+mn-ea"/>
                <a:sym typeface="+mn-lt"/>
              </a:rPr>
              <a:t>出口参数：</a:t>
            </a:r>
            <a:r>
              <a:rPr lang="en-US" altLang="zh-CN" sz="2400" dirty="0">
                <a:solidFill>
                  <a:srgbClr val="00B050"/>
                </a:solidFill>
                <a:cs typeface="+mn-ea"/>
                <a:sym typeface="+mn-lt"/>
              </a:rPr>
              <a:t>FLAG</a:t>
            </a: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主程序：</a:t>
            </a:r>
            <a:b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INPUT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调用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ISPrime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---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FLAG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值输出相应结果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2400" dirty="0">
                <a:solidFill>
                  <a:srgbClr val="00B050"/>
                </a:solidFill>
                <a:cs typeface="+mn-ea"/>
                <a:sym typeface="+mn-lt"/>
              </a:rPr>
              <a:t> 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171C872-71AE-4131-A916-A45D31FB9AEE}"/>
              </a:ext>
            </a:extLst>
          </p:cNvPr>
          <p:cNvSpPr txBox="1"/>
          <p:nvPr/>
        </p:nvSpPr>
        <p:spPr>
          <a:xfrm>
            <a:off x="808503" y="235890"/>
            <a:ext cx="1003654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（选作）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从终端输入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个十进制数成绩，并从大小排序后输出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提示：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数据段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800" dirty="0">
                <a:solidFill>
                  <a:schemeClr val="accent6"/>
                </a:solidFill>
                <a:cs typeface="+mn-ea"/>
                <a:sym typeface="+mn-lt"/>
              </a:rPr>
              <a:t>    </a:t>
            </a:r>
          </a:p>
          <a:p>
            <a:r>
              <a:rPr lang="en-US" altLang="zh-CN" i="0" dirty="0">
                <a:solidFill>
                  <a:schemeClr val="accent6"/>
                </a:solidFill>
                <a:effectLst/>
                <a:latin typeface="Source Code Pro" panose="020B0604020202020204" pitchFamily="49" charset="0"/>
                <a:cs typeface="+mn-ea"/>
                <a:sym typeface="+mn-lt"/>
              </a:rPr>
              <a:t>  </a:t>
            </a:r>
            <a:r>
              <a:rPr lang="en-US" altLang="zh-CN" i="0" dirty="0">
                <a:solidFill>
                  <a:schemeClr val="accent6"/>
                </a:solidFill>
                <a:effectLst/>
                <a:latin typeface="Source Code Pro" panose="020B0604020202020204" pitchFamily="49" charset="0"/>
              </a:rPr>
              <a:t>NUMBERS DB 10 DUP(?) ;</a:t>
            </a:r>
            <a:endParaRPr lang="en-US" altLang="zh-CN" sz="1800" dirty="0">
              <a:solidFill>
                <a:schemeClr val="accent6"/>
              </a:solidFill>
              <a:cs typeface="+mn-ea"/>
              <a:sym typeface="+mn-lt"/>
            </a:endParaRPr>
          </a:p>
          <a:p>
            <a:endParaRPr lang="en-US" altLang="zh-CN" sz="1800" dirty="0"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参考题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INPUT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子程序写法输入第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个十进制数并存入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NUMBERS[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]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内存单元中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(0&lt;=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&lt;=9)</a:t>
            </a:r>
          </a:p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SORT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子程序，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NUMBERS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所指向的连续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个存储单元进行冒泡排序（简单排序）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编写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OUTPUT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子程序将数值以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进制方式输出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对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NUMBERS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所指向的连续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个存储单元数据分别调用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OUTPUT</a:t>
            </a:r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子程序，输出数值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80685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13320</TotalTime>
  <Words>525</Words>
  <Application>Microsoft Office PowerPoint</Application>
  <PresentationFormat>宽屏</PresentationFormat>
  <Paragraphs>77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方正粗谭黑简体</vt:lpstr>
      <vt:lpstr>Arial</vt:lpstr>
      <vt:lpstr>Calibri</vt:lpstr>
      <vt:lpstr>Source Code Pro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180</cp:revision>
  <dcterms:created xsi:type="dcterms:W3CDTF">2019-06-11T09:29:47Z</dcterms:created>
  <dcterms:modified xsi:type="dcterms:W3CDTF">2021-05-26T02:42:41Z</dcterms:modified>
</cp:coreProperties>
</file>