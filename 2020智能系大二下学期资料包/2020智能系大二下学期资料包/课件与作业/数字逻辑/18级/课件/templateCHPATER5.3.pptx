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xml" ContentType="application/inkml+xml"/>
  <Override PartName="/ppt/notesSlides/notesSlide39.xml" ContentType="application/vnd.openxmlformats-officedocument.presentationml.notesSlide+xml"/>
  <Override PartName="/ppt/ink/ink2.xml" ContentType="application/inkml+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ink/ink3.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4.xml" ContentType="application/inkml+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6" r:id="rId1"/>
  </p:sldMasterIdLst>
  <p:notesMasterIdLst>
    <p:notesMasterId r:id="rId65"/>
  </p:notesMasterIdLst>
  <p:handoutMasterIdLst>
    <p:handoutMasterId r:id="rId66"/>
  </p:handoutMasterIdLst>
  <p:sldIdLst>
    <p:sldId id="256" r:id="rId2"/>
    <p:sldId id="323" r:id="rId3"/>
    <p:sldId id="324" r:id="rId4"/>
    <p:sldId id="325" r:id="rId5"/>
    <p:sldId id="422" r:id="rId6"/>
    <p:sldId id="423" r:id="rId7"/>
    <p:sldId id="425" r:id="rId8"/>
    <p:sldId id="424" r:id="rId9"/>
    <p:sldId id="327" r:id="rId10"/>
    <p:sldId id="328" r:id="rId11"/>
    <p:sldId id="329" r:id="rId12"/>
    <p:sldId id="427" r:id="rId13"/>
    <p:sldId id="426" r:id="rId14"/>
    <p:sldId id="330" r:id="rId15"/>
    <p:sldId id="331" r:id="rId16"/>
    <p:sldId id="333" r:id="rId17"/>
    <p:sldId id="335" r:id="rId18"/>
    <p:sldId id="336" r:id="rId19"/>
    <p:sldId id="338" r:id="rId20"/>
    <p:sldId id="428" r:id="rId21"/>
    <p:sldId id="429" r:id="rId22"/>
    <p:sldId id="392" r:id="rId23"/>
    <p:sldId id="353" r:id="rId24"/>
    <p:sldId id="354" r:id="rId25"/>
    <p:sldId id="493" r:id="rId26"/>
    <p:sldId id="355" r:id="rId27"/>
    <p:sldId id="356" r:id="rId28"/>
    <p:sldId id="357" r:id="rId29"/>
    <p:sldId id="358" r:id="rId30"/>
    <p:sldId id="359" r:id="rId31"/>
    <p:sldId id="505" r:id="rId32"/>
    <p:sldId id="506" r:id="rId33"/>
    <p:sldId id="360" r:id="rId34"/>
    <p:sldId id="507" r:id="rId35"/>
    <p:sldId id="509" r:id="rId36"/>
    <p:sldId id="508" r:id="rId37"/>
    <p:sldId id="362" r:id="rId38"/>
    <p:sldId id="363" r:id="rId39"/>
    <p:sldId id="515" r:id="rId40"/>
    <p:sldId id="510" r:id="rId41"/>
    <p:sldId id="511" r:id="rId42"/>
    <p:sldId id="512" r:id="rId43"/>
    <p:sldId id="513" r:id="rId44"/>
    <p:sldId id="514" r:id="rId45"/>
    <p:sldId id="364" r:id="rId46"/>
    <p:sldId id="534" r:id="rId47"/>
    <p:sldId id="516" r:id="rId48"/>
    <p:sldId id="517" r:id="rId49"/>
    <p:sldId id="518" r:id="rId50"/>
    <p:sldId id="519" r:id="rId51"/>
    <p:sldId id="520" r:id="rId52"/>
    <p:sldId id="369" r:id="rId53"/>
    <p:sldId id="521" r:id="rId54"/>
    <p:sldId id="522" r:id="rId55"/>
    <p:sldId id="523" r:id="rId56"/>
    <p:sldId id="524" r:id="rId57"/>
    <p:sldId id="525" r:id="rId58"/>
    <p:sldId id="526" r:id="rId59"/>
    <p:sldId id="527" r:id="rId60"/>
    <p:sldId id="528" r:id="rId61"/>
    <p:sldId id="529" r:id="rId62"/>
    <p:sldId id="530" r:id="rId63"/>
    <p:sldId id="531" r:id="rId64"/>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charset="0"/>
        <a:ea typeface="+mn-ea"/>
        <a:cs typeface="+mn-cs"/>
      </a:defRPr>
    </a:lvl1pPr>
    <a:lvl2pPr marL="457200" algn="l" rtl="0" eaLnBrk="0" fontAlgn="base" hangingPunct="0">
      <a:spcBef>
        <a:spcPct val="0"/>
      </a:spcBef>
      <a:spcAft>
        <a:spcPct val="0"/>
      </a:spcAft>
      <a:defRPr sz="2400" b="1" kern="1200">
        <a:solidFill>
          <a:schemeClr val="tx1"/>
        </a:solidFill>
        <a:latin typeface="Arial" charset="0"/>
        <a:ea typeface="+mn-ea"/>
        <a:cs typeface="+mn-cs"/>
      </a:defRPr>
    </a:lvl2pPr>
    <a:lvl3pPr marL="914400" algn="l" rtl="0" eaLnBrk="0" fontAlgn="base" hangingPunct="0">
      <a:spcBef>
        <a:spcPct val="0"/>
      </a:spcBef>
      <a:spcAft>
        <a:spcPct val="0"/>
      </a:spcAft>
      <a:defRPr sz="2400" b="1" kern="1200">
        <a:solidFill>
          <a:schemeClr val="tx1"/>
        </a:solidFill>
        <a:latin typeface="Arial" charset="0"/>
        <a:ea typeface="+mn-ea"/>
        <a:cs typeface="+mn-cs"/>
      </a:defRPr>
    </a:lvl3pPr>
    <a:lvl4pPr marL="1371600" algn="l" rtl="0" eaLnBrk="0" fontAlgn="base" hangingPunct="0">
      <a:spcBef>
        <a:spcPct val="0"/>
      </a:spcBef>
      <a:spcAft>
        <a:spcPct val="0"/>
      </a:spcAft>
      <a:defRPr sz="2400" b="1" kern="1200">
        <a:solidFill>
          <a:schemeClr val="tx1"/>
        </a:solidFill>
        <a:latin typeface="Arial" charset="0"/>
        <a:ea typeface="+mn-ea"/>
        <a:cs typeface="+mn-cs"/>
      </a:defRPr>
    </a:lvl4pPr>
    <a:lvl5pPr marL="1828800" algn="l" rtl="0" eaLnBrk="0" fontAlgn="base" hangingPunct="0">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congLin" initials="J" lastIdx="2" clrIdx="0">
    <p:extLst>
      <p:ext uri="{19B8F6BF-5375-455C-9EA6-DF929625EA0E}">
        <p15:presenceInfo xmlns:p15="http://schemas.microsoft.com/office/powerpoint/2012/main" userId="JuncongL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FF"/>
    <a:srgbClr val="CC9900"/>
    <a:srgbClr val="990066"/>
    <a:srgbClr val="FF00CC"/>
    <a:srgbClr val="FFCC66"/>
    <a:srgbClr val="FFFFFF"/>
    <a:srgbClr val="336633"/>
    <a:srgbClr val="00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85" autoAdjust="0"/>
    <p:restoredTop sz="78928" autoAdjust="0"/>
  </p:normalViewPr>
  <p:slideViewPr>
    <p:cSldViewPr>
      <p:cViewPr varScale="1">
        <p:scale>
          <a:sx n="68" d="100"/>
          <a:sy n="68" d="100"/>
        </p:scale>
        <p:origin x="1656" y="6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33" d="100"/>
          <a:sy n="33" d="100"/>
        </p:scale>
        <p:origin x="-1052" y="-7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image" Target="../media/image34.png"/></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b="0" i="1"/>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b="0" i="1"/>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b="0" i="1"/>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b="0" i="1"/>
            </a:lvl1pPr>
          </a:lstStyle>
          <a:p>
            <a:pPr>
              <a:defRPr/>
            </a:pPr>
            <a:fld id="{6F9760AB-977F-4615-82F3-8DF55A68E5D6}" type="slidenum">
              <a:rPr lang="en-US" altLang="zh-CN"/>
              <a:pPr>
                <a:defRPr/>
              </a:pPr>
              <a:t>‹#›</a:t>
            </a:fld>
            <a:endParaRPr lang="en-US" altLang="zh-CN"/>
          </a:p>
        </p:txBody>
      </p:sp>
      <p:sp>
        <p:nvSpPr>
          <p:cNvPr id="3078" name="Rectangle 6"/>
          <p:cNvSpPr>
            <a:spLocks noChangeArrowheads="1"/>
          </p:cNvSpPr>
          <p:nvPr/>
        </p:nvSpPr>
        <p:spPr bwMode="auto">
          <a:xfrm>
            <a:off x="6388100" y="8748713"/>
            <a:ext cx="401638" cy="304800"/>
          </a:xfrm>
          <a:prstGeom prst="rect">
            <a:avLst/>
          </a:prstGeom>
          <a:noFill/>
          <a:ln w="9525">
            <a:noFill/>
            <a:miter lim="800000"/>
            <a:headEnd/>
            <a:tailEnd/>
          </a:ln>
          <a:effectLst/>
        </p:spPr>
        <p:txBody>
          <a:bodyPr wrap="none" lIns="92075" tIns="46038" rIns="92075" bIns="46038" anchor="ctr">
            <a:spAutoFit/>
          </a:bodyPr>
          <a:lstStyle/>
          <a:p>
            <a:pPr algn="r">
              <a:defRPr/>
            </a:pPr>
            <a:fld id="{800E035F-D7FC-48D1-9EAF-D638DB53F1E2}" type="slidenum">
              <a:rPr lang="en-US" altLang="zh-CN" sz="1400" b="0"/>
              <a:pPr algn="r">
                <a:defRPr/>
              </a:pPr>
              <a:t>‹#›</a:t>
            </a:fld>
            <a:endParaRPr lang="en-US" altLang="zh-CN" sz="1400" b="0"/>
          </a:p>
        </p:txBody>
      </p:sp>
    </p:spTree>
    <p:extLst>
      <p:ext uri="{BB962C8B-B14F-4D97-AF65-F5344CB8AC3E}">
        <p14:creationId xmlns:p14="http://schemas.microsoft.com/office/powerpoint/2010/main" val="116439461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18-07-26T08:17:50.999"/>
    </inkml:context>
    <inkml:brush xml:id="br0">
      <inkml:brushProperty name="width" value="0.05292" units="cm"/>
      <inkml:brushProperty name="height" value="0.05292" units="cm"/>
    </inkml:brush>
  </inkml:definitions>
  <inkml:trace contextRef="#ctx0" brushRef="#br0">12858 7504 0,'0'-26'343,"0"0"-296,52 26-15,-26 0-1,1-26-31,-1 26 47,0-27-32,-26 1 1,26 26-16,-26-26 47,27 0-32,-1-1 1,0-25 31,0 52 0,1 0-16,-1 0-31,0 0 47,0 0-31,0 0-16,1 0 15,-1 0 1,0 0-1,0 0 1,1 0 0,-1 26-1,26 27 1,-25-27 0,-1-26-1,79 0 16,-79 0 16,27 0-31,-53 26-16,26 0 16,0-26-1,0 27 16,1-1-31,-27 0 16,0 0 15,0 1-31,0-1 32,0 0-32,-27 27 15,-25-27 1,26 0-1,-1 26 1,1-25 0,-26 25-1,25-52 1,-25 53 15,52-27-15,-53 0-1,1 0 17,-1 1-17,53-1 188,0 0-171,0 0 46,0 1-63,-26-27 64,26 26-64,0 0 32,0 0 62,0 1-30,0-1 155,0 0-234,0 0 16,0 1-1</inkml:trace>
  <inkml:trace contextRef="#ctx0" brushRef="#br0" timeOffset="2174.331">13409 8633 0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18-07-26T08:19:37.082"/>
    </inkml:context>
    <inkml:brush xml:id="br0">
      <inkml:brushProperty name="width" value="0.05292" units="cm"/>
      <inkml:brushProperty name="height" value="0.05292" units="cm"/>
    </inkml:brush>
  </inkml:definitions>
  <inkml:trace contextRef="#ctx0" brushRef="#br0">6429 1810 0,'0'53'296,"26"-27"-280,-26 0-16,26 27 16,1-27-1,-27 0-15,52 0 16,-52 27 0,79 104 15,-53-130-16,0 25 1,-26-26-16,53 53 16,-53-53-16,26 1 31,-26-1-15,0 0-1,0 0 1,0 27-16,26-53 31</inkml:trace>
  <inkml:trace contextRef="#ctx0" brushRef="#br0" timeOffset="2650.829">7321 1732 0,'-26'26'203,"0"0"-187,26 0-16,0 1 15,0-1-15,0 0 16,-27 27-1,27-27 17,-26 0-32,26 0 31,0 0-31,-26-26 16,26 27 15,0-1 16,-26-26-32,-1 26-15,1-26 32,26 26-32,-26-26 31,0 0-31,-1 0 15,1 0 1,-26 0 15,25 0 1,1 27-17,0-27 16,26 26 16,0 0 78,0 0-93,0 1-1,0-1-16,0 0 1,0 0 31,0 1-31,0 51 390,0-51-391,0 51 1,0-51 15,0-1-15,0 0 0,0 26-1,0-25 1,0-1-1,0 0 1,0 27 0,0-27-1,0 0 1,0 0 0,0 1-1,0-1-15,0 0 16,0 0 15,0 1-15,0-1-1,0 26 17,0-25-32</inkml:trace>
  <inkml:trace contextRef="#ctx0" brushRef="#br0" timeOffset="4780.502">7426 2046 0,'26'0'281,"27"0"-281,-27 0 16,0 0-16,0 0 16,79 0-1,-52 0 1,-27 0-16,27 0 15,-1 0 17,-26 0-17,1 0-15,-1 0 32,0 0-17,0 0 63,1 0-31,25 0-47,-26 0 16,1 0-1,25 0 1,-52 27 47,0-1-63,-52 26 31,52 1-16,-53-53 1,1 26 0,-1 0-1,1 1-15,25-1 16,-130 53 15,131-79-15,-27 0-1,1 0 1,25 0 0,1 0-1,0 0 1,0 0 0,0 26-1,26 0 1,-27 0-1,1 27 1,26-27 15,0 0 1,0 1-32,0 25 31,0-26-16,0 0 1,0 27 15,0-1-31,0-25 16,0-1-16,0 0 16,0 0-1,0 27 1,26-27 15,27 0-15,-27-26-1,0 0-15,27 0 32,-27 0-32,53 0 31,-79-26-31,52 26 15,1 0 1,-1 0 0,-26 0-1,27 0 17,-27 0-17,0 0 1,1 0-16,-1 0 15,0 0 64,-26-26-64,0 0 1,0-27-1</inkml:trace>
  <inkml:trace contextRef="#ctx0" brushRef="#br0" timeOffset="6125.488">7610 2361 0,'26'0'407,"0"0"-407,0 0 31,1 27 0,-27-1 0,0 0 16,0 0-31,26-26 46,-26 27-46,26-27 31,0 52-31,1-26-1,-1 1 1,-26-1-1,26 0 1,-26 0 15,0 0-15,0 1-16</inkml:trace>
  <inkml:trace contextRef="#ctx0" brushRef="#br0" timeOffset="146920.128">5825 7557 0,'-52'79'157,"-27"157"-142,27-105-15,-27 105 16,27-105-16,-27 79 15,0-26-15,-183 498 32,131-393-32,-27 314 15,53 158 1,105-472 15,0-79-15,26 210-1,1-132 1,51 1 0,-51-105-1,-1-1 1,26 106 0,27-105-1,-27-1 1,53 27-1,-52-52 1,-1-54 0,27 1 15,-53-78-31,132 78 31,-53 26-15,78-79-1,-51 27 1,261 78 15,-52-25-15,-288-106 0,-1-26-16,27 26 15,26-26 1,52 0-1,27 0 1,-26 0 0,-1-52-1,-78-1 1,-1 1 0,447-394 15,-105-79-16,-210 184 1,157-237 0,-131 132-1,-104 53 1,-132 183 0,0 79-1,0-27 1,0-104-1,-79 52 1,0-79 0,-52 27-1,-26-53 1,78 158 15,26-1-15,-78 27-1,-26-105 1,26 131 0,-79-131 15,105 157-15,0 26-16,-26-51 15,-53-1 1,-52-79-1,157 158 1,-367-184 31,183 105-16,237 52-31,-131 1 31,52-53 1,79 105-32,-1-26 15,1 26 1,-26 0 0,52-27-1,-27-25 1,1 26-16,0-1 15,0 27 1,-1-52 0,-51-132 15,51 79-15,1 53-1,26-27 1,0 27-1,0 25 1,0 80 93,0-27-77</inkml:trace>
  <inkml:trace contextRef="#ctx0" brushRef="#br0" timeOffset="149688.478">8738 14143 0,'105'26'281,"26"27"-265,0-27-16,1 26 15,-1 1-15,26 26 16,27-53-16,183 131 31,-236-130-31,158 77 16,52 28 15,-157-54-15,0-51-1,-1 104 1,-25-79 0,130 53-1,-235-105 1,104 79 0,-26-53-1,-52 0 1,-26 1-1,78 25 1,0-26 0,-79 1-16,53-1 15,158 0 17,52-26-1,-27 0 16,-235 0-47,419-26 47,-393 0-32,26-1-15,-53 27 16,27-26-16,26 0 15,-79 26-15,132-53 16,-1 53 0,-52-26-1,52 0 1,-52 26 0,0 0 15,0 0 0,-52 0 0,-1 0-15,-25 0-16,-1 0 16,0 0-16,0-26 15,1 26 1,-1-26-1,0 26 1,26 0 0,-25 0 15,-27-53 16,0 27-32</inkml:trace>
  <inkml:trace contextRef="#ctx0" brushRef="#br0" timeOffset="151827.806">15692 14799 0,'52'26'297,"0"0"-281,1-26-16,-27 27 0,-26-1 15,53-26 1,-1 0-16,27 26 16,0 0 15,-53 1-16,53 25 1,-27-52 0,1 26-1,25 1 1,-52-1 0,1-26-1,25 0 1,-26 52-1,27 1 17,-1-27-17,-25 0 1,25 1 0,-26-27-1,1 0 1,-1 0-1,-26 26 17,0 0-17,0 0 1,-26-26 15,26 26-15,-53 1-1,1-1 1,-1 0 0,1-26-16,25 0 15,-51 0 1,-27 0 15,52 0-15,1 0-1,26 0 1,-53 0 0,0 0-1,27 0 1,25 0 0,1 0-1,-26 0 16,25 0-15,1 0 0,0 0-16</inkml:trace>
  <inkml:trace contextRef="#ctx0" brushRef="#br0" timeOffset="-128276.536">16085 4067 0,'-52'0'203,"25"26"-187,1-26-16,-26 0 15,25 0 17,1 0-32,0 0 15,0 0 1,-237 210-1,1-52 1,-27 104 0,106-105-1,78-52 1,78-78 0,1 25-1,0 27 1,26-27-1,26 211 32,-26-211-31,26 184 0,-26-183-1,0-1 1,0 1-16,0 25 15,0-51 1,0 104 0,0-105-1,0 53 1,-52 26 0,52 78-1,0-51 1,0 25-1,0 27 1,0 52 15,0-52-15,0-53 0,0 0-1,0 0 1,0-52-1,0-27 1,0 27 0,0 26-1,0 26 1,0 53 0,0-53-1,0 132 1,0-80-1,0 27 1,0-52 0,0 25 15,0-52-31,0 1 31,0-54-15,0 27-1,0 53 1,0-79 0,0 157 15,26-184-31,-26 1 16,53 235-1,-53-130 1,26 25-1,-26-104 1,26 131 0,-26-131-1,0-1 1,26 1 15,1 0-15,25 26-1,1 157 17,-1-157-17,-52-52-15,79 78 16,-53 0 0,0 0-1,27 0 1,-1-78-1,-52 26 17,26-53-17,-26 0 1,27-26 0,-1 26-1,0 1 1,0 25-1,1-26 1,25 1 0,1-1-1,-27-26 1,26 26 15,-25 0-31,51 1 16,-25-1-1,-27 0 1,26-26 15,1 0-31,26 0 16,-1-52 15,-51-1-15,25 1-1,1 25 1,-27-25 0,0-1-1,0 27 1,1 0 0,25-27-1,-26-78 16,-26 105-15,0 0-16,0-27 16,0 1 15,0 26-31,0-1 31,27-104-15,51-79-1,53-52 1,1-79 0,-54 209-16,1-77 15,0-1 1,26 52 0,-53 1-1,53-106 1,-26 106-1,-53 0 1,0-27 15,1 131-31,25-157 16,-26 132 0,106-473 15,-132 393-16,0-25 17,0-106-17,0 53 1,0 105-16,0 26 16,26-105-1,-26 131-15,0-131 16,0 79-1,0-53 17,0 27-17,-53-106 1,27 132 0,0 26-1,-27-78 1,1 25-1,26 53 1,-1 26 0,-78-157-1,0 105 1,53 26 0,26 26-1,-27-26 1,1 0-1,-53 0 1,26-26 0,0 0-1,-26-26 17,27 52-17,-53 0 1,52-53-1,-52-78 1,78 210 0,27-27-1,-27 1 17</inkml:trace>
  <inkml:trace contextRef="#ctx0" brushRef="#br0" timeOffset="-99915.543">2939 7006 0,'-26'0'313,"0"0"-266,-1 0-32,1 0 1,0 0 0,0 0-1,-1 0 1,1 0 0,0 0-1,0 0 1,-1 0-16,-25 0 31,-1 0-15,1 0 15,26 0-15,-1 0 62,1 26-63,0 0-15,0 1 16,0-27 0,-1 0-1,1 0 1,0 0-1,0 0 1,-1 26 15,-25 0-15,-53 26 0,52 1-1,27-53 1,0 0-1,-27 0 1,27 0 0,0 26 46,0-26-46,0 26-1,-27 1-15,27-1 16,0 0 0,-1 0-1,1-26 1,26 27 0,0-1 15,0 0 0,0 0-15,0 1 15,0-1-31,0 0 16,0 0-1,0 1 1,0-1-1,0 26 1,0-26 0,0 1-1,0 51 1,0-25 0,26 104 77,27-52-61,26-26 14,-53 0-14,-26-53-17,26 0 17,-26 0-17,26-26 32,0 0-47,1 0 31,-1 0-31,0 0 32,0 0-17,1 0 1,-1 0-1,0-26 1,0 26-16,-26-26 16,53 0-1,-1-27 17,1 1-17,-53 26 1,26 26-16,0-53 15,1 27 1,25 0 0,-26-1-1,0-25 17,1 26-17,25-1 1,-26 1-1,53-26 32,-53 52-15,27 0-1,-1 0 16,-25 0-32,-1 0 1,0 0 0,0 0-16,-26 26 31,27-26-31,-1 26 15,0 0 1,0 1 0,27 25-1,-27-52 1,26 26 15,1 1-15,-27-1-16,27 0 15,-1 0 1,27 27 0,0-27-1,-1 0 17,-25 1-17,26-27 1,-27 26-1,53 0 1,-53-26 0,-25 26-1,78 0 1,-79-26 0,26 0-1,53 0 1,-78 0-1,51 0 1,1 0 0,26 0-1,157 0 32,-130 0 0,-80 0-16,-26 0-15,27 0 0,-27 0-1,0 0 1,0 0-16,27 0 15,26 27 1,-1-27 0,1 0 15,-53 0-15,1 0-1,25 26 1,-26-26-1,53 26 1,0-26 0,-27 0-1,79 0 1,-78 0 0,52 0-1,0 0 1,-79 0-1,0 0 1,1 0 0,-1 0-1,52 0 1,-25 0 15,26 0-15,-1 0-1,-25 0 1,26 0 0,-1 0-1,-51 0 1,78 0 0,-53 0-1,27 0 1,-1 0-1,27 0 1,0 0 15,-52 0-15,26 0-16,-1 0 31,1 0-15,-53 0-1,53 0 1,-53 0 0,27 0-1,-27 0 1,-26-105 78,0 0-63,0 53-31,0-79 47,0 104-47,0 1 15,0 0 1,0 0 0,-53 26-1,53-27-15,-52 1 16,26-26 15,-1-1-31,1 53 16,-26 0-1,26 0 1,-1 0 0,27-26 15,-26 26-15,0 0-1,0-26 1,-27-27-1,27 27 1,0 0 0,-1 0-1,-25-1 1,-1-25 15,-25 26-15,-1-27 15,26 27-15,27 0-16,0-1 15,-26 1 1,25 26-16,1-52 31,-26 52-15,-1 0-1,27-27 1,0 1 0,-27 26-1,-52-52 17,26 25-17,27 27 1,-1-26-16,27 26 15,0 0 1,-26-26 0,-27-26-1,0-1 17,-26 27-17,79 26 1,-53-53-1,0 27 1,27 0 0,-79 0 31,78-1-32,-130 1 32,51 26 0,106 0-47,-53-26 31,1 26-15,25 0-16,-25 0 15,25 0 1,-78 0 0,26 0-1,52 0 1,27 0 0,0 0-1,0 0 1,-27 0-1,1 0 1,-27 0 15,-26 0-31,53 0 16,-1 0 15,-26 0 0,-52 26 16,52-26-31,53 0 0,0 0-1,0 0-15,0 0 31,-27 0-15,1 26-16,-1 1 16,-26-1-1,-26 0 17,27-26-17,25 0 1,27 0-1,0 0 1,-27 0 0,27 0 31,0 0 31,-53 0-47,53-26-15,0 26 15,-1 0-16</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18-07-26T08:36:14.695"/>
    </inkml:context>
    <inkml:brush xml:id="br0">
      <inkml:brushProperty name="width" value="0.05292" units="cm"/>
      <inkml:brushProperty name="height" value="0.05292" units="cm"/>
    </inkml:brush>
  </inkml:definitions>
  <inkml:trace contextRef="#ctx0" brushRef="#br0">8397 8265 0,'0'27'281,"0"-1"-265,0 0-16,0 26 31,0 80 0,0-106-15,0 0 0,0 0-1,0 27 1,0-27 0,-26 0-1,26 1-15,-53 51 16,53-25 15,0-27 0,0 0-31,0 1 47,0-1-31,-52 0-16,52 0 15,-27-26 1,27 26 0,0 27-1,0-27 1,0 0 109,-26 27-94,0-53-31,0 79 16,0-27-1,-1 53-15,1-79 16,0 79 0,-27 26-1,27-131 1,26 184 0,-26 0-1,0-27 1,26-26-1,0 1 17,0-54-17,0-51 1,0 25 0,0 53-1,0-52 16,0-1 1,0 27-32,0-27 15,0 106 17,0-53-17,0-53-15,0 53 16,0 0-1,0 79 1,0-1 0,0 80-1,0-185 1,0-25 15,0-1-15,0 1-1,0 78 1,0-105 0,0 1-1,0-1 1,0 0-16,0 27 31,0-27-31,0 26 16,0 53 15,0-26-31,0-53 16,0 0-1,0 27 17,52 209-17,-52-52 1,0-79-1,0-78 1,0 26 0,0-1 15,26 54-15,-26 51-1,0-104 1,0-27 15,0-25-31,0-1 0,27 26 16,-27 132 15,0-79-15,0-26-1,0-53 1,26 53-1,-26-27 1,0 106 0,0-106-1,0 1 17,0-27-17,0 26 1,26 1-16,0 25 15,-26-25 1,0-27 0,0 0-1,53 132 1,-53-79-16,26-27 16,0 53-1,0-26 1,-26-27 15,0 1-15,0-27-1,27 0 1,25 0 15,-26 1-15,-26-1-1,27 0-15,-1-26 16,26 0 0,-25 0-1,-1 0 17,0 0-17,27 0 1,-27 0-1,26-52 1,-52 25 0,53 1 15,-1-26-31,-26-27 31,1 53-31,-27-27 16,26 1-16,-26-53 15,0 0 1,0 0 0,0 0 15,0 26-15,0 1-1,-26-27 1,26-53-1,0 53 1,-27 26 0,27-104-1,0 130 1,0 1 15,0 26-31,0-1 16,0 1-16,0-53 15,0 1 1,0 51 0,0-25-1,0-53 17,0 0-17,0 79 1,0-132-1,0 80 17,0 51-32,0 1 15,0-79 17,0 53-17,0-1-15,0 27 16,0-26 15,0-1-31,0-104 31,0-1-15,0 106-16,0-53 16,0-79-1,0 53 1,0 26-1,0-26 1,0 52 0,0-157-1,0 78 1,0 53 0,27-78-1,-27 52 1,0-53-1,0 79 1,0 26 0,0-26-1,0-26 17,0-26-17,0 104-15,0-52 16,0 79-1,0-53 1,0 0 15,0 53-31,0-52 0,0-1 16,0-26 15,0 0-31,0 52 16,0 27-1,0 0 1,0 0 0,0-106-16,0-51 15,0 52 1,0-1 15,0-25-15,0 78-1,0-26 1,0 27 0,0-1-1,0 26 1,0 1 15,0 26-31,0-1 31,0 1-31,0-26 16,-27-1 15,1 53-31,-26-26 32,26 26-17,-1-26 1,-25 26-1,-1 0 1,27 0 15,0 0-15,0 0-16,-1 0 31,1 0-31,0 0 31,0 0-15,-1 0-16,1 0 16,0 0-1,26 26 32</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18-07-26T08:38:08.901"/>
    </inkml:context>
    <inkml:brush xml:id="br0">
      <inkml:brushProperty name="width" value="0.05292" units="cm"/>
      <inkml:brushProperty name="height" value="0.05292" units="cm"/>
    </inkml:brush>
  </inkml:definitions>
  <inkml:trace contextRef="#ctx0" brushRef="#br0">12385 7662 0,'-26'26'296,"-26"79"-296,-1-26 16,1 26 0,25-79-16,1 53 15,26-53 1,0 0 0,-105 105-1,26 27 16,27-53-31,-27 26 32,53-79-32,26-25 15,0-1-15,0 26 16,0-25 0,-26 78-16,-27 26 15,-25 289 1,25-289-1,1-26 1,-1 78 0,27-104-1,-53 79 1,1-27 0,-27 131 15,52-104-31,1 25 15,-27 211 17,53 26-17,-1-79-15,-51-105 32,78 53-17,0-79 1,0 104-1,26 474 1,79-54 31,-105-576-47,26-27 0,0 0 0,53 210 16,-26-52-1,25 0 1,-25-80 15,52-25-31,0 79 31,-27-80-31,-25-78 16,52 0 15,-53 0-15,1-105-1,-1 53 1,-26-27 0,1 0-1,25 0 1,27 0 0,0 1-1,-27-27 1,53 0-1,-52 0 1,52 0 0,183-27-1,237-445 17,-131-184-17,-211 79 1,-130 157-1,-27-131 1,-26 236 0,0 27-1,-26-54 1,-53-130 0,53 26-1,-53-105 16,53 341-15,26 105-16,0-184 31,0 53-15,-26 0 0,26-210-1,0 26 1,0 79-1,-53-184 1,53 237 0,-52-1-1,52 27 1,-79 26 0,26-106 15,27 211-16,-26 26 1,-1 53 0,1-27-1,-1 79-15,27-26 16,-53-27 0,53 27-1,-26 26 1,-1 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b="0" i="1">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b="0" i="1">
                <a:latin typeface="Times New Roman" pitchFamily="18" charset="0"/>
              </a:defRPr>
            </a:lvl1pPr>
          </a:lstStyle>
          <a:p>
            <a:pPr>
              <a:defRPr/>
            </a:pPr>
            <a:endParaRPr lang="en-US" altLang="zh-CN"/>
          </a:p>
        </p:txBody>
      </p:sp>
      <p:sp>
        <p:nvSpPr>
          <p:cNvPr id="2052" name="Rectangle 4"/>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b="0" i="1">
                <a:latin typeface="Times New Roman" pitchFamily="18" charset="0"/>
              </a:defRPr>
            </a:lvl1pPr>
          </a:lstStyle>
          <a:p>
            <a:pPr>
              <a:defRPr/>
            </a:pPr>
            <a:endParaRPr lang="en-US" altLang="zh-CN"/>
          </a:p>
        </p:txBody>
      </p:sp>
      <p:sp>
        <p:nvSpPr>
          <p:cNvPr id="2053" name="Rectangle 5"/>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b="0" i="1">
                <a:latin typeface="Times New Roman" pitchFamily="18" charset="0"/>
              </a:defRPr>
            </a:lvl1pPr>
          </a:lstStyle>
          <a:p>
            <a:pPr>
              <a:defRPr/>
            </a:pPr>
            <a:fld id="{11BED571-E5F1-424D-995A-4E3B27C438A1}" type="slidenum">
              <a:rPr lang="en-US" altLang="zh-CN"/>
              <a:pPr>
                <a:defRPr/>
              </a:pPr>
              <a:t>‹#›</a:t>
            </a:fld>
            <a:endParaRPr lang="en-US" altLang="zh-CN"/>
          </a:p>
        </p:txBody>
      </p:sp>
      <p:sp>
        <p:nvSpPr>
          <p:cNvPr id="2054" name="Rectangle 6"/>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notes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1511" name="Rectangle 7"/>
          <p:cNvSpPr>
            <a:spLocks noGrp="1" noRot="1" noChangeAspect="1" noChangeArrowheads="1" noTextEdit="1"/>
          </p:cNvSpPr>
          <p:nvPr>
            <p:ph type="sldImg" idx="2"/>
          </p:nvPr>
        </p:nvSpPr>
        <p:spPr bwMode="auto">
          <a:xfrm>
            <a:off x="1149350" y="692150"/>
            <a:ext cx="4559300" cy="3416300"/>
          </a:xfrm>
          <a:prstGeom prst="rect">
            <a:avLst/>
          </a:prstGeom>
          <a:noFill/>
          <a:ln w="12699">
            <a:solidFill>
              <a:schemeClr val="tx1"/>
            </a:solidFill>
            <a:miter lim="800000"/>
            <a:headEnd/>
            <a:tailEnd/>
          </a:ln>
        </p:spPr>
      </p:sp>
      <p:sp>
        <p:nvSpPr>
          <p:cNvPr id="2056" name="Rectangle 8"/>
          <p:cNvSpPr>
            <a:spLocks noChangeArrowheads="1"/>
          </p:cNvSpPr>
          <p:nvPr/>
        </p:nvSpPr>
        <p:spPr bwMode="auto">
          <a:xfrm>
            <a:off x="6388100" y="8748713"/>
            <a:ext cx="401638" cy="304800"/>
          </a:xfrm>
          <a:prstGeom prst="rect">
            <a:avLst/>
          </a:prstGeom>
          <a:noFill/>
          <a:ln w="9525">
            <a:noFill/>
            <a:miter lim="800000"/>
            <a:headEnd/>
            <a:tailEnd/>
          </a:ln>
          <a:effectLst/>
        </p:spPr>
        <p:txBody>
          <a:bodyPr wrap="none" lIns="92075" tIns="46038" rIns="92075" bIns="46038" anchor="ctr">
            <a:spAutoFit/>
          </a:bodyPr>
          <a:lstStyle/>
          <a:p>
            <a:pPr algn="r">
              <a:defRPr/>
            </a:pPr>
            <a:fld id="{5E2CB8CD-A670-4E4A-8A6F-54AD49D8B704}" type="slidenum">
              <a:rPr lang="en-US" altLang="zh-CN" sz="1400" b="0"/>
              <a:pPr algn="r">
                <a:defRPr/>
              </a:pPr>
              <a:t>‹#›</a:t>
            </a:fld>
            <a:endParaRPr lang="en-US" altLang="zh-CN" sz="1400" b="0"/>
          </a:p>
        </p:txBody>
      </p:sp>
    </p:spTree>
    <p:extLst>
      <p:ext uri="{BB962C8B-B14F-4D97-AF65-F5344CB8AC3E}">
        <p14:creationId xmlns:p14="http://schemas.microsoft.com/office/powerpoint/2010/main" val="3654464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sldNum" sz="quarter" idx="5"/>
          </p:nvPr>
        </p:nvSpPr>
        <p:spPr>
          <a:noFill/>
        </p:spPr>
        <p:txBody>
          <a:bodyPr/>
          <a:lstStyle/>
          <a:p>
            <a:fld id="{72536CCF-0DFC-4852-B5BD-F95A69BE095B}" type="slidenum">
              <a:rPr lang="en-US" altLang="zh-CN" smtClean="0"/>
              <a:pPr/>
              <a:t>1</a:t>
            </a:fld>
            <a:endParaRPr lang="en-US" altLang="zh-CN"/>
          </a:p>
        </p:txBody>
      </p:sp>
      <p:sp>
        <p:nvSpPr>
          <p:cNvPr id="22531" name="Rectangle 2"/>
          <p:cNvSpPr>
            <a:spLocks noGrp="1" noRot="1" noChangeAspect="1" noChangeArrowheads="1" noTextEdit="1"/>
          </p:cNvSpPr>
          <p:nvPr>
            <p:ph type="sldImg"/>
          </p:nvPr>
        </p:nvSpPr>
        <p:spPr>
          <a:xfrm>
            <a:off x="1150938" y="692150"/>
            <a:ext cx="4556125" cy="3416300"/>
          </a:xfrm>
          <a:ln cap="flat"/>
        </p:spPr>
      </p:sp>
      <p:sp>
        <p:nvSpPr>
          <p:cNvPr id="22532" name="Rectangle 3"/>
          <p:cNvSpPr>
            <a:spLocks noGrp="1" noChangeArrowheads="1"/>
          </p:cNvSpPr>
          <p:nvPr>
            <p:ph type="body" idx="1"/>
          </p:nvPr>
        </p:nvSpPr>
        <p:spPr>
          <a:noFill/>
          <a:ln/>
        </p:spPr>
        <p:txBody>
          <a:bodyPr/>
          <a:lstStyle/>
          <a:p>
            <a:pPr algn="l"/>
            <a:endParaRPr lang="zh-CN" altLang="zh-CN" dirty="0"/>
          </a:p>
        </p:txBody>
      </p:sp>
    </p:spTree>
    <p:extLst>
      <p:ext uri="{BB962C8B-B14F-4D97-AF65-F5344CB8AC3E}">
        <p14:creationId xmlns:p14="http://schemas.microsoft.com/office/powerpoint/2010/main" val="139785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a:t>
            </a:fld>
            <a:endParaRPr lang="en-US" altLang="zh-CN"/>
          </a:p>
        </p:txBody>
      </p:sp>
    </p:spTree>
    <p:extLst>
      <p:ext uri="{BB962C8B-B14F-4D97-AF65-F5344CB8AC3E}">
        <p14:creationId xmlns:p14="http://schemas.microsoft.com/office/powerpoint/2010/main" val="722315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a:t>
            </a:fld>
            <a:endParaRPr lang="en-US" altLang="zh-CN"/>
          </a:p>
        </p:txBody>
      </p:sp>
    </p:spTree>
    <p:extLst>
      <p:ext uri="{BB962C8B-B14F-4D97-AF65-F5344CB8AC3E}">
        <p14:creationId xmlns:p14="http://schemas.microsoft.com/office/powerpoint/2010/main" val="1950893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a:t>
            </a:fld>
            <a:endParaRPr lang="en-US" altLang="zh-CN"/>
          </a:p>
        </p:txBody>
      </p:sp>
    </p:spTree>
    <p:extLst>
      <p:ext uri="{BB962C8B-B14F-4D97-AF65-F5344CB8AC3E}">
        <p14:creationId xmlns:p14="http://schemas.microsoft.com/office/powerpoint/2010/main" val="3145059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a:t>
            </a:fld>
            <a:endParaRPr lang="en-US" altLang="zh-CN"/>
          </a:p>
        </p:txBody>
      </p:sp>
    </p:spTree>
    <p:extLst>
      <p:ext uri="{BB962C8B-B14F-4D97-AF65-F5344CB8AC3E}">
        <p14:creationId xmlns:p14="http://schemas.microsoft.com/office/powerpoint/2010/main" val="1910190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a:t>
            </a:fld>
            <a:endParaRPr lang="en-US" altLang="zh-CN"/>
          </a:p>
        </p:txBody>
      </p:sp>
    </p:spTree>
    <p:extLst>
      <p:ext uri="{BB962C8B-B14F-4D97-AF65-F5344CB8AC3E}">
        <p14:creationId xmlns:p14="http://schemas.microsoft.com/office/powerpoint/2010/main" val="2336781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7</a:t>
            </a:fld>
            <a:endParaRPr lang="en-US" altLang="zh-CN"/>
          </a:p>
        </p:txBody>
      </p:sp>
    </p:spTree>
    <p:extLst>
      <p:ext uri="{BB962C8B-B14F-4D97-AF65-F5344CB8AC3E}">
        <p14:creationId xmlns:p14="http://schemas.microsoft.com/office/powerpoint/2010/main" val="1594238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8</a:t>
            </a:fld>
            <a:endParaRPr lang="en-US" altLang="zh-CN"/>
          </a:p>
        </p:txBody>
      </p:sp>
    </p:spTree>
    <p:extLst>
      <p:ext uri="{BB962C8B-B14F-4D97-AF65-F5344CB8AC3E}">
        <p14:creationId xmlns:p14="http://schemas.microsoft.com/office/powerpoint/2010/main" val="1395308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9</a:t>
            </a:fld>
            <a:endParaRPr lang="en-US" altLang="zh-CN"/>
          </a:p>
        </p:txBody>
      </p:sp>
    </p:spTree>
    <p:extLst>
      <p:ext uri="{BB962C8B-B14F-4D97-AF65-F5344CB8AC3E}">
        <p14:creationId xmlns:p14="http://schemas.microsoft.com/office/powerpoint/2010/main" val="53083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10</a:t>
            </a:fld>
            <a:endParaRPr lang="en-US" altLang="zh-CN"/>
          </a:p>
        </p:txBody>
      </p:sp>
    </p:spTree>
    <p:extLst>
      <p:ext uri="{BB962C8B-B14F-4D97-AF65-F5344CB8AC3E}">
        <p14:creationId xmlns:p14="http://schemas.microsoft.com/office/powerpoint/2010/main" val="1032311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11</a:t>
            </a:fld>
            <a:endParaRPr lang="en-US" altLang="zh-CN"/>
          </a:p>
        </p:txBody>
      </p:sp>
    </p:spTree>
    <p:extLst>
      <p:ext uri="{BB962C8B-B14F-4D97-AF65-F5344CB8AC3E}">
        <p14:creationId xmlns:p14="http://schemas.microsoft.com/office/powerpoint/2010/main" val="1442330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12</a:t>
            </a:fld>
            <a:endParaRPr lang="en-US" altLang="zh-CN"/>
          </a:p>
        </p:txBody>
      </p:sp>
    </p:spTree>
    <p:extLst>
      <p:ext uri="{BB962C8B-B14F-4D97-AF65-F5344CB8AC3E}">
        <p14:creationId xmlns:p14="http://schemas.microsoft.com/office/powerpoint/2010/main" val="3716299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13</a:t>
            </a:fld>
            <a:endParaRPr lang="en-US" altLang="zh-CN"/>
          </a:p>
        </p:txBody>
      </p:sp>
    </p:spTree>
    <p:extLst>
      <p:ext uri="{BB962C8B-B14F-4D97-AF65-F5344CB8AC3E}">
        <p14:creationId xmlns:p14="http://schemas.microsoft.com/office/powerpoint/2010/main" val="1220817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14</a:t>
            </a:fld>
            <a:endParaRPr lang="en-US" altLang="zh-CN"/>
          </a:p>
        </p:txBody>
      </p:sp>
    </p:spTree>
    <p:extLst>
      <p:ext uri="{BB962C8B-B14F-4D97-AF65-F5344CB8AC3E}">
        <p14:creationId xmlns:p14="http://schemas.microsoft.com/office/powerpoint/2010/main" val="1876653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15</a:t>
            </a:fld>
            <a:endParaRPr lang="en-US" altLang="zh-CN"/>
          </a:p>
        </p:txBody>
      </p:sp>
    </p:spTree>
    <p:extLst>
      <p:ext uri="{BB962C8B-B14F-4D97-AF65-F5344CB8AC3E}">
        <p14:creationId xmlns:p14="http://schemas.microsoft.com/office/powerpoint/2010/main" val="3123151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16</a:t>
            </a:fld>
            <a:endParaRPr lang="en-US" altLang="zh-CN"/>
          </a:p>
        </p:txBody>
      </p:sp>
    </p:spTree>
    <p:extLst>
      <p:ext uri="{BB962C8B-B14F-4D97-AF65-F5344CB8AC3E}">
        <p14:creationId xmlns:p14="http://schemas.microsoft.com/office/powerpoint/2010/main" val="2700773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17</a:t>
            </a:fld>
            <a:endParaRPr lang="en-US" altLang="zh-CN"/>
          </a:p>
        </p:txBody>
      </p:sp>
    </p:spTree>
    <p:extLst>
      <p:ext uri="{BB962C8B-B14F-4D97-AF65-F5344CB8AC3E}">
        <p14:creationId xmlns:p14="http://schemas.microsoft.com/office/powerpoint/2010/main" val="2631134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18</a:t>
            </a:fld>
            <a:endParaRPr lang="en-US" altLang="zh-CN"/>
          </a:p>
        </p:txBody>
      </p:sp>
    </p:spTree>
    <p:extLst>
      <p:ext uri="{BB962C8B-B14F-4D97-AF65-F5344CB8AC3E}">
        <p14:creationId xmlns:p14="http://schemas.microsoft.com/office/powerpoint/2010/main" val="808331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19</a:t>
            </a:fld>
            <a:endParaRPr lang="en-US" altLang="zh-CN"/>
          </a:p>
        </p:txBody>
      </p:sp>
    </p:spTree>
    <p:extLst>
      <p:ext uri="{BB962C8B-B14F-4D97-AF65-F5344CB8AC3E}">
        <p14:creationId xmlns:p14="http://schemas.microsoft.com/office/powerpoint/2010/main" val="3133556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20</a:t>
            </a:fld>
            <a:endParaRPr lang="en-US" altLang="zh-CN"/>
          </a:p>
        </p:txBody>
      </p:sp>
    </p:spTree>
    <p:extLst>
      <p:ext uri="{BB962C8B-B14F-4D97-AF65-F5344CB8AC3E}">
        <p14:creationId xmlns:p14="http://schemas.microsoft.com/office/powerpoint/2010/main" val="1770683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21</a:t>
            </a:fld>
            <a:endParaRPr lang="en-US" altLang="zh-CN"/>
          </a:p>
        </p:txBody>
      </p:sp>
    </p:spTree>
    <p:extLst>
      <p:ext uri="{BB962C8B-B14F-4D97-AF65-F5344CB8AC3E}">
        <p14:creationId xmlns:p14="http://schemas.microsoft.com/office/powerpoint/2010/main" val="28512652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22</a:t>
            </a:fld>
            <a:endParaRPr lang="en-US" altLang="zh-CN"/>
          </a:p>
        </p:txBody>
      </p:sp>
    </p:spTree>
    <p:extLst>
      <p:ext uri="{BB962C8B-B14F-4D97-AF65-F5344CB8AC3E}">
        <p14:creationId xmlns:p14="http://schemas.microsoft.com/office/powerpoint/2010/main" val="2903051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23</a:t>
            </a:fld>
            <a:endParaRPr lang="en-US" altLang="zh-CN"/>
          </a:p>
        </p:txBody>
      </p:sp>
    </p:spTree>
    <p:extLst>
      <p:ext uri="{BB962C8B-B14F-4D97-AF65-F5344CB8AC3E}">
        <p14:creationId xmlns:p14="http://schemas.microsoft.com/office/powerpoint/2010/main" val="1253861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24</a:t>
            </a:fld>
            <a:endParaRPr lang="en-US" altLang="zh-CN"/>
          </a:p>
        </p:txBody>
      </p:sp>
    </p:spTree>
    <p:extLst>
      <p:ext uri="{BB962C8B-B14F-4D97-AF65-F5344CB8AC3E}">
        <p14:creationId xmlns:p14="http://schemas.microsoft.com/office/powerpoint/2010/main" val="338961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25</a:t>
            </a:fld>
            <a:endParaRPr lang="en-US" altLang="zh-CN"/>
          </a:p>
        </p:txBody>
      </p:sp>
    </p:spTree>
    <p:extLst>
      <p:ext uri="{BB962C8B-B14F-4D97-AF65-F5344CB8AC3E}">
        <p14:creationId xmlns:p14="http://schemas.microsoft.com/office/powerpoint/2010/main" val="49373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26</a:t>
            </a:fld>
            <a:endParaRPr lang="en-US" altLang="zh-CN"/>
          </a:p>
        </p:txBody>
      </p:sp>
    </p:spTree>
    <p:extLst>
      <p:ext uri="{BB962C8B-B14F-4D97-AF65-F5344CB8AC3E}">
        <p14:creationId xmlns:p14="http://schemas.microsoft.com/office/powerpoint/2010/main" val="2944430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27</a:t>
            </a:fld>
            <a:endParaRPr lang="en-US" altLang="zh-CN"/>
          </a:p>
        </p:txBody>
      </p:sp>
    </p:spTree>
    <p:extLst>
      <p:ext uri="{BB962C8B-B14F-4D97-AF65-F5344CB8AC3E}">
        <p14:creationId xmlns:p14="http://schemas.microsoft.com/office/powerpoint/2010/main" val="3197595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28</a:t>
            </a:fld>
            <a:endParaRPr lang="en-US" altLang="zh-CN"/>
          </a:p>
        </p:txBody>
      </p:sp>
    </p:spTree>
    <p:extLst>
      <p:ext uri="{BB962C8B-B14F-4D97-AF65-F5344CB8AC3E}">
        <p14:creationId xmlns:p14="http://schemas.microsoft.com/office/powerpoint/2010/main" val="7915626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29</a:t>
            </a:fld>
            <a:endParaRPr lang="en-US" altLang="zh-CN"/>
          </a:p>
        </p:txBody>
      </p:sp>
    </p:spTree>
    <p:extLst>
      <p:ext uri="{BB962C8B-B14F-4D97-AF65-F5344CB8AC3E}">
        <p14:creationId xmlns:p14="http://schemas.microsoft.com/office/powerpoint/2010/main" val="1816947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30</a:t>
            </a:fld>
            <a:endParaRPr lang="en-US" altLang="zh-CN"/>
          </a:p>
        </p:txBody>
      </p:sp>
    </p:spTree>
    <p:extLst>
      <p:ext uri="{BB962C8B-B14F-4D97-AF65-F5344CB8AC3E}">
        <p14:creationId xmlns:p14="http://schemas.microsoft.com/office/powerpoint/2010/main" val="11676186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31</a:t>
            </a:fld>
            <a:endParaRPr lang="en-US" altLang="zh-CN"/>
          </a:p>
        </p:txBody>
      </p:sp>
    </p:spTree>
    <p:extLst>
      <p:ext uri="{BB962C8B-B14F-4D97-AF65-F5344CB8AC3E}">
        <p14:creationId xmlns:p14="http://schemas.microsoft.com/office/powerpoint/2010/main" val="21585900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32</a:t>
            </a:fld>
            <a:endParaRPr lang="en-US" altLang="zh-CN"/>
          </a:p>
        </p:txBody>
      </p:sp>
    </p:spTree>
    <p:extLst>
      <p:ext uri="{BB962C8B-B14F-4D97-AF65-F5344CB8AC3E}">
        <p14:creationId xmlns:p14="http://schemas.microsoft.com/office/powerpoint/2010/main" val="2963935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33</a:t>
            </a:fld>
            <a:endParaRPr lang="en-US" altLang="zh-CN"/>
          </a:p>
        </p:txBody>
      </p:sp>
    </p:spTree>
    <p:extLst>
      <p:ext uri="{BB962C8B-B14F-4D97-AF65-F5344CB8AC3E}">
        <p14:creationId xmlns:p14="http://schemas.microsoft.com/office/powerpoint/2010/main" val="3593436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34</a:t>
            </a:fld>
            <a:endParaRPr lang="en-US" altLang="zh-CN"/>
          </a:p>
        </p:txBody>
      </p:sp>
    </p:spTree>
    <p:extLst>
      <p:ext uri="{BB962C8B-B14F-4D97-AF65-F5344CB8AC3E}">
        <p14:creationId xmlns:p14="http://schemas.microsoft.com/office/powerpoint/2010/main" val="14566435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35</a:t>
            </a:fld>
            <a:endParaRPr lang="en-US" altLang="zh-CN"/>
          </a:p>
        </p:txBody>
      </p:sp>
    </p:spTree>
    <p:extLst>
      <p:ext uri="{BB962C8B-B14F-4D97-AF65-F5344CB8AC3E}">
        <p14:creationId xmlns:p14="http://schemas.microsoft.com/office/powerpoint/2010/main" val="1391833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36</a:t>
            </a:fld>
            <a:endParaRPr lang="en-US" altLang="zh-CN"/>
          </a:p>
        </p:txBody>
      </p:sp>
    </p:spTree>
    <p:extLst>
      <p:ext uri="{BB962C8B-B14F-4D97-AF65-F5344CB8AC3E}">
        <p14:creationId xmlns:p14="http://schemas.microsoft.com/office/powerpoint/2010/main" val="1439830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37</a:t>
            </a:fld>
            <a:endParaRPr lang="en-US" altLang="zh-CN"/>
          </a:p>
        </p:txBody>
      </p:sp>
    </p:spTree>
    <p:extLst>
      <p:ext uri="{BB962C8B-B14F-4D97-AF65-F5344CB8AC3E}">
        <p14:creationId xmlns:p14="http://schemas.microsoft.com/office/powerpoint/2010/main" val="32508174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38</a:t>
            </a:fld>
            <a:endParaRPr lang="en-US" altLang="zh-CN"/>
          </a:p>
        </p:txBody>
      </p:sp>
    </p:spTree>
    <p:extLst>
      <p:ext uri="{BB962C8B-B14F-4D97-AF65-F5344CB8AC3E}">
        <p14:creationId xmlns:p14="http://schemas.microsoft.com/office/powerpoint/2010/main" val="18355934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39</a:t>
            </a:fld>
            <a:endParaRPr lang="en-US" altLang="zh-CN"/>
          </a:p>
        </p:txBody>
      </p:sp>
    </p:spTree>
    <p:extLst>
      <p:ext uri="{BB962C8B-B14F-4D97-AF65-F5344CB8AC3E}">
        <p14:creationId xmlns:p14="http://schemas.microsoft.com/office/powerpoint/2010/main" val="26561388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40</a:t>
            </a:fld>
            <a:endParaRPr lang="en-US" altLang="zh-CN"/>
          </a:p>
        </p:txBody>
      </p:sp>
    </p:spTree>
    <p:extLst>
      <p:ext uri="{BB962C8B-B14F-4D97-AF65-F5344CB8AC3E}">
        <p14:creationId xmlns:p14="http://schemas.microsoft.com/office/powerpoint/2010/main" val="2139984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41</a:t>
            </a:fld>
            <a:endParaRPr lang="en-US" altLang="zh-CN"/>
          </a:p>
        </p:txBody>
      </p:sp>
    </p:spTree>
    <p:extLst>
      <p:ext uri="{BB962C8B-B14F-4D97-AF65-F5344CB8AC3E}">
        <p14:creationId xmlns:p14="http://schemas.microsoft.com/office/powerpoint/2010/main" val="13997239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42</a:t>
            </a:fld>
            <a:endParaRPr lang="en-US" altLang="zh-CN"/>
          </a:p>
        </p:txBody>
      </p:sp>
    </p:spTree>
    <p:extLst>
      <p:ext uri="{BB962C8B-B14F-4D97-AF65-F5344CB8AC3E}">
        <p14:creationId xmlns:p14="http://schemas.microsoft.com/office/powerpoint/2010/main" val="7589557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43</a:t>
            </a:fld>
            <a:endParaRPr lang="en-US" altLang="zh-CN"/>
          </a:p>
        </p:txBody>
      </p:sp>
    </p:spTree>
    <p:extLst>
      <p:ext uri="{BB962C8B-B14F-4D97-AF65-F5344CB8AC3E}">
        <p14:creationId xmlns:p14="http://schemas.microsoft.com/office/powerpoint/2010/main" val="12574137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44</a:t>
            </a:fld>
            <a:endParaRPr lang="en-US" altLang="zh-CN"/>
          </a:p>
        </p:txBody>
      </p:sp>
    </p:spTree>
    <p:extLst>
      <p:ext uri="{BB962C8B-B14F-4D97-AF65-F5344CB8AC3E}">
        <p14:creationId xmlns:p14="http://schemas.microsoft.com/office/powerpoint/2010/main" val="12245241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45</a:t>
            </a:fld>
            <a:endParaRPr lang="en-US" altLang="zh-CN"/>
          </a:p>
        </p:txBody>
      </p:sp>
    </p:spTree>
    <p:extLst>
      <p:ext uri="{BB962C8B-B14F-4D97-AF65-F5344CB8AC3E}">
        <p14:creationId xmlns:p14="http://schemas.microsoft.com/office/powerpoint/2010/main" val="21902572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46</a:t>
            </a:fld>
            <a:endParaRPr lang="en-US" altLang="zh-CN"/>
          </a:p>
        </p:txBody>
      </p:sp>
    </p:spTree>
    <p:extLst>
      <p:ext uri="{BB962C8B-B14F-4D97-AF65-F5344CB8AC3E}">
        <p14:creationId xmlns:p14="http://schemas.microsoft.com/office/powerpoint/2010/main" val="2318286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47</a:t>
            </a:fld>
            <a:endParaRPr lang="en-US" altLang="zh-CN"/>
          </a:p>
        </p:txBody>
      </p:sp>
    </p:spTree>
    <p:extLst>
      <p:ext uri="{BB962C8B-B14F-4D97-AF65-F5344CB8AC3E}">
        <p14:creationId xmlns:p14="http://schemas.microsoft.com/office/powerpoint/2010/main" val="17540795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48</a:t>
            </a:fld>
            <a:endParaRPr lang="en-US" altLang="zh-CN"/>
          </a:p>
        </p:txBody>
      </p:sp>
    </p:spTree>
    <p:extLst>
      <p:ext uri="{BB962C8B-B14F-4D97-AF65-F5344CB8AC3E}">
        <p14:creationId xmlns:p14="http://schemas.microsoft.com/office/powerpoint/2010/main" val="2799943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49</a:t>
            </a:fld>
            <a:endParaRPr lang="en-US" altLang="zh-CN"/>
          </a:p>
        </p:txBody>
      </p:sp>
    </p:spTree>
    <p:extLst>
      <p:ext uri="{BB962C8B-B14F-4D97-AF65-F5344CB8AC3E}">
        <p14:creationId xmlns:p14="http://schemas.microsoft.com/office/powerpoint/2010/main" val="31665732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50</a:t>
            </a:fld>
            <a:endParaRPr lang="en-US" altLang="zh-CN"/>
          </a:p>
        </p:txBody>
      </p:sp>
    </p:spTree>
    <p:extLst>
      <p:ext uri="{BB962C8B-B14F-4D97-AF65-F5344CB8AC3E}">
        <p14:creationId xmlns:p14="http://schemas.microsoft.com/office/powerpoint/2010/main" val="33875697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51</a:t>
            </a:fld>
            <a:endParaRPr lang="en-US" altLang="zh-CN"/>
          </a:p>
        </p:txBody>
      </p:sp>
    </p:spTree>
    <p:extLst>
      <p:ext uri="{BB962C8B-B14F-4D97-AF65-F5344CB8AC3E}">
        <p14:creationId xmlns:p14="http://schemas.microsoft.com/office/powerpoint/2010/main" val="60464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52</a:t>
            </a:fld>
            <a:endParaRPr lang="en-US" altLang="zh-CN"/>
          </a:p>
        </p:txBody>
      </p:sp>
    </p:spTree>
    <p:extLst>
      <p:ext uri="{BB962C8B-B14F-4D97-AF65-F5344CB8AC3E}">
        <p14:creationId xmlns:p14="http://schemas.microsoft.com/office/powerpoint/2010/main" val="606944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53</a:t>
            </a:fld>
            <a:endParaRPr lang="en-US" altLang="zh-CN"/>
          </a:p>
        </p:txBody>
      </p:sp>
    </p:spTree>
    <p:extLst>
      <p:ext uri="{BB962C8B-B14F-4D97-AF65-F5344CB8AC3E}">
        <p14:creationId xmlns:p14="http://schemas.microsoft.com/office/powerpoint/2010/main" val="31638422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54</a:t>
            </a:fld>
            <a:endParaRPr lang="en-US" altLang="zh-CN"/>
          </a:p>
        </p:txBody>
      </p:sp>
    </p:spTree>
    <p:extLst>
      <p:ext uri="{BB962C8B-B14F-4D97-AF65-F5344CB8AC3E}">
        <p14:creationId xmlns:p14="http://schemas.microsoft.com/office/powerpoint/2010/main" val="16031367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55</a:t>
            </a:fld>
            <a:endParaRPr lang="en-US" altLang="zh-CN"/>
          </a:p>
        </p:txBody>
      </p:sp>
    </p:spTree>
    <p:extLst>
      <p:ext uri="{BB962C8B-B14F-4D97-AF65-F5344CB8AC3E}">
        <p14:creationId xmlns:p14="http://schemas.microsoft.com/office/powerpoint/2010/main" val="20240387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56</a:t>
            </a:fld>
            <a:endParaRPr lang="en-US" altLang="zh-CN"/>
          </a:p>
        </p:txBody>
      </p:sp>
    </p:spTree>
    <p:extLst>
      <p:ext uri="{BB962C8B-B14F-4D97-AF65-F5344CB8AC3E}">
        <p14:creationId xmlns:p14="http://schemas.microsoft.com/office/powerpoint/2010/main" val="27468877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57</a:t>
            </a:fld>
            <a:endParaRPr lang="en-US" altLang="zh-CN"/>
          </a:p>
        </p:txBody>
      </p:sp>
    </p:spTree>
    <p:extLst>
      <p:ext uri="{BB962C8B-B14F-4D97-AF65-F5344CB8AC3E}">
        <p14:creationId xmlns:p14="http://schemas.microsoft.com/office/powerpoint/2010/main" val="22160254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58</a:t>
            </a:fld>
            <a:endParaRPr lang="en-US" altLang="zh-CN"/>
          </a:p>
        </p:txBody>
      </p:sp>
    </p:spTree>
    <p:extLst>
      <p:ext uri="{BB962C8B-B14F-4D97-AF65-F5344CB8AC3E}">
        <p14:creationId xmlns:p14="http://schemas.microsoft.com/office/powerpoint/2010/main" val="33284705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59</a:t>
            </a:fld>
            <a:endParaRPr lang="en-US" altLang="zh-CN"/>
          </a:p>
        </p:txBody>
      </p:sp>
    </p:spTree>
    <p:extLst>
      <p:ext uri="{BB962C8B-B14F-4D97-AF65-F5344CB8AC3E}">
        <p14:creationId xmlns:p14="http://schemas.microsoft.com/office/powerpoint/2010/main" val="7918427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60</a:t>
            </a:fld>
            <a:endParaRPr lang="en-US" altLang="zh-CN"/>
          </a:p>
        </p:txBody>
      </p:sp>
    </p:spTree>
    <p:extLst>
      <p:ext uri="{BB962C8B-B14F-4D97-AF65-F5344CB8AC3E}">
        <p14:creationId xmlns:p14="http://schemas.microsoft.com/office/powerpoint/2010/main" val="34436680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61</a:t>
            </a:fld>
            <a:endParaRPr lang="en-US" altLang="zh-CN"/>
          </a:p>
        </p:txBody>
      </p:sp>
    </p:spTree>
    <p:extLst>
      <p:ext uri="{BB962C8B-B14F-4D97-AF65-F5344CB8AC3E}">
        <p14:creationId xmlns:p14="http://schemas.microsoft.com/office/powerpoint/2010/main" val="8573337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62</a:t>
            </a:fld>
            <a:endParaRPr lang="en-US" altLang="zh-CN"/>
          </a:p>
        </p:txBody>
      </p:sp>
    </p:spTree>
    <p:extLst>
      <p:ext uri="{BB962C8B-B14F-4D97-AF65-F5344CB8AC3E}">
        <p14:creationId xmlns:p14="http://schemas.microsoft.com/office/powerpoint/2010/main" val="6712384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63</a:t>
            </a:fld>
            <a:endParaRPr lang="en-US" altLang="zh-CN"/>
          </a:p>
        </p:txBody>
      </p:sp>
    </p:spTree>
    <p:extLst>
      <p:ext uri="{BB962C8B-B14F-4D97-AF65-F5344CB8AC3E}">
        <p14:creationId xmlns:p14="http://schemas.microsoft.com/office/powerpoint/2010/main" val="2161234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defRPr/>
            </a:pPr>
            <a:endParaRPr lang="en-US" altLang="zh-CN"/>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endParaRPr lang="en-US" altLang="zh-CN"/>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ADCF3EF2-F322-4E21-864D-1732D6788AEE}" type="slidenum">
              <a:rPr lang="en-US" altLang="zh-CN"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FFFFFF"/>
                </a:solidFill>
              </a:defRPr>
            </a:lvl1pPr>
          </a:lstStyle>
          <a:p>
            <a:pPr>
              <a:defRPr/>
            </a:pPr>
            <a:fld id="{FF1D26DA-BD19-4D67-A8CD-98DF63851E82}" type="slidenum">
              <a:rPr lang="en-US" altLang="zh-CN" smtClean="0"/>
              <a:pPr>
                <a:defRPr/>
              </a:pPr>
              <a:t>‹#›</a:t>
            </a:fld>
            <a:endParaRPr lang="en-US" altLang="zh-CN"/>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pPr>
              <a:defRPr/>
            </a:pPr>
            <a:endParaRPr lang="en-US" altLang="zh-CN"/>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defRPr/>
            </a:pPr>
            <a:fld id="{E4682576-72A6-44EC-96B8-1AE56513EF83}" type="slidenum">
              <a:rPr lang="en-US" altLang="zh-CN" smtClean="0"/>
              <a:pPr>
                <a:defRPr/>
              </a:pPr>
              <a:t>‹#›</a:t>
            </a:fld>
            <a:endParaRPr lang="en-US" altLang="zh-CN"/>
          </a:p>
        </p:txBody>
      </p:sp>
      <p:sp>
        <p:nvSpPr>
          <p:cNvPr id="14" name="页脚占位符 13"/>
          <p:cNvSpPr>
            <a:spLocks noGrp="1"/>
          </p:cNvSpPr>
          <p:nvPr>
            <p:ph type="ftr" sz="quarter" idx="12"/>
          </p:nvPr>
        </p:nvSpPr>
        <p:spPr/>
        <p:txBody>
          <a:body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8" name="日期占位符 7"/>
          <p:cNvSpPr>
            <a:spLocks noGrp="1"/>
          </p:cNvSpPr>
          <p:nvPr>
            <p:ph type="dt" sz="half" idx="15"/>
          </p:nvPr>
        </p:nvSpPr>
        <p:spPr/>
        <p:txBody>
          <a:bodyPr rtlCol="0"/>
          <a:lstStyle/>
          <a:p>
            <a:pPr>
              <a:defRPr/>
            </a:pPr>
            <a:endParaRPr lang="en-US" altLang="zh-CN"/>
          </a:p>
        </p:txBody>
      </p:sp>
      <p:sp>
        <p:nvSpPr>
          <p:cNvPr id="10" name="灯片编号占位符 9"/>
          <p:cNvSpPr>
            <a:spLocks noGrp="1"/>
          </p:cNvSpPr>
          <p:nvPr>
            <p:ph type="sldNum" sz="quarter" idx="16"/>
          </p:nvPr>
        </p:nvSpPr>
        <p:spPr/>
        <p:txBody>
          <a:bodyPr rtlCol="0"/>
          <a:lstStyle/>
          <a:p>
            <a:pPr>
              <a:defRPr/>
            </a:pPr>
            <a:fld id="{EA7C041F-B668-4702-B9BD-BC37AC265F9E}" type="slidenum">
              <a:rPr lang="en-US" altLang="zh-CN" smtClean="0"/>
              <a:pPr>
                <a:defRPr/>
              </a:pPr>
              <a:t>‹#›</a:t>
            </a:fld>
            <a:endParaRPr lang="en-US" altLang="zh-CN"/>
          </a:p>
        </p:txBody>
      </p:sp>
      <p:sp>
        <p:nvSpPr>
          <p:cNvPr id="12" name="页脚占位符 11"/>
          <p:cNvSpPr>
            <a:spLocks noGrp="1"/>
          </p:cNvSpPr>
          <p:nvPr>
            <p:ph type="ftr" sz="quarter" idx="17"/>
          </p:nvPr>
        </p:nvSpPr>
        <p:spPr/>
        <p:txBody>
          <a:bodyPr rtlCol="0"/>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5"/>
          </p:nvPr>
        </p:nvSpPr>
        <p:spPr/>
        <p:txBody>
          <a:bodyPr rtlCol="0"/>
          <a:lstStyle/>
          <a:p>
            <a:pPr>
              <a:defRPr/>
            </a:pPr>
            <a:endParaRPr lang="en-US" altLang="zh-CN"/>
          </a:p>
        </p:txBody>
      </p:sp>
      <p:sp>
        <p:nvSpPr>
          <p:cNvPr id="12" name="灯片编号占位符 11"/>
          <p:cNvSpPr>
            <a:spLocks noGrp="1"/>
          </p:cNvSpPr>
          <p:nvPr>
            <p:ph type="sldNum" sz="quarter" idx="16"/>
          </p:nvPr>
        </p:nvSpPr>
        <p:spPr/>
        <p:txBody>
          <a:bodyPr rtlCol="0"/>
          <a:lstStyle/>
          <a:p>
            <a:pPr>
              <a:defRPr/>
            </a:pPr>
            <a:fld id="{1D53936C-6C9A-4D0B-A677-26540B786F56}" type="slidenum">
              <a:rPr lang="en-US" altLang="zh-CN" smtClean="0"/>
              <a:pPr>
                <a:defRPr/>
              </a:pPr>
              <a:t>‹#›</a:t>
            </a:fld>
            <a:endParaRPr lang="en-US" altLang="zh-CN"/>
          </a:p>
        </p:txBody>
      </p:sp>
      <p:sp>
        <p:nvSpPr>
          <p:cNvPr id="14" name="页脚占位符 13"/>
          <p:cNvSpPr>
            <a:spLocks noGrp="1"/>
          </p:cNvSpPr>
          <p:nvPr>
            <p:ph type="ftr" sz="quarter" idx="17"/>
          </p:nvPr>
        </p:nvSpPr>
        <p:spPr/>
        <p:txBody>
          <a:bodyPr rtlCol="0"/>
          <a:lstStyle/>
          <a:p>
            <a:pPr>
              <a:defRPr/>
            </a:pPr>
            <a:endParaRPr lang="en-US" altLang="zh-CN"/>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lvl1pPr>
              <a:defRPr>
                <a:solidFill>
                  <a:srgbClr val="FFFFFF"/>
                </a:solidFill>
              </a:defRPr>
            </a:lvl1pPr>
          </a:lstStyle>
          <a:p>
            <a:pPr>
              <a:defRPr/>
            </a:pPr>
            <a:fld id="{7BB40C4A-E2FA-41F7-B524-CB2D71B451BD}"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BA7CE023-F055-424B-845A-AF251D9171BF}"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lvl1pPr>
              <a:defRPr>
                <a:solidFill>
                  <a:srgbClr val="FFFFFF"/>
                </a:solidFill>
              </a:defRPr>
            </a:lvl1pPr>
          </a:lstStyle>
          <a:p>
            <a:pPr>
              <a:defRPr/>
            </a:pPr>
            <a:fld id="{B62F658C-F11C-40E2-8256-0F2B2C446C58}" type="slidenum">
              <a:rPr lang="en-US" altLang="zh-CN" smtClean="0"/>
              <a:pPr>
                <a:defRPr/>
              </a:pPr>
              <a:t>‹#›</a:t>
            </a:fld>
            <a:endParaRPr lang="en-US" altLang="zh-CN"/>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pPr>
              <a:defRPr/>
            </a:pPr>
            <a:endParaRPr lang="en-US" altLang="zh-CN"/>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pPr>
              <a:defRPr/>
            </a:pPr>
            <a:fld id="{089A224F-FD21-49DA-84E3-EA3B65ACB0B4}" type="slidenum">
              <a:rPr lang="en-US" altLang="zh-CN" smtClean="0"/>
              <a:pPr>
                <a:defRPr/>
              </a:pPr>
              <a:t>‹#›</a:t>
            </a:fld>
            <a:endParaRPr lang="en-US" altLang="zh-CN"/>
          </a:p>
        </p:txBody>
      </p:sp>
      <p:sp>
        <p:nvSpPr>
          <p:cNvPr id="14" name="页脚占位符 13"/>
          <p:cNvSpPr>
            <a:spLocks noGrp="1"/>
          </p:cNvSpPr>
          <p:nvPr>
            <p:ph type="ftr" sz="quarter" idx="12"/>
          </p:nvPr>
        </p:nvSpPr>
        <p:spPr>
          <a:xfrm>
            <a:off x="1600200" y="6248206"/>
            <a:ext cx="4572000" cy="365125"/>
          </a:xfrm>
        </p:spPr>
        <p:txBody>
          <a:bodyPr rtlCol="0"/>
          <a:lstStyle/>
          <a:p>
            <a:pPr>
              <a:defRPr/>
            </a:pPr>
            <a:endParaRPr lang="en-US" altLang="zh-CN"/>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9409584E-468D-4873-AFC9-B471BECCB485}"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pPr>
              <a:defRPr/>
            </a:pPr>
            <a:endParaRPr lang="en-US" altLang="zh-CN"/>
          </a:p>
        </p:txBody>
      </p:sp>
      <p:sp>
        <p:nvSpPr>
          <p:cNvPr id="5" name="页脚占位符 4"/>
          <p:cNvSpPr>
            <a:spLocks noGrp="1"/>
          </p:cNvSpPr>
          <p:nvPr>
            <p:ph type="ftr" sz="quarter" idx="11"/>
          </p:nvPr>
        </p:nvSpPr>
        <p:spPr>
          <a:xfrm>
            <a:off x="457201" y="6248207"/>
            <a:ext cx="5573483" cy="365125"/>
          </a:xfrm>
        </p:spPr>
        <p:txBody>
          <a:bodyPr/>
          <a:lstStyle/>
          <a:p>
            <a:pPr>
              <a:defRPr/>
            </a:pPr>
            <a:endParaRPr lang="en-US" altLang="zh-CN"/>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pPr>
              <a:defRPr/>
            </a:pPr>
            <a:fld id="{29838B03-967F-4B5A-AE44-FB1928A13337}"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ltLang="zh-CN"/>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ltLang="zh-CN"/>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EBFC0C85-D28B-4DFC-9354-850FCD479C59}"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gif"/><Relationship Id="rId4" Type="http://schemas.openxmlformats.org/officeDocument/2006/relationships/image" Target="../media/image4.gif"/></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audio" Target="../media/audio2.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16.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audio" Target="../media/audio1.wav"/><Relationship Id="rId7" Type="http://schemas.openxmlformats.org/officeDocument/2006/relationships/image" Target="../media/image4.gif"/><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audio" Target="../media/audio2.wav"/></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audio" Target="../media/audio1.wav"/><Relationship Id="rId7" Type="http://schemas.openxmlformats.org/officeDocument/2006/relationships/image" Target="../media/image5.gi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13.png"/><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audio" Target="../media/audio1.wav"/><Relationship Id="rId7" Type="http://schemas.openxmlformats.org/officeDocument/2006/relationships/image" Target="../media/image4.gif"/><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audio" Target="../media/audio2.wav"/></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24.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notesSlide" Target="../notesSlides/notesSlide24.xml"/><Relationship Id="rId7" Type="http://schemas.openxmlformats.org/officeDocument/2006/relationships/image" Target="../media/image4.gi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8.wmf"/><Relationship Id="rId5" Type="http://schemas.openxmlformats.org/officeDocument/2006/relationships/oleObject" Target="../embeddings/oleObject1.bin"/><Relationship Id="rId4"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9.png"/><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audio" Target="../media/audio2.wav"/></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gif"/><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20.png"/><Relationship Id="rId4" Type="http://schemas.openxmlformats.org/officeDocument/2006/relationships/audio" Target="../media/audio2.wav"/></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audio" Target="../media/audio2.wav"/></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1.png"/><Relationship Id="rId4"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2.png"/><Relationship Id="rId4"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3.png"/><Relationship Id="rId4"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4.png"/><Relationship Id="rId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audio" Target="../media/audio2.wav"/></Relationships>
</file>

<file path=ppt/slides/_rels/slide38.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audio" Target="../media/audio2.wav"/><Relationship Id="rId7" Type="http://schemas.openxmlformats.org/officeDocument/2006/relationships/image" Target="../media/image5.gif"/><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25.png"/><Relationship Id="rId4" Type="http://schemas.openxmlformats.org/officeDocument/2006/relationships/audio" Target="../media/audio1.wav"/><Relationship Id="rId9" Type="http://schemas.openxmlformats.org/officeDocument/2006/relationships/image" Target="../media/image26.emf"/></Relationships>
</file>

<file path=ppt/slides/_rels/slide39.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notesSlide" Target="../notesSlides/notesSlide39.xml"/><Relationship Id="rId7" Type="http://schemas.openxmlformats.org/officeDocument/2006/relationships/customXml" Target="../ink/ink2.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7.png"/><Relationship Id="rId5" Type="http://schemas.openxmlformats.org/officeDocument/2006/relationships/oleObject" Target="../embeddings/oleObject7.bin"/><Relationship Id="rId4" Type="http://schemas.openxmlformats.org/officeDocument/2006/relationships/audio" Target="../media/audio2.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9.png"/><Relationship Id="rId5" Type="http://schemas.openxmlformats.org/officeDocument/2006/relationships/oleObject" Target="../embeddings/oleObject8.bin"/><Relationship Id="rId4" Type="http://schemas.openxmlformats.org/officeDocument/2006/relationships/audio" Target="../media/audio2.wav"/></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9.bin"/><Relationship Id="rId5" Type="http://schemas.openxmlformats.org/officeDocument/2006/relationships/image" Target="../media/image25.png"/><Relationship Id="rId4" Type="http://schemas.openxmlformats.org/officeDocument/2006/relationships/audio" Target="../media/audio2.wav"/></Relationships>
</file>

<file path=ppt/slides/_rels/slide42.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notesSlide" Target="../notesSlides/notesSlide42.xml"/><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0.bin"/><Relationship Id="rId5" Type="http://schemas.openxmlformats.org/officeDocument/2006/relationships/image" Target="../media/image25.png"/><Relationship Id="rId4" Type="http://schemas.openxmlformats.org/officeDocument/2006/relationships/audio" Target="../media/audio2.wav"/><Relationship Id="rId9" Type="http://schemas.openxmlformats.org/officeDocument/2006/relationships/image" Target="../media/image32.emf"/></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1.bin"/><Relationship Id="rId5" Type="http://schemas.openxmlformats.org/officeDocument/2006/relationships/image" Target="../media/image25.png"/><Relationship Id="rId4" Type="http://schemas.openxmlformats.org/officeDocument/2006/relationships/audio" Target="../media/audio2.wav"/></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44.xml"/><Relationship Id="rId7"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2.bin"/><Relationship Id="rId11" Type="http://schemas.openxmlformats.org/officeDocument/2006/relationships/image" Target="../media/image36.emf"/><Relationship Id="rId5" Type="http://schemas.openxmlformats.org/officeDocument/2006/relationships/image" Target="../media/image25.png"/><Relationship Id="rId10" Type="http://schemas.openxmlformats.org/officeDocument/2006/relationships/customXml" Target="../ink/ink4.xml"/><Relationship Id="rId4" Type="http://schemas.openxmlformats.org/officeDocument/2006/relationships/audio" Target="../media/audio2.wav"/><Relationship Id="rId9" Type="http://schemas.openxmlformats.org/officeDocument/2006/relationships/image" Target="../media/image35.png"/></Relationships>
</file>

<file path=ppt/slides/_rels/slide45.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image" Target="../media/image4.gif"/><Relationship Id="rId3" Type="http://schemas.openxmlformats.org/officeDocument/2006/relationships/notesSlide" Target="../notesSlides/notesSlide45.xml"/><Relationship Id="rId7" Type="http://schemas.openxmlformats.org/officeDocument/2006/relationships/oleObject" Target="../embeddings/oleObject14.bin"/><Relationship Id="rId12"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0.png"/><Relationship Id="rId11" Type="http://schemas.openxmlformats.org/officeDocument/2006/relationships/oleObject" Target="../embeddings/oleObject16.bin"/><Relationship Id="rId5" Type="http://schemas.openxmlformats.org/officeDocument/2006/relationships/audio" Target="../media/audio2.wav"/><Relationship Id="rId10" Type="http://schemas.openxmlformats.org/officeDocument/2006/relationships/image" Target="../media/image38.wmf"/><Relationship Id="rId4" Type="http://schemas.openxmlformats.org/officeDocument/2006/relationships/audio" Target="../media/audio1.wav"/><Relationship Id="rId9" Type="http://schemas.openxmlformats.org/officeDocument/2006/relationships/oleObject" Target="../embeddings/oleObject15.bin"/><Relationship Id="rId14" Type="http://schemas.openxmlformats.org/officeDocument/2006/relationships/image" Target="../media/image5.gif"/></Relationships>
</file>

<file path=ppt/slides/_rels/slide4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46.xml"/><Relationship Id="rId7" Type="http://schemas.openxmlformats.org/officeDocument/2006/relationships/image" Target="../media/image41.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7.bin"/><Relationship Id="rId5" Type="http://schemas.openxmlformats.org/officeDocument/2006/relationships/audio" Target="../media/audio2.wav"/><Relationship Id="rId10" Type="http://schemas.openxmlformats.org/officeDocument/2006/relationships/image" Target="../media/image5.gif"/><Relationship Id="rId4" Type="http://schemas.openxmlformats.org/officeDocument/2006/relationships/audio" Target="../media/audio1.wav"/><Relationship Id="rId9" Type="http://schemas.openxmlformats.org/officeDocument/2006/relationships/image" Target="../media/image4.gif"/></Relationships>
</file>

<file path=ppt/slides/_rels/slide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gif"/><Relationship Id="rId4" Type="http://schemas.openxmlformats.org/officeDocument/2006/relationships/image" Target="../media/image4.gif"/></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p:cNvPicPr>
            <a:picLocks noChangeAspect="1"/>
          </p:cNvPicPr>
          <p:nvPr/>
        </p:nvPicPr>
        <p:blipFill>
          <a:blip r:embed="rId3" cstate="print"/>
          <a:srcRect/>
          <a:stretch>
            <a:fillRect/>
          </a:stretch>
        </p:blipFill>
        <p:spPr bwMode="auto">
          <a:xfrm>
            <a:off x="4286250" y="0"/>
            <a:ext cx="4857750" cy="2000250"/>
          </a:xfrm>
          <a:prstGeom prst="rect">
            <a:avLst/>
          </a:prstGeom>
          <a:noFill/>
          <a:ln w="9525">
            <a:noFill/>
            <a:miter lim="800000"/>
            <a:headEnd/>
            <a:tailEnd/>
          </a:ln>
        </p:spPr>
      </p:pic>
      <p:sp>
        <p:nvSpPr>
          <p:cNvPr id="2" name="Rectangle 2"/>
          <p:cNvSpPr>
            <a:spLocks noGrp="1" noChangeArrowheads="1"/>
          </p:cNvSpPr>
          <p:nvPr>
            <p:ph type="ctrTitle"/>
          </p:nvPr>
        </p:nvSpPr>
        <p:spPr>
          <a:xfrm>
            <a:off x="609600" y="1905000"/>
            <a:ext cx="7772400" cy="1143000"/>
          </a:xfrm>
        </p:spPr>
        <p:txBody>
          <a:bodyPr rtlCol="0">
            <a:normAutofit fontScale="90000"/>
          </a:bodyPr>
          <a:lstStyle/>
          <a:p>
            <a:pPr fontAlgn="auto">
              <a:spcAft>
                <a:spcPts val="0"/>
              </a:spcAft>
              <a:defRPr/>
            </a:pPr>
            <a:r>
              <a:rPr lang="en-US" altLang="zh-CN" dirty="0"/>
              <a:t>CST 205</a:t>
            </a:r>
            <a:br>
              <a:rPr lang="en-US" altLang="zh-CN" dirty="0"/>
            </a:br>
            <a:r>
              <a:rPr lang="en-US" altLang="zh-CN" dirty="0"/>
              <a:t>Digital logic</a:t>
            </a:r>
          </a:p>
        </p:txBody>
      </p:sp>
      <p:sp>
        <p:nvSpPr>
          <p:cNvPr id="2051" name="Rectangle 3"/>
          <p:cNvSpPr>
            <a:spLocks noGrp="1" noChangeArrowheads="1"/>
          </p:cNvSpPr>
          <p:nvPr>
            <p:ph type="subTitle" idx="1"/>
          </p:nvPr>
        </p:nvSpPr>
        <p:spPr>
          <a:xfrm>
            <a:off x="676308" y="4077072"/>
            <a:ext cx="8162892" cy="2071701"/>
          </a:xfrm>
        </p:spPr>
        <p:txBody>
          <a:bodyPr rtlCol="0">
            <a:noAutofit/>
          </a:bodyPr>
          <a:lstStyle/>
          <a:p>
            <a:pPr marL="342900" indent="-342900">
              <a:defRPr/>
            </a:pPr>
            <a:r>
              <a:rPr lang="en-US" altLang="zh-CN" sz="2400" b="1" dirty="0">
                <a:solidFill>
                  <a:schemeClr val="tx1"/>
                </a:solidFill>
              </a:rPr>
              <a:t>Synchronous Sequential Logic Circuit</a:t>
            </a:r>
          </a:p>
          <a:p>
            <a:pPr marL="342900" indent="-342900" fontAlgn="auto">
              <a:spcAft>
                <a:spcPts val="0"/>
              </a:spcAft>
              <a:buFont typeface="Arial" pitchFamily="34" charset="0"/>
              <a:buNone/>
              <a:defRPr/>
            </a:pPr>
            <a:r>
              <a:rPr lang="en-US" altLang="zh-CN" sz="2400" b="1">
                <a:solidFill>
                  <a:schemeClr val="tx1"/>
                </a:solidFill>
              </a:rPr>
              <a:t>Chapter 5.3 </a:t>
            </a:r>
            <a:r>
              <a:rPr lang="en-US" altLang="zh-CN" sz="2400" b="1" dirty="0">
                <a:solidFill>
                  <a:schemeClr val="tx1"/>
                </a:solidFill>
              </a:rPr>
              <a:t>						Dr. Fei Chao</a:t>
            </a:r>
          </a:p>
          <a:p>
            <a:pPr marL="342900" indent="-342900" algn="r">
              <a:defRPr/>
            </a:pPr>
            <a:r>
              <a:rPr lang="en-US" altLang="zh-CN" sz="2400" b="1" dirty="0">
                <a:solidFill>
                  <a:schemeClr val="tx1"/>
                </a:solidFill>
              </a:rPr>
              <a:t>Associate Professor</a:t>
            </a:r>
          </a:p>
          <a:p>
            <a:pPr marL="342900" indent="-342900" algn="r">
              <a:defRPr/>
            </a:pPr>
            <a:r>
              <a:rPr lang="en-US" altLang="zh-CN" sz="2400" b="1" dirty="0">
                <a:solidFill>
                  <a:schemeClr val="tx1"/>
                </a:solidFill>
              </a:rPr>
              <a:t>Cognitive Science Department</a:t>
            </a:r>
          </a:p>
          <a:p>
            <a:pPr marL="342900" indent="-342900" algn="r">
              <a:defRPr/>
            </a:pPr>
            <a:r>
              <a:rPr lang="en-US" altLang="zh-CN" sz="2400" b="1" dirty="0">
                <a:solidFill>
                  <a:schemeClr val="tx1"/>
                </a:solidFill>
              </a:rPr>
              <a:t>School of Information Science and Technology</a:t>
            </a:r>
          </a:p>
          <a:p>
            <a:pPr marL="342900" indent="-342900" algn="r">
              <a:defRPr/>
            </a:pPr>
            <a:r>
              <a:rPr lang="en-US" altLang="zh-CN" sz="2400" b="1" dirty="0">
                <a:solidFill>
                  <a:schemeClr val="tx1"/>
                </a:solidFill>
              </a:rPr>
              <a:t>Xiamen University</a:t>
            </a:r>
          </a:p>
          <a:p>
            <a:pPr marL="342900" indent="-342900" algn="r">
              <a:defRPr/>
            </a:pPr>
            <a:r>
              <a:rPr lang="en-US" altLang="zh-CN" sz="2400" b="1" dirty="0">
                <a:solidFill>
                  <a:schemeClr val="tx1"/>
                </a:solidFill>
              </a:rPr>
              <a:t>fchao@xmu.edu.my</a:t>
            </a:r>
          </a:p>
          <a:p>
            <a:pPr marL="342900" indent="-342900" fontAlgn="auto">
              <a:spcAft>
                <a:spcPts val="0"/>
              </a:spcAft>
              <a:buFont typeface="Arial" pitchFamily="34" charset="0"/>
              <a:buNone/>
              <a:defRPr/>
            </a:pPr>
            <a:endParaRPr lang="en-US" altLang="zh-CN" sz="2100" b="1" dirty="0">
              <a:solidFill>
                <a:schemeClr val="tx1"/>
              </a:solidFill>
            </a:endParaRPr>
          </a:p>
          <a:p>
            <a:pPr marL="342900" indent="-342900" fontAlgn="auto">
              <a:spcAft>
                <a:spcPts val="0"/>
              </a:spcAft>
              <a:buFont typeface="Arial" pitchFamily="34" charset="0"/>
              <a:buNone/>
              <a:defRPr/>
            </a:pPr>
            <a:endParaRPr lang="en-US" altLang="zh-CN" sz="2100" b="1" dirty="0">
              <a:solidFill>
                <a:schemeClr val="tx1"/>
              </a:solidFill>
            </a:endParaRPr>
          </a:p>
          <a:p>
            <a:pPr marL="2057400" lvl="4" indent="-228600" fontAlgn="auto">
              <a:spcAft>
                <a:spcPts val="0"/>
              </a:spcAft>
              <a:buFont typeface="Arial" pitchFamily="34" charset="0"/>
              <a:buNone/>
              <a:defRPr/>
            </a:pPr>
            <a:endParaRPr lang="en-US" altLang="zh-CN" sz="2100" b="1" dirty="0"/>
          </a:p>
        </p:txBody>
      </p:sp>
      <p:sp>
        <p:nvSpPr>
          <p:cNvPr id="5" name="灯片编号占位符 4"/>
          <p:cNvSpPr>
            <a:spLocks noGrp="1"/>
          </p:cNvSpPr>
          <p:nvPr>
            <p:ph type="sldNum" sz="quarter" idx="12"/>
          </p:nvPr>
        </p:nvSpPr>
        <p:spPr/>
        <p:txBody>
          <a:bodyPr/>
          <a:lstStyle/>
          <a:p>
            <a:pPr>
              <a:defRPr/>
            </a:pPr>
            <a:fld id="{ADCF3EF2-F322-4E21-864D-1732D6788AEE}" type="slidenum">
              <a:rPr lang="en-US" altLang="zh-CN" smtClean="0"/>
              <a:pPr>
                <a:defRPr/>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8">
            <a:extLst>
              <a:ext uri="{FF2B5EF4-FFF2-40B4-BE49-F238E27FC236}">
                <a16:creationId xmlns:a16="http://schemas.microsoft.com/office/drawing/2014/main" id="{0D5AE218-E880-43CB-B286-165787622700}"/>
              </a:ext>
            </a:extLst>
          </p:cNvPr>
          <p:cNvSpPr txBox="1">
            <a:spLocks noChangeArrowheads="1"/>
          </p:cNvSpPr>
          <p:nvPr/>
        </p:nvSpPr>
        <p:spPr bwMode="auto">
          <a:xfrm>
            <a:off x="434320" y="286033"/>
            <a:ext cx="4103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5.3.2</a:t>
            </a:r>
            <a:r>
              <a:rPr lang="zh-CN" altLang="en-US" sz="2400" b="1" dirty="0">
                <a:solidFill>
                  <a:srgbClr val="990000"/>
                </a:solidFill>
                <a:latin typeface="Times New Roman" panose="02020603050405020304" pitchFamily="18" charset="0"/>
              </a:rPr>
              <a:t>　</a:t>
            </a:r>
            <a:r>
              <a:rPr lang="en-US" altLang="zh-CN" sz="2400" b="1" dirty="0">
                <a:solidFill>
                  <a:srgbClr val="990000"/>
                </a:solidFill>
                <a:latin typeface="Times New Roman" panose="02020603050405020304" pitchFamily="18" charset="0"/>
              </a:rPr>
              <a:t>State reduction</a:t>
            </a:r>
            <a:endParaRPr lang="zh-CN" altLang="en-US" sz="2400" b="1" dirty="0">
              <a:solidFill>
                <a:srgbClr val="990000"/>
              </a:solidFill>
              <a:latin typeface="Times New Roman" panose="02020603050405020304" pitchFamily="18" charset="0"/>
            </a:endParaRPr>
          </a:p>
        </p:txBody>
      </p:sp>
      <p:sp>
        <p:nvSpPr>
          <p:cNvPr id="71683" name="Text Box 9">
            <a:extLst>
              <a:ext uri="{FF2B5EF4-FFF2-40B4-BE49-F238E27FC236}">
                <a16:creationId xmlns:a16="http://schemas.microsoft.com/office/drawing/2014/main" id="{67C6EC29-A379-476B-A9B7-C990E852BE41}"/>
              </a:ext>
            </a:extLst>
          </p:cNvPr>
          <p:cNvSpPr txBox="1">
            <a:spLocks noChangeArrowheads="1"/>
          </p:cNvSpPr>
          <p:nvPr/>
        </p:nvSpPr>
        <p:spPr bwMode="auto">
          <a:xfrm>
            <a:off x="441216" y="747698"/>
            <a:ext cx="83978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solidFill>
                  <a:srgbClr val="000099"/>
                </a:solidFill>
                <a:latin typeface="Times New Roman" panose="02020603050405020304" pitchFamily="18" charset="0"/>
              </a:rPr>
              <a:t>What is state reduction? The so-called state reduction refers to the use of some reduction technique to eliminate redundant state from the basic state table, and obtain a state table that can correctly describe a given logic function and minimize the number of states involved. This state table is called a modified state table or reduced state table.</a:t>
            </a:r>
            <a:endParaRPr lang="zh-CN" altLang="en-US" sz="2400" dirty="0">
              <a:latin typeface="Times New Roman" panose="02020603050405020304" pitchFamily="18" charset="0"/>
            </a:endParaRPr>
          </a:p>
        </p:txBody>
      </p:sp>
      <p:sp>
        <p:nvSpPr>
          <p:cNvPr id="71684" name="Text Box 10">
            <a:extLst>
              <a:ext uri="{FF2B5EF4-FFF2-40B4-BE49-F238E27FC236}">
                <a16:creationId xmlns:a16="http://schemas.microsoft.com/office/drawing/2014/main" id="{002D03FC-356C-41AC-B2F5-1A02C2AEAFF1}"/>
              </a:ext>
            </a:extLst>
          </p:cNvPr>
          <p:cNvSpPr txBox="1">
            <a:spLocks noChangeArrowheads="1"/>
          </p:cNvSpPr>
          <p:nvPr/>
        </p:nvSpPr>
        <p:spPr bwMode="auto">
          <a:xfrm>
            <a:off x="457200" y="3124200"/>
            <a:ext cx="8686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Objective</a:t>
            </a:r>
            <a:r>
              <a:rPr lang="zh-CN" altLang="en-US" sz="2400" b="1" dirty="0">
                <a:solidFill>
                  <a:srgbClr val="000099"/>
                </a:solidFill>
                <a:latin typeface="Times New Roman" panose="02020603050405020304" pitchFamily="18" charset="0"/>
              </a:rPr>
              <a:t>：</a:t>
            </a:r>
            <a:r>
              <a:rPr lang="en-US" altLang="zh-CN" dirty="0">
                <a:latin typeface="Times New Roman" panose="02020603050405020304" pitchFamily="18" charset="0"/>
              </a:rPr>
              <a:t>Simplify the circuit structure. The number of states directly determines how many flip-flops are needed in the circuit. Let the number of states be n and the number of flip-flops required be m, then the following relationship should be satisfied:</a:t>
            </a:r>
            <a:r>
              <a:rPr lang="zh-CN" altLang="en-US" sz="2400" dirty="0">
                <a:solidFill>
                  <a:schemeClr val="tx2"/>
                </a:solidFill>
                <a:latin typeface="Times New Roman" panose="02020603050405020304" pitchFamily="18" charset="0"/>
              </a:rPr>
              <a:t>　　　　　　　　　</a:t>
            </a:r>
            <a:r>
              <a:rPr lang="en-US" altLang="zh-CN" sz="2400" dirty="0">
                <a:solidFill>
                  <a:schemeClr val="tx2"/>
                </a:solidFill>
                <a:latin typeface="Times New Roman" panose="02020603050405020304" pitchFamily="18" charset="0"/>
              </a:rPr>
              <a:t>2</a:t>
            </a:r>
            <a:r>
              <a:rPr lang="en-US" altLang="zh-CN" sz="2400" baseline="30000" dirty="0">
                <a:solidFill>
                  <a:schemeClr val="tx2"/>
                </a:solidFill>
                <a:latin typeface="Times New Roman" panose="02020603050405020304" pitchFamily="18" charset="0"/>
              </a:rPr>
              <a:t>m </a:t>
            </a:r>
            <a:r>
              <a:rPr lang="en-US" altLang="zh-CN" sz="2400" dirty="0">
                <a:solidFill>
                  <a:schemeClr val="tx2"/>
                </a:solidFill>
                <a:latin typeface="Times New Roman" panose="02020603050405020304" pitchFamily="18" charset="0"/>
              </a:rPr>
              <a:t> ≥ n </a:t>
            </a:r>
            <a:r>
              <a:rPr lang="zh-CN" altLang="en-US" sz="2400" dirty="0">
                <a:solidFill>
                  <a:schemeClr val="tx2"/>
                </a:solidFill>
                <a:latin typeface="Times New Roman" panose="02020603050405020304" pitchFamily="18" charset="0"/>
              </a:rPr>
              <a:t>＞ </a:t>
            </a:r>
            <a:r>
              <a:rPr lang="en-US" altLang="zh-CN" sz="2400" dirty="0">
                <a:solidFill>
                  <a:schemeClr val="tx2"/>
                </a:solidFill>
                <a:latin typeface="Times New Roman" panose="02020603050405020304" pitchFamily="18" charset="0"/>
              </a:rPr>
              <a:t>2 </a:t>
            </a:r>
            <a:r>
              <a:rPr lang="en-US" altLang="zh-CN" sz="2400" baseline="30000" dirty="0">
                <a:solidFill>
                  <a:schemeClr val="tx2"/>
                </a:solidFill>
                <a:latin typeface="Times New Roman" panose="02020603050405020304" pitchFamily="18" charset="0"/>
              </a:rPr>
              <a:t>m-1</a:t>
            </a:r>
            <a:r>
              <a:rPr lang="zh-CN" altLang="en-US" sz="2400" dirty="0">
                <a:latin typeface="Times New Roman" panose="02020603050405020304" pitchFamily="18" charset="0"/>
              </a:rPr>
              <a:t>　　</a:t>
            </a:r>
          </a:p>
        </p:txBody>
      </p:sp>
      <p:sp>
        <p:nvSpPr>
          <p:cNvPr id="71685" name="Text Box 11">
            <a:extLst>
              <a:ext uri="{FF2B5EF4-FFF2-40B4-BE49-F238E27FC236}">
                <a16:creationId xmlns:a16="http://schemas.microsoft.com/office/drawing/2014/main" id="{23A3C9BB-312C-45CF-8ADA-EF72BF93CFDC}"/>
              </a:ext>
            </a:extLst>
          </p:cNvPr>
          <p:cNvSpPr txBox="1">
            <a:spLocks noChangeArrowheads="1"/>
          </p:cNvSpPr>
          <p:nvPr/>
        </p:nvSpPr>
        <p:spPr bwMode="auto">
          <a:xfrm>
            <a:off x="434320" y="5280039"/>
            <a:ext cx="85502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Times New Roman" panose="02020603050405020304" pitchFamily="18" charset="0"/>
              </a:rPr>
              <a:t>　　</a:t>
            </a:r>
            <a:r>
              <a:rPr lang="en-US" altLang="zh-CN" dirty="0">
                <a:solidFill>
                  <a:srgbClr val="000099"/>
                </a:solidFill>
                <a:latin typeface="Times New Roman" panose="02020603050405020304" pitchFamily="18" charset="0"/>
              </a:rPr>
              <a:t>Methods: </a:t>
            </a:r>
            <a:r>
              <a:rPr lang="en-US" altLang="zh-CN" dirty="0">
                <a:latin typeface="Times New Roman" panose="02020603050405020304" pitchFamily="18" charset="0"/>
              </a:rPr>
              <a:t>Common methods include observation method, output classification method, and implicant chart method. The most commonly used methods are discussed below – the observation method and implication chart method.</a:t>
            </a:r>
            <a:endParaRPr lang="zh-CN" altLang="en-US" dirty="0">
              <a:latin typeface="Times New Roman" panose="02020603050405020304" pitchFamily="18" charset="0"/>
            </a:endParaRPr>
          </a:p>
        </p:txBody>
      </p:sp>
      <p:pic>
        <p:nvPicPr>
          <p:cNvPr id="75782" name="Picture 13" descr="Right_Green">
            <a:hlinkClick r:id="" action="ppaction://hlinkshowjump?jump=nextslide"/>
            <a:extLst>
              <a:ext uri="{FF2B5EF4-FFF2-40B4-BE49-F238E27FC236}">
                <a16:creationId xmlns:a16="http://schemas.microsoft.com/office/drawing/2014/main" id="{FCDB6DAD-54B6-4B39-9048-167C04DF3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Picture 14" descr="Left_Green">
            <a:hlinkClick r:id="" action="ppaction://hlinkshowjump?jump=previousslide"/>
            <a:extLst>
              <a:ext uri="{FF2B5EF4-FFF2-40B4-BE49-F238E27FC236}">
                <a16:creationId xmlns:a16="http://schemas.microsoft.com/office/drawing/2014/main" id="{C8EBD0CF-93A4-4E3C-9FF7-BA60B99EFB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0065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82"/>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71683"/>
                                        </p:tgtEl>
                                        <p:attrNameLst>
                                          <p:attrName>style.visibility</p:attrName>
                                        </p:attrNameLst>
                                      </p:cBhvr>
                                      <p:to>
                                        <p:strVal val="visible"/>
                                      </p:to>
                                    </p:set>
                                    <p:animEffect transition="in" filter="randombar(horizontal)">
                                      <p:cBhvr>
                                        <p:cTn id="11" dur="500"/>
                                        <p:tgtEl>
                                          <p:spTgt spid="716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1684"/>
                                        </p:tgtEl>
                                        <p:attrNameLst>
                                          <p:attrName>style.visibility</p:attrName>
                                        </p:attrNameLst>
                                      </p:cBhvr>
                                      <p:to>
                                        <p:strVal val="visible"/>
                                      </p:to>
                                    </p:set>
                                    <p:animEffect transition="in" filter="wipe(up)">
                                      <p:cBhvr>
                                        <p:cTn id="16" dur="500"/>
                                        <p:tgtEl>
                                          <p:spTgt spid="7168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1685"/>
                                        </p:tgtEl>
                                        <p:attrNameLst>
                                          <p:attrName>style.visibility</p:attrName>
                                        </p:attrNameLst>
                                      </p:cBhvr>
                                      <p:to>
                                        <p:strVal val="visible"/>
                                      </p:to>
                                    </p:set>
                                    <p:animEffect transition="in" filter="blinds(horizontal)">
                                      <p:cBhvr>
                                        <p:cTn id="21" dur="5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utoUpdateAnimBg="0"/>
      <p:bldP spid="71683" grpId="0" autoUpdateAnimBg="0"/>
      <p:bldP spid="71684" grpId="0" autoUpdateAnimBg="0"/>
      <p:bldP spid="7168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10">
            <a:extLst>
              <a:ext uri="{FF2B5EF4-FFF2-40B4-BE49-F238E27FC236}">
                <a16:creationId xmlns:a16="http://schemas.microsoft.com/office/drawing/2014/main" id="{5CAE0E87-1C70-4068-9F54-4A00F3B26FB8}"/>
              </a:ext>
            </a:extLst>
          </p:cNvPr>
          <p:cNvSpPr txBox="1">
            <a:spLocks noChangeArrowheads="1"/>
          </p:cNvSpPr>
          <p:nvPr/>
        </p:nvSpPr>
        <p:spPr bwMode="auto">
          <a:xfrm>
            <a:off x="900112" y="765175"/>
            <a:ext cx="67198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990000"/>
                </a:solidFill>
                <a:latin typeface="Times New Roman" panose="02020603050405020304" pitchFamily="18" charset="0"/>
              </a:rPr>
              <a:t>I. </a:t>
            </a:r>
            <a:r>
              <a:rPr lang="zh-CN" altLang="en-US" sz="2400" b="1" dirty="0">
                <a:solidFill>
                  <a:srgbClr val="990000"/>
                </a:solidFill>
                <a:latin typeface="Times New Roman" panose="02020603050405020304" pitchFamily="18" charset="0"/>
              </a:rPr>
              <a:t>、 </a:t>
            </a:r>
            <a:r>
              <a:rPr lang="en-US" altLang="zh-CN" sz="2400" b="1" dirty="0">
                <a:solidFill>
                  <a:srgbClr val="990000"/>
                </a:solidFill>
                <a:latin typeface="Times New Roman" panose="02020603050405020304" pitchFamily="18" charset="0"/>
              </a:rPr>
              <a:t>Reduction </a:t>
            </a:r>
            <a:r>
              <a:rPr lang="en-US" altLang="zh-CN" dirty="0">
                <a:solidFill>
                  <a:srgbClr val="990000"/>
                </a:solidFill>
                <a:latin typeface="Times New Roman" panose="02020603050405020304" pitchFamily="18" charset="0"/>
              </a:rPr>
              <a:t>of completely specified state table</a:t>
            </a:r>
            <a:endParaRPr lang="zh-CN" altLang="en-US" sz="2400" b="1" dirty="0">
              <a:solidFill>
                <a:srgbClr val="990000"/>
              </a:solidFill>
              <a:latin typeface="Times New Roman" panose="02020603050405020304" pitchFamily="18" charset="0"/>
            </a:endParaRPr>
          </a:p>
        </p:txBody>
      </p:sp>
      <p:sp>
        <p:nvSpPr>
          <p:cNvPr id="72707" name="Text Box 11">
            <a:extLst>
              <a:ext uri="{FF2B5EF4-FFF2-40B4-BE49-F238E27FC236}">
                <a16:creationId xmlns:a16="http://schemas.microsoft.com/office/drawing/2014/main" id="{0769CD41-515C-421D-946D-EA6FCB80632F}"/>
              </a:ext>
            </a:extLst>
          </p:cNvPr>
          <p:cNvSpPr txBox="1">
            <a:spLocks noChangeArrowheads="1"/>
          </p:cNvSpPr>
          <p:nvPr/>
        </p:nvSpPr>
        <p:spPr bwMode="auto">
          <a:xfrm>
            <a:off x="1042988" y="1514475"/>
            <a:ext cx="18630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chemeClr val="tx2"/>
                </a:solidFill>
                <a:latin typeface="Times New Roman" panose="02020603050405020304" pitchFamily="18" charset="0"/>
              </a:rPr>
              <a:t>1</a:t>
            </a:r>
            <a:r>
              <a:rPr lang="zh-CN" altLang="en-US" sz="2400" b="1" dirty="0">
                <a:solidFill>
                  <a:schemeClr val="tx2"/>
                </a:solidFill>
                <a:latin typeface="Times New Roman" panose="02020603050405020304" pitchFamily="18" charset="0"/>
              </a:rPr>
              <a:t>．</a:t>
            </a:r>
            <a:r>
              <a:rPr lang="en-US" altLang="zh-CN" sz="2400" b="1" dirty="0">
                <a:solidFill>
                  <a:schemeClr val="tx2"/>
                </a:solidFill>
                <a:latin typeface="Times New Roman" panose="02020603050405020304" pitchFamily="18" charset="0"/>
              </a:rPr>
              <a:t>Concepts</a:t>
            </a:r>
            <a:endParaRPr lang="zh-CN" altLang="en-US" sz="2400" b="1" dirty="0">
              <a:solidFill>
                <a:schemeClr val="tx2"/>
              </a:solidFill>
              <a:latin typeface="Times New Roman" panose="02020603050405020304" pitchFamily="18" charset="0"/>
            </a:endParaRPr>
          </a:p>
        </p:txBody>
      </p:sp>
      <p:sp>
        <p:nvSpPr>
          <p:cNvPr id="72708" name="Text Box 12">
            <a:extLst>
              <a:ext uri="{FF2B5EF4-FFF2-40B4-BE49-F238E27FC236}">
                <a16:creationId xmlns:a16="http://schemas.microsoft.com/office/drawing/2014/main" id="{EE9AC04A-4EE5-46F5-B8D9-5D8FA10E3219}"/>
              </a:ext>
            </a:extLst>
          </p:cNvPr>
          <p:cNvSpPr txBox="1">
            <a:spLocks noChangeArrowheads="1"/>
          </p:cNvSpPr>
          <p:nvPr/>
        </p:nvSpPr>
        <p:spPr bwMode="auto">
          <a:xfrm>
            <a:off x="971550" y="2162175"/>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(1)</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State equivalence</a:t>
            </a:r>
            <a:endParaRPr lang="zh-CN" altLang="en-US" sz="2400" b="1" dirty="0">
              <a:solidFill>
                <a:srgbClr val="CC3300"/>
              </a:solidFill>
              <a:latin typeface="Times New Roman" panose="02020603050405020304" pitchFamily="18" charset="0"/>
            </a:endParaRPr>
          </a:p>
        </p:txBody>
      </p:sp>
      <p:sp>
        <p:nvSpPr>
          <p:cNvPr id="72709" name="Text Box 13">
            <a:extLst>
              <a:ext uri="{FF2B5EF4-FFF2-40B4-BE49-F238E27FC236}">
                <a16:creationId xmlns:a16="http://schemas.microsoft.com/office/drawing/2014/main" id="{99400BBC-136F-4317-9D6F-1F9630D8AB39}"/>
              </a:ext>
            </a:extLst>
          </p:cNvPr>
          <p:cNvSpPr txBox="1">
            <a:spLocks noChangeArrowheads="1"/>
          </p:cNvSpPr>
          <p:nvPr/>
        </p:nvSpPr>
        <p:spPr bwMode="auto">
          <a:xfrm>
            <a:off x="457201" y="3419475"/>
            <a:ext cx="84352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zh-CN" altLang="en-US" sz="2400" b="1" dirty="0">
                <a:solidFill>
                  <a:srgbClr val="000099"/>
                </a:solidFill>
                <a:latin typeface="Times New Roman" panose="02020603050405020304" pitchFamily="18" charset="0"/>
              </a:rPr>
              <a:t>①</a:t>
            </a:r>
            <a:r>
              <a:rPr lang="en-US" altLang="zh-CN" sz="2400" b="1" dirty="0">
                <a:solidFill>
                  <a:srgbClr val="000099"/>
                </a:solidFill>
                <a:latin typeface="Times New Roman" panose="02020603050405020304" pitchFamily="18" charset="0"/>
              </a:rPr>
              <a:t>Definition</a:t>
            </a:r>
            <a:endParaRPr lang="zh-CN" altLang="en-US" sz="2400" b="1" dirty="0">
              <a:solidFill>
                <a:srgbClr val="000099"/>
              </a:solidFill>
              <a:latin typeface="Times New Roman" panose="02020603050405020304" pitchFamily="18" charset="0"/>
            </a:endParaRPr>
          </a:p>
          <a:p>
            <a:pPr algn="just" eaLnBrk="1" hangingPunct="1"/>
            <a:r>
              <a:rPr lang="en-US" altLang="zh-CN" dirty="0">
                <a:solidFill>
                  <a:srgbClr val="000099"/>
                </a:solidFill>
                <a:latin typeface="Times New Roman" panose="02020603050405020304" pitchFamily="18" charset="0"/>
              </a:rPr>
              <a:t>Assume the states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i</a:t>
            </a:r>
            <a:r>
              <a:rPr lang="zh-CN" altLang="en-US" dirty="0">
                <a:latin typeface="Times New Roman" panose="02020603050405020304" pitchFamily="18" charset="0"/>
              </a:rPr>
              <a:t> </a:t>
            </a:r>
            <a:r>
              <a:rPr lang="en-US" altLang="zh-CN" dirty="0">
                <a:latin typeface="Times New Roman" panose="02020603050405020304" pitchFamily="18" charset="0"/>
              </a:rPr>
              <a:t>and </a:t>
            </a:r>
            <a:r>
              <a:rPr lang="en-US" altLang="zh-CN" sz="2400" dirty="0" err="1">
                <a:latin typeface="Times New Roman" panose="02020603050405020304" pitchFamily="18" charset="0"/>
              </a:rPr>
              <a:t>S</a:t>
            </a:r>
            <a:r>
              <a:rPr lang="en-US" altLang="zh-CN" sz="2400" baseline="-25000" dirty="0" err="1">
                <a:latin typeface="Times New Roman" panose="02020603050405020304" pitchFamily="18" charset="0"/>
              </a:rPr>
              <a:t>j</a:t>
            </a:r>
            <a:r>
              <a:rPr lang="zh-CN" altLang="en-US" sz="2400" dirty="0">
                <a:latin typeface="Times New Roman" panose="02020603050405020304" pitchFamily="18" charset="0"/>
              </a:rPr>
              <a:t> </a:t>
            </a:r>
            <a:r>
              <a:rPr lang="en-US" altLang="zh-CN" sz="2400" dirty="0">
                <a:latin typeface="Times New Roman" panose="02020603050405020304" pitchFamily="18" charset="0"/>
              </a:rPr>
              <a:t>are the two states of the completely specified table; for all the possible input combinations, all the response sequence from </a:t>
            </a:r>
            <a:r>
              <a:rPr lang="en-US" altLang="zh-CN" dirty="0">
                <a:latin typeface="Times New Roman" panose="02020603050405020304" pitchFamily="18" charset="0"/>
              </a:rPr>
              <a:t>states S</a:t>
            </a:r>
            <a:r>
              <a:rPr lang="en-US" altLang="zh-CN" baseline="-25000" dirty="0">
                <a:latin typeface="Times New Roman" panose="02020603050405020304" pitchFamily="18" charset="0"/>
              </a:rPr>
              <a:t>i</a:t>
            </a:r>
            <a:r>
              <a:rPr lang="zh-CN" altLang="en-US" dirty="0">
                <a:latin typeface="Times New Roman" panose="02020603050405020304" pitchFamily="18" charset="0"/>
              </a:rPr>
              <a:t> </a:t>
            </a:r>
            <a:r>
              <a:rPr lang="en-US" altLang="zh-CN" dirty="0">
                <a:latin typeface="Times New Roman" panose="02020603050405020304" pitchFamily="18" charset="0"/>
              </a:rPr>
              <a:t>and </a:t>
            </a:r>
            <a:r>
              <a:rPr lang="en-US" altLang="zh-CN" dirty="0" err="1">
                <a:latin typeface="Times New Roman" panose="02020603050405020304" pitchFamily="18" charset="0"/>
              </a:rPr>
              <a:t>S</a:t>
            </a:r>
            <a:r>
              <a:rPr lang="en-US" altLang="zh-CN" baseline="-25000" dirty="0" err="1">
                <a:latin typeface="Times New Roman" panose="02020603050405020304" pitchFamily="18" charset="0"/>
              </a:rPr>
              <a:t>j</a:t>
            </a:r>
            <a:r>
              <a:rPr lang="en-US" altLang="zh-CN" sz="2400" dirty="0">
                <a:latin typeface="Times New Roman" panose="02020603050405020304" pitchFamily="18" charset="0"/>
              </a:rPr>
              <a:t> are fully identical. Then, we can say that </a:t>
            </a:r>
            <a:r>
              <a:rPr lang="en-US" altLang="zh-CN" dirty="0">
                <a:solidFill>
                  <a:srgbClr val="000099"/>
                </a:solidFill>
                <a:latin typeface="Times New Roman" panose="02020603050405020304" pitchFamily="18" charset="0"/>
              </a:rPr>
              <a:t>states </a:t>
            </a:r>
            <a:r>
              <a:rPr lang="en-US" altLang="zh-CN" dirty="0">
                <a:latin typeface="Times New Roman" panose="02020603050405020304" pitchFamily="18" charset="0"/>
              </a:rPr>
              <a:t>S</a:t>
            </a:r>
            <a:r>
              <a:rPr lang="en-US" altLang="zh-CN" baseline="-25000" dirty="0">
                <a:latin typeface="Times New Roman" panose="02020603050405020304" pitchFamily="18" charset="0"/>
              </a:rPr>
              <a:t>i</a:t>
            </a:r>
            <a:r>
              <a:rPr lang="zh-CN" altLang="en-US" dirty="0">
                <a:latin typeface="Times New Roman" panose="02020603050405020304" pitchFamily="18" charset="0"/>
              </a:rPr>
              <a:t> </a:t>
            </a:r>
            <a:r>
              <a:rPr lang="en-US" altLang="zh-CN" dirty="0">
                <a:latin typeface="Times New Roman" panose="02020603050405020304" pitchFamily="18" charset="0"/>
              </a:rPr>
              <a:t>and </a:t>
            </a:r>
            <a:r>
              <a:rPr lang="en-US" altLang="zh-CN" dirty="0" err="1">
                <a:latin typeface="Times New Roman" panose="02020603050405020304" pitchFamily="18" charset="0"/>
              </a:rPr>
              <a:t>S</a:t>
            </a:r>
            <a:r>
              <a:rPr lang="en-US" altLang="zh-CN" baseline="-25000" dirty="0" err="1">
                <a:latin typeface="Times New Roman" panose="02020603050405020304" pitchFamily="18" charset="0"/>
              </a:rPr>
              <a:t>j</a:t>
            </a:r>
            <a:r>
              <a:rPr lang="en-US" altLang="zh-CN" baseline="-25000" dirty="0">
                <a:latin typeface="Times New Roman" panose="02020603050405020304" pitchFamily="18" charset="0"/>
              </a:rPr>
              <a:t> </a:t>
            </a:r>
            <a:r>
              <a:rPr lang="en-US" altLang="zh-CN" sz="2400" dirty="0">
                <a:latin typeface="Times New Roman" panose="02020603050405020304" pitchFamily="18" charset="0"/>
              </a:rPr>
              <a:t>are equivalent, written as (S</a:t>
            </a:r>
            <a:r>
              <a:rPr lang="en-US" altLang="zh-CN" sz="2400" baseline="-25000" dirty="0">
                <a:latin typeface="Times New Roman" panose="02020603050405020304" pitchFamily="18" charset="0"/>
              </a:rPr>
              <a:t>i</a:t>
            </a:r>
            <a:r>
              <a:rPr lang="zh-CN" altLang="en-US" sz="2400" dirty="0">
                <a:latin typeface="Times New Roman" panose="02020603050405020304" pitchFamily="18" charset="0"/>
              </a:rPr>
              <a:t>，</a:t>
            </a:r>
            <a:r>
              <a:rPr lang="en-US" altLang="zh-CN" sz="2400" dirty="0" err="1">
                <a:latin typeface="Times New Roman" panose="02020603050405020304" pitchFamily="18" charset="0"/>
              </a:rPr>
              <a:t>S</a:t>
            </a:r>
            <a:r>
              <a:rPr lang="en-US" altLang="zh-CN" sz="2400" baseline="-25000" dirty="0" err="1">
                <a:latin typeface="Times New Roman" panose="02020603050405020304" pitchFamily="18" charset="0"/>
              </a:rPr>
              <a:t>j</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it is also called </a:t>
            </a:r>
            <a:r>
              <a:rPr lang="en-US" altLang="zh-CN" dirty="0">
                <a:solidFill>
                  <a:srgbClr val="000099"/>
                </a:solidFill>
                <a:latin typeface="Times New Roman" panose="02020603050405020304" pitchFamily="18" charset="0"/>
              </a:rPr>
              <a:t>states </a:t>
            </a:r>
            <a:r>
              <a:rPr lang="en-US" altLang="zh-CN" dirty="0">
                <a:latin typeface="Times New Roman" panose="02020603050405020304" pitchFamily="18" charset="0"/>
              </a:rPr>
              <a:t>S</a:t>
            </a:r>
            <a:r>
              <a:rPr lang="en-US" altLang="zh-CN" baseline="-25000" dirty="0">
                <a:latin typeface="Times New Roman" panose="02020603050405020304" pitchFamily="18" charset="0"/>
              </a:rPr>
              <a:t>i</a:t>
            </a:r>
            <a:r>
              <a:rPr lang="zh-CN" altLang="en-US" dirty="0">
                <a:latin typeface="Times New Roman" panose="02020603050405020304" pitchFamily="18" charset="0"/>
              </a:rPr>
              <a:t> </a:t>
            </a:r>
            <a:r>
              <a:rPr lang="en-US" altLang="zh-CN" dirty="0">
                <a:latin typeface="Times New Roman" panose="02020603050405020304" pitchFamily="18" charset="0"/>
              </a:rPr>
              <a:t>and </a:t>
            </a:r>
            <a:r>
              <a:rPr lang="en-US" altLang="zh-CN" dirty="0" err="1">
                <a:latin typeface="Times New Roman" panose="02020603050405020304" pitchFamily="18" charset="0"/>
              </a:rPr>
              <a:t>S</a:t>
            </a:r>
            <a:r>
              <a:rPr lang="en-US" altLang="zh-CN" baseline="-25000" dirty="0" err="1">
                <a:latin typeface="Times New Roman" panose="02020603050405020304" pitchFamily="18" charset="0"/>
              </a:rPr>
              <a:t>j</a:t>
            </a:r>
            <a:r>
              <a:rPr lang="en-US" altLang="zh-CN" baseline="-25000" dirty="0">
                <a:latin typeface="Times New Roman" panose="02020603050405020304" pitchFamily="18" charset="0"/>
              </a:rPr>
              <a:t> a</a:t>
            </a:r>
            <a:r>
              <a:rPr lang="en-US" altLang="zh-CN" dirty="0">
                <a:latin typeface="Times New Roman" panose="02020603050405020304" pitchFamily="18" charset="0"/>
              </a:rPr>
              <a:t> as one equivalent pair.</a:t>
            </a:r>
            <a:endParaRPr lang="zh-CN" altLang="en-US" sz="2400" dirty="0">
              <a:latin typeface="Times New Roman" panose="02020603050405020304" pitchFamily="18" charset="0"/>
            </a:endParaRPr>
          </a:p>
        </p:txBody>
      </p:sp>
      <p:sp>
        <p:nvSpPr>
          <p:cNvPr id="72710" name="Text Box 15">
            <a:extLst>
              <a:ext uri="{FF2B5EF4-FFF2-40B4-BE49-F238E27FC236}">
                <a16:creationId xmlns:a16="http://schemas.microsoft.com/office/drawing/2014/main" id="{E0FD525F-EC3C-4631-9534-BD54C55A9023}"/>
              </a:ext>
            </a:extLst>
          </p:cNvPr>
          <p:cNvSpPr txBox="1">
            <a:spLocks noChangeArrowheads="1"/>
          </p:cNvSpPr>
          <p:nvPr/>
        </p:nvSpPr>
        <p:spPr bwMode="auto">
          <a:xfrm>
            <a:off x="1142999" y="2573197"/>
            <a:ext cx="6477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latin typeface="Times New Roman" panose="02020603050405020304" pitchFamily="18" charset="0"/>
              </a:rPr>
              <a:t>Please pay attention to three points: definition, determine methods and properties.</a:t>
            </a:r>
            <a:endParaRPr lang="zh-CN" altLang="en-US" sz="2400" dirty="0">
              <a:latin typeface="Times New Roman" panose="02020603050405020304" pitchFamily="18" charset="0"/>
            </a:endParaRPr>
          </a:p>
        </p:txBody>
      </p:sp>
      <p:pic>
        <p:nvPicPr>
          <p:cNvPr id="76807" name="Picture 16" descr="Right_Green">
            <a:hlinkClick r:id="" action="ppaction://hlinkshowjump?jump=nextslide"/>
            <a:extLst>
              <a:ext uri="{FF2B5EF4-FFF2-40B4-BE49-F238E27FC236}">
                <a16:creationId xmlns:a16="http://schemas.microsoft.com/office/drawing/2014/main" id="{8363DD13-BD56-48FB-800A-D03180BB85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8" name="Picture 17" descr="Left_Green">
            <a:hlinkClick r:id="" action="ppaction://hlinkshowjump?jump=previousslide"/>
            <a:extLst>
              <a:ext uri="{FF2B5EF4-FFF2-40B4-BE49-F238E27FC236}">
                <a16:creationId xmlns:a16="http://schemas.microsoft.com/office/drawing/2014/main" id="{86735E5A-7305-4FB5-BFCE-64CC59A35D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88005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72707"/>
                                        </p:tgtEl>
                                        <p:attrNameLst>
                                          <p:attrName>style.visibility</p:attrName>
                                        </p:attrNameLst>
                                      </p:cBhvr>
                                      <p:to>
                                        <p:strVal val="visible"/>
                                      </p:to>
                                    </p:set>
                                    <p:animEffect transition="in" filter="slide(fromBottom)">
                                      <p:cBhvr>
                                        <p:cTn id="11" dur="500"/>
                                        <p:tgtEl>
                                          <p:spTgt spid="7270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72708"/>
                                        </p:tgtEl>
                                        <p:attrNameLst>
                                          <p:attrName>style.visibility</p:attrName>
                                        </p:attrNameLst>
                                      </p:cBhvr>
                                      <p:to>
                                        <p:strVal val="visible"/>
                                      </p:to>
                                    </p:set>
                                    <p:animEffect transition="in" filter="slide(fromBottom)">
                                      <p:cBhvr>
                                        <p:cTn id="16" dur="500"/>
                                        <p:tgtEl>
                                          <p:spTgt spid="72708"/>
                                        </p:tgtEl>
                                      </p:cBhvr>
                                    </p:animEffect>
                                  </p:childTnLst>
                                  <p:subTnLst>
                                    <p:audio>
                                      <p:cMediaNode>
                                        <p:cTn display="0" masterRel="sameClick">
                                          <p:stCondLst>
                                            <p:cond evt="begin" delay="0">
                                              <p:tn val="14"/>
                                            </p:cond>
                                          </p:stCondLst>
                                          <p:endCondLst>
                                            <p:cond evt="onStopAudio" delay="0">
                                              <p:tgtEl>
                                                <p:sldTgt/>
                                              </p:tgtEl>
                                            </p:cond>
                                          </p:endCondLst>
                                        </p:cTn>
                                        <p:tgtEl>
                                          <p:sndTgt r:embed="rId3" name="projctor.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27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72709"/>
                                        </p:tgtEl>
                                        <p:attrNameLst>
                                          <p:attrName>style.visibility</p:attrName>
                                        </p:attrNameLst>
                                      </p:cBhvr>
                                      <p:to>
                                        <p:strVal val="visible"/>
                                      </p:to>
                                    </p:set>
                                    <p:animEffect transition="in" filter="randombar(horizontal)">
                                      <p:cBhvr>
                                        <p:cTn id="25" dur="500"/>
                                        <p:tgtEl>
                                          <p:spTgt spid="7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p:bldP spid="72707" grpId="0" autoUpdateAnimBg="0"/>
      <p:bldP spid="72708" grpId="0" autoUpdateAnimBg="0"/>
      <p:bldP spid="72709" grpId="0" autoUpdateAnimBg="0"/>
      <p:bldP spid="7271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a:extLst>
              <a:ext uri="{FF2B5EF4-FFF2-40B4-BE49-F238E27FC236}">
                <a16:creationId xmlns:a16="http://schemas.microsoft.com/office/drawing/2014/main" id="{21E0B7DD-6753-401C-9380-D437CDCA6616}"/>
              </a:ext>
            </a:extLst>
          </p:cNvPr>
          <p:cNvSpPr>
            <a:spLocks noGrp="1" noChangeArrowheads="1"/>
          </p:cNvSpPr>
          <p:nvPr>
            <p:ph type="title" idx="4294967295"/>
          </p:nvPr>
        </p:nvSpPr>
        <p:spPr bwMode="auto">
          <a:xfrm>
            <a:off x="685800" y="152400"/>
            <a:ext cx="7772400" cy="533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eaLnBrk="1" hangingPunct="1"/>
            <a:r>
              <a:rPr lang="en-US" altLang="zh-CN" sz="1800" b="1">
                <a:latin typeface="宋体" panose="02010600030101010101" pitchFamily="2" charset="-122"/>
              </a:rPr>
              <a:t> </a:t>
            </a:r>
            <a:endParaRPr lang="en-US" altLang="zh-CN" sz="1800" b="1">
              <a:solidFill>
                <a:srgbClr val="FFCC66"/>
              </a:solidFill>
              <a:latin typeface="宋体" panose="02010600030101010101" pitchFamily="2" charset="-122"/>
            </a:endParaRPr>
          </a:p>
        </p:txBody>
      </p:sp>
      <p:sp>
        <p:nvSpPr>
          <p:cNvPr id="73731" name="Text Box 11">
            <a:extLst>
              <a:ext uri="{FF2B5EF4-FFF2-40B4-BE49-F238E27FC236}">
                <a16:creationId xmlns:a16="http://schemas.microsoft.com/office/drawing/2014/main" id="{554F83A2-4770-4F03-AFDB-5BC18E5B6B9F}"/>
              </a:ext>
            </a:extLst>
          </p:cNvPr>
          <p:cNvSpPr txBox="1">
            <a:spLocks noChangeArrowheads="1"/>
          </p:cNvSpPr>
          <p:nvPr/>
        </p:nvSpPr>
        <p:spPr bwMode="auto">
          <a:xfrm>
            <a:off x="179388" y="908050"/>
            <a:ext cx="847407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zh-CN" altLang="en-US" sz="2400" b="1" dirty="0">
                <a:solidFill>
                  <a:srgbClr val="000099"/>
                </a:solidFill>
                <a:latin typeface="Times New Roman" panose="02020603050405020304" pitchFamily="18" charset="0"/>
              </a:rPr>
              <a:t>② </a:t>
            </a:r>
            <a:r>
              <a:rPr lang="en-US" altLang="zh-CN" sz="2400" b="1" dirty="0">
                <a:solidFill>
                  <a:srgbClr val="000099"/>
                </a:solidFill>
                <a:latin typeface="Times New Roman" panose="02020603050405020304" pitchFamily="18" charset="0"/>
              </a:rPr>
              <a:t>Determine method</a:t>
            </a:r>
            <a:endParaRPr lang="zh-CN" altLang="en-US" sz="2400" b="1" dirty="0">
              <a:solidFill>
                <a:srgbClr val="000099"/>
              </a:solidFill>
              <a:latin typeface="Times New Roman" panose="02020603050405020304" pitchFamily="18" charset="0"/>
            </a:endParaRPr>
          </a:p>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For all the input combinations,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i</a:t>
            </a:r>
            <a:r>
              <a:rPr lang="zh-CN" altLang="en-US" sz="2400" dirty="0">
                <a:latin typeface="Times New Roman" panose="02020603050405020304" pitchFamily="18" charset="0"/>
              </a:rPr>
              <a:t> </a:t>
            </a:r>
            <a:r>
              <a:rPr lang="en-US" altLang="zh-CN" sz="2400" dirty="0">
                <a:latin typeface="Times New Roman" panose="02020603050405020304" pitchFamily="18" charset="0"/>
              </a:rPr>
              <a:t>and </a:t>
            </a:r>
            <a:r>
              <a:rPr lang="en-US" altLang="zh-CN" sz="2400" dirty="0" err="1">
                <a:latin typeface="Times New Roman" panose="02020603050405020304" pitchFamily="18" charset="0"/>
              </a:rPr>
              <a:t>S</a:t>
            </a:r>
            <a:r>
              <a:rPr lang="en-US" altLang="zh-CN" sz="2400" baseline="-25000" dirty="0" err="1">
                <a:latin typeface="Times New Roman" panose="02020603050405020304" pitchFamily="18" charset="0"/>
              </a:rPr>
              <a:t>j</a:t>
            </a:r>
            <a:r>
              <a:rPr lang="en-US" altLang="zh-CN" sz="2400" dirty="0">
                <a:latin typeface="Times New Roman" panose="02020603050405020304" pitchFamily="18" charset="0"/>
              </a:rPr>
              <a:t> are the two present states of the fully complete basic state table</a:t>
            </a:r>
            <a:r>
              <a:rPr lang="zh-CN" altLang="en-US" sz="2400" dirty="0">
                <a:latin typeface="Times New Roman" panose="02020603050405020304" pitchFamily="18" charset="0"/>
              </a:rPr>
              <a:t>，</a:t>
            </a:r>
            <a:r>
              <a:rPr lang="en-US" altLang="zh-CN" sz="2400" dirty="0">
                <a:latin typeface="Times New Roman" panose="02020603050405020304" pitchFamily="18" charset="0"/>
              </a:rPr>
              <a:t>the </a:t>
            </a:r>
            <a:r>
              <a:rPr lang="en-US" altLang="zh-CN" dirty="0">
                <a:latin typeface="Times New Roman" panose="02020603050405020304" pitchFamily="18" charset="0"/>
              </a:rPr>
              <a:t>conditions that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i</a:t>
            </a:r>
            <a:r>
              <a:rPr lang="zh-CN" altLang="en-US" dirty="0">
                <a:latin typeface="Times New Roman" panose="02020603050405020304" pitchFamily="18" charset="0"/>
              </a:rPr>
              <a:t> </a:t>
            </a:r>
            <a:r>
              <a:rPr lang="en-US" altLang="zh-CN" dirty="0">
                <a:latin typeface="Times New Roman" panose="02020603050405020304" pitchFamily="18" charset="0"/>
              </a:rPr>
              <a:t>and </a:t>
            </a:r>
            <a:r>
              <a:rPr lang="en-US" altLang="zh-CN" sz="2400" dirty="0" err="1">
                <a:latin typeface="Times New Roman" panose="02020603050405020304" pitchFamily="18" charset="0"/>
              </a:rPr>
              <a:t>S</a:t>
            </a:r>
            <a:r>
              <a:rPr lang="en-US" altLang="zh-CN" sz="2400" baseline="-25000" dirty="0" err="1">
                <a:latin typeface="Times New Roman" panose="02020603050405020304" pitchFamily="18" charset="0"/>
              </a:rPr>
              <a:t>j</a:t>
            </a:r>
            <a:r>
              <a:rPr lang="en-US" altLang="zh-CN" sz="2400" dirty="0">
                <a:latin typeface="Times New Roman" panose="02020603050405020304" pitchFamily="18" charset="0"/>
              </a:rPr>
              <a:t>  are equivalent to each other, must satisfy the following two conditions</a:t>
            </a:r>
            <a:r>
              <a:rPr lang="zh-CN" altLang="en-US" sz="2400" dirty="0">
                <a:latin typeface="Times New Roman" panose="02020603050405020304" pitchFamily="18" charset="0"/>
              </a:rPr>
              <a:t>：</a:t>
            </a:r>
          </a:p>
          <a:p>
            <a:pPr eaLnBrk="1" hangingPunct="1"/>
            <a:r>
              <a:rPr lang="zh-CN" altLang="en-US" sz="2400" dirty="0">
                <a:latin typeface="Times New Roman" panose="02020603050405020304" pitchFamily="18" charset="0"/>
              </a:rPr>
              <a:t></a:t>
            </a:r>
          </a:p>
          <a:p>
            <a:pPr eaLnBrk="1" hangingPunct="1"/>
            <a:r>
              <a:rPr lang="zh-CN" altLang="en-US" sz="2400" dirty="0">
                <a:latin typeface="Times New Roman" panose="02020603050405020304" pitchFamily="18" charset="0"/>
              </a:rPr>
              <a:t>　　</a:t>
            </a:r>
            <a:r>
              <a:rPr lang="en-US" altLang="zh-CN" dirty="0">
                <a:solidFill>
                  <a:srgbClr val="000099"/>
                </a:solidFill>
                <a:latin typeface="Times New Roman" panose="02020603050405020304" pitchFamily="18" charset="0"/>
              </a:rPr>
              <a:t>First , the output must be identical</a:t>
            </a:r>
            <a:r>
              <a:rPr lang="zh-CN" altLang="en-US" sz="2400" b="1" dirty="0">
                <a:solidFill>
                  <a:srgbClr val="000099"/>
                </a:solidFill>
                <a:latin typeface="Times New Roman" panose="02020603050405020304" pitchFamily="18" charset="0"/>
              </a:rPr>
              <a:t>；</a:t>
            </a:r>
          </a:p>
          <a:p>
            <a:pPr eaLnBrk="1" hangingPunct="1"/>
            <a:r>
              <a:rPr lang="zh-CN" altLang="en-US" sz="2400" b="1" dirty="0">
                <a:solidFill>
                  <a:srgbClr val="000099"/>
                </a:solidFill>
                <a:latin typeface="Times New Roman" panose="02020603050405020304" pitchFamily="18" charset="0"/>
              </a:rPr>
              <a:t></a:t>
            </a:r>
          </a:p>
          <a:p>
            <a:pPr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Second</a:t>
            </a:r>
            <a:r>
              <a:rPr lang="zh-CN" altLang="en-US" sz="2400" b="1" dirty="0">
                <a:solidFill>
                  <a:srgbClr val="000099"/>
                </a:solidFill>
                <a:latin typeface="Times New Roman" panose="02020603050405020304" pitchFamily="18" charset="0"/>
              </a:rPr>
              <a:t>，</a:t>
            </a:r>
            <a:r>
              <a:rPr lang="en-US" altLang="zh-CN" sz="2400" b="1" dirty="0">
                <a:solidFill>
                  <a:srgbClr val="000099"/>
                </a:solidFill>
                <a:latin typeface="Times New Roman" panose="02020603050405020304" pitchFamily="18" charset="0"/>
              </a:rPr>
              <a:t>the next state must belong to one of the following sub-conditions:</a:t>
            </a:r>
            <a:r>
              <a:rPr lang="zh-CN" altLang="en-US" sz="2400" b="1" dirty="0">
                <a:solidFill>
                  <a:srgbClr val="000099"/>
                </a:solidFill>
                <a:latin typeface="Times New Roman" panose="02020603050405020304" pitchFamily="18" charset="0"/>
              </a:rPr>
              <a:t></a:t>
            </a:r>
          </a:p>
          <a:p>
            <a:pPr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a.</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the </a:t>
            </a:r>
            <a:r>
              <a:rPr lang="en-US" altLang="zh-CN" dirty="0">
                <a:solidFill>
                  <a:srgbClr val="000099"/>
                </a:solidFill>
                <a:latin typeface="Times New Roman" panose="02020603050405020304" pitchFamily="18" charset="0"/>
              </a:rPr>
              <a:t>next states are i</a:t>
            </a:r>
            <a:r>
              <a:rPr lang="en-US" altLang="zh-CN" sz="2400" b="1" dirty="0">
                <a:solidFill>
                  <a:srgbClr val="000099"/>
                </a:solidFill>
                <a:latin typeface="Times New Roman" panose="02020603050405020304" pitchFamily="18" charset="0"/>
              </a:rPr>
              <a:t>dentical </a:t>
            </a:r>
            <a:r>
              <a:rPr lang="zh-CN" altLang="en-US" sz="2400" b="1" dirty="0">
                <a:solidFill>
                  <a:srgbClr val="000099"/>
                </a:solidFill>
                <a:latin typeface="Times New Roman" panose="02020603050405020304" pitchFamily="18" charset="0"/>
              </a:rPr>
              <a:t>；</a:t>
            </a:r>
          </a:p>
          <a:p>
            <a:pPr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b</a:t>
            </a:r>
            <a:r>
              <a:rPr lang="en-US" altLang="zh-CN" dirty="0">
                <a:solidFill>
                  <a:srgbClr val="000099"/>
                </a:solidFill>
                <a:latin typeface="Times New Roman" panose="02020603050405020304" pitchFamily="18" charset="0"/>
              </a:rPr>
              <a:t>. the next states are symmetric</a:t>
            </a:r>
            <a:r>
              <a:rPr lang="zh-CN" altLang="en-US" sz="2400" b="1" dirty="0">
                <a:solidFill>
                  <a:srgbClr val="000099"/>
                </a:solidFill>
                <a:latin typeface="Times New Roman" panose="02020603050405020304" pitchFamily="18" charset="0"/>
              </a:rPr>
              <a:t>；</a:t>
            </a:r>
          </a:p>
          <a:p>
            <a:pPr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c. the next states are cyclic or points to an equivalent pare.</a:t>
            </a:r>
            <a:endParaRPr lang="zh-CN" altLang="en-US" sz="2400" b="1" dirty="0">
              <a:solidFill>
                <a:srgbClr val="000099"/>
              </a:solidFill>
              <a:latin typeface="Times New Roman" panose="02020603050405020304" pitchFamily="18" charset="0"/>
            </a:endParaRPr>
          </a:p>
        </p:txBody>
      </p:sp>
      <p:pic>
        <p:nvPicPr>
          <p:cNvPr id="77828" name="Picture 40" descr="Right_Green">
            <a:hlinkClick r:id="" action="ppaction://hlinkshowjump?jump=nextslide"/>
            <a:extLst>
              <a:ext uri="{FF2B5EF4-FFF2-40B4-BE49-F238E27FC236}">
                <a16:creationId xmlns:a16="http://schemas.microsoft.com/office/drawing/2014/main" id="{AE315534-5C04-426C-82D3-364EB6779B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29" name="Picture 41" descr="Left_Green">
            <a:hlinkClick r:id="" action="ppaction://hlinkshowjump?jump=previousslide"/>
            <a:extLst>
              <a:ext uri="{FF2B5EF4-FFF2-40B4-BE49-F238E27FC236}">
                <a16:creationId xmlns:a16="http://schemas.microsoft.com/office/drawing/2014/main" id="{0467EDCC-DD70-4CCA-B043-91F600D49A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03470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wipe(up)">
                                      <p:cBhvr>
                                        <p:cTn id="7" dur="500"/>
                                        <p:tgtEl>
                                          <p:spTgt spid="73731"/>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0CA966D6-A429-463C-B42A-3D4BF2799D74}"/>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cs typeface="Times New Roman" panose="02020603050405020304" pitchFamily="18" charset="0"/>
              </a:rPr>
              <a:t>The next states are identical </a:t>
            </a:r>
            <a:endParaRPr lang="zh-CN" altLang="en-US" dirty="0">
              <a:latin typeface="Times New Roman" panose="02020603050405020304" pitchFamily="18" charset="0"/>
              <a:cs typeface="Times New Roman" panose="02020603050405020304" pitchFamily="18" charset="0"/>
            </a:endParaRPr>
          </a:p>
        </p:txBody>
      </p:sp>
      <p:sp>
        <p:nvSpPr>
          <p:cNvPr id="78851" name="内容占位符 2">
            <a:extLst>
              <a:ext uri="{FF2B5EF4-FFF2-40B4-BE49-F238E27FC236}">
                <a16:creationId xmlns:a16="http://schemas.microsoft.com/office/drawing/2014/main" id="{AFD5D201-B13A-4133-BAB5-05BEA39BE8D7}"/>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8852" name="Picture 2">
            <a:extLst>
              <a:ext uri="{FF2B5EF4-FFF2-40B4-BE49-F238E27FC236}">
                <a16:creationId xmlns:a16="http://schemas.microsoft.com/office/drawing/2014/main" id="{B7B9C45D-680D-4C34-B69A-A2D0AAE79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738313"/>
            <a:ext cx="5900738" cy="4224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33B1CEB3-B686-4E4E-9E86-3D5AAE312E2B}"/>
              </a:ext>
            </a:extLst>
          </p:cNvPr>
          <p:cNvSpPr txBox="1"/>
          <p:nvPr/>
        </p:nvSpPr>
        <p:spPr>
          <a:xfrm>
            <a:off x="3131840" y="1916832"/>
            <a:ext cx="2520280"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next states are identical</a:t>
            </a:r>
            <a:endParaRPr lang="zh-CN" altLang="en-US" sz="1800" dirty="0"/>
          </a:p>
        </p:txBody>
      </p:sp>
    </p:spTree>
    <p:extLst>
      <p:ext uri="{BB962C8B-B14F-4D97-AF65-F5344CB8AC3E}">
        <p14:creationId xmlns:p14="http://schemas.microsoft.com/office/powerpoint/2010/main" val="2193312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4B2A2B4A-5C09-40E9-ADDC-AF8A8C6E50BD}"/>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solidFill>
                  <a:srgbClr val="000099"/>
                </a:solidFill>
                <a:latin typeface="Times New Roman" panose="02020603050405020304" pitchFamily="18" charset="0"/>
              </a:rPr>
              <a:t>The next states are symmetric</a:t>
            </a:r>
            <a:endParaRPr lang="zh-CN" altLang="en-US" dirty="0"/>
          </a:p>
        </p:txBody>
      </p:sp>
      <p:sp>
        <p:nvSpPr>
          <p:cNvPr id="79875" name="内容占位符 2">
            <a:extLst>
              <a:ext uri="{FF2B5EF4-FFF2-40B4-BE49-F238E27FC236}">
                <a16:creationId xmlns:a16="http://schemas.microsoft.com/office/drawing/2014/main" id="{9B2ED3F4-D0C1-410B-9D3C-B40D8DAD2E79}"/>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9876" name="Picture 2">
            <a:extLst>
              <a:ext uri="{FF2B5EF4-FFF2-40B4-BE49-F238E27FC236}">
                <a16:creationId xmlns:a16="http://schemas.microsoft.com/office/drawing/2014/main" id="{60418E0D-D5C0-4D7B-AB5F-1D78AA1D8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125538"/>
            <a:ext cx="4824413" cy="4587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BEB04269-0902-42D9-A481-0320B60F740A}"/>
              </a:ext>
            </a:extLst>
          </p:cNvPr>
          <p:cNvSpPr txBox="1"/>
          <p:nvPr/>
        </p:nvSpPr>
        <p:spPr>
          <a:xfrm>
            <a:off x="2843808" y="1277034"/>
            <a:ext cx="2736304" cy="646331"/>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next states are symmetric or identical</a:t>
            </a:r>
            <a:endParaRPr lang="zh-CN" altLang="en-US" sz="1800" dirty="0"/>
          </a:p>
        </p:txBody>
      </p:sp>
    </p:spTree>
    <p:extLst>
      <p:ext uri="{BB962C8B-B14F-4D97-AF65-F5344CB8AC3E}">
        <p14:creationId xmlns:p14="http://schemas.microsoft.com/office/powerpoint/2010/main" val="1387544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1DE8873A-5F82-4BC9-B49B-447F13195F6D}"/>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solidFill>
                  <a:srgbClr val="000099"/>
                </a:solidFill>
                <a:latin typeface="Times New Roman" panose="02020603050405020304" pitchFamily="18" charset="0"/>
              </a:rPr>
              <a:t>The next states are symmetric</a:t>
            </a:r>
            <a:endParaRPr lang="zh-CN" altLang="en-US" dirty="0"/>
          </a:p>
        </p:txBody>
      </p:sp>
      <p:sp>
        <p:nvSpPr>
          <p:cNvPr id="80899" name="内容占位符 2">
            <a:extLst>
              <a:ext uri="{FF2B5EF4-FFF2-40B4-BE49-F238E27FC236}">
                <a16:creationId xmlns:a16="http://schemas.microsoft.com/office/drawing/2014/main" id="{67E883E7-A32D-4DD1-BA1D-F3A713098B8F}"/>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80900" name="Picture 2">
            <a:extLst>
              <a:ext uri="{FF2B5EF4-FFF2-40B4-BE49-F238E27FC236}">
                <a16:creationId xmlns:a16="http://schemas.microsoft.com/office/drawing/2014/main" id="{8BCCC768-4CC3-4AA6-B883-73B9563D8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843" y="1517650"/>
            <a:ext cx="5040313" cy="5065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DAE5E847-BF40-4A4E-BBA6-C48A8787B70F}"/>
              </a:ext>
            </a:extLst>
          </p:cNvPr>
          <p:cNvSpPr txBox="1"/>
          <p:nvPr/>
        </p:nvSpPr>
        <p:spPr>
          <a:xfrm>
            <a:off x="2555776" y="1600200"/>
            <a:ext cx="3888432" cy="646331"/>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next states are symmetric or identical (S</a:t>
            </a:r>
            <a:r>
              <a:rPr lang="en-US" altLang="zh-CN" sz="1800" baseline="-25000" dirty="0">
                <a:solidFill>
                  <a:srgbClr val="000099"/>
                </a:solidFill>
                <a:latin typeface="Times New Roman" panose="02020603050405020304" pitchFamily="18" charset="0"/>
              </a:rPr>
              <a:t>k</a:t>
            </a:r>
            <a:r>
              <a:rPr lang="en-US" altLang="zh-CN" sz="1800" dirty="0">
                <a:solidFill>
                  <a:srgbClr val="000099"/>
                </a:solidFill>
                <a:latin typeface="Times New Roman" panose="02020603050405020304" pitchFamily="18" charset="0"/>
              </a:rPr>
              <a:t> and S</a:t>
            </a:r>
            <a:r>
              <a:rPr lang="en-US" altLang="zh-CN" sz="1800" baseline="-25000" dirty="0">
                <a:solidFill>
                  <a:srgbClr val="000099"/>
                </a:solidFill>
                <a:latin typeface="Times New Roman" panose="02020603050405020304" pitchFamily="18" charset="0"/>
              </a:rPr>
              <a:t>l</a:t>
            </a:r>
            <a:r>
              <a:rPr lang="en-US" altLang="zh-CN" sz="1800" dirty="0">
                <a:solidFill>
                  <a:srgbClr val="000099"/>
                </a:solidFill>
                <a:latin typeface="Times New Roman" panose="02020603050405020304" pitchFamily="18" charset="0"/>
              </a:rPr>
              <a:t> are equivalent)</a:t>
            </a:r>
            <a:endParaRPr lang="zh-CN" altLang="en-US" sz="1800" dirty="0"/>
          </a:p>
        </p:txBody>
      </p:sp>
    </p:spTree>
    <p:extLst>
      <p:ext uri="{BB962C8B-B14F-4D97-AF65-F5344CB8AC3E}">
        <p14:creationId xmlns:p14="http://schemas.microsoft.com/office/powerpoint/2010/main" val="3630022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E9EA893C-87E8-4A7D-A133-26569217A15C}"/>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r>
              <a:rPr lang="en-US" altLang="zh-CN" b="1" dirty="0">
                <a:solidFill>
                  <a:srgbClr val="000099"/>
                </a:solidFill>
                <a:latin typeface="Times New Roman" panose="02020603050405020304" pitchFamily="18" charset="0"/>
              </a:rPr>
              <a:t>The next states are cyclic or points to an equivalent pare</a:t>
            </a:r>
            <a:endParaRPr lang="zh-CN" altLang="en-US" dirty="0"/>
          </a:p>
        </p:txBody>
      </p:sp>
      <p:sp>
        <p:nvSpPr>
          <p:cNvPr id="81923" name="内容占位符 2">
            <a:extLst>
              <a:ext uri="{FF2B5EF4-FFF2-40B4-BE49-F238E27FC236}">
                <a16:creationId xmlns:a16="http://schemas.microsoft.com/office/drawing/2014/main" id="{4E6B0AC6-3FF8-4F02-A7C0-ACD2578AC800}"/>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81924" name="Picture 2">
            <a:extLst>
              <a:ext uri="{FF2B5EF4-FFF2-40B4-BE49-F238E27FC236}">
                <a16:creationId xmlns:a16="http://schemas.microsoft.com/office/drawing/2014/main" id="{1C6A0A46-4547-41FD-8278-A8BC9D3D2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412875"/>
            <a:ext cx="5327650" cy="4549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63A2709B-2407-4A52-9DF0-9846233ADE95}"/>
              </a:ext>
            </a:extLst>
          </p:cNvPr>
          <p:cNvSpPr txBox="1"/>
          <p:nvPr/>
        </p:nvSpPr>
        <p:spPr>
          <a:xfrm>
            <a:off x="2807804" y="1412875"/>
            <a:ext cx="3528392" cy="646331"/>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next states are symmetric, cyclic or points to an equivalent pare</a:t>
            </a:r>
            <a:endParaRPr lang="zh-CN" altLang="en-US" sz="1800" dirty="0"/>
          </a:p>
        </p:txBody>
      </p:sp>
    </p:spTree>
    <p:extLst>
      <p:ext uri="{BB962C8B-B14F-4D97-AF65-F5344CB8AC3E}">
        <p14:creationId xmlns:p14="http://schemas.microsoft.com/office/powerpoint/2010/main" val="825400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0" name="Group 2">
            <a:extLst>
              <a:ext uri="{FF2B5EF4-FFF2-40B4-BE49-F238E27FC236}">
                <a16:creationId xmlns:a16="http://schemas.microsoft.com/office/drawing/2014/main" id="{58411719-6EC1-40C8-B7A1-2B0ACFFFEC72}"/>
              </a:ext>
            </a:extLst>
          </p:cNvPr>
          <p:cNvGrpSpPr>
            <a:grpSpLocks/>
          </p:cNvGrpSpPr>
          <p:nvPr/>
        </p:nvGrpSpPr>
        <p:grpSpPr bwMode="auto">
          <a:xfrm>
            <a:off x="468313" y="527050"/>
            <a:ext cx="8675687" cy="1938338"/>
            <a:chOff x="0" y="0"/>
            <a:chExt cx="5386" cy="1221"/>
          </a:xfrm>
        </p:grpSpPr>
        <p:sp>
          <p:nvSpPr>
            <p:cNvPr id="82952" name="Text Box 7">
              <a:extLst>
                <a:ext uri="{FF2B5EF4-FFF2-40B4-BE49-F238E27FC236}">
                  <a16:creationId xmlns:a16="http://schemas.microsoft.com/office/drawing/2014/main" id="{EFC02890-7D36-46B1-AE81-7EB011D9CE31}"/>
                </a:ext>
              </a:extLst>
            </p:cNvPr>
            <p:cNvSpPr txBox="1">
              <a:spLocks noChangeArrowheads="1"/>
            </p:cNvSpPr>
            <p:nvPr/>
          </p:nvSpPr>
          <p:spPr bwMode="auto">
            <a:xfrm>
              <a:off x="0" y="0"/>
              <a:ext cx="5386" cy="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000099"/>
                  </a:solidFill>
                  <a:latin typeface="Times New Roman" panose="02020603050405020304" pitchFamily="18" charset="0"/>
                </a:rPr>
                <a:t>　　③ </a:t>
              </a:r>
              <a:r>
                <a:rPr lang="en-US" altLang="zh-CN" sz="2400" b="1" dirty="0">
                  <a:solidFill>
                    <a:srgbClr val="000099"/>
                  </a:solidFill>
                  <a:latin typeface="Times New Roman" panose="02020603050405020304" pitchFamily="18" charset="0"/>
                </a:rPr>
                <a:t>Properties: </a:t>
              </a:r>
              <a:endParaRPr lang="zh-CN" altLang="en-US" sz="2400" b="1" dirty="0">
                <a:solidFill>
                  <a:srgbClr val="000099"/>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Equivalent state has the transitivity, i.e., if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 </a:t>
              </a:r>
              <a:r>
                <a:rPr lang="en-US" altLang="zh-CN" dirty="0">
                  <a:latin typeface="Times New Roman" panose="02020603050405020304" pitchFamily="18" charset="0"/>
                </a:rPr>
                <a:t>and</a:t>
              </a: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are equivalent,  as well as, 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and S</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are equivalent, then, 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and S</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must be equivalent, written as: </a:t>
              </a:r>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p>
          </p:txBody>
        </p:sp>
        <p:sp>
          <p:nvSpPr>
            <p:cNvPr id="82953" name="Line 8">
              <a:extLst>
                <a:ext uri="{FF2B5EF4-FFF2-40B4-BE49-F238E27FC236}">
                  <a16:creationId xmlns:a16="http://schemas.microsoft.com/office/drawing/2014/main" id="{9152600F-8BE4-4354-BF4F-6450D0021D34}"/>
                </a:ext>
              </a:extLst>
            </p:cNvPr>
            <p:cNvSpPr>
              <a:spLocks noChangeShapeType="1"/>
            </p:cNvSpPr>
            <p:nvPr/>
          </p:nvSpPr>
          <p:spPr bwMode="auto">
            <a:xfrm>
              <a:off x="2665" y="1102"/>
              <a:ext cx="624"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8853" name="Group 5">
            <a:extLst>
              <a:ext uri="{FF2B5EF4-FFF2-40B4-BE49-F238E27FC236}">
                <a16:creationId xmlns:a16="http://schemas.microsoft.com/office/drawing/2014/main" id="{AA085571-E67D-483A-AA65-A0BEEC49A077}"/>
              </a:ext>
            </a:extLst>
          </p:cNvPr>
          <p:cNvGrpSpPr>
            <a:grpSpLocks/>
          </p:cNvGrpSpPr>
          <p:nvPr/>
        </p:nvGrpSpPr>
        <p:grpSpPr bwMode="auto">
          <a:xfrm>
            <a:off x="395288" y="2708275"/>
            <a:ext cx="8474075" cy="3786189"/>
            <a:chOff x="0" y="0"/>
            <a:chExt cx="5338" cy="2385"/>
          </a:xfrm>
        </p:grpSpPr>
        <p:sp>
          <p:nvSpPr>
            <p:cNvPr id="82950" name="Text Box 11">
              <a:extLst>
                <a:ext uri="{FF2B5EF4-FFF2-40B4-BE49-F238E27FC236}">
                  <a16:creationId xmlns:a16="http://schemas.microsoft.com/office/drawing/2014/main" id="{F3065413-8383-468A-A892-DD2D04D4B2A3}"/>
                </a:ext>
              </a:extLst>
            </p:cNvPr>
            <p:cNvSpPr txBox="1">
              <a:spLocks noChangeArrowheads="1"/>
            </p:cNvSpPr>
            <p:nvPr/>
          </p:nvSpPr>
          <p:spPr bwMode="auto">
            <a:xfrm>
              <a:off x="0" y="0"/>
              <a:ext cx="5338" cy="2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000099"/>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(2)Equivalent class</a:t>
              </a:r>
              <a:endParaRPr lang="zh-CN" altLang="en-US" sz="2400" b="1" dirty="0">
                <a:solidFill>
                  <a:srgbClr val="CC3300"/>
                </a:solidFill>
                <a:latin typeface="Times New Roman" panose="02020603050405020304" pitchFamily="18" charset="0"/>
              </a:endParaRPr>
            </a:p>
            <a:p>
              <a:pPr algn="just" eaLnBrk="1" hangingPunct="1"/>
              <a:endParaRPr lang="zh-CN" altLang="en-US" sz="2400" b="1" dirty="0">
                <a:solidFill>
                  <a:srgbClr val="000099"/>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solidFill>
                    <a:srgbClr val="000099"/>
                  </a:solidFill>
                  <a:latin typeface="Times New Roman" panose="02020603050405020304" pitchFamily="18" charset="0"/>
                </a:rPr>
                <a:t>Equivalent class</a:t>
              </a:r>
              <a:r>
                <a:rPr lang="zh-CN" altLang="en-US" sz="2400" b="1" dirty="0">
                  <a:solidFill>
                    <a:srgbClr val="000099"/>
                  </a:solidFill>
                  <a:latin typeface="Times New Roman" panose="02020603050405020304" pitchFamily="18" charset="0"/>
                </a:rPr>
                <a:t>：</a:t>
              </a:r>
              <a:r>
                <a:rPr lang="en-US" altLang="zh-CN" dirty="0">
                  <a:latin typeface="Times New Roman" panose="02020603050405020304" pitchFamily="18" charset="0"/>
                </a:rPr>
                <a:t>A collection of states that are equivalent to each other. Any two states in the same equivalent class are equivalent. </a:t>
              </a:r>
              <a:r>
                <a:rPr lang="en-US" altLang="zh-CN" dirty="0" err="1">
                  <a:latin typeface="Times New Roman" panose="02020603050405020304" pitchFamily="18" charset="0"/>
                </a:rPr>
                <a:t>E.g</a:t>
              </a:r>
              <a:r>
                <a:rPr lang="en-US" altLang="zh-CN" dirty="0">
                  <a:latin typeface="Times New Roman" panose="02020603050405020304" pitchFamily="18" charset="0"/>
                </a:rPr>
                <a:t>, in term of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dirty="0">
                  <a:latin typeface="Times New Roman" panose="02020603050405020304" pitchFamily="18" charset="0"/>
                </a:rPr>
                <a:t> </a:t>
              </a:r>
              <a:r>
                <a:rPr lang="en-US" altLang="zh-CN" dirty="0">
                  <a:latin typeface="Times New Roman" panose="02020603050405020304" pitchFamily="18" charset="0"/>
                </a:rPr>
                <a:t>and</a:t>
              </a:r>
              <a:r>
                <a:rPr lang="zh-CN" altLang="en-US" dirty="0">
                  <a:latin typeface="Times New Roman" panose="02020603050405020304" pitchFamily="18" charset="0"/>
                </a:rPr>
                <a:t>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 we can have (S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so that: </a:t>
              </a:r>
              <a:endParaRPr lang="zh-CN" altLang="en-US" sz="2400" dirty="0">
                <a:latin typeface="Times New Roman" panose="02020603050405020304" pitchFamily="18" charset="0"/>
              </a:endParaRPr>
            </a:p>
            <a:p>
              <a:pPr algn="just" eaLnBrk="1" hangingPunct="1"/>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belongs to one class of state</a:t>
              </a:r>
              <a:r>
                <a:rPr lang="zh-CN" altLang="en-US" sz="2400" dirty="0">
                  <a:latin typeface="Times New Roman" panose="02020603050405020304" pitchFamily="18" charset="0"/>
                </a:rPr>
                <a:t>，</a:t>
              </a:r>
              <a:r>
                <a:rPr lang="en-US" altLang="zh-CN" sz="2400" dirty="0">
                  <a:latin typeface="Times New Roman" panose="02020603050405020304" pitchFamily="18" charset="0"/>
                </a:rPr>
                <a:t>written as { 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i.e., </a:t>
              </a:r>
              <a:endParaRPr lang="zh-CN" altLang="en-US" sz="2400" dirty="0">
                <a:latin typeface="Times New Roman" panose="02020603050405020304" pitchFamily="18" charset="0"/>
              </a:endParaRPr>
            </a:p>
            <a:p>
              <a:pPr algn="just" eaLnBrk="1" hangingPunct="1"/>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a:latin typeface="Times New Roman" panose="02020603050405020304" pitchFamily="18" charset="0"/>
                </a:rPr>
                <a:t>{ S</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p>
          </p:txBody>
        </p:sp>
        <p:sp>
          <p:nvSpPr>
            <p:cNvPr id="82951" name="Line 12">
              <a:extLst>
                <a:ext uri="{FF2B5EF4-FFF2-40B4-BE49-F238E27FC236}">
                  <a16:creationId xmlns:a16="http://schemas.microsoft.com/office/drawing/2014/main" id="{FF9B5007-EE98-4FCB-B6F2-29D40AABFAAB}"/>
                </a:ext>
              </a:extLst>
            </p:cNvPr>
            <p:cNvSpPr>
              <a:spLocks noChangeShapeType="1"/>
            </p:cNvSpPr>
            <p:nvPr/>
          </p:nvSpPr>
          <p:spPr bwMode="auto">
            <a:xfrm>
              <a:off x="2313" y="2217"/>
              <a:ext cx="720"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82948" name="Picture 18" descr="Right_Green">
            <a:hlinkClick r:id="" action="ppaction://hlinkshowjump?jump=nextslide"/>
            <a:extLst>
              <a:ext uri="{FF2B5EF4-FFF2-40B4-BE49-F238E27FC236}">
                <a16:creationId xmlns:a16="http://schemas.microsoft.com/office/drawing/2014/main" id="{E2353B99-D275-4120-8AC7-66F80C2849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19" descr="Left_Green">
            <a:hlinkClick r:id="" action="ppaction://hlinkshowjump?jump=previousslide"/>
            <a:extLst>
              <a:ext uri="{FF2B5EF4-FFF2-40B4-BE49-F238E27FC236}">
                <a16:creationId xmlns:a16="http://schemas.microsoft.com/office/drawing/2014/main" id="{05954716-D5F9-4C75-9EDB-2077B147B4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45741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slide(fromTop)">
                                      <p:cBhvr>
                                        <p:cTn id="7" dur="500"/>
                                        <p:tgtEl>
                                          <p:spTgt spid="78850"/>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78853"/>
                                        </p:tgtEl>
                                        <p:attrNameLst>
                                          <p:attrName>style.visibility</p:attrName>
                                        </p:attrNameLst>
                                      </p:cBhvr>
                                      <p:to>
                                        <p:strVal val="visible"/>
                                      </p:to>
                                    </p:set>
                                    <p:anim calcmode="lin" valueType="num">
                                      <p:cBhvr additive="base">
                                        <p:cTn id="12" dur="500" fill="hold"/>
                                        <p:tgtEl>
                                          <p:spTgt spid="78853"/>
                                        </p:tgtEl>
                                        <p:attrNameLst>
                                          <p:attrName>ppt_x</p:attrName>
                                        </p:attrNameLst>
                                      </p:cBhvr>
                                      <p:tavLst>
                                        <p:tav tm="0">
                                          <p:val>
                                            <p:strVal val="#ppt_x"/>
                                          </p:val>
                                        </p:tav>
                                        <p:tav tm="100000">
                                          <p:val>
                                            <p:strVal val="#ppt_x"/>
                                          </p:val>
                                        </p:tav>
                                      </p:tavLst>
                                    </p:anim>
                                    <p:anim calcmode="lin" valueType="num">
                                      <p:cBhvr additive="base">
                                        <p:cTn id="13" dur="500" fill="hold"/>
                                        <p:tgtEl>
                                          <p:spTgt spid="788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13">
            <a:extLst>
              <a:ext uri="{FF2B5EF4-FFF2-40B4-BE49-F238E27FC236}">
                <a16:creationId xmlns:a16="http://schemas.microsoft.com/office/drawing/2014/main" id="{F06342BD-C2C9-4641-8422-C1CC6F37E8B0}"/>
              </a:ext>
            </a:extLst>
          </p:cNvPr>
          <p:cNvSpPr txBox="1">
            <a:spLocks noChangeArrowheads="1"/>
          </p:cNvSpPr>
          <p:nvPr/>
        </p:nvSpPr>
        <p:spPr bwMode="auto">
          <a:xfrm>
            <a:off x="411659" y="476672"/>
            <a:ext cx="847407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000099"/>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(3) </a:t>
            </a:r>
            <a:r>
              <a:rPr lang="en-US" altLang="zh-CN" dirty="0">
                <a:solidFill>
                  <a:schemeClr val="tx2"/>
                </a:solidFill>
                <a:latin typeface="Times New Roman" panose="02020603050405020304" pitchFamily="18" charset="0"/>
              </a:rPr>
              <a:t>maximum equivalent class </a:t>
            </a:r>
          </a:p>
          <a:p>
            <a:pPr algn="just" eaLnBrk="1" hangingPunct="1"/>
            <a:endParaRPr lang="zh-CN" altLang="en-US" sz="2400" b="1" dirty="0">
              <a:solidFill>
                <a:srgbClr val="CC3300"/>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solidFill>
                  <a:schemeClr val="tx2"/>
                </a:solidFill>
                <a:latin typeface="Times New Roman" panose="02020603050405020304" pitchFamily="18" charset="0"/>
              </a:rPr>
              <a:t>The so-called maximum equivalent class refers to the equivalent class that is not included in any other equivalent class.</a:t>
            </a:r>
            <a:endParaRPr lang="zh-CN" altLang="en-US" sz="2400" dirty="0">
              <a:solidFill>
                <a:schemeClr val="tx2"/>
              </a:solidFill>
              <a:latin typeface="Times New Roman" panose="02020603050405020304" pitchFamily="18" charset="0"/>
            </a:endParaRPr>
          </a:p>
          <a:p>
            <a:pPr algn="just" eaLnBrk="1" hangingPunct="1"/>
            <a:r>
              <a:rPr lang="zh-CN" altLang="en-US" sz="2400" dirty="0">
                <a:solidFill>
                  <a:schemeClr val="tx2"/>
                </a:solidFill>
                <a:latin typeface="Times New Roman" panose="02020603050405020304" pitchFamily="18" charset="0"/>
              </a:rPr>
              <a:t>　　</a:t>
            </a:r>
            <a:r>
              <a:rPr lang="en-US" altLang="zh-CN" dirty="0">
                <a:latin typeface="Times New Roman" panose="02020603050405020304" pitchFamily="18" charset="0"/>
              </a:rPr>
              <a:t>In other words, if an equivalent class is not a subset of any other equivalent class, then the equivalent class is called the largest equivalent class.</a:t>
            </a:r>
            <a:endParaRPr lang="zh-CN" altLang="en-US" sz="2400" b="1" dirty="0">
              <a:solidFill>
                <a:schemeClr val="accent2"/>
              </a:solidFill>
              <a:latin typeface="Times New Roman" panose="02020603050405020304" pitchFamily="18" charset="0"/>
            </a:endParaRPr>
          </a:p>
        </p:txBody>
      </p:sp>
      <p:sp>
        <p:nvSpPr>
          <p:cNvPr id="79875" name="Text Box 14">
            <a:extLst>
              <a:ext uri="{FF2B5EF4-FFF2-40B4-BE49-F238E27FC236}">
                <a16:creationId xmlns:a16="http://schemas.microsoft.com/office/drawing/2014/main" id="{82088A27-0336-49BD-9073-6062F9272D93}"/>
              </a:ext>
            </a:extLst>
          </p:cNvPr>
          <p:cNvSpPr txBox="1">
            <a:spLocks noChangeArrowheads="1"/>
          </p:cNvSpPr>
          <p:nvPr/>
        </p:nvSpPr>
        <p:spPr bwMode="auto">
          <a:xfrm>
            <a:off x="395288" y="3716338"/>
            <a:ext cx="84740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reduction process of the basic state table is to find all the maximum equivalent classes in the table, and then merge the states in each of the maximum equivalent classes into one new state, thus obtaining a minimized state table.</a:t>
            </a:r>
          </a:p>
          <a:p>
            <a:pPr algn="just" eaLnBrk="1" hangingPunct="1"/>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solidFill>
                  <a:srgbClr val="CC3300"/>
                </a:solidFill>
                <a:latin typeface="Times New Roman" panose="02020603050405020304" pitchFamily="18" charset="0"/>
              </a:rPr>
              <a:t>The number of states after reduction is equal to the number of maximum equivalent classes</a:t>
            </a:r>
            <a:r>
              <a:rPr lang="zh-CN" altLang="en-US" sz="2400" b="1" dirty="0">
                <a:solidFill>
                  <a:srgbClr val="CC3300"/>
                </a:solidFill>
                <a:latin typeface="Times New Roman" panose="02020603050405020304" pitchFamily="18" charset="0"/>
              </a:rPr>
              <a:t>！</a:t>
            </a:r>
          </a:p>
        </p:txBody>
      </p:sp>
      <p:pic>
        <p:nvPicPr>
          <p:cNvPr id="83972" name="Picture 15" descr="Right_Green">
            <a:hlinkClick r:id="" action="ppaction://hlinkshowjump?jump=nextslide"/>
            <a:extLst>
              <a:ext uri="{FF2B5EF4-FFF2-40B4-BE49-F238E27FC236}">
                <a16:creationId xmlns:a16="http://schemas.microsoft.com/office/drawing/2014/main" id="{C5F77A44-A5DC-4D02-A362-E0130F21B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3" name="Picture 16" descr="Left_Green">
            <a:hlinkClick r:id="" action="ppaction://hlinkshowjump?jump=previousslide"/>
            <a:extLst>
              <a:ext uri="{FF2B5EF4-FFF2-40B4-BE49-F238E27FC236}">
                <a16:creationId xmlns:a16="http://schemas.microsoft.com/office/drawing/2014/main" id="{4797A1B2-72A8-4B72-B04F-D776F9CFC6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36282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checkerboard(across)">
                                      <p:cBhvr>
                                        <p:cTn id="7" dur="500"/>
                                        <p:tgtEl>
                                          <p:spTgt spid="79874"/>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79875"/>
                                        </p:tgtEl>
                                        <p:attrNameLst>
                                          <p:attrName>style.visibility</p:attrName>
                                        </p:attrNameLst>
                                      </p:cBhvr>
                                      <p:to>
                                        <p:strVal val="visible"/>
                                      </p:to>
                                    </p:set>
                                    <p:animEffect transition="in" filter="checkerboard(down)">
                                      <p:cBhvr>
                                        <p:cTn id="12" dur="500"/>
                                        <p:tgtEl>
                                          <p:spTgt spid="79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7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8">
            <a:extLst>
              <a:ext uri="{FF2B5EF4-FFF2-40B4-BE49-F238E27FC236}">
                <a16:creationId xmlns:a16="http://schemas.microsoft.com/office/drawing/2014/main" id="{136E673F-8D59-49FC-B32F-CA6B867BC8F7}"/>
              </a:ext>
            </a:extLst>
          </p:cNvPr>
          <p:cNvSpPr txBox="1">
            <a:spLocks noChangeArrowheads="1"/>
          </p:cNvSpPr>
          <p:nvPr/>
        </p:nvSpPr>
        <p:spPr bwMode="auto">
          <a:xfrm>
            <a:off x="914400" y="774700"/>
            <a:ext cx="43056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990000"/>
                </a:solidFill>
                <a:latin typeface="Times New Roman" panose="02020603050405020304" pitchFamily="18" charset="0"/>
              </a:rPr>
              <a:t>2</a:t>
            </a:r>
            <a:r>
              <a:rPr lang="zh-CN" altLang="en-US" sz="2800" b="1" dirty="0">
                <a:solidFill>
                  <a:srgbClr val="990000"/>
                </a:solidFill>
                <a:latin typeface="Times New Roman" panose="02020603050405020304" pitchFamily="18" charset="0"/>
              </a:rPr>
              <a:t>．</a:t>
            </a:r>
            <a:r>
              <a:rPr lang="en-US" altLang="zh-CN" sz="2800" b="1" dirty="0">
                <a:solidFill>
                  <a:srgbClr val="990000"/>
                </a:solidFill>
                <a:latin typeface="Times New Roman" panose="02020603050405020304" pitchFamily="18" charset="0"/>
              </a:rPr>
              <a:t>State reduction</a:t>
            </a:r>
            <a:endParaRPr lang="zh-CN" altLang="en-US" sz="2800" b="1" dirty="0">
              <a:solidFill>
                <a:srgbClr val="990000"/>
              </a:solidFill>
              <a:latin typeface="Times New Roman" panose="02020603050405020304" pitchFamily="18" charset="0"/>
            </a:endParaRPr>
          </a:p>
        </p:txBody>
      </p:sp>
      <p:sp>
        <p:nvSpPr>
          <p:cNvPr id="80899" name="Rectangle 9">
            <a:extLst>
              <a:ext uri="{FF2B5EF4-FFF2-40B4-BE49-F238E27FC236}">
                <a16:creationId xmlns:a16="http://schemas.microsoft.com/office/drawing/2014/main" id="{C720D840-C293-411C-BE26-224F3B6AA1F0}"/>
              </a:ext>
            </a:extLst>
          </p:cNvPr>
          <p:cNvSpPr>
            <a:spLocks noChangeArrowheads="1"/>
          </p:cNvSpPr>
          <p:nvPr/>
        </p:nvSpPr>
        <p:spPr bwMode="auto">
          <a:xfrm>
            <a:off x="838200" y="1295400"/>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Observation method</a:t>
            </a:r>
            <a:endParaRPr lang="zh-CN" altLang="en-US" sz="2400" b="1" dirty="0">
              <a:solidFill>
                <a:srgbClr val="000099"/>
              </a:solidFill>
              <a:latin typeface="Times New Roman" panose="02020603050405020304" pitchFamily="18" charset="0"/>
            </a:endParaRPr>
          </a:p>
        </p:txBody>
      </p:sp>
      <p:pic>
        <p:nvPicPr>
          <p:cNvPr id="84996" name="Picture 28" descr="Right_Green">
            <a:hlinkClick r:id="" action="ppaction://hlinkshowjump?jump=nextslide"/>
            <a:extLst>
              <a:ext uri="{FF2B5EF4-FFF2-40B4-BE49-F238E27FC236}">
                <a16:creationId xmlns:a16="http://schemas.microsoft.com/office/drawing/2014/main" id="{1F10D3A0-EFDB-460C-B088-E7D3EEAD59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29" descr="Left_Green">
            <a:hlinkClick r:id="" action="ppaction://hlinkshowjump?jump=previousslide"/>
            <a:extLst>
              <a:ext uri="{FF2B5EF4-FFF2-40B4-BE49-F238E27FC236}">
                <a16:creationId xmlns:a16="http://schemas.microsoft.com/office/drawing/2014/main" id="{1625B077-AEB3-4FD9-90A2-ED8F9990AC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23">
            <a:extLst>
              <a:ext uri="{FF2B5EF4-FFF2-40B4-BE49-F238E27FC236}">
                <a16:creationId xmlns:a16="http://schemas.microsoft.com/office/drawing/2014/main" id="{B632516F-51D9-42A0-8164-8F055D2857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844675"/>
            <a:ext cx="5916613" cy="410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1912272C-A6D4-4B38-ACBC-5ECD25E68B08}"/>
              </a:ext>
            </a:extLst>
          </p:cNvPr>
          <p:cNvSpPr txBox="1"/>
          <p:nvPr/>
        </p:nvSpPr>
        <p:spPr>
          <a:xfrm>
            <a:off x="1403648" y="1964293"/>
            <a:ext cx="4131468"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Example: Reduce the basic state table</a:t>
            </a:r>
            <a:endParaRPr lang="zh-CN" altLang="en-US" sz="1800" dirty="0"/>
          </a:p>
        </p:txBody>
      </p:sp>
      <p:sp>
        <p:nvSpPr>
          <p:cNvPr id="8" name="文本框 7">
            <a:extLst>
              <a:ext uri="{FF2B5EF4-FFF2-40B4-BE49-F238E27FC236}">
                <a16:creationId xmlns:a16="http://schemas.microsoft.com/office/drawing/2014/main" id="{9076648A-8E3C-42A8-B282-058550704970}"/>
              </a:ext>
            </a:extLst>
          </p:cNvPr>
          <p:cNvSpPr txBox="1"/>
          <p:nvPr/>
        </p:nvSpPr>
        <p:spPr>
          <a:xfrm>
            <a:off x="914400" y="3191430"/>
            <a:ext cx="1440160"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Present state</a:t>
            </a:r>
            <a:endParaRPr lang="zh-CN" altLang="en-US" sz="1800" dirty="0"/>
          </a:p>
        </p:txBody>
      </p:sp>
      <p:sp>
        <p:nvSpPr>
          <p:cNvPr id="9" name="文本框 8">
            <a:extLst>
              <a:ext uri="{FF2B5EF4-FFF2-40B4-BE49-F238E27FC236}">
                <a16:creationId xmlns:a16="http://schemas.microsoft.com/office/drawing/2014/main" id="{E7BEC0F5-641C-4DCD-9DAA-917C2CDEBDF3}"/>
              </a:ext>
            </a:extLst>
          </p:cNvPr>
          <p:cNvSpPr txBox="1"/>
          <p:nvPr/>
        </p:nvSpPr>
        <p:spPr>
          <a:xfrm>
            <a:off x="3504983" y="2834302"/>
            <a:ext cx="2232756"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5222813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slide(fromBottom)">
                                      <p:cBhvr>
                                        <p:cTn id="7" dur="500"/>
                                        <p:tgtEl>
                                          <p:spTgt spid="8089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0899"/>
                                        </p:tgtEl>
                                        <p:attrNameLst>
                                          <p:attrName>style.visibility</p:attrName>
                                        </p:attrNameLst>
                                      </p:cBhvr>
                                      <p:to>
                                        <p:strVal val="visible"/>
                                      </p:to>
                                    </p:set>
                                    <p:animEffect transition="in" filter="slide(fromBottom)">
                                      <p:cBhvr>
                                        <p:cTn id="12" dur="500"/>
                                        <p:tgtEl>
                                          <p:spTgt spid="8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utoUpdateAnimBg="0"/>
      <p:bldP spid="8089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C4E5BB4F-96B7-49FF-86CF-EA9AEE6EDFBF}"/>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内容占位符 2">
            <a:extLst>
              <a:ext uri="{FF2B5EF4-FFF2-40B4-BE49-F238E27FC236}">
                <a16:creationId xmlns:a16="http://schemas.microsoft.com/office/drawing/2014/main" id="{55F0E9B1-6C08-47C7-A924-B47E7FC2AB71}"/>
              </a:ext>
            </a:extLst>
          </p:cNvPr>
          <p:cNvSpPr>
            <a:spLocks noGrp="1" noChangeArrowheads="1"/>
          </p:cNvSpPr>
          <p:nvPr>
            <p:ph idx="4294967295"/>
          </p:nvPr>
        </p:nvSpPr>
        <p:spPr bwMode="auto">
          <a:xfrm>
            <a:off x="4851012" y="274638"/>
            <a:ext cx="3835788" cy="64667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p>
            <a:r>
              <a:rPr lang="en-US" altLang="zh-CN" dirty="0"/>
              <a:t>Identical output:</a:t>
            </a:r>
          </a:p>
          <a:p>
            <a:pPr lvl="1"/>
            <a:r>
              <a:rPr lang="en-US" altLang="zh-CN" dirty="0"/>
              <a:t>A and B, C and D</a:t>
            </a:r>
          </a:p>
          <a:p>
            <a:r>
              <a:rPr lang="en-US" altLang="zh-CN" dirty="0"/>
              <a:t>For all the input combinations, C and D have the same next states. Thus, C and D are equivalent. </a:t>
            </a:r>
          </a:p>
          <a:p>
            <a:r>
              <a:rPr lang="en-US" altLang="zh-CN" dirty="0"/>
              <a:t>For X=1, the next states of A and B cannot satisfy the three </a:t>
            </a:r>
            <a:r>
              <a:rPr lang="en-US" altLang="zh-CN" dirty="0" err="1"/>
              <a:t>subconditions</a:t>
            </a:r>
            <a:r>
              <a:rPr lang="en-US" altLang="zh-CN" dirty="0"/>
              <a:t>. Thus, A and B are NOT equivalent. </a:t>
            </a:r>
          </a:p>
          <a:p>
            <a:r>
              <a:rPr lang="en-US" altLang="zh-CN" dirty="0"/>
              <a:t>The maximum equivalent classes are {A}, {B}, {C, D}, </a:t>
            </a:r>
            <a:endParaRPr lang="zh-CN" altLang="en-US" dirty="0"/>
          </a:p>
        </p:txBody>
      </p:sp>
      <p:pic>
        <p:nvPicPr>
          <p:cNvPr id="5" name="Picture 23">
            <a:extLst>
              <a:ext uri="{FF2B5EF4-FFF2-40B4-BE49-F238E27FC236}">
                <a16:creationId xmlns:a16="http://schemas.microsoft.com/office/drawing/2014/main" id="{87B3F9F8-5136-4F45-BFEF-459813FCA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37" y="1844824"/>
            <a:ext cx="4670078"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9FB4842F-2BED-4D29-993E-E771383F9132}"/>
              </a:ext>
            </a:extLst>
          </p:cNvPr>
          <p:cNvSpPr txBox="1"/>
          <p:nvPr/>
        </p:nvSpPr>
        <p:spPr>
          <a:xfrm>
            <a:off x="475134" y="1964441"/>
            <a:ext cx="3972308"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Example: Reduce the basic state table</a:t>
            </a:r>
            <a:endParaRPr lang="zh-CN" altLang="en-US" sz="1800" dirty="0"/>
          </a:p>
        </p:txBody>
      </p:sp>
      <p:sp>
        <p:nvSpPr>
          <p:cNvPr id="7" name="文本框 6">
            <a:extLst>
              <a:ext uri="{FF2B5EF4-FFF2-40B4-BE49-F238E27FC236}">
                <a16:creationId xmlns:a16="http://schemas.microsoft.com/office/drawing/2014/main" id="{072945E0-58DC-414C-8CAB-E767F9F044CB}"/>
              </a:ext>
            </a:extLst>
          </p:cNvPr>
          <p:cNvSpPr txBox="1"/>
          <p:nvPr/>
        </p:nvSpPr>
        <p:spPr>
          <a:xfrm>
            <a:off x="180934" y="2739610"/>
            <a:ext cx="927239" cy="646331"/>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Present state</a:t>
            </a:r>
            <a:endParaRPr lang="zh-CN" altLang="en-US" sz="1800" dirty="0"/>
          </a:p>
        </p:txBody>
      </p:sp>
      <p:sp>
        <p:nvSpPr>
          <p:cNvPr id="8" name="文本框 7">
            <a:extLst>
              <a:ext uri="{FF2B5EF4-FFF2-40B4-BE49-F238E27FC236}">
                <a16:creationId xmlns:a16="http://schemas.microsoft.com/office/drawing/2014/main" id="{9FD8C4B3-2AA6-4786-A1D1-447721E9FC4D}"/>
              </a:ext>
            </a:extLst>
          </p:cNvPr>
          <p:cNvSpPr txBox="1"/>
          <p:nvPr/>
        </p:nvSpPr>
        <p:spPr>
          <a:xfrm>
            <a:off x="1837273" y="2578009"/>
            <a:ext cx="2146742"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86667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8">
            <a:extLst>
              <a:ext uri="{FF2B5EF4-FFF2-40B4-BE49-F238E27FC236}">
                <a16:creationId xmlns:a16="http://schemas.microsoft.com/office/drawing/2014/main" id="{0017E471-0FDE-4B65-A636-38B2DDA3AD8C}"/>
              </a:ext>
            </a:extLst>
          </p:cNvPr>
          <p:cNvSpPr txBox="1">
            <a:spLocks noChangeArrowheads="1"/>
          </p:cNvSpPr>
          <p:nvPr/>
        </p:nvSpPr>
        <p:spPr bwMode="auto">
          <a:xfrm>
            <a:off x="914400" y="774700"/>
            <a:ext cx="459370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990000"/>
                </a:solidFill>
                <a:latin typeface="Times New Roman" panose="02020603050405020304" pitchFamily="18" charset="0"/>
              </a:rPr>
              <a:t>2</a:t>
            </a:r>
            <a:r>
              <a:rPr lang="zh-CN" altLang="en-US" sz="2800" b="1" dirty="0">
                <a:solidFill>
                  <a:srgbClr val="990000"/>
                </a:solidFill>
                <a:latin typeface="Times New Roman" panose="02020603050405020304" pitchFamily="18" charset="0"/>
              </a:rPr>
              <a:t>．</a:t>
            </a:r>
            <a:r>
              <a:rPr lang="en-US" altLang="zh-CN" sz="2800" dirty="0">
                <a:solidFill>
                  <a:srgbClr val="990000"/>
                </a:solidFill>
                <a:latin typeface="Times New Roman" panose="02020603050405020304" pitchFamily="18" charset="0"/>
              </a:rPr>
              <a:t>2</a:t>
            </a:r>
            <a:r>
              <a:rPr lang="zh-CN" altLang="en-US" sz="2800" dirty="0">
                <a:solidFill>
                  <a:srgbClr val="990000"/>
                </a:solidFill>
                <a:latin typeface="Times New Roman" panose="02020603050405020304" pitchFamily="18" charset="0"/>
              </a:rPr>
              <a:t>．</a:t>
            </a:r>
            <a:r>
              <a:rPr lang="en-US" altLang="zh-CN" sz="2800" dirty="0">
                <a:solidFill>
                  <a:srgbClr val="990000"/>
                </a:solidFill>
                <a:latin typeface="Times New Roman" panose="02020603050405020304" pitchFamily="18" charset="0"/>
              </a:rPr>
              <a:t>State reduction</a:t>
            </a:r>
            <a:endParaRPr lang="zh-CN" altLang="en-US" sz="2800" dirty="0">
              <a:solidFill>
                <a:srgbClr val="990000"/>
              </a:solidFill>
              <a:latin typeface="Times New Roman" panose="02020603050405020304" pitchFamily="18" charset="0"/>
            </a:endParaRPr>
          </a:p>
          <a:p>
            <a:pPr eaLnBrk="1" hangingPunct="1"/>
            <a:endParaRPr lang="zh-CN" altLang="en-US" sz="2800" b="1" dirty="0">
              <a:solidFill>
                <a:srgbClr val="990000"/>
              </a:solidFill>
              <a:latin typeface="Times New Roman" panose="02020603050405020304" pitchFamily="18" charset="0"/>
            </a:endParaRPr>
          </a:p>
        </p:txBody>
      </p:sp>
      <p:sp>
        <p:nvSpPr>
          <p:cNvPr id="82947" name="Rectangle 9">
            <a:extLst>
              <a:ext uri="{FF2B5EF4-FFF2-40B4-BE49-F238E27FC236}">
                <a16:creationId xmlns:a16="http://schemas.microsoft.com/office/drawing/2014/main" id="{3E854266-5B76-4368-B0A4-E13C40131D52}"/>
              </a:ext>
            </a:extLst>
          </p:cNvPr>
          <p:cNvSpPr>
            <a:spLocks noChangeArrowheads="1"/>
          </p:cNvSpPr>
          <p:nvPr/>
        </p:nvSpPr>
        <p:spPr bwMode="auto">
          <a:xfrm>
            <a:off x="838200" y="1295400"/>
            <a:ext cx="7215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(1</a:t>
            </a:r>
            <a:r>
              <a:rPr lang="en-US" altLang="zh-CN" dirty="0">
                <a:solidFill>
                  <a:srgbClr val="000099"/>
                </a:solidFill>
                <a:latin typeface="Times New Roman" panose="02020603050405020304" pitchFamily="18" charset="0"/>
              </a:rPr>
              <a:t>) General steps for implication chart method</a:t>
            </a:r>
            <a:endParaRPr lang="zh-CN" altLang="en-US" sz="2400" b="1" dirty="0">
              <a:solidFill>
                <a:srgbClr val="000099"/>
              </a:solidFill>
              <a:latin typeface="Times New Roman" panose="02020603050405020304" pitchFamily="18" charset="0"/>
            </a:endParaRPr>
          </a:p>
        </p:txBody>
      </p:sp>
      <p:sp>
        <p:nvSpPr>
          <p:cNvPr id="82948" name="Text Box 10">
            <a:extLst>
              <a:ext uri="{FF2B5EF4-FFF2-40B4-BE49-F238E27FC236}">
                <a16:creationId xmlns:a16="http://schemas.microsoft.com/office/drawing/2014/main" id="{E2B7F2D8-2AE4-4973-99C9-4057027A5621}"/>
              </a:ext>
            </a:extLst>
          </p:cNvPr>
          <p:cNvSpPr txBox="1">
            <a:spLocks noChangeArrowheads="1"/>
          </p:cNvSpPr>
          <p:nvPr/>
        </p:nvSpPr>
        <p:spPr bwMode="auto">
          <a:xfrm>
            <a:off x="395288" y="4724400"/>
            <a:ext cx="84740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latin typeface="Times New Roman" panose="02020603050405020304" pitchFamily="18" charset="0"/>
              </a:rPr>
              <a:t>　　</a:t>
            </a:r>
            <a:r>
              <a:rPr lang="zh-CN" altLang="en-US" sz="2400" b="1" dirty="0">
                <a:solidFill>
                  <a:srgbClr val="000099"/>
                </a:solidFill>
                <a:latin typeface="Times New Roman" panose="02020603050405020304" pitchFamily="18" charset="0"/>
              </a:rPr>
              <a:t>① </a:t>
            </a:r>
            <a:r>
              <a:rPr lang="en-US" altLang="zh-CN" sz="2400" b="1" dirty="0">
                <a:solidFill>
                  <a:srgbClr val="000099"/>
                </a:solidFill>
                <a:latin typeface="Times New Roman" panose="02020603050405020304" pitchFamily="18" charset="0"/>
              </a:rPr>
              <a:t>Draw unfilled implication chart</a:t>
            </a:r>
            <a:endParaRPr lang="zh-CN" altLang="en-US" sz="2400" b="1" dirty="0">
              <a:solidFill>
                <a:srgbClr val="000099"/>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implicant chart is a rectangular triangle step-like grid, each square in the table represents a state pair</a:t>
            </a:r>
            <a:r>
              <a:rPr lang="zh-CN" altLang="en-US" sz="2400" dirty="0">
                <a:latin typeface="Times New Roman" panose="02020603050405020304" pitchFamily="18" charset="0"/>
              </a:rPr>
              <a:t>。</a:t>
            </a:r>
          </a:p>
        </p:txBody>
      </p:sp>
      <p:grpSp>
        <p:nvGrpSpPr>
          <p:cNvPr id="82949" name="Group 5">
            <a:extLst>
              <a:ext uri="{FF2B5EF4-FFF2-40B4-BE49-F238E27FC236}">
                <a16:creationId xmlns:a16="http://schemas.microsoft.com/office/drawing/2014/main" id="{5A36C2EE-D08A-4C6B-BAC5-F7E4445DF737}"/>
              </a:ext>
            </a:extLst>
          </p:cNvPr>
          <p:cNvGrpSpPr>
            <a:grpSpLocks/>
          </p:cNvGrpSpPr>
          <p:nvPr/>
        </p:nvGrpSpPr>
        <p:grpSpPr bwMode="auto">
          <a:xfrm>
            <a:off x="1012825" y="1495426"/>
            <a:ext cx="7742238" cy="2851149"/>
            <a:chOff x="-19" y="-447"/>
            <a:chExt cx="4877" cy="1796"/>
          </a:xfrm>
        </p:grpSpPr>
        <p:grpSp>
          <p:nvGrpSpPr>
            <p:cNvPr id="87048" name="Group 6">
              <a:extLst>
                <a:ext uri="{FF2B5EF4-FFF2-40B4-BE49-F238E27FC236}">
                  <a16:creationId xmlns:a16="http://schemas.microsoft.com/office/drawing/2014/main" id="{06A03BCC-0F3A-4B3C-AF92-CEB374A88363}"/>
                </a:ext>
              </a:extLst>
            </p:cNvPr>
            <p:cNvGrpSpPr>
              <a:grpSpLocks/>
            </p:cNvGrpSpPr>
            <p:nvPr/>
          </p:nvGrpSpPr>
          <p:grpSpPr bwMode="auto">
            <a:xfrm>
              <a:off x="-19" y="-447"/>
              <a:ext cx="4877" cy="1520"/>
              <a:chOff x="-19" y="-447"/>
              <a:chExt cx="4877" cy="1520"/>
            </a:xfrm>
          </p:grpSpPr>
          <p:sp>
            <p:nvSpPr>
              <p:cNvPr id="87054" name="Text Box 12">
                <a:extLst>
                  <a:ext uri="{FF2B5EF4-FFF2-40B4-BE49-F238E27FC236}">
                    <a16:creationId xmlns:a16="http://schemas.microsoft.com/office/drawing/2014/main" id="{0A1109AF-7696-4879-96A8-66F263E22D33}"/>
                  </a:ext>
                </a:extLst>
              </p:cNvPr>
              <p:cNvSpPr txBox="1">
                <a:spLocks noChangeArrowheads="1"/>
              </p:cNvSpPr>
              <p:nvPr/>
            </p:nvSpPr>
            <p:spPr bwMode="auto">
              <a:xfrm>
                <a:off x="-19" y="-342"/>
                <a:ext cx="960"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dirty="0">
                    <a:solidFill>
                      <a:srgbClr val="000099"/>
                    </a:solidFill>
                    <a:latin typeface="Times New Roman" panose="02020603050405020304" pitchFamily="18" charset="0"/>
                  </a:rPr>
                  <a:t>Draw unfilled implication chart</a:t>
                </a:r>
                <a:endParaRPr lang="zh-CN" altLang="en-US" sz="1800" dirty="0">
                  <a:solidFill>
                    <a:srgbClr val="000099"/>
                  </a:solidFill>
                  <a:latin typeface="Times New Roman" panose="02020603050405020304" pitchFamily="18" charset="0"/>
                </a:endParaRPr>
              </a:p>
            </p:txBody>
          </p:sp>
          <p:sp>
            <p:nvSpPr>
              <p:cNvPr id="87055" name="Text Box 13">
                <a:extLst>
                  <a:ext uri="{FF2B5EF4-FFF2-40B4-BE49-F238E27FC236}">
                    <a16:creationId xmlns:a16="http://schemas.microsoft.com/office/drawing/2014/main" id="{9CDF1244-4011-456B-849B-D4E873E92586}"/>
                  </a:ext>
                </a:extLst>
              </p:cNvPr>
              <p:cNvSpPr txBox="1">
                <a:spLocks noChangeArrowheads="1"/>
              </p:cNvSpPr>
              <p:nvPr/>
            </p:nvSpPr>
            <p:spPr bwMode="auto">
              <a:xfrm>
                <a:off x="1517" y="-313"/>
                <a:ext cx="1056"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solidFill>
                      <a:srgbClr val="000099"/>
                    </a:solidFill>
                    <a:latin typeface="Times New Roman" panose="02020603050405020304" pitchFamily="18" charset="0"/>
                  </a:rPr>
                  <a:t>Find the state equivalent pares</a:t>
                </a:r>
                <a:endParaRPr lang="zh-CN" altLang="en-US" sz="1800" dirty="0">
                  <a:latin typeface="Times New Roman" panose="02020603050405020304" pitchFamily="18" charset="0"/>
                </a:endParaRPr>
              </a:p>
            </p:txBody>
          </p:sp>
          <p:sp>
            <p:nvSpPr>
              <p:cNvPr id="87056" name="Text Box 14">
                <a:extLst>
                  <a:ext uri="{FF2B5EF4-FFF2-40B4-BE49-F238E27FC236}">
                    <a16:creationId xmlns:a16="http://schemas.microsoft.com/office/drawing/2014/main" id="{6890AB7B-A65A-4C94-A3EE-88F0516697E3}"/>
                  </a:ext>
                </a:extLst>
              </p:cNvPr>
              <p:cNvSpPr txBox="1">
                <a:spLocks noChangeArrowheads="1"/>
              </p:cNvSpPr>
              <p:nvPr/>
            </p:nvSpPr>
            <p:spPr bwMode="auto">
              <a:xfrm>
                <a:off x="3706" y="-447"/>
                <a:ext cx="1152"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b="1" dirty="0">
                    <a:latin typeface="Times New Roman" panose="02020603050405020304" pitchFamily="18" charset="0"/>
                  </a:rPr>
                  <a:t> </a:t>
                </a:r>
                <a:r>
                  <a:rPr lang="en-US" altLang="zh-CN" sz="1800" dirty="0">
                    <a:latin typeface="Times New Roman" panose="02020603050405020304" pitchFamily="18" charset="0"/>
                  </a:rPr>
                  <a:t>Obtain maximum equivalent classes</a:t>
                </a:r>
                <a:endParaRPr lang="zh-CN" altLang="en-US" sz="1800" dirty="0">
                  <a:latin typeface="Times New Roman" panose="02020603050405020304" pitchFamily="18" charset="0"/>
                </a:endParaRPr>
              </a:p>
            </p:txBody>
          </p:sp>
          <p:sp>
            <p:nvSpPr>
              <p:cNvPr id="87057" name="Text Box 15">
                <a:extLst>
                  <a:ext uri="{FF2B5EF4-FFF2-40B4-BE49-F238E27FC236}">
                    <a16:creationId xmlns:a16="http://schemas.microsoft.com/office/drawing/2014/main" id="{28D51A34-77AD-4F2E-AE54-CA6D7C798F2B}"/>
                  </a:ext>
                </a:extLst>
              </p:cNvPr>
              <p:cNvSpPr txBox="1">
                <a:spLocks noChangeArrowheads="1"/>
              </p:cNvSpPr>
              <p:nvPr/>
            </p:nvSpPr>
            <p:spPr bwMode="auto">
              <a:xfrm>
                <a:off x="3168" y="821"/>
                <a:ext cx="132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  State merge</a:t>
                </a:r>
                <a:endParaRPr lang="zh-CN" altLang="en-US" sz="2000" b="1" dirty="0">
                  <a:latin typeface="Times New Roman" panose="02020603050405020304" pitchFamily="18" charset="0"/>
                </a:endParaRPr>
              </a:p>
            </p:txBody>
          </p:sp>
          <p:sp>
            <p:nvSpPr>
              <p:cNvPr id="87058" name="Line 16">
                <a:extLst>
                  <a:ext uri="{FF2B5EF4-FFF2-40B4-BE49-F238E27FC236}">
                    <a16:creationId xmlns:a16="http://schemas.microsoft.com/office/drawing/2014/main" id="{FCD57D00-D6F5-4E1D-B5B2-6081EB1F35F1}"/>
                  </a:ext>
                </a:extLst>
              </p:cNvPr>
              <p:cNvSpPr>
                <a:spLocks noChangeShapeType="1"/>
              </p:cNvSpPr>
              <p:nvPr/>
            </p:nvSpPr>
            <p:spPr bwMode="auto">
              <a:xfrm>
                <a:off x="960" y="197"/>
                <a:ext cx="480"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059" name="Line 17">
                <a:extLst>
                  <a:ext uri="{FF2B5EF4-FFF2-40B4-BE49-F238E27FC236}">
                    <a16:creationId xmlns:a16="http://schemas.microsoft.com/office/drawing/2014/main" id="{C4610D9F-4E18-4573-B425-40528F0E4E69}"/>
                  </a:ext>
                </a:extLst>
              </p:cNvPr>
              <p:cNvSpPr>
                <a:spLocks noChangeShapeType="1"/>
              </p:cNvSpPr>
              <p:nvPr/>
            </p:nvSpPr>
            <p:spPr bwMode="auto">
              <a:xfrm>
                <a:off x="3744" y="293"/>
                <a:ext cx="0" cy="576"/>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060" name="Line 18">
                <a:extLst>
                  <a:ext uri="{FF2B5EF4-FFF2-40B4-BE49-F238E27FC236}">
                    <a16:creationId xmlns:a16="http://schemas.microsoft.com/office/drawing/2014/main" id="{3A87012B-BC01-4981-AD67-B6D5269FC7D9}"/>
                  </a:ext>
                </a:extLst>
              </p:cNvPr>
              <p:cNvSpPr>
                <a:spLocks noChangeShapeType="1"/>
              </p:cNvSpPr>
              <p:nvPr/>
            </p:nvSpPr>
            <p:spPr bwMode="auto">
              <a:xfrm>
                <a:off x="2544" y="197"/>
                <a:ext cx="480"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061" name="Line 19">
                <a:extLst>
                  <a:ext uri="{FF2B5EF4-FFF2-40B4-BE49-F238E27FC236}">
                    <a16:creationId xmlns:a16="http://schemas.microsoft.com/office/drawing/2014/main" id="{AC74DA57-94FC-4D0A-9703-79E2E72B361B}"/>
                  </a:ext>
                </a:extLst>
              </p:cNvPr>
              <p:cNvSpPr>
                <a:spLocks noChangeShapeType="1"/>
              </p:cNvSpPr>
              <p:nvPr/>
            </p:nvSpPr>
            <p:spPr bwMode="auto">
              <a:xfrm flipH="1">
                <a:off x="1728" y="1013"/>
                <a:ext cx="1200"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062" name="Text Box 20">
                <a:extLst>
                  <a:ext uri="{FF2B5EF4-FFF2-40B4-BE49-F238E27FC236}">
                    <a16:creationId xmlns:a16="http://schemas.microsoft.com/office/drawing/2014/main" id="{CA26D6B2-4566-4615-B7D7-FD5D86F7FFBD}"/>
                  </a:ext>
                </a:extLst>
              </p:cNvPr>
              <p:cNvSpPr txBox="1">
                <a:spLocks noChangeArrowheads="1"/>
              </p:cNvSpPr>
              <p:nvPr/>
            </p:nvSpPr>
            <p:spPr bwMode="auto">
              <a:xfrm>
                <a:off x="168" y="652"/>
                <a:ext cx="1440"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dirty="0">
                    <a:latin typeface="Times New Roman" panose="02020603050405020304" pitchFamily="18" charset="0"/>
                  </a:rPr>
                  <a:t>Obtain modified state table</a:t>
                </a:r>
                <a:endParaRPr lang="zh-CN" altLang="en-US" sz="1800" b="1" dirty="0">
                  <a:latin typeface="Times New Roman" panose="02020603050405020304" pitchFamily="18" charset="0"/>
                </a:endParaRPr>
              </a:p>
            </p:txBody>
          </p:sp>
        </p:grpSp>
        <p:sp>
          <p:nvSpPr>
            <p:cNvPr id="87049" name="Oval 22">
              <a:extLst>
                <a:ext uri="{FF2B5EF4-FFF2-40B4-BE49-F238E27FC236}">
                  <a16:creationId xmlns:a16="http://schemas.microsoft.com/office/drawing/2014/main" id="{7D73CA6A-C5E8-4CB5-AA3A-F11B6E0E7FAA}"/>
                </a:ext>
              </a:extLst>
            </p:cNvPr>
            <p:cNvSpPr>
              <a:spLocks noChangeArrowheads="1"/>
            </p:cNvSpPr>
            <p:nvPr/>
          </p:nvSpPr>
          <p:spPr bwMode="auto">
            <a:xfrm>
              <a:off x="336" y="293"/>
              <a:ext cx="288" cy="24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1</a:t>
              </a:r>
            </a:p>
          </p:txBody>
        </p:sp>
        <p:sp>
          <p:nvSpPr>
            <p:cNvPr id="87050" name="Oval 23">
              <a:extLst>
                <a:ext uri="{FF2B5EF4-FFF2-40B4-BE49-F238E27FC236}">
                  <a16:creationId xmlns:a16="http://schemas.microsoft.com/office/drawing/2014/main" id="{7E8DBDCD-CD65-41CA-BB35-7B6669F5E9C0}"/>
                </a:ext>
              </a:extLst>
            </p:cNvPr>
            <p:cNvSpPr>
              <a:spLocks noChangeArrowheads="1"/>
            </p:cNvSpPr>
            <p:nvPr/>
          </p:nvSpPr>
          <p:spPr bwMode="auto">
            <a:xfrm>
              <a:off x="1824" y="293"/>
              <a:ext cx="288" cy="24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2</a:t>
              </a:r>
            </a:p>
          </p:txBody>
        </p:sp>
        <p:sp>
          <p:nvSpPr>
            <p:cNvPr id="87051" name="Oval 24">
              <a:extLst>
                <a:ext uri="{FF2B5EF4-FFF2-40B4-BE49-F238E27FC236}">
                  <a16:creationId xmlns:a16="http://schemas.microsoft.com/office/drawing/2014/main" id="{6B36F4B4-D712-4C3B-BE7A-71E11866D03A}"/>
                </a:ext>
              </a:extLst>
            </p:cNvPr>
            <p:cNvSpPr>
              <a:spLocks noChangeArrowheads="1"/>
            </p:cNvSpPr>
            <p:nvPr/>
          </p:nvSpPr>
          <p:spPr bwMode="auto">
            <a:xfrm>
              <a:off x="3408" y="293"/>
              <a:ext cx="288" cy="24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3</a:t>
              </a:r>
            </a:p>
          </p:txBody>
        </p:sp>
        <p:sp>
          <p:nvSpPr>
            <p:cNvPr id="87052" name="Oval 25">
              <a:extLst>
                <a:ext uri="{FF2B5EF4-FFF2-40B4-BE49-F238E27FC236}">
                  <a16:creationId xmlns:a16="http://schemas.microsoft.com/office/drawing/2014/main" id="{681D1C73-7DB6-4EB7-864B-84F5CE4FDAB6}"/>
                </a:ext>
              </a:extLst>
            </p:cNvPr>
            <p:cNvSpPr>
              <a:spLocks noChangeArrowheads="1"/>
            </p:cNvSpPr>
            <p:nvPr/>
          </p:nvSpPr>
          <p:spPr bwMode="auto">
            <a:xfrm>
              <a:off x="3456" y="1109"/>
              <a:ext cx="288" cy="24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4</a:t>
              </a:r>
            </a:p>
          </p:txBody>
        </p:sp>
        <p:sp>
          <p:nvSpPr>
            <p:cNvPr id="87053" name="Oval 26">
              <a:extLst>
                <a:ext uri="{FF2B5EF4-FFF2-40B4-BE49-F238E27FC236}">
                  <a16:creationId xmlns:a16="http://schemas.microsoft.com/office/drawing/2014/main" id="{2B341D67-CD9C-4171-A1C2-F79985B761DE}"/>
                </a:ext>
              </a:extLst>
            </p:cNvPr>
            <p:cNvSpPr>
              <a:spLocks noChangeArrowheads="1"/>
            </p:cNvSpPr>
            <p:nvPr/>
          </p:nvSpPr>
          <p:spPr bwMode="auto">
            <a:xfrm>
              <a:off x="720" y="1109"/>
              <a:ext cx="288" cy="24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5</a:t>
              </a:r>
            </a:p>
          </p:txBody>
        </p:sp>
      </p:grpSp>
      <p:pic>
        <p:nvPicPr>
          <p:cNvPr id="87046" name="Picture 28" descr="Right_Green">
            <a:hlinkClick r:id="" action="ppaction://hlinkshowjump?jump=nextslide"/>
            <a:extLst>
              <a:ext uri="{FF2B5EF4-FFF2-40B4-BE49-F238E27FC236}">
                <a16:creationId xmlns:a16="http://schemas.microsoft.com/office/drawing/2014/main" id="{869A17CF-86D1-42F8-B8F3-BB26637B76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7" name="Picture 29" descr="Left_Green">
            <a:hlinkClick r:id="" action="ppaction://hlinkshowjump?jump=previousslide"/>
            <a:extLst>
              <a:ext uri="{FF2B5EF4-FFF2-40B4-BE49-F238E27FC236}">
                <a16:creationId xmlns:a16="http://schemas.microsoft.com/office/drawing/2014/main" id="{4B5269D7-2D80-43E7-B247-7F10F22E8E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84712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slide(fromBottom)">
                                      <p:cBhvr>
                                        <p:cTn id="7" dur="500"/>
                                        <p:tgtEl>
                                          <p:spTgt spid="82946"/>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slide(fromBottom)">
                                      <p:cBhvr>
                                        <p:cTn id="12" dur="500"/>
                                        <p:tgtEl>
                                          <p:spTgt spid="82947"/>
                                        </p:tgtEl>
                                      </p:cBhvr>
                                    </p:animEffect>
                                  </p:childTnLst>
                                </p:cTn>
                              </p:par>
                            </p:childTnLst>
                          </p:cTn>
                        </p:par>
                        <p:par>
                          <p:cTn id="13" fill="hold" nodeType="afterGroup">
                            <p:stCondLst>
                              <p:cond delay="500"/>
                            </p:stCondLst>
                            <p:childTnLst>
                              <p:par>
                                <p:cTn id="14" presetID="2" presetClass="entr" presetSubtype="4" fill="hold" nodeType="afterEffect">
                                  <p:stCondLst>
                                    <p:cond delay="0"/>
                                  </p:stCondLst>
                                  <p:childTnLst>
                                    <p:set>
                                      <p:cBhvr>
                                        <p:cTn id="15" dur="1" fill="hold">
                                          <p:stCondLst>
                                            <p:cond delay="0"/>
                                          </p:stCondLst>
                                        </p:cTn>
                                        <p:tgtEl>
                                          <p:spTgt spid="82949"/>
                                        </p:tgtEl>
                                        <p:attrNameLst>
                                          <p:attrName>style.visibility</p:attrName>
                                        </p:attrNameLst>
                                      </p:cBhvr>
                                      <p:to>
                                        <p:strVal val="visible"/>
                                      </p:to>
                                    </p:set>
                                    <p:anim calcmode="lin" valueType="num">
                                      <p:cBhvr additive="base">
                                        <p:cTn id="16" dur="500" fill="hold"/>
                                        <p:tgtEl>
                                          <p:spTgt spid="82949"/>
                                        </p:tgtEl>
                                        <p:attrNameLst>
                                          <p:attrName>ppt_x</p:attrName>
                                        </p:attrNameLst>
                                      </p:cBhvr>
                                      <p:tavLst>
                                        <p:tav tm="0">
                                          <p:val>
                                            <p:strVal val="#ppt_x"/>
                                          </p:val>
                                        </p:tav>
                                        <p:tav tm="100000">
                                          <p:val>
                                            <p:strVal val="#ppt_x"/>
                                          </p:val>
                                        </p:tav>
                                      </p:tavLst>
                                    </p:anim>
                                    <p:anim calcmode="lin" valueType="num">
                                      <p:cBhvr additive="base">
                                        <p:cTn id="17" dur="500" fill="hold"/>
                                        <p:tgtEl>
                                          <p:spTgt spid="82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2948"/>
                                        </p:tgtEl>
                                        <p:attrNameLst>
                                          <p:attrName>style.visibility</p:attrName>
                                        </p:attrNameLst>
                                      </p:cBhvr>
                                      <p:to>
                                        <p:strVal val="visible"/>
                                      </p:to>
                                    </p:set>
                                    <p:animEffect transition="in" filter="box(out)">
                                      <p:cBhvr>
                                        <p:cTn id="22"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47" grpId="0" autoUpdateAnimBg="0"/>
      <p:bldP spid="8294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10">
            <a:extLst>
              <a:ext uri="{FF2B5EF4-FFF2-40B4-BE49-F238E27FC236}">
                <a16:creationId xmlns:a16="http://schemas.microsoft.com/office/drawing/2014/main" id="{484FB79E-9444-49A8-B4F2-1D6223D6AD58}"/>
              </a:ext>
            </a:extLst>
          </p:cNvPr>
          <p:cNvSpPr txBox="1">
            <a:spLocks noChangeArrowheads="1"/>
          </p:cNvSpPr>
          <p:nvPr/>
        </p:nvSpPr>
        <p:spPr bwMode="auto">
          <a:xfrm>
            <a:off x="373062" y="1271315"/>
            <a:ext cx="83978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chemeClr val="tx2"/>
                </a:solidFill>
                <a:latin typeface="Times New Roman" panose="02020603050405020304" pitchFamily="18" charset="0"/>
                <a:sym typeface="Wingdings 3" panose="05040102010807070707" pitchFamily="18" charset="2"/>
              </a:rPr>
              <a:t>　　</a:t>
            </a:r>
            <a:r>
              <a:rPr lang="en-US" altLang="zh-CN" dirty="0">
                <a:solidFill>
                  <a:srgbClr val="CC3300"/>
                </a:solidFill>
                <a:latin typeface="Times New Roman" panose="02020603050405020304" pitchFamily="18" charset="0"/>
              </a:rPr>
              <a:t>Sequence comparison: according to the order of the implicant chart from the upper to the lower, from the left to the right, all "state pairs" are checked and compared one by one in turn from the basic state table, and the results are labeled in the corresponding squares in the implicant chart.</a:t>
            </a:r>
            <a:endParaRPr lang="zh-CN" altLang="en-US" sz="2400" dirty="0">
              <a:latin typeface="Times New Roman" panose="02020603050405020304" pitchFamily="18" charset="0"/>
            </a:endParaRPr>
          </a:p>
        </p:txBody>
      </p:sp>
      <p:sp>
        <p:nvSpPr>
          <p:cNvPr id="83971" name="Text Box 11">
            <a:extLst>
              <a:ext uri="{FF2B5EF4-FFF2-40B4-BE49-F238E27FC236}">
                <a16:creationId xmlns:a16="http://schemas.microsoft.com/office/drawing/2014/main" id="{E04C5AD5-C9E3-4963-AF67-C8641468814B}"/>
              </a:ext>
            </a:extLst>
          </p:cNvPr>
          <p:cNvSpPr txBox="1">
            <a:spLocks noChangeArrowheads="1"/>
          </p:cNvSpPr>
          <p:nvPr/>
        </p:nvSpPr>
        <p:spPr bwMode="auto">
          <a:xfrm>
            <a:off x="107503" y="3141663"/>
            <a:ext cx="882377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comparison results are labeled as follows</a:t>
            </a:r>
            <a:r>
              <a:rPr lang="zh-CN" altLang="en-US" sz="2400" dirty="0">
                <a:latin typeface="Times New Roman" panose="02020603050405020304" pitchFamily="18" charset="0"/>
              </a:rPr>
              <a:t>：</a:t>
            </a:r>
          </a:p>
          <a:p>
            <a:pPr algn="just" eaLnBrk="1" hangingPunct="1"/>
            <a:r>
              <a:rPr lang="zh-CN" altLang="en-US" sz="2400"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Equivalent</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a:t>
            </a:r>
            <a:r>
              <a:rPr lang="en-US" altLang="zh-CN" sz="2400" dirty="0">
                <a:latin typeface="Times New Roman" panose="02020603050405020304" pitchFamily="18" charset="0"/>
              </a:rPr>
              <a:t> Fill</a:t>
            </a:r>
            <a:r>
              <a:rPr lang="zh-CN" altLang="en-US" sz="2400" dirty="0">
                <a:latin typeface="Times New Roman" panose="02020603050405020304" pitchFamily="18" charset="0"/>
              </a:rPr>
              <a:t>“∨”</a:t>
            </a:r>
            <a:r>
              <a:rPr lang="en-US" altLang="zh-CN" sz="2400" dirty="0">
                <a:latin typeface="Times New Roman" panose="02020603050405020304" pitchFamily="18" charset="0"/>
              </a:rPr>
              <a:t>in the corresponding square</a:t>
            </a:r>
            <a:r>
              <a:rPr lang="zh-CN" altLang="en-US" sz="2400" dirty="0">
                <a:latin typeface="Times New Roman" panose="02020603050405020304" pitchFamily="18" charset="0"/>
              </a:rPr>
              <a:t>；</a:t>
            </a:r>
          </a:p>
          <a:p>
            <a:pPr algn="just" eaLnBrk="1" hangingPunct="1"/>
            <a:r>
              <a:rPr lang="zh-CN" altLang="en-US" sz="2400" dirty="0">
                <a:latin typeface="Times New Roman" panose="02020603050405020304" pitchFamily="18" charset="0"/>
              </a:rPr>
              <a:t>　　</a:t>
            </a:r>
            <a:r>
              <a:rPr lang="en-US" altLang="zh-CN" sz="2400" b="1" dirty="0">
                <a:solidFill>
                  <a:srgbClr val="000099"/>
                </a:solidFill>
                <a:latin typeface="Times New Roman" panose="02020603050405020304" pitchFamily="18" charset="0"/>
              </a:rPr>
              <a:t>Inequivalent-----</a:t>
            </a:r>
            <a:r>
              <a:rPr lang="en-US" altLang="zh-CN" sz="2400" dirty="0">
                <a:latin typeface="Times New Roman" panose="02020603050405020304" pitchFamily="18" charset="0"/>
              </a:rPr>
              <a:t> Fill</a:t>
            </a:r>
            <a:r>
              <a:rPr lang="zh-CN" altLang="en-US" sz="2400" dirty="0">
                <a:latin typeface="Times New Roman" panose="02020603050405020304" pitchFamily="18" charset="0"/>
              </a:rPr>
              <a:t>“</a:t>
            </a:r>
            <a:r>
              <a:rPr lang="en-US" altLang="zh-CN" sz="2400" dirty="0">
                <a:latin typeface="Times New Roman" panose="02020603050405020304" pitchFamily="18" charset="0"/>
              </a:rPr>
              <a:t>×” in the corresponding square</a:t>
            </a:r>
            <a:r>
              <a:rPr lang="zh-CN" altLang="en-US" sz="2400" dirty="0">
                <a:latin typeface="Times New Roman" panose="02020603050405020304" pitchFamily="18" charset="0"/>
              </a:rPr>
              <a:t>； </a:t>
            </a:r>
          </a:p>
          <a:p>
            <a:pPr algn="just" eaLnBrk="1" hangingPunct="1"/>
            <a:r>
              <a:rPr lang="zh-CN" altLang="en-US" sz="2400" dirty="0">
                <a:latin typeface="Times New Roman" panose="02020603050405020304" pitchFamily="18" charset="0"/>
              </a:rPr>
              <a:t>　　</a:t>
            </a:r>
            <a:r>
              <a:rPr lang="en-US" altLang="zh-CN" sz="2400" b="1" dirty="0">
                <a:solidFill>
                  <a:srgbClr val="000099"/>
                </a:solidFill>
                <a:latin typeface="Times New Roman" panose="02020603050405020304" pitchFamily="18" charset="0"/>
              </a:rPr>
              <a:t>Rely on other state pares----</a:t>
            </a:r>
            <a:r>
              <a:rPr lang="en-US" altLang="zh-CN" sz="2400" dirty="0">
                <a:latin typeface="Times New Roman" panose="02020603050405020304" pitchFamily="18" charset="0"/>
              </a:rPr>
              <a:t> Fill the relied state pares in the corresponding square.</a:t>
            </a:r>
            <a:endParaRPr lang="zh-CN" altLang="en-US" sz="2400" dirty="0">
              <a:latin typeface="Times New Roman" panose="02020603050405020304" pitchFamily="18" charset="0"/>
            </a:endParaRPr>
          </a:p>
        </p:txBody>
      </p:sp>
      <p:sp>
        <p:nvSpPr>
          <p:cNvPr id="83972" name="Text Box 12">
            <a:extLst>
              <a:ext uri="{FF2B5EF4-FFF2-40B4-BE49-F238E27FC236}">
                <a16:creationId xmlns:a16="http://schemas.microsoft.com/office/drawing/2014/main" id="{E6DBD647-BF78-48FB-954A-0FE310F41B6D}"/>
              </a:ext>
            </a:extLst>
          </p:cNvPr>
          <p:cNvSpPr txBox="1">
            <a:spLocks noChangeArrowheads="1"/>
          </p:cNvSpPr>
          <p:nvPr/>
        </p:nvSpPr>
        <p:spPr bwMode="auto">
          <a:xfrm>
            <a:off x="510554" y="5080655"/>
            <a:ext cx="83978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latin typeface="Times New Roman" panose="02020603050405020304" pitchFamily="18" charset="0"/>
              </a:rPr>
              <a:t>Correlation comparison: Refer to the state check for those pairs, which have not been determined to be equivalent, at the time of sequence comparison. Until their relied state pares can be determined, we can determine their states are equivalent or not equivalent.</a:t>
            </a:r>
            <a:endParaRPr lang="zh-CN" altLang="en-US" sz="2400" dirty="0">
              <a:latin typeface="Times New Roman" panose="02020603050405020304" pitchFamily="18" charset="0"/>
            </a:endParaRPr>
          </a:p>
        </p:txBody>
      </p:sp>
      <p:sp>
        <p:nvSpPr>
          <p:cNvPr id="83973" name="Text Box 14">
            <a:extLst>
              <a:ext uri="{FF2B5EF4-FFF2-40B4-BE49-F238E27FC236}">
                <a16:creationId xmlns:a16="http://schemas.microsoft.com/office/drawing/2014/main" id="{52E07B76-7298-4E3E-B05B-211A7E884D1A}"/>
              </a:ext>
            </a:extLst>
          </p:cNvPr>
          <p:cNvSpPr txBox="1">
            <a:spLocks noChangeArrowheads="1"/>
          </p:cNvSpPr>
          <p:nvPr/>
        </p:nvSpPr>
        <p:spPr bwMode="auto">
          <a:xfrm>
            <a:off x="381000" y="838200"/>
            <a:ext cx="51991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 ②</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Find the state equivalent pares</a:t>
            </a:r>
            <a:r>
              <a:rPr lang="zh-CN" altLang="en-US" sz="2400" dirty="0">
                <a:latin typeface="Times New Roman" panose="02020603050405020304" pitchFamily="18" charset="0"/>
              </a:rPr>
              <a:t>　　</a:t>
            </a:r>
          </a:p>
        </p:txBody>
      </p:sp>
      <p:pic>
        <p:nvPicPr>
          <p:cNvPr id="88070" name="Picture 15" descr="Right_Green">
            <a:hlinkClick r:id="" action="ppaction://hlinkshowjump?jump=nextslide"/>
            <a:extLst>
              <a:ext uri="{FF2B5EF4-FFF2-40B4-BE49-F238E27FC236}">
                <a16:creationId xmlns:a16="http://schemas.microsoft.com/office/drawing/2014/main" id="{50DD0EF5-5137-47A9-A4F5-ED85E186ED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1" name="Picture 16" descr="Left_Green">
            <a:hlinkClick r:id="" action="ppaction://hlinkshowjump?jump=previousslide"/>
            <a:extLst>
              <a:ext uri="{FF2B5EF4-FFF2-40B4-BE49-F238E27FC236}">
                <a16:creationId xmlns:a16="http://schemas.microsoft.com/office/drawing/2014/main" id="{CD4E812F-985E-4D40-A876-BBAB4137BF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9121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973"/>
                                        </p:tgtEl>
                                        <p:attrNameLst>
                                          <p:attrName>style.visibility</p:attrName>
                                        </p:attrNameLst>
                                      </p:cBhvr>
                                      <p:to>
                                        <p:strVal val="visible"/>
                                      </p:to>
                                    </p:set>
                                    <p:animEffect transition="in" filter="wipe(left)">
                                      <p:cBhvr>
                                        <p:cTn id="7" dur="500"/>
                                        <p:tgtEl>
                                          <p:spTgt spid="83973"/>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83970"/>
                                        </p:tgtEl>
                                        <p:attrNameLst>
                                          <p:attrName>style.visibility</p:attrName>
                                        </p:attrNameLst>
                                      </p:cBhvr>
                                      <p:to>
                                        <p:strVal val="visible"/>
                                      </p:to>
                                    </p:set>
                                    <p:animEffect transition="in" filter="wipe(right)">
                                      <p:cBhvr>
                                        <p:cTn id="12" dur="500"/>
                                        <p:tgtEl>
                                          <p:spTgt spid="839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3971"/>
                                        </p:tgtEl>
                                        <p:attrNameLst>
                                          <p:attrName>style.visibility</p:attrName>
                                        </p:attrNameLst>
                                      </p:cBhvr>
                                      <p:to>
                                        <p:strVal val="visible"/>
                                      </p:to>
                                    </p:set>
                                    <p:animEffect transition="in" filter="wipe(up)">
                                      <p:cBhvr>
                                        <p:cTn id="17" dur="500"/>
                                        <p:tgtEl>
                                          <p:spTgt spid="839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3972"/>
                                        </p:tgtEl>
                                        <p:attrNameLst>
                                          <p:attrName>style.visibility</p:attrName>
                                        </p:attrNameLst>
                                      </p:cBhvr>
                                      <p:to>
                                        <p:strVal val="visible"/>
                                      </p:to>
                                    </p:set>
                                    <p:animEffect transition="in" filter="wipe(left)">
                                      <p:cBhvr>
                                        <p:cTn id="22" dur="500"/>
                                        <p:tgtEl>
                                          <p:spTgt spid="83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utoUpdateAnimBg="0"/>
      <p:bldP spid="83971" grpId="0" autoUpdateAnimBg="0"/>
      <p:bldP spid="83972" grpId="0" autoUpdateAnimBg="0"/>
      <p:bldP spid="8397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0">
            <a:extLst>
              <a:ext uri="{FF2B5EF4-FFF2-40B4-BE49-F238E27FC236}">
                <a16:creationId xmlns:a16="http://schemas.microsoft.com/office/drawing/2014/main" id="{F0001A5F-0C14-4098-949F-18B1F71CD0EA}"/>
              </a:ext>
            </a:extLst>
          </p:cNvPr>
          <p:cNvSpPr txBox="1">
            <a:spLocks noChangeArrowheads="1"/>
          </p:cNvSpPr>
          <p:nvPr/>
        </p:nvSpPr>
        <p:spPr bwMode="auto">
          <a:xfrm>
            <a:off x="457200" y="914400"/>
            <a:ext cx="8382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CC3300"/>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　③</a:t>
            </a:r>
            <a:r>
              <a:rPr lang="en-US" altLang="zh-CN" sz="2400" b="1" dirty="0">
                <a:solidFill>
                  <a:schemeClr val="accent2"/>
                </a:solidFill>
                <a:latin typeface="Times New Roman" panose="02020603050405020304" pitchFamily="18" charset="0"/>
              </a:rPr>
              <a:t>Obtain maximum equivalent classes</a:t>
            </a:r>
            <a:endParaRPr lang="zh-CN" altLang="en-US" sz="2400" b="1" dirty="0">
              <a:solidFill>
                <a:schemeClr val="accent2"/>
              </a:solidFill>
              <a:latin typeface="Times New Roman" panose="02020603050405020304" pitchFamily="18" charset="0"/>
            </a:endParaRPr>
          </a:p>
          <a:p>
            <a:pPr algn="just" eaLnBrk="1" hangingPunct="1"/>
            <a:endParaRPr lang="zh-CN" altLang="en-US" sz="2400" b="1" dirty="0">
              <a:solidFill>
                <a:schemeClr val="accent2"/>
              </a:solidFill>
              <a:latin typeface="Times New Roman" panose="02020603050405020304" pitchFamily="18" charset="0"/>
            </a:endParaRPr>
          </a:p>
          <a:p>
            <a:pPr algn="just" eaLnBrk="1" hangingPunct="1"/>
            <a:r>
              <a:rPr lang="zh-CN" altLang="en-US" sz="2400" b="1" dirty="0">
                <a:latin typeface="Times New Roman" panose="02020603050405020304" pitchFamily="18" charset="0"/>
              </a:rPr>
              <a:t>　　</a:t>
            </a:r>
            <a:r>
              <a:rPr lang="en-US" altLang="zh-CN" dirty="0">
                <a:latin typeface="Times New Roman" panose="02020603050405020304" pitchFamily="18" charset="0"/>
              </a:rPr>
              <a:t>After finding all the equivalent pairs in the basic state table, we can use the transitivity of the equivalent states to find the maximum equivalent class.</a:t>
            </a:r>
            <a:endParaRPr lang="zh-CN" altLang="en-US" sz="2400" b="1" dirty="0">
              <a:solidFill>
                <a:srgbClr val="CC3300"/>
              </a:solidFill>
              <a:latin typeface="Times New Roman" panose="02020603050405020304" pitchFamily="18" charset="0"/>
            </a:endParaRPr>
          </a:p>
        </p:txBody>
      </p:sp>
      <p:sp>
        <p:nvSpPr>
          <p:cNvPr id="84995" name="Text Box 12">
            <a:extLst>
              <a:ext uri="{FF2B5EF4-FFF2-40B4-BE49-F238E27FC236}">
                <a16:creationId xmlns:a16="http://schemas.microsoft.com/office/drawing/2014/main" id="{66DEE71D-037E-4F3D-BF00-76A0313BB649}"/>
              </a:ext>
            </a:extLst>
          </p:cNvPr>
          <p:cNvSpPr txBox="1">
            <a:spLocks noChangeArrowheads="1"/>
          </p:cNvSpPr>
          <p:nvPr/>
        </p:nvSpPr>
        <p:spPr bwMode="auto">
          <a:xfrm>
            <a:off x="323850" y="3500438"/>
            <a:ext cx="85502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④</a:t>
            </a:r>
            <a:r>
              <a:rPr lang="en-US" altLang="zh-CN" dirty="0">
                <a:solidFill>
                  <a:schemeClr val="accent2"/>
                </a:solidFill>
                <a:latin typeface="Times New Roman" panose="02020603050405020304" pitchFamily="18" charset="0"/>
              </a:rPr>
              <a:t>State merge, make a modified state table</a:t>
            </a:r>
          </a:p>
          <a:p>
            <a:pPr algn="just" eaLnBrk="1" hangingPunct="1"/>
            <a:endParaRPr lang="zh-CN" altLang="en-US" sz="2400" b="1" dirty="0">
              <a:solidFill>
                <a:schemeClr val="accent2"/>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Combine all the states in each of the maximum equivalent classes into one state to get a modified state table that is equivalent to the basic state table.</a:t>
            </a:r>
            <a:r>
              <a:rPr lang="zh-CN" altLang="en-US" sz="2400" dirty="0">
                <a:latin typeface="Times New Roman" panose="02020603050405020304" pitchFamily="18" charset="0"/>
              </a:rPr>
              <a:t></a:t>
            </a:r>
          </a:p>
        </p:txBody>
      </p:sp>
      <p:pic>
        <p:nvPicPr>
          <p:cNvPr id="89092" name="Picture 13" descr="Right_Green">
            <a:hlinkClick r:id="" action="ppaction://hlinkshowjump?jump=nextslide"/>
            <a:extLst>
              <a:ext uri="{FF2B5EF4-FFF2-40B4-BE49-F238E27FC236}">
                <a16:creationId xmlns:a16="http://schemas.microsoft.com/office/drawing/2014/main" id="{5F4C9217-10D6-4AF1-802F-0983EE7C18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3" name="Picture 14" descr="Left_Green">
            <a:hlinkClick r:id="" action="ppaction://hlinkshowjump?jump=previousslide"/>
            <a:extLst>
              <a:ext uri="{FF2B5EF4-FFF2-40B4-BE49-F238E27FC236}">
                <a16:creationId xmlns:a16="http://schemas.microsoft.com/office/drawing/2014/main" id="{AC95EE69-DB3F-4F32-9F64-41228037D4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4075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4994"/>
                                        </p:tgtEl>
                                        <p:attrNameLst>
                                          <p:attrName>style.visibility</p:attrName>
                                        </p:attrNameLst>
                                      </p:cBhvr>
                                      <p:to>
                                        <p:strVal val="visible"/>
                                      </p:to>
                                    </p:set>
                                    <p:animEffect transition="in" filter="strips(downRight)">
                                      <p:cBhvr>
                                        <p:cTn id="7" dur="500"/>
                                        <p:tgtEl>
                                          <p:spTgt spid="84994"/>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4995"/>
                                        </p:tgtEl>
                                        <p:attrNameLst>
                                          <p:attrName>style.visibility</p:attrName>
                                        </p:attrNameLst>
                                      </p:cBhvr>
                                      <p:to>
                                        <p:strVal val="visible"/>
                                      </p:to>
                                    </p:set>
                                    <p:animEffect transition="in" filter="slide(fromBottom)">
                                      <p:cBhvr>
                                        <p:cTn id="12" dur="500"/>
                                        <p:tgtEl>
                                          <p:spTgt spid="84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autoUpdateAnimBg="0"/>
      <p:bldP spid="8499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8">
            <a:extLst>
              <a:ext uri="{FF2B5EF4-FFF2-40B4-BE49-F238E27FC236}">
                <a16:creationId xmlns:a16="http://schemas.microsoft.com/office/drawing/2014/main" id="{5124B934-B356-45B7-99E6-18673B80250F}"/>
              </a:ext>
            </a:extLst>
          </p:cNvPr>
          <p:cNvSpPr txBox="1">
            <a:spLocks noChangeArrowheads="1"/>
          </p:cNvSpPr>
          <p:nvPr/>
        </p:nvSpPr>
        <p:spPr bwMode="auto">
          <a:xfrm>
            <a:off x="827088" y="620713"/>
            <a:ext cx="2162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(2)Example:</a:t>
            </a:r>
            <a:r>
              <a:rPr lang="zh-CN" altLang="en-US" sz="2400" b="1" dirty="0">
                <a:solidFill>
                  <a:srgbClr val="990000"/>
                </a:solidFill>
                <a:latin typeface="Times New Roman" panose="02020603050405020304" pitchFamily="18" charset="0"/>
              </a:rPr>
              <a:t></a:t>
            </a:r>
          </a:p>
        </p:txBody>
      </p:sp>
      <p:sp>
        <p:nvSpPr>
          <p:cNvPr id="86019" name="Text Box 9">
            <a:extLst>
              <a:ext uri="{FF2B5EF4-FFF2-40B4-BE49-F238E27FC236}">
                <a16:creationId xmlns:a16="http://schemas.microsoft.com/office/drawing/2014/main" id="{D1D7076E-C9E8-4162-B503-72569A6CE3AB}"/>
              </a:ext>
            </a:extLst>
          </p:cNvPr>
          <p:cNvSpPr txBox="1">
            <a:spLocks noChangeArrowheads="1"/>
          </p:cNvSpPr>
          <p:nvPr/>
        </p:nvSpPr>
        <p:spPr bwMode="auto">
          <a:xfrm>
            <a:off x="827088" y="1032765"/>
            <a:ext cx="58272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Q:</a:t>
            </a:r>
            <a:r>
              <a:rPr lang="zh-CN" altLang="en-US" sz="2400" b="1" dirty="0">
                <a:solidFill>
                  <a:srgbClr val="CC3300"/>
                </a:solidFill>
                <a:latin typeface="Times New Roman" panose="02020603050405020304" pitchFamily="18" charset="0"/>
              </a:rPr>
              <a:t>　</a:t>
            </a:r>
            <a:r>
              <a:rPr lang="en-US" altLang="zh-CN" sz="2400" dirty="0">
                <a:latin typeface="Times New Roman" panose="02020603050405020304" pitchFamily="18" charset="0"/>
              </a:rPr>
              <a:t>Reduce the following basic state table </a:t>
            </a:r>
            <a:endParaRPr lang="zh-CN" altLang="en-US" sz="2400" dirty="0">
              <a:latin typeface="Times New Roman" panose="02020603050405020304" pitchFamily="18" charset="0"/>
            </a:endParaRPr>
          </a:p>
        </p:txBody>
      </p:sp>
      <p:sp>
        <p:nvSpPr>
          <p:cNvPr id="86020" name="Text Box 11">
            <a:extLst>
              <a:ext uri="{FF2B5EF4-FFF2-40B4-BE49-F238E27FC236}">
                <a16:creationId xmlns:a16="http://schemas.microsoft.com/office/drawing/2014/main" id="{7C44260D-B416-4D07-820C-168CFC543B43}"/>
              </a:ext>
            </a:extLst>
          </p:cNvPr>
          <p:cNvSpPr txBox="1">
            <a:spLocks noChangeArrowheads="1"/>
          </p:cNvSpPr>
          <p:nvPr/>
        </p:nvSpPr>
        <p:spPr bwMode="auto">
          <a:xfrm>
            <a:off x="3871566" y="1533123"/>
            <a:ext cx="527243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dirty="0">
                <a:solidFill>
                  <a:schemeClr val="accent2"/>
                </a:solidFill>
                <a:latin typeface="Times New Roman" panose="02020603050405020304" pitchFamily="18" charset="0"/>
              </a:rPr>
              <a:t>A:</a:t>
            </a:r>
            <a:r>
              <a:rPr lang="zh-CN" altLang="en-US" sz="2400" b="1" dirty="0">
                <a:solidFill>
                  <a:schemeClr val="accent2"/>
                </a:solidFill>
                <a:latin typeface="Times New Roman" panose="02020603050405020304" pitchFamily="18" charset="0"/>
              </a:rPr>
              <a:t>　① </a:t>
            </a:r>
            <a:r>
              <a:rPr lang="en-US" altLang="zh-CN" dirty="0">
                <a:solidFill>
                  <a:schemeClr val="accent2"/>
                </a:solidFill>
                <a:latin typeface="Times New Roman" panose="02020603050405020304" pitchFamily="18" charset="0"/>
              </a:rPr>
              <a:t>Draw unfilled implication chart</a:t>
            </a:r>
          </a:p>
          <a:p>
            <a:pPr algn="just" eaLnBrk="1" hangingPunct="1"/>
            <a:r>
              <a:rPr lang="en-US" altLang="zh-CN" sz="2400" dirty="0">
                <a:latin typeface="Times New Roman" panose="02020603050405020304" pitchFamily="18" charset="0"/>
              </a:rPr>
              <a:t>The g</a:t>
            </a:r>
            <a:r>
              <a:rPr lang="en-US" altLang="zh-CN" dirty="0">
                <a:latin typeface="Times New Roman" panose="02020603050405020304" pitchFamily="18" charset="0"/>
              </a:rPr>
              <a:t>iven basic state table has 7 states, according to the rules for filling implicant chart, the unfiled implicant chart frame can be drawn as follows.</a:t>
            </a:r>
            <a:endParaRPr lang="zh-CN" altLang="en-US" sz="2400" dirty="0">
              <a:latin typeface="Times New Roman" panose="02020603050405020304" pitchFamily="18" charset="0"/>
            </a:endParaRPr>
          </a:p>
        </p:txBody>
      </p:sp>
      <p:pic>
        <p:nvPicPr>
          <p:cNvPr id="86021" name="Picture 12" descr="TU5-23">
            <a:extLst>
              <a:ext uri="{FF2B5EF4-FFF2-40B4-BE49-F238E27FC236}">
                <a16:creationId xmlns:a16="http://schemas.microsoft.com/office/drawing/2014/main" id="{26D09E34-2D69-4F43-97F0-F6DAD232CD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6606" y="3861006"/>
            <a:ext cx="3048000"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2" name="Picture 14" descr="BIAO5-14c">
            <a:extLst>
              <a:ext uri="{FF2B5EF4-FFF2-40B4-BE49-F238E27FC236}">
                <a16:creationId xmlns:a16="http://schemas.microsoft.com/office/drawing/2014/main" id="{2CB8AE7F-8296-48EA-B424-48123FB44F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057400"/>
            <a:ext cx="30527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15" descr="Right_Green">
            <a:hlinkClick r:id="" action="ppaction://hlinkshowjump?jump=nextslide"/>
            <a:extLst>
              <a:ext uri="{FF2B5EF4-FFF2-40B4-BE49-F238E27FC236}">
                <a16:creationId xmlns:a16="http://schemas.microsoft.com/office/drawing/2014/main" id="{116BCB48-F684-48E2-9C35-C70169B20A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20" name="Picture 16" descr="Left_Green">
            <a:hlinkClick r:id="" action="ppaction://hlinkshowjump?jump=previousslide"/>
            <a:extLst>
              <a:ext uri="{FF2B5EF4-FFF2-40B4-BE49-F238E27FC236}">
                <a16:creationId xmlns:a16="http://schemas.microsoft.com/office/drawing/2014/main" id="{75AE5B61-AD80-456D-8EB5-F6BC262274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55B0DBE7-B6FF-4254-A8BB-5D5697C2B797}"/>
              </a:ext>
            </a:extLst>
          </p:cNvPr>
          <p:cNvSpPr txBox="1"/>
          <p:nvPr/>
        </p:nvSpPr>
        <p:spPr>
          <a:xfrm>
            <a:off x="1475656" y="2133287"/>
            <a:ext cx="1872208"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basic state table</a:t>
            </a:r>
            <a:endParaRPr lang="zh-CN" altLang="en-US" sz="1800" dirty="0"/>
          </a:p>
        </p:txBody>
      </p:sp>
      <p:sp>
        <p:nvSpPr>
          <p:cNvPr id="10" name="文本框 9">
            <a:extLst>
              <a:ext uri="{FF2B5EF4-FFF2-40B4-BE49-F238E27FC236}">
                <a16:creationId xmlns:a16="http://schemas.microsoft.com/office/drawing/2014/main" id="{E3A7EC9D-49F1-49A8-9EF3-5CE97D2F8A4D}"/>
              </a:ext>
            </a:extLst>
          </p:cNvPr>
          <p:cNvSpPr txBox="1"/>
          <p:nvPr/>
        </p:nvSpPr>
        <p:spPr>
          <a:xfrm>
            <a:off x="611560" y="2682855"/>
            <a:ext cx="1080120" cy="646331"/>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11" name="文本框 10">
            <a:extLst>
              <a:ext uri="{FF2B5EF4-FFF2-40B4-BE49-F238E27FC236}">
                <a16:creationId xmlns:a16="http://schemas.microsoft.com/office/drawing/2014/main" id="{A6F9699E-172D-43E8-BD56-C857FEB3BBF4}"/>
              </a:ext>
            </a:extLst>
          </p:cNvPr>
          <p:cNvSpPr txBox="1"/>
          <p:nvPr/>
        </p:nvSpPr>
        <p:spPr>
          <a:xfrm>
            <a:off x="1771466" y="2579538"/>
            <a:ext cx="2100100"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4109600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6018"/>
                                        </p:tgtEl>
                                        <p:attrNameLst>
                                          <p:attrName>style.visibility</p:attrName>
                                        </p:attrNameLst>
                                      </p:cBhvr>
                                      <p:to>
                                        <p:strVal val="visible"/>
                                      </p:to>
                                    </p:set>
                                    <p:animEffect transition="in" filter="slide(fromBottom)">
                                      <p:cBhvr>
                                        <p:cTn id="7" dur="500"/>
                                        <p:tgtEl>
                                          <p:spTgt spid="8601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slide(fromBottom)">
                                      <p:cBhvr>
                                        <p:cTn id="12" dur="500"/>
                                        <p:tgtEl>
                                          <p:spTgt spid="86019"/>
                                        </p:tgtEl>
                                      </p:cBhvr>
                                    </p:animEffect>
                                  </p:childTnLst>
                                </p:cTn>
                              </p:par>
                            </p:childTnLst>
                          </p:cTn>
                        </p:par>
                        <p:par>
                          <p:cTn id="13" fill="hold" nodeType="afterGroup">
                            <p:stCondLst>
                              <p:cond delay="500"/>
                            </p:stCondLst>
                            <p:childTnLst>
                              <p:par>
                                <p:cTn id="14" presetID="2" presetClass="entr" presetSubtype="8" fill="hold" nodeType="afterEffect">
                                  <p:stCondLst>
                                    <p:cond delay="0"/>
                                  </p:stCondLst>
                                  <p:childTnLst>
                                    <p:set>
                                      <p:cBhvr>
                                        <p:cTn id="15" dur="1" fill="hold">
                                          <p:stCondLst>
                                            <p:cond delay="0"/>
                                          </p:stCondLst>
                                        </p:cTn>
                                        <p:tgtEl>
                                          <p:spTgt spid="86022"/>
                                        </p:tgtEl>
                                        <p:attrNameLst>
                                          <p:attrName>style.visibility</p:attrName>
                                        </p:attrNameLst>
                                      </p:cBhvr>
                                      <p:to>
                                        <p:strVal val="visible"/>
                                      </p:to>
                                    </p:set>
                                    <p:anim calcmode="lin" valueType="num">
                                      <p:cBhvr additive="base">
                                        <p:cTn id="16" dur="500" fill="hold"/>
                                        <p:tgtEl>
                                          <p:spTgt spid="86022"/>
                                        </p:tgtEl>
                                        <p:attrNameLst>
                                          <p:attrName>ppt_x</p:attrName>
                                        </p:attrNameLst>
                                      </p:cBhvr>
                                      <p:tavLst>
                                        <p:tav tm="0">
                                          <p:val>
                                            <p:strVal val="0-#ppt_w/2"/>
                                          </p:val>
                                        </p:tav>
                                        <p:tav tm="100000">
                                          <p:val>
                                            <p:strVal val="#ppt_x"/>
                                          </p:val>
                                        </p:tav>
                                      </p:tavLst>
                                    </p:anim>
                                    <p:anim calcmode="lin" valueType="num">
                                      <p:cBhvr additive="base">
                                        <p:cTn id="17" dur="500" fill="hold"/>
                                        <p:tgtEl>
                                          <p:spTgt spid="860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6020"/>
                                        </p:tgtEl>
                                        <p:attrNameLst>
                                          <p:attrName>style.visibility</p:attrName>
                                        </p:attrNameLst>
                                      </p:cBhvr>
                                      <p:to>
                                        <p:strVal val="visible"/>
                                      </p:to>
                                    </p:set>
                                    <p:animEffect transition="in" filter="wipe(left)">
                                      <p:cBhvr>
                                        <p:cTn id="22" dur="500"/>
                                        <p:tgtEl>
                                          <p:spTgt spid="86020"/>
                                        </p:tgtEl>
                                      </p:cBhvr>
                                    </p:animEffect>
                                  </p:childTnLst>
                                  <p:subTnLst>
                                    <p:audio>
                                      <p:cMediaNode>
                                        <p:cTn display="0" masterRel="sameClick">
                                          <p:stCondLst>
                                            <p:cond evt="begin" delay="0">
                                              <p:tn val="20"/>
                                            </p:cond>
                                          </p:stCondLst>
                                          <p:endCondLst>
                                            <p:cond evt="onStopAudio" delay="0">
                                              <p:tgtEl>
                                                <p:sldTgt/>
                                              </p:tgtEl>
                                            </p:cond>
                                          </p:endCondLst>
                                        </p:cTn>
                                        <p:tgtEl>
                                          <p:sndTgt r:embed="rId3" name="projctor.wav"/>
                                        </p:tgtEl>
                                      </p:cMediaNode>
                                    </p:audio>
                                  </p:subTnLst>
                                </p:cTn>
                              </p:par>
                            </p:childTnLst>
                          </p:cTn>
                        </p:par>
                        <p:par>
                          <p:cTn id="23" fill="hold" nodeType="afterGroup">
                            <p:stCondLst>
                              <p:cond delay="500"/>
                            </p:stCondLst>
                            <p:childTnLst>
                              <p:par>
                                <p:cTn id="24" presetID="9" presetClass="entr" presetSubtype="0" fill="hold" nodeType="afterEffect">
                                  <p:stCondLst>
                                    <p:cond delay="0"/>
                                  </p:stCondLst>
                                  <p:childTnLst>
                                    <p:set>
                                      <p:cBhvr>
                                        <p:cTn id="25" dur="1" fill="hold">
                                          <p:stCondLst>
                                            <p:cond delay="0"/>
                                          </p:stCondLst>
                                        </p:cTn>
                                        <p:tgtEl>
                                          <p:spTgt spid="86021"/>
                                        </p:tgtEl>
                                        <p:attrNameLst>
                                          <p:attrName>style.visibility</p:attrName>
                                        </p:attrNameLst>
                                      </p:cBhvr>
                                      <p:to>
                                        <p:strVal val="visible"/>
                                      </p:to>
                                    </p:set>
                                    <p:animEffect transition="in" filter="dissolve">
                                      <p:cBhvr>
                                        <p:cTn id="26" dur="500"/>
                                        <p:tgtEl>
                                          <p:spTgt spid="86021"/>
                                        </p:tgtEl>
                                      </p:cBhvr>
                                    </p:animEffect>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autoUpdateAnimBg="0"/>
      <p:bldP spid="86019" grpId="0" autoUpdateAnimBg="0"/>
      <p:bldP spid="8602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9">
            <a:extLst>
              <a:ext uri="{FF2B5EF4-FFF2-40B4-BE49-F238E27FC236}">
                <a16:creationId xmlns:a16="http://schemas.microsoft.com/office/drawing/2014/main" id="{A91A84AC-2925-4262-895E-9CB8B62B242C}"/>
              </a:ext>
            </a:extLst>
          </p:cNvPr>
          <p:cNvSpPr txBox="1">
            <a:spLocks noChangeArrowheads="1"/>
          </p:cNvSpPr>
          <p:nvPr/>
        </p:nvSpPr>
        <p:spPr bwMode="auto">
          <a:xfrm>
            <a:off x="-23192" y="53876"/>
            <a:ext cx="8550275"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CC3300"/>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② </a:t>
            </a:r>
            <a:r>
              <a:rPr lang="en-US" altLang="zh-CN" dirty="0">
                <a:solidFill>
                  <a:srgbClr val="000099"/>
                </a:solidFill>
                <a:latin typeface="Times New Roman" panose="02020603050405020304" pitchFamily="18" charset="0"/>
              </a:rPr>
              <a:t>Find the state equivalent pares </a:t>
            </a:r>
          </a:p>
          <a:p>
            <a:pPr algn="just" eaLnBrk="1" hangingPunct="1"/>
            <a:r>
              <a:rPr lang="en-US" altLang="zh-CN" sz="2000" dirty="0">
                <a:latin typeface="Times New Roman" panose="02020603050405020304" pitchFamily="18" charset="0"/>
              </a:rPr>
              <a:t>According to the judgment standard of the equivalent state, each state pair is checked in turn, and the result of the sequence comparison can be obtained as shown in Fig (a).</a:t>
            </a:r>
            <a:r>
              <a:rPr lang="zh-CN" altLang="en-US" sz="2000" dirty="0">
                <a:latin typeface="Times New Roman" panose="02020603050405020304" pitchFamily="18" charset="0"/>
              </a:rPr>
              <a:t></a:t>
            </a:r>
          </a:p>
          <a:p>
            <a:pPr algn="just" eaLnBrk="1" hangingPunct="1"/>
            <a:r>
              <a:rPr lang="zh-CN" altLang="en-US" sz="2000" dirty="0">
                <a:latin typeface="Times New Roman" panose="02020603050405020304" pitchFamily="18" charset="0"/>
              </a:rPr>
              <a:t>　　</a:t>
            </a:r>
            <a:r>
              <a:rPr lang="en-US" altLang="zh-CN" sz="2000" dirty="0">
                <a:latin typeface="Times New Roman" panose="02020603050405020304" pitchFamily="18" charset="0"/>
              </a:rPr>
              <a:t>The results of the correlation comparison are shown in Fig (b).</a:t>
            </a:r>
            <a:endParaRPr lang="zh-CN" altLang="en-US" sz="2000" dirty="0">
              <a:latin typeface="Times New Roman" panose="02020603050405020304" pitchFamily="18" charset="0"/>
            </a:endParaRPr>
          </a:p>
        </p:txBody>
      </p:sp>
      <p:grpSp>
        <p:nvGrpSpPr>
          <p:cNvPr id="87043" name="Group 3">
            <a:extLst>
              <a:ext uri="{FF2B5EF4-FFF2-40B4-BE49-F238E27FC236}">
                <a16:creationId xmlns:a16="http://schemas.microsoft.com/office/drawing/2014/main" id="{83DF8063-F308-41D4-9EBE-27AF4C3AFBEB}"/>
              </a:ext>
            </a:extLst>
          </p:cNvPr>
          <p:cNvGrpSpPr>
            <a:grpSpLocks/>
          </p:cNvGrpSpPr>
          <p:nvPr/>
        </p:nvGrpSpPr>
        <p:grpSpPr bwMode="auto">
          <a:xfrm>
            <a:off x="107950" y="2840038"/>
            <a:ext cx="6629400" cy="3552825"/>
            <a:chOff x="0" y="0"/>
            <a:chExt cx="4176" cy="2238"/>
          </a:xfrm>
        </p:grpSpPr>
        <p:pic>
          <p:nvPicPr>
            <p:cNvPr id="91143" name="Picture 10" descr="TU5-24">
              <a:extLst>
                <a:ext uri="{FF2B5EF4-FFF2-40B4-BE49-F238E27FC236}">
                  <a16:creationId xmlns:a16="http://schemas.microsoft.com/office/drawing/2014/main" id="{9A49C64D-2E07-4EF0-AB2B-51AFBE136A39}"/>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0" y="0"/>
              <a:ext cx="4176" cy="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4" name="Text Box 11">
              <a:extLst>
                <a:ext uri="{FF2B5EF4-FFF2-40B4-BE49-F238E27FC236}">
                  <a16:creationId xmlns:a16="http://schemas.microsoft.com/office/drawing/2014/main" id="{07280461-41DF-433B-B8BF-9F750D7A52D1}"/>
                </a:ext>
              </a:extLst>
            </p:cNvPr>
            <p:cNvSpPr txBox="1">
              <a:spLocks noChangeArrowheads="1"/>
            </p:cNvSpPr>
            <p:nvPr/>
          </p:nvSpPr>
          <p:spPr bwMode="auto">
            <a:xfrm>
              <a:off x="534" y="1950"/>
              <a:ext cx="7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图</a:t>
              </a:r>
              <a:r>
                <a:rPr lang="en-US" altLang="zh-CN" sz="2400">
                  <a:latin typeface="Times New Roman" panose="02020603050405020304" pitchFamily="18" charset="0"/>
                </a:rPr>
                <a:t>(a)</a:t>
              </a:r>
            </a:p>
          </p:txBody>
        </p:sp>
        <p:sp>
          <p:nvSpPr>
            <p:cNvPr id="91145" name="Text Box 12">
              <a:extLst>
                <a:ext uri="{FF2B5EF4-FFF2-40B4-BE49-F238E27FC236}">
                  <a16:creationId xmlns:a16="http://schemas.microsoft.com/office/drawing/2014/main" id="{DB587CD9-8C10-4F3C-8D61-14039EA67041}"/>
                </a:ext>
              </a:extLst>
            </p:cNvPr>
            <p:cNvSpPr txBox="1">
              <a:spLocks noChangeArrowheads="1"/>
            </p:cNvSpPr>
            <p:nvPr/>
          </p:nvSpPr>
          <p:spPr bwMode="auto">
            <a:xfrm>
              <a:off x="2880" y="1950"/>
              <a:ext cx="7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图</a:t>
              </a:r>
              <a:r>
                <a:rPr lang="en-US" altLang="zh-CN" sz="2400">
                  <a:latin typeface="Times New Roman" panose="02020603050405020304" pitchFamily="18" charset="0"/>
                </a:rPr>
                <a:t>(b)</a:t>
              </a:r>
            </a:p>
          </p:txBody>
        </p:sp>
      </p:grpSp>
      <p:pic>
        <p:nvPicPr>
          <p:cNvPr id="91140" name="Picture 17" descr="Right_Green">
            <a:hlinkClick r:id="" action="ppaction://hlinkshowjump?jump=nextslide"/>
            <a:extLst>
              <a:ext uri="{FF2B5EF4-FFF2-40B4-BE49-F238E27FC236}">
                <a16:creationId xmlns:a16="http://schemas.microsoft.com/office/drawing/2014/main" id="{681065C8-5882-430A-B85C-7AA4DA01A6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18" descr="Left_Green">
            <a:hlinkClick r:id="" action="ppaction://hlinkshowjump?jump=previousslide"/>
            <a:extLst>
              <a:ext uri="{FF2B5EF4-FFF2-40B4-BE49-F238E27FC236}">
                <a16:creationId xmlns:a16="http://schemas.microsoft.com/office/drawing/2014/main" id="{D497264A-BC9B-45F2-B30C-7CD3BC62D8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4" descr="BIAO5-14c">
            <a:extLst>
              <a:ext uri="{FF2B5EF4-FFF2-40B4-BE49-F238E27FC236}">
                <a16:creationId xmlns:a16="http://schemas.microsoft.com/office/drawing/2014/main" id="{FEEFD48E-8994-4551-B5B9-3C0EC9BCC8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9222" y="1556791"/>
            <a:ext cx="2834777" cy="375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6DED7754-69D0-4881-8B27-CBBD30A6B379}"/>
              </a:ext>
            </a:extLst>
          </p:cNvPr>
          <p:cNvSpPr txBox="1"/>
          <p:nvPr/>
        </p:nvSpPr>
        <p:spPr>
          <a:xfrm>
            <a:off x="6033932" y="2168103"/>
            <a:ext cx="1080120" cy="646331"/>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11" name="文本框 10">
            <a:extLst>
              <a:ext uri="{FF2B5EF4-FFF2-40B4-BE49-F238E27FC236}">
                <a16:creationId xmlns:a16="http://schemas.microsoft.com/office/drawing/2014/main" id="{E4B9C23C-7714-45E4-ADB9-478D593A2ABD}"/>
              </a:ext>
            </a:extLst>
          </p:cNvPr>
          <p:cNvSpPr txBox="1"/>
          <p:nvPr/>
        </p:nvSpPr>
        <p:spPr>
          <a:xfrm>
            <a:off x="7193838" y="2064786"/>
            <a:ext cx="2100100"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
        <p:nvSpPr>
          <p:cNvPr id="12" name="文本框 11">
            <a:extLst>
              <a:ext uri="{FF2B5EF4-FFF2-40B4-BE49-F238E27FC236}">
                <a16:creationId xmlns:a16="http://schemas.microsoft.com/office/drawing/2014/main" id="{263BCBDC-A264-4A4C-BE1C-4643E4DEAEFD}"/>
              </a:ext>
            </a:extLst>
          </p:cNvPr>
          <p:cNvSpPr txBox="1"/>
          <p:nvPr/>
        </p:nvSpPr>
        <p:spPr>
          <a:xfrm>
            <a:off x="6790506" y="1569485"/>
            <a:ext cx="1872208"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basic state table</a:t>
            </a:r>
            <a:endParaRPr lang="zh-CN" altLang="en-US" sz="1800" dirty="0"/>
          </a:p>
        </p:txBody>
      </p:sp>
      <p:sp>
        <p:nvSpPr>
          <p:cNvPr id="13" name="文本框 12">
            <a:extLst>
              <a:ext uri="{FF2B5EF4-FFF2-40B4-BE49-F238E27FC236}">
                <a16:creationId xmlns:a16="http://schemas.microsoft.com/office/drawing/2014/main" id="{11DB9ACC-050F-49FB-9A1C-AAE0E01FD8EF}"/>
              </a:ext>
            </a:extLst>
          </p:cNvPr>
          <p:cNvSpPr txBox="1"/>
          <p:nvPr/>
        </p:nvSpPr>
        <p:spPr>
          <a:xfrm>
            <a:off x="955675" y="6023531"/>
            <a:ext cx="534977" cy="369332"/>
          </a:xfrm>
          <a:prstGeom prst="rect">
            <a:avLst/>
          </a:prstGeom>
          <a:solidFill>
            <a:schemeClr val="bg1"/>
          </a:solidFill>
        </p:spPr>
        <p:txBody>
          <a:bodyPr wrap="square" rtlCol="0">
            <a:spAutoFit/>
          </a:bodyPr>
          <a:lstStyle/>
          <a:p>
            <a:r>
              <a:rPr lang="en-US" altLang="zh-CN" sz="1800" dirty="0"/>
              <a:t>Fig</a:t>
            </a:r>
            <a:endParaRPr lang="zh-CN" altLang="en-US" sz="1800" dirty="0"/>
          </a:p>
        </p:txBody>
      </p:sp>
      <p:sp>
        <p:nvSpPr>
          <p:cNvPr id="14" name="文本框 13">
            <a:extLst>
              <a:ext uri="{FF2B5EF4-FFF2-40B4-BE49-F238E27FC236}">
                <a16:creationId xmlns:a16="http://schemas.microsoft.com/office/drawing/2014/main" id="{6E8F6208-A894-4FE0-AC12-2FEBFB858153}"/>
              </a:ext>
            </a:extLst>
          </p:cNvPr>
          <p:cNvSpPr txBox="1"/>
          <p:nvPr/>
        </p:nvSpPr>
        <p:spPr>
          <a:xfrm>
            <a:off x="4679950" y="6013212"/>
            <a:ext cx="534977" cy="369332"/>
          </a:xfrm>
          <a:prstGeom prst="rect">
            <a:avLst/>
          </a:prstGeom>
          <a:solidFill>
            <a:schemeClr val="bg1"/>
          </a:solidFill>
        </p:spPr>
        <p:txBody>
          <a:bodyPr wrap="square" rtlCol="0">
            <a:spAutoFit/>
          </a:bodyPr>
          <a:lstStyle/>
          <a:p>
            <a:r>
              <a:rPr lang="en-US" altLang="zh-CN" sz="1800" dirty="0"/>
              <a:t>Fig</a:t>
            </a:r>
            <a:endParaRPr lang="zh-CN" altLang="en-US" sz="1800" dirty="0"/>
          </a:p>
        </p:txBody>
      </p:sp>
    </p:spTree>
    <p:extLst>
      <p:ext uri="{BB962C8B-B14F-4D97-AF65-F5344CB8AC3E}">
        <p14:creationId xmlns:p14="http://schemas.microsoft.com/office/powerpoint/2010/main" val="3841467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barn(outHorizontal)">
                                      <p:cBhvr>
                                        <p:cTn id="7" dur="500"/>
                                        <p:tgtEl>
                                          <p:spTgt spid="8704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43"/>
                                        </p:tgtEl>
                                        <p:attrNameLst>
                                          <p:attrName>style.visibility</p:attrName>
                                        </p:attrNameLst>
                                      </p:cBhvr>
                                      <p:to>
                                        <p:strVal val="visible"/>
                                      </p:to>
                                    </p:set>
                                    <p:animEffect transition="in" filter="blinds(horizontal)">
                                      <p:cBhvr>
                                        <p:cTn id="12" dur="500"/>
                                        <p:tgtEl>
                                          <p:spTgt spid="87043"/>
                                        </p:tgtEl>
                                      </p:cBhvr>
                                    </p:animEffect>
                                  </p:childTnLst>
                                </p:cTn>
                              </p:par>
                            </p:childTnLst>
                          </p:cTn>
                        </p:par>
                        <p:par>
                          <p:cTn id="13" fill="hold" nodeType="afterGroup">
                            <p:stCondLst>
                              <p:cond delay="500"/>
                            </p:stCondLst>
                            <p:childTnLst>
                              <p:par>
                                <p:cTn id="14" presetID="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0-#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2">
            <a:extLst>
              <a:ext uri="{FF2B5EF4-FFF2-40B4-BE49-F238E27FC236}">
                <a16:creationId xmlns:a16="http://schemas.microsoft.com/office/drawing/2014/main" id="{D6AF1CE7-90C6-4D1B-A058-DD93080FEC67}"/>
              </a:ext>
            </a:extLst>
          </p:cNvPr>
          <p:cNvSpPr txBox="1">
            <a:spLocks noChangeArrowheads="1"/>
          </p:cNvSpPr>
          <p:nvPr/>
        </p:nvSpPr>
        <p:spPr bwMode="auto">
          <a:xfrm>
            <a:off x="539750" y="4437063"/>
            <a:ext cx="83216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It can be seen from the result that the seven states in the basic state table have four equivalent pairs: </a:t>
            </a:r>
          </a:p>
          <a:p>
            <a:pPr algn="just" eaLnBrk="1" hangingPunct="1"/>
            <a:r>
              <a:rPr lang="en-US" altLang="zh-CN" sz="2400" b="1" dirty="0">
                <a:solidFill>
                  <a:srgbClr val="CC3300"/>
                </a:solidFill>
                <a:latin typeface="Times New Roman" panose="02020603050405020304" pitchFamily="18" charset="0"/>
              </a:rPr>
              <a:t>(A</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B)</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(A</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E)</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(B</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E)</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(C</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F)</a:t>
            </a:r>
            <a:r>
              <a:rPr lang="zh-CN" altLang="en-US" sz="2400" b="1" dirty="0">
                <a:solidFill>
                  <a:srgbClr val="CC3300"/>
                </a:solidFill>
                <a:latin typeface="Times New Roman" panose="02020603050405020304" pitchFamily="18" charset="0"/>
              </a:rPr>
              <a:t>。</a:t>
            </a:r>
          </a:p>
        </p:txBody>
      </p:sp>
      <p:pic>
        <p:nvPicPr>
          <p:cNvPr id="88067" name="Picture 23" descr="T5">
            <a:extLst>
              <a:ext uri="{FF2B5EF4-FFF2-40B4-BE49-F238E27FC236}">
                <a16:creationId xmlns:a16="http://schemas.microsoft.com/office/drawing/2014/main" id="{FC378691-BAF9-4211-94A2-E9BB28C7E7DF}"/>
              </a:ext>
            </a:extLst>
          </p:cNvPr>
          <p:cNvPicPr>
            <a:picLocks noChangeAspect="1" noChangeArrowheads="1"/>
          </p:cNvPicPr>
          <p:nvPr/>
        </p:nvPicPr>
        <p:blipFill>
          <a:blip r:embed="rId4">
            <a:lum bright="-100000"/>
            <a:extLst>
              <a:ext uri="{28A0092B-C50C-407E-A947-70E740481C1C}">
                <a14:useLocalDpi xmlns:a14="http://schemas.microsoft.com/office/drawing/2010/main" val="0"/>
              </a:ext>
            </a:extLst>
          </a:blip>
          <a:srcRect b="2974"/>
          <a:stretch>
            <a:fillRect/>
          </a:stretch>
        </p:blipFill>
        <p:spPr bwMode="auto">
          <a:xfrm>
            <a:off x="3132138" y="765175"/>
            <a:ext cx="31242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4" name="Picture 24" descr="Right_Green">
            <a:hlinkClick r:id="" action="ppaction://hlinkshowjump?jump=nextslide"/>
            <a:extLst>
              <a:ext uri="{FF2B5EF4-FFF2-40B4-BE49-F238E27FC236}">
                <a16:creationId xmlns:a16="http://schemas.microsoft.com/office/drawing/2014/main" id="{EB75D2D9-B034-4F0E-A60B-31A3996D0A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5" name="Picture 25" descr="Left_Green">
            <a:hlinkClick r:id="" action="ppaction://hlinkshowjump?jump=previousslide"/>
            <a:extLst>
              <a:ext uri="{FF2B5EF4-FFF2-40B4-BE49-F238E27FC236}">
                <a16:creationId xmlns:a16="http://schemas.microsoft.com/office/drawing/2014/main" id="{22223509-9F58-482B-937F-24CAD916AD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4141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88067"/>
                                        </p:tgtEl>
                                        <p:attrNameLst>
                                          <p:attrName>style.visibility</p:attrName>
                                        </p:attrNameLst>
                                      </p:cBhvr>
                                      <p:to>
                                        <p:strVal val="visible"/>
                                      </p:to>
                                    </p:set>
                                    <p:anim calcmode="lin" valueType="num">
                                      <p:cBhvr additive="base">
                                        <p:cTn id="7" dur="500" fill="hold"/>
                                        <p:tgtEl>
                                          <p:spTgt spid="88067"/>
                                        </p:tgtEl>
                                        <p:attrNameLst>
                                          <p:attrName>ppt_x</p:attrName>
                                        </p:attrNameLst>
                                      </p:cBhvr>
                                      <p:tavLst>
                                        <p:tav tm="0">
                                          <p:val>
                                            <p:strVal val="1+#ppt_w/2"/>
                                          </p:val>
                                        </p:tav>
                                        <p:tav tm="100000">
                                          <p:val>
                                            <p:strVal val="#ppt_x"/>
                                          </p:val>
                                        </p:tav>
                                      </p:tavLst>
                                    </p:anim>
                                    <p:anim calcmode="lin" valueType="num">
                                      <p:cBhvr additive="base">
                                        <p:cTn id="8" dur="500" fill="hold"/>
                                        <p:tgtEl>
                                          <p:spTgt spid="880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88066"/>
                                        </p:tgtEl>
                                        <p:attrNameLst>
                                          <p:attrName>style.visibility</p:attrName>
                                        </p:attrNameLst>
                                      </p:cBhvr>
                                      <p:to>
                                        <p:strVal val="visible"/>
                                      </p:to>
                                    </p:set>
                                    <p:animEffect transition="in" filter="slide(fromBottom)">
                                      <p:cBhvr>
                                        <p:cTn id="12" dur="500"/>
                                        <p:tgtEl>
                                          <p:spTgt spid="88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7">
            <a:extLst>
              <a:ext uri="{FF2B5EF4-FFF2-40B4-BE49-F238E27FC236}">
                <a16:creationId xmlns:a16="http://schemas.microsoft.com/office/drawing/2014/main" id="{471C397B-7512-4B5B-A634-5A9BD89AA1EE}"/>
              </a:ext>
            </a:extLst>
          </p:cNvPr>
          <p:cNvSpPr txBox="1">
            <a:spLocks noChangeArrowheads="1"/>
          </p:cNvSpPr>
          <p:nvPr/>
        </p:nvSpPr>
        <p:spPr bwMode="auto">
          <a:xfrm>
            <a:off x="249137" y="1781914"/>
            <a:ext cx="83978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accent2"/>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④</a:t>
            </a:r>
            <a:r>
              <a:rPr lang="en-US" altLang="zh-CN" sz="2400" b="1" dirty="0">
                <a:solidFill>
                  <a:schemeClr val="accent2"/>
                </a:solidFill>
                <a:latin typeface="Times New Roman" panose="02020603050405020304" pitchFamily="18" charset="0"/>
              </a:rPr>
              <a:t>Merge the states </a:t>
            </a:r>
            <a:r>
              <a:rPr lang="en-US" altLang="zh-CN" dirty="0">
                <a:solidFill>
                  <a:schemeClr val="accent2"/>
                </a:solidFill>
                <a:latin typeface="Times New Roman" panose="02020603050405020304" pitchFamily="18" charset="0"/>
              </a:rPr>
              <a:t>and obtain the modified state table</a:t>
            </a:r>
            <a:endParaRPr lang="zh-CN" altLang="en-US" sz="2400" dirty="0">
              <a:solidFill>
                <a:schemeClr val="accent2"/>
              </a:solidFill>
              <a:latin typeface="Times New Roman" panose="02020603050405020304" pitchFamily="18" charset="0"/>
            </a:endParaRPr>
          </a:p>
          <a:p>
            <a:pPr algn="just"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Let </a:t>
            </a:r>
            <a:r>
              <a:rPr lang="en-US" altLang="zh-CN" sz="2400" dirty="0">
                <a:solidFill>
                  <a:srgbClr val="000099"/>
                </a:solidFill>
                <a:latin typeface="Times New Roman" panose="02020603050405020304" pitchFamily="18" charset="0"/>
              </a:rPr>
              <a:t>{A,B,E}----a</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{C,F}---b</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{D}---c</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{G}---d</a:t>
            </a:r>
            <a:r>
              <a:rPr lang="zh-CN" altLang="en-US" sz="2400" dirty="0">
                <a:solidFill>
                  <a:srgbClr val="000099"/>
                </a:solidFill>
                <a:latin typeface="Times New Roman" panose="02020603050405020304" pitchFamily="18" charset="0"/>
              </a:rPr>
              <a:t>，</a:t>
            </a:r>
            <a:r>
              <a:rPr lang="en-US" altLang="zh-CN" dirty="0">
                <a:latin typeface="Times New Roman" panose="02020603050405020304" pitchFamily="18" charset="0"/>
              </a:rPr>
              <a:t>substitute them into the basic state table</a:t>
            </a:r>
            <a:r>
              <a:rPr lang="zh-CN" altLang="en-US" sz="2400" dirty="0">
                <a:latin typeface="Times New Roman" panose="02020603050405020304" pitchFamily="18" charset="0"/>
              </a:rPr>
              <a:t>，</a:t>
            </a:r>
            <a:r>
              <a:rPr lang="en-US" altLang="zh-CN" sz="2400" dirty="0">
                <a:latin typeface="Times New Roman" panose="02020603050405020304" pitchFamily="18" charset="0"/>
              </a:rPr>
              <a:t>then we can obtain the modified state table: </a:t>
            </a:r>
            <a:endParaRPr lang="zh-CN" altLang="en-US" sz="2400" dirty="0">
              <a:latin typeface="Times New Roman" panose="02020603050405020304" pitchFamily="18" charset="0"/>
            </a:endParaRPr>
          </a:p>
          <a:p>
            <a:pPr algn="just" eaLnBrk="1" hangingPunct="1"/>
            <a:endParaRPr lang="en-US" altLang="zh-CN" sz="2400" dirty="0">
              <a:latin typeface="Times New Roman" panose="02020603050405020304" pitchFamily="18" charset="0"/>
            </a:endParaRPr>
          </a:p>
        </p:txBody>
      </p:sp>
      <p:sp>
        <p:nvSpPr>
          <p:cNvPr id="89091" name="Text Box 9">
            <a:extLst>
              <a:ext uri="{FF2B5EF4-FFF2-40B4-BE49-F238E27FC236}">
                <a16:creationId xmlns:a16="http://schemas.microsoft.com/office/drawing/2014/main" id="{C83861E2-A08D-4345-B216-6FCA6437938C}"/>
              </a:ext>
            </a:extLst>
          </p:cNvPr>
          <p:cNvSpPr txBox="1">
            <a:spLocks noChangeArrowheads="1"/>
          </p:cNvSpPr>
          <p:nvPr/>
        </p:nvSpPr>
        <p:spPr bwMode="auto">
          <a:xfrm>
            <a:off x="247649" y="212254"/>
            <a:ext cx="85502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CC3300"/>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③</a:t>
            </a:r>
            <a:r>
              <a:rPr lang="en-US" altLang="zh-CN" sz="2400" b="1" dirty="0">
                <a:solidFill>
                  <a:schemeClr val="accent2"/>
                </a:solidFill>
                <a:latin typeface="Times New Roman" panose="02020603050405020304" pitchFamily="18" charset="0"/>
              </a:rPr>
              <a:t>Obtain the maximum equivalent classes</a:t>
            </a:r>
            <a:endParaRPr lang="zh-CN" altLang="en-US" sz="2400" b="1" dirty="0">
              <a:solidFill>
                <a:schemeClr val="accent2"/>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In terms of the obtained equivalent pairs and the definition of the maximum equivalent class, the seven states can merge to four maximum equivalent classes</a:t>
            </a:r>
            <a:r>
              <a:rPr lang="en-US" altLang="zh-CN" dirty="0">
                <a:solidFill>
                  <a:schemeClr val="tx2"/>
                </a:solidFill>
                <a:latin typeface="Times New Roman" panose="02020603050405020304" pitchFamily="18" charset="0"/>
              </a:rPr>
              <a:t>, {A,B,E},{</a:t>
            </a:r>
            <a:r>
              <a:rPr lang="en-US" altLang="zh-CN" sz="2400" dirty="0">
                <a:solidFill>
                  <a:schemeClr val="tx2"/>
                </a:solidFill>
                <a:latin typeface="Times New Roman" panose="02020603050405020304" pitchFamily="18" charset="0"/>
              </a:rPr>
              <a:t>C,F},{D},{G}</a:t>
            </a:r>
            <a:r>
              <a:rPr lang="zh-CN" altLang="en-US" sz="2400" dirty="0">
                <a:latin typeface="Times New Roman" panose="02020603050405020304" pitchFamily="18" charset="0"/>
              </a:rPr>
              <a:t> </a:t>
            </a:r>
            <a:r>
              <a:rPr lang="en-US" altLang="zh-CN" sz="2400" dirty="0">
                <a:latin typeface="Times New Roman" panose="02020603050405020304" pitchFamily="18" charset="0"/>
              </a:rPr>
              <a:t>.</a:t>
            </a:r>
            <a:endParaRPr lang="zh-CN" altLang="en-US" sz="2400" dirty="0">
              <a:latin typeface="Times New Roman" panose="02020603050405020304" pitchFamily="18" charset="0"/>
            </a:endParaRPr>
          </a:p>
        </p:txBody>
      </p:sp>
      <p:sp>
        <p:nvSpPr>
          <p:cNvPr id="89092" name="AutoShape 11">
            <a:extLst>
              <a:ext uri="{FF2B5EF4-FFF2-40B4-BE49-F238E27FC236}">
                <a16:creationId xmlns:a16="http://schemas.microsoft.com/office/drawing/2014/main" id="{48AA48C3-70B4-444C-AC8D-3217664D24F9}"/>
              </a:ext>
            </a:extLst>
          </p:cNvPr>
          <p:cNvSpPr>
            <a:spLocks/>
          </p:cNvSpPr>
          <p:nvPr/>
        </p:nvSpPr>
        <p:spPr bwMode="auto">
          <a:xfrm>
            <a:off x="3124200" y="4724400"/>
            <a:ext cx="1371600" cy="3048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0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2147483646 w 21600"/>
              <a:gd name="T25" fmla="*/ 2147483646 h 21600"/>
              <a:gd name="T26" fmla="*/ 0 w 21600"/>
              <a:gd name="T27" fmla="*/ 2147483646 h 21600"/>
              <a:gd name="T28" fmla="*/ 0 w 21600"/>
              <a:gd name="T29" fmla="*/ 2147483646 h 21600"/>
              <a:gd name="T30" fmla="*/ 2147483646 w 21600"/>
              <a:gd name="T31" fmla="*/ 2147483646 h 21600"/>
              <a:gd name="T32" fmla="*/ 2147483646 w 21600"/>
              <a:gd name="T33" fmla="*/ 2147483646 h 21600"/>
              <a:gd name="T34" fmla="*/ 0 w 21600"/>
              <a:gd name="T35" fmla="*/ 2147483646 h 2160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3375 w 21600"/>
              <a:gd name="T55" fmla="*/ 5400 h 21600"/>
              <a:gd name="T56" fmla="*/ 18900 w 21600"/>
              <a:gd name="T57" fmla="*/ 16200 h 2160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CCFF"/>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9093" name="Picture 14" descr="BIAO5-14c">
            <a:extLst>
              <a:ext uri="{FF2B5EF4-FFF2-40B4-BE49-F238E27FC236}">
                <a16:creationId xmlns:a16="http://schemas.microsoft.com/office/drawing/2014/main" id="{28761F81-44E1-4BBE-8B23-3F3B1C6CEA9B}"/>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496988" y="3447281"/>
            <a:ext cx="25939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15" descr="BIAO5-15c">
            <a:extLst>
              <a:ext uri="{FF2B5EF4-FFF2-40B4-BE49-F238E27FC236}">
                <a16:creationId xmlns:a16="http://schemas.microsoft.com/office/drawing/2014/main" id="{7AA5C538-6036-4C2B-9F42-92B133CE7C71}"/>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4572000" y="3733800"/>
            <a:ext cx="4343400" cy="226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1" name="Picture 16" descr="Right_Green">
            <a:hlinkClick r:id="" action="ppaction://hlinkshowjump?jump=nextslide"/>
            <a:extLst>
              <a:ext uri="{FF2B5EF4-FFF2-40B4-BE49-F238E27FC236}">
                <a16:creationId xmlns:a16="http://schemas.microsoft.com/office/drawing/2014/main" id="{B77B3A6C-C0C7-443C-9F71-0F5B6211A4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2" name="Picture 17" descr="Left_Green">
            <a:hlinkClick r:id="" action="ppaction://hlinkshowjump?jump=previousslide"/>
            <a:extLst>
              <a:ext uri="{FF2B5EF4-FFF2-40B4-BE49-F238E27FC236}">
                <a16:creationId xmlns:a16="http://schemas.microsoft.com/office/drawing/2014/main" id="{723307D9-1A40-449D-BA50-1CF0781BD9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69602B27-3833-437A-A116-5405D735CB92}"/>
              </a:ext>
            </a:extLst>
          </p:cNvPr>
          <p:cNvSpPr txBox="1"/>
          <p:nvPr/>
        </p:nvSpPr>
        <p:spPr>
          <a:xfrm>
            <a:off x="107504" y="3921058"/>
            <a:ext cx="1080120" cy="646331"/>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10" name="文本框 9">
            <a:extLst>
              <a:ext uri="{FF2B5EF4-FFF2-40B4-BE49-F238E27FC236}">
                <a16:creationId xmlns:a16="http://schemas.microsoft.com/office/drawing/2014/main" id="{4946EA46-9DAA-4452-AFF2-1D2148204946}"/>
              </a:ext>
            </a:extLst>
          </p:cNvPr>
          <p:cNvSpPr txBox="1"/>
          <p:nvPr/>
        </p:nvSpPr>
        <p:spPr>
          <a:xfrm>
            <a:off x="1380347" y="3874891"/>
            <a:ext cx="2100100"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
        <p:nvSpPr>
          <p:cNvPr id="11" name="文本框 10">
            <a:extLst>
              <a:ext uri="{FF2B5EF4-FFF2-40B4-BE49-F238E27FC236}">
                <a16:creationId xmlns:a16="http://schemas.microsoft.com/office/drawing/2014/main" id="{1253FDCA-0746-43F8-B225-87CBECB26EE2}"/>
              </a:ext>
            </a:extLst>
          </p:cNvPr>
          <p:cNvSpPr txBox="1"/>
          <p:nvPr/>
        </p:nvSpPr>
        <p:spPr>
          <a:xfrm>
            <a:off x="1023170" y="3424533"/>
            <a:ext cx="1872208"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Basic state table</a:t>
            </a:r>
            <a:endParaRPr lang="zh-CN" altLang="en-US" sz="1800" dirty="0"/>
          </a:p>
        </p:txBody>
      </p:sp>
      <p:sp>
        <p:nvSpPr>
          <p:cNvPr id="12" name="文本框 11">
            <a:extLst>
              <a:ext uri="{FF2B5EF4-FFF2-40B4-BE49-F238E27FC236}">
                <a16:creationId xmlns:a16="http://schemas.microsoft.com/office/drawing/2014/main" id="{62F4197F-61EC-4AC3-838B-FFA42F12289F}"/>
              </a:ext>
            </a:extLst>
          </p:cNvPr>
          <p:cNvSpPr txBox="1"/>
          <p:nvPr/>
        </p:nvSpPr>
        <p:spPr>
          <a:xfrm>
            <a:off x="4889449" y="4251967"/>
            <a:ext cx="1080120" cy="646331"/>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13" name="文本框 12">
            <a:extLst>
              <a:ext uri="{FF2B5EF4-FFF2-40B4-BE49-F238E27FC236}">
                <a16:creationId xmlns:a16="http://schemas.microsoft.com/office/drawing/2014/main" id="{4F6FFBC7-6A95-454E-A3FC-BAAA596BC00F}"/>
              </a:ext>
            </a:extLst>
          </p:cNvPr>
          <p:cNvSpPr txBox="1"/>
          <p:nvPr/>
        </p:nvSpPr>
        <p:spPr>
          <a:xfrm>
            <a:off x="6400556" y="4142943"/>
            <a:ext cx="2100100"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
        <p:nvSpPr>
          <p:cNvPr id="14" name="文本框 13">
            <a:extLst>
              <a:ext uri="{FF2B5EF4-FFF2-40B4-BE49-F238E27FC236}">
                <a16:creationId xmlns:a16="http://schemas.microsoft.com/office/drawing/2014/main" id="{D723D6F0-536F-4AC8-BFCC-94DD70F4EBBD}"/>
              </a:ext>
            </a:extLst>
          </p:cNvPr>
          <p:cNvSpPr txBox="1"/>
          <p:nvPr/>
        </p:nvSpPr>
        <p:spPr>
          <a:xfrm>
            <a:off x="5805114" y="3736392"/>
            <a:ext cx="2438773"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Modified state table</a:t>
            </a:r>
            <a:endParaRPr lang="zh-CN" altLang="en-US" sz="1800" dirty="0"/>
          </a:p>
        </p:txBody>
      </p:sp>
    </p:spTree>
    <p:extLst>
      <p:ext uri="{BB962C8B-B14F-4D97-AF65-F5344CB8AC3E}">
        <p14:creationId xmlns:p14="http://schemas.microsoft.com/office/powerpoint/2010/main" val="29191256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box(out)">
                                      <p:cBhvr>
                                        <p:cTn id="7" dur="500"/>
                                        <p:tgtEl>
                                          <p:spTgt spid="89091"/>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6" fill="hold" grpId="0" nodeType="clickEffect">
                                  <p:stCondLst>
                                    <p:cond delay="0"/>
                                  </p:stCondLst>
                                  <p:childTnLst>
                                    <p:set>
                                      <p:cBhvr>
                                        <p:cTn id="11" dur="1" fill="hold">
                                          <p:stCondLst>
                                            <p:cond delay="0"/>
                                          </p:stCondLst>
                                        </p:cTn>
                                        <p:tgtEl>
                                          <p:spTgt spid="89090"/>
                                        </p:tgtEl>
                                        <p:attrNameLst>
                                          <p:attrName>style.visibility</p:attrName>
                                        </p:attrNameLst>
                                      </p:cBhvr>
                                      <p:to>
                                        <p:strVal val="visible"/>
                                      </p:to>
                                    </p:set>
                                    <p:anim calcmode="lin" valueType="num">
                                      <p:cBhvr additive="base">
                                        <p:cTn id="12" dur="500" fill="hold"/>
                                        <p:tgtEl>
                                          <p:spTgt spid="89090"/>
                                        </p:tgtEl>
                                        <p:attrNameLst>
                                          <p:attrName>ppt_x</p:attrName>
                                        </p:attrNameLst>
                                      </p:cBhvr>
                                      <p:tavLst>
                                        <p:tav tm="0">
                                          <p:val>
                                            <p:strVal val="1+#ppt_w/2"/>
                                          </p:val>
                                        </p:tav>
                                        <p:tav tm="100000">
                                          <p:val>
                                            <p:strVal val="#ppt_x"/>
                                          </p:val>
                                        </p:tav>
                                      </p:tavLst>
                                    </p:anim>
                                    <p:anim calcmode="lin" valueType="num">
                                      <p:cBhvr additive="base">
                                        <p:cTn id="13" dur="500" fill="hold"/>
                                        <p:tgtEl>
                                          <p:spTgt spid="89090"/>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
                            </p:stCondLst>
                            <p:childTnLst>
                              <p:par>
                                <p:cTn id="15" presetID="2" presetClass="entr" presetSubtype="8" fill="hold" nodeType="afterEffect">
                                  <p:stCondLst>
                                    <p:cond delay="0"/>
                                  </p:stCondLst>
                                  <p:childTnLst>
                                    <p:set>
                                      <p:cBhvr>
                                        <p:cTn id="16" dur="1" fill="hold">
                                          <p:stCondLst>
                                            <p:cond delay="0"/>
                                          </p:stCondLst>
                                        </p:cTn>
                                        <p:tgtEl>
                                          <p:spTgt spid="89093"/>
                                        </p:tgtEl>
                                        <p:attrNameLst>
                                          <p:attrName>style.visibility</p:attrName>
                                        </p:attrNameLst>
                                      </p:cBhvr>
                                      <p:to>
                                        <p:strVal val="visible"/>
                                      </p:to>
                                    </p:set>
                                    <p:anim calcmode="lin" valueType="num">
                                      <p:cBhvr additive="base">
                                        <p:cTn id="17" dur="500" fill="hold"/>
                                        <p:tgtEl>
                                          <p:spTgt spid="89093"/>
                                        </p:tgtEl>
                                        <p:attrNameLst>
                                          <p:attrName>ppt_x</p:attrName>
                                        </p:attrNameLst>
                                      </p:cBhvr>
                                      <p:tavLst>
                                        <p:tav tm="0">
                                          <p:val>
                                            <p:strVal val="0-#ppt_w/2"/>
                                          </p:val>
                                        </p:tav>
                                        <p:tav tm="100000">
                                          <p:val>
                                            <p:strVal val="#ppt_x"/>
                                          </p:val>
                                        </p:tav>
                                      </p:tavLst>
                                    </p:anim>
                                    <p:anim calcmode="lin" valueType="num">
                                      <p:cBhvr additive="base">
                                        <p:cTn id="18" dur="500" fill="hold"/>
                                        <p:tgtEl>
                                          <p:spTgt spid="8909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499"/>
                                          </p:stCondLst>
                                        </p:cTn>
                                        <p:tgtEl>
                                          <p:spTgt spid="89092"/>
                                        </p:tgtEl>
                                        <p:attrNameLst>
                                          <p:attrName>style.visibility</p:attrName>
                                        </p:attrNameLst>
                                      </p:cBhvr>
                                      <p:to>
                                        <p:strVal val="visible"/>
                                      </p:to>
                                    </p:set>
                                  </p:childTnLst>
                                </p:cTn>
                              </p:par>
                            </p:childTnLst>
                          </p:cTn>
                        </p:par>
                        <p:par>
                          <p:cTn id="22" fill="hold" nodeType="afterGroup">
                            <p:stCondLst>
                              <p:cond delay="1500"/>
                            </p:stCondLst>
                            <p:childTnLst>
                              <p:par>
                                <p:cTn id="23" presetID="3" presetClass="entr" presetSubtype="10" fill="hold" nodeType="afterEffect">
                                  <p:stCondLst>
                                    <p:cond delay="0"/>
                                  </p:stCondLst>
                                  <p:childTnLst>
                                    <p:set>
                                      <p:cBhvr>
                                        <p:cTn id="24" dur="1" fill="hold">
                                          <p:stCondLst>
                                            <p:cond delay="0"/>
                                          </p:stCondLst>
                                        </p:cTn>
                                        <p:tgtEl>
                                          <p:spTgt spid="89094"/>
                                        </p:tgtEl>
                                        <p:attrNameLst>
                                          <p:attrName>style.visibility</p:attrName>
                                        </p:attrNameLst>
                                      </p:cBhvr>
                                      <p:to>
                                        <p:strVal val="visible"/>
                                      </p:to>
                                    </p:set>
                                    <p:animEffect transition="in" filter="blinds(horizontal)">
                                      <p:cBhvr>
                                        <p:cTn id="25" dur="500"/>
                                        <p:tgtEl>
                                          <p:spTgt spid="89094"/>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a:extLst>
              <a:ext uri="{FF2B5EF4-FFF2-40B4-BE49-F238E27FC236}">
                <a16:creationId xmlns:a16="http://schemas.microsoft.com/office/drawing/2014/main" id="{723B0FB9-3EF3-4009-A15F-45ED308FB673}"/>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r>
              <a:rPr lang="en-US" altLang="zh-CN" dirty="0" err="1"/>
              <a:t>Practise</a:t>
            </a:r>
            <a:r>
              <a:rPr lang="en-US" altLang="zh-CN" dirty="0"/>
              <a:t>-State Reduction with the implicant chart</a:t>
            </a:r>
            <a:endParaRPr lang="zh-CN" altLang="en-US" dirty="0"/>
          </a:p>
        </p:txBody>
      </p:sp>
      <p:sp>
        <p:nvSpPr>
          <p:cNvPr id="94211" name="内容占位符 2">
            <a:extLst>
              <a:ext uri="{FF2B5EF4-FFF2-40B4-BE49-F238E27FC236}">
                <a16:creationId xmlns:a16="http://schemas.microsoft.com/office/drawing/2014/main" id="{43E93DFF-3D47-4822-A493-C7A951A2EA5C}"/>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例</a:t>
            </a:r>
          </a:p>
        </p:txBody>
      </p:sp>
      <p:pic>
        <p:nvPicPr>
          <p:cNvPr id="94212" name="Picture 2">
            <a:extLst>
              <a:ext uri="{FF2B5EF4-FFF2-40B4-BE49-F238E27FC236}">
                <a16:creationId xmlns:a16="http://schemas.microsoft.com/office/drawing/2014/main" id="{36FA7A18-DAB7-4120-B783-BF303931A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573535"/>
            <a:ext cx="3529012" cy="2925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8991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a:extLst>
              <a:ext uri="{FF2B5EF4-FFF2-40B4-BE49-F238E27FC236}">
                <a16:creationId xmlns:a16="http://schemas.microsoft.com/office/drawing/2014/main" id="{311FB3D0-F71A-4662-BA38-3F0FF5D437FF}"/>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Practise</a:t>
            </a:r>
            <a:r>
              <a:rPr lang="en-US" altLang="zh-CN" dirty="0"/>
              <a:t>-Answer</a:t>
            </a:r>
            <a:endParaRPr lang="zh-CN" altLang="en-US" dirty="0"/>
          </a:p>
        </p:txBody>
      </p:sp>
      <p:sp>
        <p:nvSpPr>
          <p:cNvPr id="95235" name="内容占位符 2">
            <a:extLst>
              <a:ext uri="{FF2B5EF4-FFF2-40B4-BE49-F238E27FC236}">
                <a16:creationId xmlns:a16="http://schemas.microsoft.com/office/drawing/2014/main" id="{1671F076-1F2E-4912-AE77-EDDB899BAF5D}"/>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a:t>
            </a:r>
          </a:p>
        </p:txBody>
      </p:sp>
      <p:pic>
        <p:nvPicPr>
          <p:cNvPr id="95236" name="Picture 2">
            <a:extLst>
              <a:ext uri="{FF2B5EF4-FFF2-40B4-BE49-F238E27FC236}">
                <a16:creationId xmlns:a16="http://schemas.microsoft.com/office/drawing/2014/main" id="{DBB00FE1-82FE-46F1-A4EF-008C6E0EA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600200"/>
            <a:ext cx="3529012" cy="2925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2">
            <a:extLst>
              <a:ext uri="{FF2B5EF4-FFF2-40B4-BE49-F238E27FC236}">
                <a16:creationId xmlns:a16="http://schemas.microsoft.com/office/drawing/2014/main" id="{85C8B104-1F98-4D74-815B-4BE6A6727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3602038"/>
            <a:ext cx="2376487" cy="2144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0661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4">
            <a:extLst>
              <a:ext uri="{FF2B5EF4-FFF2-40B4-BE49-F238E27FC236}">
                <a16:creationId xmlns:a16="http://schemas.microsoft.com/office/drawing/2014/main" id="{628096D5-5CB3-47C5-9346-19C525D2618E}"/>
              </a:ext>
            </a:extLst>
          </p:cNvPr>
          <p:cNvSpPr txBox="1">
            <a:spLocks noChangeArrowheads="1"/>
          </p:cNvSpPr>
          <p:nvPr/>
        </p:nvSpPr>
        <p:spPr bwMode="auto">
          <a:xfrm>
            <a:off x="900113" y="2565400"/>
            <a:ext cx="734536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chemeClr val="accent2"/>
                </a:solidFill>
                <a:latin typeface="Times New Roman" panose="02020603050405020304" pitchFamily="18" charset="0"/>
              </a:rPr>
              <a:t>The reduction of the incomplete specified state introduces the concept of a compatible state. See the textbook for details!</a:t>
            </a:r>
            <a:r>
              <a:rPr lang="zh-CN" altLang="en-US" sz="2400" b="1" dirty="0">
                <a:solidFill>
                  <a:schemeClr val="accent2"/>
                </a:solidFill>
                <a:latin typeface="Times New Roman" panose="02020603050405020304" pitchFamily="18" charset="0"/>
              </a:rPr>
              <a:t>　</a:t>
            </a:r>
          </a:p>
        </p:txBody>
      </p:sp>
      <p:pic>
        <p:nvPicPr>
          <p:cNvPr id="96259" name="Picture 5" descr="Right_Green">
            <a:hlinkClick r:id="" action="ppaction://hlinkshowjump?jump=nextslide"/>
            <a:extLst>
              <a:ext uri="{FF2B5EF4-FFF2-40B4-BE49-F238E27FC236}">
                <a16:creationId xmlns:a16="http://schemas.microsoft.com/office/drawing/2014/main" id="{60D32428-6EDF-4A8E-B061-590982DF71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0" name="Picture 6" descr="Left_Green">
            <a:hlinkClick r:id="" action="ppaction://hlinkshowjump?jump=previousslide"/>
            <a:extLst>
              <a:ext uri="{FF2B5EF4-FFF2-40B4-BE49-F238E27FC236}">
                <a16:creationId xmlns:a16="http://schemas.microsoft.com/office/drawing/2014/main" id="{8DF06CB6-6EF9-4179-B615-4659307B79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Text Box 7">
            <a:extLst>
              <a:ext uri="{FF2B5EF4-FFF2-40B4-BE49-F238E27FC236}">
                <a16:creationId xmlns:a16="http://schemas.microsoft.com/office/drawing/2014/main" id="{0BB3C050-59F3-4518-8240-65943B72BCD3}"/>
              </a:ext>
            </a:extLst>
          </p:cNvPr>
          <p:cNvSpPr txBox="1">
            <a:spLocks noChangeArrowheads="1"/>
          </p:cNvSpPr>
          <p:nvPr/>
        </p:nvSpPr>
        <p:spPr bwMode="auto">
          <a:xfrm>
            <a:off x="1042988" y="1484313"/>
            <a:ext cx="7543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II</a:t>
            </a:r>
            <a:r>
              <a:rPr lang="en-US" altLang="zh-CN" dirty="0">
                <a:solidFill>
                  <a:srgbClr val="990000"/>
                </a:solidFill>
                <a:latin typeface="Times New Roman" panose="02020603050405020304" pitchFamily="18" charset="0"/>
              </a:rPr>
              <a:t>. Reduction of the incomplete specified state</a:t>
            </a:r>
            <a:endParaRPr lang="zh-CN" altLang="en-US" sz="2400" b="1" dirty="0">
              <a:solidFill>
                <a:srgbClr val="990000"/>
              </a:solidFill>
              <a:latin typeface="Times New Roman" panose="02020603050405020304" pitchFamily="18" charset="0"/>
            </a:endParaRPr>
          </a:p>
        </p:txBody>
      </p:sp>
    </p:spTree>
    <p:extLst>
      <p:ext uri="{BB962C8B-B14F-4D97-AF65-F5344CB8AC3E}">
        <p14:creationId xmlns:p14="http://schemas.microsoft.com/office/powerpoint/2010/main" val="2552625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65"/>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grpId="0" nodeType="afterEffect">
                                  <p:stCondLst>
                                    <p:cond delay="0"/>
                                  </p:stCondLst>
                                  <p:childTnLst>
                                    <p:set>
                                      <p:cBhvr>
                                        <p:cTn id="9" dur="1" fill="hold">
                                          <p:stCondLst>
                                            <p:cond delay="0"/>
                                          </p:stCondLst>
                                        </p:cTn>
                                        <p:tgtEl>
                                          <p:spTgt spid="92162"/>
                                        </p:tgtEl>
                                        <p:attrNameLst>
                                          <p:attrName>style.visibility</p:attrName>
                                        </p:attrNameLst>
                                      </p:cBhvr>
                                      <p:to>
                                        <p:strVal val="visible"/>
                                      </p:to>
                                    </p:set>
                                    <p:animEffect transition="in" filter="wipe(up)">
                                      <p:cBhvr>
                                        <p:cTn id="10" dur="500"/>
                                        <p:tgtEl>
                                          <p:spTgt spid="92162"/>
                                        </p:tgtEl>
                                      </p:cBhvr>
                                    </p:animEffect>
                                  </p:childTnLst>
                                  <p:subTnLst>
                                    <p:audio>
                                      <p:cMediaNode>
                                        <p:cTn display="0" masterRel="sameClick">
                                          <p:stCondLst>
                                            <p:cond evt="begin" delay="0">
                                              <p:tn val="8"/>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P spid="9216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7">
            <a:extLst>
              <a:ext uri="{FF2B5EF4-FFF2-40B4-BE49-F238E27FC236}">
                <a16:creationId xmlns:a16="http://schemas.microsoft.com/office/drawing/2014/main" id="{0BFC17AC-73AD-4284-80FC-BC02B82C7BDD}"/>
              </a:ext>
            </a:extLst>
          </p:cNvPr>
          <p:cNvSpPr txBox="1">
            <a:spLocks noChangeArrowheads="1"/>
          </p:cNvSpPr>
          <p:nvPr/>
        </p:nvSpPr>
        <p:spPr bwMode="auto">
          <a:xfrm>
            <a:off x="914400" y="889000"/>
            <a:ext cx="51697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990000"/>
                </a:solidFill>
                <a:latin typeface="Times New Roman" panose="02020603050405020304" pitchFamily="18" charset="0"/>
              </a:rPr>
              <a:t>5.3.3  State assignment</a:t>
            </a:r>
            <a:endParaRPr lang="zh-CN" altLang="en-US" sz="2800" b="1" dirty="0">
              <a:solidFill>
                <a:srgbClr val="990000"/>
              </a:solidFill>
              <a:latin typeface="Times New Roman" panose="02020603050405020304" pitchFamily="18" charset="0"/>
            </a:endParaRPr>
          </a:p>
        </p:txBody>
      </p:sp>
      <p:sp>
        <p:nvSpPr>
          <p:cNvPr id="93187" name="Text Box 8">
            <a:extLst>
              <a:ext uri="{FF2B5EF4-FFF2-40B4-BE49-F238E27FC236}">
                <a16:creationId xmlns:a16="http://schemas.microsoft.com/office/drawing/2014/main" id="{9AF76333-7A6C-47D0-93E3-305B8B914850}"/>
              </a:ext>
            </a:extLst>
          </p:cNvPr>
          <p:cNvSpPr txBox="1">
            <a:spLocks noChangeArrowheads="1"/>
          </p:cNvSpPr>
          <p:nvPr/>
        </p:nvSpPr>
        <p:spPr bwMode="auto">
          <a:xfrm>
            <a:off x="381000" y="1447800"/>
            <a:ext cx="84740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dirty="0">
                <a:solidFill>
                  <a:srgbClr val="CC3300"/>
                </a:solidFill>
                <a:latin typeface="Times New Roman" panose="02020603050405020304" pitchFamily="18" charset="0"/>
              </a:rPr>
              <a:t>State assignment: refers to the state indicated by letters or numbers in the reduce state table, specifying a binary code to form a binary state table. State assignment are also called state coding.</a:t>
            </a:r>
            <a:endParaRPr lang="zh-CN" altLang="en-US" sz="2400" dirty="0">
              <a:latin typeface="Times New Roman" panose="02020603050405020304" pitchFamily="18" charset="0"/>
            </a:endParaRPr>
          </a:p>
        </p:txBody>
      </p:sp>
      <p:sp>
        <p:nvSpPr>
          <p:cNvPr id="93188" name="Text Box 9">
            <a:extLst>
              <a:ext uri="{FF2B5EF4-FFF2-40B4-BE49-F238E27FC236}">
                <a16:creationId xmlns:a16="http://schemas.microsoft.com/office/drawing/2014/main" id="{A9D5A065-A22B-4173-96BD-53F5832AD842}"/>
              </a:ext>
            </a:extLst>
          </p:cNvPr>
          <p:cNvSpPr txBox="1">
            <a:spLocks noChangeArrowheads="1"/>
          </p:cNvSpPr>
          <p:nvPr/>
        </p:nvSpPr>
        <p:spPr bwMode="auto">
          <a:xfrm>
            <a:off x="381000" y="3048000"/>
            <a:ext cx="847407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The task of the state assignment</a:t>
            </a:r>
            <a:r>
              <a:rPr lang="zh-CN" altLang="en-US" sz="2400" b="1" dirty="0">
                <a:solidFill>
                  <a:srgbClr val="CC3300"/>
                </a:solidFill>
                <a:latin typeface="Times New Roman" panose="02020603050405020304" pitchFamily="18" charset="0"/>
              </a:rPr>
              <a:t>：</a:t>
            </a:r>
          </a:p>
          <a:p>
            <a:pPr algn="just" eaLnBrk="1" hangingPunct="1"/>
            <a:r>
              <a:rPr lang="zh-CN" altLang="en-US" sz="2400" dirty="0">
                <a:latin typeface="Times New Roman" panose="02020603050405020304" pitchFamily="18" charset="0"/>
              </a:rPr>
              <a:t></a:t>
            </a:r>
          </a:p>
          <a:p>
            <a:pPr algn="just" eaLnBrk="1" hangingPunct="1"/>
            <a:r>
              <a:rPr lang="zh-CN" altLang="en-US" sz="2400" b="1" dirty="0">
                <a:solidFill>
                  <a:schemeClr val="tx2"/>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①</a:t>
            </a:r>
            <a:r>
              <a:rPr lang="en-US" altLang="zh-CN" dirty="0">
                <a:solidFill>
                  <a:schemeClr val="accent2"/>
                </a:solidFill>
                <a:latin typeface="Times New Roman" panose="02020603050405020304" pitchFamily="18" charset="0"/>
              </a:rPr>
              <a:t>Determine the length of the state code (</a:t>
            </a:r>
            <a:r>
              <a:rPr lang="en-US" altLang="zh-CN" dirty="0" err="1">
                <a:solidFill>
                  <a:schemeClr val="accent2"/>
                </a:solidFill>
                <a:latin typeface="Times New Roman" panose="02020603050405020304" pitchFamily="18" charset="0"/>
              </a:rPr>
              <a:t>ie</a:t>
            </a:r>
            <a:r>
              <a:rPr lang="en-US" altLang="zh-CN" dirty="0">
                <a:solidFill>
                  <a:schemeClr val="accent2"/>
                </a:solidFill>
                <a:latin typeface="Times New Roman" panose="02020603050405020304" pitchFamily="18" charset="0"/>
              </a:rPr>
              <a:t> the number of bits in the binary code, or the required number of flip-flops);</a:t>
            </a:r>
          </a:p>
          <a:p>
            <a:pPr algn="just" eaLnBrk="1" hangingPunct="1"/>
            <a:r>
              <a:rPr lang="zh-CN" altLang="en-US" sz="2400" b="1" dirty="0">
                <a:solidFill>
                  <a:schemeClr val="accent2"/>
                </a:solidFill>
                <a:latin typeface="Times New Roman" panose="02020603050405020304" pitchFamily="18" charset="0"/>
              </a:rPr>
              <a:t></a:t>
            </a:r>
          </a:p>
          <a:p>
            <a:pPr algn="just" eaLnBrk="1" hangingPunct="1"/>
            <a:r>
              <a:rPr lang="zh-CN" altLang="en-US" sz="2400" b="1" dirty="0">
                <a:solidFill>
                  <a:schemeClr val="accent2"/>
                </a:solidFill>
                <a:latin typeface="Times New Roman" panose="02020603050405020304" pitchFamily="18" charset="0"/>
              </a:rPr>
              <a:t>　　②</a:t>
            </a:r>
            <a:r>
              <a:rPr lang="en-US" altLang="zh-CN" dirty="0">
                <a:solidFill>
                  <a:schemeClr val="accent2"/>
                </a:solidFill>
                <a:latin typeface="Times New Roman" panose="02020603050405020304" pitchFamily="18" charset="0"/>
              </a:rPr>
              <a:t>Look for an optimal or secondary-optimal state allocation scheme, so as to make the designed sequential circuit the easiest.</a:t>
            </a:r>
            <a:endParaRPr lang="zh-CN" altLang="en-US" sz="2400" b="1" dirty="0">
              <a:solidFill>
                <a:schemeClr val="accent2"/>
              </a:solidFill>
              <a:latin typeface="Times New Roman" panose="02020603050405020304" pitchFamily="18" charset="0"/>
            </a:endParaRPr>
          </a:p>
        </p:txBody>
      </p:sp>
      <p:pic>
        <p:nvPicPr>
          <p:cNvPr id="97285" name="Picture 10" descr="Right_Green">
            <a:hlinkClick r:id="" action="ppaction://hlinkshowjump?jump=nextslide"/>
            <a:extLst>
              <a:ext uri="{FF2B5EF4-FFF2-40B4-BE49-F238E27FC236}">
                <a16:creationId xmlns:a16="http://schemas.microsoft.com/office/drawing/2014/main" id="{3FD7CD44-FE22-41B9-866B-10E2C9A2B0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11" descr="Left_Green">
            <a:hlinkClick r:id="" action="ppaction://hlinkshowjump?jump=previousslide"/>
            <a:extLst>
              <a:ext uri="{FF2B5EF4-FFF2-40B4-BE49-F238E27FC236}">
                <a16:creationId xmlns:a16="http://schemas.microsoft.com/office/drawing/2014/main" id="{FEBA3D21-7BB7-4EF0-AAC8-D902A29907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3093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318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37" fill="hold" grpId="0" nodeType="clickEffect">
                                  <p:stCondLst>
                                    <p:cond delay="0"/>
                                  </p:stCondLst>
                                  <p:childTnLst>
                                    <p:set>
                                      <p:cBhvr>
                                        <p:cTn id="10" dur="1" fill="hold">
                                          <p:stCondLst>
                                            <p:cond delay="0"/>
                                          </p:stCondLst>
                                        </p:cTn>
                                        <p:tgtEl>
                                          <p:spTgt spid="93187"/>
                                        </p:tgtEl>
                                        <p:attrNameLst>
                                          <p:attrName>style.visibility</p:attrName>
                                        </p:attrNameLst>
                                      </p:cBhvr>
                                      <p:to>
                                        <p:strVal val="visible"/>
                                      </p:to>
                                    </p:set>
                                    <p:animEffect transition="in" filter="barn(outVertical)">
                                      <p:cBhvr>
                                        <p:cTn id="11" dur="500"/>
                                        <p:tgtEl>
                                          <p:spTgt spid="931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3188"/>
                                        </p:tgtEl>
                                        <p:attrNameLst>
                                          <p:attrName>style.visibility</p:attrName>
                                        </p:attrNameLst>
                                      </p:cBhvr>
                                      <p:to>
                                        <p:strVal val="visible"/>
                                      </p:to>
                                    </p:set>
                                    <p:animEffect transition="in" filter="wipe(up)">
                                      <p:cBhvr>
                                        <p:cTn id="16" dur="500"/>
                                        <p:tgtEl>
                                          <p:spTgt spid="93188"/>
                                        </p:tgtEl>
                                      </p:cBhvr>
                                    </p:animEffect>
                                  </p:childTnLst>
                                  <p:subTnLst>
                                    <p:audio>
                                      <p:cMediaNode>
                                        <p:cTn display="0" masterRel="sameClick">
                                          <p:stCondLst>
                                            <p:cond evt="begin" delay="0">
                                              <p:tn val="14"/>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utoUpdateAnimBg="0"/>
      <p:bldP spid="93187" grpId="0" autoUpdateAnimBg="0"/>
      <p:bldP spid="9318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9">
            <a:extLst>
              <a:ext uri="{FF2B5EF4-FFF2-40B4-BE49-F238E27FC236}">
                <a16:creationId xmlns:a16="http://schemas.microsoft.com/office/drawing/2014/main" id="{67216DE3-F281-40D5-946E-AB3F1B9BAB0A}"/>
              </a:ext>
            </a:extLst>
          </p:cNvPr>
          <p:cNvSpPr txBox="1">
            <a:spLocks noChangeArrowheads="1"/>
          </p:cNvSpPr>
          <p:nvPr/>
        </p:nvSpPr>
        <p:spPr bwMode="auto">
          <a:xfrm>
            <a:off x="323528" y="161479"/>
            <a:ext cx="73437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1</a:t>
            </a:r>
            <a:r>
              <a:rPr lang="en-US" altLang="zh-CN" dirty="0">
                <a:solidFill>
                  <a:srgbClr val="CC3300"/>
                </a:solidFill>
                <a:latin typeface="Times New Roman" panose="02020603050405020304" pitchFamily="18" charset="0"/>
              </a:rPr>
              <a:t>. Determine the number of bits in the binary code</a:t>
            </a:r>
            <a:endParaRPr lang="zh-CN" altLang="en-US" sz="2400" b="1" dirty="0">
              <a:solidFill>
                <a:srgbClr val="CC3300"/>
              </a:solidFill>
              <a:latin typeface="Times New Roman" panose="02020603050405020304" pitchFamily="18" charset="0"/>
            </a:endParaRPr>
          </a:p>
        </p:txBody>
      </p:sp>
      <p:sp>
        <p:nvSpPr>
          <p:cNvPr id="94211" name="Text Box 10">
            <a:extLst>
              <a:ext uri="{FF2B5EF4-FFF2-40B4-BE49-F238E27FC236}">
                <a16:creationId xmlns:a16="http://schemas.microsoft.com/office/drawing/2014/main" id="{C6F92F35-630C-4BAC-8982-6FF90DA1284B}"/>
              </a:ext>
            </a:extLst>
          </p:cNvPr>
          <p:cNvSpPr txBox="1">
            <a:spLocks noChangeArrowheads="1"/>
          </p:cNvSpPr>
          <p:nvPr/>
        </p:nvSpPr>
        <p:spPr bwMode="auto">
          <a:xfrm>
            <a:off x="323528" y="725588"/>
            <a:ext cx="84740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solidFill>
                  <a:srgbClr val="000099"/>
                </a:solidFill>
                <a:latin typeface="Times New Roman" panose="02020603050405020304" pitchFamily="18" charset="0"/>
              </a:rPr>
              <a:t>Let the state of the modified state table be N, and the length of the state code be m, then the relationship between the state number N and the state code length m is</a:t>
            </a:r>
            <a:r>
              <a:rPr lang="zh-CN" altLang="en-US" sz="2400" b="1" dirty="0">
                <a:solidFill>
                  <a:srgbClr val="000099"/>
                </a:solidFill>
                <a:latin typeface="Times New Roman" panose="02020603050405020304" pitchFamily="18" charset="0"/>
              </a:rPr>
              <a:t></a:t>
            </a:r>
          </a:p>
          <a:p>
            <a:pPr eaLnBrk="1" hangingPunct="1"/>
            <a:r>
              <a:rPr lang="zh-CN" altLang="en-US" sz="2400"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2</a:t>
            </a:r>
            <a:r>
              <a:rPr lang="en-US" altLang="zh-CN" sz="2400" b="1" baseline="30000" dirty="0">
                <a:solidFill>
                  <a:srgbClr val="000099"/>
                </a:solidFill>
                <a:latin typeface="Times New Roman" panose="02020603050405020304" pitchFamily="18" charset="0"/>
              </a:rPr>
              <a:t>m-1 </a:t>
            </a:r>
            <a:r>
              <a:rPr lang="en-US" altLang="zh-CN" sz="2400" b="1" dirty="0">
                <a:solidFill>
                  <a:srgbClr val="000099"/>
                </a:solidFill>
                <a:latin typeface="Times New Roman" panose="02020603050405020304" pitchFamily="18" charset="0"/>
              </a:rPr>
              <a:t> &lt;  N  ≤ 2</a:t>
            </a:r>
            <a:r>
              <a:rPr lang="en-US" altLang="zh-CN" sz="2400" b="1" baseline="30000" dirty="0">
                <a:solidFill>
                  <a:srgbClr val="000099"/>
                </a:solidFill>
                <a:latin typeface="Times New Roman" panose="02020603050405020304" pitchFamily="18" charset="0"/>
              </a:rPr>
              <a:t>m</a:t>
            </a:r>
            <a:r>
              <a:rPr lang="en-US" altLang="zh-CN" sz="2400" b="1"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a:t>
            </a:r>
          </a:p>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For example, if the state number of a state table is N = 7, the number of bits in the binary code should be m = 3 when the state is assigned. Or the number of state variables is 3.</a:t>
            </a:r>
            <a:endParaRPr lang="zh-CN" altLang="en-US" sz="2400" dirty="0">
              <a:latin typeface="Times New Roman" panose="02020603050405020304" pitchFamily="18" charset="0"/>
            </a:endParaRPr>
          </a:p>
        </p:txBody>
      </p:sp>
      <p:sp>
        <p:nvSpPr>
          <p:cNvPr id="94212" name="Text Box 11">
            <a:extLst>
              <a:ext uri="{FF2B5EF4-FFF2-40B4-BE49-F238E27FC236}">
                <a16:creationId xmlns:a16="http://schemas.microsoft.com/office/drawing/2014/main" id="{3C739D39-4876-4972-A41B-BC9C7FF07A4F}"/>
              </a:ext>
            </a:extLst>
          </p:cNvPr>
          <p:cNvSpPr txBox="1">
            <a:spLocks noChangeArrowheads="1"/>
          </p:cNvSpPr>
          <p:nvPr/>
        </p:nvSpPr>
        <p:spPr bwMode="auto">
          <a:xfrm>
            <a:off x="914400" y="3355826"/>
            <a:ext cx="67529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II. Determine the state assignment scheme</a:t>
            </a:r>
            <a:endParaRPr lang="zh-CN" altLang="en-US" sz="2400" b="1" dirty="0">
              <a:solidFill>
                <a:srgbClr val="CC3300"/>
              </a:solidFill>
              <a:latin typeface="Times New Roman" panose="02020603050405020304" pitchFamily="18" charset="0"/>
            </a:endParaRPr>
          </a:p>
        </p:txBody>
      </p:sp>
      <p:grpSp>
        <p:nvGrpSpPr>
          <p:cNvPr id="94213" name="Group 5">
            <a:extLst>
              <a:ext uri="{FF2B5EF4-FFF2-40B4-BE49-F238E27FC236}">
                <a16:creationId xmlns:a16="http://schemas.microsoft.com/office/drawing/2014/main" id="{85CB57F6-8AED-4210-A531-785704A6B65D}"/>
              </a:ext>
            </a:extLst>
          </p:cNvPr>
          <p:cNvGrpSpPr>
            <a:grpSpLocks/>
          </p:cNvGrpSpPr>
          <p:nvPr/>
        </p:nvGrpSpPr>
        <p:grpSpPr bwMode="auto">
          <a:xfrm>
            <a:off x="228600" y="3817937"/>
            <a:ext cx="8915400" cy="2773363"/>
            <a:chOff x="0" y="-115"/>
            <a:chExt cx="5376" cy="1747"/>
          </a:xfrm>
        </p:grpSpPr>
        <p:sp>
          <p:nvSpPr>
            <p:cNvPr id="98312" name="Text Box 12">
              <a:extLst>
                <a:ext uri="{FF2B5EF4-FFF2-40B4-BE49-F238E27FC236}">
                  <a16:creationId xmlns:a16="http://schemas.microsoft.com/office/drawing/2014/main" id="{6E987A38-F2FD-448D-8BD6-3398260FF499}"/>
                </a:ext>
              </a:extLst>
            </p:cNvPr>
            <p:cNvSpPr txBox="1">
              <a:spLocks noChangeArrowheads="1"/>
            </p:cNvSpPr>
            <p:nvPr/>
          </p:nvSpPr>
          <p:spPr bwMode="auto">
            <a:xfrm>
              <a:off x="0" y="-115"/>
              <a:ext cx="5376"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 There are many kinds of correspondences between states and codes. In general, the number of state allocation schemes that may occur when allocating N states with </a:t>
              </a:r>
              <a:r>
                <a:rPr lang="en-US" altLang="zh-CN" dirty="0">
                  <a:solidFill>
                    <a:schemeClr val="tx2"/>
                  </a:solidFill>
                  <a:latin typeface="Times New Roman" panose="02020603050405020304" pitchFamily="18" charset="0"/>
                </a:rPr>
                <a:t>2</a:t>
              </a:r>
              <a:r>
                <a:rPr lang="en-US" altLang="zh-CN" baseline="30000" dirty="0">
                  <a:solidFill>
                    <a:schemeClr val="tx2"/>
                  </a:solidFill>
                  <a:latin typeface="Times New Roman" panose="02020603050405020304" pitchFamily="18" charset="0"/>
                </a:rPr>
                <a:t>m</a:t>
              </a:r>
              <a:r>
                <a:rPr lang="en-US" altLang="zh-CN" dirty="0">
                  <a:latin typeface="Times New Roman" panose="02020603050405020304" pitchFamily="18" charset="0"/>
                </a:rPr>
                <a:t> combinations of m-bit binary codes</a:t>
              </a:r>
              <a:r>
                <a:rPr lang="zh-CN" altLang="en-US" sz="2400" dirty="0">
                  <a:latin typeface="Times New Roman" panose="02020603050405020304" pitchFamily="18" charset="0"/>
                </a:rPr>
                <a:t>，</a:t>
              </a:r>
              <a:r>
                <a:rPr lang="en-US" altLang="zh-CN" sz="2400" dirty="0">
                  <a:solidFill>
                    <a:schemeClr val="tx2"/>
                  </a:solidFill>
                  <a:latin typeface="Times New Roman" panose="02020603050405020304" pitchFamily="18" charset="0"/>
                </a:rPr>
                <a:t>K</a:t>
              </a:r>
              <a:r>
                <a:rPr lang="en-US" altLang="zh-CN" sz="2400" baseline="-25000" dirty="0">
                  <a:solidFill>
                    <a:schemeClr val="tx2"/>
                  </a:solidFill>
                  <a:latin typeface="Times New Roman" panose="02020603050405020304" pitchFamily="18" charset="0"/>
                </a:rPr>
                <a:t>s</a:t>
              </a:r>
              <a:r>
                <a:rPr lang="zh-CN" altLang="en-US" sz="2400" dirty="0">
                  <a:solidFill>
                    <a:schemeClr val="tx2"/>
                  </a:solidFill>
                  <a:latin typeface="Times New Roman" panose="02020603050405020304" pitchFamily="18" charset="0"/>
                </a:rPr>
                <a:t> </a:t>
              </a:r>
              <a:r>
                <a:rPr lang="en-US" altLang="zh-CN" sz="2400" dirty="0">
                  <a:solidFill>
                    <a:schemeClr val="tx2"/>
                  </a:solidFill>
                  <a:latin typeface="Times New Roman" panose="02020603050405020304" pitchFamily="18" charset="0"/>
                </a:rPr>
                <a:t>is</a:t>
              </a:r>
              <a:endParaRPr lang="zh-CN" altLang="en-US" sz="2400" dirty="0">
                <a:solidFill>
                  <a:schemeClr val="tx2"/>
                </a:solidFill>
                <a:latin typeface="Times New Roman" panose="02020603050405020304" pitchFamily="18" charset="0"/>
              </a:endParaRPr>
            </a:p>
          </p:txBody>
        </p:sp>
        <p:graphicFrame>
          <p:nvGraphicFramePr>
            <p:cNvPr id="98313" name="Object 7">
              <a:extLst>
                <a:ext uri="{FF2B5EF4-FFF2-40B4-BE49-F238E27FC236}">
                  <a16:creationId xmlns:a16="http://schemas.microsoft.com/office/drawing/2014/main" id="{E94774D7-4D9F-4524-B646-3D210D9C71CC}"/>
                </a:ext>
              </a:extLst>
            </p:cNvPr>
            <p:cNvGraphicFramePr>
              <a:graphicFrameLocks noChangeAspect="1"/>
            </p:cNvGraphicFramePr>
            <p:nvPr/>
          </p:nvGraphicFramePr>
          <p:xfrm>
            <a:off x="576" y="816"/>
            <a:ext cx="2208" cy="816"/>
          </p:xfrm>
          <a:graphic>
            <a:graphicData uri="http://schemas.openxmlformats.org/presentationml/2006/ole">
              <mc:AlternateContent xmlns:mc="http://schemas.openxmlformats.org/markup-compatibility/2006">
                <mc:Choice xmlns:v="urn:schemas-microsoft-com:vml" Requires="v">
                  <p:oleObj spid="_x0000_s20551" r:id="rId5" imgW="1334659" imgH="432175" progId="Equation.3">
                    <p:embed/>
                  </p:oleObj>
                </mc:Choice>
                <mc:Fallback>
                  <p:oleObj r:id="rId5" imgW="1334659" imgH="432175" progId="Equation.3">
                    <p:embed/>
                    <p:pic>
                      <p:nvPicPr>
                        <p:cNvPr id="98313" name="Object 7">
                          <a:extLst>
                            <a:ext uri="{FF2B5EF4-FFF2-40B4-BE49-F238E27FC236}">
                              <a16:creationId xmlns:a16="http://schemas.microsoft.com/office/drawing/2014/main" id="{E94774D7-4D9F-4524-B646-3D210D9C71CC}"/>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576" y="816"/>
                          <a:ext cx="2208"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14" name="Text Box 18">
              <a:extLst>
                <a:ext uri="{FF2B5EF4-FFF2-40B4-BE49-F238E27FC236}">
                  <a16:creationId xmlns:a16="http://schemas.microsoft.com/office/drawing/2014/main" id="{785ADFC0-7C8C-4BB1-B0FD-33878DE38DC5}"/>
                </a:ext>
              </a:extLst>
            </p:cNvPr>
            <p:cNvSpPr txBox="1">
              <a:spLocks noChangeArrowheads="1"/>
            </p:cNvSpPr>
            <p:nvPr/>
          </p:nvSpPr>
          <p:spPr bwMode="auto">
            <a:xfrm>
              <a:off x="3120" y="864"/>
              <a:ext cx="192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sz="2400" dirty="0" err="1">
                  <a:latin typeface="Times New Roman" panose="02020603050405020304" pitchFamily="18" charset="0"/>
                </a:rPr>
                <a:t>eg</a:t>
              </a:r>
              <a:r>
                <a:rPr lang="zh-CN" altLang="en-US" sz="2400" dirty="0">
                  <a:latin typeface="Times New Roman" panose="02020603050405020304" pitchFamily="18" charset="0"/>
                </a:rPr>
                <a:t>，</a:t>
              </a:r>
              <a:r>
                <a:rPr lang="en-US" altLang="zh-CN" sz="2400" dirty="0">
                  <a:latin typeface="Times New Roman" panose="02020603050405020304" pitchFamily="18" charset="0"/>
                </a:rPr>
                <a:t>when</a:t>
              </a:r>
              <a:r>
                <a:rPr lang="zh-CN" altLang="en-US" sz="2400" dirty="0">
                  <a:latin typeface="Times New Roman" panose="02020603050405020304" pitchFamily="18" charset="0"/>
                </a:rPr>
                <a:t> </a:t>
              </a:r>
              <a:r>
                <a:rPr lang="en-US" altLang="zh-CN" sz="2400" dirty="0">
                  <a:latin typeface="Times New Roman" panose="02020603050405020304" pitchFamily="18" charset="0"/>
                </a:rPr>
                <a:t>N = 4,   </a:t>
              </a:r>
              <a:br>
                <a:rPr lang="en-US" altLang="zh-CN" sz="2400" dirty="0">
                  <a:latin typeface="Times New Roman" panose="02020603050405020304" pitchFamily="18" charset="0"/>
                </a:rPr>
              </a:br>
              <a:r>
                <a:rPr lang="en-US" altLang="zh-CN" sz="2400" dirty="0">
                  <a:latin typeface="Times New Roman" panose="02020603050405020304" pitchFamily="18" charset="0"/>
                </a:rPr>
                <a:t>  m= 2</a:t>
              </a:r>
              <a:r>
                <a:rPr lang="zh-CN" altLang="en-US" sz="2400" dirty="0">
                  <a:latin typeface="Times New Roman" panose="02020603050405020304" pitchFamily="18" charset="0"/>
                </a:rPr>
                <a:t>，</a:t>
              </a:r>
              <a:r>
                <a:rPr lang="en-US" altLang="zh-CN" sz="2400" dirty="0">
                  <a:latin typeface="Times New Roman" panose="02020603050405020304" pitchFamily="18" charset="0"/>
                </a:rPr>
                <a:t>K </a:t>
              </a:r>
              <a:r>
                <a:rPr lang="en-US" altLang="zh-CN" sz="2400" baseline="-25000" dirty="0">
                  <a:latin typeface="Times New Roman" panose="02020603050405020304" pitchFamily="18" charset="0"/>
                </a:rPr>
                <a:t>S</a:t>
              </a:r>
              <a:r>
                <a:rPr lang="en-US" altLang="zh-CN" sz="2400" dirty="0">
                  <a:latin typeface="Times New Roman" panose="02020603050405020304" pitchFamily="18" charset="0"/>
                </a:rPr>
                <a:t> = 24</a:t>
              </a:r>
              <a:r>
                <a:rPr lang="zh-CN" altLang="en-US" sz="2400" dirty="0">
                  <a:latin typeface="Times New Roman" panose="02020603050405020304" pitchFamily="18" charset="0"/>
                </a:rPr>
                <a:t>。</a:t>
              </a:r>
            </a:p>
          </p:txBody>
        </p:sp>
      </p:grpSp>
      <p:pic>
        <p:nvPicPr>
          <p:cNvPr id="98310" name="Picture 21" descr="Right_Green">
            <a:hlinkClick r:id="" action="ppaction://hlinkshowjump?jump=nextslide"/>
            <a:extLst>
              <a:ext uri="{FF2B5EF4-FFF2-40B4-BE49-F238E27FC236}">
                <a16:creationId xmlns:a16="http://schemas.microsoft.com/office/drawing/2014/main" id="{D1CA729B-C753-4DCC-A891-9E73F24392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11" name="Picture 22" descr="Left_Green">
            <a:hlinkClick r:id="" action="ppaction://hlinkshowjump?jump=previousslide"/>
            <a:extLst>
              <a:ext uri="{FF2B5EF4-FFF2-40B4-BE49-F238E27FC236}">
                <a16:creationId xmlns:a16="http://schemas.microsoft.com/office/drawing/2014/main" id="{C33DDAA4-42DE-4C8D-98B2-6008079886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36613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4210"/>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42" fill="hold" grpId="0" nodeType="clickEffect">
                                  <p:stCondLst>
                                    <p:cond delay="0"/>
                                  </p:stCondLst>
                                  <p:childTnLst>
                                    <p:set>
                                      <p:cBhvr>
                                        <p:cTn id="10" dur="1" fill="hold">
                                          <p:stCondLst>
                                            <p:cond delay="0"/>
                                          </p:stCondLst>
                                        </p:cTn>
                                        <p:tgtEl>
                                          <p:spTgt spid="94211"/>
                                        </p:tgtEl>
                                        <p:attrNameLst>
                                          <p:attrName>style.visibility</p:attrName>
                                        </p:attrNameLst>
                                      </p:cBhvr>
                                      <p:to>
                                        <p:strVal val="visible"/>
                                      </p:to>
                                    </p:set>
                                    <p:animEffect transition="in" filter="barn(outHorizontal)">
                                      <p:cBhvr>
                                        <p:cTn id="11" dur="500"/>
                                        <p:tgtEl>
                                          <p:spTgt spid="942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94212"/>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4" name="projctor.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42" fill="hold" nodeType="clickEffect">
                                  <p:stCondLst>
                                    <p:cond delay="0"/>
                                  </p:stCondLst>
                                  <p:childTnLst>
                                    <p:set>
                                      <p:cBhvr>
                                        <p:cTn id="19" dur="1" fill="hold">
                                          <p:stCondLst>
                                            <p:cond delay="0"/>
                                          </p:stCondLst>
                                        </p:cTn>
                                        <p:tgtEl>
                                          <p:spTgt spid="94213"/>
                                        </p:tgtEl>
                                        <p:attrNameLst>
                                          <p:attrName>style.visibility</p:attrName>
                                        </p:attrNameLst>
                                      </p:cBhvr>
                                      <p:to>
                                        <p:strVal val="visible"/>
                                      </p:to>
                                    </p:set>
                                    <p:animEffect transition="in" filter="barn(outHorizontal)">
                                      <p:cBhvr>
                                        <p:cTn id="20"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autoUpdateAnimBg="0"/>
      <p:bldP spid="94211" grpId="0" autoUpdateAnimBg="0"/>
      <p:bldP spid="9421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556B851-8801-4D15-8608-6C24F55304B7}"/>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graphicFrame>
        <p:nvGraphicFramePr>
          <p:cNvPr id="99331" name="Object 3">
            <a:extLst>
              <a:ext uri="{FF2B5EF4-FFF2-40B4-BE49-F238E27FC236}">
                <a16:creationId xmlns:a16="http://schemas.microsoft.com/office/drawing/2014/main" id="{ECE67944-1C5D-4D4F-8807-74D4E96E7D3D}"/>
              </a:ext>
            </a:extLst>
          </p:cNvPr>
          <p:cNvGraphicFramePr>
            <a:graphicFrameLocks noGrp="1"/>
          </p:cNvGraphicFramePr>
          <p:nvPr>
            <p:ph idx="1"/>
          </p:nvPr>
        </p:nvGraphicFramePr>
        <p:xfrm>
          <a:off x="457200" y="1600200"/>
          <a:ext cx="8229600" cy="4525963"/>
        </p:xfrm>
        <a:graphic>
          <a:graphicData uri="http://schemas.openxmlformats.org/presentationml/2006/ole">
            <mc:AlternateContent xmlns:mc="http://schemas.openxmlformats.org/markup-compatibility/2006">
              <mc:Choice xmlns:v="urn:schemas-microsoft-com:vml" Requires="v">
                <p:oleObj spid="_x0000_s21577" r:id="rId4" imgW="6066667" imgH="4571429" progId="Paint.Picture">
                  <p:embed/>
                </p:oleObj>
              </mc:Choice>
              <mc:Fallback>
                <p:oleObj r:id="rId4" imgW="6066667" imgH="4571429" progId="Paint.Picture">
                  <p:embed/>
                  <p:pic>
                    <p:nvPicPr>
                      <p:cNvPr id="99331" name="Object 3">
                        <a:extLst>
                          <a:ext uri="{FF2B5EF4-FFF2-40B4-BE49-F238E27FC236}">
                            <a16:creationId xmlns:a16="http://schemas.microsoft.com/office/drawing/2014/main" id="{ECE67944-1C5D-4D4F-8807-74D4E96E7D3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a:extLst>
              <a:ext uri="{FF2B5EF4-FFF2-40B4-BE49-F238E27FC236}">
                <a16:creationId xmlns:a16="http://schemas.microsoft.com/office/drawing/2014/main" id="{B3055CAA-D855-4495-8BF3-9FEE4D4901ED}"/>
              </a:ext>
            </a:extLst>
          </p:cNvPr>
          <p:cNvSpPr txBox="1"/>
          <p:nvPr/>
        </p:nvSpPr>
        <p:spPr>
          <a:xfrm>
            <a:off x="599692" y="1700808"/>
            <a:ext cx="3972308" cy="369332"/>
          </a:xfrm>
          <a:prstGeom prst="rect">
            <a:avLst/>
          </a:prstGeom>
          <a:solidFill>
            <a:schemeClr val="bg1"/>
          </a:solidFill>
        </p:spPr>
        <p:txBody>
          <a:bodyPr wrap="square" rtlCol="0">
            <a:spAutoFit/>
          </a:bodyPr>
          <a:lstStyle/>
          <a:p>
            <a:r>
              <a:rPr lang="en-US" altLang="zh-CN" sz="1800" dirty="0">
                <a:solidFill>
                  <a:srgbClr val="000099"/>
                </a:solidFill>
                <a:latin typeface="Times New Roman" panose="02020603050405020304" pitchFamily="18" charset="0"/>
              </a:rPr>
              <a:t>Example: when n=2, N=4, we have</a:t>
            </a:r>
            <a:endParaRPr lang="zh-CN" altLang="en-US" sz="1800" dirty="0"/>
          </a:p>
        </p:txBody>
      </p:sp>
      <p:sp>
        <p:nvSpPr>
          <p:cNvPr id="5" name="文本框 4">
            <a:extLst>
              <a:ext uri="{FF2B5EF4-FFF2-40B4-BE49-F238E27FC236}">
                <a16:creationId xmlns:a16="http://schemas.microsoft.com/office/drawing/2014/main" id="{19494A16-9CB0-4F24-80C5-E55115DD342E}"/>
              </a:ext>
            </a:extLst>
          </p:cNvPr>
          <p:cNvSpPr txBox="1"/>
          <p:nvPr/>
        </p:nvSpPr>
        <p:spPr>
          <a:xfrm>
            <a:off x="4049080" y="2143363"/>
            <a:ext cx="2035088" cy="261610"/>
          </a:xfrm>
          <a:prstGeom prst="rect">
            <a:avLst/>
          </a:prstGeom>
          <a:solidFill>
            <a:schemeClr val="bg1"/>
          </a:solidFill>
        </p:spPr>
        <p:txBody>
          <a:bodyPr wrap="square" rtlCol="0">
            <a:spAutoFit/>
          </a:bodyPr>
          <a:lstStyle/>
          <a:p>
            <a:pPr algn="ctr"/>
            <a:r>
              <a:rPr lang="en-US" altLang="zh-CN" sz="1100" dirty="0"/>
              <a:t>solutions</a:t>
            </a:r>
            <a:endParaRPr lang="zh-CN" altLang="en-US" sz="1800" dirty="0"/>
          </a:p>
        </p:txBody>
      </p:sp>
      <p:sp>
        <p:nvSpPr>
          <p:cNvPr id="6" name="文本框 5">
            <a:extLst>
              <a:ext uri="{FF2B5EF4-FFF2-40B4-BE49-F238E27FC236}">
                <a16:creationId xmlns:a16="http://schemas.microsoft.com/office/drawing/2014/main" id="{360817BB-B95D-4BCB-B3EE-DEA19D84565D}"/>
              </a:ext>
            </a:extLst>
          </p:cNvPr>
          <p:cNvSpPr txBox="1"/>
          <p:nvPr/>
        </p:nvSpPr>
        <p:spPr>
          <a:xfrm>
            <a:off x="4039158" y="4031486"/>
            <a:ext cx="2035088" cy="261610"/>
          </a:xfrm>
          <a:prstGeom prst="rect">
            <a:avLst/>
          </a:prstGeom>
          <a:solidFill>
            <a:schemeClr val="bg1"/>
          </a:solidFill>
        </p:spPr>
        <p:txBody>
          <a:bodyPr wrap="square" rtlCol="0">
            <a:spAutoFit/>
          </a:bodyPr>
          <a:lstStyle/>
          <a:p>
            <a:pPr algn="ctr"/>
            <a:r>
              <a:rPr lang="en-US" altLang="zh-CN" sz="1100" dirty="0"/>
              <a:t>solutions</a:t>
            </a:r>
            <a:endParaRPr lang="zh-CN" altLang="en-US" sz="1800" dirty="0"/>
          </a:p>
        </p:txBody>
      </p:sp>
      <p:sp>
        <p:nvSpPr>
          <p:cNvPr id="7" name="文本框 6">
            <a:extLst>
              <a:ext uri="{FF2B5EF4-FFF2-40B4-BE49-F238E27FC236}">
                <a16:creationId xmlns:a16="http://schemas.microsoft.com/office/drawing/2014/main" id="{0A7D4345-B9EE-4682-B097-C1629140018C}"/>
              </a:ext>
            </a:extLst>
          </p:cNvPr>
          <p:cNvSpPr txBox="1"/>
          <p:nvPr/>
        </p:nvSpPr>
        <p:spPr>
          <a:xfrm>
            <a:off x="827584" y="2307045"/>
            <a:ext cx="720080" cy="261610"/>
          </a:xfrm>
          <a:prstGeom prst="rect">
            <a:avLst/>
          </a:prstGeom>
          <a:solidFill>
            <a:schemeClr val="bg1"/>
          </a:solidFill>
        </p:spPr>
        <p:txBody>
          <a:bodyPr wrap="square" rtlCol="0">
            <a:spAutoFit/>
          </a:bodyPr>
          <a:lstStyle/>
          <a:p>
            <a:pPr algn="ctr"/>
            <a:r>
              <a:rPr lang="en-US" altLang="zh-CN" sz="1100" dirty="0"/>
              <a:t>States</a:t>
            </a:r>
            <a:endParaRPr lang="zh-CN" altLang="en-US" sz="1800" dirty="0"/>
          </a:p>
        </p:txBody>
      </p:sp>
      <p:sp>
        <p:nvSpPr>
          <p:cNvPr id="8" name="文本框 7">
            <a:extLst>
              <a:ext uri="{FF2B5EF4-FFF2-40B4-BE49-F238E27FC236}">
                <a16:creationId xmlns:a16="http://schemas.microsoft.com/office/drawing/2014/main" id="{9641B64A-09B8-4982-B805-D8522ED7C3A3}"/>
              </a:ext>
            </a:extLst>
          </p:cNvPr>
          <p:cNvSpPr txBox="1"/>
          <p:nvPr/>
        </p:nvSpPr>
        <p:spPr>
          <a:xfrm>
            <a:off x="775048" y="4216604"/>
            <a:ext cx="720080" cy="261610"/>
          </a:xfrm>
          <a:prstGeom prst="rect">
            <a:avLst/>
          </a:prstGeom>
          <a:solidFill>
            <a:schemeClr val="bg1"/>
          </a:solidFill>
        </p:spPr>
        <p:txBody>
          <a:bodyPr wrap="square" rtlCol="0">
            <a:spAutoFit/>
          </a:bodyPr>
          <a:lstStyle/>
          <a:p>
            <a:pPr algn="ctr"/>
            <a:r>
              <a:rPr lang="en-US" altLang="zh-CN" sz="1100" dirty="0"/>
              <a:t>States</a:t>
            </a:r>
            <a:endParaRPr lang="zh-CN" altLang="en-US" sz="1800" dirty="0"/>
          </a:p>
        </p:txBody>
      </p:sp>
    </p:spTree>
    <p:extLst>
      <p:ext uri="{BB962C8B-B14F-4D97-AF65-F5344CB8AC3E}">
        <p14:creationId xmlns:p14="http://schemas.microsoft.com/office/powerpoint/2010/main" val="2395334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13">
            <a:extLst>
              <a:ext uri="{FF2B5EF4-FFF2-40B4-BE49-F238E27FC236}">
                <a16:creationId xmlns:a16="http://schemas.microsoft.com/office/drawing/2014/main" id="{D3F46E0F-D497-4A23-B4F6-C2E5EDEBBEF6}"/>
              </a:ext>
            </a:extLst>
          </p:cNvPr>
          <p:cNvSpPr txBox="1">
            <a:spLocks noChangeArrowheads="1"/>
          </p:cNvSpPr>
          <p:nvPr/>
        </p:nvSpPr>
        <p:spPr bwMode="auto">
          <a:xfrm>
            <a:off x="971550" y="1412875"/>
            <a:ext cx="748888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latin typeface="Times New Roman" panose="02020603050405020304" pitchFamily="18" charset="0"/>
              </a:rPr>
              <a:t>A common method is called the adjacent assignment method.</a:t>
            </a:r>
            <a:endParaRPr lang="zh-CN" altLang="en-US" sz="2400" dirty="0">
              <a:solidFill>
                <a:srgbClr val="993300"/>
              </a:solidFill>
              <a:latin typeface="Times New Roman" panose="02020603050405020304" pitchFamily="18" charset="0"/>
            </a:endParaRPr>
          </a:p>
        </p:txBody>
      </p:sp>
      <p:sp>
        <p:nvSpPr>
          <p:cNvPr id="96259" name="Text Box 14">
            <a:extLst>
              <a:ext uri="{FF2B5EF4-FFF2-40B4-BE49-F238E27FC236}">
                <a16:creationId xmlns:a16="http://schemas.microsoft.com/office/drawing/2014/main" id="{48A7209D-B8C0-46FF-9879-FE941C228D0E}"/>
              </a:ext>
            </a:extLst>
          </p:cNvPr>
          <p:cNvSpPr txBox="1">
            <a:spLocks noChangeArrowheads="1"/>
          </p:cNvSpPr>
          <p:nvPr/>
        </p:nvSpPr>
        <p:spPr bwMode="auto">
          <a:xfrm>
            <a:off x="323850" y="2781300"/>
            <a:ext cx="847725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993300"/>
                </a:solidFill>
                <a:latin typeface="Times New Roman" panose="02020603050405020304" pitchFamily="18" charset="0"/>
              </a:rPr>
              <a:t>　　</a:t>
            </a:r>
            <a:r>
              <a:rPr lang="en-US" altLang="zh-CN" dirty="0">
                <a:solidFill>
                  <a:srgbClr val="993300"/>
                </a:solidFill>
                <a:latin typeface="Times New Roman" panose="02020603050405020304" pitchFamily="18" charset="0"/>
              </a:rPr>
              <a:t>The basic idea of the adjacent assignment method is to make the excitation function and the output function in the adjacent position of the "1" square on the Karnaugh map as much as possible, so as to facilitate the excitation function and the output function. simple.</a:t>
            </a:r>
            <a:endParaRPr lang="zh-CN" altLang="en-US" sz="2400" dirty="0">
              <a:latin typeface="Times New Roman" panose="02020603050405020304" pitchFamily="18" charset="0"/>
            </a:endParaRPr>
          </a:p>
        </p:txBody>
      </p:sp>
      <p:pic>
        <p:nvPicPr>
          <p:cNvPr id="100356" name="Picture 15" descr="Right_Green">
            <a:hlinkClick r:id="" action="ppaction://hlinkshowjump?jump=nextslide"/>
            <a:extLst>
              <a:ext uri="{FF2B5EF4-FFF2-40B4-BE49-F238E27FC236}">
                <a16:creationId xmlns:a16="http://schemas.microsoft.com/office/drawing/2014/main" id="{2B88FE3F-2921-4516-AC92-8DE4D8E955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7" name="Picture 16" descr="Left_Green">
            <a:hlinkClick r:id="" action="ppaction://hlinkshowjump?jump=previousslide"/>
            <a:extLst>
              <a:ext uri="{FF2B5EF4-FFF2-40B4-BE49-F238E27FC236}">
                <a16:creationId xmlns:a16="http://schemas.microsoft.com/office/drawing/2014/main" id="{86B39CFC-5D8B-4F6B-9FD1-6308052901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218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box(out)">
                                      <p:cBhvr>
                                        <p:cTn id="7" dur="500"/>
                                        <p:tgtEl>
                                          <p:spTgt spid="9625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6259"/>
                                        </p:tgtEl>
                                        <p:attrNameLst>
                                          <p:attrName>style.visibility</p:attrName>
                                        </p:attrNameLst>
                                      </p:cBhvr>
                                      <p:to>
                                        <p:strVal val="visible"/>
                                      </p:to>
                                    </p:set>
                                    <p:animEffect transition="in" filter="blinds(horizontal)">
                                      <p:cBhvr>
                                        <p:cTn id="12" dur="500"/>
                                        <p:tgtEl>
                                          <p:spTgt spid="9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utoUpdateAnimBg="0"/>
      <p:bldP spid="9625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9">
            <a:extLst>
              <a:ext uri="{FF2B5EF4-FFF2-40B4-BE49-F238E27FC236}">
                <a16:creationId xmlns:a16="http://schemas.microsoft.com/office/drawing/2014/main" id="{81B36BD3-1742-4688-A24F-51292A833D56}"/>
              </a:ext>
            </a:extLst>
          </p:cNvPr>
          <p:cNvSpPr txBox="1">
            <a:spLocks noChangeArrowheads="1"/>
          </p:cNvSpPr>
          <p:nvPr/>
        </p:nvSpPr>
        <p:spPr bwMode="auto">
          <a:xfrm>
            <a:off x="25436" y="-99392"/>
            <a:ext cx="903649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993300"/>
                </a:solidFill>
                <a:latin typeface="Times New Roman" panose="02020603050405020304" pitchFamily="18" charset="0"/>
              </a:rPr>
              <a:t>　　</a:t>
            </a:r>
            <a:r>
              <a:rPr lang="en-US" altLang="zh-CN" dirty="0">
                <a:solidFill>
                  <a:srgbClr val="993300"/>
                </a:solidFill>
                <a:latin typeface="Times New Roman" panose="02020603050405020304" pitchFamily="18" charset="0"/>
              </a:rPr>
              <a:t>The principle principle of the adjacent assignment method is as follows:</a:t>
            </a:r>
            <a:r>
              <a:rPr lang="zh-CN" altLang="en-US" sz="2400" b="1" dirty="0">
                <a:solidFill>
                  <a:schemeClr val="accent1"/>
                </a:solidFill>
                <a:latin typeface="Times New Roman" panose="02020603050405020304" pitchFamily="18" charset="0"/>
              </a:rPr>
              <a:t></a:t>
            </a:r>
          </a:p>
          <a:p>
            <a:pPr eaLnBrk="1" hangingPunct="1"/>
            <a:r>
              <a:rPr lang="zh-CN" altLang="en-US" sz="2400" dirty="0">
                <a:latin typeface="Times New Roman" panose="02020603050405020304" pitchFamily="18" charset="0"/>
              </a:rPr>
              <a:t>　　</a:t>
            </a:r>
            <a:r>
              <a:rPr lang="zh-CN" altLang="en-US" sz="2400" b="1" dirty="0">
                <a:solidFill>
                  <a:srgbClr val="000099"/>
                </a:solidFill>
                <a:latin typeface="Times New Roman" panose="02020603050405020304" pitchFamily="18" charset="0"/>
              </a:rPr>
              <a:t>① </a:t>
            </a:r>
            <a:r>
              <a:rPr lang="en-US" altLang="zh-CN" sz="2400" b="1" dirty="0">
                <a:solidFill>
                  <a:srgbClr val="FF0000"/>
                </a:solidFill>
                <a:latin typeface="Times New Roman" panose="02020603050405020304" pitchFamily="18" charset="0"/>
              </a:rPr>
              <a:t>If t</a:t>
            </a:r>
            <a:r>
              <a:rPr lang="en-US" altLang="zh-CN" dirty="0">
                <a:solidFill>
                  <a:srgbClr val="FF0000"/>
                </a:solidFill>
                <a:latin typeface="Times New Roman" panose="02020603050405020304" pitchFamily="18" charset="0"/>
              </a:rPr>
              <a:t>he next state is the same,  then the present state should be adjacent. </a:t>
            </a:r>
            <a:r>
              <a:rPr lang="en-US" altLang="zh-CN" dirty="0">
                <a:solidFill>
                  <a:srgbClr val="000099"/>
                </a:solidFill>
                <a:latin typeface="Times New Roman" panose="02020603050405020304" pitchFamily="18" charset="0"/>
              </a:rPr>
              <a:t>(</a:t>
            </a:r>
            <a:r>
              <a:rPr lang="en-US" altLang="zh-CN" dirty="0" err="1">
                <a:solidFill>
                  <a:srgbClr val="000099"/>
                </a:solidFill>
                <a:latin typeface="Times New Roman" panose="02020603050405020304" pitchFamily="18" charset="0"/>
              </a:rPr>
              <a:t>ie</a:t>
            </a:r>
            <a:r>
              <a:rPr lang="en-US" altLang="zh-CN" dirty="0">
                <a:solidFill>
                  <a:srgbClr val="000099"/>
                </a:solidFill>
                <a:latin typeface="Times New Roman" panose="02020603050405020304" pitchFamily="18" charset="0"/>
              </a:rPr>
              <a:t>, under the same input conditions, the present state with the same next state should be allocated adjacent binary code as much as possible;)</a:t>
            </a:r>
            <a:r>
              <a:rPr lang="en-US" altLang="zh-CN" sz="2400" dirty="0">
                <a:latin typeface="Times New Roman" panose="02020603050405020304" pitchFamily="18" charset="0"/>
              </a:rPr>
              <a:t></a:t>
            </a:r>
          </a:p>
          <a:p>
            <a:pPr eaLnBrk="1" hangingPunct="1"/>
            <a:r>
              <a:rPr lang="zh-CN" altLang="en-US" sz="2400" b="1" dirty="0">
                <a:solidFill>
                  <a:srgbClr val="000099"/>
                </a:solidFill>
                <a:latin typeface="Times New Roman" panose="02020603050405020304" pitchFamily="18" charset="0"/>
              </a:rPr>
              <a:t>　　② </a:t>
            </a:r>
            <a:r>
              <a:rPr lang="en-US" altLang="zh-CN" sz="2400" b="1" dirty="0">
                <a:solidFill>
                  <a:srgbClr val="FF0000"/>
                </a:solidFill>
                <a:latin typeface="Times New Roman" panose="02020603050405020304" pitchFamily="18" charset="0"/>
              </a:rPr>
              <a:t>For t</a:t>
            </a:r>
            <a:r>
              <a:rPr lang="en-US" altLang="zh-CN" dirty="0">
                <a:solidFill>
                  <a:srgbClr val="FF0000"/>
                </a:solidFill>
                <a:latin typeface="Times New Roman" panose="02020603050405020304" pitchFamily="18" charset="0"/>
              </a:rPr>
              <a:t>he same present states, their next states should be adjacent. </a:t>
            </a:r>
            <a:r>
              <a:rPr lang="en-US" altLang="zh-CN" dirty="0">
                <a:solidFill>
                  <a:srgbClr val="000099"/>
                </a:solidFill>
                <a:latin typeface="Times New Roman" panose="02020603050405020304" pitchFamily="18" charset="0"/>
              </a:rPr>
              <a:t>(</a:t>
            </a:r>
            <a:r>
              <a:rPr lang="en-US" altLang="zh-CN" dirty="0" err="1">
                <a:solidFill>
                  <a:srgbClr val="000099"/>
                </a:solidFill>
                <a:latin typeface="Times New Roman" panose="02020603050405020304" pitchFamily="18" charset="0"/>
              </a:rPr>
              <a:t>ie</a:t>
            </a:r>
            <a:r>
              <a:rPr lang="en-US" altLang="zh-CN" dirty="0">
                <a:solidFill>
                  <a:srgbClr val="000099"/>
                </a:solidFill>
                <a:latin typeface="Times New Roman" panose="02020603050405020304" pitchFamily="18" charset="0"/>
              </a:rPr>
              <a:t>, under the adjacent input conditions, the next state of the same present state should be assigned adjacent code as much as possible ;)</a:t>
            </a:r>
            <a:endParaRPr lang="en-US" altLang="zh-CN" sz="2400" dirty="0">
              <a:latin typeface="Times New Roman" panose="02020603050405020304" pitchFamily="18" charset="0"/>
            </a:endParaRPr>
          </a:p>
          <a:p>
            <a:pPr eaLnBrk="1" hangingPunct="1"/>
            <a:r>
              <a:rPr lang="zh-CN" altLang="en-US" sz="2400" b="1" dirty="0">
                <a:solidFill>
                  <a:srgbClr val="000099"/>
                </a:solidFill>
                <a:latin typeface="Times New Roman" panose="02020603050405020304" pitchFamily="18" charset="0"/>
              </a:rPr>
              <a:t>　　③ </a:t>
            </a:r>
            <a:r>
              <a:rPr lang="en-US" altLang="zh-CN" sz="2400" b="1" dirty="0">
                <a:solidFill>
                  <a:srgbClr val="FF0000"/>
                </a:solidFill>
                <a:latin typeface="Times New Roman" panose="02020603050405020304" pitchFamily="18" charset="0"/>
              </a:rPr>
              <a:t>If t</a:t>
            </a:r>
            <a:r>
              <a:rPr lang="en-US" altLang="zh-CN" dirty="0">
                <a:solidFill>
                  <a:srgbClr val="FF0000"/>
                </a:solidFill>
                <a:latin typeface="Times New Roman" panose="02020603050405020304" pitchFamily="18" charset="0"/>
              </a:rPr>
              <a:t>he output is the same, then the present states should be adjacent. </a:t>
            </a:r>
            <a:r>
              <a:rPr lang="en-US" altLang="zh-CN" dirty="0">
                <a:solidFill>
                  <a:srgbClr val="000099"/>
                </a:solidFill>
                <a:latin typeface="Times New Roman" panose="02020603050405020304" pitchFamily="18" charset="0"/>
              </a:rPr>
              <a:t>(</a:t>
            </a:r>
            <a:r>
              <a:rPr lang="en-US" altLang="zh-CN" dirty="0" err="1">
                <a:solidFill>
                  <a:srgbClr val="000099"/>
                </a:solidFill>
                <a:latin typeface="Times New Roman" panose="02020603050405020304" pitchFamily="18" charset="0"/>
              </a:rPr>
              <a:t>ie</a:t>
            </a:r>
            <a:r>
              <a:rPr lang="en-US" altLang="zh-CN" dirty="0">
                <a:solidFill>
                  <a:srgbClr val="000099"/>
                </a:solidFill>
                <a:latin typeface="Times New Roman" panose="02020603050405020304" pitchFamily="18" charset="0"/>
              </a:rPr>
              <a:t>, the present state with the same output for each input value should be assigned to the adjacent binary code as much as possible .)</a:t>
            </a:r>
            <a:endParaRPr lang="en-US" altLang="zh-CN" sz="2400" dirty="0">
              <a:latin typeface="Times New Roman" panose="02020603050405020304" pitchFamily="18" charset="0"/>
            </a:endParaRPr>
          </a:p>
        </p:txBody>
      </p:sp>
      <p:sp>
        <p:nvSpPr>
          <p:cNvPr id="97283" name="Text Box 10">
            <a:extLst>
              <a:ext uri="{FF2B5EF4-FFF2-40B4-BE49-F238E27FC236}">
                <a16:creationId xmlns:a16="http://schemas.microsoft.com/office/drawing/2014/main" id="{889477DA-C7A8-4542-B3A3-5CD5A50198D0}"/>
              </a:ext>
            </a:extLst>
          </p:cNvPr>
          <p:cNvSpPr txBox="1">
            <a:spLocks noChangeArrowheads="1"/>
          </p:cNvSpPr>
          <p:nvPr/>
        </p:nvSpPr>
        <p:spPr bwMode="auto">
          <a:xfrm>
            <a:off x="-12163" y="4884516"/>
            <a:ext cx="897582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Some state tables often have situations where three principles cannot be met at the same time. At this time, it can be considered in order of priority from </a:t>
            </a:r>
            <a:r>
              <a:rPr lang="zh-CN" altLang="en-US" dirty="0">
                <a:latin typeface="Times New Roman" panose="02020603050405020304" pitchFamily="18" charset="0"/>
              </a:rPr>
              <a:t>①</a:t>
            </a:r>
            <a:r>
              <a:rPr lang="en-US" altLang="zh-CN" dirty="0">
                <a:latin typeface="Times New Roman" panose="02020603050405020304" pitchFamily="18" charset="0"/>
              </a:rPr>
              <a:t> to </a:t>
            </a:r>
            <a:r>
              <a:rPr lang="zh-CN" altLang="en-US" dirty="0">
                <a:latin typeface="Times New Roman" panose="02020603050405020304" pitchFamily="18" charset="0"/>
              </a:rPr>
              <a:t>③</a:t>
            </a:r>
            <a:r>
              <a:rPr lang="en-US" altLang="zh-CN" dirty="0">
                <a:latin typeface="Times New Roman" panose="02020603050405020304" pitchFamily="18" charset="0"/>
              </a:rPr>
              <a:t>.</a:t>
            </a:r>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In addition, the initial state is generally assigned the "0" state in consideration of the actual operating state of the circuit.</a:t>
            </a:r>
            <a:endParaRPr lang="zh-CN" altLang="en-US" sz="2400" dirty="0">
              <a:solidFill>
                <a:srgbClr val="993300"/>
              </a:solidFill>
              <a:latin typeface="Times New Roman" panose="02020603050405020304" pitchFamily="18" charset="0"/>
            </a:endParaRPr>
          </a:p>
        </p:txBody>
      </p:sp>
      <p:pic>
        <p:nvPicPr>
          <p:cNvPr id="101380" name="Picture 11" descr="Right_Green">
            <a:hlinkClick r:id="" action="ppaction://hlinkshowjump?jump=nextslide"/>
            <a:extLst>
              <a:ext uri="{FF2B5EF4-FFF2-40B4-BE49-F238E27FC236}">
                <a16:creationId xmlns:a16="http://schemas.microsoft.com/office/drawing/2014/main" id="{E41D5B25-B51B-47DB-A447-72858E55C4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12" descr="Left_Green">
            <a:hlinkClick r:id="" action="ppaction://hlinkshowjump?jump=previousslide"/>
            <a:extLst>
              <a:ext uri="{FF2B5EF4-FFF2-40B4-BE49-F238E27FC236}">
                <a16:creationId xmlns:a16="http://schemas.microsoft.com/office/drawing/2014/main" id="{F12B232E-A5FB-44F2-B0CC-2B875872A2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5757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wipe(up)">
                                      <p:cBhvr>
                                        <p:cTn id="7" dur="500"/>
                                        <p:tgtEl>
                                          <p:spTgt spid="9728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7283"/>
                                        </p:tgtEl>
                                        <p:attrNameLst>
                                          <p:attrName>style.visibility</p:attrName>
                                        </p:attrNameLst>
                                      </p:cBhvr>
                                      <p:to>
                                        <p:strVal val="visible"/>
                                      </p:to>
                                    </p:set>
                                    <p:animEffect transition="in" filter="box(out)">
                                      <p:cBhvr>
                                        <p:cTn id="12" dur="500"/>
                                        <p:tgtEl>
                                          <p:spTgt spid="97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autoUpdateAnimBg="0"/>
      <p:bldP spid="9728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9">
            <a:extLst>
              <a:ext uri="{FF2B5EF4-FFF2-40B4-BE49-F238E27FC236}">
                <a16:creationId xmlns:a16="http://schemas.microsoft.com/office/drawing/2014/main" id="{CFAA8C54-2EFF-4C50-8D06-310AE4A15CDB}"/>
              </a:ext>
            </a:extLst>
          </p:cNvPr>
          <p:cNvSpPr txBox="1">
            <a:spLocks noChangeArrowheads="1"/>
          </p:cNvSpPr>
          <p:nvPr/>
        </p:nvSpPr>
        <p:spPr bwMode="auto">
          <a:xfrm>
            <a:off x="323528" y="404664"/>
            <a:ext cx="18614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III. Example</a:t>
            </a:r>
            <a:endParaRPr lang="zh-CN" altLang="en-US" sz="2400" b="1" dirty="0">
              <a:solidFill>
                <a:srgbClr val="CC3300"/>
              </a:solidFill>
              <a:latin typeface="Times New Roman" panose="02020603050405020304" pitchFamily="18" charset="0"/>
            </a:endParaRPr>
          </a:p>
        </p:txBody>
      </p:sp>
      <p:sp>
        <p:nvSpPr>
          <p:cNvPr id="98307" name="Text Box 10">
            <a:extLst>
              <a:ext uri="{FF2B5EF4-FFF2-40B4-BE49-F238E27FC236}">
                <a16:creationId xmlns:a16="http://schemas.microsoft.com/office/drawing/2014/main" id="{7AC5F39B-79E6-450B-81C1-6312EEBD4991}"/>
              </a:ext>
            </a:extLst>
          </p:cNvPr>
          <p:cNvSpPr txBox="1">
            <a:spLocks noChangeArrowheads="1"/>
          </p:cNvSpPr>
          <p:nvPr/>
        </p:nvSpPr>
        <p:spPr bwMode="auto">
          <a:xfrm>
            <a:off x="164123" y="866329"/>
            <a:ext cx="89505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FF3300"/>
                </a:solidFill>
                <a:latin typeface="Times New Roman" panose="02020603050405020304" pitchFamily="18" charset="0"/>
              </a:rPr>
              <a:t>Q:</a:t>
            </a:r>
            <a:r>
              <a:rPr lang="zh-CN" altLang="en-US" sz="2400" dirty="0">
                <a:latin typeface="Times New Roman" panose="02020603050405020304" pitchFamily="18" charset="0"/>
              </a:rPr>
              <a:t>　</a:t>
            </a:r>
            <a:r>
              <a:rPr lang="en-US" altLang="zh-CN" sz="2400" dirty="0">
                <a:latin typeface="Times New Roman" panose="02020603050405020304" pitchFamily="18" charset="0"/>
              </a:rPr>
              <a:t>Assign binary code for t</a:t>
            </a:r>
            <a:r>
              <a:rPr lang="en-US" altLang="zh-CN" dirty="0">
                <a:latin typeface="Times New Roman" panose="02020603050405020304" pitchFamily="18" charset="0"/>
              </a:rPr>
              <a:t>he following state table (set A to the initial state).</a:t>
            </a:r>
            <a:endParaRPr lang="zh-CN" altLang="en-US" sz="2400" dirty="0">
              <a:latin typeface="Times New Roman" panose="02020603050405020304" pitchFamily="18" charset="0"/>
            </a:endParaRPr>
          </a:p>
        </p:txBody>
      </p:sp>
      <p:graphicFrame>
        <p:nvGraphicFramePr>
          <p:cNvPr id="98308" name="Group 4">
            <a:extLst>
              <a:ext uri="{FF2B5EF4-FFF2-40B4-BE49-F238E27FC236}">
                <a16:creationId xmlns:a16="http://schemas.microsoft.com/office/drawing/2014/main" id="{F5896A67-9097-4FE7-BE77-381C4781FDFE}"/>
              </a:ext>
            </a:extLst>
          </p:cNvPr>
          <p:cNvGraphicFramePr>
            <a:graphicFrameLocks noGrp="1"/>
          </p:cNvGraphicFramePr>
          <p:nvPr>
            <p:extLst>
              <p:ext uri="{D42A27DB-BD31-4B8C-83A1-F6EECF244321}">
                <p14:modId xmlns:p14="http://schemas.microsoft.com/office/powerpoint/2010/main" val="1831133292"/>
              </p:ext>
            </p:extLst>
          </p:nvPr>
        </p:nvGraphicFramePr>
        <p:xfrm>
          <a:off x="2590800" y="1981200"/>
          <a:ext cx="3733800" cy="3114675"/>
        </p:xfrm>
        <a:graphic>
          <a:graphicData uri="http://schemas.openxmlformats.org/drawingml/2006/table">
            <a:tbl>
              <a:tblPr/>
              <a:tblGrid>
                <a:gridCol w="11938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518182">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Present state</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宋体" pitchFamily="2" charset="-122"/>
                        </a:rPr>
                        <a:t> </a:t>
                      </a:r>
                      <a:r>
                        <a:rPr kumimoji="0" lang="en-US" sz="2000" b="0" i="0" u="none" strike="noStrike" cap="none" normalizeH="0" baseline="0" dirty="0">
                          <a:ln>
                            <a:noFill/>
                          </a:ln>
                          <a:solidFill>
                            <a:schemeClr val="tx1"/>
                          </a:solidFill>
                          <a:effectLst/>
                          <a:latin typeface="Times New Roman" pitchFamily="18" charset="0"/>
                          <a:ea typeface="宋体" pitchFamily="2" charset="-122"/>
                        </a:rPr>
                        <a:t>  Next state/</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2076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C/1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B/0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8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B</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C</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C/0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8336" name="Text Box 41">
            <a:extLst>
              <a:ext uri="{FF2B5EF4-FFF2-40B4-BE49-F238E27FC236}">
                <a16:creationId xmlns:a16="http://schemas.microsoft.com/office/drawing/2014/main" id="{A14CFA2A-0FE5-49E3-A83F-E93CB84A34EF}"/>
              </a:ext>
            </a:extLst>
          </p:cNvPr>
          <p:cNvSpPr txBox="1">
            <a:spLocks noChangeArrowheads="1"/>
          </p:cNvSpPr>
          <p:nvPr/>
        </p:nvSpPr>
        <p:spPr bwMode="auto">
          <a:xfrm>
            <a:off x="364264" y="5160674"/>
            <a:ext cx="85502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b="1" dirty="0">
                <a:solidFill>
                  <a:srgbClr val="CC3300"/>
                </a:solidFill>
                <a:latin typeface="Times New Roman" panose="02020603050405020304" pitchFamily="18" charset="0"/>
              </a:rPr>
              <a:t>A:</a:t>
            </a:r>
            <a:r>
              <a:rPr lang="zh-CN" altLang="en-US" sz="2400" b="1" dirty="0">
                <a:solidFill>
                  <a:schemeClr val="accent1"/>
                </a:solidFill>
                <a:latin typeface="Times New Roman" panose="02020603050405020304" pitchFamily="18" charset="0"/>
              </a:rPr>
              <a:t>　</a:t>
            </a:r>
            <a:r>
              <a:rPr lang="en-US" altLang="zh-CN" dirty="0">
                <a:latin typeface="Times New Roman" panose="02020603050405020304" pitchFamily="18" charset="0"/>
              </a:rPr>
              <a:t>In the state table shown, the number of states is N = 4, so the length of the state code should be m=2. That is, the function of implementing the state table requires two flip-flops.</a:t>
            </a:r>
            <a:endParaRPr lang="zh-CN" altLang="en-US" sz="2400" dirty="0">
              <a:latin typeface="Times New Roman" panose="02020603050405020304" pitchFamily="18" charset="0"/>
            </a:endParaRPr>
          </a:p>
        </p:txBody>
      </p:sp>
      <p:pic>
        <p:nvPicPr>
          <p:cNvPr id="102433" name="Picture 46" descr="Right_Green">
            <a:hlinkClick r:id="" action="ppaction://hlinkshowjump?jump=nextslide"/>
            <a:extLst>
              <a:ext uri="{FF2B5EF4-FFF2-40B4-BE49-F238E27FC236}">
                <a16:creationId xmlns:a16="http://schemas.microsoft.com/office/drawing/2014/main" id="{BF34FBC2-DFF6-47CE-8759-F05A1EA8E7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4" name="Picture 47" descr="Left_Green">
            <a:hlinkClick r:id="" action="ppaction://hlinkshowjump?jump=previousslide"/>
            <a:extLst>
              <a:ext uri="{FF2B5EF4-FFF2-40B4-BE49-F238E27FC236}">
                <a16:creationId xmlns:a16="http://schemas.microsoft.com/office/drawing/2014/main" id="{1B02827F-123A-45E5-9220-721CE638FD0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8773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30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98307"/>
                                        </p:tgtEl>
                                        <p:attrNameLst>
                                          <p:attrName>style.visibility</p:attrName>
                                        </p:attrNameLst>
                                      </p:cBhvr>
                                      <p:to>
                                        <p:strVal val="visible"/>
                                      </p:to>
                                    </p:set>
                                    <p:animEffect transition="in" filter="slide(fromBottom)">
                                      <p:cBhvr>
                                        <p:cTn id="11" dur="500"/>
                                        <p:tgtEl>
                                          <p:spTgt spid="98307"/>
                                        </p:tgtEl>
                                      </p:cBhvr>
                                    </p:animEffect>
                                  </p:childTnLst>
                                </p:cTn>
                              </p:par>
                            </p:childTnLst>
                          </p:cTn>
                        </p:par>
                        <p:par>
                          <p:cTn id="12" fill="hold" nodeType="afterGroup">
                            <p:stCondLst>
                              <p:cond delay="500"/>
                            </p:stCondLst>
                            <p:childTnLst>
                              <p:par>
                                <p:cTn id="13" presetID="3" presetClass="entr" presetSubtype="10" fill="hold" nodeType="afterEffect">
                                  <p:stCondLst>
                                    <p:cond delay="0"/>
                                  </p:stCondLst>
                                  <p:childTnLst>
                                    <p:set>
                                      <p:cBhvr>
                                        <p:cTn id="14" dur="1" fill="hold">
                                          <p:stCondLst>
                                            <p:cond delay="0"/>
                                          </p:stCondLst>
                                        </p:cTn>
                                        <p:tgtEl>
                                          <p:spTgt spid="98308"/>
                                        </p:tgtEl>
                                        <p:attrNameLst>
                                          <p:attrName>style.visibility</p:attrName>
                                        </p:attrNameLst>
                                      </p:cBhvr>
                                      <p:to>
                                        <p:strVal val="visible"/>
                                      </p:to>
                                    </p:set>
                                    <p:animEffect transition="in" filter="blinds(horizontal)">
                                      <p:cBhvr>
                                        <p:cTn id="15" dur="500"/>
                                        <p:tgtEl>
                                          <p:spTgt spid="98308"/>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8336"/>
                                        </p:tgtEl>
                                        <p:attrNameLst>
                                          <p:attrName>style.visibility</p:attrName>
                                        </p:attrNameLst>
                                      </p:cBhvr>
                                      <p:to>
                                        <p:strVal val="visible"/>
                                      </p:to>
                                    </p:set>
                                    <p:animEffect transition="in" filter="blinds(horizontal)">
                                      <p:cBhvr>
                                        <p:cTn id="20" dur="500"/>
                                        <p:tgtEl>
                                          <p:spTgt spid="98336"/>
                                        </p:tgtEl>
                                      </p:cBhvr>
                                    </p:animEffect>
                                  </p:childTnLst>
                                  <p:subTnLst>
                                    <p:audio>
                                      <p:cMediaNode>
                                        <p:cTn display="0" masterRel="sameClick">
                                          <p:stCondLst>
                                            <p:cond evt="begin" delay="0">
                                              <p:tn val="18"/>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07" grpId="0" autoUpdateAnimBg="0"/>
      <p:bldP spid="9833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10">
            <a:extLst>
              <a:ext uri="{FF2B5EF4-FFF2-40B4-BE49-F238E27FC236}">
                <a16:creationId xmlns:a16="http://schemas.microsoft.com/office/drawing/2014/main" id="{93F26E49-BAC3-4525-BAF9-E42EABB3211B}"/>
              </a:ext>
            </a:extLst>
          </p:cNvPr>
          <p:cNvSpPr txBox="1">
            <a:spLocks noChangeArrowheads="1"/>
          </p:cNvSpPr>
          <p:nvPr/>
        </p:nvSpPr>
        <p:spPr bwMode="auto">
          <a:xfrm>
            <a:off x="0" y="0"/>
            <a:ext cx="550810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sz="2000" dirty="0">
                <a:latin typeface="Times New Roman" panose="02020603050405020304" pitchFamily="18" charset="0"/>
              </a:rPr>
              <a:t>According to the code assignment principle of the adjacent method, the adjacent relationship of the four states is as follows:</a:t>
            </a:r>
          </a:p>
          <a:p>
            <a:pPr eaLnBrk="1" hangingPunct="1"/>
            <a:r>
              <a:rPr lang="en-US" altLang="zh-CN" sz="2000" dirty="0">
                <a:latin typeface="Times New Roman" panose="02020603050405020304" pitchFamily="18" charset="0"/>
              </a:rPr>
              <a:t>Based on Rule </a:t>
            </a:r>
            <a:r>
              <a:rPr lang="zh-CN" altLang="en-US" sz="2000" dirty="0">
                <a:solidFill>
                  <a:schemeClr val="tx2"/>
                </a:solidFill>
                <a:latin typeface="Times New Roman" panose="02020603050405020304" pitchFamily="18" charset="0"/>
              </a:rPr>
              <a:t>①，</a:t>
            </a:r>
            <a:r>
              <a:rPr lang="en-US" altLang="zh-CN" sz="2000" dirty="0">
                <a:solidFill>
                  <a:schemeClr val="tx2"/>
                </a:solidFill>
                <a:latin typeface="Times New Roman" panose="02020603050405020304" pitchFamily="18" charset="0"/>
              </a:rPr>
              <a:t>States B</a:t>
            </a:r>
            <a:r>
              <a:rPr lang="zh-CN" altLang="en-US" sz="2000" dirty="0">
                <a:solidFill>
                  <a:schemeClr val="tx2"/>
                </a:solidFill>
                <a:latin typeface="Times New Roman" panose="02020603050405020304" pitchFamily="18" charset="0"/>
              </a:rPr>
              <a:t> </a:t>
            </a:r>
            <a:r>
              <a:rPr lang="en-US" altLang="zh-CN" sz="2000" dirty="0">
                <a:solidFill>
                  <a:schemeClr val="tx2"/>
                </a:solidFill>
                <a:latin typeface="Times New Roman" panose="02020603050405020304" pitchFamily="18" charset="0"/>
              </a:rPr>
              <a:t>and C should be assigned the adjacent binary codes</a:t>
            </a:r>
            <a:r>
              <a:rPr lang="zh-CN" altLang="en-US" sz="2000" dirty="0">
                <a:solidFill>
                  <a:schemeClr val="tx2"/>
                </a:solidFill>
                <a:latin typeface="Times New Roman" panose="02020603050405020304" pitchFamily="18" charset="0"/>
              </a:rPr>
              <a:t>；</a:t>
            </a:r>
          </a:p>
          <a:p>
            <a:pPr algn="just" eaLnBrk="1" hangingPunct="1"/>
            <a:r>
              <a:rPr lang="en-US" altLang="zh-CN" sz="2000" dirty="0">
                <a:solidFill>
                  <a:schemeClr val="tx2"/>
                </a:solidFill>
                <a:latin typeface="Times New Roman" panose="02020603050405020304" pitchFamily="18" charset="0"/>
              </a:rPr>
              <a:t>Based on Rule </a:t>
            </a:r>
            <a:r>
              <a:rPr lang="zh-CN" altLang="en-US" sz="2000" dirty="0">
                <a:solidFill>
                  <a:schemeClr val="tx2"/>
                </a:solidFill>
                <a:latin typeface="Times New Roman" panose="02020603050405020304" pitchFamily="18" charset="0"/>
              </a:rPr>
              <a:t>②，</a:t>
            </a:r>
            <a:r>
              <a:rPr lang="en-US" altLang="zh-CN" sz="2000" dirty="0">
                <a:solidFill>
                  <a:schemeClr val="tx2"/>
                </a:solidFill>
                <a:latin typeface="Times New Roman" panose="02020603050405020304" pitchFamily="18" charset="0"/>
              </a:rPr>
              <a:t>States B</a:t>
            </a:r>
            <a:r>
              <a:rPr lang="zh-CN" altLang="en-US" sz="2000" dirty="0">
                <a:solidFill>
                  <a:schemeClr val="tx2"/>
                </a:solidFill>
                <a:latin typeface="Times New Roman" panose="02020603050405020304" pitchFamily="18" charset="0"/>
              </a:rPr>
              <a:t> </a:t>
            </a:r>
            <a:r>
              <a:rPr lang="en-US" altLang="zh-CN" sz="2000" dirty="0">
                <a:solidFill>
                  <a:schemeClr val="tx2"/>
                </a:solidFill>
                <a:latin typeface="Times New Roman" panose="02020603050405020304" pitchFamily="18" charset="0"/>
              </a:rPr>
              <a:t>and C, A</a:t>
            </a:r>
            <a:r>
              <a:rPr lang="zh-CN" altLang="en-US" sz="2000" dirty="0">
                <a:solidFill>
                  <a:schemeClr val="tx2"/>
                </a:solidFill>
                <a:latin typeface="Times New Roman" panose="02020603050405020304" pitchFamily="18" charset="0"/>
              </a:rPr>
              <a:t> </a:t>
            </a:r>
            <a:r>
              <a:rPr lang="en-US" altLang="zh-CN" sz="2000" dirty="0">
                <a:solidFill>
                  <a:schemeClr val="tx2"/>
                </a:solidFill>
                <a:latin typeface="Times New Roman" panose="02020603050405020304" pitchFamily="18" charset="0"/>
              </a:rPr>
              <a:t>and D, C and D should be assigned the adjacent binary codes </a:t>
            </a:r>
            <a:r>
              <a:rPr lang="zh-CN" altLang="en-US" sz="2000" dirty="0">
                <a:solidFill>
                  <a:schemeClr val="tx2"/>
                </a:solidFill>
                <a:latin typeface="Times New Roman" panose="02020603050405020304" pitchFamily="18" charset="0"/>
              </a:rPr>
              <a:t>；</a:t>
            </a:r>
          </a:p>
          <a:p>
            <a:pPr algn="just" eaLnBrk="1" hangingPunct="1"/>
            <a:r>
              <a:rPr lang="en-US" altLang="zh-CN" sz="2000" dirty="0">
                <a:solidFill>
                  <a:schemeClr val="tx2"/>
                </a:solidFill>
                <a:latin typeface="Times New Roman" panose="02020603050405020304" pitchFamily="18" charset="0"/>
              </a:rPr>
              <a:t>Based on Rule </a:t>
            </a:r>
            <a:r>
              <a:rPr lang="zh-CN" altLang="en-US" sz="2000" dirty="0">
                <a:solidFill>
                  <a:schemeClr val="tx2"/>
                </a:solidFill>
                <a:latin typeface="Times New Roman" panose="02020603050405020304" pitchFamily="18" charset="0"/>
              </a:rPr>
              <a:t>③，</a:t>
            </a:r>
            <a:r>
              <a:rPr lang="en-US" altLang="zh-CN" sz="2000" dirty="0">
                <a:solidFill>
                  <a:schemeClr val="tx2"/>
                </a:solidFill>
                <a:latin typeface="Times New Roman" panose="02020603050405020304" pitchFamily="18" charset="0"/>
              </a:rPr>
              <a:t>State A</a:t>
            </a:r>
            <a:r>
              <a:rPr lang="zh-CN" altLang="en-US" sz="2000" dirty="0">
                <a:solidFill>
                  <a:schemeClr val="tx2"/>
                </a:solidFill>
                <a:latin typeface="Times New Roman" panose="02020603050405020304" pitchFamily="18" charset="0"/>
              </a:rPr>
              <a:t> </a:t>
            </a:r>
            <a:r>
              <a:rPr lang="en-US" altLang="zh-CN" sz="2000" dirty="0">
                <a:solidFill>
                  <a:schemeClr val="tx2"/>
                </a:solidFill>
                <a:latin typeface="Times New Roman" panose="02020603050405020304" pitchFamily="18" charset="0"/>
              </a:rPr>
              <a:t>and D should be assigned the adjacent binary codes .</a:t>
            </a:r>
            <a:r>
              <a:rPr lang="zh-CN" altLang="en-US" sz="2000" b="1" dirty="0">
                <a:solidFill>
                  <a:schemeClr val="tx2"/>
                </a:solidFill>
                <a:latin typeface="Times New Roman" panose="02020603050405020304" pitchFamily="18" charset="0"/>
              </a:rPr>
              <a:t></a:t>
            </a:r>
          </a:p>
          <a:p>
            <a:pPr algn="just" eaLnBrk="1" hangingPunct="1"/>
            <a:r>
              <a:rPr lang="en-US" altLang="zh-CN" sz="2000" dirty="0">
                <a:latin typeface="Times New Roman" panose="02020603050405020304" pitchFamily="18" charset="0"/>
              </a:rPr>
              <a:t>Collectively considering </a:t>
            </a:r>
            <a:r>
              <a:rPr lang="zh-CN" altLang="en-US" sz="2000" dirty="0">
                <a:latin typeface="Times New Roman" panose="02020603050405020304" pitchFamily="18" charset="0"/>
              </a:rPr>
              <a:t>①</a:t>
            </a:r>
            <a:r>
              <a:rPr lang="en-US" altLang="zh-CN" sz="2000" dirty="0">
                <a:latin typeface="Times New Roman" panose="02020603050405020304" pitchFamily="18" charset="0"/>
              </a:rPr>
              <a:t>~③</a:t>
            </a:r>
            <a:r>
              <a:rPr lang="zh-CN" altLang="en-US" sz="2000" dirty="0">
                <a:latin typeface="Times New Roman" panose="02020603050405020304" pitchFamily="18" charset="0"/>
              </a:rPr>
              <a:t>，</a:t>
            </a:r>
            <a:r>
              <a:rPr lang="en-US" altLang="zh-CN" sz="2000" dirty="0">
                <a:solidFill>
                  <a:srgbClr val="000099"/>
                </a:solidFill>
                <a:latin typeface="Times New Roman" panose="02020603050405020304" pitchFamily="18" charset="0"/>
              </a:rPr>
              <a:t>State assignments are required to satisfy B and C, A and D, C and D adjacent.</a:t>
            </a:r>
          </a:p>
          <a:p>
            <a:pPr algn="just" eaLnBrk="1" hangingPunct="1"/>
            <a:r>
              <a:rPr lang="en-US" altLang="zh-CN" sz="2000" dirty="0">
                <a:solidFill>
                  <a:srgbClr val="000099"/>
                </a:solidFill>
                <a:latin typeface="Times New Roman" panose="02020603050405020304" pitchFamily="18" charset="0"/>
              </a:rPr>
              <a:t>In order to intuitively assign the codes, the Karnaugh map is usually used as a tool for state assignment.</a:t>
            </a:r>
            <a:endParaRPr lang="zh-CN" altLang="en-US" sz="2000" dirty="0">
              <a:latin typeface="Times New Roman" panose="02020603050405020304" pitchFamily="18" charset="0"/>
            </a:endParaRPr>
          </a:p>
        </p:txBody>
      </p:sp>
      <p:sp>
        <p:nvSpPr>
          <p:cNvPr id="99331" name="Text Box 11">
            <a:extLst>
              <a:ext uri="{FF2B5EF4-FFF2-40B4-BE49-F238E27FC236}">
                <a16:creationId xmlns:a16="http://schemas.microsoft.com/office/drawing/2014/main" id="{49E36C79-A96A-47CA-B793-9F96E162872E}"/>
              </a:ext>
            </a:extLst>
          </p:cNvPr>
          <p:cNvSpPr txBox="1">
            <a:spLocks noChangeArrowheads="1"/>
          </p:cNvSpPr>
          <p:nvPr/>
        </p:nvSpPr>
        <p:spPr bwMode="auto">
          <a:xfrm>
            <a:off x="-33338" y="5061148"/>
            <a:ext cx="6210275"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000" dirty="0">
                <a:latin typeface="Times New Roman" panose="02020603050405020304" pitchFamily="18" charset="0"/>
              </a:rPr>
              <a:t>Assume states are presented by y</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y</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a:t>
            </a:r>
            <a:r>
              <a:rPr lang="en-US" altLang="zh-CN" sz="2000" dirty="0">
                <a:latin typeface="Times New Roman" panose="02020603050405020304" pitchFamily="18" charset="0"/>
              </a:rPr>
              <a:t>And assign A to "0", an assignment scheme that satisfies the above-mentioned neighbor relationship as shown in the right figure. </a:t>
            </a:r>
            <a:r>
              <a:rPr lang="en-US" altLang="zh-CN" sz="2000" dirty="0">
                <a:solidFill>
                  <a:srgbClr val="FF0000"/>
                </a:solidFill>
                <a:latin typeface="Times New Roman" panose="02020603050405020304" pitchFamily="18" charset="0"/>
              </a:rPr>
              <a:t>That is, the state codes of states A, B, C, and D are sequentially 00, 01, 11, and 10 of y2y1.</a:t>
            </a:r>
            <a:endParaRPr lang="zh-CN" altLang="en-US" sz="2000" b="1" dirty="0">
              <a:solidFill>
                <a:srgbClr val="FF0000"/>
              </a:solidFill>
              <a:latin typeface="Times New Roman" panose="02020603050405020304" pitchFamily="18" charset="0"/>
            </a:endParaRPr>
          </a:p>
        </p:txBody>
      </p:sp>
      <p:pic>
        <p:nvPicPr>
          <p:cNvPr id="99332" name="Picture 12" descr="TU5-28">
            <a:extLst>
              <a:ext uri="{FF2B5EF4-FFF2-40B4-BE49-F238E27FC236}">
                <a16:creationId xmlns:a16="http://schemas.microsoft.com/office/drawing/2014/main" id="{11F52CCD-D364-4537-9190-F25AF9E2E412}"/>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5943600" y="4114800"/>
            <a:ext cx="23622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57" name="Picture 51" descr="Right_Green">
            <a:hlinkClick r:id="" action="ppaction://hlinkshowjump?jump=nextslide"/>
            <a:extLst>
              <a:ext uri="{FF2B5EF4-FFF2-40B4-BE49-F238E27FC236}">
                <a16:creationId xmlns:a16="http://schemas.microsoft.com/office/drawing/2014/main" id="{01F4F1D8-37AB-4406-A8A5-B58B28CB8D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58" name="Picture 52" descr="Left_Green">
            <a:hlinkClick r:id="" action="ppaction://hlinkshowjump?jump=previousslide"/>
            <a:extLst>
              <a:ext uri="{FF2B5EF4-FFF2-40B4-BE49-F238E27FC236}">
                <a16:creationId xmlns:a16="http://schemas.microsoft.com/office/drawing/2014/main" id="{815D5656-082B-4A31-BA85-4C95F74812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Group 4">
            <a:extLst>
              <a:ext uri="{FF2B5EF4-FFF2-40B4-BE49-F238E27FC236}">
                <a16:creationId xmlns:a16="http://schemas.microsoft.com/office/drawing/2014/main" id="{0DAECE41-463A-4957-A239-B2E9B7AB2B1E}"/>
              </a:ext>
            </a:extLst>
          </p:cNvPr>
          <p:cNvGraphicFramePr>
            <a:graphicFrameLocks noGrp="1"/>
          </p:cNvGraphicFramePr>
          <p:nvPr>
            <p:extLst>
              <p:ext uri="{D42A27DB-BD31-4B8C-83A1-F6EECF244321}">
                <p14:modId xmlns:p14="http://schemas.microsoft.com/office/powerpoint/2010/main" val="539140333"/>
              </p:ext>
            </p:extLst>
          </p:nvPr>
        </p:nvGraphicFramePr>
        <p:xfrm>
          <a:off x="5508104" y="692696"/>
          <a:ext cx="3733800" cy="3114675"/>
        </p:xfrm>
        <a:graphic>
          <a:graphicData uri="http://schemas.openxmlformats.org/drawingml/2006/table">
            <a:tbl>
              <a:tblPr/>
              <a:tblGrid>
                <a:gridCol w="11938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518182">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Present state</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宋体" pitchFamily="2" charset="-122"/>
                        </a:rPr>
                        <a:t> </a:t>
                      </a:r>
                      <a:r>
                        <a:rPr kumimoji="0" lang="en-US" sz="2000" b="0" i="0" u="none" strike="noStrike" cap="none" normalizeH="0" baseline="0" dirty="0">
                          <a:ln>
                            <a:noFill/>
                          </a:ln>
                          <a:solidFill>
                            <a:schemeClr val="tx1"/>
                          </a:solidFill>
                          <a:effectLst/>
                          <a:latin typeface="Times New Roman" pitchFamily="18" charset="0"/>
                          <a:ea typeface="宋体" pitchFamily="2" charset="-122"/>
                        </a:rPr>
                        <a:t>  Next state/</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2076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C/1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B/0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8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B</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C</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D/1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C/0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02841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wipe(up)">
                                      <p:cBhvr>
                                        <p:cTn id="7" dur="500"/>
                                        <p:tgtEl>
                                          <p:spTgt spid="99330"/>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9331"/>
                                        </p:tgtEl>
                                        <p:attrNameLst>
                                          <p:attrName>style.visibility</p:attrName>
                                        </p:attrNameLst>
                                      </p:cBhvr>
                                      <p:to>
                                        <p:strVal val="visible"/>
                                      </p:to>
                                    </p:set>
                                    <p:anim calcmode="lin" valueType="num">
                                      <p:cBhvr additive="base">
                                        <p:cTn id="12" dur="500" fill="hold"/>
                                        <p:tgtEl>
                                          <p:spTgt spid="99331"/>
                                        </p:tgtEl>
                                        <p:attrNameLst>
                                          <p:attrName>ppt_x</p:attrName>
                                        </p:attrNameLst>
                                      </p:cBhvr>
                                      <p:tavLst>
                                        <p:tav tm="0">
                                          <p:val>
                                            <p:strVal val="#ppt_x"/>
                                          </p:val>
                                        </p:tav>
                                        <p:tav tm="100000">
                                          <p:val>
                                            <p:strVal val="#ppt_x"/>
                                          </p:val>
                                        </p:tav>
                                      </p:tavLst>
                                    </p:anim>
                                    <p:anim calcmode="lin" valueType="num">
                                      <p:cBhvr additive="base">
                                        <p:cTn id="13" dur="500" fill="hold"/>
                                        <p:tgtEl>
                                          <p:spTgt spid="99331"/>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
                            </p:stCondLst>
                            <p:childTnLst>
                              <p:par>
                                <p:cTn id="15" presetID="9" presetClass="entr" presetSubtype="0" fill="hold" nodeType="afterEffect">
                                  <p:stCondLst>
                                    <p:cond delay="0"/>
                                  </p:stCondLst>
                                  <p:childTnLst>
                                    <p:set>
                                      <p:cBhvr>
                                        <p:cTn id="16" dur="1" fill="hold">
                                          <p:stCondLst>
                                            <p:cond delay="0"/>
                                          </p:stCondLst>
                                        </p:cTn>
                                        <p:tgtEl>
                                          <p:spTgt spid="99332"/>
                                        </p:tgtEl>
                                        <p:attrNameLst>
                                          <p:attrName>style.visibility</p:attrName>
                                        </p:attrNameLst>
                                      </p:cBhvr>
                                      <p:to>
                                        <p:strVal val="visible"/>
                                      </p:to>
                                    </p:set>
                                    <p:animEffect transition="in" filter="dissolve">
                                      <p:cBhvr>
                                        <p:cTn id="17" dur="500"/>
                                        <p:tgtEl>
                                          <p:spTgt spid="99332"/>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par>
                          <p:cTn id="18" fill="hold">
                            <p:stCondLst>
                              <p:cond delay="1000"/>
                            </p:stCondLst>
                            <p:childTnLst>
                              <p:par>
                                <p:cTn id="19" presetID="3" presetClass="entr" presetSubtype="1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autoUpdateAnimBg="0"/>
      <p:bldP spid="9933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8">
            <a:extLst>
              <a:ext uri="{FF2B5EF4-FFF2-40B4-BE49-F238E27FC236}">
                <a16:creationId xmlns:a16="http://schemas.microsoft.com/office/drawing/2014/main" id="{1D76AF36-7FE2-4B79-8784-E77A4FC588E1}"/>
              </a:ext>
            </a:extLst>
          </p:cNvPr>
          <p:cNvSpPr txBox="1">
            <a:spLocks noChangeArrowheads="1"/>
          </p:cNvSpPr>
          <p:nvPr/>
        </p:nvSpPr>
        <p:spPr bwMode="auto">
          <a:xfrm>
            <a:off x="304800" y="355600"/>
            <a:ext cx="84740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states A, B, C, and D in the state table are replaced by codes 00, 01, 11, and 10, respectively, to obtain a binary state table of the state table as shown in the table below.</a:t>
            </a:r>
            <a:endParaRPr lang="zh-CN" altLang="en-US" sz="2400" dirty="0">
              <a:latin typeface="Times New Roman" panose="02020603050405020304" pitchFamily="18" charset="0"/>
            </a:endParaRPr>
          </a:p>
        </p:txBody>
      </p:sp>
      <p:sp>
        <p:nvSpPr>
          <p:cNvPr id="100355" name="Text Box 11">
            <a:extLst>
              <a:ext uri="{FF2B5EF4-FFF2-40B4-BE49-F238E27FC236}">
                <a16:creationId xmlns:a16="http://schemas.microsoft.com/office/drawing/2014/main" id="{EA4D6DEC-61CC-40DE-A350-07E19D317A42}"/>
              </a:ext>
            </a:extLst>
          </p:cNvPr>
          <p:cNvSpPr txBox="1">
            <a:spLocks noChangeArrowheads="1"/>
          </p:cNvSpPr>
          <p:nvPr/>
        </p:nvSpPr>
        <p:spPr bwMode="auto">
          <a:xfrm>
            <a:off x="304800" y="5308600"/>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zh-CN" altLang="en-US" sz="2400" dirty="0">
                <a:solidFill>
                  <a:srgbClr val="FF3300"/>
                </a:solidFill>
                <a:latin typeface="Times New Roman" panose="02020603050405020304" pitchFamily="18" charset="0"/>
              </a:rPr>
              <a:t>　</a:t>
            </a:r>
            <a:r>
              <a:rPr lang="en-US" altLang="zh-CN" sz="2400" b="1" dirty="0">
                <a:solidFill>
                  <a:srgbClr val="FF3300"/>
                </a:solidFill>
                <a:latin typeface="Times New Roman" panose="02020603050405020304" pitchFamily="18" charset="0"/>
              </a:rPr>
              <a:t>Note</a:t>
            </a:r>
            <a:r>
              <a:rPr lang="zh-CN" altLang="en-US" sz="2400" b="1" dirty="0">
                <a:solidFill>
                  <a:srgbClr val="FF3300"/>
                </a:solidFill>
                <a:latin typeface="Times New Roman" panose="02020603050405020304" pitchFamily="18" charset="0"/>
              </a:rPr>
              <a:t>：</a:t>
            </a:r>
            <a:r>
              <a:rPr lang="en-US" altLang="zh-CN" dirty="0">
                <a:latin typeface="Times New Roman" panose="02020603050405020304" pitchFamily="18" charset="0"/>
              </a:rPr>
              <a:t>There are usually many options for meeting the assignment principle, and the designer can choose one of them.</a:t>
            </a:r>
            <a:endParaRPr lang="zh-CN" altLang="en-US" sz="2400" dirty="0">
              <a:latin typeface="Times New Roman" panose="02020603050405020304" pitchFamily="18" charset="0"/>
            </a:endParaRPr>
          </a:p>
        </p:txBody>
      </p:sp>
      <p:graphicFrame>
        <p:nvGraphicFramePr>
          <p:cNvPr id="100356" name="Group 4">
            <a:extLst>
              <a:ext uri="{FF2B5EF4-FFF2-40B4-BE49-F238E27FC236}">
                <a16:creationId xmlns:a16="http://schemas.microsoft.com/office/drawing/2014/main" id="{CDC38EC0-CD10-481B-AABB-1289FB1C89A1}"/>
              </a:ext>
            </a:extLst>
          </p:cNvPr>
          <p:cNvGraphicFramePr>
            <a:graphicFrameLocks noGrp="1"/>
          </p:cNvGraphicFramePr>
          <p:nvPr>
            <p:extLst>
              <p:ext uri="{D42A27DB-BD31-4B8C-83A1-F6EECF244321}">
                <p14:modId xmlns:p14="http://schemas.microsoft.com/office/powerpoint/2010/main" val="265373467"/>
              </p:ext>
            </p:extLst>
          </p:nvPr>
        </p:nvGraphicFramePr>
        <p:xfrm>
          <a:off x="4800600" y="1905000"/>
          <a:ext cx="3886200" cy="3290888"/>
        </p:xfrm>
        <a:graphic>
          <a:graphicData uri="http://schemas.openxmlformats.org/drawingml/2006/table">
            <a:tbl>
              <a:tblPr/>
              <a:tblGrid>
                <a:gridCol w="914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517525">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rPr>
                        <a:t>Present state</a:t>
                      </a:r>
                      <a:endParaRPr kumimoji="0" lang="zh-CN" altLang="en-US" sz="18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rPr>
                        <a:t> </a:t>
                      </a:r>
                      <a:r>
                        <a:rPr kumimoji="0" lang="en-US" sz="2400" b="0" i="0" u="none" strike="noStrike" cap="none" normalizeH="0" baseline="0" dirty="0">
                          <a:ln>
                            <a:noFill/>
                          </a:ln>
                          <a:solidFill>
                            <a:schemeClr val="tx1"/>
                          </a:solidFill>
                          <a:effectLst/>
                          <a:latin typeface="Times New Roman" pitchFamily="18" charset="0"/>
                          <a:ea typeface="宋体" pitchFamily="2" charset="-122"/>
                        </a:rPr>
                        <a:t>y</a:t>
                      </a:r>
                      <a:r>
                        <a:rPr kumimoji="0" lang="en-US" sz="2400" b="0" i="0" u="none" strike="noStrike" cap="none" normalizeH="0" baseline="-25000" dirty="0">
                          <a:ln>
                            <a:noFill/>
                          </a:ln>
                          <a:solidFill>
                            <a:schemeClr val="tx1"/>
                          </a:solidFill>
                          <a:effectLst/>
                          <a:latin typeface="Times New Roman" pitchFamily="18" charset="0"/>
                          <a:ea typeface="宋体" pitchFamily="2" charset="-122"/>
                        </a:rPr>
                        <a:t>2</a:t>
                      </a:r>
                      <a:r>
                        <a:rPr kumimoji="0" lang="en-US" sz="2400" b="0" i="0" u="none" strike="noStrike" cap="none" normalizeH="0" baseline="0" dirty="0">
                          <a:ln>
                            <a:noFill/>
                          </a:ln>
                          <a:solidFill>
                            <a:schemeClr val="tx1"/>
                          </a:solidFill>
                          <a:effectLst/>
                          <a:latin typeface="Times New Roman" pitchFamily="18" charset="0"/>
                          <a:ea typeface="宋体" pitchFamily="2" charset="-122"/>
                        </a:rPr>
                        <a:t>y</a:t>
                      </a:r>
                      <a:r>
                        <a:rPr kumimoji="0" lang="en-US" sz="2400" b="0" i="0" u="none" strike="noStrike" cap="none" normalizeH="0" baseline="-25000" dirty="0">
                          <a:ln>
                            <a:noFill/>
                          </a:ln>
                          <a:solidFill>
                            <a:schemeClr val="tx1"/>
                          </a:solidFill>
                          <a:effectLst/>
                          <a:latin typeface="Times New Roman" pitchFamily="18" charset="0"/>
                          <a:ea typeface="宋体" pitchFamily="2" charset="-122"/>
                        </a:rPr>
                        <a:t>1</a:t>
                      </a:r>
                      <a:endParaRPr kumimoji="0" lang="en-US" sz="2000" b="0" i="0" u="none" strike="noStrike" cap="none" normalizeH="0" baseline="-25000" dirty="0">
                        <a:ln>
                          <a:noFill/>
                        </a:ln>
                        <a:solidFill>
                          <a:schemeClr val="tx1"/>
                        </a:solidFill>
                        <a:effectLst/>
                        <a:latin typeface="Times New Roman" pitchFamily="18" charset="0"/>
                        <a:ea typeface="宋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rPr>
                        <a:t>Next state/</a:t>
                      </a:r>
                      <a:r>
                        <a:rPr kumimoji="0" lang="en-US" sz="1800" b="0" i="0" u="none" strike="noStrike" cap="none" normalizeH="0" baseline="0" dirty="0">
                          <a:ln>
                            <a:noFill/>
                          </a:ln>
                          <a:solidFill>
                            <a:schemeClr val="tx1"/>
                          </a:solidFill>
                          <a:effectLst/>
                          <a:latin typeface="Times New Roman" pitchFamily="18" charset="0"/>
                          <a:ea typeface="宋体" pitchFamily="2" charset="-122"/>
                        </a:rPr>
                        <a:t>y</a:t>
                      </a:r>
                      <a:r>
                        <a:rPr kumimoji="0" lang="en-US" sz="1800" b="0" i="0" u="none" strike="noStrike" cap="none" normalizeH="0" baseline="-25000" dirty="0">
                          <a:ln>
                            <a:noFill/>
                          </a:ln>
                          <a:solidFill>
                            <a:schemeClr val="tx1"/>
                          </a:solidFill>
                          <a:effectLst/>
                          <a:latin typeface="Times New Roman" pitchFamily="18" charset="0"/>
                          <a:ea typeface="宋体" pitchFamily="2" charset="-122"/>
                        </a:rPr>
                        <a:t>2</a:t>
                      </a:r>
                      <a:r>
                        <a:rPr kumimoji="0" lang="en-US" sz="1800" b="0" i="0" u="none" strike="noStrike" cap="none" normalizeH="0" baseline="30000" dirty="0">
                          <a:ln>
                            <a:noFill/>
                          </a:ln>
                          <a:solidFill>
                            <a:schemeClr val="tx1"/>
                          </a:solidFill>
                          <a:effectLst/>
                          <a:latin typeface="Times New Roman" pitchFamily="18" charset="0"/>
                          <a:ea typeface="宋体" pitchFamily="2" charset="-122"/>
                        </a:rPr>
                        <a:t>(n+1)</a:t>
                      </a:r>
                      <a:r>
                        <a:rPr kumimoji="0" lang="en-US" sz="1800" b="0" i="0" u="none" strike="noStrike" cap="none" normalizeH="0" baseline="0" dirty="0">
                          <a:ln>
                            <a:noFill/>
                          </a:ln>
                          <a:solidFill>
                            <a:schemeClr val="tx1"/>
                          </a:solidFill>
                          <a:effectLst/>
                          <a:latin typeface="Times New Roman" pitchFamily="18" charset="0"/>
                          <a:ea typeface="宋体" pitchFamily="2" charset="-122"/>
                        </a:rPr>
                        <a:t>y</a:t>
                      </a:r>
                      <a:r>
                        <a:rPr kumimoji="0" lang="en-US" sz="1800" b="0" i="0" u="none" strike="noStrike" cap="none" normalizeH="0" baseline="-25000" dirty="0">
                          <a:ln>
                            <a:noFill/>
                          </a:ln>
                          <a:solidFill>
                            <a:schemeClr val="tx1"/>
                          </a:solidFill>
                          <a:effectLst/>
                          <a:latin typeface="Times New Roman" pitchFamily="18" charset="0"/>
                          <a:ea typeface="宋体" pitchFamily="2" charset="-122"/>
                        </a:rPr>
                        <a:t>1</a:t>
                      </a:r>
                      <a:r>
                        <a:rPr kumimoji="0" lang="en-US" sz="1800" b="0" i="0" u="none" strike="noStrike" cap="none" normalizeH="0" baseline="30000" dirty="0">
                          <a:ln>
                            <a:noFill/>
                          </a:ln>
                          <a:solidFill>
                            <a:schemeClr val="tx1"/>
                          </a:solidFill>
                          <a:effectLst/>
                          <a:latin typeface="Times New Roman" pitchFamily="18" charset="0"/>
                          <a:ea typeface="宋体" pitchFamily="2" charset="-122"/>
                        </a:rPr>
                        <a:t>(n+1)</a:t>
                      </a:r>
                      <a:r>
                        <a:rPr kumimoji="0" lang="en-US" sz="18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1800" b="0" i="0" u="none" strike="noStrike" cap="none" normalizeH="0" baseline="0" dirty="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6350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x=0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x=1</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01/0</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07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00/1</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00/1</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10/1</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10</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10/0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11/0</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0384" name="AutoShape 104">
            <a:extLst>
              <a:ext uri="{FF2B5EF4-FFF2-40B4-BE49-F238E27FC236}">
                <a16:creationId xmlns:a16="http://schemas.microsoft.com/office/drawing/2014/main" id="{D0C303B1-99CC-4137-8FBC-E5868DA3BE1F}"/>
              </a:ext>
            </a:extLst>
          </p:cNvPr>
          <p:cNvSpPr>
            <a:spLocks noChangeArrowheads="1"/>
          </p:cNvSpPr>
          <p:nvPr/>
        </p:nvSpPr>
        <p:spPr bwMode="auto">
          <a:xfrm>
            <a:off x="4038600" y="3505200"/>
            <a:ext cx="533400" cy="381000"/>
          </a:xfrm>
          <a:prstGeom prst="rightArrow">
            <a:avLst>
              <a:gd name="adj1" fmla="val 50000"/>
              <a:gd name="adj2" fmla="val 35000"/>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104509" name="Picture 145" descr="Right_Green">
            <a:hlinkClick r:id="" action="ppaction://hlinkshowjump?jump=nextslide"/>
            <a:extLst>
              <a:ext uri="{FF2B5EF4-FFF2-40B4-BE49-F238E27FC236}">
                <a16:creationId xmlns:a16="http://schemas.microsoft.com/office/drawing/2014/main" id="{83720753-B264-49BA-8208-5A7536DC4C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510" name="Picture 146" descr="Left_Green">
            <a:hlinkClick r:id="" action="ppaction://hlinkshowjump?jump=previousslide"/>
            <a:extLst>
              <a:ext uri="{FF2B5EF4-FFF2-40B4-BE49-F238E27FC236}">
                <a16:creationId xmlns:a16="http://schemas.microsoft.com/office/drawing/2014/main" id="{48EDE856-5868-4123-AB67-B8C8D72CA5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Group 4">
            <a:extLst>
              <a:ext uri="{FF2B5EF4-FFF2-40B4-BE49-F238E27FC236}">
                <a16:creationId xmlns:a16="http://schemas.microsoft.com/office/drawing/2014/main" id="{9B9EE0E1-BC9D-421F-BBC1-74E106B4D98C}"/>
              </a:ext>
            </a:extLst>
          </p:cNvPr>
          <p:cNvGraphicFramePr>
            <a:graphicFrameLocks noGrp="1"/>
          </p:cNvGraphicFramePr>
          <p:nvPr>
            <p:extLst>
              <p:ext uri="{D42A27DB-BD31-4B8C-83A1-F6EECF244321}">
                <p14:modId xmlns:p14="http://schemas.microsoft.com/office/powerpoint/2010/main" val="2151095443"/>
              </p:ext>
            </p:extLst>
          </p:nvPr>
        </p:nvGraphicFramePr>
        <p:xfrm>
          <a:off x="190500" y="2005012"/>
          <a:ext cx="3733800" cy="3114675"/>
        </p:xfrm>
        <a:graphic>
          <a:graphicData uri="http://schemas.openxmlformats.org/drawingml/2006/table">
            <a:tbl>
              <a:tblPr/>
              <a:tblGrid>
                <a:gridCol w="11938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518182">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Present state</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宋体" pitchFamily="2" charset="-122"/>
                        </a:rPr>
                        <a:t> </a:t>
                      </a:r>
                      <a:r>
                        <a:rPr kumimoji="0" lang="en-US" sz="2000" b="0" i="0" u="none" strike="noStrike" cap="none" normalizeH="0" baseline="0" dirty="0">
                          <a:ln>
                            <a:noFill/>
                          </a:ln>
                          <a:solidFill>
                            <a:schemeClr val="tx1"/>
                          </a:solidFill>
                          <a:effectLst/>
                          <a:latin typeface="Times New Roman" pitchFamily="18" charset="0"/>
                          <a:ea typeface="宋体" pitchFamily="2" charset="-122"/>
                        </a:rPr>
                        <a:t>  Next state/</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2076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C/1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B/0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8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B</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C</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A/1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D/1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C/0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8137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box(in)">
                                      <p:cBhvr>
                                        <p:cTn id="7" dur="500"/>
                                        <p:tgtEl>
                                          <p:spTgt spid="100354"/>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0384"/>
                                        </p:tgtEl>
                                        <p:attrNameLst>
                                          <p:attrName>style.visibility</p:attrName>
                                        </p:attrNameLst>
                                      </p:cBhvr>
                                      <p:to>
                                        <p:strVal val="visible"/>
                                      </p:to>
                                    </p:set>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0356"/>
                                        </p:tgtEl>
                                        <p:attrNameLst>
                                          <p:attrName>style.visibility</p:attrName>
                                        </p:attrNameLst>
                                      </p:cBhvr>
                                      <p:to>
                                        <p:strVal val="visible"/>
                                      </p:to>
                                    </p:set>
                                    <p:animEffect transition="in" filter="blinds(horizontal)">
                                      <p:cBhvr>
                                        <p:cTn id="14" dur="500"/>
                                        <p:tgtEl>
                                          <p:spTgt spid="100356"/>
                                        </p:tgtEl>
                                      </p:cBhvr>
                                    </p:animEffect>
                                  </p:childTnLst>
                                  <p:subTnLst>
                                    <p:audio>
                                      <p:cMediaNode>
                                        <p:cTn display="0" masterRel="sameClick">
                                          <p:stCondLst>
                                            <p:cond evt="begin" delay="0">
                                              <p:tn val="12"/>
                                            </p:cond>
                                          </p:stCondLst>
                                          <p:endCondLst>
                                            <p:cond evt="onStopAudio" delay="0">
                                              <p:tgtEl>
                                                <p:sldTgt/>
                                              </p:tgtEl>
                                            </p:cond>
                                          </p:endCondLst>
                                        </p:cTn>
                                        <p:tgtEl>
                                          <p:sndTgt r:embed="rId4" name="chimes.wav"/>
                                        </p:tgtEl>
                                      </p:cMediaNode>
                                    </p:audio>
                                  </p:subTnLst>
                                </p:cTn>
                              </p:par>
                            </p:childTnLst>
                          </p:cTn>
                        </p:par>
                        <p:par>
                          <p:cTn id="15" fill="hold" nodeType="afterGroup">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100355"/>
                                        </p:tgtEl>
                                        <p:attrNameLst>
                                          <p:attrName>style.visibility</p:attrName>
                                        </p:attrNameLst>
                                      </p:cBhvr>
                                      <p:to>
                                        <p:strVal val="visible"/>
                                      </p:to>
                                    </p:set>
                                    <p:animEffect transition="in" filter="slide(fromBottom)">
                                      <p:cBhvr>
                                        <p:cTn id="18" dur="500"/>
                                        <p:tgtEl>
                                          <p:spTgt spid="100355"/>
                                        </p:tgtEl>
                                      </p:cBhvr>
                                    </p:animEffect>
                                  </p:childTnLst>
                                </p:cTn>
                              </p:par>
                            </p:childTnLst>
                          </p:cTn>
                        </p:par>
                        <p:par>
                          <p:cTn id="19" fill="hold">
                            <p:stCondLst>
                              <p:cond delay="2000"/>
                            </p:stCondLst>
                            <p:childTnLst>
                              <p:par>
                                <p:cTn id="20" presetID="3" presetClass="entr" presetSubtype="1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utoUpdateAnimBg="0"/>
      <p:bldP spid="100355" grpId="0" autoUpdateAnimBg="0"/>
      <p:bldP spid="100384"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D4B9FE84-DD76-490F-BEC5-5C3F45ECB16B}"/>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dirty="0"/>
              <a:t>Practice</a:t>
            </a:r>
            <a:endParaRPr lang="zh-CN" altLang="zh-CN" dirty="0"/>
          </a:p>
        </p:txBody>
      </p:sp>
      <p:graphicFrame>
        <p:nvGraphicFramePr>
          <p:cNvPr id="105475" name="Object 3">
            <a:extLst>
              <a:ext uri="{FF2B5EF4-FFF2-40B4-BE49-F238E27FC236}">
                <a16:creationId xmlns:a16="http://schemas.microsoft.com/office/drawing/2014/main" id="{348F7F52-F320-4948-A8E8-F40606D198E2}"/>
              </a:ext>
            </a:extLst>
          </p:cNvPr>
          <p:cNvGraphicFramePr>
            <a:graphicFrameLocks noGrp="1"/>
          </p:cNvGraphicFramePr>
          <p:nvPr>
            <p:ph idx="1"/>
          </p:nvPr>
        </p:nvGraphicFramePr>
        <p:xfrm>
          <a:off x="684213" y="1700213"/>
          <a:ext cx="5338762" cy="3702050"/>
        </p:xfrm>
        <a:graphic>
          <a:graphicData uri="http://schemas.openxmlformats.org/presentationml/2006/ole">
            <mc:AlternateContent xmlns:mc="http://schemas.openxmlformats.org/markup-compatibility/2006">
              <mc:Choice xmlns:v="urn:schemas-microsoft-com:vml" Requires="v">
                <p:oleObj spid="_x0000_s22603" r:id="rId4" imgW="5076190" imgH="3619048" progId="Paint.Picture">
                  <p:embed/>
                </p:oleObj>
              </mc:Choice>
              <mc:Fallback>
                <p:oleObj r:id="rId4" imgW="5076190" imgH="3619048" progId="Paint.Picture">
                  <p:embed/>
                  <p:pic>
                    <p:nvPicPr>
                      <p:cNvPr id="105475" name="Object 3">
                        <a:extLst>
                          <a:ext uri="{FF2B5EF4-FFF2-40B4-BE49-F238E27FC236}">
                            <a16:creationId xmlns:a16="http://schemas.microsoft.com/office/drawing/2014/main" id="{348F7F52-F320-4948-A8E8-F40606D198E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700213"/>
                        <a:ext cx="5338762"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文本框 4">
            <a:extLst>
              <a:ext uri="{FF2B5EF4-FFF2-40B4-BE49-F238E27FC236}">
                <a16:creationId xmlns:a16="http://schemas.microsoft.com/office/drawing/2014/main" id="{3027CCBC-C42E-4C09-A67C-F5E7BD12557E}"/>
              </a:ext>
            </a:extLst>
          </p:cNvPr>
          <p:cNvSpPr txBox="1"/>
          <p:nvPr/>
        </p:nvSpPr>
        <p:spPr>
          <a:xfrm>
            <a:off x="971600" y="2927881"/>
            <a:ext cx="864096" cy="523220"/>
          </a:xfrm>
          <a:prstGeom prst="rect">
            <a:avLst/>
          </a:prstGeom>
          <a:solidFill>
            <a:schemeClr val="bg1"/>
          </a:solidFill>
        </p:spPr>
        <p:txBody>
          <a:bodyPr wrap="square" rtlCol="0">
            <a:spAutoFit/>
          </a:bodyPr>
          <a:lstStyle/>
          <a:p>
            <a:pPr algn="ctr"/>
            <a:r>
              <a:rPr lang="en-US" altLang="zh-CN" sz="1400" dirty="0"/>
              <a:t>Present State</a:t>
            </a:r>
            <a:endParaRPr lang="zh-CN" altLang="en-US" dirty="0"/>
          </a:p>
        </p:txBody>
      </p:sp>
      <p:sp>
        <p:nvSpPr>
          <p:cNvPr id="6" name="文本框 5">
            <a:extLst>
              <a:ext uri="{FF2B5EF4-FFF2-40B4-BE49-F238E27FC236}">
                <a16:creationId xmlns:a16="http://schemas.microsoft.com/office/drawing/2014/main" id="{700D0139-94A4-43EC-ADC0-96BF15841B6E}"/>
              </a:ext>
            </a:extLst>
          </p:cNvPr>
          <p:cNvSpPr txBox="1"/>
          <p:nvPr/>
        </p:nvSpPr>
        <p:spPr>
          <a:xfrm>
            <a:off x="3065238" y="2666271"/>
            <a:ext cx="1506761" cy="523220"/>
          </a:xfrm>
          <a:prstGeom prst="rect">
            <a:avLst/>
          </a:prstGeom>
          <a:solidFill>
            <a:schemeClr val="bg1"/>
          </a:solidFill>
        </p:spPr>
        <p:txBody>
          <a:bodyPr wrap="square" rtlCol="0">
            <a:spAutoFit/>
          </a:bodyPr>
          <a:lstStyle/>
          <a:p>
            <a:pPr algn="ctr"/>
            <a:r>
              <a:rPr lang="en-US" altLang="zh-CN" sz="1400" dirty="0"/>
              <a:t>next State/output</a:t>
            </a:r>
            <a:endParaRPr lang="zh-CN" altLang="en-US" dirty="0"/>
          </a:p>
        </p:txBody>
      </p:sp>
      <p:sp>
        <p:nvSpPr>
          <p:cNvPr id="7" name="文本框 6">
            <a:extLst>
              <a:ext uri="{FF2B5EF4-FFF2-40B4-BE49-F238E27FC236}">
                <a16:creationId xmlns:a16="http://schemas.microsoft.com/office/drawing/2014/main" id="{B3205263-FED0-424C-93E4-696AA39D6150}"/>
              </a:ext>
            </a:extLst>
          </p:cNvPr>
          <p:cNvSpPr txBox="1"/>
          <p:nvPr/>
        </p:nvSpPr>
        <p:spPr>
          <a:xfrm>
            <a:off x="684213" y="1740822"/>
            <a:ext cx="6658036" cy="338554"/>
          </a:xfrm>
          <a:prstGeom prst="rect">
            <a:avLst/>
          </a:prstGeom>
          <a:solidFill>
            <a:schemeClr val="bg1"/>
          </a:solidFill>
        </p:spPr>
        <p:txBody>
          <a:bodyPr wrap="square" rtlCol="0">
            <a:spAutoFit/>
          </a:bodyPr>
          <a:lstStyle/>
          <a:p>
            <a:r>
              <a:rPr lang="en-US" altLang="zh-CN" sz="1600" dirty="0"/>
              <a:t>Example: Assign binary states for the following state table.</a:t>
            </a:r>
            <a:endParaRPr lang="zh-CN" altLang="en-US" sz="2800" dirty="0"/>
          </a:p>
        </p:txBody>
      </p:sp>
    </p:spTree>
    <p:extLst>
      <p:ext uri="{BB962C8B-B14F-4D97-AF65-F5344CB8AC3E}">
        <p14:creationId xmlns:p14="http://schemas.microsoft.com/office/powerpoint/2010/main" val="803551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982FA5DF-7A3D-4FCB-891F-E34B996642FF}"/>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dirty="0"/>
              <a:t>Answer:</a:t>
            </a:r>
            <a:endParaRPr lang="zh-CN" altLang="zh-CN" dirty="0"/>
          </a:p>
        </p:txBody>
      </p:sp>
      <p:graphicFrame>
        <p:nvGraphicFramePr>
          <p:cNvPr id="106499" name="Object 3">
            <a:extLst>
              <a:ext uri="{FF2B5EF4-FFF2-40B4-BE49-F238E27FC236}">
                <a16:creationId xmlns:a16="http://schemas.microsoft.com/office/drawing/2014/main" id="{11C0FFBE-393F-4151-B438-0E76C8D823A8}"/>
              </a:ext>
            </a:extLst>
          </p:cNvPr>
          <p:cNvGraphicFramePr>
            <a:graphicFrameLocks noGrp="1"/>
          </p:cNvGraphicFramePr>
          <p:nvPr>
            <p:ph idx="1"/>
            <p:extLst>
              <p:ext uri="{D42A27DB-BD31-4B8C-83A1-F6EECF244321}">
                <p14:modId xmlns:p14="http://schemas.microsoft.com/office/powerpoint/2010/main" val="1142062444"/>
              </p:ext>
            </p:extLst>
          </p:nvPr>
        </p:nvGraphicFramePr>
        <p:xfrm>
          <a:off x="1691680" y="1915050"/>
          <a:ext cx="6337300" cy="4392613"/>
        </p:xfrm>
        <a:graphic>
          <a:graphicData uri="http://schemas.openxmlformats.org/presentationml/2006/ole">
            <mc:AlternateContent xmlns:mc="http://schemas.openxmlformats.org/markup-compatibility/2006">
              <mc:Choice xmlns:v="urn:schemas-microsoft-com:vml" Requires="v">
                <p:oleObj spid="_x0000_s23626" r:id="rId4" imgW="5353797" imgH="3638095" progId="Paint.Picture">
                  <p:embed/>
                </p:oleObj>
              </mc:Choice>
              <mc:Fallback>
                <p:oleObj r:id="rId4" imgW="5353797" imgH="3638095" progId="Paint.Picture">
                  <p:embed/>
                  <p:pic>
                    <p:nvPicPr>
                      <p:cNvPr id="106499" name="Object 3">
                        <a:extLst>
                          <a:ext uri="{FF2B5EF4-FFF2-40B4-BE49-F238E27FC236}">
                            <a16:creationId xmlns:a16="http://schemas.microsoft.com/office/drawing/2014/main" id="{11C0FFBE-393F-4151-B438-0E76C8D823A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1915050"/>
                        <a:ext cx="6337300"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文本框 4">
            <a:extLst>
              <a:ext uri="{FF2B5EF4-FFF2-40B4-BE49-F238E27FC236}">
                <a16:creationId xmlns:a16="http://schemas.microsoft.com/office/drawing/2014/main" id="{0017969F-106A-4DF8-9A1C-F2243A1666FF}"/>
              </a:ext>
            </a:extLst>
          </p:cNvPr>
          <p:cNvSpPr txBox="1"/>
          <p:nvPr/>
        </p:nvSpPr>
        <p:spPr>
          <a:xfrm>
            <a:off x="755576" y="1987699"/>
            <a:ext cx="3240360" cy="4247317"/>
          </a:xfrm>
          <a:prstGeom prst="rect">
            <a:avLst/>
          </a:prstGeom>
          <a:solidFill>
            <a:schemeClr val="bg1"/>
          </a:solidFill>
        </p:spPr>
        <p:txBody>
          <a:bodyPr wrap="square" rtlCol="0">
            <a:spAutoFit/>
          </a:bodyPr>
          <a:lstStyle/>
          <a:p>
            <a:pPr eaLnBrk="1" hangingPunct="1"/>
            <a:r>
              <a:rPr lang="en-US" altLang="zh-CN" sz="1800" dirty="0">
                <a:latin typeface="Times New Roman" panose="02020603050405020304" pitchFamily="18" charset="0"/>
              </a:rPr>
              <a:t>Based on Rule </a:t>
            </a:r>
            <a:r>
              <a:rPr lang="zh-CN" altLang="en-US" sz="1800" dirty="0">
                <a:solidFill>
                  <a:schemeClr val="tx2"/>
                </a:solidFill>
                <a:latin typeface="Times New Roman" panose="02020603050405020304" pitchFamily="18" charset="0"/>
              </a:rPr>
              <a:t>①，</a:t>
            </a:r>
            <a:r>
              <a:rPr lang="en-US" altLang="zh-CN" sz="1800" dirty="0">
                <a:solidFill>
                  <a:schemeClr val="tx2"/>
                </a:solidFill>
                <a:latin typeface="Times New Roman" panose="02020603050405020304" pitchFamily="18" charset="0"/>
              </a:rPr>
              <a:t>States A</a:t>
            </a:r>
            <a:r>
              <a:rPr lang="zh-CN" altLang="en-US" sz="1800" dirty="0">
                <a:solidFill>
                  <a:schemeClr val="tx2"/>
                </a:solidFill>
                <a:latin typeface="Times New Roman" panose="02020603050405020304" pitchFamily="18" charset="0"/>
              </a:rPr>
              <a:t> </a:t>
            </a:r>
            <a:r>
              <a:rPr lang="en-US" altLang="zh-CN" sz="1800" dirty="0">
                <a:solidFill>
                  <a:schemeClr val="tx2"/>
                </a:solidFill>
                <a:latin typeface="Times New Roman" panose="02020603050405020304" pitchFamily="18" charset="0"/>
              </a:rPr>
              <a:t>and B, A and C,  should be assigned the adjacent binary codes</a:t>
            </a:r>
            <a:r>
              <a:rPr lang="zh-CN" altLang="en-US" sz="1800" dirty="0">
                <a:solidFill>
                  <a:schemeClr val="tx2"/>
                </a:solidFill>
                <a:latin typeface="Times New Roman" panose="02020603050405020304" pitchFamily="18" charset="0"/>
              </a:rPr>
              <a:t>；</a:t>
            </a:r>
          </a:p>
          <a:p>
            <a:pPr algn="just" eaLnBrk="1" hangingPunct="1"/>
            <a:endParaRPr lang="en-US" altLang="zh-CN" sz="1800" dirty="0">
              <a:solidFill>
                <a:schemeClr val="tx2"/>
              </a:solidFill>
              <a:latin typeface="Times New Roman" panose="02020603050405020304" pitchFamily="18" charset="0"/>
            </a:endParaRPr>
          </a:p>
          <a:p>
            <a:pPr algn="just" eaLnBrk="1" hangingPunct="1"/>
            <a:r>
              <a:rPr lang="en-US" altLang="zh-CN" sz="1800" dirty="0">
                <a:solidFill>
                  <a:schemeClr val="tx2"/>
                </a:solidFill>
                <a:latin typeface="Times New Roman" panose="02020603050405020304" pitchFamily="18" charset="0"/>
              </a:rPr>
              <a:t>Based on Rule </a:t>
            </a:r>
            <a:r>
              <a:rPr lang="zh-CN" altLang="en-US" sz="1800" dirty="0">
                <a:solidFill>
                  <a:schemeClr val="tx2"/>
                </a:solidFill>
                <a:latin typeface="Times New Roman" panose="02020603050405020304" pitchFamily="18" charset="0"/>
              </a:rPr>
              <a:t>②，</a:t>
            </a:r>
            <a:r>
              <a:rPr lang="en-US" altLang="zh-CN" sz="1800" dirty="0">
                <a:solidFill>
                  <a:schemeClr val="tx2"/>
                </a:solidFill>
                <a:latin typeface="Times New Roman" panose="02020603050405020304" pitchFamily="18" charset="0"/>
              </a:rPr>
              <a:t>States C</a:t>
            </a:r>
            <a:r>
              <a:rPr lang="zh-CN" altLang="en-US" sz="1800" dirty="0">
                <a:solidFill>
                  <a:schemeClr val="tx2"/>
                </a:solidFill>
                <a:latin typeface="Times New Roman" panose="02020603050405020304" pitchFamily="18" charset="0"/>
              </a:rPr>
              <a:t> </a:t>
            </a:r>
            <a:r>
              <a:rPr lang="en-US" altLang="zh-CN" sz="1800" dirty="0">
                <a:solidFill>
                  <a:schemeClr val="tx2"/>
                </a:solidFill>
                <a:latin typeface="Times New Roman" panose="02020603050405020304" pitchFamily="18" charset="0"/>
              </a:rPr>
              <a:t>and D, C</a:t>
            </a:r>
            <a:r>
              <a:rPr lang="zh-CN" altLang="en-US" sz="1800" dirty="0">
                <a:solidFill>
                  <a:schemeClr val="tx2"/>
                </a:solidFill>
                <a:latin typeface="Times New Roman" panose="02020603050405020304" pitchFamily="18" charset="0"/>
              </a:rPr>
              <a:t> </a:t>
            </a:r>
            <a:r>
              <a:rPr lang="en-US" altLang="zh-CN" sz="1800" dirty="0">
                <a:solidFill>
                  <a:schemeClr val="tx2"/>
                </a:solidFill>
                <a:latin typeface="Times New Roman" panose="02020603050405020304" pitchFamily="18" charset="0"/>
              </a:rPr>
              <a:t>and A, B and D, A and B should be assigned the adjacent binary codes </a:t>
            </a:r>
            <a:r>
              <a:rPr lang="zh-CN" altLang="en-US" sz="1800" dirty="0">
                <a:solidFill>
                  <a:schemeClr val="tx2"/>
                </a:solidFill>
                <a:latin typeface="Times New Roman" panose="02020603050405020304" pitchFamily="18" charset="0"/>
              </a:rPr>
              <a:t>；</a:t>
            </a:r>
          </a:p>
          <a:p>
            <a:pPr algn="just" eaLnBrk="1" hangingPunct="1"/>
            <a:endParaRPr lang="en-US" altLang="zh-CN" sz="1800" dirty="0">
              <a:solidFill>
                <a:schemeClr val="tx2"/>
              </a:solidFill>
              <a:latin typeface="Times New Roman" panose="02020603050405020304" pitchFamily="18" charset="0"/>
            </a:endParaRPr>
          </a:p>
          <a:p>
            <a:pPr algn="just" eaLnBrk="1" hangingPunct="1"/>
            <a:r>
              <a:rPr lang="en-US" altLang="zh-CN" sz="1800" dirty="0">
                <a:solidFill>
                  <a:schemeClr val="tx2"/>
                </a:solidFill>
                <a:latin typeface="Times New Roman" panose="02020603050405020304" pitchFamily="18" charset="0"/>
              </a:rPr>
              <a:t>Based on Rule </a:t>
            </a:r>
            <a:r>
              <a:rPr lang="zh-CN" altLang="en-US" sz="1800" dirty="0">
                <a:solidFill>
                  <a:schemeClr val="tx2"/>
                </a:solidFill>
                <a:latin typeface="Times New Roman" panose="02020603050405020304" pitchFamily="18" charset="0"/>
              </a:rPr>
              <a:t>③，</a:t>
            </a:r>
            <a:r>
              <a:rPr lang="en-US" altLang="zh-CN" sz="1800" dirty="0">
                <a:solidFill>
                  <a:schemeClr val="tx2"/>
                </a:solidFill>
                <a:latin typeface="Times New Roman" panose="02020603050405020304" pitchFamily="18" charset="0"/>
              </a:rPr>
              <a:t>State A, B</a:t>
            </a:r>
            <a:r>
              <a:rPr lang="zh-CN" altLang="en-US" sz="1800" dirty="0">
                <a:solidFill>
                  <a:schemeClr val="tx2"/>
                </a:solidFill>
                <a:latin typeface="Times New Roman" panose="02020603050405020304" pitchFamily="18" charset="0"/>
              </a:rPr>
              <a:t> </a:t>
            </a:r>
            <a:r>
              <a:rPr lang="en-US" altLang="zh-CN" sz="1800" dirty="0">
                <a:solidFill>
                  <a:schemeClr val="tx2"/>
                </a:solidFill>
                <a:latin typeface="Times New Roman" panose="02020603050405020304" pitchFamily="18" charset="0"/>
              </a:rPr>
              <a:t>and C should be assigned the adjacent binary codes . i.e., State A and B, A and C, B and C should be adjacent.</a:t>
            </a:r>
            <a:endParaRPr lang="zh-CN" altLang="en-US" sz="3200" dirty="0"/>
          </a:p>
        </p:txBody>
      </p:sp>
    </p:spTree>
    <p:extLst>
      <p:ext uri="{BB962C8B-B14F-4D97-AF65-F5344CB8AC3E}">
        <p14:creationId xmlns:p14="http://schemas.microsoft.com/office/powerpoint/2010/main" val="3416404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9">
            <a:extLst>
              <a:ext uri="{FF2B5EF4-FFF2-40B4-BE49-F238E27FC236}">
                <a16:creationId xmlns:a16="http://schemas.microsoft.com/office/drawing/2014/main" id="{1CF8C279-3060-40C0-B935-CF19B85CFACE}"/>
              </a:ext>
            </a:extLst>
          </p:cNvPr>
          <p:cNvSpPr txBox="1">
            <a:spLocks noChangeArrowheads="1"/>
          </p:cNvSpPr>
          <p:nvPr/>
        </p:nvSpPr>
        <p:spPr bwMode="auto">
          <a:xfrm>
            <a:off x="838200" y="1066800"/>
            <a:ext cx="699611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5.3.4  </a:t>
            </a:r>
            <a:r>
              <a:rPr lang="en-US" altLang="zh-CN" dirty="0">
                <a:solidFill>
                  <a:srgbClr val="990000"/>
                </a:solidFill>
                <a:latin typeface="Times New Roman" panose="02020603050405020304" pitchFamily="18" charset="0"/>
              </a:rPr>
              <a:t>Determine the excitation and output functions and draw a logic diagram</a:t>
            </a:r>
            <a:endParaRPr lang="zh-CN" altLang="en-US" sz="2400" b="1" dirty="0">
              <a:solidFill>
                <a:srgbClr val="990000"/>
              </a:solidFill>
              <a:latin typeface="Times New Roman" panose="02020603050405020304" pitchFamily="18" charset="0"/>
            </a:endParaRPr>
          </a:p>
        </p:txBody>
      </p:sp>
      <p:sp>
        <p:nvSpPr>
          <p:cNvPr id="103427" name="Text Box 10">
            <a:extLst>
              <a:ext uri="{FF2B5EF4-FFF2-40B4-BE49-F238E27FC236}">
                <a16:creationId xmlns:a16="http://schemas.microsoft.com/office/drawing/2014/main" id="{EF456EC6-B155-4138-952C-CF308F157F1B}"/>
              </a:ext>
            </a:extLst>
          </p:cNvPr>
          <p:cNvSpPr txBox="1">
            <a:spLocks noChangeArrowheads="1"/>
          </p:cNvSpPr>
          <p:nvPr/>
        </p:nvSpPr>
        <p:spPr bwMode="auto">
          <a:xfrm>
            <a:off x="1073943" y="2284086"/>
            <a:ext cx="699611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Task: According to the binary state table and the excitation table of the selected flip-flops, find the excitation function expression of the flip-flops and the output function expression of the circuit, and simplify it; so as to construct a logic circuit that implements a given logic function with appropriate logic gates and selected flip-flops.</a:t>
            </a:r>
            <a:endParaRPr lang="zh-CN" altLang="en-US" sz="2400" dirty="0">
              <a:latin typeface="Times New Roman" panose="02020603050405020304" pitchFamily="18" charset="0"/>
            </a:endParaRPr>
          </a:p>
        </p:txBody>
      </p:sp>
      <p:pic>
        <p:nvPicPr>
          <p:cNvPr id="107524" name="Picture 12" descr="Right_Green">
            <a:hlinkClick r:id="" action="ppaction://hlinkshowjump?jump=nextslide"/>
            <a:extLst>
              <a:ext uri="{FF2B5EF4-FFF2-40B4-BE49-F238E27FC236}">
                <a16:creationId xmlns:a16="http://schemas.microsoft.com/office/drawing/2014/main" id="{946E36FC-FF8E-4A8F-BE2F-8E1A30F43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5" name="Picture 13" descr="Left_Green">
            <a:hlinkClick r:id="" action="ppaction://hlinkshowjump?jump=previousslide"/>
            <a:extLst>
              <a:ext uri="{FF2B5EF4-FFF2-40B4-BE49-F238E27FC236}">
                <a16:creationId xmlns:a16="http://schemas.microsoft.com/office/drawing/2014/main" id="{3A0DCDE1-A320-4651-BE0C-4C8219F1DB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8667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42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03427"/>
                                        </p:tgtEl>
                                        <p:attrNameLst>
                                          <p:attrName>style.visibility</p:attrName>
                                        </p:attrNameLst>
                                      </p:cBhvr>
                                      <p:to>
                                        <p:strVal val="visible"/>
                                      </p:to>
                                    </p:set>
                                    <p:animEffect transition="in" filter="checkerboard(across)">
                                      <p:cBhvr>
                                        <p:cTn id="11" dur="500"/>
                                        <p:tgtEl>
                                          <p:spTgt spid="10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P spid="10342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23C95060-42AD-4022-942E-35F95B1A5CF3}"/>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dirty="0">
                <a:latin typeface="Times New Roman" panose="02020603050405020304" pitchFamily="18" charset="0"/>
                <a:cs typeface="Times New Roman" panose="02020603050405020304" pitchFamily="18" charset="0"/>
              </a:rPr>
              <a:t>Flip-flop excitation table</a:t>
            </a:r>
            <a:endParaRPr lang="zh-CN" altLang="en-US" dirty="0">
              <a:latin typeface="Times New Roman" panose="02020603050405020304" pitchFamily="18" charset="0"/>
              <a:cs typeface="Times New Roman" panose="02020603050405020304" pitchFamily="18" charset="0"/>
            </a:endParaRPr>
          </a:p>
        </p:txBody>
      </p:sp>
      <p:sp>
        <p:nvSpPr>
          <p:cNvPr id="108547" name="Rectangle 3">
            <a:extLst>
              <a:ext uri="{FF2B5EF4-FFF2-40B4-BE49-F238E27FC236}">
                <a16:creationId xmlns:a16="http://schemas.microsoft.com/office/drawing/2014/main" id="{8DAB90D2-DCED-4CA2-9881-3F90FEBC0AD3}"/>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a:latin typeface="Times New Roman" panose="02020603050405020304" pitchFamily="18" charset="0"/>
                <a:cs typeface="Times New Roman" panose="02020603050405020304" pitchFamily="18" charset="0"/>
              </a:rPr>
              <a:t>The excitation table of a flip-flop device illustrates the flip-flop reacts to the input (excitation) from a present state to a next state. In this table, the present state and the next state are used as independent variables, and the input is used as the dependent variables. The excitation table for the </a:t>
            </a:r>
            <a:r>
              <a:rPr lang="en-US" altLang="zh-CN" dirty="0" err="1">
                <a:latin typeface="Times New Roman" panose="02020603050405020304" pitchFamily="18" charset="0"/>
                <a:cs typeface="Times New Roman" panose="02020603050405020304" pitchFamily="18" charset="0"/>
              </a:rPr>
              <a:t>filp</a:t>
            </a:r>
            <a:r>
              <a:rPr lang="en-US" altLang="zh-CN" dirty="0">
                <a:latin typeface="Times New Roman" panose="02020603050405020304" pitchFamily="18" charset="0"/>
                <a:cs typeface="Times New Roman" panose="02020603050405020304" pitchFamily="18" charset="0"/>
              </a:rPr>
              <a:t>-flop can be derived from the flip-flop’s function table.</a:t>
            </a:r>
            <a:endParaRPr lang="zh-CN"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832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2205335A-26BF-4EBC-AF5E-8862A814515E}"/>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dirty="0">
                <a:latin typeface="Times New Roman" panose="02020603050405020304" pitchFamily="18" charset="0"/>
                <a:cs typeface="Times New Roman" panose="02020603050405020304" pitchFamily="18" charset="0"/>
              </a:rPr>
              <a:t>Flip-flop excitation table</a:t>
            </a:r>
            <a:endParaRPr lang="zh-CN" altLang="en-US" dirty="0"/>
          </a:p>
        </p:txBody>
      </p:sp>
      <p:sp>
        <p:nvSpPr>
          <p:cNvPr id="109571" name="Rectangle 3">
            <a:extLst>
              <a:ext uri="{FF2B5EF4-FFF2-40B4-BE49-F238E27FC236}">
                <a16:creationId xmlns:a16="http://schemas.microsoft.com/office/drawing/2014/main" id="{448CE6C0-95C8-43D8-9DC5-9C644F596334}"/>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graphicFrame>
        <p:nvGraphicFramePr>
          <p:cNvPr id="109572" name="Object 4">
            <a:extLst>
              <a:ext uri="{FF2B5EF4-FFF2-40B4-BE49-F238E27FC236}">
                <a16:creationId xmlns:a16="http://schemas.microsoft.com/office/drawing/2014/main" id="{134D10B4-D9E6-4B7C-81E1-E0BB1A401264}"/>
              </a:ext>
            </a:extLst>
          </p:cNvPr>
          <p:cNvGraphicFramePr>
            <a:graphicFrameLocks/>
          </p:cNvGraphicFramePr>
          <p:nvPr/>
        </p:nvGraphicFramePr>
        <p:xfrm>
          <a:off x="973138" y="1701800"/>
          <a:ext cx="7561262" cy="4392613"/>
        </p:xfrm>
        <a:graphic>
          <a:graphicData uri="http://schemas.openxmlformats.org/presentationml/2006/ole">
            <mc:AlternateContent xmlns:mc="http://schemas.openxmlformats.org/markup-compatibility/2006">
              <mc:Choice xmlns:v="urn:schemas-microsoft-com:vml" Requires="v">
                <p:oleObj spid="_x0000_s25673" r:id="rId4" imgW="5420482" imgH="3000000" progId="Paint.Picture">
                  <p:embed/>
                </p:oleObj>
              </mc:Choice>
              <mc:Fallback>
                <p:oleObj r:id="rId4" imgW="5420482" imgH="3000000" progId="Paint.Picture">
                  <p:embed/>
                  <p:pic>
                    <p:nvPicPr>
                      <p:cNvPr id="109572" name="Object 4">
                        <a:extLst>
                          <a:ext uri="{FF2B5EF4-FFF2-40B4-BE49-F238E27FC236}">
                            <a16:creationId xmlns:a16="http://schemas.microsoft.com/office/drawing/2014/main" id="{134D10B4-D9E6-4B7C-81E1-E0BB1A40126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138" y="1701800"/>
                        <a:ext cx="7561262"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文本框 4">
            <a:extLst>
              <a:ext uri="{FF2B5EF4-FFF2-40B4-BE49-F238E27FC236}">
                <a16:creationId xmlns:a16="http://schemas.microsoft.com/office/drawing/2014/main" id="{438C879D-67F1-4C40-B007-1B768320FCE6}"/>
              </a:ext>
            </a:extLst>
          </p:cNvPr>
          <p:cNvSpPr txBox="1"/>
          <p:nvPr/>
        </p:nvSpPr>
        <p:spPr>
          <a:xfrm>
            <a:off x="2123728" y="1844824"/>
            <a:ext cx="2721818" cy="338554"/>
          </a:xfrm>
          <a:prstGeom prst="rect">
            <a:avLst/>
          </a:prstGeom>
          <a:solidFill>
            <a:schemeClr val="bg1"/>
          </a:solidFill>
        </p:spPr>
        <p:txBody>
          <a:bodyPr wrap="square" rtlCol="0">
            <a:spAutoFit/>
          </a:bodyPr>
          <a:lstStyle/>
          <a:p>
            <a:r>
              <a:rPr lang="en-US" altLang="zh-CN" sz="1600" dirty="0"/>
              <a:t>Flip-flop excitation table</a:t>
            </a:r>
            <a:endParaRPr lang="zh-CN" altLang="en-US" sz="2800" dirty="0"/>
          </a:p>
        </p:txBody>
      </p:sp>
      <p:sp>
        <p:nvSpPr>
          <p:cNvPr id="6" name="文本框 5">
            <a:extLst>
              <a:ext uri="{FF2B5EF4-FFF2-40B4-BE49-F238E27FC236}">
                <a16:creationId xmlns:a16="http://schemas.microsoft.com/office/drawing/2014/main" id="{22CBDE36-EF9E-4711-BE6C-4725DA588906}"/>
              </a:ext>
            </a:extLst>
          </p:cNvPr>
          <p:cNvSpPr txBox="1"/>
          <p:nvPr/>
        </p:nvSpPr>
        <p:spPr>
          <a:xfrm>
            <a:off x="5659363" y="1844824"/>
            <a:ext cx="2721818" cy="338554"/>
          </a:xfrm>
          <a:prstGeom prst="rect">
            <a:avLst/>
          </a:prstGeom>
          <a:solidFill>
            <a:schemeClr val="bg1"/>
          </a:solidFill>
        </p:spPr>
        <p:txBody>
          <a:bodyPr wrap="square" rtlCol="0">
            <a:spAutoFit/>
          </a:bodyPr>
          <a:lstStyle/>
          <a:p>
            <a:r>
              <a:rPr lang="en-US" altLang="zh-CN" sz="1600" dirty="0"/>
              <a:t>Flip-flop excitation table</a:t>
            </a:r>
            <a:endParaRPr lang="zh-CN" altLang="en-US" sz="2800" dirty="0"/>
          </a:p>
        </p:txBody>
      </p:sp>
    </p:spTree>
    <p:extLst>
      <p:ext uri="{BB962C8B-B14F-4D97-AF65-F5344CB8AC3E}">
        <p14:creationId xmlns:p14="http://schemas.microsoft.com/office/powerpoint/2010/main" val="3041546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4527CA3A-6FE8-4D38-AE51-62AAC6355AF0}"/>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dirty="0">
                <a:latin typeface="Times New Roman" panose="02020603050405020304" pitchFamily="18" charset="0"/>
                <a:cs typeface="Times New Roman" panose="02020603050405020304" pitchFamily="18" charset="0"/>
              </a:rPr>
              <a:t>Flip-flop excitation table</a:t>
            </a:r>
            <a:endParaRPr lang="zh-CN" altLang="en-US" dirty="0"/>
          </a:p>
        </p:txBody>
      </p:sp>
      <p:sp>
        <p:nvSpPr>
          <p:cNvPr id="110595" name="Rectangle 3">
            <a:extLst>
              <a:ext uri="{FF2B5EF4-FFF2-40B4-BE49-F238E27FC236}">
                <a16:creationId xmlns:a16="http://schemas.microsoft.com/office/drawing/2014/main" id="{11828832-68C6-4DBC-8963-0D83943BC281}"/>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graphicFrame>
        <p:nvGraphicFramePr>
          <p:cNvPr id="110596" name="Object 4">
            <a:extLst>
              <a:ext uri="{FF2B5EF4-FFF2-40B4-BE49-F238E27FC236}">
                <a16:creationId xmlns:a16="http://schemas.microsoft.com/office/drawing/2014/main" id="{84DC1D7A-6C38-4BDB-8228-74EFBD7369EC}"/>
              </a:ext>
            </a:extLst>
          </p:cNvPr>
          <p:cNvGraphicFramePr>
            <a:graphicFrameLocks/>
          </p:cNvGraphicFramePr>
          <p:nvPr/>
        </p:nvGraphicFramePr>
        <p:xfrm>
          <a:off x="468313" y="1628775"/>
          <a:ext cx="7488237" cy="4537075"/>
        </p:xfrm>
        <a:graphic>
          <a:graphicData uri="http://schemas.openxmlformats.org/presentationml/2006/ole">
            <mc:AlternateContent xmlns:mc="http://schemas.openxmlformats.org/markup-compatibility/2006">
              <mc:Choice xmlns:v="urn:schemas-microsoft-com:vml" Requires="v">
                <p:oleObj spid="_x0000_s26697" r:id="rId4" imgW="5380952" imgH="2876190" progId="Paint.Picture">
                  <p:embed/>
                </p:oleObj>
              </mc:Choice>
              <mc:Fallback>
                <p:oleObj r:id="rId4" imgW="5380952" imgH="2876190" progId="Paint.Picture">
                  <p:embed/>
                  <p:pic>
                    <p:nvPicPr>
                      <p:cNvPr id="110596" name="Object 4">
                        <a:extLst>
                          <a:ext uri="{FF2B5EF4-FFF2-40B4-BE49-F238E27FC236}">
                            <a16:creationId xmlns:a16="http://schemas.microsoft.com/office/drawing/2014/main" id="{84DC1D7A-6C38-4BDB-8228-74EFBD7369E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628775"/>
                        <a:ext cx="7488237"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文本框 4">
            <a:extLst>
              <a:ext uri="{FF2B5EF4-FFF2-40B4-BE49-F238E27FC236}">
                <a16:creationId xmlns:a16="http://schemas.microsoft.com/office/drawing/2014/main" id="{9E6D49A6-10A9-4588-B7F6-5AFDB35157F8}"/>
              </a:ext>
            </a:extLst>
          </p:cNvPr>
          <p:cNvSpPr txBox="1"/>
          <p:nvPr/>
        </p:nvSpPr>
        <p:spPr>
          <a:xfrm>
            <a:off x="1619672" y="1772816"/>
            <a:ext cx="2880320" cy="369332"/>
          </a:xfrm>
          <a:prstGeom prst="rect">
            <a:avLst/>
          </a:prstGeom>
          <a:solidFill>
            <a:schemeClr val="bg1"/>
          </a:solidFill>
        </p:spPr>
        <p:txBody>
          <a:bodyPr wrap="square" rtlCol="0">
            <a:spAutoFit/>
          </a:bodyPr>
          <a:lstStyle/>
          <a:p>
            <a:r>
              <a:rPr lang="en-US" altLang="zh-CN" sz="1800" dirty="0"/>
              <a:t>Flip-flop excitation table</a:t>
            </a:r>
            <a:endParaRPr lang="zh-CN" altLang="en-US" sz="3200" dirty="0"/>
          </a:p>
        </p:txBody>
      </p:sp>
      <p:sp>
        <p:nvSpPr>
          <p:cNvPr id="6" name="文本框 5">
            <a:extLst>
              <a:ext uri="{FF2B5EF4-FFF2-40B4-BE49-F238E27FC236}">
                <a16:creationId xmlns:a16="http://schemas.microsoft.com/office/drawing/2014/main" id="{E669A6B5-3548-440E-986E-7A724AD1D115}"/>
              </a:ext>
            </a:extLst>
          </p:cNvPr>
          <p:cNvSpPr txBox="1"/>
          <p:nvPr/>
        </p:nvSpPr>
        <p:spPr>
          <a:xfrm>
            <a:off x="4909372" y="1772816"/>
            <a:ext cx="3024655" cy="369332"/>
          </a:xfrm>
          <a:prstGeom prst="rect">
            <a:avLst/>
          </a:prstGeom>
          <a:solidFill>
            <a:schemeClr val="bg1"/>
          </a:solidFill>
        </p:spPr>
        <p:txBody>
          <a:bodyPr wrap="square" rtlCol="0">
            <a:spAutoFit/>
          </a:bodyPr>
          <a:lstStyle/>
          <a:p>
            <a:r>
              <a:rPr lang="en-US" altLang="zh-CN" sz="1800" dirty="0"/>
              <a:t>T Flip-flop excitation table</a:t>
            </a:r>
            <a:endParaRPr lang="zh-CN" altLang="en-US" sz="3200" dirty="0"/>
          </a:p>
        </p:txBody>
      </p:sp>
    </p:spTree>
    <p:extLst>
      <p:ext uri="{BB962C8B-B14F-4D97-AF65-F5344CB8AC3E}">
        <p14:creationId xmlns:p14="http://schemas.microsoft.com/office/powerpoint/2010/main" val="1504788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11">
            <a:extLst>
              <a:ext uri="{FF2B5EF4-FFF2-40B4-BE49-F238E27FC236}">
                <a16:creationId xmlns:a16="http://schemas.microsoft.com/office/drawing/2014/main" id="{D4E533B1-F79A-436E-B3D9-F3DC000BAE84}"/>
              </a:ext>
            </a:extLst>
          </p:cNvPr>
          <p:cNvSpPr txBox="1">
            <a:spLocks noChangeArrowheads="1"/>
          </p:cNvSpPr>
          <p:nvPr/>
        </p:nvSpPr>
        <p:spPr bwMode="auto">
          <a:xfrm>
            <a:off x="0" y="22970"/>
            <a:ext cx="9042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According to the binary state table and the flip-flop excitation table, the simplest expression for the excitation function and the output function is generally divided into two steps:</a:t>
            </a:r>
            <a:r>
              <a:rPr lang="zh-CN" altLang="en-US" sz="2400" dirty="0">
                <a:solidFill>
                  <a:schemeClr val="tx2"/>
                </a:solidFill>
                <a:latin typeface="Times New Roman" panose="02020603050405020304" pitchFamily="18" charset="0"/>
              </a:rPr>
              <a:t>　</a:t>
            </a:r>
            <a:r>
              <a:rPr lang="zh-CN" altLang="en-US" sz="2400" dirty="0">
                <a:solidFill>
                  <a:srgbClr val="000099"/>
                </a:solidFill>
                <a:latin typeface="Times New Roman" panose="02020603050405020304" pitchFamily="18" charset="0"/>
              </a:rPr>
              <a:t>　</a:t>
            </a:r>
            <a:endParaRPr lang="en-US" altLang="zh-CN" sz="2400" dirty="0">
              <a:solidFill>
                <a:srgbClr val="000099"/>
              </a:solidFill>
              <a:latin typeface="Times New Roman" panose="02020603050405020304" pitchFamily="18" charset="0"/>
            </a:endParaRPr>
          </a:p>
          <a:p>
            <a:pPr algn="just" eaLnBrk="1" hangingPunct="1"/>
            <a:r>
              <a:rPr lang="en-US" altLang="zh-CN"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List the excitation and output function truth tables</a:t>
            </a:r>
            <a:r>
              <a:rPr lang="zh-CN" altLang="en-US" sz="2400" b="1" dirty="0">
                <a:solidFill>
                  <a:srgbClr val="000099"/>
                </a:solidFill>
                <a:latin typeface="Times New Roman" panose="02020603050405020304" pitchFamily="18" charset="0"/>
              </a:rPr>
              <a:t>；  </a:t>
            </a:r>
          </a:p>
          <a:p>
            <a:pPr algn="just" eaLnBrk="1" hangingPunct="1"/>
            <a:r>
              <a:rPr lang="zh-CN" altLang="en-US" sz="2400" dirty="0">
                <a:solidFill>
                  <a:srgbClr val="000099"/>
                </a:solidFill>
                <a:latin typeface="Times New Roman" panose="02020603050405020304" pitchFamily="18" charset="0"/>
                <a:sym typeface="Wingdings 3" panose="05040102010807070707" pitchFamily="18" charset="2"/>
              </a:rPr>
              <a:t>　   ●</a:t>
            </a:r>
            <a:r>
              <a:rPr lang="en-US" altLang="zh-CN" dirty="0">
                <a:solidFill>
                  <a:srgbClr val="000099"/>
                </a:solidFill>
                <a:latin typeface="Times New Roman" panose="02020603050405020304" pitchFamily="18" charset="0"/>
                <a:sym typeface="Wingdings 3" panose="05040102010807070707" pitchFamily="18" charset="2"/>
              </a:rPr>
              <a:t>Write the simplest expression after simplifying the Karnaugh maps.</a:t>
            </a:r>
            <a:endParaRPr lang="zh-CN" altLang="en-US" sz="2400" b="1" dirty="0">
              <a:solidFill>
                <a:srgbClr val="000099"/>
              </a:solidFill>
              <a:latin typeface="Times New Roman" panose="02020603050405020304" pitchFamily="18" charset="0"/>
            </a:endParaRPr>
          </a:p>
        </p:txBody>
      </p:sp>
      <p:sp>
        <p:nvSpPr>
          <p:cNvPr id="107523" name="Text Box 13">
            <a:extLst>
              <a:ext uri="{FF2B5EF4-FFF2-40B4-BE49-F238E27FC236}">
                <a16:creationId xmlns:a16="http://schemas.microsoft.com/office/drawing/2014/main" id="{F27D2F4D-C94A-48F2-80B8-9926A45DC8C0}"/>
              </a:ext>
            </a:extLst>
          </p:cNvPr>
          <p:cNvSpPr txBox="1">
            <a:spLocks noChangeArrowheads="1"/>
          </p:cNvSpPr>
          <p:nvPr/>
        </p:nvSpPr>
        <p:spPr bwMode="auto">
          <a:xfrm>
            <a:off x="251941" y="2234512"/>
            <a:ext cx="88931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latin typeface="Times New Roman" panose="02020603050405020304" pitchFamily="18" charset="0"/>
              </a:rPr>
              <a:t>Example: </a:t>
            </a:r>
            <a:r>
              <a:rPr lang="en-US" altLang="zh-CN" dirty="0">
                <a:solidFill>
                  <a:srgbClr val="CC3300"/>
                </a:solidFill>
                <a:latin typeface="Times New Roman" panose="02020603050405020304" pitchFamily="18" charset="0"/>
              </a:rPr>
              <a:t>The following binary state table functions are implemented with J-K flip-flops and appropriate logic gates.</a:t>
            </a:r>
            <a:endParaRPr lang="zh-CN" altLang="en-US" sz="2400" dirty="0">
              <a:latin typeface="Times New Roman" panose="02020603050405020304" pitchFamily="18" charset="0"/>
            </a:endParaRPr>
          </a:p>
        </p:txBody>
      </p:sp>
      <p:graphicFrame>
        <p:nvGraphicFramePr>
          <p:cNvPr id="107524" name="Group 4">
            <a:extLst>
              <a:ext uri="{FF2B5EF4-FFF2-40B4-BE49-F238E27FC236}">
                <a16:creationId xmlns:a16="http://schemas.microsoft.com/office/drawing/2014/main" id="{789CAC0A-9129-4D0E-BABB-A4C0D2B2D205}"/>
              </a:ext>
            </a:extLst>
          </p:cNvPr>
          <p:cNvGraphicFramePr>
            <a:graphicFrameLocks noGrp="1"/>
          </p:cNvGraphicFramePr>
          <p:nvPr>
            <p:extLst>
              <p:ext uri="{D42A27DB-BD31-4B8C-83A1-F6EECF244321}">
                <p14:modId xmlns:p14="http://schemas.microsoft.com/office/powerpoint/2010/main" val="1637977001"/>
              </p:ext>
            </p:extLst>
          </p:nvPr>
        </p:nvGraphicFramePr>
        <p:xfrm>
          <a:off x="2743200" y="3068638"/>
          <a:ext cx="3989388" cy="3418626"/>
        </p:xfrm>
        <a:graphic>
          <a:graphicData uri="http://schemas.openxmlformats.org/drawingml/2006/table">
            <a:tbl>
              <a:tblPr/>
              <a:tblGrid>
                <a:gridCol w="9398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563688">
                  <a:extLst>
                    <a:ext uri="{9D8B030D-6E8A-4147-A177-3AD203B41FA5}">
                      <a16:colId xmlns:a16="http://schemas.microsoft.com/office/drawing/2014/main" val="20002"/>
                    </a:ext>
                  </a:extLst>
                </a:gridCol>
              </a:tblGrid>
              <a:tr h="517402">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rPr>
                        <a:t>Present</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rPr>
                        <a:t>state</a:t>
                      </a:r>
                      <a:endParaRPr kumimoji="0" lang="zh-CN" altLang="en-US" sz="18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宋体" pitchFamily="2" charset="-122"/>
                        </a:rPr>
                        <a:t> </a:t>
                      </a:r>
                      <a:r>
                        <a:rPr kumimoji="0" lang="en-US" sz="2400" b="0" i="0" u="none" strike="noStrike" cap="none" normalizeH="0" baseline="0" dirty="0">
                          <a:ln>
                            <a:noFill/>
                          </a:ln>
                          <a:solidFill>
                            <a:schemeClr val="tx1"/>
                          </a:solidFill>
                          <a:effectLst/>
                          <a:latin typeface="Times New Roman" pitchFamily="18" charset="0"/>
                          <a:ea typeface="宋体" pitchFamily="2" charset="-122"/>
                        </a:rPr>
                        <a:t>y</a:t>
                      </a:r>
                      <a:r>
                        <a:rPr kumimoji="0" lang="en-US" sz="2400" b="0" i="0" u="none" strike="noStrike" cap="none" normalizeH="0" baseline="-25000" dirty="0">
                          <a:ln>
                            <a:noFill/>
                          </a:ln>
                          <a:solidFill>
                            <a:schemeClr val="tx1"/>
                          </a:solidFill>
                          <a:effectLst/>
                          <a:latin typeface="Times New Roman" pitchFamily="18" charset="0"/>
                          <a:ea typeface="宋体" pitchFamily="2" charset="-122"/>
                        </a:rPr>
                        <a:t>2</a:t>
                      </a:r>
                      <a:r>
                        <a:rPr kumimoji="0" lang="en-US" sz="2400" b="0" i="0" u="none" strike="noStrike" cap="none" normalizeH="0" baseline="0" dirty="0">
                          <a:ln>
                            <a:noFill/>
                          </a:ln>
                          <a:solidFill>
                            <a:schemeClr val="tx1"/>
                          </a:solidFill>
                          <a:effectLst/>
                          <a:latin typeface="Times New Roman" pitchFamily="18" charset="0"/>
                          <a:ea typeface="宋体" pitchFamily="2" charset="-122"/>
                        </a:rPr>
                        <a:t>y</a:t>
                      </a:r>
                      <a:r>
                        <a:rPr kumimoji="0" lang="en-US" sz="2400" b="0" i="0" u="none" strike="noStrike" cap="none" normalizeH="0" baseline="-25000" dirty="0">
                          <a:ln>
                            <a:noFill/>
                          </a:ln>
                          <a:solidFill>
                            <a:schemeClr val="tx1"/>
                          </a:solidFill>
                          <a:effectLst/>
                          <a:latin typeface="Times New Roman" pitchFamily="18" charset="0"/>
                          <a:ea typeface="宋体" pitchFamily="2" charset="-122"/>
                        </a:rPr>
                        <a:t>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宋体" pitchFamily="2" charset="-122"/>
                        </a:rPr>
                        <a:t>Next state y</a:t>
                      </a:r>
                      <a:r>
                        <a:rPr kumimoji="0" lang="en-US" sz="2400" b="0" i="0" u="none" strike="noStrike" cap="none" normalizeH="0" baseline="-25000" dirty="0">
                          <a:ln>
                            <a:noFill/>
                          </a:ln>
                          <a:solidFill>
                            <a:schemeClr val="tx1"/>
                          </a:solidFill>
                          <a:effectLst/>
                          <a:latin typeface="Times New Roman" pitchFamily="18" charset="0"/>
                          <a:ea typeface="宋体" pitchFamily="2" charset="-122"/>
                        </a:rPr>
                        <a:t>2</a:t>
                      </a:r>
                      <a:r>
                        <a:rPr kumimoji="0" lang="en-US" sz="2400" b="0" i="0" u="none" strike="noStrike" cap="none" normalizeH="0" baseline="30000" dirty="0">
                          <a:ln>
                            <a:noFill/>
                          </a:ln>
                          <a:solidFill>
                            <a:schemeClr val="tx1"/>
                          </a:solidFill>
                          <a:effectLst/>
                          <a:latin typeface="Times New Roman" pitchFamily="18" charset="0"/>
                          <a:ea typeface="宋体" pitchFamily="2" charset="-122"/>
                        </a:rPr>
                        <a:t>(n+1)</a:t>
                      </a:r>
                      <a:r>
                        <a:rPr kumimoji="0" lang="en-US" sz="2400" b="0" i="0" u="none" strike="noStrike" cap="none" normalizeH="0" baseline="0" dirty="0">
                          <a:ln>
                            <a:noFill/>
                          </a:ln>
                          <a:solidFill>
                            <a:schemeClr val="tx1"/>
                          </a:solidFill>
                          <a:effectLst/>
                          <a:latin typeface="Times New Roman" pitchFamily="18" charset="0"/>
                          <a:ea typeface="宋体" pitchFamily="2" charset="-122"/>
                        </a:rPr>
                        <a:t>y</a:t>
                      </a:r>
                      <a:r>
                        <a:rPr kumimoji="0" lang="en-US" sz="2400" b="0" i="0" u="none" strike="noStrike" cap="none" normalizeH="0" baseline="-25000" dirty="0">
                          <a:ln>
                            <a:noFill/>
                          </a:ln>
                          <a:solidFill>
                            <a:schemeClr val="tx1"/>
                          </a:solidFill>
                          <a:effectLst/>
                          <a:latin typeface="Times New Roman" pitchFamily="18" charset="0"/>
                          <a:ea typeface="宋体" pitchFamily="2" charset="-122"/>
                        </a:rPr>
                        <a:t>1</a:t>
                      </a:r>
                      <a:r>
                        <a:rPr kumimoji="0" lang="en-US" sz="2400" b="0" i="0" u="none" strike="noStrike" cap="none" normalizeH="0" baseline="30000" dirty="0">
                          <a:ln>
                            <a:noFill/>
                          </a:ln>
                          <a:solidFill>
                            <a:schemeClr val="tx1"/>
                          </a:solidFill>
                          <a:effectLst/>
                          <a:latin typeface="Times New Roman" pitchFamily="18" charset="0"/>
                          <a:ea typeface="宋体" pitchFamily="2" charset="-122"/>
                        </a:rPr>
                        <a:t>(n+1)</a:t>
                      </a:r>
                      <a:r>
                        <a:rPr kumimoji="0" lang="en-US" sz="24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20576">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x=1</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01/0</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9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00/1</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9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10</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11/0</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9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10/1</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111648" name="Picture 95" descr="Right_Green">
            <a:hlinkClick r:id="" action="ppaction://hlinkshowjump?jump=nextslide"/>
            <a:extLst>
              <a:ext uri="{FF2B5EF4-FFF2-40B4-BE49-F238E27FC236}">
                <a16:creationId xmlns:a16="http://schemas.microsoft.com/office/drawing/2014/main" id="{5C1B8A39-20D9-462C-9B37-415A8A11CC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9" name="Picture 96" descr="Left_Green">
            <a:hlinkClick r:id="" action="ppaction://hlinkshowjump?jump=previousslide"/>
            <a:extLst>
              <a:ext uri="{FF2B5EF4-FFF2-40B4-BE49-F238E27FC236}">
                <a16:creationId xmlns:a16="http://schemas.microsoft.com/office/drawing/2014/main" id="{98A13853-9D9F-401D-A784-9E11722990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34808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wipe(left)">
                                      <p:cBhvr>
                                        <p:cTn id="7" dur="500"/>
                                        <p:tgtEl>
                                          <p:spTgt spid="10752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7523"/>
                                        </p:tgtEl>
                                        <p:attrNameLst>
                                          <p:attrName>style.visibility</p:attrName>
                                        </p:attrNameLst>
                                      </p:cBhvr>
                                      <p:to>
                                        <p:strVal val="visible"/>
                                      </p:to>
                                    </p:set>
                                    <p:anim calcmode="lin" valueType="num">
                                      <p:cBhvr additive="base">
                                        <p:cTn id="12" dur="500" fill="hold"/>
                                        <p:tgtEl>
                                          <p:spTgt spid="107523"/>
                                        </p:tgtEl>
                                        <p:attrNameLst>
                                          <p:attrName>ppt_x</p:attrName>
                                        </p:attrNameLst>
                                      </p:cBhvr>
                                      <p:tavLst>
                                        <p:tav tm="0">
                                          <p:val>
                                            <p:strVal val="#ppt_x"/>
                                          </p:val>
                                        </p:tav>
                                        <p:tav tm="100000">
                                          <p:val>
                                            <p:strVal val="#ppt_x"/>
                                          </p:val>
                                        </p:tav>
                                      </p:tavLst>
                                    </p:anim>
                                    <p:anim calcmode="lin" valueType="num">
                                      <p:cBhvr additive="base">
                                        <p:cTn id="13" dur="500" fill="hold"/>
                                        <p:tgtEl>
                                          <p:spTgt spid="107523"/>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
                            </p:stCondLst>
                            <p:childTnLst>
                              <p:par>
                                <p:cTn id="15" presetID="3" presetClass="entr" presetSubtype="10" fill="hold" nodeType="afterEffect">
                                  <p:stCondLst>
                                    <p:cond delay="0"/>
                                  </p:stCondLst>
                                  <p:childTnLst>
                                    <p:set>
                                      <p:cBhvr>
                                        <p:cTn id="16" dur="1" fill="hold">
                                          <p:stCondLst>
                                            <p:cond delay="0"/>
                                          </p:stCondLst>
                                        </p:cTn>
                                        <p:tgtEl>
                                          <p:spTgt spid="107524"/>
                                        </p:tgtEl>
                                        <p:attrNameLst>
                                          <p:attrName>style.visibility</p:attrName>
                                        </p:attrNameLst>
                                      </p:cBhvr>
                                      <p:to>
                                        <p:strVal val="visible"/>
                                      </p:to>
                                    </p:set>
                                    <p:animEffect transition="in" filter="blinds(horizontal)">
                                      <p:cBhvr>
                                        <p:cTn id="17" dur="500"/>
                                        <p:tgtEl>
                                          <p:spTgt spid="107524"/>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3"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10">
            <a:extLst>
              <a:ext uri="{FF2B5EF4-FFF2-40B4-BE49-F238E27FC236}">
                <a16:creationId xmlns:a16="http://schemas.microsoft.com/office/drawing/2014/main" id="{A24400F3-47E1-46DF-93AE-9E417DFCC457}"/>
              </a:ext>
            </a:extLst>
          </p:cNvPr>
          <p:cNvSpPr txBox="1">
            <a:spLocks noChangeArrowheads="1"/>
          </p:cNvSpPr>
          <p:nvPr/>
        </p:nvSpPr>
        <p:spPr bwMode="auto">
          <a:xfrm>
            <a:off x="4075999" y="116632"/>
            <a:ext cx="496640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CC3300"/>
                </a:solidFill>
                <a:latin typeface="Times New Roman" panose="02020603050405020304" pitchFamily="18" charset="0"/>
              </a:rPr>
              <a:t>A: The truth table for the excitation and output functions can be listed according to the given binary state table and the excitation table for the J-K flip-flop as shown in the table to the right.</a:t>
            </a:r>
            <a:endParaRPr lang="zh-CN" altLang="en-US" sz="2400" dirty="0">
              <a:latin typeface="Times New Roman" panose="02020603050405020304" pitchFamily="18" charset="0"/>
            </a:endParaRPr>
          </a:p>
        </p:txBody>
      </p:sp>
      <p:sp>
        <p:nvSpPr>
          <p:cNvPr id="108547" name="AutoShape 16">
            <a:extLst>
              <a:ext uri="{FF2B5EF4-FFF2-40B4-BE49-F238E27FC236}">
                <a16:creationId xmlns:a16="http://schemas.microsoft.com/office/drawing/2014/main" id="{17F07F3B-C436-4AF9-849D-E45BA64EED86}"/>
              </a:ext>
            </a:extLst>
          </p:cNvPr>
          <p:cNvSpPr>
            <a:spLocks noChangeArrowheads="1"/>
          </p:cNvSpPr>
          <p:nvPr/>
        </p:nvSpPr>
        <p:spPr bwMode="auto">
          <a:xfrm rot="1386660">
            <a:off x="4114800" y="3657600"/>
            <a:ext cx="762000" cy="381000"/>
          </a:xfrm>
          <a:prstGeom prst="notchedRightArrow">
            <a:avLst>
              <a:gd name="adj1" fmla="val 50000"/>
              <a:gd name="adj2" fmla="val 50000"/>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8548" name="AutoShape 18">
            <a:extLst>
              <a:ext uri="{FF2B5EF4-FFF2-40B4-BE49-F238E27FC236}">
                <a16:creationId xmlns:a16="http://schemas.microsoft.com/office/drawing/2014/main" id="{34F306EB-65D1-40AB-8ED7-31E5F076180F}"/>
              </a:ext>
            </a:extLst>
          </p:cNvPr>
          <p:cNvSpPr>
            <a:spLocks noChangeArrowheads="1"/>
          </p:cNvSpPr>
          <p:nvPr/>
        </p:nvSpPr>
        <p:spPr bwMode="auto">
          <a:xfrm rot="-1314353">
            <a:off x="4119563" y="4954588"/>
            <a:ext cx="762000" cy="381000"/>
          </a:xfrm>
          <a:prstGeom prst="notchedRightArrow">
            <a:avLst>
              <a:gd name="adj1" fmla="val 50000"/>
              <a:gd name="adj2" fmla="val 50000"/>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08549" name="Group 5">
            <a:extLst>
              <a:ext uri="{FF2B5EF4-FFF2-40B4-BE49-F238E27FC236}">
                <a16:creationId xmlns:a16="http://schemas.microsoft.com/office/drawing/2014/main" id="{084453BB-59ED-4F86-81F3-51B7A917D002}"/>
              </a:ext>
            </a:extLst>
          </p:cNvPr>
          <p:cNvGraphicFramePr>
            <a:graphicFrameLocks noGrp="1"/>
          </p:cNvGraphicFramePr>
          <p:nvPr>
            <p:extLst>
              <p:ext uri="{D42A27DB-BD31-4B8C-83A1-F6EECF244321}">
                <p14:modId xmlns:p14="http://schemas.microsoft.com/office/powerpoint/2010/main" val="579252053"/>
              </p:ext>
            </p:extLst>
          </p:nvPr>
        </p:nvGraphicFramePr>
        <p:xfrm>
          <a:off x="228600" y="685800"/>
          <a:ext cx="3810000" cy="3113089"/>
        </p:xfrm>
        <a:graphic>
          <a:graphicData uri="http://schemas.openxmlformats.org/drawingml/2006/table">
            <a:tbl>
              <a:tblPr/>
              <a:tblGrid>
                <a:gridCol w="896938">
                  <a:extLst>
                    <a:ext uri="{9D8B030D-6E8A-4147-A177-3AD203B41FA5}">
                      <a16:colId xmlns:a16="http://schemas.microsoft.com/office/drawing/2014/main" val="20000"/>
                    </a:ext>
                  </a:extLst>
                </a:gridCol>
                <a:gridCol w="1419225">
                  <a:extLst>
                    <a:ext uri="{9D8B030D-6E8A-4147-A177-3AD203B41FA5}">
                      <a16:colId xmlns:a16="http://schemas.microsoft.com/office/drawing/2014/main" val="20001"/>
                    </a:ext>
                  </a:extLst>
                </a:gridCol>
                <a:gridCol w="1493837">
                  <a:extLst>
                    <a:ext uri="{9D8B030D-6E8A-4147-A177-3AD203B41FA5}">
                      <a16:colId xmlns:a16="http://schemas.microsoft.com/office/drawing/2014/main" val="20002"/>
                    </a:ext>
                  </a:extLst>
                </a:gridCol>
              </a:tblGrid>
              <a:tr h="517402">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Present state</a:t>
                      </a:r>
                      <a:endParaRPr kumimoji="0" lang="zh-CN" altLang="en-US" sz="1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rPr>
                        <a:t> </a:t>
                      </a:r>
                      <a:r>
                        <a:rPr kumimoji="0" lang="en-US" sz="1800" b="0" i="0" u="none" strike="noStrike" cap="none" normalizeH="0" baseline="0" dirty="0">
                          <a:ln>
                            <a:noFill/>
                          </a:ln>
                          <a:solidFill>
                            <a:schemeClr val="tx1"/>
                          </a:solidFill>
                          <a:effectLst/>
                          <a:latin typeface="Times New Roman" pitchFamily="18" charset="0"/>
                          <a:ea typeface="宋体" pitchFamily="2" charset="-122"/>
                        </a:rPr>
                        <a:t>y</a:t>
                      </a:r>
                      <a:r>
                        <a:rPr kumimoji="0" lang="en-US" sz="1800" b="0" i="0" u="none" strike="noStrike" cap="none" normalizeH="0" baseline="-25000" dirty="0">
                          <a:ln>
                            <a:noFill/>
                          </a:ln>
                          <a:solidFill>
                            <a:schemeClr val="tx1"/>
                          </a:solidFill>
                          <a:effectLst/>
                          <a:latin typeface="Times New Roman" pitchFamily="18" charset="0"/>
                          <a:ea typeface="宋体" pitchFamily="2" charset="-122"/>
                        </a:rPr>
                        <a:t>2</a:t>
                      </a:r>
                      <a:r>
                        <a:rPr kumimoji="0" lang="en-US" sz="1800" b="0" i="0" u="none" strike="noStrike" cap="none" normalizeH="0" baseline="0" dirty="0">
                          <a:ln>
                            <a:noFill/>
                          </a:ln>
                          <a:solidFill>
                            <a:schemeClr val="tx1"/>
                          </a:solidFill>
                          <a:effectLst/>
                          <a:latin typeface="Times New Roman" pitchFamily="18" charset="0"/>
                          <a:ea typeface="宋体" pitchFamily="2" charset="-122"/>
                        </a:rPr>
                        <a:t>y</a:t>
                      </a:r>
                      <a:r>
                        <a:rPr kumimoji="0" lang="en-US" sz="1800" b="0" i="0" u="none" strike="noStrike" cap="none" normalizeH="0" baseline="-25000" dirty="0">
                          <a:ln>
                            <a:noFill/>
                          </a:ln>
                          <a:solidFill>
                            <a:schemeClr val="tx1"/>
                          </a:solidFill>
                          <a:effectLst/>
                          <a:latin typeface="Times New Roman" pitchFamily="18" charset="0"/>
                          <a:ea typeface="宋体" pitchFamily="2" charset="-122"/>
                        </a:rPr>
                        <a:t>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Next state </a:t>
                      </a:r>
                      <a:r>
                        <a:rPr kumimoji="0" lang="en-US" sz="1600" b="0" i="0" u="none" strike="noStrike" cap="none" normalizeH="0" baseline="0" dirty="0">
                          <a:ln>
                            <a:noFill/>
                          </a:ln>
                          <a:solidFill>
                            <a:schemeClr val="tx1"/>
                          </a:solidFill>
                          <a:effectLst/>
                          <a:latin typeface="Times New Roman" pitchFamily="18" charset="0"/>
                          <a:ea typeface="宋体" pitchFamily="2" charset="-122"/>
                        </a:rPr>
                        <a:t>y</a:t>
                      </a:r>
                      <a:r>
                        <a:rPr kumimoji="0" lang="en-US" sz="1600" b="0" i="0" u="none" strike="noStrike" cap="none" normalizeH="0" baseline="-25000" dirty="0">
                          <a:ln>
                            <a:noFill/>
                          </a:ln>
                          <a:solidFill>
                            <a:schemeClr val="tx1"/>
                          </a:solidFill>
                          <a:effectLst/>
                          <a:latin typeface="Times New Roman" pitchFamily="18" charset="0"/>
                          <a:ea typeface="宋体" pitchFamily="2" charset="-122"/>
                        </a:rPr>
                        <a:t>2</a:t>
                      </a:r>
                      <a:r>
                        <a:rPr kumimoji="0" lang="en-US" sz="1600" b="0" i="0" u="none" strike="noStrike" cap="none" normalizeH="0" baseline="30000" dirty="0">
                          <a:ln>
                            <a:noFill/>
                          </a:ln>
                          <a:solidFill>
                            <a:schemeClr val="tx1"/>
                          </a:solidFill>
                          <a:effectLst/>
                          <a:latin typeface="Times New Roman" pitchFamily="18" charset="0"/>
                          <a:ea typeface="宋体" pitchFamily="2" charset="-122"/>
                        </a:rPr>
                        <a:t>(n+1)</a:t>
                      </a:r>
                      <a:r>
                        <a:rPr kumimoji="0" lang="en-US" sz="1600" b="0" i="0" u="none" strike="noStrike" cap="none" normalizeH="0" baseline="0" dirty="0">
                          <a:ln>
                            <a:noFill/>
                          </a:ln>
                          <a:solidFill>
                            <a:schemeClr val="tx1"/>
                          </a:solidFill>
                          <a:effectLst/>
                          <a:latin typeface="Times New Roman" pitchFamily="18" charset="0"/>
                          <a:ea typeface="宋体" pitchFamily="2" charset="-122"/>
                        </a:rPr>
                        <a:t>y</a:t>
                      </a:r>
                      <a:r>
                        <a:rPr kumimoji="0" lang="en-US" sz="1600" b="0" i="0" u="none" strike="noStrike" cap="none" normalizeH="0" baseline="-25000" dirty="0">
                          <a:ln>
                            <a:noFill/>
                          </a:ln>
                          <a:solidFill>
                            <a:schemeClr val="tx1"/>
                          </a:solidFill>
                          <a:effectLst/>
                          <a:latin typeface="Times New Roman" pitchFamily="18" charset="0"/>
                          <a:ea typeface="宋体" pitchFamily="2" charset="-122"/>
                        </a:rPr>
                        <a:t>1</a:t>
                      </a:r>
                      <a:r>
                        <a:rPr kumimoji="0" lang="en-US" sz="1600" b="0" i="0" u="none" strike="noStrike" cap="none" normalizeH="0" baseline="30000" dirty="0">
                          <a:ln>
                            <a:noFill/>
                          </a:ln>
                          <a:solidFill>
                            <a:schemeClr val="tx1"/>
                          </a:solidFill>
                          <a:effectLst/>
                          <a:latin typeface="Times New Roman" pitchFamily="18" charset="0"/>
                          <a:ea typeface="宋体" pitchFamily="2" charset="-122"/>
                        </a:rPr>
                        <a:t>(n+1)</a:t>
                      </a:r>
                      <a:r>
                        <a:rPr kumimoji="0" lang="en-US" sz="16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1600" b="0" i="0" u="none" strike="noStrike" cap="none" normalizeH="0" baseline="0" dirty="0">
                        <a:ln>
                          <a:noFill/>
                        </a:ln>
                        <a:solidFill>
                          <a:schemeClr val="tx1"/>
                        </a:solidFill>
                        <a:effectLst/>
                        <a:latin typeface="Times New Roman" pitchFamily="18" charset="0"/>
                        <a:ea typeface="宋体"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20577">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x=1</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01/0</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9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00/0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00/1</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9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10</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01/0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11/0</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9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11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ea typeface="宋体" pitchFamily="2" charset="-122"/>
                        </a:rPr>
                        <a:t>  00/1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ea typeface="宋体" pitchFamily="2" charset="-122"/>
                        </a:rPr>
                        <a:t>  10/1</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08577" name="Group 33">
            <a:extLst>
              <a:ext uri="{FF2B5EF4-FFF2-40B4-BE49-F238E27FC236}">
                <a16:creationId xmlns:a16="http://schemas.microsoft.com/office/drawing/2014/main" id="{B57D4B5F-D2E6-40EE-B8A2-B8AED1AB7D82}"/>
              </a:ext>
            </a:extLst>
          </p:cNvPr>
          <p:cNvGrpSpPr>
            <a:grpSpLocks/>
          </p:cNvGrpSpPr>
          <p:nvPr/>
        </p:nvGrpSpPr>
        <p:grpSpPr bwMode="auto">
          <a:xfrm>
            <a:off x="1143000" y="3860800"/>
            <a:ext cx="2438400" cy="2743200"/>
            <a:chOff x="0" y="0"/>
            <a:chExt cx="1536" cy="1728"/>
          </a:xfrm>
        </p:grpSpPr>
        <p:sp>
          <p:nvSpPr>
            <p:cNvPr id="112677" name="Line 70">
              <a:extLst>
                <a:ext uri="{FF2B5EF4-FFF2-40B4-BE49-F238E27FC236}">
                  <a16:creationId xmlns:a16="http://schemas.microsoft.com/office/drawing/2014/main" id="{4EEC04F2-2DEE-43B8-A9C6-4CA5C84C9C80}"/>
                </a:ext>
              </a:extLst>
            </p:cNvPr>
            <p:cNvSpPr>
              <a:spLocks noChangeShapeType="1"/>
            </p:cNvSpPr>
            <p:nvPr/>
          </p:nvSpPr>
          <p:spPr bwMode="auto">
            <a:xfrm>
              <a:off x="0" y="336"/>
              <a:ext cx="15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78" name="Line 71">
              <a:extLst>
                <a:ext uri="{FF2B5EF4-FFF2-40B4-BE49-F238E27FC236}">
                  <a16:creationId xmlns:a16="http://schemas.microsoft.com/office/drawing/2014/main" id="{40F8B35E-2EB4-4800-BE13-CB4B08DFE1F3}"/>
                </a:ext>
              </a:extLst>
            </p:cNvPr>
            <p:cNvSpPr>
              <a:spLocks noChangeShapeType="1"/>
            </p:cNvSpPr>
            <p:nvPr/>
          </p:nvSpPr>
          <p:spPr bwMode="auto">
            <a:xfrm flipH="1">
              <a:off x="768" y="48"/>
              <a:ext cx="0" cy="16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79" name="Text Box 72">
              <a:extLst>
                <a:ext uri="{FF2B5EF4-FFF2-40B4-BE49-F238E27FC236}">
                  <a16:creationId xmlns:a16="http://schemas.microsoft.com/office/drawing/2014/main" id="{412C27F4-C82A-417A-86CC-33078471A15E}"/>
                </a:ext>
              </a:extLst>
            </p:cNvPr>
            <p:cNvSpPr txBox="1">
              <a:spLocks noChangeArrowheads="1"/>
            </p:cNvSpPr>
            <p:nvPr/>
          </p:nvSpPr>
          <p:spPr bwMode="auto">
            <a:xfrm>
              <a:off x="48" y="0"/>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QQ</a:t>
              </a:r>
              <a:r>
                <a:rPr lang="en-US" altLang="zh-CN" sz="2400" baseline="30000">
                  <a:latin typeface="Times New Roman" panose="02020603050405020304" pitchFamily="18" charset="0"/>
                </a:rPr>
                <a:t>(n+1)</a:t>
              </a:r>
            </a:p>
          </p:txBody>
        </p:sp>
        <p:sp>
          <p:nvSpPr>
            <p:cNvPr id="112680" name="Text Box 73">
              <a:extLst>
                <a:ext uri="{FF2B5EF4-FFF2-40B4-BE49-F238E27FC236}">
                  <a16:creationId xmlns:a16="http://schemas.microsoft.com/office/drawing/2014/main" id="{6DC47F96-027F-4518-9485-BEECE33D621D}"/>
                </a:ext>
              </a:extLst>
            </p:cNvPr>
            <p:cNvSpPr txBox="1">
              <a:spLocks noChangeArrowheads="1"/>
            </p:cNvSpPr>
            <p:nvPr/>
          </p:nvSpPr>
          <p:spPr bwMode="auto">
            <a:xfrm>
              <a:off x="960" y="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J K</a:t>
              </a:r>
            </a:p>
          </p:txBody>
        </p:sp>
        <p:sp>
          <p:nvSpPr>
            <p:cNvPr id="112681" name="Text Box 74">
              <a:extLst>
                <a:ext uri="{FF2B5EF4-FFF2-40B4-BE49-F238E27FC236}">
                  <a16:creationId xmlns:a16="http://schemas.microsoft.com/office/drawing/2014/main" id="{2650F9FC-1C06-4002-BB4A-1751BD9F5A39}"/>
                </a:ext>
              </a:extLst>
            </p:cNvPr>
            <p:cNvSpPr txBox="1">
              <a:spLocks noChangeArrowheads="1"/>
            </p:cNvSpPr>
            <p:nvPr/>
          </p:nvSpPr>
          <p:spPr bwMode="auto">
            <a:xfrm>
              <a:off x="96" y="384"/>
              <a:ext cx="48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FF0066"/>
                  </a:solidFill>
                  <a:latin typeface="Times New Roman" panose="02020603050405020304" pitchFamily="18" charset="0"/>
                </a:rPr>
                <a:t>0 0</a:t>
              </a:r>
            </a:p>
            <a:p>
              <a:pPr eaLnBrk="1" hangingPunct="1">
                <a:spcBef>
                  <a:spcPct val="50000"/>
                </a:spcBef>
              </a:pPr>
              <a:r>
                <a:rPr lang="en-US" altLang="zh-CN" sz="2400" b="1">
                  <a:solidFill>
                    <a:srgbClr val="FF0066"/>
                  </a:solidFill>
                  <a:latin typeface="Times New Roman" panose="02020603050405020304" pitchFamily="18" charset="0"/>
                </a:rPr>
                <a:t>01</a:t>
              </a:r>
            </a:p>
            <a:p>
              <a:pPr eaLnBrk="1" hangingPunct="1">
                <a:spcBef>
                  <a:spcPct val="50000"/>
                </a:spcBef>
              </a:pPr>
              <a:r>
                <a:rPr lang="en-US" altLang="zh-CN" sz="2400" b="1">
                  <a:solidFill>
                    <a:srgbClr val="FF0066"/>
                  </a:solidFill>
                  <a:latin typeface="Times New Roman" panose="02020603050405020304" pitchFamily="18" charset="0"/>
                </a:rPr>
                <a:t>10</a:t>
              </a:r>
            </a:p>
            <a:p>
              <a:pPr eaLnBrk="1" hangingPunct="1">
                <a:spcBef>
                  <a:spcPct val="50000"/>
                </a:spcBef>
              </a:pPr>
              <a:r>
                <a:rPr lang="en-US" altLang="zh-CN" sz="2400" b="1">
                  <a:solidFill>
                    <a:srgbClr val="FF0066"/>
                  </a:solidFill>
                  <a:latin typeface="Times New Roman" panose="02020603050405020304" pitchFamily="18" charset="0"/>
                </a:rPr>
                <a:t>11</a:t>
              </a:r>
              <a:r>
                <a:rPr lang="en-US" altLang="zh-CN" sz="2400">
                  <a:solidFill>
                    <a:srgbClr val="FF33CC"/>
                  </a:solidFill>
                  <a:latin typeface="Times New Roman" panose="02020603050405020304" pitchFamily="18" charset="0"/>
                </a:rPr>
                <a:t> </a:t>
              </a:r>
            </a:p>
          </p:txBody>
        </p:sp>
        <p:sp>
          <p:nvSpPr>
            <p:cNvPr id="112682" name="Text Box 75">
              <a:extLst>
                <a:ext uri="{FF2B5EF4-FFF2-40B4-BE49-F238E27FC236}">
                  <a16:creationId xmlns:a16="http://schemas.microsoft.com/office/drawing/2014/main" id="{A86BE93C-2EBC-4EB8-882D-4E27AC3A7D42}"/>
                </a:ext>
              </a:extLst>
            </p:cNvPr>
            <p:cNvSpPr txBox="1">
              <a:spLocks noChangeArrowheads="1"/>
            </p:cNvSpPr>
            <p:nvPr/>
          </p:nvSpPr>
          <p:spPr bwMode="auto">
            <a:xfrm>
              <a:off x="912" y="372"/>
              <a:ext cx="528"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FF0066"/>
                  </a:solidFill>
                  <a:latin typeface="Times New Roman" panose="02020603050405020304" pitchFamily="18" charset="0"/>
                </a:rPr>
                <a:t>0 d</a:t>
              </a:r>
            </a:p>
            <a:p>
              <a:pPr eaLnBrk="1" hangingPunct="1">
                <a:spcBef>
                  <a:spcPct val="50000"/>
                </a:spcBef>
              </a:pPr>
              <a:r>
                <a:rPr lang="en-US" altLang="zh-CN" sz="2400" b="1">
                  <a:solidFill>
                    <a:srgbClr val="FF0066"/>
                  </a:solidFill>
                  <a:latin typeface="Times New Roman" panose="02020603050405020304" pitchFamily="18" charset="0"/>
                </a:rPr>
                <a:t>1 d</a:t>
              </a:r>
            </a:p>
            <a:p>
              <a:pPr eaLnBrk="1" hangingPunct="1">
                <a:spcBef>
                  <a:spcPct val="50000"/>
                </a:spcBef>
              </a:pPr>
              <a:r>
                <a:rPr lang="en-US" altLang="zh-CN" sz="2400" b="1">
                  <a:solidFill>
                    <a:srgbClr val="FF0066"/>
                  </a:solidFill>
                  <a:latin typeface="Times New Roman" panose="02020603050405020304" pitchFamily="18" charset="0"/>
                </a:rPr>
                <a:t>d 1</a:t>
              </a:r>
            </a:p>
            <a:p>
              <a:pPr eaLnBrk="1" hangingPunct="1">
                <a:spcBef>
                  <a:spcPct val="50000"/>
                </a:spcBef>
              </a:pPr>
              <a:r>
                <a:rPr lang="en-US" altLang="zh-CN" sz="2400" b="1">
                  <a:solidFill>
                    <a:srgbClr val="FF0066"/>
                  </a:solidFill>
                  <a:latin typeface="Times New Roman" panose="02020603050405020304" pitchFamily="18" charset="0"/>
                </a:rPr>
                <a:t>d 0</a:t>
              </a:r>
            </a:p>
          </p:txBody>
        </p:sp>
      </p:grpSp>
      <p:pic>
        <p:nvPicPr>
          <p:cNvPr id="108584" name="Picture 79" descr="BIAO5-26">
            <a:extLst>
              <a:ext uri="{FF2B5EF4-FFF2-40B4-BE49-F238E27FC236}">
                <a16:creationId xmlns:a16="http://schemas.microsoft.com/office/drawing/2014/main" id="{E3E3B3E9-3788-44CB-8A10-09035688E333}"/>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4953000" y="2362200"/>
            <a:ext cx="4191000" cy="390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5" name="Picture 81" descr="Right_Green">
            <a:hlinkClick r:id="" action="ppaction://hlinkshowjump?jump=nextslide"/>
            <a:extLst>
              <a:ext uri="{FF2B5EF4-FFF2-40B4-BE49-F238E27FC236}">
                <a16:creationId xmlns:a16="http://schemas.microsoft.com/office/drawing/2014/main" id="{9E022241-FF54-4C8A-A721-90E45D9493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6" name="Picture 82" descr="Left_Green">
            <a:hlinkClick r:id="" action="ppaction://hlinkshowjump?jump=previousslide"/>
            <a:extLst>
              <a:ext uri="{FF2B5EF4-FFF2-40B4-BE49-F238E27FC236}">
                <a16:creationId xmlns:a16="http://schemas.microsoft.com/office/drawing/2014/main" id="{81F037D2-3E77-40C4-88FD-DF564205A9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a:extLst>
              <a:ext uri="{FF2B5EF4-FFF2-40B4-BE49-F238E27FC236}">
                <a16:creationId xmlns:a16="http://schemas.microsoft.com/office/drawing/2014/main" id="{6521FA22-D3E6-4046-9919-8F62CDB5272E}"/>
              </a:ext>
            </a:extLst>
          </p:cNvPr>
          <p:cNvSpPr txBox="1"/>
          <p:nvPr/>
        </p:nvSpPr>
        <p:spPr>
          <a:xfrm>
            <a:off x="5148064" y="2404021"/>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p:sp>
        <p:nvSpPr>
          <p:cNvPr id="17" name="文本框 16">
            <a:extLst>
              <a:ext uri="{FF2B5EF4-FFF2-40B4-BE49-F238E27FC236}">
                <a16:creationId xmlns:a16="http://schemas.microsoft.com/office/drawing/2014/main" id="{F73085F3-52DF-49A8-9263-A0E7C0EA3206}"/>
              </a:ext>
            </a:extLst>
          </p:cNvPr>
          <p:cNvSpPr txBox="1"/>
          <p:nvPr/>
        </p:nvSpPr>
        <p:spPr>
          <a:xfrm>
            <a:off x="6369511" y="2924944"/>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19" name="文本框 18">
            <a:extLst>
              <a:ext uri="{FF2B5EF4-FFF2-40B4-BE49-F238E27FC236}">
                <a16:creationId xmlns:a16="http://schemas.microsoft.com/office/drawing/2014/main" id="{F8E00EC2-1D4B-4806-9AD7-2E275C322D87}"/>
              </a:ext>
            </a:extLst>
          </p:cNvPr>
          <p:cNvSpPr txBox="1"/>
          <p:nvPr/>
        </p:nvSpPr>
        <p:spPr>
          <a:xfrm>
            <a:off x="7813895" y="2924944"/>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mc:AlternateContent xmlns:mc="http://schemas.openxmlformats.org/markup-compatibility/2006">
        <mc:Choice xmlns:p14="http://schemas.microsoft.com/office/powerpoint/2010/main" Requires="p14">
          <p:contentPart p14:bwMode="auto" r:id="rId8">
            <p14:nvContentPartPr>
              <p14:cNvPr id="2" name="墨迹 1">
                <a:extLst>
                  <a:ext uri="{FF2B5EF4-FFF2-40B4-BE49-F238E27FC236}">
                    <a16:creationId xmlns:a16="http://schemas.microsoft.com/office/drawing/2014/main" id="{7BE94CD2-FBC5-4E0B-9CF6-264F9147DC25}"/>
                  </a:ext>
                </a:extLst>
              </p14:cNvPr>
              <p14:cNvContentPartPr/>
              <p14:nvPr/>
            </p14:nvContentPartPr>
            <p14:xfrm>
              <a:off x="4628880" y="2607120"/>
              <a:ext cx="349920" cy="501120"/>
            </p14:xfrm>
          </p:contentPart>
        </mc:Choice>
        <mc:Fallback>
          <p:pic>
            <p:nvPicPr>
              <p:cNvPr id="2" name="墨迹 1">
                <a:extLst>
                  <a:ext uri="{FF2B5EF4-FFF2-40B4-BE49-F238E27FC236}">
                    <a16:creationId xmlns:a16="http://schemas.microsoft.com/office/drawing/2014/main" id="{7BE94CD2-FBC5-4E0B-9CF6-264F9147DC25}"/>
                  </a:ext>
                </a:extLst>
              </p:cNvPr>
              <p:cNvPicPr/>
              <p:nvPr/>
            </p:nvPicPr>
            <p:blipFill>
              <a:blip r:embed="rId9"/>
              <a:stretch>
                <a:fillRect/>
              </a:stretch>
            </p:blipFill>
            <p:spPr>
              <a:xfrm>
                <a:off x="4619520" y="2597760"/>
                <a:ext cx="368640" cy="519840"/>
              </a:xfrm>
              <a:prstGeom prst="rect">
                <a:avLst/>
              </a:prstGeom>
            </p:spPr>
          </p:pic>
        </mc:Fallback>
      </mc:AlternateContent>
    </p:spTree>
    <p:extLst>
      <p:ext uri="{BB962C8B-B14F-4D97-AF65-F5344CB8AC3E}">
        <p14:creationId xmlns:p14="http://schemas.microsoft.com/office/powerpoint/2010/main" val="3056871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8549"/>
                                        </p:tgtEl>
                                        <p:attrNameLst>
                                          <p:attrName>style.visibility</p:attrName>
                                        </p:attrNameLst>
                                      </p:cBhvr>
                                      <p:to>
                                        <p:strVal val="visible"/>
                                      </p:to>
                                    </p:set>
                                    <p:animEffect transition="in" filter="blinds(horizontal)">
                                      <p:cBhvr>
                                        <p:cTn id="7" dur="500"/>
                                        <p:tgtEl>
                                          <p:spTgt spid="108549"/>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8546"/>
                                        </p:tgtEl>
                                        <p:attrNameLst>
                                          <p:attrName>style.visibility</p:attrName>
                                        </p:attrNameLst>
                                      </p:cBhvr>
                                      <p:to>
                                        <p:strVal val="visible"/>
                                      </p:to>
                                    </p:set>
                                    <p:animEffect transition="in" filter="slide(fromBottom)">
                                      <p:cBhvr>
                                        <p:cTn id="12" dur="500"/>
                                        <p:tgtEl>
                                          <p:spTgt spid="108546"/>
                                        </p:tgtEl>
                                      </p:cBhvr>
                                    </p:animEffect>
                                  </p:childTnLst>
                                  <p:subTnLst>
                                    <p:audio>
                                      <p:cMediaNode>
                                        <p:cTn display="0" masterRel="sameClick">
                                          <p:stCondLst>
                                            <p:cond evt="begin" delay="0">
                                              <p:tn val="10"/>
                                            </p:cond>
                                          </p:stCondLst>
                                          <p:endCondLst>
                                            <p:cond evt="onStopAudio" delay="0">
                                              <p:tgtEl>
                                                <p:sldTgt/>
                                              </p:tgtEl>
                                            </p:cond>
                                          </p:endCondLst>
                                        </p:cTn>
                                        <p:tgtEl>
                                          <p:sndTgt r:embed="rId4" name="projctor.wav"/>
                                        </p:tgtEl>
                                      </p:cMediaNode>
                                    </p:audio>
                                  </p:subTnLst>
                                </p:cTn>
                              </p:par>
                            </p:childTnLst>
                          </p:cTn>
                        </p:par>
                        <p:par>
                          <p:cTn id="13" fill="hold" nodeType="afterGroup">
                            <p:stCondLst>
                              <p:cond delay="500"/>
                            </p:stCondLst>
                            <p:childTnLst>
                              <p:par>
                                <p:cTn id="14" presetID="2" presetClass="entr" presetSubtype="4" fill="hold" nodeType="afterEffect">
                                  <p:stCondLst>
                                    <p:cond delay="0"/>
                                  </p:stCondLst>
                                  <p:childTnLst>
                                    <p:set>
                                      <p:cBhvr>
                                        <p:cTn id="15" dur="1" fill="hold">
                                          <p:stCondLst>
                                            <p:cond delay="0"/>
                                          </p:stCondLst>
                                        </p:cTn>
                                        <p:tgtEl>
                                          <p:spTgt spid="108577"/>
                                        </p:tgtEl>
                                        <p:attrNameLst>
                                          <p:attrName>style.visibility</p:attrName>
                                        </p:attrNameLst>
                                      </p:cBhvr>
                                      <p:to>
                                        <p:strVal val="visible"/>
                                      </p:to>
                                    </p:set>
                                    <p:anim calcmode="lin" valueType="num">
                                      <p:cBhvr additive="base">
                                        <p:cTn id="16" dur="500" fill="hold"/>
                                        <p:tgtEl>
                                          <p:spTgt spid="108577"/>
                                        </p:tgtEl>
                                        <p:attrNameLst>
                                          <p:attrName>ppt_x</p:attrName>
                                        </p:attrNameLst>
                                      </p:cBhvr>
                                      <p:tavLst>
                                        <p:tav tm="0">
                                          <p:val>
                                            <p:strVal val="#ppt_x"/>
                                          </p:val>
                                        </p:tav>
                                        <p:tav tm="100000">
                                          <p:val>
                                            <p:strVal val="#ppt_x"/>
                                          </p:val>
                                        </p:tav>
                                      </p:tavLst>
                                    </p:anim>
                                    <p:anim calcmode="lin" valueType="num">
                                      <p:cBhvr additive="base">
                                        <p:cTn id="17" dur="500" fill="hold"/>
                                        <p:tgtEl>
                                          <p:spTgt spid="10857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par>
                          <p:cTn id="18" fill="hold" nodeType="afterGroup">
                            <p:stCondLst>
                              <p:cond delay="1000"/>
                            </p:stCondLst>
                            <p:childTnLst>
                              <p:par>
                                <p:cTn id="19" presetID="1" presetClass="entr" presetSubtype="0" fill="hold" grpId="0" nodeType="afterEffect">
                                  <p:stCondLst>
                                    <p:cond delay="0"/>
                                  </p:stCondLst>
                                  <p:childTnLst>
                                    <p:set>
                                      <p:cBhvr>
                                        <p:cTn id="20" dur="1" fill="hold">
                                          <p:stCondLst>
                                            <p:cond delay="499"/>
                                          </p:stCondLst>
                                        </p:cTn>
                                        <p:tgtEl>
                                          <p:spTgt spid="108547"/>
                                        </p:tgtEl>
                                        <p:attrNameLst>
                                          <p:attrName>style.visibility</p:attrName>
                                        </p:attrNameLst>
                                      </p:cBhvr>
                                      <p:to>
                                        <p:strVal val="visible"/>
                                      </p:to>
                                    </p:set>
                                  </p:childTnLst>
                                </p:cTn>
                              </p:par>
                            </p:childTnLst>
                          </p:cTn>
                        </p:par>
                        <p:par>
                          <p:cTn id="21" fill="hold" nodeType="afterGroup">
                            <p:stCondLst>
                              <p:cond delay="1500"/>
                            </p:stCondLst>
                            <p:childTnLst>
                              <p:par>
                                <p:cTn id="22" presetID="1" presetClass="entr" presetSubtype="0" fill="hold" grpId="0" nodeType="afterEffect">
                                  <p:stCondLst>
                                    <p:cond delay="0"/>
                                  </p:stCondLst>
                                  <p:childTnLst>
                                    <p:set>
                                      <p:cBhvr>
                                        <p:cTn id="23" dur="1" fill="hold">
                                          <p:stCondLst>
                                            <p:cond delay="499"/>
                                          </p:stCondLst>
                                        </p:cTn>
                                        <p:tgtEl>
                                          <p:spTgt spid="108548"/>
                                        </p:tgtEl>
                                        <p:attrNameLst>
                                          <p:attrName>style.visibility</p:attrName>
                                        </p:attrNameLst>
                                      </p:cBhvr>
                                      <p:to>
                                        <p:strVal val="visible"/>
                                      </p:to>
                                    </p:set>
                                  </p:childTnLst>
                                </p:cTn>
                              </p:par>
                            </p:childTnLst>
                          </p:cTn>
                        </p:par>
                        <p:par>
                          <p:cTn id="24" fill="hold" nodeType="afterGroup">
                            <p:stCondLst>
                              <p:cond delay="2000"/>
                            </p:stCondLst>
                            <p:childTnLst>
                              <p:par>
                                <p:cTn id="25" presetID="2" presetClass="entr" presetSubtype="2" fill="hold" nodeType="afterEffect">
                                  <p:stCondLst>
                                    <p:cond delay="0"/>
                                  </p:stCondLst>
                                  <p:childTnLst>
                                    <p:set>
                                      <p:cBhvr>
                                        <p:cTn id="26" dur="1" fill="hold">
                                          <p:stCondLst>
                                            <p:cond delay="0"/>
                                          </p:stCondLst>
                                        </p:cTn>
                                        <p:tgtEl>
                                          <p:spTgt spid="108584"/>
                                        </p:tgtEl>
                                        <p:attrNameLst>
                                          <p:attrName>style.visibility</p:attrName>
                                        </p:attrNameLst>
                                      </p:cBhvr>
                                      <p:to>
                                        <p:strVal val="visible"/>
                                      </p:to>
                                    </p:set>
                                    <p:anim calcmode="lin" valueType="num">
                                      <p:cBhvr additive="base">
                                        <p:cTn id="27" dur="500" fill="hold"/>
                                        <p:tgtEl>
                                          <p:spTgt spid="108584"/>
                                        </p:tgtEl>
                                        <p:attrNameLst>
                                          <p:attrName>ppt_x</p:attrName>
                                        </p:attrNameLst>
                                      </p:cBhvr>
                                      <p:tavLst>
                                        <p:tav tm="0">
                                          <p:val>
                                            <p:strVal val="1+#ppt_w/2"/>
                                          </p:val>
                                        </p:tav>
                                        <p:tav tm="100000">
                                          <p:val>
                                            <p:strVal val="#ppt_x"/>
                                          </p:val>
                                        </p:tav>
                                      </p:tavLst>
                                    </p:anim>
                                    <p:anim calcmode="lin" valueType="num">
                                      <p:cBhvr additive="base">
                                        <p:cTn id="28" dur="500" fill="hold"/>
                                        <p:tgtEl>
                                          <p:spTgt spid="1085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utoUpdateAnimBg="0"/>
      <p:bldP spid="108547" grpId="0" animBg="1" autoUpdateAnimBg="0"/>
      <p:bldP spid="108548"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6FCE025-0C1D-4F70-B406-6586056309EE}"/>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graphicFrame>
        <p:nvGraphicFramePr>
          <p:cNvPr id="113667" name="Object 3">
            <a:extLst>
              <a:ext uri="{FF2B5EF4-FFF2-40B4-BE49-F238E27FC236}">
                <a16:creationId xmlns:a16="http://schemas.microsoft.com/office/drawing/2014/main" id="{14872230-662F-49E6-8F72-328310C80D21}"/>
              </a:ext>
            </a:extLst>
          </p:cNvPr>
          <p:cNvGraphicFramePr>
            <a:graphicFrameLocks noGrp="1"/>
          </p:cNvGraphicFramePr>
          <p:nvPr>
            <p:ph idx="1"/>
          </p:nvPr>
        </p:nvGraphicFramePr>
        <p:xfrm>
          <a:off x="-17463" y="1557338"/>
          <a:ext cx="6707188" cy="3484562"/>
        </p:xfrm>
        <a:graphic>
          <a:graphicData uri="http://schemas.openxmlformats.org/presentationml/2006/ole">
            <mc:AlternateContent xmlns:mc="http://schemas.openxmlformats.org/markup-compatibility/2006">
              <mc:Choice xmlns:v="urn:schemas-microsoft-com:vml" Requires="v">
                <p:oleObj spid="_x0000_s27722" r:id="rId5" imgW="6163535" imgH="4210638" progId="Paint.Picture">
                  <p:embed/>
                </p:oleObj>
              </mc:Choice>
              <mc:Fallback>
                <p:oleObj r:id="rId5" imgW="6163535" imgH="4210638" progId="Paint.Picture">
                  <p:embed/>
                  <p:pic>
                    <p:nvPicPr>
                      <p:cNvPr id="113667" name="Object 3">
                        <a:extLst>
                          <a:ext uri="{FF2B5EF4-FFF2-40B4-BE49-F238E27FC236}">
                            <a16:creationId xmlns:a16="http://schemas.microsoft.com/office/drawing/2014/main" id="{14872230-662F-49E6-8F72-328310C80D2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63" y="1557338"/>
                        <a:ext cx="6707188" cy="348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 33">
            <a:extLst>
              <a:ext uri="{FF2B5EF4-FFF2-40B4-BE49-F238E27FC236}">
                <a16:creationId xmlns:a16="http://schemas.microsoft.com/office/drawing/2014/main" id="{D6E0CAC8-5F98-4241-8CDB-64EB678E5DD9}"/>
              </a:ext>
            </a:extLst>
          </p:cNvPr>
          <p:cNvGrpSpPr>
            <a:grpSpLocks/>
          </p:cNvGrpSpPr>
          <p:nvPr/>
        </p:nvGrpSpPr>
        <p:grpSpPr bwMode="auto">
          <a:xfrm>
            <a:off x="6679545" y="1404938"/>
            <a:ext cx="2438400" cy="2743200"/>
            <a:chOff x="0" y="0"/>
            <a:chExt cx="1536" cy="1728"/>
          </a:xfrm>
        </p:grpSpPr>
        <p:sp>
          <p:nvSpPr>
            <p:cNvPr id="113697" name="Line 70">
              <a:extLst>
                <a:ext uri="{FF2B5EF4-FFF2-40B4-BE49-F238E27FC236}">
                  <a16:creationId xmlns:a16="http://schemas.microsoft.com/office/drawing/2014/main" id="{711DB291-4074-46F2-9D06-C453D96C6144}"/>
                </a:ext>
              </a:extLst>
            </p:cNvPr>
            <p:cNvSpPr>
              <a:spLocks noChangeShapeType="1"/>
            </p:cNvSpPr>
            <p:nvPr/>
          </p:nvSpPr>
          <p:spPr bwMode="auto">
            <a:xfrm>
              <a:off x="0" y="336"/>
              <a:ext cx="15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698" name="Line 71">
              <a:extLst>
                <a:ext uri="{FF2B5EF4-FFF2-40B4-BE49-F238E27FC236}">
                  <a16:creationId xmlns:a16="http://schemas.microsoft.com/office/drawing/2014/main" id="{BF4DA915-EB9E-4F24-B909-AEFAEC950F42}"/>
                </a:ext>
              </a:extLst>
            </p:cNvPr>
            <p:cNvSpPr>
              <a:spLocks noChangeShapeType="1"/>
            </p:cNvSpPr>
            <p:nvPr/>
          </p:nvSpPr>
          <p:spPr bwMode="auto">
            <a:xfrm flipH="1">
              <a:off x="768" y="48"/>
              <a:ext cx="0" cy="16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699" name="Text Box 72">
              <a:extLst>
                <a:ext uri="{FF2B5EF4-FFF2-40B4-BE49-F238E27FC236}">
                  <a16:creationId xmlns:a16="http://schemas.microsoft.com/office/drawing/2014/main" id="{938200EB-13E6-480B-BFC3-9C5CE34AC73A}"/>
                </a:ext>
              </a:extLst>
            </p:cNvPr>
            <p:cNvSpPr txBox="1">
              <a:spLocks noChangeArrowheads="1"/>
            </p:cNvSpPr>
            <p:nvPr/>
          </p:nvSpPr>
          <p:spPr bwMode="auto">
            <a:xfrm>
              <a:off x="48" y="0"/>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latin typeface="Times New Roman" panose="02020603050405020304" pitchFamily="18" charset="0"/>
                </a:rPr>
                <a:t>QQ</a:t>
              </a:r>
              <a:r>
                <a:rPr lang="en-US" altLang="zh-CN" sz="2400" baseline="30000" dirty="0">
                  <a:latin typeface="Times New Roman" panose="02020603050405020304" pitchFamily="18" charset="0"/>
                </a:rPr>
                <a:t>(n+1)</a:t>
              </a:r>
            </a:p>
          </p:txBody>
        </p:sp>
        <p:sp>
          <p:nvSpPr>
            <p:cNvPr id="113700" name="Text Box 73">
              <a:extLst>
                <a:ext uri="{FF2B5EF4-FFF2-40B4-BE49-F238E27FC236}">
                  <a16:creationId xmlns:a16="http://schemas.microsoft.com/office/drawing/2014/main" id="{C34415F8-D39C-4093-9F43-BF66FD007FDF}"/>
                </a:ext>
              </a:extLst>
            </p:cNvPr>
            <p:cNvSpPr txBox="1">
              <a:spLocks noChangeArrowheads="1"/>
            </p:cNvSpPr>
            <p:nvPr/>
          </p:nvSpPr>
          <p:spPr bwMode="auto">
            <a:xfrm>
              <a:off x="960" y="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J K</a:t>
              </a:r>
            </a:p>
          </p:txBody>
        </p:sp>
        <p:sp>
          <p:nvSpPr>
            <p:cNvPr id="113701" name="Text Box 74">
              <a:extLst>
                <a:ext uri="{FF2B5EF4-FFF2-40B4-BE49-F238E27FC236}">
                  <a16:creationId xmlns:a16="http://schemas.microsoft.com/office/drawing/2014/main" id="{CE58F2BE-367E-4530-B3AA-8F745B5EF812}"/>
                </a:ext>
              </a:extLst>
            </p:cNvPr>
            <p:cNvSpPr txBox="1">
              <a:spLocks noChangeArrowheads="1"/>
            </p:cNvSpPr>
            <p:nvPr/>
          </p:nvSpPr>
          <p:spPr bwMode="auto">
            <a:xfrm>
              <a:off x="96" y="384"/>
              <a:ext cx="48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FF0066"/>
                  </a:solidFill>
                  <a:latin typeface="Times New Roman" panose="02020603050405020304" pitchFamily="18" charset="0"/>
                </a:rPr>
                <a:t>0 0</a:t>
              </a:r>
            </a:p>
            <a:p>
              <a:pPr eaLnBrk="1" hangingPunct="1">
                <a:spcBef>
                  <a:spcPct val="50000"/>
                </a:spcBef>
              </a:pPr>
              <a:r>
                <a:rPr lang="en-US" altLang="zh-CN" sz="2400" b="1">
                  <a:solidFill>
                    <a:srgbClr val="FF0066"/>
                  </a:solidFill>
                  <a:latin typeface="Times New Roman" panose="02020603050405020304" pitchFamily="18" charset="0"/>
                </a:rPr>
                <a:t>01</a:t>
              </a:r>
            </a:p>
            <a:p>
              <a:pPr eaLnBrk="1" hangingPunct="1">
                <a:spcBef>
                  <a:spcPct val="50000"/>
                </a:spcBef>
              </a:pPr>
              <a:r>
                <a:rPr lang="en-US" altLang="zh-CN" sz="2400" b="1">
                  <a:solidFill>
                    <a:srgbClr val="FF0066"/>
                  </a:solidFill>
                  <a:latin typeface="Times New Roman" panose="02020603050405020304" pitchFamily="18" charset="0"/>
                </a:rPr>
                <a:t>10</a:t>
              </a:r>
            </a:p>
            <a:p>
              <a:pPr eaLnBrk="1" hangingPunct="1">
                <a:spcBef>
                  <a:spcPct val="50000"/>
                </a:spcBef>
              </a:pPr>
              <a:r>
                <a:rPr lang="en-US" altLang="zh-CN" sz="2400" b="1">
                  <a:solidFill>
                    <a:srgbClr val="FF0066"/>
                  </a:solidFill>
                  <a:latin typeface="Times New Roman" panose="02020603050405020304" pitchFamily="18" charset="0"/>
                </a:rPr>
                <a:t>11</a:t>
              </a:r>
              <a:r>
                <a:rPr lang="en-US" altLang="zh-CN" sz="2400">
                  <a:solidFill>
                    <a:srgbClr val="FF33CC"/>
                  </a:solidFill>
                  <a:latin typeface="Times New Roman" panose="02020603050405020304" pitchFamily="18" charset="0"/>
                </a:rPr>
                <a:t> </a:t>
              </a:r>
            </a:p>
          </p:txBody>
        </p:sp>
        <p:sp>
          <p:nvSpPr>
            <p:cNvPr id="113702" name="Text Box 75">
              <a:extLst>
                <a:ext uri="{FF2B5EF4-FFF2-40B4-BE49-F238E27FC236}">
                  <a16:creationId xmlns:a16="http://schemas.microsoft.com/office/drawing/2014/main" id="{859C9309-7543-405A-B91E-2792723D6FA4}"/>
                </a:ext>
              </a:extLst>
            </p:cNvPr>
            <p:cNvSpPr txBox="1">
              <a:spLocks noChangeArrowheads="1"/>
            </p:cNvSpPr>
            <p:nvPr/>
          </p:nvSpPr>
          <p:spPr bwMode="auto">
            <a:xfrm>
              <a:off x="912" y="372"/>
              <a:ext cx="528"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FF0066"/>
                  </a:solidFill>
                  <a:latin typeface="Times New Roman" panose="02020603050405020304" pitchFamily="18" charset="0"/>
                </a:rPr>
                <a:t>0 d</a:t>
              </a:r>
            </a:p>
            <a:p>
              <a:pPr eaLnBrk="1" hangingPunct="1">
                <a:spcBef>
                  <a:spcPct val="50000"/>
                </a:spcBef>
              </a:pPr>
              <a:r>
                <a:rPr lang="en-US" altLang="zh-CN" sz="2400" b="1">
                  <a:solidFill>
                    <a:srgbClr val="FF0066"/>
                  </a:solidFill>
                  <a:latin typeface="Times New Roman" panose="02020603050405020304" pitchFamily="18" charset="0"/>
                </a:rPr>
                <a:t>1 d</a:t>
              </a:r>
            </a:p>
            <a:p>
              <a:pPr eaLnBrk="1" hangingPunct="1">
                <a:spcBef>
                  <a:spcPct val="50000"/>
                </a:spcBef>
              </a:pPr>
              <a:r>
                <a:rPr lang="en-US" altLang="zh-CN" sz="2400" b="1">
                  <a:solidFill>
                    <a:srgbClr val="FF0066"/>
                  </a:solidFill>
                  <a:latin typeface="Times New Roman" panose="02020603050405020304" pitchFamily="18" charset="0"/>
                </a:rPr>
                <a:t>d 1</a:t>
              </a:r>
            </a:p>
            <a:p>
              <a:pPr eaLnBrk="1" hangingPunct="1">
                <a:spcBef>
                  <a:spcPct val="50000"/>
                </a:spcBef>
              </a:pPr>
              <a:r>
                <a:rPr lang="en-US" altLang="zh-CN" sz="2400" b="1">
                  <a:solidFill>
                    <a:srgbClr val="FF0066"/>
                  </a:solidFill>
                  <a:latin typeface="Times New Roman" panose="02020603050405020304" pitchFamily="18" charset="0"/>
                </a:rPr>
                <a:t>d 0</a:t>
              </a:r>
            </a:p>
          </p:txBody>
        </p:sp>
      </p:grpSp>
      <p:graphicFrame>
        <p:nvGraphicFramePr>
          <p:cNvPr id="12" name="Group 5">
            <a:extLst>
              <a:ext uri="{FF2B5EF4-FFF2-40B4-BE49-F238E27FC236}">
                <a16:creationId xmlns:a16="http://schemas.microsoft.com/office/drawing/2014/main" id="{F5CFE480-61BD-4835-A745-9E68D95DF6FA}"/>
              </a:ext>
            </a:extLst>
          </p:cNvPr>
          <p:cNvGraphicFramePr>
            <a:graphicFrameLocks noGrp="1"/>
          </p:cNvGraphicFramePr>
          <p:nvPr>
            <p:extLst>
              <p:ext uri="{D42A27DB-BD31-4B8C-83A1-F6EECF244321}">
                <p14:modId xmlns:p14="http://schemas.microsoft.com/office/powerpoint/2010/main" val="745179404"/>
              </p:ext>
            </p:extLst>
          </p:nvPr>
        </p:nvGraphicFramePr>
        <p:xfrm>
          <a:off x="6297613" y="4148138"/>
          <a:ext cx="2830511" cy="2238375"/>
        </p:xfrm>
        <a:graphic>
          <a:graphicData uri="http://schemas.openxmlformats.org/drawingml/2006/table">
            <a:tbl>
              <a:tblPr/>
              <a:tblGrid>
                <a:gridCol w="666350">
                  <a:extLst>
                    <a:ext uri="{9D8B030D-6E8A-4147-A177-3AD203B41FA5}">
                      <a16:colId xmlns:a16="http://schemas.microsoft.com/office/drawing/2014/main" val="20000"/>
                    </a:ext>
                  </a:extLst>
                </a:gridCol>
                <a:gridCol w="1054365">
                  <a:extLst>
                    <a:ext uri="{9D8B030D-6E8A-4147-A177-3AD203B41FA5}">
                      <a16:colId xmlns:a16="http://schemas.microsoft.com/office/drawing/2014/main" val="20001"/>
                    </a:ext>
                  </a:extLst>
                </a:gridCol>
                <a:gridCol w="1109796">
                  <a:extLst>
                    <a:ext uri="{9D8B030D-6E8A-4147-A177-3AD203B41FA5}">
                      <a16:colId xmlns:a16="http://schemas.microsoft.com/office/drawing/2014/main" val="20002"/>
                    </a:ext>
                  </a:extLst>
                </a:gridCol>
              </a:tblGrid>
              <a:tr h="372022">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Pre</a:t>
                      </a:r>
                      <a:endParaRPr kumimoji="0" lang="zh-CN" altLang="en-US" sz="1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dirty="0">
                          <a:ln>
                            <a:noFill/>
                          </a:ln>
                          <a:solidFill>
                            <a:schemeClr val="tx1"/>
                          </a:solidFill>
                          <a:effectLst/>
                          <a:latin typeface="Times New Roman" pitchFamily="18" charset="0"/>
                          <a:ea typeface="宋体" pitchFamily="2" charset="-122"/>
                        </a:rPr>
                        <a:t> </a:t>
                      </a:r>
                      <a:r>
                        <a:rPr kumimoji="0" lang="en-US" sz="1600" b="0" i="0" u="none" strike="noStrike" cap="none" normalizeH="0" baseline="0" dirty="0">
                          <a:ln>
                            <a:noFill/>
                          </a:ln>
                          <a:solidFill>
                            <a:schemeClr val="tx1"/>
                          </a:solidFill>
                          <a:effectLst/>
                          <a:latin typeface="Times New Roman" pitchFamily="18" charset="0"/>
                          <a:ea typeface="宋体" pitchFamily="2" charset="-122"/>
                        </a:rPr>
                        <a:t>y</a:t>
                      </a:r>
                      <a:r>
                        <a:rPr kumimoji="0" lang="en-US" sz="1600" b="0" i="0" u="none" strike="noStrike" cap="none" normalizeH="0" baseline="-25000" dirty="0">
                          <a:ln>
                            <a:noFill/>
                          </a:ln>
                          <a:solidFill>
                            <a:schemeClr val="tx1"/>
                          </a:solidFill>
                          <a:effectLst/>
                          <a:latin typeface="Times New Roman" pitchFamily="18" charset="0"/>
                          <a:ea typeface="宋体" pitchFamily="2" charset="-122"/>
                        </a:rPr>
                        <a:t>2</a:t>
                      </a:r>
                      <a:r>
                        <a:rPr kumimoji="0" lang="en-US" sz="1600" b="0" i="0" u="none" strike="noStrike" cap="none" normalizeH="0" baseline="0" dirty="0">
                          <a:ln>
                            <a:noFill/>
                          </a:ln>
                          <a:solidFill>
                            <a:schemeClr val="tx1"/>
                          </a:solidFill>
                          <a:effectLst/>
                          <a:latin typeface="Times New Roman" pitchFamily="18" charset="0"/>
                          <a:ea typeface="宋体" pitchFamily="2" charset="-122"/>
                        </a:rPr>
                        <a:t>y</a:t>
                      </a:r>
                      <a:r>
                        <a:rPr kumimoji="0" lang="en-US" sz="1600" b="0" i="0" u="none" strike="noStrike" cap="none" normalizeH="0" baseline="-25000" dirty="0">
                          <a:ln>
                            <a:noFill/>
                          </a:ln>
                          <a:solidFill>
                            <a:schemeClr val="tx1"/>
                          </a:solidFill>
                          <a:effectLst/>
                          <a:latin typeface="Times New Roman" pitchFamily="18" charset="0"/>
                          <a:ea typeface="宋体" pitchFamily="2" charset="-122"/>
                        </a:rPr>
                        <a:t>1</a:t>
                      </a:r>
                    </a:p>
                  </a:txBody>
                  <a:tcPr marL="91417" marR="91417"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Next </a:t>
                      </a:r>
                      <a:r>
                        <a:rPr kumimoji="0" lang="en-US" sz="1600" b="0" i="0" u="none" strike="noStrike" cap="none" normalizeH="0" baseline="0" dirty="0">
                          <a:ln>
                            <a:noFill/>
                          </a:ln>
                          <a:solidFill>
                            <a:schemeClr val="tx1"/>
                          </a:solidFill>
                          <a:effectLst/>
                          <a:latin typeface="Times New Roman" pitchFamily="18" charset="0"/>
                          <a:ea typeface="宋体" pitchFamily="2" charset="-122"/>
                        </a:rPr>
                        <a:t>y</a:t>
                      </a:r>
                      <a:r>
                        <a:rPr kumimoji="0" lang="en-US" sz="1600" b="0" i="0" u="none" strike="noStrike" cap="none" normalizeH="0" baseline="-25000" dirty="0">
                          <a:ln>
                            <a:noFill/>
                          </a:ln>
                          <a:solidFill>
                            <a:schemeClr val="tx1"/>
                          </a:solidFill>
                          <a:effectLst/>
                          <a:latin typeface="Times New Roman" pitchFamily="18" charset="0"/>
                          <a:ea typeface="宋体" pitchFamily="2" charset="-122"/>
                        </a:rPr>
                        <a:t>2</a:t>
                      </a:r>
                      <a:r>
                        <a:rPr kumimoji="0" lang="en-US" sz="1600" b="0" i="0" u="none" strike="noStrike" cap="none" normalizeH="0" baseline="30000" dirty="0">
                          <a:ln>
                            <a:noFill/>
                          </a:ln>
                          <a:solidFill>
                            <a:schemeClr val="tx1"/>
                          </a:solidFill>
                          <a:effectLst/>
                          <a:latin typeface="Times New Roman" pitchFamily="18" charset="0"/>
                          <a:ea typeface="宋体" pitchFamily="2" charset="-122"/>
                        </a:rPr>
                        <a:t>(n+1)</a:t>
                      </a:r>
                      <a:r>
                        <a:rPr kumimoji="0" lang="en-US" sz="1600" b="0" i="0" u="none" strike="noStrike" cap="none" normalizeH="0" baseline="0" dirty="0">
                          <a:ln>
                            <a:noFill/>
                          </a:ln>
                          <a:solidFill>
                            <a:schemeClr val="tx1"/>
                          </a:solidFill>
                          <a:effectLst/>
                          <a:latin typeface="Times New Roman" pitchFamily="18" charset="0"/>
                          <a:ea typeface="宋体" pitchFamily="2" charset="-122"/>
                        </a:rPr>
                        <a:t>y</a:t>
                      </a:r>
                      <a:r>
                        <a:rPr kumimoji="0" lang="en-US" sz="1600" b="0" i="0" u="none" strike="noStrike" cap="none" normalizeH="0" baseline="-25000" dirty="0">
                          <a:ln>
                            <a:noFill/>
                          </a:ln>
                          <a:solidFill>
                            <a:schemeClr val="tx1"/>
                          </a:solidFill>
                          <a:effectLst/>
                          <a:latin typeface="Times New Roman" pitchFamily="18" charset="0"/>
                          <a:ea typeface="宋体" pitchFamily="2" charset="-122"/>
                        </a:rPr>
                        <a:t>1</a:t>
                      </a:r>
                      <a:r>
                        <a:rPr kumimoji="0" lang="en-US" sz="1600" b="0" i="0" u="none" strike="noStrike" cap="none" normalizeH="0" baseline="30000" dirty="0">
                          <a:ln>
                            <a:noFill/>
                          </a:ln>
                          <a:solidFill>
                            <a:schemeClr val="tx1"/>
                          </a:solidFill>
                          <a:effectLst/>
                          <a:latin typeface="Times New Roman" pitchFamily="18" charset="0"/>
                          <a:ea typeface="宋体" pitchFamily="2" charset="-122"/>
                        </a:rPr>
                        <a:t>(n+1)</a:t>
                      </a:r>
                      <a:r>
                        <a:rPr kumimoji="0" lang="en-US" sz="16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output</a:t>
                      </a:r>
                      <a:endParaRPr kumimoji="0" lang="zh-CN" altLang="en-US" sz="1600" b="0" i="0" u="none" strike="noStrike" cap="none" normalizeH="0" baseline="0" dirty="0">
                        <a:ln>
                          <a:noFill/>
                        </a:ln>
                        <a:solidFill>
                          <a:schemeClr val="tx1"/>
                        </a:solidFill>
                        <a:effectLst/>
                        <a:latin typeface="Times New Roman" pitchFamily="18" charset="0"/>
                        <a:ea typeface="宋体" pitchFamily="2" charset="-122"/>
                      </a:endParaRPr>
                    </a:p>
                  </a:txBody>
                  <a:tcPr marL="91417" marR="91417"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7430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ea typeface="宋体" pitchFamily="2" charset="-122"/>
                        </a:rPr>
                        <a:t>  x=0</a:t>
                      </a:r>
                    </a:p>
                  </a:txBody>
                  <a:tcPr marL="91417" marR="91417"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x=1</a:t>
                      </a:r>
                    </a:p>
                  </a:txBody>
                  <a:tcPr marL="91417" marR="91417"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255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00</a:t>
                      </a:r>
                    </a:p>
                  </a:txBody>
                  <a:tcPr marL="91417" marR="91417"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11/0</a:t>
                      </a:r>
                    </a:p>
                  </a:txBody>
                  <a:tcPr marL="91417" marR="91417"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01/0</a:t>
                      </a:r>
                    </a:p>
                  </a:txBody>
                  <a:tcPr marL="91417" marR="91417"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1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01</a:t>
                      </a:r>
                    </a:p>
                  </a:txBody>
                  <a:tcPr marL="91417" marR="91417"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ea typeface="宋体" pitchFamily="2" charset="-122"/>
                        </a:rPr>
                        <a:t>  00/0</a:t>
                      </a:r>
                    </a:p>
                  </a:txBody>
                  <a:tcPr marL="91417" marR="91417"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00/1</a:t>
                      </a:r>
                    </a:p>
                  </a:txBody>
                  <a:tcPr marL="91417" marR="91417"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1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10</a:t>
                      </a:r>
                    </a:p>
                  </a:txBody>
                  <a:tcPr marL="91417" marR="91417"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01/0</a:t>
                      </a:r>
                    </a:p>
                  </a:txBody>
                  <a:tcPr marL="91417" marR="91417"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11/0</a:t>
                      </a:r>
                    </a:p>
                  </a:txBody>
                  <a:tcPr marL="91417" marR="91417"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1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11</a:t>
                      </a:r>
                    </a:p>
                  </a:txBody>
                  <a:tcPr marL="91417" marR="91417"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ea typeface="宋体" pitchFamily="2" charset="-122"/>
                        </a:rPr>
                        <a:t>  00/1</a:t>
                      </a:r>
                    </a:p>
                  </a:txBody>
                  <a:tcPr marL="91417" marR="91417"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ea typeface="宋体" pitchFamily="2" charset="-122"/>
                        </a:rPr>
                        <a:t>  10/1</a:t>
                      </a:r>
                    </a:p>
                  </a:txBody>
                  <a:tcPr marL="91417" marR="91417"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4" name="文本框 13">
            <a:extLst>
              <a:ext uri="{FF2B5EF4-FFF2-40B4-BE49-F238E27FC236}">
                <a16:creationId xmlns:a16="http://schemas.microsoft.com/office/drawing/2014/main" id="{3E87FC77-BBEA-4246-B41A-444679AF5040}"/>
              </a:ext>
            </a:extLst>
          </p:cNvPr>
          <p:cNvSpPr txBox="1"/>
          <p:nvPr/>
        </p:nvSpPr>
        <p:spPr>
          <a:xfrm>
            <a:off x="343255" y="1495800"/>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p:sp>
        <p:nvSpPr>
          <p:cNvPr id="15" name="文本框 14">
            <a:extLst>
              <a:ext uri="{FF2B5EF4-FFF2-40B4-BE49-F238E27FC236}">
                <a16:creationId xmlns:a16="http://schemas.microsoft.com/office/drawing/2014/main" id="{52929FC6-5939-432E-93EF-1F2B39504DC7}"/>
              </a:ext>
            </a:extLst>
          </p:cNvPr>
          <p:cNvSpPr txBox="1"/>
          <p:nvPr/>
        </p:nvSpPr>
        <p:spPr>
          <a:xfrm>
            <a:off x="3336131" y="1987826"/>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16" name="文本框 15">
            <a:extLst>
              <a:ext uri="{FF2B5EF4-FFF2-40B4-BE49-F238E27FC236}">
                <a16:creationId xmlns:a16="http://schemas.microsoft.com/office/drawing/2014/main" id="{9A4E70D6-E46C-4F4A-961A-4021B0D51367}"/>
              </a:ext>
            </a:extLst>
          </p:cNvPr>
          <p:cNvSpPr txBox="1"/>
          <p:nvPr/>
        </p:nvSpPr>
        <p:spPr>
          <a:xfrm>
            <a:off x="5081319" y="2008465"/>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
        <p:nvSpPr>
          <p:cNvPr id="17" name="文本框 16">
            <a:extLst>
              <a:ext uri="{FF2B5EF4-FFF2-40B4-BE49-F238E27FC236}">
                <a16:creationId xmlns:a16="http://schemas.microsoft.com/office/drawing/2014/main" id="{722E63C1-8B4F-4027-9333-9B86CBD5B7D2}"/>
              </a:ext>
            </a:extLst>
          </p:cNvPr>
          <p:cNvSpPr txBox="1"/>
          <p:nvPr/>
        </p:nvSpPr>
        <p:spPr>
          <a:xfrm>
            <a:off x="1800020" y="1965180"/>
            <a:ext cx="1357978" cy="369332"/>
          </a:xfrm>
          <a:prstGeom prst="rect">
            <a:avLst/>
          </a:prstGeom>
          <a:solidFill>
            <a:schemeClr val="bg1"/>
          </a:solidFill>
        </p:spPr>
        <p:txBody>
          <a:bodyPr wrap="square" rtlCol="0">
            <a:spAutoFit/>
          </a:bodyPr>
          <a:lstStyle/>
          <a:p>
            <a:r>
              <a:rPr lang="en-US" altLang="zh-CN" sz="1800" dirty="0"/>
              <a:t>Next state</a:t>
            </a:r>
            <a:endParaRPr lang="zh-CN" altLang="en-US" sz="3200" dirty="0"/>
          </a:p>
        </p:txBody>
      </p:sp>
      <mc:AlternateContent xmlns:mc="http://schemas.openxmlformats.org/markup-compatibility/2006">
        <mc:Choice xmlns:p14="http://schemas.microsoft.com/office/powerpoint/2010/main" Requires="p14">
          <p:contentPart p14:bwMode="auto" r:id="rId7">
            <p14:nvContentPartPr>
              <p14:cNvPr id="2" name="墨迹 1">
                <a:extLst>
                  <a:ext uri="{FF2B5EF4-FFF2-40B4-BE49-F238E27FC236}">
                    <a16:creationId xmlns:a16="http://schemas.microsoft.com/office/drawing/2014/main" id="{3514BCFF-4802-47C8-8122-A66C397EAAE7}"/>
                  </a:ext>
                </a:extLst>
              </p14:cNvPr>
              <p14:cNvContentPartPr/>
              <p14:nvPr/>
            </p14:nvContentPartPr>
            <p14:xfrm>
              <a:off x="585720" y="623520"/>
              <a:ext cx="5743800" cy="4987800"/>
            </p14:xfrm>
          </p:contentPart>
        </mc:Choice>
        <mc:Fallback>
          <p:pic>
            <p:nvPicPr>
              <p:cNvPr id="2" name="墨迹 1">
                <a:extLst>
                  <a:ext uri="{FF2B5EF4-FFF2-40B4-BE49-F238E27FC236}">
                    <a16:creationId xmlns:a16="http://schemas.microsoft.com/office/drawing/2014/main" id="{3514BCFF-4802-47C8-8122-A66C397EAAE7}"/>
                  </a:ext>
                </a:extLst>
              </p:cNvPr>
              <p:cNvPicPr/>
              <p:nvPr/>
            </p:nvPicPr>
            <p:blipFill>
              <a:blip r:embed="rId8"/>
              <a:stretch>
                <a:fillRect/>
              </a:stretch>
            </p:blipFill>
            <p:spPr>
              <a:xfrm>
                <a:off x="576360" y="614160"/>
                <a:ext cx="5762520" cy="5006520"/>
              </a:xfrm>
              <a:prstGeom prst="rect">
                <a:avLst/>
              </a:prstGeom>
            </p:spPr>
          </p:pic>
        </mc:Fallback>
      </mc:AlternateContent>
    </p:spTree>
    <p:extLst>
      <p:ext uri="{BB962C8B-B14F-4D97-AF65-F5344CB8AC3E}">
        <p14:creationId xmlns:p14="http://schemas.microsoft.com/office/powerpoint/2010/main" val="26460308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567EC999-5BC4-4C59-9F81-1EB8ABCFDDE5}"/>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sp>
        <p:nvSpPr>
          <p:cNvPr id="114691" name="Rectangle 3">
            <a:extLst>
              <a:ext uri="{FF2B5EF4-FFF2-40B4-BE49-F238E27FC236}">
                <a16:creationId xmlns:a16="http://schemas.microsoft.com/office/drawing/2014/main" id="{BCAD5A32-32D1-4D58-8B18-95132F41A56D}"/>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graphicFrame>
        <p:nvGraphicFramePr>
          <p:cNvPr id="114692" name="Object 4">
            <a:extLst>
              <a:ext uri="{FF2B5EF4-FFF2-40B4-BE49-F238E27FC236}">
                <a16:creationId xmlns:a16="http://schemas.microsoft.com/office/drawing/2014/main" id="{BB1D5736-60BF-462C-A1F1-A07A9F404184}"/>
              </a:ext>
            </a:extLst>
          </p:cNvPr>
          <p:cNvGraphicFramePr>
            <a:graphicFrameLocks/>
          </p:cNvGraphicFramePr>
          <p:nvPr/>
        </p:nvGraphicFramePr>
        <p:xfrm>
          <a:off x="5437188" y="1989138"/>
          <a:ext cx="3157537" cy="2520950"/>
        </p:xfrm>
        <a:graphic>
          <a:graphicData uri="http://schemas.openxmlformats.org/presentationml/2006/ole">
            <mc:AlternateContent xmlns:mc="http://schemas.openxmlformats.org/markup-compatibility/2006">
              <mc:Choice xmlns:v="urn:schemas-microsoft-com:vml" Requires="v">
                <p:oleObj spid="_x0000_s28744" r:id="rId5" imgW="2438095" imgH="1523810" progId="Paint.Picture">
                  <p:embed/>
                </p:oleObj>
              </mc:Choice>
              <mc:Fallback>
                <p:oleObj r:id="rId5" imgW="2438095" imgH="1523810" progId="Paint.Picture">
                  <p:embed/>
                  <p:pic>
                    <p:nvPicPr>
                      <p:cNvPr id="114692" name="Object 4">
                        <a:extLst>
                          <a:ext uri="{FF2B5EF4-FFF2-40B4-BE49-F238E27FC236}">
                            <a16:creationId xmlns:a16="http://schemas.microsoft.com/office/drawing/2014/main" id="{BB1D5736-60BF-462C-A1F1-A07A9F40418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7188" y="1989138"/>
                        <a:ext cx="3157537"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0597" name="Picture 79" descr="BIAO5-26">
            <a:extLst>
              <a:ext uri="{FF2B5EF4-FFF2-40B4-BE49-F238E27FC236}">
                <a16:creationId xmlns:a16="http://schemas.microsoft.com/office/drawing/2014/main" id="{CC31B1F4-63D4-490B-A477-FB28DAB46717}"/>
              </a:ext>
            </a:extLst>
          </p:cNvPr>
          <p:cNvPicPr>
            <a:picLocks noChangeAspect="1" noChangeArrowheads="1"/>
          </p:cNvPicPr>
          <p:nvPr/>
        </p:nvPicPr>
        <p:blipFill>
          <a:blip r:embed="rId7">
            <a:lum bright="-100000"/>
            <a:extLst>
              <a:ext uri="{28A0092B-C50C-407E-A947-70E740481C1C}">
                <a14:useLocalDpi xmlns:a14="http://schemas.microsoft.com/office/drawing/2010/main" val="0"/>
              </a:ext>
            </a:extLst>
          </a:blip>
          <a:srcRect/>
          <a:stretch>
            <a:fillRect/>
          </a:stretch>
        </p:blipFill>
        <p:spPr bwMode="auto">
          <a:xfrm>
            <a:off x="541338" y="1628775"/>
            <a:ext cx="4824412" cy="449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文本框 5">
            <a:extLst>
              <a:ext uri="{FF2B5EF4-FFF2-40B4-BE49-F238E27FC236}">
                <a16:creationId xmlns:a16="http://schemas.microsoft.com/office/drawing/2014/main" id="{41EECF8B-98F0-4FBA-A574-F49710A9CFC5}"/>
              </a:ext>
            </a:extLst>
          </p:cNvPr>
          <p:cNvSpPr txBox="1"/>
          <p:nvPr/>
        </p:nvSpPr>
        <p:spPr>
          <a:xfrm>
            <a:off x="2274555" y="2276872"/>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7" name="文本框 6">
            <a:extLst>
              <a:ext uri="{FF2B5EF4-FFF2-40B4-BE49-F238E27FC236}">
                <a16:creationId xmlns:a16="http://schemas.microsoft.com/office/drawing/2014/main" id="{E7902A05-8354-4FC0-81C8-BAAFF59BDAAF}"/>
              </a:ext>
            </a:extLst>
          </p:cNvPr>
          <p:cNvSpPr txBox="1"/>
          <p:nvPr/>
        </p:nvSpPr>
        <p:spPr>
          <a:xfrm>
            <a:off x="3837292" y="2239169"/>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
        <p:nvSpPr>
          <p:cNvPr id="8" name="文本框 7">
            <a:extLst>
              <a:ext uri="{FF2B5EF4-FFF2-40B4-BE49-F238E27FC236}">
                <a16:creationId xmlns:a16="http://schemas.microsoft.com/office/drawing/2014/main" id="{C7F5373A-90B9-4AC5-924E-E7B47252BF9A}"/>
              </a:ext>
            </a:extLst>
          </p:cNvPr>
          <p:cNvSpPr txBox="1"/>
          <p:nvPr/>
        </p:nvSpPr>
        <p:spPr>
          <a:xfrm>
            <a:off x="649465" y="1717051"/>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p:spTree>
    <p:extLst>
      <p:ext uri="{BB962C8B-B14F-4D97-AF65-F5344CB8AC3E}">
        <p14:creationId xmlns:p14="http://schemas.microsoft.com/office/powerpoint/2010/main" val="15170106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110597"/>
                                        </p:tgtEl>
                                        <p:attrNameLst>
                                          <p:attrName>style.visibility</p:attrName>
                                        </p:attrNameLst>
                                      </p:cBhvr>
                                      <p:to>
                                        <p:strVal val="visible"/>
                                      </p:to>
                                    </p:set>
                                    <p:anim calcmode="lin" valueType="num">
                                      <p:cBhvr additive="base">
                                        <p:cTn id="7" dur="500" fill="hold"/>
                                        <p:tgtEl>
                                          <p:spTgt spid="110597"/>
                                        </p:tgtEl>
                                        <p:attrNameLst>
                                          <p:attrName>ppt_x</p:attrName>
                                        </p:attrNameLst>
                                      </p:cBhvr>
                                      <p:tavLst>
                                        <p:tav tm="0">
                                          <p:val>
                                            <p:strVal val="1+#ppt_w/2"/>
                                          </p:val>
                                        </p:tav>
                                        <p:tav tm="100000">
                                          <p:val>
                                            <p:strVal val="#ppt_x"/>
                                          </p:val>
                                        </p:tav>
                                      </p:tavLst>
                                    </p:anim>
                                    <p:anim calcmode="lin" valueType="num">
                                      <p:cBhvr additive="base">
                                        <p:cTn id="8" dur="500" fill="hold"/>
                                        <p:tgtEl>
                                          <p:spTgt spid="1105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E853B32-DA00-4D3B-BDB5-E06FD94B7A93}"/>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sp>
        <p:nvSpPr>
          <p:cNvPr id="115715" name="Rectangle 3">
            <a:extLst>
              <a:ext uri="{FF2B5EF4-FFF2-40B4-BE49-F238E27FC236}">
                <a16:creationId xmlns:a16="http://schemas.microsoft.com/office/drawing/2014/main" id="{93A5FA9E-D66E-4EA5-BBCE-CA3BC33F73BC}"/>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pic>
        <p:nvPicPr>
          <p:cNvPr id="111620" name="Picture 79" descr="BIAO5-26">
            <a:extLst>
              <a:ext uri="{FF2B5EF4-FFF2-40B4-BE49-F238E27FC236}">
                <a16:creationId xmlns:a16="http://schemas.microsoft.com/office/drawing/2014/main" id="{320854C7-8F9D-40E4-BE7D-78EC31B53A5A}"/>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541338" y="1628775"/>
            <a:ext cx="4824412" cy="449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115717" name="Object 5">
            <a:extLst>
              <a:ext uri="{FF2B5EF4-FFF2-40B4-BE49-F238E27FC236}">
                <a16:creationId xmlns:a16="http://schemas.microsoft.com/office/drawing/2014/main" id="{7A2B65B0-D07A-4438-99F1-1BCE59266852}"/>
              </a:ext>
            </a:extLst>
          </p:cNvPr>
          <p:cNvGraphicFramePr>
            <a:graphicFrameLocks/>
          </p:cNvGraphicFramePr>
          <p:nvPr/>
        </p:nvGraphicFramePr>
        <p:xfrm>
          <a:off x="5868988" y="2420938"/>
          <a:ext cx="2808287" cy="2087562"/>
        </p:xfrm>
        <a:graphic>
          <a:graphicData uri="http://schemas.openxmlformats.org/presentationml/2006/ole">
            <mc:AlternateContent xmlns:mc="http://schemas.openxmlformats.org/markup-compatibility/2006">
              <mc:Choice xmlns:v="urn:schemas-microsoft-com:vml" Requires="v">
                <p:oleObj spid="_x0000_s29768" r:id="rId6" imgW="2200582" imgH="1542857" progId="Paint.Picture">
                  <p:embed/>
                </p:oleObj>
              </mc:Choice>
              <mc:Fallback>
                <p:oleObj r:id="rId6" imgW="2200582" imgH="1542857" progId="Paint.Picture">
                  <p:embed/>
                  <p:pic>
                    <p:nvPicPr>
                      <p:cNvPr id="115717" name="Object 5">
                        <a:extLst>
                          <a:ext uri="{FF2B5EF4-FFF2-40B4-BE49-F238E27FC236}">
                            <a16:creationId xmlns:a16="http://schemas.microsoft.com/office/drawing/2014/main" id="{7A2B65B0-D07A-4438-99F1-1BCE5926685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8988" y="2420938"/>
                        <a:ext cx="280828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a:extLst>
              <a:ext uri="{FF2B5EF4-FFF2-40B4-BE49-F238E27FC236}">
                <a16:creationId xmlns:a16="http://schemas.microsoft.com/office/drawing/2014/main" id="{869E3F1D-BDFE-4F79-B891-27B601C10563}"/>
              </a:ext>
            </a:extLst>
          </p:cNvPr>
          <p:cNvSpPr txBox="1"/>
          <p:nvPr/>
        </p:nvSpPr>
        <p:spPr>
          <a:xfrm>
            <a:off x="2274555" y="2276872"/>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7" name="文本框 6">
            <a:extLst>
              <a:ext uri="{FF2B5EF4-FFF2-40B4-BE49-F238E27FC236}">
                <a16:creationId xmlns:a16="http://schemas.microsoft.com/office/drawing/2014/main" id="{8D493D7C-29FE-4570-930C-BDAD1CC5D3F4}"/>
              </a:ext>
            </a:extLst>
          </p:cNvPr>
          <p:cNvSpPr txBox="1"/>
          <p:nvPr/>
        </p:nvSpPr>
        <p:spPr>
          <a:xfrm>
            <a:off x="3837292" y="2239169"/>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
        <p:nvSpPr>
          <p:cNvPr id="8" name="文本框 7">
            <a:extLst>
              <a:ext uri="{FF2B5EF4-FFF2-40B4-BE49-F238E27FC236}">
                <a16:creationId xmlns:a16="http://schemas.microsoft.com/office/drawing/2014/main" id="{CD05496C-D1AD-4CB9-B4A7-02E9979A05B0}"/>
              </a:ext>
            </a:extLst>
          </p:cNvPr>
          <p:cNvSpPr txBox="1"/>
          <p:nvPr/>
        </p:nvSpPr>
        <p:spPr>
          <a:xfrm>
            <a:off x="649465" y="1717051"/>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p:spTree>
    <p:extLst>
      <p:ext uri="{BB962C8B-B14F-4D97-AF65-F5344CB8AC3E}">
        <p14:creationId xmlns:p14="http://schemas.microsoft.com/office/powerpoint/2010/main" val="8857054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111620"/>
                                        </p:tgtEl>
                                        <p:attrNameLst>
                                          <p:attrName>style.visibility</p:attrName>
                                        </p:attrNameLst>
                                      </p:cBhvr>
                                      <p:to>
                                        <p:strVal val="visible"/>
                                      </p:to>
                                    </p:set>
                                    <p:anim calcmode="lin" valueType="num">
                                      <p:cBhvr additive="base">
                                        <p:cTn id="7" dur="500" fill="hold"/>
                                        <p:tgtEl>
                                          <p:spTgt spid="111620"/>
                                        </p:tgtEl>
                                        <p:attrNameLst>
                                          <p:attrName>ppt_x</p:attrName>
                                        </p:attrNameLst>
                                      </p:cBhvr>
                                      <p:tavLst>
                                        <p:tav tm="0">
                                          <p:val>
                                            <p:strVal val="1+#ppt_w/2"/>
                                          </p:val>
                                        </p:tav>
                                        <p:tav tm="100000">
                                          <p:val>
                                            <p:strVal val="#ppt_x"/>
                                          </p:val>
                                        </p:tav>
                                      </p:tavLst>
                                    </p:anim>
                                    <p:anim calcmode="lin" valueType="num">
                                      <p:cBhvr additive="base">
                                        <p:cTn id="8" dur="500" fill="hold"/>
                                        <p:tgtEl>
                                          <p:spTgt spid="1116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BCF0060-616D-4DBD-82C1-A9F4AFD9422C}"/>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sp>
        <p:nvSpPr>
          <p:cNvPr id="116739" name="Rectangle 3">
            <a:extLst>
              <a:ext uri="{FF2B5EF4-FFF2-40B4-BE49-F238E27FC236}">
                <a16:creationId xmlns:a16="http://schemas.microsoft.com/office/drawing/2014/main" id="{05948BE2-A456-4BB8-8004-19EC9F0ADD63}"/>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pic>
        <p:nvPicPr>
          <p:cNvPr id="112644" name="Picture 79" descr="BIAO5-26">
            <a:extLst>
              <a:ext uri="{FF2B5EF4-FFF2-40B4-BE49-F238E27FC236}">
                <a16:creationId xmlns:a16="http://schemas.microsoft.com/office/drawing/2014/main" id="{284B13F5-54BD-4AE9-A695-015CF46FBE45}"/>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541338" y="1628775"/>
            <a:ext cx="4824412" cy="449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116741" name="Object 5">
            <a:extLst>
              <a:ext uri="{FF2B5EF4-FFF2-40B4-BE49-F238E27FC236}">
                <a16:creationId xmlns:a16="http://schemas.microsoft.com/office/drawing/2014/main" id="{E49427CB-C308-43B3-8AC9-FE496F7F898A}"/>
              </a:ext>
            </a:extLst>
          </p:cNvPr>
          <p:cNvGraphicFramePr>
            <a:graphicFrameLocks/>
          </p:cNvGraphicFramePr>
          <p:nvPr/>
        </p:nvGraphicFramePr>
        <p:xfrm>
          <a:off x="5581650" y="2422525"/>
          <a:ext cx="2952750" cy="2303463"/>
        </p:xfrm>
        <a:graphic>
          <a:graphicData uri="http://schemas.openxmlformats.org/presentationml/2006/ole">
            <mc:AlternateContent xmlns:mc="http://schemas.openxmlformats.org/markup-compatibility/2006">
              <mc:Choice xmlns:v="urn:schemas-microsoft-com:vml" Requires="v">
                <p:oleObj spid="_x0000_s30793" r:id="rId6" imgW="2048161" imgH="1590897" progId="Paint.Picture">
                  <p:embed/>
                </p:oleObj>
              </mc:Choice>
              <mc:Fallback>
                <p:oleObj r:id="rId6" imgW="2048161" imgH="1590897" progId="Paint.Picture">
                  <p:embed/>
                  <p:pic>
                    <p:nvPicPr>
                      <p:cNvPr id="116741" name="Object 5">
                        <a:extLst>
                          <a:ext uri="{FF2B5EF4-FFF2-40B4-BE49-F238E27FC236}">
                            <a16:creationId xmlns:a16="http://schemas.microsoft.com/office/drawing/2014/main" id="{E49427CB-C308-43B3-8AC9-FE496F7F898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1650" y="2422525"/>
                        <a:ext cx="295275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a:extLst>
              <a:ext uri="{FF2B5EF4-FFF2-40B4-BE49-F238E27FC236}">
                <a16:creationId xmlns:a16="http://schemas.microsoft.com/office/drawing/2014/main" id="{D8332D89-1FAE-4447-AF8D-4AA14FA2296C}"/>
              </a:ext>
            </a:extLst>
          </p:cNvPr>
          <p:cNvSpPr txBox="1"/>
          <p:nvPr/>
        </p:nvSpPr>
        <p:spPr>
          <a:xfrm>
            <a:off x="2274555" y="2276872"/>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7" name="文本框 6">
            <a:extLst>
              <a:ext uri="{FF2B5EF4-FFF2-40B4-BE49-F238E27FC236}">
                <a16:creationId xmlns:a16="http://schemas.microsoft.com/office/drawing/2014/main" id="{AC33AF5D-6952-4D08-8895-D695157CA392}"/>
              </a:ext>
            </a:extLst>
          </p:cNvPr>
          <p:cNvSpPr txBox="1"/>
          <p:nvPr/>
        </p:nvSpPr>
        <p:spPr>
          <a:xfrm>
            <a:off x="3837292" y="2239169"/>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
        <p:nvSpPr>
          <p:cNvPr id="8" name="文本框 7">
            <a:extLst>
              <a:ext uri="{FF2B5EF4-FFF2-40B4-BE49-F238E27FC236}">
                <a16:creationId xmlns:a16="http://schemas.microsoft.com/office/drawing/2014/main" id="{F36252D5-9696-40ED-BDF9-7BBFD3CF1548}"/>
              </a:ext>
            </a:extLst>
          </p:cNvPr>
          <p:cNvSpPr txBox="1"/>
          <p:nvPr/>
        </p:nvSpPr>
        <p:spPr>
          <a:xfrm>
            <a:off x="649465" y="1717051"/>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mc:AlternateContent xmlns:mc="http://schemas.openxmlformats.org/markup-compatibility/2006">
        <mc:Choice xmlns:p14="http://schemas.microsoft.com/office/powerpoint/2010/main" Requires="p14">
          <p:contentPart p14:bwMode="auto" r:id="rId8">
            <p14:nvContentPartPr>
              <p14:cNvPr id="2" name="墨迹 1">
                <a:extLst>
                  <a:ext uri="{FF2B5EF4-FFF2-40B4-BE49-F238E27FC236}">
                    <a16:creationId xmlns:a16="http://schemas.microsoft.com/office/drawing/2014/main" id="{A2F499ED-7912-4B09-B304-F0A72CC94B67}"/>
                  </a:ext>
                </a:extLst>
              </p14:cNvPr>
              <p14:cNvContentPartPr/>
              <p14:nvPr/>
            </p14:nvContentPartPr>
            <p14:xfrm>
              <a:off x="2853000" y="2975400"/>
              <a:ext cx="330840" cy="2872080"/>
            </p14:xfrm>
          </p:contentPart>
        </mc:Choice>
        <mc:Fallback>
          <p:pic>
            <p:nvPicPr>
              <p:cNvPr id="2" name="墨迹 1">
                <a:extLst>
                  <a:ext uri="{FF2B5EF4-FFF2-40B4-BE49-F238E27FC236}">
                    <a16:creationId xmlns:a16="http://schemas.microsoft.com/office/drawing/2014/main" id="{A2F499ED-7912-4B09-B304-F0A72CC94B67}"/>
                  </a:ext>
                </a:extLst>
              </p:cNvPr>
              <p:cNvPicPr/>
              <p:nvPr/>
            </p:nvPicPr>
            <p:blipFill>
              <a:blip r:embed="rId9"/>
              <a:stretch>
                <a:fillRect/>
              </a:stretch>
            </p:blipFill>
            <p:spPr>
              <a:xfrm>
                <a:off x="2843640" y="2966040"/>
                <a:ext cx="349560" cy="2890800"/>
              </a:xfrm>
              <a:prstGeom prst="rect">
                <a:avLst/>
              </a:prstGeom>
            </p:spPr>
          </p:pic>
        </mc:Fallback>
      </mc:AlternateContent>
    </p:spTree>
    <p:extLst>
      <p:ext uri="{BB962C8B-B14F-4D97-AF65-F5344CB8AC3E}">
        <p14:creationId xmlns:p14="http://schemas.microsoft.com/office/powerpoint/2010/main" val="7478860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112644"/>
                                        </p:tgtEl>
                                        <p:attrNameLst>
                                          <p:attrName>style.visibility</p:attrName>
                                        </p:attrNameLst>
                                      </p:cBhvr>
                                      <p:to>
                                        <p:strVal val="visible"/>
                                      </p:to>
                                    </p:set>
                                    <p:anim calcmode="lin" valueType="num">
                                      <p:cBhvr additive="base">
                                        <p:cTn id="7" dur="500" fill="hold"/>
                                        <p:tgtEl>
                                          <p:spTgt spid="112644"/>
                                        </p:tgtEl>
                                        <p:attrNameLst>
                                          <p:attrName>ppt_x</p:attrName>
                                        </p:attrNameLst>
                                      </p:cBhvr>
                                      <p:tavLst>
                                        <p:tav tm="0">
                                          <p:val>
                                            <p:strVal val="1+#ppt_w/2"/>
                                          </p:val>
                                        </p:tav>
                                        <p:tav tm="100000">
                                          <p:val>
                                            <p:strVal val="#ppt_x"/>
                                          </p:val>
                                        </p:tav>
                                      </p:tavLst>
                                    </p:anim>
                                    <p:anim calcmode="lin" valueType="num">
                                      <p:cBhvr additive="base">
                                        <p:cTn id="8" dur="500" fill="hold"/>
                                        <p:tgtEl>
                                          <p:spTgt spid="1126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F9D2C8A2-C201-4AAE-BDA1-182CFF7B0B95}"/>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sp>
        <p:nvSpPr>
          <p:cNvPr id="117763" name="Rectangle 3">
            <a:extLst>
              <a:ext uri="{FF2B5EF4-FFF2-40B4-BE49-F238E27FC236}">
                <a16:creationId xmlns:a16="http://schemas.microsoft.com/office/drawing/2014/main" id="{D8B203BD-76DD-43F2-93B9-AC4094AE8D5A}"/>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pic>
        <p:nvPicPr>
          <p:cNvPr id="113668" name="Picture 79" descr="BIAO5-26">
            <a:extLst>
              <a:ext uri="{FF2B5EF4-FFF2-40B4-BE49-F238E27FC236}">
                <a16:creationId xmlns:a16="http://schemas.microsoft.com/office/drawing/2014/main" id="{EB27C5A6-B8F0-4730-80EB-89DB437F3E1D}"/>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541338" y="1628775"/>
            <a:ext cx="4824412" cy="449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117765" name="Object 5">
            <a:extLst>
              <a:ext uri="{FF2B5EF4-FFF2-40B4-BE49-F238E27FC236}">
                <a16:creationId xmlns:a16="http://schemas.microsoft.com/office/drawing/2014/main" id="{04ADB2C8-399B-4240-B289-389DDA7671E6}"/>
              </a:ext>
            </a:extLst>
          </p:cNvPr>
          <p:cNvGraphicFramePr>
            <a:graphicFrameLocks/>
          </p:cNvGraphicFramePr>
          <p:nvPr/>
        </p:nvGraphicFramePr>
        <p:xfrm>
          <a:off x="5942013" y="2349500"/>
          <a:ext cx="2663825" cy="2232025"/>
        </p:xfrm>
        <a:graphic>
          <a:graphicData uri="http://schemas.openxmlformats.org/presentationml/2006/ole">
            <mc:AlternateContent xmlns:mc="http://schemas.openxmlformats.org/markup-compatibility/2006">
              <mc:Choice xmlns:v="urn:schemas-microsoft-com:vml" Requires="v">
                <p:oleObj spid="_x0000_s31816" r:id="rId6" imgW="2019048" imgH="1609524" progId="Paint.Picture">
                  <p:embed/>
                </p:oleObj>
              </mc:Choice>
              <mc:Fallback>
                <p:oleObj r:id="rId6" imgW="2019048" imgH="1609524" progId="Paint.Picture">
                  <p:embed/>
                  <p:pic>
                    <p:nvPicPr>
                      <p:cNvPr id="117765" name="Object 5">
                        <a:extLst>
                          <a:ext uri="{FF2B5EF4-FFF2-40B4-BE49-F238E27FC236}">
                            <a16:creationId xmlns:a16="http://schemas.microsoft.com/office/drawing/2014/main" id="{04ADB2C8-399B-4240-B289-389DDA7671E6}"/>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2013" y="2349500"/>
                        <a:ext cx="26638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a:extLst>
              <a:ext uri="{FF2B5EF4-FFF2-40B4-BE49-F238E27FC236}">
                <a16:creationId xmlns:a16="http://schemas.microsoft.com/office/drawing/2014/main" id="{EC0786BB-E600-424D-8DE8-F87FCA7B9679}"/>
              </a:ext>
            </a:extLst>
          </p:cNvPr>
          <p:cNvSpPr txBox="1"/>
          <p:nvPr/>
        </p:nvSpPr>
        <p:spPr>
          <a:xfrm>
            <a:off x="2274555" y="2276872"/>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7" name="文本框 6">
            <a:extLst>
              <a:ext uri="{FF2B5EF4-FFF2-40B4-BE49-F238E27FC236}">
                <a16:creationId xmlns:a16="http://schemas.microsoft.com/office/drawing/2014/main" id="{A7CED36D-C180-441B-910C-89847666E090}"/>
              </a:ext>
            </a:extLst>
          </p:cNvPr>
          <p:cNvSpPr txBox="1"/>
          <p:nvPr/>
        </p:nvSpPr>
        <p:spPr>
          <a:xfrm>
            <a:off x="3837292" y="2239169"/>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
        <p:nvSpPr>
          <p:cNvPr id="8" name="文本框 7">
            <a:extLst>
              <a:ext uri="{FF2B5EF4-FFF2-40B4-BE49-F238E27FC236}">
                <a16:creationId xmlns:a16="http://schemas.microsoft.com/office/drawing/2014/main" id="{0D7BDABA-5096-4243-9467-C8C6F9CB2C0E}"/>
              </a:ext>
            </a:extLst>
          </p:cNvPr>
          <p:cNvSpPr txBox="1"/>
          <p:nvPr/>
        </p:nvSpPr>
        <p:spPr>
          <a:xfrm>
            <a:off x="649465" y="1717051"/>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p:spTree>
    <p:extLst>
      <p:ext uri="{BB962C8B-B14F-4D97-AF65-F5344CB8AC3E}">
        <p14:creationId xmlns:p14="http://schemas.microsoft.com/office/powerpoint/2010/main" val="698319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113668"/>
                                        </p:tgtEl>
                                        <p:attrNameLst>
                                          <p:attrName>style.visibility</p:attrName>
                                        </p:attrNameLst>
                                      </p:cBhvr>
                                      <p:to>
                                        <p:strVal val="visible"/>
                                      </p:to>
                                    </p:set>
                                    <p:anim calcmode="lin" valueType="num">
                                      <p:cBhvr additive="base">
                                        <p:cTn id="7" dur="500" fill="hold"/>
                                        <p:tgtEl>
                                          <p:spTgt spid="113668"/>
                                        </p:tgtEl>
                                        <p:attrNameLst>
                                          <p:attrName>ppt_x</p:attrName>
                                        </p:attrNameLst>
                                      </p:cBhvr>
                                      <p:tavLst>
                                        <p:tav tm="0">
                                          <p:val>
                                            <p:strVal val="1+#ppt_w/2"/>
                                          </p:val>
                                        </p:tav>
                                        <p:tav tm="100000">
                                          <p:val>
                                            <p:strVal val="#ppt_x"/>
                                          </p:val>
                                        </p:tav>
                                      </p:tavLst>
                                    </p:anim>
                                    <p:anim calcmode="lin" valueType="num">
                                      <p:cBhvr additive="base">
                                        <p:cTn id="8" dur="500" fill="hold"/>
                                        <p:tgtEl>
                                          <p:spTgt spid="1136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D9C1A0C4-17E6-4959-BB40-D70271463590}"/>
              </a:ext>
            </a:extLst>
          </p:cNvPr>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zh-CN" altLang="zh-CN"/>
          </a:p>
        </p:txBody>
      </p:sp>
      <p:sp>
        <p:nvSpPr>
          <p:cNvPr id="118787" name="Rectangle 3">
            <a:extLst>
              <a:ext uri="{FF2B5EF4-FFF2-40B4-BE49-F238E27FC236}">
                <a16:creationId xmlns:a16="http://schemas.microsoft.com/office/drawing/2014/main" id="{928E0FC5-FE57-4C1E-8468-4EE242DE453A}"/>
              </a:ext>
            </a:extLst>
          </p:cNvPr>
          <p:cNvSpPr>
            <a:spLocks noGrp="1" noChangeArrowheads="1"/>
          </p:cNvSpPr>
          <p:nvPr>
            <p:ph type="body" idx="1"/>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zh-CN"/>
          </a:p>
        </p:txBody>
      </p:sp>
      <p:pic>
        <p:nvPicPr>
          <p:cNvPr id="114692" name="Picture 79" descr="BIAO5-26">
            <a:extLst>
              <a:ext uri="{FF2B5EF4-FFF2-40B4-BE49-F238E27FC236}">
                <a16:creationId xmlns:a16="http://schemas.microsoft.com/office/drawing/2014/main" id="{E66A6224-BE10-4143-A3EC-D4D9C2179BF0}"/>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541338" y="1628775"/>
            <a:ext cx="4824412" cy="449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118789" name="Object 5">
            <a:extLst>
              <a:ext uri="{FF2B5EF4-FFF2-40B4-BE49-F238E27FC236}">
                <a16:creationId xmlns:a16="http://schemas.microsoft.com/office/drawing/2014/main" id="{04C0772D-1E68-461F-80BD-11AEFE91AF94}"/>
              </a:ext>
            </a:extLst>
          </p:cNvPr>
          <p:cNvGraphicFramePr>
            <a:graphicFrameLocks/>
          </p:cNvGraphicFramePr>
          <p:nvPr/>
        </p:nvGraphicFramePr>
        <p:xfrm>
          <a:off x="5581650" y="2062163"/>
          <a:ext cx="2879725" cy="2016125"/>
        </p:xfrm>
        <a:graphic>
          <a:graphicData uri="http://schemas.openxmlformats.org/presentationml/2006/ole">
            <mc:AlternateContent xmlns:mc="http://schemas.openxmlformats.org/markup-compatibility/2006">
              <mc:Choice xmlns:v="urn:schemas-microsoft-com:vml" Requires="v">
                <p:oleObj spid="_x0000_s32912" r:id="rId6" imgW="2114845" imgH="1638529" progId="Paint.Picture">
                  <p:embed/>
                </p:oleObj>
              </mc:Choice>
              <mc:Fallback>
                <p:oleObj r:id="rId6" imgW="2114845" imgH="1638529" progId="Paint.Picture">
                  <p:embed/>
                  <p:pic>
                    <p:nvPicPr>
                      <p:cNvPr id="118789" name="Object 5">
                        <a:extLst>
                          <a:ext uri="{FF2B5EF4-FFF2-40B4-BE49-F238E27FC236}">
                            <a16:creationId xmlns:a16="http://schemas.microsoft.com/office/drawing/2014/main" id="{04C0772D-1E68-461F-80BD-11AEFE91AF94}"/>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1650" y="2062163"/>
                        <a:ext cx="28797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0" name="Object 6">
            <a:extLst>
              <a:ext uri="{FF2B5EF4-FFF2-40B4-BE49-F238E27FC236}">
                <a16:creationId xmlns:a16="http://schemas.microsoft.com/office/drawing/2014/main" id="{1A6A0F6D-34EF-4752-80CA-F2641BE36109}"/>
              </a:ext>
            </a:extLst>
          </p:cNvPr>
          <p:cNvGraphicFramePr>
            <a:graphicFrameLocks/>
          </p:cNvGraphicFramePr>
          <p:nvPr/>
        </p:nvGraphicFramePr>
        <p:xfrm>
          <a:off x="5508625" y="4221163"/>
          <a:ext cx="3219450" cy="419100"/>
        </p:xfrm>
        <a:graphic>
          <a:graphicData uri="http://schemas.openxmlformats.org/presentationml/2006/ole">
            <mc:AlternateContent xmlns:mc="http://schemas.openxmlformats.org/markup-compatibility/2006">
              <mc:Choice xmlns:v="urn:schemas-microsoft-com:vml" Requires="v">
                <p:oleObj spid="_x0000_s32913" r:id="rId8" imgW="3219899" imgH="419048" progId="Paint.Picture">
                  <p:embed/>
                </p:oleObj>
              </mc:Choice>
              <mc:Fallback>
                <p:oleObj r:id="rId8" imgW="3219899" imgH="419048" progId="Paint.Picture">
                  <p:embed/>
                  <p:pic>
                    <p:nvPicPr>
                      <p:cNvPr id="118790" name="Object 6">
                        <a:extLst>
                          <a:ext uri="{FF2B5EF4-FFF2-40B4-BE49-F238E27FC236}">
                            <a16:creationId xmlns:a16="http://schemas.microsoft.com/office/drawing/2014/main" id="{1A6A0F6D-34EF-4752-80CA-F2641BE36109}"/>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08625" y="4221163"/>
                        <a:ext cx="321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文本框 6">
            <a:extLst>
              <a:ext uri="{FF2B5EF4-FFF2-40B4-BE49-F238E27FC236}">
                <a16:creationId xmlns:a16="http://schemas.microsoft.com/office/drawing/2014/main" id="{D8C215CD-5EA7-4646-93C3-B872B5BCEBBF}"/>
              </a:ext>
            </a:extLst>
          </p:cNvPr>
          <p:cNvSpPr txBox="1"/>
          <p:nvPr/>
        </p:nvSpPr>
        <p:spPr>
          <a:xfrm>
            <a:off x="2274555" y="2276872"/>
            <a:ext cx="1357978" cy="369332"/>
          </a:xfrm>
          <a:prstGeom prst="rect">
            <a:avLst/>
          </a:prstGeom>
          <a:solidFill>
            <a:schemeClr val="bg1"/>
          </a:solidFill>
        </p:spPr>
        <p:txBody>
          <a:bodyPr wrap="square" rtlCol="0">
            <a:spAutoFit/>
          </a:bodyPr>
          <a:lstStyle/>
          <a:p>
            <a:r>
              <a:rPr lang="en-US" altLang="zh-CN" sz="1800" dirty="0"/>
              <a:t>Excitation</a:t>
            </a:r>
            <a:endParaRPr lang="zh-CN" altLang="en-US" sz="3200" dirty="0"/>
          </a:p>
        </p:txBody>
      </p:sp>
      <p:sp>
        <p:nvSpPr>
          <p:cNvPr id="8" name="文本框 7">
            <a:extLst>
              <a:ext uri="{FF2B5EF4-FFF2-40B4-BE49-F238E27FC236}">
                <a16:creationId xmlns:a16="http://schemas.microsoft.com/office/drawing/2014/main" id="{E32E2D30-B8F3-488D-971C-113E081EBF2D}"/>
              </a:ext>
            </a:extLst>
          </p:cNvPr>
          <p:cNvSpPr txBox="1"/>
          <p:nvPr/>
        </p:nvSpPr>
        <p:spPr>
          <a:xfrm>
            <a:off x="3837292" y="2239169"/>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
        <p:nvSpPr>
          <p:cNvPr id="9" name="文本框 8">
            <a:extLst>
              <a:ext uri="{FF2B5EF4-FFF2-40B4-BE49-F238E27FC236}">
                <a16:creationId xmlns:a16="http://schemas.microsoft.com/office/drawing/2014/main" id="{BFF61AD1-AE51-470A-9874-3B6BFB9AADDB}"/>
              </a:ext>
            </a:extLst>
          </p:cNvPr>
          <p:cNvSpPr txBox="1"/>
          <p:nvPr/>
        </p:nvSpPr>
        <p:spPr>
          <a:xfrm>
            <a:off x="649465" y="1717051"/>
            <a:ext cx="4566117" cy="338554"/>
          </a:xfrm>
          <a:prstGeom prst="rect">
            <a:avLst/>
          </a:prstGeom>
          <a:solidFill>
            <a:schemeClr val="bg1"/>
          </a:solidFill>
        </p:spPr>
        <p:txBody>
          <a:bodyPr wrap="square" rtlCol="0">
            <a:spAutoFit/>
          </a:bodyPr>
          <a:lstStyle/>
          <a:p>
            <a:r>
              <a:rPr lang="en-US" altLang="zh-CN" sz="1600" dirty="0"/>
              <a:t>Excitation and Output function truth table</a:t>
            </a:r>
            <a:endParaRPr lang="zh-CN" altLang="en-US" sz="2800" dirty="0"/>
          </a:p>
        </p:txBody>
      </p:sp>
      <mc:AlternateContent xmlns:mc="http://schemas.openxmlformats.org/markup-compatibility/2006">
        <mc:Choice xmlns:p14="http://schemas.microsoft.com/office/powerpoint/2010/main" Requires="p14">
          <p:contentPart p14:bwMode="auto" r:id="rId10">
            <p14:nvContentPartPr>
              <p14:cNvPr id="2" name="墨迹 1">
                <a:extLst>
                  <a:ext uri="{FF2B5EF4-FFF2-40B4-BE49-F238E27FC236}">
                    <a16:creationId xmlns:a16="http://schemas.microsoft.com/office/drawing/2014/main" id="{E56A637D-BF5E-465D-989A-90531B059B51}"/>
                  </a:ext>
                </a:extLst>
              </p14:cNvPr>
              <p14:cNvContentPartPr/>
              <p14:nvPr/>
            </p14:nvContentPartPr>
            <p14:xfrm>
              <a:off x="3920400" y="2692080"/>
              <a:ext cx="1114920" cy="3533400"/>
            </p14:xfrm>
          </p:contentPart>
        </mc:Choice>
        <mc:Fallback>
          <p:pic>
            <p:nvPicPr>
              <p:cNvPr id="2" name="墨迹 1">
                <a:extLst>
                  <a:ext uri="{FF2B5EF4-FFF2-40B4-BE49-F238E27FC236}">
                    <a16:creationId xmlns:a16="http://schemas.microsoft.com/office/drawing/2014/main" id="{E56A637D-BF5E-465D-989A-90531B059B51}"/>
                  </a:ext>
                </a:extLst>
              </p:cNvPr>
              <p:cNvPicPr/>
              <p:nvPr/>
            </p:nvPicPr>
            <p:blipFill>
              <a:blip r:embed="rId11"/>
              <a:stretch>
                <a:fillRect/>
              </a:stretch>
            </p:blipFill>
            <p:spPr>
              <a:xfrm>
                <a:off x="3911040" y="2682720"/>
                <a:ext cx="1133640" cy="3552120"/>
              </a:xfrm>
              <a:prstGeom prst="rect">
                <a:avLst/>
              </a:prstGeom>
            </p:spPr>
          </p:pic>
        </mc:Fallback>
      </mc:AlternateContent>
    </p:spTree>
    <p:extLst>
      <p:ext uri="{BB962C8B-B14F-4D97-AF65-F5344CB8AC3E}">
        <p14:creationId xmlns:p14="http://schemas.microsoft.com/office/powerpoint/2010/main" val="42893246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114692"/>
                                        </p:tgtEl>
                                        <p:attrNameLst>
                                          <p:attrName>style.visibility</p:attrName>
                                        </p:attrNameLst>
                                      </p:cBhvr>
                                      <p:to>
                                        <p:strVal val="visible"/>
                                      </p:to>
                                    </p:set>
                                    <p:anim calcmode="lin" valueType="num">
                                      <p:cBhvr additive="base">
                                        <p:cTn id="7" dur="500" fill="hold"/>
                                        <p:tgtEl>
                                          <p:spTgt spid="114692"/>
                                        </p:tgtEl>
                                        <p:attrNameLst>
                                          <p:attrName>ppt_x</p:attrName>
                                        </p:attrNameLst>
                                      </p:cBhvr>
                                      <p:tavLst>
                                        <p:tav tm="0">
                                          <p:val>
                                            <p:strVal val="1+#ppt_w/2"/>
                                          </p:val>
                                        </p:tav>
                                        <p:tav tm="100000">
                                          <p:val>
                                            <p:strVal val="#ppt_x"/>
                                          </p:val>
                                        </p:tav>
                                      </p:tavLst>
                                    </p:anim>
                                    <p:anim calcmode="lin" valueType="num">
                                      <p:cBhvr additive="base">
                                        <p:cTn id="8" dur="500" fill="hold"/>
                                        <p:tgtEl>
                                          <p:spTgt spid="11469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8">
            <a:extLst>
              <a:ext uri="{FF2B5EF4-FFF2-40B4-BE49-F238E27FC236}">
                <a16:creationId xmlns:a16="http://schemas.microsoft.com/office/drawing/2014/main" id="{9D83B842-9425-4241-88D1-56B6A6D4C15A}"/>
              </a:ext>
            </a:extLst>
          </p:cNvPr>
          <p:cNvSpPr txBox="1">
            <a:spLocks noChangeArrowheads="1"/>
          </p:cNvSpPr>
          <p:nvPr/>
        </p:nvSpPr>
        <p:spPr bwMode="auto">
          <a:xfrm>
            <a:off x="492125" y="159603"/>
            <a:ext cx="85502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Based on the</a:t>
            </a:r>
            <a:r>
              <a:rPr lang="en-US" altLang="zh-CN" dirty="0">
                <a:latin typeface="Times New Roman" panose="02020603050405020304" pitchFamily="18" charset="0"/>
              </a:rPr>
              <a:t> Karnaugh, the truth table can be used to make the excitation and output functions is shown below.</a:t>
            </a:r>
            <a:endParaRPr lang="zh-CN" altLang="en-US" sz="2400" dirty="0">
              <a:latin typeface="Times New Roman" panose="02020603050405020304" pitchFamily="18" charset="0"/>
            </a:endParaRPr>
          </a:p>
        </p:txBody>
      </p:sp>
      <p:grpSp>
        <p:nvGrpSpPr>
          <p:cNvPr id="115715" name="Group 3">
            <a:extLst>
              <a:ext uri="{FF2B5EF4-FFF2-40B4-BE49-F238E27FC236}">
                <a16:creationId xmlns:a16="http://schemas.microsoft.com/office/drawing/2014/main" id="{1F00B5C5-C209-48B8-B5F7-711502E7C7B8}"/>
              </a:ext>
            </a:extLst>
          </p:cNvPr>
          <p:cNvGrpSpPr>
            <a:grpSpLocks/>
          </p:cNvGrpSpPr>
          <p:nvPr/>
        </p:nvGrpSpPr>
        <p:grpSpPr bwMode="auto">
          <a:xfrm>
            <a:off x="457200" y="1676400"/>
            <a:ext cx="8283575" cy="4781550"/>
            <a:chOff x="0" y="0"/>
            <a:chExt cx="5218" cy="3012"/>
          </a:xfrm>
        </p:grpSpPr>
        <p:pic>
          <p:nvPicPr>
            <p:cNvPr id="119814" name="Picture 9" descr="TU5-29">
              <a:extLst>
                <a:ext uri="{FF2B5EF4-FFF2-40B4-BE49-F238E27FC236}">
                  <a16:creationId xmlns:a16="http://schemas.microsoft.com/office/drawing/2014/main" id="{9E9D2C99-51CC-43D0-BD9C-38644A0DB141}"/>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0" y="0"/>
              <a:ext cx="5218" cy="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5" name="Text Box 12">
              <a:extLst>
                <a:ext uri="{FF2B5EF4-FFF2-40B4-BE49-F238E27FC236}">
                  <a16:creationId xmlns:a16="http://schemas.microsoft.com/office/drawing/2014/main" id="{3D0A3831-A95A-4E83-8A11-5610092AAF5B}"/>
                </a:ext>
              </a:extLst>
            </p:cNvPr>
            <p:cNvSpPr txBox="1">
              <a:spLocks noChangeArrowheads="1"/>
            </p:cNvSpPr>
            <p:nvPr/>
          </p:nvSpPr>
          <p:spPr bwMode="auto">
            <a:xfrm>
              <a:off x="672" y="2352"/>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J</a:t>
              </a:r>
              <a:r>
                <a:rPr lang="en-US" altLang="zh-CN" sz="2400" baseline="-25000">
                  <a:latin typeface="Times New Roman" panose="02020603050405020304" pitchFamily="18" charset="0"/>
                </a:rPr>
                <a:t>1</a:t>
              </a:r>
              <a:r>
                <a:rPr lang="en-US" altLang="zh-CN" sz="2400">
                  <a:latin typeface="Times New Roman" panose="02020603050405020304" pitchFamily="18" charset="0"/>
                </a:rPr>
                <a:t>=1</a:t>
              </a:r>
            </a:p>
          </p:txBody>
        </p:sp>
        <p:sp>
          <p:nvSpPr>
            <p:cNvPr id="119816" name="Text Box 13">
              <a:extLst>
                <a:ext uri="{FF2B5EF4-FFF2-40B4-BE49-F238E27FC236}">
                  <a16:creationId xmlns:a16="http://schemas.microsoft.com/office/drawing/2014/main" id="{02F28236-5B28-449E-B939-5BB7DCE164A0}"/>
                </a:ext>
              </a:extLst>
            </p:cNvPr>
            <p:cNvSpPr txBox="1">
              <a:spLocks noChangeArrowheads="1"/>
            </p:cNvSpPr>
            <p:nvPr/>
          </p:nvSpPr>
          <p:spPr bwMode="auto">
            <a:xfrm>
              <a:off x="2448" y="2352"/>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K</a:t>
              </a:r>
              <a:r>
                <a:rPr lang="en-US" altLang="zh-CN" sz="2400" baseline="-25000">
                  <a:latin typeface="Times New Roman" panose="02020603050405020304" pitchFamily="18" charset="0"/>
                </a:rPr>
                <a:t>1</a:t>
              </a:r>
              <a:r>
                <a:rPr lang="en-US" altLang="zh-CN" sz="2400">
                  <a:latin typeface="Times New Roman" panose="02020603050405020304" pitchFamily="18" charset="0"/>
                </a:rPr>
                <a:t>=1</a:t>
              </a:r>
            </a:p>
          </p:txBody>
        </p:sp>
        <p:sp>
          <p:nvSpPr>
            <p:cNvPr id="119817" name="Text Box 14">
              <a:extLst>
                <a:ext uri="{FF2B5EF4-FFF2-40B4-BE49-F238E27FC236}">
                  <a16:creationId xmlns:a16="http://schemas.microsoft.com/office/drawing/2014/main" id="{88F7482B-83B2-4164-B204-11DB9740C199}"/>
                </a:ext>
              </a:extLst>
            </p:cNvPr>
            <p:cNvSpPr txBox="1">
              <a:spLocks noChangeArrowheads="1"/>
            </p:cNvSpPr>
            <p:nvPr/>
          </p:nvSpPr>
          <p:spPr bwMode="auto">
            <a:xfrm>
              <a:off x="4368" y="2352"/>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Z</a:t>
              </a:r>
            </a:p>
          </p:txBody>
        </p:sp>
        <p:graphicFrame>
          <p:nvGraphicFramePr>
            <p:cNvPr id="119818" name="Object 8">
              <a:extLst>
                <a:ext uri="{FF2B5EF4-FFF2-40B4-BE49-F238E27FC236}">
                  <a16:creationId xmlns:a16="http://schemas.microsoft.com/office/drawing/2014/main" id="{229F8DA9-6DBB-478F-AC8B-ED856A9D911B}"/>
                </a:ext>
              </a:extLst>
            </p:cNvPr>
            <p:cNvGraphicFramePr>
              <a:graphicFrameLocks noChangeAspect="1"/>
            </p:cNvGraphicFramePr>
            <p:nvPr/>
          </p:nvGraphicFramePr>
          <p:xfrm>
            <a:off x="1248" y="1008"/>
            <a:ext cx="816" cy="303"/>
          </p:xfrm>
          <a:graphic>
            <a:graphicData uri="http://schemas.openxmlformats.org/presentationml/2006/ole">
              <mc:AlternateContent xmlns:mc="http://schemas.openxmlformats.org/markup-compatibility/2006">
                <mc:Choice xmlns:v="urn:schemas-microsoft-com:vml" Requires="v">
                  <p:oleObj spid="_x0000_s34004" r:id="rId7" imgW="788084" imgH="292354" progId="Equation.3">
                    <p:embed/>
                  </p:oleObj>
                </mc:Choice>
                <mc:Fallback>
                  <p:oleObj r:id="rId7" imgW="788084" imgH="292354" progId="Equation.3">
                    <p:embed/>
                    <p:pic>
                      <p:nvPicPr>
                        <p:cNvPr id="119818" name="Object 8">
                          <a:extLst>
                            <a:ext uri="{FF2B5EF4-FFF2-40B4-BE49-F238E27FC236}">
                              <a16:creationId xmlns:a16="http://schemas.microsoft.com/office/drawing/2014/main" id="{229F8DA9-6DBB-478F-AC8B-ED856A9D91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1008"/>
                          <a:ext cx="816"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9" name="Object 9">
              <a:extLst>
                <a:ext uri="{FF2B5EF4-FFF2-40B4-BE49-F238E27FC236}">
                  <a16:creationId xmlns:a16="http://schemas.microsoft.com/office/drawing/2014/main" id="{827AFCCA-D48E-463E-9161-770132127E15}"/>
                </a:ext>
              </a:extLst>
            </p:cNvPr>
            <p:cNvGraphicFramePr>
              <a:graphicFrameLocks noChangeAspect="1"/>
            </p:cNvGraphicFramePr>
            <p:nvPr/>
          </p:nvGraphicFramePr>
          <p:xfrm>
            <a:off x="3360" y="1008"/>
            <a:ext cx="624" cy="305"/>
          </p:xfrm>
          <a:graphic>
            <a:graphicData uri="http://schemas.openxmlformats.org/presentationml/2006/ole">
              <mc:AlternateContent xmlns:mc="http://schemas.openxmlformats.org/markup-compatibility/2006">
                <mc:Choice xmlns:v="urn:schemas-microsoft-com:vml" Requires="v">
                  <p:oleObj spid="_x0000_s34005" r:id="rId9" imgW="597678" imgH="292481" progId="Equation.3">
                    <p:embed/>
                  </p:oleObj>
                </mc:Choice>
                <mc:Fallback>
                  <p:oleObj r:id="rId9" imgW="597678" imgH="292481" progId="Equation.3">
                    <p:embed/>
                    <p:pic>
                      <p:nvPicPr>
                        <p:cNvPr id="119819" name="Object 9">
                          <a:extLst>
                            <a:ext uri="{FF2B5EF4-FFF2-40B4-BE49-F238E27FC236}">
                              <a16:creationId xmlns:a16="http://schemas.microsoft.com/office/drawing/2014/main" id="{827AFCCA-D48E-463E-9161-770132127E1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0" y="1008"/>
                          <a:ext cx="624"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20" name="Object 10">
              <a:extLst>
                <a:ext uri="{FF2B5EF4-FFF2-40B4-BE49-F238E27FC236}">
                  <a16:creationId xmlns:a16="http://schemas.microsoft.com/office/drawing/2014/main" id="{1BEC7B92-E2C9-4B3A-9E5E-53E85F0998A7}"/>
                </a:ext>
              </a:extLst>
            </p:cNvPr>
            <p:cNvGraphicFramePr>
              <a:graphicFrameLocks noChangeAspect="1"/>
            </p:cNvGraphicFramePr>
            <p:nvPr/>
          </p:nvGraphicFramePr>
          <p:xfrm>
            <a:off x="1392" y="2688"/>
            <a:ext cx="2592" cy="324"/>
          </p:xfrm>
          <a:graphic>
            <a:graphicData uri="http://schemas.openxmlformats.org/presentationml/2006/ole">
              <mc:AlternateContent xmlns:mc="http://schemas.openxmlformats.org/markup-compatibility/2006">
                <mc:Choice xmlns:v="urn:schemas-microsoft-com:vml" Requires="v">
                  <p:oleObj spid="_x0000_s34006" r:id="rId11" imgW="2133600" imgH="266700" progId="Equation.3">
                    <p:embed/>
                  </p:oleObj>
                </mc:Choice>
                <mc:Fallback>
                  <p:oleObj r:id="rId11" imgW="2133600" imgH="266700" progId="Equation.3">
                    <p:embed/>
                    <p:pic>
                      <p:nvPicPr>
                        <p:cNvPr id="119820" name="Object 10">
                          <a:extLst>
                            <a:ext uri="{FF2B5EF4-FFF2-40B4-BE49-F238E27FC236}">
                              <a16:creationId xmlns:a16="http://schemas.microsoft.com/office/drawing/2014/main" id="{1BEC7B92-E2C9-4B3A-9E5E-53E85F0998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92" y="2688"/>
                          <a:ext cx="2592"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119812" name="Picture 21" descr="Right_Green">
            <a:hlinkClick r:id="" action="ppaction://hlinkshowjump?jump=nextslide"/>
            <a:extLst>
              <a:ext uri="{FF2B5EF4-FFF2-40B4-BE49-F238E27FC236}">
                <a16:creationId xmlns:a16="http://schemas.microsoft.com/office/drawing/2014/main" id="{7C551379-75BF-4B49-975F-839695E7B8E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3" name="Picture 22" descr="Left_Green">
            <a:hlinkClick r:id="" action="ppaction://hlinkshowjump?jump=previousslide"/>
            <a:extLst>
              <a:ext uri="{FF2B5EF4-FFF2-40B4-BE49-F238E27FC236}">
                <a16:creationId xmlns:a16="http://schemas.microsoft.com/office/drawing/2014/main" id="{4EEF31BA-FF3E-4C25-A5DF-E096C952462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07361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wipe(left)">
                                      <p:cBhvr>
                                        <p:cTn id="7" dur="500"/>
                                        <p:tgtEl>
                                          <p:spTgt spid="115714"/>
                                        </p:tgtEl>
                                      </p:cBhvr>
                                    </p:animEffec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115715"/>
                                        </p:tgtEl>
                                        <p:attrNameLst>
                                          <p:attrName>style.visibility</p:attrName>
                                        </p:attrNameLst>
                                      </p:cBhvr>
                                      <p:to>
                                        <p:strVal val="visible"/>
                                      </p:to>
                                    </p:set>
                                    <p:anim calcmode="lin" valueType="num">
                                      <p:cBhvr additive="base">
                                        <p:cTn id="11" dur="500" fill="hold"/>
                                        <p:tgtEl>
                                          <p:spTgt spid="115715"/>
                                        </p:tgtEl>
                                        <p:attrNameLst>
                                          <p:attrName>ppt_x</p:attrName>
                                        </p:attrNameLst>
                                      </p:cBhvr>
                                      <p:tavLst>
                                        <p:tav tm="0">
                                          <p:val>
                                            <p:strVal val="#ppt_x"/>
                                          </p:val>
                                        </p:tav>
                                        <p:tav tm="100000">
                                          <p:val>
                                            <p:strVal val="#ppt_x"/>
                                          </p:val>
                                        </p:tav>
                                      </p:tavLst>
                                    </p:anim>
                                    <p:anim calcmode="lin" valueType="num">
                                      <p:cBhvr additive="base">
                                        <p:cTn id="12" dur="500" fill="hold"/>
                                        <p:tgtEl>
                                          <p:spTgt spid="11571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8">
            <a:extLst>
              <a:ext uri="{FF2B5EF4-FFF2-40B4-BE49-F238E27FC236}">
                <a16:creationId xmlns:a16="http://schemas.microsoft.com/office/drawing/2014/main" id="{B5346636-E245-4A5A-A7FE-7B24F406F68A}"/>
              </a:ext>
            </a:extLst>
          </p:cNvPr>
          <p:cNvSpPr txBox="1">
            <a:spLocks noChangeArrowheads="1"/>
          </p:cNvSpPr>
          <p:nvPr/>
        </p:nvSpPr>
        <p:spPr bwMode="auto">
          <a:xfrm>
            <a:off x="548109" y="312003"/>
            <a:ext cx="8474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zh-CN" altLang="en-US" sz="2400" dirty="0">
                <a:solidFill>
                  <a:schemeClr val="accent2"/>
                </a:solidFill>
                <a:latin typeface="Times New Roman" panose="02020603050405020304" pitchFamily="18" charset="0"/>
              </a:rPr>
              <a:t>　</a:t>
            </a:r>
            <a:r>
              <a:rPr lang="en-US" altLang="zh-CN" dirty="0">
                <a:solidFill>
                  <a:schemeClr val="accent2"/>
                </a:solidFill>
                <a:latin typeface="Times New Roman" panose="02020603050405020304" pitchFamily="18" charset="0"/>
              </a:rPr>
              <a:t>The simplified expressions of the excitation and output functions obtained by simplification are as follows:</a:t>
            </a:r>
            <a:endParaRPr lang="zh-CN" altLang="en-US" sz="2400" dirty="0">
              <a:solidFill>
                <a:schemeClr val="accent2"/>
              </a:solidFill>
              <a:latin typeface="Times New Roman" panose="02020603050405020304" pitchFamily="18" charset="0"/>
            </a:endParaRPr>
          </a:p>
        </p:txBody>
      </p:sp>
      <p:graphicFrame>
        <p:nvGraphicFramePr>
          <p:cNvPr id="116739" name="Object 3">
            <a:extLst>
              <a:ext uri="{FF2B5EF4-FFF2-40B4-BE49-F238E27FC236}">
                <a16:creationId xmlns:a16="http://schemas.microsoft.com/office/drawing/2014/main" id="{4A5F991B-9623-461A-BCBA-1BEE116B323F}"/>
              </a:ext>
            </a:extLst>
          </p:cNvPr>
          <p:cNvGraphicFramePr>
            <a:graphicFrameLocks noChangeAspect="1"/>
          </p:cNvGraphicFramePr>
          <p:nvPr/>
        </p:nvGraphicFramePr>
        <p:xfrm>
          <a:off x="2133600" y="1143000"/>
          <a:ext cx="4648200" cy="993775"/>
        </p:xfrm>
        <a:graphic>
          <a:graphicData uri="http://schemas.openxmlformats.org/presentationml/2006/ole">
            <mc:AlternateContent xmlns:mc="http://schemas.openxmlformats.org/markup-compatibility/2006">
              <mc:Choice xmlns:v="urn:schemas-microsoft-com:vml" Requires="v">
                <p:oleObj spid="_x0000_s34889" r:id="rId6" imgW="2261582" imgH="482810" progId="Equation.3">
                  <p:embed/>
                </p:oleObj>
              </mc:Choice>
              <mc:Fallback>
                <p:oleObj r:id="rId6" imgW="2261582" imgH="482810" progId="Equation.3">
                  <p:embed/>
                  <p:pic>
                    <p:nvPicPr>
                      <p:cNvPr id="116739" name="Object 3">
                        <a:extLst>
                          <a:ext uri="{FF2B5EF4-FFF2-40B4-BE49-F238E27FC236}">
                            <a16:creationId xmlns:a16="http://schemas.microsoft.com/office/drawing/2014/main" id="{4A5F991B-9623-461A-BCBA-1BEE116B32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1143000"/>
                        <a:ext cx="46482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40" name="Text Box 10">
            <a:extLst>
              <a:ext uri="{FF2B5EF4-FFF2-40B4-BE49-F238E27FC236}">
                <a16:creationId xmlns:a16="http://schemas.microsoft.com/office/drawing/2014/main" id="{0D338B19-AA83-434B-AB8F-D35ECE39B2A0}"/>
              </a:ext>
            </a:extLst>
          </p:cNvPr>
          <p:cNvSpPr txBox="1">
            <a:spLocks noChangeArrowheads="1"/>
          </p:cNvSpPr>
          <p:nvPr/>
        </p:nvSpPr>
        <p:spPr bwMode="auto">
          <a:xfrm>
            <a:off x="1143000" y="2265363"/>
            <a:ext cx="74437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The corresponding logic circuit diagram is shown below.</a:t>
            </a:r>
            <a:endParaRPr lang="zh-CN" altLang="en-US" sz="2400" dirty="0">
              <a:latin typeface="Times New Roman" panose="02020603050405020304" pitchFamily="18" charset="0"/>
            </a:endParaRPr>
          </a:p>
        </p:txBody>
      </p:sp>
      <p:pic>
        <p:nvPicPr>
          <p:cNvPr id="116741" name="Picture 12" descr="TU5-30">
            <a:extLst>
              <a:ext uri="{FF2B5EF4-FFF2-40B4-BE49-F238E27FC236}">
                <a16:creationId xmlns:a16="http://schemas.microsoft.com/office/drawing/2014/main" id="{40E3FEE0-5110-492C-9EA2-2A60CB4F6A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2819400"/>
            <a:ext cx="4038600" cy="36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8" name="Picture 14" descr="Right_Green">
            <a:hlinkClick r:id="" action="ppaction://hlinkshowjump?jump=nextslide"/>
            <a:extLst>
              <a:ext uri="{FF2B5EF4-FFF2-40B4-BE49-F238E27FC236}">
                <a16:creationId xmlns:a16="http://schemas.microsoft.com/office/drawing/2014/main" id="{57604056-7D02-4933-BB93-0EF4DB7B3CC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9" name="Picture 15" descr="Left_Green">
            <a:hlinkClick r:id="" action="ppaction://hlinkshowjump?jump=previousslide"/>
            <a:extLst>
              <a:ext uri="{FF2B5EF4-FFF2-40B4-BE49-F238E27FC236}">
                <a16:creationId xmlns:a16="http://schemas.microsoft.com/office/drawing/2014/main" id="{A8563718-06D0-4F13-A949-759E53E7BE6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EB033CF5-9D57-4153-A466-3927CC927A15}"/>
              </a:ext>
            </a:extLst>
          </p:cNvPr>
          <p:cNvSpPr txBox="1"/>
          <p:nvPr/>
        </p:nvSpPr>
        <p:spPr>
          <a:xfrm>
            <a:off x="1475656" y="4869160"/>
            <a:ext cx="569253" cy="369332"/>
          </a:xfrm>
          <a:prstGeom prst="rect">
            <a:avLst/>
          </a:prstGeom>
          <a:solidFill>
            <a:schemeClr val="bg1"/>
          </a:solidFill>
        </p:spPr>
        <p:txBody>
          <a:bodyPr wrap="square" rtlCol="0">
            <a:spAutoFit/>
          </a:bodyPr>
          <a:lstStyle/>
          <a:p>
            <a:r>
              <a:rPr lang="en-US" altLang="zh-CN" sz="1800" dirty="0"/>
              <a:t>CP</a:t>
            </a:r>
            <a:endParaRPr lang="zh-CN" altLang="en-US" sz="3200" dirty="0"/>
          </a:p>
        </p:txBody>
      </p:sp>
    </p:spTree>
    <p:extLst>
      <p:ext uri="{BB962C8B-B14F-4D97-AF65-F5344CB8AC3E}">
        <p14:creationId xmlns:p14="http://schemas.microsoft.com/office/powerpoint/2010/main" val="811288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slide(fromBottom)">
                                      <p:cBhvr>
                                        <p:cTn id="7" dur="500"/>
                                        <p:tgtEl>
                                          <p:spTgt spid="116738"/>
                                        </p:tgtEl>
                                      </p:cBhvr>
                                    </p:animEffec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6739"/>
                                        </p:tgtEl>
                                        <p:attrNameLst>
                                          <p:attrName>style.visibility</p:attrName>
                                        </p:attrNameLst>
                                      </p:cBhvr>
                                      <p:to>
                                        <p:strVal val="visible"/>
                                      </p:to>
                                    </p:set>
                                    <p:animEffect transition="in" filter="wipe(up)">
                                      <p:cBhvr>
                                        <p:cTn id="12" dur="500"/>
                                        <p:tgtEl>
                                          <p:spTgt spid="116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6740"/>
                                        </p:tgtEl>
                                        <p:attrNameLst>
                                          <p:attrName>style.visibility</p:attrName>
                                        </p:attrNameLst>
                                      </p:cBhvr>
                                      <p:to>
                                        <p:strVal val="visible"/>
                                      </p:to>
                                    </p:set>
                                    <p:animEffect transition="in" filter="slide(fromBottom)">
                                      <p:cBhvr>
                                        <p:cTn id="17" dur="500"/>
                                        <p:tgtEl>
                                          <p:spTgt spid="116740"/>
                                        </p:tgtEl>
                                      </p:cBhvr>
                                    </p:animEffect>
                                  </p:childTnLst>
                                </p:cTn>
                              </p:par>
                            </p:childTnLst>
                          </p:cTn>
                        </p:par>
                        <p:par>
                          <p:cTn id="18" fill="hold" nodeType="after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116741"/>
                                        </p:tgtEl>
                                        <p:attrNameLst>
                                          <p:attrName>style.visibility</p:attrName>
                                        </p:attrNameLst>
                                      </p:cBhvr>
                                      <p:to>
                                        <p:strVal val="visible"/>
                                      </p:to>
                                    </p:set>
                                    <p:animEffect transition="in" filter="dissolve">
                                      <p:cBhvr>
                                        <p:cTn id="21" dur="500"/>
                                        <p:tgtEl>
                                          <p:spTgt spid="116741"/>
                                        </p:tgtEl>
                                      </p:cBhvr>
                                    </p:animEffect>
                                  </p:childTnLst>
                                  <p:subTnLst>
                                    <p:audio>
                                      <p:cMediaNode>
                                        <p:cTn display="0" masterRel="sameClick">
                                          <p:stCondLst>
                                            <p:cond evt="begin" delay="0">
                                              <p:tn val="1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autoUpdateAnimBg="0"/>
      <p:bldP spid="116740"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a:extLst>
              <a:ext uri="{FF2B5EF4-FFF2-40B4-BE49-F238E27FC236}">
                <a16:creationId xmlns:a16="http://schemas.microsoft.com/office/drawing/2014/main" id="{925E20ED-B86A-4583-9552-92827FDA44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484313"/>
            <a:ext cx="2879725"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Text Box 8">
            <a:extLst>
              <a:ext uri="{FF2B5EF4-FFF2-40B4-BE49-F238E27FC236}">
                <a16:creationId xmlns:a16="http://schemas.microsoft.com/office/drawing/2014/main" id="{76E62297-0515-4BA5-A263-7CB529DB029B}"/>
              </a:ext>
            </a:extLst>
          </p:cNvPr>
          <p:cNvSpPr txBox="1">
            <a:spLocks noChangeArrowheads="1"/>
          </p:cNvSpPr>
          <p:nvPr/>
        </p:nvSpPr>
        <p:spPr bwMode="auto">
          <a:xfrm>
            <a:off x="374650" y="218873"/>
            <a:ext cx="85502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Example: Using the JK flip-flops to implement the binary state table shown in the table below, try to write the excitation and output functions.</a:t>
            </a:r>
            <a:endParaRPr lang="zh-CN" altLang="en-US" sz="2400" dirty="0">
              <a:latin typeface="Times New Roman" panose="02020603050405020304" pitchFamily="18" charset="0"/>
            </a:endParaRPr>
          </a:p>
        </p:txBody>
      </p:sp>
      <p:grpSp>
        <p:nvGrpSpPr>
          <p:cNvPr id="4" name="Group 33">
            <a:extLst>
              <a:ext uri="{FF2B5EF4-FFF2-40B4-BE49-F238E27FC236}">
                <a16:creationId xmlns:a16="http://schemas.microsoft.com/office/drawing/2014/main" id="{669CEC5D-31B3-4605-883A-5D9B6FCB1FBE}"/>
              </a:ext>
            </a:extLst>
          </p:cNvPr>
          <p:cNvGrpSpPr>
            <a:grpSpLocks/>
          </p:cNvGrpSpPr>
          <p:nvPr/>
        </p:nvGrpSpPr>
        <p:grpSpPr bwMode="auto">
          <a:xfrm>
            <a:off x="4427538" y="1341438"/>
            <a:ext cx="2438400" cy="2743200"/>
            <a:chOff x="0" y="0"/>
            <a:chExt cx="1536" cy="1728"/>
          </a:xfrm>
        </p:grpSpPr>
        <p:sp>
          <p:nvSpPr>
            <p:cNvPr id="121863" name="Line 70">
              <a:extLst>
                <a:ext uri="{FF2B5EF4-FFF2-40B4-BE49-F238E27FC236}">
                  <a16:creationId xmlns:a16="http://schemas.microsoft.com/office/drawing/2014/main" id="{5F6B2AF6-5547-4328-BDE2-075BA06C17AD}"/>
                </a:ext>
              </a:extLst>
            </p:cNvPr>
            <p:cNvSpPr>
              <a:spLocks noChangeShapeType="1"/>
            </p:cNvSpPr>
            <p:nvPr/>
          </p:nvSpPr>
          <p:spPr bwMode="auto">
            <a:xfrm>
              <a:off x="0" y="336"/>
              <a:ext cx="15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1864" name="Line 71">
              <a:extLst>
                <a:ext uri="{FF2B5EF4-FFF2-40B4-BE49-F238E27FC236}">
                  <a16:creationId xmlns:a16="http://schemas.microsoft.com/office/drawing/2014/main" id="{E7C8D321-63C9-41D6-ACB5-0E28C40A225C}"/>
                </a:ext>
              </a:extLst>
            </p:cNvPr>
            <p:cNvSpPr>
              <a:spLocks noChangeShapeType="1"/>
            </p:cNvSpPr>
            <p:nvPr/>
          </p:nvSpPr>
          <p:spPr bwMode="auto">
            <a:xfrm flipH="1">
              <a:off x="768" y="48"/>
              <a:ext cx="0" cy="16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1865" name="Text Box 72">
              <a:extLst>
                <a:ext uri="{FF2B5EF4-FFF2-40B4-BE49-F238E27FC236}">
                  <a16:creationId xmlns:a16="http://schemas.microsoft.com/office/drawing/2014/main" id="{8110E1D6-E7DD-4EF6-A570-CC39118F29E2}"/>
                </a:ext>
              </a:extLst>
            </p:cNvPr>
            <p:cNvSpPr txBox="1">
              <a:spLocks noChangeArrowheads="1"/>
            </p:cNvSpPr>
            <p:nvPr/>
          </p:nvSpPr>
          <p:spPr bwMode="auto">
            <a:xfrm>
              <a:off x="48" y="0"/>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QQ</a:t>
              </a:r>
              <a:r>
                <a:rPr lang="en-US" altLang="zh-CN" sz="2400" baseline="30000">
                  <a:latin typeface="Times New Roman" panose="02020603050405020304" pitchFamily="18" charset="0"/>
                </a:rPr>
                <a:t>(n+1)</a:t>
              </a:r>
            </a:p>
          </p:txBody>
        </p:sp>
        <p:sp>
          <p:nvSpPr>
            <p:cNvPr id="121866" name="Text Box 73">
              <a:extLst>
                <a:ext uri="{FF2B5EF4-FFF2-40B4-BE49-F238E27FC236}">
                  <a16:creationId xmlns:a16="http://schemas.microsoft.com/office/drawing/2014/main" id="{BA264AA7-BB12-42C9-A39E-B7D18CEB2DFF}"/>
                </a:ext>
              </a:extLst>
            </p:cNvPr>
            <p:cNvSpPr txBox="1">
              <a:spLocks noChangeArrowheads="1"/>
            </p:cNvSpPr>
            <p:nvPr/>
          </p:nvSpPr>
          <p:spPr bwMode="auto">
            <a:xfrm>
              <a:off x="960" y="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J K</a:t>
              </a:r>
            </a:p>
          </p:txBody>
        </p:sp>
        <p:sp>
          <p:nvSpPr>
            <p:cNvPr id="121867" name="Text Box 74">
              <a:extLst>
                <a:ext uri="{FF2B5EF4-FFF2-40B4-BE49-F238E27FC236}">
                  <a16:creationId xmlns:a16="http://schemas.microsoft.com/office/drawing/2014/main" id="{E4BE11E0-468A-4CE2-88D8-67B3ADB6FAA9}"/>
                </a:ext>
              </a:extLst>
            </p:cNvPr>
            <p:cNvSpPr txBox="1">
              <a:spLocks noChangeArrowheads="1"/>
            </p:cNvSpPr>
            <p:nvPr/>
          </p:nvSpPr>
          <p:spPr bwMode="auto">
            <a:xfrm>
              <a:off x="96" y="384"/>
              <a:ext cx="48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FF0066"/>
                  </a:solidFill>
                  <a:latin typeface="Times New Roman" panose="02020603050405020304" pitchFamily="18" charset="0"/>
                </a:rPr>
                <a:t>0 0</a:t>
              </a:r>
            </a:p>
            <a:p>
              <a:pPr eaLnBrk="1" hangingPunct="1">
                <a:spcBef>
                  <a:spcPct val="50000"/>
                </a:spcBef>
              </a:pPr>
              <a:r>
                <a:rPr lang="en-US" altLang="zh-CN" sz="2400" b="1">
                  <a:solidFill>
                    <a:srgbClr val="FF0066"/>
                  </a:solidFill>
                  <a:latin typeface="Times New Roman" panose="02020603050405020304" pitchFamily="18" charset="0"/>
                </a:rPr>
                <a:t>01</a:t>
              </a:r>
            </a:p>
            <a:p>
              <a:pPr eaLnBrk="1" hangingPunct="1">
                <a:spcBef>
                  <a:spcPct val="50000"/>
                </a:spcBef>
              </a:pPr>
              <a:r>
                <a:rPr lang="en-US" altLang="zh-CN" sz="2400" b="1">
                  <a:solidFill>
                    <a:srgbClr val="FF0066"/>
                  </a:solidFill>
                  <a:latin typeface="Times New Roman" panose="02020603050405020304" pitchFamily="18" charset="0"/>
                </a:rPr>
                <a:t>10</a:t>
              </a:r>
            </a:p>
            <a:p>
              <a:pPr eaLnBrk="1" hangingPunct="1">
                <a:spcBef>
                  <a:spcPct val="50000"/>
                </a:spcBef>
              </a:pPr>
              <a:r>
                <a:rPr lang="en-US" altLang="zh-CN" sz="2400" b="1">
                  <a:solidFill>
                    <a:srgbClr val="FF0066"/>
                  </a:solidFill>
                  <a:latin typeface="Times New Roman" panose="02020603050405020304" pitchFamily="18" charset="0"/>
                </a:rPr>
                <a:t>11</a:t>
              </a:r>
              <a:r>
                <a:rPr lang="en-US" altLang="zh-CN" sz="2400">
                  <a:solidFill>
                    <a:srgbClr val="FF33CC"/>
                  </a:solidFill>
                  <a:latin typeface="Times New Roman" panose="02020603050405020304" pitchFamily="18" charset="0"/>
                </a:rPr>
                <a:t> </a:t>
              </a:r>
            </a:p>
          </p:txBody>
        </p:sp>
        <p:sp>
          <p:nvSpPr>
            <p:cNvPr id="121868" name="Text Box 75">
              <a:extLst>
                <a:ext uri="{FF2B5EF4-FFF2-40B4-BE49-F238E27FC236}">
                  <a16:creationId xmlns:a16="http://schemas.microsoft.com/office/drawing/2014/main" id="{A8343D40-68C8-4AF7-8F6F-1B293FBA8664}"/>
                </a:ext>
              </a:extLst>
            </p:cNvPr>
            <p:cNvSpPr txBox="1">
              <a:spLocks noChangeArrowheads="1"/>
            </p:cNvSpPr>
            <p:nvPr/>
          </p:nvSpPr>
          <p:spPr bwMode="auto">
            <a:xfrm>
              <a:off x="912" y="372"/>
              <a:ext cx="528"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FF0066"/>
                  </a:solidFill>
                  <a:latin typeface="Times New Roman" panose="02020603050405020304" pitchFamily="18" charset="0"/>
                </a:rPr>
                <a:t>0 d</a:t>
              </a:r>
            </a:p>
            <a:p>
              <a:pPr eaLnBrk="1" hangingPunct="1">
                <a:spcBef>
                  <a:spcPct val="50000"/>
                </a:spcBef>
              </a:pPr>
              <a:r>
                <a:rPr lang="en-US" altLang="zh-CN" sz="2400" b="1">
                  <a:solidFill>
                    <a:srgbClr val="FF0066"/>
                  </a:solidFill>
                  <a:latin typeface="Times New Roman" panose="02020603050405020304" pitchFamily="18" charset="0"/>
                </a:rPr>
                <a:t>1 d</a:t>
              </a:r>
            </a:p>
            <a:p>
              <a:pPr eaLnBrk="1" hangingPunct="1">
                <a:spcBef>
                  <a:spcPct val="50000"/>
                </a:spcBef>
              </a:pPr>
              <a:r>
                <a:rPr lang="en-US" altLang="zh-CN" sz="2400" b="1">
                  <a:solidFill>
                    <a:srgbClr val="FF0066"/>
                  </a:solidFill>
                  <a:latin typeface="Times New Roman" panose="02020603050405020304" pitchFamily="18" charset="0"/>
                </a:rPr>
                <a:t>d 1</a:t>
              </a:r>
            </a:p>
            <a:p>
              <a:pPr eaLnBrk="1" hangingPunct="1">
                <a:spcBef>
                  <a:spcPct val="50000"/>
                </a:spcBef>
              </a:pPr>
              <a:r>
                <a:rPr lang="en-US" altLang="zh-CN" sz="2400" b="1">
                  <a:solidFill>
                    <a:srgbClr val="FF0066"/>
                  </a:solidFill>
                  <a:latin typeface="Times New Roman" panose="02020603050405020304" pitchFamily="18" charset="0"/>
                </a:rPr>
                <a:t>d 0</a:t>
              </a:r>
            </a:p>
          </p:txBody>
        </p:sp>
      </p:grpSp>
      <p:pic>
        <p:nvPicPr>
          <p:cNvPr id="118787" name="Picture 3">
            <a:extLst>
              <a:ext uri="{FF2B5EF4-FFF2-40B4-BE49-F238E27FC236}">
                <a16:creationId xmlns:a16="http://schemas.microsoft.com/office/drawing/2014/main" id="{3B9EE88C-76C5-4D92-B6D6-DD0EEFEA8E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163" y="4100513"/>
            <a:ext cx="3314700"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pic>
        <p:nvPicPr>
          <p:cNvPr id="118788" name="Picture 4">
            <a:extLst>
              <a:ext uri="{FF2B5EF4-FFF2-40B4-BE49-F238E27FC236}">
                <a16:creationId xmlns:a16="http://schemas.microsoft.com/office/drawing/2014/main" id="{30C84C93-E72A-4509-A443-41E567BB44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9788" y="4216400"/>
            <a:ext cx="2451100" cy="227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Tree>
    <p:extLst>
      <p:ext uri="{BB962C8B-B14F-4D97-AF65-F5344CB8AC3E}">
        <p14:creationId xmlns:p14="http://schemas.microsoft.com/office/powerpoint/2010/main" val="3404108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1878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187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a:extLst>
              <a:ext uri="{FF2B5EF4-FFF2-40B4-BE49-F238E27FC236}">
                <a16:creationId xmlns:a16="http://schemas.microsoft.com/office/drawing/2014/main" id="{5A8A47D2-F132-4DCD-A9DA-4543A89FE8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3" y="55563"/>
            <a:ext cx="6911975" cy="5808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pic>
        <p:nvPicPr>
          <p:cNvPr id="122883" name="Picture 3">
            <a:extLst>
              <a:ext uri="{FF2B5EF4-FFF2-40B4-BE49-F238E27FC236}">
                <a16:creationId xmlns:a16="http://schemas.microsoft.com/office/drawing/2014/main" id="{4716D7E8-1B7D-470C-90D7-69D26BA28F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4392613"/>
            <a:ext cx="3419475" cy="2465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Tree>
    <p:extLst>
      <p:ext uri="{BB962C8B-B14F-4D97-AF65-F5344CB8AC3E}">
        <p14:creationId xmlns:p14="http://schemas.microsoft.com/office/powerpoint/2010/main" val="2349800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a:extLst>
              <a:ext uri="{FF2B5EF4-FFF2-40B4-BE49-F238E27FC236}">
                <a16:creationId xmlns:a16="http://schemas.microsoft.com/office/drawing/2014/main" id="{2B0410F3-FC41-4256-9CE1-42F36F0B9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836613"/>
            <a:ext cx="7508875" cy="5329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4" name="文本框 3">
            <a:extLst>
              <a:ext uri="{FF2B5EF4-FFF2-40B4-BE49-F238E27FC236}">
                <a16:creationId xmlns:a16="http://schemas.microsoft.com/office/drawing/2014/main" id="{7EAF2362-AFDE-40C1-9587-2436A0D1796A}"/>
              </a:ext>
            </a:extLst>
          </p:cNvPr>
          <p:cNvSpPr txBox="1"/>
          <p:nvPr/>
        </p:nvSpPr>
        <p:spPr>
          <a:xfrm>
            <a:off x="1259632" y="2564904"/>
            <a:ext cx="1357978" cy="646331"/>
          </a:xfrm>
          <a:prstGeom prst="rect">
            <a:avLst/>
          </a:prstGeom>
          <a:solidFill>
            <a:schemeClr val="bg1"/>
          </a:solidFill>
        </p:spPr>
        <p:txBody>
          <a:bodyPr wrap="square" rtlCol="0">
            <a:spAutoFit/>
          </a:bodyPr>
          <a:lstStyle/>
          <a:p>
            <a:r>
              <a:rPr lang="en-US" altLang="zh-CN" sz="1800" dirty="0"/>
              <a:t>Present state</a:t>
            </a:r>
            <a:endParaRPr lang="zh-CN" altLang="en-US" sz="3200" dirty="0"/>
          </a:p>
        </p:txBody>
      </p:sp>
      <p:sp>
        <p:nvSpPr>
          <p:cNvPr id="5" name="文本框 4">
            <a:extLst>
              <a:ext uri="{FF2B5EF4-FFF2-40B4-BE49-F238E27FC236}">
                <a16:creationId xmlns:a16="http://schemas.microsoft.com/office/drawing/2014/main" id="{08A6A368-C056-4E61-B0F1-71FA661194A3}"/>
              </a:ext>
            </a:extLst>
          </p:cNvPr>
          <p:cNvSpPr txBox="1"/>
          <p:nvPr/>
        </p:nvSpPr>
        <p:spPr>
          <a:xfrm>
            <a:off x="2915816" y="2593107"/>
            <a:ext cx="1357978" cy="369332"/>
          </a:xfrm>
          <a:prstGeom prst="rect">
            <a:avLst/>
          </a:prstGeom>
          <a:solidFill>
            <a:schemeClr val="bg1"/>
          </a:solidFill>
        </p:spPr>
        <p:txBody>
          <a:bodyPr wrap="square" rtlCol="0">
            <a:spAutoFit/>
          </a:bodyPr>
          <a:lstStyle/>
          <a:p>
            <a:r>
              <a:rPr lang="en-US" altLang="zh-CN" sz="1800" dirty="0"/>
              <a:t>Next state</a:t>
            </a:r>
            <a:endParaRPr lang="zh-CN" altLang="en-US" sz="3200" dirty="0"/>
          </a:p>
        </p:txBody>
      </p:sp>
      <p:sp>
        <p:nvSpPr>
          <p:cNvPr id="6" name="文本框 5">
            <a:extLst>
              <a:ext uri="{FF2B5EF4-FFF2-40B4-BE49-F238E27FC236}">
                <a16:creationId xmlns:a16="http://schemas.microsoft.com/office/drawing/2014/main" id="{D8D55821-3C85-4339-A8E1-23B94072C24C}"/>
              </a:ext>
            </a:extLst>
          </p:cNvPr>
          <p:cNvSpPr txBox="1"/>
          <p:nvPr/>
        </p:nvSpPr>
        <p:spPr>
          <a:xfrm>
            <a:off x="6012160" y="2564929"/>
            <a:ext cx="1357978" cy="369332"/>
          </a:xfrm>
          <a:prstGeom prst="rect">
            <a:avLst/>
          </a:prstGeom>
          <a:solidFill>
            <a:schemeClr val="bg1"/>
          </a:solidFill>
        </p:spPr>
        <p:txBody>
          <a:bodyPr wrap="square" rtlCol="0">
            <a:spAutoFit/>
          </a:bodyPr>
          <a:lstStyle/>
          <a:p>
            <a:r>
              <a:rPr lang="en-US" altLang="zh-CN" sz="1800" dirty="0"/>
              <a:t>Output Z</a:t>
            </a:r>
            <a:endParaRPr lang="zh-CN" altLang="en-US" sz="3200" dirty="0"/>
          </a:p>
        </p:txBody>
      </p:sp>
      <p:sp>
        <p:nvSpPr>
          <p:cNvPr id="7" name="文本框 6">
            <a:extLst>
              <a:ext uri="{FF2B5EF4-FFF2-40B4-BE49-F238E27FC236}">
                <a16:creationId xmlns:a16="http://schemas.microsoft.com/office/drawing/2014/main" id="{C45BEFE6-C574-4581-A6EE-4992EDDD31CD}"/>
              </a:ext>
            </a:extLst>
          </p:cNvPr>
          <p:cNvSpPr txBox="1"/>
          <p:nvPr/>
        </p:nvSpPr>
        <p:spPr>
          <a:xfrm>
            <a:off x="853414" y="980728"/>
            <a:ext cx="7339674" cy="1200329"/>
          </a:xfrm>
          <a:prstGeom prst="rect">
            <a:avLst/>
          </a:prstGeom>
          <a:solidFill>
            <a:schemeClr val="bg1"/>
          </a:solidFill>
        </p:spPr>
        <p:txBody>
          <a:bodyPr wrap="square" rtlCol="0">
            <a:spAutoFit/>
          </a:bodyPr>
          <a:lstStyle/>
          <a:p>
            <a:r>
              <a:rPr lang="en-US" altLang="zh-CN" dirty="0"/>
              <a:t>Example: Use the D flip-flops to implement the binary state table, please list the excitation and output functions</a:t>
            </a:r>
            <a:endParaRPr lang="zh-CN" altLang="en-US" sz="4000" dirty="0"/>
          </a:p>
        </p:txBody>
      </p:sp>
    </p:spTree>
    <p:extLst>
      <p:ext uri="{BB962C8B-B14F-4D97-AF65-F5344CB8AC3E}">
        <p14:creationId xmlns:p14="http://schemas.microsoft.com/office/powerpoint/2010/main" val="19707154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a:extLst>
              <a:ext uri="{FF2B5EF4-FFF2-40B4-BE49-F238E27FC236}">
                <a16:creationId xmlns:a16="http://schemas.microsoft.com/office/drawing/2014/main" id="{2555CE08-F3A2-40E9-AA03-470EA99B5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981075"/>
            <a:ext cx="5105400" cy="138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pic>
        <p:nvPicPr>
          <p:cNvPr id="121859" name="Picture 3">
            <a:extLst>
              <a:ext uri="{FF2B5EF4-FFF2-40B4-BE49-F238E27FC236}">
                <a16:creationId xmlns:a16="http://schemas.microsoft.com/office/drawing/2014/main" id="{274D1D47-9B29-4B67-AB29-591BF8DC80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708275"/>
            <a:ext cx="2952750" cy="31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pic>
        <p:nvPicPr>
          <p:cNvPr id="121860" name="Picture 4">
            <a:extLst>
              <a:ext uri="{FF2B5EF4-FFF2-40B4-BE49-F238E27FC236}">
                <a16:creationId xmlns:a16="http://schemas.microsoft.com/office/drawing/2014/main" id="{60C3C8C4-92E7-4513-B20A-AF3331F7C3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2565400"/>
            <a:ext cx="2663825" cy="1941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pic>
        <p:nvPicPr>
          <p:cNvPr id="121861" name="Picture 5">
            <a:extLst>
              <a:ext uri="{FF2B5EF4-FFF2-40B4-BE49-F238E27FC236}">
                <a16:creationId xmlns:a16="http://schemas.microsoft.com/office/drawing/2014/main" id="{E7999B41-65BB-4A51-9C31-496A22E659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1275" y="4638675"/>
            <a:ext cx="2428875" cy="184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6" name="文本框 5">
            <a:extLst>
              <a:ext uri="{FF2B5EF4-FFF2-40B4-BE49-F238E27FC236}">
                <a16:creationId xmlns:a16="http://schemas.microsoft.com/office/drawing/2014/main" id="{B3A199B9-57D3-4286-9F9B-8C5C8DC5CADC}"/>
              </a:ext>
            </a:extLst>
          </p:cNvPr>
          <p:cNvSpPr txBox="1"/>
          <p:nvPr/>
        </p:nvSpPr>
        <p:spPr>
          <a:xfrm>
            <a:off x="1187624" y="1025306"/>
            <a:ext cx="2232248" cy="646331"/>
          </a:xfrm>
          <a:prstGeom prst="rect">
            <a:avLst/>
          </a:prstGeom>
          <a:solidFill>
            <a:schemeClr val="bg1"/>
          </a:solidFill>
        </p:spPr>
        <p:txBody>
          <a:bodyPr wrap="square" rtlCol="0">
            <a:spAutoFit/>
          </a:bodyPr>
          <a:lstStyle/>
          <a:p>
            <a:r>
              <a:rPr lang="en-US" altLang="zh-CN" sz="1800" dirty="0"/>
              <a:t>A: Determine the excitation function</a:t>
            </a:r>
            <a:endParaRPr lang="zh-CN" altLang="en-US" sz="3200" dirty="0"/>
          </a:p>
        </p:txBody>
      </p:sp>
      <p:sp>
        <p:nvSpPr>
          <p:cNvPr id="7" name="文本框 6">
            <a:extLst>
              <a:ext uri="{FF2B5EF4-FFF2-40B4-BE49-F238E27FC236}">
                <a16:creationId xmlns:a16="http://schemas.microsoft.com/office/drawing/2014/main" id="{D5E0334E-AA70-4CD4-897D-F395003C38AB}"/>
              </a:ext>
            </a:extLst>
          </p:cNvPr>
          <p:cNvSpPr txBox="1"/>
          <p:nvPr/>
        </p:nvSpPr>
        <p:spPr>
          <a:xfrm>
            <a:off x="971600" y="2780928"/>
            <a:ext cx="3168601" cy="307777"/>
          </a:xfrm>
          <a:prstGeom prst="rect">
            <a:avLst/>
          </a:prstGeom>
          <a:solidFill>
            <a:schemeClr val="bg1"/>
          </a:solidFill>
        </p:spPr>
        <p:txBody>
          <a:bodyPr wrap="square" rtlCol="0">
            <a:spAutoFit/>
          </a:bodyPr>
          <a:lstStyle/>
          <a:p>
            <a:r>
              <a:rPr lang="en-US" altLang="zh-CN" sz="1400" dirty="0"/>
              <a:t>Input    Present   Next    Excitation</a:t>
            </a:r>
            <a:endParaRPr lang="zh-CN" altLang="en-US" sz="3200" dirty="0"/>
          </a:p>
        </p:txBody>
      </p:sp>
    </p:spTree>
    <p:extLst>
      <p:ext uri="{BB962C8B-B14F-4D97-AF65-F5344CB8AC3E}">
        <p14:creationId xmlns:p14="http://schemas.microsoft.com/office/powerpoint/2010/main" val="2848721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18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18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18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1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a:extLst>
              <a:ext uri="{FF2B5EF4-FFF2-40B4-BE49-F238E27FC236}">
                <a16:creationId xmlns:a16="http://schemas.microsoft.com/office/drawing/2014/main" id="{B87B3C28-8D19-4167-B60E-62BA994CC1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908050"/>
            <a:ext cx="7038975" cy="4799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570ED901-1B9C-4FC7-A647-8301B03C96C5}"/>
              </a:ext>
            </a:extLst>
          </p:cNvPr>
          <p:cNvSpPr txBox="1"/>
          <p:nvPr/>
        </p:nvSpPr>
        <p:spPr>
          <a:xfrm>
            <a:off x="2051720" y="1052736"/>
            <a:ext cx="1872208" cy="646331"/>
          </a:xfrm>
          <a:prstGeom prst="rect">
            <a:avLst/>
          </a:prstGeom>
          <a:solidFill>
            <a:schemeClr val="bg1"/>
          </a:solidFill>
        </p:spPr>
        <p:txBody>
          <a:bodyPr wrap="square" rtlCol="0">
            <a:spAutoFit/>
          </a:bodyPr>
          <a:lstStyle/>
          <a:p>
            <a:r>
              <a:rPr lang="en-US" altLang="zh-CN" sz="1800" dirty="0"/>
              <a:t>Determine the output function</a:t>
            </a:r>
            <a:endParaRPr lang="zh-CN" altLang="en-US" sz="3200" dirty="0"/>
          </a:p>
        </p:txBody>
      </p:sp>
      <p:sp>
        <p:nvSpPr>
          <p:cNvPr id="4" name="文本框 3">
            <a:extLst>
              <a:ext uri="{FF2B5EF4-FFF2-40B4-BE49-F238E27FC236}">
                <a16:creationId xmlns:a16="http://schemas.microsoft.com/office/drawing/2014/main" id="{7344E7B9-F685-4DB9-9835-EC68A281D270}"/>
              </a:ext>
            </a:extLst>
          </p:cNvPr>
          <p:cNvSpPr txBox="1"/>
          <p:nvPr/>
        </p:nvSpPr>
        <p:spPr>
          <a:xfrm>
            <a:off x="683568" y="1988840"/>
            <a:ext cx="878390" cy="584775"/>
          </a:xfrm>
          <a:prstGeom prst="rect">
            <a:avLst/>
          </a:prstGeom>
          <a:solidFill>
            <a:schemeClr val="bg1"/>
          </a:solidFill>
        </p:spPr>
        <p:txBody>
          <a:bodyPr wrap="square" rtlCol="0">
            <a:spAutoFit/>
          </a:bodyPr>
          <a:lstStyle/>
          <a:p>
            <a:r>
              <a:rPr lang="en-US" altLang="zh-CN" sz="1600" dirty="0"/>
              <a:t>Present state</a:t>
            </a:r>
            <a:endParaRPr lang="zh-CN" altLang="en-US" sz="2800" dirty="0"/>
          </a:p>
        </p:txBody>
      </p:sp>
      <p:sp>
        <p:nvSpPr>
          <p:cNvPr id="5" name="文本框 4">
            <a:extLst>
              <a:ext uri="{FF2B5EF4-FFF2-40B4-BE49-F238E27FC236}">
                <a16:creationId xmlns:a16="http://schemas.microsoft.com/office/drawing/2014/main" id="{3E39C4E8-2823-4FF6-8AF0-9AF03936DB3A}"/>
              </a:ext>
            </a:extLst>
          </p:cNvPr>
          <p:cNvSpPr txBox="1"/>
          <p:nvPr/>
        </p:nvSpPr>
        <p:spPr>
          <a:xfrm>
            <a:off x="3059832" y="2185119"/>
            <a:ext cx="1001301" cy="307777"/>
          </a:xfrm>
          <a:prstGeom prst="rect">
            <a:avLst/>
          </a:prstGeom>
          <a:solidFill>
            <a:schemeClr val="bg1"/>
          </a:solidFill>
        </p:spPr>
        <p:txBody>
          <a:bodyPr wrap="square" rtlCol="0">
            <a:spAutoFit/>
          </a:bodyPr>
          <a:lstStyle/>
          <a:p>
            <a:r>
              <a:rPr lang="en-US" altLang="zh-CN" sz="1400" dirty="0"/>
              <a:t>Output Z</a:t>
            </a:r>
            <a:endParaRPr lang="zh-CN" altLang="en-US" dirty="0"/>
          </a:p>
        </p:txBody>
      </p:sp>
    </p:spTree>
    <p:extLst>
      <p:ext uri="{BB962C8B-B14F-4D97-AF65-F5344CB8AC3E}">
        <p14:creationId xmlns:p14="http://schemas.microsoft.com/office/powerpoint/2010/main" val="2933824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0">
            <a:extLst>
              <a:ext uri="{FF2B5EF4-FFF2-40B4-BE49-F238E27FC236}">
                <a16:creationId xmlns:a16="http://schemas.microsoft.com/office/drawing/2014/main" id="{ED01CB80-5B5D-4D43-B68C-971D64DAB036}"/>
              </a:ext>
            </a:extLst>
          </p:cNvPr>
          <p:cNvSpPr>
            <a:spLocks noChangeArrowheads="1"/>
          </p:cNvSpPr>
          <p:nvPr/>
        </p:nvSpPr>
        <p:spPr bwMode="auto">
          <a:xfrm>
            <a:off x="742852" y="203894"/>
            <a:ext cx="751395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990000"/>
                </a:solidFill>
                <a:latin typeface="Times New Roman" panose="02020603050405020304" pitchFamily="18" charset="0"/>
              </a:rPr>
              <a:t>5.4   </a:t>
            </a:r>
            <a:r>
              <a:rPr lang="en-US" altLang="zh-CN" sz="3200" dirty="0">
                <a:solidFill>
                  <a:srgbClr val="990000"/>
                </a:solidFill>
                <a:latin typeface="Times New Roman" panose="02020603050405020304" pitchFamily="18" charset="0"/>
              </a:rPr>
              <a:t>Synchronous sequential logic circuit design example</a:t>
            </a:r>
            <a:endParaRPr lang="zh-CN" altLang="en-US" sz="3200" b="1" dirty="0">
              <a:solidFill>
                <a:srgbClr val="990000"/>
              </a:solidFill>
              <a:latin typeface="Times New Roman" panose="02020603050405020304" pitchFamily="18" charset="0"/>
            </a:endParaRPr>
          </a:p>
        </p:txBody>
      </p:sp>
      <p:pic>
        <p:nvPicPr>
          <p:cNvPr id="126979" name="Picture 21" descr="Right_Green">
            <a:hlinkClick r:id="" action="ppaction://hlinkshowjump?jump=nextslide"/>
            <a:extLst>
              <a:ext uri="{FF2B5EF4-FFF2-40B4-BE49-F238E27FC236}">
                <a16:creationId xmlns:a16="http://schemas.microsoft.com/office/drawing/2014/main" id="{4F9B65E8-9ED8-4FA7-9A7D-20B763FE34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0" name="Picture 22" descr="Left_Green">
            <a:hlinkClick r:id="" action="ppaction://hlinkshowjump?jump=previousslide"/>
            <a:extLst>
              <a:ext uri="{FF2B5EF4-FFF2-40B4-BE49-F238E27FC236}">
                <a16:creationId xmlns:a16="http://schemas.microsoft.com/office/drawing/2014/main" id="{F9AB9C2C-F616-4735-85EC-064F5CE5E0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5" name="Rectangle 25">
            <a:extLst>
              <a:ext uri="{FF2B5EF4-FFF2-40B4-BE49-F238E27FC236}">
                <a16:creationId xmlns:a16="http://schemas.microsoft.com/office/drawing/2014/main" id="{CCC94FF7-00AB-4B63-8964-913235026E02}"/>
              </a:ext>
            </a:extLst>
          </p:cNvPr>
          <p:cNvSpPr>
            <a:spLocks noChangeArrowheads="1"/>
          </p:cNvSpPr>
          <p:nvPr/>
        </p:nvSpPr>
        <p:spPr bwMode="auto">
          <a:xfrm>
            <a:off x="1619250" y="3141663"/>
            <a:ext cx="5400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990000"/>
                </a:solidFill>
                <a:latin typeface="Times New Roman" panose="02020603050405020304" pitchFamily="18" charset="0"/>
              </a:rPr>
              <a:t>      </a:t>
            </a:r>
            <a:endParaRPr lang="zh-CN" altLang="en-US" sz="3200">
              <a:solidFill>
                <a:srgbClr val="006666"/>
              </a:solidFill>
              <a:latin typeface="Times New Roman" panose="02020603050405020304" pitchFamily="18" charset="0"/>
            </a:endParaRPr>
          </a:p>
        </p:txBody>
      </p:sp>
      <p:pic>
        <p:nvPicPr>
          <p:cNvPr id="126982" name="Picture 6">
            <a:extLst>
              <a:ext uri="{FF2B5EF4-FFF2-40B4-BE49-F238E27FC236}">
                <a16:creationId xmlns:a16="http://schemas.microsoft.com/office/drawing/2014/main" id="{8878B60D-142C-4B6D-B89B-0D3463EE8B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852" y="1772816"/>
            <a:ext cx="8094663" cy="435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7" name="文本框 6">
            <a:extLst>
              <a:ext uri="{FF2B5EF4-FFF2-40B4-BE49-F238E27FC236}">
                <a16:creationId xmlns:a16="http://schemas.microsoft.com/office/drawing/2014/main" id="{24121600-47C9-4A4B-B7C5-E471ACA7992B}"/>
              </a:ext>
            </a:extLst>
          </p:cNvPr>
          <p:cNvSpPr txBox="1"/>
          <p:nvPr/>
        </p:nvSpPr>
        <p:spPr>
          <a:xfrm>
            <a:off x="824631" y="1834351"/>
            <a:ext cx="8319369" cy="2677656"/>
          </a:xfrm>
          <a:prstGeom prst="rect">
            <a:avLst/>
          </a:prstGeom>
          <a:solidFill>
            <a:schemeClr val="bg1"/>
          </a:solidFill>
        </p:spPr>
        <p:txBody>
          <a:bodyPr wrap="square" rtlCol="0">
            <a:spAutoFit/>
          </a:bodyPr>
          <a:lstStyle/>
          <a:p>
            <a:r>
              <a:rPr lang="en-US" altLang="zh-CN" sz="2800" dirty="0"/>
              <a:t>Example:</a:t>
            </a:r>
          </a:p>
          <a:p>
            <a:r>
              <a:rPr lang="en-US" altLang="zh-CN" sz="2800" dirty="0"/>
              <a:t>Design a “111” sequence detector, to check a sequence of binary numbers. When we have three continuous 1s, the output is 1; otherwise, the output is 0. the typical input/output are list as follows:</a:t>
            </a:r>
          </a:p>
        </p:txBody>
      </p:sp>
      <p:sp>
        <p:nvSpPr>
          <p:cNvPr id="8" name="文本框 7">
            <a:extLst>
              <a:ext uri="{FF2B5EF4-FFF2-40B4-BE49-F238E27FC236}">
                <a16:creationId xmlns:a16="http://schemas.microsoft.com/office/drawing/2014/main" id="{83042EE9-9AFD-470D-A4C9-0B6499576C30}"/>
              </a:ext>
            </a:extLst>
          </p:cNvPr>
          <p:cNvSpPr txBox="1"/>
          <p:nvPr/>
        </p:nvSpPr>
        <p:spPr>
          <a:xfrm>
            <a:off x="940261" y="4819045"/>
            <a:ext cx="1357978" cy="369332"/>
          </a:xfrm>
          <a:prstGeom prst="rect">
            <a:avLst/>
          </a:prstGeom>
          <a:solidFill>
            <a:schemeClr val="bg1"/>
          </a:solidFill>
        </p:spPr>
        <p:txBody>
          <a:bodyPr wrap="square" rtlCol="0">
            <a:spAutoFit/>
          </a:bodyPr>
          <a:lstStyle/>
          <a:p>
            <a:r>
              <a:rPr lang="en-US" altLang="zh-CN" sz="1800" dirty="0"/>
              <a:t>Input</a:t>
            </a:r>
            <a:endParaRPr lang="zh-CN" altLang="en-US" sz="3200" dirty="0"/>
          </a:p>
        </p:txBody>
      </p:sp>
      <p:sp>
        <p:nvSpPr>
          <p:cNvPr id="9" name="文本框 8">
            <a:extLst>
              <a:ext uri="{FF2B5EF4-FFF2-40B4-BE49-F238E27FC236}">
                <a16:creationId xmlns:a16="http://schemas.microsoft.com/office/drawing/2014/main" id="{84E4C625-79BA-4425-9897-2974B098D380}"/>
              </a:ext>
            </a:extLst>
          </p:cNvPr>
          <p:cNvSpPr txBox="1"/>
          <p:nvPr/>
        </p:nvSpPr>
        <p:spPr>
          <a:xfrm>
            <a:off x="940261" y="5449987"/>
            <a:ext cx="1357978" cy="369332"/>
          </a:xfrm>
          <a:prstGeom prst="rect">
            <a:avLst/>
          </a:prstGeom>
          <a:solidFill>
            <a:schemeClr val="bg1"/>
          </a:solidFill>
        </p:spPr>
        <p:txBody>
          <a:bodyPr wrap="square" rtlCol="0">
            <a:spAutoFit/>
          </a:bodyPr>
          <a:lstStyle/>
          <a:p>
            <a:r>
              <a:rPr lang="en-US" altLang="zh-CN" sz="1800" dirty="0"/>
              <a:t>Output</a:t>
            </a:r>
            <a:endParaRPr lang="zh-CN" altLang="en-US" sz="3200" dirty="0"/>
          </a:p>
        </p:txBody>
      </p:sp>
    </p:spTree>
    <p:extLst>
      <p:ext uri="{BB962C8B-B14F-4D97-AF65-F5344CB8AC3E}">
        <p14:creationId xmlns:p14="http://schemas.microsoft.com/office/powerpoint/2010/main" val="230401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7762"/>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7765"/>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autoUpdateAnimBg="0"/>
      <p:bldP spid="117765"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a:extLst>
              <a:ext uri="{FF2B5EF4-FFF2-40B4-BE49-F238E27FC236}">
                <a16:creationId xmlns:a16="http://schemas.microsoft.com/office/drawing/2014/main" id="{D741AFE1-D853-4AD2-86D8-22D27DF817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981075"/>
            <a:ext cx="5172075" cy="38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C398D421-86D9-4DC3-9DCA-33A2CDD03249}"/>
              </a:ext>
            </a:extLst>
          </p:cNvPr>
          <p:cNvSpPr txBox="1"/>
          <p:nvPr/>
        </p:nvSpPr>
        <p:spPr>
          <a:xfrm>
            <a:off x="962744" y="981075"/>
            <a:ext cx="5581834" cy="369332"/>
          </a:xfrm>
          <a:prstGeom prst="rect">
            <a:avLst/>
          </a:prstGeom>
          <a:solidFill>
            <a:schemeClr val="bg1"/>
          </a:solidFill>
        </p:spPr>
        <p:txBody>
          <a:bodyPr wrap="square" rtlCol="0">
            <a:spAutoFit/>
          </a:bodyPr>
          <a:lstStyle/>
          <a:p>
            <a:r>
              <a:rPr lang="en-US" altLang="zh-CN" sz="1800" dirty="0"/>
              <a:t>A:	basic state diagram and state table</a:t>
            </a:r>
            <a:endParaRPr lang="zh-CN" altLang="en-US" sz="3200" dirty="0"/>
          </a:p>
        </p:txBody>
      </p:sp>
    </p:spTree>
    <p:extLst>
      <p:ext uri="{BB962C8B-B14F-4D97-AF65-F5344CB8AC3E}">
        <p14:creationId xmlns:p14="http://schemas.microsoft.com/office/powerpoint/2010/main" val="28886648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a:extLst>
              <a:ext uri="{FF2B5EF4-FFF2-40B4-BE49-F238E27FC236}">
                <a16:creationId xmlns:a16="http://schemas.microsoft.com/office/drawing/2014/main" id="{411BCB54-27A7-456A-AC1A-DB621CF69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981075"/>
            <a:ext cx="5403850" cy="403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4" name="文本框 3">
            <a:extLst>
              <a:ext uri="{FF2B5EF4-FFF2-40B4-BE49-F238E27FC236}">
                <a16:creationId xmlns:a16="http://schemas.microsoft.com/office/drawing/2014/main" id="{BD60DDDA-C91E-4B75-8F85-C16DE0E492EC}"/>
              </a:ext>
            </a:extLst>
          </p:cNvPr>
          <p:cNvSpPr txBox="1"/>
          <p:nvPr/>
        </p:nvSpPr>
        <p:spPr>
          <a:xfrm>
            <a:off x="962744" y="981075"/>
            <a:ext cx="5581834" cy="369332"/>
          </a:xfrm>
          <a:prstGeom prst="rect">
            <a:avLst/>
          </a:prstGeom>
          <a:solidFill>
            <a:schemeClr val="bg1"/>
          </a:solidFill>
        </p:spPr>
        <p:txBody>
          <a:bodyPr wrap="square" rtlCol="0">
            <a:spAutoFit/>
          </a:bodyPr>
          <a:lstStyle/>
          <a:p>
            <a:r>
              <a:rPr lang="en-US" altLang="zh-CN" sz="1800" dirty="0"/>
              <a:t>A:	basic state diagram and state table</a:t>
            </a:r>
            <a:endParaRPr lang="zh-CN" altLang="en-US" sz="3200" dirty="0"/>
          </a:p>
        </p:txBody>
      </p:sp>
    </p:spTree>
    <p:extLst>
      <p:ext uri="{BB962C8B-B14F-4D97-AF65-F5344CB8AC3E}">
        <p14:creationId xmlns:p14="http://schemas.microsoft.com/office/powerpoint/2010/main" val="39092643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a:extLst>
              <a:ext uri="{FF2B5EF4-FFF2-40B4-BE49-F238E27FC236}">
                <a16:creationId xmlns:a16="http://schemas.microsoft.com/office/drawing/2014/main" id="{F5B70E38-99C5-42ED-929E-628D7D65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981075"/>
            <a:ext cx="5476875" cy="417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242B5E3B-72E6-4A18-BC6B-536D5D93CF3A}"/>
              </a:ext>
            </a:extLst>
          </p:cNvPr>
          <p:cNvSpPr txBox="1"/>
          <p:nvPr/>
        </p:nvSpPr>
        <p:spPr>
          <a:xfrm>
            <a:off x="962744" y="981075"/>
            <a:ext cx="5581834" cy="369332"/>
          </a:xfrm>
          <a:prstGeom prst="rect">
            <a:avLst/>
          </a:prstGeom>
          <a:solidFill>
            <a:schemeClr val="bg1"/>
          </a:solidFill>
        </p:spPr>
        <p:txBody>
          <a:bodyPr wrap="square" rtlCol="0">
            <a:spAutoFit/>
          </a:bodyPr>
          <a:lstStyle/>
          <a:p>
            <a:r>
              <a:rPr lang="en-US" altLang="zh-CN" sz="1800" dirty="0"/>
              <a:t>A:	basic state diagram and state table</a:t>
            </a:r>
            <a:endParaRPr lang="zh-CN" altLang="en-US" sz="3200" dirty="0"/>
          </a:p>
        </p:txBody>
      </p:sp>
    </p:spTree>
    <p:extLst>
      <p:ext uri="{BB962C8B-B14F-4D97-AF65-F5344CB8AC3E}">
        <p14:creationId xmlns:p14="http://schemas.microsoft.com/office/powerpoint/2010/main" val="17880527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a:extLst>
              <a:ext uri="{FF2B5EF4-FFF2-40B4-BE49-F238E27FC236}">
                <a16:creationId xmlns:a16="http://schemas.microsoft.com/office/drawing/2014/main" id="{C6B4D368-1A5E-474E-8484-21F15E8D3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765175"/>
            <a:ext cx="5856287" cy="4535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4" name="文本框 3">
            <a:extLst>
              <a:ext uri="{FF2B5EF4-FFF2-40B4-BE49-F238E27FC236}">
                <a16:creationId xmlns:a16="http://schemas.microsoft.com/office/drawing/2014/main" id="{2B7DA8EE-123A-4891-8944-F6DF612F16DD}"/>
              </a:ext>
            </a:extLst>
          </p:cNvPr>
          <p:cNvSpPr txBox="1"/>
          <p:nvPr/>
        </p:nvSpPr>
        <p:spPr>
          <a:xfrm>
            <a:off x="962744" y="981075"/>
            <a:ext cx="5581834" cy="369332"/>
          </a:xfrm>
          <a:prstGeom prst="rect">
            <a:avLst/>
          </a:prstGeom>
          <a:solidFill>
            <a:schemeClr val="bg1"/>
          </a:solidFill>
        </p:spPr>
        <p:txBody>
          <a:bodyPr wrap="square" rtlCol="0">
            <a:spAutoFit/>
          </a:bodyPr>
          <a:lstStyle/>
          <a:p>
            <a:r>
              <a:rPr lang="en-US" altLang="zh-CN" sz="1800" dirty="0"/>
              <a:t>A:	basic state diagram and state table</a:t>
            </a:r>
            <a:endParaRPr lang="zh-CN" altLang="en-US" sz="3200" dirty="0"/>
          </a:p>
        </p:txBody>
      </p:sp>
    </p:spTree>
    <p:extLst>
      <p:ext uri="{BB962C8B-B14F-4D97-AF65-F5344CB8AC3E}">
        <p14:creationId xmlns:p14="http://schemas.microsoft.com/office/powerpoint/2010/main" val="4212099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a:extLst>
              <a:ext uri="{FF2B5EF4-FFF2-40B4-BE49-F238E27FC236}">
                <a16:creationId xmlns:a16="http://schemas.microsoft.com/office/drawing/2014/main" id="{06101E25-F82A-4C81-BEA1-93E568368E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268413"/>
            <a:ext cx="6934200" cy="417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4" name="文本框 3">
            <a:extLst>
              <a:ext uri="{FF2B5EF4-FFF2-40B4-BE49-F238E27FC236}">
                <a16:creationId xmlns:a16="http://schemas.microsoft.com/office/drawing/2014/main" id="{5303A29F-14C7-4D60-A5FC-BA8A85E9AC06}"/>
              </a:ext>
            </a:extLst>
          </p:cNvPr>
          <p:cNvSpPr txBox="1"/>
          <p:nvPr/>
        </p:nvSpPr>
        <p:spPr>
          <a:xfrm>
            <a:off x="899592" y="2132856"/>
            <a:ext cx="1872208" cy="400110"/>
          </a:xfrm>
          <a:prstGeom prst="rect">
            <a:avLst/>
          </a:prstGeom>
          <a:solidFill>
            <a:schemeClr val="bg1"/>
          </a:solidFill>
        </p:spPr>
        <p:txBody>
          <a:bodyPr wrap="square" rtlCol="0">
            <a:spAutoFit/>
          </a:bodyPr>
          <a:lstStyle/>
          <a:p>
            <a:r>
              <a:rPr lang="en-US" altLang="zh-CN" sz="2000" dirty="0"/>
              <a:t>Present State</a:t>
            </a:r>
            <a:endParaRPr lang="zh-CN" altLang="en-US" sz="3600" dirty="0"/>
          </a:p>
        </p:txBody>
      </p:sp>
      <p:sp>
        <p:nvSpPr>
          <p:cNvPr id="5" name="文本框 4">
            <a:extLst>
              <a:ext uri="{FF2B5EF4-FFF2-40B4-BE49-F238E27FC236}">
                <a16:creationId xmlns:a16="http://schemas.microsoft.com/office/drawing/2014/main" id="{405380FA-444A-4312-B3B0-6048748D7AC9}"/>
              </a:ext>
            </a:extLst>
          </p:cNvPr>
          <p:cNvSpPr txBox="1"/>
          <p:nvPr/>
        </p:nvSpPr>
        <p:spPr>
          <a:xfrm>
            <a:off x="1187450" y="764704"/>
            <a:ext cx="5581834" cy="369332"/>
          </a:xfrm>
          <a:prstGeom prst="rect">
            <a:avLst/>
          </a:prstGeom>
          <a:solidFill>
            <a:schemeClr val="bg1"/>
          </a:solidFill>
        </p:spPr>
        <p:txBody>
          <a:bodyPr wrap="square" rtlCol="0">
            <a:spAutoFit/>
          </a:bodyPr>
          <a:lstStyle/>
          <a:p>
            <a:r>
              <a:rPr lang="en-US" altLang="zh-CN" sz="1800" dirty="0"/>
              <a:t>A:	basic state diagram and state table</a:t>
            </a:r>
            <a:endParaRPr lang="zh-CN" altLang="en-US" sz="3200" dirty="0"/>
          </a:p>
        </p:txBody>
      </p:sp>
      <p:sp>
        <p:nvSpPr>
          <p:cNvPr id="7" name="文本框 6">
            <a:extLst>
              <a:ext uri="{FF2B5EF4-FFF2-40B4-BE49-F238E27FC236}">
                <a16:creationId xmlns:a16="http://schemas.microsoft.com/office/drawing/2014/main" id="{E805360E-B97C-498A-8D5E-3EE87CF0797D}"/>
              </a:ext>
            </a:extLst>
          </p:cNvPr>
          <p:cNvSpPr txBox="1"/>
          <p:nvPr/>
        </p:nvSpPr>
        <p:spPr>
          <a:xfrm>
            <a:off x="4139952" y="1732746"/>
            <a:ext cx="2808312" cy="400110"/>
          </a:xfrm>
          <a:prstGeom prst="rect">
            <a:avLst/>
          </a:prstGeom>
          <a:solidFill>
            <a:schemeClr val="bg1"/>
          </a:solidFill>
        </p:spPr>
        <p:txBody>
          <a:bodyPr wrap="square" rtlCol="0">
            <a:spAutoFit/>
          </a:bodyPr>
          <a:lstStyle/>
          <a:p>
            <a:r>
              <a:rPr lang="en-US" altLang="zh-CN" sz="2000" dirty="0"/>
              <a:t>Next state/Output Z</a:t>
            </a:r>
            <a:endParaRPr lang="zh-CN" altLang="en-US" sz="3600" dirty="0"/>
          </a:p>
        </p:txBody>
      </p:sp>
    </p:spTree>
    <p:extLst>
      <p:ext uri="{BB962C8B-B14F-4D97-AF65-F5344CB8AC3E}">
        <p14:creationId xmlns:p14="http://schemas.microsoft.com/office/powerpoint/2010/main" val="2508761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a:extLst>
              <a:ext uri="{FF2B5EF4-FFF2-40B4-BE49-F238E27FC236}">
                <a16:creationId xmlns:a16="http://schemas.microsoft.com/office/drawing/2014/main" id="{6D9E798C-2B2F-4FD5-9825-B3AF93E4AA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765175"/>
            <a:ext cx="7662862" cy="525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9EC73E01-3952-44A7-B731-D4C4D98AEF36}"/>
              </a:ext>
            </a:extLst>
          </p:cNvPr>
          <p:cNvSpPr txBox="1"/>
          <p:nvPr/>
        </p:nvSpPr>
        <p:spPr>
          <a:xfrm>
            <a:off x="1907704" y="836612"/>
            <a:ext cx="3024336" cy="400110"/>
          </a:xfrm>
          <a:prstGeom prst="rect">
            <a:avLst/>
          </a:prstGeom>
          <a:solidFill>
            <a:schemeClr val="bg1"/>
          </a:solidFill>
        </p:spPr>
        <p:txBody>
          <a:bodyPr wrap="square" rtlCol="0">
            <a:spAutoFit/>
          </a:bodyPr>
          <a:lstStyle/>
          <a:p>
            <a:r>
              <a:rPr lang="en-US" altLang="zh-CN" sz="2000" dirty="0"/>
              <a:t>State reduction</a:t>
            </a:r>
            <a:endParaRPr lang="zh-CN" altLang="en-US" sz="3600" dirty="0"/>
          </a:p>
        </p:txBody>
      </p:sp>
      <p:sp>
        <p:nvSpPr>
          <p:cNvPr id="4" name="文本框 3">
            <a:extLst>
              <a:ext uri="{FF2B5EF4-FFF2-40B4-BE49-F238E27FC236}">
                <a16:creationId xmlns:a16="http://schemas.microsoft.com/office/drawing/2014/main" id="{9C5AA236-68B5-4CD7-9190-CF2751BACEF5}"/>
              </a:ext>
            </a:extLst>
          </p:cNvPr>
          <p:cNvSpPr txBox="1"/>
          <p:nvPr/>
        </p:nvSpPr>
        <p:spPr>
          <a:xfrm>
            <a:off x="1763688" y="1306541"/>
            <a:ext cx="7273304" cy="400110"/>
          </a:xfrm>
          <a:prstGeom prst="rect">
            <a:avLst/>
          </a:prstGeom>
          <a:solidFill>
            <a:schemeClr val="bg1"/>
          </a:solidFill>
        </p:spPr>
        <p:txBody>
          <a:bodyPr wrap="square" rtlCol="0">
            <a:spAutoFit/>
          </a:bodyPr>
          <a:lstStyle/>
          <a:p>
            <a:r>
              <a:rPr lang="en-US" altLang="zh-CN" sz="2000" dirty="0"/>
              <a:t>The maximum equivalent classes are: {A}, {B}, {C,D}</a:t>
            </a:r>
            <a:endParaRPr lang="zh-CN" altLang="en-US" sz="3600" dirty="0"/>
          </a:p>
        </p:txBody>
      </p:sp>
      <p:sp>
        <p:nvSpPr>
          <p:cNvPr id="5" name="文本框 4">
            <a:extLst>
              <a:ext uri="{FF2B5EF4-FFF2-40B4-BE49-F238E27FC236}">
                <a16:creationId xmlns:a16="http://schemas.microsoft.com/office/drawing/2014/main" id="{7EA10024-1D8F-404E-8FCA-ED3B8D31EAC8}"/>
              </a:ext>
            </a:extLst>
          </p:cNvPr>
          <p:cNvSpPr txBox="1"/>
          <p:nvPr/>
        </p:nvSpPr>
        <p:spPr>
          <a:xfrm>
            <a:off x="1403648" y="1847163"/>
            <a:ext cx="8280920" cy="400110"/>
          </a:xfrm>
          <a:prstGeom prst="rect">
            <a:avLst/>
          </a:prstGeom>
          <a:solidFill>
            <a:schemeClr val="bg1"/>
          </a:solidFill>
        </p:spPr>
        <p:txBody>
          <a:bodyPr wrap="square" rtlCol="0">
            <a:spAutoFit/>
          </a:bodyPr>
          <a:lstStyle/>
          <a:p>
            <a:r>
              <a:rPr lang="en-US" altLang="zh-CN" sz="2000" dirty="0"/>
              <a:t>Let C to represent {C,D}, we can have the following table</a:t>
            </a:r>
            <a:endParaRPr lang="zh-CN" altLang="en-US" sz="3600" dirty="0"/>
          </a:p>
        </p:txBody>
      </p:sp>
      <p:sp>
        <p:nvSpPr>
          <p:cNvPr id="6" name="文本框 5">
            <a:extLst>
              <a:ext uri="{FF2B5EF4-FFF2-40B4-BE49-F238E27FC236}">
                <a16:creationId xmlns:a16="http://schemas.microsoft.com/office/drawing/2014/main" id="{363BFE18-6F86-4078-8D5A-6B300B376C86}"/>
              </a:ext>
            </a:extLst>
          </p:cNvPr>
          <p:cNvSpPr txBox="1"/>
          <p:nvPr/>
        </p:nvSpPr>
        <p:spPr>
          <a:xfrm>
            <a:off x="648072" y="2789761"/>
            <a:ext cx="1115616" cy="646331"/>
          </a:xfrm>
          <a:prstGeom prst="rect">
            <a:avLst/>
          </a:prstGeom>
          <a:solidFill>
            <a:schemeClr val="bg1"/>
          </a:solidFill>
        </p:spPr>
        <p:txBody>
          <a:bodyPr wrap="square" rtlCol="0">
            <a:spAutoFit/>
          </a:bodyPr>
          <a:lstStyle/>
          <a:p>
            <a:r>
              <a:rPr lang="en-US" altLang="zh-CN" sz="1800" dirty="0"/>
              <a:t>Present </a:t>
            </a:r>
          </a:p>
          <a:p>
            <a:r>
              <a:rPr lang="en-US" altLang="zh-CN" sz="1800" dirty="0"/>
              <a:t>State</a:t>
            </a:r>
            <a:endParaRPr lang="zh-CN" altLang="en-US" sz="3200" dirty="0"/>
          </a:p>
        </p:txBody>
      </p:sp>
      <p:sp>
        <p:nvSpPr>
          <p:cNvPr id="7" name="文本框 6">
            <a:extLst>
              <a:ext uri="{FF2B5EF4-FFF2-40B4-BE49-F238E27FC236}">
                <a16:creationId xmlns:a16="http://schemas.microsoft.com/office/drawing/2014/main" id="{F1C7CE5D-D61E-4A7B-B2D8-9235D683998C}"/>
              </a:ext>
            </a:extLst>
          </p:cNvPr>
          <p:cNvSpPr txBox="1"/>
          <p:nvPr/>
        </p:nvSpPr>
        <p:spPr>
          <a:xfrm>
            <a:off x="5684165" y="2714845"/>
            <a:ext cx="2808312" cy="400110"/>
          </a:xfrm>
          <a:prstGeom prst="rect">
            <a:avLst/>
          </a:prstGeom>
          <a:solidFill>
            <a:schemeClr val="bg1"/>
          </a:solidFill>
        </p:spPr>
        <p:txBody>
          <a:bodyPr wrap="square" rtlCol="0">
            <a:spAutoFit/>
          </a:bodyPr>
          <a:lstStyle/>
          <a:p>
            <a:r>
              <a:rPr lang="en-US" altLang="zh-CN" sz="2000" dirty="0"/>
              <a:t>Next state/Output Z</a:t>
            </a:r>
            <a:endParaRPr lang="zh-CN" altLang="en-US" sz="3600" dirty="0"/>
          </a:p>
        </p:txBody>
      </p:sp>
      <p:sp>
        <p:nvSpPr>
          <p:cNvPr id="10" name="文本框 9">
            <a:extLst>
              <a:ext uri="{FF2B5EF4-FFF2-40B4-BE49-F238E27FC236}">
                <a16:creationId xmlns:a16="http://schemas.microsoft.com/office/drawing/2014/main" id="{31DF2EA3-F827-493A-958F-BEE631C1D97F}"/>
              </a:ext>
            </a:extLst>
          </p:cNvPr>
          <p:cNvSpPr txBox="1"/>
          <p:nvPr/>
        </p:nvSpPr>
        <p:spPr>
          <a:xfrm>
            <a:off x="4284724" y="3070115"/>
            <a:ext cx="1115616" cy="646331"/>
          </a:xfrm>
          <a:prstGeom prst="rect">
            <a:avLst/>
          </a:prstGeom>
          <a:solidFill>
            <a:schemeClr val="bg1"/>
          </a:solidFill>
        </p:spPr>
        <p:txBody>
          <a:bodyPr wrap="square" rtlCol="0">
            <a:spAutoFit/>
          </a:bodyPr>
          <a:lstStyle/>
          <a:p>
            <a:r>
              <a:rPr lang="en-US" altLang="zh-CN" sz="1800" dirty="0"/>
              <a:t>Present </a:t>
            </a:r>
          </a:p>
          <a:p>
            <a:r>
              <a:rPr lang="en-US" altLang="zh-CN" sz="1800" dirty="0"/>
              <a:t>State</a:t>
            </a:r>
            <a:endParaRPr lang="zh-CN" altLang="en-US" sz="3200" dirty="0"/>
          </a:p>
        </p:txBody>
      </p:sp>
      <p:sp>
        <p:nvSpPr>
          <p:cNvPr id="11" name="文本框 10">
            <a:extLst>
              <a:ext uri="{FF2B5EF4-FFF2-40B4-BE49-F238E27FC236}">
                <a16:creationId xmlns:a16="http://schemas.microsoft.com/office/drawing/2014/main" id="{EC3114FE-184B-42D5-8655-70A976DBDB96}"/>
              </a:ext>
            </a:extLst>
          </p:cNvPr>
          <p:cNvSpPr txBox="1"/>
          <p:nvPr/>
        </p:nvSpPr>
        <p:spPr>
          <a:xfrm>
            <a:off x="2034220" y="2529493"/>
            <a:ext cx="2808312" cy="400110"/>
          </a:xfrm>
          <a:prstGeom prst="rect">
            <a:avLst/>
          </a:prstGeom>
          <a:solidFill>
            <a:schemeClr val="bg1"/>
          </a:solidFill>
        </p:spPr>
        <p:txBody>
          <a:bodyPr wrap="square" rtlCol="0">
            <a:spAutoFit/>
          </a:bodyPr>
          <a:lstStyle/>
          <a:p>
            <a:r>
              <a:rPr lang="en-US" altLang="zh-CN" sz="2000" dirty="0"/>
              <a:t>Next state/Output Z</a:t>
            </a:r>
            <a:endParaRPr lang="zh-CN" altLang="en-US" sz="3600" dirty="0"/>
          </a:p>
        </p:txBody>
      </p:sp>
    </p:spTree>
    <p:extLst>
      <p:ext uri="{BB962C8B-B14F-4D97-AF65-F5344CB8AC3E}">
        <p14:creationId xmlns:p14="http://schemas.microsoft.com/office/powerpoint/2010/main" val="6983510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4">
            <a:extLst>
              <a:ext uri="{FF2B5EF4-FFF2-40B4-BE49-F238E27FC236}">
                <a16:creationId xmlns:a16="http://schemas.microsoft.com/office/drawing/2014/main" id="{62B0965A-419B-4E0D-B0E8-BC17AC5FAC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765175"/>
            <a:ext cx="7962900" cy="5040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FCF6E334-1690-4D2F-B964-363EC15E6FF6}"/>
              </a:ext>
            </a:extLst>
          </p:cNvPr>
          <p:cNvSpPr txBox="1"/>
          <p:nvPr/>
        </p:nvSpPr>
        <p:spPr>
          <a:xfrm>
            <a:off x="684213" y="3105834"/>
            <a:ext cx="1115616" cy="646331"/>
          </a:xfrm>
          <a:prstGeom prst="rect">
            <a:avLst/>
          </a:prstGeom>
          <a:solidFill>
            <a:schemeClr val="bg1"/>
          </a:solidFill>
        </p:spPr>
        <p:txBody>
          <a:bodyPr wrap="square" rtlCol="0">
            <a:spAutoFit/>
          </a:bodyPr>
          <a:lstStyle/>
          <a:p>
            <a:r>
              <a:rPr lang="en-US" altLang="zh-CN" sz="1800" dirty="0"/>
              <a:t>Present </a:t>
            </a:r>
          </a:p>
          <a:p>
            <a:r>
              <a:rPr lang="en-US" altLang="zh-CN" sz="1800" dirty="0"/>
              <a:t>State</a:t>
            </a:r>
            <a:endParaRPr lang="zh-CN" altLang="en-US" sz="3200" dirty="0"/>
          </a:p>
        </p:txBody>
      </p:sp>
      <p:sp>
        <p:nvSpPr>
          <p:cNvPr id="4" name="文本框 3">
            <a:extLst>
              <a:ext uri="{FF2B5EF4-FFF2-40B4-BE49-F238E27FC236}">
                <a16:creationId xmlns:a16="http://schemas.microsoft.com/office/drawing/2014/main" id="{FF9CA677-81BF-425E-B080-6718F4413F68}"/>
              </a:ext>
            </a:extLst>
          </p:cNvPr>
          <p:cNvSpPr txBox="1"/>
          <p:nvPr/>
        </p:nvSpPr>
        <p:spPr>
          <a:xfrm>
            <a:off x="2070361" y="2845566"/>
            <a:ext cx="2808312" cy="400110"/>
          </a:xfrm>
          <a:prstGeom prst="rect">
            <a:avLst/>
          </a:prstGeom>
          <a:solidFill>
            <a:schemeClr val="bg1"/>
          </a:solidFill>
        </p:spPr>
        <p:txBody>
          <a:bodyPr wrap="square" rtlCol="0">
            <a:spAutoFit/>
          </a:bodyPr>
          <a:lstStyle/>
          <a:p>
            <a:r>
              <a:rPr lang="en-US" altLang="zh-CN" sz="2000" dirty="0"/>
              <a:t>Next state/Output Z</a:t>
            </a:r>
            <a:endParaRPr lang="zh-CN" altLang="en-US" sz="3600" dirty="0"/>
          </a:p>
        </p:txBody>
      </p:sp>
      <p:sp>
        <p:nvSpPr>
          <p:cNvPr id="5" name="文本框 4">
            <a:extLst>
              <a:ext uri="{FF2B5EF4-FFF2-40B4-BE49-F238E27FC236}">
                <a16:creationId xmlns:a16="http://schemas.microsoft.com/office/drawing/2014/main" id="{74D2DA41-BDA5-4022-A3A4-AFCF9A4AED1C}"/>
              </a:ext>
            </a:extLst>
          </p:cNvPr>
          <p:cNvSpPr txBox="1"/>
          <p:nvPr/>
        </p:nvSpPr>
        <p:spPr>
          <a:xfrm>
            <a:off x="1331640" y="1121239"/>
            <a:ext cx="2448272" cy="369332"/>
          </a:xfrm>
          <a:prstGeom prst="rect">
            <a:avLst/>
          </a:prstGeom>
          <a:solidFill>
            <a:schemeClr val="bg1"/>
          </a:solidFill>
        </p:spPr>
        <p:txBody>
          <a:bodyPr wrap="square" rtlCol="0">
            <a:spAutoFit/>
          </a:bodyPr>
          <a:lstStyle/>
          <a:p>
            <a:r>
              <a:rPr lang="en-US" altLang="zh-CN" sz="1800" dirty="0"/>
              <a:t>State Assignment:</a:t>
            </a:r>
            <a:endParaRPr lang="zh-CN" altLang="en-US" sz="3200" dirty="0"/>
          </a:p>
        </p:txBody>
      </p:sp>
      <p:sp>
        <p:nvSpPr>
          <p:cNvPr id="6" name="文本框 5">
            <a:extLst>
              <a:ext uri="{FF2B5EF4-FFF2-40B4-BE49-F238E27FC236}">
                <a16:creationId xmlns:a16="http://schemas.microsoft.com/office/drawing/2014/main" id="{3B357351-2EC4-4976-9037-009D98039C57}"/>
              </a:ext>
            </a:extLst>
          </p:cNvPr>
          <p:cNvSpPr txBox="1"/>
          <p:nvPr/>
        </p:nvSpPr>
        <p:spPr>
          <a:xfrm>
            <a:off x="5307645" y="843676"/>
            <a:ext cx="3339467" cy="3785652"/>
          </a:xfrm>
          <a:prstGeom prst="rect">
            <a:avLst/>
          </a:prstGeom>
          <a:solidFill>
            <a:schemeClr val="bg1"/>
          </a:solidFill>
        </p:spPr>
        <p:txBody>
          <a:bodyPr wrap="square" rtlCol="0">
            <a:spAutoFit/>
          </a:bodyPr>
          <a:lstStyle/>
          <a:p>
            <a:pPr marL="342900" indent="-342900">
              <a:buFont typeface="Arial" panose="020B0604020202020204" pitchFamily="34" charset="0"/>
              <a:buChar char="•"/>
            </a:pPr>
            <a:r>
              <a:rPr lang="en-US" altLang="zh-CN" dirty="0"/>
              <a:t>A and B, B and C, A and C should be adjacent;</a:t>
            </a:r>
          </a:p>
          <a:p>
            <a:pPr marL="342900" indent="-342900">
              <a:buFont typeface="Arial" panose="020B0604020202020204" pitchFamily="34" charset="0"/>
              <a:buChar char="•"/>
            </a:pPr>
            <a:r>
              <a:rPr lang="en-US" altLang="zh-CN" dirty="0"/>
              <a:t>A and B, A and C should be adjacent;</a:t>
            </a:r>
          </a:p>
          <a:p>
            <a:pPr marL="342900" indent="-342900">
              <a:buFont typeface="Arial" panose="020B0604020202020204" pitchFamily="34" charset="0"/>
              <a:buChar char="•"/>
            </a:pPr>
            <a:r>
              <a:rPr lang="en-US" altLang="zh-CN" dirty="0"/>
              <a:t>A and B should be adjacent;</a:t>
            </a:r>
          </a:p>
          <a:p>
            <a:pPr marL="342900" indent="-342900">
              <a:buFont typeface="Arial" panose="020B0604020202020204" pitchFamily="34" charset="0"/>
              <a:buChar char="•"/>
            </a:pPr>
            <a:r>
              <a:rPr lang="en-US" altLang="zh-CN" dirty="0"/>
              <a:t>A should be assigned as 0;</a:t>
            </a:r>
            <a:endParaRPr lang="zh-CN" altLang="en-US" sz="4000" dirty="0"/>
          </a:p>
        </p:txBody>
      </p:sp>
    </p:spTree>
    <p:extLst>
      <p:ext uri="{BB962C8B-B14F-4D97-AF65-F5344CB8AC3E}">
        <p14:creationId xmlns:p14="http://schemas.microsoft.com/office/powerpoint/2010/main" val="30967839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2">
            <a:extLst>
              <a:ext uri="{FF2B5EF4-FFF2-40B4-BE49-F238E27FC236}">
                <a16:creationId xmlns:a16="http://schemas.microsoft.com/office/drawing/2014/main" id="{6D2F483D-6CEF-48F9-9190-7ED548056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908050"/>
            <a:ext cx="7632700" cy="537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CC07AB5D-43F9-4FBE-A886-B5F0392A99CF}"/>
              </a:ext>
            </a:extLst>
          </p:cNvPr>
          <p:cNvSpPr txBox="1"/>
          <p:nvPr/>
        </p:nvSpPr>
        <p:spPr>
          <a:xfrm>
            <a:off x="3957821" y="2249108"/>
            <a:ext cx="1115616" cy="646331"/>
          </a:xfrm>
          <a:prstGeom prst="rect">
            <a:avLst/>
          </a:prstGeom>
          <a:solidFill>
            <a:schemeClr val="bg1"/>
          </a:solidFill>
        </p:spPr>
        <p:txBody>
          <a:bodyPr wrap="square" rtlCol="0">
            <a:spAutoFit/>
          </a:bodyPr>
          <a:lstStyle/>
          <a:p>
            <a:r>
              <a:rPr lang="en-US" altLang="zh-CN" sz="1800" dirty="0"/>
              <a:t>Present </a:t>
            </a:r>
          </a:p>
          <a:p>
            <a:r>
              <a:rPr lang="en-US" altLang="zh-CN" sz="1800" dirty="0"/>
              <a:t>State</a:t>
            </a:r>
            <a:endParaRPr lang="zh-CN" altLang="en-US" sz="3200" dirty="0"/>
          </a:p>
        </p:txBody>
      </p:sp>
      <p:sp>
        <p:nvSpPr>
          <p:cNvPr id="4" name="文本框 3">
            <a:extLst>
              <a:ext uri="{FF2B5EF4-FFF2-40B4-BE49-F238E27FC236}">
                <a16:creationId xmlns:a16="http://schemas.microsoft.com/office/drawing/2014/main" id="{E00AE812-4E51-46D6-97A4-62008075A391}"/>
              </a:ext>
            </a:extLst>
          </p:cNvPr>
          <p:cNvSpPr txBox="1"/>
          <p:nvPr/>
        </p:nvSpPr>
        <p:spPr>
          <a:xfrm>
            <a:off x="5076056" y="2240438"/>
            <a:ext cx="2808312" cy="400110"/>
          </a:xfrm>
          <a:prstGeom prst="rect">
            <a:avLst/>
          </a:prstGeom>
          <a:solidFill>
            <a:schemeClr val="bg1"/>
          </a:solidFill>
        </p:spPr>
        <p:txBody>
          <a:bodyPr wrap="square" rtlCol="0">
            <a:spAutoFit/>
          </a:bodyPr>
          <a:lstStyle/>
          <a:p>
            <a:r>
              <a:rPr lang="en-US" altLang="zh-CN" sz="2000" dirty="0"/>
              <a:t>Next state/Output Z</a:t>
            </a:r>
            <a:endParaRPr lang="zh-CN" altLang="en-US" sz="3600" dirty="0"/>
          </a:p>
        </p:txBody>
      </p:sp>
      <p:sp>
        <p:nvSpPr>
          <p:cNvPr id="5" name="文本框 4">
            <a:extLst>
              <a:ext uri="{FF2B5EF4-FFF2-40B4-BE49-F238E27FC236}">
                <a16:creationId xmlns:a16="http://schemas.microsoft.com/office/drawing/2014/main" id="{B0558617-EBB2-48FA-89A8-062099E20676}"/>
              </a:ext>
            </a:extLst>
          </p:cNvPr>
          <p:cNvSpPr txBox="1"/>
          <p:nvPr/>
        </p:nvSpPr>
        <p:spPr>
          <a:xfrm>
            <a:off x="179512" y="3717032"/>
            <a:ext cx="1115616" cy="646331"/>
          </a:xfrm>
          <a:prstGeom prst="rect">
            <a:avLst/>
          </a:prstGeom>
          <a:solidFill>
            <a:schemeClr val="bg1"/>
          </a:solidFill>
        </p:spPr>
        <p:txBody>
          <a:bodyPr wrap="square" rtlCol="0">
            <a:spAutoFit/>
          </a:bodyPr>
          <a:lstStyle/>
          <a:p>
            <a:r>
              <a:rPr lang="en-US" altLang="zh-CN" sz="1800" dirty="0"/>
              <a:t>Present </a:t>
            </a:r>
          </a:p>
          <a:p>
            <a:r>
              <a:rPr lang="en-US" altLang="zh-CN" sz="1800" dirty="0"/>
              <a:t>State</a:t>
            </a:r>
            <a:endParaRPr lang="zh-CN" altLang="en-US" sz="3200" dirty="0"/>
          </a:p>
        </p:txBody>
      </p:sp>
      <p:sp>
        <p:nvSpPr>
          <p:cNvPr id="6" name="文本框 5">
            <a:extLst>
              <a:ext uri="{FF2B5EF4-FFF2-40B4-BE49-F238E27FC236}">
                <a16:creationId xmlns:a16="http://schemas.microsoft.com/office/drawing/2014/main" id="{99C9ADD3-9F70-4DA4-B82F-B8292BFED1D4}"/>
              </a:ext>
            </a:extLst>
          </p:cNvPr>
          <p:cNvSpPr txBox="1"/>
          <p:nvPr/>
        </p:nvSpPr>
        <p:spPr>
          <a:xfrm>
            <a:off x="1475656" y="3490928"/>
            <a:ext cx="2808312" cy="400110"/>
          </a:xfrm>
          <a:prstGeom prst="rect">
            <a:avLst/>
          </a:prstGeom>
          <a:solidFill>
            <a:schemeClr val="bg1"/>
          </a:solidFill>
        </p:spPr>
        <p:txBody>
          <a:bodyPr wrap="square" rtlCol="0">
            <a:spAutoFit/>
          </a:bodyPr>
          <a:lstStyle/>
          <a:p>
            <a:r>
              <a:rPr lang="en-US" altLang="zh-CN" sz="2000" dirty="0"/>
              <a:t>Next state/Output Z</a:t>
            </a:r>
            <a:endParaRPr lang="zh-CN" altLang="en-US" sz="3600" dirty="0"/>
          </a:p>
        </p:txBody>
      </p:sp>
    </p:spTree>
    <p:extLst>
      <p:ext uri="{BB962C8B-B14F-4D97-AF65-F5344CB8AC3E}">
        <p14:creationId xmlns:p14="http://schemas.microsoft.com/office/powerpoint/2010/main" val="40025859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a:extLst>
              <a:ext uri="{FF2B5EF4-FFF2-40B4-BE49-F238E27FC236}">
                <a16:creationId xmlns:a16="http://schemas.microsoft.com/office/drawing/2014/main" id="{F8C83A4E-D09D-4F18-93A6-FEB53A4FC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692150"/>
            <a:ext cx="7848600" cy="5595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C2415BDF-24E6-4781-921F-857D0F3B5009}"/>
              </a:ext>
            </a:extLst>
          </p:cNvPr>
          <p:cNvSpPr txBox="1"/>
          <p:nvPr/>
        </p:nvSpPr>
        <p:spPr>
          <a:xfrm>
            <a:off x="347632" y="717266"/>
            <a:ext cx="4464174" cy="1200329"/>
          </a:xfrm>
          <a:prstGeom prst="rect">
            <a:avLst/>
          </a:prstGeom>
          <a:solidFill>
            <a:schemeClr val="bg1"/>
          </a:solidFill>
        </p:spPr>
        <p:txBody>
          <a:bodyPr wrap="square" rtlCol="0">
            <a:spAutoFit/>
          </a:bodyPr>
          <a:lstStyle/>
          <a:p>
            <a:r>
              <a:rPr lang="en-US" altLang="zh-CN" sz="1800" dirty="0"/>
              <a:t>Determine the excitation function and output function expressions;</a:t>
            </a:r>
          </a:p>
          <a:p>
            <a:endParaRPr lang="en-US" altLang="zh-CN" sz="1800" dirty="0"/>
          </a:p>
          <a:p>
            <a:r>
              <a:rPr lang="en-US" altLang="zh-CN" sz="1800" dirty="0"/>
              <a:t>Use the JK flip-flops</a:t>
            </a:r>
            <a:endParaRPr lang="zh-CN" altLang="en-US" sz="3200" dirty="0"/>
          </a:p>
        </p:txBody>
      </p:sp>
      <p:sp>
        <p:nvSpPr>
          <p:cNvPr id="4" name="文本框 3">
            <a:extLst>
              <a:ext uri="{FF2B5EF4-FFF2-40B4-BE49-F238E27FC236}">
                <a16:creationId xmlns:a16="http://schemas.microsoft.com/office/drawing/2014/main" id="{86B3E74D-8565-4D9F-BEB1-D04F02344BA0}"/>
              </a:ext>
            </a:extLst>
          </p:cNvPr>
          <p:cNvSpPr txBox="1"/>
          <p:nvPr/>
        </p:nvSpPr>
        <p:spPr>
          <a:xfrm>
            <a:off x="827584" y="2204864"/>
            <a:ext cx="7344866" cy="400110"/>
          </a:xfrm>
          <a:prstGeom prst="rect">
            <a:avLst/>
          </a:prstGeom>
          <a:solidFill>
            <a:schemeClr val="bg1"/>
          </a:solidFill>
        </p:spPr>
        <p:txBody>
          <a:bodyPr wrap="square" rtlCol="0">
            <a:spAutoFit/>
          </a:bodyPr>
          <a:lstStyle/>
          <a:p>
            <a:r>
              <a:rPr lang="en-US" altLang="zh-CN" sz="2000" dirty="0"/>
              <a:t>Input       Present         Next state      Excitation        Output Z</a:t>
            </a:r>
            <a:endParaRPr lang="zh-CN" altLang="en-US" sz="3600" dirty="0"/>
          </a:p>
        </p:txBody>
      </p:sp>
    </p:spTree>
    <p:extLst>
      <p:ext uri="{BB962C8B-B14F-4D97-AF65-F5344CB8AC3E}">
        <p14:creationId xmlns:p14="http://schemas.microsoft.com/office/powerpoint/2010/main" val="12557316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a:extLst>
              <a:ext uri="{FF2B5EF4-FFF2-40B4-BE49-F238E27FC236}">
                <a16:creationId xmlns:a16="http://schemas.microsoft.com/office/drawing/2014/main" id="{1A19AF43-CC93-464A-A0AD-04922D278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692696"/>
            <a:ext cx="7488237" cy="569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690C7EFC-7E74-44EB-BE7C-9E0D5E5BAC82}"/>
              </a:ext>
            </a:extLst>
          </p:cNvPr>
          <p:cNvSpPr txBox="1"/>
          <p:nvPr/>
        </p:nvSpPr>
        <p:spPr>
          <a:xfrm>
            <a:off x="755576" y="1196752"/>
            <a:ext cx="4492810" cy="400110"/>
          </a:xfrm>
          <a:prstGeom prst="rect">
            <a:avLst/>
          </a:prstGeom>
          <a:solidFill>
            <a:schemeClr val="bg1"/>
          </a:solidFill>
        </p:spPr>
        <p:txBody>
          <a:bodyPr wrap="square" rtlCol="0">
            <a:spAutoFit/>
          </a:bodyPr>
          <a:lstStyle/>
          <a:p>
            <a:r>
              <a:rPr lang="en-US" altLang="zh-CN" sz="2000" dirty="0"/>
              <a:t>Input Present   Excitation  Output Z</a:t>
            </a:r>
            <a:endParaRPr lang="zh-CN" altLang="en-US" sz="3600" dirty="0"/>
          </a:p>
        </p:txBody>
      </p:sp>
    </p:spTree>
    <p:extLst>
      <p:ext uri="{BB962C8B-B14F-4D97-AF65-F5344CB8AC3E}">
        <p14:creationId xmlns:p14="http://schemas.microsoft.com/office/powerpoint/2010/main" val="40246772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3">
            <a:extLst>
              <a:ext uri="{FF2B5EF4-FFF2-40B4-BE49-F238E27FC236}">
                <a16:creationId xmlns:a16="http://schemas.microsoft.com/office/drawing/2014/main" id="{13D669F8-57BC-4570-9A07-C92981302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836613"/>
            <a:ext cx="7345363" cy="5538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Lst>
        </p:spPr>
      </p:pic>
      <p:sp>
        <p:nvSpPr>
          <p:cNvPr id="3" name="文本框 2">
            <a:extLst>
              <a:ext uri="{FF2B5EF4-FFF2-40B4-BE49-F238E27FC236}">
                <a16:creationId xmlns:a16="http://schemas.microsoft.com/office/drawing/2014/main" id="{B32D06F9-D8C9-48B5-A53F-5F1EE117B6AC}"/>
              </a:ext>
            </a:extLst>
          </p:cNvPr>
          <p:cNvSpPr txBox="1"/>
          <p:nvPr/>
        </p:nvSpPr>
        <p:spPr>
          <a:xfrm>
            <a:off x="1187624" y="980728"/>
            <a:ext cx="2808312" cy="646331"/>
          </a:xfrm>
          <a:prstGeom prst="rect">
            <a:avLst/>
          </a:prstGeom>
          <a:solidFill>
            <a:schemeClr val="bg1"/>
          </a:solidFill>
        </p:spPr>
        <p:txBody>
          <a:bodyPr wrap="square" rtlCol="0">
            <a:spAutoFit/>
          </a:bodyPr>
          <a:lstStyle/>
          <a:p>
            <a:r>
              <a:rPr lang="en-US" altLang="zh-CN" sz="1800" dirty="0"/>
              <a:t>Draw the logic circuit diagram</a:t>
            </a:r>
            <a:endParaRPr lang="zh-CN" altLang="en-US" sz="1800" dirty="0"/>
          </a:p>
        </p:txBody>
      </p:sp>
    </p:spTree>
    <p:extLst>
      <p:ext uri="{BB962C8B-B14F-4D97-AF65-F5344CB8AC3E}">
        <p14:creationId xmlns:p14="http://schemas.microsoft.com/office/powerpoint/2010/main" val="30185970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主题1">
  <a:themeElements>
    <a:clrScheme name="自定义 5">
      <a:dk1>
        <a:sysClr val="windowText" lastClr="000000"/>
      </a:dk1>
      <a:lt1>
        <a:sysClr val="window" lastClr="FFFFFF"/>
      </a:lt1>
      <a:dk2>
        <a:srgbClr val="775F55"/>
      </a:dk2>
      <a:lt2>
        <a:srgbClr val="EBDDC3"/>
      </a:lt2>
      <a:accent1>
        <a:srgbClr val="004E9D"/>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自定义 2">
      <a:majorFont>
        <a:latin typeface="Calibri"/>
        <a:ea typeface="华文仿宋"/>
        <a:cs typeface=""/>
      </a:majorFont>
      <a:minorFont>
        <a:latin typeface="Calibri"/>
        <a:ea typeface="华文仿宋"/>
        <a:cs typeface=""/>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17565</TotalTime>
  <Pages>39</Pages>
  <Words>1553</Words>
  <Application>Microsoft Office PowerPoint</Application>
  <PresentationFormat>全屏显示(4:3)</PresentationFormat>
  <Paragraphs>483</Paragraphs>
  <Slides>63</Slides>
  <Notes>63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63</vt:i4>
      </vt:variant>
    </vt:vector>
  </HeadingPairs>
  <TitlesOfParts>
    <vt:vector size="74" baseType="lpstr">
      <vt:lpstr>华文仿宋</vt:lpstr>
      <vt:lpstr>宋体</vt:lpstr>
      <vt:lpstr>Arial</vt:lpstr>
      <vt:lpstr>Calibri</vt:lpstr>
      <vt:lpstr>Times New Roman</vt:lpstr>
      <vt:lpstr>Wingdings</vt:lpstr>
      <vt:lpstr>Wingdings 2</vt:lpstr>
      <vt:lpstr>Wingdings 3</vt:lpstr>
      <vt:lpstr>主题1</vt:lpstr>
      <vt:lpstr>Bitmap Image</vt:lpstr>
      <vt:lpstr>Microsoft 公式 3.0</vt:lpstr>
      <vt:lpstr>CST 205 Digital logic</vt:lpstr>
      <vt:lpstr>PowerPoint 演示文稿</vt:lpstr>
      <vt:lpstr>PowerPoint 演示文稿</vt:lpstr>
      <vt:lpstr> </vt:lpstr>
      <vt:lpstr>The next states are identical </vt:lpstr>
      <vt:lpstr>The next states are symmetric</vt:lpstr>
      <vt:lpstr>The next states are symmetric</vt:lpstr>
      <vt:lpstr>The next states are cyclic or points to an equivalent pare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Practise-State Reduction with the implicant chart</vt:lpstr>
      <vt:lpstr>Practise-Answer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Practice</vt:lpstr>
      <vt:lpstr>Answer:</vt:lpstr>
      <vt:lpstr>PowerPoint 演示文稿</vt:lpstr>
      <vt:lpstr>Flip-flop excitation table</vt:lpstr>
      <vt:lpstr>Flip-flop excitation table</vt:lpstr>
      <vt:lpstr>Flip-flop excitation table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Savitch Prog Prob Solving w/ C++ 3rd PPT slides</dc:subject>
  <dc:creator>David B. Teague</dc:creator>
  <cp:lastModifiedBy>Fei</cp:lastModifiedBy>
  <cp:revision>489</cp:revision>
  <cp:lastPrinted>2018-07-18T06:57:25Z</cp:lastPrinted>
  <dcterms:created xsi:type="dcterms:W3CDTF">1995-09-17T23:17:46Z</dcterms:created>
  <dcterms:modified xsi:type="dcterms:W3CDTF">2018-07-26T13:03:34Z</dcterms:modified>
</cp:coreProperties>
</file>