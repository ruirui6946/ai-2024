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756" r:id="rId1"/>
  </p:sldMasterIdLst>
  <p:notesMasterIdLst>
    <p:notesMasterId r:id="rId24"/>
  </p:notesMasterIdLst>
  <p:handoutMasterIdLst>
    <p:handoutMasterId r:id="rId25"/>
  </p:handoutMasterIdLst>
  <p:sldIdLst>
    <p:sldId id="256" r:id="rId2"/>
    <p:sldId id="258" r:id="rId3"/>
    <p:sldId id="259" r:id="rId4"/>
    <p:sldId id="260" r:id="rId5"/>
    <p:sldId id="261" r:id="rId6"/>
    <p:sldId id="262" r:id="rId7"/>
    <p:sldId id="263" r:id="rId8"/>
    <p:sldId id="264" r:id="rId9"/>
    <p:sldId id="265" r:id="rId10"/>
    <p:sldId id="393" r:id="rId11"/>
    <p:sldId id="267" r:id="rId12"/>
    <p:sldId id="268" r:id="rId13"/>
    <p:sldId id="269" r:id="rId14"/>
    <p:sldId id="270" r:id="rId15"/>
    <p:sldId id="406" r:id="rId16"/>
    <p:sldId id="271" r:id="rId17"/>
    <p:sldId id="407" r:id="rId18"/>
    <p:sldId id="272" r:id="rId19"/>
    <p:sldId id="408" r:id="rId20"/>
    <p:sldId id="532" r:id="rId21"/>
    <p:sldId id="533" r:id="rId22"/>
    <p:sldId id="273" r:id="rId23"/>
  </p:sldIdLst>
  <p:sldSz cx="9144000" cy="6858000" type="screen4x3"/>
  <p:notesSz cx="6858000" cy="9144000"/>
  <p:defaultTextStyle>
    <a:defPPr>
      <a:defRPr lang="en-US"/>
    </a:defPPr>
    <a:lvl1pPr algn="l" rtl="0" eaLnBrk="0" fontAlgn="base" hangingPunct="0">
      <a:spcBef>
        <a:spcPct val="0"/>
      </a:spcBef>
      <a:spcAft>
        <a:spcPct val="0"/>
      </a:spcAft>
      <a:defRPr sz="2400" b="1" kern="1200">
        <a:solidFill>
          <a:schemeClr val="tx1"/>
        </a:solidFill>
        <a:latin typeface="Arial" charset="0"/>
        <a:ea typeface="+mn-ea"/>
        <a:cs typeface="+mn-cs"/>
      </a:defRPr>
    </a:lvl1pPr>
    <a:lvl2pPr marL="457200" algn="l" rtl="0" eaLnBrk="0" fontAlgn="base" hangingPunct="0">
      <a:spcBef>
        <a:spcPct val="0"/>
      </a:spcBef>
      <a:spcAft>
        <a:spcPct val="0"/>
      </a:spcAft>
      <a:defRPr sz="2400" b="1" kern="1200">
        <a:solidFill>
          <a:schemeClr val="tx1"/>
        </a:solidFill>
        <a:latin typeface="Arial" charset="0"/>
        <a:ea typeface="+mn-ea"/>
        <a:cs typeface="+mn-cs"/>
      </a:defRPr>
    </a:lvl2pPr>
    <a:lvl3pPr marL="914400" algn="l" rtl="0" eaLnBrk="0" fontAlgn="base" hangingPunct="0">
      <a:spcBef>
        <a:spcPct val="0"/>
      </a:spcBef>
      <a:spcAft>
        <a:spcPct val="0"/>
      </a:spcAft>
      <a:defRPr sz="2400" b="1" kern="1200">
        <a:solidFill>
          <a:schemeClr val="tx1"/>
        </a:solidFill>
        <a:latin typeface="Arial" charset="0"/>
        <a:ea typeface="+mn-ea"/>
        <a:cs typeface="+mn-cs"/>
      </a:defRPr>
    </a:lvl3pPr>
    <a:lvl4pPr marL="1371600" algn="l" rtl="0" eaLnBrk="0" fontAlgn="base" hangingPunct="0">
      <a:spcBef>
        <a:spcPct val="0"/>
      </a:spcBef>
      <a:spcAft>
        <a:spcPct val="0"/>
      </a:spcAft>
      <a:defRPr sz="2400" b="1" kern="1200">
        <a:solidFill>
          <a:schemeClr val="tx1"/>
        </a:solidFill>
        <a:latin typeface="Arial" charset="0"/>
        <a:ea typeface="+mn-ea"/>
        <a:cs typeface="+mn-cs"/>
      </a:defRPr>
    </a:lvl4pPr>
    <a:lvl5pPr marL="1828800" algn="l" rtl="0" eaLnBrk="0" fontAlgn="base" hangingPunct="0">
      <a:spcBef>
        <a:spcPct val="0"/>
      </a:spcBef>
      <a:spcAft>
        <a:spcPct val="0"/>
      </a:spcAft>
      <a:defRPr sz="2400" b="1" kern="1200">
        <a:solidFill>
          <a:schemeClr val="tx1"/>
        </a:solidFill>
        <a:latin typeface="Arial" charset="0"/>
        <a:ea typeface="+mn-ea"/>
        <a:cs typeface="+mn-cs"/>
      </a:defRPr>
    </a:lvl5pPr>
    <a:lvl6pPr marL="2286000" algn="l" defTabSz="914400" rtl="0" eaLnBrk="1" latinLnBrk="0" hangingPunct="1">
      <a:defRPr sz="2400" b="1" kern="1200">
        <a:solidFill>
          <a:schemeClr val="tx1"/>
        </a:solidFill>
        <a:latin typeface="Arial" charset="0"/>
        <a:ea typeface="+mn-ea"/>
        <a:cs typeface="+mn-cs"/>
      </a:defRPr>
    </a:lvl6pPr>
    <a:lvl7pPr marL="2743200" algn="l" defTabSz="914400" rtl="0" eaLnBrk="1" latinLnBrk="0" hangingPunct="1">
      <a:defRPr sz="2400" b="1" kern="1200">
        <a:solidFill>
          <a:schemeClr val="tx1"/>
        </a:solidFill>
        <a:latin typeface="Arial" charset="0"/>
        <a:ea typeface="+mn-ea"/>
        <a:cs typeface="+mn-cs"/>
      </a:defRPr>
    </a:lvl7pPr>
    <a:lvl8pPr marL="3200400" algn="l" defTabSz="914400" rtl="0" eaLnBrk="1" latinLnBrk="0" hangingPunct="1">
      <a:defRPr sz="2400" b="1" kern="1200">
        <a:solidFill>
          <a:schemeClr val="tx1"/>
        </a:solidFill>
        <a:latin typeface="Arial" charset="0"/>
        <a:ea typeface="+mn-ea"/>
        <a:cs typeface="+mn-cs"/>
      </a:defRPr>
    </a:lvl8pPr>
    <a:lvl9pPr marL="3657600" algn="l" defTabSz="914400" rtl="0" eaLnBrk="1" latinLnBrk="0" hangingPunct="1">
      <a:defRPr sz="2400" b="1"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160">
          <p15:clr>
            <a:srgbClr val="A4A3A4"/>
          </p15:clr>
        </p15:guide>
        <p15:guide id="2" pos="288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uncongLin" initials="J" lastIdx="2" clrIdx="0">
    <p:extLst>
      <p:ext uri="{19B8F6BF-5375-455C-9EA6-DF929625EA0E}">
        <p15:presenceInfo xmlns:p15="http://schemas.microsoft.com/office/powerpoint/2012/main" userId="JuncongLi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33FF"/>
    <a:srgbClr val="CC9900"/>
    <a:srgbClr val="990066"/>
    <a:srgbClr val="FF00CC"/>
    <a:srgbClr val="FFCC66"/>
    <a:srgbClr val="FFFFFF"/>
    <a:srgbClr val="336633"/>
    <a:srgbClr val="0066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5303" autoAdjust="0"/>
  </p:normalViewPr>
  <p:slideViewPr>
    <p:cSldViewPr>
      <p:cViewPr varScale="1">
        <p:scale>
          <a:sx n="124" d="100"/>
          <a:sy n="124" d="100"/>
        </p:scale>
        <p:origin x="2860"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33" d="100"/>
          <a:sy n="33" d="100"/>
        </p:scale>
        <p:origin x="-1052" y="-76"/>
      </p:cViewPr>
      <p:guideLst>
        <p:guide orient="horz" pos="2160"/>
        <p:guide pos="288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ei Chao [fec10]" userId="d04ef460-7ce3-4f98-ac53-8418292f441e" providerId="ADAL" clId="{C1803475-0E1E-4033-A680-12630ADCF665}"/>
    <pc:docChg chg="modSld">
      <pc:chgData name="Fei Chao [fec10]" userId="d04ef460-7ce3-4f98-ac53-8418292f441e" providerId="ADAL" clId="{C1803475-0E1E-4033-A680-12630ADCF665}" dt="2020-04-27T15:58:15.185" v="16" actId="20577"/>
      <pc:docMkLst>
        <pc:docMk/>
      </pc:docMkLst>
      <pc:sldChg chg="modSp">
        <pc:chgData name="Fei Chao [fec10]" userId="d04ef460-7ce3-4f98-ac53-8418292f441e" providerId="ADAL" clId="{C1803475-0E1E-4033-A680-12630ADCF665}" dt="2020-04-27T15:57:47.599" v="4" actId="1076"/>
        <pc:sldMkLst>
          <pc:docMk/>
          <pc:sldMk cId="0" sldId="256"/>
        </pc:sldMkLst>
        <pc:spChg chg="mod">
          <ac:chgData name="Fei Chao [fec10]" userId="d04ef460-7ce3-4f98-ac53-8418292f441e" providerId="ADAL" clId="{C1803475-0E1E-4033-A680-12630ADCF665}" dt="2020-04-27T15:57:40.182" v="0" actId="20577"/>
          <ac:spMkLst>
            <pc:docMk/>
            <pc:sldMk cId="0" sldId="256"/>
            <ac:spMk id="2" creationId="{00000000-0000-0000-0000-000000000000}"/>
          </ac:spMkLst>
        </pc:spChg>
        <pc:spChg chg="mod">
          <ac:chgData name="Fei Chao [fec10]" userId="d04ef460-7ce3-4f98-ac53-8418292f441e" providerId="ADAL" clId="{C1803475-0E1E-4033-A680-12630ADCF665}" dt="2020-04-27T15:57:47.599" v="4" actId="1076"/>
          <ac:spMkLst>
            <pc:docMk/>
            <pc:sldMk cId="0" sldId="256"/>
            <ac:spMk id="2051" creationId="{00000000-0000-0000-0000-000000000000}"/>
          </ac:spMkLst>
        </pc:spChg>
      </pc:sldChg>
      <pc:sldChg chg="modSp">
        <pc:chgData name="Fei Chao [fec10]" userId="d04ef460-7ce3-4f98-ac53-8418292f441e" providerId="ADAL" clId="{C1803475-0E1E-4033-A680-12630ADCF665}" dt="2020-04-27T15:58:15.185" v="16" actId="20577"/>
        <pc:sldMkLst>
          <pc:docMk/>
          <pc:sldMk cId="2268183739" sldId="267"/>
        </pc:sldMkLst>
        <pc:spChg chg="mod">
          <ac:chgData name="Fei Chao [fec10]" userId="d04ef460-7ce3-4f98-ac53-8418292f441e" providerId="ADAL" clId="{C1803475-0E1E-4033-A680-12630ADCF665}" dt="2020-04-27T15:58:15.185" v="16" actId="20577"/>
          <ac:spMkLst>
            <pc:docMk/>
            <pc:sldMk cId="2268183739" sldId="267"/>
            <ac:spMk id="13315" creationId="{8F206C8D-5841-44AC-AA3A-ABFABD6BE808}"/>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19050" tIns="0" rIns="19050" bIns="0" numCol="1" anchor="t" anchorCtr="0" compatLnSpc="1">
            <a:prstTxWarp prst="textNoShape">
              <a:avLst/>
            </a:prstTxWarp>
          </a:bodyPr>
          <a:lstStyle>
            <a:lvl1pPr>
              <a:defRPr sz="1000" b="0" i="1"/>
            </a:lvl1pPr>
          </a:lstStyle>
          <a:p>
            <a:pPr>
              <a:defRPr/>
            </a:pPr>
            <a:endParaRPr lang="en-US" altLang="zh-CN"/>
          </a:p>
        </p:txBody>
      </p:sp>
      <p:sp>
        <p:nvSpPr>
          <p:cNvPr id="3075"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19050" tIns="0" rIns="19050" bIns="0" numCol="1" anchor="t" anchorCtr="0" compatLnSpc="1">
            <a:prstTxWarp prst="textNoShape">
              <a:avLst/>
            </a:prstTxWarp>
          </a:bodyPr>
          <a:lstStyle>
            <a:lvl1pPr algn="r">
              <a:defRPr sz="1000" b="0" i="1"/>
            </a:lvl1pPr>
          </a:lstStyle>
          <a:p>
            <a:pPr>
              <a:defRPr/>
            </a:pPr>
            <a:endParaRPr lang="en-US" altLang="zh-CN"/>
          </a:p>
        </p:txBody>
      </p:sp>
      <p:sp>
        <p:nvSpPr>
          <p:cNvPr id="3076"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19050" tIns="0" rIns="19050" bIns="0" numCol="1" anchor="b" anchorCtr="0" compatLnSpc="1">
            <a:prstTxWarp prst="textNoShape">
              <a:avLst/>
            </a:prstTxWarp>
          </a:bodyPr>
          <a:lstStyle>
            <a:lvl1pPr>
              <a:defRPr sz="1000" b="0" i="1"/>
            </a:lvl1pPr>
          </a:lstStyle>
          <a:p>
            <a:pPr>
              <a:defRPr/>
            </a:pPr>
            <a:endParaRPr lang="en-US" altLang="zh-CN"/>
          </a:p>
        </p:txBody>
      </p:sp>
      <p:sp>
        <p:nvSpPr>
          <p:cNvPr id="3077"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19050" tIns="0" rIns="19050" bIns="0" numCol="1" anchor="b" anchorCtr="0" compatLnSpc="1">
            <a:prstTxWarp prst="textNoShape">
              <a:avLst/>
            </a:prstTxWarp>
          </a:bodyPr>
          <a:lstStyle>
            <a:lvl1pPr algn="r">
              <a:defRPr sz="1000" b="0" i="1"/>
            </a:lvl1pPr>
          </a:lstStyle>
          <a:p>
            <a:pPr>
              <a:defRPr/>
            </a:pPr>
            <a:fld id="{6F9760AB-977F-4615-82F3-8DF55A68E5D6}" type="slidenum">
              <a:rPr lang="en-US" altLang="zh-CN"/>
              <a:pPr>
                <a:defRPr/>
              </a:pPr>
              <a:t>‹#›</a:t>
            </a:fld>
            <a:endParaRPr lang="en-US" altLang="zh-CN"/>
          </a:p>
        </p:txBody>
      </p:sp>
      <p:sp>
        <p:nvSpPr>
          <p:cNvPr id="3078" name="Rectangle 6"/>
          <p:cNvSpPr>
            <a:spLocks noChangeArrowheads="1"/>
          </p:cNvSpPr>
          <p:nvPr/>
        </p:nvSpPr>
        <p:spPr bwMode="auto">
          <a:xfrm>
            <a:off x="6388100" y="8748713"/>
            <a:ext cx="401638" cy="304800"/>
          </a:xfrm>
          <a:prstGeom prst="rect">
            <a:avLst/>
          </a:prstGeom>
          <a:noFill/>
          <a:ln w="9525">
            <a:noFill/>
            <a:miter lim="800000"/>
            <a:headEnd/>
            <a:tailEnd/>
          </a:ln>
          <a:effectLst/>
        </p:spPr>
        <p:txBody>
          <a:bodyPr wrap="none" lIns="92075" tIns="46038" rIns="92075" bIns="46038" anchor="ctr">
            <a:spAutoFit/>
          </a:bodyPr>
          <a:lstStyle/>
          <a:p>
            <a:pPr algn="r">
              <a:defRPr/>
            </a:pPr>
            <a:fld id="{800E035F-D7FC-48D1-9EAF-D638DB53F1E2}" type="slidenum">
              <a:rPr lang="en-US" altLang="zh-CN" sz="1400" b="0"/>
              <a:pPr algn="r">
                <a:defRPr/>
              </a:pPr>
              <a:t>‹#›</a:t>
            </a:fld>
            <a:endParaRPr lang="en-US" altLang="zh-CN" sz="1400" b="0"/>
          </a:p>
        </p:txBody>
      </p:sp>
    </p:spTree>
    <p:extLst>
      <p:ext uri="{BB962C8B-B14F-4D97-AF65-F5344CB8AC3E}">
        <p14:creationId xmlns:p14="http://schemas.microsoft.com/office/powerpoint/2010/main" val="116439461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19050" tIns="0" rIns="19050" bIns="0" numCol="1" anchor="t" anchorCtr="0" compatLnSpc="1">
            <a:prstTxWarp prst="textNoShape">
              <a:avLst/>
            </a:prstTxWarp>
          </a:bodyPr>
          <a:lstStyle>
            <a:lvl1pPr>
              <a:defRPr sz="1000" b="0" i="1">
                <a:latin typeface="Times New Roman" pitchFamily="18" charset="0"/>
              </a:defRPr>
            </a:lvl1pPr>
          </a:lstStyle>
          <a:p>
            <a:pPr>
              <a:defRPr/>
            </a:pPr>
            <a:endParaRPr lang="en-US" altLang="zh-CN"/>
          </a:p>
        </p:txBody>
      </p:sp>
      <p:sp>
        <p:nvSpPr>
          <p:cNvPr id="2051"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19050" tIns="0" rIns="19050" bIns="0" numCol="1" anchor="t" anchorCtr="0" compatLnSpc="1">
            <a:prstTxWarp prst="textNoShape">
              <a:avLst/>
            </a:prstTxWarp>
          </a:bodyPr>
          <a:lstStyle>
            <a:lvl1pPr algn="r">
              <a:defRPr sz="1000" b="0" i="1">
                <a:latin typeface="Times New Roman" pitchFamily="18" charset="0"/>
              </a:defRPr>
            </a:lvl1pPr>
          </a:lstStyle>
          <a:p>
            <a:pPr>
              <a:defRPr/>
            </a:pPr>
            <a:endParaRPr lang="en-US" altLang="zh-CN"/>
          </a:p>
        </p:txBody>
      </p:sp>
      <p:sp>
        <p:nvSpPr>
          <p:cNvPr id="2052" name="Rectangle 4"/>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19050" tIns="0" rIns="19050" bIns="0" numCol="1" anchor="b" anchorCtr="0" compatLnSpc="1">
            <a:prstTxWarp prst="textNoShape">
              <a:avLst/>
            </a:prstTxWarp>
          </a:bodyPr>
          <a:lstStyle>
            <a:lvl1pPr>
              <a:defRPr sz="1000" b="0" i="1">
                <a:latin typeface="Times New Roman" pitchFamily="18" charset="0"/>
              </a:defRPr>
            </a:lvl1pPr>
          </a:lstStyle>
          <a:p>
            <a:pPr>
              <a:defRPr/>
            </a:pPr>
            <a:endParaRPr lang="en-US" altLang="zh-CN"/>
          </a:p>
        </p:txBody>
      </p:sp>
      <p:sp>
        <p:nvSpPr>
          <p:cNvPr id="2053" name="Rectangle 5"/>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19050" tIns="0" rIns="19050" bIns="0" numCol="1" anchor="b" anchorCtr="0" compatLnSpc="1">
            <a:prstTxWarp prst="textNoShape">
              <a:avLst/>
            </a:prstTxWarp>
          </a:bodyPr>
          <a:lstStyle>
            <a:lvl1pPr algn="r">
              <a:defRPr sz="1000" b="0" i="1">
                <a:latin typeface="Times New Roman" pitchFamily="18" charset="0"/>
              </a:defRPr>
            </a:lvl1pPr>
          </a:lstStyle>
          <a:p>
            <a:pPr>
              <a:defRPr/>
            </a:pPr>
            <a:fld id="{11BED571-E5F1-424D-995A-4E3B27C438A1}" type="slidenum">
              <a:rPr lang="en-US" altLang="zh-CN"/>
              <a:pPr>
                <a:defRPr/>
              </a:pPr>
              <a:t>‹#›</a:t>
            </a:fld>
            <a:endParaRPr lang="en-US" altLang="zh-CN"/>
          </a:p>
        </p:txBody>
      </p:sp>
      <p:sp>
        <p:nvSpPr>
          <p:cNvPr id="2054" name="Rectangle 6"/>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2075" tIns="46038" rIns="92075" bIns="46038" numCol="1" anchor="t" anchorCtr="0" compatLnSpc="1">
            <a:prstTxWarp prst="textNoShape">
              <a:avLst/>
            </a:prstTxWarp>
          </a:bodyPr>
          <a:lstStyle/>
          <a:p>
            <a:pPr lvl="0"/>
            <a:r>
              <a:rPr lang="en-US" altLang="zh-CN" noProof="0"/>
              <a:t>Click to edit Master notes styles</a:t>
            </a:r>
          </a:p>
          <a:p>
            <a:pPr lvl="1"/>
            <a:r>
              <a:rPr lang="en-US" altLang="zh-CN" noProof="0"/>
              <a:t>Second Level</a:t>
            </a:r>
          </a:p>
          <a:p>
            <a:pPr lvl="2"/>
            <a:r>
              <a:rPr lang="en-US" altLang="zh-CN" noProof="0"/>
              <a:t>Third Level</a:t>
            </a:r>
          </a:p>
          <a:p>
            <a:pPr lvl="3"/>
            <a:r>
              <a:rPr lang="en-US" altLang="zh-CN" noProof="0"/>
              <a:t>Fourth Level</a:t>
            </a:r>
          </a:p>
          <a:p>
            <a:pPr lvl="4"/>
            <a:r>
              <a:rPr lang="en-US" altLang="zh-CN" noProof="0"/>
              <a:t>Fifth Level</a:t>
            </a:r>
          </a:p>
        </p:txBody>
      </p:sp>
      <p:sp>
        <p:nvSpPr>
          <p:cNvPr id="21511" name="Rectangle 7"/>
          <p:cNvSpPr>
            <a:spLocks noGrp="1" noRot="1" noChangeAspect="1" noChangeArrowheads="1" noTextEdit="1"/>
          </p:cNvSpPr>
          <p:nvPr>
            <p:ph type="sldImg" idx="2"/>
          </p:nvPr>
        </p:nvSpPr>
        <p:spPr bwMode="auto">
          <a:xfrm>
            <a:off x="1149350" y="692150"/>
            <a:ext cx="4559300" cy="3416300"/>
          </a:xfrm>
          <a:prstGeom prst="rect">
            <a:avLst/>
          </a:prstGeom>
          <a:noFill/>
          <a:ln w="12699">
            <a:solidFill>
              <a:schemeClr val="tx1"/>
            </a:solidFill>
            <a:miter lim="800000"/>
            <a:headEnd/>
            <a:tailEnd/>
          </a:ln>
        </p:spPr>
      </p:sp>
      <p:sp>
        <p:nvSpPr>
          <p:cNvPr id="2056" name="Rectangle 8"/>
          <p:cNvSpPr>
            <a:spLocks noChangeArrowheads="1"/>
          </p:cNvSpPr>
          <p:nvPr/>
        </p:nvSpPr>
        <p:spPr bwMode="auto">
          <a:xfrm>
            <a:off x="6388100" y="8748713"/>
            <a:ext cx="401638" cy="304800"/>
          </a:xfrm>
          <a:prstGeom prst="rect">
            <a:avLst/>
          </a:prstGeom>
          <a:noFill/>
          <a:ln w="9525">
            <a:noFill/>
            <a:miter lim="800000"/>
            <a:headEnd/>
            <a:tailEnd/>
          </a:ln>
          <a:effectLst/>
        </p:spPr>
        <p:txBody>
          <a:bodyPr wrap="none" lIns="92075" tIns="46038" rIns="92075" bIns="46038" anchor="ctr">
            <a:spAutoFit/>
          </a:bodyPr>
          <a:lstStyle/>
          <a:p>
            <a:pPr algn="r">
              <a:defRPr/>
            </a:pPr>
            <a:fld id="{5E2CB8CD-A670-4E4A-8A6F-54AD49D8B704}" type="slidenum">
              <a:rPr lang="en-US" altLang="zh-CN" sz="1400" b="0"/>
              <a:pPr algn="r">
                <a:defRPr/>
              </a:pPr>
              <a:t>‹#›</a:t>
            </a:fld>
            <a:endParaRPr lang="en-US" altLang="zh-CN" sz="1400" b="0"/>
          </a:p>
        </p:txBody>
      </p:sp>
    </p:spTree>
    <p:extLst>
      <p:ext uri="{BB962C8B-B14F-4D97-AF65-F5344CB8AC3E}">
        <p14:creationId xmlns:p14="http://schemas.microsoft.com/office/powerpoint/2010/main" val="365446495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5"/>
          <p:cNvSpPr>
            <a:spLocks noGrp="1" noChangeArrowheads="1"/>
          </p:cNvSpPr>
          <p:nvPr>
            <p:ph type="sldNum" sz="quarter" idx="5"/>
          </p:nvPr>
        </p:nvSpPr>
        <p:spPr>
          <a:noFill/>
        </p:spPr>
        <p:txBody>
          <a:bodyPr/>
          <a:lstStyle/>
          <a:p>
            <a:fld id="{72536CCF-0DFC-4852-B5BD-F95A69BE095B}" type="slidenum">
              <a:rPr lang="en-US" altLang="zh-CN" smtClean="0"/>
              <a:pPr/>
              <a:t>1</a:t>
            </a:fld>
            <a:endParaRPr lang="en-US" altLang="zh-CN"/>
          </a:p>
        </p:txBody>
      </p:sp>
      <p:sp>
        <p:nvSpPr>
          <p:cNvPr id="22531" name="Rectangle 2"/>
          <p:cNvSpPr>
            <a:spLocks noGrp="1" noRot="1" noChangeAspect="1" noChangeArrowheads="1" noTextEdit="1"/>
          </p:cNvSpPr>
          <p:nvPr>
            <p:ph type="sldImg"/>
          </p:nvPr>
        </p:nvSpPr>
        <p:spPr>
          <a:xfrm>
            <a:off x="1150938" y="692150"/>
            <a:ext cx="4556125" cy="3416300"/>
          </a:xfrm>
          <a:ln cap="flat"/>
        </p:spPr>
      </p:sp>
      <p:sp>
        <p:nvSpPr>
          <p:cNvPr id="22532" name="Rectangle 3"/>
          <p:cNvSpPr>
            <a:spLocks noGrp="1" noChangeArrowheads="1"/>
          </p:cNvSpPr>
          <p:nvPr>
            <p:ph type="body" idx="1"/>
          </p:nvPr>
        </p:nvSpPr>
        <p:spPr>
          <a:noFill/>
          <a:ln/>
        </p:spPr>
        <p:txBody>
          <a:bodyPr/>
          <a:lstStyle/>
          <a:p>
            <a:pPr algn="l"/>
            <a:endParaRPr lang="zh-CN" altLang="zh-CN" dirty="0"/>
          </a:p>
        </p:txBody>
      </p:sp>
    </p:spTree>
    <p:extLst>
      <p:ext uri="{BB962C8B-B14F-4D97-AF65-F5344CB8AC3E}">
        <p14:creationId xmlns:p14="http://schemas.microsoft.com/office/powerpoint/2010/main" val="1397859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2</a:t>
            </a:fld>
            <a:endParaRPr lang="en-US" altLang="zh-CN"/>
          </a:p>
        </p:txBody>
      </p:sp>
    </p:spTree>
    <p:extLst>
      <p:ext uri="{BB962C8B-B14F-4D97-AF65-F5344CB8AC3E}">
        <p14:creationId xmlns:p14="http://schemas.microsoft.com/office/powerpoint/2010/main" val="9245340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3</a:t>
            </a:fld>
            <a:endParaRPr lang="en-US" altLang="zh-CN"/>
          </a:p>
        </p:txBody>
      </p:sp>
    </p:spTree>
    <p:extLst>
      <p:ext uri="{BB962C8B-B14F-4D97-AF65-F5344CB8AC3E}">
        <p14:creationId xmlns:p14="http://schemas.microsoft.com/office/powerpoint/2010/main" val="5911528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4</a:t>
            </a:fld>
            <a:endParaRPr lang="en-US" altLang="zh-CN"/>
          </a:p>
        </p:txBody>
      </p:sp>
    </p:spTree>
    <p:extLst>
      <p:ext uri="{BB962C8B-B14F-4D97-AF65-F5344CB8AC3E}">
        <p14:creationId xmlns:p14="http://schemas.microsoft.com/office/powerpoint/2010/main" val="13063158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5</a:t>
            </a:fld>
            <a:endParaRPr lang="en-US" altLang="zh-CN"/>
          </a:p>
        </p:txBody>
      </p:sp>
    </p:spTree>
    <p:extLst>
      <p:ext uri="{BB962C8B-B14F-4D97-AF65-F5344CB8AC3E}">
        <p14:creationId xmlns:p14="http://schemas.microsoft.com/office/powerpoint/2010/main" val="4765290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6</a:t>
            </a:fld>
            <a:endParaRPr lang="en-US" altLang="zh-CN"/>
          </a:p>
        </p:txBody>
      </p:sp>
    </p:spTree>
    <p:extLst>
      <p:ext uri="{BB962C8B-B14F-4D97-AF65-F5344CB8AC3E}">
        <p14:creationId xmlns:p14="http://schemas.microsoft.com/office/powerpoint/2010/main" val="27634414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7</a:t>
            </a:fld>
            <a:endParaRPr lang="en-US" altLang="zh-CN"/>
          </a:p>
        </p:txBody>
      </p:sp>
    </p:spTree>
    <p:extLst>
      <p:ext uri="{BB962C8B-B14F-4D97-AF65-F5344CB8AC3E}">
        <p14:creationId xmlns:p14="http://schemas.microsoft.com/office/powerpoint/2010/main" val="28517801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8</a:t>
            </a:fld>
            <a:endParaRPr lang="en-US" altLang="zh-CN"/>
          </a:p>
        </p:txBody>
      </p:sp>
    </p:spTree>
    <p:extLst>
      <p:ext uri="{BB962C8B-B14F-4D97-AF65-F5344CB8AC3E}">
        <p14:creationId xmlns:p14="http://schemas.microsoft.com/office/powerpoint/2010/main" val="34513652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9</a:t>
            </a:fld>
            <a:endParaRPr lang="en-US" altLang="zh-CN"/>
          </a:p>
        </p:txBody>
      </p:sp>
    </p:spTree>
    <p:extLst>
      <p:ext uri="{BB962C8B-B14F-4D97-AF65-F5344CB8AC3E}">
        <p14:creationId xmlns:p14="http://schemas.microsoft.com/office/powerpoint/2010/main" val="35203348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10</a:t>
            </a:fld>
            <a:endParaRPr lang="en-US" altLang="zh-CN"/>
          </a:p>
        </p:txBody>
      </p:sp>
    </p:spTree>
    <p:extLst>
      <p:ext uri="{BB962C8B-B14F-4D97-AF65-F5344CB8AC3E}">
        <p14:creationId xmlns:p14="http://schemas.microsoft.com/office/powerpoint/2010/main" val="24783624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11</a:t>
            </a:fld>
            <a:endParaRPr lang="en-US" altLang="zh-CN"/>
          </a:p>
        </p:txBody>
      </p:sp>
    </p:spTree>
    <p:extLst>
      <p:ext uri="{BB962C8B-B14F-4D97-AF65-F5344CB8AC3E}">
        <p14:creationId xmlns:p14="http://schemas.microsoft.com/office/powerpoint/2010/main" val="42183209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12</a:t>
            </a:fld>
            <a:endParaRPr lang="en-US" altLang="zh-CN"/>
          </a:p>
        </p:txBody>
      </p:sp>
    </p:spTree>
    <p:extLst>
      <p:ext uri="{BB962C8B-B14F-4D97-AF65-F5344CB8AC3E}">
        <p14:creationId xmlns:p14="http://schemas.microsoft.com/office/powerpoint/2010/main" val="3629886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13</a:t>
            </a:fld>
            <a:endParaRPr lang="en-US" altLang="zh-CN"/>
          </a:p>
        </p:txBody>
      </p:sp>
    </p:spTree>
    <p:extLst>
      <p:ext uri="{BB962C8B-B14F-4D97-AF65-F5344CB8AC3E}">
        <p14:creationId xmlns:p14="http://schemas.microsoft.com/office/powerpoint/2010/main" val="35901827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14</a:t>
            </a:fld>
            <a:endParaRPr lang="en-US" altLang="zh-CN"/>
          </a:p>
        </p:txBody>
      </p:sp>
    </p:spTree>
    <p:extLst>
      <p:ext uri="{BB962C8B-B14F-4D97-AF65-F5344CB8AC3E}">
        <p14:creationId xmlns:p14="http://schemas.microsoft.com/office/powerpoint/2010/main" val="17546771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15</a:t>
            </a:fld>
            <a:endParaRPr lang="en-US" altLang="zh-CN"/>
          </a:p>
        </p:txBody>
      </p:sp>
    </p:spTree>
    <p:extLst>
      <p:ext uri="{BB962C8B-B14F-4D97-AF65-F5344CB8AC3E}">
        <p14:creationId xmlns:p14="http://schemas.microsoft.com/office/powerpoint/2010/main" val="241476587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16</a:t>
            </a:fld>
            <a:endParaRPr lang="en-US" altLang="zh-CN"/>
          </a:p>
        </p:txBody>
      </p:sp>
    </p:spTree>
    <p:extLst>
      <p:ext uri="{BB962C8B-B14F-4D97-AF65-F5344CB8AC3E}">
        <p14:creationId xmlns:p14="http://schemas.microsoft.com/office/powerpoint/2010/main" val="16170079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17</a:t>
            </a:fld>
            <a:endParaRPr lang="en-US" altLang="zh-CN"/>
          </a:p>
        </p:txBody>
      </p:sp>
    </p:spTree>
    <p:extLst>
      <p:ext uri="{BB962C8B-B14F-4D97-AF65-F5344CB8AC3E}">
        <p14:creationId xmlns:p14="http://schemas.microsoft.com/office/powerpoint/2010/main" val="243378887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18</a:t>
            </a:fld>
            <a:endParaRPr lang="en-US" altLang="zh-CN"/>
          </a:p>
        </p:txBody>
      </p:sp>
    </p:spTree>
    <p:extLst>
      <p:ext uri="{BB962C8B-B14F-4D97-AF65-F5344CB8AC3E}">
        <p14:creationId xmlns:p14="http://schemas.microsoft.com/office/powerpoint/2010/main" val="30856311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19</a:t>
            </a:fld>
            <a:endParaRPr lang="en-US" altLang="zh-CN"/>
          </a:p>
        </p:txBody>
      </p:sp>
    </p:spTree>
    <p:extLst>
      <p:ext uri="{BB962C8B-B14F-4D97-AF65-F5344CB8AC3E}">
        <p14:creationId xmlns:p14="http://schemas.microsoft.com/office/powerpoint/2010/main" val="347028576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20</a:t>
            </a:fld>
            <a:endParaRPr lang="en-US" altLang="zh-CN"/>
          </a:p>
        </p:txBody>
      </p:sp>
    </p:spTree>
    <p:extLst>
      <p:ext uri="{BB962C8B-B14F-4D97-AF65-F5344CB8AC3E}">
        <p14:creationId xmlns:p14="http://schemas.microsoft.com/office/powerpoint/2010/main" val="421868427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21</a:t>
            </a:fld>
            <a:endParaRPr lang="en-US" altLang="zh-CN"/>
          </a:p>
        </p:txBody>
      </p:sp>
    </p:spTree>
    <p:extLst>
      <p:ext uri="{BB962C8B-B14F-4D97-AF65-F5344CB8AC3E}">
        <p14:creationId xmlns:p14="http://schemas.microsoft.com/office/powerpoint/2010/main" val="105274026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1BED571-E5F1-424D-995A-4E3B27C438A1}" type="slidenum">
              <a:rPr lang="en-US" altLang="zh-CN" smtClean="0"/>
              <a:pPr>
                <a:defRPr/>
              </a:pPr>
              <a:t>22</a:t>
            </a:fld>
            <a:endParaRPr lang="en-US" altLang="zh-CN"/>
          </a:p>
        </p:txBody>
      </p:sp>
    </p:spTree>
    <p:extLst>
      <p:ext uri="{BB962C8B-B14F-4D97-AF65-F5344CB8AC3E}">
        <p14:creationId xmlns:p14="http://schemas.microsoft.com/office/powerpoint/2010/main" val="2193510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7" name="矩形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矩形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矩形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标题 7"/>
          <p:cNvSpPr>
            <a:spLocks noGrp="1"/>
          </p:cNvSpPr>
          <p:nvPr>
            <p:ph type="ctrTitle"/>
          </p:nvPr>
        </p:nvSpPr>
        <p:spPr>
          <a:xfrm>
            <a:off x="2362200" y="4038600"/>
            <a:ext cx="6477000" cy="1828800"/>
          </a:xfrm>
        </p:spPr>
        <p:txBody>
          <a:bodyPr anchor="b"/>
          <a:lstStyle>
            <a:lvl1pPr>
              <a:defRPr cap="all" baseline="0"/>
            </a:lvl1pPr>
          </a:lstStyle>
          <a:p>
            <a:r>
              <a:rPr kumimoji="0" lang="zh-CN" altLang="en-US"/>
              <a:t>单击此处编辑母版标题样式</a:t>
            </a:r>
            <a:endParaRPr kumimoji="0" lang="en-US"/>
          </a:p>
        </p:txBody>
      </p:sp>
      <p:sp>
        <p:nvSpPr>
          <p:cNvPr id="9" name="副标题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zh-CN" altLang="en-US"/>
              <a:t>单击此处编辑母版副标题样式</a:t>
            </a:r>
            <a:endParaRPr kumimoji="0" lang="en-US"/>
          </a:p>
        </p:txBody>
      </p:sp>
      <p:sp>
        <p:nvSpPr>
          <p:cNvPr id="28" name="日期占位符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pPr>
              <a:defRPr/>
            </a:pPr>
            <a:endParaRPr lang="en-US" altLang="zh-CN"/>
          </a:p>
        </p:txBody>
      </p:sp>
      <p:sp>
        <p:nvSpPr>
          <p:cNvPr id="17" name="页脚占位符 16"/>
          <p:cNvSpPr>
            <a:spLocks noGrp="1"/>
          </p:cNvSpPr>
          <p:nvPr>
            <p:ph type="ftr" sz="quarter" idx="11"/>
          </p:nvPr>
        </p:nvSpPr>
        <p:spPr>
          <a:xfrm>
            <a:off x="2085393" y="236538"/>
            <a:ext cx="5867400" cy="365125"/>
          </a:xfrm>
        </p:spPr>
        <p:txBody>
          <a:bodyPr/>
          <a:lstStyle>
            <a:lvl1pPr algn="r">
              <a:defRPr>
                <a:solidFill>
                  <a:schemeClr val="tx2"/>
                </a:solidFill>
              </a:defRPr>
            </a:lvl1pPr>
          </a:lstStyle>
          <a:p>
            <a:pPr>
              <a:defRPr/>
            </a:pPr>
            <a:endParaRPr lang="en-US" altLang="zh-CN"/>
          </a:p>
        </p:txBody>
      </p:sp>
      <p:sp>
        <p:nvSpPr>
          <p:cNvPr id="29" name="灯片编号占位符 28"/>
          <p:cNvSpPr>
            <a:spLocks noGrp="1"/>
          </p:cNvSpPr>
          <p:nvPr>
            <p:ph type="sldNum" sz="quarter" idx="12"/>
          </p:nvPr>
        </p:nvSpPr>
        <p:spPr>
          <a:xfrm>
            <a:off x="8001000" y="228600"/>
            <a:ext cx="838200" cy="381000"/>
          </a:xfrm>
        </p:spPr>
        <p:txBody>
          <a:bodyPr/>
          <a:lstStyle>
            <a:lvl1pPr>
              <a:defRPr>
                <a:solidFill>
                  <a:schemeClr val="tx2"/>
                </a:solidFill>
              </a:defRPr>
            </a:lvl1pPr>
          </a:lstStyle>
          <a:p>
            <a:pPr>
              <a:defRPr/>
            </a:pPr>
            <a:fld id="{ADCF3EF2-F322-4E21-864D-1732D6788AEE}" type="slidenum">
              <a:rPr lang="en-US" altLang="zh-CN" smtClean="0"/>
              <a:pPr>
                <a:defRPr/>
              </a:pPr>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12648" y="228600"/>
            <a:ext cx="8153400" cy="990600"/>
          </a:xfrm>
        </p:spPr>
        <p:txBody>
          <a:bodyPr/>
          <a:lstStyle/>
          <a:p>
            <a:r>
              <a:rPr kumimoji="0" lang="zh-CN" altLang="en-US"/>
              <a:t>单击此处编辑母版标题样式</a:t>
            </a:r>
            <a:endParaRPr kumimoji="0" lang="en-US"/>
          </a:p>
        </p:txBody>
      </p:sp>
      <p:sp>
        <p:nvSpPr>
          <p:cNvPr id="4" name="日期占位符 3"/>
          <p:cNvSpPr>
            <a:spLocks noGrp="1"/>
          </p:cNvSpPr>
          <p:nvPr>
            <p:ph type="dt" sz="half" idx="10"/>
          </p:nvPr>
        </p:nvSpPr>
        <p:spPr/>
        <p:txBody>
          <a:bodyPr/>
          <a:lstStyle/>
          <a:p>
            <a:pPr>
              <a:defRPr/>
            </a:pPr>
            <a:endParaRPr lang="en-US" altLang="zh-CN"/>
          </a:p>
        </p:txBody>
      </p:sp>
      <p:sp>
        <p:nvSpPr>
          <p:cNvPr id="5" name="页脚占位符 4"/>
          <p:cNvSpPr>
            <a:spLocks noGrp="1"/>
          </p:cNvSpPr>
          <p:nvPr>
            <p:ph type="ftr" sz="quarter" idx="11"/>
          </p:nvPr>
        </p:nvSpPr>
        <p:spPr/>
        <p:txBody>
          <a:bodyPr/>
          <a:lstStyle/>
          <a:p>
            <a:pPr>
              <a:defRPr/>
            </a:pPr>
            <a:endParaRPr lang="en-US" altLang="zh-CN"/>
          </a:p>
        </p:txBody>
      </p:sp>
      <p:sp>
        <p:nvSpPr>
          <p:cNvPr id="6" name="灯片编号占位符 5"/>
          <p:cNvSpPr>
            <a:spLocks noGrp="1"/>
          </p:cNvSpPr>
          <p:nvPr>
            <p:ph type="sldNum" sz="quarter" idx="12"/>
          </p:nvPr>
        </p:nvSpPr>
        <p:spPr/>
        <p:txBody>
          <a:bodyPr/>
          <a:lstStyle>
            <a:lvl1pPr>
              <a:defRPr>
                <a:solidFill>
                  <a:srgbClr val="FFFFFF"/>
                </a:solidFill>
              </a:defRPr>
            </a:lvl1pPr>
          </a:lstStyle>
          <a:p>
            <a:pPr>
              <a:defRPr/>
            </a:pPr>
            <a:fld id="{FF1D26DA-BD19-4D67-A8CD-98DF63851E82}" type="slidenum">
              <a:rPr lang="en-US" altLang="zh-CN" smtClean="0"/>
              <a:pPr>
                <a:defRPr/>
              </a:pPr>
              <a:t>‹#›</a:t>
            </a:fld>
            <a:endParaRPr lang="en-US" altLang="zh-CN"/>
          </a:p>
        </p:txBody>
      </p:sp>
      <p:sp>
        <p:nvSpPr>
          <p:cNvPr id="8" name="内容占位符 7"/>
          <p:cNvSpPr>
            <a:spLocks noGrp="1"/>
          </p:cNvSpPr>
          <p:nvPr>
            <p:ph sz="quarter" idx="1"/>
          </p:nvPr>
        </p:nvSpPr>
        <p:spPr>
          <a:xfrm>
            <a:off x="612648" y="1600200"/>
            <a:ext cx="8153400" cy="4495800"/>
          </a:xfrm>
        </p:spPr>
        <p:txBody>
          <a:body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zh-CN" altLang="en-US"/>
              <a:t>单击此处编辑母版文本样式</a:t>
            </a:r>
          </a:p>
        </p:txBody>
      </p:sp>
      <p:sp>
        <p:nvSpPr>
          <p:cNvPr id="7" name="矩形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矩形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矩形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标题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zh-CN" altLang="en-US"/>
              <a:t>单击此处编辑母版标题样式</a:t>
            </a:r>
            <a:endParaRPr kumimoji="0" lang="en-US"/>
          </a:p>
        </p:txBody>
      </p:sp>
      <p:sp>
        <p:nvSpPr>
          <p:cNvPr id="12" name="日期占位符 11"/>
          <p:cNvSpPr>
            <a:spLocks noGrp="1"/>
          </p:cNvSpPr>
          <p:nvPr>
            <p:ph type="dt" sz="half" idx="10"/>
          </p:nvPr>
        </p:nvSpPr>
        <p:spPr/>
        <p:txBody>
          <a:bodyPr/>
          <a:lstStyle/>
          <a:p>
            <a:pPr>
              <a:defRPr/>
            </a:pPr>
            <a:endParaRPr lang="en-US" altLang="zh-CN"/>
          </a:p>
        </p:txBody>
      </p:sp>
      <p:sp>
        <p:nvSpPr>
          <p:cNvPr id="13" name="灯片编号占位符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pPr>
              <a:defRPr/>
            </a:pPr>
            <a:fld id="{E4682576-72A6-44EC-96B8-1AE56513EF83}" type="slidenum">
              <a:rPr lang="en-US" altLang="zh-CN" smtClean="0"/>
              <a:pPr>
                <a:defRPr/>
              </a:pPr>
              <a:t>‹#›</a:t>
            </a:fld>
            <a:endParaRPr lang="en-US" altLang="zh-CN"/>
          </a:p>
        </p:txBody>
      </p:sp>
      <p:sp>
        <p:nvSpPr>
          <p:cNvPr id="14" name="页脚占位符 13"/>
          <p:cNvSpPr>
            <a:spLocks noGrp="1"/>
          </p:cNvSpPr>
          <p:nvPr>
            <p:ph type="ftr" sz="quarter" idx="12"/>
          </p:nvPr>
        </p:nvSpPr>
        <p:spPr/>
        <p:txBody>
          <a:bodyPr/>
          <a:lstStyle/>
          <a:p>
            <a:pPr>
              <a:defRPr/>
            </a:pPr>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9" name="内容占位符 8"/>
          <p:cNvSpPr>
            <a:spLocks noGrp="1"/>
          </p:cNvSpPr>
          <p:nvPr>
            <p:ph sz="quarter" idx="1"/>
          </p:nvPr>
        </p:nvSpPr>
        <p:spPr>
          <a:xfrm>
            <a:off x="609600" y="1589567"/>
            <a:ext cx="3886200" cy="4572000"/>
          </a:xfrm>
        </p:spPr>
        <p:txBody>
          <a:body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11" name="内容占位符 10"/>
          <p:cNvSpPr>
            <a:spLocks noGrp="1"/>
          </p:cNvSpPr>
          <p:nvPr>
            <p:ph sz="quarter" idx="2"/>
          </p:nvPr>
        </p:nvSpPr>
        <p:spPr>
          <a:xfrm>
            <a:off x="4844901" y="1589567"/>
            <a:ext cx="3886200" cy="4572000"/>
          </a:xfrm>
        </p:spPr>
        <p:txBody>
          <a:body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8" name="日期占位符 7"/>
          <p:cNvSpPr>
            <a:spLocks noGrp="1"/>
          </p:cNvSpPr>
          <p:nvPr>
            <p:ph type="dt" sz="half" idx="15"/>
          </p:nvPr>
        </p:nvSpPr>
        <p:spPr/>
        <p:txBody>
          <a:bodyPr rtlCol="0"/>
          <a:lstStyle/>
          <a:p>
            <a:pPr>
              <a:defRPr/>
            </a:pPr>
            <a:endParaRPr lang="en-US" altLang="zh-CN"/>
          </a:p>
        </p:txBody>
      </p:sp>
      <p:sp>
        <p:nvSpPr>
          <p:cNvPr id="10" name="灯片编号占位符 9"/>
          <p:cNvSpPr>
            <a:spLocks noGrp="1"/>
          </p:cNvSpPr>
          <p:nvPr>
            <p:ph type="sldNum" sz="quarter" idx="16"/>
          </p:nvPr>
        </p:nvSpPr>
        <p:spPr/>
        <p:txBody>
          <a:bodyPr rtlCol="0"/>
          <a:lstStyle/>
          <a:p>
            <a:pPr>
              <a:defRPr/>
            </a:pPr>
            <a:fld id="{EA7C041F-B668-4702-B9BD-BC37AC265F9E}" type="slidenum">
              <a:rPr lang="en-US" altLang="zh-CN" smtClean="0"/>
              <a:pPr>
                <a:defRPr/>
              </a:pPr>
              <a:t>‹#›</a:t>
            </a:fld>
            <a:endParaRPr lang="en-US" altLang="zh-CN"/>
          </a:p>
        </p:txBody>
      </p:sp>
      <p:sp>
        <p:nvSpPr>
          <p:cNvPr id="12" name="页脚占位符 11"/>
          <p:cNvSpPr>
            <a:spLocks noGrp="1"/>
          </p:cNvSpPr>
          <p:nvPr>
            <p:ph type="ftr" sz="quarter" idx="17"/>
          </p:nvPr>
        </p:nvSpPr>
        <p:spPr/>
        <p:txBody>
          <a:bodyPr rtlCol="0"/>
          <a:lstStyle/>
          <a:p>
            <a:pPr>
              <a:defRPr/>
            </a:pPr>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533400" y="273050"/>
            <a:ext cx="8153400" cy="869950"/>
          </a:xfrm>
        </p:spPr>
        <p:txBody>
          <a:bodyPr anchor="ctr"/>
          <a:lstStyle>
            <a:lvl1pPr>
              <a:defRPr/>
            </a:lvl1pPr>
          </a:lstStyle>
          <a:p>
            <a:r>
              <a:rPr kumimoji="0" lang="zh-CN" altLang="en-US"/>
              <a:t>单击此处编辑母版标题样式</a:t>
            </a:r>
            <a:endParaRPr kumimoji="0" lang="en-US"/>
          </a:p>
        </p:txBody>
      </p:sp>
      <p:sp>
        <p:nvSpPr>
          <p:cNvPr id="11" name="内容占位符 10"/>
          <p:cNvSpPr>
            <a:spLocks noGrp="1"/>
          </p:cNvSpPr>
          <p:nvPr>
            <p:ph sz="quarter" idx="2"/>
          </p:nvPr>
        </p:nvSpPr>
        <p:spPr>
          <a:xfrm>
            <a:off x="609600" y="2438400"/>
            <a:ext cx="3886200" cy="3581400"/>
          </a:xfrm>
        </p:spPr>
        <p:txBody>
          <a:body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13" name="内容占位符 12"/>
          <p:cNvSpPr>
            <a:spLocks noGrp="1"/>
          </p:cNvSpPr>
          <p:nvPr>
            <p:ph sz="quarter" idx="4"/>
          </p:nvPr>
        </p:nvSpPr>
        <p:spPr>
          <a:xfrm>
            <a:off x="4800600" y="2438400"/>
            <a:ext cx="3886200" cy="3581400"/>
          </a:xfrm>
        </p:spPr>
        <p:txBody>
          <a:body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10" name="日期占位符 9"/>
          <p:cNvSpPr>
            <a:spLocks noGrp="1"/>
          </p:cNvSpPr>
          <p:nvPr>
            <p:ph type="dt" sz="half" idx="15"/>
          </p:nvPr>
        </p:nvSpPr>
        <p:spPr/>
        <p:txBody>
          <a:bodyPr rtlCol="0"/>
          <a:lstStyle/>
          <a:p>
            <a:pPr>
              <a:defRPr/>
            </a:pPr>
            <a:endParaRPr lang="en-US" altLang="zh-CN"/>
          </a:p>
        </p:txBody>
      </p:sp>
      <p:sp>
        <p:nvSpPr>
          <p:cNvPr id="12" name="灯片编号占位符 11"/>
          <p:cNvSpPr>
            <a:spLocks noGrp="1"/>
          </p:cNvSpPr>
          <p:nvPr>
            <p:ph type="sldNum" sz="quarter" idx="16"/>
          </p:nvPr>
        </p:nvSpPr>
        <p:spPr/>
        <p:txBody>
          <a:bodyPr rtlCol="0"/>
          <a:lstStyle/>
          <a:p>
            <a:pPr>
              <a:defRPr/>
            </a:pPr>
            <a:fld id="{1D53936C-6C9A-4D0B-A677-26540B786F56}" type="slidenum">
              <a:rPr lang="en-US" altLang="zh-CN" smtClean="0"/>
              <a:pPr>
                <a:defRPr/>
              </a:pPr>
              <a:t>‹#›</a:t>
            </a:fld>
            <a:endParaRPr lang="en-US" altLang="zh-CN"/>
          </a:p>
        </p:txBody>
      </p:sp>
      <p:sp>
        <p:nvSpPr>
          <p:cNvPr id="14" name="页脚占位符 13"/>
          <p:cNvSpPr>
            <a:spLocks noGrp="1"/>
          </p:cNvSpPr>
          <p:nvPr>
            <p:ph type="ftr" sz="quarter" idx="17"/>
          </p:nvPr>
        </p:nvSpPr>
        <p:spPr/>
        <p:txBody>
          <a:bodyPr rtlCol="0"/>
          <a:lstStyle/>
          <a:p>
            <a:pPr>
              <a:defRPr/>
            </a:pPr>
            <a:endParaRPr lang="en-US" altLang="zh-CN"/>
          </a:p>
        </p:txBody>
      </p:sp>
      <p:sp>
        <p:nvSpPr>
          <p:cNvPr id="16" name="文本占位符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zh-CN" altLang="en-US"/>
              <a:t>单击此处编辑母版文本样式</a:t>
            </a:r>
          </a:p>
        </p:txBody>
      </p:sp>
      <p:sp>
        <p:nvSpPr>
          <p:cNvPr id="15" name="文本占位符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zh-CN" altLang="en-US"/>
              <a:t>单击此处编辑母版文本样式</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日期占位符 2"/>
          <p:cNvSpPr>
            <a:spLocks noGrp="1"/>
          </p:cNvSpPr>
          <p:nvPr>
            <p:ph type="dt" sz="half" idx="10"/>
          </p:nvPr>
        </p:nvSpPr>
        <p:spPr/>
        <p:txBody>
          <a:bodyPr/>
          <a:lstStyle/>
          <a:p>
            <a:pPr>
              <a:defRPr/>
            </a:pPr>
            <a:endParaRPr lang="en-US" altLang="zh-CN"/>
          </a:p>
        </p:txBody>
      </p:sp>
      <p:sp>
        <p:nvSpPr>
          <p:cNvPr id="4" name="页脚占位符 3"/>
          <p:cNvSpPr>
            <a:spLocks noGrp="1"/>
          </p:cNvSpPr>
          <p:nvPr>
            <p:ph type="ftr" sz="quarter" idx="11"/>
          </p:nvPr>
        </p:nvSpPr>
        <p:spPr/>
        <p:txBody>
          <a:bodyPr/>
          <a:lstStyle/>
          <a:p>
            <a:pPr>
              <a:defRPr/>
            </a:pPr>
            <a:endParaRPr lang="en-US" altLang="zh-CN"/>
          </a:p>
        </p:txBody>
      </p:sp>
      <p:sp>
        <p:nvSpPr>
          <p:cNvPr id="5" name="灯片编号占位符 4"/>
          <p:cNvSpPr>
            <a:spLocks noGrp="1"/>
          </p:cNvSpPr>
          <p:nvPr>
            <p:ph type="sldNum" sz="quarter" idx="12"/>
          </p:nvPr>
        </p:nvSpPr>
        <p:spPr/>
        <p:txBody>
          <a:bodyPr/>
          <a:lstStyle>
            <a:lvl1pPr>
              <a:defRPr>
                <a:solidFill>
                  <a:srgbClr val="FFFFFF"/>
                </a:solidFill>
              </a:defRPr>
            </a:lvl1pPr>
          </a:lstStyle>
          <a:p>
            <a:pPr>
              <a:defRPr/>
            </a:pPr>
            <a:fld id="{7BB40C4A-E2FA-41F7-B524-CB2D71B451BD}" type="slidenum">
              <a:rPr lang="en-US" altLang="zh-CN" smtClean="0"/>
              <a:pPr>
                <a:defRPr/>
              </a:pPr>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a:defRPr/>
            </a:pPr>
            <a:endParaRPr lang="en-US" altLang="zh-CN"/>
          </a:p>
        </p:txBody>
      </p:sp>
      <p:sp>
        <p:nvSpPr>
          <p:cNvPr id="3" name="页脚占位符 2"/>
          <p:cNvSpPr>
            <a:spLocks noGrp="1"/>
          </p:cNvSpPr>
          <p:nvPr>
            <p:ph type="ftr" sz="quarter" idx="11"/>
          </p:nvPr>
        </p:nvSpPr>
        <p:spPr/>
        <p:txBody>
          <a:bodyPr/>
          <a:lstStyle/>
          <a:p>
            <a:pPr>
              <a:defRPr/>
            </a:pPr>
            <a:endParaRPr lang="en-US" altLang="zh-CN"/>
          </a:p>
        </p:txBody>
      </p:sp>
      <p:sp>
        <p:nvSpPr>
          <p:cNvPr id="4" name="灯片编号占位符 3"/>
          <p:cNvSpPr>
            <a:spLocks noGrp="1"/>
          </p:cNvSpPr>
          <p:nvPr>
            <p:ph type="sldNum" sz="quarter" idx="12"/>
          </p:nvPr>
        </p:nvSpPr>
        <p:spPr>
          <a:xfrm>
            <a:off x="0" y="6248400"/>
            <a:ext cx="533400" cy="381000"/>
          </a:xfrm>
        </p:spPr>
        <p:txBody>
          <a:bodyPr/>
          <a:lstStyle>
            <a:lvl1pPr>
              <a:defRPr>
                <a:solidFill>
                  <a:schemeClr val="tx2"/>
                </a:solidFill>
              </a:defRPr>
            </a:lvl1pPr>
          </a:lstStyle>
          <a:p>
            <a:pPr>
              <a:defRPr/>
            </a:pPr>
            <a:fld id="{BA7CE023-F055-424B-845A-AF251D9171BF}" type="slidenum">
              <a:rPr lang="en-US" altLang="zh-CN" smtClean="0"/>
              <a:pPr>
                <a:defRPr/>
              </a:pPr>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8077200" cy="869950"/>
          </a:xfrm>
        </p:spPr>
        <p:txBody>
          <a:bodyPr anchor="ctr"/>
          <a:lstStyle>
            <a:lvl1pPr algn="l">
              <a:buNone/>
              <a:defRPr sz="4400" b="0"/>
            </a:lvl1pPr>
          </a:lstStyle>
          <a:p>
            <a:r>
              <a:rPr kumimoji="0" lang="zh-CN" altLang="en-US"/>
              <a:t>单击此处编辑母版标题样式</a:t>
            </a:r>
            <a:endParaRPr kumimoji="0" lang="en-US"/>
          </a:p>
        </p:txBody>
      </p:sp>
      <p:sp>
        <p:nvSpPr>
          <p:cNvPr id="5" name="日期占位符 4"/>
          <p:cNvSpPr>
            <a:spLocks noGrp="1"/>
          </p:cNvSpPr>
          <p:nvPr>
            <p:ph type="dt" sz="half" idx="10"/>
          </p:nvPr>
        </p:nvSpPr>
        <p:spPr/>
        <p:txBody>
          <a:bodyPr/>
          <a:lstStyle/>
          <a:p>
            <a:pPr>
              <a:defRPr/>
            </a:pPr>
            <a:endParaRPr lang="en-US" altLang="zh-CN"/>
          </a:p>
        </p:txBody>
      </p:sp>
      <p:sp>
        <p:nvSpPr>
          <p:cNvPr id="6" name="页脚占位符 5"/>
          <p:cNvSpPr>
            <a:spLocks noGrp="1"/>
          </p:cNvSpPr>
          <p:nvPr>
            <p:ph type="ftr" sz="quarter" idx="11"/>
          </p:nvPr>
        </p:nvSpPr>
        <p:spPr/>
        <p:txBody>
          <a:bodyPr/>
          <a:lstStyle/>
          <a:p>
            <a:pPr>
              <a:defRPr/>
            </a:pPr>
            <a:endParaRPr lang="en-US" altLang="zh-CN"/>
          </a:p>
        </p:txBody>
      </p:sp>
      <p:sp>
        <p:nvSpPr>
          <p:cNvPr id="7" name="灯片编号占位符 6"/>
          <p:cNvSpPr>
            <a:spLocks noGrp="1"/>
          </p:cNvSpPr>
          <p:nvPr>
            <p:ph type="sldNum" sz="quarter" idx="12"/>
          </p:nvPr>
        </p:nvSpPr>
        <p:spPr/>
        <p:txBody>
          <a:bodyPr/>
          <a:lstStyle>
            <a:lvl1pPr>
              <a:defRPr>
                <a:solidFill>
                  <a:srgbClr val="FFFFFF"/>
                </a:solidFill>
              </a:defRPr>
            </a:lvl1pPr>
          </a:lstStyle>
          <a:p>
            <a:pPr>
              <a:defRPr/>
            </a:pPr>
            <a:fld id="{B62F658C-F11C-40E2-8256-0F2B2C446C58}" type="slidenum">
              <a:rPr lang="en-US" altLang="zh-CN" smtClean="0"/>
              <a:pPr>
                <a:defRPr/>
              </a:pPr>
              <a:t>‹#›</a:t>
            </a:fld>
            <a:endParaRPr lang="en-US" altLang="zh-CN"/>
          </a:p>
        </p:txBody>
      </p:sp>
      <p:sp>
        <p:nvSpPr>
          <p:cNvPr id="3" name="文本占位符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zh-CN" altLang="en-US"/>
              <a:t>单击此处编辑母版文本样式</a:t>
            </a:r>
          </a:p>
        </p:txBody>
      </p:sp>
      <p:sp>
        <p:nvSpPr>
          <p:cNvPr id="9" name="内容占位符 8"/>
          <p:cNvSpPr>
            <a:spLocks noGrp="1"/>
          </p:cNvSpPr>
          <p:nvPr>
            <p:ph sz="quarter" idx="1"/>
          </p:nvPr>
        </p:nvSpPr>
        <p:spPr>
          <a:xfrm>
            <a:off x="2362200" y="1752600"/>
            <a:ext cx="6400800" cy="4419600"/>
          </a:xfrm>
        </p:spPr>
        <p:txBody>
          <a:body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4" name="文本占位符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zh-CN" altLang="en-US"/>
              <a:t>单击此处编辑母版文本样式</a:t>
            </a:r>
          </a:p>
        </p:txBody>
      </p:sp>
      <p:sp>
        <p:nvSpPr>
          <p:cNvPr id="8" name="矩形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矩形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矩形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标题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zh-CN" altLang="en-US"/>
              <a:t>单击此处编辑母版标题样式</a:t>
            </a:r>
            <a:endParaRPr kumimoji="0" lang="en-US"/>
          </a:p>
        </p:txBody>
      </p:sp>
      <p:sp>
        <p:nvSpPr>
          <p:cNvPr id="11" name="矩形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日期占位符 11"/>
          <p:cNvSpPr>
            <a:spLocks noGrp="1"/>
          </p:cNvSpPr>
          <p:nvPr>
            <p:ph type="dt" sz="half" idx="10"/>
          </p:nvPr>
        </p:nvSpPr>
        <p:spPr>
          <a:xfrm>
            <a:off x="6248400" y="6248400"/>
            <a:ext cx="2667000" cy="365125"/>
          </a:xfrm>
        </p:spPr>
        <p:txBody>
          <a:bodyPr rtlCol="0"/>
          <a:lstStyle/>
          <a:p>
            <a:pPr>
              <a:defRPr/>
            </a:pPr>
            <a:endParaRPr lang="en-US" altLang="zh-CN"/>
          </a:p>
        </p:txBody>
      </p:sp>
      <p:sp>
        <p:nvSpPr>
          <p:cNvPr id="13" name="灯片编号占位符 12"/>
          <p:cNvSpPr>
            <a:spLocks noGrp="1"/>
          </p:cNvSpPr>
          <p:nvPr>
            <p:ph type="sldNum" sz="quarter" idx="11"/>
          </p:nvPr>
        </p:nvSpPr>
        <p:spPr>
          <a:xfrm>
            <a:off x="0" y="4667249"/>
            <a:ext cx="1447800" cy="663578"/>
          </a:xfrm>
        </p:spPr>
        <p:txBody>
          <a:bodyPr rtlCol="0"/>
          <a:lstStyle>
            <a:lvl1pPr>
              <a:defRPr sz="2800"/>
            </a:lvl1pPr>
          </a:lstStyle>
          <a:p>
            <a:pPr>
              <a:defRPr/>
            </a:pPr>
            <a:fld id="{089A224F-FD21-49DA-84E3-EA3B65ACB0B4}" type="slidenum">
              <a:rPr lang="en-US" altLang="zh-CN" smtClean="0"/>
              <a:pPr>
                <a:defRPr/>
              </a:pPr>
              <a:t>‹#›</a:t>
            </a:fld>
            <a:endParaRPr lang="en-US" altLang="zh-CN"/>
          </a:p>
        </p:txBody>
      </p:sp>
      <p:sp>
        <p:nvSpPr>
          <p:cNvPr id="14" name="页脚占位符 13"/>
          <p:cNvSpPr>
            <a:spLocks noGrp="1"/>
          </p:cNvSpPr>
          <p:nvPr>
            <p:ph type="ftr" sz="quarter" idx="12"/>
          </p:nvPr>
        </p:nvSpPr>
        <p:spPr>
          <a:xfrm>
            <a:off x="1600200" y="6248206"/>
            <a:ext cx="4572000" cy="365125"/>
          </a:xfrm>
        </p:spPr>
        <p:txBody>
          <a:bodyPr rtlCol="0"/>
          <a:lstStyle/>
          <a:p>
            <a:pPr>
              <a:defRPr/>
            </a:pPr>
            <a:endParaRPr lang="en-US" altLang="zh-CN"/>
          </a:p>
        </p:txBody>
      </p:sp>
      <p:sp>
        <p:nvSpPr>
          <p:cNvPr id="3" name="图片占位符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zh-CN" altLang="en-US"/>
              <a:t>单击图标添加图片</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p:txBody>
          <a:bodyPr vert="eaVer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pPr>
              <a:defRPr/>
            </a:pPr>
            <a:endParaRPr lang="en-US" altLang="zh-CN"/>
          </a:p>
        </p:txBody>
      </p:sp>
      <p:sp>
        <p:nvSpPr>
          <p:cNvPr id="5" name="页脚占位符 4"/>
          <p:cNvSpPr>
            <a:spLocks noGrp="1"/>
          </p:cNvSpPr>
          <p:nvPr>
            <p:ph type="ftr" sz="quarter" idx="11"/>
          </p:nvPr>
        </p:nvSpPr>
        <p:spPr/>
        <p:txBody>
          <a:bodyPr/>
          <a:lstStyle/>
          <a:p>
            <a:pPr>
              <a:defRPr/>
            </a:pPr>
            <a:endParaRPr lang="en-US" altLang="zh-CN"/>
          </a:p>
        </p:txBody>
      </p:sp>
      <p:sp>
        <p:nvSpPr>
          <p:cNvPr id="6" name="灯片编号占位符 5"/>
          <p:cNvSpPr>
            <a:spLocks noGrp="1"/>
          </p:cNvSpPr>
          <p:nvPr>
            <p:ph type="sldNum" sz="quarter" idx="12"/>
          </p:nvPr>
        </p:nvSpPr>
        <p:spPr/>
        <p:txBody>
          <a:bodyPr/>
          <a:lstStyle/>
          <a:p>
            <a:pPr>
              <a:defRPr/>
            </a:pPr>
            <a:fld id="{9409584E-468D-4873-AFC9-B471BECCB485}" type="slidenum">
              <a:rPr lang="en-US" altLang="zh-CN" smtClean="0"/>
              <a:pPr>
                <a:defRPr/>
              </a:pPr>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53200" y="609600"/>
            <a:ext cx="2057400" cy="5516563"/>
          </a:xfrm>
        </p:spPr>
        <p:txBody>
          <a:bodyPr vert="eaVert"/>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a:xfrm>
            <a:off x="457200" y="609600"/>
            <a:ext cx="5562600" cy="5516564"/>
          </a:xfrm>
        </p:spPr>
        <p:txBody>
          <a:bodyPr vert="eaVer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a:xfrm>
            <a:off x="6553200" y="6248402"/>
            <a:ext cx="2209800" cy="365125"/>
          </a:xfrm>
        </p:spPr>
        <p:txBody>
          <a:bodyPr/>
          <a:lstStyle/>
          <a:p>
            <a:pPr>
              <a:defRPr/>
            </a:pPr>
            <a:endParaRPr lang="en-US" altLang="zh-CN"/>
          </a:p>
        </p:txBody>
      </p:sp>
      <p:sp>
        <p:nvSpPr>
          <p:cNvPr id="5" name="页脚占位符 4"/>
          <p:cNvSpPr>
            <a:spLocks noGrp="1"/>
          </p:cNvSpPr>
          <p:nvPr>
            <p:ph type="ftr" sz="quarter" idx="11"/>
          </p:nvPr>
        </p:nvSpPr>
        <p:spPr>
          <a:xfrm>
            <a:off x="457201" y="6248207"/>
            <a:ext cx="5573483" cy="365125"/>
          </a:xfrm>
        </p:spPr>
        <p:txBody>
          <a:bodyPr/>
          <a:lstStyle/>
          <a:p>
            <a:pPr>
              <a:defRPr/>
            </a:pPr>
            <a:endParaRPr lang="en-US" altLang="zh-CN"/>
          </a:p>
        </p:txBody>
      </p:sp>
      <p:sp>
        <p:nvSpPr>
          <p:cNvPr id="7" name="矩形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矩形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矩形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灯片编号占位符 5"/>
          <p:cNvSpPr>
            <a:spLocks noGrp="1"/>
          </p:cNvSpPr>
          <p:nvPr>
            <p:ph type="sldNum" sz="quarter" idx="12"/>
          </p:nvPr>
        </p:nvSpPr>
        <p:spPr>
          <a:xfrm rot="5400000">
            <a:off x="5989638" y="144462"/>
            <a:ext cx="533400" cy="244476"/>
          </a:xfrm>
        </p:spPr>
        <p:txBody>
          <a:bodyPr/>
          <a:lstStyle/>
          <a:p>
            <a:pPr>
              <a:defRPr/>
            </a:pPr>
            <a:fld id="{29838B03-967F-4B5A-AE44-FB1928A13337}" type="slidenum">
              <a:rPr lang="en-US" altLang="zh-CN" smtClean="0"/>
              <a:pPr>
                <a:defRPr/>
              </a:pPr>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标题占位符 21"/>
          <p:cNvSpPr>
            <a:spLocks noGrp="1"/>
          </p:cNvSpPr>
          <p:nvPr>
            <p:ph type="title"/>
          </p:nvPr>
        </p:nvSpPr>
        <p:spPr>
          <a:xfrm>
            <a:off x="609600" y="228600"/>
            <a:ext cx="8153400" cy="990600"/>
          </a:xfrm>
          <a:prstGeom prst="rect">
            <a:avLst/>
          </a:prstGeom>
        </p:spPr>
        <p:txBody>
          <a:bodyPr vert="horz" anchor="ctr">
            <a:normAutofit/>
          </a:bodyPr>
          <a:lstStyle/>
          <a:p>
            <a:r>
              <a:rPr kumimoji="0" lang="zh-CN" altLang="en-US"/>
              <a:t>单击此处编辑母版标题样式</a:t>
            </a:r>
            <a:endParaRPr kumimoji="0" lang="en-US"/>
          </a:p>
        </p:txBody>
      </p:sp>
      <p:sp>
        <p:nvSpPr>
          <p:cNvPr id="13" name="文本占位符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zh-CN" altLang="en-US"/>
              <a:t>单击此处编辑母版文本样式</a:t>
            </a:r>
          </a:p>
          <a:p>
            <a:pPr lvl="1" eaLnBrk="1" latinLnBrk="0" hangingPunct="1"/>
            <a:r>
              <a:rPr kumimoji="0" lang="zh-CN" altLang="en-US"/>
              <a:t>第二级</a:t>
            </a:r>
          </a:p>
          <a:p>
            <a:pPr lvl="2" eaLnBrk="1" latinLnBrk="0" hangingPunct="1"/>
            <a:r>
              <a:rPr kumimoji="0" lang="zh-CN" altLang="en-US"/>
              <a:t>第三级</a:t>
            </a:r>
          </a:p>
          <a:p>
            <a:pPr lvl="3" eaLnBrk="1" latinLnBrk="0" hangingPunct="1"/>
            <a:r>
              <a:rPr kumimoji="0" lang="zh-CN" altLang="en-US"/>
              <a:t>第四级</a:t>
            </a:r>
          </a:p>
          <a:p>
            <a:pPr lvl="4" eaLnBrk="1" latinLnBrk="0" hangingPunct="1"/>
            <a:r>
              <a:rPr kumimoji="0" lang="zh-CN" altLang="en-US"/>
              <a:t>第五级</a:t>
            </a:r>
            <a:endParaRPr kumimoji="0" lang="en-US"/>
          </a:p>
        </p:txBody>
      </p:sp>
      <p:sp>
        <p:nvSpPr>
          <p:cNvPr id="14" name="日期占位符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pPr>
              <a:defRPr/>
            </a:pPr>
            <a:endParaRPr lang="en-US" altLang="zh-CN"/>
          </a:p>
        </p:txBody>
      </p:sp>
      <p:sp>
        <p:nvSpPr>
          <p:cNvPr id="3" name="页脚占位符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pPr>
              <a:defRPr/>
            </a:pPr>
            <a:endParaRPr lang="en-US" altLang="zh-CN"/>
          </a:p>
        </p:txBody>
      </p:sp>
      <p:sp>
        <p:nvSpPr>
          <p:cNvPr id="7" name="矩形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矩形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矩形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灯片编号占位符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pPr>
              <a:defRPr/>
            </a:pPr>
            <a:fld id="{EBFC0C85-D28B-4DFC-9354-850FCD479C59}" type="slidenum">
              <a:rPr lang="en-US" altLang="zh-CN" smtClean="0"/>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hf hdr="0" ftr="0" dt="0"/>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5.gif"/><Relationship Id="rId4" Type="http://schemas.openxmlformats.org/officeDocument/2006/relationships/image" Target="../media/image4.gif"/></Relationships>
</file>

<file path=ppt/slides/_rels/slide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5.gif"/><Relationship Id="rId4" Type="http://schemas.openxmlformats.org/officeDocument/2006/relationships/image" Target="../media/image4.gif"/></Relationships>
</file>

<file path=ppt/slides/_rels/slide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gif"/><Relationship Id="rId4" Type="http://schemas.openxmlformats.org/officeDocument/2006/relationships/image" Target="../media/image4.gif"/></Relationships>
</file>

<file path=ppt/slides/_rels/slide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5.gif"/><Relationship Id="rId4" Type="http://schemas.openxmlformats.org/officeDocument/2006/relationships/image" Target="../media/image4.gif"/></Relationships>
</file>

<file path=ppt/slides/_rels/slide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5.gif"/><Relationship Id="rId4" Type="http://schemas.openxmlformats.org/officeDocument/2006/relationships/image" Target="../media/image4.gif"/></Relationships>
</file>

<file path=ppt/slides/_rels/slide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5.gif"/><Relationship Id="rId4" Type="http://schemas.openxmlformats.org/officeDocument/2006/relationships/image" Target="../media/image4.gif"/></Relationships>
</file>

<file path=ppt/slides/_rels/slide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5.gif"/><Relationship Id="rId4" Type="http://schemas.openxmlformats.org/officeDocument/2006/relationships/image" Target="../media/image4.gif"/></Relationships>
</file>

<file path=ppt/slides/_rels/slide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5.gif"/><Relationship Id="rId4" Type="http://schemas.openxmlformats.org/officeDocument/2006/relationships/image" Target="../media/image4.gif"/></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5.gif"/><Relationship Id="rId4" Type="http://schemas.openxmlformats.org/officeDocument/2006/relationships/image" Target="../media/image4.gif"/></Relationships>
</file>

<file path=ppt/slides/_rels/slide1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gif"/><Relationship Id="rId4" Type="http://schemas.openxmlformats.org/officeDocument/2006/relationships/image" Target="../media/image4.gif"/></Relationships>
</file>

<file path=ppt/slides/_rels/slide1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gif"/><Relationship Id="rId4" Type="http://schemas.openxmlformats.org/officeDocument/2006/relationships/image" Target="../media/image4.gif"/></Relationships>
</file>

<file path=ppt/slides/_rels/slide1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5.gif"/><Relationship Id="rId4" Type="http://schemas.openxmlformats.org/officeDocument/2006/relationships/image" Target="../media/image4.gif"/></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5.gif"/><Relationship Id="rId4" Type="http://schemas.openxmlformats.org/officeDocument/2006/relationships/image" Target="../media/image4.gif"/></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audio" Target="../media/audio1.wav"/><Relationship Id="rId7" Type="http://schemas.openxmlformats.org/officeDocument/2006/relationships/image" Target="../media/image5.gif"/><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4.gif"/><Relationship Id="rId5" Type="http://schemas.openxmlformats.org/officeDocument/2006/relationships/image" Target="../media/image12.png"/><Relationship Id="rId4" Type="http://schemas.openxmlformats.org/officeDocument/2006/relationships/audio" Target="../media/audio2.wav"/></Relationships>
</file>

<file path=ppt/slides/_rels/slide1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image" Target="../media/image16.jpeg"/><Relationship Id="rId5" Type="http://schemas.openxmlformats.org/officeDocument/2006/relationships/image" Target="../media/image15.jpeg"/><Relationship Id="rId4" Type="http://schemas.openxmlformats.org/officeDocument/2006/relationships/image" Target="../media/image14.jpeg"/></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openxmlformats.org/officeDocument/2006/relationships/image" Target="../media/image5.gi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5"/>
          <p:cNvPicPr>
            <a:picLocks noChangeAspect="1"/>
          </p:cNvPicPr>
          <p:nvPr/>
        </p:nvPicPr>
        <p:blipFill>
          <a:blip r:embed="rId3" cstate="print"/>
          <a:srcRect/>
          <a:stretch>
            <a:fillRect/>
          </a:stretch>
        </p:blipFill>
        <p:spPr bwMode="auto">
          <a:xfrm>
            <a:off x="4286250" y="0"/>
            <a:ext cx="4857750" cy="2000250"/>
          </a:xfrm>
          <a:prstGeom prst="rect">
            <a:avLst/>
          </a:prstGeom>
          <a:noFill/>
          <a:ln w="9525">
            <a:noFill/>
            <a:miter lim="800000"/>
            <a:headEnd/>
            <a:tailEnd/>
          </a:ln>
        </p:spPr>
      </p:pic>
      <p:sp>
        <p:nvSpPr>
          <p:cNvPr id="2" name="Rectangle 2"/>
          <p:cNvSpPr>
            <a:spLocks noGrp="1" noChangeArrowheads="1"/>
          </p:cNvSpPr>
          <p:nvPr>
            <p:ph type="ctrTitle"/>
          </p:nvPr>
        </p:nvSpPr>
        <p:spPr>
          <a:xfrm>
            <a:off x="609600" y="1905000"/>
            <a:ext cx="7772400" cy="1143000"/>
          </a:xfrm>
        </p:spPr>
        <p:txBody>
          <a:bodyPr rtlCol="0">
            <a:normAutofit fontScale="90000"/>
          </a:bodyPr>
          <a:lstStyle/>
          <a:p>
            <a:pPr fontAlgn="auto">
              <a:spcAft>
                <a:spcPts val="0"/>
              </a:spcAft>
              <a:defRPr/>
            </a:pPr>
            <a:br>
              <a:rPr lang="en-US" altLang="zh-CN" dirty="0"/>
            </a:br>
            <a:r>
              <a:rPr lang="en-US" altLang="zh-CN" dirty="0"/>
              <a:t>Digital logic</a:t>
            </a:r>
          </a:p>
        </p:txBody>
      </p:sp>
      <p:sp>
        <p:nvSpPr>
          <p:cNvPr id="2051" name="Rectangle 3"/>
          <p:cNvSpPr>
            <a:spLocks noGrp="1" noChangeArrowheads="1"/>
          </p:cNvSpPr>
          <p:nvPr>
            <p:ph type="subTitle" idx="1"/>
          </p:nvPr>
        </p:nvSpPr>
        <p:spPr>
          <a:xfrm>
            <a:off x="675616" y="3924030"/>
            <a:ext cx="8162892" cy="2071701"/>
          </a:xfrm>
        </p:spPr>
        <p:txBody>
          <a:bodyPr rtlCol="0">
            <a:noAutofit/>
          </a:bodyPr>
          <a:lstStyle/>
          <a:p>
            <a:pPr marL="342900" indent="-342900">
              <a:defRPr/>
            </a:pPr>
            <a:r>
              <a:rPr lang="en-US" altLang="zh-CN" sz="2400" b="1" dirty="0">
                <a:solidFill>
                  <a:schemeClr val="tx1"/>
                </a:solidFill>
              </a:rPr>
              <a:t>Synchronous Sequential Logic Circuit</a:t>
            </a:r>
          </a:p>
          <a:p>
            <a:pPr marL="342900" indent="-342900" fontAlgn="auto">
              <a:spcAft>
                <a:spcPts val="0"/>
              </a:spcAft>
              <a:buFont typeface="Arial" pitchFamily="34" charset="0"/>
              <a:buNone/>
              <a:defRPr/>
            </a:pPr>
            <a:r>
              <a:rPr lang="en-US" altLang="zh-CN" sz="2400" b="1" dirty="0">
                <a:solidFill>
                  <a:schemeClr val="tx1"/>
                </a:solidFill>
              </a:rPr>
              <a:t>Chapter 5 						Dr. Fei Chao</a:t>
            </a:r>
          </a:p>
          <a:p>
            <a:pPr marL="342900" indent="-342900" algn="r">
              <a:defRPr/>
            </a:pPr>
            <a:r>
              <a:rPr lang="en-US" altLang="zh-CN" sz="2400" b="1" dirty="0">
                <a:solidFill>
                  <a:schemeClr val="tx1"/>
                </a:solidFill>
              </a:rPr>
              <a:t>Associate Professor</a:t>
            </a:r>
          </a:p>
          <a:p>
            <a:pPr marL="342900" indent="-342900" algn="r">
              <a:defRPr/>
            </a:pPr>
            <a:r>
              <a:rPr lang="en-US" altLang="zh-CN" sz="2400" b="1" dirty="0">
                <a:solidFill>
                  <a:schemeClr val="tx1"/>
                </a:solidFill>
              </a:rPr>
              <a:t>Cognitive Science Department</a:t>
            </a:r>
          </a:p>
          <a:p>
            <a:pPr marL="342900" indent="-342900" algn="r">
              <a:defRPr/>
            </a:pPr>
            <a:r>
              <a:rPr lang="en-US" altLang="zh-CN" sz="2400" b="1" dirty="0">
                <a:solidFill>
                  <a:schemeClr val="tx1"/>
                </a:solidFill>
              </a:rPr>
              <a:t>School of Information Science and Technology</a:t>
            </a:r>
          </a:p>
          <a:p>
            <a:pPr marL="342900" indent="-342900" algn="r">
              <a:defRPr/>
            </a:pPr>
            <a:r>
              <a:rPr lang="en-US" altLang="zh-CN" sz="2400" b="1" dirty="0">
                <a:solidFill>
                  <a:schemeClr val="tx1"/>
                </a:solidFill>
              </a:rPr>
              <a:t>Xiamen University</a:t>
            </a:r>
          </a:p>
          <a:p>
            <a:pPr marL="342900" indent="-342900" algn="r">
              <a:defRPr/>
            </a:pPr>
            <a:r>
              <a:rPr lang="en-US" altLang="zh-CN" sz="2400" b="1" dirty="0">
                <a:solidFill>
                  <a:schemeClr val="tx1"/>
                </a:solidFill>
              </a:rPr>
              <a:t>fchao@xmu.edu.cn</a:t>
            </a:r>
            <a:endParaRPr lang="en-US" altLang="zh-CN" sz="2100" b="1" dirty="0">
              <a:solidFill>
                <a:schemeClr val="tx1"/>
              </a:solidFill>
            </a:endParaRPr>
          </a:p>
          <a:p>
            <a:pPr marL="342900" indent="-342900" fontAlgn="auto">
              <a:spcAft>
                <a:spcPts val="0"/>
              </a:spcAft>
              <a:buFont typeface="Arial" pitchFamily="34" charset="0"/>
              <a:buNone/>
              <a:defRPr/>
            </a:pPr>
            <a:endParaRPr lang="en-US" altLang="zh-CN" sz="2100" b="1" dirty="0">
              <a:solidFill>
                <a:schemeClr val="tx1"/>
              </a:solidFill>
            </a:endParaRPr>
          </a:p>
          <a:p>
            <a:pPr marL="2057400" lvl="4" indent="-228600" fontAlgn="auto">
              <a:spcAft>
                <a:spcPts val="0"/>
              </a:spcAft>
              <a:buFont typeface="Arial" pitchFamily="34" charset="0"/>
              <a:buNone/>
              <a:defRPr/>
            </a:pPr>
            <a:endParaRPr lang="en-US" altLang="zh-CN" sz="2100" b="1" dirty="0"/>
          </a:p>
        </p:txBody>
      </p:sp>
      <p:sp>
        <p:nvSpPr>
          <p:cNvPr id="5" name="灯片编号占位符 4"/>
          <p:cNvSpPr>
            <a:spLocks noGrp="1"/>
          </p:cNvSpPr>
          <p:nvPr>
            <p:ph type="sldNum" sz="quarter" idx="12"/>
          </p:nvPr>
        </p:nvSpPr>
        <p:spPr/>
        <p:txBody>
          <a:bodyPr/>
          <a:lstStyle/>
          <a:p>
            <a:pPr>
              <a:defRPr/>
            </a:pPr>
            <a:fld id="{ADCF3EF2-F322-4E21-864D-1732D6788AEE}" type="slidenum">
              <a:rPr lang="en-US" altLang="zh-CN" smtClean="0"/>
              <a:pPr>
                <a:defRPr/>
              </a:pPr>
              <a:t>1</a:t>
            </a:fld>
            <a:endParaRPr lang="en-US" altLang="zh-CN"/>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ext Box 9">
            <a:extLst>
              <a:ext uri="{FF2B5EF4-FFF2-40B4-BE49-F238E27FC236}">
                <a16:creationId xmlns:a16="http://schemas.microsoft.com/office/drawing/2014/main" id="{88246D9D-1B1E-4F0C-84F6-9B231B451BFF}"/>
              </a:ext>
            </a:extLst>
          </p:cNvPr>
          <p:cNvSpPr txBox="1">
            <a:spLocks noChangeArrowheads="1"/>
          </p:cNvSpPr>
          <p:nvPr/>
        </p:nvSpPr>
        <p:spPr bwMode="auto">
          <a:xfrm>
            <a:off x="2286000" y="1614488"/>
            <a:ext cx="52736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b="1" dirty="0">
                <a:solidFill>
                  <a:srgbClr val="CC3300"/>
                </a:solidFill>
                <a:latin typeface="Times New Roman" panose="02020603050405020304" pitchFamily="18" charset="0"/>
              </a:rPr>
              <a:t>Outline:</a:t>
            </a:r>
          </a:p>
        </p:txBody>
      </p:sp>
      <p:sp>
        <p:nvSpPr>
          <p:cNvPr id="4099" name="Text Box 10">
            <a:extLst>
              <a:ext uri="{FF2B5EF4-FFF2-40B4-BE49-F238E27FC236}">
                <a16:creationId xmlns:a16="http://schemas.microsoft.com/office/drawing/2014/main" id="{99FAF134-541E-42D3-BEE1-285ABF09E65C}"/>
              </a:ext>
            </a:extLst>
          </p:cNvPr>
          <p:cNvSpPr txBox="1">
            <a:spLocks noChangeArrowheads="1"/>
          </p:cNvSpPr>
          <p:nvPr/>
        </p:nvSpPr>
        <p:spPr bwMode="auto">
          <a:xfrm>
            <a:off x="683568" y="2447925"/>
            <a:ext cx="8015931" cy="29215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en-US" altLang="zh-CN" sz="2400" b="1" dirty="0">
                <a:solidFill>
                  <a:schemeClr val="accent2"/>
                </a:solidFill>
                <a:latin typeface="Times New Roman" panose="02020603050405020304" pitchFamily="18" charset="0"/>
                <a:sym typeface="Wingdings 3" panose="05040102010807070707" pitchFamily="18" charset="2"/>
              </a:rPr>
              <a:t>  </a:t>
            </a:r>
            <a:r>
              <a:rPr lang="en-US" altLang="zh-CN" dirty="0">
                <a:solidFill>
                  <a:schemeClr val="accent2"/>
                </a:solidFill>
                <a:latin typeface="Times New Roman" panose="02020603050405020304" pitchFamily="18" charset="0"/>
              </a:rPr>
              <a:t>Basic concepts sequential logic circuits;</a:t>
            </a:r>
            <a:endParaRPr lang="en-US" altLang="zh-CN" sz="2400" b="1" dirty="0">
              <a:solidFill>
                <a:schemeClr val="accent2"/>
              </a:solidFill>
              <a:latin typeface="Times New Roman" panose="02020603050405020304" pitchFamily="18" charset="0"/>
            </a:endParaRPr>
          </a:p>
          <a:p>
            <a:pPr eaLnBrk="1" hangingPunct="1">
              <a:lnSpc>
                <a:spcPct val="130000"/>
              </a:lnSpc>
            </a:pPr>
            <a:endParaRPr lang="en-US" altLang="zh-CN" sz="2400" b="1" dirty="0">
              <a:solidFill>
                <a:schemeClr val="accent2"/>
              </a:solidFill>
              <a:latin typeface="Times New Roman" panose="02020603050405020304" pitchFamily="18" charset="0"/>
            </a:endParaRPr>
          </a:p>
          <a:p>
            <a:pPr eaLnBrk="1" hangingPunct="1">
              <a:lnSpc>
                <a:spcPct val="130000"/>
              </a:lnSpc>
            </a:pPr>
            <a:r>
              <a:rPr lang="en-US" altLang="zh-CN" sz="2400" b="1" dirty="0">
                <a:solidFill>
                  <a:schemeClr val="accent2"/>
                </a:solidFill>
                <a:latin typeface="Times New Roman" panose="02020603050405020304" pitchFamily="18" charset="0"/>
                <a:sym typeface="Wingdings 3" panose="05040102010807070707" pitchFamily="18" charset="2"/>
              </a:rPr>
              <a:t>  </a:t>
            </a:r>
            <a:r>
              <a:rPr lang="en-US" altLang="zh-CN" dirty="0">
                <a:solidFill>
                  <a:schemeClr val="accent2"/>
                </a:solidFill>
                <a:latin typeface="Times New Roman" panose="02020603050405020304" pitchFamily="18" charset="0"/>
              </a:rPr>
              <a:t>Analysis and design method of synchronous sequential logic circuit;</a:t>
            </a:r>
            <a:endParaRPr lang="en-US" altLang="zh-CN" sz="2400" b="1" dirty="0">
              <a:solidFill>
                <a:schemeClr val="accent2"/>
              </a:solidFill>
              <a:latin typeface="Times New Roman" panose="02020603050405020304" pitchFamily="18" charset="0"/>
            </a:endParaRPr>
          </a:p>
          <a:p>
            <a:pPr eaLnBrk="1" hangingPunct="1">
              <a:lnSpc>
                <a:spcPct val="130000"/>
              </a:lnSpc>
            </a:pPr>
            <a:endParaRPr lang="en-US" altLang="zh-CN" sz="2400" b="1" dirty="0">
              <a:solidFill>
                <a:schemeClr val="accent2"/>
              </a:solidFill>
              <a:latin typeface="Times New Roman" panose="02020603050405020304" pitchFamily="18" charset="0"/>
            </a:endParaRPr>
          </a:p>
          <a:p>
            <a:pPr eaLnBrk="1" hangingPunct="1">
              <a:lnSpc>
                <a:spcPct val="130000"/>
              </a:lnSpc>
            </a:pPr>
            <a:r>
              <a:rPr lang="en-US" altLang="zh-CN" sz="2400" b="1" dirty="0">
                <a:solidFill>
                  <a:schemeClr val="accent2"/>
                </a:solidFill>
                <a:latin typeface="Times New Roman" panose="02020603050405020304" pitchFamily="18" charset="0"/>
                <a:sym typeface="Wingdings 3" panose="05040102010807070707" pitchFamily="18" charset="2"/>
              </a:rPr>
              <a:t>  </a:t>
            </a:r>
            <a:r>
              <a:rPr lang="en-US" altLang="zh-CN" sz="2400" b="1" dirty="0">
                <a:solidFill>
                  <a:schemeClr val="accent2"/>
                </a:solidFill>
                <a:latin typeface="Times New Roman" panose="02020603050405020304" pitchFamily="18" charset="0"/>
              </a:rPr>
              <a:t>Typical examples.</a:t>
            </a:r>
            <a:endParaRPr lang="zh-CN" altLang="en-US" sz="2400" dirty="0">
              <a:solidFill>
                <a:schemeClr val="accent2"/>
              </a:solidFill>
              <a:latin typeface="Times New Roman" panose="02020603050405020304" pitchFamily="18" charset="0"/>
            </a:endParaRPr>
          </a:p>
        </p:txBody>
      </p:sp>
      <p:pic>
        <p:nvPicPr>
          <p:cNvPr id="5124" name="Picture 11" descr="Right_Green">
            <a:hlinkClick r:id="" action="ppaction://hlinkshowjump?jump=nextslide"/>
            <a:extLst>
              <a:ext uri="{FF2B5EF4-FFF2-40B4-BE49-F238E27FC236}">
                <a16:creationId xmlns:a16="http://schemas.microsoft.com/office/drawing/2014/main" id="{0CCF9A17-25E9-4CCD-9D41-805B7762DC1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99500"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5" name="Picture 12" descr="Left_Green">
            <a:hlinkClick r:id="" action="ppaction://hlinkshowjump?jump=previousslide"/>
            <a:extLst>
              <a:ext uri="{FF2B5EF4-FFF2-40B4-BE49-F238E27FC236}">
                <a16:creationId xmlns:a16="http://schemas.microsoft.com/office/drawing/2014/main" id="{1507687A-0D37-4827-8FBD-02074AAABEE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43888"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8601049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098"/>
                                        </p:tgtEl>
                                        <p:attrNameLst>
                                          <p:attrName>style.visibility</p:attrName>
                                        </p:attrNameLst>
                                      </p:cBhvr>
                                      <p:to>
                                        <p:strVal val="visible"/>
                                      </p:to>
                                    </p:set>
                                  </p:childTnLst>
                                  <p:subTnLst>
                                    <p:audio>
                                      <p:cMediaNode>
                                        <p:cTn display="0" masterRel="sameClick">
                                          <p:stCondLst>
                                            <p:cond evt="begin" delay="0">
                                              <p:tn val="5"/>
                                            </p:cond>
                                          </p:stCondLst>
                                          <p:endCondLst>
                                            <p:cond evt="onStopAudio" delay="0">
                                              <p:tgtEl>
                                                <p:sldTgt/>
                                              </p:tgtEl>
                                            </p:cond>
                                          </p:endCondLst>
                                        </p:cTn>
                                        <p:tgtEl>
                                          <p:sndTgt r:embed="rId3" name="projctor.wav"/>
                                        </p:tgtEl>
                                      </p:cMediaNode>
                                    </p:audio>
                                  </p:sub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1" fill="hold" grpId="0" nodeType="clickEffect">
                                  <p:stCondLst>
                                    <p:cond delay="0"/>
                                  </p:stCondLst>
                                  <p:childTnLst>
                                    <p:set>
                                      <p:cBhvr>
                                        <p:cTn id="10" dur="1" fill="hold">
                                          <p:stCondLst>
                                            <p:cond delay="0"/>
                                          </p:stCondLst>
                                        </p:cTn>
                                        <p:tgtEl>
                                          <p:spTgt spid="4099"/>
                                        </p:tgtEl>
                                        <p:attrNameLst>
                                          <p:attrName>style.visibility</p:attrName>
                                        </p:attrNameLst>
                                      </p:cBhvr>
                                      <p:to>
                                        <p:strVal val="visible"/>
                                      </p:to>
                                    </p:set>
                                    <p:animEffect transition="in" filter="wipe(up)">
                                      <p:cBhvr>
                                        <p:cTn id="11" dur="500"/>
                                        <p:tgtEl>
                                          <p:spTgt spid="40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8" grpId="0" autoUpdateAnimBg="0"/>
      <p:bldP spid="4099" grpId="0"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8">
            <a:extLst>
              <a:ext uri="{FF2B5EF4-FFF2-40B4-BE49-F238E27FC236}">
                <a16:creationId xmlns:a16="http://schemas.microsoft.com/office/drawing/2014/main" id="{F8823766-8E9C-419A-8F87-C83909611A44}"/>
              </a:ext>
            </a:extLst>
          </p:cNvPr>
          <p:cNvSpPr txBox="1">
            <a:spLocks noChangeArrowheads="1"/>
          </p:cNvSpPr>
          <p:nvPr/>
        </p:nvSpPr>
        <p:spPr bwMode="auto">
          <a:xfrm>
            <a:off x="2124075" y="981075"/>
            <a:ext cx="418306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b="1" dirty="0">
                <a:latin typeface="Times New Roman" panose="02020603050405020304" pitchFamily="18" charset="0"/>
              </a:rPr>
              <a:t>　</a:t>
            </a:r>
            <a:r>
              <a:rPr lang="en-US" altLang="zh-CN" sz="3200" b="1" dirty="0">
                <a:solidFill>
                  <a:srgbClr val="990000"/>
                </a:solidFill>
                <a:latin typeface="Times New Roman" panose="02020603050405020304" pitchFamily="18" charset="0"/>
              </a:rPr>
              <a:t>5 </a:t>
            </a:r>
            <a:r>
              <a:rPr lang="zh-CN" altLang="en-US" sz="3200" b="1" dirty="0">
                <a:solidFill>
                  <a:srgbClr val="990000"/>
                </a:solidFill>
                <a:latin typeface="Times New Roman" panose="02020603050405020304" pitchFamily="18" charset="0"/>
              </a:rPr>
              <a:t>．</a:t>
            </a:r>
            <a:r>
              <a:rPr lang="en-US" altLang="zh-CN" sz="3200" b="1" dirty="0">
                <a:solidFill>
                  <a:srgbClr val="990000"/>
                </a:solidFill>
                <a:latin typeface="Times New Roman" panose="02020603050405020304" pitchFamily="18" charset="0"/>
              </a:rPr>
              <a:t>1</a:t>
            </a:r>
            <a:r>
              <a:rPr lang="zh-CN" altLang="en-US" sz="3200" b="1" dirty="0">
                <a:solidFill>
                  <a:srgbClr val="990000"/>
                </a:solidFill>
                <a:latin typeface="Times New Roman" panose="02020603050405020304" pitchFamily="18" charset="0"/>
              </a:rPr>
              <a:t>　</a:t>
            </a:r>
            <a:r>
              <a:rPr lang="en-US" altLang="zh-CN" sz="3200" b="1" dirty="0">
                <a:solidFill>
                  <a:srgbClr val="990000"/>
                </a:solidFill>
                <a:latin typeface="Times New Roman" panose="02020603050405020304" pitchFamily="18" charset="0"/>
              </a:rPr>
              <a:t>Introduction</a:t>
            </a:r>
            <a:endParaRPr lang="zh-CN" altLang="en-US" sz="3200" b="1" dirty="0">
              <a:solidFill>
                <a:srgbClr val="990000"/>
              </a:solidFill>
              <a:latin typeface="Times New Roman" panose="02020603050405020304" pitchFamily="18" charset="0"/>
            </a:endParaRPr>
          </a:p>
        </p:txBody>
      </p:sp>
      <p:sp>
        <p:nvSpPr>
          <p:cNvPr id="5123" name="Text Box 9">
            <a:extLst>
              <a:ext uri="{FF2B5EF4-FFF2-40B4-BE49-F238E27FC236}">
                <a16:creationId xmlns:a16="http://schemas.microsoft.com/office/drawing/2014/main" id="{55B4A394-8976-48F2-90E7-C53769CFBFC9}"/>
              </a:ext>
            </a:extLst>
          </p:cNvPr>
          <p:cNvSpPr txBox="1">
            <a:spLocks noChangeArrowheads="1"/>
          </p:cNvSpPr>
          <p:nvPr/>
        </p:nvSpPr>
        <p:spPr bwMode="auto">
          <a:xfrm>
            <a:off x="456308" y="1976863"/>
            <a:ext cx="813048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dirty="0">
                <a:solidFill>
                  <a:schemeClr val="accent2"/>
                </a:solidFill>
                <a:latin typeface="Times New Roman" panose="02020603050405020304" pitchFamily="18" charset="0"/>
              </a:rPr>
              <a:t>5.1.1    </a:t>
            </a:r>
            <a:r>
              <a:rPr lang="en-US" altLang="zh-CN" dirty="0">
                <a:solidFill>
                  <a:schemeClr val="accent2"/>
                </a:solidFill>
                <a:latin typeface="Times New Roman" panose="02020603050405020304" pitchFamily="18" charset="0"/>
              </a:rPr>
              <a:t>Definition, structure and characteristics of sequential logic circuits</a:t>
            </a:r>
            <a:endParaRPr lang="zh-CN" altLang="en-US" sz="2400" b="1" dirty="0">
              <a:solidFill>
                <a:schemeClr val="accent2"/>
              </a:solidFill>
              <a:latin typeface="Times New Roman" panose="02020603050405020304" pitchFamily="18" charset="0"/>
            </a:endParaRPr>
          </a:p>
        </p:txBody>
      </p:sp>
      <p:sp>
        <p:nvSpPr>
          <p:cNvPr id="5124" name="Text Box 10">
            <a:extLst>
              <a:ext uri="{FF2B5EF4-FFF2-40B4-BE49-F238E27FC236}">
                <a16:creationId xmlns:a16="http://schemas.microsoft.com/office/drawing/2014/main" id="{98D07273-B28E-4E9A-A009-0DFA66752221}"/>
              </a:ext>
            </a:extLst>
          </p:cNvPr>
          <p:cNvSpPr txBox="1">
            <a:spLocks noChangeArrowheads="1"/>
          </p:cNvSpPr>
          <p:nvPr/>
        </p:nvSpPr>
        <p:spPr bwMode="auto">
          <a:xfrm>
            <a:off x="838200" y="3733800"/>
            <a:ext cx="762000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dirty="0">
                <a:latin typeface="Times New Roman" panose="02020603050405020304" pitchFamily="18" charset="0"/>
              </a:rPr>
              <a:t>If the stable output signal generated by the logic circuit at any time is not only related to the input signal of the circuit at that moment, but also related to the past input signal of the circuit, it is called a sequential logic circuit.</a:t>
            </a:r>
            <a:endParaRPr lang="zh-CN" altLang="en-US" sz="2400" b="1" dirty="0">
              <a:solidFill>
                <a:srgbClr val="CC3300"/>
              </a:solidFill>
              <a:latin typeface="Times New Roman" panose="02020603050405020304" pitchFamily="18" charset="0"/>
            </a:endParaRPr>
          </a:p>
        </p:txBody>
      </p:sp>
      <p:sp>
        <p:nvSpPr>
          <p:cNvPr id="5125" name="Text Box 11">
            <a:extLst>
              <a:ext uri="{FF2B5EF4-FFF2-40B4-BE49-F238E27FC236}">
                <a16:creationId xmlns:a16="http://schemas.microsoft.com/office/drawing/2014/main" id="{F0C2B88F-17A4-4B9A-995F-6B754E637FE0}"/>
              </a:ext>
            </a:extLst>
          </p:cNvPr>
          <p:cNvSpPr txBox="1">
            <a:spLocks noChangeArrowheads="1"/>
          </p:cNvSpPr>
          <p:nvPr/>
        </p:nvSpPr>
        <p:spPr bwMode="auto">
          <a:xfrm>
            <a:off x="838200" y="2992438"/>
            <a:ext cx="180850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dirty="0">
                <a:latin typeface="Times New Roman" panose="02020603050405020304" pitchFamily="18" charset="0"/>
              </a:rPr>
              <a:t>1. Definition</a:t>
            </a:r>
            <a:endParaRPr lang="zh-CN" altLang="en-US" sz="2400" dirty="0">
              <a:latin typeface="Times New Roman" panose="02020603050405020304" pitchFamily="18" charset="0"/>
            </a:endParaRPr>
          </a:p>
        </p:txBody>
      </p:sp>
      <p:pic>
        <p:nvPicPr>
          <p:cNvPr id="6150" name="Picture 12" descr="Right_Green">
            <a:hlinkClick r:id="" action="ppaction://hlinkshowjump?jump=nextslide"/>
            <a:extLst>
              <a:ext uri="{FF2B5EF4-FFF2-40B4-BE49-F238E27FC236}">
                <a16:creationId xmlns:a16="http://schemas.microsoft.com/office/drawing/2014/main" id="{32C94C8E-0F98-4651-BE87-D9557B0FB59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99500"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51" name="Picture 13" descr="Left_Green">
            <a:hlinkClick r:id="" action="ppaction://hlinkshowjump?jump=previousslide"/>
            <a:extLst>
              <a:ext uri="{FF2B5EF4-FFF2-40B4-BE49-F238E27FC236}">
                <a16:creationId xmlns:a16="http://schemas.microsoft.com/office/drawing/2014/main" id="{3939B98C-3BA4-4A04-A7E4-0AAE1A94C9F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43888"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2096854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122"/>
                                        </p:tgtEl>
                                        <p:attrNameLst>
                                          <p:attrName>style.visibility</p:attrName>
                                        </p:attrNameLst>
                                      </p:cBhvr>
                                      <p:to>
                                        <p:strVal val="visible"/>
                                      </p:to>
                                    </p:set>
                                  </p:childTnLst>
                                  <p:subTnLst>
                                    <p:audio>
                                      <p:cMediaNode>
                                        <p:cTn display="0" masterRel="sameClick">
                                          <p:stCondLst>
                                            <p:cond evt="begin" delay="0">
                                              <p:tn val="5"/>
                                            </p:cond>
                                          </p:stCondLst>
                                          <p:endCondLst>
                                            <p:cond evt="onStopAudio" delay="0">
                                              <p:tgtEl>
                                                <p:sldTgt/>
                                              </p:tgtEl>
                                            </p:cond>
                                          </p:endCondLst>
                                        </p:cTn>
                                        <p:tgtEl>
                                          <p:sndTgt r:embed="rId3" name="projctor.wav"/>
                                        </p:tgtEl>
                                      </p:cMediaNode>
                                    </p:audio>
                                  </p:sub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512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5125"/>
                                        </p:tgtEl>
                                        <p:attrNameLst>
                                          <p:attrName>style.visibility</p:attrName>
                                        </p:attrNameLst>
                                      </p:cBhvr>
                                      <p:to>
                                        <p:strVal val="visible"/>
                                      </p:to>
                                    </p:set>
                                  </p:childTnLst>
                                </p:cTn>
                              </p:par>
                            </p:childTnLst>
                          </p:cTn>
                        </p:par>
                        <p:par>
                          <p:cTn id="15" fill="hold" nodeType="afterGroup">
                            <p:stCondLst>
                              <p:cond delay="500"/>
                            </p:stCondLst>
                            <p:childTnLst>
                              <p:par>
                                <p:cTn id="16" presetID="14" presetClass="entr" presetSubtype="10" fill="hold" grpId="0" nodeType="afterEffect">
                                  <p:stCondLst>
                                    <p:cond delay="0"/>
                                  </p:stCondLst>
                                  <p:childTnLst>
                                    <p:set>
                                      <p:cBhvr>
                                        <p:cTn id="17" dur="1" fill="hold">
                                          <p:stCondLst>
                                            <p:cond delay="0"/>
                                          </p:stCondLst>
                                        </p:cTn>
                                        <p:tgtEl>
                                          <p:spTgt spid="5124"/>
                                        </p:tgtEl>
                                        <p:attrNameLst>
                                          <p:attrName>style.visibility</p:attrName>
                                        </p:attrNameLst>
                                      </p:cBhvr>
                                      <p:to>
                                        <p:strVal val="visible"/>
                                      </p:to>
                                    </p:set>
                                    <p:animEffect transition="in" filter="randombar(horizontal)">
                                      <p:cBhvr>
                                        <p:cTn id="18" dur="500"/>
                                        <p:tgtEl>
                                          <p:spTgt spid="51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2" grpId="0" autoUpdateAnimBg="0"/>
      <p:bldP spid="5123" grpId="0" autoUpdateAnimBg="0"/>
      <p:bldP spid="5124" grpId="0" autoUpdateAnimBg="0"/>
      <p:bldP spid="5125" grpId="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8">
            <a:extLst>
              <a:ext uri="{FF2B5EF4-FFF2-40B4-BE49-F238E27FC236}">
                <a16:creationId xmlns:a16="http://schemas.microsoft.com/office/drawing/2014/main" id="{80C1EA16-AB22-48CB-A283-96330CF681E4}"/>
              </a:ext>
            </a:extLst>
          </p:cNvPr>
          <p:cNvSpPr txBox="1">
            <a:spLocks noChangeArrowheads="1"/>
          </p:cNvSpPr>
          <p:nvPr/>
        </p:nvSpPr>
        <p:spPr bwMode="auto">
          <a:xfrm>
            <a:off x="838200" y="571500"/>
            <a:ext cx="315773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dirty="0">
                <a:solidFill>
                  <a:srgbClr val="CC3300"/>
                </a:solidFill>
                <a:latin typeface="Times New Roman" panose="02020603050405020304" pitchFamily="18" charset="0"/>
              </a:rPr>
              <a:t>II. Structure</a:t>
            </a:r>
            <a:endParaRPr lang="zh-CN" altLang="en-US" sz="2400" b="1" dirty="0">
              <a:solidFill>
                <a:srgbClr val="CC3300"/>
              </a:solidFill>
              <a:latin typeface="Times New Roman" panose="02020603050405020304" pitchFamily="18" charset="0"/>
            </a:endParaRPr>
          </a:p>
        </p:txBody>
      </p:sp>
      <p:sp>
        <p:nvSpPr>
          <p:cNvPr id="6147" name="Text Box 9">
            <a:extLst>
              <a:ext uri="{FF2B5EF4-FFF2-40B4-BE49-F238E27FC236}">
                <a16:creationId xmlns:a16="http://schemas.microsoft.com/office/drawing/2014/main" id="{6CFF35ED-BDA0-4D32-9614-6B45EAC9E767}"/>
              </a:ext>
            </a:extLst>
          </p:cNvPr>
          <p:cNvSpPr txBox="1">
            <a:spLocks noChangeArrowheads="1"/>
          </p:cNvSpPr>
          <p:nvPr/>
        </p:nvSpPr>
        <p:spPr bwMode="auto">
          <a:xfrm>
            <a:off x="228600" y="1028700"/>
            <a:ext cx="86106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2400" dirty="0">
                <a:latin typeface="Times New Roman" panose="02020603050405020304" pitchFamily="18" charset="0"/>
              </a:rPr>
              <a:t>　　</a:t>
            </a:r>
            <a:r>
              <a:rPr lang="en-US" altLang="zh-CN" dirty="0">
                <a:latin typeface="Times New Roman" panose="02020603050405020304" pitchFamily="18" charset="0"/>
              </a:rPr>
              <a:t>The sequential logic circuit is composed of a combinational circuit and a storage circuit, and the two parts are connected into one whole entity through a feedback loop.</a:t>
            </a:r>
            <a:endParaRPr lang="en-US" altLang="zh-CN" sz="2400" dirty="0">
              <a:latin typeface="Times New Roman" panose="02020603050405020304" pitchFamily="18" charset="0"/>
            </a:endParaRPr>
          </a:p>
        </p:txBody>
      </p:sp>
      <p:sp>
        <p:nvSpPr>
          <p:cNvPr id="6148" name="Text Box 11">
            <a:extLst>
              <a:ext uri="{FF2B5EF4-FFF2-40B4-BE49-F238E27FC236}">
                <a16:creationId xmlns:a16="http://schemas.microsoft.com/office/drawing/2014/main" id="{F1BA89C3-7BB3-47D0-AC58-AD210866636C}"/>
              </a:ext>
            </a:extLst>
          </p:cNvPr>
          <p:cNvSpPr txBox="1">
            <a:spLocks noChangeArrowheads="1"/>
          </p:cNvSpPr>
          <p:nvPr/>
        </p:nvSpPr>
        <p:spPr bwMode="auto">
          <a:xfrm>
            <a:off x="334962" y="5418137"/>
            <a:ext cx="8474075"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dirty="0">
                <a:latin typeface="Times New Roman" panose="02020603050405020304" pitchFamily="18" charset="0"/>
              </a:rPr>
              <a:t>In the figure, CP is a clock pulse signal, and whether it exists depends on the type of the sequential logic circuit.</a:t>
            </a:r>
            <a:endParaRPr lang="zh-CN" altLang="en-US" sz="2400" dirty="0">
              <a:latin typeface="Times New Roman" panose="02020603050405020304" pitchFamily="18" charset="0"/>
            </a:endParaRPr>
          </a:p>
        </p:txBody>
      </p:sp>
      <p:pic>
        <p:nvPicPr>
          <p:cNvPr id="7174" name="Picture 17" descr="Right_Green">
            <a:hlinkClick r:id="" action="ppaction://hlinkshowjump?jump=nextslide"/>
            <a:extLst>
              <a:ext uri="{FF2B5EF4-FFF2-40B4-BE49-F238E27FC236}">
                <a16:creationId xmlns:a16="http://schemas.microsoft.com/office/drawing/2014/main" id="{40383993-E6E9-4F49-8B47-4ED52903C9B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99500"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5" name="Picture 18" descr="Left_Green">
            <a:hlinkClick r:id="" action="ppaction://hlinkshowjump?jump=previousslide"/>
            <a:extLst>
              <a:ext uri="{FF2B5EF4-FFF2-40B4-BE49-F238E27FC236}">
                <a16:creationId xmlns:a16="http://schemas.microsoft.com/office/drawing/2014/main" id="{A970831D-EDFE-4DC4-BE2D-5EF0AECF4F4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43888"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图片 1">
            <a:extLst>
              <a:ext uri="{FF2B5EF4-FFF2-40B4-BE49-F238E27FC236}">
                <a16:creationId xmlns:a16="http://schemas.microsoft.com/office/drawing/2014/main" id="{D76A4BB6-819F-45BF-B234-050A2D253201}"/>
              </a:ext>
            </a:extLst>
          </p:cNvPr>
          <p:cNvPicPr>
            <a:picLocks noChangeAspect="1"/>
          </p:cNvPicPr>
          <p:nvPr/>
        </p:nvPicPr>
        <p:blipFill>
          <a:blip r:embed="rId6"/>
          <a:stretch>
            <a:fillRect/>
          </a:stretch>
        </p:blipFill>
        <p:spPr>
          <a:xfrm>
            <a:off x="2057400" y="2158925"/>
            <a:ext cx="5029200" cy="3076575"/>
          </a:xfrm>
          <a:prstGeom prst="rect">
            <a:avLst/>
          </a:prstGeom>
        </p:spPr>
      </p:pic>
    </p:spTree>
    <p:extLst>
      <p:ext uri="{BB962C8B-B14F-4D97-AF65-F5344CB8AC3E}">
        <p14:creationId xmlns:p14="http://schemas.microsoft.com/office/powerpoint/2010/main" val="56319831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146"/>
                                        </p:tgtEl>
                                        <p:attrNameLst>
                                          <p:attrName>style.visibility</p:attrName>
                                        </p:attrNameLst>
                                      </p:cBhvr>
                                      <p:to>
                                        <p:strVal val="visible"/>
                                      </p:to>
                                    </p:set>
                                  </p:childTnLst>
                                  <p:subTnLst>
                                    <p:audio>
                                      <p:cMediaNode>
                                        <p:cTn display="0" masterRel="sameClick">
                                          <p:stCondLst>
                                            <p:cond evt="begin" delay="0">
                                              <p:tn val="5"/>
                                            </p:cond>
                                          </p:stCondLst>
                                          <p:endCondLst>
                                            <p:cond evt="onStopAudio" delay="0">
                                              <p:tgtEl>
                                                <p:sldTgt/>
                                              </p:tgtEl>
                                            </p:cond>
                                          </p:endCondLst>
                                        </p:cTn>
                                        <p:tgtEl>
                                          <p:sndTgt r:embed="rId3" name="projctor.wav"/>
                                        </p:tgtEl>
                                      </p:cMediaNode>
                                    </p:audio>
                                  </p:subTnLst>
                                </p:cTn>
                              </p:par>
                            </p:childTnLst>
                          </p:cTn>
                        </p:par>
                      </p:childTnLst>
                    </p:cTn>
                  </p:par>
                  <p:par>
                    <p:cTn id="7" fill="hold" nodeType="clickPar">
                      <p:stCondLst>
                        <p:cond delay="indefinite"/>
                      </p:stCondLst>
                      <p:childTnLst>
                        <p:par>
                          <p:cTn id="8" fill="hold" nodeType="withGroup">
                            <p:stCondLst>
                              <p:cond delay="0"/>
                            </p:stCondLst>
                            <p:childTnLst>
                              <p:par>
                                <p:cTn id="9" presetID="14" presetClass="entr" presetSubtype="10" fill="hold" grpId="0" nodeType="clickEffect">
                                  <p:stCondLst>
                                    <p:cond delay="0"/>
                                  </p:stCondLst>
                                  <p:childTnLst>
                                    <p:set>
                                      <p:cBhvr>
                                        <p:cTn id="10" dur="1" fill="hold">
                                          <p:stCondLst>
                                            <p:cond delay="0"/>
                                          </p:stCondLst>
                                        </p:cTn>
                                        <p:tgtEl>
                                          <p:spTgt spid="6147"/>
                                        </p:tgtEl>
                                        <p:attrNameLst>
                                          <p:attrName>style.visibility</p:attrName>
                                        </p:attrNameLst>
                                      </p:cBhvr>
                                      <p:to>
                                        <p:strVal val="visible"/>
                                      </p:to>
                                    </p:set>
                                    <p:animEffect transition="in" filter="randombar(horizontal)">
                                      <p:cBhvr>
                                        <p:cTn id="11" dur="500"/>
                                        <p:tgtEl>
                                          <p:spTgt spid="6147"/>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6148"/>
                                        </p:tgtEl>
                                        <p:attrNameLst>
                                          <p:attrName>style.visibility</p:attrName>
                                        </p:attrNameLst>
                                      </p:cBhvr>
                                      <p:to>
                                        <p:strVal val="visible"/>
                                      </p:to>
                                    </p:set>
                                    <p:animEffect transition="in" filter="blinds(horizontal)">
                                      <p:cBhvr>
                                        <p:cTn id="16" dur="500"/>
                                        <p:tgtEl>
                                          <p:spTgt spid="61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6" grpId="0" autoUpdateAnimBg="0"/>
      <p:bldP spid="6147" grpId="0" autoUpdateAnimBg="0"/>
      <p:bldP spid="6148" grpId="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9">
            <a:extLst>
              <a:ext uri="{FF2B5EF4-FFF2-40B4-BE49-F238E27FC236}">
                <a16:creationId xmlns:a16="http://schemas.microsoft.com/office/drawing/2014/main" id="{DAB5E667-FF1B-4E30-A44D-0CA34C736919}"/>
              </a:ext>
            </a:extLst>
          </p:cNvPr>
          <p:cNvSpPr txBox="1">
            <a:spLocks noChangeArrowheads="1"/>
          </p:cNvSpPr>
          <p:nvPr/>
        </p:nvSpPr>
        <p:spPr bwMode="auto">
          <a:xfrm>
            <a:off x="457200" y="1219200"/>
            <a:ext cx="8001000" cy="144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dirty="0">
                <a:latin typeface="Times New Roman" panose="02020603050405020304" pitchFamily="18" charset="0"/>
              </a:rPr>
              <a:t>　　</a:t>
            </a:r>
            <a:r>
              <a:rPr lang="en-US" altLang="zh-CN" sz="2400" dirty="0">
                <a:latin typeface="Times New Roman" panose="02020603050405020304" pitchFamily="18" charset="0"/>
              </a:rPr>
              <a:t>The state of a sequential logic circuit, y</a:t>
            </a:r>
            <a:r>
              <a:rPr lang="en-US" altLang="zh-CN" sz="2400" baseline="-25000" dirty="0">
                <a:latin typeface="Times New Roman" panose="02020603050405020304" pitchFamily="18" charset="0"/>
              </a:rPr>
              <a:t>1</a:t>
            </a:r>
            <a:r>
              <a:rPr lang="en-US" altLang="zh-CN" sz="2400" dirty="0">
                <a:latin typeface="Times New Roman" panose="02020603050405020304" pitchFamily="18" charset="0"/>
              </a:rPr>
              <a:t>,…</a:t>
            </a:r>
            <a:r>
              <a:rPr lang="zh-CN" altLang="en-US" sz="2400" dirty="0">
                <a:latin typeface="Times New Roman" panose="02020603050405020304" pitchFamily="18" charset="0"/>
              </a:rPr>
              <a:t>，</a:t>
            </a:r>
            <a:r>
              <a:rPr lang="en-US" altLang="zh-CN" sz="2400" dirty="0" err="1">
                <a:latin typeface="Times New Roman" panose="02020603050405020304" pitchFamily="18" charset="0"/>
              </a:rPr>
              <a:t>y</a:t>
            </a:r>
            <a:r>
              <a:rPr lang="en-US" altLang="zh-CN" sz="2400" baseline="-25000" dirty="0" err="1">
                <a:latin typeface="Times New Roman" panose="02020603050405020304" pitchFamily="18" charset="0"/>
              </a:rPr>
              <a:t>s</a:t>
            </a:r>
            <a:r>
              <a:rPr lang="en-US" altLang="zh-CN" sz="2400" baseline="-25000" dirty="0">
                <a:latin typeface="Times New Roman" panose="02020603050405020304" pitchFamily="18" charset="0"/>
              </a:rPr>
              <a:t> </a:t>
            </a:r>
            <a:r>
              <a:rPr lang="en-US" altLang="zh-CN" dirty="0">
                <a:latin typeface="Times New Roman" panose="02020603050405020304" pitchFamily="18" charset="0"/>
              </a:rPr>
              <a:t>is the result of the storage circuit remembering the past input signal, which changes with the action of the external signals.</a:t>
            </a:r>
            <a:br>
              <a:rPr lang="zh-CN" altLang="en-US" sz="2400" dirty="0">
                <a:latin typeface="Times New Roman" panose="02020603050405020304" pitchFamily="18" charset="0"/>
              </a:rPr>
            </a:br>
            <a:endParaRPr lang="zh-CN" altLang="en-US" sz="2400" b="1" baseline="30000" dirty="0">
              <a:solidFill>
                <a:schemeClr val="tx2"/>
              </a:solidFill>
              <a:latin typeface="Times New Roman" panose="02020603050405020304" pitchFamily="18" charset="0"/>
            </a:endParaRPr>
          </a:p>
        </p:txBody>
      </p:sp>
      <p:sp>
        <p:nvSpPr>
          <p:cNvPr id="7171" name="Text Box 10">
            <a:extLst>
              <a:ext uri="{FF2B5EF4-FFF2-40B4-BE49-F238E27FC236}">
                <a16:creationId xmlns:a16="http://schemas.microsoft.com/office/drawing/2014/main" id="{82F7ADB9-DFFC-4000-8C9B-DAB702EC33AA}"/>
              </a:ext>
            </a:extLst>
          </p:cNvPr>
          <p:cNvSpPr txBox="1">
            <a:spLocks noChangeArrowheads="1"/>
          </p:cNvSpPr>
          <p:nvPr/>
        </p:nvSpPr>
        <p:spPr bwMode="auto">
          <a:xfrm>
            <a:off x="609600" y="2743200"/>
            <a:ext cx="7848600" cy="36009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dirty="0">
                <a:solidFill>
                  <a:srgbClr val="CC3300"/>
                </a:solidFill>
                <a:latin typeface="Times New Roman" panose="02020603050405020304" pitchFamily="18" charset="0"/>
              </a:rPr>
              <a:t>　　</a:t>
            </a:r>
            <a:r>
              <a:rPr lang="en-US" altLang="zh-CN" sz="2400" b="1" dirty="0">
                <a:solidFill>
                  <a:srgbClr val="CC3300"/>
                </a:solidFill>
                <a:latin typeface="Times New Roman" panose="02020603050405020304" pitchFamily="18" charset="0"/>
              </a:rPr>
              <a:t>Concepts of the Present State and Next State</a:t>
            </a:r>
            <a:r>
              <a:rPr lang="en-US" altLang="zh-CN" sz="2400" b="1" dirty="0">
                <a:solidFill>
                  <a:schemeClr val="accent2"/>
                </a:solidFill>
                <a:latin typeface="Times New Roman" panose="02020603050405020304" pitchFamily="18" charset="0"/>
              </a:rPr>
              <a:t>:</a:t>
            </a:r>
          </a:p>
          <a:p>
            <a:pPr eaLnBrk="1" hangingPunct="1">
              <a:spcBef>
                <a:spcPct val="50000"/>
              </a:spcBef>
            </a:pPr>
            <a:endParaRPr lang="en-US" altLang="zh-CN" sz="2400" b="1" dirty="0">
              <a:solidFill>
                <a:srgbClr val="CC3300"/>
              </a:solidFill>
              <a:latin typeface="Times New Roman" panose="02020603050405020304" pitchFamily="18" charset="0"/>
            </a:endParaRPr>
          </a:p>
          <a:p>
            <a:pPr algn="just" eaLnBrk="1" hangingPunct="1"/>
            <a:r>
              <a:rPr lang="zh-CN" altLang="en-US" sz="2400" dirty="0">
                <a:latin typeface="Times New Roman" panose="02020603050405020304" pitchFamily="18" charset="0"/>
              </a:rPr>
              <a:t>　　</a:t>
            </a:r>
            <a:r>
              <a:rPr lang="en-US" altLang="zh-CN" dirty="0">
                <a:latin typeface="Times New Roman" panose="02020603050405020304" pitchFamily="18" charset="0"/>
              </a:rPr>
              <a:t>When studying logic circuit’s functions, the state at a certain moment is usually called the “present state"</a:t>
            </a:r>
            <a:r>
              <a:rPr lang="zh-CN" altLang="en-US" sz="2400" dirty="0">
                <a:solidFill>
                  <a:srgbClr val="CC3300"/>
                </a:solidFill>
                <a:latin typeface="Times New Roman" panose="02020603050405020304" pitchFamily="18" charset="0"/>
              </a:rPr>
              <a:t>，</a:t>
            </a:r>
            <a:r>
              <a:rPr lang="en-US" altLang="zh-CN" sz="2400" dirty="0">
                <a:solidFill>
                  <a:srgbClr val="CC3300"/>
                </a:solidFill>
                <a:latin typeface="Times New Roman" panose="02020603050405020304" pitchFamily="18" charset="0"/>
              </a:rPr>
              <a:t>written as </a:t>
            </a:r>
            <a:r>
              <a:rPr lang="en-US" altLang="zh-CN" sz="2400" b="1" dirty="0" err="1">
                <a:solidFill>
                  <a:srgbClr val="CC3300"/>
                </a:solidFill>
                <a:latin typeface="Times New Roman" panose="02020603050405020304" pitchFamily="18" charset="0"/>
              </a:rPr>
              <a:t>y</a:t>
            </a:r>
            <a:r>
              <a:rPr lang="en-US" altLang="zh-CN" sz="2400" b="1" baseline="30000" dirty="0" err="1">
                <a:solidFill>
                  <a:srgbClr val="CC3300"/>
                </a:solidFill>
                <a:latin typeface="Times New Roman" panose="02020603050405020304" pitchFamily="18" charset="0"/>
              </a:rPr>
              <a:t>n</a:t>
            </a:r>
            <a:r>
              <a:rPr lang="zh-CN" altLang="en-US" sz="2400" b="1" dirty="0">
                <a:solidFill>
                  <a:srgbClr val="CC3300"/>
                </a:solidFill>
                <a:latin typeface="Times New Roman" panose="02020603050405020304" pitchFamily="18" charset="0"/>
              </a:rPr>
              <a:t>，</a:t>
            </a:r>
            <a:r>
              <a:rPr lang="en-US" altLang="zh-CN" dirty="0">
                <a:solidFill>
                  <a:srgbClr val="CC3300"/>
                </a:solidFill>
                <a:latin typeface="Times New Roman" panose="02020603050405020304" pitchFamily="18" charset="0"/>
              </a:rPr>
              <a:t>its abbreviation form is</a:t>
            </a:r>
            <a:r>
              <a:rPr lang="zh-CN" altLang="en-US" sz="2400" b="1" dirty="0">
                <a:solidFill>
                  <a:srgbClr val="CC3300"/>
                </a:solidFill>
                <a:latin typeface="Times New Roman" panose="02020603050405020304" pitchFamily="18" charset="0"/>
              </a:rPr>
              <a:t> </a:t>
            </a:r>
            <a:r>
              <a:rPr lang="en-US" altLang="zh-CN" sz="2400" b="1" dirty="0">
                <a:solidFill>
                  <a:srgbClr val="CC3300"/>
                </a:solidFill>
                <a:latin typeface="Times New Roman" panose="02020603050405020304" pitchFamily="18" charset="0"/>
              </a:rPr>
              <a:t>y</a:t>
            </a:r>
            <a:r>
              <a:rPr lang="zh-CN" altLang="en-US" sz="2400" dirty="0">
                <a:solidFill>
                  <a:srgbClr val="CC3300"/>
                </a:solidFill>
                <a:latin typeface="Times New Roman" panose="02020603050405020304" pitchFamily="18" charset="0"/>
              </a:rPr>
              <a:t>；</a:t>
            </a:r>
          </a:p>
          <a:p>
            <a:pPr algn="just" eaLnBrk="1" hangingPunct="1"/>
            <a:endParaRPr lang="zh-CN" altLang="en-US" sz="2400" dirty="0">
              <a:solidFill>
                <a:srgbClr val="CC3300"/>
              </a:solidFill>
              <a:latin typeface="Times New Roman" panose="02020603050405020304" pitchFamily="18" charset="0"/>
            </a:endParaRPr>
          </a:p>
          <a:p>
            <a:pPr algn="just" eaLnBrk="1" hangingPunct="1"/>
            <a:r>
              <a:rPr lang="zh-CN" altLang="en-US" sz="2400" dirty="0">
                <a:latin typeface="Times New Roman" panose="02020603050405020304" pitchFamily="18" charset="0"/>
              </a:rPr>
              <a:t>　　</a:t>
            </a:r>
            <a:r>
              <a:rPr lang="en-US" altLang="zh-CN" dirty="0">
                <a:latin typeface="Times New Roman" panose="02020603050405020304" pitchFamily="18" charset="0"/>
              </a:rPr>
              <a:t>In a current state, the new state that arrives after the external signal changes is called the “next state"</a:t>
            </a:r>
            <a:r>
              <a:rPr lang="zh-CN" altLang="en-US" sz="2400" b="1" dirty="0">
                <a:solidFill>
                  <a:srgbClr val="CC3300"/>
                </a:solidFill>
                <a:latin typeface="Times New Roman" panose="02020603050405020304" pitchFamily="18" charset="0"/>
              </a:rPr>
              <a:t>，</a:t>
            </a:r>
            <a:r>
              <a:rPr lang="en-US" altLang="zh-CN" sz="2400" b="1" dirty="0">
                <a:solidFill>
                  <a:srgbClr val="CC3300"/>
                </a:solidFill>
                <a:latin typeface="Times New Roman" panose="02020603050405020304" pitchFamily="18" charset="0"/>
              </a:rPr>
              <a:t>written as</a:t>
            </a:r>
            <a:r>
              <a:rPr lang="zh-CN" altLang="en-US" sz="2400" b="1" dirty="0">
                <a:solidFill>
                  <a:srgbClr val="CC3300"/>
                </a:solidFill>
                <a:latin typeface="Times New Roman" panose="02020603050405020304" pitchFamily="18" charset="0"/>
              </a:rPr>
              <a:t> </a:t>
            </a:r>
            <a:r>
              <a:rPr lang="en-US" altLang="zh-CN" sz="2400" b="1" dirty="0">
                <a:solidFill>
                  <a:srgbClr val="CC3300"/>
                </a:solidFill>
                <a:latin typeface="Times New Roman" panose="02020603050405020304" pitchFamily="18" charset="0"/>
              </a:rPr>
              <a:t>y</a:t>
            </a:r>
            <a:r>
              <a:rPr lang="en-US" altLang="zh-CN" sz="2400" b="1" baseline="30000" dirty="0">
                <a:solidFill>
                  <a:srgbClr val="CC3300"/>
                </a:solidFill>
                <a:latin typeface="Times New Roman" panose="02020603050405020304" pitchFamily="18" charset="0"/>
              </a:rPr>
              <a:t>n+1</a:t>
            </a:r>
            <a:r>
              <a:rPr lang="en-US" altLang="zh-CN" sz="2400" baseline="30000" dirty="0">
                <a:solidFill>
                  <a:srgbClr val="CC3300"/>
                </a:solidFill>
                <a:latin typeface="Times New Roman" panose="02020603050405020304" pitchFamily="18" charset="0"/>
              </a:rPr>
              <a:t> </a:t>
            </a:r>
            <a:r>
              <a:rPr lang="en-US" altLang="zh-CN" sz="2400" dirty="0">
                <a:solidFill>
                  <a:srgbClr val="CC3300"/>
                </a:solidFill>
                <a:latin typeface="Times New Roman" panose="02020603050405020304" pitchFamily="18" charset="0"/>
              </a:rPr>
              <a:t>.</a:t>
            </a:r>
            <a:endParaRPr lang="zh-CN" altLang="en-US" sz="2400" dirty="0">
              <a:solidFill>
                <a:srgbClr val="CC3300"/>
              </a:solidFill>
              <a:latin typeface="Times New Roman" panose="02020603050405020304" pitchFamily="18" charset="0"/>
            </a:endParaRPr>
          </a:p>
        </p:txBody>
      </p:sp>
      <p:pic>
        <p:nvPicPr>
          <p:cNvPr id="8196" name="Picture 11" descr="Right_Green">
            <a:hlinkClick r:id="" action="ppaction://hlinkshowjump?jump=nextslide"/>
            <a:extLst>
              <a:ext uri="{FF2B5EF4-FFF2-40B4-BE49-F238E27FC236}">
                <a16:creationId xmlns:a16="http://schemas.microsoft.com/office/drawing/2014/main" id="{C6F54271-428E-4E43-9F5F-17B52B05F66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99500"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7" name="Picture 12" descr="Left_Green">
            <a:hlinkClick r:id="" action="ppaction://hlinkshowjump?jump=previousslide"/>
            <a:extLst>
              <a:ext uri="{FF2B5EF4-FFF2-40B4-BE49-F238E27FC236}">
                <a16:creationId xmlns:a16="http://schemas.microsoft.com/office/drawing/2014/main" id="{9AEA51CC-D951-4750-9DF5-1CCF3FC20F0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43888"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8170385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5" fill="hold" grpId="0" nodeType="clickEffect">
                                  <p:stCondLst>
                                    <p:cond delay="0"/>
                                  </p:stCondLst>
                                  <p:childTnLst>
                                    <p:set>
                                      <p:cBhvr>
                                        <p:cTn id="6" dur="1" fill="hold">
                                          <p:stCondLst>
                                            <p:cond delay="0"/>
                                          </p:stCondLst>
                                        </p:cTn>
                                        <p:tgtEl>
                                          <p:spTgt spid="7170"/>
                                        </p:tgtEl>
                                        <p:attrNameLst>
                                          <p:attrName>style.visibility</p:attrName>
                                        </p:attrNameLst>
                                      </p:cBhvr>
                                      <p:to>
                                        <p:strVal val="visible"/>
                                      </p:to>
                                    </p:set>
                                    <p:animEffect transition="in" filter="blinds(vertical)">
                                      <p:cBhvr>
                                        <p:cTn id="7" dur="500"/>
                                        <p:tgtEl>
                                          <p:spTgt spid="7170"/>
                                        </p:tgtEl>
                                      </p:cBhvr>
                                    </p:animEffect>
                                  </p:childTnLst>
                                  <p:subTnLst>
                                    <p:audio>
                                      <p:cMediaNode>
                                        <p:cTn display="0" masterRel="sameClick">
                                          <p:stCondLst>
                                            <p:cond evt="begin" delay="0">
                                              <p:tn val="5"/>
                                            </p:cond>
                                          </p:stCondLst>
                                          <p:endCondLst>
                                            <p:cond evt="onStopAudio" delay="0">
                                              <p:tgtEl>
                                                <p:sldTgt/>
                                              </p:tgtEl>
                                            </p:cond>
                                          </p:endCondLst>
                                        </p:cTn>
                                        <p:tgtEl>
                                          <p:sndTgt r:embed="rId3" name="projctor.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7171"/>
                                        </p:tgtEl>
                                        <p:attrNameLst>
                                          <p:attrName>style.visibility</p:attrName>
                                        </p:attrNameLst>
                                      </p:cBhvr>
                                      <p:to>
                                        <p:strVal val="visible"/>
                                      </p:to>
                                    </p:set>
                                    <p:anim calcmode="lin" valueType="num">
                                      <p:cBhvr additive="base">
                                        <p:cTn id="12" dur="500" fill="hold"/>
                                        <p:tgtEl>
                                          <p:spTgt spid="7171"/>
                                        </p:tgtEl>
                                        <p:attrNameLst>
                                          <p:attrName>ppt_x</p:attrName>
                                        </p:attrNameLst>
                                      </p:cBhvr>
                                      <p:tavLst>
                                        <p:tav tm="0">
                                          <p:val>
                                            <p:strVal val="#ppt_x"/>
                                          </p:val>
                                        </p:tav>
                                        <p:tav tm="100000">
                                          <p:val>
                                            <p:strVal val="#ppt_x"/>
                                          </p:val>
                                        </p:tav>
                                      </p:tavLst>
                                    </p:anim>
                                    <p:anim calcmode="lin" valueType="num">
                                      <p:cBhvr additive="base">
                                        <p:cTn id="13" dur="500" fill="hold"/>
                                        <p:tgtEl>
                                          <p:spTgt spid="717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0" grpId="0" autoUpdateAnimBg="0"/>
      <p:bldP spid="7171" grpId="0"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8">
            <a:extLst>
              <a:ext uri="{FF2B5EF4-FFF2-40B4-BE49-F238E27FC236}">
                <a16:creationId xmlns:a16="http://schemas.microsoft.com/office/drawing/2014/main" id="{54D11C8B-ACE6-4E4A-8912-94F39A6020FD}"/>
              </a:ext>
            </a:extLst>
          </p:cNvPr>
          <p:cNvSpPr txBox="1">
            <a:spLocks noChangeArrowheads="1"/>
          </p:cNvSpPr>
          <p:nvPr/>
        </p:nvSpPr>
        <p:spPr bwMode="auto">
          <a:xfrm>
            <a:off x="876300" y="914400"/>
            <a:ext cx="24003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dirty="0">
                <a:solidFill>
                  <a:srgbClr val="CC3300"/>
                </a:solidFill>
                <a:latin typeface="Times New Roman" panose="02020603050405020304" pitchFamily="18" charset="0"/>
              </a:rPr>
              <a:t>III. Features</a:t>
            </a:r>
            <a:endParaRPr lang="zh-CN" altLang="en-US" sz="2400" b="1" dirty="0">
              <a:solidFill>
                <a:srgbClr val="CC3300"/>
              </a:solidFill>
              <a:latin typeface="Times New Roman" panose="02020603050405020304" pitchFamily="18" charset="0"/>
            </a:endParaRPr>
          </a:p>
        </p:txBody>
      </p:sp>
      <p:sp>
        <p:nvSpPr>
          <p:cNvPr id="8195" name="Text Box 10">
            <a:extLst>
              <a:ext uri="{FF2B5EF4-FFF2-40B4-BE49-F238E27FC236}">
                <a16:creationId xmlns:a16="http://schemas.microsoft.com/office/drawing/2014/main" id="{5924B692-19CE-4D68-9C81-BD72119C0FA2}"/>
              </a:ext>
            </a:extLst>
          </p:cNvPr>
          <p:cNvSpPr txBox="1">
            <a:spLocks noChangeArrowheads="1"/>
          </p:cNvSpPr>
          <p:nvPr/>
        </p:nvSpPr>
        <p:spPr bwMode="auto">
          <a:xfrm>
            <a:off x="395288" y="1916113"/>
            <a:ext cx="8169275" cy="42040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5000"/>
              </a:lnSpc>
            </a:pPr>
            <a:r>
              <a:rPr lang="zh-CN" altLang="en-US" sz="2400" b="1" dirty="0">
                <a:solidFill>
                  <a:schemeClr val="tx2"/>
                </a:solidFill>
                <a:latin typeface="Times New Roman" panose="02020603050405020304" pitchFamily="18" charset="0"/>
                <a:sym typeface="Wingdings 3" panose="05040102010807070707" pitchFamily="18" charset="2"/>
              </a:rPr>
              <a:t>　　</a:t>
            </a:r>
            <a:r>
              <a:rPr lang="zh-CN" altLang="en-US" sz="2400" b="1" dirty="0">
                <a:solidFill>
                  <a:schemeClr val="accent2"/>
                </a:solidFill>
                <a:latin typeface="Times New Roman" panose="02020603050405020304" pitchFamily="18" charset="0"/>
                <a:sym typeface="Wingdings 3" panose="05040102010807070707" pitchFamily="18" charset="2"/>
              </a:rPr>
              <a:t>☆</a:t>
            </a:r>
            <a:r>
              <a:rPr lang="en-US" altLang="zh-CN" dirty="0">
                <a:solidFill>
                  <a:schemeClr val="accent2"/>
                </a:solidFill>
                <a:latin typeface="Times New Roman" panose="02020603050405020304" pitchFamily="18" charset="0"/>
              </a:rPr>
              <a:t>The circuit is composed of a combination circuit and a storage circuit, and has a function of memorizing past inputs;</a:t>
            </a:r>
            <a:r>
              <a:rPr lang="zh-CN" altLang="en-US" sz="2400" b="1" dirty="0">
                <a:solidFill>
                  <a:schemeClr val="accent2"/>
                </a:solidFill>
                <a:latin typeface="Times New Roman" panose="02020603050405020304" pitchFamily="18" charset="0"/>
              </a:rPr>
              <a:t></a:t>
            </a:r>
          </a:p>
          <a:p>
            <a:pPr algn="just" eaLnBrk="1" hangingPunct="1">
              <a:lnSpc>
                <a:spcPct val="125000"/>
              </a:lnSpc>
            </a:pPr>
            <a:r>
              <a:rPr lang="zh-CN" altLang="en-US" sz="2400" b="1" dirty="0">
                <a:solidFill>
                  <a:schemeClr val="accent2"/>
                </a:solidFill>
                <a:latin typeface="Times New Roman" panose="02020603050405020304" pitchFamily="18" charset="0"/>
                <a:sym typeface="Wingdings 3" panose="05040102010807070707" pitchFamily="18" charset="2"/>
              </a:rPr>
              <a:t>　　☆</a:t>
            </a:r>
            <a:r>
              <a:rPr lang="en-US" altLang="zh-CN" dirty="0">
                <a:solidFill>
                  <a:schemeClr val="accent2"/>
                </a:solidFill>
                <a:latin typeface="Times New Roman" panose="02020603050405020304" pitchFamily="18" charset="0"/>
              </a:rPr>
              <a:t>A feedback loop is included in the circuit, and the function of the circuit is related to "timing/sequence" through feedback;</a:t>
            </a:r>
          </a:p>
          <a:p>
            <a:pPr algn="just" eaLnBrk="1" hangingPunct="1">
              <a:lnSpc>
                <a:spcPct val="125000"/>
              </a:lnSpc>
            </a:pPr>
            <a:endParaRPr lang="zh-CN" altLang="en-US" sz="2400" b="1" dirty="0">
              <a:solidFill>
                <a:schemeClr val="accent2"/>
              </a:solidFill>
              <a:latin typeface="Times New Roman" panose="02020603050405020304" pitchFamily="18" charset="0"/>
              <a:sym typeface="Wingdings 3" panose="05040102010807070707" pitchFamily="18" charset="2"/>
            </a:endParaRPr>
          </a:p>
          <a:p>
            <a:pPr algn="just" eaLnBrk="1" hangingPunct="1">
              <a:lnSpc>
                <a:spcPct val="125000"/>
              </a:lnSpc>
            </a:pPr>
            <a:r>
              <a:rPr lang="zh-CN" altLang="en-US" sz="2400" b="1" dirty="0">
                <a:solidFill>
                  <a:schemeClr val="accent2"/>
                </a:solidFill>
                <a:latin typeface="Times New Roman" panose="02020603050405020304" pitchFamily="18" charset="0"/>
                <a:sym typeface="Wingdings 3" panose="05040102010807070707" pitchFamily="18" charset="2"/>
              </a:rPr>
              <a:t>　　☆</a:t>
            </a:r>
            <a:r>
              <a:rPr lang="en-US" altLang="zh-CN" dirty="0">
                <a:solidFill>
                  <a:schemeClr val="accent2"/>
                </a:solidFill>
                <a:latin typeface="Times New Roman" panose="02020603050405020304" pitchFamily="18" charset="0"/>
              </a:rPr>
              <a:t>The output of the circuit is determined by the input and state of the circuit at the time (memory of past inputs).</a:t>
            </a:r>
            <a:endParaRPr lang="zh-CN" altLang="en-US" sz="2400" b="1" dirty="0">
              <a:solidFill>
                <a:schemeClr val="accent2"/>
              </a:solidFill>
              <a:latin typeface="Times New Roman" panose="02020603050405020304" pitchFamily="18" charset="0"/>
            </a:endParaRPr>
          </a:p>
        </p:txBody>
      </p:sp>
      <p:pic>
        <p:nvPicPr>
          <p:cNvPr id="9220" name="Picture 11" descr="Right_Green">
            <a:hlinkClick r:id="" action="ppaction://hlinkshowjump?jump=nextslide"/>
            <a:extLst>
              <a:ext uri="{FF2B5EF4-FFF2-40B4-BE49-F238E27FC236}">
                <a16:creationId xmlns:a16="http://schemas.microsoft.com/office/drawing/2014/main" id="{2E6F5581-2182-4686-9ABD-38FD2D71E41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99500"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1" name="Picture 12" descr="Left_Green">
            <a:hlinkClick r:id="" action="ppaction://hlinkshowjump?jump=previousslide"/>
            <a:extLst>
              <a:ext uri="{FF2B5EF4-FFF2-40B4-BE49-F238E27FC236}">
                <a16:creationId xmlns:a16="http://schemas.microsoft.com/office/drawing/2014/main" id="{6A7B1F41-F99D-403E-953B-D88E060F604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43888"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8598113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8194"/>
                                        </p:tgtEl>
                                        <p:attrNameLst>
                                          <p:attrName>style.visibility</p:attrName>
                                        </p:attrNameLst>
                                      </p:cBhvr>
                                      <p:to>
                                        <p:strVal val="visible"/>
                                      </p:to>
                                    </p:set>
                                  </p:childTnLst>
                                  <p:subTnLst>
                                    <p:audio>
                                      <p:cMediaNode>
                                        <p:cTn display="0" masterRel="sameClick">
                                          <p:stCondLst>
                                            <p:cond evt="begin" delay="0">
                                              <p:tn val="5"/>
                                            </p:cond>
                                          </p:stCondLst>
                                          <p:endCondLst>
                                            <p:cond evt="onStopAudio" delay="0">
                                              <p:tgtEl>
                                                <p:sldTgt/>
                                              </p:tgtEl>
                                            </p:cond>
                                          </p:endCondLst>
                                        </p:cTn>
                                        <p:tgtEl>
                                          <p:sndTgt r:embed="rId3" name="projctor.wav"/>
                                        </p:tgtEl>
                                      </p:cMediaNode>
                                    </p:audio>
                                  </p:subTnLst>
                                </p:cTn>
                              </p:par>
                            </p:childTnLst>
                          </p:cTn>
                        </p:par>
                        <p:par>
                          <p:cTn id="7" fill="hold" nodeType="afterGroup">
                            <p:stCondLst>
                              <p:cond delay="500"/>
                            </p:stCondLst>
                            <p:childTnLst>
                              <p:par>
                                <p:cTn id="8" presetID="22" presetClass="entr" presetSubtype="1" fill="hold" grpId="0" nodeType="afterEffect">
                                  <p:stCondLst>
                                    <p:cond delay="0"/>
                                  </p:stCondLst>
                                  <p:childTnLst>
                                    <p:set>
                                      <p:cBhvr>
                                        <p:cTn id="9" dur="1" fill="hold">
                                          <p:stCondLst>
                                            <p:cond delay="0"/>
                                          </p:stCondLst>
                                        </p:cTn>
                                        <p:tgtEl>
                                          <p:spTgt spid="8195"/>
                                        </p:tgtEl>
                                        <p:attrNameLst>
                                          <p:attrName>style.visibility</p:attrName>
                                        </p:attrNameLst>
                                      </p:cBhvr>
                                      <p:to>
                                        <p:strVal val="visible"/>
                                      </p:to>
                                    </p:set>
                                    <p:animEffect transition="in" filter="wipe(up)">
                                      <p:cBhvr>
                                        <p:cTn id="10" dur="500"/>
                                        <p:tgtEl>
                                          <p:spTgt spid="81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4" grpId="0" autoUpdateAnimBg="0"/>
      <p:bldP spid="8195" grpId="0"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 Box 9">
            <a:extLst>
              <a:ext uri="{FF2B5EF4-FFF2-40B4-BE49-F238E27FC236}">
                <a16:creationId xmlns:a16="http://schemas.microsoft.com/office/drawing/2014/main" id="{504030BB-9B1B-4A0B-A23E-6CA5DF8F7CC9}"/>
              </a:ext>
            </a:extLst>
          </p:cNvPr>
          <p:cNvSpPr txBox="1">
            <a:spLocks noChangeArrowheads="1"/>
          </p:cNvSpPr>
          <p:nvPr/>
        </p:nvSpPr>
        <p:spPr bwMode="auto">
          <a:xfrm>
            <a:off x="673100" y="850900"/>
            <a:ext cx="649118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dirty="0">
                <a:latin typeface="Times New Roman" panose="02020603050405020304" pitchFamily="18" charset="0"/>
              </a:rPr>
              <a:t>5. 1 .</a:t>
            </a:r>
            <a:r>
              <a:rPr lang="en-US" altLang="zh-CN" dirty="0">
                <a:latin typeface="Times New Roman" panose="02020603050405020304" pitchFamily="18" charset="0"/>
              </a:rPr>
              <a:t>2 Categories of sequential logic circuits</a:t>
            </a:r>
            <a:endParaRPr lang="zh-CN" altLang="en-US" sz="2400" b="1" dirty="0">
              <a:latin typeface="Times New Roman" panose="02020603050405020304" pitchFamily="18" charset="0"/>
            </a:endParaRPr>
          </a:p>
        </p:txBody>
      </p:sp>
      <p:grpSp>
        <p:nvGrpSpPr>
          <p:cNvPr id="9219" name="Group 3">
            <a:extLst>
              <a:ext uri="{FF2B5EF4-FFF2-40B4-BE49-F238E27FC236}">
                <a16:creationId xmlns:a16="http://schemas.microsoft.com/office/drawing/2014/main" id="{B67A94D1-1090-400E-9490-CFF17E655FE7}"/>
              </a:ext>
            </a:extLst>
          </p:cNvPr>
          <p:cNvGrpSpPr>
            <a:grpSpLocks/>
          </p:cNvGrpSpPr>
          <p:nvPr/>
        </p:nvGrpSpPr>
        <p:grpSpPr bwMode="auto">
          <a:xfrm>
            <a:off x="82728" y="1422742"/>
            <a:ext cx="9036496" cy="1657350"/>
            <a:chOff x="0" y="0"/>
            <a:chExt cx="5386" cy="1044"/>
          </a:xfrm>
        </p:grpSpPr>
        <p:sp>
          <p:nvSpPr>
            <p:cNvPr id="10247" name="Text Box 11">
              <a:extLst>
                <a:ext uri="{FF2B5EF4-FFF2-40B4-BE49-F238E27FC236}">
                  <a16:creationId xmlns:a16="http://schemas.microsoft.com/office/drawing/2014/main" id="{02CB68F9-FF47-4252-9532-A8AAED49552A}"/>
                </a:ext>
              </a:extLst>
            </p:cNvPr>
            <p:cNvSpPr txBox="1">
              <a:spLocks noChangeArrowheads="1"/>
            </p:cNvSpPr>
            <p:nvPr/>
          </p:nvSpPr>
          <p:spPr bwMode="auto">
            <a:xfrm>
              <a:off x="288" y="0"/>
              <a:ext cx="4089"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dirty="0">
                  <a:solidFill>
                    <a:srgbClr val="000099"/>
                  </a:solidFill>
                  <a:latin typeface="Times New Roman" panose="02020603050405020304" pitchFamily="18" charset="0"/>
                </a:rPr>
                <a:t>I. </a:t>
              </a:r>
              <a:r>
                <a:rPr lang="en-US" altLang="zh-CN" dirty="0">
                  <a:solidFill>
                    <a:srgbClr val="000099"/>
                  </a:solidFill>
                  <a:latin typeface="Times New Roman" panose="02020603050405020304" pitchFamily="18" charset="0"/>
                </a:rPr>
                <a:t>Classified by the working modes of logic circuit</a:t>
              </a:r>
              <a:endParaRPr lang="zh-CN" altLang="en-US" sz="2400" b="1" dirty="0">
                <a:solidFill>
                  <a:srgbClr val="000099"/>
                </a:solidFill>
                <a:latin typeface="Times New Roman" panose="02020603050405020304" pitchFamily="18" charset="0"/>
              </a:endParaRPr>
            </a:p>
          </p:txBody>
        </p:sp>
        <p:sp>
          <p:nvSpPr>
            <p:cNvPr id="10248" name="Text Box 12">
              <a:extLst>
                <a:ext uri="{FF2B5EF4-FFF2-40B4-BE49-F238E27FC236}">
                  <a16:creationId xmlns:a16="http://schemas.microsoft.com/office/drawing/2014/main" id="{46042851-B87B-4DE1-AA27-1D828CF5B634}"/>
                </a:ext>
              </a:extLst>
            </p:cNvPr>
            <p:cNvSpPr txBox="1">
              <a:spLocks noChangeArrowheads="1"/>
            </p:cNvSpPr>
            <p:nvPr/>
          </p:nvSpPr>
          <p:spPr bwMode="auto">
            <a:xfrm>
              <a:off x="0" y="288"/>
              <a:ext cx="5386" cy="7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dirty="0">
                  <a:latin typeface="Times New Roman" panose="02020603050405020304" pitchFamily="18" charset="0"/>
                </a:rPr>
                <a:t>　　</a:t>
              </a:r>
              <a:r>
                <a:rPr lang="en-US" altLang="zh-CN" dirty="0">
                  <a:latin typeface="Times New Roman" panose="02020603050405020304" pitchFamily="18" charset="0"/>
                </a:rPr>
                <a:t>According to the working mode of the circuit, the sequential logic circuit can be divided into two types: (1) synchronous sequential logic circuit and (2) asynchronous sequential logic circuit.</a:t>
              </a:r>
              <a:endParaRPr lang="zh-CN" altLang="en-US" sz="2400" dirty="0">
                <a:latin typeface="Times New Roman" panose="02020603050405020304" pitchFamily="18" charset="0"/>
              </a:endParaRPr>
            </a:p>
          </p:txBody>
        </p:sp>
      </p:grpSp>
      <p:sp>
        <p:nvSpPr>
          <p:cNvPr id="9222" name="Text Box 13">
            <a:extLst>
              <a:ext uri="{FF2B5EF4-FFF2-40B4-BE49-F238E27FC236}">
                <a16:creationId xmlns:a16="http://schemas.microsoft.com/office/drawing/2014/main" id="{DDD77C74-476A-4A23-B994-0C3E0B223D6A}"/>
              </a:ext>
            </a:extLst>
          </p:cNvPr>
          <p:cNvSpPr txBox="1">
            <a:spLocks noChangeArrowheads="1"/>
          </p:cNvSpPr>
          <p:nvPr/>
        </p:nvSpPr>
        <p:spPr bwMode="auto">
          <a:xfrm>
            <a:off x="323850" y="3500438"/>
            <a:ext cx="8550275"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dirty="0">
                <a:solidFill>
                  <a:srgbClr val="FF9933"/>
                </a:solidFill>
                <a:latin typeface="Times New Roman" panose="02020603050405020304" pitchFamily="18" charset="0"/>
              </a:rPr>
              <a:t>　　</a:t>
            </a:r>
            <a:r>
              <a:rPr lang="en-US" altLang="zh-CN" sz="2400" b="1" dirty="0">
                <a:solidFill>
                  <a:srgbClr val="A60000"/>
                </a:solidFill>
                <a:latin typeface="Times New Roman" panose="02020603050405020304" pitchFamily="18" charset="0"/>
              </a:rPr>
              <a:t>1. </a:t>
            </a:r>
            <a:r>
              <a:rPr lang="en-US" altLang="zh-CN" dirty="0">
                <a:latin typeface="Times New Roman" panose="02020603050405020304" pitchFamily="18" charset="0"/>
              </a:rPr>
              <a:t> Synchronous sequential logic circuit </a:t>
            </a:r>
            <a:br>
              <a:rPr lang="zh-CN" altLang="en-US" sz="2400" b="1" dirty="0">
                <a:solidFill>
                  <a:srgbClr val="A60000"/>
                </a:solidFill>
                <a:latin typeface="Times New Roman" panose="02020603050405020304" pitchFamily="18" charset="0"/>
              </a:rPr>
            </a:br>
            <a:endParaRPr lang="zh-CN" altLang="en-US" sz="2400" b="1" dirty="0">
              <a:solidFill>
                <a:srgbClr val="A60000"/>
              </a:solidFill>
              <a:latin typeface="Times New Roman" panose="02020603050405020304" pitchFamily="18" charset="0"/>
            </a:endParaRPr>
          </a:p>
          <a:p>
            <a:pPr eaLnBrk="1" hangingPunct="1"/>
            <a:r>
              <a:rPr lang="zh-CN" altLang="en-US" sz="2400" b="1" dirty="0">
                <a:solidFill>
                  <a:schemeClr val="tx2"/>
                </a:solidFill>
                <a:latin typeface="Times New Roman" panose="02020603050405020304" pitchFamily="18" charset="0"/>
              </a:rPr>
              <a:t>　　</a:t>
            </a:r>
            <a:r>
              <a:rPr lang="zh-CN" altLang="en-US" sz="2400" b="1" dirty="0">
                <a:solidFill>
                  <a:srgbClr val="CC3300"/>
                </a:solidFill>
                <a:latin typeface="Times New Roman" panose="02020603050405020304" pitchFamily="18" charset="0"/>
              </a:rPr>
              <a:t>（</a:t>
            </a:r>
            <a:r>
              <a:rPr lang="en-US" altLang="zh-CN" sz="2400" b="1" dirty="0">
                <a:solidFill>
                  <a:srgbClr val="CC3300"/>
                </a:solidFill>
                <a:latin typeface="Times New Roman" panose="02020603050405020304" pitchFamily="18" charset="0"/>
              </a:rPr>
              <a:t>1</a:t>
            </a:r>
            <a:r>
              <a:rPr lang="zh-CN" altLang="en-US" sz="2400" b="1" dirty="0">
                <a:solidFill>
                  <a:srgbClr val="CC3300"/>
                </a:solidFill>
                <a:latin typeface="Times New Roman" panose="02020603050405020304" pitchFamily="18" charset="0"/>
              </a:rPr>
              <a:t>）</a:t>
            </a:r>
            <a:r>
              <a:rPr lang="en-US" altLang="zh-CN" sz="2400" b="1" dirty="0">
                <a:solidFill>
                  <a:srgbClr val="CC3300"/>
                </a:solidFill>
                <a:latin typeface="Times New Roman" panose="02020603050405020304" pitchFamily="18" charset="0"/>
              </a:rPr>
              <a:t>Features</a:t>
            </a:r>
            <a:r>
              <a:rPr lang="zh-CN" altLang="en-US" sz="2400" b="1" dirty="0">
                <a:solidFill>
                  <a:srgbClr val="CC3300"/>
                </a:solidFill>
                <a:latin typeface="Times New Roman" panose="02020603050405020304" pitchFamily="18" charset="0"/>
              </a:rPr>
              <a:t>：</a:t>
            </a:r>
            <a:r>
              <a:rPr lang="en-US" altLang="zh-CN" dirty="0">
                <a:latin typeface="Times New Roman" panose="02020603050405020304" pitchFamily="18" charset="0"/>
              </a:rPr>
              <a:t>There is a unified timing signal in the circuit, the memory device uses a clock controlled flip-flop, and the circuit state is simultaneously converted under the control of the clock pulse, that is, the change of the circuit state depends on the input signal and the clock pulse signal.</a:t>
            </a:r>
            <a:endParaRPr lang="zh-CN" altLang="en-US" sz="2400" dirty="0">
              <a:latin typeface="Times New Roman" panose="02020603050405020304" pitchFamily="18" charset="0"/>
            </a:endParaRPr>
          </a:p>
        </p:txBody>
      </p:sp>
      <p:pic>
        <p:nvPicPr>
          <p:cNvPr id="10245" name="Picture 16" descr="Right_Green">
            <a:hlinkClick r:id="" action="ppaction://hlinkshowjump?jump=nextslide"/>
            <a:extLst>
              <a:ext uri="{FF2B5EF4-FFF2-40B4-BE49-F238E27FC236}">
                <a16:creationId xmlns:a16="http://schemas.microsoft.com/office/drawing/2014/main" id="{EEF33F3D-FC81-4D7D-AC4C-7E9709412B9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99500"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6" name="Picture 17" descr="Left_Green">
            <a:hlinkClick r:id="" action="ppaction://hlinkshowjump?jump=previousslide"/>
            <a:extLst>
              <a:ext uri="{FF2B5EF4-FFF2-40B4-BE49-F238E27FC236}">
                <a16:creationId xmlns:a16="http://schemas.microsoft.com/office/drawing/2014/main" id="{8D568FBC-11C1-4507-84DC-8A9B84BC5AB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43888"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1776552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9218"/>
                                        </p:tgtEl>
                                        <p:attrNameLst>
                                          <p:attrName>style.visibility</p:attrName>
                                        </p:attrNameLst>
                                      </p:cBhvr>
                                      <p:to>
                                        <p:strVal val="visible"/>
                                      </p:to>
                                    </p:set>
                                  </p:childTnLst>
                                  <p:subTnLst>
                                    <p:audio>
                                      <p:cMediaNode>
                                        <p:cTn display="0" masterRel="sameClick">
                                          <p:stCondLst>
                                            <p:cond evt="begin" delay="0">
                                              <p:tn val="5"/>
                                            </p:cond>
                                          </p:stCondLst>
                                          <p:endCondLst>
                                            <p:cond evt="onStopAudio" delay="0">
                                              <p:tgtEl>
                                                <p:sldTgt/>
                                              </p:tgtEl>
                                            </p:cond>
                                          </p:endCondLst>
                                        </p:cTn>
                                        <p:tgtEl>
                                          <p:sndTgt r:embed="rId3" name="projctor.wav"/>
                                        </p:tgtEl>
                                      </p:cMediaNode>
                                    </p:audio>
                                  </p:sub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9219"/>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1" fill="hold" grpId="0" nodeType="clickEffect">
                                  <p:stCondLst>
                                    <p:cond delay="0"/>
                                  </p:stCondLst>
                                  <p:childTnLst>
                                    <p:set>
                                      <p:cBhvr>
                                        <p:cTn id="14" dur="1" fill="hold">
                                          <p:stCondLst>
                                            <p:cond delay="0"/>
                                          </p:stCondLst>
                                        </p:cTn>
                                        <p:tgtEl>
                                          <p:spTgt spid="9222"/>
                                        </p:tgtEl>
                                        <p:attrNameLst>
                                          <p:attrName>style.visibility</p:attrName>
                                        </p:attrNameLst>
                                      </p:cBhvr>
                                      <p:to>
                                        <p:strVal val="visible"/>
                                      </p:to>
                                    </p:set>
                                    <p:animEffect transition="in" filter="wipe(up)">
                                      <p:cBhvr>
                                        <p:cTn id="15" dur="500"/>
                                        <p:tgtEl>
                                          <p:spTgt spid="92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8" grpId="0" autoUpdateAnimBg="0"/>
      <p:bldP spid="9222" grpId="0"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12">
            <a:extLst>
              <a:ext uri="{FF2B5EF4-FFF2-40B4-BE49-F238E27FC236}">
                <a16:creationId xmlns:a16="http://schemas.microsoft.com/office/drawing/2014/main" id="{1AE172AC-ACA0-4D3F-8BE7-328212C881B0}"/>
              </a:ext>
            </a:extLst>
          </p:cNvPr>
          <p:cNvSpPr txBox="1">
            <a:spLocks noChangeArrowheads="1"/>
          </p:cNvSpPr>
          <p:nvPr/>
        </p:nvSpPr>
        <p:spPr bwMode="auto">
          <a:xfrm>
            <a:off x="221456" y="-99392"/>
            <a:ext cx="8778875"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dirty="0">
                <a:solidFill>
                  <a:srgbClr val="CC3300"/>
                </a:solidFill>
                <a:latin typeface="Times New Roman" panose="02020603050405020304" pitchFamily="18" charset="0"/>
              </a:rPr>
              <a:t>　（</a:t>
            </a:r>
            <a:r>
              <a:rPr lang="en-US" altLang="zh-CN" sz="2400" b="1" dirty="0">
                <a:solidFill>
                  <a:srgbClr val="CC3300"/>
                </a:solidFill>
                <a:latin typeface="Times New Roman" panose="02020603050405020304" pitchFamily="18" charset="0"/>
              </a:rPr>
              <a:t>2</a:t>
            </a:r>
            <a:r>
              <a:rPr lang="zh-CN" altLang="en-US" sz="2400" b="1" dirty="0">
                <a:solidFill>
                  <a:srgbClr val="CC3300"/>
                </a:solidFill>
                <a:latin typeface="Times New Roman" panose="02020603050405020304" pitchFamily="18" charset="0"/>
              </a:rPr>
              <a:t>）</a:t>
            </a:r>
            <a:r>
              <a:rPr lang="en-US" altLang="zh-CN" sz="2400" b="1" dirty="0">
                <a:solidFill>
                  <a:srgbClr val="CC3300"/>
                </a:solidFill>
                <a:latin typeface="Times New Roman" panose="02020603050405020304" pitchFamily="18" charset="0"/>
              </a:rPr>
              <a:t>Present state and next state</a:t>
            </a:r>
            <a:br>
              <a:rPr lang="zh-CN" altLang="en-US" sz="2400" b="1" dirty="0">
                <a:solidFill>
                  <a:srgbClr val="CC3300"/>
                </a:solidFill>
                <a:latin typeface="Times New Roman" panose="02020603050405020304" pitchFamily="18" charset="0"/>
              </a:rPr>
            </a:br>
            <a:r>
              <a:rPr lang="zh-CN" altLang="en-US" sz="2400" b="1" dirty="0">
                <a:solidFill>
                  <a:schemeClr val="tx2"/>
                </a:solidFill>
                <a:latin typeface="Times New Roman" panose="02020603050405020304" pitchFamily="18" charset="0"/>
              </a:rPr>
              <a:t>　　</a:t>
            </a:r>
            <a:r>
              <a:rPr lang="en-US" altLang="zh-CN" dirty="0">
                <a:latin typeface="Times New Roman" panose="02020603050405020304" pitchFamily="18" charset="0"/>
              </a:rPr>
              <a:t>The present state and the next state in the synchronous sequential circuit are based on a certain clock pulse.</a:t>
            </a:r>
            <a:br>
              <a:rPr lang="zh-CN" altLang="en-US" sz="2400" dirty="0">
                <a:latin typeface="Times New Roman" panose="02020603050405020304" pitchFamily="18" charset="0"/>
              </a:rPr>
            </a:br>
            <a:r>
              <a:rPr lang="zh-CN" altLang="en-US" sz="2400" dirty="0">
                <a:latin typeface="Times New Roman" panose="02020603050405020304" pitchFamily="18" charset="0"/>
              </a:rPr>
              <a:t>    </a:t>
            </a:r>
            <a:r>
              <a:rPr lang="en-US" altLang="zh-CN" dirty="0">
                <a:solidFill>
                  <a:srgbClr val="A60000"/>
                </a:solidFill>
                <a:latin typeface="Times New Roman" panose="02020603050405020304" pitchFamily="18" charset="0"/>
              </a:rPr>
              <a:t>Present state--refers to the state of the circuit before the clock pulse acts. </a:t>
            </a:r>
          </a:p>
          <a:p>
            <a:pPr eaLnBrk="1" hangingPunct="1"/>
            <a:r>
              <a:rPr lang="en-US" altLang="zh-CN" dirty="0">
                <a:solidFill>
                  <a:srgbClr val="A60000"/>
                </a:solidFill>
                <a:latin typeface="Times New Roman" panose="02020603050405020304" pitchFamily="18" charset="0"/>
              </a:rPr>
              <a:t>    Next state—the state in which the circuit arrives after the clock pulse is applied.</a:t>
            </a:r>
            <a:r>
              <a:rPr lang="zh-CN" altLang="en-US" sz="2400" dirty="0">
                <a:solidFill>
                  <a:srgbClr val="000099"/>
                </a:solidFill>
                <a:latin typeface="Times New Roman" panose="02020603050405020304" pitchFamily="18" charset="0"/>
              </a:rPr>
              <a:t>　　</a:t>
            </a:r>
            <a:endParaRPr lang="en-US" altLang="zh-CN" sz="2400" dirty="0">
              <a:solidFill>
                <a:srgbClr val="000099"/>
              </a:solidFill>
              <a:latin typeface="Times New Roman" panose="02020603050405020304" pitchFamily="18" charset="0"/>
            </a:endParaRPr>
          </a:p>
          <a:p>
            <a:pPr eaLnBrk="1" hangingPunct="1"/>
            <a:r>
              <a:rPr lang="en-US" altLang="zh-CN" dirty="0">
                <a:solidFill>
                  <a:srgbClr val="000099"/>
                </a:solidFill>
                <a:latin typeface="Times New Roman" panose="02020603050405020304" pitchFamily="18" charset="0"/>
              </a:rPr>
              <a:t>Note</a:t>
            </a:r>
            <a:r>
              <a:rPr lang="zh-CN" altLang="en-US" sz="2400" b="1" dirty="0">
                <a:solidFill>
                  <a:srgbClr val="000099"/>
                </a:solidFill>
                <a:latin typeface="Times New Roman" panose="02020603050405020304" pitchFamily="18" charset="0"/>
              </a:rPr>
              <a:t>：</a:t>
            </a:r>
            <a:r>
              <a:rPr lang="en-US" altLang="zh-CN" dirty="0">
                <a:solidFill>
                  <a:srgbClr val="000099"/>
                </a:solidFill>
                <a:latin typeface="Times New Roman" panose="02020603050405020304" pitchFamily="18" charset="0"/>
              </a:rPr>
              <a:t>The next state of the previous pulse is the present state of the next pulse!</a:t>
            </a:r>
            <a:endParaRPr lang="zh-CN" altLang="en-US" sz="2400" dirty="0">
              <a:solidFill>
                <a:srgbClr val="000099"/>
              </a:solidFill>
              <a:latin typeface="Times New Roman" panose="02020603050405020304" pitchFamily="18" charset="0"/>
            </a:endParaRPr>
          </a:p>
        </p:txBody>
      </p:sp>
      <p:sp>
        <p:nvSpPr>
          <p:cNvPr id="10243" name="Text Box 13">
            <a:extLst>
              <a:ext uri="{FF2B5EF4-FFF2-40B4-BE49-F238E27FC236}">
                <a16:creationId xmlns:a16="http://schemas.microsoft.com/office/drawing/2014/main" id="{CB1035A0-4B35-4138-9122-03E472CE9546}"/>
              </a:ext>
            </a:extLst>
          </p:cNvPr>
          <p:cNvSpPr txBox="1">
            <a:spLocks noChangeArrowheads="1"/>
          </p:cNvSpPr>
          <p:nvPr/>
        </p:nvSpPr>
        <p:spPr bwMode="auto">
          <a:xfrm>
            <a:off x="179388" y="3068638"/>
            <a:ext cx="8863012"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dirty="0">
                <a:solidFill>
                  <a:srgbClr val="CC3300"/>
                </a:solidFill>
                <a:latin typeface="Times New Roman" panose="02020603050405020304" pitchFamily="18" charset="0"/>
              </a:rPr>
              <a:t>　（</a:t>
            </a:r>
            <a:r>
              <a:rPr lang="en-US" altLang="zh-CN" sz="2400" b="1" dirty="0">
                <a:solidFill>
                  <a:srgbClr val="CC3300"/>
                </a:solidFill>
                <a:latin typeface="Times New Roman" panose="02020603050405020304" pitchFamily="18" charset="0"/>
              </a:rPr>
              <a:t>3</a:t>
            </a:r>
            <a:r>
              <a:rPr lang="zh-CN" altLang="en-US" sz="2400" b="1" dirty="0">
                <a:solidFill>
                  <a:srgbClr val="CC3300"/>
                </a:solidFill>
                <a:latin typeface="Times New Roman" panose="02020603050405020304" pitchFamily="18" charset="0"/>
              </a:rPr>
              <a:t>）</a:t>
            </a:r>
            <a:r>
              <a:rPr lang="en-US" altLang="zh-CN" sz="2400" b="1" dirty="0">
                <a:solidFill>
                  <a:srgbClr val="CC3300"/>
                </a:solidFill>
                <a:latin typeface="Times New Roman" panose="02020603050405020304" pitchFamily="18" charset="0"/>
              </a:rPr>
              <a:t>Requirements of the clock pulse</a:t>
            </a:r>
            <a:br>
              <a:rPr lang="zh-CN" altLang="en-US" sz="2400" b="1" dirty="0">
                <a:solidFill>
                  <a:srgbClr val="CC3300"/>
                </a:solidFill>
                <a:latin typeface="Times New Roman" panose="02020603050405020304" pitchFamily="18" charset="0"/>
              </a:rPr>
            </a:br>
            <a:r>
              <a:rPr lang="zh-CN" altLang="en-US" sz="2400" b="1" dirty="0">
                <a:solidFill>
                  <a:schemeClr val="tx2"/>
                </a:solidFill>
                <a:latin typeface="Times New Roman" panose="02020603050405020304" pitchFamily="18" charset="0"/>
              </a:rPr>
              <a:t>　　</a:t>
            </a:r>
            <a:r>
              <a:rPr lang="en-US" altLang="zh-CN" dirty="0">
                <a:solidFill>
                  <a:schemeClr val="accent2"/>
                </a:solidFill>
                <a:latin typeface="Times New Roman" panose="02020603050405020304" pitchFamily="18" charset="0"/>
              </a:rPr>
              <a:t>Pulse width: The flip-flop must be reliably flipped;</a:t>
            </a:r>
          </a:p>
          <a:p>
            <a:pPr eaLnBrk="1" hangingPunct="1"/>
            <a:r>
              <a:rPr lang="en-US" altLang="zh-CN" dirty="0">
                <a:solidFill>
                  <a:schemeClr val="accent2"/>
                </a:solidFill>
                <a:latin typeface="Times New Roman" panose="02020603050405020304" pitchFamily="18" charset="0"/>
              </a:rPr>
              <a:t>        Pulse frequency: It must be ensured that the circuit pulse response caused by the previous pulse is completely completed before the latter pulse arrives.</a:t>
            </a:r>
            <a:endParaRPr lang="zh-CN" altLang="en-US" sz="2400" dirty="0">
              <a:latin typeface="Times New Roman" panose="02020603050405020304" pitchFamily="18" charset="0"/>
            </a:endParaRPr>
          </a:p>
        </p:txBody>
      </p:sp>
      <p:sp>
        <p:nvSpPr>
          <p:cNvPr id="10244" name="Text Box 14">
            <a:extLst>
              <a:ext uri="{FF2B5EF4-FFF2-40B4-BE49-F238E27FC236}">
                <a16:creationId xmlns:a16="http://schemas.microsoft.com/office/drawing/2014/main" id="{D0383030-F8D9-4E10-A452-835B6B4268C0}"/>
              </a:ext>
            </a:extLst>
          </p:cNvPr>
          <p:cNvSpPr txBox="1">
            <a:spLocks noChangeArrowheads="1"/>
          </p:cNvSpPr>
          <p:nvPr/>
        </p:nvSpPr>
        <p:spPr bwMode="auto">
          <a:xfrm>
            <a:off x="228600" y="4808208"/>
            <a:ext cx="8915400" cy="20497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80000"/>
              </a:lnSpc>
              <a:spcBef>
                <a:spcPct val="50000"/>
              </a:spcBef>
            </a:pPr>
            <a:r>
              <a:rPr lang="zh-CN" altLang="en-US" sz="2400" dirty="0">
                <a:solidFill>
                  <a:srgbClr val="CC3300"/>
                </a:solidFill>
                <a:latin typeface="Times New Roman" panose="02020603050405020304" pitchFamily="18" charset="0"/>
              </a:rPr>
              <a:t>　</a:t>
            </a:r>
            <a:r>
              <a:rPr lang="zh-CN" altLang="en-US" sz="2400" dirty="0">
                <a:solidFill>
                  <a:srgbClr val="990000"/>
                </a:solidFill>
                <a:latin typeface="Times New Roman" panose="02020603050405020304" pitchFamily="18" charset="0"/>
              </a:rPr>
              <a:t>　</a:t>
            </a:r>
            <a:r>
              <a:rPr lang="en-US" altLang="zh-CN" sz="2400" b="1" dirty="0">
                <a:solidFill>
                  <a:srgbClr val="990000"/>
                </a:solidFill>
                <a:latin typeface="Times New Roman" panose="02020603050405020304" pitchFamily="18" charset="0"/>
              </a:rPr>
              <a:t>2. </a:t>
            </a:r>
            <a:r>
              <a:rPr lang="en-US" altLang="zh-CN" dirty="0">
                <a:solidFill>
                  <a:srgbClr val="990000"/>
                </a:solidFill>
                <a:latin typeface="Times New Roman" panose="02020603050405020304" pitchFamily="18" charset="0"/>
              </a:rPr>
              <a:t>Asynchronous sequential logic circuit</a:t>
            </a:r>
          </a:p>
          <a:p>
            <a:pPr eaLnBrk="1" hangingPunct="1">
              <a:lnSpc>
                <a:spcPct val="80000"/>
              </a:lnSpc>
              <a:spcBef>
                <a:spcPct val="50000"/>
              </a:spcBef>
            </a:pPr>
            <a:r>
              <a:rPr lang="en-US" altLang="zh-CN" dirty="0">
                <a:solidFill>
                  <a:srgbClr val="990000"/>
                </a:solidFill>
                <a:latin typeface="Times New Roman" panose="02020603050405020304" pitchFamily="18" charset="0"/>
              </a:rPr>
              <a:t>The storage circuit of the asynchronous sequential logic circuit can be composed of a flip-flop or a delay element. There is no unified clock signal synchronization in the circuit, and the change of the input signal of the circuit will directly lead to the change of the state of the circuit.</a:t>
            </a:r>
            <a:endParaRPr lang="zh-CN" altLang="en-US" sz="2400" dirty="0">
              <a:latin typeface="Times New Roman" panose="02020603050405020304" pitchFamily="18" charset="0"/>
            </a:endParaRPr>
          </a:p>
        </p:txBody>
      </p:sp>
      <p:pic>
        <p:nvPicPr>
          <p:cNvPr id="11269" name="Picture 45" descr="Right_Green">
            <a:hlinkClick r:id="" action="ppaction://hlinkshowjump?jump=nextslide"/>
            <a:extLst>
              <a:ext uri="{FF2B5EF4-FFF2-40B4-BE49-F238E27FC236}">
                <a16:creationId xmlns:a16="http://schemas.microsoft.com/office/drawing/2014/main" id="{C1E971FD-1763-4EF9-999E-D57D3A89EFB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99500"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70" name="Picture 46" descr="Left_Green">
            <a:hlinkClick r:id="" action="ppaction://hlinkshowjump?jump=previousslide"/>
            <a:extLst>
              <a:ext uri="{FF2B5EF4-FFF2-40B4-BE49-F238E27FC236}">
                <a16:creationId xmlns:a16="http://schemas.microsoft.com/office/drawing/2014/main" id="{1F4A7251-A492-4E88-B108-E0745FA532C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43888"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0981457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0242"/>
                                        </p:tgtEl>
                                        <p:attrNameLst>
                                          <p:attrName>style.visibility</p:attrName>
                                        </p:attrNameLst>
                                      </p:cBhvr>
                                      <p:to>
                                        <p:strVal val="visible"/>
                                      </p:to>
                                    </p:set>
                                    <p:animEffect transition="in" filter="box(in)">
                                      <p:cBhvr>
                                        <p:cTn id="7" dur="500"/>
                                        <p:tgtEl>
                                          <p:spTgt spid="10242"/>
                                        </p:tgtEl>
                                      </p:cBhvr>
                                    </p:animEffect>
                                  </p:childTnLst>
                                  <p:subTnLst>
                                    <p:audio>
                                      <p:cMediaNode>
                                        <p:cTn display="0" masterRel="sameClick">
                                          <p:stCondLst>
                                            <p:cond evt="begin" delay="0">
                                              <p:tn val="5"/>
                                            </p:cond>
                                          </p:stCondLst>
                                          <p:endCondLst>
                                            <p:cond evt="onStopAudio" delay="0">
                                              <p:tgtEl>
                                                <p:sldTgt/>
                                              </p:tgtEl>
                                            </p:cond>
                                          </p:endCondLst>
                                        </p:cTn>
                                        <p:tgtEl>
                                          <p:sndTgt r:embed="rId3" name="projctor.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0243"/>
                                        </p:tgtEl>
                                        <p:attrNameLst>
                                          <p:attrName>style.visibility</p:attrName>
                                        </p:attrNameLst>
                                      </p:cBhvr>
                                      <p:to>
                                        <p:strVal val="visible"/>
                                      </p:to>
                                    </p:set>
                                    <p:animEffect transition="in" filter="wipe(up)">
                                      <p:cBhvr>
                                        <p:cTn id="12" dur="500"/>
                                        <p:tgtEl>
                                          <p:spTgt spid="1024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0244"/>
                                        </p:tgtEl>
                                        <p:attrNameLst>
                                          <p:attrName>style.visibility</p:attrName>
                                        </p:attrNameLst>
                                      </p:cBhvr>
                                      <p:to>
                                        <p:strVal val="visible"/>
                                      </p:to>
                                    </p:set>
                                    <p:anim calcmode="lin" valueType="num">
                                      <p:cBhvr additive="base">
                                        <p:cTn id="17" dur="500" fill="hold"/>
                                        <p:tgtEl>
                                          <p:spTgt spid="10244"/>
                                        </p:tgtEl>
                                        <p:attrNameLst>
                                          <p:attrName>ppt_x</p:attrName>
                                        </p:attrNameLst>
                                      </p:cBhvr>
                                      <p:tavLst>
                                        <p:tav tm="0">
                                          <p:val>
                                            <p:strVal val="#ppt_x"/>
                                          </p:val>
                                        </p:tav>
                                        <p:tav tm="100000">
                                          <p:val>
                                            <p:strVal val="#ppt_x"/>
                                          </p:val>
                                        </p:tav>
                                      </p:tavLst>
                                    </p:anim>
                                    <p:anim calcmode="lin" valueType="num">
                                      <p:cBhvr additive="base">
                                        <p:cTn id="18" dur="500" fill="hold"/>
                                        <p:tgtEl>
                                          <p:spTgt spid="10244"/>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5"/>
                                            </p:cond>
                                          </p:stCondLst>
                                          <p:endCondLst>
                                            <p:cond evt="onStopAudio" delay="0">
                                              <p:tgtEl>
                                                <p:sldTgt/>
                                              </p:tgtEl>
                                            </p:cond>
                                          </p:endCondLst>
                                        </p:cTn>
                                        <p:tgtEl>
                                          <p:sndTgt r:embed="rId3" name="projcto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2" grpId="0" autoUpdateAnimBg="0"/>
      <p:bldP spid="10243" grpId="0" autoUpdateAnimBg="0"/>
      <p:bldP spid="10244"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 Box 9">
            <a:extLst>
              <a:ext uri="{FF2B5EF4-FFF2-40B4-BE49-F238E27FC236}">
                <a16:creationId xmlns:a16="http://schemas.microsoft.com/office/drawing/2014/main" id="{089FC9EC-C58B-4334-851A-82D3573F6FB6}"/>
              </a:ext>
            </a:extLst>
          </p:cNvPr>
          <p:cNvSpPr txBox="1">
            <a:spLocks noChangeArrowheads="1"/>
          </p:cNvSpPr>
          <p:nvPr/>
        </p:nvSpPr>
        <p:spPr bwMode="auto">
          <a:xfrm>
            <a:off x="192896" y="737472"/>
            <a:ext cx="847794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dirty="0">
                <a:solidFill>
                  <a:srgbClr val="000099"/>
                </a:solidFill>
                <a:latin typeface="Times New Roman" panose="02020603050405020304" pitchFamily="18" charset="0"/>
              </a:rPr>
              <a:t>II</a:t>
            </a:r>
            <a:r>
              <a:rPr lang="en-US" altLang="zh-CN" dirty="0">
                <a:solidFill>
                  <a:srgbClr val="000099"/>
                </a:solidFill>
                <a:latin typeface="Times New Roman" panose="02020603050405020304" pitchFamily="18" charset="0"/>
              </a:rPr>
              <a:t>. Classified by input dependent relationships of circuit output</a:t>
            </a:r>
            <a:endParaRPr lang="zh-CN" altLang="en-US" sz="2400" b="1" dirty="0">
              <a:solidFill>
                <a:srgbClr val="000099"/>
              </a:solidFill>
              <a:latin typeface="Times New Roman" panose="02020603050405020304" pitchFamily="18" charset="0"/>
            </a:endParaRPr>
          </a:p>
        </p:txBody>
      </p:sp>
      <p:sp>
        <p:nvSpPr>
          <p:cNvPr id="11267" name="Text Box 10">
            <a:extLst>
              <a:ext uri="{FF2B5EF4-FFF2-40B4-BE49-F238E27FC236}">
                <a16:creationId xmlns:a16="http://schemas.microsoft.com/office/drawing/2014/main" id="{55A25031-4540-45DD-8A1B-791C5D55F1F3}"/>
              </a:ext>
            </a:extLst>
          </p:cNvPr>
          <p:cNvSpPr txBox="1">
            <a:spLocks noChangeArrowheads="1"/>
          </p:cNvSpPr>
          <p:nvPr/>
        </p:nvSpPr>
        <p:spPr bwMode="auto">
          <a:xfrm>
            <a:off x="395288" y="1989138"/>
            <a:ext cx="8507412"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2400" dirty="0">
                <a:latin typeface="Times New Roman" panose="02020603050405020304" pitchFamily="18" charset="0"/>
              </a:rPr>
              <a:t>　　</a:t>
            </a:r>
            <a:r>
              <a:rPr lang="en-US" altLang="zh-CN" dirty="0">
                <a:latin typeface="Times New Roman" panose="02020603050405020304" pitchFamily="18" charset="0"/>
              </a:rPr>
              <a:t>According to whether the output of the circuit is directly related to the input, the sequential logic circuit can be divided into the </a:t>
            </a:r>
            <a:r>
              <a:rPr lang="en-US" altLang="zh-CN" sz="2400" dirty="0">
                <a:solidFill>
                  <a:schemeClr val="tx2"/>
                </a:solidFill>
                <a:latin typeface="Times New Roman" panose="02020603050405020304" pitchFamily="18" charset="0"/>
              </a:rPr>
              <a:t>Mealy</a:t>
            </a:r>
            <a:r>
              <a:rPr lang="zh-CN" altLang="en-US" dirty="0">
                <a:solidFill>
                  <a:schemeClr val="tx2"/>
                </a:solidFill>
                <a:latin typeface="Times New Roman" panose="02020603050405020304" pitchFamily="18" charset="0"/>
              </a:rPr>
              <a:t> </a:t>
            </a:r>
            <a:r>
              <a:rPr lang="en-US" altLang="zh-CN" dirty="0">
                <a:solidFill>
                  <a:schemeClr val="tx2"/>
                </a:solidFill>
                <a:latin typeface="Times New Roman" panose="02020603050405020304" pitchFamily="18" charset="0"/>
              </a:rPr>
              <a:t>type and </a:t>
            </a:r>
            <a:r>
              <a:rPr lang="en-US" altLang="zh-CN" sz="2400" dirty="0">
                <a:solidFill>
                  <a:schemeClr val="tx2"/>
                </a:solidFill>
                <a:latin typeface="Times New Roman" panose="02020603050405020304" pitchFamily="18" charset="0"/>
              </a:rPr>
              <a:t>Moore</a:t>
            </a:r>
            <a:r>
              <a:rPr lang="zh-CN" altLang="en-US" sz="2400" dirty="0">
                <a:solidFill>
                  <a:schemeClr val="tx2"/>
                </a:solidFill>
                <a:latin typeface="Times New Roman" panose="02020603050405020304" pitchFamily="18" charset="0"/>
              </a:rPr>
              <a:t> </a:t>
            </a:r>
            <a:r>
              <a:rPr lang="en-US" altLang="zh-CN" sz="2400" dirty="0">
                <a:solidFill>
                  <a:schemeClr val="tx2"/>
                </a:solidFill>
                <a:latin typeface="Times New Roman" panose="02020603050405020304" pitchFamily="18" charset="0"/>
              </a:rPr>
              <a:t>type, such two types of modes.</a:t>
            </a:r>
            <a:endParaRPr lang="zh-CN" altLang="en-US" sz="2400" dirty="0">
              <a:latin typeface="Times New Roman" panose="02020603050405020304" pitchFamily="18" charset="0"/>
            </a:endParaRPr>
          </a:p>
          <a:p>
            <a:pPr algn="just" eaLnBrk="1" hangingPunct="1"/>
            <a:endParaRPr lang="zh-CN" altLang="en-US" sz="2400" dirty="0">
              <a:latin typeface="Times New Roman" panose="02020603050405020304" pitchFamily="18" charset="0"/>
            </a:endParaRPr>
          </a:p>
          <a:p>
            <a:pPr algn="just" eaLnBrk="1" hangingPunct="1"/>
            <a:r>
              <a:rPr lang="zh-CN" altLang="en-US" sz="2400" dirty="0">
                <a:solidFill>
                  <a:srgbClr val="CC3300"/>
                </a:solidFill>
                <a:latin typeface="Times New Roman" panose="02020603050405020304" pitchFamily="18" charset="0"/>
              </a:rPr>
              <a:t>　　</a:t>
            </a:r>
            <a:r>
              <a:rPr lang="en-US" altLang="zh-CN" sz="2400" b="1" dirty="0">
                <a:solidFill>
                  <a:srgbClr val="CC3300"/>
                </a:solidFill>
                <a:latin typeface="Times New Roman" panose="02020603050405020304" pitchFamily="18" charset="0"/>
              </a:rPr>
              <a:t>1</a:t>
            </a:r>
            <a:r>
              <a:rPr lang="zh-CN" altLang="en-US" sz="2400" b="1" dirty="0">
                <a:solidFill>
                  <a:srgbClr val="CC3300"/>
                </a:solidFill>
                <a:latin typeface="Times New Roman" panose="02020603050405020304" pitchFamily="18" charset="0"/>
              </a:rPr>
              <a:t>．</a:t>
            </a:r>
            <a:r>
              <a:rPr lang="en-US" altLang="zh-CN" sz="2400" b="1" dirty="0">
                <a:solidFill>
                  <a:srgbClr val="CC3300"/>
                </a:solidFill>
                <a:latin typeface="Times New Roman" panose="02020603050405020304" pitchFamily="18" charset="0"/>
              </a:rPr>
              <a:t>Mealy types logic circuit: </a:t>
            </a:r>
            <a:r>
              <a:rPr lang="en-US" altLang="zh-CN" dirty="0">
                <a:latin typeface="Times New Roman" panose="02020603050405020304" pitchFamily="18" charset="0"/>
              </a:rPr>
              <a:t>If the output of the sequential logic circuit is a function of the circuit input and the state of the circuit, it is called a Mealy type sequential logic circuit.</a:t>
            </a:r>
            <a:endParaRPr lang="zh-CN" altLang="en-US" sz="2400" dirty="0">
              <a:latin typeface="Times New Roman" panose="02020603050405020304" pitchFamily="18" charset="0"/>
            </a:endParaRPr>
          </a:p>
          <a:p>
            <a:pPr algn="just" eaLnBrk="1" hangingPunct="1"/>
            <a:r>
              <a:rPr lang="zh-CN" altLang="en-US" sz="2400" dirty="0">
                <a:solidFill>
                  <a:srgbClr val="CC3300"/>
                </a:solidFill>
                <a:latin typeface="Times New Roman" panose="02020603050405020304" pitchFamily="18" charset="0"/>
              </a:rPr>
              <a:t>　　</a:t>
            </a:r>
            <a:r>
              <a:rPr lang="en-US" altLang="zh-CN" sz="2400" b="1" dirty="0">
                <a:solidFill>
                  <a:srgbClr val="CC3300"/>
                </a:solidFill>
                <a:latin typeface="Times New Roman" panose="02020603050405020304" pitchFamily="18" charset="0"/>
              </a:rPr>
              <a:t>2</a:t>
            </a:r>
            <a:r>
              <a:rPr lang="zh-CN" altLang="en-US" sz="2400" b="1" dirty="0">
                <a:solidFill>
                  <a:srgbClr val="CC3300"/>
                </a:solidFill>
                <a:latin typeface="Times New Roman" panose="02020603050405020304" pitchFamily="18" charset="0"/>
              </a:rPr>
              <a:t>．</a:t>
            </a:r>
            <a:r>
              <a:rPr lang="en-US" altLang="zh-CN" sz="2400" b="1" dirty="0">
                <a:solidFill>
                  <a:srgbClr val="CC3300"/>
                </a:solidFill>
                <a:latin typeface="Times New Roman" panose="02020603050405020304" pitchFamily="18" charset="0"/>
              </a:rPr>
              <a:t>Moore</a:t>
            </a:r>
            <a:r>
              <a:rPr lang="zh-CN" altLang="en-US" sz="2400" b="1" dirty="0">
                <a:solidFill>
                  <a:srgbClr val="CC3300"/>
                </a:solidFill>
                <a:latin typeface="Times New Roman" panose="02020603050405020304" pitchFamily="18" charset="0"/>
              </a:rPr>
              <a:t> </a:t>
            </a:r>
            <a:r>
              <a:rPr lang="en-US" altLang="zh-CN" sz="2400" b="1" dirty="0">
                <a:solidFill>
                  <a:srgbClr val="CC3300"/>
                </a:solidFill>
                <a:latin typeface="Times New Roman" panose="02020603050405020304" pitchFamily="18" charset="0"/>
              </a:rPr>
              <a:t>type logic circuit</a:t>
            </a:r>
            <a:r>
              <a:rPr lang="zh-CN" altLang="en-US" sz="2400" b="1" dirty="0">
                <a:solidFill>
                  <a:srgbClr val="CC3300"/>
                </a:solidFill>
                <a:latin typeface="Times New Roman" panose="02020603050405020304" pitchFamily="18" charset="0"/>
              </a:rPr>
              <a:t>：</a:t>
            </a:r>
            <a:r>
              <a:rPr lang="en-US" altLang="zh-CN" dirty="0">
                <a:latin typeface="Times New Roman" panose="02020603050405020304" pitchFamily="18" charset="0"/>
              </a:rPr>
              <a:t>If the output of the sequential logic circuit is only a function of the state of the circuit, it is called a Moore-type sequential logic circuit.</a:t>
            </a:r>
            <a:endParaRPr lang="zh-CN" altLang="en-US" sz="2400" dirty="0">
              <a:latin typeface="Times New Roman" panose="02020603050405020304" pitchFamily="18" charset="0"/>
            </a:endParaRPr>
          </a:p>
        </p:txBody>
      </p:sp>
      <p:pic>
        <p:nvPicPr>
          <p:cNvPr id="12292" name="Picture 38" descr="Right_Green">
            <a:hlinkClick r:id="" action="ppaction://hlinkshowjump?jump=nextslide"/>
            <a:extLst>
              <a:ext uri="{FF2B5EF4-FFF2-40B4-BE49-F238E27FC236}">
                <a16:creationId xmlns:a16="http://schemas.microsoft.com/office/drawing/2014/main" id="{D080E64B-F80E-4502-BA25-EF23888B8E2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99500"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3" name="Picture 39" descr="Left_Green">
            <a:hlinkClick r:id="" action="ppaction://hlinkshowjump?jump=previousslide"/>
            <a:extLst>
              <a:ext uri="{FF2B5EF4-FFF2-40B4-BE49-F238E27FC236}">
                <a16:creationId xmlns:a16="http://schemas.microsoft.com/office/drawing/2014/main" id="{600B356E-764B-4370-90C0-F0022D7A23F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43888"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8033353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1266"/>
                                        </p:tgtEl>
                                        <p:attrNameLst>
                                          <p:attrName>style.visibility</p:attrName>
                                        </p:attrNameLst>
                                      </p:cBhvr>
                                      <p:to>
                                        <p:strVal val="visible"/>
                                      </p:to>
                                    </p:set>
                                  </p:childTnLst>
                                  <p:subTnLst>
                                    <p:audio>
                                      <p:cMediaNode>
                                        <p:cTn display="0" masterRel="sameClick">
                                          <p:stCondLst>
                                            <p:cond evt="begin" delay="0">
                                              <p:tn val="5"/>
                                            </p:cond>
                                          </p:stCondLst>
                                          <p:endCondLst>
                                            <p:cond evt="onStopAudio" delay="0">
                                              <p:tgtEl>
                                                <p:sldTgt/>
                                              </p:tgtEl>
                                            </p:cond>
                                          </p:endCondLst>
                                        </p:cTn>
                                        <p:tgtEl>
                                          <p:sndTgt r:embed="rId3" name="projctor.wav"/>
                                        </p:tgtEl>
                                      </p:cMediaNode>
                                    </p:audio>
                                  </p:sub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1" fill="hold" grpId="0" nodeType="clickEffect">
                                  <p:stCondLst>
                                    <p:cond delay="0"/>
                                  </p:stCondLst>
                                  <p:childTnLst>
                                    <p:set>
                                      <p:cBhvr>
                                        <p:cTn id="10" dur="1" fill="hold">
                                          <p:stCondLst>
                                            <p:cond delay="0"/>
                                          </p:stCondLst>
                                        </p:cTn>
                                        <p:tgtEl>
                                          <p:spTgt spid="11267"/>
                                        </p:tgtEl>
                                        <p:attrNameLst>
                                          <p:attrName>style.visibility</p:attrName>
                                        </p:attrNameLst>
                                      </p:cBhvr>
                                      <p:to>
                                        <p:strVal val="visible"/>
                                      </p:to>
                                    </p:set>
                                    <p:animEffect transition="in" filter="wipe(up)">
                                      <p:cBhvr>
                                        <p:cTn id="11" dur="500"/>
                                        <p:tgtEl>
                                          <p:spTgt spid="112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6" grpId="0" autoUpdateAnimBg="0"/>
      <p:bldP spid="11267"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标题 1">
            <a:extLst>
              <a:ext uri="{FF2B5EF4-FFF2-40B4-BE49-F238E27FC236}">
                <a16:creationId xmlns:a16="http://schemas.microsoft.com/office/drawing/2014/main" id="{539C774F-3F06-46D5-8403-008770CEC867}"/>
              </a:ext>
            </a:extLst>
          </p:cNvPr>
          <p:cNvSpPr>
            <a:spLocks noGrp="1" noChangeArrowheads="1"/>
          </p:cNvSpPr>
          <p:nvPr>
            <p:ph type="title" idx="4294967295"/>
          </p:nvPr>
        </p:nvSpPr>
        <p:spPr bwMode="auto">
          <a:xfrm>
            <a:off x="457200" y="274638"/>
            <a:ext cx="8229600" cy="1143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13315" name="内容占位符 2">
            <a:extLst>
              <a:ext uri="{FF2B5EF4-FFF2-40B4-BE49-F238E27FC236}">
                <a16:creationId xmlns:a16="http://schemas.microsoft.com/office/drawing/2014/main" id="{E2C8AA9D-14FE-4C6B-85D3-D98394F1F2B2}"/>
              </a:ext>
            </a:extLst>
          </p:cNvPr>
          <p:cNvSpPr>
            <a:spLocks noGrp="1" noChangeArrowheads="1"/>
          </p:cNvSpPr>
          <p:nvPr>
            <p:ph idx="4294967295"/>
          </p:nvPr>
        </p:nvSpPr>
        <p:spPr bwMode="auto">
          <a:xfrm>
            <a:off x="457200" y="1600200"/>
            <a:ext cx="8229600" cy="452596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pic>
        <p:nvPicPr>
          <p:cNvPr id="2" name="图片 1">
            <a:extLst>
              <a:ext uri="{FF2B5EF4-FFF2-40B4-BE49-F238E27FC236}">
                <a16:creationId xmlns:a16="http://schemas.microsoft.com/office/drawing/2014/main" id="{60C102F4-6329-466A-88A6-F02987602B28}"/>
              </a:ext>
            </a:extLst>
          </p:cNvPr>
          <p:cNvPicPr>
            <a:picLocks noChangeAspect="1"/>
          </p:cNvPicPr>
          <p:nvPr/>
        </p:nvPicPr>
        <p:blipFill>
          <a:blip r:embed="rId3"/>
          <a:stretch>
            <a:fillRect/>
          </a:stretch>
        </p:blipFill>
        <p:spPr>
          <a:xfrm>
            <a:off x="660400" y="274638"/>
            <a:ext cx="7620000" cy="2619375"/>
          </a:xfrm>
          <a:prstGeom prst="rect">
            <a:avLst/>
          </a:prstGeom>
        </p:spPr>
      </p:pic>
      <p:pic>
        <p:nvPicPr>
          <p:cNvPr id="3" name="图片 2">
            <a:extLst>
              <a:ext uri="{FF2B5EF4-FFF2-40B4-BE49-F238E27FC236}">
                <a16:creationId xmlns:a16="http://schemas.microsoft.com/office/drawing/2014/main" id="{ECE5F6BB-CF7D-4E5F-859E-B0E7625254B5}"/>
              </a:ext>
            </a:extLst>
          </p:cNvPr>
          <p:cNvPicPr>
            <a:picLocks noChangeAspect="1"/>
          </p:cNvPicPr>
          <p:nvPr/>
        </p:nvPicPr>
        <p:blipFill>
          <a:blip r:embed="rId4"/>
          <a:stretch>
            <a:fillRect/>
          </a:stretch>
        </p:blipFill>
        <p:spPr>
          <a:xfrm>
            <a:off x="457200" y="2849436"/>
            <a:ext cx="8372475" cy="3581400"/>
          </a:xfrm>
          <a:prstGeom prst="rect">
            <a:avLst/>
          </a:prstGeom>
        </p:spPr>
      </p:pic>
    </p:spTree>
    <p:extLst>
      <p:ext uri="{BB962C8B-B14F-4D97-AF65-F5344CB8AC3E}">
        <p14:creationId xmlns:p14="http://schemas.microsoft.com/office/powerpoint/2010/main" val="24314483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 Box 9">
            <a:extLst>
              <a:ext uri="{FF2B5EF4-FFF2-40B4-BE49-F238E27FC236}">
                <a16:creationId xmlns:a16="http://schemas.microsoft.com/office/drawing/2014/main" id="{30C3D9D5-23F6-498A-BFA2-5CD983D3B20D}"/>
              </a:ext>
            </a:extLst>
          </p:cNvPr>
          <p:cNvSpPr txBox="1">
            <a:spLocks noChangeArrowheads="1"/>
          </p:cNvSpPr>
          <p:nvPr/>
        </p:nvSpPr>
        <p:spPr bwMode="auto">
          <a:xfrm>
            <a:off x="900112" y="1268413"/>
            <a:ext cx="547208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dirty="0">
                <a:solidFill>
                  <a:srgbClr val="000099"/>
                </a:solidFill>
                <a:latin typeface="Times New Roman" panose="02020603050405020304" pitchFamily="18" charset="0"/>
              </a:rPr>
              <a:t>III</a:t>
            </a:r>
            <a:r>
              <a:rPr lang="en-US" altLang="zh-CN" dirty="0">
                <a:solidFill>
                  <a:srgbClr val="000099"/>
                </a:solidFill>
                <a:latin typeface="Times New Roman" panose="02020603050405020304" pitchFamily="18" charset="0"/>
              </a:rPr>
              <a:t>. Classified by input signal form</a:t>
            </a:r>
            <a:endParaRPr lang="zh-CN" altLang="en-US" sz="2400" b="1" dirty="0">
              <a:solidFill>
                <a:srgbClr val="000099"/>
              </a:solidFill>
              <a:latin typeface="Times New Roman" panose="02020603050405020304" pitchFamily="18" charset="0"/>
            </a:endParaRPr>
          </a:p>
        </p:txBody>
      </p:sp>
      <p:sp>
        <p:nvSpPr>
          <p:cNvPr id="13315" name="Text Box 10">
            <a:extLst>
              <a:ext uri="{FF2B5EF4-FFF2-40B4-BE49-F238E27FC236}">
                <a16:creationId xmlns:a16="http://schemas.microsoft.com/office/drawing/2014/main" id="{8F206C8D-5841-44AC-AA3A-ABFABD6BE808}"/>
              </a:ext>
            </a:extLst>
          </p:cNvPr>
          <p:cNvSpPr txBox="1">
            <a:spLocks noChangeArrowheads="1"/>
          </p:cNvSpPr>
          <p:nvPr/>
        </p:nvSpPr>
        <p:spPr bwMode="auto">
          <a:xfrm>
            <a:off x="1258888" y="2349500"/>
            <a:ext cx="6769100"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dirty="0">
                <a:latin typeface="Times New Roman" panose="02020603050405020304" pitchFamily="18" charset="0"/>
              </a:rPr>
              <a:t>The input signal of the sequential logic circuit can be a pulse signal or a level signal. Depending on the form of the input signal, </a:t>
            </a:r>
            <a:r>
              <a:rPr lang="en-US" altLang="zh-CN">
                <a:latin typeface="Times New Roman" panose="02020603050405020304" pitchFamily="18" charset="0"/>
              </a:rPr>
              <a:t>the sequential </a:t>
            </a:r>
            <a:r>
              <a:rPr lang="en-US" altLang="zh-CN" dirty="0">
                <a:latin typeface="Times New Roman" panose="02020603050405020304" pitchFamily="18" charset="0"/>
              </a:rPr>
              <a:t>logic is usually divided into two types: pulse type and level type.</a:t>
            </a:r>
            <a:endParaRPr lang="zh-CN" altLang="en-US" sz="2400" dirty="0">
              <a:latin typeface="Times New Roman" panose="02020603050405020304" pitchFamily="18" charset="0"/>
            </a:endParaRPr>
          </a:p>
        </p:txBody>
      </p:sp>
      <p:pic>
        <p:nvPicPr>
          <p:cNvPr id="14340" name="Picture 15" descr="Right_Green">
            <a:hlinkClick r:id="" action="ppaction://hlinkshowjump?jump=nextslide"/>
            <a:extLst>
              <a:ext uri="{FF2B5EF4-FFF2-40B4-BE49-F238E27FC236}">
                <a16:creationId xmlns:a16="http://schemas.microsoft.com/office/drawing/2014/main" id="{4E65500A-8E6D-4ECB-85A6-B8F2325E61B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99500"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1" name="Picture 16" descr="Left_Green">
            <a:hlinkClick r:id="" action="ppaction://hlinkshowjump?jump=previousslide"/>
            <a:extLst>
              <a:ext uri="{FF2B5EF4-FFF2-40B4-BE49-F238E27FC236}">
                <a16:creationId xmlns:a16="http://schemas.microsoft.com/office/drawing/2014/main" id="{9BB4ED33-0003-4462-A05A-0CF47730341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43888"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6818373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3314"/>
                                        </p:tgtEl>
                                        <p:attrNameLst>
                                          <p:attrName>style.visibility</p:attrName>
                                        </p:attrNameLst>
                                      </p:cBhvr>
                                      <p:to>
                                        <p:strVal val="visible"/>
                                      </p:to>
                                    </p:set>
                                  </p:childTnLst>
                                  <p:subTnLst>
                                    <p:audio>
                                      <p:cMediaNode>
                                        <p:cTn display="0" masterRel="sameClick">
                                          <p:stCondLst>
                                            <p:cond evt="begin" delay="0">
                                              <p:tn val="5"/>
                                            </p:cond>
                                          </p:stCondLst>
                                          <p:endCondLst>
                                            <p:cond evt="onStopAudio" delay="0">
                                              <p:tgtEl>
                                                <p:sldTgt/>
                                              </p:tgtEl>
                                            </p:cond>
                                          </p:endCondLst>
                                        </p:cTn>
                                        <p:tgtEl>
                                          <p:sndTgt r:embed="rId3" name="projctor.wav"/>
                                        </p:tgtEl>
                                      </p:cMediaNode>
                                    </p:audio>
                                  </p:sub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1" fill="hold" grpId="0" nodeType="clickEffect">
                                  <p:stCondLst>
                                    <p:cond delay="0"/>
                                  </p:stCondLst>
                                  <p:childTnLst>
                                    <p:set>
                                      <p:cBhvr>
                                        <p:cTn id="10" dur="1" fill="hold">
                                          <p:stCondLst>
                                            <p:cond delay="0"/>
                                          </p:stCondLst>
                                        </p:cTn>
                                        <p:tgtEl>
                                          <p:spTgt spid="13315"/>
                                        </p:tgtEl>
                                        <p:attrNameLst>
                                          <p:attrName>style.visibility</p:attrName>
                                        </p:attrNameLst>
                                      </p:cBhvr>
                                      <p:to>
                                        <p:strVal val="visible"/>
                                      </p:to>
                                    </p:set>
                                    <p:animEffect transition="in" filter="wipe(up)">
                                      <p:cBhvr>
                                        <p:cTn id="11" dur="500"/>
                                        <p:tgtEl>
                                          <p:spTgt spid="133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4" grpId="0" autoUpdateAnimBg="0"/>
      <p:bldP spid="13315"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 Box 9">
            <a:extLst>
              <a:ext uri="{FF2B5EF4-FFF2-40B4-BE49-F238E27FC236}">
                <a16:creationId xmlns:a16="http://schemas.microsoft.com/office/drawing/2014/main" id="{DB8D8F78-2265-4F46-A444-31B3E1AF85F3}"/>
              </a:ext>
            </a:extLst>
          </p:cNvPr>
          <p:cNvSpPr txBox="1">
            <a:spLocks noChangeArrowheads="1"/>
          </p:cNvSpPr>
          <p:nvPr/>
        </p:nvSpPr>
        <p:spPr bwMode="auto">
          <a:xfrm>
            <a:off x="626269" y="362377"/>
            <a:ext cx="5507037"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dirty="0">
                <a:solidFill>
                  <a:srgbClr val="990000"/>
                </a:solidFill>
                <a:latin typeface="Times New Roman" panose="02020603050405020304" pitchFamily="18" charset="0"/>
              </a:rPr>
              <a:t>5.1.3  </a:t>
            </a:r>
            <a:r>
              <a:rPr lang="en-US" altLang="zh-CN" dirty="0">
                <a:solidFill>
                  <a:srgbClr val="990000"/>
                </a:solidFill>
                <a:latin typeface="Times New Roman" panose="02020603050405020304" pitchFamily="18" charset="0"/>
              </a:rPr>
              <a:t>Description method of synchronous sequential logic circuit</a:t>
            </a:r>
            <a:endParaRPr lang="zh-CN" altLang="en-US" sz="2400" b="1" dirty="0">
              <a:solidFill>
                <a:srgbClr val="990000"/>
              </a:solidFill>
              <a:latin typeface="Times New Roman" panose="02020603050405020304" pitchFamily="18" charset="0"/>
            </a:endParaRPr>
          </a:p>
        </p:txBody>
      </p:sp>
      <p:sp>
        <p:nvSpPr>
          <p:cNvPr id="14339" name="Text Box 11">
            <a:extLst>
              <a:ext uri="{FF2B5EF4-FFF2-40B4-BE49-F238E27FC236}">
                <a16:creationId xmlns:a16="http://schemas.microsoft.com/office/drawing/2014/main" id="{64F899D5-C3BE-4EBE-A076-3F477A2DEF1E}"/>
              </a:ext>
            </a:extLst>
          </p:cNvPr>
          <p:cNvSpPr txBox="1">
            <a:spLocks noChangeArrowheads="1"/>
          </p:cNvSpPr>
          <p:nvPr/>
        </p:nvSpPr>
        <p:spPr bwMode="auto">
          <a:xfrm>
            <a:off x="755650" y="1484313"/>
            <a:ext cx="7920038"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dirty="0">
                <a:solidFill>
                  <a:schemeClr val="accent2"/>
                </a:solidFill>
                <a:latin typeface="Times New Roman" panose="02020603050405020304" pitchFamily="18" charset="0"/>
              </a:rPr>
              <a:t>I</a:t>
            </a:r>
            <a:r>
              <a:rPr lang="en-US" altLang="zh-CN" dirty="0">
                <a:solidFill>
                  <a:schemeClr val="accent2"/>
                </a:solidFill>
                <a:latin typeface="Times New Roman" panose="02020603050405020304" pitchFamily="18" charset="0"/>
              </a:rPr>
              <a:t>. Logical function expression</a:t>
            </a:r>
            <a:endParaRPr lang="zh-CN" altLang="en-US" sz="2400" b="1" dirty="0">
              <a:solidFill>
                <a:schemeClr val="accent2"/>
              </a:solidFill>
              <a:latin typeface="Times New Roman" panose="02020603050405020304" pitchFamily="18" charset="0"/>
            </a:endParaRPr>
          </a:p>
          <a:p>
            <a:pPr eaLnBrk="1" hangingPunct="1"/>
            <a:r>
              <a:rPr lang="zh-CN" altLang="en-US" sz="2400" b="1" dirty="0">
                <a:latin typeface="Times New Roman" panose="02020603050405020304" pitchFamily="18" charset="0"/>
              </a:rPr>
              <a:t> </a:t>
            </a:r>
          </a:p>
          <a:p>
            <a:pPr eaLnBrk="1" hangingPunct="1"/>
            <a:r>
              <a:rPr lang="zh-CN" altLang="en-US" sz="2400" dirty="0">
                <a:latin typeface="Times New Roman" panose="02020603050405020304" pitchFamily="18" charset="0"/>
              </a:rPr>
              <a:t>        </a:t>
            </a:r>
            <a:r>
              <a:rPr lang="en-US" altLang="zh-CN" dirty="0">
                <a:latin typeface="Times New Roman" panose="02020603050405020304" pitchFamily="18" charset="0"/>
              </a:rPr>
              <a:t>The structure and function of the synchronous sequential circuit can be described by </a:t>
            </a:r>
            <a:r>
              <a:rPr lang="en-US" altLang="zh-CN" dirty="0">
                <a:solidFill>
                  <a:srgbClr val="FF0000"/>
                </a:solidFill>
                <a:latin typeface="Times New Roman" panose="02020603050405020304" pitchFamily="18" charset="0"/>
              </a:rPr>
              <a:t>three</a:t>
            </a:r>
            <a:r>
              <a:rPr lang="en-US" altLang="zh-CN" dirty="0">
                <a:latin typeface="Times New Roman" panose="02020603050405020304" pitchFamily="18" charset="0"/>
              </a:rPr>
              <a:t> sets of logic function expressions.</a:t>
            </a:r>
            <a:endParaRPr lang="zh-CN" altLang="en-US" sz="2400" dirty="0">
              <a:latin typeface="Times New Roman" panose="02020603050405020304" pitchFamily="18" charset="0"/>
            </a:endParaRPr>
          </a:p>
        </p:txBody>
      </p:sp>
      <p:sp>
        <p:nvSpPr>
          <p:cNvPr id="14340" name="Text Box 13">
            <a:extLst>
              <a:ext uri="{FF2B5EF4-FFF2-40B4-BE49-F238E27FC236}">
                <a16:creationId xmlns:a16="http://schemas.microsoft.com/office/drawing/2014/main" id="{69B7EEC5-6ACE-4290-97D5-222781AB3831}"/>
              </a:ext>
            </a:extLst>
          </p:cNvPr>
          <p:cNvSpPr txBox="1">
            <a:spLocks noChangeArrowheads="1"/>
          </p:cNvSpPr>
          <p:nvPr/>
        </p:nvSpPr>
        <p:spPr bwMode="auto">
          <a:xfrm>
            <a:off x="323850" y="3716338"/>
            <a:ext cx="845820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2400" dirty="0">
                <a:solidFill>
                  <a:srgbClr val="CC3300"/>
                </a:solidFill>
                <a:latin typeface="Times New Roman" panose="02020603050405020304" pitchFamily="18" charset="0"/>
              </a:rPr>
              <a:t>　　</a:t>
            </a:r>
            <a:r>
              <a:rPr lang="en-US" altLang="zh-CN" sz="2400" b="1" dirty="0">
                <a:solidFill>
                  <a:srgbClr val="CC3300"/>
                </a:solidFill>
                <a:latin typeface="Times New Roman" panose="02020603050405020304" pitchFamily="18" charset="0"/>
              </a:rPr>
              <a:t>1</a:t>
            </a:r>
            <a:r>
              <a:rPr lang="zh-CN" altLang="en-US" sz="2400" b="1" dirty="0">
                <a:solidFill>
                  <a:srgbClr val="CC3300"/>
                </a:solidFill>
                <a:latin typeface="Times New Roman" panose="02020603050405020304" pitchFamily="18" charset="0"/>
              </a:rPr>
              <a:t>．</a:t>
            </a:r>
            <a:r>
              <a:rPr lang="en-US" altLang="zh-CN" dirty="0">
                <a:solidFill>
                  <a:srgbClr val="CC3300"/>
                </a:solidFill>
                <a:latin typeface="Times New Roman" panose="02020603050405020304" pitchFamily="18" charset="0"/>
              </a:rPr>
              <a:t>Output function expression</a:t>
            </a:r>
            <a:r>
              <a:rPr lang="zh-CN" altLang="en-US" sz="2400" b="1" dirty="0">
                <a:solidFill>
                  <a:srgbClr val="CC3300"/>
                </a:solidFill>
                <a:latin typeface="Times New Roman" panose="02020603050405020304" pitchFamily="18" charset="0"/>
              </a:rPr>
              <a:t>：</a:t>
            </a:r>
            <a:r>
              <a:rPr lang="en-US" altLang="zh-CN" dirty="0">
                <a:latin typeface="Times New Roman" panose="02020603050405020304" pitchFamily="18" charset="0"/>
              </a:rPr>
              <a:t>is a set of expressions that reflect the relationship between circuit output Z and input x and state y. </a:t>
            </a:r>
            <a:endParaRPr lang="zh-CN" altLang="en-US" sz="2400" dirty="0">
              <a:latin typeface="Times New Roman" panose="02020603050405020304" pitchFamily="18" charset="0"/>
            </a:endParaRPr>
          </a:p>
          <a:p>
            <a:pPr algn="just" eaLnBrk="1" hangingPunct="1"/>
            <a:endParaRPr lang="zh-CN" altLang="en-US" sz="2400" dirty="0">
              <a:latin typeface="Times New Roman" panose="02020603050405020304" pitchFamily="18" charset="0"/>
            </a:endParaRPr>
          </a:p>
          <a:p>
            <a:pPr algn="just" eaLnBrk="1" hangingPunct="1"/>
            <a:r>
              <a:rPr lang="zh-CN" altLang="en-US" sz="2400" dirty="0">
                <a:latin typeface="Times New Roman" panose="02020603050405020304" pitchFamily="18" charset="0"/>
              </a:rPr>
              <a:t>　</a:t>
            </a:r>
            <a:r>
              <a:rPr lang="en-US" altLang="zh-CN" sz="2400" dirty="0">
                <a:latin typeface="Times New Roman" panose="02020603050405020304" pitchFamily="18" charset="0"/>
              </a:rPr>
              <a:t>Z</a:t>
            </a:r>
            <a:r>
              <a:rPr lang="en-US" altLang="zh-CN" sz="2400" baseline="-25000" dirty="0">
                <a:latin typeface="Times New Roman" panose="02020603050405020304" pitchFamily="18" charset="0"/>
              </a:rPr>
              <a:t>i</a:t>
            </a:r>
            <a:r>
              <a:rPr lang="en-US" altLang="zh-CN" sz="2400" dirty="0">
                <a:latin typeface="Times New Roman" panose="02020603050405020304" pitchFamily="18" charset="0"/>
              </a:rPr>
              <a:t> = f</a:t>
            </a:r>
            <a:r>
              <a:rPr lang="en-US" altLang="zh-CN" sz="2400" baseline="-25000" dirty="0">
                <a:latin typeface="Times New Roman" panose="02020603050405020304" pitchFamily="18" charset="0"/>
              </a:rPr>
              <a:t>i</a:t>
            </a:r>
            <a:r>
              <a:rPr lang="en-US" altLang="zh-CN" sz="2400" dirty="0">
                <a:latin typeface="Times New Roman" panose="02020603050405020304" pitchFamily="18" charset="0"/>
              </a:rPr>
              <a:t>(x</a:t>
            </a:r>
            <a:r>
              <a:rPr lang="en-US" altLang="zh-CN" sz="2400" baseline="-25000" dirty="0">
                <a:latin typeface="Times New Roman" panose="02020603050405020304" pitchFamily="18" charset="0"/>
              </a:rPr>
              <a:t>1</a:t>
            </a:r>
            <a:r>
              <a:rPr lang="zh-CN" altLang="en-US" sz="2400" dirty="0">
                <a:latin typeface="Times New Roman" panose="02020603050405020304" pitchFamily="18" charset="0"/>
              </a:rPr>
              <a:t>，</a:t>
            </a:r>
            <a:r>
              <a:rPr lang="en-US" altLang="zh-CN" sz="2400" dirty="0">
                <a:latin typeface="Times New Roman" panose="02020603050405020304" pitchFamily="18" charset="0"/>
              </a:rPr>
              <a:t>…</a:t>
            </a:r>
            <a:r>
              <a:rPr lang="zh-CN" altLang="en-US" sz="2400" dirty="0">
                <a:latin typeface="Times New Roman" panose="02020603050405020304" pitchFamily="18" charset="0"/>
              </a:rPr>
              <a:t>，</a:t>
            </a:r>
            <a:r>
              <a:rPr lang="en-US" altLang="zh-CN" sz="2400" dirty="0" err="1">
                <a:latin typeface="Times New Roman" panose="02020603050405020304" pitchFamily="18" charset="0"/>
              </a:rPr>
              <a:t>x</a:t>
            </a:r>
            <a:r>
              <a:rPr lang="en-US" altLang="zh-CN" sz="2400" baseline="-25000" dirty="0" err="1">
                <a:latin typeface="Times New Roman" panose="02020603050405020304" pitchFamily="18" charset="0"/>
              </a:rPr>
              <a:t>n</a:t>
            </a:r>
            <a:r>
              <a:rPr lang="en-US" altLang="zh-CN" sz="2400" dirty="0">
                <a:latin typeface="Times New Roman" panose="02020603050405020304" pitchFamily="18" charset="0"/>
              </a:rPr>
              <a:t> ,y</a:t>
            </a:r>
            <a:r>
              <a:rPr lang="en-US" altLang="zh-CN" sz="2400" baseline="-25000" dirty="0">
                <a:latin typeface="Times New Roman" panose="02020603050405020304" pitchFamily="18" charset="0"/>
              </a:rPr>
              <a:t>1</a:t>
            </a:r>
            <a:r>
              <a:rPr lang="en-US" altLang="zh-CN" sz="2400" dirty="0">
                <a:latin typeface="Times New Roman" panose="02020603050405020304" pitchFamily="18" charset="0"/>
              </a:rPr>
              <a:t>,…</a:t>
            </a:r>
            <a:r>
              <a:rPr lang="zh-CN" altLang="en-US" sz="2400" dirty="0">
                <a:latin typeface="Times New Roman" panose="02020603050405020304" pitchFamily="18" charset="0"/>
              </a:rPr>
              <a:t>，</a:t>
            </a:r>
            <a:r>
              <a:rPr lang="en-US" altLang="zh-CN" sz="2400" dirty="0" err="1">
                <a:latin typeface="Times New Roman" panose="02020603050405020304" pitchFamily="18" charset="0"/>
              </a:rPr>
              <a:t>y</a:t>
            </a:r>
            <a:r>
              <a:rPr lang="en-US" altLang="zh-CN" sz="2400" baseline="-25000" dirty="0" err="1">
                <a:latin typeface="Times New Roman" panose="02020603050405020304" pitchFamily="18" charset="0"/>
              </a:rPr>
              <a:t>s</a:t>
            </a:r>
            <a:r>
              <a:rPr lang="en-US" altLang="zh-CN" sz="2400" dirty="0">
                <a:latin typeface="Times New Roman" panose="02020603050405020304" pitchFamily="18" charset="0"/>
              </a:rPr>
              <a:t>)  </a:t>
            </a:r>
            <a:r>
              <a:rPr lang="en-US" altLang="zh-CN" sz="2400" dirty="0" err="1">
                <a:latin typeface="Times New Roman" panose="02020603050405020304" pitchFamily="18" charset="0"/>
              </a:rPr>
              <a:t>i</a:t>
            </a:r>
            <a:r>
              <a:rPr lang="en-US" altLang="zh-CN" sz="2400" dirty="0">
                <a:latin typeface="Times New Roman" panose="02020603050405020304" pitchFamily="18" charset="0"/>
              </a:rPr>
              <a:t>=1,2,…,m</a:t>
            </a:r>
            <a:r>
              <a:rPr lang="zh-CN" altLang="en-US" sz="2400" dirty="0">
                <a:latin typeface="Times New Roman" panose="02020603050405020304" pitchFamily="18" charset="0"/>
              </a:rPr>
              <a:t>（</a:t>
            </a:r>
            <a:r>
              <a:rPr lang="en-US" altLang="zh-CN" sz="2400" dirty="0">
                <a:latin typeface="Times New Roman" panose="02020603050405020304" pitchFamily="18" charset="0"/>
              </a:rPr>
              <a:t>Mealy</a:t>
            </a:r>
            <a:r>
              <a:rPr lang="zh-CN" altLang="en-US" dirty="0">
                <a:latin typeface="Times New Roman" panose="02020603050405020304" pitchFamily="18" charset="0"/>
              </a:rPr>
              <a:t> </a:t>
            </a:r>
            <a:r>
              <a:rPr lang="en-US" altLang="zh-CN" dirty="0">
                <a:latin typeface="Times New Roman" panose="02020603050405020304" pitchFamily="18" charset="0"/>
              </a:rPr>
              <a:t>type</a:t>
            </a:r>
            <a:r>
              <a:rPr lang="en-US" altLang="zh-CN" sz="2400" dirty="0">
                <a:latin typeface="Times New Roman" panose="02020603050405020304" pitchFamily="18" charset="0"/>
              </a:rPr>
              <a:t>)</a:t>
            </a:r>
            <a:r>
              <a:rPr lang="zh-CN" altLang="en-US" sz="2400" dirty="0">
                <a:latin typeface="Times New Roman" panose="02020603050405020304" pitchFamily="18" charset="0"/>
              </a:rPr>
              <a:t>　</a:t>
            </a:r>
          </a:p>
          <a:p>
            <a:pPr algn="just" eaLnBrk="1" hangingPunct="1"/>
            <a:r>
              <a:rPr lang="zh-CN" altLang="en-US" sz="2400" dirty="0">
                <a:latin typeface="Times New Roman" panose="02020603050405020304" pitchFamily="18" charset="0"/>
              </a:rPr>
              <a:t>　</a:t>
            </a:r>
            <a:r>
              <a:rPr lang="en-US" altLang="zh-CN" sz="2400" dirty="0">
                <a:latin typeface="Times New Roman" panose="02020603050405020304" pitchFamily="18" charset="0"/>
              </a:rPr>
              <a:t>Z</a:t>
            </a:r>
            <a:r>
              <a:rPr lang="en-US" altLang="zh-CN" sz="2400" baseline="-25000" dirty="0">
                <a:latin typeface="Times New Roman" panose="02020603050405020304" pitchFamily="18" charset="0"/>
              </a:rPr>
              <a:t>i</a:t>
            </a:r>
            <a:r>
              <a:rPr lang="en-US" altLang="zh-CN" sz="2400" dirty="0">
                <a:latin typeface="Times New Roman" panose="02020603050405020304" pitchFamily="18" charset="0"/>
              </a:rPr>
              <a:t> = f</a:t>
            </a:r>
            <a:r>
              <a:rPr lang="en-US" altLang="zh-CN" sz="2400" baseline="-25000" dirty="0">
                <a:latin typeface="Times New Roman" panose="02020603050405020304" pitchFamily="18" charset="0"/>
              </a:rPr>
              <a:t>i</a:t>
            </a:r>
            <a:r>
              <a:rPr lang="en-US" altLang="zh-CN" sz="2400" dirty="0">
                <a:latin typeface="Times New Roman" panose="02020603050405020304" pitchFamily="18" charset="0"/>
              </a:rPr>
              <a:t>(y</a:t>
            </a:r>
            <a:r>
              <a:rPr lang="en-US" altLang="zh-CN" sz="2400" baseline="-25000" dirty="0">
                <a:latin typeface="Times New Roman" panose="02020603050405020304" pitchFamily="18" charset="0"/>
              </a:rPr>
              <a:t>1</a:t>
            </a:r>
            <a:r>
              <a:rPr lang="zh-CN" altLang="en-US" sz="2400" dirty="0">
                <a:latin typeface="Times New Roman" panose="02020603050405020304" pitchFamily="18" charset="0"/>
              </a:rPr>
              <a:t>，</a:t>
            </a:r>
            <a:r>
              <a:rPr lang="en-US" altLang="zh-CN" sz="2400" dirty="0">
                <a:latin typeface="Times New Roman" panose="02020603050405020304" pitchFamily="18" charset="0"/>
              </a:rPr>
              <a:t>…</a:t>
            </a:r>
            <a:r>
              <a:rPr lang="zh-CN" altLang="en-US" sz="2400" dirty="0">
                <a:latin typeface="Times New Roman" panose="02020603050405020304" pitchFamily="18" charset="0"/>
              </a:rPr>
              <a:t>，</a:t>
            </a:r>
            <a:r>
              <a:rPr lang="en-US" altLang="zh-CN" sz="2400" dirty="0" err="1">
                <a:latin typeface="Times New Roman" panose="02020603050405020304" pitchFamily="18" charset="0"/>
              </a:rPr>
              <a:t>y</a:t>
            </a:r>
            <a:r>
              <a:rPr lang="en-US" altLang="zh-CN" sz="2400" baseline="-25000" dirty="0" err="1">
                <a:latin typeface="Times New Roman" panose="02020603050405020304" pitchFamily="18" charset="0"/>
              </a:rPr>
              <a:t>s</a:t>
            </a:r>
            <a:r>
              <a:rPr lang="en-US" altLang="zh-CN" sz="2400" dirty="0">
                <a:latin typeface="Times New Roman" panose="02020603050405020304" pitchFamily="18" charset="0"/>
              </a:rPr>
              <a:t>)</a:t>
            </a:r>
            <a:r>
              <a:rPr lang="zh-CN" altLang="en-US" sz="2400" dirty="0">
                <a:latin typeface="Times New Roman" panose="02020603050405020304" pitchFamily="18" charset="0"/>
              </a:rPr>
              <a:t>　　　　    </a:t>
            </a:r>
            <a:r>
              <a:rPr lang="en-US" altLang="zh-CN" sz="2400" dirty="0" err="1">
                <a:latin typeface="Times New Roman" panose="02020603050405020304" pitchFamily="18" charset="0"/>
              </a:rPr>
              <a:t>i</a:t>
            </a:r>
            <a:r>
              <a:rPr lang="en-US" altLang="zh-CN" sz="2400" dirty="0">
                <a:latin typeface="Times New Roman" panose="02020603050405020304" pitchFamily="18" charset="0"/>
              </a:rPr>
              <a:t>=1,2,…,m</a:t>
            </a:r>
            <a:r>
              <a:rPr lang="zh-CN" altLang="en-US" sz="2400" dirty="0">
                <a:latin typeface="Times New Roman" panose="02020603050405020304" pitchFamily="18" charset="0"/>
              </a:rPr>
              <a:t>（</a:t>
            </a:r>
            <a:r>
              <a:rPr lang="en-US" altLang="zh-CN" sz="2400" dirty="0">
                <a:latin typeface="Times New Roman" panose="02020603050405020304" pitchFamily="18" charset="0"/>
              </a:rPr>
              <a:t>Moore type</a:t>
            </a:r>
            <a:r>
              <a:rPr lang="zh-CN" altLang="en-US" sz="2400" dirty="0">
                <a:latin typeface="Times New Roman" panose="02020603050405020304" pitchFamily="18" charset="0"/>
              </a:rPr>
              <a:t>）</a:t>
            </a:r>
          </a:p>
        </p:txBody>
      </p:sp>
      <p:pic>
        <p:nvPicPr>
          <p:cNvPr id="15365" name="Picture 15" descr="Right_Green">
            <a:hlinkClick r:id="" action="ppaction://hlinkshowjump?jump=nextslide"/>
            <a:extLst>
              <a:ext uri="{FF2B5EF4-FFF2-40B4-BE49-F238E27FC236}">
                <a16:creationId xmlns:a16="http://schemas.microsoft.com/office/drawing/2014/main" id="{A73B7F50-12E0-407D-8A81-5926891ECB1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99500"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6" name="Picture 16" descr="Left_Green">
            <a:hlinkClick r:id="" action="ppaction://hlinkshowjump?jump=previousslide"/>
            <a:extLst>
              <a:ext uri="{FF2B5EF4-FFF2-40B4-BE49-F238E27FC236}">
                <a16:creationId xmlns:a16="http://schemas.microsoft.com/office/drawing/2014/main" id="{51DE422B-CF2E-4DB1-A094-47A0E9B1ACF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43888"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图片 7">
            <a:extLst>
              <a:ext uri="{FF2B5EF4-FFF2-40B4-BE49-F238E27FC236}">
                <a16:creationId xmlns:a16="http://schemas.microsoft.com/office/drawing/2014/main" id="{F393EE8A-1317-4CE0-8987-44D3C15A6769}"/>
              </a:ext>
            </a:extLst>
          </p:cNvPr>
          <p:cNvPicPr>
            <a:picLocks noChangeAspect="1"/>
          </p:cNvPicPr>
          <p:nvPr/>
        </p:nvPicPr>
        <p:blipFill>
          <a:blip r:embed="rId6"/>
          <a:stretch>
            <a:fillRect/>
          </a:stretch>
        </p:blipFill>
        <p:spPr>
          <a:xfrm>
            <a:off x="5580112" y="-1"/>
            <a:ext cx="3512730" cy="2148885"/>
          </a:xfrm>
          <a:prstGeom prst="rect">
            <a:avLst/>
          </a:prstGeom>
        </p:spPr>
      </p:pic>
    </p:spTree>
    <p:extLst>
      <p:ext uri="{BB962C8B-B14F-4D97-AF65-F5344CB8AC3E}">
        <p14:creationId xmlns:p14="http://schemas.microsoft.com/office/powerpoint/2010/main" val="11751618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4338"/>
                                        </p:tgtEl>
                                        <p:attrNameLst>
                                          <p:attrName>style.visibility</p:attrName>
                                        </p:attrNameLst>
                                      </p:cBhvr>
                                      <p:to>
                                        <p:strVal val="visible"/>
                                      </p:to>
                                    </p:set>
                                  </p:childTnLst>
                                  <p:subTnLst>
                                    <p:audio>
                                      <p:cMediaNode>
                                        <p:cTn display="0" masterRel="sameClick">
                                          <p:stCondLst>
                                            <p:cond evt="begin" delay="0">
                                              <p:tn val="5"/>
                                            </p:cond>
                                          </p:stCondLst>
                                          <p:endCondLst>
                                            <p:cond evt="onStopAudio" delay="0">
                                              <p:tgtEl>
                                                <p:sldTgt/>
                                              </p:tgtEl>
                                            </p:cond>
                                          </p:endCondLst>
                                        </p:cTn>
                                        <p:tgtEl>
                                          <p:sndTgt r:embed="rId3" name="projctor.wav"/>
                                        </p:tgtEl>
                                      </p:cMediaNode>
                                    </p:audio>
                                  </p:sub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4339"/>
                                        </p:tgtEl>
                                        <p:attrNameLst>
                                          <p:attrName>style.visibility</p:attrName>
                                        </p:attrNameLst>
                                      </p:cBhvr>
                                      <p:to>
                                        <p:strVal val="visible"/>
                                      </p:to>
                                    </p:set>
                                  </p:childTnLst>
                                  <p:subTnLst>
                                    <p:audio>
                                      <p:cMediaNode>
                                        <p:cTn display="0" masterRel="sameClick">
                                          <p:stCondLst>
                                            <p:cond evt="begin" delay="0">
                                              <p:tn val="9"/>
                                            </p:cond>
                                          </p:stCondLst>
                                          <p:endCondLst>
                                            <p:cond evt="onStopAudio" delay="0">
                                              <p:tgtEl>
                                                <p:sldTgt/>
                                              </p:tgtEl>
                                            </p:cond>
                                          </p:endCondLst>
                                        </p:cTn>
                                        <p:tgtEl>
                                          <p:sndTgt r:embed="rId3" name="projctor.wav"/>
                                        </p:tgtEl>
                                      </p:cMediaNode>
                                    </p:audio>
                                  </p:subTnLst>
                                </p:cTn>
                              </p:par>
                            </p:childTnLst>
                          </p:cTn>
                        </p:par>
                      </p:childTnLst>
                    </p:cTn>
                  </p:par>
                  <p:par>
                    <p:cTn id="11" fill="hold" nodeType="clickPar">
                      <p:stCondLst>
                        <p:cond delay="indefinite"/>
                      </p:stCondLst>
                      <p:childTnLst>
                        <p:par>
                          <p:cTn id="12" fill="hold" nodeType="withGroup">
                            <p:stCondLst>
                              <p:cond delay="0"/>
                            </p:stCondLst>
                            <p:childTnLst>
                              <p:par>
                                <p:cTn id="13" presetID="14" presetClass="entr" presetSubtype="10" fill="hold" grpId="0" nodeType="clickEffect">
                                  <p:stCondLst>
                                    <p:cond delay="0"/>
                                  </p:stCondLst>
                                  <p:childTnLst>
                                    <p:set>
                                      <p:cBhvr>
                                        <p:cTn id="14" dur="1" fill="hold">
                                          <p:stCondLst>
                                            <p:cond delay="0"/>
                                          </p:stCondLst>
                                        </p:cTn>
                                        <p:tgtEl>
                                          <p:spTgt spid="14340"/>
                                        </p:tgtEl>
                                        <p:attrNameLst>
                                          <p:attrName>style.visibility</p:attrName>
                                        </p:attrNameLst>
                                      </p:cBhvr>
                                      <p:to>
                                        <p:strVal val="visible"/>
                                      </p:to>
                                    </p:set>
                                    <p:animEffect transition="in" filter="randombar(horizontal)">
                                      <p:cBhvr>
                                        <p:cTn id="15" dur="500"/>
                                        <p:tgtEl>
                                          <p:spTgt spid="143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8" grpId="0" autoUpdateAnimBg="0"/>
      <p:bldP spid="14339" grpId="0" autoUpdateAnimBg="0"/>
      <p:bldP spid="14340" grpId="0"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 Box 11">
            <a:extLst>
              <a:ext uri="{FF2B5EF4-FFF2-40B4-BE49-F238E27FC236}">
                <a16:creationId xmlns:a16="http://schemas.microsoft.com/office/drawing/2014/main" id="{C21164C0-9F5F-40F6-92D4-A17FF4128502}"/>
              </a:ext>
            </a:extLst>
          </p:cNvPr>
          <p:cNvSpPr txBox="1">
            <a:spLocks noChangeArrowheads="1"/>
          </p:cNvSpPr>
          <p:nvPr/>
        </p:nvSpPr>
        <p:spPr bwMode="auto">
          <a:xfrm>
            <a:off x="334962" y="65846"/>
            <a:ext cx="8474075"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dirty="0">
                <a:solidFill>
                  <a:srgbClr val="CC3300"/>
                </a:solidFill>
                <a:latin typeface="Times New Roman" panose="02020603050405020304" pitchFamily="18" charset="0"/>
              </a:rPr>
              <a:t>　　</a:t>
            </a:r>
            <a:r>
              <a:rPr lang="en-US" altLang="zh-CN" sz="2400" b="1" dirty="0">
                <a:solidFill>
                  <a:srgbClr val="CC3300"/>
                </a:solidFill>
                <a:latin typeface="Times New Roman" panose="02020603050405020304" pitchFamily="18" charset="0"/>
              </a:rPr>
              <a:t>2</a:t>
            </a:r>
            <a:r>
              <a:rPr lang="zh-CN" altLang="en-US" sz="2400" b="1" dirty="0">
                <a:solidFill>
                  <a:srgbClr val="CC3300"/>
                </a:solidFill>
                <a:latin typeface="Times New Roman" panose="02020603050405020304" pitchFamily="18" charset="0"/>
              </a:rPr>
              <a:t>．</a:t>
            </a:r>
            <a:r>
              <a:rPr lang="en-US" altLang="zh-CN" sz="2400" b="1" dirty="0">
                <a:solidFill>
                  <a:srgbClr val="CC3300"/>
                </a:solidFill>
                <a:latin typeface="Times New Roman" panose="02020603050405020304" pitchFamily="18" charset="0"/>
              </a:rPr>
              <a:t>Expression of excitation equation</a:t>
            </a:r>
            <a:r>
              <a:rPr lang="zh-CN" altLang="en-US" sz="2400" b="1" dirty="0">
                <a:solidFill>
                  <a:srgbClr val="CC3300"/>
                </a:solidFill>
                <a:latin typeface="Times New Roman" panose="02020603050405020304" pitchFamily="18" charset="0"/>
              </a:rPr>
              <a:t>：</a:t>
            </a:r>
            <a:r>
              <a:rPr lang="zh-CN" altLang="en-US" sz="2400" dirty="0">
                <a:solidFill>
                  <a:schemeClr val="tx2"/>
                </a:solidFill>
                <a:latin typeface="Times New Roman" panose="02020603050405020304" pitchFamily="18" charset="0"/>
              </a:rPr>
              <a:t> </a:t>
            </a:r>
            <a:r>
              <a:rPr lang="en-US" altLang="zh-CN" sz="2400" dirty="0">
                <a:solidFill>
                  <a:schemeClr val="tx2"/>
                </a:solidFill>
                <a:latin typeface="Times New Roman" panose="02020603050405020304" pitchFamily="18" charset="0"/>
              </a:rPr>
              <a:t>the </a:t>
            </a:r>
            <a:r>
              <a:rPr lang="en-US" altLang="zh-CN" dirty="0">
                <a:latin typeface="Times New Roman" panose="02020603050405020304" pitchFamily="18" charset="0"/>
              </a:rPr>
              <a:t>excitation equation, also known as control function, it reflects the relationship between the input Y of the memory circuit and the external input x and the circuit state y. Its function expression is</a:t>
            </a:r>
            <a:br>
              <a:rPr lang="zh-CN" altLang="en-US" sz="2400" dirty="0">
                <a:latin typeface="Times New Roman" panose="02020603050405020304" pitchFamily="18" charset="0"/>
              </a:rPr>
            </a:br>
            <a:r>
              <a:rPr lang="zh-CN" altLang="en-US" sz="2400" dirty="0">
                <a:latin typeface="Times New Roman" panose="02020603050405020304" pitchFamily="18" charset="0"/>
              </a:rPr>
              <a:t>　　　　</a:t>
            </a:r>
            <a:r>
              <a:rPr lang="en-US" altLang="zh-CN" sz="2400" dirty="0" err="1">
                <a:latin typeface="Times New Roman" panose="02020603050405020304" pitchFamily="18" charset="0"/>
              </a:rPr>
              <a:t>Y</a:t>
            </a:r>
            <a:r>
              <a:rPr lang="en-US" altLang="zh-CN" sz="2400" baseline="-25000" dirty="0" err="1">
                <a:latin typeface="Times New Roman" panose="02020603050405020304" pitchFamily="18" charset="0"/>
              </a:rPr>
              <a:t>j</a:t>
            </a:r>
            <a:r>
              <a:rPr lang="en-US" altLang="zh-CN" sz="2400" dirty="0">
                <a:latin typeface="Times New Roman" panose="02020603050405020304" pitchFamily="18" charset="0"/>
              </a:rPr>
              <a:t> = </a:t>
            </a:r>
            <a:r>
              <a:rPr lang="en-US" altLang="zh-CN" sz="2400" dirty="0" err="1">
                <a:latin typeface="Times New Roman" panose="02020603050405020304" pitchFamily="18" charset="0"/>
              </a:rPr>
              <a:t>g</a:t>
            </a:r>
            <a:r>
              <a:rPr lang="en-US" altLang="zh-CN" sz="2400" baseline="-25000" dirty="0" err="1">
                <a:latin typeface="Times New Roman" panose="02020603050405020304" pitchFamily="18" charset="0"/>
              </a:rPr>
              <a:t>j</a:t>
            </a:r>
            <a:r>
              <a:rPr lang="en-US" altLang="zh-CN" sz="2400" dirty="0">
                <a:latin typeface="Times New Roman" panose="02020603050405020304" pitchFamily="18" charset="0"/>
              </a:rPr>
              <a:t>(x</a:t>
            </a:r>
            <a:r>
              <a:rPr lang="en-US" altLang="zh-CN" sz="2400" baseline="-25000" dirty="0">
                <a:latin typeface="Times New Roman" panose="02020603050405020304" pitchFamily="18" charset="0"/>
              </a:rPr>
              <a:t>1</a:t>
            </a:r>
            <a:r>
              <a:rPr lang="zh-CN" altLang="en-US" sz="2400" dirty="0">
                <a:latin typeface="Times New Roman" panose="02020603050405020304" pitchFamily="18" charset="0"/>
              </a:rPr>
              <a:t>，</a:t>
            </a:r>
            <a:r>
              <a:rPr lang="en-US" altLang="zh-CN" sz="2400" dirty="0">
                <a:latin typeface="Times New Roman" panose="02020603050405020304" pitchFamily="18" charset="0"/>
              </a:rPr>
              <a:t>…</a:t>
            </a:r>
            <a:r>
              <a:rPr lang="zh-CN" altLang="en-US" sz="2400" dirty="0">
                <a:latin typeface="Times New Roman" panose="02020603050405020304" pitchFamily="18" charset="0"/>
              </a:rPr>
              <a:t>，</a:t>
            </a:r>
            <a:r>
              <a:rPr lang="en-US" altLang="zh-CN" sz="2400" dirty="0">
                <a:latin typeface="Times New Roman" panose="02020603050405020304" pitchFamily="18" charset="0"/>
              </a:rPr>
              <a:t>x</a:t>
            </a:r>
            <a:r>
              <a:rPr lang="en-US" altLang="zh-CN" sz="2400" baseline="-25000" dirty="0">
                <a:latin typeface="Times New Roman" panose="02020603050405020304" pitchFamily="18" charset="0"/>
              </a:rPr>
              <a:t>n</a:t>
            </a:r>
            <a:r>
              <a:rPr lang="en-US" altLang="zh-CN" sz="2400" dirty="0">
                <a:latin typeface="Times New Roman" panose="02020603050405020304" pitchFamily="18" charset="0"/>
              </a:rPr>
              <a:t>,y</a:t>
            </a:r>
            <a:r>
              <a:rPr lang="en-US" altLang="zh-CN" sz="2400" baseline="-25000" dirty="0">
                <a:latin typeface="Times New Roman" panose="02020603050405020304" pitchFamily="18" charset="0"/>
              </a:rPr>
              <a:t>1</a:t>
            </a:r>
            <a:r>
              <a:rPr lang="en-US" altLang="zh-CN" sz="2400" dirty="0">
                <a:latin typeface="Times New Roman" panose="02020603050405020304" pitchFamily="18" charset="0"/>
              </a:rPr>
              <a:t>,…</a:t>
            </a:r>
            <a:r>
              <a:rPr lang="zh-CN" altLang="en-US" sz="2400" dirty="0">
                <a:latin typeface="Times New Roman" panose="02020603050405020304" pitchFamily="18" charset="0"/>
              </a:rPr>
              <a:t>，</a:t>
            </a:r>
            <a:r>
              <a:rPr lang="en-US" altLang="zh-CN" sz="2400" dirty="0" err="1">
                <a:latin typeface="Times New Roman" panose="02020603050405020304" pitchFamily="18" charset="0"/>
              </a:rPr>
              <a:t>y</a:t>
            </a:r>
            <a:r>
              <a:rPr lang="en-US" altLang="zh-CN" sz="2400" baseline="-25000" dirty="0" err="1">
                <a:latin typeface="Times New Roman" panose="02020603050405020304" pitchFamily="18" charset="0"/>
              </a:rPr>
              <a:t>s</a:t>
            </a:r>
            <a:r>
              <a:rPr lang="en-US" altLang="zh-CN" sz="2400" dirty="0">
                <a:latin typeface="Times New Roman" panose="02020603050405020304" pitchFamily="18" charset="0"/>
              </a:rPr>
              <a:t>)</a:t>
            </a:r>
            <a:r>
              <a:rPr lang="zh-CN" altLang="en-US" sz="2400" dirty="0">
                <a:latin typeface="Times New Roman" panose="02020603050405020304" pitchFamily="18" charset="0"/>
              </a:rPr>
              <a:t>　</a:t>
            </a:r>
            <a:r>
              <a:rPr lang="en-US" altLang="zh-CN" sz="2400" dirty="0">
                <a:latin typeface="Times New Roman" panose="02020603050405020304" pitchFamily="18" charset="0"/>
              </a:rPr>
              <a:t>j =1,2,…,r</a:t>
            </a:r>
          </a:p>
        </p:txBody>
      </p:sp>
      <p:sp>
        <p:nvSpPr>
          <p:cNvPr id="15363" name="Text Box 12">
            <a:extLst>
              <a:ext uri="{FF2B5EF4-FFF2-40B4-BE49-F238E27FC236}">
                <a16:creationId xmlns:a16="http://schemas.microsoft.com/office/drawing/2014/main" id="{E1B5C87C-5717-48CE-93BF-4135EF7B89ED}"/>
              </a:ext>
            </a:extLst>
          </p:cNvPr>
          <p:cNvSpPr txBox="1">
            <a:spLocks noChangeArrowheads="1"/>
          </p:cNvSpPr>
          <p:nvPr/>
        </p:nvSpPr>
        <p:spPr bwMode="auto">
          <a:xfrm>
            <a:off x="350837" y="2439194"/>
            <a:ext cx="8458200" cy="2369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dirty="0">
                <a:solidFill>
                  <a:srgbClr val="CC3300"/>
                </a:solidFill>
                <a:latin typeface="Times New Roman" panose="02020603050405020304" pitchFamily="18" charset="0"/>
              </a:rPr>
              <a:t>　　</a:t>
            </a:r>
            <a:r>
              <a:rPr lang="en-US" altLang="zh-CN" sz="2400" b="1" dirty="0">
                <a:solidFill>
                  <a:srgbClr val="CC3300"/>
                </a:solidFill>
                <a:latin typeface="Times New Roman" panose="02020603050405020304" pitchFamily="18" charset="0"/>
              </a:rPr>
              <a:t>3</a:t>
            </a:r>
            <a:r>
              <a:rPr lang="zh-CN" altLang="en-US" sz="2400" b="1" dirty="0">
                <a:solidFill>
                  <a:srgbClr val="CC3300"/>
                </a:solidFill>
                <a:latin typeface="Times New Roman" panose="02020603050405020304" pitchFamily="18" charset="0"/>
              </a:rPr>
              <a:t>．</a:t>
            </a:r>
            <a:r>
              <a:rPr lang="en-US" altLang="zh-CN" sz="2400" b="1" dirty="0">
                <a:solidFill>
                  <a:srgbClr val="CC3300"/>
                </a:solidFill>
                <a:latin typeface="Times New Roman" panose="02020603050405020304" pitchFamily="18" charset="0"/>
              </a:rPr>
              <a:t>Next state function expression</a:t>
            </a:r>
            <a:r>
              <a:rPr lang="zh-CN" altLang="en-US" sz="2400" b="1" dirty="0">
                <a:solidFill>
                  <a:srgbClr val="CC3300"/>
                </a:solidFill>
                <a:latin typeface="Times New Roman" panose="02020603050405020304" pitchFamily="18" charset="0"/>
              </a:rPr>
              <a:t>：</a:t>
            </a:r>
            <a:r>
              <a:rPr lang="en-US" altLang="zh-CN" dirty="0">
                <a:latin typeface="Times New Roman" panose="02020603050405020304" pitchFamily="18" charset="0"/>
              </a:rPr>
              <a:t>The next state function is used to reflect the relationships between the next state y</a:t>
            </a:r>
            <a:r>
              <a:rPr lang="en-US" altLang="zh-CN" sz="2400" baseline="30000" dirty="0">
                <a:latin typeface="Times New Roman" panose="02020603050405020304" pitchFamily="18" charset="0"/>
              </a:rPr>
              <a:t>(n+1) </a:t>
            </a:r>
            <a:r>
              <a:rPr lang="en-US" altLang="zh-CN" sz="2400" dirty="0">
                <a:latin typeface="Times New Roman" panose="02020603050405020304" pitchFamily="18" charset="0"/>
              </a:rPr>
              <a:t>excitation </a:t>
            </a:r>
            <a:r>
              <a:rPr lang="en-US" altLang="zh-CN" dirty="0">
                <a:latin typeface="Times New Roman" panose="02020603050405020304" pitchFamily="18" charset="0"/>
              </a:rPr>
              <a:t>equation </a:t>
            </a:r>
            <a:r>
              <a:rPr lang="en-US" altLang="zh-CN" sz="2400" dirty="0">
                <a:latin typeface="Times New Roman" panose="02020603050405020304" pitchFamily="18" charset="0"/>
              </a:rPr>
              <a:t>Y</a:t>
            </a:r>
            <a:r>
              <a:rPr lang="zh-CN" altLang="en-US" sz="2400" dirty="0">
                <a:latin typeface="Times New Roman" panose="02020603050405020304" pitchFamily="18" charset="0"/>
              </a:rPr>
              <a:t> </a:t>
            </a:r>
            <a:r>
              <a:rPr lang="en-US" altLang="zh-CN" sz="2400" dirty="0">
                <a:latin typeface="Times New Roman" panose="02020603050405020304" pitchFamily="18" charset="0"/>
              </a:rPr>
              <a:t>and circuit present state y</a:t>
            </a:r>
            <a:r>
              <a:rPr lang="zh-CN" altLang="en-US" sz="2400" dirty="0">
                <a:latin typeface="Times New Roman" panose="02020603050405020304" pitchFamily="18" charset="0"/>
              </a:rPr>
              <a:t>，</a:t>
            </a:r>
            <a:r>
              <a:rPr lang="en-US" altLang="zh-CN" dirty="0">
                <a:latin typeface="Times New Roman" panose="02020603050405020304" pitchFamily="18" charset="0"/>
              </a:rPr>
              <a:t>which is related to the flip-flop type. Its function expression is</a:t>
            </a:r>
            <a:endParaRPr lang="zh-CN" altLang="en-US" sz="2400" dirty="0">
              <a:latin typeface="Times New Roman" panose="02020603050405020304" pitchFamily="18" charset="0"/>
            </a:endParaRPr>
          </a:p>
          <a:p>
            <a:pPr eaLnBrk="1" hangingPunct="1"/>
            <a:r>
              <a:rPr lang="zh-CN" altLang="en-US" sz="2400" dirty="0">
                <a:latin typeface="Times New Roman" panose="02020603050405020304" pitchFamily="18" charset="0"/>
              </a:rPr>
              <a:t></a:t>
            </a:r>
          </a:p>
          <a:p>
            <a:pPr eaLnBrk="1" hangingPunct="1"/>
            <a:r>
              <a:rPr lang="zh-CN" altLang="en-US" sz="2400" dirty="0">
                <a:latin typeface="Times New Roman" panose="02020603050405020304" pitchFamily="18" charset="0"/>
              </a:rPr>
              <a:t>　　　　</a:t>
            </a:r>
            <a:r>
              <a:rPr lang="en-US" altLang="zh-CN" sz="2400" dirty="0">
                <a:latin typeface="Times New Roman" panose="02020603050405020304" pitchFamily="18" charset="0"/>
              </a:rPr>
              <a:t>y</a:t>
            </a:r>
            <a:r>
              <a:rPr lang="en-US" altLang="zh-CN" sz="2800" baseline="-25000" dirty="0">
                <a:latin typeface="Times New Roman" panose="02020603050405020304" pitchFamily="18" charset="0"/>
              </a:rPr>
              <a:t> l</a:t>
            </a:r>
            <a:r>
              <a:rPr lang="en-US" altLang="zh-CN" sz="2400" baseline="30000" dirty="0">
                <a:latin typeface="Times New Roman" panose="02020603050405020304" pitchFamily="18" charset="0"/>
              </a:rPr>
              <a:t>n+1</a:t>
            </a:r>
            <a:r>
              <a:rPr lang="en-US" altLang="zh-CN" sz="2400" dirty="0">
                <a:latin typeface="Times New Roman" panose="02020603050405020304" pitchFamily="18" charset="0"/>
              </a:rPr>
              <a:t> = k</a:t>
            </a:r>
            <a:r>
              <a:rPr lang="en-US" altLang="zh-CN" sz="2400" baseline="-25000" dirty="0">
                <a:latin typeface="Times New Roman" panose="02020603050405020304" pitchFamily="18" charset="0"/>
              </a:rPr>
              <a:t>l</a:t>
            </a:r>
            <a:r>
              <a:rPr lang="en-US" altLang="zh-CN" sz="2400" dirty="0">
                <a:latin typeface="Times New Roman" panose="02020603050405020304" pitchFamily="18" charset="0"/>
              </a:rPr>
              <a:t>(</a:t>
            </a:r>
            <a:r>
              <a:rPr lang="en-US" altLang="zh-CN" sz="2400" dirty="0" err="1">
                <a:latin typeface="Times New Roman" panose="02020603050405020304" pitchFamily="18" charset="0"/>
              </a:rPr>
              <a:t>Y</a:t>
            </a:r>
            <a:r>
              <a:rPr lang="en-US" altLang="zh-CN" sz="2400" baseline="-25000" dirty="0" err="1">
                <a:latin typeface="Times New Roman" panose="02020603050405020304" pitchFamily="18" charset="0"/>
              </a:rPr>
              <a:t>j</a:t>
            </a:r>
            <a:r>
              <a:rPr lang="zh-CN" altLang="en-US" sz="2400" dirty="0">
                <a:latin typeface="Times New Roman" panose="02020603050405020304" pitchFamily="18" charset="0"/>
              </a:rPr>
              <a:t>，</a:t>
            </a:r>
            <a:r>
              <a:rPr lang="en-US" altLang="zh-CN" sz="2400" dirty="0" err="1">
                <a:latin typeface="Times New Roman" panose="02020603050405020304" pitchFamily="18" charset="0"/>
              </a:rPr>
              <a:t>y</a:t>
            </a:r>
            <a:r>
              <a:rPr lang="en-US" altLang="zh-CN" sz="2400" baseline="-25000" dirty="0" err="1">
                <a:latin typeface="Times New Roman" panose="02020603050405020304" pitchFamily="18" charset="0"/>
              </a:rPr>
              <a:t>l</a:t>
            </a:r>
            <a:r>
              <a:rPr lang="en-US" altLang="zh-CN" sz="2400" dirty="0">
                <a:latin typeface="Times New Roman" panose="02020603050405020304" pitchFamily="18" charset="0"/>
              </a:rPr>
              <a:t>)</a:t>
            </a:r>
            <a:r>
              <a:rPr lang="zh-CN" altLang="en-US" sz="2400" dirty="0">
                <a:latin typeface="Times New Roman" panose="02020603050405020304" pitchFamily="18" charset="0"/>
              </a:rPr>
              <a:t>　</a:t>
            </a:r>
            <a:r>
              <a:rPr lang="en-US" altLang="zh-CN" sz="2400" dirty="0">
                <a:latin typeface="Times New Roman" panose="02020603050405020304" pitchFamily="18" charset="0"/>
              </a:rPr>
              <a:t>j=1,2,…,r </a:t>
            </a:r>
            <a:r>
              <a:rPr lang="zh-CN" altLang="en-US" sz="2400" dirty="0">
                <a:latin typeface="Times New Roman" panose="02020603050405020304" pitchFamily="18" charset="0"/>
              </a:rPr>
              <a:t>；</a:t>
            </a:r>
            <a:r>
              <a:rPr lang="en-US" altLang="zh-CN" sz="2800" dirty="0">
                <a:latin typeface="Times New Roman" panose="02020603050405020304" pitchFamily="18" charset="0"/>
              </a:rPr>
              <a:t>l</a:t>
            </a:r>
            <a:r>
              <a:rPr lang="en-US" altLang="zh-CN" sz="2400" dirty="0">
                <a:latin typeface="Times New Roman" panose="02020603050405020304" pitchFamily="18" charset="0"/>
              </a:rPr>
              <a:t> =1,2 ,…</a:t>
            </a:r>
            <a:r>
              <a:rPr lang="zh-CN" altLang="en-US" sz="2400" dirty="0">
                <a:latin typeface="Times New Roman" panose="02020603050405020304" pitchFamily="18" charset="0"/>
              </a:rPr>
              <a:t>，</a:t>
            </a:r>
            <a:r>
              <a:rPr lang="en-US" altLang="zh-CN" sz="2400" dirty="0">
                <a:latin typeface="Times New Roman" panose="02020603050405020304" pitchFamily="18" charset="0"/>
              </a:rPr>
              <a:t>s</a:t>
            </a:r>
          </a:p>
        </p:txBody>
      </p:sp>
      <p:pic>
        <p:nvPicPr>
          <p:cNvPr id="16388" name="Picture 13" descr="Right_Green">
            <a:hlinkClick r:id="" action="ppaction://hlinkshowjump?jump=nextslide"/>
            <a:extLst>
              <a:ext uri="{FF2B5EF4-FFF2-40B4-BE49-F238E27FC236}">
                <a16:creationId xmlns:a16="http://schemas.microsoft.com/office/drawing/2014/main" id="{8D66B1B8-3BCB-4671-BED5-75E0341CA95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99500"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89" name="Picture 14" descr="Left_Green">
            <a:hlinkClick r:id="" action="ppaction://hlinkshowjump?jump=previousslide"/>
            <a:extLst>
              <a:ext uri="{FF2B5EF4-FFF2-40B4-BE49-F238E27FC236}">
                <a16:creationId xmlns:a16="http://schemas.microsoft.com/office/drawing/2014/main" id="{0EC4D10B-41B4-4A3F-8E94-656A334F78E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43888"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图片 6">
            <a:extLst>
              <a:ext uri="{FF2B5EF4-FFF2-40B4-BE49-F238E27FC236}">
                <a16:creationId xmlns:a16="http://schemas.microsoft.com/office/drawing/2014/main" id="{A3D11315-2733-4C80-88EA-9F1875EDB465}"/>
              </a:ext>
            </a:extLst>
          </p:cNvPr>
          <p:cNvPicPr>
            <a:picLocks noChangeAspect="1"/>
          </p:cNvPicPr>
          <p:nvPr/>
        </p:nvPicPr>
        <p:blipFill>
          <a:blip r:embed="rId6"/>
          <a:stretch>
            <a:fillRect/>
          </a:stretch>
        </p:blipFill>
        <p:spPr>
          <a:xfrm>
            <a:off x="4860031" y="4483830"/>
            <a:ext cx="3880997" cy="2374170"/>
          </a:xfrm>
          <a:prstGeom prst="rect">
            <a:avLst/>
          </a:prstGeom>
        </p:spPr>
      </p:pic>
    </p:spTree>
    <p:extLst>
      <p:ext uri="{BB962C8B-B14F-4D97-AF65-F5344CB8AC3E}">
        <p14:creationId xmlns:p14="http://schemas.microsoft.com/office/powerpoint/2010/main" val="14866340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5362"/>
                                        </p:tgtEl>
                                        <p:attrNameLst>
                                          <p:attrName>style.visibility</p:attrName>
                                        </p:attrNameLst>
                                      </p:cBhvr>
                                      <p:to>
                                        <p:strVal val="visible"/>
                                      </p:to>
                                    </p:set>
                                    <p:animEffect transition="in" filter="blinds(horizontal)">
                                      <p:cBhvr>
                                        <p:cTn id="7" dur="500"/>
                                        <p:tgtEl>
                                          <p:spTgt spid="15362"/>
                                        </p:tgtEl>
                                      </p:cBhvr>
                                    </p:animEffect>
                                  </p:childTnLst>
                                  <p:subTnLst>
                                    <p:audio>
                                      <p:cMediaNode>
                                        <p:cTn display="0" masterRel="sameClick">
                                          <p:stCondLst>
                                            <p:cond evt="begin" delay="0">
                                              <p:tn val="5"/>
                                            </p:cond>
                                          </p:stCondLst>
                                          <p:endCondLst>
                                            <p:cond evt="onStopAudio" delay="0">
                                              <p:tgtEl>
                                                <p:sldTgt/>
                                              </p:tgtEl>
                                            </p:cond>
                                          </p:endCondLst>
                                        </p:cTn>
                                        <p:tgtEl>
                                          <p:sndTgt r:embed="rId3" name="projctor.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5" fill="hold" grpId="0" nodeType="clickEffect">
                                  <p:stCondLst>
                                    <p:cond delay="0"/>
                                  </p:stCondLst>
                                  <p:childTnLst>
                                    <p:set>
                                      <p:cBhvr>
                                        <p:cTn id="11" dur="1" fill="hold">
                                          <p:stCondLst>
                                            <p:cond delay="0"/>
                                          </p:stCondLst>
                                        </p:cTn>
                                        <p:tgtEl>
                                          <p:spTgt spid="15363"/>
                                        </p:tgtEl>
                                        <p:attrNameLst>
                                          <p:attrName>style.visibility</p:attrName>
                                        </p:attrNameLst>
                                      </p:cBhvr>
                                      <p:to>
                                        <p:strVal val="visible"/>
                                      </p:to>
                                    </p:set>
                                    <p:animEffect transition="in" filter="blinds(vertical)">
                                      <p:cBhvr>
                                        <p:cTn id="12" dur="500"/>
                                        <p:tgtEl>
                                          <p:spTgt spid="153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2" grpId="0" autoUpdateAnimBg="0"/>
      <p:bldP spid="15363"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 Box 8">
            <a:extLst>
              <a:ext uri="{FF2B5EF4-FFF2-40B4-BE49-F238E27FC236}">
                <a16:creationId xmlns:a16="http://schemas.microsoft.com/office/drawing/2014/main" id="{F18D2E9A-D456-4A04-AF0A-48B66F5F0AA9}"/>
              </a:ext>
            </a:extLst>
          </p:cNvPr>
          <p:cNvSpPr txBox="1">
            <a:spLocks noChangeArrowheads="1"/>
          </p:cNvSpPr>
          <p:nvPr/>
        </p:nvSpPr>
        <p:spPr bwMode="auto">
          <a:xfrm>
            <a:off x="750714" y="332656"/>
            <a:ext cx="3184525"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dirty="0">
                <a:solidFill>
                  <a:srgbClr val="CC3300"/>
                </a:solidFill>
                <a:latin typeface="Times New Roman" panose="02020603050405020304" pitchFamily="18" charset="0"/>
              </a:rPr>
              <a:t>II. state table</a:t>
            </a:r>
            <a:endParaRPr lang="zh-CN" altLang="en-US" sz="2400" b="1" dirty="0">
              <a:solidFill>
                <a:srgbClr val="CC3300"/>
              </a:solidFill>
              <a:latin typeface="Times New Roman" panose="02020603050405020304" pitchFamily="18" charset="0"/>
            </a:endParaRPr>
          </a:p>
        </p:txBody>
      </p:sp>
      <p:sp>
        <p:nvSpPr>
          <p:cNvPr id="16387" name="Text Box 9">
            <a:extLst>
              <a:ext uri="{FF2B5EF4-FFF2-40B4-BE49-F238E27FC236}">
                <a16:creationId xmlns:a16="http://schemas.microsoft.com/office/drawing/2014/main" id="{C9EC70F0-D58A-41F3-AAFA-214AE0035A5B}"/>
              </a:ext>
            </a:extLst>
          </p:cNvPr>
          <p:cNvSpPr txBox="1">
            <a:spLocks noChangeArrowheads="1"/>
          </p:cNvSpPr>
          <p:nvPr/>
        </p:nvSpPr>
        <p:spPr bwMode="auto">
          <a:xfrm>
            <a:off x="334962" y="811547"/>
            <a:ext cx="8474075"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dirty="0">
                <a:solidFill>
                  <a:srgbClr val="FF3300"/>
                </a:solidFill>
                <a:latin typeface="Times New Roman" panose="02020603050405020304" pitchFamily="18" charset="0"/>
              </a:rPr>
              <a:t>　　</a:t>
            </a:r>
            <a:r>
              <a:rPr lang="en-US" altLang="zh-CN" sz="2400" b="1" dirty="0">
                <a:solidFill>
                  <a:srgbClr val="FF3300"/>
                </a:solidFill>
                <a:latin typeface="Times New Roman" panose="02020603050405020304" pitchFamily="18" charset="0"/>
              </a:rPr>
              <a:t>State table</a:t>
            </a:r>
            <a:r>
              <a:rPr lang="zh-CN" altLang="en-US" sz="2400" b="1" dirty="0">
                <a:solidFill>
                  <a:schemeClr val="tx2"/>
                </a:solidFill>
                <a:latin typeface="Times New Roman" panose="02020603050405020304" pitchFamily="18" charset="0"/>
              </a:rPr>
              <a:t>：</a:t>
            </a:r>
            <a:r>
              <a:rPr lang="en-US" altLang="zh-CN" dirty="0">
                <a:latin typeface="Times New Roman" panose="02020603050405020304" pitchFamily="18" charset="0"/>
              </a:rPr>
              <a:t>A table reflecting the relationship amongst the output Z</a:t>
            </a:r>
            <a:r>
              <a:rPr lang="en-US" altLang="zh-CN" sz="2400" dirty="0">
                <a:latin typeface="Times New Roman" panose="02020603050405020304" pitchFamily="18" charset="0"/>
              </a:rPr>
              <a:t>, </a:t>
            </a:r>
            <a:r>
              <a:rPr lang="zh-CN" altLang="en-US" dirty="0">
                <a:latin typeface="Times New Roman" panose="02020603050405020304" pitchFamily="18" charset="0"/>
              </a:rPr>
              <a:t> </a:t>
            </a:r>
            <a:r>
              <a:rPr lang="en-US" altLang="zh-CN" dirty="0">
                <a:latin typeface="Times New Roman" panose="02020603050405020304" pitchFamily="18" charset="0"/>
              </a:rPr>
              <a:t>next state</a:t>
            </a:r>
            <a:r>
              <a:rPr lang="en-US" altLang="zh-CN" sz="2400" dirty="0">
                <a:latin typeface="Times New Roman" panose="02020603050405020304" pitchFamily="18" charset="0"/>
              </a:rPr>
              <a:t>y</a:t>
            </a:r>
            <a:r>
              <a:rPr lang="en-US" altLang="zh-CN" sz="2400" baseline="30000" dirty="0">
                <a:latin typeface="Times New Roman" panose="02020603050405020304" pitchFamily="18" charset="0"/>
              </a:rPr>
              <a:t>n+1</a:t>
            </a:r>
            <a:r>
              <a:rPr lang="zh-CN" altLang="en-US" sz="2400" dirty="0">
                <a:latin typeface="Times New Roman" panose="02020603050405020304" pitchFamily="18" charset="0"/>
              </a:rPr>
              <a:t> </a:t>
            </a:r>
            <a:r>
              <a:rPr lang="en-US" altLang="zh-CN" sz="2400" dirty="0">
                <a:latin typeface="Times New Roman" panose="02020603050405020304" pitchFamily="18" charset="0"/>
              </a:rPr>
              <a:t>and circuit input x</a:t>
            </a:r>
            <a:r>
              <a:rPr lang="en-US" altLang="zh-CN" dirty="0">
                <a:latin typeface="Times New Roman" panose="02020603050405020304" pitchFamily="18" charset="0"/>
              </a:rPr>
              <a:t>, present state </a:t>
            </a:r>
            <a:r>
              <a:rPr lang="en-US" altLang="zh-CN" sz="2400" dirty="0">
                <a:latin typeface="Times New Roman" panose="02020603050405020304" pitchFamily="18" charset="0"/>
              </a:rPr>
              <a:t>y</a:t>
            </a:r>
            <a:r>
              <a:rPr lang="zh-CN" altLang="en-US" sz="2400" dirty="0">
                <a:latin typeface="Times New Roman" panose="02020603050405020304" pitchFamily="18" charset="0"/>
              </a:rPr>
              <a:t>，</a:t>
            </a:r>
            <a:r>
              <a:rPr lang="en-US" altLang="zh-CN" sz="2400" dirty="0">
                <a:latin typeface="Times New Roman" panose="02020603050405020304" pitchFamily="18" charset="0"/>
              </a:rPr>
              <a:t>so it is called state table.</a:t>
            </a:r>
            <a:endParaRPr lang="zh-CN" altLang="en-US" sz="2400" dirty="0">
              <a:latin typeface="Times New Roman" panose="02020603050405020304" pitchFamily="18" charset="0"/>
            </a:endParaRPr>
          </a:p>
          <a:p>
            <a:pPr eaLnBrk="1" hangingPunct="1"/>
            <a:br>
              <a:rPr lang="zh-CN" altLang="en-US" sz="2400" dirty="0">
                <a:latin typeface="Times New Roman" panose="02020603050405020304" pitchFamily="18" charset="0"/>
              </a:rPr>
            </a:br>
            <a:r>
              <a:rPr lang="zh-CN" altLang="en-US" sz="2400" dirty="0">
                <a:latin typeface="Times New Roman" panose="02020603050405020304" pitchFamily="18" charset="0"/>
              </a:rPr>
              <a:t>　　</a:t>
            </a:r>
            <a:r>
              <a:rPr lang="en-US" altLang="zh-CN" dirty="0">
                <a:latin typeface="Times New Roman" panose="02020603050405020304" pitchFamily="18" charset="0"/>
              </a:rPr>
              <a:t>The format of the Mealy type synchronous timing circuit status table is as shown in the following table.</a:t>
            </a:r>
            <a:endParaRPr lang="zh-CN" altLang="en-US" sz="2400" dirty="0">
              <a:latin typeface="Times New Roman" panose="02020603050405020304" pitchFamily="18" charset="0"/>
            </a:endParaRPr>
          </a:p>
        </p:txBody>
      </p:sp>
      <p:sp>
        <p:nvSpPr>
          <p:cNvPr id="16388" name="Text Box 12">
            <a:extLst>
              <a:ext uri="{FF2B5EF4-FFF2-40B4-BE49-F238E27FC236}">
                <a16:creationId xmlns:a16="http://schemas.microsoft.com/office/drawing/2014/main" id="{5981EF69-0CC3-4608-9119-01D411E5D37C}"/>
              </a:ext>
            </a:extLst>
          </p:cNvPr>
          <p:cNvSpPr txBox="1">
            <a:spLocks noChangeArrowheads="1"/>
          </p:cNvSpPr>
          <p:nvPr/>
        </p:nvSpPr>
        <p:spPr bwMode="auto">
          <a:xfrm>
            <a:off x="743308" y="5261623"/>
            <a:ext cx="7704782"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dirty="0">
                <a:latin typeface="Times New Roman" panose="02020603050405020304" pitchFamily="18" charset="0"/>
              </a:rPr>
              <a:t>In the table, the number of columns = the number of all combinations of values entered;</a:t>
            </a:r>
          </a:p>
          <a:p>
            <a:pPr eaLnBrk="1" hangingPunct="1"/>
            <a:r>
              <a:rPr lang="en-US" altLang="zh-CN" dirty="0">
                <a:latin typeface="Times New Roman" panose="02020603050405020304" pitchFamily="18" charset="0"/>
              </a:rPr>
              <a:t>The number of rows = The number of state combinations for the flip-flops.</a:t>
            </a:r>
            <a:endParaRPr lang="zh-CN" altLang="en-US" sz="2400" dirty="0">
              <a:latin typeface="Times New Roman" panose="02020603050405020304" pitchFamily="18" charset="0"/>
            </a:endParaRPr>
          </a:p>
        </p:txBody>
      </p:sp>
      <p:pic>
        <p:nvPicPr>
          <p:cNvPr id="17414" name="Picture 15" descr="Right_Green">
            <a:hlinkClick r:id="" action="ppaction://hlinkshowjump?jump=nextslide"/>
            <a:extLst>
              <a:ext uri="{FF2B5EF4-FFF2-40B4-BE49-F238E27FC236}">
                <a16:creationId xmlns:a16="http://schemas.microsoft.com/office/drawing/2014/main" id="{16F6AB24-1AF9-4835-BACB-2157A46BB31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99500"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5" name="Picture 16" descr="Left_Green">
            <a:hlinkClick r:id="" action="ppaction://hlinkshowjump?jump=previousslide"/>
            <a:extLst>
              <a:ext uri="{FF2B5EF4-FFF2-40B4-BE49-F238E27FC236}">
                <a16:creationId xmlns:a16="http://schemas.microsoft.com/office/drawing/2014/main" id="{A8D0C941-C2BF-40A3-8616-56B65479D24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43888"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图片 1">
            <a:extLst>
              <a:ext uri="{FF2B5EF4-FFF2-40B4-BE49-F238E27FC236}">
                <a16:creationId xmlns:a16="http://schemas.microsoft.com/office/drawing/2014/main" id="{571C06DC-FB40-4B16-9A81-16164A407796}"/>
              </a:ext>
            </a:extLst>
          </p:cNvPr>
          <p:cNvPicPr>
            <a:picLocks noChangeAspect="1"/>
          </p:cNvPicPr>
          <p:nvPr/>
        </p:nvPicPr>
        <p:blipFill>
          <a:blip r:embed="rId6"/>
          <a:stretch>
            <a:fillRect/>
          </a:stretch>
        </p:blipFill>
        <p:spPr>
          <a:xfrm>
            <a:off x="2728798" y="2996517"/>
            <a:ext cx="3787417" cy="2297632"/>
          </a:xfrm>
          <a:prstGeom prst="rect">
            <a:avLst/>
          </a:prstGeom>
        </p:spPr>
      </p:pic>
    </p:spTree>
    <p:extLst>
      <p:ext uri="{BB962C8B-B14F-4D97-AF65-F5344CB8AC3E}">
        <p14:creationId xmlns:p14="http://schemas.microsoft.com/office/powerpoint/2010/main" val="293816510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6386"/>
                                        </p:tgtEl>
                                        <p:attrNameLst>
                                          <p:attrName>style.visibility</p:attrName>
                                        </p:attrNameLst>
                                      </p:cBhvr>
                                      <p:to>
                                        <p:strVal val="visible"/>
                                      </p:to>
                                    </p:set>
                                  </p:childTnLst>
                                  <p:subTnLst>
                                    <p:audio>
                                      <p:cMediaNode>
                                        <p:cTn display="0" masterRel="sameClick">
                                          <p:stCondLst>
                                            <p:cond evt="begin" delay="0">
                                              <p:tn val="5"/>
                                            </p:cond>
                                          </p:stCondLst>
                                          <p:endCondLst>
                                            <p:cond evt="onStopAudio" delay="0">
                                              <p:tgtEl>
                                                <p:sldTgt/>
                                              </p:tgtEl>
                                            </p:cond>
                                          </p:endCondLst>
                                        </p:cTn>
                                        <p:tgtEl>
                                          <p:sndTgt r:embed="rId3" name="projctor.wav"/>
                                        </p:tgtEl>
                                      </p:cMediaNode>
                                    </p:audio>
                                  </p:subTnLst>
                                </p:cTn>
                              </p:par>
                            </p:childTnLst>
                          </p:cTn>
                        </p:par>
                      </p:childTnLst>
                    </p:cTn>
                  </p:par>
                  <p:par>
                    <p:cTn id="7" fill="hold" nodeType="clickPar">
                      <p:stCondLst>
                        <p:cond delay="indefinite"/>
                      </p:stCondLst>
                      <p:childTnLst>
                        <p:par>
                          <p:cTn id="8" fill="hold" nodeType="withGroup">
                            <p:stCondLst>
                              <p:cond delay="0"/>
                            </p:stCondLst>
                            <p:childTnLst>
                              <p:par>
                                <p:cTn id="9" presetID="18" presetClass="entr" presetSubtype="6" fill="hold" grpId="0" nodeType="clickEffect">
                                  <p:stCondLst>
                                    <p:cond delay="0"/>
                                  </p:stCondLst>
                                  <p:childTnLst>
                                    <p:set>
                                      <p:cBhvr>
                                        <p:cTn id="10" dur="1" fill="hold">
                                          <p:stCondLst>
                                            <p:cond delay="0"/>
                                          </p:stCondLst>
                                        </p:cTn>
                                        <p:tgtEl>
                                          <p:spTgt spid="16387">
                                            <p:txEl>
                                              <p:pRg st="0" end="0"/>
                                            </p:txEl>
                                          </p:spTgt>
                                        </p:tgtEl>
                                        <p:attrNameLst>
                                          <p:attrName>style.visibility</p:attrName>
                                        </p:attrNameLst>
                                      </p:cBhvr>
                                      <p:to>
                                        <p:strVal val="visible"/>
                                      </p:to>
                                    </p:set>
                                    <p:animEffect transition="in" filter="strips(downRight)">
                                      <p:cBhvr>
                                        <p:cTn id="11" dur="500"/>
                                        <p:tgtEl>
                                          <p:spTgt spid="16387">
                                            <p:txEl>
                                              <p:pRg st="0" end="0"/>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8" presetClass="entr" presetSubtype="6" fill="hold" grpId="0" nodeType="clickEffect">
                                  <p:stCondLst>
                                    <p:cond delay="0"/>
                                  </p:stCondLst>
                                  <p:childTnLst>
                                    <p:set>
                                      <p:cBhvr>
                                        <p:cTn id="15" dur="1" fill="hold">
                                          <p:stCondLst>
                                            <p:cond delay="0"/>
                                          </p:stCondLst>
                                        </p:cTn>
                                        <p:tgtEl>
                                          <p:spTgt spid="16387">
                                            <p:txEl>
                                              <p:pRg st="1" end="1"/>
                                            </p:txEl>
                                          </p:spTgt>
                                        </p:tgtEl>
                                        <p:attrNameLst>
                                          <p:attrName>style.visibility</p:attrName>
                                        </p:attrNameLst>
                                      </p:cBhvr>
                                      <p:to>
                                        <p:strVal val="visible"/>
                                      </p:to>
                                    </p:set>
                                    <p:animEffect transition="in" filter="strips(downRight)">
                                      <p:cBhvr>
                                        <p:cTn id="16" dur="500"/>
                                        <p:tgtEl>
                                          <p:spTgt spid="16387">
                                            <p:txEl>
                                              <p:pRg st="1" end="1"/>
                                            </p:txEl>
                                          </p:spTgt>
                                        </p:tgtEl>
                                      </p:cBhvr>
                                    </p:animEffect>
                                  </p:childTnLst>
                                </p:cTn>
                              </p:par>
                            </p:childTnLst>
                          </p:cTn>
                        </p:par>
                        <p:par>
                          <p:cTn id="17" fill="hold" nodeType="afterGroup">
                            <p:stCondLst>
                              <p:cond delay="500"/>
                            </p:stCondLst>
                            <p:childTnLst>
                              <p:par>
                                <p:cTn id="18" presetID="2" presetClass="entr" presetSubtype="4" fill="hold" grpId="0" nodeType="afterEffect">
                                  <p:stCondLst>
                                    <p:cond delay="0"/>
                                  </p:stCondLst>
                                  <p:childTnLst>
                                    <p:set>
                                      <p:cBhvr>
                                        <p:cTn id="19" dur="1" fill="hold">
                                          <p:stCondLst>
                                            <p:cond delay="0"/>
                                          </p:stCondLst>
                                        </p:cTn>
                                        <p:tgtEl>
                                          <p:spTgt spid="16388"/>
                                        </p:tgtEl>
                                        <p:attrNameLst>
                                          <p:attrName>style.visibility</p:attrName>
                                        </p:attrNameLst>
                                      </p:cBhvr>
                                      <p:to>
                                        <p:strVal val="visible"/>
                                      </p:to>
                                    </p:set>
                                    <p:anim calcmode="lin" valueType="num">
                                      <p:cBhvr additive="base">
                                        <p:cTn id="20" dur="500" fill="hold"/>
                                        <p:tgtEl>
                                          <p:spTgt spid="16388"/>
                                        </p:tgtEl>
                                        <p:attrNameLst>
                                          <p:attrName>ppt_x</p:attrName>
                                        </p:attrNameLst>
                                      </p:cBhvr>
                                      <p:tavLst>
                                        <p:tav tm="0">
                                          <p:val>
                                            <p:strVal val="#ppt_x"/>
                                          </p:val>
                                        </p:tav>
                                        <p:tav tm="100000">
                                          <p:val>
                                            <p:strVal val="#ppt_x"/>
                                          </p:val>
                                        </p:tav>
                                      </p:tavLst>
                                    </p:anim>
                                    <p:anim calcmode="lin" valueType="num">
                                      <p:cBhvr additive="base">
                                        <p:cTn id="21" dur="500" fill="hold"/>
                                        <p:tgtEl>
                                          <p:spTgt spid="1638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6" grpId="0" autoUpdateAnimBg="0"/>
      <p:bldP spid="16387" grpId="0" build="p" autoUpdateAnimBg="0"/>
      <p:bldP spid="16388" grpId="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标题 1">
            <a:extLst>
              <a:ext uri="{FF2B5EF4-FFF2-40B4-BE49-F238E27FC236}">
                <a16:creationId xmlns:a16="http://schemas.microsoft.com/office/drawing/2014/main" id="{DBE15C55-9BEE-4312-8132-4402198ED7EC}"/>
              </a:ext>
            </a:extLst>
          </p:cNvPr>
          <p:cNvSpPr>
            <a:spLocks noGrp="1" noChangeArrowheads="1"/>
          </p:cNvSpPr>
          <p:nvPr>
            <p:ph type="title" idx="4294967295"/>
          </p:nvPr>
        </p:nvSpPr>
        <p:spPr bwMode="auto">
          <a:xfrm>
            <a:off x="384175" y="476250"/>
            <a:ext cx="8229600" cy="1143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90000"/>
          </a:bodyPr>
          <a:lstStyle/>
          <a:p>
            <a:r>
              <a:rPr lang="en-US" altLang="zh-CN" dirty="0"/>
              <a:t>Example of the state table</a:t>
            </a:r>
            <a:br>
              <a:rPr lang="en-US" altLang="zh-CN" dirty="0"/>
            </a:br>
            <a:r>
              <a:rPr lang="en-US" altLang="zh-CN" sz="3100" dirty="0"/>
              <a:t>Assume that a state table of a synchronous sequential circuit is as follows</a:t>
            </a:r>
            <a:endParaRPr lang="zh-CN" altLang="en-US" sz="3100" dirty="0"/>
          </a:p>
        </p:txBody>
      </p:sp>
      <p:pic>
        <p:nvPicPr>
          <p:cNvPr id="2" name="图片 1">
            <a:extLst>
              <a:ext uri="{FF2B5EF4-FFF2-40B4-BE49-F238E27FC236}">
                <a16:creationId xmlns:a16="http://schemas.microsoft.com/office/drawing/2014/main" id="{CE7C9400-DE3E-4093-82C0-FEB1BB11C3CE}"/>
              </a:ext>
            </a:extLst>
          </p:cNvPr>
          <p:cNvPicPr>
            <a:picLocks noChangeAspect="1"/>
          </p:cNvPicPr>
          <p:nvPr/>
        </p:nvPicPr>
        <p:blipFill>
          <a:blip r:embed="rId3"/>
          <a:stretch>
            <a:fillRect/>
          </a:stretch>
        </p:blipFill>
        <p:spPr>
          <a:xfrm>
            <a:off x="395862" y="2124074"/>
            <a:ext cx="7919642" cy="3177133"/>
          </a:xfrm>
          <a:prstGeom prst="rect">
            <a:avLst/>
          </a:prstGeom>
        </p:spPr>
      </p:pic>
    </p:spTree>
    <p:extLst>
      <p:ext uri="{BB962C8B-B14F-4D97-AF65-F5344CB8AC3E}">
        <p14:creationId xmlns:p14="http://schemas.microsoft.com/office/powerpoint/2010/main" val="22333435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 Box 10">
            <a:extLst>
              <a:ext uri="{FF2B5EF4-FFF2-40B4-BE49-F238E27FC236}">
                <a16:creationId xmlns:a16="http://schemas.microsoft.com/office/drawing/2014/main" id="{0D7CB5A5-4335-4410-B69E-56919EB11A70}"/>
              </a:ext>
            </a:extLst>
          </p:cNvPr>
          <p:cNvSpPr txBox="1">
            <a:spLocks noChangeArrowheads="1"/>
          </p:cNvSpPr>
          <p:nvPr/>
        </p:nvSpPr>
        <p:spPr bwMode="auto">
          <a:xfrm>
            <a:off x="381000" y="4953000"/>
            <a:ext cx="845820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2400" dirty="0">
                <a:latin typeface="Times New Roman" panose="02020603050405020304" pitchFamily="18" charset="0"/>
              </a:rPr>
              <a:t>　</a:t>
            </a:r>
            <a:r>
              <a:rPr lang="en-US" altLang="zh-CN" dirty="0">
                <a:solidFill>
                  <a:schemeClr val="accent2"/>
                </a:solidFill>
                <a:latin typeface="Times New Roman" panose="02020603050405020304" pitchFamily="18" charset="0"/>
              </a:rPr>
              <a:t>The state table is a commonly used tool in the analysis and design of synchronous sequential circuits. It clearly shows the state and output of the synchronous sequential circuit under different input and present states.</a:t>
            </a:r>
            <a:endParaRPr lang="zh-CN" altLang="en-US" sz="2400" dirty="0">
              <a:solidFill>
                <a:schemeClr val="accent2"/>
              </a:solidFill>
              <a:latin typeface="Times New Roman" panose="02020603050405020304" pitchFamily="18" charset="0"/>
            </a:endParaRPr>
          </a:p>
        </p:txBody>
      </p:sp>
      <p:sp>
        <p:nvSpPr>
          <p:cNvPr id="18435" name="Text Box 12">
            <a:extLst>
              <a:ext uri="{FF2B5EF4-FFF2-40B4-BE49-F238E27FC236}">
                <a16:creationId xmlns:a16="http://schemas.microsoft.com/office/drawing/2014/main" id="{95878674-0F7E-4247-8FEF-AA6CDF55B276}"/>
              </a:ext>
            </a:extLst>
          </p:cNvPr>
          <p:cNvSpPr txBox="1">
            <a:spLocks noChangeArrowheads="1"/>
          </p:cNvSpPr>
          <p:nvPr/>
        </p:nvSpPr>
        <p:spPr bwMode="auto">
          <a:xfrm>
            <a:off x="755576" y="908720"/>
            <a:ext cx="6978352"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dirty="0">
                <a:latin typeface="Times New Roman" panose="02020603050405020304" pitchFamily="18" charset="0"/>
              </a:rPr>
              <a:t>The format of the Moore type circuit status table is shown in the table below.</a:t>
            </a:r>
            <a:endParaRPr lang="zh-CN" altLang="en-US" sz="2400" dirty="0">
              <a:latin typeface="Times New Roman" panose="02020603050405020304" pitchFamily="18" charset="0"/>
            </a:endParaRPr>
          </a:p>
        </p:txBody>
      </p:sp>
      <p:pic>
        <p:nvPicPr>
          <p:cNvPr id="19461" name="Picture 15" descr="Right_Green">
            <a:hlinkClick r:id="" action="ppaction://hlinkshowjump?jump=nextslide"/>
            <a:extLst>
              <a:ext uri="{FF2B5EF4-FFF2-40B4-BE49-F238E27FC236}">
                <a16:creationId xmlns:a16="http://schemas.microsoft.com/office/drawing/2014/main" id="{3F7F4FD5-63B6-47A9-A741-438343C669F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99500"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2" name="Picture 16" descr="Left_Green">
            <a:hlinkClick r:id="" action="ppaction://hlinkshowjump?jump=previousslide"/>
            <a:extLst>
              <a:ext uri="{FF2B5EF4-FFF2-40B4-BE49-F238E27FC236}">
                <a16:creationId xmlns:a16="http://schemas.microsoft.com/office/drawing/2014/main" id="{38C4AEBC-0047-4B24-89B6-4128377A735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43888"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片 2">
            <a:extLst>
              <a:ext uri="{FF2B5EF4-FFF2-40B4-BE49-F238E27FC236}">
                <a16:creationId xmlns:a16="http://schemas.microsoft.com/office/drawing/2014/main" id="{621DCEA6-538F-464F-9465-3F9942B566F3}"/>
              </a:ext>
            </a:extLst>
          </p:cNvPr>
          <p:cNvPicPr>
            <a:picLocks noChangeAspect="1"/>
          </p:cNvPicPr>
          <p:nvPr/>
        </p:nvPicPr>
        <p:blipFill>
          <a:blip r:embed="rId6"/>
          <a:stretch>
            <a:fillRect/>
          </a:stretch>
        </p:blipFill>
        <p:spPr>
          <a:xfrm>
            <a:off x="2267744" y="1747284"/>
            <a:ext cx="5324976" cy="3205716"/>
          </a:xfrm>
          <a:prstGeom prst="rect">
            <a:avLst/>
          </a:prstGeom>
        </p:spPr>
      </p:pic>
    </p:spTree>
    <p:extLst>
      <p:ext uri="{BB962C8B-B14F-4D97-AF65-F5344CB8AC3E}">
        <p14:creationId xmlns:p14="http://schemas.microsoft.com/office/powerpoint/2010/main" val="22356118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 fill="hold" grpId="0" nodeType="clickEffect">
                                  <p:stCondLst>
                                    <p:cond delay="0"/>
                                  </p:stCondLst>
                                  <p:childTnLst>
                                    <p:set>
                                      <p:cBhvr>
                                        <p:cTn id="6" dur="1" fill="hold">
                                          <p:stCondLst>
                                            <p:cond delay="0"/>
                                          </p:stCondLst>
                                        </p:cTn>
                                        <p:tgtEl>
                                          <p:spTgt spid="18435"/>
                                        </p:tgtEl>
                                        <p:attrNameLst>
                                          <p:attrName>style.visibility</p:attrName>
                                        </p:attrNameLst>
                                      </p:cBhvr>
                                      <p:to>
                                        <p:strVal val="visible"/>
                                      </p:to>
                                    </p:set>
                                    <p:anim calcmode="lin" valueType="num">
                                      <p:cBhvr additive="base">
                                        <p:cTn id="7" dur="500" fill="hold"/>
                                        <p:tgtEl>
                                          <p:spTgt spid="18435"/>
                                        </p:tgtEl>
                                        <p:attrNameLst>
                                          <p:attrName>ppt_x</p:attrName>
                                        </p:attrNameLst>
                                      </p:cBhvr>
                                      <p:tavLst>
                                        <p:tav tm="0">
                                          <p:val>
                                            <p:strVal val="#ppt_x"/>
                                          </p:val>
                                        </p:tav>
                                        <p:tav tm="100000">
                                          <p:val>
                                            <p:strVal val="#ppt_x"/>
                                          </p:val>
                                        </p:tav>
                                      </p:tavLst>
                                    </p:anim>
                                    <p:anim calcmode="lin" valueType="num">
                                      <p:cBhvr additive="base">
                                        <p:cTn id="8" dur="500" fill="hold"/>
                                        <p:tgtEl>
                                          <p:spTgt spid="18435"/>
                                        </p:tgtEl>
                                        <p:attrNameLst>
                                          <p:attrName>ppt_y</p:attrName>
                                        </p:attrNameLst>
                                      </p:cBhvr>
                                      <p:tavLst>
                                        <p:tav tm="0">
                                          <p:val>
                                            <p:strVal val="0-#ppt_h/2"/>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projctor.wav"/>
                                        </p:tgtEl>
                                      </p:cMediaNode>
                                    </p:audio>
                                  </p:subTnLst>
                                </p:cTn>
                              </p:par>
                            </p:childTnLst>
                          </p:cTn>
                        </p:par>
                      </p:childTnLst>
                    </p:cTn>
                  </p:par>
                  <p:par>
                    <p:cTn id="9" fill="hold" nodeType="clickPar">
                      <p:stCondLst>
                        <p:cond delay="indefinite"/>
                      </p:stCondLst>
                      <p:childTnLst>
                        <p:par>
                          <p:cTn id="10" fill="hold" nodeType="withGroup">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18434"/>
                                        </p:tgtEl>
                                        <p:attrNameLst>
                                          <p:attrName>style.visibility</p:attrName>
                                        </p:attrNameLst>
                                      </p:cBhvr>
                                      <p:to>
                                        <p:strVal val="visible"/>
                                      </p:to>
                                    </p:set>
                                    <p:animEffect transition="in" filter="box(out)">
                                      <p:cBhvr>
                                        <p:cTn id="13" dur="500"/>
                                        <p:tgtEl>
                                          <p:spTgt spid="184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4" grpId="0" autoUpdateAnimBg="0"/>
      <p:bldP spid="18435"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1">
            <a:extLst>
              <a:ext uri="{FF2B5EF4-FFF2-40B4-BE49-F238E27FC236}">
                <a16:creationId xmlns:a16="http://schemas.microsoft.com/office/drawing/2014/main" id="{A1BB71F7-B26E-4CC6-8B03-1C62F91115A4}"/>
              </a:ext>
            </a:extLst>
          </p:cNvPr>
          <p:cNvSpPr>
            <a:spLocks noGrp="1" noChangeArrowheads="1"/>
          </p:cNvSpPr>
          <p:nvPr>
            <p:ph type="title" idx="4294967295"/>
          </p:nvPr>
        </p:nvSpPr>
        <p:spPr bwMode="auto">
          <a:xfrm>
            <a:off x="457200" y="274638"/>
            <a:ext cx="8229600" cy="1143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90000"/>
          </a:bodyPr>
          <a:lstStyle/>
          <a:p>
            <a:pPr eaLnBrk="1" hangingPunct="1"/>
            <a:r>
              <a:rPr lang="en-US" altLang="zh-CN" dirty="0"/>
              <a:t>Example of the Moor type state table</a:t>
            </a:r>
            <a:endParaRPr lang="zh-CN" altLang="en-US" dirty="0"/>
          </a:p>
        </p:txBody>
      </p:sp>
      <p:graphicFrame>
        <p:nvGraphicFramePr>
          <p:cNvPr id="19459" name="Group 3">
            <a:extLst>
              <a:ext uri="{FF2B5EF4-FFF2-40B4-BE49-F238E27FC236}">
                <a16:creationId xmlns:a16="http://schemas.microsoft.com/office/drawing/2014/main" id="{812FA04B-E646-45A6-8D69-CD6FECC2FB26}"/>
              </a:ext>
            </a:extLst>
          </p:cNvPr>
          <p:cNvGraphicFramePr>
            <a:graphicFrameLocks noGrp="1"/>
          </p:cNvGraphicFramePr>
          <p:nvPr>
            <p:ph idx="4294967295"/>
            <p:extLst>
              <p:ext uri="{D42A27DB-BD31-4B8C-83A1-F6EECF244321}">
                <p14:modId xmlns:p14="http://schemas.microsoft.com/office/powerpoint/2010/main" val="726158660"/>
              </p:ext>
            </p:extLst>
          </p:nvPr>
        </p:nvGraphicFramePr>
        <p:xfrm>
          <a:off x="539750" y="1916113"/>
          <a:ext cx="7848600" cy="3529014"/>
        </p:xfrm>
        <a:graphic>
          <a:graphicData uri="http://schemas.openxmlformats.org/drawingml/2006/table">
            <a:tbl>
              <a:tblPr/>
              <a:tblGrid>
                <a:gridCol w="1962150">
                  <a:extLst>
                    <a:ext uri="{9D8B030D-6E8A-4147-A177-3AD203B41FA5}">
                      <a16:colId xmlns:a16="http://schemas.microsoft.com/office/drawing/2014/main" val="20000"/>
                    </a:ext>
                  </a:extLst>
                </a:gridCol>
                <a:gridCol w="1962150">
                  <a:extLst>
                    <a:ext uri="{9D8B030D-6E8A-4147-A177-3AD203B41FA5}">
                      <a16:colId xmlns:a16="http://schemas.microsoft.com/office/drawing/2014/main" val="20001"/>
                    </a:ext>
                  </a:extLst>
                </a:gridCol>
                <a:gridCol w="1962150">
                  <a:extLst>
                    <a:ext uri="{9D8B030D-6E8A-4147-A177-3AD203B41FA5}">
                      <a16:colId xmlns:a16="http://schemas.microsoft.com/office/drawing/2014/main" val="20002"/>
                    </a:ext>
                  </a:extLst>
                </a:gridCol>
                <a:gridCol w="1962150">
                  <a:extLst>
                    <a:ext uri="{9D8B030D-6E8A-4147-A177-3AD203B41FA5}">
                      <a16:colId xmlns:a16="http://schemas.microsoft.com/office/drawing/2014/main" val="20003"/>
                    </a:ext>
                  </a:extLst>
                </a:gridCol>
              </a:tblGrid>
              <a:tr h="706438">
                <a:tc rowSpan="2">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FFFFFF"/>
                          </a:solidFill>
                          <a:effectLst/>
                          <a:latin typeface="Times New Roman" pitchFamily="18" charset="0"/>
                          <a:ea typeface="宋体" pitchFamily="2" charset="-122"/>
                        </a:rPr>
                        <a:t>Present State</a:t>
                      </a:r>
                      <a:endParaRPr kumimoji="0" lang="zh-CN" altLang="en-US" sz="2400" b="1" i="0" u="none" strike="noStrike" cap="none" normalizeH="0" baseline="0" dirty="0">
                        <a:ln>
                          <a:noFill/>
                        </a:ln>
                        <a:solidFill>
                          <a:srgbClr val="FFFFFF"/>
                        </a:solidFill>
                        <a:effectLst/>
                        <a:latin typeface="Times New Roman" pitchFamily="18" charset="0"/>
                        <a:ea typeface="宋体" pitchFamily="2" charset="-122"/>
                      </a:endParaRPr>
                    </a:p>
                    <a:p>
                      <a:pPr marL="0" marR="0" lvl="0" indent="0" algn="just" defTabSz="914400" rtl="0" eaLnBrk="1" fontAlgn="base" latinLnBrk="0" hangingPunct="1">
                        <a:lnSpc>
                          <a:spcPct val="100000"/>
                        </a:lnSpc>
                        <a:spcBef>
                          <a:spcPct val="0"/>
                        </a:spcBef>
                        <a:spcAft>
                          <a:spcPct val="0"/>
                        </a:spcAft>
                        <a:buClrTx/>
                        <a:buSzTx/>
                        <a:buFontTx/>
                        <a:buNone/>
                        <a:tabLst/>
                      </a:pPr>
                      <a:r>
                        <a:rPr kumimoji="0" lang="fr-FR" altLang="en-US" sz="2800" b="1" i="0" u="none" strike="noStrike" cap="none" normalizeH="0" baseline="0" dirty="0">
                          <a:ln>
                            <a:noFill/>
                          </a:ln>
                          <a:solidFill>
                            <a:srgbClr val="FFFFFF"/>
                          </a:solidFill>
                          <a:effectLst/>
                          <a:latin typeface="Times New Roman" pitchFamily="18" charset="0"/>
                          <a:ea typeface="宋体" pitchFamily="2" charset="-122"/>
                        </a:rPr>
                        <a:t>y</a:t>
                      </a:r>
                      <a:endParaRPr kumimoji="0" lang="fr-FR" altLang="en-US" sz="2800" b="1" i="0" u="none" strike="noStrike" cap="none" normalizeH="0" baseline="0" dirty="0">
                        <a:ln>
                          <a:noFill/>
                        </a:ln>
                        <a:solidFill>
                          <a:srgbClr val="FFFFFF"/>
                        </a:solidFill>
                        <a:effectLst/>
                        <a:latin typeface="Times New Roman" pitchFamily="18" charset="0"/>
                        <a:ea typeface="宋体" pitchFamily="2" charset="-122"/>
                        <a:cs typeface="Times New Roman" pitchFamily="18" charset="0"/>
                      </a:endParaRPr>
                    </a:p>
                  </a:txBody>
                  <a:tcPr marL="68578" marR="68578"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gridSpan="2">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dirty="0">
                          <a:ln>
                            <a:noFill/>
                          </a:ln>
                          <a:solidFill>
                            <a:srgbClr val="FFFFFF"/>
                          </a:solidFill>
                          <a:effectLst/>
                          <a:latin typeface="Times New Roman" pitchFamily="18" charset="0"/>
                          <a:ea typeface="宋体" pitchFamily="2" charset="-122"/>
                        </a:rPr>
                        <a:t>Next State</a:t>
                      </a:r>
                      <a:endParaRPr kumimoji="0" lang="zh-CN" sz="2800" b="1" i="0" u="none" strike="noStrike" cap="none" normalizeH="0" baseline="0" dirty="0">
                        <a:ln>
                          <a:noFill/>
                        </a:ln>
                        <a:solidFill>
                          <a:srgbClr val="FFFFFF"/>
                        </a:solidFill>
                        <a:effectLst/>
                        <a:latin typeface="Times New Roman" pitchFamily="18" charset="0"/>
                        <a:ea typeface="宋体" pitchFamily="2" charset="-122"/>
                        <a:cs typeface="Times New Roman" pitchFamily="18" charset="0"/>
                      </a:endParaRPr>
                    </a:p>
                  </a:txBody>
                  <a:tcPr marL="68578" marR="68578"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hMerge="1">
                  <a:txBody>
                    <a:bodyPr/>
                    <a:lstStyle/>
                    <a:p>
                      <a:endParaRPr lang="zh-CN" altLang="en-US"/>
                    </a:p>
                  </a:txBody>
                  <a:tcPr/>
                </a:tc>
                <a:tc rowSpan="2">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dirty="0">
                          <a:ln>
                            <a:noFill/>
                          </a:ln>
                          <a:solidFill>
                            <a:srgbClr val="FFFFFF"/>
                          </a:solidFill>
                          <a:effectLst/>
                          <a:latin typeface="Times New Roman" pitchFamily="18" charset="0"/>
                          <a:ea typeface="宋体" pitchFamily="2" charset="-122"/>
                        </a:rPr>
                        <a:t>Output</a:t>
                      </a:r>
                      <a:endParaRPr kumimoji="0" lang="zh-CN" altLang="en-US" sz="2800" b="1" i="0" u="none" strike="noStrike" cap="none" normalizeH="0" baseline="0" dirty="0">
                        <a:ln>
                          <a:noFill/>
                        </a:ln>
                        <a:solidFill>
                          <a:srgbClr val="FFFFFF"/>
                        </a:solidFill>
                        <a:effectLst/>
                        <a:latin typeface="Times New Roman" pitchFamily="18" charset="0"/>
                        <a:ea typeface="宋体" pitchFamily="2" charset="-122"/>
                      </a:endParaRPr>
                    </a:p>
                    <a:p>
                      <a:pPr marL="0" marR="0" lvl="0" indent="0" algn="just" defTabSz="914400" rtl="0" eaLnBrk="1" fontAlgn="base" latinLnBrk="0" hangingPunct="1">
                        <a:lnSpc>
                          <a:spcPct val="100000"/>
                        </a:lnSpc>
                        <a:spcBef>
                          <a:spcPct val="0"/>
                        </a:spcBef>
                        <a:spcAft>
                          <a:spcPct val="0"/>
                        </a:spcAft>
                        <a:buClrTx/>
                        <a:buSzTx/>
                        <a:buFontTx/>
                        <a:buNone/>
                        <a:tabLst/>
                      </a:pPr>
                      <a:r>
                        <a:rPr kumimoji="0" lang="fr-FR" altLang="en-US" sz="2800" b="1" i="0" u="none" strike="noStrike" cap="none" normalizeH="0" baseline="0" dirty="0">
                          <a:ln>
                            <a:noFill/>
                          </a:ln>
                          <a:solidFill>
                            <a:srgbClr val="FFFFFF"/>
                          </a:solidFill>
                          <a:effectLst/>
                          <a:latin typeface="Times New Roman" pitchFamily="18" charset="0"/>
                          <a:ea typeface="宋体" pitchFamily="2" charset="-122"/>
                        </a:rPr>
                        <a:t>Z</a:t>
                      </a:r>
                      <a:endParaRPr kumimoji="0" lang="fr-FR" altLang="en-US" sz="2800" b="1" i="0" u="none" strike="noStrike" cap="none" normalizeH="0" baseline="0" dirty="0">
                        <a:ln>
                          <a:noFill/>
                        </a:ln>
                        <a:solidFill>
                          <a:srgbClr val="FFFFFF"/>
                        </a:solidFill>
                        <a:effectLst/>
                        <a:latin typeface="Times New Roman" pitchFamily="18" charset="0"/>
                        <a:ea typeface="宋体" pitchFamily="2" charset="-122"/>
                        <a:cs typeface="Times New Roman" pitchFamily="18" charset="0"/>
                      </a:endParaRPr>
                    </a:p>
                  </a:txBody>
                  <a:tcPr marL="68578" marR="68578"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704850">
                <a:tc vMerge="1">
                  <a:txBody>
                    <a:bodyPr/>
                    <a:lstStyle/>
                    <a:p>
                      <a:endParaRPr lang="zh-CN" altLang="en-US"/>
                    </a:p>
                  </a:txBody>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fr-FR" altLang="en-US" sz="2800" b="0" i="0" u="none" strike="noStrike" cap="none" normalizeH="0" baseline="0">
                          <a:ln>
                            <a:noFill/>
                          </a:ln>
                          <a:solidFill>
                            <a:srgbClr val="000000"/>
                          </a:solidFill>
                          <a:effectLst/>
                          <a:latin typeface="Times New Roman" pitchFamily="18" charset="0"/>
                          <a:ea typeface="宋体" pitchFamily="2" charset="-122"/>
                        </a:rPr>
                        <a:t>X=0</a:t>
                      </a:r>
                      <a:endParaRPr kumimoji="0" lang="fr-FR" altLang="en-US" sz="2800" b="0" i="0" u="none" strike="noStrike" cap="none" normalizeH="0" baseline="0">
                        <a:ln>
                          <a:noFill/>
                        </a:ln>
                        <a:solidFill>
                          <a:srgbClr val="000000"/>
                        </a:solidFill>
                        <a:effectLst/>
                        <a:latin typeface="Times New Roman" pitchFamily="18" charset="0"/>
                        <a:ea typeface="宋体" pitchFamily="2" charset="-122"/>
                        <a:cs typeface="Times New Roman" pitchFamily="18" charset="0"/>
                      </a:endParaRPr>
                    </a:p>
                  </a:txBody>
                  <a:tcPr marL="68578" marR="68578" marT="0" marB="0" horzOverflow="overflow">
                    <a:lnL w="381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fr-FR" altLang="en-US" sz="2800" b="0" i="0" u="none" strike="noStrike" cap="none" normalizeH="0" baseline="0">
                          <a:ln>
                            <a:noFill/>
                          </a:ln>
                          <a:solidFill>
                            <a:srgbClr val="000000"/>
                          </a:solidFill>
                          <a:effectLst/>
                          <a:latin typeface="Times New Roman" pitchFamily="18" charset="0"/>
                          <a:ea typeface="宋体" pitchFamily="2" charset="-122"/>
                        </a:rPr>
                        <a:t>X=1</a:t>
                      </a:r>
                      <a:endParaRPr kumimoji="0" lang="fr-FR" altLang="en-US" sz="2800" b="0" i="0" u="none" strike="noStrike" cap="none" normalizeH="0" baseline="0">
                        <a:ln>
                          <a:noFill/>
                        </a:ln>
                        <a:solidFill>
                          <a:srgbClr val="000000"/>
                        </a:solidFill>
                        <a:effectLst/>
                        <a:latin typeface="Times New Roman" pitchFamily="18" charset="0"/>
                        <a:ea typeface="宋体" pitchFamily="2" charset="-122"/>
                        <a:cs typeface="Times New Roman" pitchFamily="18" charset="0"/>
                      </a:endParaRPr>
                    </a:p>
                  </a:txBody>
                  <a:tcPr marL="68578" marR="68578" marT="0" marB="0" horzOverflow="overflow">
                    <a:lnL w="127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vMerge="1">
                  <a:txBody>
                    <a:bodyPr/>
                    <a:lstStyle/>
                    <a:p>
                      <a:endParaRPr lang="zh-CN" altLang="en-US"/>
                    </a:p>
                  </a:txBody>
                  <a:tcPr/>
                </a:tc>
                <a:extLst>
                  <a:ext uri="{0D108BD9-81ED-4DB2-BD59-A6C34878D82A}">
                    <a16:rowId xmlns:a16="http://schemas.microsoft.com/office/drawing/2014/main" val="10001"/>
                  </a:ext>
                </a:extLst>
              </a:tr>
              <a:tr h="706438">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fr-FR" altLang="en-US" sz="2800" b="1" i="0" u="none" strike="noStrike" cap="none" normalizeH="0" baseline="0">
                          <a:ln>
                            <a:noFill/>
                          </a:ln>
                          <a:solidFill>
                            <a:srgbClr val="FFFFFF"/>
                          </a:solidFill>
                          <a:effectLst/>
                          <a:latin typeface="Times New Roman" pitchFamily="18" charset="0"/>
                          <a:ea typeface="宋体" pitchFamily="2" charset="-122"/>
                        </a:rPr>
                        <a:t>A</a:t>
                      </a:r>
                      <a:endParaRPr kumimoji="0" lang="fr-FR" altLang="en-US" sz="2800" b="1" i="0" u="none" strike="noStrike" cap="none" normalizeH="0" baseline="0">
                        <a:ln>
                          <a:noFill/>
                        </a:ln>
                        <a:solidFill>
                          <a:srgbClr val="FFFFFF"/>
                        </a:solidFill>
                        <a:effectLst/>
                        <a:latin typeface="Times New Roman" pitchFamily="18" charset="0"/>
                        <a:ea typeface="宋体" pitchFamily="2" charset="-122"/>
                        <a:cs typeface="Times New Roman" pitchFamily="18" charset="0"/>
                      </a:endParaRPr>
                    </a:p>
                  </a:txBody>
                  <a:tcPr marL="68578" marR="68578"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fr-FR" altLang="en-US" sz="2800" b="0" i="0" u="none" strike="noStrike" cap="none" normalizeH="0" baseline="0">
                          <a:ln>
                            <a:noFill/>
                          </a:ln>
                          <a:solidFill>
                            <a:srgbClr val="000000"/>
                          </a:solidFill>
                          <a:effectLst/>
                          <a:latin typeface="Times New Roman" pitchFamily="18" charset="0"/>
                          <a:ea typeface="宋体" pitchFamily="2" charset="-122"/>
                        </a:rPr>
                        <a:t>C</a:t>
                      </a:r>
                      <a:endParaRPr kumimoji="0" lang="fr-FR" altLang="en-US" sz="2800" b="0" i="0" u="none" strike="noStrike" cap="none" normalizeH="0" baseline="0">
                        <a:ln>
                          <a:noFill/>
                        </a:ln>
                        <a:solidFill>
                          <a:srgbClr val="000000"/>
                        </a:solidFill>
                        <a:effectLst/>
                        <a:latin typeface="Times New Roman" pitchFamily="18" charset="0"/>
                        <a:ea typeface="宋体" pitchFamily="2" charset="-122"/>
                        <a:cs typeface="Times New Roman" pitchFamily="18" charset="0"/>
                      </a:endParaRPr>
                    </a:p>
                  </a:txBody>
                  <a:tcPr marL="68578" marR="68578"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fr-FR" altLang="en-US" sz="2800" b="0" i="0" u="none" strike="noStrike" cap="none" normalizeH="0" baseline="0">
                          <a:ln>
                            <a:noFill/>
                          </a:ln>
                          <a:solidFill>
                            <a:srgbClr val="000000"/>
                          </a:solidFill>
                          <a:effectLst/>
                          <a:latin typeface="Times New Roman" pitchFamily="18" charset="0"/>
                          <a:ea typeface="宋体" pitchFamily="2" charset="-122"/>
                        </a:rPr>
                        <a:t>B</a:t>
                      </a:r>
                      <a:endParaRPr kumimoji="0" lang="fr-FR" altLang="en-US" sz="2800" b="0" i="0" u="none" strike="noStrike" cap="none" normalizeH="0" baseline="0">
                        <a:ln>
                          <a:noFill/>
                        </a:ln>
                        <a:solidFill>
                          <a:srgbClr val="000000"/>
                        </a:solidFill>
                        <a:effectLst/>
                        <a:latin typeface="Times New Roman" pitchFamily="18" charset="0"/>
                        <a:ea typeface="宋体" pitchFamily="2" charset="-122"/>
                        <a:cs typeface="Times New Roman" pitchFamily="18" charset="0"/>
                      </a:endParaRPr>
                    </a:p>
                  </a:txBody>
                  <a:tcPr marL="68578" marR="68578"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fr-FR" altLang="en-US" sz="2800" b="0" i="0" u="none" strike="noStrike" cap="none" normalizeH="0" baseline="0">
                          <a:ln>
                            <a:noFill/>
                          </a:ln>
                          <a:solidFill>
                            <a:srgbClr val="000000"/>
                          </a:solidFill>
                          <a:effectLst/>
                          <a:latin typeface="Times New Roman" pitchFamily="18" charset="0"/>
                          <a:ea typeface="宋体" pitchFamily="2" charset="-122"/>
                        </a:rPr>
                        <a:t>0</a:t>
                      </a:r>
                      <a:endParaRPr kumimoji="0" lang="fr-FR" altLang="en-US" sz="2800" b="0" i="0" u="none" strike="noStrike" cap="none" normalizeH="0" baseline="0">
                        <a:ln>
                          <a:noFill/>
                        </a:ln>
                        <a:solidFill>
                          <a:srgbClr val="000000"/>
                        </a:solidFill>
                        <a:effectLst/>
                        <a:latin typeface="Times New Roman" pitchFamily="18" charset="0"/>
                        <a:ea typeface="宋体" pitchFamily="2" charset="-122"/>
                        <a:cs typeface="Times New Roman" pitchFamily="18" charset="0"/>
                      </a:endParaRPr>
                    </a:p>
                  </a:txBody>
                  <a:tcPr marL="68578" marR="68578"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extLst>
                  <a:ext uri="{0D108BD9-81ED-4DB2-BD59-A6C34878D82A}">
                    <a16:rowId xmlns:a16="http://schemas.microsoft.com/office/drawing/2014/main" val="10002"/>
                  </a:ext>
                </a:extLst>
              </a:tr>
              <a:tr h="704850">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fr-FR" altLang="en-US" sz="2800" b="1" i="0" u="none" strike="noStrike" cap="none" normalizeH="0" baseline="0">
                          <a:ln>
                            <a:noFill/>
                          </a:ln>
                          <a:solidFill>
                            <a:srgbClr val="FFFFFF"/>
                          </a:solidFill>
                          <a:effectLst/>
                          <a:latin typeface="Times New Roman" pitchFamily="18" charset="0"/>
                          <a:ea typeface="宋体" pitchFamily="2" charset="-122"/>
                        </a:rPr>
                        <a:t>B</a:t>
                      </a:r>
                      <a:endParaRPr kumimoji="0" lang="fr-FR" altLang="en-US" sz="2800" b="1" i="0" u="none" strike="noStrike" cap="none" normalizeH="0" baseline="0">
                        <a:ln>
                          <a:noFill/>
                        </a:ln>
                        <a:solidFill>
                          <a:srgbClr val="FFFFFF"/>
                        </a:solidFill>
                        <a:effectLst/>
                        <a:latin typeface="Times New Roman" pitchFamily="18" charset="0"/>
                        <a:ea typeface="宋体" pitchFamily="2" charset="-122"/>
                        <a:cs typeface="Times New Roman" pitchFamily="18" charset="0"/>
                      </a:endParaRPr>
                    </a:p>
                  </a:txBody>
                  <a:tcPr marL="68578" marR="68578"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fr-FR" altLang="en-US" sz="2800" b="0" i="0" u="none" strike="noStrike" cap="none" normalizeH="0" baseline="0">
                          <a:ln>
                            <a:noFill/>
                          </a:ln>
                          <a:solidFill>
                            <a:srgbClr val="000000"/>
                          </a:solidFill>
                          <a:effectLst/>
                          <a:latin typeface="Times New Roman" pitchFamily="18" charset="0"/>
                          <a:ea typeface="宋体" pitchFamily="2" charset="-122"/>
                        </a:rPr>
                        <a:t>B</a:t>
                      </a:r>
                      <a:endParaRPr kumimoji="0" lang="fr-FR" altLang="en-US" sz="2800" b="0" i="0" u="none" strike="noStrike" cap="none" normalizeH="0" baseline="0">
                        <a:ln>
                          <a:noFill/>
                        </a:ln>
                        <a:solidFill>
                          <a:srgbClr val="000000"/>
                        </a:solidFill>
                        <a:effectLst/>
                        <a:latin typeface="Times New Roman" pitchFamily="18" charset="0"/>
                        <a:ea typeface="宋体" pitchFamily="2" charset="-122"/>
                        <a:cs typeface="Times New Roman" pitchFamily="18" charset="0"/>
                      </a:endParaRPr>
                    </a:p>
                  </a:txBody>
                  <a:tcPr marL="68578" marR="68578"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fr-FR" altLang="en-US" sz="2800" b="0" i="0" u="none" strike="noStrike" cap="none" normalizeH="0" baseline="0">
                          <a:ln>
                            <a:noFill/>
                          </a:ln>
                          <a:solidFill>
                            <a:srgbClr val="000000"/>
                          </a:solidFill>
                          <a:effectLst/>
                          <a:latin typeface="Times New Roman" pitchFamily="18" charset="0"/>
                          <a:ea typeface="宋体" pitchFamily="2" charset="-122"/>
                        </a:rPr>
                        <a:t>C</a:t>
                      </a:r>
                      <a:endParaRPr kumimoji="0" lang="fr-FR" altLang="en-US" sz="2800" b="0" i="0" u="none" strike="noStrike" cap="none" normalizeH="0" baseline="0">
                        <a:ln>
                          <a:noFill/>
                        </a:ln>
                        <a:solidFill>
                          <a:srgbClr val="000000"/>
                        </a:solidFill>
                        <a:effectLst/>
                        <a:latin typeface="Times New Roman" pitchFamily="18" charset="0"/>
                        <a:ea typeface="宋体" pitchFamily="2" charset="-122"/>
                        <a:cs typeface="Times New Roman" pitchFamily="18" charset="0"/>
                      </a:endParaRPr>
                    </a:p>
                  </a:txBody>
                  <a:tcPr marL="68578" marR="68578"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fr-FR" altLang="en-US" sz="2800" b="0" i="0" u="none" strike="noStrike" cap="none" normalizeH="0" baseline="0">
                          <a:ln>
                            <a:noFill/>
                          </a:ln>
                          <a:solidFill>
                            <a:srgbClr val="000000"/>
                          </a:solidFill>
                          <a:effectLst/>
                          <a:latin typeface="Times New Roman" pitchFamily="18" charset="0"/>
                          <a:ea typeface="宋体" pitchFamily="2" charset="-122"/>
                        </a:rPr>
                        <a:t>1</a:t>
                      </a:r>
                      <a:endParaRPr kumimoji="0" lang="fr-FR" altLang="en-US" sz="2800" b="0" i="0" u="none" strike="noStrike" cap="none" normalizeH="0" baseline="0">
                        <a:ln>
                          <a:noFill/>
                        </a:ln>
                        <a:solidFill>
                          <a:srgbClr val="000000"/>
                        </a:solidFill>
                        <a:effectLst/>
                        <a:latin typeface="Times New Roman" pitchFamily="18" charset="0"/>
                        <a:ea typeface="宋体" pitchFamily="2" charset="-122"/>
                        <a:cs typeface="Times New Roman" pitchFamily="18" charset="0"/>
                      </a:endParaRPr>
                    </a:p>
                  </a:txBody>
                  <a:tcPr marL="68578" marR="68578"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extLst>
                  <a:ext uri="{0D108BD9-81ED-4DB2-BD59-A6C34878D82A}">
                    <a16:rowId xmlns:a16="http://schemas.microsoft.com/office/drawing/2014/main" val="10003"/>
                  </a:ext>
                </a:extLst>
              </a:tr>
              <a:tr h="706438">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fr-FR" altLang="en-US" sz="2800" b="1" i="0" u="none" strike="noStrike" cap="none" normalizeH="0" baseline="0">
                          <a:ln>
                            <a:noFill/>
                          </a:ln>
                          <a:solidFill>
                            <a:srgbClr val="FFFFFF"/>
                          </a:solidFill>
                          <a:effectLst/>
                          <a:latin typeface="Times New Roman" pitchFamily="18" charset="0"/>
                          <a:ea typeface="宋体" pitchFamily="2" charset="-122"/>
                        </a:rPr>
                        <a:t>C</a:t>
                      </a:r>
                      <a:endParaRPr kumimoji="0" lang="fr-FR" altLang="en-US" sz="2800" b="1" i="0" u="none" strike="noStrike" cap="none" normalizeH="0" baseline="0">
                        <a:ln>
                          <a:noFill/>
                        </a:ln>
                        <a:solidFill>
                          <a:srgbClr val="FFFFFF"/>
                        </a:solidFill>
                        <a:effectLst/>
                        <a:latin typeface="Times New Roman" pitchFamily="18" charset="0"/>
                        <a:ea typeface="宋体" pitchFamily="2" charset="-122"/>
                        <a:cs typeface="Times New Roman" pitchFamily="18" charset="0"/>
                      </a:endParaRPr>
                    </a:p>
                  </a:txBody>
                  <a:tcPr marL="68578" marR="68578"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fr-FR" altLang="en-US" sz="2800" b="0" i="0" u="none" strike="noStrike" cap="none" normalizeH="0" baseline="0">
                          <a:ln>
                            <a:noFill/>
                          </a:ln>
                          <a:solidFill>
                            <a:srgbClr val="000000"/>
                          </a:solidFill>
                          <a:effectLst/>
                          <a:latin typeface="Times New Roman" pitchFamily="18" charset="0"/>
                          <a:ea typeface="宋体" pitchFamily="2" charset="-122"/>
                        </a:rPr>
                        <a:t>B</a:t>
                      </a:r>
                      <a:endParaRPr kumimoji="0" lang="fr-FR" altLang="en-US" sz="2800" b="0" i="0" u="none" strike="noStrike" cap="none" normalizeH="0" baseline="0">
                        <a:ln>
                          <a:noFill/>
                        </a:ln>
                        <a:solidFill>
                          <a:srgbClr val="000000"/>
                        </a:solidFill>
                        <a:effectLst/>
                        <a:latin typeface="Times New Roman" pitchFamily="18" charset="0"/>
                        <a:ea typeface="宋体" pitchFamily="2" charset="-122"/>
                        <a:cs typeface="Times New Roman" pitchFamily="18" charset="0"/>
                      </a:endParaRPr>
                    </a:p>
                  </a:txBody>
                  <a:tcPr marL="68578" marR="68578"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fr-FR" altLang="en-US" sz="2800" b="0" i="0" u="none" strike="noStrike" cap="none" normalizeH="0" baseline="0">
                          <a:ln>
                            <a:noFill/>
                          </a:ln>
                          <a:solidFill>
                            <a:srgbClr val="000000"/>
                          </a:solidFill>
                          <a:effectLst/>
                          <a:latin typeface="Times New Roman" pitchFamily="18" charset="0"/>
                          <a:ea typeface="宋体" pitchFamily="2" charset="-122"/>
                        </a:rPr>
                        <a:t>A</a:t>
                      </a:r>
                      <a:endParaRPr kumimoji="0" lang="fr-FR" altLang="en-US" sz="2800" b="0" i="0" u="none" strike="noStrike" cap="none" normalizeH="0" baseline="0">
                        <a:ln>
                          <a:noFill/>
                        </a:ln>
                        <a:solidFill>
                          <a:srgbClr val="000000"/>
                        </a:solidFill>
                        <a:effectLst/>
                        <a:latin typeface="Times New Roman" pitchFamily="18" charset="0"/>
                        <a:ea typeface="宋体" pitchFamily="2" charset="-122"/>
                        <a:cs typeface="Times New Roman" pitchFamily="18" charset="0"/>
                      </a:endParaRPr>
                    </a:p>
                  </a:txBody>
                  <a:tcPr marL="68578" marR="68578"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fr-FR" altLang="en-US" sz="2800" b="0" i="0" u="none" strike="noStrike" cap="none" normalizeH="0" baseline="0" dirty="0">
                          <a:ln>
                            <a:noFill/>
                          </a:ln>
                          <a:solidFill>
                            <a:srgbClr val="000000"/>
                          </a:solidFill>
                          <a:effectLst/>
                          <a:latin typeface="Times New Roman" pitchFamily="18" charset="0"/>
                          <a:ea typeface="宋体" pitchFamily="2" charset="-122"/>
                        </a:rPr>
                        <a:t>0</a:t>
                      </a:r>
                      <a:endParaRPr kumimoji="0" lang="fr-FR" altLang="en-US" sz="2800" b="0" i="0" u="none" strike="noStrike" cap="none" normalizeH="0" baseline="0" dirty="0">
                        <a:ln>
                          <a:noFill/>
                        </a:ln>
                        <a:solidFill>
                          <a:srgbClr val="000000"/>
                        </a:solidFill>
                        <a:effectLst/>
                        <a:latin typeface="Times New Roman" pitchFamily="18" charset="0"/>
                        <a:ea typeface="宋体" pitchFamily="2" charset="-122"/>
                        <a:cs typeface="Times New Roman" pitchFamily="18" charset="0"/>
                      </a:endParaRPr>
                    </a:p>
                  </a:txBody>
                  <a:tcPr marL="68578" marR="68578"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0730483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 Box 9">
            <a:extLst>
              <a:ext uri="{FF2B5EF4-FFF2-40B4-BE49-F238E27FC236}">
                <a16:creationId xmlns:a16="http://schemas.microsoft.com/office/drawing/2014/main" id="{5F42C3E7-B2C7-4F04-973C-F356529E937B}"/>
              </a:ext>
            </a:extLst>
          </p:cNvPr>
          <p:cNvSpPr txBox="1">
            <a:spLocks noChangeArrowheads="1"/>
          </p:cNvSpPr>
          <p:nvPr/>
        </p:nvSpPr>
        <p:spPr bwMode="auto">
          <a:xfrm>
            <a:off x="355490" y="231775"/>
            <a:ext cx="35718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dirty="0">
                <a:solidFill>
                  <a:srgbClr val="990000"/>
                </a:solidFill>
                <a:latin typeface="Times New Roman" panose="02020603050405020304" pitchFamily="18" charset="0"/>
              </a:rPr>
              <a:t>III. </a:t>
            </a:r>
            <a:r>
              <a:rPr lang="en-US" altLang="zh-CN" sz="2400" b="1" dirty="0">
                <a:solidFill>
                  <a:srgbClr val="990000"/>
                </a:solidFill>
                <a:latin typeface="Times New Roman" panose="02020603050405020304" pitchFamily="18" charset="0"/>
              </a:rPr>
              <a:t>State Diagram</a:t>
            </a:r>
            <a:endParaRPr lang="zh-CN" altLang="en-US" sz="2400" b="1" dirty="0">
              <a:solidFill>
                <a:srgbClr val="990000"/>
              </a:solidFill>
              <a:latin typeface="Times New Roman" panose="02020603050405020304" pitchFamily="18" charset="0"/>
            </a:endParaRPr>
          </a:p>
        </p:txBody>
      </p:sp>
      <p:sp>
        <p:nvSpPr>
          <p:cNvPr id="20483" name="Text Box 10">
            <a:extLst>
              <a:ext uri="{FF2B5EF4-FFF2-40B4-BE49-F238E27FC236}">
                <a16:creationId xmlns:a16="http://schemas.microsoft.com/office/drawing/2014/main" id="{3C1826E5-D00E-4C1E-AB8C-A65C9F68635C}"/>
              </a:ext>
            </a:extLst>
          </p:cNvPr>
          <p:cNvSpPr txBox="1">
            <a:spLocks noChangeArrowheads="1"/>
          </p:cNvSpPr>
          <p:nvPr/>
        </p:nvSpPr>
        <p:spPr bwMode="auto">
          <a:xfrm>
            <a:off x="264414" y="847389"/>
            <a:ext cx="8550275"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2400" b="1" dirty="0">
                <a:solidFill>
                  <a:schemeClr val="accent2"/>
                </a:solidFill>
                <a:latin typeface="Times New Roman" panose="02020603050405020304" pitchFamily="18" charset="0"/>
              </a:rPr>
              <a:t>State Diagram</a:t>
            </a:r>
            <a:r>
              <a:rPr lang="zh-CN" altLang="en-US" sz="2400" b="1" dirty="0">
                <a:solidFill>
                  <a:schemeClr val="accent2"/>
                </a:solidFill>
                <a:latin typeface="Times New Roman" panose="02020603050405020304" pitchFamily="18" charset="0"/>
              </a:rPr>
              <a:t>：</a:t>
            </a:r>
            <a:r>
              <a:rPr lang="en-US" altLang="zh-CN" dirty="0">
                <a:latin typeface="Times New Roman" panose="02020603050405020304" pitchFamily="18" charset="0"/>
              </a:rPr>
              <a:t>is a directed graph that reflects the state transition law of the synchronous sequential circuit and the corresponding input and output values.</a:t>
            </a:r>
            <a:endParaRPr lang="zh-CN" altLang="en-US" sz="2400" dirty="0">
              <a:latin typeface="Times New Roman" panose="02020603050405020304" pitchFamily="18" charset="0"/>
            </a:endParaRPr>
          </a:p>
          <a:p>
            <a:pPr algn="just" eaLnBrk="1" hangingPunct="1"/>
            <a:r>
              <a:rPr lang="en-US" altLang="zh-CN" sz="2400" dirty="0">
                <a:solidFill>
                  <a:srgbClr val="CC3300"/>
                </a:solidFill>
                <a:latin typeface="Times New Roman" panose="02020603050405020304" pitchFamily="18" charset="0"/>
              </a:rPr>
              <a:t>The state diagram of the </a:t>
            </a:r>
            <a:r>
              <a:rPr lang="en-US" altLang="zh-CN" sz="2400" dirty="0">
                <a:latin typeface="Times New Roman" panose="02020603050405020304" pitchFamily="18" charset="0"/>
              </a:rPr>
              <a:t>Mealy</a:t>
            </a:r>
            <a:r>
              <a:rPr lang="zh-CN" altLang="en-US" sz="2400" dirty="0">
                <a:latin typeface="Times New Roman" panose="02020603050405020304" pitchFamily="18" charset="0"/>
              </a:rPr>
              <a:t> </a:t>
            </a:r>
            <a:r>
              <a:rPr lang="en-US" altLang="zh-CN" dirty="0">
                <a:latin typeface="Times New Roman" panose="02020603050405020304" pitchFamily="18" charset="0"/>
              </a:rPr>
              <a:t>type circuit is shown in Fig. </a:t>
            </a:r>
            <a:r>
              <a:rPr lang="en-US" altLang="zh-CN" sz="2400" dirty="0">
                <a:latin typeface="Times New Roman" panose="02020603050405020304" pitchFamily="18" charset="0"/>
              </a:rPr>
              <a:t>(a). In the figure</a:t>
            </a:r>
            <a:r>
              <a:rPr lang="en-US" altLang="zh-CN" dirty="0">
                <a:latin typeface="Times New Roman" panose="02020603050405020304" pitchFamily="18" charset="0"/>
              </a:rPr>
              <a:t>, each circle indicates a state; around the directed arrow, we need to list the input and its corresponding output of the input and the state.</a:t>
            </a:r>
            <a:endParaRPr lang="zh-CN" altLang="en-US" sz="2400" dirty="0">
              <a:latin typeface="Times New Roman" panose="02020603050405020304" pitchFamily="18" charset="0"/>
            </a:endParaRPr>
          </a:p>
        </p:txBody>
      </p:sp>
      <p:grpSp>
        <p:nvGrpSpPr>
          <p:cNvPr id="20484" name="Group 4">
            <a:extLst>
              <a:ext uri="{FF2B5EF4-FFF2-40B4-BE49-F238E27FC236}">
                <a16:creationId xmlns:a16="http://schemas.microsoft.com/office/drawing/2014/main" id="{590BFC5E-8B7D-4A8F-A3FE-17CE69D6E31D}"/>
              </a:ext>
            </a:extLst>
          </p:cNvPr>
          <p:cNvGrpSpPr>
            <a:grpSpLocks/>
          </p:cNvGrpSpPr>
          <p:nvPr/>
        </p:nvGrpSpPr>
        <p:grpSpPr bwMode="auto">
          <a:xfrm>
            <a:off x="2051050" y="3716338"/>
            <a:ext cx="5257800" cy="1476375"/>
            <a:chOff x="0" y="0"/>
            <a:chExt cx="3312" cy="930"/>
          </a:xfrm>
        </p:grpSpPr>
        <p:pic>
          <p:nvPicPr>
            <p:cNvPr id="21512" name="Picture 12" descr="TU5-4">
              <a:extLst>
                <a:ext uri="{FF2B5EF4-FFF2-40B4-BE49-F238E27FC236}">
                  <a16:creationId xmlns:a16="http://schemas.microsoft.com/office/drawing/2014/main" id="{2BD4221A-27E9-4CAF-8476-614647F65053}"/>
                </a:ext>
              </a:extLst>
            </p:cNvPr>
            <p:cNvPicPr>
              <a:picLocks noChangeAspect="1" noChangeArrowheads="1"/>
            </p:cNvPicPr>
            <p:nvPr/>
          </p:nvPicPr>
          <p:blipFill>
            <a:blip r:embed="rId5">
              <a:lum bright="-100000"/>
              <a:extLst>
                <a:ext uri="{28A0092B-C50C-407E-A947-70E740481C1C}">
                  <a14:useLocalDpi xmlns:a14="http://schemas.microsoft.com/office/drawing/2010/main" val="0"/>
                </a:ext>
              </a:extLst>
            </a:blip>
            <a:srcRect/>
            <a:stretch>
              <a:fillRect/>
            </a:stretch>
          </p:blipFill>
          <p:spPr bwMode="auto">
            <a:xfrm>
              <a:off x="0" y="0"/>
              <a:ext cx="3312" cy="9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13" name="Text Box 13">
              <a:extLst>
                <a:ext uri="{FF2B5EF4-FFF2-40B4-BE49-F238E27FC236}">
                  <a16:creationId xmlns:a16="http://schemas.microsoft.com/office/drawing/2014/main" id="{23EFD7BA-EB07-443A-9303-159AB1A9DA27}"/>
                </a:ext>
              </a:extLst>
            </p:cNvPr>
            <p:cNvSpPr txBox="1">
              <a:spLocks noChangeArrowheads="1"/>
            </p:cNvSpPr>
            <p:nvPr/>
          </p:nvSpPr>
          <p:spPr bwMode="auto">
            <a:xfrm>
              <a:off x="672" y="114"/>
              <a:ext cx="35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dirty="0">
                  <a:latin typeface="Times New Roman" panose="02020603050405020304" pitchFamily="18" charset="0"/>
                </a:rPr>
                <a:t>x/z</a:t>
              </a:r>
            </a:p>
          </p:txBody>
        </p:sp>
        <p:sp>
          <p:nvSpPr>
            <p:cNvPr id="21514" name="Text Box 14">
              <a:extLst>
                <a:ext uri="{FF2B5EF4-FFF2-40B4-BE49-F238E27FC236}">
                  <a16:creationId xmlns:a16="http://schemas.microsoft.com/office/drawing/2014/main" id="{E300D4A3-3B42-415E-8560-65EDA06AA3DC}"/>
                </a:ext>
              </a:extLst>
            </p:cNvPr>
            <p:cNvSpPr txBox="1">
              <a:spLocks noChangeArrowheads="1"/>
            </p:cNvSpPr>
            <p:nvPr/>
          </p:nvSpPr>
          <p:spPr bwMode="auto">
            <a:xfrm>
              <a:off x="2400" y="114"/>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a:latin typeface="Times New Roman" panose="02020603050405020304" pitchFamily="18" charset="0"/>
                </a:rPr>
                <a:t>x</a:t>
              </a:r>
            </a:p>
          </p:txBody>
        </p:sp>
      </p:grpSp>
      <p:sp>
        <p:nvSpPr>
          <p:cNvPr id="20488" name="Text Box 16">
            <a:extLst>
              <a:ext uri="{FF2B5EF4-FFF2-40B4-BE49-F238E27FC236}">
                <a16:creationId xmlns:a16="http://schemas.microsoft.com/office/drawing/2014/main" id="{86FDE6E5-AC59-4B91-A374-2D084A3B8CDF}"/>
              </a:ext>
            </a:extLst>
          </p:cNvPr>
          <p:cNvSpPr txBox="1">
            <a:spLocks noChangeArrowheads="1"/>
          </p:cNvSpPr>
          <p:nvPr/>
        </p:nvSpPr>
        <p:spPr bwMode="auto">
          <a:xfrm>
            <a:off x="207645" y="5192713"/>
            <a:ext cx="859155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2400" dirty="0">
                <a:latin typeface="Times New Roman" panose="02020603050405020304" pitchFamily="18" charset="0"/>
              </a:rPr>
              <a:t>　　</a:t>
            </a:r>
            <a:r>
              <a:rPr lang="en-US" altLang="zh-CN" dirty="0">
                <a:latin typeface="Times New Roman" panose="02020603050405020304" pitchFamily="18" charset="0"/>
              </a:rPr>
              <a:t>The form of the Moore-type circuit state diagram is shown in Figure (b). The circuit output is marked under the state inside the circle, indicating that the output is only related to the state.</a:t>
            </a:r>
            <a:endParaRPr lang="zh-CN" altLang="en-US" sz="2400" dirty="0">
              <a:latin typeface="Times New Roman" panose="02020603050405020304" pitchFamily="18" charset="0"/>
            </a:endParaRPr>
          </a:p>
        </p:txBody>
      </p:sp>
      <p:pic>
        <p:nvPicPr>
          <p:cNvPr id="21510" name="Picture 18" descr="Right_Green">
            <a:hlinkClick r:id="" action="ppaction://hlinkshowjump?jump=nextslide"/>
            <a:extLst>
              <a:ext uri="{FF2B5EF4-FFF2-40B4-BE49-F238E27FC236}">
                <a16:creationId xmlns:a16="http://schemas.microsoft.com/office/drawing/2014/main" id="{BD06B977-5287-478F-A628-478C7D125B4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699500"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11" name="Picture 19" descr="Left_Green">
            <a:hlinkClick r:id="" action="ppaction://hlinkshowjump?jump=previousslide"/>
            <a:extLst>
              <a:ext uri="{FF2B5EF4-FFF2-40B4-BE49-F238E27FC236}">
                <a16:creationId xmlns:a16="http://schemas.microsoft.com/office/drawing/2014/main" id="{EDEF3713-5EE8-4941-8BE5-A7DB7E91988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243888"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4428766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0482"/>
                                        </p:tgtEl>
                                        <p:attrNameLst>
                                          <p:attrName>style.visibility</p:attrName>
                                        </p:attrNameLst>
                                      </p:cBhvr>
                                      <p:to>
                                        <p:strVal val="visible"/>
                                      </p:to>
                                    </p:set>
                                  </p:childTnLst>
                                  <p:subTnLst>
                                    <p:audio>
                                      <p:cMediaNode>
                                        <p:cTn display="0" masterRel="sameClick">
                                          <p:stCondLst>
                                            <p:cond evt="begin" delay="0">
                                              <p:tn val="5"/>
                                            </p:cond>
                                          </p:stCondLst>
                                          <p:endCondLst>
                                            <p:cond evt="onStopAudio" delay="0">
                                              <p:tgtEl>
                                                <p:sldTgt/>
                                              </p:tgtEl>
                                            </p:cond>
                                          </p:endCondLst>
                                        </p:cTn>
                                        <p:tgtEl>
                                          <p:sndTgt r:embed="rId3" name="projctor.wav"/>
                                        </p:tgtEl>
                                      </p:cMediaNode>
                                    </p:audio>
                                  </p:subTnLst>
                                </p:cTn>
                              </p:par>
                            </p:childTnLst>
                          </p:cTn>
                        </p:par>
                      </p:childTnLst>
                    </p:cTn>
                  </p:par>
                  <p:par>
                    <p:cTn id="7" fill="hold" nodeType="clickPar">
                      <p:stCondLst>
                        <p:cond delay="indefinite"/>
                      </p:stCondLst>
                      <p:childTnLst>
                        <p:par>
                          <p:cTn id="8" fill="hold" nodeType="withGroup">
                            <p:stCondLst>
                              <p:cond delay="0"/>
                            </p:stCondLst>
                            <p:childTnLst>
                              <p:par>
                                <p:cTn id="9" presetID="17" presetClass="entr" presetSubtype="8" fill="hold" grpId="0" nodeType="clickEffect">
                                  <p:stCondLst>
                                    <p:cond delay="0"/>
                                  </p:stCondLst>
                                  <p:childTnLst>
                                    <p:set>
                                      <p:cBhvr>
                                        <p:cTn id="10" dur="1" fill="hold">
                                          <p:stCondLst>
                                            <p:cond delay="0"/>
                                          </p:stCondLst>
                                        </p:cTn>
                                        <p:tgtEl>
                                          <p:spTgt spid="20483">
                                            <p:txEl>
                                              <p:pRg st="0" end="0"/>
                                            </p:txEl>
                                          </p:spTgt>
                                        </p:tgtEl>
                                        <p:attrNameLst>
                                          <p:attrName>style.visibility</p:attrName>
                                        </p:attrNameLst>
                                      </p:cBhvr>
                                      <p:to>
                                        <p:strVal val="visible"/>
                                      </p:to>
                                    </p:set>
                                    <p:anim calcmode="lin" valueType="num">
                                      <p:cBhvr>
                                        <p:cTn id="11" dur="500" fill="hold"/>
                                        <p:tgtEl>
                                          <p:spTgt spid="20483">
                                            <p:txEl>
                                              <p:pRg st="0" end="0"/>
                                            </p:txEl>
                                          </p:spTgt>
                                        </p:tgtEl>
                                        <p:attrNameLst>
                                          <p:attrName>ppt_x</p:attrName>
                                        </p:attrNameLst>
                                      </p:cBhvr>
                                      <p:tavLst>
                                        <p:tav tm="0">
                                          <p:val>
                                            <p:strVal val="#ppt_x-#ppt_w/2"/>
                                          </p:val>
                                        </p:tav>
                                        <p:tav tm="100000">
                                          <p:val>
                                            <p:strVal val="#ppt_x"/>
                                          </p:val>
                                        </p:tav>
                                      </p:tavLst>
                                    </p:anim>
                                    <p:anim calcmode="lin" valueType="num">
                                      <p:cBhvr>
                                        <p:cTn id="12" dur="500" fill="hold"/>
                                        <p:tgtEl>
                                          <p:spTgt spid="20483">
                                            <p:txEl>
                                              <p:pRg st="0" end="0"/>
                                            </p:txEl>
                                          </p:spTgt>
                                        </p:tgtEl>
                                        <p:attrNameLst>
                                          <p:attrName>ppt_y</p:attrName>
                                        </p:attrNameLst>
                                      </p:cBhvr>
                                      <p:tavLst>
                                        <p:tav tm="0">
                                          <p:val>
                                            <p:strVal val="#ppt_y"/>
                                          </p:val>
                                        </p:tav>
                                        <p:tav tm="100000">
                                          <p:val>
                                            <p:strVal val="#ppt_y"/>
                                          </p:val>
                                        </p:tav>
                                      </p:tavLst>
                                    </p:anim>
                                    <p:anim calcmode="lin" valueType="num">
                                      <p:cBhvr>
                                        <p:cTn id="13" dur="500" fill="hold"/>
                                        <p:tgtEl>
                                          <p:spTgt spid="20483">
                                            <p:txEl>
                                              <p:pRg st="0" end="0"/>
                                            </p:txEl>
                                          </p:spTgt>
                                        </p:tgtEl>
                                        <p:attrNameLst>
                                          <p:attrName>ppt_w</p:attrName>
                                        </p:attrNameLst>
                                      </p:cBhvr>
                                      <p:tavLst>
                                        <p:tav tm="0">
                                          <p:val>
                                            <p:fltVal val="0"/>
                                          </p:val>
                                        </p:tav>
                                        <p:tav tm="100000">
                                          <p:val>
                                            <p:strVal val="#ppt_w"/>
                                          </p:val>
                                        </p:tav>
                                      </p:tavLst>
                                    </p:anim>
                                    <p:anim calcmode="lin" valueType="num">
                                      <p:cBhvr>
                                        <p:cTn id="14" dur="500" fill="hold"/>
                                        <p:tgtEl>
                                          <p:spTgt spid="20483">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17" presetClass="entr" presetSubtype="8" fill="hold" grpId="0" nodeType="clickEffect">
                                  <p:stCondLst>
                                    <p:cond delay="0"/>
                                  </p:stCondLst>
                                  <p:childTnLst>
                                    <p:set>
                                      <p:cBhvr>
                                        <p:cTn id="18" dur="1" fill="hold">
                                          <p:stCondLst>
                                            <p:cond delay="0"/>
                                          </p:stCondLst>
                                        </p:cTn>
                                        <p:tgtEl>
                                          <p:spTgt spid="20483">
                                            <p:txEl>
                                              <p:pRg st="1" end="1"/>
                                            </p:txEl>
                                          </p:spTgt>
                                        </p:tgtEl>
                                        <p:attrNameLst>
                                          <p:attrName>style.visibility</p:attrName>
                                        </p:attrNameLst>
                                      </p:cBhvr>
                                      <p:to>
                                        <p:strVal val="visible"/>
                                      </p:to>
                                    </p:set>
                                    <p:anim calcmode="lin" valueType="num">
                                      <p:cBhvr>
                                        <p:cTn id="19" dur="500" fill="hold"/>
                                        <p:tgtEl>
                                          <p:spTgt spid="20483">
                                            <p:txEl>
                                              <p:pRg st="1" end="1"/>
                                            </p:txEl>
                                          </p:spTgt>
                                        </p:tgtEl>
                                        <p:attrNameLst>
                                          <p:attrName>ppt_x</p:attrName>
                                        </p:attrNameLst>
                                      </p:cBhvr>
                                      <p:tavLst>
                                        <p:tav tm="0">
                                          <p:val>
                                            <p:strVal val="#ppt_x-#ppt_w/2"/>
                                          </p:val>
                                        </p:tav>
                                        <p:tav tm="100000">
                                          <p:val>
                                            <p:strVal val="#ppt_x"/>
                                          </p:val>
                                        </p:tav>
                                      </p:tavLst>
                                    </p:anim>
                                    <p:anim calcmode="lin" valueType="num">
                                      <p:cBhvr>
                                        <p:cTn id="20" dur="500" fill="hold"/>
                                        <p:tgtEl>
                                          <p:spTgt spid="20483">
                                            <p:txEl>
                                              <p:pRg st="1" end="1"/>
                                            </p:txEl>
                                          </p:spTgt>
                                        </p:tgtEl>
                                        <p:attrNameLst>
                                          <p:attrName>ppt_y</p:attrName>
                                        </p:attrNameLst>
                                      </p:cBhvr>
                                      <p:tavLst>
                                        <p:tav tm="0">
                                          <p:val>
                                            <p:strVal val="#ppt_y"/>
                                          </p:val>
                                        </p:tav>
                                        <p:tav tm="100000">
                                          <p:val>
                                            <p:strVal val="#ppt_y"/>
                                          </p:val>
                                        </p:tav>
                                      </p:tavLst>
                                    </p:anim>
                                    <p:anim calcmode="lin" valueType="num">
                                      <p:cBhvr>
                                        <p:cTn id="21" dur="500" fill="hold"/>
                                        <p:tgtEl>
                                          <p:spTgt spid="20483">
                                            <p:txEl>
                                              <p:pRg st="1" end="1"/>
                                            </p:txEl>
                                          </p:spTgt>
                                        </p:tgtEl>
                                        <p:attrNameLst>
                                          <p:attrName>ppt_w</p:attrName>
                                        </p:attrNameLst>
                                      </p:cBhvr>
                                      <p:tavLst>
                                        <p:tav tm="0">
                                          <p:val>
                                            <p:fltVal val="0"/>
                                          </p:val>
                                        </p:tav>
                                        <p:tav tm="100000">
                                          <p:val>
                                            <p:strVal val="#ppt_w"/>
                                          </p:val>
                                        </p:tav>
                                      </p:tavLst>
                                    </p:anim>
                                    <p:anim calcmode="lin" valueType="num">
                                      <p:cBhvr>
                                        <p:cTn id="22" dur="500" fill="hold"/>
                                        <p:tgtEl>
                                          <p:spTgt spid="20483">
                                            <p:txEl>
                                              <p:pRg st="1" end="1"/>
                                            </p:txEl>
                                          </p:spTgt>
                                        </p:tgtEl>
                                        <p:attrNameLst>
                                          <p:attrName>ppt_h</p:attrName>
                                        </p:attrNameLst>
                                      </p:cBhvr>
                                      <p:tavLst>
                                        <p:tav tm="0">
                                          <p:val>
                                            <p:strVal val="#ppt_h"/>
                                          </p:val>
                                        </p:tav>
                                        <p:tav tm="100000">
                                          <p:val>
                                            <p:strVal val="#ppt_h"/>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4" fill="hold" nodeType="clickEffect">
                                  <p:stCondLst>
                                    <p:cond delay="0"/>
                                  </p:stCondLst>
                                  <p:childTnLst>
                                    <p:set>
                                      <p:cBhvr>
                                        <p:cTn id="26" dur="1" fill="hold">
                                          <p:stCondLst>
                                            <p:cond delay="0"/>
                                          </p:stCondLst>
                                        </p:cTn>
                                        <p:tgtEl>
                                          <p:spTgt spid="20484"/>
                                        </p:tgtEl>
                                        <p:attrNameLst>
                                          <p:attrName>style.visibility</p:attrName>
                                        </p:attrNameLst>
                                      </p:cBhvr>
                                      <p:to>
                                        <p:strVal val="visible"/>
                                      </p:to>
                                    </p:set>
                                    <p:anim calcmode="lin" valueType="num">
                                      <p:cBhvr additive="base">
                                        <p:cTn id="27" dur="500" fill="hold"/>
                                        <p:tgtEl>
                                          <p:spTgt spid="20484"/>
                                        </p:tgtEl>
                                        <p:attrNameLst>
                                          <p:attrName>ppt_x</p:attrName>
                                        </p:attrNameLst>
                                      </p:cBhvr>
                                      <p:tavLst>
                                        <p:tav tm="0">
                                          <p:val>
                                            <p:strVal val="#ppt_x"/>
                                          </p:val>
                                        </p:tav>
                                        <p:tav tm="100000">
                                          <p:val>
                                            <p:strVal val="#ppt_x"/>
                                          </p:val>
                                        </p:tav>
                                      </p:tavLst>
                                    </p:anim>
                                    <p:anim calcmode="lin" valueType="num">
                                      <p:cBhvr additive="base">
                                        <p:cTn id="28" dur="500" fill="hold"/>
                                        <p:tgtEl>
                                          <p:spTgt spid="20484"/>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5"/>
                                            </p:cond>
                                          </p:stCondLst>
                                          <p:endCondLst>
                                            <p:cond evt="onStopAudio" delay="0">
                                              <p:tgtEl>
                                                <p:sldTgt/>
                                              </p:tgtEl>
                                            </p:cond>
                                          </p:endCondLst>
                                        </p:cTn>
                                        <p:tgtEl>
                                          <p:sndTgt r:embed="rId4" name="chimes.wav"/>
                                        </p:tgtEl>
                                      </p:cMediaNode>
                                    </p:audio>
                                  </p:subTnLst>
                                </p:cTn>
                              </p:par>
                            </p:childTnLst>
                          </p:cTn>
                        </p:par>
                        <p:par>
                          <p:cTn id="29" fill="hold" nodeType="afterGroup">
                            <p:stCondLst>
                              <p:cond delay="500"/>
                            </p:stCondLst>
                            <p:childTnLst>
                              <p:par>
                                <p:cTn id="30" presetID="2" presetClass="entr" presetSubtype="4" fill="hold" grpId="0" nodeType="afterEffect">
                                  <p:stCondLst>
                                    <p:cond delay="0"/>
                                  </p:stCondLst>
                                  <p:childTnLst>
                                    <p:set>
                                      <p:cBhvr>
                                        <p:cTn id="31" dur="1" fill="hold">
                                          <p:stCondLst>
                                            <p:cond delay="0"/>
                                          </p:stCondLst>
                                        </p:cTn>
                                        <p:tgtEl>
                                          <p:spTgt spid="20488"/>
                                        </p:tgtEl>
                                        <p:attrNameLst>
                                          <p:attrName>style.visibility</p:attrName>
                                        </p:attrNameLst>
                                      </p:cBhvr>
                                      <p:to>
                                        <p:strVal val="visible"/>
                                      </p:to>
                                    </p:set>
                                    <p:anim calcmode="lin" valueType="num">
                                      <p:cBhvr additive="base">
                                        <p:cTn id="32" dur="500" fill="hold"/>
                                        <p:tgtEl>
                                          <p:spTgt spid="20488"/>
                                        </p:tgtEl>
                                        <p:attrNameLst>
                                          <p:attrName>ppt_x</p:attrName>
                                        </p:attrNameLst>
                                      </p:cBhvr>
                                      <p:tavLst>
                                        <p:tav tm="0">
                                          <p:val>
                                            <p:strVal val="#ppt_x"/>
                                          </p:val>
                                        </p:tav>
                                        <p:tav tm="100000">
                                          <p:val>
                                            <p:strVal val="#ppt_x"/>
                                          </p:val>
                                        </p:tav>
                                      </p:tavLst>
                                    </p:anim>
                                    <p:anim calcmode="lin" valueType="num">
                                      <p:cBhvr additive="base">
                                        <p:cTn id="33" dur="500" fill="hold"/>
                                        <p:tgtEl>
                                          <p:spTgt spid="2048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2" grpId="0" autoUpdateAnimBg="0"/>
      <p:bldP spid="20483" grpId="0" build="p" autoUpdateAnimBg="0"/>
      <p:bldP spid="20488"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1">
            <a:extLst>
              <a:ext uri="{FF2B5EF4-FFF2-40B4-BE49-F238E27FC236}">
                <a16:creationId xmlns:a16="http://schemas.microsoft.com/office/drawing/2014/main" id="{181277E1-359A-498F-8BDA-780754C8FFFA}"/>
              </a:ext>
            </a:extLst>
          </p:cNvPr>
          <p:cNvSpPr>
            <a:spLocks noGrp="1" noChangeArrowheads="1"/>
          </p:cNvSpPr>
          <p:nvPr>
            <p:ph type="title" idx="4294967295"/>
          </p:nvPr>
        </p:nvSpPr>
        <p:spPr bwMode="auto">
          <a:xfrm>
            <a:off x="457200" y="274638"/>
            <a:ext cx="8229600" cy="1143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State diagrams of the flip-flops</a:t>
            </a:r>
            <a:endParaRPr lang="zh-CN" altLang="en-US" dirty="0"/>
          </a:p>
        </p:txBody>
      </p:sp>
      <p:pic>
        <p:nvPicPr>
          <p:cNvPr id="22531" name="内容占位符 5">
            <a:extLst>
              <a:ext uri="{FF2B5EF4-FFF2-40B4-BE49-F238E27FC236}">
                <a16:creationId xmlns:a16="http://schemas.microsoft.com/office/drawing/2014/main" id="{CFB1CFDA-C966-4AC2-9D07-DCD06E3240CE}"/>
              </a:ext>
            </a:extLst>
          </p:cNvPr>
          <p:cNvPicPr>
            <a:picLocks noGrp="1" noChangeAspect="1" noChangeArrowheads="1"/>
          </p:cNvPicPr>
          <p:nvPr>
            <p:ph idx="4294967295"/>
          </p:nvPr>
        </p:nvPicPr>
        <p:blipFill>
          <a:blip r:embed="rId3" cstate="print">
            <a:extLst>
              <a:ext uri="{28A0092B-C50C-407E-A947-70E740481C1C}">
                <a14:useLocalDpi xmlns:a14="http://schemas.microsoft.com/office/drawing/2010/main" val="0"/>
              </a:ext>
            </a:extLst>
          </a:blip>
          <a:srcRect/>
          <a:stretch>
            <a:fillRect/>
          </a:stretch>
        </p:blipFill>
        <p:spPr bwMode="auto">
          <a:xfrm>
            <a:off x="395288" y="4081463"/>
            <a:ext cx="3609975" cy="217646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2" name="AutoShape 2" descr="https://photos-6.dropbox.com/t/0/AADGlU1KNpVWJgl8WhjcrTBRznb9ZfTXWjOWPsNy1dsk7Q/12/81404950/jpeg/32x32/3/_/1/2/2013-04-22%2008-39%20page%20%230.jpg/BAZ9GlzFy_QTqu-WyUQvbUqd1SKeOgGJA_9tfKYo5KE?size=1280x960">
            <a:extLst>
              <a:ext uri="{FF2B5EF4-FFF2-40B4-BE49-F238E27FC236}">
                <a16:creationId xmlns:a16="http://schemas.microsoft.com/office/drawing/2014/main" id="{ADC79116-0692-4E64-9C3B-A45CA774D331}"/>
              </a:ext>
            </a:extLst>
          </p:cNvPr>
          <p:cNvSpPr>
            <a:spLocks noChangeAspect="1" noChangeArrowheads="1"/>
          </p:cNvSpPr>
          <p:nvPr/>
        </p:nvSpPr>
        <p:spPr bwMode="auto">
          <a:xfrm>
            <a:off x="0" y="0"/>
            <a:ext cx="11201400" cy="625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22533" name="AutoShape 3" descr="https://photos-6.dropbox.com/t/0/AADGlU1KNpVWJgl8WhjcrTBRznb9ZfTXWjOWPsNy1dsk7Q/12/81404950/jpeg/32x32/3/_/1/2/2013-04-22%2008-39%20page%20%230.jpg/BAZ9GlzFy_QTqu-WyUQvbUqd1SKeOgGJA_9tfKYo5KE?size=1280x960">
            <a:extLst>
              <a:ext uri="{FF2B5EF4-FFF2-40B4-BE49-F238E27FC236}">
                <a16:creationId xmlns:a16="http://schemas.microsoft.com/office/drawing/2014/main" id="{009AB2B0-9821-436F-8C03-37FB0BB7E574}"/>
              </a:ext>
            </a:extLst>
          </p:cNvPr>
          <p:cNvSpPr>
            <a:spLocks noChangeAspect="1" noChangeArrowheads="1"/>
          </p:cNvSpPr>
          <p:nvPr/>
        </p:nvSpPr>
        <p:spPr bwMode="auto">
          <a:xfrm>
            <a:off x="152400" y="152400"/>
            <a:ext cx="11201400" cy="625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pic>
        <p:nvPicPr>
          <p:cNvPr id="22534" name="Picture 4" descr="C:\Users\Fei\AppData\Roaming\Tencent\Users\18834532\QQ\WinTemp\RichOle\{A%D)D0])XG`64RQSFMATN7.jpg">
            <a:extLst>
              <a:ext uri="{FF2B5EF4-FFF2-40B4-BE49-F238E27FC236}">
                <a16:creationId xmlns:a16="http://schemas.microsoft.com/office/drawing/2014/main" id="{60884100-0A42-4D41-8543-4235CC3DC90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188" y="1614488"/>
            <a:ext cx="2951162" cy="153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5" name="图片 6">
            <a:extLst>
              <a:ext uri="{FF2B5EF4-FFF2-40B4-BE49-F238E27FC236}">
                <a16:creationId xmlns:a16="http://schemas.microsoft.com/office/drawing/2014/main" id="{1E0F8B9B-D288-4E56-94E6-CDE40E19944C}"/>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746625" y="1292225"/>
            <a:ext cx="4397375" cy="218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6" name="图片 7">
            <a:extLst>
              <a:ext uri="{FF2B5EF4-FFF2-40B4-BE49-F238E27FC236}">
                <a16:creationId xmlns:a16="http://schemas.microsoft.com/office/drawing/2014/main" id="{49ED55BB-F1EF-4C80-971C-06DA9DFAF71E}"/>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572000" y="4022725"/>
            <a:ext cx="4397375" cy="2379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949342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a:extLst>
              <a:ext uri="{FF2B5EF4-FFF2-40B4-BE49-F238E27FC236}">
                <a16:creationId xmlns:a16="http://schemas.microsoft.com/office/drawing/2014/main" id="{68C9596A-F94D-4FE5-A983-6D1EDD2E7F28}"/>
              </a:ext>
            </a:extLst>
          </p:cNvPr>
          <p:cNvSpPr>
            <a:spLocks noGrp="1" noChangeArrowheads="1"/>
          </p:cNvSpPr>
          <p:nvPr>
            <p:ph type="title" idx="4294967295"/>
          </p:nvPr>
        </p:nvSpPr>
        <p:spPr bwMode="auto">
          <a:xfrm>
            <a:off x="384175" y="476250"/>
            <a:ext cx="8229600" cy="1143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90000"/>
          </a:bodyPr>
          <a:lstStyle/>
          <a:p>
            <a:r>
              <a:rPr lang="en-US" altLang="zh-CN" dirty="0"/>
              <a:t>Examples </a:t>
            </a:r>
            <a:br>
              <a:rPr lang="en-US" altLang="zh-CN" dirty="0"/>
            </a:br>
            <a:r>
              <a:rPr lang="en-US" altLang="zh-CN" sz="2700" dirty="0"/>
              <a:t>Assume that the state transition table of a synchronous sequential circuit is as follows</a:t>
            </a:r>
            <a:endParaRPr lang="zh-CN" altLang="en-US" sz="2000" dirty="0"/>
          </a:p>
        </p:txBody>
      </p:sp>
      <p:pic>
        <p:nvPicPr>
          <p:cNvPr id="2" name="图片 1">
            <a:extLst>
              <a:ext uri="{FF2B5EF4-FFF2-40B4-BE49-F238E27FC236}">
                <a16:creationId xmlns:a16="http://schemas.microsoft.com/office/drawing/2014/main" id="{83DF3C89-78E8-4BE8-820D-E5766D734F0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256212" y="4157431"/>
            <a:ext cx="3887788" cy="2630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片 2">
            <a:extLst>
              <a:ext uri="{FF2B5EF4-FFF2-40B4-BE49-F238E27FC236}">
                <a16:creationId xmlns:a16="http://schemas.microsoft.com/office/drawing/2014/main" id="{CF7537B1-8B34-4005-BF99-6EC4D712C1A0}"/>
              </a:ext>
            </a:extLst>
          </p:cNvPr>
          <p:cNvPicPr>
            <a:picLocks noChangeAspect="1"/>
          </p:cNvPicPr>
          <p:nvPr/>
        </p:nvPicPr>
        <p:blipFill>
          <a:blip r:embed="rId4"/>
          <a:stretch>
            <a:fillRect/>
          </a:stretch>
        </p:blipFill>
        <p:spPr>
          <a:xfrm>
            <a:off x="390889" y="1672003"/>
            <a:ext cx="6195426" cy="2485427"/>
          </a:xfrm>
          <a:prstGeom prst="rect">
            <a:avLst/>
          </a:prstGeom>
        </p:spPr>
      </p:pic>
    </p:spTree>
    <p:extLst>
      <p:ext uri="{BB962C8B-B14F-4D97-AF65-F5344CB8AC3E}">
        <p14:creationId xmlns:p14="http://schemas.microsoft.com/office/powerpoint/2010/main" val="400305441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标题 1">
            <a:extLst>
              <a:ext uri="{FF2B5EF4-FFF2-40B4-BE49-F238E27FC236}">
                <a16:creationId xmlns:a16="http://schemas.microsoft.com/office/drawing/2014/main" id="{4FFF0236-4E4D-49E6-8957-F19887F29D6D}"/>
              </a:ext>
            </a:extLst>
          </p:cNvPr>
          <p:cNvSpPr>
            <a:spLocks noGrp="1" noChangeArrowheads="1"/>
          </p:cNvSpPr>
          <p:nvPr>
            <p:ph type="title" idx="4294967295"/>
          </p:nvPr>
        </p:nvSpPr>
        <p:spPr bwMode="auto">
          <a:xfrm>
            <a:off x="457200" y="274638"/>
            <a:ext cx="8229600" cy="1143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graphicFrame>
        <p:nvGraphicFramePr>
          <p:cNvPr id="19459" name="Group 3">
            <a:extLst>
              <a:ext uri="{FF2B5EF4-FFF2-40B4-BE49-F238E27FC236}">
                <a16:creationId xmlns:a16="http://schemas.microsoft.com/office/drawing/2014/main" id="{078EB0BE-62F2-45E0-B077-5CA1405D8595}"/>
              </a:ext>
            </a:extLst>
          </p:cNvPr>
          <p:cNvGraphicFramePr>
            <a:graphicFrameLocks noGrp="1"/>
          </p:cNvGraphicFramePr>
          <p:nvPr>
            <p:ph idx="4294967295"/>
            <p:extLst>
              <p:ext uri="{D42A27DB-BD31-4B8C-83A1-F6EECF244321}">
                <p14:modId xmlns:p14="http://schemas.microsoft.com/office/powerpoint/2010/main" val="1037109606"/>
              </p:ext>
            </p:extLst>
          </p:nvPr>
        </p:nvGraphicFramePr>
        <p:xfrm>
          <a:off x="179388" y="1052513"/>
          <a:ext cx="5832476" cy="2133600"/>
        </p:xfrm>
        <a:graphic>
          <a:graphicData uri="http://schemas.openxmlformats.org/drawingml/2006/table">
            <a:tbl>
              <a:tblPr/>
              <a:tblGrid>
                <a:gridCol w="1458119">
                  <a:extLst>
                    <a:ext uri="{9D8B030D-6E8A-4147-A177-3AD203B41FA5}">
                      <a16:colId xmlns:a16="http://schemas.microsoft.com/office/drawing/2014/main" val="20000"/>
                    </a:ext>
                  </a:extLst>
                </a:gridCol>
                <a:gridCol w="1458119">
                  <a:extLst>
                    <a:ext uri="{9D8B030D-6E8A-4147-A177-3AD203B41FA5}">
                      <a16:colId xmlns:a16="http://schemas.microsoft.com/office/drawing/2014/main" val="20001"/>
                    </a:ext>
                  </a:extLst>
                </a:gridCol>
                <a:gridCol w="1458119">
                  <a:extLst>
                    <a:ext uri="{9D8B030D-6E8A-4147-A177-3AD203B41FA5}">
                      <a16:colId xmlns:a16="http://schemas.microsoft.com/office/drawing/2014/main" val="20002"/>
                    </a:ext>
                  </a:extLst>
                </a:gridCol>
                <a:gridCol w="1458119">
                  <a:extLst>
                    <a:ext uri="{9D8B030D-6E8A-4147-A177-3AD203B41FA5}">
                      <a16:colId xmlns:a16="http://schemas.microsoft.com/office/drawing/2014/main" val="20003"/>
                    </a:ext>
                  </a:extLst>
                </a:gridCol>
              </a:tblGrid>
              <a:tr h="374923">
                <a:tc rowSpan="2">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dirty="0">
                          <a:ln>
                            <a:noFill/>
                          </a:ln>
                          <a:solidFill>
                            <a:srgbClr val="FFFFFF"/>
                          </a:solidFill>
                          <a:effectLst/>
                          <a:latin typeface="Times New Roman" pitchFamily="18" charset="0"/>
                          <a:ea typeface="宋体" pitchFamily="2" charset="-122"/>
                        </a:rPr>
                        <a:t>Present</a:t>
                      </a:r>
                      <a:endParaRPr kumimoji="0" lang="zh-CN" altLang="en-US" sz="2800" b="1" i="0" u="none" strike="noStrike" cap="none" normalizeH="0" baseline="0" dirty="0">
                        <a:ln>
                          <a:noFill/>
                        </a:ln>
                        <a:solidFill>
                          <a:srgbClr val="FFFFFF"/>
                        </a:solidFill>
                        <a:effectLst/>
                        <a:latin typeface="Times New Roman" pitchFamily="18" charset="0"/>
                        <a:ea typeface="宋体" pitchFamily="2" charset="-122"/>
                      </a:endParaRPr>
                    </a:p>
                    <a:p>
                      <a:pPr marL="0" marR="0" lvl="0" indent="0" algn="just" defTabSz="914400" rtl="0" eaLnBrk="1" fontAlgn="base" latinLnBrk="0" hangingPunct="1">
                        <a:lnSpc>
                          <a:spcPct val="100000"/>
                        </a:lnSpc>
                        <a:spcBef>
                          <a:spcPct val="0"/>
                        </a:spcBef>
                        <a:spcAft>
                          <a:spcPct val="0"/>
                        </a:spcAft>
                        <a:buClrTx/>
                        <a:buSzTx/>
                        <a:buFontTx/>
                        <a:buNone/>
                        <a:tabLst/>
                      </a:pPr>
                      <a:r>
                        <a:rPr kumimoji="0" lang="fr-FR" altLang="en-US" sz="2800" b="1" i="0" u="none" strike="noStrike" cap="none" normalizeH="0" baseline="0" dirty="0">
                          <a:ln>
                            <a:noFill/>
                          </a:ln>
                          <a:solidFill>
                            <a:srgbClr val="FFFFFF"/>
                          </a:solidFill>
                          <a:effectLst/>
                          <a:latin typeface="Times New Roman" pitchFamily="18" charset="0"/>
                          <a:ea typeface="宋体" pitchFamily="2" charset="-122"/>
                        </a:rPr>
                        <a:t>y</a:t>
                      </a:r>
                      <a:endParaRPr kumimoji="0" lang="fr-FR" altLang="en-US" sz="2800" b="1" i="0" u="none" strike="noStrike" cap="none" normalizeH="0" baseline="0" dirty="0">
                        <a:ln>
                          <a:noFill/>
                        </a:ln>
                        <a:solidFill>
                          <a:srgbClr val="FFFFFF"/>
                        </a:solidFill>
                        <a:effectLst/>
                        <a:latin typeface="Times New Roman" pitchFamily="18" charset="0"/>
                        <a:ea typeface="宋体" pitchFamily="2" charset="-122"/>
                        <a:cs typeface="Times New Roman" pitchFamily="18" charset="0"/>
                      </a:endParaRPr>
                    </a:p>
                  </a:txBody>
                  <a:tcPr marL="68578" marR="68578"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gridSpan="2">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dirty="0">
                          <a:ln>
                            <a:noFill/>
                          </a:ln>
                          <a:solidFill>
                            <a:srgbClr val="FFFFFF"/>
                          </a:solidFill>
                          <a:effectLst/>
                          <a:latin typeface="Times New Roman" pitchFamily="18" charset="0"/>
                          <a:ea typeface="宋体" pitchFamily="2" charset="-122"/>
                          <a:cs typeface="Times New Roman" pitchFamily="18" charset="0"/>
                        </a:rPr>
                        <a:t>Next</a:t>
                      </a:r>
                      <a:endParaRPr kumimoji="0" lang="zh-CN" sz="2800" b="1" i="0" u="none" strike="noStrike" cap="none" normalizeH="0" baseline="0" dirty="0">
                        <a:ln>
                          <a:noFill/>
                        </a:ln>
                        <a:solidFill>
                          <a:srgbClr val="FFFFFF"/>
                        </a:solidFill>
                        <a:effectLst/>
                        <a:latin typeface="Times New Roman" pitchFamily="18" charset="0"/>
                        <a:ea typeface="宋体" pitchFamily="2" charset="-122"/>
                        <a:cs typeface="Times New Roman" pitchFamily="18" charset="0"/>
                      </a:endParaRPr>
                    </a:p>
                  </a:txBody>
                  <a:tcPr marL="68578" marR="68578"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hMerge="1">
                  <a:txBody>
                    <a:bodyPr/>
                    <a:lstStyle/>
                    <a:p>
                      <a:endParaRPr lang="zh-CN" altLang="en-US"/>
                    </a:p>
                  </a:txBody>
                  <a:tcPr/>
                </a:tc>
                <a:tc rowSpan="2">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dirty="0">
                          <a:ln>
                            <a:noFill/>
                          </a:ln>
                          <a:solidFill>
                            <a:srgbClr val="FFFFFF"/>
                          </a:solidFill>
                          <a:effectLst/>
                          <a:latin typeface="Times New Roman" pitchFamily="18" charset="0"/>
                          <a:ea typeface="宋体" pitchFamily="2" charset="-122"/>
                        </a:rPr>
                        <a:t>Output</a:t>
                      </a:r>
                      <a:endParaRPr kumimoji="0" lang="zh-CN" altLang="en-US" sz="2800" b="1" i="0" u="none" strike="noStrike" cap="none" normalizeH="0" baseline="0" dirty="0">
                        <a:ln>
                          <a:noFill/>
                        </a:ln>
                        <a:solidFill>
                          <a:srgbClr val="FFFFFF"/>
                        </a:solidFill>
                        <a:effectLst/>
                        <a:latin typeface="Times New Roman" pitchFamily="18" charset="0"/>
                        <a:ea typeface="宋体" pitchFamily="2" charset="-122"/>
                      </a:endParaRPr>
                    </a:p>
                    <a:p>
                      <a:pPr marL="0" marR="0" lvl="0" indent="0" algn="just" defTabSz="914400" rtl="0" eaLnBrk="1" fontAlgn="base" latinLnBrk="0" hangingPunct="1">
                        <a:lnSpc>
                          <a:spcPct val="100000"/>
                        </a:lnSpc>
                        <a:spcBef>
                          <a:spcPct val="0"/>
                        </a:spcBef>
                        <a:spcAft>
                          <a:spcPct val="0"/>
                        </a:spcAft>
                        <a:buClrTx/>
                        <a:buSzTx/>
                        <a:buFontTx/>
                        <a:buNone/>
                        <a:tabLst/>
                      </a:pPr>
                      <a:r>
                        <a:rPr kumimoji="0" lang="fr-FR" altLang="en-US" sz="2800" b="1" i="0" u="none" strike="noStrike" cap="none" normalizeH="0" baseline="0" dirty="0">
                          <a:ln>
                            <a:noFill/>
                          </a:ln>
                          <a:solidFill>
                            <a:srgbClr val="FFFFFF"/>
                          </a:solidFill>
                          <a:effectLst/>
                          <a:latin typeface="Times New Roman" pitchFamily="18" charset="0"/>
                          <a:ea typeface="宋体" pitchFamily="2" charset="-122"/>
                        </a:rPr>
                        <a:t>Z</a:t>
                      </a:r>
                      <a:endParaRPr kumimoji="0" lang="fr-FR" altLang="en-US" sz="2800" b="1" i="0" u="none" strike="noStrike" cap="none" normalizeH="0" baseline="0" dirty="0">
                        <a:ln>
                          <a:noFill/>
                        </a:ln>
                        <a:solidFill>
                          <a:srgbClr val="FFFFFF"/>
                        </a:solidFill>
                        <a:effectLst/>
                        <a:latin typeface="Times New Roman" pitchFamily="18" charset="0"/>
                        <a:ea typeface="宋体" pitchFamily="2" charset="-122"/>
                        <a:cs typeface="Times New Roman" pitchFamily="18" charset="0"/>
                      </a:endParaRPr>
                    </a:p>
                  </a:txBody>
                  <a:tcPr marL="68578" marR="68578"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74080">
                <a:tc vMerge="1">
                  <a:txBody>
                    <a:bodyPr/>
                    <a:lstStyle/>
                    <a:p>
                      <a:endParaRPr lang="zh-CN" altLang="en-US"/>
                    </a:p>
                  </a:txBody>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fr-FR" altLang="en-US" sz="2800" b="0" i="0" u="none" strike="noStrike" cap="none" normalizeH="0" baseline="0">
                          <a:ln>
                            <a:noFill/>
                          </a:ln>
                          <a:solidFill>
                            <a:srgbClr val="000000"/>
                          </a:solidFill>
                          <a:effectLst/>
                          <a:latin typeface="Times New Roman" pitchFamily="18" charset="0"/>
                          <a:ea typeface="宋体" pitchFamily="2" charset="-122"/>
                        </a:rPr>
                        <a:t>X=0</a:t>
                      </a:r>
                      <a:endParaRPr kumimoji="0" lang="fr-FR" altLang="en-US" sz="2800" b="0" i="0" u="none" strike="noStrike" cap="none" normalizeH="0" baseline="0">
                        <a:ln>
                          <a:noFill/>
                        </a:ln>
                        <a:solidFill>
                          <a:srgbClr val="000000"/>
                        </a:solidFill>
                        <a:effectLst/>
                        <a:latin typeface="Times New Roman" pitchFamily="18" charset="0"/>
                        <a:ea typeface="宋体" pitchFamily="2" charset="-122"/>
                        <a:cs typeface="Times New Roman" pitchFamily="18" charset="0"/>
                      </a:endParaRPr>
                    </a:p>
                  </a:txBody>
                  <a:tcPr marL="68578" marR="68578" marT="0" marB="0" horzOverflow="overflow">
                    <a:lnL w="381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fr-FR" altLang="en-US" sz="2800" b="0" i="0" u="none" strike="noStrike" cap="none" normalizeH="0" baseline="0">
                          <a:ln>
                            <a:noFill/>
                          </a:ln>
                          <a:solidFill>
                            <a:srgbClr val="000000"/>
                          </a:solidFill>
                          <a:effectLst/>
                          <a:latin typeface="Times New Roman" pitchFamily="18" charset="0"/>
                          <a:ea typeface="宋体" pitchFamily="2" charset="-122"/>
                        </a:rPr>
                        <a:t>X=1</a:t>
                      </a:r>
                      <a:endParaRPr kumimoji="0" lang="fr-FR" altLang="en-US" sz="2800" b="0" i="0" u="none" strike="noStrike" cap="none" normalizeH="0" baseline="0">
                        <a:ln>
                          <a:noFill/>
                        </a:ln>
                        <a:solidFill>
                          <a:srgbClr val="000000"/>
                        </a:solidFill>
                        <a:effectLst/>
                        <a:latin typeface="Times New Roman" pitchFamily="18" charset="0"/>
                        <a:ea typeface="宋体" pitchFamily="2" charset="-122"/>
                        <a:cs typeface="Times New Roman" pitchFamily="18" charset="0"/>
                      </a:endParaRPr>
                    </a:p>
                  </a:txBody>
                  <a:tcPr marL="68578" marR="68578" marT="0" marB="0" horzOverflow="overflow">
                    <a:lnL w="127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vMerge="1">
                  <a:txBody>
                    <a:bodyPr/>
                    <a:lstStyle/>
                    <a:p>
                      <a:endParaRPr lang="zh-CN" altLang="en-US"/>
                    </a:p>
                  </a:txBody>
                  <a:tcPr/>
                </a:tc>
                <a:extLst>
                  <a:ext uri="{0D108BD9-81ED-4DB2-BD59-A6C34878D82A}">
                    <a16:rowId xmlns:a16="http://schemas.microsoft.com/office/drawing/2014/main" val="10001"/>
                  </a:ext>
                </a:extLst>
              </a:tr>
              <a:tr h="374923">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fr-FR" altLang="en-US" sz="2800" b="1" i="0" u="none" strike="noStrike" cap="none" normalizeH="0" baseline="0" dirty="0">
                          <a:ln>
                            <a:noFill/>
                          </a:ln>
                          <a:solidFill>
                            <a:srgbClr val="FFFFFF"/>
                          </a:solidFill>
                          <a:effectLst/>
                          <a:latin typeface="Times New Roman" pitchFamily="18" charset="0"/>
                          <a:ea typeface="宋体" pitchFamily="2" charset="-122"/>
                        </a:rPr>
                        <a:t>A</a:t>
                      </a:r>
                      <a:endParaRPr kumimoji="0" lang="fr-FR" altLang="en-US" sz="2800" b="1" i="0" u="none" strike="noStrike" cap="none" normalizeH="0" baseline="0" dirty="0">
                        <a:ln>
                          <a:noFill/>
                        </a:ln>
                        <a:solidFill>
                          <a:srgbClr val="FFFFFF"/>
                        </a:solidFill>
                        <a:effectLst/>
                        <a:latin typeface="Times New Roman" pitchFamily="18" charset="0"/>
                        <a:ea typeface="宋体" pitchFamily="2" charset="-122"/>
                        <a:cs typeface="Times New Roman" pitchFamily="18" charset="0"/>
                      </a:endParaRPr>
                    </a:p>
                  </a:txBody>
                  <a:tcPr marL="68578" marR="68578"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fr-FR" altLang="en-US" sz="2800" b="0" i="0" u="none" strike="noStrike" cap="none" normalizeH="0" baseline="0" dirty="0">
                          <a:ln>
                            <a:noFill/>
                          </a:ln>
                          <a:solidFill>
                            <a:srgbClr val="000000"/>
                          </a:solidFill>
                          <a:effectLst/>
                          <a:latin typeface="Times New Roman" pitchFamily="18" charset="0"/>
                          <a:ea typeface="宋体" pitchFamily="2" charset="-122"/>
                        </a:rPr>
                        <a:t>C</a:t>
                      </a:r>
                      <a:endParaRPr kumimoji="0" lang="fr-FR" altLang="en-US" sz="2800" b="0" i="0" u="none" strike="noStrike" cap="none" normalizeH="0" baseline="0" dirty="0">
                        <a:ln>
                          <a:noFill/>
                        </a:ln>
                        <a:solidFill>
                          <a:srgbClr val="000000"/>
                        </a:solidFill>
                        <a:effectLst/>
                        <a:latin typeface="Times New Roman" pitchFamily="18" charset="0"/>
                        <a:ea typeface="宋体" pitchFamily="2" charset="-122"/>
                        <a:cs typeface="Times New Roman" pitchFamily="18" charset="0"/>
                      </a:endParaRPr>
                    </a:p>
                  </a:txBody>
                  <a:tcPr marL="68578" marR="68578"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fr-FR" altLang="en-US" sz="2800" b="0" i="0" u="none" strike="noStrike" cap="none" normalizeH="0" baseline="0" dirty="0">
                          <a:ln>
                            <a:noFill/>
                          </a:ln>
                          <a:solidFill>
                            <a:srgbClr val="000000"/>
                          </a:solidFill>
                          <a:effectLst/>
                          <a:latin typeface="Times New Roman" pitchFamily="18" charset="0"/>
                          <a:ea typeface="宋体" pitchFamily="2" charset="-122"/>
                        </a:rPr>
                        <a:t>B</a:t>
                      </a:r>
                      <a:endParaRPr kumimoji="0" lang="fr-FR" altLang="en-US" sz="2800" b="0" i="0" u="none" strike="noStrike" cap="none" normalizeH="0" baseline="0" dirty="0">
                        <a:ln>
                          <a:noFill/>
                        </a:ln>
                        <a:solidFill>
                          <a:srgbClr val="000000"/>
                        </a:solidFill>
                        <a:effectLst/>
                        <a:latin typeface="Times New Roman" pitchFamily="18" charset="0"/>
                        <a:ea typeface="宋体" pitchFamily="2" charset="-122"/>
                        <a:cs typeface="Times New Roman" pitchFamily="18" charset="0"/>
                      </a:endParaRPr>
                    </a:p>
                  </a:txBody>
                  <a:tcPr marL="68578" marR="68578"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fr-FR" altLang="en-US" sz="2800" b="0" i="0" u="none" strike="noStrike" cap="none" normalizeH="0" baseline="0" dirty="0">
                          <a:ln>
                            <a:noFill/>
                          </a:ln>
                          <a:solidFill>
                            <a:srgbClr val="000000"/>
                          </a:solidFill>
                          <a:effectLst/>
                          <a:latin typeface="Times New Roman" pitchFamily="18" charset="0"/>
                          <a:ea typeface="宋体" pitchFamily="2" charset="-122"/>
                        </a:rPr>
                        <a:t>0</a:t>
                      </a:r>
                      <a:endParaRPr kumimoji="0" lang="fr-FR" altLang="en-US" sz="2800" b="0" i="0" u="none" strike="noStrike" cap="none" normalizeH="0" baseline="0" dirty="0">
                        <a:ln>
                          <a:noFill/>
                        </a:ln>
                        <a:solidFill>
                          <a:srgbClr val="000000"/>
                        </a:solidFill>
                        <a:effectLst/>
                        <a:latin typeface="Times New Roman" pitchFamily="18" charset="0"/>
                        <a:ea typeface="宋体" pitchFamily="2" charset="-122"/>
                        <a:cs typeface="Times New Roman" pitchFamily="18" charset="0"/>
                      </a:endParaRPr>
                    </a:p>
                  </a:txBody>
                  <a:tcPr marL="68578" marR="68578"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extLst>
                  <a:ext uri="{0D108BD9-81ED-4DB2-BD59-A6C34878D82A}">
                    <a16:rowId xmlns:a16="http://schemas.microsoft.com/office/drawing/2014/main" val="10002"/>
                  </a:ext>
                </a:extLst>
              </a:tr>
              <a:tr h="374080">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fr-FR" altLang="en-US" sz="2800" b="1" i="0" u="none" strike="noStrike" cap="none" normalizeH="0" baseline="0" dirty="0">
                          <a:ln>
                            <a:noFill/>
                          </a:ln>
                          <a:solidFill>
                            <a:srgbClr val="FFFFFF"/>
                          </a:solidFill>
                          <a:effectLst/>
                          <a:latin typeface="Times New Roman" pitchFamily="18" charset="0"/>
                          <a:ea typeface="宋体" pitchFamily="2" charset="-122"/>
                        </a:rPr>
                        <a:t>B</a:t>
                      </a:r>
                      <a:endParaRPr kumimoji="0" lang="fr-FR" altLang="en-US" sz="2800" b="1" i="0" u="none" strike="noStrike" cap="none" normalizeH="0" baseline="0" dirty="0">
                        <a:ln>
                          <a:noFill/>
                        </a:ln>
                        <a:solidFill>
                          <a:srgbClr val="FFFFFF"/>
                        </a:solidFill>
                        <a:effectLst/>
                        <a:latin typeface="Times New Roman" pitchFamily="18" charset="0"/>
                        <a:ea typeface="宋体" pitchFamily="2" charset="-122"/>
                        <a:cs typeface="Times New Roman" pitchFamily="18" charset="0"/>
                      </a:endParaRPr>
                    </a:p>
                  </a:txBody>
                  <a:tcPr marL="68578" marR="68578"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fr-FR" altLang="en-US" sz="2800" b="0" i="0" u="none" strike="noStrike" cap="none" normalizeH="0" baseline="0">
                          <a:ln>
                            <a:noFill/>
                          </a:ln>
                          <a:solidFill>
                            <a:srgbClr val="000000"/>
                          </a:solidFill>
                          <a:effectLst/>
                          <a:latin typeface="Times New Roman" pitchFamily="18" charset="0"/>
                          <a:ea typeface="宋体" pitchFamily="2" charset="-122"/>
                        </a:rPr>
                        <a:t>B</a:t>
                      </a:r>
                      <a:endParaRPr kumimoji="0" lang="fr-FR" altLang="en-US" sz="2800" b="0" i="0" u="none" strike="noStrike" cap="none" normalizeH="0" baseline="0">
                        <a:ln>
                          <a:noFill/>
                        </a:ln>
                        <a:solidFill>
                          <a:srgbClr val="000000"/>
                        </a:solidFill>
                        <a:effectLst/>
                        <a:latin typeface="Times New Roman" pitchFamily="18" charset="0"/>
                        <a:ea typeface="宋体" pitchFamily="2" charset="-122"/>
                        <a:cs typeface="Times New Roman" pitchFamily="18" charset="0"/>
                      </a:endParaRPr>
                    </a:p>
                  </a:txBody>
                  <a:tcPr marL="68578" marR="68578"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fr-FR" altLang="en-US" sz="2800" b="0" i="0" u="none" strike="noStrike" cap="none" normalizeH="0" baseline="0">
                          <a:ln>
                            <a:noFill/>
                          </a:ln>
                          <a:solidFill>
                            <a:srgbClr val="000000"/>
                          </a:solidFill>
                          <a:effectLst/>
                          <a:latin typeface="Times New Roman" pitchFamily="18" charset="0"/>
                          <a:ea typeface="宋体" pitchFamily="2" charset="-122"/>
                        </a:rPr>
                        <a:t>C</a:t>
                      </a:r>
                      <a:endParaRPr kumimoji="0" lang="fr-FR" altLang="en-US" sz="2800" b="0" i="0" u="none" strike="noStrike" cap="none" normalizeH="0" baseline="0">
                        <a:ln>
                          <a:noFill/>
                        </a:ln>
                        <a:solidFill>
                          <a:srgbClr val="000000"/>
                        </a:solidFill>
                        <a:effectLst/>
                        <a:latin typeface="Times New Roman" pitchFamily="18" charset="0"/>
                        <a:ea typeface="宋体" pitchFamily="2" charset="-122"/>
                        <a:cs typeface="Times New Roman" pitchFamily="18" charset="0"/>
                      </a:endParaRPr>
                    </a:p>
                  </a:txBody>
                  <a:tcPr marL="68578" marR="68578"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fr-FR" altLang="en-US" sz="2800" b="0" i="0" u="none" strike="noStrike" cap="none" normalizeH="0" baseline="0">
                          <a:ln>
                            <a:noFill/>
                          </a:ln>
                          <a:solidFill>
                            <a:srgbClr val="000000"/>
                          </a:solidFill>
                          <a:effectLst/>
                          <a:latin typeface="Times New Roman" pitchFamily="18" charset="0"/>
                          <a:ea typeface="宋体" pitchFamily="2" charset="-122"/>
                        </a:rPr>
                        <a:t>1</a:t>
                      </a:r>
                      <a:endParaRPr kumimoji="0" lang="fr-FR" altLang="en-US" sz="2800" b="0" i="0" u="none" strike="noStrike" cap="none" normalizeH="0" baseline="0">
                        <a:ln>
                          <a:noFill/>
                        </a:ln>
                        <a:solidFill>
                          <a:srgbClr val="000000"/>
                        </a:solidFill>
                        <a:effectLst/>
                        <a:latin typeface="Times New Roman" pitchFamily="18" charset="0"/>
                        <a:ea typeface="宋体" pitchFamily="2" charset="-122"/>
                        <a:cs typeface="Times New Roman" pitchFamily="18" charset="0"/>
                      </a:endParaRPr>
                    </a:p>
                  </a:txBody>
                  <a:tcPr marL="68578" marR="68578"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extLst>
                  <a:ext uri="{0D108BD9-81ED-4DB2-BD59-A6C34878D82A}">
                    <a16:rowId xmlns:a16="http://schemas.microsoft.com/office/drawing/2014/main" val="10003"/>
                  </a:ext>
                </a:extLst>
              </a:tr>
              <a:tr h="374923">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fr-FR" altLang="en-US" sz="2800" b="1" i="0" u="none" strike="noStrike" cap="none" normalizeH="0" baseline="0">
                          <a:ln>
                            <a:noFill/>
                          </a:ln>
                          <a:solidFill>
                            <a:srgbClr val="FFFFFF"/>
                          </a:solidFill>
                          <a:effectLst/>
                          <a:latin typeface="Times New Roman" pitchFamily="18" charset="0"/>
                          <a:ea typeface="宋体" pitchFamily="2" charset="-122"/>
                        </a:rPr>
                        <a:t>C</a:t>
                      </a:r>
                      <a:endParaRPr kumimoji="0" lang="fr-FR" altLang="en-US" sz="2800" b="1" i="0" u="none" strike="noStrike" cap="none" normalizeH="0" baseline="0">
                        <a:ln>
                          <a:noFill/>
                        </a:ln>
                        <a:solidFill>
                          <a:srgbClr val="FFFFFF"/>
                        </a:solidFill>
                        <a:effectLst/>
                        <a:latin typeface="Times New Roman" pitchFamily="18" charset="0"/>
                        <a:ea typeface="宋体" pitchFamily="2" charset="-122"/>
                        <a:cs typeface="Times New Roman" pitchFamily="18" charset="0"/>
                      </a:endParaRPr>
                    </a:p>
                  </a:txBody>
                  <a:tcPr marL="68578" marR="68578"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fr-FR" altLang="en-US" sz="2800" b="0" i="0" u="none" strike="noStrike" cap="none" normalizeH="0" baseline="0">
                          <a:ln>
                            <a:noFill/>
                          </a:ln>
                          <a:solidFill>
                            <a:srgbClr val="000000"/>
                          </a:solidFill>
                          <a:effectLst/>
                          <a:latin typeface="Times New Roman" pitchFamily="18" charset="0"/>
                          <a:ea typeface="宋体" pitchFamily="2" charset="-122"/>
                        </a:rPr>
                        <a:t>B</a:t>
                      </a:r>
                      <a:endParaRPr kumimoji="0" lang="fr-FR" altLang="en-US" sz="2800" b="0" i="0" u="none" strike="noStrike" cap="none" normalizeH="0" baseline="0">
                        <a:ln>
                          <a:noFill/>
                        </a:ln>
                        <a:solidFill>
                          <a:srgbClr val="000000"/>
                        </a:solidFill>
                        <a:effectLst/>
                        <a:latin typeface="Times New Roman" pitchFamily="18" charset="0"/>
                        <a:ea typeface="宋体" pitchFamily="2" charset="-122"/>
                        <a:cs typeface="Times New Roman" pitchFamily="18" charset="0"/>
                      </a:endParaRPr>
                    </a:p>
                  </a:txBody>
                  <a:tcPr marL="68578" marR="68578"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fr-FR" altLang="en-US" sz="2800" b="0" i="0" u="none" strike="noStrike" cap="none" normalizeH="0" baseline="0">
                          <a:ln>
                            <a:noFill/>
                          </a:ln>
                          <a:solidFill>
                            <a:srgbClr val="000000"/>
                          </a:solidFill>
                          <a:effectLst/>
                          <a:latin typeface="Times New Roman" pitchFamily="18" charset="0"/>
                          <a:ea typeface="宋体" pitchFamily="2" charset="-122"/>
                        </a:rPr>
                        <a:t>A</a:t>
                      </a:r>
                      <a:endParaRPr kumimoji="0" lang="fr-FR" altLang="en-US" sz="2800" b="0" i="0" u="none" strike="noStrike" cap="none" normalizeH="0" baseline="0">
                        <a:ln>
                          <a:noFill/>
                        </a:ln>
                        <a:solidFill>
                          <a:srgbClr val="000000"/>
                        </a:solidFill>
                        <a:effectLst/>
                        <a:latin typeface="Times New Roman" pitchFamily="18" charset="0"/>
                        <a:ea typeface="宋体" pitchFamily="2" charset="-122"/>
                        <a:cs typeface="Times New Roman" pitchFamily="18" charset="0"/>
                      </a:endParaRPr>
                    </a:p>
                  </a:txBody>
                  <a:tcPr marL="68578" marR="68578"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fr-FR" altLang="en-US" sz="2800" b="0" i="0" u="none" strike="noStrike" cap="none" normalizeH="0" baseline="0" dirty="0">
                          <a:ln>
                            <a:noFill/>
                          </a:ln>
                          <a:solidFill>
                            <a:srgbClr val="000000"/>
                          </a:solidFill>
                          <a:effectLst/>
                          <a:latin typeface="Times New Roman" pitchFamily="18" charset="0"/>
                          <a:ea typeface="宋体" pitchFamily="2" charset="-122"/>
                        </a:rPr>
                        <a:t>0</a:t>
                      </a:r>
                      <a:endParaRPr kumimoji="0" lang="fr-FR" altLang="en-US" sz="2800" b="0" i="0" u="none" strike="noStrike" cap="none" normalizeH="0" baseline="0" dirty="0">
                        <a:ln>
                          <a:noFill/>
                        </a:ln>
                        <a:solidFill>
                          <a:srgbClr val="000000"/>
                        </a:solidFill>
                        <a:effectLst/>
                        <a:latin typeface="Times New Roman" pitchFamily="18" charset="0"/>
                        <a:ea typeface="宋体" pitchFamily="2" charset="-122"/>
                        <a:cs typeface="Times New Roman" pitchFamily="18" charset="0"/>
                      </a:endParaRPr>
                    </a:p>
                  </a:txBody>
                  <a:tcPr marL="68578" marR="68578"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extLst>
                  <a:ext uri="{0D108BD9-81ED-4DB2-BD59-A6C34878D82A}">
                    <a16:rowId xmlns:a16="http://schemas.microsoft.com/office/drawing/2014/main" val="10004"/>
                  </a:ext>
                </a:extLst>
              </a:tr>
            </a:tbl>
          </a:graphicData>
        </a:graphic>
      </p:graphicFrame>
      <p:pic>
        <p:nvPicPr>
          <p:cNvPr id="2" name="图片 1">
            <a:extLst>
              <a:ext uri="{FF2B5EF4-FFF2-40B4-BE49-F238E27FC236}">
                <a16:creationId xmlns:a16="http://schemas.microsoft.com/office/drawing/2014/main" id="{F23457EC-FBD5-4C2B-99C1-697F165A420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211638" y="3213100"/>
            <a:ext cx="3816350" cy="298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6691967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ext Box 10">
            <a:extLst>
              <a:ext uri="{FF2B5EF4-FFF2-40B4-BE49-F238E27FC236}">
                <a16:creationId xmlns:a16="http://schemas.microsoft.com/office/drawing/2014/main" id="{909A41E6-81AD-4B4C-B904-523908F80AE4}"/>
              </a:ext>
            </a:extLst>
          </p:cNvPr>
          <p:cNvSpPr txBox="1">
            <a:spLocks noChangeArrowheads="1"/>
          </p:cNvSpPr>
          <p:nvPr/>
        </p:nvSpPr>
        <p:spPr bwMode="auto">
          <a:xfrm>
            <a:off x="900112" y="1484313"/>
            <a:ext cx="367188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dirty="0">
                <a:solidFill>
                  <a:srgbClr val="CC3300"/>
                </a:solidFill>
                <a:latin typeface="Times New Roman" panose="02020603050405020304" pitchFamily="18" charset="0"/>
              </a:rPr>
              <a:t>VI</a:t>
            </a:r>
            <a:r>
              <a:rPr lang="en-US" altLang="zh-CN" dirty="0">
                <a:solidFill>
                  <a:srgbClr val="CC3300"/>
                </a:solidFill>
                <a:latin typeface="Times New Roman" panose="02020603050405020304" pitchFamily="18" charset="0"/>
              </a:rPr>
              <a:t>. Timing diagram</a:t>
            </a:r>
            <a:endParaRPr lang="zh-CN" altLang="en-US" sz="2400" b="1" dirty="0">
              <a:solidFill>
                <a:srgbClr val="CC3300"/>
              </a:solidFill>
              <a:latin typeface="Times New Roman" panose="02020603050405020304" pitchFamily="18" charset="0"/>
            </a:endParaRPr>
          </a:p>
        </p:txBody>
      </p:sp>
      <p:sp>
        <p:nvSpPr>
          <p:cNvPr id="22531" name="Text Box 11">
            <a:extLst>
              <a:ext uri="{FF2B5EF4-FFF2-40B4-BE49-F238E27FC236}">
                <a16:creationId xmlns:a16="http://schemas.microsoft.com/office/drawing/2014/main" id="{250B28BC-5058-4705-954D-6810A13F088F}"/>
              </a:ext>
            </a:extLst>
          </p:cNvPr>
          <p:cNvSpPr txBox="1">
            <a:spLocks noChangeArrowheads="1"/>
          </p:cNvSpPr>
          <p:nvPr/>
        </p:nvSpPr>
        <p:spPr bwMode="auto">
          <a:xfrm>
            <a:off x="900113" y="2781300"/>
            <a:ext cx="7272337"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2400" dirty="0">
                <a:latin typeface="Times New Roman" panose="02020603050405020304" pitchFamily="18" charset="0"/>
              </a:rPr>
              <a:t>　　</a:t>
            </a:r>
            <a:r>
              <a:rPr lang="en-US" altLang="zh-CN" dirty="0">
                <a:solidFill>
                  <a:schemeClr val="accent2"/>
                </a:solidFill>
                <a:latin typeface="Times New Roman" panose="02020603050405020304" pitchFamily="18" charset="0"/>
              </a:rPr>
              <a:t>The time diagram is a waveform diagram showing the correspondence between the values of the input signal, the output signal, and the circuit state at each time, and is also commonly referred to as an operation waveform diagram. On the time chart, the timing of the circuit state transition can be visually represented.</a:t>
            </a:r>
            <a:endParaRPr lang="zh-CN" altLang="en-US" sz="2400" dirty="0">
              <a:solidFill>
                <a:schemeClr val="accent2"/>
              </a:solidFill>
              <a:latin typeface="Times New Roman" panose="02020603050405020304" pitchFamily="18" charset="0"/>
            </a:endParaRPr>
          </a:p>
        </p:txBody>
      </p:sp>
      <p:pic>
        <p:nvPicPr>
          <p:cNvPr id="25604" name="Picture 12" descr="Right_Green">
            <a:hlinkClick r:id="" action="ppaction://hlinkshowjump?jump=nextslide"/>
            <a:extLst>
              <a:ext uri="{FF2B5EF4-FFF2-40B4-BE49-F238E27FC236}">
                <a16:creationId xmlns:a16="http://schemas.microsoft.com/office/drawing/2014/main" id="{E2BD43EA-16EB-4A0E-8179-7F5F436F2B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99500"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5" name="Picture 13" descr="Left_Green">
            <a:hlinkClick r:id="" action="ppaction://hlinkshowjump?jump=previousslide"/>
            <a:extLst>
              <a:ext uri="{FF2B5EF4-FFF2-40B4-BE49-F238E27FC236}">
                <a16:creationId xmlns:a16="http://schemas.microsoft.com/office/drawing/2014/main" id="{0BF5A179-6B70-4C71-BBED-B0997579BBF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43888" y="6262688"/>
            <a:ext cx="342900"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1084873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253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6" presetClass="entr" presetSubtype="21" fill="hold" grpId="0" nodeType="clickEffect">
                                  <p:stCondLst>
                                    <p:cond delay="0"/>
                                  </p:stCondLst>
                                  <p:childTnLst>
                                    <p:set>
                                      <p:cBhvr>
                                        <p:cTn id="10" dur="1" fill="hold">
                                          <p:stCondLst>
                                            <p:cond delay="0"/>
                                          </p:stCondLst>
                                        </p:cTn>
                                        <p:tgtEl>
                                          <p:spTgt spid="22531"/>
                                        </p:tgtEl>
                                        <p:attrNameLst>
                                          <p:attrName>style.visibility</p:attrName>
                                        </p:attrNameLst>
                                      </p:cBhvr>
                                      <p:to>
                                        <p:strVal val="visible"/>
                                      </p:to>
                                    </p:set>
                                    <p:animEffect transition="in" filter="barn(inVertical)">
                                      <p:cBhvr>
                                        <p:cTn id="11" dur="500"/>
                                        <p:tgtEl>
                                          <p:spTgt spid="225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0" grpId="0" autoUpdateAnimBg="0"/>
      <p:bldP spid="22531" grpId="0" autoUpdateAnimBg="0"/>
    </p:bld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主题1">
  <a:themeElements>
    <a:clrScheme name="自定义 5">
      <a:dk1>
        <a:sysClr val="windowText" lastClr="000000"/>
      </a:dk1>
      <a:lt1>
        <a:sysClr val="window" lastClr="FFFFFF"/>
      </a:lt1>
      <a:dk2>
        <a:srgbClr val="775F55"/>
      </a:dk2>
      <a:lt2>
        <a:srgbClr val="EBDDC3"/>
      </a:lt2>
      <a:accent1>
        <a:srgbClr val="004E9D"/>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自定义 2">
      <a:majorFont>
        <a:latin typeface="Calibri"/>
        <a:ea typeface="华文仿宋"/>
        <a:cs typeface=""/>
      </a:majorFont>
      <a:minorFont>
        <a:latin typeface="Calibri"/>
        <a:ea typeface="华文仿宋"/>
        <a:cs typeface=""/>
      </a:minorFont>
    </a:fontScheme>
    <a:fmtScheme name="中性">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主题1</Template>
  <TotalTime>15322</TotalTime>
  <Pages>39</Pages>
  <Words>464</Words>
  <Application>Microsoft Office PowerPoint</Application>
  <PresentationFormat>全屏显示(4:3)</PresentationFormat>
  <Paragraphs>143</Paragraphs>
  <Slides>22</Slides>
  <Notes>22</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22</vt:i4>
      </vt:variant>
    </vt:vector>
  </HeadingPairs>
  <TitlesOfParts>
    <vt:vector size="28" baseType="lpstr">
      <vt:lpstr>Arial</vt:lpstr>
      <vt:lpstr>Calibri</vt:lpstr>
      <vt:lpstr>Times New Roman</vt:lpstr>
      <vt:lpstr>Wingdings</vt:lpstr>
      <vt:lpstr>Wingdings 2</vt:lpstr>
      <vt:lpstr>主题1</vt:lpstr>
      <vt:lpstr> Digital logic</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Example of the state table Assume that a state table of a synchronous sequential circuit is as follows</vt:lpstr>
      <vt:lpstr>PowerPoint 演示文稿</vt:lpstr>
      <vt:lpstr>Example of the Moor type state table</vt:lpstr>
      <vt:lpstr>PowerPoint 演示文稿</vt:lpstr>
      <vt:lpstr>State diagrams of the flip-flops</vt:lpstr>
      <vt:lpstr>Examples  Assume that the state transition table of a synchronous sequential circuit is as follows</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dc:title>
  <dc:subject>Savitch Prog Prob Solving w/ C++ 3rd PPT slides</dc:subject>
  <dc:creator>David B. Teague</dc:creator>
  <cp:lastModifiedBy>Fei Chao [fec10]</cp:lastModifiedBy>
  <cp:revision>423</cp:revision>
  <cp:lastPrinted>2018-07-08T05:12:18Z</cp:lastPrinted>
  <dcterms:created xsi:type="dcterms:W3CDTF">1995-09-17T23:17:46Z</dcterms:created>
  <dcterms:modified xsi:type="dcterms:W3CDTF">2020-04-27T15:58:22Z</dcterms:modified>
</cp:coreProperties>
</file>