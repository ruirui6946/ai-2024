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61" r:id="rId5"/>
    <p:sldId id="262" r:id="rId6"/>
    <p:sldId id="258" r:id="rId7"/>
    <p:sldId id="273" r:id="rId8"/>
    <p:sldId id="274" r:id="rId9"/>
    <p:sldId id="271" r:id="rId10"/>
    <p:sldId id="272" r:id="rId11"/>
    <p:sldId id="260" r:id="rId12"/>
    <p:sldId id="265" r:id="rId13"/>
    <p:sldId id="266" r:id="rId14"/>
    <p:sldId id="267" r:id="rId15"/>
    <p:sldId id="268" r:id="rId16"/>
    <p:sldId id="259" r:id="rId17"/>
    <p:sldId id="269" r:id="rId18"/>
    <p:sldId id="270" r:id="rId19"/>
    <p:sldId id="275" r:id="rId20"/>
  </p:sldIdLst>
  <p:sldSz cx="9144000" cy="6858000" type="screen4x3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2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5" name="Freeform 3"/>
            <p:cNvSpPr>
              <a:spLocks/>
            </p:cNvSpPr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6" name="Arc 4"/>
            <p:cNvSpPr>
              <a:spLocks/>
            </p:cNvSpPr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T0" fmla="*/ 6 w 21600"/>
                <a:gd name="T1" fmla="*/ 0 h 21231"/>
                <a:gd name="T2" fmla="*/ 32 w 21600"/>
                <a:gd name="T3" fmla="*/ 13 h 21231"/>
                <a:gd name="T4" fmla="*/ 0 w 21600"/>
                <a:gd name="T5" fmla="*/ 13 h 212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5285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25286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A764F35-806B-4F57-B471-C567E9CFE1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6529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48F3E-52E7-46F2-8269-0A0A4E52E6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5005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937C3D-3570-4190-93C0-E6932BE0F4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0325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266E6B-3D62-42CC-9811-FC245712F4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9941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8191EA-B162-412A-9A84-F3B0E76BBD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2650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2A425F-C13F-4AB4-8DFC-8CAD11975B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9806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045796-79B9-4373-81E6-A42D9BEC76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69637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027FA-E4D3-454F-9772-B45AD521B1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1229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AF007-DF6B-4D3A-872F-5B991227A4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17446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E42EE1-131E-4C0E-9519-4D9156467D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64758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A85D5-CF92-4A61-9353-7432BCDAA1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510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224259" name="Freeform 3"/>
            <p:cNvSpPr>
              <a:spLocks/>
            </p:cNvSpPr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033" name="Arc 4"/>
            <p:cNvSpPr>
              <a:spLocks/>
            </p:cNvSpPr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T0" fmla="*/ 0 w 21600"/>
                <a:gd name="T1" fmla="*/ 0 h 21600"/>
                <a:gd name="T2" fmla="*/ 78 w 21600"/>
                <a:gd name="T3" fmla="*/ 34 h 21600"/>
                <a:gd name="T4" fmla="*/ 0 w 21600"/>
                <a:gd name="T5" fmla="*/ 34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426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2426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 eaLnBrk="1" hangingPunct="1">
              <a:defRPr kumimoji="0"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426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426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FCD9569-76D2-4CBC-8093-18462C25F0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6991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7.png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9.png"/><Relationship Id="rId10" Type="http://schemas.openxmlformats.org/officeDocument/2006/relationships/oleObject" Target="../embeddings/oleObject3.bin"/><Relationship Id="rId4" Type="http://schemas.openxmlformats.org/officeDocument/2006/relationships/image" Target="../media/image8.png"/><Relationship Id="rId9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12.wmf"/><Relationship Id="rId3" Type="http://schemas.openxmlformats.org/officeDocument/2006/relationships/image" Target="../media/image7.png"/><Relationship Id="rId7" Type="http://schemas.openxmlformats.org/officeDocument/2006/relationships/image" Target="../media/image2.wmf"/><Relationship Id="rId12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1.wmf"/><Relationship Id="rId5" Type="http://schemas.openxmlformats.org/officeDocument/2006/relationships/image" Target="../media/image9.png"/><Relationship Id="rId10" Type="http://schemas.openxmlformats.org/officeDocument/2006/relationships/oleObject" Target="../embeddings/oleObject6.bin"/><Relationship Id="rId4" Type="http://schemas.openxmlformats.org/officeDocument/2006/relationships/image" Target="../media/image8.png"/><Relationship Id="rId9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image" Target="../media/image21.wmf"/><Relationship Id="rId3" Type="http://schemas.openxmlformats.org/officeDocument/2006/relationships/image" Target="../media/image8.png"/><Relationship Id="rId7" Type="http://schemas.openxmlformats.org/officeDocument/2006/relationships/image" Target="../media/image15.wmf"/><Relationship Id="rId12" Type="http://schemas.openxmlformats.org/officeDocument/2006/relationships/image" Target="../media/image20.wmf"/><Relationship Id="rId17" Type="http://schemas.openxmlformats.org/officeDocument/2006/relationships/image" Target="../media/image25.wmf"/><Relationship Id="rId2" Type="http://schemas.openxmlformats.org/officeDocument/2006/relationships/image" Target="../media/image7.png"/><Relationship Id="rId16" Type="http://schemas.openxmlformats.org/officeDocument/2006/relationships/image" Target="../media/image2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11" Type="http://schemas.openxmlformats.org/officeDocument/2006/relationships/image" Target="../media/image19.wmf"/><Relationship Id="rId5" Type="http://schemas.openxmlformats.org/officeDocument/2006/relationships/image" Target="../media/image13.wmf"/><Relationship Id="rId15" Type="http://schemas.openxmlformats.org/officeDocument/2006/relationships/image" Target="../media/image23.wmf"/><Relationship Id="rId10" Type="http://schemas.openxmlformats.org/officeDocument/2006/relationships/image" Target="../media/image18.wmf"/><Relationship Id="rId4" Type="http://schemas.openxmlformats.org/officeDocument/2006/relationships/image" Target="../media/image9.png"/><Relationship Id="rId9" Type="http://schemas.openxmlformats.org/officeDocument/2006/relationships/image" Target="../media/image17.wmf"/><Relationship Id="rId14" Type="http://schemas.openxmlformats.org/officeDocument/2006/relationships/image" Target="../media/image2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8.png"/><Relationship Id="rId7" Type="http://schemas.openxmlformats.org/officeDocument/2006/relationships/image" Target="../media/image28.wmf"/><Relationship Id="rId12" Type="http://schemas.openxmlformats.org/officeDocument/2006/relationships/image" Target="../media/image33.w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wmf"/><Relationship Id="rId11" Type="http://schemas.openxmlformats.org/officeDocument/2006/relationships/image" Target="../media/image32.wmf"/><Relationship Id="rId5" Type="http://schemas.openxmlformats.org/officeDocument/2006/relationships/image" Target="../media/image26.wmf"/><Relationship Id="rId10" Type="http://schemas.openxmlformats.org/officeDocument/2006/relationships/image" Target="../media/image31.wmf"/><Relationship Id="rId4" Type="http://schemas.openxmlformats.org/officeDocument/2006/relationships/image" Target="../media/image9.png"/><Relationship Id="rId9" Type="http://schemas.openxmlformats.org/officeDocument/2006/relationships/image" Target="../media/image3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7.png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5.wmf"/><Relationship Id="rId5" Type="http://schemas.openxmlformats.org/officeDocument/2006/relationships/image" Target="../media/image9.png"/><Relationship Id="rId10" Type="http://schemas.openxmlformats.org/officeDocument/2006/relationships/image" Target="../media/image34.wmf"/><Relationship Id="rId4" Type="http://schemas.openxmlformats.org/officeDocument/2006/relationships/image" Target="../media/image8.png"/><Relationship Id="rId9" Type="http://schemas.openxmlformats.org/officeDocument/2006/relationships/oleObject" Target="../embeddings/oleObject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wmf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gif"/><Relationship Id="rId7" Type="http://schemas.openxmlformats.org/officeDocument/2006/relationships/image" Target="../media/image54.png"/><Relationship Id="rId2" Type="http://schemas.openxmlformats.org/officeDocument/2006/relationships/hyperlink" Target="http://www.google.co.uk/url?sa=i&amp;rct=j&amp;q=Karnaugh+map+xor&amp;source=images&amp;cd=&amp;cad=rja&amp;docid=w6WiaLgU33YHrM&amp;tbnid=1G7Cm3rrylenSM:&amp;ved=0CAUQjRw&amp;url=http://www.exploreroots.com/dc36.html&amp;ei=Fut5UdHhCYbtiAfxlYGYBw&amp;bvm=bv.45645796,d.cGE&amp;psig=AFQjCNESOoOmf3kSDMS0EkY9T-RHUPgE1Q&amp;ust=1367030916697762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wmf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mtClean="0"/>
              <a:t>2017</a:t>
            </a:r>
            <a:r>
              <a:rPr lang="zh-CN" altLang="en-US" smtClean="0"/>
              <a:t>级</a:t>
            </a:r>
            <a:r>
              <a:rPr lang="zh-CN" altLang="en-US" dirty="0"/>
              <a:t>第四章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作业讲评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512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79512" y="116633"/>
                <a:ext cx="8784976" cy="59826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b="1" dirty="0"/>
                  <a:t>数字逻辑第二章练习题二</a:t>
                </a:r>
              </a:p>
              <a:p>
                <a:pPr lvl="0"/>
                <a:r>
                  <a:rPr lang="zh-CN" altLang="zh-CN" dirty="0"/>
                  <a:t>填空题：</a:t>
                </a:r>
              </a:p>
              <a:p>
                <a:r>
                  <a:rPr lang="en-US" altLang="zh-CN" dirty="0"/>
                  <a:t>1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A</m:t>
                    </m:r>
                    <m:r>
                      <a:rPr lang="zh-CN" altLang="zh-CN">
                        <a:latin typeface="Cambria Math" panose="02040503050406030204" pitchFamily="18" charset="0"/>
                      </a:rPr>
                      <m:t>⊙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zh-CN" altLang="zh-CN" dirty="0"/>
                  <a:t>的逻辑函数表达式是</a:t>
                </a:r>
                <a:r>
                  <a:rPr lang="en-US" altLang="zh-CN" u="sng" dirty="0"/>
                  <a:t>              </a:t>
                </a:r>
                <a:r>
                  <a:rPr lang="zh-CN" altLang="zh-CN" dirty="0"/>
                  <a:t>。</a:t>
                </a:r>
              </a:p>
              <a:p>
                <a:r>
                  <a:rPr lang="en-US" altLang="zh-CN" dirty="0"/>
                  <a:t>2	n</a:t>
                </a:r>
                <a:r>
                  <a:rPr lang="zh-CN" altLang="zh-CN" dirty="0"/>
                  <a:t>个变量可以构成</a:t>
                </a:r>
                <a:r>
                  <a:rPr lang="en-US" altLang="zh-CN" u="sng" dirty="0"/>
                  <a:t>              </a:t>
                </a:r>
                <a:r>
                  <a:rPr lang="zh-CN" altLang="zh-CN" dirty="0"/>
                  <a:t>个最大项。</a:t>
                </a:r>
              </a:p>
              <a:p>
                <a:r>
                  <a:rPr lang="en-US" altLang="zh-CN" dirty="0"/>
                  <a:t>3	</a:t>
                </a:r>
                <a:r>
                  <a:rPr lang="zh-CN" altLang="zh-CN" dirty="0"/>
                  <a:t>标准与或表达式是由</a:t>
                </a:r>
                <a:r>
                  <a:rPr lang="en-US" altLang="zh-CN" u="sng" dirty="0"/>
                  <a:t>                                                                </a:t>
                </a:r>
                <a:r>
                  <a:rPr lang="zh-CN" altLang="zh-CN" dirty="0"/>
                  <a:t>构成的逻辑表达式。</a:t>
                </a:r>
              </a:p>
              <a:p>
                <a:pPr marL="342900" indent="-342900">
                  <a:buAutoNum type="arabicPlain" startAt="4"/>
                </a:pPr>
                <a:r>
                  <a:rPr lang="zh-CN" altLang="zh-CN" dirty="0"/>
                  <a:t>逻辑函数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(1,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2,3,4,7)</m:t>
                        </m:r>
                      </m:e>
                    </m:nary>
                  </m:oMath>
                </a14:m>
                <a:r>
                  <a:rPr lang="zh-CN" altLang="zh-CN" dirty="0"/>
                  <a:t>可以表示成另一种标准形式</a:t>
                </a:r>
                <a:r>
                  <a:rPr lang="en-US" altLang="zh-CN" u="sng" dirty="0"/>
                  <a:t>          </a:t>
                </a:r>
              </a:p>
              <a:p>
                <a:r>
                  <a:rPr lang="en-US" altLang="zh-CN" u="sng" dirty="0"/>
                  <a:t>                                                          </a:t>
                </a:r>
                <a:r>
                  <a:rPr lang="zh-CN" altLang="zh-CN" dirty="0"/>
                  <a:t>。</a:t>
                </a:r>
              </a:p>
              <a:p>
                <a:r>
                  <a:rPr lang="en-US" altLang="zh-CN" dirty="0"/>
                  <a:t>5	</a:t>
                </a:r>
                <a:r>
                  <a:rPr lang="zh-CN" altLang="zh-CN" dirty="0"/>
                  <a:t>若逻辑函数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n"/>
                        <m:supHide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(0,2,5)</m:t>
                        </m:r>
                      </m:e>
                    </m:nary>
                  </m:oMath>
                </a14:m>
                <a:r>
                  <a:rPr lang="zh-CN" altLang="zh-CN" dirty="0"/>
                  <a:t>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‘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u="sng" dirty="0"/>
                  <a:t>              </a:t>
                </a:r>
                <a:r>
                  <a:rPr lang="zh-CN" altLang="zh-CN" dirty="0"/>
                  <a:t>。</a:t>
                </a:r>
              </a:p>
              <a:p>
                <a:r>
                  <a:rPr lang="en-US" altLang="zh-CN" dirty="0"/>
                  <a:t>6	</a:t>
                </a:r>
                <a:r>
                  <a:rPr lang="zh-CN" altLang="zh-CN" dirty="0"/>
                  <a:t>通用门电路通常指</a:t>
                </a:r>
                <a:r>
                  <a:rPr lang="en-US" altLang="zh-CN" u="sng" dirty="0"/>
                  <a:t>              </a:t>
                </a:r>
                <a:r>
                  <a:rPr lang="zh-CN" altLang="zh-CN" dirty="0"/>
                  <a:t>和</a:t>
                </a:r>
                <a:r>
                  <a:rPr lang="en-US" altLang="zh-CN" u="sng" dirty="0"/>
                  <a:t>              </a:t>
                </a:r>
                <a:r>
                  <a:rPr lang="zh-CN" altLang="zh-CN" dirty="0"/>
                  <a:t>。</a:t>
                </a:r>
              </a:p>
              <a:p>
                <a:pPr lvl="0"/>
                <a:r>
                  <a:rPr lang="zh-CN" altLang="zh-CN" dirty="0"/>
                  <a:t>写出下列各式的最小项表达式和最大项表达式</a:t>
                </a:r>
                <a:endParaRPr lang="en-US" altLang="zh-CN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(1,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2)</m:t>
                          </m:r>
                        </m:e>
                      </m:nary>
                    </m:oMath>
                  </m:oMathPara>
                </a14:m>
                <a:endParaRPr lang="zh-CN" altLang="zh-CN" dirty="0"/>
              </a:p>
              <a:p>
                <a:r>
                  <a:rPr lang="en-US" altLang="zh-CN" dirty="0"/>
                  <a:t> </a:t>
                </a:r>
                <a:endParaRPr lang="zh-CN" altLang="zh-CN" dirty="0"/>
              </a:p>
              <a:p>
                <a:r>
                  <a:rPr lang="en-US" altLang="zh-CN" dirty="0"/>
                  <a:t> </a:t>
                </a:r>
                <a:endParaRPr lang="zh-CN" altLang="zh-CN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,4,6,7)</m:t>
                          </m:r>
                        </m:e>
                      </m:nary>
                    </m:oMath>
                  </m:oMathPara>
                </a14:m>
                <a:endParaRPr lang="zh-CN" altLang="zh-CN" dirty="0"/>
              </a:p>
              <a:p>
                <a:r>
                  <a:rPr lang="en-US" altLang="zh-CN" dirty="0"/>
                  <a:t> </a:t>
                </a:r>
                <a:endParaRPr lang="zh-CN" altLang="zh-CN" dirty="0"/>
              </a:p>
              <a:p>
                <a:r>
                  <a:rPr lang="en-US" altLang="zh-CN" dirty="0"/>
                  <a:t> </a:t>
                </a:r>
                <a:endParaRPr lang="zh-CN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bHide m:val="on"/>
                          <m:supHide m:val="on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(0,1,3,4,5)</m:t>
                          </m:r>
                        </m:e>
                      </m:nary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16633"/>
                <a:ext cx="8784976" cy="5982600"/>
              </a:xfrm>
              <a:prstGeom prst="rect">
                <a:avLst/>
              </a:prstGeom>
              <a:blipFill rotWithShape="1">
                <a:blip r:embed="rId2"/>
                <a:stretch>
                  <a:fillRect l="-555" t="-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55976" y="476672"/>
                <a:ext cx="916085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 dirty="0">
                            <a:latin typeface="Cambria Math"/>
                          </a:rPr>
                          <m:t>𝐴</m:t>
                        </m:r>
                      </m:e>
                    </m:acc>
                    <m:r>
                      <a:rPr lang="en-US" altLang="zh-CN" b="0" i="1" dirty="0" smtClean="0">
                        <a:latin typeface="Cambria Math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dirty="0"/>
                  <a:t>+AB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476672"/>
                <a:ext cx="916085" cy="369909"/>
              </a:xfrm>
              <a:prstGeom prst="rect">
                <a:avLst/>
              </a:prstGeom>
              <a:blipFill rotWithShape="1">
                <a:blip r:embed="rId3"/>
                <a:stretch>
                  <a:fillRect t="-6557" r="-5333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16207" y="911589"/>
                <a:ext cx="4872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207" y="911589"/>
                <a:ext cx="487249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486732" y="1196752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若干最小项或运算（相或）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36949" y="1700808"/>
                <a:ext cx="6499566" cy="6469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001 010 011 100 111 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𝐵</m:t>
                          </m:r>
                        </m:e>
                      </m:acc>
                      <m:r>
                        <a:rPr lang="en-US" altLang="zh-CN" b="0" i="1" smtClean="0">
                          <a:latin typeface="Cambria Math"/>
                        </a:rPr>
                        <m:t>𝐶</m:t>
                      </m:r>
                      <m:r>
                        <a:rPr lang="en-US" altLang="zh-CN" b="0" i="1" smtClean="0">
                          <a:latin typeface="Cambria Math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𝐴</m:t>
                          </m:r>
                        </m:e>
                      </m:acc>
                      <m:r>
                        <a:rPr lang="en-US" altLang="zh-CN" b="0" i="1" smtClean="0">
                          <a:latin typeface="Cambria Math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𝐶</m:t>
                          </m:r>
                        </m:e>
                      </m:acc>
                      <m:r>
                        <a:rPr lang="en-US" altLang="zh-CN" b="0" i="1" smtClean="0">
                          <a:latin typeface="Cambria Math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𝐴</m:t>
                          </m:r>
                        </m:e>
                      </m:acc>
                      <m:r>
                        <a:rPr lang="en-US" altLang="zh-CN" b="0" i="1" smtClean="0">
                          <a:latin typeface="Cambria Math"/>
                        </a:rPr>
                        <m:t>𝐵𝐶</m:t>
                      </m:r>
                      <m:r>
                        <a:rPr lang="en-US" altLang="zh-CN" b="0" i="1" smtClean="0">
                          <a:latin typeface="Cambria Math"/>
                        </a:rPr>
                        <m:t>+</m:t>
                      </m:r>
                      <m:r>
                        <a:rPr lang="en-US" altLang="zh-CN" b="0" i="1" smtClean="0">
                          <a:latin typeface="Cambria Math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𝐶</m:t>
                          </m:r>
                        </m:e>
                      </m:acc>
                      <m:r>
                        <a:rPr lang="en-US" altLang="zh-CN" b="0" i="1" smtClean="0">
                          <a:latin typeface="Cambria Math"/>
                        </a:rPr>
                        <m:t>+</m:t>
                      </m:r>
                      <m:r>
                        <a:rPr lang="en-US" altLang="zh-CN" b="0" i="1" smtClean="0">
                          <a:latin typeface="Cambria Math"/>
                        </a:rPr>
                        <m:t>𝐴𝐵𝐶</m:t>
                      </m:r>
                      <m:r>
                        <a:rPr lang="en-US" altLang="zh-CN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49" y="1700808"/>
                <a:ext cx="6499566" cy="64690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946853" y="1378346"/>
                <a:ext cx="1010933" cy="763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subHide m:val="on"/>
                          <m:sup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𝑀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(0,5,6)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853" y="1378346"/>
                <a:ext cx="1010933" cy="763094"/>
              </a:xfrm>
              <a:prstGeom prst="rect">
                <a:avLst/>
              </a:prstGeom>
              <a:blipFill rotWithShape="1">
                <a:blip r:embed="rId6"/>
                <a:stretch>
                  <a:fillRect r="-3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5906435" y="1844824"/>
                <a:ext cx="1453218" cy="763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𝑚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(2,5,7)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6435" y="1844824"/>
                <a:ext cx="1453218" cy="76309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24104" y="2238586"/>
            <a:ext cx="1939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与非门       或非门</a:t>
            </a:r>
          </a:p>
        </p:txBody>
      </p:sp>
    </p:spTree>
    <p:extLst>
      <p:ext uri="{BB962C8B-B14F-4D97-AF65-F5344CB8AC3E}">
        <p14:creationId xmlns:p14="http://schemas.microsoft.com/office/powerpoint/2010/main" val="320997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78CC1C-CB9E-4B26-94E0-9FB201D68EB9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23555" name="Picture 2" descr="to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853440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5699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33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1800" b="1">
                <a:latin typeface="宋体" pitchFamily="2" charset="-122"/>
              </a:rPr>
              <a:t>习题课</a:t>
            </a:r>
          </a:p>
        </p:txBody>
      </p:sp>
      <p:pic>
        <p:nvPicPr>
          <p:cNvPr id="23557" name="Picture 4" descr="arrow3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8" name="Rectangle 5"/>
          <p:cNvSpPr>
            <a:spLocks noChangeArrowheads="1"/>
          </p:cNvSpPr>
          <p:nvPr/>
        </p:nvSpPr>
        <p:spPr bwMode="auto">
          <a:xfrm>
            <a:off x="2576513" y="2819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59" name="Rectangle 6"/>
          <p:cNvSpPr>
            <a:spLocks noChangeArrowheads="1"/>
          </p:cNvSpPr>
          <p:nvPr/>
        </p:nvSpPr>
        <p:spPr bwMode="auto">
          <a:xfrm>
            <a:off x="3862388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60" name="Rectangle 7"/>
          <p:cNvSpPr>
            <a:spLocks noChangeArrowheads="1"/>
          </p:cNvSpPr>
          <p:nvPr/>
        </p:nvSpPr>
        <p:spPr bwMode="auto">
          <a:xfrm>
            <a:off x="3824288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61" name="Rectangle 8"/>
          <p:cNvSpPr>
            <a:spLocks noChangeArrowheads="1"/>
          </p:cNvSpPr>
          <p:nvPr/>
        </p:nvSpPr>
        <p:spPr bwMode="auto">
          <a:xfrm>
            <a:off x="365760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62" name="Rectangle 9"/>
          <p:cNvSpPr>
            <a:spLocks noChangeArrowheads="1"/>
          </p:cNvSpPr>
          <p:nvPr/>
        </p:nvSpPr>
        <p:spPr bwMode="auto">
          <a:xfrm>
            <a:off x="358140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23563" name="Picture 25" descr="arrow34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4" name="Rectangle 27"/>
          <p:cNvSpPr>
            <a:spLocks noChangeArrowheads="1"/>
          </p:cNvSpPr>
          <p:nvPr/>
        </p:nvSpPr>
        <p:spPr bwMode="auto">
          <a:xfrm>
            <a:off x="327660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23565" name="Group 29"/>
          <p:cNvGrpSpPr>
            <a:grpSpLocks/>
          </p:cNvGrpSpPr>
          <p:nvPr/>
        </p:nvGrpSpPr>
        <p:grpSpPr bwMode="auto">
          <a:xfrm>
            <a:off x="304800" y="736600"/>
            <a:ext cx="8229600" cy="1612900"/>
            <a:chOff x="192" y="464"/>
            <a:chExt cx="5184" cy="1016"/>
          </a:xfrm>
        </p:grpSpPr>
        <p:sp>
          <p:nvSpPr>
            <p:cNvPr id="23602" name="Rectangle 11"/>
            <p:cNvSpPr>
              <a:spLocks noChangeArrowheads="1"/>
            </p:cNvSpPr>
            <p:nvPr/>
          </p:nvSpPr>
          <p:spPr bwMode="auto">
            <a:xfrm>
              <a:off x="192" y="464"/>
              <a:ext cx="5184" cy="9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GB">
                  <a:latin typeface="Times New Roman" pitchFamily="18" charset="0"/>
                  <a:cs typeface="Times New Roman" pitchFamily="18" charset="0"/>
                </a:rPr>
                <a:t>2.</a:t>
              </a:r>
              <a:r>
                <a:rPr lang="zh-CN" altLang="en-GB">
                  <a:latin typeface="Times New Roman" pitchFamily="18" charset="0"/>
                </a:rPr>
                <a:t>7     </a:t>
              </a:r>
              <a:r>
                <a:rPr lang="zh-CN" altLang="en-US">
                  <a:cs typeface="Times New Roman" pitchFamily="18" charset="0"/>
                </a:rPr>
                <a:t>将下列逻辑函数表示成</a:t>
              </a:r>
              <a:r>
                <a:rPr lang="zh-CN" altLang="en-US">
                  <a:latin typeface="Times New Roman" pitchFamily="18" charset="0"/>
                  <a:cs typeface="Times New Roman" pitchFamily="18" charset="0"/>
                </a:rPr>
                <a:t>“</a:t>
              </a:r>
              <a:r>
                <a:rPr lang="zh-CN" altLang="en-US">
                  <a:cs typeface="Times New Roman" pitchFamily="18" charset="0"/>
                </a:rPr>
                <a:t>最小项之和</a:t>
              </a:r>
              <a:r>
                <a:rPr lang="zh-CN" altLang="en-US">
                  <a:latin typeface="Times New Roman" pitchFamily="18" charset="0"/>
                  <a:cs typeface="Times New Roman" pitchFamily="18" charset="0"/>
                </a:rPr>
                <a:t>”</a:t>
              </a:r>
              <a:r>
                <a:rPr lang="zh-CN" altLang="en-US">
                  <a:cs typeface="Times New Roman" pitchFamily="18" charset="0"/>
                </a:rPr>
                <a:t>及</a:t>
              </a:r>
              <a:r>
                <a:rPr lang="zh-CN" altLang="en-US">
                  <a:latin typeface="Times New Roman" pitchFamily="18" charset="0"/>
                  <a:cs typeface="Times New Roman" pitchFamily="18" charset="0"/>
                </a:rPr>
                <a:t>“</a:t>
              </a:r>
              <a:r>
                <a:rPr lang="zh-CN" altLang="en-US">
                  <a:cs typeface="Times New Roman" pitchFamily="18" charset="0"/>
                </a:rPr>
                <a:t>最大项之积</a:t>
              </a:r>
              <a:r>
                <a:rPr lang="zh-CN" altLang="en-US">
                  <a:latin typeface="Times New Roman" pitchFamily="18" charset="0"/>
                  <a:cs typeface="Times New Roman" pitchFamily="18" charset="0"/>
                </a:rPr>
                <a:t>”</a:t>
              </a:r>
              <a:r>
                <a:rPr lang="zh-CN" altLang="en-US">
                  <a:cs typeface="Times New Roman" pitchFamily="18" charset="0"/>
                </a:rPr>
                <a:t>形式 。</a:t>
              </a:r>
            </a:p>
            <a:p>
              <a:pPr algn="l"/>
              <a:r>
                <a:rPr lang="zh-CN" altLang="en-US">
                  <a:cs typeface="Times New Roman" pitchFamily="18" charset="0"/>
                </a:rPr>
                <a:t>     </a:t>
              </a:r>
              <a:r>
                <a:rPr lang="zh-CN" altLang="en-US"/>
                <a:t>（</a:t>
              </a:r>
              <a:r>
                <a:rPr lang="en-US" altLang="zh-CN"/>
                <a:t>1</a:t>
              </a:r>
              <a:r>
                <a:rPr lang="zh-CN" altLang="en-US"/>
                <a:t>）</a:t>
              </a:r>
            </a:p>
            <a:p>
              <a:pPr algn="l"/>
              <a:r>
                <a:rPr lang="zh-CN" altLang="en-US"/>
                <a:t>     （</a:t>
              </a:r>
              <a:r>
                <a:rPr lang="en-US" altLang="zh-CN"/>
                <a:t>2</a:t>
              </a:r>
              <a:r>
                <a:rPr lang="zh-CN" altLang="en-US"/>
                <a:t>）</a:t>
              </a:r>
            </a:p>
          </p:txBody>
        </p:sp>
        <p:graphicFrame>
          <p:nvGraphicFramePr>
            <p:cNvPr id="23603" name="Object 26"/>
            <p:cNvGraphicFramePr>
              <a:graphicFrameLocks noChangeAspect="1"/>
            </p:cNvGraphicFramePr>
            <p:nvPr/>
          </p:nvGraphicFramePr>
          <p:xfrm>
            <a:off x="1288" y="909"/>
            <a:ext cx="3285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r:id="rId6" imgW="2590800" imgH="241300" progId="Equation.3">
                    <p:embed/>
                  </p:oleObj>
                </mc:Choice>
                <mc:Fallback>
                  <p:oleObj r:id="rId6" imgW="25908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8" y="909"/>
                          <a:ext cx="3285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04" name="Object 28"/>
            <p:cNvGraphicFramePr>
              <a:graphicFrameLocks noChangeAspect="1"/>
            </p:cNvGraphicFramePr>
            <p:nvPr/>
          </p:nvGraphicFramePr>
          <p:xfrm>
            <a:off x="1248" y="1176"/>
            <a:ext cx="288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Equation" r:id="rId8" imgW="2895600" imgH="304800" progId="Equation.3">
                    <p:embed/>
                  </p:oleObj>
                </mc:Choice>
                <mc:Fallback>
                  <p:oleObj name="Equation" r:id="rId8" imgW="2895600" imgH="304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176"/>
                          <a:ext cx="2888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fol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5790" name="Group 94"/>
          <p:cNvGrpSpPr>
            <a:grpSpLocks/>
          </p:cNvGrpSpPr>
          <p:nvPr/>
        </p:nvGrpSpPr>
        <p:grpSpPr bwMode="auto">
          <a:xfrm>
            <a:off x="381000" y="2565400"/>
            <a:ext cx="8153400" cy="822325"/>
            <a:chOff x="240" y="1616"/>
            <a:chExt cx="5136" cy="518"/>
          </a:xfrm>
        </p:grpSpPr>
        <p:sp>
          <p:nvSpPr>
            <p:cNvPr id="23600" name="Rectangle 18"/>
            <p:cNvSpPr>
              <a:spLocks noChangeArrowheads="1"/>
            </p:cNvSpPr>
            <p:nvPr/>
          </p:nvSpPr>
          <p:spPr bwMode="auto">
            <a:xfrm>
              <a:off x="240" y="1616"/>
              <a:ext cx="5136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lang="zh-CN" altLang="en-GB">
                  <a:solidFill>
                    <a:srgbClr val="FA2B08"/>
                  </a:solidFill>
                </a:rPr>
                <a:t>解答：</a:t>
              </a:r>
            </a:p>
            <a:p>
              <a:pPr algn="just"/>
              <a:r>
                <a:rPr lang="zh-CN" altLang="en-GB"/>
                <a:t>	(1)</a:t>
              </a:r>
              <a:endParaRPr lang="en-US" altLang="zh-CN" b="0"/>
            </a:p>
          </p:txBody>
        </p:sp>
        <p:graphicFrame>
          <p:nvGraphicFramePr>
            <p:cNvPr id="23601" name="Object 30"/>
            <p:cNvGraphicFramePr>
              <a:graphicFrameLocks noChangeAspect="1"/>
            </p:cNvGraphicFramePr>
            <p:nvPr/>
          </p:nvGraphicFramePr>
          <p:xfrm>
            <a:off x="1256" y="1829"/>
            <a:ext cx="3285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r:id="rId10" imgW="2590800" imgH="241300" progId="Equation.3">
                    <p:embed/>
                  </p:oleObj>
                </mc:Choice>
                <mc:Fallback>
                  <p:oleObj r:id="rId10" imgW="25908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6" y="1829"/>
                          <a:ext cx="3285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67" name="Rectangle 40"/>
          <p:cNvSpPr>
            <a:spLocks noChangeArrowheads="1"/>
          </p:cNvSpPr>
          <p:nvPr/>
        </p:nvSpPr>
        <p:spPr bwMode="auto">
          <a:xfrm>
            <a:off x="2665413" y="5318125"/>
            <a:ext cx="72707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b="0">
                <a:latin typeface="Times New Roman" pitchFamily="18" charset="0"/>
              </a:rPr>
              <a:t>1</a:t>
            </a:r>
            <a:endParaRPr lang="en-US" altLang="zh-CN" b="0" baseline="-30000">
              <a:latin typeface="Times New Roman" pitchFamily="18" charset="0"/>
            </a:endParaRPr>
          </a:p>
        </p:txBody>
      </p:sp>
      <p:sp>
        <p:nvSpPr>
          <p:cNvPr id="285740" name="Rectangle 44"/>
          <p:cNvSpPr>
            <a:spLocks noChangeArrowheads="1"/>
          </p:cNvSpPr>
          <p:nvPr/>
        </p:nvSpPr>
        <p:spPr bwMode="auto">
          <a:xfrm>
            <a:off x="2670175" y="4772025"/>
            <a:ext cx="72707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b="0">
                <a:latin typeface="Times New Roman" pitchFamily="18" charset="0"/>
              </a:rPr>
              <a:t>1 </a:t>
            </a:r>
          </a:p>
        </p:txBody>
      </p:sp>
      <p:grpSp>
        <p:nvGrpSpPr>
          <p:cNvPr id="285785" name="Group 89"/>
          <p:cNvGrpSpPr>
            <a:grpSpLocks/>
          </p:cNvGrpSpPr>
          <p:nvPr/>
        </p:nvGrpSpPr>
        <p:grpSpPr bwMode="auto">
          <a:xfrm>
            <a:off x="1941513" y="4772025"/>
            <a:ext cx="728662" cy="1552575"/>
            <a:chOff x="1223" y="3142"/>
            <a:chExt cx="459" cy="978"/>
          </a:xfrm>
        </p:grpSpPr>
        <p:sp>
          <p:nvSpPr>
            <p:cNvPr id="23597" name="Rectangle 35"/>
            <p:cNvSpPr>
              <a:spLocks noChangeArrowheads="1"/>
            </p:cNvSpPr>
            <p:nvPr/>
          </p:nvSpPr>
          <p:spPr bwMode="auto">
            <a:xfrm>
              <a:off x="1223" y="3794"/>
              <a:ext cx="459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3598" name="Rectangle 39"/>
            <p:cNvSpPr>
              <a:spLocks noChangeArrowheads="1"/>
            </p:cNvSpPr>
            <p:nvPr/>
          </p:nvSpPr>
          <p:spPr bwMode="auto">
            <a:xfrm>
              <a:off x="1223" y="3506"/>
              <a:ext cx="459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GB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3599" name="Rectangle 45"/>
            <p:cNvSpPr>
              <a:spLocks noChangeArrowheads="1"/>
            </p:cNvSpPr>
            <p:nvPr/>
          </p:nvSpPr>
          <p:spPr bwMode="auto">
            <a:xfrm>
              <a:off x="1223" y="3142"/>
              <a:ext cx="459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 </a:t>
              </a:r>
            </a:p>
          </p:txBody>
        </p:sp>
      </p:grpSp>
      <p:grpSp>
        <p:nvGrpSpPr>
          <p:cNvPr id="285786" name="Group 90"/>
          <p:cNvGrpSpPr>
            <a:grpSpLocks/>
          </p:cNvGrpSpPr>
          <p:nvPr/>
        </p:nvGrpSpPr>
        <p:grpSpPr bwMode="auto">
          <a:xfrm>
            <a:off x="1954213" y="4267200"/>
            <a:ext cx="1450975" cy="530225"/>
            <a:chOff x="1231" y="2824"/>
            <a:chExt cx="914" cy="334"/>
          </a:xfrm>
        </p:grpSpPr>
        <p:sp>
          <p:nvSpPr>
            <p:cNvPr id="23595" name="Rectangle 41"/>
            <p:cNvSpPr>
              <a:spLocks noChangeArrowheads="1"/>
            </p:cNvSpPr>
            <p:nvPr/>
          </p:nvSpPr>
          <p:spPr bwMode="auto">
            <a:xfrm>
              <a:off x="1687" y="2824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3596" name="Rectangle 47"/>
            <p:cNvSpPr>
              <a:spLocks noChangeArrowheads="1"/>
            </p:cNvSpPr>
            <p:nvPr/>
          </p:nvSpPr>
          <p:spPr bwMode="auto">
            <a:xfrm>
              <a:off x="1231" y="2832"/>
              <a:ext cx="459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 </a:t>
              </a:r>
            </a:p>
          </p:txBody>
        </p:sp>
      </p:grpSp>
      <p:grpSp>
        <p:nvGrpSpPr>
          <p:cNvPr id="285784" name="Group 88"/>
          <p:cNvGrpSpPr>
            <a:grpSpLocks/>
          </p:cNvGrpSpPr>
          <p:nvPr/>
        </p:nvGrpSpPr>
        <p:grpSpPr bwMode="auto">
          <a:xfrm>
            <a:off x="469900" y="3551238"/>
            <a:ext cx="3659188" cy="2790825"/>
            <a:chOff x="296" y="2373"/>
            <a:chExt cx="2305" cy="1758"/>
          </a:xfrm>
        </p:grpSpPr>
        <p:sp>
          <p:nvSpPr>
            <p:cNvPr id="23574" name="Line 48"/>
            <p:cNvSpPr>
              <a:spLocks noChangeShapeType="1"/>
            </p:cNvSpPr>
            <p:nvPr/>
          </p:nvSpPr>
          <p:spPr bwMode="auto">
            <a:xfrm>
              <a:off x="767" y="2827"/>
              <a:ext cx="183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575" name="Line 49"/>
            <p:cNvSpPr>
              <a:spLocks noChangeShapeType="1"/>
            </p:cNvSpPr>
            <p:nvPr/>
          </p:nvSpPr>
          <p:spPr bwMode="auto">
            <a:xfrm>
              <a:off x="767" y="3153"/>
              <a:ext cx="183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576" name="Line 50"/>
            <p:cNvSpPr>
              <a:spLocks noChangeShapeType="1"/>
            </p:cNvSpPr>
            <p:nvPr/>
          </p:nvSpPr>
          <p:spPr bwMode="auto">
            <a:xfrm>
              <a:off x="767" y="4131"/>
              <a:ext cx="183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577" name="Line 51"/>
            <p:cNvSpPr>
              <a:spLocks noChangeShapeType="1"/>
            </p:cNvSpPr>
            <p:nvPr/>
          </p:nvSpPr>
          <p:spPr bwMode="auto">
            <a:xfrm>
              <a:off x="767" y="2827"/>
              <a:ext cx="0" cy="130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578" name="Line 52"/>
            <p:cNvSpPr>
              <a:spLocks noChangeShapeType="1"/>
            </p:cNvSpPr>
            <p:nvPr/>
          </p:nvSpPr>
          <p:spPr bwMode="auto">
            <a:xfrm>
              <a:off x="1226" y="2827"/>
              <a:ext cx="0" cy="1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579" name="Line 53"/>
            <p:cNvSpPr>
              <a:spLocks noChangeShapeType="1"/>
            </p:cNvSpPr>
            <p:nvPr/>
          </p:nvSpPr>
          <p:spPr bwMode="auto">
            <a:xfrm>
              <a:off x="2601" y="2827"/>
              <a:ext cx="0" cy="130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580" name="Line 54"/>
            <p:cNvSpPr>
              <a:spLocks noChangeShapeType="1"/>
            </p:cNvSpPr>
            <p:nvPr/>
          </p:nvSpPr>
          <p:spPr bwMode="auto">
            <a:xfrm>
              <a:off x="1684" y="2827"/>
              <a:ext cx="0" cy="1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581" name="Line 55"/>
            <p:cNvSpPr>
              <a:spLocks noChangeShapeType="1"/>
            </p:cNvSpPr>
            <p:nvPr/>
          </p:nvSpPr>
          <p:spPr bwMode="auto">
            <a:xfrm>
              <a:off x="2143" y="2827"/>
              <a:ext cx="0" cy="1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582" name="Line 56"/>
            <p:cNvSpPr>
              <a:spLocks noChangeShapeType="1"/>
            </p:cNvSpPr>
            <p:nvPr/>
          </p:nvSpPr>
          <p:spPr bwMode="auto">
            <a:xfrm>
              <a:off x="767" y="3479"/>
              <a:ext cx="183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583" name="Line 57"/>
            <p:cNvSpPr>
              <a:spLocks noChangeShapeType="1"/>
            </p:cNvSpPr>
            <p:nvPr/>
          </p:nvSpPr>
          <p:spPr bwMode="auto">
            <a:xfrm>
              <a:off x="767" y="3805"/>
              <a:ext cx="183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584" name="Line 58"/>
            <p:cNvSpPr>
              <a:spLocks noChangeShapeType="1"/>
            </p:cNvSpPr>
            <p:nvPr/>
          </p:nvSpPr>
          <p:spPr bwMode="auto">
            <a:xfrm>
              <a:off x="526" y="2587"/>
              <a:ext cx="24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585" name="Text Box 59"/>
            <p:cNvSpPr txBox="1">
              <a:spLocks noChangeArrowheads="1"/>
            </p:cNvSpPr>
            <p:nvPr/>
          </p:nvSpPr>
          <p:spPr bwMode="auto">
            <a:xfrm>
              <a:off x="824" y="255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00</a:t>
              </a:r>
            </a:p>
          </p:txBody>
        </p:sp>
        <p:sp>
          <p:nvSpPr>
            <p:cNvPr id="23586" name="Text Box 60"/>
            <p:cNvSpPr txBox="1">
              <a:spLocks noChangeArrowheads="1"/>
            </p:cNvSpPr>
            <p:nvPr/>
          </p:nvSpPr>
          <p:spPr bwMode="auto">
            <a:xfrm>
              <a:off x="1304" y="254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01</a:t>
              </a:r>
            </a:p>
          </p:txBody>
        </p:sp>
        <p:sp>
          <p:nvSpPr>
            <p:cNvPr id="23587" name="Text Box 61"/>
            <p:cNvSpPr txBox="1">
              <a:spLocks noChangeArrowheads="1"/>
            </p:cNvSpPr>
            <p:nvPr/>
          </p:nvSpPr>
          <p:spPr bwMode="auto">
            <a:xfrm>
              <a:off x="1763" y="254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23588" name="Text Box 62"/>
            <p:cNvSpPr txBox="1">
              <a:spLocks noChangeArrowheads="1"/>
            </p:cNvSpPr>
            <p:nvPr/>
          </p:nvSpPr>
          <p:spPr bwMode="auto">
            <a:xfrm>
              <a:off x="2208" y="253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23589" name="Text Box 63"/>
            <p:cNvSpPr txBox="1">
              <a:spLocks noChangeArrowheads="1"/>
            </p:cNvSpPr>
            <p:nvPr/>
          </p:nvSpPr>
          <p:spPr bwMode="auto">
            <a:xfrm>
              <a:off x="537" y="2373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AB</a:t>
              </a:r>
            </a:p>
          </p:txBody>
        </p:sp>
        <p:sp>
          <p:nvSpPr>
            <p:cNvPr id="23590" name="Text Box 64"/>
            <p:cNvSpPr txBox="1">
              <a:spLocks noChangeArrowheads="1"/>
            </p:cNvSpPr>
            <p:nvPr/>
          </p:nvSpPr>
          <p:spPr bwMode="auto">
            <a:xfrm>
              <a:off x="296" y="2613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CD</a:t>
              </a:r>
            </a:p>
          </p:txBody>
        </p:sp>
        <p:sp>
          <p:nvSpPr>
            <p:cNvPr id="23591" name="Text Box 65"/>
            <p:cNvSpPr txBox="1">
              <a:spLocks noChangeArrowheads="1"/>
            </p:cNvSpPr>
            <p:nvPr/>
          </p:nvSpPr>
          <p:spPr bwMode="auto">
            <a:xfrm>
              <a:off x="440" y="2853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00</a:t>
              </a:r>
            </a:p>
          </p:txBody>
        </p:sp>
        <p:sp>
          <p:nvSpPr>
            <p:cNvPr id="23592" name="Text Box 66"/>
            <p:cNvSpPr txBox="1">
              <a:spLocks noChangeArrowheads="1"/>
            </p:cNvSpPr>
            <p:nvPr/>
          </p:nvSpPr>
          <p:spPr bwMode="auto">
            <a:xfrm>
              <a:off x="449" y="3189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01</a:t>
              </a:r>
            </a:p>
          </p:txBody>
        </p:sp>
        <p:sp>
          <p:nvSpPr>
            <p:cNvPr id="23593" name="Text Box 67"/>
            <p:cNvSpPr txBox="1">
              <a:spLocks noChangeArrowheads="1"/>
            </p:cNvSpPr>
            <p:nvPr/>
          </p:nvSpPr>
          <p:spPr bwMode="auto">
            <a:xfrm>
              <a:off x="449" y="3525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23594" name="Text Box 68"/>
            <p:cNvSpPr txBox="1">
              <a:spLocks noChangeArrowheads="1"/>
            </p:cNvSpPr>
            <p:nvPr/>
          </p:nvSpPr>
          <p:spPr bwMode="auto">
            <a:xfrm>
              <a:off x="431" y="3825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10</a:t>
              </a:r>
            </a:p>
          </p:txBody>
        </p:sp>
      </p:grpSp>
      <p:sp>
        <p:nvSpPr>
          <p:cNvPr id="23572" name="Text Box 87"/>
          <p:cNvSpPr txBox="1">
            <a:spLocks noChangeArrowheads="1"/>
          </p:cNvSpPr>
          <p:nvPr/>
        </p:nvSpPr>
        <p:spPr bwMode="auto">
          <a:xfrm>
            <a:off x="2413000" y="67310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endParaRPr lang="en-US" altLang="zh-CN">
              <a:latin typeface="Times New Roman" pitchFamily="18" charset="0"/>
            </a:endParaRPr>
          </a:p>
        </p:txBody>
      </p:sp>
      <p:sp>
        <p:nvSpPr>
          <p:cNvPr id="285789" name="Text Box 93"/>
          <p:cNvSpPr txBox="1">
            <a:spLocks noChangeArrowheads="1"/>
          </p:cNvSpPr>
          <p:nvPr/>
        </p:nvSpPr>
        <p:spPr bwMode="auto">
          <a:xfrm>
            <a:off x="4424363" y="4275138"/>
            <a:ext cx="4040187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r>
              <a:rPr lang="zh-CN" altLang="en-US"/>
              <a:t>所以，</a:t>
            </a:r>
            <a:r>
              <a:rPr lang="en-US" altLang="zh-CN"/>
              <a:t>F</a:t>
            </a:r>
            <a:r>
              <a:rPr lang="zh-CN" altLang="en-US"/>
              <a:t>（</a:t>
            </a:r>
            <a:r>
              <a:rPr lang="en-US" altLang="zh-CN"/>
              <a:t>A,B,C,D</a:t>
            </a:r>
            <a:r>
              <a:rPr lang="zh-CN" altLang="en-US"/>
              <a:t>）</a:t>
            </a:r>
          </a:p>
          <a:p>
            <a:pPr eaLnBrk="1" hangingPunct="1"/>
            <a:endParaRPr lang="zh-CN" altLang="en-US"/>
          </a:p>
          <a:p>
            <a:pPr eaLnBrk="1" hangingPunct="1"/>
            <a:r>
              <a:rPr lang="en-US" altLang="zh-CN" b="0"/>
              <a:t>=</a:t>
            </a:r>
            <a:r>
              <a:rPr lang="en-US" altLang="zh-CN" b="0">
                <a:sym typeface="Symbol" pitchFamily="18" charset="2"/>
              </a:rPr>
              <a:t>m(4-7,12-15)</a:t>
            </a:r>
          </a:p>
          <a:p>
            <a:pPr eaLnBrk="1" hangingPunct="1"/>
            <a:endParaRPr lang="en-US" altLang="zh-CN" b="0">
              <a:sym typeface="Symbol" pitchFamily="18" charset="2"/>
            </a:endParaRPr>
          </a:p>
          <a:p>
            <a:pPr eaLnBrk="1" hangingPunct="1"/>
            <a:r>
              <a:rPr lang="en-US" altLang="zh-CN" b="0">
                <a:sym typeface="Symbol" pitchFamily="18" charset="2"/>
              </a:rPr>
              <a:t>=M(0-3,8-11)</a:t>
            </a:r>
            <a:endParaRPr lang="en-US" altLang="zh-CN" b="0"/>
          </a:p>
        </p:txBody>
      </p:sp>
    </p:spTree>
    <p:extLst>
      <p:ext uri="{BB962C8B-B14F-4D97-AF65-F5344CB8AC3E}">
        <p14:creationId xmlns:p14="http://schemas.microsoft.com/office/powerpoint/2010/main" val="371221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40" grpId="0" autoUpdateAnimBg="0"/>
      <p:bldP spid="28578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D14201-12B9-48E4-A193-B26B6AFD0646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24579" name="Picture 2" descr="to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853440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63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33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1800" b="1">
                <a:latin typeface="宋体" pitchFamily="2" charset="-122"/>
              </a:rPr>
              <a:t>习题课</a:t>
            </a:r>
          </a:p>
        </p:txBody>
      </p:sp>
      <p:pic>
        <p:nvPicPr>
          <p:cNvPr id="24581" name="Picture 4" descr="arrow3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Rectangle 5"/>
          <p:cNvSpPr>
            <a:spLocks noChangeArrowheads="1"/>
          </p:cNvSpPr>
          <p:nvPr/>
        </p:nvSpPr>
        <p:spPr bwMode="auto">
          <a:xfrm>
            <a:off x="2576513" y="2819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4583" name="Rectangle 6"/>
          <p:cNvSpPr>
            <a:spLocks noChangeArrowheads="1"/>
          </p:cNvSpPr>
          <p:nvPr/>
        </p:nvSpPr>
        <p:spPr bwMode="auto">
          <a:xfrm>
            <a:off x="3862388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4584" name="Rectangle 7"/>
          <p:cNvSpPr>
            <a:spLocks noChangeArrowheads="1"/>
          </p:cNvSpPr>
          <p:nvPr/>
        </p:nvSpPr>
        <p:spPr bwMode="auto">
          <a:xfrm>
            <a:off x="3824288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4585" name="Rectangle 8"/>
          <p:cNvSpPr>
            <a:spLocks noChangeArrowheads="1"/>
          </p:cNvSpPr>
          <p:nvPr/>
        </p:nvSpPr>
        <p:spPr bwMode="auto">
          <a:xfrm>
            <a:off x="365760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4586" name="Rectangle 9"/>
          <p:cNvSpPr>
            <a:spLocks noChangeArrowheads="1"/>
          </p:cNvSpPr>
          <p:nvPr/>
        </p:nvSpPr>
        <p:spPr bwMode="auto">
          <a:xfrm>
            <a:off x="358140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24587" name="Picture 10" descr="arrow34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8" name="Rectangle 11"/>
          <p:cNvSpPr>
            <a:spLocks noChangeArrowheads="1"/>
          </p:cNvSpPr>
          <p:nvPr/>
        </p:nvSpPr>
        <p:spPr bwMode="auto">
          <a:xfrm>
            <a:off x="327660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24589" name="Group 83"/>
          <p:cNvGrpSpPr>
            <a:grpSpLocks/>
          </p:cNvGrpSpPr>
          <p:nvPr/>
        </p:nvGrpSpPr>
        <p:grpSpPr bwMode="auto">
          <a:xfrm>
            <a:off x="368300" y="762000"/>
            <a:ext cx="8153400" cy="838200"/>
            <a:chOff x="232" y="480"/>
            <a:chExt cx="5136" cy="528"/>
          </a:xfrm>
        </p:grpSpPr>
        <p:graphicFrame>
          <p:nvGraphicFramePr>
            <p:cNvPr id="24632" name="Object 15"/>
            <p:cNvGraphicFramePr>
              <a:graphicFrameLocks noChangeAspect="1"/>
            </p:cNvGraphicFramePr>
            <p:nvPr/>
          </p:nvGraphicFramePr>
          <p:xfrm>
            <a:off x="1208" y="704"/>
            <a:ext cx="288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8" name="Equation" r:id="rId6" imgW="2895600" imgH="304800" progId="Equation.3">
                    <p:embed/>
                  </p:oleObj>
                </mc:Choice>
                <mc:Fallback>
                  <p:oleObj name="Equation" r:id="rId6" imgW="2895600" imgH="304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8" y="704"/>
                          <a:ext cx="2888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fol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33" name="Rectangle 17"/>
            <p:cNvSpPr>
              <a:spLocks noChangeArrowheads="1"/>
            </p:cNvSpPr>
            <p:nvPr/>
          </p:nvSpPr>
          <p:spPr bwMode="auto">
            <a:xfrm>
              <a:off x="232" y="480"/>
              <a:ext cx="5136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lang="zh-CN" altLang="en-GB">
                  <a:solidFill>
                    <a:srgbClr val="FA2B08"/>
                  </a:solidFill>
                </a:rPr>
                <a:t>解答：</a:t>
              </a:r>
            </a:p>
            <a:p>
              <a:pPr algn="just"/>
              <a:r>
                <a:rPr lang="zh-CN" altLang="en-GB"/>
                <a:t>	(2)</a:t>
              </a:r>
              <a:endParaRPr lang="en-US" altLang="zh-CN" b="0"/>
            </a:p>
          </p:txBody>
        </p:sp>
      </p:grpSp>
      <p:grpSp>
        <p:nvGrpSpPr>
          <p:cNvPr id="296988" name="Group 28"/>
          <p:cNvGrpSpPr>
            <a:grpSpLocks/>
          </p:cNvGrpSpPr>
          <p:nvPr/>
        </p:nvGrpSpPr>
        <p:grpSpPr bwMode="auto">
          <a:xfrm>
            <a:off x="469900" y="2814638"/>
            <a:ext cx="3659188" cy="2790825"/>
            <a:chOff x="296" y="2373"/>
            <a:chExt cx="2305" cy="1758"/>
          </a:xfrm>
        </p:grpSpPr>
        <p:sp>
          <p:nvSpPr>
            <p:cNvPr id="24611" name="Line 29"/>
            <p:cNvSpPr>
              <a:spLocks noChangeShapeType="1"/>
            </p:cNvSpPr>
            <p:nvPr/>
          </p:nvSpPr>
          <p:spPr bwMode="auto">
            <a:xfrm>
              <a:off x="767" y="2827"/>
              <a:ext cx="183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612" name="Line 30"/>
            <p:cNvSpPr>
              <a:spLocks noChangeShapeType="1"/>
            </p:cNvSpPr>
            <p:nvPr/>
          </p:nvSpPr>
          <p:spPr bwMode="auto">
            <a:xfrm>
              <a:off x="767" y="3153"/>
              <a:ext cx="183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613" name="Line 31"/>
            <p:cNvSpPr>
              <a:spLocks noChangeShapeType="1"/>
            </p:cNvSpPr>
            <p:nvPr/>
          </p:nvSpPr>
          <p:spPr bwMode="auto">
            <a:xfrm>
              <a:off x="767" y="4131"/>
              <a:ext cx="183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614" name="Line 32"/>
            <p:cNvSpPr>
              <a:spLocks noChangeShapeType="1"/>
            </p:cNvSpPr>
            <p:nvPr/>
          </p:nvSpPr>
          <p:spPr bwMode="auto">
            <a:xfrm>
              <a:off x="767" y="2827"/>
              <a:ext cx="0" cy="130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615" name="Line 33"/>
            <p:cNvSpPr>
              <a:spLocks noChangeShapeType="1"/>
            </p:cNvSpPr>
            <p:nvPr/>
          </p:nvSpPr>
          <p:spPr bwMode="auto">
            <a:xfrm>
              <a:off x="1226" y="2827"/>
              <a:ext cx="0" cy="1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616" name="Line 34"/>
            <p:cNvSpPr>
              <a:spLocks noChangeShapeType="1"/>
            </p:cNvSpPr>
            <p:nvPr/>
          </p:nvSpPr>
          <p:spPr bwMode="auto">
            <a:xfrm>
              <a:off x="2601" y="2827"/>
              <a:ext cx="0" cy="130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617" name="Line 35"/>
            <p:cNvSpPr>
              <a:spLocks noChangeShapeType="1"/>
            </p:cNvSpPr>
            <p:nvPr/>
          </p:nvSpPr>
          <p:spPr bwMode="auto">
            <a:xfrm>
              <a:off x="1684" y="2827"/>
              <a:ext cx="0" cy="1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618" name="Line 36"/>
            <p:cNvSpPr>
              <a:spLocks noChangeShapeType="1"/>
            </p:cNvSpPr>
            <p:nvPr/>
          </p:nvSpPr>
          <p:spPr bwMode="auto">
            <a:xfrm>
              <a:off x="2143" y="2827"/>
              <a:ext cx="0" cy="1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619" name="Line 37"/>
            <p:cNvSpPr>
              <a:spLocks noChangeShapeType="1"/>
            </p:cNvSpPr>
            <p:nvPr/>
          </p:nvSpPr>
          <p:spPr bwMode="auto">
            <a:xfrm>
              <a:off x="767" y="3479"/>
              <a:ext cx="183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620" name="Line 38"/>
            <p:cNvSpPr>
              <a:spLocks noChangeShapeType="1"/>
            </p:cNvSpPr>
            <p:nvPr/>
          </p:nvSpPr>
          <p:spPr bwMode="auto">
            <a:xfrm>
              <a:off x="767" y="3805"/>
              <a:ext cx="183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621" name="Line 39"/>
            <p:cNvSpPr>
              <a:spLocks noChangeShapeType="1"/>
            </p:cNvSpPr>
            <p:nvPr/>
          </p:nvSpPr>
          <p:spPr bwMode="auto">
            <a:xfrm>
              <a:off x="526" y="2587"/>
              <a:ext cx="24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622" name="Text Box 40"/>
            <p:cNvSpPr txBox="1">
              <a:spLocks noChangeArrowheads="1"/>
            </p:cNvSpPr>
            <p:nvPr/>
          </p:nvSpPr>
          <p:spPr bwMode="auto">
            <a:xfrm>
              <a:off x="824" y="255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00</a:t>
              </a:r>
            </a:p>
          </p:txBody>
        </p:sp>
        <p:sp>
          <p:nvSpPr>
            <p:cNvPr id="24623" name="Text Box 41"/>
            <p:cNvSpPr txBox="1">
              <a:spLocks noChangeArrowheads="1"/>
            </p:cNvSpPr>
            <p:nvPr/>
          </p:nvSpPr>
          <p:spPr bwMode="auto">
            <a:xfrm>
              <a:off x="1304" y="254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01</a:t>
              </a:r>
            </a:p>
          </p:txBody>
        </p:sp>
        <p:sp>
          <p:nvSpPr>
            <p:cNvPr id="24624" name="Text Box 42"/>
            <p:cNvSpPr txBox="1">
              <a:spLocks noChangeArrowheads="1"/>
            </p:cNvSpPr>
            <p:nvPr/>
          </p:nvSpPr>
          <p:spPr bwMode="auto">
            <a:xfrm>
              <a:off x="1763" y="254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24625" name="Text Box 43"/>
            <p:cNvSpPr txBox="1">
              <a:spLocks noChangeArrowheads="1"/>
            </p:cNvSpPr>
            <p:nvPr/>
          </p:nvSpPr>
          <p:spPr bwMode="auto">
            <a:xfrm>
              <a:off x="2208" y="253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24626" name="Text Box 44"/>
            <p:cNvSpPr txBox="1">
              <a:spLocks noChangeArrowheads="1"/>
            </p:cNvSpPr>
            <p:nvPr/>
          </p:nvSpPr>
          <p:spPr bwMode="auto">
            <a:xfrm>
              <a:off x="537" y="2373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AB</a:t>
              </a:r>
            </a:p>
          </p:txBody>
        </p:sp>
        <p:sp>
          <p:nvSpPr>
            <p:cNvPr id="24627" name="Text Box 45"/>
            <p:cNvSpPr txBox="1">
              <a:spLocks noChangeArrowheads="1"/>
            </p:cNvSpPr>
            <p:nvPr/>
          </p:nvSpPr>
          <p:spPr bwMode="auto">
            <a:xfrm>
              <a:off x="296" y="2613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CD</a:t>
              </a:r>
            </a:p>
          </p:txBody>
        </p:sp>
        <p:sp>
          <p:nvSpPr>
            <p:cNvPr id="24628" name="Text Box 46"/>
            <p:cNvSpPr txBox="1">
              <a:spLocks noChangeArrowheads="1"/>
            </p:cNvSpPr>
            <p:nvPr/>
          </p:nvSpPr>
          <p:spPr bwMode="auto">
            <a:xfrm>
              <a:off x="440" y="2853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00</a:t>
              </a:r>
            </a:p>
          </p:txBody>
        </p:sp>
        <p:sp>
          <p:nvSpPr>
            <p:cNvPr id="24629" name="Text Box 47"/>
            <p:cNvSpPr txBox="1">
              <a:spLocks noChangeArrowheads="1"/>
            </p:cNvSpPr>
            <p:nvPr/>
          </p:nvSpPr>
          <p:spPr bwMode="auto">
            <a:xfrm>
              <a:off x="449" y="3189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01</a:t>
              </a:r>
            </a:p>
          </p:txBody>
        </p:sp>
        <p:sp>
          <p:nvSpPr>
            <p:cNvPr id="24630" name="Text Box 48"/>
            <p:cNvSpPr txBox="1">
              <a:spLocks noChangeArrowheads="1"/>
            </p:cNvSpPr>
            <p:nvPr/>
          </p:nvSpPr>
          <p:spPr bwMode="auto">
            <a:xfrm>
              <a:off x="449" y="3525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24631" name="Text Box 49"/>
            <p:cNvSpPr txBox="1">
              <a:spLocks noChangeArrowheads="1"/>
            </p:cNvSpPr>
            <p:nvPr/>
          </p:nvSpPr>
          <p:spPr bwMode="auto">
            <a:xfrm>
              <a:off x="431" y="3825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10</a:t>
              </a:r>
            </a:p>
          </p:txBody>
        </p:sp>
      </p:grpSp>
      <p:sp>
        <p:nvSpPr>
          <p:cNvPr id="24591" name="Text Box 50"/>
          <p:cNvSpPr txBox="1">
            <a:spLocks noChangeArrowheads="1"/>
          </p:cNvSpPr>
          <p:nvPr/>
        </p:nvSpPr>
        <p:spPr bwMode="auto">
          <a:xfrm>
            <a:off x="2413000" y="67310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endParaRPr lang="en-US" altLang="zh-CN">
              <a:latin typeface="Times New Roman" pitchFamily="18" charset="0"/>
            </a:endParaRPr>
          </a:p>
        </p:txBody>
      </p:sp>
      <p:sp>
        <p:nvSpPr>
          <p:cNvPr id="297011" name="Text Box 51"/>
          <p:cNvSpPr txBox="1">
            <a:spLocks noChangeArrowheads="1"/>
          </p:cNvSpPr>
          <p:nvPr/>
        </p:nvSpPr>
        <p:spPr bwMode="auto">
          <a:xfrm>
            <a:off x="4424363" y="3703638"/>
            <a:ext cx="4040187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/>
            <a:r>
              <a:rPr lang="zh-CN" altLang="en-US"/>
              <a:t>所以，</a:t>
            </a:r>
            <a:r>
              <a:rPr lang="en-US" altLang="zh-CN"/>
              <a:t>F</a:t>
            </a:r>
            <a:r>
              <a:rPr lang="zh-CN" altLang="en-US"/>
              <a:t>（</a:t>
            </a:r>
            <a:r>
              <a:rPr lang="en-US" altLang="zh-CN"/>
              <a:t>A,B,C,D</a:t>
            </a:r>
            <a:r>
              <a:rPr lang="zh-CN" altLang="en-US"/>
              <a:t>）</a:t>
            </a:r>
          </a:p>
          <a:p>
            <a:pPr eaLnBrk="1" hangingPunct="1"/>
            <a:endParaRPr lang="zh-CN" altLang="en-US"/>
          </a:p>
          <a:p>
            <a:pPr eaLnBrk="1" hangingPunct="1"/>
            <a:r>
              <a:rPr lang="en-US" altLang="zh-CN" b="0"/>
              <a:t>=</a:t>
            </a:r>
            <a:r>
              <a:rPr lang="en-US" altLang="zh-CN" b="0">
                <a:sym typeface="Symbol" pitchFamily="18" charset="2"/>
              </a:rPr>
              <a:t>m(3-15)</a:t>
            </a:r>
          </a:p>
          <a:p>
            <a:pPr eaLnBrk="1" hangingPunct="1"/>
            <a:endParaRPr lang="en-US" altLang="zh-CN" b="0">
              <a:sym typeface="Symbol" pitchFamily="18" charset="2"/>
            </a:endParaRPr>
          </a:p>
          <a:p>
            <a:pPr eaLnBrk="1" hangingPunct="1"/>
            <a:r>
              <a:rPr lang="en-US" altLang="zh-CN" b="0">
                <a:sym typeface="Symbol" pitchFamily="18" charset="2"/>
              </a:rPr>
              <a:t>=M(0-2)</a:t>
            </a:r>
            <a:endParaRPr lang="en-US" altLang="zh-CN" b="0"/>
          </a:p>
        </p:txBody>
      </p:sp>
      <p:graphicFrame>
        <p:nvGraphicFramePr>
          <p:cNvPr id="297013" name="Object 53"/>
          <p:cNvGraphicFramePr>
            <a:graphicFrameLocks noChangeAspect="1"/>
          </p:cNvGraphicFramePr>
          <p:nvPr/>
        </p:nvGraphicFramePr>
        <p:xfrm>
          <a:off x="3479800" y="1549400"/>
          <a:ext cx="2552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name="Equation" r:id="rId8" imgW="1612900" imgH="304800" progId="Equation.3">
                  <p:embed/>
                </p:oleObj>
              </mc:Choice>
              <mc:Fallback>
                <p:oleObj name="Equation" r:id="rId8" imgW="1612900" imgH="304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800" y="1549400"/>
                        <a:ext cx="25527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4" name="Object 54"/>
          <p:cNvGraphicFramePr>
            <a:graphicFrameLocks noChangeAspect="1"/>
          </p:cNvGraphicFramePr>
          <p:nvPr/>
        </p:nvGraphicFramePr>
        <p:xfrm>
          <a:off x="3497263" y="2024063"/>
          <a:ext cx="37369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" name="Equation" r:id="rId10" imgW="2362200" imgH="266700" progId="Equation.3">
                  <p:embed/>
                </p:oleObj>
              </mc:Choice>
              <mc:Fallback>
                <p:oleObj name="Equation" r:id="rId10" imgW="2362200" imgH="266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3" y="2024063"/>
                        <a:ext cx="37369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6" name="Object 66"/>
          <p:cNvGraphicFramePr>
            <a:graphicFrameLocks noChangeAspect="1"/>
          </p:cNvGraphicFramePr>
          <p:nvPr/>
        </p:nvGraphicFramePr>
        <p:xfrm>
          <a:off x="3494088" y="2490788"/>
          <a:ext cx="1585912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" name="Equation" r:id="rId12" imgW="1002865" imgH="190417" progId="Equation.3">
                  <p:embed/>
                </p:oleObj>
              </mc:Choice>
              <mc:Fallback>
                <p:oleObj name="Equation" r:id="rId12" imgW="1002865" imgH="1904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4088" y="2490788"/>
                        <a:ext cx="1585912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8" name="Rectangle 78"/>
          <p:cNvSpPr>
            <a:spLocks noChangeArrowheads="1"/>
          </p:cNvSpPr>
          <p:nvPr/>
        </p:nvSpPr>
        <p:spPr bwMode="auto">
          <a:xfrm>
            <a:off x="1204913" y="4581525"/>
            <a:ext cx="72707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b="0">
                <a:latin typeface="Times New Roman" pitchFamily="18" charset="0"/>
              </a:rPr>
              <a:t>1</a:t>
            </a:r>
            <a:endParaRPr lang="en-US" altLang="zh-CN" b="0" baseline="-30000">
              <a:latin typeface="Times New Roman" pitchFamily="18" charset="0"/>
            </a:endParaRPr>
          </a:p>
        </p:txBody>
      </p:sp>
      <p:grpSp>
        <p:nvGrpSpPr>
          <p:cNvPr id="297044" name="Group 84"/>
          <p:cNvGrpSpPr>
            <a:grpSpLocks/>
          </p:cNvGrpSpPr>
          <p:nvPr/>
        </p:nvGrpSpPr>
        <p:grpSpPr bwMode="auto">
          <a:xfrm>
            <a:off x="2690813" y="3540125"/>
            <a:ext cx="1450975" cy="2079625"/>
            <a:chOff x="1695" y="2590"/>
            <a:chExt cx="914" cy="1310"/>
          </a:xfrm>
        </p:grpSpPr>
        <p:sp>
          <p:nvSpPr>
            <p:cNvPr id="24603" name="Rectangle 68"/>
            <p:cNvSpPr>
              <a:spLocks noChangeArrowheads="1"/>
            </p:cNvSpPr>
            <p:nvPr/>
          </p:nvSpPr>
          <p:spPr bwMode="auto">
            <a:xfrm>
              <a:off x="2151" y="2590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4604" name="Rectangle 70"/>
            <p:cNvSpPr>
              <a:spLocks noChangeArrowheads="1"/>
            </p:cNvSpPr>
            <p:nvPr/>
          </p:nvSpPr>
          <p:spPr bwMode="auto">
            <a:xfrm>
              <a:off x="2135" y="3558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4605" name="Rectangle 73"/>
            <p:cNvSpPr>
              <a:spLocks noChangeArrowheads="1"/>
            </p:cNvSpPr>
            <p:nvPr/>
          </p:nvSpPr>
          <p:spPr bwMode="auto">
            <a:xfrm>
              <a:off x="1727" y="2598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4606" name="Rectangle 75"/>
            <p:cNvSpPr>
              <a:spLocks noChangeArrowheads="1"/>
            </p:cNvSpPr>
            <p:nvPr/>
          </p:nvSpPr>
          <p:spPr bwMode="auto">
            <a:xfrm>
              <a:off x="1703" y="3574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4607" name="Rectangle 76"/>
            <p:cNvSpPr>
              <a:spLocks noChangeArrowheads="1"/>
            </p:cNvSpPr>
            <p:nvPr/>
          </p:nvSpPr>
          <p:spPr bwMode="auto">
            <a:xfrm>
              <a:off x="1727" y="2902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4608" name="Rectangle 77"/>
            <p:cNvSpPr>
              <a:spLocks noChangeArrowheads="1"/>
            </p:cNvSpPr>
            <p:nvPr/>
          </p:nvSpPr>
          <p:spPr bwMode="auto">
            <a:xfrm>
              <a:off x="2119" y="2934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4609" name="Rectangle 80"/>
            <p:cNvSpPr>
              <a:spLocks noChangeArrowheads="1"/>
            </p:cNvSpPr>
            <p:nvPr/>
          </p:nvSpPr>
          <p:spPr bwMode="auto">
            <a:xfrm>
              <a:off x="1695" y="3238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4610" name="Rectangle 81"/>
            <p:cNvSpPr>
              <a:spLocks noChangeArrowheads="1"/>
            </p:cNvSpPr>
            <p:nvPr/>
          </p:nvSpPr>
          <p:spPr bwMode="auto">
            <a:xfrm>
              <a:off x="2143" y="3254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</p:grpSp>
      <p:grpSp>
        <p:nvGrpSpPr>
          <p:cNvPr id="297045" name="Group 85"/>
          <p:cNvGrpSpPr>
            <a:grpSpLocks/>
          </p:cNvGrpSpPr>
          <p:nvPr/>
        </p:nvGrpSpPr>
        <p:grpSpPr bwMode="auto">
          <a:xfrm>
            <a:off x="1916113" y="3540125"/>
            <a:ext cx="777875" cy="2054225"/>
            <a:chOff x="1207" y="2590"/>
            <a:chExt cx="490" cy="1294"/>
          </a:xfrm>
        </p:grpSpPr>
        <p:sp>
          <p:nvSpPr>
            <p:cNvPr id="24599" name="Rectangle 72"/>
            <p:cNvSpPr>
              <a:spLocks noChangeArrowheads="1"/>
            </p:cNvSpPr>
            <p:nvPr/>
          </p:nvSpPr>
          <p:spPr bwMode="auto">
            <a:xfrm>
              <a:off x="1223" y="2590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4600" name="Rectangle 74"/>
            <p:cNvSpPr>
              <a:spLocks noChangeArrowheads="1"/>
            </p:cNvSpPr>
            <p:nvPr/>
          </p:nvSpPr>
          <p:spPr bwMode="auto">
            <a:xfrm>
              <a:off x="1239" y="3558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4601" name="Rectangle 79"/>
            <p:cNvSpPr>
              <a:spLocks noChangeArrowheads="1"/>
            </p:cNvSpPr>
            <p:nvPr/>
          </p:nvSpPr>
          <p:spPr bwMode="auto">
            <a:xfrm>
              <a:off x="1223" y="3246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4602" name="Rectangle 82"/>
            <p:cNvSpPr>
              <a:spLocks noChangeArrowheads="1"/>
            </p:cNvSpPr>
            <p:nvPr/>
          </p:nvSpPr>
          <p:spPr bwMode="auto">
            <a:xfrm>
              <a:off x="1207" y="2902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482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1" grpId="0" autoUpdateAnimBg="0"/>
      <p:bldP spid="29703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51520" y="188640"/>
                <a:ext cx="8640960" cy="5984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b="1" dirty="0"/>
                  <a:t>数字逻辑第二章练习题三</a:t>
                </a:r>
              </a:p>
              <a:p>
                <a:endParaRPr lang="zh-CN" altLang="zh-CN" dirty="0"/>
              </a:p>
              <a:p>
                <a:pPr lvl="0"/>
                <a:r>
                  <a:rPr lang="zh-CN" altLang="zh-CN" dirty="0"/>
                  <a:t>填空题：</a:t>
                </a:r>
              </a:p>
              <a:p>
                <a:r>
                  <a:rPr lang="en-US" altLang="zh-CN" dirty="0"/>
                  <a:t> </a:t>
                </a:r>
                <a:endParaRPr lang="zh-CN" altLang="zh-CN" dirty="0"/>
              </a:p>
              <a:p>
                <a:r>
                  <a:rPr lang="en-US" altLang="zh-CN" dirty="0"/>
                  <a:t>1	</a:t>
                </a:r>
                <a:r>
                  <a:rPr lang="zh-CN" altLang="zh-CN" dirty="0"/>
                  <a:t>逻辑函数化简有</a:t>
                </a:r>
                <a:r>
                  <a:rPr lang="en-US" altLang="zh-CN" dirty="0"/>
                  <a:t>3</a:t>
                </a:r>
                <a:r>
                  <a:rPr lang="zh-CN" altLang="zh-CN" dirty="0"/>
                  <a:t>种常用方法，分别为</a:t>
                </a:r>
                <a:r>
                  <a:rPr lang="en-US" altLang="zh-CN" u="sng" dirty="0"/>
                  <a:t>              </a:t>
                </a:r>
                <a:r>
                  <a:rPr lang="zh-CN" altLang="zh-CN" dirty="0"/>
                  <a:t>，</a:t>
                </a:r>
                <a:r>
                  <a:rPr lang="en-US" altLang="zh-CN" u="sng" dirty="0"/>
                  <a:t>              </a:t>
                </a:r>
                <a:r>
                  <a:rPr lang="zh-CN" altLang="zh-CN" dirty="0"/>
                  <a:t>，和</a:t>
                </a:r>
                <a:r>
                  <a:rPr lang="en-US" altLang="zh-CN" u="sng" dirty="0"/>
                  <a:t>              </a:t>
                </a:r>
                <a:r>
                  <a:rPr lang="zh-CN" altLang="zh-CN" dirty="0"/>
                  <a:t>。</a:t>
                </a:r>
              </a:p>
              <a:p>
                <a:r>
                  <a:rPr lang="en-US" altLang="zh-CN" dirty="0"/>
                  <a:t>2	</a:t>
                </a:r>
                <a:r>
                  <a:rPr lang="zh-CN" altLang="zh-CN" dirty="0"/>
                  <a:t>卡诺图的每个小方格代表一个</a:t>
                </a:r>
                <a:r>
                  <a:rPr lang="en-US" altLang="zh-CN" u="sng" dirty="0"/>
                  <a:t>              </a:t>
                </a:r>
                <a:r>
                  <a:rPr lang="zh-CN" altLang="zh-CN" dirty="0"/>
                  <a:t>。</a:t>
                </a:r>
              </a:p>
              <a:p>
                <a:r>
                  <a:rPr lang="en-US" altLang="zh-CN" dirty="0"/>
                  <a:t>3	n</a:t>
                </a:r>
                <a:r>
                  <a:rPr lang="zh-CN" altLang="zh-CN" dirty="0"/>
                  <a:t>个变量的卡诺图由</a:t>
                </a:r>
                <a:r>
                  <a:rPr lang="en-US" altLang="zh-CN" u="sng" dirty="0"/>
                  <a:t>              </a:t>
                </a:r>
                <a:r>
                  <a:rPr lang="zh-CN" altLang="zh-CN" dirty="0"/>
                  <a:t>个小方格构成。</a:t>
                </a:r>
              </a:p>
              <a:p>
                <a:r>
                  <a:rPr lang="en-US" altLang="zh-CN" dirty="0"/>
                  <a:t> </a:t>
                </a:r>
                <a:endParaRPr lang="zh-CN" altLang="zh-CN" dirty="0"/>
              </a:p>
              <a:p>
                <a:pPr lvl="0"/>
                <a:r>
                  <a:rPr lang="zh-CN" altLang="zh-CN" dirty="0"/>
                  <a:t>用代数化简法求下列函数的最简与或表达式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BC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AB</m:t>
                      </m:r>
                    </m:oMath>
                  </m:oMathPara>
                </a14:m>
                <a:endParaRPr lang="zh-CN" altLang="zh-CN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=(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)(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)(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acc>
                      <m:r>
                        <a:rPr lang="en-US" altLang="zh-CN">
                          <a:latin typeface="Cambria Math" panose="02040503050406030204" pitchFamily="18" charset="0"/>
                        </a:rPr>
                        <m:t>)(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AB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acc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BC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acc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acc>
                    </m:oMath>
                  </m:oMathPara>
                </a14:m>
                <a:endParaRPr lang="zh-CN" altLang="zh-CN" dirty="0"/>
              </a:p>
              <a:p>
                <a:pPr lvl="0"/>
                <a:r>
                  <a:rPr lang="zh-CN" altLang="zh-CN" dirty="0"/>
                  <a:t>用</a:t>
                </a:r>
                <a:r>
                  <a:rPr lang="zh-CN" altLang="en-US" dirty="0"/>
                  <a:t>卡诺图化</a:t>
                </a:r>
                <a:r>
                  <a:rPr lang="zh-CN" altLang="zh-CN" dirty="0"/>
                  <a:t>简法求下列函数的最简与或表达式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(0,1,2,4,5,7)</m:t>
                        </m:r>
                      </m:e>
                    </m:nary>
                  </m:oMath>
                </a14:m>
                <a:endParaRPr lang="zh-CN" altLang="zh-CN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(2,3,4,5,10,11,12,13)</m:t>
                          </m:r>
                        </m:e>
                      </m:nary>
                    </m:oMath>
                  </m:oMathPara>
                </a14:m>
                <a:endParaRPr lang="zh-CN" altLang="zh-CN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bHide m:val="on"/>
                          <m:supHide m:val="on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(1,5,6,7,11,12,13,15)</m:t>
                          </m:r>
                        </m:e>
                      </m:nary>
                    </m:oMath>
                  </m:oMathPara>
                </a14:m>
                <a:endParaRPr lang="zh-CN" altLang="zh-CN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(0,1,2,3,4,6,7,8,9,11,15)</m:t>
                          </m:r>
                        </m:e>
                      </m:nary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88640"/>
                <a:ext cx="8640960" cy="5984331"/>
              </a:xfrm>
              <a:prstGeom prst="rect">
                <a:avLst/>
              </a:prstGeom>
              <a:blipFill rotWithShape="1">
                <a:blip r:embed="rId2"/>
                <a:stretch>
                  <a:fillRect l="-564" t="-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572000" y="111161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代数化简法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38644" y="112100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卡诺图化简法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08304" y="112474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列表化简法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11960" y="151855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最小项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176247" y="1884403"/>
                <a:ext cx="4872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247" y="1884403"/>
                <a:ext cx="487249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650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fld id="{61AE73E5-3B91-4864-AB68-8D357F29800A}" type="slidenum">
              <a:rPr kumimoji="0" lang="en-US" altLang="zh-CN" sz="1400" b="0">
                <a:latin typeface="Times New Roman" panose="02020603050405020304" pitchFamily="18" charset="0"/>
              </a:rPr>
              <a:pPr eaLnBrk="1" hangingPunct="1"/>
              <a:t>6</a:t>
            </a:fld>
            <a:endParaRPr kumimoji="0" lang="en-US" altLang="zh-CN" sz="1400" b="0">
              <a:latin typeface="Times New Roman" panose="02020603050405020304" pitchFamily="18" charset="0"/>
            </a:endParaRPr>
          </a:p>
        </p:txBody>
      </p:sp>
      <p:pic>
        <p:nvPicPr>
          <p:cNvPr id="21507" name="Picture 2" descr="t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853440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4675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33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1800" b="1">
                <a:latin typeface="宋体" pitchFamily="2" charset="-122"/>
              </a:rPr>
              <a:t>习题课</a:t>
            </a:r>
          </a:p>
        </p:txBody>
      </p:sp>
      <p:pic>
        <p:nvPicPr>
          <p:cNvPr id="21509" name="Picture 4" descr="arrow3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Rectangle 5"/>
          <p:cNvSpPr>
            <a:spLocks noChangeArrowheads="1"/>
          </p:cNvSpPr>
          <p:nvPr/>
        </p:nvSpPr>
        <p:spPr bwMode="auto">
          <a:xfrm>
            <a:off x="2576513" y="2819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1" name="Rectangle 6"/>
          <p:cNvSpPr>
            <a:spLocks noChangeArrowheads="1"/>
          </p:cNvSpPr>
          <p:nvPr/>
        </p:nvSpPr>
        <p:spPr bwMode="auto">
          <a:xfrm>
            <a:off x="3862388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2" name="Rectangle 7"/>
          <p:cNvSpPr>
            <a:spLocks noChangeArrowheads="1"/>
          </p:cNvSpPr>
          <p:nvPr/>
        </p:nvSpPr>
        <p:spPr bwMode="auto">
          <a:xfrm>
            <a:off x="3824288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3" name="Rectangle 8"/>
          <p:cNvSpPr>
            <a:spLocks noChangeArrowheads="1"/>
          </p:cNvSpPr>
          <p:nvPr/>
        </p:nvSpPr>
        <p:spPr bwMode="auto">
          <a:xfrm>
            <a:off x="365760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4" name="Rectangle 9"/>
          <p:cNvSpPr>
            <a:spLocks noChangeArrowheads="1"/>
          </p:cNvSpPr>
          <p:nvPr/>
        </p:nvSpPr>
        <p:spPr bwMode="auto">
          <a:xfrm>
            <a:off x="358140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5" name="Rectangle 16"/>
          <p:cNvSpPr>
            <a:spLocks noChangeArrowheads="1"/>
          </p:cNvSpPr>
          <p:nvPr/>
        </p:nvSpPr>
        <p:spPr bwMode="auto">
          <a:xfrm>
            <a:off x="4024313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1516" name="Picture 25" descr="arrow34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517" name="Group 31"/>
          <p:cNvGrpSpPr>
            <a:grpSpLocks/>
          </p:cNvGrpSpPr>
          <p:nvPr/>
        </p:nvGrpSpPr>
        <p:grpSpPr bwMode="auto">
          <a:xfrm>
            <a:off x="304800" y="736600"/>
            <a:ext cx="8229600" cy="2368550"/>
            <a:chOff x="192" y="464"/>
            <a:chExt cx="5184" cy="1492"/>
          </a:xfrm>
        </p:grpSpPr>
        <p:sp>
          <p:nvSpPr>
            <p:cNvPr id="21531" name="Rectangle 11"/>
            <p:cNvSpPr>
              <a:spLocks noChangeArrowheads="1"/>
            </p:cNvSpPr>
            <p:nvPr/>
          </p:nvSpPr>
          <p:spPr bwMode="auto">
            <a:xfrm>
              <a:off x="192" y="464"/>
              <a:ext cx="5184" cy="1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GB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</a:t>
              </a:r>
              <a:r>
                <a:rPr lang="zh-CN" altLang="en-GB" dirty="0">
                  <a:latin typeface="Times New Roman" panose="02020603050405020304" pitchFamily="18" charset="0"/>
                </a:rPr>
                <a:t>6    </a:t>
              </a:r>
              <a:r>
                <a:rPr lang="zh-CN" altLang="en-US" dirty="0">
                  <a:cs typeface="Times New Roman" panose="02020603050405020304" pitchFamily="18" charset="0"/>
                </a:rPr>
                <a:t>用逻辑代数的公理、定理和规则将下列逻辑函数化简为最简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lang="zh-CN" altLang="en-US" dirty="0">
                  <a:cs typeface="Times New Roman" panose="02020603050405020304" pitchFamily="18" charset="0"/>
                </a:rPr>
                <a:t>与－或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”</a:t>
              </a:r>
              <a:r>
                <a:rPr lang="zh-CN" altLang="en-US" dirty="0">
                  <a:cs typeface="Times New Roman" panose="02020603050405020304" pitchFamily="18" charset="0"/>
                </a:rPr>
                <a:t>表达式 。</a:t>
              </a:r>
            </a:p>
            <a:p>
              <a:pPr algn="l" eaLnBrk="1" hangingPunct="1"/>
              <a:r>
                <a:rPr lang="zh-CN" altLang="en-US" dirty="0">
                  <a:cs typeface="Times New Roman" panose="02020603050405020304" pitchFamily="18" charset="0"/>
                </a:rPr>
                <a:t>     </a:t>
              </a:r>
              <a:r>
                <a:rPr lang="zh-CN" altLang="en-US" dirty="0"/>
                <a:t>（</a:t>
              </a:r>
              <a:r>
                <a:rPr lang="en-US" altLang="zh-CN" dirty="0"/>
                <a:t>1</a:t>
              </a:r>
              <a:r>
                <a:rPr lang="zh-CN" altLang="en-US" dirty="0"/>
                <a:t>）</a:t>
              </a:r>
            </a:p>
            <a:p>
              <a:pPr algn="l" eaLnBrk="1" hangingPunct="1"/>
              <a:r>
                <a:rPr lang="zh-CN" altLang="en-US" dirty="0"/>
                <a:t>     （</a:t>
              </a:r>
              <a:r>
                <a:rPr lang="en-US" altLang="zh-CN" dirty="0"/>
                <a:t>2</a:t>
              </a:r>
              <a:r>
                <a:rPr lang="zh-CN" altLang="en-US" dirty="0"/>
                <a:t>）</a:t>
              </a:r>
            </a:p>
            <a:p>
              <a:pPr algn="l" eaLnBrk="1" hangingPunct="1"/>
              <a:r>
                <a:rPr lang="zh-CN" altLang="en-US" dirty="0"/>
                <a:t>     （</a:t>
              </a:r>
              <a:r>
                <a:rPr lang="en-US" altLang="zh-CN" dirty="0"/>
                <a:t>3</a:t>
              </a:r>
              <a:r>
                <a:rPr lang="zh-CN" altLang="en-US" dirty="0"/>
                <a:t>）     </a:t>
              </a:r>
            </a:p>
            <a:p>
              <a:pPr algn="l" eaLnBrk="1" hangingPunct="1"/>
              <a:r>
                <a:rPr lang="zh-CN" altLang="en-US" dirty="0"/>
                <a:t>     （</a:t>
              </a:r>
              <a:r>
                <a:rPr lang="en-US" altLang="zh-CN" dirty="0"/>
                <a:t>4</a:t>
              </a:r>
              <a:r>
                <a:rPr lang="zh-CN" altLang="en-US" dirty="0"/>
                <a:t>）</a:t>
              </a:r>
            </a:p>
          </p:txBody>
        </p:sp>
        <p:pic>
          <p:nvPicPr>
            <p:cNvPr id="21532" name="Picture 29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948"/>
              <a:ext cx="1662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33" name="Picture 28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1178"/>
              <a:ext cx="1662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34" name="Picture 27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1408"/>
              <a:ext cx="2742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35" name="Picture 26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1638"/>
              <a:ext cx="277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4710" name="Group 38"/>
          <p:cNvGrpSpPr>
            <a:grpSpLocks/>
          </p:cNvGrpSpPr>
          <p:nvPr/>
        </p:nvGrpSpPr>
        <p:grpSpPr bwMode="auto">
          <a:xfrm>
            <a:off x="304800" y="3327400"/>
            <a:ext cx="8153400" cy="1917700"/>
            <a:chOff x="192" y="1952"/>
            <a:chExt cx="5136" cy="1208"/>
          </a:xfrm>
        </p:grpSpPr>
        <p:sp>
          <p:nvSpPr>
            <p:cNvPr id="21525" name="Rectangle 18"/>
            <p:cNvSpPr>
              <a:spLocks noChangeArrowheads="1"/>
            </p:cNvSpPr>
            <p:nvPr/>
          </p:nvSpPr>
          <p:spPr bwMode="auto">
            <a:xfrm>
              <a:off x="192" y="1952"/>
              <a:ext cx="5136" cy="1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GB">
                  <a:solidFill>
                    <a:srgbClr val="FA2B08"/>
                  </a:solidFill>
                </a:rPr>
                <a:t>解答：</a:t>
              </a:r>
            </a:p>
            <a:p>
              <a:pPr algn="l" eaLnBrk="1" hangingPunct="1"/>
              <a:r>
                <a:rPr lang="zh-CN" altLang="en-US" b="0">
                  <a:latin typeface="Times New Roman" panose="02020603050405020304" pitchFamily="18" charset="0"/>
                </a:rPr>
                <a:t>	（</a:t>
              </a:r>
              <a:r>
                <a:rPr lang="en-US" altLang="zh-CN" b="0">
                  <a:latin typeface="Times New Roman" panose="02020603050405020304" pitchFamily="18" charset="0"/>
                </a:rPr>
                <a:t>1</a:t>
              </a:r>
              <a:r>
                <a:rPr lang="zh-CN" altLang="en-US" b="0">
                  <a:latin typeface="Times New Roman" panose="02020603050405020304" pitchFamily="18" charset="0"/>
                </a:rPr>
                <a:t>）</a:t>
              </a:r>
              <a:r>
                <a:rPr lang="zh-CN" altLang="en-US" sz="7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    </a:t>
              </a:r>
              <a:r>
                <a:rPr lang="en-US" altLang="zh-CN" b="0"/>
                <a:t>F</a:t>
              </a:r>
              <a:r>
                <a:rPr lang="zh-CN" altLang="en-US" b="0">
                  <a:latin typeface="Times New Roman" panose="02020603050405020304" pitchFamily="18" charset="0"/>
                </a:rPr>
                <a:t>＝                             ＝                          </a:t>
              </a:r>
            </a:p>
            <a:p>
              <a:pPr algn="l" eaLnBrk="1" hangingPunct="1"/>
              <a:r>
                <a:rPr lang="zh-CN" altLang="en-US" b="0">
                  <a:latin typeface="Times New Roman" panose="02020603050405020304" pitchFamily="18" charset="0"/>
                </a:rPr>
                <a:t>                         ＝                               ＝ </a:t>
              </a:r>
            </a:p>
            <a:p>
              <a:pPr algn="l" eaLnBrk="1" hangingPunct="1"/>
              <a:r>
                <a:rPr lang="zh-CN" altLang="en-US" b="0">
                  <a:latin typeface="Times New Roman" panose="02020603050405020304" pitchFamily="18" charset="0"/>
                </a:rPr>
                <a:t>                         ＝</a:t>
              </a:r>
              <a:endParaRPr lang="zh-CN" altLang="en-US" sz="1000" b="0">
                <a:latin typeface="Times New Roman" panose="02020603050405020304" pitchFamily="18" charset="0"/>
              </a:endParaRPr>
            </a:p>
            <a:p>
              <a:pPr algn="just" eaLnBrk="1" hangingPunct="1"/>
              <a:endParaRPr lang="en-US" altLang="zh-CN" b="0"/>
            </a:p>
          </p:txBody>
        </p:sp>
        <p:pic>
          <p:nvPicPr>
            <p:cNvPr id="21526" name="Picture 36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6" y="2156"/>
              <a:ext cx="1332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27" name="Picture 35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0" y="2148"/>
              <a:ext cx="1236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28" name="Picture 34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6" y="2388"/>
              <a:ext cx="1266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29" name="Picture 33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" y="2380"/>
              <a:ext cx="1146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30" name="Picture 32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6" y="2628"/>
              <a:ext cx="732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4719" name="Group 47"/>
          <p:cNvGrpSpPr>
            <a:grpSpLocks/>
          </p:cNvGrpSpPr>
          <p:nvPr/>
        </p:nvGrpSpPr>
        <p:grpSpPr bwMode="auto">
          <a:xfrm>
            <a:off x="1192213" y="5022850"/>
            <a:ext cx="5908675" cy="841375"/>
            <a:chOff x="887" y="3164"/>
            <a:chExt cx="3722" cy="530"/>
          </a:xfrm>
        </p:grpSpPr>
        <p:pic>
          <p:nvPicPr>
            <p:cNvPr id="21520" name="Picture 41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2" y="3164"/>
              <a:ext cx="1182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21" name="Picture 42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8" y="3166"/>
              <a:ext cx="112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22" name="Picture 40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0" y="3433"/>
              <a:ext cx="58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23" name="Picture 39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2" y="3457"/>
              <a:ext cx="522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24" name="Rectangle 44"/>
            <p:cNvSpPr>
              <a:spLocks noChangeArrowheads="1"/>
            </p:cNvSpPr>
            <p:nvPr/>
          </p:nvSpPr>
          <p:spPr bwMode="auto">
            <a:xfrm>
              <a:off x="887" y="3176"/>
              <a:ext cx="372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b="0">
                  <a:latin typeface="Times New Roman" panose="02020603050405020304" pitchFamily="18" charset="0"/>
                </a:rPr>
                <a:t>（</a:t>
              </a:r>
              <a:r>
                <a:rPr lang="en-US" altLang="zh-CN" b="0">
                  <a:latin typeface="Times New Roman" panose="02020603050405020304" pitchFamily="18" charset="0"/>
                </a:rPr>
                <a:t>2</a:t>
              </a:r>
              <a:r>
                <a:rPr lang="zh-CN" altLang="en-US" b="0">
                  <a:latin typeface="Times New Roman" panose="02020603050405020304" pitchFamily="18" charset="0"/>
                </a:rPr>
                <a:t>）</a:t>
              </a:r>
              <a:r>
                <a:rPr lang="zh-CN" altLang="en-US" sz="7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b="0"/>
                <a:t>F</a:t>
              </a:r>
              <a:r>
                <a:rPr lang="zh-CN" altLang="en-US" b="0">
                  <a:latin typeface="Times New Roman" panose="02020603050405020304" pitchFamily="18" charset="0"/>
                </a:rPr>
                <a:t>＝                       ＝                         </a:t>
              </a:r>
            </a:p>
            <a:p>
              <a:pPr algn="l" eaLnBrk="1" hangingPunct="1"/>
              <a:r>
                <a:rPr lang="zh-CN" altLang="en-US" b="0">
                  <a:latin typeface="Times New Roman" panose="02020603050405020304" pitchFamily="18" charset="0"/>
                </a:rPr>
                <a:t>             ＝                       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06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4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4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fld id="{8A7620BA-89E5-4572-97BB-916BF1999D75}" type="slidenum">
              <a:rPr kumimoji="0" lang="en-US" altLang="zh-CN" sz="1400" b="0">
                <a:latin typeface="Times New Roman" panose="02020603050405020304" pitchFamily="18" charset="0"/>
              </a:rPr>
              <a:pPr eaLnBrk="1" hangingPunct="1"/>
              <a:t>7</a:t>
            </a:fld>
            <a:endParaRPr kumimoji="0" lang="en-US" altLang="zh-CN" sz="1400" b="0">
              <a:latin typeface="Times New Roman" panose="02020603050405020304" pitchFamily="18" charset="0"/>
            </a:endParaRPr>
          </a:p>
        </p:txBody>
      </p:sp>
      <p:pic>
        <p:nvPicPr>
          <p:cNvPr id="22531" name="Picture 2" descr="t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853440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3891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33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1800" b="1">
                <a:latin typeface="宋体" pitchFamily="2" charset="-122"/>
              </a:rPr>
              <a:t>习题课</a:t>
            </a:r>
          </a:p>
        </p:txBody>
      </p:sp>
      <p:pic>
        <p:nvPicPr>
          <p:cNvPr id="22533" name="Picture 4" descr="arrow3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Rectangle 5"/>
          <p:cNvSpPr>
            <a:spLocks noChangeArrowheads="1"/>
          </p:cNvSpPr>
          <p:nvPr/>
        </p:nvSpPr>
        <p:spPr bwMode="auto">
          <a:xfrm>
            <a:off x="2576513" y="2819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5" name="Rectangle 6"/>
          <p:cNvSpPr>
            <a:spLocks noChangeArrowheads="1"/>
          </p:cNvSpPr>
          <p:nvPr/>
        </p:nvSpPr>
        <p:spPr bwMode="auto">
          <a:xfrm>
            <a:off x="3862388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6" name="Rectangle 7"/>
          <p:cNvSpPr>
            <a:spLocks noChangeArrowheads="1"/>
          </p:cNvSpPr>
          <p:nvPr/>
        </p:nvSpPr>
        <p:spPr bwMode="auto">
          <a:xfrm>
            <a:off x="3824288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7" name="Rectangle 8"/>
          <p:cNvSpPr>
            <a:spLocks noChangeArrowheads="1"/>
          </p:cNvSpPr>
          <p:nvPr/>
        </p:nvSpPr>
        <p:spPr bwMode="auto">
          <a:xfrm>
            <a:off x="365760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8" name="Rectangle 9"/>
          <p:cNvSpPr>
            <a:spLocks noChangeArrowheads="1"/>
          </p:cNvSpPr>
          <p:nvPr/>
        </p:nvSpPr>
        <p:spPr bwMode="auto">
          <a:xfrm>
            <a:off x="358140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9" name="Rectangle 10"/>
          <p:cNvSpPr>
            <a:spLocks noChangeArrowheads="1"/>
          </p:cNvSpPr>
          <p:nvPr/>
        </p:nvSpPr>
        <p:spPr bwMode="auto">
          <a:xfrm>
            <a:off x="4024313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2540" name="Picture 11" descr="arrow34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541" name="Group 36"/>
          <p:cNvGrpSpPr>
            <a:grpSpLocks/>
          </p:cNvGrpSpPr>
          <p:nvPr/>
        </p:nvGrpSpPr>
        <p:grpSpPr bwMode="auto">
          <a:xfrm>
            <a:off x="342900" y="977900"/>
            <a:ext cx="8153400" cy="1917700"/>
            <a:chOff x="216" y="616"/>
            <a:chExt cx="5136" cy="1208"/>
          </a:xfrm>
        </p:grpSpPr>
        <p:sp>
          <p:nvSpPr>
            <p:cNvPr id="22549" name="Rectangle 19"/>
            <p:cNvSpPr>
              <a:spLocks noChangeArrowheads="1"/>
            </p:cNvSpPr>
            <p:nvPr/>
          </p:nvSpPr>
          <p:spPr bwMode="auto">
            <a:xfrm>
              <a:off x="216" y="616"/>
              <a:ext cx="5136" cy="1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GB">
                  <a:solidFill>
                    <a:srgbClr val="FA2B08"/>
                  </a:solidFill>
                </a:rPr>
                <a:t>解答：</a:t>
              </a:r>
            </a:p>
            <a:p>
              <a:pPr algn="l" eaLnBrk="1" hangingPunct="1"/>
              <a:r>
                <a:rPr lang="zh-CN" altLang="en-US" b="0">
                  <a:latin typeface="Times New Roman" panose="02020603050405020304" pitchFamily="18" charset="0"/>
                </a:rPr>
                <a:t>	（</a:t>
              </a:r>
              <a:r>
                <a:rPr lang="en-US" altLang="zh-CN" b="0">
                  <a:latin typeface="Times New Roman" panose="02020603050405020304" pitchFamily="18" charset="0"/>
                </a:rPr>
                <a:t>3</a:t>
              </a:r>
              <a:r>
                <a:rPr lang="zh-CN" altLang="en-US" b="0">
                  <a:latin typeface="Times New Roman" panose="02020603050405020304" pitchFamily="18" charset="0"/>
                </a:rPr>
                <a:t>）</a:t>
              </a:r>
              <a:r>
                <a:rPr lang="zh-CN" altLang="en-US" sz="7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    </a:t>
              </a:r>
              <a:r>
                <a:rPr lang="en-US" altLang="zh-CN" b="0"/>
                <a:t>F</a:t>
              </a:r>
              <a:r>
                <a:rPr lang="zh-CN" altLang="en-US" b="0">
                  <a:latin typeface="Times New Roman" panose="02020603050405020304" pitchFamily="18" charset="0"/>
                </a:rPr>
                <a:t>＝</a:t>
              </a:r>
            </a:p>
            <a:p>
              <a:pPr algn="l" eaLnBrk="1" hangingPunct="1"/>
              <a:r>
                <a:rPr lang="zh-CN" altLang="en-US" b="0">
                  <a:latin typeface="Times New Roman" panose="02020603050405020304" pitchFamily="18" charset="0"/>
                </a:rPr>
                <a:t>                         ＝</a:t>
              </a:r>
            </a:p>
            <a:p>
              <a:pPr algn="l" eaLnBrk="1" hangingPunct="1"/>
              <a:r>
                <a:rPr lang="zh-CN" altLang="en-US" b="0">
                  <a:latin typeface="Times New Roman" panose="02020603050405020304" pitchFamily="18" charset="0"/>
                </a:rPr>
                <a:t>                         ＝</a:t>
              </a:r>
              <a:endParaRPr lang="zh-CN" altLang="en-US" sz="1000" b="0">
                <a:latin typeface="Times New Roman" panose="02020603050405020304" pitchFamily="18" charset="0"/>
              </a:endParaRPr>
            </a:p>
            <a:p>
              <a:pPr algn="just" eaLnBrk="1" hangingPunct="1"/>
              <a:endParaRPr lang="en-US" altLang="zh-CN" b="0"/>
            </a:p>
          </p:txBody>
        </p:sp>
        <p:pic>
          <p:nvPicPr>
            <p:cNvPr id="22550" name="Picture 34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4" y="828"/>
              <a:ext cx="2160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51" name="Picture 3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8" y="1060"/>
              <a:ext cx="104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52" name="Picture 3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8" y="1364"/>
              <a:ext cx="216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93932" name="Group 44"/>
          <p:cNvGrpSpPr>
            <a:grpSpLocks/>
          </p:cNvGrpSpPr>
          <p:nvPr/>
        </p:nvGrpSpPr>
        <p:grpSpPr bwMode="auto">
          <a:xfrm>
            <a:off x="1179513" y="3170238"/>
            <a:ext cx="5908675" cy="2009775"/>
            <a:chOff x="743" y="1997"/>
            <a:chExt cx="3722" cy="1266"/>
          </a:xfrm>
        </p:grpSpPr>
        <p:sp>
          <p:nvSpPr>
            <p:cNvPr id="22543" name="Rectangle 31"/>
            <p:cNvSpPr>
              <a:spLocks noChangeArrowheads="1"/>
            </p:cNvSpPr>
            <p:nvPr/>
          </p:nvSpPr>
          <p:spPr bwMode="auto">
            <a:xfrm>
              <a:off x="743" y="2040"/>
              <a:ext cx="3722" cy="1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b="0">
                  <a:latin typeface="Times New Roman" panose="02020603050405020304" pitchFamily="18" charset="0"/>
                </a:rPr>
                <a:t>（</a:t>
              </a:r>
              <a:r>
                <a:rPr lang="en-US" altLang="zh-CN" b="0">
                  <a:latin typeface="Times New Roman" panose="02020603050405020304" pitchFamily="18" charset="0"/>
                </a:rPr>
                <a:t>4</a:t>
              </a:r>
              <a:r>
                <a:rPr lang="zh-CN" altLang="en-US" b="0">
                  <a:latin typeface="Times New Roman" panose="02020603050405020304" pitchFamily="18" charset="0"/>
                </a:rPr>
                <a:t>）</a:t>
              </a:r>
              <a:r>
                <a:rPr lang="zh-CN" altLang="en-US" sz="7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b="0"/>
                <a:t>F</a:t>
              </a:r>
              <a:r>
                <a:rPr lang="zh-CN" altLang="en-US" b="0">
                  <a:latin typeface="Times New Roman" panose="02020603050405020304" pitchFamily="18" charset="0"/>
                </a:rPr>
                <a:t>＝                                                 </a:t>
              </a:r>
            </a:p>
            <a:p>
              <a:pPr algn="l" eaLnBrk="1" hangingPunct="1"/>
              <a:r>
                <a:rPr lang="zh-CN" altLang="en-US" b="0">
                  <a:latin typeface="Times New Roman" panose="02020603050405020304" pitchFamily="18" charset="0"/>
                </a:rPr>
                <a:t>            ＝                         </a:t>
              </a:r>
            </a:p>
            <a:p>
              <a:pPr algn="l" eaLnBrk="1" hangingPunct="1"/>
              <a:r>
                <a:rPr lang="zh-CN" altLang="en-US" b="0">
                  <a:latin typeface="Times New Roman" panose="02020603050405020304" pitchFamily="18" charset="0"/>
                </a:rPr>
                <a:t>             ＝</a:t>
              </a:r>
            </a:p>
            <a:p>
              <a:pPr algn="l" eaLnBrk="1" hangingPunct="1"/>
              <a:r>
                <a:rPr lang="zh-CN" altLang="en-US" b="0">
                  <a:latin typeface="Times New Roman" panose="02020603050405020304" pitchFamily="18" charset="0"/>
                </a:rPr>
                <a:t>             ＝ </a:t>
              </a:r>
            </a:p>
            <a:p>
              <a:pPr algn="l" eaLnBrk="1" hangingPunct="1"/>
              <a:r>
                <a:rPr lang="zh-CN" altLang="en-US" b="0">
                  <a:latin typeface="Times New Roman" panose="02020603050405020304" pitchFamily="18" charset="0"/>
                </a:rPr>
                <a:t>             ＝</a:t>
              </a:r>
            </a:p>
          </p:txBody>
        </p:sp>
        <p:pic>
          <p:nvPicPr>
            <p:cNvPr id="22544" name="Picture 41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8" y="1997"/>
              <a:ext cx="2339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45" name="Picture 40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2" y="2269"/>
              <a:ext cx="1842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46" name="Picture 39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0" y="2501"/>
              <a:ext cx="153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47" name="Picture 38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8" y="2749"/>
              <a:ext cx="1098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48" name="Picture 37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2" y="3029"/>
              <a:ext cx="97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1177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3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F32D26-38EF-40CB-83FE-AE86B9A723B3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25603" name="Picture 2" descr="to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853440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23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33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1800" b="1">
                <a:latin typeface="宋体" pitchFamily="2" charset="-122"/>
              </a:rPr>
              <a:t>习题课</a:t>
            </a:r>
          </a:p>
        </p:txBody>
      </p:sp>
      <p:pic>
        <p:nvPicPr>
          <p:cNvPr id="25605" name="Picture 4" descr="arrow3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2576513" y="2819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auto">
          <a:xfrm>
            <a:off x="3862388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5608" name="Rectangle 7"/>
          <p:cNvSpPr>
            <a:spLocks noChangeArrowheads="1"/>
          </p:cNvSpPr>
          <p:nvPr/>
        </p:nvSpPr>
        <p:spPr bwMode="auto">
          <a:xfrm>
            <a:off x="3824288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5609" name="Rectangle 8"/>
          <p:cNvSpPr>
            <a:spLocks noChangeArrowheads="1"/>
          </p:cNvSpPr>
          <p:nvPr/>
        </p:nvSpPr>
        <p:spPr bwMode="auto">
          <a:xfrm>
            <a:off x="365760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5610" name="Rectangle 9"/>
          <p:cNvSpPr>
            <a:spLocks noChangeArrowheads="1"/>
          </p:cNvSpPr>
          <p:nvPr/>
        </p:nvSpPr>
        <p:spPr bwMode="auto">
          <a:xfrm>
            <a:off x="358140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25611" name="Picture 25" descr="arrow34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12" name="Group 30"/>
          <p:cNvGrpSpPr>
            <a:grpSpLocks/>
          </p:cNvGrpSpPr>
          <p:nvPr/>
        </p:nvGrpSpPr>
        <p:grpSpPr bwMode="auto">
          <a:xfrm>
            <a:off x="304800" y="736600"/>
            <a:ext cx="8229600" cy="1917700"/>
            <a:chOff x="192" y="464"/>
            <a:chExt cx="5184" cy="1208"/>
          </a:xfrm>
        </p:grpSpPr>
        <p:sp>
          <p:nvSpPr>
            <p:cNvPr id="25674" name="Rectangle 11"/>
            <p:cNvSpPr>
              <a:spLocks noChangeArrowheads="1"/>
            </p:cNvSpPr>
            <p:nvPr/>
          </p:nvSpPr>
          <p:spPr bwMode="auto">
            <a:xfrm>
              <a:off x="192" y="464"/>
              <a:ext cx="5184" cy="1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GB">
                  <a:latin typeface="Times New Roman" pitchFamily="18" charset="0"/>
                  <a:cs typeface="Times New Roman" pitchFamily="18" charset="0"/>
                </a:rPr>
                <a:t>2.</a:t>
              </a:r>
              <a:r>
                <a:rPr lang="zh-CN" altLang="en-GB">
                  <a:latin typeface="Times New Roman" pitchFamily="18" charset="0"/>
                </a:rPr>
                <a:t>8    </a:t>
              </a:r>
              <a:r>
                <a:rPr lang="zh-CN" altLang="en-US">
                  <a:cs typeface="Times New Roman" pitchFamily="18" charset="0"/>
                </a:rPr>
                <a:t>用卡诺图化简法求出下列逻辑函数的最简</a:t>
              </a:r>
              <a:r>
                <a:rPr lang="zh-CN" altLang="en-US">
                  <a:latin typeface="Times New Roman" pitchFamily="18" charset="0"/>
                  <a:cs typeface="Times New Roman" pitchFamily="18" charset="0"/>
                </a:rPr>
                <a:t>“</a:t>
              </a:r>
              <a:r>
                <a:rPr lang="zh-CN" altLang="en-US">
                  <a:cs typeface="Times New Roman" pitchFamily="18" charset="0"/>
                </a:rPr>
                <a:t>与－或</a:t>
              </a:r>
              <a:r>
                <a:rPr lang="zh-CN" altLang="en-US">
                  <a:latin typeface="Times New Roman" pitchFamily="18" charset="0"/>
                  <a:cs typeface="Times New Roman" pitchFamily="18" charset="0"/>
                </a:rPr>
                <a:t>”</a:t>
              </a:r>
              <a:r>
                <a:rPr lang="zh-CN" altLang="en-US">
                  <a:cs typeface="Times New Roman" pitchFamily="18" charset="0"/>
                </a:rPr>
                <a:t>表达式和最简</a:t>
              </a:r>
              <a:r>
                <a:rPr lang="zh-CN" altLang="en-US">
                  <a:latin typeface="Times New Roman" pitchFamily="18" charset="0"/>
                  <a:cs typeface="Times New Roman" pitchFamily="18" charset="0"/>
                </a:rPr>
                <a:t>“</a:t>
              </a:r>
              <a:r>
                <a:rPr lang="zh-CN" altLang="en-US">
                  <a:cs typeface="Times New Roman" pitchFamily="18" charset="0"/>
                </a:rPr>
                <a:t>或－与</a:t>
              </a:r>
              <a:r>
                <a:rPr lang="zh-CN" altLang="en-US">
                  <a:latin typeface="Times New Roman" pitchFamily="18" charset="0"/>
                  <a:cs typeface="Times New Roman" pitchFamily="18" charset="0"/>
                </a:rPr>
                <a:t>”</a:t>
              </a:r>
              <a:r>
                <a:rPr lang="zh-CN" altLang="en-US">
                  <a:cs typeface="Times New Roman" pitchFamily="18" charset="0"/>
                </a:rPr>
                <a:t>表达式。</a:t>
              </a:r>
            </a:p>
            <a:p>
              <a:pPr algn="l"/>
              <a:r>
                <a:rPr lang="zh-CN" altLang="en-US">
                  <a:cs typeface="Times New Roman" pitchFamily="18" charset="0"/>
                </a:rPr>
                <a:t>     </a:t>
              </a:r>
              <a:r>
                <a:rPr lang="zh-CN" altLang="en-US"/>
                <a:t>（</a:t>
              </a:r>
              <a:r>
                <a:rPr lang="en-US" altLang="zh-CN"/>
                <a:t>1</a:t>
              </a:r>
              <a:r>
                <a:rPr lang="zh-CN" altLang="en-US"/>
                <a:t>）</a:t>
              </a:r>
            </a:p>
            <a:p>
              <a:pPr algn="l"/>
              <a:r>
                <a:rPr lang="zh-CN" altLang="en-US"/>
                <a:t>     （</a:t>
              </a:r>
              <a:r>
                <a:rPr lang="en-US" altLang="zh-CN"/>
                <a:t>2</a:t>
              </a:r>
              <a:r>
                <a:rPr lang="zh-CN" altLang="en-US"/>
                <a:t>） </a:t>
              </a:r>
            </a:p>
            <a:p>
              <a:pPr algn="l"/>
              <a:r>
                <a:rPr lang="zh-CN" altLang="en-US"/>
                <a:t>     （</a:t>
              </a:r>
              <a:r>
                <a:rPr lang="en-US" altLang="zh-CN"/>
                <a:t>3</a:t>
              </a:r>
              <a:r>
                <a:rPr lang="zh-CN" altLang="en-US"/>
                <a:t>）</a:t>
              </a:r>
            </a:p>
          </p:txBody>
        </p:sp>
        <p:pic>
          <p:nvPicPr>
            <p:cNvPr id="25675" name="Picture 28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4" y="948"/>
              <a:ext cx="288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76" name="Picture 27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4" y="1178"/>
              <a:ext cx="3066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77" name="Picture 26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4" y="1408"/>
              <a:ext cx="3546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6791" name="Group 71"/>
          <p:cNvGrpSpPr>
            <a:grpSpLocks/>
          </p:cNvGrpSpPr>
          <p:nvPr/>
        </p:nvGrpSpPr>
        <p:grpSpPr bwMode="auto">
          <a:xfrm>
            <a:off x="419100" y="2565400"/>
            <a:ext cx="8153400" cy="895350"/>
            <a:chOff x="264" y="1744"/>
            <a:chExt cx="5136" cy="564"/>
          </a:xfrm>
        </p:grpSpPr>
        <p:sp>
          <p:nvSpPr>
            <p:cNvPr id="25672" name="Rectangle 18"/>
            <p:cNvSpPr>
              <a:spLocks noChangeArrowheads="1"/>
            </p:cNvSpPr>
            <p:nvPr/>
          </p:nvSpPr>
          <p:spPr bwMode="auto">
            <a:xfrm>
              <a:off x="264" y="1744"/>
              <a:ext cx="5136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lang="zh-CN" altLang="en-GB">
                  <a:solidFill>
                    <a:srgbClr val="FA2B08"/>
                  </a:solidFill>
                </a:rPr>
                <a:t>解答：</a:t>
              </a:r>
            </a:p>
            <a:p>
              <a:pPr algn="just"/>
              <a:r>
                <a:rPr lang="zh-CN" altLang="en-GB" b="0"/>
                <a:t>（1）</a:t>
              </a:r>
              <a:endParaRPr lang="zh-CN" altLang="en-US" b="0"/>
            </a:p>
          </p:txBody>
        </p:sp>
        <p:pic>
          <p:nvPicPr>
            <p:cNvPr id="25673" name="Picture 31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4" y="2020"/>
              <a:ext cx="288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6754" name="Group 34"/>
          <p:cNvGrpSpPr>
            <a:grpSpLocks/>
          </p:cNvGrpSpPr>
          <p:nvPr/>
        </p:nvGrpSpPr>
        <p:grpSpPr bwMode="auto">
          <a:xfrm>
            <a:off x="127000" y="3627438"/>
            <a:ext cx="3659188" cy="2790825"/>
            <a:chOff x="296" y="2373"/>
            <a:chExt cx="2305" cy="1758"/>
          </a:xfrm>
        </p:grpSpPr>
        <p:sp>
          <p:nvSpPr>
            <p:cNvPr id="25651" name="Line 35"/>
            <p:cNvSpPr>
              <a:spLocks noChangeShapeType="1"/>
            </p:cNvSpPr>
            <p:nvPr/>
          </p:nvSpPr>
          <p:spPr bwMode="auto">
            <a:xfrm>
              <a:off x="767" y="2827"/>
              <a:ext cx="183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5652" name="Line 36"/>
            <p:cNvSpPr>
              <a:spLocks noChangeShapeType="1"/>
            </p:cNvSpPr>
            <p:nvPr/>
          </p:nvSpPr>
          <p:spPr bwMode="auto">
            <a:xfrm>
              <a:off x="767" y="3153"/>
              <a:ext cx="183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5653" name="Line 37"/>
            <p:cNvSpPr>
              <a:spLocks noChangeShapeType="1"/>
            </p:cNvSpPr>
            <p:nvPr/>
          </p:nvSpPr>
          <p:spPr bwMode="auto">
            <a:xfrm>
              <a:off x="767" y="4131"/>
              <a:ext cx="183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5654" name="Line 38"/>
            <p:cNvSpPr>
              <a:spLocks noChangeShapeType="1"/>
            </p:cNvSpPr>
            <p:nvPr/>
          </p:nvSpPr>
          <p:spPr bwMode="auto">
            <a:xfrm>
              <a:off x="767" y="2827"/>
              <a:ext cx="0" cy="130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5655" name="Line 39"/>
            <p:cNvSpPr>
              <a:spLocks noChangeShapeType="1"/>
            </p:cNvSpPr>
            <p:nvPr/>
          </p:nvSpPr>
          <p:spPr bwMode="auto">
            <a:xfrm>
              <a:off x="1226" y="2827"/>
              <a:ext cx="0" cy="1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5656" name="Line 40"/>
            <p:cNvSpPr>
              <a:spLocks noChangeShapeType="1"/>
            </p:cNvSpPr>
            <p:nvPr/>
          </p:nvSpPr>
          <p:spPr bwMode="auto">
            <a:xfrm>
              <a:off x="2601" y="2827"/>
              <a:ext cx="0" cy="130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5657" name="Line 41"/>
            <p:cNvSpPr>
              <a:spLocks noChangeShapeType="1"/>
            </p:cNvSpPr>
            <p:nvPr/>
          </p:nvSpPr>
          <p:spPr bwMode="auto">
            <a:xfrm>
              <a:off x="1684" y="2827"/>
              <a:ext cx="0" cy="1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5658" name="Line 42"/>
            <p:cNvSpPr>
              <a:spLocks noChangeShapeType="1"/>
            </p:cNvSpPr>
            <p:nvPr/>
          </p:nvSpPr>
          <p:spPr bwMode="auto">
            <a:xfrm>
              <a:off x="2143" y="2827"/>
              <a:ext cx="0" cy="1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5659" name="Line 43"/>
            <p:cNvSpPr>
              <a:spLocks noChangeShapeType="1"/>
            </p:cNvSpPr>
            <p:nvPr/>
          </p:nvSpPr>
          <p:spPr bwMode="auto">
            <a:xfrm>
              <a:off x="767" y="3479"/>
              <a:ext cx="183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5660" name="Line 44"/>
            <p:cNvSpPr>
              <a:spLocks noChangeShapeType="1"/>
            </p:cNvSpPr>
            <p:nvPr/>
          </p:nvSpPr>
          <p:spPr bwMode="auto">
            <a:xfrm>
              <a:off x="767" y="3805"/>
              <a:ext cx="183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5661" name="Line 45"/>
            <p:cNvSpPr>
              <a:spLocks noChangeShapeType="1"/>
            </p:cNvSpPr>
            <p:nvPr/>
          </p:nvSpPr>
          <p:spPr bwMode="auto">
            <a:xfrm>
              <a:off x="526" y="2587"/>
              <a:ext cx="24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5662" name="Text Box 46"/>
            <p:cNvSpPr txBox="1">
              <a:spLocks noChangeArrowheads="1"/>
            </p:cNvSpPr>
            <p:nvPr/>
          </p:nvSpPr>
          <p:spPr bwMode="auto">
            <a:xfrm>
              <a:off x="824" y="255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00</a:t>
              </a:r>
            </a:p>
          </p:txBody>
        </p:sp>
        <p:sp>
          <p:nvSpPr>
            <p:cNvPr id="25663" name="Text Box 47"/>
            <p:cNvSpPr txBox="1">
              <a:spLocks noChangeArrowheads="1"/>
            </p:cNvSpPr>
            <p:nvPr/>
          </p:nvSpPr>
          <p:spPr bwMode="auto">
            <a:xfrm>
              <a:off x="1304" y="254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01</a:t>
              </a:r>
            </a:p>
          </p:txBody>
        </p:sp>
        <p:sp>
          <p:nvSpPr>
            <p:cNvPr id="25664" name="Text Box 48"/>
            <p:cNvSpPr txBox="1">
              <a:spLocks noChangeArrowheads="1"/>
            </p:cNvSpPr>
            <p:nvPr/>
          </p:nvSpPr>
          <p:spPr bwMode="auto">
            <a:xfrm>
              <a:off x="1763" y="254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25665" name="Text Box 49"/>
            <p:cNvSpPr txBox="1">
              <a:spLocks noChangeArrowheads="1"/>
            </p:cNvSpPr>
            <p:nvPr/>
          </p:nvSpPr>
          <p:spPr bwMode="auto">
            <a:xfrm>
              <a:off x="2208" y="253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25666" name="Text Box 50"/>
            <p:cNvSpPr txBox="1">
              <a:spLocks noChangeArrowheads="1"/>
            </p:cNvSpPr>
            <p:nvPr/>
          </p:nvSpPr>
          <p:spPr bwMode="auto">
            <a:xfrm>
              <a:off x="537" y="2373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AB</a:t>
              </a:r>
            </a:p>
          </p:txBody>
        </p:sp>
        <p:sp>
          <p:nvSpPr>
            <p:cNvPr id="25667" name="Text Box 51"/>
            <p:cNvSpPr txBox="1">
              <a:spLocks noChangeArrowheads="1"/>
            </p:cNvSpPr>
            <p:nvPr/>
          </p:nvSpPr>
          <p:spPr bwMode="auto">
            <a:xfrm>
              <a:off x="296" y="2613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CD</a:t>
              </a:r>
            </a:p>
          </p:txBody>
        </p:sp>
        <p:sp>
          <p:nvSpPr>
            <p:cNvPr id="25668" name="Text Box 52"/>
            <p:cNvSpPr txBox="1">
              <a:spLocks noChangeArrowheads="1"/>
            </p:cNvSpPr>
            <p:nvPr/>
          </p:nvSpPr>
          <p:spPr bwMode="auto">
            <a:xfrm>
              <a:off x="440" y="2853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00</a:t>
              </a:r>
            </a:p>
          </p:txBody>
        </p:sp>
        <p:sp>
          <p:nvSpPr>
            <p:cNvPr id="25669" name="Text Box 53"/>
            <p:cNvSpPr txBox="1">
              <a:spLocks noChangeArrowheads="1"/>
            </p:cNvSpPr>
            <p:nvPr/>
          </p:nvSpPr>
          <p:spPr bwMode="auto">
            <a:xfrm>
              <a:off x="449" y="3189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01</a:t>
              </a:r>
            </a:p>
          </p:txBody>
        </p:sp>
        <p:sp>
          <p:nvSpPr>
            <p:cNvPr id="25670" name="Text Box 54"/>
            <p:cNvSpPr txBox="1">
              <a:spLocks noChangeArrowheads="1"/>
            </p:cNvSpPr>
            <p:nvPr/>
          </p:nvSpPr>
          <p:spPr bwMode="auto">
            <a:xfrm>
              <a:off x="449" y="3525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25671" name="Text Box 55"/>
            <p:cNvSpPr txBox="1">
              <a:spLocks noChangeArrowheads="1"/>
            </p:cNvSpPr>
            <p:nvPr/>
          </p:nvSpPr>
          <p:spPr bwMode="auto">
            <a:xfrm>
              <a:off x="431" y="3825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宋体" charset="-122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</a:rPr>
                <a:t>10</a:t>
              </a:r>
            </a:p>
          </p:txBody>
        </p:sp>
      </p:grpSp>
      <p:grpSp>
        <p:nvGrpSpPr>
          <p:cNvPr id="286788" name="Group 68"/>
          <p:cNvGrpSpPr>
            <a:grpSpLocks/>
          </p:cNvGrpSpPr>
          <p:nvPr/>
        </p:nvGrpSpPr>
        <p:grpSpPr bwMode="auto">
          <a:xfrm>
            <a:off x="862013" y="4314825"/>
            <a:ext cx="790575" cy="2105025"/>
            <a:chOff x="767" y="2718"/>
            <a:chExt cx="498" cy="1326"/>
          </a:xfrm>
        </p:grpSpPr>
        <p:sp>
          <p:nvSpPr>
            <p:cNvPr id="25647" name="Rectangle 56"/>
            <p:cNvSpPr>
              <a:spLocks noChangeArrowheads="1"/>
            </p:cNvSpPr>
            <p:nvPr/>
          </p:nvSpPr>
          <p:spPr bwMode="auto">
            <a:xfrm>
              <a:off x="807" y="2718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5648" name="Rectangle 57"/>
            <p:cNvSpPr>
              <a:spLocks noChangeArrowheads="1"/>
            </p:cNvSpPr>
            <p:nvPr/>
          </p:nvSpPr>
          <p:spPr bwMode="auto">
            <a:xfrm>
              <a:off x="775" y="3070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5649" name="Rectangle 58"/>
            <p:cNvSpPr>
              <a:spLocks noChangeArrowheads="1"/>
            </p:cNvSpPr>
            <p:nvPr/>
          </p:nvSpPr>
          <p:spPr bwMode="auto">
            <a:xfrm>
              <a:off x="783" y="3406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5650" name="Rectangle 59"/>
            <p:cNvSpPr>
              <a:spLocks noChangeArrowheads="1"/>
            </p:cNvSpPr>
            <p:nvPr/>
          </p:nvSpPr>
          <p:spPr bwMode="auto">
            <a:xfrm>
              <a:off x="767" y="3718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</p:grpSp>
      <p:sp>
        <p:nvSpPr>
          <p:cNvPr id="286780" name="Rectangle 60"/>
          <p:cNvSpPr>
            <a:spLocks noChangeArrowheads="1"/>
          </p:cNvSpPr>
          <p:nvPr/>
        </p:nvSpPr>
        <p:spPr bwMode="auto">
          <a:xfrm>
            <a:off x="1573213" y="4873625"/>
            <a:ext cx="72707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b="0">
                <a:latin typeface="Times New Roman" pitchFamily="18" charset="0"/>
              </a:rPr>
              <a:t>1</a:t>
            </a:r>
            <a:endParaRPr lang="en-US" altLang="zh-CN" b="0" baseline="-30000">
              <a:latin typeface="Times New Roman" pitchFamily="18" charset="0"/>
            </a:endParaRPr>
          </a:p>
        </p:txBody>
      </p:sp>
      <p:grpSp>
        <p:nvGrpSpPr>
          <p:cNvPr id="286789" name="Group 69"/>
          <p:cNvGrpSpPr>
            <a:grpSpLocks/>
          </p:cNvGrpSpPr>
          <p:nvPr/>
        </p:nvGrpSpPr>
        <p:grpSpPr bwMode="auto">
          <a:xfrm>
            <a:off x="2322513" y="5394325"/>
            <a:ext cx="1476375" cy="1050925"/>
            <a:chOff x="1687" y="3398"/>
            <a:chExt cx="930" cy="662"/>
          </a:xfrm>
        </p:grpSpPr>
        <p:sp>
          <p:nvSpPr>
            <p:cNvPr id="25643" name="Rectangle 61"/>
            <p:cNvSpPr>
              <a:spLocks noChangeArrowheads="1"/>
            </p:cNvSpPr>
            <p:nvPr/>
          </p:nvSpPr>
          <p:spPr bwMode="auto">
            <a:xfrm>
              <a:off x="1687" y="3398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5644" name="Rectangle 62"/>
            <p:cNvSpPr>
              <a:spLocks noChangeArrowheads="1"/>
            </p:cNvSpPr>
            <p:nvPr/>
          </p:nvSpPr>
          <p:spPr bwMode="auto">
            <a:xfrm>
              <a:off x="1695" y="3734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5645" name="Rectangle 63"/>
            <p:cNvSpPr>
              <a:spLocks noChangeArrowheads="1"/>
            </p:cNvSpPr>
            <p:nvPr/>
          </p:nvSpPr>
          <p:spPr bwMode="auto">
            <a:xfrm>
              <a:off x="2135" y="3398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5646" name="Rectangle 64"/>
            <p:cNvSpPr>
              <a:spLocks noChangeArrowheads="1"/>
            </p:cNvSpPr>
            <p:nvPr/>
          </p:nvSpPr>
          <p:spPr bwMode="auto">
            <a:xfrm>
              <a:off x="2159" y="3710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</p:grpSp>
      <p:grpSp>
        <p:nvGrpSpPr>
          <p:cNvPr id="286790" name="Group 70"/>
          <p:cNvGrpSpPr>
            <a:grpSpLocks/>
          </p:cNvGrpSpPr>
          <p:nvPr/>
        </p:nvGrpSpPr>
        <p:grpSpPr bwMode="auto">
          <a:xfrm>
            <a:off x="1611313" y="4352925"/>
            <a:ext cx="1463675" cy="1025525"/>
            <a:chOff x="1239" y="2742"/>
            <a:chExt cx="922" cy="646"/>
          </a:xfrm>
        </p:grpSpPr>
        <p:sp>
          <p:nvSpPr>
            <p:cNvPr id="25640" name="Rectangle 65"/>
            <p:cNvSpPr>
              <a:spLocks noChangeArrowheads="1"/>
            </p:cNvSpPr>
            <p:nvPr/>
          </p:nvSpPr>
          <p:spPr bwMode="auto">
            <a:xfrm>
              <a:off x="1239" y="2742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5641" name="Rectangle 66"/>
            <p:cNvSpPr>
              <a:spLocks noChangeArrowheads="1"/>
            </p:cNvSpPr>
            <p:nvPr/>
          </p:nvSpPr>
          <p:spPr bwMode="auto">
            <a:xfrm>
              <a:off x="1703" y="2742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  <p:sp>
          <p:nvSpPr>
            <p:cNvPr id="25642" name="Rectangle 67"/>
            <p:cNvSpPr>
              <a:spLocks noChangeArrowheads="1"/>
            </p:cNvSpPr>
            <p:nvPr/>
          </p:nvSpPr>
          <p:spPr bwMode="auto">
            <a:xfrm>
              <a:off x="1687" y="3062"/>
              <a:ext cx="45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b="0">
                  <a:latin typeface="Times New Roman" pitchFamily="18" charset="0"/>
                </a:rPr>
                <a:t>1</a:t>
              </a:r>
              <a:endParaRPr lang="en-US" altLang="zh-CN" b="0" baseline="-30000">
                <a:latin typeface="Times New Roman" pitchFamily="18" charset="0"/>
              </a:endParaRPr>
            </a:p>
          </p:txBody>
        </p:sp>
      </p:grpSp>
      <p:sp>
        <p:nvSpPr>
          <p:cNvPr id="286792" name="AutoShape 72"/>
          <p:cNvSpPr>
            <a:spLocks noChangeArrowheads="1"/>
          </p:cNvSpPr>
          <p:nvPr/>
        </p:nvSpPr>
        <p:spPr bwMode="auto">
          <a:xfrm>
            <a:off x="1003300" y="4394200"/>
            <a:ext cx="457200" cy="193040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794" name="AutoShape 74"/>
          <p:cNvSpPr>
            <a:spLocks noChangeArrowheads="1"/>
          </p:cNvSpPr>
          <p:nvPr/>
        </p:nvSpPr>
        <p:spPr bwMode="auto">
          <a:xfrm>
            <a:off x="2438400" y="5461000"/>
            <a:ext cx="1104900" cy="90170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6795" name="AutoShape 75"/>
          <p:cNvSpPr>
            <a:spLocks noChangeArrowheads="1"/>
          </p:cNvSpPr>
          <p:nvPr/>
        </p:nvSpPr>
        <p:spPr bwMode="auto">
          <a:xfrm>
            <a:off x="1739900" y="4394200"/>
            <a:ext cx="1143000" cy="96520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86842" name="Group 122"/>
          <p:cNvGrpSpPr>
            <a:grpSpLocks/>
          </p:cNvGrpSpPr>
          <p:nvPr/>
        </p:nvGrpSpPr>
        <p:grpSpPr bwMode="auto">
          <a:xfrm>
            <a:off x="4130675" y="3835400"/>
            <a:ext cx="4581525" cy="920750"/>
            <a:chOff x="2674" y="2416"/>
            <a:chExt cx="2886" cy="580"/>
          </a:xfrm>
        </p:grpSpPr>
        <p:sp>
          <p:nvSpPr>
            <p:cNvPr id="25638" name="Rectangle 76"/>
            <p:cNvSpPr>
              <a:spLocks noChangeArrowheads="1"/>
            </p:cNvSpPr>
            <p:nvPr/>
          </p:nvSpPr>
          <p:spPr bwMode="auto">
            <a:xfrm>
              <a:off x="2776" y="2416"/>
              <a:ext cx="5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lang="zh-CN" altLang="en-GB"/>
                <a:t>所以</a:t>
              </a:r>
            </a:p>
          </p:txBody>
        </p:sp>
        <p:pic>
          <p:nvPicPr>
            <p:cNvPr id="25639" name="Picture 77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4" y="2708"/>
              <a:ext cx="288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6826" name="Group 106"/>
          <p:cNvGrpSpPr>
            <a:grpSpLocks/>
          </p:cNvGrpSpPr>
          <p:nvPr/>
        </p:nvGrpSpPr>
        <p:grpSpPr bwMode="auto">
          <a:xfrm>
            <a:off x="5681663" y="4852988"/>
            <a:ext cx="1887537" cy="384175"/>
            <a:chOff x="3771" y="3057"/>
            <a:chExt cx="1189" cy="242"/>
          </a:xfrm>
        </p:grpSpPr>
        <p:sp>
          <p:nvSpPr>
            <p:cNvPr id="25627" name="Line 79"/>
            <p:cNvSpPr>
              <a:spLocks noChangeShapeType="1"/>
            </p:cNvSpPr>
            <p:nvPr/>
          </p:nvSpPr>
          <p:spPr bwMode="auto">
            <a:xfrm>
              <a:off x="3866" y="3075"/>
              <a:ext cx="11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8" name="Line 80"/>
            <p:cNvSpPr>
              <a:spLocks noChangeShapeType="1"/>
            </p:cNvSpPr>
            <p:nvPr/>
          </p:nvSpPr>
          <p:spPr bwMode="auto">
            <a:xfrm>
              <a:off x="3992" y="3075"/>
              <a:ext cx="11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9" name="Line 83"/>
            <p:cNvSpPr>
              <a:spLocks noChangeShapeType="1"/>
            </p:cNvSpPr>
            <p:nvPr/>
          </p:nvSpPr>
          <p:spPr bwMode="auto">
            <a:xfrm>
              <a:off x="4808" y="3075"/>
              <a:ext cx="11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0" name="Rectangle 84"/>
            <p:cNvSpPr>
              <a:spLocks noChangeArrowheads="1"/>
            </p:cNvSpPr>
            <p:nvPr/>
          </p:nvSpPr>
          <p:spPr bwMode="auto">
            <a:xfrm>
              <a:off x="4837" y="3078"/>
              <a:ext cx="123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0" i="1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endParaRPr lang="en-US" altLang="zh-CN"/>
            </a:p>
          </p:txBody>
        </p:sp>
        <p:sp>
          <p:nvSpPr>
            <p:cNvPr id="25631" name="Rectangle 85"/>
            <p:cNvSpPr>
              <a:spLocks noChangeArrowheads="1"/>
            </p:cNvSpPr>
            <p:nvPr/>
          </p:nvSpPr>
          <p:spPr bwMode="auto">
            <a:xfrm>
              <a:off x="4721" y="3078"/>
              <a:ext cx="112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0" i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n-US" altLang="zh-CN"/>
            </a:p>
          </p:txBody>
        </p:sp>
        <p:sp>
          <p:nvSpPr>
            <p:cNvPr id="25632" name="Rectangle 86"/>
            <p:cNvSpPr>
              <a:spLocks noChangeArrowheads="1"/>
            </p:cNvSpPr>
            <p:nvPr/>
          </p:nvSpPr>
          <p:spPr bwMode="auto">
            <a:xfrm>
              <a:off x="4296" y="3078"/>
              <a:ext cx="235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0" i="1">
                  <a:solidFill>
                    <a:srgbClr val="000000"/>
                  </a:solidFill>
                  <a:latin typeface="Times New Roman" pitchFamily="18" charset="0"/>
                </a:rPr>
                <a:t>AC</a:t>
              </a:r>
              <a:endParaRPr lang="en-US" altLang="zh-CN"/>
            </a:p>
          </p:txBody>
        </p:sp>
        <p:sp>
          <p:nvSpPr>
            <p:cNvPr id="25633" name="Rectangle 90"/>
            <p:cNvSpPr>
              <a:spLocks noChangeArrowheads="1"/>
            </p:cNvSpPr>
            <p:nvPr/>
          </p:nvSpPr>
          <p:spPr bwMode="auto">
            <a:xfrm>
              <a:off x="4030" y="3078"/>
              <a:ext cx="112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0" i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n-US" altLang="zh-CN"/>
            </a:p>
          </p:txBody>
        </p:sp>
        <p:sp>
          <p:nvSpPr>
            <p:cNvPr id="25634" name="Rectangle 91"/>
            <p:cNvSpPr>
              <a:spLocks noChangeArrowheads="1"/>
            </p:cNvSpPr>
            <p:nvPr/>
          </p:nvSpPr>
          <p:spPr bwMode="auto">
            <a:xfrm>
              <a:off x="3914" y="3078"/>
              <a:ext cx="112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0" i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 altLang="zh-CN"/>
            </a:p>
          </p:txBody>
        </p:sp>
        <p:sp>
          <p:nvSpPr>
            <p:cNvPr id="25635" name="Rectangle 97"/>
            <p:cNvSpPr>
              <a:spLocks noChangeArrowheads="1"/>
            </p:cNvSpPr>
            <p:nvPr/>
          </p:nvSpPr>
          <p:spPr bwMode="auto">
            <a:xfrm>
              <a:off x="4595" y="3057"/>
              <a:ext cx="101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/>
            </a:p>
          </p:txBody>
        </p:sp>
        <p:sp>
          <p:nvSpPr>
            <p:cNvPr id="25636" name="Rectangle 98"/>
            <p:cNvSpPr>
              <a:spLocks noChangeArrowheads="1"/>
            </p:cNvSpPr>
            <p:nvPr/>
          </p:nvSpPr>
          <p:spPr bwMode="auto">
            <a:xfrm>
              <a:off x="4160" y="3057"/>
              <a:ext cx="101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/>
            </a:p>
          </p:txBody>
        </p:sp>
        <p:sp>
          <p:nvSpPr>
            <p:cNvPr id="25637" name="Rectangle 100"/>
            <p:cNvSpPr>
              <a:spLocks noChangeArrowheads="1"/>
            </p:cNvSpPr>
            <p:nvPr/>
          </p:nvSpPr>
          <p:spPr bwMode="auto">
            <a:xfrm>
              <a:off x="3771" y="3057"/>
              <a:ext cx="101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300" b="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/>
            </a:p>
          </p:txBody>
        </p:sp>
      </p:grpSp>
      <p:sp>
        <p:nvSpPr>
          <p:cNvPr id="286840" name="AutoShape 120"/>
          <p:cNvSpPr>
            <a:spLocks noChangeArrowheads="1"/>
          </p:cNvSpPr>
          <p:nvPr/>
        </p:nvSpPr>
        <p:spPr bwMode="auto">
          <a:xfrm>
            <a:off x="1765300" y="5473700"/>
            <a:ext cx="393700" cy="81280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6841" name="AutoShape 121"/>
          <p:cNvSpPr>
            <a:spLocks noChangeArrowheads="1"/>
          </p:cNvSpPr>
          <p:nvPr/>
        </p:nvSpPr>
        <p:spPr bwMode="auto">
          <a:xfrm>
            <a:off x="3200400" y="4470400"/>
            <a:ext cx="393700" cy="81280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86847" name="Object 127"/>
          <p:cNvGraphicFramePr>
            <a:graphicFrameLocks noChangeAspect="1"/>
          </p:cNvGraphicFramePr>
          <p:nvPr/>
        </p:nvGraphicFramePr>
        <p:xfrm>
          <a:off x="5595938" y="5276850"/>
          <a:ext cx="324326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9" imgW="1815312" imgH="266584" progId="Equation.3">
                  <p:embed/>
                </p:oleObj>
              </mc:Choice>
              <mc:Fallback>
                <p:oleObj name="Equation" r:id="rId9" imgW="1815312" imgH="2665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938" y="5276850"/>
                        <a:ext cx="3243262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2766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6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86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0" grpId="0" autoUpdateAnimBg="0"/>
      <p:bldP spid="286792" grpId="0" animBg="1"/>
      <p:bldP spid="286794" grpId="0" animBg="1"/>
      <p:bldP spid="286795" grpId="0" animBg="1"/>
      <p:bldP spid="286840" grpId="0" animBg="1"/>
      <p:bldP spid="28684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6D1A29-62ED-494E-B4BB-BE5CA296C002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27651" name="Picture 2" descr="t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853440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9011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33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1800" b="1">
                <a:latin typeface="宋体" pitchFamily="2" charset="-122"/>
              </a:rPr>
              <a:t>习题课</a:t>
            </a:r>
          </a:p>
        </p:txBody>
      </p:sp>
      <p:pic>
        <p:nvPicPr>
          <p:cNvPr id="27653" name="Picture 4" descr="arrow3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3862388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3824288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365760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9018" name="Rectangle 10"/>
          <p:cNvSpPr>
            <a:spLocks noChangeArrowheads="1"/>
          </p:cNvSpPr>
          <p:nvPr/>
        </p:nvSpPr>
        <p:spPr bwMode="auto">
          <a:xfrm>
            <a:off x="622300" y="711200"/>
            <a:ext cx="8153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GB">
                <a:solidFill>
                  <a:srgbClr val="FA2B08"/>
                </a:solidFill>
              </a:rPr>
              <a:t>解答：</a:t>
            </a:r>
          </a:p>
          <a:p>
            <a:pPr algn="just"/>
            <a:r>
              <a:rPr lang="zh-CN" altLang="en-GB" b="0"/>
              <a:t>（3）</a:t>
            </a:r>
            <a:endParaRPr lang="zh-CN" altLang="en-US" b="0"/>
          </a:p>
        </p:txBody>
      </p:sp>
      <p:pic>
        <p:nvPicPr>
          <p:cNvPr id="27658" name="Picture 11" descr="arrow34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9" name="Picture 1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43000"/>
            <a:ext cx="56292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0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363" y="1917700"/>
            <a:ext cx="6127750" cy="358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7872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9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9512" y="0"/>
            <a:ext cx="8964488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/>
              <a:t>数字逻辑四章练习题</a:t>
            </a:r>
          </a:p>
          <a:p>
            <a:r>
              <a:rPr lang="en-US" altLang="zh-CN" dirty="0"/>
              <a:t> </a:t>
            </a:r>
            <a:endParaRPr lang="zh-CN" altLang="zh-CN" dirty="0"/>
          </a:p>
          <a:p>
            <a:pPr lvl="0"/>
            <a:r>
              <a:rPr lang="zh-CN" altLang="zh-CN" dirty="0"/>
              <a:t>填空题：</a:t>
            </a:r>
          </a:p>
          <a:p>
            <a:r>
              <a:rPr lang="en-US" altLang="zh-CN" dirty="0"/>
              <a:t>1. </a:t>
            </a:r>
            <a:r>
              <a:rPr lang="zh-CN" altLang="zh-CN" dirty="0"/>
              <a:t>通用逻辑电路有</a:t>
            </a:r>
            <a:r>
              <a:rPr lang="en-US" altLang="zh-CN" u="sng" dirty="0"/>
              <a:t>             </a:t>
            </a:r>
            <a:r>
              <a:rPr lang="zh-CN" altLang="zh-CN" dirty="0"/>
              <a:t>和</a:t>
            </a:r>
            <a:r>
              <a:rPr lang="en-US" altLang="zh-CN" u="sng" dirty="0"/>
              <a:t>                  </a:t>
            </a:r>
            <a:r>
              <a:rPr lang="zh-CN" altLang="zh-CN" dirty="0"/>
              <a:t>两种，他们的电路符号分别是</a:t>
            </a:r>
            <a:r>
              <a:rPr lang="en-US" altLang="zh-CN" u="sng" dirty="0"/>
              <a:t>        </a:t>
            </a:r>
            <a:endParaRPr lang="zh-CN" altLang="zh-CN" dirty="0"/>
          </a:p>
          <a:p>
            <a:r>
              <a:rPr lang="zh-CN" altLang="zh-CN" dirty="0"/>
              <a:t>和</a:t>
            </a:r>
            <a:r>
              <a:rPr lang="en-US" altLang="zh-CN" u="sng" dirty="0"/>
              <a:t>       </a:t>
            </a:r>
            <a:r>
              <a:rPr lang="zh-CN" altLang="zh-CN" dirty="0"/>
              <a:t>。</a:t>
            </a:r>
          </a:p>
          <a:p>
            <a:r>
              <a:rPr lang="en-US" altLang="zh-CN" dirty="0"/>
              <a:t>2. </a:t>
            </a:r>
            <a:r>
              <a:rPr lang="zh-CN" altLang="zh-CN" dirty="0"/>
              <a:t>组合逻辑电路在任意时刻的稳定输出信号取决于</a:t>
            </a:r>
            <a:r>
              <a:rPr lang="en-US" altLang="zh-CN" u="sng" dirty="0"/>
              <a:t>              </a:t>
            </a:r>
            <a:r>
              <a:rPr lang="zh-CN" altLang="zh-CN" dirty="0"/>
              <a:t>。</a:t>
            </a:r>
          </a:p>
          <a:p>
            <a:r>
              <a:rPr lang="en-US" altLang="zh-CN" dirty="0"/>
              <a:t>3. </a:t>
            </a:r>
            <a:r>
              <a:rPr lang="zh-CN" altLang="zh-CN" dirty="0"/>
              <a:t>设计多输出组合逻辑电路时，只有充分考虑</a:t>
            </a:r>
            <a:r>
              <a:rPr lang="en-US" altLang="zh-CN" u="sng" dirty="0"/>
              <a:t>           </a:t>
            </a:r>
            <a:r>
              <a:rPr lang="zh-CN" altLang="zh-CN" dirty="0"/>
              <a:t>，才能使电路达到最简。</a:t>
            </a:r>
          </a:p>
          <a:p>
            <a:r>
              <a:rPr lang="en-US" altLang="zh-CN" dirty="0"/>
              <a:t>4. </a:t>
            </a:r>
            <a:r>
              <a:rPr lang="zh-CN" altLang="zh-CN" dirty="0"/>
              <a:t>组合逻辑电路输出与输入的关系可用</a:t>
            </a:r>
            <a:r>
              <a:rPr lang="en-US" altLang="zh-CN" u="sng" dirty="0"/>
              <a:t>              </a:t>
            </a:r>
            <a:r>
              <a:rPr lang="zh-CN" altLang="zh-CN" dirty="0"/>
              <a:t>，和</a:t>
            </a:r>
            <a:r>
              <a:rPr lang="en-US" altLang="zh-CN" dirty="0"/>
              <a:t>  </a:t>
            </a:r>
            <a:r>
              <a:rPr lang="en-US" altLang="zh-CN" u="sng" dirty="0"/>
              <a:t>                     </a:t>
            </a:r>
            <a:r>
              <a:rPr lang="zh-CN" altLang="zh-CN" dirty="0"/>
              <a:t>进行描述。</a:t>
            </a:r>
          </a:p>
          <a:p>
            <a:r>
              <a:rPr lang="en-US" altLang="zh-CN" dirty="0"/>
              <a:t>5. </a:t>
            </a:r>
            <a:r>
              <a:rPr lang="zh-CN" altLang="zh-CN" dirty="0"/>
              <a:t>判断电路是否可能产生险象的方法有</a:t>
            </a:r>
            <a:r>
              <a:rPr lang="en-US" altLang="zh-CN" u="sng" dirty="0"/>
              <a:t>           </a:t>
            </a:r>
            <a:r>
              <a:rPr lang="zh-CN" altLang="zh-CN" dirty="0"/>
              <a:t>，和</a:t>
            </a:r>
            <a:r>
              <a:rPr lang="en-US" altLang="zh-CN" u="sng" dirty="0"/>
              <a:t>           </a:t>
            </a:r>
            <a:r>
              <a:rPr lang="zh-CN" altLang="zh-CN" dirty="0"/>
              <a:t>。</a:t>
            </a:r>
          </a:p>
          <a:p>
            <a:r>
              <a:rPr lang="en-US" altLang="zh-CN" dirty="0"/>
              <a:t>6. </a:t>
            </a:r>
            <a:r>
              <a:rPr lang="zh-CN" altLang="zh-CN" dirty="0"/>
              <a:t>消除险象的常用方法有</a:t>
            </a:r>
            <a:r>
              <a:rPr lang="en-US" altLang="zh-CN" u="sng" dirty="0"/>
              <a:t>                         </a:t>
            </a:r>
            <a:r>
              <a:rPr lang="zh-CN" altLang="zh-CN" dirty="0"/>
              <a:t>，</a:t>
            </a:r>
            <a:r>
              <a:rPr lang="en-US" altLang="zh-CN" u="sng" dirty="0"/>
              <a:t>                             </a:t>
            </a:r>
            <a:r>
              <a:rPr lang="zh-CN" altLang="zh-CN" dirty="0"/>
              <a:t>，和</a:t>
            </a:r>
            <a:r>
              <a:rPr lang="en-US" altLang="zh-CN" u="sng" dirty="0"/>
              <a:t>                              </a:t>
            </a:r>
            <a:r>
              <a:rPr lang="en-US" altLang="zh-CN" dirty="0"/>
              <a:t>3</a:t>
            </a:r>
            <a:r>
              <a:rPr lang="zh-CN" altLang="zh-CN" dirty="0"/>
              <a:t>种方法。</a:t>
            </a:r>
          </a:p>
          <a:p>
            <a:pPr lvl="0"/>
            <a:r>
              <a:rPr lang="zh-CN" altLang="zh-CN" dirty="0"/>
              <a:t>判断题：</a:t>
            </a:r>
          </a:p>
          <a:p>
            <a:pPr lvl="0"/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zh-CN" altLang="zh-CN" dirty="0"/>
              <a:t>与门，与非门，或非门，与或非门这四种逻辑门都可以实现</a:t>
            </a:r>
            <a:r>
              <a:rPr lang="en-US" altLang="zh-CN" dirty="0"/>
              <a:t>3</a:t>
            </a:r>
            <a:r>
              <a:rPr lang="zh-CN" altLang="zh-CN" dirty="0"/>
              <a:t>种基本运算。</a:t>
            </a:r>
            <a:r>
              <a:rPr lang="en-US" altLang="zh-CN" dirty="0"/>
              <a:t>     </a:t>
            </a:r>
            <a:r>
              <a:rPr lang="zh-CN" altLang="en-US" dirty="0"/>
              <a:t>（  ）</a:t>
            </a:r>
            <a:r>
              <a:rPr lang="en-US" altLang="zh-CN" dirty="0"/>
              <a:t>                                                   </a:t>
            </a:r>
          </a:p>
          <a:p>
            <a:pPr lvl="0"/>
            <a:r>
              <a:rPr lang="en-US" altLang="zh-CN" dirty="0"/>
              <a:t>2 </a:t>
            </a:r>
            <a:r>
              <a:rPr lang="zh-CN" altLang="zh-CN" dirty="0"/>
              <a:t>当与非门的输入全部为高电平时，其输出为高电平。</a:t>
            </a:r>
            <a:r>
              <a:rPr lang="en-US" altLang="zh-CN" dirty="0"/>
              <a:t>                                              </a:t>
            </a:r>
            <a:r>
              <a:rPr lang="zh-CN" altLang="zh-CN" dirty="0"/>
              <a:t>（</a:t>
            </a:r>
            <a:r>
              <a:rPr lang="en-US" altLang="zh-CN" dirty="0"/>
              <a:t>  </a:t>
            </a:r>
            <a:r>
              <a:rPr lang="zh-CN" altLang="zh-CN" dirty="0"/>
              <a:t>）</a:t>
            </a:r>
          </a:p>
          <a:p>
            <a:pPr lvl="0"/>
            <a:r>
              <a:rPr lang="en-US" altLang="zh-CN" dirty="0"/>
              <a:t>3 </a:t>
            </a:r>
            <a:r>
              <a:rPr lang="zh-CN" altLang="zh-CN" dirty="0"/>
              <a:t>当异或门的一个输入端接逻辑</a:t>
            </a:r>
            <a:r>
              <a:rPr lang="en-US" altLang="zh-CN" dirty="0"/>
              <a:t>1</a:t>
            </a:r>
            <a:r>
              <a:rPr lang="zh-CN" altLang="zh-CN" dirty="0"/>
              <a:t>时，可实现反相器的功能。</a:t>
            </a:r>
            <a:r>
              <a:rPr lang="en-US" altLang="zh-CN" dirty="0"/>
              <a:t>                                   </a:t>
            </a:r>
            <a:r>
              <a:rPr lang="zh-CN" altLang="zh-CN" dirty="0"/>
              <a:t>（</a:t>
            </a:r>
            <a:r>
              <a:rPr lang="en-US" altLang="zh-CN" dirty="0"/>
              <a:t>  </a:t>
            </a:r>
            <a:r>
              <a:rPr lang="zh-CN" altLang="zh-CN" dirty="0"/>
              <a:t>）</a:t>
            </a:r>
          </a:p>
          <a:p>
            <a:pPr lvl="0"/>
            <a:r>
              <a:rPr lang="en-US" altLang="zh-CN" dirty="0"/>
              <a:t>4 </a:t>
            </a:r>
            <a:r>
              <a:rPr lang="zh-CN" altLang="zh-CN" dirty="0"/>
              <a:t>用或非门可以任意逻辑函数功能。</a:t>
            </a:r>
            <a:r>
              <a:rPr lang="en-US" altLang="zh-CN" dirty="0"/>
              <a:t>                                                                                 </a:t>
            </a:r>
            <a:r>
              <a:rPr lang="zh-CN" altLang="zh-CN" dirty="0"/>
              <a:t>（</a:t>
            </a:r>
            <a:r>
              <a:rPr lang="en-US" altLang="zh-CN" dirty="0"/>
              <a:t>  </a:t>
            </a:r>
            <a:r>
              <a:rPr lang="zh-CN" altLang="zh-CN" dirty="0"/>
              <a:t>）</a:t>
            </a:r>
          </a:p>
          <a:p>
            <a:pPr lvl="0"/>
            <a:r>
              <a:rPr lang="en-US" altLang="zh-CN" dirty="0"/>
              <a:t>5 </a:t>
            </a:r>
            <a:r>
              <a:rPr lang="zh-CN" altLang="zh-CN" dirty="0"/>
              <a:t>由逻辑门构成的电路是组合逻辑电路。</a:t>
            </a:r>
            <a:r>
              <a:rPr lang="en-US" altLang="zh-CN" dirty="0"/>
              <a:t>                                                                         </a:t>
            </a:r>
            <a:r>
              <a:rPr lang="zh-CN" altLang="zh-CN" dirty="0"/>
              <a:t>（</a:t>
            </a:r>
            <a:r>
              <a:rPr lang="en-US" altLang="zh-CN" dirty="0"/>
              <a:t>  </a:t>
            </a:r>
            <a:r>
              <a:rPr lang="zh-CN" altLang="zh-CN" dirty="0"/>
              <a:t>）</a:t>
            </a:r>
          </a:p>
          <a:p>
            <a:pPr lvl="0"/>
            <a:r>
              <a:rPr lang="en-US" altLang="zh-CN" dirty="0"/>
              <a:t>6 </a:t>
            </a:r>
            <a:r>
              <a:rPr lang="zh-CN" altLang="zh-CN" dirty="0"/>
              <a:t>设计包含无关条件的组合逻辑电路时，利用无关最小项的随意性有利于输出函数化简。</a:t>
            </a:r>
            <a:r>
              <a:rPr lang="en-US" altLang="zh-CN" dirty="0"/>
              <a:t>                                                                                          								          </a:t>
            </a:r>
            <a:r>
              <a:rPr lang="zh-CN" altLang="zh-CN" dirty="0"/>
              <a:t>（</a:t>
            </a:r>
            <a:r>
              <a:rPr lang="en-US" altLang="zh-CN" dirty="0"/>
              <a:t>  </a:t>
            </a:r>
            <a:r>
              <a:rPr lang="zh-CN" altLang="zh-CN" dirty="0"/>
              <a:t>）</a:t>
            </a:r>
          </a:p>
          <a:p>
            <a:pPr lvl="0"/>
            <a:r>
              <a:rPr lang="en-US" altLang="zh-CN" dirty="0"/>
              <a:t>7 </a:t>
            </a:r>
            <a:r>
              <a:rPr lang="zh-CN" altLang="zh-CN" dirty="0"/>
              <a:t>对于多输出组合逻辑电路，仅将各单个输出函数化为最简表达式，不一定能是整体达到最简。</a:t>
            </a:r>
            <a:r>
              <a:rPr lang="en-US" altLang="zh-CN" dirty="0"/>
              <a:t>                                                                                                                                     </a:t>
            </a:r>
            <a:r>
              <a:rPr lang="zh-CN" altLang="zh-CN" dirty="0"/>
              <a:t>（</a:t>
            </a:r>
            <a:r>
              <a:rPr lang="en-US" altLang="zh-CN" dirty="0"/>
              <a:t>  </a:t>
            </a:r>
            <a:r>
              <a:rPr lang="zh-CN" altLang="zh-CN" dirty="0"/>
              <a:t>）</a:t>
            </a:r>
          </a:p>
          <a:p>
            <a:pPr lvl="0"/>
            <a:r>
              <a:rPr lang="en-US" altLang="zh-CN" dirty="0"/>
              <a:t>8 </a:t>
            </a:r>
            <a:r>
              <a:rPr lang="zh-CN" altLang="zh-CN" dirty="0"/>
              <a:t>组合逻辑电路中的竞争是由逻辑电路设计错误引起的。</a:t>
            </a:r>
            <a:r>
              <a:rPr lang="en-US" altLang="zh-CN" dirty="0"/>
              <a:t>                                          </a:t>
            </a:r>
            <a:r>
              <a:rPr lang="zh-CN" altLang="zh-CN" dirty="0"/>
              <a:t>（</a:t>
            </a:r>
            <a:r>
              <a:rPr lang="en-US" altLang="zh-CN" dirty="0"/>
              <a:t>  </a:t>
            </a:r>
            <a:r>
              <a:rPr lang="zh-CN" altLang="zh-CN" dirty="0"/>
              <a:t>）</a:t>
            </a:r>
          </a:p>
          <a:p>
            <a:pPr lvl="0"/>
            <a:r>
              <a:rPr lang="en-US" altLang="zh-CN" dirty="0"/>
              <a:t>9 </a:t>
            </a:r>
            <a:r>
              <a:rPr lang="zh-CN" altLang="zh-CN" dirty="0"/>
              <a:t>在组合逻辑电路中，由竞争产生的险象是一种瞬间的错误现象。</a:t>
            </a:r>
            <a:r>
              <a:rPr lang="en-US" altLang="zh-CN" dirty="0"/>
              <a:t>                         </a:t>
            </a:r>
            <a:r>
              <a:rPr lang="zh-CN" altLang="zh-CN" dirty="0"/>
              <a:t>（</a:t>
            </a:r>
            <a:r>
              <a:rPr lang="en-US" altLang="zh-CN" dirty="0"/>
              <a:t>  </a:t>
            </a:r>
            <a:r>
              <a:rPr lang="zh-CN" altLang="zh-CN" dirty="0"/>
              <a:t>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23728" y="749682"/>
            <a:ext cx="1939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与非门       或非门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91423"/>
            <a:ext cx="1000125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364088" y="129260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该时刻输入信号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922" y="164442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共享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3968" y="191683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真值表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772" y="1916832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逻辑表达式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3759" y="212263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代数法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4088" y="213395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卡诺图法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5140" y="249312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增加冗余项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2212" y="2477838"/>
            <a:ext cx="1891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增加惯性延时环节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9722" y="25032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选通法</a:t>
            </a:r>
          </a:p>
        </p:txBody>
      </p:sp>
      <p:pic>
        <p:nvPicPr>
          <p:cNvPr id="2051" name="Picture 3" descr="C:\Users\Fei\AppData\Local\Microsoft\Windows\Temporary Internet Files\Content.IE5\NKZ1MP8I\MM900185588[1]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85" y="3629031"/>
            <a:ext cx="251242" cy="152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3" descr="C:\Users\Fei\AppData\Local\Microsoft\Windows\Temporary Internet Files\Content.IE5\NKZ1MP8I\MM900185588[1]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8429" y="3919362"/>
            <a:ext cx="251242" cy="152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3" descr="C:\Users\Fei\AppData\Local\Microsoft\Windows\Temporary Internet Files\Content.IE5\NKZ1MP8I\MM900185588[1]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8429" y="4725144"/>
            <a:ext cx="251242" cy="152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3" descr="C:\Users\Fei\AppData\Local\Microsoft\Windows\Temporary Internet Files\Content.IE5\NKZ1MP8I\MM900185588[1]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2317" y="5889835"/>
            <a:ext cx="251242" cy="152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3" descr="C:\Users\Fei\AppData\Local\Microsoft\Windows\Temporary Internet Files\Content.IE5\NKZ1MP8I\MM900185588[1]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8429" y="5301208"/>
            <a:ext cx="251242" cy="152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261005" y="29395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X</a:t>
            </a:r>
            <a:endParaRPr lang="zh-CN" alt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57072" y="325969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X</a:t>
            </a:r>
            <a:endParaRPr lang="zh-CN" alt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42154" y="410436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X</a:t>
            </a:r>
            <a:endParaRPr lang="zh-CN" alt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42154" y="55205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X</a:t>
            </a:r>
            <a:endParaRPr lang="zh-CN" alt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395536" y="3124169"/>
            <a:ext cx="504056" cy="1355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12212" y="405972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不一定，有可能反馈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4450" y="545360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时间延迟</a:t>
            </a:r>
          </a:p>
        </p:txBody>
      </p:sp>
    </p:spTree>
    <p:extLst>
      <p:ext uri="{BB962C8B-B14F-4D97-AF65-F5344CB8AC3E}">
        <p14:creationId xmlns:p14="http://schemas.microsoft.com/office/powerpoint/2010/main" val="26028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8" grpId="0"/>
      <p:bldP spid="24" grpId="0"/>
      <p:bldP spid="25" grpId="0"/>
      <p:bldP spid="26" grpId="0"/>
      <p:bldP spid="27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72" y="3645024"/>
            <a:ext cx="4971429" cy="2715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725" y="0"/>
            <a:ext cx="3724275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21017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4232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660"/>
            <a:ext cx="6553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192" y="3861048"/>
            <a:ext cx="4231807" cy="2996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0943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664"/>
            <a:ext cx="8948363" cy="52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411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76825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196752"/>
            <a:ext cx="29908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284984"/>
            <a:ext cx="3419475" cy="306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806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28" name="Picture 4" descr="http://www.exploreroots.com/dc36_clip_image002.gif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375366"/>
            <a:ext cx="3224929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504" y="2227028"/>
            <a:ext cx="3744416" cy="2516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下箭头 4"/>
          <p:cNvSpPr/>
          <p:nvPr/>
        </p:nvSpPr>
        <p:spPr>
          <a:xfrm rot="10800000">
            <a:off x="6553200" y="4917351"/>
            <a:ext cx="441271" cy="35640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31" name="Picture 7" descr="C:\Users\Fei\AppData\Local\Microsoft\Windows\Temporary Internet Files\Content.IE5\NKZ1MP8I\MC900356213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999" y="5728493"/>
            <a:ext cx="897713" cy="112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0849"/>
            <a:ext cx="5436096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998428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109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6632"/>
            <a:ext cx="7486650" cy="535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200400"/>
            <a:ext cx="41910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163711"/>
            <a:ext cx="407670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908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772816"/>
            <a:ext cx="4572000" cy="300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046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77200" cy="325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734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92450"/>
            <a:ext cx="7086600" cy="376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6349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aring">
  <a:themeElements>
    <a:clrScheme name="Soaring 2">
      <a:dk1>
        <a:srgbClr val="000000"/>
      </a:dk1>
      <a:lt1>
        <a:srgbClr val="FFFFFF"/>
      </a:lt1>
      <a:dk2>
        <a:srgbClr val="000000"/>
      </a:dk2>
      <a:lt2>
        <a:srgbClr val="CCECFF"/>
      </a:lt2>
      <a:accent1>
        <a:srgbClr val="6699FF"/>
      </a:accent1>
      <a:accent2>
        <a:srgbClr val="66CCFF"/>
      </a:accent2>
      <a:accent3>
        <a:srgbClr val="FFFFFF"/>
      </a:accent3>
      <a:accent4>
        <a:srgbClr val="000000"/>
      </a:accent4>
      <a:accent5>
        <a:srgbClr val="B8CAFF"/>
      </a:accent5>
      <a:accent6>
        <a:srgbClr val="5CB9E7"/>
      </a:accent6>
      <a:hlink>
        <a:srgbClr val="CC99FF"/>
      </a:hlink>
      <a:folHlink>
        <a:srgbClr val="00CCCC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</TotalTime>
  <Words>357</Words>
  <Application>Microsoft Office PowerPoint</Application>
  <PresentationFormat>全屏显示(4:3)</PresentationFormat>
  <Paragraphs>211</Paragraphs>
  <Slides>18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宋体</vt:lpstr>
      <vt:lpstr>Arial</vt:lpstr>
      <vt:lpstr>Calibri</vt:lpstr>
      <vt:lpstr>Cambria Math</vt:lpstr>
      <vt:lpstr>Symbol</vt:lpstr>
      <vt:lpstr>Times New Roman</vt:lpstr>
      <vt:lpstr>Wingdings</vt:lpstr>
      <vt:lpstr>Office 主题</vt:lpstr>
      <vt:lpstr>Soaring</vt:lpstr>
      <vt:lpstr>Microsoft Equation 3.0</vt:lpstr>
      <vt:lpstr>Equation</vt:lpstr>
      <vt:lpstr>2017级第四章 作业讲评</vt:lpstr>
      <vt:lpstr>PowerPoint 演示文稿</vt:lpstr>
      <vt:lpstr>习题课</vt:lpstr>
      <vt:lpstr>习题课</vt:lpstr>
      <vt:lpstr>PowerPoint 演示文稿</vt:lpstr>
      <vt:lpstr>习题课</vt:lpstr>
      <vt:lpstr>习题课</vt:lpstr>
      <vt:lpstr>习题课</vt:lpstr>
      <vt:lpstr>习题课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作业讲评</dc:title>
  <dc:creator>Fei</dc:creator>
  <cp:lastModifiedBy>lin dazhen</cp:lastModifiedBy>
  <cp:revision>25</cp:revision>
  <cp:lastPrinted>2013-04-26T05:15:26Z</cp:lastPrinted>
  <dcterms:created xsi:type="dcterms:W3CDTF">2013-04-26T00:21:10Z</dcterms:created>
  <dcterms:modified xsi:type="dcterms:W3CDTF">2019-04-11T07:12:22Z</dcterms:modified>
</cp:coreProperties>
</file>