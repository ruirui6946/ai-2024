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3" r:id="rId15"/>
    <p:sldId id="272" r:id="rId16"/>
    <p:sldId id="274" r:id="rId17"/>
    <p:sldId id="275" r:id="rId18"/>
    <p:sldId id="260" r:id="rId19"/>
    <p:sldId id="261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0A692-0414-40F9-B264-1FAE2F2D190D}" type="datetimeFigureOut">
              <a:rPr lang="zh-CN" altLang="en-US" smtClean="0"/>
              <a:t>2019/3/15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C7DB4-EDDA-4C75-A9BF-90933346FF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311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0A692-0414-40F9-B264-1FAE2F2D190D}" type="datetimeFigureOut">
              <a:rPr lang="zh-CN" altLang="en-US" smtClean="0"/>
              <a:t>2019/3/15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C7DB4-EDDA-4C75-A9BF-90933346FF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073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0A692-0414-40F9-B264-1FAE2F2D190D}" type="datetimeFigureOut">
              <a:rPr lang="zh-CN" altLang="en-US" smtClean="0"/>
              <a:t>2019/3/15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C7DB4-EDDA-4C75-A9BF-90933346FF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99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0A692-0414-40F9-B264-1FAE2F2D190D}" type="datetimeFigureOut">
              <a:rPr lang="zh-CN" altLang="en-US" smtClean="0"/>
              <a:t>2019/3/15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C7DB4-EDDA-4C75-A9BF-90933346FF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051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0A692-0414-40F9-B264-1FAE2F2D190D}" type="datetimeFigureOut">
              <a:rPr lang="zh-CN" altLang="en-US" smtClean="0"/>
              <a:t>2019/3/15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C7DB4-EDDA-4C75-A9BF-90933346FF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344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0A692-0414-40F9-B264-1FAE2F2D190D}" type="datetimeFigureOut">
              <a:rPr lang="zh-CN" altLang="en-US" smtClean="0"/>
              <a:t>2019/3/15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C7DB4-EDDA-4C75-A9BF-90933346FF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768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0A692-0414-40F9-B264-1FAE2F2D190D}" type="datetimeFigureOut">
              <a:rPr lang="zh-CN" altLang="en-US" smtClean="0"/>
              <a:t>2019/3/15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C7DB4-EDDA-4C75-A9BF-90933346FF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636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0A692-0414-40F9-B264-1FAE2F2D190D}" type="datetimeFigureOut">
              <a:rPr lang="zh-CN" altLang="en-US" smtClean="0"/>
              <a:t>2019/3/15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C7DB4-EDDA-4C75-A9BF-90933346FF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77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0A692-0414-40F9-B264-1FAE2F2D190D}" type="datetimeFigureOut">
              <a:rPr lang="zh-CN" altLang="en-US" smtClean="0"/>
              <a:t>2019/3/15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C7DB4-EDDA-4C75-A9BF-90933346FF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728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0A692-0414-40F9-B264-1FAE2F2D190D}" type="datetimeFigureOut">
              <a:rPr lang="zh-CN" altLang="en-US" smtClean="0"/>
              <a:t>2019/3/15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C7DB4-EDDA-4C75-A9BF-90933346FF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467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0A692-0414-40F9-B264-1FAE2F2D190D}" type="datetimeFigureOut">
              <a:rPr lang="zh-CN" altLang="en-US" smtClean="0"/>
              <a:t>2019/3/15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C7DB4-EDDA-4C75-A9BF-90933346FF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285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0A692-0414-40F9-B264-1FAE2F2D190D}" type="datetimeFigureOut">
              <a:rPr lang="zh-CN" altLang="en-US" smtClean="0"/>
              <a:t>2019/3/15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C7DB4-EDDA-4C75-A9BF-90933346FF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226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13" Type="http://schemas.openxmlformats.org/officeDocument/2006/relationships/image" Target="../media/image15.wmf"/><Relationship Id="rId18" Type="http://schemas.openxmlformats.org/officeDocument/2006/relationships/oleObject" Target="../embeddings/oleObject5.bin"/><Relationship Id="rId3" Type="http://schemas.openxmlformats.org/officeDocument/2006/relationships/image" Target="../media/image13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4.wmf"/><Relationship Id="rId17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.wmf"/><Relationship Id="rId20" Type="http://schemas.openxmlformats.org/officeDocument/2006/relationships/image" Target="../media/image20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5" Type="http://schemas.openxmlformats.org/officeDocument/2006/relationships/image" Target="../media/image17.wmf"/><Relationship Id="rId10" Type="http://schemas.openxmlformats.org/officeDocument/2006/relationships/image" Target="../media/image3.wmf"/><Relationship Id="rId19" Type="http://schemas.openxmlformats.org/officeDocument/2006/relationships/image" Target="../media/image5.wmf"/><Relationship Id="rId4" Type="http://schemas.openxmlformats.org/officeDocument/2006/relationships/image" Target="../media/image14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image" Target="../media/image28.wmf"/><Relationship Id="rId18" Type="http://schemas.openxmlformats.org/officeDocument/2006/relationships/oleObject" Target="../embeddings/oleObject6.bin"/><Relationship Id="rId3" Type="http://schemas.openxmlformats.org/officeDocument/2006/relationships/image" Target="../media/image13.png"/><Relationship Id="rId21" Type="http://schemas.openxmlformats.org/officeDocument/2006/relationships/image" Target="../media/image3.wmf"/><Relationship Id="rId7" Type="http://schemas.openxmlformats.org/officeDocument/2006/relationships/image" Target="../media/image22.wmf"/><Relationship Id="rId12" Type="http://schemas.openxmlformats.org/officeDocument/2006/relationships/image" Target="../media/image27.wmf"/><Relationship Id="rId17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1.wmf"/><Relationship Id="rId20" Type="http://schemas.openxmlformats.org/officeDocument/2006/relationships/oleObject" Target="../embeddings/oleObject7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21.wmf"/><Relationship Id="rId11" Type="http://schemas.openxmlformats.org/officeDocument/2006/relationships/image" Target="../media/image26.wmf"/><Relationship Id="rId5" Type="http://schemas.openxmlformats.org/officeDocument/2006/relationships/image" Target="../media/image20.png"/><Relationship Id="rId15" Type="http://schemas.openxmlformats.org/officeDocument/2006/relationships/image" Target="../media/image30.wmf"/><Relationship Id="rId23" Type="http://schemas.openxmlformats.org/officeDocument/2006/relationships/image" Target="../media/image4.wmf"/><Relationship Id="rId10" Type="http://schemas.openxmlformats.org/officeDocument/2006/relationships/image" Target="../media/image25.wmf"/><Relationship Id="rId19" Type="http://schemas.openxmlformats.org/officeDocument/2006/relationships/image" Target="../media/image2.wmf"/><Relationship Id="rId4" Type="http://schemas.openxmlformats.org/officeDocument/2006/relationships/image" Target="../media/image14.png"/><Relationship Id="rId9" Type="http://schemas.openxmlformats.org/officeDocument/2006/relationships/image" Target="../media/image24.wmf"/><Relationship Id="rId14" Type="http://schemas.openxmlformats.org/officeDocument/2006/relationships/image" Target="../media/image29.wmf"/><Relationship Id="rId22" Type="http://schemas.openxmlformats.org/officeDocument/2006/relationships/oleObject" Target="../embeddings/oleObject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image" Target="../media/image41.wmf"/><Relationship Id="rId3" Type="http://schemas.openxmlformats.org/officeDocument/2006/relationships/image" Target="../media/image14.png"/><Relationship Id="rId7" Type="http://schemas.openxmlformats.org/officeDocument/2006/relationships/image" Target="../media/image35.wmf"/><Relationship Id="rId12" Type="http://schemas.openxmlformats.org/officeDocument/2006/relationships/image" Target="../media/image40.w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wmf"/><Relationship Id="rId11" Type="http://schemas.openxmlformats.org/officeDocument/2006/relationships/image" Target="../media/image39.wmf"/><Relationship Id="rId5" Type="http://schemas.openxmlformats.org/officeDocument/2006/relationships/image" Target="../media/image33.wmf"/><Relationship Id="rId10" Type="http://schemas.openxmlformats.org/officeDocument/2006/relationships/image" Target="../media/image38.wmf"/><Relationship Id="rId4" Type="http://schemas.openxmlformats.org/officeDocument/2006/relationships/image" Target="../media/image20.png"/><Relationship Id="rId9" Type="http://schemas.openxmlformats.org/officeDocument/2006/relationships/image" Target="../media/image37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13.png"/><Relationship Id="rId7" Type="http://schemas.openxmlformats.org/officeDocument/2006/relationships/image" Target="../media/image43.wmf"/><Relationship Id="rId12" Type="http://schemas.openxmlformats.org/officeDocument/2006/relationships/image" Target="../media/image4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5.wmf"/><Relationship Id="rId11" Type="http://schemas.openxmlformats.org/officeDocument/2006/relationships/image" Target="../media/image44.wmf"/><Relationship Id="rId5" Type="http://schemas.openxmlformats.org/officeDocument/2006/relationships/image" Target="../media/image20.png"/><Relationship Id="rId10" Type="http://schemas.openxmlformats.org/officeDocument/2006/relationships/image" Target="../media/image36.wmf"/><Relationship Id="rId4" Type="http://schemas.openxmlformats.org/officeDocument/2006/relationships/image" Target="../media/image14.png"/><Relationship Id="rId9" Type="http://schemas.openxmlformats.org/officeDocument/2006/relationships/image" Target="../media/image4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smtClean="0"/>
              <a:t>2017</a:t>
            </a:r>
            <a:r>
              <a:rPr lang="zh-CN" altLang="zh-CN" b="1" smtClean="0"/>
              <a:t>级数</a:t>
            </a:r>
            <a:r>
              <a:rPr lang="zh-CN" altLang="zh-CN" b="1" dirty="0"/>
              <a:t>字逻辑第二章</a:t>
            </a:r>
            <a:r>
              <a:rPr lang="en-US" altLang="zh-CN" b="1" dirty="0"/>
              <a:t/>
            </a:r>
            <a:br>
              <a:rPr lang="en-US" altLang="zh-CN" b="1" dirty="0"/>
            </a:br>
            <a:r>
              <a:rPr lang="zh-CN" altLang="zh-CN" b="1" dirty="0"/>
              <a:t>练习题一</a:t>
            </a:r>
            <a:r>
              <a:rPr lang="zh-CN" altLang="en-US" b="1" dirty="0"/>
              <a:t>讲评</a:t>
            </a:r>
            <a:r>
              <a:rPr lang="zh-CN" altLang="zh-CN" b="1" dirty="0"/>
              <a:t/>
            </a:r>
            <a:br>
              <a:rPr lang="zh-CN" altLang="zh-CN" b="1" dirty="0"/>
            </a:b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79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填空题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1. </a:t>
                </a:r>
                <a:r>
                  <a:rPr lang="zh-CN" altLang="zh-CN" dirty="0"/>
                  <a:t>逻辑代数有</a:t>
                </a:r>
                <a:r>
                  <a:rPr lang="en-US" altLang="zh-CN" u="sng" dirty="0"/>
                  <a:t>     </a:t>
                </a:r>
                <a:r>
                  <a:rPr lang="zh-CN" altLang="en-US" u="sng" dirty="0"/>
                  <a:t>与</a:t>
                </a:r>
                <a:r>
                  <a:rPr lang="en-US" altLang="zh-CN" u="sng" dirty="0"/>
                  <a:t>        </a:t>
                </a:r>
                <a:r>
                  <a:rPr lang="zh-CN" altLang="zh-CN" dirty="0"/>
                  <a:t>，</a:t>
                </a:r>
                <a:r>
                  <a:rPr lang="en-US" altLang="zh-CN" u="sng" dirty="0"/>
                  <a:t>     </a:t>
                </a:r>
                <a:r>
                  <a:rPr lang="zh-CN" altLang="en-US" u="sng" dirty="0"/>
                  <a:t>或</a:t>
                </a:r>
                <a:r>
                  <a:rPr lang="en-US" altLang="zh-CN" u="sng" dirty="0"/>
                  <a:t>        </a:t>
                </a:r>
                <a:r>
                  <a:rPr lang="zh-CN" altLang="zh-CN" dirty="0"/>
                  <a:t>和</a:t>
                </a:r>
                <a:r>
                  <a:rPr lang="en-US" altLang="zh-CN" u="sng" dirty="0"/>
                  <a:t>      </a:t>
                </a:r>
                <a:r>
                  <a:rPr lang="zh-CN" altLang="en-US" u="sng" dirty="0"/>
                  <a:t>非</a:t>
                </a:r>
                <a:r>
                  <a:rPr lang="en-US" altLang="zh-CN" u="sng" dirty="0"/>
                  <a:t>       </a:t>
                </a:r>
                <a:r>
                  <a:rPr lang="en-US" altLang="zh-CN" dirty="0"/>
                  <a:t>3</a:t>
                </a:r>
                <a:r>
                  <a:rPr lang="zh-CN" altLang="zh-CN" dirty="0"/>
                  <a:t>种基本运算。</a:t>
                </a:r>
              </a:p>
              <a:p>
                <a:r>
                  <a:rPr lang="en-US" altLang="zh-CN" dirty="0"/>
                  <a:t>2. </a:t>
                </a:r>
                <a:r>
                  <a:rPr lang="zh-CN" altLang="zh-CN" dirty="0"/>
                  <a:t>逻辑代数的</a:t>
                </a:r>
                <a:r>
                  <a:rPr lang="en-US" altLang="zh-CN" dirty="0"/>
                  <a:t>3</a:t>
                </a:r>
                <a:r>
                  <a:rPr lang="zh-CN" altLang="zh-CN" dirty="0"/>
                  <a:t>条重要规则是指</a:t>
                </a:r>
                <a:r>
                  <a:rPr lang="en-US" altLang="zh-CN" u="sng" dirty="0"/>
                  <a:t>      </a:t>
                </a:r>
                <a:r>
                  <a:rPr lang="zh-CN" altLang="en-US" u="sng" dirty="0"/>
                  <a:t>代入</a:t>
                </a:r>
                <a:r>
                  <a:rPr lang="en-US" altLang="zh-CN" u="sng" dirty="0"/>
                  <a:t>       </a:t>
                </a:r>
                <a:r>
                  <a:rPr lang="zh-CN" altLang="zh-CN" dirty="0"/>
                  <a:t>，</a:t>
                </a:r>
                <a:r>
                  <a:rPr lang="en-US" altLang="zh-CN" u="sng" dirty="0"/>
                  <a:t>   </a:t>
                </a:r>
                <a:r>
                  <a:rPr lang="zh-CN" altLang="en-US" u="sng" dirty="0"/>
                  <a:t>反演</a:t>
                </a:r>
                <a:r>
                  <a:rPr lang="en-US" altLang="zh-CN" u="sng" dirty="0"/>
                  <a:t>          </a:t>
                </a:r>
                <a:r>
                  <a:rPr lang="zh-CN" altLang="zh-CN" dirty="0"/>
                  <a:t>和</a:t>
                </a:r>
                <a:r>
                  <a:rPr lang="en-US" altLang="zh-CN" u="sng" dirty="0"/>
                  <a:t>    </a:t>
                </a:r>
                <a:r>
                  <a:rPr lang="zh-CN" altLang="en-US" u="sng" dirty="0"/>
                  <a:t>对偶</a:t>
                </a:r>
                <a:r>
                  <a:rPr lang="en-US" altLang="zh-CN" u="sng" dirty="0"/>
                  <a:t>         </a:t>
                </a:r>
                <a:r>
                  <a:rPr lang="zh-CN" altLang="zh-CN" dirty="0"/>
                  <a:t>。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zh-CN" dirty="0"/>
                  <a:t>逻辑代数中，若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zh-CN" altLang="zh-CN" dirty="0"/>
                  <a:t>，则有</a:t>
                </a:r>
                <a:r>
                  <a:rPr lang="en-US" altLang="zh-CN" dirty="0"/>
                  <a:t>A=B.	     		( ˅)</a:t>
                </a:r>
                <a:endParaRPr lang="zh-CN" altLang="zh-CN" dirty="0"/>
              </a:p>
              <a:p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/>
          <p:cNvSpPr txBox="1">
            <a:spLocks/>
          </p:cNvSpPr>
          <p:nvPr/>
        </p:nvSpPr>
        <p:spPr>
          <a:xfrm>
            <a:off x="838200" y="32353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填空题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1878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证明题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241777" y="1995712"/>
                <a:ext cx="7586133" cy="41035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spcAft>
                    <a:spcPts val="0"/>
                  </a:spcAft>
                  <a:buFont typeface="Cambria Math" panose="02040503050406030204" pitchFamily="18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acc>
                      <m:accPr>
                        <m:chr m:val="̅"/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acc>
                      <m:accPr>
                        <m:chr m:val="̅"/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ABC</m:t>
                        </m:r>
                      </m:e>
                    </m:acc>
                    <m: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1600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28600" indent="266700" algn="just">
                  <a:spcAft>
                    <a:spcPts val="0"/>
                  </a:spcAft>
                </a:pP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zh-CN" altLang="zh-CN" sz="1600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0" algn="just">
                  <a:spcAft>
                    <a:spcPts val="0"/>
                  </a:spcAft>
                </a:pPr>
                <a:r>
                  <a:rPr lang="en-US" altLang="zh-CN" sz="2000" kern="100" dirty="0">
                    <a:cs typeface="Times New Roman" panose="02020603050405020304" pitchFamily="18" charset="0"/>
                  </a:rPr>
                  <a:t>2.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ABC</m:t>
                        </m:r>
                        <m: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ABC</m:t>
                        </m:r>
                      </m:e>
                    </m:acc>
                  </m:oMath>
                </a14:m>
                <a:endParaRPr lang="zh-CN" altLang="zh-CN" sz="1600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304800" algn="just">
                  <a:spcAft>
                    <a:spcPts val="0"/>
                  </a:spcAft>
                </a:pPr>
                <a:endParaRPr lang="en-US" altLang="zh-CN" sz="20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indent="304800" algn="just">
                  <a:spcAft>
                    <a:spcPts val="0"/>
                  </a:spcAft>
                </a:pPr>
                <a:r>
                  <a:rPr lang="en-US" altLang="zh-CN" sz="20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3.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endParaRPr lang="zh-CN" altLang="zh-CN" sz="20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indent="304800" algn="just">
                  <a:spcAft>
                    <a:spcPts val="0"/>
                  </a:spcAft>
                </a:pP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zh-CN" altLang="zh-CN" sz="1600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0" algn="just">
                  <a:spcAft>
                    <a:spcPts val="0"/>
                  </a:spcAft>
                </a:pP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4. BC+D+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)(DA+B)=B+D</a:t>
                </a:r>
                <a:endParaRPr lang="zh-CN" altLang="zh-CN" sz="1600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304800" algn="just">
                  <a:spcAft>
                    <a:spcPts val="0"/>
                  </a:spcAft>
                </a:pP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zh-CN" altLang="zh-CN" sz="1600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0" algn="just">
                  <a:spcAft>
                    <a:spcPts val="0"/>
                  </a:spcAft>
                </a:pP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5. (A+B)(A+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)(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+B)(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)=0</a:t>
                </a:r>
              </a:p>
              <a:p>
                <a:pPr lvl="0" algn="just">
                  <a:spcAft>
                    <a:spcPts val="0"/>
                  </a:spcAft>
                </a:pPr>
                <a:endParaRPr lang="en-US" altLang="zh-CN" sz="2000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 sz="2000" dirty="0"/>
                  <a:t>6. AB+BC+AC=(A+B)(B+C)(A+C)</a:t>
                </a:r>
                <a:endParaRPr lang="zh-CN" altLang="zh-CN" sz="2000" dirty="0"/>
              </a:p>
              <a:p>
                <a:pPr indent="304800" algn="just">
                  <a:spcAft>
                    <a:spcPts val="0"/>
                  </a:spcAft>
                </a:pP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zh-CN" altLang="zh-CN" sz="1600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0" algn="just">
                  <a:spcAft>
                    <a:spcPts val="0"/>
                  </a:spcAft>
                </a:pPr>
                <a:r>
                  <a:rPr lang="en-US" altLang="zh-CN" sz="2000" kern="100" dirty="0">
                    <a:effectLst/>
                    <a:ea typeface="Cambria Math" panose="02040503050406030204" pitchFamily="18" charset="0"/>
                    <a:cs typeface="Times New Roman" panose="02020603050405020304" pitchFamily="18" charset="0"/>
                  </a:rPr>
                  <a:t>7.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A</m:t>
                            </m:r>
                          </m:e>
                        </m:acc>
                        <m: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B</m:t>
                            </m:r>
                          </m:e>
                        </m:acc>
                        <m: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</m:acc>
                        <m: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)(</m:t>
                        </m:r>
                        <m:acc>
                          <m:accPr>
                            <m:chr m:val="̅"/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A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B</m:t>
                            </m:r>
                          </m:e>
                        </m:acc>
                        <m: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B</m:t>
                            </m:r>
                          </m:e>
                        </m:acc>
                        <m: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</m:acc>
                        <m: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A</m:t>
                            </m:r>
                          </m:e>
                        </m:acc>
                        <m: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</m:acc>
                        <m: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)+</m:t>
                        </m:r>
                        <m:acc>
                          <m:accPr>
                            <m:chr m:val="̅"/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A</m:t>
                            </m:r>
                          </m:e>
                        </m:acc>
                        <m: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B</m:t>
                            </m:r>
                          </m:e>
                        </m:acc>
                        <m: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</m:acc>
                      </m:e>
                    </m:acc>
                  </m:oMath>
                </a14:m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=(A+B+C)(AB+BC+AC)+ABC</a:t>
                </a:r>
                <a:endParaRPr lang="zh-CN" altLang="zh-CN" sz="1600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777" y="1995712"/>
                <a:ext cx="7586133" cy="4103559"/>
              </a:xfrm>
              <a:prstGeom prst="rect">
                <a:avLst/>
              </a:prstGeom>
              <a:blipFill>
                <a:blip r:embed="rId2"/>
                <a:stretch>
                  <a:fillRect l="-884" t="-890" b="-2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0005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065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spcAft>
                    <a:spcPts val="0"/>
                  </a:spcAft>
                  <a:buFont typeface="Cambria Math" panose="02040503050406030204" pitchFamily="18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ABC</m:t>
                        </m:r>
                      </m:e>
                    </m:acc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1400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0" algn="just">
                  <a:spcAft>
                    <a:spcPts val="0"/>
                  </a:spcAft>
                  <a:buNone/>
                </a:pPr>
                <a:r>
                  <a:rPr lang="zh-CN" altLang="en-US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右边</a:t>
                </a: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=(</a:t>
                </a:r>
                <a:r>
                  <a:rPr lang="zh-CN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indent="0" algn="just">
                  <a:spcAft>
                    <a:spcPts val="0"/>
                  </a:spcAft>
                  <a:buNone/>
                </a:pP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	=</a:t>
                </a:r>
                <a:r>
                  <a:rPr lang="zh-CN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zh-CN" altLang="zh-CN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  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r>
                  <a:rPr lang="zh-CN" altLang="en-US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冗余了</a:t>
                </a:r>
                <a:endParaRPr lang="en-US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indent="0" algn="just">
                  <a:spcAft>
                    <a:spcPts val="0"/>
                  </a:spcAft>
                  <a:buNone/>
                </a:pP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	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zh-CN" altLang="zh-CN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endParaRPr lang="en-US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indent="0" algn="just">
                  <a:spcAft>
                    <a:spcPts val="0"/>
                  </a:spcAft>
                  <a:buNone/>
                </a:pP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	=</a:t>
                </a:r>
                <a:r>
                  <a:rPr lang="zh-CN" altLang="zh-CN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zh-CN" altLang="zh-CN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zh-CN" altLang="en-US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冗余了</a:t>
                </a:r>
                <a:endParaRPr lang="en-US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indent="0" algn="just">
                  <a:spcAft>
                    <a:spcPts val="0"/>
                  </a:spcAft>
                  <a:buNone/>
                </a:pP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	=</a:t>
                </a:r>
                <a:r>
                  <a:rPr lang="zh-CN" altLang="zh-CN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	=</a:t>
                </a:r>
                <a:r>
                  <a:rPr lang="zh-CN" altLang="en-US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左边</a:t>
                </a: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				</a:t>
                </a:r>
                <a:r>
                  <a:rPr lang="zh-CN" altLang="zh-CN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zh-CN" altLang="en-US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冗余</m:t>
                    </m:r>
                  </m:oMath>
                </a14:m>
                <a:r>
                  <a:rPr lang="zh-CN" altLang="en-US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了</a:t>
                </a:r>
                <a:endParaRPr lang="zh-CN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065326"/>
              </a:xfrm>
              <a:prstGeom prst="rect">
                <a:avLst/>
              </a:prstGeom>
              <a:blipFill>
                <a:blip r:embed="rId2"/>
                <a:stretch>
                  <a:fillRect b="-43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4443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kern="100" dirty="0">
                    <a:cs typeface="Times New Roman" panose="02020603050405020304" pitchFamily="18" charset="0"/>
                  </a:rPr>
                  <a:t>2.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ABC</m:t>
                        </m:r>
                        <m: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ABC</m:t>
                        </m:r>
                      </m:e>
                    </m:ac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左边</a:t>
                </a:r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AB</m:t>
                        </m:r>
                        <m:r>
                          <a:rPr lang="en-US" altLang="zh-CN" b="0" i="0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  <m: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1)</m:t>
                        </m:r>
                      </m:e>
                    </m:acc>
                  </m:oMath>
                </a14:m>
                <a:endParaRPr lang="en-US" altLang="zh-CN" kern="1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	=</a:t>
                </a:r>
                <a:r>
                  <a:rPr lang="en-US" altLang="zh-CN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AB</m:t>
                        </m:r>
                      </m:e>
                    </m:ac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=</a:t>
                </a:r>
                <a:r>
                  <a:rPr lang="en-US" altLang="zh-CN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AB</m:t>
                        </m:r>
                      </m:e>
                    </m:ac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=</a:t>
                </a:r>
                <a:r>
                  <a:rPr lang="zh-CN" altLang="zh-CN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AB</m:t>
                        </m:r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altLang="zh-CN" dirty="0"/>
                  <a:t>=</a:t>
                </a:r>
                <a:r>
                  <a:rPr lang="zh-CN" altLang="en-US" dirty="0"/>
                  <a:t>右边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9116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kern="100" dirty="0">
                    <a:cs typeface="Times New Roman" panose="02020603050405020304" pitchFamily="18" charset="0"/>
                  </a:rPr>
                  <a:t>2.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ABC</m:t>
                        </m:r>
                        <m: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ABC</m:t>
                        </m:r>
                      </m:e>
                    </m:ac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左边</a:t>
                </a:r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dirty="0"/>
                  <a:t>+</a:t>
                </a:r>
                <a:r>
                  <a:rPr lang="zh-CN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CN" kern="1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	=</a:t>
                </a:r>
                <a:r>
                  <a:rPr lang="en-US" altLang="zh-CN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dirty="0"/>
                  <a:t>+</a:t>
                </a:r>
                <a:r>
                  <a:rPr lang="zh-CN" altLang="zh-CN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dirty="0"/>
                  <a:t> +</a:t>
                </a:r>
                <a:r>
                  <a:rPr lang="zh-CN" altLang="zh-CN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=</a:t>
                </a:r>
                <a:r>
                  <a:rPr lang="en-US" altLang="zh-CN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dirty="0"/>
                  <a:t>+</a:t>
                </a:r>
                <a:r>
                  <a:rPr lang="zh-CN" altLang="zh-CN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=</a:t>
                </a:r>
                <a:r>
                  <a:rPr lang="en-US" altLang="zh-CN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dirty="0"/>
                  <a:t>+</a:t>
                </a:r>
                <a:r>
                  <a:rPr lang="zh-CN" altLang="zh-CN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=</a:t>
                </a:r>
                <a:r>
                  <a:rPr lang="en-US" altLang="zh-CN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AB</m:t>
                        </m:r>
                      </m:e>
                    </m:ac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=</a:t>
                </a:r>
                <a:r>
                  <a:rPr lang="zh-CN" altLang="zh-CN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AB</m:t>
                        </m:r>
                        <m:r>
                          <a:rPr lang="en-US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altLang="zh-CN" dirty="0"/>
                  <a:t>=</a:t>
                </a:r>
                <a:r>
                  <a:rPr lang="zh-CN" altLang="en-US" dirty="0"/>
                  <a:t>右边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3909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3.  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endParaRPr lang="en-US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左边</a:t>
                </a: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endParaRPr lang="en-US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	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BC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endParaRPr lang="en-US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	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	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endParaRPr lang="en-US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	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zh-CN" altLang="en-US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右边</a:t>
                </a:r>
                <a:endParaRPr lang="en-US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9600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3.  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endParaRPr lang="en-US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左边</a:t>
                </a: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endParaRPr lang="en-US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	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A</m:t>
                            </m:r>
                          </m:e>
                        </m:acc>
                        <m: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B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US" altLang="zh-CN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endParaRPr lang="en-US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	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altLang="zh-CN" b="0" i="0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endParaRPr lang="en-US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	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zh-CN" altLang="en-US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右边</a:t>
                </a:r>
                <a:endParaRPr lang="en-US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2842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3.  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endParaRPr lang="en-US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左边</a:t>
                </a: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endParaRPr lang="en-US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	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AC</m:t>
                    </m:r>
                  </m:oMath>
                </a14:m>
                <a:endParaRPr lang="en-US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	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AC</m:t>
                    </m:r>
                    <m:r>
                      <a:rPr lang="en-US" altLang="zh-CN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zh-CN" altLang="zh-CN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endParaRPr lang="en-US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	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altLang="zh-CN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zh-CN" altLang="zh-CN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endParaRPr lang="en-US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	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AB</m:t>
                    </m:r>
                    <m: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zh-CN" altLang="en-US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右边</a:t>
                </a:r>
                <a:endParaRPr lang="en-US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zh-CN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3249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36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4.	BC+D+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3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6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sz="36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3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6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36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3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6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36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)(DA+B)=B+D</a:t>
                </a:r>
              </a:p>
              <a:p>
                <a:pPr marL="0" indent="0">
                  <a:buNone/>
                </a:pPr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zh-CN" altLang="en-US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左边</a:t>
                </a:r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=BC+D+(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)(DA+B)</a:t>
                </a:r>
              </a:p>
              <a:p>
                <a:pPr marL="0" indent="0">
                  <a:buNone/>
                </a:pPr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	=BC+D+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en-US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(DA+B)</a:t>
                </a:r>
              </a:p>
              <a:p>
                <a:pPr marL="0" indent="0">
                  <a:buNone/>
                </a:pPr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	= BC+D+ DA+B</a:t>
                </a:r>
              </a:p>
              <a:p>
                <a:pPr marL="0" indent="0">
                  <a:buNone/>
                </a:pPr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	=B+D</a:t>
                </a:r>
                <a:endParaRPr lang="zh-CN" altLang="zh-CN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zh-CN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23" t="-3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9862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36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4.	BC+D+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3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6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sz="36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3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6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36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3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6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36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)(DA+B)=B+D</a:t>
                </a:r>
              </a:p>
              <a:p>
                <a:pPr marL="0" indent="0">
                  <a:buNone/>
                </a:pPr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zh-CN" altLang="en-US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左边</a:t>
                </a:r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= BC+D+</a:t>
                </a:r>
                <a14:m>
                  <m:oMath xmlns:m="http://schemas.openxmlformats.org/officeDocument/2006/math">
                    <m:r>
                      <a:rPr lang="zh-CN" altLang="zh-CN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  <m:r>
                      <a:rPr lang="en-US" altLang="zh-CN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</m:oMath>
                </a14:m>
                <a:endParaRPr lang="en-US" altLang="zh-CN" b="0" kern="1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		=BC+D+</a:t>
                </a:r>
                <a14:m>
                  <m:oMath xmlns:m="http://schemas.openxmlformats.org/officeDocument/2006/math">
                    <m:r>
                      <a:rPr lang="zh-CN" altLang="zh-CN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</m:oMath>
                </a14:m>
                <a:endParaRPr lang="en-US" altLang="zh-CN" kern="1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kern="100" dirty="0">
                    <a:cs typeface="Times New Roman" panose="02020603050405020304" pitchFamily="18" charset="0"/>
                  </a:rPr>
                  <a:t>		=</a:t>
                </a:r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BC+D +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endParaRPr lang="en-US" altLang="zh-CN" kern="1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kern="100" dirty="0">
                    <a:cs typeface="Times New Roman" panose="02020603050405020304" pitchFamily="18" charset="0"/>
                  </a:rPr>
                  <a:t>		=B+D</a:t>
                </a:r>
              </a:p>
              <a:p>
                <a:pPr marL="0" indent="0">
                  <a:buNone/>
                </a:pPr>
                <a:endParaRPr lang="en-US" altLang="zh-CN" kern="1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zh-CN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23" t="-3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9288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5. (A+B)(A+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)(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+B)(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)=0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左边</a:t>
                </a:r>
                <a:r>
                  <a:rPr lang="en-US" altLang="zh-CN" dirty="0"/>
                  <a:t>=A(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+B)(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)=A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= 0 = </a:t>
                </a:r>
                <a:r>
                  <a:rPr lang="zh-CN" altLang="en-US" dirty="0"/>
                  <a:t>右边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方法二：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左边</a:t>
                </a:r>
                <a:r>
                  <a:rPr lang="en-US" altLang="zh-CN" dirty="0"/>
                  <a:t>’ = AB+</a:t>
                </a:r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B 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0" i="0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</m:ac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=A+</a:t>
                </a:r>
                <a:r>
                  <a:rPr lang="zh-CN" altLang="zh-CN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=1=</a:t>
                </a:r>
                <a:r>
                  <a:rPr lang="zh-CN" altLang="en-US" dirty="0"/>
                  <a:t>右边’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0356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6. AB+BC+AC=(A+B)(B+C)(A+C)</a:t>
            </a:r>
            <a:endParaRPr lang="zh-CN" altLang="zh-CN" dirty="0"/>
          </a:p>
          <a:p>
            <a:pPr marL="0" indent="0">
              <a:buNone/>
            </a:pPr>
            <a:r>
              <a:rPr lang="zh-CN" altLang="en-US" dirty="0"/>
              <a:t>右边</a:t>
            </a:r>
            <a:r>
              <a:rPr lang="en-US" altLang="zh-CN" dirty="0"/>
              <a:t>=(AB+AC+B+BC)(A+C)</a:t>
            </a:r>
          </a:p>
          <a:p>
            <a:pPr marL="0" indent="0">
              <a:buNone/>
            </a:pPr>
            <a:r>
              <a:rPr lang="en-US" altLang="zh-CN" dirty="0"/>
              <a:t>	=(AC+B)(A+C)</a:t>
            </a:r>
          </a:p>
          <a:p>
            <a:pPr marL="0" indent="0">
              <a:buNone/>
            </a:pPr>
            <a:r>
              <a:rPr lang="en-US" altLang="zh-CN" dirty="0"/>
              <a:t>	=AC+AC+AB+BC=AC+AB+BC=</a:t>
            </a:r>
            <a:r>
              <a:rPr lang="zh-CN" altLang="en-US" dirty="0"/>
              <a:t>左边</a:t>
            </a:r>
          </a:p>
        </p:txBody>
      </p:sp>
    </p:spTree>
    <p:extLst>
      <p:ext uri="{BB962C8B-B14F-4D97-AF65-F5344CB8AC3E}">
        <p14:creationId xmlns:p14="http://schemas.microsoft.com/office/powerpoint/2010/main" val="197043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6. AB+BC+AC=(A+B)(B+C)(A+C)</a:t>
            </a:r>
            <a:endParaRPr lang="zh-CN" altLang="zh-CN" dirty="0"/>
          </a:p>
          <a:p>
            <a:pPr marL="0" indent="0">
              <a:buNone/>
            </a:pPr>
            <a:r>
              <a:rPr lang="zh-CN" altLang="en-US" dirty="0"/>
              <a:t>右边</a:t>
            </a:r>
            <a:r>
              <a:rPr lang="en-US" altLang="zh-CN" dirty="0"/>
              <a:t>=(A+B)(AB+BC+AC+C)</a:t>
            </a:r>
          </a:p>
          <a:p>
            <a:pPr marL="0" indent="0">
              <a:buNone/>
            </a:pPr>
            <a:r>
              <a:rPr lang="en-US" altLang="zh-CN" dirty="0"/>
              <a:t>	=(A+B)(AB+C)</a:t>
            </a:r>
          </a:p>
          <a:p>
            <a:pPr marL="0" indent="0">
              <a:buNone/>
            </a:pPr>
            <a:r>
              <a:rPr lang="en-US" altLang="zh-CN" dirty="0"/>
              <a:t>	=AB+AC+AB+BC= AB+BC+AC=</a:t>
            </a:r>
            <a:r>
              <a:rPr lang="zh-CN" altLang="en-US" dirty="0"/>
              <a:t>左边</a:t>
            </a:r>
          </a:p>
        </p:txBody>
      </p:sp>
    </p:spTree>
    <p:extLst>
      <p:ext uri="{BB962C8B-B14F-4D97-AF65-F5344CB8AC3E}">
        <p14:creationId xmlns:p14="http://schemas.microsoft.com/office/powerpoint/2010/main" val="1007794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7.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A</m:t>
                            </m:r>
                          </m:e>
                        </m:acc>
                        <m: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B</m:t>
                            </m:r>
                          </m:e>
                        </m:acc>
                        <m: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</m:acc>
                        <m: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)(</m:t>
                        </m:r>
                        <m:acc>
                          <m:accPr>
                            <m:chr m:val="̅"/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A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B</m:t>
                            </m:r>
                          </m:e>
                        </m:acc>
                        <m: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B</m:t>
                            </m:r>
                          </m:e>
                        </m:acc>
                        <m: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</m:acc>
                        <m: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A</m:t>
                            </m:r>
                          </m:e>
                        </m:acc>
                        <m: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</m:acc>
                        <m: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)+</m:t>
                        </m:r>
                        <m:acc>
                          <m:accPr>
                            <m:chr m:val="̅"/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A</m:t>
                            </m:r>
                          </m:e>
                        </m:acc>
                        <m: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B</m:t>
                            </m:r>
                          </m:e>
                        </m:acc>
                        <m:r>
                          <a:rPr lang="en-US" altLang="zh-CN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</m:acc>
                      </m:e>
                    </m:acc>
                  </m:oMath>
                </a14:m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=(A+B+C)(AB+BC+AC)+ABC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= (ABC+(A+B)(B+C)(A+C) ) (A+B+C)</a:t>
                </a:r>
              </a:p>
              <a:p>
                <a:pPr marL="0" indent="0">
                  <a:buNone/>
                </a:pPr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	=(ABC+(AB+BC+AC) ) (A+B+C)</a:t>
                </a:r>
              </a:p>
              <a:p>
                <a:pPr marL="0" indent="0">
                  <a:buNone/>
                </a:pPr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	=ABC(A+B+C)+(A+B+C)(AB+BC+AC)</a:t>
                </a:r>
              </a:p>
              <a:p>
                <a:pPr marL="0" indent="0">
                  <a:buNone/>
                </a:pPr>
                <a:r>
                  <a:rPr lang="en-US" altLang="zh-CN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	=ABC+(A+B+C)(AB+BC+AC) = </a:t>
                </a:r>
                <a:r>
                  <a:rPr lang="zh-CN" altLang="en-US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右边</a:t>
                </a:r>
                <a:endParaRPr lang="en-US" altLang="zh-CN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1718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CD03039-43AB-4285-AD9D-672314A12B21}" type="slidenum">
              <a:rPr kumimoji="0" lang="en-US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kumimoji="0" lang="en-US" altLang="zh-CN" sz="1400"/>
          </a:p>
        </p:txBody>
      </p:sp>
      <p:pic>
        <p:nvPicPr>
          <p:cNvPr id="17411" name="Picture 2" descr="to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81000"/>
            <a:ext cx="853440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9555" name="Rectangle 3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533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1800" b="1">
                <a:latin typeface="宋体" pitchFamily="2" charset="-122"/>
              </a:rPr>
              <a:t>习题课</a:t>
            </a:r>
          </a:p>
        </p:txBody>
      </p:sp>
      <p:pic>
        <p:nvPicPr>
          <p:cNvPr id="17413" name="Picture 4" descr="arrow35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Rectangle 7"/>
          <p:cNvSpPr>
            <a:spLocks noChangeArrowheads="1"/>
          </p:cNvSpPr>
          <p:nvPr/>
        </p:nvSpPr>
        <p:spPr bwMode="auto">
          <a:xfrm>
            <a:off x="4100513" y="28194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17415" name="Rectangle 38"/>
          <p:cNvSpPr>
            <a:spLocks noChangeArrowheads="1"/>
          </p:cNvSpPr>
          <p:nvPr/>
        </p:nvSpPr>
        <p:spPr bwMode="auto">
          <a:xfrm>
            <a:off x="5386388" y="329565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17416" name="Rectangle 40"/>
          <p:cNvSpPr>
            <a:spLocks noChangeArrowheads="1"/>
          </p:cNvSpPr>
          <p:nvPr/>
        </p:nvSpPr>
        <p:spPr bwMode="auto">
          <a:xfrm>
            <a:off x="5348288" y="3328989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17417" name="Rectangle 42"/>
          <p:cNvSpPr>
            <a:spLocks noChangeArrowheads="1"/>
          </p:cNvSpPr>
          <p:nvPr/>
        </p:nvSpPr>
        <p:spPr bwMode="auto">
          <a:xfrm>
            <a:off x="5181600" y="33194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17418" name="Rectangle 44"/>
          <p:cNvSpPr>
            <a:spLocks noChangeArrowheads="1"/>
          </p:cNvSpPr>
          <p:nvPr/>
        </p:nvSpPr>
        <p:spPr bwMode="auto">
          <a:xfrm>
            <a:off x="5105400" y="329565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grpSp>
        <p:nvGrpSpPr>
          <p:cNvPr id="279597" name="Group 45"/>
          <p:cNvGrpSpPr>
            <a:grpSpLocks/>
          </p:cNvGrpSpPr>
          <p:nvPr/>
        </p:nvGrpSpPr>
        <p:grpSpPr bwMode="auto">
          <a:xfrm>
            <a:off x="1828800" y="736600"/>
            <a:ext cx="8229600" cy="3416300"/>
            <a:chOff x="288" y="960"/>
            <a:chExt cx="5184" cy="2152"/>
          </a:xfrm>
        </p:grpSpPr>
        <p:sp>
          <p:nvSpPr>
            <p:cNvPr id="17429" name="Rectangle 6"/>
            <p:cNvSpPr>
              <a:spLocks noChangeArrowheads="1"/>
            </p:cNvSpPr>
            <p:nvPr/>
          </p:nvSpPr>
          <p:spPr bwMode="auto">
            <a:xfrm>
              <a:off x="288" y="960"/>
              <a:ext cx="5184" cy="2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2400" dirty="0">
                  <a:cs typeface="Times New Roman" panose="02020603050405020304" pitchFamily="18" charset="0"/>
                </a:rPr>
                <a:t>2.</a:t>
              </a:r>
              <a:r>
                <a:rPr lang="zh-CN" altLang="en-GB" sz="2400" dirty="0"/>
                <a:t>2   </a:t>
              </a:r>
              <a:r>
                <a:rPr lang="zh-CN" altLang="en-US" sz="2400" dirty="0">
                  <a:latin typeface="宋体" panose="02010600030101010101" pitchFamily="2" charset="-122"/>
                  <a:cs typeface="Times New Roman" panose="02020603050405020304" pitchFamily="18" charset="0"/>
                </a:rPr>
                <a:t>用逻辑代数的公理、定理和规则证明下列表达式。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latin typeface="宋体" panose="02010600030101010101" pitchFamily="2" charset="-122"/>
                  <a:cs typeface="Times New Roman" panose="02020603050405020304" pitchFamily="18" charset="0"/>
                </a:rPr>
                <a:t>     </a:t>
              </a:r>
              <a:r>
                <a:rPr lang="zh-CN" altLang="en-US" sz="2400" dirty="0">
                  <a:latin typeface="宋体" panose="02010600030101010101" pitchFamily="2" charset="-122"/>
                </a:rPr>
                <a:t>（</a:t>
              </a:r>
              <a:r>
                <a:rPr lang="en-US" altLang="zh-CN" sz="2400" dirty="0">
                  <a:latin typeface="宋体" panose="02010600030101010101" pitchFamily="2" charset="-122"/>
                </a:rPr>
                <a:t>1</a:t>
              </a:r>
              <a:r>
                <a:rPr lang="zh-CN" altLang="en-US" sz="2400" dirty="0">
                  <a:latin typeface="宋体" panose="02010600030101010101" pitchFamily="2" charset="-122"/>
                </a:rPr>
                <a:t>）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latin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latin typeface="宋体" panose="02010600030101010101" pitchFamily="2" charset="-122"/>
                </a:rPr>
                <a:t>     （</a:t>
              </a:r>
              <a:r>
                <a:rPr lang="en-US" altLang="zh-CN" sz="2400" dirty="0">
                  <a:latin typeface="宋体" panose="02010600030101010101" pitchFamily="2" charset="-122"/>
                </a:rPr>
                <a:t>2</a:t>
              </a:r>
              <a:r>
                <a:rPr lang="zh-CN" altLang="en-US" sz="2400" dirty="0">
                  <a:latin typeface="宋体" panose="02010600030101010101" pitchFamily="2" charset="-122"/>
                </a:rPr>
                <a:t>）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latin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latin typeface="宋体" panose="02010600030101010101" pitchFamily="2" charset="-122"/>
                </a:rPr>
                <a:t>     （</a:t>
              </a:r>
              <a:r>
                <a:rPr lang="en-US" altLang="zh-CN" sz="2400" dirty="0">
                  <a:latin typeface="宋体" panose="02010600030101010101" pitchFamily="2" charset="-122"/>
                </a:rPr>
                <a:t>3</a:t>
              </a:r>
              <a:r>
                <a:rPr lang="zh-CN" altLang="en-US" sz="2400" dirty="0">
                  <a:latin typeface="宋体" panose="02010600030101010101" pitchFamily="2" charset="-122"/>
                </a:rPr>
                <a:t>）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latin typeface="宋体" panose="02010600030101010101" pitchFamily="2" charset="-122"/>
                </a:rPr>
                <a:t>    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latin typeface="宋体" panose="02010600030101010101" pitchFamily="2" charset="-122"/>
                </a:rPr>
                <a:t>     （</a:t>
              </a:r>
              <a:r>
                <a:rPr lang="en-US" altLang="zh-CN" sz="2400" dirty="0">
                  <a:latin typeface="宋体" panose="02010600030101010101" pitchFamily="2" charset="-122"/>
                </a:rPr>
                <a:t>4</a:t>
              </a:r>
              <a:r>
                <a:rPr lang="zh-CN" altLang="en-US" sz="2400" dirty="0">
                  <a:latin typeface="宋体" panose="02010600030101010101" pitchFamily="2" charset="-122"/>
                </a:rPr>
                <a:t>）</a:t>
              </a:r>
            </a:p>
          </p:txBody>
        </p:sp>
        <p:graphicFrame>
          <p:nvGraphicFramePr>
            <p:cNvPr id="17430" name="Object 37"/>
            <p:cNvGraphicFramePr>
              <a:graphicFrameLocks noChangeAspect="1"/>
            </p:cNvGraphicFramePr>
            <p:nvPr/>
          </p:nvGraphicFramePr>
          <p:xfrm>
            <a:off x="1392" y="1392"/>
            <a:ext cx="1632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r:id="rId5" imgW="1422400" imgH="266700" progId="Equation.3">
                    <p:embed/>
                  </p:oleObj>
                </mc:Choice>
                <mc:Fallback>
                  <p:oleObj r:id="rId5" imgW="1422400" imgH="266700" progId="Equation.3">
                    <p:embed/>
                    <p:pic>
                      <p:nvPicPr>
                        <p:cNvPr id="1743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392"/>
                          <a:ext cx="1632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1" name="Object 39"/>
            <p:cNvGraphicFramePr>
              <a:graphicFrameLocks noChangeAspect="1"/>
            </p:cNvGraphicFramePr>
            <p:nvPr/>
          </p:nvGraphicFramePr>
          <p:xfrm>
            <a:off x="1392" y="1920"/>
            <a:ext cx="192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r:id="rId7" imgW="1497950" imgH="203112" progId="Equation.3">
                    <p:embed/>
                  </p:oleObj>
                </mc:Choice>
                <mc:Fallback>
                  <p:oleObj r:id="rId7" imgW="1497950" imgH="203112" progId="Equation.3">
                    <p:embed/>
                    <p:pic>
                      <p:nvPicPr>
                        <p:cNvPr id="17431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920"/>
                          <a:ext cx="192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2" name="Object 41"/>
            <p:cNvGraphicFramePr>
              <a:graphicFrameLocks noChangeAspect="1"/>
            </p:cNvGraphicFramePr>
            <p:nvPr/>
          </p:nvGraphicFramePr>
          <p:xfrm>
            <a:off x="1392" y="2400"/>
            <a:ext cx="206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r:id="rId9" imgW="1828800" imgH="215900" progId="Equation.3">
                    <p:embed/>
                  </p:oleObj>
                </mc:Choice>
                <mc:Fallback>
                  <p:oleObj r:id="rId9" imgW="1828800" imgH="215900" progId="Equation.3">
                    <p:embed/>
                    <p:pic>
                      <p:nvPicPr>
                        <p:cNvPr id="17432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400"/>
                          <a:ext cx="2064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3" name="Object 43"/>
            <p:cNvGraphicFramePr>
              <a:graphicFrameLocks noChangeAspect="1"/>
            </p:cNvGraphicFramePr>
            <p:nvPr/>
          </p:nvGraphicFramePr>
          <p:xfrm>
            <a:off x="1392" y="2784"/>
            <a:ext cx="2208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r:id="rId11" imgW="1981200" imgH="266700" progId="Equation.3">
                    <p:embed/>
                  </p:oleObj>
                </mc:Choice>
                <mc:Fallback>
                  <p:oleObj r:id="rId11" imgW="1981200" imgH="266700" progId="Equation.3">
                    <p:embed/>
                    <p:pic>
                      <p:nvPicPr>
                        <p:cNvPr id="17433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784"/>
                          <a:ext cx="2208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20" name="Rectangle 72"/>
          <p:cNvSpPr>
            <a:spLocks noChangeArrowheads="1"/>
          </p:cNvSpPr>
          <p:nvPr/>
        </p:nvSpPr>
        <p:spPr bwMode="auto">
          <a:xfrm>
            <a:off x="5548313" y="33194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grpSp>
        <p:nvGrpSpPr>
          <p:cNvPr id="279627" name="Group 75"/>
          <p:cNvGrpSpPr>
            <a:grpSpLocks/>
          </p:cNvGrpSpPr>
          <p:nvPr/>
        </p:nvGrpSpPr>
        <p:grpSpPr bwMode="auto">
          <a:xfrm>
            <a:off x="1930401" y="4330701"/>
            <a:ext cx="8277225" cy="1570038"/>
            <a:chOff x="288" y="2640"/>
            <a:chExt cx="5214" cy="989"/>
          </a:xfrm>
        </p:grpSpPr>
        <p:sp>
          <p:nvSpPr>
            <p:cNvPr id="17423" name="Rectangle 46"/>
            <p:cNvSpPr>
              <a:spLocks noChangeArrowheads="1"/>
            </p:cNvSpPr>
            <p:nvPr/>
          </p:nvSpPr>
          <p:spPr bwMode="auto">
            <a:xfrm>
              <a:off x="288" y="2640"/>
              <a:ext cx="5136" cy="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2400">
                  <a:solidFill>
                    <a:srgbClr val="FA2B08"/>
                  </a:solidFill>
                  <a:latin typeface="宋体" panose="02010600030101010101" pitchFamily="2" charset="-122"/>
                </a:rPr>
                <a:t>解答：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2400"/>
                <a:t>       </a:t>
              </a:r>
              <a:r>
                <a:rPr lang="zh-CN" altLang="en-US" sz="2400"/>
                <a:t>（</a:t>
              </a:r>
              <a:r>
                <a:rPr lang="en-US" altLang="zh-CN" sz="2400"/>
                <a:t>1</a:t>
              </a:r>
              <a:r>
                <a:rPr lang="zh-CN" altLang="en-US" sz="2400"/>
                <a:t>）</a:t>
              </a:r>
              <a:r>
                <a:rPr lang="zh-CN" altLang="en-US" sz="700">
                  <a:cs typeface="Times New Roman" panose="02020603050405020304" pitchFamily="18" charset="0"/>
                </a:rPr>
                <a:t>    </a:t>
              </a:r>
              <a:r>
                <a:rPr lang="zh-CN" altLang="en-US" sz="2400">
                  <a:latin typeface="宋体" panose="02010600030101010101" pitchFamily="2" charset="-122"/>
                </a:rPr>
                <a:t>左边＝        </a:t>
              </a:r>
              <a:r>
                <a:rPr lang="zh-CN" altLang="en-US" sz="2400"/>
                <a:t>＝             （定理</a:t>
              </a:r>
              <a:r>
                <a:rPr lang="en-US" altLang="zh-CN" sz="2400">
                  <a:latin typeface="宋体" panose="02010600030101010101" pitchFamily="2" charset="-122"/>
                </a:rPr>
                <a:t>6</a:t>
              </a:r>
              <a:r>
                <a:rPr lang="zh-CN" altLang="en-US" sz="2400"/>
                <a:t>）＝               </a:t>
              </a:r>
              <a:r>
                <a:rPr lang="zh-CN" altLang="en-GB" sz="2400"/>
                <a:t>          	  </a:t>
              </a:r>
              <a:r>
                <a:rPr lang="zh-CN" altLang="en-US" sz="2400"/>
                <a:t>（定理</a:t>
              </a:r>
              <a:r>
                <a:rPr lang="en-US" altLang="zh-CN" sz="2400">
                  <a:latin typeface="宋体" panose="02010600030101010101" pitchFamily="2" charset="-122"/>
                </a:rPr>
                <a:t>6</a:t>
              </a:r>
              <a:r>
                <a:rPr lang="zh-CN" altLang="en-US" sz="2400"/>
                <a:t>）＝                          （分配率）＝           </a:t>
              </a:r>
              <a:r>
                <a:rPr lang="zh-CN" altLang="en-GB" sz="2400"/>
                <a:t>		</a:t>
              </a:r>
              <a:r>
                <a:rPr lang="zh-CN" altLang="en-US" sz="2400"/>
                <a:t>（定理</a:t>
              </a:r>
              <a:r>
                <a:rPr lang="en-US" altLang="zh-CN" sz="2400">
                  <a:latin typeface="宋体" panose="02010600030101010101" pitchFamily="2" charset="-122"/>
                </a:rPr>
                <a:t>8</a:t>
              </a:r>
              <a:r>
                <a:rPr lang="zh-CN" altLang="en-US" sz="2400"/>
                <a:t>）＝右边</a:t>
              </a:r>
              <a:endParaRPr lang="zh-CN" altLang="en-US" sz="1000">
                <a:latin typeface="宋体" panose="02010600030101010101" pitchFamily="2" charset="-122"/>
              </a:endParaRPr>
            </a:p>
          </p:txBody>
        </p:sp>
        <p:pic>
          <p:nvPicPr>
            <p:cNvPr id="17424" name="Picture 69" descr="信纸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2" y="2880"/>
              <a:ext cx="714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14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5" name="Picture 68" descr="信纸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2880"/>
              <a:ext cx="576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14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6" name="Picture 67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2" y="2928"/>
              <a:ext cx="990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7" name="Picture 65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2" y="3167"/>
              <a:ext cx="672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17428" name="Object 71"/>
            <p:cNvGraphicFramePr>
              <a:graphicFrameLocks noChangeAspect="1"/>
            </p:cNvGraphicFramePr>
            <p:nvPr/>
          </p:nvGraphicFramePr>
          <p:xfrm>
            <a:off x="2160" y="3120"/>
            <a:ext cx="1152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Equation" r:id="rId18" imgW="1117600" imgH="228600" progId="Equation.3">
                    <p:embed/>
                  </p:oleObj>
                </mc:Choice>
                <mc:Fallback>
                  <p:oleObj name="Equation" r:id="rId18" imgW="1117600" imgH="228600" progId="Equation.3">
                    <p:embed/>
                    <p:pic>
                      <p:nvPicPr>
                        <p:cNvPr id="17428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3120"/>
                          <a:ext cx="1152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7422" name="Picture 74" descr="arrow34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451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9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9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358985-1D0C-4775-A580-F1A3A82123D7}" type="slidenum">
              <a:rPr kumimoji="0" lang="en-US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zh-CN" sz="1400"/>
          </a:p>
        </p:txBody>
      </p:sp>
      <p:pic>
        <p:nvPicPr>
          <p:cNvPr id="18435" name="Picture 2" descr="to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81000"/>
            <a:ext cx="853440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0579" name="Rectangle 3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533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1800" b="1">
                <a:latin typeface="宋体" pitchFamily="2" charset="-122"/>
              </a:rPr>
              <a:t>习题课</a:t>
            </a:r>
          </a:p>
        </p:txBody>
      </p:sp>
      <p:pic>
        <p:nvPicPr>
          <p:cNvPr id="18437" name="Picture 4" descr="arrow35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5386388" y="329565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5348288" y="3328989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5181600" y="33194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18441" name="Rectangle 9"/>
          <p:cNvSpPr>
            <a:spLocks noChangeArrowheads="1"/>
          </p:cNvSpPr>
          <p:nvPr/>
        </p:nvSpPr>
        <p:spPr bwMode="auto">
          <a:xfrm>
            <a:off x="5105400" y="329565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18442" name="Rectangle 16"/>
          <p:cNvSpPr>
            <a:spLocks noChangeArrowheads="1"/>
          </p:cNvSpPr>
          <p:nvPr/>
        </p:nvSpPr>
        <p:spPr bwMode="auto">
          <a:xfrm>
            <a:off x="5548313" y="33194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pic>
        <p:nvPicPr>
          <p:cNvPr id="18443" name="Picture 25" descr="arrow34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80616" name="Group 40"/>
          <p:cNvGrpSpPr>
            <a:grpSpLocks/>
          </p:cNvGrpSpPr>
          <p:nvPr/>
        </p:nvGrpSpPr>
        <p:grpSpPr bwMode="auto">
          <a:xfrm>
            <a:off x="1752600" y="685801"/>
            <a:ext cx="8458200" cy="1516063"/>
            <a:chOff x="144" y="432"/>
            <a:chExt cx="5328" cy="955"/>
          </a:xfrm>
        </p:grpSpPr>
        <p:sp>
          <p:nvSpPr>
            <p:cNvPr id="18458" name="Rectangle 18"/>
            <p:cNvSpPr>
              <a:spLocks noChangeArrowheads="1"/>
            </p:cNvSpPr>
            <p:nvPr/>
          </p:nvSpPr>
          <p:spPr bwMode="auto">
            <a:xfrm>
              <a:off x="144" y="432"/>
              <a:ext cx="51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2400">
                  <a:solidFill>
                    <a:srgbClr val="FA2B08"/>
                  </a:solidFill>
                  <a:latin typeface="宋体" panose="02010600030101010101" pitchFamily="2" charset="-122"/>
                </a:rPr>
                <a:t>解答：</a:t>
              </a:r>
              <a:endParaRPr lang="zh-CN" altLang="en-US" sz="2400">
                <a:latin typeface="宋体" panose="02010600030101010101" pitchFamily="2" charset="-122"/>
              </a:endParaRPr>
            </a:p>
          </p:txBody>
        </p:sp>
        <p:grpSp>
          <p:nvGrpSpPr>
            <p:cNvPr id="18459" name="Group 31"/>
            <p:cNvGrpSpPr>
              <a:grpSpLocks/>
            </p:cNvGrpSpPr>
            <p:nvPr/>
          </p:nvGrpSpPr>
          <p:grpSpPr bwMode="auto">
            <a:xfrm>
              <a:off x="432" y="864"/>
              <a:ext cx="5040" cy="523"/>
              <a:chOff x="96" y="816"/>
              <a:chExt cx="5040" cy="523"/>
            </a:xfrm>
          </p:grpSpPr>
          <p:pic>
            <p:nvPicPr>
              <p:cNvPr id="18460" name="Picture 28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00" y="846"/>
                <a:ext cx="1356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461" name="Picture 27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4" y="816"/>
                <a:ext cx="1338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462" name="Picture 26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44" y="1056"/>
                <a:ext cx="420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463" name="Rectangle 30"/>
              <p:cNvSpPr>
                <a:spLocks noChangeArrowheads="1"/>
              </p:cNvSpPr>
              <p:nvPr/>
            </p:nvSpPr>
            <p:spPr bwMode="auto">
              <a:xfrm>
                <a:off x="96" y="816"/>
                <a:ext cx="5040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anose="05000000000000000000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dirty="0">
                    <a:latin typeface="宋体" panose="02010600030101010101" pitchFamily="2" charset="-122"/>
                  </a:rPr>
                  <a:t>（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2</a:t>
                </a:r>
                <a:r>
                  <a:rPr lang="zh-CN" altLang="en-US" sz="2400" dirty="0">
                    <a:latin typeface="宋体" panose="02010600030101010101" pitchFamily="2" charset="-122"/>
                  </a:rPr>
                  <a:t>）左边＝               </a:t>
                </a:r>
                <a:r>
                  <a:rPr lang="zh-CN" altLang="en-US" sz="2400" dirty="0"/>
                  <a:t>＝                            （ 结合率）          	   </a:t>
                </a:r>
                <a:r>
                  <a:rPr lang="zh-CN" altLang="en-GB" sz="2400" dirty="0"/>
                  <a:t>          </a:t>
                </a:r>
                <a:r>
                  <a:rPr lang="zh-CN" altLang="en-US" sz="2400" dirty="0"/>
                  <a:t>＝             （互补率）＝</a:t>
                </a:r>
                <a:r>
                  <a:rPr lang="en-US" altLang="zh-CN" sz="2400" dirty="0"/>
                  <a:t>1</a:t>
                </a:r>
                <a:r>
                  <a:rPr lang="zh-CN" altLang="en-US" sz="2400" dirty="0"/>
                  <a:t>＝右边</a:t>
                </a:r>
              </a:p>
            </p:txBody>
          </p:sp>
        </p:grpSp>
      </p:grpSp>
      <p:grpSp>
        <p:nvGrpSpPr>
          <p:cNvPr id="280617" name="Group 41"/>
          <p:cNvGrpSpPr>
            <a:grpSpLocks/>
          </p:cNvGrpSpPr>
          <p:nvPr/>
        </p:nvGrpSpPr>
        <p:grpSpPr bwMode="auto">
          <a:xfrm>
            <a:off x="1981200" y="2819400"/>
            <a:ext cx="8229600" cy="1200150"/>
            <a:chOff x="288" y="1776"/>
            <a:chExt cx="5184" cy="756"/>
          </a:xfrm>
        </p:grpSpPr>
        <p:pic>
          <p:nvPicPr>
            <p:cNvPr id="18452" name="Picture 37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1776"/>
              <a:ext cx="91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3" name="Picture 36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6" y="1776"/>
              <a:ext cx="594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4" name="Picture 35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6" y="1776"/>
              <a:ext cx="1428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5" name="Picture 34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4" y="2016"/>
              <a:ext cx="19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6" name="Picture 33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8" y="2016"/>
              <a:ext cx="1308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57" name="Rectangle 39"/>
            <p:cNvSpPr>
              <a:spLocks noChangeArrowheads="1"/>
            </p:cNvSpPr>
            <p:nvPr/>
          </p:nvSpPr>
          <p:spPr bwMode="auto">
            <a:xfrm>
              <a:off x="288" y="1776"/>
              <a:ext cx="5184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（</a:t>
              </a:r>
              <a:r>
                <a:rPr lang="en-US" altLang="zh-CN" sz="2400"/>
                <a:t>3</a:t>
              </a:r>
              <a:r>
                <a:rPr lang="zh-CN" altLang="en-US" sz="2400"/>
                <a:t>）</a:t>
              </a:r>
              <a:r>
                <a:rPr lang="zh-CN" altLang="en-US" sz="700">
                  <a:cs typeface="Times New Roman" panose="02020603050405020304" pitchFamily="18" charset="0"/>
                </a:rPr>
                <a:t>    </a:t>
              </a:r>
              <a:r>
                <a:rPr lang="zh-CN" altLang="en-US" sz="2400">
                  <a:latin typeface="宋体" panose="02010600030101010101" pitchFamily="2" charset="-122"/>
                </a:rPr>
                <a:t>左边＝           </a:t>
              </a:r>
              <a:r>
                <a:rPr lang="zh-CN" altLang="en-US" sz="2400"/>
                <a:t>＝               ＝                         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                   ＝                                              ＝                          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                   ＝右边</a:t>
              </a:r>
              <a:endParaRPr lang="en-US" altLang="zh-CN" sz="2400"/>
            </a:p>
          </p:txBody>
        </p:sp>
      </p:grpSp>
      <p:grpSp>
        <p:nvGrpSpPr>
          <p:cNvPr id="280624" name="Group 48"/>
          <p:cNvGrpSpPr>
            <a:grpSpLocks/>
          </p:cNvGrpSpPr>
          <p:nvPr/>
        </p:nvGrpSpPr>
        <p:grpSpPr bwMode="auto">
          <a:xfrm>
            <a:off x="1981200" y="4267200"/>
            <a:ext cx="6705600" cy="1276350"/>
            <a:chOff x="240" y="2688"/>
            <a:chExt cx="4224" cy="804"/>
          </a:xfrm>
        </p:grpSpPr>
        <p:pic>
          <p:nvPicPr>
            <p:cNvPr id="18447" name="Picture 45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0" y="2736"/>
              <a:ext cx="1086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48" name="Picture 44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4" y="2688"/>
              <a:ext cx="1002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49" name="Picture 43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0" y="3024"/>
              <a:ext cx="1584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0" name="Picture 42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3216"/>
              <a:ext cx="85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51" name="Rectangle 47"/>
            <p:cNvSpPr>
              <a:spLocks noChangeArrowheads="1"/>
            </p:cNvSpPr>
            <p:nvPr/>
          </p:nvSpPr>
          <p:spPr bwMode="auto">
            <a:xfrm>
              <a:off x="240" y="2736"/>
              <a:ext cx="4224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（</a:t>
              </a:r>
              <a:r>
                <a:rPr lang="en-US" altLang="zh-CN" sz="2400"/>
                <a:t>4</a:t>
              </a:r>
              <a:r>
                <a:rPr lang="zh-CN" altLang="en-US" sz="2400"/>
                <a:t>）</a:t>
              </a:r>
              <a:r>
                <a:rPr lang="zh-CN" altLang="en-US" sz="700">
                  <a:cs typeface="Times New Roman" panose="02020603050405020304" pitchFamily="18" charset="0"/>
                </a:rPr>
                <a:t>    </a:t>
              </a:r>
              <a:r>
                <a:rPr lang="zh-CN" altLang="en-US" sz="2400">
                  <a:latin typeface="宋体" panose="02010600030101010101" pitchFamily="2" charset="-122"/>
                </a:rPr>
                <a:t>右边＝            </a:t>
              </a:r>
              <a:r>
                <a:rPr lang="zh-CN" altLang="en-US" sz="2400"/>
                <a:t>＝                      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	       ＝        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                   ＝                           ＝右边</a:t>
              </a:r>
            </a:p>
          </p:txBody>
        </p:sp>
      </p:grpSp>
      <p:grpSp>
        <p:nvGrpSpPr>
          <p:cNvPr id="32" name="Group 45"/>
          <p:cNvGrpSpPr>
            <a:grpSpLocks/>
          </p:cNvGrpSpPr>
          <p:nvPr/>
        </p:nvGrpSpPr>
        <p:grpSpPr bwMode="auto">
          <a:xfrm>
            <a:off x="8196263" y="3965023"/>
            <a:ext cx="3848100" cy="1934127"/>
            <a:chOff x="1392" y="1920"/>
            <a:chExt cx="2208" cy="1161"/>
          </a:xfrm>
        </p:grpSpPr>
        <p:graphicFrame>
          <p:nvGraphicFramePr>
            <p:cNvPr id="35" name="Object 39"/>
            <p:cNvGraphicFramePr>
              <a:graphicFrameLocks noChangeAspect="1"/>
            </p:cNvGraphicFramePr>
            <p:nvPr/>
          </p:nvGraphicFramePr>
          <p:xfrm>
            <a:off x="1392" y="1920"/>
            <a:ext cx="192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1" r:id="rId18" imgW="1497950" imgH="203112" progId="Equation.3">
                    <p:embed/>
                  </p:oleObj>
                </mc:Choice>
                <mc:Fallback>
                  <p:oleObj r:id="rId18" imgW="1497950" imgH="203112" progId="Equation.3">
                    <p:embed/>
                    <p:pic>
                      <p:nvPicPr>
                        <p:cNvPr id="17431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920"/>
                          <a:ext cx="192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41"/>
            <p:cNvGraphicFramePr>
              <a:graphicFrameLocks noChangeAspect="1"/>
            </p:cNvGraphicFramePr>
            <p:nvPr/>
          </p:nvGraphicFramePr>
          <p:xfrm>
            <a:off x="1392" y="2400"/>
            <a:ext cx="206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2" r:id="rId20" imgW="1828800" imgH="215900" progId="Equation.3">
                    <p:embed/>
                  </p:oleObj>
                </mc:Choice>
                <mc:Fallback>
                  <p:oleObj r:id="rId20" imgW="1828800" imgH="215900" progId="Equation.3">
                    <p:embed/>
                    <p:pic>
                      <p:nvPicPr>
                        <p:cNvPr id="17432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400"/>
                          <a:ext cx="2064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43"/>
            <p:cNvGraphicFramePr>
              <a:graphicFrameLocks noChangeAspect="1"/>
            </p:cNvGraphicFramePr>
            <p:nvPr/>
          </p:nvGraphicFramePr>
          <p:xfrm>
            <a:off x="1392" y="2784"/>
            <a:ext cx="2208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" r:id="rId22" imgW="1981200" imgH="266700" progId="Equation.3">
                    <p:embed/>
                  </p:oleObj>
                </mc:Choice>
                <mc:Fallback>
                  <p:oleObj r:id="rId22" imgW="1981200" imgH="266700" progId="Equation.3">
                    <p:embed/>
                    <p:pic>
                      <p:nvPicPr>
                        <p:cNvPr id="17433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784"/>
                          <a:ext cx="2208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55089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0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0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0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1B1A50-C5DA-4832-9FA6-C69309FBA767}" type="slidenum">
              <a:rPr kumimoji="0" lang="en-US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en-US" altLang="zh-CN" sz="1400"/>
          </a:p>
        </p:txBody>
      </p:sp>
      <p:pic>
        <p:nvPicPr>
          <p:cNvPr id="20483" name="Picture 2" descr="t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81000"/>
            <a:ext cx="853440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2627" name="Rectangle 3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533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1800" b="1">
                <a:latin typeface="宋体" pitchFamily="2" charset="-122"/>
              </a:rPr>
              <a:t>习题课</a:t>
            </a:r>
          </a:p>
        </p:txBody>
      </p:sp>
      <p:pic>
        <p:nvPicPr>
          <p:cNvPr id="20485" name="Picture 4" descr="arrow35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Rectangle 5"/>
          <p:cNvSpPr>
            <a:spLocks noChangeArrowheads="1"/>
          </p:cNvSpPr>
          <p:nvPr/>
        </p:nvSpPr>
        <p:spPr bwMode="auto">
          <a:xfrm>
            <a:off x="4100513" y="28194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20487" name="Rectangle 6"/>
          <p:cNvSpPr>
            <a:spLocks noChangeArrowheads="1"/>
          </p:cNvSpPr>
          <p:nvPr/>
        </p:nvSpPr>
        <p:spPr bwMode="auto">
          <a:xfrm>
            <a:off x="5386388" y="329565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20488" name="Rectangle 7"/>
          <p:cNvSpPr>
            <a:spLocks noChangeArrowheads="1"/>
          </p:cNvSpPr>
          <p:nvPr/>
        </p:nvSpPr>
        <p:spPr bwMode="auto">
          <a:xfrm>
            <a:off x="5348288" y="3328989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20489" name="Rectangle 8"/>
          <p:cNvSpPr>
            <a:spLocks noChangeArrowheads="1"/>
          </p:cNvSpPr>
          <p:nvPr/>
        </p:nvSpPr>
        <p:spPr bwMode="auto">
          <a:xfrm>
            <a:off x="5181600" y="33194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20490" name="Rectangle 9"/>
          <p:cNvSpPr>
            <a:spLocks noChangeArrowheads="1"/>
          </p:cNvSpPr>
          <p:nvPr/>
        </p:nvSpPr>
        <p:spPr bwMode="auto">
          <a:xfrm>
            <a:off x="5105400" y="329565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20491" name="Rectangle 16"/>
          <p:cNvSpPr>
            <a:spLocks noChangeArrowheads="1"/>
          </p:cNvSpPr>
          <p:nvPr/>
        </p:nvSpPr>
        <p:spPr bwMode="auto">
          <a:xfrm>
            <a:off x="5548313" y="33194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pic>
        <p:nvPicPr>
          <p:cNvPr id="20492" name="Picture 25" descr="arrow34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493" name="Group 31"/>
          <p:cNvGrpSpPr>
            <a:grpSpLocks/>
          </p:cNvGrpSpPr>
          <p:nvPr/>
        </p:nvGrpSpPr>
        <p:grpSpPr bwMode="auto">
          <a:xfrm>
            <a:off x="1828800" y="736600"/>
            <a:ext cx="8229600" cy="1938338"/>
            <a:chOff x="192" y="464"/>
            <a:chExt cx="5184" cy="1221"/>
          </a:xfrm>
        </p:grpSpPr>
        <p:sp>
          <p:nvSpPr>
            <p:cNvPr id="20504" name="Rectangle 11"/>
            <p:cNvSpPr>
              <a:spLocks noChangeArrowheads="1"/>
            </p:cNvSpPr>
            <p:nvPr/>
          </p:nvSpPr>
          <p:spPr bwMode="auto">
            <a:xfrm>
              <a:off x="192" y="464"/>
              <a:ext cx="5184" cy="1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2400">
                  <a:cs typeface="Times New Roman" panose="02020603050405020304" pitchFamily="18" charset="0"/>
                </a:rPr>
                <a:t>2.</a:t>
              </a:r>
              <a:r>
                <a:rPr lang="zh-CN" altLang="en-GB" sz="2400"/>
                <a:t>4    </a:t>
              </a:r>
              <a:r>
                <a:rPr lang="zh-CN" altLang="en-US" sz="2400">
                  <a:latin typeface="宋体" panose="02010600030101010101" pitchFamily="2" charset="-122"/>
                  <a:cs typeface="Times New Roman" panose="02020603050405020304" pitchFamily="18" charset="0"/>
                </a:rPr>
                <a:t>求下列函数的反函数和对偶函数。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  <a:cs typeface="Times New Roman" panose="02020603050405020304" pitchFamily="18" charset="0"/>
                </a:rPr>
                <a:t>     </a:t>
              </a:r>
              <a:r>
                <a:rPr lang="zh-CN" altLang="en-US" sz="2400">
                  <a:latin typeface="宋体" panose="02010600030101010101" pitchFamily="2" charset="-122"/>
                </a:rPr>
                <a:t>（</a:t>
              </a:r>
              <a:r>
                <a:rPr lang="en-US" altLang="zh-CN" sz="2400">
                  <a:latin typeface="宋体" panose="02010600030101010101" pitchFamily="2" charset="-122"/>
                </a:rPr>
                <a:t>1</a:t>
              </a:r>
              <a:r>
                <a:rPr lang="zh-CN" altLang="en-US" sz="2400">
                  <a:latin typeface="宋体" panose="02010600030101010101" pitchFamily="2" charset="-122"/>
                </a:rPr>
                <a:t>）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</a:rPr>
                <a:t>     （</a:t>
              </a:r>
              <a:r>
                <a:rPr lang="en-US" altLang="zh-CN" sz="2400">
                  <a:latin typeface="宋体" panose="02010600030101010101" pitchFamily="2" charset="-122"/>
                </a:rPr>
                <a:t>2</a:t>
              </a:r>
              <a:r>
                <a:rPr lang="zh-CN" altLang="en-US" sz="2400">
                  <a:latin typeface="宋体" panose="02010600030101010101" pitchFamily="2" charset="-122"/>
                </a:rPr>
                <a:t>）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</a:rPr>
                <a:t>     （</a:t>
              </a:r>
              <a:r>
                <a:rPr lang="en-US" altLang="zh-CN" sz="2400">
                  <a:latin typeface="宋体" panose="02010600030101010101" pitchFamily="2" charset="-122"/>
                </a:rPr>
                <a:t>3</a:t>
              </a:r>
              <a:r>
                <a:rPr lang="zh-CN" altLang="en-US" sz="2400">
                  <a:latin typeface="宋体" panose="02010600030101010101" pitchFamily="2" charset="-122"/>
                </a:rPr>
                <a:t>）    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</a:rPr>
                <a:t>     （</a:t>
              </a:r>
              <a:r>
                <a:rPr lang="en-US" altLang="zh-CN" sz="2400">
                  <a:latin typeface="宋体" panose="02010600030101010101" pitchFamily="2" charset="-122"/>
                </a:rPr>
                <a:t>4</a:t>
              </a:r>
              <a:r>
                <a:rPr lang="zh-CN" altLang="en-US" sz="2400">
                  <a:latin typeface="宋体" panose="02010600030101010101" pitchFamily="2" charset="-122"/>
                </a:rPr>
                <a:t>）</a:t>
              </a:r>
            </a:p>
          </p:txBody>
        </p:sp>
        <p:pic>
          <p:nvPicPr>
            <p:cNvPr id="20505" name="Picture 29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702"/>
              <a:ext cx="1164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06" name="Picture 28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932"/>
              <a:ext cx="258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07" name="Picture 27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162"/>
              <a:ext cx="1614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08" name="Picture 26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392"/>
              <a:ext cx="1638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2660" name="Group 36"/>
          <p:cNvGrpSpPr>
            <a:grpSpLocks/>
          </p:cNvGrpSpPr>
          <p:nvPr/>
        </p:nvGrpSpPr>
        <p:grpSpPr bwMode="auto">
          <a:xfrm>
            <a:off x="1981200" y="2819400"/>
            <a:ext cx="8153400" cy="1625600"/>
            <a:chOff x="288" y="1776"/>
            <a:chExt cx="5136" cy="1024"/>
          </a:xfrm>
        </p:grpSpPr>
        <p:sp>
          <p:nvSpPr>
            <p:cNvPr id="20500" name="Rectangle 18"/>
            <p:cNvSpPr>
              <a:spLocks noChangeArrowheads="1"/>
            </p:cNvSpPr>
            <p:nvPr/>
          </p:nvSpPr>
          <p:spPr bwMode="auto">
            <a:xfrm>
              <a:off x="288" y="1776"/>
              <a:ext cx="5136" cy="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2400">
                  <a:solidFill>
                    <a:srgbClr val="FA2B08"/>
                  </a:solidFill>
                  <a:latin typeface="宋体" panose="02010600030101010101" pitchFamily="2" charset="-122"/>
                </a:rPr>
                <a:t>解答：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（</a:t>
              </a:r>
              <a:r>
                <a:rPr lang="en-US" altLang="zh-CN" sz="2400"/>
                <a:t>1</a:t>
              </a:r>
              <a:r>
                <a:rPr lang="zh-CN" altLang="en-US" sz="2400"/>
                <a:t>）</a:t>
              </a:r>
              <a:r>
                <a:rPr lang="zh-CN" altLang="en-US" sz="700">
                  <a:cs typeface="Times New Roman" panose="02020603050405020304" pitchFamily="18" charset="0"/>
                </a:rPr>
                <a:t>    </a:t>
              </a:r>
              <a:endParaRPr lang="zh-CN" altLang="en-US" sz="1000">
                <a:latin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反函数：</a:t>
              </a:r>
              <a:endParaRPr lang="zh-CN" altLang="en-US" sz="1000"/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对偶函数：</a:t>
              </a:r>
              <a:endParaRPr lang="zh-CN" altLang="en-US" sz="2400">
                <a:latin typeface="宋体" panose="02010600030101010101" pitchFamily="2" charset="-122"/>
              </a:endParaRPr>
            </a:p>
          </p:txBody>
        </p:sp>
        <p:pic>
          <p:nvPicPr>
            <p:cNvPr id="20501" name="Picture 34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6" y="2064"/>
              <a:ext cx="1170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02" name="Picture 33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6" y="2294"/>
              <a:ext cx="2862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03" name="Picture 32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6" y="2524"/>
              <a:ext cx="2232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2666" name="Group 42"/>
          <p:cNvGrpSpPr>
            <a:grpSpLocks/>
          </p:cNvGrpSpPr>
          <p:nvPr/>
        </p:nvGrpSpPr>
        <p:grpSpPr bwMode="auto">
          <a:xfrm>
            <a:off x="2057400" y="4543426"/>
            <a:ext cx="7696200" cy="1570038"/>
            <a:chOff x="336" y="2862"/>
            <a:chExt cx="4848" cy="989"/>
          </a:xfrm>
        </p:grpSpPr>
        <p:pic>
          <p:nvPicPr>
            <p:cNvPr id="20496" name="Picture 39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8" y="2880"/>
              <a:ext cx="2634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497" name="Picture 38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8" y="3264"/>
              <a:ext cx="3540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498" name="Picture 37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8" y="3550"/>
              <a:ext cx="3876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99" name="Rectangle 41"/>
            <p:cNvSpPr>
              <a:spLocks noChangeArrowheads="1"/>
            </p:cNvSpPr>
            <p:nvPr/>
          </p:nvSpPr>
          <p:spPr bwMode="auto">
            <a:xfrm>
              <a:off x="336" y="2862"/>
              <a:ext cx="4656" cy="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dirty="0"/>
                <a:t>（</a:t>
              </a:r>
              <a:r>
                <a:rPr lang="en-US" altLang="zh-CN" sz="2400" dirty="0"/>
                <a:t>2</a:t>
              </a:r>
              <a:r>
                <a:rPr lang="zh-CN" altLang="en-US" sz="2400" dirty="0"/>
                <a:t>）</a:t>
              </a:r>
              <a:r>
                <a:rPr lang="zh-CN" altLang="en-US" sz="700" dirty="0">
                  <a:cs typeface="Times New Roman" panose="02020603050405020304" pitchFamily="18" charset="0"/>
                </a:rPr>
                <a:t>    </a:t>
              </a:r>
              <a:endParaRPr lang="zh-CN" altLang="en-US" sz="1000" dirty="0">
                <a:latin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dirty="0"/>
                <a:t>反函数：</a:t>
              </a:r>
              <a:endParaRPr lang="zh-CN" altLang="en-US" sz="1000" dirty="0"/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dirty="0"/>
                <a:t>对偶函数：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45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2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2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251918-E21C-4877-B03B-139E1E4043D9}" type="slidenum">
              <a:rPr kumimoji="0" lang="en-US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kumimoji="0" lang="en-US" altLang="zh-CN" sz="1400"/>
          </a:p>
        </p:txBody>
      </p:sp>
      <p:pic>
        <p:nvPicPr>
          <p:cNvPr id="21507" name="Picture 2" descr="to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81000"/>
            <a:ext cx="853440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2867" name="Rectangle 3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533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1800" b="1">
                <a:latin typeface="宋体" pitchFamily="2" charset="-122"/>
              </a:rPr>
              <a:t>习题课</a:t>
            </a:r>
          </a:p>
        </p:txBody>
      </p:sp>
      <p:pic>
        <p:nvPicPr>
          <p:cNvPr id="21509" name="Picture 4" descr="arrow35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0" name="Rectangle 5"/>
          <p:cNvSpPr>
            <a:spLocks noChangeArrowheads="1"/>
          </p:cNvSpPr>
          <p:nvPr/>
        </p:nvSpPr>
        <p:spPr bwMode="auto">
          <a:xfrm>
            <a:off x="4100513" y="28194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21511" name="Rectangle 6"/>
          <p:cNvSpPr>
            <a:spLocks noChangeArrowheads="1"/>
          </p:cNvSpPr>
          <p:nvPr/>
        </p:nvSpPr>
        <p:spPr bwMode="auto">
          <a:xfrm>
            <a:off x="5386388" y="329565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21512" name="Rectangle 7"/>
          <p:cNvSpPr>
            <a:spLocks noChangeArrowheads="1"/>
          </p:cNvSpPr>
          <p:nvPr/>
        </p:nvSpPr>
        <p:spPr bwMode="auto">
          <a:xfrm>
            <a:off x="5348288" y="3328989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21513" name="Rectangle 8"/>
          <p:cNvSpPr>
            <a:spLocks noChangeArrowheads="1"/>
          </p:cNvSpPr>
          <p:nvPr/>
        </p:nvSpPr>
        <p:spPr bwMode="auto">
          <a:xfrm>
            <a:off x="5181600" y="33194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21514" name="Rectangle 9"/>
          <p:cNvSpPr>
            <a:spLocks noChangeArrowheads="1"/>
          </p:cNvSpPr>
          <p:nvPr/>
        </p:nvSpPr>
        <p:spPr bwMode="auto">
          <a:xfrm>
            <a:off x="5105400" y="329565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21515" name="Rectangle 10"/>
          <p:cNvSpPr>
            <a:spLocks noChangeArrowheads="1"/>
          </p:cNvSpPr>
          <p:nvPr/>
        </p:nvSpPr>
        <p:spPr bwMode="auto">
          <a:xfrm>
            <a:off x="5548313" y="33194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pic>
        <p:nvPicPr>
          <p:cNvPr id="21516" name="Picture 11" descr="arrow34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7" name="Rectangle 81"/>
          <p:cNvSpPr>
            <a:spLocks noChangeArrowheads="1"/>
          </p:cNvSpPr>
          <p:nvPr/>
        </p:nvSpPr>
        <p:spPr bwMode="auto">
          <a:xfrm>
            <a:off x="3943350" y="3309939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</a:endParaRPr>
          </a:p>
        </p:txBody>
      </p:sp>
      <p:grpSp>
        <p:nvGrpSpPr>
          <p:cNvPr id="292946" name="Group 82"/>
          <p:cNvGrpSpPr>
            <a:grpSpLocks/>
          </p:cNvGrpSpPr>
          <p:nvPr/>
        </p:nvGrpSpPr>
        <p:grpSpPr bwMode="auto">
          <a:xfrm>
            <a:off x="1981200" y="1066800"/>
            <a:ext cx="8153400" cy="2743200"/>
            <a:chOff x="288" y="432"/>
            <a:chExt cx="5136" cy="1728"/>
          </a:xfrm>
        </p:grpSpPr>
        <p:sp>
          <p:nvSpPr>
            <p:cNvPr id="21524" name="Rectangle 19"/>
            <p:cNvSpPr>
              <a:spLocks noChangeArrowheads="1"/>
            </p:cNvSpPr>
            <p:nvPr/>
          </p:nvSpPr>
          <p:spPr bwMode="auto">
            <a:xfrm>
              <a:off x="288" y="432"/>
              <a:ext cx="5136" cy="10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2400">
                  <a:solidFill>
                    <a:srgbClr val="FA2B08"/>
                  </a:solidFill>
                  <a:latin typeface="宋体" panose="02010600030101010101" pitchFamily="2" charset="-122"/>
                </a:rPr>
                <a:t>解答：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（</a:t>
              </a:r>
              <a:r>
                <a:rPr lang="en-US" altLang="zh-CN" sz="2400"/>
                <a:t>3</a:t>
              </a:r>
              <a:r>
                <a:rPr lang="zh-CN" altLang="en-US" sz="2400"/>
                <a:t>）</a:t>
              </a:r>
              <a:r>
                <a:rPr lang="zh-CN" altLang="en-US" sz="700">
                  <a:cs typeface="Times New Roman" panose="02020603050405020304" pitchFamily="18" charset="0"/>
                </a:rPr>
                <a:t>    </a:t>
              </a:r>
              <a:endParaRPr lang="zh-CN" altLang="en-US" sz="1000">
                <a:latin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反函数：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000"/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对偶函数：</a:t>
              </a:r>
              <a:endParaRPr lang="zh-CN" altLang="en-US" sz="2400">
                <a:latin typeface="宋体" panose="02010600030101010101" pitchFamily="2" charset="-122"/>
              </a:endParaRPr>
            </a:p>
          </p:txBody>
        </p:sp>
        <p:pic>
          <p:nvPicPr>
            <p:cNvPr id="21525" name="Picture 30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624"/>
              <a:ext cx="1710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26" name="Picture 29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972"/>
              <a:ext cx="2004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21527" name="Object 80"/>
            <p:cNvGraphicFramePr>
              <a:graphicFrameLocks noChangeAspect="1"/>
            </p:cNvGraphicFramePr>
            <p:nvPr/>
          </p:nvGraphicFramePr>
          <p:xfrm>
            <a:off x="1248" y="1248"/>
            <a:ext cx="2592" cy="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" name="Equation" r:id="rId8" imgW="1993900" imgH="825500" progId="Equation.3">
                    <p:embed/>
                  </p:oleObj>
                </mc:Choice>
                <mc:Fallback>
                  <p:oleObj name="Equation" r:id="rId8" imgW="1993900" imgH="825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248"/>
                          <a:ext cx="2592" cy="9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2951" name="Group 87"/>
          <p:cNvGrpSpPr>
            <a:grpSpLocks/>
          </p:cNvGrpSpPr>
          <p:nvPr/>
        </p:nvGrpSpPr>
        <p:grpSpPr bwMode="auto">
          <a:xfrm>
            <a:off x="1981200" y="4391026"/>
            <a:ext cx="7391400" cy="1570038"/>
            <a:chOff x="288" y="2256"/>
            <a:chExt cx="4656" cy="989"/>
          </a:xfrm>
        </p:grpSpPr>
        <p:sp>
          <p:nvSpPr>
            <p:cNvPr id="21520" name="Rectangle 27"/>
            <p:cNvSpPr>
              <a:spLocks noChangeArrowheads="1"/>
            </p:cNvSpPr>
            <p:nvPr/>
          </p:nvSpPr>
          <p:spPr bwMode="auto">
            <a:xfrm>
              <a:off x="288" y="2256"/>
              <a:ext cx="4656" cy="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/>
                <a:t>（</a:t>
              </a:r>
              <a:r>
                <a:rPr lang="en-US" altLang="zh-CN" sz="2400"/>
                <a:t>4</a:t>
              </a:r>
              <a:r>
                <a:rPr lang="zh-CN" altLang="en-US" sz="2400"/>
                <a:t>）</a:t>
              </a:r>
              <a:r>
                <a:rPr lang="zh-CN" altLang="en-US" sz="700">
                  <a:cs typeface="Times New Roman" panose="02020603050405020304" pitchFamily="18" charset="0"/>
                </a:rPr>
                <a:t>    </a:t>
              </a:r>
              <a:endParaRPr lang="zh-CN" altLang="en-US" sz="1000">
                <a:latin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/>
                <a:t>反函数：</a:t>
              </a:r>
              <a:endParaRPr lang="zh-CN" altLang="en-US" sz="1000"/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/>
                <a:t>对偶函数：</a:t>
              </a:r>
            </a:p>
          </p:txBody>
        </p:sp>
        <p:pic>
          <p:nvPicPr>
            <p:cNvPr id="21521" name="Picture 85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2256"/>
              <a:ext cx="1854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22" name="Picture 84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6" y="2640"/>
              <a:ext cx="2280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23" name="Picture 83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928"/>
              <a:ext cx="2298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6321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270</Words>
  <Application>Microsoft Office PowerPoint</Application>
  <PresentationFormat>宽屏</PresentationFormat>
  <Paragraphs>145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宋体</vt:lpstr>
      <vt:lpstr>Arial</vt:lpstr>
      <vt:lpstr>Calibri</vt:lpstr>
      <vt:lpstr>Calibri Light</vt:lpstr>
      <vt:lpstr>Cambria Math</vt:lpstr>
      <vt:lpstr>Times New Roman</vt:lpstr>
      <vt:lpstr>Office 主题</vt:lpstr>
      <vt:lpstr>Microsoft Equation 3.0</vt:lpstr>
      <vt:lpstr>Equation</vt:lpstr>
      <vt:lpstr>2017级数字逻辑第二章 练习题一讲评 </vt:lpstr>
      <vt:lpstr>填空题</vt:lpstr>
      <vt:lpstr>证明题</vt:lpstr>
      <vt:lpstr>PowerPoint 演示文稿</vt:lpstr>
      <vt:lpstr>方法一</vt:lpstr>
      <vt:lpstr>方法二</vt:lpstr>
      <vt:lpstr>方法一</vt:lpstr>
      <vt:lpstr>方法二</vt:lpstr>
      <vt:lpstr>方法三</vt:lpstr>
      <vt:lpstr>方法一</vt:lpstr>
      <vt:lpstr>方法二</vt:lpstr>
      <vt:lpstr>PowerPoint 演示文稿</vt:lpstr>
      <vt:lpstr>方法一</vt:lpstr>
      <vt:lpstr>方法二</vt:lpstr>
      <vt:lpstr>PowerPoint 演示文稿</vt:lpstr>
      <vt:lpstr>习题课</vt:lpstr>
      <vt:lpstr>习题课</vt:lpstr>
      <vt:lpstr>习题课</vt:lpstr>
      <vt:lpstr>习题课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2012级数字逻辑第二章 练习题一讲评 </dc:title>
  <dc:creator>Fei</dc:creator>
  <cp:lastModifiedBy>lin dazhen</cp:lastModifiedBy>
  <cp:revision>15</cp:revision>
  <dcterms:created xsi:type="dcterms:W3CDTF">2014-03-16T02:09:01Z</dcterms:created>
  <dcterms:modified xsi:type="dcterms:W3CDTF">2019-03-15T03:41:48Z</dcterms:modified>
</cp:coreProperties>
</file>