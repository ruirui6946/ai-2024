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366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3231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013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8868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22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407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9693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686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730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990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9649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4C2AC-BA59-48A5-8F5D-BDB6D8AD8CA2}" type="datetimeFigureOut">
              <a:rPr lang="zh-CN" altLang="en-US" smtClean="0"/>
              <a:t>2019/4/24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DC4658-DC78-4A03-98D0-91993677B2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6412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mtClean="0"/>
              <a:t>2017</a:t>
            </a:r>
            <a:r>
              <a:rPr lang="zh-CN" altLang="zh-CN" smtClean="0"/>
              <a:t>级数</a:t>
            </a:r>
            <a:r>
              <a:rPr lang="zh-CN" altLang="zh-CN" dirty="0"/>
              <a:t>字逻辑第一章</a:t>
            </a:r>
            <a:r>
              <a:rPr lang="en-US" altLang="zh-CN" dirty="0"/>
              <a:t/>
            </a:r>
            <a:br>
              <a:rPr lang="en-US" altLang="zh-CN" dirty="0"/>
            </a:br>
            <a:r>
              <a:rPr lang="zh-CN" altLang="zh-CN" dirty="0"/>
              <a:t>练习题</a:t>
            </a:r>
            <a:r>
              <a:rPr lang="en-US" altLang="zh-CN" dirty="0"/>
              <a:t>-</a:t>
            </a:r>
            <a:r>
              <a:rPr lang="zh-CN" altLang="en-US" dirty="0"/>
              <a:t>讲评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793648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填空题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959557" y="1838545"/>
                <a:ext cx="10044288" cy="40934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1.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数字电路只能处理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数字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信号，不能处理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模拟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信号。</a:t>
                </a:r>
              </a:p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2.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机器码通常有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原码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补码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，和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反码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种类型。</a:t>
                </a:r>
              </a:p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3.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二进制数</a:t>
                </a: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1001 1001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对应的十进制数为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153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10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，十六进制数为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99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16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</a:p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4.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二进制数</a:t>
                </a: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111 0101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对应的十进制数为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117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10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，八进制数为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165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</a:p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5.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二进制数</a:t>
                </a: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0.110101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对应的八进制数为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0.65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000" u="sng" kern="100" dirty="0">
                    <a:solidFill>
                      <a:prstClr val="black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 8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，十六进制数为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0.D4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000" u="sng" kern="100" dirty="0">
                    <a:solidFill>
                      <a:prstClr val="black"/>
                    </a:solidFill>
                    <a:latin typeface="Calibri" panose="020F0502020204030204" pitchFamily="34" charset="0"/>
                    <a:cs typeface="Times New Roman" panose="02020603050405020304" pitchFamily="18" charset="0"/>
                  </a:rPr>
                  <a:t> 16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</a:p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6.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[2</m:t>
                        </m:r>
                        <m:r>
                          <a:rPr lang="en-US" altLang="zh-CN" sz="2000" b="0" i="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.2]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CN" sz="20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=[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</m:t>
                    </m:r>
                    <m:r>
                      <a:rPr lang="en-US" altLang="zh-CN" sz="20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10 010</m:t>
                    </m:r>
                    <m:r>
                      <a:rPr lang="en-US" altLang="zh-CN" sz="2000" b="0" i="1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CN" sz="2000" b="0" i="0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01</m:t>
                    </m:r>
                    <m:r>
                      <a:rPr lang="en-US" altLang="zh-CN" sz="2000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</m:t>
                    </m:r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[18.</m:t>
                        </m:r>
                        <m:r>
                          <m:rPr>
                            <m:sty m:val="p"/>
                          </m:rPr>
                          <a:rPr lang="en-US" altLang="zh-CN" sz="2000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A</m:t>
                        </m:r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  <m:r>
                      <a:rPr lang="en-US" altLang="zh-CN" sz="20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=[</m:t>
                    </m:r>
                    <m:r>
                      <a:rPr lang="en-US" altLang="zh-CN" sz="2000" u="sng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</m:t>
                    </m:r>
                    <m:r>
                      <a:rPr lang="en-US" altLang="zh-CN" sz="2000" b="0" i="0" u="sng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11000</m:t>
                    </m:r>
                    <m:r>
                      <a:rPr lang="en-US" altLang="zh-CN" sz="2000" b="0" i="1" u="sng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.1010</m:t>
                    </m:r>
                    <m:r>
                      <a:rPr lang="en-US" altLang="zh-CN" sz="2000" u="sng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</m:t>
                    </m:r>
                    <m:sSub>
                      <m:sSubPr>
                        <m:ctrlPr>
                          <a:rPr lang="zh-CN" altLang="zh-CN" sz="20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zh-CN" altLang="zh-CN" sz="20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2000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63</m:t>
                        </m:r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16</m:t>
                        </m:r>
                      </m:sub>
                    </m:sSub>
                    <m:r>
                      <a:rPr lang="en-US" altLang="zh-CN" sz="2000" i="1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=[</m:t>
                    </m:r>
                    <m:r>
                      <a:rPr lang="en-US" altLang="zh-CN" sz="2000" u="sng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    </m:t>
                    </m:r>
                    <m:r>
                      <a:rPr lang="en-US" altLang="zh-CN" sz="2000" b="0" i="0" u="sng" kern="10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01100011</m:t>
                    </m:r>
                    <m:r>
                      <a:rPr lang="en-US" altLang="zh-CN" sz="2000" u="sng" kern="10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     </m:t>
                    </m:r>
                    <m:sSub>
                      <m:sSubPr>
                        <m:ctrlPr>
                          <a:rPr lang="zh-CN" altLang="zh-CN" sz="20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0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[</m:t>
                        </m:r>
                        <m:r>
                          <a:rPr lang="en-US" altLang="zh-CN" sz="2000" b="0" i="0" kern="10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143</m:t>
                        </m:r>
                        <m:r>
                          <a:rPr lang="en-US" altLang="zh-CN" sz="2000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]</m:t>
                        </m:r>
                      </m:e>
                      <m:sub>
                        <m:r>
                          <a:rPr lang="en-US" altLang="zh-CN" sz="2000" i="1" kern="10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</a:p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7.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十进制数</a:t>
                </a: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1102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对应二进制数为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100 0100 1110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，八进制数为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2116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8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，十六进制数为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(44E)</a:t>
                </a:r>
                <a:r>
                  <a:rPr lang="en-US" altLang="zh-CN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16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</a:p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8.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二进制数</a:t>
                </a: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-0.1011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反码为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(1.0100)</a:t>
                </a:r>
                <a:r>
                  <a:rPr lang="zh-CN" altLang="en-US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反</a:t>
                </a:r>
                <a:r>
                  <a:rPr lang="en-US" altLang="zh-CN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，补码为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(1.0101)</a:t>
                </a:r>
                <a:r>
                  <a:rPr lang="zh-CN" altLang="en-US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补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</a:p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9.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二进制数</a:t>
                </a: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-10010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原码为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(11 0010)</a:t>
                </a:r>
                <a:r>
                  <a:rPr lang="zh-CN" altLang="en-US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原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，补码为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(10 1110)</a:t>
                </a:r>
                <a:r>
                  <a:rPr lang="zh-CN" altLang="en-US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补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</a:p>
              <a:p>
                <a:pPr marL="266700" indent="266700" algn="just">
                  <a:spcAft>
                    <a:spcPts val="0"/>
                  </a:spcAft>
                </a:pP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10.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二进制数</a:t>
                </a:r>
                <a:r>
                  <a:rPr lang="en-US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-0.001101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反码为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(1.110010) </a:t>
                </a:r>
                <a:r>
                  <a:rPr lang="zh-CN" altLang="en-US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反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，补码为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1.110011</a:t>
                </a:r>
                <a:r>
                  <a:rPr lang="zh-CN" altLang="en-US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zh-CN" altLang="en-US" sz="1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补</a:t>
                </a:r>
                <a:r>
                  <a:rPr lang="en-US" altLang="zh-CN" sz="2000" u="sng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 </a:t>
                </a:r>
                <a:r>
                  <a:rPr lang="zh-CN" altLang="zh-CN" sz="2000" kern="1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</a:p>
              <a:p>
                <a:r>
                  <a:rPr lang="en-US" altLang="zh-CN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     11. 8421</a:t>
                </a:r>
                <a:r>
                  <a:rPr lang="zh-CN" altLang="zh-CN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码和</a:t>
                </a:r>
                <a:r>
                  <a:rPr lang="en-US" altLang="zh-CN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2421</a:t>
                </a:r>
                <a:r>
                  <a:rPr lang="zh-CN" altLang="zh-CN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码</a:t>
                </a:r>
                <a:r>
                  <a:rPr lang="en-US" altLang="zh-CN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11001110</a:t>
                </a:r>
                <a:r>
                  <a:rPr lang="zh-CN" altLang="zh-CN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对应的十进制数分别为</a:t>
                </a:r>
                <a:r>
                  <a:rPr lang="en-US" altLang="zh-CN" sz="2000" u="sng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u="sng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非法</a:t>
                </a:r>
                <a:r>
                  <a:rPr lang="en-US" altLang="zh-CN" sz="2000" u="sng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 </a:t>
                </a:r>
                <a:r>
                  <a:rPr lang="zh-CN" altLang="zh-CN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000" u="sng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</a:t>
                </a:r>
                <a:r>
                  <a:rPr lang="zh-CN" altLang="en-US" sz="2000" u="sng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000" u="sng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68</a:t>
                </a:r>
                <a:r>
                  <a:rPr lang="zh-CN" altLang="en-US" sz="2000" u="sng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）</a:t>
                </a:r>
                <a:r>
                  <a:rPr lang="en-US" altLang="zh-CN" sz="1000" u="sng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2421</a:t>
                </a:r>
                <a:r>
                  <a:rPr lang="en-US" altLang="zh-CN" sz="2000" u="sng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    </a:t>
                </a:r>
                <a:r>
                  <a:rPr lang="zh-CN" altLang="zh-CN" sz="2000" dirty="0">
                    <a:latin typeface="Calibri" panose="020F0502020204030204" pitchFamily="34" charset="0"/>
                    <a:cs typeface="Times New Roman" panose="02020603050405020304" pitchFamily="18" charset="0"/>
                  </a:rPr>
                  <a:t>。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9557" y="1838545"/>
                <a:ext cx="10044288" cy="4093428"/>
              </a:xfrm>
              <a:prstGeom prst="rect">
                <a:avLst/>
              </a:prstGeom>
              <a:blipFill>
                <a:blip r:embed="rId2"/>
                <a:stretch>
                  <a:fillRect t="-1341" r="-607" b="-1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6006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判断并改错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zh-CN" altLang="zh-CN" dirty="0"/>
              <a:t>数字系统处理模拟信号时，一定要将模拟信号转成数字信号。</a:t>
            </a:r>
            <a:r>
              <a:rPr lang="en-US" altLang="zh-CN" dirty="0"/>
              <a:t>   </a:t>
            </a:r>
            <a:r>
              <a:rPr lang="zh-CN" altLang="zh-CN" dirty="0"/>
              <a:t>（</a:t>
            </a:r>
            <a:r>
              <a:rPr lang="zh-CN" altLang="en-US" dirty="0"/>
              <a:t>√</a:t>
            </a:r>
            <a:r>
              <a:rPr lang="en-US" altLang="zh-CN" dirty="0"/>
              <a:t>  </a:t>
            </a:r>
            <a:r>
              <a:rPr lang="zh-CN" altLang="zh-CN" dirty="0"/>
              <a:t>）</a:t>
            </a:r>
          </a:p>
          <a:p>
            <a:pPr marL="514350" lvl="0" indent="-514350">
              <a:buFont typeface="+mj-lt"/>
              <a:buAutoNum type="arabicPeriod"/>
            </a:pPr>
            <a:r>
              <a:rPr lang="zh-CN" altLang="zh-CN" dirty="0"/>
              <a:t>表示任意两位十进制数，</a:t>
            </a:r>
            <a:r>
              <a:rPr lang="zh-CN" altLang="en-US" dirty="0"/>
              <a:t>最少</a:t>
            </a:r>
            <a:r>
              <a:rPr lang="zh-CN" altLang="zh-CN" dirty="0"/>
              <a:t>需要</a:t>
            </a:r>
            <a:r>
              <a:rPr lang="en-US" altLang="zh-CN" dirty="0"/>
              <a:t>8</a:t>
            </a:r>
            <a:r>
              <a:rPr lang="zh-CN" altLang="zh-CN" dirty="0"/>
              <a:t>位二进制数。</a:t>
            </a:r>
            <a:r>
              <a:rPr lang="en-US" altLang="zh-CN" dirty="0"/>
              <a:t>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X  </a:t>
            </a:r>
            <a:r>
              <a:rPr lang="zh-CN" altLang="zh-CN" dirty="0"/>
              <a:t>）</a:t>
            </a:r>
          </a:p>
          <a:p>
            <a:pPr marL="514350" lvl="0" indent="-514350">
              <a:buFont typeface="+mj-lt"/>
              <a:buAutoNum type="arabicPeriod"/>
            </a:pPr>
            <a:r>
              <a:rPr lang="zh-CN" altLang="zh-CN" dirty="0"/>
              <a:t>整数型的原码与反码的“</a:t>
            </a:r>
            <a:r>
              <a:rPr lang="en-US" altLang="zh-CN" dirty="0"/>
              <a:t>0</a:t>
            </a:r>
            <a:r>
              <a:rPr lang="zh-CN" altLang="zh-CN" dirty="0"/>
              <a:t>”都有两种表示形式。</a:t>
            </a:r>
            <a:r>
              <a:rPr lang="en-US" altLang="zh-CN" dirty="0"/>
              <a:t>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 </a:t>
            </a:r>
            <a:r>
              <a:rPr lang="zh-CN" altLang="en-US" dirty="0"/>
              <a:t>√</a:t>
            </a:r>
            <a:r>
              <a:rPr lang="en-US" altLang="zh-CN" dirty="0"/>
              <a:t> </a:t>
            </a:r>
            <a:r>
              <a:rPr lang="zh-CN" altLang="zh-CN" dirty="0"/>
              <a:t>）</a:t>
            </a:r>
          </a:p>
          <a:p>
            <a:pPr marL="514350" lvl="0" indent="-514350">
              <a:buFont typeface="+mj-lt"/>
              <a:buAutoNum type="arabicPeriod"/>
            </a:pPr>
            <a:r>
              <a:rPr lang="en-US" altLang="zh-CN" dirty="0"/>
              <a:t>10</a:t>
            </a:r>
            <a:r>
              <a:rPr lang="zh-CN" altLang="zh-CN" dirty="0"/>
              <a:t>位二进制数能表示最大的十进制数为</a:t>
            </a:r>
            <a:r>
              <a:rPr lang="en-US" altLang="zh-CN" dirty="0"/>
              <a:t>1024</a:t>
            </a:r>
            <a:r>
              <a:rPr lang="zh-CN" altLang="zh-CN" dirty="0"/>
              <a:t>。</a:t>
            </a:r>
            <a:r>
              <a:rPr lang="en-US" altLang="zh-CN" dirty="0"/>
              <a:t>                                 </a:t>
            </a:r>
            <a:r>
              <a:rPr lang="zh-CN" altLang="zh-CN" dirty="0"/>
              <a:t>（</a:t>
            </a:r>
            <a:r>
              <a:rPr lang="zh-CN" altLang="en-US" dirty="0"/>
              <a:t> </a:t>
            </a:r>
            <a:r>
              <a:rPr lang="en-US" altLang="zh-CN" dirty="0"/>
              <a:t>X </a:t>
            </a:r>
            <a:r>
              <a:rPr lang="zh-CN" altLang="zh-CN" dirty="0"/>
              <a:t>）</a:t>
            </a:r>
          </a:p>
          <a:p>
            <a:pPr marL="514350" lvl="0" indent="-514350">
              <a:buFont typeface="+mj-lt"/>
              <a:buAutoNum type="arabicPeriod"/>
            </a:pPr>
            <a:r>
              <a:rPr lang="zh-CN" altLang="zh-CN" dirty="0"/>
              <a:t>二进制数</a:t>
            </a:r>
            <a:r>
              <a:rPr lang="en-US" altLang="zh-CN" dirty="0"/>
              <a:t>-0.0011</a:t>
            </a:r>
            <a:r>
              <a:rPr lang="zh-CN" altLang="zh-CN" dirty="0"/>
              <a:t>的反码为</a:t>
            </a:r>
            <a:r>
              <a:rPr lang="en-US" altLang="zh-CN" dirty="0"/>
              <a:t>0.1100</a:t>
            </a:r>
            <a:r>
              <a:rPr lang="zh-CN" altLang="zh-CN" dirty="0"/>
              <a:t>。</a:t>
            </a:r>
            <a:r>
              <a:rPr lang="en-US" altLang="zh-CN" dirty="0"/>
              <a:t>                              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X  </a:t>
            </a:r>
            <a:r>
              <a:rPr lang="zh-CN" altLang="zh-CN" dirty="0"/>
              <a:t>）</a:t>
            </a:r>
          </a:p>
          <a:p>
            <a:pPr marL="514350" lvl="0" indent="-514350">
              <a:buFont typeface="+mj-lt"/>
              <a:buAutoNum type="arabicPeriod"/>
            </a:pPr>
            <a:r>
              <a:rPr lang="zh-CN" altLang="zh-CN" dirty="0"/>
              <a:t>整数的“</a:t>
            </a:r>
            <a:r>
              <a:rPr lang="en-US" altLang="zh-CN" dirty="0"/>
              <a:t>0</a:t>
            </a:r>
            <a:r>
              <a:rPr lang="zh-CN" altLang="zh-CN" dirty="0"/>
              <a:t>”的补码只有一种表现形式。</a:t>
            </a:r>
            <a:r>
              <a:rPr lang="en-US" altLang="zh-CN" dirty="0"/>
              <a:t>                  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 </a:t>
            </a:r>
            <a:r>
              <a:rPr lang="zh-CN" altLang="en-US" dirty="0"/>
              <a:t>√</a:t>
            </a:r>
            <a:r>
              <a:rPr lang="en-US" altLang="zh-CN" dirty="0"/>
              <a:t> </a:t>
            </a:r>
            <a:r>
              <a:rPr lang="zh-CN" altLang="zh-CN" dirty="0"/>
              <a:t>）</a:t>
            </a:r>
          </a:p>
          <a:p>
            <a:pPr marL="514350" lvl="0" indent="-514350">
              <a:buFont typeface="+mj-lt"/>
              <a:buAutoNum type="arabicPeriod"/>
            </a:pPr>
            <a:r>
              <a:rPr lang="zh-CN" altLang="zh-CN" dirty="0"/>
              <a:t>单一的奇偶校验码不但能发现错误，还能直接纠正错误。</a:t>
            </a:r>
            <a:r>
              <a:rPr lang="en-US" altLang="zh-CN" dirty="0"/>
              <a:t>           </a:t>
            </a:r>
            <a:r>
              <a:rPr lang="zh-CN" altLang="zh-CN" dirty="0"/>
              <a:t>（</a:t>
            </a:r>
            <a:r>
              <a:rPr lang="en-US" altLang="zh-CN" dirty="0"/>
              <a:t>  X</a:t>
            </a:r>
            <a:r>
              <a:rPr lang="zh-CN" altLang="zh-CN" dirty="0"/>
              <a:t>）</a:t>
            </a:r>
          </a:p>
          <a:p>
            <a:pPr marL="514350" lvl="0" indent="-514350">
              <a:buFont typeface="+mj-lt"/>
              <a:buAutoNum type="arabicPeriod"/>
            </a:pPr>
            <a:r>
              <a:rPr lang="zh-CN" altLang="zh-CN" dirty="0"/>
              <a:t>由数字符号</a:t>
            </a:r>
            <a:r>
              <a:rPr lang="en-US" altLang="zh-CN" dirty="0"/>
              <a:t>0</a:t>
            </a:r>
            <a:r>
              <a:rPr lang="zh-CN" altLang="zh-CN" dirty="0"/>
              <a:t>和</a:t>
            </a:r>
            <a:r>
              <a:rPr lang="en-US" altLang="zh-CN" dirty="0"/>
              <a:t>1</a:t>
            </a:r>
            <a:r>
              <a:rPr lang="zh-CN" altLang="zh-CN" dirty="0"/>
              <a:t>组成的数一定是二进制数。</a:t>
            </a:r>
            <a:r>
              <a:rPr lang="en-US" altLang="zh-CN" dirty="0"/>
              <a:t>                                      </a:t>
            </a:r>
            <a:r>
              <a:rPr lang="zh-CN" altLang="zh-CN" dirty="0"/>
              <a:t>（</a:t>
            </a:r>
            <a:r>
              <a:rPr lang="en-US" altLang="zh-CN" dirty="0"/>
              <a:t> X </a:t>
            </a:r>
            <a:r>
              <a:rPr lang="zh-CN" altLang="zh-CN" dirty="0"/>
              <a:t>）</a:t>
            </a:r>
          </a:p>
          <a:p>
            <a:pPr marL="514350" indent="-514350">
              <a:buFont typeface="+mj-lt"/>
              <a:buAutoNum type="arabicPeriod"/>
            </a:pPr>
            <a:r>
              <a:rPr lang="zh-CN" altLang="zh-CN" dirty="0"/>
              <a:t>采用单一的奇偶校验码可以发现代码传送过程中的所有错误。</a:t>
            </a:r>
            <a:r>
              <a:rPr lang="en-US" altLang="zh-CN" dirty="0"/>
              <a:t>   </a:t>
            </a:r>
            <a:r>
              <a:rPr lang="zh-CN" altLang="zh-CN" dirty="0"/>
              <a:t>（</a:t>
            </a:r>
            <a:r>
              <a:rPr lang="en-US" altLang="zh-CN" dirty="0"/>
              <a:t> X </a:t>
            </a:r>
            <a:r>
              <a:rPr lang="zh-CN" altLang="zh-CN" dirty="0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65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如何将</a:t>
            </a:r>
            <a:r>
              <a:rPr lang="en-US" altLang="zh-CN" dirty="0"/>
              <a:t>Gray</a:t>
            </a:r>
            <a:r>
              <a:rPr lang="zh-CN" altLang="zh-CN" dirty="0"/>
              <a:t>码转换成二进制码？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0710" y="2437695"/>
            <a:ext cx="7531437" cy="417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546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思考题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zh-CN" dirty="0"/>
              <a:t>奇偶校验码如何加入纠错能力？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09" y="2420144"/>
            <a:ext cx="9136433" cy="418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49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91FE4D8-8EBF-48E3-97C1-C033FA6D7C08}" type="slidenum">
              <a:rPr kumimoji="0"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kumimoji="0" lang="en-US" altLang="zh-CN" sz="1400"/>
          </a:p>
        </p:txBody>
      </p:sp>
      <p:pic>
        <p:nvPicPr>
          <p:cNvPr id="10243" name="Picture 2" descr="t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0339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 dirty="0">
                <a:latin typeface="宋体" pitchFamily="2" charset="-122"/>
              </a:rPr>
              <a:t>习题课</a:t>
            </a:r>
          </a:p>
        </p:txBody>
      </p:sp>
      <p:pic>
        <p:nvPicPr>
          <p:cNvPr id="10245" name="Picture 4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6" name="Picture 5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0342" name="Rectangle 6"/>
          <p:cNvSpPr>
            <a:spLocks noChangeArrowheads="1"/>
          </p:cNvSpPr>
          <p:nvPr/>
        </p:nvSpPr>
        <p:spPr bwMode="auto">
          <a:xfrm>
            <a:off x="1905000" y="685801"/>
            <a:ext cx="83058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cs typeface="Times New Roman" panose="02020603050405020304" pitchFamily="18" charset="0"/>
              </a:rPr>
              <a:t>1.6   </a:t>
            </a:r>
            <a:r>
              <a:rPr lang="zh-CN" altLang="en-US" sz="2400" dirty="0">
                <a:latin typeface="宋体" panose="02010600030101010101" pitchFamily="2" charset="-122"/>
              </a:rPr>
              <a:t>将下列二进制数转换成十进制数、八进制数和十六进制数。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     （1）1110101  （2）</a:t>
            </a:r>
            <a:r>
              <a:rPr lang="zh-CN" altLang="en-GB" sz="2400" dirty="0">
                <a:cs typeface="Times New Roman" panose="02020603050405020304" pitchFamily="18" charset="0"/>
              </a:rPr>
              <a:t>0</a:t>
            </a:r>
            <a:r>
              <a:rPr lang="zh-CN" altLang="en-GB" sz="2400" dirty="0"/>
              <a:t>.</a:t>
            </a:r>
            <a:r>
              <a:rPr lang="zh-CN" altLang="en-GB" sz="2400" dirty="0">
                <a:latin typeface="宋体" panose="02010600030101010101" pitchFamily="2" charset="-122"/>
              </a:rPr>
              <a:t>1110101     （3）</a:t>
            </a:r>
            <a:r>
              <a:rPr lang="zh-CN" altLang="en-GB" sz="2400" dirty="0">
                <a:cs typeface="Times New Roman" panose="02020603050405020304" pitchFamily="18" charset="0"/>
              </a:rPr>
              <a:t>    </a:t>
            </a:r>
            <a:r>
              <a:rPr lang="zh-CN" altLang="en-GB" sz="2400" dirty="0">
                <a:latin typeface="宋体" panose="02010600030101010101" pitchFamily="2" charset="-122"/>
              </a:rPr>
              <a:t>10111.01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  <p:sp>
        <p:nvSpPr>
          <p:cNvPr id="270343" name="Rectangle 7"/>
          <p:cNvSpPr>
            <a:spLocks noChangeArrowheads="1"/>
          </p:cNvSpPr>
          <p:nvPr/>
        </p:nvSpPr>
        <p:spPr bwMode="auto">
          <a:xfrm>
            <a:off x="1981200" y="1892300"/>
            <a:ext cx="81534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solidFill>
                  <a:srgbClr val="FA2B08"/>
                </a:solidFill>
                <a:latin typeface="宋体" panose="02010600030101010101" pitchFamily="2" charset="-122"/>
              </a:rPr>
              <a:t>解答：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GB" sz="2400" dirty="0">
                <a:latin typeface="宋体" panose="02010600030101010101" pitchFamily="2" charset="-122"/>
              </a:rPr>
              <a:t>（1）</a:t>
            </a:r>
            <a:r>
              <a:rPr lang="zh-CN" altLang="en-GB" sz="2400" dirty="0">
                <a:cs typeface="Times New Roman" panose="02020603050405020304" pitchFamily="18" charset="0"/>
              </a:rPr>
              <a:t> </a:t>
            </a:r>
            <a:r>
              <a:rPr lang="zh-CN" altLang="en-GB" sz="2400" dirty="0">
                <a:latin typeface="宋体" panose="02010600030101010101" pitchFamily="2" charset="-122"/>
              </a:rPr>
              <a:t>(1110101)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2</a:t>
            </a:r>
            <a:r>
              <a:rPr lang="zh-CN" altLang="en-GB" sz="2400" dirty="0">
                <a:latin typeface="宋体" panose="02010600030101010101" pitchFamily="2" charset="-122"/>
              </a:rPr>
              <a:t>＝1×2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6</a:t>
            </a:r>
            <a:r>
              <a:rPr lang="zh-CN" altLang="en-GB" sz="2400" dirty="0">
                <a:latin typeface="宋体" panose="02010600030101010101" pitchFamily="2" charset="-122"/>
              </a:rPr>
              <a:t>＋1×2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5</a:t>
            </a:r>
            <a:r>
              <a:rPr lang="zh-CN" altLang="en-GB" sz="2400" dirty="0">
                <a:latin typeface="宋体" panose="02010600030101010101" pitchFamily="2" charset="-122"/>
              </a:rPr>
              <a:t>＋1×2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4</a:t>
            </a:r>
            <a:r>
              <a:rPr lang="zh-CN" altLang="en-GB" sz="2400" dirty="0">
                <a:latin typeface="宋体" panose="02010600030101010101" pitchFamily="2" charset="-122"/>
              </a:rPr>
              <a:t>＋0×2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3</a:t>
            </a:r>
            <a:r>
              <a:rPr lang="zh-CN" altLang="en-GB" sz="2400" dirty="0">
                <a:latin typeface="宋体" panose="02010600030101010101" pitchFamily="2" charset="-122"/>
              </a:rPr>
              <a:t>＋					1×2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2</a:t>
            </a:r>
            <a:r>
              <a:rPr lang="zh-CN" altLang="en-GB" sz="2400" dirty="0">
                <a:latin typeface="宋体" panose="02010600030101010101" pitchFamily="2" charset="-122"/>
              </a:rPr>
              <a:t>＋0×2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1</a:t>
            </a:r>
            <a:r>
              <a:rPr lang="zh-CN" altLang="en-GB" sz="2400" dirty="0">
                <a:latin typeface="宋体" panose="02010600030101010101" pitchFamily="2" charset="-122"/>
              </a:rPr>
              <a:t>＋1×2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0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          		＝64＋32＋16＋0＋4＋0＋1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          		＝(117)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10</a:t>
            </a:r>
            <a:r>
              <a:rPr lang="zh-CN" altLang="en-GB" sz="2400" dirty="0">
                <a:latin typeface="宋体" panose="02010600030101010101" pitchFamily="2" charset="-122"/>
              </a:rPr>
              <a:t> ＝(165)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8</a:t>
            </a:r>
            <a:r>
              <a:rPr lang="zh-CN" altLang="en-GB" sz="2400" dirty="0">
                <a:latin typeface="宋体" panose="02010600030101010101" pitchFamily="2" charset="-122"/>
              </a:rPr>
              <a:t> ＝(75)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16</a:t>
            </a:r>
            <a:endParaRPr lang="en-US" altLang="zh-CN" sz="2400" baseline="-25000" dirty="0">
              <a:latin typeface="宋体" panose="02010600030101010101" pitchFamily="2" charset="-122"/>
            </a:endParaRPr>
          </a:p>
        </p:txBody>
      </p:sp>
      <p:sp>
        <p:nvSpPr>
          <p:cNvPr id="270344" name="Rectangle 8"/>
          <p:cNvSpPr>
            <a:spLocks noChangeArrowheads="1"/>
          </p:cNvSpPr>
          <p:nvPr/>
        </p:nvSpPr>
        <p:spPr bwMode="auto">
          <a:xfrm>
            <a:off x="2209800" y="3949700"/>
            <a:ext cx="8305800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（2）</a:t>
            </a:r>
            <a:r>
              <a:rPr lang="zh-CN" altLang="en-GB" sz="2400" dirty="0">
                <a:cs typeface="Times New Roman" panose="02020603050405020304" pitchFamily="18" charset="0"/>
              </a:rPr>
              <a:t> </a:t>
            </a:r>
            <a:r>
              <a:rPr lang="zh-CN" altLang="en-GB" sz="2400" dirty="0">
                <a:latin typeface="宋体" panose="02010600030101010101" pitchFamily="2" charset="-122"/>
              </a:rPr>
              <a:t>(0.11</a:t>
            </a:r>
            <a:r>
              <a:rPr lang="en-US" altLang="zh-CN" sz="2400" dirty="0">
                <a:latin typeface="宋体" panose="02010600030101010101" pitchFamily="2" charset="-122"/>
              </a:rPr>
              <a:t>10</a:t>
            </a:r>
            <a:r>
              <a:rPr lang="zh-CN" altLang="en-GB" sz="2400" dirty="0">
                <a:latin typeface="宋体" panose="02010600030101010101" pitchFamily="2" charset="-122"/>
              </a:rPr>
              <a:t>101)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2 </a:t>
            </a:r>
            <a:r>
              <a:rPr lang="zh-CN" altLang="en-GB" sz="2400" dirty="0">
                <a:latin typeface="宋体" panose="02010600030101010101" pitchFamily="2" charset="-122"/>
              </a:rPr>
              <a:t>＝1×2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-1</a:t>
            </a:r>
            <a:r>
              <a:rPr lang="zh-CN" altLang="en-GB" sz="2400" dirty="0">
                <a:latin typeface="宋体" panose="02010600030101010101" pitchFamily="2" charset="-122"/>
              </a:rPr>
              <a:t>＋1×2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-2</a:t>
            </a:r>
            <a:r>
              <a:rPr lang="zh-CN" altLang="en-GB" sz="2400" dirty="0">
                <a:latin typeface="宋体" panose="02010600030101010101" pitchFamily="2" charset="-122"/>
              </a:rPr>
              <a:t>＋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GB" sz="2400" dirty="0">
                <a:latin typeface="宋体" panose="02010600030101010101" pitchFamily="2" charset="-122"/>
              </a:rPr>
              <a:t>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-3</a:t>
            </a:r>
            <a:r>
              <a:rPr lang="zh-CN" altLang="en-GB" sz="2400" dirty="0">
                <a:latin typeface="宋体" panose="02010600030101010101" pitchFamily="2" charset="-122"/>
              </a:rPr>
              <a:t>＋</a:t>
            </a:r>
            <a:r>
              <a:rPr lang="en-US" altLang="zh-CN" sz="2400" dirty="0">
                <a:latin typeface="宋体" panose="02010600030101010101" pitchFamily="2" charset="-122"/>
              </a:rPr>
              <a:t>0</a:t>
            </a:r>
            <a:r>
              <a:rPr lang="zh-CN" altLang="en-GB" sz="2400" dirty="0">
                <a:latin typeface="宋体" panose="02010600030101010101" pitchFamily="2" charset="-122"/>
              </a:rPr>
              <a:t>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-4</a:t>
            </a:r>
            <a:r>
              <a:rPr lang="zh-CN" altLang="en-GB" sz="2400" dirty="0">
                <a:latin typeface="宋体" panose="02010600030101010101" pitchFamily="2" charset="-122"/>
              </a:rPr>
              <a:t>    	 ＋</a:t>
            </a:r>
            <a:r>
              <a:rPr lang="en-US" altLang="zh-CN" sz="2400" dirty="0">
                <a:latin typeface="宋体" panose="02010600030101010101" pitchFamily="2" charset="-122"/>
              </a:rPr>
              <a:t>1</a:t>
            </a:r>
            <a:r>
              <a:rPr lang="zh-CN" altLang="en-GB" sz="2400" dirty="0">
                <a:latin typeface="宋体" panose="02010600030101010101" pitchFamily="2" charset="-122"/>
              </a:rPr>
              <a:t>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-5 </a:t>
            </a:r>
            <a:r>
              <a:rPr lang="zh-CN" altLang="en-GB" sz="2400" dirty="0">
                <a:latin typeface="宋体" panose="02010600030101010101" pitchFamily="2" charset="-122"/>
              </a:rPr>
              <a:t>＋0×2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-</a:t>
            </a:r>
            <a:r>
              <a:rPr lang="en-US" altLang="zh-CN" sz="2400" baseline="30000" dirty="0">
                <a:latin typeface="宋体" panose="02010600030101010101" pitchFamily="2" charset="-122"/>
              </a:rPr>
              <a:t>6</a:t>
            </a:r>
            <a:r>
              <a:rPr lang="zh-CN" altLang="en-GB" sz="2400" dirty="0">
                <a:latin typeface="宋体" panose="02010600030101010101" pitchFamily="2" charset="-122"/>
              </a:rPr>
              <a:t>＋1×2</a:t>
            </a:r>
            <a:r>
              <a:rPr lang="zh-CN" altLang="en-GB" sz="2400" baseline="30000" dirty="0">
                <a:latin typeface="宋体" panose="02010600030101010101" pitchFamily="2" charset="-122"/>
              </a:rPr>
              <a:t>-</a:t>
            </a:r>
            <a:r>
              <a:rPr lang="en-US" altLang="zh-CN" sz="2400" baseline="30000" dirty="0">
                <a:latin typeface="宋体" panose="02010600030101010101" pitchFamily="2" charset="-122"/>
              </a:rPr>
              <a:t>7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          ＝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0.5＋0.25＋0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.125+0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＋0.0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3125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＋0＋0.0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078125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</a:p>
          <a:p>
            <a:pPr algn="ctr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 ＝(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0.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9140625</a:t>
            </a:r>
            <a:r>
              <a:rPr lang="zh-CN" altLang="en-GB" sz="2400" dirty="0">
                <a:latin typeface="宋体" panose="02010600030101010101" pitchFamily="2" charset="-122"/>
              </a:rPr>
              <a:t>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10</a:t>
            </a:r>
            <a:r>
              <a:rPr lang="zh-CN" altLang="en-GB" sz="2400" dirty="0">
                <a:latin typeface="宋体" panose="02010600030101010101" pitchFamily="2" charset="-122"/>
              </a:rPr>
              <a:t> ＝(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0.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724</a:t>
            </a:r>
            <a:r>
              <a:rPr lang="zh-CN" altLang="en-GB" sz="2400" dirty="0">
                <a:latin typeface="宋体" panose="02010600030101010101" pitchFamily="2" charset="-122"/>
              </a:rPr>
              <a:t>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8</a:t>
            </a:r>
            <a:r>
              <a:rPr lang="zh-CN" altLang="en-GB" sz="2400" dirty="0">
                <a:latin typeface="宋体" panose="02010600030101010101" pitchFamily="2" charset="-122"/>
              </a:rPr>
              <a:t> ＝(</a:t>
            </a:r>
            <a:r>
              <a:rPr lang="en-GB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EA</a:t>
            </a:r>
            <a:r>
              <a:rPr lang="zh-CN" altLang="en-GB" sz="2400" dirty="0">
                <a:latin typeface="宋体" panose="02010600030101010101" pitchFamily="2" charset="-122"/>
              </a:rPr>
              <a:t>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16</a:t>
            </a:r>
            <a:endParaRPr lang="en-US" altLang="zh-CN" sz="2400" baseline="-25000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73445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0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0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42" grpId="0" autoUpdateAnimBg="0"/>
      <p:bldP spid="270343" grpId="0" autoUpdateAnimBg="0"/>
      <p:bldP spid="270344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B10675C-A050-49A7-BC6D-FFFD6C025571}" type="slidenum">
              <a:rPr kumimoji="0"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kumimoji="0" lang="en-US" altLang="zh-CN" sz="1400"/>
          </a:p>
        </p:txBody>
      </p:sp>
      <p:pic>
        <p:nvPicPr>
          <p:cNvPr id="11267" name="Picture 2" descr="t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7507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11269" name="Picture 4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70" name="Picture 5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7511" name="Rectangle 7"/>
          <p:cNvSpPr>
            <a:spLocks noChangeArrowheads="1"/>
          </p:cNvSpPr>
          <p:nvPr/>
        </p:nvSpPr>
        <p:spPr bwMode="auto">
          <a:xfrm>
            <a:off x="1981200" y="762000"/>
            <a:ext cx="81534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>
                <a:latin typeface="宋体" panose="02010600030101010101" pitchFamily="2" charset="-122"/>
              </a:rPr>
              <a:t>（3）</a:t>
            </a:r>
            <a:r>
              <a:rPr lang="zh-CN" altLang="en-GB" sz="2400">
                <a:cs typeface="Times New Roman" panose="02020603050405020304" pitchFamily="18" charset="0"/>
              </a:rPr>
              <a:t> </a:t>
            </a:r>
            <a:r>
              <a:rPr lang="zh-CN" altLang="en-GB" sz="2400">
                <a:latin typeface="宋体" panose="02010600030101010101" pitchFamily="2" charset="-122"/>
              </a:rPr>
              <a:t>(</a:t>
            </a:r>
            <a:r>
              <a:rPr lang="zh-CN" altLang="en-GB" sz="2400">
                <a:latin typeface="宋体" panose="02010600030101010101" pitchFamily="2" charset="-122"/>
                <a:cs typeface="Times New Roman" panose="02020603050405020304" pitchFamily="18" charset="0"/>
              </a:rPr>
              <a:t>10111.01</a:t>
            </a:r>
            <a:r>
              <a:rPr lang="zh-CN" altLang="en-GB" sz="2400">
                <a:latin typeface="宋体" panose="02010600030101010101" pitchFamily="2" charset="-122"/>
              </a:rPr>
              <a:t>)</a:t>
            </a:r>
            <a:r>
              <a:rPr lang="zh-CN" altLang="en-GB" sz="2400" baseline="-25000">
                <a:latin typeface="宋体" panose="02010600030101010101" pitchFamily="2" charset="-122"/>
              </a:rPr>
              <a:t>2</a:t>
            </a:r>
            <a:r>
              <a:rPr lang="zh-CN" altLang="en-GB" sz="2400">
                <a:latin typeface="宋体" panose="02010600030101010101" pitchFamily="2" charset="-122"/>
              </a:rPr>
              <a:t>＝1×2</a:t>
            </a:r>
            <a:r>
              <a:rPr lang="zh-CN" altLang="en-GB" sz="2400" baseline="30000">
                <a:latin typeface="宋体" panose="02010600030101010101" pitchFamily="2" charset="-122"/>
              </a:rPr>
              <a:t>4</a:t>
            </a:r>
            <a:r>
              <a:rPr lang="zh-CN" altLang="en-GB" sz="2400">
                <a:latin typeface="宋体" panose="02010600030101010101" pitchFamily="2" charset="-122"/>
              </a:rPr>
              <a:t>＋0×2</a:t>
            </a:r>
            <a:r>
              <a:rPr lang="zh-CN" altLang="en-GB" sz="2400" baseline="30000">
                <a:latin typeface="宋体" panose="02010600030101010101" pitchFamily="2" charset="-122"/>
              </a:rPr>
              <a:t>3</a:t>
            </a:r>
            <a:r>
              <a:rPr lang="zh-CN" altLang="en-GB" sz="2400">
                <a:latin typeface="宋体" panose="02010600030101010101" pitchFamily="2" charset="-122"/>
              </a:rPr>
              <a:t>＋1×2</a:t>
            </a:r>
            <a:r>
              <a:rPr lang="zh-CN" altLang="en-GB" sz="2400" baseline="30000">
                <a:latin typeface="宋体" panose="02010600030101010101" pitchFamily="2" charset="-122"/>
              </a:rPr>
              <a:t>2</a:t>
            </a:r>
            <a:r>
              <a:rPr lang="zh-CN" altLang="en-GB" sz="2400">
                <a:latin typeface="宋体" panose="02010600030101010101" pitchFamily="2" charset="-122"/>
              </a:rPr>
              <a:t>＋1×2</a:t>
            </a:r>
            <a:r>
              <a:rPr lang="zh-CN" altLang="en-GB" sz="2400" baseline="30000">
                <a:latin typeface="宋体" panose="02010600030101010101" pitchFamily="2" charset="-122"/>
              </a:rPr>
              <a:t>1</a:t>
            </a:r>
            <a:r>
              <a:rPr lang="zh-CN" altLang="en-GB" sz="2400">
                <a:latin typeface="宋体" panose="02010600030101010101" pitchFamily="2" charset="-122"/>
              </a:rPr>
              <a:t>＋1×2</a:t>
            </a:r>
            <a:r>
              <a:rPr lang="zh-CN" altLang="en-GB" sz="2400" baseline="30000">
                <a:latin typeface="宋体" panose="02010600030101010101" pitchFamily="2" charset="-122"/>
              </a:rPr>
              <a:t>0 </a:t>
            </a:r>
            <a:r>
              <a:rPr lang="zh-CN" altLang="en-GB" sz="2400">
                <a:latin typeface="宋体" panose="02010600030101010101" pitchFamily="2" charset="-122"/>
              </a:rPr>
              <a:t>＋			0×2</a:t>
            </a:r>
            <a:r>
              <a:rPr lang="zh-CN" altLang="en-GB" sz="2400" baseline="30000">
                <a:latin typeface="宋体" panose="02010600030101010101" pitchFamily="2" charset="-122"/>
              </a:rPr>
              <a:t>-1</a:t>
            </a:r>
            <a:r>
              <a:rPr lang="zh-CN" altLang="en-GB" sz="2400">
                <a:latin typeface="宋体" panose="02010600030101010101" pitchFamily="2" charset="-122"/>
              </a:rPr>
              <a:t>＋1×2</a:t>
            </a:r>
            <a:r>
              <a:rPr lang="zh-CN" altLang="en-GB" sz="2400" baseline="30000">
                <a:latin typeface="宋体" panose="02010600030101010101" pitchFamily="2" charset="-122"/>
              </a:rPr>
              <a:t>-2</a:t>
            </a:r>
            <a:endParaRPr lang="en-US" altLang="zh-CN" sz="240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>
                <a:latin typeface="宋体" panose="02010600030101010101" pitchFamily="2" charset="-122"/>
              </a:rPr>
              <a:t>          	     ＝</a:t>
            </a:r>
            <a:r>
              <a:rPr lang="zh-CN" altLang="en-GB" sz="2400">
                <a:latin typeface="宋体" panose="02010600030101010101" pitchFamily="2" charset="-122"/>
                <a:cs typeface="Times New Roman" panose="02020603050405020304" pitchFamily="18" charset="0"/>
              </a:rPr>
              <a:t>16＋4＋2＋1＋0＋0.25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>
                <a:latin typeface="宋体" panose="02010600030101010101" pitchFamily="2" charset="-122"/>
              </a:rPr>
              <a:t>          	     ＝(</a:t>
            </a:r>
            <a:r>
              <a:rPr lang="zh-CN" altLang="en-GB" sz="2400">
                <a:latin typeface="宋体" panose="02010600030101010101" pitchFamily="2" charset="-122"/>
                <a:cs typeface="Times New Roman" panose="02020603050405020304" pitchFamily="18" charset="0"/>
              </a:rPr>
              <a:t>23.25</a:t>
            </a:r>
            <a:r>
              <a:rPr lang="zh-CN" altLang="en-GB" sz="2400">
                <a:latin typeface="宋体" panose="02010600030101010101" pitchFamily="2" charset="-122"/>
              </a:rPr>
              <a:t>)</a:t>
            </a:r>
            <a:r>
              <a:rPr lang="zh-CN" altLang="en-GB" sz="2400" baseline="-25000">
                <a:latin typeface="宋体" panose="02010600030101010101" pitchFamily="2" charset="-122"/>
              </a:rPr>
              <a:t>10</a:t>
            </a:r>
            <a:r>
              <a:rPr lang="zh-CN" altLang="en-GB" sz="2400">
                <a:latin typeface="宋体" panose="02010600030101010101" pitchFamily="2" charset="-122"/>
              </a:rPr>
              <a:t> ＝(</a:t>
            </a:r>
            <a:r>
              <a:rPr lang="zh-CN" altLang="en-GB" sz="2400">
                <a:latin typeface="宋体" panose="02010600030101010101" pitchFamily="2" charset="-122"/>
                <a:cs typeface="Times New Roman" panose="02020603050405020304" pitchFamily="18" charset="0"/>
              </a:rPr>
              <a:t>27.2</a:t>
            </a:r>
            <a:r>
              <a:rPr lang="zh-CN" altLang="en-GB" sz="2400">
                <a:latin typeface="宋体" panose="02010600030101010101" pitchFamily="2" charset="-122"/>
              </a:rPr>
              <a:t>)</a:t>
            </a:r>
            <a:r>
              <a:rPr lang="zh-CN" altLang="en-GB" sz="2400" baseline="-25000">
                <a:latin typeface="宋体" panose="02010600030101010101" pitchFamily="2" charset="-122"/>
              </a:rPr>
              <a:t>8</a:t>
            </a:r>
            <a:r>
              <a:rPr lang="zh-CN" altLang="en-GB" sz="2400">
                <a:latin typeface="宋体" panose="02010600030101010101" pitchFamily="2" charset="-122"/>
              </a:rPr>
              <a:t> ＝(</a:t>
            </a:r>
            <a:r>
              <a:rPr lang="zh-CN" altLang="en-GB" sz="2400">
                <a:latin typeface="宋体" panose="02010600030101010101" pitchFamily="2" charset="-122"/>
                <a:cs typeface="Times New Roman" panose="02020603050405020304" pitchFamily="18" charset="0"/>
              </a:rPr>
              <a:t>17.4</a:t>
            </a:r>
            <a:r>
              <a:rPr lang="zh-CN" altLang="en-GB" sz="2400">
                <a:latin typeface="宋体" panose="02010600030101010101" pitchFamily="2" charset="-122"/>
              </a:rPr>
              <a:t>)</a:t>
            </a:r>
            <a:r>
              <a:rPr lang="zh-CN" altLang="en-GB" sz="2400" baseline="-25000">
                <a:latin typeface="宋体" panose="02010600030101010101" pitchFamily="2" charset="-122"/>
              </a:rPr>
              <a:t>16</a:t>
            </a:r>
            <a:endParaRPr lang="en-US" altLang="zh-CN" sz="2400" baseline="-25000">
              <a:latin typeface="宋体" panose="02010600030101010101" pitchFamily="2" charset="-122"/>
            </a:endParaRPr>
          </a:p>
        </p:txBody>
      </p:sp>
      <p:sp>
        <p:nvSpPr>
          <p:cNvPr id="277513" name="Rectangle 9"/>
          <p:cNvSpPr>
            <a:spLocks noChangeArrowheads="1"/>
          </p:cNvSpPr>
          <p:nvPr/>
        </p:nvSpPr>
        <p:spPr bwMode="auto">
          <a:xfrm>
            <a:off x="2133600" y="2546351"/>
            <a:ext cx="822960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>
                <a:cs typeface="Times New Roman" panose="02020603050405020304" pitchFamily="18" charset="0"/>
              </a:rPr>
              <a:t>1.7    </a:t>
            </a:r>
            <a:r>
              <a:rPr lang="zh-CN" altLang="en-US" sz="2400">
                <a:latin typeface="宋体" panose="02010600030101010101" pitchFamily="2" charset="-122"/>
              </a:rPr>
              <a:t>将下列十进制数转换成二进制数、八进制数和十六进制数</a:t>
            </a:r>
            <a:r>
              <a:rPr lang="en-US" altLang="zh-CN" sz="2400">
                <a:latin typeface="宋体" panose="02010600030101010101" pitchFamily="2" charset="-122"/>
              </a:rPr>
              <a:t>(</a:t>
            </a:r>
            <a:r>
              <a:rPr lang="zh-CN" altLang="en-US" sz="2400">
                <a:latin typeface="宋体" panose="02010600030101010101" pitchFamily="2" charset="-122"/>
              </a:rPr>
              <a:t>精确到小数点后</a:t>
            </a:r>
            <a:r>
              <a:rPr lang="en-US" altLang="zh-CN" sz="2400">
                <a:latin typeface="宋体" panose="02010600030101010101" pitchFamily="2" charset="-122"/>
              </a:rPr>
              <a:t>4</a:t>
            </a:r>
            <a:r>
              <a:rPr lang="zh-CN" altLang="en-US" sz="2400">
                <a:latin typeface="宋体" panose="02010600030101010101" pitchFamily="2" charset="-122"/>
              </a:rPr>
              <a:t>位</a:t>
            </a:r>
            <a:r>
              <a:rPr lang="en-US" altLang="zh-CN" sz="2400">
                <a:latin typeface="宋体" panose="02010600030101010101" pitchFamily="2" charset="-122"/>
              </a:rPr>
              <a:t>)</a:t>
            </a:r>
            <a:r>
              <a:rPr lang="zh-CN" altLang="en-US" sz="2400">
                <a:latin typeface="宋体" panose="02010600030101010101" pitchFamily="2" charset="-122"/>
              </a:rPr>
              <a:t>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>
                <a:latin typeface="宋体" panose="02010600030101010101" pitchFamily="2" charset="-122"/>
              </a:rPr>
              <a:t>      （1）</a:t>
            </a:r>
            <a:r>
              <a:rPr lang="zh-CN" altLang="en-GB" sz="2400">
                <a:cs typeface="Times New Roman" panose="02020603050405020304" pitchFamily="18" charset="0"/>
              </a:rPr>
              <a:t>    </a:t>
            </a:r>
            <a:r>
              <a:rPr lang="zh-CN" altLang="en-GB" sz="2400">
                <a:latin typeface="宋体" panose="02010600030101010101" pitchFamily="2" charset="-122"/>
              </a:rPr>
              <a:t>29   （2）</a:t>
            </a:r>
            <a:r>
              <a:rPr lang="zh-CN" altLang="en-GB" sz="2400">
                <a:cs typeface="Times New Roman" panose="02020603050405020304" pitchFamily="18" charset="0"/>
              </a:rPr>
              <a:t>    </a:t>
            </a:r>
            <a:r>
              <a:rPr lang="zh-CN" altLang="en-GB" sz="2400">
                <a:latin typeface="宋体" panose="02010600030101010101" pitchFamily="2" charset="-122"/>
              </a:rPr>
              <a:t>0.27   （3）</a:t>
            </a:r>
            <a:r>
              <a:rPr lang="zh-CN" altLang="en-GB" sz="2400">
                <a:cs typeface="Times New Roman" panose="02020603050405020304" pitchFamily="18" charset="0"/>
              </a:rPr>
              <a:t>    </a:t>
            </a:r>
            <a:r>
              <a:rPr lang="zh-CN" altLang="en-GB" sz="2400">
                <a:latin typeface="宋体" panose="02010600030101010101" pitchFamily="2" charset="-122"/>
              </a:rPr>
              <a:t>33.33 </a:t>
            </a:r>
            <a:endParaRPr lang="en-US" altLang="zh-CN" sz="2400">
              <a:latin typeface="宋体" panose="02010600030101010101" pitchFamily="2" charset="-122"/>
            </a:endParaRPr>
          </a:p>
        </p:txBody>
      </p:sp>
      <p:sp>
        <p:nvSpPr>
          <p:cNvPr id="277514" name="Rectangle 10"/>
          <p:cNvSpPr>
            <a:spLocks noChangeArrowheads="1"/>
          </p:cNvSpPr>
          <p:nvPr/>
        </p:nvSpPr>
        <p:spPr bwMode="auto">
          <a:xfrm>
            <a:off x="2057400" y="3733800"/>
            <a:ext cx="81534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solidFill>
                  <a:srgbClr val="FA2B08"/>
                </a:solidFill>
                <a:latin typeface="宋体" panose="02010600030101010101" pitchFamily="2" charset="-122"/>
              </a:rPr>
              <a:t>解答：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GB" sz="2400" dirty="0">
                <a:latin typeface="宋体" panose="02010600030101010101" pitchFamily="2" charset="-122"/>
              </a:rPr>
              <a:t>（1）</a:t>
            </a:r>
            <a:r>
              <a:rPr lang="zh-CN" altLang="en-GB" sz="2400" dirty="0">
                <a:cs typeface="Times New Roman" panose="02020603050405020304" pitchFamily="18" charset="0"/>
              </a:rPr>
              <a:t> 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29 = (11101)</a:t>
            </a:r>
            <a:r>
              <a:rPr lang="zh-CN" altLang="en-GB" sz="24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＝(65)</a:t>
            </a:r>
            <a:r>
              <a:rPr lang="zh-CN" altLang="en-GB" sz="24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＝(1</a:t>
            </a:r>
            <a:r>
              <a:rPr lang="en-GB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D)</a:t>
            </a:r>
            <a:r>
              <a:rPr lang="zh-CN" altLang="en-GB" sz="24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en-US" altLang="zh-CN" sz="2400" dirty="0">
                <a:latin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    （2）</a:t>
            </a:r>
            <a:r>
              <a:rPr lang="zh-CN" altLang="en-GB" sz="2400" dirty="0">
                <a:cs typeface="Times New Roman" panose="02020603050405020304" pitchFamily="18" charset="0"/>
              </a:rPr>
              <a:t> 0.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27 = (0.0100)</a:t>
            </a:r>
            <a:r>
              <a:rPr lang="zh-CN" altLang="en-GB" sz="24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＝(0.21)</a:t>
            </a:r>
            <a:r>
              <a:rPr lang="zh-CN" altLang="en-GB" sz="24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＝(0.4</a:t>
            </a:r>
            <a:r>
              <a:rPr lang="en-US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GB" altLang="zh-CN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GB" sz="24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16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baseline="-25000" dirty="0">
                <a:latin typeface="宋体" panose="02010600030101010101" pitchFamily="2" charset="-122"/>
              </a:rPr>
              <a:t>    </a:t>
            </a:r>
            <a:r>
              <a:rPr lang="zh-CN" altLang="en-GB" sz="2400" dirty="0">
                <a:latin typeface="宋体" panose="02010600030101010101" pitchFamily="2" charset="-122"/>
              </a:rPr>
              <a:t>（3）33.33 = (100001.0101)</a:t>
            </a:r>
            <a:r>
              <a:rPr lang="zh-CN" altLang="en-GB" sz="24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     		   = (41.24)</a:t>
            </a:r>
            <a:r>
              <a:rPr lang="zh-CN" altLang="en-GB" sz="24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8</a:t>
            </a:r>
            <a:endParaRPr lang="en-US" altLang="zh-CN" sz="2400" dirty="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              = (21.5)</a:t>
            </a:r>
            <a:r>
              <a:rPr lang="zh-CN" altLang="en-GB" sz="2400" baseline="-25000" dirty="0">
                <a:latin typeface="宋体" panose="02010600030101010101" pitchFamily="2" charset="-122"/>
                <a:cs typeface="Times New Roman" panose="02020603050405020304" pitchFamily="18" charset="0"/>
              </a:rPr>
              <a:t>16</a:t>
            </a:r>
            <a:r>
              <a:rPr lang="zh-CN" altLang="en-GB" sz="2400" dirty="0">
                <a:latin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GB" sz="2400" baseline="-25000" dirty="0">
              <a:latin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570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7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7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77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511" grpId="0" autoUpdateAnimBg="0"/>
      <p:bldP spid="277513" grpId="0" autoUpdateAnimBg="0"/>
      <p:bldP spid="277514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90AF32D-E9EB-4C04-A08F-51C8D0524EBF}" type="slidenum">
              <a:rPr kumimoji="0"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kumimoji="0" lang="en-US" altLang="zh-CN" sz="1400"/>
          </a:p>
        </p:txBody>
      </p:sp>
      <p:pic>
        <p:nvPicPr>
          <p:cNvPr id="13315" name="Picture 2" descr="t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411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13317" name="Picture 4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5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3414" name="Rectangle 6"/>
          <p:cNvSpPr>
            <a:spLocks noChangeArrowheads="1"/>
          </p:cNvSpPr>
          <p:nvPr/>
        </p:nvSpPr>
        <p:spPr bwMode="auto">
          <a:xfrm>
            <a:off x="1981200" y="1143001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>
                <a:cs typeface="Times New Roman" panose="02020603050405020304" pitchFamily="18" charset="0"/>
              </a:rPr>
              <a:t>1.9    </a:t>
            </a:r>
            <a:r>
              <a:rPr lang="zh-CN" altLang="en-US" sz="2400">
                <a:latin typeface="宋体" panose="02010600030101010101" pitchFamily="2" charset="-122"/>
              </a:rPr>
              <a:t>写出各数的原码、反码和补码。</a:t>
            </a: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>
                <a:latin typeface="宋体" panose="02010600030101010101" pitchFamily="2" charset="-122"/>
              </a:rPr>
              <a:t>  （1）0.1011   </a:t>
            </a:r>
            <a:r>
              <a:rPr lang="zh-CN" altLang="en-GB" sz="2400">
                <a:latin typeface="宋体" panose="02010600030101010101" pitchFamily="2" charset="-122"/>
                <a:cs typeface="Times New Roman" panose="02020603050405020304" pitchFamily="18" charset="0"/>
              </a:rPr>
              <a:t>（2）－10110</a:t>
            </a:r>
            <a:r>
              <a:rPr lang="en-US" altLang="zh-CN" sz="2400">
                <a:latin typeface="宋体" panose="02010600030101010101" pitchFamily="2" charset="-122"/>
              </a:rPr>
              <a:t> </a:t>
            </a:r>
          </a:p>
        </p:txBody>
      </p:sp>
      <p:grpSp>
        <p:nvGrpSpPr>
          <p:cNvPr id="273456" name="Group 48"/>
          <p:cNvGrpSpPr>
            <a:grpSpLocks/>
          </p:cNvGrpSpPr>
          <p:nvPr/>
        </p:nvGrpSpPr>
        <p:grpSpPr bwMode="auto">
          <a:xfrm>
            <a:off x="2590800" y="2438401"/>
            <a:ext cx="5410200" cy="3432175"/>
            <a:chOff x="672" y="1536"/>
            <a:chExt cx="3408" cy="2162"/>
          </a:xfrm>
        </p:grpSpPr>
        <p:sp>
          <p:nvSpPr>
            <p:cNvPr id="13321" name="Rectangle 7"/>
            <p:cNvSpPr>
              <a:spLocks noChangeArrowheads="1"/>
            </p:cNvSpPr>
            <p:nvPr/>
          </p:nvSpPr>
          <p:spPr bwMode="auto">
            <a:xfrm>
              <a:off x="672" y="1536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fol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l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SzPct val="90000"/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accent1"/>
                </a:buClr>
                <a:buSzPct val="60000"/>
                <a:buFont typeface="Wingdings" panose="05000000000000000000" pitchFamily="2" charset="2"/>
                <a:buChar char="l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GB" sz="2400">
                  <a:solidFill>
                    <a:srgbClr val="FA2B08"/>
                  </a:solidFill>
                  <a:latin typeface="宋体" panose="02010600030101010101" pitchFamily="2" charset="-122"/>
                </a:rPr>
                <a:t>解答：</a:t>
              </a:r>
            </a:p>
          </p:txBody>
        </p:sp>
        <p:grpSp>
          <p:nvGrpSpPr>
            <p:cNvPr id="13322" name="Group 47"/>
            <p:cNvGrpSpPr>
              <a:grpSpLocks/>
            </p:cNvGrpSpPr>
            <p:nvPr/>
          </p:nvGrpSpPr>
          <p:grpSpPr bwMode="auto">
            <a:xfrm>
              <a:off x="1056" y="1971"/>
              <a:ext cx="3024" cy="1727"/>
              <a:chOff x="1296" y="1587"/>
              <a:chExt cx="2083" cy="1727"/>
            </a:xfrm>
          </p:grpSpPr>
          <p:grpSp>
            <p:nvGrpSpPr>
              <p:cNvPr id="13323" name="Group 44"/>
              <p:cNvGrpSpPr>
                <a:grpSpLocks/>
              </p:cNvGrpSpPr>
              <p:nvPr/>
            </p:nvGrpSpPr>
            <p:grpSpPr bwMode="auto">
              <a:xfrm>
                <a:off x="1300" y="1587"/>
                <a:ext cx="2075" cy="1727"/>
                <a:chOff x="0" y="0"/>
                <a:chExt cx="1453" cy="1727"/>
              </a:xfrm>
            </p:grpSpPr>
            <p:grpSp>
              <p:nvGrpSpPr>
                <p:cNvPr id="13325" name="Group 21"/>
                <p:cNvGrpSpPr>
                  <a:grpSpLocks/>
                </p:cNvGrpSpPr>
                <p:nvPr/>
              </p:nvGrpSpPr>
              <p:grpSpPr bwMode="auto">
                <a:xfrm>
                  <a:off x="0" y="0"/>
                  <a:ext cx="417" cy="518"/>
                  <a:chOff x="0" y="0"/>
                  <a:chExt cx="417" cy="518"/>
                </a:xfrm>
              </p:grpSpPr>
              <p:sp>
                <p:nvSpPr>
                  <p:cNvPr id="13359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0"/>
                    <a:ext cx="331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US" altLang="zh-CN" sz="1000"/>
                      <a:t> </a:t>
                    </a: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zh-CN" sz="2400"/>
                  </a:p>
                </p:txBody>
              </p:sp>
              <p:sp>
                <p:nvSpPr>
                  <p:cNvPr id="13360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14"/>
                    <a:ext cx="417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26" name="Group 23"/>
                <p:cNvGrpSpPr>
                  <a:grpSpLocks/>
                </p:cNvGrpSpPr>
                <p:nvPr/>
              </p:nvGrpSpPr>
              <p:grpSpPr bwMode="auto">
                <a:xfrm>
                  <a:off x="417" y="0"/>
                  <a:ext cx="518" cy="518"/>
                  <a:chOff x="417" y="0"/>
                  <a:chExt cx="518" cy="518"/>
                </a:xfrm>
              </p:grpSpPr>
              <p:sp>
                <p:nvSpPr>
                  <p:cNvPr id="13357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460" y="0"/>
                    <a:ext cx="432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GB" altLang="zh-CN" sz="2400">
                        <a:latin typeface="宋体" panose="02010600030101010101" pitchFamily="2" charset="-122"/>
                      </a:rPr>
                      <a:t>0.1011</a:t>
                    </a: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GB" altLang="zh-CN" sz="2400"/>
                  </a:p>
                </p:txBody>
              </p:sp>
              <p:sp>
                <p:nvSpPr>
                  <p:cNvPr id="13358" name="Rectangle 22"/>
                  <p:cNvSpPr>
                    <a:spLocks noChangeArrowheads="1"/>
                  </p:cNvSpPr>
                  <p:nvPr/>
                </p:nvSpPr>
                <p:spPr bwMode="auto">
                  <a:xfrm>
                    <a:off x="417" y="114"/>
                    <a:ext cx="518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27" name="Group 25"/>
                <p:cNvGrpSpPr>
                  <a:grpSpLocks/>
                </p:cNvGrpSpPr>
                <p:nvPr/>
              </p:nvGrpSpPr>
              <p:grpSpPr bwMode="auto">
                <a:xfrm>
                  <a:off x="935" y="0"/>
                  <a:ext cx="518" cy="518"/>
                  <a:chOff x="935" y="0"/>
                  <a:chExt cx="518" cy="518"/>
                </a:xfrm>
              </p:grpSpPr>
              <p:sp>
                <p:nvSpPr>
                  <p:cNvPr id="13355" name="Rectangle 10"/>
                  <p:cNvSpPr>
                    <a:spLocks noChangeArrowheads="1"/>
                  </p:cNvSpPr>
                  <p:nvPr/>
                </p:nvSpPr>
                <p:spPr bwMode="auto">
                  <a:xfrm>
                    <a:off x="978" y="0"/>
                    <a:ext cx="432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en-GB" altLang="zh-CN" sz="2400">
                        <a:latin typeface="宋体" panose="02010600030101010101" pitchFamily="2" charset="-122"/>
                      </a:rPr>
                      <a:t>－10110</a:t>
                    </a: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GB" altLang="zh-CN" sz="2400"/>
                  </a:p>
                </p:txBody>
              </p:sp>
              <p:sp>
                <p:nvSpPr>
                  <p:cNvPr id="13356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114"/>
                    <a:ext cx="518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28" name="Group 27"/>
                <p:cNvGrpSpPr>
                  <a:grpSpLocks/>
                </p:cNvGrpSpPr>
                <p:nvPr/>
              </p:nvGrpSpPr>
              <p:grpSpPr bwMode="auto">
                <a:xfrm>
                  <a:off x="0" y="518"/>
                  <a:ext cx="417" cy="403"/>
                  <a:chOff x="0" y="518"/>
                  <a:chExt cx="417" cy="403"/>
                </a:xfrm>
              </p:grpSpPr>
              <p:sp>
                <p:nvSpPr>
                  <p:cNvPr id="13353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518"/>
                    <a:ext cx="331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GB" sz="2400" dirty="0">
                        <a:latin typeface="宋体" panose="02010600030101010101" pitchFamily="2" charset="-122"/>
                      </a:rPr>
                      <a:t>原码</a:t>
                    </a: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GB" sz="2400" dirty="0"/>
                  </a:p>
                </p:txBody>
              </p:sp>
              <p:sp>
                <p:nvSpPr>
                  <p:cNvPr id="13354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574"/>
                    <a:ext cx="417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29" name="Group 29"/>
                <p:cNvGrpSpPr>
                  <a:grpSpLocks/>
                </p:cNvGrpSpPr>
                <p:nvPr/>
              </p:nvGrpSpPr>
              <p:grpSpPr bwMode="auto">
                <a:xfrm>
                  <a:off x="371" y="518"/>
                  <a:ext cx="564" cy="403"/>
                  <a:chOff x="371" y="518"/>
                  <a:chExt cx="564" cy="403"/>
                </a:xfrm>
              </p:grpSpPr>
              <p:sp>
                <p:nvSpPr>
                  <p:cNvPr id="13351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371" y="518"/>
                    <a:ext cx="521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US" altLang="zh-CN" sz="2400" dirty="0">
                        <a:latin typeface="宋体" panose="02010600030101010101" pitchFamily="2" charset="-122"/>
                      </a:rPr>
                      <a:t>(</a:t>
                    </a:r>
                    <a:r>
                      <a:rPr lang="en-GB" altLang="zh-CN" sz="2400" dirty="0">
                        <a:latin typeface="宋体" panose="02010600030101010101" pitchFamily="2" charset="-122"/>
                      </a:rPr>
                      <a:t>0.1011</a:t>
                    </a:r>
                    <a:r>
                      <a:rPr lang="en-US" altLang="zh-CN" sz="2400" b="1" dirty="0">
                        <a:latin typeface="宋体" panose="02010600030101010101" pitchFamily="2" charset="-122"/>
                      </a:rPr>
                      <a:t>)</a:t>
                    </a:r>
                    <a:r>
                      <a:rPr lang="zh-CN" altLang="en-GB" sz="1000" dirty="0">
                        <a:latin typeface="宋体" panose="02010600030101010101" pitchFamily="2" charset="-122"/>
                      </a:rPr>
                      <a:t>原</a:t>
                    </a:r>
                    <a:endParaRPr lang="en-GB" altLang="zh-CN" sz="1000" dirty="0">
                      <a:latin typeface="宋体" panose="02010600030101010101" pitchFamily="2" charset="-122"/>
                    </a:endParaRP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GB" altLang="zh-CN" sz="2400" dirty="0"/>
                  </a:p>
                </p:txBody>
              </p:sp>
              <p:sp>
                <p:nvSpPr>
                  <p:cNvPr id="13352" name="Rectangle 28"/>
                  <p:cNvSpPr>
                    <a:spLocks noChangeArrowheads="1"/>
                  </p:cNvSpPr>
                  <p:nvPr/>
                </p:nvSpPr>
                <p:spPr bwMode="auto">
                  <a:xfrm>
                    <a:off x="417" y="574"/>
                    <a:ext cx="518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30" name="Group 31"/>
                <p:cNvGrpSpPr>
                  <a:grpSpLocks/>
                </p:cNvGrpSpPr>
                <p:nvPr/>
              </p:nvGrpSpPr>
              <p:grpSpPr bwMode="auto">
                <a:xfrm>
                  <a:off x="935" y="518"/>
                  <a:ext cx="518" cy="403"/>
                  <a:chOff x="935" y="518"/>
                  <a:chExt cx="518" cy="403"/>
                </a:xfrm>
              </p:grpSpPr>
              <p:sp>
                <p:nvSpPr>
                  <p:cNvPr id="13349" name="Rectangle 13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518"/>
                    <a:ext cx="47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GB" altLang="zh-CN" sz="2400" dirty="0">
                        <a:latin typeface="宋体" panose="02010600030101010101" pitchFamily="2" charset="-122"/>
                      </a:rPr>
                      <a:t>(110110)</a:t>
                    </a:r>
                    <a:r>
                      <a:rPr lang="zh-CN" altLang="en-GB" sz="1000" dirty="0">
                        <a:latin typeface="宋体" panose="02010600030101010101" pitchFamily="2" charset="-122"/>
                      </a:rPr>
                      <a:t>原</a:t>
                    </a:r>
                    <a:endParaRPr lang="en-GB" altLang="zh-CN" sz="1000" dirty="0">
                      <a:latin typeface="宋体" panose="02010600030101010101" pitchFamily="2" charset="-122"/>
                    </a:endParaRP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GB" altLang="zh-CN" sz="2400" dirty="0"/>
                  </a:p>
                </p:txBody>
              </p:sp>
              <p:sp>
                <p:nvSpPr>
                  <p:cNvPr id="13350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574"/>
                    <a:ext cx="518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31" name="Group 33"/>
                <p:cNvGrpSpPr>
                  <a:grpSpLocks/>
                </p:cNvGrpSpPr>
                <p:nvPr/>
              </p:nvGrpSpPr>
              <p:grpSpPr bwMode="auto">
                <a:xfrm>
                  <a:off x="0" y="921"/>
                  <a:ext cx="417" cy="403"/>
                  <a:chOff x="0" y="921"/>
                  <a:chExt cx="417" cy="403"/>
                </a:xfrm>
              </p:grpSpPr>
              <p:sp>
                <p:nvSpPr>
                  <p:cNvPr id="13347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921"/>
                    <a:ext cx="331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GB" sz="2400" dirty="0">
                        <a:latin typeface="宋体" panose="02010600030101010101" pitchFamily="2" charset="-122"/>
                      </a:rPr>
                      <a:t>反码</a:t>
                    </a: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GB" sz="2400" dirty="0"/>
                  </a:p>
                </p:txBody>
              </p:sp>
              <p:sp>
                <p:nvSpPr>
                  <p:cNvPr id="13348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0" y="977"/>
                    <a:ext cx="417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32" name="Group 35"/>
                <p:cNvGrpSpPr>
                  <a:grpSpLocks/>
                </p:cNvGrpSpPr>
                <p:nvPr/>
              </p:nvGrpSpPr>
              <p:grpSpPr bwMode="auto">
                <a:xfrm>
                  <a:off x="417" y="921"/>
                  <a:ext cx="518" cy="403"/>
                  <a:chOff x="417" y="921"/>
                  <a:chExt cx="518" cy="403"/>
                </a:xfrm>
              </p:grpSpPr>
              <p:sp>
                <p:nvSpPr>
                  <p:cNvPr id="13345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420" y="921"/>
                    <a:ext cx="47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GB" altLang="zh-CN" sz="2400" dirty="0">
                        <a:latin typeface="宋体" panose="02010600030101010101" pitchFamily="2" charset="-122"/>
                      </a:rPr>
                      <a:t>(0.1011)</a:t>
                    </a:r>
                    <a:r>
                      <a:rPr lang="zh-CN" altLang="en-GB" sz="1000" dirty="0">
                        <a:latin typeface="宋体" panose="02010600030101010101" pitchFamily="2" charset="-122"/>
                      </a:rPr>
                      <a:t>反</a:t>
                    </a:r>
                    <a:endParaRPr lang="en-GB" altLang="zh-CN" sz="1000" dirty="0">
                      <a:latin typeface="宋体" panose="02010600030101010101" pitchFamily="2" charset="-122"/>
                    </a:endParaRP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GB" altLang="zh-CN" sz="2400" dirty="0"/>
                  </a:p>
                </p:txBody>
              </p:sp>
              <p:sp>
                <p:nvSpPr>
                  <p:cNvPr id="13346" name="Rectangle 34"/>
                  <p:cNvSpPr>
                    <a:spLocks noChangeArrowheads="1"/>
                  </p:cNvSpPr>
                  <p:nvPr/>
                </p:nvSpPr>
                <p:spPr bwMode="auto">
                  <a:xfrm>
                    <a:off x="417" y="977"/>
                    <a:ext cx="518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33" name="Group 37"/>
                <p:cNvGrpSpPr>
                  <a:grpSpLocks/>
                </p:cNvGrpSpPr>
                <p:nvPr/>
              </p:nvGrpSpPr>
              <p:grpSpPr bwMode="auto">
                <a:xfrm>
                  <a:off x="935" y="921"/>
                  <a:ext cx="518" cy="403"/>
                  <a:chOff x="935" y="921"/>
                  <a:chExt cx="518" cy="403"/>
                </a:xfrm>
              </p:grpSpPr>
              <p:sp>
                <p:nvSpPr>
                  <p:cNvPr id="13343" name="Rectangle 16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921"/>
                    <a:ext cx="47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GB" altLang="zh-CN" sz="2400" dirty="0">
                        <a:latin typeface="宋体" panose="02010600030101010101" pitchFamily="2" charset="-122"/>
                      </a:rPr>
                      <a:t>(101001)</a:t>
                    </a:r>
                    <a:r>
                      <a:rPr lang="zh-CN" altLang="en-GB" sz="1000" dirty="0">
                        <a:latin typeface="宋体" panose="02010600030101010101" pitchFamily="2" charset="-122"/>
                      </a:rPr>
                      <a:t>反</a:t>
                    </a:r>
                    <a:endParaRPr lang="en-GB" altLang="zh-CN" sz="1000" dirty="0">
                      <a:latin typeface="宋体" panose="02010600030101010101" pitchFamily="2" charset="-122"/>
                    </a:endParaRP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GB" altLang="zh-CN" sz="2400" dirty="0"/>
                  </a:p>
                </p:txBody>
              </p:sp>
              <p:sp>
                <p:nvSpPr>
                  <p:cNvPr id="13344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977"/>
                    <a:ext cx="518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34" name="Group 39"/>
                <p:cNvGrpSpPr>
                  <a:grpSpLocks/>
                </p:cNvGrpSpPr>
                <p:nvPr/>
              </p:nvGrpSpPr>
              <p:grpSpPr bwMode="auto">
                <a:xfrm>
                  <a:off x="0" y="1324"/>
                  <a:ext cx="417" cy="403"/>
                  <a:chOff x="0" y="1324"/>
                  <a:chExt cx="417" cy="403"/>
                </a:xfrm>
              </p:grpSpPr>
              <p:sp>
                <p:nvSpPr>
                  <p:cNvPr id="13341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43" y="1324"/>
                    <a:ext cx="331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r>
                      <a:rPr lang="zh-CN" altLang="en-GB" sz="2400" dirty="0">
                        <a:latin typeface="宋体" panose="02010600030101010101" pitchFamily="2" charset="-122"/>
                      </a:rPr>
                      <a:t>补码</a:t>
                    </a: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GB" sz="2400" dirty="0"/>
                  </a:p>
                </p:txBody>
              </p:sp>
              <p:sp>
                <p:nvSpPr>
                  <p:cNvPr id="13342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380"/>
                    <a:ext cx="417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35" name="Group 41"/>
                <p:cNvGrpSpPr>
                  <a:grpSpLocks/>
                </p:cNvGrpSpPr>
                <p:nvPr/>
              </p:nvGrpSpPr>
              <p:grpSpPr bwMode="auto">
                <a:xfrm>
                  <a:off x="417" y="1324"/>
                  <a:ext cx="518" cy="403"/>
                  <a:chOff x="417" y="1324"/>
                  <a:chExt cx="518" cy="403"/>
                </a:xfrm>
              </p:grpSpPr>
              <p:sp>
                <p:nvSpPr>
                  <p:cNvPr id="13339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420" y="1324"/>
                    <a:ext cx="472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GB" altLang="zh-CN" sz="2400" dirty="0">
                        <a:latin typeface="宋体" panose="02010600030101010101" pitchFamily="2" charset="-122"/>
                      </a:rPr>
                      <a:t>(0.1011)</a:t>
                    </a:r>
                    <a:r>
                      <a:rPr lang="zh-CN" altLang="en-GB" sz="1000" dirty="0">
                        <a:latin typeface="宋体" panose="02010600030101010101" pitchFamily="2" charset="-122"/>
                      </a:rPr>
                      <a:t>补</a:t>
                    </a:r>
                    <a:endParaRPr lang="en-GB" altLang="zh-CN" sz="1000" dirty="0">
                      <a:latin typeface="宋体" panose="02010600030101010101" pitchFamily="2" charset="-122"/>
                    </a:endParaRP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GB" altLang="zh-CN" sz="2400" dirty="0"/>
                  </a:p>
                </p:txBody>
              </p:sp>
              <p:sp>
                <p:nvSpPr>
                  <p:cNvPr id="13340" name="Rectangle 40"/>
                  <p:cNvSpPr>
                    <a:spLocks noChangeArrowheads="1"/>
                  </p:cNvSpPr>
                  <p:nvPr/>
                </p:nvSpPr>
                <p:spPr bwMode="auto">
                  <a:xfrm>
                    <a:off x="417" y="1380"/>
                    <a:ext cx="518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  <p:grpSp>
              <p:nvGrpSpPr>
                <p:cNvPr id="13336" name="Group 43"/>
                <p:cNvGrpSpPr>
                  <a:grpSpLocks/>
                </p:cNvGrpSpPr>
                <p:nvPr/>
              </p:nvGrpSpPr>
              <p:grpSpPr bwMode="auto">
                <a:xfrm>
                  <a:off x="935" y="1324"/>
                  <a:ext cx="518" cy="403"/>
                  <a:chOff x="935" y="1324"/>
                  <a:chExt cx="518" cy="403"/>
                </a:xfrm>
              </p:grpSpPr>
              <p:sp>
                <p:nvSpPr>
                  <p:cNvPr id="13337" name="Rectangle 19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1324"/>
                    <a:ext cx="475" cy="40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folHlink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just">
                      <a:spcBef>
                        <a:spcPct val="0"/>
                      </a:spcBef>
                      <a:buClrTx/>
                      <a:buSzTx/>
                      <a:buNone/>
                    </a:pPr>
                    <a:r>
                      <a:rPr lang="en-GB" altLang="zh-CN" sz="2400" dirty="0">
                        <a:latin typeface="宋体" panose="02010600030101010101" pitchFamily="2" charset="-122"/>
                      </a:rPr>
                      <a:t>(101010)</a:t>
                    </a:r>
                    <a:r>
                      <a:rPr lang="zh-CN" altLang="en-GB" sz="1000" dirty="0">
                        <a:latin typeface="宋体" panose="02010600030101010101" pitchFamily="2" charset="-122"/>
                      </a:rPr>
                      <a:t>补</a:t>
                    </a:r>
                    <a:endParaRPr lang="en-GB" altLang="zh-CN" sz="1000" dirty="0">
                      <a:latin typeface="宋体" panose="02010600030101010101" pitchFamily="2" charset="-122"/>
                    </a:endParaRPr>
                  </a:p>
                  <a:p>
                    <a:pPr algn="just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GB" altLang="zh-CN" sz="2400" dirty="0"/>
                  </a:p>
                </p:txBody>
              </p:sp>
              <p:sp>
                <p:nvSpPr>
                  <p:cNvPr id="13338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935" y="1380"/>
                    <a:ext cx="518" cy="291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spcBef>
                        <a:spcPct val="20000"/>
                      </a:spcBef>
                      <a:buClr>
                        <a:schemeClr val="accent2"/>
                      </a:buClr>
                      <a:buSzPct val="80000"/>
                      <a:buFont typeface="Wingdings" panose="05000000000000000000" pitchFamily="2" charset="2"/>
                      <a:buChar char="l"/>
                      <a:defRPr kumimoji="1" sz="3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spcBef>
                        <a:spcPct val="20000"/>
                      </a:spcBef>
                      <a:buClr>
                        <a:schemeClr val="tx1"/>
                      </a:buClr>
                      <a:buSzPct val="90000"/>
                      <a:buChar char="–"/>
                      <a:defRPr kumimoji="1" sz="2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SzPct val="60000"/>
                      <a:buFont typeface="Wingdings" panose="05000000000000000000" pitchFamily="2" charset="2"/>
                      <a:buChar char="l"/>
                      <a:defRPr kumimoji="1" sz="24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chemeClr val="tx1"/>
                      </a:buClr>
                      <a:buChar char="–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1"/>
                      </a:buClr>
                      <a:buChar char="•"/>
                      <a:defRPr kumimoji="1" sz="2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zh-CN" altLang="en-US" sz="2400">
                      <a:latin typeface="宋体" panose="02010600030101010101" pitchFamily="2" charset="-122"/>
                    </a:endParaRPr>
                  </a:p>
                </p:txBody>
              </p:sp>
            </p:grpSp>
          </p:grpSp>
          <p:sp>
            <p:nvSpPr>
              <p:cNvPr id="13324" name="Rectangle 45"/>
              <p:cNvSpPr>
                <a:spLocks noChangeArrowheads="1"/>
              </p:cNvSpPr>
              <p:nvPr/>
            </p:nvSpPr>
            <p:spPr bwMode="auto">
              <a:xfrm>
                <a:off x="1296" y="2305"/>
                <a:ext cx="2083" cy="291"/>
              </a:xfrm>
              <a:prstGeom prst="rect">
                <a:avLst/>
              </a:prstGeom>
              <a:noFill/>
              <a:ln w="9525">
                <a:solidFill>
                  <a:srgbClr val="A0A0A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accent2"/>
                  </a:buClr>
                  <a:buSzPct val="80000"/>
                  <a:buFont typeface="Wingdings" panose="05000000000000000000" pitchFamily="2" charset="2"/>
                  <a:buChar char="l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tx1"/>
                  </a:buClr>
                  <a:buSzPct val="90000"/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accent1"/>
                  </a:buClr>
                  <a:buSzPct val="60000"/>
                  <a:buFont typeface="Wingdings" panose="05000000000000000000" pitchFamily="2" charset="2"/>
                  <a:buChar char="l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宋体" panose="02010600030101010101" pitchFamily="2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98697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3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3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1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282F97-9728-49FE-9B42-15AE5DEC3E57}" type="slidenum">
              <a:rPr kumimoji="0" lang="en-US" altLang="zh-CN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kumimoji="0" lang="en-US" altLang="zh-CN" sz="1400"/>
          </a:p>
        </p:txBody>
      </p:sp>
      <p:pic>
        <p:nvPicPr>
          <p:cNvPr id="15363" name="Picture 2" descr="top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381000"/>
            <a:ext cx="853440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483" name="Rectangle 3"/>
          <p:cNvSpPr>
            <a:spLocks noGrp="1" noChangeArrowheads="1"/>
          </p:cNvSpPr>
          <p:nvPr>
            <p:ph type="title"/>
          </p:nvPr>
        </p:nvSpPr>
        <p:spPr>
          <a:xfrm>
            <a:off x="2209800" y="152400"/>
            <a:ext cx="7772400" cy="5334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1800" b="1">
                <a:latin typeface="宋体" pitchFamily="2" charset="-122"/>
              </a:rPr>
              <a:t>习题课</a:t>
            </a:r>
          </a:p>
        </p:txBody>
      </p:sp>
      <p:pic>
        <p:nvPicPr>
          <p:cNvPr id="15365" name="Picture 4" descr="arrow34">
            <a:hlinkClick r:id="" action="ppaction://hlinkshowjump?jump=previousslide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20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6" name="Picture 5" descr="arrow35">
            <a:hlinkClick r:id="" action="ppaction://hlinkshowjump?jump=nextslide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1250" y="6275388"/>
            <a:ext cx="514350" cy="354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486" name="Rectangle 6"/>
          <p:cNvSpPr>
            <a:spLocks noChangeArrowheads="1"/>
          </p:cNvSpPr>
          <p:nvPr/>
        </p:nvSpPr>
        <p:spPr bwMode="auto">
          <a:xfrm>
            <a:off x="1981200" y="1143001"/>
            <a:ext cx="8229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>
                <a:cs typeface="Times New Roman" panose="02020603050405020304" pitchFamily="18" charset="0"/>
              </a:rPr>
              <a:t>1.12    </a:t>
            </a:r>
            <a:r>
              <a:rPr lang="zh-CN" altLang="en-GB" sz="2400">
                <a:latin typeface="宋体" panose="02010600030101010101" pitchFamily="2" charset="-122"/>
              </a:rPr>
              <a:t>试用8421码和</a:t>
            </a:r>
            <a:r>
              <a:rPr lang="en-GB" altLang="zh-CN" sz="2400">
                <a:latin typeface="宋体" panose="02010600030101010101" pitchFamily="2" charset="-122"/>
              </a:rPr>
              <a:t>Gray</a:t>
            </a:r>
            <a:r>
              <a:rPr lang="zh-CN" altLang="en-GB" sz="2400">
                <a:latin typeface="宋体" panose="02010600030101010101" pitchFamily="2" charset="-122"/>
              </a:rPr>
              <a:t>码分别表示下列各数。</a:t>
            </a:r>
            <a:endParaRPr lang="zh-CN" altLang="en-US" sz="2400">
              <a:latin typeface="宋体" panose="02010600030101010101" pitchFamily="2" charset="-122"/>
            </a:endParaRPr>
          </a:p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>
                <a:latin typeface="宋体" panose="02010600030101010101" pitchFamily="2" charset="-122"/>
              </a:rPr>
              <a:t>    （1）</a:t>
            </a:r>
            <a:r>
              <a:rPr lang="zh-CN" altLang="en-GB" sz="2400">
                <a:cs typeface="Times New Roman" panose="02020603050405020304" pitchFamily="18" charset="0"/>
              </a:rPr>
              <a:t>    </a:t>
            </a:r>
            <a:r>
              <a:rPr lang="zh-CN" altLang="en-GB" sz="2400">
                <a:latin typeface="宋体" panose="02010600030101010101" pitchFamily="2" charset="-122"/>
              </a:rPr>
              <a:t> (111110)</a:t>
            </a:r>
            <a:r>
              <a:rPr lang="zh-CN" altLang="en-GB" sz="2400" baseline="-25000">
                <a:latin typeface="宋体" panose="02010600030101010101" pitchFamily="2" charset="-122"/>
              </a:rPr>
              <a:t>2</a:t>
            </a:r>
            <a:r>
              <a:rPr lang="zh-CN" altLang="en-GB" sz="2400">
                <a:latin typeface="宋体" panose="02010600030101010101" pitchFamily="2" charset="-122"/>
              </a:rPr>
              <a:t>      （2）</a:t>
            </a:r>
            <a:r>
              <a:rPr lang="zh-CN" altLang="en-GB" sz="2400">
                <a:cs typeface="Times New Roman" panose="02020603050405020304" pitchFamily="18" charset="0"/>
              </a:rPr>
              <a:t>    </a:t>
            </a:r>
            <a:r>
              <a:rPr lang="zh-CN" altLang="en-GB" sz="2400">
                <a:latin typeface="宋体" panose="02010600030101010101" pitchFamily="2" charset="-122"/>
              </a:rPr>
              <a:t>(1100110)</a:t>
            </a:r>
            <a:r>
              <a:rPr lang="zh-CN" altLang="en-GB" sz="2400" baseline="-25000">
                <a:latin typeface="宋体" panose="02010600030101010101" pitchFamily="2" charset="-122"/>
              </a:rPr>
              <a:t>2</a:t>
            </a:r>
            <a:r>
              <a:rPr lang="zh-CN" altLang="en-GB" sz="2400"/>
              <a:t> </a:t>
            </a:r>
            <a:endParaRPr lang="en-US" altLang="zh-CN" sz="2400">
              <a:latin typeface="宋体" panose="02010600030101010101" pitchFamily="2" charset="-122"/>
            </a:endParaRPr>
          </a:p>
        </p:txBody>
      </p:sp>
      <p:sp>
        <p:nvSpPr>
          <p:cNvPr id="276487" name="Rectangle 7"/>
          <p:cNvSpPr>
            <a:spLocks noChangeArrowheads="1"/>
          </p:cNvSpPr>
          <p:nvPr/>
        </p:nvSpPr>
        <p:spPr bwMode="auto">
          <a:xfrm>
            <a:off x="2209800" y="2276476"/>
            <a:ext cx="8153400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l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90000"/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l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solidFill>
                  <a:srgbClr val="FA2B08"/>
                </a:solidFill>
                <a:latin typeface="宋体" panose="02010600030101010101" pitchFamily="2" charset="-122"/>
              </a:rPr>
              <a:t>解答：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（1）</a:t>
            </a:r>
            <a:r>
              <a:rPr lang="zh-CN" altLang="en-GB" sz="2400" dirty="0">
                <a:cs typeface="Times New Roman" panose="02020603050405020304" pitchFamily="18" charset="0"/>
              </a:rPr>
              <a:t> </a:t>
            </a:r>
            <a:r>
              <a:rPr lang="zh-CN" altLang="en-GB" sz="2400" dirty="0">
                <a:latin typeface="宋体" panose="02010600030101010101" pitchFamily="2" charset="-122"/>
              </a:rPr>
              <a:t>(111110)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2</a:t>
            </a:r>
            <a:r>
              <a:rPr lang="zh-CN" altLang="en-GB" sz="2400" dirty="0">
                <a:latin typeface="宋体" panose="02010600030101010101" pitchFamily="2" charset="-122"/>
              </a:rPr>
              <a:t> = (62)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10</a:t>
            </a:r>
            <a:r>
              <a:rPr lang="zh-CN" altLang="en-GB" sz="2400" dirty="0">
                <a:latin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               = (0110 0010)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8421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baseline="-25000" dirty="0">
                <a:latin typeface="宋体" panose="02010600030101010101" pitchFamily="2" charset="-122"/>
              </a:rPr>
              <a:t>                       </a:t>
            </a:r>
            <a:r>
              <a:rPr lang="zh-CN" altLang="en-GB" sz="2400" dirty="0">
                <a:latin typeface="宋体" panose="02010600030101010101" pitchFamily="2" charset="-122"/>
              </a:rPr>
              <a:t>=(100001)</a:t>
            </a:r>
            <a:r>
              <a:rPr lang="en-GB" altLang="zh-CN" sz="2400" baseline="-25000" dirty="0" err="1">
                <a:latin typeface="宋体" panose="02010600030101010101" pitchFamily="2" charset="-122"/>
              </a:rPr>
              <a:t>Gray</a:t>
            </a:r>
            <a:endParaRPr lang="en-GB" altLang="zh-CN" sz="2400" baseline="-25000" dirty="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GB" altLang="zh-CN" sz="2400" baseline="-25000" dirty="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latin typeface="宋体" panose="02010600030101010101" pitchFamily="2" charset="-122"/>
            </a:endParaRP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（2）(1100110)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2 </a:t>
            </a:r>
            <a:r>
              <a:rPr lang="zh-CN" altLang="en-GB" sz="2400" dirty="0">
                <a:latin typeface="宋体" panose="02010600030101010101" pitchFamily="2" charset="-122"/>
              </a:rPr>
              <a:t>= (102)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10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baseline="-25000" dirty="0">
                <a:latin typeface="宋体" panose="02010600030101010101" pitchFamily="2" charset="-122"/>
              </a:rPr>
              <a:t>		     </a:t>
            </a:r>
            <a:r>
              <a:rPr lang="zh-CN" altLang="en-GB" sz="2400" dirty="0">
                <a:latin typeface="宋体" panose="02010600030101010101" pitchFamily="2" charset="-122"/>
              </a:rPr>
              <a:t>=(0001 0000 0010) </a:t>
            </a:r>
            <a:r>
              <a:rPr lang="zh-CN" altLang="en-GB" sz="2400" baseline="-25000" dirty="0">
                <a:latin typeface="宋体" panose="02010600030101010101" pitchFamily="2" charset="-122"/>
              </a:rPr>
              <a:t>8421</a:t>
            </a:r>
            <a:r>
              <a:rPr lang="zh-CN" altLang="en-GB" sz="2400" dirty="0">
                <a:latin typeface="宋体" panose="02010600030101010101" pitchFamily="2" charset="-122"/>
              </a:rPr>
              <a:t> </a:t>
            </a:r>
          </a:p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GB" sz="2400" dirty="0">
                <a:latin typeface="宋体" panose="02010600030101010101" pitchFamily="2" charset="-122"/>
              </a:rPr>
              <a:t>               =(1010101) </a:t>
            </a:r>
            <a:r>
              <a:rPr lang="en-GB" altLang="zh-CN" sz="2400" baseline="-25000" dirty="0" err="1">
                <a:latin typeface="宋体" panose="02010600030101010101" pitchFamily="2" charset="-122"/>
              </a:rPr>
              <a:t>Gray</a:t>
            </a:r>
            <a:endParaRPr lang="en-US" altLang="zh-CN" sz="2400" dirty="0">
              <a:latin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184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6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486" grpId="0" autoUpdateAnimBg="0"/>
      <p:bldP spid="276487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570</Words>
  <Application>Microsoft Office PowerPoint</Application>
  <PresentationFormat>宽屏</PresentationFormat>
  <Paragraphs>81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宋体</vt:lpstr>
      <vt:lpstr>Arial</vt:lpstr>
      <vt:lpstr>Calibri</vt:lpstr>
      <vt:lpstr>Calibri Light</vt:lpstr>
      <vt:lpstr>Cambria Math</vt:lpstr>
      <vt:lpstr>Times New Roman</vt:lpstr>
      <vt:lpstr>Wingdings</vt:lpstr>
      <vt:lpstr>Office 主题</vt:lpstr>
      <vt:lpstr>2017级数字逻辑第一章 练习题-讲评</vt:lpstr>
      <vt:lpstr>填空题</vt:lpstr>
      <vt:lpstr>判断并改错</vt:lpstr>
      <vt:lpstr>思考题</vt:lpstr>
      <vt:lpstr>思考题</vt:lpstr>
      <vt:lpstr>习题课</vt:lpstr>
      <vt:lpstr>习题课</vt:lpstr>
      <vt:lpstr>习题课</vt:lpstr>
      <vt:lpstr>习题课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2012级数字逻辑第一章 练习题-讲评</dc:title>
  <dc:creator>Fei</dc:creator>
  <cp:lastModifiedBy>lin dazhen</cp:lastModifiedBy>
  <cp:revision>18</cp:revision>
  <dcterms:created xsi:type="dcterms:W3CDTF">2014-03-16T01:09:14Z</dcterms:created>
  <dcterms:modified xsi:type="dcterms:W3CDTF">2019-04-24T02:50:53Z</dcterms:modified>
</cp:coreProperties>
</file>