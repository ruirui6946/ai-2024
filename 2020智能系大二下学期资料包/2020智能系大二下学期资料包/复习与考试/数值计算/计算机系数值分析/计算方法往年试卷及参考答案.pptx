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4"/>
  </p:notesMasterIdLst>
  <p:sldIdLst>
    <p:sldId id="256" r:id="rId2"/>
    <p:sldId id="294" r:id="rId3"/>
    <p:sldId id="296" r:id="rId4"/>
    <p:sldId id="330" r:id="rId5"/>
    <p:sldId id="298" r:id="rId6"/>
    <p:sldId id="299" r:id="rId7"/>
    <p:sldId id="301" r:id="rId8"/>
    <p:sldId id="302" r:id="rId9"/>
    <p:sldId id="303" r:id="rId10"/>
    <p:sldId id="304" r:id="rId11"/>
    <p:sldId id="306" r:id="rId12"/>
    <p:sldId id="307" r:id="rId13"/>
    <p:sldId id="308" r:id="rId14"/>
    <p:sldId id="312" r:id="rId15"/>
    <p:sldId id="314" r:id="rId16"/>
    <p:sldId id="315" r:id="rId17"/>
    <p:sldId id="317" r:id="rId18"/>
    <p:sldId id="318" r:id="rId19"/>
    <p:sldId id="319" r:id="rId20"/>
    <p:sldId id="320" r:id="rId21"/>
    <p:sldId id="322" r:id="rId22"/>
    <p:sldId id="323" r:id="rId23"/>
    <p:sldId id="324" r:id="rId24"/>
    <p:sldId id="325" r:id="rId25"/>
    <p:sldId id="259" r:id="rId26"/>
    <p:sldId id="260" r:id="rId27"/>
    <p:sldId id="262" r:id="rId28"/>
    <p:sldId id="263" r:id="rId29"/>
    <p:sldId id="264" r:id="rId30"/>
    <p:sldId id="267" r:id="rId31"/>
    <p:sldId id="268" r:id="rId32"/>
    <p:sldId id="269" r:id="rId33"/>
    <p:sldId id="272" r:id="rId34"/>
    <p:sldId id="273" r:id="rId35"/>
    <p:sldId id="276" r:id="rId36"/>
    <p:sldId id="280" r:id="rId37"/>
    <p:sldId id="281" r:id="rId38"/>
    <p:sldId id="285" r:id="rId39"/>
    <p:sldId id="286" r:id="rId40"/>
    <p:sldId id="287" r:id="rId41"/>
    <p:sldId id="288" r:id="rId42"/>
    <p:sldId id="289" r:id="rId43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20000"/>
      </a:spcBef>
      <a:spcAft>
        <a:spcPct val="0"/>
      </a:spcAft>
      <a:buClr>
        <a:schemeClr val="accent1"/>
      </a:buClr>
      <a:buFont typeface="Wingdings" pitchFamily="2" charset="2"/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accent1"/>
      </a:buClr>
      <a:buFont typeface="Wingdings" pitchFamily="2" charset="2"/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accent1"/>
      </a:buClr>
      <a:buFont typeface="Wingdings" pitchFamily="2" charset="2"/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accent1"/>
      </a:buClr>
      <a:buFont typeface="Wingdings" pitchFamily="2" charset="2"/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accent1"/>
      </a:buClr>
      <a:buFont typeface="Wingdings" pitchFamily="2" charset="2"/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b="1" i="1" kern="1200" baseline="-250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100000" saltData="ituJLUzOQuU4AvdBJhmsnQ==" hashData="NdZ0lQAnHN6fqPTHmK2U5p3kw8Q="/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04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3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6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9D6B4-E43D-4713-A622-C6415FBE2C0A}" type="datetimeFigureOut">
              <a:rPr lang="zh-CN" altLang="en-US" smtClean="0"/>
              <a:t>2016/6/7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5F610-C0E8-47C2-AADB-558C136535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48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658938" y="1600200"/>
            <a:ext cx="6837362" cy="3200400"/>
            <a:chOff x="1045" y="1008"/>
            <a:chExt cx="4307" cy="2016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hidden">
            <a:xfrm flipH="1">
              <a:off x="4392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hidden">
            <a:xfrm flipH="1">
              <a:off x="3264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hidden">
            <a:xfrm flipH="1">
              <a:off x="2136" y="1008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hidden">
            <a:xfrm flipH="1">
              <a:off x="2136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hidden">
            <a:xfrm flipH="1">
              <a:off x="1045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hidden">
            <a:xfrm flipH="1">
              <a:off x="4392" y="2064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93357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052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0E161-E165-41FC-B045-F112CEE38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536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E810F-18A2-487E-9A74-E67D19468F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652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FC32A-213C-431B-ABDC-880837D795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70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F2604-6F23-4C16-BA5D-F2CDC3C26B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72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261E1-335C-4A84-941A-032A54F363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251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A1247-A0CB-43ED-B742-DBAEE48748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55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7AFED-1267-4652-AD57-763B2C359E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9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118FF-2421-4542-8DD1-86655A07C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21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D34E0-650B-49CF-A800-E26065F824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941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B93AD-7D8D-4E98-8766-45212E77A2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30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62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62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FBBD6-CE16-4FBA-9BCE-0F98932EC0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953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F3971-5640-49F1-B593-545F1D6207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218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6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435B7-F1D8-41C2-AFE5-5019638F05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421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56163" y="1981200"/>
            <a:ext cx="3754437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56163" y="4114800"/>
            <a:ext cx="3754437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94615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EAF37-B646-4303-BD28-97D34000BB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2370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A947E-38FE-427A-A94C-12654E2DBC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761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1032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1033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1034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1035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  <p:sp>
          <p:nvSpPr>
            <p:cNvPr id="1036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0" baseline="0"/>
            </a:p>
          </p:txBody>
        </p:sp>
      </p:grp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000" b="0" i="0" baseline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000" b="0" i="0" baseline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00" b="0" i="0" baseline="0">
                <a:latin typeface="+mn-lt"/>
              </a:defRPr>
            </a:lvl1pPr>
          </a:lstStyle>
          <a:p>
            <a:pPr>
              <a:defRPr/>
            </a:pPr>
            <a:fld id="{2241553F-B304-4EF2-90FC-F7607AA48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3" r:id="rId14"/>
    <p:sldLayoutId id="2147483731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2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9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2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6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计算方法往年试卷及参考答案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0E161-E165-41FC-B045-F112CEE38E31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考试安排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en-US" altLang="zh-CN" dirty="0"/>
              <a:t>6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15</a:t>
            </a:r>
            <a:r>
              <a:rPr lang="zh-CN" altLang="en-US" dirty="0" smtClean="0"/>
              <a:t>日</a:t>
            </a:r>
            <a:r>
              <a:rPr lang="en-US" altLang="zh-CN" dirty="0" smtClean="0"/>
              <a:t>(</a:t>
            </a:r>
            <a:r>
              <a:rPr lang="zh-CN" altLang="en-US" dirty="0" smtClean="0"/>
              <a:t>周三</a:t>
            </a:r>
            <a:r>
              <a:rPr lang="en-US" altLang="zh-CN" dirty="0" smtClean="0"/>
              <a:t>)</a:t>
            </a:r>
            <a:r>
              <a:rPr lang="zh-CN" altLang="en-US" dirty="0" smtClean="0"/>
              <a:t>上午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30~12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30 </a:t>
            </a:r>
            <a:endParaRPr lang="zh-CN" altLang="en-US" dirty="0" smtClean="0"/>
          </a:p>
          <a:p>
            <a:pPr marL="0" indent="0" eaLnBrk="1" hangingPunct="1">
              <a:buNone/>
            </a:pPr>
            <a:endParaRPr lang="en-US" altLang="zh-CN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zh-CN" altLang="en-US" dirty="0" smtClean="0">
              <a:sym typeface="Wingdings" pitchFamily="2" charset="2"/>
            </a:endParaRPr>
          </a:p>
          <a:p>
            <a:pPr eaLnBrk="1" hangingPunct="1"/>
            <a:r>
              <a:rPr lang="zh-CN" altLang="en-US" dirty="0" smtClean="0">
                <a:sym typeface="Wingdings" pitchFamily="2" charset="2"/>
              </a:rPr>
              <a:t>考试范围：</a:t>
            </a:r>
            <a:r>
              <a:rPr lang="en-US" altLang="zh-CN" dirty="0" smtClean="0">
                <a:sym typeface="Wingdings" pitchFamily="2" charset="2"/>
              </a:rPr>
              <a:t>1-7</a:t>
            </a:r>
            <a:r>
              <a:rPr lang="zh-CN" altLang="en-US" dirty="0" smtClean="0">
                <a:sym typeface="Wingdings" pitchFamily="2" charset="2"/>
              </a:rPr>
              <a:t>章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2571750"/>
          </a:xfrm>
        </p:spPr>
        <p:txBody>
          <a:bodyPr/>
          <a:lstStyle/>
          <a:p>
            <a:pPr eaLnBrk="1" hangingPunct="1"/>
            <a:r>
              <a:rPr lang="en-US" altLang="zh-CN" smtClean="0"/>
              <a:t>1.(15%) </a:t>
            </a:r>
            <a:r>
              <a:rPr lang="zh-CN" altLang="en-US" smtClean="0"/>
              <a:t>求一个次数不高于</a:t>
            </a:r>
            <a:r>
              <a:rPr lang="en-US" altLang="zh-CN" smtClean="0"/>
              <a:t>4</a:t>
            </a:r>
            <a:r>
              <a:rPr lang="zh-CN" altLang="en-US" smtClean="0"/>
              <a:t>的多项式</a:t>
            </a:r>
            <a:r>
              <a:rPr lang="en-US" smtClean="0"/>
              <a:t> </a:t>
            </a:r>
            <a:r>
              <a:rPr lang="zh-CN" altLang="en-US" smtClean="0"/>
              <a:t>满足下列插值条件：</a:t>
            </a:r>
            <a:r>
              <a:rPr lang="en-US" smtClean="0"/>
              <a:t> 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(1)=2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(2)=4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(3)=12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’(1)=1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’(3)=-1</a:t>
            </a:r>
            <a:endParaRPr lang="zh-CN" altLang="en-US" b="1" i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两点三次埃尔米特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65161" y="1524000"/>
                <a:ext cx="8229600" cy="38862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)=(1+2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altLang="zh-CN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1+2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28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161" y="1524000"/>
                <a:ext cx="8229600" cy="3886200"/>
              </a:xfrm>
              <a:blipFill rotWithShape="0">
                <a:blip r:embed="rId2"/>
                <a:stretch>
                  <a:fillRect b="-296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ABBA28-6EBA-41DB-9C52-CFCE009A01A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653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解法一：埃尔米特插值法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zh-CN" altLang="en-US" smtClean="0"/>
              <a:t>第一步：求一</a:t>
            </a:r>
            <a:r>
              <a:rPr lang="en-US" altLang="zh-CN" smtClean="0"/>
              <a:t>3</a:t>
            </a:r>
            <a:r>
              <a:rPr lang="zh-CN" altLang="en-US" smtClean="0"/>
              <a:t>次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mtClean="0"/>
              <a:t>，满足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(1)=2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(3)=12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’(1)=1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’(3)=-1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mtClean="0"/>
              <a:t>则有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mtClean="0"/>
              <a:t>	</a:t>
            </a:r>
            <a:r>
              <a:rPr lang="zh-CN" altLang="en-US" smtClean="0"/>
              <a:t>其中</a:t>
            </a:r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9221" name="Object 1"/>
          <p:cNvGraphicFramePr>
            <a:graphicFrameLocks noChangeAspect="1"/>
          </p:cNvGraphicFramePr>
          <p:nvPr/>
        </p:nvGraphicFramePr>
        <p:xfrm>
          <a:off x="857250" y="3000375"/>
          <a:ext cx="68405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公式" r:id="rId3" imgW="2527300" imgH="228600" progId="Equation.3">
                  <p:embed/>
                </p:oleObj>
              </mc:Choice>
              <mc:Fallback>
                <p:oleObj name="公式" r:id="rId3" imgW="2527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000375"/>
                        <a:ext cx="684053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9223" name="Object 3"/>
          <p:cNvGraphicFramePr>
            <a:graphicFrameLocks noChangeAspect="1"/>
          </p:cNvGraphicFramePr>
          <p:nvPr/>
        </p:nvGraphicFramePr>
        <p:xfrm>
          <a:off x="1785938" y="3571875"/>
          <a:ext cx="5764212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r:id="rId5" imgW="3390900" imgH="1905000" progId="">
                  <p:embed/>
                </p:oleObj>
              </mc:Choice>
              <mc:Fallback>
                <p:oleObj r:id="rId5" imgW="3390900" imgH="19050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571875"/>
                        <a:ext cx="5764212" cy="323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466725" y="1857375"/>
            <a:ext cx="8248650" cy="4429125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55000"/>
              <a:buFont typeface="Wingdings"/>
              <a:buChar char="p"/>
              <a:defRPr/>
            </a:pPr>
            <a:r>
              <a:rPr kumimoji="1" lang="zh-CN" altLang="en-US" kern="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rPr>
              <a:t>第二步：加入</a:t>
            </a:r>
            <a:r>
              <a:rPr kumimoji="1" lang="en-US" altLang="zh-CN" dirty="0">
                <a:solidFill>
                  <a:schemeClr val="bg2">
                    <a:lumMod val="25000"/>
                  </a:schemeClr>
                </a:solidFill>
                <a:ea typeface="+mn-ea"/>
                <a:cs typeface="Times New Roman" pitchFamily="18" charset="0"/>
              </a:rPr>
              <a:t>P4(2)=4</a:t>
            </a:r>
            <a:r>
              <a:rPr kumimoji="1" lang="zh-CN" altLang="en-US" kern="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rPr>
              <a:t>的要求，则有</a:t>
            </a:r>
            <a:endParaRPr kumimoji="1" lang="en-US" altLang="zh-CN" kern="0" dirty="0">
              <a:solidFill>
                <a:schemeClr val="bg2">
                  <a:lumMod val="2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10243" name="Object 1"/>
          <p:cNvGraphicFramePr>
            <a:graphicFrameLocks noChangeAspect="1"/>
          </p:cNvGraphicFramePr>
          <p:nvPr/>
        </p:nvGraphicFramePr>
        <p:xfrm>
          <a:off x="357188" y="642938"/>
          <a:ext cx="83407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r:id="rId3" imgW="4508500" imgH="393700" progId="">
                  <p:embed/>
                </p:oleObj>
              </mc:Choice>
              <mc:Fallback>
                <p:oleObj r:id="rId3" imgW="4508500" imgH="3937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642938"/>
                        <a:ext cx="834072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3"/>
          <p:cNvGraphicFramePr>
            <a:graphicFrameLocks noChangeAspect="1"/>
          </p:cNvGraphicFramePr>
          <p:nvPr/>
        </p:nvGraphicFramePr>
        <p:xfrm>
          <a:off x="571500" y="2643188"/>
          <a:ext cx="7831138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r:id="rId5" imgW="3213100" imgH="647700" progId="">
                  <p:embed/>
                </p:oleObj>
              </mc:Choice>
              <mc:Fallback>
                <p:oleObj r:id="rId5" imgW="3213100" imgH="6477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643188"/>
                        <a:ext cx="7831138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571500" y="4357688"/>
          <a:ext cx="794385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公式" r:id="rId7" imgW="2768600" imgH="393700" progId="Equation.3">
                  <p:embed/>
                </p:oleObj>
              </mc:Choice>
              <mc:Fallback>
                <p:oleObj name="公式" r:id="rId7" imgW="27686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357688"/>
                        <a:ext cx="7943850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AFED-1267-4652-AD57-763B2C359E2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解法二：牛顿插值法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zh-CN" altLang="en-US" smtClean="0"/>
              <a:t>第一步：求一过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(1,2),(2,4),(3,12)</a:t>
            </a:r>
            <a:r>
              <a:rPr lang="zh-CN" altLang="en-US" smtClean="0"/>
              <a:t>三点的</a:t>
            </a:r>
            <a:r>
              <a:rPr lang="en-US" altLang="zh-CN" smtClean="0"/>
              <a:t>2</a:t>
            </a:r>
            <a:r>
              <a:rPr lang="zh-CN" altLang="en-US" smtClean="0"/>
              <a:t>次</a:t>
            </a:r>
            <a:r>
              <a:rPr lang="en-US" altLang="zh-CN" smtClean="0"/>
              <a:t>Newton</a:t>
            </a:r>
            <a:r>
              <a:rPr lang="zh-CN" altLang="en-US" smtClean="0"/>
              <a:t>插值公式：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2293" name="Object 1"/>
          <p:cNvGraphicFramePr>
            <a:graphicFrameLocks noChangeAspect="1"/>
          </p:cNvGraphicFramePr>
          <p:nvPr/>
        </p:nvGraphicFramePr>
        <p:xfrm>
          <a:off x="928688" y="3429000"/>
          <a:ext cx="7612062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r:id="rId3" imgW="3098800" imgH="660400" progId="">
                  <p:embed/>
                </p:oleObj>
              </mc:Choice>
              <mc:Fallback>
                <p:oleObj r:id="rId3" imgW="3098800" imgH="6604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429000"/>
                        <a:ext cx="7612062" cy="161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zh-CN" altLang="en-US" smtClean="0"/>
              <a:t>第二步：加入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’(1)=1 </a:t>
            </a:r>
            <a:r>
              <a:rPr lang="zh-CN" altLang="en-US" b="1" i="1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b="1" i="1" smtClean="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’(3)=-1</a:t>
            </a:r>
            <a:r>
              <a:rPr lang="zh-CN" altLang="en-US" smtClean="0"/>
              <a:t>的要求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由</a:t>
            </a:r>
            <a:r>
              <a:rPr lang="en-US" smtClean="0">
                <a:ea typeface="华文楷体" pitchFamily="2" charset="-122"/>
              </a:rPr>
              <a:t> </a:t>
            </a:r>
            <a:r>
              <a:rPr lang="en-US" altLang="zh-CN" smtClean="0"/>
              <a:t>,</a:t>
            </a:r>
            <a:r>
              <a:rPr lang="zh-CN" altLang="en-US" smtClean="0"/>
              <a:t>得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A=-7/2,B=9/2</a:t>
            </a: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3316" name="Object 1"/>
          <p:cNvGraphicFramePr>
            <a:graphicFrameLocks noChangeAspect="1"/>
          </p:cNvGraphicFramePr>
          <p:nvPr/>
        </p:nvGraphicFramePr>
        <p:xfrm>
          <a:off x="857250" y="2500313"/>
          <a:ext cx="7805738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r:id="rId3" imgW="2679700" imgH="228600" progId="">
                  <p:embed/>
                </p:oleObj>
              </mc:Choice>
              <mc:Fallback>
                <p:oleObj r:id="rId3" imgW="2679700" imgH="2286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500313"/>
                        <a:ext cx="7805738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3318" name="Object 3"/>
          <p:cNvGraphicFramePr>
            <a:graphicFrameLocks noChangeAspect="1"/>
          </p:cNvGraphicFramePr>
          <p:nvPr/>
        </p:nvGraphicFramePr>
        <p:xfrm>
          <a:off x="928688" y="3643313"/>
          <a:ext cx="7745412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r:id="rId5" imgW="3327400" imgH="393700" progId="">
                  <p:embed/>
                </p:oleObj>
              </mc:Choice>
              <mc:Fallback>
                <p:oleObj r:id="rId5" imgW="3327400" imgH="3937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643313"/>
                        <a:ext cx="7745412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3320" name="Object 5"/>
          <p:cNvGraphicFramePr>
            <a:graphicFrameLocks noChangeAspect="1"/>
          </p:cNvGraphicFramePr>
          <p:nvPr/>
        </p:nvGraphicFramePr>
        <p:xfrm>
          <a:off x="928688" y="4714875"/>
          <a:ext cx="78168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公式" r:id="rId7" imgW="2768600" imgH="393700" progId="Equation.3">
                  <p:embed/>
                </p:oleObj>
              </mc:Choice>
              <mc:Fallback>
                <p:oleObj name="公式" r:id="rId7" imgW="27686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714875"/>
                        <a:ext cx="78168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其它方法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zh-CN" altLang="en-US" smtClean="0"/>
              <a:t>有重节点的牛顿法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做法课上有介绍过，此处不讲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不要求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如果做对有全分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完全待定系数法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达不到要求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如果做对只有答案分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928812"/>
          </a:xfrm>
        </p:spPr>
        <p:txBody>
          <a:bodyPr/>
          <a:lstStyle/>
          <a:p>
            <a:pPr eaLnBrk="1" hangingPunct="1"/>
            <a:r>
              <a:rPr lang="en-US" altLang="zh-CN" smtClean="0"/>
              <a:t>2. (15%)</a:t>
            </a:r>
            <a:r>
              <a:rPr lang="zh-CN" altLang="en-US" smtClean="0"/>
              <a:t>设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f(x)=1-x+x</a:t>
            </a:r>
            <a:r>
              <a:rPr lang="en-US" altLang="zh-CN" b="1" i="1" baseline="30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-x</a:t>
            </a:r>
            <a:r>
              <a:rPr lang="en-US" altLang="zh-CN" b="1" i="1" baseline="30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altLang="zh-CN" b="1" i="1" baseline="30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mtClean="0"/>
              <a:t>，在</a:t>
            </a:r>
            <a:r>
              <a:rPr lang="en-US" altLang="zh-CN" smtClean="0"/>
              <a:t>[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0,1</a:t>
            </a:r>
            <a:r>
              <a:rPr lang="en-US" altLang="zh-CN" smtClean="0"/>
              <a:t>]</a:t>
            </a:r>
            <a:r>
              <a:rPr lang="zh-CN" altLang="en-US" smtClean="0"/>
              <a:t>上求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f(x)</a:t>
            </a:r>
            <a:r>
              <a:rPr lang="zh-CN" altLang="en-US" smtClean="0"/>
              <a:t>的三次最佳一致逼近多项式，并分析误差。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第一步：变量代换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6725" y="1857375"/>
            <a:ext cx="8248650" cy="4429125"/>
          </a:xfrm>
        </p:spPr>
        <p:txBody>
          <a:bodyPr/>
          <a:lstStyle/>
          <a:p>
            <a:pPr eaLnBrk="1" hangingPunct="1"/>
            <a:r>
              <a:rPr lang="zh-CN" altLang="en-US" smtClean="0"/>
              <a:t>设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f(x)</a:t>
            </a:r>
            <a:r>
              <a:rPr lang="zh-CN" altLang="en-US" smtClean="0"/>
              <a:t>的三次最佳一致逼近多项式为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则根据定义有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(t)=8t</a:t>
            </a:r>
            <a:r>
              <a:rPr lang="en-US" altLang="zh-CN" b="1" i="1" baseline="30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-8t</a:t>
            </a:r>
            <a:r>
              <a:rPr lang="en-US" altLang="zh-CN" b="1" i="1" baseline="30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zh-CN" altLang="en-US" b="1" i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7413" name="Object 1"/>
          <p:cNvGraphicFramePr>
            <a:graphicFrameLocks noChangeAspect="1"/>
          </p:cNvGraphicFramePr>
          <p:nvPr/>
        </p:nvGraphicFramePr>
        <p:xfrm>
          <a:off x="928688" y="2571750"/>
          <a:ext cx="62071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" name="公式" r:id="rId3" imgW="2413000" imgH="393700" progId="Equation.3">
                  <p:embed/>
                </p:oleObj>
              </mc:Choice>
              <mc:Fallback>
                <p:oleObj name="公式" r:id="rId3" imgW="24130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571750"/>
                        <a:ext cx="62071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7415" name="Object 3"/>
          <p:cNvGraphicFramePr>
            <a:graphicFrameLocks noChangeAspect="1"/>
          </p:cNvGraphicFramePr>
          <p:nvPr/>
        </p:nvGraphicFramePr>
        <p:xfrm>
          <a:off x="857250" y="4143375"/>
          <a:ext cx="781685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name="公式" r:id="rId5" imgW="4394200" imgH="812800" progId="Equation.3">
                  <p:embed/>
                </p:oleObj>
              </mc:Choice>
              <mc:Fallback>
                <p:oleObj name="公式" r:id="rId5" imgW="43942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143375"/>
                        <a:ext cx="781685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第二步：反代换</a:t>
            </a: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8436" name="Object 1"/>
          <p:cNvGraphicFramePr>
            <a:graphicFrameLocks noChangeAspect="1"/>
          </p:cNvGraphicFramePr>
          <p:nvPr/>
        </p:nvGraphicFramePr>
        <p:xfrm>
          <a:off x="482600" y="1836738"/>
          <a:ext cx="55594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" name="公式" r:id="rId3" imgW="3390900" imgH="393700" progId="Equation.3">
                  <p:embed/>
                </p:oleObj>
              </mc:Choice>
              <mc:Fallback>
                <p:oleObj name="公式" r:id="rId3" imgW="33909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1836738"/>
                        <a:ext cx="55594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8438" name="Object 3"/>
          <p:cNvGraphicFramePr>
            <a:graphicFrameLocks noChangeAspect="1"/>
          </p:cNvGraphicFramePr>
          <p:nvPr/>
        </p:nvGraphicFramePr>
        <p:xfrm>
          <a:off x="482600" y="2428875"/>
          <a:ext cx="6030913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" name="公式" r:id="rId5" imgW="3393195" imgH="940106" progId="Equation.3">
                  <p:embed/>
                </p:oleObj>
              </mc:Choice>
              <mc:Fallback>
                <p:oleObj name="公式" r:id="rId5" imgW="3393195" imgH="9401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2428875"/>
                        <a:ext cx="6030913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8440" name="Object 5"/>
          <p:cNvGraphicFramePr>
            <a:graphicFrameLocks noChangeAspect="1"/>
          </p:cNvGraphicFramePr>
          <p:nvPr/>
        </p:nvGraphicFramePr>
        <p:xfrm>
          <a:off x="500063" y="3857625"/>
          <a:ext cx="6630987" cy="219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公式" r:id="rId7" imgW="3657600" imgH="1206500" progId="Equation.3">
                  <p:embed/>
                </p:oleObj>
              </mc:Choice>
              <mc:Fallback>
                <p:oleObj name="公式" r:id="rId7" imgW="3657600" imgH="1206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857625"/>
                        <a:ext cx="6630987" cy="219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8442" name="Object 7"/>
          <p:cNvGraphicFramePr>
            <a:graphicFrameLocks noChangeAspect="1"/>
          </p:cNvGraphicFramePr>
          <p:nvPr/>
        </p:nvGraphicFramePr>
        <p:xfrm>
          <a:off x="500063" y="6072188"/>
          <a:ext cx="44338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公式" r:id="rId9" imgW="2654300" imgH="431800" progId="Equation.3">
                  <p:embed/>
                </p:oleObj>
              </mc:Choice>
              <mc:Fallback>
                <p:oleObj name="公式" r:id="rId9" imgW="26543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6072188"/>
                        <a:ext cx="44338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3286125"/>
          </a:xfrm>
        </p:spPr>
        <p:txBody>
          <a:bodyPr/>
          <a:lstStyle/>
          <a:p>
            <a:pPr eaLnBrk="1" hangingPunct="1"/>
            <a:r>
              <a:rPr lang="en-US" altLang="zh-CN" smtClean="0"/>
              <a:t>3.(20%)</a:t>
            </a:r>
            <a:r>
              <a:rPr lang="zh-CN" altLang="en-US" smtClean="0"/>
              <a:t>设</a:t>
            </a:r>
            <a:r>
              <a:rPr lang="en-US" altLang="zh-CN" smtClean="0"/>
              <a:t>{</a:t>
            </a:r>
            <a:r>
              <a:rPr lang="el-GR" altLang="zh-CN" b="1" i="1" smtClean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en-US" altLang="zh-CN" smtClean="0"/>
              <a:t>}</a:t>
            </a:r>
            <a:r>
              <a:rPr lang="zh-CN" altLang="en-US" smtClean="0"/>
              <a:t>是</a:t>
            </a:r>
            <a:r>
              <a:rPr lang="en-US" altLang="zh-CN" smtClean="0"/>
              <a:t>[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altLang="zh-CN" smtClean="0"/>
              <a:t>]</a:t>
            </a:r>
            <a:r>
              <a:rPr lang="zh-CN" altLang="en-US" smtClean="0"/>
              <a:t>上带权</a:t>
            </a:r>
            <a:r>
              <a:rPr lang="el-GR" altLang="zh-CN" b="1" i="1" smtClean="0"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mtClean="0"/>
              <a:t>的正交多项式序列，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(i=0,1,2…n)</a:t>
            </a:r>
            <a:r>
              <a:rPr lang="zh-CN" altLang="en-US" smtClean="0"/>
              <a:t>为</a:t>
            </a:r>
            <a:r>
              <a:rPr lang="el-GR" altLang="zh-CN" b="1" i="1" smtClean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n+1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zh-CN" altLang="en-US" smtClean="0"/>
              <a:t>的零点，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(x)(i=0,1,2,…n)</a:t>
            </a:r>
            <a:r>
              <a:rPr lang="zh-CN" altLang="en-US" smtClean="0"/>
              <a:t>是以</a:t>
            </a:r>
            <a:r>
              <a:rPr lang="en-US" altLang="zh-CN" smtClean="0"/>
              <a:t>{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="1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mtClean="0"/>
              <a:t>}</a:t>
            </a:r>
            <a:r>
              <a:rPr lang="zh-CN" altLang="en-US" smtClean="0"/>
              <a:t>为节点的拉格朗日插值基函数，</a:t>
            </a:r>
            <a:r>
              <a:rPr lang="en-US" smtClean="0"/>
              <a:t> </a:t>
            </a:r>
            <a:br>
              <a:rPr lang="en-US" smtClean="0"/>
            </a:br>
            <a:r>
              <a:rPr lang="en-US" smtClean="0"/>
              <a:t>                   </a:t>
            </a:r>
            <a:r>
              <a:rPr lang="zh-CN" altLang="en-US" smtClean="0"/>
              <a:t>为高斯型求积公式，证明：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66725" y="4000500"/>
            <a:ext cx="8248650" cy="2286000"/>
          </a:xfrm>
        </p:spPr>
        <p:txBody>
          <a:bodyPr/>
          <a:lstStyle/>
          <a:p>
            <a:pPr eaLnBrk="1" hangingPunct="1"/>
            <a:r>
              <a:rPr lang="en-US" altLang="zh-CN" smtClean="0"/>
              <a:t>1)</a:t>
            </a:r>
            <a:r>
              <a:rPr lang="zh-CN" altLang="en-US" smtClean="0"/>
              <a:t>当                  时，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2</a:t>
            </a:r>
            <a:r>
              <a:rPr lang="zh-CN" altLang="en-US" smtClean="0"/>
              <a:t>）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9461" name="Object 3"/>
          <p:cNvGraphicFramePr>
            <a:graphicFrameLocks noChangeAspect="1"/>
          </p:cNvGraphicFramePr>
          <p:nvPr/>
        </p:nvGraphicFramePr>
        <p:xfrm>
          <a:off x="500063" y="3221038"/>
          <a:ext cx="254158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公式" r:id="rId3" imgW="1739900" imgH="482600" progId="Equation.3">
                  <p:embed/>
                </p:oleObj>
              </mc:Choice>
              <mc:Fallback>
                <p:oleObj name="公式" r:id="rId3" imgW="1739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221038"/>
                        <a:ext cx="2541587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9463" name="Object 5"/>
          <p:cNvGraphicFramePr>
            <a:graphicFrameLocks noChangeAspect="1"/>
          </p:cNvGraphicFramePr>
          <p:nvPr/>
        </p:nvGraphicFramePr>
        <p:xfrm>
          <a:off x="1643063" y="4143375"/>
          <a:ext cx="170338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r:id="rId5" imgW="1016000" imgH="203200" progId="">
                  <p:embed/>
                </p:oleObj>
              </mc:Choice>
              <mc:Fallback>
                <p:oleObj r:id="rId5" imgW="1016000" imgH="2032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4143375"/>
                        <a:ext cx="170338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graphicFrame>
        <p:nvGraphicFramePr>
          <p:cNvPr id="19465" name="Object 7"/>
          <p:cNvGraphicFramePr>
            <a:graphicFrameLocks noChangeAspect="1"/>
          </p:cNvGraphicFramePr>
          <p:nvPr/>
        </p:nvGraphicFramePr>
        <p:xfrm>
          <a:off x="4419600" y="3962400"/>
          <a:ext cx="20224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r:id="rId7" imgW="1307532" imgH="431613" progId="">
                  <p:embed/>
                </p:oleObj>
              </mc:Choice>
              <mc:Fallback>
                <p:oleObj r:id="rId7" imgW="1307532" imgH="431613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962400"/>
                        <a:ext cx="20224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mbria" pitchFamily="18" charset="0"/>
              <a:ea typeface="华文楷体" pitchFamily="2" charset="-122"/>
            </a:endParaRPr>
          </a:p>
        </p:txBody>
      </p:sp>
      <p:sp>
        <p:nvSpPr>
          <p:cNvPr id="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003266"/>
              </p:ext>
            </p:extLst>
          </p:nvPr>
        </p:nvGraphicFramePr>
        <p:xfrm>
          <a:off x="1600200" y="5029200"/>
          <a:ext cx="400304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r:id="rId9" imgW="1879600" imgH="431800" progId="Equation.DSMT4">
                  <p:embed/>
                </p:oleObj>
              </mc:Choice>
              <mc:Fallback>
                <p:oleObj r:id="rId9" imgW="1879600" imgH="431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029200"/>
                        <a:ext cx="4003040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1</a:t>
            </a:r>
            <a:r>
              <a:rPr lang="zh-CN" altLang="en-US" smtClean="0"/>
              <a:t>）证明</a:t>
            </a:r>
          </a:p>
        </p:txBody>
      </p:sp>
      <p:pic>
        <p:nvPicPr>
          <p:cNvPr id="23555" name="图片 3" descr="3.1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9144000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685800" cy="5857875"/>
          </a:xfrm>
        </p:spPr>
        <p:txBody>
          <a:bodyPr/>
          <a:lstStyle/>
          <a:p>
            <a:pPr eaLnBrk="1" hangingPunct="1"/>
            <a:r>
              <a:rPr lang="en-US" altLang="zh-CN" smtClean="0"/>
              <a:t>2</a:t>
            </a:r>
            <a:r>
              <a:rPr lang="zh-CN" altLang="en-US" smtClean="0"/>
              <a:t>）证明</a:t>
            </a:r>
          </a:p>
        </p:txBody>
      </p:sp>
      <p:pic>
        <p:nvPicPr>
          <p:cNvPr id="75777" name="Picture 1" descr="C:\Users\fofo\AppData\Roaming\Tencent\Users\5421126\QQ\WinTemp\RichOle\E5YNLDC4RQDJBZ2O7`2IEF1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371" y="0"/>
            <a:ext cx="7341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4. (15%)</a:t>
            </a:r>
            <a:r>
              <a:rPr lang="zh-CN" altLang="en-US" smtClean="0"/>
              <a:t>用</a:t>
            </a:r>
            <a:r>
              <a:rPr lang="en-US" altLang="zh-CN" smtClean="0"/>
              <a:t>LDL</a:t>
            </a:r>
            <a:r>
              <a:rPr lang="en-US" altLang="zh-CN" baseline="30000" smtClean="0"/>
              <a:t>T</a:t>
            </a:r>
            <a:r>
              <a:rPr lang="zh-CN" altLang="en-US" smtClean="0"/>
              <a:t>分解法解方程组</a:t>
            </a: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2803525" y="1643063"/>
          <a:ext cx="3340100" cy="163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6" r:id="rId3" imgW="1459866" imgH="710891" progId="Equation.3">
                  <p:embed/>
                </p:oleObj>
              </mc:Choice>
              <mc:Fallback>
                <p:oleObj r:id="rId3" imgW="1459866" imgH="7108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1643063"/>
                        <a:ext cx="3340100" cy="163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改进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412875"/>
            <a:ext cx="8137525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528638" y="714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分解实现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9A1247-A0CB-43ED-B742-DBAEE48748B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第一步：分解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9700" name="Object 1"/>
          <p:cNvGraphicFramePr>
            <a:graphicFrameLocks noChangeAspect="1"/>
          </p:cNvGraphicFramePr>
          <p:nvPr/>
        </p:nvGraphicFramePr>
        <p:xfrm>
          <a:off x="428625" y="2000250"/>
          <a:ext cx="8034338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3" name="公式" r:id="rId3" imgW="3276600" imgH="711200" progId="Equation.3">
                  <p:embed/>
                </p:oleObj>
              </mc:Choice>
              <mc:Fallback>
                <p:oleObj name="公式" r:id="rId3" imgW="32766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2000250"/>
                        <a:ext cx="8034338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9702" name="Object 3"/>
          <p:cNvGraphicFramePr>
            <a:graphicFrameLocks noChangeAspect="1"/>
          </p:cNvGraphicFramePr>
          <p:nvPr/>
        </p:nvGraphicFramePr>
        <p:xfrm>
          <a:off x="285750" y="4143375"/>
          <a:ext cx="8462963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4" name="公式" r:id="rId5" imgW="4419600" imgH="812800" progId="Equation.3">
                  <p:embed/>
                </p:oleObj>
              </mc:Choice>
              <mc:Fallback>
                <p:oleObj name="公式" r:id="rId5" imgW="44196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143375"/>
                        <a:ext cx="8462963" cy="155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第二步：求解</a:t>
            </a:r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4" name="Object 1"/>
          <p:cNvGraphicFramePr>
            <a:graphicFrameLocks noChangeAspect="1"/>
          </p:cNvGraphicFramePr>
          <p:nvPr/>
        </p:nvGraphicFramePr>
        <p:xfrm>
          <a:off x="785813" y="1785938"/>
          <a:ext cx="3408362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4" name="公式" r:id="rId3" imgW="2413000" imgH="965200" progId="Equation.3">
                  <p:embed/>
                </p:oleObj>
              </mc:Choice>
              <mc:Fallback>
                <p:oleObj name="公式" r:id="rId3" imgW="2413000" imgH="965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785938"/>
                        <a:ext cx="3408362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6" name="Object 3"/>
          <p:cNvGraphicFramePr>
            <a:graphicFrameLocks noChangeAspect="1"/>
          </p:cNvGraphicFramePr>
          <p:nvPr/>
        </p:nvGraphicFramePr>
        <p:xfrm>
          <a:off x="785813" y="3286125"/>
          <a:ext cx="3514725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5" name="公式" r:id="rId5" imgW="2463800" imgH="965200" progId="Equation.3">
                  <p:embed/>
                </p:oleObj>
              </mc:Choice>
              <mc:Fallback>
                <p:oleObj name="公式" r:id="rId5" imgW="2463800" imgH="965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286125"/>
                        <a:ext cx="3514725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8" name="Object 5"/>
          <p:cNvGraphicFramePr>
            <a:graphicFrameLocks noChangeAspect="1"/>
          </p:cNvGraphicFramePr>
          <p:nvPr/>
        </p:nvGraphicFramePr>
        <p:xfrm>
          <a:off x="714375" y="4857750"/>
          <a:ext cx="359410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6" name="公式" r:id="rId7" imgW="2463800" imgH="965200" progId="Equation.3">
                  <p:embed/>
                </p:oleObj>
              </mc:Choice>
              <mc:Fallback>
                <p:oleObj name="公式" r:id="rId7" imgW="2463800" imgH="965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4857750"/>
                        <a:ext cx="3594100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457200" y="642938"/>
            <a:ext cx="8229600" cy="4786312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5. (15%)</a:t>
            </a:r>
            <a:r>
              <a:rPr lang="zh-CN" altLang="en-US" dirty="0" smtClean="0"/>
              <a:t>给定方程组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Ax=b</a:t>
            </a:r>
            <a:r>
              <a:rPr lang="en-US" altLang="zh-CN" dirty="0" smtClean="0"/>
              <a:t>,</a:t>
            </a:r>
            <a:r>
              <a:rPr lang="zh-CN" altLang="en-US" dirty="0" smtClean="0"/>
              <a:t>其中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用迭代公式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求解，问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 smtClean="0"/>
              <a:t>取何实数可使迭代收敛？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zh-CN" altLang="en-US" dirty="0" smtClean="0"/>
              <a:t>为何值时迭代收敛最快？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 smtClean="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48" name="Object 1"/>
          <p:cNvGraphicFramePr>
            <a:graphicFrameLocks noChangeAspect="1"/>
          </p:cNvGraphicFramePr>
          <p:nvPr/>
        </p:nvGraphicFramePr>
        <p:xfrm>
          <a:off x="1571625" y="1357313"/>
          <a:ext cx="153035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2" name="公式" r:id="rId3" imgW="723586" imgH="457002" progId="Equation.3">
                  <p:embed/>
                </p:oleObj>
              </mc:Choice>
              <mc:Fallback>
                <p:oleObj name="公式" r:id="rId3" imgW="723586" imgH="45700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357313"/>
                        <a:ext cx="153035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4500563" y="1214438"/>
          <a:ext cx="12557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3" name="公式" r:id="rId5" imgW="571500" imgH="457200" progId="Equation.3">
                  <p:embed/>
                </p:oleObj>
              </mc:Choice>
              <mc:Fallback>
                <p:oleObj name="公式" r:id="rId5" imgW="571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214438"/>
                        <a:ext cx="125571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52" name="Object 5"/>
          <p:cNvGraphicFramePr>
            <a:graphicFrameLocks noChangeAspect="1"/>
          </p:cNvGraphicFramePr>
          <p:nvPr/>
        </p:nvGraphicFramePr>
        <p:xfrm>
          <a:off x="1214438" y="3000375"/>
          <a:ext cx="60642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4" name="公式" r:id="rId7" imgW="2387600" imgH="228600" progId="Equation.3">
                  <p:embed/>
                </p:oleObj>
              </mc:Choice>
              <mc:Fallback>
                <p:oleObj name="公式" r:id="rId7" imgW="2387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3000375"/>
                        <a:ext cx="60642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图片 3" descr="5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200025"/>
            <a:ext cx="8505825" cy="64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AFED-1267-4652-AD57-763B2C359E2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6. (10%)</a:t>
            </a:r>
            <a:r>
              <a:rPr lang="zh-CN" altLang="en-US" smtClean="0"/>
              <a:t>利用适当的迭代格式证明</a:t>
            </a:r>
          </a:p>
        </p:txBody>
      </p:sp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821" name="Object 1"/>
          <p:cNvGraphicFramePr>
            <a:graphicFrameLocks noChangeAspect="1"/>
          </p:cNvGraphicFramePr>
          <p:nvPr/>
        </p:nvGraphicFramePr>
        <p:xfrm>
          <a:off x="2692400" y="1643063"/>
          <a:ext cx="38798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" name="公式" r:id="rId3" imgW="1739900" imgH="482600" progId="Equation.3">
                  <p:embed/>
                </p:oleObj>
              </mc:Choice>
              <mc:Fallback>
                <p:oleObj name="公式" r:id="rId3" imgW="17399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1643063"/>
                        <a:ext cx="3879850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3" descr="6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828675"/>
            <a:ext cx="8258175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AFED-1267-4652-AD57-763B2C359E2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2357438"/>
          </a:xfrm>
        </p:spPr>
        <p:txBody>
          <a:bodyPr/>
          <a:lstStyle/>
          <a:p>
            <a:pPr eaLnBrk="1" hangingPunct="1"/>
            <a:r>
              <a:rPr lang="en-US" altLang="zh-CN" smtClean="0"/>
              <a:t>7. (10%)</a:t>
            </a:r>
            <a:r>
              <a:rPr lang="zh-CN" altLang="en-US" smtClean="0"/>
              <a:t>计算           ，取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zh-CN" altLang="en-US" smtClean="0"/>
              <a:t>分析下述两种运算各具有几位有效数字。</a:t>
            </a: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869" name="Object 1"/>
          <p:cNvGraphicFramePr>
            <a:graphicFrameLocks noChangeAspect="1"/>
          </p:cNvGraphicFramePr>
          <p:nvPr/>
        </p:nvGraphicFramePr>
        <p:xfrm>
          <a:off x="3276600" y="495300"/>
          <a:ext cx="1603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0" r:id="rId3" imgW="774364" imgH="241195" progId="Equation.DSMT4">
                  <p:embed/>
                </p:oleObj>
              </mc:Choice>
              <mc:Fallback>
                <p:oleObj r:id="rId3" imgW="774364" imgH="24119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95300"/>
                        <a:ext cx="16033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871" name="Object 3"/>
          <p:cNvGraphicFramePr>
            <a:graphicFrameLocks noChangeAspect="1"/>
          </p:cNvGraphicFramePr>
          <p:nvPr/>
        </p:nvGraphicFramePr>
        <p:xfrm>
          <a:off x="5867400" y="533400"/>
          <a:ext cx="19780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1" r:id="rId5" imgW="876300" imgH="228600" progId="Equation.DSMT4">
                  <p:embed/>
                </p:oleObj>
              </mc:Choice>
              <mc:Fallback>
                <p:oleObj r:id="rId5" imgW="876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33400"/>
                        <a:ext cx="19780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873" name="Object 5"/>
          <p:cNvGraphicFramePr>
            <a:graphicFrameLocks noChangeAspect="1"/>
          </p:cNvGraphicFramePr>
          <p:nvPr/>
        </p:nvGraphicFramePr>
        <p:xfrm>
          <a:off x="571500" y="2428875"/>
          <a:ext cx="770572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r:id="rId7" imgW="3098800" imgH="241300" progId="Equation.DSMT4">
                  <p:embed/>
                </p:oleObj>
              </mc:Choice>
              <mc:Fallback>
                <p:oleObj r:id="rId7" imgW="30988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428875"/>
                        <a:ext cx="770572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875" name="Object 7"/>
          <p:cNvGraphicFramePr>
            <a:graphicFrameLocks noChangeAspect="1"/>
          </p:cNvGraphicFramePr>
          <p:nvPr/>
        </p:nvGraphicFramePr>
        <p:xfrm>
          <a:off x="642938" y="3071813"/>
          <a:ext cx="75644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3" r:id="rId9" imgW="3149600" imgH="431800" progId="Equation.DSMT4">
                  <p:embed/>
                </p:oleObj>
              </mc:Choice>
              <mc:Fallback>
                <p:oleObj r:id="rId9" imgW="31496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071813"/>
                        <a:ext cx="756443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eaLnBrk="1" hangingPunct="1"/>
            <a:r>
              <a:rPr lang="en-US" altLang="zh-CN" sz="3400" smtClean="0"/>
              <a:t>1. </a:t>
            </a:r>
            <a:r>
              <a:rPr lang="zh-CN" altLang="en-US" sz="3400" smtClean="0"/>
              <a:t>若</a:t>
            </a:r>
            <a:r>
              <a:rPr lang="en-US" altLang="zh-CN" sz="3400" b="1" i="1" smtClean="0">
                <a:latin typeface="Times New Roman" pitchFamily="18" charset="0"/>
              </a:rPr>
              <a:t>f(x)=a</a:t>
            </a:r>
            <a:r>
              <a:rPr lang="en-US" altLang="zh-CN" sz="3400" b="1" i="1" baseline="-25000" smtClean="0">
                <a:latin typeface="Times New Roman" pitchFamily="18" charset="0"/>
              </a:rPr>
              <a:t>0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</a:t>
            </a:r>
            <a:r>
              <a:rPr lang="en-US" altLang="zh-CN" sz="3400" b="1" i="1" smtClean="0">
                <a:latin typeface="Times New Roman" pitchFamily="18" charset="0"/>
              </a:rPr>
              <a:t>+a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+…+a</a:t>
            </a:r>
            <a:r>
              <a:rPr lang="en-US" altLang="zh-CN" sz="3400" b="1" i="1" baseline="-25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x+a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有互不相同的</a:t>
            </a:r>
            <a:r>
              <a:rPr lang="en-US" altLang="zh-CN" sz="3400" b="1" i="1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个实根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, x</a:t>
            </a:r>
            <a:r>
              <a:rPr lang="en-US" altLang="zh-CN" sz="3400" b="1" i="1" baseline="-25000" smtClean="0">
                <a:latin typeface="Times New Roman" pitchFamily="18" charset="0"/>
              </a:rPr>
              <a:t>2</a:t>
            </a:r>
            <a:r>
              <a:rPr lang="en-US" altLang="zh-CN" sz="3400" b="1" i="1" smtClean="0">
                <a:latin typeface="Times New Roman" pitchFamily="18" charset="0"/>
              </a:rPr>
              <a:t>, …, x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en-US" altLang="zh-CN" sz="3400" smtClean="0"/>
              <a:t>. </a:t>
            </a:r>
            <a:r>
              <a:rPr lang="zh-CN" altLang="en-US" sz="3400" smtClean="0"/>
              <a:t>试证明： 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3" name="Rectangle 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2057400" y="1600200"/>
          <a:ext cx="5181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0" r:id="rId3" imgW="1854200" imgH="482600" progId="Equation.DSMT4">
                  <p:embed/>
                </p:oleObj>
              </mc:Choice>
              <mc:Fallback>
                <p:oleObj r:id="rId3" imgW="1854200" imgH="482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51816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124200"/>
            <a:ext cx="8839200" cy="3581400"/>
          </a:xfrm>
          <a:noFill/>
          <a:ln w="25400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由</a:t>
            </a:r>
            <a:r>
              <a:rPr lang="en-US" altLang="zh-CN" b="1" i="1" smtClean="0">
                <a:latin typeface="Times New Roman" pitchFamily="18" charset="0"/>
              </a:rPr>
              <a:t>x</a:t>
            </a:r>
            <a:r>
              <a:rPr lang="en-US" altLang="zh-CN" b="1" i="1" baseline="-25000" smtClean="0">
                <a:latin typeface="Times New Roman" pitchFamily="18" charset="0"/>
              </a:rPr>
              <a:t>1</a:t>
            </a:r>
            <a:r>
              <a:rPr lang="en-US" altLang="zh-CN" b="1" i="1" smtClean="0">
                <a:latin typeface="Times New Roman" pitchFamily="18" charset="0"/>
              </a:rPr>
              <a:t>, x</a:t>
            </a:r>
            <a:r>
              <a:rPr lang="en-US" altLang="zh-CN" b="1" i="1" baseline="-25000" smtClean="0">
                <a:latin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</a:rPr>
              <a:t>, …, x</a:t>
            </a:r>
            <a:r>
              <a:rPr lang="en-US" altLang="zh-CN" b="1" i="1" baseline="-25000" smtClean="0">
                <a:latin typeface="Times New Roman" pitchFamily="18" charset="0"/>
              </a:rPr>
              <a:t>n</a:t>
            </a:r>
            <a:r>
              <a:rPr lang="zh-CN" altLang="en-US" smtClean="0">
                <a:latin typeface="Times New Roman" pitchFamily="18" charset="0"/>
              </a:rPr>
              <a:t>是</a:t>
            </a:r>
            <a:r>
              <a:rPr lang="en-US" altLang="zh-CN" b="1" i="1" smtClean="0">
                <a:latin typeface="Times New Roman" pitchFamily="18" charset="0"/>
              </a:rPr>
              <a:t>f(x)</a:t>
            </a:r>
            <a:r>
              <a:rPr lang="zh-CN" altLang="en-US" smtClean="0">
                <a:latin typeface="Times New Roman" pitchFamily="18" charset="0"/>
              </a:rPr>
              <a:t>的</a:t>
            </a:r>
            <a:r>
              <a:rPr lang="en-US" altLang="zh-CN" b="1" i="1" smtClean="0">
                <a:latin typeface="Times New Roman" pitchFamily="18" charset="0"/>
              </a:rPr>
              <a:t>n</a:t>
            </a:r>
            <a:r>
              <a:rPr lang="zh-CN" altLang="en-US" smtClean="0">
                <a:latin typeface="Times New Roman" pitchFamily="18" charset="0"/>
              </a:rPr>
              <a:t>个</a:t>
            </a:r>
            <a:r>
              <a:rPr lang="zh-CN" altLang="en-US" smtClean="0">
                <a:solidFill>
                  <a:schemeClr val="folHlink"/>
                </a:solidFill>
                <a:latin typeface="Times New Roman" pitchFamily="18" charset="0"/>
              </a:rPr>
              <a:t>实根</a:t>
            </a:r>
            <a:r>
              <a:rPr lang="zh-CN" altLang="en-US" smtClean="0">
                <a:latin typeface="Times New Roman" pitchFamily="18" charset="0"/>
              </a:rPr>
              <a:t>，和</a:t>
            </a:r>
            <a:r>
              <a:rPr lang="en-US" altLang="zh-CN" b="1" i="1" smtClean="0">
                <a:latin typeface="Times New Roman" pitchFamily="18" charset="0"/>
              </a:rPr>
              <a:t>f(x)</a:t>
            </a:r>
            <a:r>
              <a:rPr lang="zh-CN" altLang="en-US" smtClean="0">
                <a:latin typeface="Times New Roman" pitchFamily="18" charset="0"/>
              </a:rPr>
              <a:t>中最高次项</a:t>
            </a:r>
            <a:r>
              <a:rPr lang="en-US" altLang="zh-CN" b="1" i="1" smtClean="0">
                <a:latin typeface="Times New Roman" pitchFamily="18" charset="0"/>
              </a:rPr>
              <a:t>x</a:t>
            </a:r>
            <a:r>
              <a:rPr lang="en-US" altLang="zh-CN" b="1" i="1" baseline="30000" smtClean="0">
                <a:latin typeface="Times New Roman" pitchFamily="18" charset="0"/>
              </a:rPr>
              <a:t>n</a:t>
            </a:r>
            <a:r>
              <a:rPr lang="zh-CN" altLang="en-US" smtClean="0">
                <a:latin typeface="Times New Roman" pitchFamily="18" charset="0"/>
              </a:rPr>
              <a:t>的系数为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a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0</a:t>
            </a:r>
            <a:r>
              <a:rPr lang="zh-CN" altLang="en-US" smtClean="0">
                <a:latin typeface="Times New Roman" pitchFamily="18" charset="0"/>
              </a:rPr>
              <a:t>可得：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b="1" i="1" smtClean="0">
                <a:latin typeface="Times New Roman" pitchFamily="18" charset="0"/>
              </a:rPr>
              <a:t>f(x)=a</a:t>
            </a:r>
            <a:r>
              <a:rPr lang="en-US" altLang="zh-CN" b="1" i="1" baseline="-25000" smtClean="0">
                <a:latin typeface="Times New Roman" pitchFamily="18" charset="0"/>
              </a:rPr>
              <a:t>0</a:t>
            </a:r>
            <a:r>
              <a:rPr lang="en-US" altLang="zh-CN" b="1" i="1" smtClean="0">
                <a:latin typeface="Times New Roman" pitchFamily="18" charset="0"/>
              </a:rPr>
              <a:t>(x-x</a:t>
            </a:r>
            <a:r>
              <a:rPr lang="en-US" altLang="zh-CN" b="1" i="1" baseline="-25000" smtClean="0">
                <a:latin typeface="Times New Roman" pitchFamily="18" charset="0"/>
              </a:rPr>
              <a:t>1</a:t>
            </a:r>
            <a:r>
              <a:rPr lang="en-US" altLang="zh-CN" b="1" i="1" smtClean="0">
                <a:latin typeface="Times New Roman" pitchFamily="18" charset="0"/>
              </a:rPr>
              <a:t>)(x-x</a:t>
            </a:r>
            <a:r>
              <a:rPr lang="en-US" altLang="zh-CN" b="1" i="1" baseline="-25000" smtClean="0">
                <a:latin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</a:rPr>
              <a:t>)…(x-x</a:t>
            </a:r>
            <a:r>
              <a:rPr lang="en-US" altLang="zh-CN" b="1" i="1" baseline="-25000" smtClean="0">
                <a:latin typeface="Times New Roman" pitchFamily="18" charset="0"/>
              </a:rPr>
              <a:t>n</a:t>
            </a:r>
            <a:r>
              <a:rPr lang="en-US" altLang="zh-CN" b="1" i="1" smtClean="0">
                <a:latin typeface="Times New Roman" pitchFamily="18" charset="0"/>
              </a:rPr>
              <a:t>)</a:t>
            </a:r>
            <a:endParaRPr lang="en-US" altLang="zh-CN" smtClean="0">
              <a:latin typeface="Times New Roman" pitchFamily="18" charset="0"/>
            </a:endParaRPr>
          </a:p>
          <a:p>
            <a:pPr eaLnBrk="1" hangingPunct="1"/>
            <a:r>
              <a:rPr lang="zh-CN" altLang="en-US" smtClean="0">
                <a:latin typeface="Times New Roman" pitchFamily="18" charset="0"/>
              </a:rPr>
              <a:t>根据</a:t>
            </a:r>
            <a:r>
              <a:rPr lang="zh-CN" altLang="en-US" smtClean="0">
                <a:solidFill>
                  <a:schemeClr val="folHlink"/>
                </a:solidFill>
                <a:latin typeface="Times New Roman" pitchFamily="18" charset="0"/>
              </a:rPr>
              <a:t>乘积求导公式</a:t>
            </a:r>
            <a:r>
              <a:rPr lang="zh-CN" altLang="en-US" smtClean="0">
                <a:latin typeface="Times New Roman" pitchFamily="18" charset="0"/>
              </a:rPr>
              <a:t>可得，在点</a:t>
            </a:r>
            <a:r>
              <a:rPr lang="en-US" altLang="zh-CN" b="1" i="1" smtClean="0">
                <a:latin typeface="Times New Roman" pitchFamily="18" charset="0"/>
              </a:rPr>
              <a:t>x</a:t>
            </a:r>
            <a:r>
              <a:rPr lang="en-US" altLang="zh-CN" b="1" i="1" baseline="-25000" smtClean="0">
                <a:latin typeface="Times New Roman" pitchFamily="18" charset="0"/>
              </a:rPr>
              <a:t>j</a:t>
            </a:r>
            <a:r>
              <a:rPr lang="zh-CN" altLang="en-US" smtClean="0">
                <a:latin typeface="Times New Roman" pitchFamily="18" charset="0"/>
              </a:rPr>
              <a:t>处的导数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b="1" i="1" smtClean="0">
                <a:latin typeface="Times New Roman" pitchFamily="18" charset="0"/>
              </a:rPr>
              <a:t>f’(x)=…+a</a:t>
            </a:r>
            <a:r>
              <a:rPr lang="en-US" altLang="zh-CN" b="1" i="1" baseline="-25000" smtClean="0">
                <a:latin typeface="Times New Roman" pitchFamily="18" charset="0"/>
              </a:rPr>
              <a:t>0</a:t>
            </a:r>
            <a:r>
              <a:rPr lang="en-US" altLang="zh-CN" b="1" i="1" smtClean="0">
                <a:latin typeface="Times New Roman" pitchFamily="18" charset="0"/>
              </a:rPr>
              <a:t>(x-x</a:t>
            </a:r>
            <a:r>
              <a:rPr lang="en-US" altLang="zh-CN" b="1" i="1" baseline="-25000" smtClean="0">
                <a:latin typeface="Times New Roman" pitchFamily="18" charset="0"/>
              </a:rPr>
              <a:t>1</a:t>
            </a:r>
            <a:r>
              <a:rPr lang="en-US" altLang="zh-CN" b="1" i="1" smtClean="0">
                <a:latin typeface="Times New Roman" pitchFamily="18" charset="0"/>
              </a:rPr>
              <a:t>)(x-x</a:t>
            </a:r>
            <a:r>
              <a:rPr lang="en-US" altLang="zh-CN" b="1" i="1" baseline="-25000" smtClean="0">
                <a:latin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</a:rPr>
              <a:t>)…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(x-x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j-1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) (x-x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j+1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)</a:t>
            </a:r>
            <a:r>
              <a:rPr lang="en-US" altLang="zh-CN" b="1" i="1" smtClean="0">
                <a:latin typeface="Times New Roman" pitchFamily="18" charset="0"/>
              </a:rPr>
              <a:t>…(x-x</a:t>
            </a:r>
            <a:r>
              <a:rPr lang="en-US" altLang="zh-CN" b="1" i="1" baseline="-25000" smtClean="0">
                <a:latin typeface="Times New Roman" pitchFamily="18" charset="0"/>
              </a:rPr>
              <a:t>n</a:t>
            </a:r>
            <a:r>
              <a:rPr lang="en-US" altLang="zh-CN" b="1" i="1" smtClean="0">
                <a:latin typeface="Times New Roman" pitchFamily="18" charset="0"/>
              </a:rPr>
              <a:t>)+…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b="1" i="1" smtClean="0"/>
              <a:t>→ </a:t>
            </a:r>
            <a:r>
              <a:rPr lang="en-US" altLang="zh-CN" b="1" i="1" smtClean="0">
                <a:latin typeface="Times New Roman" pitchFamily="18" charset="0"/>
              </a:rPr>
              <a:t>f’(x</a:t>
            </a:r>
            <a:r>
              <a:rPr lang="en-US" altLang="zh-CN" b="1" i="1" baseline="-25000" smtClean="0">
                <a:latin typeface="Times New Roman" pitchFamily="18" charset="0"/>
              </a:rPr>
              <a:t>j</a:t>
            </a:r>
            <a:r>
              <a:rPr lang="en-US" altLang="zh-CN" b="1" i="1" smtClean="0">
                <a:latin typeface="Times New Roman" pitchFamily="18" charset="0"/>
              </a:rPr>
              <a:t>)=a</a:t>
            </a:r>
            <a:r>
              <a:rPr lang="en-US" altLang="zh-CN" b="1" i="1" baseline="-25000" smtClean="0">
                <a:latin typeface="Times New Roman" pitchFamily="18" charset="0"/>
              </a:rPr>
              <a:t>0</a:t>
            </a:r>
            <a:r>
              <a:rPr lang="en-US" altLang="zh-CN" b="1" i="1" smtClean="0">
                <a:latin typeface="Times New Roman" pitchFamily="18" charset="0"/>
              </a:rPr>
              <a:t>(x</a:t>
            </a:r>
            <a:r>
              <a:rPr lang="en-US" altLang="zh-CN" b="1" i="1" baseline="-25000" smtClean="0">
                <a:latin typeface="Times New Roman" pitchFamily="18" charset="0"/>
              </a:rPr>
              <a:t>j</a:t>
            </a:r>
            <a:r>
              <a:rPr lang="en-US" altLang="zh-CN" b="1" i="1" smtClean="0">
                <a:latin typeface="Times New Roman" pitchFamily="18" charset="0"/>
              </a:rPr>
              <a:t>-x</a:t>
            </a:r>
            <a:r>
              <a:rPr lang="en-US" altLang="zh-CN" b="1" i="1" baseline="-25000" smtClean="0">
                <a:latin typeface="Times New Roman" pitchFamily="18" charset="0"/>
              </a:rPr>
              <a:t>1</a:t>
            </a:r>
            <a:r>
              <a:rPr lang="en-US" altLang="zh-CN" b="1" i="1" smtClean="0">
                <a:latin typeface="Times New Roman" pitchFamily="18" charset="0"/>
              </a:rPr>
              <a:t>)(x</a:t>
            </a:r>
            <a:r>
              <a:rPr lang="en-US" altLang="zh-CN" b="1" i="1" baseline="-25000" smtClean="0">
                <a:latin typeface="Times New Roman" pitchFamily="18" charset="0"/>
              </a:rPr>
              <a:t>j</a:t>
            </a:r>
            <a:r>
              <a:rPr lang="en-US" altLang="zh-CN" b="1" i="1" smtClean="0">
                <a:latin typeface="Times New Roman" pitchFamily="18" charset="0"/>
              </a:rPr>
              <a:t>-x</a:t>
            </a:r>
            <a:r>
              <a:rPr lang="en-US" altLang="zh-CN" b="1" i="1" baseline="-25000" smtClean="0">
                <a:latin typeface="Times New Roman" pitchFamily="18" charset="0"/>
              </a:rPr>
              <a:t>2</a:t>
            </a:r>
            <a:r>
              <a:rPr lang="en-US" altLang="zh-CN" b="1" i="1" smtClean="0">
                <a:latin typeface="Times New Roman" pitchFamily="18" charset="0"/>
              </a:rPr>
              <a:t>)…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(x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-x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j-1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) (x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-x</a:t>
            </a:r>
            <a:r>
              <a:rPr lang="en-US" altLang="zh-CN" b="1" i="1" baseline="-25000" smtClean="0">
                <a:solidFill>
                  <a:schemeClr val="folHlink"/>
                </a:solidFill>
                <a:latin typeface="Times New Roman" pitchFamily="18" charset="0"/>
              </a:rPr>
              <a:t>j+1</a:t>
            </a:r>
            <a:r>
              <a:rPr lang="en-US" altLang="zh-CN" b="1" i="1" smtClean="0">
                <a:solidFill>
                  <a:schemeClr val="folHlink"/>
                </a:solidFill>
                <a:latin typeface="Times New Roman" pitchFamily="18" charset="0"/>
              </a:rPr>
              <a:t>)</a:t>
            </a:r>
            <a:r>
              <a:rPr lang="en-US" altLang="zh-CN" b="1" i="1" smtClean="0">
                <a:latin typeface="Times New Roman" pitchFamily="18" charset="0"/>
              </a:rPr>
              <a:t>…(x-x</a:t>
            </a:r>
            <a:r>
              <a:rPr lang="en-US" altLang="zh-CN" b="1" i="1" baseline="-25000" smtClean="0">
                <a:latin typeface="Times New Roman" pitchFamily="18" charset="0"/>
              </a:rPr>
              <a:t>n</a:t>
            </a:r>
            <a:r>
              <a:rPr lang="en-US" altLang="zh-CN" b="1" i="1" smtClean="0">
                <a:latin typeface="Times New Roman" pitchFamily="18" charset="0"/>
              </a:rPr>
              <a:t>)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noFill/>
        </p:spPr>
        <p:txBody>
          <a:bodyPr/>
          <a:lstStyle/>
          <a:p>
            <a:pPr eaLnBrk="1" hangingPunct="1"/>
            <a:r>
              <a:rPr lang="en-US" altLang="zh-CN" sz="3400" smtClean="0"/>
              <a:t>1. </a:t>
            </a:r>
            <a:r>
              <a:rPr lang="zh-CN" altLang="en-US" sz="3400" smtClean="0"/>
              <a:t>若</a:t>
            </a:r>
            <a:r>
              <a:rPr lang="en-US" altLang="zh-CN" sz="3400" b="1" i="1" smtClean="0">
                <a:latin typeface="Times New Roman" pitchFamily="18" charset="0"/>
              </a:rPr>
              <a:t>f(x)=a</a:t>
            </a:r>
            <a:r>
              <a:rPr lang="en-US" altLang="zh-CN" sz="3400" b="1" i="1" baseline="-25000" smtClean="0">
                <a:latin typeface="Times New Roman" pitchFamily="18" charset="0"/>
              </a:rPr>
              <a:t>0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</a:t>
            </a:r>
            <a:r>
              <a:rPr lang="en-US" altLang="zh-CN" sz="3400" b="1" i="1" smtClean="0">
                <a:latin typeface="Times New Roman" pitchFamily="18" charset="0"/>
              </a:rPr>
              <a:t>+a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+…+a</a:t>
            </a:r>
            <a:r>
              <a:rPr lang="en-US" altLang="zh-CN" sz="3400" b="1" i="1" baseline="-25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x+a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有互不相同的</a:t>
            </a:r>
            <a:r>
              <a:rPr lang="en-US" altLang="zh-CN" sz="3400" b="1" i="1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个实根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, x</a:t>
            </a:r>
            <a:r>
              <a:rPr lang="en-US" altLang="zh-CN" sz="3400" b="1" i="1" baseline="-25000" smtClean="0">
                <a:latin typeface="Times New Roman" pitchFamily="18" charset="0"/>
              </a:rPr>
              <a:t>2</a:t>
            </a:r>
            <a:r>
              <a:rPr lang="en-US" altLang="zh-CN" sz="3400" b="1" i="1" smtClean="0">
                <a:latin typeface="Times New Roman" pitchFamily="18" charset="0"/>
              </a:rPr>
              <a:t>, …, x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en-US" altLang="zh-CN" sz="3400" smtClean="0"/>
              <a:t>. </a:t>
            </a:r>
            <a:r>
              <a:rPr lang="zh-CN" altLang="en-US" sz="3400" smtClean="0"/>
              <a:t>试证明： </a:t>
            </a:r>
          </a:p>
        </p:txBody>
      </p:sp>
      <p:graphicFrame>
        <p:nvGraphicFramePr>
          <p:cNvPr id="44036" name="Object 6"/>
          <p:cNvGraphicFramePr>
            <a:graphicFrameLocks noChangeAspect="1"/>
          </p:cNvGraphicFramePr>
          <p:nvPr/>
        </p:nvGraphicFramePr>
        <p:xfrm>
          <a:off x="2057400" y="1600200"/>
          <a:ext cx="5181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2" r:id="rId3" imgW="1854200" imgH="482600" progId="Equation.DSMT4">
                  <p:embed/>
                </p:oleObj>
              </mc:Choice>
              <mc:Fallback>
                <p:oleObj r:id="rId3" imgW="1854200" imgH="482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51816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400" smtClean="0"/>
              <a:t>1. </a:t>
            </a:r>
            <a:r>
              <a:rPr lang="zh-CN" altLang="en-US" sz="3400" smtClean="0"/>
              <a:t>若</a:t>
            </a:r>
            <a:r>
              <a:rPr lang="en-US" altLang="zh-CN" sz="3400" b="1" i="1" smtClean="0">
                <a:latin typeface="Times New Roman" pitchFamily="18" charset="0"/>
              </a:rPr>
              <a:t>f(x)=a</a:t>
            </a:r>
            <a:r>
              <a:rPr lang="en-US" altLang="zh-CN" sz="3400" b="1" i="1" baseline="-25000" smtClean="0">
                <a:latin typeface="Times New Roman" pitchFamily="18" charset="0"/>
              </a:rPr>
              <a:t>0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</a:t>
            </a:r>
            <a:r>
              <a:rPr lang="en-US" altLang="zh-CN" sz="3400" b="1" i="1" smtClean="0">
                <a:latin typeface="Times New Roman" pitchFamily="18" charset="0"/>
              </a:rPr>
              <a:t>+a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+…+a</a:t>
            </a:r>
            <a:r>
              <a:rPr lang="en-US" altLang="zh-CN" sz="3400" b="1" i="1" baseline="-25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x+a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有互不相同的</a:t>
            </a:r>
            <a:r>
              <a:rPr lang="en-US" altLang="zh-CN" sz="3400" b="1" i="1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个实根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, x</a:t>
            </a:r>
            <a:r>
              <a:rPr lang="en-US" altLang="zh-CN" sz="3400" b="1" i="1" baseline="-25000" smtClean="0">
                <a:latin typeface="Times New Roman" pitchFamily="18" charset="0"/>
              </a:rPr>
              <a:t>2</a:t>
            </a:r>
            <a:r>
              <a:rPr lang="en-US" altLang="zh-CN" sz="3400" b="1" i="1" smtClean="0">
                <a:latin typeface="Times New Roman" pitchFamily="18" charset="0"/>
              </a:rPr>
              <a:t>, …, x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en-US" altLang="zh-CN" sz="3400" smtClean="0"/>
              <a:t>. </a:t>
            </a:r>
            <a:r>
              <a:rPr lang="zh-CN" altLang="en-US" sz="3400" smtClean="0"/>
              <a:t>试证明： 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2057400" y="1524000"/>
          <a:ext cx="5181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9" r:id="rId3" imgW="1854200" imgH="482600" progId="Equation.DSMT4">
                  <p:embed/>
                </p:oleObj>
              </mc:Choice>
              <mc:Fallback>
                <p:oleObj r:id="rId3" imgW="18542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524000"/>
                        <a:ext cx="51816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533400" y="3048000"/>
          <a:ext cx="8077200" cy="334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0" name="公式" r:id="rId5" imgW="3619500" imgH="1498600" progId="Equation.3">
                  <p:embed/>
                </p:oleObj>
              </mc:Choice>
              <mc:Fallback>
                <p:oleObj name="公式" r:id="rId5" imgW="3619500" imgH="149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8077200" cy="334486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1371600" y="5638800"/>
            <a:ext cx="7162800" cy="914400"/>
          </a:xfrm>
          <a:prstGeom prst="ellipse">
            <a:avLst/>
          </a:prstGeom>
          <a:noFill/>
          <a:ln w="28575" algn="ctr">
            <a:pattFill prst="sphere">
              <a:fgClr>
                <a:srgbClr val="FF0000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7F2604-6F23-4C16-BA5D-F2CDC3C26BF0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400" smtClean="0"/>
              <a:t>1. </a:t>
            </a:r>
            <a:r>
              <a:rPr lang="zh-CN" altLang="en-US" sz="3400" smtClean="0"/>
              <a:t>若</a:t>
            </a:r>
            <a:r>
              <a:rPr lang="en-US" altLang="zh-CN" sz="3400" b="1" i="1" smtClean="0">
                <a:latin typeface="Times New Roman" pitchFamily="18" charset="0"/>
              </a:rPr>
              <a:t>f(x)=a</a:t>
            </a:r>
            <a:r>
              <a:rPr lang="en-US" altLang="zh-CN" sz="3400" b="1" i="1" baseline="-25000" smtClean="0">
                <a:latin typeface="Times New Roman" pitchFamily="18" charset="0"/>
              </a:rPr>
              <a:t>0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</a:t>
            </a:r>
            <a:r>
              <a:rPr lang="en-US" altLang="zh-CN" sz="3400" b="1" i="1" smtClean="0">
                <a:latin typeface="Times New Roman" pitchFamily="18" charset="0"/>
              </a:rPr>
              <a:t>+a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+…+a</a:t>
            </a:r>
            <a:r>
              <a:rPr lang="en-US" altLang="zh-CN" sz="3400" b="1" i="1" baseline="-25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x+a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有互不相同的</a:t>
            </a:r>
            <a:r>
              <a:rPr lang="en-US" altLang="zh-CN" sz="3400" b="1" i="1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个实根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, x</a:t>
            </a:r>
            <a:r>
              <a:rPr lang="en-US" altLang="zh-CN" sz="3400" b="1" i="1" baseline="-25000" smtClean="0">
                <a:latin typeface="Times New Roman" pitchFamily="18" charset="0"/>
              </a:rPr>
              <a:t>2</a:t>
            </a:r>
            <a:r>
              <a:rPr lang="en-US" altLang="zh-CN" sz="3400" b="1" i="1" smtClean="0">
                <a:latin typeface="Times New Roman" pitchFamily="18" charset="0"/>
              </a:rPr>
              <a:t>, …, x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en-US" altLang="zh-CN" sz="3400" smtClean="0"/>
              <a:t>. </a:t>
            </a:r>
            <a:r>
              <a:rPr lang="zh-CN" altLang="en-US" sz="3400" smtClean="0"/>
              <a:t>试证明： </a:t>
            </a:r>
          </a:p>
        </p:txBody>
      </p:sp>
      <p:graphicFrame>
        <p:nvGraphicFramePr>
          <p:cNvPr id="47107" name="Object 4"/>
          <p:cNvGraphicFramePr>
            <a:graphicFrameLocks noChangeAspect="1"/>
          </p:cNvGraphicFramePr>
          <p:nvPr/>
        </p:nvGraphicFramePr>
        <p:xfrm>
          <a:off x="2057400" y="1600200"/>
          <a:ext cx="5181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0" r:id="rId3" imgW="1854200" imgH="482600" progId="Equation.DSMT4">
                  <p:embed/>
                </p:oleObj>
              </mc:Choice>
              <mc:Fallback>
                <p:oleObj r:id="rId3" imgW="18542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51816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3124200"/>
          <a:ext cx="6934200" cy="340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1" name="公式" r:id="rId5" imgW="3441700" imgH="1689100" progId="Equation.3">
                  <p:embed/>
                </p:oleObj>
              </mc:Choice>
              <mc:Fallback>
                <p:oleObj name="公式" r:id="rId5" imgW="3441700" imgH="168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124200"/>
                        <a:ext cx="6934200" cy="3403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1219200" y="5715000"/>
            <a:ext cx="6477000" cy="762000"/>
          </a:xfrm>
          <a:prstGeom prst="ellipse">
            <a:avLst/>
          </a:prstGeom>
          <a:noFill/>
          <a:ln w="28575" algn="ctr">
            <a:pattFill prst="sphere">
              <a:fgClr>
                <a:srgbClr val="FF0000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400" smtClean="0"/>
              <a:t>1. </a:t>
            </a:r>
            <a:r>
              <a:rPr lang="zh-CN" altLang="en-US" sz="3400" smtClean="0"/>
              <a:t>若</a:t>
            </a:r>
            <a:r>
              <a:rPr lang="en-US" altLang="zh-CN" sz="3400" b="1" i="1" smtClean="0">
                <a:latin typeface="Times New Roman" pitchFamily="18" charset="0"/>
              </a:rPr>
              <a:t>f(x)=a</a:t>
            </a:r>
            <a:r>
              <a:rPr lang="en-US" altLang="zh-CN" sz="3400" b="1" i="1" baseline="-25000" smtClean="0">
                <a:latin typeface="Times New Roman" pitchFamily="18" charset="0"/>
              </a:rPr>
              <a:t>0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</a:t>
            </a:r>
            <a:r>
              <a:rPr lang="en-US" altLang="zh-CN" sz="3400" b="1" i="1" smtClean="0">
                <a:latin typeface="Times New Roman" pitchFamily="18" charset="0"/>
              </a:rPr>
              <a:t>+a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30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+…+a</a:t>
            </a:r>
            <a:r>
              <a:rPr lang="en-US" altLang="zh-CN" sz="3400" b="1" i="1" baseline="-25000" smtClean="0">
                <a:latin typeface="Times New Roman" pitchFamily="18" charset="0"/>
              </a:rPr>
              <a:t>n-1</a:t>
            </a:r>
            <a:r>
              <a:rPr lang="en-US" altLang="zh-CN" sz="3400" b="1" i="1" smtClean="0">
                <a:latin typeface="Times New Roman" pitchFamily="18" charset="0"/>
              </a:rPr>
              <a:t>x+a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有互不相同的</a:t>
            </a:r>
            <a:r>
              <a:rPr lang="en-US" altLang="zh-CN" sz="3400" b="1" i="1" smtClean="0">
                <a:latin typeface="Times New Roman" pitchFamily="18" charset="0"/>
              </a:rPr>
              <a:t>n</a:t>
            </a:r>
            <a:r>
              <a:rPr lang="zh-CN" altLang="en-US" sz="3400" smtClean="0"/>
              <a:t>个实根</a:t>
            </a:r>
            <a:r>
              <a:rPr lang="en-US" altLang="zh-CN" sz="3400" b="1" i="1" smtClean="0">
                <a:latin typeface="Times New Roman" pitchFamily="18" charset="0"/>
              </a:rPr>
              <a:t>x</a:t>
            </a:r>
            <a:r>
              <a:rPr lang="en-US" altLang="zh-CN" sz="3400" b="1" i="1" baseline="-25000" smtClean="0">
                <a:latin typeface="Times New Roman" pitchFamily="18" charset="0"/>
              </a:rPr>
              <a:t>1</a:t>
            </a:r>
            <a:r>
              <a:rPr lang="en-US" altLang="zh-CN" sz="3400" b="1" i="1" smtClean="0">
                <a:latin typeface="Times New Roman" pitchFamily="18" charset="0"/>
              </a:rPr>
              <a:t>, x</a:t>
            </a:r>
            <a:r>
              <a:rPr lang="en-US" altLang="zh-CN" sz="3400" b="1" i="1" baseline="-25000" smtClean="0">
                <a:latin typeface="Times New Roman" pitchFamily="18" charset="0"/>
              </a:rPr>
              <a:t>2</a:t>
            </a:r>
            <a:r>
              <a:rPr lang="en-US" altLang="zh-CN" sz="3400" b="1" i="1" smtClean="0">
                <a:latin typeface="Times New Roman" pitchFamily="18" charset="0"/>
              </a:rPr>
              <a:t>, …, x</a:t>
            </a:r>
            <a:r>
              <a:rPr lang="en-US" altLang="zh-CN" sz="3400" b="1" i="1" baseline="-25000" smtClean="0">
                <a:latin typeface="Times New Roman" pitchFamily="18" charset="0"/>
              </a:rPr>
              <a:t>n</a:t>
            </a:r>
            <a:r>
              <a:rPr lang="en-US" altLang="zh-CN" sz="3400" smtClean="0"/>
              <a:t>. </a:t>
            </a:r>
            <a:r>
              <a:rPr lang="zh-CN" altLang="en-US" sz="3400" smtClean="0"/>
              <a:t>试证明： </a:t>
            </a:r>
          </a:p>
        </p:txBody>
      </p:sp>
      <p:graphicFrame>
        <p:nvGraphicFramePr>
          <p:cNvPr id="48131" name="Object 4"/>
          <p:cNvGraphicFramePr>
            <a:graphicFrameLocks noChangeAspect="1"/>
          </p:cNvGraphicFramePr>
          <p:nvPr/>
        </p:nvGraphicFramePr>
        <p:xfrm>
          <a:off x="2057400" y="1371600"/>
          <a:ext cx="51816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3" r:id="rId3" imgW="1854200" imgH="482600" progId="Equation.DSMT4">
                  <p:embed/>
                </p:oleObj>
              </mc:Choice>
              <mc:Fallback>
                <p:oleObj r:id="rId3" imgW="18542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51816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990600" y="2743200"/>
          <a:ext cx="7086600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4" name="公式" r:id="rId5" imgW="3746500" imgH="2133600" progId="Equation.3">
                  <p:embed/>
                </p:oleObj>
              </mc:Choice>
              <mc:Fallback>
                <p:oleObj name="公式" r:id="rId5" imgW="3746500" imgH="2133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43200"/>
                        <a:ext cx="7086600" cy="40354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304800" y="228600"/>
          <a:ext cx="8382000" cy="264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9" name="公式" r:id="rId3" imgW="4343400" imgH="1371600" progId="Equation.3">
                  <p:embed/>
                </p:oleObj>
              </mc:Choice>
              <mc:Fallback>
                <p:oleObj name="公式" r:id="rId3" imgW="434340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8382000" cy="264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895600"/>
            <a:ext cx="2743200" cy="609600"/>
          </a:xfrm>
        </p:spPr>
        <p:txBody>
          <a:bodyPr/>
          <a:lstStyle/>
          <a:p>
            <a:pPr eaLnBrk="1" hangingPunct="1"/>
            <a:r>
              <a:rPr lang="zh-CN" altLang="en-US" sz="2800" dirty="0" smtClean="0"/>
              <a:t>复习 </a:t>
            </a:r>
            <a:endParaRPr lang="en-US" altLang="zh-CN" sz="2800" b="1" dirty="0" smtClean="0">
              <a:solidFill>
                <a:schemeClr val="hlink"/>
              </a:solidFill>
            </a:endParaRPr>
          </a:p>
        </p:txBody>
      </p:sp>
      <p:graphicFrame>
        <p:nvGraphicFramePr>
          <p:cNvPr id="51204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838200" y="3429000"/>
          <a:ext cx="7620000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0" name="公式" r:id="rId5" imgW="3009900" imgH="1130300" progId="Equation.3">
                  <p:embed/>
                </p:oleObj>
              </mc:Choice>
              <mc:Fallback>
                <p:oleObj name="公式" r:id="rId5" imgW="3009900" imgH="1130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429000"/>
                        <a:ext cx="7620000" cy="286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3962400" y="60198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6" name="Rectangle 13"/>
          <p:cNvSpPr>
            <a:spLocks noChangeArrowheads="1"/>
          </p:cNvSpPr>
          <p:nvPr/>
        </p:nvSpPr>
        <p:spPr bwMode="auto">
          <a:xfrm>
            <a:off x="457200" y="2895600"/>
            <a:ext cx="8305800" cy="3733800"/>
          </a:xfrm>
          <a:prstGeom prst="rect">
            <a:avLst/>
          </a:prstGeom>
          <a:noFill/>
          <a:ln w="28575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342900" indent="-342900"/>
            <a:endParaRPr lang="zh-CN" altLang="zh-CN">
              <a:solidFill>
                <a:srgbClr val="9933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304800" y="228600"/>
          <a:ext cx="8382000" cy="264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4" name="公式" r:id="rId3" imgW="4343400" imgH="1371600" progId="Equation.3">
                  <p:embed/>
                </p:oleObj>
              </mc:Choice>
              <mc:Fallback>
                <p:oleObj name="公式" r:id="rId3" imgW="4343400" imgH="137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8382000" cy="264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895600"/>
            <a:ext cx="2743200" cy="609600"/>
          </a:xfrm>
        </p:spPr>
        <p:txBody>
          <a:bodyPr/>
          <a:lstStyle/>
          <a:p>
            <a:pPr eaLnBrk="1" hangingPunct="1"/>
            <a:r>
              <a:rPr lang="zh-CN" altLang="en-US" sz="2800" dirty="0" smtClean="0"/>
              <a:t>复习 </a:t>
            </a:r>
            <a:endParaRPr lang="en-US" altLang="zh-CN" sz="2800" b="1" dirty="0" smtClean="0">
              <a:solidFill>
                <a:schemeClr val="hlink"/>
              </a:solidFill>
            </a:endParaRPr>
          </a:p>
        </p:txBody>
      </p:sp>
      <p:graphicFrame>
        <p:nvGraphicFramePr>
          <p:cNvPr id="52228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636713" y="3352800"/>
          <a:ext cx="617220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5" name="公式" r:id="rId5" imgW="3784600" imgH="1854200" progId="Equation.3">
                  <p:embed/>
                </p:oleObj>
              </mc:Choice>
              <mc:Fallback>
                <p:oleObj name="公式" r:id="rId5" imgW="3784600" imgH="1854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3352800"/>
                        <a:ext cx="617220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Oval 10"/>
          <p:cNvSpPr>
            <a:spLocks noChangeArrowheads="1"/>
          </p:cNvSpPr>
          <p:nvPr/>
        </p:nvSpPr>
        <p:spPr bwMode="auto">
          <a:xfrm>
            <a:off x="4267200" y="5029200"/>
            <a:ext cx="2743200" cy="533400"/>
          </a:xfrm>
          <a:prstGeom prst="ellipse">
            <a:avLst/>
          </a:prstGeom>
          <a:noFill/>
          <a:ln w="28575" algn="ctr">
            <a:pattFill prst="sphere">
              <a:fgClr>
                <a:srgbClr val="FF0000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3886200" y="5715000"/>
            <a:ext cx="1981200" cy="533400"/>
          </a:xfrm>
          <a:prstGeom prst="ellipse">
            <a:avLst/>
          </a:prstGeom>
          <a:noFill/>
          <a:ln w="28575" algn="ctr">
            <a:pattFill prst="sphere">
              <a:fgClr>
                <a:srgbClr val="FF0000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1" name="Rectangle 12"/>
          <p:cNvSpPr>
            <a:spLocks noChangeArrowheads="1"/>
          </p:cNvSpPr>
          <p:nvPr/>
        </p:nvSpPr>
        <p:spPr bwMode="auto">
          <a:xfrm>
            <a:off x="457200" y="2895600"/>
            <a:ext cx="8305800" cy="3733800"/>
          </a:xfrm>
          <a:prstGeom prst="rect">
            <a:avLst/>
          </a:prstGeom>
          <a:noFill/>
          <a:ln w="28575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342900" indent="-342900"/>
            <a:endParaRPr lang="zh-CN" altLang="zh-CN">
              <a:solidFill>
                <a:srgbClr val="9933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 animBg="1"/>
      <p:bldP spid="2970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457200" y="228600"/>
          <a:ext cx="47244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3" name="公式" r:id="rId3" imgW="2286000" imgH="939600" progId="Equation.3">
                  <p:embed/>
                </p:oleObj>
              </mc:Choice>
              <mc:Fallback>
                <p:oleObj name="公式" r:id="rId3" imgW="228600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47244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9"/>
          <p:cNvGraphicFramePr>
            <a:graphicFrameLocks noGrp="1" noChangeAspect="1"/>
          </p:cNvGraphicFramePr>
          <p:nvPr>
            <p:ph/>
          </p:nvPr>
        </p:nvGraphicFramePr>
        <p:xfrm>
          <a:off x="533400" y="2362200"/>
          <a:ext cx="8077200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4" name="公式" r:id="rId5" imgW="3175000" imgH="1384300" progId="Equation.3">
                  <p:embed/>
                </p:oleObj>
              </mc:Choice>
              <mc:Fallback>
                <p:oleObj name="公式" r:id="rId5" imgW="3175000" imgH="1384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62200"/>
                        <a:ext cx="8077200" cy="35210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838200" y="60960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i="0" baseline="0">
                <a:solidFill>
                  <a:srgbClr val="FF0000"/>
                </a:solidFill>
              </a:rPr>
              <a:t>追赶法适用的条件：</a:t>
            </a:r>
            <a:r>
              <a:rPr lang="en-US" altLang="zh-CN" i="0" baseline="0">
                <a:solidFill>
                  <a:srgbClr val="FF0000"/>
                </a:solidFill>
              </a:rPr>
              <a:t>A</a:t>
            </a:r>
            <a:r>
              <a:rPr lang="zh-CN" altLang="en-US" i="0" baseline="0">
                <a:solidFill>
                  <a:srgbClr val="FF0000"/>
                </a:solidFill>
              </a:rPr>
              <a:t>非奇异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435B7-F1D8-41C2-AFE5-5019638F054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5"/>
          <p:cNvGraphicFramePr>
            <a:graphicFrameLocks noChangeAspect="1"/>
          </p:cNvGraphicFramePr>
          <p:nvPr/>
        </p:nvGraphicFramePr>
        <p:xfrm>
          <a:off x="457200" y="228600"/>
          <a:ext cx="47244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4" name="公式" r:id="rId3" imgW="2286000" imgH="939600" progId="Equation.3">
                  <p:embed/>
                </p:oleObj>
              </mc:Choice>
              <mc:Fallback>
                <p:oleObj name="公式" r:id="rId3" imgW="228600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47244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6"/>
          <p:cNvGraphicFramePr>
            <a:graphicFrameLocks noChangeAspect="1"/>
          </p:cNvGraphicFramePr>
          <p:nvPr/>
        </p:nvGraphicFramePr>
        <p:xfrm>
          <a:off x="228600" y="2286000"/>
          <a:ext cx="8610600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5" name="公式" r:id="rId5" imgW="5194300" imgH="2590800" progId="Equation.3">
                  <p:embed/>
                </p:oleObj>
              </mc:Choice>
              <mc:Fallback>
                <p:oleObj name="公式" r:id="rId5" imgW="5194300" imgH="2590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0"/>
                        <a:ext cx="8610600" cy="42941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AFED-1267-4652-AD57-763B2C359E2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4"/>
          <p:cNvGraphicFramePr>
            <a:graphicFrameLocks noChangeAspect="1"/>
          </p:cNvGraphicFramePr>
          <p:nvPr/>
        </p:nvGraphicFramePr>
        <p:xfrm>
          <a:off x="381000" y="1524000"/>
          <a:ext cx="845820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3" name="公式" r:id="rId3" imgW="3771900" imgH="1625600" progId="Equation.3">
                  <p:embed/>
                </p:oleObj>
              </mc:Choice>
              <mc:Fallback>
                <p:oleObj name="公式" r:id="rId3" imgW="3771900" imgH="162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0"/>
                        <a:ext cx="8458200" cy="364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AFED-1267-4652-AD57-763B2C359E2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76200" y="53340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 smtClean="0"/>
              <a:t>提示： 收敛性证明可以用两种方法：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 考虑迭代矩阵的 谱半径小于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，或者迭代矩阵的范数小于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）考虑系数矩阵式严格对角占有矩阵，根据定理来判断收敛性。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为选取</a:t>
            </a:r>
            <a:r>
              <a:rPr lang="en-US" altLang="zh-CN" b="1" i="1" smtClean="0">
                <a:latin typeface="Times New Roman" pitchFamily="18" charset="0"/>
              </a:rPr>
              <a:t>M</a:t>
            </a:r>
            <a:r>
              <a:rPr lang="zh-CN" altLang="en-US" smtClean="0"/>
              <a:t>做准备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为方便记，设</a:t>
            </a:r>
            <a:r>
              <a:rPr lang="en-US" altLang="zh-CN" b="1" i="1" smtClean="0">
                <a:latin typeface="Times New Roman" pitchFamily="18" charset="0"/>
              </a:rPr>
              <a:t>a</a:t>
            </a:r>
            <a:r>
              <a:rPr lang="en-US" altLang="zh-CN" b="1" i="1" baseline="-25000" smtClean="0">
                <a:latin typeface="Times New Roman" pitchFamily="18" charset="0"/>
              </a:rPr>
              <a:t>ii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≠0 (i=1, 2, …, n)</a:t>
            </a:r>
            <a:r>
              <a:rPr lang="zh-CN" altLang="en-US" smtClean="0"/>
              <a:t>，将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mtClean="0"/>
              <a:t>分解成三部分</a:t>
            </a:r>
            <a:r>
              <a:rPr lang="en-US" altLang="zh-CN" b="1" i="1" smtClean="0">
                <a:latin typeface="Times New Roman" pitchFamily="18" charset="0"/>
                <a:cs typeface="Times New Roman" pitchFamily="18" charset="0"/>
              </a:rPr>
              <a:t>A = D – L – U</a:t>
            </a:r>
            <a:r>
              <a:rPr lang="en-US" altLang="zh-CN" smtClean="0"/>
              <a:t>, </a:t>
            </a:r>
            <a:r>
              <a:rPr lang="zh-CN" altLang="en-US" smtClean="0"/>
              <a:t>其中</a:t>
            </a:r>
          </a:p>
        </p:txBody>
      </p:sp>
      <p:pic>
        <p:nvPicPr>
          <p:cNvPr id="59396" name="Picture 7" descr="DLU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43200"/>
            <a:ext cx="685800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905000" y="3200400"/>
            <a:ext cx="990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6000" baseline="0">
                <a:solidFill>
                  <a:schemeClr val="folHlink"/>
                </a:solidFill>
              </a:rPr>
              <a:t>D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4724400" y="3200400"/>
            <a:ext cx="9906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6600" baseline="0">
                <a:solidFill>
                  <a:schemeClr val="folHlink"/>
                </a:solidFill>
              </a:rPr>
              <a:t>L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3810000" y="5105400"/>
            <a:ext cx="9906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7200" baseline="0">
                <a:solidFill>
                  <a:schemeClr val="folHlink"/>
                </a:solidFill>
              </a:rPr>
              <a:t>U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/>
      <p:bldP spid="43017" grpId="0"/>
      <p:bldP spid="430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3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53266171"/>
              </p:ext>
            </p:extLst>
          </p:nvPr>
        </p:nvGraphicFramePr>
        <p:xfrm>
          <a:off x="381000" y="330200"/>
          <a:ext cx="83820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33" name="公式" r:id="rId3" imgW="3695400" imgH="457200" progId="Equation.3">
                  <p:embed/>
                </p:oleObj>
              </mc:Choice>
              <mc:Fallback>
                <p:oleObj name="公式" r:id="rId3" imgW="3695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0200"/>
                        <a:ext cx="838200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E810F-18A2-487E-9A74-E67D19468FE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ct 4"/>
          <p:cNvGraphicFramePr>
            <a:graphicFrameLocks noChangeAspect="1"/>
          </p:cNvGraphicFramePr>
          <p:nvPr/>
        </p:nvGraphicFramePr>
        <p:xfrm>
          <a:off x="381000" y="304800"/>
          <a:ext cx="83820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9" name="公式" r:id="rId3" imgW="3517900" imgH="457200" progId="Equation.3">
                  <p:embed/>
                </p:oleObj>
              </mc:Choice>
              <mc:Fallback>
                <p:oleObj name="公式" r:id="rId3" imgW="3517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"/>
                        <a:ext cx="83820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8229600" cy="4073525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此题</a:t>
            </a:r>
            <a:r>
              <a:rPr lang="en-US" altLang="zh-CN" sz="2800" b="1" i="1" smtClean="0">
                <a:latin typeface="Times New Roman" pitchFamily="18" charset="0"/>
              </a:rPr>
              <a:t>f(x)=x</a:t>
            </a:r>
            <a:r>
              <a:rPr lang="en-US" altLang="zh-CN" sz="2800" b="1" i="1" baseline="30000" smtClean="0">
                <a:latin typeface="Times New Roman" pitchFamily="18" charset="0"/>
              </a:rPr>
              <a:t>3</a:t>
            </a:r>
            <a:r>
              <a:rPr lang="en-US" altLang="zh-CN" sz="2800" b="1" i="1" smtClean="0">
                <a:latin typeface="Times New Roman" pitchFamily="18" charset="0"/>
              </a:rPr>
              <a:t>-a</a:t>
            </a:r>
          </a:p>
          <a:p>
            <a:pPr eaLnBrk="1" hangingPunct="1"/>
            <a:endParaRPr lang="en-US" altLang="zh-CN" sz="2800" b="1" i="1" smtClean="0">
              <a:latin typeface="Times New Roman" pitchFamily="18" charset="0"/>
            </a:endParaRPr>
          </a:p>
          <a:p>
            <a:pPr eaLnBrk="1" hangingPunct="1"/>
            <a:r>
              <a:rPr lang="zh-CN" altLang="en-US" sz="2800" smtClean="0"/>
              <a:t>可得</a:t>
            </a:r>
            <a:r>
              <a:rPr lang="en-US" altLang="zh-CN" sz="2800" b="1" i="1" smtClean="0">
                <a:latin typeface="Times New Roman" pitchFamily="18" charset="0"/>
              </a:rPr>
              <a:t>f’(x)=3x</a:t>
            </a:r>
            <a:r>
              <a:rPr lang="en-US" altLang="zh-CN" sz="2800" b="1" i="1" baseline="30000" smtClean="0">
                <a:latin typeface="Times New Roman" pitchFamily="18" charset="0"/>
              </a:rPr>
              <a:t>2</a:t>
            </a:r>
          </a:p>
          <a:p>
            <a:pPr eaLnBrk="1" hangingPunct="1"/>
            <a:endParaRPr lang="en-US" altLang="zh-CN" sz="2800" b="1" i="1" baseline="30000" smtClean="0">
              <a:latin typeface="Times New Roman" pitchFamily="18" charset="0"/>
            </a:endParaRPr>
          </a:p>
          <a:p>
            <a:pPr eaLnBrk="1" hangingPunct="1"/>
            <a:r>
              <a:rPr lang="zh-CN" altLang="en-US" sz="2800" smtClean="0">
                <a:latin typeface="Times New Roman" pitchFamily="18" charset="0"/>
              </a:rPr>
              <a:t>代入公式可得迭代公式为</a:t>
            </a:r>
          </a:p>
        </p:txBody>
      </p:sp>
      <p:graphicFrame>
        <p:nvGraphicFramePr>
          <p:cNvPr id="67588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838200" y="4572000"/>
          <a:ext cx="800100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0" name="公式" r:id="rId5" imgW="2921000" imgH="457200" progId="Equation.3">
                  <p:embed/>
                </p:oleObj>
              </mc:Choice>
              <mc:Fallback>
                <p:oleObj name="公式" r:id="rId5" imgW="29210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0"/>
                        <a:ext cx="8001000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7.</a:t>
            </a:r>
            <a:r>
              <a:rPr lang="zh-CN" altLang="en-US" sz="3600" smtClean="0"/>
              <a:t>已知下列数值表，求符合表值的插值多项式，并给出插值余项的表达式。</a:t>
            </a:r>
          </a:p>
        </p:txBody>
      </p:sp>
      <p:graphicFrame>
        <p:nvGraphicFramePr>
          <p:cNvPr id="49187" name="Group 35"/>
          <p:cNvGraphicFramePr>
            <a:graphicFrameLocks noGrp="1"/>
          </p:cNvGraphicFramePr>
          <p:nvPr>
            <p:ph sz="half" idx="2"/>
          </p:nvPr>
        </p:nvGraphicFramePr>
        <p:xfrm>
          <a:off x="2722563" y="2819400"/>
          <a:ext cx="3144837" cy="2743200"/>
        </p:xfrm>
        <a:graphic>
          <a:graphicData uri="http://schemas.openxmlformats.org/drawingml/2006/table">
            <a:tbl>
              <a:tblPr/>
              <a:tblGrid>
                <a:gridCol w="785812"/>
                <a:gridCol w="787400"/>
                <a:gridCol w="785813"/>
                <a:gridCol w="785812"/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’‘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686" name="Text Box 36"/>
          <p:cNvSpPr txBox="1">
            <a:spLocks noChangeArrowheads="1"/>
          </p:cNvSpPr>
          <p:nvPr/>
        </p:nvSpPr>
        <p:spPr bwMode="auto">
          <a:xfrm>
            <a:off x="5127625" y="3192463"/>
            <a:ext cx="25685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3200" b="1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第一步：满足函数值约束的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08875" cy="41148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三个函数，构造</a:t>
            </a:r>
            <a:r>
              <a:rPr lang="en-US" altLang="zh-CN" sz="2800" smtClean="0"/>
              <a:t>2</a:t>
            </a:r>
            <a:r>
              <a:rPr lang="zh-CN" altLang="en-US" sz="2800" smtClean="0"/>
              <a:t>次多项式</a:t>
            </a:r>
          </a:p>
        </p:txBody>
      </p:sp>
      <p:graphicFrame>
        <p:nvGraphicFramePr>
          <p:cNvPr id="7168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4000" y="2819400"/>
          <a:ext cx="6934200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7" name="公式" r:id="rId3" imgW="3695700" imgH="1155700" progId="Equation.3">
                  <p:embed/>
                </p:oleObj>
              </mc:Choice>
              <mc:Fallback>
                <p:oleObj name="公式" r:id="rId3" imgW="3695700" imgH="1155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19400"/>
                        <a:ext cx="6934200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0" name="Group 40"/>
          <p:cNvGraphicFramePr>
            <a:graphicFrameLocks noGrp="1"/>
          </p:cNvGraphicFramePr>
          <p:nvPr>
            <p:ph sz="quarter" idx="3"/>
          </p:nvPr>
        </p:nvGraphicFramePr>
        <p:xfrm>
          <a:off x="6705600" y="4267200"/>
          <a:ext cx="2209800" cy="1917700"/>
        </p:xfrm>
        <a:graphic>
          <a:graphicData uri="http://schemas.openxmlformats.org/drawingml/2006/table">
            <a:tbl>
              <a:tblPr/>
              <a:tblGrid>
                <a:gridCol w="552450"/>
                <a:gridCol w="552450"/>
                <a:gridCol w="552450"/>
                <a:gridCol w="552450"/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’‘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CEAF37-B646-4303-BD28-97D34000BB10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第二步：满足一阶导约束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85075" cy="41148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追加两个条件，构造</a:t>
            </a:r>
            <a:r>
              <a:rPr lang="en-US" altLang="zh-CN" sz="2800" smtClean="0"/>
              <a:t>4</a:t>
            </a:r>
            <a:r>
              <a:rPr lang="zh-CN" altLang="en-US" sz="2800" smtClean="0"/>
              <a:t>次多项式</a:t>
            </a:r>
          </a:p>
          <a:p>
            <a:pPr eaLnBrk="1" hangingPunct="1"/>
            <a:r>
              <a:rPr lang="zh-CN" altLang="en-US" sz="2800" smtClean="0">
                <a:solidFill>
                  <a:srgbClr val="660066"/>
                </a:solidFill>
              </a:rPr>
              <a:t>条件</a:t>
            </a:r>
            <a:r>
              <a:rPr lang="zh-CN" altLang="en-US" sz="2800" smtClean="0"/>
              <a:t>：追加项不能影响之前已经满足条件的函数值约束</a:t>
            </a:r>
          </a:p>
        </p:txBody>
      </p:sp>
      <p:graphicFrame>
        <p:nvGraphicFramePr>
          <p:cNvPr id="54308" name="Group 36"/>
          <p:cNvGraphicFramePr>
            <a:graphicFrameLocks noGrp="1"/>
          </p:cNvGraphicFramePr>
          <p:nvPr>
            <p:ph sz="quarter" idx="2"/>
          </p:nvPr>
        </p:nvGraphicFramePr>
        <p:xfrm>
          <a:off x="6781800" y="4419600"/>
          <a:ext cx="2230438" cy="1600200"/>
        </p:xfrm>
        <a:graphic>
          <a:graphicData uri="http://schemas.openxmlformats.org/drawingml/2006/table">
            <a:tbl>
              <a:tblPr/>
              <a:tblGrid>
                <a:gridCol w="557213"/>
                <a:gridCol w="558800"/>
                <a:gridCol w="557212"/>
                <a:gridCol w="557213"/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’‘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735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47800" y="3505200"/>
          <a:ext cx="624840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1" name="公式" r:id="rId3" imgW="3441700" imgH="1638300" progId="Equation.3">
                  <p:embed/>
                </p:oleObj>
              </mc:Choice>
              <mc:Fallback>
                <p:oleObj name="公式" r:id="rId3" imgW="3441700" imgH="163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05200"/>
                        <a:ext cx="624840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CEAF37-B646-4303-BD28-97D34000BB10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第三步：满足二阶导约束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08875" cy="41148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再追加一个条件，构造</a:t>
            </a:r>
            <a:r>
              <a:rPr lang="en-US" altLang="zh-CN" sz="2800" smtClean="0"/>
              <a:t>5</a:t>
            </a:r>
            <a:r>
              <a:rPr lang="zh-CN" altLang="en-US" sz="2800" smtClean="0"/>
              <a:t>次多项式</a:t>
            </a:r>
          </a:p>
          <a:p>
            <a:pPr eaLnBrk="1" hangingPunct="1"/>
            <a:r>
              <a:rPr lang="zh-CN" altLang="en-US" sz="2800" smtClean="0">
                <a:solidFill>
                  <a:srgbClr val="660066"/>
                </a:solidFill>
              </a:rPr>
              <a:t>条件</a:t>
            </a:r>
            <a:r>
              <a:rPr lang="zh-CN" altLang="en-US" sz="2800" smtClean="0"/>
              <a:t>：追加项不能影响之前已经满足条件的函数值约束和一阶导约束</a:t>
            </a:r>
          </a:p>
        </p:txBody>
      </p:sp>
      <p:graphicFrame>
        <p:nvGraphicFramePr>
          <p:cNvPr id="73732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19200" y="3505200"/>
          <a:ext cx="7315200" cy="317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5" name="公式" r:id="rId3" imgW="5092700" imgH="2209800" progId="Equation.3">
                  <p:embed/>
                </p:oleObj>
              </mc:Choice>
              <mc:Fallback>
                <p:oleObj name="公式" r:id="rId3" imgW="5092700" imgH="220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7315200" cy="317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Group 6"/>
          <p:cNvGraphicFramePr>
            <a:graphicFrameLocks noGrp="1"/>
          </p:cNvGraphicFramePr>
          <p:nvPr>
            <p:ph sz="quarter" idx="3"/>
          </p:nvPr>
        </p:nvGraphicFramePr>
        <p:xfrm>
          <a:off x="6629400" y="5105400"/>
          <a:ext cx="2382838" cy="1600200"/>
        </p:xfrm>
        <a:graphic>
          <a:graphicData uri="http://schemas.openxmlformats.org/drawingml/2006/table">
            <a:tbl>
              <a:tblPr/>
              <a:tblGrid>
                <a:gridCol w="595313"/>
                <a:gridCol w="596900"/>
                <a:gridCol w="595312"/>
                <a:gridCol w="595313"/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0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’‘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-10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CEAF37-B646-4303-BD28-97D34000BB10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第四步：余项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08875" cy="41148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插值多项式是</a:t>
            </a:r>
            <a:r>
              <a:rPr lang="en-US" altLang="zh-CN" sz="2800" smtClean="0"/>
              <a:t>5</a:t>
            </a:r>
            <a:r>
              <a:rPr lang="zh-CN" altLang="en-US" sz="2800" smtClean="0"/>
              <a:t>次的，余项是</a:t>
            </a:r>
            <a:r>
              <a:rPr lang="en-US" altLang="zh-CN" sz="2800" smtClean="0"/>
              <a:t>6</a:t>
            </a:r>
            <a:r>
              <a:rPr lang="zh-CN" altLang="en-US" sz="2800" smtClean="0"/>
              <a:t>次的，而且对已经构造满足的六个条件不能再有影响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r>
              <a:rPr lang="zh-CN" altLang="en-US" sz="2800" smtClean="0"/>
              <a:t>参看</a:t>
            </a:r>
            <a:r>
              <a:rPr lang="en-US" altLang="zh-CN" sz="2800" smtClean="0"/>
              <a:t>P44</a:t>
            </a:r>
            <a:r>
              <a:rPr lang="zh-CN" altLang="en-US" sz="2800" smtClean="0"/>
              <a:t>页，反复应用罗尔定理</a:t>
            </a:r>
            <a:r>
              <a:rPr lang="en-US" altLang="zh-CN" sz="2800" smtClean="0"/>
              <a:t>……</a:t>
            </a:r>
            <a:r>
              <a:rPr lang="zh-CN" altLang="en-US" sz="2800" smtClean="0"/>
              <a:t>重点是阶乘和求导的次数都跟条件的个数一样</a:t>
            </a:r>
            <a:r>
              <a:rPr lang="zh-CN" altLang="en-US" sz="2800" smtClean="0">
                <a:sym typeface="Wingdings" pitchFamily="2" charset="2"/>
              </a:rPr>
              <a:t></a:t>
            </a:r>
            <a:endParaRPr lang="zh-CN" altLang="en-US" sz="2800" smtClean="0"/>
          </a:p>
        </p:txBody>
      </p:sp>
      <p:graphicFrame>
        <p:nvGraphicFramePr>
          <p:cNvPr id="7475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3048000"/>
          <a:ext cx="66294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2" name="公式" r:id="rId3" imgW="2044700" imgH="393700" progId="Equation.3">
                  <p:embed/>
                </p:oleObj>
              </mc:Choice>
              <mc:Fallback>
                <p:oleObj name="公式" r:id="rId3" imgW="20447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8000"/>
                        <a:ext cx="6629400" cy="127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6F3971-5640-49F1-B593-545F1D62071A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Tx/>
          <a:buFont typeface="Wingdings" pitchFamily="2" charset="2"/>
          <a:buNone/>
          <a:tabLst/>
          <a:defRPr kumimoji="0" lang="zh-CN" altLang="en-US" sz="32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Tx/>
          <a:buFont typeface="Wingdings" pitchFamily="2" charset="2"/>
          <a:buNone/>
          <a:tabLst/>
          <a:defRPr kumimoji="0" lang="zh-CN" altLang="en-US" sz="32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1036</TotalTime>
  <Words>1231</Words>
  <Application>Microsoft Office PowerPoint</Application>
  <PresentationFormat>全屏显示(4:3)</PresentationFormat>
  <Paragraphs>187</Paragraphs>
  <Slides>42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Watermark</vt:lpstr>
      <vt:lpstr>公式</vt:lpstr>
      <vt:lpstr>MathType 6.0 Equation</vt:lpstr>
      <vt:lpstr>Microsoft 公式 3.0</vt:lpstr>
      <vt:lpstr>计算方法往年试卷及参考答案</vt:lpstr>
      <vt:lpstr>考试安排</vt:lpstr>
      <vt:lpstr>1.(15%) 求一个次数不高于4的多项式 满足下列插值条件： P4(1)=2 ，P4(2)=4 ，P4(3)=12 ，P4’(1)=1 ， P4’(3)=-1</vt:lpstr>
      <vt:lpstr>两点三次埃尔米特</vt:lpstr>
      <vt:lpstr>解法一：埃尔米特插值法</vt:lpstr>
      <vt:lpstr>PowerPoint 演示文稿</vt:lpstr>
      <vt:lpstr>解法二：牛顿插值法</vt:lpstr>
      <vt:lpstr>PowerPoint 演示文稿</vt:lpstr>
      <vt:lpstr>其它方法</vt:lpstr>
      <vt:lpstr>2. (15%)设f(x)=1-x+x2-x3+x4，在[0,1]上求f(x)的三次最佳一致逼近多项式，并分析误差。</vt:lpstr>
      <vt:lpstr>第一步：变量代换</vt:lpstr>
      <vt:lpstr>第二步：反代换</vt:lpstr>
      <vt:lpstr>3.(20%)设{φn(x)}是[a,b]上带权ρ(x)的正交多项式序列，xi(i=0,1,2…n)为φn+1(x) 的零点，li(x)(i=0,1,2,…n)是以{xi}为节点的拉格朗日插值基函数，                     为高斯型求积公式，证明：</vt:lpstr>
      <vt:lpstr>1）证明</vt:lpstr>
      <vt:lpstr>2）证明</vt:lpstr>
      <vt:lpstr>4. (15%)用LDLT分解法解方程组</vt:lpstr>
      <vt:lpstr>分解实现</vt:lpstr>
      <vt:lpstr>第一步：分解</vt:lpstr>
      <vt:lpstr>第二步：求解</vt:lpstr>
      <vt:lpstr>5. (15%)给定方程组Ax=b,其中   用迭代公式  求解，问a取何实数可使迭代收敛？ a为何值时迭代收敛最快？ </vt:lpstr>
      <vt:lpstr>PowerPoint 演示文稿</vt:lpstr>
      <vt:lpstr>6. (10%)利用适当的迭代格式证明</vt:lpstr>
      <vt:lpstr>PowerPoint 演示文稿</vt:lpstr>
      <vt:lpstr>7. (10%)计算           ，取 分析下述两种运算各具有几位有效数字。</vt:lpstr>
      <vt:lpstr>1. 若f(x)=a0xn+a1xn-1+…+an-1x+an有互不相同的n个实根x1, x2, …, xn. 试证明： </vt:lpstr>
      <vt:lpstr>1. 若f(x)=a0xn+a1xn-1+…+an-1x+an有互不相同的n个实根x1, x2, …, xn. 试证明： </vt:lpstr>
      <vt:lpstr>1. 若f(x)=a0xn+a1xn-1+…+an-1x+an有互不相同的n个实根x1, x2, …, xn. 试证明： </vt:lpstr>
      <vt:lpstr>1. 若f(x)=a0xn+a1xn-1+…+an-1x+an有互不相同的n个实根x1, x2, …, xn. 试证明： </vt:lpstr>
      <vt:lpstr>1. 若f(x)=a0xn+a1xn-1+…+an-1x+an有互不相同的n个实根x1, x2, …, xn. 试证明：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为选取M做准备</vt:lpstr>
      <vt:lpstr>PowerPoint 演示文稿</vt:lpstr>
      <vt:lpstr>PowerPoint 演示文稿</vt:lpstr>
      <vt:lpstr>7.已知下列数值表，求符合表值的插值多项式，并给出插值余项的表达式。</vt:lpstr>
      <vt:lpstr>第一步：满足函数值约束的</vt:lpstr>
      <vt:lpstr>第二步：满足一阶导约束</vt:lpstr>
      <vt:lpstr>第三步：满足二阶导约束</vt:lpstr>
      <vt:lpstr>第四步：余项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fifo</dc:creator>
  <cp:lastModifiedBy>quyanyun</cp:lastModifiedBy>
  <cp:revision>63</cp:revision>
  <cp:lastPrinted>1601-01-01T00:00:00Z</cp:lastPrinted>
  <dcterms:created xsi:type="dcterms:W3CDTF">1601-01-01T00:00:00Z</dcterms:created>
  <dcterms:modified xsi:type="dcterms:W3CDTF">2016-06-07T03:13:50Z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